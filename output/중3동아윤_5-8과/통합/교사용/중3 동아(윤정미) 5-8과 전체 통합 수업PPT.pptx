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slides/slide28.xml" ContentType="application/vnd.openxmlformats-officedocument.presentationml.slide+xml"/>
  <Override PartName="/ppt/slides/slide280.xml" ContentType="application/vnd.openxmlformats-officedocument.presentationml.slide+xml"/>
  <Override PartName="/ppt/slides/slide281.xml" ContentType="application/vnd.openxmlformats-officedocument.presentationml.slide+xml"/>
  <Override PartName="/ppt/slides/slide282.xml" ContentType="application/vnd.openxmlformats-officedocument.presentationml.slide+xml"/>
  <Override PartName="/ppt/slides/slide283.xml" ContentType="application/vnd.openxmlformats-officedocument.presentationml.slide+xml"/>
  <Override PartName="/ppt/slides/slide284.xml" ContentType="application/vnd.openxmlformats-officedocument.presentationml.slide+xml"/>
  <Override PartName="/ppt/slides/slide285.xml" ContentType="application/vnd.openxmlformats-officedocument.presentationml.slide+xml"/>
  <Override PartName="/ppt/slides/slide286.xml" ContentType="application/vnd.openxmlformats-officedocument.presentationml.slide+xml"/>
  <Override PartName="/ppt/slides/slide287.xml" ContentType="application/vnd.openxmlformats-officedocument.presentationml.slide+xml"/>
  <Override PartName="/ppt/slides/slide288.xml" ContentType="application/vnd.openxmlformats-officedocument.presentationml.slide+xml"/>
  <Override PartName="/ppt/slides/slide289.xml" ContentType="application/vnd.openxmlformats-officedocument.presentationml.slide+xml"/>
  <Override PartName="/ppt/slides/slide29.xml" ContentType="application/vnd.openxmlformats-officedocument.presentationml.slide+xml"/>
  <Override PartName="/ppt/slides/slide290.xml" ContentType="application/vnd.openxmlformats-officedocument.presentationml.slide+xml"/>
  <Override PartName="/ppt/slides/slide291.xml" ContentType="application/vnd.openxmlformats-officedocument.presentationml.slide+xml"/>
  <Override PartName="/ppt/slides/slide292.xml" ContentType="application/vnd.openxmlformats-officedocument.presentationml.slide+xml"/>
  <Override PartName="/ppt/slides/slide293.xml" ContentType="application/vnd.openxmlformats-officedocument.presentationml.slide+xml"/>
  <Override PartName="/ppt/slides/slide294.xml" ContentType="application/vnd.openxmlformats-officedocument.presentationml.slide+xml"/>
  <Override PartName="/ppt/slides/slide295.xml" ContentType="application/vnd.openxmlformats-officedocument.presentationml.slide+xml"/>
  <Override PartName="/ppt/slides/slide296.xml" ContentType="application/vnd.openxmlformats-officedocument.presentationml.slide+xml"/>
  <Override PartName="/ppt/slides/slide297.xml" ContentType="application/vnd.openxmlformats-officedocument.presentationml.slide+xml"/>
  <Override PartName="/ppt/slides/slide298.xml" ContentType="application/vnd.openxmlformats-officedocument.presentationml.slide+xml"/>
  <Override PartName="/ppt/slides/slide29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00.xml" ContentType="application/vnd.openxmlformats-officedocument.presentationml.slide+xml"/>
  <Override PartName="/ppt/slides/slide301.xml" ContentType="application/vnd.openxmlformats-officedocument.presentationml.slide+xml"/>
  <Override PartName="/ppt/slides/slide302.xml" ContentType="application/vnd.openxmlformats-officedocument.presentationml.slide+xml"/>
  <Override PartName="/ppt/slides/slide303.xml" ContentType="application/vnd.openxmlformats-officedocument.presentationml.slide+xml"/>
  <Override PartName="/ppt/slides/slide304.xml" ContentType="application/vnd.openxmlformats-officedocument.presentationml.slide+xml"/>
  <Override PartName="/ppt/slides/slide305.xml" ContentType="application/vnd.openxmlformats-officedocument.presentationml.slide+xml"/>
  <Override PartName="/ppt/slides/slide306.xml" ContentType="application/vnd.openxmlformats-officedocument.presentationml.slide+xml"/>
  <Override PartName="/ppt/slides/slide307.xml" ContentType="application/vnd.openxmlformats-officedocument.presentationml.slide+xml"/>
  <Override PartName="/ppt/slides/slide308.xml" ContentType="application/vnd.openxmlformats-officedocument.presentationml.slide+xml"/>
  <Override PartName="/ppt/slides/slide309.xml" ContentType="application/vnd.openxmlformats-officedocument.presentationml.slide+xml"/>
  <Override PartName="/ppt/slides/slide31.xml" ContentType="application/vnd.openxmlformats-officedocument.presentationml.slide+xml"/>
  <Override PartName="/ppt/slides/slide310.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337" r:id="rId88"/>
    <p:sldId id="338" r:id="rId89"/>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1" r:id="rId142"/>
    <p:sldId id="392" r:id="rId143"/>
    <p:sldId id="393" r:id="rId144"/>
    <p:sldId id="394" r:id="rId145"/>
    <p:sldId id="395" r:id="rId146"/>
    <p:sldId id="396" r:id="rId147"/>
    <p:sldId id="397" r:id="rId148"/>
    <p:sldId id="398" r:id="rId149"/>
    <p:sldId id="399" r:id="rId150"/>
    <p:sldId id="400" r:id="rId151"/>
    <p:sldId id="401" r:id="rId152"/>
    <p:sldId id="402" r:id="rId153"/>
    <p:sldId id="403" r:id="rId154"/>
    <p:sldId id="404" r:id="rId155"/>
    <p:sldId id="405" r:id="rId156"/>
    <p:sldId id="406" r:id="rId157"/>
    <p:sldId id="407" r:id="rId158"/>
    <p:sldId id="408" r:id="rId159"/>
    <p:sldId id="409" r:id="rId160"/>
    <p:sldId id="410" r:id="rId161"/>
    <p:sldId id="411" r:id="rId162"/>
    <p:sldId id="412" r:id="rId163"/>
    <p:sldId id="413" r:id="rId164"/>
    <p:sldId id="414" r:id="rId165"/>
    <p:sldId id="415" r:id="rId166"/>
    <p:sldId id="416" r:id="rId167"/>
    <p:sldId id="417" r:id="rId168"/>
    <p:sldId id="418" r:id="rId169"/>
    <p:sldId id="419" r:id="rId170"/>
    <p:sldId id="420" r:id="rId171"/>
    <p:sldId id="421" r:id="rId172"/>
    <p:sldId id="422" r:id="rId173"/>
    <p:sldId id="423" r:id="rId174"/>
    <p:sldId id="424" r:id="rId175"/>
    <p:sldId id="425" r:id="rId176"/>
    <p:sldId id="426" r:id="rId177"/>
    <p:sldId id="427" r:id="rId178"/>
    <p:sldId id="428" r:id="rId179"/>
    <p:sldId id="429" r:id="rId180"/>
    <p:sldId id="430" r:id="rId181"/>
    <p:sldId id="431" r:id="rId182"/>
    <p:sldId id="432" r:id="rId183"/>
    <p:sldId id="433" r:id="rId184"/>
    <p:sldId id="434" r:id="rId185"/>
    <p:sldId id="435" r:id="rId186"/>
    <p:sldId id="436" r:id="rId187"/>
    <p:sldId id="437" r:id="rId188"/>
    <p:sldId id="438" r:id="rId189"/>
    <p:sldId id="439" r:id="rId190"/>
    <p:sldId id="440" r:id="rId191"/>
    <p:sldId id="441" r:id="rId192"/>
    <p:sldId id="442" r:id="rId193"/>
    <p:sldId id="443" r:id="rId194"/>
    <p:sldId id="444" r:id="rId195"/>
    <p:sldId id="445" r:id="rId196"/>
    <p:sldId id="446" r:id="rId197"/>
    <p:sldId id="447" r:id="rId198"/>
    <p:sldId id="448" r:id="rId199"/>
    <p:sldId id="449" r:id="rId200"/>
    <p:sldId id="450" r:id="rId201"/>
    <p:sldId id="451" r:id="rId202"/>
    <p:sldId id="452" r:id="rId203"/>
    <p:sldId id="453" r:id="rId204"/>
    <p:sldId id="454" r:id="rId205"/>
    <p:sldId id="455" r:id="rId206"/>
    <p:sldId id="456" r:id="rId207"/>
    <p:sldId id="457" r:id="rId208"/>
    <p:sldId id="458" r:id="rId209"/>
    <p:sldId id="459" r:id="rId210"/>
    <p:sldId id="460" r:id="rId211"/>
    <p:sldId id="461" r:id="rId212"/>
    <p:sldId id="462" r:id="rId213"/>
    <p:sldId id="463" r:id="rId214"/>
    <p:sldId id="464" r:id="rId215"/>
    <p:sldId id="465" r:id="rId216"/>
    <p:sldId id="466" r:id="rId217"/>
    <p:sldId id="467" r:id="rId218"/>
    <p:sldId id="468" r:id="rId219"/>
    <p:sldId id="469" r:id="rId220"/>
    <p:sldId id="470" r:id="rId221"/>
    <p:sldId id="471" r:id="rId222"/>
    <p:sldId id="472" r:id="rId223"/>
    <p:sldId id="473" r:id="rId224"/>
    <p:sldId id="474" r:id="rId225"/>
    <p:sldId id="475" r:id="rId226"/>
    <p:sldId id="476" r:id="rId227"/>
    <p:sldId id="477" r:id="rId228"/>
    <p:sldId id="478" r:id="rId229"/>
    <p:sldId id="479" r:id="rId230"/>
    <p:sldId id="480" r:id="rId231"/>
    <p:sldId id="481" r:id="rId232"/>
    <p:sldId id="482" r:id="rId233"/>
    <p:sldId id="483" r:id="rId234"/>
    <p:sldId id="484" r:id="rId235"/>
    <p:sldId id="485" r:id="rId236"/>
    <p:sldId id="486" r:id="rId237"/>
    <p:sldId id="487" r:id="rId238"/>
    <p:sldId id="488" r:id="rId239"/>
    <p:sldId id="489" r:id="rId240"/>
    <p:sldId id="490" r:id="rId241"/>
    <p:sldId id="491" r:id="rId242"/>
    <p:sldId id="492" r:id="rId243"/>
    <p:sldId id="493" r:id="rId244"/>
    <p:sldId id="494" r:id="rId245"/>
    <p:sldId id="495" r:id="rId246"/>
    <p:sldId id="496" r:id="rId247"/>
    <p:sldId id="497" r:id="rId248"/>
    <p:sldId id="498" r:id="rId249"/>
    <p:sldId id="499" r:id="rId250"/>
    <p:sldId id="500" r:id="rId251"/>
    <p:sldId id="501" r:id="rId252"/>
    <p:sldId id="502" r:id="rId253"/>
    <p:sldId id="503" r:id="rId254"/>
    <p:sldId id="504" r:id="rId255"/>
    <p:sldId id="505" r:id="rId256"/>
    <p:sldId id="506" r:id="rId257"/>
    <p:sldId id="507" r:id="rId258"/>
    <p:sldId id="508" r:id="rId259"/>
    <p:sldId id="509" r:id="rId260"/>
    <p:sldId id="510" r:id="rId261"/>
    <p:sldId id="511" r:id="rId262"/>
    <p:sldId id="512" r:id="rId263"/>
    <p:sldId id="513" r:id="rId264"/>
    <p:sldId id="514" r:id="rId265"/>
    <p:sldId id="515" r:id="rId266"/>
    <p:sldId id="516" r:id="rId267"/>
    <p:sldId id="517" r:id="rId268"/>
    <p:sldId id="518" r:id="rId269"/>
    <p:sldId id="519" r:id="rId270"/>
    <p:sldId id="520" r:id="rId271"/>
    <p:sldId id="521" r:id="rId272"/>
    <p:sldId id="522" r:id="rId273"/>
    <p:sldId id="523" r:id="rId274"/>
    <p:sldId id="524" r:id="rId275"/>
    <p:sldId id="525" r:id="rId276"/>
    <p:sldId id="526" r:id="rId277"/>
    <p:sldId id="527" r:id="rId278"/>
    <p:sldId id="528" r:id="rId279"/>
    <p:sldId id="529" r:id="rId280"/>
    <p:sldId id="530" r:id="rId281"/>
    <p:sldId id="531" r:id="rId282"/>
    <p:sldId id="532" r:id="rId283"/>
    <p:sldId id="533" r:id="rId284"/>
    <p:sldId id="534" r:id="rId285"/>
    <p:sldId id="535" r:id="rId286"/>
    <p:sldId id="536" r:id="rId287"/>
    <p:sldId id="537" r:id="rId288"/>
    <p:sldId id="538" r:id="rId289"/>
    <p:sldId id="539" r:id="rId290"/>
    <p:sldId id="540" r:id="rId291"/>
    <p:sldId id="541" r:id="rId292"/>
    <p:sldId id="542" r:id="rId293"/>
    <p:sldId id="543" r:id="rId294"/>
    <p:sldId id="544" r:id="rId295"/>
    <p:sldId id="545" r:id="rId296"/>
    <p:sldId id="546" r:id="rId297"/>
    <p:sldId id="547" r:id="rId298"/>
    <p:sldId id="548" r:id="rId299"/>
    <p:sldId id="549" r:id="rId300"/>
    <p:sldId id="550" r:id="rId301"/>
    <p:sldId id="551" r:id="rId302"/>
    <p:sldId id="552" r:id="rId303"/>
    <p:sldId id="553" r:id="rId304"/>
    <p:sldId id="554" r:id="rId305"/>
    <p:sldId id="555" r:id="rId306"/>
    <p:sldId id="556" r:id="rId307"/>
    <p:sldId id="557" r:id="rId308"/>
    <p:sldId id="558" r:id="rId309"/>
    <p:sldId id="559" r:id="rId310"/>
    <p:sldId id="560" r:id="rId311"/>
    <p:sldId id="561" r:id="rId312"/>
    <p:sldId id="562" r:id="rId313"/>
    <p:sldId id="563" r:id="rId314"/>
    <p:sldId id="564" r:id="rId315"/>
    <p:sldId id="565" r:id="rId3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 Id="rId128" Type="http://schemas.openxmlformats.org/officeDocument/2006/relationships/slide" Target="slides/slide122.xml"/><Relationship Id="rId129" Type="http://schemas.openxmlformats.org/officeDocument/2006/relationships/slide" Target="slides/slide123.xml"/><Relationship Id="rId130" Type="http://schemas.openxmlformats.org/officeDocument/2006/relationships/slide" Target="slides/slide124.xml"/><Relationship Id="rId131" Type="http://schemas.openxmlformats.org/officeDocument/2006/relationships/slide" Target="slides/slide125.xml"/><Relationship Id="rId132" Type="http://schemas.openxmlformats.org/officeDocument/2006/relationships/slide" Target="slides/slide126.xml"/><Relationship Id="rId133" Type="http://schemas.openxmlformats.org/officeDocument/2006/relationships/slide" Target="slides/slide127.xml"/><Relationship Id="rId134" Type="http://schemas.openxmlformats.org/officeDocument/2006/relationships/slide" Target="slides/slide128.xml"/><Relationship Id="rId135" Type="http://schemas.openxmlformats.org/officeDocument/2006/relationships/slide" Target="slides/slide129.xml"/><Relationship Id="rId136" Type="http://schemas.openxmlformats.org/officeDocument/2006/relationships/slide" Target="slides/slide130.xml"/><Relationship Id="rId137" Type="http://schemas.openxmlformats.org/officeDocument/2006/relationships/slide" Target="slides/slide131.xml"/><Relationship Id="rId138" Type="http://schemas.openxmlformats.org/officeDocument/2006/relationships/slide" Target="slides/slide132.xml"/><Relationship Id="rId139" Type="http://schemas.openxmlformats.org/officeDocument/2006/relationships/slide" Target="slides/slide133.xml"/><Relationship Id="rId140" Type="http://schemas.openxmlformats.org/officeDocument/2006/relationships/slide" Target="slides/slide134.xml"/><Relationship Id="rId141" Type="http://schemas.openxmlformats.org/officeDocument/2006/relationships/slide" Target="slides/slide135.xml"/><Relationship Id="rId142" Type="http://schemas.openxmlformats.org/officeDocument/2006/relationships/slide" Target="slides/slide136.xml"/><Relationship Id="rId143" Type="http://schemas.openxmlformats.org/officeDocument/2006/relationships/slide" Target="slides/slide137.xml"/><Relationship Id="rId144" Type="http://schemas.openxmlformats.org/officeDocument/2006/relationships/slide" Target="slides/slide138.xml"/><Relationship Id="rId145" Type="http://schemas.openxmlformats.org/officeDocument/2006/relationships/slide" Target="slides/slide139.xml"/><Relationship Id="rId146" Type="http://schemas.openxmlformats.org/officeDocument/2006/relationships/slide" Target="slides/slide140.xml"/><Relationship Id="rId147" Type="http://schemas.openxmlformats.org/officeDocument/2006/relationships/slide" Target="slides/slide141.xml"/><Relationship Id="rId148" Type="http://schemas.openxmlformats.org/officeDocument/2006/relationships/slide" Target="slides/slide142.xml"/><Relationship Id="rId149" Type="http://schemas.openxmlformats.org/officeDocument/2006/relationships/slide" Target="slides/slide143.xml"/><Relationship Id="rId150" Type="http://schemas.openxmlformats.org/officeDocument/2006/relationships/slide" Target="slides/slide144.xml"/><Relationship Id="rId151" Type="http://schemas.openxmlformats.org/officeDocument/2006/relationships/slide" Target="slides/slide145.xml"/><Relationship Id="rId152" Type="http://schemas.openxmlformats.org/officeDocument/2006/relationships/slide" Target="slides/slide146.xml"/><Relationship Id="rId153" Type="http://schemas.openxmlformats.org/officeDocument/2006/relationships/slide" Target="slides/slide147.xml"/><Relationship Id="rId154" Type="http://schemas.openxmlformats.org/officeDocument/2006/relationships/slide" Target="slides/slide148.xml"/><Relationship Id="rId155" Type="http://schemas.openxmlformats.org/officeDocument/2006/relationships/slide" Target="slides/slide149.xml"/><Relationship Id="rId156" Type="http://schemas.openxmlformats.org/officeDocument/2006/relationships/slide" Target="slides/slide150.xml"/><Relationship Id="rId157" Type="http://schemas.openxmlformats.org/officeDocument/2006/relationships/slide" Target="slides/slide151.xml"/><Relationship Id="rId158" Type="http://schemas.openxmlformats.org/officeDocument/2006/relationships/slide" Target="slides/slide152.xml"/><Relationship Id="rId159" Type="http://schemas.openxmlformats.org/officeDocument/2006/relationships/slide" Target="slides/slide153.xml"/><Relationship Id="rId160" Type="http://schemas.openxmlformats.org/officeDocument/2006/relationships/slide" Target="slides/slide154.xml"/><Relationship Id="rId161" Type="http://schemas.openxmlformats.org/officeDocument/2006/relationships/slide" Target="slides/slide155.xml"/><Relationship Id="rId162" Type="http://schemas.openxmlformats.org/officeDocument/2006/relationships/slide" Target="slides/slide156.xml"/><Relationship Id="rId163" Type="http://schemas.openxmlformats.org/officeDocument/2006/relationships/slide" Target="slides/slide157.xml"/><Relationship Id="rId164" Type="http://schemas.openxmlformats.org/officeDocument/2006/relationships/slide" Target="slides/slide158.xml"/><Relationship Id="rId165" Type="http://schemas.openxmlformats.org/officeDocument/2006/relationships/slide" Target="slides/slide159.xml"/><Relationship Id="rId166" Type="http://schemas.openxmlformats.org/officeDocument/2006/relationships/slide" Target="slides/slide160.xml"/><Relationship Id="rId167" Type="http://schemas.openxmlformats.org/officeDocument/2006/relationships/slide" Target="slides/slide161.xml"/><Relationship Id="rId168" Type="http://schemas.openxmlformats.org/officeDocument/2006/relationships/slide" Target="slides/slide162.xml"/><Relationship Id="rId169" Type="http://schemas.openxmlformats.org/officeDocument/2006/relationships/slide" Target="slides/slide163.xml"/><Relationship Id="rId170" Type="http://schemas.openxmlformats.org/officeDocument/2006/relationships/slide" Target="slides/slide164.xml"/><Relationship Id="rId171" Type="http://schemas.openxmlformats.org/officeDocument/2006/relationships/slide" Target="slides/slide165.xml"/><Relationship Id="rId172" Type="http://schemas.openxmlformats.org/officeDocument/2006/relationships/slide" Target="slides/slide166.xml"/><Relationship Id="rId173" Type="http://schemas.openxmlformats.org/officeDocument/2006/relationships/slide" Target="slides/slide167.xml"/><Relationship Id="rId174" Type="http://schemas.openxmlformats.org/officeDocument/2006/relationships/slide" Target="slides/slide168.xml"/><Relationship Id="rId175" Type="http://schemas.openxmlformats.org/officeDocument/2006/relationships/slide" Target="slides/slide169.xml"/><Relationship Id="rId176" Type="http://schemas.openxmlformats.org/officeDocument/2006/relationships/slide" Target="slides/slide170.xml"/><Relationship Id="rId177" Type="http://schemas.openxmlformats.org/officeDocument/2006/relationships/slide" Target="slides/slide171.xml"/><Relationship Id="rId178" Type="http://schemas.openxmlformats.org/officeDocument/2006/relationships/slide" Target="slides/slide172.xml"/><Relationship Id="rId179" Type="http://schemas.openxmlformats.org/officeDocument/2006/relationships/slide" Target="slides/slide173.xml"/><Relationship Id="rId180" Type="http://schemas.openxmlformats.org/officeDocument/2006/relationships/slide" Target="slides/slide174.xml"/><Relationship Id="rId181" Type="http://schemas.openxmlformats.org/officeDocument/2006/relationships/slide" Target="slides/slide175.xml"/><Relationship Id="rId182" Type="http://schemas.openxmlformats.org/officeDocument/2006/relationships/slide" Target="slides/slide176.xml"/><Relationship Id="rId183" Type="http://schemas.openxmlformats.org/officeDocument/2006/relationships/slide" Target="slides/slide177.xml"/><Relationship Id="rId184" Type="http://schemas.openxmlformats.org/officeDocument/2006/relationships/slide" Target="slides/slide178.xml"/><Relationship Id="rId185" Type="http://schemas.openxmlformats.org/officeDocument/2006/relationships/slide" Target="slides/slide179.xml"/><Relationship Id="rId186" Type="http://schemas.openxmlformats.org/officeDocument/2006/relationships/slide" Target="slides/slide180.xml"/><Relationship Id="rId187" Type="http://schemas.openxmlformats.org/officeDocument/2006/relationships/slide" Target="slides/slide181.xml"/><Relationship Id="rId188" Type="http://schemas.openxmlformats.org/officeDocument/2006/relationships/slide" Target="slides/slide182.xml"/><Relationship Id="rId189" Type="http://schemas.openxmlformats.org/officeDocument/2006/relationships/slide" Target="slides/slide183.xml"/><Relationship Id="rId190" Type="http://schemas.openxmlformats.org/officeDocument/2006/relationships/slide" Target="slides/slide184.xml"/><Relationship Id="rId191" Type="http://schemas.openxmlformats.org/officeDocument/2006/relationships/slide" Target="slides/slide185.xml"/><Relationship Id="rId192" Type="http://schemas.openxmlformats.org/officeDocument/2006/relationships/slide" Target="slides/slide186.xml"/><Relationship Id="rId193" Type="http://schemas.openxmlformats.org/officeDocument/2006/relationships/slide" Target="slides/slide187.xml"/><Relationship Id="rId194" Type="http://schemas.openxmlformats.org/officeDocument/2006/relationships/slide" Target="slides/slide188.xml"/><Relationship Id="rId195" Type="http://schemas.openxmlformats.org/officeDocument/2006/relationships/slide" Target="slides/slide189.xml"/><Relationship Id="rId196" Type="http://schemas.openxmlformats.org/officeDocument/2006/relationships/slide" Target="slides/slide190.xml"/><Relationship Id="rId197" Type="http://schemas.openxmlformats.org/officeDocument/2006/relationships/slide" Target="slides/slide191.xml"/><Relationship Id="rId198" Type="http://schemas.openxmlformats.org/officeDocument/2006/relationships/slide" Target="slides/slide192.xml"/><Relationship Id="rId199" Type="http://schemas.openxmlformats.org/officeDocument/2006/relationships/slide" Target="slides/slide193.xml"/><Relationship Id="rId200" Type="http://schemas.openxmlformats.org/officeDocument/2006/relationships/slide" Target="slides/slide194.xml"/><Relationship Id="rId201" Type="http://schemas.openxmlformats.org/officeDocument/2006/relationships/slide" Target="slides/slide195.xml"/><Relationship Id="rId202" Type="http://schemas.openxmlformats.org/officeDocument/2006/relationships/slide" Target="slides/slide196.xml"/><Relationship Id="rId203" Type="http://schemas.openxmlformats.org/officeDocument/2006/relationships/slide" Target="slides/slide197.xml"/><Relationship Id="rId204" Type="http://schemas.openxmlformats.org/officeDocument/2006/relationships/slide" Target="slides/slide198.xml"/><Relationship Id="rId205" Type="http://schemas.openxmlformats.org/officeDocument/2006/relationships/slide" Target="slides/slide199.xml"/><Relationship Id="rId206" Type="http://schemas.openxmlformats.org/officeDocument/2006/relationships/slide" Target="slides/slide200.xml"/><Relationship Id="rId207" Type="http://schemas.openxmlformats.org/officeDocument/2006/relationships/slide" Target="slides/slide201.xml"/><Relationship Id="rId208" Type="http://schemas.openxmlformats.org/officeDocument/2006/relationships/slide" Target="slides/slide202.xml"/><Relationship Id="rId209" Type="http://schemas.openxmlformats.org/officeDocument/2006/relationships/slide" Target="slides/slide203.xml"/><Relationship Id="rId210" Type="http://schemas.openxmlformats.org/officeDocument/2006/relationships/slide" Target="slides/slide204.xml"/><Relationship Id="rId211" Type="http://schemas.openxmlformats.org/officeDocument/2006/relationships/slide" Target="slides/slide205.xml"/><Relationship Id="rId212" Type="http://schemas.openxmlformats.org/officeDocument/2006/relationships/slide" Target="slides/slide206.xml"/><Relationship Id="rId213" Type="http://schemas.openxmlformats.org/officeDocument/2006/relationships/slide" Target="slides/slide207.xml"/><Relationship Id="rId214" Type="http://schemas.openxmlformats.org/officeDocument/2006/relationships/slide" Target="slides/slide208.xml"/><Relationship Id="rId215" Type="http://schemas.openxmlformats.org/officeDocument/2006/relationships/slide" Target="slides/slide209.xml"/><Relationship Id="rId216" Type="http://schemas.openxmlformats.org/officeDocument/2006/relationships/slide" Target="slides/slide210.xml"/><Relationship Id="rId217" Type="http://schemas.openxmlformats.org/officeDocument/2006/relationships/slide" Target="slides/slide211.xml"/><Relationship Id="rId218" Type="http://schemas.openxmlformats.org/officeDocument/2006/relationships/slide" Target="slides/slide212.xml"/><Relationship Id="rId219" Type="http://schemas.openxmlformats.org/officeDocument/2006/relationships/slide" Target="slides/slide213.xml"/><Relationship Id="rId220" Type="http://schemas.openxmlformats.org/officeDocument/2006/relationships/slide" Target="slides/slide214.xml"/><Relationship Id="rId221" Type="http://schemas.openxmlformats.org/officeDocument/2006/relationships/slide" Target="slides/slide215.xml"/><Relationship Id="rId222" Type="http://schemas.openxmlformats.org/officeDocument/2006/relationships/slide" Target="slides/slide216.xml"/><Relationship Id="rId223" Type="http://schemas.openxmlformats.org/officeDocument/2006/relationships/slide" Target="slides/slide217.xml"/><Relationship Id="rId224" Type="http://schemas.openxmlformats.org/officeDocument/2006/relationships/slide" Target="slides/slide218.xml"/><Relationship Id="rId225" Type="http://schemas.openxmlformats.org/officeDocument/2006/relationships/slide" Target="slides/slide219.xml"/><Relationship Id="rId226" Type="http://schemas.openxmlformats.org/officeDocument/2006/relationships/slide" Target="slides/slide220.xml"/><Relationship Id="rId227" Type="http://schemas.openxmlformats.org/officeDocument/2006/relationships/slide" Target="slides/slide221.xml"/><Relationship Id="rId228" Type="http://schemas.openxmlformats.org/officeDocument/2006/relationships/slide" Target="slides/slide222.xml"/><Relationship Id="rId229" Type="http://schemas.openxmlformats.org/officeDocument/2006/relationships/slide" Target="slides/slide223.xml"/><Relationship Id="rId230" Type="http://schemas.openxmlformats.org/officeDocument/2006/relationships/slide" Target="slides/slide224.xml"/><Relationship Id="rId231" Type="http://schemas.openxmlformats.org/officeDocument/2006/relationships/slide" Target="slides/slide225.xml"/><Relationship Id="rId232" Type="http://schemas.openxmlformats.org/officeDocument/2006/relationships/slide" Target="slides/slide226.xml"/><Relationship Id="rId233" Type="http://schemas.openxmlformats.org/officeDocument/2006/relationships/slide" Target="slides/slide227.xml"/><Relationship Id="rId234" Type="http://schemas.openxmlformats.org/officeDocument/2006/relationships/slide" Target="slides/slide228.xml"/><Relationship Id="rId235" Type="http://schemas.openxmlformats.org/officeDocument/2006/relationships/slide" Target="slides/slide229.xml"/><Relationship Id="rId236" Type="http://schemas.openxmlformats.org/officeDocument/2006/relationships/slide" Target="slides/slide230.xml"/><Relationship Id="rId237" Type="http://schemas.openxmlformats.org/officeDocument/2006/relationships/slide" Target="slides/slide231.xml"/><Relationship Id="rId238" Type="http://schemas.openxmlformats.org/officeDocument/2006/relationships/slide" Target="slides/slide232.xml"/><Relationship Id="rId239" Type="http://schemas.openxmlformats.org/officeDocument/2006/relationships/slide" Target="slides/slide233.xml"/><Relationship Id="rId240" Type="http://schemas.openxmlformats.org/officeDocument/2006/relationships/slide" Target="slides/slide234.xml"/><Relationship Id="rId241" Type="http://schemas.openxmlformats.org/officeDocument/2006/relationships/slide" Target="slides/slide235.xml"/><Relationship Id="rId242" Type="http://schemas.openxmlformats.org/officeDocument/2006/relationships/slide" Target="slides/slide236.xml"/><Relationship Id="rId243" Type="http://schemas.openxmlformats.org/officeDocument/2006/relationships/slide" Target="slides/slide237.xml"/><Relationship Id="rId244" Type="http://schemas.openxmlformats.org/officeDocument/2006/relationships/slide" Target="slides/slide238.xml"/><Relationship Id="rId245" Type="http://schemas.openxmlformats.org/officeDocument/2006/relationships/slide" Target="slides/slide239.xml"/><Relationship Id="rId246" Type="http://schemas.openxmlformats.org/officeDocument/2006/relationships/slide" Target="slides/slide240.xml"/><Relationship Id="rId247" Type="http://schemas.openxmlformats.org/officeDocument/2006/relationships/slide" Target="slides/slide241.xml"/><Relationship Id="rId248" Type="http://schemas.openxmlformats.org/officeDocument/2006/relationships/slide" Target="slides/slide242.xml"/><Relationship Id="rId249" Type="http://schemas.openxmlformats.org/officeDocument/2006/relationships/slide" Target="slides/slide243.xml"/><Relationship Id="rId250" Type="http://schemas.openxmlformats.org/officeDocument/2006/relationships/slide" Target="slides/slide244.xml"/><Relationship Id="rId251" Type="http://schemas.openxmlformats.org/officeDocument/2006/relationships/slide" Target="slides/slide245.xml"/><Relationship Id="rId252" Type="http://schemas.openxmlformats.org/officeDocument/2006/relationships/slide" Target="slides/slide246.xml"/><Relationship Id="rId253" Type="http://schemas.openxmlformats.org/officeDocument/2006/relationships/slide" Target="slides/slide247.xml"/><Relationship Id="rId254" Type="http://schemas.openxmlformats.org/officeDocument/2006/relationships/slide" Target="slides/slide248.xml"/><Relationship Id="rId255" Type="http://schemas.openxmlformats.org/officeDocument/2006/relationships/slide" Target="slides/slide249.xml"/><Relationship Id="rId256" Type="http://schemas.openxmlformats.org/officeDocument/2006/relationships/slide" Target="slides/slide250.xml"/><Relationship Id="rId257" Type="http://schemas.openxmlformats.org/officeDocument/2006/relationships/slide" Target="slides/slide251.xml"/><Relationship Id="rId258" Type="http://schemas.openxmlformats.org/officeDocument/2006/relationships/slide" Target="slides/slide252.xml"/><Relationship Id="rId259" Type="http://schemas.openxmlformats.org/officeDocument/2006/relationships/slide" Target="slides/slide253.xml"/><Relationship Id="rId260" Type="http://schemas.openxmlformats.org/officeDocument/2006/relationships/slide" Target="slides/slide254.xml"/><Relationship Id="rId261" Type="http://schemas.openxmlformats.org/officeDocument/2006/relationships/slide" Target="slides/slide255.xml"/><Relationship Id="rId262" Type="http://schemas.openxmlformats.org/officeDocument/2006/relationships/slide" Target="slides/slide256.xml"/><Relationship Id="rId263" Type="http://schemas.openxmlformats.org/officeDocument/2006/relationships/slide" Target="slides/slide257.xml"/><Relationship Id="rId264" Type="http://schemas.openxmlformats.org/officeDocument/2006/relationships/slide" Target="slides/slide258.xml"/><Relationship Id="rId265" Type="http://schemas.openxmlformats.org/officeDocument/2006/relationships/slide" Target="slides/slide259.xml"/><Relationship Id="rId266" Type="http://schemas.openxmlformats.org/officeDocument/2006/relationships/slide" Target="slides/slide260.xml"/><Relationship Id="rId267" Type="http://schemas.openxmlformats.org/officeDocument/2006/relationships/slide" Target="slides/slide261.xml"/><Relationship Id="rId268" Type="http://schemas.openxmlformats.org/officeDocument/2006/relationships/slide" Target="slides/slide262.xml"/><Relationship Id="rId269" Type="http://schemas.openxmlformats.org/officeDocument/2006/relationships/slide" Target="slides/slide263.xml"/><Relationship Id="rId270" Type="http://schemas.openxmlformats.org/officeDocument/2006/relationships/slide" Target="slides/slide264.xml"/><Relationship Id="rId271" Type="http://schemas.openxmlformats.org/officeDocument/2006/relationships/slide" Target="slides/slide265.xml"/><Relationship Id="rId272" Type="http://schemas.openxmlformats.org/officeDocument/2006/relationships/slide" Target="slides/slide266.xml"/><Relationship Id="rId273" Type="http://schemas.openxmlformats.org/officeDocument/2006/relationships/slide" Target="slides/slide267.xml"/><Relationship Id="rId274" Type="http://schemas.openxmlformats.org/officeDocument/2006/relationships/slide" Target="slides/slide268.xml"/><Relationship Id="rId275" Type="http://schemas.openxmlformats.org/officeDocument/2006/relationships/slide" Target="slides/slide269.xml"/><Relationship Id="rId276" Type="http://schemas.openxmlformats.org/officeDocument/2006/relationships/slide" Target="slides/slide270.xml"/><Relationship Id="rId277" Type="http://schemas.openxmlformats.org/officeDocument/2006/relationships/slide" Target="slides/slide271.xml"/><Relationship Id="rId278" Type="http://schemas.openxmlformats.org/officeDocument/2006/relationships/slide" Target="slides/slide272.xml"/><Relationship Id="rId279" Type="http://schemas.openxmlformats.org/officeDocument/2006/relationships/slide" Target="slides/slide273.xml"/><Relationship Id="rId280" Type="http://schemas.openxmlformats.org/officeDocument/2006/relationships/slide" Target="slides/slide274.xml"/><Relationship Id="rId281" Type="http://schemas.openxmlformats.org/officeDocument/2006/relationships/slide" Target="slides/slide275.xml"/><Relationship Id="rId282" Type="http://schemas.openxmlformats.org/officeDocument/2006/relationships/slide" Target="slides/slide276.xml"/><Relationship Id="rId283" Type="http://schemas.openxmlformats.org/officeDocument/2006/relationships/slide" Target="slides/slide277.xml"/><Relationship Id="rId284" Type="http://schemas.openxmlformats.org/officeDocument/2006/relationships/slide" Target="slides/slide278.xml"/><Relationship Id="rId285" Type="http://schemas.openxmlformats.org/officeDocument/2006/relationships/slide" Target="slides/slide279.xml"/><Relationship Id="rId286" Type="http://schemas.openxmlformats.org/officeDocument/2006/relationships/slide" Target="slides/slide280.xml"/><Relationship Id="rId287" Type="http://schemas.openxmlformats.org/officeDocument/2006/relationships/slide" Target="slides/slide281.xml"/><Relationship Id="rId288" Type="http://schemas.openxmlformats.org/officeDocument/2006/relationships/slide" Target="slides/slide282.xml"/><Relationship Id="rId289" Type="http://schemas.openxmlformats.org/officeDocument/2006/relationships/slide" Target="slides/slide283.xml"/><Relationship Id="rId290" Type="http://schemas.openxmlformats.org/officeDocument/2006/relationships/slide" Target="slides/slide284.xml"/><Relationship Id="rId291" Type="http://schemas.openxmlformats.org/officeDocument/2006/relationships/slide" Target="slides/slide285.xml"/><Relationship Id="rId292" Type="http://schemas.openxmlformats.org/officeDocument/2006/relationships/slide" Target="slides/slide286.xml"/><Relationship Id="rId293" Type="http://schemas.openxmlformats.org/officeDocument/2006/relationships/slide" Target="slides/slide287.xml"/><Relationship Id="rId294" Type="http://schemas.openxmlformats.org/officeDocument/2006/relationships/slide" Target="slides/slide288.xml"/><Relationship Id="rId295" Type="http://schemas.openxmlformats.org/officeDocument/2006/relationships/slide" Target="slides/slide289.xml"/><Relationship Id="rId296" Type="http://schemas.openxmlformats.org/officeDocument/2006/relationships/slide" Target="slides/slide290.xml"/><Relationship Id="rId297" Type="http://schemas.openxmlformats.org/officeDocument/2006/relationships/slide" Target="slides/slide291.xml"/><Relationship Id="rId298" Type="http://schemas.openxmlformats.org/officeDocument/2006/relationships/slide" Target="slides/slide292.xml"/><Relationship Id="rId299" Type="http://schemas.openxmlformats.org/officeDocument/2006/relationships/slide" Target="slides/slide293.xml"/><Relationship Id="rId300" Type="http://schemas.openxmlformats.org/officeDocument/2006/relationships/slide" Target="slides/slide294.xml"/><Relationship Id="rId301" Type="http://schemas.openxmlformats.org/officeDocument/2006/relationships/slide" Target="slides/slide295.xml"/><Relationship Id="rId302" Type="http://schemas.openxmlformats.org/officeDocument/2006/relationships/slide" Target="slides/slide296.xml"/><Relationship Id="rId303" Type="http://schemas.openxmlformats.org/officeDocument/2006/relationships/slide" Target="slides/slide297.xml"/><Relationship Id="rId304" Type="http://schemas.openxmlformats.org/officeDocument/2006/relationships/slide" Target="slides/slide298.xml"/><Relationship Id="rId305" Type="http://schemas.openxmlformats.org/officeDocument/2006/relationships/slide" Target="slides/slide299.xml"/><Relationship Id="rId306" Type="http://schemas.openxmlformats.org/officeDocument/2006/relationships/slide" Target="slides/slide300.xml"/><Relationship Id="rId307" Type="http://schemas.openxmlformats.org/officeDocument/2006/relationships/slide" Target="slides/slide301.xml"/><Relationship Id="rId308" Type="http://schemas.openxmlformats.org/officeDocument/2006/relationships/slide" Target="slides/slide302.xml"/><Relationship Id="rId309" Type="http://schemas.openxmlformats.org/officeDocument/2006/relationships/slide" Target="slides/slide303.xml"/><Relationship Id="rId310" Type="http://schemas.openxmlformats.org/officeDocument/2006/relationships/slide" Target="slides/slide304.xml"/><Relationship Id="rId311" Type="http://schemas.openxmlformats.org/officeDocument/2006/relationships/slide" Target="slides/slide305.xml"/><Relationship Id="rId312" Type="http://schemas.openxmlformats.org/officeDocument/2006/relationships/slide" Target="slides/slide306.xml"/><Relationship Id="rId313" Type="http://schemas.openxmlformats.org/officeDocument/2006/relationships/slide" Target="slides/slide307.xml"/><Relationship Id="rId314" Type="http://schemas.openxmlformats.org/officeDocument/2006/relationships/slide" Target="slides/slide308.xml"/><Relationship Id="rId315" Type="http://schemas.openxmlformats.org/officeDocument/2006/relationships/slide" Target="slides/slide309.xml"/><Relationship Id="rId316" Type="http://schemas.openxmlformats.org/officeDocument/2006/relationships/slide" Target="slides/slide3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E2A5A"/>
        </a:solidFill>
        <a:effectLst/>
      </p:bgPr>
    </p:bg>
    <p:spTree>
      <p:nvGrpSpPr>
        <p:cNvPr id="1" name=""/>
        <p:cNvGrpSpPr/>
        <p:nvPr/>
      </p:nvGrpSpPr>
      <p:grpSpPr/>
      <p:sp>
        <p:nvSpPr>
          <p:cNvPr id="2" name="cv_title"/>
          <p:cNvSpPr txBox="1"/>
          <p:nvPr/>
        </p:nvSpPr>
        <p:spPr>
          <a:xfrm>
            <a:off x="822960" y="1371600"/>
            <a:ext cx="10515600" cy="868680"/>
          </a:xfrm>
          <a:prstGeom prst="rect">
            <a:avLst/>
          </a:prstGeom>
          <a:noFill/>
        </p:spPr>
        <p:txBody>
          <a:bodyPr wrap="square" lIns="91440" tIns="45720" rIns="91440" bIns="45720" anchor="t" rtlCol="0">
            <a:noAutofit/>
          </a:bodyPr>
          <a:lstStyle/>
          <a:p>
            <a:pPr algn="l">
              <a:lnSpc>
                <a:spcPts val="5680"/>
              </a:lnSpc>
              <a:spcBef>
                <a:spcPts val="0"/>
              </a:spcBef>
              <a:spcAft>
                <a:spcPts val="0"/>
              </a:spcAft>
              <a:buNone/>
            </a:pPr>
            <a:r>
              <a:rPr lang="ko-KR" altLang="en-US" sz="4000" b="1" dirty="0">
                <a:solidFill>
                  <a:srgbClr val="FFFFFF"/>
                </a:solidFill>
                <a:latin typeface="맑은 고딕"/>
                <a:ea typeface="맑은 고딕"/>
                <a:cs typeface="맑은 고딕"/>
              </a:rPr>
              <a:t>문제 풀이 · 정답 확인</a:t>
            </a:r>
            <a:endParaRPr lang="ko-KR" altLang="en-US" sz="4000" b="1" dirty="0">
              <a:solidFill>
                <a:srgbClr val="FFFFFF"/>
              </a:solidFill>
              <a:latin typeface="맑은 고딕"/>
              <a:ea typeface="맑은 고딕"/>
              <a:cs typeface="맑은 고딕"/>
            </a:endParaRPr>
          </a:p>
        </p:txBody>
      </p:sp>
      <p:sp>
        <p:nvSpPr>
          <p:cNvPr id="3" name="cv_exam"/>
          <p:cNvSpPr txBox="1"/>
          <p:nvPr/>
        </p:nvSpPr>
        <p:spPr>
          <a:xfrm>
            <a:off x="822960" y="2240280"/>
            <a:ext cx="10515600" cy="502920"/>
          </a:xfrm>
          <a:prstGeom prst="rect">
            <a:avLst/>
          </a:prstGeom>
          <a:noFill/>
        </p:spPr>
        <p:txBody>
          <a:bodyPr wrap="square" lIns="91440" tIns="45720" rIns="91440" bIns="45720" anchor="t" rtlCol="0">
            <a:noAutofit/>
          </a:bodyPr>
          <a:lstStyle/>
          <a:p>
            <a:pPr algn="l">
              <a:lnSpc>
                <a:spcPts val="2840"/>
              </a:lnSpc>
              <a:spcBef>
                <a:spcPts val="0"/>
              </a:spcBef>
              <a:spcAft>
                <a:spcPts val="0"/>
              </a:spcAft>
              <a:buNone/>
            </a:pPr>
            <a:r>
              <a:rPr lang="ko-KR" altLang="en-US" sz="2000" b="0" dirty="0">
                <a:solidFill>
                  <a:srgbClr val="CFD8E8"/>
                </a:solidFill>
                <a:latin typeface="맑은 고딕"/>
                <a:ea typeface="맑은 고딕"/>
                <a:cs typeface="맑은 고딕"/>
              </a:rPr>
              <a:t>중3 동아(윤정미) Lesson 5</a:t>
            </a:r>
            <a:endParaRPr lang="ko-KR" altLang="en-US" sz="2000" b="0" dirty="0">
              <a:solidFill>
                <a:srgbClr val="CFD8E8"/>
              </a:solidFill>
              <a:latin typeface="맑은 고딕"/>
              <a:ea typeface="맑은 고딕"/>
              <a:cs typeface="맑은 고딕"/>
            </a:endParaRPr>
          </a:p>
        </p:txBody>
      </p:sp>
      <p:sp>
        <p:nvSpPr>
          <p:cNvPr id="4" name="cv_ids"/>
          <p:cNvSpPr txBox="1"/>
          <p:nvPr/>
        </p:nvSpPr>
        <p:spPr>
          <a:xfrm>
            <a:off x="822960" y="2788920"/>
            <a:ext cx="10515600" cy="457200"/>
          </a:xfrm>
          <a:prstGeom prst="rect">
            <a:avLst/>
          </a:prstGeom>
          <a:noFill/>
        </p:spPr>
        <p:txBody>
          <a:bodyPr wrap="square" lIns="91440" tIns="45720" rIns="91440" bIns="45720" anchor="t" rtlCol="0">
            <a:noAutofit/>
          </a:bodyPr>
          <a:lstStyle/>
          <a:p>
            <a:pPr algn="l">
              <a:lnSpc>
                <a:spcPts val="2340"/>
              </a:lnSpc>
              <a:spcBef>
                <a:spcPts val="0"/>
              </a:spcBef>
              <a:spcAft>
                <a:spcPts val="0"/>
              </a:spcAft>
              <a:buNone/>
            </a:pPr>
            <a:r>
              <a:rPr lang="en-US" altLang="ko-KR" sz="1800" b="1" dirty="0">
                <a:solidFill>
                  <a:srgbClr val="AEBBD0"/>
                </a:solidFill>
                <a:latin typeface="Calibri"/>
                <a:ea typeface="맑은 고딕"/>
                <a:cs typeface="Calibri"/>
              </a:rPr>
              <a:t>L5-1  ·  L5-2  ·  L5-3  ·  L5-4</a:t>
            </a:r>
            <a:endParaRPr lang="en-US" altLang="ko-KR" sz="1800" b="1" dirty="0">
              <a:solidFill>
                <a:srgbClr val="AEBBD0"/>
              </a:solidFill>
              <a:latin typeface="Calibri"/>
              <a:ea typeface="맑은 고딕"/>
              <a:cs typeface="Calibri"/>
            </a:endParaRPr>
          </a:p>
        </p:txBody>
      </p:sp>
      <p:sp>
        <p:nvSpPr>
          <p:cNvPr id="5" name="cv_legend"/>
          <p:cNvSpPr/>
          <p:nvPr/>
        </p:nvSpPr>
        <p:spPr>
          <a:xfrm>
            <a:off x="822960" y="3977639"/>
            <a:ext cx="10515600" cy="1645920"/>
          </a:xfrm>
          <a:prstGeom prst="roundRect">
            <a:avLst>
              <a:gd name="adj" fmla="val 6000"/>
            </a:avLst>
          </a:prstGeom>
          <a:solidFill>
            <a:srgbClr val="27356E"/>
          </a:solidFill>
          <a:ln>
            <a:noFill/>
          </a:ln>
        </p:spPr>
        <p:txBody>
          <a:bodyPr wrap="square" lIns="320040" tIns="201168" rIns="320040" bIns="182880" anchor="t" rtlCol="0">
            <a:noAutofit/>
          </a:bodyPr>
          <a:lstStyle/>
          <a:p>
            <a:pPr algn="l">
              <a:lnSpc>
                <a:spcPts val="2270"/>
              </a:lnSpc>
              <a:spcBef>
                <a:spcPts val="0"/>
              </a:spcBef>
              <a:spcAft>
                <a:spcPts val="800"/>
              </a:spcAft>
              <a:buNone/>
            </a:pPr>
            <a:r>
              <a:rPr lang="ko-KR" altLang="en-US" sz="1600" b="1" dirty="0">
                <a:solidFill>
                  <a:srgbClr val="FFE98A"/>
                </a:solidFill>
                <a:latin typeface="맑은 고딕"/>
                <a:ea typeface="맑은 고딕"/>
                <a:cs typeface="맑은 고딕"/>
              </a:rPr>
              <a:t>PART 1  5지선다     </a:t>
            </a:r>
            <a:r>
              <a:rPr lang="ko-KR" altLang="en-US" sz="1600" b="0" dirty="0">
                <a:solidFill>
                  <a:srgbClr val="FFFFFF"/>
                </a:solidFill>
                <a:latin typeface="맑은 고딕"/>
                <a:ea typeface="맑은 고딕"/>
                <a:cs typeface="맑은 고딕"/>
              </a:rPr>
              <a:t>클릭 ① 정답  →  클릭 ② 본문 근거 형광 + 정답 원리</a:t>
            </a:r>
            <a:endParaRPr lang="ko-KR" altLang="en-US" sz="1600" b="0" dirty="0">
              <a:solidFill>
                <a:srgbClr val="FFFFFF"/>
              </a:solidFill>
              <a:latin typeface="맑은 고딕"/>
              <a:ea typeface="맑은 고딕"/>
              <a:cs typeface="맑은 고딕"/>
            </a:endParaRPr>
          </a:p>
          <a:p>
            <a:pPr algn="l">
              <a:lnSpc>
                <a:spcPts val="2270"/>
              </a:lnSpc>
              <a:spcBef>
                <a:spcPts val="0"/>
              </a:spcBef>
              <a:spcAft>
                <a:spcPts val="800"/>
              </a:spcAft>
              <a:buNone/>
            </a:pPr>
            <a:r>
              <a:rPr lang="ko-KR" altLang="en-US" sz="1600" b="1" dirty="0">
                <a:solidFill>
                  <a:srgbClr val="FFE98A"/>
                </a:solidFill>
                <a:latin typeface="맑은 고딕"/>
                <a:ea typeface="맑은 고딕"/>
                <a:cs typeface="맑은 고딕"/>
              </a:rPr>
              <a:t>PART 2  순서·위치     </a:t>
            </a:r>
            <a:r>
              <a:rPr lang="ko-KR" altLang="en-US" sz="1600" b="0" dirty="0">
                <a:solidFill>
                  <a:srgbClr val="FFFFFF"/>
                </a:solidFill>
                <a:latin typeface="맑은 고딕"/>
                <a:ea typeface="맑은 고딕"/>
                <a:cs typeface="맑은 고딕"/>
              </a:rPr>
              <a:t>클릭 ① 정답  →  클릭 ② 정답 원리</a:t>
            </a:r>
            <a:endParaRPr lang="ko-KR" altLang="en-US" sz="1600" b="0" dirty="0">
              <a:solidFill>
                <a:srgbClr val="FFFFFF"/>
              </a:solidFill>
              <a:latin typeface="맑은 고딕"/>
              <a:ea typeface="맑은 고딕"/>
              <a:cs typeface="맑은 고딕"/>
            </a:endParaRPr>
          </a:p>
          <a:p>
            <a:pPr algn="l">
              <a:lnSpc>
                <a:spcPts val="2270"/>
              </a:lnSpc>
              <a:spcBef>
                <a:spcPts val="0"/>
              </a:spcBef>
              <a:spcAft>
                <a:spcPts val="800"/>
              </a:spcAft>
              <a:buNone/>
            </a:pPr>
            <a:r>
              <a:rPr lang="ko-KR" altLang="en-US" sz="1600" b="1" dirty="0">
                <a:solidFill>
                  <a:srgbClr val="FFE98A"/>
                </a:solidFill>
                <a:latin typeface="맑은 고딕"/>
                <a:ea typeface="맑은 고딕"/>
                <a:cs typeface="맑은 고딕"/>
              </a:rPr>
              <a:t>PART 3  어법·어휘     </a:t>
            </a:r>
            <a:r>
              <a:rPr lang="ko-KR" altLang="en-US" sz="1600" b="0" dirty="0">
                <a:solidFill>
                  <a:srgbClr val="FFFFFF"/>
                </a:solidFill>
                <a:latin typeface="맑은 고딕"/>
                <a:ea typeface="맑은 고딕"/>
                <a:cs typeface="맑은 고딕"/>
              </a:rPr>
              <a:t>본문 속 괄호마다, 클릭할 때마다 정답이 빨간색으로</a:t>
            </a:r>
            <a:endParaRPr lang="ko-KR" altLang="en-US" sz="1600" b="0" dirty="0">
              <a:solidFill>
                <a:srgbClr val="FFFFFF"/>
              </a:solidFill>
              <a:latin typeface="맑은 고딕"/>
              <a:ea typeface="맑은 고딕"/>
              <a:cs typeface="맑은 고딕"/>
            </a:endParaRP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L5-1</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1 · 1</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1. 다음 글의 주제로 가장 적절한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5</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본문 근거 형광 + 정답 원리</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151257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1512570"/>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1F2328"/>
                </a:solidFill>
                <a:latin typeface="Calibri"/>
                <a:ea typeface="맑은 고딕"/>
                <a:cs typeface="Calibri"/>
              </a:rPr>
              <a:t>In sports, only the players get a trophy or medal, but they don’t win on their own. </a:t>
            </a:r>
            <a:r>
              <a:rPr lang="en-US" altLang="ko-KR" sz="1500" b="0" dirty="0">
                <a:solidFill>
                  <a:srgbClr val="1F2328"/>
                </a:solidFill>
                <a:latin typeface="Calibri"/>
                <a:ea typeface="맑은 고딕"/>
                <a:cs typeface="Calibri"/>
              </a:rPr>
              <a:t>There are people who help the players.</a:t>
            </a:r>
            <a:r>
              <a:rPr lang="en-US" altLang="ko-KR" sz="1500" b="0" dirty="0">
                <a:solidFill>
                  <a:srgbClr val="1F2328"/>
                </a:solidFill>
                <a:latin typeface="Calibri"/>
                <a:ea typeface="맑은 고딕"/>
                <a:cs typeface="Calibri"/>
              </a:rPr>
              <a:t> These people are often hidden and don’t get attention. </a:t>
            </a:r>
            <a:r>
              <a:rPr lang="en-US" altLang="ko-KR" sz="1500" b="0" dirty="0">
                <a:solidFill>
                  <a:srgbClr val="1F2328"/>
                </a:solidFill>
                <a:latin typeface="Calibri"/>
                <a:ea typeface="맑은 고딕"/>
                <a:cs typeface="Calibri"/>
              </a:rPr>
              <a:t>However, they are as important as the players.</a:t>
            </a:r>
            <a:r>
              <a:rPr lang="en-US" altLang="ko-KR" sz="1500" b="0" dirty="0">
                <a:solidFill>
                  <a:srgbClr val="1F2328"/>
                </a:solidFill>
                <a:latin typeface="Calibri"/>
                <a:ea typeface="맑은 고딕"/>
                <a:cs typeface="Calibri"/>
              </a:rPr>
              <a:t> Here are some examples. Pacers run with other runners and lead them in a marathon. Pacers are experienced runners, and their job is to help other runners manage their race better. There can be several pacers in a race.</a:t>
            </a:r>
            <a:endParaRPr lang="en-US" altLang="ko-KR" sz="1500" b="0" dirty="0">
              <a:solidFill>
                <a:srgbClr val="1F2328"/>
              </a:solidFill>
              <a:latin typeface="Calibri"/>
              <a:ea typeface="맑은 고딕"/>
              <a:cs typeface="Calibri"/>
            </a:endParaRPr>
          </a:p>
        </p:txBody>
      </p:sp>
      <p:sp>
        <p:nvSpPr>
          <p:cNvPr id="9" name="rv_evidence_card"/>
          <p:cNvSpPr/>
          <p:nvPr/>
        </p:nvSpPr>
        <p:spPr>
          <a:xfrm>
            <a:off x="457200" y="950976"/>
            <a:ext cx="11277295" cy="151257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rv_evidence"/>
          <p:cNvSpPr txBox="1"/>
          <p:nvPr/>
        </p:nvSpPr>
        <p:spPr>
          <a:xfrm>
            <a:off x="457200" y="950976"/>
            <a:ext cx="11277295" cy="1512570"/>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B3BAC6"/>
                </a:solidFill>
                <a:latin typeface="Calibri"/>
                <a:ea typeface="맑은 고딕"/>
                <a:cs typeface="Calibri"/>
              </a:rPr>
              <a:t>In sports, only the players get a trophy or medal, but they don’t win on their own. </a:t>
            </a:r>
            <a:r>
              <a:rPr lang="en-US" altLang="ko-KR" sz="1500" b="0" dirty="0">
                <a:solidFill>
                  <a:srgbClr val="111111"/>
                </a:solidFill>
                <a:highlight>
                  <a:srgbClr val="FFE45C"/>
                </a:highlight>
                <a:latin typeface="Calibri"/>
                <a:ea typeface="맑은 고딕"/>
                <a:cs typeface="Calibri"/>
              </a:rPr>
              <a:t>There are people who help the players.</a:t>
            </a:r>
            <a:r>
              <a:rPr lang="en-US" altLang="ko-KR" sz="1500" b="0" dirty="0">
                <a:solidFill>
                  <a:srgbClr val="B3BAC6"/>
                </a:solidFill>
                <a:latin typeface="Calibri"/>
                <a:ea typeface="맑은 고딕"/>
                <a:cs typeface="Calibri"/>
              </a:rPr>
              <a:t> These people are often hidden and don’t get attention. </a:t>
            </a:r>
            <a:r>
              <a:rPr lang="en-US" altLang="ko-KR" sz="1500" b="0" dirty="0">
                <a:solidFill>
                  <a:srgbClr val="111111"/>
                </a:solidFill>
                <a:highlight>
                  <a:srgbClr val="FFE45C"/>
                </a:highlight>
                <a:latin typeface="Calibri"/>
                <a:ea typeface="맑은 고딕"/>
                <a:cs typeface="Calibri"/>
              </a:rPr>
              <a:t>However, they are as important as the players.</a:t>
            </a:r>
            <a:r>
              <a:rPr lang="en-US" altLang="ko-KR" sz="1500" b="0" dirty="0">
                <a:solidFill>
                  <a:srgbClr val="B3BAC6"/>
                </a:solidFill>
                <a:latin typeface="Calibri"/>
                <a:ea typeface="맑은 고딕"/>
                <a:cs typeface="Calibri"/>
              </a:rPr>
              <a:t> Here are some examples. Pacers run with other runners and lead them in a marathon. Pacers are experienced runners, and their job is to help other runners manage their race better. There can be several pacers in a race.</a:t>
            </a:r>
            <a:endParaRPr lang="en-US" altLang="ko-KR" sz="1500" b="0" dirty="0">
              <a:solidFill>
                <a:srgbClr val="B3BAC6"/>
              </a:solidFill>
              <a:latin typeface="Calibri"/>
              <a:ea typeface="맑은 고딕"/>
              <a:cs typeface="Calibri"/>
            </a:endParaRPr>
          </a:p>
        </p:txBody>
      </p:sp>
      <p:sp>
        <p:nvSpPr>
          <p:cNvPr id="11" name="choice_1"/>
          <p:cNvSpPr txBox="1"/>
          <p:nvPr/>
        </p:nvSpPr>
        <p:spPr>
          <a:xfrm>
            <a:off x="457200" y="2609850"/>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①</a:t>
            </a:r>
            <a:r>
              <a:rPr lang="en-US" altLang="ko-KR" sz="1800" b="0" dirty="0">
                <a:solidFill>
                  <a:srgbClr val="1F2328"/>
                </a:solidFill>
                <a:latin typeface="Calibri"/>
                <a:ea typeface="맑은 고딕"/>
                <a:cs typeface="Calibri"/>
              </a:rPr>
              <a:t>	the history of medals given to marathon runners</a:t>
            </a:r>
            <a:endParaRPr lang="en-US" altLang="ko-KR" sz="1800" b="0" dirty="0">
              <a:solidFill>
                <a:srgbClr val="1F2328"/>
              </a:solidFill>
              <a:latin typeface="Calibri"/>
              <a:ea typeface="맑은 고딕"/>
              <a:cs typeface="Calibri"/>
            </a:endParaRPr>
          </a:p>
        </p:txBody>
      </p:sp>
      <p:sp>
        <p:nvSpPr>
          <p:cNvPr id="12" name="choice_2"/>
          <p:cNvSpPr txBox="1"/>
          <p:nvPr/>
        </p:nvSpPr>
        <p:spPr>
          <a:xfrm>
            <a:off x="457200" y="3017266"/>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②</a:t>
            </a:r>
            <a:r>
              <a:rPr lang="en-US" altLang="ko-KR" sz="1800" b="0" dirty="0">
                <a:solidFill>
                  <a:srgbClr val="1F2328"/>
                </a:solidFill>
                <a:latin typeface="Calibri"/>
                <a:ea typeface="맑은 고딕"/>
                <a:cs typeface="Calibri"/>
              </a:rPr>
              <a:t>	the training methods of experienced marathon runners</a:t>
            </a:r>
            <a:endParaRPr lang="en-US" altLang="ko-KR" sz="1800" b="0" dirty="0">
              <a:solidFill>
                <a:srgbClr val="1F2328"/>
              </a:solidFill>
              <a:latin typeface="Calibri"/>
              <a:ea typeface="맑은 고딕"/>
              <a:cs typeface="Calibri"/>
            </a:endParaRPr>
          </a:p>
        </p:txBody>
      </p:sp>
      <p:sp>
        <p:nvSpPr>
          <p:cNvPr id="13" name="choice_3"/>
          <p:cNvSpPr txBox="1"/>
          <p:nvPr/>
        </p:nvSpPr>
        <p:spPr>
          <a:xfrm>
            <a:off x="457200" y="3424682"/>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③</a:t>
            </a:r>
            <a:r>
              <a:rPr lang="en-US" altLang="ko-KR" sz="1800" b="0" dirty="0">
                <a:solidFill>
                  <a:srgbClr val="1F2328"/>
                </a:solidFill>
                <a:latin typeface="Calibri"/>
                <a:ea typeface="맑은 고딕"/>
                <a:cs typeface="Calibri"/>
              </a:rPr>
              <a:t>	the hidden helpers who support players in sports</a:t>
            </a:r>
            <a:endParaRPr lang="en-US" altLang="ko-KR" sz="1800" b="0" dirty="0">
              <a:solidFill>
                <a:srgbClr val="1F2328"/>
              </a:solidFill>
              <a:latin typeface="Calibri"/>
              <a:ea typeface="맑은 고딕"/>
              <a:cs typeface="Calibri"/>
            </a:endParaRPr>
          </a:p>
        </p:txBody>
      </p:sp>
      <p:sp>
        <p:nvSpPr>
          <p:cNvPr id="14" name="rv_pick"/>
          <p:cNvSpPr txBox="1"/>
          <p:nvPr/>
        </p:nvSpPr>
        <p:spPr>
          <a:xfrm>
            <a:off x="457200" y="3424682"/>
            <a:ext cx="11277295" cy="379984"/>
          </a:xfrm>
          <a:prstGeom prst="rect">
            <a:avLst/>
          </a:prstGeom>
          <a:solidFill>
            <a:srgbClr val="FFF3C4"/>
          </a:solid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C00000"/>
                </a:solidFill>
                <a:latin typeface="맑은 고딕"/>
                <a:ea typeface="맑은 고딕"/>
                <a:cs typeface="맑은 고딕"/>
              </a:rPr>
              <a:t>③</a:t>
            </a:r>
            <a:r>
              <a:rPr lang="en-US" altLang="ko-KR" sz="1800" b="0" dirty="0">
                <a:solidFill>
                  <a:srgbClr val="C00000"/>
                </a:solidFill>
                <a:latin typeface="Calibri"/>
                <a:ea typeface="맑은 고딕"/>
                <a:cs typeface="Calibri"/>
              </a:rPr>
              <a:t>	the hidden helpers who support players in sports</a:t>
            </a:r>
            <a:endParaRPr lang="en-US" altLang="ko-KR" sz="1800" b="0" dirty="0">
              <a:solidFill>
                <a:srgbClr val="C00000"/>
              </a:solidFill>
              <a:latin typeface="Calibri"/>
              <a:ea typeface="맑은 고딕"/>
              <a:cs typeface="Calibri"/>
            </a:endParaRPr>
          </a:p>
        </p:txBody>
      </p:sp>
      <p:sp>
        <p:nvSpPr>
          <p:cNvPr id="15" name="choice_4"/>
          <p:cNvSpPr txBox="1"/>
          <p:nvPr/>
        </p:nvSpPr>
        <p:spPr>
          <a:xfrm>
            <a:off x="457200" y="3832098"/>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④</a:t>
            </a:r>
            <a:r>
              <a:rPr lang="en-US" altLang="ko-KR" sz="1800" b="0" dirty="0">
                <a:solidFill>
                  <a:srgbClr val="1F2328"/>
                </a:solidFill>
                <a:latin typeface="Calibri"/>
                <a:ea typeface="맑은 고딕"/>
                <a:cs typeface="Calibri"/>
              </a:rPr>
              <a:t>	the reasons why players win trophies on their own</a:t>
            </a:r>
            <a:endParaRPr lang="en-US" altLang="ko-KR" sz="1800" b="0" dirty="0">
              <a:solidFill>
                <a:srgbClr val="1F2328"/>
              </a:solidFill>
              <a:latin typeface="Calibri"/>
              <a:ea typeface="맑은 고딕"/>
              <a:cs typeface="Calibri"/>
            </a:endParaRPr>
          </a:p>
        </p:txBody>
      </p:sp>
      <p:sp>
        <p:nvSpPr>
          <p:cNvPr id="16" name="choice_5"/>
          <p:cNvSpPr txBox="1"/>
          <p:nvPr/>
        </p:nvSpPr>
        <p:spPr>
          <a:xfrm>
            <a:off x="457200" y="4239514"/>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⑤</a:t>
            </a:r>
            <a:r>
              <a:rPr lang="en-US" altLang="ko-KR" sz="1800" b="0" dirty="0">
                <a:solidFill>
                  <a:srgbClr val="1F2328"/>
                </a:solidFill>
                <a:latin typeface="Calibri"/>
                <a:ea typeface="맑은 고딕"/>
                <a:cs typeface="Calibri"/>
              </a:rPr>
              <a:t>	the rules for choosing several pacers in a race</a:t>
            </a:r>
            <a:endParaRPr lang="en-US" altLang="ko-KR" sz="1800" b="0" dirty="0">
              <a:solidFill>
                <a:srgbClr val="1F2328"/>
              </a:solidFill>
              <a:latin typeface="Calibri"/>
              <a:ea typeface="맑은 고딕"/>
              <a:cs typeface="Calibri"/>
            </a:endParaRPr>
          </a:p>
        </p:txBody>
      </p:sp>
      <p:sp>
        <p:nvSpPr>
          <p:cNvPr id="17" name="rv_answer"/>
          <p:cNvSpPr/>
          <p:nvPr/>
        </p:nvSpPr>
        <p:spPr>
          <a:xfrm>
            <a:off x="457200" y="472922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③ </a:t>
            </a:r>
            <a:r>
              <a:rPr lang="en-US" altLang="ko-KR" sz="1900" b="1" dirty="0">
                <a:solidFill>
                  <a:srgbClr val="5A4200"/>
                </a:solidFill>
                <a:latin typeface="Calibri"/>
                <a:ea typeface="맑은 고딕"/>
                <a:cs typeface="Calibri"/>
              </a:rPr>
              <a:t>the hidden helpers who support players in sports</a:t>
            </a:r>
            <a:endParaRPr lang="en-US" altLang="ko-KR" sz="1900" b="1" dirty="0">
              <a:solidFill>
                <a:srgbClr val="5A4200"/>
              </a:solidFill>
              <a:latin typeface="Calibri"/>
              <a:ea typeface="맑은 고딕"/>
              <a:cs typeface="Calibri"/>
            </a:endParaRPr>
          </a:p>
        </p:txBody>
      </p:sp>
      <p:sp>
        <p:nvSpPr>
          <p:cNvPr id="18" name="rv_why"/>
          <p:cNvSpPr/>
          <p:nvPr/>
        </p:nvSpPr>
        <p:spPr>
          <a:xfrm>
            <a:off x="457200" y="5328158"/>
            <a:ext cx="11277295" cy="109092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선수를 돕는 사람들이 있고 그들이 선수만큼 중요하다고 했다. 숨은 조력자를 다룬 ③이 주제다.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250"/>
                                        <p:tgtEl>
                                          <p:spTgt spid="1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25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25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7" grpId="0" animBg="1"/>
      <p:bldP spid="9" grpId="0" animBg="1"/>
      <p:bldP spid="10" grpId="0" animBg="1"/>
      <p:bldP spid="18" grpId="0" animBg="1"/>
    </p:bldLst>
  </p:timing>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L5-1</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1 · 2</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2. 다음 글의 제목으로 가장 적절한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5</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본문 근거 형광 + 정답 원리</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151257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1512570"/>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1F2328"/>
                </a:solidFill>
                <a:latin typeface="Calibri"/>
                <a:ea typeface="맑은 고딕"/>
                <a:cs typeface="Calibri"/>
              </a:rPr>
              <a:t>In sports, only the players get a trophy or medal, but they don’t win on their own. There are people who help the players. </a:t>
            </a:r>
            <a:r>
              <a:rPr lang="en-US" altLang="ko-KR" sz="1500" b="0" dirty="0">
                <a:solidFill>
                  <a:srgbClr val="1F2328"/>
                </a:solidFill>
                <a:latin typeface="Calibri"/>
                <a:ea typeface="맑은 고딕"/>
                <a:cs typeface="Calibri"/>
              </a:rPr>
              <a:t>These people are often hidden and don’t get attention.</a:t>
            </a:r>
            <a:r>
              <a:rPr lang="en-US" altLang="ko-KR" sz="1500" b="0" dirty="0">
                <a:solidFill>
                  <a:srgbClr val="1F2328"/>
                </a:solidFill>
                <a:latin typeface="Calibri"/>
                <a:ea typeface="맑은 고딕"/>
                <a:cs typeface="Calibri"/>
              </a:rPr>
              <a:t> </a:t>
            </a:r>
            <a:r>
              <a:rPr lang="en-US" altLang="ko-KR" sz="1500" b="0" dirty="0">
                <a:solidFill>
                  <a:srgbClr val="1F2328"/>
                </a:solidFill>
                <a:latin typeface="Calibri"/>
                <a:ea typeface="맑은 고딕"/>
                <a:cs typeface="Calibri"/>
              </a:rPr>
              <a:t>However, they are as important as the players.</a:t>
            </a:r>
            <a:r>
              <a:rPr lang="en-US" altLang="ko-KR" sz="1500" b="0" dirty="0">
                <a:solidFill>
                  <a:srgbClr val="1F2328"/>
                </a:solidFill>
                <a:latin typeface="Calibri"/>
                <a:ea typeface="맑은 고딕"/>
                <a:cs typeface="Calibri"/>
              </a:rPr>
              <a:t> Here are some examples. Pacers run with other runners and lead them in a marathon. Pacers are experienced runners, and their job is to help other runners manage their race better. There can be several pacers in a race.</a:t>
            </a:r>
            <a:endParaRPr lang="en-US" altLang="ko-KR" sz="1500" b="0" dirty="0">
              <a:solidFill>
                <a:srgbClr val="1F2328"/>
              </a:solidFill>
              <a:latin typeface="Calibri"/>
              <a:ea typeface="맑은 고딕"/>
              <a:cs typeface="Calibri"/>
            </a:endParaRPr>
          </a:p>
        </p:txBody>
      </p:sp>
      <p:sp>
        <p:nvSpPr>
          <p:cNvPr id="9" name="rv_evidence_card"/>
          <p:cNvSpPr/>
          <p:nvPr/>
        </p:nvSpPr>
        <p:spPr>
          <a:xfrm>
            <a:off x="457200" y="950976"/>
            <a:ext cx="11277295" cy="151257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rv_evidence"/>
          <p:cNvSpPr txBox="1"/>
          <p:nvPr/>
        </p:nvSpPr>
        <p:spPr>
          <a:xfrm>
            <a:off x="457200" y="950976"/>
            <a:ext cx="11277295" cy="1512570"/>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B3BAC6"/>
                </a:solidFill>
                <a:latin typeface="Calibri"/>
                <a:ea typeface="맑은 고딕"/>
                <a:cs typeface="Calibri"/>
              </a:rPr>
              <a:t>In sports, only the players get a trophy or medal, but they don’t win on their own. There are people who help the players. </a:t>
            </a:r>
            <a:r>
              <a:rPr lang="en-US" altLang="ko-KR" sz="1500" b="0" dirty="0">
                <a:solidFill>
                  <a:srgbClr val="111111"/>
                </a:solidFill>
                <a:highlight>
                  <a:srgbClr val="FFE45C"/>
                </a:highlight>
                <a:latin typeface="Calibri"/>
                <a:ea typeface="맑은 고딕"/>
                <a:cs typeface="Calibri"/>
              </a:rPr>
              <a:t>These people are often hidden and don’t get attention.</a:t>
            </a:r>
            <a:r>
              <a:rPr lang="en-US" altLang="ko-KR" sz="1500" b="0" dirty="0">
                <a:solidFill>
                  <a:srgbClr val="B3BAC6"/>
                </a:solidFill>
                <a:latin typeface="Calibri"/>
                <a:ea typeface="맑은 고딕"/>
                <a:cs typeface="Calibri"/>
              </a:rPr>
              <a:t> </a:t>
            </a:r>
            <a:r>
              <a:rPr lang="en-US" altLang="ko-KR" sz="1500" b="0" dirty="0">
                <a:solidFill>
                  <a:srgbClr val="111111"/>
                </a:solidFill>
                <a:highlight>
                  <a:srgbClr val="FFE45C"/>
                </a:highlight>
                <a:latin typeface="Calibri"/>
                <a:ea typeface="맑은 고딕"/>
                <a:cs typeface="Calibri"/>
              </a:rPr>
              <a:t>However, they are as important as the players.</a:t>
            </a:r>
            <a:r>
              <a:rPr lang="en-US" altLang="ko-KR" sz="1500" b="0" dirty="0">
                <a:solidFill>
                  <a:srgbClr val="B3BAC6"/>
                </a:solidFill>
                <a:latin typeface="Calibri"/>
                <a:ea typeface="맑은 고딕"/>
                <a:cs typeface="Calibri"/>
              </a:rPr>
              <a:t> Here are some examples. Pacers run with other runners and lead them in a marathon. Pacers are experienced runners, and their job is to help other runners manage their race better. There can be several pacers in a race.</a:t>
            </a:r>
            <a:endParaRPr lang="en-US" altLang="ko-KR" sz="1500" b="0" dirty="0">
              <a:solidFill>
                <a:srgbClr val="B3BAC6"/>
              </a:solidFill>
              <a:latin typeface="Calibri"/>
              <a:ea typeface="맑은 고딕"/>
              <a:cs typeface="Calibri"/>
            </a:endParaRPr>
          </a:p>
        </p:txBody>
      </p:sp>
      <p:sp>
        <p:nvSpPr>
          <p:cNvPr id="11" name="choice_1"/>
          <p:cNvSpPr txBox="1"/>
          <p:nvPr/>
        </p:nvSpPr>
        <p:spPr>
          <a:xfrm>
            <a:off x="457200" y="2609850"/>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①</a:t>
            </a:r>
            <a:r>
              <a:rPr lang="en-US" altLang="ko-KR" sz="1800" b="0" dirty="0">
                <a:solidFill>
                  <a:srgbClr val="1F2328"/>
                </a:solidFill>
                <a:latin typeface="Calibri"/>
                <a:ea typeface="맑은 고딕"/>
                <a:cs typeface="Calibri"/>
              </a:rPr>
              <a:t>	Why Only Players Deserve the Trophy</a:t>
            </a:r>
            <a:endParaRPr lang="en-US" altLang="ko-KR" sz="1800" b="0" dirty="0">
              <a:solidFill>
                <a:srgbClr val="1F2328"/>
              </a:solidFill>
              <a:latin typeface="Calibri"/>
              <a:ea typeface="맑은 고딕"/>
              <a:cs typeface="Calibri"/>
            </a:endParaRPr>
          </a:p>
        </p:txBody>
      </p:sp>
      <p:sp>
        <p:nvSpPr>
          <p:cNvPr id="12" name="choice_2"/>
          <p:cNvSpPr txBox="1"/>
          <p:nvPr/>
        </p:nvSpPr>
        <p:spPr>
          <a:xfrm>
            <a:off x="457200" y="3017266"/>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②</a:t>
            </a:r>
            <a:r>
              <a:rPr lang="en-US" altLang="ko-KR" sz="1800" b="0" dirty="0">
                <a:solidFill>
                  <a:srgbClr val="1F2328"/>
                </a:solidFill>
                <a:latin typeface="Calibri"/>
                <a:ea typeface="맑은 고딕"/>
                <a:cs typeface="Calibri"/>
              </a:rPr>
              <a:t>	How to Run a Marathon Without Help</a:t>
            </a:r>
            <a:endParaRPr lang="en-US" altLang="ko-KR" sz="1800" b="0" dirty="0">
              <a:solidFill>
                <a:srgbClr val="1F2328"/>
              </a:solidFill>
              <a:latin typeface="Calibri"/>
              <a:ea typeface="맑은 고딕"/>
              <a:cs typeface="Calibri"/>
            </a:endParaRPr>
          </a:p>
        </p:txBody>
      </p:sp>
      <p:sp>
        <p:nvSpPr>
          <p:cNvPr id="13" name="choice_3"/>
          <p:cNvSpPr txBox="1"/>
          <p:nvPr/>
        </p:nvSpPr>
        <p:spPr>
          <a:xfrm>
            <a:off x="457200" y="3424682"/>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③</a:t>
            </a:r>
            <a:r>
              <a:rPr lang="en-US" altLang="ko-KR" sz="1800" b="0" dirty="0">
                <a:solidFill>
                  <a:srgbClr val="1F2328"/>
                </a:solidFill>
                <a:latin typeface="Calibri"/>
                <a:ea typeface="맑은 고딕"/>
                <a:cs typeface="Calibri"/>
              </a:rPr>
              <a:t>	The Fastest Runners in a Marathon</a:t>
            </a:r>
            <a:endParaRPr lang="en-US" altLang="ko-KR" sz="1800" b="0" dirty="0">
              <a:solidFill>
                <a:srgbClr val="1F2328"/>
              </a:solidFill>
              <a:latin typeface="Calibri"/>
              <a:ea typeface="맑은 고딕"/>
              <a:cs typeface="Calibri"/>
            </a:endParaRPr>
          </a:p>
        </p:txBody>
      </p:sp>
      <p:sp>
        <p:nvSpPr>
          <p:cNvPr id="14" name="choice_4"/>
          <p:cNvSpPr txBox="1"/>
          <p:nvPr/>
        </p:nvSpPr>
        <p:spPr>
          <a:xfrm>
            <a:off x="457200" y="3832098"/>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④</a:t>
            </a:r>
            <a:r>
              <a:rPr lang="en-US" altLang="ko-KR" sz="1800" b="0" dirty="0">
                <a:solidFill>
                  <a:srgbClr val="1F2328"/>
                </a:solidFill>
                <a:latin typeface="Calibri"/>
                <a:ea typeface="맑은 고딕"/>
                <a:cs typeface="Calibri"/>
              </a:rPr>
              <a:t>	Hidden People Behind Every Victory</a:t>
            </a:r>
            <a:endParaRPr lang="en-US" altLang="ko-KR" sz="1800" b="0" dirty="0">
              <a:solidFill>
                <a:srgbClr val="1F2328"/>
              </a:solidFill>
              <a:latin typeface="Calibri"/>
              <a:ea typeface="맑은 고딕"/>
              <a:cs typeface="Calibri"/>
            </a:endParaRPr>
          </a:p>
        </p:txBody>
      </p:sp>
      <p:sp>
        <p:nvSpPr>
          <p:cNvPr id="15" name="rv_pick"/>
          <p:cNvSpPr txBox="1"/>
          <p:nvPr/>
        </p:nvSpPr>
        <p:spPr>
          <a:xfrm>
            <a:off x="457200" y="3832098"/>
            <a:ext cx="11277295" cy="379984"/>
          </a:xfrm>
          <a:prstGeom prst="rect">
            <a:avLst/>
          </a:prstGeom>
          <a:solidFill>
            <a:srgbClr val="FFF3C4"/>
          </a:solid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C00000"/>
                </a:solidFill>
                <a:latin typeface="맑은 고딕"/>
                <a:ea typeface="맑은 고딕"/>
                <a:cs typeface="맑은 고딕"/>
              </a:rPr>
              <a:t>④</a:t>
            </a:r>
            <a:r>
              <a:rPr lang="en-US" altLang="ko-KR" sz="1800" b="0" dirty="0">
                <a:solidFill>
                  <a:srgbClr val="C00000"/>
                </a:solidFill>
                <a:latin typeface="Calibri"/>
                <a:ea typeface="맑은 고딕"/>
                <a:cs typeface="Calibri"/>
              </a:rPr>
              <a:t>	Hidden People Behind Every Victory</a:t>
            </a:r>
            <a:endParaRPr lang="en-US" altLang="ko-KR" sz="1800" b="0" dirty="0">
              <a:solidFill>
                <a:srgbClr val="C00000"/>
              </a:solidFill>
              <a:latin typeface="Calibri"/>
              <a:ea typeface="맑은 고딕"/>
              <a:cs typeface="Calibri"/>
            </a:endParaRPr>
          </a:p>
        </p:txBody>
      </p:sp>
      <p:sp>
        <p:nvSpPr>
          <p:cNvPr id="16" name="choice_5"/>
          <p:cNvSpPr txBox="1"/>
          <p:nvPr/>
        </p:nvSpPr>
        <p:spPr>
          <a:xfrm>
            <a:off x="457200" y="4239514"/>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⑤</a:t>
            </a:r>
            <a:r>
              <a:rPr lang="en-US" altLang="ko-KR" sz="1800" b="0" dirty="0">
                <a:solidFill>
                  <a:srgbClr val="1F2328"/>
                </a:solidFill>
                <a:latin typeface="Calibri"/>
                <a:ea typeface="맑은 고딕"/>
                <a:cs typeface="Calibri"/>
              </a:rPr>
              <a:t>	Medals for Every Runner in a Race</a:t>
            </a:r>
            <a:endParaRPr lang="en-US" altLang="ko-KR" sz="1800" b="0" dirty="0">
              <a:solidFill>
                <a:srgbClr val="1F2328"/>
              </a:solidFill>
              <a:latin typeface="Calibri"/>
              <a:ea typeface="맑은 고딕"/>
              <a:cs typeface="Calibri"/>
            </a:endParaRPr>
          </a:p>
        </p:txBody>
      </p:sp>
      <p:sp>
        <p:nvSpPr>
          <p:cNvPr id="17" name="rv_answer"/>
          <p:cNvSpPr/>
          <p:nvPr/>
        </p:nvSpPr>
        <p:spPr>
          <a:xfrm>
            <a:off x="457200" y="472922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④ </a:t>
            </a:r>
            <a:r>
              <a:rPr lang="en-US" altLang="ko-KR" sz="1900" b="1" dirty="0">
                <a:solidFill>
                  <a:srgbClr val="5A4200"/>
                </a:solidFill>
                <a:latin typeface="Calibri"/>
                <a:ea typeface="맑은 고딕"/>
                <a:cs typeface="Calibri"/>
              </a:rPr>
              <a:t>Hidden People Behind Every Victory</a:t>
            </a:r>
            <a:endParaRPr lang="en-US" altLang="ko-KR" sz="1900" b="1" dirty="0">
              <a:solidFill>
                <a:srgbClr val="5A4200"/>
              </a:solidFill>
              <a:latin typeface="Calibri"/>
              <a:ea typeface="맑은 고딕"/>
              <a:cs typeface="Calibri"/>
            </a:endParaRPr>
          </a:p>
        </p:txBody>
      </p:sp>
      <p:sp>
        <p:nvSpPr>
          <p:cNvPr id="18" name="rv_why"/>
          <p:cNvSpPr/>
          <p:nvPr/>
        </p:nvSpPr>
        <p:spPr>
          <a:xfrm>
            <a:off x="457200" y="5328158"/>
            <a:ext cx="11277295" cy="109092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숨겨져 주목받지 못하는 사람들이 선수만큼 중요하다고 했다. 승리 뒤의 숨은 사람들을 가리킨 ④가 제목이다.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250"/>
                                        <p:tgtEl>
                                          <p:spTgt spid="1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25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25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7" grpId="0" animBg="1"/>
      <p:bldP spid="9" grpId="0" animBg="1"/>
      <p:bldP spid="10" grpId="0" animBg="1"/>
      <p:bldP spid="18" grpId="0" animBg="1"/>
    </p:bldLst>
  </p:timing>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L5-1</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1 · 3</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3. 다음 글에서 필자가 주장하는 바로 가장 적절한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5</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본문 근거 형광 + 정답 원리</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151257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1512570"/>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1F2328"/>
                </a:solidFill>
                <a:latin typeface="Calibri"/>
                <a:ea typeface="맑은 고딕"/>
                <a:cs typeface="Calibri"/>
              </a:rPr>
              <a:t>In sports, only the players get a trophy or medal, but they don’t win on their own. There are people who help the players. These people are often hidden and don’t get attention. </a:t>
            </a:r>
            <a:r>
              <a:rPr lang="en-US" altLang="ko-KR" sz="1500" b="0" dirty="0">
                <a:solidFill>
                  <a:srgbClr val="1F2328"/>
                </a:solidFill>
                <a:latin typeface="Calibri"/>
                <a:ea typeface="맑은 고딕"/>
                <a:cs typeface="Calibri"/>
              </a:rPr>
              <a:t>However, they are as important as the players.</a:t>
            </a:r>
            <a:r>
              <a:rPr lang="en-US" altLang="ko-KR" sz="1500" b="0" dirty="0">
                <a:solidFill>
                  <a:srgbClr val="1F2328"/>
                </a:solidFill>
                <a:latin typeface="Calibri"/>
                <a:ea typeface="맑은 고딕"/>
                <a:cs typeface="Calibri"/>
              </a:rPr>
              <a:t> Here are some examples. Pacers run with other runners and lead them in a marathon. Pacers are experienced runners, and their job is to help other runners manage their race better. There can be several pacers in a race.</a:t>
            </a:r>
            <a:endParaRPr lang="en-US" altLang="ko-KR" sz="1500" b="0" dirty="0">
              <a:solidFill>
                <a:srgbClr val="1F2328"/>
              </a:solidFill>
              <a:latin typeface="Calibri"/>
              <a:ea typeface="맑은 고딕"/>
              <a:cs typeface="Calibri"/>
            </a:endParaRPr>
          </a:p>
        </p:txBody>
      </p:sp>
      <p:sp>
        <p:nvSpPr>
          <p:cNvPr id="9" name="rv_evidence_card"/>
          <p:cNvSpPr/>
          <p:nvPr/>
        </p:nvSpPr>
        <p:spPr>
          <a:xfrm>
            <a:off x="457200" y="950976"/>
            <a:ext cx="11277295" cy="151257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rv_evidence"/>
          <p:cNvSpPr txBox="1"/>
          <p:nvPr/>
        </p:nvSpPr>
        <p:spPr>
          <a:xfrm>
            <a:off x="457200" y="950976"/>
            <a:ext cx="11277295" cy="1512570"/>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B3BAC6"/>
                </a:solidFill>
                <a:latin typeface="Calibri"/>
                <a:ea typeface="맑은 고딕"/>
                <a:cs typeface="Calibri"/>
              </a:rPr>
              <a:t>In sports, only the players get a trophy or medal, but they don’t win on their own. There are people who help the players. These people are often hidden and don’t get attention. </a:t>
            </a:r>
            <a:r>
              <a:rPr lang="en-US" altLang="ko-KR" sz="1500" b="0" dirty="0">
                <a:solidFill>
                  <a:srgbClr val="111111"/>
                </a:solidFill>
                <a:highlight>
                  <a:srgbClr val="FFE45C"/>
                </a:highlight>
                <a:latin typeface="Calibri"/>
                <a:ea typeface="맑은 고딕"/>
                <a:cs typeface="Calibri"/>
              </a:rPr>
              <a:t>However, they are as important as the players.</a:t>
            </a:r>
            <a:r>
              <a:rPr lang="en-US" altLang="ko-KR" sz="1500" b="0" dirty="0">
                <a:solidFill>
                  <a:srgbClr val="B3BAC6"/>
                </a:solidFill>
                <a:latin typeface="Calibri"/>
                <a:ea typeface="맑은 고딕"/>
                <a:cs typeface="Calibri"/>
              </a:rPr>
              <a:t> Here are some examples. Pacers run with other runners and lead them in a marathon. Pacers are experienced runners, and their job is to help other runners manage their race better. There can be several pacers in a race.</a:t>
            </a:r>
            <a:endParaRPr lang="en-US" altLang="ko-KR" sz="1500" b="0" dirty="0">
              <a:solidFill>
                <a:srgbClr val="B3BAC6"/>
              </a:solidFill>
              <a:latin typeface="Calibri"/>
              <a:ea typeface="맑은 고딕"/>
              <a:cs typeface="Calibri"/>
            </a:endParaRPr>
          </a:p>
        </p:txBody>
      </p:sp>
      <p:sp>
        <p:nvSpPr>
          <p:cNvPr id="11" name="choice_1"/>
          <p:cNvSpPr txBox="1"/>
          <p:nvPr/>
        </p:nvSpPr>
        <p:spPr>
          <a:xfrm>
            <a:off x="457200" y="2609850"/>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①</a:t>
            </a:r>
            <a:r>
              <a:rPr lang="ko-KR" altLang="en-US" sz="1800" b="0" dirty="0">
                <a:solidFill>
                  <a:srgbClr val="1F2328"/>
                </a:solidFill>
                <a:latin typeface="맑은 고딕"/>
                <a:ea typeface="맑은 고딕"/>
                <a:cs typeface="맑은 고딕"/>
              </a:rPr>
              <a:t>	경기에서 우승한 선수들만 트로피를 받아야 한다</a:t>
            </a:r>
            <a:endParaRPr lang="ko-KR" altLang="en-US" sz="1800" b="0" dirty="0">
              <a:solidFill>
                <a:srgbClr val="1F2328"/>
              </a:solidFill>
              <a:latin typeface="맑은 고딕"/>
              <a:ea typeface="맑은 고딕"/>
              <a:cs typeface="맑은 고딕"/>
            </a:endParaRPr>
          </a:p>
        </p:txBody>
      </p:sp>
      <p:sp>
        <p:nvSpPr>
          <p:cNvPr id="12" name="choice_2"/>
          <p:cNvSpPr txBox="1"/>
          <p:nvPr/>
        </p:nvSpPr>
        <p:spPr>
          <a:xfrm>
            <a:off x="457200" y="3017266"/>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②</a:t>
            </a:r>
            <a:r>
              <a:rPr lang="ko-KR" altLang="en-US" sz="1800" b="0" dirty="0">
                <a:solidFill>
                  <a:srgbClr val="1F2328"/>
                </a:solidFill>
                <a:latin typeface="맑은 고딕"/>
                <a:ea typeface="맑은 고딕"/>
                <a:cs typeface="맑은 고딕"/>
              </a:rPr>
              <a:t>	마라톤 선수들은 혼자 힘으로 경주를 운영해야 한다</a:t>
            </a:r>
            <a:endParaRPr lang="ko-KR" altLang="en-US" sz="1800" b="0" dirty="0">
              <a:solidFill>
                <a:srgbClr val="1F2328"/>
              </a:solidFill>
              <a:latin typeface="맑은 고딕"/>
              <a:ea typeface="맑은 고딕"/>
              <a:cs typeface="맑은 고딕"/>
            </a:endParaRPr>
          </a:p>
        </p:txBody>
      </p:sp>
      <p:sp>
        <p:nvSpPr>
          <p:cNvPr id="13" name="choice_3"/>
          <p:cNvSpPr txBox="1"/>
          <p:nvPr/>
        </p:nvSpPr>
        <p:spPr>
          <a:xfrm>
            <a:off x="457200" y="3424682"/>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③</a:t>
            </a:r>
            <a:r>
              <a:rPr lang="ko-KR" altLang="en-US" sz="1800" b="0" dirty="0">
                <a:solidFill>
                  <a:srgbClr val="1F2328"/>
                </a:solidFill>
                <a:latin typeface="맑은 고딕"/>
                <a:ea typeface="맑은 고딕"/>
                <a:cs typeface="맑은 고딕"/>
              </a:rPr>
              <a:t>	페이서는 경주에서 반드시 한 명만 있어야 한다</a:t>
            </a:r>
            <a:endParaRPr lang="ko-KR" altLang="en-US" sz="1800" b="0" dirty="0">
              <a:solidFill>
                <a:srgbClr val="1F2328"/>
              </a:solidFill>
              <a:latin typeface="맑은 고딕"/>
              <a:ea typeface="맑은 고딕"/>
              <a:cs typeface="맑은 고딕"/>
            </a:endParaRPr>
          </a:p>
        </p:txBody>
      </p:sp>
      <p:sp>
        <p:nvSpPr>
          <p:cNvPr id="14" name="choice_4"/>
          <p:cNvSpPr txBox="1"/>
          <p:nvPr/>
        </p:nvSpPr>
        <p:spPr>
          <a:xfrm>
            <a:off x="457200" y="3832098"/>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④</a:t>
            </a:r>
            <a:r>
              <a:rPr lang="ko-KR" altLang="en-US" sz="1800" b="0" dirty="0">
                <a:solidFill>
                  <a:srgbClr val="1F2328"/>
                </a:solidFill>
                <a:latin typeface="맑은 고딕"/>
                <a:ea typeface="맑은 고딕"/>
                <a:cs typeface="맑은 고딕"/>
              </a:rPr>
              <a:t>	경험 많은 선수만 마라톤에 참가해야 마땅하다</a:t>
            </a:r>
            <a:endParaRPr lang="ko-KR" altLang="en-US" sz="1800" b="0" dirty="0">
              <a:solidFill>
                <a:srgbClr val="1F2328"/>
              </a:solidFill>
              <a:latin typeface="맑은 고딕"/>
              <a:ea typeface="맑은 고딕"/>
              <a:cs typeface="맑은 고딕"/>
            </a:endParaRPr>
          </a:p>
        </p:txBody>
      </p:sp>
      <p:sp>
        <p:nvSpPr>
          <p:cNvPr id="15" name="choice_5"/>
          <p:cNvSpPr txBox="1"/>
          <p:nvPr/>
        </p:nvSpPr>
        <p:spPr>
          <a:xfrm>
            <a:off x="457200" y="4239514"/>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⑤</a:t>
            </a:r>
            <a:r>
              <a:rPr lang="ko-KR" altLang="en-US" sz="1800" b="0" dirty="0">
                <a:solidFill>
                  <a:srgbClr val="1F2328"/>
                </a:solidFill>
                <a:latin typeface="맑은 고딕"/>
                <a:ea typeface="맑은 고딕"/>
                <a:cs typeface="맑은 고딕"/>
              </a:rPr>
              <a:t>	선수를 돕는 숨은 사람들도 선수만큼 중요하다</a:t>
            </a:r>
            <a:endParaRPr lang="ko-KR" altLang="en-US" sz="1800" b="0" dirty="0">
              <a:solidFill>
                <a:srgbClr val="1F2328"/>
              </a:solidFill>
              <a:latin typeface="맑은 고딕"/>
              <a:ea typeface="맑은 고딕"/>
              <a:cs typeface="맑은 고딕"/>
            </a:endParaRPr>
          </a:p>
        </p:txBody>
      </p:sp>
      <p:sp>
        <p:nvSpPr>
          <p:cNvPr id="16" name="rv_pick"/>
          <p:cNvSpPr txBox="1"/>
          <p:nvPr/>
        </p:nvSpPr>
        <p:spPr>
          <a:xfrm>
            <a:off x="457200" y="4239514"/>
            <a:ext cx="11277295" cy="379984"/>
          </a:xfrm>
          <a:prstGeom prst="rect">
            <a:avLst/>
          </a:prstGeom>
          <a:solidFill>
            <a:srgbClr val="FFF3C4"/>
          </a:solid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C00000"/>
                </a:solidFill>
                <a:latin typeface="맑은 고딕"/>
                <a:ea typeface="맑은 고딕"/>
                <a:cs typeface="맑은 고딕"/>
              </a:rPr>
              <a:t>⑤</a:t>
            </a:r>
            <a:r>
              <a:rPr lang="ko-KR" altLang="en-US" sz="1800" b="0" dirty="0">
                <a:solidFill>
                  <a:srgbClr val="C00000"/>
                </a:solidFill>
                <a:latin typeface="맑은 고딕"/>
                <a:ea typeface="맑은 고딕"/>
                <a:cs typeface="맑은 고딕"/>
              </a:rPr>
              <a:t>	선수를 돕는 숨은 사람들도 선수만큼 중요하다</a:t>
            </a:r>
            <a:endParaRPr lang="ko-KR" altLang="en-US" sz="1800" b="0" dirty="0">
              <a:solidFill>
                <a:srgbClr val="C00000"/>
              </a:solidFill>
              <a:latin typeface="맑은 고딕"/>
              <a:ea typeface="맑은 고딕"/>
              <a:cs typeface="맑은 고딕"/>
            </a:endParaRPr>
          </a:p>
        </p:txBody>
      </p:sp>
      <p:sp>
        <p:nvSpPr>
          <p:cNvPr id="17" name="rv_answer"/>
          <p:cNvSpPr/>
          <p:nvPr/>
        </p:nvSpPr>
        <p:spPr>
          <a:xfrm>
            <a:off x="457200" y="472922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⑤ </a:t>
            </a:r>
            <a:r>
              <a:rPr lang="ko-KR" altLang="en-US" sz="1900" b="1" dirty="0">
                <a:solidFill>
                  <a:srgbClr val="5A4200"/>
                </a:solidFill>
                <a:latin typeface="맑은 고딕"/>
                <a:ea typeface="맑은 고딕"/>
                <a:cs typeface="맑은 고딕"/>
              </a:rPr>
              <a:t>선수를 돕는 숨은 사람들도 선수만큼 중요하다</a:t>
            </a:r>
            <a:endParaRPr lang="ko-KR" altLang="en-US" sz="1900" b="1" dirty="0">
              <a:solidFill>
                <a:srgbClr val="5A4200"/>
              </a:solidFill>
              <a:latin typeface="맑은 고딕"/>
              <a:ea typeface="맑은 고딕"/>
              <a:cs typeface="맑은 고딕"/>
            </a:endParaRPr>
          </a:p>
        </p:txBody>
      </p:sp>
      <p:sp>
        <p:nvSpPr>
          <p:cNvPr id="18" name="rv_why"/>
          <p:cNvSpPr/>
          <p:nvPr/>
        </p:nvSpPr>
        <p:spPr>
          <a:xfrm>
            <a:off x="457200" y="5328158"/>
            <a:ext cx="11277295" cy="109092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'as important as the players'라고 했으니 숨은 조력자도 선수만큼 중요하다는 ⑤가 필자의 주장이다.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250"/>
                                        <p:tgtEl>
                                          <p:spTgt spid="1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25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25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7" grpId="0" animBg="1"/>
      <p:bldP spid="9" grpId="0" animBg="1"/>
      <p:bldP spid="10" grpId="0" animBg="1"/>
      <p:bldP spid="18" grpId="0" animBg="1"/>
    </p:bldLst>
  </p:timing>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L5-1</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1 · 4</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4. 다음 글의 요지로 가장 적절한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5</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본문 근거 형광 + 정답 원리</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151257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1512570"/>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1F2328"/>
                </a:solidFill>
                <a:latin typeface="Calibri"/>
                <a:ea typeface="맑은 고딕"/>
                <a:cs typeface="Calibri"/>
              </a:rPr>
              <a:t>In sports, only the players get a trophy or medal, but </a:t>
            </a:r>
            <a:r>
              <a:rPr lang="en-US" altLang="ko-KR" sz="1500" b="0" dirty="0">
                <a:solidFill>
                  <a:srgbClr val="1F2328"/>
                </a:solidFill>
                <a:latin typeface="Calibri"/>
                <a:ea typeface="맑은 고딕"/>
                <a:cs typeface="Calibri"/>
              </a:rPr>
              <a:t>they don’t win on their own</a:t>
            </a:r>
            <a:r>
              <a:rPr lang="en-US" altLang="ko-KR" sz="1500" b="0" dirty="0">
                <a:solidFill>
                  <a:srgbClr val="1F2328"/>
                </a:solidFill>
                <a:latin typeface="Calibri"/>
                <a:ea typeface="맑은 고딕"/>
                <a:cs typeface="Calibri"/>
              </a:rPr>
              <a:t>. </a:t>
            </a:r>
            <a:r>
              <a:rPr lang="en-US" altLang="ko-KR" sz="1500" b="0" dirty="0">
                <a:solidFill>
                  <a:srgbClr val="1F2328"/>
                </a:solidFill>
                <a:latin typeface="Calibri"/>
                <a:ea typeface="맑은 고딕"/>
                <a:cs typeface="Calibri"/>
              </a:rPr>
              <a:t>There are people who help the players.</a:t>
            </a:r>
            <a:r>
              <a:rPr lang="en-US" altLang="ko-KR" sz="1500" b="0" dirty="0">
                <a:solidFill>
                  <a:srgbClr val="1F2328"/>
                </a:solidFill>
                <a:latin typeface="Calibri"/>
                <a:ea typeface="맑은 고딕"/>
                <a:cs typeface="Calibri"/>
              </a:rPr>
              <a:t> These people are often hidden and don’t get attention. However, they are as important as the players. Here are some examples. Pacers run with other runners and lead them in a marathon. Pacers are experienced runners, and their job is to help other runners manage their race better. There can be several pacers in a race.</a:t>
            </a:r>
            <a:endParaRPr lang="en-US" altLang="ko-KR" sz="1500" b="0" dirty="0">
              <a:solidFill>
                <a:srgbClr val="1F2328"/>
              </a:solidFill>
              <a:latin typeface="Calibri"/>
              <a:ea typeface="맑은 고딕"/>
              <a:cs typeface="Calibri"/>
            </a:endParaRPr>
          </a:p>
        </p:txBody>
      </p:sp>
      <p:sp>
        <p:nvSpPr>
          <p:cNvPr id="9" name="rv_evidence_card"/>
          <p:cNvSpPr/>
          <p:nvPr/>
        </p:nvSpPr>
        <p:spPr>
          <a:xfrm>
            <a:off x="457200" y="950976"/>
            <a:ext cx="11277295" cy="151257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rv_evidence"/>
          <p:cNvSpPr txBox="1"/>
          <p:nvPr/>
        </p:nvSpPr>
        <p:spPr>
          <a:xfrm>
            <a:off x="457200" y="950976"/>
            <a:ext cx="11277295" cy="1512570"/>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B3BAC6"/>
                </a:solidFill>
                <a:latin typeface="Calibri"/>
                <a:ea typeface="맑은 고딕"/>
                <a:cs typeface="Calibri"/>
              </a:rPr>
              <a:t>In sports, only the players get a trophy or medal, but </a:t>
            </a:r>
            <a:r>
              <a:rPr lang="en-US" altLang="ko-KR" sz="1500" b="0" dirty="0">
                <a:solidFill>
                  <a:srgbClr val="111111"/>
                </a:solidFill>
                <a:highlight>
                  <a:srgbClr val="FFE45C"/>
                </a:highlight>
                <a:latin typeface="Calibri"/>
                <a:ea typeface="맑은 고딕"/>
                <a:cs typeface="Calibri"/>
              </a:rPr>
              <a:t>they don’t win on their own</a:t>
            </a:r>
            <a:r>
              <a:rPr lang="en-US" altLang="ko-KR" sz="1500" b="0" dirty="0">
                <a:solidFill>
                  <a:srgbClr val="B3BAC6"/>
                </a:solidFill>
                <a:latin typeface="Calibri"/>
                <a:ea typeface="맑은 고딕"/>
                <a:cs typeface="Calibri"/>
              </a:rPr>
              <a:t>. </a:t>
            </a:r>
            <a:r>
              <a:rPr lang="en-US" altLang="ko-KR" sz="1500" b="0" dirty="0">
                <a:solidFill>
                  <a:srgbClr val="111111"/>
                </a:solidFill>
                <a:highlight>
                  <a:srgbClr val="FFE45C"/>
                </a:highlight>
                <a:latin typeface="Calibri"/>
                <a:ea typeface="맑은 고딕"/>
                <a:cs typeface="Calibri"/>
              </a:rPr>
              <a:t>There are people who help the players.</a:t>
            </a:r>
            <a:r>
              <a:rPr lang="en-US" altLang="ko-KR" sz="1500" b="0" dirty="0">
                <a:solidFill>
                  <a:srgbClr val="B3BAC6"/>
                </a:solidFill>
                <a:latin typeface="Calibri"/>
                <a:ea typeface="맑은 고딕"/>
                <a:cs typeface="Calibri"/>
              </a:rPr>
              <a:t> These people are often hidden and don’t get attention. However, they are as important as the players. Here are some examples. Pacers run with other runners and lead them in a marathon. Pacers are experienced runners, and their job is to help other runners manage their race better. There can be several pacers in a race.</a:t>
            </a:r>
            <a:endParaRPr lang="en-US" altLang="ko-KR" sz="1500" b="0" dirty="0">
              <a:solidFill>
                <a:srgbClr val="B3BAC6"/>
              </a:solidFill>
              <a:latin typeface="Calibri"/>
              <a:ea typeface="맑은 고딕"/>
              <a:cs typeface="Calibri"/>
            </a:endParaRPr>
          </a:p>
        </p:txBody>
      </p:sp>
      <p:sp>
        <p:nvSpPr>
          <p:cNvPr id="11" name="choice_1"/>
          <p:cNvSpPr txBox="1"/>
          <p:nvPr/>
        </p:nvSpPr>
        <p:spPr>
          <a:xfrm>
            <a:off x="457200" y="2609850"/>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①</a:t>
            </a:r>
            <a:r>
              <a:rPr lang="ko-KR" altLang="en-US" sz="1800" b="0" dirty="0">
                <a:solidFill>
                  <a:srgbClr val="1F2328"/>
                </a:solidFill>
                <a:latin typeface="맑은 고딕"/>
                <a:ea typeface="맑은 고딕"/>
                <a:cs typeface="맑은 고딕"/>
              </a:rPr>
              <a:t>	보이지 않는 조력자들이 선수의 승리를 돕는다</a:t>
            </a:r>
            <a:endParaRPr lang="ko-KR" altLang="en-US" sz="1800" b="0" dirty="0">
              <a:solidFill>
                <a:srgbClr val="1F2328"/>
              </a:solidFill>
              <a:latin typeface="맑은 고딕"/>
              <a:ea typeface="맑은 고딕"/>
              <a:cs typeface="맑은 고딕"/>
            </a:endParaRPr>
          </a:p>
        </p:txBody>
      </p:sp>
      <p:sp>
        <p:nvSpPr>
          <p:cNvPr id="12" name="rv_pick"/>
          <p:cNvSpPr txBox="1"/>
          <p:nvPr/>
        </p:nvSpPr>
        <p:spPr>
          <a:xfrm>
            <a:off x="457200" y="2609850"/>
            <a:ext cx="11277295" cy="379984"/>
          </a:xfrm>
          <a:prstGeom prst="rect">
            <a:avLst/>
          </a:prstGeom>
          <a:solidFill>
            <a:srgbClr val="FFF3C4"/>
          </a:solid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C00000"/>
                </a:solidFill>
                <a:latin typeface="맑은 고딕"/>
                <a:ea typeface="맑은 고딕"/>
                <a:cs typeface="맑은 고딕"/>
              </a:rPr>
              <a:t>①</a:t>
            </a:r>
            <a:r>
              <a:rPr lang="ko-KR" altLang="en-US" sz="1800" b="0" dirty="0">
                <a:solidFill>
                  <a:srgbClr val="C00000"/>
                </a:solidFill>
                <a:latin typeface="맑은 고딕"/>
                <a:ea typeface="맑은 고딕"/>
                <a:cs typeface="맑은 고딕"/>
              </a:rPr>
              <a:t>	보이지 않는 조력자들이 선수의 승리를 돕는다</a:t>
            </a:r>
            <a:endParaRPr lang="ko-KR" altLang="en-US" sz="1800" b="0" dirty="0">
              <a:solidFill>
                <a:srgbClr val="C00000"/>
              </a:solidFill>
              <a:latin typeface="맑은 고딕"/>
              <a:ea typeface="맑은 고딕"/>
              <a:cs typeface="맑은 고딕"/>
            </a:endParaRPr>
          </a:p>
        </p:txBody>
      </p:sp>
      <p:sp>
        <p:nvSpPr>
          <p:cNvPr id="13" name="choice_2"/>
          <p:cNvSpPr txBox="1"/>
          <p:nvPr/>
        </p:nvSpPr>
        <p:spPr>
          <a:xfrm>
            <a:off x="457200" y="3017266"/>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②</a:t>
            </a:r>
            <a:r>
              <a:rPr lang="ko-KR" altLang="en-US" sz="1800" b="0" dirty="0">
                <a:solidFill>
                  <a:srgbClr val="1F2328"/>
                </a:solidFill>
                <a:latin typeface="맑은 고딕"/>
                <a:ea typeface="맑은 고딕"/>
                <a:cs typeface="맑은 고딕"/>
              </a:rPr>
              <a:t>	선수의 승리는 오직 개인의 노력에서 나온다</a:t>
            </a:r>
            <a:endParaRPr lang="ko-KR" altLang="en-US" sz="1800" b="0" dirty="0">
              <a:solidFill>
                <a:srgbClr val="1F2328"/>
              </a:solidFill>
              <a:latin typeface="맑은 고딕"/>
              <a:ea typeface="맑은 고딕"/>
              <a:cs typeface="맑은 고딕"/>
            </a:endParaRPr>
          </a:p>
        </p:txBody>
      </p:sp>
      <p:sp>
        <p:nvSpPr>
          <p:cNvPr id="14" name="choice_3"/>
          <p:cNvSpPr txBox="1"/>
          <p:nvPr/>
        </p:nvSpPr>
        <p:spPr>
          <a:xfrm>
            <a:off x="457200" y="3424682"/>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③</a:t>
            </a:r>
            <a:r>
              <a:rPr lang="ko-KR" altLang="en-US" sz="1800" b="0" dirty="0">
                <a:solidFill>
                  <a:srgbClr val="1F2328"/>
                </a:solidFill>
                <a:latin typeface="맑은 고딕"/>
                <a:ea typeface="맑은 고딕"/>
                <a:cs typeface="맑은 고딕"/>
              </a:rPr>
              <a:t>	주목받는 선수가 경기에서 가장 중요한 존재다</a:t>
            </a:r>
            <a:endParaRPr lang="ko-KR" altLang="en-US" sz="1800" b="0" dirty="0">
              <a:solidFill>
                <a:srgbClr val="1F2328"/>
              </a:solidFill>
              <a:latin typeface="맑은 고딕"/>
              <a:ea typeface="맑은 고딕"/>
              <a:cs typeface="맑은 고딕"/>
            </a:endParaRPr>
          </a:p>
        </p:txBody>
      </p:sp>
      <p:sp>
        <p:nvSpPr>
          <p:cNvPr id="15" name="choice_4"/>
          <p:cNvSpPr txBox="1"/>
          <p:nvPr/>
        </p:nvSpPr>
        <p:spPr>
          <a:xfrm>
            <a:off x="457200" y="3832098"/>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④</a:t>
            </a:r>
            <a:r>
              <a:rPr lang="ko-KR" altLang="en-US" sz="1800" b="0" dirty="0">
                <a:solidFill>
                  <a:srgbClr val="1F2328"/>
                </a:solidFill>
                <a:latin typeface="맑은 고딕"/>
                <a:ea typeface="맑은 고딕"/>
                <a:cs typeface="맑은 고딕"/>
              </a:rPr>
              <a:t>	마라톤에서 페이서는 우승을 위해 달리는 선수다</a:t>
            </a:r>
            <a:endParaRPr lang="ko-KR" altLang="en-US" sz="1800" b="0" dirty="0">
              <a:solidFill>
                <a:srgbClr val="1F2328"/>
              </a:solidFill>
              <a:latin typeface="맑은 고딕"/>
              <a:ea typeface="맑은 고딕"/>
              <a:cs typeface="맑은 고딕"/>
            </a:endParaRPr>
          </a:p>
        </p:txBody>
      </p:sp>
      <p:sp>
        <p:nvSpPr>
          <p:cNvPr id="16" name="choice_5"/>
          <p:cNvSpPr txBox="1"/>
          <p:nvPr/>
        </p:nvSpPr>
        <p:spPr>
          <a:xfrm>
            <a:off x="457200" y="4239514"/>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⑤</a:t>
            </a:r>
            <a:r>
              <a:rPr lang="ko-KR" altLang="en-US" sz="1800" b="0" dirty="0">
                <a:solidFill>
                  <a:srgbClr val="1F2328"/>
                </a:solidFill>
                <a:latin typeface="맑은 고딕"/>
                <a:ea typeface="맑은 고딕"/>
                <a:cs typeface="맑은 고딕"/>
              </a:rPr>
              <a:t>	트로피와 메달은 팀 전체가 나누어 받아야 한다</a:t>
            </a:r>
            <a:endParaRPr lang="ko-KR" altLang="en-US" sz="1800" b="0" dirty="0">
              <a:solidFill>
                <a:srgbClr val="1F2328"/>
              </a:solidFill>
              <a:latin typeface="맑은 고딕"/>
              <a:ea typeface="맑은 고딕"/>
              <a:cs typeface="맑은 고딕"/>
            </a:endParaRPr>
          </a:p>
        </p:txBody>
      </p:sp>
      <p:sp>
        <p:nvSpPr>
          <p:cNvPr id="17" name="rv_answer"/>
          <p:cNvSpPr/>
          <p:nvPr/>
        </p:nvSpPr>
        <p:spPr>
          <a:xfrm>
            <a:off x="457200" y="472922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① </a:t>
            </a:r>
            <a:r>
              <a:rPr lang="ko-KR" altLang="en-US" sz="1900" b="1" dirty="0">
                <a:solidFill>
                  <a:srgbClr val="5A4200"/>
                </a:solidFill>
                <a:latin typeface="맑은 고딕"/>
                <a:ea typeface="맑은 고딕"/>
                <a:cs typeface="맑은 고딕"/>
              </a:rPr>
              <a:t>보이지 않는 조력자들이 선수의 승리를 돕는다</a:t>
            </a:r>
            <a:endParaRPr lang="ko-KR" altLang="en-US" sz="1900" b="1" dirty="0">
              <a:solidFill>
                <a:srgbClr val="5A4200"/>
              </a:solidFill>
              <a:latin typeface="맑은 고딕"/>
              <a:ea typeface="맑은 고딕"/>
              <a:cs typeface="맑은 고딕"/>
            </a:endParaRPr>
          </a:p>
        </p:txBody>
      </p:sp>
      <p:sp>
        <p:nvSpPr>
          <p:cNvPr id="18" name="rv_why"/>
          <p:cNvSpPr/>
          <p:nvPr/>
        </p:nvSpPr>
        <p:spPr>
          <a:xfrm>
            <a:off x="457200" y="5328158"/>
            <a:ext cx="11277295" cy="109092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선수는 혼자 이기지 않고 돕는 사람들이 있다고 했다. 보이지 않는 조력자가 승리를 돕는다는 ①이 요지다.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25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25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25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7" grpId="0" animBg="1"/>
      <p:bldP spid="9" grpId="0" animBg="1"/>
      <p:bldP spid="10" grpId="0" animBg="1"/>
      <p:bldP spid="18" grpId="0" animBg="1"/>
    </p:bldLst>
  </p:timing>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L5-1</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1 · 5</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5. 다음 글의 내용과 일치하지 않는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5</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본문 근거 형광 + 정답 원리</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151257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1512570"/>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1F2328"/>
                </a:solidFill>
                <a:latin typeface="Calibri"/>
                <a:ea typeface="맑은 고딕"/>
                <a:cs typeface="Calibri"/>
              </a:rPr>
              <a:t>In sports, only the players get a trophy or medal, but they don’t win on their own. There are people who help the players. These people are often hidden and don’t get attention. However, they are as important as the players. Here are some examples. Pacers run with other runners and lead them in a marathon. </a:t>
            </a:r>
            <a:r>
              <a:rPr lang="en-US" altLang="ko-KR" sz="1500" b="0" dirty="0">
                <a:solidFill>
                  <a:srgbClr val="1F2328"/>
                </a:solidFill>
                <a:latin typeface="Calibri"/>
                <a:ea typeface="맑은 고딕"/>
                <a:cs typeface="Calibri"/>
              </a:rPr>
              <a:t>Pacers are experienced runners</a:t>
            </a:r>
            <a:r>
              <a:rPr lang="en-US" altLang="ko-KR" sz="1500" b="0" dirty="0">
                <a:solidFill>
                  <a:srgbClr val="1F2328"/>
                </a:solidFill>
                <a:latin typeface="Calibri"/>
                <a:ea typeface="맑은 고딕"/>
                <a:cs typeface="Calibri"/>
              </a:rPr>
              <a:t>, and their job is to help other runners manage their race better. There can be several pacers in a race.</a:t>
            </a:r>
            <a:endParaRPr lang="en-US" altLang="ko-KR" sz="1500" b="0" dirty="0">
              <a:solidFill>
                <a:srgbClr val="1F2328"/>
              </a:solidFill>
              <a:latin typeface="Calibri"/>
              <a:ea typeface="맑은 고딕"/>
              <a:cs typeface="Calibri"/>
            </a:endParaRPr>
          </a:p>
        </p:txBody>
      </p:sp>
      <p:sp>
        <p:nvSpPr>
          <p:cNvPr id="9" name="rv_evidence_card"/>
          <p:cNvSpPr/>
          <p:nvPr/>
        </p:nvSpPr>
        <p:spPr>
          <a:xfrm>
            <a:off x="457200" y="950976"/>
            <a:ext cx="11277295" cy="151257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rv_evidence"/>
          <p:cNvSpPr txBox="1"/>
          <p:nvPr/>
        </p:nvSpPr>
        <p:spPr>
          <a:xfrm>
            <a:off x="457200" y="950976"/>
            <a:ext cx="11277295" cy="1512570"/>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B3BAC6"/>
                </a:solidFill>
                <a:latin typeface="Calibri"/>
                <a:ea typeface="맑은 고딕"/>
                <a:cs typeface="Calibri"/>
              </a:rPr>
              <a:t>In sports, only the players get a trophy or medal, but they don’t win on their own. There are people who help the players. These people are often hidden and don’t get attention. However, they are as important as the players. Here are some examples. Pacers run with other runners and lead them in a marathon. </a:t>
            </a:r>
            <a:r>
              <a:rPr lang="en-US" altLang="ko-KR" sz="1500" b="0" dirty="0">
                <a:solidFill>
                  <a:srgbClr val="111111"/>
                </a:solidFill>
                <a:highlight>
                  <a:srgbClr val="FFE45C"/>
                </a:highlight>
                <a:latin typeface="Calibri"/>
                <a:ea typeface="맑은 고딕"/>
                <a:cs typeface="Calibri"/>
              </a:rPr>
              <a:t>Pacers are experienced runners</a:t>
            </a:r>
            <a:r>
              <a:rPr lang="en-US" altLang="ko-KR" sz="1500" b="0" dirty="0">
                <a:solidFill>
                  <a:srgbClr val="B3BAC6"/>
                </a:solidFill>
                <a:latin typeface="Calibri"/>
                <a:ea typeface="맑은 고딕"/>
                <a:cs typeface="Calibri"/>
              </a:rPr>
              <a:t>, and their job is to help other runners manage their race better. There can be several pacers in a race.</a:t>
            </a:r>
            <a:endParaRPr lang="en-US" altLang="ko-KR" sz="1500" b="0" dirty="0">
              <a:solidFill>
                <a:srgbClr val="B3BAC6"/>
              </a:solidFill>
              <a:latin typeface="Calibri"/>
              <a:ea typeface="맑은 고딕"/>
              <a:cs typeface="Calibri"/>
            </a:endParaRPr>
          </a:p>
        </p:txBody>
      </p:sp>
      <p:sp>
        <p:nvSpPr>
          <p:cNvPr id="11" name="choice_1"/>
          <p:cNvSpPr txBox="1"/>
          <p:nvPr/>
        </p:nvSpPr>
        <p:spPr>
          <a:xfrm>
            <a:off x="457200" y="2609850"/>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①</a:t>
            </a:r>
            <a:r>
              <a:rPr lang="ko-KR" altLang="en-US" sz="1800" b="0" dirty="0">
                <a:solidFill>
                  <a:srgbClr val="1F2328"/>
                </a:solidFill>
                <a:latin typeface="맑은 고딕"/>
                <a:ea typeface="맑은 고딕"/>
                <a:cs typeface="맑은 고딕"/>
              </a:rPr>
              <a:t>	스포츠에서 트로피나 메달은 선수들만 받는다</a:t>
            </a:r>
            <a:endParaRPr lang="ko-KR" altLang="en-US" sz="1800" b="0" dirty="0">
              <a:solidFill>
                <a:srgbClr val="1F2328"/>
              </a:solidFill>
              <a:latin typeface="맑은 고딕"/>
              <a:ea typeface="맑은 고딕"/>
              <a:cs typeface="맑은 고딕"/>
            </a:endParaRPr>
          </a:p>
        </p:txBody>
      </p:sp>
      <p:sp>
        <p:nvSpPr>
          <p:cNvPr id="12" name="choice_2"/>
          <p:cNvSpPr txBox="1"/>
          <p:nvPr/>
        </p:nvSpPr>
        <p:spPr>
          <a:xfrm>
            <a:off x="457200" y="3017266"/>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②</a:t>
            </a:r>
            <a:r>
              <a:rPr lang="ko-KR" altLang="en-US" sz="1800" b="0" dirty="0">
                <a:solidFill>
                  <a:srgbClr val="1F2328"/>
                </a:solidFill>
                <a:latin typeface="맑은 고딕"/>
                <a:ea typeface="맑은 고딕"/>
                <a:cs typeface="맑은 고딕"/>
              </a:rPr>
              <a:t>	선수들을 돕는 사람들은 종종 주목받지 못한다</a:t>
            </a:r>
            <a:endParaRPr lang="ko-KR" altLang="en-US" sz="1800" b="0" dirty="0">
              <a:solidFill>
                <a:srgbClr val="1F2328"/>
              </a:solidFill>
              <a:latin typeface="맑은 고딕"/>
              <a:ea typeface="맑은 고딕"/>
              <a:cs typeface="맑은 고딕"/>
            </a:endParaRPr>
          </a:p>
        </p:txBody>
      </p:sp>
      <p:sp>
        <p:nvSpPr>
          <p:cNvPr id="13" name="choice_3"/>
          <p:cNvSpPr txBox="1"/>
          <p:nvPr/>
        </p:nvSpPr>
        <p:spPr>
          <a:xfrm>
            <a:off x="457200" y="3424682"/>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③</a:t>
            </a:r>
            <a:r>
              <a:rPr lang="ko-KR" altLang="en-US" sz="1800" b="0" dirty="0">
                <a:solidFill>
                  <a:srgbClr val="1F2328"/>
                </a:solidFill>
                <a:latin typeface="맑은 고딕"/>
                <a:ea typeface="맑은 고딕"/>
                <a:cs typeface="맑은 고딕"/>
              </a:rPr>
              <a:t>	페이서들은 마라톤에서 다른 선수들을 이끈다</a:t>
            </a:r>
            <a:endParaRPr lang="ko-KR" altLang="en-US" sz="1800" b="0" dirty="0">
              <a:solidFill>
                <a:srgbClr val="1F2328"/>
              </a:solidFill>
              <a:latin typeface="맑은 고딕"/>
              <a:ea typeface="맑은 고딕"/>
              <a:cs typeface="맑은 고딕"/>
            </a:endParaRPr>
          </a:p>
        </p:txBody>
      </p:sp>
      <p:sp>
        <p:nvSpPr>
          <p:cNvPr id="14" name="choice_4"/>
          <p:cNvSpPr txBox="1"/>
          <p:nvPr/>
        </p:nvSpPr>
        <p:spPr>
          <a:xfrm>
            <a:off x="457200" y="3832098"/>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④</a:t>
            </a:r>
            <a:r>
              <a:rPr lang="ko-KR" altLang="en-US" sz="1800" b="0" dirty="0">
                <a:solidFill>
                  <a:srgbClr val="1F2328"/>
                </a:solidFill>
                <a:latin typeface="맑은 고딕"/>
                <a:ea typeface="맑은 고딕"/>
                <a:cs typeface="맑은 고딕"/>
              </a:rPr>
              <a:t>	한 경주에는 여러 명의 페이서가 있을 수 있다</a:t>
            </a:r>
            <a:endParaRPr lang="ko-KR" altLang="en-US" sz="1800" b="0" dirty="0">
              <a:solidFill>
                <a:srgbClr val="1F2328"/>
              </a:solidFill>
              <a:latin typeface="맑은 고딕"/>
              <a:ea typeface="맑은 고딕"/>
              <a:cs typeface="맑은 고딕"/>
            </a:endParaRPr>
          </a:p>
        </p:txBody>
      </p:sp>
      <p:sp>
        <p:nvSpPr>
          <p:cNvPr id="15" name="choice_5"/>
          <p:cNvSpPr txBox="1"/>
          <p:nvPr/>
        </p:nvSpPr>
        <p:spPr>
          <a:xfrm>
            <a:off x="457200" y="4239514"/>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⑤</a:t>
            </a:r>
            <a:r>
              <a:rPr lang="ko-KR" altLang="en-US" sz="1800" b="0" dirty="0">
                <a:solidFill>
                  <a:srgbClr val="1F2328"/>
                </a:solidFill>
                <a:latin typeface="맑은 고딕"/>
                <a:ea typeface="맑은 고딕"/>
                <a:cs typeface="맑은 고딕"/>
              </a:rPr>
              <a:t>	페이서들은 대개 경험이 부족한 초보 선수들이다</a:t>
            </a:r>
            <a:endParaRPr lang="ko-KR" altLang="en-US" sz="1800" b="0" dirty="0">
              <a:solidFill>
                <a:srgbClr val="1F2328"/>
              </a:solidFill>
              <a:latin typeface="맑은 고딕"/>
              <a:ea typeface="맑은 고딕"/>
              <a:cs typeface="맑은 고딕"/>
            </a:endParaRPr>
          </a:p>
        </p:txBody>
      </p:sp>
      <p:sp>
        <p:nvSpPr>
          <p:cNvPr id="16" name="rv_pick"/>
          <p:cNvSpPr txBox="1"/>
          <p:nvPr/>
        </p:nvSpPr>
        <p:spPr>
          <a:xfrm>
            <a:off x="457200" y="4239514"/>
            <a:ext cx="11277295" cy="379984"/>
          </a:xfrm>
          <a:prstGeom prst="rect">
            <a:avLst/>
          </a:prstGeom>
          <a:solidFill>
            <a:srgbClr val="FFF3C4"/>
          </a:solid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C00000"/>
                </a:solidFill>
                <a:latin typeface="맑은 고딕"/>
                <a:ea typeface="맑은 고딕"/>
                <a:cs typeface="맑은 고딕"/>
              </a:rPr>
              <a:t>⑤</a:t>
            </a:r>
            <a:r>
              <a:rPr lang="ko-KR" altLang="en-US" sz="1800" b="0" dirty="0">
                <a:solidFill>
                  <a:srgbClr val="C00000"/>
                </a:solidFill>
                <a:latin typeface="맑은 고딕"/>
                <a:ea typeface="맑은 고딕"/>
                <a:cs typeface="맑은 고딕"/>
              </a:rPr>
              <a:t>	페이서들은 대개 경험이 부족한 초보 선수들이다</a:t>
            </a:r>
            <a:endParaRPr lang="ko-KR" altLang="en-US" sz="1800" b="0" dirty="0">
              <a:solidFill>
                <a:srgbClr val="C00000"/>
              </a:solidFill>
              <a:latin typeface="맑은 고딕"/>
              <a:ea typeface="맑은 고딕"/>
              <a:cs typeface="맑은 고딕"/>
            </a:endParaRPr>
          </a:p>
        </p:txBody>
      </p:sp>
      <p:sp>
        <p:nvSpPr>
          <p:cNvPr id="17" name="rv_answer"/>
          <p:cNvSpPr/>
          <p:nvPr/>
        </p:nvSpPr>
        <p:spPr>
          <a:xfrm>
            <a:off x="457200" y="472922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⑤ </a:t>
            </a:r>
            <a:r>
              <a:rPr lang="ko-KR" altLang="en-US" sz="1900" b="1" dirty="0">
                <a:solidFill>
                  <a:srgbClr val="5A4200"/>
                </a:solidFill>
                <a:latin typeface="맑은 고딕"/>
                <a:ea typeface="맑은 고딕"/>
                <a:cs typeface="맑은 고딕"/>
              </a:rPr>
              <a:t>페이서들은 대개 경험이 부족한 초보 선수들이다</a:t>
            </a:r>
            <a:endParaRPr lang="ko-KR" altLang="en-US" sz="1900" b="1" dirty="0">
              <a:solidFill>
                <a:srgbClr val="5A4200"/>
              </a:solidFill>
              <a:latin typeface="맑은 고딕"/>
              <a:ea typeface="맑은 고딕"/>
              <a:cs typeface="맑은 고딕"/>
            </a:endParaRPr>
          </a:p>
        </p:txBody>
      </p:sp>
      <p:sp>
        <p:nvSpPr>
          <p:cNvPr id="18" name="rv_why"/>
          <p:cNvSpPr/>
          <p:nvPr/>
        </p:nvSpPr>
        <p:spPr>
          <a:xfrm>
            <a:off x="457200" y="5328158"/>
            <a:ext cx="11277295" cy="109092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페이서는 'experienced runners', 곧 경험 많은 선수라고 했다. 경험이 부족한 초보라는 ⑤는 틀리다.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250"/>
                                        <p:tgtEl>
                                          <p:spTgt spid="1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25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25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7" grpId="0" animBg="1"/>
      <p:bldP spid="9" grpId="0" animBg="1"/>
      <p:bldP spid="10" grpId="0" animBg="1"/>
      <p:bldP spid="18" grpId="0" animBg="1"/>
    </p:bldLst>
  </p:timing>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L5-1</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1 · 6</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6. 다음 글의 내용과 일치하는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5</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본문 근거 형광 + 정답 원리</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151257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1512570"/>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1F2328"/>
                </a:solidFill>
                <a:latin typeface="Calibri"/>
                <a:ea typeface="맑은 고딕"/>
                <a:cs typeface="Calibri"/>
              </a:rPr>
              <a:t>In sports, only the players get a trophy or medal, but they don’t win on their own. There are people who help the players. These people are often hidden and don’t get attention. However, they are as important as the players. Here are some examples. Pacers run with other runners and lead them in a marathon. Pacers are experienced runners, and their job is to </a:t>
            </a:r>
            <a:r>
              <a:rPr lang="en-US" altLang="ko-KR" sz="1500" b="0" dirty="0">
                <a:solidFill>
                  <a:srgbClr val="1F2328"/>
                </a:solidFill>
                <a:latin typeface="Calibri"/>
                <a:ea typeface="맑은 고딕"/>
                <a:cs typeface="Calibri"/>
              </a:rPr>
              <a:t>help other runners manage their race better</a:t>
            </a:r>
            <a:r>
              <a:rPr lang="en-US" altLang="ko-KR" sz="1500" b="0" dirty="0">
                <a:solidFill>
                  <a:srgbClr val="1F2328"/>
                </a:solidFill>
                <a:latin typeface="Calibri"/>
                <a:ea typeface="맑은 고딕"/>
                <a:cs typeface="Calibri"/>
              </a:rPr>
              <a:t>. There can be several pacers in a race.</a:t>
            </a:r>
            <a:endParaRPr lang="en-US" altLang="ko-KR" sz="1500" b="0" dirty="0">
              <a:solidFill>
                <a:srgbClr val="1F2328"/>
              </a:solidFill>
              <a:latin typeface="Calibri"/>
              <a:ea typeface="맑은 고딕"/>
              <a:cs typeface="Calibri"/>
            </a:endParaRPr>
          </a:p>
        </p:txBody>
      </p:sp>
      <p:sp>
        <p:nvSpPr>
          <p:cNvPr id="9" name="rv_evidence_card"/>
          <p:cNvSpPr/>
          <p:nvPr/>
        </p:nvSpPr>
        <p:spPr>
          <a:xfrm>
            <a:off x="457200" y="950976"/>
            <a:ext cx="11277295" cy="151257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rv_evidence"/>
          <p:cNvSpPr txBox="1"/>
          <p:nvPr/>
        </p:nvSpPr>
        <p:spPr>
          <a:xfrm>
            <a:off x="457200" y="950976"/>
            <a:ext cx="11277295" cy="1512570"/>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B3BAC6"/>
                </a:solidFill>
                <a:latin typeface="Calibri"/>
                <a:ea typeface="맑은 고딕"/>
                <a:cs typeface="Calibri"/>
              </a:rPr>
              <a:t>In sports, only the players get a trophy or medal, but they don’t win on their own. There are people who help the players. These people are often hidden and don’t get attention. However, they are as important as the players. Here are some examples. Pacers run with other runners and lead them in a marathon. Pacers are experienced runners, and their job is to </a:t>
            </a:r>
            <a:r>
              <a:rPr lang="en-US" altLang="ko-KR" sz="1500" b="0" dirty="0">
                <a:solidFill>
                  <a:srgbClr val="111111"/>
                </a:solidFill>
                <a:highlight>
                  <a:srgbClr val="FFE45C"/>
                </a:highlight>
                <a:latin typeface="Calibri"/>
                <a:ea typeface="맑은 고딕"/>
                <a:cs typeface="Calibri"/>
              </a:rPr>
              <a:t>help other runners manage their race better</a:t>
            </a:r>
            <a:r>
              <a:rPr lang="en-US" altLang="ko-KR" sz="1500" b="0" dirty="0">
                <a:solidFill>
                  <a:srgbClr val="B3BAC6"/>
                </a:solidFill>
                <a:latin typeface="Calibri"/>
                <a:ea typeface="맑은 고딕"/>
                <a:cs typeface="Calibri"/>
              </a:rPr>
              <a:t>. There can be several pacers in a race.</a:t>
            </a:r>
            <a:endParaRPr lang="en-US" altLang="ko-KR" sz="1500" b="0" dirty="0">
              <a:solidFill>
                <a:srgbClr val="B3BAC6"/>
              </a:solidFill>
              <a:latin typeface="Calibri"/>
              <a:ea typeface="맑은 고딕"/>
              <a:cs typeface="Calibri"/>
            </a:endParaRPr>
          </a:p>
        </p:txBody>
      </p:sp>
      <p:sp>
        <p:nvSpPr>
          <p:cNvPr id="11" name="choice_1"/>
          <p:cNvSpPr txBox="1"/>
          <p:nvPr/>
        </p:nvSpPr>
        <p:spPr>
          <a:xfrm>
            <a:off x="457200" y="2609850"/>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①</a:t>
            </a:r>
            <a:r>
              <a:rPr lang="ko-KR" altLang="en-US" sz="1800" b="0" dirty="0">
                <a:solidFill>
                  <a:srgbClr val="1F2328"/>
                </a:solidFill>
                <a:latin typeface="맑은 고딕"/>
                <a:ea typeface="맑은 고딕"/>
                <a:cs typeface="맑은 고딕"/>
              </a:rPr>
              <a:t>	선수들은 혼자 힘만으로 경기에서 우승한다</a:t>
            </a:r>
            <a:endParaRPr lang="ko-KR" altLang="en-US" sz="1800" b="0" dirty="0">
              <a:solidFill>
                <a:srgbClr val="1F2328"/>
              </a:solidFill>
              <a:latin typeface="맑은 고딕"/>
              <a:ea typeface="맑은 고딕"/>
              <a:cs typeface="맑은 고딕"/>
            </a:endParaRPr>
          </a:p>
        </p:txBody>
      </p:sp>
      <p:sp>
        <p:nvSpPr>
          <p:cNvPr id="12" name="choice_2"/>
          <p:cNvSpPr txBox="1"/>
          <p:nvPr/>
        </p:nvSpPr>
        <p:spPr>
          <a:xfrm>
            <a:off x="457200" y="3017266"/>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②</a:t>
            </a:r>
            <a:r>
              <a:rPr lang="ko-KR" altLang="en-US" sz="1800" b="0" dirty="0">
                <a:solidFill>
                  <a:srgbClr val="1F2328"/>
                </a:solidFill>
                <a:latin typeface="맑은 고딕"/>
                <a:ea typeface="맑은 고딕"/>
                <a:cs typeface="맑은 고딕"/>
              </a:rPr>
              <a:t>	페이서는 다른 선수들이 경주를 잘 운영하게 돕는다</a:t>
            </a:r>
            <a:endParaRPr lang="ko-KR" altLang="en-US" sz="1800" b="0" dirty="0">
              <a:solidFill>
                <a:srgbClr val="1F2328"/>
              </a:solidFill>
              <a:latin typeface="맑은 고딕"/>
              <a:ea typeface="맑은 고딕"/>
              <a:cs typeface="맑은 고딕"/>
            </a:endParaRPr>
          </a:p>
        </p:txBody>
      </p:sp>
      <p:sp>
        <p:nvSpPr>
          <p:cNvPr id="13" name="rv_pick"/>
          <p:cNvSpPr txBox="1"/>
          <p:nvPr/>
        </p:nvSpPr>
        <p:spPr>
          <a:xfrm>
            <a:off x="457200" y="3017266"/>
            <a:ext cx="11277295" cy="379984"/>
          </a:xfrm>
          <a:prstGeom prst="rect">
            <a:avLst/>
          </a:prstGeom>
          <a:solidFill>
            <a:srgbClr val="FFF3C4"/>
          </a:solid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C00000"/>
                </a:solidFill>
                <a:latin typeface="맑은 고딕"/>
                <a:ea typeface="맑은 고딕"/>
                <a:cs typeface="맑은 고딕"/>
              </a:rPr>
              <a:t>②</a:t>
            </a:r>
            <a:r>
              <a:rPr lang="ko-KR" altLang="en-US" sz="1800" b="0" dirty="0">
                <a:solidFill>
                  <a:srgbClr val="C00000"/>
                </a:solidFill>
                <a:latin typeface="맑은 고딕"/>
                <a:ea typeface="맑은 고딕"/>
                <a:cs typeface="맑은 고딕"/>
              </a:rPr>
              <a:t>	페이서는 다른 선수들이 경주를 잘 운영하게 돕는다</a:t>
            </a:r>
            <a:endParaRPr lang="ko-KR" altLang="en-US" sz="1800" b="0" dirty="0">
              <a:solidFill>
                <a:srgbClr val="C00000"/>
              </a:solidFill>
              <a:latin typeface="맑은 고딕"/>
              <a:ea typeface="맑은 고딕"/>
              <a:cs typeface="맑은 고딕"/>
            </a:endParaRPr>
          </a:p>
        </p:txBody>
      </p:sp>
      <p:sp>
        <p:nvSpPr>
          <p:cNvPr id="14" name="choice_3"/>
          <p:cNvSpPr txBox="1"/>
          <p:nvPr/>
        </p:nvSpPr>
        <p:spPr>
          <a:xfrm>
            <a:off x="457200" y="3424682"/>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③</a:t>
            </a:r>
            <a:r>
              <a:rPr lang="ko-KR" altLang="en-US" sz="1800" b="0" dirty="0">
                <a:solidFill>
                  <a:srgbClr val="1F2328"/>
                </a:solidFill>
                <a:latin typeface="맑은 고딕"/>
                <a:ea typeface="맑은 고딕"/>
                <a:cs typeface="맑은 고딕"/>
              </a:rPr>
              <a:t>	선수를 돕는 사람들은 늘 큰 주목을 받는다</a:t>
            </a:r>
            <a:endParaRPr lang="ko-KR" altLang="en-US" sz="1800" b="0" dirty="0">
              <a:solidFill>
                <a:srgbClr val="1F2328"/>
              </a:solidFill>
              <a:latin typeface="맑은 고딕"/>
              <a:ea typeface="맑은 고딕"/>
              <a:cs typeface="맑은 고딕"/>
            </a:endParaRPr>
          </a:p>
        </p:txBody>
      </p:sp>
      <p:sp>
        <p:nvSpPr>
          <p:cNvPr id="15" name="choice_4"/>
          <p:cNvSpPr txBox="1"/>
          <p:nvPr/>
        </p:nvSpPr>
        <p:spPr>
          <a:xfrm>
            <a:off x="457200" y="3832098"/>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④</a:t>
            </a:r>
            <a:r>
              <a:rPr lang="ko-KR" altLang="en-US" sz="1800" b="0" dirty="0">
                <a:solidFill>
                  <a:srgbClr val="1F2328"/>
                </a:solidFill>
                <a:latin typeface="맑은 고딕"/>
                <a:ea typeface="맑은 고딕"/>
                <a:cs typeface="맑은 고딕"/>
              </a:rPr>
              <a:t>	한 마라톤 경주에는 페이서가 한 명만 있다</a:t>
            </a:r>
            <a:endParaRPr lang="ko-KR" altLang="en-US" sz="1800" b="0" dirty="0">
              <a:solidFill>
                <a:srgbClr val="1F2328"/>
              </a:solidFill>
              <a:latin typeface="맑은 고딕"/>
              <a:ea typeface="맑은 고딕"/>
              <a:cs typeface="맑은 고딕"/>
            </a:endParaRPr>
          </a:p>
        </p:txBody>
      </p:sp>
      <p:sp>
        <p:nvSpPr>
          <p:cNvPr id="16" name="choice_5"/>
          <p:cNvSpPr txBox="1"/>
          <p:nvPr/>
        </p:nvSpPr>
        <p:spPr>
          <a:xfrm>
            <a:off x="457200" y="4239514"/>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⑤</a:t>
            </a:r>
            <a:r>
              <a:rPr lang="ko-KR" altLang="en-US" sz="1800" b="0" dirty="0">
                <a:solidFill>
                  <a:srgbClr val="1F2328"/>
                </a:solidFill>
                <a:latin typeface="맑은 고딕"/>
                <a:ea typeface="맑은 고딕"/>
                <a:cs typeface="맑은 고딕"/>
              </a:rPr>
              <a:t>	페이서는 경주에서 혼자 앞서 달려 우승한다</a:t>
            </a:r>
            <a:endParaRPr lang="ko-KR" altLang="en-US" sz="1800" b="0" dirty="0">
              <a:solidFill>
                <a:srgbClr val="1F2328"/>
              </a:solidFill>
              <a:latin typeface="맑은 고딕"/>
              <a:ea typeface="맑은 고딕"/>
              <a:cs typeface="맑은 고딕"/>
            </a:endParaRPr>
          </a:p>
        </p:txBody>
      </p:sp>
      <p:sp>
        <p:nvSpPr>
          <p:cNvPr id="17" name="rv_answer"/>
          <p:cNvSpPr/>
          <p:nvPr/>
        </p:nvSpPr>
        <p:spPr>
          <a:xfrm>
            <a:off x="457200" y="472922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② </a:t>
            </a:r>
            <a:r>
              <a:rPr lang="ko-KR" altLang="en-US" sz="1900" b="1" dirty="0">
                <a:solidFill>
                  <a:srgbClr val="5A4200"/>
                </a:solidFill>
                <a:latin typeface="맑은 고딕"/>
                <a:ea typeface="맑은 고딕"/>
                <a:cs typeface="맑은 고딕"/>
              </a:rPr>
              <a:t>페이서는 다른 선수들이 경주를 잘 운영하게 돕는다</a:t>
            </a:r>
            <a:endParaRPr lang="ko-KR" altLang="en-US" sz="1900" b="1" dirty="0">
              <a:solidFill>
                <a:srgbClr val="5A4200"/>
              </a:solidFill>
              <a:latin typeface="맑은 고딕"/>
              <a:ea typeface="맑은 고딕"/>
              <a:cs typeface="맑은 고딕"/>
            </a:endParaRPr>
          </a:p>
        </p:txBody>
      </p:sp>
      <p:sp>
        <p:nvSpPr>
          <p:cNvPr id="18" name="rv_why"/>
          <p:cNvSpPr/>
          <p:nvPr/>
        </p:nvSpPr>
        <p:spPr>
          <a:xfrm>
            <a:off x="457200" y="5328158"/>
            <a:ext cx="11277295" cy="109092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페이서의 일은 다른 선수들이 경주를 더 잘 운영하도록 돕는 것이라고 했다. 이와 같은 ②가 맞다.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250"/>
                                        <p:tgtEl>
                                          <p:spTgt spid="1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25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25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7" grpId="0" animBg="1"/>
      <p:bldP spid="9" grpId="0" animBg="1"/>
      <p:bldP spid="10" grpId="0" animBg="1"/>
      <p:bldP spid="18" grpId="0" animBg="1"/>
    </p:bldLst>
  </p:timing>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L5-1</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2 · 1</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1. 주어진 글 다음에 이어질 글의 순서로 가장 적절한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5</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정답 원리</a:t>
            </a:r>
            <a:endParaRPr lang="ko-KR" altLang="en-US" sz="1000" b="0" dirty="0">
              <a:solidFill>
                <a:srgbClr val="7A808C"/>
              </a:solidFill>
              <a:latin typeface="맑은 고딕"/>
              <a:ea typeface="맑은 고딕"/>
              <a:cs typeface="맑은 고딕"/>
            </a:endParaRPr>
          </a:p>
        </p:txBody>
      </p:sp>
      <p:sp>
        <p:nvSpPr>
          <p:cNvPr id="7" name="given_card"/>
          <p:cNvSpPr/>
          <p:nvPr/>
        </p:nvSpPr>
        <p:spPr>
          <a:xfrm>
            <a:off x="457200" y="950976"/>
            <a:ext cx="11277295" cy="481838"/>
          </a:xfrm>
          <a:prstGeom prst="roundRect">
            <a:avLst>
              <a:gd name="adj" fmla="val 6000"/>
            </a:avLst>
          </a:prstGeom>
          <a:solidFill>
            <a:srgbClr val="FFFFFF"/>
          </a:solidFill>
          <a:ln w="15875">
            <a:solidFill>
              <a:srgbClr val="1E2A5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given"/>
          <p:cNvSpPr txBox="1"/>
          <p:nvPr/>
        </p:nvSpPr>
        <p:spPr>
          <a:xfrm>
            <a:off x="457200" y="950976"/>
            <a:ext cx="11277295" cy="481838"/>
          </a:xfrm>
          <a:prstGeom prst="rect">
            <a:avLst/>
          </a:prstGeom>
          <a:noFill/>
        </p:spPr>
        <p:txBody>
          <a:bodyPr wrap="square" lIns="201168" tIns="100584" rIns="201168" bIns="100584" anchor="t" rtlCol="0">
            <a:noAutofit/>
          </a:bodyPr>
          <a:lstStyle/>
          <a:p>
            <a:pPr algn="l">
              <a:lnSpc>
                <a:spcPts val="2210"/>
              </a:lnSpc>
              <a:spcBef>
                <a:spcPts val="0"/>
              </a:spcBef>
              <a:spcAft>
                <a:spcPts val="0"/>
              </a:spcAft>
              <a:buNone/>
            </a:pPr>
            <a:r>
              <a:rPr lang="en-US" altLang="ko-KR" sz="1700" b="0" dirty="0">
                <a:solidFill>
                  <a:srgbClr val="1F2328"/>
                </a:solidFill>
                <a:latin typeface="Calibri"/>
                <a:ea typeface="맑은 고딕"/>
                <a:cs typeface="Calibri"/>
              </a:rPr>
              <a:t>In sports, only the players get a trophy or medal, but they don’t win on their own.</a:t>
            </a:r>
            <a:endParaRPr lang="en-US" altLang="ko-KR" sz="1700" b="0" dirty="0">
              <a:solidFill>
                <a:srgbClr val="1F2328"/>
              </a:solidFill>
              <a:latin typeface="Calibri"/>
              <a:ea typeface="맑은 고딕"/>
              <a:cs typeface="Calibri"/>
            </a:endParaRPr>
          </a:p>
        </p:txBody>
      </p:sp>
      <p:sp>
        <p:nvSpPr>
          <p:cNvPr id="9" name="parts_card"/>
          <p:cNvSpPr/>
          <p:nvPr/>
        </p:nvSpPr>
        <p:spPr>
          <a:xfrm>
            <a:off x="457200" y="1560830"/>
            <a:ext cx="11277295" cy="1952752"/>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parts"/>
          <p:cNvSpPr txBox="1"/>
          <p:nvPr/>
        </p:nvSpPr>
        <p:spPr>
          <a:xfrm>
            <a:off x="457200" y="1560830"/>
            <a:ext cx="11277295" cy="1952752"/>
          </a:xfrm>
          <a:prstGeom prst="rect">
            <a:avLst/>
          </a:prstGeom>
          <a:noFill/>
        </p:spPr>
        <p:txBody>
          <a:bodyPr wrap="square" lIns="201168" tIns="118872" rIns="201168" bIns="118872" anchor="t" rtlCol="0">
            <a:noAutofit/>
          </a:bodyPr>
          <a:lstStyle/>
          <a:p>
            <a:pPr algn="just" marL="453390" indent="-453390">
              <a:lnSpc>
                <a:spcPts val="2210"/>
              </a:lnSpc>
              <a:spcBef>
                <a:spcPts val="0"/>
              </a:spcBef>
              <a:spcAft>
                <a:spcPts val="770"/>
              </a:spcAft>
              <a:buNone/>
              <a:tabLst>
                <a:tab pos="453390" algn="l"/>
              </a:tabLst>
            </a:pPr>
            <a:r>
              <a:rPr lang="en-US" altLang="ko-KR" sz="1700" b="1" dirty="0">
                <a:solidFill>
                  <a:srgbClr val="1E2A5A"/>
                </a:solidFill>
                <a:latin typeface="Calibri"/>
                <a:ea typeface="맑은 고딕"/>
                <a:cs typeface="Calibri"/>
              </a:rPr>
              <a:t>(A)</a:t>
            </a:r>
            <a:r>
              <a:rPr lang="en-US" altLang="ko-KR" sz="1700" b="0" dirty="0">
                <a:solidFill>
                  <a:srgbClr val="1F2328"/>
                </a:solidFill>
                <a:latin typeface="Calibri"/>
                <a:ea typeface="맑은 고딕"/>
                <a:cs typeface="Calibri"/>
              </a:rPr>
              <a:t>	There are people who help the players. These people are often hidden and don’t get attention. However, they are as important as the players.</a:t>
            </a:r>
            <a:endParaRPr lang="en-US" altLang="ko-KR" sz="1700" b="0" dirty="0">
              <a:solidFill>
                <a:srgbClr val="1F2328"/>
              </a:solidFill>
              <a:latin typeface="Calibri"/>
              <a:ea typeface="맑은 고딕"/>
              <a:cs typeface="Calibri"/>
            </a:endParaRPr>
          </a:p>
          <a:p>
            <a:pPr algn="just" marL="453390" indent="-453390">
              <a:lnSpc>
                <a:spcPts val="2210"/>
              </a:lnSpc>
              <a:spcBef>
                <a:spcPts val="0"/>
              </a:spcBef>
              <a:spcAft>
                <a:spcPts val="770"/>
              </a:spcAft>
              <a:buNone/>
              <a:tabLst>
                <a:tab pos="453390" algn="l"/>
              </a:tabLst>
            </a:pPr>
            <a:r>
              <a:rPr lang="en-US" altLang="ko-KR" sz="1700" b="1" dirty="0">
                <a:solidFill>
                  <a:srgbClr val="1E2A5A"/>
                </a:solidFill>
                <a:latin typeface="Calibri"/>
                <a:ea typeface="맑은 고딕"/>
                <a:cs typeface="Calibri"/>
              </a:rPr>
              <a:t>(B)</a:t>
            </a:r>
            <a:r>
              <a:rPr lang="en-US" altLang="ko-KR" sz="1700" b="0" dirty="0">
                <a:solidFill>
                  <a:srgbClr val="1F2328"/>
                </a:solidFill>
                <a:latin typeface="Calibri"/>
                <a:ea typeface="맑은 고딕"/>
                <a:cs typeface="Calibri"/>
              </a:rPr>
              <a:t>	Pacers are experienced runners, and their job is to help other runners manage their race better. There can be several pacers in a race.</a:t>
            </a:r>
            <a:endParaRPr lang="en-US" altLang="ko-KR" sz="1700" b="0" dirty="0">
              <a:solidFill>
                <a:srgbClr val="1F2328"/>
              </a:solidFill>
              <a:latin typeface="Calibri"/>
              <a:ea typeface="맑은 고딕"/>
              <a:cs typeface="Calibri"/>
            </a:endParaRPr>
          </a:p>
          <a:p>
            <a:pPr algn="just" marL="453390" indent="-453390">
              <a:lnSpc>
                <a:spcPts val="2210"/>
              </a:lnSpc>
              <a:spcBef>
                <a:spcPts val="0"/>
              </a:spcBef>
              <a:spcAft>
                <a:spcPts val="770"/>
              </a:spcAft>
              <a:buNone/>
              <a:tabLst>
                <a:tab pos="453390" algn="l"/>
              </a:tabLst>
            </a:pPr>
            <a:r>
              <a:rPr lang="en-US" altLang="ko-KR" sz="1700" b="1" dirty="0">
                <a:solidFill>
                  <a:srgbClr val="1E2A5A"/>
                </a:solidFill>
                <a:latin typeface="Calibri"/>
                <a:ea typeface="맑은 고딕"/>
                <a:cs typeface="Calibri"/>
              </a:rPr>
              <a:t>(C)</a:t>
            </a:r>
            <a:r>
              <a:rPr lang="en-US" altLang="ko-KR" sz="1700" b="0" dirty="0">
                <a:solidFill>
                  <a:srgbClr val="1F2328"/>
                </a:solidFill>
                <a:latin typeface="Calibri"/>
                <a:ea typeface="맑은 고딕"/>
                <a:cs typeface="Calibri"/>
              </a:rPr>
              <a:t>	Here are some examples. Pacers run with other runners and lead them in a marathon.</a:t>
            </a:r>
            <a:endParaRPr lang="en-US" altLang="ko-KR" sz="1700" b="0" dirty="0">
              <a:solidFill>
                <a:srgbClr val="1F2328"/>
              </a:solidFill>
              <a:latin typeface="Calibri"/>
              <a:ea typeface="맑은 고딕"/>
              <a:cs typeface="Calibri"/>
            </a:endParaRPr>
          </a:p>
        </p:txBody>
      </p:sp>
      <p:sp>
        <p:nvSpPr>
          <p:cNvPr id="11" name="options"/>
          <p:cNvSpPr txBox="1"/>
          <p:nvPr/>
        </p:nvSpPr>
        <p:spPr>
          <a:xfrm>
            <a:off x="457200" y="3623310"/>
            <a:ext cx="11277295" cy="420624"/>
          </a:xfrm>
          <a:prstGeom prst="rect">
            <a:avLst/>
          </a:prstGeom>
          <a:noFill/>
        </p:spPr>
        <p:txBody>
          <a:bodyPr wrap="square" lIns="91440" tIns="18288" rIns="91440" bIns="18288" anchor="ctr" rtlCol="0">
            <a:noAutofit/>
          </a:bodyPr>
          <a:lstStyle/>
          <a:p>
            <a:pPr algn="ctr">
              <a:lnSpc>
                <a:spcPts val="2560"/>
              </a:lnSpc>
              <a:spcBef>
                <a:spcPts val="0"/>
              </a:spcBef>
              <a:spcAft>
                <a:spcPts val="0"/>
              </a:spcAft>
              <a:buNone/>
            </a:pPr>
            <a:r>
              <a:rPr lang="ko-KR" altLang="en-US" sz="1800" b="1" dirty="0">
                <a:solidFill>
                  <a:srgbClr val="1E2A5A"/>
                </a:solidFill>
                <a:latin typeface="맑은 고딕"/>
                <a:ea typeface="맑은 고딕"/>
                <a:cs typeface="맑은 고딕"/>
              </a:rPr>
              <a:t>① </a:t>
            </a:r>
            <a:r>
              <a:rPr lang="en-US" altLang="ko-KR" sz="1800" b="0" dirty="0">
                <a:solidFill>
                  <a:srgbClr val="1F2328"/>
                </a:solidFill>
                <a:latin typeface="Calibri"/>
                <a:ea typeface="맑은 고딕"/>
                <a:cs typeface="Calibri"/>
              </a:rPr>
              <a:t>(A) - (C) - (B)</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② </a:t>
            </a:r>
            <a:r>
              <a:rPr lang="en-US" altLang="ko-KR" sz="1800" b="0" dirty="0">
                <a:solidFill>
                  <a:srgbClr val="1F2328"/>
                </a:solidFill>
                <a:latin typeface="Calibri"/>
                <a:ea typeface="맑은 고딕"/>
                <a:cs typeface="Calibri"/>
              </a:rPr>
              <a:t>(B) - (A) - (C)</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③ </a:t>
            </a:r>
            <a:r>
              <a:rPr lang="en-US" altLang="ko-KR" sz="1800" b="0" dirty="0">
                <a:solidFill>
                  <a:srgbClr val="1F2328"/>
                </a:solidFill>
                <a:latin typeface="Calibri"/>
                <a:ea typeface="맑은 고딕"/>
                <a:cs typeface="Calibri"/>
              </a:rPr>
              <a:t>(B) - (C) - (A)</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④ </a:t>
            </a:r>
            <a:r>
              <a:rPr lang="en-US" altLang="ko-KR" sz="1800" b="0" dirty="0">
                <a:solidFill>
                  <a:srgbClr val="1F2328"/>
                </a:solidFill>
                <a:latin typeface="Calibri"/>
                <a:ea typeface="맑은 고딕"/>
                <a:cs typeface="Calibri"/>
              </a:rPr>
              <a:t>(C) - (A) - (B)</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⑤ </a:t>
            </a:r>
            <a:r>
              <a:rPr lang="en-US" altLang="ko-KR" sz="1800" b="0" dirty="0">
                <a:solidFill>
                  <a:srgbClr val="1F2328"/>
                </a:solidFill>
                <a:latin typeface="Calibri"/>
                <a:ea typeface="맑은 고딕"/>
                <a:cs typeface="Calibri"/>
              </a:rPr>
              <a:t>(C) - (B) - (A)</a:t>
            </a:r>
            <a:endParaRPr lang="en-US" altLang="ko-KR" sz="1800" b="0" dirty="0">
              <a:solidFill>
                <a:srgbClr val="1F2328"/>
              </a:solidFill>
              <a:latin typeface="Calibri"/>
              <a:ea typeface="맑은 고딕"/>
              <a:cs typeface="Calibri"/>
            </a:endParaRPr>
          </a:p>
        </p:txBody>
      </p:sp>
      <p:sp>
        <p:nvSpPr>
          <p:cNvPr id="12" name="rv_pick"/>
          <p:cNvSpPr txBox="1"/>
          <p:nvPr/>
        </p:nvSpPr>
        <p:spPr>
          <a:xfrm>
            <a:off x="457200" y="3623310"/>
            <a:ext cx="11277295" cy="420624"/>
          </a:xfrm>
          <a:prstGeom prst="rect">
            <a:avLst/>
          </a:prstGeom>
          <a:noFill/>
        </p:spPr>
        <p:txBody>
          <a:bodyPr wrap="square" lIns="91440" tIns="18288" rIns="91440" bIns="18288" anchor="ctr" rtlCol="0">
            <a:noAutofit/>
          </a:bodyPr>
          <a:lstStyle/>
          <a:p>
            <a:pPr algn="ctr">
              <a:lnSpc>
                <a:spcPts val="2560"/>
              </a:lnSpc>
              <a:spcBef>
                <a:spcPts val="0"/>
              </a:spcBef>
              <a:spcAft>
                <a:spcPts val="0"/>
              </a:spcAft>
              <a:buNone/>
            </a:pPr>
            <a:r>
              <a:rPr lang="ko-KR" altLang="en-US" sz="1800" b="1" dirty="0">
                <a:solidFill>
                  <a:srgbClr val="C00000"/>
                </a:solidFill>
                <a:highlight>
                  <a:srgbClr val="FFFFFF"/>
                </a:highlight>
                <a:latin typeface="맑은 고딕"/>
                <a:ea typeface="맑은 고딕"/>
                <a:cs typeface="맑은 고딕"/>
              </a:rPr>
              <a:t>① </a:t>
            </a:r>
            <a:r>
              <a:rPr lang="en-US" altLang="ko-KR" sz="1800" b="0" dirty="0">
                <a:solidFill>
                  <a:srgbClr val="C00000"/>
                </a:solidFill>
                <a:highlight>
                  <a:srgbClr val="FFFFFF"/>
                </a:highlight>
                <a:latin typeface="Calibri"/>
                <a:ea typeface="맑은 고딕"/>
                <a:cs typeface="Calibri"/>
              </a:rPr>
              <a:t>(A) - (C) - (B)</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② </a:t>
            </a:r>
            <a:r>
              <a:rPr lang="en-US" altLang="ko-KR" sz="1800" b="0" dirty="0">
                <a:solidFill>
                  <a:srgbClr val="1F2328">
                    <a:alpha val="0"/>
                  </a:srgbClr>
                </a:solidFill>
                <a:latin typeface="Calibri"/>
                <a:ea typeface="맑은 고딕"/>
                <a:cs typeface="Calibri"/>
              </a:rPr>
              <a:t>(B) - (A) - (C)</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③ </a:t>
            </a:r>
            <a:r>
              <a:rPr lang="en-US" altLang="ko-KR" sz="1800" b="0" dirty="0">
                <a:solidFill>
                  <a:srgbClr val="1F2328">
                    <a:alpha val="0"/>
                  </a:srgbClr>
                </a:solidFill>
                <a:latin typeface="Calibri"/>
                <a:ea typeface="맑은 고딕"/>
                <a:cs typeface="Calibri"/>
              </a:rPr>
              <a:t>(B) - (C) - (A)</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④ </a:t>
            </a:r>
            <a:r>
              <a:rPr lang="en-US" altLang="ko-KR" sz="1800" b="0" dirty="0">
                <a:solidFill>
                  <a:srgbClr val="1F2328">
                    <a:alpha val="0"/>
                  </a:srgbClr>
                </a:solidFill>
                <a:latin typeface="Calibri"/>
                <a:ea typeface="맑은 고딕"/>
                <a:cs typeface="Calibri"/>
              </a:rPr>
              <a:t>(C) - (A) - (B)</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⑤ </a:t>
            </a:r>
            <a:r>
              <a:rPr lang="en-US" altLang="ko-KR" sz="1800" b="0" dirty="0">
                <a:solidFill>
                  <a:srgbClr val="1F2328">
                    <a:alpha val="0"/>
                  </a:srgbClr>
                </a:solidFill>
                <a:latin typeface="Calibri"/>
                <a:ea typeface="맑은 고딕"/>
                <a:cs typeface="Calibri"/>
              </a:rPr>
              <a:t>(C) - (B) - (A)</a:t>
            </a:r>
            <a:endParaRPr lang="en-US" altLang="ko-KR" sz="1800" b="0" dirty="0">
              <a:solidFill>
                <a:srgbClr val="1F2328"/>
              </a:solidFill>
              <a:latin typeface="Calibri"/>
              <a:ea typeface="맑은 고딕"/>
              <a:cs typeface="Calibri"/>
            </a:endParaRPr>
          </a:p>
        </p:txBody>
      </p:sp>
      <p:sp>
        <p:nvSpPr>
          <p:cNvPr id="13" name="rv_answer"/>
          <p:cNvSpPr/>
          <p:nvPr/>
        </p:nvSpPr>
        <p:spPr>
          <a:xfrm>
            <a:off x="457200" y="4135374"/>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① </a:t>
            </a:r>
            <a:r>
              <a:rPr lang="en-US" altLang="ko-KR" sz="1900" b="1" dirty="0">
                <a:solidFill>
                  <a:srgbClr val="5A4200"/>
                </a:solidFill>
                <a:latin typeface="Calibri"/>
                <a:ea typeface="맑은 고딕"/>
                <a:cs typeface="Calibri"/>
              </a:rPr>
              <a:t>(A) - (C) - (B)</a:t>
            </a:r>
            <a:endParaRPr lang="en-US" altLang="ko-KR" sz="1900" b="1" dirty="0">
              <a:solidFill>
                <a:srgbClr val="5A4200"/>
              </a:solidFill>
              <a:latin typeface="Calibri"/>
              <a:ea typeface="맑은 고딕"/>
              <a:cs typeface="Calibri"/>
            </a:endParaRPr>
          </a:p>
        </p:txBody>
      </p:sp>
      <p:sp>
        <p:nvSpPr>
          <p:cNvPr id="14" name="rv_why"/>
          <p:cNvSpPr/>
          <p:nvPr/>
        </p:nvSpPr>
        <p:spPr>
          <a:xfrm>
            <a:off x="457200" y="4734306"/>
            <a:ext cx="11277295" cy="1684781"/>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선수만 메달을 받지만 혼자 이기지 않는다 → (A) 그들을 돕는 사람들이 있다 → (C) 'Here are some examples'로 페이서를 소개한다 → (B) Pacers가 어떤 선수인지 덧붙인다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25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250"/>
                                        <p:tgtEl>
                                          <p:spTgt spid="1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2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animBg="1"/>
    </p:bldLst>
  </p:timing>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L5-1</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2 · 2</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2. 주어진 글 다음에 이어질 글의 순서로 가장 적절한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5</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정답 원리</a:t>
            </a:r>
            <a:endParaRPr lang="ko-KR" altLang="en-US" sz="1000" b="0" dirty="0">
              <a:solidFill>
                <a:srgbClr val="7A808C"/>
              </a:solidFill>
              <a:latin typeface="맑은 고딕"/>
              <a:ea typeface="맑은 고딕"/>
              <a:cs typeface="맑은 고딕"/>
            </a:endParaRPr>
          </a:p>
        </p:txBody>
      </p:sp>
      <p:sp>
        <p:nvSpPr>
          <p:cNvPr id="7" name="given_card"/>
          <p:cNvSpPr/>
          <p:nvPr/>
        </p:nvSpPr>
        <p:spPr>
          <a:xfrm>
            <a:off x="457200" y="950976"/>
            <a:ext cx="11277295" cy="481838"/>
          </a:xfrm>
          <a:prstGeom prst="roundRect">
            <a:avLst>
              <a:gd name="adj" fmla="val 6000"/>
            </a:avLst>
          </a:prstGeom>
          <a:solidFill>
            <a:srgbClr val="FFFFFF"/>
          </a:solidFill>
          <a:ln w="15875">
            <a:solidFill>
              <a:srgbClr val="1E2A5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given"/>
          <p:cNvSpPr txBox="1"/>
          <p:nvPr/>
        </p:nvSpPr>
        <p:spPr>
          <a:xfrm>
            <a:off x="457200" y="950976"/>
            <a:ext cx="11277295" cy="481838"/>
          </a:xfrm>
          <a:prstGeom prst="rect">
            <a:avLst/>
          </a:prstGeom>
          <a:noFill/>
        </p:spPr>
        <p:txBody>
          <a:bodyPr wrap="square" lIns="201168" tIns="100584" rIns="201168" bIns="100584" anchor="t" rtlCol="0">
            <a:noAutofit/>
          </a:bodyPr>
          <a:lstStyle/>
          <a:p>
            <a:pPr algn="l">
              <a:lnSpc>
                <a:spcPts val="2210"/>
              </a:lnSpc>
              <a:spcBef>
                <a:spcPts val="0"/>
              </a:spcBef>
              <a:spcAft>
                <a:spcPts val="0"/>
              </a:spcAft>
              <a:buNone/>
            </a:pPr>
            <a:r>
              <a:rPr lang="en-US" altLang="ko-KR" sz="1700" b="0" dirty="0">
                <a:solidFill>
                  <a:srgbClr val="1F2328"/>
                </a:solidFill>
                <a:latin typeface="Calibri"/>
                <a:ea typeface="맑은 고딕"/>
                <a:cs typeface="Calibri"/>
              </a:rPr>
              <a:t>In sports, only the players get a trophy or medal, but they don’t win on their own.</a:t>
            </a:r>
            <a:endParaRPr lang="en-US" altLang="ko-KR" sz="1700" b="0" dirty="0">
              <a:solidFill>
                <a:srgbClr val="1F2328"/>
              </a:solidFill>
              <a:latin typeface="Calibri"/>
              <a:ea typeface="맑은 고딕"/>
              <a:cs typeface="Calibri"/>
            </a:endParaRPr>
          </a:p>
        </p:txBody>
      </p:sp>
      <p:sp>
        <p:nvSpPr>
          <p:cNvPr id="9" name="parts_card"/>
          <p:cNvSpPr/>
          <p:nvPr/>
        </p:nvSpPr>
        <p:spPr>
          <a:xfrm>
            <a:off x="457200" y="1560830"/>
            <a:ext cx="11277295" cy="1952752"/>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parts"/>
          <p:cNvSpPr txBox="1"/>
          <p:nvPr/>
        </p:nvSpPr>
        <p:spPr>
          <a:xfrm>
            <a:off x="457200" y="1560830"/>
            <a:ext cx="11277295" cy="1952752"/>
          </a:xfrm>
          <a:prstGeom prst="rect">
            <a:avLst/>
          </a:prstGeom>
          <a:noFill/>
        </p:spPr>
        <p:txBody>
          <a:bodyPr wrap="square" lIns="201168" tIns="118872" rIns="201168" bIns="118872" anchor="t" rtlCol="0">
            <a:noAutofit/>
          </a:bodyPr>
          <a:lstStyle/>
          <a:p>
            <a:pPr algn="just" marL="453390" indent="-453390">
              <a:lnSpc>
                <a:spcPts val="2210"/>
              </a:lnSpc>
              <a:spcBef>
                <a:spcPts val="0"/>
              </a:spcBef>
              <a:spcAft>
                <a:spcPts val="770"/>
              </a:spcAft>
              <a:buNone/>
              <a:tabLst>
                <a:tab pos="453390" algn="l"/>
              </a:tabLst>
            </a:pPr>
            <a:r>
              <a:rPr lang="en-US" altLang="ko-KR" sz="1700" b="1" dirty="0">
                <a:solidFill>
                  <a:srgbClr val="1E2A5A"/>
                </a:solidFill>
                <a:latin typeface="Calibri"/>
                <a:ea typeface="맑은 고딕"/>
                <a:cs typeface="Calibri"/>
              </a:rPr>
              <a:t>(A)</a:t>
            </a:r>
            <a:r>
              <a:rPr lang="en-US" altLang="ko-KR" sz="1700" b="0" dirty="0">
                <a:solidFill>
                  <a:srgbClr val="1F2328"/>
                </a:solidFill>
                <a:latin typeface="Calibri"/>
                <a:ea typeface="맑은 고딕"/>
                <a:cs typeface="Calibri"/>
              </a:rPr>
              <a:t>	Pacers are experienced runners, and their job is to help other runners manage their race better. There can be several pacers in a race.</a:t>
            </a:r>
            <a:endParaRPr lang="en-US" altLang="ko-KR" sz="1700" b="0" dirty="0">
              <a:solidFill>
                <a:srgbClr val="1F2328"/>
              </a:solidFill>
              <a:latin typeface="Calibri"/>
              <a:ea typeface="맑은 고딕"/>
              <a:cs typeface="Calibri"/>
            </a:endParaRPr>
          </a:p>
          <a:p>
            <a:pPr algn="just" marL="453390" indent="-453390">
              <a:lnSpc>
                <a:spcPts val="2210"/>
              </a:lnSpc>
              <a:spcBef>
                <a:spcPts val="0"/>
              </a:spcBef>
              <a:spcAft>
                <a:spcPts val="770"/>
              </a:spcAft>
              <a:buNone/>
              <a:tabLst>
                <a:tab pos="453390" algn="l"/>
              </a:tabLst>
            </a:pPr>
            <a:r>
              <a:rPr lang="en-US" altLang="ko-KR" sz="1700" b="1" dirty="0">
                <a:solidFill>
                  <a:srgbClr val="1E2A5A"/>
                </a:solidFill>
                <a:latin typeface="Calibri"/>
                <a:ea typeface="맑은 고딕"/>
                <a:cs typeface="Calibri"/>
              </a:rPr>
              <a:t>(B)</a:t>
            </a:r>
            <a:r>
              <a:rPr lang="en-US" altLang="ko-KR" sz="1700" b="0" dirty="0">
                <a:solidFill>
                  <a:srgbClr val="1F2328"/>
                </a:solidFill>
                <a:latin typeface="Calibri"/>
                <a:ea typeface="맑은 고딕"/>
                <a:cs typeface="Calibri"/>
              </a:rPr>
              <a:t>	There are people who help the players. These people are often hidden and don’t get attention. However, they are as important as the players.</a:t>
            </a:r>
            <a:endParaRPr lang="en-US" altLang="ko-KR" sz="1700" b="0" dirty="0">
              <a:solidFill>
                <a:srgbClr val="1F2328"/>
              </a:solidFill>
              <a:latin typeface="Calibri"/>
              <a:ea typeface="맑은 고딕"/>
              <a:cs typeface="Calibri"/>
            </a:endParaRPr>
          </a:p>
          <a:p>
            <a:pPr algn="just" marL="453390" indent="-453390">
              <a:lnSpc>
                <a:spcPts val="2210"/>
              </a:lnSpc>
              <a:spcBef>
                <a:spcPts val="0"/>
              </a:spcBef>
              <a:spcAft>
                <a:spcPts val="770"/>
              </a:spcAft>
              <a:buNone/>
              <a:tabLst>
                <a:tab pos="453390" algn="l"/>
              </a:tabLst>
            </a:pPr>
            <a:r>
              <a:rPr lang="en-US" altLang="ko-KR" sz="1700" b="1" dirty="0">
                <a:solidFill>
                  <a:srgbClr val="1E2A5A"/>
                </a:solidFill>
                <a:latin typeface="Calibri"/>
                <a:ea typeface="맑은 고딕"/>
                <a:cs typeface="Calibri"/>
              </a:rPr>
              <a:t>(C)</a:t>
            </a:r>
            <a:r>
              <a:rPr lang="en-US" altLang="ko-KR" sz="1700" b="0" dirty="0">
                <a:solidFill>
                  <a:srgbClr val="1F2328"/>
                </a:solidFill>
                <a:latin typeface="Calibri"/>
                <a:ea typeface="맑은 고딕"/>
                <a:cs typeface="Calibri"/>
              </a:rPr>
              <a:t>	Here are some examples. Pacers run with other runners and lead them in a marathon.</a:t>
            </a:r>
            <a:endParaRPr lang="en-US" altLang="ko-KR" sz="1700" b="0" dirty="0">
              <a:solidFill>
                <a:srgbClr val="1F2328"/>
              </a:solidFill>
              <a:latin typeface="Calibri"/>
              <a:ea typeface="맑은 고딕"/>
              <a:cs typeface="Calibri"/>
            </a:endParaRPr>
          </a:p>
        </p:txBody>
      </p:sp>
      <p:sp>
        <p:nvSpPr>
          <p:cNvPr id="11" name="options"/>
          <p:cNvSpPr txBox="1"/>
          <p:nvPr/>
        </p:nvSpPr>
        <p:spPr>
          <a:xfrm>
            <a:off x="457200" y="3623310"/>
            <a:ext cx="11277295" cy="420624"/>
          </a:xfrm>
          <a:prstGeom prst="rect">
            <a:avLst/>
          </a:prstGeom>
          <a:noFill/>
        </p:spPr>
        <p:txBody>
          <a:bodyPr wrap="square" lIns="91440" tIns="18288" rIns="91440" bIns="18288" anchor="ctr" rtlCol="0">
            <a:noAutofit/>
          </a:bodyPr>
          <a:lstStyle/>
          <a:p>
            <a:pPr algn="ctr">
              <a:lnSpc>
                <a:spcPts val="2560"/>
              </a:lnSpc>
              <a:spcBef>
                <a:spcPts val="0"/>
              </a:spcBef>
              <a:spcAft>
                <a:spcPts val="0"/>
              </a:spcAft>
              <a:buNone/>
            </a:pPr>
            <a:r>
              <a:rPr lang="ko-KR" altLang="en-US" sz="1800" b="1" dirty="0">
                <a:solidFill>
                  <a:srgbClr val="1E2A5A"/>
                </a:solidFill>
                <a:latin typeface="맑은 고딕"/>
                <a:ea typeface="맑은 고딕"/>
                <a:cs typeface="맑은 고딕"/>
              </a:rPr>
              <a:t>① </a:t>
            </a:r>
            <a:r>
              <a:rPr lang="en-US" altLang="ko-KR" sz="1800" b="0" dirty="0">
                <a:solidFill>
                  <a:srgbClr val="1F2328"/>
                </a:solidFill>
                <a:latin typeface="Calibri"/>
                <a:ea typeface="맑은 고딕"/>
                <a:cs typeface="Calibri"/>
              </a:rPr>
              <a:t>(A) - (C) - (B)</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② </a:t>
            </a:r>
            <a:r>
              <a:rPr lang="en-US" altLang="ko-KR" sz="1800" b="0" dirty="0">
                <a:solidFill>
                  <a:srgbClr val="1F2328"/>
                </a:solidFill>
                <a:latin typeface="Calibri"/>
                <a:ea typeface="맑은 고딕"/>
                <a:cs typeface="Calibri"/>
              </a:rPr>
              <a:t>(B) - (A) - (C)</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③ </a:t>
            </a:r>
            <a:r>
              <a:rPr lang="en-US" altLang="ko-KR" sz="1800" b="0" dirty="0">
                <a:solidFill>
                  <a:srgbClr val="1F2328"/>
                </a:solidFill>
                <a:latin typeface="Calibri"/>
                <a:ea typeface="맑은 고딕"/>
                <a:cs typeface="Calibri"/>
              </a:rPr>
              <a:t>(B) - (C) - (A)</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④ </a:t>
            </a:r>
            <a:r>
              <a:rPr lang="en-US" altLang="ko-KR" sz="1800" b="0" dirty="0">
                <a:solidFill>
                  <a:srgbClr val="1F2328"/>
                </a:solidFill>
                <a:latin typeface="Calibri"/>
                <a:ea typeface="맑은 고딕"/>
                <a:cs typeface="Calibri"/>
              </a:rPr>
              <a:t>(C) - (A) - (B)</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⑤ </a:t>
            </a:r>
            <a:r>
              <a:rPr lang="en-US" altLang="ko-KR" sz="1800" b="0" dirty="0">
                <a:solidFill>
                  <a:srgbClr val="1F2328"/>
                </a:solidFill>
                <a:latin typeface="Calibri"/>
                <a:ea typeface="맑은 고딕"/>
                <a:cs typeface="Calibri"/>
              </a:rPr>
              <a:t>(C) - (B) - (A)</a:t>
            </a:r>
            <a:endParaRPr lang="en-US" altLang="ko-KR" sz="1800" b="0" dirty="0">
              <a:solidFill>
                <a:srgbClr val="1F2328"/>
              </a:solidFill>
              <a:latin typeface="Calibri"/>
              <a:ea typeface="맑은 고딕"/>
              <a:cs typeface="Calibri"/>
            </a:endParaRPr>
          </a:p>
        </p:txBody>
      </p:sp>
      <p:sp>
        <p:nvSpPr>
          <p:cNvPr id="12" name="rv_pick"/>
          <p:cNvSpPr txBox="1"/>
          <p:nvPr/>
        </p:nvSpPr>
        <p:spPr>
          <a:xfrm>
            <a:off x="457200" y="3623310"/>
            <a:ext cx="11277295" cy="420624"/>
          </a:xfrm>
          <a:prstGeom prst="rect">
            <a:avLst/>
          </a:prstGeom>
          <a:noFill/>
        </p:spPr>
        <p:txBody>
          <a:bodyPr wrap="square" lIns="91440" tIns="18288" rIns="91440" bIns="18288" anchor="ctr" rtlCol="0">
            <a:noAutofit/>
          </a:bodyPr>
          <a:lstStyle/>
          <a:p>
            <a:pPr algn="ctr">
              <a:lnSpc>
                <a:spcPts val="2560"/>
              </a:lnSpc>
              <a:spcBef>
                <a:spcPts val="0"/>
              </a:spcBef>
              <a:spcAft>
                <a:spcPts val="0"/>
              </a:spcAft>
              <a:buNone/>
            </a:pPr>
            <a:r>
              <a:rPr lang="ko-KR" altLang="en-US" sz="1800" b="1" dirty="0">
                <a:solidFill>
                  <a:srgbClr val="1E2A5A">
                    <a:alpha val="0"/>
                  </a:srgbClr>
                </a:solidFill>
                <a:latin typeface="맑은 고딕"/>
                <a:ea typeface="맑은 고딕"/>
                <a:cs typeface="맑은 고딕"/>
              </a:rPr>
              <a:t>① </a:t>
            </a:r>
            <a:r>
              <a:rPr lang="en-US" altLang="ko-KR" sz="1800" b="0" dirty="0">
                <a:solidFill>
                  <a:srgbClr val="1F2328">
                    <a:alpha val="0"/>
                  </a:srgbClr>
                </a:solidFill>
                <a:latin typeface="Calibri"/>
                <a:ea typeface="맑은 고딕"/>
                <a:cs typeface="Calibri"/>
              </a:rPr>
              <a:t>(A) - (C) - (B)</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② </a:t>
            </a:r>
            <a:r>
              <a:rPr lang="en-US" altLang="ko-KR" sz="1800" b="0" dirty="0">
                <a:solidFill>
                  <a:srgbClr val="1F2328">
                    <a:alpha val="0"/>
                  </a:srgbClr>
                </a:solidFill>
                <a:latin typeface="Calibri"/>
                <a:ea typeface="맑은 고딕"/>
                <a:cs typeface="Calibri"/>
              </a:rPr>
              <a:t>(B) - (A) - (C)</a:t>
            </a:r>
            <a:r>
              <a:rPr lang="en-US" altLang="ko-KR" sz="1800" b="0" dirty="0">
                <a:solidFill>
                  <a:srgbClr val="1F2328">
                    <a:alpha val="0"/>
                  </a:srgbClr>
                </a:solidFill>
                <a:latin typeface="Calibri"/>
                <a:ea typeface="맑은 고딕"/>
                <a:cs typeface="Calibri"/>
              </a:rPr>
              <a:t>       </a:t>
            </a:r>
            <a:r>
              <a:rPr lang="ko-KR" altLang="en-US" sz="1800" b="1" dirty="0">
                <a:solidFill>
                  <a:srgbClr val="C00000"/>
                </a:solidFill>
                <a:highlight>
                  <a:srgbClr val="FFFFFF"/>
                </a:highlight>
                <a:latin typeface="맑은 고딕"/>
                <a:ea typeface="맑은 고딕"/>
                <a:cs typeface="맑은 고딕"/>
              </a:rPr>
              <a:t>③ </a:t>
            </a:r>
            <a:r>
              <a:rPr lang="en-US" altLang="ko-KR" sz="1800" b="0" dirty="0">
                <a:solidFill>
                  <a:srgbClr val="C00000"/>
                </a:solidFill>
                <a:highlight>
                  <a:srgbClr val="FFFFFF"/>
                </a:highlight>
                <a:latin typeface="Calibri"/>
                <a:ea typeface="맑은 고딕"/>
                <a:cs typeface="Calibri"/>
              </a:rPr>
              <a:t>(B) - (C) - (A)</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④ </a:t>
            </a:r>
            <a:r>
              <a:rPr lang="en-US" altLang="ko-KR" sz="1800" b="0" dirty="0">
                <a:solidFill>
                  <a:srgbClr val="1F2328">
                    <a:alpha val="0"/>
                  </a:srgbClr>
                </a:solidFill>
                <a:latin typeface="Calibri"/>
                <a:ea typeface="맑은 고딕"/>
                <a:cs typeface="Calibri"/>
              </a:rPr>
              <a:t>(C) - (A) - (B)</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⑤ </a:t>
            </a:r>
            <a:r>
              <a:rPr lang="en-US" altLang="ko-KR" sz="1800" b="0" dirty="0">
                <a:solidFill>
                  <a:srgbClr val="1F2328">
                    <a:alpha val="0"/>
                  </a:srgbClr>
                </a:solidFill>
                <a:latin typeface="Calibri"/>
                <a:ea typeface="맑은 고딕"/>
                <a:cs typeface="Calibri"/>
              </a:rPr>
              <a:t>(C) - (B) - (A)</a:t>
            </a:r>
            <a:endParaRPr lang="en-US" altLang="ko-KR" sz="1800" b="0" dirty="0">
              <a:solidFill>
                <a:srgbClr val="1F2328"/>
              </a:solidFill>
              <a:latin typeface="Calibri"/>
              <a:ea typeface="맑은 고딕"/>
              <a:cs typeface="Calibri"/>
            </a:endParaRPr>
          </a:p>
        </p:txBody>
      </p:sp>
      <p:sp>
        <p:nvSpPr>
          <p:cNvPr id="13" name="rv_answer"/>
          <p:cNvSpPr/>
          <p:nvPr/>
        </p:nvSpPr>
        <p:spPr>
          <a:xfrm>
            <a:off x="457200" y="4135374"/>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③ </a:t>
            </a:r>
            <a:r>
              <a:rPr lang="en-US" altLang="ko-KR" sz="1900" b="1" dirty="0">
                <a:solidFill>
                  <a:srgbClr val="5A4200"/>
                </a:solidFill>
                <a:latin typeface="Calibri"/>
                <a:ea typeface="맑은 고딕"/>
                <a:cs typeface="Calibri"/>
              </a:rPr>
              <a:t>(B) - (C) - (A)</a:t>
            </a:r>
            <a:endParaRPr lang="en-US" altLang="ko-KR" sz="1900" b="1" dirty="0">
              <a:solidFill>
                <a:srgbClr val="5A4200"/>
              </a:solidFill>
              <a:latin typeface="Calibri"/>
              <a:ea typeface="맑은 고딕"/>
              <a:cs typeface="Calibri"/>
            </a:endParaRPr>
          </a:p>
        </p:txBody>
      </p:sp>
      <p:sp>
        <p:nvSpPr>
          <p:cNvPr id="14" name="rv_why"/>
          <p:cNvSpPr/>
          <p:nvPr/>
        </p:nvSpPr>
        <p:spPr>
          <a:xfrm>
            <a:off x="457200" y="4734306"/>
            <a:ext cx="11277295" cy="1684781"/>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혼자 이기지 않는다 → (B) 돕는 사람들(These people)이 선수만큼 중요하다 → (C) 그 예로 페이서를 든다 → (A) 경험 많은 페이서의 역할과 수를 설명한다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25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250"/>
                                        <p:tgtEl>
                                          <p:spTgt spid="1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2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animBg="1"/>
    </p:bldLst>
  </p:timing>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L5-1</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2 · 3</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3. 글의 흐름으로 보아, 주어진 문장이 들어가기에 가장 적절한 곳은?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5</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정답 원리</a:t>
            </a:r>
            <a:endParaRPr lang="ko-KR" altLang="en-US" sz="1000" b="0" dirty="0">
              <a:solidFill>
                <a:srgbClr val="7A808C"/>
              </a:solidFill>
              <a:latin typeface="맑은 고딕"/>
              <a:ea typeface="맑은 고딕"/>
              <a:cs typeface="맑은 고딕"/>
            </a:endParaRPr>
          </a:p>
        </p:txBody>
      </p:sp>
      <p:sp>
        <p:nvSpPr>
          <p:cNvPr id="7" name="given_card"/>
          <p:cNvSpPr/>
          <p:nvPr/>
        </p:nvSpPr>
        <p:spPr>
          <a:xfrm>
            <a:off x="457200" y="950976"/>
            <a:ext cx="11277295" cy="507238"/>
          </a:xfrm>
          <a:prstGeom prst="roundRect">
            <a:avLst>
              <a:gd name="adj" fmla="val 6000"/>
            </a:avLst>
          </a:prstGeom>
          <a:solidFill>
            <a:srgbClr val="FFFFFF"/>
          </a:solidFill>
          <a:ln w="15875">
            <a:solidFill>
              <a:srgbClr val="1E2A5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given"/>
          <p:cNvSpPr txBox="1"/>
          <p:nvPr/>
        </p:nvSpPr>
        <p:spPr>
          <a:xfrm>
            <a:off x="457200" y="950976"/>
            <a:ext cx="11277295" cy="507238"/>
          </a:xfrm>
          <a:prstGeom prst="rect">
            <a:avLst/>
          </a:prstGeom>
          <a:noFill/>
        </p:spPr>
        <p:txBody>
          <a:bodyPr wrap="square" lIns="201168" tIns="100584" rIns="201168" bIns="100584"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주어진 문장</a:t>
            </a:r>
            <a:r>
              <a:rPr lang="en-US" altLang="ko-KR" sz="1700" b="0" dirty="0">
                <a:solidFill>
                  <a:srgbClr val="1F2328"/>
                </a:solidFill>
                <a:latin typeface="Calibri"/>
                <a:ea typeface="맑은 고딕"/>
                <a:cs typeface="Calibri"/>
              </a:rPr>
              <a:t>   There are people who help the players.</a:t>
            </a:r>
            <a:endParaRPr lang="en-US" altLang="ko-KR" sz="1700" b="0" dirty="0">
              <a:solidFill>
                <a:srgbClr val="1F2328"/>
              </a:solidFill>
              <a:latin typeface="Calibri"/>
              <a:ea typeface="맑은 고딕"/>
              <a:cs typeface="Calibri"/>
            </a:endParaRPr>
          </a:p>
        </p:txBody>
      </p:sp>
      <p:sp>
        <p:nvSpPr>
          <p:cNvPr id="9" name="passage_card"/>
          <p:cNvSpPr/>
          <p:nvPr/>
        </p:nvSpPr>
        <p:spPr>
          <a:xfrm>
            <a:off x="457200" y="1604518"/>
            <a:ext cx="11277295" cy="189991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passage"/>
          <p:cNvSpPr txBox="1"/>
          <p:nvPr/>
        </p:nvSpPr>
        <p:spPr>
          <a:xfrm>
            <a:off x="457200" y="1604518"/>
            <a:ext cx="11277295" cy="1899919"/>
          </a:xfrm>
          <a:prstGeom prst="rect">
            <a:avLst/>
          </a:prstGeom>
          <a:noFill/>
        </p:spPr>
        <p:txBody>
          <a:bodyPr wrap="square" lIns="201168" tIns="118872" rIns="201168" bIns="118872" anchor="t" rtlCol="0">
            <a:noAutofit/>
          </a:bodyPr>
          <a:lstStyle/>
          <a:p>
            <a:pPr algn="just">
              <a:lnSpc>
                <a:spcPts val="2560"/>
              </a:lnSpc>
              <a:spcBef>
                <a:spcPts val="0"/>
              </a:spcBef>
              <a:spcAft>
                <a:spcPts val="0"/>
              </a:spcAft>
              <a:buNone/>
            </a:pPr>
            <a:r>
              <a:rPr lang="en-US" altLang="ko-KR" sz="1700" b="0" dirty="0">
                <a:solidFill>
                  <a:srgbClr val="1F2328"/>
                </a:solidFill>
                <a:latin typeface="Calibri"/>
                <a:ea typeface="맑은 고딕"/>
                <a:cs typeface="Calibri"/>
              </a:rPr>
              <a:t>In sports, only the players get a trophy or medal, but they don’t win on their own. </a:t>
            </a:r>
            <a:r>
              <a:rPr lang="ko-KR" altLang="en-US" sz="1800" b="1" dirty="0">
                <a:solidFill>
                  <a:srgbClr val="1E2A5A"/>
                </a:solidFill>
                <a:latin typeface="맑은 고딕"/>
                <a:ea typeface="맑은 고딕"/>
                <a:cs typeface="맑은 고딕"/>
              </a:rPr>
              <a:t>②</a:t>
            </a:r>
            <a:r>
              <a:rPr lang="en-US" altLang="ko-KR" sz="1700" b="0" dirty="0">
                <a:solidFill>
                  <a:srgbClr val="1F2328"/>
                </a:solidFill>
                <a:latin typeface="Calibri"/>
                <a:ea typeface="맑은 고딕"/>
                <a:cs typeface="Calibri"/>
              </a:rPr>
              <a:t> These people are often hidden and don’t get attention. </a:t>
            </a:r>
            <a:r>
              <a:rPr lang="ko-KR" altLang="en-US" sz="1800" b="1" dirty="0">
                <a:solidFill>
                  <a:srgbClr val="1E2A5A"/>
                </a:solidFill>
                <a:latin typeface="맑은 고딕"/>
                <a:ea typeface="맑은 고딕"/>
                <a:cs typeface="맑은 고딕"/>
              </a:rPr>
              <a:t>③</a:t>
            </a:r>
            <a:r>
              <a:rPr lang="en-US" altLang="ko-KR" sz="1700" b="0" dirty="0">
                <a:solidFill>
                  <a:srgbClr val="1F2328"/>
                </a:solidFill>
                <a:latin typeface="Calibri"/>
                <a:ea typeface="맑은 고딕"/>
                <a:cs typeface="Calibri"/>
              </a:rPr>
              <a:t> However, they are as important as the players. </a:t>
            </a:r>
            <a:r>
              <a:rPr lang="ko-KR" altLang="en-US" sz="1800" b="1" dirty="0">
                <a:solidFill>
                  <a:srgbClr val="1E2A5A"/>
                </a:solidFill>
                <a:latin typeface="맑은 고딕"/>
                <a:ea typeface="맑은 고딕"/>
                <a:cs typeface="맑은 고딕"/>
              </a:rPr>
              <a:t>④</a:t>
            </a:r>
            <a:r>
              <a:rPr lang="en-US" altLang="ko-KR" sz="1700" b="0" dirty="0">
                <a:solidFill>
                  <a:srgbClr val="1F2328"/>
                </a:solidFill>
                <a:latin typeface="Calibri"/>
                <a:ea typeface="맑은 고딕"/>
                <a:cs typeface="Calibri"/>
              </a:rPr>
              <a:t> Here are some examples. </a:t>
            </a:r>
            <a:r>
              <a:rPr lang="ko-KR" altLang="en-US" sz="1800" b="1" dirty="0">
                <a:solidFill>
                  <a:srgbClr val="1E2A5A"/>
                </a:solidFill>
                <a:latin typeface="맑은 고딕"/>
                <a:ea typeface="맑은 고딕"/>
                <a:cs typeface="맑은 고딕"/>
              </a:rPr>
              <a:t>⑤</a:t>
            </a:r>
            <a:r>
              <a:rPr lang="en-US" altLang="ko-KR" sz="1700" b="0" dirty="0">
                <a:solidFill>
                  <a:srgbClr val="1F2328"/>
                </a:solidFill>
                <a:latin typeface="Calibri"/>
                <a:ea typeface="맑은 고딕"/>
                <a:cs typeface="Calibri"/>
              </a:rPr>
              <a:t> Pacers run with other runners and lead them in a marathon. Pacers are experienced runners, and their job is to help other runners manage their race better. There can be several pacers in a race.</a:t>
            </a:r>
            <a:endParaRPr lang="en-US" altLang="ko-KR" sz="1700" b="0" dirty="0">
              <a:solidFill>
                <a:srgbClr val="1F2328"/>
              </a:solidFill>
              <a:latin typeface="Calibri"/>
              <a:ea typeface="맑은 고딕"/>
              <a:cs typeface="Calibri"/>
            </a:endParaRPr>
          </a:p>
        </p:txBody>
      </p:sp>
      <p:sp>
        <p:nvSpPr>
          <p:cNvPr id="11" name="rv_pick"/>
          <p:cNvSpPr txBox="1"/>
          <p:nvPr/>
        </p:nvSpPr>
        <p:spPr>
          <a:xfrm>
            <a:off x="457200" y="1604518"/>
            <a:ext cx="11277295" cy="1899919"/>
          </a:xfrm>
          <a:prstGeom prst="rect">
            <a:avLst/>
          </a:prstGeom>
          <a:noFill/>
        </p:spPr>
        <p:txBody>
          <a:bodyPr wrap="square" lIns="201168" tIns="118872" rIns="201168" bIns="118872" anchor="t" rtlCol="0">
            <a:noAutofit/>
          </a:bodyPr>
          <a:lstStyle/>
          <a:p>
            <a:pPr algn="just">
              <a:lnSpc>
                <a:spcPts val="2560"/>
              </a:lnSpc>
              <a:spcBef>
                <a:spcPts val="0"/>
              </a:spcBef>
              <a:spcAft>
                <a:spcPts val="0"/>
              </a:spcAft>
              <a:buNone/>
            </a:pPr>
            <a:r>
              <a:rPr lang="en-US" altLang="ko-KR" sz="1700" b="0" dirty="0">
                <a:solidFill>
                  <a:srgbClr val="1F2328">
                    <a:alpha val="0"/>
                  </a:srgbClr>
                </a:solidFill>
                <a:latin typeface="Calibri"/>
                <a:ea typeface="맑은 고딕"/>
                <a:cs typeface="Calibri"/>
              </a:rPr>
              <a:t>In sports, only the players get a trophy or medal, but they don’t win on their own. </a:t>
            </a:r>
            <a:r>
              <a:rPr lang="ko-KR" altLang="en-US" sz="1800" b="1" dirty="0">
                <a:solidFill>
                  <a:srgbClr val="C00000"/>
                </a:solidFill>
                <a:highlight>
                  <a:srgbClr val="F3F5F9"/>
                </a:highlight>
                <a:latin typeface="맑은 고딕"/>
                <a:ea typeface="맑은 고딕"/>
                <a:cs typeface="맑은 고딕"/>
              </a:rPr>
              <a:t>②</a:t>
            </a:r>
            <a:r>
              <a:rPr lang="en-US" altLang="ko-KR" sz="1700" b="0" dirty="0">
                <a:solidFill>
                  <a:srgbClr val="1F2328">
                    <a:alpha val="0"/>
                  </a:srgbClr>
                </a:solidFill>
                <a:latin typeface="Calibri"/>
                <a:ea typeface="맑은 고딕"/>
                <a:cs typeface="Calibri"/>
              </a:rPr>
              <a:t> These people are often hidden and don’t get attention. </a:t>
            </a:r>
            <a:r>
              <a:rPr lang="ko-KR" altLang="en-US" sz="1800" b="1" dirty="0">
                <a:solidFill>
                  <a:srgbClr val="1E2A5A">
                    <a:alpha val="0"/>
                  </a:srgbClr>
                </a:solidFill>
                <a:latin typeface="맑은 고딕"/>
                <a:ea typeface="맑은 고딕"/>
                <a:cs typeface="맑은 고딕"/>
              </a:rPr>
              <a:t>③</a:t>
            </a:r>
            <a:r>
              <a:rPr lang="en-US" altLang="ko-KR" sz="1700" b="0" dirty="0">
                <a:solidFill>
                  <a:srgbClr val="1F2328">
                    <a:alpha val="0"/>
                  </a:srgbClr>
                </a:solidFill>
                <a:latin typeface="Calibri"/>
                <a:ea typeface="맑은 고딕"/>
                <a:cs typeface="Calibri"/>
              </a:rPr>
              <a:t> However, they are as important as the players. </a:t>
            </a:r>
            <a:r>
              <a:rPr lang="ko-KR" altLang="en-US" sz="1800" b="1" dirty="0">
                <a:solidFill>
                  <a:srgbClr val="1E2A5A">
                    <a:alpha val="0"/>
                  </a:srgbClr>
                </a:solidFill>
                <a:latin typeface="맑은 고딕"/>
                <a:ea typeface="맑은 고딕"/>
                <a:cs typeface="맑은 고딕"/>
              </a:rPr>
              <a:t>④</a:t>
            </a:r>
            <a:r>
              <a:rPr lang="en-US" altLang="ko-KR" sz="1700" b="0" dirty="0">
                <a:solidFill>
                  <a:srgbClr val="1F2328">
                    <a:alpha val="0"/>
                  </a:srgbClr>
                </a:solidFill>
                <a:latin typeface="Calibri"/>
                <a:ea typeface="맑은 고딕"/>
                <a:cs typeface="Calibri"/>
              </a:rPr>
              <a:t> Here are some examples. </a:t>
            </a:r>
            <a:r>
              <a:rPr lang="ko-KR" altLang="en-US" sz="1800" b="1" dirty="0">
                <a:solidFill>
                  <a:srgbClr val="1E2A5A">
                    <a:alpha val="0"/>
                  </a:srgbClr>
                </a:solidFill>
                <a:latin typeface="맑은 고딕"/>
                <a:ea typeface="맑은 고딕"/>
                <a:cs typeface="맑은 고딕"/>
              </a:rPr>
              <a:t>⑤</a:t>
            </a:r>
            <a:r>
              <a:rPr lang="en-US" altLang="ko-KR" sz="1700" b="0" dirty="0">
                <a:solidFill>
                  <a:srgbClr val="1F2328">
                    <a:alpha val="0"/>
                  </a:srgbClr>
                </a:solidFill>
                <a:latin typeface="Calibri"/>
                <a:ea typeface="맑은 고딕"/>
                <a:cs typeface="Calibri"/>
              </a:rPr>
              <a:t> Pacers run with other runners and lead them in a marathon. Pacers are experienced runners, and their job is to help other runners manage their race better. There can be several pacers in a race.</a:t>
            </a:r>
            <a:endParaRPr lang="en-US" altLang="ko-KR" sz="1700" b="0" dirty="0">
              <a:solidFill>
                <a:srgbClr val="1F2328"/>
              </a:solidFill>
              <a:latin typeface="Calibri"/>
              <a:ea typeface="맑은 고딕"/>
              <a:cs typeface="Calibri"/>
            </a:endParaRPr>
          </a:p>
        </p:txBody>
      </p:sp>
      <p:sp>
        <p:nvSpPr>
          <p:cNvPr id="12" name="rv_answer"/>
          <p:cNvSpPr/>
          <p:nvPr/>
        </p:nvSpPr>
        <p:spPr>
          <a:xfrm>
            <a:off x="457200" y="3614165"/>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②</a:t>
            </a:r>
            <a:endParaRPr lang="ko-KR" altLang="en-US" sz="1900" b="1" dirty="0">
              <a:solidFill>
                <a:srgbClr val="5A4200"/>
              </a:solidFill>
              <a:latin typeface="맑은 고딕"/>
              <a:ea typeface="맑은 고딕"/>
              <a:cs typeface="맑은 고딕"/>
            </a:endParaRPr>
          </a:p>
        </p:txBody>
      </p:sp>
      <p:sp>
        <p:nvSpPr>
          <p:cNvPr id="13" name="rv_why"/>
          <p:cNvSpPr/>
          <p:nvPr/>
        </p:nvSpPr>
        <p:spPr>
          <a:xfrm>
            <a:off x="457200" y="4213098"/>
            <a:ext cx="11277295" cy="220598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'These people'이 가리킬 사람들이 앞에 없다. 선수를 돕는 people을 처음 소개하는 주어진 문장이 ②에 들어가야 한다.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25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25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2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Lst>
  </p:timing>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L5-1</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2 · 4</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4. 글의 흐름으로 보아, 주어진 문장이 들어가기에 가장 적절한 곳은?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5</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정답 원리</a:t>
            </a:r>
            <a:endParaRPr lang="ko-KR" altLang="en-US" sz="1000" b="0" dirty="0">
              <a:solidFill>
                <a:srgbClr val="7A808C"/>
              </a:solidFill>
              <a:latin typeface="맑은 고딕"/>
              <a:ea typeface="맑은 고딕"/>
              <a:cs typeface="맑은 고딕"/>
            </a:endParaRPr>
          </a:p>
        </p:txBody>
      </p:sp>
      <p:sp>
        <p:nvSpPr>
          <p:cNvPr id="7" name="given_card"/>
          <p:cNvSpPr/>
          <p:nvPr/>
        </p:nvSpPr>
        <p:spPr>
          <a:xfrm>
            <a:off x="457200" y="950976"/>
            <a:ext cx="11277295" cy="507238"/>
          </a:xfrm>
          <a:prstGeom prst="roundRect">
            <a:avLst>
              <a:gd name="adj" fmla="val 6000"/>
            </a:avLst>
          </a:prstGeom>
          <a:solidFill>
            <a:srgbClr val="FFFFFF"/>
          </a:solidFill>
          <a:ln w="15875">
            <a:solidFill>
              <a:srgbClr val="1E2A5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given"/>
          <p:cNvSpPr txBox="1"/>
          <p:nvPr/>
        </p:nvSpPr>
        <p:spPr>
          <a:xfrm>
            <a:off x="457200" y="950976"/>
            <a:ext cx="11277295" cy="507238"/>
          </a:xfrm>
          <a:prstGeom prst="rect">
            <a:avLst/>
          </a:prstGeom>
          <a:noFill/>
        </p:spPr>
        <p:txBody>
          <a:bodyPr wrap="square" lIns="201168" tIns="100584" rIns="201168" bIns="100584"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주어진 문장</a:t>
            </a:r>
            <a:r>
              <a:rPr lang="en-US" altLang="ko-KR" sz="1700" b="0" dirty="0">
                <a:solidFill>
                  <a:srgbClr val="1F2328"/>
                </a:solidFill>
                <a:latin typeface="Calibri"/>
                <a:ea typeface="맑은 고딕"/>
                <a:cs typeface="Calibri"/>
              </a:rPr>
              <a:t>   These people are often hidden and don’t get attention.</a:t>
            </a:r>
            <a:endParaRPr lang="en-US" altLang="ko-KR" sz="1700" b="0" dirty="0">
              <a:solidFill>
                <a:srgbClr val="1F2328"/>
              </a:solidFill>
              <a:latin typeface="Calibri"/>
              <a:ea typeface="맑은 고딕"/>
              <a:cs typeface="Calibri"/>
            </a:endParaRPr>
          </a:p>
        </p:txBody>
      </p:sp>
      <p:sp>
        <p:nvSpPr>
          <p:cNvPr id="9" name="passage_card"/>
          <p:cNvSpPr/>
          <p:nvPr/>
        </p:nvSpPr>
        <p:spPr>
          <a:xfrm>
            <a:off x="457200" y="1604518"/>
            <a:ext cx="11277295" cy="189991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passage"/>
          <p:cNvSpPr txBox="1"/>
          <p:nvPr/>
        </p:nvSpPr>
        <p:spPr>
          <a:xfrm>
            <a:off x="457200" y="1604518"/>
            <a:ext cx="11277295" cy="1899919"/>
          </a:xfrm>
          <a:prstGeom prst="rect">
            <a:avLst/>
          </a:prstGeom>
          <a:noFill/>
        </p:spPr>
        <p:txBody>
          <a:bodyPr wrap="square" lIns="201168" tIns="118872" rIns="201168" bIns="118872" anchor="t" rtlCol="0">
            <a:noAutofit/>
          </a:bodyPr>
          <a:lstStyle/>
          <a:p>
            <a:pPr algn="just">
              <a:lnSpc>
                <a:spcPts val="2560"/>
              </a:lnSpc>
              <a:spcBef>
                <a:spcPts val="0"/>
              </a:spcBef>
              <a:spcAft>
                <a:spcPts val="0"/>
              </a:spcAft>
              <a:buNone/>
            </a:pPr>
            <a:r>
              <a:rPr lang="en-US" altLang="ko-KR" sz="1700" b="0" dirty="0">
                <a:solidFill>
                  <a:srgbClr val="1F2328"/>
                </a:solidFill>
                <a:latin typeface="Calibri"/>
                <a:ea typeface="맑은 고딕"/>
                <a:cs typeface="Calibri"/>
              </a:rPr>
              <a:t>In sports, only the players get a trophy or medal, but they don’t win on their own. </a:t>
            </a:r>
            <a:r>
              <a:rPr lang="ko-KR" altLang="en-US" sz="1800" b="1" dirty="0">
                <a:solidFill>
                  <a:srgbClr val="1E2A5A"/>
                </a:solidFill>
                <a:latin typeface="맑은 고딕"/>
                <a:ea typeface="맑은 고딕"/>
                <a:cs typeface="맑은 고딕"/>
              </a:rPr>
              <a:t>②</a:t>
            </a:r>
            <a:r>
              <a:rPr lang="en-US" altLang="ko-KR" sz="1700" b="0" dirty="0">
                <a:solidFill>
                  <a:srgbClr val="1F2328"/>
                </a:solidFill>
                <a:latin typeface="Calibri"/>
                <a:ea typeface="맑은 고딕"/>
                <a:cs typeface="Calibri"/>
              </a:rPr>
              <a:t> There are people who help the players. </a:t>
            </a:r>
            <a:r>
              <a:rPr lang="ko-KR" altLang="en-US" sz="1800" b="1" dirty="0">
                <a:solidFill>
                  <a:srgbClr val="1E2A5A"/>
                </a:solidFill>
                <a:latin typeface="맑은 고딕"/>
                <a:ea typeface="맑은 고딕"/>
                <a:cs typeface="맑은 고딕"/>
              </a:rPr>
              <a:t>③</a:t>
            </a:r>
            <a:r>
              <a:rPr lang="en-US" altLang="ko-KR" sz="1700" b="0" dirty="0">
                <a:solidFill>
                  <a:srgbClr val="1F2328"/>
                </a:solidFill>
                <a:latin typeface="Calibri"/>
                <a:ea typeface="맑은 고딕"/>
                <a:cs typeface="Calibri"/>
              </a:rPr>
              <a:t> However, they are as important as the players. </a:t>
            </a:r>
            <a:r>
              <a:rPr lang="ko-KR" altLang="en-US" sz="1800" b="1" dirty="0">
                <a:solidFill>
                  <a:srgbClr val="1E2A5A"/>
                </a:solidFill>
                <a:latin typeface="맑은 고딕"/>
                <a:ea typeface="맑은 고딕"/>
                <a:cs typeface="맑은 고딕"/>
              </a:rPr>
              <a:t>④</a:t>
            </a:r>
            <a:r>
              <a:rPr lang="en-US" altLang="ko-KR" sz="1700" b="0" dirty="0">
                <a:solidFill>
                  <a:srgbClr val="1F2328"/>
                </a:solidFill>
                <a:latin typeface="Calibri"/>
                <a:ea typeface="맑은 고딕"/>
                <a:cs typeface="Calibri"/>
              </a:rPr>
              <a:t> Here are some examples. </a:t>
            </a:r>
            <a:r>
              <a:rPr lang="ko-KR" altLang="en-US" sz="1800" b="1" dirty="0">
                <a:solidFill>
                  <a:srgbClr val="1E2A5A"/>
                </a:solidFill>
                <a:latin typeface="맑은 고딕"/>
                <a:ea typeface="맑은 고딕"/>
                <a:cs typeface="맑은 고딕"/>
              </a:rPr>
              <a:t>⑤</a:t>
            </a:r>
            <a:r>
              <a:rPr lang="en-US" altLang="ko-KR" sz="1700" b="0" dirty="0">
                <a:solidFill>
                  <a:srgbClr val="1F2328"/>
                </a:solidFill>
                <a:latin typeface="Calibri"/>
                <a:ea typeface="맑은 고딕"/>
                <a:cs typeface="Calibri"/>
              </a:rPr>
              <a:t> Pacers run with other runners and lead them in a marathon. Pacers are experienced runners, and their job is to help other runners manage their race better. There can be several pacers in a race.</a:t>
            </a:r>
            <a:endParaRPr lang="en-US" altLang="ko-KR" sz="1700" b="0" dirty="0">
              <a:solidFill>
                <a:srgbClr val="1F2328"/>
              </a:solidFill>
              <a:latin typeface="Calibri"/>
              <a:ea typeface="맑은 고딕"/>
              <a:cs typeface="Calibri"/>
            </a:endParaRPr>
          </a:p>
        </p:txBody>
      </p:sp>
      <p:sp>
        <p:nvSpPr>
          <p:cNvPr id="11" name="rv_pick"/>
          <p:cNvSpPr txBox="1"/>
          <p:nvPr/>
        </p:nvSpPr>
        <p:spPr>
          <a:xfrm>
            <a:off x="457200" y="1604518"/>
            <a:ext cx="11277295" cy="1899919"/>
          </a:xfrm>
          <a:prstGeom prst="rect">
            <a:avLst/>
          </a:prstGeom>
          <a:noFill/>
        </p:spPr>
        <p:txBody>
          <a:bodyPr wrap="square" lIns="201168" tIns="118872" rIns="201168" bIns="118872" anchor="t" rtlCol="0">
            <a:noAutofit/>
          </a:bodyPr>
          <a:lstStyle/>
          <a:p>
            <a:pPr algn="just">
              <a:lnSpc>
                <a:spcPts val="2560"/>
              </a:lnSpc>
              <a:spcBef>
                <a:spcPts val="0"/>
              </a:spcBef>
              <a:spcAft>
                <a:spcPts val="0"/>
              </a:spcAft>
              <a:buNone/>
            </a:pPr>
            <a:r>
              <a:rPr lang="en-US" altLang="ko-KR" sz="1700" b="0" dirty="0">
                <a:solidFill>
                  <a:srgbClr val="1F2328">
                    <a:alpha val="0"/>
                  </a:srgbClr>
                </a:solidFill>
                <a:latin typeface="Calibri"/>
                <a:ea typeface="맑은 고딕"/>
                <a:cs typeface="Calibri"/>
              </a:rPr>
              <a:t>In sports, only the players get a trophy or medal, but they don’t win on their own. </a:t>
            </a:r>
            <a:r>
              <a:rPr lang="ko-KR" altLang="en-US" sz="1800" b="1" dirty="0">
                <a:solidFill>
                  <a:srgbClr val="1E2A5A">
                    <a:alpha val="0"/>
                  </a:srgbClr>
                </a:solidFill>
                <a:latin typeface="맑은 고딕"/>
                <a:ea typeface="맑은 고딕"/>
                <a:cs typeface="맑은 고딕"/>
              </a:rPr>
              <a:t>②</a:t>
            </a:r>
            <a:r>
              <a:rPr lang="en-US" altLang="ko-KR" sz="1700" b="0" dirty="0">
                <a:solidFill>
                  <a:srgbClr val="1F2328">
                    <a:alpha val="0"/>
                  </a:srgbClr>
                </a:solidFill>
                <a:latin typeface="Calibri"/>
                <a:ea typeface="맑은 고딕"/>
                <a:cs typeface="Calibri"/>
              </a:rPr>
              <a:t> There are people who help the players. </a:t>
            </a:r>
            <a:r>
              <a:rPr lang="ko-KR" altLang="en-US" sz="1800" b="1" dirty="0">
                <a:solidFill>
                  <a:srgbClr val="C00000"/>
                </a:solidFill>
                <a:highlight>
                  <a:srgbClr val="F3F5F9"/>
                </a:highlight>
                <a:latin typeface="맑은 고딕"/>
                <a:ea typeface="맑은 고딕"/>
                <a:cs typeface="맑은 고딕"/>
              </a:rPr>
              <a:t>③</a:t>
            </a:r>
            <a:r>
              <a:rPr lang="en-US" altLang="ko-KR" sz="1700" b="0" dirty="0">
                <a:solidFill>
                  <a:srgbClr val="1F2328">
                    <a:alpha val="0"/>
                  </a:srgbClr>
                </a:solidFill>
                <a:latin typeface="Calibri"/>
                <a:ea typeface="맑은 고딕"/>
                <a:cs typeface="Calibri"/>
              </a:rPr>
              <a:t> However, they are as important as the players. </a:t>
            </a:r>
            <a:r>
              <a:rPr lang="ko-KR" altLang="en-US" sz="1800" b="1" dirty="0">
                <a:solidFill>
                  <a:srgbClr val="1E2A5A">
                    <a:alpha val="0"/>
                  </a:srgbClr>
                </a:solidFill>
                <a:latin typeface="맑은 고딕"/>
                <a:ea typeface="맑은 고딕"/>
                <a:cs typeface="맑은 고딕"/>
              </a:rPr>
              <a:t>④</a:t>
            </a:r>
            <a:r>
              <a:rPr lang="en-US" altLang="ko-KR" sz="1700" b="0" dirty="0">
                <a:solidFill>
                  <a:srgbClr val="1F2328">
                    <a:alpha val="0"/>
                  </a:srgbClr>
                </a:solidFill>
                <a:latin typeface="Calibri"/>
                <a:ea typeface="맑은 고딕"/>
                <a:cs typeface="Calibri"/>
              </a:rPr>
              <a:t> Here are some examples. </a:t>
            </a:r>
            <a:r>
              <a:rPr lang="ko-KR" altLang="en-US" sz="1800" b="1" dirty="0">
                <a:solidFill>
                  <a:srgbClr val="1E2A5A">
                    <a:alpha val="0"/>
                  </a:srgbClr>
                </a:solidFill>
                <a:latin typeface="맑은 고딕"/>
                <a:ea typeface="맑은 고딕"/>
                <a:cs typeface="맑은 고딕"/>
              </a:rPr>
              <a:t>⑤</a:t>
            </a:r>
            <a:r>
              <a:rPr lang="en-US" altLang="ko-KR" sz="1700" b="0" dirty="0">
                <a:solidFill>
                  <a:srgbClr val="1F2328">
                    <a:alpha val="0"/>
                  </a:srgbClr>
                </a:solidFill>
                <a:latin typeface="Calibri"/>
                <a:ea typeface="맑은 고딕"/>
                <a:cs typeface="Calibri"/>
              </a:rPr>
              <a:t> Pacers run with other runners and lead them in a marathon. Pacers are experienced runners, and their job is to help other runners manage their race better. There can be several pacers in a race.</a:t>
            </a:r>
            <a:endParaRPr lang="en-US" altLang="ko-KR" sz="1700" b="0" dirty="0">
              <a:solidFill>
                <a:srgbClr val="1F2328"/>
              </a:solidFill>
              <a:latin typeface="Calibri"/>
              <a:ea typeface="맑은 고딕"/>
              <a:cs typeface="Calibri"/>
            </a:endParaRPr>
          </a:p>
        </p:txBody>
      </p:sp>
      <p:sp>
        <p:nvSpPr>
          <p:cNvPr id="12" name="rv_answer"/>
          <p:cNvSpPr/>
          <p:nvPr/>
        </p:nvSpPr>
        <p:spPr>
          <a:xfrm>
            <a:off x="457200" y="3614165"/>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③</a:t>
            </a:r>
            <a:endParaRPr lang="ko-KR" altLang="en-US" sz="1900" b="1" dirty="0">
              <a:solidFill>
                <a:srgbClr val="5A4200"/>
              </a:solidFill>
              <a:latin typeface="맑은 고딕"/>
              <a:ea typeface="맑은 고딕"/>
              <a:cs typeface="맑은 고딕"/>
            </a:endParaRPr>
          </a:p>
        </p:txBody>
      </p:sp>
      <p:sp>
        <p:nvSpPr>
          <p:cNvPr id="13" name="rv_why"/>
          <p:cNvSpPr/>
          <p:nvPr/>
        </p:nvSpPr>
        <p:spPr>
          <a:xfrm>
            <a:off x="457200" y="4213098"/>
            <a:ext cx="11277295" cy="220598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③ 뒤 'However, they are as important'는 앞에서 그들이 주목받지 못한다는 말이 있어야 이어진다. 주어진 문장은 ③에 들어간다.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25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25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2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Lst>
  </p:timing>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L5-1</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3 · ①</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다음 글의 각 [  ] 안에서 문맥상 알맞은 것을 고르시오.</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5</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클릭할 때마다 괄호 속 정답이 앞에서부터 하나씩 빨간색으로 나타납니다 (총 6개)</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4379976"/>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4379976"/>
          </a:xfrm>
          <a:prstGeom prst="rect">
            <a:avLst/>
          </a:prstGeom>
          <a:noFill/>
        </p:spPr>
        <p:txBody>
          <a:bodyPr wrap="square" lIns="228600" tIns="155448" rIns="228600" bIns="155448" anchor="t" rtlCol="0">
            <a:noAutofit/>
          </a:bodyPr>
          <a:lstStyle/>
          <a:p>
            <a:pPr algn="l">
              <a:lnSpc>
                <a:spcPts val="3560"/>
              </a:lnSpc>
              <a:spcBef>
                <a:spcPts val="0"/>
              </a:spcBef>
              <a:spcAft>
                <a:spcPts val="0"/>
              </a:spcAft>
              <a:buNone/>
            </a:pPr>
            <a:r>
              <a:rPr lang="ko-KR" altLang="en-US" sz="2200" b="1" dirty="0">
                <a:solidFill>
                  <a:srgbClr val="1E2A5A"/>
                </a:solidFill>
                <a:latin typeface="맑은 고딕"/>
                <a:ea typeface="맑은 고딕"/>
                <a:cs typeface="맑은 고딕"/>
              </a:rPr>
              <a:t>①</a:t>
            </a:r>
            <a:r>
              <a:rPr lang="en-US" altLang="ko-KR" sz="2200" b="0"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In sports, only the players get a trophy or medal, but they don’t win </a:t>
            </a:r>
            <a:r>
              <a:rPr lang="en-US" altLang="ko-KR" sz="2200" b="1" dirty="0">
                <a:solidFill>
                  <a:srgbClr val="1F2328"/>
                </a:solidFill>
                <a:latin typeface="Calibri"/>
                <a:ea typeface="맑은 고딕"/>
                <a:cs typeface="Calibri"/>
              </a:rPr>
              <a:t>[ </a:t>
            </a:r>
            <a:r>
              <a:rPr lang="en-US" altLang="ko-KR" sz="2200" b="1" dirty="0">
                <a:solidFill>
                  <a:srgbClr val="1F2328"/>
                </a:solidFill>
                <a:latin typeface="Calibri"/>
                <a:ea typeface="맑은 고딕"/>
                <a:cs typeface="Calibri"/>
              </a:rPr>
              <a:t>on them own</a:t>
            </a:r>
            <a:r>
              <a:rPr lang="en-US" altLang="ko-KR" sz="2200" b="1" dirty="0">
                <a:solidFill>
                  <a:srgbClr val="1F2328"/>
                </a:solidFill>
                <a:latin typeface="Calibri"/>
                <a:ea typeface="맑은 고딕"/>
                <a:cs typeface="Calibri"/>
              </a:rPr>
              <a:t> / </a:t>
            </a:r>
            <a:r>
              <a:rPr lang="en-US" altLang="ko-KR" sz="2200" b="1" dirty="0">
                <a:solidFill>
                  <a:srgbClr val="1F2328"/>
                </a:solidFill>
                <a:latin typeface="Calibri"/>
                <a:ea typeface="맑은 고딕"/>
                <a:cs typeface="Calibri"/>
              </a:rPr>
              <a:t>on their own</a:t>
            </a:r>
            <a:r>
              <a:rPr lang="en-US" altLang="ko-KR" sz="2200" b="1"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a:t>
            </a:r>
            <a:r>
              <a:rPr lang="en-US" altLang="ko-KR" sz="2200" b="0" dirty="0">
                <a:solidFill>
                  <a:srgbClr val="1F2328"/>
                </a:solidFill>
                <a:latin typeface="Calibri"/>
                <a:ea typeface="맑은 고딕"/>
                <a:cs typeface="Calibri"/>
              </a:rPr>
              <a:t>   </a:t>
            </a:r>
            <a:r>
              <a:rPr lang="ko-KR" altLang="en-US" sz="2200" b="1" dirty="0">
                <a:solidFill>
                  <a:srgbClr val="1E2A5A"/>
                </a:solidFill>
                <a:latin typeface="맑은 고딕"/>
                <a:ea typeface="맑은 고딕"/>
                <a:cs typeface="맑은 고딕"/>
              </a:rPr>
              <a:t>②</a:t>
            </a:r>
            <a:r>
              <a:rPr lang="en-US" altLang="ko-KR" sz="2200" b="0"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There are people </a:t>
            </a:r>
            <a:r>
              <a:rPr lang="en-US" altLang="ko-KR" sz="2200" b="1" dirty="0">
                <a:solidFill>
                  <a:srgbClr val="1F2328"/>
                </a:solidFill>
                <a:latin typeface="Calibri"/>
                <a:ea typeface="맑은 고딕"/>
                <a:cs typeface="Calibri"/>
              </a:rPr>
              <a:t>[ </a:t>
            </a:r>
            <a:r>
              <a:rPr lang="en-US" altLang="ko-KR" sz="2200" b="1" dirty="0">
                <a:solidFill>
                  <a:srgbClr val="1F2328"/>
                </a:solidFill>
                <a:latin typeface="Calibri"/>
                <a:ea typeface="맑은 고딕"/>
                <a:cs typeface="Calibri"/>
              </a:rPr>
              <a:t>who help</a:t>
            </a:r>
            <a:r>
              <a:rPr lang="en-US" altLang="ko-KR" sz="2200" b="1" dirty="0">
                <a:solidFill>
                  <a:srgbClr val="1F2328"/>
                </a:solidFill>
                <a:latin typeface="Calibri"/>
                <a:ea typeface="맑은 고딕"/>
                <a:cs typeface="Calibri"/>
              </a:rPr>
              <a:t> / </a:t>
            </a:r>
            <a:r>
              <a:rPr lang="en-US" altLang="ko-KR" sz="2200" b="1" dirty="0">
                <a:solidFill>
                  <a:srgbClr val="1F2328"/>
                </a:solidFill>
                <a:latin typeface="Calibri"/>
                <a:ea typeface="맑은 고딕"/>
                <a:cs typeface="Calibri"/>
              </a:rPr>
              <a:t>who helps</a:t>
            </a:r>
            <a:r>
              <a:rPr lang="en-US" altLang="ko-KR" sz="2200" b="1"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 the players.</a:t>
            </a:r>
            <a:r>
              <a:rPr lang="en-US" altLang="ko-KR" sz="2200" b="0" dirty="0">
                <a:solidFill>
                  <a:srgbClr val="1F2328"/>
                </a:solidFill>
                <a:latin typeface="Calibri"/>
                <a:ea typeface="맑은 고딕"/>
                <a:cs typeface="Calibri"/>
              </a:rPr>
              <a:t>   </a:t>
            </a:r>
            <a:r>
              <a:rPr lang="ko-KR" altLang="en-US" sz="2200" b="1" dirty="0">
                <a:solidFill>
                  <a:srgbClr val="1E2A5A"/>
                </a:solidFill>
                <a:latin typeface="맑은 고딕"/>
                <a:ea typeface="맑은 고딕"/>
                <a:cs typeface="맑은 고딕"/>
              </a:rPr>
              <a:t>③</a:t>
            </a:r>
            <a:r>
              <a:rPr lang="en-US" altLang="ko-KR" sz="2200" b="0"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These people are often </a:t>
            </a:r>
            <a:r>
              <a:rPr lang="en-US" altLang="ko-KR" sz="2200" b="1" dirty="0">
                <a:solidFill>
                  <a:srgbClr val="1F2328"/>
                </a:solidFill>
                <a:latin typeface="Calibri"/>
                <a:ea typeface="맑은 고딕"/>
                <a:cs typeface="Calibri"/>
              </a:rPr>
              <a:t>[ </a:t>
            </a:r>
            <a:r>
              <a:rPr lang="en-US" altLang="ko-KR" sz="2200" b="1" dirty="0">
                <a:solidFill>
                  <a:srgbClr val="1F2328"/>
                </a:solidFill>
                <a:latin typeface="Calibri"/>
                <a:ea typeface="맑은 고딕"/>
                <a:cs typeface="Calibri"/>
              </a:rPr>
              <a:t>hidden</a:t>
            </a:r>
            <a:r>
              <a:rPr lang="en-US" altLang="ko-KR" sz="2200" b="1" dirty="0">
                <a:solidFill>
                  <a:srgbClr val="1F2328"/>
                </a:solidFill>
                <a:latin typeface="Calibri"/>
                <a:ea typeface="맑은 고딕"/>
                <a:cs typeface="Calibri"/>
              </a:rPr>
              <a:t> / </a:t>
            </a:r>
            <a:r>
              <a:rPr lang="en-US" altLang="ko-KR" sz="2200" b="1" dirty="0">
                <a:solidFill>
                  <a:srgbClr val="1F2328"/>
                </a:solidFill>
                <a:latin typeface="Calibri"/>
                <a:ea typeface="맑은 고딕"/>
                <a:cs typeface="Calibri"/>
              </a:rPr>
              <a:t>hiding</a:t>
            </a:r>
            <a:r>
              <a:rPr lang="en-US" altLang="ko-KR" sz="2200" b="1"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 and don’t get attention.</a:t>
            </a:r>
            <a:r>
              <a:rPr lang="en-US" altLang="ko-KR" sz="2200" b="0" dirty="0">
                <a:solidFill>
                  <a:srgbClr val="1F2328"/>
                </a:solidFill>
                <a:latin typeface="Calibri"/>
                <a:ea typeface="맑은 고딕"/>
                <a:cs typeface="Calibri"/>
              </a:rPr>
              <a:t>   </a:t>
            </a:r>
            <a:r>
              <a:rPr lang="ko-KR" altLang="en-US" sz="2200" b="1" dirty="0">
                <a:solidFill>
                  <a:srgbClr val="1E2A5A"/>
                </a:solidFill>
                <a:latin typeface="맑은 고딕"/>
                <a:ea typeface="맑은 고딕"/>
                <a:cs typeface="맑은 고딕"/>
              </a:rPr>
              <a:t>④</a:t>
            </a:r>
            <a:r>
              <a:rPr lang="en-US" altLang="ko-KR" sz="2200" b="0"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However, they are </a:t>
            </a:r>
            <a:r>
              <a:rPr lang="en-US" altLang="ko-KR" sz="2200" b="1" dirty="0">
                <a:solidFill>
                  <a:srgbClr val="1F2328"/>
                </a:solidFill>
                <a:latin typeface="Calibri"/>
                <a:ea typeface="맑은 고딕"/>
                <a:cs typeface="Calibri"/>
              </a:rPr>
              <a:t>[ </a:t>
            </a:r>
            <a:r>
              <a:rPr lang="en-US" altLang="ko-KR" sz="2200" b="1" dirty="0">
                <a:solidFill>
                  <a:srgbClr val="1F2328"/>
                </a:solidFill>
                <a:latin typeface="Calibri"/>
                <a:ea typeface="맑은 고딕"/>
                <a:cs typeface="Calibri"/>
              </a:rPr>
              <a:t>as importantly as</a:t>
            </a:r>
            <a:r>
              <a:rPr lang="en-US" altLang="ko-KR" sz="2200" b="1" dirty="0">
                <a:solidFill>
                  <a:srgbClr val="1F2328"/>
                </a:solidFill>
                <a:latin typeface="Calibri"/>
                <a:ea typeface="맑은 고딕"/>
                <a:cs typeface="Calibri"/>
              </a:rPr>
              <a:t> / </a:t>
            </a:r>
            <a:r>
              <a:rPr lang="en-US" altLang="ko-KR" sz="2200" b="1" dirty="0">
                <a:solidFill>
                  <a:srgbClr val="1F2328"/>
                </a:solidFill>
                <a:latin typeface="Calibri"/>
                <a:ea typeface="맑은 고딕"/>
                <a:cs typeface="Calibri"/>
              </a:rPr>
              <a:t>as important as</a:t>
            </a:r>
            <a:r>
              <a:rPr lang="en-US" altLang="ko-KR" sz="2200" b="1"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 the players.</a:t>
            </a:r>
            <a:r>
              <a:rPr lang="en-US" altLang="ko-KR" sz="2200" b="0" dirty="0">
                <a:solidFill>
                  <a:srgbClr val="1F2328"/>
                </a:solidFill>
                <a:latin typeface="Calibri"/>
                <a:ea typeface="맑은 고딕"/>
                <a:cs typeface="Calibri"/>
              </a:rPr>
              <a:t>   </a:t>
            </a:r>
            <a:r>
              <a:rPr lang="ko-KR" altLang="en-US" sz="2200" b="1" dirty="0">
                <a:solidFill>
                  <a:srgbClr val="1E2A5A"/>
                </a:solidFill>
                <a:latin typeface="맑은 고딕"/>
                <a:ea typeface="맑은 고딕"/>
                <a:cs typeface="맑은 고딕"/>
              </a:rPr>
              <a:t>⑤</a:t>
            </a:r>
            <a:r>
              <a:rPr lang="en-US" altLang="ko-KR" sz="2200" b="0"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Here are some examples.</a:t>
            </a:r>
            <a:r>
              <a:rPr lang="en-US" altLang="ko-KR" sz="2200" b="0" dirty="0">
                <a:solidFill>
                  <a:srgbClr val="1F2328"/>
                </a:solidFill>
                <a:latin typeface="Calibri"/>
                <a:ea typeface="맑은 고딕"/>
                <a:cs typeface="Calibri"/>
              </a:rPr>
              <a:t>   </a:t>
            </a:r>
            <a:r>
              <a:rPr lang="ko-KR" altLang="en-US" sz="2200" b="1" dirty="0">
                <a:solidFill>
                  <a:srgbClr val="1E2A5A"/>
                </a:solidFill>
                <a:latin typeface="맑은 고딕"/>
                <a:ea typeface="맑은 고딕"/>
                <a:cs typeface="맑은 고딕"/>
              </a:rPr>
              <a:t>⑥</a:t>
            </a:r>
            <a:r>
              <a:rPr lang="en-US" altLang="ko-KR" sz="2200" b="0"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Pacers run with other runners and lead them in a marathon.</a:t>
            </a:r>
            <a:r>
              <a:rPr lang="en-US" altLang="ko-KR" sz="2200" b="0" dirty="0">
                <a:solidFill>
                  <a:srgbClr val="1F2328"/>
                </a:solidFill>
                <a:latin typeface="Calibri"/>
                <a:ea typeface="맑은 고딕"/>
                <a:cs typeface="Calibri"/>
              </a:rPr>
              <a:t>   </a:t>
            </a:r>
            <a:r>
              <a:rPr lang="ko-KR" altLang="en-US" sz="2200" b="1" dirty="0">
                <a:solidFill>
                  <a:srgbClr val="1E2A5A"/>
                </a:solidFill>
                <a:latin typeface="맑은 고딕"/>
                <a:ea typeface="맑은 고딕"/>
                <a:cs typeface="맑은 고딕"/>
              </a:rPr>
              <a:t>⑦</a:t>
            </a:r>
            <a:r>
              <a:rPr lang="en-US" altLang="ko-KR" sz="2200" b="0"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Pacers are </a:t>
            </a:r>
            <a:r>
              <a:rPr lang="en-US" altLang="ko-KR" sz="2200" b="1" dirty="0">
                <a:solidFill>
                  <a:srgbClr val="1F2328"/>
                </a:solidFill>
                <a:latin typeface="Calibri"/>
                <a:ea typeface="맑은 고딕"/>
                <a:cs typeface="Calibri"/>
              </a:rPr>
              <a:t>[ </a:t>
            </a:r>
            <a:r>
              <a:rPr lang="en-US" altLang="ko-KR" sz="2200" b="1" dirty="0">
                <a:solidFill>
                  <a:srgbClr val="1F2328"/>
                </a:solidFill>
                <a:latin typeface="Calibri"/>
                <a:ea typeface="맑은 고딕"/>
                <a:cs typeface="Calibri"/>
              </a:rPr>
              <a:t>experienced</a:t>
            </a:r>
            <a:r>
              <a:rPr lang="en-US" altLang="ko-KR" sz="2200" b="1" dirty="0">
                <a:solidFill>
                  <a:srgbClr val="1F2328"/>
                </a:solidFill>
                <a:latin typeface="Calibri"/>
                <a:ea typeface="맑은 고딕"/>
                <a:cs typeface="Calibri"/>
              </a:rPr>
              <a:t> / </a:t>
            </a:r>
            <a:r>
              <a:rPr lang="en-US" altLang="ko-KR" sz="2200" b="1" dirty="0">
                <a:solidFill>
                  <a:srgbClr val="1F2328"/>
                </a:solidFill>
                <a:latin typeface="Calibri"/>
                <a:ea typeface="맑은 고딕"/>
                <a:cs typeface="Calibri"/>
              </a:rPr>
              <a:t>experiencing</a:t>
            </a:r>
            <a:r>
              <a:rPr lang="en-US" altLang="ko-KR" sz="2200" b="1"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 runners, and their job is to help other runners </a:t>
            </a:r>
            <a:r>
              <a:rPr lang="en-US" altLang="ko-KR" sz="2200" b="1" dirty="0">
                <a:solidFill>
                  <a:srgbClr val="1F2328"/>
                </a:solidFill>
                <a:latin typeface="Calibri"/>
                <a:ea typeface="맑은 고딕"/>
                <a:cs typeface="Calibri"/>
              </a:rPr>
              <a:t>[ </a:t>
            </a:r>
            <a:r>
              <a:rPr lang="en-US" altLang="ko-KR" sz="2200" b="1" dirty="0">
                <a:solidFill>
                  <a:srgbClr val="1F2328"/>
                </a:solidFill>
                <a:latin typeface="Calibri"/>
                <a:ea typeface="맑은 고딕"/>
                <a:cs typeface="Calibri"/>
              </a:rPr>
              <a:t>managing</a:t>
            </a:r>
            <a:r>
              <a:rPr lang="en-US" altLang="ko-KR" sz="2200" b="1" dirty="0">
                <a:solidFill>
                  <a:srgbClr val="1F2328"/>
                </a:solidFill>
                <a:latin typeface="Calibri"/>
                <a:ea typeface="맑은 고딕"/>
                <a:cs typeface="Calibri"/>
              </a:rPr>
              <a:t> / </a:t>
            </a:r>
            <a:r>
              <a:rPr lang="en-US" altLang="ko-KR" sz="2200" b="1" dirty="0">
                <a:solidFill>
                  <a:srgbClr val="1F2328"/>
                </a:solidFill>
                <a:latin typeface="Calibri"/>
                <a:ea typeface="맑은 고딕"/>
                <a:cs typeface="Calibri"/>
              </a:rPr>
              <a:t>manage</a:t>
            </a:r>
            <a:r>
              <a:rPr lang="en-US" altLang="ko-KR" sz="2200" b="1"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 their race better.</a:t>
            </a:r>
            <a:r>
              <a:rPr lang="en-US" altLang="ko-KR" sz="2200" b="0" dirty="0">
                <a:solidFill>
                  <a:srgbClr val="1F2328"/>
                </a:solidFill>
                <a:latin typeface="Calibri"/>
                <a:ea typeface="맑은 고딕"/>
                <a:cs typeface="Calibri"/>
              </a:rPr>
              <a:t>   </a:t>
            </a:r>
            <a:r>
              <a:rPr lang="ko-KR" altLang="en-US" sz="2200" b="1" dirty="0">
                <a:solidFill>
                  <a:srgbClr val="1E2A5A"/>
                </a:solidFill>
                <a:latin typeface="맑은 고딕"/>
                <a:ea typeface="맑은 고딕"/>
                <a:cs typeface="맑은 고딕"/>
              </a:rPr>
              <a:t>⑧</a:t>
            </a:r>
            <a:r>
              <a:rPr lang="en-US" altLang="ko-KR" sz="2200" b="0"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There can be several pacers in a race.</a:t>
            </a:r>
            <a:endParaRPr lang="en-US" altLang="ko-KR" sz="2200" b="0" dirty="0">
              <a:solidFill>
                <a:srgbClr val="1F2328"/>
              </a:solidFill>
              <a:latin typeface="Calibri"/>
              <a:ea typeface="맑은 고딕"/>
              <a:cs typeface="Calibri"/>
            </a:endParaRPr>
          </a:p>
        </p:txBody>
      </p:sp>
      <p:sp>
        <p:nvSpPr>
          <p:cNvPr id="9" name="rv_g01"/>
          <p:cNvSpPr txBox="1"/>
          <p:nvPr/>
        </p:nvSpPr>
        <p:spPr>
          <a:xfrm>
            <a:off x="457200" y="950976"/>
            <a:ext cx="11277295" cy="4379976"/>
          </a:xfrm>
          <a:prstGeom prst="rect">
            <a:avLst/>
          </a:prstGeom>
          <a:noFill/>
        </p:spPr>
        <p:txBody>
          <a:bodyPr wrap="square" lIns="228600" tIns="155448" rIns="228600" bIns="155448" anchor="t" rtlCol="0">
            <a:noAutofit/>
          </a:bodyPr>
          <a:lstStyle/>
          <a:p>
            <a:pPr algn="l">
              <a:lnSpc>
                <a:spcPts val="3560"/>
              </a:lnSpc>
              <a:spcBef>
                <a:spcPts val="0"/>
              </a:spcBef>
              <a:spcAft>
                <a:spcPts val="0"/>
              </a:spcAft>
              <a:buNone/>
            </a:pPr>
            <a:r>
              <a:rPr lang="ko-KR" altLang="en-US" sz="2200" b="1" dirty="0">
                <a:solidFill>
                  <a:srgbClr val="1E2A5A">
                    <a:alpha val="0"/>
                  </a:srgbClr>
                </a:solidFill>
                <a:latin typeface="맑은 고딕"/>
                <a:ea typeface="맑은 고딕"/>
                <a:cs typeface="맑은 고딕"/>
              </a:rPr>
              <a:t>①</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In sports, only the players get a trophy or medal, but they don’t win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on them own</a:t>
            </a:r>
            <a:r>
              <a:rPr lang="en-US" altLang="ko-KR" sz="2200" b="1" dirty="0">
                <a:solidFill>
                  <a:srgbClr val="1F2328">
                    <a:alpha val="0"/>
                  </a:srgbClr>
                </a:solidFill>
                <a:latin typeface="Calibri"/>
                <a:ea typeface="맑은 고딕"/>
                <a:cs typeface="Calibri"/>
              </a:rPr>
              <a:t> / </a:t>
            </a:r>
            <a:r>
              <a:rPr lang="en-US" altLang="ko-KR" sz="2200" b="1" dirty="0">
                <a:solidFill>
                  <a:srgbClr val="C00000"/>
                </a:solidFill>
                <a:highlight>
                  <a:srgbClr val="F3F5F9"/>
                </a:highlight>
                <a:latin typeface="Calibri"/>
                <a:ea typeface="맑은 고딕"/>
                <a:cs typeface="Calibri"/>
              </a:rPr>
              <a:t>on their own</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②</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There are people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who help</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who helps</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 players.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③</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These people are often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hidden</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hiding</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and don’t get attention.</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④</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However, they are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as importantly as</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as important as</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 players.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⑤</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Here are some examples.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⑥</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Pacers run with other runners and lead them in a marathon.</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⑦</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Pacers are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experienced</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experiencing</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runners, and their job is to help other runners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managing</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manage</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their race better.</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⑧</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There can be several pacers in a race.</a:t>
            </a:r>
            <a:endParaRPr lang="en-US" altLang="ko-KR" sz="2200" b="0" dirty="0">
              <a:solidFill>
                <a:srgbClr val="1F2328"/>
              </a:solidFill>
              <a:latin typeface="Calibri"/>
              <a:ea typeface="맑은 고딕"/>
              <a:cs typeface="Calibri"/>
            </a:endParaRPr>
          </a:p>
        </p:txBody>
      </p:sp>
      <p:sp>
        <p:nvSpPr>
          <p:cNvPr id="10" name="rv_g02"/>
          <p:cNvSpPr txBox="1"/>
          <p:nvPr/>
        </p:nvSpPr>
        <p:spPr>
          <a:xfrm>
            <a:off x="457200" y="950976"/>
            <a:ext cx="11277295" cy="4379976"/>
          </a:xfrm>
          <a:prstGeom prst="rect">
            <a:avLst/>
          </a:prstGeom>
          <a:noFill/>
        </p:spPr>
        <p:txBody>
          <a:bodyPr wrap="square" lIns="228600" tIns="155448" rIns="228600" bIns="155448" anchor="t" rtlCol="0">
            <a:noAutofit/>
          </a:bodyPr>
          <a:lstStyle/>
          <a:p>
            <a:pPr algn="l">
              <a:lnSpc>
                <a:spcPts val="3560"/>
              </a:lnSpc>
              <a:spcBef>
                <a:spcPts val="0"/>
              </a:spcBef>
              <a:spcAft>
                <a:spcPts val="0"/>
              </a:spcAft>
              <a:buNone/>
            </a:pPr>
            <a:r>
              <a:rPr lang="ko-KR" altLang="en-US" sz="2200" b="1" dirty="0">
                <a:solidFill>
                  <a:srgbClr val="1E2A5A">
                    <a:alpha val="0"/>
                  </a:srgbClr>
                </a:solidFill>
                <a:latin typeface="맑은 고딕"/>
                <a:ea typeface="맑은 고딕"/>
                <a:cs typeface="맑은 고딕"/>
              </a:rPr>
              <a:t>①</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In sports, only the players get a trophy or medal, but they don’t win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on them own</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on their own</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②</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There are people </a:t>
            </a:r>
            <a:r>
              <a:rPr lang="en-US" altLang="ko-KR" sz="2200" b="1" dirty="0">
                <a:solidFill>
                  <a:srgbClr val="1F2328">
                    <a:alpha val="0"/>
                  </a:srgbClr>
                </a:solidFill>
                <a:latin typeface="Calibri"/>
                <a:ea typeface="맑은 고딕"/>
                <a:cs typeface="Calibri"/>
              </a:rPr>
              <a:t>[ </a:t>
            </a:r>
            <a:r>
              <a:rPr lang="en-US" altLang="ko-KR" sz="2200" b="1" dirty="0">
                <a:solidFill>
                  <a:srgbClr val="C00000"/>
                </a:solidFill>
                <a:highlight>
                  <a:srgbClr val="F3F5F9"/>
                </a:highlight>
                <a:latin typeface="Calibri"/>
                <a:ea typeface="맑은 고딕"/>
                <a:cs typeface="Calibri"/>
              </a:rPr>
              <a:t>who help</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who helps</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 players.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③</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These people are often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hidden</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hiding</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and don’t get attention.</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④</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However, they are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as importantly as</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as important as</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 players.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⑤</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Here are some examples.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⑥</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Pacers run with other runners and lead them in a marathon.</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⑦</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Pacers are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experienced</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experiencing</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runners, and their job is to help other runners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managing</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manage</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their race better.</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⑧</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There can be several pacers in a race.</a:t>
            </a:r>
            <a:endParaRPr lang="en-US" altLang="ko-KR" sz="2200" b="0" dirty="0">
              <a:solidFill>
                <a:srgbClr val="1F2328"/>
              </a:solidFill>
              <a:latin typeface="Calibri"/>
              <a:ea typeface="맑은 고딕"/>
              <a:cs typeface="Calibri"/>
            </a:endParaRPr>
          </a:p>
        </p:txBody>
      </p:sp>
      <p:sp>
        <p:nvSpPr>
          <p:cNvPr id="11" name="rv_g03"/>
          <p:cNvSpPr txBox="1"/>
          <p:nvPr/>
        </p:nvSpPr>
        <p:spPr>
          <a:xfrm>
            <a:off x="457200" y="950976"/>
            <a:ext cx="11277295" cy="4379976"/>
          </a:xfrm>
          <a:prstGeom prst="rect">
            <a:avLst/>
          </a:prstGeom>
          <a:noFill/>
        </p:spPr>
        <p:txBody>
          <a:bodyPr wrap="square" lIns="228600" tIns="155448" rIns="228600" bIns="155448" anchor="t" rtlCol="0">
            <a:noAutofit/>
          </a:bodyPr>
          <a:lstStyle/>
          <a:p>
            <a:pPr algn="l">
              <a:lnSpc>
                <a:spcPts val="3560"/>
              </a:lnSpc>
              <a:spcBef>
                <a:spcPts val="0"/>
              </a:spcBef>
              <a:spcAft>
                <a:spcPts val="0"/>
              </a:spcAft>
              <a:buNone/>
            </a:pPr>
            <a:r>
              <a:rPr lang="ko-KR" altLang="en-US" sz="2200" b="1" dirty="0">
                <a:solidFill>
                  <a:srgbClr val="1E2A5A">
                    <a:alpha val="0"/>
                  </a:srgbClr>
                </a:solidFill>
                <a:latin typeface="맑은 고딕"/>
                <a:ea typeface="맑은 고딕"/>
                <a:cs typeface="맑은 고딕"/>
              </a:rPr>
              <a:t>①</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In sports, only the players get a trophy or medal, but they don’t win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on them own</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on their own</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②</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There are people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who help</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who helps</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 players.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③</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These people are often </a:t>
            </a:r>
            <a:r>
              <a:rPr lang="en-US" altLang="ko-KR" sz="2200" b="1" dirty="0">
                <a:solidFill>
                  <a:srgbClr val="1F2328">
                    <a:alpha val="0"/>
                  </a:srgbClr>
                </a:solidFill>
                <a:latin typeface="Calibri"/>
                <a:ea typeface="맑은 고딕"/>
                <a:cs typeface="Calibri"/>
              </a:rPr>
              <a:t>[ </a:t>
            </a:r>
            <a:r>
              <a:rPr lang="en-US" altLang="ko-KR" sz="2200" b="1" dirty="0">
                <a:solidFill>
                  <a:srgbClr val="C00000"/>
                </a:solidFill>
                <a:highlight>
                  <a:srgbClr val="F3F5F9"/>
                </a:highlight>
                <a:latin typeface="Calibri"/>
                <a:ea typeface="맑은 고딕"/>
                <a:cs typeface="Calibri"/>
              </a:rPr>
              <a:t>hidden</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hiding</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and don’t get attention.</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④</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However, they are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as importantly as</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as important as</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 players.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⑤</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Here are some examples.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⑥</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Pacers run with other runners and lead them in a marathon.</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⑦</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Pacers are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experienced</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experiencing</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runners, and their job is to help other runners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managing</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manage</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their race better.</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⑧</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There can be several pacers in a race.</a:t>
            </a:r>
            <a:endParaRPr lang="en-US" altLang="ko-KR" sz="2200" b="0" dirty="0">
              <a:solidFill>
                <a:srgbClr val="1F2328"/>
              </a:solidFill>
              <a:latin typeface="Calibri"/>
              <a:ea typeface="맑은 고딕"/>
              <a:cs typeface="Calibri"/>
            </a:endParaRPr>
          </a:p>
        </p:txBody>
      </p:sp>
      <p:sp>
        <p:nvSpPr>
          <p:cNvPr id="12" name="rv_g04"/>
          <p:cNvSpPr txBox="1"/>
          <p:nvPr/>
        </p:nvSpPr>
        <p:spPr>
          <a:xfrm>
            <a:off x="457200" y="950976"/>
            <a:ext cx="11277295" cy="4379976"/>
          </a:xfrm>
          <a:prstGeom prst="rect">
            <a:avLst/>
          </a:prstGeom>
          <a:noFill/>
        </p:spPr>
        <p:txBody>
          <a:bodyPr wrap="square" lIns="228600" tIns="155448" rIns="228600" bIns="155448" anchor="t" rtlCol="0">
            <a:noAutofit/>
          </a:bodyPr>
          <a:lstStyle/>
          <a:p>
            <a:pPr algn="l">
              <a:lnSpc>
                <a:spcPts val="3560"/>
              </a:lnSpc>
              <a:spcBef>
                <a:spcPts val="0"/>
              </a:spcBef>
              <a:spcAft>
                <a:spcPts val="0"/>
              </a:spcAft>
              <a:buNone/>
            </a:pPr>
            <a:r>
              <a:rPr lang="ko-KR" altLang="en-US" sz="2200" b="1" dirty="0">
                <a:solidFill>
                  <a:srgbClr val="1E2A5A">
                    <a:alpha val="0"/>
                  </a:srgbClr>
                </a:solidFill>
                <a:latin typeface="맑은 고딕"/>
                <a:ea typeface="맑은 고딕"/>
                <a:cs typeface="맑은 고딕"/>
              </a:rPr>
              <a:t>①</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In sports, only the players get a trophy or medal, but they don’t win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on them own</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on their own</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②</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There are people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who help</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who helps</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 players.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③</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These people are often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hidden</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hiding</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and don’t get attention.</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④</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However, they are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as importantly as</a:t>
            </a:r>
            <a:r>
              <a:rPr lang="en-US" altLang="ko-KR" sz="2200" b="1" dirty="0">
                <a:solidFill>
                  <a:srgbClr val="1F2328">
                    <a:alpha val="0"/>
                  </a:srgbClr>
                </a:solidFill>
                <a:latin typeface="Calibri"/>
                <a:ea typeface="맑은 고딕"/>
                <a:cs typeface="Calibri"/>
              </a:rPr>
              <a:t> / </a:t>
            </a:r>
            <a:r>
              <a:rPr lang="en-US" altLang="ko-KR" sz="2200" b="1" dirty="0">
                <a:solidFill>
                  <a:srgbClr val="C00000"/>
                </a:solidFill>
                <a:highlight>
                  <a:srgbClr val="F3F5F9"/>
                </a:highlight>
                <a:latin typeface="Calibri"/>
                <a:ea typeface="맑은 고딕"/>
                <a:cs typeface="Calibri"/>
              </a:rPr>
              <a:t>as important as</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 players.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⑤</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Here are some examples.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⑥</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Pacers run with other runners and lead them in a marathon.</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⑦</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Pacers are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experienced</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experiencing</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runners, and their job is to help other runners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managing</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manage</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their race better.</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⑧</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There can be several pacers in a race.</a:t>
            </a:r>
            <a:endParaRPr lang="en-US" altLang="ko-KR" sz="2200" b="0" dirty="0">
              <a:solidFill>
                <a:srgbClr val="1F2328"/>
              </a:solidFill>
              <a:latin typeface="Calibri"/>
              <a:ea typeface="맑은 고딕"/>
              <a:cs typeface="Calibri"/>
            </a:endParaRPr>
          </a:p>
        </p:txBody>
      </p:sp>
      <p:sp>
        <p:nvSpPr>
          <p:cNvPr id="13" name="rv_g05"/>
          <p:cNvSpPr txBox="1"/>
          <p:nvPr/>
        </p:nvSpPr>
        <p:spPr>
          <a:xfrm>
            <a:off x="457200" y="950976"/>
            <a:ext cx="11277295" cy="4379976"/>
          </a:xfrm>
          <a:prstGeom prst="rect">
            <a:avLst/>
          </a:prstGeom>
          <a:noFill/>
        </p:spPr>
        <p:txBody>
          <a:bodyPr wrap="square" lIns="228600" tIns="155448" rIns="228600" bIns="155448" anchor="t" rtlCol="0">
            <a:noAutofit/>
          </a:bodyPr>
          <a:lstStyle/>
          <a:p>
            <a:pPr algn="l">
              <a:lnSpc>
                <a:spcPts val="3560"/>
              </a:lnSpc>
              <a:spcBef>
                <a:spcPts val="0"/>
              </a:spcBef>
              <a:spcAft>
                <a:spcPts val="0"/>
              </a:spcAft>
              <a:buNone/>
            </a:pPr>
            <a:r>
              <a:rPr lang="ko-KR" altLang="en-US" sz="2200" b="1" dirty="0">
                <a:solidFill>
                  <a:srgbClr val="1E2A5A">
                    <a:alpha val="0"/>
                  </a:srgbClr>
                </a:solidFill>
                <a:latin typeface="맑은 고딕"/>
                <a:ea typeface="맑은 고딕"/>
                <a:cs typeface="맑은 고딕"/>
              </a:rPr>
              <a:t>①</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In sports, only the players get a trophy or medal, but they don’t win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on them own</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on their own</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②</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There are people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who help</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who helps</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 players.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③</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These people are often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hidden</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hiding</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and don’t get attention.</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④</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However, they are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as importantly as</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as important as</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 players.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⑤</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Here are some examples.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⑥</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Pacers run with other runners and lead them in a marathon.</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⑦</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Pacers are </a:t>
            </a:r>
            <a:r>
              <a:rPr lang="en-US" altLang="ko-KR" sz="2200" b="1" dirty="0">
                <a:solidFill>
                  <a:srgbClr val="1F2328">
                    <a:alpha val="0"/>
                  </a:srgbClr>
                </a:solidFill>
                <a:latin typeface="Calibri"/>
                <a:ea typeface="맑은 고딕"/>
                <a:cs typeface="Calibri"/>
              </a:rPr>
              <a:t>[ </a:t>
            </a:r>
            <a:r>
              <a:rPr lang="en-US" altLang="ko-KR" sz="2200" b="1" dirty="0">
                <a:solidFill>
                  <a:srgbClr val="C00000"/>
                </a:solidFill>
                <a:highlight>
                  <a:srgbClr val="F3F5F9"/>
                </a:highlight>
                <a:latin typeface="Calibri"/>
                <a:ea typeface="맑은 고딕"/>
                <a:cs typeface="Calibri"/>
              </a:rPr>
              <a:t>experienced</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experiencing</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runners, and their job is to help other runners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managing</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manage</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their race better.</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⑧</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There can be several pacers in a race.</a:t>
            </a:r>
            <a:endParaRPr lang="en-US" altLang="ko-KR" sz="2200" b="0" dirty="0">
              <a:solidFill>
                <a:srgbClr val="1F2328"/>
              </a:solidFill>
              <a:latin typeface="Calibri"/>
              <a:ea typeface="맑은 고딕"/>
              <a:cs typeface="Calibri"/>
            </a:endParaRPr>
          </a:p>
        </p:txBody>
      </p:sp>
      <p:sp>
        <p:nvSpPr>
          <p:cNvPr id="14" name="rv_g06"/>
          <p:cNvSpPr txBox="1"/>
          <p:nvPr/>
        </p:nvSpPr>
        <p:spPr>
          <a:xfrm>
            <a:off x="457200" y="950976"/>
            <a:ext cx="11277295" cy="4379976"/>
          </a:xfrm>
          <a:prstGeom prst="rect">
            <a:avLst/>
          </a:prstGeom>
          <a:noFill/>
        </p:spPr>
        <p:txBody>
          <a:bodyPr wrap="square" lIns="228600" tIns="155448" rIns="228600" bIns="155448" anchor="t" rtlCol="0">
            <a:noAutofit/>
          </a:bodyPr>
          <a:lstStyle/>
          <a:p>
            <a:pPr algn="l">
              <a:lnSpc>
                <a:spcPts val="3560"/>
              </a:lnSpc>
              <a:spcBef>
                <a:spcPts val="0"/>
              </a:spcBef>
              <a:spcAft>
                <a:spcPts val="0"/>
              </a:spcAft>
              <a:buNone/>
            </a:pPr>
            <a:r>
              <a:rPr lang="ko-KR" altLang="en-US" sz="2200" b="1" dirty="0">
                <a:solidFill>
                  <a:srgbClr val="1E2A5A">
                    <a:alpha val="0"/>
                  </a:srgbClr>
                </a:solidFill>
                <a:latin typeface="맑은 고딕"/>
                <a:ea typeface="맑은 고딕"/>
                <a:cs typeface="맑은 고딕"/>
              </a:rPr>
              <a:t>①</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In sports, only the players get a trophy or medal, but they don’t win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on them own</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on their own</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②</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There are people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who help</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who helps</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 players.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③</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These people are often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hidden</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hiding</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and don’t get attention.</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④</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However, they are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as importantly as</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as important as</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 players.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⑤</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Here are some examples.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⑥</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Pacers run with other runners and lead them in a marathon.</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⑦</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Pacers are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experienced</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experiencing</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runners, and their job is to help other runners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managing</a:t>
            </a:r>
            <a:r>
              <a:rPr lang="en-US" altLang="ko-KR" sz="2200" b="1" dirty="0">
                <a:solidFill>
                  <a:srgbClr val="1F2328">
                    <a:alpha val="0"/>
                  </a:srgbClr>
                </a:solidFill>
                <a:latin typeface="Calibri"/>
                <a:ea typeface="맑은 고딕"/>
                <a:cs typeface="Calibri"/>
              </a:rPr>
              <a:t> / </a:t>
            </a:r>
            <a:r>
              <a:rPr lang="en-US" altLang="ko-KR" sz="2200" b="1" dirty="0">
                <a:solidFill>
                  <a:srgbClr val="C00000"/>
                </a:solidFill>
                <a:highlight>
                  <a:srgbClr val="F3F5F9"/>
                </a:highlight>
                <a:latin typeface="Calibri"/>
                <a:ea typeface="맑은 고딕"/>
                <a:cs typeface="Calibri"/>
              </a:rPr>
              <a:t>manage</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their race better.</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⑧</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There can be several pacers in a race.</a:t>
            </a:r>
            <a:endParaRPr lang="en-US" altLang="ko-KR" sz="2200" b="0" dirty="0">
              <a:solidFill>
                <a:srgbClr val="1F2328"/>
              </a:solidFill>
              <a:latin typeface="Calibri"/>
              <a:ea typeface="맑은 고딕"/>
              <a:cs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25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25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25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250"/>
                                        <p:tgtEl>
                                          <p:spTgt spid="12"/>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250"/>
                                        <p:tgtEl>
                                          <p:spTgt spid="13"/>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4"/>
                                        </p:tgtEl>
                                        <p:attrNameLst>
                                          <p:attrName>style.visibility</p:attrName>
                                        </p:attrNameLst>
                                      </p:cBhvr>
                                      <p:to>
                                        <p:strVal val="visible"/>
                                      </p:to>
                                    </p:set>
                                    <p:animEffect transition="in" filter="fade">
                                      <p:cBhvr>
                                        <p:cTn id="32" dur="2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4" grpId="0" animBg="1"/>
    </p:bldLst>
  </p:timing>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L5-1</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3 · ②</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다음 글의 각 [  ] 안에서 문맥상 알맞은 것을 고르시오.</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5</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클릭할 때마다 괄호 속 정답이 앞에서부터 하나씩 빨간색으로 나타납니다 (총 5개)</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4832096"/>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4832096"/>
          </a:xfrm>
          <a:prstGeom prst="rect">
            <a:avLst/>
          </a:prstGeom>
          <a:noFill/>
        </p:spPr>
        <p:txBody>
          <a:bodyPr wrap="square" lIns="228600" tIns="155448" rIns="228600" bIns="155448" anchor="t" rtlCol="0">
            <a:noAutofit/>
          </a:bodyPr>
          <a:lstStyle/>
          <a:p>
            <a:pPr algn="l">
              <a:lnSpc>
                <a:spcPts val="3560"/>
              </a:lnSpc>
              <a:spcBef>
                <a:spcPts val="0"/>
              </a:spcBef>
              <a:spcAft>
                <a:spcPts val="0"/>
              </a:spcAft>
              <a:buNone/>
            </a:pPr>
            <a:r>
              <a:rPr lang="ko-KR" altLang="en-US" sz="2200" b="1" dirty="0">
                <a:solidFill>
                  <a:srgbClr val="1E2A5A"/>
                </a:solidFill>
                <a:latin typeface="맑은 고딕"/>
                <a:ea typeface="맑은 고딕"/>
                <a:cs typeface="맑은 고딕"/>
              </a:rPr>
              <a:t>①</a:t>
            </a:r>
            <a:r>
              <a:rPr lang="en-US" altLang="ko-KR" sz="2200" b="0"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In sports, only the players get a trophy or medal, but they </a:t>
            </a:r>
            <a:r>
              <a:rPr lang="en-US" altLang="ko-KR" sz="2200" b="1" dirty="0">
                <a:solidFill>
                  <a:srgbClr val="1F2328"/>
                </a:solidFill>
                <a:latin typeface="Calibri"/>
                <a:ea typeface="맑은 고딕"/>
                <a:cs typeface="Calibri"/>
              </a:rPr>
              <a:t>[ </a:t>
            </a:r>
            <a:r>
              <a:rPr lang="en-US" altLang="ko-KR" sz="2200" b="1" dirty="0">
                <a:solidFill>
                  <a:srgbClr val="1F2328"/>
                </a:solidFill>
                <a:latin typeface="Calibri"/>
                <a:ea typeface="맑은 고딕"/>
                <a:cs typeface="Calibri"/>
              </a:rPr>
              <a:t>don’t win</a:t>
            </a:r>
            <a:r>
              <a:rPr lang="en-US" altLang="ko-KR" sz="2200" b="1" dirty="0">
                <a:solidFill>
                  <a:srgbClr val="1F2328"/>
                </a:solidFill>
                <a:latin typeface="Calibri"/>
                <a:ea typeface="맑은 고딕"/>
                <a:cs typeface="Calibri"/>
              </a:rPr>
              <a:t> / </a:t>
            </a:r>
            <a:r>
              <a:rPr lang="en-US" altLang="ko-KR" sz="2200" b="1" dirty="0">
                <a:solidFill>
                  <a:srgbClr val="1F2328"/>
                </a:solidFill>
                <a:latin typeface="Calibri"/>
                <a:ea typeface="맑은 고딕"/>
                <a:cs typeface="Calibri"/>
              </a:rPr>
              <a:t>doesn’t win</a:t>
            </a:r>
            <a:r>
              <a:rPr lang="en-US" altLang="ko-KR" sz="2200" b="1"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 on their own.</a:t>
            </a:r>
            <a:r>
              <a:rPr lang="en-US" altLang="ko-KR" sz="2200" b="0" dirty="0">
                <a:solidFill>
                  <a:srgbClr val="1F2328"/>
                </a:solidFill>
                <a:latin typeface="Calibri"/>
                <a:ea typeface="맑은 고딕"/>
                <a:cs typeface="Calibri"/>
              </a:rPr>
              <a:t>   </a:t>
            </a:r>
            <a:r>
              <a:rPr lang="ko-KR" altLang="en-US" sz="2200" b="1" dirty="0">
                <a:solidFill>
                  <a:srgbClr val="1E2A5A"/>
                </a:solidFill>
                <a:latin typeface="맑은 고딕"/>
                <a:ea typeface="맑은 고딕"/>
                <a:cs typeface="맑은 고딕"/>
              </a:rPr>
              <a:t>②</a:t>
            </a:r>
            <a:r>
              <a:rPr lang="en-US" altLang="ko-KR" sz="2200" b="0"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There are people who help the players.</a:t>
            </a:r>
            <a:r>
              <a:rPr lang="en-US" altLang="ko-KR" sz="2200" b="0" dirty="0">
                <a:solidFill>
                  <a:srgbClr val="1F2328"/>
                </a:solidFill>
                <a:latin typeface="Calibri"/>
                <a:ea typeface="맑은 고딕"/>
                <a:cs typeface="Calibri"/>
              </a:rPr>
              <a:t>   </a:t>
            </a:r>
            <a:r>
              <a:rPr lang="ko-KR" altLang="en-US" sz="2200" b="1" dirty="0">
                <a:solidFill>
                  <a:srgbClr val="1E2A5A"/>
                </a:solidFill>
                <a:latin typeface="맑은 고딕"/>
                <a:ea typeface="맑은 고딕"/>
                <a:cs typeface="맑은 고딕"/>
              </a:rPr>
              <a:t>③</a:t>
            </a:r>
            <a:r>
              <a:rPr lang="en-US" altLang="ko-KR" sz="2200" b="0"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These people are often hidden and </a:t>
            </a:r>
            <a:r>
              <a:rPr lang="en-US" altLang="ko-KR" sz="2200" b="1" dirty="0">
                <a:solidFill>
                  <a:srgbClr val="1F2328"/>
                </a:solidFill>
                <a:latin typeface="Calibri"/>
                <a:ea typeface="맑은 고딕"/>
                <a:cs typeface="Calibri"/>
              </a:rPr>
              <a:t>[ </a:t>
            </a:r>
            <a:r>
              <a:rPr lang="en-US" altLang="ko-KR" sz="2200" b="1" dirty="0">
                <a:solidFill>
                  <a:srgbClr val="1F2328"/>
                </a:solidFill>
                <a:latin typeface="Calibri"/>
                <a:ea typeface="맑은 고딕"/>
                <a:cs typeface="Calibri"/>
              </a:rPr>
              <a:t>don’t get</a:t>
            </a:r>
            <a:r>
              <a:rPr lang="en-US" altLang="ko-KR" sz="2200" b="1" dirty="0">
                <a:solidFill>
                  <a:srgbClr val="1F2328"/>
                </a:solidFill>
                <a:latin typeface="Calibri"/>
                <a:ea typeface="맑은 고딕"/>
                <a:cs typeface="Calibri"/>
              </a:rPr>
              <a:t> / </a:t>
            </a:r>
            <a:r>
              <a:rPr lang="en-US" altLang="ko-KR" sz="2200" b="1" dirty="0">
                <a:solidFill>
                  <a:srgbClr val="1F2328"/>
                </a:solidFill>
                <a:latin typeface="Calibri"/>
                <a:ea typeface="맑은 고딕"/>
                <a:cs typeface="Calibri"/>
              </a:rPr>
              <a:t>doesn’t get</a:t>
            </a:r>
            <a:r>
              <a:rPr lang="en-US" altLang="ko-KR" sz="2200" b="1"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 attention.</a:t>
            </a:r>
            <a:r>
              <a:rPr lang="en-US" altLang="ko-KR" sz="2200" b="0" dirty="0">
                <a:solidFill>
                  <a:srgbClr val="1F2328"/>
                </a:solidFill>
                <a:latin typeface="Calibri"/>
                <a:ea typeface="맑은 고딕"/>
                <a:cs typeface="Calibri"/>
              </a:rPr>
              <a:t>   </a:t>
            </a:r>
            <a:r>
              <a:rPr lang="ko-KR" altLang="en-US" sz="2200" b="1" dirty="0">
                <a:solidFill>
                  <a:srgbClr val="1E2A5A"/>
                </a:solidFill>
                <a:latin typeface="맑은 고딕"/>
                <a:ea typeface="맑은 고딕"/>
                <a:cs typeface="맑은 고딕"/>
              </a:rPr>
              <a:t>④</a:t>
            </a:r>
            <a:r>
              <a:rPr lang="en-US" altLang="ko-KR" sz="2200" b="0"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However, they are as important as the players.</a:t>
            </a:r>
            <a:r>
              <a:rPr lang="en-US" altLang="ko-KR" sz="2200" b="0" dirty="0">
                <a:solidFill>
                  <a:srgbClr val="1F2328"/>
                </a:solidFill>
                <a:latin typeface="Calibri"/>
                <a:ea typeface="맑은 고딕"/>
                <a:cs typeface="Calibri"/>
              </a:rPr>
              <a:t>   </a:t>
            </a:r>
            <a:r>
              <a:rPr lang="ko-KR" altLang="en-US" sz="2200" b="1" dirty="0">
                <a:solidFill>
                  <a:srgbClr val="1E2A5A"/>
                </a:solidFill>
                <a:latin typeface="맑은 고딕"/>
                <a:ea typeface="맑은 고딕"/>
                <a:cs typeface="맑은 고딕"/>
              </a:rPr>
              <a:t>⑤</a:t>
            </a:r>
            <a:r>
              <a:rPr lang="en-US" altLang="ko-KR" sz="2200" b="0" dirty="0">
                <a:solidFill>
                  <a:srgbClr val="1F2328"/>
                </a:solidFill>
                <a:latin typeface="Calibri"/>
                <a:ea typeface="맑은 고딕"/>
                <a:cs typeface="Calibri"/>
              </a:rPr>
              <a:t> </a:t>
            </a:r>
            <a:r>
              <a:rPr lang="en-US" altLang="ko-KR" sz="2200" b="1" dirty="0">
                <a:solidFill>
                  <a:srgbClr val="1F2328"/>
                </a:solidFill>
                <a:latin typeface="Calibri"/>
                <a:ea typeface="맑은 고딕"/>
                <a:cs typeface="Calibri"/>
              </a:rPr>
              <a:t>[ </a:t>
            </a:r>
            <a:r>
              <a:rPr lang="en-US" altLang="ko-KR" sz="2200" b="1" dirty="0">
                <a:solidFill>
                  <a:srgbClr val="1F2328"/>
                </a:solidFill>
                <a:latin typeface="Calibri"/>
                <a:ea typeface="맑은 고딕"/>
                <a:cs typeface="Calibri"/>
              </a:rPr>
              <a:t>Here are</a:t>
            </a:r>
            <a:r>
              <a:rPr lang="en-US" altLang="ko-KR" sz="2200" b="1" dirty="0">
                <a:solidFill>
                  <a:srgbClr val="1F2328"/>
                </a:solidFill>
                <a:latin typeface="Calibri"/>
                <a:ea typeface="맑은 고딕"/>
                <a:cs typeface="Calibri"/>
              </a:rPr>
              <a:t> / </a:t>
            </a:r>
            <a:r>
              <a:rPr lang="en-US" altLang="ko-KR" sz="2200" b="1" dirty="0">
                <a:solidFill>
                  <a:srgbClr val="1F2328"/>
                </a:solidFill>
                <a:latin typeface="Calibri"/>
                <a:ea typeface="맑은 고딕"/>
                <a:cs typeface="Calibri"/>
              </a:rPr>
              <a:t>Here is</a:t>
            </a:r>
            <a:r>
              <a:rPr lang="en-US" altLang="ko-KR" sz="2200" b="1"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 some examples.</a:t>
            </a:r>
            <a:r>
              <a:rPr lang="en-US" altLang="ko-KR" sz="2200" b="0" dirty="0">
                <a:solidFill>
                  <a:srgbClr val="1F2328"/>
                </a:solidFill>
                <a:latin typeface="Calibri"/>
                <a:ea typeface="맑은 고딕"/>
                <a:cs typeface="Calibri"/>
              </a:rPr>
              <a:t>   </a:t>
            </a:r>
            <a:r>
              <a:rPr lang="ko-KR" altLang="en-US" sz="2200" b="1" dirty="0">
                <a:solidFill>
                  <a:srgbClr val="1E2A5A"/>
                </a:solidFill>
                <a:latin typeface="맑은 고딕"/>
                <a:ea typeface="맑은 고딕"/>
                <a:cs typeface="맑은 고딕"/>
              </a:rPr>
              <a:t>⑥</a:t>
            </a:r>
            <a:r>
              <a:rPr lang="en-US" altLang="ko-KR" sz="2200" b="0"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Pacers run with other runners and </a:t>
            </a:r>
            <a:r>
              <a:rPr lang="en-US" altLang="ko-KR" sz="2200" b="1" dirty="0">
                <a:solidFill>
                  <a:srgbClr val="1F2328"/>
                </a:solidFill>
                <a:latin typeface="Calibri"/>
                <a:ea typeface="맑은 고딕"/>
                <a:cs typeface="Calibri"/>
              </a:rPr>
              <a:t>[ </a:t>
            </a:r>
            <a:r>
              <a:rPr lang="en-US" altLang="ko-KR" sz="2200" b="1" dirty="0">
                <a:solidFill>
                  <a:srgbClr val="1F2328"/>
                </a:solidFill>
                <a:latin typeface="Calibri"/>
                <a:ea typeface="맑은 고딕"/>
                <a:cs typeface="Calibri"/>
              </a:rPr>
              <a:t>lead them</a:t>
            </a:r>
            <a:r>
              <a:rPr lang="en-US" altLang="ko-KR" sz="2200" b="1" dirty="0">
                <a:solidFill>
                  <a:srgbClr val="1F2328"/>
                </a:solidFill>
                <a:latin typeface="Calibri"/>
                <a:ea typeface="맑은 고딕"/>
                <a:cs typeface="Calibri"/>
              </a:rPr>
              <a:t> / </a:t>
            </a:r>
            <a:r>
              <a:rPr lang="en-US" altLang="ko-KR" sz="2200" b="1" dirty="0">
                <a:solidFill>
                  <a:srgbClr val="1F2328"/>
                </a:solidFill>
                <a:latin typeface="Calibri"/>
                <a:ea typeface="맑은 고딕"/>
                <a:cs typeface="Calibri"/>
              </a:rPr>
              <a:t>leads them</a:t>
            </a:r>
            <a:r>
              <a:rPr lang="en-US" altLang="ko-KR" sz="2200" b="1"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 in a marathon.</a:t>
            </a:r>
            <a:r>
              <a:rPr lang="en-US" altLang="ko-KR" sz="2200" b="0" dirty="0">
                <a:solidFill>
                  <a:srgbClr val="1F2328"/>
                </a:solidFill>
                <a:latin typeface="Calibri"/>
                <a:ea typeface="맑은 고딕"/>
                <a:cs typeface="Calibri"/>
              </a:rPr>
              <a:t>   </a:t>
            </a:r>
            <a:r>
              <a:rPr lang="ko-KR" altLang="en-US" sz="2200" b="1" dirty="0">
                <a:solidFill>
                  <a:srgbClr val="1E2A5A"/>
                </a:solidFill>
                <a:latin typeface="맑은 고딕"/>
                <a:ea typeface="맑은 고딕"/>
                <a:cs typeface="맑은 고딕"/>
              </a:rPr>
              <a:t>⑦</a:t>
            </a:r>
            <a:r>
              <a:rPr lang="en-US" altLang="ko-KR" sz="2200" b="0"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Pacers are experienced runners, and their job is to help other runners manage their race better.</a:t>
            </a:r>
            <a:r>
              <a:rPr lang="en-US" altLang="ko-KR" sz="2200" b="0" dirty="0">
                <a:solidFill>
                  <a:srgbClr val="1F2328"/>
                </a:solidFill>
                <a:latin typeface="Calibri"/>
                <a:ea typeface="맑은 고딕"/>
                <a:cs typeface="Calibri"/>
              </a:rPr>
              <a:t>   </a:t>
            </a:r>
            <a:r>
              <a:rPr lang="ko-KR" altLang="en-US" sz="2200" b="1" dirty="0">
                <a:solidFill>
                  <a:srgbClr val="1E2A5A"/>
                </a:solidFill>
                <a:latin typeface="맑은 고딕"/>
                <a:ea typeface="맑은 고딕"/>
                <a:cs typeface="맑은 고딕"/>
              </a:rPr>
              <a:t>⑧</a:t>
            </a:r>
            <a:r>
              <a:rPr lang="en-US" altLang="ko-KR" sz="2200" b="0" dirty="0">
                <a:solidFill>
                  <a:srgbClr val="1F2328"/>
                </a:solidFill>
                <a:latin typeface="Calibri"/>
                <a:ea typeface="맑은 고딕"/>
                <a:cs typeface="Calibri"/>
              </a:rPr>
              <a:t> </a:t>
            </a:r>
            <a:r>
              <a:rPr lang="en-US" altLang="ko-KR" sz="2200" b="1" dirty="0">
                <a:solidFill>
                  <a:srgbClr val="1F2328"/>
                </a:solidFill>
                <a:latin typeface="Calibri"/>
                <a:ea typeface="맑은 고딕"/>
                <a:cs typeface="Calibri"/>
              </a:rPr>
              <a:t>[ </a:t>
            </a:r>
            <a:r>
              <a:rPr lang="en-US" altLang="ko-KR" sz="2200" b="1" dirty="0">
                <a:solidFill>
                  <a:srgbClr val="1F2328"/>
                </a:solidFill>
                <a:latin typeface="Calibri"/>
                <a:ea typeface="맑은 고딕"/>
                <a:cs typeface="Calibri"/>
              </a:rPr>
              <a:t>There can be several pacers</a:t>
            </a:r>
            <a:r>
              <a:rPr lang="en-US" altLang="ko-KR" sz="2200" b="1" dirty="0">
                <a:solidFill>
                  <a:srgbClr val="1F2328"/>
                </a:solidFill>
                <a:latin typeface="Calibri"/>
                <a:ea typeface="맑은 고딕"/>
                <a:cs typeface="Calibri"/>
              </a:rPr>
              <a:t> / </a:t>
            </a:r>
            <a:r>
              <a:rPr lang="en-US" altLang="ko-KR" sz="2200" b="1" dirty="0">
                <a:solidFill>
                  <a:srgbClr val="1F2328"/>
                </a:solidFill>
                <a:latin typeface="Calibri"/>
                <a:ea typeface="맑은 고딕"/>
                <a:cs typeface="Calibri"/>
              </a:rPr>
              <a:t>There can be several pacer</a:t>
            </a:r>
            <a:r>
              <a:rPr lang="en-US" altLang="ko-KR" sz="2200" b="1"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 in a race.</a:t>
            </a:r>
            <a:endParaRPr lang="en-US" altLang="ko-KR" sz="2200" b="0" dirty="0">
              <a:solidFill>
                <a:srgbClr val="1F2328"/>
              </a:solidFill>
              <a:latin typeface="Calibri"/>
              <a:ea typeface="맑은 고딕"/>
              <a:cs typeface="Calibri"/>
            </a:endParaRPr>
          </a:p>
        </p:txBody>
      </p:sp>
      <p:sp>
        <p:nvSpPr>
          <p:cNvPr id="9" name="rv_g01"/>
          <p:cNvSpPr txBox="1"/>
          <p:nvPr/>
        </p:nvSpPr>
        <p:spPr>
          <a:xfrm>
            <a:off x="457200" y="950976"/>
            <a:ext cx="11277295" cy="4832096"/>
          </a:xfrm>
          <a:prstGeom prst="rect">
            <a:avLst/>
          </a:prstGeom>
          <a:noFill/>
        </p:spPr>
        <p:txBody>
          <a:bodyPr wrap="square" lIns="228600" tIns="155448" rIns="228600" bIns="155448" anchor="t" rtlCol="0">
            <a:noAutofit/>
          </a:bodyPr>
          <a:lstStyle/>
          <a:p>
            <a:pPr algn="l">
              <a:lnSpc>
                <a:spcPts val="3560"/>
              </a:lnSpc>
              <a:spcBef>
                <a:spcPts val="0"/>
              </a:spcBef>
              <a:spcAft>
                <a:spcPts val="0"/>
              </a:spcAft>
              <a:buNone/>
            </a:pPr>
            <a:r>
              <a:rPr lang="ko-KR" altLang="en-US" sz="2200" b="1" dirty="0">
                <a:solidFill>
                  <a:srgbClr val="1E2A5A">
                    <a:alpha val="0"/>
                  </a:srgbClr>
                </a:solidFill>
                <a:latin typeface="맑은 고딕"/>
                <a:ea typeface="맑은 고딕"/>
                <a:cs typeface="맑은 고딕"/>
              </a:rPr>
              <a:t>①</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In sports, only the players get a trophy or medal, but they </a:t>
            </a:r>
            <a:r>
              <a:rPr lang="en-US" altLang="ko-KR" sz="2200" b="1" dirty="0">
                <a:solidFill>
                  <a:srgbClr val="1F2328">
                    <a:alpha val="0"/>
                  </a:srgbClr>
                </a:solidFill>
                <a:latin typeface="Calibri"/>
                <a:ea typeface="맑은 고딕"/>
                <a:cs typeface="Calibri"/>
              </a:rPr>
              <a:t>[ </a:t>
            </a:r>
            <a:r>
              <a:rPr lang="en-US" altLang="ko-KR" sz="2200" b="1" dirty="0">
                <a:solidFill>
                  <a:srgbClr val="C00000"/>
                </a:solidFill>
                <a:highlight>
                  <a:srgbClr val="F3F5F9"/>
                </a:highlight>
                <a:latin typeface="Calibri"/>
                <a:ea typeface="맑은 고딕"/>
                <a:cs typeface="Calibri"/>
              </a:rPr>
              <a:t>don’t win</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doesn’t win</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on their own.</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②</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There are people who help the players.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③</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These people are often hidden and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don’t get</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doesn’t get</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attention.</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④</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However, they are as important as the players.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⑤</a:t>
            </a:r>
            <a:r>
              <a:rPr lang="en-US" altLang="ko-KR" sz="2200" b="0"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Here are</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Here is</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some examples.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⑥</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Pacers run with other runners and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lead them</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leads them</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in a marathon.</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⑦</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Pacers are experienced runners, and their job is to help other runners manage their race better.</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⑧</a:t>
            </a:r>
            <a:r>
              <a:rPr lang="en-US" altLang="ko-KR" sz="2200" b="0"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There can be several pacers</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There can be several pacer</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in a race.</a:t>
            </a:r>
            <a:endParaRPr lang="en-US" altLang="ko-KR" sz="2200" b="0" dirty="0">
              <a:solidFill>
                <a:srgbClr val="1F2328"/>
              </a:solidFill>
              <a:latin typeface="Calibri"/>
              <a:ea typeface="맑은 고딕"/>
              <a:cs typeface="Calibri"/>
            </a:endParaRPr>
          </a:p>
        </p:txBody>
      </p:sp>
      <p:sp>
        <p:nvSpPr>
          <p:cNvPr id="10" name="rv_g02"/>
          <p:cNvSpPr txBox="1"/>
          <p:nvPr/>
        </p:nvSpPr>
        <p:spPr>
          <a:xfrm>
            <a:off x="457200" y="950976"/>
            <a:ext cx="11277295" cy="4832096"/>
          </a:xfrm>
          <a:prstGeom prst="rect">
            <a:avLst/>
          </a:prstGeom>
          <a:noFill/>
        </p:spPr>
        <p:txBody>
          <a:bodyPr wrap="square" lIns="228600" tIns="155448" rIns="228600" bIns="155448" anchor="t" rtlCol="0">
            <a:noAutofit/>
          </a:bodyPr>
          <a:lstStyle/>
          <a:p>
            <a:pPr algn="l">
              <a:lnSpc>
                <a:spcPts val="3560"/>
              </a:lnSpc>
              <a:spcBef>
                <a:spcPts val="0"/>
              </a:spcBef>
              <a:spcAft>
                <a:spcPts val="0"/>
              </a:spcAft>
              <a:buNone/>
            </a:pPr>
            <a:r>
              <a:rPr lang="ko-KR" altLang="en-US" sz="2200" b="1" dirty="0">
                <a:solidFill>
                  <a:srgbClr val="1E2A5A">
                    <a:alpha val="0"/>
                  </a:srgbClr>
                </a:solidFill>
                <a:latin typeface="맑은 고딕"/>
                <a:ea typeface="맑은 고딕"/>
                <a:cs typeface="맑은 고딕"/>
              </a:rPr>
              <a:t>①</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In sports, only the players get a trophy or medal, but they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don’t win</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doesn’t win</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on their own.</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②</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There are people who help the players.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③</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These people are often hidden and </a:t>
            </a:r>
            <a:r>
              <a:rPr lang="en-US" altLang="ko-KR" sz="2200" b="1" dirty="0">
                <a:solidFill>
                  <a:srgbClr val="1F2328">
                    <a:alpha val="0"/>
                  </a:srgbClr>
                </a:solidFill>
                <a:latin typeface="Calibri"/>
                <a:ea typeface="맑은 고딕"/>
                <a:cs typeface="Calibri"/>
              </a:rPr>
              <a:t>[ </a:t>
            </a:r>
            <a:r>
              <a:rPr lang="en-US" altLang="ko-KR" sz="2200" b="1" dirty="0">
                <a:solidFill>
                  <a:srgbClr val="C00000"/>
                </a:solidFill>
                <a:highlight>
                  <a:srgbClr val="F3F5F9"/>
                </a:highlight>
                <a:latin typeface="Calibri"/>
                <a:ea typeface="맑은 고딕"/>
                <a:cs typeface="Calibri"/>
              </a:rPr>
              <a:t>don’t get</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doesn’t get</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attention.</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④</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However, they are as important as the players.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⑤</a:t>
            </a:r>
            <a:r>
              <a:rPr lang="en-US" altLang="ko-KR" sz="2200" b="0"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Here are</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Here is</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some examples.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⑥</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Pacers run with other runners and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lead them</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leads them</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in a marathon.</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⑦</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Pacers are experienced runners, and their job is to help other runners manage their race better.</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⑧</a:t>
            </a:r>
            <a:r>
              <a:rPr lang="en-US" altLang="ko-KR" sz="2200" b="0"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There can be several pacers</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There can be several pacer</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in a race.</a:t>
            </a:r>
            <a:endParaRPr lang="en-US" altLang="ko-KR" sz="2200" b="0" dirty="0">
              <a:solidFill>
                <a:srgbClr val="1F2328"/>
              </a:solidFill>
              <a:latin typeface="Calibri"/>
              <a:ea typeface="맑은 고딕"/>
              <a:cs typeface="Calibri"/>
            </a:endParaRPr>
          </a:p>
        </p:txBody>
      </p:sp>
      <p:sp>
        <p:nvSpPr>
          <p:cNvPr id="11" name="rv_g03"/>
          <p:cNvSpPr txBox="1"/>
          <p:nvPr/>
        </p:nvSpPr>
        <p:spPr>
          <a:xfrm>
            <a:off x="457200" y="950976"/>
            <a:ext cx="11277295" cy="4832096"/>
          </a:xfrm>
          <a:prstGeom prst="rect">
            <a:avLst/>
          </a:prstGeom>
          <a:noFill/>
        </p:spPr>
        <p:txBody>
          <a:bodyPr wrap="square" lIns="228600" tIns="155448" rIns="228600" bIns="155448" anchor="t" rtlCol="0">
            <a:noAutofit/>
          </a:bodyPr>
          <a:lstStyle/>
          <a:p>
            <a:pPr algn="l">
              <a:lnSpc>
                <a:spcPts val="3560"/>
              </a:lnSpc>
              <a:spcBef>
                <a:spcPts val="0"/>
              </a:spcBef>
              <a:spcAft>
                <a:spcPts val="0"/>
              </a:spcAft>
              <a:buNone/>
            </a:pPr>
            <a:r>
              <a:rPr lang="ko-KR" altLang="en-US" sz="2200" b="1" dirty="0">
                <a:solidFill>
                  <a:srgbClr val="1E2A5A">
                    <a:alpha val="0"/>
                  </a:srgbClr>
                </a:solidFill>
                <a:latin typeface="맑은 고딕"/>
                <a:ea typeface="맑은 고딕"/>
                <a:cs typeface="맑은 고딕"/>
              </a:rPr>
              <a:t>①</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In sports, only the players get a trophy or medal, but they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don’t win</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doesn’t win</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on their own.</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②</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There are people who help the players.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③</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These people are often hidden and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don’t get</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doesn’t get</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attention.</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④</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However, they are as important as the players.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⑤</a:t>
            </a:r>
            <a:r>
              <a:rPr lang="en-US" altLang="ko-KR" sz="2200" b="0"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 </a:t>
            </a:r>
            <a:r>
              <a:rPr lang="en-US" altLang="ko-KR" sz="2200" b="1" dirty="0">
                <a:solidFill>
                  <a:srgbClr val="C00000"/>
                </a:solidFill>
                <a:highlight>
                  <a:srgbClr val="F3F5F9"/>
                </a:highlight>
                <a:latin typeface="Calibri"/>
                <a:ea typeface="맑은 고딕"/>
                <a:cs typeface="Calibri"/>
              </a:rPr>
              <a:t>Here are</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Here is</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some examples.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⑥</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Pacers run with other runners and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lead them</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leads them</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in a marathon.</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⑦</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Pacers are experienced runners, and their job is to help other runners manage their race better.</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⑧</a:t>
            </a:r>
            <a:r>
              <a:rPr lang="en-US" altLang="ko-KR" sz="2200" b="0"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There can be several pacers</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There can be several pacer</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in a race.</a:t>
            </a:r>
            <a:endParaRPr lang="en-US" altLang="ko-KR" sz="2200" b="0" dirty="0">
              <a:solidFill>
                <a:srgbClr val="1F2328"/>
              </a:solidFill>
              <a:latin typeface="Calibri"/>
              <a:ea typeface="맑은 고딕"/>
              <a:cs typeface="Calibri"/>
            </a:endParaRPr>
          </a:p>
        </p:txBody>
      </p:sp>
      <p:sp>
        <p:nvSpPr>
          <p:cNvPr id="12" name="rv_g04"/>
          <p:cNvSpPr txBox="1"/>
          <p:nvPr/>
        </p:nvSpPr>
        <p:spPr>
          <a:xfrm>
            <a:off x="457200" y="950976"/>
            <a:ext cx="11277295" cy="4832096"/>
          </a:xfrm>
          <a:prstGeom prst="rect">
            <a:avLst/>
          </a:prstGeom>
          <a:noFill/>
        </p:spPr>
        <p:txBody>
          <a:bodyPr wrap="square" lIns="228600" tIns="155448" rIns="228600" bIns="155448" anchor="t" rtlCol="0">
            <a:noAutofit/>
          </a:bodyPr>
          <a:lstStyle/>
          <a:p>
            <a:pPr algn="l">
              <a:lnSpc>
                <a:spcPts val="3560"/>
              </a:lnSpc>
              <a:spcBef>
                <a:spcPts val="0"/>
              </a:spcBef>
              <a:spcAft>
                <a:spcPts val="0"/>
              </a:spcAft>
              <a:buNone/>
            </a:pPr>
            <a:r>
              <a:rPr lang="ko-KR" altLang="en-US" sz="2200" b="1" dirty="0">
                <a:solidFill>
                  <a:srgbClr val="1E2A5A">
                    <a:alpha val="0"/>
                  </a:srgbClr>
                </a:solidFill>
                <a:latin typeface="맑은 고딕"/>
                <a:ea typeface="맑은 고딕"/>
                <a:cs typeface="맑은 고딕"/>
              </a:rPr>
              <a:t>①</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In sports, only the players get a trophy or medal, but they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don’t win</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doesn’t win</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on their own.</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②</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There are people who help the players.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③</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These people are often hidden and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don’t get</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doesn’t get</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attention.</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④</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However, they are as important as the players.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⑤</a:t>
            </a:r>
            <a:r>
              <a:rPr lang="en-US" altLang="ko-KR" sz="2200" b="0"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Here are</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Here is</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some examples.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⑥</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Pacers run with other runners and </a:t>
            </a:r>
            <a:r>
              <a:rPr lang="en-US" altLang="ko-KR" sz="2200" b="1" dirty="0">
                <a:solidFill>
                  <a:srgbClr val="1F2328">
                    <a:alpha val="0"/>
                  </a:srgbClr>
                </a:solidFill>
                <a:latin typeface="Calibri"/>
                <a:ea typeface="맑은 고딕"/>
                <a:cs typeface="Calibri"/>
              </a:rPr>
              <a:t>[ </a:t>
            </a:r>
            <a:r>
              <a:rPr lang="en-US" altLang="ko-KR" sz="2200" b="1" dirty="0">
                <a:solidFill>
                  <a:srgbClr val="C00000"/>
                </a:solidFill>
                <a:highlight>
                  <a:srgbClr val="F3F5F9"/>
                </a:highlight>
                <a:latin typeface="Calibri"/>
                <a:ea typeface="맑은 고딕"/>
                <a:cs typeface="Calibri"/>
              </a:rPr>
              <a:t>lead them</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leads them</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in a marathon.</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⑦</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Pacers are experienced runners, and their job is to help other runners manage their race better.</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⑧</a:t>
            </a:r>
            <a:r>
              <a:rPr lang="en-US" altLang="ko-KR" sz="2200" b="0"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There can be several pacers</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There can be several pacer</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in a race.</a:t>
            </a:r>
            <a:endParaRPr lang="en-US" altLang="ko-KR" sz="2200" b="0" dirty="0">
              <a:solidFill>
                <a:srgbClr val="1F2328"/>
              </a:solidFill>
              <a:latin typeface="Calibri"/>
              <a:ea typeface="맑은 고딕"/>
              <a:cs typeface="Calibri"/>
            </a:endParaRPr>
          </a:p>
        </p:txBody>
      </p:sp>
      <p:sp>
        <p:nvSpPr>
          <p:cNvPr id="13" name="rv_g05"/>
          <p:cNvSpPr txBox="1"/>
          <p:nvPr/>
        </p:nvSpPr>
        <p:spPr>
          <a:xfrm>
            <a:off x="457200" y="950976"/>
            <a:ext cx="11277295" cy="4832096"/>
          </a:xfrm>
          <a:prstGeom prst="rect">
            <a:avLst/>
          </a:prstGeom>
          <a:noFill/>
        </p:spPr>
        <p:txBody>
          <a:bodyPr wrap="square" lIns="228600" tIns="155448" rIns="228600" bIns="155448" anchor="t" rtlCol="0">
            <a:noAutofit/>
          </a:bodyPr>
          <a:lstStyle/>
          <a:p>
            <a:pPr algn="l">
              <a:lnSpc>
                <a:spcPts val="3560"/>
              </a:lnSpc>
              <a:spcBef>
                <a:spcPts val="0"/>
              </a:spcBef>
              <a:spcAft>
                <a:spcPts val="0"/>
              </a:spcAft>
              <a:buNone/>
            </a:pPr>
            <a:r>
              <a:rPr lang="ko-KR" altLang="en-US" sz="2200" b="1" dirty="0">
                <a:solidFill>
                  <a:srgbClr val="1E2A5A">
                    <a:alpha val="0"/>
                  </a:srgbClr>
                </a:solidFill>
                <a:latin typeface="맑은 고딕"/>
                <a:ea typeface="맑은 고딕"/>
                <a:cs typeface="맑은 고딕"/>
              </a:rPr>
              <a:t>①</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In sports, only the players get a trophy or medal, but they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don’t win</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doesn’t win</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on their own.</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②</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There are people who help the players.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③</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These people are often hidden and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don’t get</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doesn’t get</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attention.</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④</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However, they are as important as the players.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⑤</a:t>
            </a:r>
            <a:r>
              <a:rPr lang="en-US" altLang="ko-KR" sz="2200" b="0"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Here are</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Here is</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some examples.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⑥</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Pacers run with other runners and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lead them</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leads them</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in a marathon.</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⑦</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Pacers are experienced runners, and their job is to help other runners manage their race better.</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⑧</a:t>
            </a:r>
            <a:r>
              <a:rPr lang="en-US" altLang="ko-KR" sz="2200" b="0"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 </a:t>
            </a:r>
            <a:r>
              <a:rPr lang="en-US" altLang="ko-KR" sz="2200" b="1" dirty="0">
                <a:solidFill>
                  <a:srgbClr val="C00000"/>
                </a:solidFill>
                <a:highlight>
                  <a:srgbClr val="F3F5F9"/>
                </a:highlight>
                <a:latin typeface="Calibri"/>
                <a:ea typeface="맑은 고딕"/>
                <a:cs typeface="Calibri"/>
              </a:rPr>
              <a:t>There can be several pacers</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There can be several pacer</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in a race.</a:t>
            </a:r>
            <a:endParaRPr lang="en-US" altLang="ko-KR" sz="2200" b="0" dirty="0">
              <a:solidFill>
                <a:srgbClr val="1F2328"/>
              </a:solidFill>
              <a:latin typeface="Calibri"/>
              <a:ea typeface="맑은 고딕"/>
              <a:cs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25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25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25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250"/>
                                        <p:tgtEl>
                                          <p:spTgt spid="12"/>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2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Lst>
  </p:timing>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L5-2</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1 · 1</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1. 다음 글의 주제로 가장 적절한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5</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본문 근거 형광 + 정답 원리</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151257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1512570"/>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1F2328"/>
                </a:solidFill>
                <a:latin typeface="Calibri"/>
                <a:ea typeface="맑은 고딕"/>
                <a:cs typeface="Calibri"/>
              </a:rPr>
              <a:t>Each pacer runs at different speeds and finishes the race in different times. Pacers usually have flags or balloons showing their finish time. </a:t>
            </a:r>
            <a:r>
              <a:rPr lang="en-US" altLang="ko-KR" sz="1500" b="0" dirty="0">
                <a:solidFill>
                  <a:srgbClr val="1F2328"/>
                </a:solidFill>
                <a:latin typeface="Calibri"/>
                <a:ea typeface="맑은 고딕"/>
                <a:cs typeface="Calibri"/>
              </a:rPr>
              <a:t>Runners can choose a pacer depending on their target finish time.</a:t>
            </a:r>
            <a:r>
              <a:rPr lang="en-US" altLang="ko-KR" sz="1500" b="0" dirty="0">
                <a:solidFill>
                  <a:srgbClr val="1F2328"/>
                </a:solidFill>
                <a:latin typeface="Calibri"/>
                <a:ea typeface="맑은 고딕"/>
                <a:cs typeface="Calibri"/>
              </a:rPr>
              <a:t> For example, if a runner wants to finish the race in four hours, the runner will follow the four‑hour pacer. </a:t>
            </a:r>
            <a:r>
              <a:rPr lang="en-US" altLang="ko-KR" sz="1500" b="0" dirty="0">
                <a:solidFill>
                  <a:srgbClr val="1F2328"/>
                </a:solidFill>
                <a:latin typeface="Calibri"/>
                <a:ea typeface="맑은 고딕"/>
                <a:cs typeface="Calibri"/>
              </a:rPr>
              <a:t>Since the pacer keeps track of the time, the runner can achieve his or her goal of finishing the marathon in a particular time more easily.</a:t>
            </a:r>
            <a:r>
              <a:rPr lang="en-US" altLang="ko-KR" sz="1500" b="0" dirty="0">
                <a:solidFill>
                  <a:srgbClr val="1F2328"/>
                </a:solidFill>
                <a:latin typeface="Calibri"/>
                <a:ea typeface="맑은 고딕"/>
                <a:cs typeface="Calibri"/>
              </a:rPr>
              <a:t> In short, pacers run but they don’t run to win. They run for others.</a:t>
            </a:r>
            <a:endParaRPr lang="en-US" altLang="ko-KR" sz="1500" b="0" dirty="0">
              <a:solidFill>
                <a:srgbClr val="1F2328"/>
              </a:solidFill>
              <a:latin typeface="Calibri"/>
              <a:ea typeface="맑은 고딕"/>
              <a:cs typeface="Calibri"/>
            </a:endParaRPr>
          </a:p>
        </p:txBody>
      </p:sp>
      <p:sp>
        <p:nvSpPr>
          <p:cNvPr id="9" name="rv_evidence_card"/>
          <p:cNvSpPr/>
          <p:nvPr/>
        </p:nvSpPr>
        <p:spPr>
          <a:xfrm>
            <a:off x="457200" y="950976"/>
            <a:ext cx="11277295" cy="151257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rv_evidence"/>
          <p:cNvSpPr txBox="1"/>
          <p:nvPr/>
        </p:nvSpPr>
        <p:spPr>
          <a:xfrm>
            <a:off x="457200" y="950976"/>
            <a:ext cx="11277295" cy="1512570"/>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B3BAC6"/>
                </a:solidFill>
                <a:latin typeface="Calibri"/>
                <a:ea typeface="맑은 고딕"/>
                <a:cs typeface="Calibri"/>
              </a:rPr>
              <a:t>Each pacer runs at different speeds and finishes the race in different times. Pacers usually have flags or balloons showing their finish time. </a:t>
            </a:r>
            <a:r>
              <a:rPr lang="en-US" altLang="ko-KR" sz="1500" b="0" dirty="0">
                <a:solidFill>
                  <a:srgbClr val="111111"/>
                </a:solidFill>
                <a:highlight>
                  <a:srgbClr val="FFE45C"/>
                </a:highlight>
                <a:latin typeface="Calibri"/>
                <a:ea typeface="맑은 고딕"/>
                <a:cs typeface="Calibri"/>
              </a:rPr>
              <a:t>Runners can choose a pacer depending on their target finish time.</a:t>
            </a:r>
            <a:r>
              <a:rPr lang="en-US" altLang="ko-KR" sz="1500" b="0" dirty="0">
                <a:solidFill>
                  <a:srgbClr val="B3BAC6"/>
                </a:solidFill>
                <a:latin typeface="Calibri"/>
                <a:ea typeface="맑은 고딕"/>
                <a:cs typeface="Calibri"/>
              </a:rPr>
              <a:t> For example, if a runner wants to finish the race in four hours, the runner will follow the four‑hour pacer. </a:t>
            </a:r>
            <a:r>
              <a:rPr lang="en-US" altLang="ko-KR" sz="1500" b="0" dirty="0">
                <a:solidFill>
                  <a:srgbClr val="111111"/>
                </a:solidFill>
                <a:highlight>
                  <a:srgbClr val="FFE45C"/>
                </a:highlight>
                <a:latin typeface="Calibri"/>
                <a:ea typeface="맑은 고딕"/>
                <a:cs typeface="Calibri"/>
              </a:rPr>
              <a:t>Since the pacer keeps track of the time, the runner can achieve his or her goal of finishing the marathon in a particular time more easily.</a:t>
            </a:r>
            <a:r>
              <a:rPr lang="en-US" altLang="ko-KR" sz="1500" b="0" dirty="0">
                <a:solidFill>
                  <a:srgbClr val="B3BAC6"/>
                </a:solidFill>
                <a:latin typeface="Calibri"/>
                <a:ea typeface="맑은 고딕"/>
                <a:cs typeface="Calibri"/>
              </a:rPr>
              <a:t> In short, pacers run but they don’t run to win. They run for others.</a:t>
            </a:r>
            <a:endParaRPr lang="en-US" altLang="ko-KR" sz="1500" b="0" dirty="0">
              <a:solidFill>
                <a:srgbClr val="B3BAC6"/>
              </a:solidFill>
              <a:latin typeface="Calibri"/>
              <a:ea typeface="맑은 고딕"/>
              <a:cs typeface="Calibri"/>
            </a:endParaRPr>
          </a:p>
        </p:txBody>
      </p:sp>
      <p:sp>
        <p:nvSpPr>
          <p:cNvPr id="11" name="choice_1"/>
          <p:cNvSpPr txBox="1"/>
          <p:nvPr/>
        </p:nvSpPr>
        <p:spPr>
          <a:xfrm>
            <a:off x="457200" y="2609850"/>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①</a:t>
            </a:r>
            <a:r>
              <a:rPr lang="en-US" altLang="ko-KR" sz="1800" b="0" dirty="0">
                <a:solidFill>
                  <a:srgbClr val="1F2328"/>
                </a:solidFill>
                <a:latin typeface="Calibri"/>
                <a:ea typeface="맑은 고딕"/>
                <a:cs typeface="Calibri"/>
              </a:rPr>
              <a:t>	why pacers always win the marathon race</a:t>
            </a:r>
            <a:endParaRPr lang="en-US" altLang="ko-KR" sz="1800" b="0" dirty="0">
              <a:solidFill>
                <a:srgbClr val="1F2328"/>
              </a:solidFill>
              <a:latin typeface="Calibri"/>
              <a:ea typeface="맑은 고딕"/>
              <a:cs typeface="Calibri"/>
            </a:endParaRPr>
          </a:p>
        </p:txBody>
      </p:sp>
      <p:sp>
        <p:nvSpPr>
          <p:cNvPr id="12" name="choice_2"/>
          <p:cNvSpPr txBox="1"/>
          <p:nvPr/>
        </p:nvSpPr>
        <p:spPr>
          <a:xfrm>
            <a:off x="457200" y="3017266"/>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②</a:t>
            </a:r>
            <a:r>
              <a:rPr lang="en-US" altLang="ko-KR" sz="1800" b="0" dirty="0">
                <a:solidFill>
                  <a:srgbClr val="1F2328"/>
                </a:solidFill>
                <a:latin typeface="Calibri"/>
                <a:ea typeface="맑은 고딕"/>
                <a:cs typeface="Calibri"/>
              </a:rPr>
              <a:t>	how runners make flags for their pacers</a:t>
            </a:r>
            <a:endParaRPr lang="en-US" altLang="ko-KR" sz="1800" b="0" dirty="0">
              <a:solidFill>
                <a:srgbClr val="1F2328"/>
              </a:solidFill>
              <a:latin typeface="Calibri"/>
              <a:ea typeface="맑은 고딕"/>
              <a:cs typeface="Calibri"/>
            </a:endParaRPr>
          </a:p>
        </p:txBody>
      </p:sp>
      <p:sp>
        <p:nvSpPr>
          <p:cNvPr id="13" name="choice_3"/>
          <p:cNvSpPr txBox="1"/>
          <p:nvPr/>
        </p:nvSpPr>
        <p:spPr>
          <a:xfrm>
            <a:off x="457200" y="3424682"/>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③</a:t>
            </a:r>
            <a:r>
              <a:rPr lang="en-US" altLang="ko-KR" sz="1800" b="0" dirty="0">
                <a:solidFill>
                  <a:srgbClr val="1F2328"/>
                </a:solidFill>
                <a:latin typeface="Calibri"/>
                <a:ea typeface="맑은 고딕"/>
                <a:cs typeface="Calibri"/>
              </a:rPr>
              <a:t>	the history of four-hour marathon races</a:t>
            </a:r>
            <a:endParaRPr lang="en-US" altLang="ko-KR" sz="1800" b="0" dirty="0">
              <a:solidFill>
                <a:srgbClr val="1F2328"/>
              </a:solidFill>
              <a:latin typeface="Calibri"/>
              <a:ea typeface="맑은 고딕"/>
              <a:cs typeface="Calibri"/>
            </a:endParaRPr>
          </a:p>
        </p:txBody>
      </p:sp>
      <p:sp>
        <p:nvSpPr>
          <p:cNvPr id="14" name="choice_4"/>
          <p:cNvSpPr txBox="1"/>
          <p:nvPr/>
        </p:nvSpPr>
        <p:spPr>
          <a:xfrm>
            <a:off x="457200" y="3832098"/>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④</a:t>
            </a:r>
            <a:r>
              <a:rPr lang="en-US" altLang="ko-KR" sz="1800" b="0" dirty="0">
                <a:solidFill>
                  <a:srgbClr val="1F2328"/>
                </a:solidFill>
                <a:latin typeface="Calibri"/>
                <a:ea typeface="맑은 고딕"/>
                <a:cs typeface="Calibri"/>
              </a:rPr>
              <a:t>	how pacers help runners reach target times</a:t>
            </a:r>
            <a:endParaRPr lang="en-US" altLang="ko-KR" sz="1800" b="0" dirty="0">
              <a:solidFill>
                <a:srgbClr val="1F2328"/>
              </a:solidFill>
              <a:latin typeface="Calibri"/>
              <a:ea typeface="맑은 고딕"/>
              <a:cs typeface="Calibri"/>
            </a:endParaRPr>
          </a:p>
        </p:txBody>
      </p:sp>
      <p:sp>
        <p:nvSpPr>
          <p:cNvPr id="15" name="rv_pick"/>
          <p:cNvSpPr txBox="1"/>
          <p:nvPr/>
        </p:nvSpPr>
        <p:spPr>
          <a:xfrm>
            <a:off x="457200" y="3832098"/>
            <a:ext cx="11277295" cy="379984"/>
          </a:xfrm>
          <a:prstGeom prst="rect">
            <a:avLst/>
          </a:prstGeom>
          <a:solidFill>
            <a:srgbClr val="FFF3C4"/>
          </a:solid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C00000"/>
                </a:solidFill>
                <a:latin typeface="맑은 고딕"/>
                <a:ea typeface="맑은 고딕"/>
                <a:cs typeface="맑은 고딕"/>
              </a:rPr>
              <a:t>④</a:t>
            </a:r>
            <a:r>
              <a:rPr lang="en-US" altLang="ko-KR" sz="1800" b="0" dirty="0">
                <a:solidFill>
                  <a:srgbClr val="C00000"/>
                </a:solidFill>
                <a:latin typeface="Calibri"/>
                <a:ea typeface="맑은 고딕"/>
                <a:cs typeface="Calibri"/>
              </a:rPr>
              <a:t>	how pacers help runners reach target times</a:t>
            </a:r>
            <a:endParaRPr lang="en-US" altLang="ko-KR" sz="1800" b="0" dirty="0">
              <a:solidFill>
                <a:srgbClr val="C00000"/>
              </a:solidFill>
              <a:latin typeface="Calibri"/>
              <a:ea typeface="맑은 고딕"/>
              <a:cs typeface="Calibri"/>
            </a:endParaRPr>
          </a:p>
        </p:txBody>
      </p:sp>
      <p:sp>
        <p:nvSpPr>
          <p:cNvPr id="16" name="choice_5"/>
          <p:cNvSpPr txBox="1"/>
          <p:nvPr/>
        </p:nvSpPr>
        <p:spPr>
          <a:xfrm>
            <a:off x="457200" y="4239514"/>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⑤</a:t>
            </a:r>
            <a:r>
              <a:rPr lang="en-US" altLang="ko-KR" sz="1800" b="0" dirty="0">
                <a:solidFill>
                  <a:srgbClr val="1F2328"/>
                </a:solidFill>
                <a:latin typeface="Calibri"/>
                <a:ea typeface="맑은 고딕"/>
                <a:cs typeface="Calibri"/>
              </a:rPr>
              <a:t>	why runners must run without any pacer</a:t>
            </a:r>
            <a:endParaRPr lang="en-US" altLang="ko-KR" sz="1800" b="0" dirty="0">
              <a:solidFill>
                <a:srgbClr val="1F2328"/>
              </a:solidFill>
              <a:latin typeface="Calibri"/>
              <a:ea typeface="맑은 고딕"/>
              <a:cs typeface="Calibri"/>
            </a:endParaRPr>
          </a:p>
        </p:txBody>
      </p:sp>
      <p:sp>
        <p:nvSpPr>
          <p:cNvPr id="17" name="rv_answer"/>
          <p:cNvSpPr/>
          <p:nvPr/>
        </p:nvSpPr>
        <p:spPr>
          <a:xfrm>
            <a:off x="457200" y="472922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④ </a:t>
            </a:r>
            <a:r>
              <a:rPr lang="en-US" altLang="ko-KR" sz="1900" b="1" dirty="0">
                <a:solidFill>
                  <a:srgbClr val="5A4200"/>
                </a:solidFill>
                <a:latin typeface="Calibri"/>
                <a:ea typeface="맑은 고딕"/>
                <a:cs typeface="Calibri"/>
              </a:rPr>
              <a:t>how pacers help runners reach target times</a:t>
            </a:r>
            <a:endParaRPr lang="en-US" altLang="ko-KR" sz="1900" b="1" dirty="0">
              <a:solidFill>
                <a:srgbClr val="5A4200"/>
              </a:solidFill>
              <a:latin typeface="Calibri"/>
              <a:ea typeface="맑은 고딕"/>
              <a:cs typeface="Calibri"/>
            </a:endParaRPr>
          </a:p>
        </p:txBody>
      </p:sp>
      <p:sp>
        <p:nvSpPr>
          <p:cNvPr id="18" name="rv_why"/>
          <p:cNvSpPr/>
          <p:nvPr/>
        </p:nvSpPr>
        <p:spPr>
          <a:xfrm>
            <a:off x="457200" y="5328158"/>
            <a:ext cx="11277295" cy="109092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선수는 목표 시간에 맞는 페이서를 고르고 페이서 덕분에 목표를 쉽게 이룬다. 목표 시간 달성을 돕는 ④가 주제다.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250"/>
                                        <p:tgtEl>
                                          <p:spTgt spid="1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25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25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7" grpId="0" animBg="1"/>
      <p:bldP spid="9" grpId="0" animBg="1"/>
      <p:bldP spid="10" grpId="0" animBg="1"/>
      <p:bldP spid="18" grpId="0" animBg="1"/>
    </p:bldLst>
  </p:timing>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L5-2</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1 · 2</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2. 다음 글의 제목으로 가장 적절한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5</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본문 근거 형광 + 정답 원리</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151257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1512570"/>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1F2328"/>
                </a:solidFill>
                <a:latin typeface="Calibri"/>
                <a:ea typeface="맑은 고딕"/>
                <a:cs typeface="Calibri"/>
              </a:rPr>
              <a:t>Each pacer runs at different speeds and finishes the race in different times. Pacers usually have flags or balloons showing their finish time. Runners can choose a pacer depending on their target finish time. For example, if a runner wants to finish the race in four hours, the runner will follow the four‑hour pacer. Since the pacer keeps track of the time, the runner can achieve his or her goal of finishing the marathon in a particular time more easily. </a:t>
            </a:r>
            <a:r>
              <a:rPr lang="en-US" altLang="ko-KR" sz="1500" b="0" dirty="0">
                <a:solidFill>
                  <a:srgbClr val="1F2328"/>
                </a:solidFill>
                <a:latin typeface="Calibri"/>
                <a:ea typeface="맑은 고딕"/>
                <a:cs typeface="Calibri"/>
              </a:rPr>
              <a:t>In short, pacers run but they don’t run to win.</a:t>
            </a:r>
            <a:r>
              <a:rPr lang="en-US" altLang="ko-KR" sz="1500" b="0" dirty="0">
                <a:solidFill>
                  <a:srgbClr val="1F2328"/>
                </a:solidFill>
                <a:latin typeface="Calibri"/>
                <a:ea typeface="맑은 고딕"/>
                <a:cs typeface="Calibri"/>
              </a:rPr>
              <a:t> </a:t>
            </a:r>
            <a:r>
              <a:rPr lang="en-US" altLang="ko-KR" sz="1500" b="0" dirty="0">
                <a:solidFill>
                  <a:srgbClr val="1F2328"/>
                </a:solidFill>
                <a:latin typeface="Calibri"/>
                <a:ea typeface="맑은 고딕"/>
                <a:cs typeface="Calibri"/>
              </a:rPr>
              <a:t>They run for others.</a:t>
            </a:r>
            <a:endParaRPr lang="en-US" altLang="ko-KR" sz="1500" b="0" dirty="0">
              <a:solidFill>
                <a:srgbClr val="1F2328"/>
              </a:solidFill>
              <a:latin typeface="Calibri"/>
              <a:ea typeface="맑은 고딕"/>
              <a:cs typeface="Calibri"/>
            </a:endParaRPr>
          </a:p>
        </p:txBody>
      </p:sp>
      <p:sp>
        <p:nvSpPr>
          <p:cNvPr id="9" name="rv_evidence_card"/>
          <p:cNvSpPr/>
          <p:nvPr/>
        </p:nvSpPr>
        <p:spPr>
          <a:xfrm>
            <a:off x="457200" y="950976"/>
            <a:ext cx="11277295" cy="151257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rv_evidence"/>
          <p:cNvSpPr txBox="1"/>
          <p:nvPr/>
        </p:nvSpPr>
        <p:spPr>
          <a:xfrm>
            <a:off x="457200" y="950976"/>
            <a:ext cx="11277295" cy="1512570"/>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B3BAC6"/>
                </a:solidFill>
                <a:latin typeface="Calibri"/>
                <a:ea typeface="맑은 고딕"/>
                <a:cs typeface="Calibri"/>
              </a:rPr>
              <a:t>Each pacer runs at different speeds and finishes the race in different times. Pacers usually have flags or balloons showing their finish time. Runners can choose a pacer depending on their target finish time. For example, if a runner wants to finish the race in four hours, the runner will follow the four‑hour pacer. Since the pacer keeps track of the time, the runner can achieve his or her goal of finishing the marathon in a particular time more easily. </a:t>
            </a:r>
            <a:r>
              <a:rPr lang="en-US" altLang="ko-KR" sz="1500" b="0" dirty="0">
                <a:solidFill>
                  <a:srgbClr val="111111"/>
                </a:solidFill>
                <a:highlight>
                  <a:srgbClr val="FFE45C"/>
                </a:highlight>
                <a:latin typeface="Calibri"/>
                <a:ea typeface="맑은 고딕"/>
                <a:cs typeface="Calibri"/>
              </a:rPr>
              <a:t>In short, pacers run but they don’t run to win.</a:t>
            </a:r>
            <a:r>
              <a:rPr lang="en-US" altLang="ko-KR" sz="1500" b="0" dirty="0">
                <a:solidFill>
                  <a:srgbClr val="B3BAC6"/>
                </a:solidFill>
                <a:latin typeface="Calibri"/>
                <a:ea typeface="맑은 고딕"/>
                <a:cs typeface="Calibri"/>
              </a:rPr>
              <a:t> </a:t>
            </a:r>
            <a:r>
              <a:rPr lang="en-US" altLang="ko-KR" sz="1500" b="0" dirty="0">
                <a:solidFill>
                  <a:srgbClr val="111111"/>
                </a:solidFill>
                <a:highlight>
                  <a:srgbClr val="FFE45C"/>
                </a:highlight>
                <a:latin typeface="Calibri"/>
                <a:ea typeface="맑은 고딕"/>
                <a:cs typeface="Calibri"/>
              </a:rPr>
              <a:t>They run for others.</a:t>
            </a:r>
            <a:endParaRPr lang="en-US" altLang="ko-KR" sz="1500" b="0" dirty="0">
              <a:solidFill>
                <a:srgbClr val="111111"/>
              </a:solidFill>
              <a:latin typeface="Calibri"/>
              <a:ea typeface="맑은 고딕"/>
              <a:cs typeface="Calibri"/>
            </a:endParaRPr>
          </a:p>
        </p:txBody>
      </p:sp>
      <p:sp>
        <p:nvSpPr>
          <p:cNvPr id="11" name="choice_1"/>
          <p:cNvSpPr txBox="1"/>
          <p:nvPr/>
        </p:nvSpPr>
        <p:spPr>
          <a:xfrm>
            <a:off x="457200" y="2609850"/>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①</a:t>
            </a:r>
            <a:r>
              <a:rPr lang="en-US" altLang="ko-KR" sz="1800" b="0" dirty="0">
                <a:solidFill>
                  <a:srgbClr val="1F2328"/>
                </a:solidFill>
                <a:latin typeface="Calibri"/>
                <a:ea typeface="맑은 고딕"/>
                <a:cs typeface="Calibri"/>
              </a:rPr>
              <a:t>	Pacers: The Fastest Winners of All</a:t>
            </a:r>
            <a:endParaRPr lang="en-US" altLang="ko-KR" sz="1800" b="0" dirty="0">
              <a:solidFill>
                <a:srgbClr val="1F2328"/>
              </a:solidFill>
              <a:latin typeface="Calibri"/>
              <a:ea typeface="맑은 고딕"/>
              <a:cs typeface="Calibri"/>
            </a:endParaRPr>
          </a:p>
        </p:txBody>
      </p:sp>
      <p:sp>
        <p:nvSpPr>
          <p:cNvPr id="12" name="choice_2"/>
          <p:cNvSpPr txBox="1"/>
          <p:nvPr/>
        </p:nvSpPr>
        <p:spPr>
          <a:xfrm>
            <a:off x="457200" y="3017266"/>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②</a:t>
            </a:r>
            <a:r>
              <a:rPr lang="en-US" altLang="ko-KR" sz="1800" b="0" dirty="0">
                <a:solidFill>
                  <a:srgbClr val="1F2328"/>
                </a:solidFill>
                <a:latin typeface="Calibri"/>
                <a:ea typeface="맑은 고딕"/>
                <a:cs typeface="Calibri"/>
              </a:rPr>
              <a:t>	Balloons Make Marathons More Fun</a:t>
            </a:r>
            <a:endParaRPr lang="en-US" altLang="ko-KR" sz="1800" b="0" dirty="0">
              <a:solidFill>
                <a:srgbClr val="1F2328"/>
              </a:solidFill>
              <a:latin typeface="Calibri"/>
              <a:ea typeface="맑은 고딕"/>
              <a:cs typeface="Calibri"/>
            </a:endParaRPr>
          </a:p>
        </p:txBody>
      </p:sp>
      <p:sp>
        <p:nvSpPr>
          <p:cNvPr id="13" name="choice_3"/>
          <p:cNvSpPr txBox="1"/>
          <p:nvPr/>
        </p:nvSpPr>
        <p:spPr>
          <a:xfrm>
            <a:off x="457200" y="3424682"/>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③</a:t>
            </a:r>
            <a:r>
              <a:rPr lang="en-US" altLang="ko-KR" sz="1800" b="0" dirty="0">
                <a:solidFill>
                  <a:srgbClr val="1F2328"/>
                </a:solidFill>
                <a:latin typeface="Calibri"/>
                <a:ea typeface="맑은 고딕"/>
                <a:cs typeface="Calibri"/>
              </a:rPr>
              <a:t>	Runners Who Never Need a Pacer</a:t>
            </a:r>
            <a:endParaRPr lang="en-US" altLang="ko-KR" sz="1800" b="0" dirty="0">
              <a:solidFill>
                <a:srgbClr val="1F2328"/>
              </a:solidFill>
              <a:latin typeface="Calibri"/>
              <a:ea typeface="맑은 고딕"/>
              <a:cs typeface="Calibri"/>
            </a:endParaRPr>
          </a:p>
        </p:txBody>
      </p:sp>
      <p:sp>
        <p:nvSpPr>
          <p:cNvPr id="14" name="choice_4"/>
          <p:cNvSpPr txBox="1"/>
          <p:nvPr/>
        </p:nvSpPr>
        <p:spPr>
          <a:xfrm>
            <a:off x="457200" y="3832098"/>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④</a:t>
            </a:r>
            <a:r>
              <a:rPr lang="en-US" altLang="ko-KR" sz="1800" b="0" dirty="0">
                <a:solidFill>
                  <a:srgbClr val="1F2328"/>
                </a:solidFill>
                <a:latin typeface="Calibri"/>
                <a:ea typeface="맑은 고딕"/>
                <a:cs typeface="Calibri"/>
              </a:rPr>
              <a:t>	How to Finish a Race in Two Hours</a:t>
            </a:r>
            <a:endParaRPr lang="en-US" altLang="ko-KR" sz="1800" b="0" dirty="0">
              <a:solidFill>
                <a:srgbClr val="1F2328"/>
              </a:solidFill>
              <a:latin typeface="Calibri"/>
              <a:ea typeface="맑은 고딕"/>
              <a:cs typeface="Calibri"/>
            </a:endParaRPr>
          </a:p>
        </p:txBody>
      </p:sp>
      <p:sp>
        <p:nvSpPr>
          <p:cNvPr id="15" name="choice_5"/>
          <p:cNvSpPr txBox="1"/>
          <p:nvPr/>
        </p:nvSpPr>
        <p:spPr>
          <a:xfrm>
            <a:off x="457200" y="4239514"/>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⑤</a:t>
            </a:r>
            <a:r>
              <a:rPr lang="en-US" altLang="ko-KR" sz="1800" b="0" dirty="0">
                <a:solidFill>
                  <a:srgbClr val="1F2328"/>
                </a:solidFill>
                <a:latin typeface="Calibri"/>
                <a:ea typeface="맑은 고딕"/>
                <a:cs typeface="Calibri"/>
              </a:rPr>
              <a:t>	Pacers Run Not to Win but for Others</a:t>
            </a:r>
            <a:endParaRPr lang="en-US" altLang="ko-KR" sz="1800" b="0" dirty="0">
              <a:solidFill>
                <a:srgbClr val="1F2328"/>
              </a:solidFill>
              <a:latin typeface="Calibri"/>
              <a:ea typeface="맑은 고딕"/>
              <a:cs typeface="Calibri"/>
            </a:endParaRPr>
          </a:p>
        </p:txBody>
      </p:sp>
      <p:sp>
        <p:nvSpPr>
          <p:cNvPr id="16" name="rv_pick"/>
          <p:cNvSpPr txBox="1"/>
          <p:nvPr/>
        </p:nvSpPr>
        <p:spPr>
          <a:xfrm>
            <a:off x="457200" y="4239514"/>
            <a:ext cx="11277295" cy="379984"/>
          </a:xfrm>
          <a:prstGeom prst="rect">
            <a:avLst/>
          </a:prstGeom>
          <a:solidFill>
            <a:srgbClr val="FFF3C4"/>
          </a:solid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C00000"/>
                </a:solidFill>
                <a:latin typeface="맑은 고딕"/>
                <a:ea typeface="맑은 고딕"/>
                <a:cs typeface="맑은 고딕"/>
              </a:rPr>
              <a:t>⑤</a:t>
            </a:r>
            <a:r>
              <a:rPr lang="en-US" altLang="ko-KR" sz="1800" b="0" dirty="0">
                <a:solidFill>
                  <a:srgbClr val="C00000"/>
                </a:solidFill>
                <a:latin typeface="Calibri"/>
                <a:ea typeface="맑은 고딕"/>
                <a:cs typeface="Calibri"/>
              </a:rPr>
              <a:t>	Pacers Run Not to Win but for Others</a:t>
            </a:r>
            <a:endParaRPr lang="en-US" altLang="ko-KR" sz="1800" b="0" dirty="0">
              <a:solidFill>
                <a:srgbClr val="C00000"/>
              </a:solidFill>
              <a:latin typeface="Calibri"/>
              <a:ea typeface="맑은 고딕"/>
              <a:cs typeface="Calibri"/>
            </a:endParaRPr>
          </a:p>
        </p:txBody>
      </p:sp>
      <p:sp>
        <p:nvSpPr>
          <p:cNvPr id="17" name="rv_answer"/>
          <p:cNvSpPr/>
          <p:nvPr/>
        </p:nvSpPr>
        <p:spPr>
          <a:xfrm>
            <a:off x="457200" y="472922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⑤ </a:t>
            </a:r>
            <a:r>
              <a:rPr lang="en-US" altLang="ko-KR" sz="1900" b="1" dirty="0">
                <a:solidFill>
                  <a:srgbClr val="5A4200"/>
                </a:solidFill>
                <a:latin typeface="Calibri"/>
                <a:ea typeface="맑은 고딕"/>
                <a:cs typeface="Calibri"/>
              </a:rPr>
              <a:t>Pacers Run Not to Win but for Others</a:t>
            </a:r>
            <a:endParaRPr lang="en-US" altLang="ko-KR" sz="1900" b="1" dirty="0">
              <a:solidFill>
                <a:srgbClr val="5A4200"/>
              </a:solidFill>
              <a:latin typeface="Calibri"/>
              <a:ea typeface="맑은 고딕"/>
              <a:cs typeface="Calibri"/>
            </a:endParaRPr>
          </a:p>
        </p:txBody>
      </p:sp>
      <p:sp>
        <p:nvSpPr>
          <p:cNvPr id="18" name="rv_why"/>
          <p:cNvSpPr/>
          <p:nvPr/>
        </p:nvSpPr>
        <p:spPr>
          <a:xfrm>
            <a:off x="457200" y="5328158"/>
            <a:ext cx="11277295" cy="109092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페이서는 이기려고 달리지 않고 남을 위해 달린다고 했다. 이를 그대로 옮긴 ⑤가 제목이다.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250"/>
                                        <p:tgtEl>
                                          <p:spTgt spid="1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25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25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7" grpId="0" animBg="1"/>
      <p:bldP spid="9" grpId="0" animBg="1"/>
      <p:bldP spid="10" grpId="0" animBg="1"/>
      <p:bldP spid="18" grpId="0" animBg="1"/>
    </p:bldLst>
  </p:timing>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L5-2</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1 · 3</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3. 다음 글에서 필자가 주장하는 바로 가장 적절한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5</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본문 근거 형광 + 정답 원리</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151257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1512570"/>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1F2328"/>
                </a:solidFill>
                <a:latin typeface="Calibri"/>
                <a:ea typeface="맑은 고딕"/>
                <a:cs typeface="Calibri"/>
              </a:rPr>
              <a:t>Each pacer runs at different speeds and finishes the race in different times. Pacers usually have flags or balloons showing their finish time. Runners can choose a pacer depending on their target finish time. For example, if a runner wants to finish the race in four hours, the runner will follow the four‑hour pacer. Since the pacer keeps track of the time, the runner can achieve his or her goal of finishing the marathon in a particular time more easily. In short, pacers run but they don’t run to win. </a:t>
            </a:r>
            <a:r>
              <a:rPr lang="en-US" altLang="ko-KR" sz="1500" b="0" dirty="0">
                <a:solidFill>
                  <a:srgbClr val="1F2328"/>
                </a:solidFill>
                <a:latin typeface="Calibri"/>
                <a:ea typeface="맑은 고딕"/>
                <a:cs typeface="Calibri"/>
              </a:rPr>
              <a:t>They run for others.</a:t>
            </a:r>
            <a:endParaRPr lang="en-US" altLang="ko-KR" sz="1500" b="0" dirty="0">
              <a:solidFill>
                <a:srgbClr val="1F2328"/>
              </a:solidFill>
              <a:latin typeface="Calibri"/>
              <a:ea typeface="맑은 고딕"/>
              <a:cs typeface="Calibri"/>
            </a:endParaRPr>
          </a:p>
        </p:txBody>
      </p:sp>
      <p:sp>
        <p:nvSpPr>
          <p:cNvPr id="9" name="rv_evidence_card"/>
          <p:cNvSpPr/>
          <p:nvPr/>
        </p:nvSpPr>
        <p:spPr>
          <a:xfrm>
            <a:off x="457200" y="950976"/>
            <a:ext cx="11277295" cy="151257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rv_evidence"/>
          <p:cNvSpPr txBox="1"/>
          <p:nvPr/>
        </p:nvSpPr>
        <p:spPr>
          <a:xfrm>
            <a:off x="457200" y="950976"/>
            <a:ext cx="11277295" cy="1512570"/>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B3BAC6"/>
                </a:solidFill>
                <a:latin typeface="Calibri"/>
                <a:ea typeface="맑은 고딕"/>
                <a:cs typeface="Calibri"/>
              </a:rPr>
              <a:t>Each pacer runs at different speeds and finishes the race in different times. Pacers usually have flags or balloons showing their finish time. Runners can choose a pacer depending on their target finish time. For example, if a runner wants to finish the race in four hours, the runner will follow the four‑hour pacer. Since the pacer keeps track of the time, the runner can achieve his or her goal of finishing the marathon in a particular time more easily. In short, pacers run but they don’t run to win. </a:t>
            </a:r>
            <a:r>
              <a:rPr lang="en-US" altLang="ko-KR" sz="1500" b="0" dirty="0">
                <a:solidFill>
                  <a:srgbClr val="111111"/>
                </a:solidFill>
                <a:highlight>
                  <a:srgbClr val="FFE45C"/>
                </a:highlight>
                <a:latin typeface="Calibri"/>
                <a:ea typeface="맑은 고딕"/>
                <a:cs typeface="Calibri"/>
              </a:rPr>
              <a:t>They run for others.</a:t>
            </a:r>
            <a:endParaRPr lang="en-US" altLang="ko-KR" sz="1500" b="0" dirty="0">
              <a:solidFill>
                <a:srgbClr val="111111"/>
              </a:solidFill>
              <a:latin typeface="Calibri"/>
              <a:ea typeface="맑은 고딕"/>
              <a:cs typeface="Calibri"/>
            </a:endParaRPr>
          </a:p>
        </p:txBody>
      </p:sp>
      <p:sp>
        <p:nvSpPr>
          <p:cNvPr id="11" name="choice_1"/>
          <p:cNvSpPr txBox="1"/>
          <p:nvPr/>
        </p:nvSpPr>
        <p:spPr>
          <a:xfrm>
            <a:off x="457200" y="2609850"/>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①</a:t>
            </a:r>
            <a:r>
              <a:rPr lang="ko-KR" altLang="en-US" sz="1800" b="0" dirty="0">
                <a:solidFill>
                  <a:srgbClr val="1F2328"/>
                </a:solidFill>
                <a:latin typeface="맑은 고딕"/>
                <a:ea typeface="맑은 고딕"/>
                <a:cs typeface="맑은 고딕"/>
              </a:rPr>
              <a:t>	페이서는 남을 위해 달리는 고마운 조력자다</a:t>
            </a:r>
            <a:endParaRPr lang="ko-KR" altLang="en-US" sz="1800" b="0" dirty="0">
              <a:solidFill>
                <a:srgbClr val="1F2328"/>
              </a:solidFill>
              <a:latin typeface="맑은 고딕"/>
              <a:ea typeface="맑은 고딕"/>
              <a:cs typeface="맑은 고딕"/>
            </a:endParaRPr>
          </a:p>
        </p:txBody>
      </p:sp>
      <p:sp>
        <p:nvSpPr>
          <p:cNvPr id="12" name="rv_pick"/>
          <p:cNvSpPr txBox="1"/>
          <p:nvPr/>
        </p:nvSpPr>
        <p:spPr>
          <a:xfrm>
            <a:off x="457200" y="2609850"/>
            <a:ext cx="11277295" cy="379984"/>
          </a:xfrm>
          <a:prstGeom prst="rect">
            <a:avLst/>
          </a:prstGeom>
          <a:solidFill>
            <a:srgbClr val="FFF3C4"/>
          </a:solid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C00000"/>
                </a:solidFill>
                <a:latin typeface="맑은 고딕"/>
                <a:ea typeface="맑은 고딕"/>
                <a:cs typeface="맑은 고딕"/>
              </a:rPr>
              <a:t>①</a:t>
            </a:r>
            <a:r>
              <a:rPr lang="ko-KR" altLang="en-US" sz="1800" b="0" dirty="0">
                <a:solidFill>
                  <a:srgbClr val="C00000"/>
                </a:solidFill>
                <a:latin typeface="맑은 고딕"/>
                <a:ea typeface="맑은 고딕"/>
                <a:cs typeface="맑은 고딕"/>
              </a:rPr>
              <a:t>	페이서는 남을 위해 달리는 고마운 조력자다</a:t>
            </a:r>
            <a:endParaRPr lang="ko-KR" altLang="en-US" sz="1800" b="0" dirty="0">
              <a:solidFill>
                <a:srgbClr val="C00000"/>
              </a:solidFill>
              <a:latin typeface="맑은 고딕"/>
              <a:ea typeface="맑은 고딕"/>
              <a:cs typeface="맑은 고딕"/>
            </a:endParaRPr>
          </a:p>
        </p:txBody>
      </p:sp>
      <p:sp>
        <p:nvSpPr>
          <p:cNvPr id="13" name="choice_2"/>
          <p:cNvSpPr txBox="1"/>
          <p:nvPr/>
        </p:nvSpPr>
        <p:spPr>
          <a:xfrm>
            <a:off x="457200" y="3017266"/>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②</a:t>
            </a:r>
            <a:r>
              <a:rPr lang="ko-KR" altLang="en-US" sz="1800" b="0" dirty="0">
                <a:solidFill>
                  <a:srgbClr val="1F2328"/>
                </a:solidFill>
                <a:latin typeface="맑은 고딕"/>
                <a:ea typeface="맑은 고딕"/>
                <a:cs typeface="맑은 고딕"/>
              </a:rPr>
              <a:t>	선수들은 페이서 없이 혼자 시간을 재야 한다</a:t>
            </a:r>
            <a:endParaRPr lang="ko-KR" altLang="en-US" sz="1800" b="0" dirty="0">
              <a:solidFill>
                <a:srgbClr val="1F2328"/>
              </a:solidFill>
              <a:latin typeface="맑은 고딕"/>
              <a:ea typeface="맑은 고딕"/>
              <a:cs typeface="맑은 고딕"/>
            </a:endParaRPr>
          </a:p>
        </p:txBody>
      </p:sp>
      <p:sp>
        <p:nvSpPr>
          <p:cNvPr id="14" name="choice_3"/>
          <p:cNvSpPr txBox="1"/>
          <p:nvPr/>
        </p:nvSpPr>
        <p:spPr>
          <a:xfrm>
            <a:off x="457200" y="3424682"/>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③</a:t>
            </a:r>
            <a:r>
              <a:rPr lang="ko-KR" altLang="en-US" sz="1800" b="0" dirty="0">
                <a:solidFill>
                  <a:srgbClr val="1F2328"/>
                </a:solidFill>
                <a:latin typeface="맑은 고딕"/>
                <a:ea typeface="맑은 고딕"/>
                <a:cs typeface="맑은 고딕"/>
              </a:rPr>
              <a:t>	페이서는 우승을 목표로 전력 질주해야 한다</a:t>
            </a:r>
            <a:endParaRPr lang="ko-KR" altLang="en-US" sz="1800" b="0" dirty="0">
              <a:solidFill>
                <a:srgbClr val="1F2328"/>
              </a:solidFill>
              <a:latin typeface="맑은 고딕"/>
              <a:ea typeface="맑은 고딕"/>
              <a:cs typeface="맑은 고딕"/>
            </a:endParaRPr>
          </a:p>
        </p:txBody>
      </p:sp>
      <p:sp>
        <p:nvSpPr>
          <p:cNvPr id="15" name="choice_4"/>
          <p:cNvSpPr txBox="1"/>
          <p:nvPr/>
        </p:nvSpPr>
        <p:spPr>
          <a:xfrm>
            <a:off x="457200" y="3832098"/>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④</a:t>
            </a:r>
            <a:r>
              <a:rPr lang="ko-KR" altLang="en-US" sz="1800" b="0" dirty="0">
                <a:solidFill>
                  <a:srgbClr val="1F2328"/>
                </a:solidFill>
                <a:latin typeface="맑은 고딕"/>
                <a:ea typeface="맑은 고딕"/>
                <a:cs typeface="맑은 고딕"/>
              </a:rPr>
              <a:t>	마라톤 선수는 모두 같은 속도로 달려야 한다</a:t>
            </a:r>
            <a:endParaRPr lang="ko-KR" altLang="en-US" sz="1800" b="0" dirty="0">
              <a:solidFill>
                <a:srgbClr val="1F2328"/>
              </a:solidFill>
              <a:latin typeface="맑은 고딕"/>
              <a:ea typeface="맑은 고딕"/>
              <a:cs typeface="맑은 고딕"/>
            </a:endParaRPr>
          </a:p>
        </p:txBody>
      </p:sp>
      <p:sp>
        <p:nvSpPr>
          <p:cNvPr id="16" name="choice_5"/>
          <p:cNvSpPr txBox="1"/>
          <p:nvPr/>
        </p:nvSpPr>
        <p:spPr>
          <a:xfrm>
            <a:off x="457200" y="4239514"/>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⑤</a:t>
            </a:r>
            <a:r>
              <a:rPr lang="ko-KR" altLang="en-US" sz="1800" b="0" dirty="0">
                <a:solidFill>
                  <a:srgbClr val="1F2328"/>
                </a:solidFill>
                <a:latin typeface="맑은 고딕"/>
                <a:ea typeface="맑은 고딕"/>
                <a:cs typeface="맑은 고딕"/>
              </a:rPr>
              <a:t>	풍선과 깃발은 경주에서 사용하면 안 된다</a:t>
            </a:r>
            <a:endParaRPr lang="ko-KR" altLang="en-US" sz="1800" b="0" dirty="0">
              <a:solidFill>
                <a:srgbClr val="1F2328"/>
              </a:solidFill>
              <a:latin typeface="맑은 고딕"/>
              <a:ea typeface="맑은 고딕"/>
              <a:cs typeface="맑은 고딕"/>
            </a:endParaRPr>
          </a:p>
        </p:txBody>
      </p:sp>
      <p:sp>
        <p:nvSpPr>
          <p:cNvPr id="17" name="rv_answer"/>
          <p:cNvSpPr/>
          <p:nvPr/>
        </p:nvSpPr>
        <p:spPr>
          <a:xfrm>
            <a:off x="457200" y="472922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① </a:t>
            </a:r>
            <a:r>
              <a:rPr lang="ko-KR" altLang="en-US" sz="1900" b="1" dirty="0">
                <a:solidFill>
                  <a:srgbClr val="5A4200"/>
                </a:solidFill>
                <a:latin typeface="맑은 고딕"/>
                <a:ea typeface="맑은 고딕"/>
                <a:cs typeface="맑은 고딕"/>
              </a:rPr>
              <a:t>페이서는 남을 위해 달리는 고마운 조력자다</a:t>
            </a:r>
            <a:endParaRPr lang="ko-KR" altLang="en-US" sz="1900" b="1" dirty="0">
              <a:solidFill>
                <a:srgbClr val="5A4200"/>
              </a:solidFill>
              <a:latin typeface="맑은 고딕"/>
              <a:ea typeface="맑은 고딕"/>
              <a:cs typeface="맑은 고딕"/>
            </a:endParaRPr>
          </a:p>
        </p:txBody>
      </p:sp>
      <p:sp>
        <p:nvSpPr>
          <p:cNvPr id="18" name="rv_why"/>
          <p:cNvSpPr/>
          <p:nvPr/>
        </p:nvSpPr>
        <p:spPr>
          <a:xfrm>
            <a:off x="457200" y="5328158"/>
            <a:ext cx="11277295" cy="109092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'They run for others'라고 했다. 페이서가 남을 위해 달리는 조력자라는 ①이 필자의 주장이다.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25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25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25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7" grpId="0" animBg="1"/>
      <p:bldP spid="9" grpId="0" animBg="1"/>
      <p:bldP spid="10" grpId="0" animBg="1"/>
      <p:bldP spid="18" grpId="0" animBg="1"/>
    </p:bldLst>
  </p:timing>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L5-2</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1 · 4</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4. 다음 글의 요지로 가장 적절한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5</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본문 근거 형광 + 정답 원리</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151257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1512570"/>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1F2328"/>
                </a:solidFill>
                <a:latin typeface="Calibri"/>
                <a:ea typeface="맑은 고딕"/>
                <a:cs typeface="Calibri"/>
              </a:rPr>
              <a:t>Each pacer runs at different speeds and finishes the race in different times. Pacers usually have flags or balloons showing their finish time. Runners can choose a pacer depending on their target finish time. For example, if a runner wants to finish the race in four hours, the runner will follow the four‑hour pacer. </a:t>
            </a:r>
            <a:r>
              <a:rPr lang="en-US" altLang="ko-KR" sz="1500" b="0" dirty="0">
                <a:solidFill>
                  <a:srgbClr val="1F2328"/>
                </a:solidFill>
                <a:latin typeface="Calibri"/>
                <a:ea typeface="맑은 고딕"/>
                <a:cs typeface="Calibri"/>
              </a:rPr>
              <a:t>Since the pacer keeps track of the time, the runner can achieve his or her goal of finishing the marathon in a particular time more easily.</a:t>
            </a:r>
            <a:r>
              <a:rPr lang="en-US" altLang="ko-KR" sz="1500" b="0" dirty="0">
                <a:solidFill>
                  <a:srgbClr val="1F2328"/>
                </a:solidFill>
                <a:latin typeface="Calibri"/>
                <a:ea typeface="맑은 고딕"/>
                <a:cs typeface="Calibri"/>
              </a:rPr>
              <a:t> In short, pacers run but they don’t run to win. They run for others.</a:t>
            </a:r>
            <a:endParaRPr lang="en-US" altLang="ko-KR" sz="1500" b="0" dirty="0">
              <a:solidFill>
                <a:srgbClr val="1F2328"/>
              </a:solidFill>
              <a:latin typeface="Calibri"/>
              <a:ea typeface="맑은 고딕"/>
              <a:cs typeface="Calibri"/>
            </a:endParaRPr>
          </a:p>
        </p:txBody>
      </p:sp>
      <p:sp>
        <p:nvSpPr>
          <p:cNvPr id="9" name="rv_evidence_card"/>
          <p:cNvSpPr/>
          <p:nvPr/>
        </p:nvSpPr>
        <p:spPr>
          <a:xfrm>
            <a:off x="457200" y="950976"/>
            <a:ext cx="11277295" cy="151257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rv_evidence"/>
          <p:cNvSpPr txBox="1"/>
          <p:nvPr/>
        </p:nvSpPr>
        <p:spPr>
          <a:xfrm>
            <a:off x="457200" y="950976"/>
            <a:ext cx="11277295" cy="1512570"/>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B3BAC6"/>
                </a:solidFill>
                <a:latin typeface="Calibri"/>
                <a:ea typeface="맑은 고딕"/>
                <a:cs typeface="Calibri"/>
              </a:rPr>
              <a:t>Each pacer runs at different speeds and finishes the race in different times. Pacers usually have flags or balloons showing their finish time. Runners can choose a pacer depending on their target finish time. For example, if a runner wants to finish the race in four hours, the runner will follow the four‑hour pacer. </a:t>
            </a:r>
            <a:r>
              <a:rPr lang="en-US" altLang="ko-KR" sz="1500" b="0" dirty="0">
                <a:solidFill>
                  <a:srgbClr val="111111"/>
                </a:solidFill>
                <a:highlight>
                  <a:srgbClr val="FFE45C"/>
                </a:highlight>
                <a:latin typeface="Calibri"/>
                <a:ea typeface="맑은 고딕"/>
                <a:cs typeface="Calibri"/>
              </a:rPr>
              <a:t>Since the pacer keeps track of the time, the runner can achieve his or her goal of finishing the marathon in a particular time more easily.</a:t>
            </a:r>
            <a:r>
              <a:rPr lang="en-US" altLang="ko-KR" sz="1500" b="0" dirty="0">
                <a:solidFill>
                  <a:srgbClr val="B3BAC6"/>
                </a:solidFill>
                <a:latin typeface="Calibri"/>
                <a:ea typeface="맑은 고딕"/>
                <a:cs typeface="Calibri"/>
              </a:rPr>
              <a:t> In short, pacers run but they don’t run to win. They run for others.</a:t>
            </a:r>
            <a:endParaRPr lang="en-US" altLang="ko-KR" sz="1500" b="0" dirty="0">
              <a:solidFill>
                <a:srgbClr val="B3BAC6"/>
              </a:solidFill>
              <a:latin typeface="Calibri"/>
              <a:ea typeface="맑은 고딕"/>
              <a:cs typeface="Calibri"/>
            </a:endParaRPr>
          </a:p>
        </p:txBody>
      </p:sp>
      <p:sp>
        <p:nvSpPr>
          <p:cNvPr id="11" name="choice_1"/>
          <p:cNvSpPr txBox="1"/>
          <p:nvPr/>
        </p:nvSpPr>
        <p:spPr>
          <a:xfrm>
            <a:off x="457200" y="2609850"/>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①</a:t>
            </a:r>
            <a:r>
              <a:rPr lang="ko-KR" altLang="en-US" sz="1800" b="0" dirty="0">
                <a:solidFill>
                  <a:srgbClr val="1F2328"/>
                </a:solidFill>
                <a:latin typeface="맑은 고딕"/>
                <a:ea typeface="맑은 고딕"/>
                <a:cs typeface="맑은 고딕"/>
              </a:rPr>
              <a:t>	페이서는 자신이 우승하기 위해 빠르게 달린다</a:t>
            </a:r>
            <a:endParaRPr lang="ko-KR" altLang="en-US" sz="1800" b="0" dirty="0">
              <a:solidFill>
                <a:srgbClr val="1F2328"/>
              </a:solidFill>
              <a:latin typeface="맑은 고딕"/>
              <a:ea typeface="맑은 고딕"/>
              <a:cs typeface="맑은 고딕"/>
            </a:endParaRPr>
          </a:p>
        </p:txBody>
      </p:sp>
      <p:sp>
        <p:nvSpPr>
          <p:cNvPr id="12" name="choice_2"/>
          <p:cNvSpPr txBox="1"/>
          <p:nvPr/>
        </p:nvSpPr>
        <p:spPr>
          <a:xfrm>
            <a:off x="457200" y="3017266"/>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②</a:t>
            </a:r>
            <a:r>
              <a:rPr lang="ko-KR" altLang="en-US" sz="1800" b="0" dirty="0">
                <a:solidFill>
                  <a:srgbClr val="1F2328"/>
                </a:solidFill>
                <a:latin typeface="맑은 고딕"/>
                <a:ea typeface="맑은 고딕"/>
                <a:cs typeface="맑은 고딕"/>
              </a:rPr>
              <a:t>	페이서는 남들이 목표 시간을 이루도록 돕는다</a:t>
            </a:r>
            <a:endParaRPr lang="ko-KR" altLang="en-US" sz="1800" b="0" dirty="0">
              <a:solidFill>
                <a:srgbClr val="1F2328"/>
              </a:solidFill>
              <a:latin typeface="맑은 고딕"/>
              <a:ea typeface="맑은 고딕"/>
              <a:cs typeface="맑은 고딕"/>
            </a:endParaRPr>
          </a:p>
        </p:txBody>
      </p:sp>
      <p:sp>
        <p:nvSpPr>
          <p:cNvPr id="13" name="rv_pick"/>
          <p:cNvSpPr txBox="1"/>
          <p:nvPr/>
        </p:nvSpPr>
        <p:spPr>
          <a:xfrm>
            <a:off x="457200" y="3017266"/>
            <a:ext cx="11277295" cy="379984"/>
          </a:xfrm>
          <a:prstGeom prst="rect">
            <a:avLst/>
          </a:prstGeom>
          <a:solidFill>
            <a:srgbClr val="FFF3C4"/>
          </a:solid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C00000"/>
                </a:solidFill>
                <a:latin typeface="맑은 고딕"/>
                <a:ea typeface="맑은 고딕"/>
                <a:cs typeface="맑은 고딕"/>
              </a:rPr>
              <a:t>②</a:t>
            </a:r>
            <a:r>
              <a:rPr lang="ko-KR" altLang="en-US" sz="1800" b="0" dirty="0">
                <a:solidFill>
                  <a:srgbClr val="C00000"/>
                </a:solidFill>
                <a:latin typeface="맑은 고딕"/>
                <a:ea typeface="맑은 고딕"/>
                <a:cs typeface="맑은 고딕"/>
              </a:rPr>
              <a:t>	페이서는 남들이 목표 시간을 이루도록 돕는다</a:t>
            </a:r>
            <a:endParaRPr lang="ko-KR" altLang="en-US" sz="1800" b="0" dirty="0">
              <a:solidFill>
                <a:srgbClr val="C00000"/>
              </a:solidFill>
              <a:latin typeface="맑은 고딕"/>
              <a:ea typeface="맑은 고딕"/>
              <a:cs typeface="맑은 고딕"/>
            </a:endParaRPr>
          </a:p>
        </p:txBody>
      </p:sp>
      <p:sp>
        <p:nvSpPr>
          <p:cNvPr id="14" name="choice_3"/>
          <p:cNvSpPr txBox="1"/>
          <p:nvPr/>
        </p:nvSpPr>
        <p:spPr>
          <a:xfrm>
            <a:off x="457200" y="3424682"/>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③</a:t>
            </a:r>
            <a:r>
              <a:rPr lang="ko-KR" altLang="en-US" sz="1800" b="0" dirty="0">
                <a:solidFill>
                  <a:srgbClr val="1F2328"/>
                </a:solidFill>
                <a:latin typeface="맑은 고딕"/>
                <a:ea typeface="맑은 고딕"/>
                <a:cs typeface="맑은 고딕"/>
              </a:rPr>
              <a:t>	선수들은 모두 4시간 안에 완주해야만 한다</a:t>
            </a:r>
            <a:endParaRPr lang="ko-KR" altLang="en-US" sz="1800" b="0" dirty="0">
              <a:solidFill>
                <a:srgbClr val="1F2328"/>
              </a:solidFill>
              <a:latin typeface="맑은 고딕"/>
              <a:ea typeface="맑은 고딕"/>
              <a:cs typeface="맑은 고딕"/>
            </a:endParaRPr>
          </a:p>
        </p:txBody>
      </p:sp>
      <p:sp>
        <p:nvSpPr>
          <p:cNvPr id="15" name="choice_4"/>
          <p:cNvSpPr txBox="1"/>
          <p:nvPr/>
        </p:nvSpPr>
        <p:spPr>
          <a:xfrm>
            <a:off x="457200" y="3832098"/>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④</a:t>
            </a:r>
            <a:r>
              <a:rPr lang="ko-KR" altLang="en-US" sz="1800" b="0" dirty="0">
                <a:solidFill>
                  <a:srgbClr val="1F2328"/>
                </a:solidFill>
                <a:latin typeface="맑은 고딕"/>
                <a:ea typeface="맑은 고딕"/>
                <a:cs typeface="맑은 고딕"/>
              </a:rPr>
              <a:t>	깃발이 있는 선수가 마라톤에서 우승을 한다</a:t>
            </a:r>
            <a:endParaRPr lang="ko-KR" altLang="en-US" sz="1800" b="0" dirty="0">
              <a:solidFill>
                <a:srgbClr val="1F2328"/>
              </a:solidFill>
              <a:latin typeface="맑은 고딕"/>
              <a:ea typeface="맑은 고딕"/>
              <a:cs typeface="맑은 고딕"/>
            </a:endParaRPr>
          </a:p>
        </p:txBody>
      </p:sp>
      <p:sp>
        <p:nvSpPr>
          <p:cNvPr id="16" name="choice_5"/>
          <p:cNvSpPr txBox="1"/>
          <p:nvPr/>
        </p:nvSpPr>
        <p:spPr>
          <a:xfrm>
            <a:off x="457200" y="4239514"/>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⑤</a:t>
            </a:r>
            <a:r>
              <a:rPr lang="ko-KR" altLang="en-US" sz="1800" b="0" dirty="0">
                <a:solidFill>
                  <a:srgbClr val="1F2328"/>
                </a:solidFill>
                <a:latin typeface="맑은 고딕"/>
                <a:ea typeface="맑은 고딕"/>
                <a:cs typeface="맑은 고딕"/>
              </a:rPr>
              <a:t>	목표 시간은 경주 도중에 자주 바꿔야 한다</a:t>
            </a:r>
            <a:endParaRPr lang="ko-KR" altLang="en-US" sz="1800" b="0" dirty="0">
              <a:solidFill>
                <a:srgbClr val="1F2328"/>
              </a:solidFill>
              <a:latin typeface="맑은 고딕"/>
              <a:ea typeface="맑은 고딕"/>
              <a:cs typeface="맑은 고딕"/>
            </a:endParaRPr>
          </a:p>
        </p:txBody>
      </p:sp>
      <p:sp>
        <p:nvSpPr>
          <p:cNvPr id="17" name="rv_answer"/>
          <p:cNvSpPr/>
          <p:nvPr/>
        </p:nvSpPr>
        <p:spPr>
          <a:xfrm>
            <a:off x="457200" y="472922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② </a:t>
            </a:r>
            <a:r>
              <a:rPr lang="ko-KR" altLang="en-US" sz="1900" b="1" dirty="0">
                <a:solidFill>
                  <a:srgbClr val="5A4200"/>
                </a:solidFill>
                <a:latin typeface="맑은 고딕"/>
                <a:ea typeface="맑은 고딕"/>
                <a:cs typeface="맑은 고딕"/>
              </a:rPr>
              <a:t>페이서는 남들이 목표 시간을 이루도록 돕는다</a:t>
            </a:r>
            <a:endParaRPr lang="ko-KR" altLang="en-US" sz="1900" b="1" dirty="0">
              <a:solidFill>
                <a:srgbClr val="5A4200"/>
              </a:solidFill>
              <a:latin typeface="맑은 고딕"/>
              <a:ea typeface="맑은 고딕"/>
              <a:cs typeface="맑은 고딕"/>
            </a:endParaRPr>
          </a:p>
        </p:txBody>
      </p:sp>
      <p:sp>
        <p:nvSpPr>
          <p:cNvPr id="18" name="rv_why"/>
          <p:cNvSpPr/>
          <p:nvPr/>
        </p:nvSpPr>
        <p:spPr>
          <a:xfrm>
            <a:off x="457200" y="5328158"/>
            <a:ext cx="11277295" cy="109092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페이서가 시간을 챙겨 주어 선수가 목표를 더 쉽게 이룬다고 했다. 남의 목표 달성을 돕는다는 ②가 요지다.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250"/>
                                        <p:tgtEl>
                                          <p:spTgt spid="1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25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25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7" grpId="0" animBg="1"/>
      <p:bldP spid="9" grpId="0" animBg="1"/>
      <p:bldP spid="10" grpId="0" animBg="1"/>
      <p:bldP spid="18" grpId="0" animBg="1"/>
    </p:bldLst>
  </p:timing>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L5-2</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1 · 5</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5. 다음 글의 내용과 일치하지 않는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5</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본문 근거 형광 + 정답 원리</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151257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1512570"/>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1F2328"/>
                </a:solidFill>
                <a:latin typeface="Calibri"/>
                <a:ea typeface="맑은 고딕"/>
                <a:cs typeface="Calibri"/>
              </a:rPr>
              <a:t>Each pacer runs at different speeds and finishes the race in different times. Pacers usually have flags or balloons showing their finish time. Runners can choose a pacer depending on their target finish time. For example, if a runner wants to finish the race in four hours, the runner will follow the four‑hour pacer. Since the pacer keeps track of the time, the runner can achieve his or her goal of finishing the marathon in a particular time more easily. In short, pacers run but </a:t>
            </a:r>
            <a:r>
              <a:rPr lang="en-US" altLang="ko-KR" sz="1500" b="0" dirty="0">
                <a:solidFill>
                  <a:srgbClr val="1F2328"/>
                </a:solidFill>
                <a:latin typeface="Calibri"/>
                <a:ea typeface="맑은 고딕"/>
                <a:cs typeface="Calibri"/>
              </a:rPr>
              <a:t>they don’t run to win</a:t>
            </a:r>
            <a:r>
              <a:rPr lang="en-US" altLang="ko-KR" sz="1500" b="0" dirty="0">
                <a:solidFill>
                  <a:srgbClr val="1F2328"/>
                </a:solidFill>
                <a:latin typeface="Calibri"/>
                <a:ea typeface="맑은 고딕"/>
                <a:cs typeface="Calibri"/>
              </a:rPr>
              <a:t>. They run for others.</a:t>
            </a:r>
            <a:endParaRPr lang="en-US" altLang="ko-KR" sz="1500" b="0" dirty="0">
              <a:solidFill>
                <a:srgbClr val="1F2328"/>
              </a:solidFill>
              <a:latin typeface="Calibri"/>
              <a:ea typeface="맑은 고딕"/>
              <a:cs typeface="Calibri"/>
            </a:endParaRPr>
          </a:p>
        </p:txBody>
      </p:sp>
      <p:sp>
        <p:nvSpPr>
          <p:cNvPr id="9" name="rv_evidence_card"/>
          <p:cNvSpPr/>
          <p:nvPr/>
        </p:nvSpPr>
        <p:spPr>
          <a:xfrm>
            <a:off x="457200" y="950976"/>
            <a:ext cx="11277295" cy="151257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rv_evidence"/>
          <p:cNvSpPr txBox="1"/>
          <p:nvPr/>
        </p:nvSpPr>
        <p:spPr>
          <a:xfrm>
            <a:off x="457200" y="950976"/>
            <a:ext cx="11277295" cy="1512570"/>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B3BAC6"/>
                </a:solidFill>
                <a:latin typeface="Calibri"/>
                <a:ea typeface="맑은 고딕"/>
                <a:cs typeface="Calibri"/>
              </a:rPr>
              <a:t>Each pacer runs at different speeds and finishes the race in different times. Pacers usually have flags or balloons showing their finish time. Runners can choose a pacer depending on their target finish time. For example, if a runner wants to finish the race in four hours, the runner will follow the four‑hour pacer. Since the pacer keeps track of the time, the runner can achieve his or her goal of finishing the marathon in a particular time more easily. In short, pacers run but </a:t>
            </a:r>
            <a:r>
              <a:rPr lang="en-US" altLang="ko-KR" sz="1500" b="0" dirty="0">
                <a:solidFill>
                  <a:srgbClr val="111111"/>
                </a:solidFill>
                <a:highlight>
                  <a:srgbClr val="FFE45C"/>
                </a:highlight>
                <a:latin typeface="Calibri"/>
                <a:ea typeface="맑은 고딕"/>
                <a:cs typeface="Calibri"/>
              </a:rPr>
              <a:t>they don’t run to win</a:t>
            </a:r>
            <a:r>
              <a:rPr lang="en-US" altLang="ko-KR" sz="1500" b="0" dirty="0">
                <a:solidFill>
                  <a:srgbClr val="B3BAC6"/>
                </a:solidFill>
                <a:latin typeface="Calibri"/>
                <a:ea typeface="맑은 고딕"/>
                <a:cs typeface="Calibri"/>
              </a:rPr>
              <a:t>. They run for others.</a:t>
            </a:r>
            <a:endParaRPr lang="en-US" altLang="ko-KR" sz="1500" b="0" dirty="0">
              <a:solidFill>
                <a:srgbClr val="B3BAC6"/>
              </a:solidFill>
              <a:latin typeface="Calibri"/>
              <a:ea typeface="맑은 고딕"/>
              <a:cs typeface="Calibri"/>
            </a:endParaRPr>
          </a:p>
        </p:txBody>
      </p:sp>
      <p:sp>
        <p:nvSpPr>
          <p:cNvPr id="11" name="choice_1"/>
          <p:cNvSpPr txBox="1"/>
          <p:nvPr/>
        </p:nvSpPr>
        <p:spPr>
          <a:xfrm>
            <a:off x="457200" y="2609850"/>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①</a:t>
            </a:r>
            <a:r>
              <a:rPr lang="ko-KR" altLang="en-US" sz="1800" b="0" dirty="0">
                <a:solidFill>
                  <a:srgbClr val="1F2328"/>
                </a:solidFill>
                <a:latin typeface="맑은 고딕"/>
                <a:ea typeface="맑은 고딕"/>
                <a:cs typeface="맑은 고딕"/>
              </a:rPr>
              <a:t>	페이서는 우승하기 위해 가장 빨리 달린다</a:t>
            </a:r>
            <a:endParaRPr lang="ko-KR" altLang="en-US" sz="1800" b="0" dirty="0">
              <a:solidFill>
                <a:srgbClr val="1F2328"/>
              </a:solidFill>
              <a:latin typeface="맑은 고딕"/>
              <a:ea typeface="맑은 고딕"/>
              <a:cs typeface="맑은 고딕"/>
            </a:endParaRPr>
          </a:p>
        </p:txBody>
      </p:sp>
      <p:sp>
        <p:nvSpPr>
          <p:cNvPr id="12" name="rv_pick"/>
          <p:cNvSpPr txBox="1"/>
          <p:nvPr/>
        </p:nvSpPr>
        <p:spPr>
          <a:xfrm>
            <a:off x="457200" y="2609850"/>
            <a:ext cx="11277295" cy="379984"/>
          </a:xfrm>
          <a:prstGeom prst="rect">
            <a:avLst/>
          </a:prstGeom>
          <a:solidFill>
            <a:srgbClr val="FFF3C4"/>
          </a:solid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C00000"/>
                </a:solidFill>
                <a:latin typeface="맑은 고딕"/>
                <a:ea typeface="맑은 고딕"/>
                <a:cs typeface="맑은 고딕"/>
              </a:rPr>
              <a:t>①</a:t>
            </a:r>
            <a:r>
              <a:rPr lang="ko-KR" altLang="en-US" sz="1800" b="0" dirty="0">
                <a:solidFill>
                  <a:srgbClr val="C00000"/>
                </a:solidFill>
                <a:latin typeface="맑은 고딕"/>
                <a:ea typeface="맑은 고딕"/>
                <a:cs typeface="맑은 고딕"/>
              </a:rPr>
              <a:t>	페이서는 우승하기 위해 가장 빨리 달린다</a:t>
            </a:r>
            <a:endParaRPr lang="ko-KR" altLang="en-US" sz="1800" b="0" dirty="0">
              <a:solidFill>
                <a:srgbClr val="C00000"/>
              </a:solidFill>
              <a:latin typeface="맑은 고딕"/>
              <a:ea typeface="맑은 고딕"/>
              <a:cs typeface="맑은 고딕"/>
            </a:endParaRPr>
          </a:p>
        </p:txBody>
      </p:sp>
      <p:sp>
        <p:nvSpPr>
          <p:cNvPr id="13" name="choice_2"/>
          <p:cNvSpPr txBox="1"/>
          <p:nvPr/>
        </p:nvSpPr>
        <p:spPr>
          <a:xfrm>
            <a:off x="457200" y="3017266"/>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②</a:t>
            </a:r>
            <a:r>
              <a:rPr lang="ko-KR" altLang="en-US" sz="1800" b="0" dirty="0">
                <a:solidFill>
                  <a:srgbClr val="1F2328"/>
                </a:solidFill>
                <a:latin typeface="맑은 고딕"/>
                <a:ea typeface="맑은 고딕"/>
                <a:cs typeface="맑은 고딕"/>
              </a:rPr>
              <a:t>	각 페이서는 서로 다른 속도로 달린다</a:t>
            </a:r>
            <a:endParaRPr lang="ko-KR" altLang="en-US" sz="1800" b="0" dirty="0">
              <a:solidFill>
                <a:srgbClr val="1F2328"/>
              </a:solidFill>
              <a:latin typeface="맑은 고딕"/>
              <a:ea typeface="맑은 고딕"/>
              <a:cs typeface="맑은 고딕"/>
            </a:endParaRPr>
          </a:p>
        </p:txBody>
      </p:sp>
      <p:sp>
        <p:nvSpPr>
          <p:cNvPr id="14" name="choice_3"/>
          <p:cNvSpPr txBox="1"/>
          <p:nvPr/>
        </p:nvSpPr>
        <p:spPr>
          <a:xfrm>
            <a:off x="457200" y="3424682"/>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③</a:t>
            </a:r>
            <a:r>
              <a:rPr lang="ko-KR" altLang="en-US" sz="1800" b="0" dirty="0">
                <a:solidFill>
                  <a:srgbClr val="1F2328"/>
                </a:solidFill>
                <a:latin typeface="맑은 고딕"/>
                <a:ea typeface="맑은 고딕"/>
                <a:cs typeface="맑은 고딕"/>
              </a:rPr>
              <a:t>	페이서는 대개 깃발이나 풍선을 지닌다</a:t>
            </a:r>
            <a:endParaRPr lang="ko-KR" altLang="en-US" sz="1800" b="0" dirty="0">
              <a:solidFill>
                <a:srgbClr val="1F2328"/>
              </a:solidFill>
              <a:latin typeface="맑은 고딕"/>
              <a:ea typeface="맑은 고딕"/>
              <a:cs typeface="맑은 고딕"/>
            </a:endParaRPr>
          </a:p>
        </p:txBody>
      </p:sp>
      <p:sp>
        <p:nvSpPr>
          <p:cNvPr id="15" name="choice_4"/>
          <p:cNvSpPr txBox="1"/>
          <p:nvPr/>
        </p:nvSpPr>
        <p:spPr>
          <a:xfrm>
            <a:off x="457200" y="3832098"/>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④</a:t>
            </a:r>
            <a:r>
              <a:rPr lang="ko-KR" altLang="en-US" sz="1800" b="0" dirty="0">
                <a:solidFill>
                  <a:srgbClr val="1F2328"/>
                </a:solidFill>
                <a:latin typeface="맑은 고딕"/>
                <a:ea typeface="맑은 고딕"/>
                <a:cs typeface="맑은 고딕"/>
              </a:rPr>
              <a:t>	선수는 목표 시간에 따라 페이서를 고른다</a:t>
            </a:r>
            <a:endParaRPr lang="ko-KR" altLang="en-US" sz="1800" b="0" dirty="0">
              <a:solidFill>
                <a:srgbClr val="1F2328"/>
              </a:solidFill>
              <a:latin typeface="맑은 고딕"/>
              <a:ea typeface="맑은 고딕"/>
              <a:cs typeface="맑은 고딕"/>
            </a:endParaRPr>
          </a:p>
        </p:txBody>
      </p:sp>
      <p:sp>
        <p:nvSpPr>
          <p:cNvPr id="16" name="choice_5"/>
          <p:cNvSpPr txBox="1"/>
          <p:nvPr/>
        </p:nvSpPr>
        <p:spPr>
          <a:xfrm>
            <a:off x="457200" y="4239514"/>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⑤</a:t>
            </a:r>
            <a:r>
              <a:rPr lang="ko-KR" altLang="en-US" sz="1800" b="0" dirty="0">
                <a:solidFill>
                  <a:srgbClr val="1F2328"/>
                </a:solidFill>
                <a:latin typeface="맑은 고딕"/>
                <a:ea typeface="맑은 고딕"/>
                <a:cs typeface="맑은 고딕"/>
              </a:rPr>
              <a:t>	페이서는 경주 중에 시간을 계속 파악한다</a:t>
            </a:r>
            <a:endParaRPr lang="ko-KR" altLang="en-US" sz="1800" b="0" dirty="0">
              <a:solidFill>
                <a:srgbClr val="1F2328"/>
              </a:solidFill>
              <a:latin typeface="맑은 고딕"/>
              <a:ea typeface="맑은 고딕"/>
              <a:cs typeface="맑은 고딕"/>
            </a:endParaRPr>
          </a:p>
        </p:txBody>
      </p:sp>
      <p:sp>
        <p:nvSpPr>
          <p:cNvPr id="17" name="rv_answer"/>
          <p:cNvSpPr/>
          <p:nvPr/>
        </p:nvSpPr>
        <p:spPr>
          <a:xfrm>
            <a:off x="457200" y="472922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① </a:t>
            </a:r>
            <a:r>
              <a:rPr lang="ko-KR" altLang="en-US" sz="1900" b="1" dirty="0">
                <a:solidFill>
                  <a:srgbClr val="5A4200"/>
                </a:solidFill>
                <a:latin typeface="맑은 고딕"/>
                <a:ea typeface="맑은 고딕"/>
                <a:cs typeface="맑은 고딕"/>
              </a:rPr>
              <a:t>페이서는 우승하기 위해 가장 빨리 달린다</a:t>
            </a:r>
            <a:endParaRPr lang="ko-KR" altLang="en-US" sz="1900" b="1" dirty="0">
              <a:solidFill>
                <a:srgbClr val="5A4200"/>
              </a:solidFill>
              <a:latin typeface="맑은 고딕"/>
              <a:ea typeface="맑은 고딕"/>
              <a:cs typeface="맑은 고딕"/>
            </a:endParaRPr>
          </a:p>
        </p:txBody>
      </p:sp>
      <p:sp>
        <p:nvSpPr>
          <p:cNvPr id="18" name="rv_why"/>
          <p:cNvSpPr/>
          <p:nvPr/>
        </p:nvSpPr>
        <p:spPr>
          <a:xfrm>
            <a:off x="457200" y="5328158"/>
            <a:ext cx="11277295" cy="109092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페이서는 이기기 위해 달리지 않는다고 했다. 우승하려고 가장 빨리 달린다는 ①은 틀리다.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25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25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25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7" grpId="0" animBg="1"/>
      <p:bldP spid="9" grpId="0" animBg="1"/>
      <p:bldP spid="10" grpId="0" animBg="1"/>
      <p:bldP spid="18" grpId="0" animBg="1"/>
    </p:bldLst>
  </p:timing>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L5-2</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1 · 6</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6. 다음 글의 내용과 일치하는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5</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본문 근거 형광 + 정답 원리</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151257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1512570"/>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1F2328"/>
                </a:solidFill>
                <a:latin typeface="Calibri"/>
                <a:ea typeface="맑은 고딕"/>
                <a:cs typeface="Calibri"/>
              </a:rPr>
              <a:t>Each pacer runs at different speeds and finishes the race in different times. Pacers usually have </a:t>
            </a:r>
            <a:r>
              <a:rPr lang="en-US" altLang="ko-KR" sz="1500" b="0" dirty="0">
                <a:solidFill>
                  <a:srgbClr val="1F2328"/>
                </a:solidFill>
                <a:latin typeface="Calibri"/>
                <a:ea typeface="맑은 고딕"/>
                <a:cs typeface="Calibri"/>
              </a:rPr>
              <a:t>flags or balloons showing their finish time</a:t>
            </a:r>
            <a:r>
              <a:rPr lang="en-US" altLang="ko-KR" sz="1500" b="0" dirty="0">
                <a:solidFill>
                  <a:srgbClr val="1F2328"/>
                </a:solidFill>
                <a:latin typeface="Calibri"/>
                <a:ea typeface="맑은 고딕"/>
                <a:cs typeface="Calibri"/>
              </a:rPr>
              <a:t>. Runners can choose a pacer depending on their target finish time. For example, if a runner wants to finish the race in four hours, the runner will follow the four‑hour pacer. Since the pacer keeps track of the time, the runner can achieve his or her goal of finishing the marathon in a particular time more easily. In short, pacers run but they don’t run to win. They run for others.</a:t>
            </a:r>
            <a:endParaRPr lang="en-US" altLang="ko-KR" sz="1500" b="0" dirty="0">
              <a:solidFill>
                <a:srgbClr val="1F2328"/>
              </a:solidFill>
              <a:latin typeface="Calibri"/>
              <a:ea typeface="맑은 고딕"/>
              <a:cs typeface="Calibri"/>
            </a:endParaRPr>
          </a:p>
        </p:txBody>
      </p:sp>
      <p:sp>
        <p:nvSpPr>
          <p:cNvPr id="9" name="rv_evidence_card"/>
          <p:cNvSpPr/>
          <p:nvPr/>
        </p:nvSpPr>
        <p:spPr>
          <a:xfrm>
            <a:off x="457200" y="950976"/>
            <a:ext cx="11277295" cy="151257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rv_evidence"/>
          <p:cNvSpPr txBox="1"/>
          <p:nvPr/>
        </p:nvSpPr>
        <p:spPr>
          <a:xfrm>
            <a:off x="457200" y="950976"/>
            <a:ext cx="11277295" cy="1512570"/>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B3BAC6"/>
                </a:solidFill>
                <a:latin typeface="Calibri"/>
                <a:ea typeface="맑은 고딕"/>
                <a:cs typeface="Calibri"/>
              </a:rPr>
              <a:t>Each pacer runs at different speeds and finishes the race in different times. Pacers usually have </a:t>
            </a:r>
            <a:r>
              <a:rPr lang="en-US" altLang="ko-KR" sz="1500" b="0" dirty="0">
                <a:solidFill>
                  <a:srgbClr val="111111"/>
                </a:solidFill>
                <a:highlight>
                  <a:srgbClr val="FFE45C"/>
                </a:highlight>
                <a:latin typeface="Calibri"/>
                <a:ea typeface="맑은 고딕"/>
                <a:cs typeface="Calibri"/>
              </a:rPr>
              <a:t>flags or balloons showing their finish time</a:t>
            </a:r>
            <a:r>
              <a:rPr lang="en-US" altLang="ko-KR" sz="1500" b="0" dirty="0">
                <a:solidFill>
                  <a:srgbClr val="B3BAC6"/>
                </a:solidFill>
                <a:latin typeface="Calibri"/>
                <a:ea typeface="맑은 고딕"/>
                <a:cs typeface="Calibri"/>
              </a:rPr>
              <a:t>. Runners can choose a pacer depending on their target finish time. For example, if a runner wants to finish the race in four hours, the runner will follow the four‑hour pacer. Since the pacer keeps track of the time, the runner can achieve his or her goal of finishing the marathon in a particular time more easily. In short, pacers run but they don’t run to win. They run for others.</a:t>
            </a:r>
            <a:endParaRPr lang="en-US" altLang="ko-KR" sz="1500" b="0" dirty="0">
              <a:solidFill>
                <a:srgbClr val="B3BAC6"/>
              </a:solidFill>
              <a:latin typeface="Calibri"/>
              <a:ea typeface="맑은 고딕"/>
              <a:cs typeface="Calibri"/>
            </a:endParaRPr>
          </a:p>
        </p:txBody>
      </p:sp>
      <p:sp>
        <p:nvSpPr>
          <p:cNvPr id="11" name="choice_1"/>
          <p:cNvSpPr txBox="1"/>
          <p:nvPr/>
        </p:nvSpPr>
        <p:spPr>
          <a:xfrm>
            <a:off x="457200" y="2609850"/>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①</a:t>
            </a:r>
            <a:r>
              <a:rPr lang="ko-KR" altLang="en-US" sz="1800" b="0" dirty="0">
                <a:solidFill>
                  <a:srgbClr val="1F2328"/>
                </a:solidFill>
                <a:latin typeface="맑은 고딕"/>
                <a:ea typeface="맑은 고딕"/>
                <a:cs typeface="맑은 고딕"/>
              </a:rPr>
              <a:t>	모든 페이서는 같은 시간에 경주를 마친다</a:t>
            </a:r>
            <a:endParaRPr lang="ko-KR" altLang="en-US" sz="1800" b="0" dirty="0">
              <a:solidFill>
                <a:srgbClr val="1F2328"/>
              </a:solidFill>
              <a:latin typeface="맑은 고딕"/>
              <a:ea typeface="맑은 고딕"/>
              <a:cs typeface="맑은 고딕"/>
            </a:endParaRPr>
          </a:p>
        </p:txBody>
      </p:sp>
      <p:sp>
        <p:nvSpPr>
          <p:cNvPr id="12" name="choice_2"/>
          <p:cNvSpPr txBox="1"/>
          <p:nvPr/>
        </p:nvSpPr>
        <p:spPr>
          <a:xfrm>
            <a:off x="457200" y="3017266"/>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②</a:t>
            </a:r>
            <a:r>
              <a:rPr lang="ko-KR" altLang="en-US" sz="1800" b="0" dirty="0">
                <a:solidFill>
                  <a:srgbClr val="1F2328"/>
                </a:solidFill>
                <a:latin typeface="맑은 고딕"/>
                <a:ea typeface="맑은 고딕"/>
                <a:cs typeface="맑은 고딕"/>
              </a:rPr>
              <a:t>	선수는 정해진 페이서만 따라가야 한다</a:t>
            </a:r>
            <a:endParaRPr lang="ko-KR" altLang="en-US" sz="1800" b="0" dirty="0">
              <a:solidFill>
                <a:srgbClr val="1F2328"/>
              </a:solidFill>
              <a:latin typeface="맑은 고딕"/>
              <a:ea typeface="맑은 고딕"/>
              <a:cs typeface="맑은 고딕"/>
            </a:endParaRPr>
          </a:p>
        </p:txBody>
      </p:sp>
      <p:sp>
        <p:nvSpPr>
          <p:cNvPr id="13" name="choice_3"/>
          <p:cNvSpPr txBox="1"/>
          <p:nvPr/>
        </p:nvSpPr>
        <p:spPr>
          <a:xfrm>
            <a:off x="457200" y="3424682"/>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③</a:t>
            </a:r>
            <a:r>
              <a:rPr lang="ko-KR" altLang="en-US" sz="1800" b="0" dirty="0">
                <a:solidFill>
                  <a:srgbClr val="1F2328"/>
                </a:solidFill>
                <a:latin typeface="맑은 고딕"/>
                <a:ea typeface="맑은 고딕"/>
                <a:cs typeface="맑은 고딕"/>
              </a:rPr>
              <a:t>	페이서의 풍선에는 완주 시간이 표시된다</a:t>
            </a:r>
            <a:endParaRPr lang="ko-KR" altLang="en-US" sz="1800" b="0" dirty="0">
              <a:solidFill>
                <a:srgbClr val="1F2328"/>
              </a:solidFill>
              <a:latin typeface="맑은 고딕"/>
              <a:ea typeface="맑은 고딕"/>
              <a:cs typeface="맑은 고딕"/>
            </a:endParaRPr>
          </a:p>
        </p:txBody>
      </p:sp>
      <p:sp>
        <p:nvSpPr>
          <p:cNvPr id="14" name="rv_pick"/>
          <p:cNvSpPr txBox="1"/>
          <p:nvPr/>
        </p:nvSpPr>
        <p:spPr>
          <a:xfrm>
            <a:off x="457200" y="3424682"/>
            <a:ext cx="11277295" cy="379984"/>
          </a:xfrm>
          <a:prstGeom prst="rect">
            <a:avLst/>
          </a:prstGeom>
          <a:solidFill>
            <a:srgbClr val="FFF3C4"/>
          </a:solid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C00000"/>
                </a:solidFill>
                <a:latin typeface="맑은 고딕"/>
                <a:ea typeface="맑은 고딕"/>
                <a:cs typeface="맑은 고딕"/>
              </a:rPr>
              <a:t>③</a:t>
            </a:r>
            <a:r>
              <a:rPr lang="ko-KR" altLang="en-US" sz="1800" b="0" dirty="0">
                <a:solidFill>
                  <a:srgbClr val="C00000"/>
                </a:solidFill>
                <a:latin typeface="맑은 고딕"/>
                <a:ea typeface="맑은 고딕"/>
                <a:cs typeface="맑은 고딕"/>
              </a:rPr>
              <a:t>	페이서의 풍선에는 완주 시간이 표시된다</a:t>
            </a:r>
            <a:endParaRPr lang="ko-KR" altLang="en-US" sz="1800" b="0" dirty="0">
              <a:solidFill>
                <a:srgbClr val="C00000"/>
              </a:solidFill>
              <a:latin typeface="맑은 고딕"/>
              <a:ea typeface="맑은 고딕"/>
              <a:cs typeface="맑은 고딕"/>
            </a:endParaRPr>
          </a:p>
        </p:txBody>
      </p:sp>
      <p:sp>
        <p:nvSpPr>
          <p:cNvPr id="15" name="choice_4"/>
          <p:cNvSpPr txBox="1"/>
          <p:nvPr/>
        </p:nvSpPr>
        <p:spPr>
          <a:xfrm>
            <a:off x="457200" y="3832098"/>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④</a:t>
            </a:r>
            <a:r>
              <a:rPr lang="ko-KR" altLang="en-US" sz="1800" b="0" dirty="0">
                <a:solidFill>
                  <a:srgbClr val="1F2328"/>
                </a:solidFill>
                <a:latin typeface="맑은 고딕"/>
                <a:ea typeface="맑은 고딕"/>
                <a:cs typeface="맑은 고딕"/>
              </a:rPr>
              <a:t>	4시간 목표 선수는 2시간 페이서를 따른다</a:t>
            </a:r>
            <a:endParaRPr lang="ko-KR" altLang="en-US" sz="1800" b="0" dirty="0">
              <a:solidFill>
                <a:srgbClr val="1F2328"/>
              </a:solidFill>
              <a:latin typeface="맑은 고딕"/>
              <a:ea typeface="맑은 고딕"/>
              <a:cs typeface="맑은 고딕"/>
            </a:endParaRPr>
          </a:p>
        </p:txBody>
      </p:sp>
      <p:sp>
        <p:nvSpPr>
          <p:cNvPr id="16" name="choice_5"/>
          <p:cNvSpPr txBox="1"/>
          <p:nvPr/>
        </p:nvSpPr>
        <p:spPr>
          <a:xfrm>
            <a:off x="457200" y="4239514"/>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⑤</a:t>
            </a:r>
            <a:r>
              <a:rPr lang="ko-KR" altLang="en-US" sz="1800" b="0" dirty="0">
                <a:solidFill>
                  <a:srgbClr val="1F2328"/>
                </a:solidFill>
                <a:latin typeface="맑은 고딕"/>
                <a:ea typeface="맑은 고딕"/>
                <a:cs typeface="맑은 고딕"/>
              </a:rPr>
              <a:t>	선수는 페이서 없이 목표를 더 쉽게 이룬다</a:t>
            </a:r>
            <a:endParaRPr lang="ko-KR" altLang="en-US" sz="1800" b="0" dirty="0">
              <a:solidFill>
                <a:srgbClr val="1F2328"/>
              </a:solidFill>
              <a:latin typeface="맑은 고딕"/>
              <a:ea typeface="맑은 고딕"/>
              <a:cs typeface="맑은 고딕"/>
            </a:endParaRPr>
          </a:p>
        </p:txBody>
      </p:sp>
      <p:sp>
        <p:nvSpPr>
          <p:cNvPr id="17" name="rv_answer"/>
          <p:cNvSpPr/>
          <p:nvPr/>
        </p:nvSpPr>
        <p:spPr>
          <a:xfrm>
            <a:off x="457200" y="472922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③ </a:t>
            </a:r>
            <a:r>
              <a:rPr lang="ko-KR" altLang="en-US" sz="1900" b="1" dirty="0">
                <a:solidFill>
                  <a:srgbClr val="5A4200"/>
                </a:solidFill>
                <a:latin typeface="맑은 고딕"/>
                <a:ea typeface="맑은 고딕"/>
                <a:cs typeface="맑은 고딕"/>
              </a:rPr>
              <a:t>페이서의 풍선에는 완주 시간이 표시된다</a:t>
            </a:r>
            <a:endParaRPr lang="ko-KR" altLang="en-US" sz="1900" b="1" dirty="0">
              <a:solidFill>
                <a:srgbClr val="5A4200"/>
              </a:solidFill>
              <a:latin typeface="맑은 고딕"/>
              <a:ea typeface="맑은 고딕"/>
              <a:cs typeface="맑은 고딕"/>
            </a:endParaRPr>
          </a:p>
        </p:txBody>
      </p:sp>
      <p:sp>
        <p:nvSpPr>
          <p:cNvPr id="18" name="rv_why"/>
          <p:cNvSpPr/>
          <p:nvPr/>
        </p:nvSpPr>
        <p:spPr>
          <a:xfrm>
            <a:off x="457200" y="5328158"/>
            <a:ext cx="11277295" cy="109092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페이서의 깃발이나 풍선이 완주 시간을 보여 준다고 했다. 이와 같은 ③이 맞다.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250"/>
                                        <p:tgtEl>
                                          <p:spTgt spid="1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25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25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7" grpId="0" animBg="1"/>
      <p:bldP spid="9" grpId="0" animBg="1"/>
      <p:bldP spid="10" grpId="0" animBg="1"/>
      <p:bldP spid="18" grpId="0" animBg="1"/>
    </p:bldLst>
  </p:timing>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L5-2</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2 · 1</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1. 주어진 글 다음에 이어질 글의 순서로 가장 적절한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5</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정답 원리</a:t>
            </a:r>
            <a:endParaRPr lang="ko-KR" altLang="en-US" sz="1000" b="0" dirty="0">
              <a:solidFill>
                <a:srgbClr val="7A808C"/>
              </a:solidFill>
              <a:latin typeface="맑은 고딕"/>
              <a:ea typeface="맑은 고딕"/>
              <a:cs typeface="맑은 고딕"/>
            </a:endParaRPr>
          </a:p>
        </p:txBody>
      </p:sp>
      <p:sp>
        <p:nvSpPr>
          <p:cNvPr id="7" name="given_card"/>
          <p:cNvSpPr/>
          <p:nvPr/>
        </p:nvSpPr>
        <p:spPr>
          <a:xfrm>
            <a:off x="457200" y="950976"/>
            <a:ext cx="11277295" cy="481838"/>
          </a:xfrm>
          <a:prstGeom prst="roundRect">
            <a:avLst>
              <a:gd name="adj" fmla="val 6000"/>
            </a:avLst>
          </a:prstGeom>
          <a:solidFill>
            <a:srgbClr val="FFFFFF"/>
          </a:solidFill>
          <a:ln w="15875">
            <a:solidFill>
              <a:srgbClr val="1E2A5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given"/>
          <p:cNvSpPr txBox="1"/>
          <p:nvPr/>
        </p:nvSpPr>
        <p:spPr>
          <a:xfrm>
            <a:off x="457200" y="950976"/>
            <a:ext cx="11277295" cy="481838"/>
          </a:xfrm>
          <a:prstGeom prst="rect">
            <a:avLst/>
          </a:prstGeom>
          <a:noFill/>
        </p:spPr>
        <p:txBody>
          <a:bodyPr wrap="square" lIns="201168" tIns="100584" rIns="201168" bIns="100584" anchor="t" rtlCol="0">
            <a:noAutofit/>
          </a:bodyPr>
          <a:lstStyle/>
          <a:p>
            <a:pPr algn="l">
              <a:lnSpc>
                <a:spcPts val="2210"/>
              </a:lnSpc>
              <a:spcBef>
                <a:spcPts val="0"/>
              </a:spcBef>
              <a:spcAft>
                <a:spcPts val="0"/>
              </a:spcAft>
              <a:buNone/>
            </a:pPr>
            <a:r>
              <a:rPr lang="en-US" altLang="ko-KR" sz="1700" b="0" dirty="0">
                <a:solidFill>
                  <a:srgbClr val="1F2328"/>
                </a:solidFill>
                <a:latin typeface="Calibri"/>
                <a:ea typeface="맑은 고딕"/>
                <a:cs typeface="Calibri"/>
              </a:rPr>
              <a:t>Each pacer runs at different speeds and finishes the race in different times.</a:t>
            </a:r>
            <a:endParaRPr lang="en-US" altLang="ko-KR" sz="1700" b="0" dirty="0">
              <a:solidFill>
                <a:srgbClr val="1F2328"/>
              </a:solidFill>
              <a:latin typeface="Calibri"/>
              <a:ea typeface="맑은 고딕"/>
              <a:cs typeface="Calibri"/>
            </a:endParaRPr>
          </a:p>
        </p:txBody>
      </p:sp>
      <p:sp>
        <p:nvSpPr>
          <p:cNvPr id="9" name="parts_card"/>
          <p:cNvSpPr/>
          <p:nvPr/>
        </p:nvSpPr>
        <p:spPr>
          <a:xfrm>
            <a:off x="457200" y="1560830"/>
            <a:ext cx="11277295" cy="2233422"/>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parts"/>
          <p:cNvSpPr txBox="1"/>
          <p:nvPr/>
        </p:nvSpPr>
        <p:spPr>
          <a:xfrm>
            <a:off x="457200" y="1560830"/>
            <a:ext cx="11277295" cy="2233422"/>
          </a:xfrm>
          <a:prstGeom prst="rect">
            <a:avLst/>
          </a:prstGeom>
          <a:noFill/>
        </p:spPr>
        <p:txBody>
          <a:bodyPr wrap="square" lIns="201168" tIns="118872" rIns="201168" bIns="118872" anchor="t" rtlCol="0">
            <a:noAutofit/>
          </a:bodyPr>
          <a:lstStyle/>
          <a:p>
            <a:pPr algn="just" marL="453390" indent="-453390">
              <a:lnSpc>
                <a:spcPts val="2210"/>
              </a:lnSpc>
              <a:spcBef>
                <a:spcPts val="0"/>
              </a:spcBef>
              <a:spcAft>
                <a:spcPts val="770"/>
              </a:spcAft>
              <a:buNone/>
              <a:tabLst>
                <a:tab pos="453390" algn="l"/>
              </a:tabLst>
            </a:pPr>
            <a:r>
              <a:rPr lang="en-US" altLang="ko-KR" sz="1700" b="1" dirty="0">
                <a:solidFill>
                  <a:srgbClr val="1E2A5A"/>
                </a:solidFill>
                <a:latin typeface="Calibri"/>
                <a:ea typeface="맑은 고딕"/>
                <a:cs typeface="Calibri"/>
              </a:rPr>
              <a:t>(A)</a:t>
            </a:r>
            <a:r>
              <a:rPr lang="en-US" altLang="ko-KR" sz="1700" b="0" dirty="0">
                <a:solidFill>
                  <a:srgbClr val="1F2328"/>
                </a:solidFill>
                <a:latin typeface="Calibri"/>
                <a:ea typeface="맑은 고딕"/>
                <a:cs typeface="Calibri"/>
              </a:rPr>
              <a:t>	For example, if a runner wants to finish the race in four hours, the runner will follow the four‑hour pacer. Since the pacer keeps track of the time, the runner can achieve his or her goal of finishing the marathon in a particular time more easily.</a:t>
            </a:r>
            <a:endParaRPr lang="en-US" altLang="ko-KR" sz="1700" b="0" dirty="0">
              <a:solidFill>
                <a:srgbClr val="1F2328"/>
              </a:solidFill>
              <a:latin typeface="Calibri"/>
              <a:ea typeface="맑은 고딕"/>
              <a:cs typeface="Calibri"/>
            </a:endParaRPr>
          </a:p>
          <a:p>
            <a:pPr algn="just" marL="453390" indent="-453390">
              <a:lnSpc>
                <a:spcPts val="2210"/>
              </a:lnSpc>
              <a:spcBef>
                <a:spcPts val="0"/>
              </a:spcBef>
              <a:spcAft>
                <a:spcPts val="770"/>
              </a:spcAft>
              <a:buNone/>
              <a:tabLst>
                <a:tab pos="453390" algn="l"/>
              </a:tabLst>
            </a:pPr>
            <a:r>
              <a:rPr lang="en-US" altLang="ko-KR" sz="1700" b="1" dirty="0">
                <a:solidFill>
                  <a:srgbClr val="1E2A5A"/>
                </a:solidFill>
                <a:latin typeface="Calibri"/>
                <a:ea typeface="맑은 고딕"/>
                <a:cs typeface="Calibri"/>
              </a:rPr>
              <a:t>(B)</a:t>
            </a:r>
            <a:r>
              <a:rPr lang="en-US" altLang="ko-KR" sz="1700" b="0" dirty="0">
                <a:solidFill>
                  <a:srgbClr val="1F2328"/>
                </a:solidFill>
                <a:latin typeface="Calibri"/>
                <a:ea typeface="맑은 고딕"/>
                <a:cs typeface="Calibri"/>
              </a:rPr>
              <a:t>	Pacers usually have flags or balloons showing their finish time. Runners can choose a pacer depending on their target finish time.</a:t>
            </a:r>
            <a:endParaRPr lang="en-US" altLang="ko-KR" sz="1700" b="0" dirty="0">
              <a:solidFill>
                <a:srgbClr val="1F2328"/>
              </a:solidFill>
              <a:latin typeface="Calibri"/>
              <a:ea typeface="맑은 고딕"/>
              <a:cs typeface="Calibri"/>
            </a:endParaRPr>
          </a:p>
          <a:p>
            <a:pPr algn="just" marL="453390" indent="-453390">
              <a:lnSpc>
                <a:spcPts val="2210"/>
              </a:lnSpc>
              <a:spcBef>
                <a:spcPts val="0"/>
              </a:spcBef>
              <a:spcAft>
                <a:spcPts val="770"/>
              </a:spcAft>
              <a:buNone/>
              <a:tabLst>
                <a:tab pos="453390" algn="l"/>
              </a:tabLst>
            </a:pPr>
            <a:r>
              <a:rPr lang="en-US" altLang="ko-KR" sz="1700" b="1" dirty="0">
                <a:solidFill>
                  <a:srgbClr val="1E2A5A"/>
                </a:solidFill>
                <a:latin typeface="Calibri"/>
                <a:ea typeface="맑은 고딕"/>
                <a:cs typeface="Calibri"/>
              </a:rPr>
              <a:t>(C)</a:t>
            </a:r>
            <a:r>
              <a:rPr lang="en-US" altLang="ko-KR" sz="1700" b="0" dirty="0">
                <a:solidFill>
                  <a:srgbClr val="1F2328"/>
                </a:solidFill>
                <a:latin typeface="Calibri"/>
                <a:ea typeface="맑은 고딕"/>
                <a:cs typeface="Calibri"/>
              </a:rPr>
              <a:t>	In short, pacers run but they don’t run to win. They run for others.</a:t>
            </a:r>
            <a:endParaRPr lang="en-US" altLang="ko-KR" sz="1700" b="0" dirty="0">
              <a:solidFill>
                <a:srgbClr val="1F2328"/>
              </a:solidFill>
              <a:latin typeface="Calibri"/>
              <a:ea typeface="맑은 고딕"/>
              <a:cs typeface="Calibri"/>
            </a:endParaRPr>
          </a:p>
        </p:txBody>
      </p:sp>
      <p:sp>
        <p:nvSpPr>
          <p:cNvPr id="11" name="options"/>
          <p:cNvSpPr txBox="1"/>
          <p:nvPr/>
        </p:nvSpPr>
        <p:spPr>
          <a:xfrm>
            <a:off x="457200" y="3903979"/>
            <a:ext cx="11277295" cy="420624"/>
          </a:xfrm>
          <a:prstGeom prst="rect">
            <a:avLst/>
          </a:prstGeom>
          <a:noFill/>
        </p:spPr>
        <p:txBody>
          <a:bodyPr wrap="square" lIns="91440" tIns="18288" rIns="91440" bIns="18288" anchor="ctr" rtlCol="0">
            <a:noAutofit/>
          </a:bodyPr>
          <a:lstStyle/>
          <a:p>
            <a:pPr algn="ctr">
              <a:lnSpc>
                <a:spcPts val="2560"/>
              </a:lnSpc>
              <a:spcBef>
                <a:spcPts val="0"/>
              </a:spcBef>
              <a:spcAft>
                <a:spcPts val="0"/>
              </a:spcAft>
              <a:buNone/>
            </a:pPr>
            <a:r>
              <a:rPr lang="ko-KR" altLang="en-US" sz="1800" b="1" dirty="0">
                <a:solidFill>
                  <a:srgbClr val="1E2A5A"/>
                </a:solidFill>
                <a:latin typeface="맑은 고딕"/>
                <a:ea typeface="맑은 고딕"/>
                <a:cs typeface="맑은 고딕"/>
              </a:rPr>
              <a:t>① </a:t>
            </a:r>
            <a:r>
              <a:rPr lang="en-US" altLang="ko-KR" sz="1800" b="0" dirty="0">
                <a:solidFill>
                  <a:srgbClr val="1F2328"/>
                </a:solidFill>
                <a:latin typeface="Calibri"/>
                <a:ea typeface="맑은 고딕"/>
                <a:cs typeface="Calibri"/>
              </a:rPr>
              <a:t>(A) - (C) - (B)</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② </a:t>
            </a:r>
            <a:r>
              <a:rPr lang="en-US" altLang="ko-KR" sz="1800" b="0" dirty="0">
                <a:solidFill>
                  <a:srgbClr val="1F2328"/>
                </a:solidFill>
                <a:latin typeface="Calibri"/>
                <a:ea typeface="맑은 고딕"/>
                <a:cs typeface="Calibri"/>
              </a:rPr>
              <a:t>(B) - (A) - (C)</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③ </a:t>
            </a:r>
            <a:r>
              <a:rPr lang="en-US" altLang="ko-KR" sz="1800" b="0" dirty="0">
                <a:solidFill>
                  <a:srgbClr val="1F2328"/>
                </a:solidFill>
                <a:latin typeface="Calibri"/>
                <a:ea typeface="맑은 고딕"/>
                <a:cs typeface="Calibri"/>
              </a:rPr>
              <a:t>(B) - (C) - (A)</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④ </a:t>
            </a:r>
            <a:r>
              <a:rPr lang="en-US" altLang="ko-KR" sz="1800" b="0" dirty="0">
                <a:solidFill>
                  <a:srgbClr val="1F2328"/>
                </a:solidFill>
                <a:latin typeface="Calibri"/>
                <a:ea typeface="맑은 고딕"/>
                <a:cs typeface="Calibri"/>
              </a:rPr>
              <a:t>(C) - (A) - (B)</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⑤ </a:t>
            </a:r>
            <a:r>
              <a:rPr lang="en-US" altLang="ko-KR" sz="1800" b="0" dirty="0">
                <a:solidFill>
                  <a:srgbClr val="1F2328"/>
                </a:solidFill>
                <a:latin typeface="Calibri"/>
                <a:ea typeface="맑은 고딕"/>
                <a:cs typeface="Calibri"/>
              </a:rPr>
              <a:t>(C) - (B) - (A)</a:t>
            </a:r>
            <a:endParaRPr lang="en-US" altLang="ko-KR" sz="1800" b="0" dirty="0">
              <a:solidFill>
                <a:srgbClr val="1F2328"/>
              </a:solidFill>
              <a:latin typeface="Calibri"/>
              <a:ea typeface="맑은 고딕"/>
              <a:cs typeface="Calibri"/>
            </a:endParaRPr>
          </a:p>
        </p:txBody>
      </p:sp>
      <p:sp>
        <p:nvSpPr>
          <p:cNvPr id="12" name="rv_pick"/>
          <p:cNvSpPr txBox="1"/>
          <p:nvPr/>
        </p:nvSpPr>
        <p:spPr>
          <a:xfrm>
            <a:off x="457200" y="3903979"/>
            <a:ext cx="11277295" cy="420624"/>
          </a:xfrm>
          <a:prstGeom prst="rect">
            <a:avLst/>
          </a:prstGeom>
          <a:noFill/>
        </p:spPr>
        <p:txBody>
          <a:bodyPr wrap="square" lIns="91440" tIns="18288" rIns="91440" bIns="18288" anchor="ctr" rtlCol="0">
            <a:noAutofit/>
          </a:bodyPr>
          <a:lstStyle/>
          <a:p>
            <a:pPr algn="ctr">
              <a:lnSpc>
                <a:spcPts val="2560"/>
              </a:lnSpc>
              <a:spcBef>
                <a:spcPts val="0"/>
              </a:spcBef>
              <a:spcAft>
                <a:spcPts val="0"/>
              </a:spcAft>
              <a:buNone/>
            </a:pPr>
            <a:r>
              <a:rPr lang="ko-KR" altLang="en-US" sz="1800" b="1" dirty="0">
                <a:solidFill>
                  <a:srgbClr val="1E2A5A">
                    <a:alpha val="0"/>
                  </a:srgbClr>
                </a:solidFill>
                <a:latin typeface="맑은 고딕"/>
                <a:ea typeface="맑은 고딕"/>
                <a:cs typeface="맑은 고딕"/>
              </a:rPr>
              <a:t>① </a:t>
            </a:r>
            <a:r>
              <a:rPr lang="en-US" altLang="ko-KR" sz="1800" b="0" dirty="0">
                <a:solidFill>
                  <a:srgbClr val="1F2328">
                    <a:alpha val="0"/>
                  </a:srgbClr>
                </a:solidFill>
                <a:latin typeface="Calibri"/>
                <a:ea typeface="맑은 고딕"/>
                <a:cs typeface="Calibri"/>
              </a:rPr>
              <a:t>(A) - (C) - (B)</a:t>
            </a:r>
            <a:r>
              <a:rPr lang="en-US" altLang="ko-KR" sz="1800" b="0" dirty="0">
                <a:solidFill>
                  <a:srgbClr val="1F2328">
                    <a:alpha val="0"/>
                  </a:srgbClr>
                </a:solidFill>
                <a:latin typeface="Calibri"/>
                <a:ea typeface="맑은 고딕"/>
                <a:cs typeface="Calibri"/>
              </a:rPr>
              <a:t>       </a:t>
            </a:r>
            <a:r>
              <a:rPr lang="ko-KR" altLang="en-US" sz="1800" b="1" dirty="0">
                <a:solidFill>
                  <a:srgbClr val="C00000"/>
                </a:solidFill>
                <a:highlight>
                  <a:srgbClr val="FFFFFF"/>
                </a:highlight>
                <a:latin typeface="맑은 고딕"/>
                <a:ea typeface="맑은 고딕"/>
                <a:cs typeface="맑은 고딕"/>
              </a:rPr>
              <a:t>② </a:t>
            </a:r>
            <a:r>
              <a:rPr lang="en-US" altLang="ko-KR" sz="1800" b="0" dirty="0">
                <a:solidFill>
                  <a:srgbClr val="C00000"/>
                </a:solidFill>
                <a:highlight>
                  <a:srgbClr val="FFFFFF"/>
                </a:highlight>
                <a:latin typeface="Calibri"/>
                <a:ea typeface="맑은 고딕"/>
                <a:cs typeface="Calibri"/>
              </a:rPr>
              <a:t>(B) - (A) - (C)</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③ </a:t>
            </a:r>
            <a:r>
              <a:rPr lang="en-US" altLang="ko-KR" sz="1800" b="0" dirty="0">
                <a:solidFill>
                  <a:srgbClr val="1F2328">
                    <a:alpha val="0"/>
                  </a:srgbClr>
                </a:solidFill>
                <a:latin typeface="Calibri"/>
                <a:ea typeface="맑은 고딕"/>
                <a:cs typeface="Calibri"/>
              </a:rPr>
              <a:t>(B) - (C) - (A)</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④ </a:t>
            </a:r>
            <a:r>
              <a:rPr lang="en-US" altLang="ko-KR" sz="1800" b="0" dirty="0">
                <a:solidFill>
                  <a:srgbClr val="1F2328">
                    <a:alpha val="0"/>
                  </a:srgbClr>
                </a:solidFill>
                <a:latin typeface="Calibri"/>
                <a:ea typeface="맑은 고딕"/>
                <a:cs typeface="Calibri"/>
              </a:rPr>
              <a:t>(C) - (A) - (B)</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⑤ </a:t>
            </a:r>
            <a:r>
              <a:rPr lang="en-US" altLang="ko-KR" sz="1800" b="0" dirty="0">
                <a:solidFill>
                  <a:srgbClr val="1F2328">
                    <a:alpha val="0"/>
                  </a:srgbClr>
                </a:solidFill>
                <a:latin typeface="Calibri"/>
                <a:ea typeface="맑은 고딕"/>
                <a:cs typeface="Calibri"/>
              </a:rPr>
              <a:t>(C) - (B) - (A)</a:t>
            </a:r>
            <a:endParaRPr lang="en-US" altLang="ko-KR" sz="1800" b="0" dirty="0">
              <a:solidFill>
                <a:srgbClr val="1F2328"/>
              </a:solidFill>
              <a:latin typeface="Calibri"/>
              <a:ea typeface="맑은 고딕"/>
              <a:cs typeface="Calibri"/>
            </a:endParaRPr>
          </a:p>
        </p:txBody>
      </p:sp>
      <p:sp>
        <p:nvSpPr>
          <p:cNvPr id="13" name="rv_answer"/>
          <p:cNvSpPr/>
          <p:nvPr/>
        </p:nvSpPr>
        <p:spPr>
          <a:xfrm>
            <a:off x="457200" y="4416044"/>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② </a:t>
            </a:r>
            <a:r>
              <a:rPr lang="en-US" altLang="ko-KR" sz="1900" b="1" dirty="0">
                <a:solidFill>
                  <a:srgbClr val="5A4200"/>
                </a:solidFill>
                <a:latin typeface="Calibri"/>
                <a:ea typeface="맑은 고딕"/>
                <a:cs typeface="Calibri"/>
              </a:rPr>
              <a:t>(B) - (A) - (C)</a:t>
            </a:r>
            <a:endParaRPr lang="en-US" altLang="ko-KR" sz="1900" b="1" dirty="0">
              <a:solidFill>
                <a:srgbClr val="5A4200"/>
              </a:solidFill>
              <a:latin typeface="Calibri"/>
              <a:ea typeface="맑은 고딕"/>
              <a:cs typeface="Calibri"/>
            </a:endParaRPr>
          </a:p>
        </p:txBody>
      </p:sp>
      <p:sp>
        <p:nvSpPr>
          <p:cNvPr id="14" name="rv_why"/>
          <p:cNvSpPr/>
          <p:nvPr/>
        </p:nvSpPr>
        <p:spPr>
          <a:xfrm>
            <a:off x="457200" y="5014976"/>
            <a:ext cx="11277295" cy="1404111"/>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페이서마다 완주 시간이 다르다 → (B) 깃발로 시간을 보여 주고 선수가 고른다 → (A) 'For example' 4시간 페이서를 따르는 예 → (C) 'In short'로 남을 위해 달린다고 정리한다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25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250"/>
                                        <p:tgtEl>
                                          <p:spTgt spid="1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2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animBg="1"/>
    </p:bldLst>
  </p:timing>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L5-2</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2 · 2</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2. 주어진 글 다음에 이어질 글의 순서로 가장 적절한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5</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정답 원리</a:t>
            </a:r>
            <a:endParaRPr lang="ko-KR" altLang="en-US" sz="1000" b="0" dirty="0">
              <a:solidFill>
                <a:srgbClr val="7A808C"/>
              </a:solidFill>
              <a:latin typeface="맑은 고딕"/>
              <a:ea typeface="맑은 고딕"/>
              <a:cs typeface="맑은 고딕"/>
            </a:endParaRPr>
          </a:p>
        </p:txBody>
      </p:sp>
      <p:sp>
        <p:nvSpPr>
          <p:cNvPr id="7" name="given_card"/>
          <p:cNvSpPr/>
          <p:nvPr/>
        </p:nvSpPr>
        <p:spPr>
          <a:xfrm>
            <a:off x="457200" y="950976"/>
            <a:ext cx="11277295" cy="481838"/>
          </a:xfrm>
          <a:prstGeom prst="roundRect">
            <a:avLst>
              <a:gd name="adj" fmla="val 6000"/>
            </a:avLst>
          </a:prstGeom>
          <a:solidFill>
            <a:srgbClr val="FFFFFF"/>
          </a:solidFill>
          <a:ln w="15875">
            <a:solidFill>
              <a:srgbClr val="1E2A5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given"/>
          <p:cNvSpPr txBox="1"/>
          <p:nvPr/>
        </p:nvSpPr>
        <p:spPr>
          <a:xfrm>
            <a:off x="457200" y="950976"/>
            <a:ext cx="11277295" cy="481838"/>
          </a:xfrm>
          <a:prstGeom prst="rect">
            <a:avLst/>
          </a:prstGeom>
          <a:noFill/>
        </p:spPr>
        <p:txBody>
          <a:bodyPr wrap="square" lIns="201168" tIns="100584" rIns="201168" bIns="100584" anchor="t" rtlCol="0">
            <a:noAutofit/>
          </a:bodyPr>
          <a:lstStyle/>
          <a:p>
            <a:pPr algn="l">
              <a:lnSpc>
                <a:spcPts val="2210"/>
              </a:lnSpc>
              <a:spcBef>
                <a:spcPts val="0"/>
              </a:spcBef>
              <a:spcAft>
                <a:spcPts val="0"/>
              </a:spcAft>
              <a:buNone/>
            </a:pPr>
            <a:r>
              <a:rPr lang="en-US" altLang="ko-KR" sz="1700" b="0" dirty="0">
                <a:solidFill>
                  <a:srgbClr val="1F2328"/>
                </a:solidFill>
                <a:latin typeface="Calibri"/>
                <a:ea typeface="맑은 고딕"/>
                <a:cs typeface="Calibri"/>
              </a:rPr>
              <a:t>Each pacer runs at different speeds and finishes the race in different times.</a:t>
            </a:r>
            <a:endParaRPr lang="en-US" altLang="ko-KR" sz="1700" b="0" dirty="0">
              <a:solidFill>
                <a:srgbClr val="1F2328"/>
              </a:solidFill>
              <a:latin typeface="Calibri"/>
              <a:ea typeface="맑은 고딕"/>
              <a:cs typeface="Calibri"/>
            </a:endParaRPr>
          </a:p>
        </p:txBody>
      </p:sp>
      <p:sp>
        <p:nvSpPr>
          <p:cNvPr id="9" name="parts_card"/>
          <p:cNvSpPr/>
          <p:nvPr/>
        </p:nvSpPr>
        <p:spPr>
          <a:xfrm>
            <a:off x="457200" y="1560830"/>
            <a:ext cx="11277295" cy="2233422"/>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parts"/>
          <p:cNvSpPr txBox="1"/>
          <p:nvPr/>
        </p:nvSpPr>
        <p:spPr>
          <a:xfrm>
            <a:off x="457200" y="1560830"/>
            <a:ext cx="11277295" cy="2233422"/>
          </a:xfrm>
          <a:prstGeom prst="rect">
            <a:avLst/>
          </a:prstGeom>
          <a:noFill/>
        </p:spPr>
        <p:txBody>
          <a:bodyPr wrap="square" lIns="201168" tIns="118872" rIns="201168" bIns="118872" anchor="t" rtlCol="0">
            <a:noAutofit/>
          </a:bodyPr>
          <a:lstStyle/>
          <a:p>
            <a:pPr algn="just" marL="453390" indent="-453390">
              <a:lnSpc>
                <a:spcPts val="2210"/>
              </a:lnSpc>
              <a:spcBef>
                <a:spcPts val="0"/>
              </a:spcBef>
              <a:spcAft>
                <a:spcPts val="770"/>
              </a:spcAft>
              <a:buNone/>
              <a:tabLst>
                <a:tab pos="453390" algn="l"/>
              </a:tabLst>
            </a:pPr>
            <a:r>
              <a:rPr lang="en-US" altLang="ko-KR" sz="1700" b="1" dirty="0">
                <a:solidFill>
                  <a:srgbClr val="1E2A5A"/>
                </a:solidFill>
                <a:latin typeface="Calibri"/>
                <a:ea typeface="맑은 고딕"/>
                <a:cs typeface="Calibri"/>
              </a:rPr>
              <a:t>(A)</a:t>
            </a:r>
            <a:r>
              <a:rPr lang="en-US" altLang="ko-KR" sz="1700" b="0" dirty="0">
                <a:solidFill>
                  <a:srgbClr val="1F2328"/>
                </a:solidFill>
                <a:latin typeface="Calibri"/>
                <a:ea typeface="맑은 고딕"/>
                <a:cs typeface="Calibri"/>
              </a:rPr>
              <a:t>	For example, if a runner wants to finish the race in four hours, the runner will follow the four‑hour pacer. Since the pacer keeps track of the time, the runner can achieve his or her goal of finishing the marathon in a particular time more easily.</a:t>
            </a:r>
            <a:endParaRPr lang="en-US" altLang="ko-KR" sz="1700" b="0" dirty="0">
              <a:solidFill>
                <a:srgbClr val="1F2328"/>
              </a:solidFill>
              <a:latin typeface="Calibri"/>
              <a:ea typeface="맑은 고딕"/>
              <a:cs typeface="Calibri"/>
            </a:endParaRPr>
          </a:p>
          <a:p>
            <a:pPr algn="just" marL="453390" indent="-453390">
              <a:lnSpc>
                <a:spcPts val="2210"/>
              </a:lnSpc>
              <a:spcBef>
                <a:spcPts val="0"/>
              </a:spcBef>
              <a:spcAft>
                <a:spcPts val="770"/>
              </a:spcAft>
              <a:buNone/>
              <a:tabLst>
                <a:tab pos="453390" algn="l"/>
              </a:tabLst>
            </a:pPr>
            <a:r>
              <a:rPr lang="en-US" altLang="ko-KR" sz="1700" b="1" dirty="0">
                <a:solidFill>
                  <a:srgbClr val="1E2A5A"/>
                </a:solidFill>
                <a:latin typeface="Calibri"/>
                <a:ea typeface="맑은 고딕"/>
                <a:cs typeface="Calibri"/>
              </a:rPr>
              <a:t>(B)</a:t>
            </a:r>
            <a:r>
              <a:rPr lang="en-US" altLang="ko-KR" sz="1700" b="0" dirty="0">
                <a:solidFill>
                  <a:srgbClr val="1F2328"/>
                </a:solidFill>
                <a:latin typeface="Calibri"/>
                <a:ea typeface="맑은 고딕"/>
                <a:cs typeface="Calibri"/>
              </a:rPr>
              <a:t>	In short, pacers run but they don’t run to win. They run for others.</a:t>
            </a:r>
            <a:endParaRPr lang="en-US" altLang="ko-KR" sz="1700" b="0" dirty="0">
              <a:solidFill>
                <a:srgbClr val="1F2328"/>
              </a:solidFill>
              <a:latin typeface="Calibri"/>
              <a:ea typeface="맑은 고딕"/>
              <a:cs typeface="Calibri"/>
            </a:endParaRPr>
          </a:p>
          <a:p>
            <a:pPr algn="just" marL="453390" indent="-453390">
              <a:lnSpc>
                <a:spcPts val="2210"/>
              </a:lnSpc>
              <a:spcBef>
                <a:spcPts val="0"/>
              </a:spcBef>
              <a:spcAft>
                <a:spcPts val="770"/>
              </a:spcAft>
              <a:buNone/>
              <a:tabLst>
                <a:tab pos="453390" algn="l"/>
              </a:tabLst>
            </a:pPr>
            <a:r>
              <a:rPr lang="en-US" altLang="ko-KR" sz="1700" b="1" dirty="0">
                <a:solidFill>
                  <a:srgbClr val="1E2A5A"/>
                </a:solidFill>
                <a:latin typeface="Calibri"/>
                <a:ea typeface="맑은 고딕"/>
                <a:cs typeface="Calibri"/>
              </a:rPr>
              <a:t>(C)</a:t>
            </a:r>
            <a:r>
              <a:rPr lang="en-US" altLang="ko-KR" sz="1700" b="0" dirty="0">
                <a:solidFill>
                  <a:srgbClr val="1F2328"/>
                </a:solidFill>
                <a:latin typeface="Calibri"/>
                <a:ea typeface="맑은 고딕"/>
                <a:cs typeface="Calibri"/>
              </a:rPr>
              <a:t>	Pacers usually have flags or balloons showing their finish time. Runners can choose a pacer depending on their target finish time.</a:t>
            </a:r>
            <a:endParaRPr lang="en-US" altLang="ko-KR" sz="1700" b="0" dirty="0">
              <a:solidFill>
                <a:srgbClr val="1F2328"/>
              </a:solidFill>
              <a:latin typeface="Calibri"/>
              <a:ea typeface="맑은 고딕"/>
              <a:cs typeface="Calibri"/>
            </a:endParaRPr>
          </a:p>
        </p:txBody>
      </p:sp>
      <p:sp>
        <p:nvSpPr>
          <p:cNvPr id="11" name="options"/>
          <p:cNvSpPr txBox="1"/>
          <p:nvPr/>
        </p:nvSpPr>
        <p:spPr>
          <a:xfrm>
            <a:off x="457200" y="3903980"/>
            <a:ext cx="11277295" cy="420624"/>
          </a:xfrm>
          <a:prstGeom prst="rect">
            <a:avLst/>
          </a:prstGeom>
          <a:noFill/>
        </p:spPr>
        <p:txBody>
          <a:bodyPr wrap="square" lIns="91440" tIns="18288" rIns="91440" bIns="18288" anchor="ctr" rtlCol="0">
            <a:noAutofit/>
          </a:bodyPr>
          <a:lstStyle/>
          <a:p>
            <a:pPr algn="ctr">
              <a:lnSpc>
                <a:spcPts val="2560"/>
              </a:lnSpc>
              <a:spcBef>
                <a:spcPts val="0"/>
              </a:spcBef>
              <a:spcAft>
                <a:spcPts val="0"/>
              </a:spcAft>
              <a:buNone/>
            </a:pPr>
            <a:r>
              <a:rPr lang="ko-KR" altLang="en-US" sz="1800" b="1" dirty="0">
                <a:solidFill>
                  <a:srgbClr val="1E2A5A"/>
                </a:solidFill>
                <a:latin typeface="맑은 고딕"/>
                <a:ea typeface="맑은 고딕"/>
                <a:cs typeface="맑은 고딕"/>
              </a:rPr>
              <a:t>① </a:t>
            </a:r>
            <a:r>
              <a:rPr lang="en-US" altLang="ko-KR" sz="1800" b="0" dirty="0">
                <a:solidFill>
                  <a:srgbClr val="1F2328"/>
                </a:solidFill>
                <a:latin typeface="Calibri"/>
                <a:ea typeface="맑은 고딕"/>
                <a:cs typeface="Calibri"/>
              </a:rPr>
              <a:t>(A) - (C) - (B)</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② </a:t>
            </a:r>
            <a:r>
              <a:rPr lang="en-US" altLang="ko-KR" sz="1800" b="0" dirty="0">
                <a:solidFill>
                  <a:srgbClr val="1F2328"/>
                </a:solidFill>
                <a:latin typeface="Calibri"/>
                <a:ea typeface="맑은 고딕"/>
                <a:cs typeface="Calibri"/>
              </a:rPr>
              <a:t>(B) - (A) - (C)</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③ </a:t>
            </a:r>
            <a:r>
              <a:rPr lang="en-US" altLang="ko-KR" sz="1800" b="0" dirty="0">
                <a:solidFill>
                  <a:srgbClr val="1F2328"/>
                </a:solidFill>
                <a:latin typeface="Calibri"/>
                <a:ea typeface="맑은 고딕"/>
                <a:cs typeface="Calibri"/>
              </a:rPr>
              <a:t>(B) - (C) - (A)</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④ </a:t>
            </a:r>
            <a:r>
              <a:rPr lang="en-US" altLang="ko-KR" sz="1800" b="0" dirty="0">
                <a:solidFill>
                  <a:srgbClr val="1F2328"/>
                </a:solidFill>
                <a:latin typeface="Calibri"/>
                <a:ea typeface="맑은 고딕"/>
                <a:cs typeface="Calibri"/>
              </a:rPr>
              <a:t>(C) - (A) - (B)</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⑤ </a:t>
            </a:r>
            <a:r>
              <a:rPr lang="en-US" altLang="ko-KR" sz="1800" b="0" dirty="0">
                <a:solidFill>
                  <a:srgbClr val="1F2328"/>
                </a:solidFill>
                <a:latin typeface="Calibri"/>
                <a:ea typeface="맑은 고딕"/>
                <a:cs typeface="Calibri"/>
              </a:rPr>
              <a:t>(C) - (B) - (A)</a:t>
            </a:r>
            <a:endParaRPr lang="en-US" altLang="ko-KR" sz="1800" b="0" dirty="0">
              <a:solidFill>
                <a:srgbClr val="1F2328"/>
              </a:solidFill>
              <a:latin typeface="Calibri"/>
              <a:ea typeface="맑은 고딕"/>
              <a:cs typeface="Calibri"/>
            </a:endParaRPr>
          </a:p>
        </p:txBody>
      </p:sp>
      <p:sp>
        <p:nvSpPr>
          <p:cNvPr id="12" name="rv_pick"/>
          <p:cNvSpPr txBox="1"/>
          <p:nvPr/>
        </p:nvSpPr>
        <p:spPr>
          <a:xfrm>
            <a:off x="457200" y="3903980"/>
            <a:ext cx="11277295" cy="420624"/>
          </a:xfrm>
          <a:prstGeom prst="rect">
            <a:avLst/>
          </a:prstGeom>
          <a:noFill/>
        </p:spPr>
        <p:txBody>
          <a:bodyPr wrap="square" lIns="91440" tIns="18288" rIns="91440" bIns="18288" anchor="ctr" rtlCol="0">
            <a:noAutofit/>
          </a:bodyPr>
          <a:lstStyle/>
          <a:p>
            <a:pPr algn="ctr">
              <a:lnSpc>
                <a:spcPts val="2560"/>
              </a:lnSpc>
              <a:spcBef>
                <a:spcPts val="0"/>
              </a:spcBef>
              <a:spcAft>
                <a:spcPts val="0"/>
              </a:spcAft>
              <a:buNone/>
            </a:pPr>
            <a:r>
              <a:rPr lang="ko-KR" altLang="en-US" sz="1800" b="1" dirty="0">
                <a:solidFill>
                  <a:srgbClr val="1E2A5A">
                    <a:alpha val="0"/>
                  </a:srgbClr>
                </a:solidFill>
                <a:latin typeface="맑은 고딕"/>
                <a:ea typeface="맑은 고딕"/>
                <a:cs typeface="맑은 고딕"/>
              </a:rPr>
              <a:t>① </a:t>
            </a:r>
            <a:r>
              <a:rPr lang="en-US" altLang="ko-KR" sz="1800" b="0" dirty="0">
                <a:solidFill>
                  <a:srgbClr val="1F2328">
                    <a:alpha val="0"/>
                  </a:srgbClr>
                </a:solidFill>
                <a:latin typeface="Calibri"/>
                <a:ea typeface="맑은 고딕"/>
                <a:cs typeface="Calibri"/>
              </a:rPr>
              <a:t>(A) - (C) - (B)</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② </a:t>
            </a:r>
            <a:r>
              <a:rPr lang="en-US" altLang="ko-KR" sz="1800" b="0" dirty="0">
                <a:solidFill>
                  <a:srgbClr val="1F2328">
                    <a:alpha val="0"/>
                  </a:srgbClr>
                </a:solidFill>
                <a:latin typeface="Calibri"/>
                <a:ea typeface="맑은 고딕"/>
                <a:cs typeface="Calibri"/>
              </a:rPr>
              <a:t>(B) - (A) - (C)</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③ </a:t>
            </a:r>
            <a:r>
              <a:rPr lang="en-US" altLang="ko-KR" sz="1800" b="0" dirty="0">
                <a:solidFill>
                  <a:srgbClr val="1F2328">
                    <a:alpha val="0"/>
                  </a:srgbClr>
                </a:solidFill>
                <a:latin typeface="Calibri"/>
                <a:ea typeface="맑은 고딕"/>
                <a:cs typeface="Calibri"/>
              </a:rPr>
              <a:t>(B) - (C) - (A)</a:t>
            </a:r>
            <a:r>
              <a:rPr lang="en-US" altLang="ko-KR" sz="1800" b="0" dirty="0">
                <a:solidFill>
                  <a:srgbClr val="1F2328">
                    <a:alpha val="0"/>
                  </a:srgbClr>
                </a:solidFill>
                <a:latin typeface="Calibri"/>
                <a:ea typeface="맑은 고딕"/>
                <a:cs typeface="Calibri"/>
              </a:rPr>
              <a:t>       </a:t>
            </a:r>
            <a:r>
              <a:rPr lang="ko-KR" altLang="en-US" sz="1800" b="1" dirty="0">
                <a:solidFill>
                  <a:srgbClr val="C00000"/>
                </a:solidFill>
                <a:highlight>
                  <a:srgbClr val="FFFFFF"/>
                </a:highlight>
                <a:latin typeface="맑은 고딕"/>
                <a:ea typeface="맑은 고딕"/>
                <a:cs typeface="맑은 고딕"/>
              </a:rPr>
              <a:t>④ </a:t>
            </a:r>
            <a:r>
              <a:rPr lang="en-US" altLang="ko-KR" sz="1800" b="0" dirty="0">
                <a:solidFill>
                  <a:srgbClr val="C00000"/>
                </a:solidFill>
                <a:highlight>
                  <a:srgbClr val="FFFFFF"/>
                </a:highlight>
                <a:latin typeface="Calibri"/>
                <a:ea typeface="맑은 고딕"/>
                <a:cs typeface="Calibri"/>
              </a:rPr>
              <a:t>(C) - (A) - (B)</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⑤ </a:t>
            </a:r>
            <a:r>
              <a:rPr lang="en-US" altLang="ko-KR" sz="1800" b="0" dirty="0">
                <a:solidFill>
                  <a:srgbClr val="1F2328">
                    <a:alpha val="0"/>
                  </a:srgbClr>
                </a:solidFill>
                <a:latin typeface="Calibri"/>
                <a:ea typeface="맑은 고딕"/>
                <a:cs typeface="Calibri"/>
              </a:rPr>
              <a:t>(C) - (B) - (A)</a:t>
            </a:r>
            <a:endParaRPr lang="en-US" altLang="ko-KR" sz="1800" b="0" dirty="0">
              <a:solidFill>
                <a:srgbClr val="1F2328"/>
              </a:solidFill>
              <a:latin typeface="Calibri"/>
              <a:ea typeface="맑은 고딕"/>
              <a:cs typeface="Calibri"/>
            </a:endParaRPr>
          </a:p>
        </p:txBody>
      </p:sp>
      <p:sp>
        <p:nvSpPr>
          <p:cNvPr id="13" name="rv_answer"/>
          <p:cNvSpPr/>
          <p:nvPr/>
        </p:nvSpPr>
        <p:spPr>
          <a:xfrm>
            <a:off x="457200" y="4416044"/>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④ </a:t>
            </a:r>
            <a:r>
              <a:rPr lang="en-US" altLang="ko-KR" sz="1900" b="1" dirty="0">
                <a:solidFill>
                  <a:srgbClr val="5A4200"/>
                </a:solidFill>
                <a:latin typeface="Calibri"/>
                <a:ea typeface="맑은 고딕"/>
                <a:cs typeface="Calibri"/>
              </a:rPr>
              <a:t>(C) - (A) - (B)</a:t>
            </a:r>
            <a:endParaRPr lang="en-US" altLang="ko-KR" sz="1900" b="1" dirty="0">
              <a:solidFill>
                <a:srgbClr val="5A4200"/>
              </a:solidFill>
              <a:latin typeface="Calibri"/>
              <a:ea typeface="맑은 고딕"/>
              <a:cs typeface="Calibri"/>
            </a:endParaRPr>
          </a:p>
        </p:txBody>
      </p:sp>
      <p:sp>
        <p:nvSpPr>
          <p:cNvPr id="14" name="rv_why"/>
          <p:cNvSpPr/>
          <p:nvPr/>
        </p:nvSpPr>
        <p:spPr>
          <a:xfrm>
            <a:off x="457200" y="5014976"/>
            <a:ext cx="11277295" cy="1404111"/>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페이서마다 완주 시간이 다르다 → (C) 깃발과 풍선으로 시간을 보여 주고 선수가 고른다 → (A) 'For example' 4시간 페이서 예 → (B) 'In short'로 정리한다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25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250"/>
                                        <p:tgtEl>
                                          <p:spTgt spid="1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2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animBg="1"/>
    </p:bldLst>
  </p:timing>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L5-2</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2 · 3</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3. 글의 흐름으로 보아, 주어진 문장이 들어가기에 가장 적절한 곳은?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5</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정답 원리</a:t>
            </a:r>
            <a:endParaRPr lang="ko-KR" altLang="en-US" sz="1000" b="0" dirty="0">
              <a:solidFill>
                <a:srgbClr val="7A808C"/>
              </a:solidFill>
              <a:latin typeface="맑은 고딕"/>
              <a:ea typeface="맑은 고딕"/>
              <a:cs typeface="맑은 고딕"/>
            </a:endParaRPr>
          </a:p>
        </p:txBody>
      </p:sp>
      <p:sp>
        <p:nvSpPr>
          <p:cNvPr id="7" name="given_card"/>
          <p:cNvSpPr/>
          <p:nvPr/>
        </p:nvSpPr>
        <p:spPr>
          <a:xfrm>
            <a:off x="457200" y="950976"/>
            <a:ext cx="11277295" cy="507238"/>
          </a:xfrm>
          <a:prstGeom prst="roundRect">
            <a:avLst>
              <a:gd name="adj" fmla="val 6000"/>
            </a:avLst>
          </a:prstGeom>
          <a:solidFill>
            <a:srgbClr val="FFFFFF"/>
          </a:solidFill>
          <a:ln w="15875">
            <a:solidFill>
              <a:srgbClr val="1E2A5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given"/>
          <p:cNvSpPr txBox="1"/>
          <p:nvPr/>
        </p:nvSpPr>
        <p:spPr>
          <a:xfrm>
            <a:off x="457200" y="950976"/>
            <a:ext cx="11277295" cy="507238"/>
          </a:xfrm>
          <a:prstGeom prst="rect">
            <a:avLst/>
          </a:prstGeom>
          <a:noFill/>
        </p:spPr>
        <p:txBody>
          <a:bodyPr wrap="square" lIns="201168" tIns="100584" rIns="201168" bIns="100584"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주어진 문장</a:t>
            </a:r>
            <a:r>
              <a:rPr lang="en-US" altLang="ko-KR" sz="1700" b="0" dirty="0">
                <a:solidFill>
                  <a:srgbClr val="1F2328"/>
                </a:solidFill>
                <a:latin typeface="Calibri"/>
                <a:ea typeface="맑은 고딕"/>
                <a:cs typeface="Calibri"/>
              </a:rPr>
              <a:t>   Runners can choose a pacer depending on their target finish time.</a:t>
            </a:r>
            <a:endParaRPr lang="en-US" altLang="ko-KR" sz="1700" b="0" dirty="0">
              <a:solidFill>
                <a:srgbClr val="1F2328"/>
              </a:solidFill>
              <a:latin typeface="Calibri"/>
              <a:ea typeface="맑은 고딕"/>
              <a:cs typeface="Calibri"/>
            </a:endParaRPr>
          </a:p>
        </p:txBody>
      </p:sp>
      <p:sp>
        <p:nvSpPr>
          <p:cNvPr id="9" name="passage_card"/>
          <p:cNvSpPr/>
          <p:nvPr/>
        </p:nvSpPr>
        <p:spPr>
          <a:xfrm>
            <a:off x="457200" y="1604518"/>
            <a:ext cx="11277295" cy="189991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passage"/>
          <p:cNvSpPr txBox="1"/>
          <p:nvPr/>
        </p:nvSpPr>
        <p:spPr>
          <a:xfrm>
            <a:off x="457200" y="1604518"/>
            <a:ext cx="11277295" cy="1899919"/>
          </a:xfrm>
          <a:prstGeom prst="rect">
            <a:avLst/>
          </a:prstGeom>
          <a:noFill/>
        </p:spPr>
        <p:txBody>
          <a:bodyPr wrap="square" lIns="201168" tIns="118872" rIns="201168" bIns="118872" anchor="t" rtlCol="0">
            <a:noAutofit/>
          </a:bodyPr>
          <a:lstStyle/>
          <a:p>
            <a:pPr algn="just">
              <a:lnSpc>
                <a:spcPts val="2560"/>
              </a:lnSpc>
              <a:spcBef>
                <a:spcPts val="0"/>
              </a:spcBef>
              <a:spcAft>
                <a:spcPts val="0"/>
              </a:spcAft>
              <a:buNone/>
            </a:pPr>
            <a:r>
              <a:rPr lang="en-US" altLang="ko-KR" sz="1700" b="0" dirty="0">
                <a:solidFill>
                  <a:srgbClr val="1F2328"/>
                </a:solidFill>
                <a:latin typeface="Calibri"/>
                <a:ea typeface="맑은 고딕"/>
                <a:cs typeface="Calibri"/>
              </a:rPr>
              <a:t>Each pacer runs at different speeds and finishes the race in different times. </a:t>
            </a:r>
            <a:r>
              <a:rPr lang="ko-KR" altLang="en-US" sz="1800" b="1" dirty="0">
                <a:solidFill>
                  <a:srgbClr val="1E2A5A"/>
                </a:solidFill>
                <a:latin typeface="맑은 고딕"/>
                <a:ea typeface="맑은 고딕"/>
                <a:cs typeface="맑은 고딕"/>
              </a:rPr>
              <a:t>②</a:t>
            </a:r>
            <a:r>
              <a:rPr lang="en-US" altLang="ko-KR" sz="1700" b="0" dirty="0">
                <a:solidFill>
                  <a:srgbClr val="1F2328"/>
                </a:solidFill>
                <a:latin typeface="Calibri"/>
                <a:ea typeface="맑은 고딕"/>
                <a:cs typeface="Calibri"/>
              </a:rPr>
              <a:t> Pacers usually have flags or balloons showing their finish time. </a:t>
            </a:r>
            <a:r>
              <a:rPr lang="ko-KR" altLang="en-US" sz="1800" b="1" dirty="0">
                <a:solidFill>
                  <a:srgbClr val="1E2A5A"/>
                </a:solidFill>
                <a:latin typeface="맑은 고딕"/>
                <a:ea typeface="맑은 고딕"/>
                <a:cs typeface="맑은 고딕"/>
              </a:rPr>
              <a:t>③</a:t>
            </a:r>
            <a:r>
              <a:rPr lang="en-US" altLang="ko-KR" sz="1700" b="0" dirty="0">
                <a:solidFill>
                  <a:srgbClr val="1F2328"/>
                </a:solidFill>
                <a:latin typeface="Calibri"/>
                <a:ea typeface="맑은 고딕"/>
                <a:cs typeface="Calibri"/>
              </a:rPr>
              <a:t> For example, if a runner wants to finish the race in four hours, the runner will follow the four‑hour pacer. </a:t>
            </a:r>
            <a:r>
              <a:rPr lang="ko-KR" altLang="en-US" sz="1800" b="1" dirty="0">
                <a:solidFill>
                  <a:srgbClr val="1E2A5A"/>
                </a:solidFill>
                <a:latin typeface="맑은 고딕"/>
                <a:ea typeface="맑은 고딕"/>
                <a:cs typeface="맑은 고딕"/>
              </a:rPr>
              <a:t>④</a:t>
            </a:r>
            <a:r>
              <a:rPr lang="en-US" altLang="ko-KR" sz="1700" b="0" dirty="0">
                <a:solidFill>
                  <a:srgbClr val="1F2328"/>
                </a:solidFill>
                <a:latin typeface="Calibri"/>
                <a:ea typeface="맑은 고딕"/>
                <a:cs typeface="Calibri"/>
              </a:rPr>
              <a:t> Since the pacer keeps track of the time, the runner can achieve his or her goal of finishing the marathon in a particular time more easily. </a:t>
            </a:r>
            <a:r>
              <a:rPr lang="ko-KR" altLang="en-US" sz="1800" b="1" dirty="0">
                <a:solidFill>
                  <a:srgbClr val="1E2A5A"/>
                </a:solidFill>
                <a:latin typeface="맑은 고딕"/>
                <a:ea typeface="맑은 고딕"/>
                <a:cs typeface="맑은 고딕"/>
              </a:rPr>
              <a:t>⑤</a:t>
            </a:r>
            <a:r>
              <a:rPr lang="en-US" altLang="ko-KR" sz="1700" b="0" dirty="0">
                <a:solidFill>
                  <a:srgbClr val="1F2328"/>
                </a:solidFill>
                <a:latin typeface="Calibri"/>
                <a:ea typeface="맑은 고딕"/>
                <a:cs typeface="Calibri"/>
              </a:rPr>
              <a:t> In short, pacers run but they don’t run to win. They run for others.</a:t>
            </a:r>
            <a:endParaRPr lang="en-US" altLang="ko-KR" sz="1700" b="0" dirty="0">
              <a:solidFill>
                <a:srgbClr val="1F2328"/>
              </a:solidFill>
              <a:latin typeface="Calibri"/>
              <a:ea typeface="맑은 고딕"/>
              <a:cs typeface="Calibri"/>
            </a:endParaRPr>
          </a:p>
        </p:txBody>
      </p:sp>
      <p:sp>
        <p:nvSpPr>
          <p:cNvPr id="11" name="rv_pick"/>
          <p:cNvSpPr txBox="1"/>
          <p:nvPr/>
        </p:nvSpPr>
        <p:spPr>
          <a:xfrm>
            <a:off x="457200" y="1604518"/>
            <a:ext cx="11277295" cy="1899919"/>
          </a:xfrm>
          <a:prstGeom prst="rect">
            <a:avLst/>
          </a:prstGeom>
          <a:noFill/>
        </p:spPr>
        <p:txBody>
          <a:bodyPr wrap="square" lIns="201168" tIns="118872" rIns="201168" bIns="118872" anchor="t" rtlCol="0">
            <a:noAutofit/>
          </a:bodyPr>
          <a:lstStyle/>
          <a:p>
            <a:pPr algn="just">
              <a:lnSpc>
                <a:spcPts val="2560"/>
              </a:lnSpc>
              <a:spcBef>
                <a:spcPts val="0"/>
              </a:spcBef>
              <a:spcAft>
                <a:spcPts val="0"/>
              </a:spcAft>
              <a:buNone/>
            </a:pPr>
            <a:r>
              <a:rPr lang="en-US" altLang="ko-KR" sz="1700" b="0" dirty="0">
                <a:solidFill>
                  <a:srgbClr val="1F2328">
                    <a:alpha val="0"/>
                  </a:srgbClr>
                </a:solidFill>
                <a:latin typeface="Calibri"/>
                <a:ea typeface="맑은 고딕"/>
                <a:cs typeface="Calibri"/>
              </a:rPr>
              <a:t>Each pacer runs at different speeds and finishes the race in different times. </a:t>
            </a:r>
            <a:r>
              <a:rPr lang="ko-KR" altLang="en-US" sz="1800" b="1" dirty="0">
                <a:solidFill>
                  <a:srgbClr val="1E2A5A">
                    <a:alpha val="0"/>
                  </a:srgbClr>
                </a:solidFill>
                <a:latin typeface="맑은 고딕"/>
                <a:ea typeface="맑은 고딕"/>
                <a:cs typeface="맑은 고딕"/>
              </a:rPr>
              <a:t>②</a:t>
            </a:r>
            <a:r>
              <a:rPr lang="en-US" altLang="ko-KR" sz="1700" b="0" dirty="0">
                <a:solidFill>
                  <a:srgbClr val="1F2328">
                    <a:alpha val="0"/>
                  </a:srgbClr>
                </a:solidFill>
                <a:latin typeface="Calibri"/>
                <a:ea typeface="맑은 고딕"/>
                <a:cs typeface="Calibri"/>
              </a:rPr>
              <a:t> Pacers usually have flags or balloons showing their finish time. </a:t>
            </a:r>
            <a:r>
              <a:rPr lang="ko-KR" altLang="en-US" sz="1800" b="1" dirty="0">
                <a:solidFill>
                  <a:srgbClr val="C00000"/>
                </a:solidFill>
                <a:highlight>
                  <a:srgbClr val="F3F5F9"/>
                </a:highlight>
                <a:latin typeface="맑은 고딕"/>
                <a:ea typeface="맑은 고딕"/>
                <a:cs typeface="맑은 고딕"/>
              </a:rPr>
              <a:t>③</a:t>
            </a:r>
            <a:r>
              <a:rPr lang="en-US" altLang="ko-KR" sz="1700" b="0" dirty="0">
                <a:solidFill>
                  <a:srgbClr val="1F2328">
                    <a:alpha val="0"/>
                  </a:srgbClr>
                </a:solidFill>
                <a:latin typeface="Calibri"/>
                <a:ea typeface="맑은 고딕"/>
                <a:cs typeface="Calibri"/>
              </a:rPr>
              <a:t> For example, if a runner wants to finish the race in four hours, the runner will follow the four‑hour pacer. </a:t>
            </a:r>
            <a:r>
              <a:rPr lang="ko-KR" altLang="en-US" sz="1800" b="1" dirty="0">
                <a:solidFill>
                  <a:srgbClr val="1E2A5A">
                    <a:alpha val="0"/>
                  </a:srgbClr>
                </a:solidFill>
                <a:latin typeface="맑은 고딕"/>
                <a:ea typeface="맑은 고딕"/>
                <a:cs typeface="맑은 고딕"/>
              </a:rPr>
              <a:t>④</a:t>
            </a:r>
            <a:r>
              <a:rPr lang="en-US" altLang="ko-KR" sz="1700" b="0" dirty="0">
                <a:solidFill>
                  <a:srgbClr val="1F2328">
                    <a:alpha val="0"/>
                  </a:srgbClr>
                </a:solidFill>
                <a:latin typeface="Calibri"/>
                <a:ea typeface="맑은 고딕"/>
                <a:cs typeface="Calibri"/>
              </a:rPr>
              <a:t> Since the pacer keeps track of the time, the runner can achieve his or her goal of finishing the marathon in a particular time more easily. </a:t>
            </a:r>
            <a:r>
              <a:rPr lang="ko-KR" altLang="en-US" sz="1800" b="1" dirty="0">
                <a:solidFill>
                  <a:srgbClr val="1E2A5A">
                    <a:alpha val="0"/>
                  </a:srgbClr>
                </a:solidFill>
                <a:latin typeface="맑은 고딕"/>
                <a:ea typeface="맑은 고딕"/>
                <a:cs typeface="맑은 고딕"/>
              </a:rPr>
              <a:t>⑤</a:t>
            </a:r>
            <a:r>
              <a:rPr lang="en-US" altLang="ko-KR" sz="1700" b="0" dirty="0">
                <a:solidFill>
                  <a:srgbClr val="1F2328">
                    <a:alpha val="0"/>
                  </a:srgbClr>
                </a:solidFill>
                <a:latin typeface="Calibri"/>
                <a:ea typeface="맑은 고딕"/>
                <a:cs typeface="Calibri"/>
              </a:rPr>
              <a:t> In short, pacers run but they don’t run to win. They run for others.</a:t>
            </a:r>
            <a:endParaRPr lang="en-US" altLang="ko-KR" sz="1700" b="0" dirty="0">
              <a:solidFill>
                <a:srgbClr val="1F2328"/>
              </a:solidFill>
              <a:latin typeface="Calibri"/>
              <a:ea typeface="맑은 고딕"/>
              <a:cs typeface="Calibri"/>
            </a:endParaRPr>
          </a:p>
        </p:txBody>
      </p:sp>
      <p:sp>
        <p:nvSpPr>
          <p:cNvPr id="12" name="rv_answer"/>
          <p:cNvSpPr/>
          <p:nvPr/>
        </p:nvSpPr>
        <p:spPr>
          <a:xfrm>
            <a:off x="457200" y="3614165"/>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③</a:t>
            </a:r>
            <a:endParaRPr lang="ko-KR" altLang="en-US" sz="1900" b="1" dirty="0">
              <a:solidFill>
                <a:srgbClr val="5A4200"/>
              </a:solidFill>
              <a:latin typeface="맑은 고딕"/>
              <a:ea typeface="맑은 고딕"/>
              <a:cs typeface="맑은 고딕"/>
            </a:endParaRPr>
          </a:p>
        </p:txBody>
      </p:sp>
      <p:sp>
        <p:nvSpPr>
          <p:cNvPr id="13" name="rv_why"/>
          <p:cNvSpPr/>
          <p:nvPr/>
        </p:nvSpPr>
        <p:spPr>
          <a:xfrm>
            <a:off x="457200" y="4213098"/>
            <a:ext cx="11277295" cy="220598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③ 뒤 'For example' 문장은 선수가 목표 시간에 따라 페이서를 고른다는 말의 예다. 고르는 내용을 담은 주어진 문장이 ③에 들어간다.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25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25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2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Lst>
  </p:timing>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L5-2</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2 · 4</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4. 글의 흐름으로 보아, 주어진 문장이 들어가기에 가장 적절한 곳은?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5</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정답 원리</a:t>
            </a:r>
            <a:endParaRPr lang="ko-KR" altLang="en-US" sz="1000" b="0" dirty="0">
              <a:solidFill>
                <a:srgbClr val="7A808C"/>
              </a:solidFill>
              <a:latin typeface="맑은 고딕"/>
              <a:ea typeface="맑은 고딕"/>
              <a:cs typeface="맑은 고딕"/>
            </a:endParaRPr>
          </a:p>
        </p:txBody>
      </p:sp>
      <p:sp>
        <p:nvSpPr>
          <p:cNvPr id="7" name="given_card"/>
          <p:cNvSpPr/>
          <p:nvPr/>
        </p:nvSpPr>
        <p:spPr>
          <a:xfrm>
            <a:off x="457200" y="950976"/>
            <a:ext cx="11277295" cy="813308"/>
          </a:xfrm>
          <a:prstGeom prst="roundRect">
            <a:avLst>
              <a:gd name="adj" fmla="val 6000"/>
            </a:avLst>
          </a:prstGeom>
          <a:solidFill>
            <a:srgbClr val="FFFFFF"/>
          </a:solidFill>
          <a:ln w="15875">
            <a:solidFill>
              <a:srgbClr val="1E2A5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given"/>
          <p:cNvSpPr txBox="1"/>
          <p:nvPr/>
        </p:nvSpPr>
        <p:spPr>
          <a:xfrm>
            <a:off x="457200" y="950976"/>
            <a:ext cx="11277295" cy="813308"/>
          </a:xfrm>
          <a:prstGeom prst="rect">
            <a:avLst/>
          </a:prstGeom>
          <a:noFill/>
        </p:spPr>
        <p:txBody>
          <a:bodyPr wrap="square" lIns="201168" tIns="100584" rIns="201168" bIns="100584"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주어진 문장</a:t>
            </a:r>
            <a:r>
              <a:rPr lang="en-US" altLang="ko-KR" sz="1700" b="0" dirty="0">
                <a:solidFill>
                  <a:srgbClr val="1F2328"/>
                </a:solidFill>
                <a:latin typeface="Calibri"/>
                <a:ea typeface="맑은 고딕"/>
                <a:cs typeface="Calibri"/>
              </a:rPr>
              <a:t>   For example, if a runner wants to finish the race in four hours, the runner will follow the four‑hour pacer.</a:t>
            </a:r>
            <a:endParaRPr lang="en-US" altLang="ko-KR" sz="1700" b="0" dirty="0">
              <a:solidFill>
                <a:srgbClr val="1F2328"/>
              </a:solidFill>
              <a:latin typeface="Calibri"/>
              <a:ea typeface="맑은 고딕"/>
              <a:cs typeface="Calibri"/>
            </a:endParaRPr>
          </a:p>
        </p:txBody>
      </p:sp>
      <p:sp>
        <p:nvSpPr>
          <p:cNvPr id="9" name="passage_card"/>
          <p:cNvSpPr/>
          <p:nvPr/>
        </p:nvSpPr>
        <p:spPr>
          <a:xfrm>
            <a:off x="457200" y="1910587"/>
            <a:ext cx="11277295" cy="189991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passage"/>
          <p:cNvSpPr txBox="1"/>
          <p:nvPr/>
        </p:nvSpPr>
        <p:spPr>
          <a:xfrm>
            <a:off x="457200" y="1910587"/>
            <a:ext cx="11277295" cy="1899919"/>
          </a:xfrm>
          <a:prstGeom prst="rect">
            <a:avLst/>
          </a:prstGeom>
          <a:noFill/>
        </p:spPr>
        <p:txBody>
          <a:bodyPr wrap="square" lIns="201168" tIns="118872" rIns="201168" bIns="118872" anchor="t" rtlCol="0">
            <a:noAutofit/>
          </a:bodyPr>
          <a:lstStyle/>
          <a:p>
            <a:pPr algn="just">
              <a:lnSpc>
                <a:spcPts val="2560"/>
              </a:lnSpc>
              <a:spcBef>
                <a:spcPts val="0"/>
              </a:spcBef>
              <a:spcAft>
                <a:spcPts val="0"/>
              </a:spcAft>
              <a:buNone/>
            </a:pPr>
            <a:r>
              <a:rPr lang="en-US" altLang="ko-KR" sz="1700" b="0" dirty="0">
                <a:solidFill>
                  <a:srgbClr val="1F2328"/>
                </a:solidFill>
                <a:latin typeface="Calibri"/>
                <a:ea typeface="맑은 고딕"/>
                <a:cs typeface="Calibri"/>
              </a:rPr>
              <a:t>Each pacer runs at different speeds and finishes the race in different times. </a:t>
            </a:r>
            <a:r>
              <a:rPr lang="ko-KR" altLang="en-US" sz="1800" b="1" dirty="0">
                <a:solidFill>
                  <a:srgbClr val="1E2A5A"/>
                </a:solidFill>
                <a:latin typeface="맑은 고딕"/>
                <a:ea typeface="맑은 고딕"/>
                <a:cs typeface="맑은 고딕"/>
              </a:rPr>
              <a:t>②</a:t>
            </a:r>
            <a:r>
              <a:rPr lang="en-US" altLang="ko-KR" sz="1700" b="0" dirty="0">
                <a:solidFill>
                  <a:srgbClr val="1F2328"/>
                </a:solidFill>
                <a:latin typeface="Calibri"/>
                <a:ea typeface="맑은 고딕"/>
                <a:cs typeface="Calibri"/>
              </a:rPr>
              <a:t> Pacers usually have flags or balloons showing their finish time. </a:t>
            </a:r>
            <a:r>
              <a:rPr lang="ko-KR" altLang="en-US" sz="1800" b="1" dirty="0">
                <a:solidFill>
                  <a:srgbClr val="1E2A5A"/>
                </a:solidFill>
                <a:latin typeface="맑은 고딕"/>
                <a:ea typeface="맑은 고딕"/>
                <a:cs typeface="맑은 고딕"/>
              </a:rPr>
              <a:t>③</a:t>
            </a:r>
            <a:r>
              <a:rPr lang="en-US" altLang="ko-KR" sz="1700" b="0" dirty="0">
                <a:solidFill>
                  <a:srgbClr val="1F2328"/>
                </a:solidFill>
                <a:latin typeface="Calibri"/>
                <a:ea typeface="맑은 고딕"/>
                <a:cs typeface="Calibri"/>
              </a:rPr>
              <a:t> Runners can choose a pacer depending on their target finish time. </a:t>
            </a:r>
            <a:r>
              <a:rPr lang="ko-KR" altLang="en-US" sz="1800" b="1" dirty="0">
                <a:solidFill>
                  <a:srgbClr val="1E2A5A"/>
                </a:solidFill>
                <a:latin typeface="맑은 고딕"/>
                <a:ea typeface="맑은 고딕"/>
                <a:cs typeface="맑은 고딕"/>
              </a:rPr>
              <a:t>④</a:t>
            </a:r>
            <a:r>
              <a:rPr lang="en-US" altLang="ko-KR" sz="1700" b="0" dirty="0">
                <a:solidFill>
                  <a:srgbClr val="1F2328"/>
                </a:solidFill>
                <a:latin typeface="Calibri"/>
                <a:ea typeface="맑은 고딕"/>
                <a:cs typeface="Calibri"/>
              </a:rPr>
              <a:t> Since the pacer keeps track of the time, the runner can achieve his or her goal of finishing the marathon in a particular time more easily. </a:t>
            </a:r>
            <a:r>
              <a:rPr lang="ko-KR" altLang="en-US" sz="1800" b="1" dirty="0">
                <a:solidFill>
                  <a:srgbClr val="1E2A5A"/>
                </a:solidFill>
                <a:latin typeface="맑은 고딕"/>
                <a:ea typeface="맑은 고딕"/>
                <a:cs typeface="맑은 고딕"/>
              </a:rPr>
              <a:t>⑤</a:t>
            </a:r>
            <a:r>
              <a:rPr lang="en-US" altLang="ko-KR" sz="1700" b="0" dirty="0">
                <a:solidFill>
                  <a:srgbClr val="1F2328"/>
                </a:solidFill>
                <a:latin typeface="Calibri"/>
                <a:ea typeface="맑은 고딕"/>
                <a:cs typeface="Calibri"/>
              </a:rPr>
              <a:t> In short, pacers run but they don’t run to win. They run for others.</a:t>
            </a:r>
            <a:endParaRPr lang="en-US" altLang="ko-KR" sz="1700" b="0" dirty="0">
              <a:solidFill>
                <a:srgbClr val="1F2328"/>
              </a:solidFill>
              <a:latin typeface="Calibri"/>
              <a:ea typeface="맑은 고딕"/>
              <a:cs typeface="Calibri"/>
            </a:endParaRPr>
          </a:p>
        </p:txBody>
      </p:sp>
      <p:sp>
        <p:nvSpPr>
          <p:cNvPr id="11" name="rv_pick"/>
          <p:cNvSpPr txBox="1"/>
          <p:nvPr/>
        </p:nvSpPr>
        <p:spPr>
          <a:xfrm>
            <a:off x="457200" y="1910587"/>
            <a:ext cx="11277295" cy="1899919"/>
          </a:xfrm>
          <a:prstGeom prst="rect">
            <a:avLst/>
          </a:prstGeom>
          <a:noFill/>
        </p:spPr>
        <p:txBody>
          <a:bodyPr wrap="square" lIns="201168" tIns="118872" rIns="201168" bIns="118872" anchor="t" rtlCol="0">
            <a:noAutofit/>
          </a:bodyPr>
          <a:lstStyle/>
          <a:p>
            <a:pPr algn="just">
              <a:lnSpc>
                <a:spcPts val="2560"/>
              </a:lnSpc>
              <a:spcBef>
                <a:spcPts val="0"/>
              </a:spcBef>
              <a:spcAft>
                <a:spcPts val="0"/>
              </a:spcAft>
              <a:buNone/>
            </a:pPr>
            <a:r>
              <a:rPr lang="en-US" altLang="ko-KR" sz="1700" b="0" dirty="0">
                <a:solidFill>
                  <a:srgbClr val="1F2328">
                    <a:alpha val="0"/>
                  </a:srgbClr>
                </a:solidFill>
                <a:latin typeface="Calibri"/>
                <a:ea typeface="맑은 고딕"/>
                <a:cs typeface="Calibri"/>
              </a:rPr>
              <a:t>Each pacer runs at different speeds and finishes the race in different times. </a:t>
            </a:r>
            <a:r>
              <a:rPr lang="ko-KR" altLang="en-US" sz="1800" b="1" dirty="0">
                <a:solidFill>
                  <a:srgbClr val="1E2A5A">
                    <a:alpha val="0"/>
                  </a:srgbClr>
                </a:solidFill>
                <a:latin typeface="맑은 고딕"/>
                <a:ea typeface="맑은 고딕"/>
                <a:cs typeface="맑은 고딕"/>
              </a:rPr>
              <a:t>②</a:t>
            </a:r>
            <a:r>
              <a:rPr lang="en-US" altLang="ko-KR" sz="1700" b="0" dirty="0">
                <a:solidFill>
                  <a:srgbClr val="1F2328">
                    <a:alpha val="0"/>
                  </a:srgbClr>
                </a:solidFill>
                <a:latin typeface="Calibri"/>
                <a:ea typeface="맑은 고딕"/>
                <a:cs typeface="Calibri"/>
              </a:rPr>
              <a:t> Pacers usually have flags or balloons showing their finish time. </a:t>
            </a:r>
            <a:r>
              <a:rPr lang="ko-KR" altLang="en-US" sz="1800" b="1" dirty="0">
                <a:solidFill>
                  <a:srgbClr val="1E2A5A">
                    <a:alpha val="0"/>
                  </a:srgbClr>
                </a:solidFill>
                <a:latin typeface="맑은 고딕"/>
                <a:ea typeface="맑은 고딕"/>
                <a:cs typeface="맑은 고딕"/>
              </a:rPr>
              <a:t>③</a:t>
            </a:r>
            <a:r>
              <a:rPr lang="en-US" altLang="ko-KR" sz="1700" b="0" dirty="0">
                <a:solidFill>
                  <a:srgbClr val="1F2328">
                    <a:alpha val="0"/>
                  </a:srgbClr>
                </a:solidFill>
                <a:latin typeface="Calibri"/>
                <a:ea typeface="맑은 고딕"/>
                <a:cs typeface="Calibri"/>
              </a:rPr>
              <a:t> Runners can choose a pacer depending on their target finish time. </a:t>
            </a:r>
            <a:r>
              <a:rPr lang="ko-KR" altLang="en-US" sz="1800" b="1" dirty="0">
                <a:solidFill>
                  <a:srgbClr val="C00000"/>
                </a:solidFill>
                <a:highlight>
                  <a:srgbClr val="F3F5F9"/>
                </a:highlight>
                <a:latin typeface="맑은 고딕"/>
                <a:ea typeface="맑은 고딕"/>
                <a:cs typeface="맑은 고딕"/>
              </a:rPr>
              <a:t>④</a:t>
            </a:r>
            <a:r>
              <a:rPr lang="en-US" altLang="ko-KR" sz="1700" b="0" dirty="0">
                <a:solidFill>
                  <a:srgbClr val="1F2328">
                    <a:alpha val="0"/>
                  </a:srgbClr>
                </a:solidFill>
                <a:latin typeface="Calibri"/>
                <a:ea typeface="맑은 고딕"/>
                <a:cs typeface="Calibri"/>
              </a:rPr>
              <a:t> Since the pacer keeps track of the time, the runner can achieve his or her goal of finishing the marathon in a particular time more easily. </a:t>
            </a:r>
            <a:r>
              <a:rPr lang="ko-KR" altLang="en-US" sz="1800" b="1" dirty="0">
                <a:solidFill>
                  <a:srgbClr val="1E2A5A">
                    <a:alpha val="0"/>
                  </a:srgbClr>
                </a:solidFill>
                <a:latin typeface="맑은 고딕"/>
                <a:ea typeface="맑은 고딕"/>
                <a:cs typeface="맑은 고딕"/>
              </a:rPr>
              <a:t>⑤</a:t>
            </a:r>
            <a:r>
              <a:rPr lang="en-US" altLang="ko-KR" sz="1700" b="0" dirty="0">
                <a:solidFill>
                  <a:srgbClr val="1F2328">
                    <a:alpha val="0"/>
                  </a:srgbClr>
                </a:solidFill>
                <a:latin typeface="Calibri"/>
                <a:ea typeface="맑은 고딕"/>
                <a:cs typeface="Calibri"/>
              </a:rPr>
              <a:t> In short, pacers run but they don’t run to win. They run for others.</a:t>
            </a:r>
            <a:endParaRPr lang="en-US" altLang="ko-KR" sz="1700" b="0" dirty="0">
              <a:solidFill>
                <a:srgbClr val="1F2328"/>
              </a:solidFill>
              <a:latin typeface="Calibri"/>
              <a:ea typeface="맑은 고딕"/>
              <a:cs typeface="Calibri"/>
            </a:endParaRPr>
          </a:p>
        </p:txBody>
      </p:sp>
      <p:sp>
        <p:nvSpPr>
          <p:cNvPr id="12" name="rv_answer"/>
          <p:cNvSpPr/>
          <p:nvPr/>
        </p:nvSpPr>
        <p:spPr>
          <a:xfrm>
            <a:off x="457200" y="3920235"/>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④</a:t>
            </a:r>
            <a:endParaRPr lang="ko-KR" altLang="en-US" sz="1900" b="1" dirty="0">
              <a:solidFill>
                <a:srgbClr val="5A4200"/>
              </a:solidFill>
              <a:latin typeface="맑은 고딕"/>
              <a:ea typeface="맑은 고딕"/>
              <a:cs typeface="맑은 고딕"/>
            </a:endParaRPr>
          </a:p>
        </p:txBody>
      </p:sp>
      <p:sp>
        <p:nvSpPr>
          <p:cNvPr id="13" name="rv_why"/>
          <p:cNvSpPr/>
          <p:nvPr/>
        </p:nvSpPr>
        <p:spPr>
          <a:xfrm>
            <a:off x="457200" y="4519168"/>
            <a:ext cx="11277295" cy="189991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④ 뒤 'the pacer'와 'the runner'는 앞에서 4시간 페이서를 따르는 선수 예가 나와야 가리킬 대상이 생긴다. 주어진 문장은 ④에 들어간다.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25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25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2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Lst>
  </p:timing>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L5-2</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3 · ①</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다음 글의 각 [  ] 안에서 문맥상 알맞은 것을 고르시오.</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5</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클릭할 때마다 괄호 속 정답이 앞에서부터 하나씩 빨간색으로 나타납니다 (총 6개)</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4832096"/>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4832096"/>
          </a:xfrm>
          <a:prstGeom prst="rect">
            <a:avLst/>
          </a:prstGeom>
          <a:noFill/>
        </p:spPr>
        <p:txBody>
          <a:bodyPr wrap="square" lIns="228600" tIns="155448" rIns="228600" bIns="155448" anchor="t" rtlCol="0">
            <a:noAutofit/>
          </a:bodyPr>
          <a:lstStyle/>
          <a:p>
            <a:pPr algn="l">
              <a:lnSpc>
                <a:spcPts val="3560"/>
              </a:lnSpc>
              <a:spcBef>
                <a:spcPts val="0"/>
              </a:spcBef>
              <a:spcAft>
                <a:spcPts val="0"/>
              </a:spcAft>
              <a:buNone/>
            </a:pPr>
            <a:r>
              <a:rPr lang="ko-KR" altLang="en-US" sz="2200" b="1" dirty="0">
                <a:solidFill>
                  <a:srgbClr val="1E2A5A"/>
                </a:solidFill>
                <a:latin typeface="맑은 고딕"/>
                <a:ea typeface="맑은 고딕"/>
                <a:cs typeface="맑은 고딕"/>
              </a:rPr>
              <a:t>①</a:t>
            </a:r>
            <a:r>
              <a:rPr lang="en-US" altLang="ko-KR" sz="2200" b="0"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Each pacer </a:t>
            </a:r>
            <a:r>
              <a:rPr lang="en-US" altLang="ko-KR" sz="2200" b="1" dirty="0">
                <a:solidFill>
                  <a:srgbClr val="1F2328"/>
                </a:solidFill>
                <a:latin typeface="Calibri"/>
                <a:ea typeface="맑은 고딕"/>
                <a:cs typeface="Calibri"/>
              </a:rPr>
              <a:t>[ </a:t>
            </a:r>
            <a:r>
              <a:rPr lang="en-US" altLang="ko-KR" sz="2200" b="1" dirty="0">
                <a:solidFill>
                  <a:srgbClr val="1F2328"/>
                </a:solidFill>
                <a:latin typeface="Calibri"/>
                <a:ea typeface="맑은 고딕"/>
                <a:cs typeface="Calibri"/>
              </a:rPr>
              <a:t>run at</a:t>
            </a:r>
            <a:r>
              <a:rPr lang="en-US" altLang="ko-KR" sz="2200" b="1" dirty="0">
                <a:solidFill>
                  <a:srgbClr val="1F2328"/>
                </a:solidFill>
                <a:latin typeface="Calibri"/>
                <a:ea typeface="맑은 고딕"/>
                <a:cs typeface="Calibri"/>
              </a:rPr>
              <a:t> / </a:t>
            </a:r>
            <a:r>
              <a:rPr lang="en-US" altLang="ko-KR" sz="2200" b="1" dirty="0">
                <a:solidFill>
                  <a:srgbClr val="1F2328"/>
                </a:solidFill>
                <a:latin typeface="Calibri"/>
                <a:ea typeface="맑은 고딕"/>
                <a:cs typeface="Calibri"/>
              </a:rPr>
              <a:t>runs at</a:t>
            </a:r>
            <a:r>
              <a:rPr lang="en-US" altLang="ko-KR" sz="2200" b="1"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 different speeds and finishes the race in different times.</a:t>
            </a:r>
            <a:r>
              <a:rPr lang="en-US" altLang="ko-KR" sz="2200" b="0" dirty="0">
                <a:solidFill>
                  <a:srgbClr val="1F2328"/>
                </a:solidFill>
                <a:latin typeface="Calibri"/>
                <a:ea typeface="맑은 고딕"/>
                <a:cs typeface="Calibri"/>
              </a:rPr>
              <a:t>   </a:t>
            </a:r>
            <a:r>
              <a:rPr lang="ko-KR" altLang="en-US" sz="2200" b="1" dirty="0">
                <a:solidFill>
                  <a:srgbClr val="1E2A5A"/>
                </a:solidFill>
                <a:latin typeface="맑은 고딕"/>
                <a:ea typeface="맑은 고딕"/>
                <a:cs typeface="맑은 고딕"/>
              </a:rPr>
              <a:t>②</a:t>
            </a:r>
            <a:r>
              <a:rPr lang="en-US" altLang="ko-KR" sz="2200" b="0"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Pacers usually have flags or balloons </a:t>
            </a:r>
            <a:r>
              <a:rPr lang="en-US" altLang="ko-KR" sz="2200" b="1" dirty="0">
                <a:solidFill>
                  <a:srgbClr val="1F2328"/>
                </a:solidFill>
                <a:latin typeface="Calibri"/>
                <a:ea typeface="맑은 고딕"/>
                <a:cs typeface="Calibri"/>
              </a:rPr>
              <a:t>[ </a:t>
            </a:r>
            <a:r>
              <a:rPr lang="en-US" altLang="ko-KR" sz="2200" b="1" dirty="0">
                <a:solidFill>
                  <a:srgbClr val="1F2328"/>
                </a:solidFill>
                <a:latin typeface="Calibri"/>
                <a:ea typeface="맑은 고딕"/>
                <a:cs typeface="Calibri"/>
              </a:rPr>
              <a:t>showing</a:t>
            </a:r>
            <a:r>
              <a:rPr lang="en-US" altLang="ko-KR" sz="2200" b="1" dirty="0">
                <a:solidFill>
                  <a:srgbClr val="1F2328"/>
                </a:solidFill>
                <a:latin typeface="Calibri"/>
                <a:ea typeface="맑은 고딕"/>
                <a:cs typeface="Calibri"/>
              </a:rPr>
              <a:t> / </a:t>
            </a:r>
            <a:r>
              <a:rPr lang="en-US" altLang="ko-KR" sz="2200" b="1" dirty="0">
                <a:solidFill>
                  <a:srgbClr val="1F2328"/>
                </a:solidFill>
                <a:latin typeface="Calibri"/>
                <a:ea typeface="맑은 고딕"/>
                <a:cs typeface="Calibri"/>
              </a:rPr>
              <a:t>shown</a:t>
            </a:r>
            <a:r>
              <a:rPr lang="en-US" altLang="ko-KR" sz="2200" b="1"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 their finish time.</a:t>
            </a:r>
            <a:r>
              <a:rPr lang="en-US" altLang="ko-KR" sz="2200" b="0" dirty="0">
                <a:solidFill>
                  <a:srgbClr val="1F2328"/>
                </a:solidFill>
                <a:latin typeface="Calibri"/>
                <a:ea typeface="맑은 고딕"/>
                <a:cs typeface="Calibri"/>
              </a:rPr>
              <a:t>   </a:t>
            </a:r>
            <a:r>
              <a:rPr lang="ko-KR" altLang="en-US" sz="2200" b="1" dirty="0">
                <a:solidFill>
                  <a:srgbClr val="1E2A5A"/>
                </a:solidFill>
                <a:latin typeface="맑은 고딕"/>
                <a:ea typeface="맑은 고딕"/>
                <a:cs typeface="맑은 고딕"/>
              </a:rPr>
              <a:t>③</a:t>
            </a:r>
            <a:r>
              <a:rPr lang="en-US" altLang="ko-KR" sz="2200" b="0"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Runners can choose a pacer depending on their target finish time.</a:t>
            </a:r>
            <a:r>
              <a:rPr lang="en-US" altLang="ko-KR" sz="2200" b="0" dirty="0">
                <a:solidFill>
                  <a:srgbClr val="1F2328"/>
                </a:solidFill>
                <a:latin typeface="Calibri"/>
                <a:ea typeface="맑은 고딕"/>
                <a:cs typeface="Calibri"/>
              </a:rPr>
              <a:t>   </a:t>
            </a:r>
            <a:r>
              <a:rPr lang="ko-KR" altLang="en-US" sz="2200" b="1" dirty="0">
                <a:solidFill>
                  <a:srgbClr val="1E2A5A"/>
                </a:solidFill>
                <a:latin typeface="맑은 고딕"/>
                <a:ea typeface="맑은 고딕"/>
                <a:cs typeface="맑은 고딕"/>
              </a:rPr>
              <a:t>④</a:t>
            </a:r>
            <a:r>
              <a:rPr lang="en-US" altLang="ko-KR" sz="2200" b="0"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For example, if a runner </a:t>
            </a:r>
            <a:r>
              <a:rPr lang="en-US" altLang="ko-KR" sz="2200" b="1" dirty="0">
                <a:solidFill>
                  <a:srgbClr val="1F2328"/>
                </a:solidFill>
                <a:latin typeface="Calibri"/>
                <a:ea typeface="맑은 고딕"/>
                <a:cs typeface="Calibri"/>
              </a:rPr>
              <a:t>[ </a:t>
            </a:r>
            <a:r>
              <a:rPr lang="en-US" altLang="ko-KR" sz="2200" b="1" dirty="0">
                <a:solidFill>
                  <a:srgbClr val="1F2328"/>
                </a:solidFill>
                <a:latin typeface="Calibri"/>
                <a:ea typeface="맑은 고딕"/>
                <a:cs typeface="Calibri"/>
              </a:rPr>
              <a:t>wants finishing</a:t>
            </a:r>
            <a:r>
              <a:rPr lang="en-US" altLang="ko-KR" sz="2200" b="1" dirty="0">
                <a:solidFill>
                  <a:srgbClr val="1F2328"/>
                </a:solidFill>
                <a:latin typeface="Calibri"/>
                <a:ea typeface="맑은 고딕"/>
                <a:cs typeface="Calibri"/>
              </a:rPr>
              <a:t> / </a:t>
            </a:r>
            <a:r>
              <a:rPr lang="en-US" altLang="ko-KR" sz="2200" b="1" dirty="0">
                <a:solidFill>
                  <a:srgbClr val="1F2328"/>
                </a:solidFill>
                <a:latin typeface="Calibri"/>
                <a:ea typeface="맑은 고딕"/>
                <a:cs typeface="Calibri"/>
              </a:rPr>
              <a:t>wants to finish</a:t>
            </a:r>
            <a:r>
              <a:rPr lang="en-US" altLang="ko-KR" sz="2200" b="1"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 the race in four hours, the runner will follow the four‑hour pacer.</a:t>
            </a:r>
            <a:r>
              <a:rPr lang="en-US" altLang="ko-KR" sz="2200" b="0" dirty="0">
                <a:solidFill>
                  <a:srgbClr val="1F2328"/>
                </a:solidFill>
                <a:latin typeface="Calibri"/>
                <a:ea typeface="맑은 고딕"/>
                <a:cs typeface="Calibri"/>
              </a:rPr>
              <a:t>   </a:t>
            </a:r>
            <a:r>
              <a:rPr lang="ko-KR" altLang="en-US" sz="2200" b="1" dirty="0">
                <a:solidFill>
                  <a:srgbClr val="1E2A5A"/>
                </a:solidFill>
                <a:latin typeface="맑은 고딕"/>
                <a:ea typeface="맑은 고딕"/>
                <a:cs typeface="맑은 고딕"/>
              </a:rPr>
              <a:t>⑤</a:t>
            </a:r>
            <a:r>
              <a:rPr lang="en-US" altLang="ko-KR" sz="2200" b="0"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Since the pacer keeps track of the time, the runner can achieve his or her goal of </a:t>
            </a:r>
            <a:r>
              <a:rPr lang="en-US" altLang="ko-KR" sz="2200" b="1" dirty="0">
                <a:solidFill>
                  <a:srgbClr val="1F2328"/>
                </a:solidFill>
                <a:latin typeface="Calibri"/>
                <a:ea typeface="맑은 고딕"/>
                <a:cs typeface="Calibri"/>
              </a:rPr>
              <a:t>[ </a:t>
            </a:r>
            <a:r>
              <a:rPr lang="en-US" altLang="ko-KR" sz="2200" b="1" dirty="0">
                <a:solidFill>
                  <a:srgbClr val="1F2328"/>
                </a:solidFill>
                <a:latin typeface="Calibri"/>
                <a:ea typeface="맑은 고딕"/>
                <a:cs typeface="Calibri"/>
              </a:rPr>
              <a:t>finishing the marathon</a:t>
            </a:r>
            <a:r>
              <a:rPr lang="en-US" altLang="ko-KR" sz="2200" b="1" dirty="0">
                <a:solidFill>
                  <a:srgbClr val="1F2328"/>
                </a:solidFill>
                <a:latin typeface="Calibri"/>
                <a:ea typeface="맑은 고딕"/>
                <a:cs typeface="Calibri"/>
              </a:rPr>
              <a:t> / </a:t>
            </a:r>
            <a:r>
              <a:rPr lang="en-US" altLang="ko-KR" sz="2200" b="1" dirty="0">
                <a:solidFill>
                  <a:srgbClr val="1F2328"/>
                </a:solidFill>
                <a:latin typeface="Calibri"/>
                <a:ea typeface="맑은 고딕"/>
                <a:cs typeface="Calibri"/>
              </a:rPr>
              <a:t>finish the marathon</a:t>
            </a:r>
            <a:r>
              <a:rPr lang="en-US" altLang="ko-KR" sz="2200" b="1"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 in a particular time </a:t>
            </a:r>
            <a:r>
              <a:rPr lang="en-US" altLang="ko-KR" sz="2200" b="1" dirty="0">
                <a:solidFill>
                  <a:srgbClr val="1F2328"/>
                </a:solidFill>
                <a:latin typeface="Calibri"/>
                <a:ea typeface="맑은 고딕"/>
                <a:cs typeface="Calibri"/>
              </a:rPr>
              <a:t>[ </a:t>
            </a:r>
            <a:r>
              <a:rPr lang="en-US" altLang="ko-KR" sz="2200" b="1" dirty="0">
                <a:solidFill>
                  <a:srgbClr val="1F2328"/>
                </a:solidFill>
                <a:latin typeface="Calibri"/>
                <a:ea typeface="맑은 고딕"/>
                <a:cs typeface="Calibri"/>
              </a:rPr>
              <a:t>more easily</a:t>
            </a:r>
            <a:r>
              <a:rPr lang="en-US" altLang="ko-KR" sz="2200" b="1" dirty="0">
                <a:solidFill>
                  <a:srgbClr val="1F2328"/>
                </a:solidFill>
                <a:latin typeface="Calibri"/>
                <a:ea typeface="맑은 고딕"/>
                <a:cs typeface="Calibri"/>
              </a:rPr>
              <a:t> / </a:t>
            </a:r>
            <a:r>
              <a:rPr lang="en-US" altLang="ko-KR" sz="2200" b="1" dirty="0">
                <a:solidFill>
                  <a:srgbClr val="1F2328"/>
                </a:solidFill>
                <a:latin typeface="Calibri"/>
                <a:ea typeface="맑은 고딕"/>
                <a:cs typeface="Calibri"/>
              </a:rPr>
              <a:t>more easy</a:t>
            </a:r>
            <a:r>
              <a:rPr lang="en-US" altLang="ko-KR" sz="2200" b="1"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a:t>
            </a:r>
            <a:r>
              <a:rPr lang="en-US" altLang="ko-KR" sz="2200" b="0" dirty="0">
                <a:solidFill>
                  <a:srgbClr val="1F2328"/>
                </a:solidFill>
                <a:latin typeface="Calibri"/>
                <a:ea typeface="맑은 고딕"/>
                <a:cs typeface="Calibri"/>
              </a:rPr>
              <a:t>   </a:t>
            </a:r>
            <a:r>
              <a:rPr lang="ko-KR" altLang="en-US" sz="2200" b="1" dirty="0">
                <a:solidFill>
                  <a:srgbClr val="1E2A5A"/>
                </a:solidFill>
                <a:latin typeface="맑은 고딕"/>
                <a:ea typeface="맑은 고딕"/>
                <a:cs typeface="맑은 고딕"/>
              </a:rPr>
              <a:t>⑥</a:t>
            </a:r>
            <a:r>
              <a:rPr lang="en-US" altLang="ko-KR" sz="2200" b="0"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In short, pacers run but they don’t run </a:t>
            </a:r>
            <a:r>
              <a:rPr lang="en-US" altLang="ko-KR" sz="2200" b="1" dirty="0">
                <a:solidFill>
                  <a:srgbClr val="1F2328"/>
                </a:solidFill>
                <a:latin typeface="Calibri"/>
                <a:ea typeface="맑은 고딕"/>
                <a:cs typeface="Calibri"/>
              </a:rPr>
              <a:t>[ </a:t>
            </a:r>
            <a:r>
              <a:rPr lang="en-US" altLang="ko-KR" sz="2200" b="1" dirty="0">
                <a:solidFill>
                  <a:srgbClr val="1F2328"/>
                </a:solidFill>
                <a:latin typeface="Calibri"/>
                <a:ea typeface="맑은 고딕"/>
                <a:cs typeface="Calibri"/>
              </a:rPr>
              <a:t>winning</a:t>
            </a:r>
            <a:r>
              <a:rPr lang="en-US" altLang="ko-KR" sz="2200" b="1" dirty="0">
                <a:solidFill>
                  <a:srgbClr val="1F2328"/>
                </a:solidFill>
                <a:latin typeface="Calibri"/>
                <a:ea typeface="맑은 고딕"/>
                <a:cs typeface="Calibri"/>
              </a:rPr>
              <a:t> / </a:t>
            </a:r>
            <a:r>
              <a:rPr lang="en-US" altLang="ko-KR" sz="2200" b="1" dirty="0">
                <a:solidFill>
                  <a:srgbClr val="1F2328"/>
                </a:solidFill>
                <a:latin typeface="Calibri"/>
                <a:ea typeface="맑은 고딕"/>
                <a:cs typeface="Calibri"/>
              </a:rPr>
              <a:t>to win</a:t>
            </a:r>
            <a:r>
              <a:rPr lang="en-US" altLang="ko-KR" sz="2200" b="1"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a:t>
            </a:r>
            <a:r>
              <a:rPr lang="en-US" altLang="ko-KR" sz="2200" b="0" dirty="0">
                <a:solidFill>
                  <a:srgbClr val="1F2328"/>
                </a:solidFill>
                <a:latin typeface="Calibri"/>
                <a:ea typeface="맑은 고딕"/>
                <a:cs typeface="Calibri"/>
              </a:rPr>
              <a:t>   </a:t>
            </a:r>
            <a:r>
              <a:rPr lang="ko-KR" altLang="en-US" sz="2200" b="1" dirty="0">
                <a:solidFill>
                  <a:srgbClr val="1E2A5A"/>
                </a:solidFill>
                <a:latin typeface="맑은 고딕"/>
                <a:ea typeface="맑은 고딕"/>
                <a:cs typeface="맑은 고딕"/>
              </a:rPr>
              <a:t>⑦</a:t>
            </a:r>
            <a:r>
              <a:rPr lang="en-US" altLang="ko-KR" sz="2200" b="0"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They run for others.</a:t>
            </a:r>
            <a:endParaRPr lang="en-US" altLang="ko-KR" sz="2200" b="0" dirty="0">
              <a:solidFill>
                <a:srgbClr val="1F2328"/>
              </a:solidFill>
              <a:latin typeface="Calibri"/>
              <a:ea typeface="맑은 고딕"/>
              <a:cs typeface="Calibri"/>
            </a:endParaRPr>
          </a:p>
        </p:txBody>
      </p:sp>
      <p:sp>
        <p:nvSpPr>
          <p:cNvPr id="9" name="rv_g01"/>
          <p:cNvSpPr txBox="1"/>
          <p:nvPr/>
        </p:nvSpPr>
        <p:spPr>
          <a:xfrm>
            <a:off x="457200" y="950976"/>
            <a:ext cx="11277295" cy="4832096"/>
          </a:xfrm>
          <a:prstGeom prst="rect">
            <a:avLst/>
          </a:prstGeom>
          <a:noFill/>
        </p:spPr>
        <p:txBody>
          <a:bodyPr wrap="square" lIns="228600" tIns="155448" rIns="228600" bIns="155448" anchor="t" rtlCol="0">
            <a:noAutofit/>
          </a:bodyPr>
          <a:lstStyle/>
          <a:p>
            <a:pPr algn="l">
              <a:lnSpc>
                <a:spcPts val="3560"/>
              </a:lnSpc>
              <a:spcBef>
                <a:spcPts val="0"/>
              </a:spcBef>
              <a:spcAft>
                <a:spcPts val="0"/>
              </a:spcAft>
              <a:buNone/>
            </a:pPr>
            <a:r>
              <a:rPr lang="ko-KR" altLang="en-US" sz="2200" b="1" dirty="0">
                <a:solidFill>
                  <a:srgbClr val="1E2A5A">
                    <a:alpha val="0"/>
                  </a:srgbClr>
                </a:solidFill>
                <a:latin typeface="맑은 고딕"/>
                <a:ea typeface="맑은 고딕"/>
                <a:cs typeface="맑은 고딕"/>
              </a:rPr>
              <a:t>①</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Each pacer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run at</a:t>
            </a:r>
            <a:r>
              <a:rPr lang="en-US" altLang="ko-KR" sz="2200" b="1" dirty="0">
                <a:solidFill>
                  <a:srgbClr val="1F2328">
                    <a:alpha val="0"/>
                  </a:srgbClr>
                </a:solidFill>
                <a:latin typeface="Calibri"/>
                <a:ea typeface="맑은 고딕"/>
                <a:cs typeface="Calibri"/>
              </a:rPr>
              <a:t> / </a:t>
            </a:r>
            <a:r>
              <a:rPr lang="en-US" altLang="ko-KR" sz="2200" b="1" dirty="0">
                <a:solidFill>
                  <a:srgbClr val="C00000"/>
                </a:solidFill>
                <a:highlight>
                  <a:srgbClr val="F3F5F9"/>
                </a:highlight>
                <a:latin typeface="Calibri"/>
                <a:ea typeface="맑은 고딕"/>
                <a:cs typeface="Calibri"/>
              </a:rPr>
              <a:t>runs at</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different speeds and finishes the race in different times.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②</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Pacers usually have flags or balloons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showing</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shown</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their finish time.</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③</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Runners can choose a pacer depending on their target finish time.</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④</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For example, if a runner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wants finishing</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wants to finish</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 race in four hours, the runner will follow the four‑hour pacer.</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⑤</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Since the pacer keeps track of the time, the runner can achieve his or her goal of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finishing the marathon</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finish the marathon</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in a particular time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more easily</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more easy</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⑥</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In short, pacers run but they don’t run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winning</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to win</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⑦</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They run for others.</a:t>
            </a:r>
            <a:endParaRPr lang="en-US" altLang="ko-KR" sz="2200" b="0" dirty="0">
              <a:solidFill>
                <a:srgbClr val="1F2328"/>
              </a:solidFill>
              <a:latin typeface="Calibri"/>
              <a:ea typeface="맑은 고딕"/>
              <a:cs typeface="Calibri"/>
            </a:endParaRPr>
          </a:p>
        </p:txBody>
      </p:sp>
      <p:sp>
        <p:nvSpPr>
          <p:cNvPr id="10" name="rv_g02"/>
          <p:cNvSpPr txBox="1"/>
          <p:nvPr/>
        </p:nvSpPr>
        <p:spPr>
          <a:xfrm>
            <a:off x="457200" y="950976"/>
            <a:ext cx="11277295" cy="4832096"/>
          </a:xfrm>
          <a:prstGeom prst="rect">
            <a:avLst/>
          </a:prstGeom>
          <a:noFill/>
        </p:spPr>
        <p:txBody>
          <a:bodyPr wrap="square" lIns="228600" tIns="155448" rIns="228600" bIns="155448" anchor="t" rtlCol="0">
            <a:noAutofit/>
          </a:bodyPr>
          <a:lstStyle/>
          <a:p>
            <a:pPr algn="l">
              <a:lnSpc>
                <a:spcPts val="3560"/>
              </a:lnSpc>
              <a:spcBef>
                <a:spcPts val="0"/>
              </a:spcBef>
              <a:spcAft>
                <a:spcPts val="0"/>
              </a:spcAft>
              <a:buNone/>
            </a:pPr>
            <a:r>
              <a:rPr lang="ko-KR" altLang="en-US" sz="2200" b="1" dirty="0">
                <a:solidFill>
                  <a:srgbClr val="1E2A5A">
                    <a:alpha val="0"/>
                  </a:srgbClr>
                </a:solidFill>
                <a:latin typeface="맑은 고딕"/>
                <a:ea typeface="맑은 고딕"/>
                <a:cs typeface="맑은 고딕"/>
              </a:rPr>
              <a:t>①</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Each pacer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run at</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runs at</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different speeds and finishes the race in different times.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②</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Pacers usually have flags or balloons </a:t>
            </a:r>
            <a:r>
              <a:rPr lang="en-US" altLang="ko-KR" sz="2200" b="1" dirty="0">
                <a:solidFill>
                  <a:srgbClr val="1F2328">
                    <a:alpha val="0"/>
                  </a:srgbClr>
                </a:solidFill>
                <a:latin typeface="Calibri"/>
                <a:ea typeface="맑은 고딕"/>
                <a:cs typeface="Calibri"/>
              </a:rPr>
              <a:t>[ </a:t>
            </a:r>
            <a:r>
              <a:rPr lang="en-US" altLang="ko-KR" sz="2200" b="1" dirty="0">
                <a:solidFill>
                  <a:srgbClr val="C00000"/>
                </a:solidFill>
                <a:highlight>
                  <a:srgbClr val="F3F5F9"/>
                </a:highlight>
                <a:latin typeface="Calibri"/>
                <a:ea typeface="맑은 고딕"/>
                <a:cs typeface="Calibri"/>
              </a:rPr>
              <a:t>showing</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shown</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their finish time.</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③</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Runners can choose a pacer depending on their target finish time.</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④</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For example, if a runner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wants finishing</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wants to finish</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 race in four hours, the runner will follow the four‑hour pacer.</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⑤</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Since the pacer keeps track of the time, the runner can achieve his or her goal of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finishing the marathon</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finish the marathon</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in a particular time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more easily</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more easy</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⑥</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In short, pacers run but they don’t run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winning</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to win</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⑦</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They run for others.</a:t>
            </a:r>
            <a:endParaRPr lang="en-US" altLang="ko-KR" sz="2200" b="0" dirty="0">
              <a:solidFill>
                <a:srgbClr val="1F2328"/>
              </a:solidFill>
              <a:latin typeface="Calibri"/>
              <a:ea typeface="맑은 고딕"/>
              <a:cs typeface="Calibri"/>
            </a:endParaRPr>
          </a:p>
        </p:txBody>
      </p:sp>
      <p:sp>
        <p:nvSpPr>
          <p:cNvPr id="11" name="rv_g03"/>
          <p:cNvSpPr txBox="1"/>
          <p:nvPr/>
        </p:nvSpPr>
        <p:spPr>
          <a:xfrm>
            <a:off x="457200" y="950976"/>
            <a:ext cx="11277295" cy="4832096"/>
          </a:xfrm>
          <a:prstGeom prst="rect">
            <a:avLst/>
          </a:prstGeom>
          <a:noFill/>
        </p:spPr>
        <p:txBody>
          <a:bodyPr wrap="square" lIns="228600" tIns="155448" rIns="228600" bIns="155448" anchor="t" rtlCol="0">
            <a:noAutofit/>
          </a:bodyPr>
          <a:lstStyle/>
          <a:p>
            <a:pPr algn="l">
              <a:lnSpc>
                <a:spcPts val="3560"/>
              </a:lnSpc>
              <a:spcBef>
                <a:spcPts val="0"/>
              </a:spcBef>
              <a:spcAft>
                <a:spcPts val="0"/>
              </a:spcAft>
              <a:buNone/>
            </a:pPr>
            <a:r>
              <a:rPr lang="ko-KR" altLang="en-US" sz="2200" b="1" dirty="0">
                <a:solidFill>
                  <a:srgbClr val="1E2A5A">
                    <a:alpha val="0"/>
                  </a:srgbClr>
                </a:solidFill>
                <a:latin typeface="맑은 고딕"/>
                <a:ea typeface="맑은 고딕"/>
                <a:cs typeface="맑은 고딕"/>
              </a:rPr>
              <a:t>①</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Each pacer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run at</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runs at</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different speeds and finishes the race in different times.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②</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Pacers usually have flags or balloons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showing</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shown</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their finish time.</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③</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Runners can choose a pacer depending on their target finish time.</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④</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For example, if a runner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wants finishing</a:t>
            </a:r>
            <a:r>
              <a:rPr lang="en-US" altLang="ko-KR" sz="2200" b="1" dirty="0">
                <a:solidFill>
                  <a:srgbClr val="1F2328">
                    <a:alpha val="0"/>
                  </a:srgbClr>
                </a:solidFill>
                <a:latin typeface="Calibri"/>
                <a:ea typeface="맑은 고딕"/>
                <a:cs typeface="Calibri"/>
              </a:rPr>
              <a:t> / </a:t>
            </a:r>
            <a:r>
              <a:rPr lang="en-US" altLang="ko-KR" sz="2200" b="1" dirty="0">
                <a:solidFill>
                  <a:srgbClr val="C00000"/>
                </a:solidFill>
                <a:highlight>
                  <a:srgbClr val="F3F5F9"/>
                </a:highlight>
                <a:latin typeface="Calibri"/>
                <a:ea typeface="맑은 고딕"/>
                <a:cs typeface="Calibri"/>
              </a:rPr>
              <a:t>wants to finish</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 race in four hours, the runner will follow the four‑hour pacer.</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⑤</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Since the pacer keeps track of the time, the runner can achieve his or her goal of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finishing the marathon</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finish the marathon</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in a particular time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more easily</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more easy</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⑥</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In short, pacers run but they don’t run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winning</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to win</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⑦</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They run for others.</a:t>
            </a:r>
            <a:endParaRPr lang="en-US" altLang="ko-KR" sz="2200" b="0" dirty="0">
              <a:solidFill>
                <a:srgbClr val="1F2328"/>
              </a:solidFill>
              <a:latin typeface="Calibri"/>
              <a:ea typeface="맑은 고딕"/>
              <a:cs typeface="Calibri"/>
            </a:endParaRPr>
          </a:p>
        </p:txBody>
      </p:sp>
      <p:sp>
        <p:nvSpPr>
          <p:cNvPr id="12" name="rv_g04"/>
          <p:cNvSpPr txBox="1"/>
          <p:nvPr/>
        </p:nvSpPr>
        <p:spPr>
          <a:xfrm>
            <a:off x="457200" y="950976"/>
            <a:ext cx="11277295" cy="4832096"/>
          </a:xfrm>
          <a:prstGeom prst="rect">
            <a:avLst/>
          </a:prstGeom>
          <a:noFill/>
        </p:spPr>
        <p:txBody>
          <a:bodyPr wrap="square" lIns="228600" tIns="155448" rIns="228600" bIns="155448" anchor="t" rtlCol="0">
            <a:noAutofit/>
          </a:bodyPr>
          <a:lstStyle/>
          <a:p>
            <a:pPr algn="l">
              <a:lnSpc>
                <a:spcPts val="3560"/>
              </a:lnSpc>
              <a:spcBef>
                <a:spcPts val="0"/>
              </a:spcBef>
              <a:spcAft>
                <a:spcPts val="0"/>
              </a:spcAft>
              <a:buNone/>
            </a:pPr>
            <a:r>
              <a:rPr lang="ko-KR" altLang="en-US" sz="2200" b="1" dirty="0">
                <a:solidFill>
                  <a:srgbClr val="1E2A5A">
                    <a:alpha val="0"/>
                  </a:srgbClr>
                </a:solidFill>
                <a:latin typeface="맑은 고딕"/>
                <a:ea typeface="맑은 고딕"/>
                <a:cs typeface="맑은 고딕"/>
              </a:rPr>
              <a:t>①</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Each pacer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run at</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runs at</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different speeds and finishes the race in different times.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②</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Pacers usually have flags or balloons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showing</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shown</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their finish time.</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③</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Runners can choose a pacer depending on their target finish time.</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④</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For example, if a runner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wants finishing</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wants to finish</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 race in four hours, the runner will follow the four‑hour pacer.</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⑤</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Since the pacer keeps track of the time, the runner can achieve his or her goal of </a:t>
            </a:r>
            <a:r>
              <a:rPr lang="en-US" altLang="ko-KR" sz="2200" b="1" dirty="0">
                <a:solidFill>
                  <a:srgbClr val="1F2328">
                    <a:alpha val="0"/>
                  </a:srgbClr>
                </a:solidFill>
                <a:latin typeface="Calibri"/>
                <a:ea typeface="맑은 고딕"/>
                <a:cs typeface="Calibri"/>
              </a:rPr>
              <a:t>[ </a:t>
            </a:r>
            <a:r>
              <a:rPr lang="en-US" altLang="ko-KR" sz="2200" b="1" dirty="0">
                <a:solidFill>
                  <a:srgbClr val="C00000"/>
                </a:solidFill>
                <a:highlight>
                  <a:srgbClr val="F3F5F9"/>
                </a:highlight>
                <a:latin typeface="Calibri"/>
                <a:ea typeface="맑은 고딕"/>
                <a:cs typeface="Calibri"/>
              </a:rPr>
              <a:t>finishing the marathon</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finish the marathon</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in a particular time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more easily</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more easy</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⑥</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In short, pacers run but they don’t run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winning</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to win</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⑦</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They run for others.</a:t>
            </a:r>
            <a:endParaRPr lang="en-US" altLang="ko-KR" sz="2200" b="0" dirty="0">
              <a:solidFill>
                <a:srgbClr val="1F2328"/>
              </a:solidFill>
              <a:latin typeface="Calibri"/>
              <a:ea typeface="맑은 고딕"/>
              <a:cs typeface="Calibri"/>
            </a:endParaRPr>
          </a:p>
        </p:txBody>
      </p:sp>
      <p:sp>
        <p:nvSpPr>
          <p:cNvPr id="13" name="rv_g05"/>
          <p:cNvSpPr txBox="1"/>
          <p:nvPr/>
        </p:nvSpPr>
        <p:spPr>
          <a:xfrm>
            <a:off x="457200" y="950976"/>
            <a:ext cx="11277295" cy="4832096"/>
          </a:xfrm>
          <a:prstGeom prst="rect">
            <a:avLst/>
          </a:prstGeom>
          <a:noFill/>
        </p:spPr>
        <p:txBody>
          <a:bodyPr wrap="square" lIns="228600" tIns="155448" rIns="228600" bIns="155448" anchor="t" rtlCol="0">
            <a:noAutofit/>
          </a:bodyPr>
          <a:lstStyle/>
          <a:p>
            <a:pPr algn="l">
              <a:lnSpc>
                <a:spcPts val="3560"/>
              </a:lnSpc>
              <a:spcBef>
                <a:spcPts val="0"/>
              </a:spcBef>
              <a:spcAft>
                <a:spcPts val="0"/>
              </a:spcAft>
              <a:buNone/>
            </a:pPr>
            <a:r>
              <a:rPr lang="ko-KR" altLang="en-US" sz="2200" b="1" dirty="0">
                <a:solidFill>
                  <a:srgbClr val="1E2A5A">
                    <a:alpha val="0"/>
                  </a:srgbClr>
                </a:solidFill>
                <a:latin typeface="맑은 고딕"/>
                <a:ea typeface="맑은 고딕"/>
                <a:cs typeface="맑은 고딕"/>
              </a:rPr>
              <a:t>①</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Each pacer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run at</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runs at</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different speeds and finishes the race in different times.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②</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Pacers usually have flags or balloons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showing</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shown</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their finish time.</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③</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Runners can choose a pacer depending on their target finish time.</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④</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For example, if a runner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wants finishing</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wants to finish</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 race in four hours, the runner will follow the four‑hour pacer.</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⑤</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Since the pacer keeps track of the time, the runner can achieve his or her goal of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finishing the marathon</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finish the marathon</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in a particular time </a:t>
            </a:r>
            <a:r>
              <a:rPr lang="en-US" altLang="ko-KR" sz="2200" b="1" dirty="0">
                <a:solidFill>
                  <a:srgbClr val="1F2328">
                    <a:alpha val="0"/>
                  </a:srgbClr>
                </a:solidFill>
                <a:latin typeface="Calibri"/>
                <a:ea typeface="맑은 고딕"/>
                <a:cs typeface="Calibri"/>
              </a:rPr>
              <a:t>[ </a:t>
            </a:r>
            <a:r>
              <a:rPr lang="en-US" altLang="ko-KR" sz="2200" b="1" dirty="0">
                <a:solidFill>
                  <a:srgbClr val="C00000"/>
                </a:solidFill>
                <a:highlight>
                  <a:srgbClr val="F3F5F9"/>
                </a:highlight>
                <a:latin typeface="Calibri"/>
                <a:ea typeface="맑은 고딕"/>
                <a:cs typeface="Calibri"/>
              </a:rPr>
              <a:t>more easily</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more easy</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⑥</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In short, pacers run but they don’t run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winning</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to win</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⑦</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They run for others.</a:t>
            </a:r>
            <a:endParaRPr lang="en-US" altLang="ko-KR" sz="2200" b="0" dirty="0">
              <a:solidFill>
                <a:srgbClr val="1F2328"/>
              </a:solidFill>
              <a:latin typeface="Calibri"/>
              <a:ea typeface="맑은 고딕"/>
              <a:cs typeface="Calibri"/>
            </a:endParaRPr>
          </a:p>
        </p:txBody>
      </p:sp>
      <p:sp>
        <p:nvSpPr>
          <p:cNvPr id="14" name="rv_g06"/>
          <p:cNvSpPr txBox="1"/>
          <p:nvPr/>
        </p:nvSpPr>
        <p:spPr>
          <a:xfrm>
            <a:off x="457200" y="950976"/>
            <a:ext cx="11277295" cy="4832096"/>
          </a:xfrm>
          <a:prstGeom prst="rect">
            <a:avLst/>
          </a:prstGeom>
          <a:noFill/>
        </p:spPr>
        <p:txBody>
          <a:bodyPr wrap="square" lIns="228600" tIns="155448" rIns="228600" bIns="155448" anchor="t" rtlCol="0">
            <a:noAutofit/>
          </a:bodyPr>
          <a:lstStyle/>
          <a:p>
            <a:pPr algn="l">
              <a:lnSpc>
                <a:spcPts val="3560"/>
              </a:lnSpc>
              <a:spcBef>
                <a:spcPts val="0"/>
              </a:spcBef>
              <a:spcAft>
                <a:spcPts val="0"/>
              </a:spcAft>
              <a:buNone/>
            </a:pPr>
            <a:r>
              <a:rPr lang="ko-KR" altLang="en-US" sz="2200" b="1" dirty="0">
                <a:solidFill>
                  <a:srgbClr val="1E2A5A">
                    <a:alpha val="0"/>
                  </a:srgbClr>
                </a:solidFill>
                <a:latin typeface="맑은 고딕"/>
                <a:ea typeface="맑은 고딕"/>
                <a:cs typeface="맑은 고딕"/>
              </a:rPr>
              <a:t>①</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Each pacer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run at</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runs at</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different speeds and finishes the race in different times.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②</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Pacers usually have flags or balloons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showing</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shown</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their finish time.</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③</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Runners can choose a pacer depending on their target finish time.</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④</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For example, if a runner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wants finishing</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wants to finish</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 race in four hours, the runner will follow the four‑hour pacer.</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⑤</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Since the pacer keeps track of the time, the runner can achieve his or her goal of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finishing the marathon</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finish the marathon</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in a particular time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more easily</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more easy</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⑥</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In short, pacers run but they don’t run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winning</a:t>
            </a:r>
            <a:r>
              <a:rPr lang="en-US" altLang="ko-KR" sz="2200" b="1" dirty="0">
                <a:solidFill>
                  <a:srgbClr val="1F2328">
                    <a:alpha val="0"/>
                  </a:srgbClr>
                </a:solidFill>
                <a:latin typeface="Calibri"/>
                <a:ea typeface="맑은 고딕"/>
                <a:cs typeface="Calibri"/>
              </a:rPr>
              <a:t> / </a:t>
            </a:r>
            <a:r>
              <a:rPr lang="en-US" altLang="ko-KR" sz="2200" b="1" dirty="0">
                <a:solidFill>
                  <a:srgbClr val="C00000"/>
                </a:solidFill>
                <a:highlight>
                  <a:srgbClr val="F3F5F9"/>
                </a:highlight>
                <a:latin typeface="Calibri"/>
                <a:ea typeface="맑은 고딕"/>
                <a:cs typeface="Calibri"/>
              </a:rPr>
              <a:t>to win</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⑦</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They run for others.</a:t>
            </a:r>
            <a:endParaRPr lang="en-US" altLang="ko-KR" sz="2200" b="0" dirty="0">
              <a:solidFill>
                <a:srgbClr val="1F2328"/>
              </a:solidFill>
              <a:latin typeface="Calibri"/>
              <a:ea typeface="맑은 고딕"/>
              <a:cs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25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25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25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250"/>
                                        <p:tgtEl>
                                          <p:spTgt spid="12"/>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250"/>
                                        <p:tgtEl>
                                          <p:spTgt spid="13"/>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4"/>
                                        </p:tgtEl>
                                        <p:attrNameLst>
                                          <p:attrName>style.visibility</p:attrName>
                                        </p:attrNameLst>
                                      </p:cBhvr>
                                      <p:to>
                                        <p:strVal val="visible"/>
                                      </p:to>
                                    </p:set>
                                    <p:animEffect transition="in" filter="fade">
                                      <p:cBhvr>
                                        <p:cTn id="32" dur="2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4" grpId="0" animBg="1"/>
    </p:bldLst>
  </p:timing>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L5-2</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3 · ②</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다음 글의 각 [  ] 안에서 문맥상 알맞은 것을 고르시오.</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5</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클릭할 때마다 괄호 속 정답이 앞에서부터 하나씩 빨간색으로 나타납니다 (총 6개)</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4832096"/>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4832096"/>
          </a:xfrm>
          <a:prstGeom prst="rect">
            <a:avLst/>
          </a:prstGeom>
          <a:noFill/>
        </p:spPr>
        <p:txBody>
          <a:bodyPr wrap="square" lIns="228600" tIns="155448" rIns="228600" bIns="155448" anchor="t" rtlCol="0">
            <a:noAutofit/>
          </a:bodyPr>
          <a:lstStyle/>
          <a:p>
            <a:pPr algn="l">
              <a:lnSpc>
                <a:spcPts val="3560"/>
              </a:lnSpc>
              <a:spcBef>
                <a:spcPts val="0"/>
              </a:spcBef>
              <a:spcAft>
                <a:spcPts val="0"/>
              </a:spcAft>
              <a:buNone/>
            </a:pPr>
            <a:r>
              <a:rPr lang="ko-KR" altLang="en-US" sz="2200" b="1" dirty="0">
                <a:solidFill>
                  <a:srgbClr val="1E2A5A"/>
                </a:solidFill>
                <a:latin typeface="맑은 고딕"/>
                <a:ea typeface="맑은 고딕"/>
                <a:cs typeface="맑은 고딕"/>
              </a:rPr>
              <a:t>①</a:t>
            </a:r>
            <a:r>
              <a:rPr lang="en-US" altLang="ko-KR" sz="2200" b="0"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Each pacer runs at different speeds and </a:t>
            </a:r>
            <a:r>
              <a:rPr lang="en-US" altLang="ko-KR" sz="2200" b="1" dirty="0">
                <a:solidFill>
                  <a:srgbClr val="1F2328"/>
                </a:solidFill>
                <a:latin typeface="Calibri"/>
                <a:ea typeface="맑은 고딕"/>
                <a:cs typeface="Calibri"/>
              </a:rPr>
              <a:t>[ </a:t>
            </a:r>
            <a:r>
              <a:rPr lang="en-US" altLang="ko-KR" sz="2200" b="1" dirty="0">
                <a:solidFill>
                  <a:srgbClr val="1F2328"/>
                </a:solidFill>
                <a:latin typeface="Calibri"/>
                <a:ea typeface="맑은 고딕"/>
                <a:cs typeface="Calibri"/>
              </a:rPr>
              <a:t>finishes</a:t>
            </a:r>
            <a:r>
              <a:rPr lang="en-US" altLang="ko-KR" sz="2200" b="1" dirty="0">
                <a:solidFill>
                  <a:srgbClr val="1F2328"/>
                </a:solidFill>
                <a:latin typeface="Calibri"/>
                <a:ea typeface="맑은 고딕"/>
                <a:cs typeface="Calibri"/>
              </a:rPr>
              <a:t> / </a:t>
            </a:r>
            <a:r>
              <a:rPr lang="en-US" altLang="ko-KR" sz="2200" b="1" dirty="0">
                <a:solidFill>
                  <a:srgbClr val="1F2328"/>
                </a:solidFill>
                <a:latin typeface="Calibri"/>
                <a:ea typeface="맑은 고딕"/>
                <a:cs typeface="Calibri"/>
              </a:rPr>
              <a:t>finish</a:t>
            </a:r>
            <a:r>
              <a:rPr lang="en-US" altLang="ko-KR" sz="2200" b="1"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 the race in different times.</a:t>
            </a:r>
            <a:r>
              <a:rPr lang="en-US" altLang="ko-KR" sz="2200" b="0" dirty="0">
                <a:solidFill>
                  <a:srgbClr val="1F2328"/>
                </a:solidFill>
                <a:latin typeface="Calibri"/>
                <a:ea typeface="맑은 고딕"/>
                <a:cs typeface="Calibri"/>
              </a:rPr>
              <a:t>   </a:t>
            </a:r>
            <a:r>
              <a:rPr lang="ko-KR" altLang="en-US" sz="2200" b="1" dirty="0">
                <a:solidFill>
                  <a:srgbClr val="1E2A5A"/>
                </a:solidFill>
                <a:latin typeface="맑은 고딕"/>
                <a:ea typeface="맑은 고딕"/>
                <a:cs typeface="맑은 고딕"/>
              </a:rPr>
              <a:t>②</a:t>
            </a:r>
            <a:r>
              <a:rPr lang="en-US" altLang="ko-KR" sz="2200" b="0"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Pacers usually have flags or balloons showing their finish time.</a:t>
            </a:r>
            <a:r>
              <a:rPr lang="en-US" altLang="ko-KR" sz="2200" b="0" dirty="0">
                <a:solidFill>
                  <a:srgbClr val="1F2328"/>
                </a:solidFill>
                <a:latin typeface="Calibri"/>
                <a:ea typeface="맑은 고딕"/>
                <a:cs typeface="Calibri"/>
              </a:rPr>
              <a:t>   </a:t>
            </a:r>
            <a:r>
              <a:rPr lang="ko-KR" altLang="en-US" sz="2200" b="1" dirty="0">
                <a:solidFill>
                  <a:srgbClr val="1E2A5A"/>
                </a:solidFill>
                <a:latin typeface="맑은 고딕"/>
                <a:ea typeface="맑은 고딕"/>
                <a:cs typeface="맑은 고딕"/>
              </a:rPr>
              <a:t>③</a:t>
            </a:r>
            <a:r>
              <a:rPr lang="en-US" altLang="ko-KR" sz="2200" b="0"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Runners can choose a pacer </a:t>
            </a:r>
            <a:r>
              <a:rPr lang="en-US" altLang="ko-KR" sz="2200" b="1" dirty="0">
                <a:solidFill>
                  <a:srgbClr val="1F2328"/>
                </a:solidFill>
                <a:latin typeface="Calibri"/>
                <a:ea typeface="맑은 고딕"/>
                <a:cs typeface="Calibri"/>
              </a:rPr>
              <a:t>[ </a:t>
            </a:r>
            <a:r>
              <a:rPr lang="en-US" altLang="ko-KR" sz="2200" b="1" dirty="0">
                <a:solidFill>
                  <a:srgbClr val="1F2328"/>
                </a:solidFill>
                <a:latin typeface="Calibri"/>
                <a:ea typeface="맑은 고딕"/>
                <a:cs typeface="Calibri"/>
              </a:rPr>
              <a:t>depending on</a:t>
            </a:r>
            <a:r>
              <a:rPr lang="en-US" altLang="ko-KR" sz="2200" b="1" dirty="0">
                <a:solidFill>
                  <a:srgbClr val="1F2328"/>
                </a:solidFill>
                <a:latin typeface="Calibri"/>
                <a:ea typeface="맑은 고딕"/>
                <a:cs typeface="Calibri"/>
              </a:rPr>
              <a:t> / </a:t>
            </a:r>
            <a:r>
              <a:rPr lang="en-US" altLang="ko-KR" sz="2200" b="1" dirty="0">
                <a:solidFill>
                  <a:srgbClr val="1F2328"/>
                </a:solidFill>
                <a:latin typeface="Calibri"/>
                <a:ea typeface="맑은 고딕"/>
                <a:cs typeface="Calibri"/>
              </a:rPr>
              <a:t>depended on</a:t>
            </a:r>
            <a:r>
              <a:rPr lang="en-US" altLang="ko-KR" sz="2200" b="1"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 their target finish time.</a:t>
            </a:r>
            <a:r>
              <a:rPr lang="en-US" altLang="ko-KR" sz="2200" b="0" dirty="0">
                <a:solidFill>
                  <a:srgbClr val="1F2328"/>
                </a:solidFill>
                <a:latin typeface="Calibri"/>
                <a:ea typeface="맑은 고딕"/>
                <a:cs typeface="Calibri"/>
              </a:rPr>
              <a:t>   </a:t>
            </a:r>
            <a:r>
              <a:rPr lang="ko-KR" altLang="en-US" sz="2200" b="1" dirty="0">
                <a:solidFill>
                  <a:srgbClr val="1E2A5A"/>
                </a:solidFill>
                <a:latin typeface="맑은 고딕"/>
                <a:ea typeface="맑은 고딕"/>
                <a:cs typeface="맑은 고딕"/>
              </a:rPr>
              <a:t>④</a:t>
            </a:r>
            <a:r>
              <a:rPr lang="en-US" altLang="ko-KR" sz="2200" b="0"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For example, if a runner wants to finish the race in four hours, the runner </a:t>
            </a:r>
            <a:r>
              <a:rPr lang="en-US" altLang="ko-KR" sz="2200" b="1" dirty="0">
                <a:solidFill>
                  <a:srgbClr val="1F2328"/>
                </a:solidFill>
                <a:latin typeface="Calibri"/>
                <a:ea typeface="맑은 고딕"/>
                <a:cs typeface="Calibri"/>
              </a:rPr>
              <a:t>[ </a:t>
            </a:r>
            <a:r>
              <a:rPr lang="en-US" altLang="ko-KR" sz="2200" b="1" dirty="0">
                <a:solidFill>
                  <a:srgbClr val="1F2328"/>
                </a:solidFill>
                <a:latin typeface="Calibri"/>
                <a:ea typeface="맑은 고딕"/>
                <a:cs typeface="Calibri"/>
              </a:rPr>
              <a:t>will follow</a:t>
            </a:r>
            <a:r>
              <a:rPr lang="en-US" altLang="ko-KR" sz="2200" b="1" dirty="0">
                <a:solidFill>
                  <a:srgbClr val="1F2328"/>
                </a:solidFill>
                <a:latin typeface="Calibri"/>
                <a:ea typeface="맑은 고딕"/>
                <a:cs typeface="Calibri"/>
              </a:rPr>
              <a:t> / </a:t>
            </a:r>
            <a:r>
              <a:rPr lang="en-US" altLang="ko-KR" sz="2200" b="1" dirty="0">
                <a:solidFill>
                  <a:srgbClr val="1F2328"/>
                </a:solidFill>
                <a:latin typeface="Calibri"/>
                <a:ea typeface="맑은 고딕"/>
                <a:cs typeface="Calibri"/>
              </a:rPr>
              <a:t>will be followed</a:t>
            </a:r>
            <a:r>
              <a:rPr lang="en-US" altLang="ko-KR" sz="2200" b="1"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 the four‑hour pacer.</a:t>
            </a:r>
            <a:r>
              <a:rPr lang="en-US" altLang="ko-KR" sz="2200" b="0" dirty="0">
                <a:solidFill>
                  <a:srgbClr val="1F2328"/>
                </a:solidFill>
                <a:latin typeface="Calibri"/>
                <a:ea typeface="맑은 고딕"/>
                <a:cs typeface="Calibri"/>
              </a:rPr>
              <a:t>   </a:t>
            </a:r>
            <a:r>
              <a:rPr lang="ko-KR" altLang="en-US" sz="2200" b="1" dirty="0">
                <a:solidFill>
                  <a:srgbClr val="1E2A5A"/>
                </a:solidFill>
                <a:latin typeface="맑은 고딕"/>
                <a:ea typeface="맑은 고딕"/>
                <a:cs typeface="맑은 고딕"/>
              </a:rPr>
              <a:t>⑤</a:t>
            </a:r>
            <a:r>
              <a:rPr lang="en-US" altLang="ko-KR" sz="2200" b="0" dirty="0">
                <a:solidFill>
                  <a:srgbClr val="1F2328"/>
                </a:solidFill>
                <a:latin typeface="Calibri"/>
                <a:ea typeface="맑은 고딕"/>
                <a:cs typeface="Calibri"/>
              </a:rPr>
              <a:t> </a:t>
            </a:r>
            <a:r>
              <a:rPr lang="en-US" altLang="ko-KR" sz="2200" b="1" dirty="0">
                <a:solidFill>
                  <a:srgbClr val="1F2328"/>
                </a:solidFill>
                <a:latin typeface="Calibri"/>
                <a:ea typeface="맑은 고딕"/>
                <a:cs typeface="Calibri"/>
              </a:rPr>
              <a:t>[ </a:t>
            </a:r>
            <a:r>
              <a:rPr lang="en-US" altLang="ko-KR" sz="2200" b="1" dirty="0">
                <a:solidFill>
                  <a:srgbClr val="1F2328"/>
                </a:solidFill>
                <a:latin typeface="Calibri"/>
                <a:ea typeface="맑은 고딕"/>
                <a:cs typeface="Calibri"/>
              </a:rPr>
              <a:t>Since</a:t>
            </a:r>
            <a:r>
              <a:rPr lang="en-US" altLang="ko-KR" sz="2200" b="1" dirty="0">
                <a:solidFill>
                  <a:srgbClr val="1F2328"/>
                </a:solidFill>
                <a:latin typeface="Calibri"/>
                <a:ea typeface="맑은 고딕"/>
                <a:cs typeface="Calibri"/>
              </a:rPr>
              <a:t> / </a:t>
            </a:r>
            <a:r>
              <a:rPr lang="en-US" altLang="ko-KR" sz="2200" b="1" dirty="0">
                <a:solidFill>
                  <a:srgbClr val="1F2328"/>
                </a:solidFill>
                <a:latin typeface="Calibri"/>
                <a:ea typeface="맑은 고딕"/>
                <a:cs typeface="Calibri"/>
              </a:rPr>
              <a:t>Despite</a:t>
            </a:r>
            <a:r>
              <a:rPr lang="en-US" altLang="ko-KR" sz="2200" b="1"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 the pacer </a:t>
            </a:r>
            <a:r>
              <a:rPr lang="en-US" altLang="ko-KR" sz="2200" b="1" dirty="0">
                <a:solidFill>
                  <a:srgbClr val="1F2328"/>
                </a:solidFill>
                <a:latin typeface="Calibri"/>
                <a:ea typeface="맑은 고딕"/>
                <a:cs typeface="Calibri"/>
              </a:rPr>
              <a:t>[ </a:t>
            </a:r>
            <a:r>
              <a:rPr lang="en-US" altLang="ko-KR" sz="2200" b="1" dirty="0">
                <a:solidFill>
                  <a:srgbClr val="1F2328"/>
                </a:solidFill>
                <a:latin typeface="Calibri"/>
                <a:ea typeface="맑은 고딕"/>
                <a:cs typeface="Calibri"/>
              </a:rPr>
              <a:t>keeps track of</a:t>
            </a:r>
            <a:r>
              <a:rPr lang="en-US" altLang="ko-KR" sz="2200" b="1" dirty="0">
                <a:solidFill>
                  <a:srgbClr val="1F2328"/>
                </a:solidFill>
                <a:latin typeface="Calibri"/>
                <a:ea typeface="맑은 고딕"/>
                <a:cs typeface="Calibri"/>
              </a:rPr>
              <a:t> / </a:t>
            </a:r>
            <a:r>
              <a:rPr lang="en-US" altLang="ko-KR" sz="2200" b="1" dirty="0">
                <a:solidFill>
                  <a:srgbClr val="1F2328"/>
                </a:solidFill>
                <a:latin typeface="Calibri"/>
                <a:ea typeface="맑은 고딕"/>
                <a:cs typeface="Calibri"/>
              </a:rPr>
              <a:t>keep track of</a:t>
            </a:r>
            <a:r>
              <a:rPr lang="en-US" altLang="ko-KR" sz="2200" b="1"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 the time, the runner can achieve his or her goal of finishing the marathon in a particular time more easily.</a:t>
            </a:r>
            <a:r>
              <a:rPr lang="en-US" altLang="ko-KR" sz="2200" b="0" dirty="0">
                <a:solidFill>
                  <a:srgbClr val="1F2328"/>
                </a:solidFill>
                <a:latin typeface="Calibri"/>
                <a:ea typeface="맑은 고딕"/>
                <a:cs typeface="Calibri"/>
              </a:rPr>
              <a:t>   </a:t>
            </a:r>
            <a:r>
              <a:rPr lang="ko-KR" altLang="en-US" sz="2200" b="1" dirty="0">
                <a:solidFill>
                  <a:srgbClr val="1E2A5A"/>
                </a:solidFill>
                <a:latin typeface="맑은 고딕"/>
                <a:ea typeface="맑은 고딕"/>
                <a:cs typeface="맑은 고딕"/>
              </a:rPr>
              <a:t>⑥</a:t>
            </a:r>
            <a:r>
              <a:rPr lang="en-US" altLang="ko-KR" sz="2200" b="0"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In short, pacers run but they don’t run to win.</a:t>
            </a:r>
            <a:r>
              <a:rPr lang="en-US" altLang="ko-KR" sz="2200" b="0" dirty="0">
                <a:solidFill>
                  <a:srgbClr val="1F2328"/>
                </a:solidFill>
                <a:latin typeface="Calibri"/>
                <a:ea typeface="맑은 고딕"/>
                <a:cs typeface="Calibri"/>
              </a:rPr>
              <a:t>   </a:t>
            </a:r>
            <a:r>
              <a:rPr lang="ko-KR" altLang="en-US" sz="2200" b="1" dirty="0">
                <a:solidFill>
                  <a:srgbClr val="1E2A5A"/>
                </a:solidFill>
                <a:latin typeface="맑은 고딕"/>
                <a:ea typeface="맑은 고딕"/>
                <a:cs typeface="맑은 고딕"/>
              </a:rPr>
              <a:t>⑦</a:t>
            </a:r>
            <a:r>
              <a:rPr lang="en-US" altLang="ko-KR" sz="2200" b="0"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They run </a:t>
            </a:r>
            <a:r>
              <a:rPr lang="en-US" altLang="ko-KR" sz="2200" b="1" dirty="0">
                <a:solidFill>
                  <a:srgbClr val="1F2328"/>
                </a:solidFill>
                <a:latin typeface="Calibri"/>
                <a:ea typeface="맑은 고딕"/>
                <a:cs typeface="Calibri"/>
              </a:rPr>
              <a:t>[ </a:t>
            </a:r>
            <a:r>
              <a:rPr lang="en-US" altLang="ko-KR" sz="2200" b="1" dirty="0">
                <a:solidFill>
                  <a:srgbClr val="1F2328"/>
                </a:solidFill>
                <a:latin typeface="Calibri"/>
                <a:ea typeface="맑은 고딕"/>
                <a:cs typeface="Calibri"/>
              </a:rPr>
              <a:t>for others</a:t>
            </a:r>
            <a:r>
              <a:rPr lang="en-US" altLang="ko-KR" sz="2200" b="1" dirty="0">
                <a:solidFill>
                  <a:srgbClr val="1F2328"/>
                </a:solidFill>
                <a:latin typeface="Calibri"/>
                <a:ea typeface="맑은 고딕"/>
                <a:cs typeface="Calibri"/>
              </a:rPr>
              <a:t> / </a:t>
            </a:r>
            <a:r>
              <a:rPr lang="en-US" altLang="ko-KR" sz="2200" b="1" dirty="0">
                <a:solidFill>
                  <a:srgbClr val="1F2328"/>
                </a:solidFill>
                <a:latin typeface="Calibri"/>
                <a:ea typeface="맑은 고딕"/>
                <a:cs typeface="Calibri"/>
              </a:rPr>
              <a:t>for the other</a:t>
            </a:r>
            <a:r>
              <a:rPr lang="en-US" altLang="ko-KR" sz="2200" b="1"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a:t>
            </a:r>
            <a:endParaRPr lang="en-US" altLang="ko-KR" sz="2200" b="0" dirty="0">
              <a:solidFill>
                <a:srgbClr val="1F2328"/>
              </a:solidFill>
              <a:latin typeface="Calibri"/>
              <a:ea typeface="맑은 고딕"/>
              <a:cs typeface="Calibri"/>
            </a:endParaRPr>
          </a:p>
        </p:txBody>
      </p:sp>
      <p:sp>
        <p:nvSpPr>
          <p:cNvPr id="9" name="rv_g01"/>
          <p:cNvSpPr txBox="1"/>
          <p:nvPr/>
        </p:nvSpPr>
        <p:spPr>
          <a:xfrm>
            <a:off x="457200" y="950976"/>
            <a:ext cx="11277295" cy="4832096"/>
          </a:xfrm>
          <a:prstGeom prst="rect">
            <a:avLst/>
          </a:prstGeom>
          <a:noFill/>
        </p:spPr>
        <p:txBody>
          <a:bodyPr wrap="square" lIns="228600" tIns="155448" rIns="228600" bIns="155448" anchor="t" rtlCol="0">
            <a:noAutofit/>
          </a:bodyPr>
          <a:lstStyle/>
          <a:p>
            <a:pPr algn="l">
              <a:lnSpc>
                <a:spcPts val="3560"/>
              </a:lnSpc>
              <a:spcBef>
                <a:spcPts val="0"/>
              </a:spcBef>
              <a:spcAft>
                <a:spcPts val="0"/>
              </a:spcAft>
              <a:buNone/>
            </a:pPr>
            <a:r>
              <a:rPr lang="ko-KR" altLang="en-US" sz="2200" b="1" dirty="0">
                <a:solidFill>
                  <a:srgbClr val="1E2A5A">
                    <a:alpha val="0"/>
                  </a:srgbClr>
                </a:solidFill>
                <a:latin typeface="맑은 고딕"/>
                <a:ea typeface="맑은 고딕"/>
                <a:cs typeface="맑은 고딕"/>
              </a:rPr>
              <a:t>①</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Each pacer runs at different speeds and </a:t>
            </a:r>
            <a:r>
              <a:rPr lang="en-US" altLang="ko-KR" sz="2200" b="1" dirty="0">
                <a:solidFill>
                  <a:srgbClr val="1F2328">
                    <a:alpha val="0"/>
                  </a:srgbClr>
                </a:solidFill>
                <a:latin typeface="Calibri"/>
                <a:ea typeface="맑은 고딕"/>
                <a:cs typeface="Calibri"/>
              </a:rPr>
              <a:t>[ </a:t>
            </a:r>
            <a:r>
              <a:rPr lang="en-US" altLang="ko-KR" sz="2200" b="1" dirty="0">
                <a:solidFill>
                  <a:srgbClr val="C00000"/>
                </a:solidFill>
                <a:highlight>
                  <a:srgbClr val="F3F5F9"/>
                </a:highlight>
                <a:latin typeface="Calibri"/>
                <a:ea typeface="맑은 고딕"/>
                <a:cs typeface="Calibri"/>
              </a:rPr>
              <a:t>finishes</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finish</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 race in different times.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②</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Pacers usually have flags or balloons showing their finish time.</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③</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Runners can choose a pacer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depending on</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depended on</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their target finish time.</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④</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For example, if a runner wants to finish the race in four hours, the runner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will follow</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will be followed</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 four‑hour pacer.</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⑤</a:t>
            </a:r>
            <a:r>
              <a:rPr lang="en-US" altLang="ko-KR" sz="2200" b="0"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Since</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Despite</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 pacer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keeps track of</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keep track of</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 time, the runner can achieve his or her goal of finishing the marathon in a particular time more easily.</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⑥</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In short, pacers run but they don’t run to win.</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⑦</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They run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for others</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for the other</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a:t>
            </a:r>
            <a:endParaRPr lang="en-US" altLang="ko-KR" sz="2200" b="0" dirty="0">
              <a:solidFill>
                <a:srgbClr val="1F2328"/>
              </a:solidFill>
              <a:latin typeface="Calibri"/>
              <a:ea typeface="맑은 고딕"/>
              <a:cs typeface="Calibri"/>
            </a:endParaRPr>
          </a:p>
        </p:txBody>
      </p:sp>
      <p:sp>
        <p:nvSpPr>
          <p:cNvPr id="10" name="rv_g02"/>
          <p:cNvSpPr txBox="1"/>
          <p:nvPr/>
        </p:nvSpPr>
        <p:spPr>
          <a:xfrm>
            <a:off x="457200" y="950976"/>
            <a:ext cx="11277295" cy="4832096"/>
          </a:xfrm>
          <a:prstGeom prst="rect">
            <a:avLst/>
          </a:prstGeom>
          <a:noFill/>
        </p:spPr>
        <p:txBody>
          <a:bodyPr wrap="square" lIns="228600" tIns="155448" rIns="228600" bIns="155448" anchor="t" rtlCol="0">
            <a:noAutofit/>
          </a:bodyPr>
          <a:lstStyle/>
          <a:p>
            <a:pPr algn="l">
              <a:lnSpc>
                <a:spcPts val="3560"/>
              </a:lnSpc>
              <a:spcBef>
                <a:spcPts val="0"/>
              </a:spcBef>
              <a:spcAft>
                <a:spcPts val="0"/>
              </a:spcAft>
              <a:buNone/>
            </a:pPr>
            <a:r>
              <a:rPr lang="ko-KR" altLang="en-US" sz="2200" b="1" dirty="0">
                <a:solidFill>
                  <a:srgbClr val="1E2A5A">
                    <a:alpha val="0"/>
                  </a:srgbClr>
                </a:solidFill>
                <a:latin typeface="맑은 고딕"/>
                <a:ea typeface="맑은 고딕"/>
                <a:cs typeface="맑은 고딕"/>
              </a:rPr>
              <a:t>①</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Each pacer runs at different speeds and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finishes</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finish</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 race in different times.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②</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Pacers usually have flags or balloons showing their finish time.</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③</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Runners can choose a pacer </a:t>
            </a:r>
            <a:r>
              <a:rPr lang="en-US" altLang="ko-KR" sz="2200" b="1" dirty="0">
                <a:solidFill>
                  <a:srgbClr val="1F2328">
                    <a:alpha val="0"/>
                  </a:srgbClr>
                </a:solidFill>
                <a:latin typeface="Calibri"/>
                <a:ea typeface="맑은 고딕"/>
                <a:cs typeface="Calibri"/>
              </a:rPr>
              <a:t>[ </a:t>
            </a:r>
            <a:r>
              <a:rPr lang="en-US" altLang="ko-KR" sz="2200" b="1" dirty="0">
                <a:solidFill>
                  <a:srgbClr val="C00000"/>
                </a:solidFill>
                <a:highlight>
                  <a:srgbClr val="F3F5F9"/>
                </a:highlight>
                <a:latin typeface="Calibri"/>
                <a:ea typeface="맑은 고딕"/>
                <a:cs typeface="Calibri"/>
              </a:rPr>
              <a:t>depending on</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depended on</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their target finish time.</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④</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For example, if a runner wants to finish the race in four hours, the runner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will follow</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will be followed</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 four‑hour pacer.</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⑤</a:t>
            </a:r>
            <a:r>
              <a:rPr lang="en-US" altLang="ko-KR" sz="2200" b="0"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Since</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Despite</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 pacer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keeps track of</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keep track of</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 time, the runner can achieve his or her goal of finishing the marathon in a particular time more easily.</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⑥</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In short, pacers run but they don’t run to win.</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⑦</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They run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for others</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for the other</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a:t>
            </a:r>
            <a:endParaRPr lang="en-US" altLang="ko-KR" sz="2200" b="0" dirty="0">
              <a:solidFill>
                <a:srgbClr val="1F2328"/>
              </a:solidFill>
              <a:latin typeface="Calibri"/>
              <a:ea typeface="맑은 고딕"/>
              <a:cs typeface="Calibri"/>
            </a:endParaRPr>
          </a:p>
        </p:txBody>
      </p:sp>
      <p:sp>
        <p:nvSpPr>
          <p:cNvPr id="11" name="rv_g03"/>
          <p:cNvSpPr txBox="1"/>
          <p:nvPr/>
        </p:nvSpPr>
        <p:spPr>
          <a:xfrm>
            <a:off x="457200" y="950976"/>
            <a:ext cx="11277295" cy="4832096"/>
          </a:xfrm>
          <a:prstGeom prst="rect">
            <a:avLst/>
          </a:prstGeom>
          <a:noFill/>
        </p:spPr>
        <p:txBody>
          <a:bodyPr wrap="square" lIns="228600" tIns="155448" rIns="228600" bIns="155448" anchor="t" rtlCol="0">
            <a:noAutofit/>
          </a:bodyPr>
          <a:lstStyle/>
          <a:p>
            <a:pPr algn="l">
              <a:lnSpc>
                <a:spcPts val="3560"/>
              </a:lnSpc>
              <a:spcBef>
                <a:spcPts val="0"/>
              </a:spcBef>
              <a:spcAft>
                <a:spcPts val="0"/>
              </a:spcAft>
              <a:buNone/>
            </a:pPr>
            <a:r>
              <a:rPr lang="ko-KR" altLang="en-US" sz="2200" b="1" dirty="0">
                <a:solidFill>
                  <a:srgbClr val="1E2A5A">
                    <a:alpha val="0"/>
                  </a:srgbClr>
                </a:solidFill>
                <a:latin typeface="맑은 고딕"/>
                <a:ea typeface="맑은 고딕"/>
                <a:cs typeface="맑은 고딕"/>
              </a:rPr>
              <a:t>①</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Each pacer runs at different speeds and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finishes</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finish</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 race in different times.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②</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Pacers usually have flags or balloons showing their finish time.</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③</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Runners can choose a pacer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depending on</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depended on</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their target finish time.</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④</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For example, if a runner wants to finish the race in four hours, the runner </a:t>
            </a:r>
            <a:r>
              <a:rPr lang="en-US" altLang="ko-KR" sz="2200" b="1" dirty="0">
                <a:solidFill>
                  <a:srgbClr val="1F2328">
                    <a:alpha val="0"/>
                  </a:srgbClr>
                </a:solidFill>
                <a:latin typeface="Calibri"/>
                <a:ea typeface="맑은 고딕"/>
                <a:cs typeface="Calibri"/>
              </a:rPr>
              <a:t>[ </a:t>
            </a:r>
            <a:r>
              <a:rPr lang="en-US" altLang="ko-KR" sz="2200" b="1" dirty="0">
                <a:solidFill>
                  <a:srgbClr val="C00000"/>
                </a:solidFill>
                <a:highlight>
                  <a:srgbClr val="F3F5F9"/>
                </a:highlight>
                <a:latin typeface="Calibri"/>
                <a:ea typeface="맑은 고딕"/>
                <a:cs typeface="Calibri"/>
              </a:rPr>
              <a:t>will follow</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will be followed</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 four‑hour pacer.</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⑤</a:t>
            </a:r>
            <a:r>
              <a:rPr lang="en-US" altLang="ko-KR" sz="2200" b="0"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Since</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Despite</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 pacer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keeps track of</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keep track of</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 time, the runner can achieve his or her goal of finishing the marathon in a particular time more easily.</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⑥</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In short, pacers run but they don’t run to win.</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⑦</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They run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for others</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for the other</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a:t>
            </a:r>
            <a:endParaRPr lang="en-US" altLang="ko-KR" sz="2200" b="0" dirty="0">
              <a:solidFill>
                <a:srgbClr val="1F2328"/>
              </a:solidFill>
              <a:latin typeface="Calibri"/>
              <a:ea typeface="맑은 고딕"/>
              <a:cs typeface="Calibri"/>
            </a:endParaRPr>
          </a:p>
        </p:txBody>
      </p:sp>
      <p:sp>
        <p:nvSpPr>
          <p:cNvPr id="12" name="rv_g04"/>
          <p:cNvSpPr txBox="1"/>
          <p:nvPr/>
        </p:nvSpPr>
        <p:spPr>
          <a:xfrm>
            <a:off x="457200" y="950976"/>
            <a:ext cx="11277295" cy="4832096"/>
          </a:xfrm>
          <a:prstGeom prst="rect">
            <a:avLst/>
          </a:prstGeom>
          <a:noFill/>
        </p:spPr>
        <p:txBody>
          <a:bodyPr wrap="square" lIns="228600" tIns="155448" rIns="228600" bIns="155448" anchor="t" rtlCol="0">
            <a:noAutofit/>
          </a:bodyPr>
          <a:lstStyle/>
          <a:p>
            <a:pPr algn="l">
              <a:lnSpc>
                <a:spcPts val="3560"/>
              </a:lnSpc>
              <a:spcBef>
                <a:spcPts val="0"/>
              </a:spcBef>
              <a:spcAft>
                <a:spcPts val="0"/>
              </a:spcAft>
              <a:buNone/>
            </a:pPr>
            <a:r>
              <a:rPr lang="ko-KR" altLang="en-US" sz="2200" b="1" dirty="0">
                <a:solidFill>
                  <a:srgbClr val="1E2A5A">
                    <a:alpha val="0"/>
                  </a:srgbClr>
                </a:solidFill>
                <a:latin typeface="맑은 고딕"/>
                <a:ea typeface="맑은 고딕"/>
                <a:cs typeface="맑은 고딕"/>
              </a:rPr>
              <a:t>①</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Each pacer runs at different speeds and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finishes</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finish</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 race in different times.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②</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Pacers usually have flags or balloons showing their finish time.</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③</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Runners can choose a pacer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depending on</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depended on</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their target finish time.</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④</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For example, if a runner wants to finish the race in four hours, the runner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will follow</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will be followed</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 four‑hour pacer.</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⑤</a:t>
            </a:r>
            <a:r>
              <a:rPr lang="en-US" altLang="ko-KR" sz="2200" b="0"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 </a:t>
            </a:r>
            <a:r>
              <a:rPr lang="en-US" altLang="ko-KR" sz="2200" b="1" dirty="0">
                <a:solidFill>
                  <a:srgbClr val="C00000"/>
                </a:solidFill>
                <a:highlight>
                  <a:srgbClr val="F3F5F9"/>
                </a:highlight>
                <a:latin typeface="Calibri"/>
                <a:ea typeface="맑은 고딕"/>
                <a:cs typeface="Calibri"/>
              </a:rPr>
              <a:t>Since</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Despite</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 pacer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keeps track of</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keep track of</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 time, the runner can achieve his or her goal of finishing the marathon in a particular time more easily.</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⑥</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In short, pacers run but they don’t run to win.</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⑦</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They run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for others</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for the other</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a:t>
            </a:r>
            <a:endParaRPr lang="en-US" altLang="ko-KR" sz="2200" b="0" dirty="0">
              <a:solidFill>
                <a:srgbClr val="1F2328"/>
              </a:solidFill>
              <a:latin typeface="Calibri"/>
              <a:ea typeface="맑은 고딕"/>
              <a:cs typeface="Calibri"/>
            </a:endParaRPr>
          </a:p>
        </p:txBody>
      </p:sp>
      <p:sp>
        <p:nvSpPr>
          <p:cNvPr id="13" name="rv_g05"/>
          <p:cNvSpPr txBox="1"/>
          <p:nvPr/>
        </p:nvSpPr>
        <p:spPr>
          <a:xfrm>
            <a:off x="457200" y="950976"/>
            <a:ext cx="11277295" cy="4832096"/>
          </a:xfrm>
          <a:prstGeom prst="rect">
            <a:avLst/>
          </a:prstGeom>
          <a:noFill/>
        </p:spPr>
        <p:txBody>
          <a:bodyPr wrap="square" lIns="228600" tIns="155448" rIns="228600" bIns="155448" anchor="t" rtlCol="0">
            <a:noAutofit/>
          </a:bodyPr>
          <a:lstStyle/>
          <a:p>
            <a:pPr algn="l">
              <a:lnSpc>
                <a:spcPts val="3560"/>
              </a:lnSpc>
              <a:spcBef>
                <a:spcPts val="0"/>
              </a:spcBef>
              <a:spcAft>
                <a:spcPts val="0"/>
              </a:spcAft>
              <a:buNone/>
            </a:pPr>
            <a:r>
              <a:rPr lang="ko-KR" altLang="en-US" sz="2200" b="1" dirty="0">
                <a:solidFill>
                  <a:srgbClr val="1E2A5A">
                    <a:alpha val="0"/>
                  </a:srgbClr>
                </a:solidFill>
                <a:latin typeface="맑은 고딕"/>
                <a:ea typeface="맑은 고딕"/>
                <a:cs typeface="맑은 고딕"/>
              </a:rPr>
              <a:t>①</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Each pacer runs at different speeds and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finishes</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finish</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 race in different times.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②</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Pacers usually have flags or balloons showing their finish time.</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③</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Runners can choose a pacer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depending on</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depended on</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their target finish time.</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④</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For example, if a runner wants to finish the race in four hours, the runner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will follow</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will be followed</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 four‑hour pacer.</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⑤</a:t>
            </a:r>
            <a:r>
              <a:rPr lang="en-US" altLang="ko-KR" sz="2200" b="0"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Since</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Despite</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 pacer </a:t>
            </a:r>
            <a:r>
              <a:rPr lang="en-US" altLang="ko-KR" sz="2200" b="1" dirty="0">
                <a:solidFill>
                  <a:srgbClr val="1F2328">
                    <a:alpha val="0"/>
                  </a:srgbClr>
                </a:solidFill>
                <a:latin typeface="Calibri"/>
                <a:ea typeface="맑은 고딕"/>
                <a:cs typeface="Calibri"/>
              </a:rPr>
              <a:t>[ </a:t>
            </a:r>
            <a:r>
              <a:rPr lang="en-US" altLang="ko-KR" sz="2200" b="1" dirty="0">
                <a:solidFill>
                  <a:srgbClr val="C00000"/>
                </a:solidFill>
                <a:highlight>
                  <a:srgbClr val="F3F5F9"/>
                </a:highlight>
                <a:latin typeface="Calibri"/>
                <a:ea typeface="맑은 고딕"/>
                <a:cs typeface="Calibri"/>
              </a:rPr>
              <a:t>keeps track of</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keep track of</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 time, the runner can achieve his or her goal of finishing the marathon in a particular time more easily.</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⑥</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In short, pacers run but they don’t run to win.</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⑦</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They run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for others</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for the other</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a:t>
            </a:r>
            <a:endParaRPr lang="en-US" altLang="ko-KR" sz="2200" b="0" dirty="0">
              <a:solidFill>
                <a:srgbClr val="1F2328"/>
              </a:solidFill>
              <a:latin typeface="Calibri"/>
              <a:ea typeface="맑은 고딕"/>
              <a:cs typeface="Calibri"/>
            </a:endParaRPr>
          </a:p>
        </p:txBody>
      </p:sp>
      <p:sp>
        <p:nvSpPr>
          <p:cNvPr id="14" name="rv_g06"/>
          <p:cNvSpPr txBox="1"/>
          <p:nvPr/>
        </p:nvSpPr>
        <p:spPr>
          <a:xfrm>
            <a:off x="457200" y="950976"/>
            <a:ext cx="11277295" cy="4832096"/>
          </a:xfrm>
          <a:prstGeom prst="rect">
            <a:avLst/>
          </a:prstGeom>
          <a:noFill/>
        </p:spPr>
        <p:txBody>
          <a:bodyPr wrap="square" lIns="228600" tIns="155448" rIns="228600" bIns="155448" anchor="t" rtlCol="0">
            <a:noAutofit/>
          </a:bodyPr>
          <a:lstStyle/>
          <a:p>
            <a:pPr algn="l">
              <a:lnSpc>
                <a:spcPts val="3560"/>
              </a:lnSpc>
              <a:spcBef>
                <a:spcPts val="0"/>
              </a:spcBef>
              <a:spcAft>
                <a:spcPts val="0"/>
              </a:spcAft>
              <a:buNone/>
            </a:pPr>
            <a:r>
              <a:rPr lang="ko-KR" altLang="en-US" sz="2200" b="1" dirty="0">
                <a:solidFill>
                  <a:srgbClr val="1E2A5A">
                    <a:alpha val="0"/>
                  </a:srgbClr>
                </a:solidFill>
                <a:latin typeface="맑은 고딕"/>
                <a:ea typeface="맑은 고딕"/>
                <a:cs typeface="맑은 고딕"/>
              </a:rPr>
              <a:t>①</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Each pacer runs at different speeds and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finishes</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finish</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 race in different times.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②</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Pacers usually have flags or balloons showing their finish time.</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③</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Runners can choose a pacer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depending on</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depended on</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their target finish time.</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④</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For example, if a runner wants to finish the race in four hours, the runner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will follow</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will be followed</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 four‑hour pacer.</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⑤</a:t>
            </a:r>
            <a:r>
              <a:rPr lang="en-US" altLang="ko-KR" sz="2200" b="0"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Since</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Despite</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 pacer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keeps track of</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keep track of</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 time, the runner can achieve his or her goal of finishing the marathon in a particular time more easily.</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⑥</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In short, pacers run but they don’t run to win.</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⑦</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They run </a:t>
            </a:r>
            <a:r>
              <a:rPr lang="en-US" altLang="ko-KR" sz="2200" b="1" dirty="0">
                <a:solidFill>
                  <a:srgbClr val="1F2328">
                    <a:alpha val="0"/>
                  </a:srgbClr>
                </a:solidFill>
                <a:latin typeface="Calibri"/>
                <a:ea typeface="맑은 고딕"/>
                <a:cs typeface="Calibri"/>
              </a:rPr>
              <a:t>[ </a:t>
            </a:r>
            <a:r>
              <a:rPr lang="en-US" altLang="ko-KR" sz="2200" b="1" dirty="0">
                <a:solidFill>
                  <a:srgbClr val="C00000"/>
                </a:solidFill>
                <a:highlight>
                  <a:srgbClr val="F3F5F9"/>
                </a:highlight>
                <a:latin typeface="Calibri"/>
                <a:ea typeface="맑은 고딕"/>
                <a:cs typeface="Calibri"/>
              </a:rPr>
              <a:t>for others</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for the other</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a:t>
            </a:r>
            <a:endParaRPr lang="en-US" altLang="ko-KR" sz="2200" b="0" dirty="0">
              <a:solidFill>
                <a:srgbClr val="1F2328"/>
              </a:solidFill>
              <a:latin typeface="Calibri"/>
              <a:ea typeface="맑은 고딕"/>
              <a:cs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25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25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25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250"/>
                                        <p:tgtEl>
                                          <p:spTgt spid="12"/>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250"/>
                                        <p:tgtEl>
                                          <p:spTgt spid="13"/>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4"/>
                                        </p:tgtEl>
                                        <p:attrNameLst>
                                          <p:attrName>style.visibility</p:attrName>
                                        </p:attrNameLst>
                                      </p:cBhvr>
                                      <p:to>
                                        <p:strVal val="visible"/>
                                      </p:to>
                                    </p:set>
                                    <p:animEffect transition="in" filter="fade">
                                      <p:cBhvr>
                                        <p:cTn id="32" dur="2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4" grpId="0" animBg="1"/>
    </p:bldLst>
  </p:timing>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L5-3</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1 · 1</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1. 다음 글의 주제로 가장 적절한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5</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본문 근거 형광 + 정답 원리</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176021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1760219"/>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1F2328"/>
                </a:solidFill>
                <a:latin typeface="Calibri"/>
                <a:ea typeface="맑은 고딕"/>
                <a:cs typeface="Calibri"/>
              </a:rPr>
              <a:t>You may only see the car and the driver during most car races, but there is a team behind the driver. This team is called a pit crew. A pit is a place on the side of the race track, and drivers stop there several times during a race. </a:t>
            </a:r>
            <a:r>
              <a:rPr lang="en-US" altLang="ko-KR" sz="1500" b="0" dirty="0">
                <a:solidFill>
                  <a:srgbClr val="1F2328"/>
                </a:solidFill>
                <a:latin typeface="Calibri"/>
                <a:ea typeface="맑은 고딕"/>
                <a:cs typeface="Calibri"/>
              </a:rPr>
              <a:t>The main job of the pit crew is to check the car and change the tires.</a:t>
            </a:r>
            <a:r>
              <a:rPr lang="en-US" altLang="ko-KR" sz="1500" b="0" dirty="0">
                <a:solidFill>
                  <a:srgbClr val="1F2328"/>
                </a:solidFill>
                <a:latin typeface="Calibri"/>
                <a:ea typeface="맑은 고딕"/>
                <a:cs typeface="Calibri"/>
              </a:rPr>
              <a:t> Changing the tires is especially important because the tires wear out easily in a high speed race. A pit stop can be as short as 2 seconds, and there are as many as 20 members on a crew. </a:t>
            </a:r>
            <a:r>
              <a:rPr lang="en-US" altLang="ko-KR" sz="1500" b="0" dirty="0">
                <a:solidFill>
                  <a:srgbClr val="1F2328"/>
                </a:solidFill>
                <a:latin typeface="Calibri"/>
                <a:ea typeface="맑은 고딕"/>
                <a:cs typeface="Calibri"/>
              </a:rPr>
              <a:t>Therefore, the pit crew has to work in perfect harmony.</a:t>
            </a:r>
            <a:r>
              <a:rPr lang="en-US" altLang="ko-KR" sz="1500" b="0" dirty="0">
                <a:solidFill>
                  <a:srgbClr val="1F2328"/>
                </a:solidFill>
                <a:latin typeface="Calibri"/>
                <a:ea typeface="맑은 고딕"/>
                <a:cs typeface="Calibri"/>
              </a:rPr>
              <a:t> The driver may get all the attention, but as people say, “Races are won in the pits.”</a:t>
            </a:r>
            <a:endParaRPr lang="en-US" altLang="ko-KR" sz="1500" b="0" dirty="0">
              <a:solidFill>
                <a:srgbClr val="1F2328"/>
              </a:solidFill>
              <a:latin typeface="Calibri"/>
              <a:ea typeface="맑은 고딕"/>
              <a:cs typeface="Calibri"/>
            </a:endParaRPr>
          </a:p>
        </p:txBody>
      </p:sp>
      <p:sp>
        <p:nvSpPr>
          <p:cNvPr id="9" name="rv_evidence_card"/>
          <p:cNvSpPr/>
          <p:nvPr/>
        </p:nvSpPr>
        <p:spPr>
          <a:xfrm>
            <a:off x="457200" y="950976"/>
            <a:ext cx="11277295" cy="176021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rv_evidence"/>
          <p:cNvSpPr txBox="1"/>
          <p:nvPr/>
        </p:nvSpPr>
        <p:spPr>
          <a:xfrm>
            <a:off x="457200" y="950976"/>
            <a:ext cx="11277295" cy="1760219"/>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B3BAC6"/>
                </a:solidFill>
                <a:latin typeface="Calibri"/>
                <a:ea typeface="맑은 고딕"/>
                <a:cs typeface="Calibri"/>
              </a:rPr>
              <a:t>You may only see the car and the driver during most car races, but there is a team behind the driver. This team is called a pit crew. A pit is a place on the side of the race track, and drivers stop there several times during a race. </a:t>
            </a:r>
            <a:r>
              <a:rPr lang="en-US" altLang="ko-KR" sz="1500" b="0" dirty="0">
                <a:solidFill>
                  <a:srgbClr val="111111"/>
                </a:solidFill>
                <a:highlight>
                  <a:srgbClr val="FFE45C"/>
                </a:highlight>
                <a:latin typeface="Calibri"/>
                <a:ea typeface="맑은 고딕"/>
                <a:cs typeface="Calibri"/>
              </a:rPr>
              <a:t>The main job of the pit crew is to check the car and change the tires.</a:t>
            </a:r>
            <a:r>
              <a:rPr lang="en-US" altLang="ko-KR" sz="1500" b="0" dirty="0">
                <a:solidFill>
                  <a:srgbClr val="B3BAC6"/>
                </a:solidFill>
                <a:latin typeface="Calibri"/>
                <a:ea typeface="맑은 고딕"/>
                <a:cs typeface="Calibri"/>
              </a:rPr>
              <a:t> Changing the tires is especially important because the tires wear out easily in a high speed race. A pit stop can be as short as 2 seconds, and there are as many as 20 members on a crew. </a:t>
            </a:r>
            <a:r>
              <a:rPr lang="en-US" altLang="ko-KR" sz="1500" b="0" dirty="0">
                <a:solidFill>
                  <a:srgbClr val="111111"/>
                </a:solidFill>
                <a:highlight>
                  <a:srgbClr val="FFE45C"/>
                </a:highlight>
                <a:latin typeface="Calibri"/>
                <a:ea typeface="맑은 고딕"/>
                <a:cs typeface="Calibri"/>
              </a:rPr>
              <a:t>Therefore, the pit crew has to work in perfect harmony.</a:t>
            </a:r>
            <a:r>
              <a:rPr lang="en-US" altLang="ko-KR" sz="1500" b="0" dirty="0">
                <a:solidFill>
                  <a:srgbClr val="B3BAC6"/>
                </a:solidFill>
                <a:latin typeface="Calibri"/>
                <a:ea typeface="맑은 고딕"/>
                <a:cs typeface="Calibri"/>
              </a:rPr>
              <a:t> The driver may get all the attention, but as people say, “Races are won in the pits.”</a:t>
            </a:r>
            <a:endParaRPr lang="en-US" altLang="ko-KR" sz="1500" b="0" dirty="0">
              <a:solidFill>
                <a:srgbClr val="B3BAC6"/>
              </a:solidFill>
              <a:latin typeface="Calibri"/>
              <a:ea typeface="맑은 고딕"/>
              <a:cs typeface="Calibri"/>
            </a:endParaRPr>
          </a:p>
        </p:txBody>
      </p:sp>
      <p:sp>
        <p:nvSpPr>
          <p:cNvPr id="11" name="choice_1"/>
          <p:cNvSpPr txBox="1"/>
          <p:nvPr/>
        </p:nvSpPr>
        <p:spPr>
          <a:xfrm>
            <a:off x="457200" y="2857500"/>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①</a:t>
            </a:r>
            <a:r>
              <a:rPr lang="en-US" altLang="ko-KR" sz="1800" b="0" dirty="0">
                <a:solidFill>
                  <a:srgbClr val="1F2328"/>
                </a:solidFill>
                <a:latin typeface="Calibri"/>
                <a:ea typeface="맑은 고딕"/>
                <a:cs typeface="Calibri"/>
              </a:rPr>
              <a:t>	the dangers of high speed car racing</a:t>
            </a:r>
            <a:endParaRPr lang="en-US" altLang="ko-KR" sz="1800" b="0" dirty="0">
              <a:solidFill>
                <a:srgbClr val="1F2328"/>
              </a:solidFill>
              <a:latin typeface="Calibri"/>
              <a:ea typeface="맑은 고딕"/>
              <a:cs typeface="Calibri"/>
            </a:endParaRPr>
          </a:p>
        </p:txBody>
      </p:sp>
      <p:sp>
        <p:nvSpPr>
          <p:cNvPr id="12" name="choice_2"/>
          <p:cNvSpPr txBox="1"/>
          <p:nvPr/>
        </p:nvSpPr>
        <p:spPr>
          <a:xfrm>
            <a:off x="457200" y="3264916"/>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②</a:t>
            </a:r>
            <a:r>
              <a:rPr lang="en-US" altLang="ko-KR" sz="1800" b="0" dirty="0">
                <a:solidFill>
                  <a:srgbClr val="1F2328"/>
                </a:solidFill>
                <a:latin typeface="Calibri"/>
                <a:ea typeface="맑은 고딕"/>
                <a:cs typeface="Calibri"/>
              </a:rPr>
              <a:t>	how drivers change their own tires</a:t>
            </a:r>
            <a:endParaRPr lang="en-US" altLang="ko-KR" sz="1800" b="0" dirty="0">
              <a:solidFill>
                <a:srgbClr val="1F2328"/>
              </a:solidFill>
              <a:latin typeface="Calibri"/>
              <a:ea typeface="맑은 고딕"/>
              <a:cs typeface="Calibri"/>
            </a:endParaRPr>
          </a:p>
        </p:txBody>
      </p:sp>
      <p:sp>
        <p:nvSpPr>
          <p:cNvPr id="13" name="choice_3"/>
          <p:cNvSpPr txBox="1"/>
          <p:nvPr/>
        </p:nvSpPr>
        <p:spPr>
          <a:xfrm>
            <a:off x="457200" y="3672332"/>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③</a:t>
            </a:r>
            <a:r>
              <a:rPr lang="en-US" altLang="ko-KR" sz="1800" b="0" dirty="0">
                <a:solidFill>
                  <a:srgbClr val="1F2328"/>
                </a:solidFill>
                <a:latin typeface="Calibri"/>
                <a:ea typeface="맑은 고딕"/>
                <a:cs typeface="Calibri"/>
              </a:rPr>
              <a:t>	why racing cars need more drivers</a:t>
            </a:r>
            <a:endParaRPr lang="en-US" altLang="ko-KR" sz="1800" b="0" dirty="0">
              <a:solidFill>
                <a:srgbClr val="1F2328"/>
              </a:solidFill>
              <a:latin typeface="Calibri"/>
              <a:ea typeface="맑은 고딕"/>
              <a:cs typeface="Calibri"/>
            </a:endParaRPr>
          </a:p>
        </p:txBody>
      </p:sp>
      <p:sp>
        <p:nvSpPr>
          <p:cNvPr id="14" name="choice_4"/>
          <p:cNvSpPr txBox="1"/>
          <p:nvPr/>
        </p:nvSpPr>
        <p:spPr>
          <a:xfrm>
            <a:off x="457200" y="4079748"/>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④</a:t>
            </a:r>
            <a:r>
              <a:rPr lang="en-US" altLang="ko-KR" sz="1800" b="0" dirty="0">
                <a:solidFill>
                  <a:srgbClr val="1F2328"/>
                </a:solidFill>
                <a:latin typeface="Calibri"/>
                <a:ea typeface="맑은 고딕"/>
                <a:cs typeface="Calibri"/>
              </a:rPr>
              <a:t>	how to build a pit beside the track</a:t>
            </a:r>
            <a:endParaRPr lang="en-US" altLang="ko-KR" sz="1800" b="0" dirty="0">
              <a:solidFill>
                <a:srgbClr val="1F2328"/>
              </a:solidFill>
              <a:latin typeface="Calibri"/>
              <a:ea typeface="맑은 고딕"/>
              <a:cs typeface="Calibri"/>
            </a:endParaRPr>
          </a:p>
        </p:txBody>
      </p:sp>
      <p:sp>
        <p:nvSpPr>
          <p:cNvPr id="15" name="choice_5"/>
          <p:cNvSpPr txBox="1"/>
          <p:nvPr/>
        </p:nvSpPr>
        <p:spPr>
          <a:xfrm>
            <a:off x="457200" y="4487164"/>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⑤</a:t>
            </a:r>
            <a:r>
              <a:rPr lang="en-US" altLang="ko-KR" sz="1800" b="0" dirty="0">
                <a:solidFill>
                  <a:srgbClr val="1F2328"/>
                </a:solidFill>
                <a:latin typeface="Calibri"/>
                <a:ea typeface="맑은 고딕"/>
                <a:cs typeface="Calibri"/>
              </a:rPr>
              <a:t>	the role of the pit crew in car races</a:t>
            </a:r>
            <a:endParaRPr lang="en-US" altLang="ko-KR" sz="1800" b="0" dirty="0">
              <a:solidFill>
                <a:srgbClr val="1F2328"/>
              </a:solidFill>
              <a:latin typeface="Calibri"/>
              <a:ea typeface="맑은 고딕"/>
              <a:cs typeface="Calibri"/>
            </a:endParaRPr>
          </a:p>
        </p:txBody>
      </p:sp>
      <p:sp>
        <p:nvSpPr>
          <p:cNvPr id="16" name="rv_pick"/>
          <p:cNvSpPr txBox="1"/>
          <p:nvPr/>
        </p:nvSpPr>
        <p:spPr>
          <a:xfrm>
            <a:off x="457200" y="4487164"/>
            <a:ext cx="11277295" cy="379984"/>
          </a:xfrm>
          <a:prstGeom prst="rect">
            <a:avLst/>
          </a:prstGeom>
          <a:solidFill>
            <a:srgbClr val="FFF3C4"/>
          </a:solid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C00000"/>
                </a:solidFill>
                <a:latin typeface="맑은 고딕"/>
                <a:ea typeface="맑은 고딕"/>
                <a:cs typeface="맑은 고딕"/>
              </a:rPr>
              <a:t>⑤</a:t>
            </a:r>
            <a:r>
              <a:rPr lang="en-US" altLang="ko-KR" sz="1800" b="0" dirty="0">
                <a:solidFill>
                  <a:srgbClr val="C00000"/>
                </a:solidFill>
                <a:latin typeface="Calibri"/>
                <a:ea typeface="맑은 고딕"/>
                <a:cs typeface="Calibri"/>
              </a:rPr>
              <a:t>	the role of the pit crew in car races</a:t>
            </a:r>
            <a:endParaRPr lang="en-US" altLang="ko-KR" sz="1800" b="0" dirty="0">
              <a:solidFill>
                <a:srgbClr val="C00000"/>
              </a:solidFill>
              <a:latin typeface="Calibri"/>
              <a:ea typeface="맑은 고딕"/>
              <a:cs typeface="Calibri"/>
            </a:endParaRPr>
          </a:p>
        </p:txBody>
      </p:sp>
      <p:sp>
        <p:nvSpPr>
          <p:cNvPr id="17" name="rv_answer"/>
          <p:cNvSpPr/>
          <p:nvPr/>
        </p:nvSpPr>
        <p:spPr>
          <a:xfrm>
            <a:off x="457200" y="497687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⑤ </a:t>
            </a:r>
            <a:r>
              <a:rPr lang="en-US" altLang="ko-KR" sz="1900" b="1" dirty="0">
                <a:solidFill>
                  <a:srgbClr val="5A4200"/>
                </a:solidFill>
                <a:latin typeface="Calibri"/>
                <a:ea typeface="맑은 고딕"/>
                <a:cs typeface="Calibri"/>
              </a:rPr>
              <a:t>the role of the pit crew in car races</a:t>
            </a:r>
            <a:endParaRPr lang="en-US" altLang="ko-KR" sz="1900" b="1" dirty="0">
              <a:solidFill>
                <a:srgbClr val="5A4200"/>
              </a:solidFill>
              <a:latin typeface="Calibri"/>
              <a:ea typeface="맑은 고딕"/>
              <a:cs typeface="Calibri"/>
            </a:endParaRPr>
          </a:p>
        </p:txBody>
      </p:sp>
      <p:sp>
        <p:nvSpPr>
          <p:cNvPr id="18" name="rv_why"/>
          <p:cNvSpPr/>
          <p:nvPr/>
        </p:nvSpPr>
        <p:spPr>
          <a:xfrm>
            <a:off x="457200" y="5575808"/>
            <a:ext cx="11277295" cy="84327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피트 크루가 차를 점검하고 타이어를 바꾸며 조화롭게 일한다고 했다. 피트 크루의 역할을 다룬 ⑤가 주제다.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250"/>
                                        <p:tgtEl>
                                          <p:spTgt spid="1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25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25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7" grpId="0" animBg="1"/>
      <p:bldP spid="9" grpId="0" animBg="1"/>
      <p:bldP spid="10" grpId="0" animBg="1"/>
      <p:bldP spid="18" grpId="0" animBg="1"/>
    </p:bldLst>
  </p:timing>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L5-3</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1 · 2</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2. 다음 글의 제목으로 가장 적절한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5</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본문 근거 형광 + 정답 원리</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176021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1760219"/>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1F2328"/>
                </a:solidFill>
                <a:latin typeface="Calibri"/>
                <a:ea typeface="맑은 고딕"/>
                <a:cs typeface="Calibri"/>
              </a:rPr>
              <a:t>You may only see the car and the driver during most car races, but there is a team behind the driver. This team is called a pit crew. A pit is a place on the side of the race track, and drivers stop there several times during a race. The main job of the pit crew is to check the car and change the tires. Changing the tires is especially important because the tires wear out easily in a high speed race. A pit stop can be as short as 2 seconds, and there are as many as 20 members on a crew. Therefore, the pit crew has to work in perfect harmony. The driver may get all the attention, but as people say, “</a:t>
            </a:r>
            <a:r>
              <a:rPr lang="en-US" altLang="ko-KR" sz="1500" b="0" dirty="0">
                <a:solidFill>
                  <a:srgbClr val="1F2328"/>
                </a:solidFill>
                <a:latin typeface="Calibri"/>
                <a:ea typeface="맑은 고딕"/>
                <a:cs typeface="Calibri"/>
              </a:rPr>
              <a:t>Races are won in the pits</a:t>
            </a:r>
            <a:r>
              <a:rPr lang="en-US" altLang="ko-KR" sz="1500" b="0" dirty="0">
                <a:solidFill>
                  <a:srgbClr val="1F2328"/>
                </a:solidFill>
                <a:latin typeface="Calibri"/>
                <a:ea typeface="맑은 고딕"/>
                <a:cs typeface="Calibri"/>
              </a:rPr>
              <a:t>.”</a:t>
            </a:r>
            <a:endParaRPr lang="en-US" altLang="ko-KR" sz="1500" b="0" dirty="0">
              <a:solidFill>
                <a:srgbClr val="1F2328"/>
              </a:solidFill>
              <a:latin typeface="Calibri"/>
              <a:ea typeface="맑은 고딕"/>
              <a:cs typeface="Calibri"/>
            </a:endParaRPr>
          </a:p>
        </p:txBody>
      </p:sp>
      <p:sp>
        <p:nvSpPr>
          <p:cNvPr id="9" name="rv_evidence_card"/>
          <p:cNvSpPr/>
          <p:nvPr/>
        </p:nvSpPr>
        <p:spPr>
          <a:xfrm>
            <a:off x="457200" y="950976"/>
            <a:ext cx="11277295" cy="176021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rv_evidence"/>
          <p:cNvSpPr txBox="1"/>
          <p:nvPr/>
        </p:nvSpPr>
        <p:spPr>
          <a:xfrm>
            <a:off x="457200" y="950976"/>
            <a:ext cx="11277295" cy="1760219"/>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B3BAC6"/>
                </a:solidFill>
                <a:latin typeface="Calibri"/>
                <a:ea typeface="맑은 고딕"/>
                <a:cs typeface="Calibri"/>
              </a:rPr>
              <a:t>You may only see the car and the driver during most car races, but there is a team behind the driver. This team is called a pit crew. A pit is a place on the side of the race track, and drivers stop there several times during a race. The main job of the pit crew is to check the car and change the tires. Changing the tires is especially important because the tires wear out easily in a high speed race. A pit stop can be as short as 2 seconds, and there are as many as 20 members on a crew. Therefore, the pit crew has to work in perfect harmony. The driver may get all the attention, but as people say, “</a:t>
            </a:r>
            <a:r>
              <a:rPr lang="en-US" altLang="ko-KR" sz="1500" b="0" dirty="0">
                <a:solidFill>
                  <a:srgbClr val="111111"/>
                </a:solidFill>
                <a:highlight>
                  <a:srgbClr val="FFE45C"/>
                </a:highlight>
                <a:latin typeface="Calibri"/>
                <a:ea typeface="맑은 고딕"/>
                <a:cs typeface="Calibri"/>
              </a:rPr>
              <a:t>Races are won in the pits</a:t>
            </a:r>
            <a:r>
              <a:rPr lang="en-US" altLang="ko-KR" sz="1500" b="0" dirty="0">
                <a:solidFill>
                  <a:srgbClr val="B3BAC6"/>
                </a:solidFill>
                <a:latin typeface="Calibri"/>
                <a:ea typeface="맑은 고딕"/>
                <a:cs typeface="Calibri"/>
              </a:rPr>
              <a:t>.”</a:t>
            </a:r>
            <a:endParaRPr lang="en-US" altLang="ko-KR" sz="1500" b="0" dirty="0">
              <a:solidFill>
                <a:srgbClr val="B3BAC6"/>
              </a:solidFill>
              <a:latin typeface="Calibri"/>
              <a:ea typeface="맑은 고딕"/>
              <a:cs typeface="Calibri"/>
            </a:endParaRPr>
          </a:p>
        </p:txBody>
      </p:sp>
      <p:sp>
        <p:nvSpPr>
          <p:cNvPr id="11" name="choice_1"/>
          <p:cNvSpPr txBox="1"/>
          <p:nvPr/>
        </p:nvSpPr>
        <p:spPr>
          <a:xfrm>
            <a:off x="457200" y="2857500"/>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①</a:t>
            </a:r>
            <a:r>
              <a:rPr lang="en-US" altLang="ko-KR" sz="1800" b="0" dirty="0">
                <a:solidFill>
                  <a:srgbClr val="1F2328"/>
                </a:solidFill>
                <a:latin typeface="Calibri"/>
                <a:ea typeface="맑은 고딕"/>
                <a:cs typeface="Calibri"/>
              </a:rPr>
              <a:t>	Races Are Won in the Pits</a:t>
            </a:r>
            <a:endParaRPr lang="en-US" altLang="ko-KR" sz="1800" b="0" dirty="0">
              <a:solidFill>
                <a:srgbClr val="1F2328"/>
              </a:solidFill>
              <a:latin typeface="Calibri"/>
              <a:ea typeface="맑은 고딕"/>
              <a:cs typeface="Calibri"/>
            </a:endParaRPr>
          </a:p>
        </p:txBody>
      </p:sp>
      <p:sp>
        <p:nvSpPr>
          <p:cNvPr id="12" name="rv_pick"/>
          <p:cNvSpPr txBox="1"/>
          <p:nvPr/>
        </p:nvSpPr>
        <p:spPr>
          <a:xfrm>
            <a:off x="457200" y="2857500"/>
            <a:ext cx="11277295" cy="379984"/>
          </a:xfrm>
          <a:prstGeom prst="rect">
            <a:avLst/>
          </a:prstGeom>
          <a:solidFill>
            <a:srgbClr val="FFF3C4"/>
          </a:solid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C00000"/>
                </a:solidFill>
                <a:latin typeface="맑은 고딕"/>
                <a:ea typeface="맑은 고딕"/>
                <a:cs typeface="맑은 고딕"/>
              </a:rPr>
              <a:t>①</a:t>
            </a:r>
            <a:r>
              <a:rPr lang="en-US" altLang="ko-KR" sz="1800" b="0" dirty="0">
                <a:solidFill>
                  <a:srgbClr val="C00000"/>
                </a:solidFill>
                <a:latin typeface="Calibri"/>
                <a:ea typeface="맑은 고딕"/>
                <a:cs typeface="Calibri"/>
              </a:rPr>
              <a:t>	Races Are Won in the Pits</a:t>
            </a:r>
            <a:endParaRPr lang="en-US" altLang="ko-KR" sz="1800" b="0" dirty="0">
              <a:solidFill>
                <a:srgbClr val="C00000"/>
              </a:solidFill>
              <a:latin typeface="Calibri"/>
              <a:ea typeface="맑은 고딕"/>
              <a:cs typeface="Calibri"/>
            </a:endParaRPr>
          </a:p>
        </p:txBody>
      </p:sp>
      <p:sp>
        <p:nvSpPr>
          <p:cNvPr id="13" name="choice_2"/>
          <p:cNvSpPr txBox="1"/>
          <p:nvPr/>
        </p:nvSpPr>
        <p:spPr>
          <a:xfrm>
            <a:off x="457200" y="3264916"/>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②</a:t>
            </a:r>
            <a:r>
              <a:rPr lang="en-US" altLang="ko-KR" sz="1800" b="0" dirty="0">
                <a:solidFill>
                  <a:srgbClr val="1F2328"/>
                </a:solidFill>
                <a:latin typeface="Calibri"/>
                <a:ea typeface="맑은 고딕"/>
                <a:cs typeface="Calibri"/>
              </a:rPr>
              <a:t>	Drivers Win Races All Alone</a:t>
            </a:r>
            <a:endParaRPr lang="en-US" altLang="ko-KR" sz="1800" b="0" dirty="0">
              <a:solidFill>
                <a:srgbClr val="1F2328"/>
              </a:solidFill>
              <a:latin typeface="Calibri"/>
              <a:ea typeface="맑은 고딕"/>
              <a:cs typeface="Calibri"/>
            </a:endParaRPr>
          </a:p>
        </p:txBody>
      </p:sp>
      <p:sp>
        <p:nvSpPr>
          <p:cNvPr id="14" name="choice_3"/>
          <p:cNvSpPr txBox="1"/>
          <p:nvPr/>
        </p:nvSpPr>
        <p:spPr>
          <a:xfrm>
            <a:off x="457200" y="3672332"/>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③</a:t>
            </a:r>
            <a:r>
              <a:rPr lang="en-US" altLang="ko-KR" sz="1800" b="0" dirty="0">
                <a:solidFill>
                  <a:srgbClr val="1F2328"/>
                </a:solidFill>
                <a:latin typeface="Calibri"/>
                <a:ea typeface="맑은 고딕"/>
                <a:cs typeface="Calibri"/>
              </a:rPr>
              <a:t>	Tires That Never Wear Out Fast</a:t>
            </a:r>
            <a:endParaRPr lang="en-US" altLang="ko-KR" sz="1800" b="0" dirty="0">
              <a:solidFill>
                <a:srgbClr val="1F2328"/>
              </a:solidFill>
              <a:latin typeface="Calibri"/>
              <a:ea typeface="맑은 고딕"/>
              <a:cs typeface="Calibri"/>
            </a:endParaRPr>
          </a:p>
        </p:txBody>
      </p:sp>
      <p:sp>
        <p:nvSpPr>
          <p:cNvPr id="15" name="choice_4"/>
          <p:cNvSpPr txBox="1"/>
          <p:nvPr/>
        </p:nvSpPr>
        <p:spPr>
          <a:xfrm>
            <a:off x="457200" y="4079748"/>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④</a:t>
            </a:r>
            <a:r>
              <a:rPr lang="en-US" altLang="ko-KR" sz="1800" b="0" dirty="0">
                <a:solidFill>
                  <a:srgbClr val="1F2328"/>
                </a:solidFill>
                <a:latin typeface="Calibri"/>
                <a:ea typeface="맑은 고딕"/>
                <a:cs typeface="Calibri"/>
              </a:rPr>
              <a:t>	The History of the Race Track</a:t>
            </a:r>
            <a:endParaRPr lang="en-US" altLang="ko-KR" sz="1800" b="0" dirty="0">
              <a:solidFill>
                <a:srgbClr val="1F2328"/>
              </a:solidFill>
              <a:latin typeface="Calibri"/>
              <a:ea typeface="맑은 고딕"/>
              <a:cs typeface="Calibri"/>
            </a:endParaRPr>
          </a:p>
        </p:txBody>
      </p:sp>
      <p:sp>
        <p:nvSpPr>
          <p:cNvPr id="16" name="choice_5"/>
          <p:cNvSpPr txBox="1"/>
          <p:nvPr/>
        </p:nvSpPr>
        <p:spPr>
          <a:xfrm>
            <a:off x="457200" y="4487164"/>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⑤</a:t>
            </a:r>
            <a:r>
              <a:rPr lang="en-US" altLang="ko-KR" sz="1800" b="0" dirty="0">
                <a:solidFill>
                  <a:srgbClr val="1F2328"/>
                </a:solidFill>
                <a:latin typeface="Calibri"/>
                <a:ea typeface="맑은 고딕"/>
                <a:cs typeface="Calibri"/>
              </a:rPr>
              <a:t>	Why Pit Stops Take Too Long</a:t>
            </a:r>
            <a:endParaRPr lang="en-US" altLang="ko-KR" sz="1800" b="0" dirty="0">
              <a:solidFill>
                <a:srgbClr val="1F2328"/>
              </a:solidFill>
              <a:latin typeface="Calibri"/>
              <a:ea typeface="맑은 고딕"/>
              <a:cs typeface="Calibri"/>
            </a:endParaRPr>
          </a:p>
        </p:txBody>
      </p:sp>
      <p:sp>
        <p:nvSpPr>
          <p:cNvPr id="17" name="rv_answer"/>
          <p:cNvSpPr/>
          <p:nvPr/>
        </p:nvSpPr>
        <p:spPr>
          <a:xfrm>
            <a:off x="457200" y="497687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① </a:t>
            </a:r>
            <a:r>
              <a:rPr lang="en-US" altLang="ko-KR" sz="1900" b="1" dirty="0">
                <a:solidFill>
                  <a:srgbClr val="5A4200"/>
                </a:solidFill>
                <a:latin typeface="Calibri"/>
                <a:ea typeface="맑은 고딕"/>
                <a:cs typeface="Calibri"/>
              </a:rPr>
              <a:t>Races Are Won in the Pits</a:t>
            </a:r>
            <a:endParaRPr lang="en-US" altLang="ko-KR" sz="1900" b="1" dirty="0">
              <a:solidFill>
                <a:srgbClr val="5A4200"/>
              </a:solidFill>
              <a:latin typeface="Calibri"/>
              <a:ea typeface="맑은 고딕"/>
              <a:cs typeface="Calibri"/>
            </a:endParaRPr>
          </a:p>
        </p:txBody>
      </p:sp>
      <p:sp>
        <p:nvSpPr>
          <p:cNvPr id="18" name="rv_why"/>
          <p:cNvSpPr/>
          <p:nvPr/>
        </p:nvSpPr>
        <p:spPr>
          <a:xfrm>
            <a:off x="457200" y="5575808"/>
            <a:ext cx="11277295" cy="84327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글은 'Races are won in the pits'라는 말로 끝난다. 이 말을 그대로 옮긴 ①이 제목이다.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25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25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25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7" grpId="0" animBg="1"/>
      <p:bldP spid="9" grpId="0" animBg="1"/>
      <p:bldP spid="10" grpId="0" animBg="1"/>
      <p:bldP spid="18" grpId="0" animBg="1"/>
    </p:bldLst>
  </p:timing>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L5-3</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1 · 3</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3. 다음 글에서 필자가 주장하는 바로 가장 적절한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5</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본문 근거 형광 + 정답 원리</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176021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1760219"/>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1F2328"/>
                </a:solidFill>
                <a:latin typeface="Calibri"/>
                <a:ea typeface="맑은 고딕"/>
                <a:cs typeface="Calibri"/>
              </a:rPr>
              <a:t>You may only see the car and the driver during most car races, but there is a team behind the driver. This team is called a pit crew. A pit is a place on the side of the race track, and drivers stop there several times during a race. The main job of the pit crew is to check the car and change the tires. Changing the tires is especially important because the tires wear out easily in a high speed race. A pit stop can be as short as 2 seconds, and there are as many as 20 members on a crew. </a:t>
            </a:r>
            <a:r>
              <a:rPr lang="en-US" altLang="ko-KR" sz="1500" b="0" dirty="0">
                <a:solidFill>
                  <a:srgbClr val="1F2328"/>
                </a:solidFill>
                <a:latin typeface="Calibri"/>
                <a:ea typeface="맑은 고딕"/>
                <a:cs typeface="Calibri"/>
              </a:rPr>
              <a:t>Therefore, the pit crew has to work in perfect harmony.</a:t>
            </a:r>
            <a:r>
              <a:rPr lang="en-US" altLang="ko-KR" sz="1500" b="0" dirty="0">
                <a:solidFill>
                  <a:srgbClr val="1F2328"/>
                </a:solidFill>
                <a:latin typeface="Calibri"/>
                <a:ea typeface="맑은 고딕"/>
                <a:cs typeface="Calibri"/>
              </a:rPr>
              <a:t> The driver may get all the attention, but as people say, “</a:t>
            </a:r>
            <a:r>
              <a:rPr lang="en-US" altLang="ko-KR" sz="1500" b="0" dirty="0">
                <a:solidFill>
                  <a:srgbClr val="1F2328"/>
                </a:solidFill>
                <a:latin typeface="Calibri"/>
                <a:ea typeface="맑은 고딕"/>
                <a:cs typeface="Calibri"/>
              </a:rPr>
              <a:t>Races are won in the pits</a:t>
            </a:r>
            <a:r>
              <a:rPr lang="en-US" altLang="ko-KR" sz="1500" b="0" dirty="0">
                <a:solidFill>
                  <a:srgbClr val="1F2328"/>
                </a:solidFill>
                <a:latin typeface="Calibri"/>
                <a:ea typeface="맑은 고딕"/>
                <a:cs typeface="Calibri"/>
              </a:rPr>
              <a:t>.”</a:t>
            </a:r>
            <a:endParaRPr lang="en-US" altLang="ko-KR" sz="1500" b="0" dirty="0">
              <a:solidFill>
                <a:srgbClr val="1F2328"/>
              </a:solidFill>
              <a:latin typeface="Calibri"/>
              <a:ea typeface="맑은 고딕"/>
              <a:cs typeface="Calibri"/>
            </a:endParaRPr>
          </a:p>
        </p:txBody>
      </p:sp>
      <p:sp>
        <p:nvSpPr>
          <p:cNvPr id="9" name="rv_evidence_card"/>
          <p:cNvSpPr/>
          <p:nvPr/>
        </p:nvSpPr>
        <p:spPr>
          <a:xfrm>
            <a:off x="457200" y="950976"/>
            <a:ext cx="11277295" cy="176021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rv_evidence"/>
          <p:cNvSpPr txBox="1"/>
          <p:nvPr/>
        </p:nvSpPr>
        <p:spPr>
          <a:xfrm>
            <a:off x="457200" y="950976"/>
            <a:ext cx="11277295" cy="1760219"/>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B3BAC6"/>
                </a:solidFill>
                <a:latin typeface="Calibri"/>
                <a:ea typeface="맑은 고딕"/>
                <a:cs typeface="Calibri"/>
              </a:rPr>
              <a:t>You may only see the car and the driver during most car races, but there is a team behind the driver. This team is called a pit crew. A pit is a place on the side of the race track, and drivers stop there several times during a race. The main job of the pit crew is to check the car and change the tires. Changing the tires is especially important because the tires wear out easily in a high speed race. A pit stop can be as short as 2 seconds, and there are as many as 20 members on a crew. </a:t>
            </a:r>
            <a:r>
              <a:rPr lang="en-US" altLang="ko-KR" sz="1500" b="0" dirty="0">
                <a:solidFill>
                  <a:srgbClr val="111111"/>
                </a:solidFill>
                <a:highlight>
                  <a:srgbClr val="FFE45C"/>
                </a:highlight>
                <a:latin typeface="Calibri"/>
                <a:ea typeface="맑은 고딕"/>
                <a:cs typeface="Calibri"/>
              </a:rPr>
              <a:t>Therefore, the pit crew has to work in perfect harmony.</a:t>
            </a:r>
            <a:r>
              <a:rPr lang="en-US" altLang="ko-KR" sz="1500" b="0" dirty="0">
                <a:solidFill>
                  <a:srgbClr val="B3BAC6"/>
                </a:solidFill>
                <a:latin typeface="Calibri"/>
                <a:ea typeface="맑은 고딕"/>
                <a:cs typeface="Calibri"/>
              </a:rPr>
              <a:t> The driver may get all the attention, but as people say, “</a:t>
            </a:r>
            <a:r>
              <a:rPr lang="en-US" altLang="ko-KR" sz="1500" b="0" dirty="0">
                <a:solidFill>
                  <a:srgbClr val="111111"/>
                </a:solidFill>
                <a:highlight>
                  <a:srgbClr val="FFE45C"/>
                </a:highlight>
                <a:latin typeface="Calibri"/>
                <a:ea typeface="맑은 고딕"/>
                <a:cs typeface="Calibri"/>
              </a:rPr>
              <a:t>Races are won in the pits</a:t>
            </a:r>
            <a:r>
              <a:rPr lang="en-US" altLang="ko-KR" sz="1500" b="0" dirty="0">
                <a:solidFill>
                  <a:srgbClr val="B3BAC6"/>
                </a:solidFill>
                <a:latin typeface="Calibri"/>
                <a:ea typeface="맑은 고딕"/>
                <a:cs typeface="Calibri"/>
              </a:rPr>
              <a:t>.”</a:t>
            </a:r>
            <a:endParaRPr lang="en-US" altLang="ko-KR" sz="1500" b="0" dirty="0">
              <a:solidFill>
                <a:srgbClr val="B3BAC6"/>
              </a:solidFill>
              <a:latin typeface="Calibri"/>
              <a:ea typeface="맑은 고딕"/>
              <a:cs typeface="Calibri"/>
            </a:endParaRPr>
          </a:p>
        </p:txBody>
      </p:sp>
      <p:sp>
        <p:nvSpPr>
          <p:cNvPr id="11" name="choice_1"/>
          <p:cNvSpPr txBox="1"/>
          <p:nvPr/>
        </p:nvSpPr>
        <p:spPr>
          <a:xfrm>
            <a:off x="457200" y="2857500"/>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①</a:t>
            </a:r>
            <a:r>
              <a:rPr lang="ko-KR" altLang="en-US" sz="1800" b="0" dirty="0">
                <a:solidFill>
                  <a:srgbClr val="1F2328"/>
                </a:solidFill>
                <a:latin typeface="맑은 고딕"/>
                <a:ea typeface="맑은 고딕"/>
                <a:cs typeface="맑은 고딕"/>
              </a:rPr>
              <a:t>	자동차 경주에서는 레이서만 주목받아야 한다</a:t>
            </a:r>
            <a:endParaRPr lang="ko-KR" altLang="en-US" sz="1800" b="0" dirty="0">
              <a:solidFill>
                <a:srgbClr val="1F2328"/>
              </a:solidFill>
              <a:latin typeface="맑은 고딕"/>
              <a:ea typeface="맑은 고딕"/>
              <a:cs typeface="맑은 고딕"/>
            </a:endParaRPr>
          </a:p>
        </p:txBody>
      </p:sp>
      <p:sp>
        <p:nvSpPr>
          <p:cNvPr id="12" name="choice_2"/>
          <p:cNvSpPr txBox="1"/>
          <p:nvPr/>
        </p:nvSpPr>
        <p:spPr>
          <a:xfrm>
            <a:off x="457200" y="3264916"/>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②</a:t>
            </a:r>
            <a:r>
              <a:rPr lang="ko-KR" altLang="en-US" sz="1800" b="0" dirty="0">
                <a:solidFill>
                  <a:srgbClr val="1F2328"/>
                </a:solidFill>
                <a:latin typeface="맑은 고딕"/>
                <a:ea typeface="맑은 고딕"/>
                <a:cs typeface="맑은 고딕"/>
              </a:rPr>
              <a:t>	피트 크루의 조화로운 협력이 승리를 만든다</a:t>
            </a:r>
            <a:endParaRPr lang="ko-KR" altLang="en-US" sz="1800" b="0" dirty="0">
              <a:solidFill>
                <a:srgbClr val="1F2328"/>
              </a:solidFill>
              <a:latin typeface="맑은 고딕"/>
              <a:ea typeface="맑은 고딕"/>
              <a:cs typeface="맑은 고딕"/>
            </a:endParaRPr>
          </a:p>
        </p:txBody>
      </p:sp>
      <p:sp>
        <p:nvSpPr>
          <p:cNvPr id="13" name="rv_pick"/>
          <p:cNvSpPr txBox="1"/>
          <p:nvPr/>
        </p:nvSpPr>
        <p:spPr>
          <a:xfrm>
            <a:off x="457200" y="3264916"/>
            <a:ext cx="11277295" cy="379984"/>
          </a:xfrm>
          <a:prstGeom prst="rect">
            <a:avLst/>
          </a:prstGeom>
          <a:solidFill>
            <a:srgbClr val="FFF3C4"/>
          </a:solid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C00000"/>
                </a:solidFill>
                <a:latin typeface="맑은 고딕"/>
                <a:ea typeface="맑은 고딕"/>
                <a:cs typeface="맑은 고딕"/>
              </a:rPr>
              <a:t>②</a:t>
            </a:r>
            <a:r>
              <a:rPr lang="ko-KR" altLang="en-US" sz="1800" b="0" dirty="0">
                <a:solidFill>
                  <a:srgbClr val="C00000"/>
                </a:solidFill>
                <a:latin typeface="맑은 고딕"/>
                <a:ea typeface="맑은 고딕"/>
                <a:cs typeface="맑은 고딕"/>
              </a:rPr>
              <a:t>	피트 크루의 조화로운 협력이 승리를 만든다</a:t>
            </a:r>
            <a:endParaRPr lang="ko-KR" altLang="en-US" sz="1800" b="0" dirty="0">
              <a:solidFill>
                <a:srgbClr val="C00000"/>
              </a:solidFill>
              <a:latin typeface="맑은 고딕"/>
              <a:ea typeface="맑은 고딕"/>
              <a:cs typeface="맑은 고딕"/>
            </a:endParaRPr>
          </a:p>
        </p:txBody>
      </p:sp>
      <p:sp>
        <p:nvSpPr>
          <p:cNvPr id="14" name="choice_3"/>
          <p:cNvSpPr txBox="1"/>
          <p:nvPr/>
        </p:nvSpPr>
        <p:spPr>
          <a:xfrm>
            <a:off x="457200" y="3672332"/>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③</a:t>
            </a:r>
            <a:r>
              <a:rPr lang="ko-KR" altLang="en-US" sz="1800" b="0" dirty="0">
                <a:solidFill>
                  <a:srgbClr val="1F2328"/>
                </a:solidFill>
                <a:latin typeface="맑은 고딕"/>
                <a:ea typeface="맑은 고딕"/>
                <a:cs typeface="맑은 고딕"/>
              </a:rPr>
              <a:t>	피트 정지 횟수는 최대한 줄이는 것이 좋다</a:t>
            </a:r>
            <a:endParaRPr lang="ko-KR" altLang="en-US" sz="1800" b="0" dirty="0">
              <a:solidFill>
                <a:srgbClr val="1F2328"/>
              </a:solidFill>
              <a:latin typeface="맑은 고딕"/>
              <a:ea typeface="맑은 고딕"/>
              <a:cs typeface="맑은 고딕"/>
            </a:endParaRPr>
          </a:p>
        </p:txBody>
      </p:sp>
      <p:sp>
        <p:nvSpPr>
          <p:cNvPr id="15" name="choice_4"/>
          <p:cNvSpPr txBox="1"/>
          <p:nvPr/>
        </p:nvSpPr>
        <p:spPr>
          <a:xfrm>
            <a:off x="457200" y="4079748"/>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④</a:t>
            </a:r>
            <a:r>
              <a:rPr lang="ko-KR" altLang="en-US" sz="1800" b="0" dirty="0">
                <a:solidFill>
                  <a:srgbClr val="1F2328"/>
                </a:solidFill>
                <a:latin typeface="맑은 고딕"/>
                <a:ea typeface="맑은 고딕"/>
                <a:cs typeface="맑은 고딕"/>
              </a:rPr>
              <a:t>	타이어는 경주 전에 한 번만 교체해야 한다</a:t>
            </a:r>
            <a:endParaRPr lang="ko-KR" altLang="en-US" sz="1800" b="0" dirty="0">
              <a:solidFill>
                <a:srgbClr val="1F2328"/>
              </a:solidFill>
              <a:latin typeface="맑은 고딕"/>
              <a:ea typeface="맑은 고딕"/>
              <a:cs typeface="맑은 고딕"/>
            </a:endParaRPr>
          </a:p>
        </p:txBody>
      </p:sp>
      <p:sp>
        <p:nvSpPr>
          <p:cNvPr id="16" name="choice_5"/>
          <p:cNvSpPr txBox="1"/>
          <p:nvPr/>
        </p:nvSpPr>
        <p:spPr>
          <a:xfrm>
            <a:off x="457200" y="4487164"/>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⑤</a:t>
            </a:r>
            <a:r>
              <a:rPr lang="ko-KR" altLang="en-US" sz="1800" b="0" dirty="0">
                <a:solidFill>
                  <a:srgbClr val="1F2328"/>
                </a:solidFill>
                <a:latin typeface="맑은 고딕"/>
                <a:ea typeface="맑은 고딕"/>
                <a:cs typeface="맑은 고딕"/>
              </a:rPr>
              <a:t>	피트 크루의 인원은 적을수록 효율적이다</a:t>
            </a:r>
            <a:endParaRPr lang="ko-KR" altLang="en-US" sz="1800" b="0" dirty="0">
              <a:solidFill>
                <a:srgbClr val="1F2328"/>
              </a:solidFill>
              <a:latin typeface="맑은 고딕"/>
              <a:ea typeface="맑은 고딕"/>
              <a:cs typeface="맑은 고딕"/>
            </a:endParaRPr>
          </a:p>
        </p:txBody>
      </p:sp>
      <p:sp>
        <p:nvSpPr>
          <p:cNvPr id="17" name="rv_answer"/>
          <p:cNvSpPr/>
          <p:nvPr/>
        </p:nvSpPr>
        <p:spPr>
          <a:xfrm>
            <a:off x="457200" y="497687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② </a:t>
            </a:r>
            <a:r>
              <a:rPr lang="ko-KR" altLang="en-US" sz="1900" b="1" dirty="0">
                <a:solidFill>
                  <a:srgbClr val="5A4200"/>
                </a:solidFill>
                <a:latin typeface="맑은 고딕"/>
                <a:ea typeface="맑은 고딕"/>
                <a:cs typeface="맑은 고딕"/>
              </a:rPr>
              <a:t>피트 크루의 조화로운 협력이 승리를 만든다</a:t>
            </a:r>
            <a:endParaRPr lang="ko-KR" altLang="en-US" sz="1900" b="1" dirty="0">
              <a:solidFill>
                <a:srgbClr val="5A4200"/>
              </a:solidFill>
              <a:latin typeface="맑은 고딕"/>
              <a:ea typeface="맑은 고딕"/>
              <a:cs typeface="맑은 고딕"/>
            </a:endParaRPr>
          </a:p>
        </p:txBody>
      </p:sp>
      <p:sp>
        <p:nvSpPr>
          <p:cNvPr id="18" name="rv_why"/>
          <p:cNvSpPr/>
          <p:nvPr/>
        </p:nvSpPr>
        <p:spPr>
          <a:xfrm>
            <a:off x="457200" y="5575808"/>
            <a:ext cx="11277295" cy="84327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피트 크루는 완벽한 조화 속에 일해야 하고 승리는 피트에서 나온다고 했다. 이를 담은 ②가 주장이다.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250"/>
                                        <p:tgtEl>
                                          <p:spTgt spid="1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25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25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7" grpId="0" animBg="1"/>
      <p:bldP spid="9" grpId="0" animBg="1"/>
      <p:bldP spid="10" grpId="0" animBg="1"/>
      <p:bldP spid="18" grpId="0" animBg="1"/>
    </p:bldLst>
  </p:timing>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L5-3</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1 · 4</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4. 다음 글의 요지로 가장 적절한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5</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본문 근거 형광 + 정답 원리</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176021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1760219"/>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1F2328"/>
                </a:solidFill>
                <a:latin typeface="Calibri"/>
                <a:ea typeface="맑은 고딕"/>
                <a:cs typeface="Calibri"/>
              </a:rPr>
              <a:t>You may only see the car and the driver during most car races, but </a:t>
            </a:r>
            <a:r>
              <a:rPr lang="en-US" altLang="ko-KR" sz="1500" b="0" dirty="0">
                <a:solidFill>
                  <a:srgbClr val="1F2328"/>
                </a:solidFill>
                <a:latin typeface="Calibri"/>
                <a:ea typeface="맑은 고딕"/>
                <a:cs typeface="Calibri"/>
              </a:rPr>
              <a:t>there is a team behind the driver</a:t>
            </a:r>
            <a:r>
              <a:rPr lang="en-US" altLang="ko-KR" sz="1500" b="0" dirty="0">
                <a:solidFill>
                  <a:srgbClr val="1F2328"/>
                </a:solidFill>
                <a:latin typeface="Calibri"/>
                <a:ea typeface="맑은 고딕"/>
                <a:cs typeface="Calibri"/>
              </a:rPr>
              <a:t>. This team is called a pit crew. A pit is a place on the side of the race track, and drivers stop there several times during a race. The main job of the pit crew is to check the car and change the tires. Changing the tires is especially important because the tires wear out easily in a high speed race. A pit stop can be as short as 2 seconds, and there are as many as 20 members on a crew. Therefore, the pit crew has to work in perfect harmony. The driver may get all the attention, but as people say, “</a:t>
            </a:r>
            <a:r>
              <a:rPr lang="en-US" altLang="ko-KR" sz="1500" b="0" dirty="0">
                <a:solidFill>
                  <a:srgbClr val="1F2328"/>
                </a:solidFill>
                <a:latin typeface="Calibri"/>
                <a:ea typeface="맑은 고딕"/>
                <a:cs typeface="Calibri"/>
              </a:rPr>
              <a:t>Races are won in the pits</a:t>
            </a:r>
            <a:r>
              <a:rPr lang="en-US" altLang="ko-KR" sz="1500" b="0" dirty="0">
                <a:solidFill>
                  <a:srgbClr val="1F2328"/>
                </a:solidFill>
                <a:latin typeface="Calibri"/>
                <a:ea typeface="맑은 고딕"/>
                <a:cs typeface="Calibri"/>
              </a:rPr>
              <a:t>.”</a:t>
            </a:r>
            <a:endParaRPr lang="en-US" altLang="ko-KR" sz="1500" b="0" dirty="0">
              <a:solidFill>
                <a:srgbClr val="1F2328"/>
              </a:solidFill>
              <a:latin typeface="Calibri"/>
              <a:ea typeface="맑은 고딕"/>
              <a:cs typeface="Calibri"/>
            </a:endParaRPr>
          </a:p>
        </p:txBody>
      </p:sp>
      <p:sp>
        <p:nvSpPr>
          <p:cNvPr id="9" name="rv_evidence_card"/>
          <p:cNvSpPr/>
          <p:nvPr/>
        </p:nvSpPr>
        <p:spPr>
          <a:xfrm>
            <a:off x="457200" y="950976"/>
            <a:ext cx="11277295" cy="176021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rv_evidence"/>
          <p:cNvSpPr txBox="1"/>
          <p:nvPr/>
        </p:nvSpPr>
        <p:spPr>
          <a:xfrm>
            <a:off x="457200" y="950976"/>
            <a:ext cx="11277295" cy="1760219"/>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B3BAC6"/>
                </a:solidFill>
                <a:latin typeface="Calibri"/>
                <a:ea typeface="맑은 고딕"/>
                <a:cs typeface="Calibri"/>
              </a:rPr>
              <a:t>You may only see the car and the driver during most car races, but </a:t>
            </a:r>
            <a:r>
              <a:rPr lang="en-US" altLang="ko-KR" sz="1500" b="0" dirty="0">
                <a:solidFill>
                  <a:srgbClr val="111111"/>
                </a:solidFill>
                <a:highlight>
                  <a:srgbClr val="FFE45C"/>
                </a:highlight>
                <a:latin typeface="Calibri"/>
                <a:ea typeface="맑은 고딕"/>
                <a:cs typeface="Calibri"/>
              </a:rPr>
              <a:t>there is a team behind the driver</a:t>
            </a:r>
            <a:r>
              <a:rPr lang="en-US" altLang="ko-KR" sz="1500" b="0" dirty="0">
                <a:solidFill>
                  <a:srgbClr val="B3BAC6"/>
                </a:solidFill>
                <a:latin typeface="Calibri"/>
                <a:ea typeface="맑은 고딕"/>
                <a:cs typeface="Calibri"/>
              </a:rPr>
              <a:t>. This team is called a pit crew. A pit is a place on the side of the race track, and drivers stop there several times during a race. The main job of the pit crew is to check the car and change the tires. Changing the tires is especially important because the tires wear out easily in a high speed race. A pit stop can be as short as 2 seconds, and there are as many as 20 members on a crew. Therefore, the pit crew has to work in perfect harmony. The driver may get all the attention, but as people say, “</a:t>
            </a:r>
            <a:r>
              <a:rPr lang="en-US" altLang="ko-KR" sz="1500" b="0" dirty="0">
                <a:solidFill>
                  <a:srgbClr val="111111"/>
                </a:solidFill>
                <a:highlight>
                  <a:srgbClr val="FFE45C"/>
                </a:highlight>
                <a:latin typeface="Calibri"/>
                <a:ea typeface="맑은 고딕"/>
                <a:cs typeface="Calibri"/>
              </a:rPr>
              <a:t>Races are won in the pits</a:t>
            </a:r>
            <a:r>
              <a:rPr lang="en-US" altLang="ko-KR" sz="1500" b="0" dirty="0">
                <a:solidFill>
                  <a:srgbClr val="B3BAC6"/>
                </a:solidFill>
                <a:latin typeface="Calibri"/>
                <a:ea typeface="맑은 고딕"/>
                <a:cs typeface="Calibri"/>
              </a:rPr>
              <a:t>.”</a:t>
            </a:r>
            <a:endParaRPr lang="en-US" altLang="ko-KR" sz="1500" b="0" dirty="0">
              <a:solidFill>
                <a:srgbClr val="B3BAC6"/>
              </a:solidFill>
              <a:latin typeface="Calibri"/>
              <a:ea typeface="맑은 고딕"/>
              <a:cs typeface="Calibri"/>
            </a:endParaRPr>
          </a:p>
        </p:txBody>
      </p:sp>
      <p:sp>
        <p:nvSpPr>
          <p:cNvPr id="11" name="choice_1"/>
          <p:cNvSpPr txBox="1"/>
          <p:nvPr/>
        </p:nvSpPr>
        <p:spPr>
          <a:xfrm>
            <a:off x="457200" y="2857500"/>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①</a:t>
            </a:r>
            <a:r>
              <a:rPr lang="ko-KR" altLang="en-US" sz="1800" b="0" dirty="0">
                <a:solidFill>
                  <a:srgbClr val="1F2328"/>
                </a:solidFill>
                <a:latin typeface="맑은 고딕"/>
                <a:ea typeface="맑은 고딕"/>
                <a:cs typeface="맑은 고딕"/>
              </a:rPr>
              <a:t>	레이서의 운전 실력만이 경주의 승패를 가른다</a:t>
            </a:r>
            <a:endParaRPr lang="ko-KR" altLang="en-US" sz="1800" b="0" dirty="0">
              <a:solidFill>
                <a:srgbClr val="1F2328"/>
              </a:solidFill>
              <a:latin typeface="맑은 고딕"/>
              <a:ea typeface="맑은 고딕"/>
              <a:cs typeface="맑은 고딕"/>
            </a:endParaRPr>
          </a:p>
        </p:txBody>
      </p:sp>
      <p:sp>
        <p:nvSpPr>
          <p:cNvPr id="12" name="choice_2"/>
          <p:cNvSpPr txBox="1"/>
          <p:nvPr/>
        </p:nvSpPr>
        <p:spPr>
          <a:xfrm>
            <a:off x="457200" y="3264916"/>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②</a:t>
            </a:r>
            <a:r>
              <a:rPr lang="ko-KR" altLang="en-US" sz="1800" b="0" dirty="0">
                <a:solidFill>
                  <a:srgbClr val="1F2328"/>
                </a:solidFill>
                <a:latin typeface="맑은 고딕"/>
                <a:ea typeface="맑은 고딕"/>
                <a:cs typeface="맑은 고딕"/>
              </a:rPr>
              <a:t>	빠른 경주일수록 타이어 교체는 덜 중요하다</a:t>
            </a:r>
            <a:endParaRPr lang="ko-KR" altLang="en-US" sz="1800" b="0" dirty="0">
              <a:solidFill>
                <a:srgbClr val="1F2328"/>
              </a:solidFill>
              <a:latin typeface="맑은 고딕"/>
              <a:ea typeface="맑은 고딕"/>
              <a:cs typeface="맑은 고딕"/>
            </a:endParaRPr>
          </a:p>
        </p:txBody>
      </p:sp>
      <p:sp>
        <p:nvSpPr>
          <p:cNvPr id="13" name="choice_3"/>
          <p:cNvSpPr txBox="1"/>
          <p:nvPr/>
        </p:nvSpPr>
        <p:spPr>
          <a:xfrm>
            <a:off x="457200" y="3672332"/>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③</a:t>
            </a:r>
            <a:r>
              <a:rPr lang="ko-KR" altLang="en-US" sz="1800" b="0" dirty="0">
                <a:solidFill>
                  <a:srgbClr val="1F2328"/>
                </a:solidFill>
                <a:latin typeface="맑은 고딕"/>
                <a:ea typeface="맑은 고딕"/>
                <a:cs typeface="맑은 고딕"/>
              </a:rPr>
              <a:t>	레이서 뒤의 피트 크루가 승리에 결정적이다</a:t>
            </a:r>
            <a:endParaRPr lang="ko-KR" altLang="en-US" sz="1800" b="0" dirty="0">
              <a:solidFill>
                <a:srgbClr val="1F2328"/>
              </a:solidFill>
              <a:latin typeface="맑은 고딕"/>
              <a:ea typeface="맑은 고딕"/>
              <a:cs typeface="맑은 고딕"/>
            </a:endParaRPr>
          </a:p>
        </p:txBody>
      </p:sp>
      <p:sp>
        <p:nvSpPr>
          <p:cNvPr id="14" name="rv_pick"/>
          <p:cNvSpPr txBox="1"/>
          <p:nvPr/>
        </p:nvSpPr>
        <p:spPr>
          <a:xfrm>
            <a:off x="457200" y="3672332"/>
            <a:ext cx="11277295" cy="379984"/>
          </a:xfrm>
          <a:prstGeom prst="rect">
            <a:avLst/>
          </a:prstGeom>
          <a:solidFill>
            <a:srgbClr val="FFF3C4"/>
          </a:solid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C00000"/>
                </a:solidFill>
                <a:latin typeface="맑은 고딕"/>
                <a:ea typeface="맑은 고딕"/>
                <a:cs typeface="맑은 고딕"/>
              </a:rPr>
              <a:t>③</a:t>
            </a:r>
            <a:r>
              <a:rPr lang="ko-KR" altLang="en-US" sz="1800" b="0" dirty="0">
                <a:solidFill>
                  <a:srgbClr val="C00000"/>
                </a:solidFill>
                <a:latin typeface="맑은 고딕"/>
                <a:ea typeface="맑은 고딕"/>
                <a:cs typeface="맑은 고딕"/>
              </a:rPr>
              <a:t>	레이서 뒤의 피트 크루가 승리에 결정적이다</a:t>
            </a:r>
            <a:endParaRPr lang="ko-KR" altLang="en-US" sz="1800" b="0" dirty="0">
              <a:solidFill>
                <a:srgbClr val="C00000"/>
              </a:solidFill>
              <a:latin typeface="맑은 고딕"/>
              <a:ea typeface="맑은 고딕"/>
              <a:cs typeface="맑은 고딕"/>
            </a:endParaRPr>
          </a:p>
        </p:txBody>
      </p:sp>
      <p:sp>
        <p:nvSpPr>
          <p:cNvPr id="15" name="choice_4"/>
          <p:cNvSpPr txBox="1"/>
          <p:nvPr/>
        </p:nvSpPr>
        <p:spPr>
          <a:xfrm>
            <a:off x="457200" y="4079748"/>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④</a:t>
            </a:r>
            <a:r>
              <a:rPr lang="ko-KR" altLang="en-US" sz="1800" b="0" dirty="0">
                <a:solidFill>
                  <a:srgbClr val="1F2328"/>
                </a:solidFill>
                <a:latin typeface="맑은 고딕"/>
                <a:ea typeface="맑은 고딕"/>
                <a:cs typeface="맑은 고딕"/>
              </a:rPr>
              <a:t>	피트는 레이서가 쉬기 위해 머무는 공간이다</a:t>
            </a:r>
            <a:endParaRPr lang="ko-KR" altLang="en-US" sz="1800" b="0" dirty="0">
              <a:solidFill>
                <a:srgbClr val="1F2328"/>
              </a:solidFill>
              <a:latin typeface="맑은 고딕"/>
              <a:ea typeface="맑은 고딕"/>
              <a:cs typeface="맑은 고딕"/>
            </a:endParaRPr>
          </a:p>
        </p:txBody>
      </p:sp>
      <p:sp>
        <p:nvSpPr>
          <p:cNvPr id="16" name="choice_5"/>
          <p:cNvSpPr txBox="1"/>
          <p:nvPr/>
        </p:nvSpPr>
        <p:spPr>
          <a:xfrm>
            <a:off x="457200" y="4487164"/>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⑤</a:t>
            </a:r>
            <a:r>
              <a:rPr lang="ko-KR" altLang="en-US" sz="1800" b="0" dirty="0">
                <a:solidFill>
                  <a:srgbClr val="1F2328"/>
                </a:solidFill>
                <a:latin typeface="맑은 고딕"/>
                <a:ea typeface="맑은 고딕"/>
                <a:cs typeface="맑은 고딕"/>
              </a:rPr>
              <a:t>	자동차 경주에서는 차량 성능이 가장 중요하다</a:t>
            </a:r>
            <a:endParaRPr lang="ko-KR" altLang="en-US" sz="1800" b="0" dirty="0">
              <a:solidFill>
                <a:srgbClr val="1F2328"/>
              </a:solidFill>
              <a:latin typeface="맑은 고딕"/>
              <a:ea typeface="맑은 고딕"/>
              <a:cs typeface="맑은 고딕"/>
            </a:endParaRPr>
          </a:p>
        </p:txBody>
      </p:sp>
      <p:sp>
        <p:nvSpPr>
          <p:cNvPr id="17" name="rv_answer"/>
          <p:cNvSpPr/>
          <p:nvPr/>
        </p:nvSpPr>
        <p:spPr>
          <a:xfrm>
            <a:off x="457200" y="497687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③ </a:t>
            </a:r>
            <a:r>
              <a:rPr lang="ko-KR" altLang="en-US" sz="1900" b="1" dirty="0">
                <a:solidFill>
                  <a:srgbClr val="5A4200"/>
                </a:solidFill>
                <a:latin typeface="맑은 고딕"/>
                <a:ea typeface="맑은 고딕"/>
                <a:cs typeface="맑은 고딕"/>
              </a:rPr>
              <a:t>레이서 뒤의 피트 크루가 승리에 결정적이다</a:t>
            </a:r>
            <a:endParaRPr lang="ko-KR" altLang="en-US" sz="1900" b="1" dirty="0">
              <a:solidFill>
                <a:srgbClr val="5A4200"/>
              </a:solidFill>
              <a:latin typeface="맑은 고딕"/>
              <a:ea typeface="맑은 고딕"/>
              <a:cs typeface="맑은 고딕"/>
            </a:endParaRPr>
          </a:p>
        </p:txBody>
      </p:sp>
      <p:sp>
        <p:nvSpPr>
          <p:cNvPr id="18" name="rv_why"/>
          <p:cNvSpPr/>
          <p:nvPr/>
        </p:nvSpPr>
        <p:spPr>
          <a:xfrm>
            <a:off x="457200" y="5575808"/>
            <a:ext cx="11277295" cy="84327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레이서 뒤에 팀이 있고 경주는 피트에서 이긴다고 했다. 피트 크루가 승리에 결정적이라는 ③이 요지다.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250"/>
                                        <p:tgtEl>
                                          <p:spTgt spid="1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25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25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7" grpId="0" animBg="1"/>
      <p:bldP spid="9" grpId="0" animBg="1"/>
      <p:bldP spid="10" grpId="0" animBg="1"/>
      <p:bldP spid="18" grpId="0" animBg="1"/>
    </p:bldLst>
  </p:timing>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L5-3</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1 · 5</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5. 다음 글의 내용과 일치하지 않는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5</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본문 근거 형광 + 정답 원리</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176021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1760219"/>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1F2328"/>
                </a:solidFill>
                <a:latin typeface="Calibri"/>
                <a:ea typeface="맑은 고딕"/>
                <a:cs typeface="Calibri"/>
              </a:rPr>
              <a:t>You may only see the car and the driver during most car races, but there is a team behind the driver. This team is called a pit crew. A pit is a place on the side of the race track, and drivers stop there several times during a race. The main job of the pit crew is to check the car and change the tires. Changing the tires is especially important because </a:t>
            </a:r>
            <a:r>
              <a:rPr lang="en-US" altLang="ko-KR" sz="1500" b="0" dirty="0">
                <a:solidFill>
                  <a:srgbClr val="1F2328"/>
                </a:solidFill>
                <a:latin typeface="Calibri"/>
                <a:ea typeface="맑은 고딕"/>
                <a:cs typeface="Calibri"/>
              </a:rPr>
              <a:t>the tires wear out easily in a high speed race</a:t>
            </a:r>
            <a:r>
              <a:rPr lang="en-US" altLang="ko-KR" sz="1500" b="0" dirty="0">
                <a:solidFill>
                  <a:srgbClr val="1F2328"/>
                </a:solidFill>
                <a:latin typeface="Calibri"/>
                <a:ea typeface="맑은 고딕"/>
                <a:cs typeface="Calibri"/>
              </a:rPr>
              <a:t>. A pit stop can be as short as 2 seconds, and there are as many as 20 members on a crew. Therefore, the pit crew has to work in perfect harmony. The driver may get all the attention, but as people say, “Races are won in the pits.”</a:t>
            </a:r>
            <a:endParaRPr lang="en-US" altLang="ko-KR" sz="1500" b="0" dirty="0">
              <a:solidFill>
                <a:srgbClr val="1F2328"/>
              </a:solidFill>
              <a:latin typeface="Calibri"/>
              <a:ea typeface="맑은 고딕"/>
              <a:cs typeface="Calibri"/>
            </a:endParaRPr>
          </a:p>
        </p:txBody>
      </p:sp>
      <p:sp>
        <p:nvSpPr>
          <p:cNvPr id="9" name="rv_evidence_card"/>
          <p:cNvSpPr/>
          <p:nvPr/>
        </p:nvSpPr>
        <p:spPr>
          <a:xfrm>
            <a:off x="457200" y="950976"/>
            <a:ext cx="11277295" cy="176021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rv_evidence"/>
          <p:cNvSpPr txBox="1"/>
          <p:nvPr/>
        </p:nvSpPr>
        <p:spPr>
          <a:xfrm>
            <a:off x="457200" y="950976"/>
            <a:ext cx="11277295" cy="1760219"/>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B3BAC6"/>
                </a:solidFill>
                <a:latin typeface="Calibri"/>
                <a:ea typeface="맑은 고딕"/>
                <a:cs typeface="Calibri"/>
              </a:rPr>
              <a:t>You may only see the car and the driver during most car races, but there is a team behind the driver. This team is called a pit crew. A pit is a place on the side of the race track, and drivers stop there several times during a race. The main job of the pit crew is to check the car and change the tires. Changing the tires is especially important because </a:t>
            </a:r>
            <a:r>
              <a:rPr lang="en-US" altLang="ko-KR" sz="1500" b="0" dirty="0">
                <a:solidFill>
                  <a:srgbClr val="111111"/>
                </a:solidFill>
                <a:highlight>
                  <a:srgbClr val="FFE45C"/>
                </a:highlight>
                <a:latin typeface="Calibri"/>
                <a:ea typeface="맑은 고딕"/>
                <a:cs typeface="Calibri"/>
              </a:rPr>
              <a:t>the tires wear out easily in a high speed race</a:t>
            </a:r>
            <a:r>
              <a:rPr lang="en-US" altLang="ko-KR" sz="1500" b="0" dirty="0">
                <a:solidFill>
                  <a:srgbClr val="B3BAC6"/>
                </a:solidFill>
                <a:latin typeface="Calibri"/>
                <a:ea typeface="맑은 고딕"/>
                <a:cs typeface="Calibri"/>
              </a:rPr>
              <a:t>. A pit stop can be as short as 2 seconds, and there are as many as 20 members on a crew. Therefore, the pit crew has to work in perfect harmony. The driver may get all the attention, but as people say, “Races are won in the pits.”</a:t>
            </a:r>
            <a:endParaRPr lang="en-US" altLang="ko-KR" sz="1500" b="0" dirty="0">
              <a:solidFill>
                <a:srgbClr val="B3BAC6"/>
              </a:solidFill>
              <a:latin typeface="Calibri"/>
              <a:ea typeface="맑은 고딕"/>
              <a:cs typeface="Calibri"/>
            </a:endParaRPr>
          </a:p>
        </p:txBody>
      </p:sp>
      <p:sp>
        <p:nvSpPr>
          <p:cNvPr id="11" name="choice_1"/>
          <p:cNvSpPr txBox="1"/>
          <p:nvPr/>
        </p:nvSpPr>
        <p:spPr>
          <a:xfrm>
            <a:off x="457200" y="2857500"/>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①</a:t>
            </a:r>
            <a:r>
              <a:rPr lang="ko-KR" altLang="en-US" sz="1800" b="0" dirty="0">
                <a:solidFill>
                  <a:srgbClr val="1F2328"/>
                </a:solidFill>
                <a:latin typeface="맑은 고딕"/>
                <a:ea typeface="맑은 고딕"/>
                <a:cs typeface="맑은 고딕"/>
              </a:rPr>
              <a:t>	레이서 뒤에는 피트 크루라는 팀이 있다</a:t>
            </a:r>
            <a:endParaRPr lang="ko-KR" altLang="en-US" sz="1800" b="0" dirty="0">
              <a:solidFill>
                <a:srgbClr val="1F2328"/>
              </a:solidFill>
              <a:latin typeface="맑은 고딕"/>
              <a:ea typeface="맑은 고딕"/>
              <a:cs typeface="맑은 고딕"/>
            </a:endParaRPr>
          </a:p>
        </p:txBody>
      </p:sp>
      <p:sp>
        <p:nvSpPr>
          <p:cNvPr id="12" name="choice_2"/>
          <p:cNvSpPr txBox="1"/>
          <p:nvPr/>
        </p:nvSpPr>
        <p:spPr>
          <a:xfrm>
            <a:off x="457200" y="3264916"/>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②</a:t>
            </a:r>
            <a:r>
              <a:rPr lang="ko-KR" altLang="en-US" sz="1800" b="0" dirty="0">
                <a:solidFill>
                  <a:srgbClr val="1F2328"/>
                </a:solidFill>
                <a:latin typeface="맑은 고딕"/>
                <a:ea typeface="맑은 고딕"/>
                <a:cs typeface="맑은 고딕"/>
              </a:rPr>
              <a:t>	타이어는 고속 경주에서 거의 닳지 않는다</a:t>
            </a:r>
            <a:endParaRPr lang="ko-KR" altLang="en-US" sz="1800" b="0" dirty="0">
              <a:solidFill>
                <a:srgbClr val="1F2328"/>
              </a:solidFill>
              <a:latin typeface="맑은 고딕"/>
              <a:ea typeface="맑은 고딕"/>
              <a:cs typeface="맑은 고딕"/>
            </a:endParaRPr>
          </a:p>
        </p:txBody>
      </p:sp>
      <p:sp>
        <p:nvSpPr>
          <p:cNvPr id="13" name="rv_pick"/>
          <p:cNvSpPr txBox="1"/>
          <p:nvPr/>
        </p:nvSpPr>
        <p:spPr>
          <a:xfrm>
            <a:off x="457200" y="3264916"/>
            <a:ext cx="11277295" cy="379984"/>
          </a:xfrm>
          <a:prstGeom prst="rect">
            <a:avLst/>
          </a:prstGeom>
          <a:solidFill>
            <a:srgbClr val="FFF3C4"/>
          </a:solid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C00000"/>
                </a:solidFill>
                <a:latin typeface="맑은 고딕"/>
                <a:ea typeface="맑은 고딕"/>
                <a:cs typeface="맑은 고딕"/>
              </a:rPr>
              <a:t>②</a:t>
            </a:r>
            <a:r>
              <a:rPr lang="ko-KR" altLang="en-US" sz="1800" b="0" dirty="0">
                <a:solidFill>
                  <a:srgbClr val="C00000"/>
                </a:solidFill>
                <a:latin typeface="맑은 고딕"/>
                <a:ea typeface="맑은 고딕"/>
                <a:cs typeface="맑은 고딕"/>
              </a:rPr>
              <a:t>	타이어는 고속 경주에서 거의 닳지 않는다</a:t>
            </a:r>
            <a:endParaRPr lang="ko-KR" altLang="en-US" sz="1800" b="0" dirty="0">
              <a:solidFill>
                <a:srgbClr val="C00000"/>
              </a:solidFill>
              <a:latin typeface="맑은 고딕"/>
              <a:ea typeface="맑은 고딕"/>
              <a:cs typeface="맑은 고딕"/>
            </a:endParaRPr>
          </a:p>
        </p:txBody>
      </p:sp>
      <p:sp>
        <p:nvSpPr>
          <p:cNvPr id="14" name="choice_3"/>
          <p:cNvSpPr txBox="1"/>
          <p:nvPr/>
        </p:nvSpPr>
        <p:spPr>
          <a:xfrm>
            <a:off x="457200" y="3672332"/>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③</a:t>
            </a:r>
            <a:r>
              <a:rPr lang="ko-KR" altLang="en-US" sz="1800" b="0" dirty="0">
                <a:solidFill>
                  <a:srgbClr val="1F2328"/>
                </a:solidFill>
                <a:latin typeface="맑은 고딕"/>
                <a:ea typeface="맑은 고딕"/>
                <a:cs typeface="맑은 고딕"/>
              </a:rPr>
              <a:t>	피트는 경주 트랙 옆에 있는 공간이다</a:t>
            </a:r>
            <a:endParaRPr lang="ko-KR" altLang="en-US" sz="1800" b="0" dirty="0">
              <a:solidFill>
                <a:srgbClr val="1F2328"/>
              </a:solidFill>
              <a:latin typeface="맑은 고딕"/>
              <a:ea typeface="맑은 고딕"/>
              <a:cs typeface="맑은 고딕"/>
            </a:endParaRPr>
          </a:p>
        </p:txBody>
      </p:sp>
      <p:sp>
        <p:nvSpPr>
          <p:cNvPr id="15" name="choice_4"/>
          <p:cNvSpPr txBox="1"/>
          <p:nvPr/>
        </p:nvSpPr>
        <p:spPr>
          <a:xfrm>
            <a:off x="457200" y="4079748"/>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④</a:t>
            </a:r>
            <a:r>
              <a:rPr lang="ko-KR" altLang="en-US" sz="1800" b="0" dirty="0">
                <a:solidFill>
                  <a:srgbClr val="1F2328"/>
                </a:solidFill>
                <a:latin typeface="맑은 고딕"/>
                <a:ea typeface="맑은 고딕"/>
                <a:cs typeface="맑은 고딕"/>
              </a:rPr>
              <a:t>	레이서는 경주 중 피트에 여러 번 정지한다</a:t>
            </a:r>
            <a:endParaRPr lang="ko-KR" altLang="en-US" sz="1800" b="0" dirty="0">
              <a:solidFill>
                <a:srgbClr val="1F2328"/>
              </a:solidFill>
              <a:latin typeface="맑은 고딕"/>
              <a:ea typeface="맑은 고딕"/>
              <a:cs typeface="맑은 고딕"/>
            </a:endParaRPr>
          </a:p>
        </p:txBody>
      </p:sp>
      <p:sp>
        <p:nvSpPr>
          <p:cNvPr id="16" name="choice_5"/>
          <p:cNvSpPr txBox="1"/>
          <p:nvPr/>
        </p:nvSpPr>
        <p:spPr>
          <a:xfrm>
            <a:off x="457200" y="4487164"/>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⑤</a:t>
            </a:r>
            <a:r>
              <a:rPr lang="ko-KR" altLang="en-US" sz="1800" b="0" dirty="0">
                <a:solidFill>
                  <a:srgbClr val="1F2328"/>
                </a:solidFill>
                <a:latin typeface="맑은 고딕"/>
                <a:ea typeface="맑은 고딕"/>
                <a:cs typeface="맑은 고딕"/>
              </a:rPr>
              <a:t>	한 크루에는 많게는 20명의 구성원이 있다</a:t>
            </a:r>
            <a:endParaRPr lang="ko-KR" altLang="en-US" sz="1800" b="0" dirty="0">
              <a:solidFill>
                <a:srgbClr val="1F2328"/>
              </a:solidFill>
              <a:latin typeface="맑은 고딕"/>
              <a:ea typeface="맑은 고딕"/>
              <a:cs typeface="맑은 고딕"/>
            </a:endParaRPr>
          </a:p>
        </p:txBody>
      </p:sp>
      <p:sp>
        <p:nvSpPr>
          <p:cNvPr id="17" name="rv_answer"/>
          <p:cNvSpPr/>
          <p:nvPr/>
        </p:nvSpPr>
        <p:spPr>
          <a:xfrm>
            <a:off x="457200" y="497687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② </a:t>
            </a:r>
            <a:r>
              <a:rPr lang="ko-KR" altLang="en-US" sz="1900" b="1" dirty="0">
                <a:solidFill>
                  <a:srgbClr val="5A4200"/>
                </a:solidFill>
                <a:latin typeface="맑은 고딕"/>
                <a:ea typeface="맑은 고딕"/>
                <a:cs typeface="맑은 고딕"/>
              </a:rPr>
              <a:t>타이어는 고속 경주에서 거의 닳지 않는다</a:t>
            </a:r>
            <a:endParaRPr lang="ko-KR" altLang="en-US" sz="1900" b="1" dirty="0">
              <a:solidFill>
                <a:srgbClr val="5A4200"/>
              </a:solidFill>
              <a:latin typeface="맑은 고딕"/>
              <a:ea typeface="맑은 고딕"/>
              <a:cs typeface="맑은 고딕"/>
            </a:endParaRPr>
          </a:p>
        </p:txBody>
      </p:sp>
      <p:sp>
        <p:nvSpPr>
          <p:cNvPr id="18" name="rv_why"/>
          <p:cNvSpPr/>
          <p:nvPr/>
        </p:nvSpPr>
        <p:spPr>
          <a:xfrm>
            <a:off x="457200" y="5575808"/>
            <a:ext cx="11277295" cy="84327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고속 경주에서는 타이어가 쉽게 닳는다고 했다. 거의 닳지 않는다는 ②는 틀리다.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250"/>
                                        <p:tgtEl>
                                          <p:spTgt spid="1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25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25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7" grpId="0" animBg="1"/>
      <p:bldP spid="9" grpId="0" animBg="1"/>
      <p:bldP spid="10" grpId="0" animBg="1"/>
      <p:bldP spid="18" grpId="0" animBg="1"/>
    </p:bldLst>
  </p:timing>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L5-3</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1 · 6</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6. 다음 글의 내용과 일치하는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5</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본문 근거 형광 + 정답 원리</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176021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1760219"/>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1F2328"/>
                </a:solidFill>
                <a:latin typeface="Calibri"/>
                <a:ea typeface="맑은 고딕"/>
                <a:cs typeface="Calibri"/>
              </a:rPr>
              <a:t>You may only see the car and the driver during most car races, but there is a team behind the driver. This team is called a pit crew. A pit is a place on the side of the race track, and drivers stop there several times during a race. The main job of the pit crew is to check the car and change the tires. Changing the tires is especially important because the tires wear out easily in a high speed race. </a:t>
            </a:r>
            <a:r>
              <a:rPr lang="en-US" altLang="ko-KR" sz="1500" b="0" dirty="0">
                <a:solidFill>
                  <a:srgbClr val="1F2328"/>
                </a:solidFill>
                <a:latin typeface="Calibri"/>
                <a:ea typeface="맑은 고딕"/>
                <a:cs typeface="Calibri"/>
              </a:rPr>
              <a:t>A pit stop can be as short as 2 seconds</a:t>
            </a:r>
            <a:r>
              <a:rPr lang="en-US" altLang="ko-KR" sz="1500" b="0" dirty="0">
                <a:solidFill>
                  <a:srgbClr val="1F2328"/>
                </a:solidFill>
                <a:latin typeface="Calibri"/>
                <a:ea typeface="맑은 고딕"/>
                <a:cs typeface="Calibri"/>
              </a:rPr>
              <a:t>, and there are as many as 20 members on a crew. Therefore, the pit crew has to work in perfect harmony. The driver may get all the attention, but as people say, “Races are won in the pits.”</a:t>
            </a:r>
            <a:endParaRPr lang="en-US" altLang="ko-KR" sz="1500" b="0" dirty="0">
              <a:solidFill>
                <a:srgbClr val="1F2328"/>
              </a:solidFill>
              <a:latin typeface="Calibri"/>
              <a:ea typeface="맑은 고딕"/>
              <a:cs typeface="Calibri"/>
            </a:endParaRPr>
          </a:p>
        </p:txBody>
      </p:sp>
      <p:sp>
        <p:nvSpPr>
          <p:cNvPr id="9" name="rv_evidence_card"/>
          <p:cNvSpPr/>
          <p:nvPr/>
        </p:nvSpPr>
        <p:spPr>
          <a:xfrm>
            <a:off x="457200" y="950976"/>
            <a:ext cx="11277295" cy="176021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rv_evidence"/>
          <p:cNvSpPr txBox="1"/>
          <p:nvPr/>
        </p:nvSpPr>
        <p:spPr>
          <a:xfrm>
            <a:off x="457200" y="950976"/>
            <a:ext cx="11277295" cy="1760219"/>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B3BAC6"/>
                </a:solidFill>
                <a:latin typeface="Calibri"/>
                <a:ea typeface="맑은 고딕"/>
                <a:cs typeface="Calibri"/>
              </a:rPr>
              <a:t>You may only see the car and the driver during most car races, but there is a team behind the driver. This team is called a pit crew. A pit is a place on the side of the race track, and drivers stop there several times during a race. The main job of the pit crew is to check the car and change the tires. Changing the tires is especially important because the tires wear out easily in a high speed race. </a:t>
            </a:r>
            <a:r>
              <a:rPr lang="en-US" altLang="ko-KR" sz="1500" b="0" dirty="0">
                <a:solidFill>
                  <a:srgbClr val="111111"/>
                </a:solidFill>
                <a:highlight>
                  <a:srgbClr val="FFE45C"/>
                </a:highlight>
                <a:latin typeface="Calibri"/>
                <a:ea typeface="맑은 고딕"/>
                <a:cs typeface="Calibri"/>
              </a:rPr>
              <a:t>A pit stop can be as short as 2 seconds</a:t>
            </a:r>
            <a:r>
              <a:rPr lang="en-US" altLang="ko-KR" sz="1500" b="0" dirty="0">
                <a:solidFill>
                  <a:srgbClr val="B3BAC6"/>
                </a:solidFill>
                <a:latin typeface="Calibri"/>
                <a:ea typeface="맑은 고딕"/>
                <a:cs typeface="Calibri"/>
              </a:rPr>
              <a:t>, and there are as many as 20 members on a crew. Therefore, the pit crew has to work in perfect harmony. The driver may get all the attention, but as people say, “Races are won in the pits.”</a:t>
            </a:r>
            <a:endParaRPr lang="en-US" altLang="ko-KR" sz="1500" b="0" dirty="0">
              <a:solidFill>
                <a:srgbClr val="B3BAC6"/>
              </a:solidFill>
              <a:latin typeface="Calibri"/>
              <a:ea typeface="맑은 고딕"/>
              <a:cs typeface="Calibri"/>
            </a:endParaRPr>
          </a:p>
        </p:txBody>
      </p:sp>
      <p:sp>
        <p:nvSpPr>
          <p:cNvPr id="11" name="choice_1"/>
          <p:cNvSpPr txBox="1"/>
          <p:nvPr/>
        </p:nvSpPr>
        <p:spPr>
          <a:xfrm>
            <a:off x="457200" y="2857500"/>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①</a:t>
            </a:r>
            <a:r>
              <a:rPr lang="ko-KR" altLang="en-US" sz="1800" b="0" dirty="0">
                <a:solidFill>
                  <a:srgbClr val="1F2328"/>
                </a:solidFill>
                <a:latin typeface="맑은 고딕"/>
                <a:ea typeface="맑은 고딕"/>
                <a:cs typeface="맑은 고딕"/>
              </a:rPr>
              <a:t>	피트 크루는 경주 내내 차를 직접 운전한다</a:t>
            </a:r>
            <a:endParaRPr lang="ko-KR" altLang="en-US" sz="1800" b="0" dirty="0">
              <a:solidFill>
                <a:srgbClr val="1F2328"/>
              </a:solidFill>
              <a:latin typeface="맑은 고딕"/>
              <a:ea typeface="맑은 고딕"/>
              <a:cs typeface="맑은 고딕"/>
            </a:endParaRPr>
          </a:p>
        </p:txBody>
      </p:sp>
      <p:sp>
        <p:nvSpPr>
          <p:cNvPr id="12" name="choice_2"/>
          <p:cNvSpPr txBox="1"/>
          <p:nvPr/>
        </p:nvSpPr>
        <p:spPr>
          <a:xfrm>
            <a:off x="457200" y="3264916"/>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②</a:t>
            </a:r>
            <a:r>
              <a:rPr lang="ko-KR" altLang="en-US" sz="1800" b="0" dirty="0">
                <a:solidFill>
                  <a:srgbClr val="1F2328"/>
                </a:solidFill>
                <a:latin typeface="맑은 고딕"/>
                <a:ea typeface="맑은 고딕"/>
                <a:cs typeface="맑은 고딕"/>
              </a:rPr>
              <a:t>	레이서는 경주 중에 피트에 서지 않는다</a:t>
            </a:r>
            <a:endParaRPr lang="ko-KR" altLang="en-US" sz="1800" b="0" dirty="0">
              <a:solidFill>
                <a:srgbClr val="1F2328"/>
              </a:solidFill>
              <a:latin typeface="맑은 고딕"/>
              <a:ea typeface="맑은 고딕"/>
              <a:cs typeface="맑은 고딕"/>
            </a:endParaRPr>
          </a:p>
        </p:txBody>
      </p:sp>
      <p:sp>
        <p:nvSpPr>
          <p:cNvPr id="13" name="choice_3"/>
          <p:cNvSpPr txBox="1"/>
          <p:nvPr/>
        </p:nvSpPr>
        <p:spPr>
          <a:xfrm>
            <a:off x="457200" y="3672332"/>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③</a:t>
            </a:r>
            <a:r>
              <a:rPr lang="ko-KR" altLang="en-US" sz="1800" b="0" dirty="0">
                <a:solidFill>
                  <a:srgbClr val="1F2328"/>
                </a:solidFill>
                <a:latin typeface="맑은 고딕"/>
                <a:ea typeface="맑은 고딕"/>
                <a:cs typeface="맑은 고딕"/>
              </a:rPr>
              <a:t>	피트 크루는 보통 두세 명으로 구성된다</a:t>
            </a:r>
            <a:endParaRPr lang="ko-KR" altLang="en-US" sz="1800" b="0" dirty="0">
              <a:solidFill>
                <a:srgbClr val="1F2328"/>
              </a:solidFill>
              <a:latin typeface="맑은 고딕"/>
              <a:ea typeface="맑은 고딕"/>
              <a:cs typeface="맑은 고딕"/>
            </a:endParaRPr>
          </a:p>
        </p:txBody>
      </p:sp>
      <p:sp>
        <p:nvSpPr>
          <p:cNvPr id="14" name="choice_4"/>
          <p:cNvSpPr txBox="1"/>
          <p:nvPr/>
        </p:nvSpPr>
        <p:spPr>
          <a:xfrm>
            <a:off x="457200" y="4079748"/>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④</a:t>
            </a:r>
            <a:r>
              <a:rPr lang="ko-KR" altLang="en-US" sz="1800" b="0" dirty="0">
                <a:solidFill>
                  <a:srgbClr val="1F2328"/>
                </a:solidFill>
                <a:latin typeface="맑은 고딕"/>
                <a:ea typeface="맑은 고딕"/>
                <a:cs typeface="맑은 고딕"/>
              </a:rPr>
              <a:t>	피트 정지는 짧게는 2초 정도일 수 있다</a:t>
            </a:r>
            <a:endParaRPr lang="ko-KR" altLang="en-US" sz="1800" b="0" dirty="0">
              <a:solidFill>
                <a:srgbClr val="1F2328"/>
              </a:solidFill>
              <a:latin typeface="맑은 고딕"/>
              <a:ea typeface="맑은 고딕"/>
              <a:cs typeface="맑은 고딕"/>
            </a:endParaRPr>
          </a:p>
        </p:txBody>
      </p:sp>
      <p:sp>
        <p:nvSpPr>
          <p:cNvPr id="15" name="rv_pick"/>
          <p:cNvSpPr txBox="1"/>
          <p:nvPr/>
        </p:nvSpPr>
        <p:spPr>
          <a:xfrm>
            <a:off x="457200" y="4079748"/>
            <a:ext cx="11277295" cy="379984"/>
          </a:xfrm>
          <a:prstGeom prst="rect">
            <a:avLst/>
          </a:prstGeom>
          <a:solidFill>
            <a:srgbClr val="FFF3C4"/>
          </a:solid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C00000"/>
                </a:solidFill>
                <a:latin typeface="맑은 고딕"/>
                <a:ea typeface="맑은 고딕"/>
                <a:cs typeface="맑은 고딕"/>
              </a:rPr>
              <a:t>④</a:t>
            </a:r>
            <a:r>
              <a:rPr lang="ko-KR" altLang="en-US" sz="1800" b="0" dirty="0">
                <a:solidFill>
                  <a:srgbClr val="C00000"/>
                </a:solidFill>
                <a:latin typeface="맑은 고딕"/>
                <a:ea typeface="맑은 고딕"/>
                <a:cs typeface="맑은 고딕"/>
              </a:rPr>
              <a:t>	피트 정지는 짧게는 2초 정도일 수 있다</a:t>
            </a:r>
            <a:endParaRPr lang="ko-KR" altLang="en-US" sz="1800" b="0" dirty="0">
              <a:solidFill>
                <a:srgbClr val="C00000"/>
              </a:solidFill>
              <a:latin typeface="맑은 고딕"/>
              <a:ea typeface="맑은 고딕"/>
              <a:cs typeface="맑은 고딕"/>
            </a:endParaRPr>
          </a:p>
        </p:txBody>
      </p:sp>
      <p:sp>
        <p:nvSpPr>
          <p:cNvPr id="16" name="choice_5"/>
          <p:cNvSpPr txBox="1"/>
          <p:nvPr/>
        </p:nvSpPr>
        <p:spPr>
          <a:xfrm>
            <a:off x="457200" y="4487164"/>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⑤</a:t>
            </a:r>
            <a:r>
              <a:rPr lang="ko-KR" altLang="en-US" sz="1800" b="0" dirty="0">
                <a:solidFill>
                  <a:srgbClr val="1F2328"/>
                </a:solidFill>
                <a:latin typeface="맑은 고딕"/>
                <a:ea typeface="맑은 고딕"/>
                <a:cs typeface="맑은 고딕"/>
              </a:rPr>
              <a:t>	피트 크루의 주 업무는 관중 안내이다</a:t>
            </a:r>
            <a:endParaRPr lang="ko-KR" altLang="en-US" sz="1800" b="0" dirty="0">
              <a:solidFill>
                <a:srgbClr val="1F2328"/>
              </a:solidFill>
              <a:latin typeface="맑은 고딕"/>
              <a:ea typeface="맑은 고딕"/>
              <a:cs typeface="맑은 고딕"/>
            </a:endParaRPr>
          </a:p>
        </p:txBody>
      </p:sp>
      <p:sp>
        <p:nvSpPr>
          <p:cNvPr id="17" name="rv_answer"/>
          <p:cNvSpPr/>
          <p:nvPr/>
        </p:nvSpPr>
        <p:spPr>
          <a:xfrm>
            <a:off x="457200" y="497687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④ </a:t>
            </a:r>
            <a:r>
              <a:rPr lang="ko-KR" altLang="en-US" sz="1900" b="1" dirty="0">
                <a:solidFill>
                  <a:srgbClr val="5A4200"/>
                </a:solidFill>
                <a:latin typeface="맑은 고딕"/>
                <a:ea typeface="맑은 고딕"/>
                <a:cs typeface="맑은 고딕"/>
              </a:rPr>
              <a:t>피트 정지는 짧게는 2초 정도일 수 있다</a:t>
            </a:r>
            <a:endParaRPr lang="ko-KR" altLang="en-US" sz="1900" b="1" dirty="0">
              <a:solidFill>
                <a:srgbClr val="5A4200"/>
              </a:solidFill>
              <a:latin typeface="맑은 고딕"/>
              <a:ea typeface="맑은 고딕"/>
              <a:cs typeface="맑은 고딕"/>
            </a:endParaRPr>
          </a:p>
        </p:txBody>
      </p:sp>
      <p:sp>
        <p:nvSpPr>
          <p:cNvPr id="18" name="rv_why"/>
          <p:cNvSpPr/>
          <p:nvPr/>
        </p:nvSpPr>
        <p:spPr>
          <a:xfrm>
            <a:off x="457200" y="5575808"/>
            <a:ext cx="11277295" cy="84327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피트 정지는 짧게는 2초일 수 있다고 했다. 이와 같은 ④가 맞다.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250"/>
                                        <p:tgtEl>
                                          <p:spTgt spid="1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25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25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7" grpId="0" animBg="1"/>
      <p:bldP spid="9" grpId="0" animBg="1"/>
      <p:bldP spid="10" grpId="0" animBg="1"/>
      <p:bldP spid="18" grpId="0" animBg="1"/>
    </p:bldLst>
  </p:timing>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L5-3</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2 · 1</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1. 주어진 글 다음에 이어질 글의 순서로 가장 적절한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5</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정답 원리</a:t>
            </a:r>
            <a:endParaRPr lang="ko-KR" altLang="en-US" sz="1000" b="0" dirty="0">
              <a:solidFill>
                <a:srgbClr val="7A808C"/>
              </a:solidFill>
              <a:latin typeface="맑은 고딕"/>
              <a:ea typeface="맑은 고딕"/>
              <a:cs typeface="맑은 고딕"/>
            </a:endParaRPr>
          </a:p>
        </p:txBody>
      </p:sp>
      <p:sp>
        <p:nvSpPr>
          <p:cNvPr id="7" name="given_card"/>
          <p:cNvSpPr/>
          <p:nvPr/>
        </p:nvSpPr>
        <p:spPr>
          <a:xfrm>
            <a:off x="457200" y="950976"/>
            <a:ext cx="11277295" cy="744728"/>
          </a:xfrm>
          <a:prstGeom prst="roundRect">
            <a:avLst>
              <a:gd name="adj" fmla="val 6000"/>
            </a:avLst>
          </a:prstGeom>
          <a:solidFill>
            <a:srgbClr val="FFFFFF"/>
          </a:solidFill>
          <a:ln w="15875">
            <a:solidFill>
              <a:srgbClr val="1E2A5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given"/>
          <p:cNvSpPr txBox="1"/>
          <p:nvPr/>
        </p:nvSpPr>
        <p:spPr>
          <a:xfrm>
            <a:off x="457200" y="950976"/>
            <a:ext cx="11277295" cy="744728"/>
          </a:xfrm>
          <a:prstGeom prst="rect">
            <a:avLst/>
          </a:prstGeom>
          <a:noFill/>
        </p:spPr>
        <p:txBody>
          <a:bodyPr wrap="square" lIns="201168" tIns="100584" rIns="201168" bIns="100584" anchor="t" rtlCol="0">
            <a:noAutofit/>
          </a:bodyPr>
          <a:lstStyle/>
          <a:p>
            <a:pPr algn="l">
              <a:lnSpc>
                <a:spcPts val="2140"/>
              </a:lnSpc>
              <a:spcBef>
                <a:spcPts val="0"/>
              </a:spcBef>
              <a:spcAft>
                <a:spcPts val="0"/>
              </a:spcAft>
              <a:buNone/>
            </a:pPr>
            <a:r>
              <a:rPr lang="en-US" altLang="ko-KR" sz="1650" b="0" dirty="0">
                <a:solidFill>
                  <a:srgbClr val="1F2328"/>
                </a:solidFill>
                <a:latin typeface="Calibri"/>
                <a:ea typeface="맑은 고딕"/>
                <a:cs typeface="Calibri"/>
              </a:rPr>
              <a:t>You may only see the car and the driver during most car races, but there is a team behind the driver.</a:t>
            </a:r>
            <a:endParaRPr lang="en-US" altLang="ko-KR" sz="1650" b="0" dirty="0">
              <a:solidFill>
                <a:srgbClr val="1F2328"/>
              </a:solidFill>
              <a:latin typeface="Calibri"/>
              <a:ea typeface="맑은 고딕"/>
              <a:cs typeface="Calibri"/>
            </a:endParaRPr>
          </a:p>
        </p:txBody>
      </p:sp>
      <p:sp>
        <p:nvSpPr>
          <p:cNvPr id="9" name="parts_card"/>
          <p:cNvSpPr/>
          <p:nvPr/>
        </p:nvSpPr>
        <p:spPr>
          <a:xfrm>
            <a:off x="457200" y="1823720"/>
            <a:ext cx="11277295" cy="2440431"/>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parts"/>
          <p:cNvSpPr txBox="1"/>
          <p:nvPr/>
        </p:nvSpPr>
        <p:spPr>
          <a:xfrm>
            <a:off x="457200" y="1823720"/>
            <a:ext cx="11277295" cy="2440431"/>
          </a:xfrm>
          <a:prstGeom prst="rect">
            <a:avLst/>
          </a:prstGeom>
          <a:noFill/>
        </p:spPr>
        <p:txBody>
          <a:bodyPr wrap="square" lIns="201168" tIns="118872" rIns="201168" bIns="118872" anchor="t" rtlCol="0">
            <a:noAutofit/>
          </a:bodyPr>
          <a:lstStyle/>
          <a:p>
            <a:pPr algn="just" marL="439420" indent="-439420">
              <a:lnSpc>
                <a:spcPts val="2140"/>
              </a:lnSpc>
              <a:spcBef>
                <a:spcPts val="0"/>
              </a:spcBef>
              <a:spcAft>
                <a:spcPts val="740"/>
              </a:spcAft>
              <a:buNone/>
              <a:tabLst>
                <a:tab pos="439420" algn="l"/>
              </a:tabLst>
            </a:pPr>
            <a:r>
              <a:rPr lang="en-US" altLang="ko-KR" sz="1650" b="1" dirty="0">
                <a:solidFill>
                  <a:srgbClr val="1E2A5A"/>
                </a:solidFill>
                <a:latin typeface="Calibri"/>
                <a:ea typeface="맑은 고딕"/>
                <a:cs typeface="Calibri"/>
              </a:rPr>
              <a:t>(A)</a:t>
            </a:r>
            <a:r>
              <a:rPr lang="en-US" altLang="ko-KR" sz="1650" b="0" dirty="0">
                <a:solidFill>
                  <a:srgbClr val="1F2328"/>
                </a:solidFill>
                <a:latin typeface="Calibri"/>
                <a:ea typeface="맑은 고딕"/>
                <a:cs typeface="Calibri"/>
              </a:rPr>
              <a:t>	Therefore, the pit crew has to work in perfect harmony. The driver may get all the attention, but as people say, “Races are won in the pits.”</a:t>
            </a:r>
            <a:endParaRPr lang="en-US" altLang="ko-KR" sz="1650" b="0" dirty="0">
              <a:solidFill>
                <a:srgbClr val="1F2328"/>
              </a:solidFill>
              <a:latin typeface="Calibri"/>
              <a:ea typeface="맑은 고딕"/>
              <a:cs typeface="Calibri"/>
            </a:endParaRPr>
          </a:p>
          <a:p>
            <a:pPr algn="just" marL="439420" indent="-439420">
              <a:lnSpc>
                <a:spcPts val="2140"/>
              </a:lnSpc>
              <a:spcBef>
                <a:spcPts val="0"/>
              </a:spcBef>
              <a:spcAft>
                <a:spcPts val="740"/>
              </a:spcAft>
              <a:buNone/>
              <a:tabLst>
                <a:tab pos="439420" algn="l"/>
              </a:tabLst>
            </a:pPr>
            <a:r>
              <a:rPr lang="en-US" altLang="ko-KR" sz="1650" b="1" dirty="0">
                <a:solidFill>
                  <a:srgbClr val="1E2A5A"/>
                </a:solidFill>
                <a:latin typeface="Calibri"/>
                <a:ea typeface="맑은 고딕"/>
                <a:cs typeface="Calibri"/>
              </a:rPr>
              <a:t>(B)</a:t>
            </a:r>
            <a:r>
              <a:rPr lang="en-US" altLang="ko-KR" sz="1650" b="0" dirty="0">
                <a:solidFill>
                  <a:srgbClr val="1F2328"/>
                </a:solidFill>
                <a:latin typeface="Calibri"/>
                <a:ea typeface="맑은 고딕"/>
                <a:cs typeface="Calibri"/>
              </a:rPr>
              <a:t>	This team is called a pit crew. A pit is a place on the side of the race track, and drivers stop there several times during a race. The main job of the pit crew is to check the car and change the tires.</a:t>
            </a:r>
            <a:endParaRPr lang="en-US" altLang="ko-KR" sz="1650" b="0" dirty="0">
              <a:solidFill>
                <a:srgbClr val="1F2328"/>
              </a:solidFill>
              <a:latin typeface="Calibri"/>
              <a:ea typeface="맑은 고딕"/>
              <a:cs typeface="Calibri"/>
            </a:endParaRPr>
          </a:p>
          <a:p>
            <a:pPr algn="just" marL="439420" indent="-439420">
              <a:lnSpc>
                <a:spcPts val="2140"/>
              </a:lnSpc>
              <a:spcBef>
                <a:spcPts val="0"/>
              </a:spcBef>
              <a:spcAft>
                <a:spcPts val="740"/>
              </a:spcAft>
              <a:buNone/>
              <a:tabLst>
                <a:tab pos="439420" algn="l"/>
              </a:tabLst>
            </a:pPr>
            <a:r>
              <a:rPr lang="en-US" altLang="ko-KR" sz="1650" b="1" dirty="0">
                <a:solidFill>
                  <a:srgbClr val="1E2A5A"/>
                </a:solidFill>
                <a:latin typeface="Calibri"/>
                <a:ea typeface="맑은 고딕"/>
                <a:cs typeface="Calibri"/>
              </a:rPr>
              <a:t>(C)</a:t>
            </a:r>
            <a:r>
              <a:rPr lang="en-US" altLang="ko-KR" sz="1650" b="0" dirty="0">
                <a:solidFill>
                  <a:srgbClr val="1F2328"/>
                </a:solidFill>
                <a:latin typeface="Calibri"/>
                <a:ea typeface="맑은 고딕"/>
                <a:cs typeface="Calibri"/>
              </a:rPr>
              <a:t>	Changing the tires is especially important because the tires wear out easily in a high speed race. A pit stop can be as short as 2 seconds, and there are as many as 20 members on a crew.</a:t>
            </a:r>
            <a:endParaRPr lang="en-US" altLang="ko-KR" sz="1650" b="0" dirty="0">
              <a:solidFill>
                <a:srgbClr val="1F2328"/>
              </a:solidFill>
              <a:latin typeface="Calibri"/>
              <a:ea typeface="맑은 고딕"/>
              <a:cs typeface="Calibri"/>
            </a:endParaRPr>
          </a:p>
        </p:txBody>
      </p:sp>
      <p:sp>
        <p:nvSpPr>
          <p:cNvPr id="11" name="options"/>
          <p:cNvSpPr txBox="1"/>
          <p:nvPr/>
        </p:nvSpPr>
        <p:spPr>
          <a:xfrm>
            <a:off x="457200" y="4373880"/>
            <a:ext cx="11277295" cy="420624"/>
          </a:xfrm>
          <a:prstGeom prst="rect">
            <a:avLst/>
          </a:prstGeom>
          <a:noFill/>
        </p:spPr>
        <p:txBody>
          <a:bodyPr wrap="square" lIns="91440" tIns="18288" rIns="91440" bIns="18288" anchor="ctr" rtlCol="0">
            <a:noAutofit/>
          </a:bodyPr>
          <a:lstStyle/>
          <a:p>
            <a:pPr algn="ctr">
              <a:lnSpc>
                <a:spcPts val="2560"/>
              </a:lnSpc>
              <a:spcBef>
                <a:spcPts val="0"/>
              </a:spcBef>
              <a:spcAft>
                <a:spcPts val="0"/>
              </a:spcAft>
              <a:buNone/>
            </a:pPr>
            <a:r>
              <a:rPr lang="ko-KR" altLang="en-US" sz="1800" b="1" dirty="0">
                <a:solidFill>
                  <a:srgbClr val="1E2A5A"/>
                </a:solidFill>
                <a:latin typeface="맑은 고딕"/>
                <a:ea typeface="맑은 고딕"/>
                <a:cs typeface="맑은 고딕"/>
              </a:rPr>
              <a:t>① </a:t>
            </a:r>
            <a:r>
              <a:rPr lang="en-US" altLang="ko-KR" sz="1800" b="0" dirty="0">
                <a:solidFill>
                  <a:srgbClr val="1F2328"/>
                </a:solidFill>
                <a:latin typeface="Calibri"/>
                <a:ea typeface="맑은 고딕"/>
                <a:cs typeface="Calibri"/>
              </a:rPr>
              <a:t>(A) - (C) - (B)</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② </a:t>
            </a:r>
            <a:r>
              <a:rPr lang="en-US" altLang="ko-KR" sz="1800" b="0" dirty="0">
                <a:solidFill>
                  <a:srgbClr val="1F2328"/>
                </a:solidFill>
                <a:latin typeface="Calibri"/>
                <a:ea typeface="맑은 고딕"/>
                <a:cs typeface="Calibri"/>
              </a:rPr>
              <a:t>(B) - (A) - (C)</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③ </a:t>
            </a:r>
            <a:r>
              <a:rPr lang="en-US" altLang="ko-KR" sz="1800" b="0" dirty="0">
                <a:solidFill>
                  <a:srgbClr val="1F2328"/>
                </a:solidFill>
                <a:latin typeface="Calibri"/>
                <a:ea typeface="맑은 고딕"/>
                <a:cs typeface="Calibri"/>
              </a:rPr>
              <a:t>(B) - (C) - (A)</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④ </a:t>
            </a:r>
            <a:r>
              <a:rPr lang="en-US" altLang="ko-KR" sz="1800" b="0" dirty="0">
                <a:solidFill>
                  <a:srgbClr val="1F2328"/>
                </a:solidFill>
                <a:latin typeface="Calibri"/>
                <a:ea typeface="맑은 고딕"/>
                <a:cs typeface="Calibri"/>
              </a:rPr>
              <a:t>(C) - (A) - (B)</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⑤ </a:t>
            </a:r>
            <a:r>
              <a:rPr lang="en-US" altLang="ko-KR" sz="1800" b="0" dirty="0">
                <a:solidFill>
                  <a:srgbClr val="1F2328"/>
                </a:solidFill>
                <a:latin typeface="Calibri"/>
                <a:ea typeface="맑은 고딕"/>
                <a:cs typeface="Calibri"/>
              </a:rPr>
              <a:t>(C) - (B) - (A)</a:t>
            </a:r>
            <a:endParaRPr lang="en-US" altLang="ko-KR" sz="1800" b="0" dirty="0">
              <a:solidFill>
                <a:srgbClr val="1F2328"/>
              </a:solidFill>
              <a:latin typeface="Calibri"/>
              <a:ea typeface="맑은 고딕"/>
              <a:cs typeface="Calibri"/>
            </a:endParaRPr>
          </a:p>
        </p:txBody>
      </p:sp>
      <p:sp>
        <p:nvSpPr>
          <p:cNvPr id="12" name="rv_pick"/>
          <p:cNvSpPr txBox="1"/>
          <p:nvPr/>
        </p:nvSpPr>
        <p:spPr>
          <a:xfrm>
            <a:off x="457200" y="4373880"/>
            <a:ext cx="11277295" cy="420624"/>
          </a:xfrm>
          <a:prstGeom prst="rect">
            <a:avLst/>
          </a:prstGeom>
          <a:noFill/>
        </p:spPr>
        <p:txBody>
          <a:bodyPr wrap="square" lIns="91440" tIns="18288" rIns="91440" bIns="18288" anchor="ctr" rtlCol="0">
            <a:noAutofit/>
          </a:bodyPr>
          <a:lstStyle/>
          <a:p>
            <a:pPr algn="ctr">
              <a:lnSpc>
                <a:spcPts val="2560"/>
              </a:lnSpc>
              <a:spcBef>
                <a:spcPts val="0"/>
              </a:spcBef>
              <a:spcAft>
                <a:spcPts val="0"/>
              </a:spcAft>
              <a:buNone/>
            </a:pPr>
            <a:r>
              <a:rPr lang="ko-KR" altLang="en-US" sz="1800" b="1" dirty="0">
                <a:solidFill>
                  <a:srgbClr val="1E2A5A">
                    <a:alpha val="0"/>
                  </a:srgbClr>
                </a:solidFill>
                <a:latin typeface="맑은 고딕"/>
                <a:ea typeface="맑은 고딕"/>
                <a:cs typeface="맑은 고딕"/>
              </a:rPr>
              <a:t>① </a:t>
            </a:r>
            <a:r>
              <a:rPr lang="en-US" altLang="ko-KR" sz="1800" b="0" dirty="0">
                <a:solidFill>
                  <a:srgbClr val="1F2328">
                    <a:alpha val="0"/>
                  </a:srgbClr>
                </a:solidFill>
                <a:latin typeface="Calibri"/>
                <a:ea typeface="맑은 고딕"/>
                <a:cs typeface="Calibri"/>
              </a:rPr>
              <a:t>(A) - (C) - (B)</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② </a:t>
            </a:r>
            <a:r>
              <a:rPr lang="en-US" altLang="ko-KR" sz="1800" b="0" dirty="0">
                <a:solidFill>
                  <a:srgbClr val="1F2328">
                    <a:alpha val="0"/>
                  </a:srgbClr>
                </a:solidFill>
                <a:latin typeface="Calibri"/>
                <a:ea typeface="맑은 고딕"/>
                <a:cs typeface="Calibri"/>
              </a:rPr>
              <a:t>(B) - (A) - (C)</a:t>
            </a:r>
            <a:r>
              <a:rPr lang="en-US" altLang="ko-KR" sz="1800" b="0" dirty="0">
                <a:solidFill>
                  <a:srgbClr val="1F2328">
                    <a:alpha val="0"/>
                  </a:srgbClr>
                </a:solidFill>
                <a:latin typeface="Calibri"/>
                <a:ea typeface="맑은 고딕"/>
                <a:cs typeface="Calibri"/>
              </a:rPr>
              <a:t>       </a:t>
            </a:r>
            <a:r>
              <a:rPr lang="ko-KR" altLang="en-US" sz="1800" b="1" dirty="0">
                <a:solidFill>
                  <a:srgbClr val="C00000"/>
                </a:solidFill>
                <a:highlight>
                  <a:srgbClr val="FFFFFF"/>
                </a:highlight>
                <a:latin typeface="맑은 고딕"/>
                <a:ea typeface="맑은 고딕"/>
                <a:cs typeface="맑은 고딕"/>
              </a:rPr>
              <a:t>③ </a:t>
            </a:r>
            <a:r>
              <a:rPr lang="en-US" altLang="ko-KR" sz="1800" b="0" dirty="0">
                <a:solidFill>
                  <a:srgbClr val="C00000"/>
                </a:solidFill>
                <a:highlight>
                  <a:srgbClr val="FFFFFF"/>
                </a:highlight>
                <a:latin typeface="Calibri"/>
                <a:ea typeface="맑은 고딕"/>
                <a:cs typeface="Calibri"/>
              </a:rPr>
              <a:t>(B) - (C) - (A)</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④ </a:t>
            </a:r>
            <a:r>
              <a:rPr lang="en-US" altLang="ko-KR" sz="1800" b="0" dirty="0">
                <a:solidFill>
                  <a:srgbClr val="1F2328">
                    <a:alpha val="0"/>
                  </a:srgbClr>
                </a:solidFill>
                <a:latin typeface="Calibri"/>
                <a:ea typeface="맑은 고딕"/>
                <a:cs typeface="Calibri"/>
              </a:rPr>
              <a:t>(C) - (A) - (B)</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⑤ </a:t>
            </a:r>
            <a:r>
              <a:rPr lang="en-US" altLang="ko-KR" sz="1800" b="0" dirty="0">
                <a:solidFill>
                  <a:srgbClr val="1F2328">
                    <a:alpha val="0"/>
                  </a:srgbClr>
                </a:solidFill>
                <a:latin typeface="Calibri"/>
                <a:ea typeface="맑은 고딕"/>
                <a:cs typeface="Calibri"/>
              </a:rPr>
              <a:t>(C) - (B) - (A)</a:t>
            </a:r>
            <a:endParaRPr lang="en-US" altLang="ko-KR" sz="1800" b="0" dirty="0">
              <a:solidFill>
                <a:srgbClr val="1F2328"/>
              </a:solidFill>
              <a:latin typeface="Calibri"/>
              <a:ea typeface="맑은 고딕"/>
              <a:cs typeface="Calibri"/>
            </a:endParaRPr>
          </a:p>
        </p:txBody>
      </p:sp>
      <p:sp>
        <p:nvSpPr>
          <p:cNvPr id="13" name="rv_answer"/>
          <p:cNvSpPr/>
          <p:nvPr/>
        </p:nvSpPr>
        <p:spPr>
          <a:xfrm>
            <a:off x="457200" y="4885944"/>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③ </a:t>
            </a:r>
            <a:r>
              <a:rPr lang="en-US" altLang="ko-KR" sz="1900" b="1" dirty="0">
                <a:solidFill>
                  <a:srgbClr val="5A4200"/>
                </a:solidFill>
                <a:latin typeface="Calibri"/>
                <a:ea typeface="맑은 고딕"/>
                <a:cs typeface="Calibri"/>
              </a:rPr>
              <a:t>(B) - (C) - (A)</a:t>
            </a:r>
            <a:endParaRPr lang="en-US" altLang="ko-KR" sz="1900" b="1" dirty="0">
              <a:solidFill>
                <a:srgbClr val="5A4200"/>
              </a:solidFill>
              <a:latin typeface="Calibri"/>
              <a:ea typeface="맑은 고딕"/>
              <a:cs typeface="Calibri"/>
            </a:endParaRPr>
          </a:p>
        </p:txBody>
      </p:sp>
      <p:sp>
        <p:nvSpPr>
          <p:cNvPr id="14" name="rv_why"/>
          <p:cNvSpPr/>
          <p:nvPr/>
        </p:nvSpPr>
        <p:spPr>
          <a:xfrm>
            <a:off x="457200" y="5484876"/>
            <a:ext cx="11277295" cy="934211"/>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레이서 뒤에 팀이 있다 → (B) 'This team'을 피트 크루라 부르고 주된 일을 설명한다 → (C) 타이어 교체가 중요하고 정지는 짧다 → (A) 'Therefore' 조화롭게 일해야 한다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25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250"/>
                                        <p:tgtEl>
                                          <p:spTgt spid="1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2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animBg="1"/>
    </p:bldLst>
  </p:timing>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L5-3</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2 · 2</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2. 주어진 글 다음에 이어질 글의 순서로 가장 적절한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5</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정답 원리</a:t>
            </a:r>
            <a:endParaRPr lang="ko-KR" altLang="en-US" sz="1000" b="0" dirty="0">
              <a:solidFill>
                <a:srgbClr val="7A808C"/>
              </a:solidFill>
              <a:latin typeface="맑은 고딕"/>
              <a:ea typeface="맑은 고딕"/>
              <a:cs typeface="맑은 고딕"/>
            </a:endParaRPr>
          </a:p>
        </p:txBody>
      </p:sp>
      <p:sp>
        <p:nvSpPr>
          <p:cNvPr id="7" name="given_card"/>
          <p:cNvSpPr/>
          <p:nvPr/>
        </p:nvSpPr>
        <p:spPr>
          <a:xfrm>
            <a:off x="457200" y="950976"/>
            <a:ext cx="11277295" cy="744728"/>
          </a:xfrm>
          <a:prstGeom prst="roundRect">
            <a:avLst>
              <a:gd name="adj" fmla="val 6000"/>
            </a:avLst>
          </a:prstGeom>
          <a:solidFill>
            <a:srgbClr val="FFFFFF"/>
          </a:solidFill>
          <a:ln w="15875">
            <a:solidFill>
              <a:srgbClr val="1E2A5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given"/>
          <p:cNvSpPr txBox="1"/>
          <p:nvPr/>
        </p:nvSpPr>
        <p:spPr>
          <a:xfrm>
            <a:off x="457200" y="950976"/>
            <a:ext cx="11277295" cy="744728"/>
          </a:xfrm>
          <a:prstGeom prst="rect">
            <a:avLst/>
          </a:prstGeom>
          <a:noFill/>
        </p:spPr>
        <p:txBody>
          <a:bodyPr wrap="square" lIns="201168" tIns="100584" rIns="201168" bIns="100584" anchor="t" rtlCol="0">
            <a:noAutofit/>
          </a:bodyPr>
          <a:lstStyle/>
          <a:p>
            <a:pPr algn="l">
              <a:lnSpc>
                <a:spcPts val="2140"/>
              </a:lnSpc>
              <a:spcBef>
                <a:spcPts val="0"/>
              </a:spcBef>
              <a:spcAft>
                <a:spcPts val="0"/>
              </a:spcAft>
              <a:buNone/>
            </a:pPr>
            <a:r>
              <a:rPr lang="en-US" altLang="ko-KR" sz="1650" b="0" dirty="0">
                <a:solidFill>
                  <a:srgbClr val="1F2328"/>
                </a:solidFill>
                <a:latin typeface="Calibri"/>
                <a:ea typeface="맑은 고딕"/>
                <a:cs typeface="Calibri"/>
              </a:rPr>
              <a:t>You may only see the car and the driver during most car races, but there is a team behind the driver.</a:t>
            </a:r>
            <a:endParaRPr lang="en-US" altLang="ko-KR" sz="1650" b="0" dirty="0">
              <a:solidFill>
                <a:srgbClr val="1F2328"/>
              </a:solidFill>
              <a:latin typeface="Calibri"/>
              <a:ea typeface="맑은 고딕"/>
              <a:cs typeface="Calibri"/>
            </a:endParaRPr>
          </a:p>
        </p:txBody>
      </p:sp>
      <p:sp>
        <p:nvSpPr>
          <p:cNvPr id="9" name="parts_card"/>
          <p:cNvSpPr/>
          <p:nvPr/>
        </p:nvSpPr>
        <p:spPr>
          <a:xfrm>
            <a:off x="457200" y="1823720"/>
            <a:ext cx="11277295" cy="2440431"/>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parts"/>
          <p:cNvSpPr txBox="1"/>
          <p:nvPr/>
        </p:nvSpPr>
        <p:spPr>
          <a:xfrm>
            <a:off x="457200" y="1823720"/>
            <a:ext cx="11277295" cy="2440431"/>
          </a:xfrm>
          <a:prstGeom prst="rect">
            <a:avLst/>
          </a:prstGeom>
          <a:noFill/>
        </p:spPr>
        <p:txBody>
          <a:bodyPr wrap="square" lIns="201168" tIns="118872" rIns="201168" bIns="118872" anchor="t" rtlCol="0">
            <a:noAutofit/>
          </a:bodyPr>
          <a:lstStyle/>
          <a:p>
            <a:pPr algn="just" marL="439420" indent="-439420">
              <a:lnSpc>
                <a:spcPts val="2140"/>
              </a:lnSpc>
              <a:spcBef>
                <a:spcPts val="0"/>
              </a:spcBef>
              <a:spcAft>
                <a:spcPts val="740"/>
              </a:spcAft>
              <a:buNone/>
              <a:tabLst>
                <a:tab pos="439420" algn="l"/>
              </a:tabLst>
            </a:pPr>
            <a:r>
              <a:rPr lang="en-US" altLang="ko-KR" sz="1650" b="1" dirty="0">
                <a:solidFill>
                  <a:srgbClr val="1E2A5A"/>
                </a:solidFill>
                <a:latin typeface="Calibri"/>
                <a:ea typeface="맑은 고딕"/>
                <a:cs typeface="Calibri"/>
              </a:rPr>
              <a:t>(A)</a:t>
            </a:r>
            <a:r>
              <a:rPr lang="en-US" altLang="ko-KR" sz="1650" b="0" dirty="0">
                <a:solidFill>
                  <a:srgbClr val="1F2328"/>
                </a:solidFill>
                <a:latin typeface="Calibri"/>
                <a:ea typeface="맑은 고딕"/>
                <a:cs typeface="Calibri"/>
              </a:rPr>
              <a:t>	Therefore, the pit crew has to work in perfect harmony. The driver may get all the attention, but as people say, “Races are won in the pits.”</a:t>
            </a:r>
            <a:endParaRPr lang="en-US" altLang="ko-KR" sz="1650" b="0" dirty="0">
              <a:solidFill>
                <a:srgbClr val="1F2328"/>
              </a:solidFill>
              <a:latin typeface="Calibri"/>
              <a:ea typeface="맑은 고딕"/>
              <a:cs typeface="Calibri"/>
            </a:endParaRPr>
          </a:p>
          <a:p>
            <a:pPr algn="just" marL="439420" indent="-439420">
              <a:lnSpc>
                <a:spcPts val="2140"/>
              </a:lnSpc>
              <a:spcBef>
                <a:spcPts val="0"/>
              </a:spcBef>
              <a:spcAft>
                <a:spcPts val="740"/>
              </a:spcAft>
              <a:buNone/>
              <a:tabLst>
                <a:tab pos="439420" algn="l"/>
              </a:tabLst>
            </a:pPr>
            <a:r>
              <a:rPr lang="en-US" altLang="ko-KR" sz="1650" b="1" dirty="0">
                <a:solidFill>
                  <a:srgbClr val="1E2A5A"/>
                </a:solidFill>
                <a:latin typeface="Calibri"/>
                <a:ea typeface="맑은 고딕"/>
                <a:cs typeface="Calibri"/>
              </a:rPr>
              <a:t>(B)</a:t>
            </a:r>
            <a:r>
              <a:rPr lang="en-US" altLang="ko-KR" sz="1650" b="0" dirty="0">
                <a:solidFill>
                  <a:srgbClr val="1F2328"/>
                </a:solidFill>
                <a:latin typeface="Calibri"/>
                <a:ea typeface="맑은 고딕"/>
                <a:cs typeface="Calibri"/>
              </a:rPr>
              <a:t>	Changing the tires is especially important because the tires wear out easily in a high speed race. A pit stop can be as short as 2 seconds, and there are as many as 20 members on a crew.</a:t>
            </a:r>
            <a:endParaRPr lang="en-US" altLang="ko-KR" sz="1650" b="0" dirty="0">
              <a:solidFill>
                <a:srgbClr val="1F2328"/>
              </a:solidFill>
              <a:latin typeface="Calibri"/>
              <a:ea typeface="맑은 고딕"/>
              <a:cs typeface="Calibri"/>
            </a:endParaRPr>
          </a:p>
          <a:p>
            <a:pPr algn="just" marL="439420" indent="-439420">
              <a:lnSpc>
                <a:spcPts val="2140"/>
              </a:lnSpc>
              <a:spcBef>
                <a:spcPts val="0"/>
              </a:spcBef>
              <a:spcAft>
                <a:spcPts val="740"/>
              </a:spcAft>
              <a:buNone/>
              <a:tabLst>
                <a:tab pos="439420" algn="l"/>
              </a:tabLst>
            </a:pPr>
            <a:r>
              <a:rPr lang="en-US" altLang="ko-KR" sz="1650" b="1" dirty="0">
                <a:solidFill>
                  <a:srgbClr val="1E2A5A"/>
                </a:solidFill>
                <a:latin typeface="Calibri"/>
                <a:ea typeface="맑은 고딕"/>
                <a:cs typeface="Calibri"/>
              </a:rPr>
              <a:t>(C)</a:t>
            </a:r>
            <a:r>
              <a:rPr lang="en-US" altLang="ko-KR" sz="1650" b="0" dirty="0">
                <a:solidFill>
                  <a:srgbClr val="1F2328"/>
                </a:solidFill>
                <a:latin typeface="Calibri"/>
                <a:ea typeface="맑은 고딕"/>
                <a:cs typeface="Calibri"/>
              </a:rPr>
              <a:t>	This team is called a pit crew. A pit is a place on the side of the race track, and drivers stop there several times during a race. The main job of the pit crew is to check the car and change the tires.</a:t>
            </a:r>
            <a:endParaRPr lang="en-US" altLang="ko-KR" sz="1650" b="0" dirty="0">
              <a:solidFill>
                <a:srgbClr val="1F2328"/>
              </a:solidFill>
              <a:latin typeface="Calibri"/>
              <a:ea typeface="맑은 고딕"/>
              <a:cs typeface="Calibri"/>
            </a:endParaRPr>
          </a:p>
        </p:txBody>
      </p:sp>
      <p:sp>
        <p:nvSpPr>
          <p:cNvPr id="11" name="options"/>
          <p:cNvSpPr txBox="1"/>
          <p:nvPr/>
        </p:nvSpPr>
        <p:spPr>
          <a:xfrm>
            <a:off x="457200" y="4373880"/>
            <a:ext cx="11277295" cy="420624"/>
          </a:xfrm>
          <a:prstGeom prst="rect">
            <a:avLst/>
          </a:prstGeom>
          <a:noFill/>
        </p:spPr>
        <p:txBody>
          <a:bodyPr wrap="square" lIns="91440" tIns="18288" rIns="91440" bIns="18288" anchor="ctr" rtlCol="0">
            <a:noAutofit/>
          </a:bodyPr>
          <a:lstStyle/>
          <a:p>
            <a:pPr algn="ctr">
              <a:lnSpc>
                <a:spcPts val="2560"/>
              </a:lnSpc>
              <a:spcBef>
                <a:spcPts val="0"/>
              </a:spcBef>
              <a:spcAft>
                <a:spcPts val="0"/>
              </a:spcAft>
              <a:buNone/>
            </a:pPr>
            <a:r>
              <a:rPr lang="ko-KR" altLang="en-US" sz="1800" b="1" dirty="0">
                <a:solidFill>
                  <a:srgbClr val="1E2A5A"/>
                </a:solidFill>
                <a:latin typeface="맑은 고딕"/>
                <a:ea typeface="맑은 고딕"/>
                <a:cs typeface="맑은 고딕"/>
              </a:rPr>
              <a:t>① </a:t>
            </a:r>
            <a:r>
              <a:rPr lang="en-US" altLang="ko-KR" sz="1800" b="0" dirty="0">
                <a:solidFill>
                  <a:srgbClr val="1F2328"/>
                </a:solidFill>
                <a:latin typeface="Calibri"/>
                <a:ea typeface="맑은 고딕"/>
                <a:cs typeface="Calibri"/>
              </a:rPr>
              <a:t>(A) - (C) - (B)</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② </a:t>
            </a:r>
            <a:r>
              <a:rPr lang="en-US" altLang="ko-KR" sz="1800" b="0" dirty="0">
                <a:solidFill>
                  <a:srgbClr val="1F2328"/>
                </a:solidFill>
                <a:latin typeface="Calibri"/>
                <a:ea typeface="맑은 고딕"/>
                <a:cs typeface="Calibri"/>
              </a:rPr>
              <a:t>(B) - (A) - (C)</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③ </a:t>
            </a:r>
            <a:r>
              <a:rPr lang="en-US" altLang="ko-KR" sz="1800" b="0" dirty="0">
                <a:solidFill>
                  <a:srgbClr val="1F2328"/>
                </a:solidFill>
                <a:latin typeface="Calibri"/>
                <a:ea typeface="맑은 고딕"/>
                <a:cs typeface="Calibri"/>
              </a:rPr>
              <a:t>(B) - (C) - (A)</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④ </a:t>
            </a:r>
            <a:r>
              <a:rPr lang="en-US" altLang="ko-KR" sz="1800" b="0" dirty="0">
                <a:solidFill>
                  <a:srgbClr val="1F2328"/>
                </a:solidFill>
                <a:latin typeface="Calibri"/>
                <a:ea typeface="맑은 고딕"/>
                <a:cs typeface="Calibri"/>
              </a:rPr>
              <a:t>(C) - (A) - (B)</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⑤ </a:t>
            </a:r>
            <a:r>
              <a:rPr lang="en-US" altLang="ko-KR" sz="1800" b="0" dirty="0">
                <a:solidFill>
                  <a:srgbClr val="1F2328"/>
                </a:solidFill>
                <a:latin typeface="Calibri"/>
                <a:ea typeface="맑은 고딕"/>
                <a:cs typeface="Calibri"/>
              </a:rPr>
              <a:t>(C) - (B) - (A)</a:t>
            </a:r>
            <a:endParaRPr lang="en-US" altLang="ko-KR" sz="1800" b="0" dirty="0">
              <a:solidFill>
                <a:srgbClr val="1F2328"/>
              </a:solidFill>
              <a:latin typeface="Calibri"/>
              <a:ea typeface="맑은 고딕"/>
              <a:cs typeface="Calibri"/>
            </a:endParaRPr>
          </a:p>
        </p:txBody>
      </p:sp>
      <p:sp>
        <p:nvSpPr>
          <p:cNvPr id="12" name="rv_pick"/>
          <p:cNvSpPr txBox="1"/>
          <p:nvPr/>
        </p:nvSpPr>
        <p:spPr>
          <a:xfrm>
            <a:off x="457200" y="4373880"/>
            <a:ext cx="11277295" cy="420624"/>
          </a:xfrm>
          <a:prstGeom prst="rect">
            <a:avLst/>
          </a:prstGeom>
          <a:noFill/>
        </p:spPr>
        <p:txBody>
          <a:bodyPr wrap="square" lIns="91440" tIns="18288" rIns="91440" bIns="18288" anchor="ctr" rtlCol="0">
            <a:noAutofit/>
          </a:bodyPr>
          <a:lstStyle/>
          <a:p>
            <a:pPr algn="ctr">
              <a:lnSpc>
                <a:spcPts val="2560"/>
              </a:lnSpc>
              <a:spcBef>
                <a:spcPts val="0"/>
              </a:spcBef>
              <a:spcAft>
                <a:spcPts val="0"/>
              </a:spcAft>
              <a:buNone/>
            </a:pPr>
            <a:r>
              <a:rPr lang="ko-KR" altLang="en-US" sz="1800" b="1" dirty="0">
                <a:solidFill>
                  <a:srgbClr val="1E2A5A">
                    <a:alpha val="0"/>
                  </a:srgbClr>
                </a:solidFill>
                <a:latin typeface="맑은 고딕"/>
                <a:ea typeface="맑은 고딕"/>
                <a:cs typeface="맑은 고딕"/>
              </a:rPr>
              <a:t>① </a:t>
            </a:r>
            <a:r>
              <a:rPr lang="en-US" altLang="ko-KR" sz="1800" b="0" dirty="0">
                <a:solidFill>
                  <a:srgbClr val="1F2328">
                    <a:alpha val="0"/>
                  </a:srgbClr>
                </a:solidFill>
                <a:latin typeface="Calibri"/>
                <a:ea typeface="맑은 고딕"/>
                <a:cs typeface="Calibri"/>
              </a:rPr>
              <a:t>(A) - (C) - (B)</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② </a:t>
            </a:r>
            <a:r>
              <a:rPr lang="en-US" altLang="ko-KR" sz="1800" b="0" dirty="0">
                <a:solidFill>
                  <a:srgbClr val="1F2328">
                    <a:alpha val="0"/>
                  </a:srgbClr>
                </a:solidFill>
                <a:latin typeface="Calibri"/>
                <a:ea typeface="맑은 고딕"/>
                <a:cs typeface="Calibri"/>
              </a:rPr>
              <a:t>(B) - (A) - (C)</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③ </a:t>
            </a:r>
            <a:r>
              <a:rPr lang="en-US" altLang="ko-KR" sz="1800" b="0" dirty="0">
                <a:solidFill>
                  <a:srgbClr val="1F2328">
                    <a:alpha val="0"/>
                  </a:srgbClr>
                </a:solidFill>
                <a:latin typeface="Calibri"/>
                <a:ea typeface="맑은 고딕"/>
                <a:cs typeface="Calibri"/>
              </a:rPr>
              <a:t>(B) - (C) - (A)</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④ </a:t>
            </a:r>
            <a:r>
              <a:rPr lang="en-US" altLang="ko-KR" sz="1800" b="0" dirty="0">
                <a:solidFill>
                  <a:srgbClr val="1F2328">
                    <a:alpha val="0"/>
                  </a:srgbClr>
                </a:solidFill>
                <a:latin typeface="Calibri"/>
                <a:ea typeface="맑은 고딕"/>
                <a:cs typeface="Calibri"/>
              </a:rPr>
              <a:t>(C) - (A) - (B)</a:t>
            </a:r>
            <a:r>
              <a:rPr lang="en-US" altLang="ko-KR" sz="1800" b="0" dirty="0">
                <a:solidFill>
                  <a:srgbClr val="1F2328">
                    <a:alpha val="0"/>
                  </a:srgbClr>
                </a:solidFill>
                <a:latin typeface="Calibri"/>
                <a:ea typeface="맑은 고딕"/>
                <a:cs typeface="Calibri"/>
              </a:rPr>
              <a:t>       </a:t>
            </a:r>
            <a:r>
              <a:rPr lang="ko-KR" altLang="en-US" sz="1800" b="1" dirty="0">
                <a:solidFill>
                  <a:srgbClr val="C00000"/>
                </a:solidFill>
                <a:highlight>
                  <a:srgbClr val="FFFFFF"/>
                </a:highlight>
                <a:latin typeface="맑은 고딕"/>
                <a:ea typeface="맑은 고딕"/>
                <a:cs typeface="맑은 고딕"/>
              </a:rPr>
              <a:t>⑤ </a:t>
            </a:r>
            <a:r>
              <a:rPr lang="en-US" altLang="ko-KR" sz="1800" b="0" dirty="0">
                <a:solidFill>
                  <a:srgbClr val="C00000"/>
                </a:solidFill>
                <a:highlight>
                  <a:srgbClr val="FFFFFF"/>
                </a:highlight>
                <a:latin typeface="Calibri"/>
                <a:ea typeface="맑은 고딕"/>
                <a:cs typeface="Calibri"/>
              </a:rPr>
              <a:t>(C) - (B) - (A)</a:t>
            </a:r>
            <a:endParaRPr lang="en-US" altLang="ko-KR" sz="1800" b="0" dirty="0">
              <a:solidFill>
                <a:srgbClr val="C00000"/>
              </a:solidFill>
              <a:latin typeface="Calibri"/>
              <a:ea typeface="맑은 고딕"/>
              <a:cs typeface="Calibri"/>
            </a:endParaRPr>
          </a:p>
        </p:txBody>
      </p:sp>
      <p:sp>
        <p:nvSpPr>
          <p:cNvPr id="13" name="rv_answer"/>
          <p:cNvSpPr/>
          <p:nvPr/>
        </p:nvSpPr>
        <p:spPr>
          <a:xfrm>
            <a:off x="457200" y="4885944"/>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⑤ </a:t>
            </a:r>
            <a:r>
              <a:rPr lang="en-US" altLang="ko-KR" sz="1900" b="1" dirty="0">
                <a:solidFill>
                  <a:srgbClr val="5A4200"/>
                </a:solidFill>
                <a:latin typeface="Calibri"/>
                <a:ea typeface="맑은 고딕"/>
                <a:cs typeface="Calibri"/>
              </a:rPr>
              <a:t>(C) - (B) - (A)</a:t>
            </a:r>
            <a:endParaRPr lang="en-US" altLang="ko-KR" sz="1900" b="1" dirty="0">
              <a:solidFill>
                <a:srgbClr val="5A4200"/>
              </a:solidFill>
              <a:latin typeface="Calibri"/>
              <a:ea typeface="맑은 고딕"/>
              <a:cs typeface="Calibri"/>
            </a:endParaRPr>
          </a:p>
        </p:txBody>
      </p:sp>
      <p:sp>
        <p:nvSpPr>
          <p:cNvPr id="14" name="rv_why"/>
          <p:cNvSpPr/>
          <p:nvPr/>
        </p:nvSpPr>
        <p:spPr>
          <a:xfrm>
            <a:off x="457200" y="5484876"/>
            <a:ext cx="11277295" cy="934211"/>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레이서 뒤에 팀이 있다 → (C) 'This team'을 피트 크루라 하고 타이어 교체를 말한다 → (B) 'Changing the tires'가 특히 중요하다 → (A) 'Therefore'로 마무리한다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25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250"/>
                                        <p:tgtEl>
                                          <p:spTgt spid="1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2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animBg="1"/>
    </p:bldLst>
  </p:timing>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L5-3</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2 · 3</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3. 글의 흐름으로 보아, 주어진 문장이 들어가기에 가장 적절한 곳은?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5</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정답 원리</a:t>
            </a:r>
            <a:endParaRPr lang="ko-KR" altLang="en-US" sz="1000" b="0" dirty="0">
              <a:solidFill>
                <a:srgbClr val="7A808C"/>
              </a:solidFill>
              <a:latin typeface="맑은 고딕"/>
              <a:ea typeface="맑은 고딕"/>
              <a:cs typeface="맑은 고딕"/>
            </a:endParaRPr>
          </a:p>
        </p:txBody>
      </p:sp>
      <p:sp>
        <p:nvSpPr>
          <p:cNvPr id="7" name="given_card"/>
          <p:cNvSpPr/>
          <p:nvPr/>
        </p:nvSpPr>
        <p:spPr>
          <a:xfrm>
            <a:off x="457200" y="950976"/>
            <a:ext cx="11277295" cy="507238"/>
          </a:xfrm>
          <a:prstGeom prst="roundRect">
            <a:avLst>
              <a:gd name="adj" fmla="val 6000"/>
            </a:avLst>
          </a:prstGeom>
          <a:solidFill>
            <a:srgbClr val="FFFFFF"/>
          </a:solidFill>
          <a:ln w="15875">
            <a:solidFill>
              <a:srgbClr val="1E2A5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given"/>
          <p:cNvSpPr txBox="1"/>
          <p:nvPr/>
        </p:nvSpPr>
        <p:spPr>
          <a:xfrm>
            <a:off x="457200" y="950976"/>
            <a:ext cx="11277295" cy="507238"/>
          </a:xfrm>
          <a:prstGeom prst="rect">
            <a:avLst/>
          </a:prstGeom>
          <a:noFill/>
        </p:spPr>
        <p:txBody>
          <a:bodyPr wrap="square" lIns="201168" tIns="100584" rIns="201168" bIns="100584"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주어진 문장</a:t>
            </a:r>
            <a:r>
              <a:rPr lang="en-US" altLang="ko-KR" sz="1700" b="0" dirty="0">
                <a:solidFill>
                  <a:srgbClr val="1F2328"/>
                </a:solidFill>
                <a:latin typeface="Calibri"/>
                <a:ea typeface="맑은 고딕"/>
                <a:cs typeface="Calibri"/>
              </a:rPr>
              <a:t>   The main job of the pit crew is to check the car and change the tires.</a:t>
            </a:r>
            <a:endParaRPr lang="en-US" altLang="ko-KR" sz="1700" b="0" dirty="0">
              <a:solidFill>
                <a:srgbClr val="1F2328"/>
              </a:solidFill>
              <a:latin typeface="Calibri"/>
              <a:ea typeface="맑은 고딕"/>
              <a:cs typeface="Calibri"/>
            </a:endParaRPr>
          </a:p>
        </p:txBody>
      </p:sp>
      <p:sp>
        <p:nvSpPr>
          <p:cNvPr id="9" name="passage_card"/>
          <p:cNvSpPr/>
          <p:nvPr/>
        </p:nvSpPr>
        <p:spPr>
          <a:xfrm>
            <a:off x="457200" y="1604518"/>
            <a:ext cx="11277295" cy="222504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passage"/>
          <p:cNvSpPr txBox="1"/>
          <p:nvPr/>
        </p:nvSpPr>
        <p:spPr>
          <a:xfrm>
            <a:off x="457200" y="1604518"/>
            <a:ext cx="11277295" cy="2225040"/>
          </a:xfrm>
          <a:prstGeom prst="rect">
            <a:avLst/>
          </a:prstGeom>
          <a:noFill/>
        </p:spPr>
        <p:txBody>
          <a:bodyPr wrap="square" lIns="201168" tIns="118872" rIns="201168" bIns="118872" anchor="t" rtlCol="0">
            <a:noAutofit/>
          </a:bodyPr>
          <a:lstStyle/>
          <a:p>
            <a:pPr algn="just">
              <a:lnSpc>
                <a:spcPts val="2560"/>
              </a:lnSpc>
              <a:spcBef>
                <a:spcPts val="0"/>
              </a:spcBef>
              <a:spcAft>
                <a:spcPts val="0"/>
              </a:spcAft>
              <a:buNone/>
            </a:pPr>
            <a:r>
              <a:rPr lang="en-US" altLang="ko-KR" sz="1700" b="0" dirty="0">
                <a:solidFill>
                  <a:srgbClr val="1F2328"/>
                </a:solidFill>
                <a:latin typeface="Calibri"/>
                <a:ea typeface="맑은 고딕"/>
                <a:cs typeface="Calibri"/>
              </a:rPr>
              <a:t>You may only see the car and the driver during most car races, but there is a team behind the driver. </a:t>
            </a:r>
            <a:r>
              <a:rPr lang="ko-KR" altLang="en-US" sz="1800" b="1" dirty="0">
                <a:solidFill>
                  <a:srgbClr val="1E2A5A"/>
                </a:solidFill>
                <a:latin typeface="맑은 고딕"/>
                <a:ea typeface="맑은 고딕"/>
                <a:cs typeface="맑은 고딕"/>
              </a:rPr>
              <a:t>②</a:t>
            </a:r>
            <a:r>
              <a:rPr lang="en-US" altLang="ko-KR" sz="1700" b="0" dirty="0">
                <a:solidFill>
                  <a:srgbClr val="1F2328"/>
                </a:solidFill>
                <a:latin typeface="Calibri"/>
                <a:ea typeface="맑은 고딕"/>
                <a:cs typeface="Calibri"/>
              </a:rPr>
              <a:t> This team is called a pit crew. </a:t>
            </a:r>
            <a:r>
              <a:rPr lang="ko-KR" altLang="en-US" sz="1800" b="1" dirty="0">
                <a:solidFill>
                  <a:srgbClr val="1E2A5A"/>
                </a:solidFill>
                <a:latin typeface="맑은 고딕"/>
                <a:ea typeface="맑은 고딕"/>
                <a:cs typeface="맑은 고딕"/>
              </a:rPr>
              <a:t>③</a:t>
            </a:r>
            <a:r>
              <a:rPr lang="en-US" altLang="ko-KR" sz="1700" b="0" dirty="0">
                <a:solidFill>
                  <a:srgbClr val="1F2328"/>
                </a:solidFill>
                <a:latin typeface="Calibri"/>
                <a:ea typeface="맑은 고딕"/>
                <a:cs typeface="Calibri"/>
              </a:rPr>
              <a:t> A pit is a place on the side of the race track, and drivers stop there several times during a race. </a:t>
            </a:r>
            <a:r>
              <a:rPr lang="ko-KR" altLang="en-US" sz="1800" b="1" dirty="0">
                <a:solidFill>
                  <a:srgbClr val="1E2A5A"/>
                </a:solidFill>
                <a:latin typeface="맑은 고딕"/>
                <a:ea typeface="맑은 고딕"/>
                <a:cs typeface="맑은 고딕"/>
              </a:rPr>
              <a:t>④</a:t>
            </a:r>
            <a:r>
              <a:rPr lang="en-US" altLang="ko-KR" sz="1700" b="0" dirty="0">
                <a:solidFill>
                  <a:srgbClr val="1F2328"/>
                </a:solidFill>
                <a:latin typeface="Calibri"/>
                <a:ea typeface="맑은 고딕"/>
                <a:cs typeface="Calibri"/>
              </a:rPr>
              <a:t> Changing the tires is especially important because the tires wear out easily in a high speed race. </a:t>
            </a:r>
            <a:r>
              <a:rPr lang="ko-KR" altLang="en-US" sz="1800" b="1" dirty="0">
                <a:solidFill>
                  <a:srgbClr val="1E2A5A"/>
                </a:solidFill>
                <a:latin typeface="맑은 고딕"/>
                <a:ea typeface="맑은 고딕"/>
                <a:cs typeface="맑은 고딕"/>
              </a:rPr>
              <a:t>⑤</a:t>
            </a:r>
            <a:r>
              <a:rPr lang="en-US" altLang="ko-KR" sz="1700" b="0" dirty="0">
                <a:solidFill>
                  <a:srgbClr val="1F2328"/>
                </a:solidFill>
                <a:latin typeface="Calibri"/>
                <a:ea typeface="맑은 고딕"/>
                <a:cs typeface="Calibri"/>
              </a:rPr>
              <a:t> A pit stop can be as short as 2 seconds, and there are as many as 20 members on a crew. Therefore, the pit crew has to work in perfect harmony. The driver may get all the attention, but as people say, “Races are won in the pits.”</a:t>
            </a:r>
            <a:endParaRPr lang="en-US" altLang="ko-KR" sz="1700" b="0" dirty="0">
              <a:solidFill>
                <a:srgbClr val="1F2328"/>
              </a:solidFill>
              <a:latin typeface="Calibri"/>
              <a:ea typeface="맑은 고딕"/>
              <a:cs typeface="Calibri"/>
            </a:endParaRPr>
          </a:p>
        </p:txBody>
      </p:sp>
      <p:sp>
        <p:nvSpPr>
          <p:cNvPr id="11" name="rv_pick"/>
          <p:cNvSpPr txBox="1"/>
          <p:nvPr/>
        </p:nvSpPr>
        <p:spPr>
          <a:xfrm>
            <a:off x="457200" y="1604518"/>
            <a:ext cx="11277295" cy="2225040"/>
          </a:xfrm>
          <a:prstGeom prst="rect">
            <a:avLst/>
          </a:prstGeom>
          <a:noFill/>
        </p:spPr>
        <p:txBody>
          <a:bodyPr wrap="square" lIns="201168" tIns="118872" rIns="201168" bIns="118872" anchor="t" rtlCol="0">
            <a:noAutofit/>
          </a:bodyPr>
          <a:lstStyle/>
          <a:p>
            <a:pPr algn="just">
              <a:lnSpc>
                <a:spcPts val="2560"/>
              </a:lnSpc>
              <a:spcBef>
                <a:spcPts val="0"/>
              </a:spcBef>
              <a:spcAft>
                <a:spcPts val="0"/>
              </a:spcAft>
              <a:buNone/>
            </a:pPr>
            <a:r>
              <a:rPr lang="en-US" altLang="ko-KR" sz="1700" b="0" dirty="0">
                <a:solidFill>
                  <a:srgbClr val="1F2328">
                    <a:alpha val="0"/>
                  </a:srgbClr>
                </a:solidFill>
                <a:latin typeface="Calibri"/>
                <a:ea typeface="맑은 고딕"/>
                <a:cs typeface="Calibri"/>
              </a:rPr>
              <a:t>You may only see the car and the driver during most car races, but there is a team behind the driver. </a:t>
            </a:r>
            <a:r>
              <a:rPr lang="ko-KR" altLang="en-US" sz="1800" b="1" dirty="0">
                <a:solidFill>
                  <a:srgbClr val="1E2A5A">
                    <a:alpha val="0"/>
                  </a:srgbClr>
                </a:solidFill>
                <a:latin typeface="맑은 고딕"/>
                <a:ea typeface="맑은 고딕"/>
                <a:cs typeface="맑은 고딕"/>
              </a:rPr>
              <a:t>②</a:t>
            </a:r>
            <a:r>
              <a:rPr lang="en-US" altLang="ko-KR" sz="1700" b="0" dirty="0">
                <a:solidFill>
                  <a:srgbClr val="1F2328">
                    <a:alpha val="0"/>
                  </a:srgbClr>
                </a:solidFill>
                <a:latin typeface="Calibri"/>
                <a:ea typeface="맑은 고딕"/>
                <a:cs typeface="Calibri"/>
              </a:rPr>
              <a:t> This team is called a pit crew. </a:t>
            </a:r>
            <a:r>
              <a:rPr lang="ko-KR" altLang="en-US" sz="1800" b="1" dirty="0">
                <a:solidFill>
                  <a:srgbClr val="1E2A5A">
                    <a:alpha val="0"/>
                  </a:srgbClr>
                </a:solidFill>
                <a:latin typeface="맑은 고딕"/>
                <a:ea typeface="맑은 고딕"/>
                <a:cs typeface="맑은 고딕"/>
              </a:rPr>
              <a:t>③</a:t>
            </a:r>
            <a:r>
              <a:rPr lang="en-US" altLang="ko-KR" sz="1700" b="0" dirty="0">
                <a:solidFill>
                  <a:srgbClr val="1F2328">
                    <a:alpha val="0"/>
                  </a:srgbClr>
                </a:solidFill>
                <a:latin typeface="Calibri"/>
                <a:ea typeface="맑은 고딕"/>
                <a:cs typeface="Calibri"/>
              </a:rPr>
              <a:t> A pit is a place on the side of the race track, and drivers stop there several times during a race. </a:t>
            </a:r>
            <a:r>
              <a:rPr lang="ko-KR" altLang="en-US" sz="1800" b="1" dirty="0">
                <a:solidFill>
                  <a:srgbClr val="C00000"/>
                </a:solidFill>
                <a:highlight>
                  <a:srgbClr val="F3F5F9"/>
                </a:highlight>
                <a:latin typeface="맑은 고딕"/>
                <a:ea typeface="맑은 고딕"/>
                <a:cs typeface="맑은 고딕"/>
              </a:rPr>
              <a:t>④</a:t>
            </a:r>
            <a:r>
              <a:rPr lang="en-US" altLang="ko-KR" sz="1700" b="0" dirty="0">
                <a:solidFill>
                  <a:srgbClr val="1F2328">
                    <a:alpha val="0"/>
                  </a:srgbClr>
                </a:solidFill>
                <a:latin typeface="Calibri"/>
                <a:ea typeface="맑은 고딕"/>
                <a:cs typeface="Calibri"/>
              </a:rPr>
              <a:t> Changing the tires is especially important because the tires wear out easily in a high speed race. </a:t>
            </a:r>
            <a:r>
              <a:rPr lang="ko-KR" altLang="en-US" sz="1800" b="1" dirty="0">
                <a:solidFill>
                  <a:srgbClr val="1E2A5A">
                    <a:alpha val="0"/>
                  </a:srgbClr>
                </a:solidFill>
                <a:latin typeface="맑은 고딕"/>
                <a:ea typeface="맑은 고딕"/>
                <a:cs typeface="맑은 고딕"/>
              </a:rPr>
              <a:t>⑤</a:t>
            </a:r>
            <a:r>
              <a:rPr lang="en-US" altLang="ko-KR" sz="1700" b="0" dirty="0">
                <a:solidFill>
                  <a:srgbClr val="1F2328">
                    <a:alpha val="0"/>
                  </a:srgbClr>
                </a:solidFill>
                <a:latin typeface="Calibri"/>
                <a:ea typeface="맑은 고딕"/>
                <a:cs typeface="Calibri"/>
              </a:rPr>
              <a:t> A pit stop can be as short as 2 seconds, and there are as many as 20 members on a crew. Therefore, the pit crew has to work in perfect harmony. The driver may get all the attention, but as people say, “Races are won in the pits.”</a:t>
            </a:r>
            <a:endParaRPr lang="en-US" altLang="ko-KR" sz="1700" b="0" dirty="0">
              <a:solidFill>
                <a:srgbClr val="1F2328"/>
              </a:solidFill>
              <a:latin typeface="Calibri"/>
              <a:ea typeface="맑은 고딕"/>
              <a:cs typeface="Calibri"/>
            </a:endParaRPr>
          </a:p>
        </p:txBody>
      </p:sp>
      <p:sp>
        <p:nvSpPr>
          <p:cNvPr id="12" name="rv_answer"/>
          <p:cNvSpPr/>
          <p:nvPr/>
        </p:nvSpPr>
        <p:spPr>
          <a:xfrm>
            <a:off x="457200" y="393928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④</a:t>
            </a:r>
            <a:endParaRPr lang="ko-KR" altLang="en-US" sz="1900" b="1" dirty="0">
              <a:solidFill>
                <a:srgbClr val="5A4200"/>
              </a:solidFill>
              <a:latin typeface="맑은 고딕"/>
              <a:ea typeface="맑은 고딕"/>
              <a:cs typeface="맑은 고딕"/>
            </a:endParaRPr>
          </a:p>
        </p:txBody>
      </p:sp>
      <p:sp>
        <p:nvSpPr>
          <p:cNvPr id="13" name="rv_why"/>
          <p:cNvSpPr/>
          <p:nvPr/>
        </p:nvSpPr>
        <p:spPr>
          <a:xfrm>
            <a:off x="457200" y="4538218"/>
            <a:ext cx="11277295" cy="188086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④ 뒤 'Changing the tires'는 앞에서 타이어 교체라는 일이 먼저 나와야 이어진다. 피트 크루의 주된 일을 밝히는 주어진 문장이 ④에 들어간다.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25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25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2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Lst>
  </p:timing>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L5-3</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2 · 4</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4. 글의 흐름으로 보아, 주어진 문장이 들어가기에 가장 적절한 곳은?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5</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정답 원리</a:t>
            </a:r>
            <a:endParaRPr lang="ko-KR" altLang="en-US" sz="1000" b="0" dirty="0">
              <a:solidFill>
                <a:srgbClr val="7A808C"/>
              </a:solidFill>
              <a:latin typeface="맑은 고딕"/>
              <a:ea typeface="맑은 고딕"/>
              <a:cs typeface="맑은 고딕"/>
            </a:endParaRPr>
          </a:p>
        </p:txBody>
      </p:sp>
      <p:sp>
        <p:nvSpPr>
          <p:cNvPr id="7" name="given_card"/>
          <p:cNvSpPr/>
          <p:nvPr/>
        </p:nvSpPr>
        <p:spPr>
          <a:xfrm>
            <a:off x="457200" y="950976"/>
            <a:ext cx="11277295" cy="813308"/>
          </a:xfrm>
          <a:prstGeom prst="roundRect">
            <a:avLst>
              <a:gd name="adj" fmla="val 6000"/>
            </a:avLst>
          </a:prstGeom>
          <a:solidFill>
            <a:srgbClr val="FFFFFF"/>
          </a:solidFill>
          <a:ln w="15875">
            <a:solidFill>
              <a:srgbClr val="1E2A5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given"/>
          <p:cNvSpPr txBox="1"/>
          <p:nvPr/>
        </p:nvSpPr>
        <p:spPr>
          <a:xfrm>
            <a:off x="457200" y="950976"/>
            <a:ext cx="11277295" cy="813308"/>
          </a:xfrm>
          <a:prstGeom prst="rect">
            <a:avLst/>
          </a:prstGeom>
          <a:noFill/>
        </p:spPr>
        <p:txBody>
          <a:bodyPr wrap="square" lIns="201168" tIns="100584" rIns="201168" bIns="100584"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주어진 문장</a:t>
            </a:r>
            <a:r>
              <a:rPr lang="en-US" altLang="ko-KR" sz="1700" b="0" dirty="0">
                <a:solidFill>
                  <a:srgbClr val="1F2328"/>
                </a:solidFill>
                <a:latin typeface="Calibri"/>
                <a:ea typeface="맑은 고딕"/>
                <a:cs typeface="Calibri"/>
              </a:rPr>
              <a:t>   Changing the tires is especially important because the tires wear out easily in a high speed race.</a:t>
            </a:r>
            <a:endParaRPr lang="en-US" altLang="ko-KR" sz="1700" b="0" dirty="0">
              <a:solidFill>
                <a:srgbClr val="1F2328"/>
              </a:solidFill>
              <a:latin typeface="Calibri"/>
              <a:ea typeface="맑은 고딕"/>
              <a:cs typeface="Calibri"/>
            </a:endParaRPr>
          </a:p>
        </p:txBody>
      </p:sp>
      <p:sp>
        <p:nvSpPr>
          <p:cNvPr id="9" name="passage_card"/>
          <p:cNvSpPr/>
          <p:nvPr/>
        </p:nvSpPr>
        <p:spPr>
          <a:xfrm>
            <a:off x="457200" y="1910587"/>
            <a:ext cx="11277295" cy="222504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passage"/>
          <p:cNvSpPr txBox="1"/>
          <p:nvPr/>
        </p:nvSpPr>
        <p:spPr>
          <a:xfrm>
            <a:off x="457200" y="1910587"/>
            <a:ext cx="11277295" cy="2225040"/>
          </a:xfrm>
          <a:prstGeom prst="rect">
            <a:avLst/>
          </a:prstGeom>
          <a:noFill/>
        </p:spPr>
        <p:txBody>
          <a:bodyPr wrap="square" lIns="201168" tIns="118872" rIns="201168" bIns="118872" anchor="t" rtlCol="0">
            <a:noAutofit/>
          </a:bodyPr>
          <a:lstStyle/>
          <a:p>
            <a:pPr algn="just">
              <a:lnSpc>
                <a:spcPts val="2560"/>
              </a:lnSpc>
              <a:spcBef>
                <a:spcPts val="0"/>
              </a:spcBef>
              <a:spcAft>
                <a:spcPts val="0"/>
              </a:spcAft>
              <a:buNone/>
            </a:pPr>
            <a:r>
              <a:rPr lang="en-US" altLang="ko-KR" sz="1700" b="0" dirty="0">
                <a:solidFill>
                  <a:srgbClr val="1F2328"/>
                </a:solidFill>
                <a:latin typeface="Calibri"/>
                <a:ea typeface="맑은 고딕"/>
                <a:cs typeface="Calibri"/>
              </a:rPr>
              <a:t>You may only see the car and the driver during most car races, but there is a team behind the driver. </a:t>
            </a:r>
            <a:r>
              <a:rPr lang="ko-KR" altLang="en-US" sz="1800" b="1" dirty="0">
                <a:solidFill>
                  <a:srgbClr val="1E2A5A"/>
                </a:solidFill>
                <a:latin typeface="맑은 고딕"/>
                <a:ea typeface="맑은 고딕"/>
                <a:cs typeface="맑은 고딕"/>
              </a:rPr>
              <a:t>②</a:t>
            </a:r>
            <a:r>
              <a:rPr lang="en-US" altLang="ko-KR" sz="1700" b="0" dirty="0">
                <a:solidFill>
                  <a:srgbClr val="1F2328"/>
                </a:solidFill>
                <a:latin typeface="Calibri"/>
                <a:ea typeface="맑은 고딕"/>
                <a:cs typeface="Calibri"/>
              </a:rPr>
              <a:t> This team is called a pit crew. </a:t>
            </a:r>
            <a:r>
              <a:rPr lang="ko-KR" altLang="en-US" sz="1800" b="1" dirty="0">
                <a:solidFill>
                  <a:srgbClr val="1E2A5A"/>
                </a:solidFill>
                <a:latin typeface="맑은 고딕"/>
                <a:ea typeface="맑은 고딕"/>
                <a:cs typeface="맑은 고딕"/>
              </a:rPr>
              <a:t>③</a:t>
            </a:r>
            <a:r>
              <a:rPr lang="en-US" altLang="ko-KR" sz="1700" b="0" dirty="0">
                <a:solidFill>
                  <a:srgbClr val="1F2328"/>
                </a:solidFill>
                <a:latin typeface="Calibri"/>
                <a:ea typeface="맑은 고딕"/>
                <a:cs typeface="Calibri"/>
              </a:rPr>
              <a:t> A pit is a place on the side of the race track, and drivers stop there several times during a race. </a:t>
            </a:r>
            <a:r>
              <a:rPr lang="ko-KR" altLang="en-US" sz="1800" b="1" dirty="0">
                <a:solidFill>
                  <a:srgbClr val="1E2A5A"/>
                </a:solidFill>
                <a:latin typeface="맑은 고딕"/>
                <a:ea typeface="맑은 고딕"/>
                <a:cs typeface="맑은 고딕"/>
              </a:rPr>
              <a:t>④</a:t>
            </a:r>
            <a:r>
              <a:rPr lang="en-US" altLang="ko-KR" sz="1700" b="0" dirty="0">
                <a:solidFill>
                  <a:srgbClr val="1F2328"/>
                </a:solidFill>
                <a:latin typeface="Calibri"/>
                <a:ea typeface="맑은 고딕"/>
                <a:cs typeface="Calibri"/>
              </a:rPr>
              <a:t> The main job of the pit crew is to check the car and change the tires. </a:t>
            </a:r>
            <a:r>
              <a:rPr lang="ko-KR" altLang="en-US" sz="1800" b="1" dirty="0">
                <a:solidFill>
                  <a:srgbClr val="1E2A5A"/>
                </a:solidFill>
                <a:latin typeface="맑은 고딕"/>
                <a:ea typeface="맑은 고딕"/>
                <a:cs typeface="맑은 고딕"/>
              </a:rPr>
              <a:t>⑤</a:t>
            </a:r>
            <a:r>
              <a:rPr lang="en-US" altLang="ko-KR" sz="1700" b="0" dirty="0">
                <a:solidFill>
                  <a:srgbClr val="1F2328"/>
                </a:solidFill>
                <a:latin typeface="Calibri"/>
                <a:ea typeface="맑은 고딕"/>
                <a:cs typeface="Calibri"/>
              </a:rPr>
              <a:t> A pit stop can be as short as 2 seconds, and there are as many as 20 members on a crew. Therefore, the pit crew has to work in perfect harmony. The driver may get all the attention, but as people say, “Races are won in the pits.”</a:t>
            </a:r>
            <a:endParaRPr lang="en-US" altLang="ko-KR" sz="1700" b="0" dirty="0">
              <a:solidFill>
                <a:srgbClr val="1F2328"/>
              </a:solidFill>
              <a:latin typeface="Calibri"/>
              <a:ea typeface="맑은 고딕"/>
              <a:cs typeface="Calibri"/>
            </a:endParaRPr>
          </a:p>
        </p:txBody>
      </p:sp>
      <p:sp>
        <p:nvSpPr>
          <p:cNvPr id="11" name="rv_pick"/>
          <p:cNvSpPr txBox="1"/>
          <p:nvPr/>
        </p:nvSpPr>
        <p:spPr>
          <a:xfrm>
            <a:off x="457200" y="1910587"/>
            <a:ext cx="11277295" cy="2225040"/>
          </a:xfrm>
          <a:prstGeom prst="rect">
            <a:avLst/>
          </a:prstGeom>
          <a:noFill/>
        </p:spPr>
        <p:txBody>
          <a:bodyPr wrap="square" lIns="201168" tIns="118872" rIns="201168" bIns="118872" anchor="t" rtlCol="0">
            <a:noAutofit/>
          </a:bodyPr>
          <a:lstStyle/>
          <a:p>
            <a:pPr algn="just">
              <a:lnSpc>
                <a:spcPts val="2560"/>
              </a:lnSpc>
              <a:spcBef>
                <a:spcPts val="0"/>
              </a:spcBef>
              <a:spcAft>
                <a:spcPts val="0"/>
              </a:spcAft>
              <a:buNone/>
            </a:pPr>
            <a:r>
              <a:rPr lang="en-US" altLang="ko-KR" sz="1700" b="0" dirty="0">
                <a:solidFill>
                  <a:srgbClr val="1F2328">
                    <a:alpha val="0"/>
                  </a:srgbClr>
                </a:solidFill>
                <a:latin typeface="Calibri"/>
                <a:ea typeface="맑은 고딕"/>
                <a:cs typeface="Calibri"/>
              </a:rPr>
              <a:t>You may only see the car and the driver during most car races, but there is a team behind the driver. </a:t>
            </a:r>
            <a:r>
              <a:rPr lang="ko-KR" altLang="en-US" sz="1800" b="1" dirty="0">
                <a:solidFill>
                  <a:srgbClr val="1E2A5A">
                    <a:alpha val="0"/>
                  </a:srgbClr>
                </a:solidFill>
                <a:latin typeface="맑은 고딕"/>
                <a:ea typeface="맑은 고딕"/>
                <a:cs typeface="맑은 고딕"/>
              </a:rPr>
              <a:t>②</a:t>
            </a:r>
            <a:r>
              <a:rPr lang="en-US" altLang="ko-KR" sz="1700" b="0" dirty="0">
                <a:solidFill>
                  <a:srgbClr val="1F2328">
                    <a:alpha val="0"/>
                  </a:srgbClr>
                </a:solidFill>
                <a:latin typeface="Calibri"/>
                <a:ea typeface="맑은 고딕"/>
                <a:cs typeface="Calibri"/>
              </a:rPr>
              <a:t> This team is called a pit crew. </a:t>
            </a:r>
            <a:r>
              <a:rPr lang="ko-KR" altLang="en-US" sz="1800" b="1" dirty="0">
                <a:solidFill>
                  <a:srgbClr val="1E2A5A">
                    <a:alpha val="0"/>
                  </a:srgbClr>
                </a:solidFill>
                <a:latin typeface="맑은 고딕"/>
                <a:ea typeface="맑은 고딕"/>
                <a:cs typeface="맑은 고딕"/>
              </a:rPr>
              <a:t>③</a:t>
            </a:r>
            <a:r>
              <a:rPr lang="en-US" altLang="ko-KR" sz="1700" b="0" dirty="0">
                <a:solidFill>
                  <a:srgbClr val="1F2328">
                    <a:alpha val="0"/>
                  </a:srgbClr>
                </a:solidFill>
                <a:latin typeface="Calibri"/>
                <a:ea typeface="맑은 고딕"/>
                <a:cs typeface="Calibri"/>
              </a:rPr>
              <a:t> A pit is a place on the side of the race track, and drivers stop there several times during a race. </a:t>
            </a:r>
            <a:r>
              <a:rPr lang="ko-KR" altLang="en-US" sz="1800" b="1" dirty="0">
                <a:solidFill>
                  <a:srgbClr val="1E2A5A">
                    <a:alpha val="0"/>
                  </a:srgbClr>
                </a:solidFill>
                <a:latin typeface="맑은 고딕"/>
                <a:ea typeface="맑은 고딕"/>
                <a:cs typeface="맑은 고딕"/>
              </a:rPr>
              <a:t>④</a:t>
            </a:r>
            <a:r>
              <a:rPr lang="en-US" altLang="ko-KR" sz="1700" b="0" dirty="0">
                <a:solidFill>
                  <a:srgbClr val="1F2328">
                    <a:alpha val="0"/>
                  </a:srgbClr>
                </a:solidFill>
                <a:latin typeface="Calibri"/>
                <a:ea typeface="맑은 고딕"/>
                <a:cs typeface="Calibri"/>
              </a:rPr>
              <a:t> The main job of the pit crew is to check the car and change the tires. </a:t>
            </a:r>
            <a:r>
              <a:rPr lang="ko-KR" altLang="en-US" sz="1800" b="1" dirty="0">
                <a:solidFill>
                  <a:srgbClr val="C00000"/>
                </a:solidFill>
                <a:highlight>
                  <a:srgbClr val="F3F5F9"/>
                </a:highlight>
                <a:latin typeface="맑은 고딕"/>
                <a:ea typeface="맑은 고딕"/>
                <a:cs typeface="맑은 고딕"/>
              </a:rPr>
              <a:t>⑤</a:t>
            </a:r>
            <a:r>
              <a:rPr lang="en-US" altLang="ko-KR" sz="1700" b="0" dirty="0">
                <a:solidFill>
                  <a:srgbClr val="1F2328">
                    <a:alpha val="0"/>
                  </a:srgbClr>
                </a:solidFill>
                <a:latin typeface="Calibri"/>
                <a:ea typeface="맑은 고딕"/>
                <a:cs typeface="Calibri"/>
              </a:rPr>
              <a:t> A pit stop can be as short as 2 seconds, and there are as many as 20 members on a crew. Therefore, the pit crew has to work in perfect harmony. The driver may get all the attention, but as people say, “Races are won in the pits.”</a:t>
            </a:r>
            <a:endParaRPr lang="en-US" altLang="ko-KR" sz="1700" b="0" dirty="0">
              <a:solidFill>
                <a:srgbClr val="1F2328"/>
              </a:solidFill>
              <a:latin typeface="Calibri"/>
              <a:ea typeface="맑은 고딕"/>
              <a:cs typeface="Calibri"/>
            </a:endParaRPr>
          </a:p>
        </p:txBody>
      </p:sp>
      <p:sp>
        <p:nvSpPr>
          <p:cNvPr id="12" name="rv_answer"/>
          <p:cNvSpPr/>
          <p:nvPr/>
        </p:nvSpPr>
        <p:spPr>
          <a:xfrm>
            <a:off x="457200" y="424535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⑤</a:t>
            </a:r>
            <a:endParaRPr lang="ko-KR" altLang="en-US" sz="1900" b="1" dirty="0">
              <a:solidFill>
                <a:srgbClr val="5A4200"/>
              </a:solidFill>
              <a:latin typeface="맑은 고딕"/>
              <a:ea typeface="맑은 고딕"/>
              <a:cs typeface="맑은 고딕"/>
            </a:endParaRPr>
          </a:p>
        </p:txBody>
      </p:sp>
      <p:sp>
        <p:nvSpPr>
          <p:cNvPr id="13" name="rv_why"/>
          <p:cNvSpPr/>
          <p:nvPr/>
        </p:nvSpPr>
        <p:spPr>
          <a:xfrm>
            <a:off x="457200" y="4844288"/>
            <a:ext cx="11277295" cy="157479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④에서 타이어 교체가 주된 일이라 했고 주어진 문장이 그 이유를 든다. 그 뒤 ⑤에서 짧은 정지 시간으로 넘어가므로 ⑤가 답이다.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25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25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2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Lst>
  </p:timing>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L5-3</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3 · ①</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다음 글의 각 [  ] 안에서 문맥상 알맞은 것을 고르시오.</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5</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클릭할 때마다 괄호 속 정답이 앞에서부터 하나씩 빨간색으로 나타납니다 (총 6개)</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5060696"/>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5060696"/>
          </a:xfrm>
          <a:prstGeom prst="rect">
            <a:avLst/>
          </a:prstGeom>
          <a:noFill/>
        </p:spPr>
        <p:txBody>
          <a:bodyPr wrap="square" lIns="228600" tIns="155448" rIns="228600" bIns="155448" anchor="t" rtlCol="0">
            <a:noAutofit/>
          </a:bodyPr>
          <a:lstStyle/>
          <a:p>
            <a:pPr algn="l">
              <a:lnSpc>
                <a:spcPts val="3400"/>
              </a:lnSpc>
              <a:spcBef>
                <a:spcPts val="0"/>
              </a:spcBef>
              <a:spcAft>
                <a:spcPts val="0"/>
              </a:spcAft>
              <a:buNone/>
            </a:pPr>
            <a:r>
              <a:rPr lang="ko-KR" altLang="en-US" sz="2100" b="1" dirty="0">
                <a:solidFill>
                  <a:srgbClr val="1E2A5A"/>
                </a:solidFill>
                <a:latin typeface="맑은 고딕"/>
                <a:ea typeface="맑은 고딕"/>
                <a:cs typeface="맑은 고딕"/>
              </a:rPr>
              <a:t>①</a:t>
            </a:r>
            <a:r>
              <a:rPr lang="en-US" altLang="ko-KR" sz="2100" b="0" dirty="0">
                <a:solidFill>
                  <a:srgbClr val="1F2328"/>
                </a:solidFill>
                <a:latin typeface="Calibri"/>
                <a:ea typeface="맑은 고딕"/>
                <a:cs typeface="Calibri"/>
              </a:rPr>
              <a:t> </a:t>
            </a:r>
            <a:r>
              <a:rPr lang="en-US" altLang="ko-KR" sz="2100" b="0" dirty="0">
                <a:solidFill>
                  <a:srgbClr val="1F2328"/>
                </a:solidFill>
                <a:latin typeface="Calibri"/>
                <a:ea typeface="맑은 고딕"/>
                <a:cs typeface="Calibri"/>
              </a:rPr>
              <a:t>You may only see the car and the driver during most car races, but </a:t>
            </a:r>
            <a:r>
              <a:rPr lang="en-US" altLang="ko-KR" sz="2100" b="1" dirty="0">
                <a:solidFill>
                  <a:srgbClr val="1F2328"/>
                </a:solidFill>
                <a:latin typeface="Calibri"/>
                <a:ea typeface="맑은 고딕"/>
                <a:cs typeface="Calibri"/>
              </a:rPr>
              <a:t>[ </a:t>
            </a:r>
            <a:r>
              <a:rPr lang="en-US" altLang="ko-KR" sz="2100" b="1" dirty="0">
                <a:solidFill>
                  <a:srgbClr val="1F2328"/>
                </a:solidFill>
                <a:latin typeface="Calibri"/>
                <a:ea typeface="맑은 고딕"/>
                <a:cs typeface="Calibri"/>
              </a:rPr>
              <a:t>there are a team</a:t>
            </a:r>
            <a:r>
              <a:rPr lang="en-US" altLang="ko-KR" sz="2100" b="1" dirty="0">
                <a:solidFill>
                  <a:srgbClr val="1F2328"/>
                </a:solidFill>
                <a:latin typeface="Calibri"/>
                <a:ea typeface="맑은 고딕"/>
                <a:cs typeface="Calibri"/>
              </a:rPr>
              <a:t> / </a:t>
            </a:r>
            <a:r>
              <a:rPr lang="en-US" altLang="ko-KR" sz="2100" b="1" dirty="0">
                <a:solidFill>
                  <a:srgbClr val="1F2328"/>
                </a:solidFill>
                <a:latin typeface="Calibri"/>
                <a:ea typeface="맑은 고딕"/>
                <a:cs typeface="Calibri"/>
              </a:rPr>
              <a:t>there is a team</a:t>
            </a:r>
            <a:r>
              <a:rPr lang="en-US" altLang="ko-KR" sz="2100" b="1" dirty="0">
                <a:solidFill>
                  <a:srgbClr val="1F2328"/>
                </a:solidFill>
                <a:latin typeface="Calibri"/>
                <a:ea typeface="맑은 고딕"/>
                <a:cs typeface="Calibri"/>
              </a:rPr>
              <a:t> ]</a:t>
            </a:r>
            <a:r>
              <a:rPr lang="en-US" altLang="ko-KR" sz="2100" b="0" dirty="0">
                <a:solidFill>
                  <a:srgbClr val="1F2328"/>
                </a:solidFill>
                <a:latin typeface="Calibri"/>
                <a:ea typeface="맑은 고딕"/>
                <a:cs typeface="Calibri"/>
              </a:rPr>
              <a:t> behind the driver.</a:t>
            </a:r>
            <a:r>
              <a:rPr lang="en-US" altLang="ko-KR" sz="2100" b="0" dirty="0">
                <a:solidFill>
                  <a:srgbClr val="1F2328"/>
                </a:solidFill>
                <a:latin typeface="Calibri"/>
                <a:ea typeface="맑은 고딕"/>
                <a:cs typeface="Calibri"/>
              </a:rPr>
              <a:t>   </a:t>
            </a:r>
            <a:r>
              <a:rPr lang="ko-KR" altLang="en-US" sz="2100" b="1" dirty="0">
                <a:solidFill>
                  <a:srgbClr val="1E2A5A"/>
                </a:solidFill>
                <a:latin typeface="맑은 고딕"/>
                <a:ea typeface="맑은 고딕"/>
                <a:cs typeface="맑은 고딕"/>
              </a:rPr>
              <a:t>②</a:t>
            </a:r>
            <a:r>
              <a:rPr lang="en-US" altLang="ko-KR" sz="2100" b="0" dirty="0">
                <a:solidFill>
                  <a:srgbClr val="1F2328"/>
                </a:solidFill>
                <a:latin typeface="Calibri"/>
                <a:ea typeface="맑은 고딕"/>
                <a:cs typeface="Calibri"/>
              </a:rPr>
              <a:t> </a:t>
            </a:r>
            <a:r>
              <a:rPr lang="en-US" altLang="ko-KR" sz="2100" b="0" dirty="0">
                <a:solidFill>
                  <a:srgbClr val="1F2328"/>
                </a:solidFill>
                <a:latin typeface="Calibri"/>
                <a:ea typeface="맑은 고딕"/>
                <a:cs typeface="Calibri"/>
              </a:rPr>
              <a:t>This team </a:t>
            </a:r>
            <a:r>
              <a:rPr lang="en-US" altLang="ko-KR" sz="2100" b="1" dirty="0">
                <a:solidFill>
                  <a:srgbClr val="1F2328"/>
                </a:solidFill>
                <a:latin typeface="Calibri"/>
                <a:ea typeface="맑은 고딕"/>
                <a:cs typeface="Calibri"/>
              </a:rPr>
              <a:t>[ </a:t>
            </a:r>
            <a:r>
              <a:rPr lang="en-US" altLang="ko-KR" sz="2100" b="1" dirty="0">
                <a:solidFill>
                  <a:srgbClr val="1F2328"/>
                </a:solidFill>
                <a:latin typeface="Calibri"/>
                <a:ea typeface="맑은 고딕"/>
                <a:cs typeface="Calibri"/>
              </a:rPr>
              <a:t>is called</a:t>
            </a:r>
            <a:r>
              <a:rPr lang="en-US" altLang="ko-KR" sz="2100" b="1" dirty="0">
                <a:solidFill>
                  <a:srgbClr val="1F2328"/>
                </a:solidFill>
                <a:latin typeface="Calibri"/>
                <a:ea typeface="맑은 고딕"/>
                <a:cs typeface="Calibri"/>
              </a:rPr>
              <a:t> / </a:t>
            </a:r>
            <a:r>
              <a:rPr lang="en-US" altLang="ko-KR" sz="2100" b="1" dirty="0">
                <a:solidFill>
                  <a:srgbClr val="1F2328"/>
                </a:solidFill>
                <a:latin typeface="Calibri"/>
                <a:ea typeface="맑은 고딕"/>
                <a:cs typeface="Calibri"/>
              </a:rPr>
              <a:t>calls</a:t>
            </a:r>
            <a:r>
              <a:rPr lang="en-US" altLang="ko-KR" sz="2100" b="1" dirty="0">
                <a:solidFill>
                  <a:srgbClr val="1F2328"/>
                </a:solidFill>
                <a:latin typeface="Calibri"/>
                <a:ea typeface="맑은 고딕"/>
                <a:cs typeface="Calibri"/>
              </a:rPr>
              <a:t> ]</a:t>
            </a:r>
            <a:r>
              <a:rPr lang="en-US" altLang="ko-KR" sz="2100" b="0" dirty="0">
                <a:solidFill>
                  <a:srgbClr val="1F2328"/>
                </a:solidFill>
                <a:latin typeface="Calibri"/>
                <a:ea typeface="맑은 고딕"/>
                <a:cs typeface="Calibri"/>
              </a:rPr>
              <a:t> a pit crew.</a:t>
            </a:r>
            <a:r>
              <a:rPr lang="en-US" altLang="ko-KR" sz="2100" b="0" dirty="0">
                <a:solidFill>
                  <a:srgbClr val="1F2328"/>
                </a:solidFill>
                <a:latin typeface="Calibri"/>
                <a:ea typeface="맑은 고딕"/>
                <a:cs typeface="Calibri"/>
              </a:rPr>
              <a:t>   </a:t>
            </a:r>
            <a:r>
              <a:rPr lang="ko-KR" altLang="en-US" sz="2100" b="1" dirty="0">
                <a:solidFill>
                  <a:srgbClr val="1E2A5A"/>
                </a:solidFill>
                <a:latin typeface="맑은 고딕"/>
                <a:ea typeface="맑은 고딕"/>
                <a:cs typeface="맑은 고딕"/>
              </a:rPr>
              <a:t>③</a:t>
            </a:r>
            <a:r>
              <a:rPr lang="en-US" altLang="ko-KR" sz="2100" b="0" dirty="0">
                <a:solidFill>
                  <a:srgbClr val="1F2328"/>
                </a:solidFill>
                <a:latin typeface="Calibri"/>
                <a:ea typeface="맑은 고딕"/>
                <a:cs typeface="Calibri"/>
              </a:rPr>
              <a:t> </a:t>
            </a:r>
            <a:r>
              <a:rPr lang="en-US" altLang="ko-KR" sz="2100" b="0" dirty="0">
                <a:solidFill>
                  <a:srgbClr val="1F2328"/>
                </a:solidFill>
                <a:latin typeface="Calibri"/>
                <a:ea typeface="맑은 고딕"/>
                <a:cs typeface="Calibri"/>
              </a:rPr>
              <a:t>A pit is a place on the side of the race track, and drivers stop there several times during a race.</a:t>
            </a:r>
            <a:r>
              <a:rPr lang="en-US" altLang="ko-KR" sz="2100" b="0" dirty="0">
                <a:solidFill>
                  <a:srgbClr val="1F2328"/>
                </a:solidFill>
                <a:latin typeface="Calibri"/>
                <a:ea typeface="맑은 고딕"/>
                <a:cs typeface="Calibri"/>
              </a:rPr>
              <a:t>   </a:t>
            </a:r>
            <a:r>
              <a:rPr lang="ko-KR" altLang="en-US" sz="2100" b="1" dirty="0">
                <a:solidFill>
                  <a:srgbClr val="1E2A5A"/>
                </a:solidFill>
                <a:latin typeface="맑은 고딕"/>
                <a:ea typeface="맑은 고딕"/>
                <a:cs typeface="맑은 고딕"/>
              </a:rPr>
              <a:t>④</a:t>
            </a:r>
            <a:r>
              <a:rPr lang="en-US" altLang="ko-KR" sz="2100" b="0" dirty="0">
                <a:solidFill>
                  <a:srgbClr val="1F2328"/>
                </a:solidFill>
                <a:latin typeface="Calibri"/>
                <a:ea typeface="맑은 고딕"/>
                <a:cs typeface="Calibri"/>
              </a:rPr>
              <a:t> </a:t>
            </a:r>
            <a:r>
              <a:rPr lang="en-US" altLang="ko-KR" sz="2100" b="0" dirty="0">
                <a:solidFill>
                  <a:srgbClr val="1F2328"/>
                </a:solidFill>
                <a:latin typeface="Calibri"/>
                <a:ea typeface="맑은 고딕"/>
                <a:cs typeface="Calibri"/>
              </a:rPr>
              <a:t>The main job of the pit crew </a:t>
            </a:r>
            <a:r>
              <a:rPr lang="en-US" altLang="ko-KR" sz="2100" b="1" dirty="0">
                <a:solidFill>
                  <a:srgbClr val="1F2328"/>
                </a:solidFill>
                <a:latin typeface="Calibri"/>
                <a:ea typeface="맑은 고딕"/>
                <a:cs typeface="Calibri"/>
              </a:rPr>
              <a:t>[ </a:t>
            </a:r>
            <a:r>
              <a:rPr lang="en-US" altLang="ko-KR" sz="2100" b="1" dirty="0">
                <a:solidFill>
                  <a:srgbClr val="1F2328"/>
                </a:solidFill>
                <a:latin typeface="Calibri"/>
                <a:ea typeface="맑은 고딕"/>
                <a:cs typeface="Calibri"/>
              </a:rPr>
              <a:t>are to check</a:t>
            </a:r>
            <a:r>
              <a:rPr lang="en-US" altLang="ko-KR" sz="2100" b="1" dirty="0">
                <a:solidFill>
                  <a:srgbClr val="1F2328"/>
                </a:solidFill>
                <a:latin typeface="Calibri"/>
                <a:ea typeface="맑은 고딕"/>
                <a:cs typeface="Calibri"/>
              </a:rPr>
              <a:t> / </a:t>
            </a:r>
            <a:r>
              <a:rPr lang="en-US" altLang="ko-KR" sz="2100" b="1" dirty="0">
                <a:solidFill>
                  <a:srgbClr val="1F2328"/>
                </a:solidFill>
                <a:latin typeface="Calibri"/>
                <a:ea typeface="맑은 고딕"/>
                <a:cs typeface="Calibri"/>
              </a:rPr>
              <a:t>is to check</a:t>
            </a:r>
            <a:r>
              <a:rPr lang="en-US" altLang="ko-KR" sz="2100" b="1" dirty="0">
                <a:solidFill>
                  <a:srgbClr val="1F2328"/>
                </a:solidFill>
                <a:latin typeface="Calibri"/>
                <a:ea typeface="맑은 고딕"/>
                <a:cs typeface="Calibri"/>
              </a:rPr>
              <a:t> ]</a:t>
            </a:r>
            <a:r>
              <a:rPr lang="en-US" altLang="ko-KR" sz="2100" b="0" dirty="0">
                <a:solidFill>
                  <a:srgbClr val="1F2328"/>
                </a:solidFill>
                <a:latin typeface="Calibri"/>
                <a:ea typeface="맑은 고딕"/>
                <a:cs typeface="Calibri"/>
              </a:rPr>
              <a:t> the car and change the tires.</a:t>
            </a:r>
            <a:r>
              <a:rPr lang="en-US" altLang="ko-KR" sz="2100" b="0" dirty="0">
                <a:solidFill>
                  <a:srgbClr val="1F2328"/>
                </a:solidFill>
                <a:latin typeface="Calibri"/>
                <a:ea typeface="맑은 고딕"/>
                <a:cs typeface="Calibri"/>
              </a:rPr>
              <a:t>   </a:t>
            </a:r>
            <a:r>
              <a:rPr lang="ko-KR" altLang="en-US" sz="2100" b="1" dirty="0">
                <a:solidFill>
                  <a:srgbClr val="1E2A5A"/>
                </a:solidFill>
                <a:latin typeface="맑은 고딕"/>
                <a:ea typeface="맑은 고딕"/>
                <a:cs typeface="맑은 고딕"/>
              </a:rPr>
              <a:t>⑤</a:t>
            </a:r>
            <a:r>
              <a:rPr lang="en-US" altLang="ko-KR" sz="2100" b="0" dirty="0">
                <a:solidFill>
                  <a:srgbClr val="1F2328"/>
                </a:solidFill>
                <a:latin typeface="Calibri"/>
                <a:ea typeface="맑은 고딕"/>
                <a:cs typeface="Calibri"/>
              </a:rPr>
              <a:t> </a:t>
            </a:r>
            <a:r>
              <a:rPr lang="en-US" altLang="ko-KR" sz="2100" b="1" dirty="0">
                <a:solidFill>
                  <a:srgbClr val="1F2328"/>
                </a:solidFill>
                <a:latin typeface="Calibri"/>
                <a:ea typeface="맑은 고딕"/>
                <a:cs typeface="Calibri"/>
              </a:rPr>
              <a:t>[ </a:t>
            </a:r>
            <a:r>
              <a:rPr lang="en-US" altLang="ko-KR" sz="2100" b="1" dirty="0">
                <a:solidFill>
                  <a:srgbClr val="1F2328"/>
                </a:solidFill>
                <a:latin typeface="Calibri"/>
                <a:ea typeface="맑은 고딕"/>
                <a:cs typeface="Calibri"/>
              </a:rPr>
              <a:t>Changing the tires are</a:t>
            </a:r>
            <a:r>
              <a:rPr lang="en-US" altLang="ko-KR" sz="2100" b="1" dirty="0">
                <a:solidFill>
                  <a:srgbClr val="1F2328"/>
                </a:solidFill>
                <a:latin typeface="Calibri"/>
                <a:ea typeface="맑은 고딕"/>
                <a:cs typeface="Calibri"/>
              </a:rPr>
              <a:t> / </a:t>
            </a:r>
            <a:r>
              <a:rPr lang="en-US" altLang="ko-KR" sz="2100" b="1" dirty="0">
                <a:solidFill>
                  <a:srgbClr val="1F2328"/>
                </a:solidFill>
                <a:latin typeface="Calibri"/>
                <a:ea typeface="맑은 고딕"/>
                <a:cs typeface="Calibri"/>
              </a:rPr>
              <a:t>Changing the tires is</a:t>
            </a:r>
            <a:r>
              <a:rPr lang="en-US" altLang="ko-KR" sz="2100" b="1" dirty="0">
                <a:solidFill>
                  <a:srgbClr val="1F2328"/>
                </a:solidFill>
                <a:latin typeface="Calibri"/>
                <a:ea typeface="맑은 고딕"/>
                <a:cs typeface="Calibri"/>
              </a:rPr>
              <a:t> ]</a:t>
            </a:r>
            <a:r>
              <a:rPr lang="en-US" altLang="ko-KR" sz="2100" b="0" dirty="0">
                <a:solidFill>
                  <a:srgbClr val="1F2328"/>
                </a:solidFill>
                <a:latin typeface="Calibri"/>
                <a:ea typeface="맑은 고딕"/>
                <a:cs typeface="Calibri"/>
              </a:rPr>
              <a:t> especially important because the tires wear out </a:t>
            </a:r>
            <a:r>
              <a:rPr lang="en-US" altLang="ko-KR" sz="2100" b="1" dirty="0">
                <a:solidFill>
                  <a:srgbClr val="1F2328"/>
                </a:solidFill>
                <a:latin typeface="Calibri"/>
                <a:ea typeface="맑은 고딕"/>
                <a:cs typeface="Calibri"/>
              </a:rPr>
              <a:t>[ </a:t>
            </a:r>
            <a:r>
              <a:rPr lang="en-US" altLang="ko-KR" sz="2100" b="1" dirty="0">
                <a:solidFill>
                  <a:srgbClr val="1F2328"/>
                </a:solidFill>
                <a:latin typeface="Calibri"/>
                <a:ea typeface="맑은 고딕"/>
                <a:cs typeface="Calibri"/>
              </a:rPr>
              <a:t>easily</a:t>
            </a:r>
            <a:r>
              <a:rPr lang="en-US" altLang="ko-KR" sz="2100" b="1" dirty="0">
                <a:solidFill>
                  <a:srgbClr val="1F2328"/>
                </a:solidFill>
                <a:latin typeface="Calibri"/>
                <a:ea typeface="맑은 고딕"/>
                <a:cs typeface="Calibri"/>
              </a:rPr>
              <a:t> / </a:t>
            </a:r>
            <a:r>
              <a:rPr lang="en-US" altLang="ko-KR" sz="2100" b="1" dirty="0">
                <a:solidFill>
                  <a:srgbClr val="1F2328"/>
                </a:solidFill>
                <a:latin typeface="Calibri"/>
                <a:ea typeface="맑은 고딕"/>
                <a:cs typeface="Calibri"/>
              </a:rPr>
              <a:t>easy</a:t>
            </a:r>
            <a:r>
              <a:rPr lang="en-US" altLang="ko-KR" sz="2100" b="1" dirty="0">
                <a:solidFill>
                  <a:srgbClr val="1F2328"/>
                </a:solidFill>
                <a:latin typeface="Calibri"/>
                <a:ea typeface="맑은 고딕"/>
                <a:cs typeface="Calibri"/>
              </a:rPr>
              <a:t> ]</a:t>
            </a:r>
            <a:r>
              <a:rPr lang="en-US" altLang="ko-KR" sz="2100" b="0" dirty="0">
                <a:solidFill>
                  <a:srgbClr val="1F2328"/>
                </a:solidFill>
                <a:latin typeface="Calibri"/>
                <a:ea typeface="맑은 고딕"/>
                <a:cs typeface="Calibri"/>
              </a:rPr>
              <a:t> in a high speed race.</a:t>
            </a:r>
            <a:r>
              <a:rPr lang="en-US" altLang="ko-KR" sz="2100" b="0" dirty="0">
                <a:solidFill>
                  <a:srgbClr val="1F2328"/>
                </a:solidFill>
                <a:latin typeface="Calibri"/>
                <a:ea typeface="맑은 고딕"/>
                <a:cs typeface="Calibri"/>
              </a:rPr>
              <a:t>   </a:t>
            </a:r>
            <a:r>
              <a:rPr lang="ko-KR" altLang="en-US" sz="2100" b="1" dirty="0">
                <a:solidFill>
                  <a:srgbClr val="1E2A5A"/>
                </a:solidFill>
                <a:latin typeface="맑은 고딕"/>
                <a:ea typeface="맑은 고딕"/>
                <a:cs typeface="맑은 고딕"/>
              </a:rPr>
              <a:t>⑥</a:t>
            </a:r>
            <a:r>
              <a:rPr lang="en-US" altLang="ko-KR" sz="2100" b="0" dirty="0">
                <a:solidFill>
                  <a:srgbClr val="1F2328"/>
                </a:solidFill>
                <a:latin typeface="Calibri"/>
                <a:ea typeface="맑은 고딕"/>
                <a:cs typeface="Calibri"/>
              </a:rPr>
              <a:t> </a:t>
            </a:r>
            <a:r>
              <a:rPr lang="en-US" altLang="ko-KR" sz="2100" b="0" dirty="0">
                <a:solidFill>
                  <a:srgbClr val="1F2328"/>
                </a:solidFill>
                <a:latin typeface="Calibri"/>
                <a:ea typeface="맑은 고딕"/>
                <a:cs typeface="Calibri"/>
              </a:rPr>
              <a:t>A pit stop can be as short as 2 seconds, and there are as many as 20 members on a crew.</a:t>
            </a:r>
            <a:r>
              <a:rPr lang="en-US" altLang="ko-KR" sz="2100" b="0" dirty="0">
                <a:solidFill>
                  <a:srgbClr val="1F2328"/>
                </a:solidFill>
                <a:latin typeface="Calibri"/>
                <a:ea typeface="맑은 고딕"/>
                <a:cs typeface="Calibri"/>
              </a:rPr>
              <a:t>   </a:t>
            </a:r>
            <a:r>
              <a:rPr lang="ko-KR" altLang="en-US" sz="2100" b="1" dirty="0">
                <a:solidFill>
                  <a:srgbClr val="1E2A5A"/>
                </a:solidFill>
                <a:latin typeface="맑은 고딕"/>
                <a:ea typeface="맑은 고딕"/>
                <a:cs typeface="맑은 고딕"/>
              </a:rPr>
              <a:t>⑦</a:t>
            </a:r>
            <a:r>
              <a:rPr lang="en-US" altLang="ko-KR" sz="2100" b="0" dirty="0">
                <a:solidFill>
                  <a:srgbClr val="1F2328"/>
                </a:solidFill>
                <a:latin typeface="Calibri"/>
                <a:ea typeface="맑은 고딕"/>
                <a:cs typeface="Calibri"/>
              </a:rPr>
              <a:t> </a:t>
            </a:r>
            <a:r>
              <a:rPr lang="en-US" altLang="ko-KR" sz="2100" b="0" dirty="0">
                <a:solidFill>
                  <a:srgbClr val="1F2328"/>
                </a:solidFill>
                <a:latin typeface="Calibri"/>
                <a:ea typeface="맑은 고딕"/>
                <a:cs typeface="Calibri"/>
              </a:rPr>
              <a:t>Therefore, the pit crew has to work in perfect harmony.</a:t>
            </a:r>
            <a:r>
              <a:rPr lang="en-US" altLang="ko-KR" sz="2100" b="0" dirty="0">
                <a:solidFill>
                  <a:srgbClr val="1F2328"/>
                </a:solidFill>
                <a:latin typeface="Calibri"/>
                <a:ea typeface="맑은 고딕"/>
                <a:cs typeface="Calibri"/>
              </a:rPr>
              <a:t>   </a:t>
            </a:r>
            <a:r>
              <a:rPr lang="ko-KR" altLang="en-US" sz="2100" b="1" dirty="0">
                <a:solidFill>
                  <a:srgbClr val="1E2A5A"/>
                </a:solidFill>
                <a:latin typeface="맑은 고딕"/>
                <a:ea typeface="맑은 고딕"/>
                <a:cs typeface="맑은 고딕"/>
              </a:rPr>
              <a:t>⑧</a:t>
            </a:r>
            <a:r>
              <a:rPr lang="en-US" altLang="ko-KR" sz="2100" b="0" dirty="0">
                <a:solidFill>
                  <a:srgbClr val="1F2328"/>
                </a:solidFill>
                <a:latin typeface="Calibri"/>
                <a:ea typeface="맑은 고딕"/>
                <a:cs typeface="Calibri"/>
              </a:rPr>
              <a:t> </a:t>
            </a:r>
            <a:r>
              <a:rPr lang="en-US" altLang="ko-KR" sz="2100" b="0" dirty="0">
                <a:solidFill>
                  <a:srgbClr val="1F2328"/>
                </a:solidFill>
                <a:latin typeface="Calibri"/>
                <a:ea typeface="맑은 고딕"/>
                <a:cs typeface="Calibri"/>
              </a:rPr>
              <a:t>The driver may get all the attention, but as people say, “Races </a:t>
            </a:r>
            <a:r>
              <a:rPr lang="en-US" altLang="ko-KR" sz="2100" b="1" dirty="0">
                <a:solidFill>
                  <a:srgbClr val="1F2328"/>
                </a:solidFill>
                <a:latin typeface="Calibri"/>
                <a:ea typeface="맑은 고딕"/>
                <a:cs typeface="Calibri"/>
              </a:rPr>
              <a:t>[ </a:t>
            </a:r>
            <a:r>
              <a:rPr lang="en-US" altLang="ko-KR" sz="2100" b="1" dirty="0">
                <a:solidFill>
                  <a:srgbClr val="1F2328"/>
                </a:solidFill>
                <a:latin typeface="Calibri"/>
                <a:ea typeface="맑은 고딕"/>
                <a:cs typeface="Calibri"/>
              </a:rPr>
              <a:t>are won</a:t>
            </a:r>
            <a:r>
              <a:rPr lang="en-US" altLang="ko-KR" sz="2100" b="1" dirty="0">
                <a:solidFill>
                  <a:srgbClr val="1F2328"/>
                </a:solidFill>
                <a:latin typeface="Calibri"/>
                <a:ea typeface="맑은 고딕"/>
                <a:cs typeface="Calibri"/>
              </a:rPr>
              <a:t> / </a:t>
            </a:r>
            <a:r>
              <a:rPr lang="en-US" altLang="ko-KR" sz="2100" b="1" dirty="0">
                <a:solidFill>
                  <a:srgbClr val="1F2328"/>
                </a:solidFill>
                <a:latin typeface="Calibri"/>
                <a:ea typeface="맑은 고딕"/>
                <a:cs typeface="Calibri"/>
              </a:rPr>
              <a:t>win</a:t>
            </a:r>
            <a:r>
              <a:rPr lang="en-US" altLang="ko-KR" sz="2100" b="1" dirty="0">
                <a:solidFill>
                  <a:srgbClr val="1F2328"/>
                </a:solidFill>
                <a:latin typeface="Calibri"/>
                <a:ea typeface="맑은 고딕"/>
                <a:cs typeface="Calibri"/>
              </a:rPr>
              <a:t> ]</a:t>
            </a:r>
            <a:r>
              <a:rPr lang="en-US" altLang="ko-KR" sz="2100" b="0" dirty="0">
                <a:solidFill>
                  <a:srgbClr val="1F2328"/>
                </a:solidFill>
                <a:latin typeface="Calibri"/>
                <a:ea typeface="맑은 고딕"/>
                <a:cs typeface="Calibri"/>
              </a:rPr>
              <a:t> in the pits.”</a:t>
            </a:r>
            <a:endParaRPr lang="en-US" altLang="ko-KR" sz="2100" b="0" dirty="0">
              <a:solidFill>
                <a:srgbClr val="1F2328"/>
              </a:solidFill>
              <a:latin typeface="Calibri"/>
              <a:ea typeface="맑은 고딕"/>
              <a:cs typeface="Calibri"/>
            </a:endParaRPr>
          </a:p>
        </p:txBody>
      </p:sp>
      <p:sp>
        <p:nvSpPr>
          <p:cNvPr id="9" name="rv_g01"/>
          <p:cNvSpPr txBox="1"/>
          <p:nvPr/>
        </p:nvSpPr>
        <p:spPr>
          <a:xfrm>
            <a:off x="457200" y="950976"/>
            <a:ext cx="11277295" cy="5060696"/>
          </a:xfrm>
          <a:prstGeom prst="rect">
            <a:avLst/>
          </a:prstGeom>
          <a:noFill/>
        </p:spPr>
        <p:txBody>
          <a:bodyPr wrap="square" lIns="228600" tIns="155448" rIns="228600" bIns="155448" anchor="t" rtlCol="0">
            <a:noAutofit/>
          </a:bodyPr>
          <a:lstStyle/>
          <a:p>
            <a:pPr algn="l">
              <a:lnSpc>
                <a:spcPts val="3400"/>
              </a:lnSpc>
              <a:spcBef>
                <a:spcPts val="0"/>
              </a:spcBef>
              <a:spcAft>
                <a:spcPts val="0"/>
              </a:spcAft>
              <a:buNone/>
            </a:pPr>
            <a:r>
              <a:rPr lang="ko-KR" altLang="en-US" sz="2100" b="1" dirty="0">
                <a:solidFill>
                  <a:srgbClr val="1E2A5A">
                    <a:alpha val="0"/>
                  </a:srgbClr>
                </a:solidFill>
                <a:latin typeface="맑은 고딕"/>
                <a:ea typeface="맑은 고딕"/>
                <a:cs typeface="맑은 고딕"/>
              </a:rPr>
              <a:t>①</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You may only see the car and the driver during most car races, but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there are a team</a:t>
            </a:r>
            <a:r>
              <a:rPr lang="en-US" altLang="ko-KR" sz="2100" b="1" dirty="0">
                <a:solidFill>
                  <a:srgbClr val="1F2328">
                    <a:alpha val="0"/>
                  </a:srgbClr>
                </a:solidFill>
                <a:latin typeface="Calibri"/>
                <a:ea typeface="맑은 고딕"/>
                <a:cs typeface="Calibri"/>
              </a:rPr>
              <a:t> / </a:t>
            </a:r>
            <a:r>
              <a:rPr lang="en-US" altLang="ko-KR" sz="2100" b="1" dirty="0">
                <a:solidFill>
                  <a:srgbClr val="C00000"/>
                </a:solidFill>
                <a:highlight>
                  <a:srgbClr val="F3F5F9"/>
                </a:highlight>
                <a:latin typeface="Calibri"/>
                <a:ea typeface="맑은 고딕"/>
                <a:cs typeface="Calibri"/>
              </a:rPr>
              <a:t>there is a team</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behind the driver.</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②</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This team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is called</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calls</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a pit crew.</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③</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A pit is a place on the side of the race track, and drivers stop there several times during a race.</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④</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The main job of the pit crew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are to check</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is to check</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the car and change the tires.</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⑤</a:t>
            </a:r>
            <a:r>
              <a:rPr lang="en-US" altLang="ko-KR" sz="2100" b="0"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Changing the tires are</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Changing the tires is</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especially important because the tires wear out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easily</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easy</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in a high speed race.</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⑥</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A pit stop can be as short as 2 seconds, and there are as many as 20 members on a crew.</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⑦</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Therefore, the pit crew has to work in perfect harmony.</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⑧</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The driver may get all the attention, but as people say, “Races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are won</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win</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in the pits.”</a:t>
            </a:r>
            <a:endParaRPr lang="en-US" altLang="ko-KR" sz="2100" b="0" dirty="0">
              <a:solidFill>
                <a:srgbClr val="1F2328"/>
              </a:solidFill>
              <a:latin typeface="Calibri"/>
              <a:ea typeface="맑은 고딕"/>
              <a:cs typeface="Calibri"/>
            </a:endParaRPr>
          </a:p>
        </p:txBody>
      </p:sp>
      <p:sp>
        <p:nvSpPr>
          <p:cNvPr id="10" name="rv_g02"/>
          <p:cNvSpPr txBox="1"/>
          <p:nvPr/>
        </p:nvSpPr>
        <p:spPr>
          <a:xfrm>
            <a:off x="457200" y="950976"/>
            <a:ext cx="11277295" cy="5060696"/>
          </a:xfrm>
          <a:prstGeom prst="rect">
            <a:avLst/>
          </a:prstGeom>
          <a:noFill/>
        </p:spPr>
        <p:txBody>
          <a:bodyPr wrap="square" lIns="228600" tIns="155448" rIns="228600" bIns="155448" anchor="t" rtlCol="0">
            <a:noAutofit/>
          </a:bodyPr>
          <a:lstStyle/>
          <a:p>
            <a:pPr algn="l">
              <a:lnSpc>
                <a:spcPts val="3400"/>
              </a:lnSpc>
              <a:spcBef>
                <a:spcPts val="0"/>
              </a:spcBef>
              <a:spcAft>
                <a:spcPts val="0"/>
              </a:spcAft>
              <a:buNone/>
            </a:pPr>
            <a:r>
              <a:rPr lang="ko-KR" altLang="en-US" sz="2100" b="1" dirty="0">
                <a:solidFill>
                  <a:srgbClr val="1E2A5A">
                    <a:alpha val="0"/>
                  </a:srgbClr>
                </a:solidFill>
                <a:latin typeface="맑은 고딕"/>
                <a:ea typeface="맑은 고딕"/>
                <a:cs typeface="맑은 고딕"/>
              </a:rPr>
              <a:t>①</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You may only see the car and the driver during most car races, but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there are a team</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there is a team</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behind the driver.</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②</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This team </a:t>
            </a:r>
            <a:r>
              <a:rPr lang="en-US" altLang="ko-KR" sz="2100" b="1" dirty="0">
                <a:solidFill>
                  <a:srgbClr val="1F2328">
                    <a:alpha val="0"/>
                  </a:srgbClr>
                </a:solidFill>
                <a:latin typeface="Calibri"/>
                <a:ea typeface="맑은 고딕"/>
                <a:cs typeface="Calibri"/>
              </a:rPr>
              <a:t>[ </a:t>
            </a:r>
            <a:r>
              <a:rPr lang="en-US" altLang="ko-KR" sz="2100" b="1" dirty="0">
                <a:solidFill>
                  <a:srgbClr val="C00000"/>
                </a:solidFill>
                <a:highlight>
                  <a:srgbClr val="F3F5F9"/>
                </a:highlight>
                <a:latin typeface="Calibri"/>
                <a:ea typeface="맑은 고딕"/>
                <a:cs typeface="Calibri"/>
              </a:rPr>
              <a:t>is called</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calls</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a pit crew.</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③</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A pit is a place on the side of the race track, and drivers stop there several times during a race.</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④</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The main job of the pit crew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are to check</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is to check</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the car and change the tires.</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⑤</a:t>
            </a:r>
            <a:r>
              <a:rPr lang="en-US" altLang="ko-KR" sz="2100" b="0"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Changing the tires are</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Changing the tires is</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especially important because the tires wear out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easily</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easy</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in a high speed race.</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⑥</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A pit stop can be as short as 2 seconds, and there are as many as 20 members on a crew.</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⑦</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Therefore, the pit crew has to work in perfect harmony.</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⑧</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The driver may get all the attention, but as people say, “Races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are won</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win</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in the pits.”</a:t>
            </a:r>
            <a:endParaRPr lang="en-US" altLang="ko-KR" sz="2100" b="0" dirty="0">
              <a:solidFill>
                <a:srgbClr val="1F2328"/>
              </a:solidFill>
              <a:latin typeface="Calibri"/>
              <a:ea typeface="맑은 고딕"/>
              <a:cs typeface="Calibri"/>
            </a:endParaRPr>
          </a:p>
        </p:txBody>
      </p:sp>
      <p:sp>
        <p:nvSpPr>
          <p:cNvPr id="11" name="rv_g03"/>
          <p:cNvSpPr txBox="1"/>
          <p:nvPr/>
        </p:nvSpPr>
        <p:spPr>
          <a:xfrm>
            <a:off x="457200" y="950976"/>
            <a:ext cx="11277295" cy="5060696"/>
          </a:xfrm>
          <a:prstGeom prst="rect">
            <a:avLst/>
          </a:prstGeom>
          <a:noFill/>
        </p:spPr>
        <p:txBody>
          <a:bodyPr wrap="square" lIns="228600" tIns="155448" rIns="228600" bIns="155448" anchor="t" rtlCol="0">
            <a:noAutofit/>
          </a:bodyPr>
          <a:lstStyle/>
          <a:p>
            <a:pPr algn="l">
              <a:lnSpc>
                <a:spcPts val="3400"/>
              </a:lnSpc>
              <a:spcBef>
                <a:spcPts val="0"/>
              </a:spcBef>
              <a:spcAft>
                <a:spcPts val="0"/>
              </a:spcAft>
              <a:buNone/>
            </a:pPr>
            <a:r>
              <a:rPr lang="ko-KR" altLang="en-US" sz="2100" b="1" dirty="0">
                <a:solidFill>
                  <a:srgbClr val="1E2A5A">
                    <a:alpha val="0"/>
                  </a:srgbClr>
                </a:solidFill>
                <a:latin typeface="맑은 고딕"/>
                <a:ea typeface="맑은 고딕"/>
                <a:cs typeface="맑은 고딕"/>
              </a:rPr>
              <a:t>①</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You may only see the car and the driver during most car races, but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there are a team</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there is a team</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behind the driver.</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②</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This team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is called</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calls</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a pit crew.</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③</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A pit is a place on the side of the race track, and drivers stop there several times during a race.</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④</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The main job of the pit crew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are to check</a:t>
            </a:r>
            <a:r>
              <a:rPr lang="en-US" altLang="ko-KR" sz="2100" b="1" dirty="0">
                <a:solidFill>
                  <a:srgbClr val="1F2328">
                    <a:alpha val="0"/>
                  </a:srgbClr>
                </a:solidFill>
                <a:latin typeface="Calibri"/>
                <a:ea typeface="맑은 고딕"/>
                <a:cs typeface="Calibri"/>
              </a:rPr>
              <a:t> / </a:t>
            </a:r>
            <a:r>
              <a:rPr lang="en-US" altLang="ko-KR" sz="2100" b="1" dirty="0">
                <a:solidFill>
                  <a:srgbClr val="C00000"/>
                </a:solidFill>
                <a:highlight>
                  <a:srgbClr val="F3F5F9"/>
                </a:highlight>
                <a:latin typeface="Calibri"/>
                <a:ea typeface="맑은 고딕"/>
                <a:cs typeface="Calibri"/>
              </a:rPr>
              <a:t>is to check</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the car and change the tires.</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⑤</a:t>
            </a:r>
            <a:r>
              <a:rPr lang="en-US" altLang="ko-KR" sz="2100" b="0"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Changing the tires are</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Changing the tires is</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especially important because the tires wear out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easily</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easy</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in a high speed race.</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⑥</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A pit stop can be as short as 2 seconds, and there are as many as 20 members on a crew.</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⑦</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Therefore, the pit crew has to work in perfect harmony.</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⑧</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The driver may get all the attention, but as people say, “Races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are won</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win</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in the pits.”</a:t>
            </a:r>
            <a:endParaRPr lang="en-US" altLang="ko-KR" sz="2100" b="0" dirty="0">
              <a:solidFill>
                <a:srgbClr val="1F2328"/>
              </a:solidFill>
              <a:latin typeface="Calibri"/>
              <a:ea typeface="맑은 고딕"/>
              <a:cs typeface="Calibri"/>
            </a:endParaRPr>
          </a:p>
        </p:txBody>
      </p:sp>
      <p:sp>
        <p:nvSpPr>
          <p:cNvPr id="12" name="rv_g04"/>
          <p:cNvSpPr txBox="1"/>
          <p:nvPr/>
        </p:nvSpPr>
        <p:spPr>
          <a:xfrm>
            <a:off x="457200" y="950976"/>
            <a:ext cx="11277295" cy="5060696"/>
          </a:xfrm>
          <a:prstGeom prst="rect">
            <a:avLst/>
          </a:prstGeom>
          <a:noFill/>
        </p:spPr>
        <p:txBody>
          <a:bodyPr wrap="square" lIns="228600" tIns="155448" rIns="228600" bIns="155448" anchor="t" rtlCol="0">
            <a:noAutofit/>
          </a:bodyPr>
          <a:lstStyle/>
          <a:p>
            <a:pPr algn="l">
              <a:lnSpc>
                <a:spcPts val="3400"/>
              </a:lnSpc>
              <a:spcBef>
                <a:spcPts val="0"/>
              </a:spcBef>
              <a:spcAft>
                <a:spcPts val="0"/>
              </a:spcAft>
              <a:buNone/>
            </a:pPr>
            <a:r>
              <a:rPr lang="ko-KR" altLang="en-US" sz="2100" b="1" dirty="0">
                <a:solidFill>
                  <a:srgbClr val="1E2A5A">
                    <a:alpha val="0"/>
                  </a:srgbClr>
                </a:solidFill>
                <a:latin typeface="맑은 고딕"/>
                <a:ea typeface="맑은 고딕"/>
                <a:cs typeface="맑은 고딕"/>
              </a:rPr>
              <a:t>①</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You may only see the car and the driver during most car races, but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there are a team</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there is a team</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behind the driver.</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②</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This team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is called</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calls</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a pit crew.</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③</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A pit is a place on the side of the race track, and drivers stop there several times during a race.</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④</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The main job of the pit crew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are to check</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is to check</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the car and change the tires.</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⑤</a:t>
            </a:r>
            <a:r>
              <a:rPr lang="en-US" altLang="ko-KR" sz="2100" b="0"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Changing the tires are</a:t>
            </a:r>
            <a:r>
              <a:rPr lang="en-US" altLang="ko-KR" sz="2100" b="1" dirty="0">
                <a:solidFill>
                  <a:srgbClr val="1F2328">
                    <a:alpha val="0"/>
                  </a:srgbClr>
                </a:solidFill>
                <a:latin typeface="Calibri"/>
                <a:ea typeface="맑은 고딕"/>
                <a:cs typeface="Calibri"/>
              </a:rPr>
              <a:t> / </a:t>
            </a:r>
            <a:r>
              <a:rPr lang="en-US" altLang="ko-KR" sz="2100" b="1" dirty="0">
                <a:solidFill>
                  <a:srgbClr val="C00000"/>
                </a:solidFill>
                <a:highlight>
                  <a:srgbClr val="F3F5F9"/>
                </a:highlight>
                <a:latin typeface="Calibri"/>
                <a:ea typeface="맑은 고딕"/>
                <a:cs typeface="Calibri"/>
              </a:rPr>
              <a:t>Changing the tires is</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especially important because the tires wear out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easily</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easy</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in a high speed race.</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⑥</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A pit stop can be as short as 2 seconds, and there are as many as 20 members on a crew.</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⑦</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Therefore, the pit crew has to work in perfect harmony.</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⑧</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The driver may get all the attention, but as people say, “Races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are won</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win</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in the pits.”</a:t>
            </a:r>
            <a:endParaRPr lang="en-US" altLang="ko-KR" sz="2100" b="0" dirty="0">
              <a:solidFill>
                <a:srgbClr val="1F2328"/>
              </a:solidFill>
              <a:latin typeface="Calibri"/>
              <a:ea typeface="맑은 고딕"/>
              <a:cs typeface="Calibri"/>
            </a:endParaRPr>
          </a:p>
        </p:txBody>
      </p:sp>
      <p:sp>
        <p:nvSpPr>
          <p:cNvPr id="13" name="rv_g05"/>
          <p:cNvSpPr txBox="1"/>
          <p:nvPr/>
        </p:nvSpPr>
        <p:spPr>
          <a:xfrm>
            <a:off x="457200" y="950976"/>
            <a:ext cx="11277295" cy="5060696"/>
          </a:xfrm>
          <a:prstGeom prst="rect">
            <a:avLst/>
          </a:prstGeom>
          <a:noFill/>
        </p:spPr>
        <p:txBody>
          <a:bodyPr wrap="square" lIns="228600" tIns="155448" rIns="228600" bIns="155448" anchor="t" rtlCol="0">
            <a:noAutofit/>
          </a:bodyPr>
          <a:lstStyle/>
          <a:p>
            <a:pPr algn="l">
              <a:lnSpc>
                <a:spcPts val="3400"/>
              </a:lnSpc>
              <a:spcBef>
                <a:spcPts val="0"/>
              </a:spcBef>
              <a:spcAft>
                <a:spcPts val="0"/>
              </a:spcAft>
              <a:buNone/>
            </a:pPr>
            <a:r>
              <a:rPr lang="ko-KR" altLang="en-US" sz="2100" b="1" dirty="0">
                <a:solidFill>
                  <a:srgbClr val="1E2A5A">
                    <a:alpha val="0"/>
                  </a:srgbClr>
                </a:solidFill>
                <a:latin typeface="맑은 고딕"/>
                <a:ea typeface="맑은 고딕"/>
                <a:cs typeface="맑은 고딕"/>
              </a:rPr>
              <a:t>①</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You may only see the car and the driver during most car races, but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there are a team</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there is a team</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behind the driver.</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②</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This team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is called</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calls</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a pit crew.</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③</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A pit is a place on the side of the race track, and drivers stop there several times during a race.</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④</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The main job of the pit crew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are to check</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is to check</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the car and change the tires.</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⑤</a:t>
            </a:r>
            <a:r>
              <a:rPr lang="en-US" altLang="ko-KR" sz="2100" b="0"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Changing the tires are</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Changing the tires is</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especially important because the tires wear out </a:t>
            </a:r>
            <a:r>
              <a:rPr lang="en-US" altLang="ko-KR" sz="2100" b="1" dirty="0">
                <a:solidFill>
                  <a:srgbClr val="1F2328">
                    <a:alpha val="0"/>
                  </a:srgbClr>
                </a:solidFill>
                <a:latin typeface="Calibri"/>
                <a:ea typeface="맑은 고딕"/>
                <a:cs typeface="Calibri"/>
              </a:rPr>
              <a:t>[ </a:t>
            </a:r>
            <a:r>
              <a:rPr lang="en-US" altLang="ko-KR" sz="2100" b="1" dirty="0">
                <a:solidFill>
                  <a:srgbClr val="C00000"/>
                </a:solidFill>
                <a:highlight>
                  <a:srgbClr val="F3F5F9"/>
                </a:highlight>
                <a:latin typeface="Calibri"/>
                <a:ea typeface="맑은 고딕"/>
                <a:cs typeface="Calibri"/>
              </a:rPr>
              <a:t>easily</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easy</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in a high speed race.</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⑥</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A pit stop can be as short as 2 seconds, and there are as many as 20 members on a crew.</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⑦</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Therefore, the pit crew has to work in perfect harmony.</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⑧</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The driver may get all the attention, but as people say, “Races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are won</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win</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in the pits.”</a:t>
            </a:r>
            <a:endParaRPr lang="en-US" altLang="ko-KR" sz="2100" b="0" dirty="0">
              <a:solidFill>
                <a:srgbClr val="1F2328"/>
              </a:solidFill>
              <a:latin typeface="Calibri"/>
              <a:ea typeface="맑은 고딕"/>
              <a:cs typeface="Calibri"/>
            </a:endParaRPr>
          </a:p>
        </p:txBody>
      </p:sp>
      <p:sp>
        <p:nvSpPr>
          <p:cNvPr id="14" name="rv_g06"/>
          <p:cNvSpPr txBox="1"/>
          <p:nvPr/>
        </p:nvSpPr>
        <p:spPr>
          <a:xfrm>
            <a:off x="457200" y="950976"/>
            <a:ext cx="11277295" cy="5060696"/>
          </a:xfrm>
          <a:prstGeom prst="rect">
            <a:avLst/>
          </a:prstGeom>
          <a:noFill/>
        </p:spPr>
        <p:txBody>
          <a:bodyPr wrap="square" lIns="228600" tIns="155448" rIns="228600" bIns="155448" anchor="t" rtlCol="0">
            <a:noAutofit/>
          </a:bodyPr>
          <a:lstStyle/>
          <a:p>
            <a:pPr algn="l">
              <a:lnSpc>
                <a:spcPts val="3400"/>
              </a:lnSpc>
              <a:spcBef>
                <a:spcPts val="0"/>
              </a:spcBef>
              <a:spcAft>
                <a:spcPts val="0"/>
              </a:spcAft>
              <a:buNone/>
            </a:pPr>
            <a:r>
              <a:rPr lang="ko-KR" altLang="en-US" sz="2100" b="1" dirty="0">
                <a:solidFill>
                  <a:srgbClr val="1E2A5A">
                    <a:alpha val="0"/>
                  </a:srgbClr>
                </a:solidFill>
                <a:latin typeface="맑은 고딕"/>
                <a:ea typeface="맑은 고딕"/>
                <a:cs typeface="맑은 고딕"/>
              </a:rPr>
              <a:t>①</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You may only see the car and the driver during most car races, but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there are a team</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there is a team</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behind the driver.</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②</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This team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is called</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calls</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a pit crew.</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③</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A pit is a place on the side of the race track, and drivers stop there several times during a race.</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④</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The main job of the pit crew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are to check</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is to check</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the car and change the tires.</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⑤</a:t>
            </a:r>
            <a:r>
              <a:rPr lang="en-US" altLang="ko-KR" sz="2100" b="0"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Changing the tires are</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Changing the tires is</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especially important because the tires wear out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easily</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easy</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in a high speed race.</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⑥</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A pit stop can be as short as 2 seconds, and there are as many as 20 members on a crew.</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⑦</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Therefore, the pit crew has to work in perfect harmony.</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⑧</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The driver may get all the attention, but as people say, “Races </a:t>
            </a:r>
            <a:r>
              <a:rPr lang="en-US" altLang="ko-KR" sz="2100" b="1" dirty="0">
                <a:solidFill>
                  <a:srgbClr val="1F2328">
                    <a:alpha val="0"/>
                  </a:srgbClr>
                </a:solidFill>
                <a:latin typeface="Calibri"/>
                <a:ea typeface="맑은 고딕"/>
                <a:cs typeface="Calibri"/>
              </a:rPr>
              <a:t>[ </a:t>
            </a:r>
            <a:r>
              <a:rPr lang="en-US" altLang="ko-KR" sz="2100" b="1" dirty="0">
                <a:solidFill>
                  <a:srgbClr val="C00000"/>
                </a:solidFill>
                <a:highlight>
                  <a:srgbClr val="F3F5F9"/>
                </a:highlight>
                <a:latin typeface="Calibri"/>
                <a:ea typeface="맑은 고딕"/>
                <a:cs typeface="Calibri"/>
              </a:rPr>
              <a:t>are won</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win</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in the pits.”</a:t>
            </a:r>
            <a:endParaRPr lang="en-US" altLang="ko-KR" sz="2100" b="0" dirty="0">
              <a:solidFill>
                <a:srgbClr val="1F2328"/>
              </a:solidFill>
              <a:latin typeface="Calibri"/>
              <a:ea typeface="맑은 고딕"/>
              <a:cs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25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25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25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250"/>
                                        <p:tgtEl>
                                          <p:spTgt spid="12"/>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250"/>
                                        <p:tgtEl>
                                          <p:spTgt spid="13"/>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4"/>
                                        </p:tgtEl>
                                        <p:attrNameLst>
                                          <p:attrName>style.visibility</p:attrName>
                                        </p:attrNameLst>
                                      </p:cBhvr>
                                      <p:to>
                                        <p:strVal val="visible"/>
                                      </p:to>
                                    </p:set>
                                    <p:animEffect transition="in" filter="fade">
                                      <p:cBhvr>
                                        <p:cTn id="32" dur="2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4" grpId="0" animBg="1"/>
    </p:bldLst>
  </p:timing>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L5-3</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3 · ②</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다음 글의 각 [  ] 안에서 문맥상 알맞은 것을 고르시오.</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5</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클릭할 때마다 괄호 속 정답이 앞에서부터 하나씩 빨간색으로 나타납니다 (총 6개)</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5060696"/>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5060696"/>
          </a:xfrm>
          <a:prstGeom prst="rect">
            <a:avLst/>
          </a:prstGeom>
          <a:noFill/>
        </p:spPr>
        <p:txBody>
          <a:bodyPr wrap="square" lIns="228600" tIns="155448" rIns="228600" bIns="155448" anchor="t" rtlCol="0">
            <a:noAutofit/>
          </a:bodyPr>
          <a:lstStyle/>
          <a:p>
            <a:pPr algn="l">
              <a:lnSpc>
                <a:spcPts val="3400"/>
              </a:lnSpc>
              <a:spcBef>
                <a:spcPts val="0"/>
              </a:spcBef>
              <a:spcAft>
                <a:spcPts val="0"/>
              </a:spcAft>
              <a:buNone/>
            </a:pPr>
            <a:r>
              <a:rPr lang="ko-KR" altLang="en-US" sz="2100" b="1" dirty="0">
                <a:solidFill>
                  <a:srgbClr val="1E2A5A"/>
                </a:solidFill>
                <a:latin typeface="맑은 고딕"/>
                <a:ea typeface="맑은 고딕"/>
                <a:cs typeface="맑은 고딕"/>
              </a:rPr>
              <a:t>①</a:t>
            </a:r>
            <a:r>
              <a:rPr lang="en-US" altLang="ko-KR" sz="2100" b="0" dirty="0">
                <a:solidFill>
                  <a:srgbClr val="1F2328"/>
                </a:solidFill>
                <a:latin typeface="Calibri"/>
                <a:ea typeface="맑은 고딕"/>
                <a:cs typeface="Calibri"/>
              </a:rPr>
              <a:t> </a:t>
            </a:r>
            <a:r>
              <a:rPr lang="en-US" altLang="ko-KR" sz="2100" b="0" dirty="0">
                <a:solidFill>
                  <a:srgbClr val="1F2328"/>
                </a:solidFill>
                <a:latin typeface="Calibri"/>
                <a:ea typeface="맑은 고딕"/>
                <a:cs typeface="Calibri"/>
              </a:rPr>
              <a:t>You may only see the car and the driver during most car races, but there is a team behind the driver.</a:t>
            </a:r>
            <a:r>
              <a:rPr lang="en-US" altLang="ko-KR" sz="2100" b="0" dirty="0">
                <a:solidFill>
                  <a:srgbClr val="1F2328"/>
                </a:solidFill>
                <a:latin typeface="Calibri"/>
                <a:ea typeface="맑은 고딕"/>
                <a:cs typeface="Calibri"/>
              </a:rPr>
              <a:t>   </a:t>
            </a:r>
            <a:r>
              <a:rPr lang="ko-KR" altLang="en-US" sz="2100" b="1" dirty="0">
                <a:solidFill>
                  <a:srgbClr val="1E2A5A"/>
                </a:solidFill>
                <a:latin typeface="맑은 고딕"/>
                <a:ea typeface="맑은 고딕"/>
                <a:cs typeface="맑은 고딕"/>
              </a:rPr>
              <a:t>②</a:t>
            </a:r>
            <a:r>
              <a:rPr lang="en-US" altLang="ko-KR" sz="2100" b="0" dirty="0">
                <a:solidFill>
                  <a:srgbClr val="1F2328"/>
                </a:solidFill>
                <a:latin typeface="Calibri"/>
                <a:ea typeface="맑은 고딕"/>
                <a:cs typeface="Calibri"/>
              </a:rPr>
              <a:t> </a:t>
            </a:r>
            <a:r>
              <a:rPr lang="en-US" altLang="ko-KR" sz="2100" b="0" dirty="0">
                <a:solidFill>
                  <a:srgbClr val="1F2328"/>
                </a:solidFill>
                <a:latin typeface="Calibri"/>
                <a:ea typeface="맑은 고딕"/>
                <a:cs typeface="Calibri"/>
              </a:rPr>
              <a:t>This team is called a pit crew.</a:t>
            </a:r>
            <a:r>
              <a:rPr lang="en-US" altLang="ko-KR" sz="2100" b="0" dirty="0">
                <a:solidFill>
                  <a:srgbClr val="1F2328"/>
                </a:solidFill>
                <a:latin typeface="Calibri"/>
                <a:ea typeface="맑은 고딕"/>
                <a:cs typeface="Calibri"/>
              </a:rPr>
              <a:t>   </a:t>
            </a:r>
            <a:r>
              <a:rPr lang="ko-KR" altLang="en-US" sz="2100" b="1" dirty="0">
                <a:solidFill>
                  <a:srgbClr val="1E2A5A"/>
                </a:solidFill>
                <a:latin typeface="맑은 고딕"/>
                <a:ea typeface="맑은 고딕"/>
                <a:cs typeface="맑은 고딕"/>
              </a:rPr>
              <a:t>③</a:t>
            </a:r>
            <a:r>
              <a:rPr lang="en-US" altLang="ko-KR" sz="2100" b="0" dirty="0">
                <a:solidFill>
                  <a:srgbClr val="1F2328"/>
                </a:solidFill>
                <a:latin typeface="Calibri"/>
                <a:ea typeface="맑은 고딕"/>
                <a:cs typeface="Calibri"/>
              </a:rPr>
              <a:t> </a:t>
            </a:r>
            <a:r>
              <a:rPr lang="en-US" altLang="ko-KR" sz="2100" b="0" dirty="0">
                <a:solidFill>
                  <a:srgbClr val="1F2328"/>
                </a:solidFill>
                <a:latin typeface="Calibri"/>
                <a:ea typeface="맑은 고딕"/>
                <a:cs typeface="Calibri"/>
              </a:rPr>
              <a:t>A pit is a place on the side of the race track, and </a:t>
            </a:r>
            <a:r>
              <a:rPr lang="en-US" altLang="ko-KR" sz="2100" b="1" dirty="0">
                <a:solidFill>
                  <a:srgbClr val="1F2328"/>
                </a:solidFill>
                <a:latin typeface="Calibri"/>
                <a:ea typeface="맑은 고딕"/>
                <a:cs typeface="Calibri"/>
              </a:rPr>
              <a:t>[ </a:t>
            </a:r>
            <a:r>
              <a:rPr lang="en-US" altLang="ko-KR" sz="2100" b="1" dirty="0">
                <a:solidFill>
                  <a:srgbClr val="1F2328"/>
                </a:solidFill>
                <a:latin typeface="Calibri"/>
                <a:ea typeface="맑은 고딕"/>
                <a:cs typeface="Calibri"/>
              </a:rPr>
              <a:t>drivers stop</a:t>
            </a:r>
            <a:r>
              <a:rPr lang="en-US" altLang="ko-KR" sz="2100" b="1" dirty="0">
                <a:solidFill>
                  <a:srgbClr val="1F2328"/>
                </a:solidFill>
                <a:latin typeface="Calibri"/>
                <a:ea typeface="맑은 고딕"/>
                <a:cs typeface="Calibri"/>
              </a:rPr>
              <a:t> / </a:t>
            </a:r>
            <a:r>
              <a:rPr lang="en-US" altLang="ko-KR" sz="2100" b="1" dirty="0">
                <a:solidFill>
                  <a:srgbClr val="1F2328"/>
                </a:solidFill>
                <a:latin typeface="Calibri"/>
                <a:ea typeface="맑은 고딕"/>
                <a:cs typeface="Calibri"/>
              </a:rPr>
              <a:t>drivers stops</a:t>
            </a:r>
            <a:r>
              <a:rPr lang="en-US" altLang="ko-KR" sz="2100" b="1" dirty="0">
                <a:solidFill>
                  <a:srgbClr val="1F2328"/>
                </a:solidFill>
                <a:latin typeface="Calibri"/>
                <a:ea typeface="맑은 고딕"/>
                <a:cs typeface="Calibri"/>
              </a:rPr>
              <a:t> ]</a:t>
            </a:r>
            <a:r>
              <a:rPr lang="en-US" altLang="ko-KR" sz="2100" b="0" dirty="0">
                <a:solidFill>
                  <a:srgbClr val="1F2328"/>
                </a:solidFill>
                <a:latin typeface="Calibri"/>
                <a:ea typeface="맑은 고딕"/>
                <a:cs typeface="Calibri"/>
              </a:rPr>
              <a:t> there several times during a race.</a:t>
            </a:r>
            <a:r>
              <a:rPr lang="en-US" altLang="ko-KR" sz="2100" b="0" dirty="0">
                <a:solidFill>
                  <a:srgbClr val="1F2328"/>
                </a:solidFill>
                <a:latin typeface="Calibri"/>
                <a:ea typeface="맑은 고딕"/>
                <a:cs typeface="Calibri"/>
              </a:rPr>
              <a:t>   </a:t>
            </a:r>
            <a:r>
              <a:rPr lang="ko-KR" altLang="en-US" sz="2100" b="1" dirty="0">
                <a:solidFill>
                  <a:srgbClr val="1E2A5A"/>
                </a:solidFill>
                <a:latin typeface="맑은 고딕"/>
                <a:ea typeface="맑은 고딕"/>
                <a:cs typeface="맑은 고딕"/>
              </a:rPr>
              <a:t>④</a:t>
            </a:r>
            <a:r>
              <a:rPr lang="en-US" altLang="ko-KR" sz="2100" b="0" dirty="0">
                <a:solidFill>
                  <a:srgbClr val="1F2328"/>
                </a:solidFill>
                <a:latin typeface="Calibri"/>
                <a:ea typeface="맑은 고딕"/>
                <a:cs typeface="Calibri"/>
              </a:rPr>
              <a:t> </a:t>
            </a:r>
            <a:r>
              <a:rPr lang="en-US" altLang="ko-KR" sz="2100" b="0" dirty="0">
                <a:solidFill>
                  <a:srgbClr val="1F2328"/>
                </a:solidFill>
                <a:latin typeface="Calibri"/>
                <a:ea typeface="맑은 고딕"/>
                <a:cs typeface="Calibri"/>
              </a:rPr>
              <a:t>The main job of the pit crew is to check the car and change the tires.</a:t>
            </a:r>
            <a:r>
              <a:rPr lang="en-US" altLang="ko-KR" sz="2100" b="0" dirty="0">
                <a:solidFill>
                  <a:srgbClr val="1F2328"/>
                </a:solidFill>
                <a:latin typeface="Calibri"/>
                <a:ea typeface="맑은 고딕"/>
                <a:cs typeface="Calibri"/>
              </a:rPr>
              <a:t>   </a:t>
            </a:r>
            <a:r>
              <a:rPr lang="ko-KR" altLang="en-US" sz="2100" b="1" dirty="0">
                <a:solidFill>
                  <a:srgbClr val="1E2A5A"/>
                </a:solidFill>
                <a:latin typeface="맑은 고딕"/>
                <a:ea typeface="맑은 고딕"/>
                <a:cs typeface="맑은 고딕"/>
              </a:rPr>
              <a:t>⑤</a:t>
            </a:r>
            <a:r>
              <a:rPr lang="en-US" altLang="ko-KR" sz="2100" b="0" dirty="0">
                <a:solidFill>
                  <a:srgbClr val="1F2328"/>
                </a:solidFill>
                <a:latin typeface="Calibri"/>
                <a:ea typeface="맑은 고딕"/>
                <a:cs typeface="Calibri"/>
              </a:rPr>
              <a:t> </a:t>
            </a:r>
            <a:r>
              <a:rPr lang="en-US" altLang="ko-KR" sz="2100" b="0" dirty="0">
                <a:solidFill>
                  <a:srgbClr val="1F2328"/>
                </a:solidFill>
                <a:latin typeface="Calibri"/>
                <a:ea typeface="맑은 고딕"/>
                <a:cs typeface="Calibri"/>
              </a:rPr>
              <a:t>Changing the tires is especially important </a:t>
            </a:r>
            <a:r>
              <a:rPr lang="en-US" altLang="ko-KR" sz="2100" b="1" dirty="0">
                <a:solidFill>
                  <a:srgbClr val="1F2328"/>
                </a:solidFill>
                <a:latin typeface="Calibri"/>
                <a:ea typeface="맑은 고딕"/>
                <a:cs typeface="Calibri"/>
              </a:rPr>
              <a:t>[ </a:t>
            </a:r>
            <a:r>
              <a:rPr lang="en-US" altLang="ko-KR" sz="2100" b="1" dirty="0">
                <a:solidFill>
                  <a:srgbClr val="1F2328"/>
                </a:solidFill>
                <a:latin typeface="Calibri"/>
                <a:ea typeface="맑은 고딕"/>
                <a:cs typeface="Calibri"/>
              </a:rPr>
              <a:t>because</a:t>
            </a:r>
            <a:r>
              <a:rPr lang="en-US" altLang="ko-KR" sz="2100" b="1" dirty="0">
                <a:solidFill>
                  <a:srgbClr val="1F2328"/>
                </a:solidFill>
                <a:latin typeface="Calibri"/>
                <a:ea typeface="맑은 고딕"/>
                <a:cs typeface="Calibri"/>
              </a:rPr>
              <a:t> / </a:t>
            </a:r>
            <a:r>
              <a:rPr lang="en-US" altLang="ko-KR" sz="2100" b="1" dirty="0">
                <a:solidFill>
                  <a:srgbClr val="1F2328"/>
                </a:solidFill>
                <a:latin typeface="Calibri"/>
                <a:ea typeface="맑은 고딕"/>
                <a:cs typeface="Calibri"/>
              </a:rPr>
              <a:t>because of</a:t>
            </a:r>
            <a:r>
              <a:rPr lang="en-US" altLang="ko-KR" sz="2100" b="1" dirty="0">
                <a:solidFill>
                  <a:srgbClr val="1F2328"/>
                </a:solidFill>
                <a:latin typeface="Calibri"/>
                <a:ea typeface="맑은 고딕"/>
                <a:cs typeface="Calibri"/>
              </a:rPr>
              <a:t> ]</a:t>
            </a:r>
            <a:r>
              <a:rPr lang="en-US" altLang="ko-KR" sz="2100" b="0" dirty="0">
                <a:solidFill>
                  <a:srgbClr val="1F2328"/>
                </a:solidFill>
                <a:latin typeface="Calibri"/>
                <a:ea typeface="맑은 고딕"/>
                <a:cs typeface="Calibri"/>
              </a:rPr>
              <a:t> the tires wear out easily in a high speed race.</a:t>
            </a:r>
            <a:r>
              <a:rPr lang="en-US" altLang="ko-KR" sz="2100" b="0" dirty="0">
                <a:solidFill>
                  <a:srgbClr val="1F2328"/>
                </a:solidFill>
                <a:latin typeface="Calibri"/>
                <a:ea typeface="맑은 고딕"/>
                <a:cs typeface="Calibri"/>
              </a:rPr>
              <a:t>   </a:t>
            </a:r>
            <a:r>
              <a:rPr lang="ko-KR" altLang="en-US" sz="2100" b="1" dirty="0">
                <a:solidFill>
                  <a:srgbClr val="1E2A5A"/>
                </a:solidFill>
                <a:latin typeface="맑은 고딕"/>
                <a:ea typeface="맑은 고딕"/>
                <a:cs typeface="맑은 고딕"/>
              </a:rPr>
              <a:t>⑥</a:t>
            </a:r>
            <a:r>
              <a:rPr lang="en-US" altLang="ko-KR" sz="2100" b="0" dirty="0">
                <a:solidFill>
                  <a:srgbClr val="1F2328"/>
                </a:solidFill>
                <a:latin typeface="Calibri"/>
                <a:ea typeface="맑은 고딕"/>
                <a:cs typeface="Calibri"/>
              </a:rPr>
              <a:t> </a:t>
            </a:r>
            <a:r>
              <a:rPr lang="en-US" altLang="ko-KR" sz="2100" b="0" dirty="0">
                <a:solidFill>
                  <a:srgbClr val="1F2328"/>
                </a:solidFill>
                <a:latin typeface="Calibri"/>
                <a:ea typeface="맑은 고딕"/>
                <a:cs typeface="Calibri"/>
              </a:rPr>
              <a:t>A pit stop can be </a:t>
            </a:r>
            <a:r>
              <a:rPr lang="en-US" altLang="ko-KR" sz="2100" b="1" dirty="0">
                <a:solidFill>
                  <a:srgbClr val="1F2328"/>
                </a:solidFill>
                <a:latin typeface="Calibri"/>
                <a:ea typeface="맑은 고딕"/>
                <a:cs typeface="Calibri"/>
              </a:rPr>
              <a:t>[ </a:t>
            </a:r>
            <a:r>
              <a:rPr lang="en-US" altLang="ko-KR" sz="2100" b="1" dirty="0">
                <a:solidFill>
                  <a:srgbClr val="1F2328"/>
                </a:solidFill>
                <a:latin typeface="Calibri"/>
                <a:ea typeface="맑은 고딕"/>
                <a:cs typeface="Calibri"/>
              </a:rPr>
              <a:t>as short as</a:t>
            </a:r>
            <a:r>
              <a:rPr lang="en-US" altLang="ko-KR" sz="2100" b="1" dirty="0">
                <a:solidFill>
                  <a:srgbClr val="1F2328"/>
                </a:solidFill>
                <a:latin typeface="Calibri"/>
                <a:ea typeface="맑은 고딕"/>
                <a:cs typeface="Calibri"/>
              </a:rPr>
              <a:t> / </a:t>
            </a:r>
            <a:r>
              <a:rPr lang="en-US" altLang="ko-KR" sz="2100" b="1" dirty="0">
                <a:solidFill>
                  <a:srgbClr val="1F2328"/>
                </a:solidFill>
                <a:latin typeface="Calibri"/>
                <a:ea typeface="맑은 고딕"/>
                <a:cs typeface="Calibri"/>
              </a:rPr>
              <a:t>as shortly as</a:t>
            </a:r>
            <a:r>
              <a:rPr lang="en-US" altLang="ko-KR" sz="2100" b="1" dirty="0">
                <a:solidFill>
                  <a:srgbClr val="1F2328"/>
                </a:solidFill>
                <a:latin typeface="Calibri"/>
                <a:ea typeface="맑은 고딕"/>
                <a:cs typeface="Calibri"/>
              </a:rPr>
              <a:t> ]</a:t>
            </a:r>
            <a:r>
              <a:rPr lang="en-US" altLang="ko-KR" sz="2100" b="0" dirty="0">
                <a:solidFill>
                  <a:srgbClr val="1F2328"/>
                </a:solidFill>
                <a:latin typeface="Calibri"/>
                <a:ea typeface="맑은 고딕"/>
                <a:cs typeface="Calibri"/>
              </a:rPr>
              <a:t> 2 seconds, and </a:t>
            </a:r>
            <a:r>
              <a:rPr lang="en-US" altLang="ko-KR" sz="2100" b="1" dirty="0">
                <a:solidFill>
                  <a:srgbClr val="1F2328"/>
                </a:solidFill>
                <a:latin typeface="Calibri"/>
                <a:ea typeface="맑은 고딕"/>
                <a:cs typeface="Calibri"/>
              </a:rPr>
              <a:t>[ </a:t>
            </a:r>
            <a:r>
              <a:rPr lang="en-US" altLang="ko-KR" sz="2100" b="1" dirty="0">
                <a:solidFill>
                  <a:srgbClr val="1F2328"/>
                </a:solidFill>
                <a:latin typeface="Calibri"/>
                <a:ea typeface="맑은 고딕"/>
                <a:cs typeface="Calibri"/>
              </a:rPr>
              <a:t>there are as many as 20 members</a:t>
            </a:r>
            <a:r>
              <a:rPr lang="en-US" altLang="ko-KR" sz="2100" b="1" dirty="0">
                <a:solidFill>
                  <a:srgbClr val="1F2328"/>
                </a:solidFill>
                <a:latin typeface="Calibri"/>
                <a:ea typeface="맑은 고딕"/>
                <a:cs typeface="Calibri"/>
              </a:rPr>
              <a:t> / </a:t>
            </a:r>
            <a:r>
              <a:rPr lang="en-US" altLang="ko-KR" sz="2100" b="1" dirty="0">
                <a:solidFill>
                  <a:srgbClr val="1F2328"/>
                </a:solidFill>
                <a:latin typeface="Calibri"/>
                <a:ea typeface="맑은 고딕"/>
                <a:cs typeface="Calibri"/>
              </a:rPr>
              <a:t>there is as many as 20 members</a:t>
            </a:r>
            <a:r>
              <a:rPr lang="en-US" altLang="ko-KR" sz="2100" b="1" dirty="0">
                <a:solidFill>
                  <a:srgbClr val="1F2328"/>
                </a:solidFill>
                <a:latin typeface="Calibri"/>
                <a:ea typeface="맑은 고딕"/>
                <a:cs typeface="Calibri"/>
              </a:rPr>
              <a:t> ]</a:t>
            </a:r>
            <a:r>
              <a:rPr lang="en-US" altLang="ko-KR" sz="2100" b="0" dirty="0">
                <a:solidFill>
                  <a:srgbClr val="1F2328"/>
                </a:solidFill>
                <a:latin typeface="Calibri"/>
                <a:ea typeface="맑은 고딕"/>
                <a:cs typeface="Calibri"/>
              </a:rPr>
              <a:t> on a crew.</a:t>
            </a:r>
            <a:r>
              <a:rPr lang="en-US" altLang="ko-KR" sz="2100" b="0" dirty="0">
                <a:solidFill>
                  <a:srgbClr val="1F2328"/>
                </a:solidFill>
                <a:latin typeface="Calibri"/>
                <a:ea typeface="맑은 고딕"/>
                <a:cs typeface="Calibri"/>
              </a:rPr>
              <a:t>   </a:t>
            </a:r>
            <a:r>
              <a:rPr lang="ko-KR" altLang="en-US" sz="2100" b="1" dirty="0">
                <a:solidFill>
                  <a:srgbClr val="1E2A5A"/>
                </a:solidFill>
                <a:latin typeface="맑은 고딕"/>
                <a:ea typeface="맑은 고딕"/>
                <a:cs typeface="맑은 고딕"/>
              </a:rPr>
              <a:t>⑦</a:t>
            </a:r>
            <a:r>
              <a:rPr lang="en-US" altLang="ko-KR" sz="2100" b="0" dirty="0">
                <a:solidFill>
                  <a:srgbClr val="1F2328"/>
                </a:solidFill>
                <a:latin typeface="Calibri"/>
                <a:ea typeface="맑은 고딕"/>
                <a:cs typeface="Calibri"/>
              </a:rPr>
              <a:t> </a:t>
            </a:r>
            <a:r>
              <a:rPr lang="en-US" altLang="ko-KR" sz="2100" b="0" dirty="0">
                <a:solidFill>
                  <a:srgbClr val="1F2328"/>
                </a:solidFill>
                <a:latin typeface="Calibri"/>
                <a:ea typeface="맑은 고딕"/>
                <a:cs typeface="Calibri"/>
              </a:rPr>
              <a:t>Therefore, the pit crew </a:t>
            </a:r>
            <a:r>
              <a:rPr lang="en-US" altLang="ko-KR" sz="2100" b="1" dirty="0">
                <a:solidFill>
                  <a:srgbClr val="1F2328"/>
                </a:solidFill>
                <a:latin typeface="Calibri"/>
                <a:ea typeface="맑은 고딕"/>
                <a:cs typeface="Calibri"/>
              </a:rPr>
              <a:t>[ </a:t>
            </a:r>
            <a:r>
              <a:rPr lang="en-US" altLang="ko-KR" sz="2100" b="1" dirty="0">
                <a:solidFill>
                  <a:srgbClr val="1F2328"/>
                </a:solidFill>
                <a:latin typeface="Calibri"/>
                <a:ea typeface="맑은 고딕"/>
                <a:cs typeface="Calibri"/>
              </a:rPr>
              <a:t>has to work</a:t>
            </a:r>
            <a:r>
              <a:rPr lang="en-US" altLang="ko-KR" sz="2100" b="1" dirty="0">
                <a:solidFill>
                  <a:srgbClr val="1F2328"/>
                </a:solidFill>
                <a:latin typeface="Calibri"/>
                <a:ea typeface="맑은 고딕"/>
                <a:cs typeface="Calibri"/>
              </a:rPr>
              <a:t> / </a:t>
            </a:r>
            <a:r>
              <a:rPr lang="en-US" altLang="ko-KR" sz="2100" b="1" dirty="0">
                <a:solidFill>
                  <a:srgbClr val="1F2328"/>
                </a:solidFill>
                <a:latin typeface="Calibri"/>
                <a:ea typeface="맑은 고딕"/>
                <a:cs typeface="Calibri"/>
              </a:rPr>
              <a:t>have to work</a:t>
            </a:r>
            <a:r>
              <a:rPr lang="en-US" altLang="ko-KR" sz="2100" b="1" dirty="0">
                <a:solidFill>
                  <a:srgbClr val="1F2328"/>
                </a:solidFill>
                <a:latin typeface="Calibri"/>
                <a:ea typeface="맑은 고딕"/>
                <a:cs typeface="Calibri"/>
              </a:rPr>
              <a:t> ]</a:t>
            </a:r>
            <a:r>
              <a:rPr lang="en-US" altLang="ko-KR" sz="2100" b="0" dirty="0">
                <a:solidFill>
                  <a:srgbClr val="1F2328"/>
                </a:solidFill>
                <a:latin typeface="Calibri"/>
                <a:ea typeface="맑은 고딕"/>
                <a:cs typeface="Calibri"/>
              </a:rPr>
              <a:t> in perfect harmony.</a:t>
            </a:r>
            <a:r>
              <a:rPr lang="en-US" altLang="ko-KR" sz="2100" b="0" dirty="0">
                <a:solidFill>
                  <a:srgbClr val="1F2328"/>
                </a:solidFill>
                <a:latin typeface="Calibri"/>
                <a:ea typeface="맑은 고딕"/>
                <a:cs typeface="Calibri"/>
              </a:rPr>
              <a:t>   </a:t>
            </a:r>
            <a:r>
              <a:rPr lang="ko-KR" altLang="en-US" sz="2100" b="1" dirty="0">
                <a:solidFill>
                  <a:srgbClr val="1E2A5A"/>
                </a:solidFill>
                <a:latin typeface="맑은 고딕"/>
                <a:ea typeface="맑은 고딕"/>
                <a:cs typeface="맑은 고딕"/>
              </a:rPr>
              <a:t>⑧</a:t>
            </a:r>
            <a:r>
              <a:rPr lang="en-US" altLang="ko-KR" sz="2100" b="0" dirty="0">
                <a:solidFill>
                  <a:srgbClr val="1F2328"/>
                </a:solidFill>
                <a:latin typeface="Calibri"/>
                <a:ea typeface="맑은 고딕"/>
                <a:cs typeface="Calibri"/>
              </a:rPr>
              <a:t> </a:t>
            </a:r>
            <a:r>
              <a:rPr lang="en-US" altLang="ko-KR" sz="2100" b="0" dirty="0">
                <a:solidFill>
                  <a:srgbClr val="1F2328"/>
                </a:solidFill>
                <a:latin typeface="Calibri"/>
                <a:ea typeface="맑은 고딕"/>
                <a:cs typeface="Calibri"/>
              </a:rPr>
              <a:t>The driver </a:t>
            </a:r>
            <a:r>
              <a:rPr lang="en-US" altLang="ko-KR" sz="2100" b="1" dirty="0">
                <a:solidFill>
                  <a:srgbClr val="1F2328"/>
                </a:solidFill>
                <a:latin typeface="Calibri"/>
                <a:ea typeface="맑은 고딕"/>
                <a:cs typeface="Calibri"/>
              </a:rPr>
              <a:t>[ </a:t>
            </a:r>
            <a:r>
              <a:rPr lang="en-US" altLang="ko-KR" sz="2100" b="1" dirty="0">
                <a:solidFill>
                  <a:srgbClr val="1F2328"/>
                </a:solidFill>
                <a:latin typeface="Calibri"/>
                <a:ea typeface="맑은 고딕"/>
                <a:cs typeface="Calibri"/>
              </a:rPr>
              <a:t>may get</a:t>
            </a:r>
            <a:r>
              <a:rPr lang="en-US" altLang="ko-KR" sz="2100" b="1" dirty="0">
                <a:solidFill>
                  <a:srgbClr val="1F2328"/>
                </a:solidFill>
                <a:latin typeface="Calibri"/>
                <a:ea typeface="맑은 고딕"/>
                <a:cs typeface="Calibri"/>
              </a:rPr>
              <a:t> / </a:t>
            </a:r>
            <a:r>
              <a:rPr lang="en-US" altLang="ko-KR" sz="2100" b="1" dirty="0">
                <a:solidFill>
                  <a:srgbClr val="1F2328"/>
                </a:solidFill>
                <a:latin typeface="Calibri"/>
                <a:ea typeface="맑은 고딕"/>
                <a:cs typeface="Calibri"/>
              </a:rPr>
              <a:t>may be gotten</a:t>
            </a:r>
            <a:r>
              <a:rPr lang="en-US" altLang="ko-KR" sz="2100" b="1" dirty="0">
                <a:solidFill>
                  <a:srgbClr val="1F2328"/>
                </a:solidFill>
                <a:latin typeface="Calibri"/>
                <a:ea typeface="맑은 고딕"/>
                <a:cs typeface="Calibri"/>
              </a:rPr>
              <a:t> ]</a:t>
            </a:r>
            <a:r>
              <a:rPr lang="en-US" altLang="ko-KR" sz="2100" b="0" dirty="0">
                <a:solidFill>
                  <a:srgbClr val="1F2328"/>
                </a:solidFill>
                <a:latin typeface="Calibri"/>
                <a:ea typeface="맑은 고딕"/>
                <a:cs typeface="Calibri"/>
              </a:rPr>
              <a:t> all the attention, but as people say, “Races are won in the pits.”</a:t>
            </a:r>
            <a:endParaRPr lang="en-US" altLang="ko-KR" sz="2100" b="0" dirty="0">
              <a:solidFill>
                <a:srgbClr val="1F2328"/>
              </a:solidFill>
              <a:latin typeface="Calibri"/>
              <a:ea typeface="맑은 고딕"/>
              <a:cs typeface="Calibri"/>
            </a:endParaRPr>
          </a:p>
        </p:txBody>
      </p:sp>
      <p:sp>
        <p:nvSpPr>
          <p:cNvPr id="9" name="rv_g01"/>
          <p:cNvSpPr txBox="1"/>
          <p:nvPr/>
        </p:nvSpPr>
        <p:spPr>
          <a:xfrm>
            <a:off x="457200" y="950976"/>
            <a:ext cx="11277295" cy="5060696"/>
          </a:xfrm>
          <a:prstGeom prst="rect">
            <a:avLst/>
          </a:prstGeom>
          <a:noFill/>
        </p:spPr>
        <p:txBody>
          <a:bodyPr wrap="square" lIns="228600" tIns="155448" rIns="228600" bIns="155448" anchor="t" rtlCol="0">
            <a:noAutofit/>
          </a:bodyPr>
          <a:lstStyle/>
          <a:p>
            <a:pPr algn="l">
              <a:lnSpc>
                <a:spcPts val="3400"/>
              </a:lnSpc>
              <a:spcBef>
                <a:spcPts val="0"/>
              </a:spcBef>
              <a:spcAft>
                <a:spcPts val="0"/>
              </a:spcAft>
              <a:buNone/>
            </a:pPr>
            <a:r>
              <a:rPr lang="ko-KR" altLang="en-US" sz="2100" b="1" dirty="0">
                <a:solidFill>
                  <a:srgbClr val="1E2A5A">
                    <a:alpha val="0"/>
                  </a:srgbClr>
                </a:solidFill>
                <a:latin typeface="맑은 고딕"/>
                <a:ea typeface="맑은 고딕"/>
                <a:cs typeface="맑은 고딕"/>
              </a:rPr>
              <a:t>①</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You may only see the car and the driver during most car races, but there is a team behind the driver.</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②</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This team is called a pit crew.</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③</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A pit is a place on the side of the race track, and </a:t>
            </a:r>
            <a:r>
              <a:rPr lang="en-US" altLang="ko-KR" sz="2100" b="1" dirty="0">
                <a:solidFill>
                  <a:srgbClr val="1F2328">
                    <a:alpha val="0"/>
                  </a:srgbClr>
                </a:solidFill>
                <a:latin typeface="Calibri"/>
                <a:ea typeface="맑은 고딕"/>
                <a:cs typeface="Calibri"/>
              </a:rPr>
              <a:t>[ </a:t>
            </a:r>
            <a:r>
              <a:rPr lang="en-US" altLang="ko-KR" sz="2100" b="1" dirty="0">
                <a:solidFill>
                  <a:srgbClr val="C00000"/>
                </a:solidFill>
                <a:highlight>
                  <a:srgbClr val="F3F5F9"/>
                </a:highlight>
                <a:latin typeface="Calibri"/>
                <a:ea typeface="맑은 고딕"/>
                <a:cs typeface="Calibri"/>
              </a:rPr>
              <a:t>drivers stop</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drivers stops</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there several times during a race.</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④</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The main job of the pit crew is to check the car and change the tires.</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⑤</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Changing the tires is especially important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because</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because of</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the tires wear out easily in a high speed race.</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⑥</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A pit stop can be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as short as</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as shortly as</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2 seconds, and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there are as many as 20 members</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there is as many as 20 members</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on a crew.</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⑦</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Therefore, the pit crew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has to work</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have to work</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in perfect harmony.</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⑧</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The driver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may get</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may be gotten</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all the attention, but as people say, “Races are won in the pits.”</a:t>
            </a:r>
            <a:endParaRPr lang="en-US" altLang="ko-KR" sz="2100" b="0" dirty="0">
              <a:solidFill>
                <a:srgbClr val="1F2328"/>
              </a:solidFill>
              <a:latin typeface="Calibri"/>
              <a:ea typeface="맑은 고딕"/>
              <a:cs typeface="Calibri"/>
            </a:endParaRPr>
          </a:p>
        </p:txBody>
      </p:sp>
      <p:sp>
        <p:nvSpPr>
          <p:cNvPr id="10" name="rv_g02"/>
          <p:cNvSpPr txBox="1"/>
          <p:nvPr/>
        </p:nvSpPr>
        <p:spPr>
          <a:xfrm>
            <a:off x="457200" y="950976"/>
            <a:ext cx="11277295" cy="5060696"/>
          </a:xfrm>
          <a:prstGeom prst="rect">
            <a:avLst/>
          </a:prstGeom>
          <a:noFill/>
        </p:spPr>
        <p:txBody>
          <a:bodyPr wrap="square" lIns="228600" tIns="155448" rIns="228600" bIns="155448" anchor="t" rtlCol="0">
            <a:noAutofit/>
          </a:bodyPr>
          <a:lstStyle/>
          <a:p>
            <a:pPr algn="l">
              <a:lnSpc>
                <a:spcPts val="3400"/>
              </a:lnSpc>
              <a:spcBef>
                <a:spcPts val="0"/>
              </a:spcBef>
              <a:spcAft>
                <a:spcPts val="0"/>
              </a:spcAft>
              <a:buNone/>
            </a:pPr>
            <a:r>
              <a:rPr lang="ko-KR" altLang="en-US" sz="2100" b="1" dirty="0">
                <a:solidFill>
                  <a:srgbClr val="1E2A5A">
                    <a:alpha val="0"/>
                  </a:srgbClr>
                </a:solidFill>
                <a:latin typeface="맑은 고딕"/>
                <a:ea typeface="맑은 고딕"/>
                <a:cs typeface="맑은 고딕"/>
              </a:rPr>
              <a:t>①</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You may only see the car and the driver during most car races, but there is a team behind the driver.</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②</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This team is called a pit crew.</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③</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A pit is a place on the side of the race track, and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drivers stop</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drivers stops</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there several times during a race.</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④</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The main job of the pit crew is to check the car and change the tires.</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⑤</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Changing the tires is especially important </a:t>
            </a:r>
            <a:r>
              <a:rPr lang="en-US" altLang="ko-KR" sz="2100" b="1" dirty="0">
                <a:solidFill>
                  <a:srgbClr val="1F2328">
                    <a:alpha val="0"/>
                  </a:srgbClr>
                </a:solidFill>
                <a:latin typeface="Calibri"/>
                <a:ea typeface="맑은 고딕"/>
                <a:cs typeface="Calibri"/>
              </a:rPr>
              <a:t>[ </a:t>
            </a:r>
            <a:r>
              <a:rPr lang="en-US" altLang="ko-KR" sz="2100" b="1" dirty="0">
                <a:solidFill>
                  <a:srgbClr val="C00000"/>
                </a:solidFill>
                <a:highlight>
                  <a:srgbClr val="F3F5F9"/>
                </a:highlight>
                <a:latin typeface="Calibri"/>
                <a:ea typeface="맑은 고딕"/>
                <a:cs typeface="Calibri"/>
              </a:rPr>
              <a:t>because</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because of</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the tires wear out easily in a high speed race.</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⑥</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A pit stop can be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as short as</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as shortly as</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2 seconds, and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there are as many as 20 members</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there is as many as 20 members</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on a crew.</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⑦</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Therefore, the pit crew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has to work</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have to work</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in perfect harmony.</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⑧</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The driver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may get</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may be gotten</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all the attention, but as people say, “Races are won in the pits.”</a:t>
            </a:r>
            <a:endParaRPr lang="en-US" altLang="ko-KR" sz="2100" b="0" dirty="0">
              <a:solidFill>
                <a:srgbClr val="1F2328"/>
              </a:solidFill>
              <a:latin typeface="Calibri"/>
              <a:ea typeface="맑은 고딕"/>
              <a:cs typeface="Calibri"/>
            </a:endParaRPr>
          </a:p>
        </p:txBody>
      </p:sp>
      <p:sp>
        <p:nvSpPr>
          <p:cNvPr id="11" name="rv_g03"/>
          <p:cNvSpPr txBox="1"/>
          <p:nvPr/>
        </p:nvSpPr>
        <p:spPr>
          <a:xfrm>
            <a:off x="457200" y="950976"/>
            <a:ext cx="11277295" cy="5060696"/>
          </a:xfrm>
          <a:prstGeom prst="rect">
            <a:avLst/>
          </a:prstGeom>
          <a:noFill/>
        </p:spPr>
        <p:txBody>
          <a:bodyPr wrap="square" lIns="228600" tIns="155448" rIns="228600" bIns="155448" anchor="t" rtlCol="0">
            <a:noAutofit/>
          </a:bodyPr>
          <a:lstStyle/>
          <a:p>
            <a:pPr algn="l">
              <a:lnSpc>
                <a:spcPts val="3400"/>
              </a:lnSpc>
              <a:spcBef>
                <a:spcPts val="0"/>
              </a:spcBef>
              <a:spcAft>
                <a:spcPts val="0"/>
              </a:spcAft>
              <a:buNone/>
            </a:pPr>
            <a:r>
              <a:rPr lang="ko-KR" altLang="en-US" sz="2100" b="1" dirty="0">
                <a:solidFill>
                  <a:srgbClr val="1E2A5A">
                    <a:alpha val="0"/>
                  </a:srgbClr>
                </a:solidFill>
                <a:latin typeface="맑은 고딕"/>
                <a:ea typeface="맑은 고딕"/>
                <a:cs typeface="맑은 고딕"/>
              </a:rPr>
              <a:t>①</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You may only see the car and the driver during most car races, but there is a team behind the driver.</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②</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This team is called a pit crew.</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③</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A pit is a place on the side of the race track, and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drivers stop</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drivers stops</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there several times during a race.</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④</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The main job of the pit crew is to check the car and change the tires.</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⑤</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Changing the tires is especially important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because</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because of</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the tires wear out easily in a high speed race.</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⑥</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A pit stop can be </a:t>
            </a:r>
            <a:r>
              <a:rPr lang="en-US" altLang="ko-KR" sz="2100" b="1" dirty="0">
                <a:solidFill>
                  <a:srgbClr val="1F2328">
                    <a:alpha val="0"/>
                  </a:srgbClr>
                </a:solidFill>
                <a:latin typeface="Calibri"/>
                <a:ea typeface="맑은 고딕"/>
                <a:cs typeface="Calibri"/>
              </a:rPr>
              <a:t>[ </a:t>
            </a:r>
            <a:r>
              <a:rPr lang="en-US" altLang="ko-KR" sz="2100" b="1" dirty="0">
                <a:solidFill>
                  <a:srgbClr val="C00000"/>
                </a:solidFill>
                <a:highlight>
                  <a:srgbClr val="F3F5F9"/>
                </a:highlight>
                <a:latin typeface="Calibri"/>
                <a:ea typeface="맑은 고딕"/>
                <a:cs typeface="Calibri"/>
              </a:rPr>
              <a:t>as short as</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as shortly as</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2 seconds, and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there are as many as 20 members</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there is as many as 20 members</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on a crew.</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⑦</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Therefore, the pit crew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has to work</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have to work</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in perfect harmony.</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⑧</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The driver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may get</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may be gotten</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all the attention, but as people say, “Races are won in the pits.”</a:t>
            </a:r>
            <a:endParaRPr lang="en-US" altLang="ko-KR" sz="2100" b="0" dirty="0">
              <a:solidFill>
                <a:srgbClr val="1F2328"/>
              </a:solidFill>
              <a:latin typeface="Calibri"/>
              <a:ea typeface="맑은 고딕"/>
              <a:cs typeface="Calibri"/>
            </a:endParaRPr>
          </a:p>
        </p:txBody>
      </p:sp>
      <p:sp>
        <p:nvSpPr>
          <p:cNvPr id="12" name="rv_g04"/>
          <p:cNvSpPr txBox="1"/>
          <p:nvPr/>
        </p:nvSpPr>
        <p:spPr>
          <a:xfrm>
            <a:off x="457200" y="950976"/>
            <a:ext cx="11277295" cy="5060696"/>
          </a:xfrm>
          <a:prstGeom prst="rect">
            <a:avLst/>
          </a:prstGeom>
          <a:noFill/>
        </p:spPr>
        <p:txBody>
          <a:bodyPr wrap="square" lIns="228600" tIns="155448" rIns="228600" bIns="155448" anchor="t" rtlCol="0">
            <a:noAutofit/>
          </a:bodyPr>
          <a:lstStyle/>
          <a:p>
            <a:pPr algn="l">
              <a:lnSpc>
                <a:spcPts val="3400"/>
              </a:lnSpc>
              <a:spcBef>
                <a:spcPts val="0"/>
              </a:spcBef>
              <a:spcAft>
                <a:spcPts val="0"/>
              </a:spcAft>
              <a:buNone/>
            </a:pPr>
            <a:r>
              <a:rPr lang="ko-KR" altLang="en-US" sz="2100" b="1" dirty="0">
                <a:solidFill>
                  <a:srgbClr val="1E2A5A">
                    <a:alpha val="0"/>
                  </a:srgbClr>
                </a:solidFill>
                <a:latin typeface="맑은 고딕"/>
                <a:ea typeface="맑은 고딕"/>
                <a:cs typeface="맑은 고딕"/>
              </a:rPr>
              <a:t>①</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You may only see the car and the driver during most car races, but there is a team behind the driver.</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②</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This team is called a pit crew.</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③</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A pit is a place on the side of the race track, and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drivers stop</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drivers stops</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there several times during a race.</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④</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The main job of the pit crew is to check the car and change the tires.</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⑤</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Changing the tires is especially important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because</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because of</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the tires wear out easily in a high speed race.</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⑥</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A pit stop can be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as short as</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as shortly as</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2 seconds, and </a:t>
            </a:r>
            <a:r>
              <a:rPr lang="en-US" altLang="ko-KR" sz="2100" b="1" dirty="0">
                <a:solidFill>
                  <a:srgbClr val="1F2328">
                    <a:alpha val="0"/>
                  </a:srgbClr>
                </a:solidFill>
                <a:latin typeface="Calibri"/>
                <a:ea typeface="맑은 고딕"/>
                <a:cs typeface="Calibri"/>
              </a:rPr>
              <a:t>[ </a:t>
            </a:r>
            <a:r>
              <a:rPr lang="en-US" altLang="ko-KR" sz="2100" b="1" dirty="0">
                <a:solidFill>
                  <a:srgbClr val="C00000"/>
                </a:solidFill>
                <a:highlight>
                  <a:srgbClr val="F3F5F9"/>
                </a:highlight>
                <a:latin typeface="Calibri"/>
                <a:ea typeface="맑은 고딕"/>
                <a:cs typeface="Calibri"/>
              </a:rPr>
              <a:t>there are as many as 20 members</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there is as many as 20 members</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on a crew.</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⑦</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Therefore, the pit crew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has to work</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have to work</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in perfect harmony.</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⑧</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The driver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may get</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may be gotten</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all the attention, but as people say, “Races are won in the pits.”</a:t>
            </a:r>
            <a:endParaRPr lang="en-US" altLang="ko-KR" sz="2100" b="0" dirty="0">
              <a:solidFill>
                <a:srgbClr val="1F2328"/>
              </a:solidFill>
              <a:latin typeface="Calibri"/>
              <a:ea typeface="맑은 고딕"/>
              <a:cs typeface="Calibri"/>
            </a:endParaRPr>
          </a:p>
        </p:txBody>
      </p:sp>
      <p:sp>
        <p:nvSpPr>
          <p:cNvPr id="13" name="rv_g05"/>
          <p:cNvSpPr txBox="1"/>
          <p:nvPr/>
        </p:nvSpPr>
        <p:spPr>
          <a:xfrm>
            <a:off x="457200" y="950976"/>
            <a:ext cx="11277295" cy="5060696"/>
          </a:xfrm>
          <a:prstGeom prst="rect">
            <a:avLst/>
          </a:prstGeom>
          <a:noFill/>
        </p:spPr>
        <p:txBody>
          <a:bodyPr wrap="square" lIns="228600" tIns="155448" rIns="228600" bIns="155448" anchor="t" rtlCol="0">
            <a:noAutofit/>
          </a:bodyPr>
          <a:lstStyle/>
          <a:p>
            <a:pPr algn="l">
              <a:lnSpc>
                <a:spcPts val="3400"/>
              </a:lnSpc>
              <a:spcBef>
                <a:spcPts val="0"/>
              </a:spcBef>
              <a:spcAft>
                <a:spcPts val="0"/>
              </a:spcAft>
              <a:buNone/>
            </a:pPr>
            <a:r>
              <a:rPr lang="ko-KR" altLang="en-US" sz="2100" b="1" dirty="0">
                <a:solidFill>
                  <a:srgbClr val="1E2A5A">
                    <a:alpha val="0"/>
                  </a:srgbClr>
                </a:solidFill>
                <a:latin typeface="맑은 고딕"/>
                <a:ea typeface="맑은 고딕"/>
                <a:cs typeface="맑은 고딕"/>
              </a:rPr>
              <a:t>①</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You may only see the car and the driver during most car races, but there is a team behind the driver.</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②</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This team is called a pit crew.</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③</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A pit is a place on the side of the race track, and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drivers stop</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drivers stops</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there several times during a race.</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④</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The main job of the pit crew is to check the car and change the tires.</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⑤</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Changing the tires is especially important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because</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because of</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the tires wear out easily in a high speed race.</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⑥</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A pit stop can be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as short as</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as shortly as</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2 seconds, and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there are as many as 20 members</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there is as many as 20 members</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on a crew.</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⑦</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Therefore, the pit crew </a:t>
            </a:r>
            <a:r>
              <a:rPr lang="en-US" altLang="ko-KR" sz="2100" b="1" dirty="0">
                <a:solidFill>
                  <a:srgbClr val="1F2328">
                    <a:alpha val="0"/>
                  </a:srgbClr>
                </a:solidFill>
                <a:latin typeface="Calibri"/>
                <a:ea typeface="맑은 고딕"/>
                <a:cs typeface="Calibri"/>
              </a:rPr>
              <a:t>[ </a:t>
            </a:r>
            <a:r>
              <a:rPr lang="en-US" altLang="ko-KR" sz="2100" b="1" dirty="0">
                <a:solidFill>
                  <a:srgbClr val="C00000"/>
                </a:solidFill>
                <a:highlight>
                  <a:srgbClr val="F3F5F9"/>
                </a:highlight>
                <a:latin typeface="Calibri"/>
                <a:ea typeface="맑은 고딕"/>
                <a:cs typeface="Calibri"/>
              </a:rPr>
              <a:t>has to work</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have to work</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in perfect harmony.</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⑧</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The driver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may get</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may be gotten</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all the attention, but as people say, “Races are won in the pits.”</a:t>
            </a:r>
            <a:endParaRPr lang="en-US" altLang="ko-KR" sz="2100" b="0" dirty="0">
              <a:solidFill>
                <a:srgbClr val="1F2328"/>
              </a:solidFill>
              <a:latin typeface="Calibri"/>
              <a:ea typeface="맑은 고딕"/>
              <a:cs typeface="Calibri"/>
            </a:endParaRPr>
          </a:p>
        </p:txBody>
      </p:sp>
      <p:sp>
        <p:nvSpPr>
          <p:cNvPr id="14" name="rv_g06"/>
          <p:cNvSpPr txBox="1"/>
          <p:nvPr/>
        </p:nvSpPr>
        <p:spPr>
          <a:xfrm>
            <a:off x="457200" y="950976"/>
            <a:ext cx="11277295" cy="5060696"/>
          </a:xfrm>
          <a:prstGeom prst="rect">
            <a:avLst/>
          </a:prstGeom>
          <a:noFill/>
        </p:spPr>
        <p:txBody>
          <a:bodyPr wrap="square" lIns="228600" tIns="155448" rIns="228600" bIns="155448" anchor="t" rtlCol="0">
            <a:noAutofit/>
          </a:bodyPr>
          <a:lstStyle/>
          <a:p>
            <a:pPr algn="l">
              <a:lnSpc>
                <a:spcPts val="3400"/>
              </a:lnSpc>
              <a:spcBef>
                <a:spcPts val="0"/>
              </a:spcBef>
              <a:spcAft>
                <a:spcPts val="0"/>
              </a:spcAft>
              <a:buNone/>
            </a:pPr>
            <a:r>
              <a:rPr lang="ko-KR" altLang="en-US" sz="2100" b="1" dirty="0">
                <a:solidFill>
                  <a:srgbClr val="1E2A5A">
                    <a:alpha val="0"/>
                  </a:srgbClr>
                </a:solidFill>
                <a:latin typeface="맑은 고딕"/>
                <a:ea typeface="맑은 고딕"/>
                <a:cs typeface="맑은 고딕"/>
              </a:rPr>
              <a:t>①</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You may only see the car and the driver during most car races, but there is a team behind the driver.</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②</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This team is called a pit crew.</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③</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A pit is a place on the side of the race track, and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drivers stop</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drivers stops</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there several times during a race.</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④</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The main job of the pit crew is to check the car and change the tires.</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⑤</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Changing the tires is especially important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because</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because of</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the tires wear out easily in a high speed race.</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⑥</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A pit stop can be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as short as</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as shortly as</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2 seconds, and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there are as many as 20 members</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there is as many as 20 members</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on a crew.</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⑦</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Therefore, the pit crew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has to work</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have to work</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in perfect harmony.</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⑧</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The driver </a:t>
            </a:r>
            <a:r>
              <a:rPr lang="en-US" altLang="ko-KR" sz="2100" b="1" dirty="0">
                <a:solidFill>
                  <a:srgbClr val="1F2328">
                    <a:alpha val="0"/>
                  </a:srgbClr>
                </a:solidFill>
                <a:latin typeface="Calibri"/>
                <a:ea typeface="맑은 고딕"/>
                <a:cs typeface="Calibri"/>
              </a:rPr>
              <a:t>[ </a:t>
            </a:r>
            <a:r>
              <a:rPr lang="en-US" altLang="ko-KR" sz="2100" b="1" dirty="0">
                <a:solidFill>
                  <a:srgbClr val="C00000"/>
                </a:solidFill>
                <a:highlight>
                  <a:srgbClr val="F3F5F9"/>
                </a:highlight>
                <a:latin typeface="Calibri"/>
                <a:ea typeface="맑은 고딕"/>
                <a:cs typeface="Calibri"/>
              </a:rPr>
              <a:t>may get</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may be gotten</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all the attention, but as people say, “Races are won in the pits.”</a:t>
            </a:r>
            <a:endParaRPr lang="en-US" altLang="ko-KR" sz="2100" b="0" dirty="0">
              <a:solidFill>
                <a:srgbClr val="1F2328"/>
              </a:solidFill>
              <a:latin typeface="Calibri"/>
              <a:ea typeface="맑은 고딕"/>
              <a:cs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25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25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25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250"/>
                                        <p:tgtEl>
                                          <p:spTgt spid="12"/>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250"/>
                                        <p:tgtEl>
                                          <p:spTgt spid="13"/>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4"/>
                                        </p:tgtEl>
                                        <p:attrNameLst>
                                          <p:attrName>style.visibility</p:attrName>
                                        </p:attrNameLst>
                                      </p:cBhvr>
                                      <p:to>
                                        <p:strVal val="visible"/>
                                      </p:to>
                                    </p:set>
                                    <p:animEffect transition="in" filter="fade">
                                      <p:cBhvr>
                                        <p:cTn id="32" dur="2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4" grpId="0" animBg="1"/>
    </p:bldLst>
  </p:timing>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L5-4</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1 · 1</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1. 다음 글의 주제로 가장 적절한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5</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본문 근거 형광 + 정답 원리</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176021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1760219"/>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1F2328"/>
                </a:solidFill>
                <a:latin typeface="Calibri"/>
                <a:ea typeface="맑은 고딕"/>
                <a:cs typeface="Calibri"/>
              </a:rPr>
              <a:t>The word Sherpa comes from the Sherpa tribe, which lives in the eastern part of Nepal. Sherpas have good climbing skills and know their way around the mountains well. They also have little difficulty breathing high up in the mountains. </a:t>
            </a:r>
            <a:r>
              <a:rPr lang="en-US" altLang="ko-KR" sz="1500" b="0" dirty="0">
                <a:solidFill>
                  <a:srgbClr val="1F2328"/>
                </a:solidFill>
                <a:latin typeface="Calibri"/>
                <a:ea typeface="맑은 고딕"/>
                <a:cs typeface="Calibri"/>
              </a:rPr>
              <a:t>Therefore, mountain climbers started to hire Sherpas to help them climb Mount Everest.</a:t>
            </a:r>
            <a:r>
              <a:rPr lang="en-US" altLang="ko-KR" sz="1500" b="0" dirty="0">
                <a:solidFill>
                  <a:srgbClr val="1F2328"/>
                </a:solidFill>
                <a:latin typeface="Calibri"/>
                <a:ea typeface="맑은 고딕"/>
                <a:cs typeface="Calibri"/>
              </a:rPr>
              <a:t> Sherpas lead mountain climbers to the top of the mountain. They support climbers in many ways. For example, they put up tents and carry climbers’ bags. </a:t>
            </a:r>
            <a:r>
              <a:rPr lang="en-US" altLang="ko-KR" sz="1500" b="0" dirty="0">
                <a:solidFill>
                  <a:srgbClr val="1F2328"/>
                </a:solidFill>
                <a:latin typeface="Calibri"/>
                <a:ea typeface="맑은 고딕"/>
                <a:cs typeface="Calibri"/>
              </a:rPr>
              <a:t>Sherpas are often called the invisible people of Mount Everest because people often see a picture of only the climbers at the top of the mountain.</a:t>
            </a:r>
            <a:endParaRPr lang="en-US" altLang="ko-KR" sz="1500" b="0" dirty="0">
              <a:solidFill>
                <a:srgbClr val="1F2328"/>
              </a:solidFill>
              <a:latin typeface="Calibri"/>
              <a:ea typeface="맑은 고딕"/>
              <a:cs typeface="Calibri"/>
            </a:endParaRPr>
          </a:p>
        </p:txBody>
      </p:sp>
      <p:sp>
        <p:nvSpPr>
          <p:cNvPr id="9" name="rv_evidence_card"/>
          <p:cNvSpPr/>
          <p:nvPr/>
        </p:nvSpPr>
        <p:spPr>
          <a:xfrm>
            <a:off x="457200" y="950976"/>
            <a:ext cx="11277295" cy="176021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rv_evidence"/>
          <p:cNvSpPr txBox="1"/>
          <p:nvPr/>
        </p:nvSpPr>
        <p:spPr>
          <a:xfrm>
            <a:off x="457200" y="950976"/>
            <a:ext cx="11277295" cy="1760219"/>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B3BAC6"/>
                </a:solidFill>
                <a:latin typeface="Calibri"/>
                <a:ea typeface="맑은 고딕"/>
                <a:cs typeface="Calibri"/>
              </a:rPr>
              <a:t>The word Sherpa comes from the Sherpa tribe, which lives in the eastern part of Nepal. Sherpas have good climbing skills and know their way around the mountains well. They also have little difficulty breathing high up in the mountains. </a:t>
            </a:r>
            <a:r>
              <a:rPr lang="en-US" altLang="ko-KR" sz="1500" b="0" dirty="0">
                <a:solidFill>
                  <a:srgbClr val="111111"/>
                </a:solidFill>
                <a:highlight>
                  <a:srgbClr val="FFE45C"/>
                </a:highlight>
                <a:latin typeface="Calibri"/>
                <a:ea typeface="맑은 고딕"/>
                <a:cs typeface="Calibri"/>
              </a:rPr>
              <a:t>Therefore, mountain climbers started to hire Sherpas to help them climb Mount Everest.</a:t>
            </a:r>
            <a:r>
              <a:rPr lang="en-US" altLang="ko-KR" sz="1500" b="0" dirty="0">
                <a:solidFill>
                  <a:srgbClr val="B3BAC6"/>
                </a:solidFill>
                <a:latin typeface="Calibri"/>
                <a:ea typeface="맑은 고딕"/>
                <a:cs typeface="Calibri"/>
              </a:rPr>
              <a:t> Sherpas lead mountain climbers to the top of the mountain. They support climbers in many ways. For example, they put up tents and carry climbers’ bags. </a:t>
            </a:r>
            <a:r>
              <a:rPr lang="en-US" altLang="ko-KR" sz="1500" b="0" dirty="0">
                <a:solidFill>
                  <a:srgbClr val="111111"/>
                </a:solidFill>
                <a:highlight>
                  <a:srgbClr val="FFE45C"/>
                </a:highlight>
                <a:latin typeface="Calibri"/>
                <a:ea typeface="맑은 고딕"/>
                <a:cs typeface="Calibri"/>
              </a:rPr>
              <a:t>Sherpas are often called the invisible people of Mount Everest because people often see a picture of only the climbers at the top of the mountain.</a:t>
            </a:r>
            <a:endParaRPr lang="en-US" altLang="ko-KR" sz="1500" b="0" dirty="0">
              <a:solidFill>
                <a:srgbClr val="111111"/>
              </a:solidFill>
              <a:latin typeface="Calibri"/>
              <a:ea typeface="맑은 고딕"/>
              <a:cs typeface="Calibri"/>
            </a:endParaRPr>
          </a:p>
        </p:txBody>
      </p:sp>
      <p:sp>
        <p:nvSpPr>
          <p:cNvPr id="11" name="choice_1"/>
          <p:cNvSpPr txBox="1"/>
          <p:nvPr/>
        </p:nvSpPr>
        <p:spPr>
          <a:xfrm>
            <a:off x="457200" y="2857500"/>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①</a:t>
            </a:r>
            <a:r>
              <a:rPr lang="en-US" altLang="ko-KR" sz="1800" b="0" dirty="0">
                <a:solidFill>
                  <a:srgbClr val="1F2328"/>
                </a:solidFill>
                <a:latin typeface="Calibri"/>
                <a:ea typeface="맑은 고딕"/>
                <a:cs typeface="Calibri"/>
              </a:rPr>
              <a:t>	the Sherpas' hidden role in mountain climbing</a:t>
            </a:r>
            <a:endParaRPr lang="en-US" altLang="ko-KR" sz="1800" b="0" dirty="0">
              <a:solidFill>
                <a:srgbClr val="1F2328"/>
              </a:solidFill>
              <a:latin typeface="Calibri"/>
              <a:ea typeface="맑은 고딕"/>
              <a:cs typeface="Calibri"/>
            </a:endParaRPr>
          </a:p>
        </p:txBody>
      </p:sp>
      <p:sp>
        <p:nvSpPr>
          <p:cNvPr id="12" name="rv_pick"/>
          <p:cNvSpPr txBox="1"/>
          <p:nvPr/>
        </p:nvSpPr>
        <p:spPr>
          <a:xfrm>
            <a:off x="457200" y="2857500"/>
            <a:ext cx="11277295" cy="379984"/>
          </a:xfrm>
          <a:prstGeom prst="rect">
            <a:avLst/>
          </a:prstGeom>
          <a:solidFill>
            <a:srgbClr val="FFF3C4"/>
          </a:solid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C00000"/>
                </a:solidFill>
                <a:latin typeface="맑은 고딕"/>
                <a:ea typeface="맑은 고딕"/>
                <a:cs typeface="맑은 고딕"/>
              </a:rPr>
              <a:t>①</a:t>
            </a:r>
            <a:r>
              <a:rPr lang="en-US" altLang="ko-KR" sz="1800" b="0" dirty="0">
                <a:solidFill>
                  <a:srgbClr val="C00000"/>
                </a:solidFill>
                <a:latin typeface="Calibri"/>
                <a:ea typeface="맑은 고딕"/>
                <a:cs typeface="Calibri"/>
              </a:rPr>
              <a:t>	the Sherpas' hidden role in mountain climbing</a:t>
            </a:r>
            <a:endParaRPr lang="en-US" altLang="ko-KR" sz="1800" b="0" dirty="0">
              <a:solidFill>
                <a:srgbClr val="C00000"/>
              </a:solidFill>
              <a:latin typeface="Calibri"/>
              <a:ea typeface="맑은 고딕"/>
              <a:cs typeface="Calibri"/>
            </a:endParaRPr>
          </a:p>
        </p:txBody>
      </p:sp>
      <p:sp>
        <p:nvSpPr>
          <p:cNvPr id="13" name="choice_2"/>
          <p:cNvSpPr txBox="1"/>
          <p:nvPr/>
        </p:nvSpPr>
        <p:spPr>
          <a:xfrm>
            <a:off x="457200" y="3264916"/>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②</a:t>
            </a:r>
            <a:r>
              <a:rPr lang="en-US" altLang="ko-KR" sz="1800" b="0" dirty="0">
                <a:solidFill>
                  <a:srgbClr val="1F2328"/>
                </a:solidFill>
                <a:latin typeface="Calibri"/>
                <a:ea typeface="맑은 고딕"/>
                <a:cs typeface="Calibri"/>
              </a:rPr>
              <a:t>	the dangers of climbing Mount Everest</a:t>
            </a:r>
            <a:endParaRPr lang="en-US" altLang="ko-KR" sz="1800" b="0" dirty="0">
              <a:solidFill>
                <a:srgbClr val="1F2328"/>
              </a:solidFill>
              <a:latin typeface="Calibri"/>
              <a:ea typeface="맑은 고딕"/>
              <a:cs typeface="Calibri"/>
            </a:endParaRPr>
          </a:p>
        </p:txBody>
      </p:sp>
      <p:sp>
        <p:nvSpPr>
          <p:cNvPr id="14" name="choice_3"/>
          <p:cNvSpPr txBox="1"/>
          <p:nvPr/>
        </p:nvSpPr>
        <p:spPr>
          <a:xfrm>
            <a:off x="457200" y="3672332"/>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③</a:t>
            </a:r>
            <a:r>
              <a:rPr lang="en-US" altLang="ko-KR" sz="1800" b="0" dirty="0">
                <a:solidFill>
                  <a:srgbClr val="1F2328"/>
                </a:solidFill>
                <a:latin typeface="Calibri"/>
                <a:ea typeface="맑은 고딕"/>
                <a:cs typeface="Calibri"/>
              </a:rPr>
              <a:t>	the eastern part of Nepal and its weather</a:t>
            </a:r>
            <a:endParaRPr lang="en-US" altLang="ko-KR" sz="1800" b="0" dirty="0">
              <a:solidFill>
                <a:srgbClr val="1F2328"/>
              </a:solidFill>
              <a:latin typeface="Calibri"/>
              <a:ea typeface="맑은 고딕"/>
              <a:cs typeface="Calibri"/>
            </a:endParaRPr>
          </a:p>
        </p:txBody>
      </p:sp>
      <p:sp>
        <p:nvSpPr>
          <p:cNvPr id="15" name="choice_4"/>
          <p:cNvSpPr txBox="1"/>
          <p:nvPr/>
        </p:nvSpPr>
        <p:spPr>
          <a:xfrm>
            <a:off x="457200" y="4079748"/>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④</a:t>
            </a:r>
            <a:r>
              <a:rPr lang="en-US" altLang="ko-KR" sz="1800" b="0" dirty="0">
                <a:solidFill>
                  <a:srgbClr val="1F2328"/>
                </a:solidFill>
                <a:latin typeface="Calibri"/>
                <a:ea typeface="맑은 고딕"/>
                <a:cs typeface="Calibri"/>
              </a:rPr>
              <a:t>	how climbers take pictures on the top</a:t>
            </a:r>
            <a:endParaRPr lang="en-US" altLang="ko-KR" sz="1800" b="0" dirty="0">
              <a:solidFill>
                <a:srgbClr val="1F2328"/>
              </a:solidFill>
              <a:latin typeface="Calibri"/>
              <a:ea typeface="맑은 고딕"/>
              <a:cs typeface="Calibri"/>
            </a:endParaRPr>
          </a:p>
        </p:txBody>
      </p:sp>
      <p:sp>
        <p:nvSpPr>
          <p:cNvPr id="16" name="choice_5"/>
          <p:cNvSpPr txBox="1"/>
          <p:nvPr/>
        </p:nvSpPr>
        <p:spPr>
          <a:xfrm>
            <a:off x="457200" y="4487164"/>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⑤</a:t>
            </a:r>
            <a:r>
              <a:rPr lang="en-US" altLang="ko-KR" sz="1800" b="0" dirty="0">
                <a:solidFill>
                  <a:srgbClr val="1F2328"/>
                </a:solidFill>
                <a:latin typeface="Calibri"/>
                <a:ea typeface="맑은 고딕"/>
                <a:cs typeface="Calibri"/>
              </a:rPr>
              <a:t>	why climbers carry their own heavy bags</a:t>
            </a:r>
            <a:endParaRPr lang="en-US" altLang="ko-KR" sz="1800" b="0" dirty="0">
              <a:solidFill>
                <a:srgbClr val="1F2328"/>
              </a:solidFill>
              <a:latin typeface="Calibri"/>
              <a:ea typeface="맑은 고딕"/>
              <a:cs typeface="Calibri"/>
            </a:endParaRPr>
          </a:p>
        </p:txBody>
      </p:sp>
      <p:sp>
        <p:nvSpPr>
          <p:cNvPr id="17" name="rv_answer"/>
          <p:cNvSpPr/>
          <p:nvPr/>
        </p:nvSpPr>
        <p:spPr>
          <a:xfrm>
            <a:off x="457200" y="497687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① </a:t>
            </a:r>
            <a:r>
              <a:rPr lang="en-US" altLang="ko-KR" sz="1900" b="1" dirty="0">
                <a:solidFill>
                  <a:srgbClr val="5A4200"/>
                </a:solidFill>
                <a:latin typeface="Calibri"/>
                <a:ea typeface="맑은 고딕"/>
                <a:cs typeface="Calibri"/>
              </a:rPr>
              <a:t>the Sherpas' hidden role in mountain climbing</a:t>
            </a:r>
            <a:endParaRPr lang="en-US" altLang="ko-KR" sz="1900" b="1" dirty="0">
              <a:solidFill>
                <a:srgbClr val="5A4200"/>
              </a:solidFill>
              <a:latin typeface="Calibri"/>
              <a:ea typeface="맑은 고딕"/>
              <a:cs typeface="Calibri"/>
            </a:endParaRPr>
          </a:p>
        </p:txBody>
      </p:sp>
      <p:sp>
        <p:nvSpPr>
          <p:cNvPr id="18" name="rv_why"/>
          <p:cNvSpPr/>
          <p:nvPr/>
        </p:nvSpPr>
        <p:spPr>
          <a:xfrm>
            <a:off x="457200" y="5575808"/>
            <a:ext cx="11277295" cy="84327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등산가들이 셰르파를 고용하고 셰르파는 보이지 않는 사람들로 불린다. 셰르파의 숨은 역할을 다룬 ①이 주제다.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25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25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25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7" grpId="0" animBg="1"/>
      <p:bldP spid="9" grpId="0" animBg="1"/>
      <p:bldP spid="10" grpId="0" animBg="1"/>
      <p:bldP spid="18" grpId="0" animBg="1"/>
    </p:bldLst>
  </p:timing>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L5-4</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1 · 2</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2. 다음 글의 제목으로 가장 적절한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5</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본문 근거 형광 + 정답 원리</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176021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1760219"/>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1F2328"/>
                </a:solidFill>
                <a:latin typeface="Calibri"/>
                <a:ea typeface="맑은 고딕"/>
                <a:cs typeface="Calibri"/>
              </a:rPr>
              <a:t>The word Sherpa comes from the Sherpa tribe, which lives in the eastern part of Nepal. Sherpas have good climbing skills and know their way around the mountains well. They also have little difficulty breathing high up in the mountains. Therefore, mountain climbers started to hire Sherpas to help them climb Mount Everest. Sherpas lead mountain climbers to the top of the mountain. They support climbers in many ways. For example, they put up tents and carry climbers’ bags. Sherpas are often called </a:t>
            </a:r>
            <a:r>
              <a:rPr lang="en-US" altLang="ko-KR" sz="1500" b="0" dirty="0">
                <a:solidFill>
                  <a:srgbClr val="1F2328"/>
                </a:solidFill>
                <a:latin typeface="Calibri"/>
                <a:ea typeface="맑은 고딕"/>
                <a:cs typeface="Calibri"/>
              </a:rPr>
              <a:t>the invisible people of Mount Everest</a:t>
            </a:r>
            <a:r>
              <a:rPr lang="en-US" altLang="ko-KR" sz="1500" b="0" dirty="0">
                <a:solidFill>
                  <a:srgbClr val="1F2328"/>
                </a:solidFill>
                <a:latin typeface="Calibri"/>
                <a:ea typeface="맑은 고딕"/>
                <a:cs typeface="Calibri"/>
              </a:rPr>
              <a:t> because people often see a picture of only the climbers at the top of the mountain.</a:t>
            </a:r>
            <a:endParaRPr lang="en-US" altLang="ko-KR" sz="1500" b="0" dirty="0">
              <a:solidFill>
                <a:srgbClr val="1F2328"/>
              </a:solidFill>
              <a:latin typeface="Calibri"/>
              <a:ea typeface="맑은 고딕"/>
              <a:cs typeface="Calibri"/>
            </a:endParaRPr>
          </a:p>
        </p:txBody>
      </p:sp>
      <p:sp>
        <p:nvSpPr>
          <p:cNvPr id="9" name="rv_evidence_card"/>
          <p:cNvSpPr/>
          <p:nvPr/>
        </p:nvSpPr>
        <p:spPr>
          <a:xfrm>
            <a:off x="457200" y="950976"/>
            <a:ext cx="11277295" cy="176021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rv_evidence"/>
          <p:cNvSpPr txBox="1"/>
          <p:nvPr/>
        </p:nvSpPr>
        <p:spPr>
          <a:xfrm>
            <a:off x="457200" y="950976"/>
            <a:ext cx="11277295" cy="1760219"/>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B3BAC6"/>
                </a:solidFill>
                <a:latin typeface="Calibri"/>
                <a:ea typeface="맑은 고딕"/>
                <a:cs typeface="Calibri"/>
              </a:rPr>
              <a:t>The word Sherpa comes from the Sherpa tribe, which lives in the eastern part of Nepal. Sherpas have good climbing skills and know their way around the mountains well. They also have little difficulty breathing high up in the mountains. Therefore, mountain climbers started to hire Sherpas to help them climb Mount Everest. Sherpas lead mountain climbers to the top of the mountain. They support climbers in many ways. For example, they put up tents and carry climbers’ bags. Sherpas are often called </a:t>
            </a:r>
            <a:r>
              <a:rPr lang="en-US" altLang="ko-KR" sz="1500" b="0" dirty="0">
                <a:solidFill>
                  <a:srgbClr val="111111"/>
                </a:solidFill>
                <a:highlight>
                  <a:srgbClr val="FFE45C"/>
                </a:highlight>
                <a:latin typeface="Calibri"/>
                <a:ea typeface="맑은 고딕"/>
                <a:cs typeface="Calibri"/>
              </a:rPr>
              <a:t>the invisible people of Mount Everest</a:t>
            </a:r>
            <a:r>
              <a:rPr lang="en-US" altLang="ko-KR" sz="1500" b="0" dirty="0">
                <a:solidFill>
                  <a:srgbClr val="B3BAC6"/>
                </a:solidFill>
                <a:latin typeface="Calibri"/>
                <a:ea typeface="맑은 고딕"/>
                <a:cs typeface="Calibri"/>
              </a:rPr>
              <a:t> because people often see a picture of only the climbers at the top of the mountain.</a:t>
            </a:r>
            <a:endParaRPr lang="en-US" altLang="ko-KR" sz="1500" b="0" dirty="0">
              <a:solidFill>
                <a:srgbClr val="B3BAC6"/>
              </a:solidFill>
              <a:latin typeface="Calibri"/>
              <a:ea typeface="맑은 고딕"/>
              <a:cs typeface="Calibri"/>
            </a:endParaRPr>
          </a:p>
        </p:txBody>
      </p:sp>
      <p:sp>
        <p:nvSpPr>
          <p:cNvPr id="11" name="choice_1"/>
          <p:cNvSpPr txBox="1"/>
          <p:nvPr/>
        </p:nvSpPr>
        <p:spPr>
          <a:xfrm>
            <a:off x="457200" y="2857500"/>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①</a:t>
            </a:r>
            <a:r>
              <a:rPr lang="en-US" altLang="ko-KR" sz="1800" b="0" dirty="0">
                <a:solidFill>
                  <a:srgbClr val="1F2328"/>
                </a:solidFill>
                <a:latin typeface="Calibri"/>
                <a:ea typeface="맑은 고딕"/>
                <a:cs typeface="Calibri"/>
              </a:rPr>
              <a:t>	Climbers Who Reach the Top Alone</a:t>
            </a:r>
            <a:endParaRPr lang="en-US" altLang="ko-KR" sz="1800" b="0" dirty="0">
              <a:solidFill>
                <a:srgbClr val="1F2328"/>
              </a:solidFill>
              <a:latin typeface="Calibri"/>
              <a:ea typeface="맑은 고딕"/>
              <a:cs typeface="Calibri"/>
            </a:endParaRPr>
          </a:p>
        </p:txBody>
      </p:sp>
      <p:sp>
        <p:nvSpPr>
          <p:cNvPr id="12" name="choice_2"/>
          <p:cNvSpPr txBox="1"/>
          <p:nvPr/>
        </p:nvSpPr>
        <p:spPr>
          <a:xfrm>
            <a:off x="457200" y="3264916"/>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②</a:t>
            </a:r>
            <a:r>
              <a:rPr lang="en-US" altLang="ko-KR" sz="1800" b="0" dirty="0">
                <a:solidFill>
                  <a:srgbClr val="1F2328"/>
                </a:solidFill>
                <a:latin typeface="Calibri"/>
                <a:ea typeface="맑은 고딕"/>
                <a:cs typeface="Calibri"/>
              </a:rPr>
              <a:t>	Sherpas: Invisible People of Everest</a:t>
            </a:r>
            <a:endParaRPr lang="en-US" altLang="ko-KR" sz="1800" b="0" dirty="0">
              <a:solidFill>
                <a:srgbClr val="1F2328"/>
              </a:solidFill>
              <a:latin typeface="Calibri"/>
              <a:ea typeface="맑은 고딕"/>
              <a:cs typeface="Calibri"/>
            </a:endParaRPr>
          </a:p>
        </p:txBody>
      </p:sp>
      <p:sp>
        <p:nvSpPr>
          <p:cNvPr id="13" name="rv_pick"/>
          <p:cNvSpPr txBox="1"/>
          <p:nvPr/>
        </p:nvSpPr>
        <p:spPr>
          <a:xfrm>
            <a:off x="457200" y="3264916"/>
            <a:ext cx="11277295" cy="379984"/>
          </a:xfrm>
          <a:prstGeom prst="rect">
            <a:avLst/>
          </a:prstGeom>
          <a:solidFill>
            <a:srgbClr val="FFF3C4"/>
          </a:solid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C00000"/>
                </a:solidFill>
                <a:latin typeface="맑은 고딕"/>
                <a:ea typeface="맑은 고딕"/>
                <a:cs typeface="맑은 고딕"/>
              </a:rPr>
              <a:t>②</a:t>
            </a:r>
            <a:r>
              <a:rPr lang="en-US" altLang="ko-KR" sz="1800" b="0" dirty="0">
                <a:solidFill>
                  <a:srgbClr val="C00000"/>
                </a:solidFill>
                <a:latin typeface="Calibri"/>
                <a:ea typeface="맑은 고딕"/>
                <a:cs typeface="Calibri"/>
              </a:rPr>
              <a:t>	Sherpas: Invisible People of Everest</a:t>
            </a:r>
            <a:endParaRPr lang="en-US" altLang="ko-KR" sz="1800" b="0" dirty="0">
              <a:solidFill>
                <a:srgbClr val="C00000"/>
              </a:solidFill>
              <a:latin typeface="Calibri"/>
              <a:ea typeface="맑은 고딕"/>
              <a:cs typeface="Calibri"/>
            </a:endParaRPr>
          </a:p>
        </p:txBody>
      </p:sp>
      <p:sp>
        <p:nvSpPr>
          <p:cNvPr id="14" name="choice_3"/>
          <p:cNvSpPr txBox="1"/>
          <p:nvPr/>
        </p:nvSpPr>
        <p:spPr>
          <a:xfrm>
            <a:off x="457200" y="3672332"/>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③</a:t>
            </a:r>
            <a:r>
              <a:rPr lang="en-US" altLang="ko-KR" sz="1800" b="0" dirty="0">
                <a:solidFill>
                  <a:srgbClr val="1F2328"/>
                </a:solidFill>
                <a:latin typeface="Calibri"/>
                <a:ea typeface="맑은 고딕"/>
                <a:cs typeface="Calibri"/>
              </a:rPr>
              <a:t>	How to Breathe High Up in Mountains</a:t>
            </a:r>
            <a:endParaRPr lang="en-US" altLang="ko-KR" sz="1800" b="0" dirty="0">
              <a:solidFill>
                <a:srgbClr val="1F2328"/>
              </a:solidFill>
              <a:latin typeface="Calibri"/>
              <a:ea typeface="맑은 고딕"/>
              <a:cs typeface="Calibri"/>
            </a:endParaRPr>
          </a:p>
        </p:txBody>
      </p:sp>
      <p:sp>
        <p:nvSpPr>
          <p:cNvPr id="15" name="choice_4"/>
          <p:cNvSpPr txBox="1"/>
          <p:nvPr/>
        </p:nvSpPr>
        <p:spPr>
          <a:xfrm>
            <a:off x="457200" y="4079748"/>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④</a:t>
            </a:r>
            <a:r>
              <a:rPr lang="en-US" altLang="ko-KR" sz="1800" b="0" dirty="0">
                <a:solidFill>
                  <a:srgbClr val="1F2328"/>
                </a:solidFill>
                <a:latin typeface="Calibri"/>
                <a:ea typeface="맑은 고딕"/>
                <a:cs typeface="Calibri"/>
              </a:rPr>
              <a:t>	The Best Tents for Mountain Climbers</a:t>
            </a:r>
            <a:endParaRPr lang="en-US" altLang="ko-KR" sz="1800" b="0" dirty="0">
              <a:solidFill>
                <a:srgbClr val="1F2328"/>
              </a:solidFill>
              <a:latin typeface="Calibri"/>
              <a:ea typeface="맑은 고딕"/>
              <a:cs typeface="Calibri"/>
            </a:endParaRPr>
          </a:p>
        </p:txBody>
      </p:sp>
      <p:sp>
        <p:nvSpPr>
          <p:cNvPr id="16" name="choice_5"/>
          <p:cNvSpPr txBox="1"/>
          <p:nvPr/>
        </p:nvSpPr>
        <p:spPr>
          <a:xfrm>
            <a:off x="457200" y="4487164"/>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⑤</a:t>
            </a:r>
            <a:r>
              <a:rPr lang="en-US" altLang="ko-KR" sz="1800" b="0" dirty="0">
                <a:solidFill>
                  <a:srgbClr val="1F2328"/>
                </a:solidFill>
                <a:latin typeface="Calibri"/>
                <a:ea typeface="맑은 고딕"/>
                <a:cs typeface="Calibri"/>
              </a:rPr>
              <a:t>	A Short History of Nepal's Mountains</a:t>
            </a:r>
            <a:endParaRPr lang="en-US" altLang="ko-KR" sz="1800" b="0" dirty="0">
              <a:solidFill>
                <a:srgbClr val="1F2328"/>
              </a:solidFill>
              <a:latin typeface="Calibri"/>
              <a:ea typeface="맑은 고딕"/>
              <a:cs typeface="Calibri"/>
            </a:endParaRPr>
          </a:p>
        </p:txBody>
      </p:sp>
      <p:sp>
        <p:nvSpPr>
          <p:cNvPr id="17" name="rv_answer"/>
          <p:cNvSpPr/>
          <p:nvPr/>
        </p:nvSpPr>
        <p:spPr>
          <a:xfrm>
            <a:off x="457200" y="497687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② </a:t>
            </a:r>
            <a:r>
              <a:rPr lang="en-US" altLang="ko-KR" sz="1900" b="1" dirty="0">
                <a:solidFill>
                  <a:srgbClr val="5A4200"/>
                </a:solidFill>
                <a:latin typeface="Calibri"/>
                <a:ea typeface="맑은 고딕"/>
                <a:cs typeface="Calibri"/>
              </a:rPr>
              <a:t>Sherpas: Invisible People of Everest</a:t>
            </a:r>
            <a:endParaRPr lang="en-US" altLang="ko-KR" sz="1900" b="1" dirty="0">
              <a:solidFill>
                <a:srgbClr val="5A4200"/>
              </a:solidFill>
              <a:latin typeface="Calibri"/>
              <a:ea typeface="맑은 고딕"/>
              <a:cs typeface="Calibri"/>
            </a:endParaRPr>
          </a:p>
        </p:txBody>
      </p:sp>
      <p:sp>
        <p:nvSpPr>
          <p:cNvPr id="18" name="rv_why"/>
          <p:cNvSpPr/>
          <p:nvPr/>
        </p:nvSpPr>
        <p:spPr>
          <a:xfrm>
            <a:off x="457200" y="5575808"/>
            <a:ext cx="11277295" cy="84327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셰르파를 'the invisible people of Mount Everest'라 부른다고 했다. 이를 옮긴 ②가 제목이다.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250"/>
                                        <p:tgtEl>
                                          <p:spTgt spid="1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25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25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7" grpId="0" animBg="1"/>
      <p:bldP spid="9" grpId="0" animBg="1"/>
      <p:bldP spid="10" grpId="0" animBg="1"/>
      <p:bldP spid="18" grpId="0" animBg="1"/>
    </p:bldLst>
  </p:timing>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L5-4</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1 · 3</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3. 다음 글에서 필자가 주장하는 바로 가장 적절한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5</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본문 근거 형광 + 정답 원리</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176021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1760219"/>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1F2328"/>
                </a:solidFill>
                <a:latin typeface="Calibri"/>
                <a:ea typeface="맑은 고딕"/>
                <a:cs typeface="Calibri"/>
              </a:rPr>
              <a:t>The word Sherpa comes from the Sherpa tribe, which lives in the eastern part of Nepal. Sherpas have good climbing skills and know their way around the mountains well. They also have little difficulty breathing high up in the mountains. Therefore, mountain climbers started to hire Sherpas to help them climb Mount Everest. Sherpas lead mountain climbers to the top of the mountain. </a:t>
            </a:r>
            <a:r>
              <a:rPr lang="en-US" altLang="ko-KR" sz="1500" b="0" dirty="0">
                <a:solidFill>
                  <a:srgbClr val="1F2328"/>
                </a:solidFill>
                <a:latin typeface="Calibri"/>
                <a:ea typeface="맑은 고딕"/>
                <a:cs typeface="Calibri"/>
              </a:rPr>
              <a:t>They support climbers in many ways.</a:t>
            </a:r>
            <a:r>
              <a:rPr lang="en-US" altLang="ko-KR" sz="1500" b="0" dirty="0">
                <a:solidFill>
                  <a:srgbClr val="1F2328"/>
                </a:solidFill>
                <a:latin typeface="Calibri"/>
                <a:ea typeface="맑은 고딕"/>
                <a:cs typeface="Calibri"/>
              </a:rPr>
              <a:t> For example, they put up tents and carry climbers’ bags. Sherpas are often called </a:t>
            </a:r>
            <a:r>
              <a:rPr lang="en-US" altLang="ko-KR" sz="1500" b="0" dirty="0">
                <a:solidFill>
                  <a:srgbClr val="1F2328"/>
                </a:solidFill>
                <a:latin typeface="Calibri"/>
                <a:ea typeface="맑은 고딕"/>
                <a:cs typeface="Calibri"/>
              </a:rPr>
              <a:t>the invisible people of Mount Everest</a:t>
            </a:r>
            <a:r>
              <a:rPr lang="en-US" altLang="ko-KR" sz="1500" b="0" dirty="0">
                <a:solidFill>
                  <a:srgbClr val="1F2328"/>
                </a:solidFill>
                <a:latin typeface="Calibri"/>
                <a:ea typeface="맑은 고딕"/>
                <a:cs typeface="Calibri"/>
              </a:rPr>
              <a:t> because people often see a picture of only the climbers at the top of the mountain.</a:t>
            </a:r>
            <a:endParaRPr lang="en-US" altLang="ko-KR" sz="1500" b="0" dirty="0">
              <a:solidFill>
                <a:srgbClr val="1F2328"/>
              </a:solidFill>
              <a:latin typeface="Calibri"/>
              <a:ea typeface="맑은 고딕"/>
              <a:cs typeface="Calibri"/>
            </a:endParaRPr>
          </a:p>
        </p:txBody>
      </p:sp>
      <p:sp>
        <p:nvSpPr>
          <p:cNvPr id="9" name="rv_evidence_card"/>
          <p:cNvSpPr/>
          <p:nvPr/>
        </p:nvSpPr>
        <p:spPr>
          <a:xfrm>
            <a:off x="457200" y="950976"/>
            <a:ext cx="11277295" cy="176021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rv_evidence"/>
          <p:cNvSpPr txBox="1"/>
          <p:nvPr/>
        </p:nvSpPr>
        <p:spPr>
          <a:xfrm>
            <a:off x="457200" y="950976"/>
            <a:ext cx="11277295" cy="1760219"/>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B3BAC6"/>
                </a:solidFill>
                <a:latin typeface="Calibri"/>
                <a:ea typeface="맑은 고딕"/>
                <a:cs typeface="Calibri"/>
              </a:rPr>
              <a:t>The word Sherpa comes from the Sherpa tribe, which lives in the eastern part of Nepal. Sherpas have good climbing skills and know their way around the mountains well. They also have little difficulty breathing high up in the mountains. Therefore, mountain climbers started to hire Sherpas to help them climb Mount Everest. Sherpas lead mountain climbers to the top of the mountain. </a:t>
            </a:r>
            <a:r>
              <a:rPr lang="en-US" altLang="ko-KR" sz="1500" b="0" dirty="0">
                <a:solidFill>
                  <a:srgbClr val="111111"/>
                </a:solidFill>
                <a:highlight>
                  <a:srgbClr val="FFE45C"/>
                </a:highlight>
                <a:latin typeface="Calibri"/>
                <a:ea typeface="맑은 고딕"/>
                <a:cs typeface="Calibri"/>
              </a:rPr>
              <a:t>They support climbers in many ways.</a:t>
            </a:r>
            <a:r>
              <a:rPr lang="en-US" altLang="ko-KR" sz="1500" b="0" dirty="0">
                <a:solidFill>
                  <a:srgbClr val="B3BAC6"/>
                </a:solidFill>
                <a:latin typeface="Calibri"/>
                <a:ea typeface="맑은 고딕"/>
                <a:cs typeface="Calibri"/>
              </a:rPr>
              <a:t> For example, they put up tents and carry climbers’ bags. Sherpas are often called </a:t>
            </a:r>
            <a:r>
              <a:rPr lang="en-US" altLang="ko-KR" sz="1500" b="0" dirty="0">
                <a:solidFill>
                  <a:srgbClr val="111111"/>
                </a:solidFill>
                <a:highlight>
                  <a:srgbClr val="FFE45C"/>
                </a:highlight>
                <a:latin typeface="Calibri"/>
                <a:ea typeface="맑은 고딕"/>
                <a:cs typeface="Calibri"/>
              </a:rPr>
              <a:t>the invisible people of Mount Everest</a:t>
            </a:r>
            <a:r>
              <a:rPr lang="en-US" altLang="ko-KR" sz="1500" b="0" dirty="0">
                <a:solidFill>
                  <a:srgbClr val="B3BAC6"/>
                </a:solidFill>
                <a:latin typeface="Calibri"/>
                <a:ea typeface="맑은 고딕"/>
                <a:cs typeface="Calibri"/>
              </a:rPr>
              <a:t> because people often see a picture of only the climbers at the top of the mountain.</a:t>
            </a:r>
            <a:endParaRPr lang="en-US" altLang="ko-KR" sz="1500" b="0" dirty="0">
              <a:solidFill>
                <a:srgbClr val="B3BAC6"/>
              </a:solidFill>
              <a:latin typeface="Calibri"/>
              <a:ea typeface="맑은 고딕"/>
              <a:cs typeface="Calibri"/>
            </a:endParaRPr>
          </a:p>
        </p:txBody>
      </p:sp>
      <p:sp>
        <p:nvSpPr>
          <p:cNvPr id="11" name="choice_1"/>
          <p:cNvSpPr txBox="1"/>
          <p:nvPr/>
        </p:nvSpPr>
        <p:spPr>
          <a:xfrm>
            <a:off x="457200" y="2857500"/>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①</a:t>
            </a:r>
            <a:r>
              <a:rPr lang="ko-KR" altLang="en-US" sz="1800" b="0" dirty="0">
                <a:solidFill>
                  <a:srgbClr val="1F2328"/>
                </a:solidFill>
                <a:latin typeface="맑은 고딕"/>
                <a:ea typeface="맑은 고딕"/>
                <a:cs typeface="맑은 고딕"/>
              </a:rPr>
              <a:t>	등산가는 셰르파 없이 혼자 등반해야 한다</a:t>
            </a:r>
            <a:endParaRPr lang="ko-KR" altLang="en-US" sz="1800" b="0" dirty="0">
              <a:solidFill>
                <a:srgbClr val="1F2328"/>
              </a:solidFill>
              <a:latin typeface="맑은 고딕"/>
              <a:ea typeface="맑은 고딕"/>
              <a:cs typeface="맑은 고딕"/>
            </a:endParaRPr>
          </a:p>
        </p:txBody>
      </p:sp>
      <p:sp>
        <p:nvSpPr>
          <p:cNvPr id="12" name="choice_2"/>
          <p:cNvSpPr txBox="1"/>
          <p:nvPr/>
        </p:nvSpPr>
        <p:spPr>
          <a:xfrm>
            <a:off x="457200" y="3264916"/>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②</a:t>
            </a:r>
            <a:r>
              <a:rPr lang="ko-KR" altLang="en-US" sz="1800" b="0" dirty="0">
                <a:solidFill>
                  <a:srgbClr val="1F2328"/>
                </a:solidFill>
                <a:latin typeface="맑은 고딕"/>
                <a:ea typeface="맑은 고딕"/>
                <a:cs typeface="맑은 고딕"/>
              </a:rPr>
              <a:t>	산 정상 사진에는 등산가만 나와야 한다</a:t>
            </a:r>
            <a:endParaRPr lang="ko-KR" altLang="en-US" sz="1800" b="0" dirty="0">
              <a:solidFill>
                <a:srgbClr val="1F2328"/>
              </a:solidFill>
              <a:latin typeface="맑은 고딕"/>
              <a:ea typeface="맑은 고딕"/>
              <a:cs typeface="맑은 고딕"/>
            </a:endParaRPr>
          </a:p>
        </p:txBody>
      </p:sp>
      <p:sp>
        <p:nvSpPr>
          <p:cNvPr id="13" name="choice_3"/>
          <p:cNvSpPr txBox="1"/>
          <p:nvPr/>
        </p:nvSpPr>
        <p:spPr>
          <a:xfrm>
            <a:off x="457200" y="3672332"/>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③</a:t>
            </a:r>
            <a:r>
              <a:rPr lang="ko-KR" altLang="en-US" sz="1800" b="0" dirty="0">
                <a:solidFill>
                  <a:srgbClr val="1F2328"/>
                </a:solidFill>
                <a:latin typeface="맑은 고딕"/>
                <a:ea typeface="맑은 고딕"/>
                <a:cs typeface="맑은 고딕"/>
              </a:rPr>
              <a:t>	보이지 않는 셰르파의 공헌을 알아야 한다</a:t>
            </a:r>
            <a:endParaRPr lang="ko-KR" altLang="en-US" sz="1800" b="0" dirty="0">
              <a:solidFill>
                <a:srgbClr val="1F2328"/>
              </a:solidFill>
              <a:latin typeface="맑은 고딕"/>
              <a:ea typeface="맑은 고딕"/>
              <a:cs typeface="맑은 고딕"/>
            </a:endParaRPr>
          </a:p>
        </p:txBody>
      </p:sp>
      <p:sp>
        <p:nvSpPr>
          <p:cNvPr id="14" name="rv_pick"/>
          <p:cNvSpPr txBox="1"/>
          <p:nvPr/>
        </p:nvSpPr>
        <p:spPr>
          <a:xfrm>
            <a:off x="457200" y="3672332"/>
            <a:ext cx="11277295" cy="379984"/>
          </a:xfrm>
          <a:prstGeom prst="rect">
            <a:avLst/>
          </a:prstGeom>
          <a:solidFill>
            <a:srgbClr val="FFF3C4"/>
          </a:solid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C00000"/>
                </a:solidFill>
                <a:latin typeface="맑은 고딕"/>
                <a:ea typeface="맑은 고딕"/>
                <a:cs typeface="맑은 고딕"/>
              </a:rPr>
              <a:t>③</a:t>
            </a:r>
            <a:r>
              <a:rPr lang="ko-KR" altLang="en-US" sz="1800" b="0" dirty="0">
                <a:solidFill>
                  <a:srgbClr val="C00000"/>
                </a:solidFill>
                <a:latin typeface="맑은 고딕"/>
                <a:ea typeface="맑은 고딕"/>
                <a:cs typeface="맑은 고딕"/>
              </a:rPr>
              <a:t>	보이지 않는 셰르파의 공헌을 알아야 한다</a:t>
            </a:r>
            <a:endParaRPr lang="ko-KR" altLang="en-US" sz="1800" b="0" dirty="0">
              <a:solidFill>
                <a:srgbClr val="C00000"/>
              </a:solidFill>
              <a:latin typeface="맑은 고딕"/>
              <a:ea typeface="맑은 고딕"/>
              <a:cs typeface="맑은 고딕"/>
            </a:endParaRPr>
          </a:p>
        </p:txBody>
      </p:sp>
      <p:sp>
        <p:nvSpPr>
          <p:cNvPr id="15" name="choice_4"/>
          <p:cNvSpPr txBox="1"/>
          <p:nvPr/>
        </p:nvSpPr>
        <p:spPr>
          <a:xfrm>
            <a:off x="457200" y="4079748"/>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④</a:t>
            </a:r>
            <a:r>
              <a:rPr lang="ko-KR" altLang="en-US" sz="1800" b="0" dirty="0">
                <a:solidFill>
                  <a:srgbClr val="1F2328"/>
                </a:solidFill>
                <a:latin typeface="맑은 고딕"/>
                <a:ea typeface="맑은 고딕"/>
                <a:cs typeface="맑은 고딕"/>
              </a:rPr>
              <a:t>	등산가는 자기 가방을 직접 운반해야 한다</a:t>
            </a:r>
            <a:endParaRPr lang="ko-KR" altLang="en-US" sz="1800" b="0" dirty="0">
              <a:solidFill>
                <a:srgbClr val="1F2328"/>
              </a:solidFill>
              <a:latin typeface="맑은 고딕"/>
              <a:ea typeface="맑은 고딕"/>
              <a:cs typeface="맑은 고딕"/>
            </a:endParaRPr>
          </a:p>
        </p:txBody>
      </p:sp>
      <p:sp>
        <p:nvSpPr>
          <p:cNvPr id="16" name="choice_5"/>
          <p:cNvSpPr txBox="1"/>
          <p:nvPr/>
        </p:nvSpPr>
        <p:spPr>
          <a:xfrm>
            <a:off x="457200" y="4487164"/>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⑤</a:t>
            </a:r>
            <a:r>
              <a:rPr lang="ko-KR" altLang="en-US" sz="1800" b="0" dirty="0">
                <a:solidFill>
                  <a:srgbClr val="1F2328"/>
                </a:solidFill>
                <a:latin typeface="맑은 고딕"/>
                <a:ea typeface="맑은 고딕"/>
                <a:cs typeface="맑은 고딕"/>
              </a:rPr>
              <a:t>	셰르파족은 네팔 동쪽 지역을 떠나야 한다</a:t>
            </a:r>
            <a:endParaRPr lang="ko-KR" altLang="en-US" sz="1800" b="0" dirty="0">
              <a:solidFill>
                <a:srgbClr val="1F2328"/>
              </a:solidFill>
              <a:latin typeface="맑은 고딕"/>
              <a:ea typeface="맑은 고딕"/>
              <a:cs typeface="맑은 고딕"/>
            </a:endParaRPr>
          </a:p>
        </p:txBody>
      </p:sp>
      <p:sp>
        <p:nvSpPr>
          <p:cNvPr id="17" name="rv_answer"/>
          <p:cNvSpPr/>
          <p:nvPr/>
        </p:nvSpPr>
        <p:spPr>
          <a:xfrm>
            <a:off x="457200" y="497687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③ </a:t>
            </a:r>
            <a:r>
              <a:rPr lang="ko-KR" altLang="en-US" sz="1900" b="1" dirty="0">
                <a:solidFill>
                  <a:srgbClr val="5A4200"/>
                </a:solidFill>
                <a:latin typeface="맑은 고딕"/>
                <a:ea typeface="맑은 고딕"/>
                <a:cs typeface="맑은 고딕"/>
              </a:rPr>
              <a:t>보이지 않는 셰르파의 공헌을 알아야 한다</a:t>
            </a:r>
            <a:endParaRPr lang="ko-KR" altLang="en-US" sz="1900" b="1" dirty="0">
              <a:solidFill>
                <a:srgbClr val="5A4200"/>
              </a:solidFill>
              <a:latin typeface="맑은 고딕"/>
              <a:ea typeface="맑은 고딕"/>
              <a:cs typeface="맑은 고딕"/>
            </a:endParaRPr>
          </a:p>
        </p:txBody>
      </p:sp>
      <p:sp>
        <p:nvSpPr>
          <p:cNvPr id="18" name="rv_why"/>
          <p:cNvSpPr/>
          <p:nvPr/>
        </p:nvSpPr>
        <p:spPr>
          <a:xfrm>
            <a:off x="457200" y="5575808"/>
            <a:ext cx="11277295" cy="84327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셰르파는 여러 방식으로 등산가를 돕지만 보이지 않는다. 그 공헌을 알아야 한다는 ③이 주장이다.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250"/>
                                        <p:tgtEl>
                                          <p:spTgt spid="1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25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25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7" grpId="0" animBg="1"/>
      <p:bldP spid="9" grpId="0" animBg="1"/>
      <p:bldP spid="10" grpId="0" animBg="1"/>
      <p:bldP spid="18" grpId="0" animBg="1"/>
    </p:bldLst>
  </p:timing>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L5-4</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1 · 4</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4. 다음 글의 요지로 가장 적절한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5</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본문 근거 형광 + 정답 원리</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176021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1760219"/>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1F2328"/>
                </a:solidFill>
                <a:latin typeface="Calibri"/>
                <a:ea typeface="맑은 고딕"/>
                <a:cs typeface="Calibri"/>
              </a:rPr>
              <a:t>The word Sherpa comes from the Sherpa tribe, which lives in the eastern part of Nepal. Sherpas have good climbing skills and know their way around the mountains well. They also have little difficulty breathing high up in the mountains. Therefore, mountain climbers started to hire Sherpas to help them climb Mount Everest. </a:t>
            </a:r>
            <a:r>
              <a:rPr lang="en-US" altLang="ko-KR" sz="1500" b="0" dirty="0">
                <a:solidFill>
                  <a:srgbClr val="1F2328"/>
                </a:solidFill>
                <a:latin typeface="Calibri"/>
                <a:ea typeface="맑은 고딕"/>
                <a:cs typeface="Calibri"/>
              </a:rPr>
              <a:t>Sherpas lead mountain climbers to the top of the mountain.</a:t>
            </a:r>
            <a:r>
              <a:rPr lang="en-US" altLang="ko-KR" sz="1500" b="0" dirty="0">
                <a:solidFill>
                  <a:srgbClr val="1F2328"/>
                </a:solidFill>
                <a:latin typeface="Calibri"/>
                <a:ea typeface="맑은 고딕"/>
                <a:cs typeface="Calibri"/>
              </a:rPr>
              <a:t> They support climbers in many ways. For example, they put up tents and carry climbers’ bags. Sherpas are often called the invisible people of Mount Everest because people often see </a:t>
            </a:r>
            <a:r>
              <a:rPr lang="en-US" altLang="ko-KR" sz="1500" b="0" dirty="0">
                <a:solidFill>
                  <a:srgbClr val="1F2328"/>
                </a:solidFill>
                <a:latin typeface="Calibri"/>
                <a:ea typeface="맑은 고딕"/>
                <a:cs typeface="Calibri"/>
              </a:rPr>
              <a:t>a picture of only the climbers</a:t>
            </a:r>
            <a:r>
              <a:rPr lang="en-US" altLang="ko-KR" sz="1500" b="0" dirty="0">
                <a:solidFill>
                  <a:srgbClr val="1F2328"/>
                </a:solidFill>
                <a:latin typeface="Calibri"/>
                <a:ea typeface="맑은 고딕"/>
                <a:cs typeface="Calibri"/>
              </a:rPr>
              <a:t> at the top of the mountain.</a:t>
            </a:r>
            <a:endParaRPr lang="en-US" altLang="ko-KR" sz="1500" b="0" dirty="0">
              <a:solidFill>
                <a:srgbClr val="1F2328"/>
              </a:solidFill>
              <a:latin typeface="Calibri"/>
              <a:ea typeface="맑은 고딕"/>
              <a:cs typeface="Calibri"/>
            </a:endParaRPr>
          </a:p>
        </p:txBody>
      </p:sp>
      <p:sp>
        <p:nvSpPr>
          <p:cNvPr id="9" name="rv_evidence_card"/>
          <p:cNvSpPr/>
          <p:nvPr/>
        </p:nvSpPr>
        <p:spPr>
          <a:xfrm>
            <a:off x="457200" y="950976"/>
            <a:ext cx="11277295" cy="176021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rv_evidence"/>
          <p:cNvSpPr txBox="1"/>
          <p:nvPr/>
        </p:nvSpPr>
        <p:spPr>
          <a:xfrm>
            <a:off x="457200" y="950976"/>
            <a:ext cx="11277295" cy="1760219"/>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B3BAC6"/>
                </a:solidFill>
                <a:latin typeface="Calibri"/>
                <a:ea typeface="맑은 고딕"/>
                <a:cs typeface="Calibri"/>
              </a:rPr>
              <a:t>The word Sherpa comes from the Sherpa tribe, which lives in the eastern part of Nepal. Sherpas have good climbing skills and know their way around the mountains well. They also have little difficulty breathing high up in the mountains. Therefore, mountain climbers started to hire Sherpas to help them climb Mount Everest. </a:t>
            </a:r>
            <a:r>
              <a:rPr lang="en-US" altLang="ko-KR" sz="1500" b="0" dirty="0">
                <a:solidFill>
                  <a:srgbClr val="111111"/>
                </a:solidFill>
                <a:highlight>
                  <a:srgbClr val="FFE45C"/>
                </a:highlight>
                <a:latin typeface="Calibri"/>
                <a:ea typeface="맑은 고딕"/>
                <a:cs typeface="Calibri"/>
              </a:rPr>
              <a:t>Sherpas lead mountain climbers to the top of the mountain.</a:t>
            </a:r>
            <a:r>
              <a:rPr lang="en-US" altLang="ko-KR" sz="1500" b="0" dirty="0">
                <a:solidFill>
                  <a:srgbClr val="B3BAC6"/>
                </a:solidFill>
                <a:latin typeface="Calibri"/>
                <a:ea typeface="맑은 고딕"/>
                <a:cs typeface="Calibri"/>
              </a:rPr>
              <a:t> They support climbers in many ways. For example, they put up tents and carry climbers’ bags. Sherpas are often called the invisible people of Mount Everest because people often see </a:t>
            </a:r>
            <a:r>
              <a:rPr lang="en-US" altLang="ko-KR" sz="1500" b="0" dirty="0">
                <a:solidFill>
                  <a:srgbClr val="111111"/>
                </a:solidFill>
                <a:highlight>
                  <a:srgbClr val="FFE45C"/>
                </a:highlight>
                <a:latin typeface="Calibri"/>
                <a:ea typeface="맑은 고딕"/>
                <a:cs typeface="Calibri"/>
              </a:rPr>
              <a:t>a picture of only the climbers</a:t>
            </a:r>
            <a:r>
              <a:rPr lang="en-US" altLang="ko-KR" sz="1500" b="0" dirty="0">
                <a:solidFill>
                  <a:srgbClr val="B3BAC6"/>
                </a:solidFill>
                <a:latin typeface="Calibri"/>
                <a:ea typeface="맑은 고딕"/>
                <a:cs typeface="Calibri"/>
              </a:rPr>
              <a:t> at the top of the mountain.</a:t>
            </a:r>
            <a:endParaRPr lang="en-US" altLang="ko-KR" sz="1500" b="0" dirty="0">
              <a:solidFill>
                <a:srgbClr val="B3BAC6"/>
              </a:solidFill>
              <a:latin typeface="Calibri"/>
              <a:ea typeface="맑은 고딕"/>
              <a:cs typeface="Calibri"/>
            </a:endParaRPr>
          </a:p>
        </p:txBody>
      </p:sp>
      <p:sp>
        <p:nvSpPr>
          <p:cNvPr id="11" name="choice_1"/>
          <p:cNvSpPr txBox="1"/>
          <p:nvPr/>
        </p:nvSpPr>
        <p:spPr>
          <a:xfrm>
            <a:off x="457200" y="2857500"/>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①</a:t>
            </a:r>
            <a:r>
              <a:rPr lang="ko-KR" altLang="en-US" sz="1800" b="0" dirty="0">
                <a:solidFill>
                  <a:srgbClr val="1F2328"/>
                </a:solidFill>
                <a:latin typeface="맑은 고딕"/>
                <a:ea typeface="맑은 고딕"/>
                <a:cs typeface="맑은 고딕"/>
              </a:rPr>
              <a:t>	에베레스트 등반은 장비만 좋으면 가능하다</a:t>
            </a:r>
            <a:endParaRPr lang="ko-KR" altLang="en-US" sz="1800" b="0" dirty="0">
              <a:solidFill>
                <a:srgbClr val="1F2328"/>
              </a:solidFill>
              <a:latin typeface="맑은 고딕"/>
              <a:ea typeface="맑은 고딕"/>
              <a:cs typeface="맑은 고딕"/>
            </a:endParaRPr>
          </a:p>
        </p:txBody>
      </p:sp>
      <p:sp>
        <p:nvSpPr>
          <p:cNvPr id="12" name="choice_2"/>
          <p:cNvSpPr txBox="1"/>
          <p:nvPr/>
        </p:nvSpPr>
        <p:spPr>
          <a:xfrm>
            <a:off x="457200" y="3264916"/>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②</a:t>
            </a:r>
            <a:r>
              <a:rPr lang="ko-KR" altLang="en-US" sz="1800" b="0" dirty="0">
                <a:solidFill>
                  <a:srgbClr val="1F2328"/>
                </a:solidFill>
                <a:latin typeface="맑은 고딕"/>
                <a:ea typeface="맑은 고딕"/>
                <a:cs typeface="맑은 고딕"/>
              </a:rPr>
              <a:t>	셰르파는 사진을 찍기 위해 정상에 오른다</a:t>
            </a:r>
            <a:endParaRPr lang="ko-KR" altLang="en-US" sz="1800" b="0" dirty="0">
              <a:solidFill>
                <a:srgbClr val="1F2328"/>
              </a:solidFill>
              <a:latin typeface="맑은 고딕"/>
              <a:ea typeface="맑은 고딕"/>
              <a:cs typeface="맑은 고딕"/>
            </a:endParaRPr>
          </a:p>
        </p:txBody>
      </p:sp>
      <p:sp>
        <p:nvSpPr>
          <p:cNvPr id="13" name="choice_3"/>
          <p:cNvSpPr txBox="1"/>
          <p:nvPr/>
        </p:nvSpPr>
        <p:spPr>
          <a:xfrm>
            <a:off x="457200" y="3672332"/>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③</a:t>
            </a:r>
            <a:r>
              <a:rPr lang="ko-KR" altLang="en-US" sz="1800" b="0" dirty="0">
                <a:solidFill>
                  <a:srgbClr val="1F2328"/>
                </a:solidFill>
                <a:latin typeface="맑은 고딕"/>
                <a:ea typeface="맑은 고딕"/>
                <a:cs typeface="맑은 고딕"/>
              </a:rPr>
              <a:t>	등산가들은 셰르파를 고용하지 않게 되었다</a:t>
            </a:r>
            <a:endParaRPr lang="ko-KR" altLang="en-US" sz="1800" b="0" dirty="0">
              <a:solidFill>
                <a:srgbClr val="1F2328"/>
              </a:solidFill>
              <a:latin typeface="맑은 고딕"/>
              <a:ea typeface="맑은 고딕"/>
              <a:cs typeface="맑은 고딕"/>
            </a:endParaRPr>
          </a:p>
        </p:txBody>
      </p:sp>
      <p:sp>
        <p:nvSpPr>
          <p:cNvPr id="14" name="choice_4"/>
          <p:cNvSpPr txBox="1"/>
          <p:nvPr/>
        </p:nvSpPr>
        <p:spPr>
          <a:xfrm>
            <a:off x="457200" y="4079748"/>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④</a:t>
            </a:r>
            <a:r>
              <a:rPr lang="ko-KR" altLang="en-US" sz="1800" b="0" dirty="0">
                <a:solidFill>
                  <a:srgbClr val="1F2328"/>
                </a:solidFill>
                <a:latin typeface="맑은 고딕"/>
                <a:ea typeface="맑은 고딕"/>
                <a:cs typeface="맑은 고딕"/>
              </a:rPr>
              <a:t>	셰르파는 숨은 곳에서 등산가의 등반을 돕는다</a:t>
            </a:r>
            <a:endParaRPr lang="ko-KR" altLang="en-US" sz="1800" b="0" dirty="0">
              <a:solidFill>
                <a:srgbClr val="1F2328"/>
              </a:solidFill>
              <a:latin typeface="맑은 고딕"/>
              <a:ea typeface="맑은 고딕"/>
              <a:cs typeface="맑은 고딕"/>
            </a:endParaRPr>
          </a:p>
        </p:txBody>
      </p:sp>
      <p:sp>
        <p:nvSpPr>
          <p:cNvPr id="15" name="rv_pick"/>
          <p:cNvSpPr txBox="1"/>
          <p:nvPr/>
        </p:nvSpPr>
        <p:spPr>
          <a:xfrm>
            <a:off x="457200" y="4079748"/>
            <a:ext cx="11277295" cy="379984"/>
          </a:xfrm>
          <a:prstGeom prst="rect">
            <a:avLst/>
          </a:prstGeom>
          <a:solidFill>
            <a:srgbClr val="FFF3C4"/>
          </a:solid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C00000"/>
                </a:solidFill>
                <a:latin typeface="맑은 고딕"/>
                <a:ea typeface="맑은 고딕"/>
                <a:cs typeface="맑은 고딕"/>
              </a:rPr>
              <a:t>④</a:t>
            </a:r>
            <a:r>
              <a:rPr lang="ko-KR" altLang="en-US" sz="1800" b="0" dirty="0">
                <a:solidFill>
                  <a:srgbClr val="C00000"/>
                </a:solidFill>
                <a:latin typeface="맑은 고딕"/>
                <a:ea typeface="맑은 고딕"/>
                <a:cs typeface="맑은 고딕"/>
              </a:rPr>
              <a:t>	셰르파는 숨은 곳에서 등산가의 등반을 돕는다</a:t>
            </a:r>
            <a:endParaRPr lang="ko-KR" altLang="en-US" sz="1800" b="0" dirty="0">
              <a:solidFill>
                <a:srgbClr val="C00000"/>
              </a:solidFill>
              <a:latin typeface="맑은 고딕"/>
              <a:ea typeface="맑은 고딕"/>
              <a:cs typeface="맑은 고딕"/>
            </a:endParaRPr>
          </a:p>
        </p:txBody>
      </p:sp>
      <p:sp>
        <p:nvSpPr>
          <p:cNvPr id="16" name="choice_5"/>
          <p:cNvSpPr txBox="1"/>
          <p:nvPr/>
        </p:nvSpPr>
        <p:spPr>
          <a:xfrm>
            <a:off x="457200" y="4487164"/>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⑤</a:t>
            </a:r>
            <a:r>
              <a:rPr lang="ko-KR" altLang="en-US" sz="1800" b="0" dirty="0">
                <a:solidFill>
                  <a:srgbClr val="1F2328"/>
                </a:solidFill>
                <a:latin typeface="맑은 고딕"/>
                <a:ea typeface="맑은 고딕"/>
                <a:cs typeface="맑은 고딕"/>
              </a:rPr>
              <a:t>	높은 산에서는 누구나 쉽게 호흡할 수 있다</a:t>
            </a:r>
            <a:endParaRPr lang="ko-KR" altLang="en-US" sz="1800" b="0" dirty="0">
              <a:solidFill>
                <a:srgbClr val="1F2328"/>
              </a:solidFill>
              <a:latin typeface="맑은 고딕"/>
              <a:ea typeface="맑은 고딕"/>
              <a:cs typeface="맑은 고딕"/>
            </a:endParaRPr>
          </a:p>
        </p:txBody>
      </p:sp>
      <p:sp>
        <p:nvSpPr>
          <p:cNvPr id="17" name="rv_answer"/>
          <p:cNvSpPr/>
          <p:nvPr/>
        </p:nvSpPr>
        <p:spPr>
          <a:xfrm>
            <a:off x="457200" y="497687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④ </a:t>
            </a:r>
            <a:r>
              <a:rPr lang="ko-KR" altLang="en-US" sz="1900" b="1" dirty="0">
                <a:solidFill>
                  <a:srgbClr val="5A4200"/>
                </a:solidFill>
                <a:latin typeface="맑은 고딕"/>
                <a:ea typeface="맑은 고딕"/>
                <a:cs typeface="맑은 고딕"/>
              </a:rPr>
              <a:t>셰르파는 숨은 곳에서 등산가의 등반을 돕는다</a:t>
            </a:r>
            <a:endParaRPr lang="ko-KR" altLang="en-US" sz="1900" b="1" dirty="0">
              <a:solidFill>
                <a:srgbClr val="5A4200"/>
              </a:solidFill>
              <a:latin typeface="맑은 고딕"/>
              <a:ea typeface="맑은 고딕"/>
              <a:cs typeface="맑은 고딕"/>
            </a:endParaRPr>
          </a:p>
        </p:txBody>
      </p:sp>
      <p:sp>
        <p:nvSpPr>
          <p:cNvPr id="18" name="rv_why"/>
          <p:cNvSpPr/>
          <p:nvPr/>
        </p:nvSpPr>
        <p:spPr>
          <a:xfrm>
            <a:off x="457200" y="5575808"/>
            <a:ext cx="11277295" cy="84327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셰르파가 정상까지 이끌지만 사진엔 등산가만 나온다고 했다. 숨은 곳에서 돕는다는 ④가 요지다.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250"/>
                                        <p:tgtEl>
                                          <p:spTgt spid="1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25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25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7" grpId="0" animBg="1"/>
      <p:bldP spid="9" grpId="0" animBg="1"/>
      <p:bldP spid="10" grpId="0" animBg="1"/>
      <p:bldP spid="18" grpId="0" animBg="1"/>
    </p:bldLst>
  </p:timing>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L5-4</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1 · 5</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5. 다음 글의 내용과 일치하지 않는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5</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본문 근거 형광 + 정답 원리</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176021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1760219"/>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1F2328"/>
                </a:solidFill>
                <a:latin typeface="Calibri"/>
                <a:ea typeface="맑은 고딕"/>
                <a:cs typeface="Calibri"/>
              </a:rPr>
              <a:t>The word Sherpa comes from the Sherpa tribe, which lives in </a:t>
            </a:r>
            <a:r>
              <a:rPr lang="en-US" altLang="ko-KR" sz="1500" b="0" dirty="0">
                <a:solidFill>
                  <a:srgbClr val="1F2328"/>
                </a:solidFill>
                <a:latin typeface="Calibri"/>
                <a:ea typeface="맑은 고딕"/>
                <a:cs typeface="Calibri"/>
              </a:rPr>
              <a:t>the eastern part of Nepal</a:t>
            </a:r>
            <a:r>
              <a:rPr lang="en-US" altLang="ko-KR" sz="1500" b="0" dirty="0">
                <a:solidFill>
                  <a:srgbClr val="1F2328"/>
                </a:solidFill>
                <a:latin typeface="Calibri"/>
                <a:ea typeface="맑은 고딕"/>
                <a:cs typeface="Calibri"/>
              </a:rPr>
              <a:t>. Sherpas have good climbing skills and know their way around the mountains well. They also have little difficulty breathing high up in the mountains. Therefore, mountain climbers started to hire Sherpas to help them climb Mount Everest. Sherpas lead mountain climbers to the top of the mountain. They support climbers in many ways. For example, they put up tents and carry climbers’ bags. Sherpas are often called the invisible people of Mount Everest because people often see a picture of only the climbers at the top of the mountain.</a:t>
            </a:r>
            <a:endParaRPr lang="en-US" altLang="ko-KR" sz="1500" b="0" dirty="0">
              <a:solidFill>
                <a:srgbClr val="1F2328"/>
              </a:solidFill>
              <a:latin typeface="Calibri"/>
              <a:ea typeface="맑은 고딕"/>
              <a:cs typeface="Calibri"/>
            </a:endParaRPr>
          </a:p>
        </p:txBody>
      </p:sp>
      <p:sp>
        <p:nvSpPr>
          <p:cNvPr id="9" name="rv_evidence_card"/>
          <p:cNvSpPr/>
          <p:nvPr/>
        </p:nvSpPr>
        <p:spPr>
          <a:xfrm>
            <a:off x="457200" y="950976"/>
            <a:ext cx="11277295" cy="176021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rv_evidence"/>
          <p:cNvSpPr txBox="1"/>
          <p:nvPr/>
        </p:nvSpPr>
        <p:spPr>
          <a:xfrm>
            <a:off x="457200" y="950976"/>
            <a:ext cx="11277295" cy="1760219"/>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B3BAC6"/>
                </a:solidFill>
                <a:latin typeface="Calibri"/>
                <a:ea typeface="맑은 고딕"/>
                <a:cs typeface="Calibri"/>
              </a:rPr>
              <a:t>The word Sherpa comes from the Sherpa tribe, which lives in </a:t>
            </a:r>
            <a:r>
              <a:rPr lang="en-US" altLang="ko-KR" sz="1500" b="0" dirty="0">
                <a:solidFill>
                  <a:srgbClr val="111111"/>
                </a:solidFill>
                <a:highlight>
                  <a:srgbClr val="FFE45C"/>
                </a:highlight>
                <a:latin typeface="Calibri"/>
                <a:ea typeface="맑은 고딕"/>
                <a:cs typeface="Calibri"/>
              </a:rPr>
              <a:t>the eastern part of Nepal</a:t>
            </a:r>
            <a:r>
              <a:rPr lang="en-US" altLang="ko-KR" sz="1500" b="0" dirty="0">
                <a:solidFill>
                  <a:srgbClr val="B3BAC6"/>
                </a:solidFill>
                <a:latin typeface="Calibri"/>
                <a:ea typeface="맑은 고딕"/>
                <a:cs typeface="Calibri"/>
              </a:rPr>
              <a:t>. Sherpas have good climbing skills and know their way around the mountains well. They also have little difficulty breathing high up in the mountains. Therefore, mountain climbers started to hire Sherpas to help them climb Mount Everest. Sherpas lead mountain climbers to the top of the mountain. They support climbers in many ways. For example, they put up tents and carry climbers’ bags. Sherpas are often called the invisible people of Mount Everest because people often see a picture of only the climbers at the top of the mountain.</a:t>
            </a:r>
            <a:endParaRPr lang="en-US" altLang="ko-KR" sz="1500" b="0" dirty="0">
              <a:solidFill>
                <a:srgbClr val="B3BAC6"/>
              </a:solidFill>
              <a:latin typeface="Calibri"/>
              <a:ea typeface="맑은 고딕"/>
              <a:cs typeface="Calibri"/>
            </a:endParaRPr>
          </a:p>
        </p:txBody>
      </p:sp>
      <p:sp>
        <p:nvSpPr>
          <p:cNvPr id="11" name="choice_1"/>
          <p:cNvSpPr txBox="1"/>
          <p:nvPr/>
        </p:nvSpPr>
        <p:spPr>
          <a:xfrm>
            <a:off x="457200" y="2857500"/>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①</a:t>
            </a:r>
            <a:r>
              <a:rPr lang="ko-KR" altLang="en-US" sz="1800" b="0" dirty="0">
                <a:solidFill>
                  <a:srgbClr val="1F2328"/>
                </a:solidFill>
                <a:latin typeface="맑은 고딕"/>
                <a:ea typeface="맑은 고딕"/>
                <a:cs typeface="맑은 고딕"/>
              </a:rPr>
              <a:t>	셰르파는 훌륭한 등반 기술을 가지고 있다</a:t>
            </a:r>
            <a:endParaRPr lang="ko-KR" altLang="en-US" sz="1800" b="0" dirty="0">
              <a:solidFill>
                <a:srgbClr val="1F2328"/>
              </a:solidFill>
              <a:latin typeface="맑은 고딕"/>
              <a:ea typeface="맑은 고딕"/>
              <a:cs typeface="맑은 고딕"/>
            </a:endParaRPr>
          </a:p>
        </p:txBody>
      </p:sp>
      <p:sp>
        <p:nvSpPr>
          <p:cNvPr id="12" name="choice_2"/>
          <p:cNvSpPr txBox="1"/>
          <p:nvPr/>
        </p:nvSpPr>
        <p:spPr>
          <a:xfrm>
            <a:off x="457200" y="3264916"/>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②</a:t>
            </a:r>
            <a:r>
              <a:rPr lang="ko-KR" altLang="en-US" sz="1800" b="0" dirty="0">
                <a:solidFill>
                  <a:srgbClr val="1F2328"/>
                </a:solidFill>
                <a:latin typeface="맑은 고딕"/>
                <a:ea typeface="맑은 고딕"/>
                <a:cs typeface="맑은 고딕"/>
              </a:rPr>
              <a:t>	셰르파는 높은 곳에서 호흡에 어려움이 적다</a:t>
            </a:r>
            <a:endParaRPr lang="ko-KR" altLang="en-US" sz="1800" b="0" dirty="0">
              <a:solidFill>
                <a:srgbClr val="1F2328"/>
              </a:solidFill>
              <a:latin typeface="맑은 고딕"/>
              <a:ea typeface="맑은 고딕"/>
              <a:cs typeface="맑은 고딕"/>
            </a:endParaRPr>
          </a:p>
        </p:txBody>
      </p:sp>
      <p:sp>
        <p:nvSpPr>
          <p:cNvPr id="13" name="choice_3"/>
          <p:cNvSpPr txBox="1"/>
          <p:nvPr/>
        </p:nvSpPr>
        <p:spPr>
          <a:xfrm>
            <a:off x="457200" y="3672332"/>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③</a:t>
            </a:r>
            <a:r>
              <a:rPr lang="ko-KR" altLang="en-US" sz="1800" b="0" dirty="0">
                <a:solidFill>
                  <a:srgbClr val="1F2328"/>
                </a:solidFill>
                <a:latin typeface="맑은 고딕"/>
                <a:ea typeface="맑은 고딕"/>
                <a:cs typeface="맑은 고딕"/>
              </a:rPr>
              <a:t>	셰르파족은 네팔의 서쪽 지역에 살고 있다</a:t>
            </a:r>
            <a:endParaRPr lang="ko-KR" altLang="en-US" sz="1800" b="0" dirty="0">
              <a:solidFill>
                <a:srgbClr val="1F2328"/>
              </a:solidFill>
              <a:latin typeface="맑은 고딕"/>
              <a:ea typeface="맑은 고딕"/>
              <a:cs typeface="맑은 고딕"/>
            </a:endParaRPr>
          </a:p>
        </p:txBody>
      </p:sp>
      <p:sp>
        <p:nvSpPr>
          <p:cNvPr id="14" name="rv_pick"/>
          <p:cNvSpPr txBox="1"/>
          <p:nvPr/>
        </p:nvSpPr>
        <p:spPr>
          <a:xfrm>
            <a:off x="457200" y="3672332"/>
            <a:ext cx="11277295" cy="379984"/>
          </a:xfrm>
          <a:prstGeom prst="rect">
            <a:avLst/>
          </a:prstGeom>
          <a:solidFill>
            <a:srgbClr val="FFF3C4"/>
          </a:solid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C00000"/>
                </a:solidFill>
                <a:latin typeface="맑은 고딕"/>
                <a:ea typeface="맑은 고딕"/>
                <a:cs typeface="맑은 고딕"/>
              </a:rPr>
              <a:t>③</a:t>
            </a:r>
            <a:r>
              <a:rPr lang="ko-KR" altLang="en-US" sz="1800" b="0" dirty="0">
                <a:solidFill>
                  <a:srgbClr val="C00000"/>
                </a:solidFill>
                <a:latin typeface="맑은 고딕"/>
                <a:ea typeface="맑은 고딕"/>
                <a:cs typeface="맑은 고딕"/>
              </a:rPr>
              <a:t>	셰르파족은 네팔의 서쪽 지역에 살고 있다</a:t>
            </a:r>
            <a:endParaRPr lang="ko-KR" altLang="en-US" sz="1800" b="0" dirty="0">
              <a:solidFill>
                <a:srgbClr val="C00000"/>
              </a:solidFill>
              <a:latin typeface="맑은 고딕"/>
              <a:ea typeface="맑은 고딕"/>
              <a:cs typeface="맑은 고딕"/>
            </a:endParaRPr>
          </a:p>
        </p:txBody>
      </p:sp>
      <p:sp>
        <p:nvSpPr>
          <p:cNvPr id="15" name="choice_4"/>
          <p:cNvSpPr txBox="1"/>
          <p:nvPr/>
        </p:nvSpPr>
        <p:spPr>
          <a:xfrm>
            <a:off x="457200" y="4079748"/>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④</a:t>
            </a:r>
            <a:r>
              <a:rPr lang="ko-KR" altLang="en-US" sz="1800" b="0" dirty="0">
                <a:solidFill>
                  <a:srgbClr val="1F2328"/>
                </a:solidFill>
                <a:latin typeface="맑은 고딕"/>
                <a:ea typeface="맑은 고딕"/>
                <a:cs typeface="맑은 고딕"/>
              </a:rPr>
              <a:t>	셰르파는 등산가들을 산 정상까지 이끈다</a:t>
            </a:r>
            <a:endParaRPr lang="ko-KR" altLang="en-US" sz="1800" b="0" dirty="0">
              <a:solidFill>
                <a:srgbClr val="1F2328"/>
              </a:solidFill>
              <a:latin typeface="맑은 고딕"/>
              <a:ea typeface="맑은 고딕"/>
              <a:cs typeface="맑은 고딕"/>
            </a:endParaRPr>
          </a:p>
        </p:txBody>
      </p:sp>
      <p:sp>
        <p:nvSpPr>
          <p:cNvPr id="16" name="choice_5"/>
          <p:cNvSpPr txBox="1"/>
          <p:nvPr/>
        </p:nvSpPr>
        <p:spPr>
          <a:xfrm>
            <a:off x="457200" y="4487164"/>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⑤</a:t>
            </a:r>
            <a:r>
              <a:rPr lang="ko-KR" altLang="en-US" sz="1800" b="0" dirty="0">
                <a:solidFill>
                  <a:srgbClr val="1F2328"/>
                </a:solidFill>
                <a:latin typeface="맑은 고딕"/>
                <a:ea typeface="맑은 고딕"/>
                <a:cs typeface="맑은 고딕"/>
              </a:rPr>
              <a:t>	셰르파는 텐트를 치고 가방을 운반해 준다</a:t>
            </a:r>
            <a:endParaRPr lang="ko-KR" altLang="en-US" sz="1800" b="0" dirty="0">
              <a:solidFill>
                <a:srgbClr val="1F2328"/>
              </a:solidFill>
              <a:latin typeface="맑은 고딕"/>
              <a:ea typeface="맑은 고딕"/>
              <a:cs typeface="맑은 고딕"/>
            </a:endParaRPr>
          </a:p>
        </p:txBody>
      </p:sp>
      <p:sp>
        <p:nvSpPr>
          <p:cNvPr id="17" name="rv_answer"/>
          <p:cNvSpPr/>
          <p:nvPr/>
        </p:nvSpPr>
        <p:spPr>
          <a:xfrm>
            <a:off x="457200" y="497687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③ </a:t>
            </a:r>
            <a:r>
              <a:rPr lang="ko-KR" altLang="en-US" sz="1900" b="1" dirty="0">
                <a:solidFill>
                  <a:srgbClr val="5A4200"/>
                </a:solidFill>
                <a:latin typeface="맑은 고딕"/>
                <a:ea typeface="맑은 고딕"/>
                <a:cs typeface="맑은 고딕"/>
              </a:rPr>
              <a:t>셰르파족은 네팔의 서쪽 지역에 살고 있다</a:t>
            </a:r>
            <a:endParaRPr lang="ko-KR" altLang="en-US" sz="1900" b="1" dirty="0">
              <a:solidFill>
                <a:srgbClr val="5A4200"/>
              </a:solidFill>
              <a:latin typeface="맑은 고딕"/>
              <a:ea typeface="맑은 고딕"/>
              <a:cs typeface="맑은 고딕"/>
            </a:endParaRPr>
          </a:p>
        </p:txBody>
      </p:sp>
      <p:sp>
        <p:nvSpPr>
          <p:cNvPr id="18" name="rv_why"/>
          <p:cNvSpPr/>
          <p:nvPr/>
        </p:nvSpPr>
        <p:spPr>
          <a:xfrm>
            <a:off x="457200" y="5575808"/>
            <a:ext cx="11277295" cy="84327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셰르파족은 네팔의 동쪽 지역에 산다고 했다. 서쪽 지역에 산다는 ③은 틀리다.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250"/>
                                        <p:tgtEl>
                                          <p:spTgt spid="1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25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25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7" grpId="0" animBg="1"/>
      <p:bldP spid="9" grpId="0" animBg="1"/>
      <p:bldP spid="10" grpId="0" animBg="1"/>
      <p:bldP spid="18" grpId="0" animBg="1"/>
    </p:bldLst>
  </p:timing>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L5-4</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1 · 6</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6. 다음 글의 내용과 일치하는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5</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본문 근거 형광 + 정답 원리</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176021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1760219"/>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1F2328"/>
                </a:solidFill>
                <a:latin typeface="Calibri"/>
                <a:ea typeface="맑은 고딕"/>
                <a:cs typeface="Calibri"/>
              </a:rPr>
              <a:t>The word Sherpa comes from the Sherpa tribe</a:t>
            </a:r>
            <a:r>
              <a:rPr lang="en-US" altLang="ko-KR" sz="1500" b="0" dirty="0">
                <a:solidFill>
                  <a:srgbClr val="1F2328"/>
                </a:solidFill>
                <a:latin typeface="Calibri"/>
                <a:ea typeface="맑은 고딕"/>
                <a:cs typeface="Calibri"/>
              </a:rPr>
              <a:t>, which lives in the eastern part of Nepal. Sherpas have good climbing skills and know their way around the mountains well. They also have little difficulty breathing high up in the mountains. Therefore, mountain climbers started to hire Sherpas to help them climb Mount Everest. Sherpas lead mountain climbers to the top of the mountain. They support climbers in many ways. For example, they put up tents and carry climbers’ bags. Sherpas are often called the invisible people of Mount Everest because people often see a picture of only the climbers at the top of the mountain.</a:t>
            </a:r>
            <a:endParaRPr lang="en-US" altLang="ko-KR" sz="1500" b="0" dirty="0">
              <a:solidFill>
                <a:srgbClr val="1F2328"/>
              </a:solidFill>
              <a:latin typeface="Calibri"/>
              <a:ea typeface="맑은 고딕"/>
              <a:cs typeface="Calibri"/>
            </a:endParaRPr>
          </a:p>
        </p:txBody>
      </p:sp>
      <p:sp>
        <p:nvSpPr>
          <p:cNvPr id="9" name="rv_evidence_card"/>
          <p:cNvSpPr/>
          <p:nvPr/>
        </p:nvSpPr>
        <p:spPr>
          <a:xfrm>
            <a:off x="457200" y="950976"/>
            <a:ext cx="11277295" cy="176021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rv_evidence"/>
          <p:cNvSpPr txBox="1"/>
          <p:nvPr/>
        </p:nvSpPr>
        <p:spPr>
          <a:xfrm>
            <a:off x="457200" y="950976"/>
            <a:ext cx="11277295" cy="1760219"/>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111111"/>
                </a:solidFill>
                <a:highlight>
                  <a:srgbClr val="FFE45C"/>
                </a:highlight>
                <a:latin typeface="Calibri"/>
                <a:ea typeface="맑은 고딕"/>
                <a:cs typeface="Calibri"/>
              </a:rPr>
              <a:t>The word Sherpa comes from the Sherpa tribe</a:t>
            </a:r>
            <a:r>
              <a:rPr lang="en-US" altLang="ko-KR" sz="1500" b="0" dirty="0">
                <a:solidFill>
                  <a:srgbClr val="B3BAC6"/>
                </a:solidFill>
                <a:latin typeface="Calibri"/>
                <a:ea typeface="맑은 고딕"/>
                <a:cs typeface="Calibri"/>
              </a:rPr>
              <a:t>, which lives in the eastern part of Nepal. Sherpas have good climbing skills and know their way around the mountains well. They also have little difficulty breathing high up in the mountains. Therefore, mountain climbers started to hire Sherpas to help them climb Mount Everest. Sherpas lead mountain climbers to the top of the mountain. They support climbers in many ways. For example, they put up tents and carry climbers’ bags. Sherpas are often called the invisible people of Mount Everest because people often see a picture of only the climbers at the top of the mountain.</a:t>
            </a:r>
            <a:endParaRPr lang="en-US" altLang="ko-KR" sz="1500" b="0" dirty="0">
              <a:solidFill>
                <a:srgbClr val="B3BAC6"/>
              </a:solidFill>
              <a:latin typeface="Calibri"/>
              <a:ea typeface="맑은 고딕"/>
              <a:cs typeface="Calibri"/>
            </a:endParaRPr>
          </a:p>
        </p:txBody>
      </p:sp>
      <p:sp>
        <p:nvSpPr>
          <p:cNvPr id="11" name="choice_1"/>
          <p:cNvSpPr txBox="1"/>
          <p:nvPr/>
        </p:nvSpPr>
        <p:spPr>
          <a:xfrm>
            <a:off x="457200" y="2857500"/>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①</a:t>
            </a:r>
            <a:r>
              <a:rPr lang="ko-KR" altLang="en-US" sz="1800" b="0" dirty="0">
                <a:solidFill>
                  <a:srgbClr val="1F2328"/>
                </a:solidFill>
                <a:latin typeface="맑은 고딕"/>
                <a:ea typeface="맑은 고딕"/>
                <a:cs typeface="맑은 고딕"/>
              </a:rPr>
              <a:t>	셰르파는 산의 지리를 잘 알지 못한다</a:t>
            </a:r>
            <a:endParaRPr lang="ko-KR" altLang="en-US" sz="1800" b="0" dirty="0">
              <a:solidFill>
                <a:srgbClr val="1F2328"/>
              </a:solidFill>
              <a:latin typeface="맑은 고딕"/>
              <a:ea typeface="맑은 고딕"/>
              <a:cs typeface="맑은 고딕"/>
            </a:endParaRPr>
          </a:p>
        </p:txBody>
      </p:sp>
      <p:sp>
        <p:nvSpPr>
          <p:cNvPr id="12" name="choice_2"/>
          <p:cNvSpPr txBox="1"/>
          <p:nvPr/>
        </p:nvSpPr>
        <p:spPr>
          <a:xfrm>
            <a:off x="457200" y="3264916"/>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②</a:t>
            </a:r>
            <a:r>
              <a:rPr lang="ko-KR" altLang="en-US" sz="1800" b="0" dirty="0">
                <a:solidFill>
                  <a:srgbClr val="1F2328"/>
                </a:solidFill>
                <a:latin typeface="맑은 고딕"/>
                <a:ea typeface="맑은 고딕"/>
                <a:cs typeface="맑은 고딕"/>
              </a:rPr>
              <a:t>	등산가들은 셰르파를 고용하지 않는다</a:t>
            </a:r>
            <a:endParaRPr lang="ko-KR" altLang="en-US" sz="1800" b="0" dirty="0">
              <a:solidFill>
                <a:srgbClr val="1F2328"/>
              </a:solidFill>
              <a:latin typeface="맑은 고딕"/>
              <a:ea typeface="맑은 고딕"/>
              <a:cs typeface="맑은 고딕"/>
            </a:endParaRPr>
          </a:p>
        </p:txBody>
      </p:sp>
      <p:sp>
        <p:nvSpPr>
          <p:cNvPr id="13" name="choice_3"/>
          <p:cNvSpPr txBox="1"/>
          <p:nvPr/>
        </p:nvSpPr>
        <p:spPr>
          <a:xfrm>
            <a:off x="457200" y="3672332"/>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③</a:t>
            </a:r>
            <a:r>
              <a:rPr lang="ko-KR" altLang="en-US" sz="1800" b="0" dirty="0">
                <a:solidFill>
                  <a:srgbClr val="1F2328"/>
                </a:solidFill>
                <a:latin typeface="맑은 고딕"/>
                <a:ea typeface="맑은 고딕"/>
                <a:cs typeface="맑은 고딕"/>
              </a:rPr>
              <a:t>	셰르파는 등산가의 텐트를 치지 않는다</a:t>
            </a:r>
            <a:endParaRPr lang="ko-KR" altLang="en-US" sz="1800" b="0" dirty="0">
              <a:solidFill>
                <a:srgbClr val="1F2328"/>
              </a:solidFill>
              <a:latin typeface="맑은 고딕"/>
              <a:ea typeface="맑은 고딕"/>
              <a:cs typeface="맑은 고딕"/>
            </a:endParaRPr>
          </a:p>
        </p:txBody>
      </p:sp>
      <p:sp>
        <p:nvSpPr>
          <p:cNvPr id="14" name="choice_4"/>
          <p:cNvSpPr txBox="1"/>
          <p:nvPr/>
        </p:nvSpPr>
        <p:spPr>
          <a:xfrm>
            <a:off x="457200" y="4079748"/>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④</a:t>
            </a:r>
            <a:r>
              <a:rPr lang="ko-KR" altLang="en-US" sz="1800" b="0" dirty="0">
                <a:solidFill>
                  <a:srgbClr val="1F2328"/>
                </a:solidFill>
                <a:latin typeface="맑은 고딕"/>
                <a:ea typeface="맑은 고딕"/>
                <a:cs typeface="맑은 고딕"/>
              </a:rPr>
              <a:t>	정상 사진에는 주로 셰르파가 찍혀 있다</a:t>
            </a:r>
            <a:endParaRPr lang="ko-KR" altLang="en-US" sz="1800" b="0" dirty="0">
              <a:solidFill>
                <a:srgbClr val="1F2328"/>
              </a:solidFill>
              <a:latin typeface="맑은 고딕"/>
              <a:ea typeface="맑은 고딕"/>
              <a:cs typeface="맑은 고딕"/>
            </a:endParaRPr>
          </a:p>
        </p:txBody>
      </p:sp>
      <p:sp>
        <p:nvSpPr>
          <p:cNvPr id="15" name="choice_5"/>
          <p:cNvSpPr txBox="1"/>
          <p:nvPr/>
        </p:nvSpPr>
        <p:spPr>
          <a:xfrm>
            <a:off x="457200" y="4487164"/>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⑤</a:t>
            </a:r>
            <a:r>
              <a:rPr lang="ko-KR" altLang="en-US" sz="1800" b="0" dirty="0">
                <a:solidFill>
                  <a:srgbClr val="1F2328"/>
                </a:solidFill>
                <a:latin typeface="맑은 고딕"/>
                <a:ea typeface="맑은 고딕"/>
                <a:cs typeface="맑은 고딕"/>
              </a:rPr>
              <a:t>	Sherpa라는 말은 셰르파족에서 유래했다</a:t>
            </a:r>
            <a:endParaRPr lang="ko-KR" altLang="en-US" sz="1800" b="0" dirty="0">
              <a:solidFill>
                <a:srgbClr val="1F2328"/>
              </a:solidFill>
              <a:latin typeface="맑은 고딕"/>
              <a:ea typeface="맑은 고딕"/>
              <a:cs typeface="맑은 고딕"/>
            </a:endParaRPr>
          </a:p>
        </p:txBody>
      </p:sp>
      <p:sp>
        <p:nvSpPr>
          <p:cNvPr id="16" name="rv_pick"/>
          <p:cNvSpPr txBox="1"/>
          <p:nvPr/>
        </p:nvSpPr>
        <p:spPr>
          <a:xfrm>
            <a:off x="457200" y="4487164"/>
            <a:ext cx="11277295" cy="379984"/>
          </a:xfrm>
          <a:prstGeom prst="rect">
            <a:avLst/>
          </a:prstGeom>
          <a:solidFill>
            <a:srgbClr val="FFF3C4"/>
          </a:solid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C00000"/>
                </a:solidFill>
                <a:latin typeface="맑은 고딕"/>
                <a:ea typeface="맑은 고딕"/>
                <a:cs typeface="맑은 고딕"/>
              </a:rPr>
              <a:t>⑤</a:t>
            </a:r>
            <a:r>
              <a:rPr lang="ko-KR" altLang="en-US" sz="1800" b="0" dirty="0">
                <a:solidFill>
                  <a:srgbClr val="C00000"/>
                </a:solidFill>
                <a:latin typeface="맑은 고딕"/>
                <a:ea typeface="맑은 고딕"/>
                <a:cs typeface="맑은 고딕"/>
              </a:rPr>
              <a:t>	Sherpa라는 말은 셰르파족에서 유래했다</a:t>
            </a:r>
            <a:endParaRPr lang="ko-KR" altLang="en-US" sz="1800" b="0" dirty="0">
              <a:solidFill>
                <a:srgbClr val="C00000"/>
              </a:solidFill>
              <a:latin typeface="맑은 고딕"/>
              <a:ea typeface="맑은 고딕"/>
              <a:cs typeface="맑은 고딕"/>
            </a:endParaRPr>
          </a:p>
        </p:txBody>
      </p:sp>
      <p:sp>
        <p:nvSpPr>
          <p:cNvPr id="17" name="rv_answer"/>
          <p:cNvSpPr/>
          <p:nvPr/>
        </p:nvSpPr>
        <p:spPr>
          <a:xfrm>
            <a:off x="457200" y="497687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⑤ </a:t>
            </a:r>
            <a:r>
              <a:rPr lang="ko-KR" altLang="en-US" sz="1900" b="1" dirty="0">
                <a:solidFill>
                  <a:srgbClr val="5A4200"/>
                </a:solidFill>
                <a:latin typeface="맑은 고딕"/>
                <a:ea typeface="맑은 고딕"/>
                <a:cs typeface="맑은 고딕"/>
              </a:rPr>
              <a:t>Sherpa라는 말은 셰르파족에서 유래했다</a:t>
            </a:r>
            <a:endParaRPr lang="ko-KR" altLang="en-US" sz="1900" b="1" dirty="0">
              <a:solidFill>
                <a:srgbClr val="5A4200"/>
              </a:solidFill>
              <a:latin typeface="맑은 고딕"/>
              <a:ea typeface="맑은 고딕"/>
              <a:cs typeface="맑은 고딕"/>
            </a:endParaRPr>
          </a:p>
        </p:txBody>
      </p:sp>
      <p:sp>
        <p:nvSpPr>
          <p:cNvPr id="18" name="rv_why"/>
          <p:cNvSpPr/>
          <p:nvPr/>
        </p:nvSpPr>
        <p:spPr>
          <a:xfrm>
            <a:off x="457200" y="5575808"/>
            <a:ext cx="11277295" cy="84327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Sherpa라는 말은 셰르파족에서 왔다고 했다. 이와 같은 ⑤가 맞다.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250"/>
                                        <p:tgtEl>
                                          <p:spTgt spid="1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25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25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7" grpId="0" animBg="1"/>
      <p:bldP spid="9" grpId="0" animBg="1"/>
      <p:bldP spid="10" grpId="0" animBg="1"/>
      <p:bldP spid="18" grpId="0" animBg="1"/>
    </p:bldLst>
  </p:timing>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L5-4</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2 · 1</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1. 주어진 글 다음에 이어질 글의 순서로 가장 적절한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5</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정답 원리</a:t>
            </a:r>
            <a:endParaRPr lang="ko-KR" altLang="en-US" sz="1000" b="0" dirty="0">
              <a:solidFill>
                <a:srgbClr val="7A808C"/>
              </a:solidFill>
              <a:latin typeface="맑은 고딕"/>
              <a:ea typeface="맑은 고딕"/>
              <a:cs typeface="맑은 고딕"/>
            </a:endParaRPr>
          </a:p>
        </p:txBody>
      </p:sp>
      <p:sp>
        <p:nvSpPr>
          <p:cNvPr id="7" name="given_card"/>
          <p:cNvSpPr/>
          <p:nvPr/>
        </p:nvSpPr>
        <p:spPr>
          <a:xfrm>
            <a:off x="457200" y="950976"/>
            <a:ext cx="11277295" cy="481838"/>
          </a:xfrm>
          <a:prstGeom prst="roundRect">
            <a:avLst>
              <a:gd name="adj" fmla="val 6000"/>
            </a:avLst>
          </a:prstGeom>
          <a:solidFill>
            <a:srgbClr val="FFFFFF"/>
          </a:solidFill>
          <a:ln w="15875">
            <a:solidFill>
              <a:srgbClr val="1E2A5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given"/>
          <p:cNvSpPr txBox="1"/>
          <p:nvPr/>
        </p:nvSpPr>
        <p:spPr>
          <a:xfrm>
            <a:off x="457200" y="950976"/>
            <a:ext cx="11277295" cy="481838"/>
          </a:xfrm>
          <a:prstGeom prst="rect">
            <a:avLst/>
          </a:prstGeom>
          <a:noFill/>
        </p:spPr>
        <p:txBody>
          <a:bodyPr wrap="square" lIns="201168" tIns="100584" rIns="201168" bIns="100584" anchor="t" rtlCol="0">
            <a:noAutofit/>
          </a:bodyPr>
          <a:lstStyle/>
          <a:p>
            <a:pPr algn="l">
              <a:lnSpc>
                <a:spcPts val="2210"/>
              </a:lnSpc>
              <a:spcBef>
                <a:spcPts val="0"/>
              </a:spcBef>
              <a:spcAft>
                <a:spcPts val="0"/>
              </a:spcAft>
              <a:buNone/>
            </a:pPr>
            <a:r>
              <a:rPr lang="en-US" altLang="ko-KR" sz="1700" b="0" dirty="0">
                <a:solidFill>
                  <a:srgbClr val="1F2328"/>
                </a:solidFill>
                <a:latin typeface="Calibri"/>
                <a:ea typeface="맑은 고딕"/>
                <a:cs typeface="Calibri"/>
              </a:rPr>
              <a:t>The word Sherpa comes from the Sherpa tribe, which lives in the eastern part of Nepal.</a:t>
            </a:r>
            <a:endParaRPr lang="en-US" altLang="ko-KR" sz="1700" b="0" dirty="0">
              <a:solidFill>
                <a:srgbClr val="1F2328"/>
              </a:solidFill>
              <a:latin typeface="Calibri"/>
              <a:ea typeface="맑은 고딕"/>
              <a:cs typeface="Calibri"/>
            </a:endParaRPr>
          </a:p>
        </p:txBody>
      </p:sp>
      <p:sp>
        <p:nvSpPr>
          <p:cNvPr id="9" name="parts_card"/>
          <p:cNvSpPr/>
          <p:nvPr/>
        </p:nvSpPr>
        <p:spPr>
          <a:xfrm>
            <a:off x="457200" y="1560830"/>
            <a:ext cx="11277295" cy="2794762"/>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parts"/>
          <p:cNvSpPr txBox="1"/>
          <p:nvPr/>
        </p:nvSpPr>
        <p:spPr>
          <a:xfrm>
            <a:off x="457200" y="1560830"/>
            <a:ext cx="11277295" cy="2794762"/>
          </a:xfrm>
          <a:prstGeom prst="rect">
            <a:avLst/>
          </a:prstGeom>
          <a:noFill/>
        </p:spPr>
        <p:txBody>
          <a:bodyPr wrap="square" lIns="201168" tIns="118872" rIns="201168" bIns="118872" anchor="t" rtlCol="0">
            <a:noAutofit/>
          </a:bodyPr>
          <a:lstStyle/>
          <a:p>
            <a:pPr algn="just" marL="453390" indent="-453390">
              <a:lnSpc>
                <a:spcPts val="2210"/>
              </a:lnSpc>
              <a:spcBef>
                <a:spcPts val="0"/>
              </a:spcBef>
              <a:spcAft>
                <a:spcPts val="770"/>
              </a:spcAft>
              <a:buNone/>
              <a:tabLst>
                <a:tab pos="453390" algn="l"/>
              </a:tabLst>
            </a:pPr>
            <a:r>
              <a:rPr lang="en-US" altLang="ko-KR" sz="1700" b="1" dirty="0">
                <a:solidFill>
                  <a:srgbClr val="1E2A5A"/>
                </a:solidFill>
                <a:latin typeface="Calibri"/>
                <a:ea typeface="맑은 고딕"/>
                <a:cs typeface="Calibri"/>
              </a:rPr>
              <a:t>(A)</a:t>
            </a:r>
            <a:r>
              <a:rPr lang="en-US" altLang="ko-KR" sz="1700" b="0" dirty="0">
                <a:solidFill>
                  <a:srgbClr val="1F2328"/>
                </a:solidFill>
                <a:latin typeface="Calibri"/>
                <a:ea typeface="맑은 고딕"/>
                <a:cs typeface="Calibri"/>
              </a:rPr>
              <a:t>	Sherpas lead mountain climbers to the top of the mountain. They support climbers in many ways.</a:t>
            </a:r>
            <a:endParaRPr lang="en-US" altLang="ko-KR" sz="1700" b="0" dirty="0">
              <a:solidFill>
                <a:srgbClr val="1F2328"/>
              </a:solidFill>
              <a:latin typeface="Calibri"/>
              <a:ea typeface="맑은 고딕"/>
              <a:cs typeface="Calibri"/>
            </a:endParaRPr>
          </a:p>
          <a:p>
            <a:pPr algn="just" marL="453390" indent="-453390">
              <a:lnSpc>
                <a:spcPts val="2210"/>
              </a:lnSpc>
              <a:spcBef>
                <a:spcPts val="0"/>
              </a:spcBef>
              <a:spcAft>
                <a:spcPts val="770"/>
              </a:spcAft>
              <a:buNone/>
              <a:tabLst>
                <a:tab pos="453390" algn="l"/>
              </a:tabLst>
            </a:pPr>
            <a:r>
              <a:rPr lang="en-US" altLang="ko-KR" sz="1700" b="1" dirty="0">
                <a:solidFill>
                  <a:srgbClr val="1E2A5A"/>
                </a:solidFill>
                <a:latin typeface="Calibri"/>
                <a:ea typeface="맑은 고딕"/>
                <a:cs typeface="Calibri"/>
              </a:rPr>
              <a:t>(B)</a:t>
            </a:r>
            <a:r>
              <a:rPr lang="en-US" altLang="ko-KR" sz="1700" b="0" dirty="0">
                <a:solidFill>
                  <a:srgbClr val="1F2328"/>
                </a:solidFill>
                <a:latin typeface="Calibri"/>
                <a:ea typeface="맑은 고딕"/>
                <a:cs typeface="Calibri"/>
              </a:rPr>
              <a:t>	For example, they put up tents and carry climbers’ bags. Sherpas are often called the invisible people of Mount Everest because people often see a picture of only the climbers at the top of the mountain.</a:t>
            </a:r>
            <a:endParaRPr lang="en-US" altLang="ko-KR" sz="1700" b="0" dirty="0">
              <a:solidFill>
                <a:srgbClr val="1F2328"/>
              </a:solidFill>
              <a:latin typeface="Calibri"/>
              <a:ea typeface="맑은 고딕"/>
              <a:cs typeface="Calibri"/>
            </a:endParaRPr>
          </a:p>
          <a:p>
            <a:pPr algn="just" marL="453390" indent="-453390">
              <a:lnSpc>
                <a:spcPts val="2210"/>
              </a:lnSpc>
              <a:spcBef>
                <a:spcPts val="0"/>
              </a:spcBef>
              <a:spcAft>
                <a:spcPts val="770"/>
              </a:spcAft>
              <a:buNone/>
              <a:tabLst>
                <a:tab pos="453390" algn="l"/>
              </a:tabLst>
            </a:pPr>
            <a:r>
              <a:rPr lang="en-US" altLang="ko-KR" sz="1700" b="1" dirty="0">
                <a:solidFill>
                  <a:srgbClr val="1E2A5A"/>
                </a:solidFill>
                <a:latin typeface="Calibri"/>
                <a:ea typeface="맑은 고딕"/>
                <a:cs typeface="Calibri"/>
              </a:rPr>
              <a:t>(C)</a:t>
            </a:r>
            <a:r>
              <a:rPr lang="en-US" altLang="ko-KR" sz="1700" b="0" dirty="0">
                <a:solidFill>
                  <a:srgbClr val="1F2328"/>
                </a:solidFill>
                <a:latin typeface="Calibri"/>
                <a:ea typeface="맑은 고딕"/>
                <a:cs typeface="Calibri"/>
              </a:rPr>
              <a:t>	Sherpas have good climbing skills and know their way around the mountains well. They also have little difficulty breathing high up in the mountains. Therefore, mountain climbers started to hire Sherpas to help them climb Mount Everest.</a:t>
            </a:r>
            <a:endParaRPr lang="en-US" altLang="ko-KR" sz="1700" b="0" dirty="0">
              <a:solidFill>
                <a:srgbClr val="1F2328"/>
              </a:solidFill>
              <a:latin typeface="Calibri"/>
              <a:ea typeface="맑은 고딕"/>
              <a:cs typeface="Calibri"/>
            </a:endParaRPr>
          </a:p>
        </p:txBody>
      </p:sp>
      <p:sp>
        <p:nvSpPr>
          <p:cNvPr id="11" name="options"/>
          <p:cNvSpPr txBox="1"/>
          <p:nvPr/>
        </p:nvSpPr>
        <p:spPr>
          <a:xfrm>
            <a:off x="457200" y="4465320"/>
            <a:ext cx="11277295" cy="420624"/>
          </a:xfrm>
          <a:prstGeom prst="rect">
            <a:avLst/>
          </a:prstGeom>
          <a:noFill/>
        </p:spPr>
        <p:txBody>
          <a:bodyPr wrap="square" lIns="91440" tIns="18288" rIns="91440" bIns="18288" anchor="ctr" rtlCol="0">
            <a:noAutofit/>
          </a:bodyPr>
          <a:lstStyle/>
          <a:p>
            <a:pPr algn="ctr">
              <a:lnSpc>
                <a:spcPts val="2560"/>
              </a:lnSpc>
              <a:spcBef>
                <a:spcPts val="0"/>
              </a:spcBef>
              <a:spcAft>
                <a:spcPts val="0"/>
              </a:spcAft>
              <a:buNone/>
            </a:pPr>
            <a:r>
              <a:rPr lang="ko-KR" altLang="en-US" sz="1800" b="1" dirty="0">
                <a:solidFill>
                  <a:srgbClr val="1E2A5A"/>
                </a:solidFill>
                <a:latin typeface="맑은 고딕"/>
                <a:ea typeface="맑은 고딕"/>
                <a:cs typeface="맑은 고딕"/>
              </a:rPr>
              <a:t>① </a:t>
            </a:r>
            <a:r>
              <a:rPr lang="en-US" altLang="ko-KR" sz="1800" b="0" dirty="0">
                <a:solidFill>
                  <a:srgbClr val="1F2328"/>
                </a:solidFill>
                <a:latin typeface="Calibri"/>
                <a:ea typeface="맑은 고딕"/>
                <a:cs typeface="Calibri"/>
              </a:rPr>
              <a:t>(A) - (C) - (B)</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② </a:t>
            </a:r>
            <a:r>
              <a:rPr lang="en-US" altLang="ko-KR" sz="1800" b="0" dirty="0">
                <a:solidFill>
                  <a:srgbClr val="1F2328"/>
                </a:solidFill>
                <a:latin typeface="Calibri"/>
                <a:ea typeface="맑은 고딕"/>
                <a:cs typeface="Calibri"/>
              </a:rPr>
              <a:t>(B) - (A) - (C)</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③ </a:t>
            </a:r>
            <a:r>
              <a:rPr lang="en-US" altLang="ko-KR" sz="1800" b="0" dirty="0">
                <a:solidFill>
                  <a:srgbClr val="1F2328"/>
                </a:solidFill>
                <a:latin typeface="Calibri"/>
                <a:ea typeface="맑은 고딕"/>
                <a:cs typeface="Calibri"/>
              </a:rPr>
              <a:t>(B) - (C) - (A)</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④ </a:t>
            </a:r>
            <a:r>
              <a:rPr lang="en-US" altLang="ko-KR" sz="1800" b="0" dirty="0">
                <a:solidFill>
                  <a:srgbClr val="1F2328"/>
                </a:solidFill>
                <a:latin typeface="Calibri"/>
                <a:ea typeface="맑은 고딕"/>
                <a:cs typeface="Calibri"/>
              </a:rPr>
              <a:t>(C) - (A) - (B)</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⑤ </a:t>
            </a:r>
            <a:r>
              <a:rPr lang="en-US" altLang="ko-KR" sz="1800" b="0" dirty="0">
                <a:solidFill>
                  <a:srgbClr val="1F2328"/>
                </a:solidFill>
                <a:latin typeface="Calibri"/>
                <a:ea typeface="맑은 고딕"/>
                <a:cs typeface="Calibri"/>
              </a:rPr>
              <a:t>(C) - (B) - (A)</a:t>
            </a:r>
            <a:endParaRPr lang="en-US" altLang="ko-KR" sz="1800" b="0" dirty="0">
              <a:solidFill>
                <a:srgbClr val="1F2328"/>
              </a:solidFill>
              <a:latin typeface="Calibri"/>
              <a:ea typeface="맑은 고딕"/>
              <a:cs typeface="Calibri"/>
            </a:endParaRPr>
          </a:p>
        </p:txBody>
      </p:sp>
      <p:sp>
        <p:nvSpPr>
          <p:cNvPr id="12" name="rv_pick"/>
          <p:cNvSpPr txBox="1"/>
          <p:nvPr/>
        </p:nvSpPr>
        <p:spPr>
          <a:xfrm>
            <a:off x="457200" y="4465320"/>
            <a:ext cx="11277295" cy="420624"/>
          </a:xfrm>
          <a:prstGeom prst="rect">
            <a:avLst/>
          </a:prstGeom>
          <a:noFill/>
        </p:spPr>
        <p:txBody>
          <a:bodyPr wrap="square" lIns="91440" tIns="18288" rIns="91440" bIns="18288" anchor="ctr" rtlCol="0">
            <a:noAutofit/>
          </a:bodyPr>
          <a:lstStyle/>
          <a:p>
            <a:pPr algn="ctr">
              <a:lnSpc>
                <a:spcPts val="2560"/>
              </a:lnSpc>
              <a:spcBef>
                <a:spcPts val="0"/>
              </a:spcBef>
              <a:spcAft>
                <a:spcPts val="0"/>
              </a:spcAft>
              <a:buNone/>
            </a:pPr>
            <a:r>
              <a:rPr lang="ko-KR" altLang="en-US" sz="1800" b="1" dirty="0">
                <a:solidFill>
                  <a:srgbClr val="1E2A5A">
                    <a:alpha val="0"/>
                  </a:srgbClr>
                </a:solidFill>
                <a:latin typeface="맑은 고딕"/>
                <a:ea typeface="맑은 고딕"/>
                <a:cs typeface="맑은 고딕"/>
              </a:rPr>
              <a:t>① </a:t>
            </a:r>
            <a:r>
              <a:rPr lang="en-US" altLang="ko-KR" sz="1800" b="0" dirty="0">
                <a:solidFill>
                  <a:srgbClr val="1F2328">
                    <a:alpha val="0"/>
                  </a:srgbClr>
                </a:solidFill>
                <a:latin typeface="Calibri"/>
                <a:ea typeface="맑은 고딕"/>
                <a:cs typeface="Calibri"/>
              </a:rPr>
              <a:t>(A) - (C) - (B)</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② </a:t>
            </a:r>
            <a:r>
              <a:rPr lang="en-US" altLang="ko-KR" sz="1800" b="0" dirty="0">
                <a:solidFill>
                  <a:srgbClr val="1F2328">
                    <a:alpha val="0"/>
                  </a:srgbClr>
                </a:solidFill>
                <a:latin typeface="Calibri"/>
                <a:ea typeface="맑은 고딕"/>
                <a:cs typeface="Calibri"/>
              </a:rPr>
              <a:t>(B) - (A) - (C)</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③ </a:t>
            </a:r>
            <a:r>
              <a:rPr lang="en-US" altLang="ko-KR" sz="1800" b="0" dirty="0">
                <a:solidFill>
                  <a:srgbClr val="1F2328">
                    <a:alpha val="0"/>
                  </a:srgbClr>
                </a:solidFill>
                <a:latin typeface="Calibri"/>
                <a:ea typeface="맑은 고딕"/>
                <a:cs typeface="Calibri"/>
              </a:rPr>
              <a:t>(B) - (C) - (A)</a:t>
            </a:r>
            <a:r>
              <a:rPr lang="en-US" altLang="ko-KR" sz="1800" b="0" dirty="0">
                <a:solidFill>
                  <a:srgbClr val="1F2328">
                    <a:alpha val="0"/>
                  </a:srgbClr>
                </a:solidFill>
                <a:latin typeface="Calibri"/>
                <a:ea typeface="맑은 고딕"/>
                <a:cs typeface="Calibri"/>
              </a:rPr>
              <a:t>       </a:t>
            </a:r>
            <a:r>
              <a:rPr lang="ko-KR" altLang="en-US" sz="1800" b="1" dirty="0">
                <a:solidFill>
                  <a:srgbClr val="C00000"/>
                </a:solidFill>
                <a:highlight>
                  <a:srgbClr val="FFFFFF"/>
                </a:highlight>
                <a:latin typeface="맑은 고딕"/>
                <a:ea typeface="맑은 고딕"/>
                <a:cs typeface="맑은 고딕"/>
              </a:rPr>
              <a:t>④ </a:t>
            </a:r>
            <a:r>
              <a:rPr lang="en-US" altLang="ko-KR" sz="1800" b="0" dirty="0">
                <a:solidFill>
                  <a:srgbClr val="C00000"/>
                </a:solidFill>
                <a:highlight>
                  <a:srgbClr val="FFFFFF"/>
                </a:highlight>
                <a:latin typeface="Calibri"/>
                <a:ea typeface="맑은 고딕"/>
                <a:cs typeface="Calibri"/>
              </a:rPr>
              <a:t>(C) - (A) - (B)</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⑤ </a:t>
            </a:r>
            <a:r>
              <a:rPr lang="en-US" altLang="ko-KR" sz="1800" b="0" dirty="0">
                <a:solidFill>
                  <a:srgbClr val="1F2328">
                    <a:alpha val="0"/>
                  </a:srgbClr>
                </a:solidFill>
                <a:latin typeface="Calibri"/>
                <a:ea typeface="맑은 고딕"/>
                <a:cs typeface="Calibri"/>
              </a:rPr>
              <a:t>(C) - (B) - (A)</a:t>
            </a:r>
            <a:endParaRPr lang="en-US" altLang="ko-KR" sz="1800" b="0" dirty="0">
              <a:solidFill>
                <a:srgbClr val="1F2328"/>
              </a:solidFill>
              <a:latin typeface="Calibri"/>
              <a:ea typeface="맑은 고딕"/>
              <a:cs typeface="Calibri"/>
            </a:endParaRPr>
          </a:p>
        </p:txBody>
      </p:sp>
      <p:sp>
        <p:nvSpPr>
          <p:cNvPr id="13" name="rv_answer"/>
          <p:cNvSpPr/>
          <p:nvPr/>
        </p:nvSpPr>
        <p:spPr>
          <a:xfrm>
            <a:off x="457200" y="4977384"/>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④ </a:t>
            </a:r>
            <a:r>
              <a:rPr lang="en-US" altLang="ko-KR" sz="1900" b="1" dirty="0">
                <a:solidFill>
                  <a:srgbClr val="5A4200"/>
                </a:solidFill>
                <a:latin typeface="Calibri"/>
                <a:ea typeface="맑은 고딕"/>
                <a:cs typeface="Calibri"/>
              </a:rPr>
              <a:t>(C) - (A) - (B)</a:t>
            </a:r>
            <a:endParaRPr lang="en-US" altLang="ko-KR" sz="1900" b="1" dirty="0">
              <a:solidFill>
                <a:srgbClr val="5A4200"/>
              </a:solidFill>
              <a:latin typeface="Calibri"/>
              <a:ea typeface="맑은 고딕"/>
              <a:cs typeface="Calibri"/>
            </a:endParaRPr>
          </a:p>
        </p:txBody>
      </p:sp>
      <p:sp>
        <p:nvSpPr>
          <p:cNvPr id="14" name="rv_why"/>
          <p:cNvSpPr/>
          <p:nvPr/>
        </p:nvSpPr>
        <p:spPr>
          <a:xfrm>
            <a:off x="457200" y="5576316"/>
            <a:ext cx="11277295" cy="842771"/>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셰르파족 소개 → (C) 등반 기술이 좋아 'Therefore' 고용되었다 → (A) 정상까지 이끌고 여러 방식으로 돕는다 → (B) 'For example' 텐트와 가방을 맡는다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25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250"/>
                                        <p:tgtEl>
                                          <p:spTgt spid="1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2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animBg="1"/>
    </p:bldLst>
  </p:timing>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L5-4</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2 · 2</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2. 주어진 글 다음에 이어질 글의 순서로 가장 적절한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5</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정답 원리</a:t>
            </a:r>
            <a:endParaRPr lang="ko-KR" altLang="en-US" sz="1000" b="0" dirty="0">
              <a:solidFill>
                <a:srgbClr val="7A808C"/>
              </a:solidFill>
              <a:latin typeface="맑은 고딕"/>
              <a:ea typeface="맑은 고딕"/>
              <a:cs typeface="맑은 고딕"/>
            </a:endParaRPr>
          </a:p>
        </p:txBody>
      </p:sp>
      <p:sp>
        <p:nvSpPr>
          <p:cNvPr id="7" name="given_card"/>
          <p:cNvSpPr/>
          <p:nvPr/>
        </p:nvSpPr>
        <p:spPr>
          <a:xfrm>
            <a:off x="457200" y="950976"/>
            <a:ext cx="11277295" cy="481838"/>
          </a:xfrm>
          <a:prstGeom prst="roundRect">
            <a:avLst>
              <a:gd name="adj" fmla="val 6000"/>
            </a:avLst>
          </a:prstGeom>
          <a:solidFill>
            <a:srgbClr val="FFFFFF"/>
          </a:solidFill>
          <a:ln w="15875">
            <a:solidFill>
              <a:srgbClr val="1E2A5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given"/>
          <p:cNvSpPr txBox="1"/>
          <p:nvPr/>
        </p:nvSpPr>
        <p:spPr>
          <a:xfrm>
            <a:off x="457200" y="950976"/>
            <a:ext cx="11277295" cy="481838"/>
          </a:xfrm>
          <a:prstGeom prst="rect">
            <a:avLst/>
          </a:prstGeom>
          <a:noFill/>
        </p:spPr>
        <p:txBody>
          <a:bodyPr wrap="square" lIns="201168" tIns="100584" rIns="201168" bIns="100584" anchor="t" rtlCol="0">
            <a:noAutofit/>
          </a:bodyPr>
          <a:lstStyle/>
          <a:p>
            <a:pPr algn="l">
              <a:lnSpc>
                <a:spcPts val="2210"/>
              </a:lnSpc>
              <a:spcBef>
                <a:spcPts val="0"/>
              </a:spcBef>
              <a:spcAft>
                <a:spcPts val="0"/>
              </a:spcAft>
              <a:buNone/>
            </a:pPr>
            <a:r>
              <a:rPr lang="en-US" altLang="ko-KR" sz="1700" b="0" dirty="0">
                <a:solidFill>
                  <a:srgbClr val="1F2328"/>
                </a:solidFill>
                <a:latin typeface="Calibri"/>
                <a:ea typeface="맑은 고딕"/>
                <a:cs typeface="Calibri"/>
              </a:rPr>
              <a:t>The word Sherpa comes from the Sherpa tribe, which lives in the eastern part of Nepal.</a:t>
            </a:r>
            <a:endParaRPr lang="en-US" altLang="ko-KR" sz="1700" b="0" dirty="0">
              <a:solidFill>
                <a:srgbClr val="1F2328"/>
              </a:solidFill>
              <a:latin typeface="Calibri"/>
              <a:ea typeface="맑은 고딕"/>
              <a:cs typeface="Calibri"/>
            </a:endParaRPr>
          </a:p>
        </p:txBody>
      </p:sp>
      <p:sp>
        <p:nvSpPr>
          <p:cNvPr id="9" name="parts_card"/>
          <p:cNvSpPr/>
          <p:nvPr/>
        </p:nvSpPr>
        <p:spPr>
          <a:xfrm>
            <a:off x="457200" y="1560830"/>
            <a:ext cx="11277295" cy="2794762"/>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parts"/>
          <p:cNvSpPr txBox="1"/>
          <p:nvPr/>
        </p:nvSpPr>
        <p:spPr>
          <a:xfrm>
            <a:off x="457200" y="1560830"/>
            <a:ext cx="11277295" cy="2794762"/>
          </a:xfrm>
          <a:prstGeom prst="rect">
            <a:avLst/>
          </a:prstGeom>
          <a:noFill/>
        </p:spPr>
        <p:txBody>
          <a:bodyPr wrap="square" lIns="201168" tIns="118872" rIns="201168" bIns="118872" anchor="t" rtlCol="0">
            <a:noAutofit/>
          </a:bodyPr>
          <a:lstStyle/>
          <a:p>
            <a:pPr algn="just" marL="453390" indent="-453390">
              <a:lnSpc>
                <a:spcPts val="2210"/>
              </a:lnSpc>
              <a:spcBef>
                <a:spcPts val="0"/>
              </a:spcBef>
              <a:spcAft>
                <a:spcPts val="770"/>
              </a:spcAft>
              <a:buNone/>
              <a:tabLst>
                <a:tab pos="453390" algn="l"/>
              </a:tabLst>
            </a:pPr>
            <a:r>
              <a:rPr lang="en-US" altLang="ko-KR" sz="1700" b="1" dirty="0">
                <a:solidFill>
                  <a:srgbClr val="1E2A5A"/>
                </a:solidFill>
                <a:latin typeface="Calibri"/>
                <a:ea typeface="맑은 고딕"/>
                <a:cs typeface="Calibri"/>
              </a:rPr>
              <a:t>(A)</a:t>
            </a:r>
            <a:r>
              <a:rPr lang="en-US" altLang="ko-KR" sz="1700" b="0" dirty="0">
                <a:solidFill>
                  <a:srgbClr val="1F2328"/>
                </a:solidFill>
                <a:latin typeface="Calibri"/>
                <a:ea typeface="맑은 고딕"/>
                <a:cs typeface="Calibri"/>
              </a:rPr>
              <a:t>	Sherpas have good climbing skills and know their way around the mountains well. They also have little difficulty breathing high up in the mountains. Therefore, mountain climbers started to hire Sherpas to help them climb Mount Everest.</a:t>
            </a:r>
            <a:endParaRPr lang="en-US" altLang="ko-KR" sz="1700" b="0" dirty="0">
              <a:solidFill>
                <a:srgbClr val="1F2328"/>
              </a:solidFill>
              <a:latin typeface="Calibri"/>
              <a:ea typeface="맑은 고딕"/>
              <a:cs typeface="Calibri"/>
            </a:endParaRPr>
          </a:p>
          <a:p>
            <a:pPr algn="just" marL="453390" indent="-453390">
              <a:lnSpc>
                <a:spcPts val="2210"/>
              </a:lnSpc>
              <a:spcBef>
                <a:spcPts val="0"/>
              </a:spcBef>
              <a:spcAft>
                <a:spcPts val="770"/>
              </a:spcAft>
              <a:buNone/>
              <a:tabLst>
                <a:tab pos="453390" algn="l"/>
              </a:tabLst>
            </a:pPr>
            <a:r>
              <a:rPr lang="en-US" altLang="ko-KR" sz="1700" b="1" dirty="0">
                <a:solidFill>
                  <a:srgbClr val="1E2A5A"/>
                </a:solidFill>
                <a:latin typeface="Calibri"/>
                <a:ea typeface="맑은 고딕"/>
                <a:cs typeface="Calibri"/>
              </a:rPr>
              <a:t>(B)</a:t>
            </a:r>
            <a:r>
              <a:rPr lang="en-US" altLang="ko-KR" sz="1700" b="0" dirty="0">
                <a:solidFill>
                  <a:srgbClr val="1F2328"/>
                </a:solidFill>
                <a:latin typeface="Calibri"/>
                <a:ea typeface="맑은 고딕"/>
                <a:cs typeface="Calibri"/>
              </a:rPr>
              <a:t>	For example, they put up tents and carry climbers’ bags. Sherpas are often called the invisible people of Mount Everest because people often see a picture of only the climbers at the top of the mountain.</a:t>
            </a:r>
            <a:endParaRPr lang="en-US" altLang="ko-KR" sz="1700" b="0" dirty="0">
              <a:solidFill>
                <a:srgbClr val="1F2328"/>
              </a:solidFill>
              <a:latin typeface="Calibri"/>
              <a:ea typeface="맑은 고딕"/>
              <a:cs typeface="Calibri"/>
            </a:endParaRPr>
          </a:p>
          <a:p>
            <a:pPr algn="just" marL="453390" indent="-453390">
              <a:lnSpc>
                <a:spcPts val="2210"/>
              </a:lnSpc>
              <a:spcBef>
                <a:spcPts val="0"/>
              </a:spcBef>
              <a:spcAft>
                <a:spcPts val="770"/>
              </a:spcAft>
              <a:buNone/>
              <a:tabLst>
                <a:tab pos="453390" algn="l"/>
              </a:tabLst>
            </a:pPr>
            <a:r>
              <a:rPr lang="en-US" altLang="ko-KR" sz="1700" b="1" dirty="0">
                <a:solidFill>
                  <a:srgbClr val="1E2A5A"/>
                </a:solidFill>
                <a:latin typeface="Calibri"/>
                <a:ea typeface="맑은 고딕"/>
                <a:cs typeface="Calibri"/>
              </a:rPr>
              <a:t>(C)</a:t>
            </a:r>
            <a:r>
              <a:rPr lang="en-US" altLang="ko-KR" sz="1700" b="0" dirty="0">
                <a:solidFill>
                  <a:srgbClr val="1F2328"/>
                </a:solidFill>
                <a:latin typeface="Calibri"/>
                <a:ea typeface="맑은 고딕"/>
                <a:cs typeface="Calibri"/>
              </a:rPr>
              <a:t>	Sherpas lead mountain climbers to the top of the mountain. They support climbers in many ways.</a:t>
            </a:r>
            <a:endParaRPr lang="en-US" altLang="ko-KR" sz="1700" b="0" dirty="0">
              <a:solidFill>
                <a:srgbClr val="1F2328"/>
              </a:solidFill>
              <a:latin typeface="Calibri"/>
              <a:ea typeface="맑은 고딕"/>
              <a:cs typeface="Calibri"/>
            </a:endParaRPr>
          </a:p>
        </p:txBody>
      </p:sp>
      <p:sp>
        <p:nvSpPr>
          <p:cNvPr id="11" name="options"/>
          <p:cNvSpPr txBox="1"/>
          <p:nvPr/>
        </p:nvSpPr>
        <p:spPr>
          <a:xfrm>
            <a:off x="457200" y="4465320"/>
            <a:ext cx="11277295" cy="420624"/>
          </a:xfrm>
          <a:prstGeom prst="rect">
            <a:avLst/>
          </a:prstGeom>
          <a:noFill/>
        </p:spPr>
        <p:txBody>
          <a:bodyPr wrap="square" lIns="91440" tIns="18288" rIns="91440" bIns="18288" anchor="ctr" rtlCol="0">
            <a:noAutofit/>
          </a:bodyPr>
          <a:lstStyle/>
          <a:p>
            <a:pPr algn="ctr">
              <a:lnSpc>
                <a:spcPts val="2560"/>
              </a:lnSpc>
              <a:spcBef>
                <a:spcPts val="0"/>
              </a:spcBef>
              <a:spcAft>
                <a:spcPts val="0"/>
              </a:spcAft>
              <a:buNone/>
            </a:pPr>
            <a:r>
              <a:rPr lang="ko-KR" altLang="en-US" sz="1800" b="1" dirty="0">
                <a:solidFill>
                  <a:srgbClr val="1E2A5A"/>
                </a:solidFill>
                <a:latin typeface="맑은 고딕"/>
                <a:ea typeface="맑은 고딕"/>
                <a:cs typeface="맑은 고딕"/>
              </a:rPr>
              <a:t>① </a:t>
            </a:r>
            <a:r>
              <a:rPr lang="en-US" altLang="ko-KR" sz="1800" b="0" dirty="0">
                <a:solidFill>
                  <a:srgbClr val="1F2328"/>
                </a:solidFill>
                <a:latin typeface="Calibri"/>
                <a:ea typeface="맑은 고딕"/>
                <a:cs typeface="Calibri"/>
              </a:rPr>
              <a:t>(A) - (C) - (B)</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② </a:t>
            </a:r>
            <a:r>
              <a:rPr lang="en-US" altLang="ko-KR" sz="1800" b="0" dirty="0">
                <a:solidFill>
                  <a:srgbClr val="1F2328"/>
                </a:solidFill>
                <a:latin typeface="Calibri"/>
                <a:ea typeface="맑은 고딕"/>
                <a:cs typeface="Calibri"/>
              </a:rPr>
              <a:t>(B) - (A) - (C)</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③ </a:t>
            </a:r>
            <a:r>
              <a:rPr lang="en-US" altLang="ko-KR" sz="1800" b="0" dirty="0">
                <a:solidFill>
                  <a:srgbClr val="1F2328"/>
                </a:solidFill>
                <a:latin typeface="Calibri"/>
                <a:ea typeface="맑은 고딕"/>
                <a:cs typeface="Calibri"/>
              </a:rPr>
              <a:t>(B) - (C) - (A)</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④ </a:t>
            </a:r>
            <a:r>
              <a:rPr lang="en-US" altLang="ko-KR" sz="1800" b="0" dirty="0">
                <a:solidFill>
                  <a:srgbClr val="1F2328"/>
                </a:solidFill>
                <a:latin typeface="Calibri"/>
                <a:ea typeface="맑은 고딕"/>
                <a:cs typeface="Calibri"/>
              </a:rPr>
              <a:t>(C) - (A) - (B)</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⑤ </a:t>
            </a:r>
            <a:r>
              <a:rPr lang="en-US" altLang="ko-KR" sz="1800" b="0" dirty="0">
                <a:solidFill>
                  <a:srgbClr val="1F2328"/>
                </a:solidFill>
                <a:latin typeface="Calibri"/>
                <a:ea typeface="맑은 고딕"/>
                <a:cs typeface="Calibri"/>
              </a:rPr>
              <a:t>(C) - (B) - (A)</a:t>
            </a:r>
            <a:endParaRPr lang="en-US" altLang="ko-KR" sz="1800" b="0" dirty="0">
              <a:solidFill>
                <a:srgbClr val="1F2328"/>
              </a:solidFill>
              <a:latin typeface="Calibri"/>
              <a:ea typeface="맑은 고딕"/>
              <a:cs typeface="Calibri"/>
            </a:endParaRPr>
          </a:p>
        </p:txBody>
      </p:sp>
      <p:sp>
        <p:nvSpPr>
          <p:cNvPr id="12" name="rv_pick"/>
          <p:cNvSpPr txBox="1"/>
          <p:nvPr/>
        </p:nvSpPr>
        <p:spPr>
          <a:xfrm>
            <a:off x="457200" y="4465320"/>
            <a:ext cx="11277295" cy="420624"/>
          </a:xfrm>
          <a:prstGeom prst="rect">
            <a:avLst/>
          </a:prstGeom>
          <a:noFill/>
        </p:spPr>
        <p:txBody>
          <a:bodyPr wrap="square" lIns="91440" tIns="18288" rIns="91440" bIns="18288" anchor="ctr" rtlCol="0">
            <a:noAutofit/>
          </a:bodyPr>
          <a:lstStyle/>
          <a:p>
            <a:pPr algn="ctr">
              <a:lnSpc>
                <a:spcPts val="2560"/>
              </a:lnSpc>
              <a:spcBef>
                <a:spcPts val="0"/>
              </a:spcBef>
              <a:spcAft>
                <a:spcPts val="0"/>
              </a:spcAft>
              <a:buNone/>
            </a:pPr>
            <a:r>
              <a:rPr lang="ko-KR" altLang="en-US" sz="1800" b="1" dirty="0">
                <a:solidFill>
                  <a:srgbClr val="C00000"/>
                </a:solidFill>
                <a:highlight>
                  <a:srgbClr val="FFFFFF"/>
                </a:highlight>
                <a:latin typeface="맑은 고딕"/>
                <a:ea typeface="맑은 고딕"/>
                <a:cs typeface="맑은 고딕"/>
              </a:rPr>
              <a:t>① </a:t>
            </a:r>
            <a:r>
              <a:rPr lang="en-US" altLang="ko-KR" sz="1800" b="0" dirty="0">
                <a:solidFill>
                  <a:srgbClr val="C00000"/>
                </a:solidFill>
                <a:highlight>
                  <a:srgbClr val="FFFFFF"/>
                </a:highlight>
                <a:latin typeface="Calibri"/>
                <a:ea typeface="맑은 고딕"/>
                <a:cs typeface="Calibri"/>
              </a:rPr>
              <a:t>(A) - (C) - (B)</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② </a:t>
            </a:r>
            <a:r>
              <a:rPr lang="en-US" altLang="ko-KR" sz="1800" b="0" dirty="0">
                <a:solidFill>
                  <a:srgbClr val="1F2328">
                    <a:alpha val="0"/>
                  </a:srgbClr>
                </a:solidFill>
                <a:latin typeface="Calibri"/>
                <a:ea typeface="맑은 고딕"/>
                <a:cs typeface="Calibri"/>
              </a:rPr>
              <a:t>(B) - (A) - (C)</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③ </a:t>
            </a:r>
            <a:r>
              <a:rPr lang="en-US" altLang="ko-KR" sz="1800" b="0" dirty="0">
                <a:solidFill>
                  <a:srgbClr val="1F2328">
                    <a:alpha val="0"/>
                  </a:srgbClr>
                </a:solidFill>
                <a:latin typeface="Calibri"/>
                <a:ea typeface="맑은 고딕"/>
                <a:cs typeface="Calibri"/>
              </a:rPr>
              <a:t>(B) - (C) - (A)</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④ </a:t>
            </a:r>
            <a:r>
              <a:rPr lang="en-US" altLang="ko-KR" sz="1800" b="0" dirty="0">
                <a:solidFill>
                  <a:srgbClr val="1F2328">
                    <a:alpha val="0"/>
                  </a:srgbClr>
                </a:solidFill>
                <a:latin typeface="Calibri"/>
                <a:ea typeface="맑은 고딕"/>
                <a:cs typeface="Calibri"/>
              </a:rPr>
              <a:t>(C) - (A) - (B)</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⑤ </a:t>
            </a:r>
            <a:r>
              <a:rPr lang="en-US" altLang="ko-KR" sz="1800" b="0" dirty="0">
                <a:solidFill>
                  <a:srgbClr val="1F2328">
                    <a:alpha val="0"/>
                  </a:srgbClr>
                </a:solidFill>
                <a:latin typeface="Calibri"/>
                <a:ea typeface="맑은 고딕"/>
                <a:cs typeface="Calibri"/>
              </a:rPr>
              <a:t>(C) - (B) - (A)</a:t>
            </a:r>
            <a:endParaRPr lang="en-US" altLang="ko-KR" sz="1800" b="0" dirty="0">
              <a:solidFill>
                <a:srgbClr val="1F2328"/>
              </a:solidFill>
              <a:latin typeface="Calibri"/>
              <a:ea typeface="맑은 고딕"/>
              <a:cs typeface="Calibri"/>
            </a:endParaRPr>
          </a:p>
        </p:txBody>
      </p:sp>
      <p:sp>
        <p:nvSpPr>
          <p:cNvPr id="13" name="rv_answer"/>
          <p:cNvSpPr/>
          <p:nvPr/>
        </p:nvSpPr>
        <p:spPr>
          <a:xfrm>
            <a:off x="457200" y="4977384"/>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① </a:t>
            </a:r>
            <a:r>
              <a:rPr lang="en-US" altLang="ko-KR" sz="1900" b="1" dirty="0">
                <a:solidFill>
                  <a:srgbClr val="5A4200"/>
                </a:solidFill>
                <a:latin typeface="Calibri"/>
                <a:ea typeface="맑은 고딕"/>
                <a:cs typeface="Calibri"/>
              </a:rPr>
              <a:t>(A) - (C) - (B)</a:t>
            </a:r>
            <a:endParaRPr lang="en-US" altLang="ko-KR" sz="1900" b="1" dirty="0">
              <a:solidFill>
                <a:srgbClr val="5A4200"/>
              </a:solidFill>
              <a:latin typeface="Calibri"/>
              <a:ea typeface="맑은 고딕"/>
              <a:cs typeface="Calibri"/>
            </a:endParaRPr>
          </a:p>
        </p:txBody>
      </p:sp>
      <p:sp>
        <p:nvSpPr>
          <p:cNvPr id="14" name="rv_why"/>
          <p:cNvSpPr/>
          <p:nvPr/>
        </p:nvSpPr>
        <p:spPr>
          <a:xfrm>
            <a:off x="457200" y="5576316"/>
            <a:ext cx="11277295" cy="842771"/>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셰르파족 소개 → (A) 등반 기술이 좋아 등산가들이 고용했다 → (C) 정상까지 이끌고 'in many ways' 돕는다 → (B) 'For example' 텐트와 가방 예로 이어진다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25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250"/>
                                        <p:tgtEl>
                                          <p:spTgt spid="1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2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animBg="1"/>
    </p:bldLst>
  </p:timing>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L5-4</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2 · 3</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3. 글의 흐름으로 보아, 주어진 문장이 들어가기에 가장 적절한 곳은?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5</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정답 원리</a:t>
            </a:r>
            <a:endParaRPr lang="ko-KR" altLang="en-US" sz="1000" b="0" dirty="0">
              <a:solidFill>
                <a:srgbClr val="7A808C"/>
              </a:solidFill>
              <a:latin typeface="맑은 고딕"/>
              <a:ea typeface="맑은 고딕"/>
              <a:cs typeface="맑은 고딕"/>
            </a:endParaRPr>
          </a:p>
        </p:txBody>
      </p:sp>
      <p:sp>
        <p:nvSpPr>
          <p:cNvPr id="7" name="given_card"/>
          <p:cNvSpPr/>
          <p:nvPr/>
        </p:nvSpPr>
        <p:spPr>
          <a:xfrm>
            <a:off x="457200" y="950976"/>
            <a:ext cx="11277295" cy="507238"/>
          </a:xfrm>
          <a:prstGeom prst="roundRect">
            <a:avLst>
              <a:gd name="adj" fmla="val 6000"/>
            </a:avLst>
          </a:prstGeom>
          <a:solidFill>
            <a:srgbClr val="FFFFFF"/>
          </a:solidFill>
          <a:ln w="15875">
            <a:solidFill>
              <a:srgbClr val="1E2A5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given"/>
          <p:cNvSpPr txBox="1"/>
          <p:nvPr/>
        </p:nvSpPr>
        <p:spPr>
          <a:xfrm>
            <a:off x="457200" y="950976"/>
            <a:ext cx="11277295" cy="507238"/>
          </a:xfrm>
          <a:prstGeom prst="rect">
            <a:avLst/>
          </a:prstGeom>
          <a:noFill/>
        </p:spPr>
        <p:txBody>
          <a:bodyPr wrap="square" lIns="201168" tIns="100584" rIns="201168" bIns="100584"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주어진 문장</a:t>
            </a:r>
            <a:r>
              <a:rPr lang="en-US" altLang="ko-KR" sz="1700" b="0" dirty="0">
                <a:solidFill>
                  <a:srgbClr val="1F2328"/>
                </a:solidFill>
                <a:latin typeface="Calibri"/>
                <a:ea typeface="맑은 고딕"/>
                <a:cs typeface="Calibri"/>
              </a:rPr>
              <a:t>   Sherpas lead mountain climbers to the top of the mountain.</a:t>
            </a:r>
            <a:endParaRPr lang="en-US" altLang="ko-KR" sz="1700" b="0" dirty="0">
              <a:solidFill>
                <a:srgbClr val="1F2328"/>
              </a:solidFill>
              <a:latin typeface="Calibri"/>
              <a:ea typeface="맑은 고딕"/>
              <a:cs typeface="Calibri"/>
            </a:endParaRPr>
          </a:p>
        </p:txBody>
      </p:sp>
      <p:sp>
        <p:nvSpPr>
          <p:cNvPr id="9" name="passage_card"/>
          <p:cNvSpPr/>
          <p:nvPr/>
        </p:nvSpPr>
        <p:spPr>
          <a:xfrm>
            <a:off x="457200" y="1604518"/>
            <a:ext cx="11277295" cy="255016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passage"/>
          <p:cNvSpPr txBox="1"/>
          <p:nvPr/>
        </p:nvSpPr>
        <p:spPr>
          <a:xfrm>
            <a:off x="457200" y="1604518"/>
            <a:ext cx="11277295" cy="2550160"/>
          </a:xfrm>
          <a:prstGeom prst="rect">
            <a:avLst/>
          </a:prstGeom>
          <a:noFill/>
        </p:spPr>
        <p:txBody>
          <a:bodyPr wrap="square" lIns="201168" tIns="118872" rIns="201168" bIns="118872" anchor="t" rtlCol="0">
            <a:noAutofit/>
          </a:bodyPr>
          <a:lstStyle/>
          <a:p>
            <a:pPr algn="just">
              <a:lnSpc>
                <a:spcPts val="2560"/>
              </a:lnSpc>
              <a:spcBef>
                <a:spcPts val="0"/>
              </a:spcBef>
              <a:spcAft>
                <a:spcPts val="0"/>
              </a:spcAft>
              <a:buNone/>
            </a:pPr>
            <a:r>
              <a:rPr lang="en-US" altLang="ko-KR" sz="1700" b="0" dirty="0">
                <a:solidFill>
                  <a:srgbClr val="1F2328"/>
                </a:solidFill>
                <a:latin typeface="Calibri"/>
                <a:ea typeface="맑은 고딕"/>
                <a:cs typeface="Calibri"/>
              </a:rPr>
              <a:t>The word Sherpa comes from the Sherpa tribe, which lives in the eastern part of Nepal. </a:t>
            </a:r>
            <a:r>
              <a:rPr lang="ko-KR" altLang="en-US" sz="1800" b="1" dirty="0">
                <a:solidFill>
                  <a:srgbClr val="1E2A5A"/>
                </a:solidFill>
                <a:latin typeface="맑은 고딕"/>
                <a:ea typeface="맑은 고딕"/>
                <a:cs typeface="맑은 고딕"/>
              </a:rPr>
              <a:t>②</a:t>
            </a:r>
            <a:r>
              <a:rPr lang="en-US" altLang="ko-KR" sz="1700" b="0" dirty="0">
                <a:solidFill>
                  <a:srgbClr val="1F2328"/>
                </a:solidFill>
                <a:latin typeface="Calibri"/>
                <a:ea typeface="맑은 고딕"/>
                <a:cs typeface="Calibri"/>
              </a:rPr>
              <a:t> Sherpas have good climbing skills and know their way around the mountains well. </a:t>
            </a:r>
            <a:r>
              <a:rPr lang="ko-KR" altLang="en-US" sz="1800" b="1" dirty="0">
                <a:solidFill>
                  <a:srgbClr val="1E2A5A"/>
                </a:solidFill>
                <a:latin typeface="맑은 고딕"/>
                <a:ea typeface="맑은 고딕"/>
                <a:cs typeface="맑은 고딕"/>
              </a:rPr>
              <a:t>③</a:t>
            </a:r>
            <a:r>
              <a:rPr lang="en-US" altLang="ko-KR" sz="1700" b="0" dirty="0">
                <a:solidFill>
                  <a:srgbClr val="1F2328"/>
                </a:solidFill>
                <a:latin typeface="Calibri"/>
                <a:ea typeface="맑은 고딕"/>
                <a:cs typeface="Calibri"/>
              </a:rPr>
              <a:t> They also have little difficulty breathing high up in the mountains. </a:t>
            </a:r>
            <a:r>
              <a:rPr lang="ko-KR" altLang="en-US" sz="1800" b="1" dirty="0">
                <a:solidFill>
                  <a:srgbClr val="1E2A5A"/>
                </a:solidFill>
                <a:latin typeface="맑은 고딕"/>
                <a:ea typeface="맑은 고딕"/>
                <a:cs typeface="맑은 고딕"/>
              </a:rPr>
              <a:t>④</a:t>
            </a:r>
            <a:r>
              <a:rPr lang="en-US" altLang="ko-KR" sz="1700" b="0" dirty="0">
                <a:solidFill>
                  <a:srgbClr val="1F2328"/>
                </a:solidFill>
                <a:latin typeface="Calibri"/>
                <a:ea typeface="맑은 고딕"/>
                <a:cs typeface="Calibri"/>
              </a:rPr>
              <a:t> Therefore, mountain climbers started to hire Sherpas to help them climb Mount Everest. </a:t>
            </a:r>
            <a:r>
              <a:rPr lang="ko-KR" altLang="en-US" sz="1800" b="1" dirty="0">
                <a:solidFill>
                  <a:srgbClr val="1E2A5A"/>
                </a:solidFill>
                <a:latin typeface="맑은 고딕"/>
                <a:ea typeface="맑은 고딕"/>
                <a:cs typeface="맑은 고딕"/>
              </a:rPr>
              <a:t>⑤</a:t>
            </a:r>
            <a:r>
              <a:rPr lang="en-US" altLang="ko-KR" sz="1700" b="0" dirty="0">
                <a:solidFill>
                  <a:srgbClr val="1F2328"/>
                </a:solidFill>
                <a:latin typeface="Calibri"/>
                <a:ea typeface="맑은 고딕"/>
                <a:cs typeface="Calibri"/>
              </a:rPr>
              <a:t> They support climbers in many ways. For example, they put up tents and carry climbers’ bags. Sherpas are often called the invisible people of Mount Everest because people often see a picture of only the climbers at the top of the mountain.</a:t>
            </a:r>
            <a:endParaRPr lang="en-US" altLang="ko-KR" sz="1700" b="0" dirty="0">
              <a:solidFill>
                <a:srgbClr val="1F2328"/>
              </a:solidFill>
              <a:latin typeface="Calibri"/>
              <a:ea typeface="맑은 고딕"/>
              <a:cs typeface="Calibri"/>
            </a:endParaRPr>
          </a:p>
        </p:txBody>
      </p:sp>
      <p:sp>
        <p:nvSpPr>
          <p:cNvPr id="11" name="rv_pick"/>
          <p:cNvSpPr txBox="1"/>
          <p:nvPr/>
        </p:nvSpPr>
        <p:spPr>
          <a:xfrm>
            <a:off x="457200" y="1604518"/>
            <a:ext cx="11277295" cy="2550160"/>
          </a:xfrm>
          <a:prstGeom prst="rect">
            <a:avLst/>
          </a:prstGeom>
          <a:noFill/>
        </p:spPr>
        <p:txBody>
          <a:bodyPr wrap="square" lIns="201168" tIns="118872" rIns="201168" bIns="118872" anchor="t" rtlCol="0">
            <a:noAutofit/>
          </a:bodyPr>
          <a:lstStyle/>
          <a:p>
            <a:pPr algn="just">
              <a:lnSpc>
                <a:spcPts val="2560"/>
              </a:lnSpc>
              <a:spcBef>
                <a:spcPts val="0"/>
              </a:spcBef>
              <a:spcAft>
                <a:spcPts val="0"/>
              </a:spcAft>
              <a:buNone/>
            </a:pPr>
            <a:r>
              <a:rPr lang="en-US" altLang="ko-KR" sz="1700" b="0" dirty="0">
                <a:solidFill>
                  <a:srgbClr val="1F2328">
                    <a:alpha val="0"/>
                  </a:srgbClr>
                </a:solidFill>
                <a:latin typeface="Calibri"/>
                <a:ea typeface="맑은 고딕"/>
                <a:cs typeface="Calibri"/>
              </a:rPr>
              <a:t>The word Sherpa comes from the Sherpa tribe, which lives in the eastern part of Nepal. </a:t>
            </a:r>
            <a:r>
              <a:rPr lang="ko-KR" altLang="en-US" sz="1800" b="1" dirty="0">
                <a:solidFill>
                  <a:srgbClr val="1E2A5A">
                    <a:alpha val="0"/>
                  </a:srgbClr>
                </a:solidFill>
                <a:latin typeface="맑은 고딕"/>
                <a:ea typeface="맑은 고딕"/>
                <a:cs typeface="맑은 고딕"/>
              </a:rPr>
              <a:t>②</a:t>
            </a:r>
            <a:r>
              <a:rPr lang="en-US" altLang="ko-KR" sz="1700" b="0" dirty="0">
                <a:solidFill>
                  <a:srgbClr val="1F2328">
                    <a:alpha val="0"/>
                  </a:srgbClr>
                </a:solidFill>
                <a:latin typeface="Calibri"/>
                <a:ea typeface="맑은 고딕"/>
                <a:cs typeface="Calibri"/>
              </a:rPr>
              <a:t> Sherpas have good climbing skills and know their way around the mountains well. </a:t>
            </a:r>
            <a:r>
              <a:rPr lang="ko-KR" altLang="en-US" sz="1800" b="1" dirty="0">
                <a:solidFill>
                  <a:srgbClr val="1E2A5A">
                    <a:alpha val="0"/>
                  </a:srgbClr>
                </a:solidFill>
                <a:latin typeface="맑은 고딕"/>
                <a:ea typeface="맑은 고딕"/>
                <a:cs typeface="맑은 고딕"/>
              </a:rPr>
              <a:t>③</a:t>
            </a:r>
            <a:r>
              <a:rPr lang="en-US" altLang="ko-KR" sz="1700" b="0" dirty="0">
                <a:solidFill>
                  <a:srgbClr val="1F2328">
                    <a:alpha val="0"/>
                  </a:srgbClr>
                </a:solidFill>
                <a:latin typeface="Calibri"/>
                <a:ea typeface="맑은 고딕"/>
                <a:cs typeface="Calibri"/>
              </a:rPr>
              <a:t> They also have little difficulty breathing high up in the mountains. </a:t>
            </a:r>
            <a:r>
              <a:rPr lang="ko-KR" altLang="en-US" sz="1800" b="1" dirty="0">
                <a:solidFill>
                  <a:srgbClr val="1E2A5A">
                    <a:alpha val="0"/>
                  </a:srgbClr>
                </a:solidFill>
                <a:latin typeface="맑은 고딕"/>
                <a:ea typeface="맑은 고딕"/>
                <a:cs typeface="맑은 고딕"/>
              </a:rPr>
              <a:t>④</a:t>
            </a:r>
            <a:r>
              <a:rPr lang="en-US" altLang="ko-KR" sz="1700" b="0" dirty="0">
                <a:solidFill>
                  <a:srgbClr val="1F2328">
                    <a:alpha val="0"/>
                  </a:srgbClr>
                </a:solidFill>
                <a:latin typeface="Calibri"/>
                <a:ea typeface="맑은 고딕"/>
                <a:cs typeface="Calibri"/>
              </a:rPr>
              <a:t> Therefore, mountain climbers started to hire Sherpas to help them climb Mount Everest. </a:t>
            </a:r>
            <a:r>
              <a:rPr lang="ko-KR" altLang="en-US" sz="1800" b="1" dirty="0">
                <a:solidFill>
                  <a:srgbClr val="C00000"/>
                </a:solidFill>
                <a:highlight>
                  <a:srgbClr val="F3F5F9"/>
                </a:highlight>
                <a:latin typeface="맑은 고딕"/>
                <a:ea typeface="맑은 고딕"/>
                <a:cs typeface="맑은 고딕"/>
              </a:rPr>
              <a:t>⑤</a:t>
            </a:r>
            <a:r>
              <a:rPr lang="en-US" altLang="ko-KR" sz="1700" b="0" dirty="0">
                <a:solidFill>
                  <a:srgbClr val="1F2328">
                    <a:alpha val="0"/>
                  </a:srgbClr>
                </a:solidFill>
                <a:latin typeface="Calibri"/>
                <a:ea typeface="맑은 고딕"/>
                <a:cs typeface="Calibri"/>
              </a:rPr>
              <a:t> They support climbers in many ways. For example, they put up tents and carry climbers’ bags. Sherpas are often called the invisible people of Mount Everest because people often see a picture of only the climbers at the top of the mountain.</a:t>
            </a:r>
            <a:endParaRPr lang="en-US" altLang="ko-KR" sz="1700" b="0" dirty="0">
              <a:solidFill>
                <a:srgbClr val="1F2328"/>
              </a:solidFill>
              <a:latin typeface="Calibri"/>
              <a:ea typeface="맑은 고딕"/>
              <a:cs typeface="Calibri"/>
            </a:endParaRPr>
          </a:p>
        </p:txBody>
      </p:sp>
      <p:sp>
        <p:nvSpPr>
          <p:cNvPr id="12" name="rv_answer"/>
          <p:cNvSpPr/>
          <p:nvPr/>
        </p:nvSpPr>
        <p:spPr>
          <a:xfrm>
            <a:off x="457200" y="426440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⑤</a:t>
            </a:r>
            <a:endParaRPr lang="ko-KR" altLang="en-US" sz="1900" b="1" dirty="0">
              <a:solidFill>
                <a:srgbClr val="5A4200"/>
              </a:solidFill>
              <a:latin typeface="맑은 고딕"/>
              <a:ea typeface="맑은 고딕"/>
              <a:cs typeface="맑은 고딕"/>
            </a:endParaRPr>
          </a:p>
        </p:txBody>
      </p:sp>
      <p:sp>
        <p:nvSpPr>
          <p:cNvPr id="13" name="rv_why"/>
          <p:cNvSpPr/>
          <p:nvPr/>
        </p:nvSpPr>
        <p:spPr>
          <a:xfrm>
            <a:off x="457200" y="4863338"/>
            <a:ext cx="11277295" cy="155574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⑤ 뒤 'They support climbers'는 앞에서 셰르파가 등산가를 이끄는 일을 말한 뒤 자연스럽다. 정상까지 이끈다는 주어진 문장은 ⑤에 들어간다.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25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25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2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Lst>
  </p:timing>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L5-4</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2 · 4</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4. 글의 흐름으로 보아, 주어진 문장이 들어가기에 가장 적절한 곳은?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5</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정답 원리</a:t>
            </a:r>
            <a:endParaRPr lang="ko-KR" altLang="en-US" sz="1000" b="0" dirty="0">
              <a:solidFill>
                <a:srgbClr val="7A808C"/>
              </a:solidFill>
              <a:latin typeface="맑은 고딕"/>
              <a:ea typeface="맑은 고딕"/>
              <a:cs typeface="맑은 고딕"/>
            </a:endParaRPr>
          </a:p>
        </p:txBody>
      </p:sp>
      <p:sp>
        <p:nvSpPr>
          <p:cNvPr id="7" name="given_card"/>
          <p:cNvSpPr/>
          <p:nvPr/>
        </p:nvSpPr>
        <p:spPr>
          <a:xfrm>
            <a:off x="457200" y="950976"/>
            <a:ext cx="11277295" cy="507238"/>
          </a:xfrm>
          <a:prstGeom prst="roundRect">
            <a:avLst>
              <a:gd name="adj" fmla="val 6000"/>
            </a:avLst>
          </a:prstGeom>
          <a:solidFill>
            <a:srgbClr val="FFFFFF"/>
          </a:solidFill>
          <a:ln w="15875">
            <a:solidFill>
              <a:srgbClr val="1E2A5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given"/>
          <p:cNvSpPr txBox="1"/>
          <p:nvPr/>
        </p:nvSpPr>
        <p:spPr>
          <a:xfrm>
            <a:off x="457200" y="950976"/>
            <a:ext cx="11277295" cy="507238"/>
          </a:xfrm>
          <a:prstGeom prst="rect">
            <a:avLst/>
          </a:prstGeom>
          <a:noFill/>
        </p:spPr>
        <p:txBody>
          <a:bodyPr wrap="square" lIns="201168" tIns="100584" rIns="201168" bIns="100584"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주어진 문장</a:t>
            </a:r>
            <a:r>
              <a:rPr lang="en-US" altLang="ko-KR" sz="1700" b="0" dirty="0">
                <a:solidFill>
                  <a:srgbClr val="1F2328"/>
                </a:solidFill>
                <a:latin typeface="Calibri"/>
                <a:ea typeface="맑은 고딕"/>
                <a:cs typeface="Calibri"/>
              </a:rPr>
              <a:t>   Sherpas have good climbing skills and know their way around the mountains well.</a:t>
            </a:r>
            <a:endParaRPr lang="en-US" altLang="ko-KR" sz="1700" b="0" dirty="0">
              <a:solidFill>
                <a:srgbClr val="1F2328"/>
              </a:solidFill>
              <a:latin typeface="Calibri"/>
              <a:ea typeface="맑은 고딕"/>
              <a:cs typeface="Calibri"/>
            </a:endParaRPr>
          </a:p>
        </p:txBody>
      </p:sp>
      <p:sp>
        <p:nvSpPr>
          <p:cNvPr id="9" name="passage_card"/>
          <p:cNvSpPr/>
          <p:nvPr/>
        </p:nvSpPr>
        <p:spPr>
          <a:xfrm>
            <a:off x="457200" y="1604518"/>
            <a:ext cx="11277295" cy="222504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passage"/>
          <p:cNvSpPr txBox="1"/>
          <p:nvPr/>
        </p:nvSpPr>
        <p:spPr>
          <a:xfrm>
            <a:off x="457200" y="1604518"/>
            <a:ext cx="11277295" cy="2225040"/>
          </a:xfrm>
          <a:prstGeom prst="rect">
            <a:avLst/>
          </a:prstGeom>
          <a:noFill/>
        </p:spPr>
        <p:txBody>
          <a:bodyPr wrap="square" lIns="201168" tIns="118872" rIns="201168" bIns="118872" anchor="t" rtlCol="0">
            <a:noAutofit/>
          </a:bodyPr>
          <a:lstStyle/>
          <a:p>
            <a:pPr algn="just">
              <a:lnSpc>
                <a:spcPts val="2560"/>
              </a:lnSpc>
              <a:spcBef>
                <a:spcPts val="0"/>
              </a:spcBef>
              <a:spcAft>
                <a:spcPts val="0"/>
              </a:spcAft>
              <a:buNone/>
            </a:pPr>
            <a:r>
              <a:rPr lang="en-US" altLang="ko-KR" sz="1700" b="0" dirty="0">
                <a:solidFill>
                  <a:srgbClr val="1F2328"/>
                </a:solidFill>
                <a:latin typeface="Calibri"/>
                <a:ea typeface="맑은 고딕"/>
                <a:cs typeface="Calibri"/>
              </a:rPr>
              <a:t>The word Sherpa comes from the Sherpa tribe, which lives in the eastern part of Nepal. </a:t>
            </a:r>
            <a:r>
              <a:rPr lang="ko-KR" altLang="en-US" sz="1800" b="1" dirty="0">
                <a:solidFill>
                  <a:srgbClr val="1E2A5A"/>
                </a:solidFill>
                <a:latin typeface="맑은 고딕"/>
                <a:ea typeface="맑은 고딕"/>
                <a:cs typeface="맑은 고딕"/>
              </a:rPr>
              <a:t>②</a:t>
            </a:r>
            <a:r>
              <a:rPr lang="en-US" altLang="ko-KR" sz="1700" b="0" dirty="0">
                <a:solidFill>
                  <a:srgbClr val="1F2328"/>
                </a:solidFill>
                <a:latin typeface="Calibri"/>
                <a:ea typeface="맑은 고딕"/>
                <a:cs typeface="Calibri"/>
              </a:rPr>
              <a:t> They also have little difficulty breathing high up in the mountains. </a:t>
            </a:r>
            <a:r>
              <a:rPr lang="ko-KR" altLang="en-US" sz="1800" b="1" dirty="0">
                <a:solidFill>
                  <a:srgbClr val="1E2A5A"/>
                </a:solidFill>
                <a:latin typeface="맑은 고딕"/>
                <a:ea typeface="맑은 고딕"/>
                <a:cs typeface="맑은 고딕"/>
              </a:rPr>
              <a:t>③</a:t>
            </a:r>
            <a:r>
              <a:rPr lang="en-US" altLang="ko-KR" sz="1700" b="0" dirty="0">
                <a:solidFill>
                  <a:srgbClr val="1F2328"/>
                </a:solidFill>
                <a:latin typeface="Calibri"/>
                <a:ea typeface="맑은 고딕"/>
                <a:cs typeface="Calibri"/>
              </a:rPr>
              <a:t> Therefore, mountain climbers started to hire Sherpas to help them climb Mount Everest. </a:t>
            </a:r>
            <a:r>
              <a:rPr lang="ko-KR" altLang="en-US" sz="1800" b="1" dirty="0">
                <a:solidFill>
                  <a:srgbClr val="1E2A5A"/>
                </a:solidFill>
                <a:latin typeface="맑은 고딕"/>
                <a:ea typeface="맑은 고딕"/>
                <a:cs typeface="맑은 고딕"/>
              </a:rPr>
              <a:t>④</a:t>
            </a:r>
            <a:r>
              <a:rPr lang="en-US" altLang="ko-KR" sz="1700" b="0" dirty="0">
                <a:solidFill>
                  <a:srgbClr val="1F2328"/>
                </a:solidFill>
                <a:latin typeface="Calibri"/>
                <a:ea typeface="맑은 고딕"/>
                <a:cs typeface="Calibri"/>
              </a:rPr>
              <a:t> Sherpas lead mountain climbers to the top of the mountain. </a:t>
            </a:r>
            <a:r>
              <a:rPr lang="ko-KR" altLang="en-US" sz="1800" b="1" dirty="0">
                <a:solidFill>
                  <a:srgbClr val="1E2A5A"/>
                </a:solidFill>
                <a:latin typeface="맑은 고딕"/>
                <a:ea typeface="맑은 고딕"/>
                <a:cs typeface="맑은 고딕"/>
              </a:rPr>
              <a:t>⑤</a:t>
            </a:r>
            <a:r>
              <a:rPr lang="en-US" altLang="ko-KR" sz="1700" b="0" dirty="0">
                <a:solidFill>
                  <a:srgbClr val="1F2328"/>
                </a:solidFill>
                <a:latin typeface="Calibri"/>
                <a:ea typeface="맑은 고딕"/>
                <a:cs typeface="Calibri"/>
              </a:rPr>
              <a:t> They support climbers in many ways. For example, they put up tents and carry climbers’ bags. Sherpas are often called the invisible people of Mount Everest because people often see a picture of only the climbers at the top of the mountain.</a:t>
            </a:r>
            <a:endParaRPr lang="en-US" altLang="ko-KR" sz="1700" b="0" dirty="0">
              <a:solidFill>
                <a:srgbClr val="1F2328"/>
              </a:solidFill>
              <a:latin typeface="Calibri"/>
              <a:ea typeface="맑은 고딕"/>
              <a:cs typeface="Calibri"/>
            </a:endParaRPr>
          </a:p>
        </p:txBody>
      </p:sp>
      <p:sp>
        <p:nvSpPr>
          <p:cNvPr id="11" name="rv_pick"/>
          <p:cNvSpPr txBox="1"/>
          <p:nvPr/>
        </p:nvSpPr>
        <p:spPr>
          <a:xfrm>
            <a:off x="457200" y="1604518"/>
            <a:ext cx="11277295" cy="2225040"/>
          </a:xfrm>
          <a:prstGeom prst="rect">
            <a:avLst/>
          </a:prstGeom>
          <a:noFill/>
        </p:spPr>
        <p:txBody>
          <a:bodyPr wrap="square" lIns="201168" tIns="118872" rIns="201168" bIns="118872" anchor="t" rtlCol="0">
            <a:noAutofit/>
          </a:bodyPr>
          <a:lstStyle/>
          <a:p>
            <a:pPr algn="just">
              <a:lnSpc>
                <a:spcPts val="2560"/>
              </a:lnSpc>
              <a:spcBef>
                <a:spcPts val="0"/>
              </a:spcBef>
              <a:spcAft>
                <a:spcPts val="0"/>
              </a:spcAft>
              <a:buNone/>
            </a:pPr>
            <a:r>
              <a:rPr lang="en-US" altLang="ko-KR" sz="1700" b="0" dirty="0">
                <a:solidFill>
                  <a:srgbClr val="1F2328">
                    <a:alpha val="0"/>
                  </a:srgbClr>
                </a:solidFill>
                <a:latin typeface="Calibri"/>
                <a:ea typeface="맑은 고딕"/>
                <a:cs typeface="Calibri"/>
              </a:rPr>
              <a:t>The word Sherpa comes from the Sherpa tribe, which lives in the eastern part of Nepal. </a:t>
            </a:r>
            <a:r>
              <a:rPr lang="ko-KR" altLang="en-US" sz="1800" b="1" dirty="0">
                <a:solidFill>
                  <a:srgbClr val="C00000"/>
                </a:solidFill>
                <a:highlight>
                  <a:srgbClr val="F3F5F9"/>
                </a:highlight>
                <a:latin typeface="맑은 고딕"/>
                <a:ea typeface="맑은 고딕"/>
                <a:cs typeface="맑은 고딕"/>
              </a:rPr>
              <a:t>②</a:t>
            </a:r>
            <a:r>
              <a:rPr lang="en-US" altLang="ko-KR" sz="1700" b="0" dirty="0">
                <a:solidFill>
                  <a:srgbClr val="1F2328">
                    <a:alpha val="0"/>
                  </a:srgbClr>
                </a:solidFill>
                <a:latin typeface="Calibri"/>
                <a:ea typeface="맑은 고딕"/>
                <a:cs typeface="Calibri"/>
              </a:rPr>
              <a:t> They also have little difficulty breathing high up in the mountains. </a:t>
            </a:r>
            <a:r>
              <a:rPr lang="ko-KR" altLang="en-US" sz="1800" b="1" dirty="0">
                <a:solidFill>
                  <a:srgbClr val="1E2A5A">
                    <a:alpha val="0"/>
                  </a:srgbClr>
                </a:solidFill>
                <a:latin typeface="맑은 고딕"/>
                <a:ea typeface="맑은 고딕"/>
                <a:cs typeface="맑은 고딕"/>
              </a:rPr>
              <a:t>③</a:t>
            </a:r>
            <a:r>
              <a:rPr lang="en-US" altLang="ko-KR" sz="1700" b="0" dirty="0">
                <a:solidFill>
                  <a:srgbClr val="1F2328">
                    <a:alpha val="0"/>
                  </a:srgbClr>
                </a:solidFill>
                <a:latin typeface="Calibri"/>
                <a:ea typeface="맑은 고딕"/>
                <a:cs typeface="Calibri"/>
              </a:rPr>
              <a:t> Therefore, mountain climbers started to hire Sherpas to help them climb Mount Everest. </a:t>
            </a:r>
            <a:r>
              <a:rPr lang="ko-KR" altLang="en-US" sz="1800" b="1" dirty="0">
                <a:solidFill>
                  <a:srgbClr val="1E2A5A">
                    <a:alpha val="0"/>
                  </a:srgbClr>
                </a:solidFill>
                <a:latin typeface="맑은 고딕"/>
                <a:ea typeface="맑은 고딕"/>
                <a:cs typeface="맑은 고딕"/>
              </a:rPr>
              <a:t>④</a:t>
            </a:r>
            <a:r>
              <a:rPr lang="en-US" altLang="ko-KR" sz="1700" b="0" dirty="0">
                <a:solidFill>
                  <a:srgbClr val="1F2328">
                    <a:alpha val="0"/>
                  </a:srgbClr>
                </a:solidFill>
                <a:latin typeface="Calibri"/>
                <a:ea typeface="맑은 고딕"/>
                <a:cs typeface="Calibri"/>
              </a:rPr>
              <a:t> Sherpas lead mountain climbers to the top of the mountain. </a:t>
            </a:r>
            <a:r>
              <a:rPr lang="ko-KR" altLang="en-US" sz="1800" b="1" dirty="0">
                <a:solidFill>
                  <a:srgbClr val="1E2A5A">
                    <a:alpha val="0"/>
                  </a:srgbClr>
                </a:solidFill>
                <a:latin typeface="맑은 고딕"/>
                <a:ea typeface="맑은 고딕"/>
                <a:cs typeface="맑은 고딕"/>
              </a:rPr>
              <a:t>⑤</a:t>
            </a:r>
            <a:r>
              <a:rPr lang="en-US" altLang="ko-KR" sz="1700" b="0" dirty="0">
                <a:solidFill>
                  <a:srgbClr val="1F2328">
                    <a:alpha val="0"/>
                  </a:srgbClr>
                </a:solidFill>
                <a:latin typeface="Calibri"/>
                <a:ea typeface="맑은 고딕"/>
                <a:cs typeface="Calibri"/>
              </a:rPr>
              <a:t> They support climbers in many ways. For example, they put up tents and carry climbers’ bags. Sherpas are often called the invisible people of Mount Everest because people often see a picture of only the climbers at the top of the mountain.</a:t>
            </a:r>
            <a:endParaRPr lang="en-US" altLang="ko-KR" sz="1700" b="0" dirty="0">
              <a:solidFill>
                <a:srgbClr val="1F2328"/>
              </a:solidFill>
              <a:latin typeface="Calibri"/>
              <a:ea typeface="맑은 고딕"/>
              <a:cs typeface="Calibri"/>
            </a:endParaRPr>
          </a:p>
        </p:txBody>
      </p:sp>
      <p:sp>
        <p:nvSpPr>
          <p:cNvPr id="12" name="rv_answer"/>
          <p:cNvSpPr/>
          <p:nvPr/>
        </p:nvSpPr>
        <p:spPr>
          <a:xfrm>
            <a:off x="457200" y="393928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②</a:t>
            </a:r>
            <a:endParaRPr lang="ko-KR" altLang="en-US" sz="1900" b="1" dirty="0">
              <a:solidFill>
                <a:srgbClr val="5A4200"/>
              </a:solidFill>
              <a:latin typeface="맑은 고딕"/>
              <a:ea typeface="맑은 고딕"/>
              <a:cs typeface="맑은 고딕"/>
            </a:endParaRPr>
          </a:p>
        </p:txBody>
      </p:sp>
      <p:sp>
        <p:nvSpPr>
          <p:cNvPr id="13" name="rv_why"/>
          <p:cNvSpPr/>
          <p:nvPr/>
        </p:nvSpPr>
        <p:spPr>
          <a:xfrm>
            <a:off x="457200" y="4538218"/>
            <a:ext cx="11277295" cy="188086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② 뒤 'They also have'의 also는 앞에 셰르파의 다른 장점이 있어야 쓴다. 등반 기술을 말하는 주어진 문장이 ②에 들어간다.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25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25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2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Lst>
  </p:timing>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L5-4</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3 · ①</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다음 글의 각 [  ] 안에서 문맥상 알맞은 것을 고르시오.</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5</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클릭할 때마다 괄호 속 정답이 앞에서부터 하나씩 빨간색으로 나타납니다 (총 5개)</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5284216"/>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5284216"/>
          </a:xfrm>
          <a:prstGeom prst="rect">
            <a:avLst/>
          </a:prstGeom>
          <a:noFill/>
        </p:spPr>
        <p:txBody>
          <a:bodyPr wrap="square" lIns="228600" tIns="155448" rIns="228600" bIns="155448" anchor="t" rtlCol="0">
            <a:noAutofit/>
          </a:bodyPr>
          <a:lstStyle/>
          <a:p>
            <a:pPr algn="l">
              <a:lnSpc>
                <a:spcPts val="3560"/>
              </a:lnSpc>
              <a:spcBef>
                <a:spcPts val="0"/>
              </a:spcBef>
              <a:spcAft>
                <a:spcPts val="0"/>
              </a:spcAft>
              <a:buNone/>
            </a:pPr>
            <a:r>
              <a:rPr lang="ko-KR" altLang="en-US" sz="2200" b="1" dirty="0">
                <a:solidFill>
                  <a:srgbClr val="1E2A5A"/>
                </a:solidFill>
                <a:latin typeface="맑은 고딕"/>
                <a:ea typeface="맑은 고딕"/>
                <a:cs typeface="맑은 고딕"/>
              </a:rPr>
              <a:t>①</a:t>
            </a:r>
            <a:r>
              <a:rPr lang="en-US" altLang="ko-KR" sz="2200" b="0"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The word Sherpa comes from the Sherpa tribe, </a:t>
            </a:r>
            <a:r>
              <a:rPr lang="en-US" altLang="ko-KR" sz="2200" b="1" dirty="0">
                <a:solidFill>
                  <a:srgbClr val="1F2328"/>
                </a:solidFill>
                <a:latin typeface="Calibri"/>
                <a:ea typeface="맑은 고딕"/>
                <a:cs typeface="Calibri"/>
              </a:rPr>
              <a:t>[ </a:t>
            </a:r>
            <a:r>
              <a:rPr lang="en-US" altLang="ko-KR" sz="2200" b="1" dirty="0">
                <a:solidFill>
                  <a:srgbClr val="1F2328"/>
                </a:solidFill>
                <a:latin typeface="Calibri"/>
                <a:ea typeface="맑은 고딕"/>
                <a:cs typeface="Calibri"/>
              </a:rPr>
              <a:t>where lives</a:t>
            </a:r>
            <a:r>
              <a:rPr lang="en-US" altLang="ko-KR" sz="2200" b="1" dirty="0">
                <a:solidFill>
                  <a:srgbClr val="1F2328"/>
                </a:solidFill>
                <a:latin typeface="Calibri"/>
                <a:ea typeface="맑은 고딕"/>
                <a:cs typeface="Calibri"/>
              </a:rPr>
              <a:t> / </a:t>
            </a:r>
            <a:r>
              <a:rPr lang="en-US" altLang="ko-KR" sz="2200" b="1" dirty="0">
                <a:solidFill>
                  <a:srgbClr val="1F2328"/>
                </a:solidFill>
                <a:latin typeface="Calibri"/>
                <a:ea typeface="맑은 고딕"/>
                <a:cs typeface="Calibri"/>
              </a:rPr>
              <a:t>which lives</a:t>
            </a:r>
            <a:r>
              <a:rPr lang="en-US" altLang="ko-KR" sz="2200" b="1"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 in the eastern part of Nepal.</a:t>
            </a:r>
            <a:r>
              <a:rPr lang="en-US" altLang="ko-KR" sz="2200" b="0" dirty="0">
                <a:solidFill>
                  <a:srgbClr val="1F2328"/>
                </a:solidFill>
                <a:latin typeface="Calibri"/>
                <a:ea typeface="맑은 고딕"/>
                <a:cs typeface="Calibri"/>
              </a:rPr>
              <a:t>   </a:t>
            </a:r>
            <a:r>
              <a:rPr lang="ko-KR" altLang="en-US" sz="2200" b="1" dirty="0">
                <a:solidFill>
                  <a:srgbClr val="1E2A5A"/>
                </a:solidFill>
                <a:latin typeface="맑은 고딕"/>
                <a:ea typeface="맑은 고딕"/>
                <a:cs typeface="맑은 고딕"/>
              </a:rPr>
              <a:t>②</a:t>
            </a:r>
            <a:r>
              <a:rPr lang="en-US" altLang="ko-KR" sz="2200" b="0"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Sherpas have good climbing skills and know their way around the mountains well.</a:t>
            </a:r>
            <a:r>
              <a:rPr lang="en-US" altLang="ko-KR" sz="2200" b="0" dirty="0">
                <a:solidFill>
                  <a:srgbClr val="1F2328"/>
                </a:solidFill>
                <a:latin typeface="Calibri"/>
                <a:ea typeface="맑은 고딕"/>
                <a:cs typeface="Calibri"/>
              </a:rPr>
              <a:t>   </a:t>
            </a:r>
            <a:r>
              <a:rPr lang="ko-KR" altLang="en-US" sz="2200" b="1" dirty="0">
                <a:solidFill>
                  <a:srgbClr val="1E2A5A"/>
                </a:solidFill>
                <a:latin typeface="맑은 고딕"/>
                <a:ea typeface="맑은 고딕"/>
                <a:cs typeface="맑은 고딕"/>
              </a:rPr>
              <a:t>③</a:t>
            </a:r>
            <a:r>
              <a:rPr lang="en-US" altLang="ko-KR" sz="2200" b="0"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They also have little difficulty </a:t>
            </a:r>
            <a:r>
              <a:rPr lang="en-US" altLang="ko-KR" sz="2200" b="1" dirty="0">
                <a:solidFill>
                  <a:srgbClr val="1F2328"/>
                </a:solidFill>
                <a:latin typeface="Calibri"/>
                <a:ea typeface="맑은 고딕"/>
                <a:cs typeface="Calibri"/>
              </a:rPr>
              <a:t>[ </a:t>
            </a:r>
            <a:r>
              <a:rPr lang="en-US" altLang="ko-KR" sz="2200" b="1" dirty="0">
                <a:solidFill>
                  <a:srgbClr val="1F2328"/>
                </a:solidFill>
                <a:latin typeface="Calibri"/>
                <a:ea typeface="맑은 고딕"/>
                <a:cs typeface="Calibri"/>
              </a:rPr>
              <a:t>breathing</a:t>
            </a:r>
            <a:r>
              <a:rPr lang="en-US" altLang="ko-KR" sz="2200" b="1" dirty="0">
                <a:solidFill>
                  <a:srgbClr val="1F2328"/>
                </a:solidFill>
                <a:latin typeface="Calibri"/>
                <a:ea typeface="맑은 고딕"/>
                <a:cs typeface="Calibri"/>
              </a:rPr>
              <a:t> / </a:t>
            </a:r>
            <a:r>
              <a:rPr lang="en-US" altLang="ko-KR" sz="2200" b="1" dirty="0">
                <a:solidFill>
                  <a:srgbClr val="1F2328"/>
                </a:solidFill>
                <a:latin typeface="Calibri"/>
                <a:ea typeface="맑은 고딕"/>
                <a:cs typeface="Calibri"/>
              </a:rPr>
              <a:t>to breathe</a:t>
            </a:r>
            <a:r>
              <a:rPr lang="en-US" altLang="ko-KR" sz="2200" b="1"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 high up in the mountains.</a:t>
            </a:r>
            <a:r>
              <a:rPr lang="en-US" altLang="ko-KR" sz="2200" b="0" dirty="0">
                <a:solidFill>
                  <a:srgbClr val="1F2328"/>
                </a:solidFill>
                <a:latin typeface="Calibri"/>
                <a:ea typeface="맑은 고딕"/>
                <a:cs typeface="Calibri"/>
              </a:rPr>
              <a:t>   </a:t>
            </a:r>
            <a:r>
              <a:rPr lang="ko-KR" altLang="en-US" sz="2200" b="1" dirty="0">
                <a:solidFill>
                  <a:srgbClr val="1E2A5A"/>
                </a:solidFill>
                <a:latin typeface="맑은 고딕"/>
                <a:ea typeface="맑은 고딕"/>
                <a:cs typeface="맑은 고딕"/>
              </a:rPr>
              <a:t>④</a:t>
            </a:r>
            <a:r>
              <a:rPr lang="en-US" altLang="ko-KR" sz="2200" b="0"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Therefore, mountain climbers started </a:t>
            </a:r>
            <a:r>
              <a:rPr lang="en-US" altLang="ko-KR" sz="2200" b="1" dirty="0">
                <a:solidFill>
                  <a:srgbClr val="1F2328"/>
                </a:solidFill>
                <a:latin typeface="Calibri"/>
                <a:ea typeface="맑은 고딕"/>
                <a:cs typeface="Calibri"/>
              </a:rPr>
              <a:t>[ </a:t>
            </a:r>
            <a:r>
              <a:rPr lang="en-US" altLang="ko-KR" sz="2200" b="1" dirty="0">
                <a:solidFill>
                  <a:srgbClr val="1F2328"/>
                </a:solidFill>
                <a:latin typeface="Calibri"/>
                <a:ea typeface="맑은 고딕"/>
                <a:cs typeface="Calibri"/>
              </a:rPr>
              <a:t>to hire</a:t>
            </a:r>
            <a:r>
              <a:rPr lang="en-US" altLang="ko-KR" sz="2200" b="1" dirty="0">
                <a:solidFill>
                  <a:srgbClr val="1F2328"/>
                </a:solidFill>
                <a:latin typeface="Calibri"/>
                <a:ea typeface="맑은 고딕"/>
                <a:cs typeface="Calibri"/>
              </a:rPr>
              <a:t> / </a:t>
            </a:r>
            <a:r>
              <a:rPr lang="en-US" altLang="ko-KR" sz="2200" b="1" dirty="0">
                <a:solidFill>
                  <a:srgbClr val="1F2328"/>
                </a:solidFill>
                <a:latin typeface="Calibri"/>
                <a:ea typeface="맑은 고딕"/>
                <a:cs typeface="Calibri"/>
              </a:rPr>
              <a:t>hired</a:t>
            </a:r>
            <a:r>
              <a:rPr lang="en-US" altLang="ko-KR" sz="2200" b="1"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 Sherpas to help them </a:t>
            </a:r>
            <a:r>
              <a:rPr lang="en-US" altLang="ko-KR" sz="2200" b="1" dirty="0">
                <a:solidFill>
                  <a:srgbClr val="1F2328"/>
                </a:solidFill>
                <a:latin typeface="Calibri"/>
                <a:ea typeface="맑은 고딕"/>
                <a:cs typeface="Calibri"/>
              </a:rPr>
              <a:t>[ </a:t>
            </a:r>
            <a:r>
              <a:rPr lang="en-US" altLang="ko-KR" sz="2200" b="1" dirty="0">
                <a:solidFill>
                  <a:srgbClr val="1F2328"/>
                </a:solidFill>
                <a:latin typeface="Calibri"/>
                <a:ea typeface="맑은 고딕"/>
                <a:cs typeface="Calibri"/>
              </a:rPr>
              <a:t>climb Mount</a:t>
            </a:r>
            <a:r>
              <a:rPr lang="en-US" altLang="ko-KR" sz="2200" b="1" dirty="0">
                <a:solidFill>
                  <a:srgbClr val="1F2328"/>
                </a:solidFill>
                <a:latin typeface="Calibri"/>
                <a:ea typeface="맑은 고딕"/>
                <a:cs typeface="Calibri"/>
              </a:rPr>
              <a:t> / </a:t>
            </a:r>
            <a:r>
              <a:rPr lang="en-US" altLang="ko-KR" sz="2200" b="1" dirty="0">
                <a:solidFill>
                  <a:srgbClr val="1F2328"/>
                </a:solidFill>
                <a:latin typeface="Calibri"/>
                <a:ea typeface="맑은 고딕"/>
                <a:cs typeface="Calibri"/>
              </a:rPr>
              <a:t>climbing Mount</a:t>
            </a:r>
            <a:r>
              <a:rPr lang="en-US" altLang="ko-KR" sz="2200" b="1"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 Everest.</a:t>
            </a:r>
            <a:r>
              <a:rPr lang="en-US" altLang="ko-KR" sz="2200" b="0" dirty="0">
                <a:solidFill>
                  <a:srgbClr val="1F2328"/>
                </a:solidFill>
                <a:latin typeface="Calibri"/>
                <a:ea typeface="맑은 고딕"/>
                <a:cs typeface="Calibri"/>
              </a:rPr>
              <a:t>   </a:t>
            </a:r>
            <a:r>
              <a:rPr lang="ko-KR" altLang="en-US" sz="2200" b="1" dirty="0">
                <a:solidFill>
                  <a:srgbClr val="1E2A5A"/>
                </a:solidFill>
                <a:latin typeface="맑은 고딕"/>
                <a:ea typeface="맑은 고딕"/>
                <a:cs typeface="맑은 고딕"/>
              </a:rPr>
              <a:t>⑤</a:t>
            </a:r>
            <a:r>
              <a:rPr lang="en-US" altLang="ko-KR" sz="2200" b="0"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Sherpas lead mountain climbers to the top of the mountain.</a:t>
            </a:r>
            <a:r>
              <a:rPr lang="en-US" altLang="ko-KR" sz="2200" b="0" dirty="0">
                <a:solidFill>
                  <a:srgbClr val="1F2328"/>
                </a:solidFill>
                <a:latin typeface="Calibri"/>
                <a:ea typeface="맑은 고딕"/>
                <a:cs typeface="Calibri"/>
              </a:rPr>
              <a:t>   </a:t>
            </a:r>
            <a:r>
              <a:rPr lang="ko-KR" altLang="en-US" sz="2200" b="1" dirty="0">
                <a:solidFill>
                  <a:srgbClr val="1E2A5A"/>
                </a:solidFill>
                <a:latin typeface="맑은 고딕"/>
                <a:ea typeface="맑은 고딕"/>
                <a:cs typeface="맑은 고딕"/>
              </a:rPr>
              <a:t>⑥</a:t>
            </a:r>
            <a:r>
              <a:rPr lang="en-US" altLang="ko-KR" sz="2200" b="0"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They support climbers in many ways.</a:t>
            </a:r>
            <a:r>
              <a:rPr lang="en-US" altLang="ko-KR" sz="2200" b="0" dirty="0">
                <a:solidFill>
                  <a:srgbClr val="1F2328"/>
                </a:solidFill>
                <a:latin typeface="Calibri"/>
                <a:ea typeface="맑은 고딕"/>
                <a:cs typeface="Calibri"/>
              </a:rPr>
              <a:t>   </a:t>
            </a:r>
            <a:r>
              <a:rPr lang="ko-KR" altLang="en-US" sz="2200" b="1" dirty="0">
                <a:solidFill>
                  <a:srgbClr val="1E2A5A"/>
                </a:solidFill>
                <a:latin typeface="맑은 고딕"/>
                <a:ea typeface="맑은 고딕"/>
                <a:cs typeface="맑은 고딕"/>
              </a:rPr>
              <a:t>⑦</a:t>
            </a:r>
            <a:r>
              <a:rPr lang="en-US" altLang="ko-KR" sz="2200" b="0"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For example, they put up tents and carry climbers’ bags.</a:t>
            </a:r>
            <a:r>
              <a:rPr lang="en-US" altLang="ko-KR" sz="2200" b="0" dirty="0">
                <a:solidFill>
                  <a:srgbClr val="1F2328"/>
                </a:solidFill>
                <a:latin typeface="Calibri"/>
                <a:ea typeface="맑은 고딕"/>
                <a:cs typeface="Calibri"/>
              </a:rPr>
              <a:t>   </a:t>
            </a:r>
            <a:r>
              <a:rPr lang="ko-KR" altLang="en-US" sz="2200" b="1" dirty="0">
                <a:solidFill>
                  <a:srgbClr val="1E2A5A"/>
                </a:solidFill>
                <a:latin typeface="맑은 고딕"/>
                <a:ea typeface="맑은 고딕"/>
                <a:cs typeface="맑은 고딕"/>
              </a:rPr>
              <a:t>⑧</a:t>
            </a:r>
            <a:r>
              <a:rPr lang="en-US" altLang="ko-KR" sz="2200" b="0"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Sherpas </a:t>
            </a:r>
            <a:r>
              <a:rPr lang="en-US" altLang="ko-KR" sz="2200" b="1" dirty="0">
                <a:solidFill>
                  <a:srgbClr val="1F2328"/>
                </a:solidFill>
                <a:latin typeface="Calibri"/>
                <a:ea typeface="맑은 고딕"/>
                <a:cs typeface="Calibri"/>
              </a:rPr>
              <a:t>[ </a:t>
            </a:r>
            <a:r>
              <a:rPr lang="en-US" altLang="ko-KR" sz="2200" b="1" dirty="0">
                <a:solidFill>
                  <a:srgbClr val="1F2328"/>
                </a:solidFill>
                <a:latin typeface="Calibri"/>
                <a:ea typeface="맑은 고딕"/>
                <a:cs typeface="Calibri"/>
              </a:rPr>
              <a:t>often call</a:t>
            </a:r>
            <a:r>
              <a:rPr lang="en-US" altLang="ko-KR" sz="2200" b="1" dirty="0">
                <a:solidFill>
                  <a:srgbClr val="1F2328"/>
                </a:solidFill>
                <a:latin typeface="Calibri"/>
                <a:ea typeface="맑은 고딕"/>
                <a:cs typeface="Calibri"/>
              </a:rPr>
              <a:t> / </a:t>
            </a:r>
            <a:r>
              <a:rPr lang="en-US" altLang="ko-KR" sz="2200" b="1" dirty="0">
                <a:solidFill>
                  <a:srgbClr val="1F2328"/>
                </a:solidFill>
                <a:latin typeface="Calibri"/>
                <a:ea typeface="맑은 고딕"/>
                <a:cs typeface="Calibri"/>
              </a:rPr>
              <a:t>are often called</a:t>
            </a:r>
            <a:r>
              <a:rPr lang="en-US" altLang="ko-KR" sz="2200" b="1"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 the invisible people of Mount Everest because people often see a picture of only the climbers at the top of the mountain.</a:t>
            </a:r>
            <a:endParaRPr lang="en-US" altLang="ko-KR" sz="2200" b="0" dirty="0">
              <a:solidFill>
                <a:srgbClr val="1F2328"/>
              </a:solidFill>
              <a:latin typeface="Calibri"/>
              <a:ea typeface="맑은 고딕"/>
              <a:cs typeface="Calibri"/>
            </a:endParaRPr>
          </a:p>
        </p:txBody>
      </p:sp>
      <p:sp>
        <p:nvSpPr>
          <p:cNvPr id="9" name="rv_g01"/>
          <p:cNvSpPr txBox="1"/>
          <p:nvPr/>
        </p:nvSpPr>
        <p:spPr>
          <a:xfrm>
            <a:off x="457200" y="950976"/>
            <a:ext cx="11277295" cy="5284216"/>
          </a:xfrm>
          <a:prstGeom prst="rect">
            <a:avLst/>
          </a:prstGeom>
          <a:noFill/>
        </p:spPr>
        <p:txBody>
          <a:bodyPr wrap="square" lIns="228600" tIns="155448" rIns="228600" bIns="155448" anchor="t" rtlCol="0">
            <a:noAutofit/>
          </a:bodyPr>
          <a:lstStyle/>
          <a:p>
            <a:pPr algn="l">
              <a:lnSpc>
                <a:spcPts val="3560"/>
              </a:lnSpc>
              <a:spcBef>
                <a:spcPts val="0"/>
              </a:spcBef>
              <a:spcAft>
                <a:spcPts val="0"/>
              </a:spcAft>
              <a:buNone/>
            </a:pPr>
            <a:r>
              <a:rPr lang="ko-KR" altLang="en-US" sz="2200" b="1" dirty="0">
                <a:solidFill>
                  <a:srgbClr val="1E2A5A">
                    <a:alpha val="0"/>
                  </a:srgbClr>
                </a:solidFill>
                <a:latin typeface="맑은 고딕"/>
                <a:ea typeface="맑은 고딕"/>
                <a:cs typeface="맑은 고딕"/>
              </a:rPr>
              <a:t>①</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 word Sherpa comes from the Sherpa tribe,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where lives</a:t>
            </a:r>
            <a:r>
              <a:rPr lang="en-US" altLang="ko-KR" sz="2200" b="1" dirty="0">
                <a:solidFill>
                  <a:srgbClr val="1F2328">
                    <a:alpha val="0"/>
                  </a:srgbClr>
                </a:solidFill>
                <a:latin typeface="Calibri"/>
                <a:ea typeface="맑은 고딕"/>
                <a:cs typeface="Calibri"/>
              </a:rPr>
              <a:t> / </a:t>
            </a:r>
            <a:r>
              <a:rPr lang="en-US" altLang="ko-KR" sz="2200" b="1" dirty="0">
                <a:solidFill>
                  <a:srgbClr val="C00000"/>
                </a:solidFill>
                <a:highlight>
                  <a:srgbClr val="F3F5F9"/>
                </a:highlight>
                <a:latin typeface="Calibri"/>
                <a:ea typeface="맑은 고딕"/>
                <a:cs typeface="Calibri"/>
              </a:rPr>
              <a:t>which lives</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in the eastern part of Nepal.</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②</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Sherpas have good climbing skills and know their way around the mountains well.</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③</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They also have little difficulty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breathing</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to breathe</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high up in the mountains.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④</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Therefore, mountain climbers started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to hire</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hired</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Sherpas to help them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climb Mount</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climbing Mount</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Everest.</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⑤</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Sherpas lead mountain climbers to the top of the mountain.</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⑥</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They support climbers in many ways.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⑦</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For example, they put up tents and carry climbers’ bags.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⑧</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Sherpas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often call</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are often called</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 invisible people of Mount Everest because people often see a picture of only the climbers at the top of the mountain.</a:t>
            </a:r>
            <a:endParaRPr lang="en-US" altLang="ko-KR" sz="2200" b="0" dirty="0">
              <a:solidFill>
                <a:srgbClr val="1F2328"/>
              </a:solidFill>
              <a:latin typeface="Calibri"/>
              <a:ea typeface="맑은 고딕"/>
              <a:cs typeface="Calibri"/>
            </a:endParaRPr>
          </a:p>
        </p:txBody>
      </p:sp>
      <p:sp>
        <p:nvSpPr>
          <p:cNvPr id="10" name="rv_g02"/>
          <p:cNvSpPr txBox="1"/>
          <p:nvPr/>
        </p:nvSpPr>
        <p:spPr>
          <a:xfrm>
            <a:off x="457200" y="950976"/>
            <a:ext cx="11277295" cy="5284216"/>
          </a:xfrm>
          <a:prstGeom prst="rect">
            <a:avLst/>
          </a:prstGeom>
          <a:noFill/>
        </p:spPr>
        <p:txBody>
          <a:bodyPr wrap="square" lIns="228600" tIns="155448" rIns="228600" bIns="155448" anchor="t" rtlCol="0">
            <a:noAutofit/>
          </a:bodyPr>
          <a:lstStyle/>
          <a:p>
            <a:pPr algn="l">
              <a:lnSpc>
                <a:spcPts val="3560"/>
              </a:lnSpc>
              <a:spcBef>
                <a:spcPts val="0"/>
              </a:spcBef>
              <a:spcAft>
                <a:spcPts val="0"/>
              </a:spcAft>
              <a:buNone/>
            </a:pPr>
            <a:r>
              <a:rPr lang="ko-KR" altLang="en-US" sz="2200" b="1" dirty="0">
                <a:solidFill>
                  <a:srgbClr val="1E2A5A">
                    <a:alpha val="0"/>
                  </a:srgbClr>
                </a:solidFill>
                <a:latin typeface="맑은 고딕"/>
                <a:ea typeface="맑은 고딕"/>
                <a:cs typeface="맑은 고딕"/>
              </a:rPr>
              <a:t>①</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 word Sherpa comes from the Sherpa tribe,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where lives</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which lives</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in the eastern part of Nepal.</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②</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Sherpas have good climbing skills and know their way around the mountains well.</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③</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They also have little difficulty </a:t>
            </a:r>
            <a:r>
              <a:rPr lang="en-US" altLang="ko-KR" sz="2200" b="1" dirty="0">
                <a:solidFill>
                  <a:srgbClr val="1F2328">
                    <a:alpha val="0"/>
                  </a:srgbClr>
                </a:solidFill>
                <a:latin typeface="Calibri"/>
                <a:ea typeface="맑은 고딕"/>
                <a:cs typeface="Calibri"/>
              </a:rPr>
              <a:t>[ </a:t>
            </a:r>
            <a:r>
              <a:rPr lang="en-US" altLang="ko-KR" sz="2200" b="1" dirty="0">
                <a:solidFill>
                  <a:srgbClr val="C00000"/>
                </a:solidFill>
                <a:highlight>
                  <a:srgbClr val="F3F5F9"/>
                </a:highlight>
                <a:latin typeface="Calibri"/>
                <a:ea typeface="맑은 고딕"/>
                <a:cs typeface="Calibri"/>
              </a:rPr>
              <a:t>breathing</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to breathe</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high up in the mountains.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④</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Therefore, mountain climbers started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to hire</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hired</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Sherpas to help them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climb Mount</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climbing Mount</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Everest.</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⑤</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Sherpas lead mountain climbers to the top of the mountain.</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⑥</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They support climbers in many ways.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⑦</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For example, they put up tents and carry climbers’ bags.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⑧</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Sherpas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often call</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are often called</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 invisible people of Mount Everest because people often see a picture of only the climbers at the top of the mountain.</a:t>
            </a:r>
            <a:endParaRPr lang="en-US" altLang="ko-KR" sz="2200" b="0" dirty="0">
              <a:solidFill>
                <a:srgbClr val="1F2328"/>
              </a:solidFill>
              <a:latin typeface="Calibri"/>
              <a:ea typeface="맑은 고딕"/>
              <a:cs typeface="Calibri"/>
            </a:endParaRPr>
          </a:p>
        </p:txBody>
      </p:sp>
      <p:sp>
        <p:nvSpPr>
          <p:cNvPr id="11" name="rv_g03"/>
          <p:cNvSpPr txBox="1"/>
          <p:nvPr/>
        </p:nvSpPr>
        <p:spPr>
          <a:xfrm>
            <a:off x="457200" y="950976"/>
            <a:ext cx="11277295" cy="5284216"/>
          </a:xfrm>
          <a:prstGeom prst="rect">
            <a:avLst/>
          </a:prstGeom>
          <a:noFill/>
        </p:spPr>
        <p:txBody>
          <a:bodyPr wrap="square" lIns="228600" tIns="155448" rIns="228600" bIns="155448" anchor="t" rtlCol="0">
            <a:noAutofit/>
          </a:bodyPr>
          <a:lstStyle/>
          <a:p>
            <a:pPr algn="l">
              <a:lnSpc>
                <a:spcPts val="3560"/>
              </a:lnSpc>
              <a:spcBef>
                <a:spcPts val="0"/>
              </a:spcBef>
              <a:spcAft>
                <a:spcPts val="0"/>
              </a:spcAft>
              <a:buNone/>
            </a:pPr>
            <a:r>
              <a:rPr lang="ko-KR" altLang="en-US" sz="2200" b="1" dirty="0">
                <a:solidFill>
                  <a:srgbClr val="1E2A5A">
                    <a:alpha val="0"/>
                  </a:srgbClr>
                </a:solidFill>
                <a:latin typeface="맑은 고딕"/>
                <a:ea typeface="맑은 고딕"/>
                <a:cs typeface="맑은 고딕"/>
              </a:rPr>
              <a:t>①</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 word Sherpa comes from the Sherpa tribe,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where lives</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which lives</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in the eastern part of Nepal.</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②</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Sherpas have good climbing skills and know their way around the mountains well.</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③</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They also have little difficulty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breathing</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to breathe</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high up in the mountains.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④</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Therefore, mountain climbers started </a:t>
            </a:r>
            <a:r>
              <a:rPr lang="en-US" altLang="ko-KR" sz="2200" b="1" dirty="0">
                <a:solidFill>
                  <a:srgbClr val="1F2328">
                    <a:alpha val="0"/>
                  </a:srgbClr>
                </a:solidFill>
                <a:latin typeface="Calibri"/>
                <a:ea typeface="맑은 고딕"/>
                <a:cs typeface="Calibri"/>
              </a:rPr>
              <a:t>[ </a:t>
            </a:r>
            <a:r>
              <a:rPr lang="en-US" altLang="ko-KR" sz="2200" b="1" dirty="0">
                <a:solidFill>
                  <a:srgbClr val="C00000"/>
                </a:solidFill>
                <a:highlight>
                  <a:srgbClr val="F3F5F9"/>
                </a:highlight>
                <a:latin typeface="Calibri"/>
                <a:ea typeface="맑은 고딕"/>
                <a:cs typeface="Calibri"/>
              </a:rPr>
              <a:t>to hire</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hired</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Sherpas to help them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climb Mount</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climbing Mount</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Everest.</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⑤</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Sherpas lead mountain climbers to the top of the mountain.</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⑥</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They support climbers in many ways.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⑦</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For example, they put up tents and carry climbers’ bags.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⑧</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Sherpas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often call</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are often called</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 invisible people of Mount Everest because people often see a picture of only the climbers at the top of the mountain.</a:t>
            </a:r>
            <a:endParaRPr lang="en-US" altLang="ko-KR" sz="2200" b="0" dirty="0">
              <a:solidFill>
                <a:srgbClr val="1F2328"/>
              </a:solidFill>
              <a:latin typeface="Calibri"/>
              <a:ea typeface="맑은 고딕"/>
              <a:cs typeface="Calibri"/>
            </a:endParaRPr>
          </a:p>
        </p:txBody>
      </p:sp>
      <p:sp>
        <p:nvSpPr>
          <p:cNvPr id="12" name="rv_g04"/>
          <p:cNvSpPr txBox="1"/>
          <p:nvPr/>
        </p:nvSpPr>
        <p:spPr>
          <a:xfrm>
            <a:off x="457200" y="950976"/>
            <a:ext cx="11277295" cy="5284216"/>
          </a:xfrm>
          <a:prstGeom prst="rect">
            <a:avLst/>
          </a:prstGeom>
          <a:noFill/>
        </p:spPr>
        <p:txBody>
          <a:bodyPr wrap="square" lIns="228600" tIns="155448" rIns="228600" bIns="155448" anchor="t" rtlCol="0">
            <a:noAutofit/>
          </a:bodyPr>
          <a:lstStyle/>
          <a:p>
            <a:pPr algn="l">
              <a:lnSpc>
                <a:spcPts val="3560"/>
              </a:lnSpc>
              <a:spcBef>
                <a:spcPts val="0"/>
              </a:spcBef>
              <a:spcAft>
                <a:spcPts val="0"/>
              </a:spcAft>
              <a:buNone/>
            </a:pPr>
            <a:r>
              <a:rPr lang="ko-KR" altLang="en-US" sz="2200" b="1" dirty="0">
                <a:solidFill>
                  <a:srgbClr val="1E2A5A">
                    <a:alpha val="0"/>
                  </a:srgbClr>
                </a:solidFill>
                <a:latin typeface="맑은 고딕"/>
                <a:ea typeface="맑은 고딕"/>
                <a:cs typeface="맑은 고딕"/>
              </a:rPr>
              <a:t>①</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 word Sherpa comes from the Sherpa tribe,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where lives</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which lives</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in the eastern part of Nepal.</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②</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Sherpas have good climbing skills and know their way around the mountains well.</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③</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They also have little difficulty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breathing</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to breathe</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high up in the mountains.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④</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Therefore, mountain climbers started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to hire</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hired</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Sherpas to help them </a:t>
            </a:r>
            <a:r>
              <a:rPr lang="en-US" altLang="ko-KR" sz="2200" b="1" dirty="0">
                <a:solidFill>
                  <a:srgbClr val="1F2328">
                    <a:alpha val="0"/>
                  </a:srgbClr>
                </a:solidFill>
                <a:latin typeface="Calibri"/>
                <a:ea typeface="맑은 고딕"/>
                <a:cs typeface="Calibri"/>
              </a:rPr>
              <a:t>[ </a:t>
            </a:r>
            <a:r>
              <a:rPr lang="en-US" altLang="ko-KR" sz="2200" b="1" dirty="0">
                <a:solidFill>
                  <a:srgbClr val="C00000"/>
                </a:solidFill>
                <a:highlight>
                  <a:srgbClr val="F3F5F9"/>
                </a:highlight>
                <a:latin typeface="Calibri"/>
                <a:ea typeface="맑은 고딕"/>
                <a:cs typeface="Calibri"/>
              </a:rPr>
              <a:t>climb Mount</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climbing Mount</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Everest.</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⑤</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Sherpas lead mountain climbers to the top of the mountain.</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⑥</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They support climbers in many ways.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⑦</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For example, they put up tents and carry climbers’ bags.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⑧</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Sherpas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often call</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are often called</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 invisible people of Mount Everest because people often see a picture of only the climbers at the top of the mountain.</a:t>
            </a:r>
            <a:endParaRPr lang="en-US" altLang="ko-KR" sz="2200" b="0" dirty="0">
              <a:solidFill>
                <a:srgbClr val="1F2328"/>
              </a:solidFill>
              <a:latin typeface="Calibri"/>
              <a:ea typeface="맑은 고딕"/>
              <a:cs typeface="Calibri"/>
            </a:endParaRPr>
          </a:p>
        </p:txBody>
      </p:sp>
      <p:sp>
        <p:nvSpPr>
          <p:cNvPr id="13" name="rv_g05"/>
          <p:cNvSpPr txBox="1"/>
          <p:nvPr/>
        </p:nvSpPr>
        <p:spPr>
          <a:xfrm>
            <a:off x="457200" y="950976"/>
            <a:ext cx="11277295" cy="5284216"/>
          </a:xfrm>
          <a:prstGeom prst="rect">
            <a:avLst/>
          </a:prstGeom>
          <a:noFill/>
        </p:spPr>
        <p:txBody>
          <a:bodyPr wrap="square" lIns="228600" tIns="155448" rIns="228600" bIns="155448" anchor="t" rtlCol="0">
            <a:noAutofit/>
          </a:bodyPr>
          <a:lstStyle/>
          <a:p>
            <a:pPr algn="l">
              <a:lnSpc>
                <a:spcPts val="3560"/>
              </a:lnSpc>
              <a:spcBef>
                <a:spcPts val="0"/>
              </a:spcBef>
              <a:spcAft>
                <a:spcPts val="0"/>
              </a:spcAft>
              <a:buNone/>
            </a:pPr>
            <a:r>
              <a:rPr lang="ko-KR" altLang="en-US" sz="2200" b="1" dirty="0">
                <a:solidFill>
                  <a:srgbClr val="1E2A5A">
                    <a:alpha val="0"/>
                  </a:srgbClr>
                </a:solidFill>
                <a:latin typeface="맑은 고딕"/>
                <a:ea typeface="맑은 고딕"/>
                <a:cs typeface="맑은 고딕"/>
              </a:rPr>
              <a:t>①</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 word Sherpa comes from the Sherpa tribe,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where lives</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which lives</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in the eastern part of Nepal.</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②</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Sherpas have good climbing skills and know their way around the mountains well.</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③</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They also have little difficulty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breathing</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to breathe</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high up in the mountains.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④</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Therefore, mountain climbers started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to hire</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hired</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Sherpas to help them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climb Mount</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climbing Mount</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Everest.</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⑤</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Sherpas lead mountain climbers to the top of the mountain.</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⑥</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They support climbers in many ways.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⑦</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For example, they put up tents and carry climbers’ bags.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⑧</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Sherpas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often call</a:t>
            </a:r>
            <a:r>
              <a:rPr lang="en-US" altLang="ko-KR" sz="2200" b="1" dirty="0">
                <a:solidFill>
                  <a:srgbClr val="1F2328">
                    <a:alpha val="0"/>
                  </a:srgbClr>
                </a:solidFill>
                <a:latin typeface="Calibri"/>
                <a:ea typeface="맑은 고딕"/>
                <a:cs typeface="Calibri"/>
              </a:rPr>
              <a:t> / </a:t>
            </a:r>
            <a:r>
              <a:rPr lang="en-US" altLang="ko-KR" sz="2200" b="1" dirty="0">
                <a:solidFill>
                  <a:srgbClr val="C00000"/>
                </a:solidFill>
                <a:highlight>
                  <a:srgbClr val="F3F5F9"/>
                </a:highlight>
                <a:latin typeface="Calibri"/>
                <a:ea typeface="맑은 고딕"/>
                <a:cs typeface="Calibri"/>
              </a:rPr>
              <a:t>are often called</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 invisible people of Mount Everest because people often see a picture of only the climbers at the top of the mountain.</a:t>
            </a:r>
            <a:endParaRPr lang="en-US" altLang="ko-KR" sz="2200" b="0" dirty="0">
              <a:solidFill>
                <a:srgbClr val="1F2328"/>
              </a:solidFill>
              <a:latin typeface="Calibri"/>
              <a:ea typeface="맑은 고딕"/>
              <a:cs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25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25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25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250"/>
                                        <p:tgtEl>
                                          <p:spTgt spid="12"/>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2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Lst>
  </p:timing>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L5-4</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3 · ②</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다음 글의 각 [  ] 안에서 문맥상 알맞은 것을 고르시오.</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5</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클릭할 때마다 괄호 속 정답이 앞에서부터 하나씩 빨간색으로 나타납니다 (총 5개)</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5284216"/>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5284216"/>
          </a:xfrm>
          <a:prstGeom prst="rect">
            <a:avLst/>
          </a:prstGeom>
          <a:noFill/>
        </p:spPr>
        <p:txBody>
          <a:bodyPr wrap="square" lIns="228600" tIns="155448" rIns="228600" bIns="155448" anchor="t" rtlCol="0">
            <a:noAutofit/>
          </a:bodyPr>
          <a:lstStyle/>
          <a:p>
            <a:pPr algn="l">
              <a:lnSpc>
                <a:spcPts val="3560"/>
              </a:lnSpc>
              <a:spcBef>
                <a:spcPts val="0"/>
              </a:spcBef>
              <a:spcAft>
                <a:spcPts val="0"/>
              </a:spcAft>
              <a:buNone/>
            </a:pPr>
            <a:r>
              <a:rPr lang="ko-KR" altLang="en-US" sz="2200" b="1" dirty="0">
                <a:solidFill>
                  <a:srgbClr val="1E2A5A"/>
                </a:solidFill>
                <a:latin typeface="맑은 고딕"/>
                <a:ea typeface="맑은 고딕"/>
                <a:cs typeface="맑은 고딕"/>
              </a:rPr>
              <a:t>①</a:t>
            </a:r>
            <a:r>
              <a:rPr lang="en-US" altLang="ko-KR" sz="2200" b="0"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The word Sherpa </a:t>
            </a:r>
            <a:r>
              <a:rPr lang="en-US" altLang="ko-KR" sz="2200" b="1" dirty="0">
                <a:solidFill>
                  <a:srgbClr val="1F2328"/>
                </a:solidFill>
                <a:latin typeface="Calibri"/>
                <a:ea typeface="맑은 고딕"/>
                <a:cs typeface="Calibri"/>
              </a:rPr>
              <a:t>[ </a:t>
            </a:r>
            <a:r>
              <a:rPr lang="en-US" altLang="ko-KR" sz="2200" b="1" dirty="0">
                <a:solidFill>
                  <a:srgbClr val="1F2328"/>
                </a:solidFill>
                <a:latin typeface="Calibri"/>
                <a:ea typeface="맑은 고딕"/>
                <a:cs typeface="Calibri"/>
              </a:rPr>
              <a:t>comes from</a:t>
            </a:r>
            <a:r>
              <a:rPr lang="en-US" altLang="ko-KR" sz="2200" b="1" dirty="0">
                <a:solidFill>
                  <a:srgbClr val="1F2328"/>
                </a:solidFill>
                <a:latin typeface="Calibri"/>
                <a:ea typeface="맑은 고딕"/>
                <a:cs typeface="Calibri"/>
              </a:rPr>
              <a:t> / </a:t>
            </a:r>
            <a:r>
              <a:rPr lang="en-US" altLang="ko-KR" sz="2200" b="1" dirty="0">
                <a:solidFill>
                  <a:srgbClr val="1F2328"/>
                </a:solidFill>
                <a:latin typeface="Calibri"/>
                <a:ea typeface="맑은 고딕"/>
                <a:cs typeface="Calibri"/>
              </a:rPr>
              <a:t>is come from</a:t>
            </a:r>
            <a:r>
              <a:rPr lang="en-US" altLang="ko-KR" sz="2200" b="1"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 the Sherpa tribe, which lives in the eastern part of Nepal.</a:t>
            </a:r>
            <a:r>
              <a:rPr lang="en-US" altLang="ko-KR" sz="2200" b="0" dirty="0">
                <a:solidFill>
                  <a:srgbClr val="1F2328"/>
                </a:solidFill>
                <a:latin typeface="Calibri"/>
                <a:ea typeface="맑은 고딕"/>
                <a:cs typeface="Calibri"/>
              </a:rPr>
              <a:t>   </a:t>
            </a:r>
            <a:r>
              <a:rPr lang="ko-KR" altLang="en-US" sz="2200" b="1" dirty="0">
                <a:solidFill>
                  <a:srgbClr val="1E2A5A"/>
                </a:solidFill>
                <a:latin typeface="맑은 고딕"/>
                <a:ea typeface="맑은 고딕"/>
                <a:cs typeface="맑은 고딕"/>
              </a:rPr>
              <a:t>②</a:t>
            </a:r>
            <a:r>
              <a:rPr lang="en-US" altLang="ko-KR" sz="2200" b="0"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Sherpas have good climbing skills and </a:t>
            </a:r>
            <a:r>
              <a:rPr lang="en-US" altLang="ko-KR" sz="2200" b="1" dirty="0">
                <a:solidFill>
                  <a:srgbClr val="1F2328"/>
                </a:solidFill>
                <a:latin typeface="Calibri"/>
                <a:ea typeface="맑은 고딕"/>
                <a:cs typeface="Calibri"/>
              </a:rPr>
              <a:t>[ </a:t>
            </a:r>
            <a:r>
              <a:rPr lang="en-US" altLang="ko-KR" sz="2200" b="1" dirty="0">
                <a:solidFill>
                  <a:srgbClr val="1F2328"/>
                </a:solidFill>
                <a:latin typeface="Calibri"/>
                <a:ea typeface="맑은 고딕"/>
                <a:cs typeface="Calibri"/>
              </a:rPr>
              <a:t>know their way</a:t>
            </a:r>
            <a:r>
              <a:rPr lang="en-US" altLang="ko-KR" sz="2200" b="1" dirty="0">
                <a:solidFill>
                  <a:srgbClr val="1F2328"/>
                </a:solidFill>
                <a:latin typeface="Calibri"/>
                <a:ea typeface="맑은 고딕"/>
                <a:cs typeface="Calibri"/>
              </a:rPr>
              <a:t> / </a:t>
            </a:r>
            <a:r>
              <a:rPr lang="en-US" altLang="ko-KR" sz="2200" b="1" dirty="0">
                <a:solidFill>
                  <a:srgbClr val="1F2328"/>
                </a:solidFill>
                <a:latin typeface="Calibri"/>
                <a:ea typeface="맑은 고딕"/>
                <a:cs typeface="Calibri"/>
              </a:rPr>
              <a:t>knows their way</a:t>
            </a:r>
            <a:r>
              <a:rPr lang="en-US" altLang="ko-KR" sz="2200" b="1"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 around the mountains well.</a:t>
            </a:r>
            <a:r>
              <a:rPr lang="en-US" altLang="ko-KR" sz="2200" b="0" dirty="0">
                <a:solidFill>
                  <a:srgbClr val="1F2328"/>
                </a:solidFill>
                <a:latin typeface="Calibri"/>
                <a:ea typeface="맑은 고딕"/>
                <a:cs typeface="Calibri"/>
              </a:rPr>
              <a:t>   </a:t>
            </a:r>
            <a:r>
              <a:rPr lang="ko-KR" altLang="en-US" sz="2200" b="1" dirty="0">
                <a:solidFill>
                  <a:srgbClr val="1E2A5A"/>
                </a:solidFill>
                <a:latin typeface="맑은 고딕"/>
                <a:ea typeface="맑은 고딕"/>
                <a:cs typeface="맑은 고딕"/>
              </a:rPr>
              <a:t>③</a:t>
            </a:r>
            <a:r>
              <a:rPr lang="en-US" altLang="ko-KR" sz="2200" b="0"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They also have </a:t>
            </a:r>
            <a:r>
              <a:rPr lang="en-US" altLang="ko-KR" sz="2200" b="1" dirty="0">
                <a:solidFill>
                  <a:srgbClr val="1F2328"/>
                </a:solidFill>
                <a:latin typeface="Calibri"/>
                <a:ea typeface="맑은 고딕"/>
                <a:cs typeface="Calibri"/>
              </a:rPr>
              <a:t>[ </a:t>
            </a:r>
            <a:r>
              <a:rPr lang="en-US" altLang="ko-KR" sz="2200" b="1" dirty="0">
                <a:solidFill>
                  <a:srgbClr val="1F2328"/>
                </a:solidFill>
                <a:latin typeface="Calibri"/>
                <a:ea typeface="맑은 고딕"/>
                <a:cs typeface="Calibri"/>
              </a:rPr>
              <a:t>little difficulty</a:t>
            </a:r>
            <a:r>
              <a:rPr lang="en-US" altLang="ko-KR" sz="2200" b="1" dirty="0">
                <a:solidFill>
                  <a:srgbClr val="1F2328"/>
                </a:solidFill>
                <a:latin typeface="Calibri"/>
                <a:ea typeface="맑은 고딕"/>
                <a:cs typeface="Calibri"/>
              </a:rPr>
              <a:t> / </a:t>
            </a:r>
            <a:r>
              <a:rPr lang="en-US" altLang="ko-KR" sz="2200" b="1" dirty="0">
                <a:solidFill>
                  <a:srgbClr val="1F2328"/>
                </a:solidFill>
                <a:latin typeface="Calibri"/>
                <a:ea typeface="맑은 고딕"/>
                <a:cs typeface="Calibri"/>
              </a:rPr>
              <a:t>few difficulty</a:t>
            </a:r>
            <a:r>
              <a:rPr lang="en-US" altLang="ko-KR" sz="2200" b="1"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 breathing high up in the mountains.</a:t>
            </a:r>
            <a:r>
              <a:rPr lang="en-US" altLang="ko-KR" sz="2200" b="0" dirty="0">
                <a:solidFill>
                  <a:srgbClr val="1F2328"/>
                </a:solidFill>
                <a:latin typeface="Calibri"/>
                <a:ea typeface="맑은 고딕"/>
                <a:cs typeface="Calibri"/>
              </a:rPr>
              <a:t>   </a:t>
            </a:r>
            <a:r>
              <a:rPr lang="ko-KR" altLang="en-US" sz="2200" b="1" dirty="0">
                <a:solidFill>
                  <a:srgbClr val="1E2A5A"/>
                </a:solidFill>
                <a:latin typeface="맑은 고딕"/>
                <a:ea typeface="맑은 고딕"/>
                <a:cs typeface="맑은 고딕"/>
              </a:rPr>
              <a:t>④</a:t>
            </a:r>
            <a:r>
              <a:rPr lang="en-US" altLang="ko-KR" sz="2200" b="0"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Therefore, mountain climbers started to hire Sherpas to help them climb Mount Everest.</a:t>
            </a:r>
            <a:r>
              <a:rPr lang="en-US" altLang="ko-KR" sz="2200" b="0" dirty="0">
                <a:solidFill>
                  <a:srgbClr val="1F2328"/>
                </a:solidFill>
                <a:latin typeface="Calibri"/>
                <a:ea typeface="맑은 고딕"/>
                <a:cs typeface="Calibri"/>
              </a:rPr>
              <a:t>   </a:t>
            </a:r>
            <a:r>
              <a:rPr lang="ko-KR" altLang="en-US" sz="2200" b="1" dirty="0">
                <a:solidFill>
                  <a:srgbClr val="1E2A5A"/>
                </a:solidFill>
                <a:latin typeface="맑은 고딕"/>
                <a:ea typeface="맑은 고딕"/>
                <a:cs typeface="맑은 고딕"/>
              </a:rPr>
              <a:t>⑤</a:t>
            </a:r>
            <a:r>
              <a:rPr lang="en-US" altLang="ko-KR" sz="2200" b="0"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Sherpas lead mountain climbers to the top of the mountain.</a:t>
            </a:r>
            <a:r>
              <a:rPr lang="en-US" altLang="ko-KR" sz="2200" b="0" dirty="0">
                <a:solidFill>
                  <a:srgbClr val="1F2328"/>
                </a:solidFill>
                <a:latin typeface="Calibri"/>
                <a:ea typeface="맑은 고딕"/>
                <a:cs typeface="Calibri"/>
              </a:rPr>
              <a:t>   </a:t>
            </a:r>
            <a:r>
              <a:rPr lang="ko-KR" altLang="en-US" sz="2200" b="1" dirty="0">
                <a:solidFill>
                  <a:srgbClr val="1E2A5A"/>
                </a:solidFill>
                <a:latin typeface="맑은 고딕"/>
                <a:ea typeface="맑은 고딕"/>
                <a:cs typeface="맑은 고딕"/>
              </a:rPr>
              <a:t>⑥</a:t>
            </a:r>
            <a:r>
              <a:rPr lang="en-US" altLang="ko-KR" sz="2200" b="0"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They support climbers in many ways.</a:t>
            </a:r>
            <a:r>
              <a:rPr lang="en-US" altLang="ko-KR" sz="2200" b="0" dirty="0">
                <a:solidFill>
                  <a:srgbClr val="1F2328"/>
                </a:solidFill>
                <a:latin typeface="Calibri"/>
                <a:ea typeface="맑은 고딕"/>
                <a:cs typeface="Calibri"/>
              </a:rPr>
              <a:t>   </a:t>
            </a:r>
            <a:r>
              <a:rPr lang="ko-KR" altLang="en-US" sz="2200" b="1" dirty="0">
                <a:solidFill>
                  <a:srgbClr val="1E2A5A"/>
                </a:solidFill>
                <a:latin typeface="맑은 고딕"/>
                <a:ea typeface="맑은 고딕"/>
                <a:cs typeface="맑은 고딕"/>
              </a:rPr>
              <a:t>⑦</a:t>
            </a:r>
            <a:r>
              <a:rPr lang="en-US" altLang="ko-KR" sz="2200" b="0"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For example, they put up tents and </a:t>
            </a:r>
            <a:r>
              <a:rPr lang="en-US" altLang="ko-KR" sz="2200" b="1" dirty="0">
                <a:solidFill>
                  <a:srgbClr val="1F2328"/>
                </a:solidFill>
                <a:latin typeface="Calibri"/>
                <a:ea typeface="맑은 고딕"/>
                <a:cs typeface="Calibri"/>
              </a:rPr>
              <a:t>[ </a:t>
            </a:r>
            <a:r>
              <a:rPr lang="en-US" altLang="ko-KR" sz="2200" b="1" dirty="0">
                <a:solidFill>
                  <a:srgbClr val="1F2328"/>
                </a:solidFill>
                <a:latin typeface="Calibri"/>
                <a:ea typeface="맑은 고딕"/>
                <a:cs typeface="Calibri"/>
              </a:rPr>
              <a:t>carry</a:t>
            </a:r>
            <a:r>
              <a:rPr lang="en-US" altLang="ko-KR" sz="2200" b="1" dirty="0">
                <a:solidFill>
                  <a:srgbClr val="1F2328"/>
                </a:solidFill>
                <a:latin typeface="Calibri"/>
                <a:ea typeface="맑은 고딕"/>
                <a:cs typeface="Calibri"/>
              </a:rPr>
              <a:t> / </a:t>
            </a:r>
            <a:r>
              <a:rPr lang="en-US" altLang="ko-KR" sz="2200" b="1" dirty="0">
                <a:solidFill>
                  <a:srgbClr val="1F2328"/>
                </a:solidFill>
                <a:latin typeface="Calibri"/>
                <a:ea typeface="맑은 고딕"/>
                <a:cs typeface="Calibri"/>
              </a:rPr>
              <a:t>carries</a:t>
            </a:r>
            <a:r>
              <a:rPr lang="en-US" altLang="ko-KR" sz="2200" b="1"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 climbers’ bags.</a:t>
            </a:r>
            <a:r>
              <a:rPr lang="en-US" altLang="ko-KR" sz="2200" b="0" dirty="0">
                <a:solidFill>
                  <a:srgbClr val="1F2328"/>
                </a:solidFill>
                <a:latin typeface="Calibri"/>
                <a:ea typeface="맑은 고딕"/>
                <a:cs typeface="Calibri"/>
              </a:rPr>
              <a:t>   </a:t>
            </a:r>
            <a:r>
              <a:rPr lang="ko-KR" altLang="en-US" sz="2200" b="1" dirty="0">
                <a:solidFill>
                  <a:srgbClr val="1E2A5A"/>
                </a:solidFill>
                <a:latin typeface="맑은 고딕"/>
                <a:ea typeface="맑은 고딕"/>
                <a:cs typeface="맑은 고딕"/>
              </a:rPr>
              <a:t>⑧</a:t>
            </a:r>
            <a:r>
              <a:rPr lang="en-US" altLang="ko-KR" sz="2200" b="0"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Sherpas are often called the invisible people of Mount Everest </a:t>
            </a:r>
            <a:r>
              <a:rPr lang="en-US" altLang="ko-KR" sz="2200" b="1" dirty="0">
                <a:solidFill>
                  <a:srgbClr val="1F2328"/>
                </a:solidFill>
                <a:latin typeface="Calibri"/>
                <a:ea typeface="맑은 고딕"/>
                <a:cs typeface="Calibri"/>
              </a:rPr>
              <a:t>[ </a:t>
            </a:r>
            <a:r>
              <a:rPr lang="en-US" altLang="ko-KR" sz="2200" b="1" dirty="0">
                <a:solidFill>
                  <a:srgbClr val="1F2328"/>
                </a:solidFill>
                <a:latin typeface="Calibri"/>
                <a:ea typeface="맑은 고딕"/>
                <a:cs typeface="Calibri"/>
              </a:rPr>
              <a:t>because people</a:t>
            </a:r>
            <a:r>
              <a:rPr lang="en-US" altLang="ko-KR" sz="2200" b="1" dirty="0">
                <a:solidFill>
                  <a:srgbClr val="1F2328"/>
                </a:solidFill>
                <a:latin typeface="Calibri"/>
                <a:ea typeface="맑은 고딕"/>
                <a:cs typeface="Calibri"/>
              </a:rPr>
              <a:t> / </a:t>
            </a:r>
            <a:r>
              <a:rPr lang="en-US" altLang="ko-KR" sz="2200" b="1" dirty="0">
                <a:solidFill>
                  <a:srgbClr val="1F2328"/>
                </a:solidFill>
                <a:latin typeface="Calibri"/>
                <a:ea typeface="맑은 고딕"/>
                <a:cs typeface="Calibri"/>
              </a:rPr>
              <a:t>because of people</a:t>
            </a:r>
            <a:r>
              <a:rPr lang="en-US" altLang="ko-KR" sz="2200" b="1"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 often see a picture of only the climbers at the top of the mountain.</a:t>
            </a:r>
            <a:endParaRPr lang="en-US" altLang="ko-KR" sz="2200" b="0" dirty="0">
              <a:solidFill>
                <a:srgbClr val="1F2328"/>
              </a:solidFill>
              <a:latin typeface="Calibri"/>
              <a:ea typeface="맑은 고딕"/>
              <a:cs typeface="Calibri"/>
            </a:endParaRPr>
          </a:p>
        </p:txBody>
      </p:sp>
      <p:sp>
        <p:nvSpPr>
          <p:cNvPr id="9" name="rv_g01"/>
          <p:cNvSpPr txBox="1"/>
          <p:nvPr/>
        </p:nvSpPr>
        <p:spPr>
          <a:xfrm>
            <a:off x="457200" y="950976"/>
            <a:ext cx="11277295" cy="5284216"/>
          </a:xfrm>
          <a:prstGeom prst="rect">
            <a:avLst/>
          </a:prstGeom>
          <a:noFill/>
        </p:spPr>
        <p:txBody>
          <a:bodyPr wrap="square" lIns="228600" tIns="155448" rIns="228600" bIns="155448" anchor="t" rtlCol="0">
            <a:noAutofit/>
          </a:bodyPr>
          <a:lstStyle/>
          <a:p>
            <a:pPr algn="l">
              <a:lnSpc>
                <a:spcPts val="3560"/>
              </a:lnSpc>
              <a:spcBef>
                <a:spcPts val="0"/>
              </a:spcBef>
              <a:spcAft>
                <a:spcPts val="0"/>
              </a:spcAft>
              <a:buNone/>
            </a:pPr>
            <a:r>
              <a:rPr lang="ko-KR" altLang="en-US" sz="2200" b="1" dirty="0">
                <a:solidFill>
                  <a:srgbClr val="1E2A5A">
                    <a:alpha val="0"/>
                  </a:srgbClr>
                </a:solidFill>
                <a:latin typeface="맑은 고딕"/>
                <a:ea typeface="맑은 고딕"/>
                <a:cs typeface="맑은 고딕"/>
              </a:rPr>
              <a:t>①</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 word Sherpa </a:t>
            </a:r>
            <a:r>
              <a:rPr lang="en-US" altLang="ko-KR" sz="2200" b="1" dirty="0">
                <a:solidFill>
                  <a:srgbClr val="1F2328">
                    <a:alpha val="0"/>
                  </a:srgbClr>
                </a:solidFill>
                <a:latin typeface="Calibri"/>
                <a:ea typeface="맑은 고딕"/>
                <a:cs typeface="Calibri"/>
              </a:rPr>
              <a:t>[ </a:t>
            </a:r>
            <a:r>
              <a:rPr lang="en-US" altLang="ko-KR" sz="2200" b="1" dirty="0">
                <a:solidFill>
                  <a:srgbClr val="C00000"/>
                </a:solidFill>
                <a:highlight>
                  <a:srgbClr val="F3F5F9"/>
                </a:highlight>
                <a:latin typeface="Calibri"/>
                <a:ea typeface="맑은 고딕"/>
                <a:cs typeface="Calibri"/>
              </a:rPr>
              <a:t>comes from</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is come from</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 Sherpa tribe, which lives in the eastern part of Nepal.</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②</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Sherpas have good climbing skills and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know their way</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knows their way</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around the mountains well.</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③</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They also have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little difficulty</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few difficulty</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breathing high up in the mountains.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④</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Therefore, mountain climbers started to hire Sherpas to help them climb Mount Everest.</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⑤</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Sherpas lead mountain climbers to the top of the mountain.</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⑥</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They support climbers in many ways.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⑦</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For example, they put up tents and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carry</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carries</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climbers’ bags.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⑧</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Sherpas are often called the invisible people of Mount Everest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because people</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because of people</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often see a picture of only the climbers at the top of the mountain.</a:t>
            </a:r>
            <a:endParaRPr lang="en-US" altLang="ko-KR" sz="2200" b="0" dirty="0">
              <a:solidFill>
                <a:srgbClr val="1F2328"/>
              </a:solidFill>
              <a:latin typeface="Calibri"/>
              <a:ea typeface="맑은 고딕"/>
              <a:cs typeface="Calibri"/>
            </a:endParaRPr>
          </a:p>
        </p:txBody>
      </p:sp>
      <p:sp>
        <p:nvSpPr>
          <p:cNvPr id="10" name="rv_g02"/>
          <p:cNvSpPr txBox="1"/>
          <p:nvPr/>
        </p:nvSpPr>
        <p:spPr>
          <a:xfrm>
            <a:off x="457200" y="950976"/>
            <a:ext cx="11277295" cy="5284216"/>
          </a:xfrm>
          <a:prstGeom prst="rect">
            <a:avLst/>
          </a:prstGeom>
          <a:noFill/>
        </p:spPr>
        <p:txBody>
          <a:bodyPr wrap="square" lIns="228600" tIns="155448" rIns="228600" bIns="155448" anchor="t" rtlCol="0">
            <a:noAutofit/>
          </a:bodyPr>
          <a:lstStyle/>
          <a:p>
            <a:pPr algn="l">
              <a:lnSpc>
                <a:spcPts val="3560"/>
              </a:lnSpc>
              <a:spcBef>
                <a:spcPts val="0"/>
              </a:spcBef>
              <a:spcAft>
                <a:spcPts val="0"/>
              </a:spcAft>
              <a:buNone/>
            </a:pPr>
            <a:r>
              <a:rPr lang="ko-KR" altLang="en-US" sz="2200" b="1" dirty="0">
                <a:solidFill>
                  <a:srgbClr val="1E2A5A">
                    <a:alpha val="0"/>
                  </a:srgbClr>
                </a:solidFill>
                <a:latin typeface="맑은 고딕"/>
                <a:ea typeface="맑은 고딕"/>
                <a:cs typeface="맑은 고딕"/>
              </a:rPr>
              <a:t>①</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 word Sherpa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comes from</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is come from</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 Sherpa tribe, which lives in the eastern part of Nepal.</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②</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Sherpas have good climbing skills and </a:t>
            </a:r>
            <a:r>
              <a:rPr lang="en-US" altLang="ko-KR" sz="2200" b="1" dirty="0">
                <a:solidFill>
                  <a:srgbClr val="1F2328">
                    <a:alpha val="0"/>
                  </a:srgbClr>
                </a:solidFill>
                <a:latin typeface="Calibri"/>
                <a:ea typeface="맑은 고딕"/>
                <a:cs typeface="Calibri"/>
              </a:rPr>
              <a:t>[ </a:t>
            </a:r>
            <a:r>
              <a:rPr lang="en-US" altLang="ko-KR" sz="2200" b="1" dirty="0">
                <a:solidFill>
                  <a:srgbClr val="C00000"/>
                </a:solidFill>
                <a:highlight>
                  <a:srgbClr val="F3F5F9"/>
                </a:highlight>
                <a:latin typeface="Calibri"/>
                <a:ea typeface="맑은 고딕"/>
                <a:cs typeface="Calibri"/>
              </a:rPr>
              <a:t>know their way</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knows their way</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around the mountains well.</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③</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They also have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little difficulty</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few difficulty</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breathing high up in the mountains.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④</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Therefore, mountain climbers started to hire Sherpas to help them climb Mount Everest.</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⑤</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Sherpas lead mountain climbers to the top of the mountain.</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⑥</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They support climbers in many ways.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⑦</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For example, they put up tents and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carry</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carries</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climbers’ bags.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⑧</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Sherpas are often called the invisible people of Mount Everest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because people</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because of people</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often see a picture of only the climbers at the top of the mountain.</a:t>
            </a:r>
            <a:endParaRPr lang="en-US" altLang="ko-KR" sz="2200" b="0" dirty="0">
              <a:solidFill>
                <a:srgbClr val="1F2328"/>
              </a:solidFill>
              <a:latin typeface="Calibri"/>
              <a:ea typeface="맑은 고딕"/>
              <a:cs typeface="Calibri"/>
            </a:endParaRPr>
          </a:p>
        </p:txBody>
      </p:sp>
      <p:sp>
        <p:nvSpPr>
          <p:cNvPr id="11" name="rv_g03"/>
          <p:cNvSpPr txBox="1"/>
          <p:nvPr/>
        </p:nvSpPr>
        <p:spPr>
          <a:xfrm>
            <a:off x="457200" y="950976"/>
            <a:ext cx="11277295" cy="5284216"/>
          </a:xfrm>
          <a:prstGeom prst="rect">
            <a:avLst/>
          </a:prstGeom>
          <a:noFill/>
        </p:spPr>
        <p:txBody>
          <a:bodyPr wrap="square" lIns="228600" tIns="155448" rIns="228600" bIns="155448" anchor="t" rtlCol="0">
            <a:noAutofit/>
          </a:bodyPr>
          <a:lstStyle/>
          <a:p>
            <a:pPr algn="l">
              <a:lnSpc>
                <a:spcPts val="3560"/>
              </a:lnSpc>
              <a:spcBef>
                <a:spcPts val="0"/>
              </a:spcBef>
              <a:spcAft>
                <a:spcPts val="0"/>
              </a:spcAft>
              <a:buNone/>
            </a:pPr>
            <a:r>
              <a:rPr lang="ko-KR" altLang="en-US" sz="2200" b="1" dirty="0">
                <a:solidFill>
                  <a:srgbClr val="1E2A5A">
                    <a:alpha val="0"/>
                  </a:srgbClr>
                </a:solidFill>
                <a:latin typeface="맑은 고딕"/>
                <a:ea typeface="맑은 고딕"/>
                <a:cs typeface="맑은 고딕"/>
              </a:rPr>
              <a:t>①</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 word Sherpa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comes from</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is come from</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 Sherpa tribe, which lives in the eastern part of Nepal.</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②</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Sherpas have good climbing skills and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know their way</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knows their way</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around the mountains well.</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③</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They also have </a:t>
            </a:r>
            <a:r>
              <a:rPr lang="en-US" altLang="ko-KR" sz="2200" b="1" dirty="0">
                <a:solidFill>
                  <a:srgbClr val="1F2328">
                    <a:alpha val="0"/>
                  </a:srgbClr>
                </a:solidFill>
                <a:latin typeface="Calibri"/>
                <a:ea typeface="맑은 고딕"/>
                <a:cs typeface="Calibri"/>
              </a:rPr>
              <a:t>[ </a:t>
            </a:r>
            <a:r>
              <a:rPr lang="en-US" altLang="ko-KR" sz="2200" b="1" dirty="0">
                <a:solidFill>
                  <a:srgbClr val="C00000"/>
                </a:solidFill>
                <a:highlight>
                  <a:srgbClr val="F3F5F9"/>
                </a:highlight>
                <a:latin typeface="Calibri"/>
                <a:ea typeface="맑은 고딕"/>
                <a:cs typeface="Calibri"/>
              </a:rPr>
              <a:t>little difficulty</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few difficulty</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breathing high up in the mountains.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④</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Therefore, mountain climbers started to hire Sherpas to help them climb Mount Everest.</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⑤</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Sherpas lead mountain climbers to the top of the mountain.</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⑥</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They support climbers in many ways.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⑦</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For example, they put up tents and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carry</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carries</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climbers’ bags.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⑧</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Sherpas are often called the invisible people of Mount Everest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because people</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because of people</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often see a picture of only the climbers at the top of the mountain.</a:t>
            </a:r>
            <a:endParaRPr lang="en-US" altLang="ko-KR" sz="2200" b="0" dirty="0">
              <a:solidFill>
                <a:srgbClr val="1F2328"/>
              </a:solidFill>
              <a:latin typeface="Calibri"/>
              <a:ea typeface="맑은 고딕"/>
              <a:cs typeface="Calibri"/>
            </a:endParaRPr>
          </a:p>
        </p:txBody>
      </p:sp>
      <p:sp>
        <p:nvSpPr>
          <p:cNvPr id="12" name="rv_g04"/>
          <p:cNvSpPr txBox="1"/>
          <p:nvPr/>
        </p:nvSpPr>
        <p:spPr>
          <a:xfrm>
            <a:off x="457200" y="950976"/>
            <a:ext cx="11277295" cy="5284216"/>
          </a:xfrm>
          <a:prstGeom prst="rect">
            <a:avLst/>
          </a:prstGeom>
          <a:noFill/>
        </p:spPr>
        <p:txBody>
          <a:bodyPr wrap="square" lIns="228600" tIns="155448" rIns="228600" bIns="155448" anchor="t" rtlCol="0">
            <a:noAutofit/>
          </a:bodyPr>
          <a:lstStyle/>
          <a:p>
            <a:pPr algn="l">
              <a:lnSpc>
                <a:spcPts val="3560"/>
              </a:lnSpc>
              <a:spcBef>
                <a:spcPts val="0"/>
              </a:spcBef>
              <a:spcAft>
                <a:spcPts val="0"/>
              </a:spcAft>
              <a:buNone/>
            </a:pPr>
            <a:r>
              <a:rPr lang="ko-KR" altLang="en-US" sz="2200" b="1" dirty="0">
                <a:solidFill>
                  <a:srgbClr val="1E2A5A">
                    <a:alpha val="0"/>
                  </a:srgbClr>
                </a:solidFill>
                <a:latin typeface="맑은 고딕"/>
                <a:ea typeface="맑은 고딕"/>
                <a:cs typeface="맑은 고딕"/>
              </a:rPr>
              <a:t>①</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 word Sherpa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comes from</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is come from</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 Sherpa tribe, which lives in the eastern part of Nepal.</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②</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Sherpas have good climbing skills and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know their way</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knows their way</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around the mountains well.</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③</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They also have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little difficulty</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few difficulty</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breathing high up in the mountains.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④</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Therefore, mountain climbers started to hire Sherpas to help them climb Mount Everest.</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⑤</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Sherpas lead mountain climbers to the top of the mountain.</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⑥</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They support climbers in many ways.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⑦</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For example, they put up tents and </a:t>
            </a:r>
            <a:r>
              <a:rPr lang="en-US" altLang="ko-KR" sz="2200" b="1" dirty="0">
                <a:solidFill>
                  <a:srgbClr val="1F2328">
                    <a:alpha val="0"/>
                  </a:srgbClr>
                </a:solidFill>
                <a:latin typeface="Calibri"/>
                <a:ea typeface="맑은 고딕"/>
                <a:cs typeface="Calibri"/>
              </a:rPr>
              <a:t>[ </a:t>
            </a:r>
            <a:r>
              <a:rPr lang="en-US" altLang="ko-KR" sz="2200" b="1" dirty="0">
                <a:solidFill>
                  <a:srgbClr val="C00000"/>
                </a:solidFill>
                <a:highlight>
                  <a:srgbClr val="F3F5F9"/>
                </a:highlight>
                <a:latin typeface="Calibri"/>
                <a:ea typeface="맑은 고딕"/>
                <a:cs typeface="Calibri"/>
              </a:rPr>
              <a:t>carry</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carries</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climbers’ bags.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⑧</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Sherpas are often called the invisible people of Mount Everest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because people</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because of people</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often see a picture of only the climbers at the top of the mountain.</a:t>
            </a:r>
            <a:endParaRPr lang="en-US" altLang="ko-KR" sz="2200" b="0" dirty="0">
              <a:solidFill>
                <a:srgbClr val="1F2328"/>
              </a:solidFill>
              <a:latin typeface="Calibri"/>
              <a:ea typeface="맑은 고딕"/>
              <a:cs typeface="Calibri"/>
            </a:endParaRPr>
          </a:p>
        </p:txBody>
      </p:sp>
      <p:sp>
        <p:nvSpPr>
          <p:cNvPr id="13" name="rv_g05"/>
          <p:cNvSpPr txBox="1"/>
          <p:nvPr/>
        </p:nvSpPr>
        <p:spPr>
          <a:xfrm>
            <a:off x="457200" y="950976"/>
            <a:ext cx="11277295" cy="5284216"/>
          </a:xfrm>
          <a:prstGeom prst="rect">
            <a:avLst/>
          </a:prstGeom>
          <a:noFill/>
        </p:spPr>
        <p:txBody>
          <a:bodyPr wrap="square" lIns="228600" tIns="155448" rIns="228600" bIns="155448" anchor="t" rtlCol="0">
            <a:noAutofit/>
          </a:bodyPr>
          <a:lstStyle/>
          <a:p>
            <a:pPr algn="l">
              <a:lnSpc>
                <a:spcPts val="3560"/>
              </a:lnSpc>
              <a:spcBef>
                <a:spcPts val="0"/>
              </a:spcBef>
              <a:spcAft>
                <a:spcPts val="0"/>
              </a:spcAft>
              <a:buNone/>
            </a:pPr>
            <a:r>
              <a:rPr lang="ko-KR" altLang="en-US" sz="2200" b="1" dirty="0">
                <a:solidFill>
                  <a:srgbClr val="1E2A5A">
                    <a:alpha val="0"/>
                  </a:srgbClr>
                </a:solidFill>
                <a:latin typeface="맑은 고딕"/>
                <a:ea typeface="맑은 고딕"/>
                <a:cs typeface="맑은 고딕"/>
              </a:rPr>
              <a:t>①</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 word Sherpa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comes from</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is come from</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 Sherpa tribe, which lives in the eastern part of Nepal.</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②</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Sherpas have good climbing skills and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know their way</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knows their way</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around the mountains well.</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③</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They also have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little difficulty</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few difficulty</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breathing high up in the mountains.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④</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Therefore, mountain climbers started to hire Sherpas to help them climb Mount Everest.</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⑤</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Sherpas lead mountain climbers to the top of the mountain.</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⑥</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They support climbers in many ways.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⑦</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For example, they put up tents and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carry</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carries</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climbers’ bags.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⑧</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Sherpas are often called the invisible people of Mount Everest </a:t>
            </a:r>
            <a:r>
              <a:rPr lang="en-US" altLang="ko-KR" sz="2200" b="1" dirty="0">
                <a:solidFill>
                  <a:srgbClr val="1F2328">
                    <a:alpha val="0"/>
                  </a:srgbClr>
                </a:solidFill>
                <a:latin typeface="Calibri"/>
                <a:ea typeface="맑은 고딕"/>
                <a:cs typeface="Calibri"/>
              </a:rPr>
              <a:t>[ </a:t>
            </a:r>
            <a:r>
              <a:rPr lang="en-US" altLang="ko-KR" sz="2200" b="1" dirty="0">
                <a:solidFill>
                  <a:srgbClr val="C00000"/>
                </a:solidFill>
                <a:highlight>
                  <a:srgbClr val="F3F5F9"/>
                </a:highlight>
                <a:latin typeface="Calibri"/>
                <a:ea typeface="맑은 고딕"/>
                <a:cs typeface="Calibri"/>
              </a:rPr>
              <a:t>because people</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because of people</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often see a picture of only the climbers at the top of the mountain.</a:t>
            </a:r>
            <a:endParaRPr lang="en-US" altLang="ko-KR" sz="2200" b="0" dirty="0">
              <a:solidFill>
                <a:srgbClr val="1F2328"/>
              </a:solidFill>
              <a:latin typeface="Calibri"/>
              <a:ea typeface="맑은 고딕"/>
              <a:cs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25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25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25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250"/>
                                        <p:tgtEl>
                                          <p:spTgt spid="12"/>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2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Lst>
  </p:timing>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1E2A5A"/>
        </a:solidFill>
        <a:effectLst/>
      </p:bgPr>
    </p:bg>
    <p:spTree>
      <p:nvGrpSpPr>
        <p:cNvPr id="1" name=""/>
        <p:cNvGrpSpPr/>
        <p:nvPr/>
      </p:nvGrpSpPr>
      <p:grpSpPr/>
      <p:sp>
        <p:nvSpPr>
          <p:cNvPr id="2" name="sec_title"/>
          <p:cNvSpPr txBox="1"/>
          <p:nvPr/>
        </p:nvSpPr>
        <p:spPr>
          <a:xfrm>
            <a:off x="822960" y="1371600"/>
            <a:ext cx="10515600" cy="868680"/>
          </a:xfrm>
          <a:prstGeom prst="rect">
            <a:avLst/>
          </a:prstGeom>
          <a:noFill/>
        </p:spPr>
        <p:txBody>
          <a:bodyPr wrap="square" lIns="109728" tIns="54864" rIns="109728" bIns="54864" anchor="t" rtlCol="0">
            <a:noAutofit/>
          </a:bodyPr>
          <a:lstStyle/>
          <a:p>
            <a:pPr algn="l">
              <a:lnSpc>
                <a:spcPts val="4800"/>
              </a:lnSpc>
              <a:spcBef>
                <a:spcPts val="0"/>
              </a:spcBef>
              <a:spcAft>
                <a:spcPts val="0"/>
              </a:spcAft>
              <a:buNone/>
            </a:pPr>
            <a:r>
              <a:rPr lang="ko-KR" altLang="en-US" sz="4000" b="1" dirty="0">
                <a:solidFill>
                  <a:srgbClr val="FFE98A"/>
                </a:solidFill>
                <a:latin typeface="맑은 고딕"/>
                <a:ea typeface="맑은 고딕"/>
                <a:cs typeface="맑은 고딕"/>
              </a:rPr>
              <a:t>PART 4  </a:t>
            </a:r>
            <a:r>
              <a:rPr lang="ko-KR" altLang="en-US" sz="4000" b="1" dirty="0">
                <a:solidFill>
                  <a:srgbClr val="FFFFFF"/>
                </a:solidFill>
                <a:latin typeface="맑은 고딕"/>
                <a:ea typeface="맑은 고딕"/>
                <a:cs typeface="맑은 고딕"/>
              </a:rPr>
              <a:t>내용이해 T/F</a:t>
            </a:r>
            <a:endParaRPr lang="ko-KR" sz="4000"/>
          </a:p>
        </p:txBody>
      </p:sp>
      <p:sp>
        <p:nvSpPr>
          <p:cNvPr id="3" name="sec_exam"/>
          <p:cNvSpPr txBox="1"/>
          <p:nvPr/>
        </p:nvSpPr>
        <p:spPr>
          <a:xfrm>
            <a:off x="822960" y="2240280"/>
            <a:ext cx="10515600" cy="502920"/>
          </a:xfrm>
          <a:prstGeom prst="rect">
            <a:avLst/>
          </a:prstGeom>
          <a:noFill/>
        </p:spPr>
        <p:txBody>
          <a:bodyPr wrap="square" lIns="109728" tIns="54864" rIns="109728" bIns="54864" anchor="t" rtlCol="0">
            <a:noAutofit/>
          </a:bodyPr>
          <a:lstStyle/>
          <a:p>
            <a:pPr algn="l">
              <a:lnSpc>
                <a:spcPts val="2400"/>
              </a:lnSpc>
              <a:spcBef>
                <a:spcPts val="0"/>
              </a:spcBef>
              <a:spcAft>
                <a:spcPts val="0"/>
              </a:spcAft>
              <a:buNone/>
            </a:pPr>
            <a:r>
              <a:rPr lang="ko-KR" altLang="en-US" sz="2000" b="0" dirty="0">
                <a:solidFill>
                  <a:srgbClr val="CFD8E8"/>
                </a:solidFill>
                <a:latin typeface="맑은 고딕"/>
                <a:ea typeface="맑은 고딕"/>
                <a:cs typeface="맑은 고딕"/>
              </a:rPr>
              <a:t>중3 동아(윤정미) Lesson 5</a:t>
            </a:r>
            <a:endParaRPr lang="ko-KR" sz="2000"/>
          </a:p>
        </p:txBody>
      </p:sp>
      <p:sp>
        <p:nvSpPr>
          <p:cNvPr id="4" name="sec_ids"/>
          <p:cNvSpPr txBox="1"/>
          <p:nvPr/>
        </p:nvSpPr>
        <p:spPr>
          <a:xfrm>
            <a:off x="822960" y="2788920"/>
            <a:ext cx="10515600" cy="457200"/>
          </a:xfrm>
          <a:prstGeom prst="rect">
            <a:avLst/>
          </a:prstGeom>
          <a:noFill/>
        </p:spPr>
        <p:txBody>
          <a:bodyPr wrap="square" lIns="109728" tIns="54864" rIns="109728" bIns="54864" anchor="t" rtlCol="0">
            <a:noAutofit/>
          </a:bodyPr>
          <a:lstStyle/>
          <a:p>
            <a:pPr algn="l">
              <a:lnSpc>
                <a:spcPts val="2200"/>
              </a:lnSpc>
              <a:spcBef>
                <a:spcPts val="0"/>
              </a:spcBef>
              <a:spcAft>
                <a:spcPts val="0"/>
              </a:spcAft>
              <a:buNone/>
            </a:pPr>
            <a:r>
              <a:rPr lang="en-US" altLang="en-US" sz="1800" b="1" dirty="0">
                <a:solidFill>
                  <a:srgbClr val="AEBBD0"/>
                </a:solidFill>
                <a:latin typeface="Calibri"/>
                <a:ea typeface="맑은 고딕"/>
                <a:cs typeface="Calibri"/>
              </a:rPr>
              <a:t>L5-1  ·  L5-2  ·  L5-3  ·  L5-4</a:t>
            </a:r>
            <a:endParaRPr lang="ko-KR" sz="1800"/>
          </a:p>
        </p:txBody>
      </p:sp>
      <p:sp>
        <p:nvSpPr>
          <p:cNvPr id="5" name="sec_legend"/>
          <p:cNvSpPr/>
          <p:nvPr/>
        </p:nvSpPr>
        <p:spPr>
          <a:xfrm>
            <a:off x="822960" y="3977639"/>
            <a:ext cx="10515600" cy="1371600"/>
          </a:xfrm>
          <a:prstGeom prst="roundRect">
            <a:avLst>
              <a:gd name="adj" fmla="val 6000"/>
            </a:avLst>
          </a:prstGeom>
          <a:solidFill>
            <a:srgbClr val="27356E"/>
          </a:solidFill>
          <a:ln>
            <a:noFill/>
          </a:ln>
        </p:spPr>
        <p:txBody>
          <a:bodyPr wrap="square" lIns="320040" tIns="137160" rIns="320040" bIns="137160" anchor="ctr" rtlCol="0">
            <a:noAutofit/>
          </a:bodyPr>
          <a:lstStyle/>
          <a:p>
            <a:pPr algn="l">
              <a:lnSpc>
                <a:spcPts val="2600"/>
              </a:lnSpc>
              <a:spcBef>
                <a:spcPts val="0"/>
              </a:spcBef>
              <a:spcAft>
                <a:spcPts val="0"/>
              </a:spcAft>
              <a:buNone/>
            </a:pPr>
            <a:r>
              <a:rPr lang="ko-KR" altLang="en-US" sz="1600" b="1" dirty="0">
                <a:solidFill>
                  <a:srgbClr val="FFE98A"/>
                </a:solidFill>
                <a:latin typeface="맑은 고딕"/>
                <a:ea typeface="맑은 고딕"/>
                <a:cs typeface="맑은 고딕"/>
              </a:rPr>
              <a:t>방법</a:t>
            </a:r>
            <a:r>
              <a:rPr lang="ko-KR" altLang="en-US" sz="1600" b="0" dirty="0">
                <a:solidFill>
                  <a:srgbClr val="FFFFFF"/>
                </a:solidFill>
                <a:latin typeface="맑은 고딕"/>
                <a:ea typeface="맑은 고딕"/>
                <a:cs typeface="맑은 고딕"/>
              </a:rPr>
              <a:t>     본문 단락을 읽고, 우리말 진술이 본문과 일치하면 T, 아니면 F</a:t>
            </a:r>
            <a:endParaRPr lang="ko-KR" sz="1600"/>
          </a:p>
          <a:p>
            <a:pPr algn="l">
              <a:lnSpc>
                <a:spcPts val="2600"/>
              </a:lnSpc>
              <a:spcBef>
                <a:spcPts val="0"/>
              </a:spcBef>
              <a:spcAft>
                <a:spcPts val="0"/>
              </a:spcAft>
              <a:buNone/>
            </a:pPr>
            <a:r>
              <a:rPr lang="ko-KR" altLang="en-US" sz="1600" b="1" dirty="0">
                <a:solidFill>
                  <a:srgbClr val="FFE98A"/>
                </a:solidFill>
                <a:latin typeface="맑은 고딕"/>
                <a:ea typeface="맑은 고딕"/>
                <a:cs typeface="맑은 고딕"/>
              </a:rPr>
              <a:t>클릭</a:t>
            </a:r>
            <a:r>
              <a:rPr lang="ko-KR" altLang="en-US" sz="1600" b="0" dirty="0">
                <a:solidFill>
                  <a:srgbClr val="FFFFFF"/>
                </a:solidFill>
                <a:latin typeface="맑은 고딕"/>
                <a:ea typeface="맑은 고딕"/>
                <a:cs typeface="맑은 고딕"/>
              </a:rPr>
              <a:t>     한 번 클릭하면 5문항의 정답(T/F)이 빨간색으로 한꺼번에 공개</a:t>
            </a:r>
            <a:endParaRPr lang="ko-KR" sz="1600"/>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8000"/>
            </a:avLst>
          </a:prstGeom>
          <a:solidFill>
            <a:srgbClr val="1E2A5A"/>
          </a:solidFill>
          <a:ln>
            <a:noFill/>
          </a:ln>
        </p:spPr>
        <p:txBody>
          <a:bodyPr wrap="square" lIns="45720" tIns="18288" rIns="45720" bIns="18288" anchor="ctr" rtlCol="0">
            <a:noAutofit/>
          </a:bodyPr>
          <a:lstStyle/>
          <a:p>
            <a:pPr algn="ctr">
              <a:lnSpc>
                <a:spcPts val="2000"/>
              </a:lnSpc>
              <a:spcBef>
                <a:spcPts val="0"/>
              </a:spcBef>
              <a:spcAft>
                <a:spcPts val="0"/>
              </a:spcAft>
              <a:buNone/>
            </a:pPr>
            <a:r>
              <a:rPr lang="en-US" altLang="en-US" sz="1700" b="1" dirty="0">
                <a:solidFill>
                  <a:srgbClr val="FFFFFF"/>
                </a:solidFill>
                <a:latin typeface="Calibri"/>
                <a:ea typeface="맑은 고딕"/>
                <a:cs typeface="Calibri"/>
              </a:rPr>
              <a:t>L5-1</a:t>
            </a:r>
            <a:endParaRPr lang="ko-KR" sz="1700"/>
          </a:p>
        </p:txBody>
      </p:sp>
      <p:sp>
        <p:nvSpPr>
          <p:cNvPr id="3" name="hdr_chip"/>
          <p:cNvSpPr/>
          <p:nvPr/>
        </p:nvSpPr>
        <p:spPr>
          <a:xfrm>
            <a:off x="1755648" y="274320"/>
            <a:ext cx="1371600" cy="493776"/>
          </a:xfrm>
          <a:prstGeom prst="roundRect">
            <a:avLst>
              <a:gd name="adj" fmla="val 8000"/>
            </a:avLst>
          </a:prstGeom>
          <a:solidFill>
            <a:srgbClr val="E6EAF4"/>
          </a:solidFill>
          <a:ln>
            <a:noFill/>
          </a:ln>
        </p:spPr>
        <p:txBody>
          <a:bodyPr wrap="square" lIns="27432" tIns="18288" rIns="27432" bIns="18288" anchor="ctr" rtlCol="0">
            <a:noAutofit/>
          </a:bodyPr>
          <a:lstStyle/>
          <a:p>
            <a:pPr algn="ctr">
              <a:lnSpc>
                <a:spcPts val="1700"/>
              </a:lnSpc>
              <a:spcBef>
                <a:spcPts val="0"/>
              </a:spcBef>
              <a:spcAft>
                <a:spcPts val="0"/>
              </a:spcAft>
              <a:buNone/>
            </a:pPr>
            <a:r>
              <a:rPr lang="ko-KR" altLang="en-US" sz="1400" b="1" dirty="0">
                <a:solidFill>
                  <a:srgbClr val="1E2A5A"/>
                </a:solidFill>
                <a:latin typeface="맑은 고딕"/>
                <a:ea typeface="맑은 고딕"/>
                <a:cs typeface="맑은 고딕"/>
              </a:rPr>
              <a:t>PART 4 · 1</a:t>
            </a:r>
            <a:endParaRPr lang="ko-KR" sz="1400"/>
          </a:p>
        </p:txBody>
      </p:sp>
      <p:sp>
        <p:nvSpPr>
          <p:cNvPr id="4" name="hdr_q"/>
          <p:cNvSpPr txBox="1"/>
          <p:nvPr/>
        </p:nvSpPr>
        <p:spPr>
          <a:xfrm>
            <a:off x="3246120" y="246888"/>
            <a:ext cx="8485632" cy="548640"/>
          </a:xfrm>
          <a:prstGeom prst="rect">
            <a:avLst/>
          </a:prstGeom>
          <a:noFill/>
        </p:spPr>
        <p:txBody>
          <a:bodyPr wrap="square" lIns="109728" tIns="54864" rIns="109728" bIns="54864" anchor="ctr" rtlCol="0">
            <a:noAutofit/>
          </a:bodyPr>
          <a:lstStyle/>
          <a:p>
            <a:pPr algn="l">
              <a:lnSpc>
                <a:spcPts val="2400"/>
              </a:lnSpc>
              <a:spcBef>
                <a:spcPts val="0"/>
              </a:spcBef>
              <a:spcAft>
                <a:spcPts val="0"/>
              </a:spcAft>
              <a:buNone/>
            </a:pPr>
            <a:r>
              <a:rPr lang="ko-KR" altLang="en-US" sz="2000" b="1" dirty="0">
                <a:solidFill>
                  <a:srgbClr val="1F2328"/>
                </a:solidFill>
                <a:latin typeface="맑은 고딕"/>
                <a:ea typeface="맑은 고딕"/>
                <a:cs typeface="맑은 고딕"/>
              </a:rPr>
              <a:t>본문과 일치하면 T, 일치하지 않으면 F를 고르시오.</a:t>
            </a:r>
            <a:endParaRPr lang="ko-KR" sz="2000"/>
          </a:p>
        </p:txBody>
      </p:sp>
      <p:sp>
        <p:nvSpPr>
          <p:cNvPr id="5" name="ftr_exam"/>
          <p:cNvSpPr txBox="1"/>
          <p:nvPr/>
        </p:nvSpPr>
        <p:spPr>
          <a:xfrm>
            <a:off x="457200" y="6519672"/>
            <a:ext cx="5669280" cy="256032"/>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5</a:t>
            </a:r>
            <a:endParaRPr lang="ko-KR" sz="1000"/>
          </a:p>
        </p:txBody>
      </p:sp>
      <p:sp>
        <p:nvSpPr>
          <p:cNvPr id="6" name="ftr_hint"/>
          <p:cNvSpPr txBox="1"/>
          <p:nvPr/>
        </p:nvSpPr>
        <p:spPr>
          <a:xfrm>
            <a:off x="5971032" y="6519672"/>
            <a:ext cx="5760720" cy="256032"/>
          </a:xfrm>
          <a:prstGeom prst="rect">
            <a:avLst/>
          </a:prstGeom>
          <a:noFill/>
        </p:spPr>
        <p:txBody>
          <a:bodyPr wrap="square" lIns="0" tIns="0" rIns="0" bIns="0" anchor="t" rtlCol="0">
            <a:noAutofit/>
          </a:bodyPr>
          <a:lstStyle/>
          <a:p>
            <a:pPr algn="r">
              <a:lnSpc>
                <a:spcPts val="1200"/>
              </a:lnSpc>
              <a:spcBef>
                <a:spcPts val="0"/>
              </a:spcBef>
              <a:spcAft>
                <a:spcPts val="0"/>
              </a:spcAft>
              <a:buNone/>
            </a:pPr>
            <a:r>
              <a:rPr lang="ko-KR" altLang="en-US" sz="1000" b="0" dirty="0">
                <a:solidFill>
                  <a:srgbClr val="7A808C"/>
                </a:solidFill>
                <a:latin typeface="맑은 고딕"/>
                <a:ea typeface="맑은 고딕"/>
                <a:cs typeface="맑은 고딕"/>
              </a:rPr>
              <a:t>클릭 ① 정답(T/F) 공개</a:t>
            </a:r>
            <a:endParaRPr lang="ko-KR" sz="1000"/>
          </a:p>
        </p:txBody>
      </p:sp>
      <p:sp>
        <p:nvSpPr>
          <p:cNvPr id="7" name="passage_card"/>
          <p:cNvSpPr/>
          <p:nvPr/>
        </p:nvSpPr>
        <p:spPr>
          <a:xfrm>
            <a:off x="457200" y="950976"/>
            <a:ext cx="11274552" cy="1591309"/>
          </a:xfrm>
          <a:prstGeom prst="roundRect">
            <a:avLst>
              <a:gd name="adj" fmla="val 4000"/>
            </a:avLst>
          </a:prstGeom>
          <a:solidFill>
            <a:srgbClr val="F3F5F9"/>
          </a:solidFill>
          <a:ln w="12700">
            <a:solidFill>
              <a:srgbClr val="D9DFEA"/>
            </a:solidFill>
          </a:ln>
        </p:spPr>
        <p:txBody>
          <a:bodyPr rtlCol="0" anchor="ctr"/>
          <a:lstStyle/>
          <a:p>
            <a:pPr algn="ctr"/>
          </a:p>
        </p:txBody>
      </p:sp>
      <p:sp>
        <p:nvSpPr>
          <p:cNvPr id="8" name="passage"/>
          <p:cNvSpPr txBox="1"/>
          <p:nvPr/>
        </p:nvSpPr>
        <p:spPr>
          <a:xfrm>
            <a:off x="457200" y="950976"/>
            <a:ext cx="11274552" cy="1591309"/>
          </a:xfrm>
          <a:prstGeom prst="rect">
            <a:avLst/>
          </a:prstGeom>
          <a:noFill/>
        </p:spPr>
        <p:txBody>
          <a:bodyPr wrap="square" lIns="182880" tIns="137160" rIns="182880" bIns="137160" anchor="t" rtlCol="0">
            <a:noAutofit/>
          </a:bodyPr>
          <a:lstStyle/>
          <a:p>
            <a:pPr algn="l">
              <a:lnSpc>
                <a:spcPts val="2074"/>
              </a:lnSpc>
              <a:spcBef>
                <a:spcPts val="0"/>
              </a:spcBef>
              <a:spcAft>
                <a:spcPts val="0"/>
              </a:spcAft>
              <a:buNone/>
            </a:pPr>
            <a:r>
              <a:rPr lang="ko-KR" altLang="en-US" sz="1700" b="1" dirty="0">
                <a:solidFill>
                  <a:srgbClr val="1E2A5A"/>
                </a:solidFill>
                <a:latin typeface="맑은 고딕"/>
                <a:ea typeface="맑은 고딕"/>
                <a:cs typeface="맑은 고딕"/>
              </a:rPr>
              <a:t>① </a:t>
            </a:r>
            <a:r>
              <a:rPr lang="en-US" altLang="en-US" sz="1700" b="0" dirty="0">
                <a:solidFill>
                  <a:srgbClr val="1F2328"/>
                </a:solidFill>
                <a:latin typeface="Calibri"/>
                <a:ea typeface="맑은 고딕"/>
                <a:cs typeface="Calibri"/>
              </a:rPr>
              <a:t>In sports, only the players get a trophy or medal, but they don’t win on their own. </a:t>
            </a:r>
            <a:r>
              <a:rPr lang="ko-KR" altLang="en-US" sz="1700" b="1" dirty="0">
                <a:solidFill>
                  <a:srgbClr val="1E2A5A"/>
                </a:solidFill>
                <a:latin typeface="맑은 고딕"/>
                <a:ea typeface="맑은 고딕"/>
                <a:cs typeface="맑은 고딕"/>
              </a:rPr>
              <a:t>② </a:t>
            </a:r>
            <a:r>
              <a:rPr lang="en-US" altLang="en-US" sz="1700" b="0" dirty="0">
                <a:solidFill>
                  <a:srgbClr val="1F2328"/>
                </a:solidFill>
                <a:latin typeface="Calibri"/>
                <a:ea typeface="맑은 고딕"/>
                <a:cs typeface="Calibri"/>
              </a:rPr>
              <a:t>There are people who help the players. These people are often hidden and don’t get attention. </a:t>
            </a:r>
            <a:r>
              <a:rPr lang="ko-KR" altLang="en-US" sz="1700" b="1" dirty="0">
                <a:solidFill>
                  <a:srgbClr val="1E2A5A"/>
                </a:solidFill>
                <a:latin typeface="맑은 고딕"/>
                <a:ea typeface="맑은 고딕"/>
                <a:cs typeface="맑은 고딕"/>
              </a:rPr>
              <a:t>③ </a:t>
            </a:r>
            <a:r>
              <a:rPr lang="en-US" altLang="en-US" sz="1700" b="0" dirty="0">
                <a:solidFill>
                  <a:srgbClr val="1F2328"/>
                </a:solidFill>
                <a:latin typeface="Calibri"/>
                <a:ea typeface="맑은 고딕"/>
                <a:cs typeface="Calibri"/>
              </a:rPr>
              <a:t>However, they are as important as the players. Here are some examples. </a:t>
            </a:r>
            <a:r>
              <a:rPr lang="ko-KR" altLang="en-US" sz="1700" b="1" dirty="0">
                <a:solidFill>
                  <a:srgbClr val="1E2A5A"/>
                </a:solidFill>
                <a:latin typeface="맑은 고딕"/>
                <a:ea typeface="맑은 고딕"/>
                <a:cs typeface="맑은 고딕"/>
              </a:rPr>
              <a:t>④ </a:t>
            </a:r>
            <a:r>
              <a:rPr lang="en-US" altLang="en-US" sz="1700" b="0" dirty="0">
                <a:solidFill>
                  <a:srgbClr val="1F2328"/>
                </a:solidFill>
                <a:latin typeface="Calibri"/>
                <a:ea typeface="맑은 고딕"/>
                <a:cs typeface="Calibri"/>
              </a:rPr>
              <a:t>Pacers run with other runners and lead them in a marathon. </a:t>
            </a:r>
            <a:r>
              <a:rPr lang="ko-KR" altLang="en-US" sz="1700" b="1" dirty="0">
                <a:solidFill>
                  <a:srgbClr val="1E2A5A"/>
                </a:solidFill>
                <a:latin typeface="맑은 고딕"/>
                <a:ea typeface="맑은 고딕"/>
                <a:cs typeface="맑은 고딕"/>
              </a:rPr>
              <a:t>⑤ </a:t>
            </a:r>
            <a:r>
              <a:rPr lang="en-US" altLang="en-US" sz="1700" b="0" dirty="0">
                <a:solidFill>
                  <a:srgbClr val="1F2328"/>
                </a:solidFill>
                <a:latin typeface="Calibri"/>
                <a:ea typeface="맑은 고딕"/>
                <a:cs typeface="Calibri"/>
              </a:rPr>
              <a:t>Pacers are experienced runners, and their job is to help other runners manage their race better. There can be several pacers in a race. </a:t>
            </a:r>
            <a:endParaRPr lang="ko-KR" sz="1700"/>
          </a:p>
        </p:txBody>
      </p:sp>
      <p:sp>
        <p:nvSpPr>
          <p:cNvPr id="9" name="q_card_1"/>
          <p:cNvSpPr/>
          <p:nvPr/>
        </p:nvSpPr>
        <p:spPr>
          <a:xfrm>
            <a:off x="457200" y="2706878"/>
            <a:ext cx="11274552" cy="466217"/>
          </a:xfrm>
          <a:prstGeom prst="roundRect">
            <a:avLst>
              <a:gd name="adj" fmla="val 12000"/>
            </a:avLst>
          </a:prstGeom>
          <a:noFill/>
          <a:ln w="12700">
            <a:solidFill>
              <a:srgbClr val="D5DAE5"/>
            </a:solidFill>
          </a:ln>
        </p:spPr>
        <p:txBody>
          <a:bodyPr rtlCol="0" anchor="ctr"/>
          <a:lstStyle/>
          <a:p>
            <a:pPr algn="ctr"/>
          </a:p>
        </p:txBody>
      </p:sp>
      <p:sp>
        <p:nvSpPr>
          <p:cNvPr id="10" name="q_1"/>
          <p:cNvSpPr txBox="1"/>
          <p:nvPr/>
        </p:nvSpPr>
        <p:spPr>
          <a:xfrm>
            <a:off x="502920" y="2706878"/>
            <a:ext cx="9171432" cy="466217"/>
          </a:xfrm>
          <a:prstGeom prst="rect">
            <a:avLst/>
          </a:prstGeom>
          <a:noFill/>
        </p:spPr>
        <p:txBody>
          <a:bodyPr wrap="square" lIns="109728" tIns="45720" rIns="109728" bIns="45720" anchor="ctr" rtlCol="0">
            <a:noAutofit/>
          </a:bodyPr>
          <a:lstStyle/>
          <a:p>
            <a:pPr algn="l">
              <a:lnSpc>
                <a:spcPts val="2375"/>
              </a:lnSpc>
              <a:spcBef>
                <a:spcPts val="0"/>
              </a:spcBef>
              <a:spcAft>
                <a:spcPts val="0"/>
              </a:spcAft>
              <a:buNone/>
            </a:pPr>
            <a:r>
              <a:rPr lang="en-US" altLang="en-US" sz="1900" b="1" dirty="0">
                <a:solidFill>
                  <a:srgbClr val="1E2A5A"/>
                </a:solidFill>
                <a:latin typeface="Calibri"/>
                <a:ea typeface="맑은 고딕"/>
                <a:cs typeface="Calibri"/>
              </a:rPr>
              <a:t>1.  </a:t>
            </a:r>
            <a:r>
              <a:rPr lang="ko-KR" altLang="en-US" sz="1900" b="0" dirty="0">
                <a:solidFill>
                  <a:srgbClr val="1F2328"/>
                </a:solidFill>
                <a:latin typeface="맑은 고딕"/>
                <a:ea typeface="맑은 고딕"/>
                <a:cs typeface="맑은 고딕"/>
              </a:rPr>
              <a:t>스포츠에서 트로피나 메달은 선수들만 받는다.</a:t>
            </a:r>
            <a:endParaRPr lang="ko-KR" sz="1900"/>
          </a:p>
        </p:txBody>
      </p:sp>
      <p:sp>
        <p:nvSpPr>
          <p:cNvPr id="11" name="tf_1"/>
          <p:cNvSpPr txBox="1"/>
          <p:nvPr/>
        </p:nvSpPr>
        <p:spPr>
          <a:xfrm>
            <a:off x="9765792" y="2706878"/>
            <a:ext cx="1828800" cy="466217"/>
          </a:xfrm>
          <a:prstGeom prst="rect">
            <a:avLst/>
          </a:prstGeom>
          <a:noFill/>
        </p:spPr>
        <p:txBody>
          <a:bodyPr wrap="square" lIns="18288" tIns="18288" rIns="18288" bIns="18288" anchor="ctr" rtlCol="0">
            <a:noAutofit/>
          </a:bodyPr>
          <a:lstStyle/>
          <a:p>
            <a:pPr algn="ctr">
              <a:lnSpc>
                <a:spcPts val="2375"/>
              </a:lnSpc>
              <a:spcBef>
                <a:spcPts val="0"/>
              </a:spcBef>
              <a:spcAft>
                <a:spcPts val="0"/>
              </a:spcAft>
              <a:buNone/>
            </a:pPr>
            <a:r>
              <a:rPr lang="en-US" altLang="en-US" sz="1900" b="1" dirty="0">
                <a:solidFill>
                  <a:srgbClr val="9AA3B5"/>
                </a:solidFill>
                <a:latin typeface="Calibri"/>
                <a:ea typeface="맑은 고딕"/>
                <a:cs typeface="Calibri"/>
              </a:rPr>
              <a:t>T   /   F</a:t>
            </a:r>
            <a:endParaRPr lang="ko-KR" sz="1900"/>
          </a:p>
        </p:txBody>
      </p:sp>
      <p:sp>
        <p:nvSpPr>
          <p:cNvPr id="12" name="rv_ans_1"/>
          <p:cNvSpPr/>
          <p:nvPr/>
        </p:nvSpPr>
        <p:spPr>
          <a:xfrm>
            <a:off x="9765792" y="2752598"/>
            <a:ext cx="1828800" cy="374777"/>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640"/>
              </a:lnSpc>
              <a:spcBef>
                <a:spcPts val="0"/>
              </a:spcBef>
              <a:spcAft>
                <a:spcPts val="0"/>
              </a:spcAft>
              <a:buNone/>
            </a:pPr>
            <a:r>
              <a:rPr lang="en-US" altLang="en-US" sz="2200" b="1" dirty="0">
                <a:solidFill>
                  <a:srgbClr val="C00000"/>
                </a:solidFill>
                <a:latin typeface="Calibri"/>
                <a:ea typeface="맑은 고딕"/>
                <a:cs typeface="Calibri"/>
              </a:rPr>
              <a:t>T</a:t>
            </a:r>
            <a:endParaRPr lang="ko-KR" sz="2200"/>
          </a:p>
        </p:txBody>
      </p:sp>
      <p:sp>
        <p:nvSpPr>
          <p:cNvPr id="13" name="q_card_2"/>
          <p:cNvSpPr/>
          <p:nvPr/>
        </p:nvSpPr>
        <p:spPr>
          <a:xfrm>
            <a:off x="457200" y="3246247"/>
            <a:ext cx="11274552" cy="466217"/>
          </a:xfrm>
          <a:prstGeom prst="roundRect">
            <a:avLst>
              <a:gd name="adj" fmla="val 12000"/>
            </a:avLst>
          </a:prstGeom>
          <a:noFill/>
          <a:ln w="12700">
            <a:solidFill>
              <a:srgbClr val="D5DAE5"/>
            </a:solidFill>
          </a:ln>
        </p:spPr>
        <p:txBody>
          <a:bodyPr rtlCol="0" anchor="ctr"/>
          <a:lstStyle/>
          <a:p>
            <a:pPr algn="ctr"/>
          </a:p>
        </p:txBody>
      </p:sp>
      <p:sp>
        <p:nvSpPr>
          <p:cNvPr id="14" name="q_2"/>
          <p:cNvSpPr txBox="1"/>
          <p:nvPr/>
        </p:nvSpPr>
        <p:spPr>
          <a:xfrm>
            <a:off x="502920" y="3246247"/>
            <a:ext cx="9171432" cy="466217"/>
          </a:xfrm>
          <a:prstGeom prst="rect">
            <a:avLst/>
          </a:prstGeom>
          <a:noFill/>
        </p:spPr>
        <p:txBody>
          <a:bodyPr wrap="square" lIns="109728" tIns="45720" rIns="109728" bIns="45720" anchor="ctr" rtlCol="0">
            <a:noAutofit/>
          </a:bodyPr>
          <a:lstStyle/>
          <a:p>
            <a:pPr algn="l">
              <a:lnSpc>
                <a:spcPts val="2375"/>
              </a:lnSpc>
              <a:spcBef>
                <a:spcPts val="0"/>
              </a:spcBef>
              <a:spcAft>
                <a:spcPts val="0"/>
              </a:spcAft>
              <a:buNone/>
            </a:pPr>
            <a:r>
              <a:rPr lang="en-US" altLang="en-US" sz="1900" b="1" dirty="0">
                <a:solidFill>
                  <a:srgbClr val="1E2A5A"/>
                </a:solidFill>
                <a:latin typeface="Calibri"/>
                <a:ea typeface="맑은 고딕"/>
                <a:cs typeface="Calibri"/>
              </a:rPr>
              <a:t>2.  </a:t>
            </a:r>
            <a:r>
              <a:rPr lang="ko-KR" altLang="en-US" sz="1900" b="0" dirty="0">
                <a:solidFill>
                  <a:srgbClr val="1F2328"/>
                </a:solidFill>
                <a:latin typeface="맑은 고딕"/>
                <a:ea typeface="맑은 고딕"/>
                <a:cs typeface="맑은 고딕"/>
              </a:rPr>
              <a:t>선수들은 다른 사람의 도움 없이 혼자 힘으로 우승한다.</a:t>
            </a:r>
            <a:endParaRPr lang="ko-KR" sz="1900"/>
          </a:p>
        </p:txBody>
      </p:sp>
      <p:sp>
        <p:nvSpPr>
          <p:cNvPr id="15" name="tf_2"/>
          <p:cNvSpPr txBox="1"/>
          <p:nvPr/>
        </p:nvSpPr>
        <p:spPr>
          <a:xfrm>
            <a:off x="9765792" y="3246247"/>
            <a:ext cx="1828800" cy="466217"/>
          </a:xfrm>
          <a:prstGeom prst="rect">
            <a:avLst/>
          </a:prstGeom>
          <a:noFill/>
        </p:spPr>
        <p:txBody>
          <a:bodyPr wrap="square" lIns="18288" tIns="18288" rIns="18288" bIns="18288" anchor="ctr" rtlCol="0">
            <a:noAutofit/>
          </a:bodyPr>
          <a:lstStyle/>
          <a:p>
            <a:pPr algn="ctr">
              <a:lnSpc>
                <a:spcPts val="2375"/>
              </a:lnSpc>
              <a:spcBef>
                <a:spcPts val="0"/>
              </a:spcBef>
              <a:spcAft>
                <a:spcPts val="0"/>
              </a:spcAft>
              <a:buNone/>
            </a:pPr>
            <a:r>
              <a:rPr lang="en-US" altLang="en-US" sz="1900" b="1" dirty="0">
                <a:solidFill>
                  <a:srgbClr val="9AA3B5"/>
                </a:solidFill>
                <a:latin typeface="Calibri"/>
                <a:ea typeface="맑은 고딕"/>
                <a:cs typeface="Calibri"/>
              </a:rPr>
              <a:t>T   /   F</a:t>
            </a:r>
            <a:endParaRPr lang="ko-KR" sz="1900"/>
          </a:p>
        </p:txBody>
      </p:sp>
      <p:sp>
        <p:nvSpPr>
          <p:cNvPr id="16" name="rv_ans_2"/>
          <p:cNvSpPr/>
          <p:nvPr/>
        </p:nvSpPr>
        <p:spPr>
          <a:xfrm>
            <a:off x="9765792" y="3291966"/>
            <a:ext cx="1828800" cy="374777"/>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640"/>
              </a:lnSpc>
              <a:spcBef>
                <a:spcPts val="0"/>
              </a:spcBef>
              <a:spcAft>
                <a:spcPts val="0"/>
              </a:spcAft>
              <a:buNone/>
            </a:pPr>
            <a:r>
              <a:rPr lang="en-US" altLang="en-US" sz="2200" b="1" dirty="0">
                <a:solidFill>
                  <a:srgbClr val="C00000"/>
                </a:solidFill>
                <a:latin typeface="Calibri"/>
                <a:ea typeface="맑은 고딕"/>
                <a:cs typeface="Calibri"/>
              </a:rPr>
              <a:t>F</a:t>
            </a:r>
            <a:endParaRPr lang="ko-KR" sz="2200"/>
          </a:p>
        </p:txBody>
      </p:sp>
      <p:sp>
        <p:nvSpPr>
          <p:cNvPr id="17" name="q_card_3"/>
          <p:cNvSpPr/>
          <p:nvPr/>
        </p:nvSpPr>
        <p:spPr>
          <a:xfrm>
            <a:off x="457200" y="3785615"/>
            <a:ext cx="11274552" cy="466217"/>
          </a:xfrm>
          <a:prstGeom prst="roundRect">
            <a:avLst>
              <a:gd name="adj" fmla="val 12000"/>
            </a:avLst>
          </a:prstGeom>
          <a:noFill/>
          <a:ln w="12700">
            <a:solidFill>
              <a:srgbClr val="D5DAE5"/>
            </a:solidFill>
          </a:ln>
        </p:spPr>
        <p:txBody>
          <a:bodyPr rtlCol="0" anchor="ctr"/>
          <a:lstStyle/>
          <a:p>
            <a:pPr algn="ctr"/>
          </a:p>
        </p:txBody>
      </p:sp>
      <p:sp>
        <p:nvSpPr>
          <p:cNvPr id="18" name="q_3"/>
          <p:cNvSpPr txBox="1"/>
          <p:nvPr/>
        </p:nvSpPr>
        <p:spPr>
          <a:xfrm>
            <a:off x="502920" y="3785615"/>
            <a:ext cx="9171432" cy="466217"/>
          </a:xfrm>
          <a:prstGeom prst="rect">
            <a:avLst/>
          </a:prstGeom>
          <a:noFill/>
        </p:spPr>
        <p:txBody>
          <a:bodyPr wrap="square" lIns="109728" tIns="45720" rIns="109728" bIns="45720" anchor="ctr" rtlCol="0">
            <a:noAutofit/>
          </a:bodyPr>
          <a:lstStyle/>
          <a:p>
            <a:pPr algn="l">
              <a:lnSpc>
                <a:spcPts val="2375"/>
              </a:lnSpc>
              <a:spcBef>
                <a:spcPts val="0"/>
              </a:spcBef>
              <a:spcAft>
                <a:spcPts val="0"/>
              </a:spcAft>
              <a:buNone/>
            </a:pPr>
            <a:r>
              <a:rPr lang="en-US" altLang="en-US" sz="1900" b="1" dirty="0">
                <a:solidFill>
                  <a:srgbClr val="1E2A5A"/>
                </a:solidFill>
                <a:latin typeface="Calibri"/>
                <a:ea typeface="맑은 고딕"/>
                <a:cs typeface="Calibri"/>
              </a:rPr>
              <a:t>3.  </a:t>
            </a:r>
            <a:r>
              <a:rPr lang="ko-KR" altLang="en-US" sz="1900" b="0" dirty="0">
                <a:solidFill>
                  <a:srgbClr val="1F2328"/>
                </a:solidFill>
                <a:latin typeface="맑은 고딕"/>
                <a:ea typeface="맑은 고딕"/>
                <a:cs typeface="맑은 고딕"/>
              </a:rPr>
              <a:t>선수들을 돕는 사람들은 종종 숨겨져 있다.</a:t>
            </a:r>
            <a:endParaRPr lang="ko-KR" sz="1900"/>
          </a:p>
        </p:txBody>
      </p:sp>
      <p:sp>
        <p:nvSpPr>
          <p:cNvPr id="19" name="tf_3"/>
          <p:cNvSpPr txBox="1"/>
          <p:nvPr/>
        </p:nvSpPr>
        <p:spPr>
          <a:xfrm>
            <a:off x="9765792" y="3785615"/>
            <a:ext cx="1828800" cy="466217"/>
          </a:xfrm>
          <a:prstGeom prst="rect">
            <a:avLst/>
          </a:prstGeom>
          <a:noFill/>
        </p:spPr>
        <p:txBody>
          <a:bodyPr wrap="square" lIns="18288" tIns="18288" rIns="18288" bIns="18288" anchor="ctr" rtlCol="0">
            <a:noAutofit/>
          </a:bodyPr>
          <a:lstStyle/>
          <a:p>
            <a:pPr algn="ctr">
              <a:lnSpc>
                <a:spcPts val="2375"/>
              </a:lnSpc>
              <a:spcBef>
                <a:spcPts val="0"/>
              </a:spcBef>
              <a:spcAft>
                <a:spcPts val="0"/>
              </a:spcAft>
              <a:buNone/>
            </a:pPr>
            <a:r>
              <a:rPr lang="en-US" altLang="en-US" sz="1900" b="1" dirty="0">
                <a:solidFill>
                  <a:srgbClr val="9AA3B5"/>
                </a:solidFill>
                <a:latin typeface="Calibri"/>
                <a:ea typeface="맑은 고딕"/>
                <a:cs typeface="Calibri"/>
              </a:rPr>
              <a:t>T   /   F</a:t>
            </a:r>
            <a:endParaRPr lang="ko-KR" sz="1900"/>
          </a:p>
        </p:txBody>
      </p:sp>
      <p:sp>
        <p:nvSpPr>
          <p:cNvPr id="20" name="rv_ans_3"/>
          <p:cNvSpPr/>
          <p:nvPr/>
        </p:nvSpPr>
        <p:spPr>
          <a:xfrm>
            <a:off x="9765792" y="3831335"/>
            <a:ext cx="1828800" cy="374777"/>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640"/>
              </a:lnSpc>
              <a:spcBef>
                <a:spcPts val="0"/>
              </a:spcBef>
              <a:spcAft>
                <a:spcPts val="0"/>
              </a:spcAft>
              <a:buNone/>
            </a:pPr>
            <a:r>
              <a:rPr lang="en-US" altLang="en-US" sz="2200" b="1" dirty="0">
                <a:solidFill>
                  <a:srgbClr val="C00000"/>
                </a:solidFill>
                <a:latin typeface="Calibri"/>
                <a:ea typeface="맑은 고딕"/>
                <a:cs typeface="Calibri"/>
              </a:rPr>
              <a:t>T</a:t>
            </a:r>
            <a:endParaRPr lang="ko-KR" sz="2200"/>
          </a:p>
        </p:txBody>
      </p:sp>
      <p:sp>
        <p:nvSpPr>
          <p:cNvPr id="21" name="q_card_4"/>
          <p:cNvSpPr/>
          <p:nvPr/>
        </p:nvSpPr>
        <p:spPr>
          <a:xfrm>
            <a:off x="457200" y="4324985"/>
            <a:ext cx="11274552" cy="466217"/>
          </a:xfrm>
          <a:prstGeom prst="roundRect">
            <a:avLst>
              <a:gd name="adj" fmla="val 12000"/>
            </a:avLst>
          </a:prstGeom>
          <a:noFill/>
          <a:ln w="12700">
            <a:solidFill>
              <a:srgbClr val="D5DAE5"/>
            </a:solidFill>
          </a:ln>
        </p:spPr>
        <p:txBody>
          <a:bodyPr rtlCol="0" anchor="ctr"/>
          <a:lstStyle/>
          <a:p>
            <a:pPr algn="ctr"/>
          </a:p>
        </p:txBody>
      </p:sp>
      <p:sp>
        <p:nvSpPr>
          <p:cNvPr id="22" name="q_4"/>
          <p:cNvSpPr txBox="1"/>
          <p:nvPr/>
        </p:nvSpPr>
        <p:spPr>
          <a:xfrm>
            <a:off x="502920" y="4324985"/>
            <a:ext cx="9171432" cy="466217"/>
          </a:xfrm>
          <a:prstGeom prst="rect">
            <a:avLst/>
          </a:prstGeom>
          <a:noFill/>
        </p:spPr>
        <p:txBody>
          <a:bodyPr wrap="square" lIns="109728" tIns="45720" rIns="109728" bIns="45720" anchor="ctr" rtlCol="0">
            <a:noAutofit/>
          </a:bodyPr>
          <a:lstStyle/>
          <a:p>
            <a:pPr algn="l">
              <a:lnSpc>
                <a:spcPts val="2375"/>
              </a:lnSpc>
              <a:spcBef>
                <a:spcPts val="0"/>
              </a:spcBef>
              <a:spcAft>
                <a:spcPts val="0"/>
              </a:spcAft>
              <a:buNone/>
            </a:pPr>
            <a:r>
              <a:rPr lang="en-US" altLang="en-US" sz="1900" b="1" dirty="0">
                <a:solidFill>
                  <a:srgbClr val="1E2A5A"/>
                </a:solidFill>
                <a:latin typeface="Calibri"/>
                <a:ea typeface="맑은 고딕"/>
                <a:cs typeface="Calibri"/>
              </a:rPr>
              <a:t>4.  </a:t>
            </a:r>
            <a:r>
              <a:rPr lang="ko-KR" altLang="en-US" sz="1900" b="0" dirty="0">
                <a:solidFill>
                  <a:srgbClr val="1F2328"/>
                </a:solidFill>
                <a:latin typeface="맑은 고딕"/>
                <a:ea typeface="맑은 고딕"/>
                <a:cs typeface="맑은 고딕"/>
              </a:rPr>
              <a:t>선수들을 돕는 사람들은 많은 주목을 받는다.</a:t>
            </a:r>
            <a:endParaRPr lang="ko-KR" sz="1900"/>
          </a:p>
        </p:txBody>
      </p:sp>
      <p:sp>
        <p:nvSpPr>
          <p:cNvPr id="23" name="tf_4"/>
          <p:cNvSpPr txBox="1"/>
          <p:nvPr/>
        </p:nvSpPr>
        <p:spPr>
          <a:xfrm>
            <a:off x="9765792" y="4324985"/>
            <a:ext cx="1828800" cy="466217"/>
          </a:xfrm>
          <a:prstGeom prst="rect">
            <a:avLst/>
          </a:prstGeom>
          <a:noFill/>
        </p:spPr>
        <p:txBody>
          <a:bodyPr wrap="square" lIns="18288" tIns="18288" rIns="18288" bIns="18288" anchor="ctr" rtlCol="0">
            <a:noAutofit/>
          </a:bodyPr>
          <a:lstStyle/>
          <a:p>
            <a:pPr algn="ctr">
              <a:lnSpc>
                <a:spcPts val="2375"/>
              </a:lnSpc>
              <a:spcBef>
                <a:spcPts val="0"/>
              </a:spcBef>
              <a:spcAft>
                <a:spcPts val="0"/>
              </a:spcAft>
              <a:buNone/>
            </a:pPr>
            <a:r>
              <a:rPr lang="en-US" altLang="en-US" sz="1900" b="1" dirty="0">
                <a:solidFill>
                  <a:srgbClr val="9AA3B5"/>
                </a:solidFill>
                <a:latin typeface="Calibri"/>
                <a:ea typeface="맑은 고딕"/>
                <a:cs typeface="Calibri"/>
              </a:rPr>
              <a:t>T   /   F</a:t>
            </a:r>
            <a:endParaRPr lang="ko-KR" sz="1900"/>
          </a:p>
        </p:txBody>
      </p:sp>
      <p:sp>
        <p:nvSpPr>
          <p:cNvPr id="24" name="rv_ans_4"/>
          <p:cNvSpPr/>
          <p:nvPr/>
        </p:nvSpPr>
        <p:spPr>
          <a:xfrm>
            <a:off x="9765792" y="4370705"/>
            <a:ext cx="1828800" cy="374777"/>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640"/>
              </a:lnSpc>
              <a:spcBef>
                <a:spcPts val="0"/>
              </a:spcBef>
              <a:spcAft>
                <a:spcPts val="0"/>
              </a:spcAft>
              <a:buNone/>
            </a:pPr>
            <a:r>
              <a:rPr lang="en-US" altLang="en-US" sz="2200" b="1" dirty="0">
                <a:solidFill>
                  <a:srgbClr val="C00000"/>
                </a:solidFill>
                <a:latin typeface="Calibri"/>
                <a:ea typeface="맑은 고딕"/>
                <a:cs typeface="Calibri"/>
              </a:rPr>
              <a:t>F</a:t>
            </a:r>
            <a:endParaRPr lang="ko-KR" sz="2200"/>
          </a:p>
        </p:txBody>
      </p:sp>
      <p:sp>
        <p:nvSpPr>
          <p:cNvPr id="25" name="q_card_5"/>
          <p:cNvSpPr/>
          <p:nvPr/>
        </p:nvSpPr>
        <p:spPr>
          <a:xfrm>
            <a:off x="457200" y="4864354"/>
            <a:ext cx="11274552" cy="466217"/>
          </a:xfrm>
          <a:prstGeom prst="roundRect">
            <a:avLst>
              <a:gd name="adj" fmla="val 12000"/>
            </a:avLst>
          </a:prstGeom>
          <a:noFill/>
          <a:ln w="12700">
            <a:solidFill>
              <a:srgbClr val="D5DAE5"/>
            </a:solidFill>
          </a:ln>
        </p:spPr>
        <p:txBody>
          <a:bodyPr rtlCol="0" anchor="ctr"/>
          <a:lstStyle/>
          <a:p>
            <a:pPr algn="ctr"/>
          </a:p>
        </p:txBody>
      </p:sp>
      <p:sp>
        <p:nvSpPr>
          <p:cNvPr id="26" name="q_5"/>
          <p:cNvSpPr txBox="1"/>
          <p:nvPr/>
        </p:nvSpPr>
        <p:spPr>
          <a:xfrm>
            <a:off x="502920" y="4864354"/>
            <a:ext cx="9171432" cy="466217"/>
          </a:xfrm>
          <a:prstGeom prst="rect">
            <a:avLst/>
          </a:prstGeom>
          <a:noFill/>
        </p:spPr>
        <p:txBody>
          <a:bodyPr wrap="square" lIns="109728" tIns="45720" rIns="109728" bIns="45720" anchor="ctr" rtlCol="0">
            <a:noAutofit/>
          </a:bodyPr>
          <a:lstStyle/>
          <a:p>
            <a:pPr algn="l">
              <a:lnSpc>
                <a:spcPts val="2375"/>
              </a:lnSpc>
              <a:spcBef>
                <a:spcPts val="0"/>
              </a:spcBef>
              <a:spcAft>
                <a:spcPts val="0"/>
              </a:spcAft>
              <a:buNone/>
            </a:pPr>
            <a:r>
              <a:rPr lang="en-US" altLang="en-US" sz="1900" b="1" dirty="0">
                <a:solidFill>
                  <a:srgbClr val="1E2A5A"/>
                </a:solidFill>
                <a:latin typeface="Calibri"/>
                <a:ea typeface="맑은 고딕"/>
                <a:cs typeface="Calibri"/>
              </a:rPr>
              <a:t>5.  </a:t>
            </a:r>
            <a:r>
              <a:rPr lang="ko-KR" altLang="en-US" sz="1900" b="0" dirty="0">
                <a:solidFill>
                  <a:srgbClr val="1F2328"/>
                </a:solidFill>
                <a:latin typeface="맑은 고딕"/>
                <a:ea typeface="맑은 고딕"/>
                <a:cs typeface="맑은 고딕"/>
              </a:rPr>
              <a:t>선수들을 돕는 사람들은 선수들만큼 중요하다.</a:t>
            </a:r>
            <a:endParaRPr lang="ko-KR" sz="1900"/>
          </a:p>
        </p:txBody>
      </p:sp>
      <p:sp>
        <p:nvSpPr>
          <p:cNvPr id="27" name="tf_5"/>
          <p:cNvSpPr txBox="1"/>
          <p:nvPr/>
        </p:nvSpPr>
        <p:spPr>
          <a:xfrm>
            <a:off x="9765792" y="4864354"/>
            <a:ext cx="1828800" cy="466217"/>
          </a:xfrm>
          <a:prstGeom prst="rect">
            <a:avLst/>
          </a:prstGeom>
          <a:noFill/>
        </p:spPr>
        <p:txBody>
          <a:bodyPr wrap="square" lIns="18288" tIns="18288" rIns="18288" bIns="18288" anchor="ctr" rtlCol="0">
            <a:noAutofit/>
          </a:bodyPr>
          <a:lstStyle/>
          <a:p>
            <a:pPr algn="ctr">
              <a:lnSpc>
                <a:spcPts val="2375"/>
              </a:lnSpc>
              <a:spcBef>
                <a:spcPts val="0"/>
              </a:spcBef>
              <a:spcAft>
                <a:spcPts val="0"/>
              </a:spcAft>
              <a:buNone/>
            </a:pPr>
            <a:r>
              <a:rPr lang="en-US" altLang="en-US" sz="1900" b="1" dirty="0">
                <a:solidFill>
                  <a:srgbClr val="9AA3B5"/>
                </a:solidFill>
                <a:latin typeface="Calibri"/>
                <a:ea typeface="맑은 고딕"/>
                <a:cs typeface="Calibri"/>
              </a:rPr>
              <a:t>T   /   F</a:t>
            </a:r>
            <a:endParaRPr lang="ko-KR" sz="1900"/>
          </a:p>
        </p:txBody>
      </p:sp>
      <p:sp>
        <p:nvSpPr>
          <p:cNvPr id="28" name="rv_ans_5"/>
          <p:cNvSpPr/>
          <p:nvPr/>
        </p:nvSpPr>
        <p:spPr>
          <a:xfrm>
            <a:off x="9765792" y="4910074"/>
            <a:ext cx="1828800" cy="374777"/>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640"/>
              </a:lnSpc>
              <a:spcBef>
                <a:spcPts val="0"/>
              </a:spcBef>
              <a:spcAft>
                <a:spcPts val="0"/>
              </a:spcAft>
              <a:buNone/>
            </a:pPr>
            <a:r>
              <a:rPr lang="en-US" altLang="en-US" sz="2200" b="1" dirty="0">
                <a:solidFill>
                  <a:srgbClr val="C00000"/>
                </a:solidFill>
                <a:latin typeface="Calibri"/>
                <a:ea typeface="맑은 고딕"/>
                <a:cs typeface="Calibri"/>
              </a:rPr>
              <a:t>T</a:t>
            </a:r>
            <a:endParaRPr lang="ko-KR" sz="22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25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250"/>
                                        <p:tgtEl>
                                          <p:spTgt spid="1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0"/>
                                        </p:tgtEl>
                                        <p:attrNameLst>
                                          <p:attrName>style.visibility</p:attrName>
                                        </p:attrNameLst>
                                      </p:cBhvr>
                                      <p:to>
                                        <p:strVal val="visible"/>
                                      </p:to>
                                    </p:set>
                                    <p:animEffect transition="in" filter="fade">
                                      <p:cBhvr>
                                        <p:cTn id="13" dur="250"/>
                                        <p:tgtEl>
                                          <p:spTgt spid="20"/>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4"/>
                                        </p:tgtEl>
                                        <p:attrNameLst>
                                          <p:attrName>style.visibility</p:attrName>
                                        </p:attrNameLst>
                                      </p:cBhvr>
                                      <p:to>
                                        <p:strVal val="visible"/>
                                      </p:to>
                                    </p:set>
                                    <p:animEffect transition="in" filter="fade">
                                      <p:cBhvr>
                                        <p:cTn id="16" dur="250"/>
                                        <p:tgtEl>
                                          <p:spTgt spid="24"/>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8"/>
                                        </p:tgtEl>
                                        <p:attrNameLst>
                                          <p:attrName>style.visibility</p:attrName>
                                        </p:attrNameLst>
                                      </p:cBhvr>
                                      <p:to>
                                        <p:strVal val="visible"/>
                                      </p:to>
                                    </p:set>
                                    <p:animEffect transition="in" filter="fade">
                                      <p:cBhvr>
                                        <p:cTn id="19" dur="25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6" grpId="0" animBg="1"/>
      <p:bldP spid="20" grpId="0" animBg="1"/>
      <p:bldP spid="24" grpId="0" animBg="1"/>
      <p:bldP spid="28" grpId="0" animBg="1"/>
    </p:bldLst>
  </p:timing>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8000"/>
            </a:avLst>
          </a:prstGeom>
          <a:solidFill>
            <a:srgbClr val="1E2A5A"/>
          </a:solidFill>
          <a:ln>
            <a:noFill/>
          </a:ln>
        </p:spPr>
        <p:txBody>
          <a:bodyPr wrap="square" lIns="45720" tIns="18288" rIns="45720" bIns="18288" anchor="ctr" rtlCol="0">
            <a:noAutofit/>
          </a:bodyPr>
          <a:lstStyle/>
          <a:p>
            <a:pPr algn="ctr">
              <a:lnSpc>
                <a:spcPts val="2000"/>
              </a:lnSpc>
              <a:spcBef>
                <a:spcPts val="0"/>
              </a:spcBef>
              <a:spcAft>
                <a:spcPts val="0"/>
              </a:spcAft>
              <a:buNone/>
            </a:pPr>
            <a:r>
              <a:rPr lang="en-US" altLang="en-US" sz="1700" b="1" dirty="0">
                <a:solidFill>
                  <a:srgbClr val="FFFFFF"/>
                </a:solidFill>
                <a:latin typeface="Calibri"/>
                <a:ea typeface="맑은 고딕"/>
                <a:cs typeface="Calibri"/>
              </a:rPr>
              <a:t>L5-1</a:t>
            </a:r>
            <a:endParaRPr lang="ko-KR" sz="1700"/>
          </a:p>
        </p:txBody>
      </p:sp>
      <p:sp>
        <p:nvSpPr>
          <p:cNvPr id="3" name="hdr_chip"/>
          <p:cNvSpPr/>
          <p:nvPr/>
        </p:nvSpPr>
        <p:spPr>
          <a:xfrm>
            <a:off x="1755648" y="274320"/>
            <a:ext cx="1371600" cy="493776"/>
          </a:xfrm>
          <a:prstGeom prst="roundRect">
            <a:avLst>
              <a:gd name="adj" fmla="val 8000"/>
            </a:avLst>
          </a:prstGeom>
          <a:solidFill>
            <a:srgbClr val="E6EAF4"/>
          </a:solidFill>
          <a:ln>
            <a:noFill/>
          </a:ln>
        </p:spPr>
        <p:txBody>
          <a:bodyPr wrap="square" lIns="27432" tIns="18288" rIns="27432" bIns="18288" anchor="ctr" rtlCol="0">
            <a:noAutofit/>
          </a:bodyPr>
          <a:lstStyle/>
          <a:p>
            <a:pPr algn="ctr">
              <a:lnSpc>
                <a:spcPts val="1700"/>
              </a:lnSpc>
              <a:spcBef>
                <a:spcPts val="0"/>
              </a:spcBef>
              <a:spcAft>
                <a:spcPts val="0"/>
              </a:spcAft>
              <a:buNone/>
            </a:pPr>
            <a:r>
              <a:rPr lang="ko-KR" altLang="en-US" sz="1400" b="1" dirty="0">
                <a:solidFill>
                  <a:srgbClr val="1E2A5A"/>
                </a:solidFill>
                <a:latin typeface="맑은 고딕"/>
                <a:ea typeface="맑은 고딕"/>
                <a:cs typeface="맑은 고딕"/>
              </a:rPr>
              <a:t>PART 4 · 2</a:t>
            </a:r>
            <a:endParaRPr lang="ko-KR" sz="1400"/>
          </a:p>
        </p:txBody>
      </p:sp>
      <p:sp>
        <p:nvSpPr>
          <p:cNvPr id="4" name="hdr_q"/>
          <p:cNvSpPr txBox="1"/>
          <p:nvPr/>
        </p:nvSpPr>
        <p:spPr>
          <a:xfrm>
            <a:off x="3246120" y="246888"/>
            <a:ext cx="8485632" cy="548640"/>
          </a:xfrm>
          <a:prstGeom prst="rect">
            <a:avLst/>
          </a:prstGeom>
          <a:noFill/>
        </p:spPr>
        <p:txBody>
          <a:bodyPr wrap="square" lIns="109728" tIns="54864" rIns="109728" bIns="54864" anchor="ctr" rtlCol="0">
            <a:noAutofit/>
          </a:bodyPr>
          <a:lstStyle/>
          <a:p>
            <a:pPr algn="l">
              <a:lnSpc>
                <a:spcPts val="2400"/>
              </a:lnSpc>
              <a:spcBef>
                <a:spcPts val="0"/>
              </a:spcBef>
              <a:spcAft>
                <a:spcPts val="0"/>
              </a:spcAft>
              <a:buNone/>
            </a:pPr>
            <a:r>
              <a:rPr lang="ko-KR" altLang="en-US" sz="2000" b="1" dirty="0">
                <a:solidFill>
                  <a:srgbClr val="1F2328"/>
                </a:solidFill>
                <a:latin typeface="맑은 고딕"/>
                <a:ea typeface="맑은 고딕"/>
                <a:cs typeface="맑은 고딕"/>
              </a:rPr>
              <a:t>본문과 일치하면 T, 일치하지 않으면 F를 고르시오.</a:t>
            </a:r>
            <a:endParaRPr lang="ko-KR" sz="2000"/>
          </a:p>
        </p:txBody>
      </p:sp>
      <p:sp>
        <p:nvSpPr>
          <p:cNvPr id="5" name="ftr_exam"/>
          <p:cNvSpPr txBox="1"/>
          <p:nvPr/>
        </p:nvSpPr>
        <p:spPr>
          <a:xfrm>
            <a:off x="457200" y="6519672"/>
            <a:ext cx="5669280" cy="256032"/>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5</a:t>
            </a:r>
            <a:endParaRPr lang="ko-KR" sz="1000"/>
          </a:p>
        </p:txBody>
      </p:sp>
      <p:sp>
        <p:nvSpPr>
          <p:cNvPr id="6" name="ftr_hint"/>
          <p:cNvSpPr txBox="1"/>
          <p:nvPr/>
        </p:nvSpPr>
        <p:spPr>
          <a:xfrm>
            <a:off x="5971032" y="6519672"/>
            <a:ext cx="5760720" cy="256032"/>
          </a:xfrm>
          <a:prstGeom prst="rect">
            <a:avLst/>
          </a:prstGeom>
          <a:noFill/>
        </p:spPr>
        <p:txBody>
          <a:bodyPr wrap="square" lIns="0" tIns="0" rIns="0" bIns="0" anchor="t" rtlCol="0">
            <a:noAutofit/>
          </a:bodyPr>
          <a:lstStyle/>
          <a:p>
            <a:pPr algn="r">
              <a:lnSpc>
                <a:spcPts val="1200"/>
              </a:lnSpc>
              <a:spcBef>
                <a:spcPts val="0"/>
              </a:spcBef>
              <a:spcAft>
                <a:spcPts val="0"/>
              </a:spcAft>
              <a:buNone/>
            </a:pPr>
            <a:r>
              <a:rPr lang="ko-KR" altLang="en-US" sz="1000" b="0" dirty="0">
                <a:solidFill>
                  <a:srgbClr val="7A808C"/>
                </a:solidFill>
                <a:latin typeface="맑은 고딕"/>
                <a:ea typeface="맑은 고딕"/>
                <a:cs typeface="맑은 고딕"/>
              </a:rPr>
              <a:t>클릭 ① 정답(T/F) 공개</a:t>
            </a:r>
            <a:endParaRPr lang="ko-KR" sz="1000"/>
          </a:p>
        </p:txBody>
      </p:sp>
      <p:sp>
        <p:nvSpPr>
          <p:cNvPr id="7" name="passage_card"/>
          <p:cNvSpPr/>
          <p:nvPr/>
        </p:nvSpPr>
        <p:spPr>
          <a:xfrm>
            <a:off x="457200" y="950976"/>
            <a:ext cx="11274552" cy="1591309"/>
          </a:xfrm>
          <a:prstGeom prst="roundRect">
            <a:avLst>
              <a:gd name="adj" fmla="val 4000"/>
            </a:avLst>
          </a:prstGeom>
          <a:solidFill>
            <a:srgbClr val="F3F5F9"/>
          </a:solidFill>
          <a:ln w="12700">
            <a:solidFill>
              <a:srgbClr val="D9DFEA"/>
            </a:solidFill>
          </a:ln>
        </p:spPr>
        <p:txBody>
          <a:bodyPr rtlCol="0" anchor="ctr"/>
          <a:lstStyle/>
          <a:p>
            <a:pPr algn="ctr"/>
          </a:p>
        </p:txBody>
      </p:sp>
      <p:sp>
        <p:nvSpPr>
          <p:cNvPr id="8" name="passage"/>
          <p:cNvSpPr txBox="1"/>
          <p:nvPr/>
        </p:nvSpPr>
        <p:spPr>
          <a:xfrm>
            <a:off x="457200" y="950976"/>
            <a:ext cx="11274552" cy="1591309"/>
          </a:xfrm>
          <a:prstGeom prst="rect">
            <a:avLst/>
          </a:prstGeom>
          <a:noFill/>
        </p:spPr>
        <p:txBody>
          <a:bodyPr wrap="square" lIns="182880" tIns="137160" rIns="182880" bIns="137160" anchor="t" rtlCol="0">
            <a:noAutofit/>
          </a:bodyPr>
          <a:lstStyle/>
          <a:p>
            <a:pPr algn="l">
              <a:lnSpc>
                <a:spcPts val="2074"/>
              </a:lnSpc>
              <a:spcBef>
                <a:spcPts val="0"/>
              </a:spcBef>
              <a:spcAft>
                <a:spcPts val="0"/>
              </a:spcAft>
              <a:buNone/>
            </a:pPr>
            <a:r>
              <a:rPr lang="ko-KR" altLang="en-US" sz="1700" b="1" dirty="0">
                <a:solidFill>
                  <a:srgbClr val="1E2A5A"/>
                </a:solidFill>
                <a:latin typeface="맑은 고딕"/>
                <a:ea typeface="맑은 고딕"/>
                <a:cs typeface="맑은 고딕"/>
              </a:rPr>
              <a:t>① </a:t>
            </a:r>
            <a:r>
              <a:rPr lang="en-US" altLang="en-US" sz="1700" b="0" dirty="0">
                <a:solidFill>
                  <a:srgbClr val="1F2328"/>
                </a:solidFill>
                <a:latin typeface="Calibri"/>
                <a:ea typeface="맑은 고딕"/>
                <a:cs typeface="Calibri"/>
              </a:rPr>
              <a:t>In sports, only the players get a trophy or medal, but they don’t win on their own. </a:t>
            </a:r>
            <a:r>
              <a:rPr lang="ko-KR" altLang="en-US" sz="1700" b="1" dirty="0">
                <a:solidFill>
                  <a:srgbClr val="1E2A5A"/>
                </a:solidFill>
                <a:latin typeface="맑은 고딕"/>
                <a:ea typeface="맑은 고딕"/>
                <a:cs typeface="맑은 고딕"/>
              </a:rPr>
              <a:t>② </a:t>
            </a:r>
            <a:r>
              <a:rPr lang="en-US" altLang="en-US" sz="1700" b="0" dirty="0">
                <a:solidFill>
                  <a:srgbClr val="1F2328"/>
                </a:solidFill>
                <a:latin typeface="Calibri"/>
                <a:ea typeface="맑은 고딕"/>
                <a:cs typeface="Calibri"/>
              </a:rPr>
              <a:t>There are people who help the players. These people are often hidden and don’t get attention. </a:t>
            </a:r>
            <a:r>
              <a:rPr lang="ko-KR" altLang="en-US" sz="1700" b="1" dirty="0">
                <a:solidFill>
                  <a:srgbClr val="1E2A5A"/>
                </a:solidFill>
                <a:latin typeface="맑은 고딕"/>
                <a:ea typeface="맑은 고딕"/>
                <a:cs typeface="맑은 고딕"/>
              </a:rPr>
              <a:t>③ </a:t>
            </a:r>
            <a:r>
              <a:rPr lang="en-US" altLang="en-US" sz="1700" b="0" dirty="0">
                <a:solidFill>
                  <a:srgbClr val="1F2328"/>
                </a:solidFill>
                <a:latin typeface="Calibri"/>
                <a:ea typeface="맑은 고딕"/>
                <a:cs typeface="Calibri"/>
              </a:rPr>
              <a:t>However, they are as important as the players. Here are some examples. </a:t>
            </a:r>
            <a:r>
              <a:rPr lang="ko-KR" altLang="en-US" sz="1700" b="1" dirty="0">
                <a:solidFill>
                  <a:srgbClr val="1E2A5A"/>
                </a:solidFill>
                <a:latin typeface="맑은 고딕"/>
                <a:ea typeface="맑은 고딕"/>
                <a:cs typeface="맑은 고딕"/>
              </a:rPr>
              <a:t>④ </a:t>
            </a:r>
            <a:r>
              <a:rPr lang="en-US" altLang="en-US" sz="1700" b="0" dirty="0">
                <a:solidFill>
                  <a:srgbClr val="1F2328"/>
                </a:solidFill>
                <a:latin typeface="Calibri"/>
                <a:ea typeface="맑은 고딕"/>
                <a:cs typeface="Calibri"/>
              </a:rPr>
              <a:t>Pacers run with other runners and lead them in a marathon. </a:t>
            </a:r>
            <a:r>
              <a:rPr lang="ko-KR" altLang="en-US" sz="1700" b="1" dirty="0">
                <a:solidFill>
                  <a:srgbClr val="1E2A5A"/>
                </a:solidFill>
                <a:latin typeface="맑은 고딕"/>
                <a:ea typeface="맑은 고딕"/>
                <a:cs typeface="맑은 고딕"/>
              </a:rPr>
              <a:t>⑤ </a:t>
            </a:r>
            <a:r>
              <a:rPr lang="en-US" altLang="en-US" sz="1700" b="0" dirty="0">
                <a:solidFill>
                  <a:srgbClr val="1F2328"/>
                </a:solidFill>
                <a:latin typeface="Calibri"/>
                <a:ea typeface="맑은 고딕"/>
                <a:cs typeface="Calibri"/>
              </a:rPr>
              <a:t>Pacers are experienced runners, and their job is to help other runners manage their race better. There can be several pacers in a race. </a:t>
            </a:r>
            <a:endParaRPr lang="ko-KR" sz="1700"/>
          </a:p>
        </p:txBody>
      </p:sp>
      <p:sp>
        <p:nvSpPr>
          <p:cNvPr id="9" name="q_card_1"/>
          <p:cNvSpPr/>
          <p:nvPr/>
        </p:nvSpPr>
        <p:spPr>
          <a:xfrm>
            <a:off x="457200" y="2706878"/>
            <a:ext cx="11274552" cy="767842"/>
          </a:xfrm>
          <a:prstGeom prst="roundRect">
            <a:avLst>
              <a:gd name="adj" fmla="val 12000"/>
            </a:avLst>
          </a:prstGeom>
          <a:noFill/>
          <a:ln w="12700">
            <a:solidFill>
              <a:srgbClr val="D5DAE5"/>
            </a:solidFill>
          </a:ln>
        </p:spPr>
        <p:txBody>
          <a:bodyPr rtlCol="0" anchor="ctr"/>
          <a:lstStyle/>
          <a:p>
            <a:pPr algn="ctr"/>
          </a:p>
        </p:txBody>
      </p:sp>
      <p:sp>
        <p:nvSpPr>
          <p:cNvPr id="10" name="q_1"/>
          <p:cNvSpPr txBox="1"/>
          <p:nvPr/>
        </p:nvSpPr>
        <p:spPr>
          <a:xfrm>
            <a:off x="502920" y="2706878"/>
            <a:ext cx="9171432" cy="767842"/>
          </a:xfrm>
          <a:prstGeom prst="rect">
            <a:avLst/>
          </a:prstGeom>
          <a:noFill/>
        </p:spPr>
        <p:txBody>
          <a:bodyPr wrap="square" lIns="109728" tIns="45720" rIns="109728" bIns="45720" anchor="ctr" rtlCol="0">
            <a:noAutofit/>
          </a:bodyPr>
          <a:lstStyle/>
          <a:p>
            <a:pPr algn="l">
              <a:lnSpc>
                <a:spcPts val="2375"/>
              </a:lnSpc>
              <a:spcBef>
                <a:spcPts val="0"/>
              </a:spcBef>
              <a:spcAft>
                <a:spcPts val="0"/>
              </a:spcAft>
              <a:buNone/>
            </a:pPr>
            <a:r>
              <a:rPr lang="en-US" altLang="en-US" sz="1900" b="1" dirty="0">
                <a:solidFill>
                  <a:srgbClr val="1E2A5A"/>
                </a:solidFill>
                <a:latin typeface="Calibri"/>
                <a:ea typeface="맑은 고딕"/>
                <a:cs typeface="Calibri"/>
              </a:rPr>
              <a:t>6.  </a:t>
            </a:r>
            <a:r>
              <a:rPr lang="ko-KR" altLang="en-US" sz="1900" b="0" dirty="0">
                <a:solidFill>
                  <a:srgbClr val="1F2328"/>
                </a:solidFill>
                <a:latin typeface="맑은 고딕"/>
                <a:ea typeface="맑은 고딕"/>
                <a:cs typeface="맑은 고딕"/>
              </a:rPr>
              <a:t>선수들을 돕는 사람들은 선수들보다 덜 중요하다고 글쓴이는 말한다.</a:t>
            </a:r>
            <a:endParaRPr lang="ko-KR" sz="1900"/>
          </a:p>
        </p:txBody>
      </p:sp>
      <p:sp>
        <p:nvSpPr>
          <p:cNvPr id="11" name="tf_1"/>
          <p:cNvSpPr txBox="1"/>
          <p:nvPr/>
        </p:nvSpPr>
        <p:spPr>
          <a:xfrm>
            <a:off x="9765792" y="2706878"/>
            <a:ext cx="1828800" cy="767842"/>
          </a:xfrm>
          <a:prstGeom prst="rect">
            <a:avLst/>
          </a:prstGeom>
          <a:noFill/>
        </p:spPr>
        <p:txBody>
          <a:bodyPr wrap="square" lIns="18288" tIns="18288" rIns="18288" bIns="18288" anchor="ctr" rtlCol="0">
            <a:noAutofit/>
          </a:bodyPr>
          <a:lstStyle/>
          <a:p>
            <a:pPr algn="ctr">
              <a:lnSpc>
                <a:spcPts val="2375"/>
              </a:lnSpc>
              <a:spcBef>
                <a:spcPts val="0"/>
              </a:spcBef>
              <a:spcAft>
                <a:spcPts val="0"/>
              </a:spcAft>
              <a:buNone/>
            </a:pPr>
            <a:r>
              <a:rPr lang="en-US" altLang="en-US" sz="1900" b="1" dirty="0">
                <a:solidFill>
                  <a:srgbClr val="9AA3B5"/>
                </a:solidFill>
                <a:latin typeface="Calibri"/>
                <a:ea typeface="맑은 고딕"/>
                <a:cs typeface="Calibri"/>
              </a:rPr>
              <a:t>T   /   F</a:t>
            </a:r>
            <a:endParaRPr lang="ko-KR" sz="1900"/>
          </a:p>
        </p:txBody>
      </p:sp>
      <p:sp>
        <p:nvSpPr>
          <p:cNvPr id="12" name="rv_ans_1"/>
          <p:cNvSpPr/>
          <p:nvPr/>
        </p:nvSpPr>
        <p:spPr>
          <a:xfrm>
            <a:off x="9765792" y="2752598"/>
            <a:ext cx="1828800" cy="676402"/>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640"/>
              </a:lnSpc>
              <a:spcBef>
                <a:spcPts val="0"/>
              </a:spcBef>
              <a:spcAft>
                <a:spcPts val="0"/>
              </a:spcAft>
              <a:buNone/>
            </a:pPr>
            <a:r>
              <a:rPr lang="en-US" altLang="en-US" sz="2200" b="1" dirty="0">
                <a:solidFill>
                  <a:srgbClr val="C00000"/>
                </a:solidFill>
                <a:latin typeface="Calibri"/>
                <a:ea typeface="맑은 고딕"/>
                <a:cs typeface="Calibri"/>
              </a:rPr>
              <a:t>F</a:t>
            </a:r>
            <a:endParaRPr lang="ko-KR" sz="2200"/>
          </a:p>
        </p:txBody>
      </p:sp>
      <p:sp>
        <p:nvSpPr>
          <p:cNvPr id="13" name="q_card_2"/>
          <p:cNvSpPr/>
          <p:nvPr/>
        </p:nvSpPr>
        <p:spPr>
          <a:xfrm>
            <a:off x="457200" y="3547872"/>
            <a:ext cx="11274552" cy="466217"/>
          </a:xfrm>
          <a:prstGeom prst="roundRect">
            <a:avLst>
              <a:gd name="adj" fmla="val 12000"/>
            </a:avLst>
          </a:prstGeom>
          <a:noFill/>
          <a:ln w="12700">
            <a:solidFill>
              <a:srgbClr val="D5DAE5"/>
            </a:solidFill>
          </a:ln>
        </p:spPr>
        <p:txBody>
          <a:bodyPr rtlCol="0" anchor="ctr"/>
          <a:lstStyle/>
          <a:p>
            <a:pPr algn="ctr"/>
          </a:p>
        </p:txBody>
      </p:sp>
      <p:sp>
        <p:nvSpPr>
          <p:cNvPr id="14" name="q_2"/>
          <p:cNvSpPr txBox="1"/>
          <p:nvPr/>
        </p:nvSpPr>
        <p:spPr>
          <a:xfrm>
            <a:off x="502920" y="3547872"/>
            <a:ext cx="9171432" cy="466217"/>
          </a:xfrm>
          <a:prstGeom prst="rect">
            <a:avLst/>
          </a:prstGeom>
          <a:noFill/>
        </p:spPr>
        <p:txBody>
          <a:bodyPr wrap="square" lIns="109728" tIns="45720" rIns="109728" bIns="45720" anchor="ctr" rtlCol="0">
            <a:noAutofit/>
          </a:bodyPr>
          <a:lstStyle/>
          <a:p>
            <a:pPr algn="l">
              <a:lnSpc>
                <a:spcPts val="2375"/>
              </a:lnSpc>
              <a:spcBef>
                <a:spcPts val="0"/>
              </a:spcBef>
              <a:spcAft>
                <a:spcPts val="0"/>
              </a:spcAft>
              <a:buNone/>
            </a:pPr>
            <a:r>
              <a:rPr lang="en-US" altLang="en-US" sz="1900" b="1" dirty="0">
                <a:solidFill>
                  <a:srgbClr val="1E2A5A"/>
                </a:solidFill>
                <a:latin typeface="Calibri"/>
                <a:ea typeface="맑은 고딕"/>
                <a:cs typeface="Calibri"/>
              </a:rPr>
              <a:t>7.  </a:t>
            </a:r>
            <a:r>
              <a:rPr lang="ko-KR" altLang="en-US" sz="1900" b="0" dirty="0">
                <a:solidFill>
                  <a:srgbClr val="1F2328"/>
                </a:solidFill>
                <a:latin typeface="맑은 고딕"/>
                <a:ea typeface="맑은 고딕"/>
                <a:cs typeface="맑은 고딕"/>
              </a:rPr>
              <a:t>페이서는 마라톤에서 다른 선수들과 함께 달리며 그들을 이끈다.</a:t>
            </a:r>
            <a:endParaRPr lang="ko-KR" sz="1900"/>
          </a:p>
        </p:txBody>
      </p:sp>
      <p:sp>
        <p:nvSpPr>
          <p:cNvPr id="15" name="tf_2"/>
          <p:cNvSpPr txBox="1"/>
          <p:nvPr/>
        </p:nvSpPr>
        <p:spPr>
          <a:xfrm>
            <a:off x="9765792" y="3547872"/>
            <a:ext cx="1828800" cy="466217"/>
          </a:xfrm>
          <a:prstGeom prst="rect">
            <a:avLst/>
          </a:prstGeom>
          <a:noFill/>
        </p:spPr>
        <p:txBody>
          <a:bodyPr wrap="square" lIns="18288" tIns="18288" rIns="18288" bIns="18288" anchor="ctr" rtlCol="0">
            <a:noAutofit/>
          </a:bodyPr>
          <a:lstStyle/>
          <a:p>
            <a:pPr algn="ctr">
              <a:lnSpc>
                <a:spcPts val="2375"/>
              </a:lnSpc>
              <a:spcBef>
                <a:spcPts val="0"/>
              </a:spcBef>
              <a:spcAft>
                <a:spcPts val="0"/>
              </a:spcAft>
              <a:buNone/>
            </a:pPr>
            <a:r>
              <a:rPr lang="en-US" altLang="en-US" sz="1900" b="1" dirty="0">
                <a:solidFill>
                  <a:srgbClr val="9AA3B5"/>
                </a:solidFill>
                <a:latin typeface="Calibri"/>
                <a:ea typeface="맑은 고딕"/>
                <a:cs typeface="Calibri"/>
              </a:rPr>
              <a:t>T   /   F</a:t>
            </a:r>
            <a:endParaRPr lang="ko-KR" sz="1900"/>
          </a:p>
        </p:txBody>
      </p:sp>
      <p:sp>
        <p:nvSpPr>
          <p:cNvPr id="16" name="rv_ans_2"/>
          <p:cNvSpPr/>
          <p:nvPr/>
        </p:nvSpPr>
        <p:spPr>
          <a:xfrm>
            <a:off x="9765792" y="3593591"/>
            <a:ext cx="1828800" cy="374777"/>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640"/>
              </a:lnSpc>
              <a:spcBef>
                <a:spcPts val="0"/>
              </a:spcBef>
              <a:spcAft>
                <a:spcPts val="0"/>
              </a:spcAft>
              <a:buNone/>
            </a:pPr>
            <a:r>
              <a:rPr lang="en-US" altLang="en-US" sz="2200" b="1" dirty="0">
                <a:solidFill>
                  <a:srgbClr val="C00000"/>
                </a:solidFill>
                <a:latin typeface="Calibri"/>
                <a:ea typeface="맑은 고딕"/>
                <a:cs typeface="Calibri"/>
              </a:rPr>
              <a:t>T</a:t>
            </a:r>
            <a:endParaRPr lang="ko-KR" sz="2200"/>
          </a:p>
        </p:txBody>
      </p:sp>
      <p:sp>
        <p:nvSpPr>
          <p:cNvPr id="17" name="q_card_3"/>
          <p:cNvSpPr/>
          <p:nvPr/>
        </p:nvSpPr>
        <p:spPr>
          <a:xfrm>
            <a:off x="457200" y="4087241"/>
            <a:ext cx="11274552" cy="466217"/>
          </a:xfrm>
          <a:prstGeom prst="roundRect">
            <a:avLst>
              <a:gd name="adj" fmla="val 12000"/>
            </a:avLst>
          </a:prstGeom>
          <a:noFill/>
          <a:ln w="12700">
            <a:solidFill>
              <a:srgbClr val="D5DAE5"/>
            </a:solidFill>
          </a:ln>
        </p:spPr>
        <p:txBody>
          <a:bodyPr rtlCol="0" anchor="ctr"/>
          <a:lstStyle/>
          <a:p>
            <a:pPr algn="ctr"/>
          </a:p>
        </p:txBody>
      </p:sp>
      <p:sp>
        <p:nvSpPr>
          <p:cNvPr id="18" name="q_3"/>
          <p:cNvSpPr txBox="1"/>
          <p:nvPr/>
        </p:nvSpPr>
        <p:spPr>
          <a:xfrm>
            <a:off x="502920" y="4087241"/>
            <a:ext cx="9171432" cy="466217"/>
          </a:xfrm>
          <a:prstGeom prst="rect">
            <a:avLst/>
          </a:prstGeom>
          <a:noFill/>
        </p:spPr>
        <p:txBody>
          <a:bodyPr wrap="square" lIns="109728" tIns="45720" rIns="109728" bIns="45720" anchor="ctr" rtlCol="0">
            <a:noAutofit/>
          </a:bodyPr>
          <a:lstStyle/>
          <a:p>
            <a:pPr algn="l">
              <a:lnSpc>
                <a:spcPts val="2375"/>
              </a:lnSpc>
              <a:spcBef>
                <a:spcPts val="0"/>
              </a:spcBef>
              <a:spcAft>
                <a:spcPts val="0"/>
              </a:spcAft>
              <a:buNone/>
            </a:pPr>
            <a:r>
              <a:rPr lang="en-US" altLang="en-US" sz="1900" b="1" dirty="0">
                <a:solidFill>
                  <a:srgbClr val="1E2A5A"/>
                </a:solidFill>
                <a:latin typeface="Calibri"/>
                <a:ea typeface="맑은 고딕"/>
                <a:cs typeface="Calibri"/>
              </a:rPr>
              <a:t>8.  </a:t>
            </a:r>
            <a:r>
              <a:rPr lang="ko-KR" altLang="en-US" sz="1900" b="0" dirty="0">
                <a:solidFill>
                  <a:srgbClr val="1F2328"/>
                </a:solidFill>
                <a:latin typeface="맑은 고딕"/>
                <a:ea typeface="맑은 고딕"/>
                <a:cs typeface="맑은 고딕"/>
              </a:rPr>
              <a:t>페이서는 마라톤 경험이 거의 없는 초보 선수들이다.</a:t>
            </a:r>
            <a:endParaRPr lang="ko-KR" sz="1900"/>
          </a:p>
        </p:txBody>
      </p:sp>
      <p:sp>
        <p:nvSpPr>
          <p:cNvPr id="19" name="tf_3"/>
          <p:cNvSpPr txBox="1"/>
          <p:nvPr/>
        </p:nvSpPr>
        <p:spPr>
          <a:xfrm>
            <a:off x="9765792" y="4087241"/>
            <a:ext cx="1828800" cy="466217"/>
          </a:xfrm>
          <a:prstGeom prst="rect">
            <a:avLst/>
          </a:prstGeom>
          <a:noFill/>
        </p:spPr>
        <p:txBody>
          <a:bodyPr wrap="square" lIns="18288" tIns="18288" rIns="18288" bIns="18288" anchor="ctr" rtlCol="0">
            <a:noAutofit/>
          </a:bodyPr>
          <a:lstStyle/>
          <a:p>
            <a:pPr algn="ctr">
              <a:lnSpc>
                <a:spcPts val="2375"/>
              </a:lnSpc>
              <a:spcBef>
                <a:spcPts val="0"/>
              </a:spcBef>
              <a:spcAft>
                <a:spcPts val="0"/>
              </a:spcAft>
              <a:buNone/>
            </a:pPr>
            <a:r>
              <a:rPr lang="en-US" altLang="en-US" sz="1900" b="1" dirty="0">
                <a:solidFill>
                  <a:srgbClr val="9AA3B5"/>
                </a:solidFill>
                <a:latin typeface="Calibri"/>
                <a:ea typeface="맑은 고딕"/>
                <a:cs typeface="Calibri"/>
              </a:rPr>
              <a:t>T   /   F</a:t>
            </a:r>
            <a:endParaRPr lang="ko-KR" sz="1900"/>
          </a:p>
        </p:txBody>
      </p:sp>
      <p:sp>
        <p:nvSpPr>
          <p:cNvPr id="20" name="rv_ans_3"/>
          <p:cNvSpPr/>
          <p:nvPr/>
        </p:nvSpPr>
        <p:spPr>
          <a:xfrm>
            <a:off x="9765792" y="4132961"/>
            <a:ext cx="1828800" cy="374777"/>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640"/>
              </a:lnSpc>
              <a:spcBef>
                <a:spcPts val="0"/>
              </a:spcBef>
              <a:spcAft>
                <a:spcPts val="0"/>
              </a:spcAft>
              <a:buNone/>
            </a:pPr>
            <a:r>
              <a:rPr lang="en-US" altLang="en-US" sz="2200" b="1" dirty="0">
                <a:solidFill>
                  <a:srgbClr val="C00000"/>
                </a:solidFill>
                <a:latin typeface="Calibri"/>
                <a:ea typeface="맑은 고딕"/>
                <a:cs typeface="Calibri"/>
              </a:rPr>
              <a:t>F</a:t>
            </a:r>
            <a:endParaRPr lang="ko-KR" sz="2200"/>
          </a:p>
        </p:txBody>
      </p:sp>
      <p:sp>
        <p:nvSpPr>
          <p:cNvPr id="21" name="q_card_4"/>
          <p:cNvSpPr/>
          <p:nvPr/>
        </p:nvSpPr>
        <p:spPr>
          <a:xfrm>
            <a:off x="457200" y="4626610"/>
            <a:ext cx="11274552" cy="767842"/>
          </a:xfrm>
          <a:prstGeom prst="roundRect">
            <a:avLst>
              <a:gd name="adj" fmla="val 12000"/>
            </a:avLst>
          </a:prstGeom>
          <a:noFill/>
          <a:ln w="12700">
            <a:solidFill>
              <a:srgbClr val="D5DAE5"/>
            </a:solidFill>
          </a:ln>
        </p:spPr>
        <p:txBody>
          <a:bodyPr rtlCol="0" anchor="ctr"/>
          <a:lstStyle/>
          <a:p>
            <a:pPr algn="ctr"/>
          </a:p>
        </p:txBody>
      </p:sp>
      <p:sp>
        <p:nvSpPr>
          <p:cNvPr id="22" name="q_4"/>
          <p:cNvSpPr txBox="1"/>
          <p:nvPr/>
        </p:nvSpPr>
        <p:spPr>
          <a:xfrm>
            <a:off x="502920" y="4626610"/>
            <a:ext cx="9171432" cy="767842"/>
          </a:xfrm>
          <a:prstGeom prst="rect">
            <a:avLst/>
          </a:prstGeom>
          <a:noFill/>
        </p:spPr>
        <p:txBody>
          <a:bodyPr wrap="square" lIns="109728" tIns="45720" rIns="109728" bIns="45720" anchor="ctr" rtlCol="0">
            <a:noAutofit/>
          </a:bodyPr>
          <a:lstStyle/>
          <a:p>
            <a:pPr algn="l">
              <a:lnSpc>
                <a:spcPts val="2375"/>
              </a:lnSpc>
              <a:spcBef>
                <a:spcPts val="0"/>
              </a:spcBef>
              <a:spcAft>
                <a:spcPts val="0"/>
              </a:spcAft>
              <a:buNone/>
            </a:pPr>
            <a:r>
              <a:rPr lang="en-US" altLang="en-US" sz="1900" b="1" dirty="0">
                <a:solidFill>
                  <a:srgbClr val="1E2A5A"/>
                </a:solidFill>
                <a:latin typeface="Calibri"/>
                <a:ea typeface="맑은 고딕"/>
                <a:cs typeface="Calibri"/>
              </a:rPr>
              <a:t>9.  </a:t>
            </a:r>
            <a:r>
              <a:rPr lang="ko-KR" altLang="en-US" sz="1900" b="0" dirty="0">
                <a:solidFill>
                  <a:srgbClr val="1F2328"/>
                </a:solidFill>
                <a:latin typeface="맑은 고딕"/>
                <a:ea typeface="맑은 고딕"/>
                <a:cs typeface="맑은 고딕"/>
              </a:rPr>
              <a:t>페이서의 역할은 다른 선수들이 경주를 더 잘 운영하도록 돕는 것이다.</a:t>
            </a:r>
            <a:endParaRPr lang="ko-KR" sz="1900"/>
          </a:p>
        </p:txBody>
      </p:sp>
      <p:sp>
        <p:nvSpPr>
          <p:cNvPr id="23" name="tf_4"/>
          <p:cNvSpPr txBox="1"/>
          <p:nvPr/>
        </p:nvSpPr>
        <p:spPr>
          <a:xfrm>
            <a:off x="9765792" y="4626610"/>
            <a:ext cx="1828800" cy="767842"/>
          </a:xfrm>
          <a:prstGeom prst="rect">
            <a:avLst/>
          </a:prstGeom>
          <a:noFill/>
        </p:spPr>
        <p:txBody>
          <a:bodyPr wrap="square" lIns="18288" tIns="18288" rIns="18288" bIns="18288" anchor="ctr" rtlCol="0">
            <a:noAutofit/>
          </a:bodyPr>
          <a:lstStyle/>
          <a:p>
            <a:pPr algn="ctr">
              <a:lnSpc>
                <a:spcPts val="2375"/>
              </a:lnSpc>
              <a:spcBef>
                <a:spcPts val="0"/>
              </a:spcBef>
              <a:spcAft>
                <a:spcPts val="0"/>
              </a:spcAft>
              <a:buNone/>
            </a:pPr>
            <a:r>
              <a:rPr lang="en-US" altLang="en-US" sz="1900" b="1" dirty="0">
                <a:solidFill>
                  <a:srgbClr val="9AA3B5"/>
                </a:solidFill>
                <a:latin typeface="Calibri"/>
                <a:ea typeface="맑은 고딕"/>
                <a:cs typeface="Calibri"/>
              </a:rPr>
              <a:t>T   /   F</a:t>
            </a:r>
            <a:endParaRPr lang="ko-KR" sz="1900"/>
          </a:p>
        </p:txBody>
      </p:sp>
      <p:sp>
        <p:nvSpPr>
          <p:cNvPr id="24" name="rv_ans_4"/>
          <p:cNvSpPr/>
          <p:nvPr/>
        </p:nvSpPr>
        <p:spPr>
          <a:xfrm>
            <a:off x="9765792" y="4672330"/>
            <a:ext cx="1828800" cy="676402"/>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640"/>
              </a:lnSpc>
              <a:spcBef>
                <a:spcPts val="0"/>
              </a:spcBef>
              <a:spcAft>
                <a:spcPts val="0"/>
              </a:spcAft>
              <a:buNone/>
            </a:pPr>
            <a:r>
              <a:rPr lang="en-US" altLang="en-US" sz="2200" b="1" dirty="0">
                <a:solidFill>
                  <a:srgbClr val="C00000"/>
                </a:solidFill>
                <a:latin typeface="Calibri"/>
                <a:ea typeface="맑은 고딕"/>
                <a:cs typeface="Calibri"/>
              </a:rPr>
              <a:t>T</a:t>
            </a:r>
            <a:endParaRPr lang="ko-KR" sz="2200"/>
          </a:p>
        </p:txBody>
      </p:sp>
      <p:sp>
        <p:nvSpPr>
          <p:cNvPr id="25" name="q_card_5"/>
          <p:cNvSpPr/>
          <p:nvPr/>
        </p:nvSpPr>
        <p:spPr>
          <a:xfrm>
            <a:off x="457200" y="5467604"/>
            <a:ext cx="11274552" cy="466217"/>
          </a:xfrm>
          <a:prstGeom prst="roundRect">
            <a:avLst>
              <a:gd name="adj" fmla="val 12000"/>
            </a:avLst>
          </a:prstGeom>
          <a:noFill/>
          <a:ln w="12700">
            <a:solidFill>
              <a:srgbClr val="D5DAE5"/>
            </a:solidFill>
          </a:ln>
        </p:spPr>
        <p:txBody>
          <a:bodyPr rtlCol="0" anchor="ctr"/>
          <a:lstStyle/>
          <a:p>
            <a:pPr algn="ctr"/>
          </a:p>
        </p:txBody>
      </p:sp>
      <p:sp>
        <p:nvSpPr>
          <p:cNvPr id="26" name="q_5"/>
          <p:cNvSpPr txBox="1"/>
          <p:nvPr/>
        </p:nvSpPr>
        <p:spPr>
          <a:xfrm>
            <a:off x="502920" y="5467604"/>
            <a:ext cx="9171432" cy="466217"/>
          </a:xfrm>
          <a:prstGeom prst="rect">
            <a:avLst/>
          </a:prstGeom>
          <a:noFill/>
        </p:spPr>
        <p:txBody>
          <a:bodyPr wrap="square" lIns="109728" tIns="45720" rIns="109728" bIns="45720" anchor="ctr" rtlCol="0">
            <a:noAutofit/>
          </a:bodyPr>
          <a:lstStyle/>
          <a:p>
            <a:pPr algn="l">
              <a:lnSpc>
                <a:spcPts val="2375"/>
              </a:lnSpc>
              <a:spcBef>
                <a:spcPts val="0"/>
              </a:spcBef>
              <a:spcAft>
                <a:spcPts val="0"/>
              </a:spcAft>
              <a:buNone/>
            </a:pPr>
            <a:r>
              <a:rPr lang="en-US" altLang="en-US" sz="1900" b="1" dirty="0">
                <a:solidFill>
                  <a:srgbClr val="1E2A5A"/>
                </a:solidFill>
                <a:latin typeface="Calibri"/>
                <a:ea typeface="맑은 고딕"/>
                <a:cs typeface="Calibri"/>
              </a:rPr>
              <a:t>10.  </a:t>
            </a:r>
            <a:r>
              <a:rPr lang="ko-KR" altLang="en-US" sz="1900" b="0" dirty="0">
                <a:solidFill>
                  <a:srgbClr val="1F2328"/>
                </a:solidFill>
                <a:latin typeface="맑은 고딕"/>
                <a:ea typeface="맑은 고딕"/>
                <a:cs typeface="맑은 고딕"/>
              </a:rPr>
              <a:t>한 경주에는 페이서가 반드시 한 명만 있다.</a:t>
            </a:r>
            <a:endParaRPr lang="ko-KR" sz="1900"/>
          </a:p>
        </p:txBody>
      </p:sp>
      <p:sp>
        <p:nvSpPr>
          <p:cNvPr id="27" name="tf_5"/>
          <p:cNvSpPr txBox="1"/>
          <p:nvPr/>
        </p:nvSpPr>
        <p:spPr>
          <a:xfrm>
            <a:off x="9765792" y="5467604"/>
            <a:ext cx="1828800" cy="466217"/>
          </a:xfrm>
          <a:prstGeom prst="rect">
            <a:avLst/>
          </a:prstGeom>
          <a:noFill/>
        </p:spPr>
        <p:txBody>
          <a:bodyPr wrap="square" lIns="18288" tIns="18288" rIns="18288" bIns="18288" anchor="ctr" rtlCol="0">
            <a:noAutofit/>
          </a:bodyPr>
          <a:lstStyle/>
          <a:p>
            <a:pPr algn="ctr">
              <a:lnSpc>
                <a:spcPts val="2375"/>
              </a:lnSpc>
              <a:spcBef>
                <a:spcPts val="0"/>
              </a:spcBef>
              <a:spcAft>
                <a:spcPts val="0"/>
              </a:spcAft>
              <a:buNone/>
            </a:pPr>
            <a:r>
              <a:rPr lang="en-US" altLang="en-US" sz="1900" b="1" dirty="0">
                <a:solidFill>
                  <a:srgbClr val="9AA3B5"/>
                </a:solidFill>
                <a:latin typeface="Calibri"/>
                <a:ea typeface="맑은 고딕"/>
                <a:cs typeface="Calibri"/>
              </a:rPr>
              <a:t>T   /   F</a:t>
            </a:r>
            <a:endParaRPr lang="ko-KR" sz="1900"/>
          </a:p>
        </p:txBody>
      </p:sp>
      <p:sp>
        <p:nvSpPr>
          <p:cNvPr id="28" name="rv_ans_5"/>
          <p:cNvSpPr/>
          <p:nvPr/>
        </p:nvSpPr>
        <p:spPr>
          <a:xfrm>
            <a:off x="9765792" y="5513324"/>
            <a:ext cx="1828800" cy="374777"/>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640"/>
              </a:lnSpc>
              <a:spcBef>
                <a:spcPts val="0"/>
              </a:spcBef>
              <a:spcAft>
                <a:spcPts val="0"/>
              </a:spcAft>
              <a:buNone/>
            </a:pPr>
            <a:r>
              <a:rPr lang="en-US" altLang="en-US" sz="2200" b="1" dirty="0">
                <a:solidFill>
                  <a:srgbClr val="C00000"/>
                </a:solidFill>
                <a:latin typeface="Calibri"/>
                <a:ea typeface="맑은 고딕"/>
                <a:cs typeface="Calibri"/>
              </a:rPr>
              <a:t>F</a:t>
            </a:r>
            <a:endParaRPr lang="ko-KR" sz="22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25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250"/>
                                        <p:tgtEl>
                                          <p:spTgt spid="1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0"/>
                                        </p:tgtEl>
                                        <p:attrNameLst>
                                          <p:attrName>style.visibility</p:attrName>
                                        </p:attrNameLst>
                                      </p:cBhvr>
                                      <p:to>
                                        <p:strVal val="visible"/>
                                      </p:to>
                                    </p:set>
                                    <p:animEffect transition="in" filter="fade">
                                      <p:cBhvr>
                                        <p:cTn id="13" dur="250"/>
                                        <p:tgtEl>
                                          <p:spTgt spid="20"/>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4"/>
                                        </p:tgtEl>
                                        <p:attrNameLst>
                                          <p:attrName>style.visibility</p:attrName>
                                        </p:attrNameLst>
                                      </p:cBhvr>
                                      <p:to>
                                        <p:strVal val="visible"/>
                                      </p:to>
                                    </p:set>
                                    <p:animEffect transition="in" filter="fade">
                                      <p:cBhvr>
                                        <p:cTn id="16" dur="250"/>
                                        <p:tgtEl>
                                          <p:spTgt spid="24"/>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8"/>
                                        </p:tgtEl>
                                        <p:attrNameLst>
                                          <p:attrName>style.visibility</p:attrName>
                                        </p:attrNameLst>
                                      </p:cBhvr>
                                      <p:to>
                                        <p:strVal val="visible"/>
                                      </p:to>
                                    </p:set>
                                    <p:animEffect transition="in" filter="fade">
                                      <p:cBhvr>
                                        <p:cTn id="19" dur="25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6" grpId="0" animBg="1"/>
      <p:bldP spid="20" grpId="0" animBg="1"/>
      <p:bldP spid="24" grpId="0" animBg="1"/>
      <p:bldP spid="28" grpId="0" animBg="1"/>
    </p:bldLst>
  </p:timing>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8000"/>
            </a:avLst>
          </a:prstGeom>
          <a:solidFill>
            <a:srgbClr val="1E2A5A"/>
          </a:solidFill>
          <a:ln>
            <a:noFill/>
          </a:ln>
        </p:spPr>
        <p:txBody>
          <a:bodyPr wrap="square" lIns="45720" tIns="18288" rIns="45720" bIns="18288" anchor="ctr" rtlCol="0">
            <a:noAutofit/>
          </a:bodyPr>
          <a:lstStyle/>
          <a:p>
            <a:pPr algn="ctr">
              <a:lnSpc>
                <a:spcPts val="2000"/>
              </a:lnSpc>
              <a:spcBef>
                <a:spcPts val="0"/>
              </a:spcBef>
              <a:spcAft>
                <a:spcPts val="0"/>
              </a:spcAft>
              <a:buNone/>
            </a:pPr>
            <a:r>
              <a:rPr lang="en-US" altLang="en-US" sz="1700" b="1" dirty="0">
                <a:solidFill>
                  <a:srgbClr val="FFFFFF"/>
                </a:solidFill>
                <a:latin typeface="Calibri"/>
                <a:ea typeface="맑은 고딕"/>
                <a:cs typeface="Calibri"/>
              </a:rPr>
              <a:t>L5-2</a:t>
            </a:r>
            <a:endParaRPr lang="ko-KR" sz="1700"/>
          </a:p>
        </p:txBody>
      </p:sp>
      <p:sp>
        <p:nvSpPr>
          <p:cNvPr id="3" name="hdr_chip"/>
          <p:cNvSpPr/>
          <p:nvPr/>
        </p:nvSpPr>
        <p:spPr>
          <a:xfrm>
            <a:off x="1755648" y="274320"/>
            <a:ext cx="1371600" cy="493776"/>
          </a:xfrm>
          <a:prstGeom prst="roundRect">
            <a:avLst>
              <a:gd name="adj" fmla="val 8000"/>
            </a:avLst>
          </a:prstGeom>
          <a:solidFill>
            <a:srgbClr val="E6EAF4"/>
          </a:solidFill>
          <a:ln>
            <a:noFill/>
          </a:ln>
        </p:spPr>
        <p:txBody>
          <a:bodyPr wrap="square" lIns="27432" tIns="18288" rIns="27432" bIns="18288" anchor="ctr" rtlCol="0">
            <a:noAutofit/>
          </a:bodyPr>
          <a:lstStyle/>
          <a:p>
            <a:pPr algn="ctr">
              <a:lnSpc>
                <a:spcPts val="1700"/>
              </a:lnSpc>
              <a:spcBef>
                <a:spcPts val="0"/>
              </a:spcBef>
              <a:spcAft>
                <a:spcPts val="0"/>
              </a:spcAft>
              <a:buNone/>
            </a:pPr>
            <a:r>
              <a:rPr lang="ko-KR" altLang="en-US" sz="1400" b="1" dirty="0">
                <a:solidFill>
                  <a:srgbClr val="1E2A5A"/>
                </a:solidFill>
                <a:latin typeface="맑은 고딕"/>
                <a:ea typeface="맑은 고딕"/>
                <a:cs typeface="맑은 고딕"/>
              </a:rPr>
              <a:t>PART 4 · 3</a:t>
            </a:r>
            <a:endParaRPr lang="ko-KR" sz="1400"/>
          </a:p>
        </p:txBody>
      </p:sp>
      <p:sp>
        <p:nvSpPr>
          <p:cNvPr id="4" name="hdr_q"/>
          <p:cNvSpPr txBox="1"/>
          <p:nvPr/>
        </p:nvSpPr>
        <p:spPr>
          <a:xfrm>
            <a:off x="3246120" y="246888"/>
            <a:ext cx="8485632" cy="548640"/>
          </a:xfrm>
          <a:prstGeom prst="rect">
            <a:avLst/>
          </a:prstGeom>
          <a:noFill/>
        </p:spPr>
        <p:txBody>
          <a:bodyPr wrap="square" lIns="109728" tIns="54864" rIns="109728" bIns="54864" anchor="ctr" rtlCol="0">
            <a:noAutofit/>
          </a:bodyPr>
          <a:lstStyle/>
          <a:p>
            <a:pPr algn="l">
              <a:lnSpc>
                <a:spcPts val="2400"/>
              </a:lnSpc>
              <a:spcBef>
                <a:spcPts val="0"/>
              </a:spcBef>
              <a:spcAft>
                <a:spcPts val="0"/>
              </a:spcAft>
              <a:buNone/>
            </a:pPr>
            <a:r>
              <a:rPr lang="ko-KR" altLang="en-US" sz="2000" b="1" dirty="0">
                <a:solidFill>
                  <a:srgbClr val="1F2328"/>
                </a:solidFill>
                <a:latin typeface="맑은 고딕"/>
                <a:ea typeface="맑은 고딕"/>
                <a:cs typeface="맑은 고딕"/>
              </a:rPr>
              <a:t>본문과 일치하면 T, 일치하지 않으면 F를 고르시오.</a:t>
            </a:r>
            <a:endParaRPr lang="ko-KR" sz="2000"/>
          </a:p>
        </p:txBody>
      </p:sp>
      <p:sp>
        <p:nvSpPr>
          <p:cNvPr id="5" name="ftr_exam"/>
          <p:cNvSpPr txBox="1"/>
          <p:nvPr/>
        </p:nvSpPr>
        <p:spPr>
          <a:xfrm>
            <a:off x="457200" y="6519672"/>
            <a:ext cx="5669280" cy="256032"/>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5</a:t>
            </a:r>
            <a:endParaRPr lang="ko-KR" sz="1000"/>
          </a:p>
        </p:txBody>
      </p:sp>
      <p:sp>
        <p:nvSpPr>
          <p:cNvPr id="6" name="ftr_hint"/>
          <p:cNvSpPr txBox="1"/>
          <p:nvPr/>
        </p:nvSpPr>
        <p:spPr>
          <a:xfrm>
            <a:off x="5971032" y="6519672"/>
            <a:ext cx="5760720" cy="256032"/>
          </a:xfrm>
          <a:prstGeom prst="rect">
            <a:avLst/>
          </a:prstGeom>
          <a:noFill/>
        </p:spPr>
        <p:txBody>
          <a:bodyPr wrap="square" lIns="0" tIns="0" rIns="0" bIns="0" anchor="t" rtlCol="0">
            <a:noAutofit/>
          </a:bodyPr>
          <a:lstStyle/>
          <a:p>
            <a:pPr algn="r">
              <a:lnSpc>
                <a:spcPts val="1200"/>
              </a:lnSpc>
              <a:spcBef>
                <a:spcPts val="0"/>
              </a:spcBef>
              <a:spcAft>
                <a:spcPts val="0"/>
              </a:spcAft>
              <a:buNone/>
            </a:pPr>
            <a:r>
              <a:rPr lang="ko-KR" altLang="en-US" sz="1000" b="0" dirty="0">
                <a:solidFill>
                  <a:srgbClr val="7A808C"/>
                </a:solidFill>
                <a:latin typeface="맑은 고딕"/>
                <a:ea typeface="맑은 고딕"/>
                <a:cs typeface="맑은 고딕"/>
              </a:rPr>
              <a:t>클릭 ① 정답(T/F) 공개</a:t>
            </a:r>
            <a:endParaRPr lang="ko-KR" sz="1000"/>
          </a:p>
        </p:txBody>
      </p:sp>
      <p:sp>
        <p:nvSpPr>
          <p:cNvPr id="7" name="passage_card"/>
          <p:cNvSpPr/>
          <p:nvPr/>
        </p:nvSpPr>
        <p:spPr>
          <a:xfrm>
            <a:off x="457200" y="950976"/>
            <a:ext cx="11274552" cy="1854708"/>
          </a:xfrm>
          <a:prstGeom prst="roundRect">
            <a:avLst>
              <a:gd name="adj" fmla="val 4000"/>
            </a:avLst>
          </a:prstGeom>
          <a:solidFill>
            <a:srgbClr val="F3F5F9"/>
          </a:solidFill>
          <a:ln w="12700">
            <a:solidFill>
              <a:srgbClr val="D9DFEA"/>
            </a:solidFill>
          </a:ln>
        </p:spPr>
        <p:txBody>
          <a:bodyPr rtlCol="0" anchor="ctr"/>
          <a:lstStyle/>
          <a:p>
            <a:pPr algn="ctr"/>
          </a:p>
        </p:txBody>
      </p:sp>
      <p:sp>
        <p:nvSpPr>
          <p:cNvPr id="8" name="passage"/>
          <p:cNvSpPr txBox="1"/>
          <p:nvPr/>
        </p:nvSpPr>
        <p:spPr>
          <a:xfrm>
            <a:off x="457200" y="950976"/>
            <a:ext cx="11274552" cy="1854708"/>
          </a:xfrm>
          <a:prstGeom prst="rect">
            <a:avLst/>
          </a:prstGeom>
          <a:noFill/>
        </p:spPr>
        <p:txBody>
          <a:bodyPr wrap="square" lIns="182880" tIns="137160" rIns="182880" bIns="137160" anchor="t" rtlCol="0">
            <a:noAutofit/>
          </a:bodyPr>
          <a:lstStyle/>
          <a:p>
            <a:pPr algn="l">
              <a:lnSpc>
                <a:spcPts val="2074"/>
              </a:lnSpc>
              <a:spcBef>
                <a:spcPts val="0"/>
              </a:spcBef>
              <a:spcAft>
                <a:spcPts val="0"/>
              </a:spcAft>
              <a:buNone/>
            </a:pPr>
            <a:r>
              <a:rPr lang="ko-KR" altLang="en-US" sz="1700" b="1" dirty="0">
                <a:solidFill>
                  <a:srgbClr val="1E2A5A"/>
                </a:solidFill>
                <a:latin typeface="맑은 고딕"/>
                <a:ea typeface="맑은 고딕"/>
                <a:cs typeface="맑은 고딕"/>
              </a:rPr>
              <a:t>⑥ </a:t>
            </a:r>
            <a:r>
              <a:rPr lang="en-US" altLang="en-US" sz="1700" b="0" dirty="0">
                <a:solidFill>
                  <a:srgbClr val="1F2328"/>
                </a:solidFill>
                <a:latin typeface="Calibri"/>
                <a:ea typeface="맑은 고딕"/>
                <a:cs typeface="Calibri"/>
              </a:rPr>
              <a:t>Each pacer runs at different speeds and finishes the race in different times. </a:t>
            </a:r>
            <a:r>
              <a:rPr lang="ko-KR" altLang="en-US" sz="1700" b="1" dirty="0">
                <a:solidFill>
                  <a:srgbClr val="1E2A5A"/>
                </a:solidFill>
                <a:latin typeface="맑은 고딕"/>
                <a:ea typeface="맑은 고딕"/>
                <a:cs typeface="맑은 고딕"/>
              </a:rPr>
              <a:t>⑦ </a:t>
            </a:r>
            <a:r>
              <a:rPr lang="en-US" altLang="en-US" sz="1700" b="0" dirty="0">
                <a:solidFill>
                  <a:srgbClr val="1F2328"/>
                </a:solidFill>
                <a:latin typeface="Calibri"/>
                <a:ea typeface="맑은 고딕"/>
                <a:cs typeface="Calibri"/>
              </a:rPr>
              <a:t>Pacers usually have flags or balloons showing their finish time. </a:t>
            </a:r>
            <a:r>
              <a:rPr lang="ko-KR" altLang="en-US" sz="1700" b="1" dirty="0">
                <a:solidFill>
                  <a:srgbClr val="1E2A5A"/>
                </a:solidFill>
                <a:latin typeface="맑은 고딕"/>
                <a:ea typeface="맑은 고딕"/>
                <a:cs typeface="맑은 고딕"/>
              </a:rPr>
              <a:t>⑧ </a:t>
            </a:r>
            <a:r>
              <a:rPr lang="en-US" altLang="en-US" sz="1700" b="0" dirty="0">
                <a:solidFill>
                  <a:srgbClr val="1F2328"/>
                </a:solidFill>
                <a:latin typeface="Calibri"/>
                <a:ea typeface="맑은 고딕"/>
                <a:cs typeface="Calibri"/>
              </a:rPr>
              <a:t>Runners can choose a pacer depending on their target finish time. </a:t>
            </a:r>
            <a:r>
              <a:rPr lang="ko-KR" altLang="en-US" sz="1700" b="1" dirty="0">
                <a:solidFill>
                  <a:srgbClr val="1E2A5A"/>
                </a:solidFill>
                <a:latin typeface="맑은 고딕"/>
                <a:ea typeface="맑은 고딕"/>
                <a:cs typeface="맑은 고딕"/>
              </a:rPr>
              <a:t>⑨ </a:t>
            </a:r>
            <a:r>
              <a:rPr lang="en-US" altLang="en-US" sz="1700" b="0" dirty="0">
                <a:solidFill>
                  <a:srgbClr val="1F2328"/>
                </a:solidFill>
                <a:latin typeface="Calibri"/>
                <a:ea typeface="맑은 고딕"/>
                <a:cs typeface="Calibri"/>
              </a:rPr>
              <a:t>For example, if a runner wants to finish the race in four hours, the runner will follow the four‑hour pacer. </a:t>
            </a:r>
            <a:r>
              <a:rPr lang="ko-KR" altLang="en-US" sz="1700" b="1" dirty="0">
                <a:solidFill>
                  <a:srgbClr val="1E2A5A"/>
                </a:solidFill>
                <a:latin typeface="맑은 고딕"/>
                <a:ea typeface="맑은 고딕"/>
                <a:cs typeface="맑은 고딕"/>
              </a:rPr>
              <a:t>⑩ </a:t>
            </a:r>
            <a:r>
              <a:rPr lang="en-US" altLang="en-US" sz="1700" b="0" dirty="0">
                <a:solidFill>
                  <a:srgbClr val="1F2328"/>
                </a:solidFill>
                <a:latin typeface="Calibri"/>
                <a:ea typeface="맑은 고딕"/>
                <a:cs typeface="Calibri"/>
              </a:rPr>
              <a:t>Since the pacer keeps track of the time, the runner can achieve his or her goal of finishing the marathon in a particular time more easily. </a:t>
            </a:r>
            <a:r>
              <a:rPr lang="ko-KR" altLang="en-US" sz="1700" b="1" dirty="0">
                <a:solidFill>
                  <a:srgbClr val="1E2A5A"/>
                </a:solidFill>
                <a:latin typeface="맑은 고딕"/>
                <a:ea typeface="맑은 고딕"/>
                <a:cs typeface="맑은 고딕"/>
              </a:rPr>
              <a:t>⑪ </a:t>
            </a:r>
            <a:r>
              <a:rPr lang="en-US" altLang="en-US" sz="1700" b="0" dirty="0">
                <a:solidFill>
                  <a:srgbClr val="1F2328"/>
                </a:solidFill>
                <a:latin typeface="Calibri"/>
                <a:ea typeface="맑은 고딕"/>
                <a:cs typeface="Calibri"/>
              </a:rPr>
              <a:t>In short, pacers run but they don’t run to win. They run for others. </a:t>
            </a:r>
            <a:endParaRPr lang="ko-KR" sz="1700"/>
          </a:p>
        </p:txBody>
      </p:sp>
      <p:sp>
        <p:nvSpPr>
          <p:cNvPr id="9" name="q_card_1"/>
          <p:cNvSpPr/>
          <p:nvPr/>
        </p:nvSpPr>
        <p:spPr>
          <a:xfrm>
            <a:off x="457200" y="2970276"/>
            <a:ext cx="11274552" cy="466217"/>
          </a:xfrm>
          <a:prstGeom prst="roundRect">
            <a:avLst>
              <a:gd name="adj" fmla="val 12000"/>
            </a:avLst>
          </a:prstGeom>
          <a:noFill/>
          <a:ln w="12700">
            <a:solidFill>
              <a:srgbClr val="D5DAE5"/>
            </a:solidFill>
          </a:ln>
        </p:spPr>
        <p:txBody>
          <a:bodyPr rtlCol="0" anchor="ctr"/>
          <a:lstStyle/>
          <a:p>
            <a:pPr algn="ctr"/>
          </a:p>
        </p:txBody>
      </p:sp>
      <p:sp>
        <p:nvSpPr>
          <p:cNvPr id="10" name="q_1"/>
          <p:cNvSpPr txBox="1"/>
          <p:nvPr/>
        </p:nvSpPr>
        <p:spPr>
          <a:xfrm>
            <a:off x="502920" y="2970276"/>
            <a:ext cx="9171432" cy="466217"/>
          </a:xfrm>
          <a:prstGeom prst="rect">
            <a:avLst/>
          </a:prstGeom>
          <a:noFill/>
        </p:spPr>
        <p:txBody>
          <a:bodyPr wrap="square" lIns="109728" tIns="45720" rIns="109728" bIns="45720" anchor="ctr" rtlCol="0">
            <a:noAutofit/>
          </a:bodyPr>
          <a:lstStyle/>
          <a:p>
            <a:pPr algn="l">
              <a:lnSpc>
                <a:spcPts val="2375"/>
              </a:lnSpc>
              <a:spcBef>
                <a:spcPts val="0"/>
              </a:spcBef>
              <a:spcAft>
                <a:spcPts val="0"/>
              </a:spcAft>
              <a:buNone/>
            </a:pPr>
            <a:r>
              <a:rPr lang="en-US" altLang="en-US" sz="1900" b="1" dirty="0">
                <a:solidFill>
                  <a:srgbClr val="1E2A5A"/>
                </a:solidFill>
                <a:latin typeface="Calibri"/>
                <a:ea typeface="맑은 고딕"/>
                <a:cs typeface="Calibri"/>
              </a:rPr>
              <a:t>11.  </a:t>
            </a:r>
            <a:r>
              <a:rPr lang="ko-KR" altLang="en-US" sz="1900" b="0" dirty="0">
                <a:solidFill>
                  <a:srgbClr val="1F2328"/>
                </a:solidFill>
                <a:latin typeface="맑은 고딕"/>
                <a:ea typeface="맑은 고딕"/>
                <a:cs typeface="맑은 고딕"/>
              </a:rPr>
              <a:t>각각의 페이서는 서로 다른 속도로 달린다.</a:t>
            </a:r>
            <a:endParaRPr lang="ko-KR" sz="1900"/>
          </a:p>
        </p:txBody>
      </p:sp>
      <p:sp>
        <p:nvSpPr>
          <p:cNvPr id="11" name="tf_1"/>
          <p:cNvSpPr txBox="1"/>
          <p:nvPr/>
        </p:nvSpPr>
        <p:spPr>
          <a:xfrm>
            <a:off x="9765792" y="2970276"/>
            <a:ext cx="1828800" cy="466217"/>
          </a:xfrm>
          <a:prstGeom prst="rect">
            <a:avLst/>
          </a:prstGeom>
          <a:noFill/>
        </p:spPr>
        <p:txBody>
          <a:bodyPr wrap="square" lIns="18288" tIns="18288" rIns="18288" bIns="18288" anchor="ctr" rtlCol="0">
            <a:noAutofit/>
          </a:bodyPr>
          <a:lstStyle/>
          <a:p>
            <a:pPr algn="ctr">
              <a:lnSpc>
                <a:spcPts val="2375"/>
              </a:lnSpc>
              <a:spcBef>
                <a:spcPts val="0"/>
              </a:spcBef>
              <a:spcAft>
                <a:spcPts val="0"/>
              </a:spcAft>
              <a:buNone/>
            </a:pPr>
            <a:r>
              <a:rPr lang="en-US" altLang="en-US" sz="1900" b="1" dirty="0">
                <a:solidFill>
                  <a:srgbClr val="9AA3B5"/>
                </a:solidFill>
                <a:latin typeface="Calibri"/>
                <a:ea typeface="맑은 고딕"/>
                <a:cs typeface="Calibri"/>
              </a:rPr>
              <a:t>T   /   F</a:t>
            </a:r>
            <a:endParaRPr lang="ko-KR" sz="1900"/>
          </a:p>
        </p:txBody>
      </p:sp>
      <p:sp>
        <p:nvSpPr>
          <p:cNvPr id="12" name="rv_ans_1"/>
          <p:cNvSpPr/>
          <p:nvPr/>
        </p:nvSpPr>
        <p:spPr>
          <a:xfrm>
            <a:off x="9765792" y="3015996"/>
            <a:ext cx="1828800" cy="374777"/>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640"/>
              </a:lnSpc>
              <a:spcBef>
                <a:spcPts val="0"/>
              </a:spcBef>
              <a:spcAft>
                <a:spcPts val="0"/>
              </a:spcAft>
              <a:buNone/>
            </a:pPr>
            <a:r>
              <a:rPr lang="en-US" altLang="en-US" sz="2200" b="1" dirty="0">
                <a:solidFill>
                  <a:srgbClr val="C00000"/>
                </a:solidFill>
                <a:latin typeface="Calibri"/>
                <a:ea typeface="맑은 고딕"/>
                <a:cs typeface="Calibri"/>
              </a:rPr>
              <a:t>T</a:t>
            </a:r>
            <a:endParaRPr lang="ko-KR" sz="2200"/>
          </a:p>
        </p:txBody>
      </p:sp>
      <p:sp>
        <p:nvSpPr>
          <p:cNvPr id="13" name="q_card_2"/>
          <p:cNvSpPr/>
          <p:nvPr/>
        </p:nvSpPr>
        <p:spPr>
          <a:xfrm>
            <a:off x="457200" y="3509645"/>
            <a:ext cx="11274552" cy="466217"/>
          </a:xfrm>
          <a:prstGeom prst="roundRect">
            <a:avLst>
              <a:gd name="adj" fmla="val 12000"/>
            </a:avLst>
          </a:prstGeom>
          <a:noFill/>
          <a:ln w="12700">
            <a:solidFill>
              <a:srgbClr val="D5DAE5"/>
            </a:solidFill>
          </a:ln>
        </p:spPr>
        <p:txBody>
          <a:bodyPr rtlCol="0" anchor="ctr"/>
          <a:lstStyle/>
          <a:p>
            <a:pPr algn="ctr"/>
          </a:p>
        </p:txBody>
      </p:sp>
      <p:sp>
        <p:nvSpPr>
          <p:cNvPr id="14" name="q_2"/>
          <p:cNvSpPr txBox="1"/>
          <p:nvPr/>
        </p:nvSpPr>
        <p:spPr>
          <a:xfrm>
            <a:off x="502920" y="3509645"/>
            <a:ext cx="9171432" cy="466217"/>
          </a:xfrm>
          <a:prstGeom prst="rect">
            <a:avLst/>
          </a:prstGeom>
          <a:noFill/>
        </p:spPr>
        <p:txBody>
          <a:bodyPr wrap="square" lIns="109728" tIns="45720" rIns="109728" bIns="45720" anchor="ctr" rtlCol="0">
            <a:noAutofit/>
          </a:bodyPr>
          <a:lstStyle/>
          <a:p>
            <a:pPr algn="l">
              <a:lnSpc>
                <a:spcPts val="2375"/>
              </a:lnSpc>
              <a:spcBef>
                <a:spcPts val="0"/>
              </a:spcBef>
              <a:spcAft>
                <a:spcPts val="0"/>
              </a:spcAft>
              <a:buNone/>
            </a:pPr>
            <a:r>
              <a:rPr lang="en-US" altLang="en-US" sz="1900" b="1" dirty="0">
                <a:solidFill>
                  <a:srgbClr val="1E2A5A"/>
                </a:solidFill>
                <a:latin typeface="Calibri"/>
                <a:ea typeface="맑은 고딕"/>
                <a:cs typeface="Calibri"/>
              </a:rPr>
              <a:t>12.  </a:t>
            </a:r>
            <a:r>
              <a:rPr lang="ko-KR" altLang="en-US" sz="1900" b="0" dirty="0">
                <a:solidFill>
                  <a:srgbClr val="1F2328"/>
                </a:solidFill>
                <a:latin typeface="맑은 고딕"/>
                <a:ea typeface="맑은 고딕"/>
                <a:cs typeface="맑은 고딕"/>
              </a:rPr>
              <a:t>모든 페이서는 같은 시간에 경주를 마친다.</a:t>
            </a:r>
            <a:endParaRPr lang="ko-KR" sz="1900"/>
          </a:p>
        </p:txBody>
      </p:sp>
      <p:sp>
        <p:nvSpPr>
          <p:cNvPr id="15" name="tf_2"/>
          <p:cNvSpPr txBox="1"/>
          <p:nvPr/>
        </p:nvSpPr>
        <p:spPr>
          <a:xfrm>
            <a:off x="9765792" y="3509645"/>
            <a:ext cx="1828800" cy="466217"/>
          </a:xfrm>
          <a:prstGeom prst="rect">
            <a:avLst/>
          </a:prstGeom>
          <a:noFill/>
        </p:spPr>
        <p:txBody>
          <a:bodyPr wrap="square" lIns="18288" tIns="18288" rIns="18288" bIns="18288" anchor="ctr" rtlCol="0">
            <a:noAutofit/>
          </a:bodyPr>
          <a:lstStyle/>
          <a:p>
            <a:pPr algn="ctr">
              <a:lnSpc>
                <a:spcPts val="2375"/>
              </a:lnSpc>
              <a:spcBef>
                <a:spcPts val="0"/>
              </a:spcBef>
              <a:spcAft>
                <a:spcPts val="0"/>
              </a:spcAft>
              <a:buNone/>
            </a:pPr>
            <a:r>
              <a:rPr lang="en-US" altLang="en-US" sz="1900" b="1" dirty="0">
                <a:solidFill>
                  <a:srgbClr val="9AA3B5"/>
                </a:solidFill>
                <a:latin typeface="Calibri"/>
                <a:ea typeface="맑은 고딕"/>
                <a:cs typeface="Calibri"/>
              </a:rPr>
              <a:t>T   /   F</a:t>
            </a:r>
            <a:endParaRPr lang="ko-KR" sz="1900"/>
          </a:p>
        </p:txBody>
      </p:sp>
      <p:sp>
        <p:nvSpPr>
          <p:cNvPr id="16" name="rv_ans_2"/>
          <p:cNvSpPr/>
          <p:nvPr/>
        </p:nvSpPr>
        <p:spPr>
          <a:xfrm>
            <a:off x="9765792" y="3555365"/>
            <a:ext cx="1828800" cy="374777"/>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640"/>
              </a:lnSpc>
              <a:spcBef>
                <a:spcPts val="0"/>
              </a:spcBef>
              <a:spcAft>
                <a:spcPts val="0"/>
              </a:spcAft>
              <a:buNone/>
            </a:pPr>
            <a:r>
              <a:rPr lang="en-US" altLang="en-US" sz="2200" b="1" dirty="0">
                <a:solidFill>
                  <a:srgbClr val="C00000"/>
                </a:solidFill>
                <a:latin typeface="Calibri"/>
                <a:ea typeface="맑은 고딕"/>
                <a:cs typeface="Calibri"/>
              </a:rPr>
              <a:t>F</a:t>
            </a:r>
            <a:endParaRPr lang="ko-KR" sz="2200"/>
          </a:p>
        </p:txBody>
      </p:sp>
      <p:sp>
        <p:nvSpPr>
          <p:cNvPr id="17" name="q_card_3"/>
          <p:cNvSpPr/>
          <p:nvPr/>
        </p:nvSpPr>
        <p:spPr>
          <a:xfrm>
            <a:off x="457200" y="4049014"/>
            <a:ext cx="11274552" cy="767842"/>
          </a:xfrm>
          <a:prstGeom prst="roundRect">
            <a:avLst>
              <a:gd name="adj" fmla="val 12000"/>
            </a:avLst>
          </a:prstGeom>
          <a:noFill/>
          <a:ln w="12700">
            <a:solidFill>
              <a:srgbClr val="D5DAE5"/>
            </a:solidFill>
          </a:ln>
        </p:spPr>
        <p:txBody>
          <a:bodyPr rtlCol="0" anchor="ctr"/>
          <a:lstStyle/>
          <a:p>
            <a:pPr algn="ctr"/>
          </a:p>
        </p:txBody>
      </p:sp>
      <p:sp>
        <p:nvSpPr>
          <p:cNvPr id="18" name="q_3"/>
          <p:cNvSpPr txBox="1"/>
          <p:nvPr/>
        </p:nvSpPr>
        <p:spPr>
          <a:xfrm>
            <a:off x="502920" y="4049014"/>
            <a:ext cx="9171432" cy="767842"/>
          </a:xfrm>
          <a:prstGeom prst="rect">
            <a:avLst/>
          </a:prstGeom>
          <a:noFill/>
        </p:spPr>
        <p:txBody>
          <a:bodyPr wrap="square" lIns="109728" tIns="45720" rIns="109728" bIns="45720" anchor="ctr" rtlCol="0">
            <a:noAutofit/>
          </a:bodyPr>
          <a:lstStyle/>
          <a:p>
            <a:pPr algn="l">
              <a:lnSpc>
                <a:spcPts val="2375"/>
              </a:lnSpc>
              <a:spcBef>
                <a:spcPts val="0"/>
              </a:spcBef>
              <a:spcAft>
                <a:spcPts val="0"/>
              </a:spcAft>
              <a:buNone/>
            </a:pPr>
            <a:r>
              <a:rPr lang="en-US" altLang="en-US" sz="1900" b="1" dirty="0">
                <a:solidFill>
                  <a:srgbClr val="1E2A5A"/>
                </a:solidFill>
                <a:latin typeface="Calibri"/>
                <a:ea typeface="맑은 고딕"/>
                <a:cs typeface="Calibri"/>
              </a:rPr>
              <a:t>13.  </a:t>
            </a:r>
            <a:r>
              <a:rPr lang="ko-KR" altLang="en-US" sz="1900" b="0" dirty="0">
                <a:solidFill>
                  <a:srgbClr val="1F2328"/>
                </a:solidFill>
                <a:latin typeface="맑은 고딕"/>
                <a:ea typeface="맑은 고딕"/>
                <a:cs typeface="맑은 고딕"/>
              </a:rPr>
              <a:t>페이서들은 보통 완주 시간을 나타내는 깃발이나 풍선을 가지고 있다.</a:t>
            </a:r>
            <a:endParaRPr lang="ko-KR" sz="1900"/>
          </a:p>
        </p:txBody>
      </p:sp>
      <p:sp>
        <p:nvSpPr>
          <p:cNvPr id="19" name="tf_3"/>
          <p:cNvSpPr txBox="1"/>
          <p:nvPr/>
        </p:nvSpPr>
        <p:spPr>
          <a:xfrm>
            <a:off x="9765792" y="4049014"/>
            <a:ext cx="1828800" cy="767842"/>
          </a:xfrm>
          <a:prstGeom prst="rect">
            <a:avLst/>
          </a:prstGeom>
          <a:noFill/>
        </p:spPr>
        <p:txBody>
          <a:bodyPr wrap="square" lIns="18288" tIns="18288" rIns="18288" bIns="18288" anchor="ctr" rtlCol="0">
            <a:noAutofit/>
          </a:bodyPr>
          <a:lstStyle/>
          <a:p>
            <a:pPr algn="ctr">
              <a:lnSpc>
                <a:spcPts val="2375"/>
              </a:lnSpc>
              <a:spcBef>
                <a:spcPts val="0"/>
              </a:spcBef>
              <a:spcAft>
                <a:spcPts val="0"/>
              </a:spcAft>
              <a:buNone/>
            </a:pPr>
            <a:r>
              <a:rPr lang="en-US" altLang="en-US" sz="1900" b="1" dirty="0">
                <a:solidFill>
                  <a:srgbClr val="9AA3B5"/>
                </a:solidFill>
                <a:latin typeface="Calibri"/>
                <a:ea typeface="맑은 고딕"/>
                <a:cs typeface="Calibri"/>
              </a:rPr>
              <a:t>T   /   F</a:t>
            </a:r>
            <a:endParaRPr lang="ko-KR" sz="1900"/>
          </a:p>
        </p:txBody>
      </p:sp>
      <p:sp>
        <p:nvSpPr>
          <p:cNvPr id="20" name="rv_ans_3"/>
          <p:cNvSpPr/>
          <p:nvPr/>
        </p:nvSpPr>
        <p:spPr>
          <a:xfrm>
            <a:off x="9765792" y="4094734"/>
            <a:ext cx="1828800" cy="676402"/>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640"/>
              </a:lnSpc>
              <a:spcBef>
                <a:spcPts val="0"/>
              </a:spcBef>
              <a:spcAft>
                <a:spcPts val="0"/>
              </a:spcAft>
              <a:buNone/>
            </a:pPr>
            <a:r>
              <a:rPr lang="en-US" altLang="en-US" sz="2200" b="1" dirty="0">
                <a:solidFill>
                  <a:srgbClr val="C00000"/>
                </a:solidFill>
                <a:latin typeface="Calibri"/>
                <a:ea typeface="맑은 고딕"/>
                <a:cs typeface="Calibri"/>
              </a:rPr>
              <a:t>T</a:t>
            </a:r>
            <a:endParaRPr lang="ko-KR" sz="2200"/>
          </a:p>
        </p:txBody>
      </p:sp>
      <p:sp>
        <p:nvSpPr>
          <p:cNvPr id="21" name="q_card_4"/>
          <p:cNvSpPr/>
          <p:nvPr/>
        </p:nvSpPr>
        <p:spPr>
          <a:xfrm>
            <a:off x="457200" y="4890008"/>
            <a:ext cx="11274552" cy="466217"/>
          </a:xfrm>
          <a:prstGeom prst="roundRect">
            <a:avLst>
              <a:gd name="adj" fmla="val 12000"/>
            </a:avLst>
          </a:prstGeom>
          <a:noFill/>
          <a:ln w="12700">
            <a:solidFill>
              <a:srgbClr val="D5DAE5"/>
            </a:solidFill>
          </a:ln>
        </p:spPr>
        <p:txBody>
          <a:bodyPr rtlCol="0" anchor="ctr"/>
          <a:lstStyle/>
          <a:p>
            <a:pPr algn="ctr"/>
          </a:p>
        </p:txBody>
      </p:sp>
      <p:sp>
        <p:nvSpPr>
          <p:cNvPr id="22" name="q_4"/>
          <p:cNvSpPr txBox="1"/>
          <p:nvPr/>
        </p:nvSpPr>
        <p:spPr>
          <a:xfrm>
            <a:off x="502920" y="4890008"/>
            <a:ext cx="9171432" cy="466217"/>
          </a:xfrm>
          <a:prstGeom prst="rect">
            <a:avLst/>
          </a:prstGeom>
          <a:noFill/>
        </p:spPr>
        <p:txBody>
          <a:bodyPr wrap="square" lIns="109728" tIns="45720" rIns="109728" bIns="45720" anchor="ctr" rtlCol="0">
            <a:noAutofit/>
          </a:bodyPr>
          <a:lstStyle/>
          <a:p>
            <a:pPr algn="l">
              <a:lnSpc>
                <a:spcPts val="2375"/>
              </a:lnSpc>
              <a:spcBef>
                <a:spcPts val="0"/>
              </a:spcBef>
              <a:spcAft>
                <a:spcPts val="0"/>
              </a:spcAft>
              <a:buNone/>
            </a:pPr>
            <a:r>
              <a:rPr lang="en-US" altLang="en-US" sz="1900" b="1" dirty="0">
                <a:solidFill>
                  <a:srgbClr val="1E2A5A"/>
                </a:solidFill>
                <a:latin typeface="Calibri"/>
                <a:ea typeface="맑은 고딕"/>
                <a:cs typeface="Calibri"/>
              </a:rPr>
              <a:t>14.  </a:t>
            </a:r>
            <a:r>
              <a:rPr lang="ko-KR" altLang="en-US" sz="1900" b="0" dirty="0">
                <a:solidFill>
                  <a:srgbClr val="1F2328"/>
                </a:solidFill>
                <a:latin typeface="맑은 고딕"/>
                <a:ea typeface="맑은 고딕"/>
                <a:cs typeface="맑은 고딕"/>
              </a:rPr>
              <a:t>페이서의 깃발이나 풍선은 페이서의 이름을 나타낸다.</a:t>
            </a:r>
            <a:endParaRPr lang="ko-KR" sz="1900"/>
          </a:p>
        </p:txBody>
      </p:sp>
      <p:sp>
        <p:nvSpPr>
          <p:cNvPr id="23" name="tf_4"/>
          <p:cNvSpPr txBox="1"/>
          <p:nvPr/>
        </p:nvSpPr>
        <p:spPr>
          <a:xfrm>
            <a:off x="9765792" y="4890008"/>
            <a:ext cx="1828800" cy="466217"/>
          </a:xfrm>
          <a:prstGeom prst="rect">
            <a:avLst/>
          </a:prstGeom>
          <a:noFill/>
        </p:spPr>
        <p:txBody>
          <a:bodyPr wrap="square" lIns="18288" tIns="18288" rIns="18288" bIns="18288" anchor="ctr" rtlCol="0">
            <a:noAutofit/>
          </a:bodyPr>
          <a:lstStyle/>
          <a:p>
            <a:pPr algn="ctr">
              <a:lnSpc>
                <a:spcPts val="2375"/>
              </a:lnSpc>
              <a:spcBef>
                <a:spcPts val="0"/>
              </a:spcBef>
              <a:spcAft>
                <a:spcPts val="0"/>
              </a:spcAft>
              <a:buNone/>
            </a:pPr>
            <a:r>
              <a:rPr lang="en-US" altLang="en-US" sz="1900" b="1" dirty="0">
                <a:solidFill>
                  <a:srgbClr val="9AA3B5"/>
                </a:solidFill>
                <a:latin typeface="Calibri"/>
                <a:ea typeface="맑은 고딕"/>
                <a:cs typeface="Calibri"/>
              </a:rPr>
              <a:t>T   /   F</a:t>
            </a:r>
            <a:endParaRPr lang="ko-KR" sz="1900"/>
          </a:p>
        </p:txBody>
      </p:sp>
      <p:sp>
        <p:nvSpPr>
          <p:cNvPr id="24" name="rv_ans_4"/>
          <p:cNvSpPr/>
          <p:nvPr/>
        </p:nvSpPr>
        <p:spPr>
          <a:xfrm>
            <a:off x="9765792" y="4935728"/>
            <a:ext cx="1828800" cy="374777"/>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640"/>
              </a:lnSpc>
              <a:spcBef>
                <a:spcPts val="0"/>
              </a:spcBef>
              <a:spcAft>
                <a:spcPts val="0"/>
              </a:spcAft>
              <a:buNone/>
            </a:pPr>
            <a:r>
              <a:rPr lang="en-US" altLang="en-US" sz="2200" b="1" dirty="0">
                <a:solidFill>
                  <a:srgbClr val="C00000"/>
                </a:solidFill>
                <a:latin typeface="Calibri"/>
                <a:ea typeface="맑은 고딕"/>
                <a:cs typeface="Calibri"/>
              </a:rPr>
              <a:t>F</a:t>
            </a:r>
            <a:endParaRPr lang="ko-KR" sz="2200"/>
          </a:p>
        </p:txBody>
      </p:sp>
      <p:sp>
        <p:nvSpPr>
          <p:cNvPr id="25" name="q_card_5"/>
          <p:cNvSpPr/>
          <p:nvPr/>
        </p:nvSpPr>
        <p:spPr>
          <a:xfrm>
            <a:off x="457200" y="5429377"/>
            <a:ext cx="11274552" cy="466217"/>
          </a:xfrm>
          <a:prstGeom prst="roundRect">
            <a:avLst>
              <a:gd name="adj" fmla="val 12000"/>
            </a:avLst>
          </a:prstGeom>
          <a:noFill/>
          <a:ln w="12700">
            <a:solidFill>
              <a:srgbClr val="D5DAE5"/>
            </a:solidFill>
          </a:ln>
        </p:spPr>
        <p:txBody>
          <a:bodyPr rtlCol="0" anchor="ctr"/>
          <a:lstStyle/>
          <a:p>
            <a:pPr algn="ctr"/>
          </a:p>
        </p:txBody>
      </p:sp>
      <p:sp>
        <p:nvSpPr>
          <p:cNvPr id="26" name="q_5"/>
          <p:cNvSpPr txBox="1"/>
          <p:nvPr/>
        </p:nvSpPr>
        <p:spPr>
          <a:xfrm>
            <a:off x="502920" y="5429377"/>
            <a:ext cx="9171432" cy="466217"/>
          </a:xfrm>
          <a:prstGeom prst="rect">
            <a:avLst/>
          </a:prstGeom>
          <a:noFill/>
        </p:spPr>
        <p:txBody>
          <a:bodyPr wrap="square" lIns="109728" tIns="45720" rIns="109728" bIns="45720" anchor="ctr" rtlCol="0">
            <a:noAutofit/>
          </a:bodyPr>
          <a:lstStyle/>
          <a:p>
            <a:pPr algn="l">
              <a:lnSpc>
                <a:spcPts val="2375"/>
              </a:lnSpc>
              <a:spcBef>
                <a:spcPts val="0"/>
              </a:spcBef>
              <a:spcAft>
                <a:spcPts val="0"/>
              </a:spcAft>
              <a:buNone/>
            </a:pPr>
            <a:r>
              <a:rPr lang="en-US" altLang="en-US" sz="1900" b="1" dirty="0">
                <a:solidFill>
                  <a:srgbClr val="1E2A5A"/>
                </a:solidFill>
                <a:latin typeface="Calibri"/>
                <a:ea typeface="맑은 고딕"/>
                <a:cs typeface="Calibri"/>
              </a:rPr>
              <a:t>15.  </a:t>
            </a:r>
            <a:r>
              <a:rPr lang="ko-KR" altLang="en-US" sz="1900" b="0" dirty="0">
                <a:solidFill>
                  <a:srgbClr val="1F2328"/>
                </a:solidFill>
                <a:latin typeface="맑은 고딕"/>
                <a:ea typeface="맑은 고딕"/>
                <a:cs typeface="맑은 고딕"/>
              </a:rPr>
              <a:t>선수들은 자신의 목표 완주 시간에 따라 페이서를 고를 수 있다.</a:t>
            </a:r>
            <a:endParaRPr lang="ko-KR" sz="1900"/>
          </a:p>
        </p:txBody>
      </p:sp>
      <p:sp>
        <p:nvSpPr>
          <p:cNvPr id="27" name="tf_5"/>
          <p:cNvSpPr txBox="1"/>
          <p:nvPr/>
        </p:nvSpPr>
        <p:spPr>
          <a:xfrm>
            <a:off x="9765792" y="5429377"/>
            <a:ext cx="1828800" cy="466217"/>
          </a:xfrm>
          <a:prstGeom prst="rect">
            <a:avLst/>
          </a:prstGeom>
          <a:noFill/>
        </p:spPr>
        <p:txBody>
          <a:bodyPr wrap="square" lIns="18288" tIns="18288" rIns="18288" bIns="18288" anchor="ctr" rtlCol="0">
            <a:noAutofit/>
          </a:bodyPr>
          <a:lstStyle/>
          <a:p>
            <a:pPr algn="ctr">
              <a:lnSpc>
                <a:spcPts val="2375"/>
              </a:lnSpc>
              <a:spcBef>
                <a:spcPts val="0"/>
              </a:spcBef>
              <a:spcAft>
                <a:spcPts val="0"/>
              </a:spcAft>
              <a:buNone/>
            </a:pPr>
            <a:r>
              <a:rPr lang="en-US" altLang="en-US" sz="1900" b="1" dirty="0">
                <a:solidFill>
                  <a:srgbClr val="9AA3B5"/>
                </a:solidFill>
                <a:latin typeface="Calibri"/>
                <a:ea typeface="맑은 고딕"/>
                <a:cs typeface="Calibri"/>
              </a:rPr>
              <a:t>T   /   F</a:t>
            </a:r>
            <a:endParaRPr lang="ko-KR" sz="1900"/>
          </a:p>
        </p:txBody>
      </p:sp>
      <p:sp>
        <p:nvSpPr>
          <p:cNvPr id="28" name="rv_ans_5"/>
          <p:cNvSpPr/>
          <p:nvPr/>
        </p:nvSpPr>
        <p:spPr>
          <a:xfrm>
            <a:off x="9765792" y="5475097"/>
            <a:ext cx="1828800" cy="374777"/>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640"/>
              </a:lnSpc>
              <a:spcBef>
                <a:spcPts val="0"/>
              </a:spcBef>
              <a:spcAft>
                <a:spcPts val="0"/>
              </a:spcAft>
              <a:buNone/>
            </a:pPr>
            <a:r>
              <a:rPr lang="en-US" altLang="en-US" sz="2200" b="1" dirty="0">
                <a:solidFill>
                  <a:srgbClr val="C00000"/>
                </a:solidFill>
                <a:latin typeface="Calibri"/>
                <a:ea typeface="맑은 고딕"/>
                <a:cs typeface="Calibri"/>
              </a:rPr>
              <a:t>T</a:t>
            </a:r>
            <a:endParaRPr lang="ko-KR" sz="22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25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250"/>
                                        <p:tgtEl>
                                          <p:spTgt spid="1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0"/>
                                        </p:tgtEl>
                                        <p:attrNameLst>
                                          <p:attrName>style.visibility</p:attrName>
                                        </p:attrNameLst>
                                      </p:cBhvr>
                                      <p:to>
                                        <p:strVal val="visible"/>
                                      </p:to>
                                    </p:set>
                                    <p:animEffect transition="in" filter="fade">
                                      <p:cBhvr>
                                        <p:cTn id="13" dur="250"/>
                                        <p:tgtEl>
                                          <p:spTgt spid="20"/>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4"/>
                                        </p:tgtEl>
                                        <p:attrNameLst>
                                          <p:attrName>style.visibility</p:attrName>
                                        </p:attrNameLst>
                                      </p:cBhvr>
                                      <p:to>
                                        <p:strVal val="visible"/>
                                      </p:to>
                                    </p:set>
                                    <p:animEffect transition="in" filter="fade">
                                      <p:cBhvr>
                                        <p:cTn id="16" dur="250"/>
                                        <p:tgtEl>
                                          <p:spTgt spid="24"/>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8"/>
                                        </p:tgtEl>
                                        <p:attrNameLst>
                                          <p:attrName>style.visibility</p:attrName>
                                        </p:attrNameLst>
                                      </p:cBhvr>
                                      <p:to>
                                        <p:strVal val="visible"/>
                                      </p:to>
                                    </p:set>
                                    <p:animEffect transition="in" filter="fade">
                                      <p:cBhvr>
                                        <p:cTn id="19" dur="25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6" grpId="0" animBg="1"/>
      <p:bldP spid="20" grpId="0" animBg="1"/>
      <p:bldP spid="24" grpId="0" animBg="1"/>
      <p:bldP spid="28" grpId="0" animBg="1"/>
    </p:bldLst>
  </p:timing>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8000"/>
            </a:avLst>
          </a:prstGeom>
          <a:solidFill>
            <a:srgbClr val="1E2A5A"/>
          </a:solidFill>
          <a:ln>
            <a:noFill/>
          </a:ln>
        </p:spPr>
        <p:txBody>
          <a:bodyPr wrap="square" lIns="45720" tIns="18288" rIns="45720" bIns="18288" anchor="ctr" rtlCol="0">
            <a:noAutofit/>
          </a:bodyPr>
          <a:lstStyle/>
          <a:p>
            <a:pPr algn="ctr">
              <a:lnSpc>
                <a:spcPts val="2000"/>
              </a:lnSpc>
              <a:spcBef>
                <a:spcPts val="0"/>
              </a:spcBef>
              <a:spcAft>
                <a:spcPts val="0"/>
              </a:spcAft>
              <a:buNone/>
            </a:pPr>
            <a:r>
              <a:rPr lang="en-US" altLang="en-US" sz="1700" b="1" dirty="0">
                <a:solidFill>
                  <a:srgbClr val="FFFFFF"/>
                </a:solidFill>
                <a:latin typeface="Calibri"/>
                <a:ea typeface="맑은 고딕"/>
                <a:cs typeface="Calibri"/>
              </a:rPr>
              <a:t>L5-2</a:t>
            </a:r>
            <a:endParaRPr lang="ko-KR" sz="1700"/>
          </a:p>
        </p:txBody>
      </p:sp>
      <p:sp>
        <p:nvSpPr>
          <p:cNvPr id="3" name="hdr_chip"/>
          <p:cNvSpPr/>
          <p:nvPr/>
        </p:nvSpPr>
        <p:spPr>
          <a:xfrm>
            <a:off x="1755648" y="274320"/>
            <a:ext cx="1371600" cy="493776"/>
          </a:xfrm>
          <a:prstGeom prst="roundRect">
            <a:avLst>
              <a:gd name="adj" fmla="val 8000"/>
            </a:avLst>
          </a:prstGeom>
          <a:solidFill>
            <a:srgbClr val="E6EAF4"/>
          </a:solidFill>
          <a:ln>
            <a:noFill/>
          </a:ln>
        </p:spPr>
        <p:txBody>
          <a:bodyPr wrap="square" lIns="27432" tIns="18288" rIns="27432" bIns="18288" anchor="ctr" rtlCol="0">
            <a:noAutofit/>
          </a:bodyPr>
          <a:lstStyle/>
          <a:p>
            <a:pPr algn="ctr">
              <a:lnSpc>
                <a:spcPts val="1700"/>
              </a:lnSpc>
              <a:spcBef>
                <a:spcPts val="0"/>
              </a:spcBef>
              <a:spcAft>
                <a:spcPts val="0"/>
              </a:spcAft>
              <a:buNone/>
            </a:pPr>
            <a:r>
              <a:rPr lang="ko-KR" altLang="en-US" sz="1400" b="1" dirty="0">
                <a:solidFill>
                  <a:srgbClr val="1E2A5A"/>
                </a:solidFill>
                <a:latin typeface="맑은 고딕"/>
                <a:ea typeface="맑은 고딕"/>
                <a:cs typeface="맑은 고딕"/>
              </a:rPr>
              <a:t>PART 4 · 4</a:t>
            </a:r>
            <a:endParaRPr lang="ko-KR" sz="1400"/>
          </a:p>
        </p:txBody>
      </p:sp>
      <p:sp>
        <p:nvSpPr>
          <p:cNvPr id="4" name="hdr_q"/>
          <p:cNvSpPr txBox="1"/>
          <p:nvPr/>
        </p:nvSpPr>
        <p:spPr>
          <a:xfrm>
            <a:off x="3246120" y="246888"/>
            <a:ext cx="8485632" cy="548640"/>
          </a:xfrm>
          <a:prstGeom prst="rect">
            <a:avLst/>
          </a:prstGeom>
          <a:noFill/>
        </p:spPr>
        <p:txBody>
          <a:bodyPr wrap="square" lIns="109728" tIns="54864" rIns="109728" bIns="54864" anchor="ctr" rtlCol="0">
            <a:noAutofit/>
          </a:bodyPr>
          <a:lstStyle/>
          <a:p>
            <a:pPr algn="l">
              <a:lnSpc>
                <a:spcPts val="2400"/>
              </a:lnSpc>
              <a:spcBef>
                <a:spcPts val="0"/>
              </a:spcBef>
              <a:spcAft>
                <a:spcPts val="0"/>
              </a:spcAft>
              <a:buNone/>
            </a:pPr>
            <a:r>
              <a:rPr lang="ko-KR" altLang="en-US" sz="2000" b="1" dirty="0">
                <a:solidFill>
                  <a:srgbClr val="1F2328"/>
                </a:solidFill>
                <a:latin typeface="맑은 고딕"/>
                <a:ea typeface="맑은 고딕"/>
                <a:cs typeface="맑은 고딕"/>
              </a:rPr>
              <a:t>본문과 일치하면 T, 일치하지 않으면 F를 고르시오.</a:t>
            </a:r>
            <a:endParaRPr lang="ko-KR" sz="2000"/>
          </a:p>
        </p:txBody>
      </p:sp>
      <p:sp>
        <p:nvSpPr>
          <p:cNvPr id="5" name="ftr_exam"/>
          <p:cNvSpPr txBox="1"/>
          <p:nvPr/>
        </p:nvSpPr>
        <p:spPr>
          <a:xfrm>
            <a:off x="457200" y="6519672"/>
            <a:ext cx="5669280" cy="256032"/>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5</a:t>
            </a:r>
            <a:endParaRPr lang="ko-KR" sz="1000"/>
          </a:p>
        </p:txBody>
      </p:sp>
      <p:sp>
        <p:nvSpPr>
          <p:cNvPr id="6" name="ftr_hint"/>
          <p:cNvSpPr txBox="1"/>
          <p:nvPr/>
        </p:nvSpPr>
        <p:spPr>
          <a:xfrm>
            <a:off x="5971032" y="6519672"/>
            <a:ext cx="5760720" cy="256032"/>
          </a:xfrm>
          <a:prstGeom prst="rect">
            <a:avLst/>
          </a:prstGeom>
          <a:noFill/>
        </p:spPr>
        <p:txBody>
          <a:bodyPr wrap="square" lIns="0" tIns="0" rIns="0" bIns="0" anchor="t" rtlCol="0">
            <a:noAutofit/>
          </a:bodyPr>
          <a:lstStyle/>
          <a:p>
            <a:pPr algn="r">
              <a:lnSpc>
                <a:spcPts val="1200"/>
              </a:lnSpc>
              <a:spcBef>
                <a:spcPts val="0"/>
              </a:spcBef>
              <a:spcAft>
                <a:spcPts val="0"/>
              </a:spcAft>
              <a:buNone/>
            </a:pPr>
            <a:r>
              <a:rPr lang="ko-KR" altLang="en-US" sz="1000" b="0" dirty="0">
                <a:solidFill>
                  <a:srgbClr val="7A808C"/>
                </a:solidFill>
                <a:latin typeface="맑은 고딕"/>
                <a:ea typeface="맑은 고딕"/>
                <a:cs typeface="맑은 고딕"/>
              </a:rPr>
              <a:t>클릭 ① 정답(T/F) 공개</a:t>
            </a:r>
            <a:endParaRPr lang="ko-KR" sz="1000"/>
          </a:p>
        </p:txBody>
      </p:sp>
      <p:sp>
        <p:nvSpPr>
          <p:cNvPr id="7" name="passage_card"/>
          <p:cNvSpPr/>
          <p:nvPr/>
        </p:nvSpPr>
        <p:spPr>
          <a:xfrm>
            <a:off x="457200" y="950976"/>
            <a:ext cx="11274552" cy="1854708"/>
          </a:xfrm>
          <a:prstGeom prst="roundRect">
            <a:avLst>
              <a:gd name="adj" fmla="val 4000"/>
            </a:avLst>
          </a:prstGeom>
          <a:solidFill>
            <a:srgbClr val="F3F5F9"/>
          </a:solidFill>
          <a:ln w="12700">
            <a:solidFill>
              <a:srgbClr val="D9DFEA"/>
            </a:solidFill>
          </a:ln>
        </p:spPr>
        <p:txBody>
          <a:bodyPr rtlCol="0" anchor="ctr"/>
          <a:lstStyle/>
          <a:p>
            <a:pPr algn="ctr"/>
          </a:p>
        </p:txBody>
      </p:sp>
      <p:sp>
        <p:nvSpPr>
          <p:cNvPr id="8" name="passage"/>
          <p:cNvSpPr txBox="1"/>
          <p:nvPr/>
        </p:nvSpPr>
        <p:spPr>
          <a:xfrm>
            <a:off x="457200" y="950976"/>
            <a:ext cx="11274552" cy="1854708"/>
          </a:xfrm>
          <a:prstGeom prst="rect">
            <a:avLst/>
          </a:prstGeom>
          <a:noFill/>
        </p:spPr>
        <p:txBody>
          <a:bodyPr wrap="square" lIns="182880" tIns="137160" rIns="182880" bIns="137160" anchor="t" rtlCol="0">
            <a:noAutofit/>
          </a:bodyPr>
          <a:lstStyle/>
          <a:p>
            <a:pPr algn="l">
              <a:lnSpc>
                <a:spcPts val="2074"/>
              </a:lnSpc>
              <a:spcBef>
                <a:spcPts val="0"/>
              </a:spcBef>
              <a:spcAft>
                <a:spcPts val="0"/>
              </a:spcAft>
              <a:buNone/>
            </a:pPr>
            <a:r>
              <a:rPr lang="ko-KR" altLang="en-US" sz="1700" b="1" dirty="0">
                <a:solidFill>
                  <a:srgbClr val="1E2A5A"/>
                </a:solidFill>
                <a:latin typeface="맑은 고딕"/>
                <a:ea typeface="맑은 고딕"/>
                <a:cs typeface="맑은 고딕"/>
              </a:rPr>
              <a:t>⑥ </a:t>
            </a:r>
            <a:r>
              <a:rPr lang="en-US" altLang="en-US" sz="1700" b="0" dirty="0">
                <a:solidFill>
                  <a:srgbClr val="1F2328"/>
                </a:solidFill>
                <a:latin typeface="Calibri"/>
                <a:ea typeface="맑은 고딕"/>
                <a:cs typeface="Calibri"/>
              </a:rPr>
              <a:t>Each pacer runs at different speeds and finishes the race in different times. </a:t>
            </a:r>
            <a:r>
              <a:rPr lang="ko-KR" altLang="en-US" sz="1700" b="1" dirty="0">
                <a:solidFill>
                  <a:srgbClr val="1E2A5A"/>
                </a:solidFill>
                <a:latin typeface="맑은 고딕"/>
                <a:ea typeface="맑은 고딕"/>
                <a:cs typeface="맑은 고딕"/>
              </a:rPr>
              <a:t>⑦ </a:t>
            </a:r>
            <a:r>
              <a:rPr lang="en-US" altLang="en-US" sz="1700" b="0" dirty="0">
                <a:solidFill>
                  <a:srgbClr val="1F2328"/>
                </a:solidFill>
                <a:latin typeface="Calibri"/>
                <a:ea typeface="맑은 고딕"/>
                <a:cs typeface="Calibri"/>
              </a:rPr>
              <a:t>Pacers usually have flags or balloons showing their finish time. </a:t>
            </a:r>
            <a:r>
              <a:rPr lang="ko-KR" altLang="en-US" sz="1700" b="1" dirty="0">
                <a:solidFill>
                  <a:srgbClr val="1E2A5A"/>
                </a:solidFill>
                <a:latin typeface="맑은 고딕"/>
                <a:ea typeface="맑은 고딕"/>
                <a:cs typeface="맑은 고딕"/>
              </a:rPr>
              <a:t>⑧ </a:t>
            </a:r>
            <a:r>
              <a:rPr lang="en-US" altLang="en-US" sz="1700" b="0" dirty="0">
                <a:solidFill>
                  <a:srgbClr val="1F2328"/>
                </a:solidFill>
                <a:latin typeface="Calibri"/>
                <a:ea typeface="맑은 고딕"/>
                <a:cs typeface="Calibri"/>
              </a:rPr>
              <a:t>Runners can choose a pacer depending on their target finish time. </a:t>
            </a:r>
            <a:r>
              <a:rPr lang="ko-KR" altLang="en-US" sz="1700" b="1" dirty="0">
                <a:solidFill>
                  <a:srgbClr val="1E2A5A"/>
                </a:solidFill>
                <a:latin typeface="맑은 고딕"/>
                <a:ea typeface="맑은 고딕"/>
                <a:cs typeface="맑은 고딕"/>
              </a:rPr>
              <a:t>⑨ </a:t>
            </a:r>
            <a:r>
              <a:rPr lang="en-US" altLang="en-US" sz="1700" b="0" dirty="0">
                <a:solidFill>
                  <a:srgbClr val="1F2328"/>
                </a:solidFill>
                <a:latin typeface="Calibri"/>
                <a:ea typeface="맑은 고딕"/>
                <a:cs typeface="Calibri"/>
              </a:rPr>
              <a:t>For example, if a runner wants to finish the race in four hours, the runner will follow the four‑hour pacer. </a:t>
            </a:r>
            <a:r>
              <a:rPr lang="ko-KR" altLang="en-US" sz="1700" b="1" dirty="0">
                <a:solidFill>
                  <a:srgbClr val="1E2A5A"/>
                </a:solidFill>
                <a:latin typeface="맑은 고딕"/>
                <a:ea typeface="맑은 고딕"/>
                <a:cs typeface="맑은 고딕"/>
              </a:rPr>
              <a:t>⑩ </a:t>
            </a:r>
            <a:r>
              <a:rPr lang="en-US" altLang="en-US" sz="1700" b="0" dirty="0">
                <a:solidFill>
                  <a:srgbClr val="1F2328"/>
                </a:solidFill>
                <a:latin typeface="Calibri"/>
                <a:ea typeface="맑은 고딕"/>
                <a:cs typeface="Calibri"/>
              </a:rPr>
              <a:t>Since the pacer keeps track of the time, the runner can achieve his or her goal of finishing the marathon in a particular time more easily. </a:t>
            </a:r>
            <a:r>
              <a:rPr lang="ko-KR" altLang="en-US" sz="1700" b="1" dirty="0">
                <a:solidFill>
                  <a:srgbClr val="1E2A5A"/>
                </a:solidFill>
                <a:latin typeface="맑은 고딕"/>
                <a:ea typeface="맑은 고딕"/>
                <a:cs typeface="맑은 고딕"/>
              </a:rPr>
              <a:t>⑪ </a:t>
            </a:r>
            <a:r>
              <a:rPr lang="en-US" altLang="en-US" sz="1700" b="0" dirty="0">
                <a:solidFill>
                  <a:srgbClr val="1F2328"/>
                </a:solidFill>
                <a:latin typeface="Calibri"/>
                <a:ea typeface="맑은 고딕"/>
                <a:cs typeface="Calibri"/>
              </a:rPr>
              <a:t>In short, pacers run but they don’t run to win. They run for others. </a:t>
            </a:r>
            <a:endParaRPr lang="ko-KR" sz="1700"/>
          </a:p>
        </p:txBody>
      </p:sp>
      <p:sp>
        <p:nvSpPr>
          <p:cNvPr id="9" name="q_card_1"/>
          <p:cNvSpPr/>
          <p:nvPr/>
        </p:nvSpPr>
        <p:spPr>
          <a:xfrm>
            <a:off x="457200" y="2970276"/>
            <a:ext cx="11274552" cy="466217"/>
          </a:xfrm>
          <a:prstGeom prst="roundRect">
            <a:avLst>
              <a:gd name="adj" fmla="val 12000"/>
            </a:avLst>
          </a:prstGeom>
          <a:noFill/>
          <a:ln w="12700">
            <a:solidFill>
              <a:srgbClr val="D5DAE5"/>
            </a:solidFill>
          </a:ln>
        </p:spPr>
        <p:txBody>
          <a:bodyPr rtlCol="0" anchor="ctr"/>
          <a:lstStyle/>
          <a:p>
            <a:pPr algn="ctr"/>
          </a:p>
        </p:txBody>
      </p:sp>
      <p:sp>
        <p:nvSpPr>
          <p:cNvPr id="10" name="q_1"/>
          <p:cNvSpPr txBox="1"/>
          <p:nvPr/>
        </p:nvSpPr>
        <p:spPr>
          <a:xfrm>
            <a:off x="502920" y="2970276"/>
            <a:ext cx="9171432" cy="466217"/>
          </a:xfrm>
          <a:prstGeom prst="rect">
            <a:avLst/>
          </a:prstGeom>
          <a:noFill/>
        </p:spPr>
        <p:txBody>
          <a:bodyPr wrap="square" lIns="109728" tIns="45720" rIns="109728" bIns="45720" anchor="ctr" rtlCol="0">
            <a:noAutofit/>
          </a:bodyPr>
          <a:lstStyle/>
          <a:p>
            <a:pPr algn="l">
              <a:lnSpc>
                <a:spcPts val="2375"/>
              </a:lnSpc>
              <a:spcBef>
                <a:spcPts val="0"/>
              </a:spcBef>
              <a:spcAft>
                <a:spcPts val="0"/>
              </a:spcAft>
              <a:buNone/>
            </a:pPr>
            <a:r>
              <a:rPr lang="en-US" altLang="en-US" sz="1900" b="1" dirty="0">
                <a:solidFill>
                  <a:srgbClr val="1E2A5A"/>
                </a:solidFill>
                <a:latin typeface="Calibri"/>
                <a:ea typeface="맑은 고딕"/>
                <a:cs typeface="Calibri"/>
              </a:rPr>
              <a:t>16.  </a:t>
            </a:r>
            <a:r>
              <a:rPr lang="ko-KR" altLang="en-US" sz="1900" b="0" dirty="0">
                <a:solidFill>
                  <a:srgbClr val="1F2328"/>
                </a:solidFill>
                <a:latin typeface="맑은 고딕"/>
                <a:ea typeface="맑은 고딕"/>
                <a:cs typeface="맑은 고딕"/>
              </a:rPr>
              <a:t>4시간 안에 완주하고 싶은 선수는 3시간 페이서를 따라간다.</a:t>
            </a:r>
            <a:endParaRPr lang="ko-KR" sz="1900"/>
          </a:p>
        </p:txBody>
      </p:sp>
      <p:sp>
        <p:nvSpPr>
          <p:cNvPr id="11" name="tf_1"/>
          <p:cNvSpPr txBox="1"/>
          <p:nvPr/>
        </p:nvSpPr>
        <p:spPr>
          <a:xfrm>
            <a:off x="9765792" y="2970276"/>
            <a:ext cx="1828800" cy="466217"/>
          </a:xfrm>
          <a:prstGeom prst="rect">
            <a:avLst/>
          </a:prstGeom>
          <a:noFill/>
        </p:spPr>
        <p:txBody>
          <a:bodyPr wrap="square" lIns="18288" tIns="18288" rIns="18288" bIns="18288" anchor="ctr" rtlCol="0">
            <a:noAutofit/>
          </a:bodyPr>
          <a:lstStyle/>
          <a:p>
            <a:pPr algn="ctr">
              <a:lnSpc>
                <a:spcPts val="2375"/>
              </a:lnSpc>
              <a:spcBef>
                <a:spcPts val="0"/>
              </a:spcBef>
              <a:spcAft>
                <a:spcPts val="0"/>
              </a:spcAft>
              <a:buNone/>
            </a:pPr>
            <a:r>
              <a:rPr lang="en-US" altLang="en-US" sz="1900" b="1" dirty="0">
                <a:solidFill>
                  <a:srgbClr val="9AA3B5"/>
                </a:solidFill>
                <a:latin typeface="Calibri"/>
                <a:ea typeface="맑은 고딕"/>
                <a:cs typeface="Calibri"/>
              </a:rPr>
              <a:t>T   /   F</a:t>
            </a:r>
            <a:endParaRPr lang="ko-KR" sz="1900"/>
          </a:p>
        </p:txBody>
      </p:sp>
      <p:sp>
        <p:nvSpPr>
          <p:cNvPr id="12" name="rv_ans_1"/>
          <p:cNvSpPr/>
          <p:nvPr/>
        </p:nvSpPr>
        <p:spPr>
          <a:xfrm>
            <a:off x="9765792" y="3015996"/>
            <a:ext cx="1828800" cy="374777"/>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640"/>
              </a:lnSpc>
              <a:spcBef>
                <a:spcPts val="0"/>
              </a:spcBef>
              <a:spcAft>
                <a:spcPts val="0"/>
              </a:spcAft>
              <a:buNone/>
            </a:pPr>
            <a:r>
              <a:rPr lang="en-US" altLang="en-US" sz="2200" b="1" dirty="0">
                <a:solidFill>
                  <a:srgbClr val="C00000"/>
                </a:solidFill>
                <a:latin typeface="Calibri"/>
                <a:ea typeface="맑은 고딕"/>
                <a:cs typeface="Calibri"/>
              </a:rPr>
              <a:t>F</a:t>
            </a:r>
            <a:endParaRPr lang="ko-KR" sz="2200"/>
          </a:p>
        </p:txBody>
      </p:sp>
      <p:sp>
        <p:nvSpPr>
          <p:cNvPr id="13" name="q_card_2"/>
          <p:cNvSpPr/>
          <p:nvPr/>
        </p:nvSpPr>
        <p:spPr>
          <a:xfrm>
            <a:off x="457200" y="3509645"/>
            <a:ext cx="11274552" cy="466217"/>
          </a:xfrm>
          <a:prstGeom prst="roundRect">
            <a:avLst>
              <a:gd name="adj" fmla="val 12000"/>
            </a:avLst>
          </a:prstGeom>
          <a:noFill/>
          <a:ln w="12700">
            <a:solidFill>
              <a:srgbClr val="D5DAE5"/>
            </a:solidFill>
          </a:ln>
        </p:spPr>
        <p:txBody>
          <a:bodyPr rtlCol="0" anchor="ctr"/>
          <a:lstStyle/>
          <a:p>
            <a:pPr algn="ctr"/>
          </a:p>
        </p:txBody>
      </p:sp>
      <p:sp>
        <p:nvSpPr>
          <p:cNvPr id="14" name="q_2"/>
          <p:cNvSpPr txBox="1"/>
          <p:nvPr/>
        </p:nvSpPr>
        <p:spPr>
          <a:xfrm>
            <a:off x="502920" y="3509645"/>
            <a:ext cx="9171432" cy="466217"/>
          </a:xfrm>
          <a:prstGeom prst="rect">
            <a:avLst/>
          </a:prstGeom>
          <a:noFill/>
        </p:spPr>
        <p:txBody>
          <a:bodyPr wrap="square" lIns="109728" tIns="45720" rIns="109728" bIns="45720" anchor="ctr" rtlCol="0">
            <a:noAutofit/>
          </a:bodyPr>
          <a:lstStyle/>
          <a:p>
            <a:pPr algn="l">
              <a:lnSpc>
                <a:spcPts val="2375"/>
              </a:lnSpc>
              <a:spcBef>
                <a:spcPts val="0"/>
              </a:spcBef>
              <a:spcAft>
                <a:spcPts val="0"/>
              </a:spcAft>
              <a:buNone/>
            </a:pPr>
            <a:r>
              <a:rPr lang="en-US" altLang="en-US" sz="1900" b="1" dirty="0">
                <a:solidFill>
                  <a:srgbClr val="1E2A5A"/>
                </a:solidFill>
                <a:latin typeface="Calibri"/>
                <a:ea typeface="맑은 고딕"/>
                <a:cs typeface="Calibri"/>
              </a:rPr>
              <a:t>17.  </a:t>
            </a:r>
            <a:r>
              <a:rPr lang="ko-KR" altLang="en-US" sz="1900" b="0" dirty="0">
                <a:solidFill>
                  <a:srgbClr val="1F2328"/>
                </a:solidFill>
                <a:latin typeface="맑은 고딕"/>
                <a:ea typeface="맑은 고딕"/>
                <a:cs typeface="맑은 고딕"/>
              </a:rPr>
              <a:t>페이서는 시간을 계속 파악한다.</a:t>
            </a:r>
            <a:endParaRPr lang="ko-KR" sz="1900"/>
          </a:p>
        </p:txBody>
      </p:sp>
      <p:sp>
        <p:nvSpPr>
          <p:cNvPr id="15" name="tf_2"/>
          <p:cNvSpPr txBox="1"/>
          <p:nvPr/>
        </p:nvSpPr>
        <p:spPr>
          <a:xfrm>
            <a:off x="9765792" y="3509645"/>
            <a:ext cx="1828800" cy="466217"/>
          </a:xfrm>
          <a:prstGeom prst="rect">
            <a:avLst/>
          </a:prstGeom>
          <a:noFill/>
        </p:spPr>
        <p:txBody>
          <a:bodyPr wrap="square" lIns="18288" tIns="18288" rIns="18288" bIns="18288" anchor="ctr" rtlCol="0">
            <a:noAutofit/>
          </a:bodyPr>
          <a:lstStyle/>
          <a:p>
            <a:pPr algn="ctr">
              <a:lnSpc>
                <a:spcPts val="2375"/>
              </a:lnSpc>
              <a:spcBef>
                <a:spcPts val="0"/>
              </a:spcBef>
              <a:spcAft>
                <a:spcPts val="0"/>
              </a:spcAft>
              <a:buNone/>
            </a:pPr>
            <a:r>
              <a:rPr lang="en-US" altLang="en-US" sz="1900" b="1" dirty="0">
                <a:solidFill>
                  <a:srgbClr val="9AA3B5"/>
                </a:solidFill>
                <a:latin typeface="Calibri"/>
                <a:ea typeface="맑은 고딕"/>
                <a:cs typeface="Calibri"/>
              </a:rPr>
              <a:t>T   /   F</a:t>
            </a:r>
            <a:endParaRPr lang="ko-KR" sz="1900"/>
          </a:p>
        </p:txBody>
      </p:sp>
      <p:sp>
        <p:nvSpPr>
          <p:cNvPr id="16" name="rv_ans_2"/>
          <p:cNvSpPr/>
          <p:nvPr/>
        </p:nvSpPr>
        <p:spPr>
          <a:xfrm>
            <a:off x="9765792" y="3555365"/>
            <a:ext cx="1828800" cy="374777"/>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640"/>
              </a:lnSpc>
              <a:spcBef>
                <a:spcPts val="0"/>
              </a:spcBef>
              <a:spcAft>
                <a:spcPts val="0"/>
              </a:spcAft>
              <a:buNone/>
            </a:pPr>
            <a:r>
              <a:rPr lang="en-US" altLang="en-US" sz="2200" b="1" dirty="0">
                <a:solidFill>
                  <a:srgbClr val="C00000"/>
                </a:solidFill>
                <a:latin typeface="Calibri"/>
                <a:ea typeface="맑은 고딕"/>
                <a:cs typeface="Calibri"/>
              </a:rPr>
              <a:t>T</a:t>
            </a:r>
            <a:endParaRPr lang="ko-KR" sz="2200"/>
          </a:p>
        </p:txBody>
      </p:sp>
      <p:sp>
        <p:nvSpPr>
          <p:cNvPr id="17" name="q_card_3"/>
          <p:cNvSpPr/>
          <p:nvPr/>
        </p:nvSpPr>
        <p:spPr>
          <a:xfrm>
            <a:off x="457200" y="4049014"/>
            <a:ext cx="11274552" cy="767842"/>
          </a:xfrm>
          <a:prstGeom prst="roundRect">
            <a:avLst>
              <a:gd name="adj" fmla="val 12000"/>
            </a:avLst>
          </a:prstGeom>
          <a:noFill/>
          <a:ln w="12700">
            <a:solidFill>
              <a:srgbClr val="D5DAE5"/>
            </a:solidFill>
          </a:ln>
        </p:spPr>
        <p:txBody>
          <a:bodyPr rtlCol="0" anchor="ctr"/>
          <a:lstStyle/>
          <a:p>
            <a:pPr algn="ctr"/>
          </a:p>
        </p:txBody>
      </p:sp>
      <p:sp>
        <p:nvSpPr>
          <p:cNvPr id="18" name="q_3"/>
          <p:cNvSpPr txBox="1"/>
          <p:nvPr/>
        </p:nvSpPr>
        <p:spPr>
          <a:xfrm>
            <a:off x="502920" y="4049014"/>
            <a:ext cx="9171432" cy="767842"/>
          </a:xfrm>
          <a:prstGeom prst="rect">
            <a:avLst/>
          </a:prstGeom>
          <a:noFill/>
        </p:spPr>
        <p:txBody>
          <a:bodyPr wrap="square" lIns="109728" tIns="45720" rIns="109728" bIns="45720" anchor="ctr" rtlCol="0">
            <a:noAutofit/>
          </a:bodyPr>
          <a:lstStyle/>
          <a:p>
            <a:pPr algn="l">
              <a:lnSpc>
                <a:spcPts val="2375"/>
              </a:lnSpc>
              <a:spcBef>
                <a:spcPts val="0"/>
              </a:spcBef>
              <a:spcAft>
                <a:spcPts val="0"/>
              </a:spcAft>
              <a:buNone/>
            </a:pPr>
            <a:r>
              <a:rPr lang="en-US" altLang="en-US" sz="1900" b="1" dirty="0">
                <a:solidFill>
                  <a:srgbClr val="1E2A5A"/>
                </a:solidFill>
                <a:latin typeface="Calibri"/>
                <a:ea typeface="맑은 고딕"/>
                <a:cs typeface="Calibri"/>
              </a:rPr>
              <a:t>18.  </a:t>
            </a:r>
            <a:r>
              <a:rPr lang="ko-KR" altLang="en-US" sz="1900" b="0" dirty="0">
                <a:solidFill>
                  <a:srgbClr val="1F2328"/>
                </a:solidFill>
                <a:latin typeface="맑은 고딕"/>
                <a:ea typeface="맑은 고딕"/>
                <a:cs typeface="맑은 고딕"/>
              </a:rPr>
              <a:t>페이서 덕분에 선수는 특정 시간 안에 완주하는 목표를 더 쉽게 이룰 수 있다.</a:t>
            </a:r>
            <a:endParaRPr lang="ko-KR" sz="1900"/>
          </a:p>
        </p:txBody>
      </p:sp>
      <p:sp>
        <p:nvSpPr>
          <p:cNvPr id="19" name="tf_3"/>
          <p:cNvSpPr txBox="1"/>
          <p:nvPr/>
        </p:nvSpPr>
        <p:spPr>
          <a:xfrm>
            <a:off x="9765792" y="4049014"/>
            <a:ext cx="1828800" cy="767842"/>
          </a:xfrm>
          <a:prstGeom prst="rect">
            <a:avLst/>
          </a:prstGeom>
          <a:noFill/>
        </p:spPr>
        <p:txBody>
          <a:bodyPr wrap="square" lIns="18288" tIns="18288" rIns="18288" bIns="18288" anchor="ctr" rtlCol="0">
            <a:noAutofit/>
          </a:bodyPr>
          <a:lstStyle/>
          <a:p>
            <a:pPr algn="ctr">
              <a:lnSpc>
                <a:spcPts val="2375"/>
              </a:lnSpc>
              <a:spcBef>
                <a:spcPts val="0"/>
              </a:spcBef>
              <a:spcAft>
                <a:spcPts val="0"/>
              </a:spcAft>
              <a:buNone/>
            </a:pPr>
            <a:r>
              <a:rPr lang="en-US" altLang="en-US" sz="1900" b="1" dirty="0">
                <a:solidFill>
                  <a:srgbClr val="9AA3B5"/>
                </a:solidFill>
                <a:latin typeface="Calibri"/>
                <a:ea typeface="맑은 고딕"/>
                <a:cs typeface="Calibri"/>
              </a:rPr>
              <a:t>T   /   F</a:t>
            </a:r>
            <a:endParaRPr lang="ko-KR" sz="1900"/>
          </a:p>
        </p:txBody>
      </p:sp>
      <p:sp>
        <p:nvSpPr>
          <p:cNvPr id="20" name="rv_ans_3"/>
          <p:cNvSpPr/>
          <p:nvPr/>
        </p:nvSpPr>
        <p:spPr>
          <a:xfrm>
            <a:off x="9765792" y="4094734"/>
            <a:ext cx="1828800" cy="676402"/>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640"/>
              </a:lnSpc>
              <a:spcBef>
                <a:spcPts val="0"/>
              </a:spcBef>
              <a:spcAft>
                <a:spcPts val="0"/>
              </a:spcAft>
              <a:buNone/>
            </a:pPr>
            <a:r>
              <a:rPr lang="en-US" altLang="en-US" sz="2200" b="1" dirty="0">
                <a:solidFill>
                  <a:srgbClr val="C00000"/>
                </a:solidFill>
                <a:latin typeface="Calibri"/>
                <a:ea typeface="맑은 고딕"/>
                <a:cs typeface="Calibri"/>
              </a:rPr>
              <a:t>T</a:t>
            </a:r>
            <a:endParaRPr lang="ko-KR" sz="2200"/>
          </a:p>
        </p:txBody>
      </p:sp>
      <p:sp>
        <p:nvSpPr>
          <p:cNvPr id="21" name="q_card_4"/>
          <p:cNvSpPr/>
          <p:nvPr/>
        </p:nvSpPr>
        <p:spPr>
          <a:xfrm>
            <a:off x="457200" y="4890008"/>
            <a:ext cx="11274552" cy="466217"/>
          </a:xfrm>
          <a:prstGeom prst="roundRect">
            <a:avLst>
              <a:gd name="adj" fmla="val 12000"/>
            </a:avLst>
          </a:prstGeom>
          <a:noFill/>
          <a:ln w="12700">
            <a:solidFill>
              <a:srgbClr val="D5DAE5"/>
            </a:solidFill>
          </a:ln>
        </p:spPr>
        <p:txBody>
          <a:bodyPr rtlCol="0" anchor="ctr"/>
          <a:lstStyle/>
          <a:p>
            <a:pPr algn="ctr"/>
          </a:p>
        </p:txBody>
      </p:sp>
      <p:sp>
        <p:nvSpPr>
          <p:cNvPr id="22" name="q_4"/>
          <p:cNvSpPr txBox="1"/>
          <p:nvPr/>
        </p:nvSpPr>
        <p:spPr>
          <a:xfrm>
            <a:off x="502920" y="4890008"/>
            <a:ext cx="9171432" cy="466217"/>
          </a:xfrm>
          <a:prstGeom prst="rect">
            <a:avLst/>
          </a:prstGeom>
          <a:noFill/>
        </p:spPr>
        <p:txBody>
          <a:bodyPr wrap="square" lIns="109728" tIns="45720" rIns="109728" bIns="45720" anchor="ctr" rtlCol="0">
            <a:noAutofit/>
          </a:bodyPr>
          <a:lstStyle/>
          <a:p>
            <a:pPr algn="l">
              <a:lnSpc>
                <a:spcPts val="2375"/>
              </a:lnSpc>
              <a:spcBef>
                <a:spcPts val="0"/>
              </a:spcBef>
              <a:spcAft>
                <a:spcPts val="0"/>
              </a:spcAft>
              <a:buNone/>
            </a:pPr>
            <a:r>
              <a:rPr lang="en-US" altLang="en-US" sz="1900" b="1" dirty="0">
                <a:solidFill>
                  <a:srgbClr val="1E2A5A"/>
                </a:solidFill>
                <a:latin typeface="Calibri"/>
                <a:ea typeface="맑은 고딕"/>
                <a:cs typeface="Calibri"/>
              </a:rPr>
              <a:t>19.  </a:t>
            </a:r>
            <a:r>
              <a:rPr lang="ko-KR" altLang="en-US" sz="1900" b="0" dirty="0">
                <a:solidFill>
                  <a:srgbClr val="1F2328"/>
                </a:solidFill>
                <a:latin typeface="맑은 고딕"/>
                <a:ea typeface="맑은 고딕"/>
                <a:cs typeface="맑은 고딕"/>
              </a:rPr>
              <a:t>페이서는 우승하기 위해 달린다.</a:t>
            </a:r>
            <a:endParaRPr lang="ko-KR" sz="1900"/>
          </a:p>
        </p:txBody>
      </p:sp>
      <p:sp>
        <p:nvSpPr>
          <p:cNvPr id="23" name="tf_4"/>
          <p:cNvSpPr txBox="1"/>
          <p:nvPr/>
        </p:nvSpPr>
        <p:spPr>
          <a:xfrm>
            <a:off x="9765792" y="4890008"/>
            <a:ext cx="1828800" cy="466217"/>
          </a:xfrm>
          <a:prstGeom prst="rect">
            <a:avLst/>
          </a:prstGeom>
          <a:noFill/>
        </p:spPr>
        <p:txBody>
          <a:bodyPr wrap="square" lIns="18288" tIns="18288" rIns="18288" bIns="18288" anchor="ctr" rtlCol="0">
            <a:noAutofit/>
          </a:bodyPr>
          <a:lstStyle/>
          <a:p>
            <a:pPr algn="ctr">
              <a:lnSpc>
                <a:spcPts val="2375"/>
              </a:lnSpc>
              <a:spcBef>
                <a:spcPts val="0"/>
              </a:spcBef>
              <a:spcAft>
                <a:spcPts val="0"/>
              </a:spcAft>
              <a:buNone/>
            </a:pPr>
            <a:r>
              <a:rPr lang="en-US" altLang="en-US" sz="1900" b="1" dirty="0">
                <a:solidFill>
                  <a:srgbClr val="9AA3B5"/>
                </a:solidFill>
                <a:latin typeface="Calibri"/>
                <a:ea typeface="맑은 고딕"/>
                <a:cs typeface="Calibri"/>
              </a:rPr>
              <a:t>T   /   F</a:t>
            </a:r>
            <a:endParaRPr lang="ko-KR" sz="1900"/>
          </a:p>
        </p:txBody>
      </p:sp>
      <p:sp>
        <p:nvSpPr>
          <p:cNvPr id="24" name="rv_ans_4"/>
          <p:cNvSpPr/>
          <p:nvPr/>
        </p:nvSpPr>
        <p:spPr>
          <a:xfrm>
            <a:off x="9765792" y="4935728"/>
            <a:ext cx="1828800" cy="374777"/>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640"/>
              </a:lnSpc>
              <a:spcBef>
                <a:spcPts val="0"/>
              </a:spcBef>
              <a:spcAft>
                <a:spcPts val="0"/>
              </a:spcAft>
              <a:buNone/>
            </a:pPr>
            <a:r>
              <a:rPr lang="en-US" altLang="en-US" sz="2200" b="1" dirty="0">
                <a:solidFill>
                  <a:srgbClr val="C00000"/>
                </a:solidFill>
                <a:latin typeface="Calibri"/>
                <a:ea typeface="맑은 고딕"/>
                <a:cs typeface="Calibri"/>
              </a:rPr>
              <a:t>F</a:t>
            </a:r>
            <a:endParaRPr lang="ko-KR" sz="2200"/>
          </a:p>
        </p:txBody>
      </p:sp>
      <p:sp>
        <p:nvSpPr>
          <p:cNvPr id="25" name="q_card_5"/>
          <p:cNvSpPr/>
          <p:nvPr/>
        </p:nvSpPr>
        <p:spPr>
          <a:xfrm>
            <a:off x="457200" y="5429377"/>
            <a:ext cx="11274552" cy="466217"/>
          </a:xfrm>
          <a:prstGeom prst="roundRect">
            <a:avLst>
              <a:gd name="adj" fmla="val 12000"/>
            </a:avLst>
          </a:prstGeom>
          <a:noFill/>
          <a:ln w="12700">
            <a:solidFill>
              <a:srgbClr val="D5DAE5"/>
            </a:solidFill>
          </a:ln>
        </p:spPr>
        <p:txBody>
          <a:bodyPr rtlCol="0" anchor="ctr"/>
          <a:lstStyle/>
          <a:p>
            <a:pPr algn="ctr"/>
          </a:p>
        </p:txBody>
      </p:sp>
      <p:sp>
        <p:nvSpPr>
          <p:cNvPr id="26" name="q_5"/>
          <p:cNvSpPr txBox="1"/>
          <p:nvPr/>
        </p:nvSpPr>
        <p:spPr>
          <a:xfrm>
            <a:off x="502920" y="5429377"/>
            <a:ext cx="9171432" cy="466217"/>
          </a:xfrm>
          <a:prstGeom prst="rect">
            <a:avLst/>
          </a:prstGeom>
          <a:noFill/>
        </p:spPr>
        <p:txBody>
          <a:bodyPr wrap="square" lIns="109728" tIns="45720" rIns="109728" bIns="45720" anchor="ctr" rtlCol="0">
            <a:noAutofit/>
          </a:bodyPr>
          <a:lstStyle/>
          <a:p>
            <a:pPr algn="l">
              <a:lnSpc>
                <a:spcPts val="2375"/>
              </a:lnSpc>
              <a:spcBef>
                <a:spcPts val="0"/>
              </a:spcBef>
              <a:spcAft>
                <a:spcPts val="0"/>
              </a:spcAft>
              <a:buNone/>
            </a:pPr>
            <a:r>
              <a:rPr lang="en-US" altLang="en-US" sz="1900" b="1" dirty="0">
                <a:solidFill>
                  <a:srgbClr val="1E2A5A"/>
                </a:solidFill>
                <a:latin typeface="Calibri"/>
                <a:ea typeface="맑은 고딕"/>
                <a:cs typeface="Calibri"/>
              </a:rPr>
              <a:t>20.  </a:t>
            </a:r>
            <a:r>
              <a:rPr lang="ko-KR" altLang="en-US" sz="1900" b="0" dirty="0">
                <a:solidFill>
                  <a:srgbClr val="1F2328"/>
                </a:solidFill>
                <a:latin typeface="맑은 고딕"/>
                <a:ea typeface="맑은 고딕"/>
                <a:cs typeface="맑은 고딕"/>
              </a:rPr>
              <a:t>페이서는 다른 사람들을 위해 달린다.</a:t>
            </a:r>
            <a:endParaRPr lang="ko-KR" sz="1900"/>
          </a:p>
        </p:txBody>
      </p:sp>
      <p:sp>
        <p:nvSpPr>
          <p:cNvPr id="27" name="tf_5"/>
          <p:cNvSpPr txBox="1"/>
          <p:nvPr/>
        </p:nvSpPr>
        <p:spPr>
          <a:xfrm>
            <a:off x="9765792" y="5429377"/>
            <a:ext cx="1828800" cy="466217"/>
          </a:xfrm>
          <a:prstGeom prst="rect">
            <a:avLst/>
          </a:prstGeom>
          <a:noFill/>
        </p:spPr>
        <p:txBody>
          <a:bodyPr wrap="square" lIns="18288" tIns="18288" rIns="18288" bIns="18288" anchor="ctr" rtlCol="0">
            <a:noAutofit/>
          </a:bodyPr>
          <a:lstStyle/>
          <a:p>
            <a:pPr algn="ctr">
              <a:lnSpc>
                <a:spcPts val="2375"/>
              </a:lnSpc>
              <a:spcBef>
                <a:spcPts val="0"/>
              </a:spcBef>
              <a:spcAft>
                <a:spcPts val="0"/>
              </a:spcAft>
              <a:buNone/>
            </a:pPr>
            <a:r>
              <a:rPr lang="en-US" altLang="en-US" sz="1900" b="1" dirty="0">
                <a:solidFill>
                  <a:srgbClr val="9AA3B5"/>
                </a:solidFill>
                <a:latin typeface="Calibri"/>
                <a:ea typeface="맑은 고딕"/>
                <a:cs typeface="Calibri"/>
              </a:rPr>
              <a:t>T   /   F</a:t>
            </a:r>
            <a:endParaRPr lang="ko-KR" sz="1900"/>
          </a:p>
        </p:txBody>
      </p:sp>
      <p:sp>
        <p:nvSpPr>
          <p:cNvPr id="28" name="rv_ans_5"/>
          <p:cNvSpPr/>
          <p:nvPr/>
        </p:nvSpPr>
        <p:spPr>
          <a:xfrm>
            <a:off x="9765792" y="5475097"/>
            <a:ext cx="1828800" cy="374777"/>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640"/>
              </a:lnSpc>
              <a:spcBef>
                <a:spcPts val="0"/>
              </a:spcBef>
              <a:spcAft>
                <a:spcPts val="0"/>
              </a:spcAft>
              <a:buNone/>
            </a:pPr>
            <a:r>
              <a:rPr lang="en-US" altLang="en-US" sz="2200" b="1" dirty="0">
                <a:solidFill>
                  <a:srgbClr val="C00000"/>
                </a:solidFill>
                <a:latin typeface="Calibri"/>
                <a:ea typeface="맑은 고딕"/>
                <a:cs typeface="Calibri"/>
              </a:rPr>
              <a:t>T</a:t>
            </a:r>
            <a:endParaRPr lang="ko-KR" sz="22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25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250"/>
                                        <p:tgtEl>
                                          <p:spTgt spid="1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0"/>
                                        </p:tgtEl>
                                        <p:attrNameLst>
                                          <p:attrName>style.visibility</p:attrName>
                                        </p:attrNameLst>
                                      </p:cBhvr>
                                      <p:to>
                                        <p:strVal val="visible"/>
                                      </p:to>
                                    </p:set>
                                    <p:animEffect transition="in" filter="fade">
                                      <p:cBhvr>
                                        <p:cTn id="13" dur="250"/>
                                        <p:tgtEl>
                                          <p:spTgt spid="20"/>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4"/>
                                        </p:tgtEl>
                                        <p:attrNameLst>
                                          <p:attrName>style.visibility</p:attrName>
                                        </p:attrNameLst>
                                      </p:cBhvr>
                                      <p:to>
                                        <p:strVal val="visible"/>
                                      </p:to>
                                    </p:set>
                                    <p:animEffect transition="in" filter="fade">
                                      <p:cBhvr>
                                        <p:cTn id="16" dur="250"/>
                                        <p:tgtEl>
                                          <p:spTgt spid="24"/>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8"/>
                                        </p:tgtEl>
                                        <p:attrNameLst>
                                          <p:attrName>style.visibility</p:attrName>
                                        </p:attrNameLst>
                                      </p:cBhvr>
                                      <p:to>
                                        <p:strVal val="visible"/>
                                      </p:to>
                                    </p:set>
                                    <p:animEffect transition="in" filter="fade">
                                      <p:cBhvr>
                                        <p:cTn id="19" dur="25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6" grpId="0" animBg="1"/>
      <p:bldP spid="20" grpId="0" animBg="1"/>
      <p:bldP spid="24" grpId="0" animBg="1"/>
      <p:bldP spid="28" grpId="0" animBg="1"/>
    </p:bldLst>
  </p:timing>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8000"/>
            </a:avLst>
          </a:prstGeom>
          <a:solidFill>
            <a:srgbClr val="1E2A5A"/>
          </a:solidFill>
          <a:ln>
            <a:noFill/>
          </a:ln>
        </p:spPr>
        <p:txBody>
          <a:bodyPr wrap="square" lIns="45720" tIns="18288" rIns="45720" bIns="18288" anchor="ctr" rtlCol="0">
            <a:noAutofit/>
          </a:bodyPr>
          <a:lstStyle/>
          <a:p>
            <a:pPr algn="ctr">
              <a:lnSpc>
                <a:spcPts val="2000"/>
              </a:lnSpc>
              <a:spcBef>
                <a:spcPts val="0"/>
              </a:spcBef>
              <a:spcAft>
                <a:spcPts val="0"/>
              </a:spcAft>
              <a:buNone/>
            </a:pPr>
            <a:r>
              <a:rPr lang="en-US" altLang="en-US" sz="1700" b="1" dirty="0">
                <a:solidFill>
                  <a:srgbClr val="FFFFFF"/>
                </a:solidFill>
                <a:latin typeface="Calibri"/>
                <a:ea typeface="맑은 고딕"/>
                <a:cs typeface="Calibri"/>
              </a:rPr>
              <a:t>L5-3</a:t>
            </a:r>
            <a:endParaRPr lang="ko-KR" sz="1700"/>
          </a:p>
        </p:txBody>
      </p:sp>
      <p:sp>
        <p:nvSpPr>
          <p:cNvPr id="3" name="hdr_chip"/>
          <p:cNvSpPr/>
          <p:nvPr/>
        </p:nvSpPr>
        <p:spPr>
          <a:xfrm>
            <a:off x="1755648" y="274320"/>
            <a:ext cx="1371600" cy="493776"/>
          </a:xfrm>
          <a:prstGeom prst="roundRect">
            <a:avLst>
              <a:gd name="adj" fmla="val 8000"/>
            </a:avLst>
          </a:prstGeom>
          <a:solidFill>
            <a:srgbClr val="E6EAF4"/>
          </a:solidFill>
          <a:ln>
            <a:noFill/>
          </a:ln>
        </p:spPr>
        <p:txBody>
          <a:bodyPr wrap="square" lIns="27432" tIns="18288" rIns="27432" bIns="18288" anchor="ctr" rtlCol="0">
            <a:noAutofit/>
          </a:bodyPr>
          <a:lstStyle/>
          <a:p>
            <a:pPr algn="ctr">
              <a:lnSpc>
                <a:spcPts val="1700"/>
              </a:lnSpc>
              <a:spcBef>
                <a:spcPts val="0"/>
              </a:spcBef>
              <a:spcAft>
                <a:spcPts val="0"/>
              </a:spcAft>
              <a:buNone/>
            </a:pPr>
            <a:r>
              <a:rPr lang="ko-KR" altLang="en-US" sz="1400" b="1" dirty="0">
                <a:solidFill>
                  <a:srgbClr val="1E2A5A"/>
                </a:solidFill>
                <a:latin typeface="맑은 고딕"/>
                <a:ea typeface="맑은 고딕"/>
                <a:cs typeface="맑은 고딕"/>
              </a:rPr>
              <a:t>PART 4 · 5</a:t>
            </a:r>
            <a:endParaRPr lang="ko-KR" sz="1400"/>
          </a:p>
        </p:txBody>
      </p:sp>
      <p:sp>
        <p:nvSpPr>
          <p:cNvPr id="4" name="hdr_q"/>
          <p:cNvSpPr txBox="1"/>
          <p:nvPr/>
        </p:nvSpPr>
        <p:spPr>
          <a:xfrm>
            <a:off x="3246120" y="246888"/>
            <a:ext cx="8485632" cy="548640"/>
          </a:xfrm>
          <a:prstGeom prst="rect">
            <a:avLst/>
          </a:prstGeom>
          <a:noFill/>
        </p:spPr>
        <p:txBody>
          <a:bodyPr wrap="square" lIns="109728" tIns="54864" rIns="109728" bIns="54864" anchor="ctr" rtlCol="0">
            <a:noAutofit/>
          </a:bodyPr>
          <a:lstStyle/>
          <a:p>
            <a:pPr algn="l">
              <a:lnSpc>
                <a:spcPts val="2400"/>
              </a:lnSpc>
              <a:spcBef>
                <a:spcPts val="0"/>
              </a:spcBef>
              <a:spcAft>
                <a:spcPts val="0"/>
              </a:spcAft>
              <a:buNone/>
            </a:pPr>
            <a:r>
              <a:rPr lang="ko-KR" altLang="en-US" sz="2000" b="1" dirty="0">
                <a:solidFill>
                  <a:srgbClr val="1F2328"/>
                </a:solidFill>
                <a:latin typeface="맑은 고딕"/>
                <a:ea typeface="맑은 고딕"/>
                <a:cs typeface="맑은 고딕"/>
              </a:rPr>
              <a:t>본문과 일치하면 T, 일치하지 않으면 F를 고르시오.</a:t>
            </a:r>
            <a:endParaRPr lang="ko-KR" sz="2000"/>
          </a:p>
        </p:txBody>
      </p:sp>
      <p:sp>
        <p:nvSpPr>
          <p:cNvPr id="5" name="ftr_exam"/>
          <p:cNvSpPr txBox="1"/>
          <p:nvPr/>
        </p:nvSpPr>
        <p:spPr>
          <a:xfrm>
            <a:off x="457200" y="6519672"/>
            <a:ext cx="5669280" cy="256032"/>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5</a:t>
            </a:r>
            <a:endParaRPr lang="ko-KR" sz="1000"/>
          </a:p>
        </p:txBody>
      </p:sp>
      <p:sp>
        <p:nvSpPr>
          <p:cNvPr id="6" name="ftr_hint"/>
          <p:cNvSpPr txBox="1"/>
          <p:nvPr/>
        </p:nvSpPr>
        <p:spPr>
          <a:xfrm>
            <a:off x="5971032" y="6519672"/>
            <a:ext cx="5760720" cy="256032"/>
          </a:xfrm>
          <a:prstGeom prst="rect">
            <a:avLst/>
          </a:prstGeom>
          <a:noFill/>
        </p:spPr>
        <p:txBody>
          <a:bodyPr wrap="square" lIns="0" tIns="0" rIns="0" bIns="0" anchor="t" rtlCol="0">
            <a:noAutofit/>
          </a:bodyPr>
          <a:lstStyle/>
          <a:p>
            <a:pPr algn="r">
              <a:lnSpc>
                <a:spcPts val="1200"/>
              </a:lnSpc>
              <a:spcBef>
                <a:spcPts val="0"/>
              </a:spcBef>
              <a:spcAft>
                <a:spcPts val="0"/>
              </a:spcAft>
              <a:buNone/>
            </a:pPr>
            <a:r>
              <a:rPr lang="ko-KR" altLang="en-US" sz="1000" b="0" dirty="0">
                <a:solidFill>
                  <a:srgbClr val="7A808C"/>
                </a:solidFill>
                <a:latin typeface="맑은 고딕"/>
                <a:ea typeface="맑은 고딕"/>
                <a:cs typeface="맑은 고딕"/>
              </a:rPr>
              <a:t>클릭 ① 정답(T/F) 공개</a:t>
            </a:r>
            <a:endParaRPr lang="ko-KR" sz="1000"/>
          </a:p>
        </p:txBody>
      </p:sp>
      <p:sp>
        <p:nvSpPr>
          <p:cNvPr id="7" name="passage_card"/>
          <p:cNvSpPr/>
          <p:nvPr/>
        </p:nvSpPr>
        <p:spPr>
          <a:xfrm>
            <a:off x="457200" y="950976"/>
            <a:ext cx="11274552" cy="2009647"/>
          </a:xfrm>
          <a:prstGeom prst="roundRect">
            <a:avLst>
              <a:gd name="adj" fmla="val 4000"/>
            </a:avLst>
          </a:prstGeom>
          <a:solidFill>
            <a:srgbClr val="F3F5F9"/>
          </a:solidFill>
          <a:ln w="12700">
            <a:solidFill>
              <a:srgbClr val="D9DFEA"/>
            </a:solidFill>
          </a:ln>
        </p:spPr>
        <p:txBody>
          <a:bodyPr rtlCol="0" anchor="ctr"/>
          <a:lstStyle/>
          <a:p>
            <a:pPr algn="ctr"/>
          </a:p>
        </p:txBody>
      </p:sp>
      <p:sp>
        <p:nvSpPr>
          <p:cNvPr id="8" name="passage"/>
          <p:cNvSpPr txBox="1"/>
          <p:nvPr/>
        </p:nvSpPr>
        <p:spPr>
          <a:xfrm>
            <a:off x="457200" y="950976"/>
            <a:ext cx="11274552" cy="2009647"/>
          </a:xfrm>
          <a:prstGeom prst="rect">
            <a:avLst/>
          </a:prstGeom>
          <a:noFill/>
        </p:spPr>
        <p:txBody>
          <a:bodyPr wrap="square" lIns="182880" tIns="137160" rIns="182880" bIns="137160" anchor="t" rtlCol="0">
            <a:noAutofit/>
          </a:bodyPr>
          <a:lstStyle/>
          <a:p>
            <a:pPr algn="l">
              <a:lnSpc>
                <a:spcPts val="1952"/>
              </a:lnSpc>
              <a:spcBef>
                <a:spcPts val="0"/>
              </a:spcBef>
              <a:spcAft>
                <a:spcPts val="0"/>
              </a:spcAft>
              <a:buNone/>
            </a:pPr>
            <a:r>
              <a:rPr lang="ko-KR" altLang="en-US" sz="1600" b="1" dirty="0">
                <a:solidFill>
                  <a:srgbClr val="1E2A5A"/>
                </a:solidFill>
                <a:latin typeface="맑은 고딕"/>
                <a:ea typeface="맑은 고딕"/>
                <a:cs typeface="맑은 고딕"/>
              </a:rPr>
              <a:t>⑫ </a:t>
            </a:r>
            <a:r>
              <a:rPr lang="en-US" altLang="en-US" sz="1600" b="0" dirty="0">
                <a:solidFill>
                  <a:srgbClr val="1F2328"/>
                </a:solidFill>
                <a:latin typeface="Calibri"/>
                <a:ea typeface="맑은 고딕"/>
                <a:cs typeface="Calibri"/>
              </a:rPr>
              <a:t>You may only see the car and the driver during most car races, but there is a team behind the driver. This team is called a pit crew. </a:t>
            </a:r>
            <a:r>
              <a:rPr lang="ko-KR" altLang="en-US" sz="1600" b="1" dirty="0">
                <a:solidFill>
                  <a:srgbClr val="1E2A5A"/>
                </a:solidFill>
                <a:latin typeface="맑은 고딕"/>
                <a:ea typeface="맑은 고딕"/>
                <a:cs typeface="맑은 고딕"/>
              </a:rPr>
              <a:t>⑬ </a:t>
            </a:r>
            <a:r>
              <a:rPr lang="en-US" altLang="en-US" sz="1600" b="0" dirty="0">
                <a:solidFill>
                  <a:srgbClr val="1F2328"/>
                </a:solidFill>
                <a:latin typeface="Calibri"/>
                <a:ea typeface="맑은 고딕"/>
                <a:cs typeface="Calibri"/>
              </a:rPr>
              <a:t>A pit is a place on the side of the race track, and drivers stop there several times during a race. </a:t>
            </a:r>
            <a:r>
              <a:rPr lang="ko-KR" altLang="en-US" sz="1600" b="1" dirty="0">
                <a:solidFill>
                  <a:srgbClr val="1E2A5A"/>
                </a:solidFill>
                <a:latin typeface="맑은 고딕"/>
                <a:ea typeface="맑은 고딕"/>
                <a:cs typeface="맑은 고딕"/>
              </a:rPr>
              <a:t>⑭ </a:t>
            </a:r>
            <a:r>
              <a:rPr lang="en-US" altLang="en-US" sz="1600" b="0" dirty="0">
                <a:solidFill>
                  <a:srgbClr val="1F2328"/>
                </a:solidFill>
                <a:latin typeface="Calibri"/>
                <a:ea typeface="맑은 고딕"/>
                <a:cs typeface="Calibri"/>
              </a:rPr>
              <a:t>The main job of the pit crew is to check the car and change the tires. </a:t>
            </a:r>
            <a:r>
              <a:rPr lang="ko-KR" altLang="en-US" sz="1600" b="1" dirty="0">
                <a:solidFill>
                  <a:srgbClr val="1E2A5A"/>
                </a:solidFill>
                <a:latin typeface="맑은 고딕"/>
                <a:ea typeface="맑은 고딕"/>
                <a:cs typeface="맑은 고딕"/>
              </a:rPr>
              <a:t>⑮ </a:t>
            </a:r>
            <a:r>
              <a:rPr lang="en-US" altLang="en-US" sz="1600" b="0" dirty="0">
                <a:solidFill>
                  <a:srgbClr val="1F2328"/>
                </a:solidFill>
                <a:latin typeface="Calibri"/>
                <a:ea typeface="맑은 고딕"/>
                <a:cs typeface="Calibri"/>
              </a:rPr>
              <a:t>Changing the tires is especially important because the tires wear out easily in a high speed race. </a:t>
            </a:r>
            <a:r>
              <a:rPr lang="ko-KR" altLang="en-US" sz="1600" b="1" dirty="0">
                <a:solidFill>
                  <a:srgbClr val="1E2A5A"/>
                </a:solidFill>
                <a:latin typeface="맑은 고딕"/>
                <a:ea typeface="맑은 고딕"/>
                <a:cs typeface="맑은 고딕"/>
              </a:rPr>
              <a:t>⑯ </a:t>
            </a:r>
            <a:r>
              <a:rPr lang="en-US" altLang="en-US" sz="1600" b="0" dirty="0">
                <a:solidFill>
                  <a:srgbClr val="1F2328"/>
                </a:solidFill>
                <a:latin typeface="Calibri"/>
                <a:ea typeface="맑은 고딕"/>
                <a:cs typeface="Calibri"/>
              </a:rPr>
              <a:t>A pit stop can be as short as 2 seconds, and there are as many as 20 members on a crew. </a:t>
            </a:r>
            <a:r>
              <a:rPr lang="ko-KR" altLang="en-US" sz="1600" b="1" dirty="0">
                <a:solidFill>
                  <a:srgbClr val="1E2A5A"/>
                </a:solidFill>
                <a:latin typeface="맑은 고딕"/>
                <a:ea typeface="맑은 고딕"/>
                <a:cs typeface="맑은 고딕"/>
              </a:rPr>
              <a:t>⑰ </a:t>
            </a:r>
            <a:r>
              <a:rPr lang="en-US" altLang="en-US" sz="1600" b="0" dirty="0">
                <a:solidFill>
                  <a:srgbClr val="1F2328"/>
                </a:solidFill>
                <a:latin typeface="Calibri"/>
                <a:ea typeface="맑은 고딕"/>
                <a:cs typeface="Calibri"/>
              </a:rPr>
              <a:t>Therefore, the pit crew has to work in perfect harmony. </a:t>
            </a:r>
            <a:r>
              <a:rPr lang="ko-KR" altLang="en-US" sz="1600" b="1" dirty="0">
                <a:solidFill>
                  <a:srgbClr val="1E2A5A"/>
                </a:solidFill>
                <a:latin typeface="맑은 고딕"/>
                <a:ea typeface="맑은 고딕"/>
                <a:cs typeface="맑은 고딕"/>
              </a:rPr>
              <a:t>⑱ </a:t>
            </a:r>
            <a:r>
              <a:rPr lang="en-US" altLang="en-US" sz="1600" b="0" dirty="0">
                <a:solidFill>
                  <a:srgbClr val="1F2328"/>
                </a:solidFill>
                <a:latin typeface="Calibri"/>
                <a:ea typeface="맑은 고딕"/>
                <a:cs typeface="Calibri"/>
              </a:rPr>
              <a:t>The driver may get all the attention, but as people say, “Races are won in the pits.” </a:t>
            </a:r>
            <a:endParaRPr lang="ko-KR" sz="1600"/>
          </a:p>
        </p:txBody>
      </p:sp>
      <p:sp>
        <p:nvSpPr>
          <p:cNvPr id="9" name="q_card_1"/>
          <p:cNvSpPr/>
          <p:nvPr/>
        </p:nvSpPr>
        <p:spPr>
          <a:xfrm>
            <a:off x="457200" y="3125216"/>
            <a:ext cx="11274552" cy="767842"/>
          </a:xfrm>
          <a:prstGeom prst="roundRect">
            <a:avLst>
              <a:gd name="adj" fmla="val 12000"/>
            </a:avLst>
          </a:prstGeom>
          <a:noFill/>
          <a:ln w="12700">
            <a:solidFill>
              <a:srgbClr val="D5DAE5"/>
            </a:solidFill>
          </a:ln>
        </p:spPr>
        <p:txBody>
          <a:bodyPr rtlCol="0" anchor="ctr"/>
          <a:lstStyle/>
          <a:p>
            <a:pPr algn="ctr"/>
          </a:p>
        </p:txBody>
      </p:sp>
      <p:sp>
        <p:nvSpPr>
          <p:cNvPr id="10" name="q_1"/>
          <p:cNvSpPr txBox="1"/>
          <p:nvPr/>
        </p:nvSpPr>
        <p:spPr>
          <a:xfrm>
            <a:off x="502920" y="3125216"/>
            <a:ext cx="9171432" cy="767842"/>
          </a:xfrm>
          <a:prstGeom prst="rect">
            <a:avLst/>
          </a:prstGeom>
          <a:noFill/>
        </p:spPr>
        <p:txBody>
          <a:bodyPr wrap="square" lIns="109728" tIns="45720" rIns="109728" bIns="45720" anchor="ctr" rtlCol="0">
            <a:noAutofit/>
          </a:bodyPr>
          <a:lstStyle/>
          <a:p>
            <a:pPr algn="l">
              <a:lnSpc>
                <a:spcPts val="2375"/>
              </a:lnSpc>
              <a:spcBef>
                <a:spcPts val="0"/>
              </a:spcBef>
              <a:spcAft>
                <a:spcPts val="0"/>
              </a:spcAft>
              <a:buNone/>
            </a:pPr>
            <a:r>
              <a:rPr lang="en-US" altLang="en-US" sz="1900" b="1" dirty="0">
                <a:solidFill>
                  <a:srgbClr val="1E2A5A"/>
                </a:solidFill>
                <a:latin typeface="Calibri"/>
                <a:ea typeface="맑은 고딕"/>
                <a:cs typeface="Calibri"/>
              </a:rPr>
              <a:t>21.  </a:t>
            </a:r>
            <a:r>
              <a:rPr lang="ko-KR" altLang="en-US" sz="1900" b="0" dirty="0">
                <a:solidFill>
                  <a:srgbClr val="1F2328"/>
                </a:solidFill>
                <a:latin typeface="맑은 고딕"/>
                <a:ea typeface="맑은 고딕"/>
                <a:cs typeface="맑은 고딕"/>
              </a:rPr>
              <a:t>대부분의 자동차 경주에서 사람들은 자동차와 레이서만 볼 수도 있다.</a:t>
            </a:r>
            <a:endParaRPr lang="ko-KR" sz="1900"/>
          </a:p>
        </p:txBody>
      </p:sp>
      <p:sp>
        <p:nvSpPr>
          <p:cNvPr id="11" name="tf_1"/>
          <p:cNvSpPr txBox="1"/>
          <p:nvPr/>
        </p:nvSpPr>
        <p:spPr>
          <a:xfrm>
            <a:off x="9765792" y="3125216"/>
            <a:ext cx="1828800" cy="767842"/>
          </a:xfrm>
          <a:prstGeom prst="rect">
            <a:avLst/>
          </a:prstGeom>
          <a:noFill/>
        </p:spPr>
        <p:txBody>
          <a:bodyPr wrap="square" lIns="18288" tIns="18288" rIns="18288" bIns="18288" anchor="ctr" rtlCol="0">
            <a:noAutofit/>
          </a:bodyPr>
          <a:lstStyle/>
          <a:p>
            <a:pPr algn="ctr">
              <a:lnSpc>
                <a:spcPts val="2375"/>
              </a:lnSpc>
              <a:spcBef>
                <a:spcPts val="0"/>
              </a:spcBef>
              <a:spcAft>
                <a:spcPts val="0"/>
              </a:spcAft>
              <a:buNone/>
            </a:pPr>
            <a:r>
              <a:rPr lang="en-US" altLang="en-US" sz="1900" b="1" dirty="0">
                <a:solidFill>
                  <a:srgbClr val="9AA3B5"/>
                </a:solidFill>
                <a:latin typeface="Calibri"/>
                <a:ea typeface="맑은 고딕"/>
                <a:cs typeface="Calibri"/>
              </a:rPr>
              <a:t>T   /   F</a:t>
            </a:r>
            <a:endParaRPr lang="ko-KR" sz="1900"/>
          </a:p>
        </p:txBody>
      </p:sp>
      <p:sp>
        <p:nvSpPr>
          <p:cNvPr id="12" name="rv_ans_1"/>
          <p:cNvSpPr/>
          <p:nvPr/>
        </p:nvSpPr>
        <p:spPr>
          <a:xfrm>
            <a:off x="9765792" y="3170936"/>
            <a:ext cx="1828800" cy="676402"/>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640"/>
              </a:lnSpc>
              <a:spcBef>
                <a:spcPts val="0"/>
              </a:spcBef>
              <a:spcAft>
                <a:spcPts val="0"/>
              </a:spcAft>
              <a:buNone/>
            </a:pPr>
            <a:r>
              <a:rPr lang="en-US" altLang="en-US" sz="2200" b="1" dirty="0">
                <a:solidFill>
                  <a:srgbClr val="C00000"/>
                </a:solidFill>
                <a:latin typeface="Calibri"/>
                <a:ea typeface="맑은 고딕"/>
                <a:cs typeface="Calibri"/>
              </a:rPr>
              <a:t>T</a:t>
            </a:r>
            <a:endParaRPr lang="ko-KR" sz="2200"/>
          </a:p>
        </p:txBody>
      </p:sp>
      <p:sp>
        <p:nvSpPr>
          <p:cNvPr id="13" name="q_card_2"/>
          <p:cNvSpPr/>
          <p:nvPr/>
        </p:nvSpPr>
        <p:spPr>
          <a:xfrm>
            <a:off x="457200" y="3966210"/>
            <a:ext cx="11274552" cy="466217"/>
          </a:xfrm>
          <a:prstGeom prst="roundRect">
            <a:avLst>
              <a:gd name="adj" fmla="val 12000"/>
            </a:avLst>
          </a:prstGeom>
          <a:noFill/>
          <a:ln w="12700">
            <a:solidFill>
              <a:srgbClr val="D5DAE5"/>
            </a:solidFill>
          </a:ln>
        </p:spPr>
        <p:txBody>
          <a:bodyPr rtlCol="0" anchor="ctr"/>
          <a:lstStyle/>
          <a:p>
            <a:pPr algn="ctr"/>
          </a:p>
        </p:txBody>
      </p:sp>
      <p:sp>
        <p:nvSpPr>
          <p:cNvPr id="14" name="q_2"/>
          <p:cNvSpPr txBox="1"/>
          <p:nvPr/>
        </p:nvSpPr>
        <p:spPr>
          <a:xfrm>
            <a:off x="502920" y="3966210"/>
            <a:ext cx="9171432" cy="466217"/>
          </a:xfrm>
          <a:prstGeom prst="rect">
            <a:avLst/>
          </a:prstGeom>
          <a:noFill/>
        </p:spPr>
        <p:txBody>
          <a:bodyPr wrap="square" lIns="109728" tIns="45720" rIns="109728" bIns="45720" anchor="ctr" rtlCol="0">
            <a:noAutofit/>
          </a:bodyPr>
          <a:lstStyle/>
          <a:p>
            <a:pPr algn="l">
              <a:lnSpc>
                <a:spcPts val="2375"/>
              </a:lnSpc>
              <a:spcBef>
                <a:spcPts val="0"/>
              </a:spcBef>
              <a:spcAft>
                <a:spcPts val="0"/>
              </a:spcAft>
              <a:buNone/>
            </a:pPr>
            <a:r>
              <a:rPr lang="en-US" altLang="en-US" sz="1900" b="1" dirty="0">
                <a:solidFill>
                  <a:srgbClr val="1E2A5A"/>
                </a:solidFill>
                <a:latin typeface="Calibri"/>
                <a:ea typeface="맑은 고딕"/>
                <a:cs typeface="Calibri"/>
              </a:rPr>
              <a:t>22.  </a:t>
            </a:r>
            <a:r>
              <a:rPr lang="ko-KR" altLang="en-US" sz="1900" b="0" dirty="0">
                <a:solidFill>
                  <a:srgbClr val="1F2328"/>
                </a:solidFill>
                <a:latin typeface="맑은 고딕"/>
                <a:ea typeface="맑은 고딕"/>
                <a:cs typeface="맑은 고딕"/>
              </a:rPr>
              <a:t>레이서 뒤에 있는 팀은 피트 크루라고 불린다.</a:t>
            </a:r>
            <a:endParaRPr lang="ko-KR" sz="1900"/>
          </a:p>
        </p:txBody>
      </p:sp>
      <p:sp>
        <p:nvSpPr>
          <p:cNvPr id="15" name="tf_2"/>
          <p:cNvSpPr txBox="1"/>
          <p:nvPr/>
        </p:nvSpPr>
        <p:spPr>
          <a:xfrm>
            <a:off x="9765792" y="3966210"/>
            <a:ext cx="1828800" cy="466217"/>
          </a:xfrm>
          <a:prstGeom prst="rect">
            <a:avLst/>
          </a:prstGeom>
          <a:noFill/>
        </p:spPr>
        <p:txBody>
          <a:bodyPr wrap="square" lIns="18288" tIns="18288" rIns="18288" bIns="18288" anchor="ctr" rtlCol="0">
            <a:noAutofit/>
          </a:bodyPr>
          <a:lstStyle/>
          <a:p>
            <a:pPr algn="ctr">
              <a:lnSpc>
                <a:spcPts val="2375"/>
              </a:lnSpc>
              <a:spcBef>
                <a:spcPts val="0"/>
              </a:spcBef>
              <a:spcAft>
                <a:spcPts val="0"/>
              </a:spcAft>
              <a:buNone/>
            </a:pPr>
            <a:r>
              <a:rPr lang="en-US" altLang="en-US" sz="1900" b="1" dirty="0">
                <a:solidFill>
                  <a:srgbClr val="9AA3B5"/>
                </a:solidFill>
                <a:latin typeface="Calibri"/>
                <a:ea typeface="맑은 고딕"/>
                <a:cs typeface="Calibri"/>
              </a:rPr>
              <a:t>T   /   F</a:t>
            </a:r>
            <a:endParaRPr lang="ko-KR" sz="1900"/>
          </a:p>
        </p:txBody>
      </p:sp>
      <p:sp>
        <p:nvSpPr>
          <p:cNvPr id="16" name="rv_ans_2"/>
          <p:cNvSpPr/>
          <p:nvPr/>
        </p:nvSpPr>
        <p:spPr>
          <a:xfrm>
            <a:off x="9765792" y="4011930"/>
            <a:ext cx="1828800" cy="374777"/>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640"/>
              </a:lnSpc>
              <a:spcBef>
                <a:spcPts val="0"/>
              </a:spcBef>
              <a:spcAft>
                <a:spcPts val="0"/>
              </a:spcAft>
              <a:buNone/>
            </a:pPr>
            <a:r>
              <a:rPr lang="en-US" altLang="en-US" sz="2200" b="1" dirty="0">
                <a:solidFill>
                  <a:srgbClr val="C00000"/>
                </a:solidFill>
                <a:latin typeface="Calibri"/>
                <a:ea typeface="맑은 고딕"/>
                <a:cs typeface="Calibri"/>
              </a:rPr>
              <a:t>T</a:t>
            </a:r>
            <a:endParaRPr lang="ko-KR" sz="2200"/>
          </a:p>
        </p:txBody>
      </p:sp>
      <p:sp>
        <p:nvSpPr>
          <p:cNvPr id="17" name="q_card_3"/>
          <p:cNvSpPr/>
          <p:nvPr/>
        </p:nvSpPr>
        <p:spPr>
          <a:xfrm>
            <a:off x="457200" y="4505579"/>
            <a:ext cx="11274552" cy="466217"/>
          </a:xfrm>
          <a:prstGeom prst="roundRect">
            <a:avLst>
              <a:gd name="adj" fmla="val 12000"/>
            </a:avLst>
          </a:prstGeom>
          <a:noFill/>
          <a:ln w="12700">
            <a:solidFill>
              <a:srgbClr val="D5DAE5"/>
            </a:solidFill>
          </a:ln>
        </p:spPr>
        <p:txBody>
          <a:bodyPr rtlCol="0" anchor="ctr"/>
          <a:lstStyle/>
          <a:p>
            <a:pPr algn="ctr"/>
          </a:p>
        </p:txBody>
      </p:sp>
      <p:sp>
        <p:nvSpPr>
          <p:cNvPr id="18" name="q_3"/>
          <p:cNvSpPr txBox="1"/>
          <p:nvPr/>
        </p:nvSpPr>
        <p:spPr>
          <a:xfrm>
            <a:off x="502920" y="4505579"/>
            <a:ext cx="9171432" cy="466217"/>
          </a:xfrm>
          <a:prstGeom prst="rect">
            <a:avLst/>
          </a:prstGeom>
          <a:noFill/>
        </p:spPr>
        <p:txBody>
          <a:bodyPr wrap="square" lIns="109728" tIns="45720" rIns="109728" bIns="45720" anchor="ctr" rtlCol="0">
            <a:noAutofit/>
          </a:bodyPr>
          <a:lstStyle/>
          <a:p>
            <a:pPr algn="l">
              <a:lnSpc>
                <a:spcPts val="2375"/>
              </a:lnSpc>
              <a:spcBef>
                <a:spcPts val="0"/>
              </a:spcBef>
              <a:spcAft>
                <a:spcPts val="0"/>
              </a:spcAft>
              <a:buNone/>
            </a:pPr>
            <a:r>
              <a:rPr lang="en-US" altLang="en-US" sz="1900" b="1" dirty="0">
                <a:solidFill>
                  <a:srgbClr val="1E2A5A"/>
                </a:solidFill>
                <a:latin typeface="Calibri"/>
                <a:ea typeface="맑은 고딕"/>
                <a:cs typeface="Calibri"/>
              </a:rPr>
              <a:t>23.  </a:t>
            </a:r>
            <a:r>
              <a:rPr lang="ko-KR" altLang="en-US" sz="1900" b="0" dirty="0">
                <a:solidFill>
                  <a:srgbClr val="1F2328"/>
                </a:solidFill>
                <a:latin typeface="맑은 고딕"/>
                <a:ea typeface="맑은 고딕"/>
                <a:cs typeface="맑은 고딕"/>
              </a:rPr>
              <a:t>피트는 경주 트랙 한가운데에 있는 공간이다.</a:t>
            </a:r>
            <a:endParaRPr lang="ko-KR" sz="1900"/>
          </a:p>
        </p:txBody>
      </p:sp>
      <p:sp>
        <p:nvSpPr>
          <p:cNvPr id="19" name="tf_3"/>
          <p:cNvSpPr txBox="1"/>
          <p:nvPr/>
        </p:nvSpPr>
        <p:spPr>
          <a:xfrm>
            <a:off x="9765792" y="4505579"/>
            <a:ext cx="1828800" cy="466217"/>
          </a:xfrm>
          <a:prstGeom prst="rect">
            <a:avLst/>
          </a:prstGeom>
          <a:noFill/>
        </p:spPr>
        <p:txBody>
          <a:bodyPr wrap="square" lIns="18288" tIns="18288" rIns="18288" bIns="18288" anchor="ctr" rtlCol="0">
            <a:noAutofit/>
          </a:bodyPr>
          <a:lstStyle/>
          <a:p>
            <a:pPr algn="ctr">
              <a:lnSpc>
                <a:spcPts val="2375"/>
              </a:lnSpc>
              <a:spcBef>
                <a:spcPts val="0"/>
              </a:spcBef>
              <a:spcAft>
                <a:spcPts val="0"/>
              </a:spcAft>
              <a:buNone/>
            </a:pPr>
            <a:r>
              <a:rPr lang="en-US" altLang="en-US" sz="1900" b="1" dirty="0">
                <a:solidFill>
                  <a:srgbClr val="9AA3B5"/>
                </a:solidFill>
                <a:latin typeface="Calibri"/>
                <a:ea typeface="맑은 고딕"/>
                <a:cs typeface="Calibri"/>
              </a:rPr>
              <a:t>T   /   F</a:t>
            </a:r>
            <a:endParaRPr lang="ko-KR" sz="1900"/>
          </a:p>
        </p:txBody>
      </p:sp>
      <p:sp>
        <p:nvSpPr>
          <p:cNvPr id="20" name="rv_ans_3"/>
          <p:cNvSpPr/>
          <p:nvPr/>
        </p:nvSpPr>
        <p:spPr>
          <a:xfrm>
            <a:off x="9765792" y="4551299"/>
            <a:ext cx="1828800" cy="374777"/>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640"/>
              </a:lnSpc>
              <a:spcBef>
                <a:spcPts val="0"/>
              </a:spcBef>
              <a:spcAft>
                <a:spcPts val="0"/>
              </a:spcAft>
              <a:buNone/>
            </a:pPr>
            <a:r>
              <a:rPr lang="en-US" altLang="en-US" sz="2200" b="1" dirty="0">
                <a:solidFill>
                  <a:srgbClr val="C00000"/>
                </a:solidFill>
                <a:latin typeface="Calibri"/>
                <a:ea typeface="맑은 고딕"/>
                <a:cs typeface="Calibri"/>
              </a:rPr>
              <a:t>F</a:t>
            </a:r>
            <a:endParaRPr lang="ko-KR" sz="2200"/>
          </a:p>
        </p:txBody>
      </p:sp>
      <p:sp>
        <p:nvSpPr>
          <p:cNvPr id="21" name="q_card_4"/>
          <p:cNvSpPr/>
          <p:nvPr/>
        </p:nvSpPr>
        <p:spPr>
          <a:xfrm>
            <a:off x="457200" y="5044948"/>
            <a:ext cx="11274552" cy="466217"/>
          </a:xfrm>
          <a:prstGeom prst="roundRect">
            <a:avLst>
              <a:gd name="adj" fmla="val 12000"/>
            </a:avLst>
          </a:prstGeom>
          <a:noFill/>
          <a:ln w="12700">
            <a:solidFill>
              <a:srgbClr val="D5DAE5"/>
            </a:solidFill>
          </a:ln>
        </p:spPr>
        <p:txBody>
          <a:bodyPr rtlCol="0" anchor="ctr"/>
          <a:lstStyle/>
          <a:p>
            <a:pPr algn="ctr"/>
          </a:p>
        </p:txBody>
      </p:sp>
      <p:sp>
        <p:nvSpPr>
          <p:cNvPr id="22" name="q_4"/>
          <p:cNvSpPr txBox="1"/>
          <p:nvPr/>
        </p:nvSpPr>
        <p:spPr>
          <a:xfrm>
            <a:off x="502920" y="5044948"/>
            <a:ext cx="9171432" cy="466217"/>
          </a:xfrm>
          <a:prstGeom prst="rect">
            <a:avLst/>
          </a:prstGeom>
          <a:noFill/>
        </p:spPr>
        <p:txBody>
          <a:bodyPr wrap="square" lIns="109728" tIns="45720" rIns="109728" bIns="45720" anchor="ctr" rtlCol="0">
            <a:noAutofit/>
          </a:bodyPr>
          <a:lstStyle/>
          <a:p>
            <a:pPr algn="l">
              <a:lnSpc>
                <a:spcPts val="2375"/>
              </a:lnSpc>
              <a:spcBef>
                <a:spcPts val="0"/>
              </a:spcBef>
              <a:spcAft>
                <a:spcPts val="0"/>
              </a:spcAft>
              <a:buNone/>
            </a:pPr>
            <a:r>
              <a:rPr lang="en-US" altLang="en-US" sz="1900" b="1" dirty="0">
                <a:solidFill>
                  <a:srgbClr val="1E2A5A"/>
                </a:solidFill>
                <a:latin typeface="Calibri"/>
                <a:ea typeface="맑은 고딕"/>
                <a:cs typeface="Calibri"/>
              </a:rPr>
              <a:t>24.  </a:t>
            </a:r>
            <a:r>
              <a:rPr lang="ko-KR" altLang="en-US" sz="1900" b="0" dirty="0">
                <a:solidFill>
                  <a:srgbClr val="1F2328"/>
                </a:solidFill>
                <a:latin typeface="맑은 고딕"/>
                <a:ea typeface="맑은 고딕"/>
                <a:cs typeface="맑은 고딕"/>
              </a:rPr>
              <a:t>레이서들은 경주 도중 피트에 단 한 번만 정지한다.</a:t>
            </a:r>
            <a:endParaRPr lang="ko-KR" sz="1900"/>
          </a:p>
        </p:txBody>
      </p:sp>
      <p:sp>
        <p:nvSpPr>
          <p:cNvPr id="23" name="tf_4"/>
          <p:cNvSpPr txBox="1"/>
          <p:nvPr/>
        </p:nvSpPr>
        <p:spPr>
          <a:xfrm>
            <a:off x="9765792" y="5044948"/>
            <a:ext cx="1828800" cy="466217"/>
          </a:xfrm>
          <a:prstGeom prst="rect">
            <a:avLst/>
          </a:prstGeom>
          <a:noFill/>
        </p:spPr>
        <p:txBody>
          <a:bodyPr wrap="square" lIns="18288" tIns="18288" rIns="18288" bIns="18288" anchor="ctr" rtlCol="0">
            <a:noAutofit/>
          </a:bodyPr>
          <a:lstStyle/>
          <a:p>
            <a:pPr algn="ctr">
              <a:lnSpc>
                <a:spcPts val="2375"/>
              </a:lnSpc>
              <a:spcBef>
                <a:spcPts val="0"/>
              </a:spcBef>
              <a:spcAft>
                <a:spcPts val="0"/>
              </a:spcAft>
              <a:buNone/>
            </a:pPr>
            <a:r>
              <a:rPr lang="en-US" altLang="en-US" sz="1900" b="1" dirty="0">
                <a:solidFill>
                  <a:srgbClr val="9AA3B5"/>
                </a:solidFill>
                <a:latin typeface="Calibri"/>
                <a:ea typeface="맑은 고딕"/>
                <a:cs typeface="Calibri"/>
              </a:rPr>
              <a:t>T   /   F</a:t>
            </a:r>
            <a:endParaRPr lang="ko-KR" sz="1900"/>
          </a:p>
        </p:txBody>
      </p:sp>
      <p:sp>
        <p:nvSpPr>
          <p:cNvPr id="24" name="rv_ans_4"/>
          <p:cNvSpPr/>
          <p:nvPr/>
        </p:nvSpPr>
        <p:spPr>
          <a:xfrm>
            <a:off x="9765792" y="5090668"/>
            <a:ext cx="1828800" cy="374777"/>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640"/>
              </a:lnSpc>
              <a:spcBef>
                <a:spcPts val="0"/>
              </a:spcBef>
              <a:spcAft>
                <a:spcPts val="0"/>
              </a:spcAft>
              <a:buNone/>
            </a:pPr>
            <a:r>
              <a:rPr lang="en-US" altLang="en-US" sz="2200" b="1" dirty="0">
                <a:solidFill>
                  <a:srgbClr val="C00000"/>
                </a:solidFill>
                <a:latin typeface="Calibri"/>
                <a:ea typeface="맑은 고딕"/>
                <a:cs typeface="Calibri"/>
              </a:rPr>
              <a:t>F</a:t>
            </a:r>
            <a:endParaRPr lang="ko-KR" sz="2200"/>
          </a:p>
        </p:txBody>
      </p:sp>
      <p:sp>
        <p:nvSpPr>
          <p:cNvPr id="25" name="q_card_5"/>
          <p:cNvSpPr/>
          <p:nvPr/>
        </p:nvSpPr>
        <p:spPr>
          <a:xfrm>
            <a:off x="457200" y="5584317"/>
            <a:ext cx="11274552" cy="767842"/>
          </a:xfrm>
          <a:prstGeom prst="roundRect">
            <a:avLst>
              <a:gd name="adj" fmla="val 12000"/>
            </a:avLst>
          </a:prstGeom>
          <a:noFill/>
          <a:ln w="12700">
            <a:solidFill>
              <a:srgbClr val="D5DAE5"/>
            </a:solidFill>
          </a:ln>
        </p:spPr>
        <p:txBody>
          <a:bodyPr rtlCol="0" anchor="ctr"/>
          <a:lstStyle/>
          <a:p>
            <a:pPr algn="ctr"/>
          </a:p>
        </p:txBody>
      </p:sp>
      <p:sp>
        <p:nvSpPr>
          <p:cNvPr id="26" name="q_5"/>
          <p:cNvSpPr txBox="1"/>
          <p:nvPr/>
        </p:nvSpPr>
        <p:spPr>
          <a:xfrm>
            <a:off x="502920" y="5584317"/>
            <a:ext cx="9171432" cy="767842"/>
          </a:xfrm>
          <a:prstGeom prst="rect">
            <a:avLst/>
          </a:prstGeom>
          <a:noFill/>
        </p:spPr>
        <p:txBody>
          <a:bodyPr wrap="square" lIns="109728" tIns="45720" rIns="109728" bIns="45720" anchor="ctr" rtlCol="0">
            <a:noAutofit/>
          </a:bodyPr>
          <a:lstStyle/>
          <a:p>
            <a:pPr algn="l">
              <a:lnSpc>
                <a:spcPts val="2375"/>
              </a:lnSpc>
              <a:spcBef>
                <a:spcPts val="0"/>
              </a:spcBef>
              <a:spcAft>
                <a:spcPts val="0"/>
              </a:spcAft>
              <a:buNone/>
            </a:pPr>
            <a:r>
              <a:rPr lang="en-US" altLang="en-US" sz="1900" b="1" dirty="0">
                <a:solidFill>
                  <a:srgbClr val="1E2A5A"/>
                </a:solidFill>
                <a:latin typeface="Calibri"/>
                <a:ea typeface="맑은 고딕"/>
                <a:cs typeface="Calibri"/>
              </a:rPr>
              <a:t>25.  </a:t>
            </a:r>
            <a:r>
              <a:rPr lang="ko-KR" altLang="en-US" sz="1900" b="0" dirty="0">
                <a:solidFill>
                  <a:srgbClr val="1F2328"/>
                </a:solidFill>
                <a:latin typeface="맑은 고딕"/>
                <a:ea typeface="맑은 고딕"/>
                <a:cs typeface="맑은 고딕"/>
              </a:rPr>
              <a:t>피트 크루의 주요 역할은 자동차를 점검하고 타이어를 교체하는 것이다.</a:t>
            </a:r>
            <a:endParaRPr lang="ko-KR" sz="1900"/>
          </a:p>
        </p:txBody>
      </p:sp>
      <p:sp>
        <p:nvSpPr>
          <p:cNvPr id="27" name="tf_5"/>
          <p:cNvSpPr txBox="1"/>
          <p:nvPr/>
        </p:nvSpPr>
        <p:spPr>
          <a:xfrm>
            <a:off x="9765792" y="5584317"/>
            <a:ext cx="1828800" cy="767842"/>
          </a:xfrm>
          <a:prstGeom prst="rect">
            <a:avLst/>
          </a:prstGeom>
          <a:noFill/>
        </p:spPr>
        <p:txBody>
          <a:bodyPr wrap="square" lIns="18288" tIns="18288" rIns="18288" bIns="18288" anchor="ctr" rtlCol="0">
            <a:noAutofit/>
          </a:bodyPr>
          <a:lstStyle/>
          <a:p>
            <a:pPr algn="ctr">
              <a:lnSpc>
                <a:spcPts val="2375"/>
              </a:lnSpc>
              <a:spcBef>
                <a:spcPts val="0"/>
              </a:spcBef>
              <a:spcAft>
                <a:spcPts val="0"/>
              </a:spcAft>
              <a:buNone/>
            </a:pPr>
            <a:r>
              <a:rPr lang="en-US" altLang="en-US" sz="1900" b="1" dirty="0">
                <a:solidFill>
                  <a:srgbClr val="9AA3B5"/>
                </a:solidFill>
                <a:latin typeface="Calibri"/>
                <a:ea typeface="맑은 고딕"/>
                <a:cs typeface="Calibri"/>
              </a:rPr>
              <a:t>T   /   F</a:t>
            </a:r>
            <a:endParaRPr lang="ko-KR" sz="1900"/>
          </a:p>
        </p:txBody>
      </p:sp>
      <p:sp>
        <p:nvSpPr>
          <p:cNvPr id="28" name="rv_ans_5"/>
          <p:cNvSpPr/>
          <p:nvPr/>
        </p:nvSpPr>
        <p:spPr>
          <a:xfrm>
            <a:off x="9765792" y="5630037"/>
            <a:ext cx="1828800" cy="676402"/>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640"/>
              </a:lnSpc>
              <a:spcBef>
                <a:spcPts val="0"/>
              </a:spcBef>
              <a:spcAft>
                <a:spcPts val="0"/>
              </a:spcAft>
              <a:buNone/>
            </a:pPr>
            <a:r>
              <a:rPr lang="en-US" altLang="en-US" sz="2200" b="1" dirty="0">
                <a:solidFill>
                  <a:srgbClr val="C00000"/>
                </a:solidFill>
                <a:latin typeface="Calibri"/>
                <a:ea typeface="맑은 고딕"/>
                <a:cs typeface="Calibri"/>
              </a:rPr>
              <a:t>T</a:t>
            </a:r>
            <a:endParaRPr lang="ko-KR" sz="22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25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250"/>
                                        <p:tgtEl>
                                          <p:spTgt spid="1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0"/>
                                        </p:tgtEl>
                                        <p:attrNameLst>
                                          <p:attrName>style.visibility</p:attrName>
                                        </p:attrNameLst>
                                      </p:cBhvr>
                                      <p:to>
                                        <p:strVal val="visible"/>
                                      </p:to>
                                    </p:set>
                                    <p:animEffect transition="in" filter="fade">
                                      <p:cBhvr>
                                        <p:cTn id="13" dur="250"/>
                                        <p:tgtEl>
                                          <p:spTgt spid="20"/>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4"/>
                                        </p:tgtEl>
                                        <p:attrNameLst>
                                          <p:attrName>style.visibility</p:attrName>
                                        </p:attrNameLst>
                                      </p:cBhvr>
                                      <p:to>
                                        <p:strVal val="visible"/>
                                      </p:to>
                                    </p:set>
                                    <p:animEffect transition="in" filter="fade">
                                      <p:cBhvr>
                                        <p:cTn id="16" dur="250"/>
                                        <p:tgtEl>
                                          <p:spTgt spid="24"/>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8"/>
                                        </p:tgtEl>
                                        <p:attrNameLst>
                                          <p:attrName>style.visibility</p:attrName>
                                        </p:attrNameLst>
                                      </p:cBhvr>
                                      <p:to>
                                        <p:strVal val="visible"/>
                                      </p:to>
                                    </p:set>
                                    <p:animEffect transition="in" filter="fade">
                                      <p:cBhvr>
                                        <p:cTn id="19" dur="25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6" grpId="0" animBg="1"/>
      <p:bldP spid="20" grpId="0" animBg="1"/>
      <p:bldP spid="24" grpId="0" animBg="1"/>
      <p:bldP spid="28" grpId="0" animBg="1"/>
    </p:bldLst>
  </p:timing>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8000"/>
            </a:avLst>
          </a:prstGeom>
          <a:solidFill>
            <a:srgbClr val="1E2A5A"/>
          </a:solidFill>
          <a:ln>
            <a:noFill/>
          </a:ln>
        </p:spPr>
        <p:txBody>
          <a:bodyPr wrap="square" lIns="45720" tIns="18288" rIns="45720" bIns="18288" anchor="ctr" rtlCol="0">
            <a:noAutofit/>
          </a:bodyPr>
          <a:lstStyle/>
          <a:p>
            <a:pPr algn="ctr">
              <a:lnSpc>
                <a:spcPts val="2000"/>
              </a:lnSpc>
              <a:spcBef>
                <a:spcPts val="0"/>
              </a:spcBef>
              <a:spcAft>
                <a:spcPts val="0"/>
              </a:spcAft>
              <a:buNone/>
            </a:pPr>
            <a:r>
              <a:rPr lang="en-US" altLang="en-US" sz="1700" b="1" dirty="0">
                <a:solidFill>
                  <a:srgbClr val="FFFFFF"/>
                </a:solidFill>
                <a:latin typeface="Calibri"/>
                <a:ea typeface="맑은 고딕"/>
                <a:cs typeface="Calibri"/>
              </a:rPr>
              <a:t>L5-3</a:t>
            </a:r>
            <a:endParaRPr lang="ko-KR" sz="1700"/>
          </a:p>
        </p:txBody>
      </p:sp>
      <p:sp>
        <p:nvSpPr>
          <p:cNvPr id="3" name="hdr_chip"/>
          <p:cNvSpPr/>
          <p:nvPr/>
        </p:nvSpPr>
        <p:spPr>
          <a:xfrm>
            <a:off x="1755648" y="274320"/>
            <a:ext cx="1371600" cy="493776"/>
          </a:xfrm>
          <a:prstGeom prst="roundRect">
            <a:avLst>
              <a:gd name="adj" fmla="val 8000"/>
            </a:avLst>
          </a:prstGeom>
          <a:solidFill>
            <a:srgbClr val="E6EAF4"/>
          </a:solidFill>
          <a:ln>
            <a:noFill/>
          </a:ln>
        </p:spPr>
        <p:txBody>
          <a:bodyPr wrap="square" lIns="27432" tIns="18288" rIns="27432" bIns="18288" anchor="ctr" rtlCol="0">
            <a:noAutofit/>
          </a:bodyPr>
          <a:lstStyle/>
          <a:p>
            <a:pPr algn="ctr">
              <a:lnSpc>
                <a:spcPts val="1700"/>
              </a:lnSpc>
              <a:spcBef>
                <a:spcPts val="0"/>
              </a:spcBef>
              <a:spcAft>
                <a:spcPts val="0"/>
              </a:spcAft>
              <a:buNone/>
            </a:pPr>
            <a:r>
              <a:rPr lang="ko-KR" altLang="en-US" sz="1400" b="1" dirty="0">
                <a:solidFill>
                  <a:srgbClr val="1E2A5A"/>
                </a:solidFill>
                <a:latin typeface="맑은 고딕"/>
                <a:ea typeface="맑은 고딕"/>
                <a:cs typeface="맑은 고딕"/>
              </a:rPr>
              <a:t>PART 4 · 6</a:t>
            </a:r>
            <a:endParaRPr lang="ko-KR" sz="1400"/>
          </a:p>
        </p:txBody>
      </p:sp>
      <p:sp>
        <p:nvSpPr>
          <p:cNvPr id="4" name="hdr_q"/>
          <p:cNvSpPr txBox="1"/>
          <p:nvPr/>
        </p:nvSpPr>
        <p:spPr>
          <a:xfrm>
            <a:off x="3246120" y="246888"/>
            <a:ext cx="8485632" cy="548640"/>
          </a:xfrm>
          <a:prstGeom prst="rect">
            <a:avLst/>
          </a:prstGeom>
          <a:noFill/>
        </p:spPr>
        <p:txBody>
          <a:bodyPr wrap="square" lIns="109728" tIns="54864" rIns="109728" bIns="54864" anchor="ctr" rtlCol="0">
            <a:noAutofit/>
          </a:bodyPr>
          <a:lstStyle/>
          <a:p>
            <a:pPr algn="l">
              <a:lnSpc>
                <a:spcPts val="2400"/>
              </a:lnSpc>
              <a:spcBef>
                <a:spcPts val="0"/>
              </a:spcBef>
              <a:spcAft>
                <a:spcPts val="0"/>
              </a:spcAft>
              <a:buNone/>
            </a:pPr>
            <a:r>
              <a:rPr lang="ko-KR" altLang="en-US" sz="2000" b="1" dirty="0">
                <a:solidFill>
                  <a:srgbClr val="1F2328"/>
                </a:solidFill>
                <a:latin typeface="맑은 고딕"/>
                <a:ea typeface="맑은 고딕"/>
                <a:cs typeface="맑은 고딕"/>
              </a:rPr>
              <a:t>본문과 일치하면 T, 일치하지 않으면 F를 고르시오.</a:t>
            </a:r>
            <a:endParaRPr lang="ko-KR" sz="2000"/>
          </a:p>
        </p:txBody>
      </p:sp>
      <p:sp>
        <p:nvSpPr>
          <p:cNvPr id="5" name="ftr_exam"/>
          <p:cNvSpPr txBox="1"/>
          <p:nvPr/>
        </p:nvSpPr>
        <p:spPr>
          <a:xfrm>
            <a:off x="457200" y="6519672"/>
            <a:ext cx="5669280" cy="256032"/>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5</a:t>
            </a:r>
            <a:endParaRPr lang="ko-KR" sz="1000"/>
          </a:p>
        </p:txBody>
      </p:sp>
      <p:sp>
        <p:nvSpPr>
          <p:cNvPr id="6" name="ftr_hint"/>
          <p:cNvSpPr txBox="1"/>
          <p:nvPr/>
        </p:nvSpPr>
        <p:spPr>
          <a:xfrm>
            <a:off x="5971032" y="6519672"/>
            <a:ext cx="5760720" cy="256032"/>
          </a:xfrm>
          <a:prstGeom prst="rect">
            <a:avLst/>
          </a:prstGeom>
          <a:noFill/>
        </p:spPr>
        <p:txBody>
          <a:bodyPr wrap="square" lIns="0" tIns="0" rIns="0" bIns="0" anchor="t" rtlCol="0">
            <a:noAutofit/>
          </a:bodyPr>
          <a:lstStyle/>
          <a:p>
            <a:pPr algn="r">
              <a:lnSpc>
                <a:spcPts val="1200"/>
              </a:lnSpc>
              <a:spcBef>
                <a:spcPts val="0"/>
              </a:spcBef>
              <a:spcAft>
                <a:spcPts val="0"/>
              </a:spcAft>
              <a:buNone/>
            </a:pPr>
            <a:r>
              <a:rPr lang="ko-KR" altLang="en-US" sz="1000" b="0" dirty="0">
                <a:solidFill>
                  <a:srgbClr val="7A808C"/>
                </a:solidFill>
                <a:latin typeface="맑은 고딕"/>
                <a:ea typeface="맑은 고딕"/>
                <a:cs typeface="맑은 고딕"/>
              </a:rPr>
              <a:t>클릭 ① 정답(T/F) 공개</a:t>
            </a:r>
            <a:endParaRPr lang="ko-KR" sz="1000"/>
          </a:p>
        </p:txBody>
      </p:sp>
      <p:sp>
        <p:nvSpPr>
          <p:cNvPr id="7" name="passage_card"/>
          <p:cNvSpPr/>
          <p:nvPr/>
        </p:nvSpPr>
        <p:spPr>
          <a:xfrm>
            <a:off x="457200" y="950976"/>
            <a:ext cx="11274552" cy="2118105"/>
          </a:xfrm>
          <a:prstGeom prst="roundRect">
            <a:avLst>
              <a:gd name="adj" fmla="val 4000"/>
            </a:avLst>
          </a:prstGeom>
          <a:solidFill>
            <a:srgbClr val="F3F5F9"/>
          </a:solidFill>
          <a:ln w="12700">
            <a:solidFill>
              <a:srgbClr val="D9DFEA"/>
            </a:solidFill>
          </a:ln>
        </p:spPr>
        <p:txBody>
          <a:bodyPr rtlCol="0" anchor="ctr"/>
          <a:lstStyle/>
          <a:p>
            <a:pPr algn="ctr"/>
          </a:p>
        </p:txBody>
      </p:sp>
      <p:sp>
        <p:nvSpPr>
          <p:cNvPr id="8" name="passage"/>
          <p:cNvSpPr txBox="1"/>
          <p:nvPr/>
        </p:nvSpPr>
        <p:spPr>
          <a:xfrm>
            <a:off x="457200" y="950976"/>
            <a:ext cx="11274552" cy="2118105"/>
          </a:xfrm>
          <a:prstGeom prst="rect">
            <a:avLst/>
          </a:prstGeom>
          <a:noFill/>
        </p:spPr>
        <p:txBody>
          <a:bodyPr wrap="square" lIns="182880" tIns="137160" rIns="182880" bIns="137160" anchor="t" rtlCol="0">
            <a:noAutofit/>
          </a:bodyPr>
          <a:lstStyle/>
          <a:p>
            <a:pPr algn="l">
              <a:lnSpc>
                <a:spcPts val="2074"/>
              </a:lnSpc>
              <a:spcBef>
                <a:spcPts val="0"/>
              </a:spcBef>
              <a:spcAft>
                <a:spcPts val="0"/>
              </a:spcAft>
              <a:buNone/>
            </a:pPr>
            <a:r>
              <a:rPr lang="ko-KR" altLang="en-US" sz="1700" b="1" dirty="0">
                <a:solidFill>
                  <a:srgbClr val="1E2A5A"/>
                </a:solidFill>
                <a:latin typeface="맑은 고딕"/>
                <a:ea typeface="맑은 고딕"/>
                <a:cs typeface="맑은 고딕"/>
              </a:rPr>
              <a:t>⑫ </a:t>
            </a:r>
            <a:r>
              <a:rPr lang="en-US" altLang="en-US" sz="1700" b="0" dirty="0">
                <a:solidFill>
                  <a:srgbClr val="1F2328"/>
                </a:solidFill>
                <a:latin typeface="Calibri"/>
                <a:ea typeface="맑은 고딕"/>
                <a:cs typeface="Calibri"/>
              </a:rPr>
              <a:t>You may only see the car and the driver during most car races, but there is a team behind the driver. This team is called a pit crew. </a:t>
            </a:r>
            <a:r>
              <a:rPr lang="ko-KR" altLang="en-US" sz="1700" b="1" dirty="0">
                <a:solidFill>
                  <a:srgbClr val="1E2A5A"/>
                </a:solidFill>
                <a:latin typeface="맑은 고딕"/>
                <a:ea typeface="맑은 고딕"/>
                <a:cs typeface="맑은 고딕"/>
              </a:rPr>
              <a:t>⑬ </a:t>
            </a:r>
            <a:r>
              <a:rPr lang="en-US" altLang="en-US" sz="1700" b="0" dirty="0">
                <a:solidFill>
                  <a:srgbClr val="1F2328"/>
                </a:solidFill>
                <a:latin typeface="Calibri"/>
                <a:ea typeface="맑은 고딕"/>
                <a:cs typeface="Calibri"/>
              </a:rPr>
              <a:t>A pit is a place on the side of the race track, and drivers stop there several times during a race. </a:t>
            </a:r>
            <a:r>
              <a:rPr lang="ko-KR" altLang="en-US" sz="1700" b="1" dirty="0">
                <a:solidFill>
                  <a:srgbClr val="1E2A5A"/>
                </a:solidFill>
                <a:latin typeface="맑은 고딕"/>
                <a:ea typeface="맑은 고딕"/>
                <a:cs typeface="맑은 고딕"/>
              </a:rPr>
              <a:t>⑭ </a:t>
            </a:r>
            <a:r>
              <a:rPr lang="en-US" altLang="en-US" sz="1700" b="0" dirty="0">
                <a:solidFill>
                  <a:srgbClr val="1F2328"/>
                </a:solidFill>
                <a:latin typeface="Calibri"/>
                <a:ea typeface="맑은 고딕"/>
                <a:cs typeface="Calibri"/>
              </a:rPr>
              <a:t>The main job of the pit crew is to check the car and change the tires. </a:t>
            </a:r>
            <a:r>
              <a:rPr lang="ko-KR" altLang="en-US" sz="1700" b="1" dirty="0">
                <a:solidFill>
                  <a:srgbClr val="1E2A5A"/>
                </a:solidFill>
                <a:latin typeface="맑은 고딕"/>
                <a:ea typeface="맑은 고딕"/>
                <a:cs typeface="맑은 고딕"/>
              </a:rPr>
              <a:t>⑮ </a:t>
            </a:r>
            <a:r>
              <a:rPr lang="en-US" altLang="en-US" sz="1700" b="0" dirty="0">
                <a:solidFill>
                  <a:srgbClr val="1F2328"/>
                </a:solidFill>
                <a:latin typeface="Calibri"/>
                <a:ea typeface="맑은 고딕"/>
                <a:cs typeface="Calibri"/>
              </a:rPr>
              <a:t>Changing the tires is especially important because the tires wear out easily in a high speed race. </a:t>
            </a:r>
            <a:r>
              <a:rPr lang="ko-KR" altLang="en-US" sz="1700" b="1" dirty="0">
                <a:solidFill>
                  <a:srgbClr val="1E2A5A"/>
                </a:solidFill>
                <a:latin typeface="맑은 고딕"/>
                <a:ea typeface="맑은 고딕"/>
                <a:cs typeface="맑은 고딕"/>
              </a:rPr>
              <a:t>⑯ </a:t>
            </a:r>
            <a:r>
              <a:rPr lang="en-US" altLang="en-US" sz="1700" b="0" dirty="0">
                <a:solidFill>
                  <a:srgbClr val="1F2328"/>
                </a:solidFill>
                <a:latin typeface="Calibri"/>
                <a:ea typeface="맑은 고딕"/>
                <a:cs typeface="Calibri"/>
              </a:rPr>
              <a:t>A pit stop can be as short as 2 seconds, and there are as many as 20 members on a crew. </a:t>
            </a:r>
            <a:r>
              <a:rPr lang="ko-KR" altLang="en-US" sz="1700" b="1" dirty="0">
                <a:solidFill>
                  <a:srgbClr val="1E2A5A"/>
                </a:solidFill>
                <a:latin typeface="맑은 고딕"/>
                <a:ea typeface="맑은 고딕"/>
                <a:cs typeface="맑은 고딕"/>
              </a:rPr>
              <a:t>⑰ </a:t>
            </a:r>
            <a:r>
              <a:rPr lang="en-US" altLang="en-US" sz="1700" b="0" dirty="0">
                <a:solidFill>
                  <a:srgbClr val="1F2328"/>
                </a:solidFill>
                <a:latin typeface="Calibri"/>
                <a:ea typeface="맑은 고딕"/>
                <a:cs typeface="Calibri"/>
              </a:rPr>
              <a:t>Therefore, the pit crew has to work in perfect harmony. </a:t>
            </a:r>
            <a:r>
              <a:rPr lang="ko-KR" altLang="en-US" sz="1700" b="1" dirty="0">
                <a:solidFill>
                  <a:srgbClr val="1E2A5A"/>
                </a:solidFill>
                <a:latin typeface="맑은 고딕"/>
                <a:ea typeface="맑은 고딕"/>
                <a:cs typeface="맑은 고딕"/>
              </a:rPr>
              <a:t>⑱ </a:t>
            </a:r>
            <a:r>
              <a:rPr lang="en-US" altLang="en-US" sz="1700" b="0" dirty="0">
                <a:solidFill>
                  <a:srgbClr val="1F2328"/>
                </a:solidFill>
                <a:latin typeface="Calibri"/>
                <a:ea typeface="맑은 고딕"/>
                <a:cs typeface="Calibri"/>
              </a:rPr>
              <a:t>The driver may get all the attention, but as people say, “Races are won in the pits.” </a:t>
            </a:r>
            <a:endParaRPr lang="ko-KR" sz="1700"/>
          </a:p>
        </p:txBody>
      </p:sp>
      <p:sp>
        <p:nvSpPr>
          <p:cNvPr id="9" name="q_card_1"/>
          <p:cNvSpPr/>
          <p:nvPr/>
        </p:nvSpPr>
        <p:spPr>
          <a:xfrm>
            <a:off x="457200" y="3233674"/>
            <a:ext cx="11274552" cy="466217"/>
          </a:xfrm>
          <a:prstGeom prst="roundRect">
            <a:avLst>
              <a:gd name="adj" fmla="val 12000"/>
            </a:avLst>
          </a:prstGeom>
          <a:noFill/>
          <a:ln w="12700">
            <a:solidFill>
              <a:srgbClr val="D5DAE5"/>
            </a:solidFill>
          </a:ln>
        </p:spPr>
        <p:txBody>
          <a:bodyPr rtlCol="0" anchor="ctr"/>
          <a:lstStyle/>
          <a:p>
            <a:pPr algn="ctr"/>
          </a:p>
        </p:txBody>
      </p:sp>
      <p:sp>
        <p:nvSpPr>
          <p:cNvPr id="10" name="q_1"/>
          <p:cNvSpPr txBox="1"/>
          <p:nvPr/>
        </p:nvSpPr>
        <p:spPr>
          <a:xfrm>
            <a:off x="502920" y="3233674"/>
            <a:ext cx="9171432" cy="466217"/>
          </a:xfrm>
          <a:prstGeom prst="rect">
            <a:avLst/>
          </a:prstGeom>
          <a:noFill/>
        </p:spPr>
        <p:txBody>
          <a:bodyPr wrap="square" lIns="109728" tIns="45720" rIns="109728" bIns="45720" anchor="ctr" rtlCol="0">
            <a:noAutofit/>
          </a:bodyPr>
          <a:lstStyle/>
          <a:p>
            <a:pPr algn="l">
              <a:lnSpc>
                <a:spcPts val="2375"/>
              </a:lnSpc>
              <a:spcBef>
                <a:spcPts val="0"/>
              </a:spcBef>
              <a:spcAft>
                <a:spcPts val="0"/>
              </a:spcAft>
              <a:buNone/>
            </a:pPr>
            <a:r>
              <a:rPr lang="en-US" altLang="en-US" sz="1900" b="1" dirty="0">
                <a:solidFill>
                  <a:srgbClr val="1E2A5A"/>
                </a:solidFill>
                <a:latin typeface="Calibri"/>
                <a:ea typeface="맑은 고딕"/>
                <a:cs typeface="Calibri"/>
              </a:rPr>
              <a:t>26.  </a:t>
            </a:r>
            <a:r>
              <a:rPr lang="ko-KR" altLang="en-US" sz="1900" b="0" dirty="0">
                <a:solidFill>
                  <a:srgbClr val="1F2328"/>
                </a:solidFill>
                <a:latin typeface="맑은 고딕"/>
                <a:ea typeface="맑은 고딕"/>
                <a:cs typeface="맑은 고딕"/>
              </a:rPr>
              <a:t>빠른 속도의 경주에서는 타이어가 쉽게 마모된다.</a:t>
            </a:r>
            <a:endParaRPr lang="ko-KR" sz="1900"/>
          </a:p>
        </p:txBody>
      </p:sp>
      <p:sp>
        <p:nvSpPr>
          <p:cNvPr id="11" name="tf_1"/>
          <p:cNvSpPr txBox="1"/>
          <p:nvPr/>
        </p:nvSpPr>
        <p:spPr>
          <a:xfrm>
            <a:off x="9765792" y="3233674"/>
            <a:ext cx="1828800" cy="466217"/>
          </a:xfrm>
          <a:prstGeom prst="rect">
            <a:avLst/>
          </a:prstGeom>
          <a:noFill/>
        </p:spPr>
        <p:txBody>
          <a:bodyPr wrap="square" lIns="18288" tIns="18288" rIns="18288" bIns="18288" anchor="ctr" rtlCol="0">
            <a:noAutofit/>
          </a:bodyPr>
          <a:lstStyle/>
          <a:p>
            <a:pPr algn="ctr">
              <a:lnSpc>
                <a:spcPts val="2375"/>
              </a:lnSpc>
              <a:spcBef>
                <a:spcPts val="0"/>
              </a:spcBef>
              <a:spcAft>
                <a:spcPts val="0"/>
              </a:spcAft>
              <a:buNone/>
            </a:pPr>
            <a:r>
              <a:rPr lang="en-US" altLang="en-US" sz="1900" b="1" dirty="0">
                <a:solidFill>
                  <a:srgbClr val="9AA3B5"/>
                </a:solidFill>
                <a:latin typeface="Calibri"/>
                <a:ea typeface="맑은 고딕"/>
                <a:cs typeface="Calibri"/>
              </a:rPr>
              <a:t>T   /   F</a:t>
            </a:r>
            <a:endParaRPr lang="ko-KR" sz="1900"/>
          </a:p>
        </p:txBody>
      </p:sp>
      <p:sp>
        <p:nvSpPr>
          <p:cNvPr id="12" name="rv_ans_1"/>
          <p:cNvSpPr/>
          <p:nvPr/>
        </p:nvSpPr>
        <p:spPr>
          <a:xfrm>
            <a:off x="9765792" y="3279393"/>
            <a:ext cx="1828800" cy="374777"/>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640"/>
              </a:lnSpc>
              <a:spcBef>
                <a:spcPts val="0"/>
              </a:spcBef>
              <a:spcAft>
                <a:spcPts val="0"/>
              </a:spcAft>
              <a:buNone/>
            </a:pPr>
            <a:r>
              <a:rPr lang="en-US" altLang="en-US" sz="2200" b="1" dirty="0">
                <a:solidFill>
                  <a:srgbClr val="C00000"/>
                </a:solidFill>
                <a:latin typeface="Calibri"/>
                <a:ea typeface="맑은 고딕"/>
                <a:cs typeface="Calibri"/>
              </a:rPr>
              <a:t>T</a:t>
            </a:r>
            <a:endParaRPr lang="ko-KR" sz="2200"/>
          </a:p>
        </p:txBody>
      </p:sp>
      <p:sp>
        <p:nvSpPr>
          <p:cNvPr id="13" name="q_card_2"/>
          <p:cNvSpPr/>
          <p:nvPr/>
        </p:nvSpPr>
        <p:spPr>
          <a:xfrm>
            <a:off x="457200" y="3773043"/>
            <a:ext cx="11274552" cy="466217"/>
          </a:xfrm>
          <a:prstGeom prst="roundRect">
            <a:avLst>
              <a:gd name="adj" fmla="val 12000"/>
            </a:avLst>
          </a:prstGeom>
          <a:noFill/>
          <a:ln w="12700">
            <a:solidFill>
              <a:srgbClr val="D5DAE5"/>
            </a:solidFill>
          </a:ln>
        </p:spPr>
        <p:txBody>
          <a:bodyPr rtlCol="0" anchor="ctr"/>
          <a:lstStyle/>
          <a:p>
            <a:pPr algn="ctr"/>
          </a:p>
        </p:txBody>
      </p:sp>
      <p:sp>
        <p:nvSpPr>
          <p:cNvPr id="14" name="q_2"/>
          <p:cNvSpPr txBox="1"/>
          <p:nvPr/>
        </p:nvSpPr>
        <p:spPr>
          <a:xfrm>
            <a:off x="502920" y="3773043"/>
            <a:ext cx="9171432" cy="466217"/>
          </a:xfrm>
          <a:prstGeom prst="rect">
            <a:avLst/>
          </a:prstGeom>
          <a:noFill/>
        </p:spPr>
        <p:txBody>
          <a:bodyPr wrap="square" lIns="109728" tIns="45720" rIns="109728" bIns="45720" anchor="ctr" rtlCol="0">
            <a:noAutofit/>
          </a:bodyPr>
          <a:lstStyle/>
          <a:p>
            <a:pPr algn="l">
              <a:lnSpc>
                <a:spcPts val="2375"/>
              </a:lnSpc>
              <a:spcBef>
                <a:spcPts val="0"/>
              </a:spcBef>
              <a:spcAft>
                <a:spcPts val="0"/>
              </a:spcAft>
              <a:buNone/>
            </a:pPr>
            <a:r>
              <a:rPr lang="en-US" altLang="en-US" sz="1900" b="1" dirty="0">
                <a:solidFill>
                  <a:srgbClr val="1E2A5A"/>
                </a:solidFill>
                <a:latin typeface="Calibri"/>
                <a:ea typeface="맑은 고딕"/>
                <a:cs typeface="Calibri"/>
              </a:rPr>
              <a:t>27.  </a:t>
            </a:r>
            <a:r>
              <a:rPr lang="ko-KR" altLang="en-US" sz="1900" b="0" dirty="0">
                <a:solidFill>
                  <a:srgbClr val="1F2328"/>
                </a:solidFill>
                <a:latin typeface="맑은 고딕"/>
                <a:ea typeface="맑은 고딕"/>
                <a:cs typeface="맑은 고딕"/>
              </a:rPr>
              <a:t>피트에서의 정지는 최소 20초 이상 걸린다.</a:t>
            </a:r>
            <a:endParaRPr lang="ko-KR" sz="1900"/>
          </a:p>
        </p:txBody>
      </p:sp>
      <p:sp>
        <p:nvSpPr>
          <p:cNvPr id="15" name="tf_2"/>
          <p:cNvSpPr txBox="1"/>
          <p:nvPr/>
        </p:nvSpPr>
        <p:spPr>
          <a:xfrm>
            <a:off x="9765792" y="3773043"/>
            <a:ext cx="1828800" cy="466217"/>
          </a:xfrm>
          <a:prstGeom prst="rect">
            <a:avLst/>
          </a:prstGeom>
          <a:noFill/>
        </p:spPr>
        <p:txBody>
          <a:bodyPr wrap="square" lIns="18288" tIns="18288" rIns="18288" bIns="18288" anchor="ctr" rtlCol="0">
            <a:noAutofit/>
          </a:bodyPr>
          <a:lstStyle/>
          <a:p>
            <a:pPr algn="ctr">
              <a:lnSpc>
                <a:spcPts val="2375"/>
              </a:lnSpc>
              <a:spcBef>
                <a:spcPts val="0"/>
              </a:spcBef>
              <a:spcAft>
                <a:spcPts val="0"/>
              </a:spcAft>
              <a:buNone/>
            </a:pPr>
            <a:r>
              <a:rPr lang="en-US" altLang="en-US" sz="1900" b="1" dirty="0">
                <a:solidFill>
                  <a:srgbClr val="9AA3B5"/>
                </a:solidFill>
                <a:latin typeface="Calibri"/>
                <a:ea typeface="맑은 고딕"/>
                <a:cs typeface="Calibri"/>
              </a:rPr>
              <a:t>T   /   F</a:t>
            </a:r>
            <a:endParaRPr lang="ko-KR" sz="1900"/>
          </a:p>
        </p:txBody>
      </p:sp>
      <p:sp>
        <p:nvSpPr>
          <p:cNvPr id="16" name="rv_ans_2"/>
          <p:cNvSpPr/>
          <p:nvPr/>
        </p:nvSpPr>
        <p:spPr>
          <a:xfrm>
            <a:off x="9765792" y="3818762"/>
            <a:ext cx="1828800" cy="374777"/>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640"/>
              </a:lnSpc>
              <a:spcBef>
                <a:spcPts val="0"/>
              </a:spcBef>
              <a:spcAft>
                <a:spcPts val="0"/>
              </a:spcAft>
              <a:buNone/>
            </a:pPr>
            <a:r>
              <a:rPr lang="en-US" altLang="en-US" sz="2200" b="1" dirty="0">
                <a:solidFill>
                  <a:srgbClr val="C00000"/>
                </a:solidFill>
                <a:latin typeface="Calibri"/>
                <a:ea typeface="맑은 고딕"/>
                <a:cs typeface="Calibri"/>
              </a:rPr>
              <a:t>F</a:t>
            </a:r>
            <a:endParaRPr lang="ko-KR" sz="2200"/>
          </a:p>
        </p:txBody>
      </p:sp>
      <p:sp>
        <p:nvSpPr>
          <p:cNvPr id="17" name="q_card_3"/>
          <p:cNvSpPr/>
          <p:nvPr/>
        </p:nvSpPr>
        <p:spPr>
          <a:xfrm>
            <a:off x="457200" y="4312412"/>
            <a:ext cx="11274552" cy="466217"/>
          </a:xfrm>
          <a:prstGeom prst="roundRect">
            <a:avLst>
              <a:gd name="adj" fmla="val 12000"/>
            </a:avLst>
          </a:prstGeom>
          <a:noFill/>
          <a:ln w="12700">
            <a:solidFill>
              <a:srgbClr val="D5DAE5"/>
            </a:solidFill>
          </a:ln>
        </p:spPr>
        <p:txBody>
          <a:bodyPr rtlCol="0" anchor="ctr"/>
          <a:lstStyle/>
          <a:p>
            <a:pPr algn="ctr"/>
          </a:p>
        </p:txBody>
      </p:sp>
      <p:sp>
        <p:nvSpPr>
          <p:cNvPr id="18" name="q_3"/>
          <p:cNvSpPr txBox="1"/>
          <p:nvPr/>
        </p:nvSpPr>
        <p:spPr>
          <a:xfrm>
            <a:off x="502920" y="4312412"/>
            <a:ext cx="9171432" cy="466217"/>
          </a:xfrm>
          <a:prstGeom prst="rect">
            <a:avLst/>
          </a:prstGeom>
          <a:noFill/>
        </p:spPr>
        <p:txBody>
          <a:bodyPr wrap="square" lIns="109728" tIns="45720" rIns="109728" bIns="45720" anchor="ctr" rtlCol="0">
            <a:noAutofit/>
          </a:bodyPr>
          <a:lstStyle/>
          <a:p>
            <a:pPr algn="l">
              <a:lnSpc>
                <a:spcPts val="2375"/>
              </a:lnSpc>
              <a:spcBef>
                <a:spcPts val="0"/>
              </a:spcBef>
              <a:spcAft>
                <a:spcPts val="0"/>
              </a:spcAft>
              <a:buNone/>
            </a:pPr>
            <a:r>
              <a:rPr lang="en-US" altLang="en-US" sz="1900" b="1" dirty="0">
                <a:solidFill>
                  <a:srgbClr val="1E2A5A"/>
                </a:solidFill>
                <a:latin typeface="Calibri"/>
                <a:ea typeface="맑은 고딕"/>
                <a:cs typeface="Calibri"/>
              </a:rPr>
              <a:t>28.  </a:t>
            </a:r>
            <a:r>
              <a:rPr lang="ko-KR" altLang="en-US" sz="1900" b="0" dirty="0">
                <a:solidFill>
                  <a:srgbClr val="1F2328"/>
                </a:solidFill>
                <a:latin typeface="맑은 고딕"/>
                <a:ea typeface="맑은 고딕"/>
                <a:cs typeface="맑은 고딕"/>
              </a:rPr>
              <a:t>한 피트 크루의 구성원은 많아야 2명이다.</a:t>
            </a:r>
            <a:endParaRPr lang="ko-KR" sz="1900"/>
          </a:p>
        </p:txBody>
      </p:sp>
      <p:sp>
        <p:nvSpPr>
          <p:cNvPr id="19" name="tf_3"/>
          <p:cNvSpPr txBox="1"/>
          <p:nvPr/>
        </p:nvSpPr>
        <p:spPr>
          <a:xfrm>
            <a:off x="9765792" y="4312412"/>
            <a:ext cx="1828800" cy="466217"/>
          </a:xfrm>
          <a:prstGeom prst="rect">
            <a:avLst/>
          </a:prstGeom>
          <a:noFill/>
        </p:spPr>
        <p:txBody>
          <a:bodyPr wrap="square" lIns="18288" tIns="18288" rIns="18288" bIns="18288" anchor="ctr" rtlCol="0">
            <a:noAutofit/>
          </a:bodyPr>
          <a:lstStyle/>
          <a:p>
            <a:pPr algn="ctr">
              <a:lnSpc>
                <a:spcPts val="2375"/>
              </a:lnSpc>
              <a:spcBef>
                <a:spcPts val="0"/>
              </a:spcBef>
              <a:spcAft>
                <a:spcPts val="0"/>
              </a:spcAft>
              <a:buNone/>
            </a:pPr>
            <a:r>
              <a:rPr lang="en-US" altLang="en-US" sz="1900" b="1" dirty="0">
                <a:solidFill>
                  <a:srgbClr val="9AA3B5"/>
                </a:solidFill>
                <a:latin typeface="Calibri"/>
                <a:ea typeface="맑은 고딕"/>
                <a:cs typeface="Calibri"/>
              </a:rPr>
              <a:t>T   /   F</a:t>
            </a:r>
            <a:endParaRPr lang="ko-KR" sz="1900"/>
          </a:p>
        </p:txBody>
      </p:sp>
      <p:sp>
        <p:nvSpPr>
          <p:cNvPr id="20" name="rv_ans_3"/>
          <p:cNvSpPr/>
          <p:nvPr/>
        </p:nvSpPr>
        <p:spPr>
          <a:xfrm>
            <a:off x="9765792" y="4358132"/>
            <a:ext cx="1828800" cy="374777"/>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640"/>
              </a:lnSpc>
              <a:spcBef>
                <a:spcPts val="0"/>
              </a:spcBef>
              <a:spcAft>
                <a:spcPts val="0"/>
              </a:spcAft>
              <a:buNone/>
            </a:pPr>
            <a:r>
              <a:rPr lang="en-US" altLang="en-US" sz="2200" b="1" dirty="0">
                <a:solidFill>
                  <a:srgbClr val="C00000"/>
                </a:solidFill>
                <a:latin typeface="Calibri"/>
                <a:ea typeface="맑은 고딕"/>
                <a:cs typeface="Calibri"/>
              </a:rPr>
              <a:t>F</a:t>
            </a:r>
            <a:endParaRPr lang="ko-KR" sz="2200"/>
          </a:p>
        </p:txBody>
      </p:sp>
      <p:sp>
        <p:nvSpPr>
          <p:cNvPr id="21" name="q_card_4"/>
          <p:cNvSpPr/>
          <p:nvPr/>
        </p:nvSpPr>
        <p:spPr>
          <a:xfrm>
            <a:off x="457200" y="4851781"/>
            <a:ext cx="11274552" cy="466217"/>
          </a:xfrm>
          <a:prstGeom prst="roundRect">
            <a:avLst>
              <a:gd name="adj" fmla="val 12000"/>
            </a:avLst>
          </a:prstGeom>
          <a:noFill/>
          <a:ln w="12700">
            <a:solidFill>
              <a:srgbClr val="D5DAE5"/>
            </a:solidFill>
          </a:ln>
        </p:spPr>
        <p:txBody>
          <a:bodyPr rtlCol="0" anchor="ctr"/>
          <a:lstStyle/>
          <a:p>
            <a:pPr algn="ctr"/>
          </a:p>
        </p:txBody>
      </p:sp>
      <p:sp>
        <p:nvSpPr>
          <p:cNvPr id="22" name="q_4"/>
          <p:cNvSpPr txBox="1"/>
          <p:nvPr/>
        </p:nvSpPr>
        <p:spPr>
          <a:xfrm>
            <a:off x="502920" y="4851781"/>
            <a:ext cx="9171432" cy="466217"/>
          </a:xfrm>
          <a:prstGeom prst="rect">
            <a:avLst/>
          </a:prstGeom>
          <a:noFill/>
        </p:spPr>
        <p:txBody>
          <a:bodyPr wrap="square" lIns="109728" tIns="45720" rIns="109728" bIns="45720" anchor="ctr" rtlCol="0">
            <a:noAutofit/>
          </a:bodyPr>
          <a:lstStyle/>
          <a:p>
            <a:pPr algn="l">
              <a:lnSpc>
                <a:spcPts val="2375"/>
              </a:lnSpc>
              <a:spcBef>
                <a:spcPts val="0"/>
              </a:spcBef>
              <a:spcAft>
                <a:spcPts val="0"/>
              </a:spcAft>
              <a:buNone/>
            </a:pPr>
            <a:r>
              <a:rPr lang="en-US" altLang="en-US" sz="1900" b="1" dirty="0">
                <a:solidFill>
                  <a:srgbClr val="1E2A5A"/>
                </a:solidFill>
                <a:latin typeface="Calibri"/>
                <a:ea typeface="맑은 고딕"/>
                <a:cs typeface="Calibri"/>
              </a:rPr>
              <a:t>29.  </a:t>
            </a:r>
            <a:r>
              <a:rPr lang="ko-KR" altLang="en-US" sz="1900" b="0" dirty="0">
                <a:solidFill>
                  <a:srgbClr val="1F2328"/>
                </a:solidFill>
                <a:latin typeface="맑은 고딕"/>
                <a:ea typeface="맑은 고딕"/>
                <a:cs typeface="맑은 고딕"/>
              </a:rPr>
              <a:t>피트 크루는 완벽한 조화를 이루며 일해야 한다.</a:t>
            </a:r>
            <a:endParaRPr lang="ko-KR" sz="1900"/>
          </a:p>
        </p:txBody>
      </p:sp>
      <p:sp>
        <p:nvSpPr>
          <p:cNvPr id="23" name="tf_4"/>
          <p:cNvSpPr txBox="1"/>
          <p:nvPr/>
        </p:nvSpPr>
        <p:spPr>
          <a:xfrm>
            <a:off x="9765792" y="4851781"/>
            <a:ext cx="1828800" cy="466217"/>
          </a:xfrm>
          <a:prstGeom prst="rect">
            <a:avLst/>
          </a:prstGeom>
          <a:noFill/>
        </p:spPr>
        <p:txBody>
          <a:bodyPr wrap="square" lIns="18288" tIns="18288" rIns="18288" bIns="18288" anchor="ctr" rtlCol="0">
            <a:noAutofit/>
          </a:bodyPr>
          <a:lstStyle/>
          <a:p>
            <a:pPr algn="ctr">
              <a:lnSpc>
                <a:spcPts val="2375"/>
              </a:lnSpc>
              <a:spcBef>
                <a:spcPts val="0"/>
              </a:spcBef>
              <a:spcAft>
                <a:spcPts val="0"/>
              </a:spcAft>
              <a:buNone/>
            </a:pPr>
            <a:r>
              <a:rPr lang="en-US" altLang="en-US" sz="1900" b="1" dirty="0">
                <a:solidFill>
                  <a:srgbClr val="9AA3B5"/>
                </a:solidFill>
                <a:latin typeface="Calibri"/>
                <a:ea typeface="맑은 고딕"/>
                <a:cs typeface="Calibri"/>
              </a:rPr>
              <a:t>T   /   F</a:t>
            </a:r>
            <a:endParaRPr lang="ko-KR" sz="1900"/>
          </a:p>
        </p:txBody>
      </p:sp>
      <p:sp>
        <p:nvSpPr>
          <p:cNvPr id="24" name="rv_ans_4"/>
          <p:cNvSpPr/>
          <p:nvPr/>
        </p:nvSpPr>
        <p:spPr>
          <a:xfrm>
            <a:off x="9765792" y="4897501"/>
            <a:ext cx="1828800" cy="374777"/>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640"/>
              </a:lnSpc>
              <a:spcBef>
                <a:spcPts val="0"/>
              </a:spcBef>
              <a:spcAft>
                <a:spcPts val="0"/>
              </a:spcAft>
              <a:buNone/>
            </a:pPr>
            <a:r>
              <a:rPr lang="en-US" altLang="en-US" sz="2200" b="1" dirty="0">
                <a:solidFill>
                  <a:srgbClr val="C00000"/>
                </a:solidFill>
                <a:latin typeface="Calibri"/>
                <a:ea typeface="맑은 고딕"/>
                <a:cs typeface="Calibri"/>
              </a:rPr>
              <a:t>T</a:t>
            </a:r>
            <a:endParaRPr lang="ko-KR" sz="2200"/>
          </a:p>
        </p:txBody>
      </p:sp>
      <p:sp>
        <p:nvSpPr>
          <p:cNvPr id="25" name="q_card_5"/>
          <p:cNvSpPr/>
          <p:nvPr/>
        </p:nvSpPr>
        <p:spPr>
          <a:xfrm>
            <a:off x="457200" y="5391150"/>
            <a:ext cx="11274552" cy="466217"/>
          </a:xfrm>
          <a:prstGeom prst="roundRect">
            <a:avLst>
              <a:gd name="adj" fmla="val 12000"/>
            </a:avLst>
          </a:prstGeom>
          <a:noFill/>
          <a:ln w="12700">
            <a:solidFill>
              <a:srgbClr val="D5DAE5"/>
            </a:solidFill>
          </a:ln>
        </p:spPr>
        <p:txBody>
          <a:bodyPr rtlCol="0" anchor="ctr"/>
          <a:lstStyle/>
          <a:p>
            <a:pPr algn="ctr"/>
          </a:p>
        </p:txBody>
      </p:sp>
      <p:sp>
        <p:nvSpPr>
          <p:cNvPr id="26" name="q_5"/>
          <p:cNvSpPr txBox="1"/>
          <p:nvPr/>
        </p:nvSpPr>
        <p:spPr>
          <a:xfrm>
            <a:off x="502920" y="5391150"/>
            <a:ext cx="9171432" cy="466217"/>
          </a:xfrm>
          <a:prstGeom prst="rect">
            <a:avLst/>
          </a:prstGeom>
          <a:noFill/>
        </p:spPr>
        <p:txBody>
          <a:bodyPr wrap="square" lIns="109728" tIns="45720" rIns="109728" bIns="45720" anchor="ctr" rtlCol="0">
            <a:noAutofit/>
          </a:bodyPr>
          <a:lstStyle/>
          <a:p>
            <a:pPr algn="l">
              <a:lnSpc>
                <a:spcPts val="2375"/>
              </a:lnSpc>
              <a:spcBef>
                <a:spcPts val="0"/>
              </a:spcBef>
              <a:spcAft>
                <a:spcPts val="0"/>
              </a:spcAft>
              <a:buNone/>
            </a:pPr>
            <a:r>
              <a:rPr lang="en-US" altLang="en-US" sz="1900" b="1" dirty="0">
                <a:solidFill>
                  <a:srgbClr val="1E2A5A"/>
                </a:solidFill>
                <a:latin typeface="Calibri"/>
                <a:ea typeface="맑은 고딕"/>
                <a:cs typeface="Calibri"/>
              </a:rPr>
              <a:t>30.  </a:t>
            </a:r>
            <a:r>
              <a:rPr lang="ko-KR" altLang="en-US" sz="1900" b="0" dirty="0">
                <a:solidFill>
                  <a:srgbClr val="1F2328"/>
                </a:solidFill>
                <a:latin typeface="맑은 고딕"/>
                <a:ea typeface="맑은 고딕"/>
                <a:cs typeface="맑은 고딕"/>
              </a:rPr>
              <a:t>사람들은 경주의 우승이 트랙 위에서만 이루어진다고 말한다.</a:t>
            </a:r>
            <a:endParaRPr lang="ko-KR" sz="1900"/>
          </a:p>
        </p:txBody>
      </p:sp>
      <p:sp>
        <p:nvSpPr>
          <p:cNvPr id="27" name="tf_5"/>
          <p:cNvSpPr txBox="1"/>
          <p:nvPr/>
        </p:nvSpPr>
        <p:spPr>
          <a:xfrm>
            <a:off x="9765792" y="5391150"/>
            <a:ext cx="1828800" cy="466217"/>
          </a:xfrm>
          <a:prstGeom prst="rect">
            <a:avLst/>
          </a:prstGeom>
          <a:noFill/>
        </p:spPr>
        <p:txBody>
          <a:bodyPr wrap="square" lIns="18288" tIns="18288" rIns="18288" bIns="18288" anchor="ctr" rtlCol="0">
            <a:noAutofit/>
          </a:bodyPr>
          <a:lstStyle/>
          <a:p>
            <a:pPr algn="ctr">
              <a:lnSpc>
                <a:spcPts val="2375"/>
              </a:lnSpc>
              <a:spcBef>
                <a:spcPts val="0"/>
              </a:spcBef>
              <a:spcAft>
                <a:spcPts val="0"/>
              </a:spcAft>
              <a:buNone/>
            </a:pPr>
            <a:r>
              <a:rPr lang="en-US" altLang="en-US" sz="1900" b="1" dirty="0">
                <a:solidFill>
                  <a:srgbClr val="9AA3B5"/>
                </a:solidFill>
                <a:latin typeface="Calibri"/>
                <a:ea typeface="맑은 고딕"/>
                <a:cs typeface="Calibri"/>
              </a:rPr>
              <a:t>T   /   F</a:t>
            </a:r>
            <a:endParaRPr lang="ko-KR" sz="1900"/>
          </a:p>
        </p:txBody>
      </p:sp>
      <p:sp>
        <p:nvSpPr>
          <p:cNvPr id="28" name="rv_ans_5"/>
          <p:cNvSpPr/>
          <p:nvPr/>
        </p:nvSpPr>
        <p:spPr>
          <a:xfrm>
            <a:off x="9765792" y="5436870"/>
            <a:ext cx="1828800" cy="374777"/>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640"/>
              </a:lnSpc>
              <a:spcBef>
                <a:spcPts val="0"/>
              </a:spcBef>
              <a:spcAft>
                <a:spcPts val="0"/>
              </a:spcAft>
              <a:buNone/>
            </a:pPr>
            <a:r>
              <a:rPr lang="en-US" altLang="en-US" sz="2200" b="1" dirty="0">
                <a:solidFill>
                  <a:srgbClr val="C00000"/>
                </a:solidFill>
                <a:latin typeface="Calibri"/>
                <a:ea typeface="맑은 고딕"/>
                <a:cs typeface="Calibri"/>
              </a:rPr>
              <a:t>F</a:t>
            </a:r>
            <a:endParaRPr lang="ko-KR" sz="22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25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250"/>
                                        <p:tgtEl>
                                          <p:spTgt spid="1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0"/>
                                        </p:tgtEl>
                                        <p:attrNameLst>
                                          <p:attrName>style.visibility</p:attrName>
                                        </p:attrNameLst>
                                      </p:cBhvr>
                                      <p:to>
                                        <p:strVal val="visible"/>
                                      </p:to>
                                    </p:set>
                                    <p:animEffect transition="in" filter="fade">
                                      <p:cBhvr>
                                        <p:cTn id="13" dur="250"/>
                                        <p:tgtEl>
                                          <p:spTgt spid="20"/>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4"/>
                                        </p:tgtEl>
                                        <p:attrNameLst>
                                          <p:attrName>style.visibility</p:attrName>
                                        </p:attrNameLst>
                                      </p:cBhvr>
                                      <p:to>
                                        <p:strVal val="visible"/>
                                      </p:to>
                                    </p:set>
                                    <p:animEffect transition="in" filter="fade">
                                      <p:cBhvr>
                                        <p:cTn id="16" dur="250"/>
                                        <p:tgtEl>
                                          <p:spTgt spid="24"/>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8"/>
                                        </p:tgtEl>
                                        <p:attrNameLst>
                                          <p:attrName>style.visibility</p:attrName>
                                        </p:attrNameLst>
                                      </p:cBhvr>
                                      <p:to>
                                        <p:strVal val="visible"/>
                                      </p:to>
                                    </p:set>
                                    <p:animEffect transition="in" filter="fade">
                                      <p:cBhvr>
                                        <p:cTn id="19" dur="25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6" grpId="0" animBg="1"/>
      <p:bldP spid="20" grpId="0" animBg="1"/>
      <p:bldP spid="24" grpId="0" animBg="1"/>
      <p:bldP spid="28" grpId="0" animBg="1"/>
    </p:bldLst>
  </p:timing>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8000"/>
            </a:avLst>
          </a:prstGeom>
          <a:solidFill>
            <a:srgbClr val="1E2A5A"/>
          </a:solidFill>
          <a:ln>
            <a:noFill/>
          </a:ln>
        </p:spPr>
        <p:txBody>
          <a:bodyPr wrap="square" lIns="45720" tIns="18288" rIns="45720" bIns="18288" anchor="ctr" rtlCol="0">
            <a:noAutofit/>
          </a:bodyPr>
          <a:lstStyle/>
          <a:p>
            <a:pPr algn="ctr">
              <a:lnSpc>
                <a:spcPts val="2000"/>
              </a:lnSpc>
              <a:spcBef>
                <a:spcPts val="0"/>
              </a:spcBef>
              <a:spcAft>
                <a:spcPts val="0"/>
              </a:spcAft>
              <a:buNone/>
            </a:pPr>
            <a:r>
              <a:rPr lang="en-US" altLang="en-US" sz="1700" b="1" dirty="0">
                <a:solidFill>
                  <a:srgbClr val="FFFFFF"/>
                </a:solidFill>
                <a:latin typeface="Calibri"/>
                <a:ea typeface="맑은 고딕"/>
                <a:cs typeface="Calibri"/>
              </a:rPr>
              <a:t>L5-4</a:t>
            </a:r>
            <a:endParaRPr lang="ko-KR" sz="1700"/>
          </a:p>
        </p:txBody>
      </p:sp>
      <p:sp>
        <p:nvSpPr>
          <p:cNvPr id="3" name="hdr_chip"/>
          <p:cNvSpPr/>
          <p:nvPr/>
        </p:nvSpPr>
        <p:spPr>
          <a:xfrm>
            <a:off x="1755648" y="274320"/>
            <a:ext cx="1371600" cy="493776"/>
          </a:xfrm>
          <a:prstGeom prst="roundRect">
            <a:avLst>
              <a:gd name="adj" fmla="val 8000"/>
            </a:avLst>
          </a:prstGeom>
          <a:solidFill>
            <a:srgbClr val="E6EAF4"/>
          </a:solidFill>
          <a:ln>
            <a:noFill/>
          </a:ln>
        </p:spPr>
        <p:txBody>
          <a:bodyPr wrap="square" lIns="27432" tIns="18288" rIns="27432" bIns="18288" anchor="ctr" rtlCol="0">
            <a:noAutofit/>
          </a:bodyPr>
          <a:lstStyle/>
          <a:p>
            <a:pPr algn="ctr">
              <a:lnSpc>
                <a:spcPts val="1700"/>
              </a:lnSpc>
              <a:spcBef>
                <a:spcPts val="0"/>
              </a:spcBef>
              <a:spcAft>
                <a:spcPts val="0"/>
              </a:spcAft>
              <a:buNone/>
            </a:pPr>
            <a:r>
              <a:rPr lang="ko-KR" altLang="en-US" sz="1400" b="1" dirty="0">
                <a:solidFill>
                  <a:srgbClr val="1E2A5A"/>
                </a:solidFill>
                <a:latin typeface="맑은 고딕"/>
                <a:ea typeface="맑은 고딕"/>
                <a:cs typeface="맑은 고딕"/>
              </a:rPr>
              <a:t>PART 4 · 7</a:t>
            </a:r>
            <a:endParaRPr lang="ko-KR" sz="1400"/>
          </a:p>
        </p:txBody>
      </p:sp>
      <p:sp>
        <p:nvSpPr>
          <p:cNvPr id="4" name="hdr_q"/>
          <p:cNvSpPr txBox="1"/>
          <p:nvPr/>
        </p:nvSpPr>
        <p:spPr>
          <a:xfrm>
            <a:off x="3246120" y="246888"/>
            <a:ext cx="8485632" cy="548640"/>
          </a:xfrm>
          <a:prstGeom prst="rect">
            <a:avLst/>
          </a:prstGeom>
          <a:noFill/>
        </p:spPr>
        <p:txBody>
          <a:bodyPr wrap="square" lIns="109728" tIns="54864" rIns="109728" bIns="54864" anchor="ctr" rtlCol="0">
            <a:noAutofit/>
          </a:bodyPr>
          <a:lstStyle/>
          <a:p>
            <a:pPr algn="l">
              <a:lnSpc>
                <a:spcPts val="2400"/>
              </a:lnSpc>
              <a:spcBef>
                <a:spcPts val="0"/>
              </a:spcBef>
              <a:spcAft>
                <a:spcPts val="0"/>
              </a:spcAft>
              <a:buNone/>
            </a:pPr>
            <a:r>
              <a:rPr lang="ko-KR" altLang="en-US" sz="2000" b="1" dirty="0">
                <a:solidFill>
                  <a:srgbClr val="1F2328"/>
                </a:solidFill>
                <a:latin typeface="맑은 고딕"/>
                <a:ea typeface="맑은 고딕"/>
                <a:cs typeface="맑은 고딕"/>
              </a:rPr>
              <a:t>본문과 일치하면 T, 일치하지 않으면 F를 고르시오.</a:t>
            </a:r>
            <a:endParaRPr lang="ko-KR" sz="2000"/>
          </a:p>
        </p:txBody>
      </p:sp>
      <p:sp>
        <p:nvSpPr>
          <p:cNvPr id="5" name="ftr_exam"/>
          <p:cNvSpPr txBox="1"/>
          <p:nvPr/>
        </p:nvSpPr>
        <p:spPr>
          <a:xfrm>
            <a:off x="457200" y="6519672"/>
            <a:ext cx="5669280" cy="256032"/>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5</a:t>
            </a:r>
            <a:endParaRPr lang="ko-KR" sz="1000"/>
          </a:p>
        </p:txBody>
      </p:sp>
      <p:sp>
        <p:nvSpPr>
          <p:cNvPr id="6" name="ftr_hint"/>
          <p:cNvSpPr txBox="1"/>
          <p:nvPr/>
        </p:nvSpPr>
        <p:spPr>
          <a:xfrm>
            <a:off x="5971032" y="6519672"/>
            <a:ext cx="5760720" cy="256032"/>
          </a:xfrm>
          <a:prstGeom prst="rect">
            <a:avLst/>
          </a:prstGeom>
          <a:noFill/>
        </p:spPr>
        <p:txBody>
          <a:bodyPr wrap="square" lIns="0" tIns="0" rIns="0" bIns="0" anchor="t" rtlCol="0">
            <a:noAutofit/>
          </a:bodyPr>
          <a:lstStyle/>
          <a:p>
            <a:pPr algn="r">
              <a:lnSpc>
                <a:spcPts val="1200"/>
              </a:lnSpc>
              <a:spcBef>
                <a:spcPts val="0"/>
              </a:spcBef>
              <a:spcAft>
                <a:spcPts val="0"/>
              </a:spcAft>
              <a:buNone/>
            </a:pPr>
            <a:r>
              <a:rPr lang="ko-KR" altLang="en-US" sz="1000" b="0" dirty="0">
                <a:solidFill>
                  <a:srgbClr val="7A808C"/>
                </a:solidFill>
                <a:latin typeface="맑은 고딕"/>
                <a:ea typeface="맑은 고딕"/>
                <a:cs typeface="맑은 고딕"/>
              </a:rPr>
              <a:t>클릭 ① 정답(T/F) 공개</a:t>
            </a:r>
            <a:endParaRPr lang="ko-KR" sz="1000"/>
          </a:p>
        </p:txBody>
      </p:sp>
      <p:sp>
        <p:nvSpPr>
          <p:cNvPr id="7" name="passage_card"/>
          <p:cNvSpPr/>
          <p:nvPr/>
        </p:nvSpPr>
        <p:spPr>
          <a:xfrm>
            <a:off x="457200" y="950976"/>
            <a:ext cx="11274552" cy="2118105"/>
          </a:xfrm>
          <a:prstGeom prst="roundRect">
            <a:avLst>
              <a:gd name="adj" fmla="val 4000"/>
            </a:avLst>
          </a:prstGeom>
          <a:solidFill>
            <a:srgbClr val="F3F5F9"/>
          </a:solidFill>
          <a:ln w="12700">
            <a:solidFill>
              <a:srgbClr val="D9DFEA"/>
            </a:solidFill>
          </a:ln>
        </p:spPr>
        <p:txBody>
          <a:bodyPr rtlCol="0" anchor="ctr"/>
          <a:lstStyle/>
          <a:p>
            <a:pPr algn="ctr"/>
          </a:p>
        </p:txBody>
      </p:sp>
      <p:sp>
        <p:nvSpPr>
          <p:cNvPr id="8" name="passage"/>
          <p:cNvSpPr txBox="1"/>
          <p:nvPr/>
        </p:nvSpPr>
        <p:spPr>
          <a:xfrm>
            <a:off x="457200" y="950976"/>
            <a:ext cx="11274552" cy="2118105"/>
          </a:xfrm>
          <a:prstGeom prst="rect">
            <a:avLst/>
          </a:prstGeom>
          <a:noFill/>
        </p:spPr>
        <p:txBody>
          <a:bodyPr wrap="square" lIns="182880" tIns="137160" rIns="182880" bIns="137160" anchor="t" rtlCol="0">
            <a:noAutofit/>
          </a:bodyPr>
          <a:lstStyle/>
          <a:p>
            <a:pPr algn="l">
              <a:lnSpc>
                <a:spcPts val="2074"/>
              </a:lnSpc>
              <a:spcBef>
                <a:spcPts val="0"/>
              </a:spcBef>
              <a:spcAft>
                <a:spcPts val="0"/>
              </a:spcAft>
              <a:buNone/>
            </a:pPr>
            <a:r>
              <a:rPr lang="ko-KR" altLang="en-US" sz="1700" b="1" dirty="0">
                <a:solidFill>
                  <a:srgbClr val="1E2A5A"/>
                </a:solidFill>
                <a:latin typeface="맑은 고딕"/>
                <a:ea typeface="맑은 고딕"/>
                <a:cs typeface="맑은 고딕"/>
              </a:rPr>
              <a:t>⑲ </a:t>
            </a:r>
            <a:r>
              <a:rPr lang="en-US" altLang="en-US" sz="1700" b="0" dirty="0">
                <a:solidFill>
                  <a:srgbClr val="1F2328"/>
                </a:solidFill>
                <a:latin typeface="Calibri"/>
                <a:ea typeface="맑은 고딕"/>
                <a:cs typeface="Calibri"/>
              </a:rPr>
              <a:t>The word Sherpa comes from the Sherpa tribe, which lives in the eastern part of Nepal. </a:t>
            </a:r>
            <a:r>
              <a:rPr lang="ko-KR" altLang="en-US" sz="1700" b="1" dirty="0">
                <a:solidFill>
                  <a:srgbClr val="1E2A5A"/>
                </a:solidFill>
                <a:latin typeface="맑은 고딕"/>
                <a:ea typeface="맑은 고딕"/>
                <a:cs typeface="맑은 고딕"/>
              </a:rPr>
              <a:t>⑳ </a:t>
            </a:r>
            <a:r>
              <a:rPr lang="en-US" altLang="en-US" sz="1700" b="0" dirty="0">
                <a:solidFill>
                  <a:srgbClr val="1F2328"/>
                </a:solidFill>
                <a:latin typeface="Calibri"/>
                <a:ea typeface="맑은 고딕"/>
                <a:cs typeface="Calibri"/>
              </a:rPr>
              <a:t>Sherpas have good climbing skills and know their way around the mountains well. </a:t>
            </a:r>
            <a:r>
              <a:rPr lang="en-US" altLang="en-US" sz="1700" b="1" dirty="0">
                <a:solidFill>
                  <a:srgbClr val="1E2A5A"/>
                </a:solidFill>
                <a:latin typeface="Calibri"/>
                <a:ea typeface="맑은 고딕"/>
                <a:cs typeface="Calibri"/>
              </a:rPr>
              <a:t>21. </a:t>
            </a:r>
            <a:r>
              <a:rPr lang="en-US" altLang="en-US" sz="1700" b="0" dirty="0">
                <a:solidFill>
                  <a:srgbClr val="1F2328"/>
                </a:solidFill>
                <a:latin typeface="Calibri"/>
                <a:ea typeface="맑은 고딕"/>
                <a:cs typeface="Calibri"/>
              </a:rPr>
              <a:t>They also have little difficulty breathing high up in the mountains. </a:t>
            </a:r>
            <a:r>
              <a:rPr lang="en-US" altLang="en-US" sz="1700" b="1" dirty="0">
                <a:solidFill>
                  <a:srgbClr val="1E2A5A"/>
                </a:solidFill>
                <a:latin typeface="Calibri"/>
                <a:ea typeface="맑은 고딕"/>
                <a:cs typeface="Calibri"/>
              </a:rPr>
              <a:t>22. </a:t>
            </a:r>
            <a:r>
              <a:rPr lang="en-US" altLang="en-US" sz="1700" b="0" dirty="0">
                <a:solidFill>
                  <a:srgbClr val="1F2328"/>
                </a:solidFill>
                <a:latin typeface="Calibri"/>
                <a:ea typeface="맑은 고딕"/>
                <a:cs typeface="Calibri"/>
              </a:rPr>
              <a:t>Therefore, mountain climbers started to hire Sherpas to help them climb Mount Everest. </a:t>
            </a:r>
            <a:r>
              <a:rPr lang="en-US" altLang="en-US" sz="1700" b="1" dirty="0">
                <a:solidFill>
                  <a:srgbClr val="1E2A5A"/>
                </a:solidFill>
                <a:latin typeface="Calibri"/>
                <a:ea typeface="맑은 고딕"/>
                <a:cs typeface="Calibri"/>
              </a:rPr>
              <a:t>23. </a:t>
            </a:r>
            <a:r>
              <a:rPr lang="en-US" altLang="en-US" sz="1700" b="0" dirty="0">
                <a:solidFill>
                  <a:srgbClr val="1F2328"/>
                </a:solidFill>
                <a:latin typeface="Calibri"/>
                <a:ea typeface="맑은 고딕"/>
                <a:cs typeface="Calibri"/>
              </a:rPr>
              <a:t>Sherpas lead mountain climbers to the top of the mountain. They support climbers in many ways. For example, they put up tents and carry climbers’ bags. </a:t>
            </a:r>
            <a:r>
              <a:rPr lang="en-US" altLang="en-US" sz="1700" b="1" dirty="0">
                <a:solidFill>
                  <a:srgbClr val="1E2A5A"/>
                </a:solidFill>
                <a:latin typeface="Calibri"/>
                <a:ea typeface="맑은 고딕"/>
                <a:cs typeface="Calibri"/>
              </a:rPr>
              <a:t>24. </a:t>
            </a:r>
            <a:r>
              <a:rPr lang="en-US" altLang="en-US" sz="1700" b="0" dirty="0">
                <a:solidFill>
                  <a:srgbClr val="1F2328"/>
                </a:solidFill>
                <a:latin typeface="Calibri"/>
                <a:ea typeface="맑은 고딕"/>
                <a:cs typeface="Calibri"/>
              </a:rPr>
              <a:t>Sherpas are often called the invisible people of Mount Everest because people often see a picture of only the climbers at the top of the mountain. </a:t>
            </a:r>
            <a:endParaRPr lang="ko-KR" sz="1700"/>
          </a:p>
        </p:txBody>
      </p:sp>
      <p:sp>
        <p:nvSpPr>
          <p:cNvPr id="9" name="q_card_1"/>
          <p:cNvSpPr/>
          <p:nvPr/>
        </p:nvSpPr>
        <p:spPr>
          <a:xfrm>
            <a:off x="457200" y="3233674"/>
            <a:ext cx="11274552" cy="466217"/>
          </a:xfrm>
          <a:prstGeom prst="roundRect">
            <a:avLst>
              <a:gd name="adj" fmla="val 12000"/>
            </a:avLst>
          </a:prstGeom>
          <a:noFill/>
          <a:ln w="12700">
            <a:solidFill>
              <a:srgbClr val="D5DAE5"/>
            </a:solidFill>
          </a:ln>
        </p:spPr>
        <p:txBody>
          <a:bodyPr rtlCol="0" anchor="ctr"/>
          <a:lstStyle/>
          <a:p>
            <a:pPr algn="ctr"/>
          </a:p>
        </p:txBody>
      </p:sp>
      <p:sp>
        <p:nvSpPr>
          <p:cNvPr id="10" name="q_1"/>
          <p:cNvSpPr txBox="1"/>
          <p:nvPr/>
        </p:nvSpPr>
        <p:spPr>
          <a:xfrm>
            <a:off x="502920" y="3233674"/>
            <a:ext cx="9171432" cy="466217"/>
          </a:xfrm>
          <a:prstGeom prst="rect">
            <a:avLst/>
          </a:prstGeom>
          <a:noFill/>
        </p:spPr>
        <p:txBody>
          <a:bodyPr wrap="square" lIns="109728" tIns="45720" rIns="109728" bIns="45720" anchor="ctr" rtlCol="0">
            <a:noAutofit/>
          </a:bodyPr>
          <a:lstStyle/>
          <a:p>
            <a:pPr algn="l">
              <a:lnSpc>
                <a:spcPts val="2375"/>
              </a:lnSpc>
              <a:spcBef>
                <a:spcPts val="0"/>
              </a:spcBef>
              <a:spcAft>
                <a:spcPts val="0"/>
              </a:spcAft>
              <a:buNone/>
            </a:pPr>
            <a:r>
              <a:rPr lang="en-US" altLang="en-US" sz="1900" b="1" dirty="0">
                <a:solidFill>
                  <a:srgbClr val="1E2A5A"/>
                </a:solidFill>
                <a:latin typeface="Calibri"/>
                <a:ea typeface="맑은 고딕"/>
                <a:cs typeface="Calibri"/>
              </a:rPr>
              <a:t>31.  </a:t>
            </a:r>
            <a:r>
              <a:rPr lang="ko-KR" altLang="en-US" sz="1900" b="0" dirty="0">
                <a:solidFill>
                  <a:srgbClr val="1F2328"/>
                </a:solidFill>
                <a:latin typeface="맑은 고딕"/>
                <a:ea typeface="맑은 고딕"/>
                <a:cs typeface="맑은 고딕"/>
              </a:rPr>
              <a:t>Sherpa라는 단어는 셰르파족에서 유래했다.</a:t>
            </a:r>
            <a:endParaRPr lang="ko-KR" sz="1900"/>
          </a:p>
        </p:txBody>
      </p:sp>
      <p:sp>
        <p:nvSpPr>
          <p:cNvPr id="11" name="tf_1"/>
          <p:cNvSpPr txBox="1"/>
          <p:nvPr/>
        </p:nvSpPr>
        <p:spPr>
          <a:xfrm>
            <a:off x="9765792" y="3233674"/>
            <a:ext cx="1828800" cy="466217"/>
          </a:xfrm>
          <a:prstGeom prst="rect">
            <a:avLst/>
          </a:prstGeom>
          <a:noFill/>
        </p:spPr>
        <p:txBody>
          <a:bodyPr wrap="square" lIns="18288" tIns="18288" rIns="18288" bIns="18288" anchor="ctr" rtlCol="0">
            <a:noAutofit/>
          </a:bodyPr>
          <a:lstStyle/>
          <a:p>
            <a:pPr algn="ctr">
              <a:lnSpc>
                <a:spcPts val="2375"/>
              </a:lnSpc>
              <a:spcBef>
                <a:spcPts val="0"/>
              </a:spcBef>
              <a:spcAft>
                <a:spcPts val="0"/>
              </a:spcAft>
              <a:buNone/>
            </a:pPr>
            <a:r>
              <a:rPr lang="en-US" altLang="en-US" sz="1900" b="1" dirty="0">
                <a:solidFill>
                  <a:srgbClr val="9AA3B5"/>
                </a:solidFill>
                <a:latin typeface="Calibri"/>
                <a:ea typeface="맑은 고딕"/>
                <a:cs typeface="Calibri"/>
              </a:rPr>
              <a:t>T   /   F</a:t>
            </a:r>
            <a:endParaRPr lang="ko-KR" sz="1900"/>
          </a:p>
        </p:txBody>
      </p:sp>
      <p:sp>
        <p:nvSpPr>
          <p:cNvPr id="12" name="rv_ans_1"/>
          <p:cNvSpPr/>
          <p:nvPr/>
        </p:nvSpPr>
        <p:spPr>
          <a:xfrm>
            <a:off x="9765792" y="3279393"/>
            <a:ext cx="1828800" cy="374777"/>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640"/>
              </a:lnSpc>
              <a:spcBef>
                <a:spcPts val="0"/>
              </a:spcBef>
              <a:spcAft>
                <a:spcPts val="0"/>
              </a:spcAft>
              <a:buNone/>
            </a:pPr>
            <a:r>
              <a:rPr lang="en-US" altLang="en-US" sz="2200" b="1" dirty="0">
                <a:solidFill>
                  <a:srgbClr val="C00000"/>
                </a:solidFill>
                <a:latin typeface="Calibri"/>
                <a:ea typeface="맑은 고딕"/>
                <a:cs typeface="Calibri"/>
              </a:rPr>
              <a:t>T</a:t>
            </a:r>
            <a:endParaRPr lang="ko-KR" sz="2200"/>
          </a:p>
        </p:txBody>
      </p:sp>
      <p:sp>
        <p:nvSpPr>
          <p:cNvPr id="13" name="q_card_2"/>
          <p:cNvSpPr/>
          <p:nvPr/>
        </p:nvSpPr>
        <p:spPr>
          <a:xfrm>
            <a:off x="457200" y="3773043"/>
            <a:ext cx="11274552" cy="466217"/>
          </a:xfrm>
          <a:prstGeom prst="roundRect">
            <a:avLst>
              <a:gd name="adj" fmla="val 12000"/>
            </a:avLst>
          </a:prstGeom>
          <a:noFill/>
          <a:ln w="12700">
            <a:solidFill>
              <a:srgbClr val="D5DAE5"/>
            </a:solidFill>
          </a:ln>
        </p:spPr>
        <p:txBody>
          <a:bodyPr rtlCol="0" anchor="ctr"/>
          <a:lstStyle/>
          <a:p>
            <a:pPr algn="ctr"/>
          </a:p>
        </p:txBody>
      </p:sp>
      <p:sp>
        <p:nvSpPr>
          <p:cNvPr id="14" name="q_2"/>
          <p:cNvSpPr txBox="1"/>
          <p:nvPr/>
        </p:nvSpPr>
        <p:spPr>
          <a:xfrm>
            <a:off x="502920" y="3773043"/>
            <a:ext cx="9171432" cy="466217"/>
          </a:xfrm>
          <a:prstGeom prst="rect">
            <a:avLst/>
          </a:prstGeom>
          <a:noFill/>
        </p:spPr>
        <p:txBody>
          <a:bodyPr wrap="square" lIns="109728" tIns="45720" rIns="109728" bIns="45720" anchor="ctr" rtlCol="0">
            <a:noAutofit/>
          </a:bodyPr>
          <a:lstStyle/>
          <a:p>
            <a:pPr algn="l">
              <a:lnSpc>
                <a:spcPts val="2375"/>
              </a:lnSpc>
              <a:spcBef>
                <a:spcPts val="0"/>
              </a:spcBef>
              <a:spcAft>
                <a:spcPts val="0"/>
              </a:spcAft>
              <a:buNone/>
            </a:pPr>
            <a:r>
              <a:rPr lang="en-US" altLang="en-US" sz="1900" b="1" dirty="0">
                <a:solidFill>
                  <a:srgbClr val="1E2A5A"/>
                </a:solidFill>
                <a:latin typeface="Calibri"/>
                <a:ea typeface="맑은 고딕"/>
                <a:cs typeface="Calibri"/>
              </a:rPr>
              <a:t>32.  </a:t>
            </a:r>
            <a:r>
              <a:rPr lang="ko-KR" altLang="en-US" sz="1900" b="0" dirty="0">
                <a:solidFill>
                  <a:srgbClr val="1F2328"/>
                </a:solidFill>
                <a:latin typeface="맑은 고딕"/>
                <a:ea typeface="맑은 고딕"/>
                <a:cs typeface="맑은 고딕"/>
              </a:rPr>
              <a:t>셰르파족은 네팔의 서쪽 지역에 산다.</a:t>
            </a:r>
            <a:endParaRPr lang="ko-KR" sz="1900"/>
          </a:p>
        </p:txBody>
      </p:sp>
      <p:sp>
        <p:nvSpPr>
          <p:cNvPr id="15" name="tf_2"/>
          <p:cNvSpPr txBox="1"/>
          <p:nvPr/>
        </p:nvSpPr>
        <p:spPr>
          <a:xfrm>
            <a:off x="9765792" y="3773043"/>
            <a:ext cx="1828800" cy="466217"/>
          </a:xfrm>
          <a:prstGeom prst="rect">
            <a:avLst/>
          </a:prstGeom>
          <a:noFill/>
        </p:spPr>
        <p:txBody>
          <a:bodyPr wrap="square" lIns="18288" tIns="18288" rIns="18288" bIns="18288" anchor="ctr" rtlCol="0">
            <a:noAutofit/>
          </a:bodyPr>
          <a:lstStyle/>
          <a:p>
            <a:pPr algn="ctr">
              <a:lnSpc>
                <a:spcPts val="2375"/>
              </a:lnSpc>
              <a:spcBef>
                <a:spcPts val="0"/>
              </a:spcBef>
              <a:spcAft>
                <a:spcPts val="0"/>
              </a:spcAft>
              <a:buNone/>
            </a:pPr>
            <a:r>
              <a:rPr lang="en-US" altLang="en-US" sz="1900" b="1" dirty="0">
                <a:solidFill>
                  <a:srgbClr val="9AA3B5"/>
                </a:solidFill>
                <a:latin typeface="Calibri"/>
                <a:ea typeface="맑은 고딕"/>
                <a:cs typeface="Calibri"/>
              </a:rPr>
              <a:t>T   /   F</a:t>
            </a:r>
            <a:endParaRPr lang="ko-KR" sz="1900"/>
          </a:p>
        </p:txBody>
      </p:sp>
      <p:sp>
        <p:nvSpPr>
          <p:cNvPr id="16" name="rv_ans_2"/>
          <p:cNvSpPr/>
          <p:nvPr/>
        </p:nvSpPr>
        <p:spPr>
          <a:xfrm>
            <a:off x="9765792" y="3818762"/>
            <a:ext cx="1828800" cy="374777"/>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640"/>
              </a:lnSpc>
              <a:spcBef>
                <a:spcPts val="0"/>
              </a:spcBef>
              <a:spcAft>
                <a:spcPts val="0"/>
              </a:spcAft>
              <a:buNone/>
            </a:pPr>
            <a:r>
              <a:rPr lang="en-US" altLang="en-US" sz="2200" b="1" dirty="0">
                <a:solidFill>
                  <a:srgbClr val="C00000"/>
                </a:solidFill>
                <a:latin typeface="Calibri"/>
                <a:ea typeface="맑은 고딕"/>
                <a:cs typeface="Calibri"/>
              </a:rPr>
              <a:t>F</a:t>
            </a:r>
            <a:endParaRPr lang="ko-KR" sz="2200"/>
          </a:p>
        </p:txBody>
      </p:sp>
      <p:sp>
        <p:nvSpPr>
          <p:cNvPr id="17" name="q_card_3"/>
          <p:cNvSpPr/>
          <p:nvPr/>
        </p:nvSpPr>
        <p:spPr>
          <a:xfrm>
            <a:off x="457200" y="4312412"/>
            <a:ext cx="11274552" cy="466217"/>
          </a:xfrm>
          <a:prstGeom prst="roundRect">
            <a:avLst>
              <a:gd name="adj" fmla="val 12000"/>
            </a:avLst>
          </a:prstGeom>
          <a:noFill/>
          <a:ln w="12700">
            <a:solidFill>
              <a:srgbClr val="D5DAE5"/>
            </a:solidFill>
          </a:ln>
        </p:spPr>
        <p:txBody>
          <a:bodyPr rtlCol="0" anchor="ctr"/>
          <a:lstStyle/>
          <a:p>
            <a:pPr algn="ctr"/>
          </a:p>
        </p:txBody>
      </p:sp>
      <p:sp>
        <p:nvSpPr>
          <p:cNvPr id="18" name="q_3"/>
          <p:cNvSpPr txBox="1"/>
          <p:nvPr/>
        </p:nvSpPr>
        <p:spPr>
          <a:xfrm>
            <a:off x="502920" y="4312412"/>
            <a:ext cx="9171432" cy="466217"/>
          </a:xfrm>
          <a:prstGeom prst="rect">
            <a:avLst/>
          </a:prstGeom>
          <a:noFill/>
        </p:spPr>
        <p:txBody>
          <a:bodyPr wrap="square" lIns="109728" tIns="45720" rIns="109728" bIns="45720" anchor="ctr" rtlCol="0">
            <a:noAutofit/>
          </a:bodyPr>
          <a:lstStyle/>
          <a:p>
            <a:pPr algn="l">
              <a:lnSpc>
                <a:spcPts val="2375"/>
              </a:lnSpc>
              <a:spcBef>
                <a:spcPts val="0"/>
              </a:spcBef>
              <a:spcAft>
                <a:spcPts val="0"/>
              </a:spcAft>
              <a:buNone/>
            </a:pPr>
            <a:r>
              <a:rPr lang="en-US" altLang="en-US" sz="1900" b="1" dirty="0">
                <a:solidFill>
                  <a:srgbClr val="1E2A5A"/>
                </a:solidFill>
                <a:latin typeface="Calibri"/>
                <a:ea typeface="맑은 고딕"/>
                <a:cs typeface="Calibri"/>
              </a:rPr>
              <a:t>33.  </a:t>
            </a:r>
            <a:r>
              <a:rPr lang="ko-KR" altLang="en-US" sz="1900" b="0" dirty="0">
                <a:solidFill>
                  <a:srgbClr val="1F2328"/>
                </a:solidFill>
                <a:latin typeface="맑은 고딕"/>
                <a:ea typeface="맑은 고딕"/>
                <a:cs typeface="맑은 고딕"/>
              </a:rPr>
              <a:t>셰르파는 훌륭한 등반 기술을 가지고 있다.</a:t>
            </a:r>
            <a:endParaRPr lang="ko-KR" sz="1900"/>
          </a:p>
        </p:txBody>
      </p:sp>
      <p:sp>
        <p:nvSpPr>
          <p:cNvPr id="19" name="tf_3"/>
          <p:cNvSpPr txBox="1"/>
          <p:nvPr/>
        </p:nvSpPr>
        <p:spPr>
          <a:xfrm>
            <a:off x="9765792" y="4312412"/>
            <a:ext cx="1828800" cy="466217"/>
          </a:xfrm>
          <a:prstGeom prst="rect">
            <a:avLst/>
          </a:prstGeom>
          <a:noFill/>
        </p:spPr>
        <p:txBody>
          <a:bodyPr wrap="square" lIns="18288" tIns="18288" rIns="18288" bIns="18288" anchor="ctr" rtlCol="0">
            <a:noAutofit/>
          </a:bodyPr>
          <a:lstStyle/>
          <a:p>
            <a:pPr algn="ctr">
              <a:lnSpc>
                <a:spcPts val="2375"/>
              </a:lnSpc>
              <a:spcBef>
                <a:spcPts val="0"/>
              </a:spcBef>
              <a:spcAft>
                <a:spcPts val="0"/>
              </a:spcAft>
              <a:buNone/>
            </a:pPr>
            <a:r>
              <a:rPr lang="en-US" altLang="en-US" sz="1900" b="1" dirty="0">
                <a:solidFill>
                  <a:srgbClr val="9AA3B5"/>
                </a:solidFill>
                <a:latin typeface="Calibri"/>
                <a:ea typeface="맑은 고딕"/>
                <a:cs typeface="Calibri"/>
              </a:rPr>
              <a:t>T   /   F</a:t>
            </a:r>
            <a:endParaRPr lang="ko-KR" sz="1900"/>
          </a:p>
        </p:txBody>
      </p:sp>
      <p:sp>
        <p:nvSpPr>
          <p:cNvPr id="20" name="rv_ans_3"/>
          <p:cNvSpPr/>
          <p:nvPr/>
        </p:nvSpPr>
        <p:spPr>
          <a:xfrm>
            <a:off x="9765792" y="4358132"/>
            <a:ext cx="1828800" cy="374777"/>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640"/>
              </a:lnSpc>
              <a:spcBef>
                <a:spcPts val="0"/>
              </a:spcBef>
              <a:spcAft>
                <a:spcPts val="0"/>
              </a:spcAft>
              <a:buNone/>
            </a:pPr>
            <a:r>
              <a:rPr lang="en-US" altLang="en-US" sz="2200" b="1" dirty="0">
                <a:solidFill>
                  <a:srgbClr val="C00000"/>
                </a:solidFill>
                <a:latin typeface="Calibri"/>
                <a:ea typeface="맑은 고딕"/>
                <a:cs typeface="Calibri"/>
              </a:rPr>
              <a:t>T</a:t>
            </a:r>
            <a:endParaRPr lang="ko-KR" sz="2200"/>
          </a:p>
        </p:txBody>
      </p:sp>
      <p:sp>
        <p:nvSpPr>
          <p:cNvPr id="21" name="q_card_4"/>
          <p:cNvSpPr/>
          <p:nvPr/>
        </p:nvSpPr>
        <p:spPr>
          <a:xfrm>
            <a:off x="457200" y="4851781"/>
            <a:ext cx="11274552" cy="466217"/>
          </a:xfrm>
          <a:prstGeom prst="roundRect">
            <a:avLst>
              <a:gd name="adj" fmla="val 12000"/>
            </a:avLst>
          </a:prstGeom>
          <a:noFill/>
          <a:ln w="12700">
            <a:solidFill>
              <a:srgbClr val="D5DAE5"/>
            </a:solidFill>
          </a:ln>
        </p:spPr>
        <p:txBody>
          <a:bodyPr rtlCol="0" anchor="ctr"/>
          <a:lstStyle/>
          <a:p>
            <a:pPr algn="ctr"/>
          </a:p>
        </p:txBody>
      </p:sp>
      <p:sp>
        <p:nvSpPr>
          <p:cNvPr id="22" name="q_4"/>
          <p:cNvSpPr txBox="1"/>
          <p:nvPr/>
        </p:nvSpPr>
        <p:spPr>
          <a:xfrm>
            <a:off x="502920" y="4851781"/>
            <a:ext cx="9171432" cy="466217"/>
          </a:xfrm>
          <a:prstGeom prst="rect">
            <a:avLst/>
          </a:prstGeom>
          <a:noFill/>
        </p:spPr>
        <p:txBody>
          <a:bodyPr wrap="square" lIns="109728" tIns="45720" rIns="109728" bIns="45720" anchor="ctr" rtlCol="0">
            <a:noAutofit/>
          </a:bodyPr>
          <a:lstStyle/>
          <a:p>
            <a:pPr algn="l">
              <a:lnSpc>
                <a:spcPts val="2375"/>
              </a:lnSpc>
              <a:spcBef>
                <a:spcPts val="0"/>
              </a:spcBef>
              <a:spcAft>
                <a:spcPts val="0"/>
              </a:spcAft>
              <a:buNone/>
            </a:pPr>
            <a:r>
              <a:rPr lang="en-US" altLang="en-US" sz="1900" b="1" dirty="0">
                <a:solidFill>
                  <a:srgbClr val="1E2A5A"/>
                </a:solidFill>
                <a:latin typeface="Calibri"/>
                <a:ea typeface="맑은 고딕"/>
                <a:cs typeface="Calibri"/>
              </a:rPr>
              <a:t>34.  </a:t>
            </a:r>
            <a:r>
              <a:rPr lang="ko-KR" altLang="en-US" sz="1900" b="0" dirty="0">
                <a:solidFill>
                  <a:srgbClr val="1F2328"/>
                </a:solidFill>
                <a:latin typeface="맑은 고딕"/>
                <a:ea typeface="맑은 고딕"/>
                <a:cs typeface="맑은 고딕"/>
              </a:rPr>
              <a:t>셰르파는 산의 지리를 잘 안다.</a:t>
            </a:r>
            <a:endParaRPr lang="ko-KR" sz="1900"/>
          </a:p>
        </p:txBody>
      </p:sp>
      <p:sp>
        <p:nvSpPr>
          <p:cNvPr id="23" name="tf_4"/>
          <p:cNvSpPr txBox="1"/>
          <p:nvPr/>
        </p:nvSpPr>
        <p:spPr>
          <a:xfrm>
            <a:off x="9765792" y="4851781"/>
            <a:ext cx="1828800" cy="466217"/>
          </a:xfrm>
          <a:prstGeom prst="rect">
            <a:avLst/>
          </a:prstGeom>
          <a:noFill/>
        </p:spPr>
        <p:txBody>
          <a:bodyPr wrap="square" lIns="18288" tIns="18288" rIns="18288" bIns="18288" anchor="ctr" rtlCol="0">
            <a:noAutofit/>
          </a:bodyPr>
          <a:lstStyle/>
          <a:p>
            <a:pPr algn="ctr">
              <a:lnSpc>
                <a:spcPts val="2375"/>
              </a:lnSpc>
              <a:spcBef>
                <a:spcPts val="0"/>
              </a:spcBef>
              <a:spcAft>
                <a:spcPts val="0"/>
              </a:spcAft>
              <a:buNone/>
            </a:pPr>
            <a:r>
              <a:rPr lang="en-US" altLang="en-US" sz="1900" b="1" dirty="0">
                <a:solidFill>
                  <a:srgbClr val="9AA3B5"/>
                </a:solidFill>
                <a:latin typeface="Calibri"/>
                <a:ea typeface="맑은 고딕"/>
                <a:cs typeface="Calibri"/>
              </a:rPr>
              <a:t>T   /   F</a:t>
            </a:r>
            <a:endParaRPr lang="ko-KR" sz="1900"/>
          </a:p>
        </p:txBody>
      </p:sp>
      <p:sp>
        <p:nvSpPr>
          <p:cNvPr id="24" name="rv_ans_4"/>
          <p:cNvSpPr/>
          <p:nvPr/>
        </p:nvSpPr>
        <p:spPr>
          <a:xfrm>
            <a:off x="9765792" y="4897501"/>
            <a:ext cx="1828800" cy="374777"/>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640"/>
              </a:lnSpc>
              <a:spcBef>
                <a:spcPts val="0"/>
              </a:spcBef>
              <a:spcAft>
                <a:spcPts val="0"/>
              </a:spcAft>
              <a:buNone/>
            </a:pPr>
            <a:r>
              <a:rPr lang="en-US" altLang="en-US" sz="2200" b="1" dirty="0">
                <a:solidFill>
                  <a:srgbClr val="C00000"/>
                </a:solidFill>
                <a:latin typeface="Calibri"/>
                <a:ea typeface="맑은 고딕"/>
                <a:cs typeface="Calibri"/>
              </a:rPr>
              <a:t>T</a:t>
            </a:r>
            <a:endParaRPr lang="ko-KR" sz="2200"/>
          </a:p>
        </p:txBody>
      </p:sp>
      <p:sp>
        <p:nvSpPr>
          <p:cNvPr id="25" name="q_card_5"/>
          <p:cNvSpPr/>
          <p:nvPr/>
        </p:nvSpPr>
        <p:spPr>
          <a:xfrm>
            <a:off x="457200" y="5391150"/>
            <a:ext cx="11274552" cy="466217"/>
          </a:xfrm>
          <a:prstGeom prst="roundRect">
            <a:avLst>
              <a:gd name="adj" fmla="val 12000"/>
            </a:avLst>
          </a:prstGeom>
          <a:noFill/>
          <a:ln w="12700">
            <a:solidFill>
              <a:srgbClr val="D5DAE5"/>
            </a:solidFill>
          </a:ln>
        </p:spPr>
        <p:txBody>
          <a:bodyPr rtlCol="0" anchor="ctr"/>
          <a:lstStyle/>
          <a:p>
            <a:pPr algn="ctr"/>
          </a:p>
        </p:txBody>
      </p:sp>
      <p:sp>
        <p:nvSpPr>
          <p:cNvPr id="26" name="q_5"/>
          <p:cNvSpPr txBox="1"/>
          <p:nvPr/>
        </p:nvSpPr>
        <p:spPr>
          <a:xfrm>
            <a:off x="502920" y="5391150"/>
            <a:ext cx="9171432" cy="466217"/>
          </a:xfrm>
          <a:prstGeom prst="rect">
            <a:avLst/>
          </a:prstGeom>
          <a:noFill/>
        </p:spPr>
        <p:txBody>
          <a:bodyPr wrap="square" lIns="109728" tIns="45720" rIns="109728" bIns="45720" anchor="ctr" rtlCol="0">
            <a:noAutofit/>
          </a:bodyPr>
          <a:lstStyle/>
          <a:p>
            <a:pPr algn="l">
              <a:lnSpc>
                <a:spcPts val="2375"/>
              </a:lnSpc>
              <a:spcBef>
                <a:spcPts val="0"/>
              </a:spcBef>
              <a:spcAft>
                <a:spcPts val="0"/>
              </a:spcAft>
              <a:buNone/>
            </a:pPr>
            <a:r>
              <a:rPr lang="en-US" altLang="en-US" sz="1900" b="1" dirty="0">
                <a:solidFill>
                  <a:srgbClr val="1E2A5A"/>
                </a:solidFill>
                <a:latin typeface="Calibri"/>
                <a:ea typeface="맑은 고딕"/>
                <a:cs typeface="Calibri"/>
              </a:rPr>
              <a:t>35.  </a:t>
            </a:r>
            <a:r>
              <a:rPr lang="ko-KR" altLang="en-US" sz="1900" b="0" dirty="0">
                <a:solidFill>
                  <a:srgbClr val="1F2328"/>
                </a:solidFill>
                <a:latin typeface="맑은 고딕"/>
                <a:ea typeface="맑은 고딕"/>
                <a:cs typeface="맑은 고딕"/>
              </a:rPr>
              <a:t>셰르파는 산의 높은 곳에서 호흡하는 데 큰 어려움을 겪는다.</a:t>
            </a:r>
            <a:endParaRPr lang="ko-KR" sz="1900"/>
          </a:p>
        </p:txBody>
      </p:sp>
      <p:sp>
        <p:nvSpPr>
          <p:cNvPr id="27" name="tf_5"/>
          <p:cNvSpPr txBox="1"/>
          <p:nvPr/>
        </p:nvSpPr>
        <p:spPr>
          <a:xfrm>
            <a:off x="9765792" y="5391150"/>
            <a:ext cx="1828800" cy="466217"/>
          </a:xfrm>
          <a:prstGeom prst="rect">
            <a:avLst/>
          </a:prstGeom>
          <a:noFill/>
        </p:spPr>
        <p:txBody>
          <a:bodyPr wrap="square" lIns="18288" tIns="18288" rIns="18288" bIns="18288" anchor="ctr" rtlCol="0">
            <a:noAutofit/>
          </a:bodyPr>
          <a:lstStyle/>
          <a:p>
            <a:pPr algn="ctr">
              <a:lnSpc>
                <a:spcPts val="2375"/>
              </a:lnSpc>
              <a:spcBef>
                <a:spcPts val="0"/>
              </a:spcBef>
              <a:spcAft>
                <a:spcPts val="0"/>
              </a:spcAft>
              <a:buNone/>
            </a:pPr>
            <a:r>
              <a:rPr lang="en-US" altLang="en-US" sz="1900" b="1" dirty="0">
                <a:solidFill>
                  <a:srgbClr val="9AA3B5"/>
                </a:solidFill>
                <a:latin typeface="Calibri"/>
                <a:ea typeface="맑은 고딕"/>
                <a:cs typeface="Calibri"/>
              </a:rPr>
              <a:t>T   /   F</a:t>
            </a:r>
            <a:endParaRPr lang="ko-KR" sz="1900"/>
          </a:p>
        </p:txBody>
      </p:sp>
      <p:sp>
        <p:nvSpPr>
          <p:cNvPr id="28" name="rv_ans_5"/>
          <p:cNvSpPr/>
          <p:nvPr/>
        </p:nvSpPr>
        <p:spPr>
          <a:xfrm>
            <a:off x="9765792" y="5436870"/>
            <a:ext cx="1828800" cy="374777"/>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640"/>
              </a:lnSpc>
              <a:spcBef>
                <a:spcPts val="0"/>
              </a:spcBef>
              <a:spcAft>
                <a:spcPts val="0"/>
              </a:spcAft>
              <a:buNone/>
            </a:pPr>
            <a:r>
              <a:rPr lang="en-US" altLang="en-US" sz="2200" b="1" dirty="0">
                <a:solidFill>
                  <a:srgbClr val="C00000"/>
                </a:solidFill>
                <a:latin typeface="Calibri"/>
                <a:ea typeface="맑은 고딕"/>
                <a:cs typeface="Calibri"/>
              </a:rPr>
              <a:t>F</a:t>
            </a:r>
            <a:endParaRPr lang="ko-KR" sz="22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25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250"/>
                                        <p:tgtEl>
                                          <p:spTgt spid="1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0"/>
                                        </p:tgtEl>
                                        <p:attrNameLst>
                                          <p:attrName>style.visibility</p:attrName>
                                        </p:attrNameLst>
                                      </p:cBhvr>
                                      <p:to>
                                        <p:strVal val="visible"/>
                                      </p:to>
                                    </p:set>
                                    <p:animEffect transition="in" filter="fade">
                                      <p:cBhvr>
                                        <p:cTn id="13" dur="250"/>
                                        <p:tgtEl>
                                          <p:spTgt spid="20"/>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4"/>
                                        </p:tgtEl>
                                        <p:attrNameLst>
                                          <p:attrName>style.visibility</p:attrName>
                                        </p:attrNameLst>
                                      </p:cBhvr>
                                      <p:to>
                                        <p:strVal val="visible"/>
                                      </p:to>
                                    </p:set>
                                    <p:animEffect transition="in" filter="fade">
                                      <p:cBhvr>
                                        <p:cTn id="16" dur="250"/>
                                        <p:tgtEl>
                                          <p:spTgt spid="24"/>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8"/>
                                        </p:tgtEl>
                                        <p:attrNameLst>
                                          <p:attrName>style.visibility</p:attrName>
                                        </p:attrNameLst>
                                      </p:cBhvr>
                                      <p:to>
                                        <p:strVal val="visible"/>
                                      </p:to>
                                    </p:set>
                                    <p:animEffect transition="in" filter="fade">
                                      <p:cBhvr>
                                        <p:cTn id="19" dur="25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6" grpId="0" animBg="1"/>
      <p:bldP spid="20" grpId="0" animBg="1"/>
      <p:bldP spid="24" grpId="0" animBg="1"/>
      <p:bldP spid="28" grpId="0" animBg="1"/>
    </p:bldLst>
  </p:timing>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8000"/>
            </a:avLst>
          </a:prstGeom>
          <a:solidFill>
            <a:srgbClr val="1E2A5A"/>
          </a:solidFill>
          <a:ln>
            <a:noFill/>
          </a:ln>
        </p:spPr>
        <p:txBody>
          <a:bodyPr wrap="square" lIns="45720" tIns="18288" rIns="45720" bIns="18288" anchor="ctr" rtlCol="0">
            <a:noAutofit/>
          </a:bodyPr>
          <a:lstStyle/>
          <a:p>
            <a:pPr algn="ctr">
              <a:lnSpc>
                <a:spcPts val="2000"/>
              </a:lnSpc>
              <a:spcBef>
                <a:spcPts val="0"/>
              </a:spcBef>
              <a:spcAft>
                <a:spcPts val="0"/>
              </a:spcAft>
              <a:buNone/>
            </a:pPr>
            <a:r>
              <a:rPr lang="en-US" altLang="en-US" sz="1700" b="1" dirty="0">
                <a:solidFill>
                  <a:srgbClr val="FFFFFF"/>
                </a:solidFill>
                <a:latin typeface="Calibri"/>
                <a:ea typeface="맑은 고딕"/>
                <a:cs typeface="Calibri"/>
              </a:rPr>
              <a:t>L5-4</a:t>
            </a:r>
            <a:endParaRPr lang="ko-KR" sz="1700"/>
          </a:p>
        </p:txBody>
      </p:sp>
      <p:sp>
        <p:nvSpPr>
          <p:cNvPr id="3" name="hdr_chip"/>
          <p:cNvSpPr/>
          <p:nvPr/>
        </p:nvSpPr>
        <p:spPr>
          <a:xfrm>
            <a:off x="1755648" y="274320"/>
            <a:ext cx="1371600" cy="493776"/>
          </a:xfrm>
          <a:prstGeom prst="roundRect">
            <a:avLst>
              <a:gd name="adj" fmla="val 8000"/>
            </a:avLst>
          </a:prstGeom>
          <a:solidFill>
            <a:srgbClr val="E6EAF4"/>
          </a:solidFill>
          <a:ln>
            <a:noFill/>
          </a:ln>
        </p:spPr>
        <p:txBody>
          <a:bodyPr wrap="square" lIns="27432" tIns="18288" rIns="27432" bIns="18288" anchor="ctr" rtlCol="0">
            <a:noAutofit/>
          </a:bodyPr>
          <a:lstStyle/>
          <a:p>
            <a:pPr algn="ctr">
              <a:lnSpc>
                <a:spcPts val="1700"/>
              </a:lnSpc>
              <a:spcBef>
                <a:spcPts val="0"/>
              </a:spcBef>
              <a:spcAft>
                <a:spcPts val="0"/>
              </a:spcAft>
              <a:buNone/>
            </a:pPr>
            <a:r>
              <a:rPr lang="ko-KR" altLang="en-US" sz="1400" b="1" dirty="0">
                <a:solidFill>
                  <a:srgbClr val="1E2A5A"/>
                </a:solidFill>
                <a:latin typeface="맑은 고딕"/>
                <a:ea typeface="맑은 고딕"/>
                <a:cs typeface="맑은 고딕"/>
              </a:rPr>
              <a:t>PART 4 · 8</a:t>
            </a:r>
            <a:endParaRPr lang="ko-KR" sz="1400"/>
          </a:p>
        </p:txBody>
      </p:sp>
      <p:sp>
        <p:nvSpPr>
          <p:cNvPr id="4" name="hdr_q"/>
          <p:cNvSpPr txBox="1"/>
          <p:nvPr/>
        </p:nvSpPr>
        <p:spPr>
          <a:xfrm>
            <a:off x="3246120" y="246888"/>
            <a:ext cx="8485632" cy="548640"/>
          </a:xfrm>
          <a:prstGeom prst="rect">
            <a:avLst/>
          </a:prstGeom>
          <a:noFill/>
        </p:spPr>
        <p:txBody>
          <a:bodyPr wrap="square" lIns="109728" tIns="54864" rIns="109728" bIns="54864" anchor="ctr" rtlCol="0">
            <a:noAutofit/>
          </a:bodyPr>
          <a:lstStyle/>
          <a:p>
            <a:pPr algn="l">
              <a:lnSpc>
                <a:spcPts val="2400"/>
              </a:lnSpc>
              <a:spcBef>
                <a:spcPts val="0"/>
              </a:spcBef>
              <a:spcAft>
                <a:spcPts val="0"/>
              </a:spcAft>
              <a:buNone/>
            </a:pPr>
            <a:r>
              <a:rPr lang="ko-KR" altLang="en-US" sz="2000" b="1" dirty="0">
                <a:solidFill>
                  <a:srgbClr val="1F2328"/>
                </a:solidFill>
                <a:latin typeface="맑은 고딕"/>
                <a:ea typeface="맑은 고딕"/>
                <a:cs typeface="맑은 고딕"/>
              </a:rPr>
              <a:t>본문과 일치하면 T, 일치하지 않으면 F를 고르시오.</a:t>
            </a:r>
            <a:endParaRPr lang="ko-KR" sz="2000"/>
          </a:p>
        </p:txBody>
      </p:sp>
      <p:sp>
        <p:nvSpPr>
          <p:cNvPr id="5" name="ftr_exam"/>
          <p:cNvSpPr txBox="1"/>
          <p:nvPr/>
        </p:nvSpPr>
        <p:spPr>
          <a:xfrm>
            <a:off x="457200" y="6519672"/>
            <a:ext cx="5669280" cy="256032"/>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5</a:t>
            </a:r>
            <a:endParaRPr lang="ko-KR" sz="1000"/>
          </a:p>
        </p:txBody>
      </p:sp>
      <p:sp>
        <p:nvSpPr>
          <p:cNvPr id="6" name="ftr_hint"/>
          <p:cNvSpPr txBox="1"/>
          <p:nvPr/>
        </p:nvSpPr>
        <p:spPr>
          <a:xfrm>
            <a:off x="5971032" y="6519672"/>
            <a:ext cx="5760720" cy="256032"/>
          </a:xfrm>
          <a:prstGeom prst="rect">
            <a:avLst/>
          </a:prstGeom>
          <a:noFill/>
        </p:spPr>
        <p:txBody>
          <a:bodyPr wrap="square" lIns="0" tIns="0" rIns="0" bIns="0" anchor="t" rtlCol="0">
            <a:noAutofit/>
          </a:bodyPr>
          <a:lstStyle/>
          <a:p>
            <a:pPr algn="r">
              <a:lnSpc>
                <a:spcPts val="1200"/>
              </a:lnSpc>
              <a:spcBef>
                <a:spcPts val="0"/>
              </a:spcBef>
              <a:spcAft>
                <a:spcPts val="0"/>
              </a:spcAft>
              <a:buNone/>
            </a:pPr>
            <a:r>
              <a:rPr lang="ko-KR" altLang="en-US" sz="1000" b="0" dirty="0">
                <a:solidFill>
                  <a:srgbClr val="7A808C"/>
                </a:solidFill>
                <a:latin typeface="맑은 고딕"/>
                <a:ea typeface="맑은 고딕"/>
                <a:cs typeface="맑은 고딕"/>
              </a:rPr>
              <a:t>클릭 ① 정답(T/F) 공개</a:t>
            </a:r>
            <a:endParaRPr lang="ko-KR" sz="1000"/>
          </a:p>
        </p:txBody>
      </p:sp>
      <p:sp>
        <p:nvSpPr>
          <p:cNvPr id="7" name="passage_card"/>
          <p:cNvSpPr/>
          <p:nvPr/>
        </p:nvSpPr>
        <p:spPr>
          <a:xfrm>
            <a:off x="457200" y="950976"/>
            <a:ext cx="11274552" cy="2118105"/>
          </a:xfrm>
          <a:prstGeom prst="roundRect">
            <a:avLst>
              <a:gd name="adj" fmla="val 4000"/>
            </a:avLst>
          </a:prstGeom>
          <a:solidFill>
            <a:srgbClr val="F3F5F9"/>
          </a:solidFill>
          <a:ln w="12700">
            <a:solidFill>
              <a:srgbClr val="D9DFEA"/>
            </a:solidFill>
          </a:ln>
        </p:spPr>
        <p:txBody>
          <a:bodyPr rtlCol="0" anchor="ctr"/>
          <a:lstStyle/>
          <a:p>
            <a:pPr algn="ctr"/>
          </a:p>
        </p:txBody>
      </p:sp>
      <p:sp>
        <p:nvSpPr>
          <p:cNvPr id="8" name="passage"/>
          <p:cNvSpPr txBox="1"/>
          <p:nvPr/>
        </p:nvSpPr>
        <p:spPr>
          <a:xfrm>
            <a:off x="457200" y="950976"/>
            <a:ext cx="11274552" cy="2118105"/>
          </a:xfrm>
          <a:prstGeom prst="rect">
            <a:avLst/>
          </a:prstGeom>
          <a:noFill/>
        </p:spPr>
        <p:txBody>
          <a:bodyPr wrap="square" lIns="182880" tIns="137160" rIns="182880" bIns="137160" anchor="t" rtlCol="0">
            <a:noAutofit/>
          </a:bodyPr>
          <a:lstStyle/>
          <a:p>
            <a:pPr algn="l">
              <a:lnSpc>
                <a:spcPts val="2074"/>
              </a:lnSpc>
              <a:spcBef>
                <a:spcPts val="0"/>
              </a:spcBef>
              <a:spcAft>
                <a:spcPts val="0"/>
              </a:spcAft>
              <a:buNone/>
            </a:pPr>
            <a:r>
              <a:rPr lang="ko-KR" altLang="en-US" sz="1700" b="1" dirty="0">
                <a:solidFill>
                  <a:srgbClr val="1E2A5A"/>
                </a:solidFill>
                <a:latin typeface="맑은 고딕"/>
                <a:ea typeface="맑은 고딕"/>
                <a:cs typeface="맑은 고딕"/>
              </a:rPr>
              <a:t>⑲ </a:t>
            </a:r>
            <a:r>
              <a:rPr lang="en-US" altLang="en-US" sz="1700" b="0" dirty="0">
                <a:solidFill>
                  <a:srgbClr val="1F2328"/>
                </a:solidFill>
                <a:latin typeface="Calibri"/>
                <a:ea typeface="맑은 고딕"/>
                <a:cs typeface="Calibri"/>
              </a:rPr>
              <a:t>The word Sherpa comes from the Sherpa tribe, which lives in the eastern part of Nepal. </a:t>
            </a:r>
            <a:r>
              <a:rPr lang="ko-KR" altLang="en-US" sz="1700" b="1" dirty="0">
                <a:solidFill>
                  <a:srgbClr val="1E2A5A"/>
                </a:solidFill>
                <a:latin typeface="맑은 고딕"/>
                <a:ea typeface="맑은 고딕"/>
                <a:cs typeface="맑은 고딕"/>
              </a:rPr>
              <a:t>⑳ </a:t>
            </a:r>
            <a:r>
              <a:rPr lang="en-US" altLang="en-US" sz="1700" b="0" dirty="0">
                <a:solidFill>
                  <a:srgbClr val="1F2328"/>
                </a:solidFill>
                <a:latin typeface="Calibri"/>
                <a:ea typeface="맑은 고딕"/>
                <a:cs typeface="Calibri"/>
              </a:rPr>
              <a:t>Sherpas have good climbing skills and know their way around the mountains well. </a:t>
            </a:r>
            <a:r>
              <a:rPr lang="en-US" altLang="en-US" sz="1700" b="1" dirty="0">
                <a:solidFill>
                  <a:srgbClr val="1E2A5A"/>
                </a:solidFill>
                <a:latin typeface="Calibri"/>
                <a:ea typeface="맑은 고딕"/>
                <a:cs typeface="Calibri"/>
              </a:rPr>
              <a:t>21. </a:t>
            </a:r>
            <a:r>
              <a:rPr lang="en-US" altLang="en-US" sz="1700" b="0" dirty="0">
                <a:solidFill>
                  <a:srgbClr val="1F2328"/>
                </a:solidFill>
                <a:latin typeface="Calibri"/>
                <a:ea typeface="맑은 고딕"/>
                <a:cs typeface="Calibri"/>
              </a:rPr>
              <a:t>They also have little difficulty breathing high up in the mountains. </a:t>
            </a:r>
            <a:r>
              <a:rPr lang="en-US" altLang="en-US" sz="1700" b="1" dirty="0">
                <a:solidFill>
                  <a:srgbClr val="1E2A5A"/>
                </a:solidFill>
                <a:latin typeface="Calibri"/>
                <a:ea typeface="맑은 고딕"/>
                <a:cs typeface="Calibri"/>
              </a:rPr>
              <a:t>22. </a:t>
            </a:r>
            <a:r>
              <a:rPr lang="en-US" altLang="en-US" sz="1700" b="0" dirty="0">
                <a:solidFill>
                  <a:srgbClr val="1F2328"/>
                </a:solidFill>
                <a:latin typeface="Calibri"/>
                <a:ea typeface="맑은 고딕"/>
                <a:cs typeface="Calibri"/>
              </a:rPr>
              <a:t>Therefore, mountain climbers started to hire Sherpas to help them climb Mount Everest. </a:t>
            </a:r>
            <a:r>
              <a:rPr lang="en-US" altLang="en-US" sz="1700" b="1" dirty="0">
                <a:solidFill>
                  <a:srgbClr val="1E2A5A"/>
                </a:solidFill>
                <a:latin typeface="Calibri"/>
                <a:ea typeface="맑은 고딕"/>
                <a:cs typeface="Calibri"/>
              </a:rPr>
              <a:t>23. </a:t>
            </a:r>
            <a:r>
              <a:rPr lang="en-US" altLang="en-US" sz="1700" b="0" dirty="0">
                <a:solidFill>
                  <a:srgbClr val="1F2328"/>
                </a:solidFill>
                <a:latin typeface="Calibri"/>
                <a:ea typeface="맑은 고딕"/>
                <a:cs typeface="Calibri"/>
              </a:rPr>
              <a:t>Sherpas lead mountain climbers to the top of the mountain. They support climbers in many ways. For example, they put up tents and carry climbers’ bags. </a:t>
            </a:r>
            <a:r>
              <a:rPr lang="en-US" altLang="en-US" sz="1700" b="1" dirty="0">
                <a:solidFill>
                  <a:srgbClr val="1E2A5A"/>
                </a:solidFill>
                <a:latin typeface="Calibri"/>
                <a:ea typeface="맑은 고딕"/>
                <a:cs typeface="Calibri"/>
              </a:rPr>
              <a:t>24. </a:t>
            </a:r>
            <a:r>
              <a:rPr lang="en-US" altLang="en-US" sz="1700" b="0" dirty="0">
                <a:solidFill>
                  <a:srgbClr val="1F2328"/>
                </a:solidFill>
                <a:latin typeface="Calibri"/>
                <a:ea typeface="맑은 고딕"/>
                <a:cs typeface="Calibri"/>
              </a:rPr>
              <a:t>Sherpas are often called the invisible people of Mount Everest because people often see a picture of only the climbers at the top of the mountain. </a:t>
            </a:r>
            <a:endParaRPr lang="ko-KR" sz="1700"/>
          </a:p>
        </p:txBody>
      </p:sp>
      <p:sp>
        <p:nvSpPr>
          <p:cNvPr id="9" name="q_card_1"/>
          <p:cNvSpPr/>
          <p:nvPr/>
        </p:nvSpPr>
        <p:spPr>
          <a:xfrm>
            <a:off x="457200" y="3233674"/>
            <a:ext cx="11274552" cy="767842"/>
          </a:xfrm>
          <a:prstGeom prst="roundRect">
            <a:avLst>
              <a:gd name="adj" fmla="val 12000"/>
            </a:avLst>
          </a:prstGeom>
          <a:noFill/>
          <a:ln w="12700">
            <a:solidFill>
              <a:srgbClr val="D5DAE5"/>
            </a:solidFill>
          </a:ln>
        </p:spPr>
        <p:txBody>
          <a:bodyPr rtlCol="0" anchor="ctr"/>
          <a:lstStyle/>
          <a:p>
            <a:pPr algn="ctr"/>
          </a:p>
        </p:txBody>
      </p:sp>
      <p:sp>
        <p:nvSpPr>
          <p:cNvPr id="10" name="q_1"/>
          <p:cNvSpPr txBox="1"/>
          <p:nvPr/>
        </p:nvSpPr>
        <p:spPr>
          <a:xfrm>
            <a:off x="502920" y="3233674"/>
            <a:ext cx="9171432" cy="767842"/>
          </a:xfrm>
          <a:prstGeom prst="rect">
            <a:avLst/>
          </a:prstGeom>
          <a:noFill/>
        </p:spPr>
        <p:txBody>
          <a:bodyPr wrap="square" lIns="109728" tIns="45720" rIns="109728" bIns="45720" anchor="ctr" rtlCol="0">
            <a:noAutofit/>
          </a:bodyPr>
          <a:lstStyle/>
          <a:p>
            <a:pPr algn="l">
              <a:lnSpc>
                <a:spcPts val="2375"/>
              </a:lnSpc>
              <a:spcBef>
                <a:spcPts val="0"/>
              </a:spcBef>
              <a:spcAft>
                <a:spcPts val="0"/>
              </a:spcAft>
              <a:buNone/>
            </a:pPr>
            <a:r>
              <a:rPr lang="en-US" altLang="en-US" sz="1900" b="1" dirty="0">
                <a:solidFill>
                  <a:srgbClr val="1E2A5A"/>
                </a:solidFill>
                <a:latin typeface="Calibri"/>
                <a:ea typeface="맑은 고딕"/>
                <a:cs typeface="Calibri"/>
              </a:rPr>
              <a:t>36.  </a:t>
            </a:r>
            <a:r>
              <a:rPr lang="ko-KR" altLang="en-US" sz="1900" b="0" dirty="0">
                <a:solidFill>
                  <a:srgbClr val="1F2328"/>
                </a:solidFill>
                <a:latin typeface="맑은 고딕"/>
                <a:ea typeface="맑은 고딕"/>
                <a:cs typeface="맑은 고딕"/>
              </a:rPr>
              <a:t>등산가들은 에베레스트산 등반을 도울 셰르파를 고용하기 시작했다.</a:t>
            </a:r>
            <a:endParaRPr lang="ko-KR" sz="1900"/>
          </a:p>
        </p:txBody>
      </p:sp>
      <p:sp>
        <p:nvSpPr>
          <p:cNvPr id="11" name="tf_1"/>
          <p:cNvSpPr txBox="1"/>
          <p:nvPr/>
        </p:nvSpPr>
        <p:spPr>
          <a:xfrm>
            <a:off x="9765792" y="3233674"/>
            <a:ext cx="1828800" cy="767842"/>
          </a:xfrm>
          <a:prstGeom prst="rect">
            <a:avLst/>
          </a:prstGeom>
          <a:noFill/>
        </p:spPr>
        <p:txBody>
          <a:bodyPr wrap="square" lIns="18288" tIns="18288" rIns="18288" bIns="18288" anchor="ctr" rtlCol="0">
            <a:noAutofit/>
          </a:bodyPr>
          <a:lstStyle/>
          <a:p>
            <a:pPr algn="ctr">
              <a:lnSpc>
                <a:spcPts val="2375"/>
              </a:lnSpc>
              <a:spcBef>
                <a:spcPts val="0"/>
              </a:spcBef>
              <a:spcAft>
                <a:spcPts val="0"/>
              </a:spcAft>
              <a:buNone/>
            </a:pPr>
            <a:r>
              <a:rPr lang="en-US" altLang="en-US" sz="1900" b="1" dirty="0">
                <a:solidFill>
                  <a:srgbClr val="9AA3B5"/>
                </a:solidFill>
                <a:latin typeface="Calibri"/>
                <a:ea typeface="맑은 고딕"/>
                <a:cs typeface="Calibri"/>
              </a:rPr>
              <a:t>T   /   F</a:t>
            </a:r>
            <a:endParaRPr lang="ko-KR" sz="1900"/>
          </a:p>
        </p:txBody>
      </p:sp>
      <p:sp>
        <p:nvSpPr>
          <p:cNvPr id="12" name="rv_ans_1"/>
          <p:cNvSpPr/>
          <p:nvPr/>
        </p:nvSpPr>
        <p:spPr>
          <a:xfrm>
            <a:off x="9765792" y="3279393"/>
            <a:ext cx="1828800" cy="676402"/>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640"/>
              </a:lnSpc>
              <a:spcBef>
                <a:spcPts val="0"/>
              </a:spcBef>
              <a:spcAft>
                <a:spcPts val="0"/>
              </a:spcAft>
              <a:buNone/>
            </a:pPr>
            <a:r>
              <a:rPr lang="en-US" altLang="en-US" sz="2200" b="1" dirty="0">
                <a:solidFill>
                  <a:srgbClr val="C00000"/>
                </a:solidFill>
                <a:latin typeface="Calibri"/>
                <a:ea typeface="맑은 고딕"/>
                <a:cs typeface="Calibri"/>
              </a:rPr>
              <a:t>T</a:t>
            </a:r>
            <a:endParaRPr lang="ko-KR" sz="2200"/>
          </a:p>
        </p:txBody>
      </p:sp>
      <p:sp>
        <p:nvSpPr>
          <p:cNvPr id="13" name="q_card_2"/>
          <p:cNvSpPr/>
          <p:nvPr/>
        </p:nvSpPr>
        <p:spPr>
          <a:xfrm>
            <a:off x="457200" y="4074668"/>
            <a:ext cx="11274552" cy="466217"/>
          </a:xfrm>
          <a:prstGeom prst="roundRect">
            <a:avLst>
              <a:gd name="adj" fmla="val 12000"/>
            </a:avLst>
          </a:prstGeom>
          <a:noFill/>
          <a:ln w="12700">
            <a:solidFill>
              <a:srgbClr val="D5DAE5"/>
            </a:solidFill>
          </a:ln>
        </p:spPr>
        <p:txBody>
          <a:bodyPr rtlCol="0" anchor="ctr"/>
          <a:lstStyle/>
          <a:p>
            <a:pPr algn="ctr"/>
          </a:p>
        </p:txBody>
      </p:sp>
      <p:sp>
        <p:nvSpPr>
          <p:cNvPr id="14" name="q_2"/>
          <p:cNvSpPr txBox="1"/>
          <p:nvPr/>
        </p:nvSpPr>
        <p:spPr>
          <a:xfrm>
            <a:off x="502920" y="4074668"/>
            <a:ext cx="9171432" cy="466217"/>
          </a:xfrm>
          <a:prstGeom prst="rect">
            <a:avLst/>
          </a:prstGeom>
          <a:noFill/>
        </p:spPr>
        <p:txBody>
          <a:bodyPr wrap="square" lIns="109728" tIns="45720" rIns="109728" bIns="45720" anchor="ctr" rtlCol="0">
            <a:noAutofit/>
          </a:bodyPr>
          <a:lstStyle/>
          <a:p>
            <a:pPr algn="l">
              <a:lnSpc>
                <a:spcPts val="2375"/>
              </a:lnSpc>
              <a:spcBef>
                <a:spcPts val="0"/>
              </a:spcBef>
              <a:spcAft>
                <a:spcPts val="0"/>
              </a:spcAft>
              <a:buNone/>
            </a:pPr>
            <a:r>
              <a:rPr lang="en-US" altLang="en-US" sz="1900" b="1" dirty="0">
                <a:solidFill>
                  <a:srgbClr val="1E2A5A"/>
                </a:solidFill>
                <a:latin typeface="Calibri"/>
                <a:ea typeface="맑은 고딕"/>
                <a:cs typeface="Calibri"/>
              </a:rPr>
              <a:t>37.  </a:t>
            </a:r>
            <a:r>
              <a:rPr lang="ko-KR" altLang="en-US" sz="1900" b="0" dirty="0">
                <a:solidFill>
                  <a:srgbClr val="1F2328"/>
                </a:solidFill>
                <a:latin typeface="맑은 고딕"/>
                <a:ea typeface="맑은 고딕"/>
                <a:cs typeface="맑은 고딕"/>
              </a:rPr>
              <a:t>셰르파는 등산가들을 산 중턱까지만 이끈다.</a:t>
            </a:r>
            <a:endParaRPr lang="ko-KR" sz="1900"/>
          </a:p>
        </p:txBody>
      </p:sp>
      <p:sp>
        <p:nvSpPr>
          <p:cNvPr id="15" name="tf_2"/>
          <p:cNvSpPr txBox="1"/>
          <p:nvPr/>
        </p:nvSpPr>
        <p:spPr>
          <a:xfrm>
            <a:off x="9765792" y="4074668"/>
            <a:ext cx="1828800" cy="466217"/>
          </a:xfrm>
          <a:prstGeom prst="rect">
            <a:avLst/>
          </a:prstGeom>
          <a:noFill/>
        </p:spPr>
        <p:txBody>
          <a:bodyPr wrap="square" lIns="18288" tIns="18288" rIns="18288" bIns="18288" anchor="ctr" rtlCol="0">
            <a:noAutofit/>
          </a:bodyPr>
          <a:lstStyle/>
          <a:p>
            <a:pPr algn="ctr">
              <a:lnSpc>
                <a:spcPts val="2375"/>
              </a:lnSpc>
              <a:spcBef>
                <a:spcPts val="0"/>
              </a:spcBef>
              <a:spcAft>
                <a:spcPts val="0"/>
              </a:spcAft>
              <a:buNone/>
            </a:pPr>
            <a:r>
              <a:rPr lang="en-US" altLang="en-US" sz="1900" b="1" dirty="0">
                <a:solidFill>
                  <a:srgbClr val="9AA3B5"/>
                </a:solidFill>
                <a:latin typeface="Calibri"/>
                <a:ea typeface="맑은 고딕"/>
                <a:cs typeface="Calibri"/>
              </a:rPr>
              <a:t>T   /   F</a:t>
            </a:r>
            <a:endParaRPr lang="ko-KR" sz="1900"/>
          </a:p>
        </p:txBody>
      </p:sp>
      <p:sp>
        <p:nvSpPr>
          <p:cNvPr id="16" name="rv_ans_2"/>
          <p:cNvSpPr/>
          <p:nvPr/>
        </p:nvSpPr>
        <p:spPr>
          <a:xfrm>
            <a:off x="9765792" y="4120388"/>
            <a:ext cx="1828800" cy="374777"/>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640"/>
              </a:lnSpc>
              <a:spcBef>
                <a:spcPts val="0"/>
              </a:spcBef>
              <a:spcAft>
                <a:spcPts val="0"/>
              </a:spcAft>
              <a:buNone/>
            </a:pPr>
            <a:r>
              <a:rPr lang="en-US" altLang="en-US" sz="2200" b="1" dirty="0">
                <a:solidFill>
                  <a:srgbClr val="C00000"/>
                </a:solidFill>
                <a:latin typeface="Calibri"/>
                <a:ea typeface="맑은 고딕"/>
                <a:cs typeface="Calibri"/>
              </a:rPr>
              <a:t>F</a:t>
            </a:r>
            <a:endParaRPr lang="ko-KR" sz="2200"/>
          </a:p>
        </p:txBody>
      </p:sp>
      <p:sp>
        <p:nvSpPr>
          <p:cNvPr id="17" name="q_card_3"/>
          <p:cNvSpPr/>
          <p:nvPr/>
        </p:nvSpPr>
        <p:spPr>
          <a:xfrm>
            <a:off x="457200" y="4614037"/>
            <a:ext cx="11274552" cy="466217"/>
          </a:xfrm>
          <a:prstGeom prst="roundRect">
            <a:avLst>
              <a:gd name="adj" fmla="val 12000"/>
            </a:avLst>
          </a:prstGeom>
          <a:noFill/>
          <a:ln w="12700">
            <a:solidFill>
              <a:srgbClr val="D5DAE5"/>
            </a:solidFill>
          </a:ln>
        </p:spPr>
        <p:txBody>
          <a:bodyPr rtlCol="0" anchor="ctr"/>
          <a:lstStyle/>
          <a:p>
            <a:pPr algn="ctr"/>
          </a:p>
        </p:txBody>
      </p:sp>
      <p:sp>
        <p:nvSpPr>
          <p:cNvPr id="18" name="q_3"/>
          <p:cNvSpPr txBox="1"/>
          <p:nvPr/>
        </p:nvSpPr>
        <p:spPr>
          <a:xfrm>
            <a:off x="502920" y="4614037"/>
            <a:ext cx="9171432" cy="466217"/>
          </a:xfrm>
          <a:prstGeom prst="rect">
            <a:avLst/>
          </a:prstGeom>
          <a:noFill/>
        </p:spPr>
        <p:txBody>
          <a:bodyPr wrap="square" lIns="109728" tIns="45720" rIns="109728" bIns="45720" anchor="ctr" rtlCol="0">
            <a:noAutofit/>
          </a:bodyPr>
          <a:lstStyle/>
          <a:p>
            <a:pPr algn="l">
              <a:lnSpc>
                <a:spcPts val="2375"/>
              </a:lnSpc>
              <a:spcBef>
                <a:spcPts val="0"/>
              </a:spcBef>
              <a:spcAft>
                <a:spcPts val="0"/>
              </a:spcAft>
              <a:buNone/>
            </a:pPr>
            <a:r>
              <a:rPr lang="en-US" altLang="en-US" sz="1900" b="1" dirty="0">
                <a:solidFill>
                  <a:srgbClr val="1E2A5A"/>
                </a:solidFill>
                <a:latin typeface="Calibri"/>
                <a:ea typeface="맑은 고딕"/>
                <a:cs typeface="Calibri"/>
              </a:rPr>
              <a:t>38.  </a:t>
            </a:r>
            <a:r>
              <a:rPr lang="ko-KR" altLang="en-US" sz="1900" b="0" dirty="0">
                <a:solidFill>
                  <a:srgbClr val="1F2328"/>
                </a:solidFill>
                <a:latin typeface="맑은 고딕"/>
                <a:ea typeface="맑은 고딕"/>
                <a:cs typeface="맑은 고딕"/>
              </a:rPr>
              <a:t>셰르파는 텐트를 치고 등산가들의 가방을 운반한다.</a:t>
            </a:r>
            <a:endParaRPr lang="ko-KR" sz="1900"/>
          </a:p>
        </p:txBody>
      </p:sp>
      <p:sp>
        <p:nvSpPr>
          <p:cNvPr id="19" name="tf_3"/>
          <p:cNvSpPr txBox="1"/>
          <p:nvPr/>
        </p:nvSpPr>
        <p:spPr>
          <a:xfrm>
            <a:off x="9765792" y="4614037"/>
            <a:ext cx="1828800" cy="466217"/>
          </a:xfrm>
          <a:prstGeom prst="rect">
            <a:avLst/>
          </a:prstGeom>
          <a:noFill/>
        </p:spPr>
        <p:txBody>
          <a:bodyPr wrap="square" lIns="18288" tIns="18288" rIns="18288" bIns="18288" anchor="ctr" rtlCol="0">
            <a:noAutofit/>
          </a:bodyPr>
          <a:lstStyle/>
          <a:p>
            <a:pPr algn="ctr">
              <a:lnSpc>
                <a:spcPts val="2375"/>
              </a:lnSpc>
              <a:spcBef>
                <a:spcPts val="0"/>
              </a:spcBef>
              <a:spcAft>
                <a:spcPts val="0"/>
              </a:spcAft>
              <a:buNone/>
            </a:pPr>
            <a:r>
              <a:rPr lang="en-US" altLang="en-US" sz="1900" b="1" dirty="0">
                <a:solidFill>
                  <a:srgbClr val="9AA3B5"/>
                </a:solidFill>
                <a:latin typeface="Calibri"/>
                <a:ea typeface="맑은 고딕"/>
                <a:cs typeface="Calibri"/>
              </a:rPr>
              <a:t>T   /   F</a:t>
            </a:r>
            <a:endParaRPr lang="ko-KR" sz="1900"/>
          </a:p>
        </p:txBody>
      </p:sp>
      <p:sp>
        <p:nvSpPr>
          <p:cNvPr id="20" name="rv_ans_3"/>
          <p:cNvSpPr/>
          <p:nvPr/>
        </p:nvSpPr>
        <p:spPr>
          <a:xfrm>
            <a:off x="9765792" y="4659757"/>
            <a:ext cx="1828800" cy="374777"/>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640"/>
              </a:lnSpc>
              <a:spcBef>
                <a:spcPts val="0"/>
              </a:spcBef>
              <a:spcAft>
                <a:spcPts val="0"/>
              </a:spcAft>
              <a:buNone/>
            </a:pPr>
            <a:r>
              <a:rPr lang="en-US" altLang="en-US" sz="2200" b="1" dirty="0">
                <a:solidFill>
                  <a:srgbClr val="C00000"/>
                </a:solidFill>
                <a:latin typeface="Calibri"/>
                <a:ea typeface="맑은 고딕"/>
                <a:cs typeface="Calibri"/>
              </a:rPr>
              <a:t>T</a:t>
            </a:r>
            <a:endParaRPr lang="ko-KR" sz="2200"/>
          </a:p>
        </p:txBody>
      </p:sp>
      <p:sp>
        <p:nvSpPr>
          <p:cNvPr id="21" name="q_card_4"/>
          <p:cNvSpPr/>
          <p:nvPr/>
        </p:nvSpPr>
        <p:spPr>
          <a:xfrm>
            <a:off x="457200" y="5153406"/>
            <a:ext cx="11274552" cy="466217"/>
          </a:xfrm>
          <a:prstGeom prst="roundRect">
            <a:avLst>
              <a:gd name="adj" fmla="val 12000"/>
            </a:avLst>
          </a:prstGeom>
          <a:noFill/>
          <a:ln w="12700">
            <a:solidFill>
              <a:srgbClr val="D5DAE5"/>
            </a:solidFill>
          </a:ln>
        </p:spPr>
        <p:txBody>
          <a:bodyPr rtlCol="0" anchor="ctr"/>
          <a:lstStyle/>
          <a:p>
            <a:pPr algn="ctr"/>
          </a:p>
        </p:txBody>
      </p:sp>
      <p:sp>
        <p:nvSpPr>
          <p:cNvPr id="22" name="q_4"/>
          <p:cNvSpPr txBox="1"/>
          <p:nvPr/>
        </p:nvSpPr>
        <p:spPr>
          <a:xfrm>
            <a:off x="502920" y="5153406"/>
            <a:ext cx="9171432" cy="466217"/>
          </a:xfrm>
          <a:prstGeom prst="rect">
            <a:avLst/>
          </a:prstGeom>
          <a:noFill/>
        </p:spPr>
        <p:txBody>
          <a:bodyPr wrap="square" lIns="109728" tIns="45720" rIns="109728" bIns="45720" anchor="ctr" rtlCol="0">
            <a:noAutofit/>
          </a:bodyPr>
          <a:lstStyle/>
          <a:p>
            <a:pPr algn="l">
              <a:lnSpc>
                <a:spcPts val="2375"/>
              </a:lnSpc>
              <a:spcBef>
                <a:spcPts val="0"/>
              </a:spcBef>
              <a:spcAft>
                <a:spcPts val="0"/>
              </a:spcAft>
              <a:buNone/>
            </a:pPr>
            <a:r>
              <a:rPr lang="en-US" altLang="en-US" sz="1900" b="1" dirty="0">
                <a:solidFill>
                  <a:srgbClr val="1E2A5A"/>
                </a:solidFill>
                <a:latin typeface="Calibri"/>
                <a:ea typeface="맑은 고딕"/>
                <a:cs typeface="Calibri"/>
              </a:rPr>
              <a:t>39.  </a:t>
            </a:r>
            <a:r>
              <a:rPr lang="ko-KR" altLang="en-US" sz="1900" b="0" dirty="0">
                <a:solidFill>
                  <a:srgbClr val="1F2328"/>
                </a:solidFill>
                <a:latin typeface="맑은 고딕"/>
                <a:ea typeface="맑은 고딕"/>
                <a:cs typeface="맑은 고딕"/>
              </a:rPr>
              <a:t>셰르파는 에베레스트산의 보이지 않는 사람들로 불린다.</a:t>
            </a:r>
            <a:endParaRPr lang="ko-KR" sz="1900"/>
          </a:p>
        </p:txBody>
      </p:sp>
      <p:sp>
        <p:nvSpPr>
          <p:cNvPr id="23" name="tf_4"/>
          <p:cNvSpPr txBox="1"/>
          <p:nvPr/>
        </p:nvSpPr>
        <p:spPr>
          <a:xfrm>
            <a:off x="9765792" y="5153406"/>
            <a:ext cx="1828800" cy="466217"/>
          </a:xfrm>
          <a:prstGeom prst="rect">
            <a:avLst/>
          </a:prstGeom>
          <a:noFill/>
        </p:spPr>
        <p:txBody>
          <a:bodyPr wrap="square" lIns="18288" tIns="18288" rIns="18288" bIns="18288" anchor="ctr" rtlCol="0">
            <a:noAutofit/>
          </a:bodyPr>
          <a:lstStyle/>
          <a:p>
            <a:pPr algn="ctr">
              <a:lnSpc>
                <a:spcPts val="2375"/>
              </a:lnSpc>
              <a:spcBef>
                <a:spcPts val="0"/>
              </a:spcBef>
              <a:spcAft>
                <a:spcPts val="0"/>
              </a:spcAft>
              <a:buNone/>
            </a:pPr>
            <a:r>
              <a:rPr lang="en-US" altLang="en-US" sz="1900" b="1" dirty="0">
                <a:solidFill>
                  <a:srgbClr val="9AA3B5"/>
                </a:solidFill>
                <a:latin typeface="Calibri"/>
                <a:ea typeface="맑은 고딕"/>
                <a:cs typeface="Calibri"/>
              </a:rPr>
              <a:t>T   /   F</a:t>
            </a:r>
            <a:endParaRPr lang="ko-KR" sz="1900"/>
          </a:p>
        </p:txBody>
      </p:sp>
      <p:sp>
        <p:nvSpPr>
          <p:cNvPr id="24" name="rv_ans_4"/>
          <p:cNvSpPr/>
          <p:nvPr/>
        </p:nvSpPr>
        <p:spPr>
          <a:xfrm>
            <a:off x="9765792" y="5199126"/>
            <a:ext cx="1828800" cy="374777"/>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640"/>
              </a:lnSpc>
              <a:spcBef>
                <a:spcPts val="0"/>
              </a:spcBef>
              <a:spcAft>
                <a:spcPts val="0"/>
              </a:spcAft>
              <a:buNone/>
            </a:pPr>
            <a:r>
              <a:rPr lang="en-US" altLang="en-US" sz="2200" b="1" dirty="0">
                <a:solidFill>
                  <a:srgbClr val="C00000"/>
                </a:solidFill>
                <a:latin typeface="Calibri"/>
                <a:ea typeface="맑은 고딕"/>
                <a:cs typeface="Calibri"/>
              </a:rPr>
              <a:t>T</a:t>
            </a:r>
            <a:endParaRPr lang="ko-KR" sz="2200"/>
          </a:p>
        </p:txBody>
      </p:sp>
      <p:sp>
        <p:nvSpPr>
          <p:cNvPr id="25" name="q_card_5"/>
          <p:cNvSpPr/>
          <p:nvPr/>
        </p:nvSpPr>
        <p:spPr>
          <a:xfrm>
            <a:off x="457200" y="5692775"/>
            <a:ext cx="11274552" cy="466217"/>
          </a:xfrm>
          <a:prstGeom prst="roundRect">
            <a:avLst>
              <a:gd name="adj" fmla="val 12000"/>
            </a:avLst>
          </a:prstGeom>
          <a:noFill/>
          <a:ln w="12700">
            <a:solidFill>
              <a:srgbClr val="D5DAE5"/>
            </a:solidFill>
          </a:ln>
        </p:spPr>
        <p:txBody>
          <a:bodyPr rtlCol="0" anchor="ctr"/>
          <a:lstStyle/>
          <a:p>
            <a:pPr algn="ctr"/>
          </a:p>
        </p:txBody>
      </p:sp>
      <p:sp>
        <p:nvSpPr>
          <p:cNvPr id="26" name="q_5"/>
          <p:cNvSpPr txBox="1"/>
          <p:nvPr/>
        </p:nvSpPr>
        <p:spPr>
          <a:xfrm>
            <a:off x="502920" y="5692775"/>
            <a:ext cx="9171432" cy="466217"/>
          </a:xfrm>
          <a:prstGeom prst="rect">
            <a:avLst/>
          </a:prstGeom>
          <a:noFill/>
        </p:spPr>
        <p:txBody>
          <a:bodyPr wrap="square" lIns="109728" tIns="45720" rIns="109728" bIns="45720" anchor="ctr" rtlCol="0">
            <a:noAutofit/>
          </a:bodyPr>
          <a:lstStyle/>
          <a:p>
            <a:pPr algn="l">
              <a:lnSpc>
                <a:spcPts val="2375"/>
              </a:lnSpc>
              <a:spcBef>
                <a:spcPts val="0"/>
              </a:spcBef>
              <a:spcAft>
                <a:spcPts val="0"/>
              </a:spcAft>
              <a:buNone/>
            </a:pPr>
            <a:r>
              <a:rPr lang="en-US" altLang="en-US" sz="1900" b="1" dirty="0">
                <a:solidFill>
                  <a:srgbClr val="1E2A5A"/>
                </a:solidFill>
                <a:latin typeface="Calibri"/>
                <a:ea typeface="맑은 고딕"/>
                <a:cs typeface="Calibri"/>
              </a:rPr>
              <a:t>40.  </a:t>
            </a:r>
            <a:r>
              <a:rPr lang="ko-KR" altLang="en-US" sz="1900" b="0" dirty="0">
                <a:solidFill>
                  <a:srgbClr val="1F2328"/>
                </a:solidFill>
                <a:latin typeface="맑은 고딕"/>
                <a:ea typeface="맑은 고딕"/>
                <a:cs typeface="맑은 고딕"/>
              </a:rPr>
              <a:t>사람들은 산 정상에서 셰르파만 찍힌 사진을 흔히 본다.</a:t>
            </a:r>
            <a:endParaRPr lang="ko-KR" sz="1900"/>
          </a:p>
        </p:txBody>
      </p:sp>
      <p:sp>
        <p:nvSpPr>
          <p:cNvPr id="27" name="tf_5"/>
          <p:cNvSpPr txBox="1"/>
          <p:nvPr/>
        </p:nvSpPr>
        <p:spPr>
          <a:xfrm>
            <a:off x="9765792" y="5692775"/>
            <a:ext cx="1828800" cy="466217"/>
          </a:xfrm>
          <a:prstGeom prst="rect">
            <a:avLst/>
          </a:prstGeom>
          <a:noFill/>
        </p:spPr>
        <p:txBody>
          <a:bodyPr wrap="square" lIns="18288" tIns="18288" rIns="18288" bIns="18288" anchor="ctr" rtlCol="0">
            <a:noAutofit/>
          </a:bodyPr>
          <a:lstStyle/>
          <a:p>
            <a:pPr algn="ctr">
              <a:lnSpc>
                <a:spcPts val="2375"/>
              </a:lnSpc>
              <a:spcBef>
                <a:spcPts val="0"/>
              </a:spcBef>
              <a:spcAft>
                <a:spcPts val="0"/>
              </a:spcAft>
              <a:buNone/>
            </a:pPr>
            <a:r>
              <a:rPr lang="en-US" altLang="en-US" sz="1900" b="1" dirty="0">
                <a:solidFill>
                  <a:srgbClr val="9AA3B5"/>
                </a:solidFill>
                <a:latin typeface="Calibri"/>
                <a:ea typeface="맑은 고딕"/>
                <a:cs typeface="Calibri"/>
              </a:rPr>
              <a:t>T   /   F</a:t>
            </a:r>
            <a:endParaRPr lang="ko-KR" sz="1900"/>
          </a:p>
        </p:txBody>
      </p:sp>
      <p:sp>
        <p:nvSpPr>
          <p:cNvPr id="28" name="rv_ans_5"/>
          <p:cNvSpPr/>
          <p:nvPr/>
        </p:nvSpPr>
        <p:spPr>
          <a:xfrm>
            <a:off x="9765792" y="5738495"/>
            <a:ext cx="1828800" cy="374777"/>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640"/>
              </a:lnSpc>
              <a:spcBef>
                <a:spcPts val="0"/>
              </a:spcBef>
              <a:spcAft>
                <a:spcPts val="0"/>
              </a:spcAft>
              <a:buNone/>
            </a:pPr>
            <a:r>
              <a:rPr lang="en-US" altLang="en-US" sz="2200" b="1" dirty="0">
                <a:solidFill>
                  <a:srgbClr val="C00000"/>
                </a:solidFill>
                <a:latin typeface="Calibri"/>
                <a:ea typeface="맑은 고딕"/>
                <a:cs typeface="Calibri"/>
              </a:rPr>
              <a:t>F</a:t>
            </a:r>
            <a:endParaRPr lang="ko-KR" sz="22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25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250"/>
                                        <p:tgtEl>
                                          <p:spTgt spid="1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0"/>
                                        </p:tgtEl>
                                        <p:attrNameLst>
                                          <p:attrName>style.visibility</p:attrName>
                                        </p:attrNameLst>
                                      </p:cBhvr>
                                      <p:to>
                                        <p:strVal val="visible"/>
                                      </p:to>
                                    </p:set>
                                    <p:animEffect transition="in" filter="fade">
                                      <p:cBhvr>
                                        <p:cTn id="13" dur="250"/>
                                        <p:tgtEl>
                                          <p:spTgt spid="20"/>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4"/>
                                        </p:tgtEl>
                                        <p:attrNameLst>
                                          <p:attrName>style.visibility</p:attrName>
                                        </p:attrNameLst>
                                      </p:cBhvr>
                                      <p:to>
                                        <p:strVal val="visible"/>
                                      </p:to>
                                    </p:set>
                                    <p:animEffect transition="in" filter="fade">
                                      <p:cBhvr>
                                        <p:cTn id="16" dur="250"/>
                                        <p:tgtEl>
                                          <p:spTgt spid="24"/>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8"/>
                                        </p:tgtEl>
                                        <p:attrNameLst>
                                          <p:attrName>style.visibility</p:attrName>
                                        </p:attrNameLst>
                                      </p:cBhvr>
                                      <p:to>
                                        <p:strVal val="visible"/>
                                      </p:to>
                                    </p:set>
                                    <p:animEffect transition="in" filter="fade">
                                      <p:cBhvr>
                                        <p:cTn id="19" dur="25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6" grpId="0" animBg="1"/>
      <p:bldP spid="20" grpId="0" animBg="1"/>
      <p:bldP spid="24" grpId="0" animBg="1"/>
      <p:bldP spid="28" grpId="0" animBg="1"/>
    </p:bldLst>
  </p:timing>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1E2A5A"/>
        </a:solidFill>
        <a:effectLst/>
      </p:bgPr>
    </p:bg>
    <p:spTree>
      <p:nvGrpSpPr>
        <p:cNvPr id="1" name=""/>
        <p:cNvGrpSpPr/>
        <p:nvPr/>
      </p:nvGrpSpPr>
      <p:grpSpPr/>
      <p:sp>
        <p:nvSpPr>
          <p:cNvPr id="2" name="sec_title"/>
          <p:cNvSpPr txBox="1"/>
          <p:nvPr/>
        </p:nvSpPr>
        <p:spPr>
          <a:xfrm>
            <a:off x="822960" y="1371600"/>
            <a:ext cx="10515600" cy="868680"/>
          </a:xfrm>
          <a:prstGeom prst="rect">
            <a:avLst/>
          </a:prstGeom>
          <a:noFill/>
        </p:spPr>
        <p:txBody>
          <a:bodyPr wrap="square" lIns="109728" tIns="54864" rIns="109728" bIns="54864" anchor="t" rtlCol="0">
            <a:noAutofit/>
          </a:bodyPr>
          <a:lstStyle/>
          <a:p>
            <a:pPr algn="l">
              <a:lnSpc>
                <a:spcPts val="4800"/>
              </a:lnSpc>
              <a:spcBef>
                <a:spcPts val="0"/>
              </a:spcBef>
              <a:spcAft>
                <a:spcPts val="0"/>
              </a:spcAft>
              <a:buNone/>
            </a:pPr>
            <a:r>
              <a:rPr lang="ko-KR" altLang="en-US" sz="4000" b="1" dirty="0">
                <a:solidFill>
                  <a:srgbClr val="FFE98A"/>
                </a:solidFill>
                <a:latin typeface="맑은 고딕"/>
                <a:ea typeface="맑은 고딕"/>
                <a:cs typeface="맑은 고딕"/>
              </a:rPr>
              <a:t>PART 5  </a:t>
            </a:r>
            <a:r>
              <a:rPr lang="ko-KR" altLang="en-US" sz="4000" b="1" dirty="0">
                <a:solidFill>
                  <a:srgbClr val="FFFFFF"/>
                </a:solidFill>
                <a:latin typeface="맑은 고딕"/>
                <a:ea typeface="맑은 고딕"/>
                <a:cs typeface="맑은 고딕"/>
              </a:rPr>
              <a:t>어법 선택</a:t>
            </a:r>
            <a:endParaRPr lang="ko-KR" sz="4000"/>
          </a:p>
        </p:txBody>
      </p:sp>
      <p:sp>
        <p:nvSpPr>
          <p:cNvPr id="3" name="sec_exam"/>
          <p:cNvSpPr txBox="1"/>
          <p:nvPr/>
        </p:nvSpPr>
        <p:spPr>
          <a:xfrm>
            <a:off x="822960" y="2240280"/>
            <a:ext cx="10515600" cy="502920"/>
          </a:xfrm>
          <a:prstGeom prst="rect">
            <a:avLst/>
          </a:prstGeom>
          <a:noFill/>
        </p:spPr>
        <p:txBody>
          <a:bodyPr wrap="square" lIns="109728" tIns="54864" rIns="109728" bIns="54864" anchor="t" rtlCol="0">
            <a:noAutofit/>
          </a:bodyPr>
          <a:lstStyle/>
          <a:p>
            <a:pPr algn="l">
              <a:lnSpc>
                <a:spcPts val="2400"/>
              </a:lnSpc>
              <a:spcBef>
                <a:spcPts val="0"/>
              </a:spcBef>
              <a:spcAft>
                <a:spcPts val="0"/>
              </a:spcAft>
              <a:buNone/>
            </a:pPr>
            <a:r>
              <a:rPr lang="ko-KR" altLang="en-US" sz="2000" b="0" dirty="0">
                <a:solidFill>
                  <a:srgbClr val="CFD8E8"/>
                </a:solidFill>
                <a:latin typeface="맑은 고딕"/>
                <a:ea typeface="맑은 고딕"/>
                <a:cs typeface="맑은 고딕"/>
              </a:rPr>
              <a:t>중3 동아(윤정미) Lesson 5</a:t>
            </a:r>
            <a:endParaRPr lang="ko-KR" sz="2000"/>
          </a:p>
        </p:txBody>
      </p:sp>
      <p:sp>
        <p:nvSpPr>
          <p:cNvPr id="4" name="sec_ids"/>
          <p:cNvSpPr txBox="1"/>
          <p:nvPr/>
        </p:nvSpPr>
        <p:spPr>
          <a:xfrm>
            <a:off x="822960" y="2788920"/>
            <a:ext cx="10515600" cy="457200"/>
          </a:xfrm>
          <a:prstGeom prst="rect">
            <a:avLst/>
          </a:prstGeom>
          <a:noFill/>
        </p:spPr>
        <p:txBody>
          <a:bodyPr wrap="square" lIns="109728" tIns="54864" rIns="109728" bIns="54864" anchor="t" rtlCol="0">
            <a:noAutofit/>
          </a:bodyPr>
          <a:lstStyle/>
          <a:p>
            <a:pPr algn="l">
              <a:lnSpc>
                <a:spcPts val="2200"/>
              </a:lnSpc>
              <a:spcBef>
                <a:spcPts val="0"/>
              </a:spcBef>
              <a:spcAft>
                <a:spcPts val="0"/>
              </a:spcAft>
              <a:buNone/>
            </a:pPr>
            <a:r>
              <a:rPr lang="en-US" altLang="en-US" sz="1800" b="1" dirty="0">
                <a:solidFill>
                  <a:srgbClr val="AEBBD0"/>
                </a:solidFill>
                <a:latin typeface="Calibri"/>
                <a:ea typeface="맑은 고딕"/>
                <a:cs typeface="Calibri"/>
              </a:rPr>
              <a:t>1 ~ 24번  ·  9장</a:t>
            </a:r>
            <a:endParaRPr lang="ko-KR" sz="1800"/>
          </a:p>
        </p:txBody>
      </p:sp>
      <p:sp>
        <p:nvSpPr>
          <p:cNvPr id="5" name="sec_legend"/>
          <p:cNvSpPr/>
          <p:nvPr/>
        </p:nvSpPr>
        <p:spPr>
          <a:xfrm>
            <a:off x="822960" y="3977639"/>
            <a:ext cx="10515600" cy="1371600"/>
          </a:xfrm>
          <a:prstGeom prst="roundRect">
            <a:avLst>
              <a:gd name="adj" fmla="val 6000"/>
            </a:avLst>
          </a:prstGeom>
          <a:solidFill>
            <a:srgbClr val="27356E"/>
          </a:solidFill>
          <a:ln>
            <a:noFill/>
          </a:ln>
        </p:spPr>
        <p:txBody>
          <a:bodyPr wrap="square" lIns="320040" tIns="137160" rIns="320040" bIns="137160" anchor="ctr" rtlCol="0">
            <a:noAutofit/>
          </a:bodyPr>
          <a:lstStyle/>
          <a:p>
            <a:pPr algn="l">
              <a:lnSpc>
                <a:spcPts val="2600"/>
              </a:lnSpc>
              <a:spcBef>
                <a:spcPts val="0"/>
              </a:spcBef>
              <a:spcAft>
                <a:spcPts val="0"/>
              </a:spcAft>
              <a:buNone/>
            </a:pPr>
            <a:r>
              <a:rPr lang="ko-KR" altLang="en-US" sz="1600" b="1" dirty="0">
                <a:solidFill>
                  <a:srgbClr val="FFE98A"/>
                </a:solidFill>
                <a:latin typeface="맑은 고딕"/>
                <a:ea typeface="맑은 고딕"/>
                <a:cs typeface="맑은 고딕"/>
              </a:rPr>
              <a:t>방법</a:t>
            </a:r>
            <a:r>
              <a:rPr lang="ko-KR" altLang="en-US" sz="1600" b="0" dirty="0">
                <a:solidFill>
                  <a:srgbClr val="FFFFFF"/>
                </a:solidFill>
                <a:latin typeface="맑은 고딕"/>
                <a:ea typeface="맑은 고딕"/>
                <a:cs typeface="맑은 고딕"/>
              </a:rPr>
              <a:t>     우리말 뜻을 참고하여 [  ] 안에서 어법상 알맞은 것을 고르기</a:t>
            </a:r>
            <a:endParaRPr lang="ko-KR" sz="1600"/>
          </a:p>
          <a:p>
            <a:pPr algn="l">
              <a:lnSpc>
                <a:spcPts val="2600"/>
              </a:lnSpc>
              <a:spcBef>
                <a:spcPts val="0"/>
              </a:spcBef>
              <a:spcAft>
                <a:spcPts val="0"/>
              </a:spcAft>
              <a:buNone/>
            </a:pPr>
            <a:r>
              <a:rPr lang="ko-KR" altLang="en-US" sz="1600" b="1" dirty="0">
                <a:solidFill>
                  <a:srgbClr val="FFE98A"/>
                </a:solidFill>
                <a:latin typeface="맑은 고딕"/>
                <a:ea typeface="맑은 고딕"/>
                <a:cs typeface="맑은 고딕"/>
              </a:rPr>
              <a:t>클릭</a:t>
            </a:r>
            <a:r>
              <a:rPr lang="ko-KR" altLang="en-US" sz="1600" b="0" dirty="0">
                <a:solidFill>
                  <a:srgbClr val="FFFFFF"/>
                </a:solidFill>
                <a:latin typeface="맑은 고딕"/>
                <a:ea typeface="맑은 고딕"/>
                <a:cs typeface="맑은 고딕"/>
              </a:rPr>
              <a:t>     한 번 클릭하면 정답이 빨간색으로 표시되고 문법 포인트가 함께 공개</a:t>
            </a:r>
            <a:endParaRPr lang="ko-KR" sz="1600"/>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8000"/>
            </a:avLst>
          </a:prstGeom>
          <a:solidFill>
            <a:srgbClr val="1E2A5A"/>
          </a:solidFill>
          <a:ln>
            <a:noFill/>
          </a:ln>
        </p:spPr>
        <p:txBody>
          <a:bodyPr wrap="square" lIns="45720" tIns="18288" rIns="45720" bIns="18288" anchor="ctr" rtlCol="0">
            <a:noAutofit/>
          </a:bodyPr>
          <a:lstStyle/>
          <a:p>
            <a:pPr algn="ctr">
              <a:lnSpc>
                <a:spcPts val="2000"/>
              </a:lnSpc>
              <a:spcBef>
                <a:spcPts val="0"/>
              </a:spcBef>
              <a:spcAft>
                <a:spcPts val="0"/>
              </a:spcAft>
              <a:buNone/>
            </a:pPr>
            <a:r>
              <a:rPr lang="en-US" altLang="en-US" sz="1700" b="1" dirty="0">
                <a:solidFill>
                  <a:srgbClr val="FFFFFF"/>
                </a:solidFill>
                <a:latin typeface="Calibri"/>
                <a:ea typeface="맑은 고딕"/>
                <a:cs typeface="Calibri"/>
              </a:rPr>
              <a:t>L5</a:t>
            </a:r>
            <a:endParaRPr lang="ko-KR" sz="1700"/>
          </a:p>
        </p:txBody>
      </p:sp>
      <p:sp>
        <p:nvSpPr>
          <p:cNvPr id="3" name="hdr_chip"/>
          <p:cNvSpPr/>
          <p:nvPr/>
        </p:nvSpPr>
        <p:spPr>
          <a:xfrm>
            <a:off x="1755648" y="274320"/>
            <a:ext cx="1371600" cy="493776"/>
          </a:xfrm>
          <a:prstGeom prst="roundRect">
            <a:avLst>
              <a:gd name="adj" fmla="val 8000"/>
            </a:avLst>
          </a:prstGeom>
          <a:solidFill>
            <a:srgbClr val="E6EAF4"/>
          </a:solidFill>
          <a:ln>
            <a:noFill/>
          </a:ln>
        </p:spPr>
        <p:txBody>
          <a:bodyPr wrap="square" lIns="27432" tIns="18288" rIns="27432" bIns="18288" anchor="ctr" rtlCol="0">
            <a:noAutofit/>
          </a:bodyPr>
          <a:lstStyle/>
          <a:p>
            <a:pPr algn="ctr">
              <a:lnSpc>
                <a:spcPts val="1700"/>
              </a:lnSpc>
              <a:spcBef>
                <a:spcPts val="0"/>
              </a:spcBef>
              <a:spcAft>
                <a:spcPts val="0"/>
              </a:spcAft>
              <a:buNone/>
            </a:pPr>
            <a:r>
              <a:rPr lang="ko-KR" altLang="en-US" sz="1400" b="1" dirty="0">
                <a:solidFill>
                  <a:srgbClr val="1E2A5A"/>
                </a:solidFill>
                <a:latin typeface="맑은 고딕"/>
                <a:ea typeface="맑은 고딕"/>
                <a:cs typeface="맑은 고딕"/>
              </a:rPr>
              <a:t>PART 5 · 1</a:t>
            </a:r>
            <a:endParaRPr lang="ko-KR" sz="1400"/>
          </a:p>
        </p:txBody>
      </p:sp>
      <p:sp>
        <p:nvSpPr>
          <p:cNvPr id="4" name="hdr_q"/>
          <p:cNvSpPr txBox="1"/>
          <p:nvPr/>
        </p:nvSpPr>
        <p:spPr>
          <a:xfrm>
            <a:off x="3246120" y="246888"/>
            <a:ext cx="8485632" cy="548640"/>
          </a:xfrm>
          <a:prstGeom prst="rect">
            <a:avLst/>
          </a:prstGeom>
          <a:noFill/>
        </p:spPr>
        <p:txBody>
          <a:bodyPr wrap="square" lIns="109728" tIns="54864" rIns="109728" bIns="54864" anchor="ctr" rtlCol="0">
            <a:noAutofit/>
          </a:bodyPr>
          <a:lstStyle/>
          <a:p>
            <a:pPr algn="l">
              <a:lnSpc>
                <a:spcPts val="2400"/>
              </a:lnSpc>
              <a:spcBef>
                <a:spcPts val="0"/>
              </a:spcBef>
              <a:spcAft>
                <a:spcPts val="0"/>
              </a:spcAft>
              <a:buNone/>
            </a:pPr>
            <a:r>
              <a:rPr lang="ko-KR" altLang="en-US" sz="2000" b="1" dirty="0">
                <a:solidFill>
                  <a:srgbClr val="1F2328"/>
                </a:solidFill>
                <a:latin typeface="맑은 고딕"/>
                <a:ea typeface="맑은 고딕"/>
                <a:cs typeface="맑은 고딕"/>
              </a:rPr>
              <a:t>[  ] 안에서 어법상 알맞은 것을 고르시오.</a:t>
            </a:r>
            <a:endParaRPr lang="ko-KR" sz="2000"/>
          </a:p>
        </p:txBody>
      </p:sp>
      <p:sp>
        <p:nvSpPr>
          <p:cNvPr id="5" name="ftr_exam"/>
          <p:cNvSpPr txBox="1"/>
          <p:nvPr/>
        </p:nvSpPr>
        <p:spPr>
          <a:xfrm>
            <a:off x="457200" y="6519672"/>
            <a:ext cx="5669280" cy="256032"/>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5</a:t>
            </a:r>
            <a:endParaRPr lang="ko-KR" sz="1000"/>
          </a:p>
        </p:txBody>
      </p:sp>
      <p:sp>
        <p:nvSpPr>
          <p:cNvPr id="6" name="ftr_hint"/>
          <p:cNvSpPr txBox="1"/>
          <p:nvPr/>
        </p:nvSpPr>
        <p:spPr>
          <a:xfrm>
            <a:off x="5971032" y="6519672"/>
            <a:ext cx="5760720" cy="256032"/>
          </a:xfrm>
          <a:prstGeom prst="rect">
            <a:avLst/>
          </a:prstGeom>
          <a:noFill/>
        </p:spPr>
        <p:txBody>
          <a:bodyPr wrap="square" lIns="0" tIns="0" rIns="0" bIns="0" anchor="t" rtlCol="0">
            <a:noAutofit/>
          </a:bodyPr>
          <a:lstStyle/>
          <a:p>
            <a:pPr algn="r">
              <a:lnSpc>
                <a:spcPts val="1200"/>
              </a:lnSpc>
              <a:spcBef>
                <a:spcPts val="0"/>
              </a:spcBef>
              <a:spcAft>
                <a:spcPts val="0"/>
              </a:spcAft>
              <a:buNone/>
            </a:pPr>
            <a:r>
              <a:rPr lang="ko-KR" altLang="en-US" sz="1000" b="0" dirty="0">
                <a:solidFill>
                  <a:srgbClr val="7A808C"/>
                </a:solidFill>
                <a:latin typeface="맑은 고딕"/>
                <a:ea typeface="맑은 고딕"/>
                <a:cs typeface="맑은 고딕"/>
              </a:rPr>
              <a:t>클릭 ① 정답(빨간색) + 문법 포인트 공개</a:t>
            </a:r>
            <a:endParaRPr lang="ko-KR" sz="1000"/>
          </a:p>
        </p:txBody>
      </p:sp>
      <p:sp>
        <p:nvSpPr>
          <p:cNvPr id="7" name="item_card_1"/>
          <p:cNvSpPr/>
          <p:nvPr/>
        </p:nvSpPr>
        <p:spPr>
          <a:xfrm>
            <a:off x="457200" y="950976"/>
            <a:ext cx="11274552" cy="1516634"/>
          </a:xfrm>
          <a:prstGeom prst="roundRect">
            <a:avLst>
              <a:gd name="adj" fmla="val 6000"/>
            </a:avLst>
          </a:prstGeom>
          <a:solidFill>
            <a:srgbClr val="F3F5F9"/>
          </a:solidFill>
          <a:ln w="12700">
            <a:solidFill>
              <a:srgbClr val="D9DFEA"/>
            </a:solidFill>
          </a:ln>
        </p:spPr>
        <p:txBody>
          <a:bodyPr rtlCol="0" anchor="ctr"/>
          <a:lstStyle/>
          <a:p>
            <a:pPr algn="ctr"/>
          </a:p>
        </p:txBody>
      </p:sp>
      <p:sp>
        <p:nvSpPr>
          <p:cNvPr id="8" name="kor_1"/>
          <p:cNvSpPr txBox="1"/>
          <p:nvPr/>
        </p:nvSpPr>
        <p:spPr>
          <a:xfrm>
            <a:off x="457200" y="1060704"/>
            <a:ext cx="11274552" cy="363728"/>
          </a:xfrm>
          <a:prstGeom prst="rect">
            <a:avLst/>
          </a:prstGeom>
          <a:noFill/>
        </p:spPr>
        <p:txBody>
          <a:bodyPr wrap="square" lIns="228600" tIns="54864" rIns="228600" bIns="54864" anchor="t" rtlCol="0">
            <a:noAutofit/>
          </a:bodyPr>
          <a:lstStyle/>
          <a:p>
            <a:pPr algn="l">
              <a:lnSpc>
                <a:spcPts val="2000"/>
              </a:lnSpc>
              <a:spcBef>
                <a:spcPts val="0"/>
              </a:spcBef>
              <a:spcAft>
                <a:spcPts val="0"/>
              </a:spcAft>
              <a:buNone/>
            </a:pPr>
            <a:r>
              <a:rPr lang="en-US" altLang="en-US" sz="1600" b="1" dirty="0">
                <a:solidFill>
                  <a:srgbClr val="1E2A5A"/>
                </a:solidFill>
                <a:latin typeface="Calibri"/>
                <a:ea typeface="맑은 고딕"/>
                <a:cs typeface="Calibri"/>
              </a:rPr>
              <a:t>1.  </a:t>
            </a:r>
            <a:r>
              <a:rPr lang="ko-KR" altLang="en-US" sz="1600" b="0" dirty="0">
                <a:solidFill>
                  <a:srgbClr val="3C4558"/>
                </a:solidFill>
                <a:latin typeface="맑은 고딕"/>
                <a:ea typeface="맑은 고딕"/>
                <a:cs typeface="맑은 고딕"/>
              </a:rPr>
              <a:t>스포츠에서는 선수들만 트로피나 메달을 받지만, 그들이 혼자 힘으로 이기는 것은 아니다.</a:t>
            </a:r>
            <a:endParaRPr lang="ko-KR" sz="1600"/>
          </a:p>
        </p:txBody>
      </p:sp>
      <p:sp>
        <p:nvSpPr>
          <p:cNvPr id="9" name="eng_1"/>
          <p:cNvSpPr txBox="1"/>
          <p:nvPr/>
        </p:nvSpPr>
        <p:spPr>
          <a:xfrm>
            <a:off x="457200" y="1369568"/>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solidFill>
                <a:latin typeface="Calibri"/>
                <a:ea typeface="맑은 고딕"/>
                <a:cs typeface="Calibri"/>
              </a:rPr>
              <a:t>In sports, only the players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gets</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get</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a trophy or medal, but they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don’t</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doesn’t</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win on their own.</a:t>
            </a:r>
            <a:endParaRPr lang="ko-KR" sz="2000"/>
          </a:p>
        </p:txBody>
      </p:sp>
      <p:sp>
        <p:nvSpPr>
          <p:cNvPr id="10" name="rv_eng_1"/>
          <p:cNvSpPr txBox="1"/>
          <p:nvPr/>
        </p:nvSpPr>
        <p:spPr>
          <a:xfrm>
            <a:off x="457200" y="1369568"/>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alpha val="0"/>
                  </a:srgbClr>
                </a:solidFill>
                <a:latin typeface="Calibri"/>
                <a:ea typeface="맑은 고딕"/>
                <a:cs typeface="Calibri"/>
              </a:rPr>
              <a:t>In sports, only the players </a:t>
            </a:r>
            <a:r>
              <a:rPr lang="en-US" altLang="en-US" sz="2000" b="1" dirty="0">
                <a:solidFill>
                  <a:srgbClr val="C00000">
                    <a:alpha val="0"/>
                  </a:srgbClr>
                </a:solidFill>
                <a:latin typeface="Calibri"/>
                <a:ea typeface="맑은 고딕"/>
                <a:cs typeface="Calibri"/>
              </a:rPr>
              <a:t>[ </a:t>
            </a:r>
            <a:r>
              <a:rPr lang="en-US" altLang="en-US" sz="2000" b="1" dirty="0">
                <a:solidFill>
                  <a:srgbClr val="C00000">
                    <a:alpha val="0"/>
                  </a:srgbClr>
                </a:solidFill>
                <a:latin typeface="Calibri"/>
                <a:ea typeface="맑은 고딕"/>
                <a:cs typeface="Calibri"/>
              </a:rPr>
              <a:t>gets</a:t>
            </a:r>
            <a:r>
              <a:rPr lang="en-US" altLang="en-US" sz="2000" b="1" dirty="0">
                <a:solidFill>
                  <a:srgbClr val="C00000">
                    <a:alpha val="0"/>
                  </a:srgbClr>
                </a:solidFill>
                <a:latin typeface="Calibri"/>
                <a:ea typeface="맑은 고딕"/>
                <a:cs typeface="Calibri"/>
              </a:rPr>
              <a:t> / </a:t>
            </a:r>
            <a:r>
              <a:rPr lang="en-US" altLang="en-US" sz="2000" b="1" dirty="0">
                <a:solidFill>
                  <a:srgbClr val="C00000"/>
                </a:solidFill>
                <a:latin typeface="Calibri"/>
                <a:ea typeface="맑은 고딕"/>
                <a:cs typeface="Calibri"/>
              </a:rPr>
              <a:t>get</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a trophy or medal, but they </a:t>
            </a:r>
            <a:r>
              <a:rPr lang="en-US" altLang="en-US" sz="2000" b="1" dirty="0">
                <a:solidFill>
                  <a:srgbClr val="C00000">
                    <a:alpha val="0"/>
                  </a:srgbClr>
                </a:solidFill>
                <a:latin typeface="Calibri"/>
                <a:ea typeface="맑은 고딕"/>
                <a:cs typeface="Calibri"/>
              </a:rPr>
              <a:t>[ </a:t>
            </a:r>
            <a:r>
              <a:rPr lang="en-US" altLang="en-US" sz="2000" b="1" dirty="0">
                <a:solidFill>
                  <a:srgbClr val="C00000"/>
                </a:solidFill>
                <a:latin typeface="Calibri"/>
                <a:ea typeface="맑은 고딕"/>
                <a:cs typeface="Calibri"/>
              </a:rPr>
              <a:t>don’t</a:t>
            </a:r>
            <a:r>
              <a:rPr lang="en-US" altLang="en-US" sz="2000" b="1" dirty="0">
                <a:solidFill>
                  <a:srgbClr val="C00000">
                    <a:alpha val="0"/>
                  </a:srgbClr>
                </a:solidFill>
                <a:latin typeface="Calibri"/>
                <a:ea typeface="맑은 고딕"/>
                <a:cs typeface="Calibri"/>
              </a:rPr>
              <a:t> / </a:t>
            </a:r>
            <a:r>
              <a:rPr lang="en-US" altLang="en-US" sz="2000" b="1" dirty="0">
                <a:solidFill>
                  <a:srgbClr val="C00000">
                    <a:alpha val="0"/>
                  </a:srgbClr>
                </a:solidFill>
                <a:latin typeface="Calibri"/>
                <a:ea typeface="맑은 고딕"/>
                <a:cs typeface="Calibri"/>
              </a:rPr>
              <a:t>doesn’t</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win on their own.</a:t>
            </a:r>
            <a:endParaRPr lang="ko-KR" sz="2000"/>
          </a:p>
        </p:txBody>
      </p:sp>
      <p:sp>
        <p:nvSpPr>
          <p:cNvPr id="11" name="rv_point_1"/>
          <p:cNvSpPr txBox="1"/>
          <p:nvPr/>
        </p:nvSpPr>
        <p:spPr>
          <a:xfrm>
            <a:off x="457200" y="2135632"/>
            <a:ext cx="11274552" cy="331978"/>
          </a:xfrm>
          <a:prstGeom prst="rect">
            <a:avLst/>
          </a:prstGeom>
          <a:noFill/>
        </p:spPr>
        <p:txBody>
          <a:bodyPr wrap="square" lIns="228600" tIns="54864" rIns="228600" bIns="54864" anchor="t" rtlCol="0">
            <a:noAutofit/>
          </a:bodyPr>
          <a:lstStyle/>
          <a:p>
            <a:pPr algn="l">
              <a:lnSpc>
                <a:spcPts val="1750"/>
              </a:lnSpc>
              <a:spcBef>
                <a:spcPts val="0"/>
              </a:spcBef>
              <a:spcAft>
                <a:spcPts val="0"/>
              </a:spcAft>
              <a:buNone/>
            </a:pPr>
            <a:r>
              <a:rPr lang="ko-KR" altLang="en-US" sz="1400" b="1" dirty="0">
                <a:solidFill>
                  <a:srgbClr val="C00000"/>
                </a:solidFill>
                <a:latin typeface="맑은 고딕"/>
                <a:ea typeface="맑은 고딕"/>
                <a:cs typeface="맑은 고딕"/>
              </a:rPr>
              <a:t>포인트  </a:t>
            </a:r>
            <a:r>
              <a:rPr lang="ko-KR" altLang="en-US" sz="1400" b="0" dirty="0">
                <a:solidFill>
                  <a:srgbClr val="2F5597"/>
                </a:solidFill>
                <a:latin typeface="맑은 고딕"/>
                <a:ea typeface="맑은 고딕"/>
                <a:cs typeface="맑은 고딕"/>
              </a:rPr>
              <a:t>동사의 수 일치 (주어 players 복수) · 동사의 수 일치 (주어 they)</a:t>
            </a:r>
            <a:endParaRPr lang="ko-KR" sz="1400"/>
          </a:p>
        </p:txBody>
      </p:sp>
      <p:sp>
        <p:nvSpPr>
          <p:cNvPr id="12" name="item_card_2"/>
          <p:cNvSpPr/>
          <p:nvPr/>
        </p:nvSpPr>
        <p:spPr>
          <a:xfrm>
            <a:off x="457200" y="2577338"/>
            <a:ext cx="11274552" cy="1516634"/>
          </a:xfrm>
          <a:prstGeom prst="roundRect">
            <a:avLst>
              <a:gd name="adj" fmla="val 6000"/>
            </a:avLst>
          </a:prstGeom>
          <a:solidFill>
            <a:srgbClr val="F3F5F9"/>
          </a:solidFill>
          <a:ln w="12700">
            <a:solidFill>
              <a:srgbClr val="D9DFEA"/>
            </a:solidFill>
          </a:ln>
        </p:spPr>
        <p:txBody>
          <a:bodyPr rtlCol="0" anchor="ctr"/>
          <a:lstStyle/>
          <a:p>
            <a:pPr algn="ctr"/>
          </a:p>
        </p:txBody>
      </p:sp>
      <p:sp>
        <p:nvSpPr>
          <p:cNvPr id="13" name="kor_2"/>
          <p:cNvSpPr txBox="1"/>
          <p:nvPr/>
        </p:nvSpPr>
        <p:spPr>
          <a:xfrm>
            <a:off x="457200" y="2687066"/>
            <a:ext cx="11274552" cy="363728"/>
          </a:xfrm>
          <a:prstGeom prst="rect">
            <a:avLst/>
          </a:prstGeom>
          <a:noFill/>
        </p:spPr>
        <p:txBody>
          <a:bodyPr wrap="square" lIns="228600" tIns="54864" rIns="228600" bIns="54864" anchor="t" rtlCol="0">
            <a:noAutofit/>
          </a:bodyPr>
          <a:lstStyle/>
          <a:p>
            <a:pPr algn="l">
              <a:lnSpc>
                <a:spcPts val="2000"/>
              </a:lnSpc>
              <a:spcBef>
                <a:spcPts val="0"/>
              </a:spcBef>
              <a:spcAft>
                <a:spcPts val="0"/>
              </a:spcAft>
              <a:buNone/>
            </a:pPr>
            <a:r>
              <a:rPr lang="en-US" altLang="en-US" sz="1600" b="1" dirty="0">
                <a:solidFill>
                  <a:srgbClr val="1E2A5A"/>
                </a:solidFill>
                <a:latin typeface="Calibri"/>
                <a:ea typeface="맑은 고딕"/>
                <a:cs typeface="Calibri"/>
              </a:rPr>
              <a:t>2.  </a:t>
            </a:r>
            <a:r>
              <a:rPr lang="ko-KR" altLang="en-US" sz="1600" b="0" dirty="0">
                <a:solidFill>
                  <a:srgbClr val="3C4558"/>
                </a:solidFill>
                <a:latin typeface="맑은 고딕"/>
                <a:ea typeface="맑은 고딕"/>
                <a:cs typeface="맑은 고딕"/>
              </a:rPr>
              <a:t>선수들을 돕는 사람들이 있다. 이 사람들은 흔히 가려져 있어서 주목을 받지 못한다.</a:t>
            </a:r>
            <a:endParaRPr lang="ko-KR" sz="1600"/>
          </a:p>
        </p:txBody>
      </p:sp>
      <p:sp>
        <p:nvSpPr>
          <p:cNvPr id="14" name="eng_2"/>
          <p:cNvSpPr txBox="1"/>
          <p:nvPr/>
        </p:nvSpPr>
        <p:spPr>
          <a:xfrm>
            <a:off x="457200" y="2995930"/>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solidFill>
                <a:latin typeface="Calibri"/>
                <a:ea typeface="맑은 고딕"/>
                <a:cs typeface="Calibri"/>
              </a:rPr>
              <a:t>There are people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who</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which</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help the players. These people are often hidden and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doesn’t</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don’t</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get attention.</a:t>
            </a:r>
            <a:endParaRPr lang="ko-KR" sz="2000"/>
          </a:p>
        </p:txBody>
      </p:sp>
      <p:sp>
        <p:nvSpPr>
          <p:cNvPr id="15" name="rv_eng_2"/>
          <p:cNvSpPr txBox="1"/>
          <p:nvPr/>
        </p:nvSpPr>
        <p:spPr>
          <a:xfrm>
            <a:off x="457200" y="2995930"/>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alpha val="0"/>
                  </a:srgbClr>
                </a:solidFill>
                <a:latin typeface="Calibri"/>
                <a:ea typeface="맑은 고딕"/>
                <a:cs typeface="Calibri"/>
              </a:rPr>
              <a:t>There are people </a:t>
            </a:r>
            <a:r>
              <a:rPr lang="en-US" altLang="en-US" sz="2000" b="1" dirty="0">
                <a:solidFill>
                  <a:srgbClr val="C00000">
                    <a:alpha val="0"/>
                  </a:srgbClr>
                </a:solidFill>
                <a:latin typeface="Calibri"/>
                <a:ea typeface="맑은 고딕"/>
                <a:cs typeface="Calibri"/>
              </a:rPr>
              <a:t>[ </a:t>
            </a:r>
            <a:r>
              <a:rPr lang="en-US" altLang="en-US" sz="2000" b="1" dirty="0">
                <a:solidFill>
                  <a:srgbClr val="C00000"/>
                </a:solidFill>
                <a:latin typeface="Calibri"/>
                <a:ea typeface="맑은 고딕"/>
                <a:cs typeface="Calibri"/>
              </a:rPr>
              <a:t>who</a:t>
            </a:r>
            <a:r>
              <a:rPr lang="en-US" altLang="en-US" sz="2000" b="1" dirty="0">
                <a:solidFill>
                  <a:srgbClr val="C00000">
                    <a:alpha val="0"/>
                  </a:srgbClr>
                </a:solidFill>
                <a:latin typeface="Calibri"/>
                <a:ea typeface="맑은 고딕"/>
                <a:cs typeface="Calibri"/>
              </a:rPr>
              <a:t> / </a:t>
            </a:r>
            <a:r>
              <a:rPr lang="en-US" altLang="en-US" sz="2000" b="1" dirty="0">
                <a:solidFill>
                  <a:srgbClr val="C00000">
                    <a:alpha val="0"/>
                  </a:srgbClr>
                </a:solidFill>
                <a:latin typeface="Calibri"/>
                <a:ea typeface="맑은 고딕"/>
                <a:cs typeface="Calibri"/>
              </a:rPr>
              <a:t>which</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help the players. These people are often hidden and </a:t>
            </a:r>
            <a:r>
              <a:rPr lang="en-US" altLang="en-US" sz="2000" b="1" dirty="0">
                <a:solidFill>
                  <a:srgbClr val="C00000">
                    <a:alpha val="0"/>
                  </a:srgbClr>
                </a:solidFill>
                <a:latin typeface="Calibri"/>
                <a:ea typeface="맑은 고딕"/>
                <a:cs typeface="Calibri"/>
              </a:rPr>
              <a:t>[ </a:t>
            </a:r>
            <a:r>
              <a:rPr lang="en-US" altLang="en-US" sz="2000" b="1" dirty="0">
                <a:solidFill>
                  <a:srgbClr val="C00000">
                    <a:alpha val="0"/>
                  </a:srgbClr>
                </a:solidFill>
                <a:latin typeface="Calibri"/>
                <a:ea typeface="맑은 고딕"/>
                <a:cs typeface="Calibri"/>
              </a:rPr>
              <a:t>doesn’t</a:t>
            </a:r>
            <a:r>
              <a:rPr lang="en-US" altLang="en-US" sz="2000" b="1" dirty="0">
                <a:solidFill>
                  <a:srgbClr val="C00000">
                    <a:alpha val="0"/>
                  </a:srgbClr>
                </a:solidFill>
                <a:latin typeface="Calibri"/>
                <a:ea typeface="맑은 고딕"/>
                <a:cs typeface="Calibri"/>
              </a:rPr>
              <a:t> / </a:t>
            </a:r>
            <a:r>
              <a:rPr lang="en-US" altLang="en-US" sz="2000" b="1" dirty="0">
                <a:solidFill>
                  <a:srgbClr val="C00000"/>
                </a:solidFill>
                <a:latin typeface="Calibri"/>
                <a:ea typeface="맑은 고딕"/>
                <a:cs typeface="Calibri"/>
              </a:rPr>
              <a:t>don’t</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get attention.</a:t>
            </a:r>
            <a:endParaRPr lang="ko-KR" sz="2000"/>
          </a:p>
        </p:txBody>
      </p:sp>
      <p:sp>
        <p:nvSpPr>
          <p:cNvPr id="16" name="rv_point_2"/>
          <p:cNvSpPr txBox="1"/>
          <p:nvPr/>
        </p:nvSpPr>
        <p:spPr>
          <a:xfrm>
            <a:off x="457200" y="3761994"/>
            <a:ext cx="11274552" cy="331978"/>
          </a:xfrm>
          <a:prstGeom prst="rect">
            <a:avLst/>
          </a:prstGeom>
          <a:noFill/>
        </p:spPr>
        <p:txBody>
          <a:bodyPr wrap="square" lIns="228600" tIns="54864" rIns="228600" bIns="54864" anchor="t" rtlCol="0">
            <a:noAutofit/>
          </a:bodyPr>
          <a:lstStyle/>
          <a:p>
            <a:pPr algn="l">
              <a:lnSpc>
                <a:spcPts val="1750"/>
              </a:lnSpc>
              <a:spcBef>
                <a:spcPts val="0"/>
              </a:spcBef>
              <a:spcAft>
                <a:spcPts val="0"/>
              </a:spcAft>
              <a:buNone/>
            </a:pPr>
            <a:r>
              <a:rPr lang="ko-KR" altLang="en-US" sz="1400" b="1" dirty="0">
                <a:solidFill>
                  <a:srgbClr val="C00000"/>
                </a:solidFill>
                <a:latin typeface="맑은 고딕"/>
                <a:ea typeface="맑은 고딕"/>
                <a:cs typeface="맑은 고딕"/>
              </a:rPr>
              <a:t>포인트  </a:t>
            </a:r>
            <a:r>
              <a:rPr lang="ko-KR" altLang="en-US" sz="1400" b="0" dirty="0">
                <a:solidFill>
                  <a:srgbClr val="2F5597"/>
                </a:solidFill>
                <a:latin typeface="맑은 고딕"/>
                <a:ea typeface="맑은 고딕"/>
                <a:cs typeface="맑은 고딕"/>
              </a:rPr>
              <a:t>관계대명사 (선행사 people=사람) · 동사의 수 일치 (주어 These people)</a:t>
            </a:r>
            <a:endParaRPr lang="ko-KR" sz="1400"/>
          </a:p>
        </p:txBody>
      </p:sp>
      <p:sp>
        <p:nvSpPr>
          <p:cNvPr id="17" name="item_card_3"/>
          <p:cNvSpPr/>
          <p:nvPr/>
        </p:nvSpPr>
        <p:spPr>
          <a:xfrm>
            <a:off x="457200" y="4203700"/>
            <a:ext cx="11274552" cy="1516634"/>
          </a:xfrm>
          <a:prstGeom prst="roundRect">
            <a:avLst>
              <a:gd name="adj" fmla="val 6000"/>
            </a:avLst>
          </a:prstGeom>
          <a:solidFill>
            <a:srgbClr val="F3F5F9"/>
          </a:solidFill>
          <a:ln w="12700">
            <a:solidFill>
              <a:srgbClr val="D9DFEA"/>
            </a:solidFill>
          </a:ln>
        </p:spPr>
        <p:txBody>
          <a:bodyPr rtlCol="0" anchor="ctr"/>
          <a:lstStyle/>
          <a:p>
            <a:pPr algn="ctr"/>
          </a:p>
        </p:txBody>
      </p:sp>
      <p:sp>
        <p:nvSpPr>
          <p:cNvPr id="18" name="kor_3"/>
          <p:cNvSpPr txBox="1"/>
          <p:nvPr/>
        </p:nvSpPr>
        <p:spPr>
          <a:xfrm>
            <a:off x="457200" y="4313428"/>
            <a:ext cx="11274552" cy="363728"/>
          </a:xfrm>
          <a:prstGeom prst="rect">
            <a:avLst/>
          </a:prstGeom>
          <a:noFill/>
        </p:spPr>
        <p:txBody>
          <a:bodyPr wrap="square" lIns="228600" tIns="54864" rIns="228600" bIns="54864" anchor="t" rtlCol="0">
            <a:noAutofit/>
          </a:bodyPr>
          <a:lstStyle/>
          <a:p>
            <a:pPr algn="l">
              <a:lnSpc>
                <a:spcPts val="2000"/>
              </a:lnSpc>
              <a:spcBef>
                <a:spcPts val="0"/>
              </a:spcBef>
              <a:spcAft>
                <a:spcPts val="0"/>
              </a:spcAft>
              <a:buNone/>
            </a:pPr>
            <a:r>
              <a:rPr lang="en-US" altLang="en-US" sz="1600" b="1" dirty="0">
                <a:solidFill>
                  <a:srgbClr val="1E2A5A"/>
                </a:solidFill>
                <a:latin typeface="Calibri"/>
                <a:ea typeface="맑은 고딕"/>
                <a:cs typeface="Calibri"/>
              </a:rPr>
              <a:t>3.  </a:t>
            </a:r>
            <a:r>
              <a:rPr lang="ko-KR" altLang="en-US" sz="1600" b="0" dirty="0">
                <a:solidFill>
                  <a:srgbClr val="3C4558"/>
                </a:solidFill>
                <a:latin typeface="맑은 고딕"/>
                <a:ea typeface="맑은 고딕"/>
                <a:cs typeface="맑은 고딕"/>
              </a:rPr>
              <a:t>하지만 그들도 선수들만큼 중요하다. 몇 가지 예를 살펴보자.</a:t>
            </a:r>
            <a:endParaRPr lang="ko-KR" sz="1600"/>
          </a:p>
        </p:txBody>
      </p:sp>
      <p:sp>
        <p:nvSpPr>
          <p:cNvPr id="19" name="eng_3"/>
          <p:cNvSpPr txBox="1"/>
          <p:nvPr/>
        </p:nvSpPr>
        <p:spPr>
          <a:xfrm>
            <a:off x="457200" y="4622292"/>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solidFill>
                <a:latin typeface="Calibri"/>
                <a:ea typeface="맑은 고딕"/>
                <a:cs typeface="Calibri"/>
              </a:rPr>
              <a:t>However, they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is</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are</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as important as the players. Here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are</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is</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some examples.</a:t>
            </a:r>
            <a:endParaRPr lang="ko-KR" sz="2000"/>
          </a:p>
        </p:txBody>
      </p:sp>
      <p:sp>
        <p:nvSpPr>
          <p:cNvPr id="20" name="rv_eng_3"/>
          <p:cNvSpPr txBox="1"/>
          <p:nvPr/>
        </p:nvSpPr>
        <p:spPr>
          <a:xfrm>
            <a:off x="457200" y="4622292"/>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alpha val="0"/>
                  </a:srgbClr>
                </a:solidFill>
                <a:latin typeface="Calibri"/>
                <a:ea typeface="맑은 고딕"/>
                <a:cs typeface="Calibri"/>
              </a:rPr>
              <a:t>However, they </a:t>
            </a:r>
            <a:r>
              <a:rPr lang="en-US" altLang="en-US" sz="2000" b="1" dirty="0">
                <a:solidFill>
                  <a:srgbClr val="C00000">
                    <a:alpha val="0"/>
                  </a:srgbClr>
                </a:solidFill>
                <a:latin typeface="Calibri"/>
                <a:ea typeface="맑은 고딕"/>
                <a:cs typeface="Calibri"/>
              </a:rPr>
              <a:t>[ </a:t>
            </a:r>
            <a:r>
              <a:rPr lang="en-US" altLang="en-US" sz="2000" b="1" dirty="0">
                <a:solidFill>
                  <a:srgbClr val="C00000">
                    <a:alpha val="0"/>
                  </a:srgbClr>
                </a:solidFill>
                <a:latin typeface="Calibri"/>
                <a:ea typeface="맑은 고딕"/>
                <a:cs typeface="Calibri"/>
              </a:rPr>
              <a:t>is</a:t>
            </a:r>
            <a:r>
              <a:rPr lang="en-US" altLang="en-US" sz="2000" b="1" dirty="0">
                <a:solidFill>
                  <a:srgbClr val="C00000">
                    <a:alpha val="0"/>
                  </a:srgbClr>
                </a:solidFill>
                <a:latin typeface="Calibri"/>
                <a:ea typeface="맑은 고딕"/>
                <a:cs typeface="Calibri"/>
              </a:rPr>
              <a:t> / </a:t>
            </a:r>
            <a:r>
              <a:rPr lang="en-US" altLang="en-US" sz="2000" b="1" dirty="0">
                <a:solidFill>
                  <a:srgbClr val="C00000"/>
                </a:solidFill>
                <a:latin typeface="Calibri"/>
                <a:ea typeface="맑은 고딕"/>
                <a:cs typeface="Calibri"/>
              </a:rPr>
              <a:t>are</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as important as the players. Here </a:t>
            </a:r>
            <a:r>
              <a:rPr lang="en-US" altLang="en-US" sz="2000" b="1" dirty="0">
                <a:solidFill>
                  <a:srgbClr val="C00000">
                    <a:alpha val="0"/>
                  </a:srgbClr>
                </a:solidFill>
                <a:latin typeface="Calibri"/>
                <a:ea typeface="맑은 고딕"/>
                <a:cs typeface="Calibri"/>
              </a:rPr>
              <a:t>[ </a:t>
            </a:r>
            <a:r>
              <a:rPr lang="en-US" altLang="en-US" sz="2000" b="1" dirty="0">
                <a:solidFill>
                  <a:srgbClr val="C00000"/>
                </a:solidFill>
                <a:latin typeface="Calibri"/>
                <a:ea typeface="맑은 고딕"/>
                <a:cs typeface="Calibri"/>
              </a:rPr>
              <a:t>are</a:t>
            </a:r>
            <a:r>
              <a:rPr lang="en-US" altLang="en-US" sz="2000" b="1" dirty="0">
                <a:solidFill>
                  <a:srgbClr val="C00000">
                    <a:alpha val="0"/>
                  </a:srgbClr>
                </a:solidFill>
                <a:latin typeface="Calibri"/>
                <a:ea typeface="맑은 고딕"/>
                <a:cs typeface="Calibri"/>
              </a:rPr>
              <a:t> / </a:t>
            </a:r>
            <a:r>
              <a:rPr lang="en-US" altLang="en-US" sz="2000" b="1" dirty="0">
                <a:solidFill>
                  <a:srgbClr val="C00000">
                    <a:alpha val="0"/>
                  </a:srgbClr>
                </a:solidFill>
                <a:latin typeface="Calibri"/>
                <a:ea typeface="맑은 고딕"/>
                <a:cs typeface="Calibri"/>
              </a:rPr>
              <a:t>is</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some examples.</a:t>
            </a:r>
            <a:endParaRPr lang="ko-KR" sz="2000"/>
          </a:p>
        </p:txBody>
      </p:sp>
      <p:sp>
        <p:nvSpPr>
          <p:cNvPr id="21" name="rv_point_3"/>
          <p:cNvSpPr txBox="1"/>
          <p:nvPr/>
        </p:nvSpPr>
        <p:spPr>
          <a:xfrm>
            <a:off x="457200" y="5388356"/>
            <a:ext cx="11274552" cy="331978"/>
          </a:xfrm>
          <a:prstGeom prst="rect">
            <a:avLst/>
          </a:prstGeom>
          <a:noFill/>
        </p:spPr>
        <p:txBody>
          <a:bodyPr wrap="square" lIns="228600" tIns="54864" rIns="228600" bIns="54864" anchor="t" rtlCol="0">
            <a:noAutofit/>
          </a:bodyPr>
          <a:lstStyle/>
          <a:p>
            <a:pPr algn="l">
              <a:lnSpc>
                <a:spcPts val="1750"/>
              </a:lnSpc>
              <a:spcBef>
                <a:spcPts val="0"/>
              </a:spcBef>
              <a:spcAft>
                <a:spcPts val="0"/>
              </a:spcAft>
              <a:buNone/>
            </a:pPr>
            <a:r>
              <a:rPr lang="ko-KR" altLang="en-US" sz="1400" b="1" dirty="0">
                <a:solidFill>
                  <a:srgbClr val="C00000"/>
                </a:solidFill>
                <a:latin typeface="맑은 고딕"/>
                <a:ea typeface="맑은 고딕"/>
                <a:cs typeface="맑은 고딕"/>
              </a:rPr>
              <a:t>포인트  </a:t>
            </a:r>
            <a:r>
              <a:rPr lang="ko-KR" altLang="en-US" sz="1400" b="0" dirty="0">
                <a:solidFill>
                  <a:srgbClr val="2F5597"/>
                </a:solidFill>
                <a:latin typeface="맑은 고딕"/>
                <a:ea typeface="맑은 고딕"/>
                <a:cs typeface="맑은 고딕"/>
              </a:rPr>
              <a:t>동사의 수 일치 (주어 they) · 동사의 수 일치 (Here + 동사 + 복수 주어 examples)</a:t>
            </a:r>
            <a:endParaRPr lang="ko-KR" sz="1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25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250"/>
                                        <p:tgtEl>
                                          <p:spTgt spid="1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250"/>
                                        <p:tgtEl>
                                          <p:spTgt spid="1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fade">
                                      <p:cBhvr>
                                        <p:cTn id="16" dur="250"/>
                                        <p:tgtEl>
                                          <p:spTgt spid="1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250"/>
                                        <p:tgtEl>
                                          <p:spTgt spid="2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fade">
                                      <p:cBhvr>
                                        <p:cTn id="22" dur="25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5" grpId="0" animBg="1"/>
      <p:bldP spid="16" grpId="0" animBg="1"/>
      <p:bldP spid="20" grpId="0" animBg="1"/>
      <p:bldP spid="21" grpId="0" animBg="1"/>
    </p:bldLst>
  </p:timing>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8000"/>
            </a:avLst>
          </a:prstGeom>
          <a:solidFill>
            <a:srgbClr val="1E2A5A"/>
          </a:solidFill>
          <a:ln>
            <a:noFill/>
          </a:ln>
        </p:spPr>
        <p:txBody>
          <a:bodyPr wrap="square" lIns="45720" tIns="18288" rIns="45720" bIns="18288" anchor="ctr" rtlCol="0">
            <a:noAutofit/>
          </a:bodyPr>
          <a:lstStyle/>
          <a:p>
            <a:pPr algn="ctr">
              <a:lnSpc>
                <a:spcPts val="2000"/>
              </a:lnSpc>
              <a:spcBef>
                <a:spcPts val="0"/>
              </a:spcBef>
              <a:spcAft>
                <a:spcPts val="0"/>
              </a:spcAft>
              <a:buNone/>
            </a:pPr>
            <a:r>
              <a:rPr lang="en-US" altLang="en-US" sz="1700" b="1" dirty="0">
                <a:solidFill>
                  <a:srgbClr val="FFFFFF"/>
                </a:solidFill>
                <a:latin typeface="Calibri"/>
                <a:ea typeface="맑은 고딕"/>
                <a:cs typeface="Calibri"/>
              </a:rPr>
              <a:t>L5</a:t>
            </a:r>
            <a:endParaRPr lang="ko-KR" sz="1700"/>
          </a:p>
        </p:txBody>
      </p:sp>
      <p:sp>
        <p:nvSpPr>
          <p:cNvPr id="3" name="hdr_chip"/>
          <p:cNvSpPr/>
          <p:nvPr/>
        </p:nvSpPr>
        <p:spPr>
          <a:xfrm>
            <a:off x="1755648" y="274320"/>
            <a:ext cx="1371600" cy="493776"/>
          </a:xfrm>
          <a:prstGeom prst="roundRect">
            <a:avLst>
              <a:gd name="adj" fmla="val 8000"/>
            </a:avLst>
          </a:prstGeom>
          <a:solidFill>
            <a:srgbClr val="E6EAF4"/>
          </a:solidFill>
          <a:ln>
            <a:noFill/>
          </a:ln>
        </p:spPr>
        <p:txBody>
          <a:bodyPr wrap="square" lIns="27432" tIns="18288" rIns="27432" bIns="18288" anchor="ctr" rtlCol="0">
            <a:noAutofit/>
          </a:bodyPr>
          <a:lstStyle/>
          <a:p>
            <a:pPr algn="ctr">
              <a:lnSpc>
                <a:spcPts val="1700"/>
              </a:lnSpc>
              <a:spcBef>
                <a:spcPts val="0"/>
              </a:spcBef>
              <a:spcAft>
                <a:spcPts val="0"/>
              </a:spcAft>
              <a:buNone/>
            </a:pPr>
            <a:r>
              <a:rPr lang="ko-KR" altLang="en-US" sz="1400" b="1" dirty="0">
                <a:solidFill>
                  <a:srgbClr val="1E2A5A"/>
                </a:solidFill>
                <a:latin typeface="맑은 고딕"/>
                <a:ea typeface="맑은 고딕"/>
                <a:cs typeface="맑은 고딕"/>
              </a:rPr>
              <a:t>PART 5 · 2</a:t>
            </a:r>
            <a:endParaRPr lang="ko-KR" sz="1400"/>
          </a:p>
        </p:txBody>
      </p:sp>
      <p:sp>
        <p:nvSpPr>
          <p:cNvPr id="4" name="hdr_q"/>
          <p:cNvSpPr txBox="1"/>
          <p:nvPr/>
        </p:nvSpPr>
        <p:spPr>
          <a:xfrm>
            <a:off x="3246120" y="246888"/>
            <a:ext cx="8485632" cy="548640"/>
          </a:xfrm>
          <a:prstGeom prst="rect">
            <a:avLst/>
          </a:prstGeom>
          <a:noFill/>
        </p:spPr>
        <p:txBody>
          <a:bodyPr wrap="square" lIns="109728" tIns="54864" rIns="109728" bIns="54864" anchor="ctr" rtlCol="0">
            <a:noAutofit/>
          </a:bodyPr>
          <a:lstStyle/>
          <a:p>
            <a:pPr algn="l">
              <a:lnSpc>
                <a:spcPts val="2400"/>
              </a:lnSpc>
              <a:spcBef>
                <a:spcPts val="0"/>
              </a:spcBef>
              <a:spcAft>
                <a:spcPts val="0"/>
              </a:spcAft>
              <a:buNone/>
            </a:pPr>
            <a:r>
              <a:rPr lang="ko-KR" altLang="en-US" sz="2000" b="1" dirty="0">
                <a:solidFill>
                  <a:srgbClr val="1F2328"/>
                </a:solidFill>
                <a:latin typeface="맑은 고딕"/>
                <a:ea typeface="맑은 고딕"/>
                <a:cs typeface="맑은 고딕"/>
              </a:rPr>
              <a:t>[  ] 안에서 어법상 알맞은 것을 고르시오.</a:t>
            </a:r>
            <a:endParaRPr lang="ko-KR" sz="2000"/>
          </a:p>
        </p:txBody>
      </p:sp>
      <p:sp>
        <p:nvSpPr>
          <p:cNvPr id="5" name="ftr_exam"/>
          <p:cNvSpPr txBox="1"/>
          <p:nvPr/>
        </p:nvSpPr>
        <p:spPr>
          <a:xfrm>
            <a:off x="457200" y="6519672"/>
            <a:ext cx="5669280" cy="256032"/>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5</a:t>
            </a:r>
            <a:endParaRPr lang="ko-KR" sz="1000"/>
          </a:p>
        </p:txBody>
      </p:sp>
      <p:sp>
        <p:nvSpPr>
          <p:cNvPr id="6" name="ftr_hint"/>
          <p:cNvSpPr txBox="1"/>
          <p:nvPr/>
        </p:nvSpPr>
        <p:spPr>
          <a:xfrm>
            <a:off x="5971032" y="6519672"/>
            <a:ext cx="5760720" cy="256032"/>
          </a:xfrm>
          <a:prstGeom prst="rect">
            <a:avLst/>
          </a:prstGeom>
          <a:noFill/>
        </p:spPr>
        <p:txBody>
          <a:bodyPr wrap="square" lIns="0" tIns="0" rIns="0" bIns="0" anchor="t" rtlCol="0">
            <a:noAutofit/>
          </a:bodyPr>
          <a:lstStyle/>
          <a:p>
            <a:pPr algn="r">
              <a:lnSpc>
                <a:spcPts val="1200"/>
              </a:lnSpc>
              <a:spcBef>
                <a:spcPts val="0"/>
              </a:spcBef>
              <a:spcAft>
                <a:spcPts val="0"/>
              </a:spcAft>
              <a:buNone/>
            </a:pPr>
            <a:r>
              <a:rPr lang="ko-KR" altLang="en-US" sz="1000" b="0" dirty="0">
                <a:solidFill>
                  <a:srgbClr val="7A808C"/>
                </a:solidFill>
                <a:latin typeface="맑은 고딕"/>
                <a:ea typeface="맑은 고딕"/>
                <a:cs typeface="맑은 고딕"/>
              </a:rPr>
              <a:t>클릭 ① 정답(빨간색) + 문법 포인트 공개</a:t>
            </a:r>
            <a:endParaRPr lang="ko-KR" sz="1000"/>
          </a:p>
        </p:txBody>
      </p:sp>
      <p:sp>
        <p:nvSpPr>
          <p:cNvPr id="7" name="item_card_1"/>
          <p:cNvSpPr/>
          <p:nvPr/>
        </p:nvSpPr>
        <p:spPr>
          <a:xfrm>
            <a:off x="457200" y="950976"/>
            <a:ext cx="11274552" cy="1516634"/>
          </a:xfrm>
          <a:prstGeom prst="roundRect">
            <a:avLst>
              <a:gd name="adj" fmla="val 6000"/>
            </a:avLst>
          </a:prstGeom>
          <a:solidFill>
            <a:srgbClr val="F3F5F9"/>
          </a:solidFill>
          <a:ln w="12700">
            <a:solidFill>
              <a:srgbClr val="D9DFEA"/>
            </a:solidFill>
          </a:ln>
        </p:spPr>
        <p:txBody>
          <a:bodyPr rtlCol="0" anchor="ctr"/>
          <a:lstStyle/>
          <a:p>
            <a:pPr algn="ctr"/>
          </a:p>
        </p:txBody>
      </p:sp>
      <p:sp>
        <p:nvSpPr>
          <p:cNvPr id="8" name="kor_1"/>
          <p:cNvSpPr txBox="1"/>
          <p:nvPr/>
        </p:nvSpPr>
        <p:spPr>
          <a:xfrm>
            <a:off x="457200" y="1060704"/>
            <a:ext cx="11274552" cy="363728"/>
          </a:xfrm>
          <a:prstGeom prst="rect">
            <a:avLst/>
          </a:prstGeom>
          <a:noFill/>
        </p:spPr>
        <p:txBody>
          <a:bodyPr wrap="square" lIns="228600" tIns="54864" rIns="228600" bIns="54864" anchor="t" rtlCol="0">
            <a:noAutofit/>
          </a:bodyPr>
          <a:lstStyle/>
          <a:p>
            <a:pPr algn="l">
              <a:lnSpc>
                <a:spcPts val="2000"/>
              </a:lnSpc>
              <a:spcBef>
                <a:spcPts val="0"/>
              </a:spcBef>
              <a:spcAft>
                <a:spcPts val="0"/>
              </a:spcAft>
              <a:buNone/>
            </a:pPr>
            <a:r>
              <a:rPr lang="en-US" altLang="en-US" sz="1600" b="1" dirty="0">
                <a:solidFill>
                  <a:srgbClr val="1E2A5A"/>
                </a:solidFill>
                <a:latin typeface="Calibri"/>
                <a:ea typeface="맑은 고딕"/>
                <a:cs typeface="Calibri"/>
              </a:rPr>
              <a:t>4.  </a:t>
            </a:r>
            <a:r>
              <a:rPr lang="ko-KR" altLang="en-US" sz="1600" b="0" dirty="0">
                <a:solidFill>
                  <a:srgbClr val="3C4558"/>
                </a:solidFill>
                <a:latin typeface="맑은 고딕"/>
                <a:ea typeface="맑은 고딕"/>
                <a:cs typeface="맑은 고딕"/>
              </a:rPr>
              <a:t>페이서는 마라톤에서 다른 주자들과 함께 달리며 그들을 이끈다.</a:t>
            </a:r>
            <a:endParaRPr lang="ko-KR" sz="1600"/>
          </a:p>
        </p:txBody>
      </p:sp>
      <p:sp>
        <p:nvSpPr>
          <p:cNvPr id="9" name="eng_1"/>
          <p:cNvSpPr txBox="1"/>
          <p:nvPr/>
        </p:nvSpPr>
        <p:spPr>
          <a:xfrm>
            <a:off x="457200" y="1369568"/>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solidFill>
                <a:latin typeface="Calibri"/>
                <a:ea typeface="맑은 고딕"/>
                <a:cs typeface="Calibri"/>
              </a:rPr>
              <a:t>Pacers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run</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runs</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with other runners and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leads</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lead</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them in a marathon.</a:t>
            </a:r>
            <a:endParaRPr lang="ko-KR" sz="2000"/>
          </a:p>
        </p:txBody>
      </p:sp>
      <p:sp>
        <p:nvSpPr>
          <p:cNvPr id="10" name="rv_eng_1"/>
          <p:cNvSpPr txBox="1"/>
          <p:nvPr/>
        </p:nvSpPr>
        <p:spPr>
          <a:xfrm>
            <a:off x="457200" y="1369568"/>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alpha val="0"/>
                  </a:srgbClr>
                </a:solidFill>
                <a:latin typeface="Calibri"/>
                <a:ea typeface="맑은 고딕"/>
                <a:cs typeface="Calibri"/>
              </a:rPr>
              <a:t>Pacers </a:t>
            </a:r>
            <a:r>
              <a:rPr lang="en-US" altLang="en-US" sz="2000" b="1" dirty="0">
                <a:solidFill>
                  <a:srgbClr val="C00000">
                    <a:alpha val="0"/>
                  </a:srgbClr>
                </a:solidFill>
                <a:latin typeface="Calibri"/>
                <a:ea typeface="맑은 고딕"/>
                <a:cs typeface="Calibri"/>
              </a:rPr>
              <a:t>[ </a:t>
            </a:r>
            <a:r>
              <a:rPr lang="en-US" altLang="en-US" sz="2000" b="1" dirty="0">
                <a:solidFill>
                  <a:srgbClr val="C00000"/>
                </a:solidFill>
                <a:latin typeface="Calibri"/>
                <a:ea typeface="맑은 고딕"/>
                <a:cs typeface="Calibri"/>
              </a:rPr>
              <a:t>run</a:t>
            </a:r>
            <a:r>
              <a:rPr lang="en-US" altLang="en-US" sz="2000" b="1" dirty="0">
                <a:solidFill>
                  <a:srgbClr val="C00000">
                    <a:alpha val="0"/>
                  </a:srgbClr>
                </a:solidFill>
                <a:latin typeface="Calibri"/>
                <a:ea typeface="맑은 고딕"/>
                <a:cs typeface="Calibri"/>
              </a:rPr>
              <a:t> / </a:t>
            </a:r>
            <a:r>
              <a:rPr lang="en-US" altLang="en-US" sz="2000" b="1" dirty="0">
                <a:solidFill>
                  <a:srgbClr val="C00000">
                    <a:alpha val="0"/>
                  </a:srgbClr>
                </a:solidFill>
                <a:latin typeface="Calibri"/>
                <a:ea typeface="맑은 고딕"/>
                <a:cs typeface="Calibri"/>
              </a:rPr>
              <a:t>runs</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with other runners and </a:t>
            </a:r>
            <a:r>
              <a:rPr lang="en-US" altLang="en-US" sz="2000" b="1" dirty="0">
                <a:solidFill>
                  <a:srgbClr val="C00000">
                    <a:alpha val="0"/>
                  </a:srgbClr>
                </a:solidFill>
                <a:latin typeface="Calibri"/>
                <a:ea typeface="맑은 고딕"/>
                <a:cs typeface="Calibri"/>
              </a:rPr>
              <a:t>[ </a:t>
            </a:r>
            <a:r>
              <a:rPr lang="en-US" altLang="en-US" sz="2000" b="1" dirty="0">
                <a:solidFill>
                  <a:srgbClr val="C00000">
                    <a:alpha val="0"/>
                  </a:srgbClr>
                </a:solidFill>
                <a:latin typeface="Calibri"/>
                <a:ea typeface="맑은 고딕"/>
                <a:cs typeface="Calibri"/>
              </a:rPr>
              <a:t>leads</a:t>
            </a:r>
            <a:r>
              <a:rPr lang="en-US" altLang="en-US" sz="2000" b="1" dirty="0">
                <a:solidFill>
                  <a:srgbClr val="C00000">
                    <a:alpha val="0"/>
                  </a:srgbClr>
                </a:solidFill>
                <a:latin typeface="Calibri"/>
                <a:ea typeface="맑은 고딕"/>
                <a:cs typeface="Calibri"/>
              </a:rPr>
              <a:t> / </a:t>
            </a:r>
            <a:r>
              <a:rPr lang="en-US" altLang="en-US" sz="2000" b="1" dirty="0">
                <a:solidFill>
                  <a:srgbClr val="C00000"/>
                </a:solidFill>
                <a:latin typeface="Calibri"/>
                <a:ea typeface="맑은 고딕"/>
                <a:cs typeface="Calibri"/>
              </a:rPr>
              <a:t>lead</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them in a marathon.</a:t>
            </a:r>
            <a:endParaRPr lang="ko-KR" sz="2000"/>
          </a:p>
        </p:txBody>
      </p:sp>
      <p:sp>
        <p:nvSpPr>
          <p:cNvPr id="11" name="rv_point_1"/>
          <p:cNvSpPr txBox="1"/>
          <p:nvPr/>
        </p:nvSpPr>
        <p:spPr>
          <a:xfrm>
            <a:off x="457200" y="2135632"/>
            <a:ext cx="11274552" cy="331978"/>
          </a:xfrm>
          <a:prstGeom prst="rect">
            <a:avLst/>
          </a:prstGeom>
          <a:noFill/>
        </p:spPr>
        <p:txBody>
          <a:bodyPr wrap="square" lIns="228600" tIns="54864" rIns="228600" bIns="54864" anchor="t" rtlCol="0">
            <a:noAutofit/>
          </a:bodyPr>
          <a:lstStyle/>
          <a:p>
            <a:pPr algn="l">
              <a:lnSpc>
                <a:spcPts val="1750"/>
              </a:lnSpc>
              <a:spcBef>
                <a:spcPts val="0"/>
              </a:spcBef>
              <a:spcAft>
                <a:spcPts val="0"/>
              </a:spcAft>
              <a:buNone/>
            </a:pPr>
            <a:r>
              <a:rPr lang="ko-KR" altLang="en-US" sz="1400" b="1" dirty="0">
                <a:solidFill>
                  <a:srgbClr val="C00000"/>
                </a:solidFill>
                <a:latin typeface="맑은 고딕"/>
                <a:ea typeface="맑은 고딕"/>
                <a:cs typeface="맑은 고딕"/>
              </a:rPr>
              <a:t>포인트  </a:t>
            </a:r>
            <a:r>
              <a:rPr lang="ko-KR" altLang="en-US" sz="1400" b="0" dirty="0">
                <a:solidFill>
                  <a:srgbClr val="2F5597"/>
                </a:solidFill>
                <a:latin typeface="맑은 고딕"/>
                <a:ea typeface="맑은 고딕"/>
                <a:cs typeface="맑은 고딕"/>
              </a:rPr>
              <a:t>동사의 수 일치 (주어 Pacers 복수) · 동사의 수 일치 (run과 병렬, 주어 Pacers)</a:t>
            </a:r>
            <a:endParaRPr lang="ko-KR" sz="1400"/>
          </a:p>
        </p:txBody>
      </p:sp>
      <p:sp>
        <p:nvSpPr>
          <p:cNvPr id="12" name="item_card_2"/>
          <p:cNvSpPr/>
          <p:nvPr/>
        </p:nvSpPr>
        <p:spPr>
          <a:xfrm>
            <a:off x="457200" y="2577338"/>
            <a:ext cx="11274552" cy="2126234"/>
          </a:xfrm>
          <a:prstGeom prst="roundRect">
            <a:avLst>
              <a:gd name="adj" fmla="val 6000"/>
            </a:avLst>
          </a:prstGeom>
          <a:solidFill>
            <a:srgbClr val="F3F5F9"/>
          </a:solidFill>
          <a:ln w="12700">
            <a:solidFill>
              <a:srgbClr val="D9DFEA"/>
            </a:solidFill>
          </a:ln>
        </p:spPr>
        <p:txBody>
          <a:bodyPr rtlCol="0" anchor="ctr"/>
          <a:lstStyle/>
          <a:p>
            <a:pPr algn="ctr"/>
          </a:p>
        </p:txBody>
      </p:sp>
      <p:sp>
        <p:nvSpPr>
          <p:cNvPr id="13" name="kor_2"/>
          <p:cNvSpPr txBox="1"/>
          <p:nvPr/>
        </p:nvSpPr>
        <p:spPr>
          <a:xfrm>
            <a:off x="457200" y="2687066"/>
            <a:ext cx="11274552" cy="617728"/>
          </a:xfrm>
          <a:prstGeom prst="rect">
            <a:avLst/>
          </a:prstGeom>
          <a:noFill/>
        </p:spPr>
        <p:txBody>
          <a:bodyPr wrap="square" lIns="228600" tIns="54864" rIns="228600" bIns="54864" anchor="t" rtlCol="0">
            <a:noAutofit/>
          </a:bodyPr>
          <a:lstStyle/>
          <a:p>
            <a:pPr algn="l">
              <a:lnSpc>
                <a:spcPts val="2000"/>
              </a:lnSpc>
              <a:spcBef>
                <a:spcPts val="0"/>
              </a:spcBef>
              <a:spcAft>
                <a:spcPts val="0"/>
              </a:spcAft>
              <a:buNone/>
            </a:pPr>
            <a:r>
              <a:rPr lang="en-US" altLang="en-US" sz="1600" b="1" dirty="0">
                <a:solidFill>
                  <a:srgbClr val="1E2A5A"/>
                </a:solidFill>
                <a:latin typeface="Calibri"/>
                <a:ea typeface="맑은 고딕"/>
                <a:cs typeface="Calibri"/>
              </a:rPr>
              <a:t>5.  </a:t>
            </a:r>
            <a:r>
              <a:rPr lang="ko-KR" altLang="en-US" sz="1600" b="0" dirty="0">
                <a:solidFill>
                  <a:srgbClr val="3C4558"/>
                </a:solidFill>
                <a:latin typeface="맑은 고딕"/>
                <a:ea typeface="맑은 고딕"/>
                <a:cs typeface="맑은 고딕"/>
              </a:rPr>
              <a:t>페이서는 경험 많은 주자이고, 그들의 임무는 다른 주자들이 경기를 더 잘 운영하도록 돕는 것이다. 한 경기에 페이서가 여러 명 있을 수 있다.</a:t>
            </a:r>
            <a:endParaRPr lang="ko-KR" sz="1600"/>
          </a:p>
        </p:txBody>
      </p:sp>
      <p:sp>
        <p:nvSpPr>
          <p:cNvPr id="14" name="eng_2"/>
          <p:cNvSpPr txBox="1"/>
          <p:nvPr/>
        </p:nvSpPr>
        <p:spPr>
          <a:xfrm>
            <a:off x="457200" y="3249930"/>
            <a:ext cx="11274552" cy="11765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solidFill>
                <a:latin typeface="Calibri"/>
                <a:ea typeface="맑은 고딕"/>
                <a:cs typeface="Calibri"/>
              </a:rPr>
              <a:t>Pacers are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experiencing</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experienced</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runners, and their job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is</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are</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to help other runners manage their race better. There can be several pacers in a race.</a:t>
            </a:r>
            <a:endParaRPr lang="ko-KR" sz="2000"/>
          </a:p>
        </p:txBody>
      </p:sp>
      <p:sp>
        <p:nvSpPr>
          <p:cNvPr id="15" name="rv_eng_2"/>
          <p:cNvSpPr txBox="1"/>
          <p:nvPr/>
        </p:nvSpPr>
        <p:spPr>
          <a:xfrm>
            <a:off x="457200" y="3249930"/>
            <a:ext cx="11274552" cy="11765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alpha val="0"/>
                  </a:srgbClr>
                </a:solidFill>
                <a:latin typeface="Calibri"/>
                <a:ea typeface="맑은 고딕"/>
                <a:cs typeface="Calibri"/>
              </a:rPr>
              <a:t>Pacers are </a:t>
            </a:r>
            <a:r>
              <a:rPr lang="en-US" altLang="en-US" sz="2000" b="1" dirty="0">
                <a:solidFill>
                  <a:srgbClr val="C00000">
                    <a:alpha val="0"/>
                  </a:srgbClr>
                </a:solidFill>
                <a:latin typeface="Calibri"/>
                <a:ea typeface="맑은 고딕"/>
                <a:cs typeface="Calibri"/>
              </a:rPr>
              <a:t>[ </a:t>
            </a:r>
            <a:r>
              <a:rPr lang="en-US" altLang="en-US" sz="2000" b="1" dirty="0">
                <a:solidFill>
                  <a:srgbClr val="C00000">
                    <a:alpha val="0"/>
                  </a:srgbClr>
                </a:solidFill>
                <a:latin typeface="Calibri"/>
                <a:ea typeface="맑은 고딕"/>
                <a:cs typeface="Calibri"/>
              </a:rPr>
              <a:t>experiencing</a:t>
            </a:r>
            <a:r>
              <a:rPr lang="en-US" altLang="en-US" sz="2000" b="1" dirty="0">
                <a:solidFill>
                  <a:srgbClr val="C00000">
                    <a:alpha val="0"/>
                  </a:srgbClr>
                </a:solidFill>
                <a:latin typeface="Calibri"/>
                <a:ea typeface="맑은 고딕"/>
                <a:cs typeface="Calibri"/>
              </a:rPr>
              <a:t> / </a:t>
            </a:r>
            <a:r>
              <a:rPr lang="en-US" altLang="en-US" sz="2000" b="1" dirty="0">
                <a:solidFill>
                  <a:srgbClr val="C00000"/>
                </a:solidFill>
                <a:latin typeface="Calibri"/>
                <a:ea typeface="맑은 고딕"/>
                <a:cs typeface="Calibri"/>
              </a:rPr>
              <a:t>experienced</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runners, and their job </a:t>
            </a:r>
            <a:r>
              <a:rPr lang="en-US" altLang="en-US" sz="2000" b="1" dirty="0">
                <a:solidFill>
                  <a:srgbClr val="C00000">
                    <a:alpha val="0"/>
                  </a:srgbClr>
                </a:solidFill>
                <a:latin typeface="Calibri"/>
                <a:ea typeface="맑은 고딕"/>
                <a:cs typeface="Calibri"/>
              </a:rPr>
              <a:t>[ </a:t>
            </a:r>
            <a:r>
              <a:rPr lang="en-US" altLang="en-US" sz="2000" b="1" dirty="0">
                <a:solidFill>
                  <a:srgbClr val="C00000"/>
                </a:solidFill>
                <a:latin typeface="Calibri"/>
                <a:ea typeface="맑은 고딕"/>
                <a:cs typeface="Calibri"/>
              </a:rPr>
              <a:t>is</a:t>
            </a:r>
            <a:r>
              <a:rPr lang="en-US" altLang="en-US" sz="2000" b="1" dirty="0">
                <a:solidFill>
                  <a:srgbClr val="C00000">
                    <a:alpha val="0"/>
                  </a:srgbClr>
                </a:solidFill>
                <a:latin typeface="Calibri"/>
                <a:ea typeface="맑은 고딕"/>
                <a:cs typeface="Calibri"/>
              </a:rPr>
              <a:t> / </a:t>
            </a:r>
            <a:r>
              <a:rPr lang="en-US" altLang="en-US" sz="2000" b="1" dirty="0">
                <a:solidFill>
                  <a:srgbClr val="C00000">
                    <a:alpha val="0"/>
                  </a:srgbClr>
                </a:solidFill>
                <a:latin typeface="Calibri"/>
                <a:ea typeface="맑은 고딕"/>
                <a:cs typeface="Calibri"/>
              </a:rPr>
              <a:t>are</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to help other runners manage their race better. There can be several pacers in a race.</a:t>
            </a:r>
            <a:endParaRPr lang="ko-KR" sz="2000"/>
          </a:p>
        </p:txBody>
      </p:sp>
      <p:sp>
        <p:nvSpPr>
          <p:cNvPr id="16" name="rv_point_2"/>
          <p:cNvSpPr txBox="1"/>
          <p:nvPr/>
        </p:nvSpPr>
        <p:spPr>
          <a:xfrm>
            <a:off x="457200" y="4371594"/>
            <a:ext cx="11274552" cy="331978"/>
          </a:xfrm>
          <a:prstGeom prst="rect">
            <a:avLst/>
          </a:prstGeom>
          <a:noFill/>
        </p:spPr>
        <p:txBody>
          <a:bodyPr wrap="square" lIns="228600" tIns="54864" rIns="228600" bIns="54864" anchor="t" rtlCol="0">
            <a:noAutofit/>
          </a:bodyPr>
          <a:lstStyle/>
          <a:p>
            <a:pPr algn="l">
              <a:lnSpc>
                <a:spcPts val="1750"/>
              </a:lnSpc>
              <a:spcBef>
                <a:spcPts val="0"/>
              </a:spcBef>
              <a:spcAft>
                <a:spcPts val="0"/>
              </a:spcAft>
              <a:buNone/>
            </a:pPr>
            <a:r>
              <a:rPr lang="ko-KR" altLang="en-US" sz="1400" b="1" dirty="0">
                <a:solidFill>
                  <a:srgbClr val="C00000"/>
                </a:solidFill>
                <a:latin typeface="맑은 고딕"/>
                <a:ea typeface="맑은 고딕"/>
                <a:cs typeface="맑은 고딕"/>
              </a:rPr>
              <a:t>포인트  </a:t>
            </a:r>
            <a:r>
              <a:rPr lang="ko-KR" altLang="en-US" sz="1400" b="0" dirty="0">
                <a:solidFill>
                  <a:srgbClr val="2F5597"/>
                </a:solidFill>
                <a:latin typeface="맑은 고딕"/>
                <a:ea typeface="맑은 고딕"/>
                <a:cs typeface="맑은 고딕"/>
              </a:rPr>
              <a:t>분사 (경험이 '쌓인' → 과거분사) · 동사의 수 일치 (주어 their job 단수)</a:t>
            </a:r>
            <a:endParaRPr lang="ko-KR" sz="1400"/>
          </a:p>
        </p:txBody>
      </p:sp>
      <p:sp>
        <p:nvSpPr>
          <p:cNvPr id="17" name="item_card_3"/>
          <p:cNvSpPr/>
          <p:nvPr/>
        </p:nvSpPr>
        <p:spPr>
          <a:xfrm>
            <a:off x="457200" y="4813300"/>
            <a:ext cx="11274552" cy="1516634"/>
          </a:xfrm>
          <a:prstGeom prst="roundRect">
            <a:avLst>
              <a:gd name="adj" fmla="val 6000"/>
            </a:avLst>
          </a:prstGeom>
          <a:solidFill>
            <a:srgbClr val="F3F5F9"/>
          </a:solidFill>
          <a:ln w="12700">
            <a:solidFill>
              <a:srgbClr val="D9DFEA"/>
            </a:solidFill>
          </a:ln>
        </p:spPr>
        <p:txBody>
          <a:bodyPr rtlCol="0" anchor="ctr"/>
          <a:lstStyle/>
          <a:p>
            <a:pPr algn="ctr"/>
          </a:p>
        </p:txBody>
      </p:sp>
      <p:sp>
        <p:nvSpPr>
          <p:cNvPr id="18" name="kor_3"/>
          <p:cNvSpPr txBox="1"/>
          <p:nvPr/>
        </p:nvSpPr>
        <p:spPr>
          <a:xfrm>
            <a:off x="457200" y="4923028"/>
            <a:ext cx="11274552" cy="363728"/>
          </a:xfrm>
          <a:prstGeom prst="rect">
            <a:avLst/>
          </a:prstGeom>
          <a:noFill/>
        </p:spPr>
        <p:txBody>
          <a:bodyPr wrap="square" lIns="228600" tIns="54864" rIns="228600" bIns="54864" anchor="t" rtlCol="0">
            <a:noAutofit/>
          </a:bodyPr>
          <a:lstStyle/>
          <a:p>
            <a:pPr algn="l">
              <a:lnSpc>
                <a:spcPts val="2000"/>
              </a:lnSpc>
              <a:spcBef>
                <a:spcPts val="0"/>
              </a:spcBef>
              <a:spcAft>
                <a:spcPts val="0"/>
              </a:spcAft>
              <a:buNone/>
            </a:pPr>
            <a:r>
              <a:rPr lang="en-US" altLang="en-US" sz="1600" b="1" dirty="0">
                <a:solidFill>
                  <a:srgbClr val="1E2A5A"/>
                </a:solidFill>
                <a:latin typeface="Calibri"/>
                <a:ea typeface="맑은 고딕"/>
                <a:cs typeface="Calibri"/>
              </a:rPr>
              <a:t>6.  </a:t>
            </a:r>
            <a:r>
              <a:rPr lang="ko-KR" altLang="en-US" sz="1600" b="0" dirty="0">
                <a:solidFill>
                  <a:srgbClr val="3C4558"/>
                </a:solidFill>
                <a:latin typeface="맑은 고딕"/>
                <a:ea typeface="맑은 고딕"/>
                <a:cs typeface="맑은 고딕"/>
              </a:rPr>
              <a:t>각 페이서는 서로 다른 속도로 달려 서로 다른 시간에 결승선을 통과한다.</a:t>
            </a:r>
            <a:endParaRPr lang="ko-KR" sz="1600"/>
          </a:p>
        </p:txBody>
      </p:sp>
      <p:sp>
        <p:nvSpPr>
          <p:cNvPr id="19" name="eng_3"/>
          <p:cNvSpPr txBox="1"/>
          <p:nvPr/>
        </p:nvSpPr>
        <p:spPr>
          <a:xfrm>
            <a:off x="457200" y="5231892"/>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solidFill>
                <a:latin typeface="Calibri"/>
                <a:ea typeface="맑은 고딕"/>
                <a:cs typeface="Calibri"/>
              </a:rPr>
              <a:t>Each pacer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runs</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run</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at different speeds and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finish</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finishes</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the race in different times.</a:t>
            </a:r>
            <a:endParaRPr lang="ko-KR" sz="2000"/>
          </a:p>
        </p:txBody>
      </p:sp>
      <p:sp>
        <p:nvSpPr>
          <p:cNvPr id="20" name="rv_eng_3"/>
          <p:cNvSpPr txBox="1"/>
          <p:nvPr/>
        </p:nvSpPr>
        <p:spPr>
          <a:xfrm>
            <a:off x="457200" y="5231892"/>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alpha val="0"/>
                  </a:srgbClr>
                </a:solidFill>
                <a:latin typeface="Calibri"/>
                <a:ea typeface="맑은 고딕"/>
                <a:cs typeface="Calibri"/>
              </a:rPr>
              <a:t>Each pacer </a:t>
            </a:r>
            <a:r>
              <a:rPr lang="en-US" altLang="en-US" sz="2000" b="1" dirty="0">
                <a:solidFill>
                  <a:srgbClr val="C00000">
                    <a:alpha val="0"/>
                  </a:srgbClr>
                </a:solidFill>
                <a:latin typeface="Calibri"/>
                <a:ea typeface="맑은 고딕"/>
                <a:cs typeface="Calibri"/>
              </a:rPr>
              <a:t>[ </a:t>
            </a:r>
            <a:r>
              <a:rPr lang="en-US" altLang="en-US" sz="2000" b="1" dirty="0">
                <a:solidFill>
                  <a:srgbClr val="C00000"/>
                </a:solidFill>
                <a:latin typeface="Calibri"/>
                <a:ea typeface="맑은 고딕"/>
                <a:cs typeface="Calibri"/>
              </a:rPr>
              <a:t>runs</a:t>
            </a:r>
            <a:r>
              <a:rPr lang="en-US" altLang="en-US" sz="2000" b="1" dirty="0">
                <a:solidFill>
                  <a:srgbClr val="C00000">
                    <a:alpha val="0"/>
                  </a:srgbClr>
                </a:solidFill>
                <a:latin typeface="Calibri"/>
                <a:ea typeface="맑은 고딕"/>
                <a:cs typeface="Calibri"/>
              </a:rPr>
              <a:t> / </a:t>
            </a:r>
            <a:r>
              <a:rPr lang="en-US" altLang="en-US" sz="2000" b="1" dirty="0">
                <a:solidFill>
                  <a:srgbClr val="C00000">
                    <a:alpha val="0"/>
                  </a:srgbClr>
                </a:solidFill>
                <a:latin typeface="Calibri"/>
                <a:ea typeface="맑은 고딕"/>
                <a:cs typeface="Calibri"/>
              </a:rPr>
              <a:t>run</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at different speeds and </a:t>
            </a:r>
            <a:r>
              <a:rPr lang="en-US" altLang="en-US" sz="2000" b="1" dirty="0">
                <a:solidFill>
                  <a:srgbClr val="C00000">
                    <a:alpha val="0"/>
                  </a:srgbClr>
                </a:solidFill>
                <a:latin typeface="Calibri"/>
                <a:ea typeface="맑은 고딕"/>
                <a:cs typeface="Calibri"/>
              </a:rPr>
              <a:t>[ </a:t>
            </a:r>
            <a:r>
              <a:rPr lang="en-US" altLang="en-US" sz="2000" b="1" dirty="0">
                <a:solidFill>
                  <a:srgbClr val="C00000">
                    <a:alpha val="0"/>
                  </a:srgbClr>
                </a:solidFill>
                <a:latin typeface="Calibri"/>
                <a:ea typeface="맑은 고딕"/>
                <a:cs typeface="Calibri"/>
              </a:rPr>
              <a:t>finish</a:t>
            </a:r>
            <a:r>
              <a:rPr lang="en-US" altLang="en-US" sz="2000" b="1" dirty="0">
                <a:solidFill>
                  <a:srgbClr val="C00000">
                    <a:alpha val="0"/>
                  </a:srgbClr>
                </a:solidFill>
                <a:latin typeface="Calibri"/>
                <a:ea typeface="맑은 고딕"/>
                <a:cs typeface="Calibri"/>
              </a:rPr>
              <a:t> / </a:t>
            </a:r>
            <a:r>
              <a:rPr lang="en-US" altLang="en-US" sz="2000" b="1" dirty="0">
                <a:solidFill>
                  <a:srgbClr val="C00000"/>
                </a:solidFill>
                <a:latin typeface="Calibri"/>
                <a:ea typeface="맑은 고딕"/>
                <a:cs typeface="Calibri"/>
              </a:rPr>
              <a:t>finishes</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the race in different times.</a:t>
            </a:r>
            <a:endParaRPr lang="ko-KR" sz="2000"/>
          </a:p>
        </p:txBody>
      </p:sp>
      <p:sp>
        <p:nvSpPr>
          <p:cNvPr id="21" name="rv_point_3"/>
          <p:cNvSpPr txBox="1"/>
          <p:nvPr/>
        </p:nvSpPr>
        <p:spPr>
          <a:xfrm>
            <a:off x="457200" y="5997956"/>
            <a:ext cx="11274552" cy="331978"/>
          </a:xfrm>
          <a:prstGeom prst="rect">
            <a:avLst/>
          </a:prstGeom>
          <a:noFill/>
        </p:spPr>
        <p:txBody>
          <a:bodyPr wrap="square" lIns="228600" tIns="54864" rIns="228600" bIns="54864" anchor="t" rtlCol="0">
            <a:noAutofit/>
          </a:bodyPr>
          <a:lstStyle/>
          <a:p>
            <a:pPr algn="l">
              <a:lnSpc>
                <a:spcPts val="1750"/>
              </a:lnSpc>
              <a:spcBef>
                <a:spcPts val="0"/>
              </a:spcBef>
              <a:spcAft>
                <a:spcPts val="0"/>
              </a:spcAft>
              <a:buNone/>
            </a:pPr>
            <a:r>
              <a:rPr lang="ko-KR" altLang="en-US" sz="1400" b="1" dirty="0">
                <a:solidFill>
                  <a:srgbClr val="C00000"/>
                </a:solidFill>
                <a:latin typeface="맑은 고딕"/>
                <a:ea typeface="맑은 고딕"/>
                <a:cs typeface="맑은 고딕"/>
              </a:rPr>
              <a:t>포인트  </a:t>
            </a:r>
            <a:r>
              <a:rPr lang="ko-KR" altLang="en-US" sz="1400" b="0" dirty="0">
                <a:solidFill>
                  <a:srgbClr val="2F5597"/>
                </a:solidFill>
                <a:latin typeface="맑은 고딕"/>
                <a:ea typeface="맑은 고딕"/>
                <a:cs typeface="맑은 고딕"/>
              </a:rPr>
              <a:t>동사의 수 일치 (Each + 단수명사) · 동사의 수 일치 (runs와 병렬, 3인칭 단수)</a:t>
            </a:r>
            <a:endParaRPr lang="ko-KR" sz="1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25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250"/>
                                        <p:tgtEl>
                                          <p:spTgt spid="1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250"/>
                                        <p:tgtEl>
                                          <p:spTgt spid="1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fade">
                                      <p:cBhvr>
                                        <p:cTn id="16" dur="250"/>
                                        <p:tgtEl>
                                          <p:spTgt spid="1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250"/>
                                        <p:tgtEl>
                                          <p:spTgt spid="2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fade">
                                      <p:cBhvr>
                                        <p:cTn id="22" dur="25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5" grpId="0" animBg="1"/>
      <p:bldP spid="16" grpId="0" animBg="1"/>
      <p:bldP spid="20" grpId="0" animBg="1"/>
      <p:bldP spid="21" grpId="0" animBg="1"/>
    </p:bldLst>
  </p:timing>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8000"/>
            </a:avLst>
          </a:prstGeom>
          <a:solidFill>
            <a:srgbClr val="1E2A5A"/>
          </a:solidFill>
          <a:ln>
            <a:noFill/>
          </a:ln>
        </p:spPr>
        <p:txBody>
          <a:bodyPr wrap="square" lIns="45720" tIns="18288" rIns="45720" bIns="18288" anchor="ctr" rtlCol="0">
            <a:noAutofit/>
          </a:bodyPr>
          <a:lstStyle/>
          <a:p>
            <a:pPr algn="ctr">
              <a:lnSpc>
                <a:spcPts val="2000"/>
              </a:lnSpc>
              <a:spcBef>
                <a:spcPts val="0"/>
              </a:spcBef>
              <a:spcAft>
                <a:spcPts val="0"/>
              </a:spcAft>
              <a:buNone/>
            </a:pPr>
            <a:r>
              <a:rPr lang="en-US" altLang="en-US" sz="1700" b="1" dirty="0">
                <a:solidFill>
                  <a:srgbClr val="FFFFFF"/>
                </a:solidFill>
                <a:latin typeface="Calibri"/>
                <a:ea typeface="맑은 고딕"/>
                <a:cs typeface="Calibri"/>
              </a:rPr>
              <a:t>L5</a:t>
            </a:r>
            <a:endParaRPr lang="ko-KR" sz="1700"/>
          </a:p>
        </p:txBody>
      </p:sp>
      <p:sp>
        <p:nvSpPr>
          <p:cNvPr id="3" name="hdr_chip"/>
          <p:cNvSpPr/>
          <p:nvPr/>
        </p:nvSpPr>
        <p:spPr>
          <a:xfrm>
            <a:off x="1755648" y="274320"/>
            <a:ext cx="1371600" cy="493776"/>
          </a:xfrm>
          <a:prstGeom prst="roundRect">
            <a:avLst>
              <a:gd name="adj" fmla="val 8000"/>
            </a:avLst>
          </a:prstGeom>
          <a:solidFill>
            <a:srgbClr val="E6EAF4"/>
          </a:solidFill>
          <a:ln>
            <a:noFill/>
          </a:ln>
        </p:spPr>
        <p:txBody>
          <a:bodyPr wrap="square" lIns="27432" tIns="18288" rIns="27432" bIns="18288" anchor="ctr" rtlCol="0">
            <a:noAutofit/>
          </a:bodyPr>
          <a:lstStyle/>
          <a:p>
            <a:pPr algn="ctr">
              <a:lnSpc>
                <a:spcPts val="1700"/>
              </a:lnSpc>
              <a:spcBef>
                <a:spcPts val="0"/>
              </a:spcBef>
              <a:spcAft>
                <a:spcPts val="0"/>
              </a:spcAft>
              <a:buNone/>
            </a:pPr>
            <a:r>
              <a:rPr lang="ko-KR" altLang="en-US" sz="1400" b="1" dirty="0">
                <a:solidFill>
                  <a:srgbClr val="1E2A5A"/>
                </a:solidFill>
                <a:latin typeface="맑은 고딕"/>
                <a:ea typeface="맑은 고딕"/>
                <a:cs typeface="맑은 고딕"/>
              </a:rPr>
              <a:t>PART 5 · 3</a:t>
            </a:r>
            <a:endParaRPr lang="ko-KR" sz="1400"/>
          </a:p>
        </p:txBody>
      </p:sp>
      <p:sp>
        <p:nvSpPr>
          <p:cNvPr id="4" name="hdr_q"/>
          <p:cNvSpPr txBox="1"/>
          <p:nvPr/>
        </p:nvSpPr>
        <p:spPr>
          <a:xfrm>
            <a:off x="3246120" y="246888"/>
            <a:ext cx="8485632" cy="548640"/>
          </a:xfrm>
          <a:prstGeom prst="rect">
            <a:avLst/>
          </a:prstGeom>
          <a:noFill/>
        </p:spPr>
        <p:txBody>
          <a:bodyPr wrap="square" lIns="109728" tIns="54864" rIns="109728" bIns="54864" anchor="ctr" rtlCol="0">
            <a:noAutofit/>
          </a:bodyPr>
          <a:lstStyle/>
          <a:p>
            <a:pPr algn="l">
              <a:lnSpc>
                <a:spcPts val="2400"/>
              </a:lnSpc>
              <a:spcBef>
                <a:spcPts val="0"/>
              </a:spcBef>
              <a:spcAft>
                <a:spcPts val="0"/>
              </a:spcAft>
              <a:buNone/>
            </a:pPr>
            <a:r>
              <a:rPr lang="ko-KR" altLang="en-US" sz="2000" b="1" dirty="0">
                <a:solidFill>
                  <a:srgbClr val="1F2328"/>
                </a:solidFill>
                <a:latin typeface="맑은 고딕"/>
                <a:ea typeface="맑은 고딕"/>
                <a:cs typeface="맑은 고딕"/>
              </a:rPr>
              <a:t>[  ] 안에서 어법상 알맞은 것을 고르시오.</a:t>
            </a:r>
            <a:endParaRPr lang="ko-KR" sz="2000"/>
          </a:p>
        </p:txBody>
      </p:sp>
      <p:sp>
        <p:nvSpPr>
          <p:cNvPr id="5" name="ftr_exam"/>
          <p:cNvSpPr txBox="1"/>
          <p:nvPr/>
        </p:nvSpPr>
        <p:spPr>
          <a:xfrm>
            <a:off x="457200" y="6519672"/>
            <a:ext cx="5669280" cy="256032"/>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5</a:t>
            </a:r>
            <a:endParaRPr lang="ko-KR" sz="1000"/>
          </a:p>
        </p:txBody>
      </p:sp>
      <p:sp>
        <p:nvSpPr>
          <p:cNvPr id="6" name="ftr_hint"/>
          <p:cNvSpPr txBox="1"/>
          <p:nvPr/>
        </p:nvSpPr>
        <p:spPr>
          <a:xfrm>
            <a:off x="5971032" y="6519672"/>
            <a:ext cx="5760720" cy="256032"/>
          </a:xfrm>
          <a:prstGeom prst="rect">
            <a:avLst/>
          </a:prstGeom>
          <a:noFill/>
        </p:spPr>
        <p:txBody>
          <a:bodyPr wrap="square" lIns="0" tIns="0" rIns="0" bIns="0" anchor="t" rtlCol="0">
            <a:noAutofit/>
          </a:bodyPr>
          <a:lstStyle/>
          <a:p>
            <a:pPr algn="r">
              <a:lnSpc>
                <a:spcPts val="1200"/>
              </a:lnSpc>
              <a:spcBef>
                <a:spcPts val="0"/>
              </a:spcBef>
              <a:spcAft>
                <a:spcPts val="0"/>
              </a:spcAft>
              <a:buNone/>
            </a:pPr>
            <a:r>
              <a:rPr lang="ko-KR" altLang="en-US" sz="1000" b="0" dirty="0">
                <a:solidFill>
                  <a:srgbClr val="7A808C"/>
                </a:solidFill>
                <a:latin typeface="맑은 고딕"/>
                <a:ea typeface="맑은 고딕"/>
                <a:cs typeface="맑은 고딕"/>
              </a:rPr>
              <a:t>클릭 ① 정답(빨간색) + 문법 포인트 공개</a:t>
            </a:r>
            <a:endParaRPr lang="ko-KR" sz="1000"/>
          </a:p>
        </p:txBody>
      </p:sp>
      <p:sp>
        <p:nvSpPr>
          <p:cNvPr id="7" name="item_card_1"/>
          <p:cNvSpPr/>
          <p:nvPr/>
        </p:nvSpPr>
        <p:spPr>
          <a:xfrm>
            <a:off x="457200" y="950976"/>
            <a:ext cx="11274552" cy="1516634"/>
          </a:xfrm>
          <a:prstGeom prst="roundRect">
            <a:avLst>
              <a:gd name="adj" fmla="val 6000"/>
            </a:avLst>
          </a:prstGeom>
          <a:solidFill>
            <a:srgbClr val="F3F5F9"/>
          </a:solidFill>
          <a:ln w="12700">
            <a:solidFill>
              <a:srgbClr val="D9DFEA"/>
            </a:solidFill>
          </a:ln>
        </p:spPr>
        <p:txBody>
          <a:bodyPr rtlCol="0" anchor="ctr"/>
          <a:lstStyle/>
          <a:p>
            <a:pPr algn="ctr"/>
          </a:p>
        </p:txBody>
      </p:sp>
      <p:sp>
        <p:nvSpPr>
          <p:cNvPr id="8" name="kor_1"/>
          <p:cNvSpPr txBox="1"/>
          <p:nvPr/>
        </p:nvSpPr>
        <p:spPr>
          <a:xfrm>
            <a:off x="457200" y="1060704"/>
            <a:ext cx="11274552" cy="363728"/>
          </a:xfrm>
          <a:prstGeom prst="rect">
            <a:avLst/>
          </a:prstGeom>
          <a:noFill/>
        </p:spPr>
        <p:txBody>
          <a:bodyPr wrap="square" lIns="228600" tIns="54864" rIns="228600" bIns="54864" anchor="t" rtlCol="0">
            <a:noAutofit/>
          </a:bodyPr>
          <a:lstStyle/>
          <a:p>
            <a:pPr algn="l">
              <a:lnSpc>
                <a:spcPts val="2000"/>
              </a:lnSpc>
              <a:spcBef>
                <a:spcPts val="0"/>
              </a:spcBef>
              <a:spcAft>
                <a:spcPts val="0"/>
              </a:spcAft>
              <a:buNone/>
            </a:pPr>
            <a:r>
              <a:rPr lang="en-US" altLang="en-US" sz="1600" b="1" dirty="0">
                <a:solidFill>
                  <a:srgbClr val="1E2A5A"/>
                </a:solidFill>
                <a:latin typeface="Calibri"/>
                <a:ea typeface="맑은 고딕"/>
                <a:cs typeface="Calibri"/>
              </a:rPr>
              <a:t>7.  </a:t>
            </a:r>
            <a:r>
              <a:rPr lang="ko-KR" altLang="en-US" sz="1600" b="0" dirty="0">
                <a:solidFill>
                  <a:srgbClr val="3C4558"/>
                </a:solidFill>
                <a:latin typeface="맑은 고딕"/>
                <a:ea typeface="맑은 고딕"/>
                <a:cs typeface="맑은 고딕"/>
              </a:rPr>
              <a:t>페이서들은 대개 자신의 완주 시간이 적힌 깃발이나 풍선을 달고 있다.</a:t>
            </a:r>
            <a:endParaRPr lang="ko-KR" sz="1600"/>
          </a:p>
        </p:txBody>
      </p:sp>
      <p:sp>
        <p:nvSpPr>
          <p:cNvPr id="9" name="eng_1"/>
          <p:cNvSpPr txBox="1"/>
          <p:nvPr/>
        </p:nvSpPr>
        <p:spPr>
          <a:xfrm>
            <a:off x="457200" y="1369568"/>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solidFill>
                <a:latin typeface="Calibri"/>
                <a:ea typeface="맑은 고딕"/>
                <a:cs typeface="Calibri"/>
              </a:rPr>
              <a:t>Pacers usually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has</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have</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flags or balloons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showing</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shown</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their finish time.</a:t>
            </a:r>
            <a:endParaRPr lang="ko-KR" sz="2000"/>
          </a:p>
        </p:txBody>
      </p:sp>
      <p:sp>
        <p:nvSpPr>
          <p:cNvPr id="10" name="rv_eng_1"/>
          <p:cNvSpPr txBox="1"/>
          <p:nvPr/>
        </p:nvSpPr>
        <p:spPr>
          <a:xfrm>
            <a:off x="457200" y="1369568"/>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alpha val="0"/>
                  </a:srgbClr>
                </a:solidFill>
                <a:latin typeface="Calibri"/>
                <a:ea typeface="맑은 고딕"/>
                <a:cs typeface="Calibri"/>
              </a:rPr>
              <a:t>Pacers usually </a:t>
            </a:r>
            <a:r>
              <a:rPr lang="en-US" altLang="en-US" sz="2000" b="1" dirty="0">
                <a:solidFill>
                  <a:srgbClr val="C00000">
                    <a:alpha val="0"/>
                  </a:srgbClr>
                </a:solidFill>
                <a:latin typeface="Calibri"/>
                <a:ea typeface="맑은 고딕"/>
                <a:cs typeface="Calibri"/>
              </a:rPr>
              <a:t>[ </a:t>
            </a:r>
            <a:r>
              <a:rPr lang="en-US" altLang="en-US" sz="2000" b="1" dirty="0">
                <a:solidFill>
                  <a:srgbClr val="C00000">
                    <a:alpha val="0"/>
                  </a:srgbClr>
                </a:solidFill>
                <a:latin typeface="Calibri"/>
                <a:ea typeface="맑은 고딕"/>
                <a:cs typeface="Calibri"/>
              </a:rPr>
              <a:t>has</a:t>
            </a:r>
            <a:r>
              <a:rPr lang="en-US" altLang="en-US" sz="2000" b="1" dirty="0">
                <a:solidFill>
                  <a:srgbClr val="C00000">
                    <a:alpha val="0"/>
                  </a:srgbClr>
                </a:solidFill>
                <a:latin typeface="Calibri"/>
                <a:ea typeface="맑은 고딕"/>
                <a:cs typeface="Calibri"/>
              </a:rPr>
              <a:t> / </a:t>
            </a:r>
            <a:r>
              <a:rPr lang="en-US" altLang="en-US" sz="2000" b="1" dirty="0">
                <a:solidFill>
                  <a:srgbClr val="C00000"/>
                </a:solidFill>
                <a:latin typeface="Calibri"/>
                <a:ea typeface="맑은 고딕"/>
                <a:cs typeface="Calibri"/>
              </a:rPr>
              <a:t>have</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flags or balloons </a:t>
            </a:r>
            <a:r>
              <a:rPr lang="en-US" altLang="en-US" sz="2000" b="1" dirty="0">
                <a:solidFill>
                  <a:srgbClr val="C00000">
                    <a:alpha val="0"/>
                  </a:srgbClr>
                </a:solidFill>
                <a:latin typeface="Calibri"/>
                <a:ea typeface="맑은 고딕"/>
                <a:cs typeface="Calibri"/>
              </a:rPr>
              <a:t>[ </a:t>
            </a:r>
            <a:r>
              <a:rPr lang="en-US" altLang="en-US" sz="2000" b="1" dirty="0">
                <a:solidFill>
                  <a:srgbClr val="C00000"/>
                </a:solidFill>
                <a:latin typeface="Calibri"/>
                <a:ea typeface="맑은 고딕"/>
                <a:cs typeface="Calibri"/>
              </a:rPr>
              <a:t>showing</a:t>
            </a:r>
            <a:r>
              <a:rPr lang="en-US" altLang="en-US" sz="2000" b="1" dirty="0">
                <a:solidFill>
                  <a:srgbClr val="C00000">
                    <a:alpha val="0"/>
                  </a:srgbClr>
                </a:solidFill>
                <a:latin typeface="Calibri"/>
                <a:ea typeface="맑은 고딕"/>
                <a:cs typeface="Calibri"/>
              </a:rPr>
              <a:t> / </a:t>
            </a:r>
            <a:r>
              <a:rPr lang="en-US" altLang="en-US" sz="2000" b="1" dirty="0">
                <a:solidFill>
                  <a:srgbClr val="C00000">
                    <a:alpha val="0"/>
                  </a:srgbClr>
                </a:solidFill>
                <a:latin typeface="Calibri"/>
                <a:ea typeface="맑은 고딕"/>
                <a:cs typeface="Calibri"/>
              </a:rPr>
              <a:t>shown</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their finish time.</a:t>
            </a:r>
            <a:endParaRPr lang="ko-KR" sz="2000"/>
          </a:p>
        </p:txBody>
      </p:sp>
      <p:sp>
        <p:nvSpPr>
          <p:cNvPr id="11" name="rv_point_1"/>
          <p:cNvSpPr txBox="1"/>
          <p:nvPr/>
        </p:nvSpPr>
        <p:spPr>
          <a:xfrm>
            <a:off x="457200" y="2135632"/>
            <a:ext cx="11274552" cy="331978"/>
          </a:xfrm>
          <a:prstGeom prst="rect">
            <a:avLst/>
          </a:prstGeom>
          <a:noFill/>
        </p:spPr>
        <p:txBody>
          <a:bodyPr wrap="square" lIns="228600" tIns="54864" rIns="228600" bIns="54864" anchor="t" rtlCol="0">
            <a:noAutofit/>
          </a:bodyPr>
          <a:lstStyle/>
          <a:p>
            <a:pPr algn="l">
              <a:lnSpc>
                <a:spcPts val="1750"/>
              </a:lnSpc>
              <a:spcBef>
                <a:spcPts val="0"/>
              </a:spcBef>
              <a:spcAft>
                <a:spcPts val="0"/>
              </a:spcAft>
              <a:buNone/>
            </a:pPr>
            <a:r>
              <a:rPr lang="ko-KR" altLang="en-US" sz="1400" b="1" dirty="0">
                <a:solidFill>
                  <a:srgbClr val="C00000"/>
                </a:solidFill>
                <a:latin typeface="맑은 고딕"/>
                <a:ea typeface="맑은 고딕"/>
                <a:cs typeface="맑은 고딕"/>
              </a:rPr>
              <a:t>포인트  </a:t>
            </a:r>
            <a:r>
              <a:rPr lang="ko-KR" altLang="en-US" sz="1400" b="0" dirty="0">
                <a:solidFill>
                  <a:srgbClr val="2F5597"/>
                </a:solidFill>
                <a:latin typeface="맑은 고딕"/>
                <a:ea typeface="맑은 고딕"/>
                <a:cs typeface="맑은 고딕"/>
              </a:rPr>
              <a:t>동사의 수 일치 (주어 Pacers 복수) · 분사 (깃발이 시간을 '보여 주는' → 현재분사)</a:t>
            </a:r>
            <a:endParaRPr lang="ko-KR" sz="1400"/>
          </a:p>
        </p:txBody>
      </p:sp>
      <p:sp>
        <p:nvSpPr>
          <p:cNvPr id="12" name="item_card_2"/>
          <p:cNvSpPr/>
          <p:nvPr/>
        </p:nvSpPr>
        <p:spPr>
          <a:xfrm>
            <a:off x="457200" y="2577338"/>
            <a:ext cx="11274552" cy="1516634"/>
          </a:xfrm>
          <a:prstGeom prst="roundRect">
            <a:avLst>
              <a:gd name="adj" fmla="val 6000"/>
            </a:avLst>
          </a:prstGeom>
          <a:solidFill>
            <a:srgbClr val="F3F5F9"/>
          </a:solidFill>
          <a:ln w="12700">
            <a:solidFill>
              <a:srgbClr val="D9DFEA"/>
            </a:solidFill>
          </a:ln>
        </p:spPr>
        <p:txBody>
          <a:bodyPr rtlCol="0" anchor="ctr"/>
          <a:lstStyle/>
          <a:p>
            <a:pPr algn="ctr"/>
          </a:p>
        </p:txBody>
      </p:sp>
      <p:sp>
        <p:nvSpPr>
          <p:cNvPr id="13" name="kor_2"/>
          <p:cNvSpPr txBox="1"/>
          <p:nvPr/>
        </p:nvSpPr>
        <p:spPr>
          <a:xfrm>
            <a:off x="457200" y="2687066"/>
            <a:ext cx="11274552" cy="363728"/>
          </a:xfrm>
          <a:prstGeom prst="rect">
            <a:avLst/>
          </a:prstGeom>
          <a:noFill/>
        </p:spPr>
        <p:txBody>
          <a:bodyPr wrap="square" lIns="228600" tIns="54864" rIns="228600" bIns="54864" anchor="t" rtlCol="0">
            <a:noAutofit/>
          </a:bodyPr>
          <a:lstStyle/>
          <a:p>
            <a:pPr algn="l">
              <a:lnSpc>
                <a:spcPts val="2000"/>
              </a:lnSpc>
              <a:spcBef>
                <a:spcPts val="0"/>
              </a:spcBef>
              <a:spcAft>
                <a:spcPts val="0"/>
              </a:spcAft>
              <a:buNone/>
            </a:pPr>
            <a:r>
              <a:rPr lang="en-US" altLang="en-US" sz="1600" b="1" dirty="0">
                <a:solidFill>
                  <a:srgbClr val="1E2A5A"/>
                </a:solidFill>
                <a:latin typeface="Calibri"/>
                <a:ea typeface="맑은 고딕"/>
                <a:cs typeface="Calibri"/>
              </a:rPr>
              <a:t>8.  </a:t>
            </a:r>
            <a:r>
              <a:rPr lang="ko-KR" altLang="en-US" sz="1600" b="0" dirty="0">
                <a:solidFill>
                  <a:srgbClr val="3C4558"/>
                </a:solidFill>
                <a:latin typeface="맑은 고딕"/>
                <a:ea typeface="맑은 고딕"/>
                <a:cs typeface="맑은 고딕"/>
              </a:rPr>
              <a:t>주자들은 자신의 목표 완주 시간에 따라 페이서를 고를 수 있다.</a:t>
            </a:r>
            <a:endParaRPr lang="ko-KR" sz="1600"/>
          </a:p>
        </p:txBody>
      </p:sp>
      <p:sp>
        <p:nvSpPr>
          <p:cNvPr id="14" name="eng_2"/>
          <p:cNvSpPr txBox="1"/>
          <p:nvPr/>
        </p:nvSpPr>
        <p:spPr>
          <a:xfrm>
            <a:off x="457200" y="2995930"/>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solidFill>
                <a:latin typeface="Calibri"/>
                <a:ea typeface="맑은 고딕"/>
                <a:cs typeface="Calibri"/>
              </a:rPr>
              <a:t>Runners can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choose</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to choose</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a pacer depending on their target finish time.</a:t>
            </a:r>
            <a:endParaRPr lang="ko-KR" sz="2000"/>
          </a:p>
        </p:txBody>
      </p:sp>
      <p:sp>
        <p:nvSpPr>
          <p:cNvPr id="15" name="rv_eng_2"/>
          <p:cNvSpPr txBox="1"/>
          <p:nvPr/>
        </p:nvSpPr>
        <p:spPr>
          <a:xfrm>
            <a:off x="457200" y="2995930"/>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alpha val="0"/>
                  </a:srgbClr>
                </a:solidFill>
                <a:latin typeface="Calibri"/>
                <a:ea typeface="맑은 고딕"/>
                <a:cs typeface="Calibri"/>
              </a:rPr>
              <a:t>Runners can </a:t>
            </a:r>
            <a:r>
              <a:rPr lang="en-US" altLang="en-US" sz="2000" b="1" dirty="0">
                <a:solidFill>
                  <a:srgbClr val="C00000">
                    <a:alpha val="0"/>
                  </a:srgbClr>
                </a:solidFill>
                <a:latin typeface="Calibri"/>
                <a:ea typeface="맑은 고딕"/>
                <a:cs typeface="Calibri"/>
              </a:rPr>
              <a:t>[ </a:t>
            </a:r>
            <a:r>
              <a:rPr lang="en-US" altLang="en-US" sz="2000" b="1" dirty="0">
                <a:solidFill>
                  <a:srgbClr val="C00000"/>
                </a:solidFill>
                <a:latin typeface="Calibri"/>
                <a:ea typeface="맑은 고딕"/>
                <a:cs typeface="Calibri"/>
              </a:rPr>
              <a:t>choose</a:t>
            </a:r>
            <a:r>
              <a:rPr lang="en-US" altLang="en-US" sz="2000" b="1" dirty="0">
                <a:solidFill>
                  <a:srgbClr val="C00000">
                    <a:alpha val="0"/>
                  </a:srgbClr>
                </a:solidFill>
                <a:latin typeface="Calibri"/>
                <a:ea typeface="맑은 고딕"/>
                <a:cs typeface="Calibri"/>
              </a:rPr>
              <a:t> / </a:t>
            </a:r>
            <a:r>
              <a:rPr lang="en-US" altLang="en-US" sz="2000" b="1" dirty="0">
                <a:solidFill>
                  <a:srgbClr val="C00000">
                    <a:alpha val="0"/>
                  </a:srgbClr>
                </a:solidFill>
                <a:latin typeface="Calibri"/>
                <a:ea typeface="맑은 고딕"/>
                <a:cs typeface="Calibri"/>
              </a:rPr>
              <a:t>to choose</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a pacer depending on their target finish time.</a:t>
            </a:r>
            <a:endParaRPr lang="ko-KR" sz="2000"/>
          </a:p>
        </p:txBody>
      </p:sp>
      <p:sp>
        <p:nvSpPr>
          <p:cNvPr id="16" name="rv_point_2"/>
          <p:cNvSpPr txBox="1"/>
          <p:nvPr/>
        </p:nvSpPr>
        <p:spPr>
          <a:xfrm>
            <a:off x="457200" y="3761994"/>
            <a:ext cx="11274552" cy="331978"/>
          </a:xfrm>
          <a:prstGeom prst="rect">
            <a:avLst/>
          </a:prstGeom>
          <a:noFill/>
        </p:spPr>
        <p:txBody>
          <a:bodyPr wrap="square" lIns="228600" tIns="54864" rIns="228600" bIns="54864" anchor="t" rtlCol="0">
            <a:noAutofit/>
          </a:bodyPr>
          <a:lstStyle/>
          <a:p>
            <a:pPr algn="l">
              <a:lnSpc>
                <a:spcPts val="1750"/>
              </a:lnSpc>
              <a:spcBef>
                <a:spcPts val="0"/>
              </a:spcBef>
              <a:spcAft>
                <a:spcPts val="0"/>
              </a:spcAft>
              <a:buNone/>
            </a:pPr>
            <a:r>
              <a:rPr lang="ko-KR" altLang="en-US" sz="1400" b="1" dirty="0">
                <a:solidFill>
                  <a:srgbClr val="C00000"/>
                </a:solidFill>
                <a:latin typeface="맑은 고딕"/>
                <a:ea typeface="맑은 고딕"/>
                <a:cs typeface="맑은 고딕"/>
              </a:rPr>
              <a:t>포인트  </a:t>
            </a:r>
            <a:r>
              <a:rPr lang="ko-KR" altLang="en-US" sz="1400" b="0" dirty="0">
                <a:solidFill>
                  <a:srgbClr val="2F5597"/>
                </a:solidFill>
                <a:latin typeface="맑은 고딕"/>
                <a:ea typeface="맑은 고딕"/>
                <a:cs typeface="맑은 고딕"/>
              </a:rPr>
              <a:t>to부정사/동명사/동사원형 (조동사 can + 동사원형)</a:t>
            </a:r>
            <a:endParaRPr lang="ko-KR" sz="1400"/>
          </a:p>
        </p:txBody>
      </p:sp>
      <p:sp>
        <p:nvSpPr>
          <p:cNvPr id="17" name="item_card_3"/>
          <p:cNvSpPr/>
          <p:nvPr/>
        </p:nvSpPr>
        <p:spPr>
          <a:xfrm>
            <a:off x="457200" y="4203700"/>
            <a:ext cx="11274552" cy="1516634"/>
          </a:xfrm>
          <a:prstGeom prst="roundRect">
            <a:avLst>
              <a:gd name="adj" fmla="val 6000"/>
            </a:avLst>
          </a:prstGeom>
          <a:solidFill>
            <a:srgbClr val="F3F5F9"/>
          </a:solidFill>
          <a:ln w="12700">
            <a:solidFill>
              <a:srgbClr val="D9DFEA"/>
            </a:solidFill>
          </a:ln>
        </p:spPr>
        <p:txBody>
          <a:bodyPr rtlCol="0" anchor="ctr"/>
          <a:lstStyle/>
          <a:p>
            <a:pPr algn="ctr"/>
          </a:p>
        </p:txBody>
      </p:sp>
      <p:sp>
        <p:nvSpPr>
          <p:cNvPr id="18" name="kor_3"/>
          <p:cNvSpPr txBox="1"/>
          <p:nvPr/>
        </p:nvSpPr>
        <p:spPr>
          <a:xfrm>
            <a:off x="457200" y="4313428"/>
            <a:ext cx="11274552" cy="363728"/>
          </a:xfrm>
          <a:prstGeom prst="rect">
            <a:avLst/>
          </a:prstGeom>
          <a:noFill/>
        </p:spPr>
        <p:txBody>
          <a:bodyPr wrap="square" lIns="228600" tIns="54864" rIns="228600" bIns="54864" anchor="t" rtlCol="0">
            <a:noAutofit/>
          </a:bodyPr>
          <a:lstStyle/>
          <a:p>
            <a:pPr algn="l">
              <a:lnSpc>
                <a:spcPts val="2000"/>
              </a:lnSpc>
              <a:spcBef>
                <a:spcPts val="0"/>
              </a:spcBef>
              <a:spcAft>
                <a:spcPts val="0"/>
              </a:spcAft>
              <a:buNone/>
            </a:pPr>
            <a:r>
              <a:rPr lang="en-US" altLang="en-US" sz="1600" b="1" dirty="0">
                <a:solidFill>
                  <a:srgbClr val="1E2A5A"/>
                </a:solidFill>
                <a:latin typeface="Calibri"/>
                <a:ea typeface="맑은 고딕"/>
                <a:cs typeface="Calibri"/>
              </a:rPr>
              <a:t>9.  </a:t>
            </a:r>
            <a:r>
              <a:rPr lang="ko-KR" altLang="en-US" sz="1600" b="0" dirty="0">
                <a:solidFill>
                  <a:srgbClr val="3C4558"/>
                </a:solidFill>
                <a:latin typeface="맑은 고딕"/>
                <a:ea typeface="맑은 고딕"/>
                <a:cs typeface="맑은 고딕"/>
              </a:rPr>
              <a:t>예를 들어 어떤 주자가 4시간 안에 완주하고 싶다면, 그 주자는 4시간 페이서를 따라가면 된다.</a:t>
            </a:r>
            <a:endParaRPr lang="ko-KR" sz="1600"/>
          </a:p>
        </p:txBody>
      </p:sp>
      <p:sp>
        <p:nvSpPr>
          <p:cNvPr id="19" name="eng_3"/>
          <p:cNvSpPr txBox="1"/>
          <p:nvPr/>
        </p:nvSpPr>
        <p:spPr>
          <a:xfrm>
            <a:off x="457200" y="4622292"/>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solidFill>
                <a:latin typeface="Calibri"/>
                <a:ea typeface="맑은 고딕"/>
                <a:cs typeface="Calibri"/>
              </a:rPr>
              <a:t>For example, if a runner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want</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wants</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to finish</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finishing</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the race in four hours, the runner will follow the four‑hour pacer.</a:t>
            </a:r>
            <a:endParaRPr lang="ko-KR" sz="2000"/>
          </a:p>
        </p:txBody>
      </p:sp>
      <p:sp>
        <p:nvSpPr>
          <p:cNvPr id="20" name="rv_eng_3"/>
          <p:cNvSpPr txBox="1"/>
          <p:nvPr/>
        </p:nvSpPr>
        <p:spPr>
          <a:xfrm>
            <a:off x="457200" y="4622292"/>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alpha val="0"/>
                  </a:srgbClr>
                </a:solidFill>
                <a:latin typeface="Calibri"/>
                <a:ea typeface="맑은 고딕"/>
                <a:cs typeface="Calibri"/>
              </a:rPr>
              <a:t>For example, if a runner </a:t>
            </a:r>
            <a:r>
              <a:rPr lang="en-US" altLang="en-US" sz="2000" b="1" dirty="0">
                <a:solidFill>
                  <a:srgbClr val="C00000">
                    <a:alpha val="0"/>
                  </a:srgbClr>
                </a:solidFill>
                <a:latin typeface="Calibri"/>
                <a:ea typeface="맑은 고딕"/>
                <a:cs typeface="Calibri"/>
              </a:rPr>
              <a:t>[ </a:t>
            </a:r>
            <a:r>
              <a:rPr lang="en-US" altLang="en-US" sz="2000" b="1" dirty="0">
                <a:solidFill>
                  <a:srgbClr val="C00000">
                    <a:alpha val="0"/>
                  </a:srgbClr>
                </a:solidFill>
                <a:latin typeface="Calibri"/>
                <a:ea typeface="맑은 고딕"/>
                <a:cs typeface="Calibri"/>
              </a:rPr>
              <a:t>want</a:t>
            </a:r>
            <a:r>
              <a:rPr lang="en-US" altLang="en-US" sz="2000" b="1" dirty="0">
                <a:solidFill>
                  <a:srgbClr val="C00000">
                    <a:alpha val="0"/>
                  </a:srgbClr>
                </a:solidFill>
                <a:latin typeface="Calibri"/>
                <a:ea typeface="맑은 고딕"/>
                <a:cs typeface="Calibri"/>
              </a:rPr>
              <a:t> / </a:t>
            </a:r>
            <a:r>
              <a:rPr lang="en-US" altLang="en-US" sz="2000" b="1" dirty="0">
                <a:solidFill>
                  <a:srgbClr val="C00000"/>
                </a:solidFill>
                <a:latin typeface="Calibri"/>
                <a:ea typeface="맑은 고딕"/>
                <a:cs typeface="Calibri"/>
              </a:rPr>
              <a:t>wants</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a:t>
            </a:r>
            <a:r>
              <a:rPr lang="en-US" altLang="en-US" sz="2000" b="1" dirty="0">
                <a:solidFill>
                  <a:srgbClr val="C00000">
                    <a:alpha val="0"/>
                  </a:srgbClr>
                </a:solidFill>
                <a:latin typeface="Calibri"/>
                <a:ea typeface="맑은 고딕"/>
                <a:cs typeface="Calibri"/>
              </a:rPr>
              <a:t>[ </a:t>
            </a:r>
            <a:r>
              <a:rPr lang="en-US" altLang="en-US" sz="2000" b="1" dirty="0">
                <a:solidFill>
                  <a:srgbClr val="C00000"/>
                </a:solidFill>
                <a:latin typeface="Calibri"/>
                <a:ea typeface="맑은 고딕"/>
                <a:cs typeface="Calibri"/>
              </a:rPr>
              <a:t>to finish</a:t>
            </a:r>
            <a:r>
              <a:rPr lang="en-US" altLang="en-US" sz="2000" b="1" dirty="0">
                <a:solidFill>
                  <a:srgbClr val="C00000">
                    <a:alpha val="0"/>
                  </a:srgbClr>
                </a:solidFill>
                <a:latin typeface="Calibri"/>
                <a:ea typeface="맑은 고딕"/>
                <a:cs typeface="Calibri"/>
              </a:rPr>
              <a:t> / </a:t>
            </a:r>
            <a:r>
              <a:rPr lang="en-US" altLang="en-US" sz="2000" b="1" dirty="0">
                <a:solidFill>
                  <a:srgbClr val="C00000">
                    <a:alpha val="0"/>
                  </a:srgbClr>
                </a:solidFill>
                <a:latin typeface="Calibri"/>
                <a:ea typeface="맑은 고딕"/>
                <a:cs typeface="Calibri"/>
              </a:rPr>
              <a:t>finishing</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the race in four hours, the runner will follow the four‑hour pacer.</a:t>
            </a:r>
            <a:endParaRPr lang="ko-KR" sz="2000"/>
          </a:p>
        </p:txBody>
      </p:sp>
      <p:sp>
        <p:nvSpPr>
          <p:cNvPr id="21" name="rv_point_3"/>
          <p:cNvSpPr txBox="1"/>
          <p:nvPr/>
        </p:nvSpPr>
        <p:spPr>
          <a:xfrm>
            <a:off x="457200" y="5388356"/>
            <a:ext cx="11274552" cy="331978"/>
          </a:xfrm>
          <a:prstGeom prst="rect">
            <a:avLst/>
          </a:prstGeom>
          <a:noFill/>
        </p:spPr>
        <p:txBody>
          <a:bodyPr wrap="square" lIns="228600" tIns="54864" rIns="228600" bIns="54864" anchor="t" rtlCol="0">
            <a:noAutofit/>
          </a:bodyPr>
          <a:lstStyle/>
          <a:p>
            <a:pPr algn="l">
              <a:lnSpc>
                <a:spcPts val="1750"/>
              </a:lnSpc>
              <a:spcBef>
                <a:spcPts val="0"/>
              </a:spcBef>
              <a:spcAft>
                <a:spcPts val="0"/>
              </a:spcAft>
              <a:buNone/>
            </a:pPr>
            <a:r>
              <a:rPr lang="ko-KR" altLang="en-US" sz="1400" b="1" dirty="0">
                <a:solidFill>
                  <a:srgbClr val="C00000"/>
                </a:solidFill>
                <a:latin typeface="맑은 고딕"/>
                <a:ea typeface="맑은 고딕"/>
                <a:cs typeface="맑은 고딕"/>
              </a:rPr>
              <a:t>포인트  </a:t>
            </a:r>
            <a:r>
              <a:rPr lang="ko-KR" altLang="en-US" sz="1400" b="0" dirty="0">
                <a:solidFill>
                  <a:srgbClr val="2F5597"/>
                </a:solidFill>
                <a:latin typeface="맑은 고딕"/>
                <a:ea typeface="맑은 고딕"/>
                <a:cs typeface="맑은 고딕"/>
              </a:rPr>
              <a:t>동사의 수 일치 (주어 a runner 단수) · to부정사/동명사/동사원형 (want + to부정사)</a:t>
            </a:r>
            <a:endParaRPr lang="ko-KR" sz="1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25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250"/>
                                        <p:tgtEl>
                                          <p:spTgt spid="1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250"/>
                                        <p:tgtEl>
                                          <p:spTgt spid="1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fade">
                                      <p:cBhvr>
                                        <p:cTn id="16" dur="250"/>
                                        <p:tgtEl>
                                          <p:spTgt spid="1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250"/>
                                        <p:tgtEl>
                                          <p:spTgt spid="2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fade">
                                      <p:cBhvr>
                                        <p:cTn id="22" dur="25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5" grpId="0" animBg="1"/>
      <p:bldP spid="16" grpId="0" animBg="1"/>
      <p:bldP spid="20" grpId="0" animBg="1"/>
      <p:bldP spid="21" grpId="0" animBg="1"/>
    </p:bldLst>
  </p:timing>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8000"/>
            </a:avLst>
          </a:prstGeom>
          <a:solidFill>
            <a:srgbClr val="1E2A5A"/>
          </a:solidFill>
          <a:ln>
            <a:noFill/>
          </a:ln>
        </p:spPr>
        <p:txBody>
          <a:bodyPr wrap="square" lIns="45720" tIns="18288" rIns="45720" bIns="18288" anchor="ctr" rtlCol="0">
            <a:noAutofit/>
          </a:bodyPr>
          <a:lstStyle/>
          <a:p>
            <a:pPr algn="ctr">
              <a:lnSpc>
                <a:spcPts val="2000"/>
              </a:lnSpc>
              <a:spcBef>
                <a:spcPts val="0"/>
              </a:spcBef>
              <a:spcAft>
                <a:spcPts val="0"/>
              </a:spcAft>
              <a:buNone/>
            </a:pPr>
            <a:r>
              <a:rPr lang="en-US" altLang="en-US" sz="1700" b="1" dirty="0">
                <a:solidFill>
                  <a:srgbClr val="FFFFFF"/>
                </a:solidFill>
                <a:latin typeface="Calibri"/>
                <a:ea typeface="맑은 고딕"/>
                <a:cs typeface="Calibri"/>
              </a:rPr>
              <a:t>L5</a:t>
            </a:r>
            <a:endParaRPr lang="ko-KR" sz="1700"/>
          </a:p>
        </p:txBody>
      </p:sp>
      <p:sp>
        <p:nvSpPr>
          <p:cNvPr id="3" name="hdr_chip"/>
          <p:cNvSpPr/>
          <p:nvPr/>
        </p:nvSpPr>
        <p:spPr>
          <a:xfrm>
            <a:off x="1755648" y="274320"/>
            <a:ext cx="1371600" cy="493776"/>
          </a:xfrm>
          <a:prstGeom prst="roundRect">
            <a:avLst>
              <a:gd name="adj" fmla="val 8000"/>
            </a:avLst>
          </a:prstGeom>
          <a:solidFill>
            <a:srgbClr val="E6EAF4"/>
          </a:solidFill>
          <a:ln>
            <a:noFill/>
          </a:ln>
        </p:spPr>
        <p:txBody>
          <a:bodyPr wrap="square" lIns="27432" tIns="18288" rIns="27432" bIns="18288" anchor="ctr" rtlCol="0">
            <a:noAutofit/>
          </a:bodyPr>
          <a:lstStyle/>
          <a:p>
            <a:pPr algn="ctr">
              <a:lnSpc>
                <a:spcPts val="1700"/>
              </a:lnSpc>
              <a:spcBef>
                <a:spcPts val="0"/>
              </a:spcBef>
              <a:spcAft>
                <a:spcPts val="0"/>
              </a:spcAft>
              <a:buNone/>
            </a:pPr>
            <a:r>
              <a:rPr lang="ko-KR" altLang="en-US" sz="1400" b="1" dirty="0">
                <a:solidFill>
                  <a:srgbClr val="1E2A5A"/>
                </a:solidFill>
                <a:latin typeface="맑은 고딕"/>
                <a:ea typeface="맑은 고딕"/>
                <a:cs typeface="맑은 고딕"/>
              </a:rPr>
              <a:t>PART 5 · 4</a:t>
            </a:r>
            <a:endParaRPr lang="ko-KR" sz="1400"/>
          </a:p>
        </p:txBody>
      </p:sp>
      <p:sp>
        <p:nvSpPr>
          <p:cNvPr id="4" name="hdr_q"/>
          <p:cNvSpPr txBox="1"/>
          <p:nvPr/>
        </p:nvSpPr>
        <p:spPr>
          <a:xfrm>
            <a:off x="3246120" y="246888"/>
            <a:ext cx="8485632" cy="548640"/>
          </a:xfrm>
          <a:prstGeom prst="rect">
            <a:avLst/>
          </a:prstGeom>
          <a:noFill/>
        </p:spPr>
        <p:txBody>
          <a:bodyPr wrap="square" lIns="109728" tIns="54864" rIns="109728" bIns="54864" anchor="ctr" rtlCol="0">
            <a:noAutofit/>
          </a:bodyPr>
          <a:lstStyle/>
          <a:p>
            <a:pPr algn="l">
              <a:lnSpc>
                <a:spcPts val="2400"/>
              </a:lnSpc>
              <a:spcBef>
                <a:spcPts val="0"/>
              </a:spcBef>
              <a:spcAft>
                <a:spcPts val="0"/>
              </a:spcAft>
              <a:buNone/>
            </a:pPr>
            <a:r>
              <a:rPr lang="ko-KR" altLang="en-US" sz="2000" b="1" dirty="0">
                <a:solidFill>
                  <a:srgbClr val="1F2328"/>
                </a:solidFill>
                <a:latin typeface="맑은 고딕"/>
                <a:ea typeface="맑은 고딕"/>
                <a:cs typeface="맑은 고딕"/>
              </a:rPr>
              <a:t>[  ] 안에서 어법상 알맞은 것을 고르시오.</a:t>
            </a:r>
            <a:endParaRPr lang="ko-KR" sz="2000"/>
          </a:p>
        </p:txBody>
      </p:sp>
      <p:sp>
        <p:nvSpPr>
          <p:cNvPr id="5" name="ftr_exam"/>
          <p:cNvSpPr txBox="1"/>
          <p:nvPr/>
        </p:nvSpPr>
        <p:spPr>
          <a:xfrm>
            <a:off x="457200" y="6519672"/>
            <a:ext cx="5669280" cy="256032"/>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5</a:t>
            </a:r>
            <a:endParaRPr lang="ko-KR" sz="1000"/>
          </a:p>
        </p:txBody>
      </p:sp>
      <p:sp>
        <p:nvSpPr>
          <p:cNvPr id="6" name="ftr_hint"/>
          <p:cNvSpPr txBox="1"/>
          <p:nvPr/>
        </p:nvSpPr>
        <p:spPr>
          <a:xfrm>
            <a:off x="5971032" y="6519672"/>
            <a:ext cx="5760720" cy="256032"/>
          </a:xfrm>
          <a:prstGeom prst="rect">
            <a:avLst/>
          </a:prstGeom>
          <a:noFill/>
        </p:spPr>
        <p:txBody>
          <a:bodyPr wrap="square" lIns="0" tIns="0" rIns="0" bIns="0" anchor="t" rtlCol="0">
            <a:noAutofit/>
          </a:bodyPr>
          <a:lstStyle/>
          <a:p>
            <a:pPr algn="r">
              <a:lnSpc>
                <a:spcPts val="1200"/>
              </a:lnSpc>
              <a:spcBef>
                <a:spcPts val="0"/>
              </a:spcBef>
              <a:spcAft>
                <a:spcPts val="0"/>
              </a:spcAft>
              <a:buNone/>
            </a:pPr>
            <a:r>
              <a:rPr lang="ko-KR" altLang="en-US" sz="1000" b="0" dirty="0">
                <a:solidFill>
                  <a:srgbClr val="7A808C"/>
                </a:solidFill>
                <a:latin typeface="맑은 고딕"/>
                <a:ea typeface="맑은 고딕"/>
                <a:cs typeface="맑은 고딕"/>
              </a:rPr>
              <a:t>클릭 ① 정답(빨간색) + 문법 포인트 공개</a:t>
            </a:r>
            <a:endParaRPr lang="ko-KR" sz="1000"/>
          </a:p>
        </p:txBody>
      </p:sp>
      <p:sp>
        <p:nvSpPr>
          <p:cNvPr id="7" name="item_card_1"/>
          <p:cNvSpPr/>
          <p:nvPr/>
        </p:nvSpPr>
        <p:spPr>
          <a:xfrm>
            <a:off x="457200" y="950976"/>
            <a:ext cx="11274552" cy="2126234"/>
          </a:xfrm>
          <a:prstGeom prst="roundRect">
            <a:avLst>
              <a:gd name="adj" fmla="val 6000"/>
            </a:avLst>
          </a:prstGeom>
          <a:solidFill>
            <a:srgbClr val="F3F5F9"/>
          </a:solidFill>
          <a:ln w="12700">
            <a:solidFill>
              <a:srgbClr val="D9DFEA"/>
            </a:solidFill>
          </a:ln>
        </p:spPr>
        <p:txBody>
          <a:bodyPr rtlCol="0" anchor="ctr"/>
          <a:lstStyle/>
          <a:p>
            <a:pPr algn="ctr"/>
          </a:p>
        </p:txBody>
      </p:sp>
      <p:sp>
        <p:nvSpPr>
          <p:cNvPr id="8" name="kor_1"/>
          <p:cNvSpPr txBox="1"/>
          <p:nvPr/>
        </p:nvSpPr>
        <p:spPr>
          <a:xfrm>
            <a:off x="457200" y="1060704"/>
            <a:ext cx="11274552" cy="617728"/>
          </a:xfrm>
          <a:prstGeom prst="rect">
            <a:avLst/>
          </a:prstGeom>
          <a:noFill/>
        </p:spPr>
        <p:txBody>
          <a:bodyPr wrap="square" lIns="228600" tIns="54864" rIns="228600" bIns="54864" anchor="t" rtlCol="0">
            <a:noAutofit/>
          </a:bodyPr>
          <a:lstStyle/>
          <a:p>
            <a:pPr algn="l">
              <a:lnSpc>
                <a:spcPts val="2000"/>
              </a:lnSpc>
              <a:spcBef>
                <a:spcPts val="0"/>
              </a:spcBef>
              <a:spcAft>
                <a:spcPts val="0"/>
              </a:spcAft>
              <a:buNone/>
            </a:pPr>
            <a:r>
              <a:rPr lang="en-US" altLang="en-US" sz="1600" b="1" dirty="0">
                <a:solidFill>
                  <a:srgbClr val="1E2A5A"/>
                </a:solidFill>
                <a:latin typeface="Calibri"/>
                <a:ea typeface="맑은 고딕"/>
                <a:cs typeface="Calibri"/>
              </a:rPr>
              <a:t>10.  </a:t>
            </a:r>
            <a:r>
              <a:rPr lang="ko-KR" altLang="en-US" sz="1600" b="0" dirty="0">
                <a:solidFill>
                  <a:srgbClr val="3C4558"/>
                </a:solidFill>
                <a:latin typeface="맑은 고딕"/>
                <a:ea typeface="맑은 고딕"/>
                <a:cs typeface="맑은 고딕"/>
              </a:rPr>
              <a:t>페이서가 시간을 계속 확인해 주기 때문에, 주자는 정해진 시간 안에 마라톤을 완주한다는 목표를 더 수월하게 이룰 수 있다.</a:t>
            </a:r>
            <a:endParaRPr lang="ko-KR" sz="1600"/>
          </a:p>
        </p:txBody>
      </p:sp>
      <p:sp>
        <p:nvSpPr>
          <p:cNvPr id="9" name="eng_1"/>
          <p:cNvSpPr txBox="1"/>
          <p:nvPr/>
        </p:nvSpPr>
        <p:spPr>
          <a:xfrm>
            <a:off x="457200" y="1623568"/>
            <a:ext cx="11274552" cy="11765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solidFill>
                <a:latin typeface="Calibri"/>
                <a:ea typeface="맑은 고딕"/>
                <a:cs typeface="Calibri"/>
              </a:rPr>
              <a:t>Since the pacer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keeps</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keep</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track of the time, the runner can achieve his or her goal of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to finish</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finishing</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the marathon in a particular time more easily.</a:t>
            </a:r>
            <a:endParaRPr lang="ko-KR" sz="2000"/>
          </a:p>
        </p:txBody>
      </p:sp>
      <p:sp>
        <p:nvSpPr>
          <p:cNvPr id="10" name="rv_eng_1"/>
          <p:cNvSpPr txBox="1"/>
          <p:nvPr/>
        </p:nvSpPr>
        <p:spPr>
          <a:xfrm>
            <a:off x="457200" y="1623568"/>
            <a:ext cx="11274552" cy="11765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alpha val="0"/>
                  </a:srgbClr>
                </a:solidFill>
                <a:latin typeface="Calibri"/>
                <a:ea typeface="맑은 고딕"/>
                <a:cs typeface="Calibri"/>
              </a:rPr>
              <a:t>Since the pacer </a:t>
            </a:r>
            <a:r>
              <a:rPr lang="en-US" altLang="en-US" sz="2000" b="1" dirty="0">
                <a:solidFill>
                  <a:srgbClr val="C00000">
                    <a:alpha val="0"/>
                  </a:srgbClr>
                </a:solidFill>
                <a:latin typeface="Calibri"/>
                <a:ea typeface="맑은 고딕"/>
                <a:cs typeface="Calibri"/>
              </a:rPr>
              <a:t>[ </a:t>
            </a:r>
            <a:r>
              <a:rPr lang="en-US" altLang="en-US" sz="2000" b="1" dirty="0">
                <a:solidFill>
                  <a:srgbClr val="C00000"/>
                </a:solidFill>
                <a:latin typeface="Calibri"/>
                <a:ea typeface="맑은 고딕"/>
                <a:cs typeface="Calibri"/>
              </a:rPr>
              <a:t>keeps</a:t>
            </a:r>
            <a:r>
              <a:rPr lang="en-US" altLang="en-US" sz="2000" b="1" dirty="0">
                <a:solidFill>
                  <a:srgbClr val="C00000">
                    <a:alpha val="0"/>
                  </a:srgbClr>
                </a:solidFill>
                <a:latin typeface="Calibri"/>
                <a:ea typeface="맑은 고딕"/>
                <a:cs typeface="Calibri"/>
              </a:rPr>
              <a:t> / </a:t>
            </a:r>
            <a:r>
              <a:rPr lang="en-US" altLang="en-US" sz="2000" b="1" dirty="0">
                <a:solidFill>
                  <a:srgbClr val="C00000">
                    <a:alpha val="0"/>
                  </a:srgbClr>
                </a:solidFill>
                <a:latin typeface="Calibri"/>
                <a:ea typeface="맑은 고딕"/>
                <a:cs typeface="Calibri"/>
              </a:rPr>
              <a:t>keep</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track of the time, the runner can achieve his or her goal of </a:t>
            </a:r>
            <a:r>
              <a:rPr lang="en-US" altLang="en-US" sz="2000" b="1" dirty="0">
                <a:solidFill>
                  <a:srgbClr val="C00000">
                    <a:alpha val="0"/>
                  </a:srgbClr>
                </a:solidFill>
                <a:latin typeface="Calibri"/>
                <a:ea typeface="맑은 고딕"/>
                <a:cs typeface="Calibri"/>
              </a:rPr>
              <a:t>[ </a:t>
            </a:r>
            <a:r>
              <a:rPr lang="en-US" altLang="en-US" sz="2000" b="1" dirty="0">
                <a:solidFill>
                  <a:srgbClr val="C00000">
                    <a:alpha val="0"/>
                  </a:srgbClr>
                </a:solidFill>
                <a:latin typeface="Calibri"/>
                <a:ea typeface="맑은 고딕"/>
                <a:cs typeface="Calibri"/>
              </a:rPr>
              <a:t>to finish</a:t>
            </a:r>
            <a:r>
              <a:rPr lang="en-US" altLang="en-US" sz="2000" b="1" dirty="0">
                <a:solidFill>
                  <a:srgbClr val="C00000">
                    <a:alpha val="0"/>
                  </a:srgbClr>
                </a:solidFill>
                <a:latin typeface="Calibri"/>
                <a:ea typeface="맑은 고딕"/>
                <a:cs typeface="Calibri"/>
              </a:rPr>
              <a:t> / </a:t>
            </a:r>
            <a:r>
              <a:rPr lang="en-US" altLang="en-US" sz="2000" b="1" dirty="0">
                <a:solidFill>
                  <a:srgbClr val="C00000"/>
                </a:solidFill>
                <a:latin typeface="Calibri"/>
                <a:ea typeface="맑은 고딕"/>
                <a:cs typeface="Calibri"/>
              </a:rPr>
              <a:t>finishing</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the marathon in a particular time more easily.</a:t>
            </a:r>
            <a:endParaRPr lang="ko-KR" sz="2000"/>
          </a:p>
        </p:txBody>
      </p:sp>
      <p:sp>
        <p:nvSpPr>
          <p:cNvPr id="11" name="rv_point_1"/>
          <p:cNvSpPr txBox="1"/>
          <p:nvPr/>
        </p:nvSpPr>
        <p:spPr>
          <a:xfrm>
            <a:off x="457200" y="2745232"/>
            <a:ext cx="11274552" cy="331978"/>
          </a:xfrm>
          <a:prstGeom prst="rect">
            <a:avLst/>
          </a:prstGeom>
          <a:noFill/>
        </p:spPr>
        <p:txBody>
          <a:bodyPr wrap="square" lIns="228600" tIns="54864" rIns="228600" bIns="54864" anchor="t" rtlCol="0">
            <a:noAutofit/>
          </a:bodyPr>
          <a:lstStyle/>
          <a:p>
            <a:pPr algn="l">
              <a:lnSpc>
                <a:spcPts val="1750"/>
              </a:lnSpc>
              <a:spcBef>
                <a:spcPts val="0"/>
              </a:spcBef>
              <a:spcAft>
                <a:spcPts val="0"/>
              </a:spcAft>
              <a:buNone/>
            </a:pPr>
            <a:r>
              <a:rPr lang="ko-KR" altLang="en-US" sz="1400" b="1" dirty="0">
                <a:solidFill>
                  <a:srgbClr val="C00000"/>
                </a:solidFill>
                <a:latin typeface="맑은 고딕"/>
                <a:ea typeface="맑은 고딕"/>
                <a:cs typeface="맑은 고딕"/>
              </a:rPr>
              <a:t>포인트  </a:t>
            </a:r>
            <a:r>
              <a:rPr lang="ko-KR" altLang="en-US" sz="1400" b="0" dirty="0">
                <a:solidFill>
                  <a:srgbClr val="2F5597"/>
                </a:solidFill>
                <a:latin typeface="맑은 고딕"/>
                <a:ea typeface="맑은 고딕"/>
                <a:cs typeface="맑은 고딕"/>
              </a:rPr>
              <a:t>동사의 수 일치 (주어 the pacer 단수) · to부정사/동명사/동사원형 (전치사 of + 동명사)</a:t>
            </a:r>
            <a:endParaRPr lang="ko-KR" sz="1400"/>
          </a:p>
        </p:txBody>
      </p:sp>
      <p:sp>
        <p:nvSpPr>
          <p:cNvPr id="12" name="item_card_2"/>
          <p:cNvSpPr/>
          <p:nvPr/>
        </p:nvSpPr>
        <p:spPr>
          <a:xfrm>
            <a:off x="457200" y="3186938"/>
            <a:ext cx="11274552" cy="1516634"/>
          </a:xfrm>
          <a:prstGeom prst="roundRect">
            <a:avLst>
              <a:gd name="adj" fmla="val 6000"/>
            </a:avLst>
          </a:prstGeom>
          <a:solidFill>
            <a:srgbClr val="F3F5F9"/>
          </a:solidFill>
          <a:ln w="12700">
            <a:solidFill>
              <a:srgbClr val="D9DFEA"/>
            </a:solidFill>
          </a:ln>
        </p:spPr>
        <p:txBody>
          <a:bodyPr rtlCol="0" anchor="ctr"/>
          <a:lstStyle/>
          <a:p>
            <a:pPr algn="ctr"/>
          </a:p>
        </p:txBody>
      </p:sp>
      <p:sp>
        <p:nvSpPr>
          <p:cNvPr id="13" name="kor_2"/>
          <p:cNvSpPr txBox="1"/>
          <p:nvPr/>
        </p:nvSpPr>
        <p:spPr>
          <a:xfrm>
            <a:off x="457200" y="3296666"/>
            <a:ext cx="11274552" cy="363728"/>
          </a:xfrm>
          <a:prstGeom prst="rect">
            <a:avLst/>
          </a:prstGeom>
          <a:noFill/>
        </p:spPr>
        <p:txBody>
          <a:bodyPr wrap="square" lIns="228600" tIns="54864" rIns="228600" bIns="54864" anchor="t" rtlCol="0">
            <a:noAutofit/>
          </a:bodyPr>
          <a:lstStyle/>
          <a:p>
            <a:pPr algn="l">
              <a:lnSpc>
                <a:spcPts val="2000"/>
              </a:lnSpc>
              <a:spcBef>
                <a:spcPts val="0"/>
              </a:spcBef>
              <a:spcAft>
                <a:spcPts val="0"/>
              </a:spcAft>
              <a:buNone/>
            </a:pPr>
            <a:r>
              <a:rPr lang="en-US" altLang="en-US" sz="1600" b="1" dirty="0">
                <a:solidFill>
                  <a:srgbClr val="1E2A5A"/>
                </a:solidFill>
                <a:latin typeface="Calibri"/>
                <a:ea typeface="맑은 고딕"/>
                <a:cs typeface="Calibri"/>
              </a:rPr>
              <a:t>11.  </a:t>
            </a:r>
            <a:r>
              <a:rPr lang="ko-KR" altLang="en-US" sz="1600" b="0" dirty="0">
                <a:solidFill>
                  <a:srgbClr val="3C4558"/>
                </a:solidFill>
                <a:latin typeface="맑은 고딕"/>
                <a:ea typeface="맑은 고딕"/>
                <a:cs typeface="맑은 고딕"/>
              </a:rPr>
              <a:t>요컨대 페이서는 달리지만 이기려고 달리는 것은 아니다. 그들은 남을 위해 달린다.</a:t>
            </a:r>
            <a:endParaRPr lang="ko-KR" sz="1600"/>
          </a:p>
        </p:txBody>
      </p:sp>
      <p:sp>
        <p:nvSpPr>
          <p:cNvPr id="14" name="eng_2"/>
          <p:cNvSpPr txBox="1"/>
          <p:nvPr/>
        </p:nvSpPr>
        <p:spPr>
          <a:xfrm>
            <a:off x="457200" y="3605530"/>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solidFill>
                <a:latin typeface="Calibri"/>
                <a:ea typeface="맑은 고딕"/>
                <a:cs typeface="Calibri"/>
              </a:rPr>
              <a:t>In short, pacers run but they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doesn’t</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don’t</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run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to win</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winning</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They run for others.</a:t>
            </a:r>
            <a:endParaRPr lang="ko-KR" sz="2000"/>
          </a:p>
        </p:txBody>
      </p:sp>
      <p:sp>
        <p:nvSpPr>
          <p:cNvPr id="15" name="rv_eng_2"/>
          <p:cNvSpPr txBox="1"/>
          <p:nvPr/>
        </p:nvSpPr>
        <p:spPr>
          <a:xfrm>
            <a:off x="457200" y="3605530"/>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alpha val="0"/>
                  </a:srgbClr>
                </a:solidFill>
                <a:latin typeface="Calibri"/>
                <a:ea typeface="맑은 고딕"/>
                <a:cs typeface="Calibri"/>
              </a:rPr>
              <a:t>In short, pacers run but they </a:t>
            </a:r>
            <a:r>
              <a:rPr lang="en-US" altLang="en-US" sz="2000" b="1" dirty="0">
                <a:solidFill>
                  <a:srgbClr val="C00000">
                    <a:alpha val="0"/>
                  </a:srgbClr>
                </a:solidFill>
                <a:latin typeface="Calibri"/>
                <a:ea typeface="맑은 고딕"/>
                <a:cs typeface="Calibri"/>
              </a:rPr>
              <a:t>[ </a:t>
            </a:r>
            <a:r>
              <a:rPr lang="en-US" altLang="en-US" sz="2000" b="1" dirty="0">
                <a:solidFill>
                  <a:srgbClr val="C00000">
                    <a:alpha val="0"/>
                  </a:srgbClr>
                </a:solidFill>
                <a:latin typeface="Calibri"/>
                <a:ea typeface="맑은 고딕"/>
                <a:cs typeface="Calibri"/>
              </a:rPr>
              <a:t>doesn’t</a:t>
            </a:r>
            <a:r>
              <a:rPr lang="en-US" altLang="en-US" sz="2000" b="1" dirty="0">
                <a:solidFill>
                  <a:srgbClr val="C00000">
                    <a:alpha val="0"/>
                  </a:srgbClr>
                </a:solidFill>
                <a:latin typeface="Calibri"/>
                <a:ea typeface="맑은 고딕"/>
                <a:cs typeface="Calibri"/>
              </a:rPr>
              <a:t> / </a:t>
            </a:r>
            <a:r>
              <a:rPr lang="en-US" altLang="en-US" sz="2000" b="1" dirty="0">
                <a:solidFill>
                  <a:srgbClr val="C00000"/>
                </a:solidFill>
                <a:latin typeface="Calibri"/>
                <a:ea typeface="맑은 고딕"/>
                <a:cs typeface="Calibri"/>
              </a:rPr>
              <a:t>don’t</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run </a:t>
            </a:r>
            <a:r>
              <a:rPr lang="en-US" altLang="en-US" sz="2000" b="1" dirty="0">
                <a:solidFill>
                  <a:srgbClr val="C00000">
                    <a:alpha val="0"/>
                  </a:srgbClr>
                </a:solidFill>
                <a:latin typeface="Calibri"/>
                <a:ea typeface="맑은 고딕"/>
                <a:cs typeface="Calibri"/>
              </a:rPr>
              <a:t>[ </a:t>
            </a:r>
            <a:r>
              <a:rPr lang="en-US" altLang="en-US" sz="2000" b="1" dirty="0">
                <a:solidFill>
                  <a:srgbClr val="C00000"/>
                </a:solidFill>
                <a:latin typeface="Calibri"/>
                <a:ea typeface="맑은 고딕"/>
                <a:cs typeface="Calibri"/>
              </a:rPr>
              <a:t>to win</a:t>
            </a:r>
            <a:r>
              <a:rPr lang="en-US" altLang="en-US" sz="2000" b="1" dirty="0">
                <a:solidFill>
                  <a:srgbClr val="C00000">
                    <a:alpha val="0"/>
                  </a:srgbClr>
                </a:solidFill>
                <a:latin typeface="Calibri"/>
                <a:ea typeface="맑은 고딕"/>
                <a:cs typeface="Calibri"/>
              </a:rPr>
              <a:t> / </a:t>
            </a:r>
            <a:r>
              <a:rPr lang="en-US" altLang="en-US" sz="2000" b="1" dirty="0">
                <a:solidFill>
                  <a:srgbClr val="C00000">
                    <a:alpha val="0"/>
                  </a:srgbClr>
                </a:solidFill>
                <a:latin typeface="Calibri"/>
                <a:ea typeface="맑은 고딕"/>
                <a:cs typeface="Calibri"/>
              </a:rPr>
              <a:t>winning</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They run for others.</a:t>
            </a:r>
            <a:endParaRPr lang="ko-KR" sz="2000"/>
          </a:p>
        </p:txBody>
      </p:sp>
      <p:sp>
        <p:nvSpPr>
          <p:cNvPr id="16" name="rv_point_2"/>
          <p:cNvSpPr txBox="1"/>
          <p:nvPr/>
        </p:nvSpPr>
        <p:spPr>
          <a:xfrm>
            <a:off x="457200" y="4371594"/>
            <a:ext cx="11274552" cy="331978"/>
          </a:xfrm>
          <a:prstGeom prst="rect">
            <a:avLst/>
          </a:prstGeom>
          <a:noFill/>
        </p:spPr>
        <p:txBody>
          <a:bodyPr wrap="square" lIns="228600" tIns="54864" rIns="228600" bIns="54864" anchor="t" rtlCol="0">
            <a:noAutofit/>
          </a:bodyPr>
          <a:lstStyle/>
          <a:p>
            <a:pPr algn="l">
              <a:lnSpc>
                <a:spcPts val="1750"/>
              </a:lnSpc>
              <a:spcBef>
                <a:spcPts val="0"/>
              </a:spcBef>
              <a:spcAft>
                <a:spcPts val="0"/>
              </a:spcAft>
              <a:buNone/>
            </a:pPr>
            <a:r>
              <a:rPr lang="ko-KR" altLang="en-US" sz="1400" b="1" dirty="0">
                <a:solidFill>
                  <a:srgbClr val="C00000"/>
                </a:solidFill>
                <a:latin typeface="맑은 고딕"/>
                <a:ea typeface="맑은 고딕"/>
                <a:cs typeface="맑은 고딕"/>
              </a:rPr>
              <a:t>포인트  </a:t>
            </a:r>
            <a:r>
              <a:rPr lang="ko-KR" altLang="en-US" sz="1400" b="0" dirty="0">
                <a:solidFill>
                  <a:srgbClr val="2F5597"/>
                </a:solidFill>
                <a:latin typeface="맑은 고딕"/>
                <a:ea typeface="맑은 고딕"/>
                <a:cs typeface="맑은 고딕"/>
              </a:rPr>
              <a:t>동사의 수 일치 (주어 they) · to부정사/동명사/동사원형 (목적: ~하기 위해)</a:t>
            </a:r>
            <a:endParaRPr lang="ko-KR" sz="1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25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250"/>
                                        <p:tgtEl>
                                          <p:spTgt spid="1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250"/>
                                        <p:tgtEl>
                                          <p:spTgt spid="1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fade">
                                      <p:cBhvr>
                                        <p:cTn id="16" dur="25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5" grpId="0" animBg="1"/>
      <p:bldP spid="16" grpId="0" animBg="1"/>
    </p:bldLst>
  </p:timing>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8000"/>
            </a:avLst>
          </a:prstGeom>
          <a:solidFill>
            <a:srgbClr val="1E2A5A"/>
          </a:solidFill>
          <a:ln>
            <a:noFill/>
          </a:ln>
        </p:spPr>
        <p:txBody>
          <a:bodyPr wrap="square" lIns="45720" tIns="18288" rIns="45720" bIns="18288" anchor="ctr" rtlCol="0">
            <a:noAutofit/>
          </a:bodyPr>
          <a:lstStyle/>
          <a:p>
            <a:pPr algn="ctr">
              <a:lnSpc>
                <a:spcPts val="2000"/>
              </a:lnSpc>
              <a:spcBef>
                <a:spcPts val="0"/>
              </a:spcBef>
              <a:spcAft>
                <a:spcPts val="0"/>
              </a:spcAft>
              <a:buNone/>
            </a:pPr>
            <a:r>
              <a:rPr lang="en-US" altLang="en-US" sz="1700" b="1" dirty="0">
                <a:solidFill>
                  <a:srgbClr val="FFFFFF"/>
                </a:solidFill>
                <a:latin typeface="Calibri"/>
                <a:ea typeface="맑은 고딕"/>
                <a:cs typeface="Calibri"/>
              </a:rPr>
              <a:t>L5</a:t>
            </a:r>
            <a:endParaRPr lang="ko-KR" sz="1700"/>
          </a:p>
        </p:txBody>
      </p:sp>
      <p:sp>
        <p:nvSpPr>
          <p:cNvPr id="3" name="hdr_chip"/>
          <p:cNvSpPr/>
          <p:nvPr/>
        </p:nvSpPr>
        <p:spPr>
          <a:xfrm>
            <a:off x="1755648" y="274320"/>
            <a:ext cx="1371600" cy="493776"/>
          </a:xfrm>
          <a:prstGeom prst="roundRect">
            <a:avLst>
              <a:gd name="adj" fmla="val 8000"/>
            </a:avLst>
          </a:prstGeom>
          <a:solidFill>
            <a:srgbClr val="E6EAF4"/>
          </a:solidFill>
          <a:ln>
            <a:noFill/>
          </a:ln>
        </p:spPr>
        <p:txBody>
          <a:bodyPr wrap="square" lIns="27432" tIns="18288" rIns="27432" bIns="18288" anchor="ctr" rtlCol="0">
            <a:noAutofit/>
          </a:bodyPr>
          <a:lstStyle/>
          <a:p>
            <a:pPr algn="ctr">
              <a:lnSpc>
                <a:spcPts val="1700"/>
              </a:lnSpc>
              <a:spcBef>
                <a:spcPts val="0"/>
              </a:spcBef>
              <a:spcAft>
                <a:spcPts val="0"/>
              </a:spcAft>
              <a:buNone/>
            </a:pPr>
            <a:r>
              <a:rPr lang="ko-KR" altLang="en-US" sz="1400" b="1" dirty="0">
                <a:solidFill>
                  <a:srgbClr val="1E2A5A"/>
                </a:solidFill>
                <a:latin typeface="맑은 고딕"/>
                <a:ea typeface="맑은 고딕"/>
                <a:cs typeface="맑은 고딕"/>
              </a:rPr>
              <a:t>PART 5 · 5</a:t>
            </a:r>
            <a:endParaRPr lang="ko-KR" sz="1400"/>
          </a:p>
        </p:txBody>
      </p:sp>
      <p:sp>
        <p:nvSpPr>
          <p:cNvPr id="4" name="hdr_q"/>
          <p:cNvSpPr txBox="1"/>
          <p:nvPr/>
        </p:nvSpPr>
        <p:spPr>
          <a:xfrm>
            <a:off x="3246120" y="246888"/>
            <a:ext cx="8485632" cy="548640"/>
          </a:xfrm>
          <a:prstGeom prst="rect">
            <a:avLst/>
          </a:prstGeom>
          <a:noFill/>
        </p:spPr>
        <p:txBody>
          <a:bodyPr wrap="square" lIns="109728" tIns="54864" rIns="109728" bIns="54864" anchor="ctr" rtlCol="0">
            <a:noAutofit/>
          </a:bodyPr>
          <a:lstStyle/>
          <a:p>
            <a:pPr algn="l">
              <a:lnSpc>
                <a:spcPts val="2400"/>
              </a:lnSpc>
              <a:spcBef>
                <a:spcPts val="0"/>
              </a:spcBef>
              <a:spcAft>
                <a:spcPts val="0"/>
              </a:spcAft>
              <a:buNone/>
            </a:pPr>
            <a:r>
              <a:rPr lang="ko-KR" altLang="en-US" sz="2000" b="1" dirty="0">
                <a:solidFill>
                  <a:srgbClr val="1F2328"/>
                </a:solidFill>
                <a:latin typeface="맑은 고딕"/>
                <a:ea typeface="맑은 고딕"/>
                <a:cs typeface="맑은 고딕"/>
              </a:rPr>
              <a:t>[  ] 안에서 어법상 알맞은 것을 고르시오.</a:t>
            </a:r>
            <a:endParaRPr lang="ko-KR" sz="2000"/>
          </a:p>
        </p:txBody>
      </p:sp>
      <p:sp>
        <p:nvSpPr>
          <p:cNvPr id="5" name="ftr_exam"/>
          <p:cNvSpPr txBox="1"/>
          <p:nvPr/>
        </p:nvSpPr>
        <p:spPr>
          <a:xfrm>
            <a:off x="457200" y="6519672"/>
            <a:ext cx="5669280" cy="256032"/>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5</a:t>
            </a:r>
            <a:endParaRPr lang="ko-KR" sz="1000"/>
          </a:p>
        </p:txBody>
      </p:sp>
      <p:sp>
        <p:nvSpPr>
          <p:cNvPr id="6" name="ftr_hint"/>
          <p:cNvSpPr txBox="1"/>
          <p:nvPr/>
        </p:nvSpPr>
        <p:spPr>
          <a:xfrm>
            <a:off x="5971032" y="6519672"/>
            <a:ext cx="5760720" cy="256032"/>
          </a:xfrm>
          <a:prstGeom prst="rect">
            <a:avLst/>
          </a:prstGeom>
          <a:noFill/>
        </p:spPr>
        <p:txBody>
          <a:bodyPr wrap="square" lIns="0" tIns="0" rIns="0" bIns="0" anchor="t" rtlCol="0">
            <a:noAutofit/>
          </a:bodyPr>
          <a:lstStyle/>
          <a:p>
            <a:pPr algn="r">
              <a:lnSpc>
                <a:spcPts val="1200"/>
              </a:lnSpc>
              <a:spcBef>
                <a:spcPts val="0"/>
              </a:spcBef>
              <a:spcAft>
                <a:spcPts val="0"/>
              </a:spcAft>
              <a:buNone/>
            </a:pPr>
            <a:r>
              <a:rPr lang="ko-KR" altLang="en-US" sz="1000" b="0" dirty="0">
                <a:solidFill>
                  <a:srgbClr val="7A808C"/>
                </a:solidFill>
                <a:latin typeface="맑은 고딕"/>
                <a:ea typeface="맑은 고딕"/>
                <a:cs typeface="맑은 고딕"/>
              </a:rPr>
              <a:t>클릭 ① 정답(빨간색) + 문법 포인트 공개</a:t>
            </a:r>
            <a:endParaRPr lang="ko-KR" sz="1000"/>
          </a:p>
        </p:txBody>
      </p:sp>
      <p:sp>
        <p:nvSpPr>
          <p:cNvPr id="7" name="item_card_1"/>
          <p:cNvSpPr/>
          <p:nvPr/>
        </p:nvSpPr>
        <p:spPr>
          <a:xfrm>
            <a:off x="457200" y="950976"/>
            <a:ext cx="11274552" cy="1770633"/>
          </a:xfrm>
          <a:prstGeom prst="roundRect">
            <a:avLst>
              <a:gd name="adj" fmla="val 6000"/>
            </a:avLst>
          </a:prstGeom>
          <a:solidFill>
            <a:srgbClr val="F3F5F9"/>
          </a:solidFill>
          <a:ln w="12700">
            <a:solidFill>
              <a:srgbClr val="D9DFEA"/>
            </a:solidFill>
          </a:ln>
        </p:spPr>
        <p:txBody>
          <a:bodyPr rtlCol="0" anchor="ctr"/>
          <a:lstStyle/>
          <a:p>
            <a:pPr algn="ctr"/>
          </a:p>
        </p:txBody>
      </p:sp>
      <p:sp>
        <p:nvSpPr>
          <p:cNvPr id="8" name="kor_1"/>
          <p:cNvSpPr txBox="1"/>
          <p:nvPr/>
        </p:nvSpPr>
        <p:spPr>
          <a:xfrm>
            <a:off x="457200" y="1060704"/>
            <a:ext cx="11274552" cy="617728"/>
          </a:xfrm>
          <a:prstGeom prst="rect">
            <a:avLst/>
          </a:prstGeom>
          <a:noFill/>
        </p:spPr>
        <p:txBody>
          <a:bodyPr wrap="square" lIns="228600" tIns="54864" rIns="228600" bIns="54864" anchor="t" rtlCol="0">
            <a:noAutofit/>
          </a:bodyPr>
          <a:lstStyle/>
          <a:p>
            <a:pPr algn="l">
              <a:lnSpc>
                <a:spcPts val="2000"/>
              </a:lnSpc>
              <a:spcBef>
                <a:spcPts val="0"/>
              </a:spcBef>
              <a:spcAft>
                <a:spcPts val="0"/>
              </a:spcAft>
              <a:buNone/>
            </a:pPr>
            <a:r>
              <a:rPr lang="en-US" altLang="en-US" sz="1600" b="1" dirty="0">
                <a:solidFill>
                  <a:srgbClr val="1E2A5A"/>
                </a:solidFill>
                <a:latin typeface="Calibri"/>
                <a:ea typeface="맑은 고딕"/>
                <a:cs typeface="Calibri"/>
              </a:rPr>
              <a:t>12.  </a:t>
            </a:r>
            <a:r>
              <a:rPr lang="ko-KR" altLang="en-US" sz="1600" b="0" dirty="0">
                <a:solidFill>
                  <a:srgbClr val="3C4558"/>
                </a:solidFill>
                <a:latin typeface="맑은 고딕"/>
                <a:ea typeface="맑은 고딕"/>
                <a:cs typeface="맑은 고딕"/>
              </a:rPr>
              <a:t>대부분의 자동차 경주에서는 차와 운전자만 보일지 모르지만, 운전자 뒤에는 한 팀이 있다. 이 팀을 피트 크루라고 부른다.</a:t>
            </a:r>
            <a:endParaRPr lang="ko-KR" sz="1600"/>
          </a:p>
        </p:txBody>
      </p:sp>
      <p:sp>
        <p:nvSpPr>
          <p:cNvPr id="9" name="eng_1"/>
          <p:cNvSpPr txBox="1"/>
          <p:nvPr/>
        </p:nvSpPr>
        <p:spPr>
          <a:xfrm>
            <a:off x="457200" y="1623568"/>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solidFill>
                <a:latin typeface="Calibri"/>
                <a:ea typeface="맑은 고딕"/>
                <a:cs typeface="Calibri"/>
              </a:rPr>
              <a:t>You may only see the car and the driver during most car races, but there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is</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are</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a team behind the driver. This team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calls</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is called</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a pit crew.</a:t>
            </a:r>
            <a:endParaRPr lang="ko-KR" sz="2000"/>
          </a:p>
        </p:txBody>
      </p:sp>
      <p:sp>
        <p:nvSpPr>
          <p:cNvPr id="10" name="rv_eng_1"/>
          <p:cNvSpPr txBox="1"/>
          <p:nvPr/>
        </p:nvSpPr>
        <p:spPr>
          <a:xfrm>
            <a:off x="457200" y="1623568"/>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alpha val="0"/>
                  </a:srgbClr>
                </a:solidFill>
                <a:latin typeface="Calibri"/>
                <a:ea typeface="맑은 고딕"/>
                <a:cs typeface="Calibri"/>
              </a:rPr>
              <a:t>You may only see the car and the driver during most car races, but there </a:t>
            </a:r>
            <a:r>
              <a:rPr lang="en-US" altLang="en-US" sz="2000" b="1" dirty="0">
                <a:solidFill>
                  <a:srgbClr val="C00000">
                    <a:alpha val="0"/>
                  </a:srgbClr>
                </a:solidFill>
                <a:latin typeface="Calibri"/>
                <a:ea typeface="맑은 고딕"/>
                <a:cs typeface="Calibri"/>
              </a:rPr>
              <a:t>[ </a:t>
            </a:r>
            <a:r>
              <a:rPr lang="en-US" altLang="en-US" sz="2000" b="1" dirty="0">
                <a:solidFill>
                  <a:srgbClr val="C00000"/>
                </a:solidFill>
                <a:latin typeface="Calibri"/>
                <a:ea typeface="맑은 고딕"/>
                <a:cs typeface="Calibri"/>
              </a:rPr>
              <a:t>is</a:t>
            </a:r>
            <a:r>
              <a:rPr lang="en-US" altLang="en-US" sz="2000" b="1" dirty="0">
                <a:solidFill>
                  <a:srgbClr val="C00000">
                    <a:alpha val="0"/>
                  </a:srgbClr>
                </a:solidFill>
                <a:latin typeface="Calibri"/>
                <a:ea typeface="맑은 고딕"/>
                <a:cs typeface="Calibri"/>
              </a:rPr>
              <a:t> / </a:t>
            </a:r>
            <a:r>
              <a:rPr lang="en-US" altLang="en-US" sz="2000" b="1" dirty="0">
                <a:solidFill>
                  <a:srgbClr val="C00000">
                    <a:alpha val="0"/>
                  </a:srgbClr>
                </a:solidFill>
                <a:latin typeface="Calibri"/>
                <a:ea typeface="맑은 고딕"/>
                <a:cs typeface="Calibri"/>
              </a:rPr>
              <a:t>are</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a team behind the driver. This team </a:t>
            </a:r>
            <a:r>
              <a:rPr lang="en-US" altLang="en-US" sz="2000" b="1" dirty="0">
                <a:solidFill>
                  <a:srgbClr val="C00000">
                    <a:alpha val="0"/>
                  </a:srgbClr>
                </a:solidFill>
                <a:latin typeface="Calibri"/>
                <a:ea typeface="맑은 고딕"/>
                <a:cs typeface="Calibri"/>
              </a:rPr>
              <a:t>[ </a:t>
            </a:r>
            <a:r>
              <a:rPr lang="en-US" altLang="en-US" sz="2000" b="1" dirty="0">
                <a:solidFill>
                  <a:srgbClr val="C00000">
                    <a:alpha val="0"/>
                  </a:srgbClr>
                </a:solidFill>
                <a:latin typeface="Calibri"/>
                <a:ea typeface="맑은 고딕"/>
                <a:cs typeface="Calibri"/>
              </a:rPr>
              <a:t>calls</a:t>
            </a:r>
            <a:r>
              <a:rPr lang="en-US" altLang="en-US" sz="2000" b="1" dirty="0">
                <a:solidFill>
                  <a:srgbClr val="C00000">
                    <a:alpha val="0"/>
                  </a:srgbClr>
                </a:solidFill>
                <a:latin typeface="Calibri"/>
                <a:ea typeface="맑은 고딕"/>
                <a:cs typeface="Calibri"/>
              </a:rPr>
              <a:t> / </a:t>
            </a:r>
            <a:r>
              <a:rPr lang="en-US" altLang="en-US" sz="2000" b="1" dirty="0">
                <a:solidFill>
                  <a:srgbClr val="C00000"/>
                </a:solidFill>
                <a:latin typeface="Calibri"/>
                <a:ea typeface="맑은 고딕"/>
                <a:cs typeface="Calibri"/>
              </a:rPr>
              <a:t>is called</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a pit crew.</a:t>
            </a:r>
            <a:endParaRPr lang="ko-KR" sz="2000"/>
          </a:p>
        </p:txBody>
      </p:sp>
      <p:sp>
        <p:nvSpPr>
          <p:cNvPr id="11" name="rv_point_1"/>
          <p:cNvSpPr txBox="1"/>
          <p:nvPr/>
        </p:nvSpPr>
        <p:spPr>
          <a:xfrm>
            <a:off x="457200" y="2389632"/>
            <a:ext cx="11274552" cy="331978"/>
          </a:xfrm>
          <a:prstGeom prst="rect">
            <a:avLst/>
          </a:prstGeom>
          <a:noFill/>
        </p:spPr>
        <p:txBody>
          <a:bodyPr wrap="square" lIns="228600" tIns="54864" rIns="228600" bIns="54864" anchor="t" rtlCol="0">
            <a:noAutofit/>
          </a:bodyPr>
          <a:lstStyle/>
          <a:p>
            <a:pPr algn="l">
              <a:lnSpc>
                <a:spcPts val="1750"/>
              </a:lnSpc>
              <a:spcBef>
                <a:spcPts val="0"/>
              </a:spcBef>
              <a:spcAft>
                <a:spcPts val="0"/>
              </a:spcAft>
              <a:buNone/>
            </a:pPr>
            <a:r>
              <a:rPr lang="ko-KR" altLang="en-US" sz="1400" b="1" dirty="0">
                <a:solidFill>
                  <a:srgbClr val="C00000"/>
                </a:solidFill>
                <a:latin typeface="맑은 고딕"/>
                <a:ea typeface="맑은 고딕"/>
                <a:cs typeface="맑은 고딕"/>
              </a:rPr>
              <a:t>포인트  </a:t>
            </a:r>
            <a:r>
              <a:rPr lang="ko-KR" altLang="en-US" sz="1400" b="0" dirty="0">
                <a:solidFill>
                  <a:srgbClr val="2F5597"/>
                </a:solidFill>
                <a:latin typeface="맑은 고딕"/>
                <a:ea typeface="맑은 고딕"/>
                <a:cs typeface="맑은 고딕"/>
              </a:rPr>
              <a:t>동사의 수 일치 (there is + 단수 a team) · 수동태(능동/수동 구별) (팀이 '불리는' 것 → be + p.p.)</a:t>
            </a:r>
            <a:endParaRPr lang="ko-KR" sz="1400"/>
          </a:p>
        </p:txBody>
      </p:sp>
      <p:sp>
        <p:nvSpPr>
          <p:cNvPr id="12" name="item_card_2"/>
          <p:cNvSpPr/>
          <p:nvPr/>
        </p:nvSpPr>
        <p:spPr>
          <a:xfrm>
            <a:off x="457200" y="2831338"/>
            <a:ext cx="11274552" cy="1516634"/>
          </a:xfrm>
          <a:prstGeom prst="roundRect">
            <a:avLst>
              <a:gd name="adj" fmla="val 6000"/>
            </a:avLst>
          </a:prstGeom>
          <a:solidFill>
            <a:srgbClr val="F3F5F9"/>
          </a:solidFill>
          <a:ln w="12700">
            <a:solidFill>
              <a:srgbClr val="D9DFEA"/>
            </a:solidFill>
          </a:ln>
        </p:spPr>
        <p:txBody>
          <a:bodyPr rtlCol="0" anchor="ctr"/>
          <a:lstStyle/>
          <a:p>
            <a:pPr algn="ctr"/>
          </a:p>
        </p:txBody>
      </p:sp>
      <p:sp>
        <p:nvSpPr>
          <p:cNvPr id="13" name="kor_2"/>
          <p:cNvSpPr txBox="1"/>
          <p:nvPr/>
        </p:nvSpPr>
        <p:spPr>
          <a:xfrm>
            <a:off x="457200" y="2941066"/>
            <a:ext cx="11274552" cy="363728"/>
          </a:xfrm>
          <a:prstGeom prst="rect">
            <a:avLst/>
          </a:prstGeom>
          <a:noFill/>
        </p:spPr>
        <p:txBody>
          <a:bodyPr wrap="square" lIns="228600" tIns="54864" rIns="228600" bIns="54864" anchor="t" rtlCol="0">
            <a:noAutofit/>
          </a:bodyPr>
          <a:lstStyle/>
          <a:p>
            <a:pPr algn="l">
              <a:lnSpc>
                <a:spcPts val="2000"/>
              </a:lnSpc>
              <a:spcBef>
                <a:spcPts val="0"/>
              </a:spcBef>
              <a:spcAft>
                <a:spcPts val="0"/>
              </a:spcAft>
              <a:buNone/>
            </a:pPr>
            <a:r>
              <a:rPr lang="en-US" altLang="en-US" sz="1600" b="1" dirty="0">
                <a:solidFill>
                  <a:srgbClr val="1E2A5A"/>
                </a:solidFill>
                <a:latin typeface="Calibri"/>
                <a:ea typeface="맑은 고딕"/>
                <a:cs typeface="Calibri"/>
              </a:rPr>
              <a:t>13.  </a:t>
            </a:r>
            <a:r>
              <a:rPr lang="ko-KR" altLang="en-US" sz="1600" b="0" dirty="0">
                <a:solidFill>
                  <a:srgbClr val="3C4558"/>
                </a:solidFill>
                <a:latin typeface="맑은 고딕"/>
                <a:ea typeface="맑은 고딕"/>
                <a:cs typeface="맑은 고딕"/>
              </a:rPr>
              <a:t>피트는 경주 트랙 옆에 있는 공간으로, 운전자들은 경주 도중 여러 번 그곳에 멈춰 선다.</a:t>
            </a:r>
            <a:endParaRPr lang="ko-KR" sz="1600"/>
          </a:p>
        </p:txBody>
      </p:sp>
      <p:sp>
        <p:nvSpPr>
          <p:cNvPr id="14" name="eng_2"/>
          <p:cNvSpPr txBox="1"/>
          <p:nvPr/>
        </p:nvSpPr>
        <p:spPr>
          <a:xfrm>
            <a:off x="457200" y="3249930"/>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solidFill>
                <a:latin typeface="Calibri"/>
                <a:ea typeface="맑은 고딕"/>
                <a:cs typeface="Calibri"/>
              </a:rPr>
              <a:t>A pit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are</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is</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a place on the side of the race track, and drivers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stop</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stops</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there several times during a race.</a:t>
            </a:r>
            <a:endParaRPr lang="ko-KR" sz="2000"/>
          </a:p>
        </p:txBody>
      </p:sp>
      <p:sp>
        <p:nvSpPr>
          <p:cNvPr id="15" name="rv_eng_2"/>
          <p:cNvSpPr txBox="1"/>
          <p:nvPr/>
        </p:nvSpPr>
        <p:spPr>
          <a:xfrm>
            <a:off x="457200" y="3249930"/>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alpha val="0"/>
                  </a:srgbClr>
                </a:solidFill>
                <a:latin typeface="Calibri"/>
                <a:ea typeface="맑은 고딕"/>
                <a:cs typeface="Calibri"/>
              </a:rPr>
              <a:t>A pit </a:t>
            </a:r>
            <a:r>
              <a:rPr lang="en-US" altLang="en-US" sz="2000" b="1" dirty="0">
                <a:solidFill>
                  <a:srgbClr val="C00000">
                    <a:alpha val="0"/>
                  </a:srgbClr>
                </a:solidFill>
                <a:latin typeface="Calibri"/>
                <a:ea typeface="맑은 고딕"/>
                <a:cs typeface="Calibri"/>
              </a:rPr>
              <a:t>[ </a:t>
            </a:r>
            <a:r>
              <a:rPr lang="en-US" altLang="en-US" sz="2000" b="1" dirty="0">
                <a:solidFill>
                  <a:srgbClr val="C00000">
                    <a:alpha val="0"/>
                  </a:srgbClr>
                </a:solidFill>
                <a:latin typeface="Calibri"/>
                <a:ea typeface="맑은 고딕"/>
                <a:cs typeface="Calibri"/>
              </a:rPr>
              <a:t>are</a:t>
            </a:r>
            <a:r>
              <a:rPr lang="en-US" altLang="en-US" sz="2000" b="1" dirty="0">
                <a:solidFill>
                  <a:srgbClr val="C00000">
                    <a:alpha val="0"/>
                  </a:srgbClr>
                </a:solidFill>
                <a:latin typeface="Calibri"/>
                <a:ea typeface="맑은 고딕"/>
                <a:cs typeface="Calibri"/>
              </a:rPr>
              <a:t> / </a:t>
            </a:r>
            <a:r>
              <a:rPr lang="en-US" altLang="en-US" sz="2000" b="1" dirty="0">
                <a:solidFill>
                  <a:srgbClr val="C00000"/>
                </a:solidFill>
                <a:latin typeface="Calibri"/>
                <a:ea typeface="맑은 고딕"/>
                <a:cs typeface="Calibri"/>
              </a:rPr>
              <a:t>is</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a place on the side of the race track, and drivers </a:t>
            </a:r>
            <a:r>
              <a:rPr lang="en-US" altLang="en-US" sz="2000" b="1" dirty="0">
                <a:solidFill>
                  <a:srgbClr val="C00000">
                    <a:alpha val="0"/>
                  </a:srgbClr>
                </a:solidFill>
                <a:latin typeface="Calibri"/>
                <a:ea typeface="맑은 고딕"/>
                <a:cs typeface="Calibri"/>
              </a:rPr>
              <a:t>[ </a:t>
            </a:r>
            <a:r>
              <a:rPr lang="en-US" altLang="en-US" sz="2000" b="1" dirty="0">
                <a:solidFill>
                  <a:srgbClr val="C00000"/>
                </a:solidFill>
                <a:latin typeface="Calibri"/>
                <a:ea typeface="맑은 고딕"/>
                <a:cs typeface="Calibri"/>
              </a:rPr>
              <a:t>stop</a:t>
            </a:r>
            <a:r>
              <a:rPr lang="en-US" altLang="en-US" sz="2000" b="1" dirty="0">
                <a:solidFill>
                  <a:srgbClr val="C00000">
                    <a:alpha val="0"/>
                  </a:srgbClr>
                </a:solidFill>
                <a:latin typeface="Calibri"/>
                <a:ea typeface="맑은 고딕"/>
                <a:cs typeface="Calibri"/>
              </a:rPr>
              <a:t> / </a:t>
            </a:r>
            <a:r>
              <a:rPr lang="en-US" altLang="en-US" sz="2000" b="1" dirty="0">
                <a:solidFill>
                  <a:srgbClr val="C00000">
                    <a:alpha val="0"/>
                  </a:srgbClr>
                </a:solidFill>
                <a:latin typeface="Calibri"/>
                <a:ea typeface="맑은 고딕"/>
                <a:cs typeface="Calibri"/>
              </a:rPr>
              <a:t>stops</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there several times during a race.</a:t>
            </a:r>
            <a:endParaRPr lang="ko-KR" sz="2000"/>
          </a:p>
        </p:txBody>
      </p:sp>
      <p:sp>
        <p:nvSpPr>
          <p:cNvPr id="16" name="rv_point_2"/>
          <p:cNvSpPr txBox="1"/>
          <p:nvPr/>
        </p:nvSpPr>
        <p:spPr>
          <a:xfrm>
            <a:off x="457200" y="4015994"/>
            <a:ext cx="11274552" cy="331978"/>
          </a:xfrm>
          <a:prstGeom prst="rect">
            <a:avLst/>
          </a:prstGeom>
          <a:noFill/>
        </p:spPr>
        <p:txBody>
          <a:bodyPr wrap="square" lIns="228600" tIns="54864" rIns="228600" bIns="54864" anchor="t" rtlCol="0">
            <a:noAutofit/>
          </a:bodyPr>
          <a:lstStyle/>
          <a:p>
            <a:pPr algn="l">
              <a:lnSpc>
                <a:spcPts val="1750"/>
              </a:lnSpc>
              <a:spcBef>
                <a:spcPts val="0"/>
              </a:spcBef>
              <a:spcAft>
                <a:spcPts val="0"/>
              </a:spcAft>
              <a:buNone/>
            </a:pPr>
            <a:r>
              <a:rPr lang="ko-KR" altLang="en-US" sz="1400" b="1" dirty="0">
                <a:solidFill>
                  <a:srgbClr val="C00000"/>
                </a:solidFill>
                <a:latin typeface="맑은 고딕"/>
                <a:ea typeface="맑은 고딕"/>
                <a:cs typeface="맑은 고딕"/>
              </a:rPr>
              <a:t>포인트  </a:t>
            </a:r>
            <a:r>
              <a:rPr lang="ko-KR" altLang="en-US" sz="1400" b="0" dirty="0">
                <a:solidFill>
                  <a:srgbClr val="2F5597"/>
                </a:solidFill>
                <a:latin typeface="맑은 고딕"/>
                <a:ea typeface="맑은 고딕"/>
                <a:cs typeface="맑은 고딕"/>
              </a:rPr>
              <a:t>동사의 수 일치 (주어 A pit 단수) · 동사의 수 일치 (주어 drivers 복수)</a:t>
            </a:r>
            <a:endParaRPr lang="ko-KR" sz="1400"/>
          </a:p>
        </p:txBody>
      </p:sp>
      <p:sp>
        <p:nvSpPr>
          <p:cNvPr id="17" name="item_card_3"/>
          <p:cNvSpPr/>
          <p:nvPr/>
        </p:nvSpPr>
        <p:spPr>
          <a:xfrm>
            <a:off x="457200" y="4457700"/>
            <a:ext cx="11274552" cy="1738884"/>
          </a:xfrm>
          <a:prstGeom prst="roundRect">
            <a:avLst>
              <a:gd name="adj" fmla="val 6000"/>
            </a:avLst>
          </a:prstGeom>
          <a:solidFill>
            <a:srgbClr val="F3F5F9"/>
          </a:solidFill>
          <a:ln w="12700">
            <a:solidFill>
              <a:srgbClr val="D9DFEA"/>
            </a:solidFill>
          </a:ln>
        </p:spPr>
        <p:txBody>
          <a:bodyPr rtlCol="0" anchor="ctr"/>
          <a:lstStyle/>
          <a:p>
            <a:pPr algn="ctr"/>
          </a:p>
        </p:txBody>
      </p:sp>
      <p:sp>
        <p:nvSpPr>
          <p:cNvPr id="18" name="kor_3"/>
          <p:cNvSpPr txBox="1"/>
          <p:nvPr/>
        </p:nvSpPr>
        <p:spPr>
          <a:xfrm>
            <a:off x="457200" y="4567428"/>
            <a:ext cx="11274552" cy="363728"/>
          </a:xfrm>
          <a:prstGeom prst="rect">
            <a:avLst/>
          </a:prstGeom>
          <a:noFill/>
        </p:spPr>
        <p:txBody>
          <a:bodyPr wrap="square" lIns="228600" tIns="54864" rIns="228600" bIns="54864" anchor="t" rtlCol="0">
            <a:noAutofit/>
          </a:bodyPr>
          <a:lstStyle/>
          <a:p>
            <a:pPr algn="l">
              <a:lnSpc>
                <a:spcPts val="2000"/>
              </a:lnSpc>
              <a:spcBef>
                <a:spcPts val="0"/>
              </a:spcBef>
              <a:spcAft>
                <a:spcPts val="0"/>
              </a:spcAft>
              <a:buNone/>
            </a:pPr>
            <a:r>
              <a:rPr lang="en-US" altLang="en-US" sz="1600" b="1" dirty="0">
                <a:solidFill>
                  <a:srgbClr val="1E2A5A"/>
                </a:solidFill>
                <a:latin typeface="Calibri"/>
                <a:ea typeface="맑은 고딕"/>
                <a:cs typeface="Calibri"/>
              </a:rPr>
              <a:t>14.  </a:t>
            </a:r>
            <a:r>
              <a:rPr lang="ko-KR" altLang="en-US" sz="1600" b="0" dirty="0">
                <a:solidFill>
                  <a:srgbClr val="3C4558"/>
                </a:solidFill>
                <a:latin typeface="맑은 고딕"/>
                <a:ea typeface="맑은 고딕"/>
                <a:cs typeface="맑은 고딕"/>
              </a:rPr>
              <a:t>피트 크루의 주된 임무는 차를 점검하고 타이어를 교체하는 것이다.</a:t>
            </a:r>
            <a:endParaRPr lang="ko-KR" sz="1600"/>
          </a:p>
        </p:txBody>
      </p:sp>
      <p:sp>
        <p:nvSpPr>
          <p:cNvPr id="19" name="eng_3"/>
          <p:cNvSpPr txBox="1"/>
          <p:nvPr/>
        </p:nvSpPr>
        <p:spPr>
          <a:xfrm>
            <a:off x="457200" y="4876292"/>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solidFill>
                <a:latin typeface="Calibri"/>
                <a:ea typeface="맑은 고딕"/>
                <a:cs typeface="Calibri"/>
              </a:rPr>
              <a:t>The main job of the pit crew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is</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are</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to check the car and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changing</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change</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the tires.</a:t>
            </a:r>
            <a:endParaRPr lang="ko-KR" sz="2000"/>
          </a:p>
        </p:txBody>
      </p:sp>
      <p:sp>
        <p:nvSpPr>
          <p:cNvPr id="20" name="rv_eng_3"/>
          <p:cNvSpPr txBox="1"/>
          <p:nvPr/>
        </p:nvSpPr>
        <p:spPr>
          <a:xfrm>
            <a:off x="457200" y="4876292"/>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alpha val="0"/>
                  </a:srgbClr>
                </a:solidFill>
                <a:latin typeface="Calibri"/>
                <a:ea typeface="맑은 고딕"/>
                <a:cs typeface="Calibri"/>
              </a:rPr>
              <a:t>The main job of the pit crew </a:t>
            </a:r>
            <a:r>
              <a:rPr lang="en-US" altLang="en-US" sz="2000" b="1" dirty="0">
                <a:solidFill>
                  <a:srgbClr val="C00000">
                    <a:alpha val="0"/>
                  </a:srgbClr>
                </a:solidFill>
                <a:latin typeface="Calibri"/>
                <a:ea typeface="맑은 고딕"/>
                <a:cs typeface="Calibri"/>
              </a:rPr>
              <a:t>[ </a:t>
            </a:r>
            <a:r>
              <a:rPr lang="en-US" altLang="en-US" sz="2000" b="1" dirty="0">
                <a:solidFill>
                  <a:srgbClr val="C00000"/>
                </a:solidFill>
                <a:latin typeface="Calibri"/>
                <a:ea typeface="맑은 고딕"/>
                <a:cs typeface="Calibri"/>
              </a:rPr>
              <a:t>is</a:t>
            </a:r>
            <a:r>
              <a:rPr lang="en-US" altLang="en-US" sz="2000" b="1" dirty="0">
                <a:solidFill>
                  <a:srgbClr val="C00000">
                    <a:alpha val="0"/>
                  </a:srgbClr>
                </a:solidFill>
                <a:latin typeface="Calibri"/>
                <a:ea typeface="맑은 고딕"/>
                <a:cs typeface="Calibri"/>
              </a:rPr>
              <a:t> / </a:t>
            </a:r>
            <a:r>
              <a:rPr lang="en-US" altLang="en-US" sz="2000" b="1" dirty="0">
                <a:solidFill>
                  <a:srgbClr val="C00000">
                    <a:alpha val="0"/>
                  </a:srgbClr>
                </a:solidFill>
                <a:latin typeface="Calibri"/>
                <a:ea typeface="맑은 고딕"/>
                <a:cs typeface="Calibri"/>
              </a:rPr>
              <a:t>are</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to check the car and </a:t>
            </a:r>
            <a:r>
              <a:rPr lang="en-US" altLang="en-US" sz="2000" b="1" dirty="0">
                <a:solidFill>
                  <a:srgbClr val="C00000">
                    <a:alpha val="0"/>
                  </a:srgbClr>
                </a:solidFill>
                <a:latin typeface="Calibri"/>
                <a:ea typeface="맑은 고딕"/>
                <a:cs typeface="Calibri"/>
              </a:rPr>
              <a:t>[ </a:t>
            </a:r>
            <a:r>
              <a:rPr lang="en-US" altLang="en-US" sz="2000" b="1" dirty="0">
                <a:solidFill>
                  <a:srgbClr val="C00000">
                    <a:alpha val="0"/>
                  </a:srgbClr>
                </a:solidFill>
                <a:latin typeface="Calibri"/>
                <a:ea typeface="맑은 고딕"/>
                <a:cs typeface="Calibri"/>
              </a:rPr>
              <a:t>changing</a:t>
            </a:r>
            <a:r>
              <a:rPr lang="en-US" altLang="en-US" sz="2000" b="1" dirty="0">
                <a:solidFill>
                  <a:srgbClr val="C00000">
                    <a:alpha val="0"/>
                  </a:srgbClr>
                </a:solidFill>
                <a:latin typeface="Calibri"/>
                <a:ea typeface="맑은 고딕"/>
                <a:cs typeface="Calibri"/>
              </a:rPr>
              <a:t> / </a:t>
            </a:r>
            <a:r>
              <a:rPr lang="en-US" altLang="en-US" sz="2000" b="1" dirty="0">
                <a:solidFill>
                  <a:srgbClr val="C00000"/>
                </a:solidFill>
                <a:latin typeface="Calibri"/>
                <a:ea typeface="맑은 고딕"/>
                <a:cs typeface="Calibri"/>
              </a:rPr>
              <a:t>change</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the tires.</a:t>
            </a:r>
            <a:endParaRPr lang="ko-KR" sz="2000"/>
          </a:p>
        </p:txBody>
      </p:sp>
      <p:sp>
        <p:nvSpPr>
          <p:cNvPr id="21" name="rv_point_3"/>
          <p:cNvSpPr txBox="1"/>
          <p:nvPr/>
        </p:nvSpPr>
        <p:spPr>
          <a:xfrm>
            <a:off x="457200" y="5642356"/>
            <a:ext cx="11274552" cy="554227"/>
          </a:xfrm>
          <a:prstGeom prst="rect">
            <a:avLst/>
          </a:prstGeom>
          <a:noFill/>
        </p:spPr>
        <p:txBody>
          <a:bodyPr wrap="square" lIns="228600" tIns="54864" rIns="228600" bIns="54864" anchor="t" rtlCol="0">
            <a:noAutofit/>
          </a:bodyPr>
          <a:lstStyle/>
          <a:p>
            <a:pPr algn="l">
              <a:lnSpc>
                <a:spcPts val="1750"/>
              </a:lnSpc>
              <a:spcBef>
                <a:spcPts val="0"/>
              </a:spcBef>
              <a:spcAft>
                <a:spcPts val="0"/>
              </a:spcAft>
              <a:buNone/>
            </a:pPr>
            <a:r>
              <a:rPr lang="ko-KR" altLang="en-US" sz="1400" b="1" dirty="0">
                <a:solidFill>
                  <a:srgbClr val="C00000"/>
                </a:solidFill>
                <a:latin typeface="맑은 고딕"/>
                <a:ea typeface="맑은 고딕"/>
                <a:cs typeface="맑은 고딕"/>
              </a:rPr>
              <a:t>포인트  </a:t>
            </a:r>
            <a:r>
              <a:rPr lang="ko-KR" altLang="en-US" sz="1400" b="0" dirty="0">
                <a:solidFill>
                  <a:srgbClr val="2F5597"/>
                </a:solidFill>
                <a:latin typeface="맑은 고딕"/>
                <a:ea typeface="맑은 고딕"/>
                <a:cs typeface="맑은 고딕"/>
              </a:rPr>
              <a:t>동사의 수 일치 (주어 The main job, of the pit crew는 수식어) · to부정사/동명사/동사원형 ((to) check와 병렬 → (to) change)</a:t>
            </a:r>
            <a:endParaRPr lang="ko-KR" sz="1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25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250"/>
                                        <p:tgtEl>
                                          <p:spTgt spid="1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250"/>
                                        <p:tgtEl>
                                          <p:spTgt spid="1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fade">
                                      <p:cBhvr>
                                        <p:cTn id="16" dur="250"/>
                                        <p:tgtEl>
                                          <p:spTgt spid="1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250"/>
                                        <p:tgtEl>
                                          <p:spTgt spid="2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fade">
                                      <p:cBhvr>
                                        <p:cTn id="22" dur="25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5" grpId="0" animBg="1"/>
      <p:bldP spid="16" grpId="0" animBg="1"/>
      <p:bldP spid="20" grpId="0" animBg="1"/>
      <p:bldP spid="21" grpId="0" animBg="1"/>
    </p:bldLst>
  </p:timing>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8000"/>
            </a:avLst>
          </a:prstGeom>
          <a:solidFill>
            <a:srgbClr val="1E2A5A"/>
          </a:solidFill>
          <a:ln>
            <a:noFill/>
          </a:ln>
        </p:spPr>
        <p:txBody>
          <a:bodyPr wrap="square" lIns="45720" tIns="18288" rIns="45720" bIns="18288" anchor="ctr" rtlCol="0">
            <a:noAutofit/>
          </a:bodyPr>
          <a:lstStyle/>
          <a:p>
            <a:pPr algn="ctr">
              <a:lnSpc>
                <a:spcPts val="2000"/>
              </a:lnSpc>
              <a:spcBef>
                <a:spcPts val="0"/>
              </a:spcBef>
              <a:spcAft>
                <a:spcPts val="0"/>
              </a:spcAft>
              <a:buNone/>
            </a:pPr>
            <a:r>
              <a:rPr lang="en-US" altLang="en-US" sz="1700" b="1" dirty="0">
                <a:solidFill>
                  <a:srgbClr val="FFFFFF"/>
                </a:solidFill>
                <a:latin typeface="Calibri"/>
                <a:ea typeface="맑은 고딕"/>
                <a:cs typeface="Calibri"/>
              </a:rPr>
              <a:t>L5</a:t>
            </a:r>
            <a:endParaRPr lang="ko-KR" sz="1700"/>
          </a:p>
        </p:txBody>
      </p:sp>
      <p:sp>
        <p:nvSpPr>
          <p:cNvPr id="3" name="hdr_chip"/>
          <p:cNvSpPr/>
          <p:nvPr/>
        </p:nvSpPr>
        <p:spPr>
          <a:xfrm>
            <a:off x="1755648" y="274320"/>
            <a:ext cx="1371600" cy="493776"/>
          </a:xfrm>
          <a:prstGeom prst="roundRect">
            <a:avLst>
              <a:gd name="adj" fmla="val 8000"/>
            </a:avLst>
          </a:prstGeom>
          <a:solidFill>
            <a:srgbClr val="E6EAF4"/>
          </a:solidFill>
          <a:ln>
            <a:noFill/>
          </a:ln>
        </p:spPr>
        <p:txBody>
          <a:bodyPr wrap="square" lIns="27432" tIns="18288" rIns="27432" bIns="18288" anchor="ctr" rtlCol="0">
            <a:noAutofit/>
          </a:bodyPr>
          <a:lstStyle/>
          <a:p>
            <a:pPr algn="ctr">
              <a:lnSpc>
                <a:spcPts val="1700"/>
              </a:lnSpc>
              <a:spcBef>
                <a:spcPts val="0"/>
              </a:spcBef>
              <a:spcAft>
                <a:spcPts val="0"/>
              </a:spcAft>
              <a:buNone/>
            </a:pPr>
            <a:r>
              <a:rPr lang="ko-KR" altLang="en-US" sz="1400" b="1" dirty="0">
                <a:solidFill>
                  <a:srgbClr val="1E2A5A"/>
                </a:solidFill>
                <a:latin typeface="맑은 고딕"/>
                <a:ea typeface="맑은 고딕"/>
                <a:cs typeface="맑은 고딕"/>
              </a:rPr>
              <a:t>PART 5 · 6</a:t>
            </a:r>
            <a:endParaRPr lang="ko-KR" sz="1400"/>
          </a:p>
        </p:txBody>
      </p:sp>
      <p:sp>
        <p:nvSpPr>
          <p:cNvPr id="4" name="hdr_q"/>
          <p:cNvSpPr txBox="1"/>
          <p:nvPr/>
        </p:nvSpPr>
        <p:spPr>
          <a:xfrm>
            <a:off x="3246120" y="246888"/>
            <a:ext cx="8485632" cy="548640"/>
          </a:xfrm>
          <a:prstGeom prst="rect">
            <a:avLst/>
          </a:prstGeom>
          <a:noFill/>
        </p:spPr>
        <p:txBody>
          <a:bodyPr wrap="square" lIns="109728" tIns="54864" rIns="109728" bIns="54864" anchor="ctr" rtlCol="0">
            <a:noAutofit/>
          </a:bodyPr>
          <a:lstStyle/>
          <a:p>
            <a:pPr algn="l">
              <a:lnSpc>
                <a:spcPts val="2400"/>
              </a:lnSpc>
              <a:spcBef>
                <a:spcPts val="0"/>
              </a:spcBef>
              <a:spcAft>
                <a:spcPts val="0"/>
              </a:spcAft>
              <a:buNone/>
            </a:pPr>
            <a:r>
              <a:rPr lang="ko-KR" altLang="en-US" sz="2000" b="1" dirty="0">
                <a:solidFill>
                  <a:srgbClr val="1F2328"/>
                </a:solidFill>
                <a:latin typeface="맑은 고딕"/>
                <a:ea typeface="맑은 고딕"/>
                <a:cs typeface="맑은 고딕"/>
              </a:rPr>
              <a:t>[  ] 안에서 어법상 알맞은 것을 고르시오.</a:t>
            </a:r>
            <a:endParaRPr lang="ko-KR" sz="2000"/>
          </a:p>
        </p:txBody>
      </p:sp>
      <p:sp>
        <p:nvSpPr>
          <p:cNvPr id="5" name="ftr_exam"/>
          <p:cNvSpPr txBox="1"/>
          <p:nvPr/>
        </p:nvSpPr>
        <p:spPr>
          <a:xfrm>
            <a:off x="457200" y="6519672"/>
            <a:ext cx="5669280" cy="256032"/>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5</a:t>
            </a:r>
            <a:endParaRPr lang="ko-KR" sz="1000"/>
          </a:p>
        </p:txBody>
      </p:sp>
      <p:sp>
        <p:nvSpPr>
          <p:cNvPr id="6" name="ftr_hint"/>
          <p:cNvSpPr txBox="1"/>
          <p:nvPr/>
        </p:nvSpPr>
        <p:spPr>
          <a:xfrm>
            <a:off x="5971032" y="6519672"/>
            <a:ext cx="5760720" cy="256032"/>
          </a:xfrm>
          <a:prstGeom prst="rect">
            <a:avLst/>
          </a:prstGeom>
          <a:noFill/>
        </p:spPr>
        <p:txBody>
          <a:bodyPr wrap="square" lIns="0" tIns="0" rIns="0" bIns="0" anchor="t" rtlCol="0">
            <a:noAutofit/>
          </a:bodyPr>
          <a:lstStyle/>
          <a:p>
            <a:pPr algn="r">
              <a:lnSpc>
                <a:spcPts val="1200"/>
              </a:lnSpc>
              <a:spcBef>
                <a:spcPts val="0"/>
              </a:spcBef>
              <a:spcAft>
                <a:spcPts val="0"/>
              </a:spcAft>
              <a:buNone/>
            </a:pPr>
            <a:r>
              <a:rPr lang="ko-KR" altLang="en-US" sz="1000" b="0" dirty="0">
                <a:solidFill>
                  <a:srgbClr val="7A808C"/>
                </a:solidFill>
                <a:latin typeface="맑은 고딕"/>
                <a:ea typeface="맑은 고딕"/>
                <a:cs typeface="맑은 고딕"/>
              </a:rPr>
              <a:t>클릭 ① 정답(빨간색) + 문법 포인트 공개</a:t>
            </a:r>
            <a:endParaRPr lang="ko-KR" sz="1000"/>
          </a:p>
        </p:txBody>
      </p:sp>
      <p:sp>
        <p:nvSpPr>
          <p:cNvPr id="7" name="item_card_1"/>
          <p:cNvSpPr/>
          <p:nvPr/>
        </p:nvSpPr>
        <p:spPr>
          <a:xfrm>
            <a:off x="457200" y="950976"/>
            <a:ext cx="11274552" cy="1516634"/>
          </a:xfrm>
          <a:prstGeom prst="roundRect">
            <a:avLst>
              <a:gd name="adj" fmla="val 6000"/>
            </a:avLst>
          </a:prstGeom>
          <a:solidFill>
            <a:srgbClr val="F3F5F9"/>
          </a:solidFill>
          <a:ln w="12700">
            <a:solidFill>
              <a:srgbClr val="D9DFEA"/>
            </a:solidFill>
          </a:ln>
        </p:spPr>
        <p:txBody>
          <a:bodyPr rtlCol="0" anchor="ctr"/>
          <a:lstStyle/>
          <a:p>
            <a:pPr algn="ctr"/>
          </a:p>
        </p:txBody>
      </p:sp>
      <p:sp>
        <p:nvSpPr>
          <p:cNvPr id="8" name="kor_1"/>
          <p:cNvSpPr txBox="1"/>
          <p:nvPr/>
        </p:nvSpPr>
        <p:spPr>
          <a:xfrm>
            <a:off x="457200" y="1060704"/>
            <a:ext cx="11274552" cy="363728"/>
          </a:xfrm>
          <a:prstGeom prst="rect">
            <a:avLst/>
          </a:prstGeom>
          <a:noFill/>
        </p:spPr>
        <p:txBody>
          <a:bodyPr wrap="square" lIns="228600" tIns="54864" rIns="228600" bIns="54864" anchor="t" rtlCol="0">
            <a:noAutofit/>
          </a:bodyPr>
          <a:lstStyle/>
          <a:p>
            <a:pPr algn="l">
              <a:lnSpc>
                <a:spcPts val="2000"/>
              </a:lnSpc>
              <a:spcBef>
                <a:spcPts val="0"/>
              </a:spcBef>
              <a:spcAft>
                <a:spcPts val="0"/>
              </a:spcAft>
              <a:buNone/>
            </a:pPr>
            <a:r>
              <a:rPr lang="en-US" altLang="en-US" sz="1600" b="1" dirty="0">
                <a:solidFill>
                  <a:srgbClr val="1E2A5A"/>
                </a:solidFill>
                <a:latin typeface="Calibri"/>
                <a:ea typeface="맑은 고딕"/>
                <a:cs typeface="Calibri"/>
              </a:rPr>
              <a:t>15.  </a:t>
            </a:r>
            <a:r>
              <a:rPr lang="ko-KR" altLang="en-US" sz="1600" b="0" dirty="0">
                <a:solidFill>
                  <a:srgbClr val="3C4558"/>
                </a:solidFill>
                <a:latin typeface="맑은 고딕"/>
                <a:ea typeface="맑은 고딕"/>
                <a:cs typeface="맑은 고딕"/>
              </a:rPr>
              <a:t>고속 경주에서는 타이어가 쉽게 닳기 때문에 타이어 교체가 특히 중요하다.</a:t>
            </a:r>
            <a:endParaRPr lang="ko-KR" sz="1600"/>
          </a:p>
        </p:txBody>
      </p:sp>
      <p:sp>
        <p:nvSpPr>
          <p:cNvPr id="9" name="eng_1"/>
          <p:cNvSpPr txBox="1"/>
          <p:nvPr/>
        </p:nvSpPr>
        <p:spPr>
          <a:xfrm>
            <a:off x="457200" y="1369568"/>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solidFill>
                <a:latin typeface="Calibri"/>
                <a:ea typeface="맑은 고딕"/>
                <a:cs typeface="Calibri"/>
              </a:rPr>
              <a:t>Changing the tires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are</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is</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especially important because the tires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wear</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wears</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out easily in a high speed race.</a:t>
            </a:r>
            <a:endParaRPr lang="ko-KR" sz="2000"/>
          </a:p>
        </p:txBody>
      </p:sp>
      <p:sp>
        <p:nvSpPr>
          <p:cNvPr id="10" name="rv_eng_1"/>
          <p:cNvSpPr txBox="1"/>
          <p:nvPr/>
        </p:nvSpPr>
        <p:spPr>
          <a:xfrm>
            <a:off x="457200" y="1369568"/>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alpha val="0"/>
                  </a:srgbClr>
                </a:solidFill>
                <a:latin typeface="Calibri"/>
                <a:ea typeface="맑은 고딕"/>
                <a:cs typeface="Calibri"/>
              </a:rPr>
              <a:t>Changing the tires </a:t>
            </a:r>
            <a:r>
              <a:rPr lang="en-US" altLang="en-US" sz="2000" b="1" dirty="0">
                <a:solidFill>
                  <a:srgbClr val="C00000">
                    <a:alpha val="0"/>
                  </a:srgbClr>
                </a:solidFill>
                <a:latin typeface="Calibri"/>
                <a:ea typeface="맑은 고딕"/>
                <a:cs typeface="Calibri"/>
              </a:rPr>
              <a:t>[ </a:t>
            </a:r>
            <a:r>
              <a:rPr lang="en-US" altLang="en-US" sz="2000" b="1" dirty="0">
                <a:solidFill>
                  <a:srgbClr val="C00000">
                    <a:alpha val="0"/>
                  </a:srgbClr>
                </a:solidFill>
                <a:latin typeface="Calibri"/>
                <a:ea typeface="맑은 고딕"/>
                <a:cs typeface="Calibri"/>
              </a:rPr>
              <a:t>are</a:t>
            </a:r>
            <a:r>
              <a:rPr lang="en-US" altLang="en-US" sz="2000" b="1" dirty="0">
                <a:solidFill>
                  <a:srgbClr val="C00000">
                    <a:alpha val="0"/>
                  </a:srgbClr>
                </a:solidFill>
                <a:latin typeface="Calibri"/>
                <a:ea typeface="맑은 고딕"/>
                <a:cs typeface="Calibri"/>
              </a:rPr>
              <a:t> / </a:t>
            </a:r>
            <a:r>
              <a:rPr lang="en-US" altLang="en-US" sz="2000" b="1" dirty="0">
                <a:solidFill>
                  <a:srgbClr val="C00000"/>
                </a:solidFill>
                <a:latin typeface="Calibri"/>
                <a:ea typeface="맑은 고딕"/>
                <a:cs typeface="Calibri"/>
              </a:rPr>
              <a:t>is</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especially important because the tires </a:t>
            </a:r>
            <a:r>
              <a:rPr lang="en-US" altLang="en-US" sz="2000" b="1" dirty="0">
                <a:solidFill>
                  <a:srgbClr val="C00000">
                    <a:alpha val="0"/>
                  </a:srgbClr>
                </a:solidFill>
                <a:latin typeface="Calibri"/>
                <a:ea typeface="맑은 고딕"/>
                <a:cs typeface="Calibri"/>
              </a:rPr>
              <a:t>[ </a:t>
            </a:r>
            <a:r>
              <a:rPr lang="en-US" altLang="en-US" sz="2000" b="1" dirty="0">
                <a:solidFill>
                  <a:srgbClr val="C00000"/>
                </a:solidFill>
                <a:latin typeface="Calibri"/>
                <a:ea typeface="맑은 고딕"/>
                <a:cs typeface="Calibri"/>
              </a:rPr>
              <a:t>wear</a:t>
            </a:r>
            <a:r>
              <a:rPr lang="en-US" altLang="en-US" sz="2000" b="1" dirty="0">
                <a:solidFill>
                  <a:srgbClr val="C00000">
                    <a:alpha val="0"/>
                  </a:srgbClr>
                </a:solidFill>
                <a:latin typeface="Calibri"/>
                <a:ea typeface="맑은 고딕"/>
                <a:cs typeface="Calibri"/>
              </a:rPr>
              <a:t> / </a:t>
            </a:r>
            <a:r>
              <a:rPr lang="en-US" altLang="en-US" sz="2000" b="1" dirty="0">
                <a:solidFill>
                  <a:srgbClr val="C00000">
                    <a:alpha val="0"/>
                  </a:srgbClr>
                </a:solidFill>
                <a:latin typeface="Calibri"/>
                <a:ea typeface="맑은 고딕"/>
                <a:cs typeface="Calibri"/>
              </a:rPr>
              <a:t>wears</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out easily in a high speed race.</a:t>
            </a:r>
            <a:endParaRPr lang="ko-KR" sz="2000"/>
          </a:p>
        </p:txBody>
      </p:sp>
      <p:sp>
        <p:nvSpPr>
          <p:cNvPr id="11" name="rv_point_1"/>
          <p:cNvSpPr txBox="1"/>
          <p:nvPr/>
        </p:nvSpPr>
        <p:spPr>
          <a:xfrm>
            <a:off x="457200" y="2135632"/>
            <a:ext cx="11274552" cy="331978"/>
          </a:xfrm>
          <a:prstGeom prst="rect">
            <a:avLst/>
          </a:prstGeom>
          <a:noFill/>
        </p:spPr>
        <p:txBody>
          <a:bodyPr wrap="square" lIns="228600" tIns="54864" rIns="228600" bIns="54864" anchor="t" rtlCol="0">
            <a:noAutofit/>
          </a:bodyPr>
          <a:lstStyle/>
          <a:p>
            <a:pPr algn="l">
              <a:lnSpc>
                <a:spcPts val="1750"/>
              </a:lnSpc>
              <a:spcBef>
                <a:spcPts val="0"/>
              </a:spcBef>
              <a:spcAft>
                <a:spcPts val="0"/>
              </a:spcAft>
              <a:buNone/>
            </a:pPr>
            <a:r>
              <a:rPr lang="ko-KR" altLang="en-US" sz="1400" b="1" dirty="0">
                <a:solidFill>
                  <a:srgbClr val="C00000"/>
                </a:solidFill>
                <a:latin typeface="맑은 고딕"/>
                <a:ea typeface="맑은 고딕"/>
                <a:cs typeface="맑은 고딕"/>
              </a:rPr>
              <a:t>포인트  </a:t>
            </a:r>
            <a:r>
              <a:rPr lang="ko-KR" altLang="en-US" sz="1400" b="0" dirty="0">
                <a:solidFill>
                  <a:srgbClr val="2F5597"/>
                </a:solidFill>
                <a:latin typeface="맑은 고딕"/>
                <a:ea typeface="맑은 고딕"/>
                <a:cs typeface="맑은 고딕"/>
              </a:rPr>
              <a:t>동사의 수 일치 (동명사 주어 Changing ~ → 단수) · 동사의 수 일치 (주어 the tires 복수)</a:t>
            </a:r>
            <a:endParaRPr lang="ko-KR" sz="1400"/>
          </a:p>
        </p:txBody>
      </p:sp>
      <p:sp>
        <p:nvSpPr>
          <p:cNvPr id="12" name="item_card_2"/>
          <p:cNvSpPr/>
          <p:nvPr/>
        </p:nvSpPr>
        <p:spPr>
          <a:xfrm>
            <a:off x="457200" y="2577338"/>
            <a:ext cx="11274552" cy="1516634"/>
          </a:xfrm>
          <a:prstGeom prst="roundRect">
            <a:avLst>
              <a:gd name="adj" fmla="val 6000"/>
            </a:avLst>
          </a:prstGeom>
          <a:solidFill>
            <a:srgbClr val="F3F5F9"/>
          </a:solidFill>
          <a:ln w="12700">
            <a:solidFill>
              <a:srgbClr val="D9DFEA"/>
            </a:solidFill>
          </a:ln>
        </p:spPr>
        <p:txBody>
          <a:bodyPr rtlCol="0" anchor="ctr"/>
          <a:lstStyle/>
          <a:p>
            <a:pPr algn="ctr"/>
          </a:p>
        </p:txBody>
      </p:sp>
      <p:sp>
        <p:nvSpPr>
          <p:cNvPr id="13" name="kor_2"/>
          <p:cNvSpPr txBox="1"/>
          <p:nvPr/>
        </p:nvSpPr>
        <p:spPr>
          <a:xfrm>
            <a:off x="457200" y="2687066"/>
            <a:ext cx="11274552" cy="363728"/>
          </a:xfrm>
          <a:prstGeom prst="rect">
            <a:avLst/>
          </a:prstGeom>
          <a:noFill/>
        </p:spPr>
        <p:txBody>
          <a:bodyPr wrap="square" lIns="228600" tIns="54864" rIns="228600" bIns="54864" anchor="t" rtlCol="0">
            <a:noAutofit/>
          </a:bodyPr>
          <a:lstStyle/>
          <a:p>
            <a:pPr algn="l">
              <a:lnSpc>
                <a:spcPts val="2000"/>
              </a:lnSpc>
              <a:spcBef>
                <a:spcPts val="0"/>
              </a:spcBef>
              <a:spcAft>
                <a:spcPts val="0"/>
              </a:spcAft>
              <a:buNone/>
            </a:pPr>
            <a:r>
              <a:rPr lang="en-US" altLang="en-US" sz="1600" b="1" dirty="0">
                <a:solidFill>
                  <a:srgbClr val="1E2A5A"/>
                </a:solidFill>
                <a:latin typeface="Calibri"/>
                <a:ea typeface="맑은 고딕"/>
                <a:cs typeface="Calibri"/>
              </a:rPr>
              <a:t>16.  </a:t>
            </a:r>
            <a:r>
              <a:rPr lang="ko-KR" altLang="en-US" sz="1600" b="0" dirty="0">
                <a:solidFill>
                  <a:srgbClr val="3C4558"/>
                </a:solidFill>
                <a:latin typeface="맑은 고딕"/>
                <a:ea typeface="맑은 고딕"/>
                <a:cs typeface="맑은 고딕"/>
              </a:rPr>
              <a:t>피트 스톱은 2초 만에 끝날 수도 있고, 한 크루에 무려 20명이 속해 있기도 하다.</a:t>
            </a:r>
            <a:endParaRPr lang="ko-KR" sz="1600"/>
          </a:p>
        </p:txBody>
      </p:sp>
      <p:sp>
        <p:nvSpPr>
          <p:cNvPr id="14" name="eng_2"/>
          <p:cNvSpPr txBox="1"/>
          <p:nvPr/>
        </p:nvSpPr>
        <p:spPr>
          <a:xfrm>
            <a:off x="457200" y="2995930"/>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solidFill>
                <a:latin typeface="Calibri"/>
                <a:ea typeface="맑은 고딕"/>
                <a:cs typeface="Calibri"/>
              </a:rPr>
              <a:t>A pit stop can be as short as 2 seconds, and there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are</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is</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as many as 20 members on a crew.</a:t>
            </a:r>
            <a:endParaRPr lang="ko-KR" sz="2000"/>
          </a:p>
        </p:txBody>
      </p:sp>
      <p:sp>
        <p:nvSpPr>
          <p:cNvPr id="15" name="rv_eng_2"/>
          <p:cNvSpPr txBox="1"/>
          <p:nvPr/>
        </p:nvSpPr>
        <p:spPr>
          <a:xfrm>
            <a:off x="457200" y="2995930"/>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alpha val="0"/>
                  </a:srgbClr>
                </a:solidFill>
                <a:latin typeface="Calibri"/>
                <a:ea typeface="맑은 고딕"/>
                <a:cs typeface="Calibri"/>
              </a:rPr>
              <a:t>A pit stop can be as short as 2 seconds, and there </a:t>
            </a:r>
            <a:r>
              <a:rPr lang="en-US" altLang="en-US" sz="2000" b="1" dirty="0">
                <a:solidFill>
                  <a:srgbClr val="C00000">
                    <a:alpha val="0"/>
                  </a:srgbClr>
                </a:solidFill>
                <a:latin typeface="Calibri"/>
                <a:ea typeface="맑은 고딕"/>
                <a:cs typeface="Calibri"/>
              </a:rPr>
              <a:t>[ </a:t>
            </a:r>
            <a:r>
              <a:rPr lang="en-US" altLang="en-US" sz="2000" b="1" dirty="0">
                <a:solidFill>
                  <a:srgbClr val="C00000"/>
                </a:solidFill>
                <a:latin typeface="Calibri"/>
                <a:ea typeface="맑은 고딕"/>
                <a:cs typeface="Calibri"/>
              </a:rPr>
              <a:t>are</a:t>
            </a:r>
            <a:r>
              <a:rPr lang="en-US" altLang="en-US" sz="2000" b="1" dirty="0">
                <a:solidFill>
                  <a:srgbClr val="C00000">
                    <a:alpha val="0"/>
                  </a:srgbClr>
                </a:solidFill>
                <a:latin typeface="Calibri"/>
                <a:ea typeface="맑은 고딕"/>
                <a:cs typeface="Calibri"/>
              </a:rPr>
              <a:t> / </a:t>
            </a:r>
            <a:r>
              <a:rPr lang="en-US" altLang="en-US" sz="2000" b="1" dirty="0">
                <a:solidFill>
                  <a:srgbClr val="C00000">
                    <a:alpha val="0"/>
                  </a:srgbClr>
                </a:solidFill>
                <a:latin typeface="Calibri"/>
                <a:ea typeface="맑은 고딕"/>
                <a:cs typeface="Calibri"/>
              </a:rPr>
              <a:t>is</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as many as 20 members on a crew.</a:t>
            </a:r>
            <a:endParaRPr lang="ko-KR" sz="2000"/>
          </a:p>
        </p:txBody>
      </p:sp>
      <p:sp>
        <p:nvSpPr>
          <p:cNvPr id="16" name="rv_point_2"/>
          <p:cNvSpPr txBox="1"/>
          <p:nvPr/>
        </p:nvSpPr>
        <p:spPr>
          <a:xfrm>
            <a:off x="457200" y="3761994"/>
            <a:ext cx="11274552" cy="331978"/>
          </a:xfrm>
          <a:prstGeom prst="rect">
            <a:avLst/>
          </a:prstGeom>
          <a:noFill/>
        </p:spPr>
        <p:txBody>
          <a:bodyPr wrap="square" lIns="228600" tIns="54864" rIns="228600" bIns="54864" anchor="t" rtlCol="0">
            <a:noAutofit/>
          </a:bodyPr>
          <a:lstStyle/>
          <a:p>
            <a:pPr algn="l">
              <a:lnSpc>
                <a:spcPts val="1750"/>
              </a:lnSpc>
              <a:spcBef>
                <a:spcPts val="0"/>
              </a:spcBef>
              <a:spcAft>
                <a:spcPts val="0"/>
              </a:spcAft>
              <a:buNone/>
            </a:pPr>
            <a:r>
              <a:rPr lang="ko-KR" altLang="en-US" sz="1400" b="1" dirty="0">
                <a:solidFill>
                  <a:srgbClr val="C00000"/>
                </a:solidFill>
                <a:latin typeface="맑은 고딕"/>
                <a:ea typeface="맑은 고딕"/>
                <a:cs typeface="맑은 고딕"/>
              </a:rPr>
              <a:t>포인트  </a:t>
            </a:r>
            <a:r>
              <a:rPr lang="ko-KR" altLang="en-US" sz="1400" b="0" dirty="0">
                <a:solidFill>
                  <a:srgbClr val="2F5597"/>
                </a:solidFill>
                <a:latin typeface="맑은 고딕"/>
                <a:ea typeface="맑은 고딕"/>
                <a:cs typeface="맑은 고딕"/>
              </a:rPr>
              <a:t>동사의 수 일치 (there are + 복수 20 members)</a:t>
            </a:r>
            <a:endParaRPr lang="ko-KR" sz="1400"/>
          </a:p>
        </p:txBody>
      </p:sp>
      <p:sp>
        <p:nvSpPr>
          <p:cNvPr id="17" name="item_card_3"/>
          <p:cNvSpPr/>
          <p:nvPr/>
        </p:nvSpPr>
        <p:spPr>
          <a:xfrm>
            <a:off x="457200" y="4203700"/>
            <a:ext cx="11274552" cy="1161034"/>
          </a:xfrm>
          <a:prstGeom prst="roundRect">
            <a:avLst>
              <a:gd name="adj" fmla="val 6000"/>
            </a:avLst>
          </a:prstGeom>
          <a:solidFill>
            <a:srgbClr val="F3F5F9"/>
          </a:solidFill>
          <a:ln w="12700">
            <a:solidFill>
              <a:srgbClr val="D9DFEA"/>
            </a:solidFill>
          </a:ln>
        </p:spPr>
        <p:txBody>
          <a:bodyPr rtlCol="0" anchor="ctr"/>
          <a:lstStyle/>
          <a:p>
            <a:pPr algn="ctr"/>
          </a:p>
        </p:txBody>
      </p:sp>
      <p:sp>
        <p:nvSpPr>
          <p:cNvPr id="18" name="kor_3"/>
          <p:cNvSpPr txBox="1"/>
          <p:nvPr/>
        </p:nvSpPr>
        <p:spPr>
          <a:xfrm>
            <a:off x="457200" y="4313428"/>
            <a:ext cx="11274552" cy="363728"/>
          </a:xfrm>
          <a:prstGeom prst="rect">
            <a:avLst/>
          </a:prstGeom>
          <a:noFill/>
        </p:spPr>
        <p:txBody>
          <a:bodyPr wrap="square" lIns="228600" tIns="54864" rIns="228600" bIns="54864" anchor="t" rtlCol="0">
            <a:noAutofit/>
          </a:bodyPr>
          <a:lstStyle/>
          <a:p>
            <a:pPr algn="l">
              <a:lnSpc>
                <a:spcPts val="2000"/>
              </a:lnSpc>
              <a:spcBef>
                <a:spcPts val="0"/>
              </a:spcBef>
              <a:spcAft>
                <a:spcPts val="0"/>
              </a:spcAft>
              <a:buNone/>
            </a:pPr>
            <a:r>
              <a:rPr lang="en-US" altLang="en-US" sz="1600" b="1" dirty="0">
                <a:solidFill>
                  <a:srgbClr val="1E2A5A"/>
                </a:solidFill>
                <a:latin typeface="Calibri"/>
                <a:ea typeface="맑은 고딕"/>
                <a:cs typeface="Calibri"/>
              </a:rPr>
              <a:t>17.  </a:t>
            </a:r>
            <a:r>
              <a:rPr lang="ko-KR" altLang="en-US" sz="1600" b="0" dirty="0">
                <a:solidFill>
                  <a:srgbClr val="3C4558"/>
                </a:solidFill>
                <a:latin typeface="맑은 고딕"/>
                <a:ea typeface="맑은 고딕"/>
                <a:cs typeface="맑은 고딕"/>
              </a:rPr>
              <a:t>그래서 피트 크루는 완벽하게 호흡을 맞춰 일해야 한다.</a:t>
            </a:r>
            <a:endParaRPr lang="ko-KR" sz="1600"/>
          </a:p>
        </p:txBody>
      </p:sp>
      <p:sp>
        <p:nvSpPr>
          <p:cNvPr id="19" name="eng_3"/>
          <p:cNvSpPr txBox="1"/>
          <p:nvPr/>
        </p:nvSpPr>
        <p:spPr>
          <a:xfrm>
            <a:off x="457200" y="4622292"/>
            <a:ext cx="11274552" cy="4653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solidFill>
                <a:latin typeface="Calibri"/>
                <a:ea typeface="맑은 고딕"/>
                <a:cs typeface="Calibri"/>
              </a:rPr>
              <a:t>Therefore, the pit crew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have</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has</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to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work</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working</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in perfect harmony.</a:t>
            </a:r>
            <a:endParaRPr lang="ko-KR" sz="2000"/>
          </a:p>
        </p:txBody>
      </p:sp>
      <p:sp>
        <p:nvSpPr>
          <p:cNvPr id="20" name="rv_eng_3"/>
          <p:cNvSpPr txBox="1"/>
          <p:nvPr/>
        </p:nvSpPr>
        <p:spPr>
          <a:xfrm>
            <a:off x="457200" y="4622292"/>
            <a:ext cx="11274552" cy="4653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alpha val="0"/>
                  </a:srgbClr>
                </a:solidFill>
                <a:latin typeface="Calibri"/>
                <a:ea typeface="맑은 고딕"/>
                <a:cs typeface="Calibri"/>
              </a:rPr>
              <a:t>Therefore, the pit crew </a:t>
            </a:r>
            <a:r>
              <a:rPr lang="en-US" altLang="en-US" sz="2000" b="1" dirty="0">
                <a:solidFill>
                  <a:srgbClr val="C00000">
                    <a:alpha val="0"/>
                  </a:srgbClr>
                </a:solidFill>
                <a:latin typeface="Calibri"/>
                <a:ea typeface="맑은 고딕"/>
                <a:cs typeface="Calibri"/>
              </a:rPr>
              <a:t>[ </a:t>
            </a:r>
            <a:r>
              <a:rPr lang="en-US" altLang="en-US" sz="2000" b="1" dirty="0">
                <a:solidFill>
                  <a:srgbClr val="C00000">
                    <a:alpha val="0"/>
                  </a:srgbClr>
                </a:solidFill>
                <a:latin typeface="Calibri"/>
                <a:ea typeface="맑은 고딕"/>
                <a:cs typeface="Calibri"/>
              </a:rPr>
              <a:t>have</a:t>
            </a:r>
            <a:r>
              <a:rPr lang="en-US" altLang="en-US" sz="2000" b="1" dirty="0">
                <a:solidFill>
                  <a:srgbClr val="C00000">
                    <a:alpha val="0"/>
                  </a:srgbClr>
                </a:solidFill>
                <a:latin typeface="Calibri"/>
                <a:ea typeface="맑은 고딕"/>
                <a:cs typeface="Calibri"/>
              </a:rPr>
              <a:t> / </a:t>
            </a:r>
            <a:r>
              <a:rPr lang="en-US" altLang="en-US" sz="2000" b="1" dirty="0">
                <a:solidFill>
                  <a:srgbClr val="C00000"/>
                </a:solidFill>
                <a:latin typeface="Calibri"/>
                <a:ea typeface="맑은 고딕"/>
                <a:cs typeface="Calibri"/>
              </a:rPr>
              <a:t>has</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to </a:t>
            </a:r>
            <a:r>
              <a:rPr lang="en-US" altLang="en-US" sz="2000" b="1" dirty="0">
                <a:solidFill>
                  <a:srgbClr val="C00000">
                    <a:alpha val="0"/>
                  </a:srgbClr>
                </a:solidFill>
                <a:latin typeface="Calibri"/>
                <a:ea typeface="맑은 고딕"/>
                <a:cs typeface="Calibri"/>
              </a:rPr>
              <a:t>[ </a:t>
            </a:r>
            <a:r>
              <a:rPr lang="en-US" altLang="en-US" sz="2000" b="1" dirty="0">
                <a:solidFill>
                  <a:srgbClr val="C00000"/>
                </a:solidFill>
                <a:latin typeface="Calibri"/>
                <a:ea typeface="맑은 고딕"/>
                <a:cs typeface="Calibri"/>
              </a:rPr>
              <a:t>work</a:t>
            </a:r>
            <a:r>
              <a:rPr lang="en-US" altLang="en-US" sz="2000" b="1" dirty="0">
                <a:solidFill>
                  <a:srgbClr val="C00000">
                    <a:alpha val="0"/>
                  </a:srgbClr>
                </a:solidFill>
                <a:latin typeface="Calibri"/>
                <a:ea typeface="맑은 고딕"/>
                <a:cs typeface="Calibri"/>
              </a:rPr>
              <a:t> / </a:t>
            </a:r>
            <a:r>
              <a:rPr lang="en-US" altLang="en-US" sz="2000" b="1" dirty="0">
                <a:solidFill>
                  <a:srgbClr val="C00000">
                    <a:alpha val="0"/>
                  </a:srgbClr>
                </a:solidFill>
                <a:latin typeface="Calibri"/>
                <a:ea typeface="맑은 고딕"/>
                <a:cs typeface="Calibri"/>
              </a:rPr>
              <a:t>working</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in perfect harmony.</a:t>
            </a:r>
            <a:endParaRPr lang="ko-KR" sz="2000"/>
          </a:p>
        </p:txBody>
      </p:sp>
      <p:sp>
        <p:nvSpPr>
          <p:cNvPr id="21" name="rv_point_3"/>
          <p:cNvSpPr txBox="1"/>
          <p:nvPr/>
        </p:nvSpPr>
        <p:spPr>
          <a:xfrm>
            <a:off x="457200" y="5032756"/>
            <a:ext cx="11274552" cy="331978"/>
          </a:xfrm>
          <a:prstGeom prst="rect">
            <a:avLst/>
          </a:prstGeom>
          <a:noFill/>
        </p:spPr>
        <p:txBody>
          <a:bodyPr wrap="square" lIns="228600" tIns="54864" rIns="228600" bIns="54864" anchor="t" rtlCol="0">
            <a:noAutofit/>
          </a:bodyPr>
          <a:lstStyle/>
          <a:p>
            <a:pPr algn="l">
              <a:lnSpc>
                <a:spcPts val="1750"/>
              </a:lnSpc>
              <a:spcBef>
                <a:spcPts val="0"/>
              </a:spcBef>
              <a:spcAft>
                <a:spcPts val="0"/>
              </a:spcAft>
              <a:buNone/>
            </a:pPr>
            <a:r>
              <a:rPr lang="ko-KR" altLang="en-US" sz="1400" b="1" dirty="0">
                <a:solidFill>
                  <a:srgbClr val="C00000"/>
                </a:solidFill>
                <a:latin typeface="맑은 고딕"/>
                <a:ea typeface="맑은 고딕"/>
                <a:cs typeface="맑은 고딕"/>
              </a:rPr>
              <a:t>포인트  </a:t>
            </a:r>
            <a:r>
              <a:rPr lang="ko-KR" altLang="en-US" sz="1400" b="0" dirty="0">
                <a:solidFill>
                  <a:srgbClr val="2F5597"/>
                </a:solidFill>
                <a:latin typeface="맑은 고딕"/>
                <a:ea typeface="맑은 고딕"/>
                <a:cs typeface="맑은 고딕"/>
              </a:rPr>
              <a:t>동사의 수 일치 (주어 the pit crew 단수) · to부정사/동명사/동사원형 (has to + 동사원형)</a:t>
            </a:r>
            <a:endParaRPr lang="ko-KR" sz="1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25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250"/>
                                        <p:tgtEl>
                                          <p:spTgt spid="1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250"/>
                                        <p:tgtEl>
                                          <p:spTgt spid="1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fade">
                                      <p:cBhvr>
                                        <p:cTn id="16" dur="250"/>
                                        <p:tgtEl>
                                          <p:spTgt spid="1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250"/>
                                        <p:tgtEl>
                                          <p:spTgt spid="2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fade">
                                      <p:cBhvr>
                                        <p:cTn id="22" dur="25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5" grpId="0" animBg="1"/>
      <p:bldP spid="16" grpId="0" animBg="1"/>
      <p:bldP spid="20" grpId="0" animBg="1"/>
      <p:bldP spid="21" grpId="0" animBg="1"/>
    </p:bldLst>
  </p:timing>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8000"/>
            </a:avLst>
          </a:prstGeom>
          <a:solidFill>
            <a:srgbClr val="1E2A5A"/>
          </a:solidFill>
          <a:ln>
            <a:noFill/>
          </a:ln>
        </p:spPr>
        <p:txBody>
          <a:bodyPr wrap="square" lIns="45720" tIns="18288" rIns="45720" bIns="18288" anchor="ctr" rtlCol="0">
            <a:noAutofit/>
          </a:bodyPr>
          <a:lstStyle/>
          <a:p>
            <a:pPr algn="ctr">
              <a:lnSpc>
                <a:spcPts val="2000"/>
              </a:lnSpc>
              <a:spcBef>
                <a:spcPts val="0"/>
              </a:spcBef>
              <a:spcAft>
                <a:spcPts val="0"/>
              </a:spcAft>
              <a:buNone/>
            </a:pPr>
            <a:r>
              <a:rPr lang="en-US" altLang="en-US" sz="1700" b="1" dirty="0">
                <a:solidFill>
                  <a:srgbClr val="FFFFFF"/>
                </a:solidFill>
                <a:latin typeface="Calibri"/>
                <a:ea typeface="맑은 고딕"/>
                <a:cs typeface="Calibri"/>
              </a:rPr>
              <a:t>L5</a:t>
            </a:r>
            <a:endParaRPr lang="ko-KR" sz="1700"/>
          </a:p>
        </p:txBody>
      </p:sp>
      <p:sp>
        <p:nvSpPr>
          <p:cNvPr id="3" name="hdr_chip"/>
          <p:cNvSpPr/>
          <p:nvPr/>
        </p:nvSpPr>
        <p:spPr>
          <a:xfrm>
            <a:off x="1755648" y="274320"/>
            <a:ext cx="1371600" cy="493776"/>
          </a:xfrm>
          <a:prstGeom prst="roundRect">
            <a:avLst>
              <a:gd name="adj" fmla="val 8000"/>
            </a:avLst>
          </a:prstGeom>
          <a:solidFill>
            <a:srgbClr val="E6EAF4"/>
          </a:solidFill>
          <a:ln>
            <a:noFill/>
          </a:ln>
        </p:spPr>
        <p:txBody>
          <a:bodyPr wrap="square" lIns="27432" tIns="18288" rIns="27432" bIns="18288" anchor="ctr" rtlCol="0">
            <a:noAutofit/>
          </a:bodyPr>
          <a:lstStyle/>
          <a:p>
            <a:pPr algn="ctr">
              <a:lnSpc>
                <a:spcPts val="1700"/>
              </a:lnSpc>
              <a:spcBef>
                <a:spcPts val="0"/>
              </a:spcBef>
              <a:spcAft>
                <a:spcPts val="0"/>
              </a:spcAft>
              <a:buNone/>
            </a:pPr>
            <a:r>
              <a:rPr lang="ko-KR" altLang="en-US" sz="1400" b="1" dirty="0">
                <a:solidFill>
                  <a:srgbClr val="1E2A5A"/>
                </a:solidFill>
                <a:latin typeface="맑은 고딕"/>
                <a:ea typeface="맑은 고딕"/>
                <a:cs typeface="맑은 고딕"/>
              </a:rPr>
              <a:t>PART 5 · 7</a:t>
            </a:r>
            <a:endParaRPr lang="ko-KR" sz="1400"/>
          </a:p>
        </p:txBody>
      </p:sp>
      <p:sp>
        <p:nvSpPr>
          <p:cNvPr id="4" name="hdr_q"/>
          <p:cNvSpPr txBox="1"/>
          <p:nvPr/>
        </p:nvSpPr>
        <p:spPr>
          <a:xfrm>
            <a:off x="3246120" y="246888"/>
            <a:ext cx="8485632" cy="548640"/>
          </a:xfrm>
          <a:prstGeom prst="rect">
            <a:avLst/>
          </a:prstGeom>
          <a:noFill/>
        </p:spPr>
        <p:txBody>
          <a:bodyPr wrap="square" lIns="109728" tIns="54864" rIns="109728" bIns="54864" anchor="ctr" rtlCol="0">
            <a:noAutofit/>
          </a:bodyPr>
          <a:lstStyle/>
          <a:p>
            <a:pPr algn="l">
              <a:lnSpc>
                <a:spcPts val="2400"/>
              </a:lnSpc>
              <a:spcBef>
                <a:spcPts val="0"/>
              </a:spcBef>
              <a:spcAft>
                <a:spcPts val="0"/>
              </a:spcAft>
              <a:buNone/>
            </a:pPr>
            <a:r>
              <a:rPr lang="ko-KR" altLang="en-US" sz="2000" b="1" dirty="0">
                <a:solidFill>
                  <a:srgbClr val="1F2328"/>
                </a:solidFill>
                <a:latin typeface="맑은 고딕"/>
                <a:ea typeface="맑은 고딕"/>
                <a:cs typeface="맑은 고딕"/>
              </a:rPr>
              <a:t>[  ] 안에서 어법상 알맞은 것을 고르시오.</a:t>
            </a:r>
            <a:endParaRPr lang="ko-KR" sz="2000"/>
          </a:p>
        </p:txBody>
      </p:sp>
      <p:sp>
        <p:nvSpPr>
          <p:cNvPr id="5" name="ftr_exam"/>
          <p:cNvSpPr txBox="1"/>
          <p:nvPr/>
        </p:nvSpPr>
        <p:spPr>
          <a:xfrm>
            <a:off x="457200" y="6519672"/>
            <a:ext cx="5669280" cy="256032"/>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5</a:t>
            </a:r>
            <a:endParaRPr lang="ko-KR" sz="1000"/>
          </a:p>
        </p:txBody>
      </p:sp>
      <p:sp>
        <p:nvSpPr>
          <p:cNvPr id="6" name="ftr_hint"/>
          <p:cNvSpPr txBox="1"/>
          <p:nvPr/>
        </p:nvSpPr>
        <p:spPr>
          <a:xfrm>
            <a:off x="5971032" y="6519672"/>
            <a:ext cx="5760720" cy="256032"/>
          </a:xfrm>
          <a:prstGeom prst="rect">
            <a:avLst/>
          </a:prstGeom>
          <a:noFill/>
        </p:spPr>
        <p:txBody>
          <a:bodyPr wrap="square" lIns="0" tIns="0" rIns="0" bIns="0" anchor="t" rtlCol="0">
            <a:noAutofit/>
          </a:bodyPr>
          <a:lstStyle/>
          <a:p>
            <a:pPr algn="r">
              <a:lnSpc>
                <a:spcPts val="1200"/>
              </a:lnSpc>
              <a:spcBef>
                <a:spcPts val="0"/>
              </a:spcBef>
              <a:spcAft>
                <a:spcPts val="0"/>
              </a:spcAft>
              <a:buNone/>
            </a:pPr>
            <a:r>
              <a:rPr lang="ko-KR" altLang="en-US" sz="1000" b="0" dirty="0">
                <a:solidFill>
                  <a:srgbClr val="7A808C"/>
                </a:solidFill>
                <a:latin typeface="맑은 고딕"/>
                <a:ea typeface="맑은 고딕"/>
                <a:cs typeface="맑은 고딕"/>
              </a:rPr>
              <a:t>클릭 ① 정답(빨간색) + 문법 포인트 공개</a:t>
            </a:r>
            <a:endParaRPr lang="ko-KR" sz="1000"/>
          </a:p>
        </p:txBody>
      </p:sp>
      <p:sp>
        <p:nvSpPr>
          <p:cNvPr id="7" name="item_card_1"/>
          <p:cNvSpPr/>
          <p:nvPr/>
        </p:nvSpPr>
        <p:spPr>
          <a:xfrm>
            <a:off x="457200" y="950976"/>
            <a:ext cx="11274552" cy="1516634"/>
          </a:xfrm>
          <a:prstGeom prst="roundRect">
            <a:avLst>
              <a:gd name="adj" fmla="val 6000"/>
            </a:avLst>
          </a:prstGeom>
          <a:solidFill>
            <a:srgbClr val="F3F5F9"/>
          </a:solidFill>
          <a:ln w="12700">
            <a:solidFill>
              <a:srgbClr val="D9DFEA"/>
            </a:solidFill>
          </a:ln>
        </p:spPr>
        <p:txBody>
          <a:bodyPr rtlCol="0" anchor="ctr"/>
          <a:lstStyle/>
          <a:p>
            <a:pPr algn="ctr"/>
          </a:p>
        </p:txBody>
      </p:sp>
      <p:sp>
        <p:nvSpPr>
          <p:cNvPr id="8" name="kor_1"/>
          <p:cNvSpPr txBox="1"/>
          <p:nvPr/>
        </p:nvSpPr>
        <p:spPr>
          <a:xfrm>
            <a:off x="457200" y="1060704"/>
            <a:ext cx="11274552" cy="363728"/>
          </a:xfrm>
          <a:prstGeom prst="rect">
            <a:avLst/>
          </a:prstGeom>
          <a:noFill/>
        </p:spPr>
        <p:txBody>
          <a:bodyPr wrap="square" lIns="228600" tIns="54864" rIns="228600" bIns="54864" anchor="t" rtlCol="0">
            <a:noAutofit/>
          </a:bodyPr>
          <a:lstStyle/>
          <a:p>
            <a:pPr algn="l">
              <a:lnSpc>
                <a:spcPts val="2000"/>
              </a:lnSpc>
              <a:spcBef>
                <a:spcPts val="0"/>
              </a:spcBef>
              <a:spcAft>
                <a:spcPts val="0"/>
              </a:spcAft>
              <a:buNone/>
            </a:pPr>
            <a:r>
              <a:rPr lang="en-US" altLang="en-US" sz="1600" b="1" dirty="0">
                <a:solidFill>
                  <a:srgbClr val="1E2A5A"/>
                </a:solidFill>
                <a:latin typeface="Calibri"/>
                <a:ea typeface="맑은 고딕"/>
                <a:cs typeface="Calibri"/>
              </a:rPr>
              <a:t>18.  </a:t>
            </a:r>
            <a:r>
              <a:rPr lang="ko-KR" altLang="en-US" sz="1600" b="0" dirty="0">
                <a:solidFill>
                  <a:srgbClr val="3C4558"/>
                </a:solidFill>
                <a:latin typeface="맑은 고딕"/>
                <a:ea typeface="맑은 고딕"/>
                <a:cs typeface="맑은 고딕"/>
              </a:rPr>
              <a:t>주목은 운전자가 다 받을지 몰라도, 사람들 말처럼 "경주의 승패는 피트에서 갈린다."</a:t>
            </a:r>
            <a:endParaRPr lang="ko-KR" sz="1600"/>
          </a:p>
        </p:txBody>
      </p:sp>
      <p:sp>
        <p:nvSpPr>
          <p:cNvPr id="9" name="eng_1"/>
          <p:cNvSpPr txBox="1"/>
          <p:nvPr/>
        </p:nvSpPr>
        <p:spPr>
          <a:xfrm>
            <a:off x="457200" y="1369568"/>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solidFill>
                <a:latin typeface="Calibri"/>
                <a:ea typeface="맑은 고딕"/>
                <a:cs typeface="Calibri"/>
              </a:rPr>
              <a:t>The driver may get all the attention, but as people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say</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says</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“Races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win</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are won</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in the pits.”</a:t>
            </a:r>
            <a:endParaRPr lang="ko-KR" sz="2000"/>
          </a:p>
        </p:txBody>
      </p:sp>
      <p:sp>
        <p:nvSpPr>
          <p:cNvPr id="10" name="rv_eng_1"/>
          <p:cNvSpPr txBox="1"/>
          <p:nvPr/>
        </p:nvSpPr>
        <p:spPr>
          <a:xfrm>
            <a:off x="457200" y="1369568"/>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alpha val="0"/>
                  </a:srgbClr>
                </a:solidFill>
                <a:latin typeface="Calibri"/>
                <a:ea typeface="맑은 고딕"/>
                <a:cs typeface="Calibri"/>
              </a:rPr>
              <a:t>The driver may get all the attention, but as people </a:t>
            </a:r>
            <a:r>
              <a:rPr lang="en-US" altLang="en-US" sz="2000" b="1" dirty="0">
                <a:solidFill>
                  <a:srgbClr val="C00000">
                    <a:alpha val="0"/>
                  </a:srgbClr>
                </a:solidFill>
                <a:latin typeface="Calibri"/>
                <a:ea typeface="맑은 고딕"/>
                <a:cs typeface="Calibri"/>
              </a:rPr>
              <a:t>[ </a:t>
            </a:r>
            <a:r>
              <a:rPr lang="en-US" altLang="en-US" sz="2000" b="1" dirty="0">
                <a:solidFill>
                  <a:srgbClr val="C00000"/>
                </a:solidFill>
                <a:latin typeface="Calibri"/>
                <a:ea typeface="맑은 고딕"/>
                <a:cs typeface="Calibri"/>
              </a:rPr>
              <a:t>say</a:t>
            </a:r>
            <a:r>
              <a:rPr lang="en-US" altLang="en-US" sz="2000" b="1" dirty="0">
                <a:solidFill>
                  <a:srgbClr val="C00000">
                    <a:alpha val="0"/>
                  </a:srgbClr>
                </a:solidFill>
                <a:latin typeface="Calibri"/>
                <a:ea typeface="맑은 고딕"/>
                <a:cs typeface="Calibri"/>
              </a:rPr>
              <a:t> / </a:t>
            </a:r>
            <a:r>
              <a:rPr lang="en-US" altLang="en-US" sz="2000" b="1" dirty="0">
                <a:solidFill>
                  <a:srgbClr val="C00000">
                    <a:alpha val="0"/>
                  </a:srgbClr>
                </a:solidFill>
                <a:latin typeface="Calibri"/>
                <a:ea typeface="맑은 고딕"/>
                <a:cs typeface="Calibri"/>
              </a:rPr>
              <a:t>says</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“Races </a:t>
            </a:r>
            <a:r>
              <a:rPr lang="en-US" altLang="en-US" sz="2000" b="1" dirty="0">
                <a:solidFill>
                  <a:srgbClr val="C00000">
                    <a:alpha val="0"/>
                  </a:srgbClr>
                </a:solidFill>
                <a:latin typeface="Calibri"/>
                <a:ea typeface="맑은 고딕"/>
                <a:cs typeface="Calibri"/>
              </a:rPr>
              <a:t>[ </a:t>
            </a:r>
            <a:r>
              <a:rPr lang="en-US" altLang="en-US" sz="2000" b="1" dirty="0">
                <a:solidFill>
                  <a:srgbClr val="C00000">
                    <a:alpha val="0"/>
                  </a:srgbClr>
                </a:solidFill>
                <a:latin typeface="Calibri"/>
                <a:ea typeface="맑은 고딕"/>
                <a:cs typeface="Calibri"/>
              </a:rPr>
              <a:t>win</a:t>
            </a:r>
            <a:r>
              <a:rPr lang="en-US" altLang="en-US" sz="2000" b="1" dirty="0">
                <a:solidFill>
                  <a:srgbClr val="C00000">
                    <a:alpha val="0"/>
                  </a:srgbClr>
                </a:solidFill>
                <a:latin typeface="Calibri"/>
                <a:ea typeface="맑은 고딕"/>
                <a:cs typeface="Calibri"/>
              </a:rPr>
              <a:t> / </a:t>
            </a:r>
            <a:r>
              <a:rPr lang="en-US" altLang="en-US" sz="2000" b="1" dirty="0">
                <a:solidFill>
                  <a:srgbClr val="C00000"/>
                </a:solidFill>
                <a:latin typeface="Calibri"/>
                <a:ea typeface="맑은 고딕"/>
                <a:cs typeface="Calibri"/>
              </a:rPr>
              <a:t>are won</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in the pits.”</a:t>
            </a:r>
            <a:endParaRPr lang="ko-KR" sz="2000"/>
          </a:p>
        </p:txBody>
      </p:sp>
      <p:sp>
        <p:nvSpPr>
          <p:cNvPr id="11" name="rv_point_1"/>
          <p:cNvSpPr txBox="1"/>
          <p:nvPr/>
        </p:nvSpPr>
        <p:spPr>
          <a:xfrm>
            <a:off x="457200" y="2135632"/>
            <a:ext cx="11274552" cy="331978"/>
          </a:xfrm>
          <a:prstGeom prst="rect">
            <a:avLst/>
          </a:prstGeom>
          <a:noFill/>
        </p:spPr>
        <p:txBody>
          <a:bodyPr wrap="square" lIns="228600" tIns="54864" rIns="228600" bIns="54864" anchor="t" rtlCol="0">
            <a:noAutofit/>
          </a:bodyPr>
          <a:lstStyle/>
          <a:p>
            <a:pPr algn="l">
              <a:lnSpc>
                <a:spcPts val="1750"/>
              </a:lnSpc>
              <a:spcBef>
                <a:spcPts val="0"/>
              </a:spcBef>
              <a:spcAft>
                <a:spcPts val="0"/>
              </a:spcAft>
              <a:buNone/>
            </a:pPr>
            <a:r>
              <a:rPr lang="ko-KR" altLang="en-US" sz="1400" b="1" dirty="0">
                <a:solidFill>
                  <a:srgbClr val="C00000"/>
                </a:solidFill>
                <a:latin typeface="맑은 고딕"/>
                <a:ea typeface="맑은 고딕"/>
                <a:cs typeface="맑은 고딕"/>
              </a:rPr>
              <a:t>포인트  </a:t>
            </a:r>
            <a:r>
              <a:rPr lang="ko-KR" altLang="en-US" sz="1400" b="0" dirty="0">
                <a:solidFill>
                  <a:srgbClr val="2F5597"/>
                </a:solidFill>
                <a:latin typeface="맑은 고딕"/>
                <a:ea typeface="맑은 고딕"/>
                <a:cs typeface="맑은 고딕"/>
              </a:rPr>
              <a:t>동사의 수 일치 (주어 people 복수) · 수동태(능동/수동 구별) (경주가 '이겨지는' 것 → be + p.p.)</a:t>
            </a:r>
            <a:endParaRPr lang="ko-KR" sz="1400"/>
          </a:p>
        </p:txBody>
      </p:sp>
      <p:sp>
        <p:nvSpPr>
          <p:cNvPr id="12" name="item_card_2"/>
          <p:cNvSpPr/>
          <p:nvPr/>
        </p:nvSpPr>
        <p:spPr>
          <a:xfrm>
            <a:off x="457200" y="2577338"/>
            <a:ext cx="11274552" cy="1516634"/>
          </a:xfrm>
          <a:prstGeom prst="roundRect">
            <a:avLst>
              <a:gd name="adj" fmla="val 6000"/>
            </a:avLst>
          </a:prstGeom>
          <a:solidFill>
            <a:srgbClr val="F3F5F9"/>
          </a:solidFill>
          <a:ln w="12700">
            <a:solidFill>
              <a:srgbClr val="D9DFEA"/>
            </a:solidFill>
          </a:ln>
        </p:spPr>
        <p:txBody>
          <a:bodyPr rtlCol="0" anchor="ctr"/>
          <a:lstStyle/>
          <a:p>
            <a:pPr algn="ctr"/>
          </a:p>
        </p:txBody>
      </p:sp>
      <p:sp>
        <p:nvSpPr>
          <p:cNvPr id="13" name="kor_2"/>
          <p:cNvSpPr txBox="1"/>
          <p:nvPr/>
        </p:nvSpPr>
        <p:spPr>
          <a:xfrm>
            <a:off x="457200" y="2687066"/>
            <a:ext cx="11274552" cy="363728"/>
          </a:xfrm>
          <a:prstGeom prst="rect">
            <a:avLst/>
          </a:prstGeom>
          <a:noFill/>
        </p:spPr>
        <p:txBody>
          <a:bodyPr wrap="square" lIns="228600" tIns="54864" rIns="228600" bIns="54864" anchor="t" rtlCol="0">
            <a:noAutofit/>
          </a:bodyPr>
          <a:lstStyle/>
          <a:p>
            <a:pPr algn="l">
              <a:lnSpc>
                <a:spcPts val="2000"/>
              </a:lnSpc>
              <a:spcBef>
                <a:spcPts val="0"/>
              </a:spcBef>
              <a:spcAft>
                <a:spcPts val="0"/>
              </a:spcAft>
              <a:buNone/>
            </a:pPr>
            <a:r>
              <a:rPr lang="en-US" altLang="en-US" sz="1600" b="1" dirty="0">
                <a:solidFill>
                  <a:srgbClr val="1E2A5A"/>
                </a:solidFill>
                <a:latin typeface="Calibri"/>
                <a:ea typeface="맑은 고딕"/>
                <a:cs typeface="Calibri"/>
              </a:rPr>
              <a:t>19.  </a:t>
            </a:r>
            <a:r>
              <a:rPr lang="ko-KR" altLang="en-US" sz="1600" b="0" dirty="0">
                <a:solidFill>
                  <a:srgbClr val="3C4558"/>
                </a:solidFill>
                <a:latin typeface="맑은 고딕"/>
                <a:ea typeface="맑은 고딕"/>
                <a:cs typeface="맑은 고딕"/>
              </a:rPr>
              <a:t>셰르파라는 말은 네팔 동부 지역에 사는 셰르파족에서 유래했다.</a:t>
            </a:r>
            <a:endParaRPr lang="ko-KR" sz="1600"/>
          </a:p>
        </p:txBody>
      </p:sp>
      <p:sp>
        <p:nvSpPr>
          <p:cNvPr id="14" name="eng_2"/>
          <p:cNvSpPr txBox="1"/>
          <p:nvPr/>
        </p:nvSpPr>
        <p:spPr>
          <a:xfrm>
            <a:off x="457200" y="2995930"/>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solidFill>
                <a:latin typeface="Calibri"/>
                <a:ea typeface="맑은 고딕"/>
                <a:cs typeface="Calibri"/>
              </a:rPr>
              <a:t>The word Sherpa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come</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comes</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from the Sherpa tribe, which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lives</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live</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in the eastern part of Nepal.</a:t>
            </a:r>
            <a:endParaRPr lang="ko-KR" sz="2000"/>
          </a:p>
        </p:txBody>
      </p:sp>
      <p:sp>
        <p:nvSpPr>
          <p:cNvPr id="15" name="rv_eng_2"/>
          <p:cNvSpPr txBox="1"/>
          <p:nvPr/>
        </p:nvSpPr>
        <p:spPr>
          <a:xfrm>
            <a:off x="457200" y="2995930"/>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alpha val="0"/>
                  </a:srgbClr>
                </a:solidFill>
                <a:latin typeface="Calibri"/>
                <a:ea typeface="맑은 고딕"/>
                <a:cs typeface="Calibri"/>
              </a:rPr>
              <a:t>The word Sherpa </a:t>
            </a:r>
            <a:r>
              <a:rPr lang="en-US" altLang="en-US" sz="2000" b="1" dirty="0">
                <a:solidFill>
                  <a:srgbClr val="C00000">
                    <a:alpha val="0"/>
                  </a:srgbClr>
                </a:solidFill>
                <a:latin typeface="Calibri"/>
                <a:ea typeface="맑은 고딕"/>
                <a:cs typeface="Calibri"/>
              </a:rPr>
              <a:t>[ </a:t>
            </a:r>
            <a:r>
              <a:rPr lang="en-US" altLang="en-US" sz="2000" b="1" dirty="0">
                <a:solidFill>
                  <a:srgbClr val="C00000">
                    <a:alpha val="0"/>
                  </a:srgbClr>
                </a:solidFill>
                <a:latin typeface="Calibri"/>
                <a:ea typeface="맑은 고딕"/>
                <a:cs typeface="Calibri"/>
              </a:rPr>
              <a:t>come</a:t>
            </a:r>
            <a:r>
              <a:rPr lang="en-US" altLang="en-US" sz="2000" b="1" dirty="0">
                <a:solidFill>
                  <a:srgbClr val="C00000">
                    <a:alpha val="0"/>
                  </a:srgbClr>
                </a:solidFill>
                <a:latin typeface="Calibri"/>
                <a:ea typeface="맑은 고딕"/>
                <a:cs typeface="Calibri"/>
              </a:rPr>
              <a:t> / </a:t>
            </a:r>
            <a:r>
              <a:rPr lang="en-US" altLang="en-US" sz="2000" b="1" dirty="0">
                <a:solidFill>
                  <a:srgbClr val="C00000"/>
                </a:solidFill>
                <a:latin typeface="Calibri"/>
                <a:ea typeface="맑은 고딕"/>
                <a:cs typeface="Calibri"/>
              </a:rPr>
              <a:t>comes</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from the Sherpa tribe, which </a:t>
            </a:r>
            <a:r>
              <a:rPr lang="en-US" altLang="en-US" sz="2000" b="1" dirty="0">
                <a:solidFill>
                  <a:srgbClr val="C00000">
                    <a:alpha val="0"/>
                  </a:srgbClr>
                </a:solidFill>
                <a:latin typeface="Calibri"/>
                <a:ea typeface="맑은 고딕"/>
                <a:cs typeface="Calibri"/>
              </a:rPr>
              <a:t>[ </a:t>
            </a:r>
            <a:r>
              <a:rPr lang="en-US" altLang="en-US" sz="2000" b="1" dirty="0">
                <a:solidFill>
                  <a:srgbClr val="C00000"/>
                </a:solidFill>
                <a:latin typeface="Calibri"/>
                <a:ea typeface="맑은 고딕"/>
                <a:cs typeface="Calibri"/>
              </a:rPr>
              <a:t>lives</a:t>
            </a:r>
            <a:r>
              <a:rPr lang="en-US" altLang="en-US" sz="2000" b="1" dirty="0">
                <a:solidFill>
                  <a:srgbClr val="C00000">
                    <a:alpha val="0"/>
                  </a:srgbClr>
                </a:solidFill>
                <a:latin typeface="Calibri"/>
                <a:ea typeface="맑은 고딕"/>
                <a:cs typeface="Calibri"/>
              </a:rPr>
              <a:t> / </a:t>
            </a:r>
            <a:r>
              <a:rPr lang="en-US" altLang="en-US" sz="2000" b="1" dirty="0">
                <a:solidFill>
                  <a:srgbClr val="C00000">
                    <a:alpha val="0"/>
                  </a:srgbClr>
                </a:solidFill>
                <a:latin typeface="Calibri"/>
                <a:ea typeface="맑은 고딕"/>
                <a:cs typeface="Calibri"/>
              </a:rPr>
              <a:t>live</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in the eastern part of Nepal.</a:t>
            </a:r>
            <a:endParaRPr lang="ko-KR" sz="2000"/>
          </a:p>
        </p:txBody>
      </p:sp>
      <p:sp>
        <p:nvSpPr>
          <p:cNvPr id="16" name="rv_point_2"/>
          <p:cNvSpPr txBox="1"/>
          <p:nvPr/>
        </p:nvSpPr>
        <p:spPr>
          <a:xfrm>
            <a:off x="457200" y="3761994"/>
            <a:ext cx="11274552" cy="331978"/>
          </a:xfrm>
          <a:prstGeom prst="rect">
            <a:avLst/>
          </a:prstGeom>
          <a:noFill/>
        </p:spPr>
        <p:txBody>
          <a:bodyPr wrap="square" lIns="228600" tIns="54864" rIns="228600" bIns="54864" anchor="t" rtlCol="0">
            <a:noAutofit/>
          </a:bodyPr>
          <a:lstStyle/>
          <a:p>
            <a:pPr algn="l">
              <a:lnSpc>
                <a:spcPts val="1750"/>
              </a:lnSpc>
              <a:spcBef>
                <a:spcPts val="0"/>
              </a:spcBef>
              <a:spcAft>
                <a:spcPts val="0"/>
              </a:spcAft>
              <a:buNone/>
            </a:pPr>
            <a:r>
              <a:rPr lang="ko-KR" altLang="en-US" sz="1400" b="1" dirty="0">
                <a:solidFill>
                  <a:srgbClr val="C00000"/>
                </a:solidFill>
                <a:latin typeface="맑은 고딕"/>
                <a:ea typeface="맑은 고딕"/>
                <a:cs typeface="맑은 고딕"/>
              </a:rPr>
              <a:t>포인트  </a:t>
            </a:r>
            <a:r>
              <a:rPr lang="ko-KR" altLang="en-US" sz="1400" b="0" dirty="0">
                <a:solidFill>
                  <a:srgbClr val="2F5597"/>
                </a:solidFill>
                <a:latin typeface="맑은 고딕"/>
                <a:ea typeface="맑은 고딕"/>
                <a:cs typeface="맑은 고딕"/>
              </a:rPr>
              <a:t>동사의 수 일치 (주어 The word 단수) · 동사의 수 일치 (선행사 the Sherpa tribe 단수)</a:t>
            </a:r>
            <a:endParaRPr lang="ko-KR" sz="1400"/>
          </a:p>
        </p:txBody>
      </p:sp>
      <p:sp>
        <p:nvSpPr>
          <p:cNvPr id="17" name="item_card_3"/>
          <p:cNvSpPr/>
          <p:nvPr/>
        </p:nvSpPr>
        <p:spPr>
          <a:xfrm>
            <a:off x="457200" y="4203700"/>
            <a:ext cx="11274552" cy="1516634"/>
          </a:xfrm>
          <a:prstGeom prst="roundRect">
            <a:avLst>
              <a:gd name="adj" fmla="val 6000"/>
            </a:avLst>
          </a:prstGeom>
          <a:solidFill>
            <a:srgbClr val="F3F5F9"/>
          </a:solidFill>
          <a:ln w="12700">
            <a:solidFill>
              <a:srgbClr val="D9DFEA"/>
            </a:solidFill>
          </a:ln>
        </p:spPr>
        <p:txBody>
          <a:bodyPr rtlCol="0" anchor="ctr"/>
          <a:lstStyle/>
          <a:p>
            <a:pPr algn="ctr"/>
          </a:p>
        </p:txBody>
      </p:sp>
      <p:sp>
        <p:nvSpPr>
          <p:cNvPr id="18" name="kor_3"/>
          <p:cNvSpPr txBox="1"/>
          <p:nvPr/>
        </p:nvSpPr>
        <p:spPr>
          <a:xfrm>
            <a:off x="457200" y="4313428"/>
            <a:ext cx="11274552" cy="363728"/>
          </a:xfrm>
          <a:prstGeom prst="rect">
            <a:avLst/>
          </a:prstGeom>
          <a:noFill/>
        </p:spPr>
        <p:txBody>
          <a:bodyPr wrap="square" lIns="228600" tIns="54864" rIns="228600" bIns="54864" anchor="t" rtlCol="0">
            <a:noAutofit/>
          </a:bodyPr>
          <a:lstStyle/>
          <a:p>
            <a:pPr algn="l">
              <a:lnSpc>
                <a:spcPts val="2000"/>
              </a:lnSpc>
              <a:spcBef>
                <a:spcPts val="0"/>
              </a:spcBef>
              <a:spcAft>
                <a:spcPts val="0"/>
              </a:spcAft>
              <a:buNone/>
            </a:pPr>
            <a:r>
              <a:rPr lang="en-US" altLang="en-US" sz="1600" b="1" dirty="0">
                <a:solidFill>
                  <a:srgbClr val="1E2A5A"/>
                </a:solidFill>
                <a:latin typeface="Calibri"/>
                <a:ea typeface="맑은 고딕"/>
                <a:cs typeface="Calibri"/>
              </a:rPr>
              <a:t>20.  </a:t>
            </a:r>
            <a:r>
              <a:rPr lang="ko-KR" altLang="en-US" sz="1600" b="0" dirty="0">
                <a:solidFill>
                  <a:srgbClr val="3C4558"/>
                </a:solidFill>
                <a:latin typeface="맑은 고딕"/>
                <a:ea typeface="맑은 고딕"/>
                <a:cs typeface="맑은 고딕"/>
              </a:rPr>
              <a:t>셰르파는 뛰어난 등반 기술을 갖추고 있고 산길을 잘 안다.</a:t>
            </a:r>
            <a:endParaRPr lang="ko-KR" sz="1600"/>
          </a:p>
        </p:txBody>
      </p:sp>
      <p:sp>
        <p:nvSpPr>
          <p:cNvPr id="19" name="eng_3"/>
          <p:cNvSpPr txBox="1"/>
          <p:nvPr/>
        </p:nvSpPr>
        <p:spPr>
          <a:xfrm>
            <a:off x="457200" y="4622292"/>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solidFill>
                <a:latin typeface="Calibri"/>
                <a:ea typeface="맑은 고딕"/>
                <a:cs typeface="Calibri"/>
              </a:rPr>
              <a:t>Sherpas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have</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has</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good climbing skills and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knows</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know</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their way around the mountains well.</a:t>
            </a:r>
            <a:endParaRPr lang="ko-KR" sz="2000"/>
          </a:p>
        </p:txBody>
      </p:sp>
      <p:sp>
        <p:nvSpPr>
          <p:cNvPr id="20" name="rv_eng_3"/>
          <p:cNvSpPr txBox="1"/>
          <p:nvPr/>
        </p:nvSpPr>
        <p:spPr>
          <a:xfrm>
            <a:off x="457200" y="4622292"/>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alpha val="0"/>
                  </a:srgbClr>
                </a:solidFill>
                <a:latin typeface="Calibri"/>
                <a:ea typeface="맑은 고딕"/>
                <a:cs typeface="Calibri"/>
              </a:rPr>
              <a:t>Sherpas </a:t>
            </a:r>
            <a:r>
              <a:rPr lang="en-US" altLang="en-US" sz="2000" b="1" dirty="0">
                <a:solidFill>
                  <a:srgbClr val="C00000">
                    <a:alpha val="0"/>
                  </a:srgbClr>
                </a:solidFill>
                <a:latin typeface="Calibri"/>
                <a:ea typeface="맑은 고딕"/>
                <a:cs typeface="Calibri"/>
              </a:rPr>
              <a:t>[ </a:t>
            </a:r>
            <a:r>
              <a:rPr lang="en-US" altLang="en-US" sz="2000" b="1" dirty="0">
                <a:solidFill>
                  <a:srgbClr val="C00000"/>
                </a:solidFill>
                <a:latin typeface="Calibri"/>
                <a:ea typeface="맑은 고딕"/>
                <a:cs typeface="Calibri"/>
              </a:rPr>
              <a:t>have</a:t>
            </a:r>
            <a:r>
              <a:rPr lang="en-US" altLang="en-US" sz="2000" b="1" dirty="0">
                <a:solidFill>
                  <a:srgbClr val="C00000">
                    <a:alpha val="0"/>
                  </a:srgbClr>
                </a:solidFill>
                <a:latin typeface="Calibri"/>
                <a:ea typeface="맑은 고딕"/>
                <a:cs typeface="Calibri"/>
              </a:rPr>
              <a:t> / </a:t>
            </a:r>
            <a:r>
              <a:rPr lang="en-US" altLang="en-US" sz="2000" b="1" dirty="0">
                <a:solidFill>
                  <a:srgbClr val="C00000">
                    <a:alpha val="0"/>
                  </a:srgbClr>
                </a:solidFill>
                <a:latin typeface="Calibri"/>
                <a:ea typeface="맑은 고딕"/>
                <a:cs typeface="Calibri"/>
              </a:rPr>
              <a:t>has</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good climbing skills and </a:t>
            </a:r>
            <a:r>
              <a:rPr lang="en-US" altLang="en-US" sz="2000" b="1" dirty="0">
                <a:solidFill>
                  <a:srgbClr val="C00000">
                    <a:alpha val="0"/>
                  </a:srgbClr>
                </a:solidFill>
                <a:latin typeface="Calibri"/>
                <a:ea typeface="맑은 고딕"/>
                <a:cs typeface="Calibri"/>
              </a:rPr>
              <a:t>[ </a:t>
            </a:r>
            <a:r>
              <a:rPr lang="en-US" altLang="en-US" sz="2000" b="1" dirty="0">
                <a:solidFill>
                  <a:srgbClr val="C00000">
                    <a:alpha val="0"/>
                  </a:srgbClr>
                </a:solidFill>
                <a:latin typeface="Calibri"/>
                <a:ea typeface="맑은 고딕"/>
                <a:cs typeface="Calibri"/>
              </a:rPr>
              <a:t>knows</a:t>
            </a:r>
            <a:r>
              <a:rPr lang="en-US" altLang="en-US" sz="2000" b="1" dirty="0">
                <a:solidFill>
                  <a:srgbClr val="C00000">
                    <a:alpha val="0"/>
                  </a:srgbClr>
                </a:solidFill>
                <a:latin typeface="Calibri"/>
                <a:ea typeface="맑은 고딕"/>
                <a:cs typeface="Calibri"/>
              </a:rPr>
              <a:t> / </a:t>
            </a:r>
            <a:r>
              <a:rPr lang="en-US" altLang="en-US" sz="2000" b="1" dirty="0">
                <a:solidFill>
                  <a:srgbClr val="C00000"/>
                </a:solidFill>
                <a:latin typeface="Calibri"/>
                <a:ea typeface="맑은 고딕"/>
                <a:cs typeface="Calibri"/>
              </a:rPr>
              <a:t>know</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their way around the mountains well.</a:t>
            </a:r>
            <a:endParaRPr lang="ko-KR" sz="2000"/>
          </a:p>
        </p:txBody>
      </p:sp>
      <p:sp>
        <p:nvSpPr>
          <p:cNvPr id="21" name="rv_point_3"/>
          <p:cNvSpPr txBox="1"/>
          <p:nvPr/>
        </p:nvSpPr>
        <p:spPr>
          <a:xfrm>
            <a:off x="457200" y="5388356"/>
            <a:ext cx="11274552" cy="331978"/>
          </a:xfrm>
          <a:prstGeom prst="rect">
            <a:avLst/>
          </a:prstGeom>
          <a:noFill/>
        </p:spPr>
        <p:txBody>
          <a:bodyPr wrap="square" lIns="228600" tIns="54864" rIns="228600" bIns="54864" anchor="t" rtlCol="0">
            <a:noAutofit/>
          </a:bodyPr>
          <a:lstStyle/>
          <a:p>
            <a:pPr algn="l">
              <a:lnSpc>
                <a:spcPts val="1750"/>
              </a:lnSpc>
              <a:spcBef>
                <a:spcPts val="0"/>
              </a:spcBef>
              <a:spcAft>
                <a:spcPts val="0"/>
              </a:spcAft>
              <a:buNone/>
            </a:pPr>
            <a:r>
              <a:rPr lang="ko-KR" altLang="en-US" sz="1400" b="1" dirty="0">
                <a:solidFill>
                  <a:srgbClr val="C00000"/>
                </a:solidFill>
                <a:latin typeface="맑은 고딕"/>
                <a:ea typeface="맑은 고딕"/>
                <a:cs typeface="맑은 고딕"/>
              </a:rPr>
              <a:t>포인트  </a:t>
            </a:r>
            <a:r>
              <a:rPr lang="ko-KR" altLang="en-US" sz="1400" b="0" dirty="0">
                <a:solidFill>
                  <a:srgbClr val="2F5597"/>
                </a:solidFill>
                <a:latin typeface="맑은 고딕"/>
                <a:ea typeface="맑은 고딕"/>
                <a:cs typeface="맑은 고딕"/>
              </a:rPr>
              <a:t>동사의 수 일치 (주어 Sherpas 복수) · 동사의 수 일치 (have와 병렬, 주어 Sherpas)</a:t>
            </a:r>
            <a:endParaRPr lang="ko-KR" sz="1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25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250"/>
                                        <p:tgtEl>
                                          <p:spTgt spid="1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250"/>
                                        <p:tgtEl>
                                          <p:spTgt spid="1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fade">
                                      <p:cBhvr>
                                        <p:cTn id="16" dur="250"/>
                                        <p:tgtEl>
                                          <p:spTgt spid="1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250"/>
                                        <p:tgtEl>
                                          <p:spTgt spid="2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fade">
                                      <p:cBhvr>
                                        <p:cTn id="22" dur="25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5" grpId="0" animBg="1"/>
      <p:bldP spid="16" grpId="0" animBg="1"/>
      <p:bldP spid="20" grpId="0" animBg="1"/>
      <p:bldP spid="21" grpId="0" animBg="1"/>
    </p:bldLst>
  </p:timing>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8000"/>
            </a:avLst>
          </a:prstGeom>
          <a:solidFill>
            <a:srgbClr val="1E2A5A"/>
          </a:solidFill>
          <a:ln>
            <a:noFill/>
          </a:ln>
        </p:spPr>
        <p:txBody>
          <a:bodyPr wrap="square" lIns="45720" tIns="18288" rIns="45720" bIns="18288" anchor="ctr" rtlCol="0">
            <a:noAutofit/>
          </a:bodyPr>
          <a:lstStyle/>
          <a:p>
            <a:pPr algn="ctr">
              <a:lnSpc>
                <a:spcPts val="2000"/>
              </a:lnSpc>
              <a:spcBef>
                <a:spcPts val="0"/>
              </a:spcBef>
              <a:spcAft>
                <a:spcPts val="0"/>
              </a:spcAft>
              <a:buNone/>
            </a:pPr>
            <a:r>
              <a:rPr lang="en-US" altLang="en-US" sz="1700" b="1" dirty="0">
                <a:solidFill>
                  <a:srgbClr val="FFFFFF"/>
                </a:solidFill>
                <a:latin typeface="Calibri"/>
                <a:ea typeface="맑은 고딕"/>
                <a:cs typeface="Calibri"/>
              </a:rPr>
              <a:t>L5</a:t>
            </a:r>
            <a:endParaRPr lang="ko-KR" sz="1700"/>
          </a:p>
        </p:txBody>
      </p:sp>
      <p:sp>
        <p:nvSpPr>
          <p:cNvPr id="3" name="hdr_chip"/>
          <p:cNvSpPr/>
          <p:nvPr/>
        </p:nvSpPr>
        <p:spPr>
          <a:xfrm>
            <a:off x="1755648" y="274320"/>
            <a:ext cx="1371600" cy="493776"/>
          </a:xfrm>
          <a:prstGeom prst="roundRect">
            <a:avLst>
              <a:gd name="adj" fmla="val 8000"/>
            </a:avLst>
          </a:prstGeom>
          <a:solidFill>
            <a:srgbClr val="E6EAF4"/>
          </a:solidFill>
          <a:ln>
            <a:noFill/>
          </a:ln>
        </p:spPr>
        <p:txBody>
          <a:bodyPr wrap="square" lIns="27432" tIns="18288" rIns="27432" bIns="18288" anchor="ctr" rtlCol="0">
            <a:noAutofit/>
          </a:bodyPr>
          <a:lstStyle/>
          <a:p>
            <a:pPr algn="ctr">
              <a:lnSpc>
                <a:spcPts val="1700"/>
              </a:lnSpc>
              <a:spcBef>
                <a:spcPts val="0"/>
              </a:spcBef>
              <a:spcAft>
                <a:spcPts val="0"/>
              </a:spcAft>
              <a:buNone/>
            </a:pPr>
            <a:r>
              <a:rPr lang="ko-KR" altLang="en-US" sz="1400" b="1" dirty="0">
                <a:solidFill>
                  <a:srgbClr val="1E2A5A"/>
                </a:solidFill>
                <a:latin typeface="맑은 고딕"/>
                <a:ea typeface="맑은 고딕"/>
                <a:cs typeface="맑은 고딕"/>
              </a:rPr>
              <a:t>PART 5 · 8</a:t>
            </a:r>
            <a:endParaRPr lang="ko-KR" sz="1400"/>
          </a:p>
        </p:txBody>
      </p:sp>
      <p:sp>
        <p:nvSpPr>
          <p:cNvPr id="4" name="hdr_q"/>
          <p:cNvSpPr txBox="1"/>
          <p:nvPr/>
        </p:nvSpPr>
        <p:spPr>
          <a:xfrm>
            <a:off x="3246120" y="246888"/>
            <a:ext cx="8485632" cy="548640"/>
          </a:xfrm>
          <a:prstGeom prst="rect">
            <a:avLst/>
          </a:prstGeom>
          <a:noFill/>
        </p:spPr>
        <p:txBody>
          <a:bodyPr wrap="square" lIns="109728" tIns="54864" rIns="109728" bIns="54864" anchor="ctr" rtlCol="0">
            <a:noAutofit/>
          </a:bodyPr>
          <a:lstStyle/>
          <a:p>
            <a:pPr algn="l">
              <a:lnSpc>
                <a:spcPts val="2400"/>
              </a:lnSpc>
              <a:spcBef>
                <a:spcPts val="0"/>
              </a:spcBef>
              <a:spcAft>
                <a:spcPts val="0"/>
              </a:spcAft>
              <a:buNone/>
            </a:pPr>
            <a:r>
              <a:rPr lang="ko-KR" altLang="en-US" sz="2000" b="1" dirty="0">
                <a:solidFill>
                  <a:srgbClr val="1F2328"/>
                </a:solidFill>
                <a:latin typeface="맑은 고딕"/>
                <a:ea typeface="맑은 고딕"/>
                <a:cs typeface="맑은 고딕"/>
              </a:rPr>
              <a:t>[  ] 안에서 어법상 알맞은 것을 고르시오.</a:t>
            </a:r>
            <a:endParaRPr lang="ko-KR" sz="2000"/>
          </a:p>
        </p:txBody>
      </p:sp>
      <p:sp>
        <p:nvSpPr>
          <p:cNvPr id="5" name="ftr_exam"/>
          <p:cNvSpPr txBox="1"/>
          <p:nvPr/>
        </p:nvSpPr>
        <p:spPr>
          <a:xfrm>
            <a:off x="457200" y="6519672"/>
            <a:ext cx="5669280" cy="256032"/>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5</a:t>
            </a:r>
            <a:endParaRPr lang="ko-KR" sz="1000"/>
          </a:p>
        </p:txBody>
      </p:sp>
      <p:sp>
        <p:nvSpPr>
          <p:cNvPr id="6" name="ftr_hint"/>
          <p:cNvSpPr txBox="1"/>
          <p:nvPr/>
        </p:nvSpPr>
        <p:spPr>
          <a:xfrm>
            <a:off x="5971032" y="6519672"/>
            <a:ext cx="5760720" cy="256032"/>
          </a:xfrm>
          <a:prstGeom prst="rect">
            <a:avLst/>
          </a:prstGeom>
          <a:noFill/>
        </p:spPr>
        <p:txBody>
          <a:bodyPr wrap="square" lIns="0" tIns="0" rIns="0" bIns="0" anchor="t" rtlCol="0">
            <a:noAutofit/>
          </a:bodyPr>
          <a:lstStyle/>
          <a:p>
            <a:pPr algn="r">
              <a:lnSpc>
                <a:spcPts val="1200"/>
              </a:lnSpc>
              <a:spcBef>
                <a:spcPts val="0"/>
              </a:spcBef>
              <a:spcAft>
                <a:spcPts val="0"/>
              </a:spcAft>
              <a:buNone/>
            </a:pPr>
            <a:r>
              <a:rPr lang="ko-KR" altLang="en-US" sz="1000" b="0" dirty="0">
                <a:solidFill>
                  <a:srgbClr val="7A808C"/>
                </a:solidFill>
                <a:latin typeface="맑은 고딕"/>
                <a:ea typeface="맑은 고딕"/>
                <a:cs typeface="맑은 고딕"/>
              </a:rPr>
              <a:t>클릭 ① 정답(빨간색) + 문법 포인트 공개</a:t>
            </a:r>
            <a:endParaRPr lang="ko-KR" sz="1000"/>
          </a:p>
        </p:txBody>
      </p:sp>
      <p:sp>
        <p:nvSpPr>
          <p:cNvPr id="7" name="item_card_1"/>
          <p:cNvSpPr/>
          <p:nvPr/>
        </p:nvSpPr>
        <p:spPr>
          <a:xfrm>
            <a:off x="457200" y="950976"/>
            <a:ext cx="11274552" cy="1516634"/>
          </a:xfrm>
          <a:prstGeom prst="roundRect">
            <a:avLst>
              <a:gd name="adj" fmla="val 6000"/>
            </a:avLst>
          </a:prstGeom>
          <a:solidFill>
            <a:srgbClr val="F3F5F9"/>
          </a:solidFill>
          <a:ln w="12700">
            <a:solidFill>
              <a:srgbClr val="D9DFEA"/>
            </a:solidFill>
          </a:ln>
        </p:spPr>
        <p:txBody>
          <a:bodyPr rtlCol="0" anchor="ctr"/>
          <a:lstStyle/>
          <a:p>
            <a:pPr algn="ctr"/>
          </a:p>
        </p:txBody>
      </p:sp>
      <p:sp>
        <p:nvSpPr>
          <p:cNvPr id="8" name="kor_1"/>
          <p:cNvSpPr txBox="1"/>
          <p:nvPr/>
        </p:nvSpPr>
        <p:spPr>
          <a:xfrm>
            <a:off x="457200" y="1060704"/>
            <a:ext cx="11274552" cy="363728"/>
          </a:xfrm>
          <a:prstGeom prst="rect">
            <a:avLst/>
          </a:prstGeom>
          <a:noFill/>
        </p:spPr>
        <p:txBody>
          <a:bodyPr wrap="square" lIns="228600" tIns="54864" rIns="228600" bIns="54864" anchor="t" rtlCol="0">
            <a:noAutofit/>
          </a:bodyPr>
          <a:lstStyle/>
          <a:p>
            <a:pPr algn="l">
              <a:lnSpc>
                <a:spcPts val="2000"/>
              </a:lnSpc>
              <a:spcBef>
                <a:spcPts val="0"/>
              </a:spcBef>
              <a:spcAft>
                <a:spcPts val="0"/>
              </a:spcAft>
              <a:buNone/>
            </a:pPr>
            <a:r>
              <a:rPr lang="en-US" altLang="en-US" sz="1600" b="1" dirty="0">
                <a:solidFill>
                  <a:srgbClr val="1E2A5A"/>
                </a:solidFill>
                <a:latin typeface="Calibri"/>
                <a:ea typeface="맑은 고딕"/>
                <a:cs typeface="Calibri"/>
              </a:rPr>
              <a:t>21.  </a:t>
            </a:r>
            <a:r>
              <a:rPr lang="ko-KR" altLang="en-US" sz="1600" b="0" dirty="0">
                <a:solidFill>
                  <a:srgbClr val="3C4558"/>
                </a:solidFill>
                <a:latin typeface="맑은 고딕"/>
                <a:ea typeface="맑은 고딕"/>
                <a:cs typeface="맑은 고딕"/>
              </a:rPr>
              <a:t>그들은 또한 높은 산 위에서도 숨 쉬는 데 별 어려움이 없다.</a:t>
            </a:r>
            <a:endParaRPr lang="ko-KR" sz="1600"/>
          </a:p>
        </p:txBody>
      </p:sp>
      <p:sp>
        <p:nvSpPr>
          <p:cNvPr id="9" name="eng_1"/>
          <p:cNvSpPr txBox="1"/>
          <p:nvPr/>
        </p:nvSpPr>
        <p:spPr>
          <a:xfrm>
            <a:off x="457200" y="1369568"/>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solidFill>
                <a:latin typeface="Calibri"/>
                <a:ea typeface="맑은 고딕"/>
                <a:cs typeface="Calibri"/>
              </a:rPr>
              <a:t>They also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has</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have</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little difficulty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breathing</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to breathe</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high up in the mountains.</a:t>
            </a:r>
            <a:endParaRPr lang="ko-KR" sz="2000"/>
          </a:p>
        </p:txBody>
      </p:sp>
      <p:sp>
        <p:nvSpPr>
          <p:cNvPr id="10" name="rv_eng_1"/>
          <p:cNvSpPr txBox="1"/>
          <p:nvPr/>
        </p:nvSpPr>
        <p:spPr>
          <a:xfrm>
            <a:off x="457200" y="1369568"/>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alpha val="0"/>
                  </a:srgbClr>
                </a:solidFill>
                <a:latin typeface="Calibri"/>
                <a:ea typeface="맑은 고딕"/>
                <a:cs typeface="Calibri"/>
              </a:rPr>
              <a:t>They also </a:t>
            </a:r>
            <a:r>
              <a:rPr lang="en-US" altLang="en-US" sz="2000" b="1" dirty="0">
                <a:solidFill>
                  <a:srgbClr val="C00000">
                    <a:alpha val="0"/>
                  </a:srgbClr>
                </a:solidFill>
                <a:latin typeface="Calibri"/>
                <a:ea typeface="맑은 고딕"/>
                <a:cs typeface="Calibri"/>
              </a:rPr>
              <a:t>[ </a:t>
            </a:r>
            <a:r>
              <a:rPr lang="en-US" altLang="en-US" sz="2000" b="1" dirty="0">
                <a:solidFill>
                  <a:srgbClr val="C00000">
                    <a:alpha val="0"/>
                  </a:srgbClr>
                </a:solidFill>
                <a:latin typeface="Calibri"/>
                <a:ea typeface="맑은 고딕"/>
                <a:cs typeface="Calibri"/>
              </a:rPr>
              <a:t>has</a:t>
            </a:r>
            <a:r>
              <a:rPr lang="en-US" altLang="en-US" sz="2000" b="1" dirty="0">
                <a:solidFill>
                  <a:srgbClr val="C00000">
                    <a:alpha val="0"/>
                  </a:srgbClr>
                </a:solidFill>
                <a:latin typeface="Calibri"/>
                <a:ea typeface="맑은 고딕"/>
                <a:cs typeface="Calibri"/>
              </a:rPr>
              <a:t> / </a:t>
            </a:r>
            <a:r>
              <a:rPr lang="en-US" altLang="en-US" sz="2000" b="1" dirty="0">
                <a:solidFill>
                  <a:srgbClr val="C00000"/>
                </a:solidFill>
                <a:latin typeface="Calibri"/>
                <a:ea typeface="맑은 고딕"/>
                <a:cs typeface="Calibri"/>
              </a:rPr>
              <a:t>have</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little difficulty </a:t>
            </a:r>
            <a:r>
              <a:rPr lang="en-US" altLang="en-US" sz="2000" b="1" dirty="0">
                <a:solidFill>
                  <a:srgbClr val="C00000">
                    <a:alpha val="0"/>
                  </a:srgbClr>
                </a:solidFill>
                <a:latin typeface="Calibri"/>
                <a:ea typeface="맑은 고딕"/>
                <a:cs typeface="Calibri"/>
              </a:rPr>
              <a:t>[ </a:t>
            </a:r>
            <a:r>
              <a:rPr lang="en-US" altLang="en-US" sz="2000" b="1" dirty="0">
                <a:solidFill>
                  <a:srgbClr val="C00000"/>
                </a:solidFill>
                <a:latin typeface="Calibri"/>
                <a:ea typeface="맑은 고딕"/>
                <a:cs typeface="Calibri"/>
              </a:rPr>
              <a:t>breathing</a:t>
            </a:r>
            <a:r>
              <a:rPr lang="en-US" altLang="en-US" sz="2000" b="1" dirty="0">
                <a:solidFill>
                  <a:srgbClr val="C00000">
                    <a:alpha val="0"/>
                  </a:srgbClr>
                </a:solidFill>
                <a:latin typeface="Calibri"/>
                <a:ea typeface="맑은 고딕"/>
                <a:cs typeface="Calibri"/>
              </a:rPr>
              <a:t> / </a:t>
            </a:r>
            <a:r>
              <a:rPr lang="en-US" altLang="en-US" sz="2000" b="1" dirty="0">
                <a:solidFill>
                  <a:srgbClr val="C00000">
                    <a:alpha val="0"/>
                  </a:srgbClr>
                </a:solidFill>
                <a:latin typeface="Calibri"/>
                <a:ea typeface="맑은 고딕"/>
                <a:cs typeface="Calibri"/>
              </a:rPr>
              <a:t>to breathe</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high up in the mountains.</a:t>
            </a:r>
            <a:endParaRPr lang="ko-KR" sz="2000"/>
          </a:p>
        </p:txBody>
      </p:sp>
      <p:sp>
        <p:nvSpPr>
          <p:cNvPr id="11" name="rv_point_1"/>
          <p:cNvSpPr txBox="1"/>
          <p:nvPr/>
        </p:nvSpPr>
        <p:spPr>
          <a:xfrm>
            <a:off x="457200" y="2135632"/>
            <a:ext cx="11274552" cy="331978"/>
          </a:xfrm>
          <a:prstGeom prst="rect">
            <a:avLst/>
          </a:prstGeom>
          <a:noFill/>
        </p:spPr>
        <p:txBody>
          <a:bodyPr wrap="square" lIns="228600" tIns="54864" rIns="228600" bIns="54864" anchor="t" rtlCol="0">
            <a:noAutofit/>
          </a:bodyPr>
          <a:lstStyle/>
          <a:p>
            <a:pPr algn="l">
              <a:lnSpc>
                <a:spcPts val="1750"/>
              </a:lnSpc>
              <a:spcBef>
                <a:spcPts val="0"/>
              </a:spcBef>
              <a:spcAft>
                <a:spcPts val="0"/>
              </a:spcAft>
              <a:buNone/>
            </a:pPr>
            <a:r>
              <a:rPr lang="ko-KR" altLang="en-US" sz="1400" b="1" dirty="0">
                <a:solidFill>
                  <a:srgbClr val="C00000"/>
                </a:solidFill>
                <a:latin typeface="맑은 고딕"/>
                <a:ea typeface="맑은 고딕"/>
                <a:cs typeface="맑은 고딕"/>
              </a:rPr>
              <a:t>포인트  </a:t>
            </a:r>
            <a:r>
              <a:rPr lang="ko-KR" altLang="en-US" sz="1400" b="0" dirty="0">
                <a:solidFill>
                  <a:srgbClr val="2F5597"/>
                </a:solidFill>
                <a:latin typeface="맑은 고딕"/>
                <a:ea typeface="맑은 고딕"/>
                <a:cs typeface="맑은 고딕"/>
              </a:rPr>
              <a:t>동사의 수 일치 (주어 They) · to부정사/동명사/동사원형 (have difficulty + V-ing)</a:t>
            </a:r>
            <a:endParaRPr lang="ko-KR" sz="1400"/>
          </a:p>
        </p:txBody>
      </p:sp>
      <p:sp>
        <p:nvSpPr>
          <p:cNvPr id="12" name="item_card_2"/>
          <p:cNvSpPr/>
          <p:nvPr/>
        </p:nvSpPr>
        <p:spPr>
          <a:xfrm>
            <a:off x="457200" y="2577338"/>
            <a:ext cx="11274552" cy="1516634"/>
          </a:xfrm>
          <a:prstGeom prst="roundRect">
            <a:avLst>
              <a:gd name="adj" fmla="val 6000"/>
            </a:avLst>
          </a:prstGeom>
          <a:solidFill>
            <a:srgbClr val="F3F5F9"/>
          </a:solidFill>
          <a:ln w="12700">
            <a:solidFill>
              <a:srgbClr val="D9DFEA"/>
            </a:solidFill>
          </a:ln>
        </p:spPr>
        <p:txBody>
          <a:bodyPr rtlCol="0" anchor="ctr"/>
          <a:lstStyle/>
          <a:p>
            <a:pPr algn="ctr"/>
          </a:p>
        </p:txBody>
      </p:sp>
      <p:sp>
        <p:nvSpPr>
          <p:cNvPr id="13" name="kor_2"/>
          <p:cNvSpPr txBox="1"/>
          <p:nvPr/>
        </p:nvSpPr>
        <p:spPr>
          <a:xfrm>
            <a:off x="457200" y="2687066"/>
            <a:ext cx="11274552" cy="363728"/>
          </a:xfrm>
          <a:prstGeom prst="rect">
            <a:avLst/>
          </a:prstGeom>
          <a:noFill/>
        </p:spPr>
        <p:txBody>
          <a:bodyPr wrap="square" lIns="228600" tIns="54864" rIns="228600" bIns="54864" anchor="t" rtlCol="0">
            <a:noAutofit/>
          </a:bodyPr>
          <a:lstStyle/>
          <a:p>
            <a:pPr algn="l">
              <a:lnSpc>
                <a:spcPts val="2000"/>
              </a:lnSpc>
              <a:spcBef>
                <a:spcPts val="0"/>
              </a:spcBef>
              <a:spcAft>
                <a:spcPts val="0"/>
              </a:spcAft>
              <a:buNone/>
            </a:pPr>
            <a:r>
              <a:rPr lang="en-US" altLang="en-US" sz="1600" b="1" dirty="0">
                <a:solidFill>
                  <a:srgbClr val="1E2A5A"/>
                </a:solidFill>
                <a:latin typeface="Calibri"/>
                <a:ea typeface="맑은 고딕"/>
                <a:cs typeface="Calibri"/>
              </a:rPr>
              <a:t>22.  </a:t>
            </a:r>
            <a:r>
              <a:rPr lang="ko-KR" altLang="en-US" sz="1600" b="0" dirty="0">
                <a:solidFill>
                  <a:srgbClr val="3C4558"/>
                </a:solidFill>
                <a:latin typeface="맑은 고딕"/>
                <a:ea typeface="맑은 고딕"/>
                <a:cs typeface="맑은 고딕"/>
              </a:rPr>
              <a:t>그래서 등산가들은 에베레스트산 등반에 도움을 받으려고 셰르파를 고용하기 시작했다.</a:t>
            </a:r>
            <a:endParaRPr lang="ko-KR" sz="1600"/>
          </a:p>
        </p:txBody>
      </p:sp>
      <p:sp>
        <p:nvSpPr>
          <p:cNvPr id="14" name="eng_2"/>
          <p:cNvSpPr txBox="1"/>
          <p:nvPr/>
        </p:nvSpPr>
        <p:spPr>
          <a:xfrm>
            <a:off x="457200" y="2995930"/>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solidFill>
                <a:latin typeface="Calibri"/>
                <a:ea typeface="맑은 고딕"/>
                <a:cs typeface="Calibri"/>
              </a:rPr>
              <a:t>Therefore, mountain climbers started to hire Sherpas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to help</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helping</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them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climbing</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climb</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Mount Everest.</a:t>
            </a:r>
            <a:endParaRPr lang="ko-KR" sz="2000"/>
          </a:p>
        </p:txBody>
      </p:sp>
      <p:sp>
        <p:nvSpPr>
          <p:cNvPr id="15" name="rv_eng_2"/>
          <p:cNvSpPr txBox="1"/>
          <p:nvPr/>
        </p:nvSpPr>
        <p:spPr>
          <a:xfrm>
            <a:off x="457200" y="2995930"/>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alpha val="0"/>
                  </a:srgbClr>
                </a:solidFill>
                <a:latin typeface="Calibri"/>
                <a:ea typeface="맑은 고딕"/>
                <a:cs typeface="Calibri"/>
              </a:rPr>
              <a:t>Therefore, mountain climbers started to hire Sherpas </a:t>
            </a:r>
            <a:r>
              <a:rPr lang="en-US" altLang="en-US" sz="2000" b="1" dirty="0">
                <a:solidFill>
                  <a:srgbClr val="C00000">
                    <a:alpha val="0"/>
                  </a:srgbClr>
                </a:solidFill>
                <a:latin typeface="Calibri"/>
                <a:ea typeface="맑은 고딕"/>
                <a:cs typeface="Calibri"/>
              </a:rPr>
              <a:t>[ </a:t>
            </a:r>
            <a:r>
              <a:rPr lang="en-US" altLang="en-US" sz="2000" b="1" dirty="0">
                <a:solidFill>
                  <a:srgbClr val="C00000"/>
                </a:solidFill>
                <a:latin typeface="Calibri"/>
                <a:ea typeface="맑은 고딕"/>
                <a:cs typeface="Calibri"/>
              </a:rPr>
              <a:t>to help</a:t>
            </a:r>
            <a:r>
              <a:rPr lang="en-US" altLang="en-US" sz="2000" b="1" dirty="0">
                <a:solidFill>
                  <a:srgbClr val="C00000">
                    <a:alpha val="0"/>
                  </a:srgbClr>
                </a:solidFill>
                <a:latin typeface="Calibri"/>
                <a:ea typeface="맑은 고딕"/>
                <a:cs typeface="Calibri"/>
              </a:rPr>
              <a:t> / </a:t>
            </a:r>
            <a:r>
              <a:rPr lang="en-US" altLang="en-US" sz="2000" b="1" dirty="0">
                <a:solidFill>
                  <a:srgbClr val="C00000">
                    <a:alpha val="0"/>
                  </a:srgbClr>
                </a:solidFill>
                <a:latin typeface="Calibri"/>
                <a:ea typeface="맑은 고딕"/>
                <a:cs typeface="Calibri"/>
              </a:rPr>
              <a:t>helping</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them </a:t>
            </a:r>
            <a:r>
              <a:rPr lang="en-US" altLang="en-US" sz="2000" b="1" dirty="0">
                <a:solidFill>
                  <a:srgbClr val="C00000">
                    <a:alpha val="0"/>
                  </a:srgbClr>
                </a:solidFill>
                <a:latin typeface="Calibri"/>
                <a:ea typeface="맑은 고딕"/>
                <a:cs typeface="Calibri"/>
              </a:rPr>
              <a:t>[ </a:t>
            </a:r>
            <a:r>
              <a:rPr lang="en-US" altLang="en-US" sz="2000" b="1" dirty="0">
                <a:solidFill>
                  <a:srgbClr val="C00000">
                    <a:alpha val="0"/>
                  </a:srgbClr>
                </a:solidFill>
                <a:latin typeface="Calibri"/>
                <a:ea typeface="맑은 고딕"/>
                <a:cs typeface="Calibri"/>
              </a:rPr>
              <a:t>climbing</a:t>
            </a:r>
            <a:r>
              <a:rPr lang="en-US" altLang="en-US" sz="2000" b="1" dirty="0">
                <a:solidFill>
                  <a:srgbClr val="C00000">
                    <a:alpha val="0"/>
                  </a:srgbClr>
                </a:solidFill>
                <a:latin typeface="Calibri"/>
                <a:ea typeface="맑은 고딕"/>
                <a:cs typeface="Calibri"/>
              </a:rPr>
              <a:t> / </a:t>
            </a:r>
            <a:r>
              <a:rPr lang="en-US" altLang="en-US" sz="2000" b="1" dirty="0">
                <a:solidFill>
                  <a:srgbClr val="C00000"/>
                </a:solidFill>
                <a:latin typeface="Calibri"/>
                <a:ea typeface="맑은 고딕"/>
                <a:cs typeface="Calibri"/>
              </a:rPr>
              <a:t>climb</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Mount Everest.</a:t>
            </a:r>
            <a:endParaRPr lang="ko-KR" sz="2000"/>
          </a:p>
        </p:txBody>
      </p:sp>
      <p:sp>
        <p:nvSpPr>
          <p:cNvPr id="16" name="rv_point_2"/>
          <p:cNvSpPr txBox="1"/>
          <p:nvPr/>
        </p:nvSpPr>
        <p:spPr>
          <a:xfrm>
            <a:off x="457200" y="3761994"/>
            <a:ext cx="11274552" cy="331978"/>
          </a:xfrm>
          <a:prstGeom prst="rect">
            <a:avLst/>
          </a:prstGeom>
          <a:noFill/>
        </p:spPr>
        <p:txBody>
          <a:bodyPr wrap="square" lIns="228600" tIns="54864" rIns="228600" bIns="54864" anchor="t" rtlCol="0">
            <a:noAutofit/>
          </a:bodyPr>
          <a:lstStyle/>
          <a:p>
            <a:pPr algn="l">
              <a:lnSpc>
                <a:spcPts val="1750"/>
              </a:lnSpc>
              <a:spcBef>
                <a:spcPts val="0"/>
              </a:spcBef>
              <a:spcAft>
                <a:spcPts val="0"/>
              </a:spcAft>
              <a:buNone/>
            </a:pPr>
            <a:r>
              <a:rPr lang="ko-KR" altLang="en-US" sz="1400" b="1" dirty="0">
                <a:solidFill>
                  <a:srgbClr val="C00000"/>
                </a:solidFill>
                <a:latin typeface="맑은 고딕"/>
                <a:ea typeface="맑은 고딕"/>
                <a:cs typeface="맑은 고딕"/>
              </a:rPr>
              <a:t>포인트  </a:t>
            </a:r>
            <a:r>
              <a:rPr lang="ko-KR" altLang="en-US" sz="1400" b="0" dirty="0">
                <a:solidFill>
                  <a:srgbClr val="2F5597"/>
                </a:solidFill>
                <a:latin typeface="맑은 고딕"/>
                <a:ea typeface="맑은 고딕"/>
                <a:cs typeface="맑은 고딕"/>
              </a:rPr>
              <a:t>to부정사/동명사/동사원형 (목적: ~하기 위해) · to부정사/동명사/동사원형 (help + 목적어 + 동사원형)</a:t>
            </a:r>
            <a:endParaRPr lang="ko-KR" sz="1400"/>
          </a:p>
        </p:txBody>
      </p:sp>
      <p:sp>
        <p:nvSpPr>
          <p:cNvPr id="17" name="item_card_3"/>
          <p:cNvSpPr/>
          <p:nvPr/>
        </p:nvSpPr>
        <p:spPr>
          <a:xfrm>
            <a:off x="457200" y="4203700"/>
            <a:ext cx="11274552" cy="2126234"/>
          </a:xfrm>
          <a:prstGeom prst="roundRect">
            <a:avLst>
              <a:gd name="adj" fmla="val 6000"/>
            </a:avLst>
          </a:prstGeom>
          <a:solidFill>
            <a:srgbClr val="F3F5F9"/>
          </a:solidFill>
          <a:ln w="12700">
            <a:solidFill>
              <a:srgbClr val="D9DFEA"/>
            </a:solidFill>
          </a:ln>
        </p:spPr>
        <p:txBody>
          <a:bodyPr rtlCol="0" anchor="ctr"/>
          <a:lstStyle/>
          <a:p>
            <a:pPr algn="ctr"/>
          </a:p>
        </p:txBody>
      </p:sp>
      <p:sp>
        <p:nvSpPr>
          <p:cNvPr id="18" name="kor_3"/>
          <p:cNvSpPr txBox="1"/>
          <p:nvPr/>
        </p:nvSpPr>
        <p:spPr>
          <a:xfrm>
            <a:off x="457200" y="4313428"/>
            <a:ext cx="11274552" cy="617728"/>
          </a:xfrm>
          <a:prstGeom prst="rect">
            <a:avLst/>
          </a:prstGeom>
          <a:noFill/>
        </p:spPr>
        <p:txBody>
          <a:bodyPr wrap="square" lIns="228600" tIns="54864" rIns="228600" bIns="54864" anchor="t" rtlCol="0">
            <a:noAutofit/>
          </a:bodyPr>
          <a:lstStyle/>
          <a:p>
            <a:pPr algn="l">
              <a:lnSpc>
                <a:spcPts val="2000"/>
              </a:lnSpc>
              <a:spcBef>
                <a:spcPts val="0"/>
              </a:spcBef>
              <a:spcAft>
                <a:spcPts val="0"/>
              </a:spcAft>
              <a:buNone/>
            </a:pPr>
            <a:r>
              <a:rPr lang="en-US" altLang="en-US" sz="1600" b="1" dirty="0">
                <a:solidFill>
                  <a:srgbClr val="1E2A5A"/>
                </a:solidFill>
                <a:latin typeface="Calibri"/>
                <a:ea typeface="맑은 고딕"/>
                <a:cs typeface="Calibri"/>
              </a:rPr>
              <a:t>23.  </a:t>
            </a:r>
            <a:r>
              <a:rPr lang="ko-KR" altLang="en-US" sz="1600" b="0" dirty="0">
                <a:solidFill>
                  <a:srgbClr val="3C4558"/>
                </a:solidFill>
                <a:latin typeface="맑은 고딕"/>
                <a:ea typeface="맑은 고딕"/>
                <a:cs typeface="맑은 고딕"/>
              </a:rPr>
              <a:t>셰르파는 등산가들을 산꼭대기까지 안내한다. 그들은 여러 방면으로 등산가들을 돕는데, 예를 들면 텐트를 치고 등산가들의 짐을 나른다.</a:t>
            </a:r>
            <a:endParaRPr lang="ko-KR" sz="1600"/>
          </a:p>
        </p:txBody>
      </p:sp>
      <p:sp>
        <p:nvSpPr>
          <p:cNvPr id="19" name="eng_3"/>
          <p:cNvSpPr txBox="1"/>
          <p:nvPr/>
        </p:nvSpPr>
        <p:spPr>
          <a:xfrm>
            <a:off x="457200" y="4876292"/>
            <a:ext cx="11274552" cy="11765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solidFill>
                <a:latin typeface="Calibri"/>
                <a:ea typeface="맑은 고딕"/>
                <a:cs typeface="Calibri"/>
              </a:rPr>
              <a:t>Sherpas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leads</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lead</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mountain climbers to the top of the mountain. They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support</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supports</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climbers in many ways. For example, they put up tents and carry climbers’ bags.</a:t>
            </a:r>
            <a:endParaRPr lang="ko-KR" sz="2000"/>
          </a:p>
        </p:txBody>
      </p:sp>
      <p:sp>
        <p:nvSpPr>
          <p:cNvPr id="20" name="rv_eng_3"/>
          <p:cNvSpPr txBox="1"/>
          <p:nvPr/>
        </p:nvSpPr>
        <p:spPr>
          <a:xfrm>
            <a:off x="457200" y="4876292"/>
            <a:ext cx="11274552" cy="11765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alpha val="0"/>
                  </a:srgbClr>
                </a:solidFill>
                <a:latin typeface="Calibri"/>
                <a:ea typeface="맑은 고딕"/>
                <a:cs typeface="Calibri"/>
              </a:rPr>
              <a:t>Sherpas </a:t>
            </a:r>
            <a:r>
              <a:rPr lang="en-US" altLang="en-US" sz="2000" b="1" dirty="0">
                <a:solidFill>
                  <a:srgbClr val="C00000">
                    <a:alpha val="0"/>
                  </a:srgbClr>
                </a:solidFill>
                <a:latin typeface="Calibri"/>
                <a:ea typeface="맑은 고딕"/>
                <a:cs typeface="Calibri"/>
              </a:rPr>
              <a:t>[ </a:t>
            </a:r>
            <a:r>
              <a:rPr lang="en-US" altLang="en-US" sz="2000" b="1" dirty="0">
                <a:solidFill>
                  <a:srgbClr val="C00000">
                    <a:alpha val="0"/>
                  </a:srgbClr>
                </a:solidFill>
                <a:latin typeface="Calibri"/>
                <a:ea typeface="맑은 고딕"/>
                <a:cs typeface="Calibri"/>
              </a:rPr>
              <a:t>leads</a:t>
            </a:r>
            <a:r>
              <a:rPr lang="en-US" altLang="en-US" sz="2000" b="1" dirty="0">
                <a:solidFill>
                  <a:srgbClr val="C00000">
                    <a:alpha val="0"/>
                  </a:srgbClr>
                </a:solidFill>
                <a:latin typeface="Calibri"/>
                <a:ea typeface="맑은 고딕"/>
                <a:cs typeface="Calibri"/>
              </a:rPr>
              <a:t> / </a:t>
            </a:r>
            <a:r>
              <a:rPr lang="en-US" altLang="en-US" sz="2000" b="1" dirty="0">
                <a:solidFill>
                  <a:srgbClr val="C00000"/>
                </a:solidFill>
                <a:latin typeface="Calibri"/>
                <a:ea typeface="맑은 고딕"/>
                <a:cs typeface="Calibri"/>
              </a:rPr>
              <a:t>lead</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mountain climbers to the top of the mountain. They </a:t>
            </a:r>
            <a:r>
              <a:rPr lang="en-US" altLang="en-US" sz="2000" b="1" dirty="0">
                <a:solidFill>
                  <a:srgbClr val="C00000">
                    <a:alpha val="0"/>
                  </a:srgbClr>
                </a:solidFill>
                <a:latin typeface="Calibri"/>
                <a:ea typeface="맑은 고딕"/>
                <a:cs typeface="Calibri"/>
              </a:rPr>
              <a:t>[ </a:t>
            </a:r>
            <a:r>
              <a:rPr lang="en-US" altLang="en-US" sz="2000" b="1" dirty="0">
                <a:solidFill>
                  <a:srgbClr val="C00000"/>
                </a:solidFill>
                <a:latin typeface="Calibri"/>
                <a:ea typeface="맑은 고딕"/>
                <a:cs typeface="Calibri"/>
              </a:rPr>
              <a:t>support</a:t>
            </a:r>
            <a:r>
              <a:rPr lang="en-US" altLang="en-US" sz="2000" b="1" dirty="0">
                <a:solidFill>
                  <a:srgbClr val="C00000">
                    <a:alpha val="0"/>
                  </a:srgbClr>
                </a:solidFill>
                <a:latin typeface="Calibri"/>
                <a:ea typeface="맑은 고딕"/>
                <a:cs typeface="Calibri"/>
              </a:rPr>
              <a:t> / </a:t>
            </a:r>
            <a:r>
              <a:rPr lang="en-US" altLang="en-US" sz="2000" b="1" dirty="0">
                <a:solidFill>
                  <a:srgbClr val="C00000">
                    <a:alpha val="0"/>
                  </a:srgbClr>
                </a:solidFill>
                <a:latin typeface="Calibri"/>
                <a:ea typeface="맑은 고딕"/>
                <a:cs typeface="Calibri"/>
              </a:rPr>
              <a:t>supports</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climbers in many ways. For example, they put up tents and carry climbers’ bags.</a:t>
            </a:r>
            <a:endParaRPr lang="ko-KR" sz="2000"/>
          </a:p>
        </p:txBody>
      </p:sp>
      <p:sp>
        <p:nvSpPr>
          <p:cNvPr id="21" name="rv_point_3"/>
          <p:cNvSpPr txBox="1"/>
          <p:nvPr/>
        </p:nvSpPr>
        <p:spPr>
          <a:xfrm>
            <a:off x="457200" y="5997956"/>
            <a:ext cx="11274552" cy="331978"/>
          </a:xfrm>
          <a:prstGeom prst="rect">
            <a:avLst/>
          </a:prstGeom>
          <a:noFill/>
        </p:spPr>
        <p:txBody>
          <a:bodyPr wrap="square" lIns="228600" tIns="54864" rIns="228600" bIns="54864" anchor="t" rtlCol="0">
            <a:noAutofit/>
          </a:bodyPr>
          <a:lstStyle/>
          <a:p>
            <a:pPr algn="l">
              <a:lnSpc>
                <a:spcPts val="1750"/>
              </a:lnSpc>
              <a:spcBef>
                <a:spcPts val="0"/>
              </a:spcBef>
              <a:spcAft>
                <a:spcPts val="0"/>
              </a:spcAft>
              <a:buNone/>
            </a:pPr>
            <a:r>
              <a:rPr lang="ko-KR" altLang="en-US" sz="1400" b="1" dirty="0">
                <a:solidFill>
                  <a:srgbClr val="C00000"/>
                </a:solidFill>
                <a:latin typeface="맑은 고딕"/>
                <a:ea typeface="맑은 고딕"/>
                <a:cs typeface="맑은 고딕"/>
              </a:rPr>
              <a:t>포인트  </a:t>
            </a:r>
            <a:r>
              <a:rPr lang="ko-KR" altLang="en-US" sz="1400" b="0" dirty="0">
                <a:solidFill>
                  <a:srgbClr val="2F5597"/>
                </a:solidFill>
                <a:latin typeface="맑은 고딕"/>
                <a:ea typeface="맑은 고딕"/>
                <a:cs typeface="맑은 고딕"/>
              </a:rPr>
              <a:t>동사의 수 일치 (주어 Sherpas 복수) · 동사의 수 일치 (주어 They)</a:t>
            </a:r>
            <a:endParaRPr lang="ko-KR" sz="1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25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250"/>
                                        <p:tgtEl>
                                          <p:spTgt spid="1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250"/>
                                        <p:tgtEl>
                                          <p:spTgt spid="1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fade">
                                      <p:cBhvr>
                                        <p:cTn id="16" dur="250"/>
                                        <p:tgtEl>
                                          <p:spTgt spid="1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250"/>
                                        <p:tgtEl>
                                          <p:spTgt spid="2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fade">
                                      <p:cBhvr>
                                        <p:cTn id="22" dur="25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5" grpId="0" animBg="1"/>
      <p:bldP spid="16" grpId="0" animBg="1"/>
      <p:bldP spid="20" grpId="0" animBg="1"/>
      <p:bldP spid="21" grpId="0" animBg="1"/>
    </p:bldLst>
  </p:timing>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8000"/>
            </a:avLst>
          </a:prstGeom>
          <a:solidFill>
            <a:srgbClr val="1E2A5A"/>
          </a:solidFill>
          <a:ln>
            <a:noFill/>
          </a:ln>
        </p:spPr>
        <p:txBody>
          <a:bodyPr wrap="square" lIns="45720" tIns="18288" rIns="45720" bIns="18288" anchor="ctr" rtlCol="0">
            <a:noAutofit/>
          </a:bodyPr>
          <a:lstStyle/>
          <a:p>
            <a:pPr algn="ctr">
              <a:lnSpc>
                <a:spcPts val="2000"/>
              </a:lnSpc>
              <a:spcBef>
                <a:spcPts val="0"/>
              </a:spcBef>
              <a:spcAft>
                <a:spcPts val="0"/>
              </a:spcAft>
              <a:buNone/>
            </a:pPr>
            <a:r>
              <a:rPr lang="en-US" altLang="en-US" sz="1700" b="1" dirty="0">
                <a:solidFill>
                  <a:srgbClr val="FFFFFF"/>
                </a:solidFill>
                <a:latin typeface="Calibri"/>
                <a:ea typeface="맑은 고딕"/>
                <a:cs typeface="Calibri"/>
              </a:rPr>
              <a:t>L5</a:t>
            </a:r>
            <a:endParaRPr lang="ko-KR" sz="1700"/>
          </a:p>
        </p:txBody>
      </p:sp>
      <p:sp>
        <p:nvSpPr>
          <p:cNvPr id="3" name="hdr_chip"/>
          <p:cNvSpPr/>
          <p:nvPr/>
        </p:nvSpPr>
        <p:spPr>
          <a:xfrm>
            <a:off x="1755648" y="274320"/>
            <a:ext cx="1371600" cy="493776"/>
          </a:xfrm>
          <a:prstGeom prst="roundRect">
            <a:avLst>
              <a:gd name="adj" fmla="val 8000"/>
            </a:avLst>
          </a:prstGeom>
          <a:solidFill>
            <a:srgbClr val="E6EAF4"/>
          </a:solidFill>
          <a:ln>
            <a:noFill/>
          </a:ln>
        </p:spPr>
        <p:txBody>
          <a:bodyPr wrap="square" lIns="27432" tIns="18288" rIns="27432" bIns="18288" anchor="ctr" rtlCol="0">
            <a:noAutofit/>
          </a:bodyPr>
          <a:lstStyle/>
          <a:p>
            <a:pPr algn="ctr">
              <a:lnSpc>
                <a:spcPts val="1700"/>
              </a:lnSpc>
              <a:spcBef>
                <a:spcPts val="0"/>
              </a:spcBef>
              <a:spcAft>
                <a:spcPts val="0"/>
              </a:spcAft>
              <a:buNone/>
            </a:pPr>
            <a:r>
              <a:rPr lang="ko-KR" altLang="en-US" sz="1400" b="1" dirty="0">
                <a:solidFill>
                  <a:srgbClr val="1E2A5A"/>
                </a:solidFill>
                <a:latin typeface="맑은 고딕"/>
                <a:ea typeface="맑은 고딕"/>
                <a:cs typeface="맑은 고딕"/>
              </a:rPr>
              <a:t>PART 5 · 9</a:t>
            </a:r>
            <a:endParaRPr lang="ko-KR" sz="1400"/>
          </a:p>
        </p:txBody>
      </p:sp>
      <p:sp>
        <p:nvSpPr>
          <p:cNvPr id="4" name="hdr_q"/>
          <p:cNvSpPr txBox="1"/>
          <p:nvPr/>
        </p:nvSpPr>
        <p:spPr>
          <a:xfrm>
            <a:off x="3246120" y="246888"/>
            <a:ext cx="8485632" cy="548640"/>
          </a:xfrm>
          <a:prstGeom prst="rect">
            <a:avLst/>
          </a:prstGeom>
          <a:noFill/>
        </p:spPr>
        <p:txBody>
          <a:bodyPr wrap="square" lIns="109728" tIns="54864" rIns="109728" bIns="54864" anchor="ctr" rtlCol="0">
            <a:noAutofit/>
          </a:bodyPr>
          <a:lstStyle/>
          <a:p>
            <a:pPr algn="l">
              <a:lnSpc>
                <a:spcPts val="2400"/>
              </a:lnSpc>
              <a:spcBef>
                <a:spcPts val="0"/>
              </a:spcBef>
              <a:spcAft>
                <a:spcPts val="0"/>
              </a:spcAft>
              <a:buNone/>
            </a:pPr>
            <a:r>
              <a:rPr lang="ko-KR" altLang="en-US" sz="2000" b="1" dirty="0">
                <a:solidFill>
                  <a:srgbClr val="1F2328"/>
                </a:solidFill>
                <a:latin typeface="맑은 고딕"/>
                <a:ea typeface="맑은 고딕"/>
                <a:cs typeface="맑은 고딕"/>
              </a:rPr>
              <a:t>[  ] 안에서 어법상 알맞은 것을 고르시오.</a:t>
            </a:r>
            <a:endParaRPr lang="ko-KR" sz="2000"/>
          </a:p>
        </p:txBody>
      </p:sp>
      <p:sp>
        <p:nvSpPr>
          <p:cNvPr id="5" name="ftr_exam"/>
          <p:cNvSpPr txBox="1"/>
          <p:nvPr/>
        </p:nvSpPr>
        <p:spPr>
          <a:xfrm>
            <a:off x="457200" y="6519672"/>
            <a:ext cx="5669280" cy="256032"/>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5</a:t>
            </a:r>
            <a:endParaRPr lang="ko-KR" sz="1000"/>
          </a:p>
        </p:txBody>
      </p:sp>
      <p:sp>
        <p:nvSpPr>
          <p:cNvPr id="6" name="ftr_hint"/>
          <p:cNvSpPr txBox="1"/>
          <p:nvPr/>
        </p:nvSpPr>
        <p:spPr>
          <a:xfrm>
            <a:off x="5971032" y="6519672"/>
            <a:ext cx="5760720" cy="256032"/>
          </a:xfrm>
          <a:prstGeom prst="rect">
            <a:avLst/>
          </a:prstGeom>
          <a:noFill/>
        </p:spPr>
        <p:txBody>
          <a:bodyPr wrap="square" lIns="0" tIns="0" rIns="0" bIns="0" anchor="t" rtlCol="0">
            <a:noAutofit/>
          </a:bodyPr>
          <a:lstStyle/>
          <a:p>
            <a:pPr algn="r">
              <a:lnSpc>
                <a:spcPts val="1200"/>
              </a:lnSpc>
              <a:spcBef>
                <a:spcPts val="0"/>
              </a:spcBef>
              <a:spcAft>
                <a:spcPts val="0"/>
              </a:spcAft>
              <a:buNone/>
            </a:pPr>
            <a:r>
              <a:rPr lang="ko-KR" altLang="en-US" sz="1000" b="0" dirty="0">
                <a:solidFill>
                  <a:srgbClr val="7A808C"/>
                </a:solidFill>
                <a:latin typeface="맑은 고딕"/>
                <a:ea typeface="맑은 고딕"/>
                <a:cs typeface="맑은 고딕"/>
              </a:rPr>
              <a:t>클릭 ① 정답(빨간색) + 문법 포인트 공개</a:t>
            </a:r>
            <a:endParaRPr lang="ko-KR" sz="1000"/>
          </a:p>
        </p:txBody>
      </p:sp>
      <p:sp>
        <p:nvSpPr>
          <p:cNvPr id="7" name="item_card_1"/>
          <p:cNvSpPr/>
          <p:nvPr/>
        </p:nvSpPr>
        <p:spPr>
          <a:xfrm>
            <a:off x="457200" y="950976"/>
            <a:ext cx="11274552" cy="2126234"/>
          </a:xfrm>
          <a:prstGeom prst="roundRect">
            <a:avLst>
              <a:gd name="adj" fmla="val 6000"/>
            </a:avLst>
          </a:prstGeom>
          <a:solidFill>
            <a:srgbClr val="F3F5F9"/>
          </a:solidFill>
          <a:ln w="12700">
            <a:solidFill>
              <a:srgbClr val="D9DFEA"/>
            </a:solidFill>
          </a:ln>
        </p:spPr>
        <p:txBody>
          <a:bodyPr rtlCol="0" anchor="ctr"/>
          <a:lstStyle/>
          <a:p>
            <a:pPr algn="ctr"/>
          </a:p>
        </p:txBody>
      </p:sp>
      <p:sp>
        <p:nvSpPr>
          <p:cNvPr id="8" name="kor_1"/>
          <p:cNvSpPr txBox="1"/>
          <p:nvPr/>
        </p:nvSpPr>
        <p:spPr>
          <a:xfrm>
            <a:off x="457200" y="1060704"/>
            <a:ext cx="11274552" cy="617728"/>
          </a:xfrm>
          <a:prstGeom prst="rect">
            <a:avLst/>
          </a:prstGeom>
          <a:noFill/>
        </p:spPr>
        <p:txBody>
          <a:bodyPr wrap="square" lIns="228600" tIns="54864" rIns="228600" bIns="54864" anchor="t" rtlCol="0">
            <a:noAutofit/>
          </a:bodyPr>
          <a:lstStyle/>
          <a:p>
            <a:pPr algn="l">
              <a:lnSpc>
                <a:spcPts val="2000"/>
              </a:lnSpc>
              <a:spcBef>
                <a:spcPts val="0"/>
              </a:spcBef>
              <a:spcAft>
                <a:spcPts val="0"/>
              </a:spcAft>
              <a:buNone/>
            </a:pPr>
            <a:r>
              <a:rPr lang="en-US" altLang="en-US" sz="1600" b="1" dirty="0">
                <a:solidFill>
                  <a:srgbClr val="1E2A5A"/>
                </a:solidFill>
                <a:latin typeface="Calibri"/>
                <a:ea typeface="맑은 고딕"/>
                <a:cs typeface="Calibri"/>
              </a:rPr>
              <a:t>24.  </a:t>
            </a:r>
            <a:r>
              <a:rPr lang="ko-KR" altLang="en-US" sz="1600" b="0" dirty="0">
                <a:solidFill>
                  <a:srgbClr val="3C4558"/>
                </a:solidFill>
                <a:latin typeface="맑은 고딕"/>
                <a:ea typeface="맑은 고딕"/>
                <a:cs typeface="맑은 고딕"/>
              </a:rPr>
              <a:t>사람들은 산 정상에 선 등산가들만 찍힌 사진을 보게 되는 경우가 많아서, 셰르파는 흔히 에베레스트의 보이지 않는 사람들로 불린다.</a:t>
            </a:r>
            <a:endParaRPr lang="ko-KR" sz="1600"/>
          </a:p>
        </p:txBody>
      </p:sp>
      <p:sp>
        <p:nvSpPr>
          <p:cNvPr id="9" name="eng_1"/>
          <p:cNvSpPr txBox="1"/>
          <p:nvPr/>
        </p:nvSpPr>
        <p:spPr>
          <a:xfrm>
            <a:off x="457200" y="1623568"/>
            <a:ext cx="11274552" cy="11765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solidFill>
                <a:latin typeface="Calibri"/>
                <a:ea typeface="맑은 고딕"/>
                <a:cs typeface="Calibri"/>
              </a:rPr>
              <a:t>Sherpas are often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called</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calling</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the invisible people of Mount Everest because people often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sees</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see</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a picture of only the climbers at the top of the mountain.</a:t>
            </a:r>
            <a:endParaRPr lang="ko-KR" sz="2000"/>
          </a:p>
        </p:txBody>
      </p:sp>
      <p:sp>
        <p:nvSpPr>
          <p:cNvPr id="10" name="rv_eng_1"/>
          <p:cNvSpPr txBox="1"/>
          <p:nvPr/>
        </p:nvSpPr>
        <p:spPr>
          <a:xfrm>
            <a:off x="457200" y="1623568"/>
            <a:ext cx="11274552" cy="11765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alpha val="0"/>
                  </a:srgbClr>
                </a:solidFill>
                <a:latin typeface="Calibri"/>
                <a:ea typeface="맑은 고딕"/>
                <a:cs typeface="Calibri"/>
              </a:rPr>
              <a:t>Sherpas are often </a:t>
            </a:r>
            <a:r>
              <a:rPr lang="en-US" altLang="en-US" sz="2000" b="1" dirty="0">
                <a:solidFill>
                  <a:srgbClr val="C00000">
                    <a:alpha val="0"/>
                  </a:srgbClr>
                </a:solidFill>
                <a:latin typeface="Calibri"/>
                <a:ea typeface="맑은 고딕"/>
                <a:cs typeface="Calibri"/>
              </a:rPr>
              <a:t>[ </a:t>
            </a:r>
            <a:r>
              <a:rPr lang="en-US" altLang="en-US" sz="2000" b="1" dirty="0">
                <a:solidFill>
                  <a:srgbClr val="C00000"/>
                </a:solidFill>
                <a:latin typeface="Calibri"/>
                <a:ea typeface="맑은 고딕"/>
                <a:cs typeface="Calibri"/>
              </a:rPr>
              <a:t>called</a:t>
            </a:r>
            <a:r>
              <a:rPr lang="en-US" altLang="en-US" sz="2000" b="1" dirty="0">
                <a:solidFill>
                  <a:srgbClr val="C00000">
                    <a:alpha val="0"/>
                  </a:srgbClr>
                </a:solidFill>
                <a:latin typeface="Calibri"/>
                <a:ea typeface="맑은 고딕"/>
                <a:cs typeface="Calibri"/>
              </a:rPr>
              <a:t> / </a:t>
            </a:r>
            <a:r>
              <a:rPr lang="en-US" altLang="en-US" sz="2000" b="1" dirty="0">
                <a:solidFill>
                  <a:srgbClr val="C00000">
                    <a:alpha val="0"/>
                  </a:srgbClr>
                </a:solidFill>
                <a:latin typeface="Calibri"/>
                <a:ea typeface="맑은 고딕"/>
                <a:cs typeface="Calibri"/>
              </a:rPr>
              <a:t>calling</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the invisible people of Mount Everest because people often </a:t>
            </a:r>
            <a:r>
              <a:rPr lang="en-US" altLang="en-US" sz="2000" b="1" dirty="0">
                <a:solidFill>
                  <a:srgbClr val="C00000">
                    <a:alpha val="0"/>
                  </a:srgbClr>
                </a:solidFill>
                <a:latin typeface="Calibri"/>
                <a:ea typeface="맑은 고딕"/>
                <a:cs typeface="Calibri"/>
              </a:rPr>
              <a:t>[ </a:t>
            </a:r>
            <a:r>
              <a:rPr lang="en-US" altLang="en-US" sz="2000" b="1" dirty="0">
                <a:solidFill>
                  <a:srgbClr val="C00000">
                    <a:alpha val="0"/>
                  </a:srgbClr>
                </a:solidFill>
                <a:latin typeface="Calibri"/>
                <a:ea typeface="맑은 고딕"/>
                <a:cs typeface="Calibri"/>
              </a:rPr>
              <a:t>sees</a:t>
            </a:r>
            <a:r>
              <a:rPr lang="en-US" altLang="en-US" sz="2000" b="1" dirty="0">
                <a:solidFill>
                  <a:srgbClr val="C00000">
                    <a:alpha val="0"/>
                  </a:srgbClr>
                </a:solidFill>
                <a:latin typeface="Calibri"/>
                <a:ea typeface="맑은 고딕"/>
                <a:cs typeface="Calibri"/>
              </a:rPr>
              <a:t> / </a:t>
            </a:r>
            <a:r>
              <a:rPr lang="en-US" altLang="en-US" sz="2000" b="1" dirty="0">
                <a:solidFill>
                  <a:srgbClr val="C00000"/>
                </a:solidFill>
                <a:latin typeface="Calibri"/>
                <a:ea typeface="맑은 고딕"/>
                <a:cs typeface="Calibri"/>
              </a:rPr>
              <a:t>see</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a picture of only the climbers at the top of the mountain.</a:t>
            </a:r>
            <a:endParaRPr lang="ko-KR" sz="2000"/>
          </a:p>
        </p:txBody>
      </p:sp>
      <p:sp>
        <p:nvSpPr>
          <p:cNvPr id="11" name="rv_point_1"/>
          <p:cNvSpPr txBox="1"/>
          <p:nvPr/>
        </p:nvSpPr>
        <p:spPr>
          <a:xfrm>
            <a:off x="457200" y="2745232"/>
            <a:ext cx="11274552" cy="331978"/>
          </a:xfrm>
          <a:prstGeom prst="rect">
            <a:avLst/>
          </a:prstGeom>
          <a:noFill/>
        </p:spPr>
        <p:txBody>
          <a:bodyPr wrap="square" lIns="228600" tIns="54864" rIns="228600" bIns="54864" anchor="t" rtlCol="0">
            <a:noAutofit/>
          </a:bodyPr>
          <a:lstStyle/>
          <a:p>
            <a:pPr algn="l">
              <a:lnSpc>
                <a:spcPts val="1750"/>
              </a:lnSpc>
              <a:spcBef>
                <a:spcPts val="0"/>
              </a:spcBef>
              <a:spcAft>
                <a:spcPts val="0"/>
              </a:spcAft>
              <a:buNone/>
            </a:pPr>
            <a:r>
              <a:rPr lang="ko-KR" altLang="en-US" sz="1400" b="1" dirty="0">
                <a:solidFill>
                  <a:srgbClr val="C00000"/>
                </a:solidFill>
                <a:latin typeface="맑은 고딕"/>
                <a:ea typeface="맑은 고딕"/>
                <a:cs typeface="맑은 고딕"/>
              </a:rPr>
              <a:t>포인트  </a:t>
            </a:r>
            <a:r>
              <a:rPr lang="ko-KR" altLang="en-US" sz="1400" b="0" dirty="0">
                <a:solidFill>
                  <a:srgbClr val="2F5597"/>
                </a:solidFill>
                <a:latin typeface="맑은 고딕"/>
                <a:ea typeface="맑은 고딕"/>
                <a:cs typeface="맑은 고딕"/>
              </a:rPr>
              <a:t>수동태(능동/수동 구별) (셰르파가 '불리는' 것 → are + p.p.) · 동사의 수 일치 (주어 people 복수)</a:t>
            </a:r>
            <a:endParaRPr lang="ko-KR" sz="1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25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25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Lst>
  </p:timing>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1E2A5A"/>
        </a:solidFill>
        <a:effectLst/>
      </p:bgPr>
    </p:bg>
    <p:spTree>
      <p:nvGrpSpPr>
        <p:cNvPr id="1" name=""/>
        <p:cNvGrpSpPr/>
        <p:nvPr/>
      </p:nvGrpSpPr>
      <p:grpSpPr/>
      <p:sp>
        <p:nvSpPr>
          <p:cNvPr id="2" name="sec_title"/>
          <p:cNvSpPr txBox="1"/>
          <p:nvPr/>
        </p:nvSpPr>
        <p:spPr>
          <a:xfrm>
            <a:off x="822960" y="1371600"/>
            <a:ext cx="10515600" cy="868680"/>
          </a:xfrm>
          <a:prstGeom prst="rect">
            <a:avLst/>
          </a:prstGeom>
          <a:noFill/>
        </p:spPr>
        <p:txBody>
          <a:bodyPr wrap="square" lIns="109728" tIns="54864" rIns="109728" bIns="54864" anchor="t" rtlCol="0">
            <a:noAutofit/>
          </a:bodyPr>
          <a:lstStyle/>
          <a:p>
            <a:pPr algn="l">
              <a:lnSpc>
                <a:spcPts val="4800"/>
              </a:lnSpc>
              <a:spcBef>
                <a:spcPts val="0"/>
              </a:spcBef>
              <a:spcAft>
                <a:spcPts val="0"/>
              </a:spcAft>
              <a:buNone/>
            </a:pPr>
            <a:r>
              <a:rPr lang="ko-KR" altLang="en-US" sz="4000" b="1" dirty="0">
                <a:solidFill>
                  <a:srgbClr val="FFE98A"/>
                </a:solidFill>
                <a:latin typeface="맑은 고딕"/>
                <a:ea typeface="맑은 고딕"/>
                <a:cs typeface="맑은 고딕"/>
              </a:rPr>
              <a:t>PART 6  </a:t>
            </a:r>
            <a:r>
              <a:rPr lang="ko-KR" altLang="en-US" sz="4000" b="1" dirty="0">
                <a:solidFill>
                  <a:srgbClr val="FFFFFF"/>
                </a:solidFill>
                <a:latin typeface="맑은 고딕"/>
                <a:ea typeface="맑은 고딕"/>
                <a:cs typeface="맑은 고딕"/>
              </a:rPr>
              <a:t>순서배열 부분영작</a:t>
            </a:r>
            <a:endParaRPr lang="ko-KR" sz="4000"/>
          </a:p>
        </p:txBody>
      </p:sp>
      <p:sp>
        <p:nvSpPr>
          <p:cNvPr id="3" name="sec_exam"/>
          <p:cNvSpPr txBox="1"/>
          <p:nvPr/>
        </p:nvSpPr>
        <p:spPr>
          <a:xfrm>
            <a:off x="822960" y="2240280"/>
            <a:ext cx="10515600" cy="502920"/>
          </a:xfrm>
          <a:prstGeom prst="rect">
            <a:avLst/>
          </a:prstGeom>
          <a:noFill/>
        </p:spPr>
        <p:txBody>
          <a:bodyPr wrap="square" lIns="109728" tIns="54864" rIns="109728" bIns="54864" anchor="t" rtlCol="0">
            <a:noAutofit/>
          </a:bodyPr>
          <a:lstStyle/>
          <a:p>
            <a:pPr algn="l">
              <a:lnSpc>
                <a:spcPts val="2400"/>
              </a:lnSpc>
              <a:spcBef>
                <a:spcPts val="0"/>
              </a:spcBef>
              <a:spcAft>
                <a:spcPts val="0"/>
              </a:spcAft>
              <a:buNone/>
            </a:pPr>
            <a:r>
              <a:rPr lang="ko-KR" altLang="en-US" sz="2000" b="0" dirty="0">
                <a:solidFill>
                  <a:srgbClr val="CFD8E8"/>
                </a:solidFill>
                <a:latin typeface="맑은 고딕"/>
                <a:ea typeface="맑은 고딕"/>
                <a:cs typeface="맑은 고딕"/>
              </a:rPr>
              <a:t>중3 동아(윤정미) Lesson 5</a:t>
            </a:r>
            <a:endParaRPr lang="ko-KR" sz="2000"/>
          </a:p>
        </p:txBody>
      </p:sp>
      <p:sp>
        <p:nvSpPr>
          <p:cNvPr id="4" name="sec_ids"/>
          <p:cNvSpPr txBox="1"/>
          <p:nvPr/>
        </p:nvSpPr>
        <p:spPr>
          <a:xfrm>
            <a:off x="822960" y="2788920"/>
            <a:ext cx="10515600" cy="457200"/>
          </a:xfrm>
          <a:prstGeom prst="rect">
            <a:avLst/>
          </a:prstGeom>
          <a:noFill/>
        </p:spPr>
        <p:txBody>
          <a:bodyPr wrap="square" lIns="109728" tIns="54864" rIns="109728" bIns="54864" anchor="t" rtlCol="0">
            <a:noAutofit/>
          </a:bodyPr>
          <a:lstStyle/>
          <a:p>
            <a:pPr algn="l">
              <a:lnSpc>
                <a:spcPts val="2200"/>
              </a:lnSpc>
              <a:spcBef>
                <a:spcPts val="0"/>
              </a:spcBef>
              <a:spcAft>
                <a:spcPts val="0"/>
              </a:spcAft>
              <a:buNone/>
            </a:pPr>
            <a:r>
              <a:rPr lang="en-US" altLang="en-US" sz="1800" b="1" dirty="0">
                <a:solidFill>
                  <a:srgbClr val="AEBBD0"/>
                </a:solidFill>
                <a:latin typeface="Calibri"/>
                <a:ea typeface="맑은 고딕"/>
                <a:cs typeface="Calibri"/>
              </a:rPr>
              <a:t>L5-1  ·  L5-2  ·  L5-3  ·  L5-4</a:t>
            </a:r>
            <a:endParaRPr lang="ko-KR" sz="1800"/>
          </a:p>
        </p:txBody>
      </p:sp>
      <p:sp>
        <p:nvSpPr>
          <p:cNvPr id="5" name="sec_legend"/>
          <p:cNvSpPr/>
          <p:nvPr/>
        </p:nvSpPr>
        <p:spPr>
          <a:xfrm>
            <a:off x="822960" y="3977639"/>
            <a:ext cx="10515600" cy="1371600"/>
          </a:xfrm>
          <a:prstGeom prst="roundRect">
            <a:avLst>
              <a:gd name="adj" fmla="val 6000"/>
            </a:avLst>
          </a:prstGeom>
          <a:solidFill>
            <a:srgbClr val="27356E"/>
          </a:solidFill>
          <a:ln>
            <a:noFill/>
          </a:ln>
        </p:spPr>
        <p:txBody>
          <a:bodyPr wrap="square" lIns="320040" tIns="137160" rIns="320040" bIns="137160" anchor="ctr" rtlCol="0">
            <a:noAutofit/>
          </a:bodyPr>
          <a:lstStyle/>
          <a:p>
            <a:pPr algn="l">
              <a:lnSpc>
                <a:spcPts val="2600"/>
              </a:lnSpc>
              <a:spcBef>
                <a:spcPts val="0"/>
              </a:spcBef>
              <a:spcAft>
                <a:spcPts val="0"/>
              </a:spcAft>
              <a:buNone/>
            </a:pPr>
            <a:r>
              <a:rPr lang="ko-KR" altLang="en-US" sz="1600" b="1" dirty="0">
                <a:solidFill>
                  <a:srgbClr val="FFE98A"/>
                </a:solidFill>
                <a:latin typeface="맑은 고딕"/>
                <a:ea typeface="맑은 고딕"/>
                <a:cs typeface="맑은 고딕"/>
              </a:rPr>
              <a:t>방법</a:t>
            </a:r>
            <a:r>
              <a:rPr lang="ko-KR" altLang="en-US" sz="1600" b="0" dirty="0">
                <a:solidFill>
                  <a:srgbClr val="FFFFFF"/>
                </a:solidFill>
                <a:latin typeface="맑은 고딕"/>
                <a:ea typeface="맑은 고딕"/>
                <a:cs typeface="맑은 고딕"/>
              </a:rPr>
              <a:t>     우리말에 맞게 (  ) 안의 말을 바르게 배열해 영어 문장을 완성</a:t>
            </a:r>
            <a:endParaRPr lang="ko-KR" sz="1600"/>
          </a:p>
          <a:p>
            <a:pPr algn="l">
              <a:lnSpc>
                <a:spcPts val="2600"/>
              </a:lnSpc>
              <a:spcBef>
                <a:spcPts val="0"/>
              </a:spcBef>
              <a:spcAft>
                <a:spcPts val="0"/>
              </a:spcAft>
              <a:buNone/>
            </a:pPr>
            <a:r>
              <a:rPr lang="ko-KR" altLang="en-US" sz="1600" b="1" dirty="0">
                <a:solidFill>
                  <a:srgbClr val="FFE98A"/>
                </a:solidFill>
                <a:latin typeface="맑은 고딕"/>
                <a:ea typeface="맑은 고딕"/>
                <a:cs typeface="맑은 고딕"/>
              </a:rPr>
              <a:t>클릭</a:t>
            </a:r>
            <a:r>
              <a:rPr lang="ko-KR" altLang="en-US" sz="1600" b="0" dirty="0">
                <a:solidFill>
                  <a:srgbClr val="FFFFFF"/>
                </a:solidFill>
                <a:latin typeface="맑은 고딕"/>
                <a:ea typeface="맑은 고딕"/>
                <a:cs typeface="맑은 고딕"/>
              </a:rPr>
              <a:t>     한 번 클릭하면 완성된 영어 문장(정답)이 빨간색으로 공개</a:t>
            </a:r>
            <a:endParaRPr lang="ko-KR" sz="1600"/>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8000"/>
            </a:avLst>
          </a:prstGeom>
          <a:solidFill>
            <a:srgbClr val="1E2A5A"/>
          </a:solidFill>
          <a:ln>
            <a:noFill/>
          </a:ln>
        </p:spPr>
        <p:txBody>
          <a:bodyPr wrap="square" lIns="45720" tIns="18288" rIns="45720" bIns="18288" anchor="ctr" rtlCol="0">
            <a:noAutofit/>
          </a:bodyPr>
          <a:lstStyle/>
          <a:p>
            <a:pPr algn="ctr">
              <a:lnSpc>
                <a:spcPts val="2000"/>
              </a:lnSpc>
              <a:spcBef>
                <a:spcPts val="0"/>
              </a:spcBef>
              <a:spcAft>
                <a:spcPts val="0"/>
              </a:spcAft>
              <a:buNone/>
            </a:pPr>
            <a:r>
              <a:rPr lang="en-US" altLang="en-US" sz="1700" b="1" dirty="0">
                <a:solidFill>
                  <a:srgbClr val="FFFFFF"/>
                </a:solidFill>
                <a:latin typeface="Calibri"/>
                <a:ea typeface="맑은 고딕"/>
                <a:cs typeface="Calibri"/>
              </a:rPr>
              <a:t>L5-1</a:t>
            </a:r>
            <a:endParaRPr lang="ko-KR" sz="1700"/>
          </a:p>
        </p:txBody>
      </p:sp>
      <p:sp>
        <p:nvSpPr>
          <p:cNvPr id="3" name="hdr_chip"/>
          <p:cNvSpPr/>
          <p:nvPr/>
        </p:nvSpPr>
        <p:spPr>
          <a:xfrm>
            <a:off x="1755648" y="274320"/>
            <a:ext cx="1371600" cy="493776"/>
          </a:xfrm>
          <a:prstGeom prst="roundRect">
            <a:avLst>
              <a:gd name="adj" fmla="val 8000"/>
            </a:avLst>
          </a:prstGeom>
          <a:solidFill>
            <a:srgbClr val="E6EAF4"/>
          </a:solidFill>
          <a:ln>
            <a:noFill/>
          </a:ln>
        </p:spPr>
        <p:txBody>
          <a:bodyPr wrap="square" lIns="27432" tIns="18288" rIns="27432" bIns="18288" anchor="ctr" rtlCol="0">
            <a:noAutofit/>
          </a:bodyPr>
          <a:lstStyle/>
          <a:p>
            <a:pPr algn="ctr">
              <a:lnSpc>
                <a:spcPts val="1700"/>
              </a:lnSpc>
              <a:spcBef>
                <a:spcPts val="0"/>
              </a:spcBef>
              <a:spcAft>
                <a:spcPts val="0"/>
              </a:spcAft>
              <a:buNone/>
            </a:pPr>
            <a:r>
              <a:rPr lang="ko-KR" altLang="en-US" sz="1400" b="1" dirty="0">
                <a:solidFill>
                  <a:srgbClr val="1E2A5A"/>
                </a:solidFill>
                <a:latin typeface="맑은 고딕"/>
                <a:ea typeface="맑은 고딕"/>
                <a:cs typeface="맑은 고딕"/>
              </a:rPr>
              <a:t>PART 6 · 1</a:t>
            </a:r>
            <a:endParaRPr lang="ko-KR" sz="1400"/>
          </a:p>
        </p:txBody>
      </p:sp>
      <p:sp>
        <p:nvSpPr>
          <p:cNvPr id="4" name="hdr_q"/>
          <p:cNvSpPr txBox="1"/>
          <p:nvPr/>
        </p:nvSpPr>
        <p:spPr>
          <a:xfrm>
            <a:off x="3246120" y="246888"/>
            <a:ext cx="8485632" cy="548640"/>
          </a:xfrm>
          <a:prstGeom prst="rect">
            <a:avLst/>
          </a:prstGeom>
          <a:noFill/>
        </p:spPr>
        <p:txBody>
          <a:bodyPr wrap="square" lIns="109728" tIns="54864" rIns="109728" bIns="54864" anchor="ctr" rtlCol="0">
            <a:noAutofit/>
          </a:bodyPr>
          <a:lstStyle/>
          <a:p>
            <a:pPr algn="l">
              <a:lnSpc>
                <a:spcPts val="2400"/>
              </a:lnSpc>
              <a:spcBef>
                <a:spcPts val="0"/>
              </a:spcBef>
              <a:spcAft>
                <a:spcPts val="0"/>
              </a:spcAft>
              <a:buNone/>
            </a:pPr>
            <a:r>
              <a:rPr lang="ko-KR" altLang="en-US" sz="2000" b="1" dirty="0">
                <a:solidFill>
                  <a:srgbClr val="1F2328"/>
                </a:solidFill>
                <a:latin typeface="맑은 고딕"/>
                <a:ea typeface="맑은 고딕"/>
                <a:cs typeface="맑은 고딕"/>
              </a:rPr>
              <a:t>우리말에 맞게 (  ) 안의 말을 바르게 배열하시오.</a:t>
            </a:r>
            <a:endParaRPr lang="ko-KR" sz="2000"/>
          </a:p>
        </p:txBody>
      </p:sp>
      <p:sp>
        <p:nvSpPr>
          <p:cNvPr id="5" name="ftr_exam"/>
          <p:cNvSpPr txBox="1"/>
          <p:nvPr/>
        </p:nvSpPr>
        <p:spPr>
          <a:xfrm>
            <a:off x="457200" y="6519672"/>
            <a:ext cx="5669280" cy="256032"/>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5</a:t>
            </a:r>
            <a:endParaRPr lang="ko-KR" sz="1000"/>
          </a:p>
        </p:txBody>
      </p:sp>
      <p:sp>
        <p:nvSpPr>
          <p:cNvPr id="6" name="ftr_hint"/>
          <p:cNvSpPr txBox="1"/>
          <p:nvPr/>
        </p:nvSpPr>
        <p:spPr>
          <a:xfrm>
            <a:off x="5971032" y="6519672"/>
            <a:ext cx="5760720" cy="256032"/>
          </a:xfrm>
          <a:prstGeom prst="rect">
            <a:avLst/>
          </a:prstGeom>
          <a:noFill/>
        </p:spPr>
        <p:txBody>
          <a:bodyPr wrap="square" lIns="0" tIns="0" rIns="0" bIns="0" anchor="t" rtlCol="0">
            <a:noAutofit/>
          </a:bodyPr>
          <a:lstStyle/>
          <a:p>
            <a:pPr algn="r">
              <a:lnSpc>
                <a:spcPts val="1200"/>
              </a:lnSpc>
              <a:spcBef>
                <a:spcPts val="0"/>
              </a:spcBef>
              <a:spcAft>
                <a:spcPts val="0"/>
              </a:spcAft>
              <a:buNone/>
            </a:pPr>
            <a:r>
              <a:rPr lang="ko-KR" altLang="en-US" sz="1000" b="0" dirty="0">
                <a:solidFill>
                  <a:srgbClr val="7A808C"/>
                </a:solidFill>
                <a:latin typeface="맑은 고딕"/>
                <a:ea typeface="맑은 고딕"/>
                <a:cs typeface="맑은 고딕"/>
              </a:rPr>
              <a:t>클릭 ① 완성 문장(정답) 공개</a:t>
            </a:r>
            <a:endParaRPr lang="ko-KR" sz="1000"/>
          </a:p>
        </p:txBody>
      </p:sp>
      <p:sp>
        <p:nvSpPr>
          <p:cNvPr id="7" name="item_card_1"/>
          <p:cNvSpPr/>
          <p:nvPr/>
        </p:nvSpPr>
        <p:spPr>
          <a:xfrm>
            <a:off x="457200" y="950976"/>
            <a:ext cx="11274552" cy="1987677"/>
          </a:xfrm>
          <a:prstGeom prst="roundRect">
            <a:avLst>
              <a:gd name="adj" fmla="val 6000"/>
            </a:avLst>
          </a:prstGeom>
          <a:solidFill>
            <a:srgbClr val="F3F5F9"/>
          </a:solidFill>
          <a:ln w="12700">
            <a:solidFill>
              <a:srgbClr val="D9DFEA"/>
            </a:solidFill>
          </a:ln>
        </p:spPr>
        <p:txBody>
          <a:bodyPr rtlCol="0" anchor="ctr"/>
          <a:lstStyle/>
          <a:p>
            <a:pPr algn="ctr"/>
          </a:p>
        </p:txBody>
      </p:sp>
      <p:sp>
        <p:nvSpPr>
          <p:cNvPr id="8" name="kor_1"/>
          <p:cNvSpPr txBox="1"/>
          <p:nvPr/>
        </p:nvSpPr>
        <p:spPr>
          <a:xfrm>
            <a:off x="457200" y="1060704"/>
            <a:ext cx="11274552" cy="379603"/>
          </a:xfrm>
          <a:prstGeom prst="rect">
            <a:avLst/>
          </a:prstGeom>
          <a:noFill/>
        </p:spPr>
        <p:txBody>
          <a:bodyPr wrap="square" lIns="228600" tIns="54864" rIns="228600" bIns="54864" anchor="t" rtlCol="0">
            <a:noAutofit/>
          </a:bodyPr>
          <a:lstStyle/>
          <a:p>
            <a:pPr algn="l">
              <a:lnSpc>
                <a:spcPts val="2125"/>
              </a:lnSpc>
              <a:spcBef>
                <a:spcPts val="0"/>
              </a:spcBef>
              <a:spcAft>
                <a:spcPts val="0"/>
              </a:spcAft>
              <a:buNone/>
            </a:pPr>
            <a:r>
              <a:rPr lang="en-US" altLang="en-US" sz="1700" b="1" dirty="0">
                <a:solidFill>
                  <a:srgbClr val="1E2A5A"/>
                </a:solidFill>
                <a:latin typeface="Calibri"/>
                <a:ea typeface="맑은 고딕"/>
                <a:cs typeface="Calibri"/>
              </a:rPr>
              <a:t>1.  </a:t>
            </a:r>
            <a:r>
              <a:rPr lang="ko-KR" altLang="en-US" sz="1700" b="1" dirty="0">
                <a:solidFill>
                  <a:srgbClr val="1F2328"/>
                </a:solidFill>
                <a:latin typeface="맑은 고딕"/>
                <a:ea typeface="맑은 고딕"/>
                <a:cs typeface="맑은 고딕"/>
              </a:rPr>
              <a:t>스포츠에서는 선수들만 트로피나 메달을 받지만, 그들이 혼자 힘으로 우승하는 것은 아니다.</a:t>
            </a:r>
            <a:endParaRPr lang="ko-KR" sz="1700"/>
          </a:p>
        </p:txBody>
      </p:sp>
      <p:sp>
        <p:nvSpPr>
          <p:cNvPr id="9" name="ex_1"/>
          <p:cNvSpPr txBox="1"/>
          <p:nvPr/>
        </p:nvSpPr>
        <p:spPr>
          <a:xfrm>
            <a:off x="457200" y="1385443"/>
            <a:ext cx="11274552" cy="761238"/>
          </a:xfrm>
          <a:prstGeom prst="rect">
            <a:avLst/>
          </a:prstGeom>
          <a:noFill/>
        </p:spPr>
        <p:txBody>
          <a:bodyPr wrap="square" lIns="228600" tIns="54864" rIns="228600" bIns="54864" anchor="t" rtlCol="0">
            <a:noAutofit/>
          </a:bodyPr>
          <a:lstStyle/>
          <a:p>
            <a:pPr algn="l">
              <a:lnSpc>
                <a:spcPts val="2565"/>
              </a:lnSpc>
              <a:spcBef>
                <a:spcPts val="0"/>
              </a:spcBef>
              <a:spcAft>
                <a:spcPts val="0"/>
              </a:spcAft>
              <a:buNone/>
            </a:pPr>
            <a:r>
              <a:rPr lang="en-US" altLang="en-US" sz="1900" b="0" dirty="0">
                <a:solidFill>
                  <a:srgbClr val="1F2328"/>
                </a:solidFill>
                <a:latin typeface="Calibri"/>
                <a:ea typeface="맑은 고딕"/>
                <a:cs typeface="Calibri"/>
              </a:rPr>
              <a:t>In sports,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get</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only the players</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a trophy or medal</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 but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don’t win</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they</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on their own</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a:t>
            </a:r>
            <a:endParaRPr lang="ko-KR" sz="1900"/>
          </a:p>
        </p:txBody>
      </p:sp>
      <p:sp>
        <p:nvSpPr>
          <p:cNvPr id="10" name="rv_ans_1"/>
          <p:cNvSpPr txBox="1"/>
          <p:nvPr/>
        </p:nvSpPr>
        <p:spPr>
          <a:xfrm>
            <a:off x="594360" y="2183257"/>
            <a:ext cx="11000232" cy="737108"/>
          </a:xfrm>
          <a:prstGeom prst="rect">
            <a:avLst/>
          </a:prstGeom>
          <a:solidFill>
            <a:srgbClr val="FFF3C4"/>
          </a:solidFill>
        </p:spPr>
        <p:txBody>
          <a:bodyPr wrap="square" lIns="137160" tIns="54864" rIns="137160" bIns="54864" anchor="t" rtlCol="0">
            <a:noAutofit/>
          </a:bodyPr>
          <a:lstStyle/>
          <a:p>
            <a:pPr algn="l">
              <a:lnSpc>
                <a:spcPts val="2470"/>
              </a:lnSpc>
              <a:spcBef>
                <a:spcPts val="0"/>
              </a:spcBef>
              <a:spcAft>
                <a:spcPts val="0"/>
              </a:spcAft>
              <a:buNone/>
            </a:pPr>
            <a:r>
              <a:rPr lang="en-US" altLang="en-US" sz="1900" b="1" dirty="0">
                <a:solidFill>
                  <a:srgbClr val="C00000"/>
                </a:solidFill>
                <a:latin typeface="Calibri"/>
                <a:ea typeface="맑은 고딕"/>
                <a:cs typeface="Calibri"/>
              </a:rPr>
              <a:t>→  </a:t>
            </a:r>
            <a:r>
              <a:rPr lang="en-US" altLang="en-US" sz="1900" b="1" dirty="0">
                <a:solidFill>
                  <a:srgbClr val="C00000"/>
                </a:solidFill>
                <a:latin typeface="Calibri"/>
                <a:ea typeface="맑은 고딕"/>
                <a:cs typeface="Calibri"/>
              </a:rPr>
              <a:t>In sports, only the players get a trophy or medal, but they don’t win on their own.</a:t>
            </a:r>
            <a:endParaRPr lang="ko-KR" sz="1900"/>
          </a:p>
        </p:txBody>
      </p:sp>
      <p:sp>
        <p:nvSpPr>
          <p:cNvPr id="11" name="item_card_2"/>
          <p:cNvSpPr/>
          <p:nvPr/>
        </p:nvSpPr>
        <p:spPr>
          <a:xfrm>
            <a:off x="457200" y="3048381"/>
            <a:ext cx="11274552" cy="1987677"/>
          </a:xfrm>
          <a:prstGeom prst="roundRect">
            <a:avLst>
              <a:gd name="adj" fmla="val 6000"/>
            </a:avLst>
          </a:prstGeom>
          <a:solidFill>
            <a:srgbClr val="F3F5F9"/>
          </a:solidFill>
          <a:ln w="12700">
            <a:solidFill>
              <a:srgbClr val="D9DFEA"/>
            </a:solidFill>
          </a:ln>
        </p:spPr>
        <p:txBody>
          <a:bodyPr rtlCol="0" anchor="ctr"/>
          <a:lstStyle/>
          <a:p>
            <a:pPr algn="ctr"/>
          </a:p>
        </p:txBody>
      </p:sp>
      <p:sp>
        <p:nvSpPr>
          <p:cNvPr id="12" name="kor_2"/>
          <p:cNvSpPr txBox="1"/>
          <p:nvPr/>
        </p:nvSpPr>
        <p:spPr>
          <a:xfrm>
            <a:off x="457200" y="3158109"/>
            <a:ext cx="11274552" cy="379603"/>
          </a:xfrm>
          <a:prstGeom prst="rect">
            <a:avLst/>
          </a:prstGeom>
          <a:noFill/>
        </p:spPr>
        <p:txBody>
          <a:bodyPr wrap="square" lIns="228600" tIns="54864" rIns="228600" bIns="54864" anchor="t" rtlCol="0">
            <a:noAutofit/>
          </a:bodyPr>
          <a:lstStyle/>
          <a:p>
            <a:pPr algn="l">
              <a:lnSpc>
                <a:spcPts val="2125"/>
              </a:lnSpc>
              <a:spcBef>
                <a:spcPts val="0"/>
              </a:spcBef>
              <a:spcAft>
                <a:spcPts val="0"/>
              </a:spcAft>
              <a:buNone/>
            </a:pPr>
            <a:r>
              <a:rPr lang="en-US" altLang="en-US" sz="1700" b="1" dirty="0">
                <a:solidFill>
                  <a:srgbClr val="1E2A5A"/>
                </a:solidFill>
                <a:latin typeface="Calibri"/>
                <a:ea typeface="맑은 고딕"/>
                <a:cs typeface="Calibri"/>
              </a:rPr>
              <a:t>2.  </a:t>
            </a:r>
            <a:r>
              <a:rPr lang="ko-KR" altLang="en-US" sz="1700" b="1" dirty="0">
                <a:solidFill>
                  <a:srgbClr val="1F2328"/>
                </a:solidFill>
                <a:latin typeface="맑은 고딕"/>
                <a:ea typeface="맑은 고딕"/>
                <a:cs typeface="맑은 고딕"/>
              </a:rPr>
              <a:t>그 선수들을 돕는 사람들이 있다. 이 사람들은 종종 숨겨져 있고 주목을 받지 못한다.</a:t>
            </a:r>
            <a:endParaRPr lang="ko-KR" sz="1700"/>
          </a:p>
        </p:txBody>
      </p:sp>
      <p:sp>
        <p:nvSpPr>
          <p:cNvPr id="13" name="ex_2"/>
          <p:cNvSpPr txBox="1"/>
          <p:nvPr/>
        </p:nvSpPr>
        <p:spPr>
          <a:xfrm>
            <a:off x="457200" y="3482848"/>
            <a:ext cx="11274552" cy="761238"/>
          </a:xfrm>
          <a:prstGeom prst="rect">
            <a:avLst/>
          </a:prstGeom>
          <a:noFill/>
        </p:spPr>
        <p:txBody>
          <a:bodyPr wrap="square" lIns="228600" tIns="54864" rIns="228600" bIns="54864" anchor="t" rtlCol="0">
            <a:noAutofit/>
          </a:bodyPr>
          <a:lstStyle/>
          <a:p>
            <a:pPr algn="l">
              <a:lnSpc>
                <a:spcPts val="2565"/>
              </a:lnSpc>
              <a:spcBef>
                <a:spcPts val="0"/>
              </a:spcBef>
              <a:spcAft>
                <a:spcPts val="0"/>
              </a:spcAft>
              <a:buNone/>
            </a:pPr>
            <a:r>
              <a:rPr lang="en-US" altLang="en-US" sz="1900" b="0" dirty="0">
                <a:solidFill>
                  <a:srgbClr val="1F2328"/>
                </a:solidFill>
                <a:latin typeface="Calibri"/>
                <a:ea typeface="맑은 고딕"/>
                <a:cs typeface="Calibri"/>
              </a:rPr>
              <a:t>There are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the players</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people</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who</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help</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 These people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are</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and</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attention</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don’t get</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often hidden</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a:t>
            </a:r>
            <a:endParaRPr lang="ko-KR" sz="1900"/>
          </a:p>
        </p:txBody>
      </p:sp>
      <p:sp>
        <p:nvSpPr>
          <p:cNvPr id="14" name="rv_ans_2"/>
          <p:cNvSpPr txBox="1"/>
          <p:nvPr/>
        </p:nvSpPr>
        <p:spPr>
          <a:xfrm>
            <a:off x="594360" y="4280662"/>
            <a:ext cx="11000232" cy="737108"/>
          </a:xfrm>
          <a:prstGeom prst="rect">
            <a:avLst/>
          </a:prstGeom>
          <a:solidFill>
            <a:srgbClr val="FFF3C4"/>
          </a:solidFill>
        </p:spPr>
        <p:txBody>
          <a:bodyPr wrap="square" lIns="137160" tIns="54864" rIns="137160" bIns="54864" anchor="t" rtlCol="0">
            <a:noAutofit/>
          </a:bodyPr>
          <a:lstStyle/>
          <a:p>
            <a:pPr algn="l">
              <a:lnSpc>
                <a:spcPts val="2470"/>
              </a:lnSpc>
              <a:spcBef>
                <a:spcPts val="0"/>
              </a:spcBef>
              <a:spcAft>
                <a:spcPts val="0"/>
              </a:spcAft>
              <a:buNone/>
            </a:pPr>
            <a:r>
              <a:rPr lang="en-US" altLang="en-US" sz="1900" b="1" dirty="0">
                <a:solidFill>
                  <a:srgbClr val="C00000"/>
                </a:solidFill>
                <a:latin typeface="Calibri"/>
                <a:ea typeface="맑은 고딕"/>
                <a:cs typeface="Calibri"/>
              </a:rPr>
              <a:t>→  </a:t>
            </a:r>
            <a:r>
              <a:rPr lang="en-US" altLang="en-US" sz="1900" b="1" dirty="0">
                <a:solidFill>
                  <a:srgbClr val="C00000"/>
                </a:solidFill>
                <a:latin typeface="Calibri"/>
                <a:ea typeface="맑은 고딕"/>
                <a:cs typeface="Calibri"/>
              </a:rPr>
              <a:t>There are people who help the players. These people are often hidden and don’t get attention.</a:t>
            </a:r>
            <a:endParaRPr lang="ko-KR" sz="19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25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2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4" grpId="0" animBg="1"/>
    </p:bldLst>
  </p:timing>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8000"/>
            </a:avLst>
          </a:prstGeom>
          <a:solidFill>
            <a:srgbClr val="1E2A5A"/>
          </a:solidFill>
          <a:ln>
            <a:noFill/>
          </a:ln>
        </p:spPr>
        <p:txBody>
          <a:bodyPr wrap="square" lIns="45720" tIns="18288" rIns="45720" bIns="18288" anchor="ctr" rtlCol="0">
            <a:noAutofit/>
          </a:bodyPr>
          <a:lstStyle/>
          <a:p>
            <a:pPr algn="ctr">
              <a:lnSpc>
                <a:spcPts val="2000"/>
              </a:lnSpc>
              <a:spcBef>
                <a:spcPts val="0"/>
              </a:spcBef>
              <a:spcAft>
                <a:spcPts val="0"/>
              </a:spcAft>
              <a:buNone/>
            </a:pPr>
            <a:r>
              <a:rPr lang="en-US" altLang="en-US" sz="1700" b="1" dirty="0">
                <a:solidFill>
                  <a:srgbClr val="FFFFFF"/>
                </a:solidFill>
                <a:latin typeface="Calibri"/>
                <a:ea typeface="맑은 고딕"/>
                <a:cs typeface="Calibri"/>
              </a:rPr>
              <a:t>L5-1</a:t>
            </a:r>
            <a:endParaRPr lang="ko-KR" sz="1700"/>
          </a:p>
        </p:txBody>
      </p:sp>
      <p:sp>
        <p:nvSpPr>
          <p:cNvPr id="3" name="hdr_chip"/>
          <p:cNvSpPr/>
          <p:nvPr/>
        </p:nvSpPr>
        <p:spPr>
          <a:xfrm>
            <a:off x="1755648" y="274320"/>
            <a:ext cx="1371600" cy="493776"/>
          </a:xfrm>
          <a:prstGeom prst="roundRect">
            <a:avLst>
              <a:gd name="adj" fmla="val 8000"/>
            </a:avLst>
          </a:prstGeom>
          <a:solidFill>
            <a:srgbClr val="E6EAF4"/>
          </a:solidFill>
          <a:ln>
            <a:noFill/>
          </a:ln>
        </p:spPr>
        <p:txBody>
          <a:bodyPr wrap="square" lIns="27432" tIns="18288" rIns="27432" bIns="18288" anchor="ctr" rtlCol="0">
            <a:noAutofit/>
          </a:bodyPr>
          <a:lstStyle/>
          <a:p>
            <a:pPr algn="ctr">
              <a:lnSpc>
                <a:spcPts val="1700"/>
              </a:lnSpc>
              <a:spcBef>
                <a:spcPts val="0"/>
              </a:spcBef>
              <a:spcAft>
                <a:spcPts val="0"/>
              </a:spcAft>
              <a:buNone/>
            </a:pPr>
            <a:r>
              <a:rPr lang="ko-KR" altLang="en-US" sz="1400" b="1" dirty="0">
                <a:solidFill>
                  <a:srgbClr val="1E2A5A"/>
                </a:solidFill>
                <a:latin typeface="맑은 고딕"/>
                <a:ea typeface="맑은 고딕"/>
                <a:cs typeface="맑은 고딕"/>
              </a:rPr>
              <a:t>PART 6 · 2</a:t>
            </a:r>
            <a:endParaRPr lang="ko-KR" sz="1400"/>
          </a:p>
        </p:txBody>
      </p:sp>
      <p:sp>
        <p:nvSpPr>
          <p:cNvPr id="4" name="hdr_q"/>
          <p:cNvSpPr txBox="1"/>
          <p:nvPr/>
        </p:nvSpPr>
        <p:spPr>
          <a:xfrm>
            <a:off x="3246120" y="246888"/>
            <a:ext cx="8485632" cy="548640"/>
          </a:xfrm>
          <a:prstGeom prst="rect">
            <a:avLst/>
          </a:prstGeom>
          <a:noFill/>
        </p:spPr>
        <p:txBody>
          <a:bodyPr wrap="square" lIns="109728" tIns="54864" rIns="109728" bIns="54864" anchor="ctr" rtlCol="0">
            <a:noAutofit/>
          </a:bodyPr>
          <a:lstStyle/>
          <a:p>
            <a:pPr algn="l">
              <a:lnSpc>
                <a:spcPts val="2400"/>
              </a:lnSpc>
              <a:spcBef>
                <a:spcPts val="0"/>
              </a:spcBef>
              <a:spcAft>
                <a:spcPts val="0"/>
              </a:spcAft>
              <a:buNone/>
            </a:pPr>
            <a:r>
              <a:rPr lang="ko-KR" altLang="en-US" sz="2000" b="1" dirty="0">
                <a:solidFill>
                  <a:srgbClr val="1F2328"/>
                </a:solidFill>
                <a:latin typeface="맑은 고딕"/>
                <a:ea typeface="맑은 고딕"/>
                <a:cs typeface="맑은 고딕"/>
              </a:rPr>
              <a:t>우리말에 맞게 (  ) 안의 말을 바르게 배열하시오.</a:t>
            </a:r>
            <a:endParaRPr lang="ko-KR" sz="2000"/>
          </a:p>
        </p:txBody>
      </p:sp>
      <p:sp>
        <p:nvSpPr>
          <p:cNvPr id="5" name="ftr_exam"/>
          <p:cNvSpPr txBox="1"/>
          <p:nvPr/>
        </p:nvSpPr>
        <p:spPr>
          <a:xfrm>
            <a:off x="457200" y="6519672"/>
            <a:ext cx="5669280" cy="256032"/>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5</a:t>
            </a:r>
            <a:endParaRPr lang="ko-KR" sz="1000"/>
          </a:p>
        </p:txBody>
      </p:sp>
      <p:sp>
        <p:nvSpPr>
          <p:cNvPr id="6" name="ftr_hint"/>
          <p:cNvSpPr txBox="1"/>
          <p:nvPr/>
        </p:nvSpPr>
        <p:spPr>
          <a:xfrm>
            <a:off x="5971032" y="6519672"/>
            <a:ext cx="5760720" cy="256032"/>
          </a:xfrm>
          <a:prstGeom prst="rect">
            <a:avLst/>
          </a:prstGeom>
          <a:noFill/>
        </p:spPr>
        <p:txBody>
          <a:bodyPr wrap="square" lIns="0" tIns="0" rIns="0" bIns="0" anchor="t" rtlCol="0">
            <a:noAutofit/>
          </a:bodyPr>
          <a:lstStyle/>
          <a:p>
            <a:pPr algn="r">
              <a:lnSpc>
                <a:spcPts val="1200"/>
              </a:lnSpc>
              <a:spcBef>
                <a:spcPts val="0"/>
              </a:spcBef>
              <a:spcAft>
                <a:spcPts val="0"/>
              </a:spcAft>
              <a:buNone/>
            </a:pPr>
            <a:r>
              <a:rPr lang="ko-KR" altLang="en-US" sz="1000" b="0" dirty="0">
                <a:solidFill>
                  <a:srgbClr val="7A808C"/>
                </a:solidFill>
                <a:latin typeface="맑은 고딕"/>
                <a:ea typeface="맑은 고딕"/>
                <a:cs typeface="맑은 고딕"/>
              </a:rPr>
              <a:t>클릭 ① 완성 문장(정답) 공개</a:t>
            </a:r>
            <a:endParaRPr lang="ko-KR" sz="1000"/>
          </a:p>
        </p:txBody>
      </p:sp>
      <p:sp>
        <p:nvSpPr>
          <p:cNvPr id="7" name="item_card_1"/>
          <p:cNvSpPr/>
          <p:nvPr/>
        </p:nvSpPr>
        <p:spPr>
          <a:xfrm>
            <a:off x="457200" y="950976"/>
            <a:ext cx="11274552" cy="1348232"/>
          </a:xfrm>
          <a:prstGeom prst="roundRect">
            <a:avLst>
              <a:gd name="adj" fmla="val 6000"/>
            </a:avLst>
          </a:prstGeom>
          <a:solidFill>
            <a:srgbClr val="F3F5F9"/>
          </a:solidFill>
          <a:ln w="12700">
            <a:solidFill>
              <a:srgbClr val="D9DFEA"/>
            </a:solidFill>
          </a:ln>
        </p:spPr>
        <p:txBody>
          <a:bodyPr rtlCol="0" anchor="ctr"/>
          <a:lstStyle/>
          <a:p>
            <a:pPr algn="ctr"/>
          </a:p>
        </p:txBody>
      </p:sp>
      <p:sp>
        <p:nvSpPr>
          <p:cNvPr id="8" name="kor_1"/>
          <p:cNvSpPr txBox="1"/>
          <p:nvPr/>
        </p:nvSpPr>
        <p:spPr>
          <a:xfrm>
            <a:off x="457200" y="1060704"/>
            <a:ext cx="11274552" cy="379603"/>
          </a:xfrm>
          <a:prstGeom prst="rect">
            <a:avLst/>
          </a:prstGeom>
          <a:noFill/>
        </p:spPr>
        <p:txBody>
          <a:bodyPr wrap="square" lIns="228600" tIns="54864" rIns="228600" bIns="54864" anchor="t" rtlCol="0">
            <a:noAutofit/>
          </a:bodyPr>
          <a:lstStyle/>
          <a:p>
            <a:pPr algn="l">
              <a:lnSpc>
                <a:spcPts val="2125"/>
              </a:lnSpc>
              <a:spcBef>
                <a:spcPts val="0"/>
              </a:spcBef>
              <a:spcAft>
                <a:spcPts val="0"/>
              </a:spcAft>
              <a:buNone/>
            </a:pPr>
            <a:r>
              <a:rPr lang="en-US" altLang="en-US" sz="1700" b="1" dirty="0">
                <a:solidFill>
                  <a:srgbClr val="1E2A5A"/>
                </a:solidFill>
                <a:latin typeface="Calibri"/>
                <a:ea typeface="맑은 고딕"/>
                <a:cs typeface="Calibri"/>
              </a:rPr>
              <a:t>3.  </a:t>
            </a:r>
            <a:r>
              <a:rPr lang="ko-KR" altLang="en-US" sz="1700" b="1" dirty="0">
                <a:solidFill>
                  <a:srgbClr val="1F2328"/>
                </a:solidFill>
                <a:latin typeface="맑은 고딕"/>
                <a:ea typeface="맑은 고딕"/>
                <a:cs typeface="맑은 고딕"/>
              </a:rPr>
              <a:t>하지만 그들은 선수들만큼 중요하다. 여기 몇 가지 예가 있다.</a:t>
            </a:r>
            <a:endParaRPr lang="ko-KR" sz="1700"/>
          </a:p>
        </p:txBody>
      </p:sp>
      <p:sp>
        <p:nvSpPr>
          <p:cNvPr id="9" name="ex_1"/>
          <p:cNvSpPr txBox="1"/>
          <p:nvPr/>
        </p:nvSpPr>
        <p:spPr>
          <a:xfrm>
            <a:off x="457200" y="1385443"/>
            <a:ext cx="11274552" cy="435483"/>
          </a:xfrm>
          <a:prstGeom prst="rect">
            <a:avLst/>
          </a:prstGeom>
          <a:noFill/>
        </p:spPr>
        <p:txBody>
          <a:bodyPr wrap="square" lIns="228600" tIns="54864" rIns="228600" bIns="54864" anchor="t" rtlCol="0">
            <a:noAutofit/>
          </a:bodyPr>
          <a:lstStyle/>
          <a:p>
            <a:pPr algn="l">
              <a:lnSpc>
                <a:spcPts val="2565"/>
              </a:lnSpc>
              <a:spcBef>
                <a:spcPts val="0"/>
              </a:spcBef>
              <a:spcAft>
                <a:spcPts val="0"/>
              </a:spcAft>
              <a:buNone/>
            </a:pPr>
            <a:r>
              <a:rPr lang="en-US" altLang="en-US" sz="1900" b="0" dirty="0">
                <a:solidFill>
                  <a:srgbClr val="1F2328"/>
                </a:solidFill>
                <a:latin typeface="Calibri"/>
                <a:ea typeface="맑은 고딕"/>
                <a:cs typeface="Calibri"/>
              </a:rPr>
              <a:t>However,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are</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they</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the players</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as important as</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some examples</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Here are</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a:t>
            </a:r>
            <a:endParaRPr lang="ko-KR" sz="1900"/>
          </a:p>
        </p:txBody>
      </p:sp>
      <p:sp>
        <p:nvSpPr>
          <p:cNvPr id="10" name="rv_ans_1"/>
          <p:cNvSpPr txBox="1"/>
          <p:nvPr/>
        </p:nvSpPr>
        <p:spPr>
          <a:xfrm>
            <a:off x="594360" y="1857502"/>
            <a:ext cx="11000232" cy="423418"/>
          </a:xfrm>
          <a:prstGeom prst="rect">
            <a:avLst/>
          </a:prstGeom>
          <a:solidFill>
            <a:srgbClr val="FFF3C4"/>
          </a:solidFill>
        </p:spPr>
        <p:txBody>
          <a:bodyPr wrap="square" lIns="137160" tIns="54864" rIns="137160" bIns="54864" anchor="t" rtlCol="0">
            <a:noAutofit/>
          </a:bodyPr>
          <a:lstStyle/>
          <a:p>
            <a:pPr algn="l">
              <a:lnSpc>
                <a:spcPts val="2470"/>
              </a:lnSpc>
              <a:spcBef>
                <a:spcPts val="0"/>
              </a:spcBef>
              <a:spcAft>
                <a:spcPts val="0"/>
              </a:spcAft>
              <a:buNone/>
            </a:pPr>
            <a:r>
              <a:rPr lang="en-US" altLang="en-US" sz="1900" b="1" dirty="0">
                <a:solidFill>
                  <a:srgbClr val="C00000"/>
                </a:solidFill>
                <a:latin typeface="Calibri"/>
                <a:ea typeface="맑은 고딕"/>
                <a:cs typeface="Calibri"/>
              </a:rPr>
              <a:t>→  </a:t>
            </a:r>
            <a:r>
              <a:rPr lang="en-US" altLang="en-US" sz="1900" b="1" dirty="0">
                <a:solidFill>
                  <a:srgbClr val="C00000"/>
                </a:solidFill>
                <a:latin typeface="Calibri"/>
                <a:ea typeface="맑은 고딕"/>
                <a:cs typeface="Calibri"/>
              </a:rPr>
              <a:t>However, they are as important as the players. Here are some examples.</a:t>
            </a:r>
            <a:endParaRPr lang="ko-KR" sz="1900"/>
          </a:p>
        </p:txBody>
      </p:sp>
      <p:sp>
        <p:nvSpPr>
          <p:cNvPr id="11" name="item_card_2"/>
          <p:cNvSpPr/>
          <p:nvPr/>
        </p:nvSpPr>
        <p:spPr>
          <a:xfrm>
            <a:off x="457200" y="2408936"/>
            <a:ext cx="11274552" cy="1348232"/>
          </a:xfrm>
          <a:prstGeom prst="roundRect">
            <a:avLst>
              <a:gd name="adj" fmla="val 6000"/>
            </a:avLst>
          </a:prstGeom>
          <a:solidFill>
            <a:srgbClr val="F3F5F9"/>
          </a:solidFill>
          <a:ln w="12700">
            <a:solidFill>
              <a:srgbClr val="D9DFEA"/>
            </a:solidFill>
          </a:ln>
        </p:spPr>
        <p:txBody>
          <a:bodyPr rtlCol="0" anchor="ctr"/>
          <a:lstStyle/>
          <a:p>
            <a:pPr algn="ctr"/>
          </a:p>
        </p:txBody>
      </p:sp>
      <p:sp>
        <p:nvSpPr>
          <p:cNvPr id="12" name="kor_2"/>
          <p:cNvSpPr txBox="1"/>
          <p:nvPr/>
        </p:nvSpPr>
        <p:spPr>
          <a:xfrm>
            <a:off x="457200" y="2518664"/>
            <a:ext cx="11274552" cy="379603"/>
          </a:xfrm>
          <a:prstGeom prst="rect">
            <a:avLst/>
          </a:prstGeom>
          <a:noFill/>
        </p:spPr>
        <p:txBody>
          <a:bodyPr wrap="square" lIns="228600" tIns="54864" rIns="228600" bIns="54864" anchor="t" rtlCol="0">
            <a:noAutofit/>
          </a:bodyPr>
          <a:lstStyle/>
          <a:p>
            <a:pPr algn="l">
              <a:lnSpc>
                <a:spcPts val="2125"/>
              </a:lnSpc>
              <a:spcBef>
                <a:spcPts val="0"/>
              </a:spcBef>
              <a:spcAft>
                <a:spcPts val="0"/>
              </a:spcAft>
              <a:buNone/>
            </a:pPr>
            <a:r>
              <a:rPr lang="en-US" altLang="en-US" sz="1700" b="1" dirty="0">
                <a:solidFill>
                  <a:srgbClr val="1E2A5A"/>
                </a:solidFill>
                <a:latin typeface="Calibri"/>
                <a:ea typeface="맑은 고딕"/>
                <a:cs typeface="Calibri"/>
              </a:rPr>
              <a:t>4.  </a:t>
            </a:r>
            <a:r>
              <a:rPr lang="ko-KR" altLang="en-US" sz="1700" b="1" dirty="0">
                <a:solidFill>
                  <a:srgbClr val="1F2328"/>
                </a:solidFill>
                <a:latin typeface="맑은 고딕"/>
                <a:ea typeface="맑은 고딕"/>
                <a:cs typeface="맑은 고딕"/>
              </a:rPr>
              <a:t>페이서들은 마라톤에서 다른 선수들과 함께 달리며 그들을 이끈다.</a:t>
            </a:r>
            <a:endParaRPr lang="ko-KR" sz="1700"/>
          </a:p>
        </p:txBody>
      </p:sp>
      <p:sp>
        <p:nvSpPr>
          <p:cNvPr id="13" name="ex_2"/>
          <p:cNvSpPr txBox="1"/>
          <p:nvPr/>
        </p:nvSpPr>
        <p:spPr>
          <a:xfrm>
            <a:off x="457200" y="2843403"/>
            <a:ext cx="11274552" cy="435483"/>
          </a:xfrm>
          <a:prstGeom prst="rect">
            <a:avLst/>
          </a:prstGeom>
          <a:noFill/>
        </p:spPr>
        <p:txBody>
          <a:bodyPr wrap="square" lIns="228600" tIns="54864" rIns="228600" bIns="54864" anchor="t" rtlCol="0">
            <a:noAutofit/>
          </a:bodyPr>
          <a:lstStyle/>
          <a:p>
            <a:pPr algn="l">
              <a:lnSpc>
                <a:spcPts val="2565"/>
              </a:lnSpc>
              <a:spcBef>
                <a:spcPts val="0"/>
              </a:spcBef>
              <a:spcAft>
                <a:spcPts val="0"/>
              </a:spcAft>
              <a:buNone/>
            </a:pP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Pacers</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with other runners</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run</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 and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in a marathon</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lead</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them</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a:t>
            </a:r>
            <a:endParaRPr lang="ko-KR" sz="1900"/>
          </a:p>
        </p:txBody>
      </p:sp>
      <p:sp>
        <p:nvSpPr>
          <p:cNvPr id="14" name="rv_ans_2"/>
          <p:cNvSpPr txBox="1"/>
          <p:nvPr/>
        </p:nvSpPr>
        <p:spPr>
          <a:xfrm>
            <a:off x="594360" y="3315462"/>
            <a:ext cx="11000232" cy="423418"/>
          </a:xfrm>
          <a:prstGeom prst="rect">
            <a:avLst/>
          </a:prstGeom>
          <a:solidFill>
            <a:srgbClr val="FFF3C4"/>
          </a:solidFill>
        </p:spPr>
        <p:txBody>
          <a:bodyPr wrap="square" lIns="137160" tIns="54864" rIns="137160" bIns="54864" anchor="t" rtlCol="0">
            <a:noAutofit/>
          </a:bodyPr>
          <a:lstStyle/>
          <a:p>
            <a:pPr algn="l">
              <a:lnSpc>
                <a:spcPts val="2470"/>
              </a:lnSpc>
              <a:spcBef>
                <a:spcPts val="0"/>
              </a:spcBef>
              <a:spcAft>
                <a:spcPts val="0"/>
              </a:spcAft>
              <a:buNone/>
            </a:pPr>
            <a:r>
              <a:rPr lang="en-US" altLang="en-US" sz="1900" b="1" dirty="0">
                <a:solidFill>
                  <a:srgbClr val="C00000"/>
                </a:solidFill>
                <a:latin typeface="Calibri"/>
                <a:ea typeface="맑은 고딕"/>
                <a:cs typeface="Calibri"/>
              </a:rPr>
              <a:t>→  </a:t>
            </a:r>
            <a:r>
              <a:rPr lang="en-US" altLang="en-US" sz="1900" b="1" dirty="0">
                <a:solidFill>
                  <a:srgbClr val="C00000"/>
                </a:solidFill>
                <a:latin typeface="Calibri"/>
                <a:ea typeface="맑은 고딕"/>
                <a:cs typeface="Calibri"/>
              </a:rPr>
              <a:t>Pacers run with other runners and lead them in a marathon.</a:t>
            </a:r>
            <a:endParaRPr lang="ko-KR" sz="1900"/>
          </a:p>
        </p:txBody>
      </p:sp>
      <p:sp>
        <p:nvSpPr>
          <p:cNvPr id="15" name="item_card_3"/>
          <p:cNvSpPr/>
          <p:nvPr/>
        </p:nvSpPr>
        <p:spPr>
          <a:xfrm>
            <a:off x="457200" y="3866896"/>
            <a:ext cx="11274552" cy="2257552"/>
          </a:xfrm>
          <a:prstGeom prst="roundRect">
            <a:avLst>
              <a:gd name="adj" fmla="val 6000"/>
            </a:avLst>
          </a:prstGeom>
          <a:solidFill>
            <a:srgbClr val="F3F5F9"/>
          </a:solidFill>
          <a:ln w="12700">
            <a:solidFill>
              <a:srgbClr val="D9DFEA"/>
            </a:solidFill>
          </a:ln>
        </p:spPr>
        <p:txBody>
          <a:bodyPr rtlCol="0" anchor="ctr"/>
          <a:lstStyle/>
          <a:p>
            <a:pPr algn="ctr"/>
          </a:p>
        </p:txBody>
      </p:sp>
      <p:sp>
        <p:nvSpPr>
          <p:cNvPr id="16" name="kor_3"/>
          <p:cNvSpPr txBox="1"/>
          <p:nvPr/>
        </p:nvSpPr>
        <p:spPr>
          <a:xfrm>
            <a:off x="457200" y="3976624"/>
            <a:ext cx="11274552" cy="649478"/>
          </a:xfrm>
          <a:prstGeom prst="rect">
            <a:avLst/>
          </a:prstGeom>
          <a:noFill/>
        </p:spPr>
        <p:txBody>
          <a:bodyPr wrap="square" lIns="228600" tIns="54864" rIns="228600" bIns="54864" anchor="t" rtlCol="0">
            <a:noAutofit/>
          </a:bodyPr>
          <a:lstStyle/>
          <a:p>
            <a:pPr algn="l">
              <a:lnSpc>
                <a:spcPts val="2125"/>
              </a:lnSpc>
              <a:spcBef>
                <a:spcPts val="0"/>
              </a:spcBef>
              <a:spcAft>
                <a:spcPts val="0"/>
              </a:spcAft>
              <a:buNone/>
            </a:pPr>
            <a:r>
              <a:rPr lang="en-US" altLang="en-US" sz="1700" b="1" dirty="0">
                <a:solidFill>
                  <a:srgbClr val="1E2A5A"/>
                </a:solidFill>
                <a:latin typeface="Calibri"/>
                <a:ea typeface="맑은 고딕"/>
                <a:cs typeface="Calibri"/>
              </a:rPr>
              <a:t>5.  </a:t>
            </a:r>
            <a:r>
              <a:rPr lang="ko-KR" altLang="en-US" sz="1700" b="1" dirty="0">
                <a:solidFill>
                  <a:srgbClr val="1F2328"/>
                </a:solidFill>
                <a:latin typeface="맑은 고딕"/>
                <a:ea typeface="맑은 고딕"/>
                <a:cs typeface="맑은 고딕"/>
              </a:rPr>
              <a:t>페이서들은 경험이 많은 선수들이며, 그들의 역할은 다른 선수들이 경주를 더 잘 운영하도록 돕는 것이다. 한 경주에는 여러 명의 페이서들이 있을 수 있다.</a:t>
            </a:r>
            <a:endParaRPr lang="ko-KR" sz="1700"/>
          </a:p>
        </p:txBody>
      </p:sp>
      <p:sp>
        <p:nvSpPr>
          <p:cNvPr id="17" name="ex_3"/>
          <p:cNvSpPr txBox="1"/>
          <p:nvPr/>
        </p:nvSpPr>
        <p:spPr>
          <a:xfrm>
            <a:off x="457200" y="4571238"/>
            <a:ext cx="11274552" cy="761238"/>
          </a:xfrm>
          <a:prstGeom prst="rect">
            <a:avLst/>
          </a:prstGeom>
          <a:noFill/>
        </p:spPr>
        <p:txBody>
          <a:bodyPr wrap="square" lIns="228600" tIns="54864" rIns="228600" bIns="54864" anchor="t" rtlCol="0">
            <a:noAutofit/>
          </a:bodyPr>
          <a:lstStyle/>
          <a:p>
            <a:pPr algn="l">
              <a:lnSpc>
                <a:spcPts val="2565"/>
              </a:lnSpc>
              <a:spcBef>
                <a:spcPts val="0"/>
              </a:spcBef>
              <a:spcAft>
                <a:spcPts val="0"/>
              </a:spcAft>
              <a:buNone/>
            </a:pP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are</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Pacers</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experienced runners</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 and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their job</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other runners</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is</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to help</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their race</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better</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manage</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several pacers</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in a race</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There can be</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a:t>
            </a:r>
            <a:endParaRPr lang="ko-KR" sz="1900"/>
          </a:p>
        </p:txBody>
      </p:sp>
      <p:sp>
        <p:nvSpPr>
          <p:cNvPr id="18" name="rv_ans_3"/>
          <p:cNvSpPr txBox="1"/>
          <p:nvPr/>
        </p:nvSpPr>
        <p:spPr>
          <a:xfrm>
            <a:off x="594360" y="5369052"/>
            <a:ext cx="11000232" cy="737108"/>
          </a:xfrm>
          <a:prstGeom prst="rect">
            <a:avLst/>
          </a:prstGeom>
          <a:solidFill>
            <a:srgbClr val="FFF3C4"/>
          </a:solidFill>
        </p:spPr>
        <p:txBody>
          <a:bodyPr wrap="square" lIns="137160" tIns="54864" rIns="137160" bIns="54864" anchor="t" rtlCol="0">
            <a:noAutofit/>
          </a:bodyPr>
          <a:lstStyle/>
          <a:p>
            <a:pPr algn="l">
              <a:lnSpc>
                <a:spcPts val="2470"/>
              </a:lnSpc>
              <a:spcBef>
                <a:spcPts val="0"/>
              </a:spcBef>
              <a:spcAft>
                <a:spcPts val="0"/>
              </a:spcAft>
              <a:buNone/>
            </a:pPr>
            <a:r>
              <a:rPr lang="en-US" altLang="en-US" sz="1900" b="1" dirty="0">
                <a:solidFill>
                  <a:srgbClr val="C00000"/>
                </a:solidFill>
                <a:latin typeface="Calibri"/>
                <a:ea typeface="맑은 고딕"/>
                <a:cs typeface="Calibri"/>
              </a:rPr>
              <a:t>→  </a:t>
            </a:r>
            <a:r>
              <a:rPr lang="en-US" altLang="en-US" sz="1900" b="1" dirty="0">
                <a:solidFill>
                  <a:srgbClr val="C00000"/>
                </a:solidFill>
                <a:latin typeface="Calibri"/>
                <a:ea typeface="맑은 고딕"/>
                <a:cs typeface="Calibri"/>
              </a:rPr>
              <a:t>Pacers are experienced runners, and their job is to help other runners manage their race better. There can be several pacers in a race.</a:t>
            </a:r>
            <a:endParaRPr lang="ko-KR" sz="19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25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250"/>
                                        <p:tgtEl>
                                          <p:spTgt spid="1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8"/>
                                        </p:tgtEl>
                                        <p:attrNameLst>
                                          <p:attrName>style.visibility</p:attrName>
                                        </p:attrNameLst>
                                      </p:cBhvr>
                                      <p:to>
                                        <p:strVal val="visible"/>
                                      </p:to>
                                    </p:set>
                                    <p:animEffect transition="in" filter="fade">
                                      <p:cBhvr>
                                        <p:cTn id="13"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4" grpId="0" animBg="1"/>
      <p:bldP spid="18" grpId="0" animBg="1"/>
    </p:bldLst>
  </p:timing>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8000"/>
            </a:avLst>
          </a:prstGeom>
          <a:solidFill>
            <a:srgbClr val="1E2A5A"/>
          </a:solidFill>
          <a:ln>
            <a:noFill/>
          </a:ln>
        </p:spPr>
        <p:txBody>
          <a:bodyPr wrap="square" lIns="45720" tIns="18288" rIns="45720" bIns="18288" anchor="ctr" rtlCol="0">
            <a:noAutofit/>
          </a:bodyPr>
          <a:lstStyle/>
          <a:p>
            <a:pPr algn="ctr">
              <a:lnSpc>
                <a:spcPts val="2000"/>
              </a:lnSpc>
              <a:spcBef>
                <a:spcPts val="0"/>
              </a:spcBef>
              <a:spcAft>
                <a:spcPts val="0"/>
              </a:spcAft>
              <a:buNone/>
            </a:pPr>
            <a:r>
              <a:rPr lang="en-US" altLang="en-US" sz="1700" b="1" dirty="0">
                <a:solidFill>
                  <a:srgbClr val="FFFFFF"/>
                </a:solidFill>
                <a:latin typeface="Calibri"/>
                <a:ea typeface="맑은 고딕"/>
                <a:cs typeface="Calibri"/>
              </a:rPr>
              <a:t>L5-2</a:t>
            </a:r>
            <a:endParaRPr lang="ko-KR" sz="1700"/>
          </a:p>
        </p:txBody>
      </p:sp>
      <p:sp>
        <p:nvSpPr>
          <p:cNvPr id="3" name="hdr_chip"/>
          <p:cNvSpPr/>
          <p:nvPr/>
        </p:nvSpPr>
        <p:spPr>
          <a:xfrm>
            <a:off x="1755648" y="274320"/>
            <a:ext cx="1371600" cy="493776"/>
          </a:xfrm>
          <a:prstGeom prst="roundRect">
            <a:avLst>
              <a:gd name="adj" fmla="val 8000"/>
            </a:avLst>
          </a:prstGeom>
          <a:solidFill>
            <a:srgbClr val="E6EAF4"/>
          </a:solidFill>
          <a:ln>
            <a:noFill/>
          </a:ln>
        </p:spPr>
        <p:txBody>
          <a:bodyPr wrap="square" lIns="27432" tIns="18288" rIns="27432" bIns="18288" anchor="ctr" rtlCol="0">
            <a:noAutofit/>
          </a:bodyPr>
          <a:lstStyle/>
          <a:p>
            <a:pPr algn="ctr">
              <a:lnSpc>
                <a:spcPts val="1700"/>
              </a:lnSpc>
              <a:spcBef>
                <a:spcPts val="0"/>
              </a:spcBef>
              <a:spcAft>
                <a:spcPts val="0"/>
              </a:spcAft>
              <a:buNone/>
            </a:pPr>
            <a:r>
              <a:rPr lang="ko-KR" altLang="en-US" sz="1400" b="1" dirty="0">
                <a:solidFill>
                  <a:srgbClr val="1E2A5A"/>
                </a:solidFill>
                <a:latin typeface="맑은 고딕"/>
                <a:ea typeface="맑은 고딕"/>
                <a:cs typeface="맑은 고딕"/>
              </a:rPr>
              <a:t>PART 6 · 3</a:t>
            </a:r>
            <a:endParaRPr lang="ko-KR" sz="1400"/>
          </a:p>
        </p:txBody>
      </p:sp>
      <p:sp>
        <p:nvSpPr>
          <p:cNvPr id="4" name="hdr_q"/>
          <p:cNvSpPr txBox="1"/>
          <p:nvPr/>
        </p:nvSpPr>
        <p:spPr>
          <a:xfrm>
            <a:off x="3246120" y="246888"/>
            <a:ext cx="8485632" cy="548640"/>
          </a:xfrm>
          <a:prstGeom prst="rect">
            <a:avLst/>
          </a:prstGeom>
          <a:noFill/>
        </p:spPr>
        <p:txBody>
          <a:bodyPr wrap="square" lIns="109728" tIns="54864" rIns="109728" bIns="54864" anchor="ctr" rtlCol="0">
            <a:noAutofit/>
          </a:bodyPr>
          <a:lstStyle/>
          <a:p>
            <a:pPr algn="l">
              <a:lnSpc>
                <a:spcPts val="2400"/>
              </a:lnSpc>
              <a:spcBef>
                <a:spcPts val="0"/>
              </a:spcBef>
              <a:spcAft>
                <a:spcPts val="0"/>
              </a:spcAft>
              <a:buNone/>
            </a:pPr>
            <a:r>
              <a:rPr lang="ko-KR" altLang="en-US" sz="2000" b="1" dirty="0">
                <a:solidFill>
                  <a:srgbClr val="1F2328"/>
                </a:solidFill>
                <a:latin typeface="맑은 고딕"/>
                <a:ea typeface="맑은 고딕"/>
                <a:cs typeface="맑은 고딕"/>
              </a:rPr>
              <a:t>우리말에 맞게 (  ) 안의 말을 바르게 배열하시오.</a:t>
            </a:r>
            <a:endParaRPr lang="ko-KR" sz="2000"/>
          </a:p>
        </p:txBody>
      </p:sp>
      <p:sp>
        <p:nvSpPr>
          <p:cNvPr id="5" name="ftr_exam"/>
          <p:cNvSpPr txBox="1"/>
          <p:nvPr/>
        </p:nvSpPr>
        <p:spPr>
          <a:xfrm>
            <a:off x="457200" y="6519672"/>
            <a:ext cx="5669280" cy="256032"/>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5</a:t>
            </a:r>
            <a:endParaRPr lang="ko-KR" sz="1000"/>
          </a:p>
        </p:txBody>
      </p:sp>
      <p:sp>
        <p:nvSpPr>
          <p:cNvPr id="6" name="ftr_hint"/>
          <p:cNvSpPr txBox="1"/>
          <p:nvPr/>
        </p:nvSpPr>
        <p:spPr>
          <a:xfrm>
            <a:off x="5971032" y="6519672"/>
            <a:ext cx="5760720" cy="256032"/>
          </a:xfrm>
          <a:prstGeom prst="rect">
            <a:avLst/>
          </a:prstGeom>
          <a:noFill/>
        </p:spPr>
        <p:txBody>
          <a:bodyPr wrap="square" lIns="0" tIns="0" rIns="0" bIns="0" anchor="t" rtlCol="0">
            <a:noAutofit/>
          </a:bodyPr>
          <a:lstStyle/>
          <a:p>
            <a:pPr algn="r">
              <a:lnSpc>
                <a:spcPts val="1200"/>
              </a:lnSpc>
              <a:spcBef>
                <a:spcPts val="0"/>
              </a:spcBef>
              <a:spcAft>
                <a:spcPts val="0"/>
              </a:spcAft>
              <a:buNone/>
            </a:pPr>
            <a:r>
              <a:rPr lang="ko-KR" altLang="en-US" sz="1000" b="0" dirty="0">
                <a:solidFill>
                  <a:srgbClr val="7A808C"/>
                </a:solidFill>
                <a:latin typeface="맑은 고딕"/>
                <a:ea typeface="맑은 고딕"/>
                <a:cs typeface="맑은 고딕"/>
              </a:rPr>
              <a:t>클릭 ① 완성 문장(정답) 공개</a:t>
            </a:r>
            <a:endParaRPr lang="ko-KR" sz="1000"/>
          </a:p>
        </p:txBody>
      </p:sp>
      <p:sp>
        <p:nvSpPr>
          <p:cNvPr id="7" name="item_card_1"/>
          <p:cNvSpPr/>
          <p:nvPr/>
        </p:nvSpPr>
        <p:spPr>
          <a:xfrm>
            <a:off x="457200" y="950976"/>
            <a:ext cx="11274552" cy="1661922"/>
          </a:xfrm>
          <a:prstGeom prst="roundRect">
            <a:avLst>
              <a:gd name="adj" fmla="val 6000"/>
            </a:avLst>
          </a:prstGeom>
          <a:solidFill>
            <a:srgbClr val="F3F5F9"/>
          </a:solidFill>
          <a:ln w="12700">
            <a:solidFill>
              <a:srgbClr val="D9DFEA"/>
            </a:solidFill>
          </a:ln>
        </p:spPr>
        <p:txBody>
          <a:bodyPr rtlCol="0" anchor="ctr"/>
          <a:lstStyle/>
          <a:p>
            <a:pPr algn="ctr"/>
          </a:p>
        </p:txBody>
      </p:sp>
      <p:sp>
        <p:nvSpPr>
          <p:cNvPr id="8" name="kor_1"/>
          <p:cNvSpPr txBox="1"/>
          <p:nvPr/>
        </p:nvSpPr>
        <p:spPr>
          <a:xfrm>
            <a:off x="457200" y="1060704"/>
            <a:ext cx="11274552" cy="379603"/>
          </a:xfrm>
          <a:prstGeom prst="rect">
            <a:avLst/>
          </a:prstGeom>
          <a:noFill/>
        </p:spPr>
        <p:txBody>
          <a:bodyPr wrap="square" lIns="228600" tIns="54864" rIns="228600" bIns="54864" anchor="t" rtlCol="0">
            <a:noAutofit/>
          </a:bodyPr>
          <a:lstStyle/>
          <a:p>
            <a:pPr algn="l">
              <a:lnSpc>
                <a:spcPts val="2125"/>
              </a:lnSpc>
              <a:spcBef>
                <a:spcPts val="0"/>
              </a:spcBef>
              <a:spcAft>
                <a:spcPts val="0"/>
              </a:spcAft>
              <a:buNone/>
            </a:pPr>
            <a:r>
              <a:rPr lang="en-US" altLang="en-US" sz="1700" b="1" dirty="0">
                <a:solidFill>
                  <a:srgbClr val="1E2A5A"/>
                </a:solidFill>
                <a:latin typeface="Calibri"/>
                <a:ea typeface="맑은 고딕"/>
                <a:cs typeface="Calibri"/>
              </a:rPr>
              <a:t>1.  </a:t>
            </a:r>
            <a:r>
              <a:rPr lang="ko-KR" altLang="en-US" sz="1700" b="1" dirty="0">
                <a:solidFill>
                  <a:srgbClr val="1F2328"/>
                </a:solidFill>
                <a:latin typeface="맑은 고딕"/>
                <a:ea typeface="맑은 고딕"/>
                <a:cs typeface="맑은 고딕"/>
              </a:rPr>
              <a:t>각각의 페이서는 다른 속도로 달리고 다른 시간대에 경주를 마친다.</a:t>
            </a:r>
            <a:endParaRPr lang="ko-KR" sz="1700"/>
          </a:p>
        </p:txBody>
      </p:sp>
      <p:sp>
        <p:nvSpPr>
          <p:cNvPr id="9" name="ex_1"/>
          <p:cNvSpPr txBox="1"/>
          <p:nvPr/>
        </p:nvSpPr>
        <p:spPr>
          <a:xfrm>
            <a:off x="457200" y="1385443"/>
            <a:ext cx="11274552" cy="435483"/>
          </a:xfrm>
          <a:prstGeom prst="rect">
            <a:avLst/>
          </a:prstGeom>
          <a:noFill/>
        </p:spPr>
        <p:txBody>
          <a:bodyPr wrap="square" lIns="228600" tIns="54864" rIns="228600" bIns="54864" anchor="t" rtlCol="0">
            <a:noAutofit/>
          </a:bodyPr>
          <a:lstStyle/>
          <a:p>
            <a:pPr algn="l">
              <a:lnSpc>
                <a:spcPts val="2565"/>
              </a:lnSpc>
              <a:spcBef>
                <a:spcPts val="0"/>
              </a:spcBef>
              <a:spcAft>
                <a:spcPts val="0"/>
              </a:spcAft>
              <a:buNone/>
            </a:pP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at different speeds</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runs</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Each pacer</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 and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finishes</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in different times</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the race</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a:t>
            </a:r>
            <a:endParaRPr lang="ko-KR" sz="1900"/>
          </a:p>
        </p:txBody>
      </p:sp>
      <p:sp>
        <p:nvSpPr>
          <p:cNvPr id="10" name="rv_ans_1"/>
          <p:cNvSpPr txBox="1"/>
          <p:nvPr/>
        </p:nvSpPr>
        <p:spPr>
          <a:xfrm>
            <a:off x="594360" y="1857502"/>
            <a:ext cx="11000232" cy="737108"/>
          </a:xfrm>
          <a:prstGeom prst="rect">
            <a:avLst/>
          </a:prstGeom>
          <a:solidFill>
            <a:srgbClr val="FFF3C4"/>
          </a:solidFill>
        </p:spPr>
        <p:txBody>
          <a:bodyPr wrap="square" lIns="137160" tIns="54864" rIns="137160" bIns="54864" anchor="t" rtlCol="0">
            <a:noAutofit/>
          </a:bodyPr>
          <a:lstStyle/>
          <a:p>
            <a:pPr algn="l">
              <a:lnSpc>
                <a:spcPts val="2470"/>
              </a:lnSpc>
              <a:spcBef>
                <a:spcPts val="0"/>
              </a:spcBef>
              <a:spcAft>
                <a:spcPts val="0"/>
              </a:spcAft>
              <a:buNone/>
            </a:pPr>
            <a:r>
              <a:rPr lang="en-US" altLang="en-US" sz="1900" b="1" dirty="0">
                <a:solidFill>
                  <a:srgbClr val="C00000"/>
                </a:solidFill>
                <a:latin typeface="Calibri"/>
                <a:ea typeface="맑은 고딕"/>
                <a:cs typeface="Calibri"/>
              </a:rPr>
              <a:t>→  </a:t>
            </a:r>
            <a:r>
              <a:rPr lang="en-US" altLang="en-US" sz="1900" b="1" dirty="0">
                <a:solidFill>
                  <a:srgbClr val="C00000"/>
                </a:solidFill>
                <a:latin typeface="Calibri"/>
                <a:ea typeface="맑은 고딕"/>
                <a:cs typeface="Calibri"/>
              </a:rPr>
              <a:t>Each pacer runs at different speeds and finishes the race in different times.</a:t>
            </a:r>
            <a:endParaRPr lang="ko-KR" sz="1900"/>
          </a:p>
        </p:txBody>
      </p:sp>
      <p:sp>
        <p:nvSpPr>
          <p:cNvPr id="11" name="item_card_2"/>
          <p:cNvSpPr/>
          <p:nvPr/>
        </p:nvSpPr>
        <p:spPr>
          <a:xfrm>
            <a:off x="457200" y="2722626"/>
            <a:ext cx="11274552" cy="1348232"/>
          </a:xfrm>
          <a:prstGeom prst="roundRect">
            <a:avLst>
              <a:gd name="adj" fmla="val 6000"/>
            </a:avLst>
          </a:prstGeom>
          <a:solidFill>
            <a:srgbClr val="F3F5F9"/>
          </a:solidFill>
          <a:ln w="12700">
            <a:solidFill>
              <a:srgbClr val="D9DFEA"/>
            </a:solidFill>
          </a:ln>
        </p:spPr>
        <p:txBody>
          <a:bodyPr rtlCol="0" anchor="ctr"/>
          <a:lstStyle/>
          <a:p>
            <a:pPr algn="ctr"/>
          </a:p>
        </p:txBody>
      </p:sp>
      <p:sp>
        <p:nvSpPr>
          <p:cNvPr id="12" name="kor_2"/>
          <p:cNvSpPr txBox="1"/>
          <p:nvPr/>
        </p:nvSpPr>
        <p:spPr>
          <a:xfrm>
            <a:off x="457200" y="2832354"/>
            <a:ext cx="11274552" cy="379603"/>
          </a:xfrm>
          <a:prstGeom prst="rect">
            <a:avLst/>
          </a:prstGeom>
          <a:noFill/>
        </p:spPr>
        <p:txBody>
          <a:bodyPr wrap="square" lIns="228600" tIns="54864" rIns="228600" bIns="54864" anchor="t" rtlCol="0">
            <a:noAutofit/>
          </a:bodyPr>
          <a:lstStyle/>
          <a:p>
            <a:pPr algn="l">
              <a:lnSpc>
                <a:spcPts val="2125"/>
              </a:lnSpc>
              <a:spcBef>
                <a:spcPts val="0"/>
              </a:spcBef>
              <a:spcAft>
                <a:spcPts val="0"/>
              </a:spcAft>
              <a:buNone/>
            </a:pPr>
            <a:r>
              <a:rPr lang="en-US" altLang="en-US" sz="1700" b="1" dirty="0">
                <a:solidFill>
                  <a:srgbClr val="1E2A5A"/>
                </a:solidFill>
                <a:latin typeface="Calibri"/>
                <a:ea typeface="맑은 고딕"/>
                <a:cs typeface="Calibri"/>
              </a:rPr>
              <a:t>2.  </a:t>
            </a:r>
            <a:r>
              <a:rPr lang="ko-KR" altLang="en-US" sz="1700" b="1" dirty="0">
                <a:solidFill>
                  <a:srgbClr val="1F2328"/>
                </a:solidFill>
                <a:latin typeface="맑은 고딕"/>
                <a:ea typeface="맑은 고딕"/>
                <a:cs typeface="맑은 고딕"/>
              </a:rPr>
              <a:t>페이서들은 보통 자신들의 완주 시간을 나타내는 깃발이나 풍선을 가지고 있다.</a:t>
            </a:r>
            <a:endParaRPr lang="ko-KR" sz="1700"/>
          </a:p>
        </p:txBody>
      </p:sp>
      <p:sp>
        <p:nvSpPr>
          <p:cNvPr id="13" name="ex_2"/>
          <p:cNvSpPr txBox="1"/>
          <p:nvPr/>
        </p:nvSpPr>
        <p:spPr>
          <a:xfrm>
            <a:off x="457200" y="3157093"/>
            <a:ext cx="11274552" cy="435483"/>
          </a:xfrm>
          <a:prstGeom prst="rect">
            <a:avLst/>
          </a:prstGeom>
          <a:noFill/>
        </p:spPr>
        <p:txBody>
          <a:bodyPr wrap="square" lIns="228600" tIns="54864" rIns="228600" bIns="54864" anchor="t" rtlCol="0">
            <a:noAutofit/>
          </a:bodyPr>
          <a:lstStyle/>
          <a:p>
            <a:pPr algn="l">
              <a:lnSpc>
                <a:spcPts val="2565"/>
              </a:lnSpc>
              <a:spcBef>
                <a:spcPts val="0"/>
              </a:spcBef>
              <a:spcAft>
                <a:spcPts val="0"/>
              </a:spcAft>
              <a:buNone/>
            </a:pP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have</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showing</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their finish time</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Pacers</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flags or balloons</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usually</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a:t>
            </a:r>
            <a:endParaRPr lang="ko-KR" sz="1900"/>
          </a:p>
        </p:txBody>
      </p:sp>
      <p:sp>
        <p:nvSpPr>
          <p:cNvPr id="14" name="rv_ans_2"/>
          <p:cNvSpPr txBox="1"/>
          <p:nvPr/>
        </p:nvSpPr>
        <p:spPr>
          <a:xfrm>
            <a:off x="594360" y="3629152"/>
            <a:ext cx="11000232" cy="423418"/>
          </a:xfrm>
          <a:prstGeom prst="rect">
            <a:avLst/>
          </a:prstGeom>
          <a:solidFill>
            <a:srgbClr val="FFF3C4"/>
          </a:solidFill>
        </p:spPr>
        <p:txBody>
          <a:bodyPr wrap="square" lIns="137160" tIns="54864" rIns="137160" bIns="54864" anchor="t" rtlCol="0">
            <a:noAutofit/>
          </a:bodyPr>
          <a:lstStyle/>
          <a:p>
            <a:pPr algn="l">
              <a:lnSpc>
                <a:spcPts val="2470"/>
              </a:lnSpc>
              <a:spcBef>
                <a:spcPts val="0"/>
              </a:spcBef>
              <a:spcAft>
                <a:spcPts val="0"/>
              </a:spcAft>
              <a:buNone/>
            </a:pPr>
            <a:r>
              <a:rPr lang="en-US" altLang="en-US" sz="1900" b="1" dirty="0">
                <a:solidFill>
                  <a:srgbClr val="C00000"/>
                </a:solidFill>
                <a:latin typeface="Calibri"/>
                <a:ea typeface="맑은 고딕"/>
                <a:cs typeface="Calibri"/>
              </a:rPr>
              <a:t>→  </a:t>
            </a:r>
            <a:r>
              <a:rPr lang="en-US" altLang="en-US" sz="1900" b="1" dirty="0">
                <a:solidFill>
                  <a:srgbClr val="C00000"/>
                </a:solidFill>
                <a:latin typeface="Calibri"/>
                <a:ea typeface="맑은 고딕"/>
                <a:cs typeface="Calibri"/>
              </a:rPr>
              <a:t>Pacers usually have flags or balloons showing their finish time.</a:t>
            </a:r>
            <a:endParaRPr lang="ko-KR" sz="19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25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2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4" grpId="0" animBg="1"/>
    </p:bldLst>
  </p:timing>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8000"/>
            </a:avLst>
          </a:prstGeom>
          <a:solidFill>
            <a:srgbClr val="1E2A5A"/>
          </a:solidFill>
          <a:ln>
            <a:noFill/>
          </a:ln>
        </p:spPr>
        <p:txBody>
          <a:bodyPr wrap="square" lIns="45720" tIns="18288" rIns="45720" bIns="18288" anchor="ctr" rtlCol="0">
            <a:noAutofit/>
          </a:bodyPr>
          <a:lstStyle/>
          <a:p>
            <a:pPr algn="ctr">
              <a:lnSpc>
                <a:spcPts val="2000"/>
              </a:lnSpc>
              <a:spcBef>
                <a:spcPts val="0"/>
              </a:spcBef>
              <a:spcAft>
                <a:spcPts val="0"/>
              </a:spcAft>
              <a:buNone/>
            </a:pPr>
            <a:r>
              <a:rPr lang="en-US" altLang="en-US" sz="1700" b="1" dirty="0">
                <a:solidFill>
                  <a:srgbClr val="FFFFFF"/>
                </a:solidFill>
                <a:latin typeface="Calibri"/>
                <a:ea typeface="맑은 고딕"/>
                <a:cs typeface="Calibri"/>
              </a:rPr>
              <a:t>L5-2</a:t>
            </a:r>
            <a:endParaRPr lang="ko-KR" sz="1700"/>
          </a:p>
        </p:txBody>
      </p:sp>
      <p:sp>
        <p:nvSpPr>
          <p:cNvPr id="3" name="hdr_chip"/>
          <p:cNvSpPr/>
          <p:nvPr/>
        </p:nvSpPr>
        <p:spPr>
          <a:xfrm>
            <a:off x="1755648" y="274320"/>
            <a:ext cx="1371600" cy="493776"/>
          </a:xfrm>
          <a:prstGeom prst="roundRect">
            <a:avLst>
              <a:gd name="adj" fmla="val 8000"/>
            </a:avLst>
          </a:prstGeom>
          <a:solidFill>
            <a:srgbClr val="E6EAF4"/>
          </a:solidFill>
          <a:ln>
            <a:noFill/>
          </a:ln>
        </p:spPr>
        <p:txBody>
          <a:bodyPr wrap="square" lIns="27432" tIns="18288" rIns="27432" bIns="18288" anchor="ctr" rtlCol="0">
            <a:noAutofit/>
          </a:bodyPr>
          <a:lstStyle/>
          <a:p>
            <a:pPr algn="ctr">
              <a:lnSpc>
                <a:spcPts val="1700"/>
              </a:lnSpc>
              <a:spcBef>
                <a:spcPts val="0"/>
              </a:spcBef>
              <a:spcAft>
                <a:spcPts val="0"/>
              </a:spcAft>
              <a:buNone/>
            </a:pPr>
            <a:r>
              <a:rPr lang="ko-KR" altLang="en-US" sz="1400" b="1" dirty="0">
                <a:solidFill>
                  <a:srgbClr val="1E2A5A"/>
                </a:solidFill>
                <a:latin typeface="맑은 고딕"/>
                <a:ea typeface="맑은 고딕"/>
                <a:cs typeface="맑은 고딕"/>
              </a:rPr>
              <a:t>PART 6 · 4</a:t>
            </a:r>
            <a:endParaRPr lang="ko-KR" sz="1400"/>
          </a:p>
        </p:txBody>
      </p:sp>
      <p:sp>
        <p:nvSpPr>
          <p:cNvPr id="4" name="hdr_q"/>
          <p:cNvSpPr txBox="1"/>
          <p:nvPr/>
        </p:nvSpPr>
        <p:spPr>
          <a:xfrm>
            <a:off x="3246120" y="246888"/>
            <a:ext cx="8485632" cy="548640"/>
          </a:xfrm>
          <a:prstGeom prst="rect">
            <a:avLst/>
          </a:prstGeom>
          <a:noFill/>
        </p:spPr>
        <p:txBody>
          <a:bodyPr wrap="square" lIns="109728" tIns="54864" rIns="109728" bIns="54864" anchor="ctr" rtlCol="0">
            <a:noAutofit/>
          </a:bodyPr>
          <a:lstStyle/>
          <a:p>
            <a:pPr algn="l">
              <a:lnSpc>
                <a:spcPts val="2400"/>
              </a:lnSpc>
              <a:spcBef>
                <a:spcPts val="0"/>
              </a:spcBef>
              <a:spcAft>
                <a:spcPts val="0"/>
              </a:spcAft>
              <a:buNone/>
            </a:pPr>
            <a:r>
              <a:rPr lang="ko-KR" altLang="en-US" sz="2000" b="1" dirty="0">
                <a:solidFill>
                  <a:srgbClr val="1F2328"/>
                </a:solidFill>
                <a:latin typeface="맑은 고딕"/>
                <a:ea typeface="맑은 고딕"/>
                <a:cs typeface="맑은 고딕"/>
              </a:rPr>
              <a:t>우리말에 맞게 (  ) 안의 말을 바르게 배열하시오.</a:t>
            </a:r>
            <a:endParaRPr lang="ko-KR" sz="2000"/>
          </a:p>
        </p:txBody>
      </p:sp>
      <p:sp>
        <p:nvSpPr>
          <p:cNvPr id="5" name="ftr_exam"/>
          <p:cNvSpPr txBox="1"/>
          <p:nvPr/>
        </p:nvSpPr>
        <p:spPr>
          <a:xfrm>
            <a:off x="457200" y="6519672"/>
            <a:ext cx="5669280" cy="256032"/>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5</a:t>
            </a:r>
            <a:endParaRPr lang="ko-KR" sz="1000"/>
          </a:p>
        </p:txBody>
      </p:sp>
      <p:sp>
        <p:nvSpPr>
          <p:cNvPr id="6" name="ftr_hint"/>
          <p:cNvSpPr txBox="1"/>
          <p:nvPr/>
        </p:nvSpPr>
        <p:spPr>
          <a:xfrm>
            <a:off x="5971032" y="6519672"/>
            <a:ext cx="5760720" cy="256032"/>
          </a:xfrm>
          <a:prstGeom prst="rect">
            <a:avLst/>
          </a:prstGeom>
          <a:noFill/>
        </p:spPr>
        <p:txBody>
          <a:bodyPr wrap="square" lIns="0" tIns="0" rIns="0" bIns="0" anchor="t" rtlCol="0">
            <a:noAutofit/>
          </a:bodyPr>
          <a:lstStyle/>
          <a:p>
            <a:pPr algn="r">
              <a:lnSpc>
                <a:spcPts val="1200"/>
              </a:lnSpc>
              <a:spcBef>
                <a:spcPts val="0"/>
              </a:spcBef>
              <a:spcAft>
                <a:spcPts val="0"/>
              </a:spcAft>
              <a:buNone/>
            </a:pPr>
            <a:r>
              <a:rPr lang="ko-KR" altLang="en-US" sz="1000" b="0" dirty="0">
                <a:solidFill>
                  <a:srgbClr val="7A808C"/>
                </a:solidFill>
                <a:latin typeface="맑은 고딕"/>
                <a:ea typeface="맑은 고딕"/>
                <a:cs typeface="맑은 고딕"/>
              </a:rPr>
              <a:t>클릭 ① 완성 문장(정답) 공개</a:t>
            </a:r>
            <a:endParaRPr lang="ko-KR" sz="1000"/>
          </a:p>
        </p:txBody>
      </p:sp>
      <p:sp>
        <p:nvSpPr>
          <p:cNvPr id="7" name="item_card_1"/>
          <p:cNvSpPr/>
          <p:nvPr/>
        </p:nvSpPr>
        <p:spPr>
          <a:xfrm>
            <a:off x="457200" y="950976"/>
            <a:ext cx="11274552" cy="1348232"/>
          </a:xfrm>
          <a:prstGeom prst="roundRect">
            <a:avLst>
              <a:gd name="adj" fmla="val 6000"/>
            </a:avLst>
          </a:prstGeom>
          <a:solidFill>
            <a:srgbClr val="F3F5F9"/>
          </a:solidFill>
          <a:ln w="12700">
            <a:solidFill>
              <a:srgbClr val="D9DFEA"/>
            </a:solidFill>
          </a:ln>
        </p:spPr>
        <p:txBody>
          <a:bodyPr rtlCol="0" anchor="ctr"/>
          <a:lstStyle/>
          <a:p>
            <a:pPr algn="ctr"/>
          </a:p>
        </p:txBody>
      </p:sp>
      <p:sp>
        <p:nvSpPr>
          <p:cNvPr id="8" name="kor_1"/>
          <p:cNvSpPr txBox="1"/>
          <p:nvPr/>
        </p:nvSpPr>
        <p:spPr>
          <a:xfrm>
            <a:off x="457200" y="1060704"/>
            <a:ext cx="11274552" cy="379603"/>
          </a:xfrm>
          <a:prstGeom prst="rect">
            <a:avLst/>
          </a:prstGeom>
          <a:noFill/>
        </p:spPr>
        <p:txBody>
          <a:bodyPr wrap="square" lIns="228600" tIns="54864" rIns="228600" bIns="54864" anchor="t" rtlCol="0">
            <a:noAutofit/>
          </a:bodyPr>
          <a:lstStyle/>
          <a:p>
            <a:pPr algn="l">
              <a:lnSpc>
                <a:spcPts val="2125"/>
              </a:lnSpc>
              <a:spcBef>
                <a:spcPts val="0"/>
              </a:spcBef>
              <a:spcAft>
                <a:spcPts val="0"/>
              </a:spcAft>
              <a:buNone/>
            </a:pPr>
            <a:r>
              <a:rPr lang="en-US" altLang="en-US" sz="1700" b="1" dirty="0">
                <a:solidFill>
                  <a:srgbClr val="1E2A5A"/>
                </a:solidFill>
                <a:latin typeface="Calibri"/>
                <a:ea typeface="맑은 고딕"/>
                <a:cs typeface="Calibri"/>
              </a:rPr>
              <a:t>3.  </a:t>
            </a:r>
            <a:r>
              <a:rPr lang="ko-KR" altLang="en-US" sz="1700" b="1" dirty="0">
                <a:solidFill>
                  <a:srgbClr val="1F2328"/>
                </a:solidFill>
                <a:latin typeface="맑은 고딕"/>
                <a:ea typeface="맑은 고딕"/>
                <a:cs typeface="맑은 고딕"/>
              </a:rPr>
              <a:t>선수들은 자신들의 목표 완주 시간에 따라 페이서를 선택할 수 있다.</a:t>
            </a:r>
            <a:endParaRPr lang="ko-KR" sz="1700"/>
          </a:p>
        </p:txBody>
      </p:sp>
      <p:sp>
        <p:nvSpPr>
          <p:cNvPr id="9" name="ex_1"/>
          <p:cNvSpPr txBox="1"/>
          <p:nvPr/>
        </p:nvSpPr>
        <p:spPr>
          <a:xfrm>
            <a:off x="457200" y="1385443"/>
            <a:ext cx="11274552" cy="435483"/>
          </a:xfrm>
          <a:prstGeom prst="rect">
            <a:avLst/>
          </a:prstGeom>
          <a:noFill/>
        </p:spPr>
        <p:txBody>
          <a:bodyPr wrap="square" lIns="228600" tIns="54864" rIns="228600" bIns="54864" anchor="t" rtlCol="0">
            <a:noAutofit/>
          </a:bodyPr>
          <a:lstStyle/>
          <a:p>
            <a:pPr algn="l">
              <a:lnSpc>
                <a:spcPts val="2565"/>
              </a:lnSpc>
              <a:spcBef>
                <a:spcPts val="0"/>
              </a:spcBef>
              <a:spcAft>
                <a:spcPts val="0"/>
              </a:spcAft>
              <a:buNone/>
            </a:pP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depending on</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their target finish time</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a pacer</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Runners</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can choose</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a:t>
            </a:r>
            <a:endParaRPr lang="ko-KR" sz="1900"/>
          </a:p>
        </p:txBody>
      </p:sp>
      <p:sp>
        <p:nvSpPr>
          <p:cNvPr id="10" name="rv_ans_1"/>
          <p:cNvSpPr txBox="1"/>
          <p:nvPr/>
        </p:nvSpPr>
        <p:spPr>
          <a:xfrm>
            <a:off x="594360" y="1857502"/>
            <a:ext cx="11000232" cy="423418"/>
          </a:xfrm>
          <a:prstGeom prst="rect">
            <a:avLst/>
          </a:prstGeom>
          <a:solidFill>
            <a:srgbClr val="FFF3C4"/>
          </a:solidFill>
        </p:spPr>
        <p:txBody>
          <a:bodyPr wrap="square" lIns="137160" tIns="54864" rIns="137160" bIns="54864" anchor="t" rtlCol="0">
            <a:noAutofit/>
          </a:bodyPr>
          <a:lstStyle/>
          <a:p>
            <a:pPr algn="l">
              <a:lnSpc>
                <a:spcPts val="2470"/>
              </a:lnSpc>
              <a:spcBef>
                <a:spcPts val="0"/>
              </a:spcBef>
              <a:spcAft>
                <a:spcPts val="0"/>
              </a:spcAft>
              <a:buNone/>
            </a:pPr>
            <a:r>
              <a:rPr lang="en-US" altLang="en-US" sz="1900" b="1" dirty="0">
                <a:solidFill>
                  <a:srgbClr val="C00000"/>
                </a:solidFill>
                <a:latin typeface="Calibri"/>
                <a:ea typeface="맑은 고딕"/>
                <a:cs typeface="Calibri"/>
              </a:rPr>
              <a:t>→  </a:t>
            </a:r>
            <a:r>
              <a:rPr lang="en-US" altLang="en-US" sz="1900" b="1" dirty="0">
                <a:solidFill>
                  <a:srgbClr val="C00000"/>
                </a:solidFill>
                <a:latin typeface="Calibri"/>
                <a:ea typeface="맑은 고딕"/>
                <a:cs typeface="Calibri"/>
              </a:rPr>
              <a:t>Runners can choose a pacer depending on their target finish time.</a:t>
            </a:r>
            <a:endParaRPr lang="ko-KR" sz="1900"/>
          </a:p>
        </p:txBody>
      </p:sp>
      <p:sp>
        <p:nvSpPr>
          <p:cNvPr id="11" name="item_card_2"/>
          <p:cNvSpPr/>
          <p:nvPr/>
        </p:nvSpPr>
        <p:spPr>
          <a:xfrm>
            <a:off x="457200" y="2408936"/>
            <a:ext cx="11274552" cy="2257552"/>
          </a:xfrm>
          <a:prstGeom prst="roundRect">
            <a:avLst>
              <a:gd name="adj" fmla="val 6000"/>
            </a:avLst>
          </a:prstGeom>
          <a:solidFill>
            <a:srgbClr val="F3F5F9"/>
          </a:solidFill>
          <a:ln w="12700">
            <a:solidFill>
              <a:srgbClr val="D9DFEA"/>
            </a:solidFill>
          </a:ln>
        </p:spPr>
        <p:txBody>
          <a:bodyPr rtlCol="0" anchor="ctr"/>
          <a:lstStyle/>
          <a:p>
            <a:pPr algn="ctr"/>
          </a:p>
        </p:txBody>
      </p:sp>
      <p:sp>
        <p:nvSpPr>
          <p:cNvPr id="12" name="kor_2"/>
          <p:cNvSpPr txBox="1"/>
          <p:nvPr/>
        </p:nvSpPr>
        <p:spPr>
          <a:xfrm>
            <a:off x="457200" y="2518664"/>
            <a:ext cx="11274552" cy="649478"/>
          </a:xfrm>
          <a:prstGeom prst="rect">
            <a:avLst/>
          </a:prstGeom>
          <a:noFill/>
        </p:spPr>
        <p:txBody>
          <a:bodyPr wrap="square" lIns="228600" tIns="54864" rIns="228600" bIns="54864" anchor="t" rtlCol="0">
            <a:noAutofit/>
          </a:bodyPr>
          <a:lstStyle/>
          <a:p>
            <a:pPr algn="l">
              <a:lnSpc>
                <a:spcPts val="2125"/>
              </a:lnSpc>
              <a:spcBef>
                <a:spcPts val="0"/>
              </a:spcBef>
              <a:spcAft>
                <a:spcPts val="0"/>
              </a:spcAft>
              <a:buNone/>
            </a:pPr>
            <a:r>
              <a:rPr lang="en-US" altLang="en-US" sz="1700" b="1" dirty="0">
                <a:solidFill>
                  <a:srgbClr val="1E2A5A"/>
                </a:solidFill>
                <a:latin typeface="Calibri"/>
                <a:ea typeface="맑은 고딕"/>
                <a:cs typeface="Calibri"/>
              </a:rPr>
              <a:t>4.  </a:t>
            </a:r>
            <a:r>
              <a:rPr lang="ko-KR" altLang="en-US" sz="1700" b="1" dirty="0">
                <a:solidFill>
                  <a:srgbClr val="1F2328"/>
                </a:solidFill>
                <a:latin typeface="맑은 고딕"/>
                <a:ea typeface="맑은 고딕"/>
                <a:cs typeface="맑은 고딕"/>
              </a:rPr>
              <a:t>예를 들어, 한 선수가 4시간 안에 경주를 마치고 싶다면, 그 선수는 4시간 페이서를 따라갈 것이다.</a:t>
            </a:r>
            <a:endParaRPr lang="ko-KR" sz="1700"/>
          </a:p>
        </p:txBody>
      </p:sp>
      <p:sp>
        <p:nvSpPr>
          <p:cNvPr id="13" name="ex_2"/>
          <p:cNvSpPr txBox="1"/>
          <p:nvPr/>
        </p:nvSpPr>
        <p:spPr>
          <a:xfrm>
            <a:off x="457200" y="3113278"/>
            <a:ext cx="11274552" cy="761238"/>
          </a:xfrm>
          <a:prstGeom prst="rect">
            <a:avLst/>
          </a:prstGeom>
          <a:noFill/>
        </p:spPr>
        <p:txBody>
          <a:bodyPr wrap="square" lIns="228600" tIns="54864" rIns="228600" bIns="54864" anchor="t" rtlCol="0">
            <a:noAutofit/>
          </a:bodyPr>
          <a:lstStyle/>
          <a:p>
            <a:pPr algn="l">
              <a:lnSpc>
                <a:spcPts val="2565"/>
              </a:lnSpc>
              <a:spcBef>
                <a:spcPts val="0"/>
              </a:spcBef>
              <a:spcAft>
                <a:spcPts val="0"/>
              </a:spcAft>
              <a:buNone/>
            </a:pPr>
            <a:r>
              <a:rPr lang="en-US" altLang="en-US" sz="1900" b="0" dirty="0">
                <a:solidFill>
                  <a:srgbClr val="1F2328"/>
                </a:solidFill>
                <a:latin typeface="Calibri"/>
                <a:ea typeface="맑은 고딕"/>
                <a:cs typeface="Calibri"/>
              </a:rPr>
              <a:t>For example, if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a runner</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the race</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wants</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in four hours</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to finish</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will follow</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the four‑hour pacer</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the runner</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a:t>
            </a:r>
            <a:endParaRPr lang="ko-KR" sz="1900"/>
          </a:p>
        </p:txBody>
      </p:sp>
      <p:sp>
        <p:nvSpPr>
          <p:cNvPr id="14" name="rv_ans_2"/>
          <p:cNvSpPr txBox="1"/>
          <p:nvPr/>
        </p:nvSpPr>
        <p:spPr>
          <a:xfrm>
            <a:off x="594360" y="3911092"/>
            <a:ext cx="11000232" cy="737108"/>
          </a:xfrm>
          <a:prstGeom prst="rect">
            <a:avLst/>
          </a:prstGeom>
          <a:solidFill>
            <a:srgbClr val="FFF3C4"/>
          </a:solidFill>
        </p:spPr>
        <p:txBody>
          <a:bodyPr wrap="square" lIns="137160" tIns="54864" rIns="137160" bIns="54864" anchor="t" rtlCol="0">
            <a:noAutofit/>
          </a:bodyPr>
          <a:lstStyle/>
          <a:p>
            <a:pPr algn="l">
              <a:lnSpc>
                <a:spcPts val="2470"/>
              </a:lnSpc>
              <a:spcBef>
                <a:spcPts val="0"/>
              </a:spcBef>
              <a:spcAft>
                <a:spcPts val="0"/>
              </a:spcAft>
              <a:buNone/>
            </a:pPr>
            <a:r>
              <a:rPr lang="en-US" altLang="en-US" sz="1900" b="1" dirty="0">
                <a:solidFill>
                  <a:srgbClr val="C00000"/>
                </a:solidFill>
                <a:latin typeface="Calibri"/>
                <a:ea typeface="맑은 고딕"/>
                <a:cs typeface="Calibri"/>
              </a:rPr>
              <a:t>→  </a:t>
            </a:r>
            <a:r>
              <a:rPr lang="en-US" altLang="en-US" sz="1900" b="1" dirty="0">
                <a:solidFill>
                  <a:srgbClr val="C00000"/>
                </a:solidFill>
                <a:latin typeface="Calibri"/>
                <a:ea typeface="맑은 고딕"/>
                <a:cs typeface="Calibri"/>
              </a:rPr>
              <a:t>For example, if a runner wants to finish the race in four hours, the runner will follow the four‑hour pacer.</a:t>
            </a:r>
            <a:endParaRPr lang="ko-KR" sz="19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25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2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4" grpId="0" animBg="1"/>
    </p:bldLst>
  </p:timing>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8000"/>
            </a:avLst>
          </a:prstGeom>
          <a:solidFill>
            <a:srgbClr val="1E2A5A"/>
          </a:solidFill>
          <a:ln>
            <a:noFill/>
          </a:ln>
        </p:spPr>
        <p:txBody>
          <a:bodyPr wrap="square" lIns="45720" tIns="18288" rIns="45720" bIns="18288" anchor="ctr" rtlCol="0">
            <a:noAutofit/>
          </a:bodyPr>
          <a:lstStyle/>
          <a:p>
            <a:pPr algn="ctr">
              <a:lnSpc>
                <a:spcPts val="2000"/>
              </a:lnSpc>
              <a:spcBef>
                <a:spcPts val="0"/>
              </a:spcBef>
              <a:spcAft>
                <a:spcPts val="0"/>
              </a:spcAft>
              <a:buNone/>
            </a:pPr>
            <a:r>
              <a:rPr lang="en-US" altLang="en-US" sz="1700" b="1" dirty="0">
                <a:solidFill>
                  <a:srgbClr val="FFFFFF"/>
                </a:solidFill>
                <a:latin typeface="Calibri"/>
                <a:ea typeface="맑은 고딕"/>
                <a:cs typeface="Calibri"/>
              </a:rPr>
              <a:t>L5-2</a:t>
            </a:r>
            <a:endParaRPr lang="ko-KR" sz="1700"/>
          </a:p>
        </p:txBody>
      </p:sp>
      <p:sp>
        <p:nvSpPr>
          <p:cNvPr id="3" name="hdr_chip"/>
          <p:cNvSpPr/>
          <p:nvPr/>
        </p:nvSpPr>
        <p:spPr>
          <a:xfrm>
            <a:off x="1755648" y="274320"/>
            <a:ext cx="1371600" cy="493776"/>
          </a:xfrm>
          <a:prstGeom prst="roundRect">
            <a:avLst>
              <a:gd name="adj" fmla="val 8000"/>
            </a:avLst>
          </a:prstGeom>
          <a:solidFill>
            <a:srgbClr val="E6EAF4"/>
          </a:solidFill>
          <a:ln>
            <a:noFill/>
          </a:ln>
        </p:spPr>
        <p:txBody>
          <a:bodyPr wrap="square" lIns="27432" tIns="18288" rIns="27432" bIns="18288" anchor="ctr" rtlCol="0">
            <a:noAutofit/>
          </a:bodyPr>
          <a:lstStyle/>
          <a:p>
            <a:pPr algn="ctr">
              <a:lnSpc>
                <a:spcPts val="1700"/>
              </a:lnSpc>
              <a:spcBef>
                <a:spcPts val="0"/>
              </a:spcBef>
              <a:spcAft>
                <a:spcPts val="0"/>
              </a:spcAft>
              <a:buNone/>
            </a:pPr>
            <a:r>
              <a:rPr lang="ko-KR" altLang="en-US" sz="1400" b="1" dirty="0">
                <a:solidFill>
                  <a:srgbClr val="1E2A5A"/>
                </a:solidFill>
                <a:latin typeface="맑은 고딕"/>
                <a:ea typeface="맑은 고딕"/>
                <a:cs typeface="맑은 고딕"/>
              </a:rPr>
              <a:t>PART 6 · 5</a:t>
            </a:r>
            <a:endParaRPr lang="ko-KR" sz="1400"/>
          </a:p>
        </p:txBody>
      </p:sp>
      <p:sp>
        <p:nvSpPr>
          <p:cNvPr id="4" name="hdr_q"/>
          <p:cNvSpPr txBox="1"/>
          <p:nvPr/>
        </p:nvSpPr>
        <p:spPr>
          <a:xfrm>
            <a:off x="3246120" y="246888"/>
            <a:ext cx="8485632" cy="548640"/>
          </a:xfrm>
          <a:prstGeom prst="rect">
            <a:avLst/>
          </a:prstGeom>
          <a:noFill/>
        </p:spPr>
        <p:txBody>
          <a:bodyPr wrap="square" lIns="109728" tIns="54864" rIns="109728" bIns="54864" anchor="ctr" rtlCol="0">
            <a:noAutofit/>
          </a:bodyPr>
          <a:lstStyle/>
          <a:p>
            <a:pPr algn="l">
              <a:lnSpc>
                <a:spcPts val="2400"/>
              </a:lnSpc>
              <a:spcBef>
                <a:spcPts val="0"/>
              </a:spcBef>
              <a:spcAft>
                <a:spcPts val="0"/>
              </a:spcAft>
              <a:buNone/>
            </a:pPr>
            <a:r>
              <a:rPr lang="ko-KR" altLang="en-US" sz="2000" b="1" dirty="0">
                <a:solidFill>
                  <a:srgbClr val="1F2328"/>
                </a:solidFill>
                <a:latin typeface="맑은 고딕"/>
                <a:ea typeface="맑은 고딕"/>
                <a:cs typeface="맑은 고딕"/>
              </a:rPr>
              <a:t>우리말에 맞게 (  ) 안의 말을 바르게 배열하시오.</a:t>
            </a:r>
            <a:endParaRPr lang="ko-KR" sz="2000"/>
          </a:p>
        </p:txBody>
      </p:sp>
      <p:sp>
        <p:nvSpPr>
          <p:cNvPr id="5" name="ftr_exam"/>
          <p:cNvSpPr txBox="1"/>
          <p:nvPr/>
        </p:nvSpPr>
        <p:spPr>
          <a:xfrm>
            <a:off x="457200" y="6519672"/>
            <a:ext cx="5669280" cy="256032"/>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5</a:t>
            </a:r>
            <a:endParaRPr lang="ko-KR" sz="1000"/>
          </a:p>
        </p:txBody>
      </p:sp>
      <p:sp>
        <p:nvSpPr>
          <p:cNvPr id="6" name="ftr_hint"/>
          <p:cNvSpPr txBox="1"/>
          <p:nvPr/>
        </p:nvSpPr>
        <p:spPr>
          <a:xfrm>
            <a:off x="5971032" y="6519672"/>
            <a:ext cx="5760720" cy="256032"/>
          </a:xfrm>
          <a:prstGeom prst="rect">
            <a:avLst/>
          </a:prstGeom>
          <a:noFill/>
        </p:spPr>
        <p:txBody>
          <a:bodyPr wrap="square" lIns="0" tIns="0" rIns="0" bIns="0" anchor="t" rtlCol="0">
            <a:noAutofit/>
          </a:bodyPr>
          <a:lstStyle/>
          <a:p>
            <a:pPr algn="r">
              <a:lnSpc>
                <a:spcPts val="1200"/>
              </a:lnSpc>
              <a:spcBef>
                <a:spcPts val="0"/>
              </a:spcBef>
              <a:spcAft>
                <a:spcPts val="0"/>
              </a:spcAft>
              <a:buNone/>
            </a:pPr>
            <a:r>
              <a:rPr lang="ko-KR" altLang="en-US" sz="1000" b="0" dirty="0">
                <a:solidFill>
                  <a:srgbClr val="7A808C"/>
                </a:solidFill>
                <a:latin typeface="맑은 고딕"/>
                <a:ea typeface="맑은 고딕"/>
                <a:cs typeface="맑은 고딕"/>
              </a:rPr>
              <a:t>클릭 ① 완성 문장(정답) 공개</a:t>
            </a:r>
            <a:endParaRPr lang="ko-KR" sz="1000"/>
          </a:p>
        </p:txBody>
      </p:sp>
      <p:sp>
        <p:nvSpPr>
          <p:cNvPr id="7" name="item_card_1"/>
          <p:cNvSpPr/>
          <p:nvPr/>
        </p:nvSpPr>
        <p:spPr>
          <a:xfrm>
            <a:off x="457200" y="950976"/>
            <a:ext cx="11274552" cy="2257552"/>
          </a:xfrm>
          <a:prstGeom prst="roundRect">
            <a:avLst>
              <a:gd name="adj" fmla="val 6000"/>
            </a:avLst>
          </a:prstGeom>
          <a:solidFill>
            <a:srgbClr val="F3F5F9"/>
          </a:solidFill>
          <a:ln w="12700">
            <a:solidFill>
              <a:srgbClr val="D9DFEA"/>
            </a:solidFill>
          </a:ln>
        </p:spPr>
        <p:txBody>
          <a:bodyPr rtlCol="0" anchor="ctr"/>
          <a:lstStyle/>
          <a:p>
            <a:pPr algn="ctr"/>
          </a:p>
        </p:txBody>
      </p:sp>
      <p:sp>
        <p:nvSpPr>
          <p:cNvPr id="8" name="kor_1"/>
          <p:cNvSpPr txBox="1"/>
          <p:nvPr/>
        </p:nvSpPr>
        <p:spPr>
          <a:xfrm>
            <a:off x="457200" y="1060704"/>
            <a:ext cx="11274552" cy="649478"/>
          </a:xfrm>
          <a:prstGeom prst="rect">
            <a:avLst/>
          </a:prstGeom>
          <a:noFill/>
        </p:spPr>
        <p:txBody>
          <a:bodyPr wrap="square" lIns="228600" tIns="54864" rIns="228600" bIns="54864" anchor="t" rtlCol="0">
            <a:noAutofit/>
          </a:bodyPr>
          <a:lstStyle/>
          <a:p>
            <a:pPr algn="l">
              <a:lnSpc>
                <a:spcPts val="2125"/>
              </a:lnSpc>
              <a:spcBef>
                <a:spcPts val="0"/>
              </a:spcBef>
              <a:spcAft>
                <a:spcPts val="0"/>
              </a:spcAft>
              <a:buNone/>
            </a:pPr>
            <a:r>
              <a:rPr lang="en-US" altLang="en-US" sz="1700" b="1" dirty="0">
                <a:solidFill>
                  <a:srgbClr val="1E2A5A"/>
                </a:solidFill>
                <a:latin typeface="Calibri"/>
                <a:ea typeface="맑은 고딕"/>
                <a:cs typeface="Calibri"/>
              </a:rPr>
              <a:t>5.  </a:t>
            </a:r>
            <a:r>
              <a:rPr lang="ko-KR" altLang="en-US" sz="1700" b="1" dirty="0">
                <a:solidFill>
                  <a:srgbClr val="1F2328"/>
                </a:solidFill>
                <a:latin typeface="맑은 고딕"/>
                <a:ea typeface="맑은 고딕"/>
                <a:cs typeface="맑은 고딕"/>
              </a:rPr>
              <a:t>페이서가 시간을 계속해서 파악하기 때문에, 선수는 특정 시간 안에 마라톤을 완주하려는 자신의 목표를 더 쉽게 달성할 수 있다.</a:t>
            </a:r>
            <a:endParaRPr lang="ko-KR" sz="1700"/>
          </a:p>
        </p:txBody>
      </p:sp>
      <p:sp>
        <p:nvSpPr>
          <p:cNvPr id="9" name="ex_1"/>
          <p:cNvSpPr txBox="1"/>
          <p:nvPr/>
        </p:nvSpPr>
        <p:spPr>
          <a:xfrm>
            <a:off x="457200" y="1655318"/>
            <a:ext cx="11274552" cy="761238"/>
          </a:xfrm>
          <a:prstGeom prst="rect">
            <a:avLst/>
          </a:prstGeom>
          <a:noFill/>
        </p:spPr>
        <p:txBody>
          <a:bodyPr wrap="square" lIns="228600" tIns="54864" rIns="228600" bIns="54864" anchor="t" rtlCol="0">
            <a:noAutofit/>
          </a:bodyPr>
          <a:lstStyle/>
          <a:p>
            <a:pPr algn="l">
              <a:lnSpc>
                <a:spcPts val="2565"/>
              </a:lnSpc>
              <a:spcBef>
                <a:spcPts val="0"/>
              </a:spcBef>
              <a:spcAft>
                <a:spcPts val="0"/>
              </a:spcAft>
              <a:buNone/>
            </a:pPr>
            <a:r>
              <a:rPr lang="en-US" altLang="en-US" sz="1900" b="0" dirty="0">
                <a:solidFill>
                  <a:srgbClr val="1F2328"/>
                </a:solidFill>
                <a:latin typeface="Calibri"/>
                <a:ea typeface="맑은 고딕"/>
                <a:cs typeface="Calibri"/>
              </a:rPr>
              <a:t>Since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the pacer</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the time</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keeps track of</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his or her goal</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the runner</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in a particular time</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can achieve</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more easily</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of finishing the marathon</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a:t>
            </a:r>
            <a:endParaRPr lang="ko-KR" sz="1900"/>
          </a:p>
        </p:txBody>
      </p:sp>
      <p:sp>
        <p:nvSpPr>
          <p:cNvPr id="10" name="rv_ans_1"/>
          <p:cNvSpPr txBox="1"/>
          <p:nvPr/>
        </p:nvSpPr>
        <p:spPr>
          <a:xfrm>
            <a:off x="594360" y="2453132"/>
            <a:ext cx="11000232" cy="737108"/>
          </a:xfrm>
          <a:prstGeom prst="rect">
            <a:avLst/>
          </a:prstGeom>
          <a:solidFill>
            <a:srgbClr val="FFF3C4"/>
          </a:solidFill>
        </p:spPr>
        <p:txBody>
          <a:bodyPr wrap="square" lIns="137160" tIns="54864" rIns="137160" bIns="54864" anchor="t" rtlCol="0">
            <a:noAutofit/>
          </a:bodyPr>
          <a:lstStyle/>
          <a:p>
            <a:pPr algn="l">
              <a:lnSpc>
                <a:spcPts val="2470"/>
              </a:lnSpc>
              <a:spcBef>
                <a:spcPts val="0"/>
              </a:spcBef>
              <a:spcAft>
                <a:spcPts val="0"/>
              </a:spcAft>
              <a:buNone/>
            </a:pPr>
            <a:r>
              <a:rPr lang="en-US" altLang="en-US" sz="1900" b="1" dirty="0">
                <a:solidFill>
                  <a:srgbClr val="C00000"/>
                </a:solidFill>
                <a:latin typeface="Calibri"/>
                <a:ea typeface="맑은 고딕"/>
                <a:cs typeface="Calibri"/>
              </a:rPr>
              <a:t>→  </a:t>
            </a:r>
            <a:r>
              <a:rPr lang="en-US" altLang="en-US" sz="1900" b="1" dirty="0">
                <a:solidFill>
                  <a:srgbClr val="C00000"/>
                </a:solidFill>
                <a:latin typeface="Calibri"/>
                <a:ea typeface="맑은 고딕"/>
                <a:cs typeface="Calibri"/>
              </a:rPr>
              <a:t>Since the pacer keeps track of the time, the runner can achieve his or her goal of finishing the marathon in a particular time more easily.</a:t>
            </a:r>
            <a:endParaRPr lang="ko-KR" sz="1900"/>
          </a:p>
        </p:txBody>
      </p:sp>
      <p:sp>
        <p:nvSpPr>
          <p:cNvPr id="11" name="item_card_2"/>
          <p:cNvSpPr/>
          <p:nvPr/>
        </p:nvSpPr>
        <p:spPr>
          <a:xfrm>
            <a:off x="457200" y="3318256"/>
            <a:ext cx="11274552" cy="1618107"/>
          </a:xfrm>
          <a:prstGeom prst="roundRect">
            <a:avLst>
              <a:gd name="adj" fmla="val 6000"/>
            </a:avLst>
          </a:prstGeom>
          <a:solidFill>
            <a:srgbClr val="F3F5F9"/>
          </a:solidFill>
          <a:ln w="12700">
            <a:solidFill>
              <a:srgbClr val="D9DFEA"/>
            </a:solidFill>
          </a:ln>
        </p:spPr>
        <p:txBody>
          <a:bodyPr rtlCol="0" anchor="ctr"/>
          <a:lstStyle/>
          <a:p>
            <a:pPr algn="ctr"/>
          </a:p>
        </p:txBody>
      </p:sp>
      <p:sp>
        <p:nvSpPr>
          <p:cNvPr id="12" name="kor_2"/>
          <p:cNvSpPr txBox="1"/>
          <p:nvPr/>
        </p:nvSpPr>
        <p:spPr>
          <a:xfrm>
            <a:off x="457200" y="3427984"/>
            <a:ext cx="11274552" cy="649478"/>
          </a:xfrm>
          <a:prstGeom prst="rect">
            <a:avLst/>
          </a:prstGeom>
          <a:noFill/>
        </p:spPr>
        <p:txBody>
          <a:bodyPr wrap="square" lIns="228600" tIns="54864" rIns="228600" bIns="54864" anchor="t" rtlCol="0">
            <a:noAutofit/>
          </a:bodyPr>
          <a:lstStyle/>
          <a:p>
            <a:pPr algn="l">
              <a:lnSpc>
                <a:spcPts val="2125"/>
              </a:lnSpc>
              <a:spcBef>
                <a:spcPts val="0"/>
              </a:spcBef>
              <a:spcAft>
                <a:spcPts val="0"/>
              </a:spcAft>
              <a:buNone/>
            </a:pPr>
            <a:r>
              <a:rPr lang="en-US" altLang="en-US" sz="1700" b="1" dirty="0">
                <a:solidFill>
                  <a:srgbClr val="1E2A5A"/>
                </a:solidFill>
                <a:latin typeface="Calibri"/>
                <a:ea typeface="맑은 고딕"/>
                <a:cs typeface="Calibri"/>
              </a:rPr>
              <a:t>6.  </a:t>
            </a:r>
            <a:r>
              <a:rPr lang="ko-KR" altLang="en-US" sz="1700" b="1" dirty="0">
                <a:solidFill>
                  <a:srgbClr val="1F2328"/>
                </a:solidFill>
                <a:latin typeface="맑은 고딕"/>
                <a:ea typeface="맑은 고딕"/>
                <a:cs typeface="맑은 고딕"/>
              </a:rPr>
              <a:t>요컨대, 페이서들은 달리기는 하지만 우승을 하기 위해 달리는 것은 아니다. 그들은 다른 이들을 위해 달린다.</a:t>
            </a:r>
            <a:endParaRPr lang="ko-KR" sz="1700"/>
          </a:p>
        </p:txBody>
      </p:sp>
      <p:sp>
        <p:nvSpPr>
          <p:cNvPr id="13" name="ex_2"/>
          <p:cNvSpPr txBox="1"/>
          <p:nvPr/>
        </p:nvSpPr>
        <p:spPr>
          <a:xfrm>
            <a:off x="457200" y="4022598"/>
            <a:ext cx="11274552" cy="435483"/>
          </a:xfrm>
          <a:prstGeom prst="rect">
            <a:avLst/>
          </a:prstGeom>
          <a:noFill/>
        </p:spPr>
        <p:txBody>
          <a:bodyPr wrap="square" lIns="228600" tIns="54864" rIns="228600" bIns="54864" anchor="t" rtlCol="0">
            <a:noAutofit/>
          </a:bodyPr>
          <a:lstStyle/>
          <a:p>
            <a:pPr algn="l">
              <a:lnSpc>
                <a:spcPts val="2565"/>
              </a:lnSpc>
              <a:spcBef>
                <a:spcPts val="0"/>
              </a:spcBef>
              <a:spcAft>
                <a:spcPts val="0"/>
              </a:spcAft>
              <a:buNone/>
            </a:pPr>
            <a:r>
              <a:rPr lang="en-US" altLang="en-US" sz="1900" b="0" dirty="0">
                <a:solidFill>
                  <a:srgbClr val="1F2328"/>
                </a:solidFill>
                <a:latin typeface="Calibri"/>
                <a:ea typeface="맑은 고딕"/>
                <a:cs typeface="Calibri"/>
              </a:rPr>
              <a:t>In short,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run</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pacers</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 but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don’t run</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they</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to win</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They</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for others</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run</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a:t>
            </a:r>
            <a:endParaRPr lang="ko-KR" sz="1900"/>
          </a:p>
        </p:txBody>
      </p:sp>
      <p:sp>
        <p:nvSpPr>
          <p:cNvPr id="14" name="rv_ans_2"/>
          <p:cNvSpPr txBox="1"/>
          <p:nvPr/>
        </p:nvSpPr>
        <p:spPr>
          <a:xfrm>
            <a:off x="594360" y="4494657"/>
            <a:ext cx="11000232" cy="423418"/>
          </a:xfrm>
          <a:prstGeom prst="rect">
            <a:avLst/>
          </a:prstGeom>
          <a:solidFill>
            <a:srgbClr val="FFF3C4"/>
          </a:solidFill>
        </p:spPr>
        <p:txBody>
          <a:bodyPr wrap="square" lIns="137160" tIns="54864" rIns="137160" bIns="54864" anchor="t" rtlCol="0">
            <a:noAutofit/>
          </a:bodyPr>
          <a:lstStyle/>
          <a:p>
            <a:pPr algn="l">
              <a:lnSpc>
                <a:spcPts val="2470"/>
              </a:lnSpc>
              <a:spcBef>
                <a:spcPts val="0"/>
              </a:spcBef>
              <a:spcAft>
                <a:spcPts val="0"/>
              </a:spcAft>
              <a:buNone/>
            </a:pPr>
            <a:r>
              <a:rPr lang="en-US" altLang="en-US" sz="1900" b="1" dirty="0">
                <a:solidFill>
                  <a:srgbClr val="C00000"/>
                </a:solidFill>
                <a:latin typeface="Calibri"/>
                <a:ea typeface="맑은 고딕"/>
                <a:cs typeface="Calibri"/>
              </a:rPr>
              <a:t>→  </a:t>
            </a:r>
            <a:r>
              <a:rPr lang="en-US" altLang="en-US" sz="1900" b="1" dirty="0">
                <a:solidFill>
                  <a:srgbClr val="C00000"/>
                </a:solidFill>
                <a:latin typeface="Calibri"/>
                <a:ea typeface="맑은 고딕"/>
                <a:cs typeface="Calibri"/>
              </a:rPr>
              <a:t>In short, pacers run but they don’t run to win. They run for others.</a:t>
            </a:r>
            <a:endParaRPr lang="ko-KR" sz="19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25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2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4" grpId="0" animBg="1"/>
    </p:bldLst>
  </p:timing>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8000"/>
            </a:avLst>
          </a:prstGeom>
          <a:solidFill>
            <a:srgbClr val="1E2A5A"/>
          </a:solidFill>
          <a:ln>
            <a:noFill/>
          </a:ln>
        </p:spPr>
        <p:txBody>
          <a:bodyPr wrap="square" lIns="45720" tIns="18288" rIns="45720" bIns="18288" anchor="ctr" rtlCol="0">
            <a:noAutofit/>
          </a:bodyPr>
          <a:lstStyle/>
          <a:p>
            <a:pPr algn="ctr">
              <a:lnSpc>
                <a:spcPts val="2000"/>
              </a:lnSpc>
              <a:spcBef>
                <a:spcPts val="0"/>
              </a:spcBef>
              <a:spcAft>
                <a:spcPts val="0"/>
              </a:spcAft>
              <a:buNone/>
            </a:pPr>
            <a:r>
              <a:rPr lang="en-US" altLang="en-US" sz="1700" b="1" dirty="0">
                <a:solidFill>
                  <a:srgbClr val="FFFFFF"/>
                </a:solidFill>
                <a:latin typeface="Calibri"/>
                <a:ea typeface="맑은 고딕"/>
                <a:cs typeface="Calibri"/>
              </a:rPr>
              <a:t>L5-3</a:t>
            </a:r>
            <a:endParaRPr lang="ko-KR" sz="1700"/>
          </a:p>
        </p:txBody>
      </p:sp>
      <p:sp>
        <p:nvSpPr>
          <p:cNvPr id="3" name="hdr_chip"/>
          <p:cNvSpPr/>
          <p:nvPr/>
        </p:nvSpPr>
        <p:spPr>
          <a:xfrm>
            <a:off x="1755648" y="274320"/>
            <a:ext cx="1371600" cy="493776"/>
          </a:xfrm>
          <a:prstGeom prst="roundRect">
            <a:avLst>
              <a:gd name="adj" fmla="val 8000"/>
            </a:avLst>
          </a:prstGeom>
          <a:solidFill>
            <a:srgbClr val="E6EAF4"/>
          </a:solidFill>
          <a:ln>
            <a:noFill/>
          </a:ln>
        </p:spPr>
        <p:txBody>
          <a:bodyPr wrap="square" lIns="27432" tIns="18288" rIns="27432" bIns="18288" anchor="ctr" rtlCol="0">
            <a:noAutofit/>
          </a:bodyPr>
          <a:lstStyle/>
          <a:p>
            <a:pPr algn="ctr">
              <a:lnSpc>
                <a:spcPts val="1700"/>
              </a:lnSpc>
              <a:spcBef>
                <a:spcPts val="0"/>
              </a:spcBef>
              <a:spcAft>
                <a:spcPts val="0"/>
              </a:spcAft>
              <a:buNone/>
            </a:pPr>
            <a:r>
              <a:rPr lang="ko-KR" altLang="en-US" sz="1400" b="1" dirty="0">
                <a:solidFill>
                  <a:srgbClr val="1E2A5A"/>
                </a:solidFill>
                <a:latin typeface="맑은 고딕"/>
                <a:ea typeface="맑은 고딕"/>
                <a:cs typeface="맑은 고딕"/>
              </a:rPr>
              <a:t>PART 6 · 6</a:t>
            </a:r>
            <a:endParaRPr lang="ko-KR" sz="1400"/>
          </a:p>
        </p:txBody>
      </p:sp>
      <p:sp>
        <p:nvSpPr>
          <p:cNvPr id="4" name="hdr_q"/>
          <p:cNvSpPr txBox="1"/>
          <p:nvPr/>
        </p:nvSpPr>
        <p:spPr>
          <a:xfrm>
            <a:off x="3246120" y="246888"/>
            <a:ext cx="8485632" cy="548640"/>
          </a:xfrm>
          <a:prstGeom prst="rect">
            <a:avLst/>
          </a:prstGeom>
          <a:noFill/>
        </p:spPr>
        <p:txBody>
          <a:bodyPr wrap="square" lIns="109728" tIns="54864" rIns="109728" bIns="54864" anchor="ctr" rtlCol="0">
            <a:noAutofit/>
          </a:bodyPr>
          <a:lstStyle/>
          <a:p>
            <a:pPr algn="l">
              <a:lnSpc>
                <a:spcPts val="2400"/>
              </a:lnSpc>
              <a:spcBef>
                <a:spcPts val="0"/>
              </a:spcBef>
              <a:spcAft>
                <a:spcPts val="0"/>
              </a:spcAft>
              <a:buNone/>
            </a:pPr>
            <a:r>
              <a:rPr lang="ko-KR" altLang="en-US" sz="2000" b="1" dirty="0">
                <a:solidFill>
                  <a:srgbClr val="1F2328"/>
                </a:solidFill>
                <a:latin typeface="맑은 고딕"/>
                <a:ea typeface="맑은 고딕"/>
                <a:cs typeface="맑은 고딕"/>
              </a:rPr>
              <a:t>우리말에 맞게 (  ) 안의 말을 바르게 배열하시오.</a:t>
            </a:r>
            <a:endParaRPr lang="ko-KR" sz="2000"/>
          </a:p>
        </p:txBody>
      </p:sp>
      <p:sp>
        <p:nvSpPr>
          <p:cNvPr id="5" name="ftr_exam"/>
          <p:cNvSpPr txBox="1"/>
          <p:nvPr/>
        </p:nvSpPr>
        <p:spPr>
          <a:xfrm>
            <a:off x="457200" y="6519672"/>
            <a:ext cx="5669280" cy="256032"/>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5</a:t>
            </a:r>
            <a:endParaRPr lang="ko-KR" sz="1000"/>
          </a:p>
        </p:txBody>
      </p:sp>
      <p:sp>
        <p:nvSpPr>
          <p:cNvPr id="6" name="ftr_hint"/>
          <p:cNvSpPr txBox="1"/>
          <p:nvPr/>
        </p:nvSpPr>
        <p:spPr>
          <a:xfrm>
            <a:off x="5971032" y="6519672"/>
            <a:ext cx="5760720" cy="256032"/>
          </a:xfrm>
          <a:prstGeom prst="rect">
            <a:avLst/>
          </a:prstGeom>
          <a:noFill/>
        </p:spPr>
        <p:txBody>
          <a:bodyPr wrap="square" lIns="0" tIns="0" rIns="0" bIns="0" anchor="t" rtlCol="0">
            <a:noAutofit/>
          </a:bodyPr>
          <a:lstStyle/>
          <a:p>
            <a:pPr algn="r">
              <a:lnSpc>
                <a:spcPts val="1200"/>
              </a:lnSpc>
              <a:spcBef>
                <a:spcPts val="0"/>
              </a:spcBef>
              <a:spcAft>
                <a:spcPts val="0"/>
              </a:spcAft>
              <a:buNone/>
            </a:pPr>
            <a:r>
              <a:rPr lang="ko-KR" altLang="en-US" sz="1000" b="0" dirty="0">
                <a:solidFill>
                  <a:srgbClr val="7A808C"/>
                </a:solidFill>
                <a:latin typeface="맑은 고딕"/>
                <a:ea typeface="맑은 고딕"/>
                <a:cs typeface="맑은 고딕"/>
              </a:rPr>
              <a:t>클릭 ① 완성 문장(정답) 공개</a:t>
            </a:r>
            <a:endParaRPr lang="ko-KR" sz="1000"/>
          </a:p>
        </p:txBody>
      </p:sp>
      <p:sp>
        <p:nvSpPr>
          <p:cNvPr id="7" name="item_card_1"/>
          <p:cNvSpPr/>
          <p:nvPr/>
        </p:nvSpPr>
        <p:spPr>
          <a:xfrm>
            <a:off x="457200" y="950976"/>
            <a:ext cx="11274552" cy="2257552"/>
          </a:xfrm>
          <a:prstGeom prst="roundRect">
            <a:avLst>
              <a:gd name="adj" fmla="val 6000"/>
            </a:avLst>
          </a:prstGeom>
          <a:solidFill>
            <a:srgbClr val="F3F5F9"/>
          </a:solidFill>
          <a:ln w="12700">
            <a:solidFill>
              <a:srgbClr val="D9DFEA"/>
            </a:solidFill>
          </a:ln>
        </p:spPr>
        <p:txBody>
          <a:bodyPr rtlCol="0" anchor="ctr"/>
          <a:lstStyle/>
          <a:p>
            <a:pPr algn="ctr"/>
          </a:p>
        </p:txBody>
      </p:sp>
      <p:sp>
        <p:nvSpPr>
          <p:cNvPr id="8" name="kor_1"/>
          <p:cNvSpPr txBox="1"/>
          <p:nvPr/>
        </p:nvSpPr>
        <p:spPr>
          <a:xfrm>
            <a:off x="457200" y="1060704"/>
            <a:ext cx="11274552" cy="649478"/>
          </a:xfrm>
          <a:prstGeom prst="rect">
            <a:avLst/>
          </a:prstGeom>
          <a:noFill/>
        </p:spPr>
        <p:txBody>
          <a:bodyPr wrap="square" lIns="228600" tIns="54864" rIns="228600" bIns="54864" anchor="t" rtlCol="0">
            <a:noAutofit/>
          </a:bodyPr>
          <a:lstStyle/>
          <a:p>
            <a:pPr algn="l">
              <a:lnSpc>
                <a:spcPts val="2125"/>
              </a:lnSpc>
              <a:spcBef>
                <a:spcPts val="0"/>
              </a:spcBef>
              <a:spcAft>
                <a:spcPts val="0"/>
              </a:spcAft>
              <a:buNone/>
            </a:pPr>
            <a:r>
              <a:rPr lang="en-US" altLang="en-US" sz="1700" b="1" dirty="0">
                <a:solidFill>
                  <a:srgbClr val="1E2A5A"/>
                </a:solidFill>
                <a:latin typeface="Calibri"/>
                <a:ea typeface="맑은 고딕"/>
                <a:cs typeface="Calibri"/>
              </a:rPr>
              <a:t>1.  </a:t>
            </a:r>
            <a:r>
              <a:rPr lang="ko-KR" altLang="en-US" sz="1700" b="1" dirty="0">
                <a:solidFill>
                  <a:srgbClr val="1F2328"/>
                </a:solidFill>
                <a:latin typeface="맑은 고딕"/>
                <a:ea typeface="맑은 고딕"/>
                <a:cs typeface="맑은 고딕"/>
              </a:rPr>
              <a:t>여러분은 대부분의 자동차 경주에서 자동차와 레이서만 볼지도 모르겠지만, 그 레이서 뒤에는 팀이 있다. 이 팀은 피트 크루라고 불린다.</a:t>
            </a:r>
            <a:endParaRPr lang="ko-KR" sz="1700"/>
          </a:p>
        </p:txBody>
      </p:sp>
      <p:sp>
        <p:nvSpPr>
          <p:cNvPr id="9" name="ex_1"/>
          <p:cNvSpPr txBox="1"/>
          <p:nvPr/>
        </p:nvSpPr>
        <p:spPr>
          <a:xfrm>
            <a:off x="457200" y="1655318"/>
            <a:ext cx="11274552" cy="761238"/>
          </a:xfrm>
          <a:prstGeom prst="rect">
            <a:avLst/>
          </a:prstGeom>
          <a:noFill/>
        </p:spPr>
        <p:txBody>
          <a:bodyPr wrap="square" lIns="228600" tIns="54864" rIns="228600" bIns="54864" anchor="t" rtlCol="0">
            <a:noAutofit/>
          </a:bodyPr>
          <a:lstStyle/>
          <a:p>
            <a:pPr algn="l">
              <a:lnSpc>
                <a:spcPts val="2565"/>
              </a:lnSpc>
              <a:spcBef>
                <a:spcPts val="0"/>
              </a:spcBef>
              <a:spcAft>
                <a:spcPts val="0"/>
              </a:spcAft>
              <a:buNone/>
            </a:pP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You</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during most car races</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the car and the driver</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may only see</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 but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a team</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behind the driver</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there is</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This team</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a pit crew</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is called</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a:t>
            </a:r>
            <a:endParaRPr lang="ko-KR" sz="1900"/>
          </a:p>
        </p:txBody>
      </p:sp>
      <p:sp>
        <p:nvSpPr>
          <p:cNvPr id="10" name="rv_ans_1"/>
          <p:cNvSpPr txBox="1"/>
          <p:nvPr/>
        </p:nvSpPr>
        <p:spPr>
          <a:xfrm>
            <a:off x="594360" y="2453132"/>
            <a:ext cx="11000232" cy="737108"/>
          </a:xfrm>
          <a:prstGeom prst="rect">
            <a:avLst/>
          </a:prstGeom>
          <a:solidFill>
            <a:srgbClr val="FFF3C4"/>
          </a:solidFill>
        </p:spPr>
        <p:txBody>
          <a:bodyPr wrap="square" lIns="137160" tIns="54864" rIns="137160" bIns="54864" anchor="t" rtlCol="0">
            <a:noAutofit/>
          </a:bodyPr>
          <a:lstStyle/>
          <a:p>
            <a:pPr algn="l">
              <a:lnSpc>
                <a:spcPts val="2470"/>
              </a:lnSpc>
              <a:spcBef>
                <a:spcPts val="0"/>
              </a:spcBef>
              <a:spcAft>
                <a:spcPts val="0"/>
              </a:spcAft>
              <a:buNone/>
            </a:pPr>
            <a:r>
              <a:rPr lang="en-US" altLang="en-US" sz="1900" b="1" dirty="0">
                <a:solidFill>
                  <a:srgbClr val="C00000"/>
                </a:solidFill>
                <a:latin typeface="Calibri"/>
                <a:ea typeface="맑은 고딕"/>
                <a:cs typeface="Calibri"/>
              </a:rPr>
              <a:t>→  </a:t>
            </a:r>
            <a:r>
              <a:rPr lang="en-US" altLang="en-US" sz="1900" b="1" dirty="0">
                <a:solidFill>
                  <a:srgbClr val="C00000"/>
                </a:solidFill>
                <a:latin typeface="Calibri"/>
                <a:ea typeface="맑은 고딕"/>
                <a:cs typeface="Calibri"/>
              </a:rPr>
              <a:t>You may only see the car and the driver during most car races, but there is a team behind the driver. This team is called a pit crew.</a:t>
            </a:r>
            <a:endParaRPr lang="ko-KR" sz="1900"/>
          </a:p>
        </p:txBody>
      </p:sp>
      <p:sp>
        <p:nvSpPr>
          <p:cNvPr id="11" name="item_card_2"/>
          <p:cNvSpPr/>
          <p:nvPr/>
        </p:nvSpPr>
        <p:spPr>
          <a:xfrm>
            <a:off x="457200" y="3318256"/>
            <a:ext cx="11274552" cy="1987677"/>
          </a:xfrm>
          <a:prstGeom prst="roundRect">
            <a:avLst>
              <a:gd name="adj" fmla="val 6000"/>
            </a:avLst>
          </a:prstGeom>
          <a:solidFill>
            <a:srgbClr val="F3F5F9"/>
          </a:solidFill>
          <a:ln w="12700">
            <a:solidFill>
              <a:srgbClr val="D9DFEA"/>
            </a:solidFill>
          </a:ln>
        </p:spPr>
        <p:txBody>
          <a:bodyPr rtlCol="0" anchor="ctr"/>
          <a:lstStyle/>
          <a:p>
            <a:pPr algn="ctr"/>
          </a:p>
        </p:txBody>
      </p:sp>
      <p:sp>
        <p:nvSpPr>
          <p:cNvPr id="12" name="kor_2"/>
          <p:cNvSpPr txBox="1"/>
          <p:nvPr/>
        </p:nvSpPr>
        <p:spPr>
          <a:xfrm>
            <a:off x="457200" y="3427984"/>
            <a:ext cx="11274552" cy="379603"/>
          </a:xfrm>
          <a:prstGeom prst="rect">
            <a:avLst/>
          </a:prstGeom>
          <a:noFill/>
        </p:spPr>
        <p:txBody>
          <a:bodyPr wrap="square" lIns="228600" tIns="54864" rIns="228600" bIns="54864" anchor="t" rtlCol="0">
            <a:noAutofit/>
          </a:bodyPr>
          <a:lstStyle/>
          <a:p>
            <a:pPr algn="l">
              <a:lnSpc>
                <a:spcPts val="2125"/>
              </a:lnSpc>
              <a:spcBef>
                <a:spcPts val="0"/>
              </a:spcBef>
              <a:spcAft>
                <a:spcPts val="0"/>
              </a:spcAft>
              <a:buNone/>
            </a:pPr>
            <a:r>
              <a:rPr lang="en-US" altLang="en-US" sz="1700" b="1" dirty="0">
                <a:solidFill>
                  <a:srgbClr val="1E2A5A"/>
                </a:solidFill>
                <a:latin typeface="Calibri"/>
                <a:ea typeface="맑은 고딕"/>
                <a:cs typeface="Calibri"/>
              </a:rPr>
              <a:t>2.  </a:t>
            </a:r>
            <a:r>
              <a:rPr lang="ko-KR" altLang="en-US" sz="1700" b="1" dirty="0">
                <a:solidFill>
                  <a:srgbClr val="1F2328"/>
                </a:solidFill>
                <a:latin typeface="맑은 고딕"/>
                <a:ea typeface="맑은 고딕"/>
                <a:cs typeface="맑은 고딕"/>
              </a:rPr>
              <a:t>피트는 경주 트랙의 옆에 있는 공간으로, 레이서들이 경주 도중에 그곳에 여러 번 정지한다.</a:t>
            </a:r>
            <a:endParaRPr lang="ko-KR" sz="1700"/>
          </a:p>
        </p:txBody>
      </p:sp>
      <p:sp>
        <p:nvSpPr>
          <p:cNvPr id="13" name="ex_2"/>
          <p:cNvSpPr txBox="1"/>
          <p:nvPr/>
        </p:nvSpPr>
        <p:spPr>
          <a:xfrm>
            <a:off x="457200" y="3752723"/>
            <a:ext cx="11274552" cy="761238"/>
          </a:xfrm>
          <a:prstGeom prst="rect">
            <a:avLst/>
          </a:prstGeom>
          <a:noFill/>
        </p:spPr>
        <p:txBody>
          <a:bodyPr wrap="square" lIns="228600" tIns="54864" rIns="228600" bIns="54864" anchor="t" rtlCol="0">
            <a:noAutofit/>
          </a:bodyPr>
          <a:lstStyle/>
          <a:p>
            <a:pPr algn="l">
              <a:lnSpc>
                <a:spcPts val="2565"/>
              </a:lnSpc>
              <a:spcBef>
                <a:spcPts val="0"/>
              </a:spcBef>
              <a:spcAft>
                <a:spcPts val="0"/>
              </a:spcAft>
              <a:buNone/>
            </a:pP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the race track</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on the side of</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A pit</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is</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a place</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 and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several times</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there</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drivers</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during a race</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stop</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a:t>
            </a:r>
            <a:endParaRPr lang="ko-KR" sz="1900"/>
          </a:p>
        </p:txBody>
      </p:sp>
      <p:sp>
        <p:nvSpPr>
          <p:cNvPr id="14" name="rv_ans_2"/>
          <p:cNvSpPr txBox="1"/>
          <p:nvPr/>
        </p:nvSpPr>
        <p:spPr>
          <a:xfrm>
            <a:off x="594360" y="4550537"/>
            <a:ext cx="11000232" cy="737108"/>
          </a:xfrm>
          <a:prstGeom prst="rect">
            <a:avLst/>
          </a:prstGeom>
          <a:solidFill>
            <a:srgbClr val="FFF3C4"/>
          </a:solidFill>
        </p:spPr>
        <p:txBody>
          <a:bodyPr wrap="square" lIns="137160" tIns="54864" rIns="137160" bIns="54864" anchor="t" rtlCol="0">
            <a:noAutofit/>
          </a:bodyPr>
          <a:lstStyle/>
          <a:p>
            <a:pPr algn="l">
              <a:lnSpc>
                <a:spcPts val="2470"/>
              </a:lnSpc>
              <a:spcBef>
                <a:spcPts val="0"/>
              </a:spcBef>
              <a:spcAft>
                <a:spcPts val="0"/>
              </a:spcAft>
              <a:buNone/>
            </a:pPr>
            <a:r>
              <a:rPr lang="en-US" altLang="en-US" sz="1900" b="1" dirty="0">
                <a:solidFill>
                  <a:srgbClr val="C00000"/>
                </a:solidFill>
                <a:latin typeface="Calibri"/>
                <a:ea typeface="맑은 고딕"/>
                <a:cs typeface="Calibri"/>
              </a:rPr>
              <a:t>→  </a:t>
            </a:r>
            <a:r>
              <a:rPr lang="en-US" altLang="en-US" sz="1900" b="1" dirty="0">
                <a:solidFill>
                  <a:srgbClr val="C00000"/>
                </a:solidFill>
                <a:latin typeface="Calibri"/>
                <a:ea typeface="맑은 고딕"/>
                <a:cs typeface="Calibri"/>
              </a:rPr>
              <a:t>A pit is a place on the side of the race track, and drivers stop there several times during a race.</a:t>
            </a:r>
            <a:endParaRPr lang="ko-KR" sz="19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25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2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4" grpId="0" animBg="1"/>
    </p:bldLst>
  </p:timing>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8000"/>
            </a:avLst>
          </a:prstGeom>
          <a:solidFill>
            <a:srgbClr val="1E2A5A"/>
          </a:solidFill>
          <a:ln>
            <a:noFill/>
          </a:ln>
        </p:spPr>
        <p:txBody>
          <a:bodyPr wrap="square" lIns="45720" tIns="18288" rIns="45720" bIns="18288" anchor="ctr" rtlCol="0">
            <a:noAutofit/>
          </a:bodyPr>
          <a:lstStyle/>
          <a:p>
            <a:pPr algn="ctr">
              <a:lnSpc>
                <a:spcPts val="2000"/>
              </a:lnSpc>
              <a:spcBef>
                <a:spcPts val="0"/>
              </a:spcBef>
              <a:spcAft>
                <a:spcPts val="0"/>
              </a:spcAft>
              <a:buNone/>
            </a:pPr>
            <a:r>
              <a:rPr lang="en-US" altLang="en-US" sz="1700" b="1" dirty="0">
                <a:solidFill>
                  <a:srgbClr val="FFFFFF"/>
                </a:solidFill>
                <a:latin typeface="Calibri"/>
                <a:ea typeface="맑은 고딕"/>
                <a:cs typeface="Calibri"/>
              </a:rPr>
              <a:t>L5-3</a:t>
            </a:r>
            <a:endParaRPr lang="ko-KR" sz="1700"/>
          </a:p>
        </p:txBody>
      </p:sp>
      <p:sp>
        <p:nvSpPr>
          <p:cNvPr id="3" name="hdr_chip"/>
          <p:cNvSpPr/>
          <p:nvPr/>
        </p:nvSpPr>
        <p:spPr>
          <a:xfrm>
            <a:off x="1755648" y="274320"/>
            <a:ext cx="1371600" cy="493776"/>
          </a:xfrm>
          <a:prstGeom prst="roundRect">
            <a:avLst>
              <a:gd name="adj" fmla="val 8000"/>
            </a:avLst>
          </a:prstGeom>
          <a:solidFill>
            <a:srgbClr val="E6EAF4"/>
          </a:solidFill>
          <a:ln>
            <a:noFill/>
          </a:ln>
        </p:spPr>
        <p:txBody>
          <a:bodyPr wrap="square" lIns="27432" tIns="18288" rIns="27432" bIns="18288" anchor="ctr" rtlCol="0">
            <a:noAutofit/>
          </a:bodyPr>
          <a:lstStyle/>
          <a:p>
            <a:pPr algn="ctr">
              <a:lnSpc>
                <a:spcPts val="1700"/>
              </a:lnSpc>
              <a:spcBef>
                <a:spcPts val="0"/>
              </a:spcBef>
              <a:spcAft>
                <a:spcPts val="0"/>
              </a:spcAft>
              <a:buNone/>
            </a:pPr>
            <a:r>
              <a:rPr lang="ko-KR" altLang="en-US" sz="1400" b="1" dirty="0">
                <a:solidFill>
                  <a:srgbClr val="1E2A5A"/>
                </a:solidFill>
                <a:latin typeface="맑은 고딕"/>
                <a:ea typeface="맑은 고딕"/>
                <a:cs typeface="맑은 고딕"/>
              </a:rPr>
              <a:t>PART 6 · 7</a:t>
            </a:r>
            <a:endParaRPr lang="ko-KR" sz="1400"/>
          </a:p>
        </p:txBody>
      </p:sp>
      <p:sp>
        <p:nvSpPr>
          <p:cNvPr id="4" name="hdr_q"/>
          <p:cNvSpPr txBox="1"/>
          <p:nvPr/>
        </p:nvSpPr>
        <p:spPr>
          <a:xfrm>
            <a:off x="3246120" y="246888"/>
            <a:ext cx="8485632" cy="548640"/>
          </a:xfrm>
          <a:prstGeom prst="rect">
            <a:avLst/>
          </a:prstGeom>
          <a:noFill/>
        </p:spPr>
        <p:txBody>
          <a:bodyPr wrap="square" lIns="109728" tIns="54864" rIns="109728" bIns="54864" anchor="ctr" rtlCol="0">
            <a:noAutofit/>
          </a:bodyPr>
          <a:lstStyle/>
          <a:p>
            <a:pPr algn="l">
              <a:lnSpc>
                <a:spcPts val="2400"/>
              </a:lnSpc>
              <a:spcBef>
                <a:spcPts val="0"/>
              </a:spcBef>
              <a:spcAft>
                <a:spcPts val="0"/>
              </a:spcAft>
              <a:buNone/>
            </a:pPr>
            <a:r>
              <a:rPr lang="ko-KR" altLang="en-US" sz="2000" b="1" dirty="0">
                <a:solidFill>
                  <a:srgbClr val="1F2328"/>
                </a:solidFill>
                <a:latin typeface="맑은 고딕"/>
                <a:ea typeface="맑은 고딕"/>
                <a:cs typeface="맑은 고딕"/>
              </a:rPr>
              <a:t>우리말에 맞게 (  ) 안의 말을 바르게 배열하시오.</a:t>
            </a:r>
            <a:endParaRPr lang="ko-KR" sz="2000"/>
          </a:p>
        </p:txBody>
      </p:sp>
      <p:sp>
        <p:nvSpPr>
          <p:cNvPr id="5" name="ftr_exam"/>
          <p:cNvSpPr txBox="1"/>
          <p:nvPr/>
        </p:nvSpPr>
        <p:spPr>
          <a:xfrm>
            <a:off x="457200" y="6519672"/>
            <a:ext cx="5669280" cy="256032"/>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5</a:t>
            </a:r>
            <a:endParaRPr lang="ko-KR" sz="1000"/>
          </a:p>
        </p:txBody>
      </p:sp>
      <p:sp>
        <p:nvSpPr>
          <p:cNvPr id="6" name="ftr_hint"/>
          <p:cNvSpPr txBox="1"/>
          <p:nvPr/>
        </p:nvSpPr>
        <p:spPr>
          <a:xfrm>
            <a:off x="5971032" y="6519672"/>
            <a:ext cx="5760720" cy="256032"/>
          </a:xfrm>
          <a:prstGeom prst="rect">
            <a:avLst/>
          </a:prstGeom>
          <a:noFill/>
        </p:spPr>
        <p:txBody>
          <a:bodyPr wrap="square" lIns="0" tIns="0" rIns="0" bIns="0" anchor="t" rtlCol="0">
            <a:noAutofit/>
          </a:bodyPr>
          <a:lstStyle/>
          <a:p>
            <a:pPr algn="r">
              <a:lnSpc>
                <a:spcPts val="1200"/>
              </a:lnSpc>
              <a:spcBef>
                <a:spcPts val="0"/>
              </a:spcBef>
              <a:spcAft>
                <a:spcPts val="0"/>
              </a:spcAft>
              <a:buNone/>
            </a:pPr>
            <a:r>
              <a:rPr lang="ko-KR" altLang="en-US" sz="1000" b="0" dirty="0">
                <a:solidFill>
                  <a:srgbClr val="7A808C"/>
                </a:solidFill>
                <a:latin typeface="맑은 고딕"/>
                <a:ea typeface="맑은 고딕"/>
                <a:cs typeface="맑은 고딕"/>
              </a:rPr>
              <a:t>클릭 ① 완성 문장(정답) 공개</a:t>
            </a:r>
            <a:endParaRPr lang="ko-KR" sz="1000"/>
          </a:p>
        </p:txBody>
      </p:sp>
      <p:sp>
        <p:nvSpPr>
          <p:cNvPr id="7" name="item_card_1"/>
          <p:cNvSpPr/>
          <p:nvPr/>
        </p:nvSpPr>
        <p:spPr>
          <a:xfrm>
            <a:off x="457200" y="950976"/>
            <a:ext cx="11274552" cy="1348232"/>
          </a:xfrm>
          <a:prstGeom prst="roundRect">
            <a:avLst>
              <a:gd name="adj" fmla="val 6000"/>
            </a:avLst>
          </a:prstGeom>
          <a:solidFill>
            <a:srgbClr val="F3F5F9"/>
          </a:solidFill>
          <a:ln w="12700">
            <a:solidFill>
              <a:srgbClr val="D9DFEA"/>
            </a:solidFill>
          </a:ln>
        </p:spPr>
        <p:txBody>
          <a:bodyPr rtlCol="0" anchor="ctr"/>
          <a:lstStyle/>
          <a:p>
            <a:pPr algn="ctr"/>
          </a:p>
        </p:txBody>
      </p:sp>
      <p:sp>
        <p:nvSpPr>
          <p:cNvPr id="8" name="kor_1"/>
          <p:cNvSpPr txBox="1"/>
          <p:nvPr/>
        </p:nvSpPr>
        <p:spPr>
          <a:xfrm>
            <a:off x="457200" y="1060704"/>
            <a:ext cx="11274552" cy="379603"/>
          </a:xfrm>
          <a:prstGeom prst="rect">
            <a:avLst/>
          </a:prstGeom>
          <a:noFill/>
        </p:spPr>
        <p:txBody>
          <a:bodyPr wrap="square" lIns="228600" tIns="54864" rIns="228600" bIns="54864" anchor="t" rtlCol="0">
            <a:noAutofit/>
          </a:bodyPr>
          <a:lstStyle/>
          <a:p>
            <a:pPr algn="l">
              <a:lnSpc>
                <a:spcPts val="2125"/>
              </a:lnSpc>
              <a:spcBef>
                <a:spcPts val="0"/>
              </a:spcBef>
              <a:spcAft>
                <a:spcPts val="0"/>
              </a:spcAft>
              <a:buNone/>
            </a:pPr>
            <a:r>
              <a:rPr lang="en-US" altLang="en-US" sz="1700" b="1" dirty="0">
                <a:solidFill>
                  <a:srgbClr val="1E2A5A"/>
                </a:solidFill>
                <a:latin typeface="Calibri"/>
                <a:ea typeface="맑은 고딕"/>
                <a:cs typeface="Calibri"/>
              </a:rPr>
              <a:t>3.  </a:t>
            </a:r>
            <a:r>
              <a:rPr lang="ko-KR" altLang="en-US" sz="1700" b="1" dirty="0">
                <a:solidFill>
                  <a:srgbClr val="1F2328"/>
                </a:solidFill>
                <a:latin typeface="맑은 고딕"/>
                <a:ea typeface="맑은 고딕"/>
                <a:cs typeface="맑은 고딕"/>
              </a:rPr>
              <a:t>피트 크루가 하는 주요 역할은 자동차를 점검하고 타이어를 교체하는 것이다.</a:t>
            </a:r>
            <a:endParaRPr lang="ko-KR" sz="1700"/>
          </a:p>
        </p:txBody>
      </p:sp>
      <p:sp>
        <p:nvSpPr>
          <p:cNvPr id="9" name="ex_1"/>
          <p:cNvSpPr txBox="1"/>
          <p:nvPr/>
        </p:nvSpPr>
        <p:spPr>
          <a:xfrm>
            <a:off x="457200" y="1385443"/>
            <a:ext cx="11274552" cy="435483"/>
          </a:xfrm>
          <a:prstGeom prst="rect">
            <a:avLst/>
          </a:prstGeom>
          <a:noFill/>
        </p:spPr>
        <p:txBody>
          <a:bodyPr wrap="square" lIns="228600" tIns="54864" rIns="228600" bIns="54864" anchor="t" rtlCol="0">
            <a:noAutofit/>
          </a:bodyPr>
          <a:lstStyle/>
          <a:p>
            <a:pPr algn="l">
              <a:lnSpc>
                <a:spcPts val="2565"/>
              </a:lnSpc>
              <a:spcBef>
                <a:spcPts val="0"/>
              </a:spcBef>
              <a:spcAft>
                <a:spcPts val="0"/>
              </a:spcAft>
              <a:buNone/>
            </a:pP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of the pit crew</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The main job</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is</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to check the car</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 and change the tires.</a:t>
            </a:r>
            <a:endParaRPr lang="ko-KR" sz="1900"/>
          </a:p>
        </p:txBody>
      </p:sp>
      <p:sp>
        <p:nvSpPr>
          <p:cNvPr id="10" name="rv_ans_1"/>
          <p:cNvSpPr txBox="1"/>
          <p:nvPr/>
        </p:nvSpPr>
        <p:spPr>
          <a:xfrm>
            <a:off x="594360" y="1857502"/>
            <a:ext cx="11000232" cy="423418"/>
          </a:xfrm>
          <a:prstGeom prst="rect">
            <a:avLst/>
          </a:prstGeom>
          <a:solidFill>
            <a:srgbClr val="FFF3C4"/>
          </a:solidFill>
        </p:spPr>
        <p:txBody>
          <a:bodyPr wrap="square" lIns="137160" tIns="54864" rIns="137160" bIns="54864" anchor="t" rtlCol="0">
            <a:noAutofit/>
          </a:bodyPr>
          <a:lstStyle/>
          <a:p>
            <a:pPr algn="l">
              <a:lnSpc>
                <a:spcPts val="2470"/>
              </a:lnSpc>
              <a:spcBef>
                <a:spcPts val="0"/>
              </a:spcBef>
              <a:spcAft>
                <a:spcPts val="0"/>
              </a:spcAft>
              <a:buNone/>
            </a:pPr>
            <a:r>
              <a:rPr lang="en-US" altLang="en-US" sz="1900" b="1" dirty="0">
                <a:solidFill>
                  <a:srgbClr val="C00000"/>
                </a:solidFill>
                <a:latin typeface="Calibri"/>
                <a:ea typeface="맑은 고딕"/>
                <a:cs typeface="Calibri"/>
              </a:rPr>
              <a:t>→  </a:t>
            </a:r>
            <a:r>
              <a:rPr lang="en-US" altLang="en-US" sz="1900" b="1" dirty="0">
                <a:solidFill>
                  <a:srgbClr val="C00000"/>
                </a:solidFill>
                <a:latin typeface="Calibri"/>
                <a:ea typeface="맑은 고딕"/>
                <a:cs typeface="Calibri"/>
              </a:rPr>
              <a:t>The main job of the pit crew is to check the car and change the tires.</a:t>
            </a:r>
            <a:endParaRPr lang="ko-KR" sz="1900"/>
          </a:p>
        </p:txBody>
      </p:sp>
      <p:sp>
        <p:nvSpPr>
          <p:cNvPr id="11" name="item_card_2"/>
          <p:cNvSpPr/>
          <p:nvPr/>
        </p:nvSpPr>
        <p:spPr>
          <a:xfrm>
            <a:off x="457200" y="2408936"/>
            <a:ext cx="11274552" cy="2257552"/>
          </a:xfrm>
          <a:prstGeom prst="roundRect">
            <a:avLst>
              <a:gd name="adj" fmla="val 6000"/>
            </a:avLst>
          </a:prstGeom>
          <a:solidFill>
            <a:srgbClr val="F3F5F9"/>
          </a:solidFill>
          <a:ln w="12700">
            <a:solidFill>
              <a:srgbClr val="D9DFEA"/>
            </a:solidFill>
          </a:ln>
        </p:spPr>
        <p:txBody>
          <a:bodyPr rtlCol="0" anchor="ctr"/>
          <a:lstStyle/>
          <a:p>
            <a:pPr algn="ctr"/>
          </a:p>
        </p:txBody>
      </p:sp>
      <p:sp>
        <p:nvSpPr>
          <p:cNvPr id="12" name="kor_2"/>
          <p:cNvSpPr txBox="1"/>
          <p:nvPr/>
        </p:nvSpPr>
        <p:spPr>
          <a:xfrm>
            <a:off x="457200" y="2518664"/>
            <a:ext cx="11274552" cy="649478"/>
          </a:xfrm>
          <a:prstGeom prst="rect">
            <a:avLst/>
          </a:prstGeom>
          <a:noFill/>
        </p:spPr>
        <p:txBody>
          <a:bodyPr wrap="square" lIns="228600" tIns="54864" rIns="228600" bIns="54864" anchor="t" rtlCol="0">
            <a:noAutofit/>
          </a:bodyPr>
          <a:lstStyle/>
          <a:p>
            <a:pPr algn="l">
              <a:lnSpc>
                <a:spcPts val="2125"/>
              </a:lnSpc>
              <a:spcBef>
                <a:spcPts val="0"/>
              </a:spcBef>
              <a:spcAft>
                <a:spcPts val="0"/>
              </a:spcAft>
              <a:buNone/>
            </a:pPr>
            <a:r>
              <a:rPr lang="en-US" altLang="en-US" sz="1700" b="1" dirty="0">
                <a:solidFill>
                  <a:srgbClr val="1E2A5A"/>
                </a:solidFill>
                <a:latin typeface="Calibri"/>
                <a:ea typeface="맑은 고딕"/>
                <a:cs typeface="Calibri"/>
              </a:rPr>
              <a:t>4.  </a:t>
            </a:r>
            <a:r>
              <a:rPr lang="ko-KR" altLang="en-US" sz="1700" b="1" dirty="0">
                <a:solidFill>
                  <a:srgbClr val="1F2328"/>
                </a:solidFill>
                <a:latin typeface="맑은 고딕"/>
                <a:ea typeface="맑은 고딕"/>
                <a:cs typeface="맑은 고딕"/>
              </a:rPr>
              <a:t>빠른 속도의 경주에서는 타이어가 쉽게 마모되기 때문에 타이어를 교체하는 것이 특히 중요하다.</a:t>
            </a:r>
            <a:endParaRPr lang="ko-KR" sz="1700"/>
          </a:p>
        </p:txBody>
      </p:sp>
      <p:sp>
        <p:nvSpPr>
          <p:cNvPr id="13" name="ex_2"/>
          <p:cNvSpPr txBox="1"/>
          <p:nvPr/>
        </p:nvSpPr>
        <p:spPr>
          <a:xfrm>
            <a:off x="457200" y="3113278"/>
            <a:ext cx="11274552" cy="761238"/>
          </a:xfrm>
          <a:prstGeom prst="rect">
            <a:avLst/>
          </a:prstGeom>
          <a:noFill/>
        </p:spPr>
        <p:txBody>
          <a:bodyPr wrap="square" lIns="228600" tIns="54864" rIns="228600" bIns="54864" anchor="t" rtlCol="0">
            <a:noAutofit/>
          </a:bodyPr>
          <a:lstStyle/>
          <a:p>
            <a:pPr algn="l">
              <a:lnSpc>
                <a:spcPts val="2565"/>
              </a:lnSpc>
              <a:spcBef>
                <a:spcPts val="0"/>
              </a:spcBef>
              <a:spcAft>
                <a:spcPts val="0"/>
              </a:spcAft>
              <a:buNone/>
            </a:pP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especially</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Changing the tires</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is</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important</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 because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in a high speed race</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the tires</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wear out</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easily</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a:t>
            </a:r>
            <a:endParaRPr lang="ko-KR" sz="1900"/>
          </a:p>
        </p:txBody>
      </p:sp>
      <p:sp>
        <p:nvSpPr>
          <p:cNvPr id="14" name="rv_ans_2"/>
          <p:cNvSpPr txBox="1"/>
          <p:nvPr/>
        </p:nvSpPr>
        <p:spPr>
          <a:xfrm>
            <a:off x="594360" y="3911092"/>
            <a:ext cx="11000232" cy="737108"/>
          </a:xfrm>
          <a:prstGeom prst="rect">
            <a:avLst/>
          </a:prstGeom>
          <a:solidFill>
            <a:srgbClr val="FFF3C4"/>
          </a:solidFill>
        </p:spPr>
        <p:txBody>
          <a:bodyPr wrap="square" lIns="137160" tIns="54864" rIns="137160" bIns="54864" anchor="t" rtlCol="0">
            <a:noAutofit/>
          </a:bodyPr>
          <a:lstStyle/>
          <a:p>
            <a:pPr algn="l">
              <a:lnSpc>
                <a:spcPts val="2470"/>
              </a:lnSpc>
              <a:spcBef>
                <a:spcPts val="0"/>
              </a:spcBef>
              <a:spcAft>
                <a:spcPts val="0"/>
              </a:spcAft>
              <a:buNone/>
            </a:pPr>
            <a:r>
              <a:rPr lang="en-US" altLang="en-US" sz="1900" b="1" dirty="0">
                <a:solidFill>
                  <a:srgbClr val="C00000"/>
                </a:solidFill>
                <a:latin typeface="Calibri"/>
                <a:ea typeface="맑은 고딕"/>
                <a:cs typeface="Calibri"/>
              </a:rPr>
              <a:t>→  </a:t>
            </a:r>
            <a:r>
              <a:rPr lang="en-US" altLang="en-US" sz="1900" b="1" dirty="0">
                <a:solidFill>
                  <a:srgbClr val="C00000"/>
                </a:solidFill>
                <a:latin typeface="Calibri"/>
                <a:ea typeface="맑은 고딕"/>
                <a:cs typeface="Calibri"/>
              </a:rPr>
              <a:t>Changing the tires is especially important because the tires wear out easily in a high speed race.</a:t>
            </a:r>
            <a:endParaRPr lang="ko-KR" sz="19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25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2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4" grpId="0" animBg="1"/>
    </p:bldLst>
  </p:timing>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8000"/>
            </a:avLst>
          </a:prstGeom>
          <a:solidFill>
            <a:srgbClr val="1E2A5A"/>
          </a:solidFill>
          <a:ln>
            <a:noFill/>
          </a:ln>
        </p:spPr>
        <p:txBody>
          <a:bodyPr wrap="square" lIns="45720" tIns="18288" rIns="45720" bIns="18288" anchor="ctr" rtlCol="0">
            <a:noAutofit/>
          </a:bodyPr>
          <a:lstStyle/>
          <a:p>
            <a:pPr algn="ctr">
              <a:lnSpc>
                <a:spcPts val="2000"/>
              </a:lnSpc>
              <a:spcBef>
                <a:spcPts val="0"/>
              </a:spcBef>
              <a:spcAft>
                <a:spcPts val="0"/>
              </a:spcAft>
              <a:buNone/>
            </a:pPr>
            <a:r>
              <a:rPr lang="en-US" altLang="en-US" sz="1700" b="1" dirty="0">
                <a:solidFill>
                  <a:srgbClr val="FFFFFF"/>
                </a:solidFill>
                <a:latin typeface="Calibri"/>
                <a:ea typeface="맑은 고딕"/>
                <a:cs typeface="Calibri"/>
              </a:rPr>
              <a:t>L5-3</a:t>
            </a:r>
            <a:endParaRPr lang="ko-KR" sz="1700"/>
          </a:p>
        </p:txBody>
      </p:sp>
      <p:sp>
        <p:nvSpPr>
          <p:cNvPr id="3" name="hdr_chip"/>
          <p:cNvSpPr/>
          <p:nvPr/>
        </p:nvSpPr>
        <p:spPr>
          <a:xfrm>
            <a:off x="1755648" y="274320"/>
            <a:ext cx="1371600" cy="493776"/>
          </a:xfrm>
          <a:prstGeom prst="roundRect">
            <a:avLst>
              <a:gd name="adj" fmla="val 8000"/>
            </a:avLst>
          </a:prstGeom>
          <a:solidFill>
            <a:srgbClr val="E6EAF4"/>
          </a:solidFill>
          <a:ln>
            <a:noFill/>
          </a:ln>
        </p:spPr>
        <p:txBody>
          <a:bodyPr wrap="square" lIns="27432" tIns="18288" rIns="27432" bIns="18288" anchor="ctr" rtlCol="0">
            <a:noAutofit/>
          </a:bodyPr>
          <a:lstStyle/>
          <a:p>
            <a:pPr algn="ctr">
              <a:lnSpc>
                <a:spcPts val="1700"/>
              </a:lnSpc>
              <a:spcBef>
                <a:spcPts val="0"/>
              </a:spcBef>
              <a:spcAft>
                <a:spcPts val="0"/>
              </a:spcAft>
              <a:buNone/>
            </a:pPr>
            <a:r>
              <a:rPr lang="ko-KR" altLang="en-US" sz="1400" b="1" dirty="0">
                <a:solidFill>
                  <a:srgbClr val="1E2A5A"/>
                </a:solidFill>
                <a:latin typeface="맑은 고딕"/>
                <a:ea typeface="맑은 고딕"/>
                <a:cs typeface="맑은 고딕"/>
              </a:rPr>
              <a:t>PART 6 · 8</a:t>
            </a:r>
            <a:endParaRPr lang="ko-KR" sz="1400"/>
          </a:p>
        </p:txBody>
      </p:sp>
      <p:sp>
        <p:nvSpPr>
          <p:cNvPr id="4" name="hdr_q"/>
          <p:cNvSpPr txBox="1"/>
          <p:nvPr/>
        </p:nvSpPr>
        <p:spPr>
          <a:xfrm>
            <a:off x="3246120" y="246888"/>
            <a:ext cx="8485632" cy="548640"/>
          </a:xfrm>
          <a:prstGeom prst="rect">
            <a:avLst/>
          </a:prstGeom>
          <a:noFill/>
        </p:spPr>
        <p:txBody>
          <a:bodyPr wrap="square" lIns="109728" tIns="54864" rIns="109728" bIns="54864" anchor="ctr" rtlCol="0">
            <a:noAutofit/>
          </a:bodyPr>
          <a:lstStyle/>
          <a:p>
            <a:pPr algn="l">
              <a:lnSpc>
                <a:spcPts val="2400"/>
              </a:lnSpc>
              <a:spcBef>
                <a:spcPts val="0"/>
              </a:spcBef>
              <a:spcAft>
                <a:spcPts val="0"/>
              </a:spcAft>
              <a:buNone/>
            </a:pPr>
            <a:r>
              <a:rPr lang="ko-KR" altLang="en-US" sz="2000" b="1" dirty="0">
                <a:solidFill>
                  <a:srgbClr val="1F2328"/>
                </a:solidFill>
                <a:latin typeface="맑은 고딕"/>
                <a:ea typeface="맑은 고딕"/>
                <a:cs typeface="맑은 고딕"/>
              </a:rPr>
              <a:t>우리말에 맞게 (  ) 안의 말을 바르게 배열하시오.</a:t>
            </a:r>
            <a:endParaRPr lang="ko-KR" sz="2000"/>
          </a:p>
        </p:txBody>
      </p:sp>
      <p:sp>
        <p:nvSpPr>
          <p:cNvPr id="5" name="ftr_exam"/>
          <p:cNvSpPr txBox="1"/>
          <p:nvPr/>
        </p:nvSpPr>
        <p:spPr>
          <a:xfrm>
            <a:off x="457200" y="6519672"/>
            <a:ext cx="5669280" cy="256032"/>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5</a:t>
            </a:r>
            <a:endParaRPr lang="ko-KR" sz="1000"/>
          </a:p>
        </p:txBody>
      </p:sp>
      <p:sp>
        <p:nvSpPr>
          <p:cNvPr id="6" name="ftr_hint"/>
          <p:cNvSpPr txBox="1"/>
          <p:nvPr/>
        </p:nvSpPr>
        <p:spPr>
          <a:xfrm>
            <a:off x="5971032" y="6519672"/>
            <a:ext cx="5760720" cy="256032"/>
          </a:xfrm>
          <a:prstGeom prst="rect">
            <a:avLst/>
          </a:prstGeom>
          <a:noFill/>
        </p:spPr>
        <p:txBody>
          <a:bodyPr wrap="square" lIns="0" tIns="0" rIns="0" bIns="0" anchor="t" rtlCol="0">
            <a:noAutofit/>
          </a:bodyPr>
          <a:lstStyle/>
          <a:p>
            <a:pPr algn="r">
              <a:lnSpc>
                <a:spcPts val="1200"/>
              </a:lnSpc>
              <a:spcBef>
                <a:spcPts val="0"/>
              </a:spcBef>
              <a:spcAft>
                <a:spcPts val="0"/>
              </a:spcAft>
              <a:buNone/>
            </a:pPr>
            <a:r>
              <a:rPr lang="ko-KR" altLang="en-US" sz="1000" b="0" dirty="0">
                <a:solidFill>
                  <a:srgbClr val="7A808C"/>
                </a:solidFill>
                <a:latin typeface="맑은 고딕"/>
                <a:ea typeface="맑은 고딕"/>
                <a:cs typeface="맑은 고딕"/>
              </a:rPr>
              <a:t>클릭 ① 완성 문장(정답) 공개</a:t>
            </a:r>
            <a:endParaRPr lang="ko-KR" sz="1000"/>
          </a:p>
        </p:txBody>
      </p:sp>
      <p:sp>
        <p:nvSpPr>
          <p:cNvPr id="7" name="item_card_1"/>
          <p:cNvSpPr/>
          <p:nvPr/>
        </p:nvSpPr>
        <p:spPr>
          <a:xfrm>
            <a:off x="457200" y="950976"/>
            <a:ext cx="11274552" cy="2257552"/>
          </a:xfrm>
          <a:prstGeom prst="roundRect">
            <a:avLst>
              <a:gd name="adj" fmla="val 6000"/>
            </a:avLst>
          </a:prstGeom>
          <a:solidFill>
            <a:srgbClr val="F3F5F9"/>
          </a:solidFill>
          <a:ln w="12700">
            <a:solidFill>
              <a:srgbClr val="D9DFEA"/>
            </a:solidFill>
          </a:ln>
        </p:spPr>
        <p:txBody>
          <a:bodyPr rtlCol="0" anchor="ctr"/>
          <a:lstStyle/>
          <a:p>
            <a:pPr algn="ctr"/>
          </a:p>
        </p:txBody>
      </p:sp>
      <p:sp>
        <p:nvSpPr>
          <p:cNvPr id="8" name="kor_1"/>
          <p:cNvSpPr txBox="1"/>
          <p:nvPr/>
        </p:nvSpPr>
        <p:spPr>
          <a:xfrm>
            <a:off x="457200" y="1060704"/>
            <a:ext cx="11274552" cy="649478"/>
          </a:xfrm>
          <a:prstGeom prst="rect">
            <a:avLst/>
          </a:prstGeom>
          <a:noFill/>
        </p:spPr>
        <p:txBody>
          <a:bodyPr wrap="square" lIns="228600" tIns="54864" rIns="228600" bIns="54864" anchor="t" rtlCol="0">
            <a:noAutofit/>
          </a:bodyPr>
          <a:lstStyle/>
          <a:p>
            <a:pPr algn="l">
              <a:lnSpc>
                <a:spcPts val="2125"/>
              </a:lnSpc>
              <a:spcBef>
                <a:spcPts val="0"/>
              </a:spcBef>
              <a:spcAft>
                <a:spcPts val="0"/>
              </a:spcAft>
              <a:buNone/>
            </a:pPr>
            <a:r>
              <a:rPr lang="en-US" altLang="en-US" sz="1700" b="1" dirty="0">
                <a:solidFill>
                  <a:srgbClr val="1E2A5A"/>
                </a:solidFill>
                <a:latin typeface="Calibri"/>
                <a:ea typeface="맑은 고딕"/>
                <a:cs typeface="Calibri"/>
              </a:rPr>
              <a:t>5.  </a:t>
            </a:r>
            <a:r>
              <a:rPr lang="ko-KR" altLang="en-US" sz="1700" b="1" dirty="0">
                <a:solidFill>
                  <a:srgbClr val="1F2328"/>
                </a:solidFill>
                <a:latin typeface="맑은 고딕"/>
                <a:ea typeface="맑은 고딕"/>
                <a:cs typeface="맑은 고딕"/>
              </a:rPr>
              <a:t>피트에서의 정지는 짧게는 2초 정도가 될 수 있고, 한 크루에 많게는 20명에 이르는 구성원이 있다.</a:t>
            </a:r>
            <a:endParaRPr lang="ko-KR" sz="1700"/>
          </a:p>
        </p:txBody>
      </p:sp>
      <p:sp>
        <p:nvSpPr>
          <p:cNvPr id="9" name="ex_1"/>
          <p:cNvSpPr txBox="1"/>
          <p:nvPr/>
        </p:nvSpPr>
        <p:spPr>
          <a:xfrm>
            <a:off x="457200" y="1655318"/>
            <a:ext cx="11274552" cy="761238"/>
          </a:xfrm>
          <a:prstGeom prst="rect">
            <a:avLst/>
          </a:prstGeom>
          <a:noFill/>
        </p:spPr>
        <p:txBody>
          <a:bodyPr wrap="square" lIns="228600" tIns="54864" rIns="228600" bIns="54864" anchor="t" rtlCol="0">
            <a:noAutofit/>
          </a:bodyPr>
          <a:lstStyle/>
          <a:p>
            <a:pPr algn="l">
              <a:lnSpc>
                <a:spcPts val="2565"/>
              </a:lnSpc>
              <a:spcBef>
                <a:spcPts val="0"/>
              </a:spcBef>
              <a:spcAft>
                <a:spcPts val="0"/>
              </a:spcAft>
              <a:buNone/>
            </a:pP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as short as</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2 seconds</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can be</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A pit stop</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 and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as many as</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20 members</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on a crew</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there are</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a:t>
            </a:r>
            <a:endParaRPr lang="ko-KR" sz="1900"/>
          </a:p>
        </p:txBody>
      </p:sp>
      <p:sp>
        <p:nvSpPr>
          <p:cNvPr id="10" name="rv_ans_1"/>
          <p:cNvSpPr txBox="1"/>
          <p:nvPr/>
        </p:nvSpPr>
        <p:spPr>
          <a:xfrm>
            <a:off x="594360" y="2453132"/>
            <a:ext cx="11000232" cy="737108"/>
          </a:xfrm>
          <a:prstGeom prst="rect">
            <a:avLst/>
          </a:prstGeom>
          <a:solidFill>
            <a:srgbClr val="FFF3C4"/>
          </a:solidFill>
        </p:spPr>
        <p:txBody>
          <a:bodyPr wrap="square" lIns="137160" tIns="54864" rIns="137160" bIns="54864" anchor="t" rtlCol="0">
            <a:noAutofit/>
          </a:bodyPr>
          <a:lstStyle/>
          <a:p>
            <a:pPr algn="l">
              <a:lnSpc>
                <a:spcPts val="2470"/>
              </a:lnSpc>
              <a:spcBef>
                <a:spcPts val="0"/>
              </a:spcBef>
              <a:spcAft>
                <a:spcPts val="0"/>
              </a:spcAft>
              <a:buNone/>
            </a:pPr>
            <a:r>
              <a:rPr lang="en-US" altLang="en-US" sz="1900" b="1" dirty="0">
                <a:solidFill>
                  <a:srgbClr val="C00000"/>
                </a:solidFill>
                <a:latin typeface="Calibri"/>
                <a:ea typeface="맑은 고딕"/>
                <a:cs typeface="Calibri"/>
              </a:rPr>
              <a:t>→  </a:t>
            </a:r>
            <a:r>
              <a:rPr lang="en-US" altLang="en-US" sz="1900" b="1" dirty="0">
                <a:solidFill>
                  <a:srgbClr val="C00000"/>
                </a:solidFill>
                <a:latin typeface="Calibri"/>
                <a:ea typeface="맑은 고딕"/>
                <a:cs typeface="Calibri"/>
              </a:rPr>
              <a:t>A pit stop can be as short as 2 seconds, and there are as many as 20 members on a crew.</a:t>
            </a:r>
            <a:endParaRPr lang="ko-KR" sz="1900"/>
          </a:p>
        </p:txBody>
      </p:sp>
      <p:sp>
        <p:nvSpPr>
          <p:cNvPr id="11" name="item_card_2"/>
          <p:cNvSpPr/>
          <p:nvPr/>
        </p:nvSpPr>
        <p:spPr>
          <a:xfrm>
            <a:off x="457200" y="3318256"/>
            <a:ext cx="11274552" cy="1348232"/>
          </a:xfrm>
          <a:prstGeom prst="roundRect">
            <a:avLst>
              <a:gd name="adj" fmla="val 6000"/>
            </a:avLst>
          </a:prstGeom>
          <a:solidFill>
            <a:srgbClr val="F3F5F9"/>
          </a:solidFill>
          <a:ln w="12700">
            <a:solidFill>
              <a:srgbClr val="D9DFEA"/>
            </a:solidFill>
          </a:ln>
        </p:spPr>
        <p:txBody>
          <a:bodyPr rtlCol="0" anchor="ctr"/>
          <a:lstStyle/>
          <a:p>
            <a:pPr algn="ctr"/>
          </a:p>
        </p:txBody>
      </p:sp>
      <p:sp>
        <p:nvSpPr>
          <p:cNvPr id="12" name="kor_2"/>
          <p:cNvSpPr txBox="1"/>
          <p:nvPr/>
        </p:nvSpPr>
        <p:spPr>
          <a:xfrm>
            <a:off x="457200" y="3427984"/>
            <a:ext cx="11274552" cy="379603"/>
          </a:xfrm>
          <a:prstGeom prst="rect">
            <a:avLst/>
          </a:prstGeom>
          <a:noFill/>
        </p:spPr>
        <p:txBody>
          <a:bodyPr wrap="square" lIns="228600" tIns="54864" rIns="228600" bIns="54864" anchor="t" rtlCol="0">
            <a:noAutofit/>
          </a:bodyPr>
          <a:lstStyle/>
          <a:p>
            <a:pPr algn="l">
              <a:lnSpc>
                <a:spcPts val="2125"/>
              </a:lnSpc>
              <a:spcBef>
                <a:spcPts val="0"/>
              </a:spcBef>
              <a:spcAft>
                <a:spcPts val="0"/>
              </a:spcAft>
              <a:buNone/>
            </a:pPr>
            <a:r>
              <a:rPr lang="en-US" altLang="en-US" sz="1700" b="1" dirty="0">
                <a:solidFill>
                  <a:srgbClr val="1E2A5A"/>
                </a:solidFill>
                <a:latin typeface="Calibri"/>
                <a:ea typeface="맑은 고딕"/>
                <a:cs typeface="Calibri"/>
              </a:rPr>
              <a:t>6.  </a:t>
            </a:r>
            <a:r>
              <a:rPr lang="ko-KR" altLang="en-US" sz="1700" b="1" dirty="0">
                <a:solidFill>
                  <a:srgbClr val="1F2328"/>
                </a:solidFill>
                <a:latin typeface="맑은 고딕"/>
                <a:ea typeface="맑은 고딕"/>
                <a:cs typeface="맑은 고딕"/>
              </a:rPr>
              <a:t>그러므로 피트 크루는 완벽한 조화를 이루며 일해야 한다.</a:t>
            </a:r>
            <a:endParaRPr lang="ko-KR" sz="1700"/>
          </a:p>
        </p:txBody>
      </p:sp>
      <p:sp>
        <p:nvSpPr>
          <p:cNvPr id="13" name="ex_2"/>
          <p:cNvSpPr txBox="1"/>
          <p:nvPr/>
        </p:nvSpPr>
        <p:spPr>
          <a:xfrm>
            <a:off x="457200" y="3752723"/>
            <a:ext cx="11274552" cy="435483"/>
          </a:xfrm>
          <a:prstGeom prst="rect">
            <a:avLst/>
          </a:prstGeom>
          <a:noFill/>
        </p:spPr>
        <p:txBody>
          <a:bodyPr wrap="square" lIns="228600" tIns="54864" rIns="228600" bIns="54864" anchor="t" rtlCol="0">
            <a:noAutofit/>
          </a:bodyPr>
          <a:lstStyle/>
          <a:p>
            <a:pPr algn="l">
              <a:lnSpc>
                <a:spcPts val="2565"/>
              </a:lnSpc>
              <a:spcBef>
                <a:spcPts val="0"/>
              </a:spcBef>
              <a:spcAft>
                <a:spcPts val="0"/>
              </a:spcAft>
              <a:buNone/>
            </a:pPr>
            <a:r>
              <a:rPr lang="en-US" altLang="en-US" sz="1900" b="0" dirty="0">
                <a:solidFill>
                  <a:srgbClr val="1F2328"/>
                </a:solidFill>
                <a:latin typeface="Calibri"/>
                <a:ea typeface="맑은 고딕"/>
                <a:cs typeface="Calibri"/>
              </a:rPr>
              <a:t>Therefore,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has to work</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the pit crew</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in perfect harmony</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a:t>
            </a:r>
            <a:endParaRPr lang="ko-KR" sz="1900"/>
          </a:p>
        </p:txBody>
      </p:sp>
      <p:sp>
        <p:nvSpPr>
          <p:cNvPr id="14" name="rv_ans_2"/>
          <p:cNvSpPr txBox="1"/>
          <p:nvPr/>
        </p:nvSpPr>
        <p:spPr>
          <a:xfrm>
            <a:off x="594360" y="4224782"/>
            <a:ext cx="11000232" cy="423418"/>
          </a:xfrm>
          <a:prstGeom prst="rect">
            <a:avLst/>
          </a:prstGeom>
          <a:solidFill>
            <a:srgbClr val="FFF3C4"/>
          </a:solidFill>
        </p:spPr>
        <p:txBody>
          <a:bodyPr wrap="square" lIns="137160" tIns="54864" rIns="137160" bIns="54864" anchor="t" rtlCol="0">
            <a:noAutofit/>
          </a:bodyPr>
          <a:lstStyle/>
          <a:p>
            <a:pPr algn="l">
              <a:lnSpc>
                <a:spcPts val="2470"/>
              </a:lnSpc>
              <a:spcBef>
                <a:spcPts val="0"/>
              </a:spcBef>
              <a:spcAft>
                <a:spcPts val="0"/>
              </a:spcAft>
              <a:buNone/>
            </a:pPr>
            <a:r>
              <a:rPr lang="en-US" altLang="en-US" sz="1900" b="1" dirty="0">
                <a:solidFill>
                  <a:srgbClr val="C00000"/>
                </a:solidFill>
                <a:latin typeface="Calibri"/>
                <a:ea typeface="맑은 고딕"/>
                <a:cs typeface="Calibri"/>
              </a:rPr>
              <a:t>→  </a:t>
            </a:r>
            <a:r>
              <a:rPr lang="en-US" altLang="en-US" sz="1900" b="1" dirty="0">
                <a:solidFill>
                  <a:srgbClr val="C00000"/>
                </a:solidFill>
                <a:latin typeface="Calibri"/>
                <a:ea typeface="맑은 고딕"/>
                <a:cs typeface="Calibri"/>
              </a:rPr>
              <a:t>Therefore, the pit crew has to work in perfect harmony.</a:t>
            </a:r>
            <a:endParaRPr lang="ko-KR" sz="19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25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2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4" grpId="0" animBg="1"/>
    </p:bldLst>
  </p:timing>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8000"/>
            </a:avLst>
          </a:prstGeom>
          <a:solidFill>
            <a:srgbClr val="1E2A5A"/>
          </a:solidFill>
          <a:ln>
            <a:noFill/>
          </a:ln>
        </p:spPr>
        <p:txBody>
          <a:bodyPr wrap="square" lIns="45720" tIns="18288" rIns="45720" bIns="18288" anchor="ctr" rtlCol="0">
            <a:noAutofit/>
          </a:bodyPr>
          <a:lstStyle/>
          <a:p>
            <a:pPr algn="ctr">
              <a:lnSpc>
                <a:spcPts val="2000"/>
              </a:lnSpc>
              <a:spcBef>
                <a:spcPts val="0"/>
              </a:spcBef>
              <a:spcAft>
                <a:spcPts val="0"/>
              </a:spcAft>
              <a:buNone/>
            </a:pPr>
            <a:r>
              <a:rPr lang="en-US" altLang="en-US" sz="1700" b="1" dirty="0">
                <a:solidFill>
                  <a:srgbClr val="FFFFFF"/>
                </a:solidFill>
                <a:latin typeface="Calibri"/>
                <a:ea typeface="맑은 고딕"/>
                <a:cs typeface="Calibri"/>
              </a:rPr>
              <a:t>L5-3</a:t>
            </a:r>
            <a:endParaRPr lang="ko-KR" sz="1700"/>
          </a:p>
        </p:txBody>
      </p:sp>
      <p:sp>
        <p:nvSpPr>
          <p:cNvPr id="3" name="hdr_chip"/>
          <p:cNvSpPr/>
          <p:nvPr/>
        </p:nvSpPr>
        <p:spPr>
          <a:xfrm>
            <a:off x="1755648" y="274320"/>
            <a:ext cx="1371600" cy="493776"/>
          </a:xfrm>
          <a:prstGeom prst="roundRect">
            <a:avLst>
              <a:gd name="adj" fmla="val 8000"/>
            </a:avLst>
          </a:prstGeom>
          <a:solidFill>
            <a:srgbClr val="E6EAF4"/>
          </a:solidFill>
          <a:ln>
            <a:noFill/>
          </a:ln>
        </p:spPr>
        <p:txBody>
          <a:bodyPr wrap="square" lIns="27432" tIns="18288" rIns="27432" bIns="18288" anchor="ctr" rtlCol="0">
            <a:noAutofit/>
          </a:bodyPr>
          <a:lstStyle/>
          <a:p>
            <a:pPr algn="ctr">
              <a:lnSpc>
                <a:spcPts val="1700"/>
              </a:lnSpc>
              <a:spcBef>
                <a:spcPts val="0"/>
              </a:spcBef>
              <a:spcAft>
                <a:spcPts val="0"/>
              </a:spcAft>
              <a:buNone/>
            </a:pPr>
            <a:r>
              <a:rPr lang="ko-KR" altLang="en-US" sz="1400" b="1" dirty="0">
                <a:solidFill>
                  <a:srgbClr val="1E2A5A"/>
                </a:solidFill>
                <a:latin typeface="맑은 고딕"/>
                <a:ea typeface="맑은 고딕"/>
                <a:cs typeface="맑은 고딕"/>
              </a:rPr>
              <a:t>PART 6 · 9</a:t>
            </a:r>
            <a:endParaRPr lang="ko-KR" sz="1400"/>
          </a:p>
        </p:txBody>
      </p:sp>
      <p:sp>
        <p:nvSpPr>
          <p:cNvPr id="4" name="hdr_q"/>
          <p:cNvSpPr txBox="1"/>
          <p:nvPr/>
        </p:nvSpPr>
        <p:spPr>
          <a:xfrm>
            <a:off x="3246120" y="246888"/>
            <a:ext cx="8485632" cy="548640"/>
          </a:xfrm>
          <a:prstGeom prst="rect">
            <a:avLst/>
          </a:prstGeom>
          <a:noFill/>
        </p:spPr>
        <p:txBody>
          <a:bodyPr wrap="square" lIns="109728" tIns="54864" rIns="109728" bIns="54864" anchor="ctr" rtlCol="0">
            <a:noAutofit/>
          </a:bodyPr>
          <a:lstStyle/>
          <a:p>
            <a:pPr algn="l">
              <a:lnSpc>
                <a:spcPts val="2400"/>
              </a:lnSpc>
              <a:spcBef>
                <a:spcPts val="0"/>
              </a:spcBef>
              <a:spcAft>
                <a:spcPts val="0"/>
              </a:spcAft>
              <a:buNone/>
            </a:pPr>
            <a:r>
              <a:rPr lang="ko-KR" altLang="en-US" sz="2000" b="1" dirty="0">
                <a:solidFill>
                  <a:srgbClr val="1F2328"/>
                </a:solidFill>
                <a:latin typeface="맑은 고딕"/>
                <a:ea typeface="맑은 고딕"/>
                <a:cs typeface="맑은 고딕"/>
              </a:rPr>
              <a:t>우리말에 맞게 (  ) 안의 말을 바르게 배열하시오.</a:t>
            </a:r>
            <a:endParaRPr lang="ko-KR" sz="2000"/>
          </a:p>
        </p:txBody>
      </p:sp>
      <p:sp>
        <p:nvSpPr>
          <p:cNvPr id="5" name="ftr_exam"/>
          <p:cNvSpPr txBox="1"/>
          <p:nvPr/>
        </p:nvSpPr>
        <p:spPr>
          <a:xfrm>
            <a:off x="457200" y="6519672"/>
            <a:ext cx="5669280" cy="256032"/>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5</a:t>
            </a:r>
            <a:endParaRPr lang="ko-KR" sz="1000"/>
          </a:p>
        </p:txBody>
      </p:sp>
      <p:sp>
        <p:nvSpPr>
          <p:cNvPr id="6" name="ftr_hint"/>
          <p:cNvSpPr txBox="1"/>
          <p:nvPr/>
        </p:nvSpPr>
        <p:spPr>
          <a:xfrm>
            <a:off x="5971032" y="6519672"/>
            <a:ext cx="5760720" cy="256032"/>
          </a:xfrm>
          <a:prstGeom prst="rect">
            <a:avLst/>
          </a:prstGeom>
          <a:noFill/>
        </p:spPr>
        <p:txBody>
          <a:bodyPr wrap="square" lIns="0" tIns="0" rIns="0" bIns="0" anchor="t" rtlCol="0">
            <a:noAutofit/>
          </a:bodyPr>
          <a:lstStyle/>
          <a:p>
            <a:pPr algn="r">
              <a:lnSpc>
                <a:spcPts val="1200"/>
              </a:lnSpc>
              <a:spcBef>
                <a:spcPts val="0"/>
              </a:spcBef>
              <a:spcAft>
                <a:spcPts val="0"/>
              </a:spcAft>
              <a:buNone/>
            </a:pPr>
            <a:r>
              <a:rPr lang="ko-KR" altLang="en-US" sz="1000" b="0" dirty="0">
                <a:solidFill>
                  <a:srgbClr val="7A808C"/>
                </a:solidFill>
                <a:latin typeface="맑은 고딕"/>
                <a:ea typeface="맑은 고딕"/>
                <a:cs typeface="맑은 고딕"/>
              </a:rPr>
              <a:t>클릭 ① 완성 문장(정답) 공개</a:t>
            </a:r>
            <a:endParaRPr lang="ko-KR" sz="1000"/>
          </a:p>
        </p:txBody>
      </p:sp>
      <p:sp>
        <p:nvSpPr>
          <p:cNvPr id="7" name="item_card_1"/>
          <p:cNvSpPr/>
          <p:nvPr/>
        </p:nvSpPr>
        <p:spPr>
          <a:xfrm>
            <a:off x="457200" y="950976"/>
            <a:ext cx="11274552" cy="2257552"/>
          </a:xfrm>
          <a:prstGeom prst="roundRect">
            <a:avLst>
              <a:gd name="adj" fmla="val 6000"/>
            </a:avLst>
          </a:prstGeom>
          <a:solidFill>
            <a:srgbClr val="F3F5F9"/>
          </a:solidFill>
          <a:ln w="12700">
            <a:solidFill>
              <a:srgbClr val="D9DFEA"/>
            </a:solidFill>
          </a:ln>
        </p:spPr>
        <p:txBody>
          <a:bodyPr rtlCol="0" anchor="ctr"/>
          <a:lstStyle/>
          <a:p>
            <a:pPr algn="ctr"/>
          </a:p>
        </p:txBody>
      </p:sp>
      <p:sp>
        <p:nvSpPr>
          <p:cNvPr id="8" name="kor_1"/>
          <p:cNvSpPr txBox="1"/>
          <p:nvPr/>
        </p:nvSpPr>
        <p:spPr>
          <a:xfrm>
            <a:off x="457200" y="1060704"/>
            <a:ext cx="11274552" cy="649478"/>
          </a:xfrm>
          <a:prstGeom prst="rect">
            <a:avLst/>
          </a:prstGeom>
          <a:noFill/>
        </p:spPr>
        <p:txBody>
          <a:bodyPr wrap="square" lIns="228600" tIns="54864" rIns="228600" bIns="54864" anchor="t" rtlCol="0">
            <a:noAutofit/>
          </a:bodyPr>
          <a:lstStyle/>
          <a:p>
            <a:pPr algn="l">
              <a:lnSpc>
                <a:spcPts val="2125"/>
              </a:lnSpc>
              <a:spcBef>
                <a:spcPts val="0"/>
              </a:spcBef>
              <a:spcAft>
                <a:spcPts val="0"/>
              </a:spcAft>
              <a:buNone/>
            </a:pPr>
            <a:r>
              <a:rPr lang="en-US" altLang="en-US" sz="1700" b="1" dirty="0">
                <a:solidFill>
                  <a:srgbClr val="1E2A5A"/>
                </a:solidFill>
                <a:latin typeface="Calibri"/>
                <a:ea typeface="맑은 고딕"/>
                <a:cs typeface="Calibri"/>
              </a:rPr>
              <a:t>7.  </a:t>
            </a:r>
            <a:r>
              <a:rPr lang="ko-KR" altLang="en-US" sz="1700" b="1" dirty="0">
                <a:solidFill>
                  <a:srgbClr val="1F2328"/>
                </a:solidFill>
                <a:latin typeface="맑은 고딕"/>
                <a:ea typeface="맑은 고딕"/>
                <a:cs typeface="맑은 고딕"/>
              </a:rPr>
              <a:t>레이서만 모든 주목을 받을지 모르지만 사람들이 말하는 것처럼, “경주의 우승은 피트에서 이루어진다.”</a:t>
            </a:r>
            <a:endParaRPr lang="ko-KR" sz="1700"/>
          </a:p>
        </p:txBody>
      </p:sp>
      <p:sp>
        <p:nvSpPr>
          <p:cNvPr id="9" name="ex_1"/>
          <p:cNvSpPr txBox="1"/>
          <p:nvPr/>
        </p:nvSpPr>
        <p:spPr>
          <a:xfrm>
            <a:off x="457200" y="1655318"/>
            <a:ext cx="11274552" cy="761238"/>
          </a:xfrm>
          <a:prstGeom prst="rect">
            <a:avLst/>
          </a:prstGeom>
          <a:noFill/>
        </p:spPr>
        <p:txBody>
          <a:bodyPr wrap="square" lIns="228600" tIns="54864" rIns="228600" bIns="54864" anchor="t" rtlCol="0">
            <a:noAutofit/>
          </a:bodyPr>
          <a:lstStyle/>
          <a:p>
            <a:pPr algn="l">
              <a:lnSpc>
                <a:spcPts val="2565"/>
              </a:lnSpc>
              <a:spcBef>
                <a:spcPts val="0"/>
              </a:spcBef>
              <a:spcAft>
                <a:spcPts val="0"/>
              </a:spcAft>
              <a:buNone/>
            </a:pP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all the attention</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The driver</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may get</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 but as people say, “Races are won in the pits.”</a:t>
            </a:r>
            <a:endParaRPr lang="ko-KR" sz="1900"/>
          </a:p>
        </p:txBody>
      </p:sp>
      <p:sp>
        <p:nvSpPr>
          <p:cNvPr id="10" name="rv_ans_1"/>
          <p:cNvSpPr txBox="1"/>
          <p:nvPr/>
        </p:nvSpPr>
        <p:spPr>
          <a:xfrm>
            <a:off x="594360" y="2453132"/>
            <a:ext cx="11000232" cy="737108"/>
          </a:xfrm>
          <a:prstGeom prst="rect">
            <a:avLst/>
          </a:prstGeom>
          <a:solidFill>
            <a:srgbClr val="FFF3C4"/>
          </a:solidFill>
        </p:spPr>
        <p:txBody>
          <a:bodyPr wrap="square" lIns="137160" tIns="54864" rIns="137160" bIns="54864" anchor="t" rtlCol="0">
            <a:noAutofit/>
          </a:bodyPr>
          <a:lstStyle/>
          <a:p>
            <a:pPr algn="l">
              <a:lnSpc>
                <a:spcPts val="2470"/>
              </a:lnSpc>
              <a:spcBef>
                <a:spcPts val="0"/>
              </a:spcBef>
              <a:spcAft>
                <a:spcPts val="0"/>
              </a:spcAft>
              <a:buNone/>
            </a:pPr>
            <a:r>
              <a:rPr lang="en-US" altLang="en-US" sz="1900" b="1" dirty="0">
                <a:solidFill>
                  <a:srgbClr val="C00000"/>
                </a:solidFill>
                <a:latin typeface="Calibri"/>
                <a:ea typeface="맑은 고딕"/>
                <a:cs typeface="Calibri"/>
              </a:rPr>
              <a:t>→  </a:t>
            </a:r>
            <a:r>
              <a:rPr lang="en-US" altLang="en-US" sz="1900" b="1" dirty="0">
                <a:solidFill>
                  <a:srgbClr val="C00000"/>
                </a:solidFill>
                <a:latin typeface="Calibri"/>
                <a:ea typeface="맑은 고딕"/>
                <a:cs typeface="Calibri"/>
              </a:rPr>
              <a:t>The driver may get all the attention, but as people say, “Races are won in the pits.”</a:t>
            </a:r>
            <a:endParaRPr lang="ko-KR" sz="19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25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8000"/>
            </a:avLst>
          </a:prstGeom>
          <a:solidFill>
            <a:srgbClr val="1E2A5A"/>
          </a:solidFill>
          <a:ln>
            <a:noFill/>
          </a:ln>
        </p:spPr>
        <p:txBody>
          <a:bodyPr wrap="square" lIns="45720" tIns="18288" rIns="45720" bIns="18288" anchor="ctr" rtlCol="0">
            <a:noAutofit/>
          </a:bodyPr>
          <a:lstStyle/>
          <a:p>
            <a:pPr algn="ctr">
              <a:lnSpc>
                <a:spcPts val="2000"/>
              </a:lnSpc>
              <a:spcBef>
                <a:spcPts val="0"/>
              </a:spcBef>
              <a:spcAft>
                <a:spcPts val="0"/>
              </a:spcAft>
              <a:buNone/>
            </a:pPr>
            <a:r>
              <a:rPr lang="en-US" altLang="en-US" sz="1700" b="1" dirty="0">
                <a:solidFill>
                  <a:srgbClr val="FFFFFF"/>
                </a:solidFill>
                <a:latin typeface="Calibri"/>
                <a:ea typeface="맑은 고딕"/>
                <a:cs typeface="Calibri"/>
              </a:rPr>
              <a:t>L5-4</a:t>
            </a:r>
            <a:endParaRPr lang="ko-KR" sz="1700"/>
          </a:p>
        </p:txBody>
      </p:sp>
      <p:sp>
        <p:nvSpPr>
          <p:cNvPr id="3" name="hdr_chip"/>
          <p:cNvSpPr/>
          <p:nvPr/>
        </p:nvSpPr>
        <p:spPr>
          <a:xfrm>
            <a:off x="1755648" y="274320"/>
            <a:ext cx="1371600" cy="493776"/>
          </a:xfrm>
          <a:prstGeom prst="roundRect">
            <a:avLst>
              <a:gd name="adj" fmla="val 8000"/>
            </a:avLst>
          </a:prstGeom>
          <a:solidFill>
            <a:srgbClr val="E6EAF4"/>
          </a:solidFill>
          <a:ln>
            <a:noFill/>
          </a:ln>
        </p:spPr>
        <p:txBody>
          <a:bodyPr wrap="square" lIns="27432" tIns="18288" rIns="27432" bIns="18288" anchor="ctr" rtlCol="0">
            <a:noAutofit/>
          </a:bodyPr>
          <a:lstStyle/>
          <a:p>
            <a:pPr algn="ctr">
              <a:lnSpc>
                <a:spcPts val="1700"/>
              </a:lnSpc>
              <a:spcBef>
                <a:spcPts val="0"/>
              </a:spcBef>
              <a:spcAft>
                <a:spcPts val="0"/>
              </a:spcAft>
              <a:buNone/>
            </a:pPr>
            <a:r>
              <a:rPr lang="ko-KR" altLang="en-US" sz="1400" b="1" dirty="0">
                <a:solidFill>
                  <a:srgbClr val="1E2A5A"/>
                </a:solidFill>
                <a:latin typeface="맑은 고딕"/>
                <a:ea typeface="맑은 고딕"/>
                <a:cs typeface="맑은 고딕"/>
              </a:rPr>
              <a:t>PART 6 · 10</a:t>
            </a:r>
            <a:endParaRPr lang="ko-KR" sz="1400"/>
          </a:p>
        </p:txBody>
      </p:sp>
      <p:sp>
        <p:nvSpPr>
          <p:cNvPr id="4" name="hdr_q"/>
          <p:cNvSpPr txBox="1"/>
          <p:nvPr/>
        </p:nvSpPr>
        <p:spPr>
          <a:xfrm>
            <a:off x="3246120" y="246888"/>
            <a:ext cx="8485632" cy="548640"/>
          </a:xfrm>
          <a:prstGeom prst="rect">
            <a:avLst/>
          </a:prstGeom>
          <a:noFill/>
        </p:spPr>
        <p:txBody>
          <a:bodyPr wrap="square" lIns="109728" tIns="54864" rIns="109728" bIns="54864" anchor="ctr" rtlCol="0">
            <a:noAutofit/>
          </a:bodyPr>
          <a:lstStyle/>
          <a:p>
            <a:pPr algn="l">
              <a:lnSpc>
                <a:spcPts val="2400"/>
              </a:lnSpc>
              <a:spcBef>
                <a:spcPts val="0"/>
              </a:spcBef>
              <a:spcAft>
                <a:spcPts val="0"/>
              </a:spcAft>
              <a:buNone/>
            </a:pPr>
            <a:r>
              <a:rPr lang="ko-KR" altLang="en-US" sz="2000" b="1" dirty="0">
                <a:solidFill>
                  <a:srgbClr val="1F2328"/>
                </a:solidFill>
                <a:latin typeface="맑은 고딕"/>
                <a:ea typeface="맑은 고딕"/>
                <a:cs typeface="맑은 고딕"/>
              </a:rPr>
              <a:t>우리말에 맞게 (  ) 안의 말을 바르게 배열하시오.</a:t>
            </a:r>
            <a:endParaRPr lang="ko-KR" sz="2000"/>
          </a:p>
        </p:txBody>
      </p:sp>
      <p:sp>
        <p:nvSpPr>
          <p:cNvPr id="5" name="ftr_exam"/>
          <p:cNvSpPr txBox="1"/>
          <p:nvPr/>
        </p:nvSpPr>
        <p:spPr>
          <a:xfrm>
            <a:off x="457200" y="6519672"/>
            <a:ext cx="5669280" cy="256032"/>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5</a:t>
            </a:r>
            <a:endParaRPr lang="ko-KR" sz="1000"/>
          </a:p>
        </p:txBody>
      </p:sp>
      <p:sp>
        <p:nvSpPr>
          <p:cNvPr id="6" name="ftr_hint"/>
          <p:cNvSpPr txBox="1"/>
          <p:nvPr/>
        </p:nvSpPr>
        <p:spPr>
          <a:xfrm>
            <a:off x="5971032" y="6519672"/>
            <a:ext cx="5760720" cy="256032"/>
          </a:xfrm>
          <a:prstGeom prst="rect">
            <a:avLst/>
          </a:prstGeom>
          <a:noFill/>
        </p:spPr>
        <p:txBody>
          <a:bodyPr wrap="square" lIns="0" tIns="0" rIns="0" bIns="0" anchor="t" rtlCol="0">
            <a:noAutofit/>
          </a:bodyPr>
          <a:lstStyle/>
          <a:p>
            <a:pPr algn="r">
              <a:lnSpc>
                <a:spcPts val="1200"/>
              </a:lnSpc>
              <a:spcBef>
                <a:spcPts val="0"/>
              </a:spcBef>
              <a:spcAft>
                <a:spcPts val="0"/>
              </a:spcAft>
              <a:buNone/>
            </a:pPr>
            <a:r>
              <a:rPr lang="ko-KR" altLang="en-US" sz="1000" b="0" dirty="0">
                <a:solidFill>
                  <a:srgbClr val="7A808C"/>
                </a:solidFill>
                <a:latin typeface="맑은 고딕"/>
                <a:ea typeface="맑은 고딕"/>
                <a:cs typeface="맑은 고딕"/>
              </a:rPr>
              <a:t>클릭 ① 완성 문장(정답) 공개</a:t>
            </a:r>
            <a:endParaRPr lang="ko-KR" sz="1000"/>
          </a:p>
        </p:txBody>
      </p:sp>
      <p:sp>
        <p:nvSpPr>
          <p:cNvPr id="7" name="item_card_1"/>
          <p:cNvSpPr/>
          <p:nvPr/>
        </p:nvSpPr>
        <p:spPr>
          <a:xfrm>
            <a:off x="457200" y="950976"/>
            <a:ext cx="11274552" cy="1987677"/>
          </a:xfrm>
          <a:prstGeom prst="roundRect">
            <a:avLst>
              <a:gd name="adj" fmla="val 6000"/>
            </a:avLst>
          </a:prstGeom>
          <a:solidFill>
            <a:srgbClr val="F3F5F9"/>
          </a:solidFill>
          <a:ln w="12700">
            <a:solidFill>
              <a:srgbClr val="D9DFEA"/>
            </a:solidFill>
          </a:ln>
        </p:spPr>
        <p:txBody>
          <a:bodyPr rtlCol="0" anchor="ctr"/>
          <a:lstStyle/>
          <a:p>
            <a:pPr algn="ctr"/>
          </a:p>
        </p:txBody>
      </p:sp>
      <p:sp>
        <p:nvSpPr>
          <p:cNvPr id="8" name="kor_1"/>
          <p:cNvSpPr txBox="1"/>
          <p:nvPr/>
        </p:nvSpPr>
        <p:spPr>
          <a:xfrm>
            <a:off x="457200" y="1060704"/>
            <a:ext cx="11274552" cy="379603"/>
          </a:xfrm>
          <a:prstGeom prst="rect">
            <a:avLst/>
          </a:prstGeom>
          <a:noFill/>
        </p:spPr>
        <p:txBody>
          <a:bodyPr wrap="square" lIns="228600" tIns="54864" rIns="228600" bIns="54864" anchor="t" rtlCol="0">
            <a:noAutofit/>
          </a:bodyPr>
          <a:lstStyle/>
          <a:p>
            <a:pPr algn="l">
              <a:lnSpc>
                <a:spcPts val="2125"/>
              </a:lnSpc>
              <a:spcBef>
                <a:spcPts val="0"/>
              </a:spcBef>
              <a:spcAft>
                <a:spcPts val="0"/>
              </a:spcAft>
              <a:buNone/>
            </a:pPr>
            <a:r>
              <a:rPr lang="en-US" altLang="en-US" sz="1700" b="1" dirty="0">
                <a:solidFill>
                  <a:srgbClr val="1E2A5A"/>
                </a:solidFill>
                <a:latin typeface="Calibri"/>
                <a:ea typeface="맑은 고딕"/>
                <a:cs typeface="Calibri"/>
              </a:rPr>
              <a:t>1.  </a:t>
            </a:r>
            <a:r>
              <a:rPr lang="ko-KR" altLang="en-US" sz="1700" b="1" dirty="0">
                <a:solidFill>
                  <a:srgbClr val="1F2328"/>
                </a:solidFill>
                <a:latin typeface="맑은 고딕"/>
                <a:ea typeface="맑은 고딕"/>
                <a:cs typeface="맑은 고딕"/>
              </a:rPr>
              <a:t>Sherpa라는 단어는 셰르파족에서 유래되었는데, 셰르파족은 네팔의 동쪽 지역에 산다.</a:t>
            </a:r>
            <a:endParaRPr lang="ko-KR" sz="1700"/>
          </a:p>
        </p:txBody>
      </p:sp>
      <p:sp>
        <p:nvSpPr>
          <p:cNvPr id="9" name="ex_1"/>
          <p:cNvSpPr txBox="1"/>
          <p:nvPr/>
        </p:nvSpPr>
        <p:spPr>
          <a:xfrm>
            <a:off x="457200" y="1385443"/>
            <a:ext cx="11274552" cy="761238"/>
          </a:xfrm>
          <a:prstGeom prst="rect">
            <a:avLst/>
          </a:prstGeom>
          <a:noFill/>
        </p:spPr>
        <p:txBody>
          <a:bodyPr wrap="square" lIns="228600" tIns="54864" rIns="228600" bIns="54864" anchor="t" rtlCol="0">
            <a:noAutofit/>
          </a:bodyPr>
          <a:lstStyle/>
          <a:p>
            <a:pPr algn="l">
              <a:lnSpc>
                <a:spcPts val="2565"/>
              </a:lnSpc>
              <a:spcBef>
                <a:spcPts val="0"/>
              </a:spcBef>
              <a:spcAft>
                <a:spcPts val="0"/>
              </a:spcAft>
              <a:buNone/>
            </a:pP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comes from</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the Sherpa tribe</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The word Sherpa</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 which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lives</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of Nepal</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in the eastern part</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a:t>
            </a:r>
            <a:endParaRPr lang="ko-KR" sz="1900"/>
          </a:p>
        </p:txBody>
      </p:sp>
      <p:sp>
        <p:nvSpPr>
          <p:cNvPr id="10" name="rv_ans_1"/>
          <p:cNvSpPr txBox="1"/>
          <p:nvPr/>
        </p:nvSpPr>
        <p:spPr>
          <a:xfrm>
            <a:off x="594360" y="2183257"/>
            <a:ext cx="11000232" cy="737108"/>
          </a:xfrm>
          <a:prstGeom prst="rect">
            <a:avLst/>
          </a:prstGeom>
          <a:solidFill>
            <a:srgbClr val="FFF3C4"/>
          </a:solidFill>
        </p:spPr>
        <p:txBody>
          <a:bodyPr wrap="square" lIns="137160" tIns="54864" rIns="137160" bIns="54864" anchor="t" rtlCol="0">
            <a:noAutofit/>
          </a:bodyPr>
          <a:lstStyle/>
          <a:p>
            <a:pPr algn="l">
              <a:lnSpc>
                <a:spcPts val="2470"/>
              </a:lnSpc>
              <a:spcBef>
                <a:spcPts val="0"/>
              </a:spcBef>
              <a:spcAft>
                <a:spcPts val="0"/>
              </a:spcAft>
              <a:buNone/>
            </a:pPr>
            <a:r>
              <a:rPr lang="en-US" altLang="en-US" sz="1900" b="1" dirty="0">
                <a:solidFill>
                  <a:srgbClr val="C00000"/>
                </a:solidFill>
                <a:latin typeface="Calibri"/>
                <a:ea typeface="맑은 고딕"/>
                <a:cs typeface="Calibri"/>
              </a:rPr>
              <a:t>→  </a:t>
            </a:r>
            <a:r>
              <a:rPr lang="en-US" altLang="en-US" sz="1900" b="1" dirty="0">
                <a:solidFill>
                  <a:srgbClr val="C00000"/>
                </a:solidFill>
                <a:latin typeface="Calibri"/>
                <a:ea typeface="맑은 고딕"/>
                <a:cs typeface="Calibri"/>
              </a:rPr>
              <a:t>The word Sherpa comes from the Sherpa tribe, which lives in the eastern part of Nepal.</a:t>
            </a:r>
            <a:endParaRPr lang="ko-KR" sz="1900"/>
          </a:p>
        </p:txBody>
      </p:sp>
      <p:sp>
        <p:nvSpPr>
          <p:cNvPr id="11" name="item_card_2"/>
          <p:cNvSpPr/>
          <p:nvPr/>
        </p:nvSpPr>
        <p:spPr>
          <a:xfrm>
            <a:off x="457200" y="3048381"/>
            <a:ext cx="11274552" cy="1987677"/>
          </a:xfrm>
          <a:prstGeom prst="roundRect">
            <a:avLst>
              <a:gd name="adj" fmla="val 6000"/>
            </a:avLst>
          </a:prstGeom>
          <a:solidFill>
            <a:srgbClr val="F3F5F9"/>
          </a:solidFill>
          <a:ln w="12700">
            <a:solidFill>
              <a:srgbClr val="D9DFEA"/>
            </a:solidFill>
          </a:ln>
        </p:spPr>
        <p:txBody>
          <a:bodyPr rtlCol="0" anchor="ctr"/>
          <a:lstStyle/>
          <a:p>
            <a:pPr algn="ctr"/>
          </a:p>
        </p:txBody>
      </p:sp>
      <p:sp>
        <p:nvSpPr>
          <p:cNvPr id="12" name="kor_2"/>
          <p:cNvSpPr txBox="1"/>
          <p:nvPr/>
        </p:nvSpPr>
        <p:spPr>
          <a:xfrm>
            <a:off x="457200" y="3158109"/>
            <a:ext cx="11274552" cy="379603"/>
          </a:xfrm>
          <a:prstGeom prst="rect">
            <a:avLst/>
          </a:prstGeom>
          <a:noFill/>
        </p:spPr>
        <p:txBody>
          <a:bodyPr wrap="square" lIns="228600" tIns="54864" rIns="228600" bIns="54864" anchor="t" rtlCol="0">
            <a:noAutofit/>
          </a:bodyPr>
          <a:lstStyle/>
          <a:p>
            <a:pPr algn="l">
              <a:lnSpc>
                <a:spcPts val="2125"/>
              </a:lnSpc>
              <a:spcBef>
                <a:spcPts val="0"/>
              </a:spcBef>
              <a:spcAft>
                <a:spcPts val="0"/>
              </a:spcAft>
              <a:buNone/>
            </a:pPr>
            <a:r>
              <a:rPr lang="en-US" altLang="en-US" sz="1700" b="1" dirty="0">
                <a:solidFill>
                  <a:srgbClr val="1E2A5A"/>
                </a:solidFill>
                <a:latin typeface="Calibri"/>
                <a:ea typeface="맑은 고딕"/>
                <a:cs typeface="Calibri"/>
              </a:rPr>
              <a:t>2.  </a:t>
            </a:r>
            <a:r>
              <a:rPr lang="ko-KR" altLang="en-US" sz="1700" b="1" dirty="0">
                <a:solidFill>
                  <a:srgbClr val="1F2328"/>
                </a:solidFill>
                <a:latin typeface="맑은 고딕"/>
                <a:ea typeface="맑은 고딕"/>
                <a:cs typeface="맑은 고딕"/>
              </a:rPr>
              <a:t>셰르파는 훌륭한 등반 기술을 가졌으며 산의 지리에 밝다.</a:t>
            </a:r>
            <a:endParaRPr lang="ko-KR" sz="1700"/>
          </a:p>
        </p:txBody>
      </p:sp>
      <p:sp>
        <p:nvSpPr>
          <p:cNvPr id="13" name="ex_2"/>
          <p:cNvSpPr txBox="1"/>
          <p:nvPr/>
        </p:nvSpPr>
        <p:spPr>
          <a:xfrm>
            <a:off x="457200" y="3482848"/>
            <a:ext cx="11274552" cy="761238"/>
          </a:xfrm>
          <a:prstGeom prst="rect">
            <a:avLst/>
          </a:prstGeom>
          <a:noFill/>
        </p:spPr>
        <p:txBody>
          <a:bodyPr wrap="square" lIns="228600" tIns="54864" rIns="228600" bIns="54864" anchor="t" rtlCol="0">
            <a:noAutofit/>
          </a:bodyPr>
          <a:lstStyle/>
          <a:p>
            <a:pPr algn="l">
              <a:lnSpc>
                <a:spcPts val="2565"/>
              </a:lnSpc>
              <a:spcBef>
                <a:spcPts val="0"/>
              </a:spcBef>
              <a:spcAft>
                <a:spcPts val="0"/>
              </a:spcAft>
              <a:buNone/>
            </a:pP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Sherpas</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good climbing skills</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have</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 and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around the mountains</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their way</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know</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well</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a:t>
            </a:r>
            <a:endParaRPr lang="ko-KR" sz="1900"/>
          </a:p>
        </p:txBody>
      </p:sp>
      <p:sp>
        <p:nvSpPr>
          <p:cNvPr id="14" name="rv_ans_2"/>
          <p:cNvSpPr txBox="1"/>
          <p:nvPr/>
        </p:nvSpPr>
        <p:spPr>
          <a:xfrm>
            <a:off x="594360" y="4280662"/>
            <a:ext cx="11000232" cy="737108"/>
          </a:xfrm>
          <a:prstGeom prst="rect">
            <a:avLst/>
          </a:prstGeom>
          <a:solidFill>
            <a:srgbClr val="FFF3C4"/>
          </a:solidFill>
        </p:spPr>
        <p:txBody>
          <a:bodyPr wrap="square" lIns="137160" tIns="54864" rIns="137160" bIns="54864" anchor="t" rtlCol="0">
            <a:noAutofit/>
          </a:bodyPr>
          <a:lstStyle/>
          <a:p>
            <a:pPr algn="l">
              <a:lnSpc>
                <a:spcPts val="2470"/>
              </a:lnSpc>
              <a:spcBef>
                <a:spcPts val="0"/>
              </a:spcBef>
              <a:spcAft>
                <a:spcPts val="0"/>
              </a:spcAft>
              <a:buNone/>
            </a:pPr>
            <a:r>
              <a:rPr lang="en-US" altLang="en-US" sz="1900" b="1" dirty="0">
                <a:solidFill>
                  <a:srgbClr val="C00000"/>
                </a:solidFill>
                <a:latin typeface="Calibri"/>
                <a:ea typeface="맑은 고딕"/>
                <a:cs typeface="Calibri"/>
              </a:rPr>
              <a:t>→  </a:t>
            </a:r>
            <a:r>
              <a:rPr lang="en-US" altLang="en-US" sz="1900" b="1" dirty="0">
                <a:solidFill>
                  <a:srgbClr val="C00000"/>
                </a:solidFill>
                <a:latin typeface="Calibri"/>
                <a:ea typeface="맑은 고딕"/>
                <a:cs typeface="Calibri"/>
              </a:rPr>
              <a:t>Sherpas have good climbing skills and know their way around the mountains well.</a:t>
            </a:r>
            <a:endParaRPr lang="ko-KR" sz="19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25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2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4" grpId="0" animBg="1"/>
    </p:bldLst>
  </p:timing>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8000"/>
            </a:avLst>
          </a:prstGeom>
          <a:solidFill>
            <a:srgbClr val="1E2A5A"/>
          </a:solidFill>
          <a:ln>
            <a:noFill/>
          </a:ln>
        </p:spPr>
        <p:txBody>
          <a:bodyPr wrap="square" lIns="45720" tIns="18288" rIns="45720" bIns="18288" anchor="ctr" rtlCol="0">
            <a:noAutofit/>
          </a:bodyPr>
          <a:lstStyle/>
          <a:p>
            <a:pPr algn="ctr">
              <a:lnSpc>
                <a:spcPts val="2000"/>
              </a:lnSpc>
              <a:spcBef>
                <a:spcPts val="0"/>
              </a:spcBef>
              <a:spcAft>
                <a:spcPts val="0"/>
              </a:spcAft>
              <a:buNone/>
            </a:pPr>
            <a:r>
              <a:rPr lang="en-US" altLang="en-US" sz="1700" b="1" dirty="0">
                <a:solidFill>
                  <a:srgbClr val="FFFFFF"/>
                </a:solidFill>
                <a:latin typeface="Calibri"/>
                <a:ea typeface="맑은 고딕"/>
                <a:cs typeface="Calibri"/>
              </a:rPr>
              <a:t>L5-4</a:t>
            </a:r>
            <a:endParaRPr lang="ko-KR" sz="1700"/>
          </a:p>
        </p:txBody>
      </p:sp>
      <p:sp>
        <p:nvSpPr>
          <p:cNvPr id="3" name="hdr_chip"/>
          <p:cNvSpPr/>
          <p:nvPr/>
        </p:nvSpPr>
        <p:spPr>
          <a:xfrm>
            <a:off x="1755648" y="274320"/>
            <a:ext cx="1371600" cy="493776"/>
          </a:xfrm>
          <a:prstGeom prst="roundRect">
            <a:avLst>
              <a:gd name="adj" fmla="val 8000"/>
            </a:avLst>
          </a:prstGeom>
          <a:solidFill>
            <a:srgbClr val="E6EAF4"/>
          </a:solidFill>
          <a:ln>
            <a:noFill/>
          </a:ln>
        </p:spPr>
        <p:txBody>
          <a:bodyPr wrap="square" lIns="27432" tIns="18288" rIns="27432" bIns="18288" anchor="ctr" rtlCol="0">
            <a:noAutofit/>
          </a:bodyPr>
          <a:lstStyle/>
          <a:p>
            <a:pPr algn="ctr">
              <a:lnSpc>
                <a:spcPts val="1700"/>
              </a:lnSpc>
              <a:spcBef>
                <a:spcPts val="0"/>
              </a:spcBef>
              <a:spcAft>
                <a:spcPts val="0"/>
              </a:spcAft>
              <a:buNone/>
            </a:pPr>
            <a:r>
              <a:rPr lang="ko-KR" altLang="en-US" sz="1400" b="1" dirty="0">
                <a:solidFill>
                  <a:srgbClr val="1E2A5A"/>
                </a:solidFill>
                <a:latin typeface="맑은 고딕"/>
                <a:ea typeface="맑은 고딕"/>
                <a:cs typeface="맑은 고딕"/>
              </a:rPr>
              <a:t>PART 6 · 11</a:t>
            </a:r>
            <a:endParaRPr lang="ko-KR" sz="1400"/>
          </a:p>
        </p:txBody>
      </p:sp>
      <p:sp>
        <p:nvSpPr>
          <p:cNvPr id="4" name="hdr_q"/>
          <p:cNvSpPr txBox="1"/>
          <p:nvPr/>
        </p:nvSpPr>
        <p:spPr>
          <a:xfrm>
            <a:off x="3246120" y="246888"/>
            <a:ext cx="8485632" cy="548640"/>
          </a:xfrm>
          <a:prstGeom prst="rect">
            <a:avLst/>
          </a:prstGeom>
          <a:noFill/>
        </p:spPr>
        <p:txBody>
          <a:bodyPr wrap="square" lIns="109728" tIns="54864" rIns="109728" bIns="54864" anchor="ctr" rtlCol="0">
            <a:noAutofit/>
          </a:bodyPr>
          <a:lstStyle/>
          <a:p>
            <a:pPr algn="l">
              <a:lnSpc>
                <a:spcPts val="2400"/>
              </a:lnSpc>
              <a:spcBef>
                <a:spcPts val="0"/>
              </a:spcBef>
              <a:spcAft>
                <a:spcPts val="0"/>
              </a:spcAft>
              <a:buNone/>
            </a:pPr>
            <a:r>
              <a:rPr lang="ko-KR" altLang="en-US" sz="2000" b="1" dirty="0">
                <a:solidFill>
                  <a:srgbClr val="1F2328"/>
                </a:solidFill>
                <a:latin typeface="맑은 고딕"/>
                <a:ea typeface="맑은 고딕"/>
                <a:cs typeface="맑은 고딕"/>
              </a:rPr>
              <a:t>우리말에 맞게 (  ) 안의 말을 바르게 배열하시오.</a:t>
            </a:r>
            <a:endParaRPr lang="ko-KR" sz="2000"/>
          </a:p>
        </p:txBody>
      </p:sp>
      <p:sp>
        <p:nvSpPr>
          <p:cNvPr id="5" name="ftr_exam"/>
          <p:cNvSpPr txBox="1"/>
          <p:nvPr/>
        </p:nvSpPr>
        <p:spPr>
          <a:xfrm>
            <a:off x="457200" y="6519672"/>
            <a:ext cx="5669280" cy="256032"/>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5</a:t>
            </a:r>
            <a:endParaRPr lang="ko-KR" sz="1000"/>
          </a:p>
        </p:txBody>
      </p:sp>
      <p:sp>
        <p:nvSpPr>
          <p:cNvPr id="6" name="ftr_hint"/>
          <p:cNvSpPr txBox="1"/>
          <p:nvPr/>
        </p:nvSpPr>
        <p:spPr>
          <a:xfrm>
            <a:off x="5971032" y="6519672"/>
            <a:ext cx="5760720" cy="256032"/>
          </a:xfrm>
          <a:prstGeom prst="rect">
            <a:avLst/>
          </a:prstGeom>
          <a:noFill/>
        </p:spPr>
        <p:txBody>
          <a:bodyPr wrap="square" lIns="0" tIns="0" rIns="0" bIns="0" anchor="t" rtlCol="0">
            <a:noAutofit/>
          </a:bodyPr>
          <a:lstStyle/>
          <a:p>
            <a:pPr algn="r">
              <a:lnSpc>
                <a:spcPts val="1200"/>
              </a:lnSpc>
              <a:spcBef>
                <a:spcPts val="0"/>
              </a:spcBef>
              <a:spcAft>
                <a:spcPts val="0"/>
              </a:spcAft>
              <a:buNone/>
            </a:pPr>
            <a:r>
              <a:rPr lang="ko-KR" altLang="en-US" sz="1000" b="0" dirty="0">
                <a:solidFill>
                  <a:srgbClr val="7A808C"/>
                </a:solidFill>
                <a:latin typeface="맑은 고딕"/>
                <a:ea typeface="맑은 고딕"/>
                <a:cs typeface="맑은 고딕"/>
              </a:rPr>
              <a:t>클릭 ① 완성 문장(정답) 공개</a:t>
            </a:r>
            <a:endParaRPr lang="ko-KR" sz="1000"/>
          </a:p>
        </p:txBody>
      </p:sp>
      <p:sp>
        <p:nvSpPr>
          <p:cNvPr id="7" name="item_card_1"/>
          <p:cNvSpPr/>
          <p:nvPr/>
        </p:nvSpPr>
        <p:spPr>
          <a:xfrm>
            <a:off x="457200" y="950976"/>
            <a:ext cx="11274552" cy="1348232"/>
          </a:xfrm>
          <a:prstGeom prst="roundRect">
            <a:avLst>
              <a:gd name="adj" fmla="val 6000"/>
            </a:avLst>
          </a:prstGeom>
          <a:solidFill>
            <a:srgbClr val="F3F5F9"/>
          </a:solidFill>
          <a:ln w="12700">
            <a:solidFill>
              <a:srgbClr val="D9DFEA"/>
            </a:solidFill>
          </a:ln>
        </p:spPr>
        <p:txBody>
          <a:bodyPr rtlCol="0" anchor="ctr"/>
          <a:lstStyle/>
          <a:p>
            <a:pPr algn="ctr"/>
          </a:p>
        </p:txBody>
      </p:sp>
      <p:sp>
        <p:nvSpPr>
          <p:cNvPr id="8" name="kor_1"/>
          <p:cNvSpPr txBox="1"/>
          <p:nvPr/>
        </p:nvSpPr>
        <p:spPr>
          <a:xfrm>
            <a:off x="457200" y="1060704"/>
            <a:ext cx="11274552" cy="379603"/>
          </a:xfrm>
          <a:prstGeom prst="rect">
            <a:avLst/>
          </a:prstGeom>
          <a:noFill/>
        </p:spPr>
        <p:txBody>
          <a:bodyPr wrap="square" lIns="228600" tIns="54864" rIns="228600" bIns="54864" anchor="t" rtlCol="0">
            <a:noAutofit/>
          </a:bodyPr>
          <a:lstStyle/>
          <a:p>
            <a:pPr algn="l">
              <a:lnSpc>
                <a:spcPts val="2125"/>
              </a:lnSpc>
              <a:spcBef>
                <a:spcPts val="0"/>
              </a:spcBef>
              <a:spcAft>
                <a:spcPts val="0"/>
              </a:spcAft>
              <a:buNone/>
            </a:pPr>
            <a:r>
              <a:rPr lang="en-US" altLang="en-US" sz="1700" b="1" dirty="0">
                <a:solidFill>
                  <a:srgbClr val="1E2A5A"/>
                </a:solidFill>
                <a:latin typeface="Calibri"/>
                <a:ea typeface="맑은 고딕"/>
                <a:cs typeface="Calibri"/>
              </a:rPr>
              <a:t>3.  </a:t>
            </a:r>
            <a:r>
              <a:rPr lang="ko-KR" altLang="en-US" sz="1700" b="1" dirty="0">
                <a:solidFill>
                  <a:srgbClr val="1F2328"/>
                </a:solidFill>
                <a:latin typeface="맑은 고딕"/>
                <a:ea typeface="맑은 고딕"/>
                <a:cs typeface="맑은 고딕"/>
              </a:rPr>
              <a:t>그들은 또한 산의 높은 곳에서 호흡하는 데 어려움이 거의 없다.</a:t>
            </a:r>
            <a:endParaRPr lang="ko-KR" sz="1700"/>
          </a:p>
        </p:txBody>
      </p:sp>
      <p:sp>
        <p:nvSpPr>
          <p:cNvPr id="9" name="ex_1"/>
          <p:cNvSpPr txBox="1"/>
          <p:nvPr/>
        </p:nvSpPr>
        <p:spPr>
          <a:xfrm>
            <a:off x="457200" y="1385443"/>
            <a:ext cx="11274552" cy="435483"/>
          </a:xfrm>
          <a:prstGeom prst="rect">
            <a:avLst/>
          </a:prstGeom>
          <a:noFill/>
        </p:spPr>
        <p:txBody>
          <a:bodyPr wrap="square" lIns="228600" tIns="54864" rIns="228600" bIns="54864" anchor="t" rtlCol="0">
            <a:noAutofit/>
          </a:bodyPr>
          <a:lstStyle/>
          <a:p>
            <a:pPr algn="l">
              <a:lnSpc>
                <a:spcPts val="2565"/>
              </a:lnSpc>
              <a:spcBef>
                <a:spcPts val="0"/>
              </a:spcBef>
              <a:spcAft>
                <a:spcPts val="0"/>
              </a:spcAft>
              <a:buNone/>
            </a:pP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breathing</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also</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They</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have</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high up in the mountains</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little difficulty</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a:t>
            </a:r>
            <a:endParaRPr lang="ko-KR" sz="1900"/>
          </a:p>
        </p:txBody>
      </p:sp>
      <p:sp>
        <p:nvSpPr>
          <p:cNvPr id="10" name="rv_ans_1"/>
          <p:cNvSpPr txBox="1"/>
          <p:nvPr/>
        </p:nvSpPr>
        <p:spPr>
          <a:xfrm>
            <a:off x="594360" y="1857502"/>
            <a:ext cx="11000232" cy="423418"/>
          </a:xfrm>
          <a:prstGeom prst="rect">
            <a:avLst/>
          </a:prstGeom>
          <a:solidFill>
            <a:srgbClr val="FFF3C4"/>
          </a:solidFill>
        </p:spPr>
        <p:txBody>
          <a:bodyPr wrap="square" lIns="137160" tIns="54864" rIns="137160" bIns="54864" anchor="t" rtlCol="0">
            <a:noAutofit/>
          </a:bodyPr>
          <a:lstStyle/>
          <a:p>
            <a:pPr algn="l">
              <a:lnSpc>
                <a:spcPts val="2470"/>
              </a:lnSpc>
              <a:spcBef>
                <a:spcPts val="0"/>
              </a:spcBef>
              <a:spcAft>
                <a:spcPts val="0"/>
              </a:spcAft>
              <a:buNone/>
            </a:pPr>
            <a:r>
              <a:rPr lang="en-US" altLang="en-US" sz="1900" b="1" dirty="0">
                <a:solidFill>
                  <a:srgbClr val="C00000"/>
                </a:solidFill>
                <a:latin typeface="Calibri"/>
                <a:ea typeface="맑은 고딕"/>
                <a:cs typeface="Calibri"/>
              </a:rPr>
              <a:t>→  </a:t>
            </a:r>
            <a:r>
              <a:rPr lang="en-US" altLang="en-US" sz="1900" b="1" dirty="0">
                <a:solidFill>
                  <a:srgbClr val="C00000"/>
                </a:solidFill>
                <a:latin typeface="Calibri"/>
                <a:ea typeface="맑은 고딕"/>
                <a:cs typeface="Calibri"/>
              </a:rPr>
              <a:t>They also have little difficulty breathing high up in the mountains.</a:t>
            </a:r>
            <a:endParaRPr lang="ko-KR" sz="1900"/>
          </a:p>
        </p:txBody>
      </p:sp>
      <p:sp>
        <p:nvSpPr>
          <p:cNvPr id="11" name="item_card_2"/>
          <p:cNvSpPr/>
          <p:nvPr/>
        </p:nvSpPr>
        <p:spPr>
          <a:xfrm>
            <a:off x="457200" y="2408936"/>
            <a:ext cx="11274552" cy="2257552"/>
          </a:xfrm>
          <a:prstGeom prst="roundRect">
            <a:avLst>
              <a:gd name="adj" fmla="val 6000"/>
            </a:avLst>
          </a:prstGeom>
          <a:solidFill>
            <a:srgbClr val="F3F5F9"/>
          </a:solidFill>
          <a:ln w="12700">
            <a:solidFill>
              <a:srgbClr val="D9DFEA"/>
            </a:solidFill>
          </a:ln>
        </p:spPr>
        <p:txBody>
          <a:bodyPr rtlCol="0" anchor="ctr"/>
          <a:lstStyle/>
          <a:p>
            <a:pPr algn="ctr"/>
          </a:p>
        </p:txBody>
      </p:sp>
      <p:sp>
        <p:nvSpPr>
          <p:cNvPr id="12" name="kor_2"/>
          <p:cNvSpPr txBox="1"/>
          <p:nvPr/>
        </p:nvSpPr>
        <p:spPr>
          <a:xfrm>
            <a:off x="457200" y="2518664"/>
            <a:ext cx="11274552" cy="649478"/>
          </a:xfrm>
          <a:prstGeom prst="rect">
            <a:avLst/>
          </a:prstGeom>
          <a:noFill/>
        </p:spPr>
        <p:txBody>
          <a:bodyPr wrap="square" lIns="228600" tIns="54864" rIns="228600" bIns="54864" anchor="t" rtlCol="0">
            <a:noAutofit/>
          </a:bodyPr>
          <a:lstStyle/>
          <a:p>
            <a:pPr algn="l">
              <a:lnSpc>
                <a:spcPts val="2125"/>
              </a:lnSpc>
              <a:spcBef>
                <a:spcPts val="0"/>
              </a:spcBef>
              <a:spcAft>
                <a:spcPts val="0"/>
              </a:spcAft>
              <a:buNone/>
            </a:pPr>
            <a:r>
              <a:rPr lang="en-US" altLang="en-US" sz="1700" b="1" dirty="0">
                <a:solidFill>
                  <a:srgbClr val="1E2A5A"/>
                </a:solidFill>
                <a:latin typeface="Calibri"/>
                <a:ea typeface="맑은 고딕"/>
                <a:cs typeface="Calibri"/>
              </a:rPr>
              <a:t>4.  </a:t>
            </a:r>
            <a:r>
              <a:rPr lang="ko-KR" altLang="en-US" sz="1700" b="1" dirty="0">
                <a:solidFill>
                  <a:srgbClr val="1F2328"/>
                </a:solidFill>
                <a:latin typeface="맑은 고딕"/>
                <a:ea typeface="맑은 고딕"/>
                <a:cs typeface="맑은 고딕"/>
              </a:rPr>
              <a:t>그래서 등산가들은 자신들이 에베레스트산을 등반하는 것을 돕는 셰르파를 고용하기 시작했다.</a:t>
            </a:r>
            <a:endParaRPr lang="ko-KR" sz="1700"/>
          </a:p>
        </p:txBody>
      </p:sp>
      <p:sp>
        <p:nvSpPr>
          <p:cNvPr id="13" name="ex_2"/>
          <p:cNvSpPr txBox="1"/>
          <p:nvPr/>
        </p:nvSpPr>
        <p:spPr>
          <a:xfrm>
            <a:off x="457200" y="3113278"/>
            <a:ext cx="11274552" cy="761238"/>
          </a:xfrm>
          <a:prstGeom prst="rect">
            <a:avLst/>
          </a:prstGeom>
          <a:noFill/>
        </p:spPr>
        <p:txBody>
          <a:bodyPr wrap="square" lIns="228600" tIns="54864" rIns="228600" bIns="54864" anchor="t" rtlCol="0">
            <a:noAutofit/>
          </a:bodyPr>
          <a:lstStyle/>
          <a:p>
            <a:pPr algn="l">
              <a:lnSpc>
                <a:spcPts val="2565"/>
              </a:lnSpc>
              <a:spcBef>
                <a:spcPts val="0"/>
              </a:spcBef>
              <a:spcAft>
                <a:spcPts val="0"/>
              </a:spcAft>
              <a:buNone/>
            </a:pPr>
            <a:r>
              <a:rPr lang="en-US" altLang="en-US" sz="1900" b="0" dirty="0">
                <a:solidFill>
                  <a:srgbClr val="1F2328"/>
                </a:solidFill>
                <a:latin typeface="Calibri"/>
                <a:ea typeface="맑은 고딕"/>
                <a:cs typeface="Calibri"/>
              </a:rPr>
              <a:t>Therefore,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to help them</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mountain climbers</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climb Mount Everest</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to hire Sherpas</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started</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a:t>
            </a:r>
            <a:endParaRPr lang="ko-KR" sz="1900"/>
          </a:p>
        </p:txBody>
      </p:sp>
      <p:sp>
        <p:nvSpPr>
          <p:cNvPr id="14" name="rv_ans_2"/>
          <p:cNvSpPr txBox="1"/>
          <p:nvPr/>
        </p:nvSpPr>
        <p:spPr>
          <a:xfrm>
            <a:off x="594360" y="3911092"/>
            <a:ext cx="11000232" cy="737108"/>
          </a:xfrm>
          <a:prstGeom prst="rect">
            <a:avLst/>
          </a:prstGeom>
          <a:solidFill>
            <a:srgbClr val="FFF3C4"/>
          </a:solidFill>
        </p:spPr>
        <p:txBody>
          <a:bodyPr wrap="square" lIns="137160" tIns="54864" rIns="137160" bIns="54864" anchor="t" rtlCol="0">
            <a:noAutofit/>
          </a:bodyPr>
          <a:lstStyle/>
          <a:p>
            <a:pPr algn="l">
              <a:lnSpc>
                <a:spcPts val="2470"/>
              </a:lnSpc>
              <a:spcBef>
                <a:spcPts val="0"/>
              </a:spcBef>
              <a:spcAft>
                <a:spcPts val="0"/>
              </a:spcAft>
              <a:buNone/>
            </a:pPr>
            <a:r>
              <a:rPr lang="en-US" altLang="en-US" sz="1900" b="1" dirty="0">
                <a:solidFill>
                  <a:srgbClr val="C00000"/>
                </a:solidFill>
                <a:latin typeface="Calibri"/>
                <a:ea typeface="맑은 고딕"/>
                <a:cs typeface="Calibri"/>
              </a:rPr>
              <a:t>→  </a:t>
            </a:r>
            <a:r>
              <a:rPr lang="en-US" altLang="en-US" sz="1900" b="1" dirty="0">
                <a:solidFill>
                  <a:srgbClr val="C00000"/>
                </a:solidFill>
                <a:latin typeface="Calibri"/>
                <a:ea typeface="맑은 고딕"/>
                <a:cs typeface="Calibri"/>
              </a:rPr>
              <a:t>Therefore, mountain climbers started to hire Sherpas to help them climb Mount Everest.</a:t>
            </a:r>
            <a:endParaRPr lang="ko-KR" sz="19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25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2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4" grpId="0" animBg="1"/>
    </p:bldLst>
  </p:timing>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8000"/>
            </a:avLst>
          </a:prstGeom>
          <a:solidFill>
            <a:srgbClr val="1E2A5A"/>
          </a:solidFill>
          <a:ln>
            <a:noFill/>
          </a:ln>
        </p:spPr>
        <p:txBody>
          <a:bodyPr wrap="square" lIns="45720" tIns="18288" rIns="45720" bIns="18288" anchor="ctr" rtlCol="0">
            <a:noAutofit/>
          </a:bodyPr>
          <a:lstStyle/>
          <a:p>
            <a:pPr algn="ctr">
              <a:lnSpc>
                <a:spcPts val="2000"/>
              </a:lnSpc>
              <a:spcBef>
                <a:spcPts val="0"/>
              </a:spcBef>
              <a:spcAft>
                <a:spcPts val="0"/>
              </a:spcAft>
              <a:buNone/>
            </a:pPr>
            <a:r>
              <a:rPr lang="en-US" altLang="en-US" sz="1700" b="1" dirty="0">
                <a:solidFill>
                  <a:srgbClr val="FFFFFF"/>
                </a:solidFill>
                <a:latin typeface="Calibri"/>
                <a:ea typeface="맑은 고딕"/>
                <a:cs typeface="Calibri"/>
              </a:rPr>
              <a:t>L5-4</a:t>
            </a:r>
            <a:endParaRPr lang="ko-KR" sz="1700"/>
          </a:p>
        </p:txBody>
      </p:sp>
      <p:sp>
        <p:nvSpPr>
          <p:cNvPr id="3" name="hdr_chip"/>
          <p:cNvSpPr/>
          <p:nvPr/>
        </p:nvSpPr>
        <p:spPr>
          <a:xfrm>
            <a:off x="1755648" y="274320"/>
            <a:ext cx="1371600" cy="493776"/>
          </a:xfrm>
          <a:prstGeom prst="roundRect">
            <a:avLst>
              <a:gd name="adj" fmla="val 8000"/>
            </a:avLst>
          </a:prstGeom>
          <a:solidFill>
            <a:srgbClr val="E6EAF4"/>
          </a:solidFill>
          <a:ln>
            <a:noFill/>
          </a:ln>
        </p:spPr>
        <p:txBody>
          <a:bodyPr wrap="square" lIns="27432" tIns="18288" rIns="27432" bIns="18288" anchor="ctr" rtlCol="0">
            <a:noAutofit/>
          </a:bodyPr>
          <a:lstStyle/>
          <a:p>
            <a:pPr algn="ctr">
              <a:lnSpc>
                <a:spcPts val="1700"/>
              </a:lnSpc>
              <a:spcBef>
                <a:spcPts val="0"/>
              </a:spcBef>
              <a:spcAft>
                <a:spcPts val="0"/>
              </a:spcAft>
              <a:buNone/>
            </a:pPr>
            <a:r>
              <a:rPr lang="ko-KR" altLang="en-US" sz="1400" b="1" dirty="0">
                <a:solidFill>
                  <a:srgbClr val="1E2A5A"/>
                </a:solidFill>
                <a:latin typeface="맑은 고딕"/>
                <a:ea typeface="맑은 고딕"/>
                <a:cs typeface="맑은 고딕"/>
              </a:rPr>
              <a:t>PART 6 · 12</a:t>
            </a:r>
            <a:endParaRPr lang="ko-KR" sz="1400"/>
          </a:p>
        </p:txBody>
      </p:sp>
      <p:sp>
        <p:nvSpPr>
          <p:cNvPr id="4" name="hdr_q"/>
          <p:cNvSpPr txBox="1"/>
          <p:nvPr/>
        </p:nvSpPr>
        <p:spPr>
          <a:xfrm>
            <a:off x="3246120" y="246888"/>
            <a:ext cx="8485632" cy="548640"/>
          </a:xfrm>
          <a:prstGeom prst="rect">
            <a:avLst/>
          </a:prstGeom>
          <a:noFill/>
        </p:spPr>
        <p:txBody>
          <a:bodyPr wrap="square" lIns="109728" tIns="54864" rIns="109728" bIns="54864" anchor="ctr" rtlCol="0">
            <a:noAutofit/>
          </a:bodyPr>
          <a:lstStyle/>
          <a:p>
            <a:pPr algn="l">
              <a:lnSpc>
                <a:spcPts val="2400"/>
              </a:lnSpc>
              <a:spcBef>
                <a:spcPts val="0"/>
              </a:spcBef>
              <a:spcAft>
                <a:spcPts val="0"/>
              </a:spcAft>
              <a:buNone/>
            </a:pPr>
            <a:r>
              <a:rPr lang="ko-KR" altLang="en-US" sz="2000" b="1" dirty="0">
                <a:solidFill>
                  <a:srgbClr val="1F2328"/>
                </a:solidFill>
                <a:latin typeface="맑은 고딕"/>
                <a:ea typeface="맑은 고딕"/>
                <a:cs typeface="맑은 고딕"/>
              </a:rPr>
              <a:t>우리말에 맞게 (  ) 안의 말을 바르게 배열하시오.</a:t>
            </a:r>
            <a:endParaRPr lang="ko-KR" sz="2000"/>
          </a:p>
        </p:txBody>
      </p:sp>
      <p:sp>
        <p:nvSpPr>
          <p:cNvPr id="5" name="ftr_exam"/>
          <p:cNvSpPr txBox="1"/>
          <p:nvPr/>
        </p:nvSpPr>
        <p:spPr>
          <a:xfrm>
            <a:off x="457200" y="6519672"/>
            <a:ext cx="5669280" cy="256032"/>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5</a:t>
            </a:r>
            <a:endParaRPr lang="ko-KR" sz="1000"/>
          </a:p>
        </p:txBody>
      </p:sp>
      <p:sp>
        <p:nvSpPr>
          <p:cNvPr id="6" name="ftr_hint"/>
          <p:cNvSpPr txBox="1"/>
          <p:nvPr/>
        </p:nvSpPr>
        <p:spPr>
          <a:xfrm>
            <a:off x="5971032" y="6519672"/>
            <a:ext cx="5760720" cy="256032"/>
          </a:xfrm>
          <a:prstGeom prst="rect">
            <a:avLst/>
          </a:prstGeom>
          <a:noFill/>
        </p:spPr>
        <p:txBody>
          <a:bodyPr wrap="square" lIns="0" tIns="0" rIns="0" bIns="0" anchor="t" rtlCol="0">
            <a:noAutofit/>
          </a:bodyPr>
          <a:lstStyle/>
          <a:p>
            <a:pPr algn="r">
              <a:lnSpc>
                <a:spcPts val="1200"/>
              </a:lnSpc>
              <a:spcBef>
                <a:spcPts val="0"/>
              </a:spcBef>
              <a:spcAft>
                <a:spcPts val="0"/>
              </a:spcAft>
              <a:buNone/>
            </a:pPr>
            <a:r>
              <a:rPr lang="ko-KR" altLang="en-US" sz="1000" b="0" dirty="0">
                <a:solidFill>
                  <a:srgbClr val="7A808C"/>
                </a:solidFill>
                <a:latin typeface="맑은 고딕"/>
                <a:ea typeface="맑은 고딕"/>
                <a:cs typeface="맑은 고딕"/>
              </a:rPr>
              <a:t>클릭 ① 완성 문장(정답) 공개</a:t>
            </a:r>
            <a:endParaRPr lang="ko-KR" sz="1000"/>
          </a:p>
        </p:txBody>
      </p:sp>
      <p:sp>
        <p:nvSpPr>
          <p:cNvPr id="7" name="item_card_1"/>
          <p:cNvSpPr/>
          <p:nvPr/>
        </p:nvSpPr>
        <p:spPr>
          <a:xfrm>
            <a:off x="457200" y="950976"/>
            <a:ext cx="11274552" cy="2571242"/>
          </a:xfrm>
          <a:prstGeom prst="roundRect">
            <a:avLst>
              <a:gd name="adj" fmla="val 6000"/>
            </a:avLst>
          </a:prstGeom>
          <a:solidFill>
            <a:srgbClr val="F3F5F9"/>
          </a:solidFill>
          <a:ln w="12700">
            <a:solidFill>
              <a:srgbClr val="D9DFEA"/>
            </a:solidFill>
          </a:ln>
        </p:spPr>
        <p:txBody>
          <a:bodyPr rtlCol="0" anchor="ctr"/>
          <a:lstStyle/>
          <a:p>
            <a:pPr algn="ctr"/>
          </a:p>
        </p:txBody>
      </p:sp>
      <p:sp>
        <p:nvSpPr>
          <p:cNvPr id="8" name="kor_1"/>
          <p:cNvSpPr txBox="1"/>
          <p:nvPr/>
        </p:nvSpPr>
        <p:spPr>
          <a:xfrm>
            <a:off x="457200" y="1060704"/>
            <a:ext cx="11274552" cy="649478"/>
          </a:xfrm>
          <a:prstGeom prst="rect">
            <a:avLst/>
          </a:prstGeom>
          <a:noFill/>
        </p:spPr>
        <p:txBody>
          <a:bodyPr wrap="square" lIns="228600" tIns="54864" rIns="228600" bIns="54864" anchor="t" rtlCol="0">
            <a:noAutofit/>
          </a:bodyPr>
          <a:lstStyle/>
          <a:p>
            <a:pPr algn="l">
              <a:lnSpc>
                <a:spcPts val="2125"/>
              </a:lnSpc>
              <a:spcBef>
                <a:spcPts val="0"/>
              </a:spcBef>
              <a:spcAft>
                <a:spcPts val="0"/>
              </a:spcAft>
              <a:buNone/>
            </a:pPr>
            <a:r>
              <a:rPr lang="en-US" altLang="en-US" sz="1700" b="1" dirty="0">
                <a:solidFill>
                  <a:srgbClr val="1E2A5A"/>
                </a:solidFill>
                <a:latin typeface="Calibri"/>
                <a:ea typeface="맑은 고딕"/>
                <a:cs typeface="Calibri"/>
              </a:rPr>
              <a:t>5.  </a:t>
            </a:r>
            <a:r>
              <a:rPr lang="ko-KR" altLang="en-US" sz="1700" b="1" dirty="0">
                <a:solidFill>
                  <a:srgbClr val="1F2328"/>
                </a:solidFill>
                <a:latin typeface="맑은 고딕"/>
                <a:ea typeface="맑은 고딕"/>
                <a:cs typeface="맑은 고딕"/>
              </a:rPr>
              <a:t>셰르파는 등산가들을 산 정상까지 이끈다. 그들은 여러 방식으로 등산가들을 지원한다. 예를 들어, 그들은 텐트를 치고 등산가들의 가방을 운반한다.</a:t>
            </a:r>
            <a:endParaRPr lang="ko-KR" sz="1700"/>
          </a:p>
        </p:txBody>
      </p:sp>
      <p:sp>
        <p:nvSpPr>
          <p:cNvPr id="9" name="ex_1"/>
          <p:cNvSpPr txBox="1"/>
          <p:nvPr/>
        </p:nvSpPr>
        <p:spPr>
          <a:xfrm>
            <a:off x="457200" y="1655318"/>
            <a:ext cx="11274552" cy="761238"/>
          </a:xfrm>
          <a:prstGeom prst="rect">
            <a:avLst/>
          </a:prstGeom>
          <a:noFill/>
        </p:spPr>
        <p:txBody>
          <a:bodyPr wrap="square" lIns="228600" tIns="54864" rIns="228600" bIns="54864" anchor="t" rtlCol="0">
            <a:noAutofit/>
          </a:bodyPr>
          <a:lstStyle/>
          <a:p>
            <a:pPr algn="l">
              <a:lnSpc>
                <a:spcPts val="2565"/>
              </a:lnSpc>
              <a:spcBef>
                <a:spcPts val="0"/>
              </a:spcBef>
              <a:spcAft>
                <a:spcPts val="0"/>
              </a:spcAft>
              <a:buNone/>
            </a:pP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lead</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to the top of the mountain</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Sherpas</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mountain climbers</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support</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climbers</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in many ways</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They</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 For example,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tents</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put up</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they</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 and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climbers’ bags</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carry</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a:t>
            </a:r>
            <a:endParaRPr lang="ko-KR" sz="1900"/>
          </a:p>
        </p:txBody>
      </p:sp>
      <p:sp>
        <p:nvSpPr>
          <p:cNvPr id="10" name="rv_ans_1"/>
          <p:cNvSpPr txBox="1"/>
          <p:nvPr/>
        </p:nvSpPr>
        <p:spPr>
          <a:xfrm>
            <a:off x="594360" y="2453132"/>
            <a:ext cx="11000232" cy="1050798"/>
          </a:xfrm>
          <a:prstGeom prst="rect">
            <a:avLst/>
          </a:prstGeom>
          <a:solidFill>
            <a:srgbClr val="FFF3C4"/>
          </a:solidFill>
        </p:spPr>
        <p:txBody>
          <a:bodyPr wrap="square" lIns="137160" tIns="54864" rIns="137160" bIns="54864" anchor="t" rtlCol="0">
            <a:noAutofit/>
          </a:bodyPr>
          <a:lstStyle/>
          <a:p>
            <a:pPr algn="l">
              <a:lnSpc>
                <a:spcPts val="2470"/>
              </a:lnSpc>
              <a:spcBef>
                <a:spcPts val="0"/>
              </a:spcBef>
              <a:spcAft>
                <a:spcPts val="0"/>
              </a:spcAft>
              <a:buNone/>
            </a:pPr>
            <a:r>
              <a:rPr lang="en-US" altLang="en-US" sz="1900" b="1" dirty="0">
                <a:solidFill>
                  <a:srgbClr val="C00000"/>
                </a:solidFill>
                <a:latin typeface="Calibri"/>
                <a:ea typeface="맑은 고딕"/>
                <a:cs typeface="Calibri"/>
              </a:rPr>
              <a:t>→  </a:t>
            </a:r>
            <a:r>
              <a:rPr lang="en-US" altLang="en-US" sz="1900" b="1" dirty="0">
                <a:solidFill>
                  <a:srgbClr val="C00000"/>
                </a:solidFill>
                <a:latin typeface="Calibri"/>
                <a:ea typeface="맑은 고딕"/>
                <a:cs typeface="Calibri"/>
              </a:rPr>
              <a:t>Sherpas lead mountain climbers to the top of the mountain. They support climbers in many ways. For example, they put up tents and carry climbers’ bags.</a:t>
            </a:r>
            <a:endParaRPr lang="ko-KR" sz="1900"/>
          </a:p>
        </p:txBody>
      </p:sp>
      <p:sp>
        <p:nvSpPr>
          <p:cNvPr id="11" name="item_card_2"/>
          <p:cNvSpPr/>
          <p:nvPr/>
        </p:nvSpPr>
        <p:spPr>
          <a:xfrm>
            <a:off x="457200" y="3631946"/>
            <a:ext cx="11274552" cy="2257552"/>
          </a:xfrm>
          <a:prstGeom prst="roundRect">
            <a:avLst>
              <a:gd name="adj" fmla="val 6000"/>
            </a:avLst>
          </a:prstGeom>
          <a:solidFill>
            <a:srgbClr val="F3F5F9"/>
          </a:solidFill>
          <a:ln w="12700">
            <a:solidFill>
              <a:srgbClr val="D9DFEA"/>
            </a:solidFill>
          </a:ln>
        </p:spPr>
        <p:txBody>
          <a:bodyPr rtlCol="0" anchor="ctr"/>
          <a:lstStyle/>
          <a:p>
            <a:pPr algn="ctr"/>
          </a:p>
        </p:txBody>
      </p:sp>
      <p:sp>
        <p:nvSpPr>
          <p:cNvPr id="12" name="kor_2"/>
          <p:cNvSpPr txBox="1"/>
          <p:nvPr/>
        </p:nvSpPr>
        <p:spPr>
          <a:xfrm>
            <a:off x="457200" y="3741674"/>
            <a:ext cx="11274552" cy="649478"/>
          </a:xfrm>
          <a:prstGeom prst="rect">
            <a:avLst/>
          </a:prstGeom>
          <a:noFill/>
        </p:spPr>
        <p:txBody>
          <a:bodyPr wrap="square" lIns="228600" tIns="54864" rIns="228600" bIns="54864" anchor="t" rtlCol="0">
            <a:noAutofit/>
          </a:bodyPr>
          <a:lstStyle/>
          <a:p>
            <a:pPr algn="l">
              <a:lnSpc>
                <a:spcPts val="2125"/>
              </a:lnSpc>
              <a:spcBef>
                <a:spcPts val="0"/>
              </a:spcBef>
              <a:spcAft>
                <a:spcPts val="0"/>
              </a:spcAft>
              <a:buNone/>
            </a:pPr>
            <a:r>
              <a:rPr lang="en-US" altLang="en-US" sz="1700" b="1" dirty="0">
                <a:solidFill>
                  <a:srgbClr val="1E2A5A"/>
                </a:solidFill>
                <a:latin typeface="Calibri"/>
                <a:ea typeface="맑은 고딕"/>
                <a:cs typeface="Calibri"/>
              </a:rPr>
              <a:t>6.  </a:t>
            </a:r>
            <a:r>
              <a:rPr lang="ko-KR" altLang="en-US" sz="1700" b="1" dirty="0">
                <a:solidFill>
                  <a:srgbClr val="1F2328"/>
                </a:solidFill>
                <a:latin typeface="맑은 고딕"/>
                <a:ea typeface="맑은 고딕"/>
                <a:cs typeface="맑은 고딕"/>
              </a:rPr>
              <a:t>셰르파는 종종 에베레스트산의 보이지 않는 사람들로 불리는데, 왜냐하면 사람들은 흔히 산 정상에서 등산가들만 찍힌 사진을 보기 때문이다.</a:t>
            </a:r>
            <a:endParaRPr lang="ko-KR" sz="1700"/>
          </a:p>
        </p:txBody>
      </p:sp>
      <p:sp>
        <p:nvSpPr>
          <p:cNvPr id="13" name="ex_2"/>
          <p:cNvSpPr txBox="1"/>
          <p:nvPr/>
        </p:nvSpPr>
        <p:spPr>
          <a:xfrm>
            <a:off x="457200" y="4336288"/>
            <a:ext cx="11274552" cy="761238"/>
          </a:xfrm>
          <a:prstGeom prst="rect">
            <a:avLst/>
          </a:prstGeom>
          <a:noFill/>
        </p:spPr>
        <p:txBody>
          <a:bodyPr wrap="square" lIns="228600" tIns="54864" rIns="228600" bIns="54864" anchor="t" rtlCol="0">
            <a:noAutofit/>
          </a:bodyPr>
          <a:lstStyle/>
          <a:p>
            <a:pPr algn="l">
              <a:lnSpc>
                <a:spcPts val="2565"/>
              </a:lnSpc>
              <a:spcBef>
                <a:spcPts val="0"/>
              </a:spcBef>
              <a:spcAft>
                <a:spcPts val="0"/>
              </a:spcAft>
              <a:buNone/>
            </a:pP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are often called</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the invisible people</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Sherpas</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of Mount Everest</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 because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only the climbers</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often see</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at the top of the mountain</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people</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a picture of</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a:t>
            </a:r>
            <a:endParaRPr lang="ko-KR" sz="1900"/>
          </a:p>
        </p:txBody>
      </p:sp>
      <p:sp>
        <p:nvSpPr>
          <p:cNvPr id="14" name="rv_ans_2"/>
          <p:cNvSpPr txBox="1"/>
          <p:nvPr/>
        </p:nvSpPr>
        <p:spPr>
          <a:xfrm>
            <a:off x="594360" y="5134102"/>
            <a:ext cx="11000232" cy="737108"/>
          </a:xfrm>
          <a:prstGeom prst="rect">
            <a:avLst/>
          </a:prstGeom>
          <a:solidFill>
            <a:srgbClr val="FFF3C4"/>
          </a:solidFill>
        </p:spPr>
        <p:txBody>
          <a:bodyPr wrap="square" lIns="137160" tIns="54864" rIns="137160" bIns="54864" anchor="t" rtlCol="0">
            <a:noAutofit/>
          </a:bodyPr>
          <a:lstStyle/>
          <a:p>
            <a:pPr algn="l">
              <a:lnSpc>
                <a:spcPts val="2470"/>
              </a:lnSpc>
              <a:spcBef>
                <a:spcPts val="0"/>
              </a:spcBef>
              <a:spcAft>
                <a:spcPts val="0"/>
              </a:spcAft>
              <a:buNone/>
            </a:pPr>
            <a:r>
              <a:rPr lang="en-US" altLang="en-US" sz="1900" b="1" dirty="0">
                <a:solidFill>
                  <a:srgbClr val="C00000"/>
                </a:solidFill>
                <a:latin typeface="Calibri"/>
                <a:ea typeface="맑은 고딕"/>
                <a:cs typeface="Calibri"/>
              </a:rPr>
              <a:t>→  </a:t>
            </a:r>
            <a:r>
              <a:rPr lang="en-US" altLang="en-US" sz="1900" b="1" dirty="0">
                <a:solidFill>
                  <a:srgbClr val="C00000"/>
                </a:solidFill>
                <a:latin typeface="Calibri"/>
                <a:ea typeface="맑은 고딕"/>
                <a:cs typeface="Calibri"/>
              </a:rPr>
              <a:t>Sherpas are often called the invisible people of Mount Everest because people often see a picture of only the climbers at the top of the mountain.</a:t>
            </a:r>
            <a:endParaRPr lang="ko-KR" sz="19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25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2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4" grpId="0" animBg="1"/>
    </p:bldLst>
  </p:timing>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1E2A5A"/>
        </a:solidFill>
        <a:effectLst/>
      </p:bgPr>
    </p:bg>
    <p:spTree>
      <p:nvGrpSpPr>
        <p:cNvPr id="1" name=""/>
        <p:cNvGrpSpPr/>
        <p:nvPr/>
      </p:nvGrpSpPr>
      <p:grpSpPr/>
      <p:sp>
        <p:nvSpPr>
          <p:cNvPr id="2" name="cv_title"/>
          <p:cNvSpPr txBox="1"/>
          <p:nvPr/>
        </p:nvSpPr>
        <p:spPr>
          <a:xfrm>
            <a:off x="822960" y="914400"/>
            <a:ext cx="10515600" cy="868680"/>
          </a:xfrm>
          <a:prstGeom prst="rect">
            <a:avLst/>
          </a:prstGeom>
          <a:noFill/>
        </p:spPr>
        <p:txBody>
          <a:bodyPr wrap="square" lIns="109728" tIns="54864" rIns="109728" bIns="54864" anchor="t" rtlCol="0">
            <a:noAutofit/>
          </a:bodyPr>
          <a:lstStyle/>
          <a:p>
            <a:pPr algn="l">
              <a:lnSpc>
                <a:spcPts val="4800"/>
              </a:lnSpc>
              <a:spcBef>
                <a:spcPts val="0"/>
              </a:spcBef>
              <a:spcAft>
                <a:spcPts val="0"/>
              </a:spcAft>
              <a:buNone/>
            </a:pPr>
            <a:r>
              <a:rPr lang="ko-KR" altLang="en-US" sz="4000" b="1" dirty="0">
                <a:solidFill>
                  <a:srgbClr val="FFFFFF"/>
                </a:solidFill>
                <a:latin typeface="맑은 고딕"/>
                <a:ea typeface="맑은 고딕"/>
                <a:cs typeface="맑은 고딕"/>
              </a:rPr>
              <a:t>통합 수업 · 정답 확인</a:t>
            </a:r>
            <a:endParaRPr lang="ko-KR" sz="4000"/>
          </a:p>
        </p:txBody>
      </p:sp>
      <p:sp>
        <p:nvSpPr>
          <p:cNvPr id="3" name="cv_exam"/>
          <p:cNvSpPr txBox="1"/>
          <p:nvPr/>
        </p:nvSpPr>
        <p:spPr>
          <a:xfrm>
            <a:off x="822960" y="1783080"/>
            <a:ext cx="10515600" cy="502920"/>
          </a:xfrm>
          <a:prstGeom prst="rect">
            <a:avLst/>
          </a:prstGeom>
          <a:noFill/>
        </p:spPr>
        <p:txBody>
          <a:bodyPr wrap="square" lIns="109728" tIns="54864" rIns="109728" bIns="54864" anchor="t" rtlCol="0">
            <a:noAutofit/>
          </a:bodyPr>
          <a:lstStyle/>
          <a:p>
            <a:pPr algn="l">
              <a:lnSpc>
                <a:spcPts val="2400"/>
              </a:lnSpc>
              <a:spcBef>
                <a:spcPts val="0"/>
              </a:spcBef>
              <a:spcAft>
                <a:spcPts val="0"/>
              </a:spcAft>
              <a:buNone/>
            </a:pPr>
            <a:r>
              <a:rPr lang="ko-KR" altLang="en-US" sz="2000" b="0" dirty="0">
                <a:solidFill>
                  <a:srgbClr val="CFD8E8"/>
                </a:solidFill>
                <a:latin typeface="맑은 고딕"/>
                <a:ea typeface="맑은 고딕"/>
                <a:cs typeface="맑은 고딕"/>
              </a:rPr>
              <a:t>중3 동아(윤정미) Lesson 5 – 8</a:t>
            </a:r>
            <a:endParaRPr lang="ko-KR" sz="2000"/>
          </a:p>
        </p:txBody>
      </p:sp>
      <p:sp>
        <p:nvSpPr>
          <p:cNvPr id="4" name="cv_ids"/>
          <p:cNvSpPr txBox="1"/>
          <p:nvPr/>
        </p:nvSpPr>
        <p:spPr>
          <a:xfrm>
            <a:off x="822960" y="2331720"/>
            <a:ext cx="10515600" cy="457200"/>
          </a:xfrm>
          <a:prstGeom prst="rect">
            <a:avLst/>
          </a:prstGeom>
          <a:noFill/>
        </p:spPr>
        <p:txBody>
          <a:bodyPr wrap="square" lIns="109728" tIns="54864" rIns="109728" bIns="54864" anchor="t" rtlCol="0">
            <a:noAutofit/>
          </a:bodyPr>
          <a:lstStyle/>
          <a:p>
            <a:pPr algn="l">
              <a:lnSpc>
                <a:spcPts val="2200"/>
              </a:lnSpc>
              <a:spcBef>
                <a:spcPts val="0"/>
              </a:spcBef>
              <a:spcAft>
                <a:spcPts val="0"/>
              </a:spcAft>
              <a:buNone/>
            </a:pPr>
            <a:r>
              <a:rPr lang="en-US" altLang="en-US" sz="1800" b="1" dirty="0">
                <a:solidFill>
                  <a:srgbClr val="AEBBD0"/>
                </a:solidFill>
                <a:latin typeface="Calibri"/>
                <a:ea typeface="맑은 고딕"/>
                <a:cs typeface="Calibri"/>
              </a:rPr>
              <a:t>Lesson 5  ·  Lesson 6  ·  Lesson 7  ·  Lesson 8</a:t>
            </a:r>
            <a:endParaRPr lang="ko-KR" sz="1800"/>
          </a:p>
        </p:txBody>
      </p:sp>
      <p:sp>
        <p:nvSpPr>
          <p:cNvPr id="5" name="cv_legend"/>
          <p:cNvSpPr/>
          <p:nvPr/>
        </p:nvSpPr>
        <p:spPr>
          <a:xfrm>
            <a:off x="822960" y="3246120"/>
            <a:ext cx="10515600" cy="3017520"/>
          </a:xfrm>
          <a:prstGeom prst="roundRect">
            <a:avLst>
              <a:gd name="adj" fmla="val 5000"/>
            </a:avLst>
          </a:prstGeom>
          <a:solidFill>
            <a:srgbClr val="27356E"/>
          </a:solidFill>
          <a:ln>
            <a:noFill/>
          </a:ln>
        </p:spPr>
        <p:txBody>
          <a:bodyPr wrap="square" lIns="320040" tIns="137160" rIns="320040" bIns="137160" anchor="ctr" rtlCol="0">
            <a:noAutofit/>
          </a:bodyPr>
          <a:lstStyle/>
          <a:p>
            <a:pPr algn="l">
              <a:lnSpc>
                <a:spcPts val="2400"/>
              </a:lnSpc>
              <a:spcBef>
                <a:spcPts val="0"/>
              </a:spcBef>
              <a:spcAft>
                <a:spcPts val="0"/>
              </a:spcAft>
              <a:buNone/>
            </a:pPr>
            <a:r>
              <a:rPr lang="ko-KR" altLang="en-US" sz="1600" b="1" dirty="0">
                <a:solidFill>
                  <a:srgbClr val="FFE98A"/>
                </a:solidFill>
                <a:latin typeface="맑은 고딕"/>
                <a:ea typeface="맑은 고딕"/>
                <a:cs typeface="맑은 고딕"/>
              </a:rPr>
              <a:t>PART 1  5지선다</a:t>
            </a:r>
            <a:r>
              <a:rPr lang="ko-KR" altLang="en-US" sz="1600" b="0" dirty="0">
                <a:solidFill>
                  <a:srgbClr val="FFFFFF"/>
                </a:solidFill>
                <a:latin typeface="맑은 고딕"/>
                <a:ea typeface="맑은 고딕"/>
                <a:cs typeface="맑은 고딕"/>
              </a:rPr>
              <a:t>     클릭 ① 정답  →  클릭 ② 본문 근거 형광 + 정답 원리</a:t>
            </a:r>
            <a:endParaRPr lang="ko-KR" sz="1600"/>
          </a:p>
          <a:p>
            <a:pPr algn="l">
              <a:lnSpc>
                <a:spcPts val="2400"/>
              </a:lnSpc>
              <a:spcBef>
                <a:spcPts val="600"/>
              </a:spcBef>
              <a:spcAft>
                <a:spcPts val="0"/>
              </a:spcAft>
              <a:buNone/>
            </a:pPr>
            <a:r>
              <a:rPr lang="ko-KR" altLang="en-US" sz="1600" b="1" dirty="0">
                <a:solidFill>
                  <a:srgbClr val="FFE98A"/>
                </a:solidFill>
                <a:latin typeface="맑은 고딕"/>
                <a:ea typeface="맑은 고딕"/>
                <a:cs typeface="맑은 고딕"/>
              </a:rPr>
              <a:t>PART 2  순서·위치</a:t>
            </a:r>
            <a:r>
              <a:rPr lang="ko-KR" altLang="en-US" sz="1600" b="0" dirty="0">
                <a:solidFill>
                  <a:srgbClr val="FFFFFF"/>
                </a:solidFill>
                <a:latin typeface="맑은 고딕"/>
                <a:ea typeface="맑은 고딕"/>
                <a:cs typeface="맑은 고딕"/>
              </a:rPr>
              <a:t>     클릭 ① 정답  →  클릭 ② 정답 원리</a:t>
            </a:r>
            <a:endParaRPr lang="ko-KR" sz="1600"/>
          </a:p>
          <a:p>
            <a:pPr algn="l">
              <a:lnSpc>
                <a:spcPts val="2400"/>
              </a:lnSpc>
              <a:spcBef>
                <a:spcPts val="600"/>
              </a:spcBef>
              <a:spcAft>
                <a:spcPts val="0"/>
              </a:spcAft>
              <a:buNone/>
            </a:pPr>
            <a:r>
              <a:rPr lang="ko-KR" altLang="en-US" sz="1600" b="1" dirty="0">
                <a:solidFill>
                  <a:srgbClr val="FFE98A"/>
                </a:solidFill>
                <a:latin typeface="맑은 고딕"/>
                <a:ea typeface="맑은 고딕"/>
                <a:cs typeface="맑은 고딕"/>
              </a:rPr>
              <a:t>PART 3  어법·어휘</a:t>
            </a:r>
            <a:r>
              <a:rPr lang="ko-KR" altLang="en-US" sz="1600" b="0" dirty="0">
                <a:solidFill>
                  <a:srgbClr val="FFFFFF"/>
                </a:solidFill>
                <a:latin typeface="맑은 고딕"/>
                <a:ea typeface="맑은 고딕"/>
                <a:cs typeface="맑은 고딕"/>
              </a:rPr>
              <a:t>     본문 속 괄호마다, 클릭할 때마다 정답이 빨간색으로</a:t>
            </a:r>
            <a:endParaRPr lang="ko-KR" sz="1600"/>
          </a:p>
          <a:p>
            <a:pPr algn="l">
              <a:lnSpc>
                <a:spcPts val="2400"/>
              </a:lnSpc>
              <a:spcBef>
                <a:spcPts val="600"/>
              </a:spcBef>
              <a:spcAft>
                <a:spcPts val="0"/>
              </a:spcAft>
              <a:buNone/>
            </a:pPr>
            <a:r>
              <a:rPr lang="ko-KR" altLang="en-US" sz="1600" b="1" dirty="0">
                <a:solidFill>
                  <a:srgbClr val="FFE98A"/>
                </a:solidFill>
                <a:latin typeface="맑은 고딕"/>
                <a:ea typeface="맑은 고딕"/>
                <a:cs typeface="맑은 고딕"/>
              </a:rPr>
              <a:t>PART 4  내용이해 T/F</a:t>
            </a:r>
            <a:r>
              <a:rPr lang="ko-KR" altLang="en-US" sz="1600" b="0" dirty="0">
                <a:solidFill>
                  <a:srgbClr val="FFFFFF"/>
                </a:solidFill>
                <a:latin typeface="맑은 고딕"/>
                <a:ea typeface="맑은 고딕"/>
                <a:cs typeface="맑은 고딕"/>
              </a:rPr>
              <a:t>     클릭 ① 5문항 T/F 정답 한꺼번에</a:t>
            </a:r>
            <a:endParaRPr lang="ko-KR" sz="1600"/>
          </a:p>
          <a:p>
            <a:pPr algn="l">
              <a:lnSpc>
                <a:spcPts val="2400"/>
              </a:lnSpc>
              <a:spcBef>
                <a:spcPts val="600"/>
              </a:spcBef>
              <a:spcAft>
                <a:spcPts val="0"/>
              </a:spcAft>
              <a:buNone/>
            </a:pPr>
            <a:r>
              <a:rPr lang="ko-KR" altLang="en-US" sz="1600" b="1" dirty="0">
                <a:solidFill>
                  <a:srgbClr val="FFE98A"/>
                </a:solidFill>
                <a:latin typeface="맑은 고딕"/>
                <a:ea typeface="맑은 고딕"/>
                <a:cs typeface="맑은 고딕"/>
              </a:rPr>
              <a:t>PART 5  어법 선택</a:t>
            </a:r>
            <a:r>
              <a:rPr lang="ko-KR" altLang="en-US" sz="1600" b="0" dirty="0">
                <a:solidFill>
                  <a:srgbClr val="FFFFFF"/>
                </a:solidFill>
                <a:latin typeface="맑은 고딕"/>
                <a:ea typeface="맑은 고딕"/>
                <a:cs typeface="맑은 고딕"/>
              </a:rPr>
              <a:t>     클릭 ① 정답(빨간색) + 문법 포인트</a:t>
            </a:r>
            <a:endParaRPr lang="ko-KR" sz="1600"/>
          </a:p>
          <a:p>
            <a:pPr algn="l">
              <a:lnSpc>
                <a:spcPts val="2400"/>
              </a:lnSpc>
              <a:spcBef>
                <a:spcPts val="600"/>
              </a:spcBef>
              <a:spcAft>
                <a:spcPts val="0"/>
              </a:spcAft>
              <a:buNone/>
            </a:pPr>
            <a:r>
              <a:rPr lang="ko-KR" altLang="en-US" sz="1600" b="1" dirty="0">
                <a:solidFill>
                  <a:srgbClr val="FFE98A"/>
                </a:solidFill>
                <a:latin typeface="맑은 고딕"/>
                <a:ea typeface="맑은 고딕"/>
                <a:cs typeface="맑은 고딕"/>
              </a:rPr>
              <a:t>PART 6  부분영작</a:t>
            </a:r>
            <a:r>
              <a:rPr lang="ko-KR" altLang="en-US" sz="1600" b="0" dirty="0">
                <a:solidFill>
                  <a:srgbClr val="FFFFFF"/>
                </a:solidFill>
                <a:latin typeface="맑은 고딕"/>
                <a:ea typeface="맑은 고딕"/>
                <a:cs typeface="맑은 고딕"/>
              </a:rPr>
              <a:t>     클릭 ① 완성 문장(정답)</a:t>
            </a:r>
            <a:endParaRPr lang="ko-KR" sz="1600"/>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1E2A5A"/>
        </a:solidFill>
        <a:effectLst/>
      </p:bgPr>
    </p:bg>
    <p:spTree>
      <p:nvGrpSpPr>
        <p:cNvPr id="1" name=""/>
        <p:cNvGrpSpPr/>
        <p:nvPr/>
      </p:nvGrpSpPr>
      <p:grpSpPr/>
      <p:sp>
        <p:nvSpPr>
          <p:cNvPr id="2" name="dv_title"/>
          <p:cNvSpPr txBox="1"/>
          <p:nvPr/>
        </p:nvSpPr>
        <p:spPr>
          <a:xfrm>
            <a:off x="822960" y="1828800"/>
            <a:ext cx="10515600" cy="1188720"/>
          </a:xfrm>
          <a:prstGeom prst="rect">
            <a:avLst/>
          </a:prstGeom>
          <a:noFill/>
        </p:spPr>
        <p:txBody>
          <a:bodyPr wrap="square" lIns="109728" tIns="54864" rIns="109728" bIns="54864" anchor="t" rtlCol="0">
            <a:noAutofit/>
          </a:bodyPr>
          <a:lstStyle/>
          <a:p>
            <a:pPr algn="l">
              <a:lnSpc>
                <a:spcPts val="7600"/>
              </a:lnSpc>
              <a:spcBef>
                <a:spcPts val="0"/>
              </a:spcBef>
              <a:spcAft>
                <a:spcPts val="0"/>
              </a:spcAft>
              <a:buNone/>
            </a:pPr>
            <a:r>
              <a:rPr lang="en-US" altLang="en-US" sz="6600" b="1" dirty="0">
                <a:solidFill>
                  <a:srgbClr val="FFFFFF"/>
                </a:solidFill>
                <a:latin typeface="Calibri"/>
                <a:ea typeface="맑은 고딕"/>
                <a:cs typeface="Calibri"/>
              </a:rPr>
              <a:t>Lesson </a:t>
            </a:r>
            <a:r>
              <a:rPr lang="en-US" altLang="en-US" sz="6600" b="1" dirty="0">
                <a:solidFill>
                  <a:srgbClr val="FFE98A"/>
                </a:solidFill>
                <a:latin typeface="Calibri"/>
                <a:ea typeface="맑은 고딕"/>
                <a:cs typeface="Calibri"/>
              </a:rPr>
              <a:t>5</a:t>
            </a:r>
            <a:endParaRPr lang="ko-KR" sz="6600"/>
          </a:p>
        </p:txBody>
      </p:sp>
      <p:sp>
        <p:nvSpPr>
          <p:cNvPr id="3" name="dv_exam"/>
          <p:cNvSpPr txBox="1"/>
          <p:nvPr/>
        </p:nvSpPr>
        <p:spPr>
          <a:xfrm>
            <a:off x="822960" y="3063240"/>
            <a:ext cx="10515600" cy="502920"/>
          </a:xfrm>
          <a:prstGeom prst="rect">
            <a:avLst/>
          </a:prstGeom>
          <a:noFill/>
        </p:spPr>
        <p:txBody>
          <a:bodyPr wrap="square" lIns="109728" tIns="54864" rIns="109728" bIns="54864" anchor="t" rtlCol="0">
            <a:noAutofit/>
          </a:bodyPr>
          <a:lstStyle/>
          <a:p>
            <a:pPr algn="l">
              <a:lnSpc>
                <a:spcPts val="2600"/>
              </a:lnSpc>
              <a:spcBef>
                <a:spcPts val="0"/>
              </a:spcBef>
              <a:spcAft>
                <a:spcPts val="0"/>
              </a:spcAft>
              <a:buNone/>
            </a:pPr>
            <a:r>
              <a:rPr lang="ko-KR" altLang="en-US" sz="2200" b="0" dirty="0">
                <a:solidFill>
                  <a:srgbClr val="CFD8E8"/>
                </a:solidFill>
                <a:latin typeface="맑은 고딕"/>
                <a:ea typeface="맑은 고딕"/>
                <a:cs typeface="맑은 고딕"/>
              </a:rPr>
              <a:t>중3 동아(윤정미)</a:t>
            </a:r>
            <a:endParaRPr lang="ko-KR" sz="2200"/>
          </a:p>
        </p:txBody>
      </p:sp>
      <p:sp>
        <p:nvSpPr>
          <p:cNvPr id="4" name="dv_ids"/>
          <p:cNvSpPr txBox="1"/>
          <p:nvPr/>
        </p:nvSpPr>
        <p:spPr>
          <a:xfrm>
            <a:off x="822960" y="3611880"/>
            <a:ext cx="10515600" cy="457200"/>
          </a:xfrm>
          <a:prstGeom prst="rect">
            <a:avLst/>
          </a:prstGeom>
          <a:noFill/>
        </p:spPr>
        <p:txBody>
          <a:bodyPr wrap="square" lIns="109728" tIns="54864" rIns="109728" bIns="54864" anchor="t" rtlCol="0">
            <a:noAutofit/>
          </a:bodyPr>
          <a:lstStyle/>
          <a:p>
            <a:pPr algn="l">
              <a:lnSpc>
                <a:spcPts val="2200"/>
              </a:lnSpc>
              <a:spcBef>
                <a:spcPts val="0"/>
              </a:spcBef>
              <a:spcAft>
                <a:spcPts val="0"/>
              </a:spcAft>
              <a:buNone/>
            </a:pPr>
            <a:r>
              <a:rPr lang="en-US" altLang="en-US" sz="1800" b="1" dirty="0">
                <a:solidFill>
                  <a:srgbClr val="AEBBD0"/>
                </a:solidFill>
                <a:latin typeface="Calibri"/>
                <a:ea typeface="맑은 고딕"/>
                <a:cs typeface="Calibri"/>
              </a:rPr>
              <a:t>L5-1 · L5-2 · L5-3 · L5-4</a:t>
            </a:r>
            <a:endParaRPr lang="ko-KR" sz="1800"/>
          </a:p>
        </p:txBody>
      </p:sp>
      <p:sp>
        <p:nvSpPr>
          <p:cNvPr id="5" name="dv_rule"/>
          <p:cNvSpPr/>
          <p:nvPr/>
        </p:nvSpPr>
        <p:spPr>
          <a:xfrm>
            <a:off x="822960" y="4343400"/>
            <a:ext cx="2011680" cy="54864"/>
          </a:xfrm>
          <a:prstGeom prst="rect">
            <a:avLst/>
          </a:prstGeom>
          <a:solidFill>
            <a:srgbClr val="FFE98A"/>
          </a:solidFill>
          <a:ln>
            <a:noFill/>
          </a:ln>
        </p:spPr>
        <p:txBody>
          <a:bodyPr rtlCol="0" anchor="ctr"/>
          <a:lstStyle/>
          <a:p>
            <a:pPr algn="ctr"/>
          </a:p>
        </p:txBody>
      </p:sp>
      <p:sp>
        <p:nvSpPr>
          <p:cNvPr id="6" name="dv_parts"/>
          <p:cNvSpPr txBox="1"/>
          <p:nvPr/>
        </p:nvSpPr>
        <p:spPr>
          <a:xfrm>
            <a:off x="822960" y="4572000"/>
            <a:ext cx="10515600" cy="457200"/>
          </a:xfrm>
          <a:prstGeom prst="rect">
            <a:avLst/>
          </a:prstGeom>
          <a:noFill/>
        </p:spPr>
        <p:txBody>
          <a:bodyPr wrap="square" lIns="109728" tIns="54864" rIns="109728" bIns="54864" anchor="t" rtlCol="0">
            <a:noAutofit/>
          </a:bodyPr>
          <a:lstStyle/>
          <a:p>
            <a:pPr algn="l">
              <a:lnSpc>
                <a:spcPts val="2000"/>
              </a:lnSpc>
              <a:spcBef>
                <a:spcPts val="0"/>
              </a:spcBef>
              <a:spcAft>
                <a:spcPts val="0"/>
              </a:spcAft>
              <a:buNone/>
            </a:pPr>
            <a:r>
              <a:rPr lang="ko-KR" altLang="en-US" sz="1600" b="0" dirty="0">
                <a:solidFill>
                  <a:srgbClr val="FFFFFF"/>
                </a:solidFill>
                <a:latin typeface="맑은 고딕"/>
                <a:ea typeface="맑은 고딕"/>
                <a:cs typeface="맑은 고딕"/>
              </a:rPr>
              <a:t>PART 1–3 문제풀이  ·  PART 4 T/F  ·  PART 5 어법 선택  ·  PART 6 부분영작</a:t>
            </a:r>
            <a:endParaRPr lang="ko-KR" sz="1600"/>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1E2A5A"/>
        </a:solidFill>
        <a:effectLst/>
      </p:bgPr>
    </p:bg>
    <p:spTree>
      <p:nvGrpSpPr>
        <p:cNvPr id="1" name=""/>
        <p:cNvGrpSpPr/>
        <p:nvPr/>
      </p:nvGrpSpPr>
      <p:grpSpPr/>
      <p:sp>
        <p:nvSpPr>
          <p:cNvPr id="2" name="dv_title"/>
          <p:cNvSpPr txBox="1"/>
          <p:nvPr/>
        </p:nvSpPr>
        <p:spPr>
          <a:xfrm>
            <a:off x="822960" y="1828800"/>
            <a:ext cx="10515600" cy="1188720"/>
          </a:xfrm>
          <a:prstGeom prst="rect">
            <a:avLst/>
          </a:prstGeom>
          <a:noFill/>
        </p:spPr>
        <p:txBody>
          <a:bodyPr wrap="square" lIns="109728" tIns="54864" rIns="109728" bIns="54864" anchor="t" rtlCol="0">
            <a:noAutofit/>
          </a:bodyPr>
          <a:lstStyle/>
          <a:p>
            <a:pPr algn="l">
              <a:lnSpc>
                <a:spcPts val="7600"/>
              </a:lnSpc>
              <a:spcBef>
                <a:spcPts val="0"/>
              </a:spcBef>
              <a:spcAft>
                <a:spcPts val="0"/>
              </a:spcAft>
              <a:buNone/>
            </a:pPr>
            <a:r>
              <a:rPr lang="en-US" altLang="en-US" sz="6600" b="1" dirty="0">
                <a:solidFill>
                  <a:srgbClr val="FFFFFF"/>
                </a:solidFill>
                <a:latin typeface="Calibri"/>
                <a:ea typeface="맑은 고딕"/>
                <a:cs typeface="Calibri"/>
              </a:rPr>
              <a:t>Lesson </a:t>
            </a:r>
            <a:r>
              <a:rPr lang="en-US" altLang="en-US" sz="6600" b="1" dirty="0">
                <a:solidFill>
                  <a:srgbClr val="FFE98A"/>
                </a:solidFill>
                <a:latin typeface="Calibri"/>
                <a:ea typeface="맑은 고딕"/>
                <a:cs typeface="Calibri"/>
              </a:rPr>
              <a:t>6</a:t>
            </a:r>
            <a:endParaRPr lang="ko-KR" sz="6600"/>
          </a:p>
        </p:txBody>
      </p:sp>
      <p:sp>
        <p:nvSpPr>
          <p:cNvPr id="3" name="dv_exam"/>
          <p:cNvSpPr txBox="1"/>
          <p:nvPr/>
        </p:nvSpPr>
        <p:spPr>
          <a:xfrm>
            <a:off x="822960" y="3063240"/>
            <a:ext cx="10515600" cy="502920"/>
          </a:xfrm>
          <a:prstGeom prst="rect">
            <a:avLst/>
          </a:prstGeom>
          <a:noFill/>
        </p:spPr>
        <p:txBody>
          <a:bodyPr wrap="square" lIns="109728" tIns="54864" rIns="109728" bIns="54864" anchor="t" rtlCol="0">
            <a:noAutofit/>
          </a:bodyPr>
          <a:lstStyle/>
          <a:p>
            <a:pPr algn="l">
              <a:lnSpc>
                <a:spcPts val="2600"/>
              </a:lnSpc>
              <a:spcBef>
                <a:spcPts val="0"/>
              </a:spcBef>
              <a:spcAft>
                <a:spcPts val="0"/>
              </a:spcAft>
              <a:buNone/>
            </a:pPr>
            <a:r>
              <a:rPr lang="ko-KR" altLang="en-US" sz="2200" b="0" dirty="0">
                <a:solidFill>
                  <a:srgbClr val="CFD8E8"/>
                </a:solidFill>
                <a:latin typeface="맑은 고딕"/>
                <a:ea typeface="맑은 고딕"/>
                <a:cs typeface="맑은 고딕"/>
              </a:rPr>
              <a:t>중3 동아(윤정미)</a:t>
            </a:r>
            <a:endParaRPr lang="ko-KR" sz="2200"/>
          </a:p>
        </p:txBody>
      </p:sp>
      <p:sp>
        <p:nvSpPr>
          <p:cNvPr id="4" name="dv_ids"/>
          <p:cNvSpPr txBox="1"/>
          <p:nvPr/>
        </p:nvSpPr>
        <p:spPr>
          <a:xfrm>
            <a:off x="822960" y="3611880"/>
            <a:ext cx="10515600" cy="457200"/>
          </a:xfrm>
          <a:prstGeom prst="rect">
            <a:avLst/>
          </a:prstGeom>
          <a:noFill/>
        </p:spPr>
        <p:txBody>
          <a:bodyPr wrap="square" lIns="109728" tIns="54864" rIns="109728" bIns="54864" anchor="t" rtlCol="0">
            <a:noAutofit/>
          </a:bodyPr>
          <a:lstStyle/>
          <a:p>
            <a:pPr algn="l">
              <a:lnSpc>
                <a:spcPts val="2200"/>
              </a:lnSpc>
              <a:spcBef>
                <a:spcPts val="0"/>
              </a:spcBef>
              <a:spcAft>
                <a:spcPts val="0"/>
              </a:spcAft>
              <a:buNone/>
            </a:pPr>
            <a:r>
              <a:rPr lang="en-US" altLang="en-US" sz="1800" b="1" dirty="0">
                <a:solidFill>
                  <a:srgbClr val="AEBBD0"/>
                </a:solidFill>
                <a:latin typeface="Calibri"/>
                <a:ea typeface="맑은 고딕"/>
                <a:cs typeface="Calibri"/>
              </a:rPr>
              <a:t>L6-1 · L6-2 · L6-3</a:t>
            </a:r>
            <a:endParaRPr lang="ko-KR" sz="1800"/>
          </a:p>
        </p:txBody>
      </p:sp>
      <p:sp>
        <p:nvSpPr>
          <p:cNvPr id="5" name="dv_rule"/>
          <p:cNvSpPr/>
          <p:nvPr/>
        </p:nvSpPr>
        <p:spPr>
          <a:xfrm>
            <a:off x="822960" y="4343400"/>
            <a:ext cx="2011680" cy="54864"/>
          </a:xfrm>
          <a:prstGeom prst="rect">
            <a:avLst/>
          </a:prstGeom>
          <a:solidFill>
            <a:srgbClr val="FFE98A"/>
          </a:solidFill>
          <a:ln>
            <a:noFill/>
          </a:ln>
        </p:spPr>
        <p:txBody>
          <a:bodyPr rtlCol="0" anchor="ctr"/>
          <a:lstStyle/>
          <a:p>
            <a:pPr algn="ctr"/>
          </a:p>
        </p:txBody>
      </p:sp>
      <p:sp>
        <p:nvSpPr>
          <p:cNvPr id="6" name="dv_parts"/>
          <p:cNvSpPr txBox="1"/>
          <p:nvPr/>
        </p:nvSpPr>
        <p:spPr>
          <a:xfrm>
            <a:off x="822960" y="4572000"/>
            <a:ext cx="10515600" cy="457200"/>
          </a:xfrm>
          <a:prstGeom prst="rect">
            <a:avLst/>
          </a:prstGeom>
          <a:noFill/>
        </p:spPr>
        <p:txBody>
          <a:bodyPr wrap="square" lIns="109728" tIns="54864" rIns="109728" bIns="54864" anchor="t" rtlCol="0">
            <a:noAutofit/>
          </a:bodyPr>
          <a:lstStyle/>
          <a:p>
            <a:pPr algn="l">
              <a:lnSpc>
                <a:spcPts val="2000"/>
              </a:lnSpc>
              <a:spcBef>
                <a:spcPts val="0"/>
              </a:spcBef>
              <a:spcAft>
                <a:spcPts val="0"/>
              </a:spcAft>
              <a:buNone/>
            </a:pPr>
            <a:r>
              <a:rPr lang="ko-KR" altLang="en-US" sz="1600" b="0" dirty="0">
                <a:solidFill>
                  <a:srgbClr val="FFFFFF"/>
                </a:solidFill>
                <a:latin typeface="맑은 고딕"/>
                <a:ea typeface="맑은 고딕"/>
                <a:cs typeface="맑은 고딕"/>
              </a:rPr>
              <a:t>PART 1–3 문제풀이  ·  PART 4 T/F  ·  PART 5 어법 선택  ·  PART 6 부분영작</a:t>
            </a:r>
            <a:endParaRPr lang="ko-KR" sz="1600"/>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1E2A5A"/>
        </a:solidFill>
        <a:effectLst/>
      </p:bgPr>
    </p:bg>
    <p:spTree>
      <p:nvGrpSpPr>
        <p:cNvPr id="1" name=""/>
        <p:cNvGrpSpPr/>
        <p:nvPr/>
      </p:nvGrpSpPr>
      <p:grpSpPr/>
      <p:sp>
        <p:nvSpPr>
          <p:cNvPr id="2" name="cv_title"/>
          <p:cNvSpPr txBox="1"/>
          <p:nvPr/>
        </p:nvSpPr>
        <p:spPr>
          <a:xfrm>
            <a:off x="822960" y="1371600"/>
            <a:ext cx="10515600" cy="868680"/>
          </a:xfrm>
          <a:prstGeom prst="rect">
            <a:avLst/>
          </a:prstGeom>
          <a:noFill/>
        </p:spPr>
        <p:txBody>
          <a:bodyPr wrap="square" lIns="91440" tIns="45720" rIns="91440" bIns="45720" anchor="t" rtlCol="0">
            <a:noAutofit/>
          </a:bodyPr>
          <a:lstStyle/>
          <a:p>
            <a:pPr algn="l">
              <a:lnSpc>
                <a:spcPts val="5680"/>
              </a:lnSpc>
              <a:spcBef>
                <a:spcPts val="0"/>
              </a:spcBef>
              <a:spcAft>
                <a:spcPts val="0"/>
              </a:spcAft>
              <a:buNone/>
            </a:pPr>
            <a:r>
              <a:rPr lang="ko-KR" altLang="en-US" sz="4000" b="1" dirty="0">
                <a:solidFill>
                  <a:srgbClr val="FFFFFF"/>
                </a:solidFill>
                <a:latin typeface="맑은 고딕"/>
                <a:ea typeface="맑은 고딕"/>
                <a:cs typeface="맑은 고딕"/>
              </a:rPr>
              <a:t>문제 풀이 · 정답 확인</a:t>
            </a:r>
            <a:endParaRPr lang="ko-KR" altLang="en-US" sz="4000" b="1" dirty="0">
              <a:solidFill>
                <a:srgbClr val="FFFFFF"/>
              </a:solidFill>
              <a:latin typeface="맑은 고딕"/>
              <a:ea typeface="맑은 고딕"/>
              <a:cs typeface="맑은 고딕"/>
            </a:endParaRPr>
          </a:p>
        </p:txBody>
      </p:sp>
      <p:sp>
        <p:nvSpPr>
          <p:cNvPr id="3" name="cv_exam"/>
          <p:cNvSpPr txBox="1"/>
          <p:nvPr/>
        </p:nvSpPr>
        <p:spPr>
          <a:xfrm>
            <a:off x="822960" y="2240280"/>
            <a:ext cx="10515600" cy="502920"/>
          </a:xfrm>
          <a:prstGeom prst="rect">
            <a:avLst/>
          </a:prstGeom>
          <a:noFill/>
        </p:spPr>
        <p:txBody>
          <a:bodyPr wrap="square" lIns="91440" tIns="45720" rIns="91440" bIns="45720" anchor="t" rtlCol="0">
            <a:noAutofit/>
          </a:bodyPr>
          <a:lstStyle/>
          <a:p>
            <a:pPr algn="l">
              <a:lnSpc>
                <a:spcPts val="2840"/>
              </a:lnSpc>
              <a:spcBef>
                <a:spcPts val="0"/>
              </a:spcBef>
              <a:spcAft>
                <a:spcPts val="0"/>
              </a:spcAft>
              <a:buNone/>
            </a:pPr>
            <a:r>
              <a:rPr lang="ko-KR" altLang="en-US" sz="2000" b="0" dirty="0">
                <a:solidFill>
                  <a:srgbClr val="CFD8E8"/>
                </a:solidFill>
                <a:latin typeface="맑은 고딕"/>
                <a:ea typeface="맑은 고딕"/>
                <a:cs typeface="맑은 고딕"/>
              </a:rPr>
              <a:t>중3 동아(윤정미) Lesson 6</a:t>
            </a:r>
            <a:endParaRPr lang="ko-KR" altLang="en-US" sz="2000" b="0" dirty="0">
              <a:solidFill>
                <a:srgbClr val="CFD8E8"/>
              </a:solidFill>
              <a:latin typeface="맑은 고딕"/>
              <a:ea typeface="맑은 고딕"/>
              <a:cs typeface="맑은 고딕"/>
            </a:endParaRPr>
          </a:p>
        </p:txBody>
      </p:sp>
      <p:sp>
        <p:nvSpPr>
          <p:cNvPr id="4" name="cv_ids"/>
          <p:cNvSpPr txBox="1"/>
          <p:nvPr/>
        </p:nvSpPr>
        <p:spPr>
          <a:xfrm>
            <a:off x="822960" y="2788920"/>
            <a:ext cx="10515600" cy="457200"/>
          </a:xfrm>
          <a:prstGeom prst="rect">
            <a:avLst/>
          </a:prstGeom>
          <a:noFill/>
        </p:spPr>
        <p:txBody>
          <a:bodyPr wrap="square" lIns="91440" tIns="45720" rIns="91440" bIns="45720" anchor="t" rtlCol="0">
            <a:noAutofit/>
          </a:bodyPr>
          <a:lstStyle/>
          <a:p>
            <a:pPr algn="l">
              <a:lnSpc>
                <a:spcPts val="2340"/>
              </a:lnSpc>
              <a:spcBef>
                <a:spcPts val="0"/>
              </a:spcBef>
              <a:spcAft>
                <a:spcPts val="0"/>
              </a:spcAft>
              <a:buNone/>
            </a:pPr>
            <a:r>
              <a:rPr lang="en-US" altLang="ko-KR" sz="1800" b="1" dirty="0">
                <a:solidFill>
                  <a:srgbClr val="AEBBD0"/>
                </a:solidFill>
                <a:latin typeface="Calibri"/>
                <a:ea typeface="맑은 고딕"/>
                <a:cs typeface="Calibri"/>
              </a:rPr>
              <a:t>L6-1  ·  L6-2  ·  L6-3</a:t>
            </a:r>
            <a:endParaRPr lang="en-US" altLang="ko-KR" sz="1800" b="1" dirty="0">
              <a:solidFill>
                <a:srgbClr val="AEBBD0"/>
              </a:solidFill>
              <a:latin typeface="Calibri"/>
              <a:ea typeface="맑은 고딕"/>
              <a:cs typeface="Calibri"/>
            </a:endParaRPr>
          </a:p>
        </p:txBody>
      </p:sp>
      <p:sp>
        <p:nvSpPr>
          <p:cNvPr id="5" name="cv_legend"/>
          <p:cNvSpPr/>
          <p:nvPr/>
        </p:nvSpPr>
        <p:spPr>
          <a:xfrm>
            <a:off x="822960" y="3977639"/>
            <a:ext cx="10515600" cy="1645920"/>
          </a:xfrm>
          <a:prstGeom prst="roundRect">
            <a:avLst>
              <a:gd name="adj" fmla="val 6000"/>
            </a:avLst>
          </a:prstGeom>
          <a:solidFill>
            <a:srgbClr val="27356E"/>
          </a:solidFill>
          <a:ln>
            <a:noFill/>
          </a:ln>
        </p:spPr>
        <p:txBody>
          <a:bodyPr wrap="square" lIns="320040" tIns="201168" rIns="320040" bIns="182880" anchor="t" rtlCol="0">
            <a:noAutofit/>
          </a:bodyPr>
          <a:lstStyle/>
          <a:p>
            <a:pPr algn="l">
              <a:lnSpc>
                <a:spcPts val="2270"/>
              </a:lnSpc>
              <a:spcBef>
                <a:spcPts val="0"/>
              </a:spcBef>
              <a:spcAft>
                <a:spcPts val="800"/>
              </a:spcAft>
              <a:buNone/>
            </a:pPr>
            <a:r>
              <a:rPr lang="ko-KR" altLang="en-US" sz="1600" b="1" dirty="0">
                <a:solidFill>
                  <a:srgbClr val="FFE98A"/>
                </a:solidFill>
                <a:latin typeface="맑은 고딕"/>
                <a:ea typeface="맑은 고딕"/>
                <a:cs typeface="맑은 고딕"/>
              </a:rPr>
              <a:t>PART 1  5지선다     </a:t>
            </a:r>
            <a:r>
              <a:rPr lang="ko-KR" altLang="en-US" sz="1600" b="0" dirty="0">
                <a:solidFill>
                  <a:srgbClr val="FFFFFF"/>
                </a:solidFill>
                <a:latin typeface="맑은 고딕"/>
                <a:ea typeface="맑은 고딕"/>
                <a:cs typeface="맑은 고딕"/>
              </a:rPr>
              <a:t>클릭 ① 정답  →  클릭 ② 본문 근거 형광 + 정답 원리</a:t>
            </a:r>
            <a:endParaRPr lang="ko-KR" altLang="en-US" sz="1600" b="0" dirty="0">
              <a:solidFill>
                <a:srgbClr val="FFFFFF"/>
              </a:solidFill>
              <a:latin typeface="맑은 고딕"/>
              <a:ea typeface="맑은 고딕"/>
              <a:cs typeface="맑은 고딕"/>
            </a:endParaRPr>
          </a:p>
          <a:p>
            <a:pPr algn="l">
              <a:lnSpc>
                <a:spcPts val="2270"/>
              </a:lnSpc>
              <a:spcBef>
                <a:spcPts val="0"/>
              </a:spcBef>
              <a:spcAft>
                <a:spcPts val="800"/>
              </a:spcAft>
              <a:buNone/>
            </a:pPr>
            <a:r>
              <a:rPr lang="ko-KR" altLang="en-US" sz="1600" b="1" dirty="0">
                <a:solidFill>
                  <a:srgbClr val="FFE98A"/>
                </a:solidFill>
                <a:latin typeface="맑은 고딕"/>
                <a:ea typeface="맑은 고딕"/>
                <a:cs typeface="맑은 고딕"/>
              </a:rPr>
              <a:t>PART 2  순서·위치     </a:t>
            </a:r>
            <a:r>
              <a:rPr lang="ko-KR" altLang="en-US" sz="1600" b="0" dirty="0">
                <a:solidFill>
                  <a:srgbClr val="FFFFFF"/>
                </a:solidFill>
                <a:latin typeface="맑은 고딕"/>
                <a:ea typeface="맑은 고딕"/>
                <a:cs typeface="맑은 고딕"/>
              </a:rPr>
              <a:t>클릭 ① 정답  →  클릭 ② 정답 원리</a:t>
            </a:r>
            <a:endParaRPr lang="ko-KR" altLang="en-US" sz="1600" b="0" dirty="0">
              <a:solidFill>
                <a:srgbClr val="FFFFFF"/>
              </a:solidFill>
              <a:latin typeface="맑은 고딕"/>
              <a:ea typeface="맑은 고딕"/>
              <a:cs typeface="맑은 고딕"/>
            </a:endParaRPr>
          </a:p>
          <a:p>
            <a:pPr algn="l">
              <a:lnSpc>
                <a:spcPts val="2270"/>
              </a:lnSpc>
              <a:spcBef>
                <a:spcPts val="0"/>
              </a:spcBef>
              <a:spcAft>
                <a:spcPts val="800"/>
              </a:spcAft>
              <a:buNone/>
            </a:pPr>
            <a:r>
              <a:rPr lang="ko-KR" altLang="en-US" sz="1600" b="1" dirty="0">
                <a:solidFill>
                  <a:srgbClr val="FFE98A"/>
                </a:solidFill>
                <a:latin typeface="맑은 고딕"/>
                <a:ea typeface="맑은 고딕"/>
                <a:cs typeface="맑은 고딕"/>
              </a:rPr>
              <a:t>PART 3  어법·어휘     </a:t>
            </a:r>
            <a:r>
              <a:rPr lang="ko-KR" altLang="en-US" sz="1600" b="0" dirty="0">
                <a:solidFill>
                  <a:srgbClr val="FFFFFF"/>
                </a:solidFill>
                <a:latin typeface="맑은 고딕"/>
                <a:ea typeface="맑은 고딕"/>
                <a:cs typeface="맑은 고딕"/>
              </a:rPr>
              <a:t>본문 속 괄호마다, 클릭할 때마다 정답이 빨간색으로</a:t>
            </a:r>
            <a:endParaRPr lang="ko-KR" altLang="en-US" sz="1600" b="0" dirty="0">
              <a:solidFill>
                <a:srgbClr val="FFFFFF"/>
              </a:solidFill>
              <a:latin typeface="맑은 고딕"/>
              <a:ea typeface="맑은 고딕"/>
              <a:cs typeface="맑은 고딕"/>
            </a:endParaRP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L6-1</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1 · 1</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1. 다음 글의 주제로 가장 적절한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6</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본문 근거 형광 + 정답 원리</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151257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1512570"/>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1F2328"/>
                </a:solidFill>
                <a:latin typeface="Calibri"/>
                <a:ea typeface="맑은 고딕"/>
                <a:cs typeface="Calibri"/>
              </a:rPr>
              <a:t>Cyril Boggis was an antique furniture dealer in London. He was known for buying good things at a low price and then selling them at a high price. People asked him where he had got the furniture, but he just said, "It’s a secret." </a:t>
            </a:r>
            <a:r>
              <a:rPr lang="en-US" altLang="ko-KR" sz="1500" b="0" dirty="0">
                <a:solidFill>
                  <a:srgbClr val="1F2328"/>
                </a:solidFill>
                <a:latin typeface="Calibri"/>
                <a:ea typeface="맑은 고딕"/>
                <a:cs typeface="Calibri"/>
              </a:rPr>
              <a:t>Mr. Boggis’ secret was simple. He went to small towns every Sunday and knocked on doors.</a:t>
            </a:r>
            <a:r>
              <a:rPr lang="en-US" altLang="ko-KR" sz="1500" b="0" dirty="0">
                <a:solidFill>
                  <a:srgbClr val="1F2328"/>
                </a:solidFill>
                <a:latin typeface="Calibri"/>
                <a:ea typeface="맑은 고딕"/>
                <a:cs typeface="Calibri"/>
              </a:rPr>
              <a:t> He told people that he was a furniture dealer. </a:t>
            </a:r>
            <a:r>
              <a:rPr lang="en-US" altLang="ko-KR" sz="1500" b="0" dirty="0">
                <a:solidFill>
                  <a:srgbClr val="1F2328"/>
                </a:solidFill>
                <a:latin typeface="Calibri"/>
                <a:ea typeface="맑은 고딕"/>
                <a:cs typeface="Calibri"/>
              </a:rPr>
              <a:t>People didn’t know how valuable their things were, so Mr. Boggis took advantage of them.</a:t>
            </a:r>
            <a:r>
              <a:rPr lang="en-US" altLang="ko-KR" sz="1500" b="0" dirty="0">
                <a:solidFill>
                  <a:srgbClr val="1F2328"/>
                </a:solidFill>
                <a:latin typeface="Calibri"/>
                <a:ea typeface="맑은 고딕"/>
                <a:cs typeface="Calibri"/>
              </a:rPr>
              <a:t> He was able to buy things very cheaply.</a:t>
            </a:r>
            <a:endParaRPr lang="en-US" altLang="ko-KR" sz="1500" b="0" dirty="0">
              <a:solidFill>
                <a:srgbClr val="1F2328"/>
              </a:solidFill>
              <a:latin typeface="Calibri"/>
              <a:ea typeface="맑은 고딕"/>
              <a:cs typeface="Calibri"/>
            </a:endParaRPr>
          </a:p>
        </p:txBody>
      </p:sp>
      <p:sp>
        <p:nvSpPr>
          <p:cNvPr id="9" name="rv_evidence_card"/>
          <p:cNvSpPr/>
          <p:nvPr/>
        </p:nvSpPr>
        <p:spPr>
          <a:xfrm>
            <a:off x="457200" y="950976"/>
            <a:ext cx="11277295" cy="151257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rv_evidence"/>
          <p:cNvSpPr txBox="1"/>
          <p:nvPr/>
        </p:nvSpPr>
        <p:spPr>
          <a:xfrm>
            <a:off x="457200" y="950976"/>
            <a:ext cx="11277295" cy="1512570"/>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B3BAC6"/>
                </a:solidFill>
                <a:latin typeface="Calibri"/>
                <a:ea typeface="맑은 고딕"/>
                <a:cs typeface="Calibri"/>
              </a:rPr>
              <a:t>Cyril Boggis was an antique furniture dealer in London. He was known for buying good things at a low price and then selling them at a high price. People asked him where he had got the furniture, but he just said, "It’s a secret." </a:t>
            </a:r>
            <a:r>
              <a:rPr lang="en-US" altLang="ko-KR" sz="1500" b="0" dirty="0">
                <a:solidFill>
                  <a:srgbClr val="111111"/>
                </a:solidFill>
                <a:highlight>
                  <a:srgbClr val="FFE45C"/>
                </a:highlight>
                <a:latin typeface="Calibri"/>
                <a:ea typeface="맑은 고딕"/>
                <a:cs typeface="Calibri"/>
              </a:rPr>
              <a:t>Mr. Boggis’ secret was simple. He went to small towns every Sunday and knocked on doors.</a:t>
            </a:r>
            <a:r>
              <a:rPr lang="en-US" altLang="ko-KR" sz="1500" b="0" dirty="0">
                <a:solidFill>
                  <a:srgbClr val="B3BAC6"/>
                </a:solidFill>
                <a:latin typeface="Calibri"/>
                <a:ea typeface="맑은 고딕"/>
                <a:cs typeface="Calibri"/>
              </a:rPr>
              <a:t> He told people that he was a furniture dealer. </a:t>
            </a:r>
            <a:r>
              <a:rPr lang="en-US" altLang="ko-KR" sz="1500" b="0" dirty="0">
                <a:solidFill>
                  <a:srgbClr val="111111"/>
                </a:solidFill>
                <a:highlight>
                  <a:srgbClr val="FFE45C"/>
                </a:highlight>
                <a:latin typeface="Calibri"/>
                <a:ea typeface="맑은 고딕"/>
                <a:cs typeface="Calibri"/>
              </a:rPr>
              <a:t>People didn’t know how valuable their things were, so Mr. Boggis took advantage of them.</a:t>
            </a:r>
            <a:r>
              <a:rPr lang="en-US" altLang="ko-KR" sz="1500" b="0" dirty="0">
                <a:solidFill>
                  <a:srgbClr val="B3BAC6"/>
                </a:solidFill>
                <a:latin typeface="Calibri"/>
                <a:ea typeface="맑은 고딕"/>
                <a:cs typeface="Calibri"/>
              </a:rPr>
              <a:t> He was able to buy things very cheaply.</a:t>
            </a:r>
            <a:endParaRPr lang="en-US" altLang="ko-KR" sz="1500" b="0" dirty="0">
              <a:solidFill>
                <a:srgbClr val="B3BAC6"/>
              </a:solidFill>
              <a:latin typeface="Calibri"/>
              <a:ea typeface="맑은 고딕"/>
              <a:cs typeface="Calibri"/>
            </a:endParaRPr>
          </a:p>
        </p:txBody>
      </p:sp>
      <p:sp>
        <p:nvSpPr>
          <p:cNvPr id="11" name="choice_1"/>
          <p:cNvSpPr txBox="1"/>
          <p:nvPr/>
        </p:nvSpPr>
        <p:spPr>
          <a:xfrm>
            <a:off x="457200" y="2609850"/>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①</a:t>
            </a:r>
            <a:r>
              <a:rPr lang="en-US" altLang="ko-KR" sz="1800" b="0" dirty="0">
                <a:solidFill>
                  <a:srgbClr val="1F2328"/>
                </a:solidFill>
                <a:latin typeface="Calibri"/>
                <a:ea typeface="맑은 고딕"/>
                <a:cs typeface="Calibri"/>
              </a:rPr>
              <a:t>	how Mr. Boggis bought furniture at low prices</a:t>
            </a:r>
            <a:endParaRPr lang="en-US" altLang="ko-KR" sz="1800" b="0" dirty="0">
              <a:solidFill>
                <a:srgbClr val="1F2328"/>
              </a:solidFill>
              <a:latin typeface="Calibri"/>
              <a:ea typeface="맑은 고딕"/>
              <a:cs typeface="Calibri"/>
            </a:endParaRPr>
          </a:p>
        </p:txBody>
      </p:sp>
      <p:sp>
        <p:nvSpPr>
          <p:cNvPr id="12" name="rv_pick"/>
          <p:cNvSpPr txBox="1"/>
          <p:nvPr/>
        </p:nvSpPr>
        <p:spPr>
          <a:xfrm>
            <a:off x="457200" y="2609850"/>
            <a:ext cx="11277295" cy="379984"/>
          </a:xfrm>
          <a:prstGeom prst="rect">
            <a:avLst/>
          </a:prstGeom>
          <a:solidFill>
            <a:srgbClr val="FFF3C4"/>
          </a:solid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C00000"/>
                </a:solidFill>
                <a:latin typeface="맑은 고딕"/>
                <a:ea typeface="맑은 고딕"/>
                <a:cs typeface="맑은 고딕"/>
              </a:rPr>
              <a:t>①</a:t>
            </a:r>
            <a:r>
              <a:rPr lang="en-US" altLang="ko-KR" sz="1800" b="0" dirty="0">
                <a:solidFill>
                  <a:srgbClr val="C00000"/>
                </a:solidFill>
                <a:latin typeface="Calibri"/>
                <a:ea typeface="맑은 고딕"/>
                <a:cs typeface="Calibri"/>
              </a:rPr>
              <a:t>	how Mr. Boggis bought furniture at low prices</a:t>
            </a:r>
            <a:endParaRPr lang="en-US" altLang="ko-KR" sz="1800" b="0" dirty="0">
              <a:solidFill>
                <a:srgbClr val="C00000"/>
              </a:solidFill>
              <a:latin typeface="Calibri"/>
              <a:ea typeface="맑은 고딕"/>
              <a:cs typeface="Calibri"/>
            </a:endParaRPr>
          </a:p>
        </p:txBody>
      </p:sp>
      <p:sp>
        <p:nvSpPr>
          <p:cNvPr id="13" name="choice_2"/>
          <p:cNvSpPr txBox="1"/>
          <p:nvPr/>
        </p:nvSpPr>
        <p:spPr>
          <a:xfrm>
            <a:off x="457200" y="3017266"/>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②</a:t>
            </a:r>
            <a:r>
              <a:rPr lang="en-US" altLang="ko-KR" sz="1800" b="0" dirty="0">
                <a:solidFill>
                  <a:srgbClr val="1F2328"/>
                </a:solidFill>
                <a:latin typeface="Calibri"/>
                <a:ea typeface="맑은 고딕"/>
                <a:cs typeface="Calibri"/>
              </a:rPr>
              <a:t>	why antique furniture is valuable in London</a:t>
            </a:r>
            <a:endParaRPr lang="en-US" altLang="ko-KR" sz="1800" b="0" dirty="0">
              <a:solidFill>
                <a:srgbClr val="1F2328"/>
              </a:solidFill>
              <a:latin typeface="Calibri"/>
              <a:ea typeface="맑은 고딕"/>
              <a:cs typeface="Calibri"/>
            </a:endParaRPr>
          </a:p>
        </p:txBody>
      </p:sp>
      <p:sp>
        <p:nvSpPr>
          <p:cNvPr id="14" name="choice_3"/>
          <p:cNvSpPr txBox="1"/>
          <p:nvPr/>
        </p:nvSpPr>
        <p:spPr>
          <a:xfrm>
            <a:off x="457200" y="3424682"/>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③</a:t>
            </a:r>
            <a:r>
              <a:rPr lang="en-US" altLang="ko-KR" sz="1800" b="0" dirty="0">
                <a:solidFill>
                  <a:srgbClr val="1F2328"/>
                </a:solidFill>
                <a:latin typeface="Calibri"/>
                <a:ea typeface="맑은 고딕"/>
                <a:cs typeface="Calibri"/>
              </a:rPr>
              <a:t>	how people in small towns sold old tables</a:t>
            </a:r>
            <a:endParaRPr lang="en-US" altLang="ko-KR" sz="1800" b="0" dirty="0">
              <a:solidFill>
                <a:srgbClr val="1F2328"/>
              </a:solidFill>
              <a:latin typeface="Calibri"/>
              <a:ea typeface="맑은 고딕"/>
              <a:cs typeface="Calibri"/>
            </a:endParaRPr>
          </a:p>
        </p:txBody>
      </p:sp>
      <p:sp>
        <p:nvSpPr>
          <p:cNvPr id="15" name="choice_4"/>
          <p:cNvSpPr txBox="1"/>
          <p:nvPr/>
        </p:nvSpPr>
        <p:spPr>
          <a:xfrm>
            <a:off x="457200" y="3832098"/>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④</a:t>
            </a:r>
            <a:r>
              <a:rPr lang="en-US" altLang="ko-KR" sz="1800" b="0" dirty="0">
                <a:solidFill>
                  <a:srgbClr val="1F2328"/>
                </a:solidFill>
                <a:latin typeface="Calibri"/>
                <a:ea typeface="맑은 고딕"/>
                <a:cs typeface="Calibri"/>
              </a:rPr>
              <a:t>	why Mr. Boggis moved from London to a town</a:t>
            </a:r>
            <a:endParaRPr lang="en-US" altLang="ko-KR" sz="1800" b="0" dirty="0">
              <a:solidFill>
                <a:srgbClr val="1F2328"/>
              </a:solidFill>
              <a:latin typeface="Calibri"/>
              <a:ea typeface="맑은 고딕"/>
              <a:cs typeface="Calibri"/>
            </a:endParaRPr>
          </a:p>
        </p:txBody>
      </p:sp>
      <p:sp>
        <p:nvSpPr>
          <p:cNvPr id="16" name="choice_5"/>
          <p:cNvSpPr txBox="1"/>
          <p:nvPr/>
        </p:nvSpPr>
        <p:spPr>
          <a:xfrm>
            <a:off x="457200" y="4239514"/>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⑤</a:t>
            </a:r>
            <a:r>
              <a:rPr lang="en-US" altLang="ko-KR" sz="1800" b="0" dirty="0">
                <a:solidFill>
                  <a:srgbClr val="1F2328"/>
                </a:solidFill>
                <a:latin typeface="Calibri"/>
                <a:ea typeface="맑은 고딕"/>
                <a:cs typeface="Calibri"/>
              </a:rPr>
              <a:t>	what makes a good furniture dealer honest</a:t>
            </a:r>
            <a:endParaRPr lang="en-US" altLang="ko-KR" sz="1800" b="0" dirty="0">
              <a:solidFill>
                <a:srgbClr val="1F2328"/>
              </a:solidFill>
              <a:latin typeface="Calibri"/>
              <a:ea typeface="맑은 고딕"/>
              <a:cs typeface="Calibri"/>
            </a:endParaRPr>
          </a:p>
        </p:txBody>
      </p:sp>
      <p:sp>
        <p:nvSpPr>
          <p:cNvPr id="17" name="rv_answer"/>
          <p:cNvSpPr/>
          <p:nvPr/>
        </p:nvSpPr>
        <p:spPr>
          <a:xfrm>
            <a:off x="457200" y="472922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① </a:t>
            </a:r>
            <a:r>
              <a:rPr lang="en-US" altLang="ko-KR" sz="1900" b="1" dirty="0">
                <a:solidFill>
                  <a:srgbClr val="5A4200"/>
                </a:solidFill>
                <a:latin typeface="Calibri"/>
                <a:ea typeface="맑은 고딕"/>
                <a:cs typeface="Calibri"/>
              </a:rPr>
              <a:t>how Mr. Boggis bought furniture at low prices</a:t>
            </a:r>
            <a:endParaRPr lang="en-US" altLang="ko-KR" sz="1900" b="1" dirty="0">
              <a:solidFill>
                <a:srgbClr val="5A4200"/>
              </a:solidFill>
              <a:latin typeface="Calibri"/>
              <a:ea typeface="맑은 고딕"/>
              <a:cs typeface="Calibri"/>
            </a:endParaRPr>
          </a:p>
        </p:txBody>
      </p:sp>
      <p:sp>
        <p:nvSpPr>
          <p:cNvPr id="18" name="rv_why"/>
          <p:cNvSpPr/>
          <p:nvPr/>
        </p:nvSpPr>
        <p:spPr>
          <a:xfrm>
            <a:off x="457200" y="5328158"/>
            <a:ext cx="11277295" cy="109092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Boggis는 일요일마다 작은 마을을 돌며 물건을 매우 싸게 샀다. 싸게 사들인 방법을 다룬 ①이 주제다.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25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25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25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7" grpId="0" animBg="1"/>
      <p:bldP spid="9" grpId="0" animBg="1"/>
      <p:bldP spid="10" grpId="0" animBg="1"/>
      <p:bldP spid="18" grpId="0" animBg="1"/>
    </p:bldLst>
  </p:timing>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L6-1</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1 · 2</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2. 다음 글의 제목으로 가장 적절한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6</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본문 근거 형광 + 정답 원리</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151257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1512570"/>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1F2328"/>
                </a:solidFill>
                <a:latin typeface="Calibri"/>
                <a:ea typeface="맑은 고딕"/>
                <a:cs typeface="Calibri"/>
              </a:rPr>
              <a:t>Cyril Boggis was an antique furniture dealer in London. He was known for buying good things at a low price and then selling them at a high price. People asked him where he had got the furniture, but he just said, "It’s a secret." </a:t>
            </a:r>
            <a:r>
              <a:rPr lang="en-US" altLang="ko-KR" sz="1500" b="0" dirty="0">
                <a:solidFill>
                  <a:srgbClr val="1F2328"/>
                </a:solidFill>
                <a:latin typeface="Calibri"/>
                <a:ea typeface="맑은 고딕"/>
                <a:cs typeface="Calibri"/>
              </a:rPr>
              <a:t>Mr. Boggis’ secret was simple</a:t>
            </a:r>
            <a:r>
              <a:rPr lang="en-US" altLang="ko-KR" sz="1500" b="0" dirty="0">
                <a:solidFill>
                  <a:srgbClr val="1F2328"/>
                </a:solidFill>
                <a:latin typeface="Calibri"/>
                <a:ea typeface="맑은 고딕"/>
                <a:cs typeface="Calibri"/>
              </a:rPr>
              <a:t>. He went to small towns every Sunday and knocked on doors. He told people that he was a furniture dealer. People didn’t know how valuable their things were, so Mr. Boggis took advantage of them. He was able to buy things very cheaply.</a:t>
            </a:r>
            <a:endParaRPr lang="en-US" altLang="ko-KR" sz="1500" b="0" dirty="0">
              <a:solidFill>
                <a:srgbClr val="1F2328"/>
              </a:solidFill>
              <a:latin typeface="Calibri"/>
              <a:ea typeface="맑은 고딕"/>
              <a:cs typeface="Calibri"/>
            </a:endParaRPr>
          </a:p>
        </p:txBody>
      </p:sp>
      <p:sp>
        <p:nvSpPr>
          <p:cNvPr id="9" name="rv_evidence_card"/>
          <p:cNvSpPr/>
          <p:nvPr/>
        </p:nvSpPr>
        <p:spPr>
          <a:xfrm>
            <a:off x="457200" y="950976"/>
            <a:ext cx="11277295" cy="151257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rv_evidence"/>
          <p:cNvSpPr txBox="1"/>
          <p:nvPr/>
        </p:nvSpPr>
        <p:spPr>
          <a:xfrm>
            <a:off x="457200" y="950976"/>
            <a:ext cx="11277295" cy="1512570"/>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B3BAC6"/>
                </a:solidFill>
                <a:latin typeface="Calibri"/>
                <a:ea typeface="맑은 고딕"/>
                <a:cs typeface="Calibri"/>
              </a:rPr>
              <a:t>Cyril Boggis was an antique furniture dealer in London. He was known for buying good things at a low price and then selling them at a high price. People asked him where he had got the furniture, but he just said, "It’s a secret." </a:t>
            </a:r>
            <a:r>
              <a:rPr lang="en-US" altLang="ko-KR" sz="1500" b="0" dirty="0">
                <a:solidFill>
                  <a:srgbClr val="111111"/>
                </a:solidFill>
                <a:highlight>
                  <a:srgbClr val="FFE45C"/>
                </a:highlight>
                <a:latin typeface="Calibri"/>
                <a:ea typeface="맑은 고딕"/>
                <a:cs typeface="Calibri"/>
              </a:rPr>
              <a:t>Mr. Boggis’ secret was simple</a:t>
            </a:r>
            <a:r>
              <a:rPr lang="en-US" altLang="ko-KR" sz="1500" b="0" dirty="0">
                <a:solidFill>
                  <a:srgbClr val="B3BAC6"/>
                </a:solidFill>
                <a:latin typeface="Calibri"/>
                <a:ea typeface="맑은 고딕"/>
                <a:cs typeface="Calibri"/>
              </a:rPr>
              <a:t>. He went to small towns every Sunday and knocked on doors. He told people that he was a furniture dealer. People didn’t know how valuable their things were, so Mr. Boggis took advantage of them. He was able to buy things very cheaply.</a:t>
            </a:r>
            <a:endParaRPr lang="en-US" altLang="ko-KR" sz="1500" b="0" dirty="0">
              <a:solidFill>
                <a:srgbClr val="B3BAC6"/>
              </a:solidFill>
              <a:latin typeface="Calibri"/>
              <a:ea typeface="맑은 고딕"/>
              <a:cs typeface="Calibri"/>
            </a:endParaRPr>
          </a:p>
        </p:txBody>
      </p:sp>
      <p:sp>
        <p:nvSpPr>
          <p:cNvPr id="11" name="choice_1"/>
          <p:cNvSpPr txBox="1"/>
          <p:nvPr/>
        </p:nvSpPr>
        <p:spPr>
          <a:xfrm>
            <a:off x="457200" y="2609850"/>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①</a:t>
            </a:r>
            <a:r>
              <a:rPr lang="en-US" altLang="ko-KR" sz="1800" b="0" dirty="0">
                <a:solidFill>
                  <a:srgbClr val="1F2328"/>
                </a:solidFill>
                <a:latin typeface="Calibri"/>
                <a:ea typeface="맑은 고딕"/>
                <a:cs typeface="Calibri"/>
              </a:rPr>
              <a:t>	The Rise of Antique Shops in London</a:t>
            </a:r>
            <a:endParaRPr lang="en-US" altLang="ko-KR" sz="1800" b="0" dirty="0">
              <a:solidFill>
                <a:srgbClr val="1F2328"/>
              </a:solidFill>
              <a:latin typeface="Calibri"/>
              <a:ea typeface="맑은 고딕"/>
              <a:cs typeface="Calibri"/>
            </a:endParaRPr>
          </a:p>
        </p:txBody>
      </p:sp>
      <p:sp>
        <p:nvSpPr>
          <p:cNvPr id="12" name="choice_2"/>
          <p:cNvSpPr txBox="1"/>
          <p:nvPr/>
        </p:nvSpPr>
        <p:spPr>
          <a:xfrm>
            <a:off x="457200" y="3017266"/>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②</a:t>
            </a:r>
            <a:r>
              <a:rPr lang="en-US" altLang="ko-KR" sz="1800" b="0" dirty="0">
                <a:solidFill>
                  <a:srgbClr val="1F2328"/>
                </a:solidFill>
                <a:latin typeface="Calibri"/>
                <a:ea typeface="맑은 고딕"/>
                <a:cs typeface="Calibri"/>
              </a:rPr>
              <a:t>	The Simple Secret of a Clever Dealer</a:t>
            </a:r>
            <a:endParaRPr lang="en-US" altLang="ko-KR" sz="1800" b="0" dirty="0">
              <a:solidFill>
                <a:srgbClr val="1F2328"/>
              </a:solidFill>
              <a:latin typeface="Calibri"/>
              <a:ea typeface="맑은 고딕"/>
              <a:cs typeface="Calibri"/>
            </a:endParaRPr>
          </a:p>
        </p:txBody>
      </p:sp>
      <p:sp>
        <p:nvSpPr>
          <p:cNvPr id="13" name="rv_pick"/>
          <p:cNvSpPr txBox="1"/>
          <p:nvPr/>
        </p:nvSpPr>
        <p:spPr>
          <a:xfrm>
            <a:off x="457200" y="3017266"/>
            <a:ext cx="11277295" cy="379984"/>
          </a:xfrm>
          <a:prstGeom prst="rect">
            <a:avLst/>
          </a:prstGeom>
          <a:solidFill>
            <a:srgbClr val="FFF3C4"/>
          </a:solid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C00000"/>
                </a:solidFill>
                <a:latin typeface="맑은 고딕"/>
                <a:ea typeface="맑은 고딕"/>
                <a:cs typeface="맑은 고딕"/>
              </a:rPr>
              <a:t>②</a:t>
            </a:r>
            <a:r>
              <a:rPr lang="en-US" altLang="ko-KR" sz="1800" b="0" dirty="0">
                <a:solidFill>
                  <a:srgbClr val="C00000"/>
                </a:solidFill>
                <a:latin typeface="Calibri"/>
                <a:ea typeface="맑은 고딕"/>
                <a:cs typeface="Calibri"/>
              </a:rPr>
              <a:t>	The Simple Secret of a Clever Dealer</a:t>
            </a:r>
            <a:endParaRPr lang="en-US" altLang="ko-KR" sz="1800" b="0" dirty="0">
              <a:solidFill>
                <a:srgbClr val="C00000"/>
              </a:solidFill>
              <a:latin typeface="Calibri"/>
              <a:ea typeface="맑은 고딕"/>
              <a:cs typeface="Calibri"/>
            </a:endParaRPr>
          </a:p>
        </p:txBody>
      </p:sp>
      <p:sp>
        <p:nvSpPr>
          <p:cNvPr id="14" name="choice_3"/>
          <p:cNvSpPr txBox="1"/>
          <p:nvPr/>
        </p:nvSpPr>
        <p:spPr>
          <a:xfrm>
            <a:off x="457200" y="3424682"/>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③</a:t>
            </a:r>
            <a:r>
              <a:rPr lang="en-US" altLang="ko-KR" sz="1800" b="0" dirty="0">
                <a:solidFill>
                  <a:srgbClr val="1F2328"/>
                </a:solidFill>
                <a:latin typeface="Calibri"/>
                <a:ea typeface="맑은 고딕"/>
                <a:cs typeface="Calibri"/>
              </a:rPr>
              <a:t>	Small Towns and Their Rich Traditions</a:t>
            </a:r>
            <a:endParaRPr lang="en-US" altLang="ko-KR" sz="1800" b="0" dirty="0">
              <a:solidFill>
                <a:srgbClr val="1F2328"/>
              </a:solidFill>
              <a:latin typeface="Calibri"/>
              <a:ea typeface="맑은 고딕"/>
              <a:cs typeface="Calibri"/>
            </a:endParaRPr>
          </a:p>
        </p:txBody>
      </p:sp>
      <p:sp>
        <p:nvSpPr>
          <p:cNvPr id="15" name="choice_4"/>
          <p:cNvSpPr txBox="1"/>
          <p:nvPr/>
        </p:nvSpPr>
        <p:spPr>
          <a:xfrm>
            <a:off x="457200" y="3832098"/>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④</a:t>
            </a:r>
            <a:r>
              <a:rPr lang="en-US" altLang="ko-KR" sz="1800" b="0" dirty="0">
                <a:solidFill>
                  <a:srgbClr val="1F2328"/>
                </a:solidFill>
                <a:latin typeface="Calibri"/>
                <a:ea typeface="맑은 고딕"/>
                <a:cs typeface="Calibri"/>
              </a:rPr>
              <a:t>	How to Tell Real Antiques from Fakes</a:t>
            </a:r>
            <a:endParaRPr lang="en-US" altLang="ko-KR" sz="1800" b="0" dirty="0">
              <a:solidFill>
                <a:srgbClr val="1F2328"/>
              </a:solidFill>
              <a:latin typeface="Calibri"/>
              <a:ea typeface="맑은 고딕"/>
              <a:cs typeface="Calibri"/>
            </a:endParaRPr>
          </a:p>
        </p:txBody>
      </p:sp>
      <p:sp>
        <p:nvSpPr>
          <p:cNvPr id="16" name="choice_5"/>
          <p:cNvSpPr txBox="1"/>
          <p:nvPr/>
        </p:nvSpPr>
        <p:spPr>
          <a:xfrm>
            <a:off x="457200" y="4239514"/>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⑤</a:t>
            </a:r>
            <a:r>
              <a:rPr lang="en-US" altLang="ko-KR" sz="1800" b="0" dirty="0">
                <a:solidFill>
                  <a:srgbClr val="1F2328"/>
                </a:solidFill>
                <a:latin typeface="Calibri"/>
                <a:ea typeface="맑은 고딕"/>
                <a:cs typeface="Calibri"/>
              </a:rPr>
              <a:t>	Why People Love Buying Old Furniture</a:t>
            </a:r>
            <a:endParaRPr lang="en-US" altLang="ko-KR" sz="1800" b="0" dirty="0">
              <a:solidFill>
                <a:srgbClr val="1F2328"/>
              </a:solidFill>
              <a:latin typeface="Calibri"/>
              <a:ea typeface="맑은 고딕"/>
              <a:cs typeface="Calibri"/>
            </a:endParaRPr>
          </a:p>
        </p:txBody>
      </p:sp>
      <p:sp>
        <p:nvSpPr>
          <p:cNvPr id="17" name="rv_answer"/>
          <p:cNvSpPr/>
          <p:nvPr/>
        </p:nvSpPr>
        <p:spPr>
          <a:xfrm>
            <a:off x="457200" y="472922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② </a:t>
            </a:r>
            <a:r>
              <a:rPr lang="en-US" altLang="ko-KR" sz="1900" b="1" dirty="0">
                <a:solidFill>
                  <a:srgbClr val="5A4200"/>
                </a:solidFill>
                <a:latin typeface="Calibri"/>
                <a:ea typeface="맑은 고딕"/>
                <a:cs typeface="Calibri"/>
              </a:rPr>
              <a:t>The Simple Secret of a Clever Dealer</a:t>
            </a:r>
            <a:endParaRPr lang="en-US" altLang="ko-KR" sz="1900" b="1" dirty="0">
              <a:solidFill>
                <a:srgbClr val="5A4200"/>
              </a:solidFill>
              <a:latin typeface="Calibri"/>
              <a:ea typeface="맑은 고딕"/>
              <a:cs typeface="Calibri"/>
            </a:endParaRPr>
          </a:p>
        </p:txBody>
      </p:sp>
      <p:sp>
        <p:nvSpPr>
          <p:cNvPr id="18" name="rv_why"/>
          <p:cNvSpPr/>
          <p:nvPr/>
        </p:nvSpPr>
        <p:spPr>
          <a:xfrm>
            <a:off x="457200" y="5328158"/>
            <a:ext cx="11277295" cy="109092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Boggis의 비밀은 'simple'했다고 했다. 영리한 판매상의 단순한 비밀이라는 ②가 제목이다.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250"/>
                                        <p:tgtEl>
                                          <p:spTgt spid="1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25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25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7" grpId="0" animBg="1"/>
      <p:bldP spid="9" grpId="0" animBg="1"/>
      <p:bldP spid="10" grpId="0" animBg="1"/>
      <p:bldP spid="18" grpId="0" animBg="1"/>
    </p:bldLst>
  </p:timing>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L6-1</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1 · 3</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3. 다음 글에서 필자가 주장하는 바로 가장 적절한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6</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본문 근거 형광 + 정답 원리</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151257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1512570"/>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1F2328"/>
                </a:solidFill>
                <a:latin typeface="Calibri"/>
                <a:ea typeface="맑은 고딕"/>
                <a:cs typeface="Calibri"/>
              </a:rPr>
              <a:t>Cyril Boggis was an antique furniture dealer in London. He was known for buying good things at a low price and then selling them at a high price. People asked him where he had got the furniture, but he just said, "It’s a secret." Mr. Boggis’ secret was simple. He went to small towns every Sunday and knocked on doors. He told people that he was a furniture dealer. People didn’t know how valuable their things were, </a:t>
            </a:r>
            <a:r>
              <a:rPr lang="en-US" altLang="ko-KR" sz="1500" b="0" dirty="0">
                <a:solidFill>
                  <a:srgbClr val="1F2328"/>
                </a:solidFill>
                <a:latin typeface="Calibri"/>
                <a:ea typeface="맑은 고딕"/>
                <a:cs typeface="Calibri"/>
              </a:rPr>
              <a:t>so Mr. Boggis took advantage of them</a:t>
            </a:r>
            <a:r>
              <a:rPr lang="en-US" altLang="ko-KR" sz="1500" b="0" dirty="0">
                <a:solidFill>
                  <a:srgbClr val="1F2328"/>
                </a:solidFill>
                <a:latin typeface="Calibri"/>
                <a:ea typeface="맑은 고딕"/>
                <a:cs typeface="Calibri"/>
              </a:rPr>
              <a:t>. He was able to buy things very cheaply.</a:t>
            </a:r>
            <a:endParaRPr lang="en-US" altLang="ko-KR" sz="1500" b="0" dirty="0">
              <a:solidFill>
                <a:srgbClr val="1F2328"/>
              </a:solidFill>
              <a:latin typeface="Calibri"/>
              <a:ea typeface="맑은 고딕"/>
              <a:cs typeface="Calibri"/>
            </a:endParaRPr>
          </a:p>
        </p:txBody>
      </p:sp>
      <p:sp>
        <p:nvSpPr>
          <p:cNvPr id="9" name="rv_evidence_card"/>
          <p:cNvSpPr/>
          <p:nvPr/>
        </p:nvSpPr>
        <p:spPr>
          <a:xfrm>
            <a:off x="457200" y="950976"/>
            <a:ext cx="11277295" cy="151257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rv_evidence"/>
          <p:cNvSpPr txBox="1"/>
          <p:nvPr/>
        </p:nvSpPr>
        <p:spPr>
          <a:xfrm>
            <a:off x="457200" y="950976"/>
            <a:ext cx="11277295" cy="1512570"/>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B3BAC6"/>
                </a:solidFill>
                <a:latin typeface="Calibri"/>
                <a:ea typeface="맑은 고딕"/>
                <a:cs typeface="Calibri"/>
              </a:rPr>
              <a:t>Cyril Boggis was an antique furniture dealer in London. He was known for buying good things at a low price and then selling them at a high price. People asked him where he had got the furniture, but he just said, "It’s a secret." Mr. Boggis’ secret was simple. He went to small towns every Sunday and knocked on doors. He told people that he was a furniture dealer. People didn’t know how valuable their things were, </a:t>
            </a:r>
            <a:r>
              <a:rPr lang="en-US" altLang="ko-KR" sz="1500" b="0" dirty="0">
                <a:solidFill>
                  <a:srgbClr val="111111"/>
                </a:solidFill>
                <a:highlight>
                  <a:srgbClr val="FFE45C"/>
                </a:highlight>
                <a:latin typeface="Calibri"/>
                <a:ea typeface="맑은 고딕"/>
                <a:cs typeface="Calibri"/>
              </a:rPr>
              <a:t>so Mr. Boggis took advantage of them</a:t>
            </a:r>
            <a:r>
              <a:rPr lang="en-US" altLang="ko-KR" sz="1500" b="0" dirty="0">
                <a:solidFill>
                  <a:srgbClr val="B3BAC6"/>
                </a:solidFill>
                <a:latin typeface="Calibri"/>
                <a:ea typeface="맑은 고딕"/>
                <a:cs typeface="Calibri"/>
              </a:rPr>
              <a:t>. He was able to buy things very cheaply.</a:t>
            </a:r>
            <a:endParaRPr lang="en-US" altLang="ko-KR" sz="1500" b="0" dirty="0">
              <a:solidFill>
                <a:srgbClr val="B3BAC6"/>
              </a:solidFill>
              <a:latin typeface="Calibri"/>
              <a:ea typeface="맑은 고딕"/>
              <a:cs typeface="Calibri"/>
            </a:endParaRPr>
          </a:p>
        </p:txBody>
      </p:sp>
      <p:sp>
        <p:nvSpPr>
          <p:cNvPr id="11" name="choice_1"/>
          <p:cNvSpPr txBox="1"/>
          <p:nvPr/>
        </p:nvSpPr>
        <p:spPr>
          <a:xfrm>
            <a:off x="457200" y="2609850"/>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①</a:t>
            </a:r>
            <a:r>
              <a:rPr lang="ko-KR" altLang="en-US" sz="1800" b="0" dirty="0">
                <a:solidFill>
                  <a:srgbClr val="1F2328"/>
                </a:solidFill>
                <a:latin typeface="맑은 고딕"/>
                <a:ea typeface="맑은 고딕"/>
                <a:cs typeface="맑은 고딕"/>
              </a:rPr>
              <a:t>	골동품은 큰 도시의 전문 가게에서 사야 한다</a:t>
            </a:r>
            <a:endParaRPr lang="ko-KR" altLang="en-US" sz="1800" b="0" dirty="0">
              <a:solidFill>
                <a:srgbClr val="1F2328"/>
              </a:solidFill>
              <a:latin typeface="맑은 고딕"/>
              <a:ea typeface="맑은 고딕"/>
              <a:cs typeface="맑은 고딕"/>
            </a:endParaRPr>
          </a:p>
        </p:txBody>
      </p:sp>
      <p:sp>
        <p:nvSpPr>
          <p:cNvPr id="12" name="choice_2"/>
          <p:cNvSpPr txBox="1"/>
          <p:nvPr/>
        </p:nvSpPr>
        <p:spPr>
          <a:xfrm>
            <a:off x="457200" y="3017266"/>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②</a:t>
            </a:r>
            <a:r>
              <a:rPr lang="ko-KR" altLang="en-US" sz="1800" b="0" dirty="0">
                <a:solidFill>
                  <a:srgbClr val="1F2328"/>
                </a:solidFill>
                <a:latin typeface="맑은 고딕"/>
                <a:ea typeface="맑은 고딕"/>
                <a:cs typeface="맑은 고딕"/>
              </a:rPr>
              <a:t>	가구를 살 때는 먼저 가격을 꼼꼼히 비교해야 한다</a:t>
            </a:r>
            <a:endParaRPr lang="ko-KR" altLang="en-US" sz="1800" b="0" dirty="0">
              <a:solidFill>
                <a:srgbClr val="1F2328"/>
              </a:solidFill>
              <a:latin typeface="맑은 고딕"/>
              <a:ea typeface="맑은 고딕"/>
              <a:cs typeface="맑은 고딕"/>
            </a:endParaRPr>
          </a:p>
        </p:txBody>
      </p:sp>
      <p:sp>
        <p:nvSpPr>
          <p:cNvPr id="13" name="choice_3"/>
          <p:cNvSpPr txBox="1"/>
          <p:nvPr/>
        </p:nvSpPr>
        <p:spPr>
          <a:xfrm>
            <a:off x="457200" y="3424682"/>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③</a:t>
            </a:r>
            <a:r>
              <a:rPr lang="ko-KR" altLang="en-US" sz="1800" b="0" dirty="0">
                <a:solidFill>
                  <a:srgbClr val="1F2328"/>
                </a:solidFill>
                <a:latin typeface="맑은 고딕"/>
                <a:ea typeface="맑은 고딕"/>
                <a:cs typeface="맑은 고딕"/>
              </a:rPr>
              <a:t>	남의 무지를 이용해 부당한 이익을 얻어선 안 된다</a:t>
            </a:r>
            <a:endParaRPr lang="ko-KR" altLang="en-US" sz="1800" b="0" dirty="0">
              <a:solidFill>
                <a:srgbClr val="1F2328"/>
              </a:solidFill>
              <a:latin typeface="맑은 고딕"/>
              <a:ea typeface="맑은 고딕"/>
              <a:cs typeface="맑은 고딕"/>
            </a:endParaRPr>
          </a:p>
        </p:txBody>
      </p:sp>
      <p:sp>
        <p:nvSpPr>
          <p:cNvPr id="14" name="rv_pick"/>
          <p:cNvSpPr txBox="1"/>
          <p:nvPr/>
        </p:nvSpPr>
        <p:spPr>
          <a:xfrm>
            <a:off x="457200" y="3424682"/>
            <a:ext cx="11277295" cy="379984"/>
          </a:xfrm>
          <a:prstGeom prst="rect">
            <a:avLst/>
          </a:prstGeom>
          <a:solidFill>
            <a:srgbClr val="FFF3C4"/>
          </a:solid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C00000"/>
                </a:solidFill>
                <a:latin typeface="맑은 고딕"/>
                <a:ea typeface="맑은 고딕"/>
                <a:cs typeface="맑은 고딕"/>
              </a:rPr>
              <a:t>③</a:t>
            </a:r>
            <a:r>
              <a:rPr lang="ko-KR" altLang="en-US" sz="1800" b="0" dirty="0">
                <a:solidFill>
                  <a:srgbClr val="C00000"/>
                </a:solidFill>
                <a:latin typeface="맑은 고딕"/>
                <a:ea typeface="맑은 고딕"/>
                <a:cs typeface="맑은 고딕"/>
              </a:rPr>
              <a:t>	남의 무지를 이용해 부당한 이익을 얻어선 안 된다</a:t>
            </a:r>
            <a:endParaRPr lang="ko-KR" altLang="en-US" sz="1800" b="0" dirty="0">
              <a:solidFill>
                <a:srgbClr val="C00000"/>
              </a:solidFill>
              <a:latin typeface="맑은 고딕"/>
              <a:ea typeface="맑은 고딕"/>
              <a:cs typeface="맑은 고딕"/>
            </a:endParaRPr>
          </a:p>
        </p:txBody>
      </p:sp>
      <p:sp>
        <p:nvSpPr>
          <p:cNvPr id="15" name="choice_4"/>
          <p:cNvSpPr txBox="1"/>
          <p:nvPr/>
        </p:nvSpPr>
        <p:spPr>
          <a:xfrm>
            <a:off x="457200" y="3832098"/>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④</a:t>
            </a:r>
            <a:r>
              <a:rPr lang="ko-KR" altLang="en-US" sz="1800" b="0" dirty="0">
                <a:solidFill>
                  <a:srgbClr val="1F2328"/>
                </a:solidFill>
                <a:latin typeface="맑은 고딕"/>
                <a:ea typeface="맑은 고딕"/>
                <a:cs typeface="맑은 고딕"/>
              </a:rPr>
              <a:t>	작은 마을의 오래된 물건을 잘 보존해야 한다</a:t>
            </a:r>
            <a:endParaRPr lang="ko-KR" altLang="en-US" sz="1800" b="0" dirty="0">
              <a:solidFill>
                <a:srgbClr val="1F2328"/>
              </a:solidFill>
              <a:latin typeface="맑은 고딕"/>
              <a:ea typeface="맑은 고딕"/>
              <a:cs typeface="맑은 고딕"/>
            </a:endParaRPr>
          </a:p>
        </p:txBody>
      </p:sp>
      <p:sp>
        <p:nvSpPr>
          <p:cNvPr id="16" name="choice_5"/>
          <p:cNvSpPr txBox="1"/>
          <p:nvPr/>
        </p:nvSpPr>
        <p:spPr>
          <a:xfrm>
            <a:off x="457200" y="4239514"/>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⑤</a:t>
            </a:r>
            <a:r>
              <a:rPr lang="ko-KR" altLang="en-US" sz="1800" b="0" dirty="0">
                <a:solidFill>
                  <a:srgbClr val="1F2328"/>
                </a:solidFill>
                <a:latin typeface="맑은 고딕"/>
                <a:ea typeface="맑은 고딕"/>
                <a:cs typeface="맑은 고딕"/>
              </a:rPr>
              <a:t>	좋은 물건은 비싼 가격에 팔아야 이익이 남는다</a:t>
            </a:r>
            <a:endParaRPr lang="ko-KR" altLang="en-US" sz="1800" b="0" dirty="0">
              <a:solidFill>
                <a:srgbClr val="1F2328"/>
              </a:solidFill>
              <a:latin typeface="맑은 고딕"/>
              <a:ea typeface="맑은 고딕"/>
              <a:cs typeface="맑은 고딕"/>
            </a:endParaRPr>
          </a:p>
        </p:txBody>
      </p:sp>
      <p:sp>
        <p:nvSpPr>
          <p:cNvPr id="17" name="rv_answer"/>
          <p:cNvSpPr/>
          <p:nvPr/>
        </p:nvSpPr>
        <p:spPr>
          <a:xfrm>
            <a:off x="457200" y="472922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③ </a:t>
            </a:r>
            <a:r>
              <a:rPr lang="ko-KR" altLang="en-US" sz="1900" b="1" dirty="0">
                <a:solidFill>
                  <a:srgbClr val="5A4200"/>
                </a:solidFill>
                <a:latin typeface="맑은 고딕"/>
                <a:ea typeface="맑은 고딕"/>
                <a:cs typeface="맑은 고딕"/>
              </a:rPr>
              <a:t>남의 무지를 이용해 부당한 이익을 얻어선 안 된다</a:t>
            </a:r>
            <a:endParaRPr lang="ko-KR" altLang="en-US" sz="1900" b="1" dirty="0">
              <a:solidFill>
                <a:srgbClr val="5A4200"/>
              </a:solidFill>
              <a:latin typeface="맑은 고딕"/>
              <a:ea typeface="맑은 고딕"/>
              <a:cs typeface="맑은 고딕"/>
            </a:endParaRPr>
          </a:p>
        </p:txBody>
      </p:sp>
      <p:sp>
        <p:nvSpPr>
          <p:cNvPr id="18" name="rv_why"/>
          <p:cNvSpPr/>
          <p:nvPr/>
        </p:nvSpPr>
        <p:spPr>
          <a:xfrm>
            <a:off x="457200" y="5328158"/>
            <a:ext cx="11277295" cy="109092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가치를 모르는 사람들을 이용한 Boggis의 행동을 비판하는 ③이 주장이다.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250"/>
                                        <p:tgtEl>
                                          <p:spTgt spid="1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25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25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7" grpId="0" animBg="1"/>
      <p:bldP spid="9" grpId="0" animBg="1"/>
      <p:bldP spid="10" grpId="0" animBg="1"/>
      <p:bldP spid="18" grpId="0" animBg="1"/>
    </p:bldLst>
  </p:timing>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L6-1</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1 · 4</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4. 다음 글의 요지로 가장 적절한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6</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본문 근거 형광 + 정답 원리</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151257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1512570"/>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1F2328"/>
                </a:solidFill>
                <a:latin typeface="Calibri"/>
                <a:ea typeface="맑은 고딕"/>
                <a:cs typeface="Calibri"/>
              </a:rPr>
              <a:t>Cyril Boggis was an antique furniture dealer in London. He was known for buying good things at a low price and then selling them at a high price. People asked him where he had got the furniture, but he just said, "It’s a secret." Mr. Boggis’ secret was simple. He went to small towns every Sunday and knocked on doors. He told people that he was a furniture dealer. </a:t>
            </a:r>
            <a:r>
              <a:rPr lang="en-US" altLang="ko-KR" sz="1500" b="0" dirty="0">
                <a:solidFill>
                  <a:srgbClr val="1F2328"/>
                </a:solidFill>
                <a:latin typeface="Calibri"/>
                <a:ea typeface="맑은 고딕"/>
                <a:cs typeface="Calibri"/>
              </a:rPr>
              <a:t>People didn’t know how valuable their things were, so Mr. Boggis took advantage of them.</a:t>
            </a:r>
            <a:r>
              <a:rPr lang="en-US" altLang="ko-KR" sz="1500" b="0" dirty="0">
                <a:solidFill>
                  <a:srgbClr val="1F2328"/>
                </a:solidFill>
                <a:latin typeface="Calibri"/>
                <a:ea typeface="맑은 고딕"/>
                <a:cs typeface="Calibri"/>
              </a:rPr>
              <a:t> He was able to buy things very cheaply.</a:t>
            </a:r>
            <a:endParaRPr lang="en-US" altLang="ko-KR" sz="1500" b="0" dirty="0">
              <a:solidFill>
                <a:srgbClr val="1F2328"/>
              </a:solidFill>
              <a:latin typeface="Calibri"/>
              <a:ea typeface="맑은 고딕"/>
              <a:cs typeface="Calibri"/>
            </a:endParaRPr>
          </a:p>
        </p:txBody>
      </p:sp>
      <p:sp>
        <p:nvSpPr>
          <p:cNvPr id="9" name="rv_evidence_card"/>
          <p:cNvSpPr/>
          <p:nvPr/>
        </p:nvSpPr>
        <p:spPr>
          <a:xfrm>
            <a:off x="457200" y="950976"/>
            <a:ext cx="11277295" cy="151257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rv_evidence"/>
          <p:cNvSpPr txBox="1"/>
          <p:nvPr/>
        </p:nvSpPr>
        <p:spPr>
          <a:xfrm>
            <a:off x="457200" y="950976"/>
            <a:ext cx="11277295" cy="1512570"/>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B3BAC6"/>
                </a:solidFill>
                <a:latin typeface="Calibri"/>
                <a:ea typeface="맑은 고딕"/>
                <a:cs typeface="Calibri"/>
              </a:rPr>
              <a:t>Cyril Boggis was an antique furniture dealer in London. He was known for buying good things at a low price and then selling them at a high price. People asked him where he had got the furniture, but he just said, "It’s a secret." Mr. Boggis’ secret was simple. He went to small towns every Sunday and knocked on doors. He told people that he was a furniture dealer. </a:t>
            </a:r>
            <a:r>
              <a:rPr lang="en-US" altLang="ko-KR" sz="1500" b="0" dirty="0">
                <a:solidFill>
                  <a:srgbClr val="111111"/>
                </a:solidFill>
                <a:highlight>
                  <a:srgbClr val="FFE45C"/>
                </a:highlight>
                <a:latin typeface="Calibri"/>
                <a:ea typeface="맑은 고딕"/>
                <a:cs typeface="Calibri"/>
              </a:rPr>
              <a:t>People didn’t know how valuable their things were, so Mr. Boggis took advantage of them.</a:t>
            </a:r>
            <a:r>
              <a:rPr lang="en-US" altLang="ko-KR" sz="1500" b="0" dirty="0">
                <a:solidFill>
                  <a:srgbClr val="B3BAC6"/>
                </a:solidFill>
                <a:latin typeface="Calibri"/>
                <a:ea typeface="맑은 고딕"/>
                <a:cs typeface="Calibri"/>
              </a:rPr>
              <a:t> He was able to buy things very cheaply.</a:t>
            </a:r>
            <a:endParaRPr lang="en-US" altLang="ko-KR" sz="1500" b="0" dirty="0">
              <a:solidFill>
                <a:srgbClr val="B3BAC6"/>
              </a:solidFill>
              <a:latin typeface="Calibri"/>
              <a:ea typeface="맑은 고딕"/>
              <a:cs typeface="Calibri"/>
            </a:endParaRPr>
          </a:p>
        </p:txBody>
      </p:sp>
      <p:sp>
        <p:nvSpPr>
          <p:cNvPr id="11" name="choice_1"/>
          <p:cNvSpPr txBox="1"/>
          <p:nvPr/>
        </p:nvSpPr>
        <p:spPr>
          <a:xfrm>
            <a:off x="457200" y="2609850"/>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①</a:t>
            </a:r>
            <a:r>
              <a:rPr lang="ko-KR" altLang="en-US" sz="1800" b="0" dirty="0">
                <a:solidFill>
                  <a:srgbClr val="1F2328"/>
                </a:solidFill>
                <a:latin typeface="맑은 고딕"/>
                <a:ea typeface="맑은 고딕"/>
                <a:cs typeface="맑은 고딕"/>
              </a:rPr>
              <a:t>	Boggis 씨는 직접 가구를 만들어 비싸게 팔았다</a:t>
            </a:r>
            <a:endParaRPr lang="ko-KR" altLang="en-US" sz="1800" b="0" dirty="0">
              <a:solidFill>
                <a:srgbClr val="1F2328"/>
              </a:solidFill>
              <a:latin typeface="맑은 고딕"/>
              <a:ea typeface="맑은 고딕"/>
              <a:cs typeface="맑은 고딕"/>
            </a:endParaRPr>
          </a:p>
        </p:txBody>
      </p:sp>
      <p:sp>
        <p:nvSpPr>
          <p:cNvPr id="12" name="choice_2"/>
          <p:cNvSpPr txBox="1"/>
          <p:nvPr/>
        </p:nvSpPr>
        <p:spPr>
          <a:xfrm>
            <a:off x="457200" y="3017266"/>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②</a:t>
            </a:r>
            <a:r>
              <a:rPr lang="ko-KR" altLang="en-US" sz="1800" b="0" dirty="0">
                <a:solidFill>
                  <a:srgbClr val="1F2328"/>
                </a:solidFill>
                <a:latin typeface="맑은 고딕"/>
                <a:ea typeface="맑은 고딕"/>
                <a:cs typeface="맑은 고딕"/>
              </a:rPr>
              <a:t>	작은 마을 사람들은 골동품 가치를 잘 알았다</a:t>
            </a:r>
            <a:endParaRPr lang="ko-KR" altLang="en-US" sz="1800" b="0" dirty="0">
              <a:solidFill>
                <a:srgbClr val="1F2328"/>
              </a:solidFill>
              <a:latin typeface="맑은 고딕"/>
              <a:ea typeface="맑은 고딕"/>
              <a:cs typeface="맑은 고딕"/>
            </a:endParaRPr>
          </a:p>
        </p:txBody>
      </p:sp>
      <p:sp>
        <p:nvSpPr>
          <p:cNvPr id="13" name="choice_3"/>
          <p:cNvSpPr txBox="1"/>
          <p:nvPr/>
        </p:nvSpPr>
        <p:spPr>
          <a:xfrm>
            <a:off x="457200" y="3424682"/>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③</a:t>
            </a:r>
            <a:r>
              <a:rPr lang="ko-KR" altLang="en-US" sz="1800" b="0" dirty="0">
                <a:solidFill>
                  <a:srgbClr val="1F2328"/>
                </a:solidFill>
                <a:latin typeface="맑은 고딕"/>
                <a:ea typeface="맑은 고딕"/>
                <a:cs typeface="맑은 고딕"/>
              </a:rPr>
              <a:t>	Boggis 씨는 가구 출처를 사람들에게 다 밝혔다</a:t>
            </a:r>
            <a:endParaRPr lang="ko-KR" altLang="en-US" sz="1800" b="0" dirty="0">
              <a:solidFill>
                <a:srgbClr val="1F2328"/>
              </a:solidFill>
              <a:latin typeface="맑은 고딕"/>
              <a:ea typeface="맑은 고딕"/>
              <a:cs typeface="맑은 고딕"/>
            </a:endParaRPr>
          </a:p>
        </p:txBody>
      </p:sp>
      <p:sp>
        <p:nvSpPr>
          <p:cNvPr id="14" name="choice_4"/>
          <p:cNvSpPr txBox="1"/>
          <p:nvPr/>
        </p:nvSpPr>
        <p:spPr>
          <a:xfrm>
            <a:off x="457200" y="3832098"/>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④</a:t>
            </a:r>
            <a:r>
              <a:rPr lang="ko-KR" altLang="en-US" sz="1800" b="0" dirty="0">
                <a:solidFill>
                  <a:srgbClr val="1F2328"/>
                </a:solidFill>
                <a:latin typeface="맑은 고딕"/>
                <a:ea typeface="맑은 고딕"/>
                <a:cs typeface="맑은 고딕"/>
              </a:rPr>
              <a:t>	Boggis 씨는 물건값을 모르는 사람들을 이용했다</a:t>
            </a:r>
            <a:endParaRPr lang="ko-KR" altLang="en-US" sz="1800" b="0" dirty="0">
              <a:solidFill>
                <a:srgbClr val="1F2328"/>
              </a:solidFill>
              <a:latin typeface="맑은 고딕"/>
              <a:ea typeface="맑은 고딕"/>
              <a:cs typeface="맑은 고딕"/>
            </a:endParaRPr>
          </a:p>
        </p:txBody>
      </p:sp>
      <p:sp>
        <p:nvSpPr>
          <p:cNvPr id="15" name="rv_pick"/>
          <p:cNvSpPr txBox="1"/>
          <p:nvPr/>
        </p:nvSpPr>
        <p:spPr>
          <a:xfrm>
            <a:off x="457200" y="3832098"/>
            <a:ext cx="11277295" cy="379984"/>
          </a:xfrm>
          <a:prstGeom prst="rect">
            <a:avLst/>
          </a:prstGeom>
          <a:solidFill>
            <a:srgbClr val="FFF3C4"/>
          </a:solid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C00000"/>
                </a:solidFill>
                <a:latin typeface="맑은 고딕"/>
                <a:ea typeface="맑은 고딕"/>
                <a:cs typeface="맑은 고딕"/>
              </a:rPr>
              <a:t>④</a:t>
            </a:r>
            <a:r>
              <a:rPr lang="ko-KR" altLang="en-US" sz="1800" b="0" dirty="0">
                <a:solidFill>
                  <a:srgbClr val="C00000"/>
                </a:solidFill>
                <a:latin typeface="맑은 고딕"/>
                <a:ea typeface="맑은 고딕"/>
                <a:cs typeface="맑은 고딕"/>
              </a:rPr>
              <a:t>	Boggis 씨는 물건값을 모르는 사람들을 이용했다</a:t>
            </a:r>
            <a:endParaRPr lang="ko-KR" altLang="en-US" sz="1800" b="0" dirty="0">
              <a:solidFill>
                <a:srgbClr val="C00000"/>
              </a:solidFill>
              <a:latin typeface="맑은 고딕"/>
              <a:ea typeface="맑은 고딕"/>
              <a:cs typeface="맑은 고딕"/>
            </a:endParaRPr>
          </a:p>
        </p:txBody>
      </p:sp>
      <p:sp>
        <p:nvSpPr>
          <p:cNvPr id="16" name="choice_5"/>
          <p:cNvSpPr txBox="1"/>
          <p:nvPr/>
        </p:nvSpPr>
        <p:spPr>
          <a:xfrm>
            <a:off x="457200" y="4239514"/>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⑤</a:t>
            </a:r>
            <a:r>
              <a:rPr lang="ko-KR" altLang="en-US" sz="1800" b="0" dirty="0">
                <a:solidFill>
                  <a:srgbClr val="1F2328"/>
                </a:solidFill>
                <a:latin typeface="맑은 고딕"/>
                <a:ea typeface="맑은 고딕"/>
                <a:cs typeface="맑은 고딕"/>
              </a:rPr>
              <a:t>	런던 사람들은 고가구를 싸게 사는 법을 알았다</a:t>
            </a:r>
            <a:endParaRPr lang="ko-KR" altLang="en-US" sz="1800" b="0" dirty="0">
              <a:solidFill>
                <a:srgbClr val="1F2328"/>
              </a:solidFill>
              <a:latin typeface="맑은 고딕"/>
              <a:ea typeface="맑은 고딕"/>
              <a:cs typeface="맑은 고딕"/>
            </a:endParaRPr>
          </a:p>
        </p:txBody>
      </p:sp>
      <p:sp>
        <p:nvSpPr>
          <p:cNvPr id="17" name="rv_answer"/>
          <p:cNvSpPr/>
          <p:nvPr/>
        </p:nvSpPr>
        <p:spPr>
          <a:xfrm>
            <a:off x="457200" y="472922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④ </a:t>
            </a:r>
            <a:r>
              <a:rPr lang="ko-KR" altLang="en-US" sz="1900" b="1" dirty="0">
                <a:solidFill>
                  <a:srgbClr val="5A4200"/>
                </a:solidFill>
                <a:latin typeface="맑은 고딕"/>
                <a:ea typeface="맑은 고딕"/>
                <a:cs typeface="맑은 고딕"/>
              </a:rPr>
              <a:t>Boggis 씨는 물건값을 모르는 사람들을 이용했다</a:t>
            </a:r>
            <a:endParaRPr lang="ko-KR" altLang="en-US" sz="1900" b="1" dirty="0">
              <a:solidFill>
                <a:srgbClr val="5A4200"/>
              </a:solidFill>
              <a:latin typeface="맑은 고딕"/>
              <a:ea typeface="맑은 고딕"/>
              <a:cs typeface="맑은 고딕"/>
            </a:endParaRPr>
          </a:p>
        </p:txBody>
      </p:sp>
      <p:sp>
        <p:nvSpPr>
          <p:cNvPr id="18" name="rv_why"/>
          <p:cNvSpPr/>
          <p:nvPr/>
        </p:nvSpPr>
        <p:spPr>
          <a:xfrm>
            <a:off x="457200" y="5328158"/>
            <a:ext cx="11277295" cy="109092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사람들이 물건의 가치를 몰라서 Boggis가 그들을 이용했다고 했다. 이를 옮긴 ④가 요지다.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250"/>
                                        <p:tgtEl>
                                          <p:spTgt spid="1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25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25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7" grpId="0" animBg="1"/>
      <p:bldP spid="9" grpId="0" animBg="1"/>
      <p:bldP spid="10" grpId="0" animBg="1"/>
      <p:bldP spid="18" grpId="0" animBg="1"/>
    </p:bldLst>
  </p:timing>
</p:sld>
</file>

<file path=ppt/slides/slide9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L6-1</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1 · 5</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5. 다음 글의 내용과 일치하지 않는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6</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본문 근거 형광 + 정답 원리</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151257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1512570"/>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1F2328"/>
                </a:solidFill>
                <a:latin typeface="Calibri"/>
                <a:ea typeface="맑은 고딕"/>
                <a:cs typeface="Calibri"/>
              </a:rPr>
              <a:t>Cyril Boggis was an antique furniture dealer in London. He was known for buying good things at a low price and then selling them at a high price. People asked him where he had got the furniture, but he just said, "It’s a secret." Mr. Boggis’ secret was simple. </a:t>
            </a:r>
            <a:r>
              <a:rPr lang="en-US" altLang="ko-KR" sz="1500" b="0" dirty="0">
                <a:solidFill>
                  <a:srgbClr val="1F2328"/>
                </a:solidFill>
                <a:latin typeface="Calibri"/>
                <a:ea typeface="맑은 고딕"/>
                <a:cs typeface="Calibri"/>
              </a:rPr>
              <a:t>He went to small towns every Sunday</a:t>
            </a:r>
            <a:r>
              <a:rPr lang="en-US" altLang="ko-KR" sz="1500" b="0" dirty="0">
                <a:solidFill>
                  <a:srgbClr val="1F2328"/>
                </a:solidFill>
                <a:latin typeface="Calibri"/>
                <a:ea typeface="맑은 고딕"/>
                <a:cs typeface="Calibri"/>
              </a:rPr>
              <a:t> and knocked on doors. He told people that he was a furniture dealer. People didn’t know how valuable their things were, so Mr. Boggis took advantage of them. He was able to buy things very cheaply.</a:t>
            </a:r>
            <a:endParaRPr lang="en-US" altLang="ko-KR" sz="1500" b="0" dirty="0">
              <a:solidFill>
                <a:srgbClr val="1F2328"/>
              </a:solidFill>
              <a:latin typeface="Calibri"/>
              <a:ea typeface="맑은 고딕"/>
              <a:cs typeface="Calibri"/>
            </a:endParaRPr>
          </a:p>
        </p:txBody>
      </p:sp>
      <p:sp>
        <p:nvSpPr>
          <p:cNvPr id="9" name="rv_evidence_card"/>
          <p:cNvSpPr/>
          <p:nvPr/>
        </p:nvSpPr>
        <p:spPr>
          <a:xfrm>
            <a:off x="457200" y="950976"/>
            <a:ext cx="11277295" cy="151257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rv_evidence"/>
          <p:cNvSpPr txBox="1"/>
          <p:nvPr/>
        </p:nvSpPr>
        <p:spPr>
          <a:xfrm>
            <a:off x="457200" y="950976"/>
            <a:ext cx="11277295" cy="1512570"/>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B3BAC6"/>
                </a:solidFill>
                <a:latin typeface="Calibri"/>
                <a:ea typeface="맑은 고딕"/>
                <a:cs typeface="Calibri"/>
              </a:rPr>
              <a:t>Cyril Boggis was an antique furniture dealer in London. He was known for buying good things at a low price and then selling them at a high price. People asked him where he had got the furniture, but he just said, "It’s a secret." Mr. Boggis’ secret was simple. </a:t>
            </a:r>
            <a:r>
              <a:rPr lang="en-US" altLang="ko-KR" sz="1500" b="0" dirty="0">
                <a:solidFill>
                  <a:srgbClr val="111111"/>
                </a:solidFill>
                <a:highlight>
                  <a:srgbClr val="FFE45C"/>
                </a:highlight>
                <a:latin typeface="Calibri"/>
                <a:ea typeface="맑은 고딕"/>
                <a:cs typeface="Calibri"/>
              </a:rPr>
              <a:t>He went to small towns every Sunday</a:t>
            </a:r>
            <a:r>
              <a:rPr lang="en-US" altLang="ko-KR" sz="1500" b="0" dirty="0">
                <a:solidFill>
                  <a:srgbClr val="B3BAC6"/>
                </a:solidFill>
                <a:latin typeface="Calibri"/>
                <a:ea typeface="맑은 고딕"/>
                <a:cs typeface="Calibri"/>
              </a:rPr>
              <a:t> and knocked on doors. He told people that he was a furniture dealer. People didn’t know how valuable their things were, so Mr. Boggis took advantage of them. He was able to buy things very cheaply.</a:t>
            </a:r>
            <a:endParaRPr lang="en-US" altLang="ko-KR" sz="1500" b="0" dirty="0">
              <a:solidFill>
                <a:srgbClr val="B3BAC6"/>
              </a:solidFill>
              <a:latin typeface="Calibri"/>
              <a:ea typeface="맑은 고딕"/>
              <a:cs typeface="Calibri"/>
            </a:endParaRPr>
          </a:p>
        </p:txBody>
      </p:sp>
      <p:sp>
        <p:nvSpPr>
          <p:cNvPr id="11" name="choice_1"/>
          <p:cNvSpPr txBox="1"/>
          <p:nvPr/>
        </p:nvSpPr>
        <p:spPr>
          <a:xfrm>
            <a:off x="457200" y="2609850"/>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①</a:t>
            </a:r>
            <a:r>
              <a:rPr lang="ko-KR" altLang="en-US" sz="1800" b="0" dirty="0">
                <a:solidFill>
                  <a:srgbClr val="1F2328"/>
                </a:solidFill>
                <a:latin typeface="맑은 고딕"/>
                <a:ea typeface="맑은 고딕"/>
                <a:cs typeface="맑은 고딕"/>
              </a:rPr>
              <a:t>	Boggis 씨는 런던의 골동품 가구 판매상이었다</a:t>
            </a:r>
            <a:endParaRPr lang="ko-KR" altLang="en-US" sz="1800" b="0" dirty="0">
              <a:solidFill>
                <a:srgbClr val="1F2328"/>
              </a:solidFill>
              <a:latin typeface="맑은 고딕"/>
              <a:ea typeface="맑은 고딕"/>
              <a:cs typeface="맑은 고딕"/>
            </a:endParaRPr>
          </a:p>
        </p:txBody>
      </p:sp>
      <p:sp>
        <p:nvSpPr>
          <p:cNvPr id="12" name="choice_2"/>
          <p:cNvSpPr txBox="1"/>
          <p:nvPr/>
        </p:nvSpPr>
        <p:spPr>
          <a:xfrm>
            <a:off x="457200" y="3017266"/>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②</a:t>
            </a:r>
            <a:r>
              <a:rPr lang="ko-KR" altLang="en-US" sz="1800" b="0" dirty="0">
                <a:solidFill>
                  <a:srgbClr val="1F2328"/>
                </a:solidFill>
                <a:latin typeface="맑은 고딕"/>
                <a:ea typeface="맑은 고딕"/>
                <a:cs typeface="맑은 고딕"/>
              </a:rPr>
              <a:t>	Boggis 씨는 싸게 사서 비싸게 파는 것으로 유명했다</a:t>
            </a:r>
            <a:endParaRPr lang="ko-KR" altLang="en-US" sz="1800" b="0" dirty="0">
              <a:solidFill>
                <a:srgbClr val="1F2328"/>
              </a:solidFill>
              <a:latin typeface="맑은 고딕"/>
              <a:ea typeface="맑은 고딕"/>
              <a:cs typeface="맑은 고딕"/>
            </a:endParaRPr>
          </a:p>
        </p:txBody>
      </p:sp>
      <p:sp>
        <p:nvSpPr>
          <p:cNvPr id="13" name="choice_3"/>
          <p:cNvSpPr txBox="1"/>
          <p:nvPr/>
        </p:nvSpPr>
        <p:spPr>
          <a:xfrm>
            <a:off x="457200" y="3424682"/>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③</a:t>
            </a:r>
            <a:r>
              <a:rPr lang="ko-KR" altLang="en-US" sz="1800" b="0" dirty="0">
                <a:solidFill>
                  <a:srgbClr val="1F2328"/>
                </a:solidFill>
                <a:latin typeface="맑은 고딕"/>
                <a:ea typeface="맑은 고딕"/>
                <a:cs typeface="맑은 고딕"/>
              </a:rPr>
              <a:t>	Boggis 씨는 매주 토요일에 큰 도시를 방문했다</a:t>
            </a:r>
            <a:endParaRPr lang="ko-KR" altLang="en-US" sz="1800" b="0" dirty="0">
              <a:solidFill>
                <a:srgbClr val="1F2328"/>
              </a:solidFill>
              <a:latin typeface="맑은 고딕"/>
              <a:ea typeface="맑은 고딕"/>
              <a:cs typeface="맑은 고딕"/>
            </a:endParaRPr>
          </a:p>
        </p:txBody>
      </p:sp>
      <p:sp>
        <p:nvSpPr>
          <p:cNvPr id="14" name="rv_pick"/>
          <p:cNvSpPr txBox="1"/>
          <p:nvPr/>
        </p:nvSpPr>
        <p:spPr>
          <a:xfrm>
            <a:off x="457200" y="3424682"/>
            <a:ext cx="11277295" cy="379984"/>
          </a:xfrm>
          <a:prstGeom prst="rect">
            <a:avLst/>
          </a:prstGeom>
          <a:solidFill>
            <a:srgbClr val="FFF3C4"/>
          </a:solid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C00000"/>
                </a:solidFill>
                <a:latin typeface="맑은 고딕"/>
                <a:ea typeface="맑은 고딕"/>
                <a:cs typeface="맑은 고딕"/>
              </a:rPr>
              <a:t>③</a:t>
            </a:r>
            <a:r>
              <a:rPr lang="ko-KR" altLang="en-US" sz="1800" b="0" dirty="0">
                <a:solidFill>
                  <a:srgbClr val="C00000"/>
                </a:solidFill>
                <a:latin typeface="맑은 고딕"/>
                <a:ea typeface="맑은 고딕"/>
                <a:cs typeface="맑은 고딕"/>
              </a:rPr>
              <a:t>	Boggis 씨는 매주 토요일에 큰 도시를 방문했다</a:t>
            </a:r>
            <a:endParaRPr lang="ko-KR" altLang="en-US" sz="1800" b="0" dirty="0">
              <a:solidFill>
                <a:srgbClr val="C00000"/>
              </a:solidFill>
              <a:latin typeface="맑은 고딕"/>
              <a:ea typeface="맑은 고딕"/>
              <a:cs typeface="맑은 고딕"/>
            </a:endParaRPr>
          </a:p>
        </p:txBody>
      </p:sp>
      <p:sp>
        <p:nvSpPr>
          <p:cNvPr id="15" name="choice_4"/>
          <p:cNvSpPr txBox="1"/>
          <p:nvPr/>
        </p:nvSpPr>
        <p:spPr>
          <a:xfrm>
            <a:off x="457200" y="3832098"/>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④</a:t>
            </a:r>
            <a:r>
              <a:rPr lang="ko-KR" altLang="en-US" sz="1800" b="0" dirty="0">
                <a:solidFill>
                  <a:srgbClr val="1F2328"/>
                </a:solidFill>
                <a:latin typeface="맑은 고딕"/>
                <a:ea typeface="맑은 고딕"/>
                <a:cs typeface="맑은 고딕"/>
              </a:rPr>
              <a:t>	Boggis 씨는 가구를 구한 곳을 비밀이라고 했다</a:t>
            </a:r>
            <a:endParaRPr lang="ko-KR" altLang="en-US" sz="1800" b="0" dirty="0">
              <a:solidFill>
                <a:srgbClr val="1F2328"/>
              </a:solidFill>
              <a:latin typeface="맑은 고딕"/>
              <a:ea typeface="맑은 고딕"/>
              <a:cs typeface="맑은 고딕"/>
            </a:endParaRPr>
          </a:p>
        </p:txBody>
      </p:sp>
      <p:sp>
        <p:nvSpPr>
          <p:cNvPr id="16" name="choice_5"/>
          <p:cNvSpPr txBox="1"/>
          <p:nvPr/>
        </p:nvSpPr>
        <p:spPr>
          <a:xfrm>
            <a:off x="457200" y="4239514"/>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⑤</a:t>
            </a:r>
            <a:r>
              <a:rPr lang="ko-KR" altLang="en-US" sz="1800" b="0" dirty="0">
                <a:solidFill>
                  <a:srgbClr val="1F2328"/>
                </a:solidFill>
                <a:latin typeface="맑은 고딕"/>
                <a:ea typeface="맑은 고딕"/>
                <a:cs typeface="맑은 고딕"/>
              </a:rPr>
              <a:t>	사람들은 자기 물건이 얼마나 값진지 몰랐다</a:t>
            </a:r>
            <a:endParaRPr lang="ko-KR" altLang="en-US" sz="1800" b="0" dirty="0">
              <a:solidFill>
                <a:srgbClr val="1F2328"/>
              </a:solidFill>
              <a:latin typeface="맑은 고딕"/>
              <a:ea typeface="맑은 고딕"/>
              <a:cs typeface="맑은 고딕"/>
            </a:endParaRPr>
          </a:p>
        </p:txBody>
      </p:sp>
      <p:sp>
        <p:nvSpPr>
          <p:cNvPr id="17" name="rv_answer"/>
          <p:cNvSpPr/>
          <p:nvPr/>
        </p:nvSpPr>
        <p:spPr>
          <a:xfrm>
            <a:off x="457200" y="472922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③ </a:t>
            </a:r>
            <a:r>
              <a:rPr lang="ko-KR" altLang="en-US" sz="1900" b="1" dirty="0">
                <a:solidFill>
                  <a:srgbClr val="5A4200"/>
                </a:solidFill>
                <a:latin typeface="맑은 고딕"/>
                <a:ea typeface="맑은 고딕"/>
                <a:cs typeface="맑은 고딕"/>
              </a:rPr>
              <a:t>Boggis 씨는 매주 토요일에 큰 도시를 방문했다</a:t>
            </a:r>
            <a:endParaRPr lang="ko-KR" altLang="en-US" sz="1900" b="1" dirty="0">
              <a:solidFill>
                <a:srgbClr val="5A4200"/>
              </a:solidFill>
              <a:latin typeface="맑은 고딕"/>
              <a:ea typeface="맑은 고딕"/>
              <a:cs typeface="맑은 고딕"/>
            </a:endParaRPr>
          </a:p>
        </p:txBody>
      </p:sp>
      <p:sp>
        <p:nvSpPr>
          <p:cNvPr id="18" name="rv_why"/>
          <p:cNvSpPr/>
          <p:nvPr/>
        </p:nvSpPr>
        <p:spPr>
          <a:xfrm>
            <a:off x="457200" y="5328158"/>
            <a:ext cx="11277295" cy="109092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Boggis는 일요일마다 작은 마을에 갔다. 토요일에 큰 도시를 방문했다는 ③은 틀리다.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250"/>
                                        <p:tgtEl>
                                          <p:spTgt spid="1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25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25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7" grpId="0" animBg="1"/>
      <p:bldP spid="9" grpId="0" animBg="1"/>
      <p:bldP spid="10" grpId="0" animBg="1"/>
      <p:bldP spid="18" grpId="0" animBg="1"/>
    </p:bldLst>
  </p:timing>
</p:sld>
</file>

<file path=ppt/slides/slide9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L6-1</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1 · 6</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6. 다음 글의 내용과 일치하는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6</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본문 근거 형광 + 정답 원리</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151257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1512570"/>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1F2328"/>
                </a:solidFill>
                <a:latin typeface="Calibri"/>
                <a:ea typeface="맑은 고딕"/>
                <a:cs typeface="Calibri"/>
              </a:rPr>
              <a:t>Cyril Boggis was an antique furniture dealer in London. He was known for buying good things at a low price and then selling them at a high price. People asked him where he had got the furniture, but he just said, "It’s a secret." Mr. Boggis’ secret was simple. He went to small towns every Sunday and </a:t>
            </a:r>
            <a:r>
              <a:rPr lang="en-US" altLang="ko-KR" sz="1500" b="0" dirty="0">
                <a:solidFill>
                  <a:srgbClr val="1F2328"/>
                </a:solidFill>
                <a:latin typeface="Calibri"/>
                <a:ea typeface="맑은 고딕"/>
                <a:cs typeface="Calibri"/>
              </a:rPr>
              <a:t>knocked on doors</a:t>
            </a:r>
            <a:r>
              <a:rPr lang="en-US" altLang="ko-KR" sz="1500" b="0" dirty="0">
                <a:solidFill>
                  <a:srgbClr val="1F2328"/>
                </a:solidFill>
                <a:latin typeface="Calibri"/>
                <a:ea typeface="맑은 고딕"/>
                <a:cs typeface="Calibri"/>
              </a:rPr>
              <a:t>. He told people that he was a furniture dealer. People didn’t know how valuable their things were, so Mr. Boggis took advantage of them. He was able to buy things very cheaply.</a:t>
            </a:r>
            <a:endParaRPr lang="en-US" altLang="ko-KR" sz="1500" b="0" dirty="0">
              <a:solidFill>
                <a:srgbClr val="1F2328"/>
              </a:solidFill>
              <a:latin typeface="Calibri"/>
              <a:ea typeface="맑은 고딕"/>
              <a:cs typeface="Calibri"/>
            </a:endParaRPr>
          </a:p>
        </p:txBody>
      </p:sp>
      <p:sp>
        <p:nvSpPr>
          <p:cNvPr id="9" name="rv_evidence_card"/>
          <p:cNvSpPr/>
          <p:nvPr/>
        </p:nvSpPr>
        <p:spPr>
          <a:xfrm>
            <a:off x="457200" y="950976"/>
            <a:ext cx="11277295" cy="151257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rv_evidence"/>
          <p:cNvSpPr txBox="1"/>
          <p:nvPr/>
        </p:nvSpPr>
        <p:spPr>
          <a:xfrm>
            <a:off x="457200" y="950976"/>
            <a:ext cx="11277295" cy="1512570"/>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B3BAC6"/>
                </a:solidFill>
                <a:latin typeface="Calibri"/>
                <a:ea typeface="맑은 고딕"/>
                <a:cs typeface="Calibri"/>
              </a:rPr>
              <a:t>Cyril Boggis was an antique furniture dealer in London. He was known for buying good things at a low price and then selling them at a high price. People asked him where he had got the furniture, but he just said, "It’s a secret." Mr. Boggis’ secret was simple. He went to small towns every Sunday and </a:t>
            </a:r>
            <a:r>
              <a:rPr lang="en-US" altLang="ko-KR" sz="1500" b="0" dirty="0">
                <a:solidFill>
                  <a:srgbClr val="111111"/>
                </a:solidFill>
                <a:highlight>
                  <a:srgbClr val="FFE45C"/>
                </a:highlight>
                <a:latin typeface="Calibri"/>
                <a:ea typeface="맑은 고딕"/>
                <a:cs typeface="Calibri"/>
              </a:rPr>
              <a:t>knocked on doors</a:t>
            </a:r>
            <a:r>
              <a:rPr lang="en-US" altLang="ko-KR" sz="1500" b="0" dirty="0">
                <a:solidFill>
                  <a:srgbClr val="B3BAC6"/>
                </a:solidFill>
                <a:latin typeface="Calibri"/>
                <a:ea typeface="맑은 고딕"/>
                <a:cs typeface="Calibri"/>
              </a:rPr>
              <a:t>. He told people that he was a furniture dealer. People didn’t know how valuable their things were, so Mr. Boggis took advantage of them. He was able to buy things very cheaply.</a:t>
            </a:r>
            <a:endParaRPr lang="en-US" altLang="ko-KR" sz="1500" b="0" dirty="0">
              <a:solidFill>
                <a:srgbClr val="B3BAC6"/>
              </a:solidFill>
              <a:latin typeface="Calibri"/>
              <a:ea typeface="맑은 고딕"/>
              <a:cs typeface="Calibri"/>
            </a:endParaRPr>
          </a:p>
        </p:txBody>
      </p:sp>
      <p:sp>
        <p:nvSpPr>
          <p:cNvPr id="11" name="choice_1"/>
          <p:cNvSpPr txBox="1"/>
          <p:nvPr/>
        </p:nvSpPr>
        <p:spPr>
          <a:xfrm>
            <a:off x="457200" y="2609850"/>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①</a:t>
            </a:r>
            <a:r>
              <a:rPr lang="ko-KR" altLang="en-US" sz="1800" b="0" dirty="0">
                <a:solidFill>
                  <a:srgbClr val="1F2328"/>
                </a:solidFill>
                <a:latin typeface="맑은 고딕"/>
                <a:ea typeface="맑은 고딕"/>
                <a:cs typeface="맑은 고딕"/>
              </a:rPr>
              <a:t>	Boggis 씨는 자신이 가구 수리공이라고 말했다</a:t>
            </a:r>
            <a:endParaRPr lang="ko-KR" altLang="en-US" sz="1800" b="0" dirty="0">
              <a:solidFill>
                <a:srgbClr val="1F2328"/>
              </a:solidFill>
              <a:latin typeface="맑은 고딕"/>
              <a:ea typeface="맑은 고딕"/>
              <a:cs typeface="맑은 고딕"/>
            </a:endParaRPr>
          </a:p>
        </p:txBody>
      </p:sp>
      <p:sp>
        <p:nvSpPr>
          <p:cNvPr id="12" name="choice_2"/>
          <p:cNvSpPr txBox="1"/>
          <p:nvPr/>
        </p:nvSpPr>
        <p:spPr>
          <a:xfrm>
            <a:off x="457200" y="3017266"/>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②</a:t>
            </a:r>
            <a:r>
              <a:rPr lang="ko-KR" altLang="en-US" sz="1800" b="0" dirty="0">
                <a:solidFill>
                  <a:srgbClr val="1F2328"/>
                </a:solidFill>
                <a:latin typeface="맑은 고딕"/>
                <a:ea typeface="맑은 고딕"/>
                <a:cs typeface="맑은 고딕"/>
              </a:rPr>
              <a:t>	사람들은 Boggis 씨에게 가구를 비싸게 팔았다</a:t>
            </a:r>
            <a:endParaRPr lang="ko-KR" altLang="en-US" sz="1800" b="0" dirty="0">
              <a:solidFill>
                <a:srgbClr val="1F2328"/>
              </a:solidFill>
              <a:latin typeface="맑은 고딕"/>
              <a:ea typeface="맑은 고딕"/>
              <a:cs typeface="맑은 고딕"/>
            </a:endParaRPr>
          </a:p>
        </p:txBody>
      </p:sp>
      <p:sp>
        <p:nvSpPr>
          <p:cNvPr id="13" name="choice_3"/>
          <p:cNvSpPr txBox="1"/>
          <p:nvPr/>
        </p:nvSpPr>
        <p:spPr>
          <a:xfrm>
            <a:off x="457200" y="3424682"/>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③</a:t>
            </a:r>
            <a:r>
              <a:rPr lang="ko-KR" altLang="en-US" sz="1800" b="0" dirty="0">
                <a:solidFill>
                  <a:srgbClr val="1F2328"/>
                </a:solidFill>
                <a:latin typeface="맑은 고딕"/>
                <a:ea typeface="맑은 고딕"/>
                <a:cs typeface="맑은 고딕"/>
              </a:rPr>
              <a:t>	Boggis 씨는 가구 출처를 신문에 공개했다</a:t>
            </a:r>
            <a:endParaRPr lang="ko-KR" altLang="en-US" sz="1800" b="0" dirty="0">
              <a:solidFill>
                <a:srgbClr val="1F2328"/>
              </a:solidFill>
              <a:latin typeface="맑은 고딕"/>
              <a:ea typeface="맑은 고딕"/>
              <a:cs typeface="맑은 고딕"/>
            </a:endParaRPr>
          </a:p>
        </p:txBody>
      </p:sp>
      <p:sp>
        <p:nvSpPr>
          <p:cNvPr id="14" name="choice_4"/>
          <p:cNvSpPr txBox="1"/>
          <p:nvPr/>
        </p:nvSpPr>
        <p:spPr>
          <a:xfrm>
            <a:off x="457200" y="3832098"/>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④</a:t>
            </a:r>
            <a:r>
              <a:rPr lang="ko-KR" altLang="en-US" sz="1800" b="0" dirty="0">
                <a:solidFill>
                  <a:srgbClr val="1F2328"/>
                </a:solidFill>
                <a:latin typeface="맑은 고딕"/>
                <a:ea typeface="맑은 고딕"/>
                <a:cs typeface="맑은 고딕"/>
              </a:rPr>
              <a:t>	Boggis 씨는 매일 런던의 가게를 돌아다녔다</a:t>
            </a:r>
            <a:endParaRPr lang="ko-KR" altLang="en-US" sz="1800" b="0" dirty="0">
              <a:solidFill>
                <a:srgbClr val="1F2328"/>
              </a:solidFill>
              <a:latin typeface="맑은 고딕"/>
              <a:ea typeface="맑은 고딕"/>
              <a:cs typeface="맑은 고딕"/>
            </a:endParaRPr>
          </a:p>
        </p:txBody>
      </p:sp>
      <p:sp>
        <p:nvSpPr>
          <p:cNvPr id="15" name="choice_5"/>
          <p:cNvSpPr txBox="1"/>
          <p:nvPr/>
        </p:nvSpPr>
        <p:spPr>
          <a:xfrm>
            <a:off x="457200" y="4239514"/>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⑤</a:t>
            </a:r>
            <a:r>
              <a:rPr lang="ko-KR" altLang="en-US" sz="1800" b="0" dirty="0">
                <a:solidFill>
                  <a:srgbClr val="1F2328"/>
                </a:solidFill>
                <a:latin typeface="맑은 고딕"/>
                <a:ea typeface="맑은 고딕"/>
                <a:cs typeface="맑은 고딕"/>
              </a:rPr>
              <a:t>	Boggis 씨는 작은 마을의 집 문을 두드렸다</a:t>
            </a:r>
            <a:endParaRPr lang="ko-KR" altLang="en-US" sz="1800" b="0" dirty="0">
              <a:solidFill>
                <a:srgbClr val="1F2328"/>
              </a:solidFill>
              <a:latin typeface="맑은 고딕"/>
              <a:ea typeface="맑은 고딕"/>
              <a:cs typeface="맑은 고딕"/>
            </a:endParaRPr>
          </a:p>
        </p:txBody>
      </p:sp>
      <p:sp>
        <p:nvSpPr>
          <p:cNvPr id="16" name="rv_pick"/>
          <p:cNvSpPr txBox="1"/>
          <p:nvPr/>
        </p:nvSpPr>
        <p:spPr>
          <a:xfrm>
            <a:off x="457200" y="4239514"/>
            <a:ext cx="11277295" cy="379984"/>
          </a:xfrm>
          <a:prstGeom prst="rect">
            <a:avLst/>
          </a:prstGeom>
          <a:solidFill>
            <a:srgbClr val="FFF3C4"/>
          </a:solid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C00000"/>
                </a:solidFill>
                <a:latin typeface="맑은 고딕"/>
                <a:ea typeface="맑은 고딕"/>
                <a:cs typeface="맑은 고딕"/>
              </a:rPr>
              <a:t>⑤</a:t>
            </a:r>
            <a:r>
              <a:rPr lang="ko-KR" altLang="en-US" sz="1800" b="0" dirty="0">
                <a:solidFill>
                  <a:srgbClr val="C00000"/>
                </a:solidFill>
                <a:latin typeface="맑은 고딕"/>
                <a:ea typeface="맑은 고딕"/>
                <a:cs typeface="맑은 고딕"/>
              </a:rPr>
              <a:t>	Boggis 씨는 작은 마을의 집 문을 두드렸다</a:t>
            </a:r>
            <a:endParaRPr lang="ko-KR" altLang="en-US" sz="1800" b="0" dirty="0">
              <a:solidFill>
                <a:srgbClr val="C00000"/>
              </a:solidFill>
              <a:latin typeface="맑은 고딕"/>
              <a:ea typeface="맑은 고딕"/>
              <a:cs typeface="맑은 고딕"/>
            </a:endParaRPr>
          </a:p>
        </p:txBody>
      </p:sp>
      <p:sp>
        <p:nvSpPr>
          <p:cNvPr id="17" name="rv_answer"/>
          <p:cNvSpPr/>
          <p:nvPr/>
        </p:nvSpPr>
        <p:spPr>
          <a:xfrm>
            <a:off x="457200" y="472922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⑤ </a:t>
            </a:r>
            <a:r>
              <a:rPr lang="ko-KR" altLang="en-US" sz="1900" b="1" dirty="0">
                <a:solidFill>
                  <a:srgbClr val="5A4200"/>
                </a:solidFill>
                <a:latin typeface="맑은 고딕"/>
                <a:ea typeface="맑은 고딕"/>
                <a:cs typeface="맑은 고딕"/>
              </a:rPr>
              <a:t>Boggis 씨는 작은 마을의 집 문을 두드렸다</a:t>
            </a:r>
            <a:endParaRPr lang="ko-KR" altLang="en-US" sz="1900" b="1" dirty="0">
              <a:solidFill>
                <a:srgbClr val="5A4200"/>
              </a:solidFill>
              <a:latin typeface="맑은 고딕"/>
              <a:ea typeface="맑은 고딕"/>
              <a:cs typeface="맑은 고딕"/>
            </a:endParaRPr>
          </a:p>
        </p:txBody>
      </p:sp>
      <p:sp>
        <p:nvSpPr>
          <p:cNvPr id="18" name="rv_why"/>
          <p:cNvSpPr/>
          <p:nvPr/>
        </p:nvSpPr>
        <p:spPr>
          <a:xfrm>
            <a:off x="457200" y="5328158"/>
            <a:ext cx="11277295" cy="109092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작은 마을에 가서 문을 두드렸다('knocked on doors')고 했으므로 ⑤가 일치한다.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250"/>
                                        <p:tgtEl>
                                          <p:spTgt spid="1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25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25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7" grpId="0" animBg="1"/>
      <p:bldP spid="9" grpId="0" animBg="1"/>
      <p:bldP spid="10" grpId="0" animBg="1"/>
      <p:bldP spid="18" grpId="0" animBg="1"/>
    </p:bldLst>
  </p:timing>
</p:sld>
</file>

<file path=ppt/slides/slide9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L6-1</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2 · 1</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1. 주어진 글 다음에 이어질 글의 순서로 가장 적절한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6</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정답 원리</a:t>
            </a:r>
            <a:endParaRPr lang="ko-KR" altLang="en-US" sz="1000" b="0" dirty="0">
              <a:solidFill>
                <a:srgbClr val="7A808C"/>
              </a:solidFill>
              <a:latin typeface="맑은 고딕"/>
              <a:ea typeface="맑은 고딕"/>
              <a:cs typeface="맑은 고딕"/>
            </a:endParaRPr>
          </a:p>
        </p:txBody>
      </p:sp>
      <p:sp>
        <p:nvSpPr>
          <p:cNvPr id="7" name="given_card"/>
          <p:cNvSpPr/>
          <p:nvPr/>
        </p:nvSpPr>
        <p:spPr>
          <a:xfrm>
            <a:off x="457200" y="950976"/>
            <a:ext cx="11277295" cy="481838"/>
          </a:xfrm>
          <a:prstGeom prst="roundRect">
            <a:avLst>
              <a:gd name="adj" fmla="val 6000"/>
            </a:avLst>
          </a:prstGeom>
          <a:solidFill>
            <a:srgbClr val="FFFFFF"/>
          </a:solidFill>
          <a:ln w="15875">
            <a:solidFill>
              <a:srgbClr val="1E2A5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given"/>
          <p:cNvSpPr txBox="1"/>
          <p:nvPr/>
        </p:nvSpPr>
        <p:spPr>
          <a:xfrm>
            <a:off x="457200" y="950976"/>
            <a:ext cx="11277295" cy="481838"/>
          </a:xfrm>
          <a:prstGeom prst="rect">
            <a:avLst/>
          </a:prstGeom>
          <a:noFill/>
        </p:spPr>
        <p:txBody>
          <a:bodyPr wrap="square" lIns="201168" tIns="100584" rIns="201168" bIns="100584" anchor="t" rtlCol="0">
            <a:noAutofit/>
          </a:bodyPr>
          <a:lstStyle/>
          <a:p>
            <a:pPr algn="l">
              <a:lnSpc>
                <a:spcPts val="2210"/>
              </a:lnSpc>
              <a:spcBef>
                <a:spcPts val="0"/>
              </a:spcBef>
              <a:spcAft>
                <a:spcPts val="0"/>
              </a:spcAft>
              <a:buNone/>
            </a:pPr>
            <a:r>
              <a:rPr lang="en-US" altLang="ko-KR" sz="1700" b="0" dirty="0">
                <a:solidFill>
                  <a:srgbClr val="1F2328"/>
                </a:solidFill>
                <a:latin typeface="Calibri"/>
                <a:ea typeface="맑은 고딕"/>
                <a:cs typeface="Calibri"/>
              </a:rPr>
              <a:t>Cyril Boggis was an antique furniture dealer in London.</a:t>
            </a:r>
            <a:endParaRPr lang="en-US" altLang="ko-KR" sz="1700" b="0" dirty="0">
              <a:solidFill>
                <a:srgbClr val="1F2328"/>
              </a:solidFill>
              <a:latin typeface="Calibri"/>
              <a:ea typeface="맑은 고딕"/>
              <a:cs typeface="Calibri"/>
            </a:endParaRPr>
          </a:p>
        </p:txBody>
      </p:sp>
      <p:sp>
        <p:nvSpPr>
          <p:cNvPr id="9" name="parts_card"/>
          <p:cNvSpPr/>
          <p:nvPr/>
        </p:nvSpPr>
        <p:spPr>
          <a:xfrm>
            <a:off x="457200" y="1560830"/>
            <a:ext cx="11277295" cy="2233422"/>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parts"/>
          <p:cNvSpPr txBox="1"/>
          <p:nvPr/>
        </p:nvSpPr>
        <p:spPr>
          <a:xfrm>
            <a:off x="457200" y="1560830"/>
            <a:ext cx="11277295" cy="2233422"/>
          </a:xfrm>
          <a:prstGeom prst="rect">
            <a:avLst/>
          </a:prstGeom>
          <a:noFill/>
        </p:spPr>
        <p:txBody>
          <a:bodyPr wrap="square" lIns="201168" tIns="118872" rIns="201168" bIns="118872" anchor="t" rtlCol="0">
            <a:noAutofit/>
          </a:bodyPr>
          <a:lstStyle/>
          <a:p>
            <a:pPr algn="just" marL="453390" indent="-453390">
              <a:lnSpc>
                <a:spcPts val="2210"/>
              </a:lnSpc>
              <a:spcBef>
                <a:spcPts val="0"/>
              </a:spcBef>
              <a:spcAft>
                <a:spcPts val="770"/>
              </a:spcAft>
              <a:buNone/>
              <a:tabLst>
                <a:tab pos="453390" algn="l"/>
              </a:tabLst>
            </a:pPr>
            <a:r>
              <a:rPr lang="en-US" altLang="ko-KR" sz="1700" b="1" dirty="0">
                <a:solidFill>
                  <a:srgbClr val="1E2A5A"/>
                </a:solidFill>
                <a:latin typeface="Calibri"/>
                <a:ea typeface="맑은 고딕"/>
                <a:cs typeface="Calibri"/>
              </a:rPr>
              <a:t>(A)</a:t>
            </a:r>
            <a:r>
              <a:rPr lang="en-US" altLang="ko-KR" sz="1700" b="0" dirty="0">
                <a:solidFill>
                  <a:srgbClr val="1F2328"/>
                </a:solidFill>
                <a:latin typeface="Calibri"/>
                <a:ea typeface="맑은 고딕"/>
                <a:cs typeface="Calibri"/>
              </a:rPr>
              <a:t>	He was known for buying good things at a low price and then selling them at a high price. People asked him where he had got the furniture, but he just said, "It’s a secret."</a:t>
            </a:r>
            <a:endParaRPr lang="en-US" altLang="ko-KR" sz="1700" b="0" dirty="0">
              <a:solidFill>
                <a:srgbClr val="1F2328"/>
              </a:solidFill>
              <a:latin typeface="Calibri"/>
              <a:ea typeface="맑은 고딕"/>
              <a:cs typeface="Calibri"/>
            </a:endParaRPr>
          </a:p>
          <a:p>
            <a:pPr algn="just" marL="453390" indent="-453390">
              <a:lnSpc>
                <a:spcPts val="2210"/>
              </a:lnSpc>
              <a:spcBef>
                <a:spcPts val="0"/>
              </a:spcBef>
              <a:spcAft>
                <a:spcPts val="770"/>
              </a:spcAft>
              <a:buNone/>
              <a:tabLst>
                <a:tab pos="453390" algn="l"/>
              </a:tabLst>
            </a:pPr>
            <a:r>
              <a:rPr lang="en-US" altLang="ko-KR" sz="1700" b="1" dirty="0">
                <a:solidFill>
                  <a:srgbClr val="1E2A5A"/>
                </a:solidFill>
                <a:latin typeface="Calibri"/>
                <a:ea typeface="맑은 고딕"/>
                <a:cs typeface="Calibri"/>
              </a:rPr>
              <a:t>(B)</a:t>
            </a:r>
            <a:r>
              <a:rPr lang="en-US" altLang="ko-KR" sz="1700" b="0" dirty="0">
                <a:solidFill>
                  <a:srgbClr val="1F2328"/>
                </a:solidFill>
                <a:latin typeface="Calibri"/>
                <a:ea typeface="맑은 고딕"/>
                <a:cs typeface="Calibri"/>
              </a:rPr>
              <a:t>	People didn’t know how valuable their things were, so Mr. Boggis took advantage of them. He was able to buy things very cheaply.</a:t>
            </a:r>
            <a:endParaRPr lang="en-US" altLang="ko-KR" sz="1700" b="0" dirty="0">
              <a:solidFill>
                <a:srgbClr val="1F2328"/>
              </a:solidFill>
              <a:latin typeface="Calibri"/>
              <a:ea typeface="맑은 고딕"/>
              <a:cs typeface="Calibri"/>
            </a:endParaRPr>
          </a:p>
          <a:p>
            <a:pPr algn="just" marL="453390" indent="-453390">
              <a:lnSpc>
                <a:spcPts val="2210"/>
              </a:lnSpc>
              <a:spcBef>
                <a:spcPts val="0"/>
              </a:spcBef>
              <a:spcAft>
                <a:spcPts val="770"/>
              </a:spcAft>
              <a:buNone/>
              <a:tabLst>
                <a:tab pos="453390" algn="l"/>
              </a:tabLst>
            </a:pPr>
            <a:r>
              <a:rPr lang="en-US" altLang="ko-KR" sz="1700" b="1" dirty="0">
                <a:solidFill>
                  <a:srgbClr val="1E2A5A"/>
                </a:solidFill>
                <a:latin typeface="Calibri"/>
                <a:ea typeface="맑은 고딕"/>
                <a:cs typeface="Calibri"/>
              </a:rPr>
              <a:t>(C)</a:t>
            </a:r>
            <a:r>
              <a:rPr lang="en-US" altLang="ko-KR" sz="1700" b="0" dirty="0">
                <a:solidFill>
                  <a:srgbClr val="1F2328"/>
                </a:solidFill>
                <a:latin typeface="Calibri"/>
                <a:ea typeface="맑은 고딕"/>
                <a:cs typeface="Calibri"/>
              </a:rPr>
              <a:t>	Mr. Boggis’ secret was simple. He went to small towns every Sunday and knocked on doors. He told people that he was a furniture dealer.</a:t>
            </a:r>
            <a:endParaRPr lang="en-US" altLang="ko-KR" sz="1700" b="0" dirty="0">
              <a:solidFill>
                <a:srgbClr val="1F2328"/>
              </a:solidFill>
              <a:latin typeface="Calibri"/>
              <a:ea typeface="맑은 고딕"/>
              <a:cs typeface="Calibri"/>
            </a:endParaRPr>
          </a:p>
        </p:txBody>
      </p:sp>
      <p:sp>
        <p:nvSpPr>
          <p:cNvPr id="11" name="options"/>
          <p:cNvSpPr txBox="1"/>
          <p:nvPr/>
        </p:nvSpPr>
        <p:spPr>
          <a:xfrm>
            <a:off x="457200" y="3903980"/>
            <a:ext cx="11277295" cy="420624"/>
          </a:xfrm>
          <a:prstGeom prst="rect">
            <a:avLst/>
          </a:prstGeom>
          <a:noFill/>
        </p:spPr>
        <p:txBody>
          <a:bodyPr wrap="square" lIns="91440" tIns="18288" rIns="91440" bIns="18288" anchor="ctr" rtlCol="0">
            <a:noAutofit/>
          </a:bodyPr>
          <a:lstStyle/>
          <a:p>
            <a:pPr algn="ctr">
              <a:lnSpc>
                <a:spcPts val="2560"/>
              </a:lnSpc>
              <a:spcBef>
                <a:spcPts val="0"/>
              </a:spcBef>
              <a:spcAft>
                <a:spcPts val="0"/>
              </a:spcAft>
              <a:buNone/>
            </a:pPr>
            <a:r>
              <a:rPr lang="ko-KR" altLang="en-US" sz="1800" b="1" dirty="0">
                <a:solidFill>
                  <a:srgbClr val="1E2A5A"/>
                </a:solidFill>
                <a:latin typeface="맑은 고딕"/>
                <a:ea typeface="맑은 고딕"/>
                <a:cs typeface="맑은 고딕"/>
              </a:rPr>
              <a:t>① </a:t>
            </a:r>
            <a:r>
              <a:rPr lang="en-US" altLang="ko-KR" sz="1800" b="0" dirty="0">
                <a:solidFill>
                  <a:srgbClr val="1F2328"/>
                </a:solidFill>
                <a:latin typeface="Calibri"/>
                <a:ea typeface="맑은 고딕"/>
                <a:cs typeface="Calibri"/>
              </a:rPr>
              <a:t>(A) - (C) - (B)</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② </a:t>
            </a:r>
            <a:r>
              <a:rPr lang="en-US" altLang="ko-KR" sz="1800" b="0" dirty="0">
                <a:solidFill>
                  <a:srgbClr val="1F2328"/>
                </a:solidFill>
                <a:latin typeface="Calibri"/>
                <a:ea typeface="맑은 고딕"/>
                <a:cs typeface="Calibri"/>
              </a:rPr>
              <a:t>(B) - (A) - (C)</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③ </a:t>
            </a:r>
            <a:r>
              <a:rPr lang="en-US" altLang="ko-KR" sz="1800" b="0" dirty="0">
                <a:solidFill>
                  <a:srgbClr val="1F2328"/>
                </a:solidFill>
                <a:latin typeface="Calibri"/>
                <a:ea typeface="맑은 고딕"/>
                <a:cs typeface="Calibri"/>
              </a:rPr>
              <a:t>(B) - (C) - (A)</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④ </a:t>
            </a:r>
            <a:r>
              <a:rPr lang="en-US" altLang="ko-KR" sz="1800" b="0" dirty="0">
                <a:solidFill>
                  <a:srgbClr val="1F2328"/>
                </a:solidFill>
                <a:latin typeface="Calibri"/>
                <a:ea typeface="맑은 고딕"/>
                <a:cs typeface="Calibri"/>
              </a:rPr>
              <a:t>(C) - (A) - (B)</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⑤ </a:t>
            </a:r>
            <a:r>
              <a:rPr lang="en-US" altLang="ko-KR" sz="1800" b="0" dirty="0">
                <a:solidFill>
                  <a:srgbClr val="1F2328"/>
                </a:solidFill>
                <a:latin typeface="Calibri"/>
                <a:ea typeface="맑은 고딕"/>
                <a:cs typeface="Calibri"/>
              </a:rPr>
              <a:t>(C) - (B) - (A)</a:t>
            </a:r>
            <a:endParaRPr lang="en-US" altLang="ko-KR" sz="1800" b="0" dirty="0">
              <a:solidFill>
                <a:srgbClr val="1F2328"/>
              </a:solidFill>
              <a:latin typeface="Calibri"/>
              <a:ea typeface="맑은 고딕"/>
              <a:cs typeface="Calibri"/>
            </a:endParaRPr>
          </a:p>
        </p:txBody>
      </p:sp>
      <p:sp>
        <p:nvSpPr>
          <p:cNvPr id="12" name="rv_pick"/>
          <p:cNvSpPr txBox="1"/>
          <p:nvPr/>
        </p:nvSpPr>
        <p:spPr>
          <a:xfrm>
            <a:off x="457200" y="3903980"/>
            <a:ext cx="11277295" cy="420624"/>
          </a:xfrm>
          <a:prstGeom prst="rect">
            <a:avLst/>
          </a:prstGeom>
          <a:noFill/>
        </p:spPr>
        <p:txBody>
          <a:bodyPr wrap="square" lIns="91440" tIns="18288" rIns="91440" bIns="18288" anchor="ctr" rtlCol="0">
            <a:noAutofit/>
          </a:bodyPr>
          <a:lstStyle/>
          <a:p>
            <a:pPr algn="ctr">
              <a:lnSpc>
                <a:spcPts val="2560"/>
              </a:lnSpc>
              <a:spcBef>
                <a:spcPts val="0"/>
              </a:spcBef>
              <a:spcAft>
                <a:spcPts val="0"/>
              </a:spcAft>
              <a:buNone/>
            </a:pPr>
            <a:r>
              <a:rPr lang="ko-KR" altLang="en-US" sz="1800" b="1" dirty="0">
                <a:solidFill>
                  <a:srgbClr val="C00000"/>
                </a:solidFill>
                <a:highlight>
                  <a:srgbClr val="FFFFFF"/>
                </a:highlight>
                <a:latin typeface="맑은 고딕"/>
                <a:ea typeface="맑은 고딕"/>
                <a:cs typeface="맑은 고딕"/>
              </a:rPr>
              <a:t>① </a:t>
            </a:r>
            <a:r>
              <a:rPr lang="en-US" altLang="ko-KR" sz="1800" b="0" dirty="0">
                <a:solidFill>
                  <a:srgbClr val="C00000"/>
                </a:solidFill>
                <a:highlight>
                  <a:srgbClr val="FFFFFF"/>
                </a:highlight>
                <a:latin typeface="Calibri"/>
                <a:ea typeface="맑은 고딕"/>
                <a:cs typeface="Calibri"/>
              </a:rPr>
              <a:t>(A) - (C) - (B)</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② </a:t>
            </a:r>
            <a:r>
              <a:rPr lang="en-US" altLang="ko-KR" sz="1800" b="0" dirty="0">
                <a:solidFill>
                  <a:srgbClr val="1F2328">
                    <a:alpha val="0"/>
                  </a:srgbClr>
                </a:solidFill>
                <a:latin typeface="Calibri"/>
                <a:ea typeface="맑은 고딕"/>
                <a:cs typeface="Calibri"/>
              </a:rPr>
              <a:t>(B) - (A) - (C)</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③ </a:t>
            </a:r>
            <a:r>
              <a:rPr lang="en-US" altLang="ko-KR" sz="1800" b="0" dirty="0">
                <a:solidFill>
                  <a:srgbClr val="1F2328">
                    <a:alpha val="0"/>
                  </a:srgbClr>
                </a:solidFill>
                <a:latin typeface="Calibri"/>
                <a:ea typeface="맑은 고딕"/>
                <a:cs typeface="Calibri"/>
              </a:rPr>
              <a:t>(B) - (C) - (A)</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④ </a:t>
            </a:r>
            <a:r>
              <a:rPr lang="en-US" altLang="ko-KR" sz="1800" b="0" dirty="0">
                <a:solidFill>
                  <a:srgbClr val="1F2328">
                    <a:alpha val="0"/>
                  </a:srgbClr>
                </a:solidFill>
                <a:latin typeface="Calibri"/>
                <a:ea typeface="맑은 고딕"/>
                <a:cs typeface="Calibri"/>
              </a:rPr>
              <a:t>(C) - (A) - (B)</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⑤ </a:t>
            </a:r>
            <a:r>
              <a:rPr lang="en-US" altLang="ko-KR" sz="1800" b="0" dirty="0">
                <a:solidFill>
                  <a:srgbClr val="1F2328">
                    <a:alpha val="0"/>
                  </a:srgbClr>
                </a:solidFill>
                <a:latin typeface="Calibri"/>
                <a:ea typeface="맑은 고딕"/>
                <a:cs typeface="Calibri"/>
              </a:rPr>
              <a:t>(C) - (B) - (A)</a:t>
            </a:r>
            <a:endParaRPr lang="en-US" altLang="ko-KR" sz="1800" b="0" dirty="0">
              <a:solidFill>
                <a:srgbClr val="1F2328"/>
              </a:solidFill>
              <a:latin typeface="Calibri"/>
              <a:ea typeface="맑은 고딕"/>
              <a:cs typeface="Calibri"/>
            </a:endParaRPr>
          </a:p>
        </p:txBody>
      </p:sp>
      <p:sp>
        <p:nvSpPr>
          <p:cNvPr id="13" name="rv_answer"/>
          <p:cNvSpPr/>
          <p:nvPr/>
        </p:nvSpPr>
        <p:spPr>
          <a:xfrm>
            <a:off x="457200" y="4416044"/>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① </a:t>
            </a:r>
            <a:r>
              <a:rPr lang="en-US" altLang="ko-KR" sz="1900" b="1" dirty="0">
                <a:solidFill>
                  <a:srgbClr val="5A4200"/>
                </a:solidFill>
                <a:latin typeface="Calibri"/>
                <a:ea typeface="맑은 고딕"/>
                <a:cs typeface="Calibri"/>
              </a:rPr>
              <a:t>(A) - (C) - (B)</a:t>
            </a:r>
            <a:endParaRPr lang="en-US" altLang="ko-KR" sz="1900" b="1" dirty="0">
              <a:solidFill>
                <a:srgbClr val="5A4200"/>
              </a:solidFill>
              <a:latin typeface="Calibri"/>
              <a:ea typeface="맑은 고딕"/>
              <a:cs typeface="Calibri"/>
            </a:endParaRPr>
          </a:p>
        </p:txBody>
      </p:sp>
      <p:sp>
        <p:nvSpPr>
          <p:cNvPr id="14" name="rv_why"/>
          <p:cNvSpPr/>
          <p:nvPr/>
        </p:nvSpPr>
        <p:spPr>
          <a:xfrm>
            <a:off x="457200" y="5014976"/>
            <a:ext cx="11277295" cy="1404111"/>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판매상 소개 → (A) 싸게 사서 비싸게 팔고 출처는 비밀이라 한다 → (C) 그 비밀(secret)이 단순했다며 방법을 밝힌다 → (B) 사람들이 가치를 몰라 싸게 샀다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25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250"/>
                                        <p:tgtEl>
                                          <p:spTgt spid="1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2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animBg="1"/>
    </p:bldLst>
  </p:timing>
</p:sld>
</file>

<file path=ppt/slides/slide9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L6-1</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2 · 2</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2. 주어진 글 다음에 이어질 글의 순서로 가장 적절한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6</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정답 원리</a:t>
            </a:r>
            <a:endParaRPr lang="ko-KR" altLang="en-US" sz="1000" b="0" dirty="0">
              <a:solidFill>
                <a:srgbClr val="7A808C"/>
              </a:solidFill>
              <a:latin typeface="맑은 고딕"/>
              <a:ea typeface="맑은 고딕"/>
              <a:cs typeface="맑은 고딕"/>
            </a:endParaRPr>
          </a:p>
        </p:txBody>
      </p:sp>
      <p:sp>
        <p:nvSpPr>
          <p:cNvPr id="7" name="given_card"/>
          <p:cNvSpPr/>
          <p:nvPr/>
        </p:nvSpPr>
        <p:spPr>
          <a:xfrm>
            <a:off x="457200" y="950976"/>
            <a:ext cx="11277295" cy="481838"/>
          </a:xfrm>
          <a:prstGeom prst="roundRect">
            <a:avLst>
              <a:gd name="adj" fmla="val 6000"/>
            </a:avLst>
          </a:prstGeom>
          <a:solidFill>
            <a:srgbClr val="FFFFFF"/>
          </a:solidFill>
          <a:ln w="15875">
            <a:solidFill>
              <a:srgbClr val="1E2A5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given"/>
          <p:cNvSpPr txBox="1"/>
          <p:nvPr/>
        </p:nvSpPr>
        <p:spPr>
          <a:xfrm>
            <a:off x="457200" y="950976"/>
            <a:ext cx="11277295" cy="481838"/>
          </a:xfrm>
          <a:prstGeom prst="rect">
            <a:avLst/>
          </a:prstGeom>
          <a:noFill/>
        </p:spPr>
        <p:txBody>
          <a:bodyPr wrap="square" lIns="201168" tIns="100584" rIns="201168" bIns="100584" anchor="t" rtlCol="0">
            <a:noAutofit/>
          </a:bodyPr>
          <a:lstStyle/>
          <a:p>
            <a:pPr algn="l">
              <a:lnSpc>
                <a:spcPts val="2210"/>
              </a:lnSpc>
              <a:spcBef>
                <a:spcPts val="0"/>
              </a:spcBef>
              <a:spcAft>
                <a:spcPts val="0"/>
              </a:spcAft>
              <a:buNone/>
            </a:pPr>
            <a:r>
              <a:rPr lang="en-US" altLang="ko-KR" sz="1700" b="0" dirty="0">
                <a:solidFill>
                  <a:srgbClr val="1F2328"/>
                </a:solidFill>
                <a:latin typeface="Calibri"/>
                <a:ea typeface="맑은 고딕"/>
                <a:cs typeface="Calibri"/>
              </a:rPr>
              <a:t>Cyril Boggis was an antique furniture dealer in London.</a:t>
            </a:r>
            <a:endParaRPr lang="en-US" altLang="ko-KR" sz="1700" b="0" dirty="0">
              <a:solidFill>
                <a:srgbClr val="1F2328"/>
              </a:solidFill>
              <a:latin typeface="Calibri"/>
              <a:ea typeface="맑은 고딕"/>
              <a:cs typeface="Calibri"/>
            </a:endParaRPr>
          </a:p>
        </p:txBody>
      </p:sp>
      <p:sp>
        <p:nvSpPr>
          <p:cNvPr id="9" name="parts_card"/>
          <p:cNvSpPr/>
          <p:nvPr/>
        </p:nvSpPr>
        <p:spPr>
          <a:xfrm>
            <a:off x="457200" y="1560830"/>
            <a:ext cx="11277295" cy="2233422"/>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parts"/>
          <p:cNvSpPr txBox="1"/>
          <p:nvPr/>
        </p:nvSpPr>
        <p:spPr>
          <a:xfrm>
            <a:off x="457200" y="1560830"/>
            <a:ext cx="11277295" cy="2233422"/>
          </a:xfrm>
          <a:prstGeom prst="rect">
            <a:avLst/>
          </a:prstGeom>
          <a:noFill/>
        </p:spPr>
        <p:txBody>
          <a:bodyPr wrap="square" lIns="201168" tIns="118872" rIns="201168" bIns="118872" anchor="t" rtlCol="0">
            <a:noAutofit/>
          </a:bodyPr>
          <a:lstStyle/>
          <a:p>
            <a:pPr algn="just" marL="453390" indent="-453390">
              <a:lnSpc>
                <a:spcPts val="2210"/>
              </a:lnSpc>
              <a:spcBef>
                <a:spcPts val="0"/>
              </a:spcBef>
              <a:spcAft>
                <a:spcPts val="770"/>
              </a:spcAft>
              <a:buNone/>
              <a:tabLst>
                <a:tab pos="453390" algn="l"/>
              </a:tabLst>
            </a:pPr>
            <a:r>
              <a:rPr lang="en-US" altLang="ko-KR" sz="1700" b="1" dirty="0">
                <a:solidFill>
                  <a:srgbClr val="1E2A5A"/>
                </a:solidFill>
                <a:latin typeface="Calibri"/>
                <a:ea typeface="맑은 고딕"/>
                <a:cs typeface="Calibri"/>
              </a:rPr>
              <a:t>(A)</a:t>
            </a:r>
            <a:r>
              <a:rPr lang="en-US" altLang="ko-KR" sz="1700" b="0" dirty="0">
                <a:solidFill>
                  <a:srgbClr val="1F2328"/>
                </a:solidFill>
                <a:latin typeface="Calibri"/>
                <a:ea typeface="맑은 고딕"/>
                <a:cs typeface="Calibri"/>
              </a:rPr>
              <a:t>	People didn’t know how valuable their things were, so Mr. Boggis took advantage of them. He was able to buy things very cheaply.</a:t>
            </a:r>
            <a:endParaRPr lang="en-US" altLang="ko-KR" sz="1700" b="0" dirty="0">
              <a:solidFill>
                <a:srgbClr val="1F2328"/>
              </a:solidFill>
              <a:latin typeface="Calibri"/>
              <a:ea typeface="맑은 고딕"/>
              <a:cs typeface="Calibri"/>
            </a:endParaRPr>
          </a:p>
          <a:p>
            <a:pPr algn="just" marL="453390" indent="-453390">
              <a:lnSpc>
                <a:spcPts val="2210"/>
              </a:lnSpc>
              <a:spcBef>
                <a:spcPts val="0"/>
              </a:spcBef>
              <a:spcAft>
                <a:spcPts val="770"/>
              </a:spcAft>
              <a:buNone/>
              <a:tabLst>
                <a:tab pos="453390" algn="l"/>
              </a:tabLst>
            </a:pPr>
            <a:r>
              <a:rPr lang="en-US" altLang="ko-KR" sz="1700" b="1" dirty="0">
                <a:solidFill>
                  <a:srgbClr val="1E2A5A"/>
                </a:solidFill>
                <a:latin typeface="Calibri"/>
                <a:ea typeface="맑은 고딕"/>
                <a:cs typeface="Calibri"/>
              </a:rPr>
              <a:t>(B)</a:t>
            </a:r>
            <a:r>
              <a:rPr lang="en-US" altLang="ko-KR" sz="1700" b="0" dirty="0">
                <a:solidFill>
                  <a:srgbClr val="1F2328"/>
                </a:solidFill>
                <a:latin typeface="Calibri"/>
                <a:ea typeface="맑은 고딕"/>
                <a:cs typeface="Calibri"/>
              </a:rPr>
              <a:t>	He was known for buying good things at a low price and then selling them at a high price. People asked him where he had got the furniture, but he just said, "It’s a secret."</a:t>
            </a:r>
            <a:endParaRPr lang="en-US" altLang="ko-KR" sz="1700" b="0" dirty="0">
              <a:solidFill>
                <a:srgbClr val="1F2328"/>
              </a:solidFill>
              <a:latin typeface="Calibri"/>
              <a:ea typeface="맑은 고딕"/>
              <a:cs typeface="Calibri"/>
            </a:endParaRPr>
          </a:p>
          <a:p>
            <a:pPr algn="just" marL="453390" indent="-453390">
              <a:lnSpc>
                <a:spcPts val="2210"/>
              </a:lnSpc>
              <a:spcBef>
                <a:spcPts val="0"/>
              </a:spcBef>
              <a:spcAft>
                <a:spcPts val="770"/>
              </a:spcAft>
              <a:buNone/>
              <a:tabLst>
                <a:tab pos="453390" algn="l"/>
              </a:tabLst>
            </a:pPr>
            <a:r>
              <a:rPr lang="en-US" altLang="ko-KR" sz="1700" b="1" dirty="0">
                <a:solidFill>
                  <a:srgbClr val="1E2A5A"/>
                </a:solidFill>
                <a:latin typeface="Calibri"/>
                <a:ea typeface="맑은 고딕"/>
                <a:cs typeface="Calibri"/>
              </a:rPr>
              <a:t>(C)</a:t>
            </a:r>
            <a:r>
              <a:rPr lang="en-US" altLang="ko-KR" sz="1700" b="0" dirty="0">
                <a:solidFill>
                  <a:srgbClr val="1F2328"/>
                </a:solidFill>
                <a:latin typeface="Calibri"/>
                <a:ea typeface="맑은 고딕"/>
                <a:cs typeface="Calibri"/>
              </a:rPr>
              <a:t>	Mr. Boggis’ secret was simple. He went to small towns every Sunday and knocked on doors. He told people that he was a furniture dealer.</a:t>
            </a:r>
            <a:endParaRPr lang="en-US" altLang="ko-KR" sz="1700" b="0" dirty="0">
              <a:solidFill>
                <a:srgbClr val="1F2328"/>
              </a:solidFill>
              <a:latin typeface="Calibri"/>
              <a:ea typeface="맑은 고딕"/>
              <a:cs typeface="Calibri"/>
            </a:endParaRPr>
          </a:p>
        </p:txBody>
      </p:sp>
      <p:sp>
        <p:nvSpPr>
          <p:cNvPr id="11" name="options"/>
          <p:cNvSpPr txBox="1"/>
          <p:nvPr/>
        </p:nvSpPr>
        <p:spPr>
          <a:xfrm>
            <a:off x="457200" y="3903980"/>
            <a:ext cx="11277295" cy="420624"/>
          </a:xfrm>
          <a:prstGeom prst="rect">
            <a:avLst/>
          </a:prstGeom>
          <a:noFill/>
        </p:spPr>
        <p:txBody>
          <a:bodyPr wrap="square" lIns="91440" tIns="18288" rIns="91440" bIns="18288" anchor="ctr" rtlCol="0">
            <a:noAutofit/>
          </a:bodyPr>
          <a:lstStyle/>
          <a:p>
            <a:pPr algn="ctr">
              <a:lnSpc>
                <a:spcPts val="2560"/>
              </a:lnSpc>
              <a:spcBef>
                <a:spcPts val="0"/>
              </a:spcBef>
              <a:spcAft>
                <a:spcPts val="0"/>
              </a:spcAft>
              <a:buNone/>
            </a:pPr>
            <a:r>
              <a:rPr lang="ko-KR" altLang="en-US" sz="1800" b="1" dirty="0">
                <a:solidFill>
                  <a:srgbClr val="1E2A5A"/>
                </a:solidFill>
                <a:latin typeface="맑은 고딕"/>
                <a:ea typeface="맑은 고딕"/>
                <a:cs typeface="맑은 고딕"/>
              </a:rPr>
              <a:t>① </a:t>
            </a:r>
            <a:r>
              <a:rPr lang="en-US" altLang="ko-KR" sz="1800" b="0" dirty="0">
                <a:solidFill>
                  <a:srgbClr val="1F2328"/>
                </a:solidFill>
                <a:latin typeface="Calibri"/>
                <a:ea typeface="맑은 고딕"/>
                <a:cs typeface="Calibri"/>
              </a:rPr>
              <a:t>(A) - (C) - (B)</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② </a:t>
            </a:r>
            <a:r>
              <a:rPr lang="en-US" altLang="ko-KR" sz="1800" b="0" dirty="0">
                <a:solidFill>
                  <a:srgbClr val="1F2328"/>
                </a:solidFill>
                <a:latin typeface="Calibri"/>
                <a:ea typeface="맑은 고딕"/>
                <a:cs typeface="Calibri"/>
              </a:rPr>
              <a:t>(B) - (A) - (C)</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③ </a:t>
            </a:r>
            <a:r>
              <a:rPr lang="en-US" altLang="ko-KR" sz="1800" b="0" dirty="0">
                <a:solidFill>
                  <a:srgbClr val="1F2328"/>
                </a:solidFill>
                <a:latin typeface="Calibri"/>
                <a:ea typeface="맑은 고딕"/>
                <a:cs typeface="Calibri"/>
              </a:rPr>
              <a:t>(B) - (C) - (A)</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④ </a:t>
            </a:r>
            <a:r>
              <a:rPr lang="en-US" altLang="ko-KR" sz="1800" b="0" dirty="0">
                <a:solidFill>
                  <a:srgbClr val="1F2328"/>
                </a:solidFill>
                <a:latin typeface="Calibri"/>
                <a:ea typeface="맑은 고딕"/>
                <a:cs typeface="Calibri"/>
              </a:rPr>
              <a:t>(C) - (A) - (B)</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⑤ </a:t>
            </a:r>
            <a:r>
              <a:rPr lang="en-US" altLang="ko-KR" sz="1800" b="0" dirty="0">
                <a:solidFill>
                  <a:srgbClr val="1F2328"/>
                </a:solidFill>
                <a:latin typeface="Calibri"/>
                <a:ea typeface="맑은 고딕"/>
                <a:cs typeface="Calibri"/>
              </a:rPr>
              <a:t>(C) - (B) - (A)</a:t>
            </a:r>
            <a:endParaRPr lang="en-US" altLang="ko-KR" sz="1800" b="0" dirty="0">
              <a:solidFill>
                <a:srgbClr val="1F2328"/>
              </a:solidFill>
              <a:latin typeface="Calibri"/>
              <a:ea typeface="맑은 고딕"/>
              <a:cs typeface="Calibri"/>
            </a:endParaRPr>
          </a:p>
        </p:txBody>
      </p:sp>
      <p:sp>
        <p:nvSpPr>
          <p:cNvPr id="12" name="rv_pick"/>
          <p:cNvSpPr txBox="1"/>
          <p:nvPr/>
        </p:nvSpPr>
        <p:spPr>
          <a:xfrm>
            <a:off x="457200" y="3903980"/>
            <a:ext cx="11277295" cy="420624"/>
          </a:xfrm>
          <a:prstGeom prst="rect">
            <a:avLst/>
          </a:prstGeom>
          <a:noFill/>
        </p:spPr>
        <p:txBody>
          <a:bodyPr wrap="square" lIns="91440" tIns="18288" rIns="91440" bIns="18288" anchor="ctr" rtlCol="0">
            <a:noAutofit/>
          </a:bodyPr>
          <a:lstStyle/>
          <a:p>
            <a:pPr algn="ctr">
              <a:lnSpc>
                <a:spcPts val="2560"/>
              </a:lnSpc>
              <a:spcBef>
                <a:spcPts val="0"/>
              </a:spcBef>
              <a:spcAft>
                <a:spcPts val="0"/>
              </a:spcAft>
              <a:buNone/>
            </a:pPr>
            <a:r>
              <a:rPr lang="ko-KR" altLang="en-US" sz="1800" b="1" dirty="0">
                <a:solidFill>
                  <a:srgbClr val="1E2A5A">
                    <a:alpha val="0"/>
                  </a:srgbClr>
                </a:solidFill>
                <a:latin typeface="맑은 고딕"/>
                <a:ea typeface="맑은 고딕"/>
                <a:cs typeface="맑은 고딕"/>
              </a:rPr>
              <a:t>① </a:t>
            </a:r>
            <a:r>
              <a:rPr lang="en-US" altLang="ko-KR" sz="1800" b="0" dirty="0">
                <a:solidFill>
                  <a:srgbClr val="1F2328">
                    <a:alpha val="0"/>
                  </a:srgbClr>
                </a:solidFill>
                <a:latin typeface="Calibri"/>
                <a:ea typeface="맑은 고딕"/>
                <a:cs typeface="Calibri"/>
              </a:rPr>
              <a:t>(A) - (C) - (B)</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② </a:t>
            </a:r>
            <a:r>
              <a:rPr lang="en-US" altLang="ko-KR" sz="1800" b="0" dirty="0">
                <a:solidFill>
                  <a:srgbClr val="1F2328">
                    <a:alpha val="0"/>
                  </a:srgbClr>
                </a:solidFill>
                <a:latin typeface="Calibri"/>
                <a:ea typeface="맑은 고딕"/>
                <a:cs typeface="Calibri"/>
              </a:rPr>
              <a:t>(B) - (A) - (C)</a:t>
            </a:r>
            <a:r>
              <a:rPr lang="en-US" altLang="ko-KR" sz="1800" b="0" dirty="0">
                <a:solidFill>
                  <a:srgbClr val="1F2328">
                    <a:alpha val="0"/>
                  </a:srgbClr>
                </a:solidFill>
                <a:latin typeface="Calibri"/>
                <a:ea typeface="맑은 고딕"/>
                <a:cs typeface="Calibri"/>
              </a:rPr>
              <a:t>       </a:t>
            </a:r>
            <a:r>
              <a:rPr lang="ko-KR" altLang="en-US" sz="1800" b="1" dirty="0">
                <a:solidFill>
                  <a:srgbClr val="C00000"/>
                </a:solidFill>
                <a:highlight>
                  <a:srgbClr val="FFFFFF"/>
                </a:highlight>
                <a:latin typeface="맑은 고딕"/>
                <a:ea typeface="맑은 고딕"/>
                <a:cs typeface="맑은 고딕"/>
              </a:rPr>
              <a:t>③ </a:t>
            </a:r>
            <a:r>
              <a:rPr lang="en-US" altLang="ko-KR" sz="1800" b="0" dirty="0">
                <a:solidFill>
                  <a:srgbClr val="C00000"/>
                </a:solidFill>
                <a:highlight>
                  <a:srgbClr val="FFFFFF"/>
                </a:highlight>
                <a:latin typeface="Calibri"/>
                <a:ea typeface="맑은 고딕"/>
                <a:cs typeface="Calibri"/>
              </a:rPr>
              <a:t>(B) - (C) - (A)</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④ </a:t>
            </a:r>
            <a:r>
              <a:rPr lang="en-US" altLang="ko-KR" sz="1800" b="0" dirty="0">
                <a:solidFill>
                  <a:srgbClr val="1F2328">
                    <a:alpha val="0"/>
                  </a:srgbClr>
                </a:solidFill>
                <a:latin typeface="Calibri"/>
                <a:ea typeface="맑은 고딕"/>
                <a:cs typeface="Calibri"/>
              </a:rPr>
              <a:t>(C) - (A) - (B)</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⑤ </a:t>
            </a:r>
            <a:r>
              <a:rPr lang="en-US" altLang="ko-KR" sz="1800" b="0" dirty="0">
                <a:solidFill>
                  <a:srgbClr val="1F2328">
                    <a:alpha val="0"/>
                  </a:srgbClr>
                </a:solidFill>
                <a:latin typeface="Calibri"/>
                <a:ea typeface="맑은 고딕"/>
                <a:cs typeface="Calibri"/>
              </a:rPr>
              <a:t>(C) - (B) - (A)</a:t>
            </a:r>
            <a:endParaRPr lang="en-US" altLang="ko-KR" sz="1800" b="0" dirty="0">
              <a:solidFill>
                <a:srgbClr val="1F2328"/>
              </a:solidFill>
              <a:latin typeface="Calibri"/>
              <a:ea typeface="맑은 고딕"/>
              <a:cs typeface="Calibri"/>
            </a:endParaRPr>
          </a:p>
        </p:txBody>
      </p:sp>
      <p:sp>
        <p:nvSpPr>
          <p:cNvPr id="13" name="rv_answer"/>
          <p:cNvSpPr/>
          <p:nvPr/>
        </p:nvSpPr>
        <p:spPr>
          <a:xfrm>
            <a:off x="457200" y="4416044"/>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③ </a:t>
            </a:r>
            <a:r>
              <a:rPr lang="en-US" altLang="ko-KR" sz="1900" b="1" dirty="0">
                <a:solidFill>
                  <a:srgbClr val="5A4200"/>
                </a:solidFill>
                <a:latin typeface="Calibri"/>
                <a:ea typeface="맑은 고딕"/>
                <a:cs typeface="Calibri"/>
              </a:rPr>
              <a:t>(B) - (C) - (A)</a:t>
            </a:r>
            <a:endParaRPr lang="en-US" altLang="ko-KR" sz="1900" b="1" dirty="0">
              <a:solidFill>
                <a:srgbClr val="5A4200"/>
              </a:solidFill>
              <a:latin typeface="Calibri"/>
              <a:ea typeface="맑은 고딕"/>
              <a:cs typeface="Calibri"/>
            </a:endParaRPr>
          </a:p>
        </p:txBody>
      </p:sp>
      <p:sp>
        <p:nvSpPr>
          <p:cNvPr id="14" name="rv_why"/>
          <p:cNvSpPr/>
          <p:nvPr/>
        </p:nvSpPr>
        <p:spPr>
          <a:xfrm>
            <a:off x="457200" y="5014976"/>
            <a:ext cx="11277295" cy="1404111"/>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판매상 소개 → (B) 싸게 사서 비싸게 팔고 출처는 'a secret'이라 한다 → (C) 그 비밀이 단순했다며 마을을 돈 방법을 밝힌다 → (A) 가치를 모르는 사람들을 이용했다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25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250"/>
                                        <p:tgtEl>
                                          <p:spTgt spid="1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2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animBg="1"/>
    </p:bldLst>
  </p:timing>
</p:sld>
</file>

<file path=ppt/slides/slide9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L6-1</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2 · 3</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3. 글의 흐름으로 보아, 주어진 문장이 들어가기에 가장 적절한 곳은?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6</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정답 원리</a:t>
            </a:r>
            <a:endParaRPr lang="ko-KR" altLang="en-US" sz="1000" b="0" dirty="0">
              <a:solidFill>
                <a:srgbClr val="7A808C"/>
              </a:solidFill>
              <a:latin typeface="맑은 고딕"/>
              <a:ea typeface="맑은 고딕"/>
              <a:cs typeface="맑은 고딕"/>
            </a:endParaRPr>
          </a:p>
        </p:txBody>
      </p:sp>
      <p:sp>
        <p:nvSpPr>
          <p:cNvPr id="7" name="given_card"/>
          <p:cNvSpPr/>
          <p:nvPr/>
        </p:nvSpPr>
        <p:spPr>
          <a:xfrm>
            <a:off x="457200" y="950976"/>
            <a:ext cx="11277295" cy="813308"/>
          </a:xfrm>
          <a:prstGeom prst="roundRect">
            <a:avLst>
              <a:gd name="adj" fmla="val 6000"/>
            </a:avLst>
          </a:prstGeom>
          <a:solidFill>
            <a:srgbClr val="FFFFFF"/>
          </a:solidFill>
          <a:ln w="15875">
            <a:solidFill>
              <a:srgbClr val="1E2A5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given"/>
          <p:cNvSpPr txBox="1"/>
          <p:nvPr/>
        </p:nvSpPr>
        <p:spPr>
          <a:xfrm>
            <a:off x="457200" y="950976"/>
            <a:ext cx="11277295" cy="813308"/>
          </a:xfrm>
          <a:prstGeom prst="rect">
            <a:avLst/>
          </a:prstGeom>
          <a:noFill/>
        </p:spPr>
        <p:txBody>
          <a:bodyPr wrap="square" lIns="201168" tIns="100584" rIns="201168" bIns="100584"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주어진 문장</a:t>
            </a:r>
            <a:r>
              <a:rPr lang="en-US" altLang="ko-KR" sz="1700" b="0" dirty="0">
                <a:solidFill>
                  <a:srgbClr val="1F2328"/>
                </a:solidFill>
                <a:latin typeface="Calibri"/>
                <a:ea typeface="맑은 고딕"/>
                <a:cs typeface="Calibri"/>
              </a:rPr>
              <a:t>   He was known for buying good things at a low price and then selling them at a high price.</a:t>
            </a:r>
            <a:endParaRPr lang="en-US" altLang="ko-KR" sz="1700" b="0" dirty="0">
              <a:solidFill>
                <a:srgbClr val="1F2328"/>
              </a:solidFill>
              <a:latin typeface="Calibri"/>
              <a:ea typeface="맑은 고딕"/>
              <a:cs typeface="Calibri"/>
            </a:endParaRPr>
          </a:p>
        </p:txBody>
      </p:sp>
      <p:sp>
        <p:nvSpPr>
          <p:cNvPr id="9" name="passage_card"/>
          <p:cNvSpPr/>
          <p:nvPr/>
        </p:nvSpPr>
        <p:spPr>
          <a:xfrm>
            <a:off x="457200" y="1910587"/>
            <a:ext cx="11277295" cy="189991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passage"/>
          <p:cNvSpPr txBox="1"/>
          <p:nvPr/>
        </p:nvSpPr>
        <p:spPr>
          <a:xfrm>
            <a:off x="457200" y="1910587"/>
            <a:ext cx="11277295" cy="1899919"/>
          </a:xfrm>
          <a:prstGeom prst="rect">
            <a:avLst/>
          </a:prstGeom>
          <a:noFill/>
        </p:spPr>
        <p:txBody>
          <a:bodyPr wrap="square" lIns="201168" tIns="118872" rIns="201168" bIns="118872" anchor="t" rtlCol="0">
            <a:noAutofit/>
          </a:bodyPr>
          <a:lstStyle/>
          <a:p>
            <a:pPr algn="just">
              <a:lnSpc>
                <a:spcPts val="2560"/>
              </a:lnSpc>
              <a:spcBef>
                <a:spcPts val="0"/>
              </a:spcBef>
              <a:spcAft>
                <a:spcPts val="0"/>
              </a:spcAft>
              <a:buNone/>
            </a:pPr>
            <a:r>
              <a:rPr lang="en-US" altLang="ko-KR" sz="1700" b="0" dirty="0">
                <a:solidFill>
                  <a:srgbClr val="1F2328"/>
                </a:solidFill>
                <a:latin typeface="Calibri"/>
                <a:ea typeface="맑은 고딕"/>
                <a:cs typeface="Calibri"/>
              </a:rPr>
              <a:t>Cyril Boggis was an antique furniture dealer in London. </a:t>
            </a:r>
            <a:r>
              <a:rPr lang="ko-KR" altLang="en-US" sz="1800" b="1" dirty="0">
                <a:solidFill>
                  <a:srgbClr val="1E2A5A"/>
                </a:solidFill>
                <a:latin typeface="맑은 고딕"/>
                <a:ea typeface="맑은 고딕"/>
                <a:cs typeface="맑은 고딕"/>
              </a:rPr>
              <a:t>②</a:t>
            </a:r>
            <a:r>
              <a:rPr lang="en-US" altLang="ko-KR" sz="1700" b="0" dirty="0">
                <a:solidFill>
                  <a:srgbClr val="1F2328"/>
                </a:solidFill>
                <a:latin typeface="Calibri"/>
                <a:ea typeface="맑은 고딕"/>
                <a:cs typeface="Calibri"/>
              </a:rPr>
              <a:t> People asked him where he had got the furniture, but he just said, "It’s a secret." </a:t>
            </a:r>
            <a:r>
              <a:rPr lang="ko-KR" altLang="en-US" sz="1800" b="1" dirty="0">
                <a:solidFill>
                  <a:srgbClr val="1E2A5A"/>
                </a:solidFill>
                <a:latin typeface="맑은 고딕"/>
                <a:ea typeface="맑은 고딕"/>
                <a:cs typeface="맑은 고딕"/>
              </a:rPr>
              <a:t>③</a:t>
            </a:r>
            <a:r>
              <a:rPr lang="en-US" altLang="ko-KR" sz="1700" b="0" dirty="0">
                <a:solidFill>
                  <a:srgbClr val="1F2328"/>
                </a:solidFill>
                <a:latin typeface="Calibri"/>
                <a:ea typeface="맑은 고딕"/>
                <a:cs typeface="Calibri"/>
              </a:rPr>
              <a:t> Mr. Boggis’ secret was simple. He went to small towns every Sunday and knocked on doors. </a:t>
            </a:r>
            <a:r>
              <a:rPr lang="ko-KR" altLang="en-US" sz="1800" b="1" dirty="0">
                <a:solidFill>
                  <a:srgbClr val="1E2A5A"/>
                </a:solidFill>
                <a:latin typeface="맑은 고딕"/>
                <a:ea typeface="맑은 고딕"/>
                <a:cs typeface="맑은 고딕"/>
              </a:rPr>
              <a:t>④</a:t>
            </a:r>
            <a:r>
              <a:rPr lang="en-US" altLang="ko-KR" sz="1700" b="0" dirty="0">
                <a:solidFill>
                  <a:srgbClr val="1F2328"/>
                </a:solidFill>
                <a:latin typeface="Calibri"/>
                <a:ea typeface="맑은 고딕"/>
                <a:cs typeface="Calibri"/>
              </a:rPr>
              <a:t> He told people that he was a furniture dealer. </a:t>
            </a:r>
            <a:r>
              <a:rPr lang="ko-KR" altLang="en-US" sz="1800" b="1" dirty="0">
                <a:solidFill>
                  <a:srgbClr val="1E2A5A"/>
                </a:solidFill>
                <a:latin typeface="맑은 고딕"/>
                <a:ea typeface="맑은 고딕"/>
                <a:cs typeface="맑은 고딕"/>
              </a:rPr>
              <a:t>⑤</a:t>
            </a:r>
            <a:r>
              <a:rPr lang="en-US" altLang="ko-KR" sz="1700" b="0" dirty="0">
                <a:solidFill>
                  <a:srgbClr val="1F2328"/>
                </a:solidFill>
                <a:latin typeface="Calibri"/>
                <a:ea typeface="맑은 고딕"/>
                <a:cs typeface="Calibri"/>
              </a:rPr>
              <a:t> People didn’t know how valuable their things were, so Mr. Boggis took advantage of them. He was able to buy things very cheaply.</a:t>
            </a:r>
            <a:endParaRPr lang="en-US" altLang="ko-KR" sz="1700" b="0" dirty="0">
              <a:solidFill>
                <a:srgbClr val="1F2328"/>
              </a:solidFill>
              <a:latin typeface="Calibri"/>
              <a:ea typeface="맑은 고딕"/>
              <a:cs typeface="Calibri"/>
            </a:endParaRPr>
          </a:p>
        </p:txBody>
      </p:sp>
      <p:sp>
        <p:nvSpPr>
          <p:cNvPr id="11" name="rv_pick"/>
          <p:cNvSpPr txBox="1"/>
          <p:nvPr/>
        </p:nvSpPr>
        <p:spPr>
          <a:xfrm>
            <a:off x="457200" y="1910587"/>
            <a:ext cx="11277295" cy="1899919"/>
          </a:xfrm>
          <a:prstGeom prst="rect">
            <a:avLst/>
          </a:prstGeom>
          <a:noFill/>
        </p:spPr>
        <p:txBody>
          <a:bodyPr wrap="square" lIns="201168" tIns="118872" rIns="201168" bIns="118872" anchor="t" rtlCol="0">
            <a:noAutofit/>
          </a:bodyPr>
          <a:lstStyle/>
          <a:p>
            <a:pPr algn="just">
              <a:lnSpc>
                <a:spcPts val="2560"/>
              </a:lnSpc>
              <a:spcBef>
                <a:spcPts val="0"/>
              </a:spcBef>
              <a:spcAft>
                <a:spcPts val="0"/>
              </a:spcAft>
              <a:buNone/>
            </a:pPr>
            <a:r>
              <a:rPr lang="en-US" altLang="ko-KR" sz="1700" b="0" dirty="0">
                <a:solidFill>
                  <a:srgbClr val="1F2328">
                    <a:alpha val="0"/>
                  </a:srgbClr>
                </a:solidFill>
                <a:latin typeface="Calibri"/>
                <a:ea typeface="맑은 고딕"/>
                <a:cs typeface="Calibri"/>
              </a:rPr>
              <a:t>Cyril Boggis was an antique furniture dealer in London. </a:t>
            </a:r>
            <a:r>
              <a:rPr lang="ko-KR" altLang="en-US" sz="1800" b="1" dirty="0">
                <a:solidFill>
                  <a:srgbClr val="C00000"/>
                </a:solidFill>
                <a:highlight>
                  <a:srgbClr val="F3F5F9"/>
                </a:highlight>
                <a:latin typeface="맑은 고딕"/>
                <a:ea typeface="맑은 고딕"/>
                <a:cs typeface="맑은 고딕"/>
              </a:rPr>
              <a:t>②</a:t>
            </a:r>
            <a:r>
              <a:rPr lang="en-US" altLang="ko-KR" sz="1700" b="0" dirty="0">
                <a:solidFill>
                  <a:srgbClr val="1F2328">
                    <a:alpha val="0"/>
                  </a:srgbClr>
                </a:solidFill>
                <a:latin typeface="Calibri"/>
                <a:ea typeface="맑은 고딕"/>
                <a:cs typeface="Calibri"/>
              </a:rPr>
              <a:t> People asked him where he had got the furniture, but he just said, "It’s a secret." </a:t>
            </a:r>
            <a:r>
              <a:rPr lang="ko-KR" altLang="en-US" sz="1800" b="1" dirty="0">
                <a:solidFill>
                  <a:srgbClr val="1E2A5A">
                    <a:alpha val="0"/>
                  </a:srgbClr>
                </a:solidFill>
                <a:latin typeface="맑은 고딕"/>
                <a:ea typeface="맑은 고딕"/>
                <a:cs typeface="맑은 고딕"/>
              </a:rPr>
              <a:t>③</a:t>
            </a:r>
            <a:r>
              <a:rPr lang="en-US" altLang="ko-KR" sz="1700" b="0" dirty="0">
                <a:solidFill>
                  <a:srgbClr val="1F2328">
                    <a:alpha val="0"/>
                  </a:srgbClr>
                </a:solidFill>
                <a:latin typeface="Calibri"/>
                <a:ea typeface="맑은 고딕"/>
                <a:cs typeface="Calibri"/>
              </a:rPr>
              <a:t> Mr. Boggis’ secret was simple. He went to small towns every Sunday and knocked on doors. </a:t>
            </a:r>
            <a:r>
              <a:rPr lang="ko-KR" altLang="en-US" sz="1800" b="1" dirty="0">
                <a:solidFill>
                  <a:srgbClr val="1E2A5A">
                    <a:alpha val="0"/>
                  </a:srgbClr>
                </a:solidFill>
                <a:latin typeface="맑은 고딕"/>
                <a:ea typeface="맑은 고딕"/>
                <a:cs typeface="맑은 고딕"/>
              </a:rPr>
              <a:t>④</a:t>
            </a:r>
            <a:r>
              <a:rPr lang="en-US" altLang="ko-KR" sz="1700" b="0" dirty="0">
                <a:solidFill>
                  <a:srgbClr val="1F2328">
                    <a:alpha val="0"/>
                  </a:srgbClr>
                </a:solidFill>
                <a:latin typeface="Calibri"/>
                <a:ea typeface="맑은 고딕"/>
                <a:cs typeface="Calibri"/>
              </a:rPr>
              <a:t> He told people that he was a furniture dealer. </a:t>
            </a:r>
            <a:r>
              <a:rPr lang="ko-KR" altLang="en-US" sz="1800" b="1" dirty="0">
                <a:solidFill>
                  <a:srgbClr val="1E2A5A">
                    <a:alpha val="0"/>
                  </a:srgbClr>
                </a:solidFill>
                <a:latin typeface="맑은 고딕"/>
                <a:ea typeface="맑은 고딕"/>
                <a:cs typeface="맑은 고딕"/>
              </a:rPr>
              <a:t>⑤</a:t>
            </a:r>
            <a:r>
              <a:rPr lang="en-US" altLang="ko-KR" sz="1700" b="0" dirty="0">
                <a:solidFill>
                  <a:srgbClr val="1F2328">
                    <a:alpha val="0"/>
                  </a:srgbClr>
                </a:solidFill>
                <a:latin typeface="Calibri"/>
                <a:ea typeface="맑은 고딕"/>
                <a:cs typeface="Calibri"/>
              </a:rPr>
              <a:t> People didn’t know how valuable their things were, so Mr. Boggis took advantage of them. He was able to buy things very cheaply.</a:t>
            </a:r>
            <a:endParaRPr lang="en-US" altLang="ko-KR" sz="1700" b="0" dirty="0">
              <a:solidFill>
                <a:srgbClr val="1F2328"/>
              </a:solidFill>
              <a:latin typeface="Calibri"/>
              <a:ea typeface="맑은 고딕"/>
              <a:cs typeface="Calibri"/>
            </a:endParaRPr>
          </a:p>
        </p:txBody>
      </p:sp>
      <p:sp>
        <p:nvSpPr>
          <p:cNvPr id="12" name="rv_answer"/>
          <p:cNvSpPr/>
          <p:nvPr/>
        </p:nvSpPr>
        <p:spPr>
          <a:xfrm>
            <a:off x="457200" y="3920235"/>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②</a:t>
            </a:r>
            <a:endParaRPr lang="ko-KR" altLang="en-US" sz="1900" b="1" dirty="0">
              <a:solidFill>
                <a:srgbClr val="5A4200"/>
              </a:solidFill>
              <a:latin typeface="맑은 고딕"/>
              <a:ea typeface="맑은 고딕"/>
              <a:cs typeface="맑은 고딕"/>
            </a:endParaRPr>
          </a:p>
        </p:txBody>
      </p:sp>
      <p:sp>
        <p:nvSpPr>
          <p:cNvPr id="13" name="rv_why"/>
          <p:cNvSpPr/>
          <p:nvPr/>
        </p:nvSpPr>
        <p:spPr>
          <a:xfrm>
            <a:off x="457200" y="4519168"/>
            <a:ext cx="11277295" cy="189991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주어진 문장의 He는 앞의 Cyril Boggis이고, 유명한 장사 방식을 알아야 사람들이 가구 출처를 물은 이유가 선다. ②가 정답이다.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25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25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2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Lst>
  </p:timing>
</p:sld>
</file>

<file path=ppt/slides/slide9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L6-1</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2 · 4</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4. 글의 흐름으로 보아, 주어진 문장이 들어가기에 가장 적절한 곳은?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6</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정답 원리</a:t>
            </a:r>
            <a:endParaRPr lang="ko-KR" altLang="en-US" sz="1000" b="0" dirty="0">
              <a:solidFill>
                <a:srgbClr val="7A808C"/>
              </a:solidFill>
              <a:latin typeface="맑은 고딕"/>
              <a:ea typeface="맑은 고딕"/>
              <a:cs typeface="맑은 고딕"/>
            </a:endParaRPr>
          </a:p>
        </p:txBody>
      </p:sp>
      <p:sp>
        <p:nvSpPr>
          <p:cNvPr id="7" name="given_card"/>
          <p:cNvSpPr/>
          <p:nvPr/>
        </p:nvSpPr>
        <p:spPr>
          <a:xfrm>
            <a:off x="457200" y="950976"/>
            <a:ext cx="11277295" cy="507238"/>
          </a:xfrm>
          <a:prstGeom prst="roundRect">
            <a:avLst>
              <a:gd name="adj" fmla="val 6000"/>
            </a:avLst>
          </a:prstGeom>
          <a:solidFill>
            <a:srgbClr val="FFFFFF"/>
          </a:solidFill>
          <a:ln w="15875">
            <a:solidFill>
              <a:srgbClr val="1E2A5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given"/>
          <p:cNvSpPr txBox="1"/>
          <p:nvPr/>
        </p:nvSpPr>
        <p:spPr>
          <a:xfrm>
            <a:off x="457200" y="950976"/>
            <a:ext cx="11277295" cy="507238"/>
          </a:xfrm>
          <a:prstGeom prst="rect">
            <a:avLst/>
          </a:prstGeom>
          <a:noFill/>
        </p:spPr>
        <p:txBody>
          <a:bodyPr wrap="square" lIns="201168" tIns="100584" rIns="201168" bIns="100584"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주어진 문장</a:t>
            </a:r>
            <a:r>
              <a:rPr lang="en-US" altLang="ko-KR" sz="1700" b="0" dirty="0">
                <a:solidFill>
                  <a:srgbClr val="1F2328"/>
                </a:solidFill>
                <a:latin typeface="Calibri"/>
                <a:ea typeface="맑은 고딕"/>
                <a:cs typeface="Calibri"/>
              </a:rPr>
              <a:t>   People asked him where he had got the furniture, but he just said, "It’s a secret."</a:t>
            </a:r>
            <a:endParaRPr lang="en-US" altLang="ko-KR" sz="1700" b="0" dirty="0">
              <a:solidFill>
                <a:srgbClr val="1F2328"/>
              </a:solidFill>
              <a:latin typeface="Calibri"/>
              <a:ea typeface="맑은 고딕"/>
              <a:cs typeface="Calibri"/>
            </a:endParaRPr>
          </a:p>
        </p:txBody>
      </p:sp>
      <p:sp>
        <p:nvSpPr>
          <p:cNvPr id="9" name="passage_card"/>
          <p:cNvSpPr/>
          <p:nvPr/>
        </p:nvSpPr>
        <p:spPr>
          <a:xfrm>
            <a:off x="457200" y="1604518"/>
            <a:ext cx="11277295" cy="189991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passage"/>
          <p:cNvSpPr txBox="1"/>
          <p:nvPr/>
        </p:nvSpPr>
        <p:spPr>
          <a:xfrm>
            <a:off x="457200" y="1604518"/>
            <a:ext cx="11277295" cy="1899919"/>
          </a:xfrm>
          <a:prstGeom prst="rect">
            <a:avLst/>
          </a:prstGeom>
          <a:noFill/>
        </p:spPr>
        <p:txBody>
          <a:bodyPr wrap="square" lIns="201168" tIns="118872" rIns="201168" bIns="118872" anchor="t" rtlCol="0">
            <a:noAutofit/>
          </a:bodyPr>
          <a:lstStyle/>
          <a:p>
            <a:pPr algn="just">
              <a:lnSpc>
                <a:spcPts val="2560"/>
              </a:lnSpc>
              <a:spcBef>
                <a:spcPts val="0"/>
              </a:spcBef>
              <a:spcAft>
                <a:spcPts val="0"/>
              </a:spcAft>
              <a:buNone/>
            </a:pPr>
            <a:r>
              <a:rPr lang="en-US" altLang="ko-KR" sz="1700" b="0" dirty="0">
                <a:solidFill>
                  <a:srgbClr val="1F2328"/>
                </a:solidFill>
                <a:latin typeface="Calibri"/>
                <a:ea typeface="맑은 고딕"/>
                <a:cs typeface="Calibri"/>
              </a:rPr>
              <a:t>Cyril Boggis was an antique furniture dealer in London. </a:t>
            </a:r>
            <a:r>
              <a:rPr lang="ko-KR" altLang="en-US" sz="1800" b="1" dirty="0">
                <a:solidFill>
                  <a:srgbClr val="1E2A5A"/>
                </a:solidFill>
                <a:latin typeface="맑은 고딕"/>
                <a:ea typeface="맑은 고딕"/>
                <a:cs typeface="맑은 고딕"/>
              </a:rPr>
              <a:t>②</a:t>
            </a:r>
            <a:r>
              <a:rPr lang="en-US" altLang="ko-KR" sz="1700" b="0" dirty="0">
                <a:solidFill>
                  <a:srgbClr val="1F2328"/>
                </a:solidFill>
                <a:latin typeface="Calibri"/>
                <a:ea typeface="맑은 고딕"/>
                <a:cs typeface="Calibri"/>
              </a:rPr>
              <a:t> He was known for buying good things at a low price and then selling them at a high price. </a:t>
            </a:r>
            <a:r>
              <a:rPr lang="ko-KR" altLang="en-US" sz="1800" b="1" dirty="0">
                <a:solidFill>
                  <a:srgbClr val="1E2A5A"/>
                </a:solidFill>
                <a:latin typeface="맑은 고딕"/>
                <a:ea typeface="맑은 고딕"/>
                <a:cs typeface="맑은 고딕"/>
              </a:rPr>
              <a:t>③</a:t>
            </a:r>
            <a:r>
              <a:rPr lang="en-US" altLang="ko-KR" sz="1700" b="0" dirty="0">
                <a:solidFill>
                  <a:srgbClr val="1F2328"/>
                </a:solidFill>
                <a:latin typeface="Calibri"/>
                <a:ea typeface="맑은 고딕"/>
                <a:cs typeface="Calibri"/>
              </a:rPr>
              <a:t> Mr. Boggis’ secret was simple. He went to small towns every Sunday and knocked on doors. </a:t>
            </a:r>
            <a:r>
              <a:rPr lang="ko-KR" altLang="en-US" sz="1800" b="1" dirty="0">
                <a:solidFill>
                  <a:srgbClr val="1E2A5A"/>
                </a:solidFill>
                <a:latin typeface="맑은 고딕"/>
                <a:ea typeface="맑은 고딕"/>
                <a:cs typeface="맑은 고딕"/>
              </a:rPr>
              <a:t>④</a:t>
            </a:r>
            <a:r>
              <a:rPr lang="en-US" altLang="ko-KR" sz="1700" b="0" dirty="0">
                <a:solidFill>
                  <a:srgbClr val="1F2328"/>
                </a:solidFill>
                <a:latin typeface="Calibri"/>
                <a:ea typeface="맑은 고딕"/>
                <a:cs typeface="Calibri"/>
              </a:rPr>
              <a:t> He told people that he was a furniture dealer. </a:t>
            </a:r>
            <a:r>
              <a:rPr lang="ko-KR" altLang="en-US" sz="1800" b="1" dirty="0">
                <a:solidFill>
                  <a:srgbClr val="1E2A5A"/>
                </a:solidFill>
                <a:latin typeface="맑은 고딕"/>
                <a:ea typeface="맑은 고딕"/>
                <a:cs typeface="맑은 고딕"/>
              </a:rPr>
              <a:t>⑤</a:t>
            </a:r>
            <a:r>
              <a:rPr lang="en-US" altLang="ko-KR" sz="1700" b="0" dirty="0">
                <a:solidFill>
                  <a:srgbClr val="1F2328"/>
                </a:solidFill>
                <a:latin typeface="Calibri"/>
                <a:ea typeface="맑은 고딕"/>
                <a:cs typeface="Calibri"/>
              </a:rPr>
              <a:t> People didn’t know how valuable their things were, so Mr. Boggis took advantage of them. He was able to buy things very cheaply.</a:t>
            </a:r>
            <a:endParaRPr lang="en-US" altLang="ko-KR" sz="1700" b="0" dirty="0">
              <a:solidFill>
                <a:srgbClr val="1F2328"/>
              </a:solidFill>
              <a:latin typeface="Calibri"/>
              <a:ea typeface="맑은 고딕"/>
              <a:cs typeface="Calibri"/>
            </a:endParaRPr>
          </a:p>
        </p:txBody>
      </p:sp>
      <p:sp>
        <p:nvSpPr>
          <p:cNvPr id="11" name="rv_pick"/>
          <p:cNvSpPr txBox="1"/>
          <p:nvPr/>
        </p:nvSpPr>
        <p:spPr>
          <a:xfrm>
            <a:off x="457200" y="1604518"/>
            <a:ext cx="11277295" cy="1899919"/>
          </a:xfrm>
          <a:prstGeom prst="rect">
            <a:avLst/>
          </a:prstGeom>
          <a:noFill/>
        </p:spPr>
        <p:txBody>
          <a:bodyPr wrap="square" lIns="201168" tIns="118872" rIns="201168" bIns="118872" anchor="t" rtlCol="0">
            <a:noAutofit/>
          </a:bodyPr>
          <a:lstStyle/>
          <a:p>
            <a:pPr algn="just">
              <a:lnSpc>
                <a:spcPts val="2560"/>
              </a:lnSpc>
              <a:spcBef>
                <a:spcPts val="0"/>
              </a:spcBef>
              <a:spcAft>
                <a:spcPts val="0"/>
              </a:spcAft>
              <a:buNone/>
            </a:pPr>
            <a:r>
              <a:rPr lang="en-US" altLang="ko-KR" sz="1700" b="0" dirty="0">
                <a:solidFill>
                  <a:srgbClr val="1F2328">
                    <a:alpha val="0"/>
                  </a:srgbClr>
                </a:solidFill>
                <a:latin typeface="Calibri"/>
                <a:ea typeface="맑은 고딕"/>
                <a:cs typeface="Calibri"/>
              </a:rPr>
              <a:t>Cyril Boggis was an antique furniture dealer in London. </a:t>
            </a:r>
            <a:r>
              <a:rPr lang="ko-KR" altLang="en-US" sz="1800" b="1" dirty="0">
                <a:solidFill>
                  <a:srgbClr val="1E2A5A">
                    <a:alpha val="0"/>
                  </a:srgbClr>
                </a:solidFill>
                <a:latin typeface="맑은 고딕"/>
                <a:ea typeface="맑은 고딕"/>
                <a:cs typeface="맑은 고딕"/>
              </a:rPr>
              <a:t>②</a:t>
            </a:r>
            <a:r>
              <a:rPr lang="en-US" altLang="ko-KR" sz="1700" b="0" dirty="0">
                <a:solidFill>
                  <a:srgbClr val="1F2328">
                    <a:alpha val="0"/>
                  </a:srgbClr>
                </a:solidFill>
                <a:latin typeface="Calibri"/>
                <a:ea typeface="맑은 고딕"/>
                <a:cs typeface="Calibri"/>
              </a:rPr>
              <a:t> He was known for buying good things at a low price and then selling them at a high price. </a:t>
            </a:r>
            <a:r>
              <a:rPr lang="ko-KR" altLang="en-US" sz="1800" b="1" dirty="0">
                <a:solidFill>
                  <a:srgbClr val="C00000"/>
                </a:solidFill>
                <a:highlight>
                  <a:srgbClr val="F3F5F9"/>
                </a:highlight>
                <a:latin typeface="맑은 고딕"/>
                <a:ea typeface="맑은 고딕"/>
                <a:cs typeface="맑은 고딕"/>
              </a:rPr>
              <a:t>③</a:t>
            </a:r>
            <a:r>
              <a:rPr lang="en-US" altLang="ko-KR" sz="1700" b="0" dirty="0">
                <a:solidFill>
                  <a:srgbClr val="1F2328">
                    <a:alpha val="0"/>
                  </a:srgbClr>
                </a:solidFill>
                <a:latin typeface="Calibri"/>
                <a:ea typeface="맑은 고딕"/>
                <a:cs typeface="Calibri"/>
              </a:rPr>
              <a:t> Mr. Boggis’ secret was simple. He went to small towns every Sunday and knocked on doors. </a:t>
            </a:r>
            <a:r>
              <a:rPr lang="ko-KR" altLang="en-US" sz="1800" b="1" dirty="0">
                <a:solidFill>
                  <a:srgbClr val="1E2A5A">
                    <a:alpha val="0"/>
                  </a:srgbClr>
                </a:solidFill>
                <a:latin typeface="맑은 고딕"/>
                <a:ea typeface="맑은 고딕"/>
                <a:cs typeface="맑은 고딕"/>
              </a:rPr>
              <a:t>④</a:t>
            </a:r>
            <a:r>
              <a:rPr lang="en-US" altLang="ko-KR" sz="1700" b="0" dirty="0">
                <a:solidFill>
                  <a:srgbClr val="1F2328">
                    <a:alpha val="0"/>
                  </a:srgbClr>
                </a:solidFill>
                <a:latin typeface="Calibri"/>
                <a:ea typeface="맑은 고딕"/>
                <a:cs typeface="Calibri"/>
              </a:rPr>
              <a:t> He told people that he was a furniture dealer. </a:t>
            </a:r>
            <a:r>
              <a:rPr lang="ko-KR" altLang="en-US" sz="1800" b="1" dirty="0">
                <a:solidFill>
                  <a:srgbClr val="1E2A5A">
                    <a:alpha val="0"/>
                  </a:srgbClr>
                </a:solidFill>
                <a:latin typeface="맑은 고딕"/>
                <a:ea typeface="맑은 고딕"/>
                <a:cs typeface="맑은 고딕"/>
              </a:rPr>
              <a:t>⑤</a:t>
            </a:r>
            <a:r>
              <a:rPr lang="en-US" altLang="ko-KR" sz="1700" b="0" dirty="0">
                <a:solidFill>
                  <a:srgbClr val="1F2328">
                    <a:alpha val="0"/>
                  </a:srgbClr>
                </a:solidFill>
                <a:latin typeface="Calibri"/>
                <a:ea typeface="맑은 고딕"/>
                <a:cs typeface="Calibri"/>
              </a:rPr>
              <a:t> People didn’t know how valuable their things were, so Mr. Boggis took advantage of them. He was able to buy things very cheaply.</a:t>
            </a:r>
            <a:endParaRPr lang="en-US" altLang="ko-KR" sz="1700" b="0" dirty="0">
              <a:solidFill>
                <a:srgbClr val="1F2328"/>
              </a:solidFill>
              <a:latin typeface="Calibri"/>
              <a:ea typeface="맑은 고딕"/>
              <a:cs typeface="Calibri"/>
            </a:endParaRPr>
          </a:p>
        </p:txBody>
      </p:sp>
      <p:sp>
        <p:nvSpPr>
          <p:cNvPr id="12" name="rv_answer"/>
          <p:cNvSpPr/>
          <p:nvPr/>
        </p:nvSpPr>
        <p:spPr>
          <a:xfrm>
            <a:off x="457200" y="3614165"/>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③</a:t>
            </a:r>
            <a:endParaRPr lang="ko-KR" altLang="en-US" sz="1900" b="1" dirty="0">
              <a:solidFill>
                <a:srgbClr val="5A4200"/>
              </a:solidFill>
              <a:latin typeface="맑은 고딕"/>
              <a:ea typeface="맑은 고딕"/>
              <a:cs typeface="맑은 고딕"/>
            </a:endParaRPr>
          </a:p>
        </p:txBody>
      </p:sp>
      <p:sp>
        <p:nvSpPr>
          <p:cNvPr id="13" name="rv_why"/>
          <p:cNvSpPr/>
          <p:nvPr/>
        </p:nvSpPr>
        <p:spPr>
          <a:xfrm>
            <a:off x="457200" y="4213098"/>
            <a:ext cx="11277295" cy="220598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'It’s a secret'이라는 대답이 먼저 나와야 ③ 뒤 'Mr. Boggis’ secret was simple'이 그 비밀을 풀어 준다. ③이 정답이다.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25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25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2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Lst>
  </p:timing>
</p:sld>
</file>

<file path=ppt/slides/slide9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L6-1</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3 · ①</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다음 글의 각 [  ] 안에서 문맥상 알맞은 것을 고르시오.</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6</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클릭할 때마다 괄호 속 정답이 앞에서부터 하나씩 빨간색으로 나타납니다 (총 6개)</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4832096"/>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4832096"/>
          </a:xfrm>
          <a:prstGeom prst="rect">
            <a:avLst/>
          </a:prstGeom>
          <a:noFill/>
        </p:spPr>
        <p:txBody>
          <a:bodyPr wrap="square" lIns="228600" tIns="155448" rIns="228600" bIns="155448" anchor="t" rtlCol="0">
            <a:noAutofit/>
          </a:bodyPr>
          <a:lstStyle/>
          <a:p>
            <a:pPr algn="l">
              <a:lnSpc>
                <a:spcPts val="3560"/>
              </a:lnSpc>
              <a:spcBef>
                <a:spcPts val="0"/>
              </a:spcBef>
              <a:spcAft>
                <a:spcPts val="0"/>
              </a:spcAft>
              <a:buNone/>
            </a:pPr>
            <a:r>
              <a:rPr lang="ko-KR" altLang="en-US" sz="2200" b="1" dirty="0">
                <a:solidFill>
                  <a:srgbClr val="1E2A5A"/>
                </a:solidFill>
                <a:latin typeface="맑은 고딕"/>
                <a:ea typeface="맑은 고딕"/>
                <a:cs typeface="맑은 고딕"/>
              </a:rPr>
              <a:t>①</a:t>
            </a:r>
            <a:r>
              <a:rPr lang="en-US" altLang="ko-KR" sz="2200" b="0"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Cyril Boggis was an antique furniture dealer in London.</a:t>
            </a:r>
            <a:r>
              <a:rPr lang="en-US" altLang="ko-KR" sz="2200" b="0" dirty="0">
                <a:solidFill>
                  <a:srgbClr val="1F2328"/>
                </a:solidFill>
                <a:latin typeface="Calibri"/>
                <a:ea typeface="맑은 고딕"/>
                <a:cs typeface="Calibri"/>
              </a:rPr>
              <a:t>   </a:t>
            </a:r>
            <a:r>
              <a:rPr lang="ko-KR" altLang="en-US" sz="2200" b="1" dirty="0">
                <a:solidFill>
                  <a:srgbClr val="1E2A5A"/>
                </a:solidFill>
                <a:latin typeface="맑은 고딕"/>
                <a:ea typeface="맑은 고딕"/>
                <a:cs typeface="맑은 고딕"/>
              </a:rPr>
              <a:t>②</a:t>
            </a:r>
            <a:r>
              <a:rPr lang="en-US" altLang="ko-KR" sz="2200" b="0"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He was known for </a:t>
            </a:r>
            <a:r>
              <a:rPr lang="en-US" altLang="ko-KR" sz="2200" b="1" dirty="0">
                <a:solidFill>
                  <a:srgbClr val="1F2328"/>
                </a:solidFill>
                <a:latin typeface="Calibri"/>
                <a:ea typeface="맑은 고딕"/>
                <a:cs typeface="Calibri"/>
              </a:rPr>
              <a:t>[ </a:t>
            </a:r>
            <a:r>
              <a:rPr lang="en-US" altLang="ko-KR" sz="2200" b="1" dirty="0">
                <a:solidFill>
                  <a:srgbClr val="1F2328"/>
                </a:solidFill>
                <a:latin typeface="Calibri"/>
                <a:ea typeface="맑은 고딕"/>
                <a:cs typeface="Calibri"/>
              </a:rPr>
              <a:t>buying</a:t>
            </a:r>
            <a:r>
              <a:rPr lang="en-US" altLang="ko-KR" sz="2200" b="1" dirty="0">
                <a:solidFill>
                  <a:srgbClr val="1F2328"/>
                </a:solidFill>
                <a:latin typeface="Calibri"/>
                <a:ea typeface="맑은 고딕"/>
                <a:cs typeface="Calibri"/>
              </a:rPr>
              <a:t> / </a:t>
            </a:r>
            <a:r>
              <a:rPr lang="en-US" altLang="ko-KR" sz="2200" b="1" dirty="0">
                <a:solidFill>
                  <a:srgbClr val="1F2328"/>
                </a:solidFill>
                <a:latin typeface="Calibri"/>
                <a:ea typeface="맑은 고딕"/>
                <a:cs typeface="Calibri"/>
              </a:rPr>
              <a:t>to buy</a:t>
            </a:r>
            <a:r>
              <a:rPr lang="en-US" altLang="ko-KR" sz="2200" b="1"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 good things at a low price and then </a:t>
            </a:r>
            <a:r>
              <a:rPr lang="en-US" altLang="ko-KR" sz="2200" b="1" dirty="0">
                <a:solidFill>
                  <a:srgbClr val="1F2328"/>
                </a:solidFill>
                <a:latin typeface="Calibri"/>
                <a:ea typeface="맑은 고딕"/>
                <a:cs typeface="Calibri"/>
              </a:rPr>
              <a:t>[ </a:t>
            </a:r>
            <a:r>
              <a:rPr lang="en-US" altLang="ko-KR" sz="2200" b="1" dirty="0">
                <a:solidFill>
                  <a:srgbClr val="1F2328"/>
                </a:solidFill>
                <a:latin typeface="Calibri"/>
                <a:ea typeface="맑은 고딕"/>
                <a:cs typeface="Calibri"/>
              </a:rPr>
              <a:t>sell</a:t>
            </a:r>
            <a:r>
              <a:rPr lang="en-US" altLang="ko-KR" sz="2200" b="1" dirty="0">
                <a:solidFill>
                  <a:srgbClr val="1F2328"/>
                </a:solidFill>
                <a:latin typeface="Calibri"/>
                <a:ea typeface="맑은 고딕"/>
                <a:cs typeface="Calibri"/>
              </a:rPr>
              <a:t> / </a:t>
            </a:r>
            <a:r>
              <a:rPr lang="en-US" altLang="ko-KR" sz="2200" b="1" dirty="0">
                <a:solidFill>
                  <a:srgbClr val="1F2328"/>
                </a:solidFill>
                <a:latin typeface="Calibri"/>
                <a:ea typeface="맑은 고딕"/>
                <a:cs typeface="Calibri"/>
              </a:rPr>
              <a:t>selling</a:t>
            </a:r>
            <a:r>
              <a:rPr lang="en-US" altLang="ko-KR" sz="2200" b="1"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 them at a high price.</a:t>
            </a:r>
            <a:r>
              <a:rPr lang="en-US" altLang="ko-KR" sz="2200" b="0" dirty="0">
                <a:solidFill>
                  <a:srgbClr val="1F2328"/>
                </a:solidFill>
                <a:latin typeface="Calibri"/>
                <a:ea typeface="맑은 고딕"/>
                <a:cs typeface="Calibri"/>
              </a:rPr>
              <a:t>   </a:t>
            </a:r>
            <a:r>
              <a:rPr lang="ko-KR" altLang="en-US" sz="2200" b="1" dirty="0">
                <a:solidFill>
                  <a:srgbClr val="1E2A5A"/>
                </a:solidFill>
                <a:latin typeface="맑은 고딕"/>
                <a:ea typeface="맑은 고딕"/>
                <a:cs typeface="맑은 고딕"/>
              </a:rPr>
              <a:t>③</a:t>
            </a:r>
            <a:r>
              <a:rPr lang="en-US" altLang="ko-KR" sz="2200" b="0"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People asked him </a:t>
            </a:r>
            <a:r>
              <a:rPr lang="en-US" altLang="ko-KR" sz="2200" b="1" dirty="0">
                <a:solidFill>
                  <a:srgbClr val="1F2328"/>
                </a:solidFill>
                <a:latin typeface="Calibri"/>
                <a:ea typeface="맑은 고딕"/>
                <a:cs typeface="Calibri"/>
              </a:rPr>
              <a:t>[ </a:t>
            </a:r>
            <a:r>
              <a:rPr lang="en-US" altLang="ko-KR" sz="2200" b="1" dirty="0">
                <a:solidFill>
                  <a:srgbClr val="1F2328"/>
                </a:solidFill>
                <a:latin typeface="Calibri"/>
                <a:ea typeface="맑은 고딕"/>
                <a:cs typeface="Calibri"/>
              </a:rPr>
              <a:t>which</a:t>
            </a:r>
            <a:r>
              <a:rPr lang="en-US" altLang="ko-KR" sz="2200" b="1" dirty="0">
                <a:solidFill>
                  <a:srgbClr val="1F2328"/>
                </a:solidFill>
                <a:latin typeface="Calibri"/>
                <a:ea typeface="맑은 고딕"/>
                <a:cs typeface="Calibri"/>
              </a:rPr>
              <a:t> / </a:t>
            </a:r>
            <a:r>
              <a:rPr lang="en-US" altLang="ko-KR" sz="2200" b="1" dirty="0">
                <a:solidFill>
                  <a:srgbClr val="1F2328"/>
                </a:solidFill>
                <a:latin typeface="Calibri"/>
                <a:ea typeface="맑은 고딕"/>
                <a:cs typeface="Calibri"/>
              </a:rPr>
              <a:t>where</a:t>
            </a:r>
            <a:r>
              <a:rPr lang="en-US" altLang="ko-KR" sz="2200" b="1"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 he </a:t>
            </a:r>
            <a:r>
              <a:rPr lang="en-US" altLang="ko-KR" sz="2200" b="1" dirty="0">
                <a:solidFill>
                  <a:srgbClr val="1F2328"/>
                </a:solidFill>
                <a:latin typeface="Calibri"/>
                <a:ea typeface="맑은 고딕"/>
                <a:cs typeface="Calibri"/>
              </a:rPr>
              <a:t>[ </a:t>
            </a:r>
            <a:r>
              <a:rPr lang="en-US" altLang="ko-KR" sz="2200" b="1" dirty="0">
                <a:solidFill>
                  <a:srgbClr val="1F2328"/>
                </a:solidFill>
                <a:latin typeface="Calibri"/>
                <a:ea typeface="맑은 고딕"/>
                <a:cs typeface="Calibri"/>
              </a:rPr>
              <a:t>had got</a:t>
            </a:r>
            <a:r>
              <a:rPr lang="en-US" altLang="ko-KR" sz="2200" b="1" dirty="0">
                <a:solidFill>
                  <a:srgbClr val="1F2328"/>
                </a:solidFill>
                <a:latin typeface="Calibri"/>
                <a:ea typeface="맑은 고딕"/>
                <a:cs typeface="Calibri"/>
              </a:rPr>
              <a:t> / </a:t>
            </a:r>
            <a:r>
              <a:rPr lang="en-US" altLang="ko-KR" sz="2200" b="1" dirty="0">
                <a:solidFill>
                  <a:srgbClr val="1F2328"/>
                </a:solidFill>
                <a:latin typeface="Calibri"/>
                <a:ea typeface="맑은 고딕"/>
                <a:cs typeface="Calibri"/>
              </a:rPr>
              <a:t>has got</a:t>
            </a:r>
            <a:r>
              <a:rPr lang="en-US" altLang="ko-KR" sz="2200" b="1"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 the furniture, but he just said, "It’s a secret."</a:t>
            </a:r>
            <a:r>
              <a:rPr lang="en-US" altLang="ko-KR" sz="2200" b="0" dirty="0">
                <a:solidFill>
                  <a:srgbClr val="1F2328"/>
                </a:solidFill>
                <a:latin typeface="Calibri"/>
                <a:ea typeface="맑은 고딕"/>
                <a:cs typeface="Calibri"/>
              </a:rPr>
              <a:t>   </a:t>
            </a:r>
            <a:r>
              <a:rPr lang="ko-KR" altLang="en-US" sz="2200" b="1" dirty="0">
                <a:solidFill>
                  <a:srgbClr val="1E2A5A"/>
                </a:solidFill>
                <a:latin typeface="맑은 고딕"/>
                <a:ea typeface="맑은 고딕"/>
                <a:cs typeface="맑은 고딕"/>
              </a:rPr>
              <a:t>④</a:t>
            </a:r>
            <a:r>
              <a:rPr lang="en-US" altLang="ko-KR" sz="2200" b="0"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Mr. Boggis’ secret was simple. He went to small towns every Sunday and knocked on doors.</a:t>
            </a:r>
            <a:r>
              <a:rPr lang="en-US" altLang="ko-KR" sz="2200" b="0" dirty="0">
                <a:solidFill>
                  <a:srgbClr val="1F2328"/>
                </a:solidFill>
                <a:latin typeface="Calibri"/>
                <a:ea typeface="맑은 고딕"/>
                <a:cs typeface="Calibri"/>
              </a:rPr>
              <a:t>   </a:t>
            </a:r>
            <a:r>
              <a:rPr lang="ko-KR" altLang="en-US" sz="2200" b="1" dirty="0">
                <a:solidFill>
                  <a:srgbClr val="1E2A5A"/>
                </a:solidFill>
                <a:latin typeface="맑은 고딕"/>
                <a:ea typeface="맑은 고딕"/>
                <a:cs typeface="맑은 고딕"/>
              </a:rPr>
              <a:t>⑤</a:t>
            </a:r>
            <a:r>
              <a:rPr lang="en-US" altLang="ko-KR" sz="2200" b="0"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He told people that he was a furniture dealer.</a:t>
            </a:r>
            <a:r>
              <a:rPr lang="en-US" altLang="ko-KR" sz="2200" b="0" dirty="0">
                <a:solidFill>
                  <a:srgbClr val="1F2328"/>
                </a:solidFill>
                <a:latin typeface="Calibri"/>
                <a:ea typeface="맑은 고딕"/>
                <a:cs typeface="Calibri"/>
              </a:rPr>
              <a:t>   </a:t>
            </a:r>
            <a:r>
              <a:rPr lang="ko-KR" altLang="en-US" sz="2200" b="1" dirty="0">
                <a:solidFill>
                  <a:srgbClr val="1E2A5A"/>
                </a:solidFill>
                <a:latin typeface="맑은 고딕"/>
                <a:ea typeface="맑은 고딕"/>
                <a:cs typeface="맑은 고딕"/>
              </a:rPr>
              <a:t>⑥</a:t>
            </a:r>
            <a:r>
              <a:rPr lang="en-US" altLang="ko-KR" sz="2200" b="0"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People didn’t know </a:t>
            </a:r>
            <a:r>
              <a:rPr lang="en-US" altLang="ko-KR" sz="2200" b="1" dirty="0">
                <a:solidFill>
                  <a:srgbClr val="1F2328"/>
                </a:solidFill>
                <a:latin typeface="Calibri"/>
                <a:ea typeface="맑은 고딕"/>
                <a:cs typeface="Calibri"/>
              </a:rPr>
              <a:t>[ </a:t>
            </a:r>
            <a:r>
              <a:rPr lang="en-US" altLang="ko-KR" sz="2200" b="1" dirty="0">
                <a:solidFill>
                  <a:srgbClr val="1F2328"/>
                </a:solidFill>
                <a:latin typeface="Calibri"/>
                <a:ea typeface="맑은 고딕"/>
                <a:cs typeface="Calibri"/>
              </a:rPr>
              <a:t>how valuably</a:t>
            </a:r>
            <a:r>
              <a:rPr lang="en-US" altLang="ko-KR" sz="2200" b="1" dirty="0">
                <a:solidFill>
                  <a:srgbClr val="1F2328"/>
                </a:solidFill>
                <a:latin typeface="Calibri"/>
                <a:ea typeface="맑은 고딕"/>
                <a:cs typeface="Calibri"/>
              </a:rPr>
              <a:t> / </a:t>
            </a:r>
            <a:r>
              <a:rPr lang="en-US" altLang="ko-KR" sz="2200" b="1" dirty="0">
                <a:solidFill>
                  <a:srgbClr val="1F2328"/>
                </a:solidFill>
                <a:latin typeface="Calibri"/>
                <a:ea typeface="맑은 고딕"/>
                <a:cs typeface="Calibri"/>
              </a:rPr>
              <a:t>how valuable</a:t>
            </a:r>
            <a:r>
              <a:rPr lang="en-US" altLang="ko-KR" sz="2200" b="1"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 their things were, so Mr. Boggis took advantage of them.</a:t>
            </a:r>
            <a:r>
              <a:rPr lang="en-US" altLang="ko-KR" sz="2200" b="0" dirty="0">
                <a:solidFill>
                  <a:srgbClr val="1F2328"/>
                </a:solidFill>
                <a:latin typeface="Calibri"/>
                <a:ea typeface="맑은 고딕"/>
                <a:cs typeface="Calibri"/>
              </a:rPr>
              <a:t>   </a:t>
            </a:r>
            <a:r>
              <a:rPr lang="ko-KR" altLang="en-US" sz="2200" b="1" dirty="0">
                <a:solidFill>
                  <a:srgbClr val="1E2A5A"/>
                </a:solidFill>
                <a:latin typeface="맑은 고딕"/>
                <a:ea typeface="맑은 고딕"/>
                <a:cs typeface="맑은 고딕"/>
              </a:rPr>
              <a:t>⑦</a:t>
            </a:r>
            <a:r>
              <a:rPr lang="en-US" altLang="ko-KR" sz="2200" b="0"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He was able to buy things very </a:t>
            </a:r>
            <a:r>
              <a:rPr lang="en-US" altLang="ko-KR" sz="2200" b="1" dirty="0">
                <a:solidFill>
                  <a:srgbClr val="1F2328"/>
                </a:solidFill>
                <a:latin typeface="Calibri"/>
                <a:ea typeface="맑은 고딕"/>
                <a:cs typeface="Calibri"/>
              </a:rPr>
              <a:t>[ </a:t>
            </a:r>
            <a:r>
              <a:rPr lang="en-US" altLang="ko-KR" sz="2200" b="1" dirty="0">
                <a:solidFill>
                  <a:srgbClr val="1F2328"/>
                </a:solidFill>
                <a:latin typeface="Calibri"/>
                <a:ea typeface="맑은 고딕"/>
                <a:cs typeface="Calibri"/>
              </a:rPr>
              <a:t>cheaply</a:t>
            </a:r>
            <a:r>
              <a:rPr lang="en-US" altLang="ko-KR" sz="2200" b="1" dirty="0">
                <a:solidFill>
                  <a:srgbClr val="1F2328"/>
                </a:solidFill>
                <a:latin typeface="Calibri"/>
                <a:ea typeface="맑은 고딕"/>
                <a:cs typeface="Calibri"/>
              </a:rPr>
              <a:t> / </a:t>
            </a:r>
            <a:r>
              <a:rPr lang="en-US" altLang="ko-KR" sz="2200" b="1" dirty="0">
                <a:solidFill>
                  <a:srgbClr val="1F2328"/>
                </a:solidFill>
                <a:latin typeface="Calibri"/>
                <a:ea typeface="맑은 고딕"/>
                <a:cs typeface="Calibri"/>
              </a:rPr>
              <a:t>cheap</a:t>
            </a:r>
            <a:r>
              <a:rPr lang="en-US" altLang="ko-KR" sz="2200" b="1"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a:t>
            </a:r>
            <a:endParaRPr lang="en-US" altLang="ko-KR" sz="2200" b="0" dirty="0">
              <a:solidFill>
                <a:srgbClr val="1F2328"/>
              </a:solidFill>
              <a:latin typeface="Calibri"/>
              <a:ea typeface="맑은 고딕"/>
              <a:cs typeface="Calibri"/>
            </a:endParaRPr>
          </a:p>
        </p:txBody>
      </p:sp>
      <p:sp>
        <p:nvSpPr>
          <p:cNvPr id="9" name="rv_g01"/>
          <p:cNvSpPr txBox="1"/>
          <p:nvPr/>
        </p:nvSpPr>
        <p:spPr>
          <a:xfrm>
            <a:off x="457200" y="950976"/>
            <a:ext cx="11277295" cy="4832096"/>
          </a:xfrm>
          <a:prstGeom prst="rect">
            <a:avLst/>
          </a:prstGeom>
          <a:noFill/>
        </p:spPr>
        <p:txBody>
          <a:bodyPr wrap="square" lIns="228600" tIns="155448" rIns="228600" bIns="155448" anchor="t" rtlCol="0">
            <a:noAutofit/>
          </a:bodyPr>
          <a:lstStyle/>
          <a:p>
            <a:pPr algn="l">
              <a:lnSpc>
                <a:spcPts val="3560"/>
              </a:lnSpc>
              <a:spcBef>
                <a:spcPts val="0"/>
              </a:spcBef>
              <a:spcAft>
                <a:spcPts val="0"/>
              </a:spcAft>
              <a:buNone/>
            </a:pPr>
            <a:r>
              <a:rPr lang="ko-KR" altLang="en-US" sz="2200" b="1" dirty="0">
                <a:solidFill>
                  <a:srgbClr val="1E2A5A">
                    <a:alpha val="0"/>
                  </a:srgbClr>
                </a:solidFill>
                <a:latin typeface="맑은 고딕"/>
                <a:ea typeface="맑은 고딕"/>
                <a:cs typeface="맑은 고딕"/>
              </a:rPr>
              <a:t>①</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Cyril Boggis was an antique furniture dealer in London.</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②</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He was known for </a:t>
            </a:r>
            <a:r>
              <a:rPr lang="en-US" altLang="ko-KR" sz="2200" b="1" dirty="0">
                <a:solidFill>
                  <a:srgbClr val="1F2328">
                    <a:alpha val="0"/>
                  </a:srgbClr>
                </a:solidFill>
                <a:latin typeface="Calibri"/>
                <a:ea typeface="맑은 고딕"/>
                <a:cs typeface="Calibri"/>
              </a:rPr>
              <a:t>[ </a:t>
            </a:r>
            <a:r>
              <a:rPr lang="en-US" altLang="ko-KR" sz="2200" b="1" dirty="0">
                <a:solidFill>
                  <a:srgbClr val="C00000"/>
                </a:solidFill>
                <a:highlight>
                  <a:srgbClr val="F3F5F9"/>
                </a:highlight>
                <a:latin typeface="Calibri"/>
                <a:ea typeface="맑은 고딕"/>
                <a:cs typeface="Calibri"/>
              </a:rPr>
              <a:t>buying</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to buy</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good things at a low price and then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sell</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selling</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them at a high price.</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③</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People asked him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which</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where</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he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had got</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has got</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 furniture, but he just said, "It’s a secret."</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④</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Mr. Boggis’ secret was simple. He went to small towns every Sunday and knocked on doors.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⑤</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He told people that he was a furniture dealer.</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⑥</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People didn’t know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how valuably</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how valuable</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their things were, so Mr. Boggis took advantage of them.</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⑦</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He was able to buy things very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cheaply</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cheap</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a:t>
            </a:r>
            <a:endParaRPr lang="en-US" altLang="ko-KR" sz="2200" b="0" dirty="0">
              <a:solidFill>
                <a:srgbClr val="1F2328"/>
              </a:solidFill>
              <a:latin typeface="Calibri"/>
              <a:ea typeface="맑은 고딕"/>
              <a:cs typeface="Calibri"/>
            </a:endParaRPr>
          </a:p>
        </p:txBody>
      </p:sp>
      <p:sp>
        <p:nvSpPr>
          <p:cNvPr id="10" name="rv_g02"/>
          <p:cNvSpPr txBox="1"/>
          <p:nvPr/>
        </p:nvSpPr>
        <p:spPr>
          <a:xfrm>
            <a:off x="457200" y="950976"/>
            <a:ext cx="11277295" cy="4832096"/>
          </a:xfrm>
          <a:prstGeom prst="rect">
            <a:avLst/>
          </a:prstGeom>
          <a:noFill/>
        </p:spPr>
        <p:txBody>
          <a:bodyPr wrap="square" lIns="228600" tIns="155448" rIns="228600" bIns="155448" anchor="t" rtlCol="0">
            <a:noAutofit/>
          </a:bodyPr>
          <a:lstStyle/>
          <a:p>
            <a:pPr algn="l">
              <a:lnSpc>
                <a:spcPts val="3560"/>
              </a:lnSpc>
              <a:spcBef>
                <a:spcPts val="0"/>
              </a:spcBef>
              <a:spcAft>
                <a:spcPts val="0"/>
              </a:spcAft>
              <a:buNone/>
            </a:pPr>
            <a:r>
              <a:rPr lang="ko-KR" altLang="en-US" sz="2200" b="1" dirty="0">
                <a:solidFill>
                  <a:srgbClr val="1E2A5A">
                    <a:alpha val="0"/>
                  </a:srgbClr>
                </a:solidFill>
                <a:latin typeface="맑은 고딕"/>
                <a:ea typeface="맑은 고딕"/>
                <a:cs typeface="맑은 고딕"/>
              </a:rPr>
              <a:t>①</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Cyril Boggis was an antique furniture dealer in London.</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②</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He was known for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buying</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to buy</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good things at a low price and then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sell</a:t>
            </a:r>
            <a:r>
              <a:rPr lang="en-US" altLang="ko-KR" sz="2200" b="1" dirty="0">
                <a:solidFill>
                  <a:srgbClr val="1F2328">
                    <a:alpha val="0"/>
                  </a:srgbClr>
                </a:solidFill>
                <a:latin typeface="Calibri"/>
                <a:ea typeface="맑은 고딕"/>
                <a:cs typeface="Calibri"/>
              </a:rPr>
              <a:t> / </a:t>
            </a:r>
            <a:r>
              <a:rPr lang="en-US" altLang="ko-KR" sz="2200" b="1" dirty="0">
                <a:solidFill>
                  <a:srgbClr val="C00000"/>
                </a:solidFill>
                <a:highlight>
                  <a:srgbClr val="F3F5F9"/>
                </a:highlight>
                <a:latin typeface="Calibri"/>
                <a:ea typeface="맑은 고딕"/>
                <a:cs typeface="Calibri"/>
              </a:rPr>
              <a:t>selling</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them at a high price.</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③</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People asked him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which</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where</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he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had got</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has got</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 furniture, but he just said, "It’s a secret."</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④</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Mr. Boggis’ secret was simple. He went to small towns every Sunday and knocked on doors.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⑤</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He told people that he was a furniture dealer.</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⑥</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People didn’t know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how valuably</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how valuable</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their things were, so Mr. Boggis took advantage of them.</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⑦</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He was able to buy things very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cheaply</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cheap</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a:t>
            </a:r>
            <a:endParaRPr lang="en-US" altLang="ko-KR" sz="2200" b="0" dirty="0">
              <a:solidFill>
                <a:srgbClr val="1F2328"/>
              </a:solidFill>
              <a:latin typeface="Calibri"/>
              <a:ea typeface="맑은 고딕"/>
              <a:cs typeface="Calibri"/>
            </a:endParaRPr>
          </a:p>
        </p:txBody>
      </p:sp>
      <p:sp>
        <p:nvSpPr>
          <p:cNvPr id="11" name="rv_g03"/>
          <p:cNvSpPr txBox="1"/>
          <p:nvPr/>
        </p:nvSpPr>
        <p:spPr>
          <a:xfrm>
            <a:off x="457200" y="950976"/>
            <a:ext cx="11277295" cy="4832096"/>
          </a:xfrm>
          <a:prstGeom prst="rect">
            <a:avLst/>
          </a:prstGeom>
          <a:noFill/>
        </p:spPr>
        <p:txBody>
          <a:bodyPr wrap="square" lIns="228600" tIns="155448" rIns="228600" bIns="155448" anchor="t" rtlCol="0">
            <a:noAutofit/>
          </a:bodyPr>
          <a:lstStyle/>
          <a:p>
            <a:pPr algn="l">
              <a:lnSpc>
                <a:spcPts val="3560"/>
              </a:lnSpc>
              <a:spcBef>
                <a:spcPts val="0"/>
              </a:spcBef>
              <a:spcAft>
                <a:spcPts val="0"/>
              </a:spcAft>
              <a:buNone/>
            </a:pPr>
            <a:r>
              <a:rPr lang="ko-KR" altLang="en-US" sz="2200" b="1" dirty="0">
                <a:solidFill>
                  <a:srgbClr val="1E2A5A">
                    <a:alpha val="0"/>
                  </a:srgbClr>
                </a:solidFill>
                <a:latin typeface="맑은 고딕"/>
                <a:ea typeface="맑은 고딕"/>
                <a:cs typeface="맑은 고딕"/>
              </a:rPr>
              <a:t>①</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Cyril Boggis was an antique furniture dealer in London.</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②</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He was known for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buying</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to buy</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good things at a low price and then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sell</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selling</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them at a high price.</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③</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People asked him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which</a:t>
            </a:r>
            <a:r>
              <a:rPr lang="en-US" altLang="ko-KR" sz="2200" b="1" dirty="0">
                <a:solidFill>
                  <a:srgbClr val="1F2328">
                    <a:alpha val="0"/>
                  </a:srgbClr>
                </a:solidFill>
                <a:latin typeface="Calibri"/>
                <a:ea typeface="맑은 고딕"/>
                <a:cs typeface="Calibri"/>
              </a:rPr>
              <a:t> / </a:t>
            </a:r>
            <a:r>
              <a:rPr lang="en-US" altLang="ko-KR" sz="2200" b="1" dirty="0">
                <a:solidFill>
                  <a:srgbClr val="C00000"/>
                </a:solidFill>
                <a:highlight>
                  <a:srgbClr val="F3F5F9"/>
                </a:highlight>
                <a:latin typeface="Calibri"/>
                <a:ea typeface="맑은 고딕"/>
                <a:cs typeface="Calibri"/>
              </a:rPr>
              <a:t>where</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he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had got</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has got</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 furniture, but he just said, "It’s a secret."</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④</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Mr. Boggis’ secret was simple. He went to small towns every Sunday and knocked on doors.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⑤</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He told people that he was a furniture dealer.</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⑥</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People didn’t know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how valuably</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how valuable</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their things were, so Mr. Boggis took advantage of them.</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⑦</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He was able to buy things very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cheaply</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cheap</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a:t>
            </a:r>
            <a:endParaRPr lang="en-US" altLang="ko-KR" sz="2200" b="0" dirty="0">
              <a:solidFill>
                <a:srgbClr val="1F2328"/>
              </a:solidFill>
              <a:latin typeface="Calibri"/>
              <a:ea typeface="맑은 고딕"/>
              <a:cs typeface="Calibri"/>
            </a:endParaRPr>
          </a:p>
        </p:txBody>
      </p:sp>
      <p:sp>
        <p:nvSpPr>
          <p:cNvPr id="12" name="rv_g04"/>
          <p:cNvSpPr txBox="1"/>
          <p:nvPr/>
        </p:nvSpPr>
        <p:spPr>
          <a:xfrm>
            <a:off x="457200" y="950976"/>
            <a:ext cx="11277295" cy="4832096"/>
          </a:xfrm>
          <a:prstGeom prst="rect">
            <a:avLst/>
          </a:prstGeom>
          <a:noFill/>
        </p:spPr>
        <p:txBody>
          <a:bodyPr wrap="square" lIns="228600" tIns="155448" rIns="228600" bIns="155448" anchor="t" rtlCol="0">
            <a:noAutofit/>
          </a:bodyPr>
          <a:lstStyle/>
          <a:p>
            <a:pPr algn="l">
              <a:lnSpc>
                <a:spcPts val="3560"/>
              </a:lnSpc>
              <a:spcBef>
                <a:spcPts val="0"/>
              </a:spcBef>
              <a:spcAft>
                <a:spcPts val="0"/>
              </a:spcAft>
              <a:buNone/>
            </a:pPr>
            <a:r>
              <a:rPr lang="ko-KR" altLang="en-US" sz="2200" b="1" dirty="0">
                <a:solidFill>
                  <a:srgbClr val="1E2A5A">
                    <a:alpha val="0"/>
                  </a:srgbClr>
                </a:solidFill>
                <a:latin typeface="맑은 고딕"/>
                <a:ea typeface="맑은 고딕"/>
                <a:cs typeface="맑은 고딕"/>
              </a:rPr>
              <a:t>①</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Cyril Boggis was an antique furniture dealer in London.</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②</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He was known for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buying</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to buy</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good things at a low price and then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sell</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selling</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them at a high price.</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③</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People asked him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which</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where</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he </a:t>
            </a:r>
            <a:r>
              <a:rPr lang="en-US" altLang="ko-KR" sz="2200" b="1" dirty="0">
                <a:solidFill>
                  <a:srgbClr val="1F2328">
                    <a:alpha val="0"/>
                  </a:srgbClr>
                </a:solidFill>
                <a:latin typeface="Calibri"/>
                <a:ea typeface="맑은 고딕"/>
                <a:cs typeface="Calibri"/>
              </a:rPr>
              <a:t>[ </a:t>
            </a:r>
            <a:r>
              <a:rPr lang="en-US" altLang="ko-KR" sz="2200" b="1" dirty="0">
                <a:solidFill>
                  <a:srgbClr val="C00000"/>
                </a:solidFill>
                <a:highlight>
                  <a:srgbClr val="F3F5F9"/>
                </a:highlight>
                <a:latin typeface="Calibri"/>
                <a:ea typeface="맑은 고딕"/>
                <a:cs typeface="Calibri"/>
              </a:rPr>
              <a:t>had got</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has got</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 furniture, but he just said, "It’s a secret."</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④</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Mr. Boggis’ secret was simple. He went to small towns every Sunday and knocked on doors.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⑤</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He told people that he was a furniture dealer.</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⑥</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People didn’t know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how valuably</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how valuable</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their things were, so Mr. Boggis took advantage of them.</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⑦</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He was able to buy things very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cheaply</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cheap</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a:t>
            </a:r>
            <a:endParaRPr lang="en-US" altLang="ko-KR" sz="2200" b="0" dirty="0">
              <a:solidFill>
                <a:srgbClr val="1F2328"/>
              </a:solidFill>
              <a:latin typeface="Calibri"/>
              <a:ea typeface="맑은 고딕"/>
              <a:cs typeface="Calibri"/>
            </a:endParaRPr>
          </a:p>
        </p:txBody>
      </p:sp>
      <p:sp>
        <p:nvSpPr>
          <p:cNvPr id="13" name="rv_g05"/>
          <p:cNvSpPr txBox="1"/>
          <p:nvPr/>
        </p:nvSpPr>
        <p:spPr>
          <a:xfrm>
            <a:off x="457200" y="950976"/>
            <a:ext cx="11277295" cy="4832096"/>
          </a:xfrm>
          <a:prstGeom prst="rect">
            <a:avLst/>
          </a:prstGeom>
          <a:noFill/>
        </p:spPr>
        <p:txBody>
          <a:bodyPr wrap="square" lIns="228600" tIns="155448" rIns="228600" bIns="155448" anchor="t" rtlCol="0">
            <a:noAutofit/>
          </a:bodyPr>
          <a:lstStyle/>
          <a:p>
            <a:pPr algn="l">
              <a:lnSpc>
                <a:spcPts val="3560"/>
              </a:lnSpc>
              <a:spcBef>
                <a:spcPts val="0"/>
              </a:spcBef>
              <a:spcAft>
                <a:spcPts val="0"/>
              </a:spcAft>
              <a:buNone/>
            </a:pPr>
            <a:r>
              <a:rPr lang="ko-KR" altLang="en-US" sz="2200" b="1" dirty="0">
                <a:solidFill>
                  <a:srgbClr val="1E2A5A">
                    <a:alpha val="0"/>
                  </a:srgbClr>
                </a:solidFill>
                <a:latin typeface="맑은 고딕"/>
                <a:ea typeface="맑은 고딕"/>
                <a:cs typeface="맑은 고딕"/>
              </a:rPr>
              <a:t>①</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Cyril Boggis was an antique furniture dealer in London.</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②</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He was known for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buying</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to buy</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good things at a low price and then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sell</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selling</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them at a high price.</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③</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People asked him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which</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where</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he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had got</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has got</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 furniture, but he just said, "It’s a secret."</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④</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Mr. Boggis’ secret was simple. He went to small towns every Sunday and knocked on doors.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⑤</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He told people that he was a furniture dealer.</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⑥</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People didn’t know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how valuably</a:t>
            </a:r>
            <a:r>
              <a:rPr lang="en-US" altLang="ko-KR" sz="2200" b="1" dirty="0">
                <a:solidFill>
                  <a:srgbClr val="1F2328">
                    <a:alpha val="0"/>
                  </a:srgbClr>
                </a:solidFill>
                <a:latin typeface="Calibri"/>
                <a:ea typeface="맑은 고딕"/>
                <a:cs typeface="Calibri"/>
              </a:rPr>
              <a:t> / </a:t>
            </a:r>
            <a:r>
              <a:rPr lang="en-US" altLang="ko-KR" sz="2200" b="1" dirty="0">
                <a:solidFill>
                  <a:srgbClr val="C00000"/>
                </a:solidFill>
                <a:highlight>
                  <a:srgbClr val="F3F5F9"/>
                </a:highlight>
                <a:latin typeface="Calibri"/>
                <a:ea typeface="맑은 고딕"/>
                <a:cs typeface="Calibri"/>
              </a:rPr>
              <a:t>how valuable</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their things were, so Mr. Boggis took advantage of them.</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⑦</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He was able to buy things very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cheaply</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cheap</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a:t>
            </a:r>
            <a:endParaRPr lang="en-US" altLang="ko-KR" sz="2200" b="0" dirty="0">
              <a:solidFill>
                <a:srgbClr val="1F2328"/>
              </a:solidFill>
              <a:latin typeface="Calibri"/>
              <a:ea typeface="맑은 고딕"/>
              <a:cs typeface="Calibri"/>
            </a:endParaRPr>
          </a:p>
        </p:txBody>
      </p:sp>
      <p:sp>
        <p:nvSpPr>
          <p:cNvPr id="14" name="rv_g06"/>
          <p:cNvSpPr txBox="1"/>
          <p:nvPr/>
        </p:nvSpPr>
        <p:spPr>
          <a:xfrm>
            <a:off x="457200" y="950976"/>
            <a:ext cx="11277295" cy="4832096"/>
          </a:xfrm>
          <a:prstGeom prst="rect">
            <a:avLst/>
          </a:prstGeom>
          <a:noFill/>
        </p:spPr>
        <p:txBody>
          <a:bodyPr wrap="square" lIns="228600" tIns="155448" rIns="228600" bIns="155448" anchor="t" rtlCol="0">
            <a:noAutofit/>
          </a:bodyPr>
          <a:lstStyle/>
          <a:p>
            <a:pPr algn="l">
              <a:lnSpc>
                <a:spcPts val="3560"/>
              </a:lnSpc>
              <a:spcBef>
                <a:spcPts val="0"/>
              </a:spcBef>
              <a:spcAft>
                <a:spcPts val="0"/>
              </a:spcAft>
              <a:buNone/>
            </a:pPr>
            <a:r>
              <a:rPr lang="ko-KR" altLang="en-US" sz="2200" b="1" dirty="0">
                <a:solidFill>
                  <a:srgbClr val="1E2A5A">
                    <a:alpha val="0"/>
                  </a:srgbClr>
                </a:solidFill>
                <a:latin typeface="맑은 고딕"/>
                <a:ea typeface="맑은 고딕"/>
                <a:cs typeface="맑은 고딕"/>
              </a:rPr>
              <a:t>①</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Cyril Boggis was an antique furniture dealer in London.</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②</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He was known for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buying</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to buy</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good things at a low price and then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sell</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selling</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them at a high price.</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③</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People asked him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which</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where</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he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had got</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has got</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 furniture, but he just said, "It’s a secret."</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④</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Mr. Boggis’ secret was simple. He went to small towns every Sunday and knocked on doors.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⑤</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He told people that he was a furniture dealer.</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⑥</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People didn’t know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how valuably</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how valuable</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their things were, so Mr. Boggis took advantage of them.</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⑦</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He was able to buy things very </a:t>
            </a:r>
            <a:r>
              <a:rPr lang="en-US" altLang="ko-KR" sz="2200" b="1" dirty="0">
                <a:solidFill>
                  <a:srgbClr val="1F2328">
                    <a:alpha val="0"/>
                  </a:srgbClr>
                </a:solidFill>
                <a:latin typeface="Calibri"/>
                <a:ea typeface="맑은 고딕"/>
                <a:cs typeface="Calibri"/>
              </a:rPr>
              <a:t>[ </a:t>
            </a:r>
            <a:r>
              <a:rPr lang="en-US" altLang="ko-KR" sz="2200" b="1" dirty="0">
                <a:solidFill>
                  <a:srgbClr val="C00000"/>
                </a:solidFill>
                <a:highlight>
                  <a:srgbClr val="F3F5F9"/>
                </a:highlight>
                <a:latin typeface="Calibri"/>
                <a:ea typeface="맑은 고딕"/>
                <a:cs typeface="Calibri"/>
              </a:rPr>
              <a:t>cheaply</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cheap</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a:t>
            </a:r>
            <a:endParaRPr lang="en-US" altLang="ko-KR" sz="2200" b="0" dirty="0">
              <a:solidFill>
                <a:srgbClr val="1F2328"/>
              </a:solidFill>
              <a:latin typeface="Calibri"/>
              <a:ea typeface="맑은 고딕"/>
              <a:cs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25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25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25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250"/>
                                        <p:tgtEl>
                                          <p:spTgt spid="12"/>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250"/>
                                        <p:tgtEl>
                                          <p:spTgt spid="13"/>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4"/>
                                        </p:tgtEl>
                                        <p:attrNameLst>
                                          <p:attrName>style.visibility</p:attrName>
                                        </p:attrNameLst>
                                      </p:cBhvr>
                                      <p:to>
                                        <p:strVal val="visible"/>
                                      </p:to>
                                    </p:set>
                                    <p:animEffect transition="in" filter="fade">
                                      <p:cBhvr>
                                        <p:cTn id="32" dur="2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4" grpId="0" animBg="1"/>
    </p:bldLst>
  </p:timing>
</p:sld>
</file>

<file path=ppt/slides/slide9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L6-1</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3 · ②</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다음 글의 각 [  ] 안에서 문맥상 알맞은 것을 고르시오.</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6</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클릭할 때마다 괄호 속 정답이 앞에서부터 하나씩 빨간색으로 나타납니다 (총 4개)</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4379976"/>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4379976"/>
          </a:xfrm>
          <a:prstGeom prst="rect">
            <a:avLst/>
          </a:prstGeom>
          <a:noFill/>
        </p:spPr>
        <p:txBody>
          <a:bodyPr wrap="square" lIns="228600" tIns="155448" rIns="228600" bIns="155448" anchor="t" rtlCol="0">
            <a:noAutofit/>
          </a:bodyPr>
          <a:lstStyle/>
          <a:p>
            <a:pPr algn="l">
              <a:lnSpc>
                <a:spcPts val="3560"/>
              </a:lnSpc>
              <a:spcBef>
                <a:spcPts val="0"/>
              </a:spcBef>
              <a:spcAft>
                <a:spcPts val="0"/>
              </a:spcAft>
              <a:buNone/>
            </a:pPr>
            <a:r>
              <a:rPr lang="ko-KR" altLang="en-US" sz="2200" b="1" dirty="0">
                <a:solidFill>
                  <a:srgbClr val="1E2A5A"/>
                </a:solidFill>
                <a:latin typeface="맑은 고딕"/>
                <a:ea typeface="맑은 고딕"/>
                <a:cs typeface="맑은 고딕"/>
              </a:rPr>
              <a:t>①</a:t>
            </a:r>
            <a:r>
              <a:rPr lang="en-US" altLang="ko-KR" sz="2200" b="0"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Cyril Boggis was an antique furniture dealer in London.</a:t>
            </a:r>
            <a:r>
              <a:rPr lang="en-US" altLang="ko-KR" sz="2200" b="0" dirty="0">
                <a:solidFill>
                  <a:srgbClr val="1F2328"/>
                </a:solidFill>
                <a:latin typeface="Calibri"/>
                <a:ea typeface="맑은 고딕"/>
                <a:cs typeface="Calibri"/>
              </a:rPr>
              <a:t>   </a:t>
            </a:r>
            <a:r>
              <a:rPr lang="ko-KR" altLang="en-US" sz="2200" b="1" dirty="0">
                <a:solidFill>
                  <a:srgbClr val="1E2A5A"/>
                </a:solidFill>
                <a:latin typeface="맑은 고딕"/>
                <a:ea typeface="맑은 고딕"/>
                <a:cs typeface="맑은 고딕"/>
              </a:rPr>
              <a:t>②</a:t>
            </a:r>
            <a:r>
              <a:rPr lang="en-US" altLang="ko-KR" sz="2200" b="0"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He was </a:t>
            </a:r>
            <a:r>
              <a:rPr lang="en-US" altLang="ko-KR" sz="2200" b="1" dirty="0">
                <a:solidFill>
                  <a:srgbClr val="1F2328"/>
                </a:solidFill>
                <a:latin typeface="Calibri"/>
                <a:ea typeface="맑은 고딕"/>
                <a:cs typeface="Calibri"/>
              </a:rPr>
              <a:t>[ </a:t>
            </a:r>
            <a:r>
              <a:rPr lang="en-US" altLang="ko-KR" sz="2200" b="1" dirty="0">
                <a:solidFill>
                  <a:srgbClr val="1F2328"/>
                </a:solidFill>
                <a:latin typeface="Calibri"/>
                <a:ea typeface="맑은 고딕"/>
                <a:cs typeface="Calibri"/>
              </a:rPr>
              <a:t>known</a:t>
            </a:r>
            <a:r>
              <a:rPr lang="en-US" altLang="ko-KR" sz="2200" b="1" dirty="0">
                <a:solidFill>
                  <a:srgbClr val="1F2328"/>
                </a:solidFill>
                <a:latin typeface="Calibri"/>
                <a:ea typeface="맑은 고딕"/>
                <a:cs typeface="Calibri"/>
              </a:rPr>
              <a:t> / </a:t>
            </a:r>
            <a:r>
              <a:rPr lang="en-US" altLang="ko-KR" sz="2200" b="1" dirty="0">
                <a:solidFill>
                  <a:srgbClr val="1F2328"/>
                </a:solidFill>
                <a:latin typeface="Calibri"/>
                <a:ea typeface="맑은 고딕"/>
                <a:cs typeface="Calibri"/>
              </a:rPr>
              <a:t>knowing</a:t>
            </a:r>
            <a:r>
              <a:rPr lang="en-US" altLang="ko-KR" sz="2200" b="1"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 for buying good things at a low price and then selling them at a high price.</a:t>
            </a:r>
            <a:r>
              <a:rPr lang="en-US" altLang="ko-KR" sz="2200" b="0" dirty="0">
                <a:solidFill>
                  <a:srgbClr val="1F2328"/>
                </a:solidFill>
                <a:latin typeface="Calibri"/>
                <a:ea typeface="맑은 고딕"/>
                <a:cs typeface="Calibri"/>
              </a:rPr>
              <a:t>   </a:t>
            </a:r>
            <a:r>
              <a:rPr lang="ko-KR" altLang="en-US" sz="2200" b="1" dirty="0">
                <a:solidFill>
                  <a:srgbClr val="1E2A5A"/>
                </a:solidFill>
                <a:latin typeface="맑은 고딕"/>
                <a:ea typeface="맑은 고딕"/>
                <a:cs typeface="맑은 고딕"/>
              </a:rPr>
              <a:t>③</a:t>
            </a:r>
            <a:r>
              <a:rPr lang="en-US" altLang="ko-KR" sz="2200" b="0"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People asked him where he had got the furniture, but he just said, "It’s a secret."</a:t>
            </a:r>
            <a:r>
              <a:rPr lang="en-US" altLang="ko-KR" sz="2200" b="0" dirty="0">
                <a:solidFill>
                  <a:srgbClr val="1F2328"/>
                </a:solidFill>
                <a:latin typeface="Calibri"/>
                <a:ea typeface="맑은 고딕"/>
                <a:cs typeface="Calibri"/>
              </a:rPr>
              <a:t>   </a:t>
            </a:r>
            <a:r>
              <a:rPr lang="ko-KR" altLang="en-US" sz="2200" b="1" dirty="0">
                <a:solidFill>
                  <a:srgbClr val="1E2A5A"/>
                </a:solidFill>
                <a:latin typeface="맑은 고딕"/>
                <a:ea typeface="맑은 고딕"/>
                <a:cs typeface="맑은 고딕"/>
              </a:rPr>
              <a:t>④</a:t>
            </a:r>
            <a:r>
              <a:rPr lang="en-US" altLang="ko-KR" sz="2200" b="0"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Mr. Boggis’ secret was simple. He went to small towns every Sunday and </a:t>
            </a:r>
            <a:r>
              <a:rPr lang="en-US" altLang="ko-KR" sz="2200" b="1" dirty="0">
                <a:solidFill>
                  <a:srgbClr val="1F2328"/>
                </a:solidFill>
                <a:latin typeface="Calibri"/>
                <a:ea typeface="맑은 고딕"/>
                <a:cs typeface="Calibri"/>
              </a:rPr>
              <a:t>[ </a:t>
            </a:r>
            <a:r>
              <a:rPr lang="en-US" altLang="ko-KR" sz="2200" b="1" dirty="0">
                <a:solidFill>
                  <a:srgbClr val="1F2328"/>
                </a:solidFill>
                <a:latin typeface="Calibri"/>
                <a:ea typeface="맑은 고딕"/>
                <a:cs typeface="Calibri"/>
              </a:rPr>
              <a:t>knocked</a:t>
            </a:r>
            <a:r>
              <a:rPr lang="en-US" altLang="ko-KR" sz="2200" b="1" dirty="0">
                <a:solidFill>
                  <a:srgbClr val="1F2328"/>
                </a:solidFill>
                <a:latin typeface="Calibri"/>
                <a:ea typeface="맑은 고딕"/>
                <a:cs typeface="Calibri"/>
              </a:rPr>
              <a:t> / </a:t>
            </a:r>
            <a:r>
              <a:rPr lang="en-US" altLang="ko-KR" sz="2200" b="1" dirty="0">
                <a:solidFill>
                  <a:srgbClr val="1F2328"/>
                </a:solidFill>
                <a:latin typeface="Calibri"/>
                <a:ea typeface="맑은 고딕"/>
                <a:cs typeface="Calibri"/>
              </a:rPr>
              <a:t>knocking</a:t>
            </a:r>
            <a:r>
              <a:rPr lang="en-US" altLang="ko-KR" sz="2200" b="1"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 on doors.</a:t>
            </a:r>
            <a:r>
              <a:rPr lang="en-US" altLang="ko-KR" sz="2200" b="0" dirty="0">
                <a:solidFill>
                  <a:srgbClr val="1F2328"/>
                </a:solidFill>
                <a:latin typeface="Calibri"/>
                <a:ea typeface="맑은 고딕"/>
                <a:cs typeface="Calibri"/>
              </a:rPr>
              <a:t>   </a:t>
            </a:r>
            <a:r>
              <a:rPr lang="ko-KR" altLang="en-US" sz="2200" b="1" dirty="0">
                <a:solidFill>
                  <a:srgbClr val="1E2A5A"/>
                </a:solidFill>
                <a:latin typeface="맑은 고딕"/>
                <a:ea typeface="맑은 고딕"/>
                <a:cs typeface="맑은 고딕"/>
              </a:rPr>
              <a:t>⑤</a:t>
            </a:r>
            <a:r>
              <a:rPr lang="en-US" altLang="ko-KR" sz="2200" b="0"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He told people </a:t>
            </a:r>
            <a:r>
              <a:rPr lang="en-US" altLang="ko-KR" sz="2200" b="1" dirty="0">
                <a:solidFill>
                  <a:srgbClr val="1F2328"/>
                </a:solidFill>
                <a:latin typeface="Calibri"/>
                <a:ea typeface="맑은 고딕"/>
                <a:cs typeface="Calibri"/>
              </a:rPr>
              <a:t>[ </a:t>
            </a:r>
            <a:r>
              <a:rPr lang="en-US" altLang="ko-KR" sz="2200" b="1" dirty="0">
                <a:solidFill>
                  <a:srgbClr val="1F2328"/>
                </a:solidFill>
                <a:latin typeface="Calibri"/>
                <a:ea typeface="맑은 고딕"/>
                <a:cs typeface="Calibri"/>
              </a:rPr>
              <a:t>that</a:t>
            </a:r>
            <a:r>
              <a:rPr lang="en-US" altLang="ko-KR" sz="2200" b="1" dirty="0">
                <a:solidFill>
                  <a:srgbClr val="1F2328"/>
                </a:solidFill>
                <a:latin typeface="Calibri"/>
                <a:ea typeface="맑은 고딕"/>
                <a:cs typeface="Calibri"/>
              </a:rPr>
              <a:t> / </a:t>
            </a:r>
            <a:r>
              <a:rPr lang="en-US" altLang="ko-KR" sz="2200" b="1" dirty="0">
                <a:solidFill>
                  <a:srgbClr val="1F2328"/>
                </a:solidFill>
                <a:latin typeface="Calibri"/>
                <a:ea typeface="맑은 고딕"/>
                <a:cs typeface="Calibri"/>
              </a:rPr>
              <a:t>what</a:t>
            </a:r>
            <a:r>
              <a:rPr lang="en-US" altLang="ko-KR" sz="2200" b="1"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 he was a furniture dealer.</a:t>
            </a:r>
            <a:r>
              <a:rPr lang="en-US" altLang="ko-KR" sz="2200" b="0" dirty="0">
                <a:solidFill>
                  <a:srgbClr val="1F2328"/>
                </a:solidFill>
                <a:latin typeface="Calibri"/>
                <a:ea typeface="맑은 고딕"/>
                <a:cs typeface="Calibri"/>
              </a:rPr>
              <a:t>   </a:t>
            </a:r>
            <a:r>
              <a:rPr lang="ko-KR" altLang="en-US" sz="2200" b="1" dirty="0">
                <a:solidFill>
                  <a:srgbClr val="1E2A5A"/>
                </a:solidFill>
                <a:latin typeface="맑은 고딕"/>
                <a:ea typeface="맑은 고딕"/>
                <a:cs typeface="맑은 고딕"/>
              </a:rPr>
              <a:t>⑥</a:t>
            </a:r>
            <a:r>
              <a:rPr lang="en-US" altLang="ko-KR" sz="2200" b="0"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People didn’t know how valuable their things were, so Mr. Boggis took advantage of them.</a:t>
            </a:r>
            <a:r>
              <a:rPr lang="en-US" altLang="ko-KR" sz="2200" b="0" dirty="0">
                <a:solidFill>
                  <a:srgbClr val="1F2328"/>
                </a:solidFill>
                <a:latin typeface="Calibri"/>
                <a:ea typeface="맑은 고딕"/>
                <a:cs typeface="Calibri"/>
              </a:rPr>
              <a:t>   </a:t>
            </a:r>
            <a:r>
              <a:rPr lang="ko-KR" altLang="en-US" sz="2200" b="1" dirty="0">
                <a:solidFill>
                  <a:srgbClr val="1E2A5A"/>
                </a:solidFill>
                <a:latin typeface="맑은 고딕"/>
                <a:ea typeface="맑은 고딕"/>
                <a:cs typeface="맑은 고딕"/>
              </a:rPr>
              <a:t>⑦</a:t>
            </a:r>
            <a:r>
              <a:rPr lang="en-US" altLang="ko-KR" sz="2200" b="0"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He was able </a:t>
            </a:r>
            <a:r>
              <a:rPr lang="en-US" altLang="ko-KR" sz="2200" b="1" dirty="0">
                <a:solidFill>
                  <a:srgbClr val="1F2328"/>
                </a:solidFill>
                <a:latin typeface="Calibri"/>
                <a:ea typeface="맑은 고딕"/>
                <a:cs typeface="Calibri"/>
              </a:rPr>
              <a:t>[ </a:t>
            </a:r>
            <a:r>
              <a:rPr lang="en-US" altLang="ko-KR" sz="2200" b="1" dirty="0">
                <a:solidFill>
                  <a:srgbClr val="1F2328"/>
                </a:solidFill>
                <a:latin typeface="Calibri"/>
                <a:ea typeface="맑은 고딕"/>
                <a:cs typeface="Calibri"/>
              </a:rPr>
              <a:t>to buy</a:t>
            </a:r>
            <a:r>
              <a:rPr lang="en-US" altLang="ko-KR" sz="2200" b="1" dirty="0">
                <a:solidFill>
                  <a:srgbClr val="1F2328"/>
                </a:solidFill>
                <a:latin typeface="Calibri"/>
                <a:ea typeface="맑은 고딕"/>
                <a:cs typeface="Calibri"/>
              </a:rPr>
              <a:t> / </a:t>
            </a:r>
            <a:r>
              <a:rPr lang="en-US" altLang="ko-KR" sz="2200" b="1" dirty="0">
                <a:solidFill>
                  <a:srgbClr val="1F2328"/>
                </a:solidFill>
                <a:latin typeface="Calibri"/>
                <a:ea typeface="맑은 고딕"/>
                <a:cs typeface="Calibri"/>
              </a:rPr>
              <a:t>buying</a:t>
            </a:r>
            <a:r>
              <a:rPr lang="en-US" altLang="ko-KR" sz="2200" b="1"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 things very cheaply.</a:t>
            </a:r>
            <a:endParaRPr lang="en-US" altLang="ko-KR" sz="2200" b="0" dirty="0">
              <a:solidFill>
                <a:srgbClr val="1F2328"/>
              </a:solidFill>
              <a:latin typeface="Calibri"/>
              <a:ea typeface="맑은 고딕"/>
              <a:cs typeface="Calibri"/>
            </a:endParaRPr>
          </a:p>
        </p:txBody>
      </p:sp>
      <p:sp>
        <p:nvSpPr>
          <p:cNvPr id="9" name="rv_g01"/>
          <p:cNvSpPr txBox="1"/>
          <p:nvPr/>
        </p:nvSpPr>
        <p:spPr>
          <a:xfrm>
            <a:off x="457200" y="950976"/>
            <a:ext cx="11277295" cy="4379976"/>
          </a:xfrm>
          <a:prstGeom prst="rect">
            <a:avLst/>
          </a:prstGeom>
          <a:noFill/>
        </p:spPr>
        <p:txBody>
          <a:bodyPr wrap="square" lIns="228600" tIns="155448" rIns="228600" bIns="155448" anchor="t" rtlCol="0">
            <a:noAutofit/>
          </a:bodyPr>
          <a:lstStyle/>
          <a:p>
            <a:pPr algn="l">
              <a:lnSpc>
                <a:spcPts val="3560"/>
              </a:lnSpc>
              <a:spcBef>
                <a:spcPts val="0"/>
              </a:spcBef>
              <a:spcAft>
                <a:spcPts val="0"/>
              </a:spcAft>
              <a:buNone/>
            </a:pPr>
            <a:r>
              <a:rPr lang="ko-KR" altLang="en-US" sz="2200" b="1" dirty="0">
                <a:solidFill>
                  <a:srgbClr val="1E2A5A">
                    <a:alpha val="0"/>
                  </a:srgbClr>
                </a:solidFill>
                <a:latin typeface="맑은 고딕"/>
                <a:ea typeface="맑은 고딕"/>
                <a:cs typeface="맑은 고딕"/>
              </a:rPr>
              <a:t>①</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Cyril Boggis was an antique furniture dealer in London.</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②</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He was </a:t>
            </a:r>
            <a:r>
              <a:rPr lang="en-US" altLang="ko-KR" sz="2200" b="1" dirty="0">
                <a:solidFill>
                  <a:srgbClr val="1F2328">
                    <a:alpha val="0"/>
                  </a:srgbClr>
                </a:solidFill>
                <a:latin typeface="Calibri"/>
                <a:ea typeface="맑은 고딕"/>
                <a:cs typeface="Calibri"/>
              </a:rPr>
              <a:t>[ </a:t>
            </a:r>
            <a:r>
              <a:rPr lang="en-US" altLang="ko-KR" sz="2200" b="1" dirty="0">
                <a:solidFill>
                  <a:srgbClr val="C00000"/>
                </a:solidFill>
                <a:highlight>
                  <a:srgbClr val="F3F5F9"/>
                </a:highlight>
                <a:latin typeface="Calibri"/>
                <a:ea typeface="맑은 고딕"/>
                <a:cs typeface="Calibri"/>
              </a:rPr>
              <a:t>known</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knowing</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for buying good things at a low price and then selling them at a high price.</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③</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People asked him where he had got the furniture, but he just said, "It’s a secret."</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④</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Mr. Boggis’ secret was simple. He went to small towns every Sunday and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knocked</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knocking</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on doors.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⑤</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He told people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that</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what</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he was a furniture dealer.</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⑥</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People didn’t know how valuable their things were, so Mr. Boggis took advantage of them.</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⑦</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He was able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to buy</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buying</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things very cheaply.</a:t>
            </a:r>
            <a:endParaRPr lang="en-US" altLang="ko-KR" sz="2200" b="0" dirty="0">
              <a:solidFill>
                <a:srgbClr val="1F2328"/>
              </a:solidFill>
              <a:latin typeface="Calibri"/>
              <a:ea typeface="맑은 고딕"/>
              <a:cs typeface="Calibri"/>
            </a:endParaRPr>
          </a:p>
        </p:txBody>
      </p:sp>
      <p:sp>
        <p:nvSpPr>
          <p:cNvPr id="10" name="rv_g02"/>
          <p:cNvSpPr txBox="1"/>
          <p:nvPr/>
        </p:nvSpPr>
        <p:spPr>
          <a:xfrm>
            <a:off x="457200" y="950976"/>
            <a:ext cx="11277295" cy="4379976"/>
          </a:xfrm>
          <a:prstGeom prst="rect">
            <a:avLst/>
          </a:prstGeom>
          <a:noFill/>
        </p:spPr>
        <p:txBody>
          <a:bodyPr wrap="square" lIns="228600" tIns="155448" rIns="228600" bIns="155448" anchor="t" rtlCol="0">
            <a:noAutofit/>
          </a:bodyPr>
          <a:lstStyle/>
          <a:p>
            <a:pPr algn="l">
              <a:lnSpc>
                <a:spcPts val="3560"/>
              </a:lnSpc>
              <a:spcBef>
                <a:spcPts val="0"/>
              </a:spcBef>
              <a:spcAft>
                <a:spcPts val="0"/>
              </a:spcAft>
              <a:buNone/>
            </a:pPr>
            <a:r>
              <a:rPr lang="ko-KR" altLang="en-US" sz="2200" b="1" dirty="0">
                <a:solidFill>
                  <a:srgbClr val="1E2A5A">
                    <a:alpha val="0"/>
                  </a:srgbClr>
                </a:solidFill>
                <a:latin typeface="맑은 고딕"/>
                <a:ea typeface="맑은 고딕"/>
                <a:cs typeface="맑은 고딕"/>
              </a:rPr>
              <a:t>①</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Cyril Boggis was an antique furniture dealer in London.</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②</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He was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known</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knowing</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for buying good things at a low price and then selling them at a high price.</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③</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People asked him where he had got the furniture, but he just said, "It’s a secret."</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④</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Mr. Boggis’ secret was simple. He went to small towns every Sunday and </a:t>
            </a:r>
            <a:r>
              <a:rPr lang="en-US" altLang="ko-KR" sz="2200" b="1" dirty="0">
                <a:solidFill>
                  <a:srgbClr val="1F2328">
                    <a:alpha val="0"/>
                  </a:srgbClr>
                </a:solidFill>
                <a:latin typeface="Calibri"/>
                <a:ea typeface="맑은 고딕"/>
                <a:cs typeface="Calibri"/>
              </a:rPr>
              <a:t>[ </a:t>
            </a:r>
            <a:r>
              <a:rPr lang="en-US" altLang="ko-KR" sz="2200" b="1" dirty="0">
                <a:solidFill>
                  <a:srgbClr val="C00000"/>
                </a:solidFill>
                <a:highlight>
                  <a:srgbClr val="F3F5F9"/>
                </a:highlight>
                <a:latin typeface="Calibri"/>
                <a:ea typeface="맑은 고딕"/>
                <a:cs typeface="Calibri"/>
              </a:rPr>
              <a:t>knocked</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knocking</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on doors.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⑤</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He told people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that</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what</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he was a furniture dealer.</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⑥</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People didn’t know how valuable their things were, so Mr. Boggis took advantage of them.</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⑦</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He was able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to buy</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buying</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things very cheaply.</a:t>
            </a:r>
            <a:endParaRPr lang="en-US" altLang="ko-KR" sz="2200" b="0" dirty="0">
              <a:solidFill>
                <a:srgbClr val="1F2328"/>
              </a:solidFill>
              <a:latin typeface="Calibri"/>
              <a:ea typeface="맑은 고딕"/>
              <a:cs typeface="Calibri"/>
            </a:endParaRPr>
          </a:p>
        </p:txBody>
      </p:sp>
      <p:sp>
        <p:nvSpPr>
          <p:cNvPr id="11" name="rv_g03"/>
          <p:cNvSpPr txBox="1"/>
          <p:nvPr/>
        </p:nvSpPr>
        <p:spPr>
          <a:xfrm>
            <a:off x="457200" y="950976"/>
            <a:ext cx="11277295" cy="4379976"/>
          </a:xfrm>
          <a:prstGeom prst="rect">
            <a:avLst/>
          </a:prstGeom>
          <a:noFill/>
        </p:spPr>
        <p:txBody>
          <a:bodyPr wrap="square" lIns="228600" tIns="155448" rIns="228600" bIns="155448" anchor="t" rtlCol="0">
            <a:noAutofit/>
          </a:bodyPr>
          <a:lstStyle/>
          <a:p>
            <a:pPr algn="l">
              <a:lnSpc>
                <a:spcPts val="3560"/>
              </a:lnSpc>
              <a:spcBef>
                <a:spcPts val="0"/>
              </a:spcBef>
              <a:spcAft>
                <a:spcPts val="0"/>
              </a:spcAft>
              <a:buNone/>
            </a:pPr>
            <a:r>
              <a:rPr lang="ko-KR" altLang="en-US" sz="2200" b="1" dirty="0">
                <a:solidFill>
                  <a:srgbClr val="1E2A5A">
                    <a:alpha val="0"/>
                  </a:srgbClr>
                </a:solidFill>
                <a:latin typeface="맑은 고딕"/>
                <a:ea typeface="맑은 고딕"/>
                <a:cs typeface="맑은 고딕"/>
              </a:rPr>
              <a:t>①</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Cyril Boggis was an antique furniture dealer in London.</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②</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He was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known</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knowing</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for buying good things at a low price and then selling them at a high price.</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③</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People asked him where he had got the furniture, but he just said, "It’s a secret."</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④</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Mr. Boggis’ secret was simple. He went to small towns every Sunday and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knocked</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knocking</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on doors.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⑤</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He told people </a:t>
            </a:r>
            <a:r>
              <a:rPr lang="en-US" altLang="ko-KR" sz="2200" b="1" dirty="0">
                <a:solidFill>
                  <a:srgbClr val="1F2328">
                    <a:alpha val="0"/>
                  </a:srgbClr>
                </a:solidFill>
                <a:latin typeface="Calibri"/>
                <a:ea typeface="맑은 고딕"/>
                <a:cs typeface="Calibri"/>
              </a:rPr>
              <a:t>[ </a:t>
            </a:r>
            <a:r>
              <a:rPr lang="en-US" altLang="ko-KR" sz="2200" b="1" dirty="0">
                <a:solidFill>
                  <a:srgbClr val="C00000"/>
                </a:solidFill>
                <a:highlight>
                  <a:srgbClr val="F3F5F9"/>
                </a:highlight>
                <a:latin typeface="Calibri"/>
                <a:ea typeface="맑은 고딕"/>
                <a:cs typeface="Calibri"/>
              </a:rPr>
              <a:t>that</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what</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he was a furniture dealer.</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⑥</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People didn’t know how valuable their things were, so Mr. Boggis took advantage of them.</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⑦</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He was able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to buy</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buying</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things very cheaply.</a:t>
            </a:r>
            <a:endParaRPr lang="en-US" altLang="ko-KR" sz="2200" b="0" dirty="0">
              <a:solidFill>
                <a:srgbClr val="1F2328"/>
              </a:solidFill>
              <a:latin typeface="Calibri"/>
              <a:ea typeface="맑은 고딕"/>
              <a:cs typeface="Calibri"/>
            </a:endParaRPr>
          </a:p>
        </p:txBody>
      </p:sp>
      <p:sp>
        <p:nvSpPr>
          <p:cNvPr id="12" name="rv_g04"/>
          <p:cNvSpPr txBox="1"/>
          <p:nvPr/>
        </p:nvSpPr>
        <p:spPr>
          <a:xfrm>
            <a:off x="457200" y="950976"/>
            <a:ext cx="11277295" cy="4379976"/>
          </a:xfrm>
          <a:prstGeom prst="rect">
            <a:avLst/>
          </a:prstGeom>
          <a:noFill/>
        </p:spPr>
        <p:txBody>
          <a:bodyPr wrap="square" lIns="228600" tIns="155448" rIns="228600" bIns="155448" anchor="t" rtlCol="0">
            <a:noAutofit/>
          </a:bodyPr>
          <a:lstStyle/>
          <a:p>
            <a:pPr algn="l">
              <a:lnSpc>
                <a:spcPts val="3560"/>
              </a:lnSpc>
              <a:spcBef>
                <a:spcPts val="0"/>
              </a:spcBef>
              <a:spcAft>
                <a:spcPts val="0"/>
              </a:spcAft>
              <a:buNone/>
            </a:pPr>
            <a:r>
              <a:rPr lang="ko-KR" altLang="en-US" sz="2200" b="1" dirty="0">
                <a:solidFill>
                  <a:srgbClr val="1E2A5A">
                    <a:alpha val="0"/>
                  </a:srgbClr>
                </a:solidFill>
                <a:latin typeface="맑은 고딕"/>
                <a:ea typeface="맑은 고딕"/>
                <a:cs typeface="맑은 고딕"/>
              </a:rPr>
              <a:t>①</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Cyril Boggis was an antique furniture dealer in London.</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②</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He was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known</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knowing</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for buying good things at a low price and then selling them at a high price.</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③</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People asked him where he had got the furniture, but he just said, "It’s a secret."</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④</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Mr. Boggis’ secret was simple. He went to small towns every Sunday and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knocked</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knocking</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on doors.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⑤</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He told people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that</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what</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he was a furniture dealer.</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⑥</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People didn’t know how valuable their things were, so Mr. Boggis took advantage of them.</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⑦</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He was able </a:t>
            </a:r>
            <a:r>
              <a:rPr lang="en-US" altLang="ko-KR" sz="2200" b="1" dirty="0">
                <a:solidFill>
                  <a:srgbClr val="1F2328">
                    <a:alpha val="0"/>
                  </a:srgbClr>
                </a:solidFill>
                <a:latin typeface="Calibri"/>
                <a:ea typeface="맑은 고딕"/>
                <a:cs typeface="Calibri"/>
              </a:rPr>
              <a:t>[ </a:t>
            </a:r>
            <a:r>
              <a:rPr lang="en-US" altLang="ko-KR" sz="2200" b="1" dirty="0">
                <a:solidFill>
                  <a:srgbClr val="C00000"/>
                </a:solidFill>
                <a:highlight>
                  <a:srgbClr val="F3F5F9"/>
                </a:highlight>
                <a:latin typeface="Calibri"/>
                <a:ea typeface="맑은 고딕"/>
                <a:cs typeface="Calibri"/>
              </a:rPr>
              <a:t>to buy</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buying</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things very cheaply.</a:t>
            </a:r>
            <a:endParaRPr lang="en-US" altLang="ko-KR" sz="2200" b="0" dirty="0">
              <a:solidFill>
                <a:srgbClr val="1F2328"/>
              </a:solidFill>
              <a:latin typeface="Calibri"/>
              <a:ea typeface="맑은 고딕"/>
              <a:cs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25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25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25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25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Lst>
  </p:timing>
</p:sld>
</file>

<file path=ppt/slides/slide9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L6-2</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1 · 1</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1. 다음 글의 주제로 가장 적절한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6</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본문 근거 형광 + 정답 원리</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200787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2007870"/>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1F2328"/>
                </a:solidFill>
                <a:latin typeface="Calibri"/>
                <a:ea typeface="맑은 고딕"/>
                <a:cs typeface="Calibri"/>
              </a:rPr>
              <a:t>Now it was another Sunday, and Mr. Boggis was in a small town again. At a house he visited, he met two men. One was Rummins, the owner, and the other was his son Bert. "I buy old furniture. Do you have any?" asked Mr. Boggis. "No, I don’t," said Rummins. "Can I just take a look?" asked Mr. Boggis. "Sure. Please come in," said Rummins. Mr. Boggis first went to the kitchen, and there was nothing. He then moved to the living room. And there it was! </a:t>
            </a:r>
            <a:r>
              <a:rPr lang="en-US" altLang="ko-KR" sz="1500" b="0" dirty="0">
                <a:solidFill>
                  <a:srgbClr val="1F2328"/>
                </a:solidFill>
                <a:latin typeface="Calibri"/>
                <a:ea typeface="맑은 고딕"/>
                <a:cs typeface="Calibri"/>
              </a:rPr>
              <a:t>A table which was a priceless piece of eighteenth‑century English furniture.</a:t>
            </a:r>
            <a:r>
              <a:rPr lang="en-US" altLang="ko-KR" sz="1500" b="0" dirty="0">
                <a:solidFill>
                  <a:srgbClr val="1F2328"/>
                </a:solidFill>
                <a:latin typeface="Calibri"/>
                <a:ea typeface="맑은 고딕"/>
                <a:cs typeface="Calibri"/>
              </a:rPr>
              <a:t> He was so excited that he almost fell over. "What’s wrong?" Bert asked. "Oh, nothing. Nothing at all," Mr. Boggis lied. He then said with a straight face, "</a:t>
            </a:r>
            <a:r>
              <a:rPr lang="en-US" altLang="ko-KR" sz="1500" b="0" dirty="0">
                <a:solidFill>
                  <a:srgbClr val="1F2328"/>
                </a:solidFill>
                <a:latin typeface="Calibri"/>
                <a:ea typeface="맑은 고딕"/>
                <a:cs typeface="Calibri"/>
              </a:rPr>
              <a:t>This table is a reproduction</a:t>
            </a:r>
            <a:r>
              <a:rPr lang="en-US" altLang="ko-KR" sz="1500" b="0" dirty="0">
                <a:solidFill>
                  <a:srgbClr val="1F2328"/>
                </a:solidFill>
                <a:latin typeface="Calibri"/>
                <a:ea typeface="맑은 고딕"/>
                <a:cs typeface="Calibri"/>
              </a:rPr>
              <a:t>. It’s worth only a few pounds."</a:t>
            </a:r>
            <a:endParaRPr lang="en-US" altLang="ko-KR" sz="1500" b="0" dirty="0">
              <a:solidFill>
                <a:srgbClr val="1F2328"/>
              </a:solidFill>
              <a:latin typeface="Calibri"/>
              <a:ea typeface="맑은 고딕"/>
              <a:cs typeface="Calibri"/>
            </a:endParaRPr>
          </a:p>
        </p:txBody>
      </p:sp>
      <p:sp>
        <p:nvSpPr>
          <p:cNvPr id="9" name="rv_evidence_card"/>
          <p:cNvSpPr/>
          <p:nvPr/>
        </p:nvSpPr>
        <p:spPr>
          <a:xfrm>
            <a:off x="457200" y="950976"/>
            <a:ext cx="11277295" cy="200787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rv_evidence"/>
          <p:cNvSpPr txBox="1"/>
          <p:nvPr/>
        </p:nvSpPr>
        <p:spPr>
          <a:xfrm>
            <a:off x="457200" y="950976"/>
            <a:ext cx="11277295" cy="2007870"/>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B3BAC6"/>
                </a:solidFill>
                <a:latin typeface="Calibri"/>
                <a:ea typeface="맑은 고딕"/>
                <a:cs typeface="Calibri"/>
              </a:rPr>
              <a:t>Now it was another Sunday, and Mr. Boggis was in a small town again. At a house he visited, he met two men. One was Rummins, the owner, and the other was his son Bert. "I buy old furniture. Do you have any?" asked Mr. Boggis. "No, I don’t," said Rummins. "Can I just take a look?" asked Mr. Boggis. "Sure. Please come in," said Rummins. Mr. Boggis first went to the kitchen, and there was nothing. He then moved to the living room. And there it was! </a:t>
            </a:r>
            <a:r>
              <a:rPr lang="en-US" altLang="ko-KR" sz="1500" b="0" dirty="0">
                <a:solidFill>
                  <a:srgbClr val="111111"/>
                </a:solidFill>
                <a:highlight>
                  <a:srgbClr val="FFE45C"/>
                </a:highlight>
                <a:latin typeface="Calibri"/>
                <a:ea typeface="맑은 고딕"/>
                <a:cs typeface="Calibri"/>
              </a:rPr>
              <a:t>A table which was a priceless piece of eighteenth‑century English furniture.</a:t>
            </a:r>
            <a:r>
              <a:rPr lang="en-US" altLang="ko-KR" sz="1500" b="0" dirty="0">
                <a:solidFill>
                  <a:srgbClr val="B3BAC6"/>
                </a:solidFill>
                <a:latin typeface="Calibri"/>
                <a:ea typeface="맑은 고딕"/>
                <a:cs typeface="Calibri"/>
              </a:rPr>
              <a:t> He was so excited that he almost fell over. "What’s wrong?" Bert asked. "Oh, nothing. Nothing at all," Mr. Boggis lied. He then said with a straight face, "</a:t>
            </a:r>
            <a:r>
              <a:rPr lang="en-US" altLang="ko-KR" sz="1500" b="0" dirty="0">
                <a:solidFill>
                  <a:srgbClr val="111111"/>
                </a:solidFill>
                <a:highlight>
                  <a:srgbClr val="FFE45C"/>
                </a:highlight>
                <a:latin typeface="Calibri"/>
                <a:ea typeface="맑은 고딕"/>
                <a:cs typeface="Calibri"/>
              </a:rPr>
              <a:t>This table is a reproduction</a:t>
            </a:r>
            <a:r>
              <a:rPr lang="en-US" altLang="ko-KR" sz="1500" b="0" dirty="0">
                <a:solidFill>
                  <a:srgbClr val="B3BAC6"/>
                </a:solidFill>
                <a:latin typeface="Calibri"/>
                <a:ea typeface="맑은 고딕"/>
                <a:cs typeface="Calibri"/>
              </a:rPr>
              <a:t>. It’s worth only a few pounds."</a:t>
            </a:r>
            <a:endParaRPr lang="en-US" altLang="ko-KR" sz="1500" b="0" dirty="0">
              <a:solidFill>
                <a:srgbClr val="B3BAC6"/>
              </a:solidFill>
              <a:latin typeface="Calibri"/>
              <a:ea typeface="맑은 고딕"/>
              <a:cs typeface="Calibri"/>
            </a:endParaRPr>
          </a:p>
        </p:txBody>
      </p:sp>
      <p:sp>
        <p:nvSpPr>
          <p:cNvPr id="11" name="choice_1"/>
          <p:cNvSpPr txBox="1"/>
          <p:nvPr/>
        </p:nvSpPr>
        <p:spPr>
          <a:xfrm>
            <a:off x="457200" y="3105150"/>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①</a:t>
            </a:r>
            <a:r>
              <a:rPr lang="en-US" altLang="ko-KR" sz="1800" b="0" dirty="0">
                <a:solidFill>
                  <a:srgbClr val="1F2328"/>
                </a:solidFill>
                <a:latin typeface="Calibri"/>
                <a:ea typeface="맑은 고딕"/>
                <a:cs typeface="Calibri"/>
              </a:rPr>
              <a:t>	a family selling old furniture to a stranger</a:t>
            </a:r>
            <a:endParaRPr lang="en-US" altLang="ko-KR" sz="1800" b="0" dirty="0">
              <a:solidFill>
                <a:srgbClr val="1F2328"/>
              </a:solidFill>
              <a:latin typeface="Calibri"/>
              <a:ea typeface="맑은 고딕"/>
              <a:cs typeface="Calibri"/>
            </a:endParaRPr>
          </a:p>
        </p:txBody>
      </p:sp>
      <p:sp>
        <p:nvSpPr>
          <p:cNvPr id="12" name="choice_2"/>
          <p:cNvSpPr txBox="1"/>
          <p:nvPr/>
        </p:nvSpPr>
        <p:spPr>
          <a:xfrm>
            <a:off x="457200" y="3512566"/>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②</a:t>
            </a:r>
            <a:r>
              <a:rPr lang="en-US" altLang="ko-KR" sz="1800" b="0" dirty="0">
                <a:solidFill>
                  <a:srgbClr val="1F2328"/>
                </a:solidFill>
                <a:latin typeface="Calibri"/>
                <a:ea typeface="맑은 고딕"/>
                <a:cs typeface="Calibri"/>
              </a:rPr>
              <a:t>	a dealer finding a valuable table and lying</a:t>
            </a:r>
            <a:endParaRPr lang="en-US" altLang="ko-KR" sz="1800" b="0" dirty="0">
              <a:solidFill>
                <a:srgbClr val="1F2328"/>
              </a:solidFill>
              <a:latin typeface="Calibri"/>
              <a:ea typeface="맑은 고딕"/>
              <a:cs typeface="Calibri"/>
            </a:endParaRPr>
          </a:p>
        </p:txBody>
      </p:sp>
      <p:sp>
        <p:nvSpPr>
          <p:cNvPr id="13" name="rv_pick"/>
          <p:cNvSpPr txBox="1"/>
          <p:nvPr/>
        </p:nvSpPr>
        <p:spPr>
          <a:xfrm>
            <a:off x="457200" y="3512566"/>
            <a:ext cx="11277295" cy="379984"/>
          </a:xfrm>
          <a:prstGeom prst="rect">
            <a:avLst/>
          </a:prstGeom>
          <a:solidFill>
            <a:srgbClr val="FFF3C4"/>
          </a:solid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C00000"/>
                </a:solidFill>
                <a:latin typeface="맑은 고딕"/>
                <a:ea typeface="맑은 고딕"/>
                <a:cs typeface="맑은 고딕"/>
              </a:rPr>
              <a:t>②</a:t>
            </a:r>
            <a:r>
              <a:rPr lang="en-US" altLang="ko-KR" sz="1800" b="0" dirty="0">
                <a:solidFill>
                  <a:srgbClr val="C00000"/>
                </a:solidFill>
                <a:latin typeface="Calibri"/>
                <a:ea typeface="맑은 고딕"/>
                <a:cs typeface="Calibri"/>
              </a:rPr>
              <a:t>	a dealer finding a valuable table and lying</a:t>
            </a:r>
            <a:endParaRPr lang="en-US" altLang="ko-KR" sz="1800" b="0" dirty="0">
              <a:solidFill>
                <a:srgbClr val="C00000"/>
              </a:solidFill>
              <a:latin typeface="Calibri"/>
              <a:ea typeface="맑은 고딕"/>
              <a:cs typeface="Calibri"/>
            </a:endParaRPr>
          </a:p>
        </p:txBody>
      </p:sp>
      <p:sp>
        <p:nvSpPr>
          <p:cNvPr id="14" name="choice_3"/>
          <p:cNvSpPr txBox="1"/>
          <p:nvPr/>
        </p:nvSpPr>
        <p:spPr>
          <a:xfrm>
            <a:off x="457200" y="3919982"/>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③</a:t>
            </a:r>
            <a:r>
              <a:rPr lang="en-US" altLang="ko-KR" sz="1800" b="0" dirty="0">
                <a:solidFill>
                  <a:srgbClr val="1F2328"/>
                </a:solidFill>
                <a:latin typeface="Calibri"/>
                <a:ea typeface="맑은 고딕"/>
                <a:cs typeface="Calibri"/>
              </a:rPr>
              <a:t>	a man learning to make antique tables</a:t>
            </a:r>
            <a:endParaRPr lang="en-US" altLang="ko-KR" sz="1800" b="0" dirty="0">
              <a:solidFill>
                <a:srgbClr val="1F2328"/>
              </a:solidFill>
              <a:latin typeface="Calibri"/>
              <a:ea typeface="맑은 고딕"/>
              <a:cs typeface="Calibri"/>
            </a:endParaRPr>
          </a:p>
        </p:txBody>
      </p:sp>
      <p:sp>
        <p:nvSpPr>
          <p:cNvPr id="15" name="choice_4"/>
          <p:cNvSpPr txBox="1"/>
          <p:nvPr/>
        </p:nvSpPr>
        <p:spPr>
          <a:xfrm>
            <a:off x="457200" y="4327398"/>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④</a:t>
            </a:r>
            <a:r>
              <a:rPr lang="en-US" altLang="ko-KR" sz="1800" b="0" dirty="0">
                <a:solidFill>
                  <a:srgbClr val="1F2328"/>
                </a:solidFill>
                <a:latin typeface="Calibri"/>
                <a:ea typeface="맑은 고딕"/>
                <a:cs typeface="Calibri"/>
              </a:rPr>
              <a:t>	two men fixing a broken kitchen table</a:t>
            </a:r>
            <a:endParaRPr lang="en-US" altLang="ko-KR" sz="1800" b="0" dirty="0">
              <a:solidFill>
                <a:srgbClr val="1F2328"/>
              </a:solidFill>
              <a:latin typeface="Calibri"/>
              <a:ea typeface="맑은 고딕"/>
              <a:cs typeface="Calibri"/>
            </a:endParaRPr>
          </a:p>
        </p:txBody>
      </p:sp>
      <p:sp>
        <p:nvSpPr>
          <p:cNvPr id="16" name="choice_5"/>
          <p:cNvSpPr txBox="1"/>
          <p:nvPr/>
        </p:nvSpPr>
        <p:spPr>
          <a:xfrm>
            <a:off x="457200" y="4734814"/>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⑤</a:t>
            </a:r>
            <a:r>
              <a:rPr lang="en-US" altLang="ko-KR" sz="1800" b="0" dirty="0">
                <a:solidFill>
                  <a:srgbClr val="1F2328"/>
                </a:solidFill>
                <a:latin typeface="Calibri"/>
                <a:ea typeface="맑은 고딕"/>
                <a:cs typeface="Calibri"/>
              </a:rPr>
              <a:t>	a dealer buying a cheap copy of a table</a:t>
            </a:r>
            <a:endParaRPr lang="en-US" altLang="ko-KR" sz="1800" b="0" dirty="0">
              <a:solidFill>
                <a:srgbClr val="1F2328"/>
              </a:solidFill>
              <a:latin typeface="Calibri"/>
              <a:ea typeface="맑은 고딕"/>
              <a:cs typeface="Calibri"/>
            </a:endParaRPr>
          </a:p>
        </p:txBody>
      </p:sp>
      <p:sp>
        <p:nvSpPr>
          <p:cNvPr id="17" name="rv_answer"/>
          <p:cNvSpPr/>
          <p:nvPr/>
        </p:nvSpPr>
        <p:spPr>
          <a:xfrm>
            <a:off x="457200" y="522452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② </a:t>
            </a:r>
            <a:r>
              <a:rPr lang="en-US" altLang="ko-KR" sz="1900" b="1" dirty="0">
                <a:solidFill>
                  <a:srgbClr val="5A4200"/>
                </a:solidFill>
                <a:latin typeface="Calibri"/>
                <a:ea typeface="맑은 고딕"/>
                <a:cs typeface="Calibri"/>
              </a:rPr>
              <a:t>a dealer finding a valuable table and lying</a:t>
            </a:r>
            <a:endParaRPr lang="en-US" altLang="ko-KR" sz="1900" b="1" dirty="0">
              <a:solidFill>
                <a:srgbClr val="5A4200"/>
              </a:solidFill>
              <a:latin typeface="Calibri"/>
              <a:ea typeface="맑은 고딕"/>
              <a:cs typeface="Calibri"/>
            </a:endParaRPr>
          </a:p>
        </p:txBody>
      </p:sp>
      <p:sp>
        <p:nvSpPr>
          <p:cNvPr id="18" name="rv_why"/>
          <p:cNvSpPr/>
          <p:nvPr/>
        </p:nvSpPr>
        <p:spPr>
          <a:xfrm>
            <a:off x="457200" y="5823458"/>
            <a:ext cx="11277295" cy="59562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귀중한 18세기 탁자를 보고 복제품이라고 말했다. 귀한 탁자를 찾고 거짓말한 ②가 주제다.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250"/>
                                        <p:tgtEl>
                                          <p:spTgt spid="1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25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25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7" grpId="0" animBg="1"/>
      <p:bldP spid="9" grpId="0" animBg="1"/>
      <p:bldP spid="10" grpId="0" animBg="1"/>
      <p:bldP spid="18" grpId="0" animBg="1"/>
    </p:bldLst>
  </p:timing>
</p:sld>
</file>

<file path=ppt/slides/slide9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L6-2</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1 · 2</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2. 다음 글의 제목으로 가장 적절한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6</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본문 근거 형광 + 정답 원리</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200787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2007870"/>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1F2328"/>
                </a:solidFill>
                <a:latin typeface="Calibri"/>
                <a:ea typeface="맑은 고딕"/>
                <a:cs typeface="Calibri"/>
              </a:rPr>
              <a:t>Now it was another Sunday, and Mr. Boggis was in a small town again. At a house he visited, he met two men. One was Rummins, the owner, and the other was his son Bert. "I buy old furniture. Do you have any?" asked Mr. Boggis. "No, I don’t," said Rummins. "Can I just take a look?" asked Mr. Boggis. "Sure. Please come in," said Rummins. Mr. Boggis first went to the kitchen, and there was nothing. He then moved to the living room. </a:t>
            </a:r>
            <a:r>
              <a:rPr lang="en-US" altLang="ko-KR" sz="1500" b="0" dirty="0">
                <a:solidFill>
                  <a:srgbClr val="1F2328"/>
                </a:solidFill>
                <a:latin typeface="Calibri"/>
                <a:ea typeface="맑은 고딕"/>
                <a:cs typeface="Calibri"/>
              </a:rPr>
              <a:t>And there it was!</a:t>
            </a:r>
            <a:r>
              <a:rPr lang="en-US" altLang="ko-KR" sz="1500" b="0" dirty="0">
                <a:solidFill>
                  <a:srgbClr val="1F2328"/>
                </a:solidFill>
                <a:latin typeface="Calibri"/>
                <a:ea typeface="맑은 고딕"/>
                <a:cs typeface="Calibri"/>
              </a:rPr>
              <a:t> A table which was a priceless piece of eighteenth‑century English furniture. He was so excited that he almost fell over. "What’s wrong?" Bert asked. "Oh, nothing. Nothing at all," </a:t>
            </a:r>
            <a:r>
              <a:rPr lang="en-US" altLang="ko-KR" sz="1500" b="0" dirty="0">
                <a:solidFill>
                  <a:srgbClr val="1F2328"/>
                </a:solidFill>
                <a:latin typeface="Calibri"/>
                <a:ea typeface="맑은 고딕"/>
                <a:cs typeface="Calibri"/>
              </a:rPr>
              <a:t>Mr. Boggis lied</a:t>
            </a:r>
            <a:r>
              <a:rPr lang="en-US" altLang="ko-KR" sz="1500" b="0" dirty="0">
                <a:solidFill>
                  <a:srgbClr val="1F2328"/>
                </a:solidFill>
                <a:latin typeface="Calibri"/>
                <a:ea typeface="맑은 고딕"/>
                <a:cs typeface="Calibri"/>
              </a:rPr>
              <a:t>. He then said with a straight face, "This table is a reproduction. It’s worth only a few pounds."</a:t>
            </a:r>
            <a:endParaRPr lang="en-US" altLang="ko-KR" sz="1500" b="0" dirty="0">
              <a:solidFill>
                <a:srgbClr val="1F2328"/>
              </a:solidFill>
              <a:latin typeface="Calibri"/>
              <a:ea typeface="맑은 고딕"/>
              <a:cs typeface="Calibri"/>
            </a:endParaRPr>
          </a:p>
        </p:txBody>
      </p:sp>
      <p:sp>
        <p:nvSpPr>
          <p:cNvPr id="9" name="rv_evidence_card"/>
          <p:cNvSpPr/>
          <p:nvPr/>
        </p:nvSpPr>
        <p:spPr>
          <a:xfrm>
            <a:off x="457200" y="950976"/>
            <a:ext cx="11277295" cy="200787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rv_evidence"/>
          <p:cNvSpPr txBox="1"/>
          <p:nvPr/>
        </p:nvSpPr>
        <p:spPr>
          <a:xfrm>
            <a:off x="457200" y="950976"/>
            <a:ext cx="11277295" cy="2007870"/>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B3BAC6"/>
                </a:solidFill>
                <a:latin typeface="Calibri"/>
                <a:ea typeface="맑은 고딕"/>
                <a:cs typeface="Calibri"/>
              </a:rPr>
              <a:t>Now it was another Sunday, and Mr. Boggis was in a small town again. At a house he visited, he met two men. One was Rummins, the owner, and the other was his son Bert. "I buy old furniture. Do you have any?" asked Mr. Boggis. "No, I don’t," said Rummins. "Can I just take a look?" asked Mr. Boggis. "Sure. Please come in," said Rummins. Mr. Boggis first went to the kitchen, and there was nothing. He then moved to the living room. </a:t>
            </a:r>
            <a:r>
              <a:rPr lang="en-US" altLang="ko-KR" sz="1500" b="0" dirty="0">
                <a:solidFill>
                  <a:srgbClr val="111111"/>
                </a:solidFill>
                <a:highlight>
                  <a:srgbClr val="FFE45C"/>
                </a:highlight>
                <a:latin typeface="Calibri"/>
                <a:ea typeface="맑은 고딕"/>
                <a:cs typeface="Calibri"/>
              </a:rPr>
              <a:t>And there it was!</a:t>
            </a:r>
            <a:r>
              <a:rPr lang="en-US" altLang="ko-KR" sz="1500" b="0" dirty="0">
                <a:solidFill>
                  <a:srgbClr val="B3BAC6"/>
                </a:solidFill>
                <a:latin typeface="Calibri"/>
                <a:ea typeface="맑은 고딕"/>
                <a:cs typeface="Calibri"/>
              </a:rPr>
              <a:t> A table which was a priceless piece of eighteenth‑century English furniture. He was so excited that he almost fell over. "What’s wrong?" Bert asked. "Oh, nothing. Nothing at all," </a:t>
            </a:r>
            <a:r>
              <a:rPr lang="en-US" altLang="ko-KR" sz="1500" b="0" dirty="0">
                <a:solidFill>
                  <a:srgbClr val="111111"/>
                </a:solidFill>
                <a:highlight>
                  <a:srgbClr val="FFE45C"/>
                </a:highlight>
                <a:latin typeface="Calibri"/>
                <a:ea typeface="맑은 고딕"/>
                <a:cs typeface="Calibri"/>
              </a:rPr>
              <a:t>Mr. Boggis lied</a:t>
            </a:r>
            <a:r>
              <a:rPr lang="en-US" altLang="ko-KR" sz="1500" b="0" dirty="0">
                <a:solidFill>
                  <a:srgbClr val="B3BAC6"/>
                </a:solidFill>
                <a:latin typeface="Calibri"/>
                <a:ea typeface="맑은 고딕"/>
                <a:cs typeface="Calibri"/>
              </a:rPr>
              <a:t>. He then said with a straight face, "This table is a reproduction. It’s worth only a few pounds."</a:t>
            </a:r>
            <a:endParaRPr lang="en-US" altLang="ko-KR" sz="1500" b="0" dirty="0">
              <a:solidFill>
                <a:srgbClr val="B3BAC6"/>
              </a:solidFill>
              <a:latin typeface="Calibri"/>
              <a:ea typeface="맑은 고딕"/>
              <a:cs typeface="Calibri"/>
            </a:endParaRPr>
          </a:p>
        </p:txBody>
      </p:sp>
      <p:sp>
        <p:nvSpPr>
          <p:cNvPr id="11" name="choice_1"/>
          <p:cNvSpPr txBox="1"/>
          <p:nvPr/>
        </p:nvSpPr>
        <p:spPr>
          <a:xfrm>
            <a:off x="457200" y="3105150"/>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①</a:t>
            </a:r>
            <a:r>
              <a:rPr lang="en-US" altLang="ko-KR" sz="1800" b="0" dirty="0">
                <a:solidFill>
                  <a:srgbClr val="1F2328"/>
                </a:solidFill>
                <a:latin typeface="Calibri"/>
                <a:ea typeface="맑은 고딕"/>
                <a:cs typeface="Calibri"/>
              </a:rPr>
              <a:t>	An Honest Dealer Pays a Fair Price</a:t>
            </a:r>
            <a:endParaRPr lang="en-US" altLang="ko-KR" sz="1800" b="0" dirty="0">
              <a:solidFill>
                <a:srgbClr val="1F2328"/>
              </a:solidFill>
              <a:latin typeface="Calibri"/>
              <a:ea typeface="맑은 고딕"/>
              <a:cs typeface="Calibri"/>
            </a:endParaRPr>
          </a:p>
        </p:txBody>
      </p:sp>
      <p:sp>
        <p:nvSpPr>
          <p:cNvPr id="12" name="choice_2"/>
          <p:cNvSpPr txBox="1"/>
          <p:nvPr/>
        </p:nvSpPr>
        <p:spPr>
          <a:xfrm>
            <a:off x="457200" y="3512566"/>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②</a:t>
            </a:r>
            <a:r>
              <a:rPr lang="en-US" altLang="ko-KR" sz="1800" b="0" dirty="0">
                <a:solidFill>
                  <a:srgbClr val="1F2328"/>
                </a:solidFill>
                <a:latin typeface="Calibri"/>
                <a:ea typeface="맑은 고딕"/>
                <a:cs typeface="Calibri"/>
              </a:rPr>
              <a:t>	The Kitchen Full of Old Treasures</a:t>
            </a:r>
            <a:endParaRPr lang="en-US" altLang="ko-KR" sz="1800" b="0" dirty="0">
              <a:solidFill>
                <a:srgbClr val="1F2328"/>
              </a:solidFill>
              <a:latin typeface="Calibri"/>
              <a:ea typeface="맑은 고딕"/>
              <a:cs typeface="Calibri"/>
            </a:endParaRPr>
          </a:p>
        </p:txBody>
      </p:sp>
      <p:sp>
        <p:nvSpPr>
          <p:cNvPr id="13" name="choice_3"/>
          <p:cNvSpPr txBox="1"/>
          <p:nvPr/>
        </p:nvSpPr>
        <p:spPr>
          <a:xfrm>
            <a:off x="457200" y="3919982"/>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③</a:t>
            </a:r>
            <a:r>
              <a:rPr lang="en-US" altLang="ko-KR" sz="1800" b="0" dirty="0">
                <a:solidFill>
                  <a:srgbClr val="1F2328"/>
                </a:solidFill>
                <a:latin typeface="Calibri"/>
                <a:ea typeface="맑은 고딕"/>
                <a:cs typeface="Calibri"/>
              </a:rPr>
              <a:t>	A Lucky Find and a Clever Lie</a:t>
            </a:r>
            <a:endParaRPr lang="en-US" altLang="ko-KR" sz="1800" b="0" dirty="0">
              <a:solidFill>
                <a:srgbClr val="1F2328"/>
              </a:solidFill>
              <a:latin typeface="Calibri"/>
              <a:ea typeface="맑은 고딕"/>
              <a:cs typeface="Calibri"/>
            </a:endParaRPr>
          </a:p>
        </p:txBody>
      </p:sp>
      <p:sp>
        <p:nvSpPr>
          <p:cNvPr id="14" name="rv_pick"/>
          <p:cNvSpPr txBox="1"/>
          <p:nvPr/>
        </p:nvSpPr>
        <p:spPr>
          <a:xfrm>
            <a:off x="457200" y="3919982"/>
            <a:ext cx="11277295" cy="379984"/>
          </a:xfrm>
          <a:prstGeom prst="rect">
            <a:avLst/>
          </a:prstGeom>
          <a:solidFill>
            <a:srgbClr val="FFF3C4"/>
          </a:solid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C00000"/>
                </a:solidFill>
                <a:latin typeface="맑은 고딕"/>
                <a:ea typeface="맑은 고딕"/>
                <a:cs typeface="맑은 고딕"/>
              </a:rPr>
              <a:t>③</a:t>
            </a:r>
            <a:r>
              <a:rPr lang="en-US" altLang="ko-KR" sz="1800" b="0" dirty="0">
                <a:solidFill>
                  <a:srgbClr val="C00000"/>
                </a:solidFill>
                <a:latin typeface="Calibri"/>
                <a:ea typeface="맑은 고딕"/>
                <a:cs typeface="Calibri"/>
              </a:rPr>
              <a:t>	A Lucky Find and a Clever Lie</a:t>
            </a:r>
            <a:endParaRPr lang="en-US" altLang="ko-KR" sz="1800" b="0" dirty="0">
              <a:solidFill>
                <a:srgbClr val="C00000"/>
              </a:solidFill>
              <a:latin typeface="Calibri"/>
              <a:ea typeface="맑은 고딕"/>
              <a:cs typeface="Calibri"/>
            </a:endParaRPr>
          </a:p>
        </p:txBody>
      </p:sp>
      <p:sp>
        <p:nvSpPr>
          <p:cNvPr id="15" name="choice_4"/>
          <p:cNvSpPr txBox="1"/>
          <p:nvPr/>
        </p:nvSpPr>
        <p:spPr>
          <a:xfrm>
            <a:off x="457200" y="4327398"/>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④</a:t>
            </a:r>
            <a:r>
              <a:rPr lang="en-US" altLang="ko-KR" sz="1800" b="0" dirty="0">
                <a:solidFill>
                  <a:srgbClr val="1F2328"/>
                </a:solidFill>
                <a:latin typeface="Calibri"/>
                <a:ea typeface="맑은 고딕"/>
                <a:cs typeface="Calibri"/>
              </a:rPr>
              <a:t>	How Bert Found a Priceless Table</a:t>
            </a:r>
            <a:endParaRPr lang="en-US" altLang="ko-KR" sz="1800" b="0" dirty="0">
              <a:solidFill>
                <a:srgbClr val="1F2328"/>
              </a:solidFill>
              <a:latin typeface="Calibri"/>
              <a:ea typeface="맑은 고딕"/>
              <a:cs typeface="Calibri"/>
            </a:endParaRPr>
          </a:p>
        </p:txBody>
      </p:sp>
      <p:sp>
        <p:nvSpPr>
          <p:cNvPr id="16" name="choice_5"/>
          <p:cNvSpPr txBox="1"/>
          <p:nvPr/>
        </p:nvSpPr>
        <p:spPr>
          <a:xfrm>
            <a:off x="457200" y="4734814"/>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⑤</a:t>
            </a:r>
            <a:r>
              <a:rPr lang="en-US" altLang="ko-KR" sz="1800" b="0" dirty="0">
                <a:solidFill>
                  <a:srgbClr val="1F2328"/>
                </a:solidFill>
                <a:latin typeface="Calibri"/>
                <a:ea typeface="맑은 고딕"/>
                <a:cs typeface="Calibri"/>
              </a:rPr>
              <a:t>	A Sunday Trip to a Big City Shop</a:t>
            </a:r>
            <a:endParaRPr lang="en-US" altLang="ko-KR" sz="1800" b="0" dirty="0">
              <a:solidFill>
                <a:srgbClr val="1F2328"/>
              </a:solidFill>
              <a:latin typeface="Calibri"/>
              <a:ea typeface="맑은 고딕"/>
              <a:cs typeface="Calibri"/>
            </a:endParaRPr>
          </a:p>
        </p:txBody>
      </p:sp>
      <p:sp>
        <p:nvSpPr>
          <p:cNvPr id="17" name="rv_answer"/>
          <p:cNvSpPr/>
          <p:nvPr/>
        </p:nvSpPr>
        <p:spPr>
          <a:xfrm>
            <a:off x="457200" y="522452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③ </a:t>
            </a:r>
            <a:r>
              <a:rPr lang="en-US" altLang="ko-KR" sz="1900" b="1" dirty="0">
                <a:solidFill>
                  <a:srgbClr val="5A4200"/>
                </a:solidFill>
                <a:latin typeface="Calibri"/>
                <a:ea typeface="맑은 고딕"/>
                <a:cs typeface="Calibri"/>
              </a:rPr>
              <a:t>A Lucky Find and a Clever Lie</a:t>
            </a:r>
            <a:endParaRPr lang="en-US" altLang="ko-KR" sz="1900" b="1" dirty="0">
              <a:solidFill>
                <a:srgbClr val="5A4200"/>
              </a:solidFill>
              <a:latin typeface="Calibri"/>
              <a:ea typeface="맑은 고딕"/>
              <a:cs typeface="Calibri"/>
            </a:endParaRPr>
          </a:p>
        </p:txBody>
      </p:sp>
      <p:sp>
        <p:nvSpPr>
          <p:cNvPr id="18" name="rv_why"/>
          <p:cNvSpPr/>
          <p:nvPr/>
        </p:nvSpPr>
        <p:spPr>
          <a:xfrm>
            <a:off x="457200" y="5823458"/>
            <a:ext cx="11277295" cy="59562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뜻밖에 귀한 탁자를 찾고('there it was') 거짓말했다('lied'). ③이 제목이다.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250"/>
                                        <p:tgtEl>
                                          <p:spTgt spid="1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25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25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7" grpId="0" animBg="1"/>
      <p:bldP spid="9" grpId="0" animBg="1"/>
      <p:bldP spid="10" grpId="0" animBg="1"/>
      <p:bldP spid="18" grpId="0" animBg="1"/>
    </p:bldLst>
  </p:timing>
</p:sld>
</file>

<file path=ppt/slides/slide10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L6-2</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1 · 3</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3. 다음 글에서 필자가 주장하는 바로 가장 적절한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6</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본문 근거 형광 + 정답 원리</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200787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2007870"/>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1F2328"/>
                </a:solidFill>
                <a:latin typeface="Calibri"/>
                <a:ea typeface="맑은 고딕"/>
                <a:cs typeface="Calibri"/>
              </a:rPr>
              <a:t>Now it was another Sunday, and Mr. Boggis was in a small town again. At a house he visited, he met two men. One was Rummins, the owner, and the other was his son Bert. "I buy old furniture. Do you have any?" asked Mr. Boggis. "No, I don’t," said Rummins. "Can I just take a look?" asked Mr. Boggis. "Sure. Please come in," said Rummins. Mr. Boggis first went to the kitchen, and there was nothing. He then moved to the living room. And there it was! A table which was a priceless piece of eighteenth‑century English furniture. He was so excited that he almost fell over. "What’s wrong?" Bert asked. "Oh, nothing. Nothing at all," Mr. Boggis lied. He then said with a straight face, "</a:t>
            </a:r>
            <a:r>
              <a:rPr lang="en-US" altLang="ko-KR" sz="1500" b="0" dirty="0">
                <a:solidFill>
                  <a:srgbClr val="1F2328"/>
                </a:solidFill>
                <a:latin typeface="Calibri"/>
                <a:ea typeface="맑은 고딕"/>
                <a:cs typeface="Calibri"/>
              </a:rPr>
              <a:t>This table is a reproduction</a:t>
            </a:r>
            <a:r>
              <a:rPr lang="en-US" altLang="ko-KR" sz="1500" b="0" dirty="0">
                <a:solidFill>
                  <a:srgbClr val="1F2328"/>
                </a:solidFill>
                <a:latin typeface="Calibri"/>
                <a:ea typeface="맑은 고딕"/>
                <a:cs typeface="Calibri"/>
              </a:rPr>
              <a:t>. It’s worth only a few pounds."</a:t>
            </a:r>
            <a:endParaRPr lang="en-US" altLang="ko-KR" sz="1500" b="0" dirty="0">
              <a:solidFill>
                <a:srgbClr val="1F2328"/>
              </a:solidFill>
              <a:latin typeface="Calibri"/>
              <a:ea typeface="맑은 고딕"/>
              <a:cs typeface="Calibri"/>
            </a:endParaRPr>
          </a:p>
        </p:txBody>
      </p:sp>
      <p:sp>
        <p:nvSpPr>
          <p:cNvPr id="9" name="rv_evidence_card"/>
          <p:cNvSpPr/>
          <p:nvPr/>
        </p:nvSpPr>
        <p:spPr>
          <a:xfrm>
            <a:off x="457200" y="950976"/>
            <a:ext cx="11277295" cy="200787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rv_evidence"/>
          <p:cNvSpPr txBox="1"/>
          <p:nvPr/>
        </p:nvSpPr>
        <p:spPr>
          <a:xfrm>
            <a:off x="457200" y="950976"/>
            <a:ext cx="11277295" cy="2007870"/>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B3BAC6"/>
                </a:solidFill>
                <a:latin typeface="Calibri"/>
                <a:ea typeface="맑은 고딕"/>
                <a:cs typeface="Calibri"/>
              </a:rPr>
              <a:t>Now it was another Sunday, and Mr. Boggis was in a small town again. At a house he visited, he met two men. One was Rummins, the owner, and the other was his son Bert. "I buy old furniture. Do you have any?" asked Mr. Boggis. "No, I don’t," said Rummins. "Can I just take a look?" asked Mr. Boggis. "Sure. Please come in," said Rummins. Mr. Boggis first went to the kitchen, and there was nothing. He then moved to the living room. And there it was! A table which was a priceless piece of eighteenth‑century English furniture. He was so excited that he almost fell over. "What’s wrong?" Bert asked. "Oh, nothing. Nothing at all," Mr. Boggis lied. He then said with a straight face, "</a:t>
            </a:r>
            <a:r>
              <a:rPr lang="en-US" altLang="ko-KR" sz="1500" b="0" dirty="0">
                <a:solidFill>
                  <a:srgbClr val="111111"/>
                </a:solidFill>
                <a:highlight>
                  <a:srgbClr val="FFE45C"/>
                </a:highlight>
                <a:latin typeface="Calibri"/>
                <a:ea typeface="맑은 고딕"/>
                <a:cs typeface="Calibri"/>
              </a:rPr>
              <a:t>This table is a reproduction</a:t>
            </a:r>
            <a:r>
              <a:rPr lang="en-US" altLang="ko-KR" sz="1500" b="0" dirty="0">
                <a:solidFill>
                  <a:srgbClr val="B3BAC6"/>
                </a:solidFill>
                <a:latin typeface="Calibri"/>
                <a:ea typeface="맑은 고딕"/>
                <a:cs typeface="Calibri"/>
              </a:rPr>
              <a:t>. It’s worth only a few pounds."</a:t>
            </a:r>
            <a:endParaRPr lang="en-US" altLang="ko-KR" sz="1500" b="0" dirty="0">
              <a:solidFill>
                <a:srgbClr val="B3BAC6"/>
              </a:solidFill>
              <a:latin typeface="Calibri"/>
              <a:ea typeface="맑은 고딕"/>
              <a:cs typeface="Calibri"/>
            </a:endParaRPr>
          </a:p>
        </p:txBody>
      </p:sp>
      <p:sp>
        <p:nvSpPr>
          <p:cNvPr id="11" name="choice_1"/>
          <p:cNvSpPr txBox="1"/>
          <p:nvPr/>
        </p:nvSpPr>
        <p:spPr>
          <a:xfrm>
            <a:off x="457200" y="3105150"/>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①</a:t>
            </a:r>
            <a:r>
              <a:rPr lang="ko-KR" altLang="en-US" sz="1800" b="0" dirty="0">
                <a:solidFill>
                  <a:srgbClr val="1F2328"/>
                </a:solidFill>
                <a:latin typeface="맑은 고딕"/>
                <a:ea typeface="맑은 고딕"/>
                <a:cs typeface="맑은 고딕"/>
              </a:rPr>
              <a:t>	오래된 가구는 부엌에 두는 것이 좋다</a:t>
            </a:r>
            <a:endParaRPr lang="ko-KR" altLang="en-US" sz="1800" b="0" dirty="0">
              <a:solidFill>
                <a:srgbClr val="1F2328"/>
              </a:solidFill>
              <a:latin typeface="맑은 고딕"/>
              <a:ea typeface="맑은 고딕"/>
              <a:cs typeface="맑은 고딕"/>
            </a:endParaRPr>
          </a:p>
        </p:txBody>
      </p:sp>
      <p:sp>
        <p:nvSpPr>
          <p:cNvPr id="12" name="choice_2"/>
          <p:cNvSpPr txBox="1"/>
          <p:nvPr/>
        </p:nvSpPr>
        <p:spPr>
          <a:xfrm>
            <a:off x="457200" y="3512566"/>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②</a:t>
            </a:r>
            <a:r>
              <a:rPr lang="ko-KR" altLang="en-US" sz="1800" b="0" dirty="0">
                <a:solidFill>
                  <a:srgbClr val="1F2328"/>
                </a:solidFill>
                <a:latin typeface="맑은 고딕"/>
                <a:ea typeface="맑은 고딕"/>
                <a:cs typeface="맑은 고딕"/>
              </a:rPr>
              <a:t>	낯선 사람을 집에 들이지 말아야 한다</a:t>
            </a:r>
            <a:endParaRPr lang="ko-KR" altLang="en-US" sz="1800" b="0" dirty="0">
              <a:solidFill>
                <a:srgbClr val="1F2328"/>
              </a:solidFill>
              <a:latin typeface="맑은 고딕"/>
              <a:ea typeface="맑은 고딕"/>
              <a:cs typeface="맑은 고딕"/>
            </a:endParaRPr>
          </a:p>
        </p:txBody>
      </p:sp>
      <p:sp>
        <p:nvSpPr>
          <p:cNvPr id="13" name="choice_3"/>
          <p:cNvSpPr txBox="1"/>
          <p:nvPr/>
        </p:nvSpPr>
        <p:spPr>
          <a:xfrm>
            <a:off x="457200" y="3919982"/>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③</a:t>
            </a:r>
            <a:r>
              <a:rPr lang="ko-KR" altLang="en-US" sz="1800" b="0" dirty="0">
                <a:solidFill>
                  <a:srgbClr val="1F2328"/>
                </a:solidFill>
                <a:latin typeface="맑은 고딕"/>
                <a:ea typeface="맑은 고딕"/>
                <a:cs typeface="맑은 고딕"/>
              </a:rPr>
              <a:t>	복제품은 진품보다 싸게 사야 한다</a:t>
            </a:r>
            <a:endParaRPr lang="ko-KR" altLang="en-US" sz="1800" b="0" dirty="0">
              <a:solidFill>
                <a:srgbClr val="1F2328"/>
              </a:solidFill>
              <a:latin typeface="맑은 고딕"/>
              <a:ea typeface="맑은 고딕"/>
              <a:cs typeface="맑은 고딕"/>
            </a:endParaRPr>
          </a:p>
        </p:txBody>
      </p:sp>
      <p:sp>
        <p:nvSpPr>
          <p:cNvPr id="14" name="choice_4"/>
          <p:cNvSpPr txBox="1"/>
          <p:nvPr/>
        </p:nvSpPr>
        <p:spPr>
          <a:xfrm>
            <a:off x="457200" y="4327398"/>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④</a:t>
            </a:r>
            <a:r>
              <a:rPr lang="ko-KR" altLang="en-US" sz="1800" b="0" dirty="0">
                <a:solidFill>
                  <a:srgbClr val="1F2328"/>
                </a:solidFill>
                <a:latin typeface="맑은 고딕"/>
                <a:ea typeface="맑은 고딕"/>
                <a:cs typeface="맑은 고딕"/>
              </a:rPr>
              <a:t>	물건의 가치를 정직하게 알려 주어야 한다</a:t>
            </a:r>
            <a:endParaRPr lang="ko-KR" altLang="en-US" sz="1800" b="0" dirty="0">
              <a:solidFill>
                <a:srgbClr val="1F2328"/>
              </a:solidFill>
              <a:latin typeface="맑은 고딕"/>
              <a:ea typeface="맑은 고딕"/>
              <a:cs typeface="맑은 고딕"/>
            </a:endParaRPr>
          </a:p>
        </p:txBody>
      </p:sp>
      <p:sp>
        <p:nvSpPr>
          <p:cNvPr id="15" name="rv_pick"/>
          <p:cNvSpPr txBox="1"/>
          <p:nvPr/>
        </p:nvSpPr>
        <p:spPr>
          <a:xfrm>
            <a:off x="457200" y="4327398"/>
            <a:ext cx="11277295" cy="379984"/>
          </a:xfrm>
          <a:prstGeom prst="rect">
            <a:avLst/>
          </a:prstGeom>
          <a:solidFill>
            <a:srgbClr val="FFF3C4"/>
          </a:solid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C00000"/>
                </a:solidFill>
                <a:latin typeface="맑은 고딕"/>
                <a:ea typeface="맑은 고딕"/>
                <a:cs typeface="맑은 고딕"/>
              </a:rPr>
              <a:t>④</a:t>
            </a:r>
            <a:r>
              <a:rPr lang="ko-KR" altLang="en-US" sz="1800" b="0" dirty="0">
                <a:solidFill>
                  <a:srgbClr val="C00000"/>
                </a:solidFill>
                <a:latin typeface="맑은 고딕"/>
                <a:ea typeface="맑은 고딕"/>
                <a:cs typeface="맑은 고딕"/>
              </a:rPr>
              <a:t>	물건의 가치를 정직하게 알려 주어야 한다</a:t>
            </a:r>
            <a:endParaRPr lang="ko-KR" altLang="en-US" sz="1800" b="0" dirty="0">
              <a:solidFill>
                <a:srgbClr val="C00000"/>
              </a:solidFill>
              <a:latin typeface="맑은 고딕"/>
              <a:ea typeface="맑은 고딕"/>
              <a:cs typeface="맑은 고딕"/>
            </a:endParaRPr>
          </a:p>
        </p:txBody>
      </p:sp>
      <p:sp>
        <p:nvSpPr>
          <p:cNvPr id="16" name="choice_5"/>
          <p:cNvSpPr txBox="1"/>
          <p:nvPr/>
        </p:nvSpPr>
        <p:spPr>
          <a:xfrm>
            <a:off x="457200" y="4734814"/>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⑤</a:t>
            </a:r>
            <a:r>
              <a:rPr lang="ko-KR" altLang="en-US" sz="1800" b="0" dirty="0">
                <a:solidFill>
                  <a:srgbClr val="1F2328"/>
                </a:solidFill>
                <a:latin typeface="맑은 고딕"/>
                <a:ea typeface="맑은 고딕"/>
                <a:cs typeface="맑은 고딕"/>
              </a:rPr>
              <a:t>	가구를 살 때 전문가와 동행해야 한다</a:t>
            </a:r>
            <a:endParaRPr lang="ko-KR" altLang="en-US" sz="1800" b="0" dirty="0">
              <a:solidFill>
                <a:srgbClr val="1F2328"/>
              </a:solidFill>
              <a:latin typeface="맑은 고딕"/>
              <a:ea typeface="맑은 고딕"/>
              <a:cs typeface="맑은 고딕"/>
            </a:endParaRPr>
          </a:p>
        </p:txBody>
      </p:sp>
      <p:sp>
        <p:nvSpPr>
          <p:cNvPr id="17" name="rv_answer"/>
          <p:cNvSpPr/>
          <p:nvPr/>
        </p:nvSpPr>
        <p:spPr>
          <a:xfrm>
            <a:off x="457200" y="522452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④ </a:t>
            </a:r>
            <a:r>
              <a:rPr lang="ko-KR" altLang="en-US" sz="1900" b="1" dirty="0">
                <a:solidFill>
                  <a:srgbClr val="5A4200"/>
                </a:solidFill>
                <a:latin typeface="맑은 고딕"/>
                <a:ea typeface="맑은 고딕"/>
                <a:cs typeface="맑은 고딕"/>
              </a:rPr>
              <a:t>물건의 가치를 정직하게 알려 주어야 한다</a:t>
            </a:r>
            <a:endParaRPr lang="ko-KR" altLang="en-US" sz="1900" b="1" dirty="0">
              <a:solidFill>
                <a:srgbClr val="5A4200"/>
              </a:solidFill>
              <a:latin typeface="맑은 고딕"/>
              <a:ea typeface="맑은 고딕"/>
              <a:cs typeface="맑은 고딕"/>
            </a:endParaRPr>
          </a:p>
        </p:txBody>
      </p:sp>
      <p:sp>
        <p:nvSpPr>
          <p:cNvPr id="18" name="rv_why"/>
          <p:cNvSpPr/>
          <p:nvPr/>
        </p:nvSpPr>
        <p:spPr>
          <a:xfrm>
            <a:off x="457200" y="5823458"/>
            <a:ext cx="11277295" cy="59562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귀한 탁자를 복제품이라 속인 행동을 비판하면 ④가 주장이다.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250"/>
                                        <p:tgtEl>
                                          <p:spTgt spid="1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25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25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7" grpId="0" animBg="1"/>
      <p:bldP spid="9" grpId="0" animBg="1"/>
      <p:bldP spid="10" grpId="0" animBg="1"/>
      <p:bldP spid="18" grpId="0" animBg="1"/>
    </p:bldLst>
  </p:timing>
</p:sld>
</file>

<file path=ppt/slides/slide10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L6-2</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1 · 4</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4. 다음 글의 요지로 가장 적절한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6</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본문 근거 형광 + 정답 원리</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200787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2007870"/>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1F2328"/>
                </a:solidFill>
                <a:latin typeface="Calibri"/>
                <a:ea typeface="맑은 고딕"/>
                <a:cs typeface="Calibri"/>
              </a:rPr>
              <a:t>Now it was another Sunday, and Mr. Boggis was in a small town again. At a house he visited, he met two men. One was Rummins, the owner, and the other was his son Bert. "I buy old furniture. Do you have any?" asked Mr. Boggis. "No, I don’t," said Rummins. "Can I just take a look?" asked Mr. Boggis. "Sure. Please come in," said Rummins. Mr. Boggis first went to the kitchen, and there was nothing. He then moved to the living room. And there it was! A table which was a priceless piece of eighteenth‑century English furniture. He was so excited that he almost fell over. "What’s wrong?" Bert asked. "Oh, nothing. Nothing at all," </a:t>
            </a:r>
            <a:r>
              <a:rPr lang="en-US" altLang="ko-KR" sz="1500" b="0" dirty="0">
                <a:solidFill>
                  <a:srgbClr val="1F2328"/>
                </a:solidFill>
                <a:latin typeface="Calibri"/>
                <a:ea typeface="맑은 고딕"/>
                <a:cs typeface="Calibri"/>
              </a:rPr>
              <a:t>Mr. Boggis lied</a:t>
            </a:r>
            <a:r>
              <a:rPr lang="en-US" altLang="ko-KR" sz="1500" b="0" dirty="0">
                <a:solidFill>
                  <a:srgbClr val="1F2328"/>
                </a:solidFill>
                <a:latin typeface="Calibri"/>
                <a:ea typeface="맑은 고딕"/>
                <a:cs typeface="Calibri"/>
              </a:rPr>
              <a:t>. He then said with a straight face, "</a:t>
            </a:r>
            <a:r>
              <a:rPr lang="en-US" altLang="ko-KR" sz="1500" b="0" dirty="0">
                <a:solidFill>
                  <a:srgbClr val="1F2328"/>
                </a:solidFill>
                <a:latin typeface="Calibri"/>
                <a:ea typeface="맑은 고딕"/>
                <a:cs typeface="Calibri"/>
              </a:rPr>
              <a:t>This table is a reproduction</a:t>
            </a:r>
            <a:r>
              <a:rPr lang="en-US" altLang="ko-KR" sz="1500" b="0" dirty="0">
                <a:solidFill>
                  <a:srgbClr val="1F2328"/>
                </a:solidFill>
                <a:latin typeface="Calibri"/>
                <a:ea typeface="맑은 고딕"/>
                <a:cs typeface="Calibri"/>
              </a:rPr>
              <a:t>. It’s worth only a few pounds."</a:t>
            </a:r>
            <a:endParaRPr lang="en-US" altLang="ko-KR" sz="1500" b="0" dirty="0">
              <a:solidFill>
                <a:srgbClr val="1F2328"/>
              </a:solidFill>
              <a:latin typeface="Calibri"/>
              <a:ea typeface="맑은 고딕"/>
              <a:cs typeface="Calibri"/>
            </a:endParaRPr>
          </a:p>
        </p:txBody>
      </p:sp>
      <p:sp>
        <p:nvSpPr>
          <p:cNvPr id="9" name="rv_evidence_card"/>
          <p:cNvSpPr/>
          <p:nvPr/>
        </p:nvSpPr>
        <p:spPr>
          <a:xfrm>
            <a:off x="457200" y="950976"/>
            <a:ext cx="11277295" cy="200787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rv_evidence"/>
          <p:cNvSpPr txBox="1"/>
          <p:nvPr/>
        </p:nvSpPr>
        <p:spPr>
          <a:xfrm>
            <a:off x="457200" y="950976"/>
            <a:ext cx="11277295" cy="2007870"/>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B3BAC6"/>
                </a:solidFill>
                <a:latin typeface="Calibri"/>
                <a:ea typeface="맑은 고딕"/>
                <a:cs typeface="Calibri"/>
              </a:rPr>
              <a:t>Now it was another Sunday, and Mr. Boggis was in a small town again. At a house he visited, he met two men. One was Rummins, the owner, and the other was his son Bert. "I buy old furniture. Do you have any?" asked Mr. Boggis. "No, I don’t," said Rummins. "Can I just take a look?" asked Mr. Boggis. "Sure. Please come in," said Rummins. Mr. Boggis first went to the kitchen, and there was nothing. He then moved to the living room. And there it was! A table which was a priceless piece of eighteenth‑century English furniture. He was so excited that he almost fell over. "What’s wrong?" Bert asked. "Oh, nothing. Nothing at all," </a:t>
            </a:r>
            <a:r>
              <a:rPr lang="en-US" altLang="ko-KR" sz="1500" b="0" dirty="0">
                <a:solidFill>
                  <a:srgbClr val="111111"/>
                </a:solidFill>
                <a:highlight>
                  <a:srgbClr val="FFE45C"/>
                </a:highlight>
                <a:latin typeface="Calibri"/>
                <a:ea typeface="맑은 고딕"/>
                <a:cs typeface="Calibri"/>
              </a:rPr>
              <a:t>Mr. Boggis lied</a:t>
            </a:r>
            <a:r>
              <a:rPr lang="en-US" altLang="ko-KR" sz="1500" b="0" dirty="0">
                <a:solidFill>
                  <a:srgbClr val="B3BAC6"/>
                </a:solidFill>
                <a:latin typeface="Calibri"/>
                <a:ea typeface="맑은 고딕"/>
                <a:cs typeface="Calibri"/>
              </a:rPr>
              <a:t>. He then said with a straight face, "</a:t>
            </a:r>
            <a:r>
              <a:rPr lang="en-US" altLang="ko-KR" sz="1500" b="0" dirty="0">
                <a:solidFill>
                  <a:srgbClr val="111111"/>
                </a:solidFill>
                <a:highlight>
                  <a:srgbClr val="FFE45C"/>
                </a:highlight>
                <a:latin typeface="Calibri"/>
                <a:ea typeface="맑은 고딕"/>
                <a:cs typeface="Calibri"/>
              </a:rPr>
              <a:t>This table is a reproduction</a:t>
            </a:r>
            <a:r>
              <a:rPr lang="en-US" altLang="ko-KR" sz="1500" b="0" dirty="0">
                <a:solidFill>
                  <a:srgbClr val="B3BAC6"/>
                </a:solidFill>
                <a:latin typeface="Calibri"/>
                <a:ea typeface="맑은 고딕"/>
                <a:cs typeface="Calibri"/>
              </a:rPr>
              <a:t>. It’s worth only a few pounds."</a:t>
            </a:r>
            <a:endParaRPr lang="en-US" altLang="ko-KR" sz="1500" b="0" dirty="0">
              <a:solidFill>
                <a:srgbClr val="B3BAC6"/>
              </a:solidFill>
              <a:latin typeface="Calibri"/>
              <a:ea typeface="맑은 고딕"/>
              <a:cs typeface="Calibri"/>
            </a:endParaRPr>
          </a:p>
        </p:txBody>
      </p:sp>
      <p:sp>
        <p:nvSpPr>
          <p:cNvPr id="11" name="choice_1"/>
          <p:cNvSpPr txBox="1"/>
          <p:nvPr/>
        </p:nvSpPr>
        <p:spPr>
          <a:xfrm>
            <a:off x="457200" y="3105150"/>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①</a:t>
            </a:r>
            <a:r>
              <a:rPr lang="ko-KR" altLang="en-US" sz="1800" b="0" dirty="0">
                <a:solidFill>
                  <a:srgbClr val="1F2328"/>
                </a:solidFill>
                <a:latin typeface="맑은 고딕"/>
                <a:ea typeface="맑은 고딕"/>
                <a:cs typeface="맑은 고딕"/>
              </a:rPr>
              <a:t>	Bert는 탁자의 진짜 가치를 알고 있었다</a:t>
            </a:r>
            <a:endParaRPr lang="ko-KR" altLang="en-US" sz="1800" b="0" dirty="0">
              <a:solidFill>
                <a:srgbClr val="1F2328"/>
              </a:solidFill>
              <a:latin typeface="맑은 고딕"/>
              <a:ea typeface="맑은 고딕"/>
              <a:cs typeface="맑은 고딕"/>
            </a:endParaRPr>
          </a:p>
        </p:txBody>
      </p:sp>
      <p:sp>
        <p:nvSpPr>
          <p:cNvPr id="12" name="choice_2"/>
          <p:cNvSpPr txBox="1"/>
          <p:nvPr/>
        </p:nvSpPr>
        <p:spPr>
          <a:xfrm>
            <a:off x="457200" y="3512566"/>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②</a:t>
            </a:r>
            <a:r>
              <a:rPr lang="ko-KR" altLang="en-US" sz="1800" b="0" dirty="0">
                <a:solidFill>
                  <a:srgbClr val="1F2328"/>
                </a:solidFill>
                <a:latin typeface="맑은 고딕"/>
                <a:ea typeface="맑은 고딕"/>
                <a:cs typeface="맑은 고딕"/>
              </a:rPr>
              <a:t>	Rummins는 탁자를 비싼 값에 팔았다</a:t>
            </a:r>
            <a:endParaRPr lang="ko-KR" altLang="en-US" sz="1800" b="0" dirty="0">
              <a:solidFill>
                <a:srgbClr val="1F2328"/>
              </a:solidFill>
              <a:latin typeface="맑은 고딕"/>
              <a:ea typeface="맑은 고딕"/>
              <a:cs typeface="맑은 고딕"/>
            </a:endParaRPr>
          </a:p>
        </p:txBody>
      </p:sp>
      <p:sp>
        <p:nvSpPr>
          <p:cNvPr id="13" name="choice_3"/>
          <p:cNvSpPr txBox="1"/>
          <p:nvPr/>
        </p:nvSpPr>
        <p:spPr>
          <a:xfrm>
            <a:off x="457200" y="3919982"/>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③</a:t>
            </a:r>
            <a:r>
              <a:rPr lang="ko-KR" altLang="en-US" sz="1800" b="0" dirty="0">
                <a:solidFill>
                  <a:srgbClr val="1F2328"/>
                </a:solidFill>
                <a:latin typeface="맑은 고딕"/>
                <a:ea typeface="맑은 고딕"/>
                <a:cs typeface="맑은 고딕"/>
              </a:rPr>
              <a:t>	부엌에 18세기 영국 가구가 놓여 있었다</a:t>
            </a:r>
            <a:endParaRPr lang="ko-KR" altLang="en-US" sz="1800" b="0" dirty="0">
              <a:solidFill>
                <a:srgbClr val="1F2328"/>
              </a:solidFill>
              <a:latin typeface="맑은 고딕"/>
              <a:ea typeface="맑은 고딕"/>
              <a:cs typeface="맑은 고딕"/>
            </a:endParaRPr>
          </a:p>
        </p:txBody>
      </p:sp>
      <p:sp>
        <p:nvSpPr>
          <p:cNvPr id="14" name="choice_4"/>
          <p:cNvSpPr txBox="1"/>
          <p:nvPr/>
        </p:nvSpPr>
        <p:spPr>
          <a:xfrm>
            <a:off x="457200" y="4327398"/>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④</a:t>
            </a:r>
            <a:r>
              <a:rPr lang="ko-KR" altLang="en-US" sz="1800" b="0" dirty="0">
                <a:solidFill>
                  <a:srgbClr val="1F2328"/>
                </a:solidFill>
                <a:latin typeface="맑은 고딕"/>
                <a:ea typeface="맑은 고딕"/>
                <a:cs typeface="맑은 고딕"/>
              </a:rPr>
              <a:t>	Boggis 씨는 탁자가 진품이라고 말했다</a:t>
            </a:r>
            <a:endParaRPr lang="ko-KR" altLang="en-US" sz="1800" b="0" dirty="0">
              <a:solidFill>
                <a:srgbClr val="1F2328"/>
              </a:solidFill>
              <a:latin typeface="맑은 고딕"/>
              <a:ea typeface="맑은 고딕"/>
              <a:cs typeface="맑은 고딕"/>
            </a:endParaRPr>
          </a:p>
        </p:txBody>
      </p:sp>
      <p:sp>
        <p:nvSpPr>
          <p:cNvPr id="15" name="choice_5"/>
          <p:cNvSpPr txBox="1"/>
          <p:nvPr/>
        </p:nvSpPr>
        <p:spPr>
          <a:xfrm>
            <a:off x="457200" y="4734814"/>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⑤</a:t>
            </a:r>
            <a:r>
              <a:rPr lang="ko-KR" altLang="en-US" sz="1800" b="0" dirty="0">
                <a:solidFill>
                  <a:srgbClr val="1F2328"/>
                </a:solidFill>
                <a:latin typeface="맑은 고딕"/>
                <a:ea typeface="맑은 고딕"/>
                <a:cs typeface="맑은 고딕"/>
              </a:rPr>
              <a:t>	Boggis 씨는 귀한 탁자를 보고 거짓말했다</a:t>
            </a:r>
            <a:endParaRPr lang="ko-KR" altLang="en-US" sz="1800" b="0" dirty="0">
              <a:solidFill>
                <a:srgbClr val="1F2328"/>
              </a:solidFill>
              <a:latin typeface="맑은 고딕"/>
              <a:ea typeface="맑은 고딕"/>
              <a:cs typeface="맑은 고딕"/>
            </a:endParaRPr>
          </a:p>
        </p:txBody>
      </p:sp>
      <p:sp>
        <p:nvSpPr>
          <p:cNvPr id="16" name="rv_pick"/>
          <p:cNvSpPr txBox="1"/>
          <p:nvPr/>
        </p:nvSpPr>
        <p:spPr>
          <a:xfrm>
            <a:off x="457200" y="4734814"/>
            <a:ext cx="11277295" cy="379984"/>
          </a:xfrm>
          <a:prstGeom prst="rect">
            <a:avLst/>
          </a:prstGeom>
          <a:solidFill>
            <a:srgbClr val="FFF3C4"/>
          </a:solid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C00000"/>
                </a:solidFill>
                <a:latin typeface="맑은 고딕"/>
                <a:ea typeface="맑은 고딕"/>
                <a:cs typeface="맑은 고딕"/>
              </a:rPr>
              <a:t>⑤</a:t>
            </a:r>
            <a:r>
              <a:rPr lang="ko-KR" altLang="en-US" sz="1800" b="0" dirty="0">
                <a:solidFill>
                  <a:srgbClr val="C00000"/>
                </a:solidFill>
                <a:latin typeface="맑은 고딕"/>
                <a:ea typeface="맑은 고딕"/>
                <a:cs typeface="맑은 고딕"/>
              </a:rPr>
              <a:t>	Boggis 씨는 귀한 탁자를 보고 거짓말했다</a:t>
            </a:r>
            <a:endParaRPr lang="ko-KR" altLang="en-US" sz="1800" b="0" dirty="0">
              <a:solidFill>
                <a:srgbClr val="C00000"/>
              </a:solidFill>
              <a:latin typeface="맑은 고딕"/>
              <a:ea typeface="맑은 고딕"/>
              <a:cs typeface="맑은 고딕"/>
            </a:endParaRPr>
          </a:p>
        </p:txBody>
      </p:sp>
      <p:sp>
        <p:nvSpPr>
          <p:cNvPr id="17" name="rv_answer"/>
          <p:cNvSpPr/>
          <p:nvPr/>
        </p:nvSpPr>
        <p:spPr>
          <a:xfrm>
            <a:off x="457200" y="522452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⑤ </a:t>
            </a:r>
            <a:r>
              <a:rPr lang="ko-KR" altLang="en-US" sz="1900" b="1" dirty="0">
                <a:solidFill>
                  <a:srgbClr val="5A4200"/>
                </a:solidFill>
                <a:latin typeface="맑은 고딕"/>
                <a:ea typeface="맑은 고딕"/>
                <a:cs typeface="맑은 고딕"/>
              </a:rPr>
              <a:t>Boggis 씨는 귀한 탁자를 보고 거짓말했다</a:t>
            </a:r>
            <a:endParaRPr lang="ko-KR" altLang="en-US" sz="1900" b="1" dirty="0">
              <a:solidFill>
                <a:srgbClr val="5A4200"/>
              </a:solidFill>
              <a:latin typeface="맑은 고딕"/>
              <a:ea typeface="맑은 고딕"/>
              <a:cs typeface="맑은 고딕"/>
            </a:endParaRPr>
          </a:p>
        </p:txBody>
      </p:sp>
      <p:sp>
        <p:nvSpPr>
          <p:cNvPr id="18" name="rv_why"/>
          <p:cNvSpPr/>
          <p:nvPr/>
        </p:nvSpPr>
        <p:spPr>
          <a:xfrm>
            <a:off x="457200" y="5823458"/>
            <a:ext cx="11277295" cy="59562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Boggis는 귀한 탁자를 보고 거짓말을 하며 복제품이라 했다. ⑤가 요지다.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250"/>
                                        <p:tgtEl>
                                          <p:spTgt spid="1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25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25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7" grpId="0" animBg="1"/>
      <p:bldP spid="9" grpId="0" animBg="1"/>
      <p:bldP spid="10" grpId="0" animBg="1"/>
      <p:bldP spid="18" grpId="0" animBg="1"/>
    </p:bldLst>
  </p:timing>
</p:sld>
</file>

<file path=ppt/slides/slide10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L6-2</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1 · 5</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5. 다음 글의 내용과 일치하지 않는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6</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본문 근거 형광 + 정답 원리</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200787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2007870"/>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1F2328"/>
                </a:solidFill>
                <a:latin typeface="Calibri"/>
                <a:ea typeface="맑은 고딕"/>
                <a:cs typeface="Calibri"/>
              </a:rPr>
              <a:t>Now it was another Sunday, and Mr. Boggis was in a small town again. At a house he visited, he met two men. One was Rummins, the owner, and </a:t>
            </a:r>
            <a:r>
              <a:rPr lang="en-US" altLang="ko-KR" sz="1500" b="0" dirty="0">
                <a:solidFill>
                  <a:srgbClr val="1F2328"/>
                </a:solidFill>
                <a:latin typeface="Calibri"/>
                <a:ea typeface="맑은 고딕"/>
                <a:cs typeface="Calibri"/>
              </a:rPr>
              <a:t>the other was his son Bert</a:t>
            </a:r>
            <a:r>
              <a:rPr lang="en-US" altLang="ko-KR" sz="1500" b="0" dirty="0">
                <a:solidFill>
                  <a:srgbClr val="1F2328"/>
                </a:solidFill>
                <a:latin typeface="Calibri"/>
                <a:ea typeface="맑은 고딕"/>
                <a:cs typeface="Calibri"/>
              </a:rPr>
              <a:t>. "I buy old furniture. Do you have any?" asked Mr. Boggis. "No, I don’t," said Rummins. "Can I just take a look?" asked Mr. Boggis. "Sure. Please come in," said Rummins. Mr. Boggis first went to the kitchen, and there was nothing. He then moved to the living room. And there it was! A table which was a priceless piece of eighteenth‑century English furniture. He was so excited that he almost fell over. "What’s wrong?" Bert asked. "Oh, nothing. Nothing at all," Mr. Boggis lied. He then said with a straight face, "This table is a reproduction. It’s worth only a few pounds."</a:t>
            </a:r>
            <a:endParaRPr lang="en-US" altLang="ko-KR" sz="1500" b="0" dirty="0">
              <a:solidFill>
                <a:srgbClr val="1F2328"/>
              </a:solidFill>
              <a:latin typeface="Calibri"/>
              <a:ea typeface="맑은 고딕"/>
              <a:cs typeface="Calibri"/>
            </a:endParaRPr>
          </a:p>
        </p:txBody>
      </p:sp>
      <p:sp>
        <p:nvSpPr>
          <p:cNvPr id="9" name="rv_evidence_card"/>
          <p:cNvSpPr/>
          <p:nvPr/>
        </p:nvSpPr>
        <p:spPr>
          <a:xfrm>
            <a:off x="457200" y="950976"/>
            <a:ext cx="11277295" cy="200787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rv_evidence"/>
          <p:cNvSpPr txBox="1"/>
          <p:nvPr/>
        </p:nvSpPr>
        <p:spPr>
          <a:xfrm>
            <a:off x="457200" y="950976"/>
            <a:ext cx="11277295" cy="2007870"/>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B3BAC6"/>
                </a:solidFill>
                <a:latin typeface="Calibri"/>
                <a:ea typeface="맑은 고딕"/>
                <a:cs typeface="Calibri"/>
              </a:rPr>
              <a:t>Now it was another Sunday, and Mr. Boggis was in a small town again. At a house he visited, he met two men. One was Rummins, the owner, and </a:t>
            </a:r>
            <a:r>
              <a:rPr lang="en-US" altLang="ko-KR" sz="1500" b="0" dirty="0">
                <a:solidFill>
                  <a:srgbClr val="111111"/>
                </a:solidFill>
                <a:highlight>
                  <a:srgbClr val="FFE45C"/>
                </a:highlight>
                <a:latin typeface="Calibri"/>
                <a:ea typeface="맑은 고딕"/>
                <a:cs typeface="Calibri"/>
              </a:rPr>
              <a:t>the other was his son Bert</a:t>
            </a:r>
            <a:r>
              <a:rPr lang="en-US" altLang="ko-KR" sz="1500" b="0" dirty="0">
                <a:solidFill>
                  <a:srgbClr val="B3BAC6"/>
                </a:solidFill>
                <a:latin typeface="Calibri"/>
                <a:ea typeface="맑은 고딕"/>
                <a:cs typeface="Calibri"/>
              </a:rPr>
              <a:t>. "I buy old furniture. Do you have any?" asked Mr. Boggis. "No, I don’t," said Rummins. "Can I just take a look?" asked Mr. Boggis. "Sure. Please come in," said Rummins. Mr. Boggis first went to the kitchen, and there was nothing. He then moved to the living room. And there it was! A table which was a priceless piece of eighteenth‑century English furniture. He was so excited that he almost fell over. "What’s wrong?" Bert asked. "Oh, nothing. Nothing at all," Mr. Boggis lied. He then said with a straight face, "This table is a reproduction. It’s worth only a few pounds."</a:t>
            </a:r>
            <a:endParaRPr lang="en-US" altLang="ko-KR" sz="1500" b="0" dirty="0">
              <a:solidFill>
                <a:srgbClr val="B3BAC6"/>
              </a:solidFill>
              <a:latin typeface="Calibri"/>
              <a:ea typeface="맑은 고딕"/>
              <a:cs typeface="Calibri"/>
            </a:endParaRPr>
          </a:p>
        </p:txBody>
      </p:sp>
      <p:sp>
        <p:nvSpPr>
          <p:cNvPr id="11" name="choice_1"/>
          <p:cNvSpPr txBox="1"/>
          <p:nvPr/>
        </p:nvSpPr>
        <p:spPr>
          <a:xfrm>
            <a:off x="457200" y="3105150"/>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①</a:t>
            </a:r>
            <a:r>
              <a:rPr lang="ko-KR" altLang="en-US" sz="1800" b="0" dirty="0">
                <a:solidFill>
                  <a:srgbClr val="1F2328"/>
                </a:solidFill>
                <a:latin typeface="맑은 고딕"/>
                <a:ea typeface="맑은 고딕"/>
                <a:cs typeface="맑은 고딕"/>
              </a:rPr>
              <a:t>	Boggis 씨는 일요일에 작은 마을에 있었다</a:t>
            </a:r>
            <a:endParaRPr lang="ko-KR" altLang="en-US" sz="1800" b="0" dirty="0">
              <a:solidFill>
                <a:srgbClr val="1F2328"/>
              </a:solidFill>
              <a:latin typeface="맑은 고딕"/>
              <a:ea typeface="맑은 고딕"/>
              <a:cs typeface="맑은 고딕"/>
            </a:endParaRPr>
          </a:p>
        </p:txBody>
      </p:sp>
      <p:sp>
        <p:nvSpPr>
          <p:cNvPr id="12" name="choice_2"/>
          <p:cNvSpPr txBox="1"/>
          <p:nvPr/>
        </p:nvSpPr>
        <p:spPr>
          <a:xfrm>
            <a:off x="457200" y="3512566"/>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②</a:t>
            </a:r>
            <a:r>
              <a:rPr lang="ko-KR" altLang="en-US" sz="1800" b="0" dirty="0">
                <a:solidFill>
                  <a:srgbClr val="1F2328"/>
                </a:solidFill>
                <a:latin typeface="맑은 고딕"/>
                <a:ea typeface="맑은 고딕"/>
                <a:cs typeface="맑은 고딕"/>
              </a:rPr>
              <a:t>	Rummins는 그 집의 주인이었다</a:t>
            </a:r>
            <a:endParaRPr lang="ko-KR" altLang="en-US" sz="1800" b="0" dirty="0">
              <a:solidFill>
                <a:srgbClr val="1F2328"/>
              </a:solidFill>
              <a:latin typeface="맑은 고딕"/>
              <a:ea typeface="맑은 고딕"/>
              <a:cs typeface="맑은 고딕"/>
            </a:endParaRPr>
          </a:p>
        </p:txBody>
      </p:sp>
      <p:sp>
        <p:nvSpPr>
          <p:cNvPr id="13" name="choice_3"/>
          <p:cNvSpPr txBox="1"/>
          <p:nvPr/>
        </p:nvSpPr>
        <p:spPr>
          <a:xfrm>
            <a:off x="457200" y="3919982"/>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③</a:t>
            </a:r>
            <a:r>
              <a:rPr lang="ko-KR" altLang="en-US" sz="1800" b="0" dirty="0">
                <a:solidFill>
                  <a:srgbClr val="1F2328"/>
                </a:solidFill>
                <a:latin typeface="맑은 고딕"/>
                <a:ea typeface="맑은 고딕"/>
                <a:cs typeface="맑은 고딕"/>
              </a:rPr>
              <a:t>	Boggis 씨는 먼저 부엌에 들어갔다</a:t>
            </a:r>
            <a:endParaRPr lang="ko-KR" altLang="en-US" sz="1800" b="0" dirty="0">
              <a:solidFill>
                <a:srgbClr val="1F2328"/>
              </a:solidFill>
              <a:latin typeface="맑은 고딕"/>
              <a:ea typeface="맑은 고딕"/>
              <a:cs typeface="맑은 고딕"/>
            </a:endParaRPr>
          </a:p>
        </p:txBody>
      </p:sp>
      <p:sp>
        <p:nvSpPr>
          <p:cNvPr id="14" name="choice_4"/>
          <p:cNvSpPr txBox="1"/>
          <p:nvPr/>
        </p:nvSpPr>
        <p:spPr>
          <a:xfrm>
            <a:off x="457200" y="4327398"/>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④</a:t>
            </a:r>
            <a:r>
              <a:rPr lang="ko-KR" altLang="en-US" sz="1800" b="0" dirty="0">
                <a:solidFill>
                  <a:srgbClr val="1F2328"/>
                </a:solidFill>
                <a:latin typeface="맑은 고딕"/>
                <a:ea typeface="맑은 고딕"/>
                <a:cs typeface="맑은 고딕"/>
              </a:rPr>
              <a:t>	Bert는 Rummins의 형이었다</a:t>
            </a:r>
            <a:endParaRPr lang="ko-KR" altLang="en-US" sz="1800" b="0" dirty="0">
              <a:solidFill>
                <a:srgbClr val="1F2328"/>
              </a:solidFill>
              <a:latin typeface="맑은 고딕"/>
              <a:ea typeface="맑은 고딕"/>
              <a:cs typeface="맑은 고딕"/>
            </a:endParaRPr>
          </a:p>
        </p:txBody>
      </p:sp>
      <p:sp>
        <p:nvSpPr>
          <p:cNvPr id="15" name="rv_pick"/>
          <p:cNvSpPr txBox="1"/>
          <p:nvPr/>
        </p:nvSpPr>
        <p:spPr>
          <a:xfrm>
            <a:off x="457200" y="4327398"/>
            <a:ext cx="11277295" cy="379984"/>
          </a:xfrm>
          <a:prstGeom prst="rect">
            <a:avLst/>
          </a:prstGeom>
          <a:solidFill>
            <a:srgbClr val="FFF3C4"/>
          </a:solid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C00000"/>
                </a:solidFill>
                <a:latin typeface="맑은 고딕"/>
                <a:ea typeface="맑은 고딕"/>
                <a:cs typeface="맑은 고딕"/>
              </a:rPr>
              <a:t>④</a:t>
            </a:r>
            <a:r>
              <a:rPr lang="ko-KR" altLang="en-US" sz="1800" b="0" dirty="0">
                <a:solidFill>
                  <a:srgbClr val="C00000"/>
                </a:solidFill>
                <a:latin typeface="맑은 고딕"/>
                <a:ea typeface="맑은 고딕"/>
                <a:cs typeface="맑은 고딕"/>
              </a:rPr>
              <a:t>	Bert는 Rummins의 형이었다</a:t>
            </a:r>
            <a:endParaRPr lang="ko-KR" altLang="en-US" sz="1800" b="0" dirty="0">
              <a:solidFill>
                <a:srgbClr val="C00000"/>
              </a:solidFill>
              <a:latin typeface="맑은 고딕"/>
              <a:ea typeface="맑은 고딕"/>
              <a:cs typeface="맑은 고딕"/>
            </a:endParaRPr>
          </a:p>
        </p:txBody>
      </p:sp>
      <p:sp>
        <p:nvSpPr>
          <p:cNvPr id="16" name="choice_5"/>
          <p:cNvSpPr txBox="1"/>
          <p:nvPr/>
        </p:nvSpPr>
        <p:spPr>
          <a:xfrm>
            <a:off x="457200" y="4734814"/>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⑤</a:t>
            </a:r>
            <a:r>
              <a:rPr lang="ko-KR" altLang="en-US" sz="1800" b="0" dirty="0">
                <a:solidFill>
                  <a:srgbClr val="1F2328"/>
                </a:solidFill>
                <a:latin typeface="맑은 고딕"/>
                <a:ea typeface="맑은 고딕"/>
                <a:cs typeface="맑은 고딕"/>
              </a:rPr>
              <a:t>	거실에서 귀중한 탁자를 발견했다</a:t>
            </a:r>
            <a:endParaRPr lang="ko-KR" altLang="en-US" sz="1800" b="0" dirty="0">
              <a:solidFill>
                <a:srgbClr val="1F2328"/>
              </a:solidFill>
              <a:latin typeface="맑은 고딕"/>
              <a:ea typeface="맑은 고딕"/>
              <a:cs typeface="맑은 고딕"/>
            </a:endParaRPr>
          </a:p>
        </p:txBody>
      </p:sp>
      <p:sp>
        <p:nvSpPr>
          <p:cNvPr id="17" name="rv_answer"/>
          <p:cNvSpPr/>
          <p:nvPr/>
        </p:nvSpPr>
        <p:spPr>
          <a:xfrm>
            <a:off x="457200" y="522452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④ </a:t>
            </a:r>
            <a:r>
              <a:rPr lang="ko-KR" altLang="en-US" sz="1900" b="1" dirty="0">
                <a:solidFill>
                  <a:srgbClr val="5A4200"/>
                </a:solidFill>
                <a:latin typeface="맑은 고딕"/>
                <a:ea typeface="맑은 고딕"/>
                <a:cs typeface="맑은 고딕"/>
              </a:rPr>
              <a:t>Bert는 Rummins의 형이었다</a:t>
            </a:r>
            <a:endParaRPr lang="ko-KR" altLang="en-US" sz="1900" b="1" dirty="0">
              <a:solidFill>
                <a:srgbClr val="5A4200"/>
              </a:solidFill>
              <a:latin typeface="맑은 고딕"/>
              <a:ea typeface="맑은 고딕"/>
              <a:cs typeface="맑은 고딕"/>
            </a:endParaRPr>
          </a:p>
        </p:txBody>
      </p:sp>
      <p:sp>
        <p:nvSpPr>
          <p:cNvPr id="18" name="rv_why"/>
          <p:cNvSpPr/>
          <p:nvPr/>
        </p:nvSpPr>
        <p:spPr>
          <a:xfrm>
            <a:off x="457200" y="5823458"/>
            <a:ext cx="11277295" cy="59562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Bert는 Rummins의 아들('his son')이다. 형이라고 한 ④는 틀리다.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250"/>
                                        <p:tgtEl>
                                          <p:spTgt spid="1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25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25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7" grpId="0" animBg="1"/>
      <p:bldP spid="9" grpId="0" animBg="1"/>
      <p:bldP spid="10" grpId="0" animBg="1"/>
      <p:bldP spid="18" grpId="0" animBg="1"/>
    </p:bldLst>
  </p:timing>
</p:sld>
</file>

<file path=ppt/slides/slide10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L6-2</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1 · 6</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6. 다음 글의 내용과 일치하는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6</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본문 근거 형광 + 정답 원리</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200787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2007870"/>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1F2328"/>
                </a:solidFill>
                <a:latin typeface="Calibri"/>
                <a:ea typeface="맑은 고딕"/>
                <a:cs typeface="Calibri"/>
              </a:rPr>
              <a:t>Now it was another Sunday, and Mr. Boggis was in a small town again. At a house he visited, he met two men. One was Rummins, the owner, and the other was his son Bert. "I buy old furniture. Do you have any?" asked Mr. Boggis. "No, I don’t," said Rummins. "Can I just take a look?" asked Mr. Boggis. "Sure. Please come in," said Rummins. Mr. Boggis first went to the kitchen, and there was nothing. He then moved to the living room. And there it was! A table which was a priceless piece of eighteenth‑century English furniture. He was so excited that he almost fell over. "What’s wrong?" Bert asked. "Oh, nothing. Nothing at all," Mr. Boggis lied. He then said with a straight face, "</a:t>
            </a:r>
            <a:r>
              <a:rPr lang="en-US" altLang="ko-KR" sz="1500" b="0" dirty="0">
                <a:solidFill>
                  <a:srgbClr val="1F2328"/>
                </a:solidFill>
                <a:latin typeface="Calibri"/>
                <a:ea typeface="맑은 고딕"/>
                <a:cs typeface="Calibri"/>
              </a:rPr>
              <a:t>This table is a reproduction</a:t>
            </a:r>
            <a:r>
              <a:rPr lang="en-US" altLang="ko-KR" sz="1500" b="0" dirty="0">
                <a:solidFill>
                  <a:srgbClr val="1F2328"/>
                </a:solidFill>
                <a:latin typeface="Calibri"/>
                <a:ea typeface="맑은 고딕"/>
                <a:cs typeface="Calibri"/>
              </a:rPr>
              <a:t>. It’s worth only a few pounds."</a:t>
            </a:r>
            <a:endParaRPr lang="en-US" altLang="ko-KR" sz="1500" b="0" dirty="0">
              <a:solidFill>
                <a:srgbClr val="1F2328"/>
              </a:solidFill>
              <a:latin typeface="Calibri"/>
              <a:ea typeface="맑은 고딕"/>
              <a:cs typeface="Calibri"/>
            </a:endParaRPr>
          </a:p>
        </p:txBody>
      </p:sp>
      <p:sp>
        <p:nvSpPr>
          <p:cNvPr id="9" name="rv_evidence_card"/>
          <p:cNvSpPr/>
          <p:nvPr/>
        </p:nvSpPr>
        <p:spPr>
          <a:xfrm>
            <a:off x="457200" y="950976"/>
            <a:ext cx="11277295" cy="200787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rv_evidence"/>
          <p:cNvSpPr txBox="1"/>
          <p:nvPr/>
        </p:nvSpPr>
        <p:spPr>
          <a:xfrm>
            <a:off x="457200" y="950976"/>
            <a:ext cx="11277295" cy="2007870"/>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B3BAC6"/>
                </a:solidFill>
                <a:latin typeface="Calibri"/>
                <a:ea typeface="맑은 고딕"/>
                <a:cs typeface="Calibri"/>
              </a:rPr>
              <a:t>Now it was another Sunday, and Mr. Boggis was in a small town again. At a house he visited, he met two men. One was Rummins, the owner, and the other was his son Bert. "I buy old furniture. Do you have any?" asked Mr. Boggis. "No, I don’t," said Rummins. "Can I just take a look?" asked Mr. Boggis. "Sure. Please come in," said Rummins. Mr. Boggis first went to the kitchen, and there was nothing. He then moved to the living room. And there it was! A table which was a priceless piece of eighteenth‑century English furniture. He was so excited that he almost fell over. "What’s wrong?" Bert asked. "Oh, nothing. Nothing at all," Mr. Boggis lied. He then said with a straight face, "</a:t>
            </a:r>
            <a:r>
              <a:rPr lang="en-US" altLang="ko-KR" sz="1500" b="0" dirty="0">
                <a:solidFill>
                  <a:srgbClr val="111111"/>
                </a:solidFill>
                <a:highlight>
                  <a:srgbClr val="FFE45C"/>
                </a:highlight>
                <a:latin typeface="Calibri"/>
                <a:ea typeface="맑은 고딕"/>
                <a:cs typeface="Calibri"/>
              </a:rPr>
              <a:t>This table is a reproduction</a:t>
            </a:r>
            <a:r>
              <a:rPr lang="en-US" altLang="ko-KR" sz="1500" b="0" dirty="0">
                <a:solidFill>
                  <a:srgbClr val="B3BAC6"/>
                </a:solidFill>
                <a:latin typeface="Calibri"/>
                <a:ea typeface="맑은 고딕"/>
                <a:cs typeface="Calibri"/>
              </a:rPr>
              <a:t>. It’s worth only a few pounds."</a:t>
            </a:r>
            <a:endParaRPr lang="en-US" altLang="ko-KR" sz="1500" b="0" dirty="0">
              <a:solidFill>
                <a:srgbClr val="B3BAC6"/>
              </a:solidFill>
              <a:latin typeface="Calibri"/>
              <a:ea typeface="맑은 고딕"/>
              <a:cs typeface="Calibri"/>
            </a:endParaRPr>
          </a:p>
        </p:txBody>
      </p:sp>
      <p:sp>
        <p:nvSpPr>
          <p:cNvPr id="11" name="choice_1"/>
          <p:cNvSpPr txBox="1"/>
          <p:nvPr/>
        </p:nvSpPr>
        <p:spPr>
          <a:xfrm>
            <a:off x="457200" y="3105150"/>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①</a:t>
            </a:r>
            <a:r>
              <a:rPr lang="ko-KR" altLang="en-US" sz="1800" b="0" dirty="0">
                <a:solidFill>
                  <a:srgbClr val="1F2328"/>
                </a:solidFill>
                <a:latin typeface="맑은 고딕"/>
                <a:ea typeface="맑은 고딕"/>
                <a:cs typeface="맑은 고딕"/>
              </a:rPr>
              <a:t>	Boggis 씨는 탁자가 복제품이라고 했다</a:t>
            </a:r>
            <a:endParaRPr lang="ko-KR" altLang="en-US" sz="1800" b="0" dirty="0">
              <a:solidFill>
                <a:srgbClr val="1F2328"/>
              </a:solidFill>
              <a:latin typeface="맑은 고딕"/>
              <a:ea typeface="맑은 고딕"/>
              <a:cs typeface="맑은 고딕"/>
            </a:endParaRPr>
          </a:p>
        </p:txBody>
      </p:sp>
      <p:sp>
        <p:nvSpPr>
          <p:cNvPr id="12" name="rv_pick"/>
          <p:cNvSpPr txBox="1"/>
          <p:nvPr/>
        </p:nvSpPr>
        <p:spPr>
          <a:xfrm>
            <a:off x="457200" y="3105150"/>
            <a:ext cx="11277295" cy="379984"/>
          </a:xfrm>
          <a:prstGeom prst="rect">
            <a:avLst/>
          </a:prstGeom>
          <a:solidFill>
            <a:srgbClr val="FFF3C4"/>
          </a:solid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C00000"/>
                </a:solidFill>
                <a:latin typeface="맑은 고딕"/>
                <a:ea typeface="맑은 고딕"/>
                <a:cs typeface="맑은 고딕"/>
              </a:rPr>
              <a:t>①</a:t>
            </a:r>
            <a:r>
              <a:rPr lang="ko-KR" altLang="en-US" sz="1800" b="0" dirty="0">
                <a:solidFill>
                  <a:srgbClr val="C00000"/>
                </a:solidFill>
                <a:latin typeface="맑은 고딕"/>
                <a:ea typeface="맑은 고딕"/>
                <a:cs typeface="맑은 고딕"/>
              </a:rPr>
              <a:t>	Boggis 씨는 탁자가 복제품이라고 했다</a:t>
            </a:r>
            <a:endParaRPr lang="ko-KR" altLang="en-US" sz="1800" b="0" dirty="0">
              <a:solidFill>
                <a:srgbClr val="C00000"/>
              </a:solidFill>
              <a:latin typeface="맑은 고딕"/>
              <a:ea typeface="맑은 고딕"/>
              <a:cs typeface="맑은 고딕"/>
            </a:endParaRPr>
          </a:p>
        </p:txBody>
      </p:sp>
      <p:sp>
        <p:nvSpPr>
          <p:cNvPr id="13" name="choice_2"/>
          <p:cNvSpPr txBox="1"/>
          <p:nvPr/>
        </p:nvSpPr>
        <p:spPr>
          <a:xfrm>
            <a:off x="457200" y="3512566"/>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②</a:t>
            </a:r>
            <a:r>
              <a:rPr lang="ko-KR" altLang="en-US" sz="1800" b="0" dirty="0">
                <a:solidFill>
                  <a:srgbClr val="1F2328"/>
                </a:solidFill>
                <a:latin typeface="맑은 고딕"/>
                <a:ea typeface="맑은 고딕"/>
                <a:cs typeface="맑은 고딕"/>
              </a:rPr>
              <a:t>	Rummins는 고가구가 있다고 말했다</a:t>
            </a:r>
            <a:endParaRPr lang="ko-KR" altLang="en-US" sz="1800" b="0" dirty="0">
              <a:solidFill>
                <a:srgbClr val="1F2328"/>
              </a:solidFill>
              <a:latin typeface="맑은 고딕"/>
              <a:ea typeface="맑은 고딕"/>
              <a:cs typeface="맑은 고딕"/>
            </a:endParaRPr>
          </a:p>
        </p:txBody>
      </p:sp>
      <p:sp>
        <p:nvSpPr>
          <p:cNvPr id="14" name="choice_3"/>
          <p:cNvSpPr txBox="1"/>
          <p:nvPr/>
        </p:nvSpPr>
        <p:spPr>
          <a:xfrm>
            <a:off x="457200" y="3919982"/>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③</a:t>
            </a:r>
            <a:r>
              <a:rPr lang="ko-KR" altLang="en-US" sz="1800" b="0" dirty="0">
                <a:solidFill>
                  <a:srgbClr val="1F2328"/>
                </a:solidFill>
                <a:latin typeface="맑은 고딕"/>
                <a:ea typeface="맑은 고딕"/>
                <a:cs typeface="맑은 고딕"/>
              </a:rPr>
              <a:t>	부엌에서 18세기 탁자를 발견했다</a:t>
            </a:r>
            <a:endParaRPr lang="ko-KR" altLang="en-US" sz="1800" b="0" dirty="0">
              <a:solidFill>
                <a:srgbClr val="1F2328"/>
              </a:solidFill>
              <a:latin typeface="맑은 고딕"/>
              <a:ea typeface="맑은 고딕"/>
              <a:cs typeface="맑은 고딕"/>
            </a:endParaRPr>
          </a:p>
        </p:txBody>
      </p:sp>
      <p:sp>
        <p:nvSpPr>
          <p:cNvPr id="15" name="choice_4"/>
          <p:cNvSpPr txBox="1"/>
          <p:nvPr/>
        </p:nvSpPr>
        <p:spPr>
          <a:xfrm>
            <a:off x="457200" y="4327398"/>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④</a:t>
            </a:r>
            <a:r>
              <a:rPr lang="ko-KR" altLang="en-US" sz="1800" b="0" dirty="0">
                <a:solidFill>
                  <a:srgbClr val="1F2328"/>
                </a:solidFill>
                <a:latin typeface="맑은 고딕"/>
                <a:ea typeface="맑은 고딕"/>
                <a:cs typeface="맑은 고딕"/>
              </a:rPr>
              <a:t>	Bert는 탁자가 진품이라고 말했다</a:t>
            </a:r>
            <a:endParaRPr lang="ko-KR" altLang="en-US" sz="1800" b="0" dirty="0">
              <a:solidFill>
                <a:srgbClr val="1F2328"/>
              </a:solidFill>
              <a:latin typeface="맑은 고딕"/>
              <a:ea typeface="맑은 고딕"/>
              <a:cs typeface="맑은 고딕"/>
            </a:endParaRPr>
          </a:p>
        </p:txBody>
      </p:sp>
      <p:sp>
        <p:nvSpPr>
          <p:cNvPr id="16" name="choice_5"/>
          <p:cNvSpPr txBox="1"/>
          <p:nvPr/>
        </p:nvSpPr>
        <p:spPr>
          <a:xfrm>
            <a:off x="457200" y="4734814"/>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⑤</a:t>
            </a:r>
            <a:r>
              <a:rPr lang="ko-KR" altLang="en-US" sz="1800" b="0" dirty="0">
                <a:solidFill>
                  <a:srgbClr val="1F2328"/>
                </a:solidFill>
                <a:latin typeface="맑은 고딕"/>
                <a:ea typeface="맑은 고딕"/>
                <a:cs typeface="맑은 고딕"/>
              </a:rPr>
              <a:t>	Boggis 씨는 흥분해서 실제로 넘어졌다</a:t>
            </a:r>
            <a:endParaRPr lang="ko-KR" altLang="en-US" sz="1800" b="0" dirty="0">
              <a:solidFill>
                <a:srgbClr val="1F2328"/>
              </a:solidFill>
              <a:latin typeface="맑은 고딕"/>
              <a:ea typeface="맑은 고딕"/>
              <a:cs typeface="맑은 고딕"/>
            </a:endParaRPr>
          </a:p>
        </p:txBody>
      </p:sp>
      <p:sp>
        <p:nvSpPr>
          <p:cNvPr id="17" name="rv_answer"/>
          <p:cNvSpPr/>
          <p:nvPr/>
        </p:nvSpPr>
        <p:spPr>
          <a:xfrm>
            <a:off x="457200" y="522452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① </a:t>
            </a:r>
            <a:r>
              <a:rPr lang="ko-KR" altLang="en-US" sz="1900" b="1" dirty="0">
                <a:solidFill>
                  <a:srgbClr val="5A4200"/>
                </a:solidFill>
                <a:latin typeface="맑은 고딕"/>
                <a:ea typeface="맑은 고딕"/>
                <a:cs typeface="맑은 고딕"/>
              </a:rPr>
              <a:t>Boggis 씨는 탁자가 복제품이라고 했다</a:t>
            </a:r>
            <a:endParaRPr lang="ko-KR" altLang="en-US" sz="1900" b="1" dirty="0">
              <a:solidFill>
                <a:srgbClr val="5A4200"/>
              </a:solidFill>
              <a:latin typeface="맑은 고딕"/>
              <a:ea typeface="맑은 고딕"/>
              <a:cs typeface="맑은 고딕"/>
            </a:endParaRPr>
          </a:p>
        </p:txBody>
      </p:sp>
      <p:sp>
        <p:nvSpPr>
          <p:cNvPr id="18" name="rv_why"/>
          <p:cNvSpPr/>
          <p:nvPr/>
        </p:nvSpPr>
        <p:spPr>
          <a:xfrm>
            <a:off x="457200" y="5823458"/>
            <a:ext cx="11277295" cy="59562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Boggis는 정색하며 탁자가 복제품이라고 말했다. ①이 일치한다.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25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25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25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7" grpId="0" animBg="1"/>
      <p:bldP spid="9" grpId="0" animBg="1"/>
      <p:bldP spid="10" grpId="0" animBg="1"/>
      <p:bldP spid="18" grpId="0" animBg="1"/>
    </p:bldLst>
  </p:timing>
</p:sld>
</file>

<file path=ppt/slides/slide10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L6-2</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2 · 1</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1. 주어진 글 다음에 이어질 글의 순서로 가장 적절한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6</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정답 원리</a:t>
            </a:r>
            <a:endParaRPr lang="ko-KR" altLang="en-US" sz="1000" b="0" dirty="0">
              <a:solidFill>
                <a:srgbClr val="7A808C"/>
              </a:solidFill>
              <a:latin typeface="맑은 고딕"/>
              <a:ea typeface="맑은 고딕"/>
              <a:cs typeface="맑은 고딕"/>
            </a:endParaRPr>
          </a:p>
        </p:txBody>
      </p:sp>
      <p:sp>
        <p:nvSpPr>
          <p:cNvPr id="7" name="given_card"/>
          <p:cNvSpPr/>
          <p:nvPr/>
        </p:nvSpPr>
        <p:spPr>
          <a:xfrm>
            <a:off x="457200" y="950976"/>
            <a:ext cx="11277295" cy="472948"/>
          </a:xfrm>
          <a:prstGeom prst="roundRect">
            <a:avLst>
              <a:gd name="adj" fmla="val 6000"/>
            </a:avLst>
          </a:prstGeom>
          <a:solidFill>
            <a:srgbClr val="FFFFFF"/>
          </a:solidFill>
          <a:ln w="15875">
            <a:solidFill>
              <a:srgbClr val="1E2A5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given"/>
          <p:cNvSpPr txBox="1"/>
          <p:nvPr/>
        </p:nvSpPr>
        <p:spPr>
          <a:xfrm>
            <a:off x="457200" y="950976"/>
            <a:ext cx="11277295" cy="472948"/>
          </a:xfrm>
          <a:prstGeom prst="rect">
            <a:avLst/>
          </a:prstGeom>
          <a:noFill/>
        </p:spPr>
        <p:txBody>
          <a:bodyPr wrap="square" lIns="201168" tIns="100584" rIns="201168" bIns="100584" anchor="t" rtlCol="0">
            <a:noAutofit/>
          </a:bodyPr>
          <a:lstStyle/>
          <a:p>
            <a:pPr algn="l">
              <a:lnSpc>
                <a:spcPts val="2140"/>
              </a:lnSpc>
              <a:spcBef>
                <a:spcPts val="0"/>
              </a:spcBef>
              <a:spcAft>
                <a:spcPts val="0"/>
              </a:spcAft>
              <a:buNone/>
            </a:pPr>
            <a:r>
              <a:rPr lang="en-US" altLang="ko-KR" sz="1650" b="0" dirty="0">
                <a:solidFill>
                  <a:srgbClr val="1F2328"/>
                </a:solidFill>
                <a:latin typeface="Calibri"/>
                <a:ea typeface="맑은 고딕"/>
                <a:cs typeface="Calibri"/>
              </a:rPr>
              <a:t>Now it was another Sunday, and Mr. Boggis was in a small town again.</a:t>
            </a:r>
            <a:endParaRPr lang="en-US" altLang="ko-KR" sz="1650" b="0" dirty="0">
              <a:solidFill>
                <a:srgbClr val="1F2328"/>
              </a:solidFill>
              <a:latin typeface="Calibri"/>
              <a:ea typeface="맑은 고딕"/>
              <a:cs typeface="Calibri"/>
            </a:endParaRPr>
          </a:p>
        </p:txBody>
      </p:sp>
      <p:sp>
        <p:nvSpPr>
          <p:cNvPr id="9" name="parts_card"/>
          <p:cNvSpPr/>
          <p:nvPr/>
        </p:nvSpPr>
        <p:spPr>
          <a:xfrm>
            <a:off x="457200" y="1551940"/>
            <a:ext cx="11277295" cy="2712211"/>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parts"/>
          <p:cNvSpPr txBox="1"/>
          <p:nvPr/>
        </p:nvSpPr>
        <p:spPr>
          <a:xfrm>
            <a:off x="457200" y="1551940"/>
            <a:ext cx="11277295" cy="2712211"/>
          </a:xfrm>
          <a:prstGeom prst="rect">
            <a:avLst/>
          </a:prstGeom>
          <a:noFill/>
        </p:spPr>
        <p:txBody>
          <a:bodyPr wrap="square" lIns="201168" tIns="118872" rIns="201168" bIns="118872" anchor="t" rtlCol="0">
            <a:noAutofit/>
          </a:bodyPr>
          <a:lstStyle/>
          <a:p>
            <a:pPr algn="just" marL="439420" indent="-439420">
              <a:lnSpc>
                <a:spcPts val="2140"/>
              </a:lnSpc>
              <a:spcBef>
                <a:spcPts val="0"/>
              </a:spcBef>
              <a:spcAft>
                <a:spcPts val="740"/>
              </a:spcAft>
              <a:buNone/>
              <a:tabLst>
                <a:tab pos="439420" algn="l"/>
              </a:tabLst>
            </a:pPr>
            <a:r>
              <a:rPr lang="en-US" altLang="ko-KR" sz="1650" b="1" dirty="0">
                <a:solidFill>
                  <a:srgbClr val="1E2A5A"/>
                </a:solidFill>
                <a:latin typeface="Calibri"/>
                <a:ea typeface="맑은 고딕"/>
                <a:cs typeface="Calibri"/>
              </a:rPr>
              <a:t>(A)</a:t>
            </a:r>
            <a:r>
              <a:rPr lang="en-US" altLang="ko-KR" sz="1650" b="0" dirty="0">
                <a:solidFill>
                  <a:srgbClr val="1F2328"/>
                </a:solidFill>
                <a:latin typeface="Calibri"/>
                <a:ea typeface="맑은 고딕"/>
                <a:cs typeface="Calibri"/>
              </a:rPr>
              <a:t>	Mr. Boggis first went to the kitchen, and there was nothing. He then moved to the living room. And there it was! A table which was a priceless piece of eighteenth‑century English furniture.</a:t>
            </a:r>
            <a:endParaRPr lang="en-US" altLang="ko-KR" sz="1650" b="0" dirty="0">
              <a:solidFill>
                <a:srgbClr val="1F2328"/>
              </a:solidFill>
              <a:latin typeface="Calibri"/>
              <a:ea typeface="맑은 고딕"/>
              <a:cs typeface="Calibri"/>
            </a:endParaRPr>
          </a:p>
          <a:p>
            <a:pPr algn="just" marL="439420" indent="-439420">
              <a:lnSpc>
                <a:spcPts val="2140"/>
              </a:lnSpc>
              <a:spcBef>
                <a:spcPts val="0"/>
              </a:spcBef>
              <a:spcAft>
                <a:spcPts val="740"/>
              </a:spcAft>
              <a:buNone/>
              <a:tabLst>
                <a:tab pos="439420" algn="l"/>
              </a:tabLst>
            </a:pPr>
            <a:r>
              <a:rPr lang="en-US" altLang="ko-KR" sz="1650" b="1" dirty="0">
                <a:solidFill>
                  <a:srgbClr val="1E2A5A"/>
                </a:solidFill>
                <a:latin typeface="Calibri"/>
                <a:ea typeface="맑은 고딕"/>
                <a:cs typeface="Calibri"/>
              </a:rPr>
              <a:t>(B)</a:t>
            </a:r>
            <a:r>
              <a:rPr lang="en-US" altLang="ko-KR" sz="1650" b="0" dirty="0">
                <a:solidFill>
                  <a:srgbClr val="1F2328"/>
                </a:solidFill>
                <a:latin typeface="Calibri"/>
                <a:ea typeface="맑은 고딕"/>
                <a:cs typeface="Calibri"/>
              </a:rPr>
              <a:t>	At a house he visited, he met two men. One was Rummins, the owner, and the other was his son Bert. "I buy old furniture. Do you have any?" asked Mr. Boggis. "No, I don’t," said Rummins. "Can I just take a look?" asked Mr. Boggis. "Sure. Please come in," said Rummins.</a:t>
            </a:r>
            <a:endParaRPr lang="en-US" altLang="ko-KR" sz="1650" b="0" dirty="0">
              <a:solidFill>
                <a:srgbClr val="1F2328"/>
              </a:solidFill>
              <a:latin typeface="Calibri"/>
              <a:ea typeface="맑은 고딕"/>
              <a:cs typeface="Calibri"/>
            </a:endParaRPr>
          </a:p>
          <a:p>
            <a:pPr algn="just" marL="439420" indent="-439420">
              <a:lnSpc>
                <a:spcPts val="2140"/>
              </a:lnSpc>
              <a:spcBef>
                <a:spcPts val="0"/>
              </a:spcBef>
              <a:spcAft>
                <a:spcPts val="740"/>
              </a:spcAft>
              <a:buNone/>
              <a:tabLst>
                <a:tab pos="439420" algn="l"/>
              </a:tabLst>
            </a:pPr>
            <a:r>
              <a:rPr lang="en-US" altLang="ko-KR" sz="1650" b="1" dirty="0">
                <a:solidFill>
                  <a:srgbClr val="1E2A5A"/>
                </a:solidFill>
                <a:latin typeface="Calibri"/>
                <a:ea typeface="맑은 고딕"/>
                <a:cs typeface="Calibri"/>
              </a:rPr>
              <a:t>(C)</a:t>
            </a:r>
            <a:r>
              <a:rPr lang="en-US" altLang="ko-KR" sz="1650" b="0" dirty="0">
                <a:solidFill>
                  <a:srgbClr val="1F2328"/>
                </a:solidFill>
                <a:latin typeface="Calibri"/>
                <a:ea typeface="맑은 고딕"/>
                <a:cs typeface="Calibri"/>
              </a:rPr>
              <a:t>	He was so excited that he almost fell over. "What’s wrong?" Bert asked. "Oh, nothing. Nothing at all," Mr. Boggis lied. He then said with a straight face, "This table is a reproduction. It’s worth only a few pounds."</a:t>
            </a:r>
            <a:endParaRPr lang="en-US" altLang="ko-KR" sz="1650" b="0" dirty="0">
              <a:solidFill>
                <a:srgbClr val="1F2328"/>
              </a:solidFill>
              <a:latin typeface="Calibri"/>
              <a:ea typeface="맑은 고딕"/>
              <a:cs typeface="Calibri"/>
            </a:endParaRPr>
          </a:p>
        </p:txBody>
      </p:sp>
      <p:sp>
        <p:nvSpPr>
          <p:cNvPr id="11" name="options"/>
          <p:cNvSpPr txBox="1"/>
          <p:nvPr/>
        </p:nvSpPr>
        <p:spPr>
          <a:xfrm>
            <a:off x="457200" y="4373880"/>
            <a:ext cx="11277295" cy="420624"/>
          </a:xfrm>
          <a:prstGeom prst="rect">
            <a:avLst/>
          </a:prstGeom>
          <a:noFill/>
        </p:spPr>
        <p:txBody>
          <a:bodyPr wrap="square" lIns="91440" tIns="18288" rIns="91440" bIns="18288" anchor="ctr" rtlCol="0">
            <a:noAutofit/>
          </a:bodyPr>
          <a:lstStyle/>
          <a:p>
            <a:pPr algn="ctr">
              <a:lnSpc>
                <a:spcPts val="2560"/>
              </a:lnSpc>
              <a:spcBef>
                <a:spcPts val="0"/>
              </a:spcBef>
              <a:spcAft>
                <a:spcPts val="0"/>
              </a:spcAft>
              <a:buNone/>
            </a:pPr>
            <a:r>
              <a:rPr lang="ko-KR" altLang="en-US" sz="1800" b="1" dirty="0">
                <a:solidFill>
                  <a:srgbClr val="1E2A5A"/>
                </a:solidFill>
                <a:latin typeface="맑은 고딕"/>
                <a:ea typeface="맑은 고딕"/>
                <a:cs typeface="맑은 고딕"/>
              </a:rPr>
              <a:t>① </a:t>
            </a:r>
            <a:r>
              <a:rPr lang="en-US" altLang="ko-KR" sz="1800" b="0" dirty="0">
                <a:solidFill>
                  <a:srgbClr val="1F2328"/>
                </a:solidFill>
                <a:latin typeface="Calibri"/>
                <a:ea typeface="맑은 고딕"/>
                <a:cs typeface="Calibri"/>
              </a:rPr>
              <a:t>(A) - (C) - (B)</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② </a:t>
            </a:r>
            <a:r>
              <a:rPr lang="en-US" altLang="ko-KR" sz="1800" b="0" dirty="0">
                <a:solidFill>
                  <a:srgbClr val="1F2328"/>
                </a:solidFill>
                <a:latin typeface="Calibri"/>
                <a:ea typeface="맑은 고딕"/>
                <a:cs typeface="Calibri"/>
              </a:rPr>
              <a:t>(B) - (A) - (C)</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③ </a:t>
            </a:r>
            <a:r>
              <a:rPr lang="en-US" altLang="ko-KR" sz="1800" b="0" dirty="0">
                <a:solidFill>
                  <a:srgbClr val="1F2328"/>
                </a:solidFill>
                <a:latin typeface="Calibri"/>
                <a:ea typeface="맑은 고딕"/>
                <a:cs typeface="Calibri"/>
              </a:rPr>
              <a:t>(B) - (C) - (A)</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④ </a:t>
            </a:r>
            <a:r>
              <a:rPr lang="en-US" altLang="ko-KR" sz="1800" b="0" dirty="0">
                <a:solidFill>
                  <a:srgbClr val="1F2328"/>
                </a:solidFill>
                <a:latin typeface="Calibri"/>
                <a:ea typeface="맑은 고딕"/>
                <a:cs typeface="Calibri"/>
              </a:rPr>
              <a:t>(C) - (A) - (B)</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⑤ </a:t>
            </a:r>
            <a:r>
              <a:rPr lang="en-US" altLang="ko-KR" sz="1800" b="0" dirty="0">
                <a:solidFill>
                  <a:srgbClr val="1F2328"/>
                </a:solidFill>
                <a:latin typeface="Calibri"/>
                <a:ea typeface="맑은 고딕"/>
                <a:cs typeface="Calibri"/>
              </a:rPr>
              <a:t>(C) - (B) - (A)</a:t>
            </a:r>
            <a:endParaRPr lang="en-US" altLang="ko-KR" sz="1800" b="0" dirty="0">
              <a:solidFill>
                <a:srgbClr val="1F2328"/>
              </a:solidFill>
              <a:latin typeface="Calibri"/>
              <a:ea typeface="맑은 고딕"/>
              <a:cs typeface="Calibri"/>
            </a:endParaRPr>
          </a:p>
        </p:txBody>
      </p:sp>
      <p:sp>
        <p:nvSpPr>
          <p:cNvPr id="12" name="rv_pick"/>
          <p:cNvSpPr txBox="1"/>
          <p:nvPr/>
        </p:nvSpPr>
        <p:spPr>
          <a:xfrm>
            <a:off x="457200" y="4373880"/>
            <a:ext cx="11277295" cy="420624"/>
          </a:xfrm>
          <a:prstGeom prst="rect">
            <a:avLst/>
          </a:prstGeom>
          <a:noFill/>
        </p:spPr>
        <p:txBody>
          <a:bodyPr wrap="square" lIns="91440" tIns="18288" rIns="91440" bIns="18288" anchor="ctr" rtlCol="0">
            <a:noAutofit/>
          </a:bodyPr>
          <a:lstStyle/>
          <a:p>
            <a:pPr algn="ctr">
              <a:lnSpc>
                <a:spcPts val="2560"/>
              </a:lnSpc>
              <a:spcBef>
                <a:spcPts val="0"/>
              </a:spcBef>
              <a:spcAft>
                <a:spcPts val="0"/>
              </a:spcAft>
              <a:buNone/>
            </a:pPr>
            <a:r>
              <a:rPr lang="ko-KR" altLang="en-US" sz="1800" b="1" dirty="0">
                <a:solidFill>
                  <a:srgbClr val="1E2A5A">
                    <a:alpha val="0"/>
                  </a:srgbClr>
                </a:solidFill>
                <a:latin typeface="맑은 고딕"/>
                <a:ea typeface="맑은 고딕"/>
                <a:cs typeface="맑은 고딕"/>
              </a:rPr>
              <a:t>① </a:t>
            </a:r>
            <a:r>
              <a:rPr lang="en-US" altLang="ko-KR" sz="1800" b="0" dirty="0">
                <a:solidFill>
                  <a:srgbClr val="1F2328">
                    <a:alpha val="0"/>
                  </a:srgbClr>
                </a:solidFill>
                <a:latin typeface="Calibri"/>
                <a:ea typeface="맑은 고딕"/>
                <a:cs typeface="Calibri"/>
              </a:rPr>
              <a:t>(A) - (C) - (B)</a:t>
            </a:r>
            <a:r>
              <a:rPr lang="en-US" altLang="ko-KR" sz="1800" b="0" dirty="0">
                <a:solidFill>
                  <a:srgbClr val="1F2328">
                    <a:alpha val="0"/>
                  </a:srgbClr>
                </a:solidFill>
                <a:latin typeface="Calibri"/>
                <a:ea typeface="맑은 고딕"/>
                <a:cs typeface="Calibri"/>
              </a:rPr>
              <a:t>       </a:t>
            </a:r>
            <a:r>
              <a:rPr lang="ko-KR" altLang="en-US" sz="1800" b="1" dirty="0">
                <a:solidFill>
                  <a:srgbClr val="C00000"/>
                </a:solidFill>
                <a:highlight>
                  <a:srgbClr val="FFFFFF"/>
                </a:highlight>
                <a:latin typeface="맑은 고딕"/>
                <a:ea typeface="맑은 고딕"/>
                <a:cs typeface="맑은 고딕"/>
              </a:rPr>
              <a:t>② </a:t>
            </a:r>
            <a:r>
              <a:rPr lang="en-US" altLang="ko-KR" sz="1800" b="0" dirty="0">
                <a:solidFill>
                  <a:srgbClr val="C00000"/>
                </a:solidFill>
                <a:highlight>
                  <a:srgbClr val="FFFFFF"/>
                </a:highlight>
                <a:latin typeface="Calibri"/>
                <a:ea typeface="맑은 고딕"/>
                <a:cs typeface="Calibri"/>
              </a:rPr>
              <a:t>(B) - (A) - (C)</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③ </a:t>
            </a:r>
            <a:r>
              <a:rPr lang="en-US" altLang="ko-KR" sz="1800" b="0" dirty="0">
                <a:solidFill>
                  <a:srgbClr val="1F2328">
                    <a:alpha val="0"/>
                  </a:srgbClr>
                </a:solidFill>
                <a:latin typeface="Calibri"/>
                <a:ea typeface="맑은 고딕"/>
                <a:cs typeface="Calibri"/>
              </a:rPr>
              <a:t>(B) - (C) - (A)</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④ </a:t>
            </a:r>
            <a:r>
              <a:rPr lang="en-US" altLang="ko-KR" sz="1800" b="0" dirty="0">
                <a:solidFill>
                  <a:srgbClr val="1F2328">
                    <a:alpha val="0"/>
                  </a:srgbClr>
                </a:solidFill>
                <a:latin typeface="Calibri"/>
                <a:ea typeface="맑은 고딕"/>
                <a:cs typeface="Calibri"/>
              </a:rPr>
              <a:t>(C) - (A) - (B)</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⑤ </a:t>
            </a:r>
            <a:r>
              <a:rPr lang="en-US" altLang="ko-KR" sz="1800" b="0" dirty="0">
                <a:solidFill>
                  <a:srgbClr val="1F2328">
                    <a:alpha val="0"/>
                  </a:srgbClr>
                </a:solidFill>
                <a:latin typeface="Calibri"/>
                <a:ea typeface="맑은 고딕"/>
                <a:cs typeface="Calibri"/>
              </a:rPr>
              <a:t>(C) - (B) - (A)</a:t>
            </a:r>
            <a:endParaRPr lang="en-US" altLang="ko-KR" sz="1800" b="0" dirty="0">
              <a:solidFill>
                <a:srgbClr val="1F2328"/>
              </a:solidFill>
              <a:latin typeface="Calibri"/>
              <a:ea typeface="맑은 고딕"/>
              <a:cs typeface="Calibri"/>
            </a:endParaRPr>
          </a:p>
        </p:txBody>
      </p:sp>
      <p:sp>
        <p:nvSpPr>
          <p:cNvPr id="13" name="rv_answer"/>
          <p:cNvSpPr/>
          <p:nvPr/>
        </p:nvSpPr>
        <p:spPr>
          <a:xfrm>
            <a:off x="457200" y="4885944"/>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② </a:t>
            </a:r>
            <a:r>
              <a:rPr lang="en-US" altLang="ko-KR" sz="1900" b="1" dirty="0">
                <a:solidFill>
                  <a:srgbClr val="5A4200"/>
                </a:solidFill>
                <a:latin typeface="Calibri"/>
                <a:ea typeface="맑은 고딕"/>
                <a:cs typeface="Calibri"/>
              </a:rPr>
              <a:t>(B) - (A) - (C)</a:t>
            </a:r>
            <a:endParaRPr lang="en-US" altLang="ko-KR" sz="1900" b="1" dirty="0">
              <a:solidFill>
                <a:srgbClr val="5A4200"/>
              </a:solidFill>
              <a:latin typeface="Calibri"/>
              <a:ea typeface="맑은 고딕"/>
              <a:cs typeface="Calibri"/>
            </a:endParaRPr>
          </a:p>
        </p:txBody>
      </p:sp>
      <p:sp>
        <p:nvSpPr>
          <p:cNvPr id="14" name="rv_why"/>
          <p:cNvSpPr/>
          <p:nvPr/>
        </p:nvSpPr>
        <p:spPr>
          <a:xfrm>
            <a:off x="457200" y="5484876"/>
            <a:ext cx="11277295" cy="934211"/>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일요일 작은 마을 → (B) 한 집에서 Rummins 부자를 만나 둘러봐도 되냐고 묻는다 → (A) 부엌을 거쳐 거실에서 탁자를 찾는다 → (C) 흥분했지만 복제품이라고 속인다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25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250"/>
                                        <p:tgtEl>
                                          <p:spTgt spid="1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2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animBg="1"/>
    </p:bldLst>
  </p:timing>
</p:sld>
</file>

<file path=ppt/slides/slide10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L6-2</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2 · 2</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2. 주어진 글 다음에 이어질 글의 순서로 가장 적절한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6</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정답 원리</a:t>
            </a:r>
            <a:endParaRPr lang="ko-KR" altLang="en-US" sz="1000" b="0" dirty="0">
              <a:solidFill>
                <a:srgbClr val="7A808C"/>
              </a:solidFill>
              <a:latin typeface="맑은 고딕"/>
              <a:ea typeface="맑은 고딕"/>
              <a:cs typeface="맑은 고딕"/>
            </a:endParaRPr>
          </a:p>
        </p:txBody>
      </p:sp>
      <p:sp>
        <p:nvSpPr>
          <p:cNvPr id="7" name="given_card"/>
          <p:cNvSpPr/>
          <p:nvPr/>
        </p:nvSpPr>
        <p:spPr>
          <a:xfrm>
            <a:off x="457200" y="950976"/>
            <a:ext cx="11277295" cy="472948"/>
          </a:xfrm>
          <a:prstGeom prst="roundRect">
            <a:avLst>
              <a:gd name="adj" fmla="val 6000"/>
            </a:avLst>
          </a:prstGeom>
          <a:solidFill>
            <a:srgbClr val="FFFFFF"/>
          </a:solidFill>
          <a:ln w="15875">
            <a:solidFill>
              <a:srgbClr val="1E2A5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given"/>
          <p:cNvSpPr txBox="1"/>
          <p:nvPr/>
        </p:nvSpPr>
        <p:spPr>
          <a:xfrm>
            <a:off x="457200" y="950976"/>
            <a:ext cx="11277295" cy="472948"/>
          </a:xfrm>
          <a:prstGeom prst="rect">
            <a:avLst/>
          </a:prstGeom>
          <a:noFill/>
        </p:spPr>
        <p:txBody>
          <a:bodyPr wrap="square" lIns="201168" tIns="100584" rIns="201168" bIns="100584" anchor="t" rtlCol="0">
            <a:noAutofit/>
          </a:bodyPr>
          <a:lstStyle/>
          <a:p>
            <a:pPr algn="l">
              <a:lnSpc>
                <a:spcPts val="2140"/>
              </a:lnSpc>
              <a:spcBef>
                <a:spcPts val="0"/>
              </a:spcBef>
              <a:spcAft>
                <a:spcPts val="0"/>
              </a:spcAft>
              <a:buNone/>
            </a:pPr>
            <a:r>
              <a:rPr lang="en-US" altLang="ko-KR" sz="1650" b="0" dirty="0">
                <a:solidFill>
                  <a:srgbClr val="1F2328"/>
                </a:solidFill>
                <a:latin typeface="Calibri"/>
                <a:ea typeface="맑은 고딕"/>
                <a:cs typeface="Calibri"/>
              </a:rPr>
              <a:t>Now it was another Sunday, and Mr. Boggis was in a small town again.</a:t>
            </a:r>
            <a:endParaRPr lang="en-US" altLang="ko-KR" sz="1650" b="0" dirty="0">
              <a:solidFill>
                <a:srgbClr val="1F2328"/>
              </a:solidFill>
              <a:latin typeface="Calibri"/>
              <a:ea typeface="맑은 고딕"/>
              <a:cs typeface="Calibri"/>
            </a:endParaRPr>
          </a:p>
        </p:txBody>
      </p:sp>
      <p:sp>
        <p:nvSpPr>
          <p:cNvPr id="9" name="parts_card"/>
          <p:cNvSpPr/>
          <p:nvPr/>
        </p:nvSpPr>
        <p:spPr>
          <a:xfrm>
            <a:off x="457200" y="1551940"/>
            <a:ext cx="11277295" cy="2712211"/>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parts"/>
          <p:cNvSpPr txBox="1"/>
          <p:nvPr/>
        </p:nvSpPr>
        <p:spPr>
          <a:xfrm>
            <a:off x="457200" y="1551940"/>
            <a:ext cx="11277295" cy="2712211"/>
          </a:xfrm>
          <a:prstGeom prst="rect">
            <a:avLst/>
          </a:prstGeom>
          <a:noFill/>
        </p:spPr>
        <p:txBody>
          <a:bodyPr wrap="square" lIns="201168" tIns="118872" rIns="201168" bIns="118872" anchor="t" rtlCol="0">
            <a:noAutofit/>
          </a:bodyPr>
          <a:lstStyle/>
          <a:p>
            <a:pPr algn="just" marL="439420" indent="-439420">
              <a:lnSpc>
                <a:spcPts val="2140"/>
              </a:lnSpc>
              <a:spcBef>
                <a:spcPts val="0"/>
              </a:spcBef>
              <a:spcAft>
                <a:spcPts val="740"/>
              </a:spcAft>
              <a:buNone/>
              <a:tabLst>
                <a:tab pos="439420" algn="l"/>
              </a:tabLst>
            </a:pPr>
            <a:r>
              <a:rPr lang="en-US" altLang="ko-KR" sz="1650" b="1" dirty="0">
                <a:solidFill>
                  <a:srgbClr val="1E2A5A"/>
                </a:solidFill>
                <a:latin typeface="Calibri"/>
                <a:ea typeface="맑은 고딕"/>
                <a:cs typeface="Calibri"/>
              </a:rPr>
              <a:t>(A)</a:t>
            </a:r>
            <a:r>
              <a:rPr lang="en-US" altLang="ko-KR" sz="1650" b="0" dirty="0">
                <a:solidFill>
                  <a:srgbClr val="1F2328"/>
                </a:solidFill>
                <a:latin typeface="Calibri"/>
                <a:ea typeface="맑은 고딕"/>
                <a:cs typeface="Calibri"/>
              </a:rPr>
              <a:t>	Mr. Boggis first went to the kitchen, and there was nothing. He then moved to the living room. And there it was! A table which was a priceless piece of eighteenth‑century English furniture.</a:t>
            </a:r>
            <a:endParaRPr lang="en-US" altLang="ko-KR" sz="1650" b="0" dirty="0">
              <a:solidFill>
                <a:srgbClr val="1F2328"/>
              </a:solidFill>
              <a:latin typeface="Calibri"/>
              <a:ea typeface="맑은 고딕"/>
              <a:cs typeface="Calibri"/>
            </a:endParaRPr>
          </a:p>
          <a:p>
            <a:pPr algn="just" marL="439420" indent="-439420">
              <a:lnSpc>
                <a:spcPts val="2140"/>
              </a:lnSpc>
              <a:spcBef>
                <a:spcPts val="0"/>
              </a:spcBef>
              <a:spcAft>
                <a:spcPts val="740"/>
              </a:spcAft>
              <a:buNone/>
              <a:tabLst>
                <a:tab pos="439420" algn="l"/>
              </a:tabLst>
            </a:pPr>
            <a:r>
              <a:rPr lang="en-US" altLang="ko-KR" sz="1650" b="1" dirty="0">
                <a:solidFill>
                  <a:srgbClr val="1E2A5A"/>
                </a:solidFill>
                <a:latin typeface="Calibri"/>
                <a:ea typeface="맑은 고딕"/>
                <a:cs typeface="Calibri"/>
              </a:rPr>
              <a:t>(B)</a:t>
            </a:r>
            <a:r>
              <a:rPr lang="en-US" altLang="ko-KR" sz="1650" b="0" dirty="0">
                <a:solidFill>
                  <a:srgbClr val="1F2328"/>
                </a:solidFill>
                <a:latin typeface="Calibri"/>
                <a:ea typeface="맑은 고딕"/>
                <a:cs typeface="Calibri"/>
              </a:rPr>
              <a:t>	He was so excited that he almost fell over. "What’s wrong?" Bert asked. "Oh, nothing. Nothing at all," Mr. Boggis lied. He then said with a straight face, "This table is a reproduction. It’s worth only a few pounds."</a:t>
            </a:r>
            <a:endParaRPr lang="en-US" altLang="ko-KR" sz="1650" b="0" dirty="0">
              <a:solidFill>
                <a:srgbClr val="1F2328"/>
              </a:solidFill>
              <a:latin typeface="Calibri"/>
              <a:ea typeface="맑은 고딕"/>
              <a:cs typeface="Calibri"/>
            </a:endParaRPr>
          </a:p>
          <a:p>
            <a:pPr algn="just" marL="439420" indent="-439420">
              <a:lnSpc>
                <a:spcPts val="2140"/>
              </a:lnSpc>
              <a:spcBef>
                <a:spcPts val="0"/>
              </a:spcBef>
              <a:spcAft>
                <a:spcPts val="740"/>
              </a:spcAft>
              <a:buNone/>
              <a:tabLst>
                <a:tab pos="439420" algn="l"/>
              </a:tabLst>
            </a:pPr>
            <a:r>
              <a:rPr lang="en-US" altLang="ko-KR" sz="1650" b="1" dirty="0">
                <a:solidFill>
                  <a:srgbClr val="1E2A5A"/>
                </a:solidFill>
                <a:latin typeface="Calibri"/>
                <a:ea typeface="맑은 고딕"/>
                <a:cs typeface="Calibri"/>
              </a:rPr>
              <a:t>(C)</a:t>
            </a:r>
            <a:r>
              <a:rPr lang="en-US" altLang="ko-KR" sz="1650" b="0" dirty="0">
                <a:solidFill>
                  <a:srgbClr val="1F2328"/>
                </a:solidFill>
                <a:latin typeface="Calibri"/>
                <a:ea typeface="맑은 고딕"/>
                <a:cs typeface="Calibri"/>
              </a:rPr>
              <a:t>	At a house he visited, he met two men. One was Rummins, the owner, and the other was his son Bert. "I buy old furniture. Do you have any?" asked Mr. Boggis. "No, I don’t," said Rummins. "Can I just take a look?" asked Mr. Boggis. "Sure. Please come in," said Rummins.</a:t>
            </a:r>
            <a:endParaRPr lang="en-US" altLang="ko-KR" sz="1650" b="0" dirty="0">
              <a:solidFill>
                <a:srgbClr val="1F2328"/>
              </a:solidFill>
              <a:latin typeface="Calibri"/>
              <a:ea typeface="맑은 고딕"/>
              <a:cs typeface="Calibri"/>
            </a:endParaRPr>
          </a:p>
        </p:txBody>
      </p:sp>
      <p:sp>
        <p:nvSpPr>
          <p:cNvPr id="11" name="options"/>
          <p:cNvSpPr txBox="1"/>
          <p:nvPr/>
        </p:nvSpPr>
        <p:spPr>
          <a:xfrm>
            <a:off x="457200" y="4373880"/>
            <a:ext cx="11277295" cy="420624"/>
          </a:xfrm>
          <a:prstGeom prst="rect">
            <a:avLst/>
          </a:prstGeom>
          <a:noFill/>
        </p:spPr>
        <p:txBody>
          <a:bodyPr wrap="square" lIns="91440" tIns="18288" rIns="91440" bIns="18288" anchor="ctr" rtlCol="0">
            <a:noAutofit/>
          </a:bodyPr>
          <a:lstStyle/>
          <a:p>
            <a:pPr algn="ctr">
              <a:lnSpc>
                <a:spcPts val="2560"/>
              </a:lnSpc>
              <a:spcBef>
                <a:spcPts val="0"/>
              </a:spcBef>
              <a:spcAft>
                <a:spcPts val="0"/>
              </a:spcAft>
              <a:buNone/>
            </a:pPr>
            <a:r>
              <a:rPr lang="ko-KR" altLang="en-US" sz="1800" b="1" dirty="0">
                <a:solidFill>
                  <a:srgbClr val="1E2A5A"/>
                </a:solidFill>
                <a:latin typeface="맑은 고딕"/>
                <a:ea typeface="맑은 고딕"/>
                <a:cs typeface="맑은 고딕"/>
              </a:rPr>
              <a:t>① </a:t>
            </a:r>
            <a:r>
              <a:rPr lang="en-US" altLang="ko-KR" sz="1800" b="0" dirty="0">
                <a:solidFill>
                  <a:srgbClr val="1F2328"/>
                </a:solidFill>
                <a:latin typeface="Calibri"/>
                <a:ea typeface="맑은 고딕"/>
                <a:cs typeface="Calibri"/>
              </a:rPr>
              <a:t>(A) - (C) - (B)</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② </a:t>
            </a:r>
            <a:r>
              <a:rPr lang="en-US" altLang="ko-KR" sz="1800" b="0" dirty="0">
                <a:solidFill>
                  <a:srgbClr val="1F2328"/>
                </a:solidFill>
                <a:latin typeface="Calibri"/>
                <a:ea typeface="맑은 고딕"/>
                <a:cs typeface="Calibri"/>
              </a:rPr>
              <a:t>(B) - (A) - (C)</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③ </a:t>
            </a:r>
            <a:r>
              <a:rPr lang="en-US" altLang="ko-KR" sz="1800" b="0" dirty="0">
                <a:solidFill>
                  <a:srgbClr val="1F2328"/>
                </a:solidFill>
                <a:latin typeface="Calibri"/>
                <a:ea typeface="맑은 고딕"/>
                <a:cs typeface="Calibri"/>
              </a:rPr>
              <a:t>(B) - (C) - (A)</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④ </a:t>
            </a:r>
            <a:r>
              <a:rPr lang="en-US" altLang="ko-KR" sz="1800" b="0" dirty="0">
                <a:solidFill>
                  <a:srgbClr val="1F2328"/>
                </a:solidFill>
                <a:latin typeface="Calibri"/>
                <a:ea typeface="맑은 고딕"/>
                <a:cs typeface="Calibri"/>
              </a:rPr>
              <a:t>(C) - (A) - (B)</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⑤ </a:t>
            </a:r>
            <a:r>
              <a:rPr lang="en-US" altLang="ko-KR" sz="1800" b="0" dirty="0">
                <a:solidFill>
                  <a:srgbClr val="1F2328"/>
                </a:solidFill>
                <a:latin typeface="Calibri"/>
                <a:ea typeface="맑은 고딕"/>
                <a:cs typeface="Calibri"/>
              </a:rPr>
              <a:t>(C) - (B) - (A)</a:t>
            </a:r>
            <a:endParaRPr lang="en-US" altLang="ko-KR" sz="1800" b="0" dirty="0">
              <a:solidFill>
                <a:srgbClr val="1F2328"/>
              </a:solidFill>
              <a:latin typeface="Calibri"/>
              <a:ea typeface="맑은 고딕"/>
              <a:cs typeface="Calibri"/>
            </a:endParaRPr>
          </a:p>
        </p:txBody>
      </p:sp>
      <p:sp>
        <p:nvSpPr>
          <p:cNvPr id="12" name="rv_pick"/>
          <p:cNvSpPr txBox="1"/>
          <p:nvPr/>
        </p:nvSpPr>
        <p:spPr>
          <a:xfrm>
            <a:off x="457200" y="4373880"/>
            <a:ext cx="11277295" cy="420624"/>
          </a:xfrm>
          <a:prstGeom prst="rect">
            <a:avLst/>
          </a:prstGeom>
          <a:noFill/>
        </p:spPr>
        <p:txBody>
          <a:bodyPr wrap="square" lIns="91440" tIns="18288" rIns="91440" bIns="18288" anchor="ctr" rtlCol="0">
            <a:noAutofit/>
          </a:bodyPr>
          <a:lstStyle/>
          <a:p>
            <a:pPr algn="ctr">
              <a:lnSpc>
                <a:spcPts val="2560"/>
              </a:lnSpc>
              <a:spcBef>
                <a:spcPts val="0"/>
              </a:spcBef>
              <a:spcAft>
                <a:spcPts val="0"/>
              </a:spcAft>
              <a:buNone/>
            </a:pPr>
            <a:r>
              <a:rPr lang="ko-KR" altLang="en-US" sz="1800" b="1" dirty="0">
                <a:solidFill>
                  <a:srgbClr val="1E2A5A">
                    <a:alpha val="0"/>
                  </a:srgbClr>
                </a:solidFill>
                <a:latin typeface="맑은 고딕"/>
                <a:ea typeface="맑은 고딕"/>
                <a:cs typeface="맑은 고딕"/>
              </a:rPr>
              <a:t>① </a:t>
            </a:r>
            <a:r>
              <a:rPr lang="en-US" altLang="ko-KR" sz="1800" b="0" dirty="0">
                <a:solidFill>
                  <a:srgbClr val="1F2328">
                    <a:alpha val="0"/>
                  </a:srgbClr>
                </a:solidFill>
                <a:latin typeface="Calibri"/>
                <a:ea typeface="맑은 고딕"/>
                <a:cs typeface="Calibri"/>
              </a:rPr>
              <a:t>(A) - (C) - (B)</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② </a:t>
            </a:r>
            <a:r>
              <a:rPr lang="en-US" altLang="ko-KR" sz="1800" b="0" dirty="0">
                <a:solidFill>
                  <a:srgbClr val="1F2328">
                    <a:alpha val="0"/>
                  </a:srgbClr>
                </a:solidFill>
                <a:latin typeface="Calibri"/>
                <a:ea typeface="맑은 고딕"/>
                <a:cs typeface="Calibri"/>
              </a:rPr>
              <a:t>(B) - (A) - (C)</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③ </a:t>
            </a:r>
            <a:r>
              <a:rPr lang="en-US" altLang="ko-KR" sz="1800" b="0" dirty="0">
                <a:solidFill>
                  <a:srgbClr val="1F2328">
                    <a:alpha val="0"/>
                  </a:srgbClr>
                </a:solidFill>
                <a:latin typeface="Calibri"/>
                <a:ea typeface="맑은 고딕"/>
                <a:cs typeface="Calibri"/>
              </a:rPr>
              <a:t>(B) - (C) - (A)</a:t>
            </a:r>
            <a:r>
              <a:rPr lang="en-US" altLang="ko-KR" sz="1800" b="0" dirty="0">
                <a:solidFill>
                  <a:srgbClr val="1F2328">
                    <a:alpha val="0"/>
                  </a:srgbClr>
                </a:solidFill>
                <a:latin typeface="Calibri"/>
                <a:ea typeface="맑은 고딕"/>
                <a:cs typeface="Calibri"/>
              </a:rPr>
              <a:t>       </a:t>
            </a:r>
            <a:r>
              <a:rPr lang="ko-KR" altLang="en-US" sz="1800" b="1" dirty="0">
                <a:solidFill>
                  <a:srgbClr val="C00000"/>
                </a:solidFill>
                <a:highlight>
                  <a:srgbClr val="FFFFFF"/>
                </a:highlight>
                <a:latin typeface="맑은 고딕"/>
                <a:ea typeface="맑은 고딕"/>
                <a:cs typeface="맑은 고딕"/>
              </a:rPr>
              <a:t>④ </a:t>
            </a:r>
            <a:r>
              <a:rPr lang="en-US" altLang="ko-KR" sz="1800" b="0" dirty="0">
                <a:solidFill>
                  <a:srgbClr val="C00000"/>
                </a:solidFill>
                <a:highlight>
                  <a:srgbClr val="FFFFFF"/>
                </a:highlight>
                <a:latin typeface="Calibri"/>
                <a:ea typeface="맑은 고딕"/>
                <a:cs typeface="Calibri"/>
              </a:rPr>
              <a:t>(C) - (A) - (B)</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⑤ </a:t>
            </a:r>
            <a:r>
              <a:rPr lang="en-US" altLang="ko-KR" sz="1800" b="0" dirty="0">
                <a:solidFill>
                  <a:srgbClr val="1F2328">
                    <a:alpha val="0"/>
                  </a:srgbClr>
                </a:solidFill>
                <a:latin typeface="Calibri"/>
                <a:ea typeface="맑은 고딕"/>
                <a:cs typeface="Calibri"/>
              </a:rPr>
              <a:t>(C) - (B) - (A)</a:t>
            </a:r>
            <a:endParaRPr lang="en-US" altLang="ko-KR" sz="1800" b="0" dirty="0">
              <a:solidFill>
                <a:srgbClr val="1F2328"/>
              </a:solidFill>
              <a:latin typeface="Calibri"/>
              <a:ea typeface="맑은 고딕"/>
              <a:cs typeface="Calibri"/>
            </a:endParaRPr>
          </a:p>
        </p:txBody>
      </p:sp>
      <p:sp>
        <p:nvSpPr>
          <p:cNvPr id="13" name="rv_answer"/>
          <p:cNvSpPr/>
          <p:nvPr/>
        </p:nvSpPr>
        <p:spPr>
          <a:xfrm>
            <a:off x="457200" y="4885944"/>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④ </a:t>
            </a:r>
            <a:r>
              <a:rPr lang="en-US" altLang="ko-KR" sz="1900" b="1" dirty="0">
                <a:solidFill>
                  <a:srgbClr val="5A4200"/>
                </a:solidFill>
                <a:latin typeface="Calibri"/>
                <a:ea typeface="맑은 고딕"/>
                <a:cs typeface="Calibri"/>
              </a:rPr>
              <a:t>(C) - (A) - (B)</a:t>
            </a:r>
            <a:endParaRPr lang="en-US" altLang="ko-KR" sz="1900" b="1" dirty="0">
              <a:solidFill>
                <a:srgbClr val="5A4200"/>
              </a:solidFill>
              <a:latin typeface="Calibri"/>
              <a:ea typeface="맑은 고딕"/>
              <a:cs typeface="Calibri"/>
            </a:endParaRPr>
          </a:p>
        </p:txBody>
      </p:sp>
      <p:sp>
        <p:nvSpPr>
          <p:cNvPr id="14" name="rv_why"/>
          <p:cNvSpPr/>
          <p:nvPr/>
        </p:nvSpPr>
        <p:spPr>
          <a:xfrm>
            <a:off x="457200" y="5484876"/>
            <a:ext cx="11277295" cy="934211"/>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일요일 작은 마을 → (C) 한 집에서 두 남자를 만나 집 안으로 들어간다 → (A) 부엌에 이어 거실에서 귀한 탁자를 찾는다 → (B) 너무 흥분했지만 복제품이라고 거짓말한다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25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250"/>
                                        <p:tgtEl>
                                          <p:spTgt spid="1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2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animBg="1"/>
    </p:bldLst>
  </p:timing>
</p:sld>
</file>

<file path=ppt/slides/slide10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L6-2</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2 · 3</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3. 글의 흐름으로 보아, 주어진 문장이 들어가기에 가장 적절한 곳은?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6</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정답 원리</a:t>
            </a:r>
            <a:endParaRPr lang="ko-KR" altLang="en-US" sz="1000" b="0" dirty="0">
              <a:solidFill>
                <a:srgbClr val="7A808C"/>
              </a:solidFill>
              <a:latin typeface="맑은 고딕"/>
              <a:ea typeface="맑은 고딕"/>
              <a:cs typeface="맑은 고딕"/>
            </a:endParaRPr>
          </a:p>
        </p:txBody>
      </p:sp>
      <p:sp>
        <p:nvSpPr>
          <p:cNvPr id="7" name="given_card"/>
          <p:cNvSpPr/>
          <p:nvPr/>
        </p:nvSpPr>
        <p:spPr>
          <a:xfrm>
            <a:off x="457200" y="950976"/>
            <a:ext cx="11277295" cy="507238"/>
          </a:xfrm>
          <a:prstGeom prst="roundRect">
            <a:avLst>
              <a:gd name="adj" fmla="val 6000"/>
            </a:avLst>
          </a:prstGeom>
          <a:solidFill>
            <a:srgbClr val="FFFFFF"/>
          </a:solidFill>
          <a:ln w="15875">
            <a:solidFill>
              <a:srgbClr val="1E2A5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given"/>
          <p:cNvSpPr txBox="1"/>
          <p:nvPr/>
        </p:nvSpPr>
        <p:spPr>
          <a:xfrm>
            <a:off x="457200" y="950976"/>
            <a:ext cx="11277295" cy="507238"/>
          </a:xfrm>
          <a:prstGeom prst="rect">
            <a:avLst/>
          </a:prstGeom>
          <a:noFill/>
        </p:spPr>
        <p:txBody>
          <a:bodyPr wrap="square" lIns="201168" tIns="100584" rIns="201168" bIns="100584"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주어진 문장</a:t>
            </a:r>
            <a:r>
              <a:rPr lang="en-US" altLang="ko-KR" sz="1700" b="0" dirty="0">
                <a:solidFill>
                  <a:srgbClr val="1F2328"/>
                </a:solidFill>
                <a:latin typeface="Calibri"/>
                <a:ea typeface="맑은 고딕"/>
                <a:cs typeface="Calibri"/>
              </a:rPr>
              <a:t>   "I buy old furniture. Do you have any?" asked Mr. Boggis.</a:t>
            </a:r>
            <a:endParaRPr lang="en-US" altLang="ko-KR" sz="1700" b="0" dirty="0">
              <a:solidFill>
                <a:srgbClr val="1F2328"/>
              </a:solidFill>
              <a:latin typeface="Calibri"/>
              <a:ea typeface="맑은 고딕"/>
              <a:cs typeface="Calibri"/>
            </a:endParaRPr>
          </a:p>
        </p:txBody>
      </p:sp>
      <p:sp>
        <p:nvSpPr>
          <p:cNvPr id="9" name="passage_card"/>
          <p:cNvSpPr/>
          <p:nvPr/>
        </p:nvSpPr>
        <p:spPr>
          <a:xfrm>
            <a:off x="457200" y="1604518"/>
            <a:ext cx="11277295" cy="287528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passage"/>
          <p:cNvSpPr txBox="1"/>
          <p:nvPr/>
        </p:nvSpPr>
        <p:spPr>
          <a:xfrm>
            <a:off x="457200" y="1604518"/>
            <a:ext cx="11277295" cy="2875280"/>
          </a:xfrm>
          <a:prstGeom prst="rect">
            <a:avLst/>
          </a:prstGeom>
          <a:noFill/>
        </p:spPr>
        <p:txBody>
          <a:bodyPr wrap="square" lIns="201168" tIns="118872" rIns="201168" bIns="118872" anchor="t" rtlCol="0">
            <a:noAutofit/>
          </a:bodyPr>
          <a:lstStyle/>
          <a:p>
            <a:pPr algn="just">
              <a:lnSpc>
                <a:spcPts val="2560"/>
              </a:lnSpc>
              <a:spcBef>
                <a:spcPts val="0"/>
              </a:spcBef>
              <a:spcAft>
                <a:spcPts val="0"/>
              </a:spcAft>
              <a:buNone/>
            </a:pPr>
            <a:r>
              <a:rPr lang="en-US" altLang="ko-KR" sz="1700" b="0" dirty="0">
                <a:solidFill>
                  <a:srgbClr val="1F2328"/>
                </a:solidFill>
                <a:latin typeface="Calibri"/>
                <a:ea typeface="맑은 고딕"/>
                <a:cs typeface="Calibri"/>
              </a:rPr>
              <a:t>Now it was another Sunday, and Mr. Boggis was in a small town again. </a:t>
            </a:r>
            <a:r>
              <a:rPr lang="ko-KR" altLang="en-US" sz="1800" b="1" dirty="0">
                <a:solidFill>
                  <a:srgbClr val="1E2A5A"/>
                </a:solidFill>
                <a:latin typeface="맑은 고딕"/>
                <a:ea typeface="맑은 고딕"/>
                <a:cs typeface="맑은 고딕"/>
              </a:rPr>
              <a:t>②</a:t>
            </a:r>
            <a:r>
              <a:rPr lang="en-US" altLang="ko-KR" sz="1700" b="0" dirty="0">
                <a:solidFill>
                  <a:srgbClr val="1F2328"/>
                </a:solidFill>
                <a:latin typeface="Calibri"/>
                <a:ea typeface="맑은 고딕"/>
                <a:cs typeface="Calibri"/>
              </a:rPr>
              <a:t> At a house he visited, he met two men. One was Rummins, the owner, and the other was his son Bert. </a:t>
            </a:r>
            <a:r>
              <a:rPr lang="ko-KR" altLang="en-US" sz="1800" b="1" dirty="0">
                <a:solidFill>
                  <a:srgbClr val="1E2A5A"/>
                </a:solidFill>
                <a:latin typeface="맑은 고딕"/>
                <a:ea typeface="맑은 고딕"/>
                <a:cs typeface="맑은 고딕"/>
              </a:rPr>
              <a:t>③</a:t>
            </a:r>
            <a:r>
              <a:rPr lang="en-US" altLang="ko-KR" sz="1700" b="0" dirty="0">
                <a:solidFill>
                  <a:srgbClr val="1F2328"/>
                </a:solidFill>
                <a:latin typeface="Calibri"/>
                <a:ea typeface="맑은 고딕"/>
                <a:cs typeface="Calibri"/>
              </a:rPr>
              <a:t> "No, I don’t," said Rummins. "Can I just take a look?" asked Mr. Boggis. </a:t>
            </a:r>
            <a:r>
              <a:rPr lang="ko-KR" altLang="en-US" sz="1800" b="1" dirty="0">
                <a:solidFill>
                  <a:srgbClr val="1E2A5A"/>
                </a:solidFill>
                <a:latin typeface="맑은 고딕"/>
                <a:ea typeface="맑은 고딕"/>
                <a:cs typeface="맑은 고딕"/>
              </a:rPr>
              <a:t>④</a:t>
            </a:r>
            <a:r>
              <a:rPr lang="en-US" altLang="ko-KR" sz="1700" b="0" dirty="0">
                <a:solidFill>
                  <a:srgbClr val="1F2328"/>
                </a:solidFill>
                <a:latin typeface="Calibri"/>
                <a:ea typeface="맑은 고딕"/>
                <a:cs typeface="Calibri"/>
              </a:rPr>
              <a:t> "Sure. Please come in," said Rummins. </a:t>
            </a:r>
            <a:r>
              <a:rPr lang="ko-KR" altLang="en-US" sz="1800" b="1" dirty="0">
                <a:solidFill>
                  <a:srgbClr val="1E2A5A"/>
                </a:solidFill>
                <a:latin typeface="맑은 고딕"/>
                <a:ea typeface="맑은 고딕"/>
                <a:cs typeface="맑은 고딕"/>
              </a:rPr>
              <a:t>⑤</a:t>
            </a:r>
            <a:r>
              <a:rPr lang="en-US" altLang="ko-KR" sz="1700" b="0" dirty="0">
                <a:solidFill>
                  <a:srgbClr val="1F2328"/>
                </a:solidFill>
                <a:latin typeface="Calibri"/>
                <a:ea typeface="맑은 고딕"/>
                <a:cs typeface="Calibri"/>
              </a:rPr>
              <a:t> Mr. Boggis first went to the kitchen, and there was nothing. He then moved to the living room. And there it was! A table which was a priceless piece of eighteenth‑century English furniture. He was so excited that he almost fell over. "What’s wrong?" Bert asked. "Oh, nothing. Nothing at all," Mr. Boggis lied. He then said with a straight face, "This table is a reproduction. It’s worth only a few pounds."</a:t>
            </a:r>
            <a:endParaRPr lang="en-US" altLang="ko-KR" sz="1700" b="0" dirty="0">
              <a:solidFill>
                <a:srgbClr val="1F2328"/>
              </a:solidFill>
              <a:latin typeface="Calibri"/>
              <a:ea typeface="맑은 고딕"/>
              <a:cs typeface="Calibri"/>
            </a:endParaRPr>
          </a:p>
        </p:txBody>
      </p:sp>
      <p:sp>
        <p:nvSpPr>
          <p:cNvPr id="11" name="rv_pick"/>
          <p:cNvSpPr txBox="1"/>
          <p:nvPr/>
        </p:nvSpPr>
        <p:spPr>
          <a:xfrm>
            <a:off x="457200" y="1604518"/>
            <a:ext cx="11277295" cy="2875280"/>
          </a:xfrm>
          <a:prstGeom prst="rect">
            <a:avLst/>
          </a:prstGeom>
          <a:noFill/>
        </p:spPr>
        <p:txBody>
          <a:bodyPr wrap="square" lIns="201168" tIns="118872" rIns="201168" bIns="118872" anchor="t" rtlCol="0">
            <a:noAutofit/>
          </a:bodyPr>
          <a:lstStyle/>
          <a:p>
            <a:pPr algn="just">
              <a:lnSpc>
                <a:spcPts val="2560"/>
              </a:lnSpc>
              <a:spcBef>
                <a:spcPts val="0"/>
              </a:spcBef>
              <a:spcAft>
                <a:spcPts val="0"/>
              </a:spcAft>
              <a:buNone/>
            </a:pPr>
            <a:r>
              <a:rPr lang="en-US" altLang="ko-KR" sz="1700" b="0" dirty="0">
                <a:solidFill>
                  <a:srgbClr val="1F2328">
                    <a:alpha val="0"/>
                  </a:srgbClr>
                </a:solidFill>
                <a:latin typeface="Calibri"/>
                <a:ea typeface="맑은 고딕"/>
                <a:cs typeface="Calibri"/>
              </a:rPr>
              <a:t>Now it was another Sunday, and Mr. Boggis was in a small town again. </a:t>
            </a:r>
            <a:r>
              <a:rPr lang="ko-KR" altLang="en-US" sz="1800" b="1" dirty="0">
                <a:solidFill>
                  <a:srgbClr val="1E2A5A">
                    <a:alpha val="0"/>
                  </a:srgbClr>
                </a:solidFill>
                <a:latin typeface="맑은 고딕"/>
                <a:ea typeface="맑은 고딕"/>
                <a:cs typeface="맑은 고딕"/>
              </a:rPr>
              <a:t>②</a:t>
            </a:r>
            <a:r>
              <a:rPr lang="en-US" altLang="ko-KR" sz="1700" b="0" dirty="0">
                <a:solidFill>
                  <a:srgbClr val="1F2328">
                    <a:alpha val="0"/>
                  </a:srgbClr>
                </a:solidFill>
                <a:latin typeface="Calibri"/>
                <a:ea typeface="맑은 고딕"/>
                <a:cs typeface="Calibri"/>
              </a:rPr>
              <a:t> At a house he visited, he met two men. One was Rummins, the owner, and the other was his son Bert. </a:t>
            </a:r>
            <a:r>
              <a:rPr lang="ko-KR" altLang="en-US" sz="1800" b="1" dirty="0">
                <a:solidFill>
                  <a:srgbClr val="C00000"/>
                </a:solidFill>
                <a:highlight>
                  <a:srgbClr val="F3F5F9"/>
                </a:highlight>
                <a:latin typeface="맑은 고딕"/>
                <a:ea typeface="맑은 고딕"/>
                <a:cs typeface="맑은 고딕"/>
              </a:rPr>
              <a:t>③</a:t>
            </a:r>
            <a:r>
              <a:rPr lang="en-US" altLang="ko-KR" sz="1700" b="0" dirty="0">
                <a:solidFill>
                  <a:srgbClr val="1F2328">
                    <a:alpha val="0"/>
                  </a:srgbClr>
                </a:solidFill>
                <a:latin typeface="Calibri"/>
                <a:ea typeface="맑은 고딕"/>
                <a:cs typeface="Calibri"/>
              </a:rPr>
              <a:t> "No, I don’t," said Rummins. "Can I just take a look?" asked Mr. Boggis. </a:t>
            </a:r>
            <a:r>
              <a:rPr lang="ko-KR" altLang="en-US" sz="1800" b="1" dirty="0">
                <a:solidFill>
                  <a:srgbClr val="1E2A5A">
                    <a:alpha val="0"/>
                  </a:srgbClr>
                </a:solidFill>
                <a:latin typeface="맑은 고딕"/>
                <a:ea typeface="맑은 고딕"/>
                <a:cs typeface="맑은 고딕"/>
              </a:rPr>
              <a:t>④</a:t>
            </a:r>
            <a:r>
              <a:rPr lang="en-US" altLang="ko-KR" sz="1700" b="0" dirty="0">
                <a:solidFill>
                  <a:srgbClr val="1F2328">
                    <a:alpha val="0"/>
                  </a:srgbClr>
                </a:solidFill>
                <a:latin typeface="Calibri"/>
                <a:ea typeface="맑은 고딕"/>
                <a:cs typeface="Calibri"/>
              </a:rPr>
              <a:t> "Sure. Please come in," said Rummins. </a:t>
            </a:r>
            <a:r>
              <a:rPr lang="ko-KR" altLang="en-US" sz="1800" b="1" dirty="0">
                <a:solidFill>
                  <a:srgbClr val="1E2A5A">
                    <a:alpha val="0"/>
                  </a:srgbClr>
                </a:solidFill>
                <a:latin typeface="맑은 고딕"/>
                <a:ea typeface="맑은 고딕"/>
                <a:cs typeface="맑은 고딕"/>
              </a:rPr>
              <a:t>⑤</a:t>
            </a:r>
            <a:r>
              <a:rPr lang="en-US" altLang="ko-KR" sz="1700" b="0" dirty="0">
                <a:solidFill>
                  <a:srgbClr val="1F2328">
                    <a:alpha val="0"/>
                  </a:srgbClr>
                </a:solidFill>
                <a:latin typeface="Calibri"/>
                <a:ea typeface="맑은 고딕"/>
                <a:cs typeface="Calibri"/>
              </a:rPr>
              <a:t> Mr. Boggis first went to the kitchen, and there was nothing. He then moved to the living room. And there it was! A table which was a priceless piece of eighteenth‑century English furniture. He was so excited that he almost fell over. "What’s wrong?" Bert asked. "Oh, nothing. Nothing at all," Mr. Boggis lied. He then said with a straight face, "This table is a reproduction. It’s worth only a few pounds."</a:t>
            </a:r>
            <a:endParaRPr lang="en-US" altLang="ko-KR" sz="1700" b="0" dirty="0">
              <a:solidFill>
                <a:srgbClr val="1F2328"/>
              </a:solidFill>
              <a:latin typeface="Calibri"/>
              <a:ea typeface="맑은 고딕"/>
              <a:cs typeface="Calibri"/>
            </a:endParaRPr>
          </a:p>
        </p:txBody>
      </p:sp>
      <p:sp>
        <p:nvSpPr>
          <p:cNvPr id="12" name="rv_answer"/>
          <p:cNvSpPr/>
          <p:nvPr/>
        </p:nvSpPr>
        <p:spPr>
          <a:xfrm>
            <a:off x="457200" y="458952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③</a:t>
            </a:r>
            <a:endParaRPr lang="ko-KR" altLang="en-US" sz="1900" b="1" dirty="0">
              <a:solidFill>
                <a:srgbClr val="5A4200"/>
              </a:solidFill>
              <a:latin typeface="맑은 고딕"/>
              <a:ea typeface="맑은 고딕"/>
              <a:cs typeface="맑은 고딕"/>
            </a:endParaRPr>
          </a:p>
        </p:txBody>
      </p:sp>
      <p:sp>
        <p:nvSpPr>
          <p:cNvPr id="13" name="rv_why"/>
          <p:cNvSpPr/>
          <p:nvPr/>
        </p:nvSpPr>
        <p:spPr>
          <a:xfrm>
            <a:off x="457200" y="5188458"/>
            <a:ext cx="11277295" cy="123062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주어진 문장의 'Do you have any?'에 대한 대답이 ③ 뒤 'No, I don’t'이다. 질문이 먼저 와야 하므로 ③이 정답이다.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25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25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2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Lst>
  </p:timing>
</p:sld>
</file>

<file path=ppt/slides/slide10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L6-2</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2 · 4</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4. 글의 흐름으로 보아, 주어진 문장이 들어가기에 가장 적절한 곳은?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6</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정답 원리</a:t>
            </a:r>
            <a:endParaRPr lang="ko-KR" altLang="en-US" sz="1000" b="0" dirty="0">
              <a:solidFill>
                <a:srgbClr val="7A808C"/>
              </a:solidFill>
              <a:latin typeface="맑은 고딕"/>
              <a:ea typeface="맑은 고딕"/>
              <a:cs typeface="맑은 고딕"/>
            </a:endParaRPr>
          </a:p>
        </p:txBody>
      </p:sp>
      <p:sp>
        <p:nvSpPr>
          <p:cNvPr id="7" name="given_card"/>
          <p:cNvSpPr/>
          <p:nvPr/>
        </p:nvSpPr>
        <p:spPr>
          <a:xfrm>
            <a:off x="457200" y="950976"/>
            <a:ext cx="11277295" cy="507238"/>
          </a:xfrm>
          <a:prstGeom prst="roundRect">
            <a:avLst>
              <a:gd name="adj" fmla="val 6000"/>
            </a:avLst>
          </a:prstGeom>
          <a:solidFill>
            <a:srgbClr val="FFFFFF"/>
          </a:solidFill>
          <a:ln w="15875">
            <a:solidFill>
              <a:srgbClr val="1E2A5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given"/>
          <p:cNvSpPr txBox="1"/>
          <p:nvPr/>
        </p:nvSpPr>
        <p:spPr>
          <a:xfrm>
            <a:off x="457200" y="950976"/>
            <a:ext cx="11277295" cy="507238"/>
          </a:xfrm>
          <a:prstGeom prst="rect">
            <a:avLst/>
          </a:prstGeom>
          <a:noFill/>
        </p:spPr>
        <p:txBody>
          <a:bodyPr wrap="square" lIns="201168" tIns="100584" rIns="201168" bIns="100584"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주어진 문장</a:t>
            </a:r>
            <a:r>
              <a:rPr lang="en-US" altLang="ko-KR" sz="1700" b="0" dirty="0">
                <a:solidFill>
                  <a:srgbClr val="1F2328"/>
                </a:solidFill>
                <a:latin typeface="Calibri"/>
                <a:ea typeface="맑은 고딕"/>
                <a:cs typeface="Calibri"/>
              </a:rPr>
              <a:t>   "No, I don’t," said Rummins. "Can I just take a look?" asked Mr. Boggis.</a:t>
            </a:r>
            <a:endParaRPr lang="en-US" altLang="ko-KR" sz="1700" b="0" dirty="0">
              <a:solidFill>
                <a:srgbClr val="1F2328"/>
              </a:solidFill>
              <a:latin typeface="Calibri"/>
              <a:ea typeface="맑은 고딕"/>
              <a:cs typeface="Calibri"/>
            </a:endParaRPr>
          </a:p>
        </p:txBody>
      </p:sp>
      <p:sp>
        <p:nvSpPr>
          <p:cNvPr id="9" name="passage_card"/>
          <p:cNvSpPr/>
          <p:nvPr/>
        </p:nvSpPr>
        <p:spPr>
          <a:xfrm>
            <a:off x="457200" y="1604518"/>
            <a:ext cx="11277295" cy="287528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passage"/>
          <p:cNvSpPr txBox="1"/>
          <p:nvPr/>
        </p:nvSpPr>
        <p:spPr>
          <a:xfrm>
            <a:off x="457200" y="1604518"/>
            <a:ext cx="11277295" cy="2875280"/>
          </a:xfrm>
          <a:prstGeom prst="rect">
            <a:avLst/>
          </a:prstGeom>
          <a:noFill/>
        </p:spPr>
        <p:txBody>
          <a:bodyPr wrap="square" lIns="201168" tIns="118872" rIns="201168" bIns="118872" anchor="t" rtlCol="0">
            <a:noAutofit/>
          </a:bodyPr>
          <a:lstStyle/>
          <a:p>
            <a:pPr algn="just">
              <a:lnSpc>
                <a:spcPts val="2560"/>
              </a:lnSpc>
              <a:spcBef>
                <a:spcPts val="0"/>
              </a:spcBef>
              <a:spcAft>
                <a:spcPts val="0"/>
              </a:spcAft>
              <a:buNone/>
            </a:pPr>
            <a:r>
              <a:rPr lang="en-US" altLang="ko-KR" sz="1700" b="0" dirty="0">
                <a:solidFill>
                  <a:srgbClr val="1F2328"/>
                </a:solidFill>
                <a:latin typeface="Calibri"/>
                <a:ea typeface="맑은 고딕"/>
                <a:cs typeface="Calibri"/>
              </a:rPr>
              <a:t>Now it was another Sunday, and Mr. Boggis was in a small town again. </a:t>
            </a:r>
            <a:r>
              <a:rPr lang="ko-KR" altLang="en-US" sz="1800" b="1" dirty="0">
                <a:solidFill>
                  <a:srgbClr val="1E2A5A"/>
                </a:solidFill>
                <a:latin typeface="맑은 고딕"/>
                <a:ea typeface="맑은 고딕"/>
                <a:cs typeface="맑은 고딕"/>
              </a:rPr>
              <a:t>②</a:t>
            </a:r>
            <a:r>
              <a:rPr lang="en-US" altLang="ko-KR" sz="1700" b="0" dirty="0">
                <a:solidFill>
                  <a:srgbClr val="1F2328"/>
                </a:solidFill>
                <a:latin typeface="Calibri"/>
                <a:ea typeface="맑은 고딕"/>
                <a:cs typeface="Calibri"/>
              </a:rPr>
              <a:t> At a house he visited, he met two men. One was Rummins, the owner, and the other was his son Bert. </a:t>
            </a:r>
            <a:r>
              <a:rPr lang="ko-KR" altLang="en-US" sz="1800" b="1" dirty="0">
                <a:solidFill>
                  <a:srgbClr val="1E2A5A"/>
                </a:solidFill>
                <a:latin typeface="맑은 고딕"/>
                <a:ea typeface="맑은 고딕"/>
                <a:cs typeface="맑은 고딕"/>
              </a:rPr>
              <a:t>③</a:t>
            </a:r>
            <a:r>
              <a:rPr lang="en-US" altLang="ko-KR" sz="1700" b="0" dirty="0">
                <a:solidFill>
                  <a:srgbClr val="1F2328"/>
                </a:solidFill>
                <a:latin typeface="Calibri"/>
                <a:ea typeface="맑은 고딕"/>
                <a:cs typeface="Calibri"/>
              </a:rPr>
              <a:t> "I buy old furniture. Do you have any?" asked Mr. Boggis. </a:t>
            </a:r>
            <a:r>
              <a:rPr lang="ko-KR" altLang="en-US" sz="1800" b="1" dirty="0">
                <a:solidFill>
                  <a:srgbClr val="1E2A5A"/>
                </a:solidFill>
                <a:latin typeface="맑은 고딕"/>
                <a:ea typeface="맑은 고딕"/>
                <a:cs typeface="맑은 고딕"/>
              </a:rPr>
              <a:t>④</a:t>
            </a:r>
            <a:r>
              <a:rPr lang="en-US" altLang="ko-KR" sz="1700" b="0" dirty="0">
                <a:solidFill>
                  <a:srgbClr val="1F2328"/>
                </a:solidFill>
                <a:latin typeface="Calibri"/>
                <a:ea typeface="맑은 고딕"/>
                <a:cs typeface="Calibri"/>
              </a:rPr>
              <a:t> "Sure. Please come in," said Rummins. </a:t>
            </a:r>
            <a:r>
              <a:rPr lang="ko-KR" altLang="en-US" sz="1800" b="1" dirty="0">
                <a:solidFill>
                  <a:srgbClr val="1E2A5A"/>
                </a:solidFill>
                <a:latin typeface="맑은 고딕"/>
                <a:ea typeface="맑은 고딕"/>
                <a:cs typeface="맑은 고딕"/>
              </a:rPr>
              <a:t>⑤</a:t>
            </a:r>
            <a:r>
              <a:rPr lang="en-US" altLang="ko-KR" sz="1700" b="0" dirty="0">
                <a:solidFill>
                  <a:srgbClr val="1F2328"/>
                </a:solidFill>
                <a:latin typeface="Calibri"/>
                <a:ea typeface="맑은 고딕"/>
                <a:cs typeface="Calibri"/>
              </a:rPr>
              <a:t> Mr. Boggis first went to the kitchen, and there was nothing. He then moved to the living room. And there it was! A table which was a priceless piece of eighteenth‑century English furniture. He was so excited that he almost fell over. "What’s wrong?" Bert asked. "Oh, nothing. Nothing at all," Mr. Boggis lied. He then said with a straight face, "This table is a reproduction. It’s worth only a few pounds."</a:t>
            </a:r>
            <a:endParaRPr lang="en-US" altLang="ko-KR" sz="1700" b="0" dirty="0">
              <a:solidFill>
                <a:srgbClr val="1F2328"/>
              </a:solidFill>
              <a:latin typeface="Calibri"/>
              <a:ea typeface="맑은 고딕"/>
              <a:cs typeface="Calibri"/>
            </a:endParaRPr>
          </a:p>
        </p:txBody>
      </p:sp>
      <p:sp>
        <p:nvSpPr>
          <p:cNvPr id="11" name="rv_pick"/>
          <p:cNvSpPr txBox="1"/>
          <p:nvPr/>
        </p:nvSpPr>
        <p:spPr>
          <a:xfrm>
            <a:off x="457200" y="1604518"/>
            <a:ext cx="11277295" cy="2875280"/>
          </a:xfrm>
          <a:prstGeom prst="rect">
            <a:avLst/>
          </a:prstGeom>
          <a:noFill/>
        </p:spPr>
        <p:txBody>
          <a:bodyPr wrap="square" lIns="201168" tIns="118872" rIns="201168" bIns="118872" anchor="t" rtlCol="0">
            <a:noAutofit/>
          </a:bodyPr>
          <a:lstStyle/>
          <a:p>
            <a:pPr algn="just">
              <a:lnSpc>
                <a:spcPts val="2560"/>
              </a:lnSpc>
              <a:spcBef>
                <a:spcPts val="0"/>
              </a:spcBef>
              <a:spcAft>
                <a:spcPts val="0"/>
              </a:spcAft>
              <a:buNone/>
            </a:pPr>
            <a:r>
              <a:rPr lang="en-US" altLang="ko-KR" sz="1700" b="0" dirty="0">
                <a:solidFill>
                  <a:srgbClr val="1F2328">
                    <a:alpha val="0"/>
                  </a:srgbClr>
                </a:solidFill>
                <a:latin typeface="Calibri"/>
                <a:ea typeface="맑은 고딕"/>
                <a:cs typeface="Calibri"/>
              </a:rPr>
              <a:t>Now it was another Sunday, and Mr. Boggis was in a small town again. </a:t>
            </a:r>
            <a:r>
              <a:rPr lang="ko-KR" altLang="en-US" sz="1800" b="1" dirty="0">
                <a:solidFill>
                  <a:srgbClr val="1E2A5A">
                    <a:alpha val="0"/>
                  </a:srgbClr>
                </a:solidFill>
                <a:latin typeface="맑은 고딕"/>
                <a:ea typeface="맑은 고딕"/>
                <a:cs typeface="맑은 고딕"/>
              </a:rPr>
              <a:t>②</a:t>
            </a:r>
            <a:r>
              <a:rPr lang="en-US" altLang="ko-KR" sz="1700" b="0" dirty="0">
                <a:solidFill>
                  <a:srgbClr val="1F2328">
                    <a:alpha val="0"/>
                  </a:srgbClr>
                </a:solidFill>
                <a:latin typeface="Calibri"/>
                <a:ea typeface="맑은 고딕"/>
                <a:cs typeface="Calibri"/>
              </a:rPr>
              <a:t> At a house he visited, he met two men. One was Rummins, the owner, and the other was his son Bert. </a:t>
            </a:r>
            <a:r>
              <a:rPr lang="ko-KR" altLang="en-US" sz="1800" b="1" dirty="0">
                <a:solidFill>
                  <a:srgbClr val="1E2A5A">
                    <a:alpha val="0"/>
                  </a:srgbClr>
                </a:solidFill>
                <a:latin typeface="맑은 고딕"/>
                <a:ea typeface="맑은 고딕"/>
                <a:cs typeface="맑은 고딕"/>
              </a:rPr>
              <a:t>③</a:t>
            </a:r>
            <a:r>
              <a:rPr lang="en-US" altLang="ko-KR" sz="1700" b="0" dirty="0">
                <a:solidFill>
                  <a:srgbClr val="1F2328">
                    <a:alpha val="0"/>
                  </a:srgbClr>
                </a:solidFill>
                <a:latin typeface="Calibri"/>
                <a:ea typeface="맑은 고딕"/>
                <a:cs typeface="Calibri"/>
              </a:rPr>
              <a:t> "I buy old furniture. Do you have any?" asked Mr. Boggis. </a:t>
            </a:r>
            <a:r>
              <a:rPr lang="ko-KR" altLang="en-US" sz="1800" b="1" dirty="0">
                <a:solidFill>
                  <a:srgbClr val="C00000"/>
                </a:solidFill>
                <a:highlight>
                  <a:srgbClr val="F3F5F9"/>
                </a:highlight>
                <a:latin typeface="맑은 고딕"/>
                <a:ea typeface="맑은 고딕"/>
                <a:cs typeface="맑은 고딕"/>
              </a:rPr>
              <a:t>④</a:t>
            </a:r>
            <a:r>
              <a:rPr lang="en-US" altLang="ko-KR" sz="1700" b="0" dirty="0">
                <a:solidFill>
                  <a:srgbClr val="1F2328">
                    <a:alpha val="0"/>
                  </a:srgbClr>
                </a:solidFill>
                <a:latin typeface="Calibri"/>
                <a:ea typeface="맑은 고딕"/>
                <a:cs typeface="Calibri"/>
              </a:rPr>
              <a:t> "Sure. Please come in," said Rummins. </a:t>
            </a:r>
            <a:r>
              <a:rPr lang="ko-KR" altLang="en-US" sz="1800" b="1" dirty="0">
                <a:solidFill>
                  <a:srgbClr val="1E2A5A">
                    <a:alpha val="0"/>
                  </a:srgbClr>
                </a:solidFill>
                <a:latin typeface="맑은 고딕"/>
                <a:ea typeface="맑은 고딕"/>
                <a:cs typeface="맑은 고딕"/>
              </a:rPr>
              <a:t>⑤</a:t>
            </a:r>
            <a:r>
              <a:rPr lang="en-US" altLang="ko-KR" sz="1700" b="0" dirty="0">
                <a:solidFill>
                  <a:srgbClr val="1F2328">
                    <a:alpha val="0"/>
                  </a:srgbClr>
                </a:solidFill>
                <a:latin typeface="Calibri"/>
                <a:ea typeface="맑은 고딕"/>
                <a:cs typeface="Calibri"/>
              </a:rPr>
              <a:t> Mr. Boggis first went to the kitchen, and there was nothing. He then moved to the living room. And there it was! A table which was a priceless piece of eighteenth‑century English furniture. He was so excited that he almost fell over. "What’s wrong?" Bert asked. "Oh, nothing. Nothing at all," Mr. Boggis lied. He then said with a straight face, "This table is a reproduction. It’s worth only a few pounds."</a:t>
            </a:r>
            <a:endParaRPr lang="en-US" altLang="ko-KR" sz="1700" b="0" dirty="0">
              <a:solidFill>
                <a:srgbClr val="1F2328"/>
              </a:solidFill>
              <a:latin typeface="Calibri"/>
              <a:ea typeface="맑은 고딕"/>
              <a:cs typeface="Calibri"/>
            </a:endParaRPr>
          </a:p>
        </p:txBody>
      </p:sp>
      <p:sp>
        <p:nvSpPr>
          <p:cNvPr id="12" name="rv_answer"/>
          <p:cNvSpPr/>
          <p:nvPr/>
        </p:nvSpPr>
        <p:spPr>
          <a:xfrm>
            <a:off x="457200" y="458952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④</a:t>
            </a:r>
            <a:endParaRPr lang="ko-KR" altLang="en-US" sz="1900" b="1" dirty="0">
              <a:solidFill>
                <a:srgbClr val="5A4200"/>
              </a:solidFill>
              <a:latin typeface="맑은 고딕"/>
              <a:ea typeface="맑은 고딕"/>
              <a:cs typeface="맑은 고딕"/>
            </a:endParaRPr>
          </a:p>
        </p:txBody>
      </p:sp>
      <p:sp>
        <p:nvSpPr>
          <p:cNvPr id="13" name="rv_why"/>
          <p:cNvSpPr/>
          <p:nvPr/>
        </p:nvSpPr>
        <p:spPr>
          <a:xfrm>
            <a:off x="457200" y="5188458"/>
            <a:ext cx="11277295" cy="123062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주어진 문장의 'Can I just take a look?'에 ④ 뒤 'Sure. Please come in'이 답한다. 고가구를 묻는 말 다음인 ④가 정답이다.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25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25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2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Lst>
  </p:timing>
</p:sld>
</file>

<file path=ppt/slides/slide10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L6-2</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3 · ①</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다음 글의 각 [  ] 안에서 문맥상 알맞은 것을 고르시오.</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6</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클릭할 때마다 괄호 속 정답이 앞에서부터 하나씩 빨간색으로 나타납니다 (총 4개)</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4948936"/>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4948936"/>
          </a:xfrm>
          <a:prstGeom prst="rect">
            <a:avLst/>
          </a:prstGeom>
          <a:noFill/>
        </p:spPr>
        <p:txBody>
          <a:bodyPr wrap="square" lIns="228600" tIns="155448" rIns="228600" bIns="155448" anchor="t" rtlCol="0">
            <a:noAutofit/>
          </a:bodyPr>
          <a:lstStyle/>
          <a:p>
            <a:pPr algn="l">
              <a:lnSpc>
                <a:spcPts val="3320"/>
              </a:lnSpc>
              <a:spcBef>
                <a:spcPts val="0"/>
              </a:spcBef>
              <a:spcAft>
                <a:spcPts val="0"/>
              </a:spcAft>
              <a:buNone/>
            </a:pPr>
            <a:r>
              <a:rPr lang="ko-KR" altLang="en-US" sz="2050" b="1" dirty="0">
                <a:solidFill>
                  <a:srgbClr val="1E2A5A"/>
                </a:solidFill>
                <a:latin typeface="맑은 고딕"/>
                <a:ea typeface="맑은 고딕"/>
                <a:cs typeface="맑은 고딕"/>
              </a:rPr>
              <a:t>①</a:t>
            </a:r>
            <a:r>
              <a:rPr lang="en-US" altLang="ko-KR" sz="2050" b="0" dirty="0">
                <a:solidFill>
                  <a:srgbClr val="1F2328"/>
                </a:solidFill>
                <a:latin typeface="Calibri"/>
                <a:ea typeface="맑은 고딕"/>
                <a:cs typeface="Calibri"/>
              </a:rPr>
              <a:t> </a:t>
            </a:r>
            <a:r>
              <a:rPr lang="en-US" altLang="ko-KR" sz="2050" b="0" dirty="0">
                <a:solidFill>
                  <a:srgbClr val="1F2328"/>
                </a:solidFill>
                <a:latin typeface="Calibri"/>
                <a:ea typeface="맑은 고딕"/>
                <a:cs typeface="Calibri"/>
              </a:rPr>
              <a:t>Now it was another Sunday, and Mr. Boggis was in a small town again.</a:t>
            </a:r>
            <a:r>
              <a:rPr lang="en-US" altLang="ko-KR" sz="2050" b="0" dirty="0">
                <a:solidFill>
                  <a:srgbClr val="1F2328"/>
                </a:solidFill>
                <a:latin typeface="Calibri"/>
                <a:ea typeface="맑은 고딕"/>
                <a:cs typeface="Calibri"/>
              </a:rPr>
              <a:t>   </a:t>
            </a:r>
            <a:r>
              <a:rPr lang="ko-KR" altLang="en-US" sz="2050" b="1" dirty="0">
                <a:solidFill>
                  <a:srgbClr val="1E2A5A"/>
                </a:solidFill>
                <a:latin typeface="맑은 고딕"/>
                <a:ea typeface="맑은 고딕"/>
                <a:cs typeface="맑은 고딕"/>
              </a:rPr>
              <a:t>②</a:t>
            </a:r>
            <a:r>
              <a:rPr lang="en-US" altLang="ko-KR" sz="2050" b="0" dirty="0">
                <a:solidFill>
                  <a:srgbClr val="1F2328"/>
                </a:solidFill>
                <a:latin typeface="Calibri"/>
                <a:ea typeface="맑은 고딕"/>
                <a:cs typeface="Calibri"/>
              </a:rPr>
              <a:t> </a:t>
            </a:r>
            <a:r>
              <a:rPr lang="en-US" altLang="ko-KR" sz="2050" b="0" dirty="0">
                <a:solidFill>
                  <a:srgbClr val="1F2328"/>
                </a:solidFill>
                <a:latin typeface="Calibri"/>
                <a:ea typeface="맑은 고딕"/>
                <a:cs typeface="Calibri"/>
              </a:rPr>
              <a:t>At a house he visited, he met two men. One was Rummins, the owner, and </a:t>
            </a:r>
            <a:r>
              <a:rPr lang="en-US" altLang="ko-KR" sz="2050" b="1" dirty="0">
                <a:solidFill>
                  <a:srgbClr val="1F2328"/>
                </a:solidFill>
                <a:latin typeface="Calibri"/>
                <a:ea typeface="맑은 고딕"/>
                <a:cs typeface="Calibri"/>
              </a:rPr>
              <a:t>[ </a:t>
            </a:r>
            <a:r>
              <a:rPr lang="en-US" altLang="ko-KR" sz="2050" b="1" dirty="0">
                <a:solidFill>
                  <a:srgbClr val="1F2328"/>
                </a:solidFill>
                <a:latin typeface="Calibri"/>
                <a:ea typeface="맑은 고딕"/>
                <a:cs typeface="Calibri"/>
              </a:rPr>
              <a:t>another</a:t>
            </a:r>
            <a:r>
              <a:rPr lang="en-US" altLang="ko-KR" sz="2050" b="1" dirty="0">
                <a:solidFill>
                  <a:srgbClr val="1F2328"/>
                </a:solidFill>
                <a:latin typeface="Calibri"/>
                <a:ea typeface="맑은 고딕"/>
                <a:cs typeface="Calibri"/>
              </a:rPr>
              <a:t> / </a:t>
            </a:r>
            <a:r>
              <a:rPr lang="en-US" altLang="ko-KR" sz="2050" b="1" dirty="0">
                <a:solidFill>
                  <a:srgbClr val="1F2328"/>
                </a:solidFill>
                <a:latin typeface="Calibri"/>
                <a:ea typeface="맑은 고딕"/>
                <a:cs typeface="Calibri"/>
              </a:rPr>
              <a:t>the other</a:t>
            </a:r>
            <a:r>
              <a:rPr lang="en-US" altLang="ko-KR" sz="2050" b="1" dirty="0">
                <a:solidFill>
                  <a:srgbClr val="1F2328"/>
                </a:solidFill>
                <a:latin typeface="Calibri"/>
                <a:ea typeface="맑은 고딕"/>
                <a:cs typeface="Calibri"/>
              </a:rPr>
              <a:t> ]</a:t>
            </a:r>
            <a:r>
              <a:rPr lang="en-US" altLang="ko-KR" sz="2050" b="0" dirty="0">
                <a:solidFill>
                  <a:srgbClr val="1F2328"/>
                </a:solidFill>
                <a:latin typeface="Calibri"/>
                <a:ea typeface="맑은 고딕"/>
                <a:cs typeface="Calibri"/>
              </a:rPr>
              <a:t> was his son Bert.</a:t>
            </a:r>
            <a:r>
              <a:rPr lang="en-US" altLang="ko-KR" sz="2050" b="0" dirty="0">
                <a:solidFill>
                  <a:srgbClr val="1F2328"/>
                </a:solidFill>
                <a:latin typeface="Calibri"/>
                <a:ea typeface="맑은 고딕"/>
                <a:cs typeface="Calibri"/>
              </a:rPr>
              <a:t>   </a:t>
            </a:r>
            <a:r>
              <a:rPr lang="ko-KR" altLang="en-US" sz="2050" b="1" dirty="0">
                <a:solidFill>
                  <a:srgbClr val="1E2A5A"/>
                </a:solidFill>
                <a:latin typeface="맑은 고딕"/>
                <a:ea typeface="맑은 고딕"/>
                <a:cs typeface="맑은 고딕"/>
              </a:rPr>
              <a:t>③</a:t>
            </a:r>
            <a:r>
              <a:rPr lang="en-US" altLang="ko-KR" sz="2050" b="0" dirty="0">
                <a:solidFill>
                  <a:srgbClr val="1F2328"/>
                </a:solidFill>
                <a:latin typeface="Calibri"/>
                <a:ea typeface="맑은 고딕"/>
                <a:cs typeface="Calibri"/>
              </a:rPr>
              <a:t> </a:t>
            </a:r>
            <a:r>
              <a:rPr lang="en-US" altLang="ko-KR" sz="2050" b="0" dirty="0">
                <a:solidFill>
                  <a:srgbClr val="1F2328"/>
                </a:solidFill>
                <a:latin typeface="Calibri"/>
                <a:ea typeface="맑은 고딕"/>
                <a:cs typeface="Calibri"/>
              </a:rPr>
              <a:t>"I buy old furniture. Do you have any?" asked Mr. Boggis.</a:t>
            </a:r>
            <a:r>
              <a:rPr lang="en-US" altLang="ko-KR" sz="2050" b="0" dirty="0">
                <a:solidFill>
                  <a:srgbClr val="1F2328"/>
                </a:solidFill>
                <a:latin typeface="Calibri"/>
                <a:ea typeface="맑은 고딕"/>
                <a:cs typeface="Calibri"/>
              </a:rPr>
              <a:t>   </a:t>
            </a:r>
            <a:r>
              <a:rPr lang="ko-KR" altLang="en-US" sz="2050" b="1" dirty="0">
                <a:solidFill>
                  <a:srgbClr val="1E2A5A"/>
                </a:solidFill>
                <a:latin typeface="맑은 고딕"/>
                <a:ea typeface="맑은 고딕"/>
                <a:cs typeface="맑은 고딕"/>
              </a:rPr>
              <a:t>④</a:t>
            </a:r>
            <a:r>
              <a:rPr lang="en-US" altLang="ko-KR" sz="2050" b="0" dirty="0">
                <a:solidFill>
                  <a:srgbClr val="1F2328"/>
                </a:solidFill>
                <a:latin typeface="Calibri"/>
                <a:ea typeface="맑은 고딕"/>
                <a:cs typeface="Calibri"/>
              </a:rPr>
              <a:t> </a:t>
            </a:r>
            <a:r>
              <a:rPr lang="en-US" altLang="ko-KR" sz="2050" b="0" dirty="0">
                <a:solidFill>
                  <a:srgbClr val="1F2328"/>
                </a:solidFill>
                <a:latin typeface="Calibri"/>
                <a:ea typeface="맑은 고딕"/>
                <a:cs typeface="Calibri"/>
              </a:rPr>
              <a:t>"No, I don’t," said Rummins. "Can I just take a look?" asked Mr. Boggis.</a:t>
            </a:r>
            <a:r>
              <a:rPr lang="en-US" altLang="ko-KR" sz="2050" b="0" dirty="0">
                <a:solidFill>
                  <a:srgbClr val="1F2328"/>
                </a:solidFill>
                <a:latin typeface="Calibri"/>
                <a:ea typeface="맑은 고딕"/>
                <a:cs typeface="Calibri"/>
              </a:rPr>
              <a:t>   </a:t>
            </a:r>
            <a:r>
              <a:rPr lang="ko-KR" altLang="en-US" sz="2050" b="1" dirty="0">
                <a:solidFill>
                  <a:srgbClr val="1E2A5A"/>
                </a:solidFill>
                <a:latin typeface="맑은 고딕"/>
                <a:ea typeface="맑은 고딕"/>
                <a:cs typeface="맑은 고딕"/>
              </a:rPr>
              <a:t>⑤</a:t>
            </a:r>
            <a:r>
              <a:rPr lang="en-US" altLang="ko-KR" sz="2050" b="0" dirty="0">
                <a:solidFill>
                  <a:srgbClr val="1F2328"/>
                </a:solidFill>
                <a:latin typeface="Calibri"/>
                <a:ea typeface="맑은 고딕"/>
                <a:cs typeface="Calibri"/>
              </a:rPr>
              <a:t> </a:t>
            </a:r>
            <a:r>
              <a:rPr lang="en-US" altLang="ko-KR" sz="2050" b="0" dirty="0">
                <a:solidFill>
                  <a:srgbClr val="1F2328"/>
                </a:solidFill>
                <a:latin typeface="Calibri"/>
                <a:ea typeface="맑은 고딕"/>
                <a:cs typeface="Calibri"/>
              </a:rPr>
              <a:t>"Sure. Please come in," said Rummins.</a:t>
            </a:r>
            <a:r>
              <a:rPr lang="en-US" altLang="ko-KR" sz="2050" b="0" dirty="0">
                <a:solidFill>
                  <a:srgbClr val="1F2328"/>
                </a:solidFill>
                <a:latin typeface="Calibri"/>
                <a:ea typeface="맑은 고딕"/>
                <a:cs typeface="Calibri"/>
              </a:rPr>
              <a:t>   </a:t>
            </a:r>
            <a:r>
              <a:rPr lang="ko-KR" altLang="en-US" sz="2050" b="1" dirty="0">
                <a:solidFill>
                  <a:srgbClr val="1E2A5A"/>
                </a:solidFill>
                <a:latin typeface="맑은 고딕"/>
                <a:ea typeface="맑은 고딕"/>
                <a:cs typeface="맑은 고딕"/>
              </a:rPr>
              <a:t>⑥</a:t>
            </a:r>
            <a:r>
              <a:rPr lang="en-US" altLang="ko-KR" sz="2050" b="0" dirty="0">
                <a:solidFill>
                  <a:srgbClr val="1F2328"/>
                </a:solidFill>
                <a:latin typeface="Calibri"/>
                <a:ea typeface="맑은 고딕"/>
                <a:cs typeface="Calibri"/>
              </a:rPr>
              <a:t> </a:t>
            </a:r>
            <a:r>
              <a:rPr lang="en-US" altLang="ko-KR" sz="2050" b="0" dirty="0">
                <a:solidFill>
                  <a:srgbClr val="1F2328"/>
                </a:solidFill>
                <a:latin typeface="Calibri"/>
                <a:ea typeface="맑은 고딕"/>
                <a:cs typeface="Calibri"/>
              </a:rPr>
              <a:t>Mr. Boggis first went to the kitchen, and there was nothing.</a:t>
            </a:r>
            <a:r>
              <a:rPr lang="en-US" altLang="ko-KR" sz="2050" b="0" dirty="0">
                <a:solidFill>
                  <a:srgbClr val="1F2328"/>
                </a:solidFill>
                <a:latin typeface="Calibri"/>
                <a:ea typeface="맑은 고딕"/>
                <a:cs typeface="Calibri"/>
              </a:rPr>
              <a:t>   </a:t>
            </a:r>
            <a:r>
              <a:rPr lang="ko-KR" altLang="en-US" sz="2050" b="1" dirty="0">
                <a:solidFill>
                  <a:srgbClr val="1E2A5A"/>
                </a:solidFill>
                <a:latin typeface="맑은 고딕"/>
                <a:ea typeface="맑은 고딕"/>
                <a:cs typeface="맑은 고딕"/>
              </a:rPr>
              <a:t>⑦</a:t>
            </a:r>
            <a:r>
              <a:rPr lang="en-US" altLang="ko-KR" sz="2050" b="0" dirty="0">
                <a:solidFill>
                  <a:srgbClr val="1F2328"/>
                </a:solidFill>
                <a:latin typeface="Calibri"/>
                <a:ea typeface="맑은 고딕"/>
                <a:cs typeface="Calibri"/>
              </a:rPr>
              <a:t> </a:t>
            </a:r>
            <a:r>
              <a:rPr lang="en-US" altLang="ko-KR" sz="2050" b="0" dirty="0">
                <a:solidFill>
                  <a:srgbClr val="1F2328"/>
                </a:solidFill>
                <a:latin typeface="Calibri"/>
                <a:ea typeface="맑은 고딕"/>
                <a:cs typeface="Calibri"/>
              </a:rPr>
              <a:t>He then moved to the living room. And there it was!</a:t>
            </a:r>
            <a:r>
              <a:rPr lang="en-US" altLang="ko-KR" sz="2050" b="0" dirty="0">
                <a:solidFill>
                  <a:srgbClr val="1F2328"/>
                </a:solidFill>
                <a:latin typeface="Calibri"/>
                <a:ea typeface="맑은 고딕"/>
                <a:cs typeface="Calibri"/>
              </a:rPr>
              <a:t>   </a:t>
            </a:r>
            <a:r>
              <a:rPr lang="ko-KR" altLang="en-US" sz="2050" b="1" dirty="0">
                <a:solidFill>
                  <a:srgbClr val="1E2A5A"/>
                </a:solidFill>
                <a:latin typeface="맑은 고딕"/>
                <a:ea typeface="맑은 고딕"/>
                <a:cs typeface="맑은 고딕"/>
              </a:rPr>
              <a:t>⑧</a:t>
            </a:r>
            <a:r>
              <a:rPr lang="en-US" altLang="ko-KR" sz="2050" b="0" dirty="0">
                <a:solidFill>
                  <a:srgbClr val="1F2328"/>
                </a:solidFill>
                <a:latin typeface="Calibri"/>
                <a:ea typeface="맑은 고딕"/>
                <a:cs typeface="Calibri"/>
              </a:rPr>
              <a:t> </a:t>
            </a:r>
            <a:r>
              <a:rPr lang="en-US" altLang="ko-KR" sz="2050" b="0" dirty="0">
                <a:solidFill>
                  <a:srgbClr val="1F2328"/>
                </a:solidFill>
                <a:latin typeface="Calibri"/>
                <a:ea typeface="맑은 고딕"/>
                <a:cs typeface="Calibri"/>
              </a:rPr>
              <a:t>A table </a:t>
            </a:r>
            <a:r>
              <a:rPr lang="en-US" altLang="ko-KR" sz="2050" b="1" dirty="0">
                <a:solidFill>
                  <a:srgbClr val="1F2328"/>
                </a:solidFill>
                <a:latin typeface="Calibri"/>
                <a:ea typeface="맑은 고딕"/>
                <a:cs typeface="Calibri"/>
              </a:rPr>
              <a:t>[ </a:t>
            </a:r>
            <a:r>
              <a:rPr lang="en-US" altLang="ko-KR" sz="2050" b="1" dirty="0">
                <a:solidFill>
                  <a:srgbClr val="1F2328"/>
                </a:solidFill>
                <a:latin typeface="Calibri"/>
                <a:ea typeface="맑은 고딕"/>
                <a:cs typeface="Calibri"/>
              </a:rPr>
              <a:t>which</a:t>
            </a:r>
            <a:r>
              <a:rPr lang="en-US" altLang="ko-KR" sz="2050" b="1" dirty="0">
                <a:solidFill>
                  <a:srgbClr val="1F2328"/>
                </a:solidFill>
                <a:latin typeface="Calibri"/>
                <a:ea typeface="맑은 고딕"/>
                <a:cs typeface="Calibri"/>
              </a:rPr>
              <a:t> / </a:t>
            </a:r>
            <a:r>
              <a:rPr lang="en-US" altLang="ko-KR" sz="2050" b="1" dirty="0">
                <a:solidFill>
                  <a:srgbClr val="1F2328"/>
                </a:solidFill>
                <a:latin typeface="Calibri"/>
                <a:ea typeface="맑은 고딕"/>
                <a:cs typeface="Calibri"/>
              </a:rPr>
              <a:t>where</a:t>
            </a:r>
            <a:r>
              <a:rPr lang="en-US" altLang="ko-KR" sz="2050" b="1" dirty="0">
                <a:solidFill>
                  <a:srgbClr val="1F2328"/>
                </a:solidFill>
                <a:latin typeface="Calibri"/>
                <a:ea typeface="맑은 고딕"/>
                <a:cs typeface="Calibri"/>
              </a:rPr>
              <a:t> ]</a:t>
            </a:r>
            <a:r>
              <a:rPr lang="en-US" altLang="ko-KR" sz="2050" b="0" dirty="0">
                <a:solidFill>
                  <a:srgbClr val="1F2328"/>
                </a:solidFill>
                <a:latin typeface="Calibri"/>
                <a:ea typeface="맑은 고딕"/>
                <a:cs typeface="Calibri"/>
              </a:rPr>
              <a:t> was a priceless piece of eighteenth‑century English furniture.</a:t>
            </a:r>
            <a:r>
              <a:rPr lang="en-US" altLang="ko-KR" sz="2050" b="0" dirty="0">
                <a:solidFill>
                  <a:srgbClr val="1F2328"/>
                </a:solidFill>
                <a:latin typeface="Calibri"/>
                <a:ea typeface="맑은 고딕"/>
                <a:cs typeface="Calibri"/>
              </a:rPr>
              <a:t>   </a:t>
            </a:r>
            <a:r>
              <a:rPr lang="ko-KR" altLang="en-US" sz="2050" b="1" dirty="0">
                <a:solidFill>
                  <a:srgbClr val="1E2A5A"/>
                </a:solidFill>
                <a:latin typeface="맑은 고딕"/>
                <a:ea typeface="맑은 고딕"/>
                <a:cs typeface="맑은 고딕"/>
              </a:rPr>
              <a:t>⑨</a:t>
            </a:r>
            <a:r>
              <a:rPr lang="en-US" altLang="ko-KR" sz="2050" b="0" dirty="0">
                <a:solidFill>
                  <a:srgbClr val="1F2328"/>
                </a:solidFill>
                <a:latin typeface="Calibri"/>
                <a:ea typeface="맑은 고딕"/>
                <a:cs typeface="Calibri"/>
              </a:rPr>
              <a:t> </a:t>
            </a:r>
            <a:r>
              <a:rPr lang="en-US" altLang="ko-KR" sz="2050" b="0" dirty="0">
                <a:solidFill>
                  <a:srgbClr val="1F2328"/>
                </a:solidFill>
                <a:latin typeface="Calibri"/>
                <a:ea typeface="맑은 고딕"/>
                <a:cs typeface="Calibri"/>
              </a:rPr>
              <a:t>He was so </a:t>
            </a:r>
            <a:r>
              <a:rPr lang="en-US" altLang="ko-KR" sz="2050" b="1" dirty="0">
                <a:solidFill>
                  <a:srgbClr val="1F2328"/>
                </a:solidFill>
                <a:latin typeface="Calibri"/>
                <a:ea typeface="맑은 고딕"/>
                <a:cs typeface="Calibri"/>
              </a:rPr>
              <a:t>[ </a:t>
            </a:r>
            <a:r>
              <a:rPr lang="en-US" altLang="ko-KR" sz="2050" b="1" dirty="0">
                <a:solidFill>
                  <a:srgbClr val="1F2328"/>
                </a:solidFill>
                <a:latin typeface="Calibri"/>
                <a:ea typeface="맑은 고딕"/>
                <a:cs typeface="Calibri"/>
              </a:rPr>
              <a:t>exciting</a:t>
            </a:r>
            <a:r>
              <a:rPr lang="en-US" altLang="ko-KR" sz="2050" b="1" dirty="0">
                <a:solidFill>
                  <a:srgbClr val="1F2328"/>
                </a:solidFill>
                <a:latin typeface="Calibri"/>
                <a:ea typeface="맑은 고딕"/>
                <a:cs typeface="Calibri"/>
              </a:rPr>
              <a:t> / </a:t>
            </a:r>
            <a:r>
              <a:rPr lang="en-US" altLang="ko-KR" sz="2050" b="1" dirty="0">
                <a:solidFill>
                  <a:srgbClr val="1F2328"/>
                </a:solidFill>
                <a:latin typeface="Calibri"/>
                <a:ea typeface="맑은 고딕"/>
                <a:cs typeface="Calibri"/>
              </a:rPr>
              <a:t>excited</a:t>
            </a:r>
            <a:r>
              <a:rPr lang="en-US" altLang="ko-KR" sz="2050" b="1" dirty="0">
                <a:solidFill>
                  <a:srgbClr val="1F2328"/>
                </a:solidFill>
                <a:latin typeface="Calibri"/>
                <a:ea typeface="맑은 고딕"/>
                <a:cs typeface="Calibri"/>
              </a:rPr>
              <a:t> ]</a:t>
            </a:r>
            <a:r>
              <a:rPr lang="en-US" altLang="ko-KR" sz="2050" b="0" dirty="0">
                <a:solidFill>
                  <a:srgbClr val="1F2328"/>
                </a:solidFill>
                <a:latin typeface="Calibri"/>
                <a:ea typeface="맑은 고딕"/>
                <a:cs typeface="Calibri"/>
              </a:rPr>
              <a:t> that he almost fell over.</a:t>
            </a:r>
            <a:r>
              <a:rPr lang="en-US" altLang="ko-KR" sz="2050" b="0" dirty="0">
                <a:solidFill>
                  <a:srgbClr val="1F2328"/>
                </a:solidFill>
                <a:latin typeface="Calibri"/>
                <a:ea typeface="맑은 고딕"/>
                <a:cs typeface="Calibri"/>
              </a:rPr>
              <a:t>   </a:t>
            </a:r>
            <a:r>
              <a:rPr lang="ko-KR" altLang="en-US" sz="2050" b="1" dirty="0">
                <a:solidFill>
                  <a:srgbClr val="1E2A5A"/>
                </a:solidFill>
                <a:latin typeface="맑은 고딕"/>
                <a:ea typeface="맑은 고딕"/>
                <a:cs typeface="맑은 고딕"/>
              </a:rPr>
              <a:t>⑩</a:t>
            </a:r>
            <a:r>
              <a:rPr lang="en-US" altLang="ko-KR" sz="2050" b="0" dirty="0">
                <a:solidFill>
                  <a:srgbClr val="1F2328"/>
                </a:solidFill>
                <a:latin typeface="Calibri"/>
                <a:ea typeface="맑은 고딕"/>
                <a:cs typeface="Calibri"/>
              </a:rPr>
              <a:t> </a:t>
            </a:r>
            <a:r>
              <a:rPr lang="en-US" altLang="ko-KR" sz="2050" b="0" dirty="0">
                <a:solidFill>
                  <a:srgbClr val="1F2328"/>
                </a:solidFill>
                <a:latin typeface="Calibri"/>
                <a:ea typeface="맑은 고딕"/>
                <a:cs typeface="Calibri"/>
              </a:rPr>
              <a:t>"What’s wrong?" Bert asked. "Oh, nothing. Nothing at all," Mr. Boggis lied.</a:t>
            </a:r>
            <a:r>
              <a:rPr lang="en-US" altLang="ko-KR" sz="2050" b="0" dirty="0">
                <a:solidFill>
                  <a:srgbClr val="1F2328"/>
                </a:solidFill>
                <a:latin typeface="Calibri"/>
                <a:ea typeface="맑은 고딕"/>
                <a:cs typeface="Calibri"/>
              </a:rPr>
              <a:t>   </a:t>
            </a:r>
            <a:r>
              <a:rPr lang="ko-KR" altLang="en-US" sz="2050" b="1" dirty="0">
                <a:solidFill>
                  <a:srgbClr val="1E2A5A"/>
                </a:solidFill>
                <a:latin typeface="맑은 고딕"/>
                <a:ea typeface="맑은 고딕"/>
                <a:cs typeface="맑은 고딕"/>
              </a:rPr>
              <a:t>⑪</a:t>
            </a:r>
            <a:r>
              <a:rPr lang="en-US" altLang="ko-KR" sz="2050" b="0" dirty="0">
                <a:solidFill>
                  <a:srgbClr val="1F2328"/>
                </a:solidFill>
                <a:latin typeface="Calibri"/>
                <a:ea typeface="맑은 고딕"/>
                <a:cs typeface="Calibri"/>
              </a:rPr>
              <a:t> </a:t>
            </a:r>
            <a:r>
              <a:rPr lang="en-US" altLang="ko-KR" sz="2050" b="0" dirty="0">
                <a:solidFill>
                  <a:srgbClr val="1F2328"/>
                </a:solidFill>
                <a:latin typeface="Calibri"/>
                <a:ea typeface="맑은 고딕"/>
                <a:cs typeface="Calibri"/>
              </a:rPr>
              <a:t>He then said with a straight face, "This table is a reproduction. It’s worth only </a:t>
            </a:r>
            <a:r>
              <a:rPr lang="en-US" altLang="ko-KR" sz="2050" b="1" dirty="0">
                <a:solidFill>
                  <a:srgbClr val="1F2328"/>
                </a:solidFill>
                <a:latin typeface="Calibri"/>
                <a:ea typeface="맑은 고딕"/>
                <a:cs typeface="Calibri"/>
              </a:rPr>
              <a:t>[ </a:t>
            </a:r>
            <a:r>
              <a:rPr lang="en-US" altLang="ko-KR" sz="2050" b="1" dirty="0">
                <a:solidFill>
                  <a:srgbClr val="1F2328"/>
                </a:solidFill>
                <a:latin typeface="Calibri"/>
                <a:ea typeface="맑은 고딕"/>
                <a:cs typeface="Calibri"/>
              </a:rPr>
              <a:t>a few</a:t>
            </a:r>
            <a:r>
              <a:rPr lang="en-US" altLang="ko-KR" sz="2050" b="1" dirty="0">
                <a:solidFill>
                  <a:srgbClr val="1F2328"/>
                </a:solidFill>
                <a:latin typeface="Calibri"/>
                <a:ea typeface="맑은 고딕"/>
                <a:cs typeface="Calibri"/>
              </a:rPr>
              <a:t> / </a:t>
            </a:r>
            <a:r>
              <a:rPr lang="en-US" altLang="ko-KR" sz="2050" b="1" dirty="0">
                <a:solidFill>
                  <a:srgbClr val="1F2328"/>
                </a:solidFill>
                <a:latin typeface="Calibri"/>
                <a:ea typeface="맑은 고딕"/>
                <a:cs typeface="Calibri"/>
              </a:rPr>
              <a:t>a little</a:t>
            </a:r>
            <a:r>
              <a:rPr lang="en-US" altLang="ko-KR" sz="2050" b="1" dirty="0">
                <a:solidFill>
                  <a:srgbClr val="1F2328"/>
                </a:solidFill>
                <a:latin typeface="Calibri"/>
                <a:ea typeface="맑은 고딕"/>
                <a:cs typeface="Calibri"/>
              </a:rPr>
              <a:t> ]</a:t>
            </a:r>
            <a:r>
              <a:rPr lang="en-US" altLang="ko-KR" sz="2050" b="0" dirty="0">
                <a:solidFill>
                  <a:srgbClr val="1F2328"/>
                </a:solidFill>
                <a:latin typeface="Calibri"/>
                <a:ea typeface="맑은 고딕"/>
                <a:cs typeface="Calibri"/>
              </a:rPr>
              <a:t> pounds."</a:t>
            </a:r>
            <a:endParaRPr lang="en-US" altLang="ko-KR" sz="2050" b="0" dirty="0">
              <a:solidFill>
                <a:srgbClr val="1F2328"/>
              </a:solidFill>
              <a:latin typeface="Calibri"/>
              <a:ea typeface="맑은 고딕"/>
              <a:cs typeface="Calibri"/>
            </a:endParaRPr>
          </a:p>
        </p:txBody>
      </p:sp>
      <p:sp>
        <p:nvSpPr>
          <p:cNvPr id="9" name="rv_g01"/>
          <p:cNvSpPr txBox="1"/>
          <p:nvPr/>
        </p:nvSpPr>
        <p:spPr>
          <a:xfrm>
            <a:off x="457200" y="950976"/>
            <a:ext cx="11277295" cy="4948936"/>
          </a:xfrm>
          <a:prstGeom prst="rect">
            <a:avLst/>
          </a:prstGeom>
          <a:noFill/>
        </p:spPr>
        <p:txBody>
          <a:bodyPr wrap="square" lIns="228600" tIns="155448" rIns="228600" bIns="155448" anchor="t" rtlCol="0">
            <a:noAutofit/>
          </a:bodyPr>
          <a:lstStyle/>
          <a:p>
            <a:pPr algn="l">
              <a:lnSpc>
                <a:spcPts val="3320"/>
              </a:lnSpc>
              <a:spcBef>
                <a:spcPts val="0"/>
              </a:spcBef>
              <a:spcAft>
                <a:spcPts val="0"/>
              </a:spcAft>
              <a:buNone/>
            </a:pPr>
            <a:r>
              <a:rPr lang="ko-KR" altLang="en-US" sz="2050" b="1" dirty="0">
                <a:solidFill>
                  <a:srgbClr val="1E2A5A">
                    <a:alpha val="0"/>
                  </a:srgbClr>
                </a:solidFill>
                <a:latin typeface="맑은 고딕"/>
                <a:ea typeface="맑은 고딕"/>
                <a:cs typeface="맑은 고딕"/>
              </a:rPr>
              <a:t>①</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Now it was another Sunday, and Mr. Boggis was in a small town again.</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②</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At a house he visited, he met two men. One was Rummins, the owner, and </a:t>
            </a:r>
            <a:r>
              <a:rPr lang="en-US" altLang="ko-KR" sz="2050" b="1" dirty="0">
                <a:solidFill>
                  <a:srgbClr val="1F2328">
                    <a:alpha val="0"/>
                  </a:srgbClr>
                </a:solidFill>
                <a:latin typeface="Calibri"/>
                <a:ea typeface="맑은 고딕"/>
                <a:cs typeface="Calibri"/>
              </a:rPr>
              <a:t>[ </a:t>
            </a:r>
            <a:r>
              <a:rPr lang="en-US" altLang="ko-KR" sz="2050" b="1" dirty="0">
                <a:solidFill>
                  <a:srgbClr val="1F2328">
                    <a:alpha val="0"/>
                  </a:srgbClr>
                </a:solidFill>
                <a:latin typeface="Calibri"/>
                <a:ea typeface="맑은 고딕"/>
                <a:cs typeface="Calibri"/>
              </a:rPr>
              <a:t>another</a:t>
            </a:r>
            <a:r>
              <a:rPr lang="en-US" altLang="ko-KR" sz="2050" b="1" dirty="0">
                <a:solidFill>
                  <a:srgbClr val="1F2328">
                    <a:alpha val="0"/>
                  </a:srgbClr>
                </a:solidFill>
                <a:latin typeface="Calibri"/>
                <a:ea typeface="맑은 고딕"/>
                <a:cs typeface="Calibri"/>
              </a:rPr>
              <a:t> / </a:t>
            </a:r>
            <a:r>
              <a:rPr lang="en-US" altLang="ko-KR" sz="2050" b="1" dirty="0">
                <a:solidFill>
                  <a:srgbClr val="C00000"/>
                </a:solidFill>
                <a:highlight>
                  <a:srgbClr val="F3F5F9"/>
                </a:highlight>
                <a:latin typeface="Calibri"/>
                <a:ea typeface="맑은 고딕"/>
                <a:cs typeface="Calibri"/>
              </a:rPr>
              <a:t>the other</a:t>
            </a:r>
            <a:r>
              <a:rPr lang="en-US" altLang="ko-KR" sz="2050" b="1"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 was his son Bert.</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③</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"I buy old furniture. Do you have any?" asked Mr. Boggis.</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④</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"No, I don’t," said Rummins. "Can I just take a look?" asked Mr. Boggis.</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⑤</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"Sure. Please come in," said Rummins.</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⑥</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Mr. Boggis first went to the kitchen, and there was nothing.</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⑦</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He then moved to the living room. And there it was!</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⑧</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A table </a:t>
            </a:r>
            <a:r>
              <a:rPr lang="en-US" altLang="ko-KR" sz="2050" b="1" dirty="0">
                <a:solidFill>
                  <a:srgbClr val="1F2328">
                    <a:alpha val="0"/>
                  </a:srgbClr>
                </a:solidFill>
                <a:latin typeface="Calibri"/>
                <a:ea typeface="맑은 고딕"/>
                <a:cs typeface="Calibri"/>
              </a:rPr>
              <a:t>[ </a:t>
            </a:r>
            <a:r>
              <a:rPr lang="en-US" altLang="ko-KR" sz="2050" b="1" dirty="0">
                <a:solidFill>
                  <a:srgbClr val="1F2328">
                    <a:alpha val="0"/>
                  </a:srgbClr>
                </a:solidFill>
                <a:latin typeface="Calibri"/>
                <a:ea typeface="맑은 고딕"/>
                <a:cs typeface="Calibri"/>
              </a:rPr>
              <a:t>which</a:t>
            </a:r>
            <a:r>
              <a:rPr lang="en-US" altLang="ko-KR" sz="2050" b="1" dirty="0">
                <a:solidFill>
                  <a:srgbClr val="1F2328">
                    <a:alpha val="0"/>
                  </a:srgbClr>
                </a:solidFill>
                <a:latin typeface="Calibri"/>
                <a:ea typeface="맑은 고딕"/>
                <a:cs typeface="Calibri"/>
              </a:rPr>
              <a:t> / </a:t>
            </a:r>
            <a:r>
              <a:rPr lang="en-US" altLang="ko-KR" sz="2050" b="1" dirty="0">
                <a:solidFill>
                  <a:srgbClr val="1F2328">
                    <a:alpha val="0"/>
                  </a:srgbClr>
                </a:solidFill>
                <a:latin typeface="Calibri"/>
                <a:ea typeface="맑은 고딕"/>
                <a:cs typeface="Calibri"/>
              </a:rPr>
              <a:t>where</a:t>
            </a:r>
            <a:r>
              <a:rPr lang="en-US" altLang="ko-KR" sz="2050" b="1"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 was a priceless piece of eighteenth‑century English furniture.</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⑨</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He was so </a:t>
            </a:r>
            <a:r>
              <a:rPr lang="en-US" altLang="ko-KR" sz="2050" b="1" dirty="0">
                <a:solidFill>
                  <a:srgbClr val="1F2328">
                    <a:alpha val="0"/>
                  </a:srgbClr>
                </a:solidFill>
                <a:latin typeface="Calibri"/>
                <a:ea typeface="맑은 고딕"/>
                <a:cs typeface="Calibri"/>
              </a:rPr>
              <a:t>[ </a:t>
            </a:r>
            <a:r>
              <a:rPr lang="en-US" altLang="ko-KR" sz="2050" b="1" dirty="0">
                <a:solidFill>
                  <a:srgbClr val="1F2328">
                    <a:alpha val="0"/>
                  </a:srgbClr>
                </a:solidFill>
                <a:latin typeface="Calibri"/>
                <a:ea typeface="맑은 고딕"/>
                <a:cs typeface="Calibri"/>
              </a:rPr>
              <a:t>exciting</a:t>
            </a:r>
            <a:r>
              <a:rPr lang="en-US" altLang="ko-KR" sz="2050" b="1" dirty="0">
                <a:solidFill>
                  <a:srgbClr val="1F2328">
                    <a:alpha val="0"/>
                  </a:srgbClr>
                </a:solidFill>
                <a:latin typeface="Calibri"/>
                <a:ea typeface="맑은 고딕"/>
                <a:cs typeface="Calibri"/>
              </a:rPr>
              <a:t> / </a:t>
            </a:r>
            <a:r>
              <a:rPr lang="en-US" altLang="ko-KR" sz="2050" b="1" dirty="0">
                <a:solidFill>
                  <a:srgbClr val="1F2328">
                    <a:alpha val="0"/>
                  </a:srgbClr>
                </a:solidFill>
                <a:latin typeface="Calibri"/>
                <a:ea typeface="맑은 고딕"/>
                <a:cs typeface="Calibri"/>
              </a:rPr>
              <a:t>excited</a:t>
            </a:r>
            <a:r>
              <a:rPr lang="en-US" altLang="ko-KR" sz="2050" b="1"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 that he almost fell over.</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⑩</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"What’s wrong?" Bert asked. "Oh, nothing. Nothing at all," Mr. Boggis lied.</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⑪</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He then said with a straight face, "This table is a reproduction. It’s worth only </a:t>
            </a:r>
            <a:r>
              <a:rPr lang="en-US" altLang="ko-KR" sz="2050" b="1" dirty="0">
                <a:solidFill>
                  <a:srgbClr val="1F2328">
                    <a:alpha val="0"/>
                  </a:srgbClr>
                </a:solidFill>
                <a:latin typeface="Calibri"/>
                <a:ea typeface="맑은 고딕"/>
                <a:cs typeface="Calibri"/>
              </a:rPr>
              <a:t>[ </a:t>
            </a:r>
            <a:r>
              <a:rPr lang="en-US" altLang="ko-KR" sz="2050" b="1" dirty="0">
                <a:solidFill>
                  <a:srgbClr val="1F2328">
                    <a:alpha val="0"/>
                  </a:srgbClr>
                </a:solidFill>
                <a:latin typeface="Calibri"/>
                <a:ea typeface="맑은 고딕"/>
                <a:cs typeface="Calibri"/>
              </a:rPr>
              <a:t>a few</a:t>
            </a:r>
            <a:r>
              <a:rPr lang="en-US" altLang="ko-KR" sz="2050" b="1" dirty="0">
                <a:solidFill>
                  <a:srgbClr val="1F2328">
                    <a:alpha val="0"/>
                  </a:srgbClr>
                </a:solidFill>
                <a:latin typeface="Calibri"/>
                <a:ea typeface="맑은 고딕"/>
                <a:cs typeface="Calibri"/>
              </a:rPr>
              <a:t> / </a:t>
            </a:r>
            <a:r>
              <a:rPr lang="en-US" altLang="ko-KR" sz="2050" b="1" dirty="0">
                <a:solidFill>
                  <a:srgbClr val="1F2328">
                    <a:alpha val="0"/>
                  </a:srgbClr>
                </a:solidFill>
                <a:latin typeface="Calibri"/>
                <a:ea typeface="맑은 고딕"/>
                <a:cs typeface="Calibri"/>
              </a:rPr>
              <a:t>a little</a:t>
            </a:r>
            <a:r>
              <a:rPr lang="en-US" altLang="ko-KR" sz="2050" b="1"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 pounds."</a:t>
            </a:r>
            <a:endParaRPr lang="en-US" altLang="ko-KR" sz="2050" b="0" dirty="0">
              <a:solidFill>
                <a:srgbClr val="1F2328"/>
              </a:solidFill>
              <a:latin typeface="Calibri"/>
              <a:ea typeface="맑은 고딕"/>
              <a:cs typeface="Calibri"/>
            </a:endParaRPr>
          </a:p>
        </p:txBody>
      </p:sp>
      <p:sp>
        <p:nvSpPr>
          <p:cNvPr id="10" name="rv_g02"/>
          <p:cNvSpPr txBox="1"/>
          <p:nvPr/>
        </p:nvSpPr>
        <p:spPr>
          <a:xfrm>
            <a:off x="457200" y="950976"/>
            <a:ext cx="11277295" cy="4948936"/>
          </a:xfrm>
          <a:prstGeom prst="rect">
            <a:avLst/>
          </a:prstGeom>
          <a:noFill/>
        </p:spPr>
        <p:txBody>
          <a:bodyPr wrap="square" lIns="228600" tIns="155448" rIns="228600" bIns="155448" anchor="t" rtlCol="0">
            <a:noAutofit/>
          </a:bodyPr>
          <a:lstStyle/>
          <a:p>
            <a:pPr algn="l">
              <a:lnSpc>
                <a:spcPts val="3320"/>
              </a:lnSpc>
              <a:spcBef>
                <a:spcPts val="0"/>
              </a:spcBef>
              <a:spcAft>
                <a:spcPts val="0"/>
              </a:spcAft>
              <a:buNone/>
            </a:pPr>
            <a:r>
              <a:rPr lang="ko-KR" altLang="en-US" sz="2050" b="1" dirty="0">
                <a:solidFill>
                  <a:srgbClr val="1E2A5A">
                    <a:alpha val="0"/>
                  </a:srgbClr>
                </a:solidFill>
                <a:latin typeface="맑은 고딕"/>
                <a:ea typeface="맑은 고딕"/>
                <a:cs typeface="맑은 고딕"/>
              </a:rPr>
              <a:t>①</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Now it was another Sunday, and Mr. Boggis was in a small town again.</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②</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At a house he visited, he met two men. One was Rummins, the owner, and </a:t>
            </a:r>
            <a:r>
              <a:rPr lang="en-US" altLang="ko-KR" sz="2050" b="1" dirty="0">
                <a:solidFill>
                  <a:srgbClr val="1F2328">
                    <a:alpha val="0"/>
                  </a:srgbClr>
                </a:solidFill>
                <a:latin typeface="Calibri"/>
                <a:ea typeface="맑은 고딕"/>
                <a:cs typeface="Calibri"/>
              </a:rPr>
              <a:t>[ </a:t>
            </a:r>
            <a:r>
              <a:rPr lang="en-US" altLang="ko-KR" sz="2050" b="1" dirty="0">
                <a:solidFill>
                  <a:srgbClr val="1F2328">
                    <a:alpha val="0"/>
                  </a:srgbClr>
                </a:solidFill>
                <a:latin typeface="Calibri"/>
                <a:ea typeface="맑은 고딕"/>
                <a:cs typeface="Calibri"/>
              </a:rPr>
              <a:t>another</a:t>
            </a:r>
            <a:r>
              <a:rPr lang="en-US" altLang="ko-KR" sz="2050" b="1" dirty="0">
                <a:solidFill>
                  <a:srgbClr val="1F2328">
                    <a:alpha val="0"/>
                  </a:srgbClr>
                </a:solidFill>
                <a:latin typeface="Calibri"/>
                <a:ea typeface="맑은 고딕"/>
                <a:cs typeface="Calibri"/>
              </a:rPr>
              <a:t> / </a:t>
            </a:r>
            <a:r>
              <a:rPr lang="en-US" altLang="ko-KR" sz="2050" b="1" dirty="0">
                <a:solidFill>
                  <a:srgbClr val="1F2328">
                    <a:alpha val="0"/>
                  </a:srgbClr>
                </a:solidFill>
                <a:latin typeface="Calibri"/>
                <a:ea typeface="맑은 고딕"/>
                <a:cs typeface="Calibri"/>
              </a:rPr>
              <a:t>the other</a:t>
            </a:r>
            <a:r>
              <a:rPr lang="en-US" altLang="ko-KR" sz="2050" b="1"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 was his son Bert.</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③</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"I buy old furniture. Do you have any?" asked Mr. Boggis.</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④</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"No, I don’t," said Rummins. "Can I just take a look?" asked Mr. Boggis.</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⑤</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"Sure. Please come in," said Rummins.</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⑥</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Mr. Boggis first went to the kitchen, and there was nothing.</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⑦</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He then moved to the living room. And there it was!</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⑧</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A table </a:t>
            </a:r>
            <a:r>
              <a:rPr lang="en-US" altLang="ko-KR" sz="2050" b="1" dirty="0">
                <a:solidFill>
                  <a:srgbClr val="1F2328">
                    <a:alpha val="0"/>
                  </a:srgbClr>
                </a:solidFill>
                <a:latin typeface="Calibri"/>
                <a:ea typeface="맑은 고딕"/>
                <a:cs typeface="Calibri"/>
              </a:rPr>
              <a:t>[ </a:t>
            </a:r>
            <a:r>
              <a:rPr lang="en-US" altLang="ko-KR" sz="2050" b="1" dirty="0">
                <a:solidFill>
                  <a:srgbClr val="C00000"/>
                </a:solidFill>
                <a:highlight>
                  <a:srgbClr val="F3F5F9"/>
                </a:highlight>
                <a:latin typeface="Calibri"/>
                <a:ea typeface="맑은 고딕"/>
                <a:cs typeface="Calibri"/>
              </a:rPr>
              <a:t>which</a:t>
            </a:r>
            <a:r>
              <a:rPr lang="en-US" altLang="ko-KR" sz="2050" b="1" dirty="0">
                <a:solidFill>
                  <a:srgbClr val="1F2328">
                    <a:alpha val="0"/>
                  </a:srgbClr>
                </a:solidFill>
                <a:latin typeface="Calibri"/>
                <a:ea typeface="맑은 고딕"/>
                <a:cs typeface="Calibri"/>
              </a:rPr>
              <a:t> / </a:t>
            </a:r>
            <a:r>
              <a:rPr lang="en-US" altLang="ko-KR" sz="2050" b="1" dirty="0">
                <a:solidFill>
                  <a:srgbClr val="1F2328">
                    <a:alpha val="0"/>
                  </a:srgbClr>
                </a:solidFill>
                <a:latin typeface="Calibri"/>
                <a:ea typeface="맑은 고딕"/>
                <a:cs typeface="Calibri"/>
              </a:rPr>
              <a:t>where</a:t>
            </a:r>
            <a:r>
              <a:rPr lang="en-US" altLang="ko-KR" sz="2050" b="1"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 was a priceless piece of eighteenth‑century English furniture.</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⑨</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He was so </a:t>
            </a:r>
            <a:r>
              <a:rPr lang="en-US" altLang="ko-KR" sz="2050" b="1" dirty="0">
                <a:solidFill>
                  <a:srgbClr val="1F2328">
                    <a:alpha val="0"/>
                  </a:srgbClr>
                </a:solidFill>
                <a:latin typeface="Calibri"/>
                <a:ea typeface="맑은 고딕"/>
                <a:cs typeface="Calibri"/>
              </a:rPr>
              <a:t>[ </a:t>
            </a:r>
            <a:r>
              <a:rPr lang="en-US" altLang="ko-KR" sz="2050" b="1" dirty="0">
                <a:solidFill>
                  <a:srgbClr val="1F2328">
                    <a:alpha val="0"/>
                  </a:srgbClr>
                </a:solidFill>
                <a:latin typeface="Calibri"/>
                <a:ea typeface="맑은 고딕"/>
                <a:cs typeface="Calibri"/>
              </a:rPr>
              <a:t>exciting</a:t>
            </a:r>
            <a:r>
              <a:rPr lang="en-US" altLang="ko-KR" sz="2050" b="1" dirty="0">
                <a:solidFill>
                  <a:srgbClr val="1F2328">
                    <a:alpha val="0"/>
                  </a:srgbClr>
                </a:solidFill>
                <a:latin typeface="Calibri"/>
                <a:ea typeface="맑은 고딕"/>
                <a:cs typeface="Calibri"/>
              </a:rPr>
              <a:t> / </a:t>
            </a:r>
            <a:r>
              <a:rPr lang="en-US" altLang="ko-KR" sz="2050" b="1" dirty="0">
                <a:solidFill>
                  <a:srgbClr val="1F2328">
                    <a:alpha val="0"/>
                  </a:srgbClr>
                </a:solidFill>
                <a:latin typeface="Calibri"/>
                <a:ea typeface="맑은 고딕"/>
                <a:cs typeface="Calibri"/>
              </a:rPr>
              <a:t>excited</a:t>
            </a:r>
            <a:r>
              <a:rPr lang="en-US" altLang="ko-KR" sz="2050" b="1"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 that he almost fell over.</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⑩</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"What’s wrong?" Bert asked. "Oh, nothing. Nothing at all," Mr. Boggis lied.</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⑪</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He then said with a straight face, "This table is a reproduction. It’s worth only </a:t>
            </a:r>
            <a:r>
              <a:rPr lang="en-US" altLang="ko-KR" sz="2050" b="1" dirty="0">
                <a:solidFill>
                  <a:srgbClr val="1F2328">
                    <a:alpha val="0"/>
                  </a:srgbClr>
                </a:solidFill>
                <a:latin typeface="Calibri"/>
                <a:ea typeface="맑은 고딕"/>
                <a:cs typeface="Calibri"/>
              </a:rPr>
              <a:t>[ </a:t>
            </a:r>
            <a:r>
              <a:rPr lang="en-US" altLang="ko-KR" sz="2050" b="1" dirty="0">
                <a:solidFill>
                  <a:srgbClr val="1F2328">
                    <a:alpha val="0"/>
                  </a:srgbClr>
                </a:solidFill>
                <a:latin typeface="Calibri"/>
                <a:ea typeface="맑은 고딕"/>
                <a:cs typeface="Calibri"/>
              </a:rPr>
              <a:t>a few</a:t>
            </a:r>
            <a:r>
              <a:rPr lang="en-US" altLang="ko-KR" sz="2050" b="1" dirty="0">
                <a:solidFill>
                  <a:srgbClr val="1F2328">
                    <a:alpha val="0"/>
                  </a:srgbClr>
                </a:solidFill>
                <a:latin typeface="Calibri"/>
                <a:ea typeface="맑은 고딕"/>
                <a:cs typeface="Calibri"/>
              </a:rPr>
              <a:t> / </a:t>
            </a:r>
            <a:r>
              <a:rPr lang="en-US" altLang="ko-KR" sz="2050" b="1" dirty="0">
                <a:solidFill>
                  <a:srgbClr val="1F2328">
                    <a:alpha val="0"/>
                  </a:srgbClr>
                </a:solidFill>
                <a:latin typeface="Calibri"/>
                <a:ea typeface="맑은 고딕"/>
                <a:cs typeface="Calibri"/>
              </a:rPr>
              <a:t>a little</a:t>
            </a:r>
            <a:r>
              <a:rPr lang="en-US" altLang="ko-KR" sz="2050" b="1"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 pounds."</a:t>
            </a:r>
            <a:endParaRPr lang="en-US" altLang="ko-KR" sz="2050" b="0" dirty="0">
              <a:solidFill>
                <a:srgbClr val="1F2328"/>
              </a:solidFill>
              <a:latin typeface="Calibri"/>
              <a:ea typeface="맑은 고딕"/>
              <a:cs typeface="Calibri"/>
            </a:endParaRPr>
          </a:p>
        </p:txBody>
      </p:sp>
      <p:sp>
        <p:nvSpPr>
          <p:cNvPr id="11" name="rv_g03"/>
          <p:cNvSpPr txBox="1"/>
          <p:nvPr/>
        </p:nvSpPr>
        <p:spPr>
          <a:xfrm>
            <a:off x="457200" y="950976"/>
            <a:ext cx="11277295" cy="4948936"/>
          </a:xfrm>
          <a:prstGeom prst="rect">
            <a:avLst/>
          </a:prstGeom>
          <a:noFill/>
        </p:spPr>
        <p:txBody>
          <a:bodyPr wrap="square" lIns="228600" tIns="155448" rIns="228600" bIns="155448" anchor="t" rtlCol="0">
            <a:noAutofit/>
          </a:bodyPr>
          <a:lstStyle/>
          <a:p>
            <a:pPr algn="l">
              <a:lnSpc>
                <a:spcPts val="3320"/>
              </a:lnSpc>
              <a:spcBef>
                <a:spcPts val="0"/>
              </a:spcBef>
              <a:spcAft>
                <a:spcPts val="0"/>
              </a:spcAft>
              <a:buNone/>
            </a:pPr>
            <a:r>
              <a:rPr lang="ko-KR" altLang="en-US" sz="2050" b="1" dirty="0">
                <a:solidFill>
                  <a:srgbClr val="1E2A5A">
                    <a:alpha val="0"/>
                  </a:srgbClr>
                </a:solidFill>
                <a:latin typeface="맑은 고딕"/>
                <a:ea typeface="맑은 고딕"/>
                <a:cs typeface="맑은 고딕"/>
              </a:rPr>
              <a:t>①</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Now it was another Sunday, and Mr. Boggis was in a small town again.</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②</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At a house he visited, he met two men. One was Rummins, the owner, and </a:t>
            </a:r>
            <a:r>
              <a:rPr lang="en-US" altLang="ko-KR" sz="2050" b="1" dirty="0">
                <a:solidFill>
                  <a:srgbClr val="1F2328">
                    <a:alpha val="0"/>
                  </a:srgbClr>
                </a:solidFill>
                <a:latin typeface="Calibri"/>
                <a:ea typeface="맑은 고딕"/>
                <a:cs typeface="Calibri"/>
              </a:rPr>
              <a:t>[ </a:t>
            </a:r>
            <a:r>
              <a:rPr lang="en-US" altLang="ko-KR" sz="2050" b="1" dirty="0">
                <a:solidFill>
                  <a:srgbClr val="1F2328">
                    <a:alpha val="0"/>
                  </a:srgbClr>
                </a:solidFill>
                <a:latin typeface="Calibri"/>
                <a:ea typeface="맑은 고딕"/>
                <a:cs typeface="Calibri"/>
              </a:rPr>
              <a:t>another</a:t>
            </a:r>
            <a:r>
              <a:rPr lang="en-US" altLang="ko-KR" sz="2050" b="1" dirty="0">
                <a:solidFill>
                  <a:srgbClr val="1F2328">
                    <a:alpha val="0"/>
                  </a:srgbClr>
                </a:solidFill>
                <a:latin typeface="Calibri"/>
                <a:ea typeface="맑은 고딕"/>
                <a:cs typeface="Calibri"/>
              </a:rPr>
              <a:t> / </a:t>
            </a:r>
            <a:r>
              <a:rPr lang="en-US" altLang="ko-KR" sz="2050" b="1" dirty="0">
                <a:solidFill>
                  <a:srgbClr val="1F2328">
                    <a:alpha val="0"/>
                  </a:srgbClr>
                </a:solidFill>
                <a:latin typeface="Calibri"/>
                <a:ea typeface="맑은 고딕"/>
                <a:cs typeface="Calibri"/>
              </a:rPr>
              <a:t>the other</a:t>
            </a:r>
            <a:r>
              <a:rPr lang="en-US" altLang="ko-KR" sz="2050" b="1"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 was his son Bert.</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③</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"I buy old furniture. Do you have any?" asked Mr. Boggis.</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④</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"No, I don’t," said Rummins. "Can I just take a look?" asked Mr. Boggis.</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⑤</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"Sure. Please come in," said Rummins.</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⑥</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Mr. Boggis first went to the kitchen, and there was nothing.</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⑦</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He then moved to the living room. And there it was!</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⑧</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A table </a:t>
            </a:r>
            <a:r>
              <a:rPr lang="en-US" altLang="ko-KR" sz="2050" b="1" dirty="0">
                <a:solidFill>
                  <a:srgbClr val="1F2328">
                    <a:alpha val="0"/>
                  </a:srgbClr>
                </a:solidFill>
                <a:latin typeface="Calibri"/>
                <a:ea typeface="맑은 고딕"/>
                <a:cs typeface="Calibri"/>
              </a:rPr>
              <a:t>[ </a:t>
            </a:r>
            <a:r>
              <a:rPr lang="en-US" altLang="ko-KR" sz="2050" b="1" dirty="0">
                <a:solidFill>
                  <a:srgbClr val="1F2328">
                    <a:alpha val="0"/>
                  </a:srgbClr>
                </a:solidFill>
                <a:latin typeface="Calibri"/>
                <a:ea typeface="맑은 고딕"/>
                <a:cs typeface="Calibri"/>
              </a:rPr>
              <a:t>which</a:t>
            </a:r>
            <a:r>
              <a:rPr lang="en-US" altLang="ko-KR" sz="2050" b="1" dirty="0">
                <a:solidFill>
                  <a:srgbClr val="1F2328">
                    <a:alpha val="0"/>
                  </a:srgbClr>
                </a:solidFill>
                <a:latin typeface="Calibri"/>
                <a:ea typeface="맑은 고딕"/>
                <a:cs typeface="Calibri"/>
              </a:rPr>
              <a:t> / </a:t>
            </a:r>
            <a:r>
              <a:rPr lang="en-US" altLang="ko-KR" sz="2050" b="1" dirty="0">
                <a:solidFill>
                  <a:srgbClr val="1F2328">
                    <a:alpha val="0"/>
                  </a:srgbClr>
                </a:solidFill>
                <a:latin typeface="Calibri"/>
                <a:ea typeface="맑은 고딕"/>
                <a:cs typeface="Calibri"/>
              </a:rPr>
              <a:t>where</a:t>
            </a:r>
            <a:r>
              <a:rPr lang="en-US" altLang="ko-KR" sz="2050" b="1"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 was a priceless piece of eighteenth‑century English furniture.</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⑨</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He was so </a:t>
            </a:r>
            <a:r>
              <a:rPr lang="en-US" altLang="ko-KR" sz="2050" b="1" dirty="0">
                <a:solidFill>
                  <a:srgbClr val="1F2328">
                    <a:alpha val="0"/>
                  </a:srgbClr>
                </a:solidFill>
                <a:latin typeface="Calibri"/>
                <a:ea typeface="맑은 고딕"/>
                <a:cs typeface="Calibri"/>
              </a:rPr>
              <a:t>[ </a:t>
            </a:r>
            <a:r>
              <a:rPr lang="en-US" altLang="ko-KR" sz="2050" b="1" dirty="0">
                <a:solidFill>
                  <a:srgbClr val="1F2328">
                    <a:alpha val="0"/>
                  </a:srgbClr>
                </a:solidFill>
                <a:latin typeface="Calibri"/>
                <a:ea typeface="맑은 고딕"/>
                <a:cs typeface="Calibri"/>
              </a:rPr>
              <a:t>exciting</a:t>
            </a:r>
            <a:r>
              <a:rPr lang="en-US" altLang="ko-KR" sz="2050" b="1" dirty="0">
                <a:solidFill>
                  <a:srgbClr val="1F2328">
                    <a:alpha val="0"/>
                  </a:srgbClr>
                </a:solidFill>
                <a:latin typeface="Calibri"/>
                <a:ea typeface="맑은 고딕"/>
                <a:cs typeface="Calibri"/>
              </a:rPr>
              <a:t> / </a:t>
            </a:r>
            <a:r>
              <a:rPr lang="en-US" altLang="ko-KR" sz="2050" b="1" dirty="0">
                <a:solidFill>
                  <a:srgbClr val="C00000"/>
                </a:solidFill>
                <a:highlight>
                  <a:srgbClr val="F3F5F9"/>
                </a:highlight>
                <a:latin typeface="Calibri"/>
                <a:ea typeface="맑은 고딕"/>
                <a:cs typeface="Calibri"/>
              </a:rPr>
              <a:t>excited</a:t>
            </a:r>
            <a:r>
              <a:rPr lang="en-US" altLang="ko-KR" sz="2050" b="1"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 that he almost fell over.</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⑩</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"What’s wrong?" Bert asked. "Oh, nothing. Nothing at all," Mr. Boggis lied.</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⑪</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He then said with a straight face, "This table is a reproduction. It’s worth only </a:t>
            </a:r>
            <a:r>
              <a:rPr lang="en-US" altLang="ko-KR" sz="2050" b="1" dirty="0">
                <a:solidFill>
                  <a:srgbClr val="1F2328">
                    <a:alpha val="0"/>
                  </a:srgbClr>
                </a:solidFill>
                <a:latin typeface="Calibri"/>
                <a:ea typeface="맑은 고딕"/>
                <a:cs typeface="Calibri"/>
              </a:rPr>
              <a:t>[ </a:t>
            </a:r>
            <a:r>
              <a:rPr lang="en-US" altLang="ko-KR" sz="2050" b="1" dirty="0">
                <a:solidFill>
                  <a:srgbClr val="1F2328">
                    <a:alpha val="0"/>
                  </a:srgbClr>
                </a:solidFill>
                <a:latin typeface="Calibri"/>
                <a:ea typeface="맑은 고딕"/>
                <a:cs typeface="Calibri"/>
              </a:rPr>
              <a:t>a few</a:t>
            </a:r>
            <a:r>
              <a:rPr lang="en-US" altLang="ko-KR" sz="2050" b="1" dirty="0">
                <a:solidFill>
                  <a:srgbClr val="1F2328">
                    <a:alpha val="0"/>
                  </a:srgbClr>
                </a:solidFill>
                <a:latin typeface="Calibri"/>
                <a:ea typeface="맑은 고딕"/>
                <a:cs typeface="Calibri"/>
              </a:rPr>
              <a:t> / </a:t>
            </a:r>
            <a:r>
              <a:rPr lang="en-US" altLang="ko-KR" sz="2050" b="1" dirty="0">
                <a:solidFill>
                  <a:srgbClr val="1F2328">
                    <a:alpha val="0"/>
                  </a:srgbClr>
                </a:solidFill>
                <a:latin typeface="Calibri"/>
                <a:ea typeface="맑은 고딕"/>
                <a:cs typeface="Calibri"/>
              </a:rPr>
              <a:t>a little</a:t>
            </a:r>
            <a:r>
              <a:rPr lang="en-US" altLang="ko-KR" sz="2050" b="1"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 pounds."</a:t>
            </a:r>
            <a:endParaRPr lang="en-US" altLang="ko-KR" sz="2050" b="0" dirty="0">
              <a:solidFill>
                <a:srgbClr val="1F2328"/>
              </a:solidFill>
              <a:latin typeface="Calibri"/>
              <a:ea typeface="맑은 고딕"/>
              <a:cs typeface="Calibri"/>
            </a:endParaRPr>
          </a:p>
        </p:txBody>
      </p:sp>
      <p:sp>
        <p:nvSpPr>
          <p:cNvPr id="12" name="rv_g04"/>
          <p:cNvSpPr txBox="1"/>
          <p:nvPr/>
        </p:nvSpPr>
        <p:spPr>
          <a:xfrm>
            <a:off x="457200" y="950976"/>
            <a:ext cx="11277295" cy="4948936"/>
          </a:xfrm>
          <a:prstGeom prst="rect">
            <a:avLst/>
          </a:prstGeom>
          <a:noFill/>
        </p:spPr>
        <p:txBody>
          <a:bodyPr wrap="square" lIns="228600" tIns="155448" rIns="228600" bIns="155448" anchor="t" rtlCol="0">
            <a:noAutofit/>
          </a:bodyPr>
          <a:lstStyle/>
          <a:p>
            <a:pPr algn="l">
              <a:lnSpc>
                <a:spcPts val="3320"/>
              </a:lnSpc>
              <a:spcBef>
                <a:spcPts val="0"/>
              </a:spcBef>
              <a:spcAft>
                <a:spcPts val="0"/>
              </a:spcAft>
              <a:buNone/>
            </a:pPr>
            <a:r>
              <a:rPr lang="ko-KR" altLang="en-US" sz="2050" b="1" dirty="0">
                <a:solidFill>
                  <a:srgbClr val="1E2A5A">
                    <a:alpha val="0"/>
                  </a:srgbClr>
                </a:solidFill>
                <a:latin typeface="맑은 고딕"/>
                <a:ea typeface="맑은 고딕"/>
                <a:cs typeface="맑은 고딕"/>
              </a:rPr>
              <a:t>①</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Now it was another Sunday, and Mr. Boggis was in a small town again.</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②</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At a house he visited, he met two men. One was Rummins, the owner, and </a:t>
            </a:r>
            <a:r>
              <a:rPr lang="en-US" altLang="ko-KR" sz="2050" b="1" dirty="0">
                <a:solidFill>
                  <a:srgbClr val="1F2328">
                    <a:alpha val="0"/>
                  </a:srgbClr>
                </a:solidFill>
                <a:latin typeface="Calibri"/>
                <a:ea typeface="맑은 고딕"/>
                <a:cs typeface="Calibri"/>
              </a:rPr>
              <a:t>[ </a:t>
            </a:r>
            <a:r>
              <a:rPr lang="en-US" altLang="ko-KR" sz="2050" b="1" dirty="0">
                <a:solidFill>
                  <a:srgbClr val="1F2328">
                    <a:alpha val="0"/>
                  </a:srgbClr>
                </a:solidFill>
                <a:latin typeface="Calibri"/>
                <a:ea typeface="맑은 고딕"/>
                <a:cs typeface="Calibri"/>
              </a:rPr>
              <a:t>another</a:t>
            </a:r>
            <a:r>
              <a:rPr lang="en-US" altLang="ko-KR" sz="2050" b="1" dirty="0">
                <a:solidFill>
                  <a:srgbClr val="1F2328">
                    <a:alpha val="0"/>
                  </a:srgbClr>
                </a:solidFill>
                <a:latin typeface="Calibri"/>
                <a:ea typeface="맑은 고딕"/>
                <a:cs typeface="Calibri"/>
              </a:rPr>
              <a:t> / </a:t>
            </a:r>
            <a:r>
              <a:rPr lang="en-US" altLang="ko-KR" sz="2050" b="1" dirty="0">
                <a:solidFill>
                  <a:srgbClr val="1F2328">
                    <a:alpha val="0"/>
                  </a:srgbClr>
                </a:solidFill>
                <a:latin typeface="Calibri"/>
                <a:ea typeface="맑은 고딕"/>
                <a:cs typeface="Calibri"/>
              </a:rPr>
              <a:t>the other</a:t>
            </a:r>
            <a:r>
              <a:rPr lang="en-US" altLang="ko-KR" sz="2050" b="1"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 was his son Bert.</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③</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"I buy old furniture. Do you have any?" asked Mr. Boggis.</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④</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"No, I don’t," said Rummins. "Can I just take a look?" asked Mr. Boggis.</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⑤</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"Sure. Please come in," said Rummins.</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⑥</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Mr. Boggis first went to the kitchen, and there was nothing.</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⑦</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He then moved to the living room. And there it was!</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⑧</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A table </a:t>
            </a:r>
            <a:r>
              <a:rPr lang="en-US" altLang="ko-KR" sz="2050" b="1" dirty="0">
                <a:solidFill>
                  <a:srgbClr val="1F2328">
                    <a:alpha val="0"/>
                  </a:srgbClr>
                </a:solidFill>
                <a:latin typeface="Calibri"/>
                <a:ea typeface="맑은 고딕"/>
                <a:cs typeface="Calibri"/>
              </a:rPr>
              <a:t>[ </a:t>
            </a:r>
            <a:r>
              <a:rPr lang="en-US" altLang="ko-KR" sz="2050" b="1" dirty="0">
                <a:solidFill>
                  <a:srgbClr val="1F2328">
                    <a:alpha val="0"/>
                  </a:srgbClr>
                </a:solidFill>
                <a:latin typeface="Calibri"/>
                <a:ea typeface="맑은 고딕"/>
                <a:cs typeface="Calibri"/>
              </a:rPr>
              <a:t>which</a:t>
            </a:r>
            <a:r>
              <a:rPr lang="en-US" altLang="ko-KR" sz="2050" b="1" dirty="0">
                <a:solidFill>
                  <a:srgbClr val="1F2328">
                    <a:alpha val="0"/>
                  </a:srgbClr>
                </a:solidFill>
                <a:latin typeface="Calibri"/>
                <a:ea typeface="맑은 고딕"/>
                <a:cs typeface="Calibri"/>
              </a:rPr>
              <a:t> / </a:t>
            </a:r>
            <a:r>
              <a:rPr lang="en-US" altLang="ko-KR" sz="2050" b="1" dirty="0">
                <a:solidFill>
                  <a:srgbClr val="1F2328">
                    <a:alpha val="0"/>
                  </a:srgbClr>
                </a:solidFill>
                <a:latin typeface="Calibri"/>
                <a:ea typeface="맑은 고딕"/>
                <a:cs typeface="Calibri"/>
              </a:rPr>
              <a:t>where</a:t>
            </a:r>
            <a:r>
              <a:rPr lang="en-US" altLang="ko-KR" sz="2050" b="1"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 was a priceless piece of eighteenth‑century English furniture.</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⑨</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He was so </a:t>
            </a:r>
            <a:r>
              <a:rPr lang="en-US" altLang="ko-KR" sz="2050" b="1" dirty="0">
                <a:solidFill>
                  <a:srgbClr val="1F2328">
                    <a:alpha val="0"/>
                  </a:srgbClr>
                </a:solidFill>
                <a:latin typeface="Calibri"/>
                <a:ea typeface="맑은 고딕"/>
                <a:cs typeface="Calibri"/>
              </a:rPr>
              <a:t>[ </a:t>
            </a:r>
            <a:r>
              <a:rPr lang="en-US" altLang="ko-KR" sz="2050" b="1" dirty="0">
                <a:solidFill>
                  <a:srgbClr val="1F2328">
                    <a:alpha val="0"/>
                  </a:srgbClr>
                </a:solidFill>
                <a:latin typeface="Calibri"/>
                <a:ea typeface="맑은 고딕"/>
                <a:cs typeface="Calibri"/>
              </a:rPr>
              <a:t>exciting</a:t>
            </a:r>
            <a:r>
              <a:rPr lang="en-US" altLang="ko-KR" sz="2050" b="1" dirty="0">
                <a:solidFill>
                  <a:srgbClr val="1F2328">
                    <a:alpha val="0"/>
                  </a:srgbClr>
                </a:solidFill>
                <a:latin typeface="Calibri"/>
                <a:ea typeface="맑은 고딕"/>
                <a:cs typeface="Calibri"/>
              </a:rPr>
              <a:t> / </a:t>
            </a:r>
            <a:r>
              <a:rPr lang="en-US" altLang="ko-KR" sz="2050" b="1" dirty="0">
                <a:solidFill>
                  <a:srgbClr val="1F2328">
                    <a:alpha val="0"/>
                  </a:srgbClr>
                </a:solidFill>
                <a:latin typeface="Calibri"/>
                <a:ea typeface="맑은 고딕"/>
                <a:cs typeface="Calibri"/>
              </a:rPr>
              <a:t>excited</a:t>
            </a:r>
            <a:r>
              <a:rPr lang="en-US" altLang="ko-KR" sz="2050" b="1"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 that he almost fell over.</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⑩</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"What’s wrong?" Bert asked. "Oh, nothing. Nothing at all," Mr. Boggis lied.</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⑪</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He then said with a straight face, "This table is a reproduction. It’s worth only </a:t>
            </a:r>
            <a:r>
              <a:rPr lang="en-US" altLang="ko-KR" sz="2050" b="1" dirty="0">
                <a:solidFill>
                  <a:srgbClr val="1F2328">
                    <a:alpha val="0"/>
                  </a:srgbClr>
                </a:solidFill>
                <a:latin typeface="Calibri"/>
                <a:ea typeface="맑은 고딕"/>
                <a:cs typeface="Calibri"/>
              </a:rPr>
              <a:t>[ </a:t>
            </a:r>
            <a:r>
              <a:rPr lang="en-US" altLang="ko-KR" sz="2050" b="1" dirty="0">
                <a:solidFill>
                  <a:srgbClr val="C00000"/>
                </a:solidFill>
                <a:highlight>
                  <a:srgbClr val="F3F5F9"/>
                </a:highlight>
                <a:latin typeface="Calibri"/>
                <a:ea typeface="맑은 고딕"/>
                <a:cs typeface="Calibri"/>
              </a:rPr>
              <a:t>a few</a:t>
            </a:r>
            <a:r>
              <a:rPr lang="en-US" altLang="ko-KR" sz="2050" b="1" dirty="0">
                <a:solidFill>
                  <a:srgbClr val="1F2328">
                    <a:alpha val="0"/>
                  </a:srgbClr>
                </a:solidFill>
                <a:latin typeface="Calibri"/>
                <a:ea typeface="맑은 고딕"/>
                <a:cs typeface="Calibri"/>
              </a:rPr>
              <a:t> / </a:t>
            </a:r>
            <a:r>
              <a:rPr lang="en-US" altLang="ko-KR" sz="2050" b="1" dirty="0">
                <a:solidFill>
                  <a:srgbClr val="1F2328">
                    <a:alpha val="0"/>
                  </a:srgbClr>
                </a:solidFill>
                <a:latin typeface="Calibri"/>
                <a:ea typeface="맑은 고딕"/>
                <a:cs typeface="Calibri"/>
              </a:rPr>
              <a:t>a little</a:t>
            </a:r>
            <a:r>
              <a:rPr lang="en-US" altLang="ko-KR" sz="2050" b="1"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 pounds."</a:t>
            </a:r>
            <a:endParaRPr lang="en-US" altLang="ko-KR" sz="2050" b="0" dirty="0">
              <a:solidFill>
                <a:srgbClr val="1F2328"/>
              </a:solidFill>
              <a:latin typeface="Calibri"/>
              <a:ea typeface="맑은 고딕"/>
              <a:cs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25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25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25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25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Lst>
  </p:timing>
</p:sld>
</file>

<file path=ppt/slides/slide10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L6-2</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3 · ②</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다음 글의 각 [  ] 안에서 문맥상 알맞은 것을 고르시오.</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6</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클릭할 때마다 괄호 속 정답이 앞에서부터 하나씩 빨간색으로 나타납니다 (총 4개)</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4948936"/>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4948936"/>
          </a:xfrm>
          <a:prstGeom prst="rect">
            <a:avLst/>
          </a:prstGeom>
          <a:noFill/>
        </p:spPr>
        <p:txBody>
          <a:bodyPr wrap="square" lIns="228600" tIns="155448" rIns="228600" bIns="155448" anchor="t" rtlCol="0">
            <a:noAutofit/>
          </a:bodyPr>
          <a:lstStyle/>
          <a:p>
            <a:pPr algn="l">
              <a:lnSpc>
                <a:spcPts val="3320"/>
              </a:lnSpc>
              <a:spcBef>
                <a:spcPts val="0"/>
              </a:spcBef>
              <a:spcAft>
                <a:spcPts val="0"/>
              </a:spcAft>
              <a:buNone/>
            </a:pPr>
            <a:r>
              <a:rPr lang="ko-KR" altLang="en-US" sz="2050" b="1" dirty="0">
                <a:solidFill>
                  <a:srgbClr val="1E2A5A"/>
                </a:solidFill>
                <a:latin typeface="맑은 고딕"/>
                <a:ea typeface="맑은 고딕"/>
                <a:cs typeface="맑은 고딕"/>
              </a:rPr>
              <a:t>①</a:t>
            </a:r>
            <a:r>
              <a:rPr lang="en-US" altLang="ko-KR" sz="2050" b="0" dirty="0">
                <a:solidFill>
                  <a:srgbClr val="1F2328"/>
                </a:solidFill>
                <a:latin typeface="Calibri"/>
                <a:ea typeface="맑은 고딕"/>
                <a:cs typeface="Calibri"/>
              </a:rPr>
              <a:t> </a:t>
            </a:r>
            <a:r>
              <a:rPr lang="en-US" altLang="ko-KR" sz="2050" b="0" dirty="0">
                <a:solidFill>
                  <a:srgbClr val="1F2328"/>
                </a:solidFill>
                <a:latin typeface="Calibri"/>
                <a:ea typeface="맑은 고딕"/>
                <a:cs typeface="Calibri"/>
              </a:rPr>
              <a:t>Now it was </a:t>
            </a:r>
            <a:r>
              <a:rPr lang="en-US" altLang="ko-KR" sz="2050" b="1" dirty="0">
                <a:solidFill>
                  <a:srgbClr val="1F2328"/>
                </a:solidFill>
                <a:latin typeface="Calibri"/>
                <a:ea typeface="맑은 고딕"/>
                <a:cs typeface="Calibri"/>
              </a:rPr>
              <a:t>[ </a:t>
            </a:r>
            <a:r>
              <a:rPr lang="en-US" altLang="ko-KR" sz="2050" b="1" dirty="0">
                <a:solidFill>
                  <a:srgbClr val="1F2328"/>
                </a:solidFill>
                <a:latin typeface="Calibri"/>
                <a:ea typeface="맑은 고딕"/>
                <a:cs typeface="Calibri"/>
              </a:rPr>
              <a:t>another</a:t>
            </a:r>
            <a:r>
              <a:rPr lang="en-US" altLang="ko-KR" sz="2050" b="1" dirty="0">
                <a:solidFill>
                  <a:srgbClr val="1F2328"/>
                </a:solidFill>
                <a:latin typeface="Calibri"/>
                <a:ea typeface="맑은 고딕"/>
                <a:cs typeface="Calibri"/>
              </a:rPr>
              <a:t> / </a:t>
            </a:r>
            <a:r>
              <a:rPr lang="en-US" altLang="ko-KR" sz="2050" b="1" dirty="0">
                <a:solidFill>
                  <a:srgbClr val="1F2328"/>
                </a:solidFill>
                <a:latin typeface="Calibri"/>
                <a:ea typeface="맑은 고딕"/>
                <a:cs typeface="Calibri"/>
              </a:rPr>
              <a:t>other</a:t>
            </a:r>
            <a:r>
              <a:rPr lang="en-US" altLang="ko-KR" sz="2050" b="1" dirty="0">
                <a:solidFill>
                  <a:srgbClr val="1F2328"/>
                </a:solidFill>
                <a:latin typeface="Calibri"/>
                <a:ea typeface="맑은 고딕"/>
                <a:cs typeface="Calibri"/>
              </a:rPr>
              <a:t> ]</a:t>
            </a:r>
            <a:r>
              <a:rPr lang="en-US" altLang="ko-KR" sz="2050" b="0" dirty="0">
                <a:solidFill>
                  <a:srgbClr val="1F2328"/>
                </a:solidFill>
                <a:latin typeface="Calibri"/>
                <a:ea typeface="맑은 고딕"/>
                <a:cs typeface="Calibri"/>
              </a:rPr>
              <a:t> Sunday, and Mr. Boggis was in a small town again.</a:t>
            </a:r>
            <a:r>
              <a:rPr lang="en-US" altLang="ko-KR" sz="2050" b="0" dirty="0">
                <a:solidFill>
                  <a:srgbClr val="1F2328"/>
                </a:solidFill>
                <a:latin typeface="Calibri"/>
                <a:ea typeface="맑은 고딕"/>
                <a:cs typeface="Calibri"/>
              </a:rPr>
              <a:t>   </a:t>
            </a:r>
            <a:r>
              <a:rPr lang="ko-KR" altLang="en-US" sz="2050" b="1" dirty="0">
                <a:solidFill>
                  <a:srgbClr val="1E2A5A"/>
                </a:solidFill>
                <a:latin typeface="맑은 고딕"/>
                <a:ea typeface="맑은 고딕"/>
                <a:cs typeface="맑은 고딕"/>
              </a:rPr>
              <a:t>②</a:t>
            </a:r>
            <a:r>
              <a:rPr lang="en-US" altLang="ko-KR" sz="2050" b="0" dirty="0">
                <a:solidFill>
                  <a:srgbClr val="1F2328"/>
                </a:solidFill>
                <a:latin typeface="Calibri"/>
                <a:ea typeface="맑은 고딕"/>
                <a:cs typeface="Calibri"/>
              </a:rPr>
              <a:t> </a:t>
            </a:r>
            <a:r>
              <a:rPr lang="en-US" altLang="ko-KR" sz="2050" b="0" dirty="0">
                <a:solidFill>
                  <a:srgbClr val="1F2328"/>
                </a:solidFill>
                <a:latin typeface="Calibri"/>
                <a:ea typeface="맑은 고딕"/>
                <a:cs typeface="Calibri"/>
              </a:rPr>
              <a:t>At a house he visited, he met two men. One was Rummins, the owner, and the other was his son Bert.</a:t>
            </a:r>
            <a:r>
              <a:rPr lang="en-US" altLang="ko-KR" sz="2050" b="0" dirty="0">
                <a:solidFill>
                  <a:srgbClr val="1F2328"/>
                </a:solidFill>
                <a:latin typeface="Calibri"/>
                <a:ea typeface="맑은 고딕"/>
                <a:cs typeface="Calibri"/>
              </a:rPr>
              <a:t>   </a:t>
            </a:r>
            <a:r>
              <a:rPr lang="ko-KR" altLang="en-US" sz="2050" b="1" dirty="0">
                <a:solidFill>
                  <a:srgbClr val="1E2A5A"/>
                </a:solidFill>
                <a:latin typeface="맑은 고딕"/>
                <a:ea typeface="맑은 고딕"/>
                <a:cs typeface="맑은 고딕"/>
              </a:rPr>
              <a:t>③</a:t>
            </a:r>
            <a:r>
              <a:rPr lang="en-US" altLang="ko-KR" sz="2050" b="0" dirty="0">
                <a:solidFill>
                  <a:srgbClr val="1F2328"/>
                </a:solidFill>
                <a:latin typeface="Calibri"/>
                <a:ea typeface="맑은 고딕"/>
                <a:cs typeface="Calibri"/>
              </a:rPr>
              <a:t> </a:t>
            </a:r>
            <a:r>
              <a:rPr lang="en-US" altLang="ko-KR" sz="2050" b="0" dirty="0">
                <a:solidFill>
                  <a:srgbClr val="1F2328"/>
                </a:solidFill>
                <a:latin typeface="Calibri"/>
                <a:ea typeface="맑은 고딕"/>
                <a:cs typeface="Calibri"/>
              </a:rPr>
              <a:t>"I buy old furniture. Do you have any?" asked Mr. Boggis.</a:t>
            </a:r>
            <a:r>
              <a:rPr lang="en-US" altLang="ko-KR" sz="2050" b="0" dirty="0">
                <a:solidFill>
                  <a:srgbClr val="1F2328"/>
                </a:solidFill>
                <a:latin typeface="Calibri"/>
                <a:ea typeface="맑은 고딕"/>
                <a:cs typeface="Calibri"/>
              </a:rPr>
              <a:t>   </a:t>
            </a:r>
            <a:r>
              <a:rPr lang="ko-KR" altLang="en-US" sz="2050" b="1" dirty="0">
                <a:solidFill>
                  <a:srgbClr val="1E2A5A"/>
                </a:solidFill>
                <a:latin typeface="맑은 고딕"/>
                <a:ea typeface="맑은 고딕"/>
                <a:cs typeface="맑은 고딕"/>
              </a:rPr>
              <a:t>④</a:t>
            </a:r>
            <a:r>
              <a:rPr lang="en-US" altLang="ko-KR" sz="2050" b="0" dirty="0">
                <a:solidFill>
                  <a:srgbClr val="1F2328"/>
                </a:solidFill>
                <a:latin typeface="Calibri"/>
                <a:ea typeface="맑은 고딕"/>
                <a:cs typeface="Calibri"/>
              </a:rPr>
              <a:t> </a:t>
            </a:r>
            <a:r>
              <a:rPr lang="en-US" altLang="ko-KR" sz="2050" b="0" dirty="0">
                <a:solidFill>
                  <a:srgbClr val="1F2328"/>
                </a:solidFill>
                <a:latin typeface="Calibri"/>
                <a:ea typeface="맑은 고딕"/>
                <a:cs typeface="Calibri"/>
              </a:rPr>
              <a:t>"No, I don’t," said Rummins. "Can I just take a look?" asked Mr. Boggis.</a:t>
            </a:r>
            <a:r>
              <a:rPr lang="en-US" altLang="ko-KR" sz="2050" b="0" dirty="0">
                <a:solidFill>
                  <a:srgbClr val="1F2328"/>
                </a:solidFill>
                <a:latin typeface="Calibri"/>
                <a:ea typeface="맑은 고딕"/>
                <a:cs typeface="Calibri"/>
              </a:rPr>
              <a:t>   </a:t>
            </a:r>
            <a:r>
              <a:rPr lang="ko-KR" altLang="en-US" sz="2050" b="1" dirty="0">
                <a:solidFill>
                  <a:srgbClr val="1E2A5A"/>
                </a:solidFill>
                <a:latin typeface="맑은 고딕"/>
                <a:ea typeface="맑은 고딕"/>
                <a:cs typeface="맑은 고딕"/>
              </a:rPr>
              <a:t>⑤</a:t>
            </a:r>
            <a:r>
              <a:rPr lang="en-US" altLang="ko-KR" sz="2050" b="0" dirty="0">
                <a:solidFill>
                  <a:srgbClr val="1F2328"/>
                </a:solidFill>
                <a:latin typeface="Calibri"/>
                <a:ea typeface="맑은 고딕"/>
                <a:cs typeface="Calibri"/>
              </a:rPr>
              <a:t> </a:t>
            </a:r>
            <a:r>
              <a:rPr lang="en-US" altLang="ko-KR" sz="2050" b="0" dirty="0">
                <a:solidFill>
                  <a:srgbClr val="1F2328"/>
                </a:solidFill>
                <a:latin typeface="Calibri"/>
                <a:ea typeface="맑은 고딕"/>
                <a:cs typeface="Calibri"/>
              </a:rPr>
              <a:t>"Sure. Please come in," said Rummins.</a:t>
            </a:r>
            <a:r>
              <a:rPr lang="en-US" altLang="ko-KR" sz="2050" b="0" dirty="0">
                <a:solidFill>
                  <a:srgbClr val="1F2328"/>
                </a:solidFill>
                <a:latin typeface="Calibri"/>
                <a:ea typeface="맑은 고딕"/>
                <a:cs typeface="Calibri"/>
              </a:rPr>
              <a:t>   </a:t>
            </a:r>
            <a:r>
              <a:rPr lang="ko-KR" altLang="en-US" sz="2050" b="1" dirty="0">
                <a:solidFill>
                  <a:srgbClr val="1E2A5A"/>
                </a:solidFill>
                <a:latin typeface="맑은 고딕"/>
                <a:ea typeface="맑은 고딕"/>
                <a:cs typeface="맑은 고딕"/>
              </a:rPr>
              <a:t>⑥</a:t>
            </a:r>
            <a:r>
              <a:rPr lang="en-US" altLang="ko-KR" sz="2050" b="0" dirty="0">
                <a:solidFill>
                  <a:srgbClr val="1F2328"/>
                </a:solidFill>
                <a:latin typeface="Calibri"/>
                <a:ea typeface="맑은 고딕"/>
                <a:cs typeface="Calibri"/>
              </a:rPr>
              <a:t> </a:t>
            </a:r>
            <a:r>
              <a:rPr lang="en-US" altLang="ko-KR" sz="2050" b="0" dirty="0">
                <a:solidFill>
                  <a:srgbClr val="1F2328"/>
                </a:solidFill>
                <a:latin typeface="Calibri"/>
                <a:ea typeface="맑은 고딕"/>
                <a:cs typeface="Calibri"/>
              </a:rPr>
              <a:t>Mr. Boggis first went to the kitchen, and there </a:t>
            </a:r>
            <a:r>
              <a:rPr lang="en-US" altLang="ko-KR" sz="2050" b="1" dirty="0">
                <a:solidFill>
                  <a:srgbClr val="1F2328"/>
                </a:solidFill>
                <a:latin typeface="Calibri"/>
                <a:ea typeface="맑은 고딕"/>
                <a:cs typeface="Calibri"/>
              </a:rPr>
              <a:t>[ </a:t>
            </a:r>
            <a:r>
              <a:rPr lang="en-US" altLang="ko-KR" sz="2050" b="1" dirty="0">
                <a:solidFill>
                  <a:srgbClr val="1F2328"/>
                </a:solidFill>
                <a:latin typeface="Calibri"/>
                <a:ea typeface="맑은 고딕"/>
                <a:cs typeface="Calibri"/>
              </a:rPr>
              <a:t>was nothing</a:t>
            </a:r>
            <a:r>
              <a:rPr lang="en-US" altLang="ko-KR" sz="2050" b="1" dirty="0">
                <a:solidFill>
                  <a:srgbClr val="1F2328"/>
                </a:solidFill>
                <a:latin typeface="Calibri"/>
                <a:ea typeface="맑은 고딕"/>
                <a:cs typeface="Calibri"/>
              </a:rPr>
              <a:t> / </a:t>
            </a:r>
            <a:r>
              <a:rPr lang="en-US" altLang="ko-KR" sz="2050" b="1" dirty="0">
                <a:solidFill>
                  <a:srgbClr val="1F2328"/>
                </a:solidFill>
                <a:latin typeface="Calibri"/>
                <a:ea typeface="맑은 고딕"/>
                <a:cs typeface="Calibri"/>
              </a:rPr>
              <a:t>were nothing</a:t>
            </a:r>
            <a:r>
              <a:rPr lang="en-US" altLang="ko-KR" sz="2050" b="1" dirty="0">
                <a:solidFill>
                  <a:srgbClr val="1F2328"/>
                </a:solidFill>
                <a:latin typeface="Calibri"/>
                <a:ea typeface="맑은 고딕"/>
                <a:cs typeface="Calibri"/>
              </a:rPr>
              <a:t> ]</a:t>
            </a:r>
            <a:r>
              <a:rPr lang="en-US" altLang="ko-KR" sz="2050" b="0" dirty="0">
                <a:solidFill>
                  <a:srgbClr val="1F2328"/>
                </a:solidFill>
                <a:latin typeface="Calibri"/>
                <a:ea typeface="맑은 고딕"/>
                <a:cs typeface="Calibri"/>
              </a:rPr>
              <a:t>.</a:t>
            </a:r>
            <a:r>
              <a:rPr lang="en-US" altLang="ko-KR" sz="2050" b="0" dirty="0">
                <a:solidFill>
                  <a:srgbClr val="1F2328"/>
                </a:solidFill>
                <a:latin typeface="Calibri"/>
                <a:ea typeface="맑은 고딕"/>
                <a:cs typeface="Calibri"/>
              </a:rPr>
              <a:t>   </a:t>
            </a:r>
            <a:r>
              <a:rPr lang="ko-KR" altLang="en-US" sz="2050" b="1" dirty="0">
                <a:solidFill>
                  <a:srgbClr val="1E2A5A"/>
                </a:solidFill>
                <a:latin typeface="맑은 고딕"/>
                <a:ea typeface="맑은 고딕"/>
                <a:cs typeface="맑은 고딕"/>
              </a:rPr>
              <a:t>⑦</a:t>
            </a:r>
            <a:r>
              <a:rPr lang="en-US" altLang="ko-KR" sz="2050" b="0" dirty="0">
                <a:solidFill>
                  <a:srgbClr val="1F2328"/>
                </a:solidFill>
                <a:latin typeface="Calibri"/>
                <a:ea typeface="맑은 고딕"/>
                <a:cs typeface="Calibri"/>
              </a:rPr>
              <a:t> </a:t>
            </a:r>
            <a:r>
              <a:rPr lang="en-US" altLang="ko-KR" sz="2050" b="0" dirty="0">
                <a:solidFill>
                  <a:srgbClr val="1F2328"/>
                </a:solidFill>
                <a:latin typeface="Calibri"/>
                <a:ea typeface="맑은 고딕"/>
                <a:cs typeface="Calibri"/>
              </a:rPr>
              <a:t>He then moved to the living room. And there it was!</a:t>
            </a:r>
            <a:r>
              <a:rPr lang="en-US" altLang="ko-KR" sz="2050" b="0" dirty="0">
                <a:solidFill>
                  <a:srgbClr val="1F2328"/>
                </a:solidFill>
                <a:latin typeface="Calibri"/>
                <a:ea typeface="맑은 고딕"/>
                <a:cs typeface="Calibri"/>
              </a:rPr>
              <a:t>   </a:t>
            </a:r>
            <a:r>
              <a:rPr lang="ko-KR" altLang="en-US" sz="2050" b="1" dirty="0">
                <a:solidFill>
                  <a:srgbClr val="1E2A5A"/>
                </a:solidFill>
                <a:latin typeface="맑은 고딕"/>
                <a:ea typeface="맑은 고딕"/>
                <a:cs typeface="맑은 고딕"/>
              </a:rPr>
              <a:t>⑧</a:t>
            </a:r>
            <a:r>
              <a:rPr lang="en-US" altLang="ko-KR" sz="2050" b="0" dirty="0">
                <a:solidFill>
                  <a:srgbClr val="1F2328"/>
                </a:solidFill>
                <a:latin typeface="Calibri"/>
                <a:ea typeface="맑은 고딕"/>
                <a:cs typeface="Calibri"/>
              </a:rPr>
              <a:t> </a:t>
            </a:r>
            <a:r>
              <a:rPr lang="en-US" altLang="ko-KR" sz="2050" b="0" dirty="0">
                <a:solidFill>
                  <a:srgbClr val="1F2328"/>
                </a:solidFill>
                <a:latin typeface="Calibri"/>
                <a:ea typeface="맑은 고딕"/>
                <a:cs typeface="Calibri"/>
              </a:rPr>
              <a:t>A table which was a priceless piece of eighteenth‑century English furniture.</a:t>
            </a:r>
            <a:r>
              <a:rPr lang="en-US" altLang="ko-KR" sz="2050" b="0" dirty="0">
                <a:solidFill>
                  <a:srgbClr val="1F2328"/>
                </a:solidFill>
                <a:latin typeface="Calibri"/>
                <a:ea typeface="맑은 고딕"/>
                <a:cs typeface="Calibri"/>
              </a:rPr>
              <a:t>   </a:t>
            </a:r>
            <a:r>
              <a:rPr lang="ko-KR" altLang="en-US" sz="2050" b="1" dirty="0">
                <a:solidFill>
                  <a:srgbClr val="1E2A5A"/>
                </a:solidFill>
                <a:latin typeface="맑은 고딕"/>
                <a:ea typeface="맑은 고딕"/>
                <a:cs typeface="맑은 고딕"/>
              </a:rPr>
              <a:t>⑨</a:t>
            </a:r>
            <a:r>
              <a:rPr lang="en-US" altLang="ko-KR" sz="2050" b="0" dirty="0">
                <a:solidFill>
                  <a:srgbClr val="1F2328"/>
                </a:solidFill>
                <a:latin typeface="Calibri"/>
                <a:ea typeface="맑은 고딕"/>
                <a:cs typeface="Calibri"/>
              </a:rPr>
              <a:t> </a:t>
            </a:r>
            <a:r>
              <a:rPr lang="en-US" altLang="ko-KR" sz="2050" b="0" dirty="0">
                <a:solidFill>
                  <a:srgbClr val="1F2328"/>
                </a:solidFill>
                <a:latin typeface="Calibri"/>
                <a:ea typeface="맑은 고딕"/>
                <a:cs typeface="Calibri"/>
              </a:rPr>
              <a:t>He was </a:t>
            </a:r>
            <a:r>
              <a:rPr lang="en-US" altLang="ko-KR" sz="2050" b="1" dirty="0">
                <a:solidFill>
                  <a:srgbClr val="1F2328"/>
                </a:solidFill>
                <a:latin typeface="Calibri"/>
                <a:ea typeface="맑은 고딕"/>
                <a:cs typeface="Calibri"/>
              </a:rPr>
              <a:t>[ </a:t>
            </a:r>
            <a:r>
              <a:rPr lang="en-US" altLang="ko-KR" sz="2050" b="1" dirty="0">
                <a:solidFill>
                  <a:srgbClr val="1F2328"/>
                </a:solidFill>
                <a:latin typeface="Calibri"/>
                <a:ea typeface="맑은 고딕"/>
                <a:cs typeface="Calibri"/>
              </a:rPr>
              <a:t>so</a:t>
            </a:r>
            <a:r>
              <a:rPr lang="en-US" altLang="ko-KR" sz="2050" b="1" dirty="0">
                <a:solidFill>
                  <a:srgbClr val="1F2328"/>
                </a:solidFill>
                <a:latin typeface="Calibri"/>
                <a:ea typeface="맑은 고딕"/>
                <a:cs typeface="Calibri"/>
              </a:rPr>
              <a:t> / </a:t>
            </a:r>
            <a:r>
              <a:rPr lang="en-US" altLang="ko-KR" sz="2050" b="1" dirty="0">
                <a:solidFill>
                  <a:srgbClr val="1F2328"/>
                </a:solidFill>
                <a:latin typeface="Calibri"/>
                <a:ea typeface="맑은 고딕"/>
                <a:cs typeface="Calibri"/>
              </a:rPr>
              <a:t>such</a:t>
            </a:r>
            <a:r>
              <a:rPr lang="en-US" altLang="ko-KR" sz="2050" b="1" dirty="0">
                <a:solidFill>
                  <a:srgbClr val="1F2328"/>
                </a:solidFill>
                <a:latin typeface="Calibri"/>
                <a:ea typeface="맑은 고딕"/>
                <a:cs typeface="Calibri"/>
              </a:rPr>
              <a:t> ]</a:t>
            </a:r>
            <a:r>
              <a:rPr lang="en-US" altLang="ko-KR" sz="2050" b="0" dirty="0">
                <a:solidFill>
                  <a:srgbClr val="1F2328"/>
                </a:solidFill>
                <a:latin typeface="Calibri"/>
                <a:ea typeface="맑은 고딕"/>
                <a:cs typeface="Calibri"/>
              </a:rPr>
              <a:t> excited that he almost fell over.</a:t>
            </a:r>
            <a:r>
              <a:rPr lang="en-US" altLang="ko-KR" sz="2050" b="0" dirty="0">
                <a:solidFill>
                  <a:srgbClr val="1F2328"/>
                </a:solidFill>
                <a:latin typeface="Calibri"/>
                <a:ea typeface="맑은 고딕"/>
                <a:cs typeface="Calibri"/>
              </a:rPr>
              <a:t>   </a:t>
            </a:r>
            <a:r>
              <a:rPr lang="ko-KR" altLang="en-US" sz="2050" b="1" dirty="0">
                <a:solidFill>
                  <a:srgbClr val="1E2A5A"/>
                </a:solidFill>
                <a:latin typeface="맑은 고딕"/>
                <a:ea typeface="맑은 고딕"/>
                <a:cs typeface="맑은 고딕"/>
              </a:rPr>
              <a:t>⑩</a:t>
            </a:r>
            <a:r>
              <a:rPr lang="en-US" altLang="ko-KR" sz="2050" b="0" dirty="0">
                <a:solidFill>
                  <a:srgbClr val="1F2328"/>
                </a:solidFill>
                <a:latin typeface="Calibri"/>
                <a:ea typeface="맑은 고딕"/>
                <a:cs typeface="Calibri"/>
              </a:rPr>
              <a:t> </a:t>
            </a:r>
            <a:r>
              <a:rPr lang="en-US" altLang="ko-KR" sz="2050" b="0" dirty="0">
                <a:solidFill>
                  <a:srgbClr val="1F2328"/>
                </a:solidFill>
                <a:latin typeface="Calibri"/>
                <a:ea typeface="맑은 고딕"/>
                <a:cs typeface="Calibri"/>
              </a:rPr>
              <a:t>"What’s wrong?" Bert asked. "Oh, nothing. Nothing at all," Mr. Boggis </a:t>
            </a:r>
            <a:r>
              <a:rPr lang="en-US" altLang="ko-KR" sz="2050" b="1" dirty="0">
                <a:solidFill>
                  <a:srgbClr val="1F2328"/>
                </a:solidFill>
                <a:latin typeface="Calibri"/>
                <a:ea typeface="맑은 고딕"/>
                <a:cs typeface="Calibri"/>
              </a:rPr>
              <a:t>[ </a:t>
            </a:r>
            <a:r>
              <a:rPr lang="en-US" altLang="ko-KR" sz="2050" b="1" dirty="0">
                <a:solidFill>
                  <a:srgbClr val="1F2328"/>
                </a:solidFill>
                <a:latin typeface="Calibri"/>
                <a:ea typeface="맑은 고딕"/>
                <a:cs typeface="Calibri"/>
              </a:rPr>
              <a:t>lied</a:t>
            </a:r>
            <a:r>
              <a:rPr lang="en-US" altLang="ko-KR" sz="2050" b="1" dirty="0">
                <a:solidFill>
                  <a:srgbClr val="1F2328"/>
                </a:solidFill>
                <a:latin typeface="Calibri"/>
                <a:ea typeface="맑은 고딕"/>
                <a:cs typeface="Calibri"/>
              </a:rPr>
              <a:t> / </a:t>
            </a:r>
            <a:r>
              <a:rPr lang="en-US" altLang="ko-KR" sz="2050" b="1" dirty="0">
                <a:solidFill>
                  <a:srgbClr val="1F2328"/>
                </a:solidFill>
                <a:latin typeface="Calibri"/>
                <a:ea typeface="맑은 고딕"/>
                <a:cs typeface="Calibri"/>
              </a:rPr>
              <a:t>lay</a:t>
            </a:r>
            <a:r>
              <a:rPr lang="en-US" altLang="ko-KR" sz="2050" b="1" dirty="0">
                <a:solidFill>
                  <a:srgbClr val="1F2328"/>
                </a:solidFill>
                <a:latin typeface="Calibri"/>
                <a:ea typeface="맑은 고딕"/>
                <a:cs typeface="Calibri"/>
              </a:rPr>
              <a:t> ]</a:t>
            </a:r>
            <a:r>
              <a:rPr lang="en-US" altLang="ko-KR" sz="2050" b="0" dirty="0">
                <a:solidFill>
                  <a:srgbClr val="1F2328"/>
                </a:solidFill>
                <a:latin typeface="Calibri"/>
                <a:ea typeface="맑은 고딕"/>
                <a:cs typeface="Calibri"/>
              </a:rPr>
              <a:t>.</a:t>
            </a:r>
            <a:r>
              <a:rPr lang="en-US" altLang="ko-KR" sz="2050" b="0" dirty="0">
                <a:solidFill>
                  <a:srgbClr val="1F2328"/>
                </a:solidFill>
                <a:latin typeface="Calibri"/>
                <a:ea typeface="맑은 고딕"/>
                <a:cs typeface="Calibri"/>
              </a:rPr>
              <a:t>   </a:t>
            </a:r>
            <a:r>
              <a:rPr lang="ko-KR" altLang="en-US" sz="2050" b="1" dirty="0">
                <a:solidFill>
                  <a:srgbClr val="1E2A5A"/>
                </a:solidFill>
                <a:latin typeface="맑은 고딕"/>
                <a:ea typeface="맑은 고딕"/>
                <a:cs typeface="맑은 고딕"/>
              </a:rPr>
              <a:t>⑪</a:t>
            </a:r>
            <a:r>
              <a:rPr lang="en-US" altLang="ko-KR" sz="2050" b="0" dirty="0">
                <a:solidFill>
                  <a:srgbClr val="1F2328"/>
                </a:solidFill>
                <a:latin typeface="Calibri"/>
                <a:ea typeface="맑은 고딕"/>
                <a:cs typeface="Calibri"/>
              </a:rPr>
              <a:t> </a:t>
            </a:r>
            <a:r>
              <a:rPr lang="en-US" altLang="ko-KR" sz="2050" b="0" dirty="0">
                <a:solidFill>
                  <a:srgbClr val="1F2328"/>
                </a:solidFill>
                <a:latin typeface="Calibri"/>
                <a:ea typeface="맑은 고딕"/>
                <a:cs typeface="Calibri"/>
              </a:rPr>
              <a:t>He then said with a straight face, "This table is a reproduction. It’s worth only a few pounds."</a:t>
            </a:r>
            <a:endParaRPr lang="en-US" altLang="ko-KR" sz="2050" b="0" dirty="0">
              <a:solidFill>
                <a:srgbClr val="1F2328"/>
              </a:solidFill>
              <a:latin typeface="Calibri"/>
              <a:ea typeface="맑은 고딕"/>
              <a:cs typeface="Calibri"/>
            </a:endParaRPr>
          </a:p>
        </p:txBody>
      </p:sp>
      <p:sp>
        <p:nvSpPr>
          <p:cNvPr id="9" name="rv_g01"/>
          <p:cNvSpPr txBox="1"/>
          <p:nvPr/>
        </p:nvSpPr>
        <p:spPr>
          <a:xfrm>
            <a:off x="457200" y="950976"/>
            <a:ext cx="11277295" cy="4948936"/>
          </a:xfrm>
          <a:prstGeom prst="rect">
            <a:avLst/>
          </a:prstGeom>
          <a:noFill/>
        </p:spPr>
        <p:txBody>
          <a:bodyPr wrap="square" lIns="228600" tIns="155448" rIns="228600" bIns="155448" anchor="t" rtlCol="0">
            <a:noAutofit/>
          </a:bodyPr>
          <a:lstStyle/>
          <a:p>
            <a:pPr algn="l">
              <a:lnSpc>
                <a:spcPts val="3320"/>
              </a:lnSpc>
              <a:spcBef>
                <a:spcPts val="0"/>
              </a:spcBef>
              <a:spcAft>
                <a:spcPts val="0"/>
              </a:spcAft>
              <a:buNone/>
            </a:pPr>
            <a:r>
              <a:rPr lang="ko-KR" altLang="en-US" sz="2050" b="1" dirty="0">
                <a:solidFill>
                  <a:srgbClr val="1E2A5A">
                    <a:alpha val="0"/>
                  </a:srgbClr>
                </a:solidFill>
                <a:latin typeface="맑은 고딕"/>
                <a:ea typeface="맑은 고딕"/>
                <a:cs typeface="맑은 고딕"/>
              </a:rPr>
              <a:t>①</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Now it was </a:t>
            </a:r>
            <a:r>
              <a:rPr lang="en-US" altLang="ko-KR" sz="2050" b="1" dirty="0">
                <a:solidFill>
                  <a:srgbClr val="1F2328">
                    <a:alpha val="0"/>
                  </a:srgbClr>
                </a:solidFill>
                <a:latin typeface="Calibri"/>
                <a:ea typeface="맑은 고딕"/>
                <a:cs typeface="Calibri"/>
              </a:rPr>
              <a:t>[ </a:t>
            </a:r>
            <a:r>
              <a:rPr lang="en-US" altLang="ko-KR" sz="2050" b="1" dirty="0">
                <a:solidFill>
                  <a:srgbClr val="C00000"/>
                </a:solidFill>
                <a:highlight>
                  <a:srgbClr val="F3F5F9"/>
                </a:highlight>
                <a:latin typeface="Calibri"/>
                <a:ea typeface="맑은 고딕"/>
                <a:cs typeface="Calibri"/>
              </a:rPr>
              <a:t>another</a:t>
            </a:r>
            <a:r>
              <a:rPr lang="en-US" altLang="ko-KR" sz="2050" b="1" dirty="0">
                <a:solidFill>
                  <a:srgbClr val="1F2328">
                    <a:alpha val="0"/>
                  </a:srgbClr>
                </a:solidFill>
                <a:latin typeface="Calibri"/>
                <a:ea typeface="맑은 고딕"/>
                <a:cs typeface="Calibri"/>
              </a:rPr>
              <a:t> / </a:t>
            </a:r>
            <a:r>
              <a:rPr lang="en-US" altLang="ko-KR" sz="2050" b="1" dirty="0">
                <a:solidFill>
                  <a:srgbClr val="1F2328">
                    <a:alpha val="0"/>
                  </a:srgbClr>
                </a:solidFill>
                <a:latin typeface="Calibri"/>
                <a:ea typeface="맑은 고딕"/>
                <a:cs typeface="Calibri"/>
              </a:rPr>
              <a:t>other</a:t>
            </a:r>
            <a:r>
              <a:rPr lang="en-US" altLang="ko-KR" sz="2050" b="1"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 Sunday, and Mr. Boggis was in a small town again.</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②</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At a house he visited, he met two men. One was Rummins, the owner, and the other was his son Bert.</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③</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"I buy old furniture. Do you have any?" asked Mr. Boggis.</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④</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"No, I don’t," said Rummins. "Can I just take a look?" asked Mr. Boggis.</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⑤</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"Sure. Please come in," said Rummins.</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⑥</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Mr. Boggis first went to the kitchen, and there </a:t>
            </a:r>
            <a:r>
              <a:rPr lang="en-US" altLang="ko-KR" sz="2050" b="1" dirty="0">
                <a:solidFill>
                  <a:srgbClr val="1F2328">
                    <a:alpha val="0"/>
                  </a:srgbClr>
                </a:solidFill>
                <a:latin typeface="Calibri"/>
                <a:ea typeface="맑은 고딕"/>
                <a:cs typeface="Calibri"/>
              </a:rPr>
              <a:t>[ </a:t>
            </a:r>
            <a:r>
              <a:rPr lang="en-US" altLang="ko-KR" sz="2050" b="1" dirty="0">
                <a:solidFill>
                  <a:srgbClr val="1F2328">
                    <a:alpha val="0"/>
                  </a:srgbClr>
                </a:solidFill>
                <a:latin typeface="Calibri"/>
                <a:ea typeface="맑은 고딕"/>
                <a:cs typeface="Calibri"/>
              </a:rPr>
              <a:t>was nothing</a:t>
            </a:r>
            <a:r>
              <a:rPr lang="en-US" altLang="ko-KR" sz="2050" b="1" dirty="0">
                <a:solidFill>
                  <a:srgbClr val="1F2328">
                    <a:alpha val="0"/>
                  </a:srgbClr>
                </a:solidFill>
                <a:latin typeface="Calibri"/>
                <a:ea typeface="맑은 고딕"/>
                <a:cs typeface="Calibri"/>
              </a:rPr>
              <a:t> / </a:t>
            </a:r>
            <a:r>
              <a:rPr lang="en-US" altLang="ko-KR" sz="2050" b="1" dirty="0">
                <a:solidFill>
                  <a:srgbClr val="1F2328">
                    <a:alpha val="0"/>
                  </a:srgbClr>
                </a:solidFill>
                <a:latin typeface="Calibri"/>
                <a:ea typeface="맑은 고딕"/>
                <a:cs typeface="Calibri"/>
              </a:rPr>
              <a:t>were nothing</a:t>
            </a:r>
            <a:r>
              <a:rPr lang="en-US" altLang="ko-KR" sz="2050" b="1"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⑦</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He then moved to the living room. And there it was!</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⑧</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A table which was a priceless piece of eighteenth‑century English furniture.</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⑨</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He was </a:t>
            </a:r>
            <a:r>
              <a:rPr lang="en-US" altLang="ko-KR" sz="2050" b="1" dirty="0">
                <a:solidFill>
                  <a:srgbClr val="1F2328">
                    <a:alpha val="0"/>
                  </a:srgbClr>
                </a:solidFill>
                <a:latin typeface="Calibri"/>
                <a:ea typeface="맑은 고딕"/>
                <a:cs typeface="Calibri"/>
              </a:rPr>
              <a:t>[ </a:t>
            </a:r>
            <a:r>
              <a:rPr lang="en-US" altLang="ko-KR" sz="2050" b="1" dirty="0">
                <a:solidFill>
                  <a:srgbClr val="1F2328">
                    <a:alpha val="0"/>
                  </a:srgbClr>
                </a:solidFill>
                <a:latin typeface="Calibri"/>
                <a:ea typeface="맑은 고딕"/>
                <a:cs typeface="Calibri"/>
              </a:rPr>
              <a:t>so</a:t>
            </a:r>
            <a:r>
              <a:rPr lang="en-US" altLang="ko-KR" sz="2050" b="1" dirty="0">
                <a:solidFill>
                  <a:srgbClr val="1F2328">
                    <a:alpha val="0"/>
                  </a:srgbClr>
                </a:solidFill>
                <a:latin typeface="Calibri"/>
                <a:ea typeface="맑은 고딕"/>
                <a:cs typeface="Calibri"/>
              </a:rPr>
              <a:t> / </a:t>
            </a:r>
            <a:r>
              <a:rPr lang="en-US" altLang="ko-KR" sz="2050" b="1" dirty="0">
                <a:solidFill>
                  <a:srgbClr val="1F2328">
                    <a:alpha val="0"/>
                  </a:srgbClr>
                </a:solidFill>
                <a:latin typeface="Calibri"/>
                <a:ea typeface="맑은 고딕"/>
                <a:cs typeface="Calibri"/>
              </a:rPr>
              <a:t>such</a:t>
            </a:r>
            <a:r>
              <a:rPr lang="en-US" altLang="ko-KR" sz="2050" b="1"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 excited that he almost fell over.</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⑩</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"What’s wrong?" Bert asked. "Oh, nothing. Nothing at all," Mr. Boggis </a:t>
            </a:r>
            <a:r>
              <a:rPr lang="en-US" altLang="ko-KR" sz="2050" b="1" dirty="0">
                <a:solidFill>
                  <a:srgbClr val="1F2328">
                    <a:alpha val="0"/>
                  </a:srgbClr>
                </a:solidFill>
                <a:latin typeface="Calibri"/>
                <a:ea typeface="맑은 고딕"/>
                <a:cs typeface="Calibri"/>
              </a:rPr>
              <a:t>[ </a:t>
            </a:r>
            <a:r>
              <a:rPr lang="en-US" altLang="ko-KR" sz="2050" b="1" dirty="0">
                <a:solidFill>
                  <a:srgbClr val="1F2328">
                    <a:alpha val="0"/>
                  </a:srgbClr>
                </a:solidFill>
                <a:latin typeface="Calibri"/>
                <a:ea typeface="맑은 고딕"/>
                <a:cs typeface="Calibri"/>
              </a:rPr>
              <a:t>lied</a:t>
            </a:r>
            <a:r>
              <a:rPr lang="en-US" altLang="ko-KR" sz="2050" b="1" dirty="0">
                <a:solidFill>
                  <a:srgbClr val="1F2328">
                    <a:alpha val="0"/>
                  </a:srgbClr>
                </a:solidFill>
                <a:latin typeface="Calibri"/>
                <a:ea typeface="맑은 고딕"/>
                <a:cs typeface="Calibri"/>
              </a:rPr>
              <a:t> / </a:t>
            </a:r>
            <a:r>
              <a:rPr lang="en-US" altLang="ko-KR" sz="2050" b="1" dirty="0">
                <a:solidFill>
                  <a:srgbClr val="1F2328">
                    <a:alpha val="0"/>
                  </a:srgbClr>
                </a:solidFill>
                <a:latin typeface="Calibri"/>
                <a:ea typeface="맑은 고딕"/>
                <a:cs typeface="Calibri"/>
              </a:rPr>
              <a:t>lay</a:t>
            </a:r>
            <a:r>
              <a:rPr lang="en-US" altLang="ko-KR" sz="2050" b="1"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⑪</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He then said with a straight face, "This table is a reproduction. It’s worth only a few pounds."</a:t>
            </a:r>
            <a:endParaRPr lang="en-US" altLang="ko-KR" sz="2050" b="0" dirty="0">
              <a:solidFill>
                <a:srgbClr val="1F2328"/>
              </a:solidFill>
              <a:latin typeface="Calibri"/>
              <a:ea typeface="맑은 고딕"/>
              <a:cs typeface="Calibri"/>
            </a:endParaRPr>
          </a:p>
        </p:txBody>
      </p:sp>
      <p:sp>
        <p:nvSpPr>
          <p:cNvPr id="10" name="rv_g02"/>
          <p:cNvSpPr txBox="1"/>
          <p:nvPr/>
        </p:nvSpPr>
        <p:spPr>
          <a:xfrm>
            <a:off x="457200" y="950976"/>
            <a:ext cx="11277295" cy="4948936"/>
          </a:xfrm>
          <a:prstGeom prst="rect">
            <a:avLst/>
          </a:prstGeom>
          <a:noFill/>
        </p:spPr>
        <p:txBody>
          <a:bodyPr wrap="square" lIns="228600" tIns="155448" rIns="228600" bIns="155448" anchor="t" rtlCol="0">
            <a:noAutofit/>
          </a:bodyPr>
          <a:lstStyle/>
          <a:p>
            <a:pPr algn="l">
              <a:lnSpc>
                <a:spcPts val="3320"/>
              </a:lnSpc>
              <a:spcBef>
                <a:spcPts val="0"/>
              </a:spcBef>
              <a:spcAft>
                <a:spcPts val="0"/>
              </a:spcAft>
              <a:buNone/>
            </a:pPr>
            <a:r>
              <a:rPr lang="ko-KR" altLang="en-US" sz="2050" b="1" dirty="0">
                <a:solidFill>
                  <a:srgbClr val="1E2A5A">
                    <a:alpha val="0"/>
                  </a:srgbClr>
                </a:solidFill>
                <a:latin typeface="맑은 고딕"/>
                <a:ea typeface="맑은 고딕"/>
                <a:cs typeface="맑은 고딕"/>
              </a:rPr>
              <a:t>①</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Now it was </a:t>
            </a:r>
            <a:r>
              <a:rPr lang="en-US" altLang="ko-KR" sz="2050" b="1" dirty="0">
                <a:solidFill>
                  <a:srgbClr val="1F2328">
                    <a:alpha val="0"/>
                  </a:srgbClr>
                </a:solidFill>
                <a:latin typeface="Calibri"/>
                <a:ea typeface="맑은 고딕"/>
                <a:cs typeface="Calibri"/>
              </a:rPr>
              <a:t>[ </a:t>
            </a:r>
            <a:r>
              <a:rPr lang="en-US" altLang="ko-KR" sz="2050" b="1" dirty="0">
                <a:solidFill>
                  <a:srgbClr val="1F2328">
                    <a:alpha val="0"/>
                  </a:srgbClr>
                </a:solidFill>
                <a:latin typeface="Calibri"/>
                <a:ea typeface="맑은 고딕"/>
                <a:cs typeface="Calibri"/>
              </a:rPr>
              <a:t>another</a:t>
            </a:r>
            <a:r>
              <a:rPr lang="en-US" altLang="ko-KR" sz="2050" b="1" dirty="0">
                <a:solidFill>
                  <a:srgbClr val="1F2328">
                    <a:alpha val="0"/>
                  </a:srgbClr>
                </a:solidFill>
                <a:latin typeface="Calibri"/>
                <a:ea typeface="맑은 고딕"/>
                <a:cs typeface="Calibri"/>
              </a:rPr>
              <a:t> / </a:t>
            </a:r>
            <a:r>
              <a:rPr lang="en-US" altLang="ko-KR" sz="2050" b="1" dirty="0">
                <a:solidFill>
                  <a:srgbClr val="1F2328">
                    <a:alpha val="0"/>
                  </a:srgbClr>
                </a:solidFill>
                <a:latin typeface="Calibri"/>
                <a:ea typeface="맑은 고딕"/>
                <a:cs typeface="Calibri"/>
              </a:rPr>
              <a:t>other</a:t>
            </a:r>
            <a:r>
              <a:rPr lang="en-US" altLang="ko-KR" sz="2050" b="1"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 Sunday, and Mr. Boggis was in a small town again.</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②</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At a house he visited, he met two men. One was Rummins, the owner, and the other was his son Bert.</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③</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"I buy old furniture. Do you have any?" asked Mr. Boggis.</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④</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"No, I don’t," said Rummins. "Can I just take a look?" asked Mr. Boggis.</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⑤</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"Sure. Please come in," said Rummins.</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⑥</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Mr. Boggis first went to the kitchen, and there </a:t>
            </a:r>
            <a:r>
              <a:rPr lang="en-US" altLang="ko-KR" sz="2050" b="1" dirty="0">
                <a:solidFill>
                  <a:srgbClr val="1F2328">
                    <a:alpha val="0"/>
                  </a:srgbClr>
                </a:solidFill>
                <a:latin typeface="Calibri"/>
                <a:ea typeface="맑은 고딕"/>
                <a:cs typeface="Calibri"/>
              </a:rPr>
              <a:t>[ </a:t>
            </a:r>
            <a:r>
              <a:rPr lang="en-US" altLang="ko-KR" sz="2050" b="1" dirty="0">
                <a:solidFill>
                  <a:srgbClr val="C00000"/>
                </a:solidFill>
                <a:highlight>
                  <a:srgbClr val="F3F5F9"/>
                </a:highlight>
                <a:latin typeface="Calibri"/>
                <a:ea typeface="맑은 고딕"/>
                <a:cs typeface="Calibri"/>
              </a:rPr>
              <a:t>was nothing</a:t>
            </a:r>
            <a:r>
              <a:rPr lang="en-US" altLang="ko-KR" sz="2050" b="1" dirty="0">
                <a:solidFill>
                  <a:srgbClr val="1F2328">
                    <a:alpha val="0"/>
                  </a:srgbClr>
                </a:solidFill>
                <a:latin typeface="Calibri"/>
                <a:ea typeface="맑은 고딕"/>
                <a:cs typeface="Calibri"/>
              </a:rPr>
              <a:t> / </a:t>
            </a:r>
            <a:r>
              <a:rPr lang="en-US" altLang="ko-KR" sz="2050" b="1" dirty="0">
                <a:solidFill>
                  <a:srgbClr val="1F2328">
                    <a:alpha val="0"/>
                  </a:srgbClr>
                </a:solidFill>
                <a:latin typeface="Calibri"/>
                <a:ea typeface="맑은 고딕"/>
                <a:cs typeface="Calibri"/>
              </a:rPr>
              <a:t>were nothing</a:t>
            </a:r>
            <a:r>
              <a:rPr lang="en-US" altLang="ko-KR" sz="2050" b="1"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⑦</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He then moved to the living room. And there it was!</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⑧</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A table which was a priceless piece of eighteenth‑century English furniture.</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⑨</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He was </a:t>
            </a:r>
            <a:r>
              <a:rPr lang="en-US" altLang="ko-KR" sz="2050" b="1" dirty="0">
                <a:solidFill>
                  <a:srgbClr val="1F2328">
                    <a:alpha val="0"/>
                  </a:srgbClr>
                </a:solidFill>
                <a:latin typeface="Calibri"/>
                <a:ea typeface="맑은 고딕"/>
                <a:cs typeface="Calibri"/>
              </a:rPr>
              <a:t>[ </a:t>
            </a:r>
            <a:r>
              <a:rPr lang="en-US" altLang="ko-KR" sz="2050" b="1" dirty="0">
                <a:solidFill>
                  <a:srgbClr val="1F2328">
                    <a:alpha val="0"/>
                  </a:srgbClr>
                </a:solidFill>
                <a:latin typeface="Calibri"/>
                <a:ea typeface="맑은 고딕"/>
                <a:cs typeface="Calibri"/>
              </a:rPr>
              <a:t>so</a:t>
            </a:r>
            <a:r>
              <a:rPr lang="en-US" altLang="ko-KR" sz="2050" b="1" dirty="0">
                <a:solidFill>
                  <a:srgbClr val="1F2328">
                    <a:alpha val="0"/>
                  </a:srgbClr>
                </a:solidFill>
                <a:latin typeface="Calibri"/>
                <a:ea typeface="맑은 고딕"/>
                <a:cs typeface="Calibri"/>
              </a:rPr>
              <a:t> / </a:t>
            </a:r>
            <a:r>
              <a:rPr lang="en-US" altLang="ko-KR" sz="2050" b="1" dirty="0">
                <a:solidFill>
                  <a:srgbClr val="1F2328">
                    <a:alpha val="0"/>
                  </a:srgbClr>
                </a:solidFill>
                <a:latin typeface="Calibri"/>
                <a:ea typeface="맑은 고딕"/>
                <a:cs typeface="Calibri"/>
              </a:rPr>
              <a:t>such</a:t>
            </a:r>
            <a:r>
              <a:rPr lang="en-US" altLang="ko-KR" sz="2050" b="1"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 excited that he almost fell over.</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⑩</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"What’s wrong?" Bert asked. "Oh, nothing. Nothing at all," Mr. Boggis </a:t>
            </a:r>
            <a:r>
              <a:rPr lang="en-US" altLang="ko-KR" sz="2050" b="1" dirty="0">
                <a:solidFill>
                  <a:srgbClr val="1F2328">
                    <a:alpha val="0"/>
                  </a:srgbClr>
                </a:solidFill>
                <a:latin typeface="Calibri"/>
                <a:ea typeface="맑은 고딕"/>
                <a:cs typeface="Calibri"/>
              </a:rPr>
              <a:t>[ </a:t>
            </a:r>
            <a:r>
              <a:rPr lang="en-US" altLang="ko-KR" sz="2050" b="1" dirty="0">
                <a:solidFill>
                  <a:srgbClr val="1F2328">
                    <a:alpha val="0"/>
                  </a:srgbClr>
                </a:solidFill>
                <a:latin typeface="Calibri"/>
                <a:ea typeface="맑은 고딕"/>
                <a:cs typeface="Calibri"/>
              </a:rPr>
              <a:t>lied</a:t>
            </a:r>
            <a:r>
              <a:rPr lang="en-US" altLang="ko-KR" sz="2050" b="1" dirty="0">
                <a:solidFill>
                  <a:srgbClr val="1F2328">
                    <a:alpha val="0"/>
                  </a:srgbClr>
                </a:solidFill>
                <a:latin typeface="Calibri"/>
                <a:ea typeface="맑은 고딕"/>
                <a:cs typeface="Calibri"/>
              </a:rPr>
              <a:t> / </a:t>
            </a:r>
            <a:r>
              <a:rPr lang="en-US" altLang="ko-KR" sz="2050" b="1" dirty="0">
                <a:solidFill>
                  <a:srgbClr val="1F2328">
                    <a:alpha val="0"/>
                  </a:srgbClr>
                </a:solidFill>
                <a:latin typeface="Calibri"/>
                <a:ea typeface="맑은 고딕"/>
                <a:cs typeface="Calibri"/>
              </a:rPr>
              <a:t>lay</a:t>
            </a:r>
            <a:r>
              <a:rPr lang="en-US" altLang="ko-KR" sz="2050" b="1"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⑪</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He then said with a straight face, "This table is a reproduction. It’s worth only a few pounds."</a:t>
            </a:r>
            <a:endParaRPr lang="en-US" altLang="ko-KR" sz="2050" b="0" dirty="0">
              <a:solidFill>
                <a:srgbClr val="1F2328"/>
              </a:solidFill>
              <a:latin typeface="Calibri"/>
              <a:ea typeface="맑은 고딕"/>
              <a:cs typeface="Calibri"/>
            </a:endParaRPr>
          </a:p>
        </p:txBody>
      </p:sp>
      <p:sp>
        <p:nvSpPr>
          <p:cNvPr id="11" name="rv_g03"/>
          <p:cNvSpPr txBox="1"/>
          <p:nvPr/>
        </p:nvSpPr>
        <p:spPr>
          <a:xfrm>
            <a:off x="457200" y="950976"/>
            <a:ext cx="11277295" cy="4948936"/>
          </a:xfrm>
          <a:prstGeom prst="rect">
            <a:avLst/>
          </a:prstGeom>
          <a:noFill/>
        </p:spPr>
        <p:txBody>
          <a:bodyPr wrap="square" lIns="228600" tIns="155448" rIns="228600" bIns="155448" anchor="t" rtlCol="0">
            <a:noAutofit/>
          </a:bodyPr>
          <a:lstStyle/>
          <a:p>
            <a:pPr algn="l">
              <a:lnSpc>
                <a:spcPts val="3320"/>
              </a:lnSpc>
              <a:spcBef>
                <a:spcPts val="0"/>
              </a:spcBef>
              <a:spcAft>
                <a:spcPts val="0"/>
              </a:spcAft>
              <a:buNone/>
            </a:pPr>
            <a:r>
              <a:rPr lang="ko-KR" altLang="en-US" sz="2050" b="1" dirty="0">
                <a:solidFill>
                  <a:srgbClr val="1E2A5A">
                    <a:alpha val="0"/>
                  </a:srgbClr>
                </a:solidFill>
                <a:latin typeface="맑은 고딕"/>
                <a:ea typeface="맑은 고딕"/>
                <a:cs typeface="맑은 고딕"/>
              </a:rPr>
              <a:t>①</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Now it was </a:t>
            </a:r>
            <a:r>
              <a:rPr lang="en-US" altLang="ko-KR" sz="2050" b="1" dirty="0">
                <a:solidFill>
                  <a:srgbClr val="1F2328">
                    <a:alpha val="0"/>
                  </a:srgbClr>
                </a:solidFill>
                <a:latin typeface="Calibri"/>
                <a:ea typeface="맑은 고딕"/>
                <a:cs typeface="Calibri"/>
              </a:rPr>
              <a:t>[ </a:t>
            </a:r>
            <a:r>
              <a:rPr lang="en-US" altLang="ko-KR" sz="2050" b="1" dirty="0">
                <a:solidFill>
                  <a:srgbClr val="1F2328">
                    <a:alpha val="0"/>
                  </a:srgbClr>
                </a:solidFill>
                <a:latin typeface="Calibri"/>
                <a:ea typeface="맑은 고딕"/>
                <a:cs typeface="Calibri"/>
              </a:rPr>
              <a:t>another</a:t>
            </a:r>
            <a:r>
              <a:rPr lang="en-US" altLang="ko-KR" sz="2050" b="1" dirty="0">
                <a:solidFill>
                  <a:srgbClr val="1F2328">
                    <a:alpha val="0"/>
                  </a:srgbClr>
                </a:solidFill>
                <a:latin typeface="Calibri"/>
                <a:ea typeface="맑은 고딕"/>
                <a:cs typeface="Calibri"/>
              </a:rPr>
              <a:t> / </a:t>
            </a:r>
            <a:r>
              <a:rPr lang="en-US" altLang="ko-KR" sz="2050" b="1" dirty="0">
                <a:solidFill>
                  <a:srgbClr val="1F2328">
                    <a:alpha val="0"/>
                  </a:srgbClr>
                </a:solidFill>
                <a:latin typeface="Calibri"/>
                <a:ea typeface="맑은 고딕"/>
                <a:cs typeface="Calibri"/>
              </a:rPr>
              <a:t>other</a:t>
            </a:r>
            <a:r>
              <a:rPr lang="en-US" altLang="ko-KR" sz="2050" b="1"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 Sunday, and Mr. Boggis was in a small town again.</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②</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At a house he visited, he met two men. One was Rummins, the owner, and the other was his son Bert.</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③</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"I buy old furniture. Do you have any?" asked Mr. Boggis.</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④</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"No, I don’t," said Rummins. "Can I just take a look?" asked Mr. Boggis.</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⑤</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"Sure. Please come in," said Rummins.</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⑥</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Mr. Boggis first went to the kitchen, and there </a:t>
            </a:r>
            <a:r>
              <a:rPr lang="en-US" altLang="ko-KR" sz="2050" b="1" dirty="0">
                <a:solidFill>
                  <a:srgbClr val="1F2328">
                    <a:alpha val="0"/>
                  </a:srgbClr>
                </a:solidFill>
                <a:latin typeface="Calibri"/>
                <a:ea typeface="맑은 고딕"/>
                <a:cs typeface="Calibri"/>
              </a:rPr>
              <a:t>[ </a:t>
            </a:r>
            <a:r>
              <a:rPr lang="en-US" altLang="ko-KR" sz="2050" b="1" dirty="0">
                <a:solidFill>
                  <a:srgbClr val="1F2328">
                    <a:alpha val="0"/>
                  </a:srgbClr>
                </a:solidFill>
                <a:latin typeface="Calibri"/>
                <a:ea typeface="맑은 고딕"/>
                <a:cs typeface="Calibri"/>
              </a:rPr>
              <a:t>was nothing</a:t>
            </a:r>
            <a:r>
              <a:rPr lang="en-US" altLang="ko-KR" sz="2050" b="1" dirty="0">
                <a:solidFill>
                  <a:srgbClr val="1F2328">
                    <a:alpha val="0"/>
                  </a:srgbClr>
                </a:solidFill>
                <a:latin typeface="Calibri"/>
                <a:ea typeface="맑은 고딕"/>
                <a:cs typeface="Calibri"/>
              </a:rPr>
              <a:t> / </a:t>
            </a:r>
            <a:r>
              <a:rPr lang="en-US" altLang="ko-KR" sz="2050" b="1" dirty="0">
                <a:solidFill>
                  <a:srgbClr val="1F2328">
                    <a:alpha val="0"/>
                  </a:srgbClr>
                </a:solidFill>
                <a:latin typeface="Calibri"/>
                <a:ea typeface="맑은 고딕"/>
                <a:cs typeface="Calibri"/>
              </a:rPr>
              <a:t>were nothing</a:t>
            </a:r>
            <a:r>
              <a:rPr lang="en-US" altLang="ko-KR" sz="2050" b="1"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⑦</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He then moved to the living room. And there it was!</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⑧</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A table which was a priceless piece of eighteenth‑century English furniture.</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⑨</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He was </a:t>
            </a:r>
            <a:r>
              <a:rPr lang="en-US" altLang="ko-KR" sz="2050" b="1" dirty="0">
                <a:solidFill>
                  <a:srgbClr val="1F2328">
                    <a:alpha val="0"/>
                  </a:srgbClr>
                </a:solidFill>
                <a:latin typeface="Calibri"/>
                <a:ea typeface="맑은 고딕"/>
                <a:cs typeface="Calibri"/>
              </a:rPr>
              <a:t>[ </a:t>
            </a:r>
            <a:r>
              <a:rPr lang="en-US" altLang="ko-KR" sz="2050" b="1" dirty="0">
                <a:solidFill>
                  <a:srgbClr val="C00000"/>
                </a:solidFill>
                <a:highlight>
                  <a:srgbClr val="F3F5F9"/>
                </a:highlight>
                <a:latin typeface="Calibri"/>
                <a:ea typeface="맑은 고딕"/>
                <a:cs typeface="Calibri"/>
              </a:rPr>
              <a:t>so</a:t>
            </a:r>
            <a:r>
              <a:rPr lang="en-US" altLang="ko-KR" sz="2050" b="1" dirty="0">
                <a:solidFill>
                  <a:srgbClr val="1F2328">
                    <a:alpha val="0"/>
                  </a:srgbClr>
                </a:solidFill>
                <a:latin typeface="Calibri"/>
                <a:ea typeface="맑은 고딕"/>
                <a:cs typeface="Calibri"/>
              </a:rPr>
              <a:t> / </a:t>
            </a:r>
            <a:r>
              <a:rPr lang="en-US" altLang="ko-KR" sz="2050" b="1" dirty="0">
                <a:solidFill>
                  <a:srgbClr val="1F2328">
                    <a:alpha val="0"/>
                  </a:srgbClr>
                </a:solidFill>
                <a:latin typeface="Calibri"/>
                <a:ea typeface="맑은 고딕"/>
                <a:cs typeface="Calibri"/>
              </a:rPr>
              <a:t>such</a:t>
            </a:r>
            <a:r>
              <a:rPr lang="en-US" altLang="ko-KR" sz="2050" b="1"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 excited that he almost fell over.</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⑩</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"What’s wrong?" Bert asked. "Oh, nothing. Nothing at all," Mr. Boggis </a:t>
            </a:r>
            <a:r>
              <a:rPr lang="en-US" altLang="ko-KR" sz="2050" b="1" dirty="0">
                <a:solidFill>
                  <a:srgbClr val="1F2328">
                    <a:alpha val="0"/>
                  </a:srgbClr>
                </a:solidFill>
                <a:latin typeface="Calibri"/>
                <a:ea typeface="맑은 고딕"/>
                <a:cs typeface="Calibri"/>
              </a:rPr>
              <a:t>[ </a:t>
            </a:r>
            <a:r>
              <a:rPr lang="en-US" altLang="ko-KR" sz="2050" b="1" dirty="0">
                <a:solidFill>
                  <a:srgbClr val="1F2328">
                    <a:alpha val="0"/>
                  </a:srgbClr>
                </a:solidFill>
                <a:latin typeface="Calibri"/>
                <a:ea typeface="맑은 고딕"/>
                <a:cs typeface="Calibri"/>
              </a:rPr>
              <a:t>lied</a:t>
            </a:r>
            <a:r>
              <a:rPr lang="en-US" altLang="ko-KR" sz="2050" b="1" dirty="0">
                <a:solidFill>
                  <a:srgbClr val="1F2328">
                    <a:alpha val="0"/>
                  </a:srgbClr>
                </a:solidFill>
                <a:latin typeface="Calibri"/>
                <a:ea typeface="맑은 고딕"/>
                <a:cs typeface="Calibri"/>
              </a:rPr>
              <a:t> / </a:t>
            </a:r>
            <a:r>
              <a:rPr lang="en-US" altLang="ko-KR" sz="2050" b="1" dirty="0">
                <a:solidFill>
                  <a:srgbClr val="1F2328">
                    <a:alpha val="0"/>
                  </a:srgbClr>
                </a:solidFill>
                <a:latin typeface="Calibri"/>
                <a:ea typeface="맑은 고딕"/>
                <a:cs typeface="Calibri"/>
              </a:rPr>
              <a:t>lay</a:t>
            </a:r>
            <a:r>
              <a:rPr lang="en-US" altLang="ko-KR" sz="2050" b="1"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⑪</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He then said with a straight face, "This table is a reproduction. It’s worth only a few pounds."</a:t>
            </a:r>
            <a:endParaRPr lang="en-US" altLang="ko-KR" sz="2050" b="0" dirty="0">
              <a:solidFill>
                <a:srgbClr val="1F2328"/>
              </a:solidFill>
              <a:latin typeface="Calibri"/>
              <a:ea typeface="맑은 고딕"/>
              <a:cs typeface="Calibri"/>
            </a:endParaRPr>
          </a:p>
        </p:txBody>
      </p:sp>
      <p:sp>
        <p:nvSpPr>
          <p:cNvPr id="12" name="rv_g04"/>
          <p:cNvSpPr txBox="1"/>
          <p:nvPr/>
        </p:nvSpPr>
        <p:spPr>
          <a:xfrm>
            <a:off x="457200" y="950976"/>
            <a:ext cx="11277295" cy="4948936"/>
          </a:xfrm>
          <a:prstGeom prst="rect">
            <a:avLst/>
          </a:prstGeom>
          <a:noFill/>
        </p:spPr>
        <p:txBody>
          <a:bodyPr wrap="square" lIns="228600" tIns="155448" rIns="228600" bIns="155448" anchor="t" rtlCol="0">
            <a:noAutofit/>
          </a:bodyPr>
          <a:lstStyle/>
          <a:p>
            <a:pPr algn="l">
              <a:lnSpc>
                <a:spcPts val="3320"/>
              </a:lnSpc>
              <a:spcBef>
                <a:spcPts val="0"/>
              </a:spcBef>
              <a:spcAft>
                <a:spcPts val="0"/>
              </a:spcAft>
              <a:buNone/>
            </a:pPr>
            <a:r>
              <a:rPr lang="ko-KR" altLang="en-US" sz="2050" b="1" dirty="0">
                <a:solidFill>
                  <a:srgbClr val="1E2A5A">
                    <a:alpha val="0"/>
                  </a:srgbClr>
                </a:solidFill>
                <a:latin typeface="맑은 고딕"/>
                <a:ea typeface="맑은 고딕"/>
                <a:cs typeface="맑은 고딕"/>
              </a:rPr>
              <a:t>①</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Now it was </a:t>
            </a:r>
            <a:r>
              <a:rPr lang="en-US" altLang="ko-KR" sz="2050" b="1" dirty="0">
                <a:solidFill>
                  <a:srgbClr val="1F2328">
                    <a:alpha val="0"/>
                  </a:srgbClr>
                </a:solidFill>
                <a:latin typeface="Calibri"/>
                <a:ea typeface="맑은 고딕"/>
                <a:cs typeface="Calibri"/>
              </a:rPr>
              <a:t>[ </a:t>
            </a:r>
            <a:r>
              <a:rPr lang="en-US" altLang="ko-KR" sz="2050" b="1" dirty="0">
                <a:solidFill>
                  <a:srgbClr val="1F2328">
                    <a:alpha val="0"/>
                  </a:srgbClr>
                </a:solidFill>
                <a:latin typeface="Calibri"/>
                <a:ea typeface="맑은 고딕"/>
                <a:cs typeface="Calibri"/>
              </a:rPr>
              <a:t>another</a:t>
            </a:r>
            <a:r>
              <a:rPr lang="en-US" altLang="ko-KR" sz="2050" b="1" dirty="0">
                <a:solidFill>
                  <a:srgbClr val="1F2328">
                    <a:alpha val="0"/>
                  </a:srgbClr>
                </a:solidFill>
                <a:latin typeface="Calibri"/>
                <a:ea typeface="맑은 고딕"/>
                <a:cs typeface="Calibri"/>
              </a:rPr>
              <a:t> / </a:t>
            </a:r>
            <a:r>
              <a:rPr lang="en-US" altLang="ko-KR" sz="2050" b="1" dirty="0">
                <a:solidFill>
                  <a:srgbClr val="1F2328">
                    <a:alpha val="0"/>
                  </a:srgbClr>
                </a:solidFill>
                <a:latin typeface="Calibri"/>
                <a:ea typeface="맑은 고딕"/>
                <a:cs typeface="Calibri"/>
              </a:rPr>
              <a:t>other</a:t>
            </a:r>
            <a:r>
              <a:rPr lang="en-US" altLang="ko-KR" sz="2050" b="1"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 Sunday, and Mr. Boggis was in a small town again.</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②</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At a house he visited, he met two men. One was Rummins, the owner, and the other was his son Bert.</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③</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"I buy old furniture. Do you have any?" asked Mr. Boggis.</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④</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"No, I don’t," said Rummins. "Can I just take a look?" asked Mr. Boggis.</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⑤</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"Sure. Please come in," said Rummins.</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⑥</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Mr. Boggis first went to the kitchen, and there </a:t>
            </a:r>
            <a:r>
              <a:rPr lang="en-US" altLang="ko-KR" sz="2050" b="1" dirty="0">
                <a:solidFill>
                  <a:srgbClr val="1F2328">
                    <a:alpha val="0"/>
                  </a:srgbClr>
                </a:solidFill>
                <a:latin typeface="Calibri"/>
                <a:ea typeface="맑은 고딕"/>
                <a:cs typeface="Calibri"/>
              </a:rPr>
              <a:t>[ </a:t>
            </a:r>
            <a:r>
              <a:rPr lang="en-US" altLang="ko-KR" sz="2050" b="1" dirty="0">
                <a:solidFill>
                  <a:srgbClr val="1F2328">
                    <a:alpha val="0"/>
                  </a:srgbClr>
                </a:solidFill>
                <a:latin typeface="Calibri"/>
                <a:ea typeface="맑은 고딕"/>
                <a:cs typeface="Calibri"/>
              </a:rPr>
              <a:t>was nothing</a:t>
            </a:r>
            <a:r>
              <a:rPr lang="en-US" altLang="ko-KR" sz="2050" b="1" dirty="0">
                <a:solidFill>
                  <a:srgbClr val="1F2328">
                    <a:alpha val="0"/>
                  </a:srgbClr>
                </a:solidFill>
                <a:latin typeface="Calibri"/>
                <a:ea typeface="맑은 고딕"/>
                <a:cs typeface="Calibri"/>
              </a:rPr>
              <a:t> / </a:t>
            </a:r>
            <a:r>
              <a:rPr lang="en-US" altLang="ko-KR" sz="2050" b="1" dirty="0">
                <a:solidFill>
                  <a:srgbClr val="1F2328">
                    <a:alpha val="0"/>
                  </a:srgbClr>
                </a:solidFill>
                <a:latin typeface="Calibri"/>
                <a:ea typeface="맑은 고딕"/>
                <a:cs typeface="Calibri"/>
              </a:rPr>
              <a:t>were nothing</a:t>
            </a:r>
            <a:r>
              <a:rPr lang="en-US" altLang="ko-KR" sz="2050" b="1"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⑦</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He then moved to the living room. And there it was!</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⑧</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A table which was a priceless piece of eighteenth‑century English furniture.</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⑨</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He was </a:t>
            </a:r>
            <a:r>
              <a:rPr lang="en-US" altLang="ko-KR" sz="2050" b="1" dirty="0">
                <a:solidFill>
                  <a:srgbClr val="1F2328">
                    <a:alpha val="0"/>
                  </a:srgbClr>
                </a:solidFill>
                <a:latin typeface="Calibri"/>
                <a:ea typeface="맑은 고딕"/>
                <a:cs typeface="Calibri"/>
              </a:rPr>
              <a:t>[ </a:t>
            </a:r>
            <a:r>
              <a:rPr lang="en-US" altLang="ko-KR" sz="2050" b="1" dirty="0">
                <a:solidFill>
                  <a:srgbClr val="1F2328">
                    <a:alpha val="0"/>
                  </a:srgbClr>
                </a:solidFill>
                <a:latin typeface="Calibri"/>
                <a:ea typeface="맑은 고딕"/>
                <a:cs typeface="Calibri"/>
              </a:rPr>
              <a:t>so</a:t>
            </a:r>
            <a:r>
              <a:rPr lang="en-US" altLang="ko-KR" sz="2050" b="1" dirty="0">
                <a:solidFill>
                  <a:srgbClr val="1F2328">
                    <a:alpha val="0"/>
                  </a:srgbClr>
                </a:solidFill>
                <a:latin typeface="Calibri"/>
                <a:ea typeface="맑은 고딕"/>
                <a:cs typeface="Calibri"/>
              </a:rPr>
              <a:t> / </a:t>
            </a:r>
            <a:r>
              <a:rPr lang="en-US" altLang="ko-KR" sz="2050" b="1" dirty="0">
                <a:solidFill>
                  <a:srgbClr val="1F2328">
                    <a:alpha val="0"/>
                  </a:srgbClr>
                </a:solidFill>
                <a:latin typeface="Calibri"/>
                <a:ea typeface="맑은 고딕"/>
                <a:cs typeface="Calibri"/>
              </a:rPr>
              <a:t>such</a:t>
            </a:r>
            <a:r>
              <a:rPr lang="en-US" altLang="ko-KR" sz="2050" b="1"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 excited that he almost fell over.</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⑩</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"What’s wrong?" Bert asked. "Oh, nothing. Nothing at all," Mr. Boggis </a:t>
            </a:r>
            <a:r>
              <a:rPr lang="en-US" altLang="ko-KR" sz="2050" b="1" dirty="0">
                <a:solidFill>
                  <a:srgbClr val="1F2328">
                    <a:alpha val="0"/>
                  </a:srgbClr>
                </a:solidFill>
                <a:latin typeface="Calibri"/>
                <a:ea typeface="맑은 고딕"/>
                <a:cs typeface="Calibri"/>
              </a:rPr>
              <a:t>[ </a:t>
            </a:r>
            <a:r>
              <a:rPr lang="en-US" altLang="ko-KR" sz="2050" b="1" dirty="0">
                <a:solidFill>
                  <a:srgbClr val="C00000"/>
                </a:solidFill>
                <a:highlight>
                  <a:srgbClr val="F3F5F9"/>
                </a:highlight>
                <a:latin typeface="Calibri"/>
                <a:ea typeface="맑은 고딕"/>
                <a:cs typeface="Calibri"/>
              </a:rPr>
              <a:t>lied</a:t>
            </a:r>
            <a:r>
              <a:rPr lang="en-US" altLang="ko-KR" sz="2050" b="1" dirty="0">
                <a:solidFill>
                  <a:srgbClr val="1F2328">
                    <a:alpha val="0"/>
                  </a:srgbClr>
                </a:solidFill>
                <a:latin typeface="Calibri"/>
                <a:ea typeface="맑은 고딕"/>
                <a:cs typeface="Calibri"/>
              </a:rPr>
              <a:t> / </a:t>
            </a:r>
            <a:r>
              <a:rPr lang="en-US" altLang="ko-KR" sz="2050" b="1" dirty="0">
                <a:solidFill>
                  <a:srgbClr val="1F2328">
                    <a:alpha val="0"/>
                  </a:srgbClr>
                </a:solidFill>
                <a:latin typeface="Calibri"/>
                <a:ea typeface="맑은 고딕"/>
                <a:cs typeface="Calibri"/>
              </a:rPr>
              <a:t>lay</a:t>
            </a:r>
            <a:r>
              <a:rPr lang="en-US" altLang="ko-KR" sz="2050" b="1"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⑪</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He then said with a straight face, "This table is a reproduction. It’s worth only a few pounds."</a:t>
            </a:r>
            <a:endParaRPr lang="en-US" altLang="ko-KR" sz="2050" b="0" dirty="0">
              <a:solidFill>
                <a:srgbClr val="1F2328"/>
              </a:solidFill>
              <a:latin typeface="Calibri"/>
              <a:ea typeface="맑은 고딕"/>
              <a:cs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25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25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25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25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Lst>
  </p:timing>
</p:sld>
</file>

<file path=ppt/slides/slide1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L6-3</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1 · 1</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1. 다음 글의 주제로 가장 적절한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6</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본문 근거 형광 + 정답 원리</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220598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2205989"/>
          </a:xfrm>
          <a:prstGeom prst="rect">
            <a:avLst/>
          </a:prstGeom>
          <a:noFill/>
        </p:spPr>
        <p:txBody>
          <a:bodyPr wrap="square" lIns="201168" tIns="118872" rIns="201168" bIns="118872" anchor="t" rtlCol="0">
            <a:noAutofit/>
          </a:bodyPr>
          <a:lstStyle/>
          <a:p>
            <a:pPr algn="just">
              <a:lnSpc>
                <a:spcPts val="1690"/>
              </a:lnSpc>
              <a:spcBef>
                <a:spcPts val="0"/>
              </a:spcBef>
              <a:spcAft>
                <a:spcPts val="0"/>
              </a:spcAft>
              <a:buNone/>
            </a:pPr>
            <a:r>
              <a:rPr lang="en-US" altLang="ko-KR" sz="1300" b="0" dirty="0">
                <a:solidFill>
                  <a:srgbClr val="1F2328"/>
                </a:solidFill>
                <a:latin typeface="Calibri"/>
                <a:ea typeface="맑은 고딕"/>
                <a:cs typeface="Calibri"/>
              </a:rPr>
              <a:t>He then added, "Hmm, I think I may buy it. The legs of my table at home are broken. </a:t>
            </a:r>
            <a:r>
              <a:rPr lang="en-US" altLang="ko-KR" sz="1300" b="0" dirty="0">
                <a:solidFill>
                  <a:srgbClr val="1F2328"/>
                </a:solidFill>
                <a:latin typeface="Calibri"/>
                <a:ea typeface="맑은 고딕"/>
                <a:cs typeface="Calibri"/>
              </a:rPr>
              <a:t>I can cut off the legs of your table</a:t>
            </a:r>
            <a:r>
              <a:rPr lang="en-US" altLang="ko-KR" sz="1300" b="0" dirty="0">
                <a:solidFill>
                  <a:srgbClr val="1F2328"/>
                </a:solidFill>
                <a:latin typeface="Calibri"/>
                <a:ea typeface="맑은 고딕"/>
                <a:cs typeface="Calibri"/>
              </a:rPr>
              <a:t> and attach them to mine." "How much?" Rummins asked. "Not much, I’m afraid. This is just a reproduction," said Mr. Boggis. "So how much?" "Ten pounds." "Ten? It’s worth more than that." "How about fifteen?" "Make it fifty." "Well, thirty. This is my final offer." "OK, it’s yours, but how are you going to take it? This thing will not go in a car!" "We’ll see," Mr. Boggis said and went out to bring his car. On his way to the car, Mr. Boggis couldn’t help smiling. The table was what every dealer dreamed of. He couldn’t believe his luck. "Dad, what if this thing doesn’t go in his car? He might not pay you," said Bert. Rummins then had an idea. "What he wants is only the legs. Let’s cut the legs off for him," said Rummins. "Great idea!" said Bert. Bert then took out a saw and began to cut off the legs. </a:t>
            </a:r>
            <a:r>
              <a:rPr lang="en-US" altLang="ko-KR" sz="1300" b="0" dirty="0">
                <a:solidFill>
                  <a:srgbClr val="1F2328"/>
                </a:solidFill>
                <a:latin typeface="Calibri"/>
                <a:ea typeface="맑은 고딕"/>
                <a:cs typeface="Calibri"/>
              </a:rPr>
              <a:t>When Mr. Boggis came back, the legs had been cut off.</a:t>
            </a:r>
            <a:r>
              <a:rPr lang="en-US" altLang="ko-KR" sz="1300" b="0" dirty="0">
                <a:solidFill>
                  <a:srgbClr val="1F2328"/>
                </a:solidFill>
                <a:latin typeface="Calibri"/>
                <a:ea typeface="맑은 고딕"/>
                <a:cs typeface="Calibri"/>
              </a:rPr>
              <a:t> "Don’t worry, this was a favor. I won’t charge you for this," said Rummins. Mr. Boggis was so shocked that he couldn’t say anything.</a:t>
            </a:r>
            <a:endParaRPr lang="en-US" altLang="ko-KR" sz="1300" b="0" dirty="0">
              <a:solidFill>
                <a:srgbClr val="1F2328"/>
              </a:solidFill>
              <a:latin typeface="Calibri"/>
              <a:ea typeface="맑은 고딕"/>
              <a:cs typeface="Calibri"/>
            </a:endParaRPr>
          </a:p>
        </p:txBody>
      </p:sp>
      <p:sp>
        <p:nvSpPr>
          <p:cNvPr id="9" name="rv_evidence_card"/>
          <p:cNvSpPr/>
          <p:nvPr/>
        </p:nvSpPr>
        <p:spPr>
          <a:xfrm>
            <a:off x="457200" y="950976"/>
            <a:ext cx="11277295" cy="220598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rv_evidence"/>
          <p:cNvSpPr txBox="1"/>
          <p:nvPr/>
        </p:nvSpPr>
        <p:spPr>
          <a:xfrm>
            <a:off x="457200" y="950976"/>
            <a:ext cx="11277295" cy="2205989"/>
          </a:xfrm>
          <a:prstGeom prst="rect">
            <a:avLst/>
          </a:prstGeom>
          <a:noFill/>
        </p:spPr>
        <p:txBody>
          <a:bodyPr wrap="square" lIns="201168" tIns="118872" rIns="201168" bIns="118872" anchor="t" rtlCol="0">
            <a:noAutofit/>
          </a:bodyPr>
          <a:lstStyle/>
          <a:p>
            <a:pPr algn="just">
              <a:lnSpc>
                <a:spcPts val="1690"/>
              </a:lnSpc>
              <a:spcBef>
                <a:spcPts val="0"/>
              </a:spcBef>
              <a:spcAft>
                <a:spcPts val="0"/>
              </a:spcAft>
              <a:buNone/>
            </a:pPr>
            <a:r>
              <a:rPr lang="en-US" altLang="ko-KR" sz="1300" b="0" dirty="0">
                <a:solidFill>
                  <a:srgbClr val="B3BAC6"/>
                </a:solidFill>
                <a:latin typeface="Calibri"/>
                <a:ea typeface="맑은 고딕"/>
                <a:cs typeface="Calibri"/>
              </a:rPr>
              <a:t>He then added, "Hmm, I think I may buy it. The legs of my table at home are broken. </a:t>
            </a:r>
            <a:r>
              <a:rPr lang="en-US" altLang="ko-KR" sz="1300" b="0" dirty="0">
                <a:solidFill>
                  <a:srgbClr val="111111"/>
                </a:solidFill>
                <a:highlight>
                  <a:srgbClr val="FFE45C"/>
                </a:highlight>
                <a:latin typeface="Calibri"/>
                <a:ea typeface="맑은 고딕"/>
                <a:cs typeface="Calibri"/>
              </a:rPr>
              <a:t>I can cut off the legs of your table</a:t>
            </a:r>
            <a:r>
              <a:rPr lang="en-US" altLang="ko-KR" sz="1300" b="0" dirty="0">
                <a:solidFill>
                  <a:srgbClr val="B3BAC6"/>
                </a:solidFill>
                <a:latin typeface="Calibri"/>
                <a:ea typeface="맑은 고딕"/>
                <a:cs typeface="Calibri"/>
              </a:rPr>
              <a:t> and attach them to mine." "How much?" Rummins asked. "Not much, I’m afraid. This is just a reproduction," said Mr. Boggis. "So how much?" "Ten pounds." "Ten? It’s worth more than that." "How about fifteen?" "Make it fifty." "Well, thirty. This is my final offer." "OK, it’s yours, but how are you going to take it? This thing will not go in a car!" "We’ll see," Mr. Boggis said and went out to bring his car. On his way to the car, Mr. Boggis couldn’t help smiling. The table was what every dealer dreamed of. He couldn’t believe his luck. "Dad, what if this thing doesn’t go in his car? He might not pay you," said Bert. Rummins then had an idea. "What he wants is only the legs. Let’s cut the legs off for him," said Rummins. "Great idea!" said Bert. Bert then took out a saw and began to cut off the legs. </a:t>
            </a:r>
            <a:r>
              <a:rPr lang="en-US" altLang="ko-KR" sz="1300" b="0" dirty="0">
                <a:solidFill>
                  <a:srgbClr val="111111"/>
                </a:solidFill>
                <a:highlight>
                  <a:srgbClr val="FFE45C"/>
                </a:highlight>
                <a:latin typeface="Calibri"/>
                <a:ea typeface="맑은 고딕"/>
                <a:cs typeface="Calibri"/>
              </a:rPr>
              <a:t>When Mr. Boggis came back, the legs had been cut off.</a:t>
            </a:r>
            <a:r>
              <a:rPr lang="en-US" altLang="ko-KR" sz="1300" b="0" dirty="0">
                <a:solidFill>
                  <a:srgbClr val="B3BAC6"/>
                </a:solidFill>
                <a:latin typeface="Calibri"/>
                <a:ea typeface="맑은 고딕"/>
                <a:cs typeface="Calibri"/>
              </a:rPr>
              <a:t> "Don’t worry, this was a favor. I won’t charge you for this," said Rummins. Mr. Boggis was so shocked that he couldn’t say anything.</a:t>
            </a:r>
            <a:endParaRPr lang="en-US" altLang="ko-KR" sz="1300" b="0" dirty="0">
              <a:solidFill>
                <a:srgbClr val="B3BAC6"/>
              </a:solidFill>
              <a:latin typeface="Calibri"/>
              <a:ea typeface="맑은 고딕"/>
              <a:cs typeface="Calibri"/>
            </a:endParaRPr>
          </a:p>
        </p:txBody>
      </p:sp>
      <p:sp>
        <p:nvSpPr>
          <p:cNvPr id="11" name="choice_1"/>
          <p:cNvSpPr txBox="1"/>
          <p:nvPr/>
        </p:nvSpPr>
        <p:spPr>
          <a:xfrm>
            <a:off x="457200" y="3303270"/>
            <a:ext cx="11277295" cy="352044"/>
          </a:xfrm>
          <a:prstGeom prst="rect">
            <a:avLst/>
          </a:prstGeom>
          <a:noFill/>
        </p:spPr>
        <p:txBody>
          <a:bodyPr wrap="square" lIns="137160" tIns="27432" rIns="137160" bIns="27432" anchor="t" rtlCol="0">
            <a:noAutofit/>
          </a:bodyPr>
          <a:lstStyle/>
          <a:p>
            <a:pPr algn="l" marL="335280" indent="-335280">
              <a:lnSpc>
                <a:spcPts val="2340"/>
              </a:lnSpc>
              <a:spcBef>
                <a:spcPts val="0"/>
              </a:spcBef>
              <a:spcAft>
                <a:spcPts val="0"/>
              </a:spcAft>
              <a:buNone/>
              <a:tabLst>
                <a:tab pos="335280" algn="l"/>
              </a:tabLst>
            </a:pPr>
            <a:r>
              <a:rPr lang="ko-KR" altLang="en-US" sz="1650" b="1" dirty="0">
                <a:solidFill>
                  <a:srgbClr val="1E2A5A"/>
                </a:solidFill>
                <a:latin typeface="맑은 고딕"/>
                <a:ea typeface="맑은 고딕"/>
                <a:cs typeface="맑은 고딕"/>
              </a:rPr>
              <a:t>①</a:t>
            </a:r>
            <a:r>
              <a:rPr lang="en-US" altLang="ko-KR" sz="1650" b="0" dirty="0">
                <a:solidFill>
                  <a:srgbClr val="1F2328"/>
                </a:solidFill>
                <a:latin typeface="Calibri"/>
                <a:ea typeface="맑은 고딕"/>
                <a:cs typeface="Calibri"/>
              </a:rPr>
              <a:t>	how Bert fixed the broken legs of a table</a:t>
            </a:r>
            <a:endParaRPr lang="en-US" altLang="ko-KR" sz="1650" b="0" dirty="0">
              <a:solidFill>
                <a:srgbClr val="1F2328"/>
              </a:solidFill>
              <a:latin typeface="Calibri"/>
              <a:ea typeface="맑은 고딕"/>
              <a:cs typeface="Calibri"/>
            </a:endParaRPr>
          </a:p>
        </p:txBody>
      </p:sp>
      <p:sp>
        <p:nvSpPr>
          <p:cNvPr id="12" name="choice_2"/>
          <p:cNvSpPr txBox="1"/>
          <p:nvPr/>
        </p:nvSpPr>
        <p:spPr>
          <a:xfrm>
            <a:off x="457200" y="3682746"/>
            <a:ext cx="11277295" cy="352044"/>
          </a:xfrm>
          <a:prstGeom prst="rect">
            <a:avLst/>
          </a:prstGeom>
          <a:noFill/>
        </p:spPr>
        <p:txBody>
          <a:bodyPr wrap="square" lIns="137160" tIns="27432" rIns="137160" bIns="27432" anchor="t" rtlCol="0">
            <a:noAutofit/>
          </a:bodyPr>
          <a:lstStyle/>
          <a:p>
            <a:pPr algn="l" marL="335280" indent="-335280">
              <a:lnSpc>
                <a:spcPts val="2340"/>
              </a:lnSpc>
              <a:spcBef>
                <a:spcPts val="0"/>
              </a:spcBef>
              <a:spcAft>
                <a:spcPts val="0"/>
              </a:spcAft>
              <a:buNone/>
              <a:tabLst>
                <a:tab pos="335280" algn="l"/>
              </a:tabLst>
            </a:pPr>
            <a:r>
              <a:rPr lang="ko-KR" altLang="en-US" sz="1650" b="1" dirty="0">
                <a:solidFill>
                  <a:srgbClr val="1E2A5A"/>
                </a:solidFill>
                <a:latin typeface="맑은 고딕"/>
                <a:ea typeface="맑은 고딕"/>
                <a:cs typeface="맑은 고딕"/>
              </a:rPr>
              <a:t>②</a:t>
            </a:r>
            <a:r>
              <a:rPr lang="en-US" altLang="ko-KR" sz="1650" b="0" dirty="0">
                <a:solidFill>
                  <a:srgbClr val="1F2328"/>
                </a:solidFill>
                <a:latin typeface="Calibri"/>
                <a:ea typeface="맑은 고딕"/>
                <a:cs typeface="Calibri"/>
              </a:rPr>
              <a:t>	why the dealer paid fifty pounds for a table</a:t>
            </a:r>
            <a:endParaRPr lang="en-US" altLang="ko-KR" sz="1650" b="0" dirty="0">
              <a:solidFill>
                <a:srgbClr val="1F2328"/>
              </a:solidFill>
              <a:latin typeface="Calibri"/>
              <a:ea typeface="맑은 고딕"/>
              <a:cs typeface="Calibri"/>
            </a:endParaRPr>
          </a:p>
        </p:txBody>
      </p:sp>
      <p:sp>
        <p:nvSpPr>
          <p:cNvPr id="13" name="choice_3"/>
          <p:cNvSpPr txBox="1"/>
          <p:nvPr/>
        </p:nvSpPr>
        <p:spPr>
          <a:xfrm>
            <a:off x="457200" y="4062222"/>
            <a:ext cx="11277295" cy="352044"/>
          </a:xfrm>
          <a:prstGeom prst="rect">
            <a:avLst/>
          </a:prstGeom>
          <a:noFill/>
        </p:spPr>
        <p:txBody>
          <a:bodyPr wrap="square" lIns="137160" tIns="27432" rIns="137160" bIns="27432" anchor="t" rtlCol="0">
            <a:noAutofit/>
          </a:bodyPr>
          <a:lstStyle/>
          <a:p>
            <a:pPr algn="l" marL="335280" indent="-335280">
              <a:lnSpc>
                <a:spcPts val="2340"/>
              </a:lnSpc>
              <a:spcBef>
                <a:spcPts val="0"/>
              </a:spcBef>
              <a:spcAft>
                <a:spcPts val="0"/>
              </a:spcAft>
              <a:buNone/>
              <a:tabLst>
                <a:tab pos="335280" algn="l"/>
              </a:tabLst>
            </a:pPr>
            <a:r>
              <a:rPr lang="ko-KR" altLang="en-US" sz="1650" b="1" dirty="0">
                <a:solidFill>
                  <a:srgbClr val="1E2A5A"/>
                </a:solidFill>
                <a:latin typeface="맑은 고딕"/>
                <a:ea typeface="맑은 고딕"/>
                <a:cs typeface="맑은 고딕"/>
              </a:rPr>
              <a:t>③</a:t>
            </a:r>
            <a:r>
              <a:rPr lang="en-US" altLang="ko-KR" sz="1650" b="0" dirty="0">
                <a:solidFill>
                  <a:srgbClr val="1F2328"/>
                </a:solidFill>
                <a:latin typeface="Calibri"/>
                <a:ea typeface="맑은 고딕"/>
                <a:cs typeface="Calibri"/>
              </a:rPr>
              <a:t>	how a dealer's lie ruined the deal he wanted</a:t>
            </a:r>
            <a:endParaRPr lang="en-US" altLang="ko-KR" sz="1650" b="0" dirty="0">
              <a:solidFill>
                <a:srgbClr val="1F2328"/>
              </a:solidFill>
              <a:latin typeface="Calibri"/>
              <a:ea typeface="맑은 고딕"/>
              <a:cs typeface="Calibri"/>
            </a:endParaRPr>
          </a:p>
        </p:txBody>
      </p:sp>
      <p:sp>
        <p:nvSpPr>
          <p:cNvPr id="14" name="rv_pick"/>
          <p:cNvSpPr txBox="1"/>
          <p:nvPr/>
        </p:nvSpPr>
        <p:spPr>
          <a:xfrm>
            <a:off x="457200" y="4062222"/>
            <a:ext cx="11277295" cy="352044"/>
          </a:xfrm>
          <a:prstGeom prst="rect">
            <a:avLst/>
          </a:prstGeom>
          <a:solidFill>
            <a:srgbClr val="FFF3C4"/>
          </a:solidFill>
        </p:spPr>
        <p:txBody>
          <a:bodyPr wrap="square" lIns="137160" tIns="27432" rIns="137160" bIns="27432" anchor="t" rtlCol="0">
            <a:noAutofit/>
          </a:bodyPr>
          <a:lstStyle/>
          <a:p>
            <a:pPr algn="l" marL="335280" indent="-335280">
              <a:lnSpc>
                <a:spcPts val="2340"/>
              </a:lnSpc>
              <a:spcBef>
                <a:spcPts val="0"/>
              </a:spcBef>
              <a:spcAft>
                <a:spcPts val="0"/>
              </a:spcAft>
              <a:buNone/>
              <a:tabLst>
                <a:tab pos="335280" algn="l"/>
              </a:tabLst>
            </a:pPr>
            <a:r>
              <a:rPr lang="ko-KR" altLang="en-US" sz="1650" b="1" dirty="0">
                <a:solidFill>
                  <a:srgbClr val="C00000"/>
                </a:solidFill>
                <a:latin typeface="맑은 고딕"/>
                <a:ea typeface="맑은 고딕"/>
                <a:cs typeface="맑은 고딕"/>
              </a:rPr>
              <a:t>③</a:t>
            </a:r>
            <a:r>
              <a:rPr lang="en-US" altLang="ko-KR" sz="1650" b="0" dirty="0">
                <a:solidFill>
                  <a:srgbClr val="C00000"/>
                </a:solidFill>
                <a:latin typeface="Calibri"/>
                <a:ea typeface="맑은 고딕"/>
                <a:cs typeface="Calibri"/>
              </a:rPr>
              <a:t>	how a dealer's lie ruined the deal he wanted</a:t>
            </a:r>
            <a:endParaRPr lang="en-US" altLang="ko-KR" sz="1650" b="0" dirty="0">
              <a:solidFill>
                <a:srgbClr val="C00000"/>
              </a:solidFill>
              <a:latin typeface="Calibri"/>
              <a:ea typeface="맑은 고딕"/>
              <a:cs typeface="Calibri"/>
            </a:endParaRPr>
          </a:p>
        </p:txBody>
      </p:sp>
      <p:sp>
        <p:nvSpPr>
          <p:cNvPr id="15" name="choice_4"/>
          <p:cNvSpPr txBox="1"/>
          <p:nvPr/>
        </p:nvSpPr>
        <p:spPr>
          <a:xfrm>
            <a:off x="457200" y="4441698"/>
            <a:ext cx="11277295" cy="352044"/>
          </a:xfrm>
          <a:prstGeom prst="rect">
            <a:avLst/>
          </a:prstGeom>
          <a:noFill/>
        </p:spPr>
        <p:txBody>
          <a:bodyPr wrap="square" lIns="137160" tIns="27432" rIns="137160" bIns="27432" anchor="t" rtlCol="0">
            <a:noAutofit/>
          </a:bodyPr>
          <a:lstStyle/>
          <a:p>
            <a:pPr algn="l" marL="335280" indent="-335280">
              <a:lnSpc>
                <a:spcPts val="2340"/>
              </a:lnSpc>
              <a:spcBef>
                <a:spcPts val="0"/>
              </a:spcBef>
              <a:spcAft>
                <a:spcPts val="0"/>
              </a:spcAft>
              <a:buNone/>
              <a:tabLst>
                <a:tab pos="335280" algn="l"/>
              </a:tabLst>
            </a:pPr>
            <a:r>
              <a:rPr lang="ko-KR" altLang="en-US" sz="1650" b="1" dirty="0">
                <a:solidFill>
                  <a:srgbClr val="1E2A5A"/>
                </a:solidFill>
                <a:latin typeface="맑은 고딕"/>
                <a:ea typeface="맑은 고딕"/>
                <a:cs typeface="맑은 고딕"/>
              </a:rPr>
              <a:t>④</a:t>
            </a:r>
            <a:r>
              <a:rPr lang="en-US" altLang="ko-KR" sz="1650" b="0" dirty="0">
                <a:solidFill>
                  <a:srgbClr val="1F2328"/>
                </a:solidFill>
                <a:latin typeface="Calibri"/>
                <a:ea typeface="맑은 고딕"/>
                <a:cs typeface="Calibri"/>
              </a:rPr>
              <a:t>	how Rummins got a new car from the dealer</a:t>
            </a:r>
            <a:endParaRPr lang="en-US" altLang="ko-KR" sz="1650" b="0" dirty="0">
              <a:solidFill>
                <a:srgbClr val="1F2328"/>
              </a:solidFill>
              <a:latin typeface="Calibri"/>
              <a:ea typeface="맑은 고딕"/>
              <a:cs typeface="Calibri"/>
            </a:endParaRPr>
          </a:p>
        </p:txBody>
      </p:sp>
      <p:sp>
        <p:nvSpPr>
          <p:cNvPr id="16" name="choice_5"/>
          <p:cNvSpPr txBox="1"/>
          <p:nvPr/>
        </p:nvSpPr>
        <p:spPr>
          <a:xfrm>
            <a:off x="457200" y="4821174"/>
            <a:ext cx="11277295" cy="352044"/>
          </a:xfrm>
          <a:prstGeom prst="rect">
            <a:avLst/>
          </a:prstGeom>
          <a:noFill/>
        </p:spPr>
        <p:txBody>
          <a:bodyPr wrap="square" lIns="137160" tIns="27432" rIns="137160" bIns="27432" anchor="t" rtlCol="0">
            <a:noAutofit/>
          </a:bodyPr>
          <a:lstStyle/>
          <a:p>
            <a:pPr algn="l" marL="335280" indent="-335280">
              <a:lnSpc>
                <a:spcPts val="2340"/>
              </a:lnSpc>
              <a:spcBef>
                <a:spcPts val="0"/>
              </a:spcBef>
              <a:spcAft>
                <a:spcPts val="0"/>
              </a:spcAft>
              <a:buNone/>
              <a:tabLst>
                <a:tab pos="335280" algn="l"/>
              </a:tabLst>
            </a:pPr>
            <a:r>
              <a:rPr lang="ko-KR" altLang="en-US" sz="1650" b="1" dirty="0">
                <a:solidFill>
                  <a:srgbClr val="1E2A5A"/>
                </a:solidFill>
                <a:latin typeface="맑은 고딕"/>
                <a:ea typeface="맑은 고딕"/>
                <a:cs typeface="맑은 고딕"/>
              </a:rPr>
              <a:t>⑤</a:t>
            </a:r>
            <a:r>
              <a:rPr lang="en-US" altLang="ko-KR" sz="1650" b="0" dirty="0">
                <a:solidFill>
                  <a:srgbClr val="1F2328"/>
                </a:solidFill>
                <a:latin typeface="Calibri"/>
                <a:ea typeface="맑은 고딕"/>
                <a:cs typeface="Calibri"/>
              </a:rPr>
              <a:t>	why the table could not go into the car</a:t>
            </a:r>
            <a:endParaRPr lang="en-US" altLang="ko-KR" sz="1650" b="0" dirty="0">
              <a:solidFill>
                <a:srgbClr val="1F2328"/>
              </a:solidFill>
              <a:latin typeface="Calibri"/>
              <a:ea typeface="맑은 고딕"/>
              <a:cs typeface="Calibri"/>
            </a:endParaRPr>
          </a:p>
        </p:txBody>
      </p:sp>
      <p:sp>
        <p:nvSpPr>
          <p:cNvPr id="17" name="rv_answer"/>
          <p:cNvSpPr/>
          <p:nvPr/>
        </p:nvSpPr>
        <p:spPr>
          <a:xfrm>
            <a:off x="457200" y="528294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③ </a:t>
            </a:r>
            <a:r>
              <a:rPr lang="en-US" altLang="ko-KR" sz="1900" b="1" dirty="0">
                <a:solidFill>
                  <a:srgbClr val="5A4200"/>
                </a:solidFill>
                <a:latin typeface="Calibri"/>
                <a:ea typeface="맑은 고딕"/>
                <a:cs typeface="Calibri"/>
              </a:rPr>
              <a:t>how a dealer's lie ruined the deal he wanted</a:t>
            </a:r>
            <a:endParaRPr lang="en-US" altLang="ko-KR" sz="1900" b="1" dirty="0">
              <a:solidFill>
                <a:srgbClr val="5A4200"/>
              </a:solidFill>
              <a:latin typeface="Calibri"/>
              <a:ea typeface="맑은 고딕"/>
              <a:cs typeface="Calibri"/>
            </a:endParaRPr>
          </a:p>
        </p:txBody>
      </p:sp>
      <p:sp>
        <p:nvSpPr>
          <p:cNvPr id="18" name="rv_why"/>
          <p:cNvSpPr/>
          <p:nvPr/>
        </p:nvSpPr>
        <p:spPr>
          <a:xfrm>
            <a:off x="457200" y="5881878"/>
            <a:ext cx="11277295" cy="53720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340"/>
              </a:lnSpc>
              <a:spcBef>
                <a:spcPts val="0"/>
              </a:spcBef>
              <a:spcAft>
                <a:spcPts val="0"/>
              </a:spcAft>
              <a:buNone/>
            </a:pPr>
            <a:r>
              <a:rPr lang="ko-KR" altLang="en-US" sz="1650" b="1" dirty="0">
                <a:solidFill>
                  <a:srgbClr val="1E2A5A"/>
                </a:solidFill>
                <a:latin typeface="맑은 고딕"/>
                <a:ea typeface="맑은 고딕"/>
                <a:cs typeface="맑은 고딕"/>
              </a:rPr>
              <a:t>정답 원리   </a:t>
            </a:r>
            <a:r>
              <a:rPr lang="ko-KR" altLang="en-US" sz="1650" b="0" dirty="0">
                <a:solidFill>
                  <a:srgbClr val="16284A"/>
                </a:solidFill>
                <a:latin typeface="맑은 고딕"/>
                <a:ea typeface="맑은 고딕"/>
                <a:cs typeface="맑은 고딕"/>
              </a:rPr>
              <a:t>다리만 쓰겠다는 거짓말 때문에 다리가 잘려 거래를 망쳤다. ③이 주제다.</a:t>
            </a:r>
            <a:endParaRPr lang="ko-KR" altLang="en-US" sz="165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250"/>
                                        <p:tgtEl>
                                          <p:spTgt spid="1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25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25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7" grpId="0" animBg="1"/>
      <p:bldP spid="9" grpId="0" animBg="1"/>
      <p:bldP spid="10" grpId="0" animBg="1"/>
      <p:bldP spid="18" grpId="0" animBg="1"/>
    </p:bldLst>
  </p:timing>
</p:sld>
</file>

<file path=ppt/slides/slide1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L6-3</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1 · 2</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2. 다음 글의 제목으로 가장 적절한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6</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본문 근거 형광 + 정답 원리</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220598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2205989"/>
          </a:xfrm>
          <a:prstGeom prst="rect">
            <a:avLst/>
          </a:prstGeom>
          <a:noFill/>
        </p:spPr>
        <p:txBody>
          <a:bodyPr wrap="square" lIns="201168" tIns="118872" rIns="201168" bIns="118872" anchor="t" rtlCol="0">
            <a:noAutofit/>
          </a:bodyPr>
          <a:lstStyle/>
          <a:p>
            <a:pPr algn="just">
              <a:lnSpc>
                <a:spcPts val="1690"/>
              </a:lnSpc>
              <a:spcBef>
                <a:spcPts val="0"/>
              </a:spcBef>
              <a:spcAft>
                <a:spcPts val="0"/>
              </a:spcAft>
              <a:buNone/>
            </a:pPr>
            <a:r>
              <a:rPr lang="en-US" altLang="ko-KR" sz="1300" b="0" dirty="0">
                <a:solidFill>
                  <a:srgbClr val="1F2328"/>
                </a:solidFill>
                <a:latin typeface="Calibri"/>
                <a:ea typeface="맑은 고딕"/>
                <a:cs typeface="Calibri"/>
              </a:rPr>
              <a:t>He then added, "Hmm, I think I may buy it. The legs of my table at home are broken. I can cut off the legs of your table and attach them to mine." "How much?" Rummins asked. "Not much, I’m afraid. This is just a reproduction," said Mr. Boggis. "So how much?" "Ten pounds." "Ten? It’s worth more than that." "How about fifteen?" "Make it fifty." "Well, thirty. This is my final offer." "OK, it’s yours, but how are you going to take it? This thing will not go in a car!" "We’ll see," Mr. Boggis said and went out to bring his car. On his way to the car, Mr. Boggis couldn’t help smiling. The table was what every dealer dreamed of. He couldn’t believe his luck. "Dad, what if this thing doesn’t go in his car? He might not pay you," said Bert. Rummins then had an idea. "</a:t>
            </a:r>
            <a:r>
              <a:rPr lang="en-US" altLang="ko-KR" sz="1300" b="0" dirty="0">
                <a:solidFill>
                  <a:srgbClr val="1F2328"/>
                </a:solidFill>
                <a:latin typeface="Calibri"/>
                <a:ea typeface="맑은 고딕"/>
                <a:cs typeface="Calibri"/>
              </a:rPr>
              <a:t>What he wants is only the legs</a:t>
            </a:r>
            <a:r>
              <a:rPr lang="en-US" altLang="ko-KR" sz="1300" b="0" dirty="0">
                <a:solidFill>
                  <a:srgbClr val="1F2328"/>
                </a:solidFill>
                <a:latin typeface="Calibri"/>
                <a:ea typeface="맑은 고딕"/>
                <a:cs typeface="Calibri"/>
              </a:rPr>
              <a:t>. Let’s cut the legs off for him," said Rummins. "Great idea!" said Bert. Bert then took out a saw and began to cut off the legs. </a:t>
            </a:r>
            <a:r>
              <a:rPr lang="en-US" altLang="ko-KR" sz="1300" b="0" dirty="0">
                <a:solidFill>
                  <a:srgbClr val="1F2328"/>
                </a:solidFill>
                <a:latin typeface="Calibri"/>
                <a:ea typeface="맑은 고딕"/>
                <a:cs typeface="Calibri"/>
              </a:rPr>
              <a:t>When Mr. Boggis came back, the legs had been cut off.</a:t>
            </a:r>
            <a:r>
              <a:rPr lang="en-US" altLang="ko-KR" sz="1300" b="0" dirty="0">
                <a:solidFill>
                  <a:srgbClr val="1F2328"/>
                </a:solidFill>
                <a:latin typeface="Calibri"/>
                <a:ea typeface="맑은 고딕"/>
                <a:cs typeface="Calibri"/>
              </a:rPr>
              <a:t> "Don’t worry, this was a favor. I won’t charge you for this," said Rummins. Mr. Boggis was so shocked that he couldn’t say anything.</a:t>
            </a:r>
            <a:endParaRPr lang="en-US" altLang="ko-KR" sz="1300" b="0" dirty="0">
              <a:solidFill>
                <a:srgbClr val="1F2328"/>
              </a:solidFill>
              <a:latin typeface="Calibri"/>
              <a:ea typeface="맑은 고딕"/>
              <a:cs typeface="Calibri"/>
            </a:endParaRPr>
          </a:p>
        </p:txBody>
      </p:sp>
      <p:sp>
        <p:nvSpPr>
          <p:cNvPr id="9" name="rv_evidence_card"/>
          <p:cNvSpPr/>
          <p:nvPr/>
        </p:nvSpPr>
        <p:spPr>
          <a:xfrm>
            <a:off x="457200" y="950976"/>
            <a:ext cx="11277295" cy="220598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rv_evidence"/>
          <p:cNvSpPr txBox="1"/>
          <p:nvPr/>
        </p:nvSpPr>
        <p:spPr>
          <a:xfrm>
            <a:off x="457200" y="950976"/>
            <a:ext cx="11277295" cy="2205989"/>
          </a:xfrm>
          <a:prstGeom prst="rect">
            <a:avLst/>
          </a:prstGeom>
          <a:noFill/>
        </p:spPr>
        <p:txBody>
          <a:bodyPr wrap="square" lIns="201168" tIns="118872" rIns="201168" bIns="118872" anchor="t" rtlCol="0">
            <a:noAutofit/>
          </a:bodyPr>
          <a:lstStyle/>
          <a:p>
            <a:pPr algn="just">
              <a:lnSpc>
                <a:spcPts val="1690"/>
              </a:lnSpc>
              <a:spcBef>
                <a:spcPts val="0"/>
              </a:spcBef>
              <a:spcAft>
                <a:spcPts val="0"/>
              </a:spcAft>
              <a:buNone/>
            </a:pPr>
            <a:r>
              <a:rPr lang="en-US" altLang="ko-KR" sz="1300" b="0" dirty="0">
                <a:solidFill>
                  <a:srgbClr val="B3BAC6"/>
                </a:solidFill>
                <a:latin typeface="Calibri"/>
                <a:ea typeface="맑은 고딕"/>
                <a:cs typeface="Calibri"/>
              </a:rPr>
              <a:t>He then added, "Hmm, I think I may buy it. The legs of my table at home are broken. I can cut off the legs of your table and attach them to mine." "How much?" Rummins asked. "Not much, I’m afraid. This is just a reproduction," said Mr. Boggis. "So how much?" "Ten pounds." "Ten? It’s worth more than that." "How about fifteen?" "Make it fifty." "Well, thirty. This is my final offer." "OK, it’s yours, but how are you going to take it? This thing will not go in a car!" "We’ll see," Mr. Boggis said and went out to bring his car. On his way to the car, Mr. Boggis couldn’t help smiling. The table was what every dealer dreamed of. He couldn’t believe his luck. "Dad, what if this thing doesn’t go in his car? He might not pay you," said Bert. Rummins then had an idea. "</a:t>
            </a:r>
            <a:r>
              <a:rPr lang="en-US" altLang="ko-KR" sz="1300" b="0" dirty="0">
                <a:solidFill>
                  <a:srgbClr val="111111"/>
                </a:solidFill>
                <a:highlight>
                  <a:srgbClr val="FFE45C"/>
                </a:highlight>
                <a:latin typeface="Calibri"/>
                <a:ea typeface="맑은 고딕"/>
                <a:cs typeface="Calibri"/>
              </a:rPr>
              <a:t>What he wants is only the legs</a:t>
            </a:r>
            <a:r>
              <a:rPr lang="en-US" altLang="ko-KR" sz="1300" b="0" dirty="0">
                <a:solidFill>
                  <a:srgbClr val="B3BAC6"/>
                </a:solidFill>
                <a:latin typeface="Calibri"/>
                <a:ea typeface="맑은 고딕"/>
                <a:cs typeface="Calibri"/>
              </a:rPr>
              <a:t>. Let’s cut the legs off for him," said Rummins. "Great idea!" said Bert. Bert then took out a saw and began to cut off the legs. </a:t>
            </a:r>
            <a:r>
              <a:rPr lang="en-US" altLang="ko-KR" sz="1300" b="0" dirty="0">
                <a:solidFill>
                  <a:srgbClr val="111111"/>
                </a:solidFill>
                <a:highlight>
                  <a:srgbClr val="FFE45C"/>
                </a:highlight>
                <a:latin typeface="Calibri"/>
                <a:ea typeface="맑은 고딕"/>
                <a:cs typeface="Calibri"/>
              </a:rPr>
              <a:t>When Mr. Boggis came back, the legs had been cut off.</a:t>
            </a:r>
            <a:r>
              <a:rPr lang="en-US" altLang="ko-KR" sz="1300" b="0" dirty="0">
                <a:solidFill>
                  <a:srgbClr val="B3BAC6"/>
                </a:solidFill>
                <a:latin typeface="Calibri"/>
                <a:ea typeface="맑은 고딕"/>
                <a:cs typeface="Calibri"/>
              </a:rPr>
              <a:t> "Don’t worry, this was a favor. I won’t charge you for this," said Rummins. Mr. Boggis was so shocked that he couldn’t say anything.</a:t>
            </a:r>
            <a:endParaRPr lang="en-US" altLang="ko-KR" sz="1300" b="0" dirty="0">
              <a:solidFill>
                <a:srgbClr val="B3BAC6"/>
              </a:solidFill>
              <a:latin typeface="Calibri"/>
              <a:ea typeface="맑은 고딕"/>
              <a:cs typeface="Calibri"/>
            </a:endParaRPr>
          </a:p>
        </p:txBody>
      </p:sp>
      <p:sp>
        <p:nvSpPr>
          <p:cNvPr id="11" name="choice_1"/>
          <p:cNvSpPr txBox="1"/>
          <p:nvPr/>
        </p:nvSpPr>
        <p:spPr>
          <a:xfrm>
            <a:off x="457200" y="3303270"/>
            <a:ext cx="11277295" cy="352044"/>
          </a:xfrm>
          <a:prstGeom prst="rect">
            <a:avLst/>
          </a:prstGeom>
          <a:noFill/>
        </p:spPr>
        <p:txBody>
          <a:bodyPr wrap="square" lIns="137160" tIns="27432" rIns="137160" bIns="27432" anchor="t" rtlCol="0">
            <a:noAutofit/>
          </a:bodyPr>
          <a:lstStyle/>
          <a:p>
            <a:pPr algn="l" marL="335280" indent="-335280">
              <a:lnSpc>
                <a:spcPts val="2340"/>
              </a:lnSpc>
              <a:spcBef>
                <a:spcPts val="0"/>
              </a:spcBef>
              <a:spcAft>
                <a:spcPts val="0"/>
              </a:spcAft>
              <a:buNone/>
              <a:tabLst>
                <a:tab pos="335280" algn="l"/>
              </a:tabLst>
            </a:pPr>
            <a:r>
              <a:rPr lang="ko-KR" altLang="en-US" sz="1650" b="1" dirty="0">
                <a:solidFill>
                  <a:srgbClr val="1E2A5A"/>
                </a:solidFill>
                <a:latin typeface="맑은 고딕"/>
                <a:ea typeface="맑은 고딕"/>
                <a:cs typeface="맑은 고딕"/>
              </a:rPr>
              <a:t>①</a:t>
            </a:r>
            <a:r>
              <a:rPr lang="en-US" altLang="ko-KR" sz="1650" b="0" dirty="0">
                <a:solidFill>
                  <a:srgbClr val="1F2328"/>
                </a:solidFill>
                <a:latin typeface="Calibri"/>
                <a:ea typeface="맑은 고딕"/>
                <a:cs typeface="Calibri"/>
              </a:rPr>
              <a:t>	A Generous Gift from Mr. Boggis</a:t>
            </a:r>
            <a:endParaRPr lang="en-US" altLang="ko-KR" sz="1650" b="0" dirty="0">
              <a:solidFill>
                <a:srgbClr val="1F2328"/>
              </a:solidFill>
              <a:latin typeface="Calibri"/>
              <a:ea typeface="맑은 고딕"/>
              <a:cs typeface="Calibri"/>
            </a:endParaRPr>
          </a:p>
        </p:txBody>
      </p:sp>
      <p:sp>
        <p:nvSpPr>
          <p:cNvPr id="12" name="choice_2"/>
          <p:cNvSpPr txBox="1"/>
          <p:nvPr/>
        </p:nvSpPr>
        <p:spPr>
          <a:xfrm>
            <a:off x="457200" y="3682746"/>
            <a:ext cx="11277295" cy="352044"/>
          </a:xfrm>
          <a:prstGeom prst="rect">
            <a:avLst/>
          </a:prstGeom>
          <a:noFill/>
        </p:spPr>
        <p:txBody>
          <a:bodyPr wrap="square" lIns="137160" tIns="27432" rIns="137160" bIns="27432" anchor="t" rtlCol="0">
            <a:noAutofit/>
          </a:bodyPr>
          <a:lstStyle/>
          <a:p>
            <a:pPr algn="l" marL="335280" indent="-335280">
              <a:lnSpc>
                <a:spcPts val="2340"/>
              </a:lnSpc>
              <a:spcBef>
                <a:spcPts val="0"/>
              </a:spcBef>
              <a:spcAft>
                <a:spcPts val="0"/>
              </a:spcAft>
              <a:buNone/>
              <a:tabLst>
                <a:tab pos="335280" algn="l"/>
              </a:tabLst>
            </a:pPr>
            <a:r>
              <a:rPr lang="ko-KR" altLang="en-US" sz="1650" b="1" dirty="0">
                <a:solidFill>
                  <a:srgbClr val="1E2A5A"/>
                </a:solidFill>
                <a:latin typeface="맑은 고딕"/>
                <a:ea typeface="맑은 고딕"/>
                <a:cs typeface="맑은 고딕"/>
              </a:rPr>
              <a:t>②</a:t>
            </a:r>
            <a:r>
              <a:rPr lang="en-US" altLang="ko-KR" sz="1650" b="0" dirty="0">
                <a:solidFill>
                  <a:srgbClr val="1F2328"/>
                </a:solidFill>
                <a:latin typeface="Calibri"/>
                <a:ea typeface="맑은 고딕"/>
                <a:cs typeface="Calibri"/>
              </a:rPr>
              <a:t>	How to Fit Furniture into a Car</a:t>
            </a:r>
            <a:endParaRPr lang="en-US" altLang="ko-KR" sz="1650" b="0" dirty="0">
              <a:solidFill>
                <a:srgbClr val="1F2328"/>
              </a:solidFill>
              <a:latin typeface="Calibri"/>
              <a:ea typeface="맑은 고딕"/>
              <a:cs typeface="Calibri"/>
            </a:endParaRPr>
          </a:p>
        </p:txBody>
      </p:sp>
      <p:sp>
        <p:nvSpPr>
          <p:cNvPr id="13" name="choice_3"/>
          <p:cNvSpPr txBox="1"/>
          <p:nvPr/>
        </p:nvSpPr>
        <p:spPr>
          <a:xfrm>
            <a:off x="457200" y="4062222"/>
            <a:ext cx="11277295" cy="352044"/>
          </a:xfrm>
          <a:prstGeom prst="rect">
            <a:avLst/>
          </a:prstGeom>
          <a:noFill/>
        </p:spPr>
        <p:txBody>
          <a:bodyPr wrap="square" lIns="137160" tIns="27432" rIns="137160" bIns="27432" anchor="t" rtlCol="0">
            <a:noAutofit/>
          </a:bodyPr>
          <a:lstStyle/>
          <a:p>
            <a:pPr algn="l" marL="335280" indent="-335280">
              <a:lnSpc>
                <a:spcPts val="2340"/>
              </a:lnSpc>
              <a:spcBef>
                <a:spcPts val="0"/>
              </a:spcBef>
              <a:spcAft>
                <a:spcPts val="0"/>
              </a:spcAft>
              <a:buNone/>
              <a:tabLst>
                <a:tab pos="335280" algn="l"/>
              </a:tabLst>
            </a:pPr>
            <a:r>
              <a:rPr lang="ko-KR" altLang="en-US" sz="1650" b="1" dirty="0">
                <a:solidFill>
                  <a:srgbClr val="1E2A5A"/>
                </a:solidFill>
                <a:latin typeface="맑은 고딕"/>
                <a:ea typeface="맑은 고딕"/>
                <a:cs typeface="맑은 고딕"/>
              </a:rPr>
              <a:t>③</a:t>
            </a:r>
            <a:r>
              <a:rPr lang="en-US" altLang="ko-KR" sz="1650" b="0" dirty="0">
                <a:solidFill>
                  <a:srgbClr val="1F2328"/>
                </a:solidFill>
                <a:latin typeface="Calibri"/>
                <a:ea typeface="맑은 고딕"/>
                <a:cs typeface="Calibri"/>
              </a:rPr>
              <a:t>	The Best Way to Repair Old Tables</a:t>
            </a:r>
            <a:endParaRPr lang="en-US" altLang="ko-KR" sz="1650" b="0" dirty="0">
              <a:solidFill>
                <a:srgbClr val="1F2328"/>
              </a:solidFill>
              <a:latin typeface="Calibri"/>
              <a:ea typeface="맑은 고딕"/>
              <a:cs typeface="Calibri"/>
            </a:endParaRPr>
          </a:p>
        </p:txBody>
      </p:sp>
      <p:sp>
        <p:nvSpPr>
          <p:cNvPr id="14" name="choice_4"/>
          <p:cNvSpPr txBox="1"/>
          <p:nvPr/>
        </p:nvSpPr>
        <p:spPr>
          <a:xfrm>
            <a:off x="457200" y="4441698"/>
            <a:ext cx="11277295" cy="352044"/>
          </a:xfrm>
          <a:prstGeom prst="rect">
            <a:avLst/>
          </a:prstGeom>
          <a:noFill/>
        </p:spPr>
        <p:txBody>
          <a:bodyPr wrap="square" lIns="137160" tIns="27432" rIns="137160" bIns="27432" anchor="t" rtlCol="0">
            <a:noAutofit/>
          </a:bodyPr>
          <a:lstStyle/>
          <a:p>
            <a:pPr algn="l" marL="335280" indent="-335280">
              <a:lnSpc>
                <a:spcPts val="2340"/>
              </a:lnSpc>
              <a:spcBef>
                <a:spcPts val="0"/>
              </a:spcBef>
              <a:spcAft>
                <a:spcPts val="0"/>
              </a:spcAft>
              <a:buNone/>
              <a:tabLst>
                <a:tab pos="335280" algn="l"/>
              </a:tabLst>
            </a:pPr>
            <a:r>
              <a:rPr lang="ko-KR" altLang="en-US" sz="1650" b="1" dirty="0">
                <a:solidFill>
                  <a:srgbClr val="1E2A5A"/>
                </a:solidFill>
                <a:latin typeface="맑은 고딕"/>
                <a:ea typeface="맑은 고딕"/>
                <a:cs typeface="맑은 고딕"/>
              </a:rPr>
              <a:t>④</a:t>
            </a:r>
            <a:r>
              <a:rPr lang="en-US" altLang="ko-KR" sz="1650" b="0" dirty="0">
                <a:solidFill>
                  <a:srgbClr val="1F2328"/>
                </a:solidFill>
                <a:latin typeface="Calibri"/>
                <a:ea typeface="맑은 고딕"/>
                <a:cs typeface="Calibri"/>
              </a:rPr>
              <a:t>	A Lie That Cut Off His Own Luck</a:t>
            </a:r>
            <a:endParaRPr lang="en-US" altLang="ko-KR" sz="1650" b="0" dirty="0">
              <a:solidFill>
                <a:srgbClr val="1F2328"/>
              </a:solidFill>
              <a:latin typeface="Calibri"/>
              <a:ea typeface="맑은 고딕"/>
              <a:cs typeface="Calibri"/>
            </a:endParaRPr>
          </a:p>
        </p:txBody>
      </p:sp>
      <p:sp>
        <p:nvSpPr>
          <p:cNvPr id="15" name="rv_pick"/>
          <p:cNvSpPr txBox="1"/>
          <p:nvPr/>
        </p:nvSpPr>
        <p:spPr>
          <a:xfrm>
            <a:off x="457200" y="4441698"/>
            <a:ext cx="11277295" cy="352044"/>
          </a:xfrm>
          <a:prstGeom prst="rect">
            <a:avLst/>
          </a:prstGeom>
          <a:solidFill>
            <a:srgbClr val="FFF3C4"/>
          </a:solidFill>
        </p:spPr>
        <p:txBody>
          <a:bodyPr wrap="square" lIns="137160" tIns="27432" rIns="137160" bIns="27432" anchor="t" rtlCol="0">
            <a:noAutofit/>
          </a:bodyPr>
          <a:lstStyle/>
          <a:p>
            <a:pPr algn="l" marL="335280" indent="-335280">
              <a:lnSpc>
                <a:spcPts val="2340"/>
              </a:lnSpc>
              <a:spcBef>
                <a:spcPts val="0"/>
              </a:spcBef>
              <a:spcAft>
                <a:spcPts val="0"/>
              </a:spcAft>
              <a:buNone/>
              <a:tabLst>
                <a:tab pos="335280" algn="l"/>
              </a:tabLst>
            </a:pPr>
            <a:r>
              <a:rPr lang="ko-KR" altLang="en-US" sz="1650" b="1" dirty="0">
                <a:solidFill>
                  <a:srgbClr val="C00000"/>
                </a:solidFill>
                <a:latin typeface="맑은 고딕"/>
                <a:ea typeface="맑은 고딕"/>
                <a:cs typeface="맑은 고딕"/>
              </a:rPr>
              <a:t>④</a:t>
            </a:r>
            <a:r>
              <a:rPr lang="en-US" altLang="ko-KR" sz="1650" b="0" dirty="0">
                <a:solidFill>
                  <a:srgbClr val="C00000"/>
                </a:solidFill>
                <a:latin typeface="Calibri"/>
                <a:ea typeface="맑은 고딕"/>
                <a:cs typeface="Calibri"/>
              </a:rPr>
              <a:t>	A Lie That Cut Off His Own Luck</a:t>
            </a:r>
            <a:endParaRPr lang="en-US" altLang="ko-KR" sz="1650" b="0" dirty="0">
              <a:solidFill>
                <a:srgbClr val="C00000"/>
              </a:solidFill>
              <a:latin typeface="Calibri"/>
              <a:ea typeface="맑은 고딕"/>
              <a:cs typeface="Calibri"/>
            </a:endParaRPr>
          </a:p>
        </p:txBody>
      </p:sp>
      <p:sp>
        <p:nvSpPr>
          <p:cNvPr id="16" name="choice_5"/>
          <p:cNvSpPr txBox="1"/>
          <p:nvPr/>
        </p:nvSpPr>
        <p:spPr>
          <a:xfrm>
            <a:off x="457200" y="4821174"/>
            <a:ext cx="11277295" cy="352044"/>
          </a:xfrm>
          <a:prstGeom prst="rect">
            <a:avLst/>
          </a:prstGeom>
          <a:noFill/>
        </p:spPr>
        <p:txBody>
          <a:bodyPr wrap="square" lIns="137160" tIns="27432" rIns="137160" bIns="27432" anchor="t" rtlCol="0">
            <a:noAutofit/>
          </a:bodyPr>
          <a:lstStyle/>
          <a:p>
            <a:pPr algn="l" marL="335280" indent="-335280">
              <a:lnSpc>
                <a:spcPts val="2340"/>
              </a:lnSpc>
              <a:spcBef>
                <a:spcPts val="0"/>
              </a:spcBef>
              <a:spcAft>
                <a:spcPts val="0"/>
              </a:spcAft>
              <a:buNone/>
              <a:tabLst>
                <a:tab pos="335280" algn="l"/>
              </a:tabLst>
            </a:pPr>
            <a:r>
              <a:rPr lang="ko-KR" altLang="en-US" sz="1650" b="1" dirty="0">
                <a:solidFill>
                  <a:srgbClr val="1E2A5A"/>
                </a:solidFill>
                <a:latin typeface="맑은 고딕"/>
                <a:ea typeface="맑은 고딕"/>
                <a:cs typeface="맑은 고딕"/>
              </a:rPr>
              <a:t>⑤</a:t>
            </a:r>
            <a:r>
              <a:rPr lang="en-US" altLang="ko-KR" sz="1650" b="0" dirty="0">
                <a:solidFill>
                  <a:srgbClr val="1F2328"/>
                </a:solidFill>
                <a:latin typeface="Calibri"/>
                <a:ea typeface="맑은 고딕"/>
                <a:cs typeface="Calibri"/>
              </a:rPr>
              <a:t>	Rummins Sells His Table for Fifty</a:t>
            </a:r>
            <a:endParaRPr lang="en-US" altLang="ko-KR" sz="1650" b="0" dirty="0">
              <a:solidFill>
                <a:srgbClr val="1F2328"/>
              </a:solidFill>
              <a:latin typeface="Calibri"/>
              <a:ea typeface="맑은 고딕"/>
              <a:cs typeface="Calibri"/>
            </a:endParaRPr>
          </a:p>
        </p:txBody>
      </p:sp>
      <p:sp>
        <p:nvSpPr>
          <p:cNvPr id="17" name="rv_answer"/>
          <p:cNvSpPr/>
          <p:nvPr/>
        </p:nvSpPr>
        <p:spPr>
          <a:xfrm>
            <a:off x="457200" y="528294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④ </a:t>
            </a:r>
            <a:r>
              <a:rPr lang="en-US" altLang="ko-KR" sz="1900" b="1" dirty="0">
                <a:solidFill>
                  <a:srgbClr val="5A4200"/>
                </a:solidFill>
                <a:latin typeface="Calibri"/>
                <a:ea typeface="맑은 고딕"/>
                <a:cs typeface="Calibri"/>
              </a:rPr>
              <a:t>A Lie That Cut Off His Own Luck</a:t>
            </a:r>
            <a:endParaRPr lang="en-US" altLang="ko-KR" sz="1900" b="1" dirty="0">
              <a:solidFill>
                <a:srgbClr val="5A4200"/>
              </a:solidFill>
              <a:latin typeface="Calibri"/>
              <a:ea typeface="맑은 고딕"/>
              <a:cs typeface="Calibri"/>
            </a:endParaRPr>
          </a:p>
        </p:txBody>
      </p:sp>
      <p:sp>
        <p:nvSpPr>
          <p:cNvPr id="18" name="rv_why"/>
          <p:cNvSpPr/>
          <p:nvPr/>
        </p:nvSpPr>
        <p:spPr>
          <a:xfrm>
            <a:off x="457200" y="5881878"/>
            <a:ext cx="11277295" cy="53720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340"/>
              </a:lnSpc>
              <a:spcBef>
                <a:spcPts val="0"/>
              </a:spcBef>
              <a:spcAft>
                <a:spcPts val="0"/>
              </a:spcAft>
              <a:buNone/>
            </a:pPr>
            <a:r>
              <a:rPr lang="ko-KR" altLang="en-US" sz="1650" b="1" dirty="0">
                <a:solidFill>
                  <a:srgbClr val="1E2A5A"/>
                </a:solidFill>
                <a:latin typeface="맑은 고딕"/>
                <a:ea typeface="맑은 고딕"/>
                <a:cs typeface="맑은 고딕"/>
              </a:rPr>
              <a:t>정답 원리   </a:t>
            </a:r>
            <a:r>
              <a:rPr lang="ko-KR" altLang="en-US" sz="1650" b="0" dirty="0">
                <a:solidFill>
                  <a:srgbClr val="16284A"/>
                </a:solidFill>
                <a:latin typeface="맑은 고딕"/>
                <a:ea typeface="맑은 고딕"/>
                <a:cs typeface="맑은 고딕"/>
              </a:rPr>
              <a:t>Boggis의 거짓말대로 다리를 잘라 주어 그의 행운이 잘려 나갔다. ④가 제목이다.</a:t>
            </a:r>
            <a:endParaRPr lang="ko-KR" altLang="en-US" sz="165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250"/>
                                        <p:tgtEl>
                                          <p:spTgt spid="1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25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25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7" grpId="0" animBg="1"/>
      <p:bldP spid="9" grpId="0" animBg="1"/>
      <p:bldP spid="10" grpId="0" animBg="1"/>
      <p:bldP spid="18" grpId="0" animBg="1"/>
    </p:bldLst>
  </p:timing>
</p:sld>
</file>

<file path=ppt/slides/slide1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L6-3</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1 · 3</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3. 다음 글에서 필자가 주장하는 바로 가장 적절한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6</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본문 근거 형광 + 정답 원리</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220598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2205989"/>
          </a:xfrm>
          <a:prstGeom prst="rect">
            <a:avLst/>
          </a:prstGeom>
          <a:noFill/>
        </p:spPr>
        <p:txBody>
          <a:bodyPr wrap="square" lIns="201168" tIns="118872" rIns="201168" bIns="118872" anchor="t" rtlCol="0">
            <a:noAutofit/>
          </a:bodyPr>
          <a:lstStyle/>
          <a:p>
            <a:pPr algn="just">
              <a:lnSpc>
                <a:spcPts val="1690"/>
              </a:lnSpc>
              <a:spcBef>
                <a:spcPts val="0"/>
              </a:spcBef>
              <a:spcAft>
                <a:spcPts val="0"/>
              </a:spcAft>
              <a:buNone/>
            </a:pPr>
            <a:r>
              <a:rPr lang="en-US" altLang="ko-KR" sz="1300" b="0" dirty="0">
                <a:solidFill>
                  <a:srgbClr val="1F2328"/>
                </a:solidFill>
                <a:latin typeface="Calibri"/>
                <a:ea typeface="맑은 고딕"/>
                <a:cs typeface="Calibri"/>
              </a:rPr>
              <a:t>He then added, "Hmm, I think I may buy it. The legs of my table at home are broken. I can cut off the legs of your table and attach them to mine." "How much?" Rummins asked. "Not much, I’m afraid. This is just a reproduction," said Mr. Boggis. "So how much?" "Ten pounds." "Ten? It’s worth more than that." "How about fifteen?" "Make it fifty." "Well, thirty. This is my final offer." "OK, it’s yours, but how are you going to take it? This thing will not go in a car!" "We’ll see," Mr. Boggis said and went out to bring his car. On his way to the car, Mr. Boggis couldn’t help smiling. The table was what every dealer dreamed of. He couldn’t believe his luck. "Dad, what if this thing doesn’t go in his car? He might not pay you," said Bert. Rummins then had an idea. "What he wants is only the legs. Let’s cut the legs off for him," said Rummins. "Great idea!" said Bert. Bert then took out a saw and began to cut off the legs. When Mr. Boggis came back, the legs had been cut off. "Don’t worry, this was a favor. I won’t charge you for this," said Rummins. </a:t>
            </a:r>
            <a:r>
              <a:rPr lang="en-US" altLang="ko-KR" sz="1300" b="0" dirty="0">
                <a:solidFill>
                  <a:srgbClr val="1F2328"/>
                </a:solidFill>
                <a:latin typeface="Calibri"/>
                <a:ea typeface="맑은 고딕"/>
                <a:cs typeface="Calibri"/>
              </a:rPr>
              <a:t>Mr. Boggis was so shocked that he couldn’t say anything.</a:t>
            </a:r>
            <a:endParaRPr lang="en-US" altLang="ko-KR" sz="1300" b="0" dirty="0">
              <a:solidFill>
                <a:srgbClr val="1F2328"/>
              </a:solidFill>
              <a:latin typeface="Calibri"/>
              <a:ea typeface="맑은 고딕"/>
              <a:cs typeface="Calibri"/>
            </a:endParaRPr>
          </a:p>
        </p:txBody>
      </p:sp>
      <p:sp>
        <p:nvSpPr>
          <p:cNvPr id="9" name="rv_evidence_card"/>
          <p:cNvSpPr/>
          <p:nvPr/>
        </p:nvSpPr>
        <p:spPr>
          <a:xfrm>
            <a:off x="457200" y="950976"/>
            <a:ext cx="11277295" cy="220598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rv_evidence"/>
          <p:cNvSpPr txBox="1"/>
          <p:nvPr/>
        </p:nvSpPr>
        <p:spPr>
          <a:xfrm>
            <a:off x="457200" y="950976"/>
            <a:ext cx="11277295" cy="2205989"/>
          </a:xfrm>
          <a:prstGeom prst="rect">
            <a:avLst/>
          </a:prstGeom>
          <a:noFill/>
        </p:spPr>
        <p:txBody>
          <a:bodyPr wrap="square" lIns="201168" tIns="118872" rIns="201168" bIns="118872" anchor="t" rtlCol="0">
            <a:noAutofit/>
          </a:bodyPr>
          <a:lstStyle/>
          <a:p>
            <a:pPr algn="just">
              <a:lnSpc>
                <a:spcPts val="1690"/>
              </a:lnSpc>
              <a:spcBef>
                <a:spcPts val="0"/>
              </a:spcBef>
              <a:spcAft>
                <a:spcPts val="0"/>
              </a:spcAft>
              <a:buNone/>
            </a:pPr>
            <a:r>
              <a:rPr lang="en-US" altLang="ko-KR" sz="1300" b="0" dirty="0">
                <a:solidFill>
                  <a:srgbClr val="B3BAC6"/>
                </a:solidFill>
                <a:latin typeface="Calibri"/>
                <a:ea typeface="맑은 고딕"/>
                <a:cs typeface="Calibri"/>
              </a:rPr>
              <a:t>He then added, "Hmm, I think I may buy it. The legs of my table at home are broken. I can cut off the legs of your table and attach them to mine." "How much?" Rummins asked. "Not much, I’m afraid. This is just a reproduction," said Mr. Boggis. "So how much?" "Ten pounds." "Ten? It’s worth more than that." "How about fifteen?" "Make it fifty." "Well, thirty. This is my final offer." "OK, it’s yours, but how are you going to take it? This thing will not go in a car!" "We’ll see," Mr. Boggis said and went out to bring his car. On his way to the car, Mr. Boggis couldn’t help smiling. The table was what every dealer dreamed of. He couldn’t believe his luck. "Dad, what if this thing doesn’t go in his car? He might not pay you," said Bert. Rummins then had an idea. "What he wants is only the legs. Let’s cut the legs off for him," said Rummins. "Great idea!" said Bert. Bert then took out a saw and began to cut off the legs. When Mr. Boggis came back, the legs had been cut off. "Don’t worry, this was a favor. I won’t charge you for this," said Rummins. </a:t>
            </a:r>
            <a:r>
              <a:rPr lang="en-US" altLang="ko-KR" sz="1300" b="0" dirty="0">
                <a:solidFill>
                  <a:srgbClr val="111111"/>
                </a:solidFill>
                <a:highlight>
                  <a:srgbClr val="FFE45C"/>
                </a:highlight>
                <a:latin typeface="Calibri"/>
                <a:ea typeface="맑은 고딕"/>
                <a:cs typeface="Calibri"/>
              </a:rPr>
              <a:t>Mr. Boggis was so shocked that he couldn’t say anything.</a:t>
            </a:r>
            <a:endParaRPr lang="en-US" altLang="ko-KR" sz="1300" b="0" dirty="0">
              <a:solidFill>
                <a:srgbClr val="111111"/>
              </a:solidFill>
              <a:latin typeface="Calibri"/>
              <a:ea typeface="맑은 고딕"/>
              <a:cs typeface="Calibri"/>
            </a:endParaRPr>
          </a:p>
        </p:txBody>
      </p:sp>
      <p:sp>
        <p:nvSpPr>
          <p:cNvPr id="11" name="choice_1"/>
          <p:cNvSpPr txBox="1"/>
          <p:nvPr/>
        </p:nvSpPr>
        <p:spPr>
          <a:xfrm>
            <a:off x="457200" y="3303270"/>
            <a:ext cx="11277295" cy="352044"/>
          </a:xfrm>
          <a:prstGeom prst="rect">
            <a:avLst/>
          </a:prstGeom>
          <a:noFill/>
        </p:spPr>
        <p:txBody>
          <a:bodyPr wrap="square" lIns="137160" tIns="27432" rIns="137160" bIns="27432" anchor="t" rtlCol="0">
            <a:noAutofit/>
          </a:bodyPr>
          <a:lstStyle/>
          <a:p>
            <a:pPr algn="l" marL="335280" indent="-335280">
              <a:lnSpc>
                <a:spcPts val="2340"/>
              </a:lnSpc>
              <a:spcBef>
                <a:spcPts val="0"/>
              </a:spcBef>
              <a:spcAft>
                <a:spcPts val="0"/>
              </a:spcAft>
              <a:buNone/>
              <a:tabLst>
                <a:tab pos="335280" algn="l"/>
              </a:tabLst>
            </a:pPr>
            <a:r>
              <a:rPr lang="ko-KR" altLang="en-US" sz="1650" b="1" dirty="0">
                <a:solidFill>
                  <a:srgbClr val="1E2A5A"/>
                </a:solidFill>
                <a:latin typeface="맑은 고딕"/>
                <a:ea typeface="맑은 고딕"/>
                <a:cs typeface="맑은 고딕"/>
              </a:rPr>
              <a:t>①</a:t>
            </a:r>
            <a:r>
              <a:rPr lang="ko-KR" altLang="en-US" sz="1650" b="0" dirty="0">
                <a:solidFill>
                  <a:srgbClr val="1F2328"/>
                </a:solidFill>
                <a:latin typeface="맑은 고딕"/>
                <a:ea typeface="맑은 고딕"/>
                <a:cs typeface="맑은 고딕"/>
              </a:rPr>
              <a:t>	가구는 운반하기 쉬운 크기로 만들어야 한다</a:t>
            </a:r>
            <a:endParaRPr lang="ko-KR" altLang="en-US" sz="1650" b="0" dirty="0">
              <a:solidFill>
                <a:srgbClr val="1F2328"/>
              </a:solidFill>
              <a:latin typeface="맑은 고딕"/>
              <a:ea typeface="맑은 고딕"/>
              <a:cs typeface="맑은 고딕"/>
            </a:endParaRPr>
          </a:p>
        </p:txBody>
      </p:sp>
      <p:sp>
        <p:nvSpPr>
          <p:cNvPr id="12" name="choice_2"/>
          <p:cNvSpPr txBox="1"/>
          <p:nvPr/>
        </p:nvSpPr>
        <p:spPr>
          <a:xfrm>
            <a:off x="457200" y="3682746"/>
            <a:ext cx="11277295" cy="352044"/>
          </a:xfrm>
          <a:prstGeom prst="rect">
            <a:avLst/>
          </a:prstGeom>
          <a:noFill/>
        </p:spPr>
        <p:txBody>
          <a:bodyPr wrap="square" lIns="137160" tIns="27432" rIns="137160" bIns="27432" anchor="t" rtlCol="0">
            <a:noAutofit/>
          </a:bodyPr>
          <a:lstStyle/>
          <a:p>
            <a:pPr algn="l" marL="335280" indent="-335280">
              <a:lnSpc>
                <a:spcPts val="2340"/>
              </a:lnSpc>
              <a:spcBef>
                <a:spcPts val="0"/>
              </a:spcBef>
              <a:spcAft>
                <a:spcPts val="0"/>
              </a:spcAft>
              <a:buNone/>
              <a:tabLst>
                <a:tab pos="335280" algn="l"/>
              </a:tabLst>
            </a:pPr>
            <a:r>
              <a:rPr lang="ko-KR" altLang="en-US" sz="1650" b="1" dirty="0">
                <a:solidFill>
                  <a:srgbClr val="1E2A5A"/>
                </a:solidFill>
                <a:latin typeface="맑은 고딕"/>
                <a:ea typeface="맑은 고딕"/>
                <a:cs typeface="맑은 고딕"/>
              </a:rPr>
              <a:t>②</a:t>
            </a:r>
            <a:r>
              <a:rPr lang="ko-KR" altLang="en-US" sz="1650" b="0" dirty="0">
                <a:solidFill>
                  <a:srgbClr val="1F2328"/>
                </a:solidFill>
                <a:latin typeface="맑은 고딕"/>
                <a:ea typeface="맑은 고딕"/>
                <a:cs typeface="맑은 고딕"/>
              </a:rPr>
              <a:t>	거래할 때는 반드시 계약서를 써야 한다</a:t>
            </a:r>
            <a:endParaRPr lang="ko-KR" altLang="en-US" sz="1650" b="0" dirty="0">
              <a:solidFill>
                <a:srgbClr val="1F2328"/>
              </a:solidFill>
              <a:latin typeface="맑은 고딕"/>
              <a:ea typeface="맑은 고딕"/>
              <a:cs typeface="맑은 고딕"/>
            </a:endParaRPr>
          </a:p>
        </p:txBody>
      </p:sp>
      <p:sp>
        <p:nvSpPr>
          <p:cNvPr id="13" name="choice_3"/>
          <p:cNvSpPr txBox="1"/>
          <p:nvPr/>
        </p:nvSpPr>
        <p:spPr>
          <a:xfrm>
            <a:off x="457200" y="4062222"/>
            <a:ext cx="11277295" cy="352044"/>
          </a:xfrm>
          <a:prstGeom prst="rect">
            <a:avLst/>
          </a:prstGeom>
          <a:noFill/>
        </p:spPr>
        <p:txBody>
          <a:bodyPr wrap="square" lIns="137160" tIns="27432" rIns="137160" bIns="27432" anchor="t" rtlCol="0">
            <a:noAutofit/>
          </a:bodyPr>
          <a:lstStyle/>
          <a:p>
            <a:pPr algn="l" marL="335280" indent="-335280">
              <a:lnSpc>
                <a:spcPts val="2340"/>
              </a:lnSpc>
              <a:spcBef>
                <a:spcPts val="0"/>
              </a:spcBef>
              <a:spcAft>
                <a:spcPts val="0"/>
              </a:spcAft>
              <a:buNone/>
              <a:tabLst>
                <a:tab pos="335280" algn="l"/>
              </a:tabLst>
            </a:pPr>
            <a:r>
              <a:rPr lang="ko-KR" altLang="en-US" sz="1650" b="1" dirty="0">
                <a:solidFill>
                  <a:srgbClr val="1E2A5A"/>
                </a:solidFill>
                <a:latin typeface="맑은 고딕"/>
                <a:ea typeface="맑은 고딕"/>
                <a:cs typeface="맑은 고딕"/>
              </a:rPr>
              <a:t>③</a:t>
            </a:r>
            <a:r>
              <a:rPr lang="ko-KR" altLang="en-US" sz="1650" b="0" dirty="0">
                <a:solidFill>
                  <a:srgbClr val="1F2328"/>
                </a:solidFill>
                <a:latin typeface="맑은 고딕"/>
                <a:ea typeface="맑은 고딕"/>
                <a:cs typeface="맑은 고딕"/>
              </a:rPr>
              <a:t>	부탁받지 않은 일은 하지 않아야 한다</a:t>
            </a:r>
            <a:endParaRPr lang="ko-KR" altLang="en-US" sz="1650" b="0" dirty="0">
              <a:solidFill>
                <a:srgbClr val="1F2328"/>
              </a:solidFill>
              <a:latin typeface="맑은 고딕"/>
              <a:ea typeface="맑은 고딕"/>
              <a:cs typeface="맑은 고딕"/>
            </a:endParaRPr>
          </a:p>
        </p:txBody>
      </p:sp>
      <p:sp>
        <p:nvSpPr>
          <p:cNvPr id="14" name="choice_4"/>
          <p:cNvSpPr txBox="1"/>
          <p:nvPr/>
        </p:nvSpPr>
        <p:spPr>
          <a:xfrm>
            <a:off x="457200" y="4441698"/>
            <a:ext cx="11277295" cy="352044"/>
          </a:xfrm>
          <a:prstGeom prst="rect">
            <a:avLst/>
          </a:prstGeom>
          <a:noFill/>
        </p:spPr>
        <p:txBody>
          <a:bodyPr wrap="square" lIns="137160" tIns="27432" rIns="137160" bIns="27432" anchor="t" rtlCol="0">
            <a:noAutofit/>
          </a:bodyPr>
          <a:lstStyle/>
          <a:p>
            <a:pPr algn="l" marL="335280" indent="-335280">
              <a:lnSpc>
                <a:spcPts val="2340"/>
              </a:lnSpc>
              <a:spcBef>
                <a:spcPts val="0"/>
              </a:spcBef>
              <a:spcAft>
                <a:spcPts val="0"/>
              </a:spcAft>
              <a:buNone/>
              <a:tabLst>
                <a:tab pos="335280" algn="l"/>
              </a:tabLst>
            </a:pPr>
            <a:r>
              <a:rPr lang="ko-KR" altLang="en-US" sz="1650" b="1" dirty="0">
                <a:solidFill>
                  <a:srgbClr val="1E2A5A"/>
                </a:solidFill>
                <a:latin typeface="맑은 고딕"/>
                <a:ea typeface="맑은 고딕"/>
                <a:cs typeface="맑은 고딕"/>
              </a:rPr>
              <a:t>④</a:t>
            </a:r>
            <a:r>
              <a:rPr lang="ko-KR" altLang="en-US" sz="1650" b="0" dirty="0">
                <a:solidFill>
                  <a:srgbClr val="1F2328"/>
                </a:solidFill>
                <a:latin typeface="맑은 고딕"/>
                <a:ea typeface="맑은 고딕"/>
                <a:cs typeface="맑은 고딕"/>
              </a:rPr>
              <a:t>	물건값은 처음 제시한 대로 지켜야 한다</a:t>
            </a:r>
            <a:endParaRPr lang="ko-KR" altLang="en-US" sz="1650" b="0" dirty="0">
              <a:solidFill>
                <a:srgbClr val="1F2328"/>
              </a:solidFill>
              <a:latin typeface="맑은 고딕"/>
              <a:ea typeface="맑은 고딕"/>
              <a:cs typeface="맑은 고딕"/>
            </a:endParaRPr>
          </a:p>
        </p:txBody>
      </p:sp>
      <p:sp>
        <p:nvSpPr>
          <p:cNvPr id="15" name="choice_5"/>
          <p:cNvSpPr txBox="1"/>
          <p:nvPr/>
        </p:nvSpPr>
        <p:spPr>
          <a:xfrm>
            <a:off x="457200" y="4821174"/>
            <a:ext cx="11277295" cy="352044"/>
          </a:xfrm>
          <a:prstGeom prst="rect">
            <a:avLst/>
          </a:prstGeom>
          <a:noFill/>
        </p:spPr>
        <p:txBody>
          <a:bodyPr wrap="square" lIns="137160" tIns="27432" rIns="137160" bIns="27432" anchor="t" rtlCol="0">
            <a:noAutofit/>
          </a:bodyPr>
          <a:lstStyle/>
          <a:p>
            <a:pPr algn="l" marL="335280" indent="-335280">
              <a:lnSpc>
                <a:spcPts val="2340"/>
              </a:lnSpc>
              <a:spcBef>
                <a:spcPts val="0"/>
              </a:spcBef>
              <a:spcAft>
                <a:spcPts val="0"/>
              </a:spcAft>
              <a:buNone/>
              <a:tabLst>
                <a:tab pos="335280" algn="l"/>
              </a:tabLst>
            </a:pPr>
            <a:r>
              <a:rPr lang="ko-KR" altLang="en-US" sz="1650" b="1" dirty="0">
                <a:solidFill>
                  <a:srgbClr val="1E2A5A"/>
                </a:solidFill>
                <a:latin typeface="맑은 고딕"/>
                <a:ea typeface="맑은 고딕"/>
                <a:cs typeface="맑은 고딕"/>
              </a:rPr>
              <a:t>⑤</a:t>
            </a:r>
            <a:r>
              <a:rPr lang="ko-KR" altLang="en-US" sz="1650" b="0" dirty="0">
                <a:solidFill>
                  <a:srgbClr val="1F2328"/>
                </a:solidFill>
                <a:latin typeface="맑은 고딕"/>
                <a:ea typeface="맑은 고딕"/>
                <a:cs typeface="맑은 고딕"/>
              </a:rPr>
              <a:t>	거짓말은 결국 자신에게 해가 될 수 있다</a:t>
            </a:r>
            <a:endParaRPr lang="ko-KR" altLang="en-US" sz="1650" b="0" dirty="0">
              <a:solidFill>
                <a:srgbClr val="1F2328"/>
              </a:solidFill>
              <a:latin typeface="맑은 고딕"/>
              <a:ea typeface="맑은 고딕"/>
              <a:cs typeface="맑은 고딕"/>
            </a:endParaRPr>
          </a:p>
        </p:txBody>
      </p:sp>
      <p:sp>
        <p:nvSpPr>
          <p:cNvPr id="16" name="rv_pick"/>
          <p:cNvSpPr txBox="1"/>
          <p:nvPr/>
        </p:nvSpPr>
        <p:spPr>
          <a:xfrm>
            <a:off x="457200" y="4821174"/>
            <a:ext cx="11277295" cy="352044"/>
          </a:xfrm>
          <a:prstGeom prst="rect">
            <a:avLst/>
          </a:prstGeom>
          <a:solidFill>
            <a:srgbClr val="FFF3C4"/>
          </a:solidFill>
        </p:spPr>
        <p:txBody>
          <a:bodyPr wrap="square" lIns="137160" tIns="27432" rIns="137160" bIns="27432" anchor="t" rtlCol="0">
            <a:noAutofit/>
          </a:bodyPr>
          <a:lstStyle/>
          <a:p>
            <a:pPr algn="l" marL="335280" indent="-335280">
              <a:lnSpc>
                <a:spcPts val="2340"/>
              </a:lnSpc>
              <a:spcBef>
                <a:spcPts val="0"/>
              </a:spcBef>
              <a:spcAft>
                <a:spcPts val="0"/>
              </a:spcAft>
              <a:buNone/>
              <a:tabLst>
                <a:tab pos="335280" algn="l"/>
              </a:tabLst>
            </a:pPr>
            <a:r>
              <a:rPr lang="ko-KR" altLang="en-US" sz="1650" b="1" dirty="0">
                <a:solidFill>
                  <a:srgbClr val="C00000"/>
                </a:solidFill>
                <a:latin typeface="맑은 고딕"/>
                <a:ea typeface="맑은 고딕"/>
                <a:cs typeface="맑은 고딕"/>
              </a:rPr>
              <a:t>⑤</a:t>
            </a:r>
            <a:r>
              <a:rPr lang="ko-KR" altLang="en-US" sz="1650" b="0" dirty="0">
                <a:solidFill>
                  <a:srgbClr val="C00000"/>
                </a:solidFill>
                <a:latin typeface="맑은 고딕"/>
                <a:ea typeface="맑은 고딕"/>
                <a:cs typeface="맑은 고딕"/>
              </a:rPr>
              <a:t>	거짓말은 결국 자신에게 해가 될 수 있다</a:t>
            </a:r>
            <a:endParaRPr lang="ko-KR" altLang="en-US" sz="1650" b="0" dirty="0">
              <a:solidFill>
                <a:srgbClr val="C00000"/>
              </a:solidFill>
              <a:latin typeface="맑은 고딕"/>
              <a:ea typeface="맑은 고딕"/>
              <a:cs typeface="맑은 고딕"/>
            </a:endParaRPr>
          </a:p>
        </p:txBody>
      </p:sp>
      <p:sp>
        <p:nvSpPr>
          <p:cNvPr id="17" name="rv_answer"/>
          <p:cNvSpPr/>
          <p:nvPr/>
        </p:nvSpPr>
        <p:spPr>
          <a:xfrm>
            <a:off x="457200" y="528294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⑤ </a:t>
            </a:r>
            <a:r>
              <a:rPr lang="ko-KR" altLang="en-US" sz="1900" b="1" dirty="0">
                <a:solidFill>
                  <a:srgbClr val="5A4200"/>
                </a:solidFill>
                <a:latin typeface="맑은 고딕"/>
                <a:ea typeface="맑은 고딕"/>
                <a:cs typeface="맑은 고딕"/>
              </a:rPr>
              <a:t>거짓말은 결국 자신에게 해가 될 수 있다</a:t>
            </a:r>
            <a:endParaRPr lang="ko-KR" altLang="en-US" sz="1900" b="1" dirty="0">
              <a:solidFill>
                <a:srgbClr val="5A4200"/>
              </a:solidFill>
              <a:latin typeface="맑은 고딕"/>
              <a:ea typeface="맑은 고딕"/>
              <a:cs typeface="맑은 고딕"/>
            </a:endParaRPr>
          </a:p>
        </p:txBody>
      </p:sp>
      <p:sp>
        <p:nvSpPr>
          <p:cNvPr id="18" name="rv_why"/>
          <p:cNvSpPr/>
          <p:nvPr/>
        </p:nvSpPr>
        <p:spPr>
          <a:xfrm>
            <a:off x="457200" y="5881878"/>
            <a:ext cx="11277295" cy="53720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340"/>
              </a:lnSpc>
              <a:spcBef>
                <a:spcPts val="0"/>
              </a:spcBef>
              <a:spcAft>
                <a:spcPts val="0"/>
              </a:spcAft>
              <a:buNone/>
            </a:pPr>
            <a:r>
              <a:rPr lang="ko-KR" altLang="en-US" sz="1650" b="1" dirty="0">
                <a:solidFill>
                  <a:srgbClr val="1E2A5A"/>
                </a:solidFill>
                <a:latin typeface="맑은 고딕"/>
                <a:ea typeface="맑은 고딕"/>
                <a:cs typeface="맑은 고딕"/>
              </a:rPr>
              <a:t>정답 원리   </a:t>
            </a:r>
            <a:r>
              <a:rPr lang="ko-KR" altLang="en-US" sz="1650" b="0" dirty="0">
                <a:solidFill>
                  <a:srgbClr val="16284A"/>
                </a:solidFill>
                <a:latin typeface="맑은 고딕"/>
                <a:ea typeface="맑은 고딕"/>
                <a:cs typeface="맑은 고딕"/>
              </a:rPr>
              <a:t>자신의 거짓말 때문에 귀한 탁자를 잃고 충격을 받았다. 거짓말이 자신에게 해가 된다는 ⑤가 주장이다.</a:t>
            </a:r>
            <a:endParaRPr lang="ko-KR" altLang="en-US" sz="165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250"/>
                                        <p:tgtEl>
                                          <p:spTgt spid="1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25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25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7" grpId="0" animBg="1"/>
      <p:bldP spid="9" grpId="0" animBg="1"/>
      <p:bldP spid="10" grpId="0" animBg="1"/>
      <p:bldP spid="18" grpId="0" animBg="1"/>
    </p:bldLst>
  </p:timing>
</p:sld>
</file>

<file path=ppt/slides/slide1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L6-3</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1 · 4</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4. 다음 글의 요지로 가장 적절한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6</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본문 근거 형광 + 정답 원리</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220598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2205989"/>
          </a:xfrm>
          <a:prstGeom prst="rect">
            <a:avLst/>
          </a:prstGeom>
          <a:noFill/>
        </p:spPr>
        <p:txBody>
          <a:bodyPr wrap="square" lIns="201168" tIns="118872" rIns="201168" bIns="118872" anchor="t" rtlCol="0">
            <a:noAutofit/>
          </a:bodyPr>
          <a:lstStyle/>
          <a:p>
            <a:pPr algn="just">
              <a:lnSpc>
                <a:spcPts val="1690"/>
              </a:lnSpc>
              <a:spcBef>
                <a:spcPts val="0"/>
              </a:spcBef>
              <a:spcAft>
                <a:spcPts val="0"/>
              </a:spcAft>
              <a:buNone/>
            </a:pPr>
            <a:r>
              <a:rPr lang="en-US" altLang="ko-KR" sz="1300" b="0" dirty="0">
                <a:solidFill>
                  <a:srgbClr val="1F2328"/>
                </a:solidFill>
                <a:latin typeface="Calibri"/>
                <a:ea typeface="맑은 고딕"/>
                <a:cs typeface="Calibri"/>
              </a:rPr>
              <a:t>He then added, "Hmm, I think I may buy it. The legs of my table at home are broken. I can cut off the legs of your table and attach them to mine." "How much?" Rummins asked. "Not much, I’m afraid. This is just a reproduction," said Mr. Boggis. "So how much?" "Ten pounds." "Ten? It’s worth more than that." "How about fifteen?" "Make it fifty." "Well, thirty. This is my final offer." "OK, it’s yours, but how are you going to take it? This thing will not go in a car!" "We’ll see," Mr. Boggis said and went out to bring his car. On his way to the car, Mr. Boggis couldn’t help smiling. The table was what every dealer dreamed of. He couldn’t believe his luck. "Dad, what if this thing doesn’t go in his car? He might not pay you," said Bert. Rummins then had an idea. "</a:t>
            </a:r>
            <a:r>
              <a:rPr lang="en-US" altLang="ko-KR" sz="1300" b="0" dirty="0">
                <a:solidFill>
                  <a:srgbClr val="1F2328"/>
                </a:solidFill>
                <a:latin typeface="Calibri"/>
                <a:ea typeface="맑은 고딕"/>
                <a:cs typeface="Calibri"/>
              </a:rPr>
              <a:t>What he wants is only the legs</a:t>
            </a:r>
            <a:r>
              <a:rPr lang="en-US" altLang="ko-KR" sz="1300" b="0" dirty="0">
                <a:solidFill>
                  <a:srgbClr val="1F2328"/>
                </a:solidFill>
                <a:latin typeface="Calibri"/>
                <a:ea typeface="맑은 고딕"/>
                <a:cs typeface="Calibri"/>
              </a:rPr>
              <a:t>. Let’s cut the legs off for him," said Rummins. "Great idea!" said Bert. Bert then took out a saw and began to cut off the legs. </a:t>
            </a:r>
            <a:r>
              <a:rPr lang="en-US" altLang="ko-KR" sz="1300" b="0" dirty="0">
                <a:solidFill>
                  <a:srgbClr val="1F2328"/>
                </a:solidFill>
                <a:latin typeface="Calibri"/>
                <a:ea typeface="맑은 고딕"/>
                <a:cs typeface="Calibri"/>
              </a:rPr>
              <a:t>When Mr. Boggis came back, the legs had been cut off.</a:t>
            </a:r>
            <a:r>
              <a:rPr lang="en-US" altLang="ko-KR" sz="1300" b="0" dirty="0">
                <a:solidFill>
                  <a:srgbClr val="1F2328"/>
                </a:solidFill>
                <a:latin typeface="Calibri"/>
                <a:ea typeface="맑은 고딕"/>
                <a:cs typeface="Calibri"/>
              </a:rPr>
              <a:t> "Don’t worry, this was a favor. I won’t charge you for this," said Rummins. Mr. Boggis was so shocked that he couldn’t say anything.</a:t>
            </a:r>
            <a:endParaRPr lang="en-US" altLang="ko-KR" sz="1300" b="0" dirty="0">
              <a:solidFill>
                <a:srgbClr val="1F2328"/>
              </a:solidFill>
              <a:latin typeface="Calibri"/>
              <a:ea typeface="맑은 고딕"/>
              <a:cs typeface="Calibri"/>
            </a:endParaRPr>
          </a:p>
        </p:txBody>
      </p:sp>
      <p:sp>
        <p:nvSpPr>
          <p:cNvPr id="9" name="rv_evidence_card"/>
          <p:cNvSpPr/>
          <p:nvPr/>
        </p:nvSpPr>
        <p:spPr>
          <a:xfrm>
            <a:off x="457200" y="950976"/>
            <a:ext cx="11277295" cy="220598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rv_evidence"/>
          <p:cNvSpPr txBox="1"/>
          <p:nvPr/>
        </p:nvSpPr>
        <p:spPr>
          <a:xfrm>
            <a:off x="457200" y="950976"/>
            <a:ext cx="11277295" cy="2205989"/>
          </a:xfrm>
          <a:prstGeom prst="rect">
            <a:avLst/>
          </a:prstGeom>
          <a:noFill/>
        </p:spPr>
        <p:txBody>
          <a:bodyPr wrap="square" lIns="201168" tIns="118872" rIns="201168" bIns="118872" anchor="t" rtlCol="0">
            <a:noAutofit/>
          </a:bodyPr>
          <a:lstStyle/>
          <a:p>
            <a:pPr algn="just">
              <a:lnSpc>
                <a:spcPts val="1690"/>
              </a:lnSpc>
              <a:spcBef>
                <a:spcPts val="0"/>
              </a:spcBef>
              <a:spcAft>
                <a:spcPts val="0"/>
              </a:spcAft>
              <a:buNone/>
            </a:pPr>
            <a:r>
              <a:rPr lang="en-US" altLang="ko-KR" sz="1300" b="0" dirty="0">
                <a:solidFill>
                  <a:srgbClr val="B3BAC6"/>
                </a:solidFill>
                <a:latin typeface="Calibri"/>
                <a:ea typeface="맑은 고딕"/>
                <a:cs typeface="Calibri"/>
              </a:rPr>
              <a:t>He then added, "Hmm, I think I may buy it. The legs of my table at home are broken. I can cut off the legs of your table and attach them to mine." "How much?" Rummins asked. "Not much, I’m afraid. This is just a reproduction," said Mr. Boggis. "So how much?" "Ten pounds." "Ten? It’s worth more than that." "How about fifteen?" "Make it fifty." "Well, thirty. This is my final offer." "OK, it’s yours, but how are you going to take it? This thing will not go in a car!" "We’ll see," Mr. Boggis said and went out to bring his car. On his way to the car, Mr. Boggis couldn’t help smiling. The table was what every dealer dreamed of. He couldn’t believe his luck. "Dad, what if this thing doesn’t go in his car? He might not pay you," said Bert. Rummins then had an idea. "</a:t>
            </a:r>
            <a:r>
              <a:rPr lang="en-US" altLang="ko-KR" sz="1300" b="0" dirty="0">
                <a:solidFill>
                  <a:srgbClr val="111111"/>
                </a:solidFill>
                <a:highlight>
                  <a:srgbClr val="FFE45C"/>
                </a:highlight>
                <a:latin typeface="Calibri"/>
                <a:ea typeface="맑은 고딕"/>
                <a:cs typeface="Calibri"/>
              </a:rPr>
              <a:t>What he wants is only the legs</a:t>
            </a:r>
            <a:r>
              <a:rPr lang="en-US" altLang="ko-KR" sz="1300" b="0" dirty="0">
                <a:solidFill>
                  <a:srgbClr val="B3BAC6"/>
                </a:solidFill>
                <a:latin typeface="Calibri"/>
                <a:ea typeface="맑은 고딕"/>
                <a:cs typeface="Calibri"/>
              </a:rPr>
              <a:t>. Let’s cut the legs off for him," said Rummins. "Great idea!" said Bert. Bert then took out a saw and began to cut off the legs. </a:t>
            </a:r>
            <a:r>
              <a:rPr lang="en-US" altLang="ko-KR" sz="1300" b="0" dirty="0">
                <a:solidFill>
                  <a:srgbClr val="111111"/>
                </a:solidFill>
                <a:highlight>
                  <a:srgbClr val="FFE45C"/>
                </a:highlight>
                <a:latin typeface="Calibri"/>
                <a:ea typeface="맑은 고딕"/>
                <a:cs typeface="Calibri"/>
              </a:rPr>
              <a:t>When Mr. Boggis came back, the legs had been cut off.</a:t>
            </a:r>
            <a:r>
              <a:rPr lang="en-US" altLang="ko-KR" sz="1300" b="0" dirty="0">
                <a:solidFill>
                  <a:srgbClr val="B3BAC6"/>
                </a:solidFill>
                <a:latin typeface="Calibri"/>
                <a:ea typeface="맑은 고딕"/>
                <a:cs typeface="Calibri"/>
              </a:rPr>
              <a:t> "Don’t worry, this was a favor. I won’t charge you for this," said Rummins. Mr. Boggis was so shocked that he couldn’t say anything.</a:t>
            </a:r>
            <a:endParaRPr lang="en-US" altLang="ko-KR" sz="1300" b="0" dirty="0">
              <a:solidFill>
                <a:srgbClr val="B3BAC6"/>
              </a:solidFill>
              <a:latin typeface="Calibri"/>
              <a:ea typeface="맑은 고딕"/>
              <a:cs typeface="Calibri"/>
            </a:endParaRPr>
          </a:p>
        </p:txBody>
      </p:sp>
      <p:sp>
        <p:nvSpPr>
          <p:cNvPr id="11" name="choice_1"/>
          <p:cNvSpPr txBox="1"/>
          <p:nvPr/>
        </p:nvSpPr>
        <p:spPr>
          <a:xfrm>
            <a:off x="457200" y="3303270"/>
            <a:ext cx="11277295" cy="352044"/>
          </a:xfrm>
          <a:prstGeom prst="rect">
            <a:avLst/>
          </a:prstGeom>
          <a:noFill/>
        </p:spPr>
        <p:txBody>
          <a:bodyPr wrap="square" lIns="137160" tIns="27432" rIns="137160" bIns="27432" anchor="t" rtlCol="0">
            <a:noAutofit/>
          </a:bodyPr>
          <a:lstStyle/>
          <a:p>
            <a:pPr algn="l" marL="335280" indent="-335280">
              <a:lnSpc>
                <a:spcPts val="2340"/>
              </a:lnSpc>
              <a:spcBef>
                <a:spcPts val="0"/>
              </a:spcBef>
              <a:spcAft>
                <a:spcPts val="0"/>
              </a:spcAft>
              <a:buNone/>
              <a:tabLst>
                <a:tab pos="335280" algn="l"/>
              </a:tabLst>
            </a:pPr>
            <a:r>
              <a:rPr lang="ko-KR" altLang="en-US" sz="1650" b="1" dirty="0">
                <a:solidFill>
                  <a:srgbClr val="1E2A5A"/>
                </a:solidFill>
                <a:latin typeface="맑은 고딕"/>
                <a:ea typeface="맑은 고딕"/>
                <a:cs typeface="맑은 고딕"/>
              </a:rPr>
              <a:t>①</a:t>
            </a:r>
            <a:r>
              <a:rPr lang="ko-KR" altLang="en-US" sz="1650" b="0" dirty="0">
                <a:solidFill>
                  <a:srgbClr val="1F2328"/>
                </a:solidFill>
                <a:latin typeface="맑은 고딕"/>
                <a:ea typeface="맑은 고딕"/>
                <a:cs typeface="맑은 고딕"/>
              </a:rPr>
              <a:t>	Boggis 씨의 거짓말이 귀한 탁자를 망쳤다</a:t>
            </a:r>
            <a:endParaRPr lang="ko-KR" altLang="en-US" sz="1650" b="0" dirty="0">
              <a:solidFill>
                <a:srgbClr val="1F2328"/>
              </a:solidFill>
              <a:latin typeface="맑은 고딕"/>
              <a:ea typeface="맑은 고딕"/>
              <a:cs typeface="맑은 고딕"/>
            </a:endParaRPr>
          </a:p>
        </p:txBody>
      </p:sp>
      <p:sp>
        <p:nvSpPr>
          <p:cNvPr id="12" name="rv_pick"/>
          <p:cNvSpPr txBox="1"/>
          <p:nvPr/>
        </p:nvSpPr>
        <p:spPr>
          <a:xfrm>
            <a:off x="457200" y="3303270"/>
            <a:ext cx="11277295" cy="352044"/>
          </a:xfrm>
          <a:prstGeom prst="rect">
            <a:avLst/>
          </a:prstGeom>
          <a:solidFill>
            <a:srgbClr val="FFF3C4"/>
          </a:solidFill>
        </p:spPr>
        <p:txBody>
          <a:bodyPr wrap="square" lIns="137160" tIns="27432" rIns="137160" bIns="27432" anchor="t" rtlCol="0">
            <a:noAutofit/>
          </a:bodyPr>
          <a:lstStyle/>
          <a:p>
            <a:pPr algn="l" marL="335280" indent="-335280">
              <a:lnSpc>
                <a:spcPts val="2340"/>
              </a:lnSpc>
              <a:spcBef>
                <a:spcPts val="0"/>
              </a:spcBef>
              <a:spcAft>
                <a:spcPts val="0"/>
              </a:spcAft>
              <a:buNone/>
              <a:tabLst>
                <a:tab pos="335280" algn="l"/>
              </a:tabLst>
            </a:pPr>
            <a:r>
              <a:rPr lang="ko-KR" altLang="en-US" sz="1650" b="1" dirty="0">
                <a:solidFill>
                  <a:srgbClr val="C00000"/>
                </a:solidFill>
                <a:latin typeface="맑은 고딕"/>
                <a:ea typeface="맑은 고딕"/>
                <a:cs typeface="맑은 고딕"/>
              </a:rPr>
              <a:t>①</a:t>
            </a:r>
            <a:r>
              <a:rPr lang="ko-KR" altLang="en-US" sz="1650" b="0" dirty="0">
                <a:solidFill>
                  <a:srgbClr val="C00000"/>
                </a:solidFill>
                <a:latin typeface="맑은 고딕"/>
                <a:ea typeface="맑은 고딕"/>
                <a:cs typeface="맑은 고딕"/>
              </a:rPr>
              <a:t>	Boggis 씨의 거짓말이 귀한 탁자를 망쳤다</a:t>
            </a:r>
            <a:endParaRPr lang="ko-KR" altLang="en-US" sz="1650" b="0" dirty="0">
              <a:solidFill>
                <a:srgbClr val="C00000"/>
              </a:solidFill>
              <a:latin typeface="맑은 고딕"/>
              <a:ea typeface="맑은 고딕"/>
              <a:cs typeface="맑은 고딕"/>
            </a:endParaRPr>
          </a:p>
        </p:txBody>
      </p:sp>
      <p:sp>
        <p:nvSpPr>
          <p:cNvPr id="13" name="choice_2"/>
          <p:cNvSpPr txBox="1"/>
          <p:nvPr/>
        </p:nvSpPr>
        <p:spPr>
          <a:xfrm>
            <a:off x="457200" y="3682746"/>
            <a:ext cx="11277295" cy="352044"/>
          </a:xfrm>
          <a:prstGeom prst="rect">
            <a:avLst/>
          </a:prstGeom>
          <a:noFill/>
        </p:spPr>
        <p:txBody>
          <a:bodyPr wrap="square" lIns="137160" tIns="27432" rIns="137160" bIns="27432" anchor="t" rtlCol="0">
            <a:noAutofit/>
          </a:bodyPr>
          <a:lstStyle/>
          <a:p>
            <a:pPr algn="l" marL="335280" indent="-335280">
              <a:lnSpc>
                <a:spcPts val="2340"/>
              </a:lnSpc>
              <a:spcBef>
                <a:spcPts val="0"/>
              </a:spcBef>
              <a:spcAft>
                <a:spcPts val="0"/>
              </a:spcAft>
              <a:buNone/>
              <a:tabLst>
                <a:tab pos="335280" algn="l"/>
              </a:tabLst>
            </a:pPr>
            <a:r>
              <a:rPr lang="ko-KR" altLang="en-US" sz="1650" b="1" dirty="0">
                <a:solidFill>
                  <a:srgbClr val="1E2A5A"/>
                </a:solidFill>
                <a:latin typeface="맑은 고딕"/>
                <a:ea typeface="맑은 고딕"/>
                <a:cs typeface="맑은 고딕"/>
              </a:rPr>
              <a:t>②</a:t>
            </a:r>
            <a:r>
              <a:rPr lang="ko-KR" altLang="en-US" sz="1650" b="0" dirty="0">
                <a:solidFill>
                  <a:srgbClr val="1F2328"/>
                </a:solidFill>
                <a:latin typeface="맑은 고딕"/>
                <a:ea typeface="맑은 고딕"/>
                <a:cs typeface="맑은 고딕"/>
              </a:rPr>
              <a:t>	Boggis 씨는 탁자를 50파운드에 샀다</a:t>
            </a:r>
            <a:endParaRPr lang="ko-KR" altLang="en-US" sz="1650" b="0" dirty="0">
              <a:solidFill>
                <a:srgbClr val="1F2328"/>
              </a:solidFill>
              <a:latin typeface="맑은 고딕"/>
              <a:ea typeface="맑은 고딕"/>
              <a:cs typeface="맑은 고딕"/>
            </a:endParaRPr>
          </a:p>
        </p:txBody>
      </p:sp>
      <p:sp>
        <p:nvSpPr>
          <p:cNvPr id="14" name="choice_3"/>
          <p:cNvSpPr txBox="1"/>
          <p:nvPr/>
        </p:nvSpPr>
        <p:spPr>
          <a:xfrm>
            <a:off x="457200" y="4062222"/>
            <a:ext cx="11277295" cy="352044"/>
          </a:xfrm>
          <a:prstGeom prst="rect">
            <a:avLst/>
          </a:prstGeom>
          <a:noFill/>
        </p:spPr>
        <p:txBody>
          <a:bodyPr wrap="square" lIns="137160" tIns="27432" rIns="137160" bIns="27432" anchor="t" rtlCol="0">
            <a:noAutofit/>
          </a:bodyPr>
          <a:lstStyle/>
          <a:p>
            <a:pPr algn="l" marL="335280" indent="-335280">
              <a:lnSpc>
                <a:spcPts val="2340"/>
              </a:lnSpc>
              <a:spcBef>
                <a:spcPts val="0"/>
              </a:spcBef>
              <a:spcAft>
                <a:spcPts val="0"/>
              </a:spcAft>
              <a:buNone/>
              <a:tabLst>
                <a:tab pos="335280" algn="l"/>
              </a:tabLst>
            </a:pPr>
            <a:r>
              <a:rPr lang="ko-KR" altLang="en-US" sz="1650" b="1" dirty="0">
                <a:solidFill>
                  <a:srgbClr val="1E2A5A"/>
                </a:solidFill>
                <a:latin typeface="맑은 고딕"/>
                <a:ea typeface="맑은 고딕"/>
                <a:cs typeface="맑은 고딕"/>
              </a:rPr>
              <a:t>③</a:t>
            </a:r>
            <a:r>
              <a:rPr lang="ko-KR" altLang="en-US" sz="1650" b="0" dirty="0">
                <a:solidFill>
                  <a:srgbClr val="1F2328"/>
                </a:solidFill>
                <a:latin typeface="맑은 고딕"/>
                <a:ea typeface="맑은 고딕"/>
                <a:cs typeface="맑은 고딕"/>
              </a:rPr>
              <a:t>	Bert는 Boggis 씨의 차를 고쳐 주었다</a:t>
            </a:r>
            <a:endParaRPr lang="ko-KR" altLang="en-US" sz="1650" b="0" dirty="0">
              <a:solidFill>
                <a:srgbClr val="1F2328"/>
              </a:solidFill>
              <a:latin typeface="맑은 고딕"/>
              <a:ea typeface="맑은 고딕"/>
              <a:cs typeface="맑은 고딕"/>
            </a:endParaRPr>
          </a:p>
        </p:txBody>
      </p:sp>
      <p:sp>
        <p:nvSpPr>
          <p:cNvPr id="15" name="choice_4"/>
          <p:cNvSpPr txBox="1"/>
          <p:nvPr/>
        </p:nvSpPr>
        <p:spPr>
          <a:xfrm>
            <a:off x="457200" y="4441698"/>
            <a:ext cx="11277295" cy="352044"/>
          </a:xfrm>
          <a:prstGeom prst="rect">
            <a:avLst/>
          </a:prstGeom>
          <a:noFill/>
        </p:spPr>
        <p:txBody>
          <a:bodyPr wrap="square" lIns="137160" tIns="27432" rIns="137160" bIns="27432" anchor="t" rtlCol="0">
            <a:noAutofit/>
          </a:bodyPr>
          <a:lstStyle/>
          <a:p>
            <a:pPr algn="l" marL="335280" indent="-335280">
              <a:lnSpc>
                <a:spcPts val="2340"/>
              </a:lnSpc>
              <a:spcBef>
                <a:spcPts val="0"/>
              </a:spcBef>
              <a:spcAft>
                <a:spcPts val="0"/>
              </a:spcAft>
              <a:buNone/>
              <a:tabLst>
                <a:tab pos="335280" algn="l"/>
              </a:tabLst>
            </a:pPr>
            <a:r>
              <a:rPr lang="ko-KR" altLang="en-US" sz="1650" b="1" dirty="0">
                <a:solidFill>
                  <a:srgbClr val="1E2A5A"/>
                </a:solidFill>
                <a:latin typeface="맑은 고딕"/>
                <a:ea typeface="맑은 고딕"/>
                <a:cs typeface="맑은 고딕"/>
              </a:rPr>
              <a:t>④</a:t>
            </a:r>
            <a:r>
              <a:rPr lang="ko-KR" altLang="en-US" sz="1650" b="0" dirty="0">
                <a:solidFill>
                  <a:srgbClr val="1F2328"/>
                </a:solidFill>
                <a:latin typeface="맑은 고딕"/>
                <a:ea typeface="맑은 고딕"/>
                <a:cs typeface="맑은 고딕"/>
              </a:rPr>
              <a:t>	Rummins는 탁자 다리를 비싸게 팔았다</a:t>
            </a:r>
            <a:endParaRPr lang="ko-KR" altLang="en-US" sz="1650" b="0" dirty="0">
              <a:solidFill>
                <a:srgbClr val="1F2328"/>
              </a:solidFill>
              <a:latin typeface="맑은 고딕"/>
              <a:ea typeface="맑은 고딕"/>
              <a:cs typeface="맑은 고딕"/>
            </a:endParaRPr>
          </a:p>
        </p:txBody>
      </p:sp>
      <p:sp>
        <p:nvSpPr>
          <p:cNvPr id="16" name="choice_5"/>
          <p:cNvSpPr txBox="1"/>
          <p:nvPr/>
        </p:nvSpPr>
        <p:spPr>
          <a:xfrm>
            <a:off x="457200" y="4821174"/>
            <a:ext cx="11277295" cy="352044"/>
          </a:xfrm>
          <a:prstGeom prst="rect">
            <a:avLst/>
          </a:prstGeom>
          <a:noFill/>
        </p:spPr>
        <p:txBody>
          <a:bodyPr wrap="square" lIns="137160" tIns="27432" rIns="137160" bIns="27432" anchor="t" rtlCol="0">
            <a:noAutofit/>
          </a:bodyPr>
          <a:lstStyle/>
          <a:p>
            <a:pPr algn="l" marL="335280" indent="-335280">
              <a:lnSpc>
                <a:spcPts val="2340"/>
              </a:lnSpc>
              <a:spcBef>
                <a:spcPts val="0"/>
              </a:spcBef>
              <a:spcAft>
                <a:spcPts val="0"/>
              </a:spcAft>
              <a:buNone/>
              <a:tabLst>
                <a:tab pos="335280" algn="l"/>
              </a:tabLst>
            </a:pPr>
            <a:r>
              <a:rPr lang="ko-KR" altLang="en-US" sz="1650" b="1" dirty="0">
                <a:solidFill>
                  <a:srgbClr val="1E2A5A"/>
                </a:solidFill>
                <a:latin typeface="맑은 고딕"/>
                <a:ea typeface="맑은 고딕"/>
                <a:cs typeface="맑은 고딕"/>
              </a:rPr>
              <a:t>⑤</a:t>
            </a:r>
            <a:r>
              <a:rPr lang="ko-KR" altLang="en-US" sz="1650" b="0" dirty="0">
                <a:solidFill>
                  <a:srgbClr val="1F2328"/>
                </a:solidFill>
                <a:latin typeface="맑은 고딕"/>
                <a:ea typeface="맑은 고딕"/>
                <a:cs typeface="맑은 고딕"/>
              </a:rPr>
              <a:t>	Boggis 씨는 탁자를 차에 쉽게 실었다</a:t>
            </a:r>
            <a:endParaRPr lang="ko-KR" altLang="en-US" sz="1650" b="0" dirty="0">
              <a:solidFill>
                <a:srgbClr val="1F2328"/>
              </a:solidFill>
              <a:latin typeface="맑은 고딕"/>
              <a:ea typeface="맑은 고딕"/>
              <a:cs typeface="맑은 고딕"/>
            </a:endParaRPr>
          </a:p>
        </p:txBody>
      </p:sp>
      <p:sp>
        <p:nvSpPr>
          <p:cNvPr id="17" name="rv_answer"/>
          <p:cNvSpPr/>
          <p:nvPr/>
        </p:nvSpPr>
        <p:spPr>
          <a:xfrm>
            <a:off x="457200" y="528294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① </a:t>
            </a:r>
            <a:r>
              <a:rPr lang="ko-KR" altLang="en-US" sz="1900" b="1" dirty="0">
                <a:solidFill>
                  <a:srgbClr val="5A4200"/>
                </a:solidFill>
                <a:latin typeface="맑은 고딕"/>
                <a:ea typeface="맑은 고딕"/>
                <a:cs typeface="맑은 고딕"/>
              </a:rPr>
              <a:t>Boggis 씨의 거짓말이 귀한 탁자를 망쳤다</a:t>
            </a:r>
            <a:endParaRPr lang="ko-KR" altLang="en-US" sz="1900" b="1" dirty="0">
              <a:solidFill>
                <a:srgbClr val="5A4200"/>
              </a:solidFill>
              <a:latin typeface="맑은 고딕"/>
              <a:ea typeface="맑은 고딕"/>
              <a:cs typeface="맑은 고딕"/>
            </a:endParaRPr>
          </a:p>
        </p:txBody>
      </p:sp>
      <p:sp>
        <p:nvSpPr>
          <p:cNvPr id="18" name="rv_why"/>
          <p:cNvSpPr/>
          <p:nvPr/>
        </p:nvSpPr>
        <p:spPr>
          <a:xfrm>
            <a:off x="457200" y="5881878"/>
            <a:ext cx="11277295" cy="53720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340"/>
              </a:lnSpc>
              <a:spcBef>
                <a:spcPts val="0"/>
              </a:spcBef>
              <a:spcAft>
                <a:spcPts val="0"/>
              </a:spcAft>
              <a:buNone/>
            </a:pPr>
            <a:r>
              <a:rPr lang="ko-KR" altLang="en-US" sz="1650" b="1" dirty="0">
                <a:solidFill>
                  <a:srgbClr val="1E2A5A"/>
                </a:solidFill>
                <a:latin typeface="맑은 고딕"/>
                <a:ea typeface="맑은 고딕"/>
                <a:cs typeface="맑은 고딕"/>
              </a:rPr>
              <a:t>정답 원리   </a:t>
            </a:r>
            <a:r>
              <a:rPr lang="ko-KR" altLang="en-US" sz="1650" b="0" dirty="0">
                <a:solidFill>
                  <a:srgbClr val="16284A"/>
                </a:solidFill>
                <a:latin typeface="맑은 고딕"/>
                <a:ea typeface="맑은 고딕"/>
                <a:cs typeface="맑은 고딕"/>
              </a:rPr>
              <a:t>다리만 원한다는 거짓말을 믿은 부자가 다리를 잘라 탁자를 망쳤다. ①이 요지다.</a:t>
            </a:r>
            <a:endParaRPr lang="ko-KR" altLang="en-US" sz="165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25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25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25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7" grpId="0" animBg="1"/>
      <p:bldP spid="9" grpId="0" animBg="1"/>
      <p:bldP spid="10" grpId="0" animBg="1"/>
      <p:bldP spid="18" grpId="0" animBg="1"/>
    </p:bldLst>
  </p:timing>
</p:sld>
</file>

<file path=ppt/slides/slide1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L6-3</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1 · 5</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5. 다음 글의 내용과 일치하지 않는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6</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본문 근거 형광 + 정답 원리</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220598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2205989"/>
          </a:xfrm>
          <a:prstGeom prst="rect">
            <a:avLst/>
          </a:prstGeom>
          <a:noFill/>
        </p:spPr>
        <p:txBody>
          <a:bodyPr wrap="square" lIns="201168" tIns="118872" rIns="201168" bIns="118872" anchor="t" rtlCol="0">
            <a:noAutofit/>
          </a:bodyPr>
          <a:lstStyle/>
          <a:p>
            <a:pPr algn="just">
              <a:lnSpc>
                <a:spcPts val="1690"/>
              </a:lnSpc>
              <a:spcBef>
                <a:spcPts val="0"/>
              </a:spcBef>
              <a:spcAft>
                <a:spcPts val="0"/>
              </a:spcAft>
              <a:buNone/>
            </a:pPr>
            <a:r>
              <a:rPr lang="en-US" altLang="ko-KR" sz="1300" b="0" dirty="0">
                <a:solidFill>
                  <a:srgbClr val="1F2328"/>
                </a:solidFill>
                <a:latin typeface="Calibri"/>
                <a:ea typeface="맑은 고딕"/>
                <a:cs typeface="Calibri"/>
              </a:rPr>
              <a:t>He then added, "Hmm, I think I may buy it. The legs of my table at home are broken. I can cut off the legs of your table and attach them to mine." "How much?" Rummins asked. "Not much, I’m afraid. This is just a reproduction," said Mr. Boggis. "So how much?" "Ten pounds." "Ten? It’s worth more than that." "How about fifteen?" "Make it fifty." "Well, thirty. This is my final offer." "OK, it’s yours, but how are you going to take it? This thing will not go in a car!" "We’ll see," Mr. Boggis said and went out to bring his car. On his way to the car, Mr. Boggis couldn’t help smiling. The table was what every dealer dreamed of. He couldn’t believe his luck. "Dad, what if this thing doesn’t go in his car? He might not pay you," said Bert. Rummins then had an idea. "What he wants is only the legs. Let’s cut the legs off for him," said Rummins. "Great idea!" said Bert. Bert then took out a saw and began to cut off the legs. When Mr. Boggis came back, the legs had been cut off. "Don’t worry, this was a favor. </a:t>
            </a:r>
            <a:r>
              <a:rPr lang="en-US" altLang="ko-KR" sz="1300" b="0" dirty="0">
                <a:solidFill>
                  <a:srgbClr val="1F2328"/>
                </a:solidFill>
                <a:latin typeface="Calibri"/>
                <a:ea typeface="맑은 고딕"/>
                <a:cs typeface="Calibri"/>
              </a:rPr>
              <a:t>I won’t charge you for this</a:t>
            </a:r>
            <a:r>
              <a:rPr lang="en-US" altLang="ko-KR" sz="1300" b="0" dirty="0">
                <a:solidFill>
                  <a:srgbClr val="1F2328"/>
                </a:solidFill>
                <a:latin typeface="Calibri"/>
                <a:ea typeface="맑은 고딕"/>
                <a:cs typeface="Calibri"/>
              </a:rPr>
              <a:t>," said Rummins. Mr. Boggis was so shocked that he couldn’t say anything.</a:t>
            </a:r>
            <a:endParaRPr lang="en-US" altLang="ko-KR" sz="1300" b="0" dirty="0">
              <a:solidFill>
                <a:srgbClr val="1F2328"/>
              </a:solidFill>
              <a:latin typeface="Calibri"/>
              <a:ea typeface="맑은 고딕"/>
              <a:cs typeface="Calibri"/>
            </a:endParaRPr>
          </a:p>
        </p:txBody>
      </p:sp>
      <p:sp>
        <p:nvSpPr>
          <p:cNvPr id="9" name="rv_evidence_card"/>
          <p:cNvSpPr/>
          <p:nvPr/>
        </p:nvSpPr>
        <p:spPr>
          <a:xfrm>
            <a:off x="457200" y="950976"/>
            <a:ext cx="11277295" cy="220598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rv_evidence"/>
          <p:cNvSpPr txBox="1"/>
          <p:nvPr/>
        </p:nvSpPr>
        <p:spPr>
          <a:xfrm>
            <a:off x="457200" y="950976"/>
            <a:ext cx="11277295" cy="2205989"/>
          </a:xfrm>
          <a:prstGeom prst="rect">
            <a:avLst/>
          </a:prstGeom>
          <a:noFill/>
        </p:spPr>
        <p:txBody>
          <a:bodyPr wrap="square" lIns="201168" tIns="118872" rIns="201168" bIns="118872" anchor="t" rtlCol="0">
            <a:noAutofit/>
          </a:bodyPr>
          <a:lstStyle/>
          <a:p>
            <a:pPr algn="just">
              <a:lnSpc>
                <a:spcPts val="1690"/>
              </a:lnSpc>
              <a:spcBef>
                <a:spcPts val="0"/>
              </a:spcBef>
              <a:spcAft>
                <a:spcPts val="0"/>
              </a:spcAft>
              <a:buNone/>
            </a:pPr>
            <a:r>
              <a:rPr lang="en-US" altLang="ko-KR" sz="1300" b="0" dirty="0">
                <a:solidFill>
                  <a:srgbClr val="B3BAC6"/>
                </a:solidFill>
                <a:latin typeface="Calibri"/>
                <a:ea typeface="맑은 고딕"/>
                <a:cs typeface="Calibri"/>
              </a:rPr>
              <a:t>He then added, "Hmm, I think I may buy it. The legs of my table at home are broken. I can cut off the legs of your table and attach them to mine." "How much?" Rummins asked. "Not much, I’m afraid. This is just a reproduction," said Mr. Boggis. "So how much?" "Ten pounds." "Ten? It’s worth more than that." "How about fifteen?" "Make it fifty." "Well, thirty. This is my final offer." "OK, it’s yours, but how are you going to take it? This thing will not go in a car!" "We’ll see," Mr. Boggis said and went out to bring his car. On his way to the car, Mr. Boggis couldn’t help smiling. The table was what every dealer dreamed of. He couldn’t believe his luck. "Dad, what if this thing doesn’t go in his car? He might not pay you," said Bert. Rummins then had an idea. "What he wants is only the legs. Let’s cut the legs off for him," said Rummins. "Great idea!" said Bert. Bert then took out a saw and began to cut off the legs. When Mr. Boggis came back, the legs had been cut off. "Don’t worry, this was a favor. </a:t>
            </a:r>
            <a:r>
              <a:rPr lang="en-US" altLang="ko-KR" sz="1300" b="0" dirty="0">
                <a:solidFill>
                  <a:srgbClr val="111111"/>
                </a:solidFill>
                <a:highlight>
                  <a:srgbClr val="FFE45C"/>
                </a:highlight>
                <a:latin typeface="Calibri"/>
                <a:ea typeface="맑은 고딕"/>
                <a:cs typeface="Calibri"/>
              </a:rPr>
              <a:t>I won’t charge you for this</a:t>
            </a:r>
            <a:r>
              <a:rPr lang="en-US" altLang="ko-KR" sz="1300" b="0" dirty="0">
                <a:solidFill>
                  <a:srgbClr val="B3BAC6"/>
                </a:solidFill>
                <a:latin typeface="Calibri"/>
                <a:ea typeface="맑은 고딕"/>
                <a:cs typeface="Calibri"/>
              </a:rPr>
              <a:t>," said Rummins. Mr. Boggis was so shocked that he couldn’t say anything.</a:t>
            </a:r>
            <a:endParaRPr lang="en-US" altLang="ko-KR" sz="1300" b="0" dirty="0">
              <a:solidFill>
                <a:srgbClr val="B3BAC6"/>
              </a:solidFill>
              <a:latin typeface="Calibri"/>
              <a:ea typeface="맑은 고딕"/>
              <a:cs typeface="Calibri"/>
            </a:endParaRPr>
          </a:p>
        </p:txBody>
      </p:sp>
      <p:sp>
        <p:nvSpPr>
          <p:cNvPr id="11" name="choice_1"/>
          <p:cNvSpPr txBox="1"/>
          <p:nvPr/>
        </p:nvSpPr>
        <p:spPr>
          <a:xfrm>
            <a:off x="457200" y="3303270"/>
            <a:ext cx="11277295" cy="352044"/>
          </a:xfrm>
          <a:prstGeom prst="rect">
            <a:avLst/>
          </a:prstGeom>
          <a:noFill/>
        </p:spPr>
        <p:txBody>
          <a:bodyPr wrap="square" lIns="137160" tIns="27432" rIns="137160" bIns="27432" anchor="t" rtlCol="0">
            <a:noAutofit/>
          </a:bodyPr>
          <a:lstStyle/>
          <a:p>
            <a:pPr algn="l" marL="335280" indent="-335280">
              <a:lnSpc>
                <a:spcPts val="2340"/>
              </a:lnSpc>
              <a:spcBef>
                <a:spcPts val="0"/>
              </a:spcBef>
              <a:spcAft>
                <a:spcPts val="0"/>
              </a:spcAft>
              <a:buNone/>
              <a:tabLst>
                <a:tab pos="335280" algn="l"/>
              </a:tabLst>
            </a:pPr>
            <a:r>
              <a:rPr lang="ko-KR" altLang="en-US" sz="1650" b="1" dirty="0">
                <a:solidFill>
                  <a:srgbClr val="1E2A5A"/>
                </a:solidFill>
                <a:latin typeface="맑은 고딕"/>
                <a:ea typeface="맑은 고딕"/>
                <a:cs typeface="맑은 고딕"/>
              </a:rPr>
              <a:t>①</a:t>
            </a:r>
            <a:r>
              <a:rPr lang="ko-KR" altLang="en-US" sz="1650" b="0" dirty="0">
                <a:solidFill>
                  <a:srgbClr val="1F2328"/>
                </a:solidFill>
                <a:latin typeface="맑은 고딕"/>
                <a:ea typeface="맑은 고딕"/>
                <a:cs typeface="맑은 고딕"/>
              </a:rPr>
              <a:t>	Boggis 씨는 탁자 다리만 필요하다고 했다</a:t>
            </a:r>
            <a:endParaRPr lang="ko-KR" altLang="en-US" sz="1650" b="0" dirty="0">
              <a:solidFill>
                <a:srgbClr val="1F2328"/>
              </a:solidFill>
              <a:latin typeface="맑은 고딕"/>
              <a:ea typeface="맑은 고딕"/>
              <a:cs typeface="맑은 고딕"/>
            </a:endParaRPr>
          </a:p>
        </p:txBody>
      </p:sp>
      <p:sp>
        <p:nvSpPr>
          <p:cNvPr id="12" name="choice_2"/>
          <p:cNvSpPr txBox="1"/>
          <p:nvPr/>
        </p:nvSpPr>
        <p:spPr>
          <a:xfrm>
            <a:off x="457200" y="3682746"/>
            <a:ext cx="11277295" cy="352044"/>
          </a:xfrm>
          <a:prstGeom prst="rect">
            <a:avLst/>
          </a:prstGeom>
          <a:noFill/>
        </p:spPr>
        <p:txBody>
          <a:bodyPr wrap="square" lIns="137160" tIns="27432" rIns="137160" bIns="27432" anchor="t" rtlCol="0">
            <a:noAutofit/>
          </a:bodyPr>
          <a:lstStyle/>
          <a:p>
            <a:pPr algn="l" marL="335280" indent="-335280">
              <a:lnSpc>
                <a:spcPts val="2340"/>
              </a:lnSpc>
              <a:spcBef>
                <a:spcPts val="0"/>
              </a:spcBef>
              <a:spcAft>
                <a:spcPts val="0"/>
              </a:spcAft>
              <a:buNone/>
              <a:tabLst>
                <a:tab pos="335280" algn="l"/>
              </a:tabLst>
            </a:pPr>
            <a:r>
              <a:rPr lang="ko-KR" altLang="en-US" sz="1650" b="1" dirty="0">
                <a:solidFill>
                  <a:srgbClr val="1E2A5A"/>
                </a:solidFill>
                <a:latin typeface="맑은 고딕"/>
                <a:ea typeface="맑은 고딕"/>
                <a:cs typeface="맑은 고딕"/>
              </a:rPr>
              <a:t>②</a:t>
            </a:r>
            <a:r>
              <a:rPr lang="ko-KR" altLang="en-US" sz="1650" b="0" dirty="0">
                <a:solidFill>
                  <a:srgbClr val="1F2328"/>
                </a:solidFill>
                <a:latin typeface="맑은 고딕"/>
                <a:ea typeface="맑은 고딕"/>
                <a:cs typeface="맑은 고딕"/>
              </a:rPr>
              <a:t>	Boggis 씨는 마지막으로 30파운드를 제안했다</a:t>
            </a:r>
            <a:endParaRPr lang="ko-KR" altLang="en-US" sz="1650" b="0" dirty="0">
              <a:solidFill>
                <a:srgbClr val="1F2328"/>
              </a:solidFill>
              <a:latin typeface="맑은 고딕"/>
              <a:ea typeface="맑은 고딕"/>
              <a:cs typeface="맑은 고딕"/>
            </a:endParaRPr>
          </a:p>
        </p:txBody>
      </p:sp>
      <p:sp>
        <p:nvSpPr>
          <p:cNvPr id="13" name="choice_3"/>
          <p:cNvSpPr txBox="1"/>
          <p:nvPr/>
        </p:nvSpPr>
        <p:spPr>
          <a:xfrm>
            <a:off x="457200" y="4062222"/>
            <a:ext cx="11277295" cy="352044"/>
          </a:xfrm>
          <a:prstGeom prst="rect">
            <a:avLst/>
          </a:prstGeom>
          <a:noFill/>
        </p:spPr>
        <p:txBody>
          <a:bodyPr wrap="square" lIns="137160" tIns="27432" rIns="137160" bIns="27432" anchor="t" rtlCol="0">
            <a:noAutofit/>
          </a:bodyPr>
          <a:lstStyle/>
          <a:p>
            <a:pPr algn="l" marL="335280" indent="-335280">
              <a:lnSpc>
                <a:spcPts val="2340"/>
              </a:lnSpc>
              <a:spcBef>
                <a:spcPts val="0"/>
              </a:spcBef>
              <a:spcAft>
                <a:spcPts val="0"/>
              </a:spcAft>
              <a:buNone/>
              <a:tabLst>
                <a:tab pos="335280" algn="l"/>
              </a:tabLst>
            </a:pPr>
            <a:r>
              <a:rPr lang="ko-KR" altLang="en-US" sz="1650" b="1" dirty="0">
                <a:solidFill>
                  <a:srgbClr val="1E2A5A"/>
                </a:solidFill>
                <a:latin typeface="맑은 고딕"/>
                <a:ea typeface="맑은 고딕"/>
                <a:cs typeface="맑은 고딕"/>
              </a:rPr>
              <a:t>③</a:t>
            </a:r>
            <a:r>
              <a:rPr lang="ko-KR" altLang="en-US" sz="1650" b="0" dirty="0">
                <a:solidFill>
                  <a:srgbClr val="1F2328"/>
                </a:solidFill>
                <a:latin typeface="맑은 고딕"/>
                <a:ea typeface="맑은 고딕"/>
                <a:cs typeface="맑은 고딕"/>
              </a:rPr>
              <a:t>	Boggis 씨는 차를 가지러 밖으로 나갔다</a:t>
            </a:r>
            <a:endParaRPr lang="ko-KR" altLang="en-US" sz="1650" b="0" dirty="0">
              <a:solidFill>
                <a:srgbClr val="1F2328"/>
              </a:solidFill>
              <a:latin typeface="맑은 고딕"/>
              <a:ea typeface="맑은 고딕"/>
              <a:cs typeface="맑은 고딕"/>
            </a:endParaRPr>
          </a:p>
        </p:txBody>
      </p:sp>
      <p:sp>
        <p:nvSpPr>
          <p:cNvPr id="14" name="choice_4"/>
          <p:cNvSpPr txBox="1"/>
          <p:nvPr/>
        </p:nvSpPr>
        <p:spPr>
          <a:xfrm>
            <a:off x="457200" y="4441698"/>
            <a:ext cx="11277295" cy="352044"/>
          </a:xfrm>
          <a:prstGeom prst="rect">
            <a:avLst/>
          </a:prstGeom>
          <a:noFill/>
        </p:spPr>
        <p:txBody>
          <a:bodyPr wrap="square" lIns="137160" tIns="27432" rIns="137160" bIns="27432" anchor="t" rtlCol="0">
            <a:noAutofit/>
          </a:bodyPr>
          <a:lstStyle/>
          <a:p>
            <a:pPr algn="l" marL="335280" indent="-335280">
              <a:lnSpc>
                <a:spcPts val="2340"/>
              </a:lnSpc>
              <a:spcBef>
                <a:spcPts val="0"/>
              </a:spcBef>
              <a:spcAft>
                <a:spcPts val="0"/>
              </a:spcAft>
              <a:buNone/>
              <a:tabLst>
                <a:tab pos="335280" algn="l"/>
              </a:tabLst>
            </a:pPr>
            <a:r>
              <a:rPr lang="ko-KR" altLang="en-US" sz="1650" b="1" dirty="0">
                <a:solidFill>
                  <a:srgbClr val="1E2A5A"/>
                </a:solidFill>
                <a:latin typeface="맑은 고딕"/>
                <a:ea typeface="맑은 고딕"/>
                <a:cs typeface="맑은 고딕"/>
              </a:rPr>
              <a:t>④</a:t>
            </a:r>
            <a:r>
              <a:rPr lang="ko-KR" altLang="en-US" sz="1650" b="0" dirty="0">
                <a:solidFill>
                  <a:srgbClr val="1F2328"/>
                </a:solidFill>
                <a:latin typeface="맑은 고딕"/>
                <a:ea typeface="맑은 고딕"/>
                <a:cs typeface="맑은 고딕"/>
              </a:rPr>
              <a:t>	Bert가 톱으로 탁자 다리를 잘랐다</a:t>
            </a:r>
            <a:endParaRPr lang="ko-KR" altLang="en-US" sz="1650" b="0" dirty="0">
              <a:solidFill>
                <a:srgbClr val="1F2328"/>
              </a:solidFill>
              <a:latin typeface="맑은 고딕"/>
              <a:ea typeface="맑은 고딕"/>
              <a:cs typeface="맑은 고딕"/>
            </a:endParaRPr>
          </a:p>
        </p:txBody>
      </p:sp>
      <p:sp>
        <p:nvSpPr>
          <p:cNvPr id="15" name="choice_5"/>
          <p:cNvSpPr txBox="1"/>
          <p:nvPr/>
        </p:nvSpPr>
        <p:spPr>
          <a:xfrm>
            <a:off x="457200" y="4821174"/>
            <a:ext cx="11277295" cy="352044"/>
          </a:xfrm>
          <a:prstGeom prst="rect">
            <a:avLst/>
          </a:prstGeom>
          <a:noFill/>
        </p:spPr>
        <p:txBody>
          <a:bodyPr wrap="square" lIns="137160" tIns="27432" rIns="137160" bIns="27432" anchor="t" rtlCol="0">
            <a:noAutofit/>
          </a:bodyPr>
          <a:lstStyle/>
          <a:p>
            <a:pPr algn="l" marL="335280" indent="-335280">
              <a:lnSpc>
                <a:spcPts val="2340"/>
              </a:lnSpc>
              <a:spcBef>
                <a:spcPts val="0"/>
              </a:spcBef>
              <a:spcAft>
                <a:spcPts val="0"/>
              </a:spcAft>
              <a:buNone/>
              <a:tabLst>
                <a:tab pos="335280" algn="l"/>
              </a:tabLst>
            </a:pPr>
            <a:r>
              <a:rPr lang="ko-KR" altLang="en-US" sz="1650" b="1" dirty="0">
                <a:solidFill>
                  <a:srgbClr val="1E2A5A"/>
                </a:solidFill>
                <a:latin typeface="맑은 고딕"/>
                <a:ea typeface="맑은 고딕"/>
                <a:cs typeface="맑은 고딕"/>
              </a:rPr>
              <a:t>⑤</a:t>
            </a:r>
            <a:r>
              <a:rPr lang="ko-KR" altLang="en-US" sz="1650" b="0" dirty="0">
                <a:solidFill>
                  <a:srgbClr val="1F2328"/>
                </a:solidFill>
                <a:latin typeface="맑은 고딕"/>
                <a:ea typeface="맑은 고딕"/>
                <a:cs typeface="맑은 고딕"/>
              </a:rPr>
              <a:t>	Rummins는 다리 자른 비용을 청구했다</a:t>
            </a:r>
            <a:endParaRPr lang="ko-KR" altLang="en-US" sz="1650" b="0" dirty="0">
              <a:solidFill>
                <a:srgbClr val="1F2328"/>
              </a:solidFill>
              <a:latin typeface="맑은 고딕"/>
              <a:ea typeface="맑은 고딕"/>
              <a:cs typeface="맑은 고딕"/>
            </a:endParaRPr>
          </a:p>
        </p:txBody>
      </p:sp>
      <p:sp>
        <p:nvSpPr>
          <p:cNvPr id="16" name="rv_pick"/>
          <p:cNvSpPr txBox="1"/>
          <p:nvPr/>
        </p:nvSpPr>
        <p:spPr>
          <a:xfrm>
            <a:off x="457200" y="4821174"/>
            <a:ext cx="11277295" cy="352044"/>
          </a:xfrm>
          <a:prstGeom prst="rect">
            <a:avLst/>
          </a:prstGeom>
          <a:solidFill>
            <a:srgbClr val="FFF3C4"/>
          </a:solidFill>
        </p:spPr>
        <p:txBody>
          <a:bodyPr wrap="square" lIns="137160" tIns="27432" rIns="137160" bIns="27432" anchor="t" rtlCol="0">
            <a:noAutofit/>
          </a:bodyPr>
          <a:lstStyle/>
          <a:p>
            <a:pPr algn="l" marL="335280" indent="-335280">
              <a:lnSpc>
                <a:spcPts val="2340"/>
              </a:lnSpc>
              <a:spcBef>
                <a:spcPts val="0"/>
              </a:spcBef>
              <a:spcAft>
                <a:spcPts val="0"/>
              </a:spcAft>
              <a:buNone/>
              <a:tabLst>
                <a:tab pos="335280" algn="l"/>
              </a:tabLst>
            </a:pPr>
            <a:r>
              <a:rPr lang="ko-KR" altLang="en-US" sz="1650" b="1" dirty="0">
                <a:solidFill>
                  <a:srgbClr val="C00000"/>
                </a:solidFill>
                <a:latin typeface="맑은 고딕"/>
                <a:ea typeface="맑은 고딕"/>
                <a:cs typeface="맑은 고딕"/>
              </a:rPr>
              <a:t>⑤</a:t>
            </a:r>
            <a:r>
              <a:rPr lang="ko-KR" altLang="en-US" sz="1650" b="0" dirty="0">
                <a:solidFill>
                  <a:srgbClr val="C00000"/>
                </a:solidFill>
                <a:latin typeface="맑은 고딕"/>
                <a:ea typeface="맑은 고딕"/>
                <a:cs typeface="맑은 고딕"/>
              </a:rPr>
              <a:t>	Rummins는 다리 자른 비용을 청구했다</a:t>
            </a:r>
            <a:endParaRPr lang="ko-KR" altLang="en-US" sz="1650" b="0" dirty="0">
              <a:solidFill>
                <a:srgbClr val="C00000"/>
              </a:solidFill>
              <a:latin typeface="맑은 고딕"/>
              <a:ea typeface="맑은 고딕"/>
              <a:cs typeface="맑은 고딕"/>
            </a:endParaRPr>
          </a:p>
        </p:txBody>
      </p:sp>
      <p:sp>
        <p:nvSpPr>
          <p:cNvPr id="17" name="rv_answer"/>
          <p:cNvSpPr/>
          <p:nvPr/>
        </p:nvSpPr>
        <p:spPr>
          <a:xfrm>
            <a:off x="457200" y="528294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⑤ </a:t>
            </a:r>
            <a:r>
              <a:rPr lang="ko-KR" altLang="en-US" sz="1900" b="1" dirty="0">
                <a:solidFill>
                  <a:srgbClr val="5A4200"/>
                </a:solidFill>
                <a:latin typeface="맑은 고딕"/>
                <a:ea typeface="맑은 고딕"/>
                <a:cs typeface="맑은 고딕"/>
              </a:rPr>
              <a:t>Rummins는 다리 자른 비용을 청구했다</a:t>
            </a:r>
            <a:endParaRPr lang="ko-KR" altLang="en-US" sz="1900" b="1" dirty="0">
              <a:solidFill>
                <a:srgbClr val="5A4200"/>
              </a:solidFill>
              <a:latin typeface="맑은 고딕"/>
              <a:ea typeface="맑은 고딕"/>
              <a:cs typeface="맑은 고딕"/>
            </a:endParaRPr>
          </a:p>
        </p:txBody>
      </p:sp>
      <p:sp>
        <p:nvSpPr>
          <p:cNvPr id="18" name="rv_why"/>
          <p:cNvSpPr/>
          <p:nvPr/>
        </p:nvSpPr>
        <p:spPr>
          <a:xfrm>
            <a:off x="457200" y="5881878"/>
            <a:ext cx="11277295" cy="53720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340"/>
              </a:lnSpc>
              <a:spcBef>
                <a:spcPts val="0"/>
              </a:spcBef>
              <a:spcAft>
                <a:spcPts val="0"/>
              </a:spcAft>
              <a:buNone/>
            </a:pPr>
            <a:r>
              <a:rPr lang="ko-KR" altLang="en-US" sz="1650" b="1" dirty="0">
                <a:solidFill>
                  <a:srgbClr val="1E2A5A"/>
                </a:solidFill>
                <a:latin typeface="맑은 고딕"/>
                <a:ea typeface="맑은 고딕"/>
                <a:cs typeface="맑은 고딕"/>
              </a:rPr>
              <a:t>정답 원리   </a:t>
            </a:r>
            <a:r>
              <a:rPr lang="ko-KR" altLang="en-US" sz="1650" b="0" dirty="0">
                <a:solidFill>
                  <a:srgbClr val="16284A"/>
                </a:solidFill>
                <a:latin typeface="맑은 고딕"/>
                <a:ea typeface="맑은 고딕"/>
                <a:cs typeface="맑은 고딕"/>
              </a:rPr>
              <a:t>Rummins는 호의였다며 비용을 청구하지 않겠다고 했다. 청구했다는 ⑤는 틀리다.</a:t>
            </a:r>
            <a:endParaRPr lang="ko-KR" altLang="en-US" sz="165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250"/>
                                        <p:tgtEl>
                                          <p:spTgt spid="1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25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25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7" grpId="0" animBg="1"/>
      <p:bldP spid="9" grpId="0" animBg="1"/>
      <p:bldP spid="10" grpId="0" animBg="1"/>
      <p:bldP spid="18" grpId="0" animBg="1"/>
    </p:bldLst>
  </p:timing>
</p:sld>
</file>

<file path=ppt/slides/slide1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L6-3</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1 · 6</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6. 다음 글의 내용과 일치하는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6</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본문 근거 형광 + 정답 원리</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220598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2205989"/>
          </a:xfrm>
          <a:prstGeom prst="rect">
            <a:avLst/>
          </a:prstGeom>
          <a:noFill/>
        </p:spPr>
        <p:txBody>
          <a:bodyPr wrap="square" lIns="201168" tIns="118872" rIns="201168" bIns="118872" anchor="t" rtlCol="0">
            <a:noAutofit/>
          </a:bodyPr>
          <a:lstStyle/>
          <a:p>
            <a:pPr algn="just">
              <a:lnSpc>
                <a:spcPts val="1690"/>
              </a:lnSpc>
              <a:spcBef>
                <a:spcPts val="0"/>
              </a:spcBef>
              <a:spcAft>
                <a:spcPts val="0"/>
              </a:spcAft>
              <a:buNone/>
            </a:pPr>
            <a:r>
              <a:rPr lang="en-US" altLang="ko-KR" sz="1300" b="0" dirty="0">
                <a:solidFill>
                  <a:srgbClr val="1F2328"/>
                </a:solidFill>
                <a:latin typeface="Calibri"/>
                <a:ea typeface="맑은 고딕"/>
                <a:cs typeface="Calibri"/>
              </a:rPr>
              <a:t>He then added, "Hmm, I think I may buy it. The legs of my table at home are broken. I can cut off the legs of your table and attach them to mine." "How much?" Rummins asked. "Not much, I’m afraid. This is just a reproduction," said Mr. Boggis. "So how much?" "Ten pounds." "Ten? It’s worth more than that." "How about fifteen?" "Make it fifty." "Well, thirty. This is my final offer." "OK, it’s yours, but how are you going to take it? This thing will not go in a car!" "We’ll see," Mr. Boggis said and went out to bring his car. On his way to the car, Mr. Boggis couldn’t help smiling. The table was what every dealer dreamed of. He couldn’t believe his luck. "Dad, </a:t>
            </a:r>
            <a:r>
              <a:rPr lang="en-US" altLang="ko-KR" sz="1300" b="0" dirty="0">
                <a:solidFill>
                  <a:srgbClr val="1F2328"/>
                </a:solidFill>
                <a:latin typeface="Calibri"/>
                <a:ea typeface="맑은 고딕"/>
                <a:cs typeface="Calibri"/>
              </a:rPr>
              <a:t>what if this thing doesn’t go in his car?</a:t>
            </a:r>
            <a:r>
              <a:rPr lang="en-US" altLang="ko-KR" sz="1300" b="0" dirty="0">
                <a:solidFill>
                  <a:srgbClr val="1F2328"/>
                </a:solidFill>
                <a:latin typeface="Calibri"/>
                <a:ea typeface="맑은 고딕"/>
                <a:cs typeface="Calibri"/>
              </a:rPr>
              <a:t> He might not pay you," said Bert. Rummins then had an idea. "What he wants is only the legs. Let’s cut the legs off for him," said Rummins. "Great idea!" said Bert. Bert then took out a saw and began to cut off the legs. When Mr. Boggis came back, the legs had been cut off. "Don’t worry, this was a favor. I won’t charge you for this," said Rummins. Mr. Boggis was so shocked that he couldn’t say anything.</a:t>
            </a:r>
            <a:endParaRPr lang="en-US" altLang="ko-KR" sz="1300" b="0" dirty="0">
              <a:solidFill>
                <a:srgbClr val="1F2328"/>
              </a:solidFill>
              <a:latin typeface="Calibri"/>
              <a:ea typeface="맑은 고딕"/>
              <a:cs typeface="Calibri"/>
            </a:endParaRPr>
          </a:p>
        </p:txBody>
      </p:sp>
      <p:sp>
        <p:nvSpPr>
          <p:cNvPr id="9" name="rv_evidence_card"/>
          <p:cNvSpPr/>
          <p:nvPr/>
        </p:nvSpPr>
        <p:spPr>
          <a:xfrm>
            <a:off x="457200" y="950976"/>
            <a:ext cx="11277295" cy="220598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rv_evidence"/>
          <p:cNvSpPr txBox="1"/>
          <p:nvPr/>
        </p:nvSpPr>
        <p:spPr>
          <a:xfrm>
            <a:off x="457200" y="950976"/>
            <a:ext cx="11277295" cy="2205989"/>
          </a:xfrm>
          <a:prstGeom prst="rect">
            <a:avLst/>
          </a:prstGeom>
          <a:noFill/>
        </p:spPr>
        <p:txBody>
          <a:bodyPr wrap="square" lIns="201168" tIns="118872" rIns="201168" bIns="118872" anchor="t" rtlCol="0">
            <a:noAutofit/>
          </a:bodyPr>
          <a:lstStyle/>
          <a:p>
            <a:pPr algn="just">
              <a:lnSpc>
                <a:spcPts val="1690"/>
              </a:lnSpc>
              <a:spcBef>
                <a:spcPts val="0"/>
              </a:spcBef>
              <a:spcAft>
                <a:spcPts val="0"/>
              </a:spcAft>
              <a:buNone/>
            </a:pPr>
            <a:r>
              <a:rPr lang="en-US" altLang="ko-KR" sz="1300" b="0" dirty="0">
                <a:solidFill>
                  <a:srgbClr val="B3BAC6"/>
                </a:solidFill>
                <a:latin typeface="Calibri"/>
                <a:ea typeface="맑은 고딕"/>
                <a:cs typeface="Calibri"/>
              </a:rPr>
              <a:t>He then added, "Hmm, I think I may buy it. The legs of my table at home are broken. I can cut off the legs of your table and attach them to mine." "How much?" Rummins asked. "Not much, I’m afraid. This is just a reproduction," said Mr. Boggis. "So how much?" "Ten pounds." "Ten? It’s worth more than that." "How about fifteen?" "Make it fifty." "Well, thirty. This is my final offer." "OK, it’s yours, but how are you going to take it? This thing will not go in a car!" "We’ll see," Mr. Boggis said and went out to bring his car. On his way to the car, Mr. Boggis couldn’t help smiling. The table was what every dealer dreamed of. He couldn’t believe his luck. "Dad, </a:t>
            </a:r>
            <a:r>
              <a:rPr lang="en-US" altLang="ko-KR" sz="1300" b="0" dirty="0">
                <a:solidFill>
                  <a:srgbClr val="111111"/>
                </a:solidFill>
                <a:highlight>
                  <a:srgbClr val="FFE45C"/>
                </a:highlight>
                <a:latin typeface="Calibri"/>
                <a:ea typeface="맑은 고딕"/>
                <a:cs typeface="Calibri"/>
              </a:rPr>
              <a:t>what if this thing doesn’t go in his car?</a:t>
            </a:r>
            <a:r>
              <a:rPr lang="en-US" altLang="ko-KR" sz="1300" b="0" dirty="0">
                <a:solidFill>
                  <a:srgbClr val="B3BAC6"/>
                </a:solidFill>
                <a:latin typeface="Calibri"/>
                <a:ea typeface="맑은 고딕"/>
                <a:cs typeface="Calibri"/>
              </a:rPr>
              <a:t> He might not pay you," said Bert. Rummins then had an idea. "What he wants is only the legs. Let’s cut the legs off for him," said Rummins. "Great idea!" said Bert. Bert then took out a saw and began to cut off the legs. When Mr. Boggis came back, the legs had been cut off. "Don’t worry, this was a favor. I won’t charge you for this," said Rummins. Mr. Boggis was so shocked that he couldn’t say anything.</a:t>
            </a:r>
            <a:endParaRPr lang="en-US" altLang="ko-KR" sz="1300" b="0" dirty="0">
              <a:solidFill>
                <a:srgbClr val="B3BAC6"/>
              </a:solidFill>
              <a:latin typeface="Calibri"/>
              <a:ea typeface="맑은 고딕"/>
              <a:cs typeface="Calibri"/>
            </a:endParaRPr>
          </a:p>
        </p:txBody>
      </p:sp>
      <p:sp>
        <p:nvSpPr>
          <p:cNvPr id="11" name="choice_1"/>
          <p:cNvSpPr txBox="1"/>
          <p:nvPr/>
        </p:nvSpPr>
        <p:spPr>
          <a:xfrm>
            <a:off x="457200" y="3303270"/>
            <a:ext cx="11277295" cy="352044"/>
          </a:xfrm>
          <a:prstGeom prst="rect">
            <a:avLst/>
          </a:prstGeom>
          <a:noFill/>
        </p:spPr>
        <p:txBody>
          <a:bodyPr wrap="square" lIns="137160" tIns="27432" rIns="137160" bIns="27432" anchor="t" rtlCol="0">
            <a:noAutofit/>
          </a:bodyPr>
          <a:lstStyle/>
          <a:p>
            <a:pPr algn="l" marL="335280" indent="-335280">
              <a:lnSpc>
                <a:spcPts val="2340"/>
              </a:lnSpc>
              <a:spcBef>
                <a:spcPts val="0"/>
              </a:spcBef>
              <a:spcAft>
                <a:spcPts val="0"/>
              </a:spcAft>
              <a:buNone/>
              <a:tabLst>
                <a:tab pos="335280" algn="l"/>
              </a:tabLst>
            </a:pPr>
            <a:r>
              <a:rPr lang="ko-KR" altLang="en-US" sz="1650" b="1" dirty="0">
                <a:solidFill>
                  <a:srgbClr val="1E2A5A"/>
                </a:solidFill>
                <a:latin typeface="맑은 고딕"/>
                <a:ea typeface="맑은 고딕"/>
                <a:cs typeface="맑은 고딕"/>
              </a:rPr>
              <a:t>①</a:t>
            </a:r>
            <a:r>
              <a:rPr lang="ko-KR" altLang="en-US" sz="1650" b="0" dirty="0">
                <a:solidFill>
                  <a:srgbClr val="1F2328"/>
                </a:solidFill>
                <a:latin typeface="맑은 고딕"/>
                <a:ea typeface="맑은 고딕"/>
                <a:cs typeface="맑은 고딕"/>
              </a:rPr>
              <a:t>	Rummins는 처음에 10파운드를 요구했다</a:t>
            </a:r>
            <a:endParaRPr lang="ko-KR" altLang="en-US" sz="1650" b="0" dirty="0">
              <a:solidFill>
                <a:srgbClr val="1F2328"/>
              </a:solidFill>
              <a:latin typeface="맑은 고딕"/>
              <a:ea typeface="맑은 고딕"/>
              <a:cs typeface="맑은 고딕"/>
            </a:endParaRPr>
          </a:p>
        </p:txBody>
      </p:sp>
      <p:sp>
        <p:nvSpPr>
          <p:cNvPr id="12" name="choice_2"/>
          <p:cNvSpPr txBox="1"/>
          <p:nvPr/>
        </p:nvSpPr>
        <p:spPr>
          <a:xfrm>
            <a:off x="457200" y="3682746"/>
            <a:ext cx="11277295" cy="352044"/>
          </a:xfrm>
          <a:prstGeom prst="rect">
            <a:avLst/>
          </a:prstGeom>
          <a:noFill/>
        </p:spPr>
        <p:txBody>
          <a:bodyPr wrap="square" lIns="137160" tIns="27432" rIns="137160" bIns="27432" anchor="t" rtlCol="0">
            <a:noAutofit/>
          </a:bodyPr>
          <a:lstStyle/>
          <a:p>
            <a:pPr algn="l" marL="335280" indent="-335280">
              <a:lnSpc>
                <a:spcPts val="2340"/>
              </a:lnSpc>
              <a:spcBef>
                <a:spcPts val="0"/>
              </a:spcBef>
              <a:spcAft>
                <a:spcPts val="0"/>
              </a:spcAft>
              <a:buNone/>
              <a:tabLst>
                <a:tab pos="335280" algn="l"/>
              </a:tabLst>
            </a:pPr>
            <a:r>
              <a:rPr lang="ko-KR" altLang="en-US" sz="1650" b="1" dirty="0">
                <a:solidFill>
                  <a:srgbClr val="1E2A5A"/>
                </a:solidFill>
                <a:latin typeface="맑은 고딕"/>
                <a:ea typeface="맑은 고딕"/>
                <a:cs typeface="맑은 고딕"/>
              </a:rPr>
              <a:t>②</a:t>
            </a:r>
            <a:r>
              <a:rPr lang="ko-KR" altLang="en-US" sz="1650" b="0" dirty="0">
                <a:solidFill>
                  <a:srgbClr val="1F2328"/>
                </a:solidFill>
                <a:latin typeface="맑은 고딕"/>
                <a:ea typeface="맑은 고딕"/>
                <a:cs typeface="맑은 고딕"/>
              </a:rPr>
              <a:t>	Bert는 탁자가 차에 안 들어갈까 걱정했다</a:t>
            </a:r>
            <a:endParaRPr lang="ko-KR" altLang="en-US" sz="1650" b="0" dirty="0">
              <a:solidFill>
                <a:srgbClr val="1F2328"/>
              </a:solidFill>
              <a:latin typeface="맑은 고딕"/>
              <a:ea typeface="맑은 고딕"/>
              <a:cs typeface="맑은 고딕"/>
            </a:endParaRPr>
          </a:p>
        </p:txBody>
      </p:sp>
      <p:sp>
        <p:nvSpPr>
          <p:cNvPr id="13" name="rv_pick"/>
          <p:cNvSpPr txBox="1"/>
          <p:nvPr/>
        </p:nvSpPr>
        <p:spPr>
          <a:xfrm>
            <a:off x="457200" y="3682746"/>
            <a:ext cx="11277295" cy="352044"/>
          </a:xfrm>
          <a:prstGeom prst="rect">
            <a:avLst/>
          </a:prstGeom>
          <a:solidFill>
            <a:srgbClr val="FFF3C4"/>
          </a:solidFill>
        </p:spPr>
        <p:txBody>
          <a:bodyPr wrap="square" lIns="137160" tIns="27432" rIns="137160" bIns="27432" anchor="t" rtlCol="0">
            <a:noAutofit/>
          </a:bodyPr>
          <a:lstStyle/>
          <a:p>
            <a:pPr algn="l" marL="335280" indent="-335280">
              <a:lnSpc>
                <a:spcPts val="2340"/>
              </a:lnSpc>
              <a:spcBef>
                <a:spcPts val="0"/>
              </a:spcBef>
              <a:spcAft>
                <a:spcPts val="0"/>
              </a:spcAft>
              <a:buNone/>
              <a:tabLst>
                <a:tab pos="335280" algn="l"/>
              </a:tabLst>
            </a:pPr>
            <a:r>
              <a:rPr lang="ko-KR" altLang="en-US" sz="1650" b="1" dirty="0">
                <a:solidFill>
                  <a:srgbClr val="C00000"/>
                </a:solidFill>
                <a:latin typeface="맑은 고딕"/>
                <a:ea typeface="맑은 고딕"/>
                <a:cs typeface="맑은 고딕"/>
              </a:rPr>
              <a:t>②</a:t>
            </a:r>
            <a:r>
              <a:rPr lang="ko-KR" altLang="en-US" sz="1650" b="0" dirty="0">
                <a:solidFill>
                  <a:srgbClr val="C00000"/>
                </a:solidFill>
                <a:latin typeface="맑은 고딕"/>
                <a:ea typeface="맑은 고딕"/>
                <a:cs typeface="맑은 고딕"/>
              </a:rPr>
              <a:t>	Bert는 탁자가 차에 안 들어갈까 걱정했다</a:t>
            </a:r>
            <a:endParaRPr lang="ko-KR" altLang="en-US" sz="1650" b="0" dirty="0">
              <a:solidFill>
                <a:srgbClr val="C00000"/>
              </a:solidFill>
              <a:latin typeface="맑은 고딕"/>
              <a:ea typeface="맑은 고딕"/>
              <a:cs typeface="맑은 고딕"/>
            </a:endParaRPr>
          </a:p>
        </p:txBody>
      </p:sp>
      <p:sp>
        <p:nvSpPr>
          <p:cNvPr id="14" name="choice_3"/>
          <p:cNvSpPr txBox="1"/>
          <p:nvPr/>
        </p:nvSpPr>
        <p:spPr>
          <a:xfrm>
            <a:off x="457200" y="4062222"/>
            <a:ext cx="11277295" cy="352044"/>
          </a:xfrm>
          <a:prstGeom prst="rect">
            <a:avLst/>
          </a:prstGeom>
          <a:noFill/>
        </p:spPr>
        <p:txBody>
          <a:bodyPr wrap="square" lIns="137160" tIns="27432" rIns="137160" bIns="27432" anchor="t" rtlCol="0">
            <a:noAutofit/>
          </a:bodyPr>
          <a:lstStyle/>
          <a:p>
            <a:pPr algn="l" marL="335280" indent="-335280">
              <a:lnSpc>
                <a:spcPts val="2340"/>
              </a:lnSpc>
              <a:spcBef>
                <a:spcPts val="0"/>
              </a:spcBef>
              <a:spcAft>
                <a:spcPts val="0"/>
              </a:spcAft>
              <a:buNone/>
              <a:tabLst>
                <a:tab pos="335280" algn="l"/>
              </a:tabLst>
            </a:pPr>
            <a:r>
              <a:rPr lang="ko-KR" altLang="en-US" sz="1650" b="1" dirty="0">
                <a:solidFill>
                  <a:srgbClr val="1E2A5A"/>
                </a:solidFill>
                <a:latin typeface="맑은 고딕"/>
                <a:ea typeface="맑은 고딕"/>
                <a:cs typeface="맑은 고딕"/>
              </a:rPr>
              <a:t>③</a:t>
            </a:r>
            <a:r>
              <a:rPr lang="ko-KR" altLang="en-US" sz="1650" b="0" dirty="0">
                <a:solidFill>
                  <a:srgbClr val="1F2328"/>
                </a:solidFill>
                <a:latin typeface="맑은 고딕"/>
                <a:ea typeface="맑은 고딕"/>
                <a:cs typeface="맑은 고딕"/>
              </a:rPr>
              <a:t>	Boggis 씨는 차로 가며 화를 냈다</a:t>
            </a:r>
            <a:endParaRPr lang="ko-KR" altLang="en-US" sz="1650" b="0" dirty="0">
              <a:solidFill>
                <a:srgbClr val="1F2328"/>
              </a:solidFill>
              <a:latin typeface="맑은 고딕"/>
              <a:ea typeface="맑은 고딕"/>
              <a:cs typeface="맑은 고딕"/>
            </a:endParaRPr>
          </a:p>
        </p:txBody>
      </p:sp>
      <p:sp>
        <p:nvSpPr>
          <p:cNvPr id="15" name="choice_4"/>
          <p:cNvSpPr txBox="1"/>
          <p:nvPr/>
        </p:nvSpPr>
        <p:spPr>
          <a:xfrm>
            <a:off x="457200" y="4441698"/>
            <a:ext cx="11277295" cy="352044"/>
          </a:xfrm>
          <a:prstGeom prst="rect">
            <a:avLst/>
          </a:prstGeom>
          <a:noFill/>
        </p:spPr>
        <p:txBody>
          <a:bodyPr wrap="square" lIns="137160" tIns="27432" rIns="137160" bIns="27432" anchor="t" rtlCol="0">
            <a:noAutofit/>
          </a:bodyPr>
          <a:lstStyle/>
          <a:p>
            <a:pPr algn="l" marL="335280" indent="-335280">
              <a:lnSpc>
                <a:spcPts val="2340"/>
              </a:lnSpc>
              <a:spcBef>
                <a:spcPts val="0"/>
              </a:spcBef>
              <a:spcAft>
                <a:spcPts val="0"/>
              </a:spcAft>
              <a:buNone/>
              <a:tabLst>
                <a:tab pos="335280" algn="l"/>
              </a:tabLst>
            </a:pPr>
            <a:r>
              <a:rPr lang="ko-KR" altLang="en-US" sz="1650" b="1" dirty="0">
                <a:solidFill>
                  <a:srgbClr val="1E2A5A"/>
                </a:solidFill>
                <a:latin typeface="맑은 고딕"/>
                <a:ea typeface="맑은 고딕"/>
                <a:cs typeface="맑은 고딕"/>
              </a:rPr>
              <a:t>④</a:t>
            </a:r>
            <a:r>
              <a:rPr lang="ko-KR" altLang="en-US" sz="1650" b="0" dirty="0">
                <a:solidFill>
                  <a:srgbClr val="1F2328"/>
                </a:solidFill>
                <a:latin typeface="맑은 고딕"/>
                <a:ea typeface="맑은 고딕"/>
                <a:cs typeface="맑은 고딕"/>
              </a:rPr>
              <a:t>	Boggis 씨는 돌아와서 크게 기뻐했다</a:t>
            </a:r>
            <a:endParaRPr lang="ko-KR" altLang="en-US" sz="1650" b="0" dirty="0">
              <a:solidFill>
                <a:srgbClr val="1F2328"/>
              </a:solidFill>
              <a:latin typeface="맑은 고딕"/>
              <a:ea typeface="맑은 고딕"/>
              <a:cs typeface="맑은 고딕"/>
            </a:endParaRPr>
          </a:p>
        </p:txBody>
      </p:sp>
      <p:sp>
        <p:nvSpPr>
          <p:cNvPr id="16" name="choice_5"/>
          <p:cNvSpPr txBox="1"/>
          <p:nvPr/>
        </p:nvSpPr>
        <p:spPr>
          <a:xfrm>
            <a:off x="457200" y="4821174"/>
            <a:ext cx="11277295" cy="352044"/>
          </a:xfrm>
          <a:prstGeom prst="rect">
            <a:avLst/>
          </a:prstGeom>
          <a:noFill/>
        </p:spPr>
        <p:txBody>
          <a:bodyPr wrap="square" lIns="137160" tIns="27432" rIns="137160" bIns="27432" anchor="t" rtlCol="0">
            <a:noAutofit/>
          </a:bodyPr>
          <a:lstStyle/>
          <a:p>
            <a:pPr algn="l" marL="335280" indent="-335280">
              <a:lnSpc>
                <a:spcPts val="2340"/>
              </a:lnSpc>
              <a:spcBef>
                <a:spcPts val="0"/>
              </a:spcBef>
              <a:spcAft>
                <a:spcPts val="0"/>
              </a:spcAft>
              <a:buNone/>
              <a:tabLst>
                <a:tab pos="335280" algn="l"/>
              </a:tabLst>
            </a:pPr>
            <a:r>
              <a:rPr lang="ko-KR" altLang="en-US" sz="1650" b="1" dirty="0">
                <a:solidFill>
                  <a:srgbClr val="1E2A5A"/>
                </a:solidFill>
                <a:latin typeface="맑은 고딕"/>
                <a:ea typeface="맑은 고딕"/>
                <a:cs typeface="맑은 고딕"/>
              </a:rPr>
              <a:t>⑤</a:t>
            </a:r>
            <a:r>
              <a:rPr lang="ko-KR" altLang="en-US" sz="1650" b="0" dirty="0">
                <a:solidFill>
                  <a:srgbClr val="1F2328"/>
                </a:solidFill>
                <a:latin typeface="맑은 고딕"/>
                <a:ea typeface="맑은 고딕"/>
                <a:cs typeface="맑은 고딕"/>
              </a:rPr>
              <a:t>	Rummins는 탁자를 차에 직접 실어 주었다</a:t>
            </a:r>
            <a:endParaRPr lang="ko-KR" altLang="en-US" sz="1650" b="0" dirty="0">
              <a:solidFill>
                <a:srgbClr val="1F2328"/>
              </a:solidFill>
              <a:latin typeface="맑은 고딕"/>
              <a:ea typeface="맑은 고딕"/>
              <a:cs typeface="맑은 고딕"/>
            </a:endParaRPr>
          </a:p>
        </p:txBody>
      </p:sp>
      <p:sp>
        <p:nvSpPr>
          <p:cNvPr id="17" name="rv_answer"/>
          <p:cNvSpPr/>
          <p:nvPr/>
        </p:nvSpPr>
        <p:spPr>
          <a:xfrm>
            <a:off x="457200" y="528294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② </a:t>
            </a:r>
            <a:r>
              <a:rPr lang="ko-KR" altLang="en-US" sz="1900" b="1" dirty="0">
                <a:solidFill>
                  <a:srgbClr val="5A4200"/>
                </a:solidFill>
                <a:latin typeface="맑은 고딕"/>
                <a:ea typeface="맑은 고딕"/>
                <a:cs typeface="맑은 고딕"/>
              </a:rPr>
              <a:t>Bert는 탁자가 차에 안 들어갈까 걱정했다</a:t>
            </a:r>
            <a:endParaRPr lang="ko-KR" altLang="en-US" sz="1900" b="1" dirty="0">
              <a:solidFill>
                <a:srgbClr val="5A4200"/>
              </a:solidFill>
              <a:latin typeface="맑은 고딕"/>
              <a:ea typeface="맑은 고딕"/>
              <a:cs typeface="맑은 고딕"/>
            </a:endParaRPr>
          </a:p>
        </p:txBody>
      </p:sp>
      <p:sp>
        <p:nvSpPr>
          <p:cNvPr id="18" name="rv_why"/>
          <p:cNvSpPr/>
          <p:nvPr/>
        </p:nvSpPr>
        <p:spPr>
          <a:xfrm>
            <a:off x="457200" y="5881878"/>
            <a:ext cx="11277295" cy="53720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340"/>
              </a:lnSpc>
              <a:spcBef>
                <a:spcPts val="0"/>
              </a:spcBef>
              <a:spcAft>
                <a:spcPts val="0"/>
              </a:spcAft>
              <a:buNone/>
            </a:pPr>
            <a:r>
              <a:rPr lang="ko-KR" altLang="en-US" sz="1650" b="1" dirty="0">
                <a:solidFill>
                  <a:srgbClr val="1E2A5A"/>
                </a:solidFill>
                <a:latin typeface="맑은 고딕"/>
                <a:ea typeface="맑은 고딕"/>
                <a:cs typeface="맑은 고딕"/>
              </a:rPr>
              <a:t>정답 원리   </a:t>
            </a:r>
            <a:r>
              <a:rPr lang="ko-KR" altLang="en-US" sz="1650" b="0" dirty="0">
                <a:solidFill>
                  <a:srgbClr val="16284A"/>
                </a:solidFill>
                <a:latin typeface="맑은 고딕"/>
                <a:ea typeface="맑은 고딕"/>
                <a:cs typeface="맑은 고딕"/>
              </a:rPr>
              <a:t>Bert는 탁자가 차에 안 들어가 돈을 못 받을까 걱정했다. ②가 일치한다.</a:t>
            </a:r>
            <a:endParaRPr lang="ko-KR" altLang="en-US" sz="165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250"/>
                                        <p:tgtEl>
                                          <p:spTgt spid="1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25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25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7" grpId="0" animBg="1"/>
      <p:bldP spid="9" grpId="0" animBg="1"/>
      <p:bldP spid="10" grpId="0" animBg="1"/>
      <p:bldP spid="18" grpId="0" animBg="1"/>
    </p:bldLst>
  </p:timing>
</p:sld>
</file>

<file path=ppt/slides/slide1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L6-3</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2 · 1</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1. 주어진 글 다음에 이어질 글의 순서로 가장 적절한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6</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정답 원리</a:t>
            </a:r>
            <a:endParaRPr lang="ko-KR" altLang="en-US" sz="1000" b="0" dirty="0">
              <a:solidFill>
                <a:srgbClr val="7A808C"/>
              </a:solidFill>
              <a:latin typeface="맑은 고딕"/>
              <a:ea typeface="맑은 고딕"/>
              <a:cs typeface="맑은 고딕"/>
            </a:endParaRPr>
          </a:p>
        </p:txBody>
      </p:sp>
      <p:sp>
        <p:nvSpPr>
          <p:cNvPr id="7" name="given_card"/>
          <p:cNvSpPr/>
          <p:nvPr/>
        </p:nvSpPr>
        <p:spPr>
          <a:xfrm>
            <a:off x="457200" y="950976"/>
            <a:ext cx="11277295" cy="681227"/>
          </a:xfrm>
          <a:prstGeom prst="roundRect">
            <a:avLst>
              <a:gd name="adj" fmla="val 6000"/>
            </a:avLst>
          </a:prstGeom>
          <a:solidFill>
            <a:srgbClr val="FFFFFF"/>
          </a:solidFill>
          <a:ln w="15875">
            <a:solidFill>
              <a:srgbClr val="1E2A5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given"/>
          <p:cNvSpPr txBox="1"/>
          <p:nvPr/>
        </p:nvSpPr>
        <p:spPr>
          <a:xfrm>
            <a:off x="457200" y="950976"/>
            <a:ext cx="11277295" cy="681227"/>
          </a:xfrm>
          <a:prstGeom prst="rect">
            <a:avLst/>
          </a:prstGeom>
          <a:noFill/>
        </p:spPr>
        <p:txBody>
          <a:bodyPr wrap="square" lIns="201168" tIns="100584" rIns="201168" bIns="100584" anchor="t" rtlCol="0">
            <a:noAutofit/>
          </a:bodyPr>
          <a:lstStyle/>
          <a:p>
            <a:pPr algn="l">
              <a:lnSpc>
                <a:spcPts val="1890"/>
              </a:lnSpc>
              <a:spcBef>
                <a:spcPts val="0"/>
              </a:spcBef>
              <a:spcAft>
                <a:spcPts val="0"/>
              </a:spcAft>
              <a:buNone/>
            </a:pPr>
            <a:r>
              <a:rPr lang="en-US" altLang="ko-KR" sz="1450" b="0" dirty="0">
                <a:solidFill>
                  <a:srgbClr val="1F2328"/>
                </a:solidFill>
                <a:latin typeface="Calibri"/>
                <a:ea typeface="맑은 고딕"/>
                <a:cs typeface="Calibri"/>
              </a:rPr>
              <a:t>He then added, "Hmm, I think I may buy it. The legs of my table at home are broken. I can cut off the legs of your table and attach them to mine."</a:t>
            </a:r>
            <a:endParaRPr lang="en-US" altLang="ko-KR" sz="1450" b="0" dirty="0">
              <a:solidFill>
                <a:srgbClr val="1F2328"/>
              </a:solidFill>
              <a:latin typeface="Calibri"/>
              <a:ea typeface="맑은 고딕"/>
              <a:cs typeface="Calibri"/>
            </a:endParaRPr>
          </a:p>
        </p:txBody>
      </p:sp>
      <p:sp>
        <p:nvSpPr>
          <p:cNvPr id="9" name="parts_card"/>
          <p:cNvSpPr/>
          <p:nvPr/>
        </p:nvSpPr>
        <p:spPr>
          <a:xfrm>
            <a:off x="457200" y="1760219"/>
            <a:ext cx="11277295" cy="2903981"/>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parts"/>
          <p:cNvSpPr txBox="1"/>
          <p:nvPr/>
        </p:nvSpPr>
        <p:spPr>
          <a:xfrm>
            <a:off x="457200" y="1760219"/>
            <a:ext cx="11277295" cy="2903981"/>
          </a:xfrm>
          <a:prstGeom prst="rect">
            <a:avLst/>
          </a:prstGeom>
          <a:noFill/>
        </p:spPr>
        <p:txBody>
          <a:bodyPr wrap="square" lIns="201168" tIns="118872" rIns="201168" bIns="118872" anchor="t" rtlCol="0">
            <a:noAutofit/>
          </a:bodyPr>
          <a:lstStyle/>
          <a:p>
            <a:pPr algn="just" marL="387350" indent="-387350">
              <a:lnSpc>
                <a:spcPts val="1890"/>
              </a:lnSpc>
              <a:spcBef>
                <a:spcPts val="0"/>
              </a:spcBef>
              <a:spcAft>
                <a:spcPts val="650"/>
              </a:spcAft>
              <a:buNone/>
              <a:tabLst>
                <a:tab pos="387350" algn="l"/>
              </a:tabLst>
            </a:pPr>
            <a:r>
              <a:rPr lang="en-US" altLang="ko-KR" sz="1450" b="1" dirty="0">
                <a:solidFill>
                  <a:srgbClr val="1E2A5A"/>
                </a:solidFill>
                <a:latin typeface="Calibri"/>
                <a:ea typeface="맑은 고딕"/>
                <a:cs typeface="Calibri"/>
              </a:rPr>
              <a:t>(A)</a:t>
            </a:r>
            <a:r>
              <a:rPr lang="en-US" altLang="ko-KR" sz="1450" b="0" dirty="0">
                <a:solidFill>
                  <a:srgbClr val="1F2328"/>
                </a:solidFill>
                <a:latin typeface="Calibri"/>
                <a:ea typeface="맑은 고딕"/>
                <a:cs typeface="Calibri"/>
              </a:rPr>
              <a:t>	"Great idea!" said Bert. Bert then took out a saw and began to cut off the legs. When Mr. Boggis came back, the legs had been cut off. "Don’t worry, this was a favor. I won’t charge you for this," said Rummins. Mr. Boggis was so shocked that he couldn’t say anything.</a:t>
            </a:r>
            <a:endParaRPr lang="en-US" altLang="ko-KR" sz="1450" b="0" dirty="0">
              <a:solidFill>
                <a:srgbClr val="1F2328"/>
              </a:solidFill>
              <a:latin typeface="Calibri"/>
              <a:ea typeface="맑은 고딕"/>
              <a:cs typeface="Calibri"/>
            </a:endParaRPr>
          </a:p>
          <a:p>
            <a:pPr algn="just" marL="387350" indent="-387350">
              <a:lnSpc>
                <a:spcPts val="1890"/>
              </a:lnSpc>
              <a:spcBef>
                <a:spcPts val="0"/>
              </a:spcBef>
              <a:spcAft>
                <a:spcPts val="650"/>
              </a:spcAft>
              <a:buNone/>
              <a:tabLst>
                <a:tab pos="387350" algn="l"/>
              </a:tabLst>
            </a:pPr>
            <a:r>
              <a:rPr lang="en-US" altLang="ko-KR" sz="1450" b="1" dirty="0">
                <a:solidFill>
                  <a:srgbClr val="1E2A5A"/>
                </a:solidFill>
                <a:latin typeface="Calibri"/>
                <a:ea typeface="맑은 고딕"/>
                <a:cs typeface="Calibri"/>
              </a:rPr>
              <a:t>(B)</a:t>
            </a:r>
            <a:r>
              <a:rPr lang="en-US" altLang="ko-KR" sz="1450" b="0" dirty="0">
                <a:solidFill>
                  <a:srgbClr val="1F2328"/>
                </a:solidFill>
                <a:latin typeface="Calibri"/>
                <a:ea typeface="맑은 고딕"/>
                <a:cs typeface="Calibri"/>
              </a:rPr>
              <a:t>	"How much?" Rummins asked. "Not much, I’m afraid. This is just a reproduction," said Mr. Boggis. "So how much?" "Ten pounds." "Ten? It’s worth more than that." "How about fifteen?" "Make it fifty." "Well, thirty. This is my final offer." "OK, it’s yours, but how are you going to take it? This thing will not go in a car!" "We’ll see," Mr. Boggis said and went out to bring his car.</a:t>
            </a:r>
            <a:endParaRPr lang="en-US" altLang="ko-KR" sz="1450" b="0" dirty="0">
              <a:solidFill>
                <a:srgbClr val="1F2328"/>
              </a:solidFill>
              <a:latin typeface="Calibri"/>
              <a:ea typeface="맑은 고딕"/>
              <a:cs typeface="Calibri"/>
            </a:endParaRPr>
          </a:p>
          <a:p>
            <a:pPr algn="just" marL="387350" indent="-387350">
              <a:lnSpc>
                <a:spcPts val="1890"/>
              </a:lnSpc>
              <a:spcBef>
                <a:spcPts val="0"/>
              </a:spcBef>
              <a:spcAft>
                <a:spcPts val="650"/>
              </a:spcAft>
              <a:buNone/>
              <a:tabLst>
                <a:tab pos="387350" algn="l"/>
              </a:tabLst>
            </a:pPr>
            <a:r>
              <a:rPr lang="en-US" altLang="ko-KR" sz="1450" b="1" dirty="0">
                <a:solidFill>
                  <a:srgbClr val="1E2A5A"/>
                </a:solidFill>
                <a:latin typeface="Calibri"/>
                <a:ea typeface="맑은 고딕"/>
                <a:cs typeface="Calibri"/>
              </a:rPr>
              <a:t>(C)</a:t>
            </a:r>
            <a:r>
              <a:rPr lang="en-US" altLang="ko-KR" sz="1450" b="0" dirty="0">
                <a:solidFill>
                  <a:srgbClr val="1F2328"/>
                </a:solidFill>
                <a:latin typeface="Calibri"/>
                <a:ea typeface="맑은 고딕"/>
                <a:cs typeface="Calibri"/>
              </a:rPr>
              <a:t>	On his way to the car, Mr. Boggis couldn’t help smiling. The table was what every dealer dreamed of. He couldn’t believe his luck. "Dad, what if this thing doesn’t go in his car? He might not pay you," said Bert. Rummins then had an idea. "What he wants is only the legs. Let’s cut the legs off for him," said Rummins.</a:t>
            </a:r>
            <a:endParaRPr lang="en-US" altLang="ko-KR" sz="1450" b="0" dirty="0">
              <a:solidFill>
                <a:srgbClr val="1F2328"/>
              </a:solidFill>
              <a:latin typeface="Calibri"/>
              <a:ea typeface="맑은 고딕"/>
              <a:cs typeface="Calibri"/>
            </a:endParaRPr>
          </a:p>
        </p:txBody>
      </p:sp>
      <p:sp>
        <p:nvSpPr>
          <p:cNvPr id="11" name="options"/>
          <p:cNvSpPr txBox="1"/>
          <p:nvPr/>
        </p:nvSpPr>
        <p:spPr>
          <a:xfrm>
            <a:off x="457200" y="4773930"/>
            <a:ext cx="11277295" cy="420624"/>
          </a:xfrm>
          <a:prstGeom prst="rect">
            <a:avLst/>
          </a:prstGeom>
          <a:noFill/>
        </p:spPr>
        <p:txBody>
          <a:bodyPr wrap="square" lIns="91440" tIns="18288" rIns="91440" bIns="18288" anchor="ctr" rtlCol="0">
            <a:noAutofit/>
          </a:bodyPr>
          <a:lstStyle/>
          <a:p>
            <a:pPr algn="ctr">
              <a:lnSpc>
                <a:spcPts val="2560"/>
              </a:lnSpc>
              <a:spcBef>
                <a:spcPts val="0"/>
              </a:spcBef>
              <a:spcAft>
                <a:spcPts val="0"/>
              </a:spcAft>
              <a:buNone/>
            </a:pPr>
            <a:r>
              <a:rPr lang="ko-KR" altLang="en-US" sz="1800" b="1" dirty="0">
                <a:solidFill>
                  <a:srgbClr val="1E2A5A"/>
                </a:solidFill>
                <a:latin typeface="맑은 고딕"/>
                <a:ea typeface="맑은 고딕"/>
                <a:cs typeface="맑은 고딕"/>
              </a:rPr>
              <a:t>① </a:t>
            </a:r>
            <a:r>
              <a:rPr lang="en-US" altLang="ko-KR" sz="1800" b="0" dirty="0">
                <a:solidFill>
                  <a:srgbClr val="1F2328"/>
                </a:solidFill>
                <a:latin typeface="Calibri"/>
                <a:ea typeface="맑은 고딕"/>
                <a:cs typeface="Calibri"/>
              </a:rPr>
              <a:t>(A) - (C) - (B)</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② </a:t>
            </a:r>
            <a:r>
              <a:rPr lang="en-US" altLang="ko-KR" sz="1800" b="0" dirty="0">
                <a:solidFill>
                  <a:srgbClr val="1F2328"/>
                </a:solidFill>
                <a:latin typeface="Calibri"/>
                <a:ea typeface="맑은 고딕"/>
                <a:cs typeface="Calibri"/>
              </a:rPr>
              <a:t>(B) - (A) - (C)</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③ </a:t>
            </a:r>
            <a:r>
              <a:rPr lang="en-US" altLang="ko-KR" sz="1800" b="0" dirty="0">
                <a:solidFill>
                  <a:srgbClr val="1F2328"/>
                </a:solidFill>
                <a:latin typeface="Calibri"/>
                <a:ea typeface="맑은 고딕"/>
                <a:cs typeface="Calibri"/>
              </a:rPr>
              <a:t>(B) - (C) - (A)</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④ </a:t>
            </a:r>
            <a:r>
              <a:rPr lang="en-US" altLang="ko-KR" sz="1800" b="0" dirty="0">
                <a:solidFill>
                  <a:srgbClr val="1F2328"/>
                </a:solidFill>
                <a:latin typeface="Calibri"/>
                <a:ea typeface="맑은 고딕"/>
                <a:cs typeface="Calibri"/>
              </a:rPr>
              <a:t>(C) - (A) - (B)</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⑤ </a:t>
            </a:r>
            <a:r>
              <a:rPr lang="en-US" altLang="ko-KR" sz="1800" b="0" dirty="0">
                <a:solidFill>
                  <a:srgbClr val="1F2328"/>
                </a:solidFill>
                <a:latin typeface="Calibri"/>
                <a:ea typeface="맑은 고딕"/>
                <a:cs typeface="Calibri"/>
              </a:rPr>
              <a:t>(C) - (B) - (A)</a:t>
            </a:r>
            <a:endParaRPr lang="en-US" altLang="ko-KR" sz="1800" b="0" dirty="0">
              <a:solidFill>
                <a:srgbClr val="1F2328"/>
              </a:solidFill>
              <a:latin typeface="Calibri"/>
              <a:ea typeface="맑은 고딕"/>
              <a:cs typeface="Calibri"/>
            </a:endParaRPr>
          </a:p>
        </p:txBody>
      </p:sp>
      <p:sp>
        <p:nvSpPr>
          <p:cNvPr id="12" name="rv_pick"/>
          <p:cNvSpPr txBox="1"/>
          <p:nvPr/>
        </p:nvSpPr>
        <p:spPr>
          <a:xfrm>
            <a:off x="457200" y="4773930"/>
            <a:ext cx="11277295" cy="420624"/>
          </a:xfrm>
          <a:prstGeom prst="rect">
            <a:avLst/>
          </a:prstGeom>
          <a:noFill/>
        </p:spPr>
        <p:txBody>
          <a:bodyPr wrap="square" lIns="91440" tIns="18288" rIns="91440" bIns="18288" anchor="ctr" rtlCol="0">
            <a:noAutofit/>
          </a:bodyPr>
          <a:lstStyle/>
          <a:p>
            <a:pPr algn="ctr">
              <a:lnSpc>
                <a:spcPts val="2560"/>
              </a:lnSpc>
              <a:spcBef>
                <a:spcPts val="0"/>
              </a:spcBef>
              <a:spcAft>
                <a:spcPts val="0"/>
              </a:spcAft>
              <a:buNone/>
            </a:pPr>
            <a:r>
              <a:rPr lang="ko-KR" altLang="en-US" sz="1800" b="1" dirty="0">
                <a:solidFill>
                  <a:srgbClr val="1E2A5A">
                    <a:alpha val="0"/>
                  </a:srgbClr>
                </a:solidFill>
                <a:latin typeface="맑은 고딕"/>
                <a:ea typeface="맑은 고딕"/>
                <a:cs typeface="맑은 고딕"/>
              </a:rPr>
              <a:t>① </a:t>
            </a:r>
            <a:r>
              <a:rPr lang="en-US" altLang="ko-KR" sz="1800" b="0" dirty="0">
                <a:solidFill>
                  <a:srgbClr val="1F2328">
                    <a:alpha val="0"/>
                  </a:srgbClr>
                </a:solidFill>
                <a:latin typeface="Calibri"/>
                <a:ea typeface="맑은 고딕"/>
                <a:cs typeface="Calibri"/>
              </a:rPr>
              <a:t>(A) - (C) - (B)</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② </a:t>
            </a:r>
            <a:r>
              <a:rPr lang="en-US" altLang="ko-KR" sz="1800" b="0" dirty="0">
                <a:solidFill>
                  <a:srgbClr val="1F2328">
                    <a:alpha val="0"/>
                  </a:srgbClr>
                </a:solidFill>
                <a:latin typeface="Calibri"/>
                <a:ea typeface="맑은 고딕"/>
                <a:cs typeface="Calibri"/>
              </a:rPr>
              <a:t>(B) - (A) - (C)</a:t>
            </a:r>
            <a:r>
              <a:rPr lang="en-US" altLang="ko-KR" sz="1800" b="0" dirty="0">
                <a:solidFill>
                  <a:srgbClr val="1F2328">
                    <a:alpha val="0"/>
                  </a:srgbClr>
                </a:solidFill>
                <a:latin typeface="Calibri"/>
                <a:ea typeface="맑은 고딕"/>
                <a:cs typeface="Calibri"/>
              </a:rPr>
              <a:t>       </a:t>
            </a:r>
            <a:r>
              <a:rPr lang="ko-KR" altLang="en-US" sz="1800" b="1" dirty="0">
                <a:solidFill>
                  <a:srgbClr val="C00000"/>
                </a:solidFill>
                <a:highlight>
                  <a:srgbClr val="FFFFFF"/>
                </a:highlight>
                <a:latin typeface="맑은 고딕"/>
                <a:ea typeface="맑은 고딕"/>
                <a:cs typeface="맑은 고딕"/>
              </a:rPr>
              <a:t>③ </a:t>
            </a:r>
            <a:r>
              <a:rPr lang="en-US" altLang="ko-KR" sz="1800" b="0" dirty="0">
                <a:solidFill>
                  <a:srgbClr val="C00000"/>
                </a:solidFill>
                <a:highlight>
                  <a:srgbClr val="FFFFFF"/>
                </a:highlight>
                <a:latin typeface="Calibri"/>
                <a:ea typeface="맑은 고딕"/>
                <a:cs typeface="Calibri"/>
              </a:rPr>
              <a:t>(B) - (C) - (A)</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④ </a:t>
            </a:r>
            <a:r>
              <a:rPr lang="en-US" altLang="ko-KR" sz="1800" b="0" dirty="0">
                <a:solidFill>
                  <a:srgbClr val="1F2328">
                    <a:alpha val="0"/>
                  </a:srgbClr>
                </a:solidFill>
                <a:latin typeface="Calibri"/>
                <a:ea typeface="맑은 고딕"/>
                <a:cs typeface="Calibri"/>
              </a:rPr>
              <a:t>(C) - (A) - (B)</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⑤ </a:t>
            </a:r>
            <a:r>
              <a:rPr lang="en-US" altLang="ko-KR" sz="1800" b="0" dirty="0">
                <a:solidFill>
                  <a:srgbClr val="1F2328">
                    <a:alpha val="0"/>
                  </a:srgbClr>
                </a:solidFill>
                <a:latin typeface="Calibri"/>
                <a:ea typeface="맑은 고딕"/>
                <a:cs typeface="Calibri"/>
              </a:rPr>
              <a:t>(C) - (B) - (A)</a:t>
            </a:r>
            <a:endParaRPr lang="en-US" altLang="ko-KR" sz="1800" b="0" dirty="0">
              <a:solidFill>
                <a:srgbClr val="1F2328"/>
              </a:solidFill>
              <a:latin typeface="Calibri"/>
              <a:ea typeface="맑은 고딕"/>
              <a:cs typeface="Calibri"/>
            </a:endParaRPr>
          </a:p>
        </p:txBody>
      </p:sp>
      <p:sp>
        <p:nvSpPr>
          <p:cNvPr id="13" name="rv_answer"/>
          <p:cNvSpPr/>
          <p:nvPr/>
        </p:nvSpPr>
        <p:spPr>
          <a:xfrm>
            <a:off x="457200" y="5285994"/>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③ </a:t>
            </a:r>
            <a:r>
              <a:rPr lang="en-US" altLang="ko-KR" sz="1900" b="1" dirty="0">
                <a:solidFill>
                  <a:srgbClr val="5A4200"/>
                </a:solidFill>
                <a:latin typeface="Calibri"/>
                <a:ea typeface="맑은 고딕"/>
                <a:cs typeface="Calibri"/>
              </a:rPr>
              <a:t>(B) - (C) - (A)</a:t>
            </a:r>
            <a:endParaRPr lang="en-US" altLang="ko-KR" sz="1900" b="1" dirty="0">
              <a:solidFill>
                <a:srgbClr val="5A4200"/>
              </a:solidFill>
              <a:latin typeface="Calibri"/>
              <a:ea typeface="맑은 고딕"/>
              <a:cs typeface="Calibri"/>
            </a:endParaRPr>
          </a:p>
        </p:txBody>
      </p:sp>
      <p:sp>
        <p:nvSpPr>
          <p:cNvPr id="14" name="rv_why"/>
          <p:cNvSpPr/>
          <p:nvPr/>
        </p:nvSpPr>
        <p:spPr>
          <a:xfrm>
            <a:off x="457200" y="5884926"/>
            <a:ext cx="11277295" cy="534161"/>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(B) 흥정하고 차를 가지러 간다 → (C) 그사이 다리를 잘라 주기로 한다 → (A) 잘린 다리에 놀란다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25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250"/>
                                        <p:tgtEl>
                                          <p:spTgt spid="1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2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animBg="1"/>
    </p:bldLst>
  </p:timing>
</p:sld>
</file>

<file path=ppt/slides/slide1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L6-3</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2 · 2</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2. 주어진 글 다음에 이어질 글의 순서로 가장 적절한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6</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정답 원리</a:t>
            </a:r>
            <a:endParaRPr lang="ko-KR" altLang="en-US" sz="1000" b="0" dirty="0">
              <a:solidFill>
                <a:srgbClr val="7A808C"/>
              </a:solidFill>
              <a:latin typeface="맑은 고딕"/>
              <a:ea typeface="맑은 고딕"/>
              <a:cs typeface="맑은 고딕"/>
            </a:endParaRPr>
          </a:p>
        </p:txBody>
      </p:sp>
      <p:sp>
        <p:nvSpPr>
          <p:cNvPr id="7" name="given_card"/>
          <p:cNvSpPr/>
          <p:nvPr/>
        </p:nvSpPr>
        <p:spPr>
          <a:xfrm>
            <a:off x="457200" y="950976"/>
            <a:ext cx="11277295" cy="681227"/>
          </a:xfrm>
          <a:prstGeom prst="roundRect">
            <a:avLst>
              <a:gd name="adj" fmla="val 6000"/>
            </a:avLst>
          </a:prstGeom>
          <a:solidFill>
            <a:srgbClr val="FFFFFF"/>
          </a:solidFill>
          <a:ln w="15875">
            <a:solidFill>
              <a:srgbClr val="1E2A5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given"/>
          <p:cNvSpPr txBox="1"/>
          <p:nvPr/>
        </p:nvSpPr>
        <p:spPr>
          <a:xfrm>
            <a:off x="457200" y="950976"/>
            <a:ext cx="11277295" cy="681227"/>
          </a:xfrm>
          <a:prstGeom prst="rect">
            <a:avLst/>
          </a:prstGeom>
          <a:noFill/>
        </p:spPr>
        <p:txBody>
          <a:bodyPr wrap="square" lIns="201168" tIns="100584" rIns="201168" bIns="100584" anchor="t" rtlCol="0">
            <a:noAutofit/>
          </a:bodyPr>
          <a:lstStyle/>
          <a:p>
            <a:pPr algn="l">
              <a:lnSpc>
                <a:spcPts val="1890"/>
              </a:lnSpc>
              <a:spcBef>
                <a:spcPts val="0"/>
              </a:spcBef>
              <a:spcAft>
                <a:spcPts val="0"/>
              </a:spcAft>
              <a:buNone/>
            </a:pPr>
            <a:r>
              <a:rPr lang="en-US" altLang="ko-KR" sz="1450" b="0" dirty="0">
                <a:solidFill>
                  <a:srgbClr val="1F2328"/>
                </a:solidFill>
                <a:latin typeface="Calibri"/>
                <a:ea typeface="맑은 고딕"/>
                <a:cs typeface="Calibri"/>
              </a:rPr>
              <a:t>He then added, "Hmm, I think I may buy it. The legs of my table at home are broken. I can cut off the legs of your table and attach them to mine."</a:t>
            </a:r>
            <a:endParaRPr lang="en-US" altLang="ko-KR" sz="1450" b="0" dirty="0">
              <a:solidFill>
                <a:srgbClr val="1F2328"/>
              </a:solidFill>
              <a:latin typeface="Calibri"/>
              <a:ea typeface="맑은 고딕"/>
              <a:cs typeface="Calibri"/>
            </a:endParaRPr>
          </a:p>
        </p:txBody>
      </p:sp>
      <p:sp>
        <p:nvSpPr>
          <p:cNvPr id="9" name="parts_card"/>
          <p:cNvSpPr/>
          <p:nvPr/>
        </p:nvSpPr>
        <p:spPr>
          <a:xfrm>
            <a:off x="457200" y="1760219"/>
            <a:ext cx="11277295" cy="2903981"/>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parts"/>
          <p:cNvSpPr txBox="1"/>
          <p:nvPr/>
        </p:nvSpPr>
        <p:spPr>
          <a:xfrm>
            <a:off x="457200" y="1760219"/>
            <a:ext cx="11277295" cy="2903981"/>
          </a:xfrm>
          <a:prstGeom prst="rect">
            <a:avLst/>
          </a:prstGeom>
          <a:noFill/>
        </p:spPr>
        <p:txBody>
          <a:bodyPr wrap="square" lIns="201168" tIns="118872" rIns="201168" bIns="118872" anchor="t" rtlCol="0">
            <a:noAutofit/>
          </a:bodyPr>
          <a:lstStyle/>
          <a:p>
            <a:pPr algn="just" marL="387350" indent="-387350">
              <a:lnSpc>
                <a:spcPts val="1890"/>
              </a:lnSpc>
              <a:spcBef>
                <a:spcPts val="0"/>
              </a:spcBef>
              <a:spcAft>
                <a:spcPts val="650"/>
              </a:spcAft>
              <a:buNone/>
              <a:tabLst>
                <a:tab pos="387350" algn="l"/>
              </a:tabLst>
            </a:pPr>
            <a:r>
              <a:rPr lang="en-US" altLang="ko-KR" sz="1450" b="1" dirty="0">
                <a:solidFill>
                  <a:srgbClr val="1E2A5A"/>
                </a:solidFill>
                <a:latin typeface="Calibri"/>
                <a:ea typeface="맑은 고딕"/>
                <a:cs typeface="Calibri"/>
              </a:rPr>
              <a:t>(A)</a:t>
            </a:r>
            <a:r>
              <a:rPr lang="en-US" altLang="ko-KR" sz="1450" b="0" dirty="0">
                <a:solidFill>
                  <a:srgbClr val="1F2328"/>
                </a:solidFill>
                <a:latin typeface="Calibri"/>
                <a:ea typeface="맑은 고딕"/>
                <a:cs typeface="Calibri"/>
              </a:rPr>
              <a:t>	"Great idea!" said Bert. Bert then took out a saw and began to cut off the legs. When Mr. Boggis came back, the legs had been cut off. "Don’t worry, this was a favor. I won’t charge you for this," said Rummins. Mr. Boggis was so shocked that he couldn’t say anything.</a:t>
            </a:r>
            <a:endParaRPr lang="en-US" altLang="ko-KR" sz="1450" b="0" dirty="0">
              <a:solidFill>
                <a:srgbClr val="1F2328"/>
              </a:solidFill>
              <a:latin typeface="Calibri"/>
              <a:ea typeface="맑은 고딕"/>
              <a:cs typeface="Calibri"/>
            </a:endParaRPr>
          </a:p>
          <a:p>
            <a:pPr algn="just" marL="387350" indent="-387350">
              <a:lnSpc>
                <a:spcPts val="1890"/>
              </a:lnSpc>
              <a:spcBef>
                <a:spcPts val="0"/>
              </a:spcBef>
              <a:spcAft>
                <a:spcPts val="650"/>
              </a:spcAft>
              <a:buNone/>
              <a:tabLst>
                <a:tab pos="387350" algn="l"/>
              </a:tabLst>
            </a:pPr>
            <a:r>
              <a:rPr lang="en-US" altLang="ko-KR" sz="1450" b="1" dirty="0">
                <a:solidFill>
                  <a:srgbClr val="1E2A5A"/>
                </a:solidFill>
                <a:latin typeface="Calibri"/>
                <a:ea typeface="맑은 고딕"/>
                <a:cs typeface="Calibri"/>
              </a:rPr>
              <a:t>(B)</a:t>
            </a:r>
            <a:r>
              <a:rPr lang="en-US" altLang="ko-KR" sz="1450" b="0" dirty="0">
                <a:solidFill>
                  <a:srgbClr val="1F2328"/>
                </a:solidFill>
                <a:latin typeface="Calibri"/>
                <a:ea typeface="맑은 고딕"/>
                <a:cs typeface="Calibri"/>
              </a:rPr>
              <a:t>	On his way to the car, Mr. Boggis couldn’t help smiling. The table was what every dealer dreamed of. He couldn’t believe his luck. "Dad, what if this thing doesn’t go in his car? He might not pay you," said Bert. Rummins then had an idea. "What he wants is only the legs. Let’s cut the legs off for him," said Rummins.</a:t>
            </a:r>
            <a:endParaRPr lang="en-US" altLang="ko-KR" sz="1450" b="0" dirty="0">
              <a:solidFill>
                <a:srgbClr val="1F2328"/>
              </a:solidFill>
              <a:latin typeface="Calibri"/>
              <a:ea typeface="맑은 고딕"/>
              <a:cs typeface="Calibri"/>
            </a:endParaRPr>
          </a:p>
          <a:p>
            <a:pPr algn="just" marL="387350" indent="-387350">
              <a:lnSpc>
                <a:spcPts val="1890"/>
              </a:lnSpc>
              <a:spcBef>
                <a:spcPts val="0"/>
              </a:spcBef>
              <a:spcAft>
                <a:spcPts val="650"/>
              </a:spcAft>
              <a:buNone/>
              <a:tabLst>
                <a:tab pos="387350" algn="l"/>
              </a:tabLst>
            </a:pPr>
            <a:r>
              <a:rPr lang="en-US" altLang="ko-KR" sz="1450" b="1" dirty="0">
                <a:solidFill>
                  <a:srgbClr val="1E2A5A"/>
                </a:solidFill>
                <a:latin typeface="Calibri"/>
                <a:ea typeface="맑은 고딕"/>
                <a:cs typeface="Calibri"/>
              </a:rPr>
              <a:t>(C)</a:t>
            </a:r>
            <a:r>
              <a:rPr lang="en-US" altLang="ko-KR" sz="1450" b="0" dirty="0">
                <a:solidFill>
                  <a:srgbClr val="1F2328"/>
                </a:solidFill>
                <a:latin typeface="Calibri"/>
                <a:ea typeface="맑은 고딕"/>
                <a:cs typeface="Calibri"/>
              </a:rPr>
              <a:t>	"How much?" Rummins asked. "Not much, I’m afraid. This is just a reproduction," said Mr. Boggis. "So how much?" "Ten pounds." "Ten? It’s worth more than that." "How about fifteen?" "Make it fifty." "Well, thirty. This is my final offer." "OK, it’s yours, but how are you going to take it? This thing will not go in a car!" "We’ll see," Mr. Boggis said and went out to bring his car.</a:t>
            </a:r>
            <a:endParaRPr lang="en-US" altLang="ko-KR" sz="1450" b="0" dirty="0">
              <a:solidFill>
                <a:srgbClr val="1F2328"/>
              </a:solidFill>
              <a:latin typeface="Calibri"/>
              <a:ea typeface="맑은 고딕"/>
              <a:cs typeface="Calibri"/>
            </a:endParaRPr>
          </a:p>
        </p:txBody>
      </p:sp>
      <p:sp>
        <p:nvSpPr>
          <p:cNvPr id="11" name="options"/>
          <p:cNvSpPr txBox="1"/>
          <p:nvPr/>
        </p:nvSpPr>
        <p:spPr>
          <a:xfrm>
            <a:off x="457200" y="4773930"/>
            <a:ext cx="11277295" cy="420624"/>
          </a:xfrm>
          <a:prstGeom prst="rect">
            <a:avLst/>
          </a:prstGeom>
          <a:noFill/>
        </p:spPr>
        <p:txBody>
          <a:bodyPr wrap="square" lIns="91440" tIns="18288" rIns="91440" bIns="18288" anchor="ctr" rtlCol="0">
            <a:noAutofit/>
          </a:bodyPr>
          <a:lstStyle/>
          <a:p>
            <a:pPr algn="ctr">
              <a:lnSpc>
                <a:spcPts val="2560"/>
              </a:lnSpc>
              <a:spcBef>
                <a:spcPts val="0"/>
              </a:spcBef>
              <a:spcAft>
                <a:spcPts val="0"/>
              </a:spcAft>
              <a:buNone/>
            </a:pPr>
            <a:r>
              <a:rPr lang="ko-KR" altLang="en-US" sz="1800" b="1" dirty="0">
                <a:solidFill>
                  <a:srgbClr val="1E2A5A"/>
                </a:solidFill>
                <a:latin typeface="맑은 고딕"/>
                <a:ea typeface="맑은 고딕"/>
                <a:cs typeface="맑은 고딕"/>
              </a:rPr>
              <a:t>① </a:t>
            </a:r>
            <a:r>
              <a:rPr lang="en-US" altLang="ko-KR" sz="1800" b="0" dirty="0">
                <a:solidFill>
                  <a:srgbClr val="1F2328"/>
                </a:solidFill>
                <a:latin typeface="Calibri"/>
                <a:ea typeface="맑은 고딕"/>
                <a:cs typeface="Calibri"/>
              </a:rPr>
              <a:t>(A) - (C) - (B)</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② </a:t>
            </a:r>
            <a:r>
              <a:rPr lang="en-US" altLang="ko-KR" sz="1800" b="0" dirty="0">
                <a:solidFill>
                  <a:srgbClr val="1F2328"/>
                </a:solidFill>
                <a:latin typeface="Calibri"/>
                <a:ea typeface="맑은 고딕"/>
                <a:cs typeface="Calibri"/>
              </a:rPr>
              <a:t>(B) - (A) - (C)</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③ </a:t>
            </a:r>
            <a:r>
              <a:rPr lang="en-US" altLang="ko-KR" sz="1800" b="0" dirty="0">
                <a:solidFill>
                  <a:srgbClr val="1F2328"/>
                </a:solidFill>
                <a:latin typeface="Calibri"/>
                <a:ea typeface="맑은 고딕"/>
                <a:cs typeface="Calibri"/>
              </a:rPr>
              <a:t>(B) - (C) - (A)</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④ </a:t>
            </a:r>
            <a:r>
              <a:rPr lang="en-US" altLang="ko-KR" sz="1800" b="0" dirty="0">
                <a:solidFill>
                  <a:srgbClr val="1F2328"/>
                </a:solidFill>
                <a:latin typeface="Calibri"/>
                <a:ea typeface="맑은 고딕"/>
                <a:cs typeface="Calibri"/>
              </a:rPr>
              <a:t>(C) - (A) - (B)</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⑤ </a:t>
            </a:r>
            <a:r>
              <a:rPr lang="en-US" altLang="ko-KR" sz="1800" b="0" dirty="0">
                <a:solidFill>
                  <a:srgbClr val="1F2328"/>
                </a:solidFill>
                <a:latin typeface="Calibri"/>
                <a:ea typeface="맑은 고딕"/>
                <a:cs typeface="Calibri"/>
              </a:rPr>
              <a:t>(C) - (B) - (A)</a:t>
            </a:r>
            <a:endParaRPr lang="en-US" altLang="ko-KR" sz="1800" b="0" dirty="0">
              <a:solidFill>
                <a:srgbClr val="1F2328"/>
              </a:solidFill>
              <a:latin typeface="Calibri"/>
              <a:ea typeface="맑은 고딕"/>
              <a:cs typeface="Calibri"/>
            </a:endParaRPr>
          </a:p>
        </p:txBody>
      </p:sp>
      <p:sp>
        <p:nvSpPr>
          <p:cNvPr id="12" name="rv_pick"/>
          <p:cNvSpPr txBox="1"/>
          <p:nvPr/>
        </p:nvSpPr>
        <p:spPr>
          <a:xfrm>
            <a:off x="457200" y="4773930"/>
            <a:ext cx="11277295" cy="420624"/>
          </a:xfrm>
          <a:prstGeom prst="rect">
            <a:avLst/>
          </a:prstGeom>
          <a:noFill/>
        </p:spPr>
        <p:txBody>
          <a:bodyPr wrap="square" lIns="91440" tIns="18288" rIns="91440" bIns="18288" anchor="ctr" rtlCol="0">
            <a:noAutofit/>
          </a:bodyPr>
          <a:lstStyle/>
          <a:p>
            <a:pPr algn="ctr">
              <a:lnSpc>
                <a:spcPts val="2560"/>
              </a:lnSpc>
              <a:spcBef>
                <a:spcPts val="0"/>
              </a:spcBef>
              <a:spcAft>
                <a:spcPts val="0"/>
              </a:spcAft>
              <a:buNone/>
            </a:pPr>
            <a:r>
              <a:rPr lang="ko-KR" altLang="en-US" sz="1800" b="1" dirty="0">
                <a:solidFill>
                  <a:srgbClr val="1E2A5A">
                    <a:alpha val="0"/>
                  </a:srgbClr>
                </a:solidFill>
                <a:latin typeface="맑은 고딕"/>
                <a:ea typeface="맑은 고딕"/>
                <a:cs typeface="맑은 고딕"/>
              </a:rPr>
              <a:t>① </a:t>
            </a:r>
            <a:r>
              <a:rPr lang="en-US" altLang="ko-KR" sz="1800" b="0" dirty="0">
                <a:solidFill>
                  <a:srgbClr val="1F2328">
                    <a:alpha val="0"/>
                  </a:srgbClr>
                </a:solidFill>
                <a:latin typeface="Calibri"/>
                <a:ea typeface="맑은 고딕"/>
                <a:cs typeface="Calibri"/>
              </a:rPr>
              <a:t>(A) - (C) - (B)</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② </a:t>
            </a:r>
            <a:r>
              <a:rPr lang="en-US" altLang="ko-KR" sz="1800" b="0" dirty="0">
                <a:solidFill>
                  <a:srgbClr val="1F2328">
                    <a:alpha val="0"/>
                  </a:srgbClr>
                </a:solidFill>
                <a:latin typeface="Calibri"/>
                <a:ea typeface="맑은 고딕"/>
                <a:cs typeface="Calibri"/>
              </a:rPr>
              <a:t>(B) - (A) - (C)</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③ </a:t>
            </a:r>
            <a:r>
              <a:rPr lang="en-US" altLang="ko-KR" sz="1800" b="0" dirty="0">
                <a:solidFill>
                  <a:srgbClr val="1F2328">
                    <a:alpha val="0"/>
                  </a:srgbClr>
                </a:solidFill>
                <a:latin typeface="Calibri"/>
                <a:ea typeface="맑은 고딕"/>
                <a:cs typeface="Calibri"/>
              </a:rPr>
              <a:t>(B) - (C) - (A)</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④ </a:t>
            </a:r>
            <a:r>
              <a:rPr lang="en-US" altLang="ko-KR" sz="1800" b="0" dirty="0">
                <a:solidFill>
                  <a:srgbClr val="1F2328">
                    <a:alpha val="0"/>
                  </a:srgbClr>
                </a:solidFill>
                <a:latin typeface="Calibri"/>
                <a:ea typeface="맑은 고딕"/>
                <a:cs typeface="Calibri"/>
              </a:rPr>
              <a:t>(C) - (A) - (B)</a:t>
            </a:r>
            <a:r>
              <a:rPr lang="en-US" altLang="ko-KR" sz="1800" b="0" dirty="0">
                <a:solidFill>
                  <a:srgbClr val="1F2328">
                    <a:alpha val="0"/>
                  </a:srgbClr>
                </a:solidFill>
                <a:latin typeface="Calibri"/>
                <a:ea typeface="맑은 고딕"/>
                <a:cs typeface="Calibri"/>
              </a:rPr>
              <a:t>       </a:t>
            </a:r>
            <a:r>
              <a:rPr lang="ko-KR" altLang="en-US" sz="1800" b="1" dirty="0">
                <a:solidFill>
                  <a:srgbClr val="C00000"/>
                </a:solidFill>
                <a:highlight>
                  <a:srgbClr val="FFFFFF"/>
                </a:highlight>
                <a:latin typeface="맑은 고딕"/>
                <a:ea typeface="맑은 고딕"/>
                <a:cs typeface="맑은 고딕"/>
              </a:rPr>
              <a:t>⑤ </a:t>
            </a:r>
            <a:r>
              <a:rPr lang="en-US" altLang="ko-KR" sz="1800" b="0" dirty="0">
                <a:solidFill>
                  <a:srgbClr val="C00000"/>
                </a:solidFill>
                <a:highlight>
                  <a:srgbClr val="FFFFFF"/>
                </a:highlight>
                <a:latin typeface="Calibri"/>
                <a:ea typeface="맑은 고딕"/>
                <a:cs typeface="Calibri"/>
              </a:rPr>
              <a:t>(C) - (B) - (A)</a:t>
            </a:r>
            <a:endParaRPr lang="en-US" altLang="ko-KR" sz="1800" b="0" dirty="0">
              <a:solidFill>
                <a:srgbClr val="C00000"/>
              </a:solidFill>
              <a:latin typeface="Calibri"/>
              <a:ea typeface="맑은 고딕"/>
              <a:cs typeface="Calibri"/>
            </a:endParaRPr>
          </a:p>
        </p:txBody>
      </p:sp>
      <p:sp>
        <p:nvSpPr>
          <p:cNvPr id="13" name="rv_answer"/>
          <p:cNvSpPr/>
          <p:nvPr/>
        </p:nvSpPr>
        <p:spPr>
          <a:xfrm>
            <a:off x="457200" y="5285994"/>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⑤ </a:t>
            </a:r>
            <a:r>
              <a:rPr lang="en-US" altLang="ko-KR" sz="1900" b="1" dirty="0">
                <a:solidFill>
                  <a:srgbClr val="5A4200"/>
                </a:solidFill>
                <a:latin typeface="Calibri"/>
                <a:ea typeface="맑은 고딕"/>
                <a:cs typeface="Calibri"/>
              </a:rPr>
              <a:t>(C) - (B) - (A)</a:t>
            </a:r>
            <a:endParaRPr lang="en-US" altLang="ko-KR" sz="1900" b="1" dirty="0">
              <a:solidFill>
                <a:srgbClr val="5A4200"/>
              </a:solidFill>
              <a:latin typeface="Calibri"/>
              <a:ea typeface="맑은 고딕"/>
              <a:cs typeface="Calibri"/>
            </a:endParaRPr>
          </a:p>
        </p:txBody>
      </p:sp>
      <p:sp>
        <p:nvSpPr>
          <p:cNvPr id="14" name="rv_why"/>
          <p:cNvSpPr/>
          <p:nvPr/>
        </p:nvSpPr>
        <p:spPr>
          <a:xfrm>
            <a:off x="457200" y="5884926"/>
            <a:ext cx="11277295" cy="534161"/>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(C) 흥정하고 차를 가지러 간다 → (B) 그사이 다리를 잘라 주기로 한다 → (A) 잘린 다리에 놀란다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25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250"/>
                                        <p:tgtEl>
                                          <p:spTgt spid="1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2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animBg="1"/>
    </p:bldLst>
  </p:timing>
</p:sld>
</file>

<file path=ppt/slides/slide1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L6-3</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2 · 3</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3. 글의 흐름으로 보아, 주어진 문장이 들어가기에 가장 적절한 곳은?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6</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정답 원리</a:t>
            </a:r>
            <a:endParaRPr lang="ko-KR" altLang="en-US" sz="1000" b="0" dirty="0">
              <a:solidFill>
                <a:srgbClr val="7A808C"/>
              </a:solidFill>
              <a:latin typeface="맑은 고딕"/>
              <a:ea typeface="맑은 고딕"/>
              <a:cs typeface="맑은 고딕"/>
            </a:endParaRPr>
          </a:p>
        </p:txBody>
      </p:sp>
      <p:sp>
        <p:nvSpPr>
          <p:cNvPr id="7" name="given_card"/>
          <p:cNvSpPr/>
          <p:nvPr/>
        </p:nvSpPr>
        <p:spPr>
          <a:xfrm>
            <a:off x="457200" y="950976"/>
            <a:ext cx="11277295" cy="471678"/>
          </a:xfrm>
          <a:prstGeom prst="roundRect">
            <a:avLst>
              <a:gd name="adj" fmla="val 6000"/>
            </a:avLst>
          </a:prstGeom>
          <a:solidFill>
            <a:srgbClr val="FFFFFF"/>
          </a:solidFill>
          <a:ln w="15875">
            <a:solidFill>
              <a:srgbClr val="1E2A5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given"/>
          <p:cNvSpPr txBox="1"/>
          <p:nvPr/>
        </p:nvSpPr>
        <p:spPr>
          <a:xfrm>
            <a:off x="457200" y="950976"/>
            <a:ext cx="11277295" cy="471678"/>
          </a:xfrm>
          <a:prstGeom prst="rect">
            <a:avLst/>
          </a:prstGeom>
          <a:noFill/>
        </p:spPr>
        <p:txBody>
          <a:bodyPr wrap="square" lIns="201168" tIns="100584" rIns="201168" bIns="100584" anchor="t" rtlCol="0">
            <a:noAutofit/>
          </a:bodyPr>
          <a:lstStyle/>
          <a:p>
            <a:pPr algn="l">
              <a:lnSpc>
                <a:spcPts val="2130"/>
              </a:lnSpc>
              <a:spcBef>
                <a:spcPts val="0"/>
              </a:spcBef>
              <a:spcAft>
                <a:spcPts val="0"/>
              </a:spcAft>
              <a:buNone/>
            </a:pPr>
            <a:r>
              <a:rPr lang="ko-KR" altLang="en-US" sz="1500" b="1" dirty="0">
                <a:solidFill>
                  <a:srgbClr val="1E2A5A"/>
                </a:solidFill>
                <a:latin typeface="맑은 고딕"/>
                <a:ea typeface="맑은 고딕"/>
                <a:cs typeface="맑은 고딕"/>
              </a:rPr>
              <a:t>주어진 문장</a:t>
            </a:r>
            <a:r>
              <a:rPr lang="en-US" altLang="ko-KR" sz="1500" b="0" dirty="0">
                <a:solidFill>
                  <a:srgbClr val="1F2328"/>
                </a:solidFill>
                <a:latin typeface="Calibri"/>
                <a:ea typeface="맑은 고딕"/>
                <a:cs typeface="Calibri"/>
              </a:rPr>
              <a:t>   "OK, it’s yours, but how are you going to take it? This thing will not go in a car!"</a:t>
            </a:r>
            <a:endParaRPr lang="en-US" altLang="ko-KR" sz="1500" b="0" dirty="0">
              <a:solidFill>
                <a:srgbClr val="1F2328"/>
              </a:solidFill>
              <a:latin typeface="Calibri"/>
              <a:ea typeface="맑은 고딕"/>
              <a:cs typeface="Calibri"/>
            </a:endParaRPr>
          </a:p>
        </p:txBody>
      </p:sp>
      <p:sp>
        <p:nvSpPr>
          <p:cNvPr id="9" name="passage_card"/>
          <p:cNvSpPr/>
          <p:nvPr/>
        </p:nvSpPr>
        <p:spPr>
          <a:xfrm>
            <a:off x="457200" y="1568958"/>
            <a:ext cx="11277295" cy="315721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passage"/>
          <p:cNvSpPr txBox="1"/>
          <p:nvPr/>
        </p:nvSpPr>
        <p:spPr>
          <a:xfrm>
            <a:off x="457200" y="1568958"/>
            <a:ext cx="11277295" cy="3157219"/>
          </a:xfrm>
          <a:prstGeom prst="rect">
            <a:avLst/>
          </a:prstGeom>
          <a:noFill/>
        </p:spPr>
        <p:txBody>
          <a:bodyPr wrap="square" lIns="201168" tIns="118872" rIns="201168" bIns="118872" anchor="t" rtlCol="0">
            <a:noAutofit/>
          </a:bodyPr>
          <a:lstStyle/>
          <a:p>
            <a:pPr algn="just">
              <a:lnSpc>
                <a:spcPts val="2270"/>
              </a:lnSpc>
              <a:spcBef>
                <a:spcPts val="0"/>
              </a:spcBef>
              <a:spcAft>
                <a:spcPts val="0"/>
              </a:spcAft>
              <a:buNone/>
            </a:pPr>
            <a:r>
              <a:rPr lang="en-US" altLang="ko-KR" sz="1500" b="0" dirty="0">
                <a:solidFill>
                  <a:srgbClr val="1F2328"/>
                </a:solidFill>
                <a:latin typeface="Calibri"/>
                <a:ea typeface="맑은 고딕"/>
                <a:cs typeface="Calibri"/>
              </a:rPr>
              <a:t>He then added, "Hmm, I think I may buy it. The legs of my table at home are broken. I can cut off the legs of your table and attach them to mine." </a:t>
            </a:r>
            <a:r>
              <a:rPr lang="ko-KR" altLang="en-US" sz="1600" b="1" dirty="0">
                <a:solidFill>
                  <a:srgbClr val="1E2A5A"/>
                </a:solidFill>
                <a:latin typeface="맑은 고딕"/>
                <a:ea typeface="맑은 고딕"/>
                <a:cs typeface="맑은 고딕"/>
              </a:rPr>
              <a:t>②</a:t>
            </a:r>
            <a:r>
              <a:rPr lang="en-US" altLang="ko-KR" sz="1500" b="0" dirty="0">
                <a:solidFill>
                  <a:srgbClr val="1F2328"/>
                </a:solidFill>
                <a:latin typeface="Calibri"/>
                <a:ea typeface="맑은 고딕"/>
                <a:cs typeface="Calibri"/>
              </a:rPr>
              <a:t> "How much?" Rummins asked. "Not much, I’m afraid. This is just a reproduction," said Mr. Boggis. </a:t>
            </a:r>
            <a:r>
              <a:rPr lang="ko-KR" altLang="en-US" sz="1600" b="1" dirty="0">
                <a:solidFill>
                  <a:srgbClr val="1E2A5A"/>
                </a:solidFill>
                <a:latin typeface="맑은 고딕"/>
                <a:ea typeface="맑은 고딕"/>
                <a:cs typeface="맑은 고딕"/>
              </a:rPr>
              <a:t>③</a:t>
            </a:r>
            <a:r>
              <a:rPr lang="en-US" altLang="ko-KR" sz="1500" b="0" dirty="0">
                <a:solidFill>
                  <a:srgbClr val="1F2328"/>
                </a:solidFill>
                <a:latin typeface="Calibri"/>
                <a:ea typeface="맑은 고딕"/>
                <a:cs typeface="Calibri"/>
              </a:rPr>
              <a:t> "So how much?" "Ten pounds." "Ten? It’s worth more than that." "How about fifteen?" "Make it fifty." "Well, thirty. This is my final offer." </a:t>
            </a:r>
            <a:r>
              <a:rPr lang="ko-KR" altLang="en-US" sz="1600" b="1" dirty="0">
                <a:solidFill>
                  <a:srgbClr val="1E2A5A"/>
                </a:solidFill>
                <a:latin typeface="맑은 고딕"/>
                <a:ea typeface="맑은 고딕"/>
                <a:cs typeface="맑은 고딕"/>
              </a:rPr>
              <a:t>④</a:t>
            </a:r>
            <a:r>
              <a:rPr lang="en-US" altLang="ko-KR" sz="1500" b="0" dirty="0">
                <a:solidFill>
                  <a:srgbClr val="1F2328"/>
                </a:solidFill>
                <a:latin typeface="Calibri"/>
                <a:ea typeface="맑은 고딕"/>
                <a:cs typeface="Calibri"/>
              </a:rPr>
              <a:t> "We’ll see," Mr. Boggis said and went out to bring his car. </a:t>
            </a:r>
            <a:r>
              <a:rPr lang="ko-KR" altLang="en-US" sz="1600" b="1" dirty="0">
                <a:solidFill>
                  <a:srgbClr val="1E2A5A"/>
                </a:solidFill>
                <a:latin typeface="맑은 고딕"/>
                <a:ea typeface="맑은 고딕"/>
                <a:cs typeface="맑은 고딕"/>
              </a:rPr>
              <a:t>⑤</a:t>
            </a:r>
            <a:r>
              <a:rPr lang="en-US" altLang="ko-KR" sz="1500" b="0" dirty="0">
                <a:solidFill>
                  <a:srgbClr val="1F2328"/>
                </a:solidFill>
                <a:latin typeface="Calibri"/>
                <a:ea typeface="맑은 고딕"/>
                <a:cs typeface="Calibri"/>
              </a:rPr>
              <a:t> On his way to the car, Mr. Boggis couldn’t help smiling. The table was what every dealer dreamed of. He couldn’t believe his luck. "Dad, what if this thing doesn’t go in his car? He might not pay you," said Bert. Rummins then had an idea. "What he wants is only the legs. Let’s cut the legs off for him," said Rummins. "Great idea!" said Bert. Bert then took out a saw and began to cut off the legs. When Mr. Boggis came back, the legs had been cut off. "Don’t worry, this was a favor. I won’t charge you for this," said Rummins. Mr. Boggis was so shocked that he couldn’t say anything.</a:t>
            </a:r>
            <a:endParaRPr lang="en-US" altLang="ko-KR" sz="1500" b="0" dirty="0">
              <a:solidFill>
                <a:srgbClr val="1F2328"/>
              </a:solidFill>
              <a:latin typeface="Calibri"/>
              <a:ea typeface="맑은 고딕"/>
              <a:cs typeface="Calibri"/>
            </a:endParaRPr>
          </a:p>
        </p:txBody>
      </p:sp>
      <p:sp>
        <p:nvSpPr>
          <p:cNvPr id="11" name="rv_pick"/>
          <p:cNvSpPr txBox="1"/>
          <p:nvPr/>
        </p:nvSpPr>
        <p:spPr>
          <a:xfrm>
            <a:off x="457200" y="1568958"/>
            <a:ext cx="11277295" cy="3157219"/>
          </a:xfrm>
          <a:prstGeom prst="rect">
            <a:avLst/>
          </a:prstGeom>
          <a:noFill/>
        </p:spPr>
        <p:txBody>
          <a:bodyPr wrap="square" lIns="201168" tIns="118872" rIns="201168" bIns="118872" anchor="t" rtlCol="0">
            <a:noAutofit/>
          </a:bodyPr>
          <a:lstStyle/>
          <a:p>
            <a:pPr algn="just">
              <a:lnSpc>
                <a:spcPts val="2270"/>
              </a:lnSpc>
              <a:spcBef>
                <a:spcPts val="0"/>
              </a:spcBef>
              <a:spcAft>
                <a:spcPts val="0"/>
              </a:spcAft>
              <a:buNone/>
            </a:pPr>
            <a:r>
              <a:rPr lang="en-US" altLang="ko-KR" sz="1500" b="0" dirty="0">
                <a:solidFill>
                  <a:srgbClr val="1F2328">
                    <a:alpha val="0"/>
                  </a:srgbClr>
                </a:solidFill>
                <a:latin typeface="Calibri"/>
                <a:ea typeface="맑은 고딕"/>
                <a:cs typeface="Calibri"/>
              </a:rPr>
              <a:t>He then added, "Hmm, I think I may buy it. The legs of my table at home are broken. I can cut off the legs of your table and attach them to mine." </a:t>
            </a:r>
            <a:r>
              <a:rPr lang="ko-KR" altLang="en-US" sz="1600" b="1" dirty="0">
                <a:solidFill>
                  <a:srgbClr val="1E2A5A">
                    <a:alpha val="0"/>
                  </a:srgbClr>
                </a:solidFill>
                <a:latin typeface="맑은 고딕"/>
                <a:ea typeface="맑은 고딕"/>
                <a:cs typeface="맑은 고딕"/>
              </a:rPr>
              <a:t>②</a:t>
            </a:r>
            <a:r>
              <a:rPr lang="en-US" altLang="ko-KR" sz="1500" b="0" dirty="0">
                <a:solidFill>
                  <a:srgbClr val="1F2328">
                    <a:alpha val="0"/>
                  </a:srgbClr>
                </a:solidFill>
                <a:latin typeface="Calibri"/>
                <a:ea typeface="맑은 고딕"/>
                <a:cs typeface="Calibri"/>
              </a:rPr>
              <a:t> "How much?" Rummins asked. "Not much, I’m afraid. This is just a reproduction," said Mr. Boggis. </a:t>
            </a:r>
            <a:r>
              <a:rPr lang="ko-KR" altLang="en-US" sz="1600" b="1" dirty="0">
                <a:solidFill>
                  <a:srgbClr val="1E2A5A">
                    <a:alpha val="0"/>
                  </a:srgbClr>
                </a:solidFill>
                <a:latin typeface="맑은 고딕"/>
                <a:ea typeface="맑은 고딕"/>
                <a:cs typeface="맑은 고딕"/>
              </a:rPr>
              <a:t>③</a:t>
            </a:r>
            <a:r>
              <a:rPr lang="en-US" altLang="ko-KR" sz="1500" b="0" dirty="0">
                <a:solidFill>
                  <a:srgbClr val="1F2328">
                    <a:alpha val="0"/>
                  </a:srgbClr>
                </a:solidFill>
                <a:latin typeface="Calibri"/>
                <a:ea typeface="맑은 고딕"/>
                <a:cs typeface="Calibri"/>
              </a:rPr>
              <a:t> "So how much?" "Ten pounds." "Ten? It’s worth more than that." "How about fifteen?" "Make it fifty." "Well, thirty. This is my final offer." </a:t>
            </a:r>
            <a:r>
              <a:rPr lang="ko-KR" altLang="en-US" sz="1600" b="1" dirty="0">
                <a:solidFill>
                  <a:srgbClr val="C00000"/>
                </a:solidFill>
                <a:highlight>
                  <a:srgbClr val="F3F5F9"/>
                </a:highlight>
                <a:latin typeface="맑은 고딕"/>
                <a:ea typeface="맑은 고딕"/>
                <a:cs typeface="맑은 고딕"/>
              </a:rPr>
              <a:t>④</a:t>
            </a:r>
            <a:r>
              <a:rPr lang="en-US" altLang="ko-KR" sz="1500" b="0" dirty="0">
                <a:solidFill>
                  <a:srgbClr val="1F2328">
                    <a:alpha val="0"/>
                  </a:srgbClr>
                </a:solidFill>
                <a:latin typeface="Calibri"/>
                <a:ea typeface="맑은 고딕"/>
                <a:cs typeface="Calibri"/>
              </a:rPr>
              <a:t> "We’ll see," Mr. Boggis said and went out to bring his car. </a:t>
            </a:r>
            <a:r>
              <a:rPr lang="ko-KR" altLang="en-US" sz="1600" b="1" dirty="0">
                <a:solidFill>
                  <a:srgbClr val="1E2A5A">
                    <a:alpha val="0"/>
                  </a:srgbClr>
                </a:solidFill>
                <a:latin typeface="맑은 고딕"/>
                <a:ea typeface="맑은 고딕"/>
                <a:cs typeface="맑은 고딕"/>
              </a:rPr>
              <a:t>⑤</a:t>
            </a:r>
            <a:r>
              <a:rPr lang="en-US" altLang="ko-KR" sz="1500" b="0" dirty="0">
                <a:solidFill>
                  <a:srgbClr val="1F2328">
                    <a:alpha val="0"/>
                  </a:srgbClr>
                </a:solidFill>
                <a:latin typeface="Calibri"/>
                <a:ea typeface="맑은 고딕"/>
                <a:cs typeface="Calibri"/>
              </a:rPr>
              <a:t> On his way to the car, Mr. Boggis couldn’t help smiling. The table was what every dealer dreamed of. He couldn’t believe his luck. "Dad, what if this thing doesn’t go in his car? He might not pay you," said Bert. Rummins then had an idea. "What he wants is only the legs. Let’s cut the legs off for him," said Rummins. "Great idea!" said Bert. Bert then took out a saw and began to cut off the legs. When Mr. Boggis came back, the legs had been cut off. "Don’t worry, this was a favor. I won’t charge you for this," said Rummins. Mr. Boggis was so shocked that he couldn’t say anything.</a:t>
            </a:r>
            <a:endParaRPr lang="en-US" altLang="ko-KR" sz="1500" b="0" dirty="0">
              <a:solidFill>
                <a:srgbClr val="1F2328"/>
              </a:solidFill>
              <a:latin typeface="Calibri"/>
              <a:ea typeface="맑은 고딕"/>
              <a:cs typeface="Calibri"/>
            </a:endParaRPr>
          </a:p>
        </p:txBody>
      </p:sp>
      <p:sp>
        <p:nvSpPr>
          <p:cNvPr id="12" name="rv_answer"/>
          <p:cNvSpPr/>
          <p:nvPr/>
        </p:nvSpPr>
        <p:spPr>
          <a:xfrm>
            <a:off x="457200" y="483590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④</a:t>
            </a:r>
            <a:endParaRPr lang="ko-KR" altLang="en-US" sz="1900" b="1" dirty="0">
              <a:solidFill>
                <a:srgbClr val="5A4200"/>
              </a:solidFill>
              <a:latin typeface="맑은 고딕"/>
              <a:ea typeface="맑은 고딕"/>
              <a:cs typeface="맑은 고딕"/>
            </a:endParaRPr>
          </a:p>
        </p:txBody>
      </p:sp>
      <p:sp>
        <p:nvSpPr>
          <p:cNvPr id="13" name="rv_why"/>
          <p:cNvSpPr/>
          <p:nvPr/>
        </p:nvSpPr>
        <p:spPr>
          <a:xfrm>
            <a:off x="457200" y="5434838"/>
            <a:ext cx="11277295" cy="98424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30파운드 최종 제안 뒤 'it’s yours'로 거래를 받아들이고 어떻게 가져가냐고 묻는다. ④ 뒤 'We’ll see'가 이 질문에 답하므로 ④가 정답이다.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25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25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2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Lst>
  </p:timing>
</p:sld>
</file>

<file path=ppt/slides/slide1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L6-3</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2 · 4</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4. 글의 흐름으로 보아, 주어진 문장이 들어가기에 가장 적절한 곳은?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6</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정답 원리</a:t>
            </a:r>
            <a:endParaRPr lang="ko-KR" altLang="en-US" sz="1000" b="0" dirty="0">
              <a:solidFill>
                <a:srgbClr val="7A808C"/>
              </a:solidFill>
              <a:latin typeface="맑은 고딕"/>
              <a:ea typeface="맑은 고딕"/>
              <a:cs typeface="맑은 고딕"/>
            </a:endParaRPr>
          </a:p>
        </p:txBody>
      </p:sp>
      <p:sp>
        <p:nvSpPr>
          <p:cNvPr id="7" name="given_card"/>
          <p:cNvSpPr/>
          <p:nvPr/>
        </p:nvSpPr>
        <p:spPr>
          <a:xfrm>
            <a:off x="457200" y="950976"/>
            <a:ext cx="11277295" cy="471678"/>
          </a:xfrm>
          <a:prstGeom prst="roundRect">
            <a:avLst>
              <a:gd name="adj" fmla="val 6000"/>
            </a:avLst>
          </a:prstGeom>
          <a:solidFill>
            <a:srgbClr val="FFFFFF"/>
          </a:solidFill>
          <a:ln w="15875">
            <a:solidFill>
              <a:srgbClr val="1E2A5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given"/>
          <p:cNvSpPr txBox="1"/>
          <p:nvPr/>
        </p:nvSpPr>
        <p:spPr>
          <a:xfrm>
            <a:off x="457200" y="950976"/>
            <a:ext cx="11277295" cy="471678"/>
          </a:xfrm>
          <a:prstGeom prst="rect">
            <a:avLst/>
          </a:prstGeom>
          <a:noFill/>
        </p:spPr>
        <p:txBody>
          <a:bodyPr wrap="square" lIns="201168" tIns="100584" rIns="201168" bIns="100584" anchor="t" rtlCol="0">
            <a:noAutofit/>
          </a:bodyPr>
          <a:lstStyle/>
          <a:p>
            <a:pPr algn="l">
              <a:lnSpc>
                <a:spcPts val="2130"/>
              </a:lnSpc>
              <a:spcBef>
                <a:spcPts val="0"/>
              </a:spcBef>
              <a:spcAft>
                <a:spcPts val="0"/>
              </a:spcAft>
              <a:buNone/>
            </a:pPr>
            <a:r>
              <a:rPr lang="ko-KR" altLang="en-US" sz="1500" b="1" dirty="0">
                <a:solidFill>
                  <a:srgbClr val="1E2A5A"/>
                </a:solidFill>
                <a:latin typeface="맑은 고딕"/>
                <a:ea typeface="맑은 고딕"/>
                <a:cs typeface="맑은 고딕"/>
              </a:rPr>
              <a:t>주어진 문장</a:t>
            </a:r>
            <a:r>
              <a:rPr lang="en-US" altLang="ko-KR" sz="1500" b="0" dirty="0">
                <a:solidFill>
                  <a:srgbClr val="1F2328"/>
                </a:solidFill>
                <a:latin typeface="Calibri"/>
                <a:ea typeface="맑은 고딕"/>
                <a:cs typeface="Calibri"/>
              </a:rPr>
              <a:t>   "We’ll see," Mr. Boggis said and went out to bring his car.</a:t>
            </a:r>
            <a:endParaRPr lang="en-US" altLang="ko-KR" sz="1500" b="0" dirty="0">
              <a:solidFill>
                <a:srgbClr val="1F2328"/>
              </a:solidFill>
              <a:latin typeface="Calibri"/>
              <a:ea typeface="맑은 고딕"/>
              <a:cs typeface="Calibri"/>
            </a:endParaRPr>
          </a:p>
        </p:txBody>
      </p:sp>
      <p:sp>
        <p:nvSpPr>
          <p:cNvPr id="9" name="passage_card"/>
          <p:cNvSpPr/>
          <p:nvPr/>
        </p:nvSpPr>
        <p:spPr>
          <a:xfrm>
            <a:off x="457200" y="1568958"/>
            <a:ext cx="11277295" cy="315721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passage"/>
          <p:cNvSpPr txBox="1"/>
          <p:nvPr/>
        </p:nvSpPr>
        <p:spPr>
          <a:xfrm>
            <a:off x="457200" y="1568958"/>
            <a:ext cx="11277295" cy="3157219"/>
          </a:xfrm>
          <a:prstGeom prst="rect">
            <a:avLst/>
          </a:prstGeom>
          <a:noFill/>
        </p:spPr>
        <p:txBody>
          <a:bodyPr wrap="square" lIns="201168" tIns="118872" rIns="201168" bIns="118872" anchor="t" rtlCol="0">
            <a:noAutofit/>
          </a:bodyPr>
          <a:lstStyle/>
          <a:p>
            <a:pPr algn="just">
              <a:lnSpc>
                <a:spcPts val="2270"/>
              </a:lnSpc>
              <a:spcBef>
                <a:spcPts val="0"/>
              </a:spcBef>
              <a:spcAft>
                <a:spcPts val="0"/>
              </a:spcAft>
              <a:buNone/>
            </a:pPr>
            <a:r>
              <a:rPr lang="en-US" altLang="ko-KR" sz="1500" b="0" dirty="0">
                <a:solidFill>
                  <a:srgbClr val="1F2328"/>
                </a:solidFill>
                <a:latin typeface="Calibri"/>
                <a:ea typeface="맑은 고딕"/>
                <a:cs typeface="Calibri"/>
              </a:rPr>
              <a:t>He then added, "Hmm, I think I may buy it. The legs of my table at home are broken. I can cut off the legs of your table and attach them to mine." </a:t>
            </a:r>
            <a:r>
              <a:rPr lang="ko-KR" altLang="en-US" sz="1600" b="1" dirty="0">
                <a:solidFill>
                  <a:srgbClr val="1E2A5A"/>
                </a:solidFill>
                <a:latin typeface="맑은 고딕"/>
                <a:ea typeface="맑은 고딕"/>
                <a:cs typeface="맑은 고딕"/>
              </a:rPr>
              <a:t>②</a:t>
            </a:r>
            <a:r>
              <a:rPr lang="en-US" altLang="ko-KR" sz="1500" b="0" dirty="0">
                <a:solidFill>
                  <a:srgbClr val="1F2328"/>
                </a:solidFill>
                <a:latin typeface="Calibri"/>
                <a:ea typeface="맑은 고딕"/>
                <a:cs typeface="Calibri"/>
              </a:rPr>
              <a:t> "How much?" Rummins asked. "Not much, I’m afraid. This is just a reproduction," said Mr. Boggis. </a:t>
            </a:r>
            <a:r>
              <a:rPr lang="ko-KR" altLang="en-US" sz="1600" b="1" dirty="0">
                <a:solidFill>
                  <a:srgbClr val="1E2A5A"/>
                </a:solidFill>
                <a:latin typeface="맑은 고딕"/>
                <a:ea typeface="맑은 고딕"/>
                <a:cs typeface="맑은 고딕"/>
              </a:rPr>
              <a:t>③</a:t>
            </a:r>
            <a:r>
              <a:rPr lang="en-US" altLang="ko-KR" sz="1500" b="0" dirty="0">
                <a:solidFill>
                  <a:srgbClr val="1F2328"/>
                </a:solidFill>
                <a:latin typeface="Calibri"/>
                <a:ea typeface="맑은 고딕"/>
                <a:cs typeface="Calibri"/>
              </a:rPr>
              <a:t> "So how much?" "Ten pounds." "Ten? It’s worth more than that." "How about fifteen?" "Make it fifty." "Well, thirty. This is my final offer." </a:t>
            </a:r>
            <a:r>
              <a:rPr lang="ko-KR" altLang="en-US" sz="1600" b="1" dirty="0">
                <a:solidFill>
                  <a:srgbClr val="1E2A5A"/>
                </a:solidFill>
                <a:latin typeface="맑은 고딕"/>
                <a:ea typeface="맑은 고딕"/>
                <a:cs typeface="맑은 고딕"/>
              </a:rPr>
              <a:t>④</a:t>
            </a:r>
            <a:r>
              <a:rPr lang="en-US" altLang="ko-KR" sz="1500" b="0" dirty="0">
                <a:solidFill>
                  <a:srgbClr val="1F2328"/>
                </a:solidFill>
                <a:latin typeface="Calibri"/>
                <a:ea typeface="맑은 고딕"/>
                <a:cs typeface="Calibri"/>
              </a:rPr>
              <a:t> "OK, it’s yours, but how are you going to take it? This thing will not go in a car!" </a:t>
            </a:r>
            <a:r>
              <a:rPr lang="ko-KR" altLang="en-US" sz="1600" b="1" dirty="0">
                <a:solidFill>
                  <a:srgbClr val="1E2A5A"/>
                </a:solidFill>
                <a:latin typeface="맑은 고딕"/>
                <a:ea typeface="맑은 고딕"/>
                <a:cs typeface="맑은 고딕"/>
              </a:rPr>
              <a:t>⑤</a:t>
            </a:r>
            <a:r>
              <a:rPr lang="en-US" altLang="ko-KR" sz="1500" b="0" dirty="0">
                <a:solidFill>
                  <a:srgbClr val="1F2328"/>
                </a:solidFill>
                <a:latin typeface="Calibri"/>
                <a:ea typeface="맑은 고딕"/>
                <a:cs typeface="Calibri"/>
              </a:rPr>
              <a:t> On his way to the car, Mr. Boggis couldn’t help smiling. The table was what every dealer dreamed of. He couldn’t believe his luck. "Dad, what if this thing doesn’t go in his car? He might not pay you," said Bert. Rummins then had an idea. "What he wants is only the legs. Let’s cut the legs off for him," said Rummins. "Great idea!" said Bert. Bert then took out a saw and began to cut off the legs. When Mr. Boggis came back, the legs had been cut off. "Don’t worry, this was a favor. I won’t charge you for this," said Rummins. Mr. Boggis was so shocked that he couldn’t say anything.</a:t>
            </a:r>
            <a:endParaRPr lang="en-US" altLang="ko-KR" sz="1500" b="0" dirty="0">
              <a:solidFill>
                <a:srgbClr val="1F2328"/>
              </a:solidFill>
              <a:latin typeface="Calibri"/>
              <a:ea typeface="맑은 고딕"/>
              <a:cs typeface="Calibri"/>
            </a:endParaRPr>
          </a:p>
        </p:txBody>
      </p:sp>
      <p:sp>
        <p:nvSpPr>
          <p:cNvPr id="11" name="rv_pick"/>
          <p:cNvSpPr txBox="1"/>
          <p:nvPr/>
        </p:nvSpPr>
        <p:spPr>
          <a:xfrm>
            <a:off x="457200" y="1568958"/>
            <a:ext cx="11277295" cy="3157219"/>
          </a:xfrm>
          <a:prstGeom prst="rect">
            <a:avLst/>
          </a:prstGeom>
          <a:noFill/>
        </p:spPr>
        <p:txBody>
          <a:bodyPr wrap="square" lIns="201168" tIns="118872" rIns="201168" bIns="118872" anchor="t" rtlCol="0">
            <a:noAutofit/>
          </a:bodyPr>
          <a:lstStyle/>
          <a:p>
            <a:pPr algn="just">
              <a:lnSpc>
                <a:spcPts val="2270"/>
              </a:lnSpc>
              <a:spcBef>
                <a:spcPts val="0"/>
              </a:spcBef>
              <a:spcAft>
                <a:spcPts val="0"/>
              </a:spcAft>
              <a:buNone/>
            </a:pPr>
            <a:r>
              <a:rPr lang="en-US" altLang="ko-KR" sz="1500" b="0" dirty="0">
                <a:solidFill>
                  <a:srgbClr val="1F2328">
                    <a:alpha val="0"/>
                  </a:srgbClr>
                </a:solidFill>
                <a:latin typeface="Calibri"/>
                <a:ea typeface="맑은 고딕"/>
                <a:cs typeface="Calibri"/>
              </a:rPr>
              <a:t>He then added, "Hmm, I think I may buy it. The legs of my table at home are broken. I can cut off the legs of your table and attach them to mine." </a:t>
            </a:r>
            <a:r>
              <a:rPr lang="ko-KR" altLang="en-US" sz="1600" b="1" dirty="0">
                <a:solidFill>
                  <a:srgbClr val="1E2A5A">
                    <a:alpha val="0"/>
                  </a:srgbClr>
                </a:solidFill>
                <a:latin typeface="맑은 고딕"/>
                <a:ea typeface="맑은 고딕"/>
                <a:cs typeface="맑은 고딕"/>
              </a:rPr>
              <a:t>②</a:t>
            </a:r>
            <a:r>
              <a:rPr lang="en-US" altLang="ko-KR" sz="1500" b="0" dirty="0">
                <a:solidFill>
                  <a:srgbClr val="1F2328">
                    <a:alpha val="0"/>
                  </a:srgbClr>
                </a:solidFill>
                <a:latin typeface="Calibri"/>
                <a:ea typeface="맑은 고딕"/>
                <a:cs typeface="Calibri"/>
              </a:rPr>
              <a:t> "How much?" Rummins asked. "Not much, I’m afraid. This is just a reproduction," said Mr. Boggis. </a:t>
            </a:r>
            <a:r>
              <a:rPr lang="ko-KR" altLang="en-US" sz="1600" b="1" dirty="0">
                <a:solidFill>
                  <a:srgbClr val="1E2A5A">
                    <a:alpha val="0"/>
                  </a:srgbClr>
                </a:solidFill>
                <a:latin typeface="맑은 고딕"/>
                <a:ea typeface="맑은 고딕"/>
                <a:cs typeface="맑은 고딕"/>
              </a:rPr>
              <a:t>③</a:t>
            </a:r>
            <a:r>
              <a:rPr lang="en-US" altLang="ko-KR" sz="1500" b="0" dirty="0">
                <a:solidFill>
                  <a:srgbClr val="1F2328">
                    <a:alpha val="0"/>
                  </a:srgbClr>
                </a:solidFill>
                <a:latin typeface="Calibri"/>
                <a:ea typeface="맑은 고딕"/>
                <a:cs typeface="Calibri"/>
              </a:rPr>
              <a:t> "So how much?" "Ten pounds." "Ten? It’s worth more than that." "How about fifteen?" "Make it fifty." "Well, thirty. This is my final offer." </a:t>
            </a:r>
            <a:r>
              <a:rPr lang="ko-KR" altLang="en-US" sz="1600" b="1" dirty="0">
                <a:solidFill>
                  <a:srgbClr val="1E2A5A">
                    <a:alpha val="0"/>
                  </a:srgbClr>
                </a:solidFill>
                <a:latin typeface="맑은 고딕"/>
                <a:ea typeface="맑은 고딕"/>
                <a:cs typeface="맑은 고딕"/>
              </a:rPr>
              <a:t>④</a:t>
            </a:r>
            <a:r>
              <a:rPr lang="en-US" altLang="ko-KR" sz="1500" b="0" dirty="0">
                <a:solidFill>
                  <a:srgbClr val="1F2328">
                    <a:alpha val="0"/>
                  </a:srgbClr>
                </a:solidFill>
                <a:latin typeface="Calibri"/>
                <a:ea typeface="맑은 고딕"/>
                <a:cs typeface="Calibri"/>
              </a:rPr>
              <a:t> "OK, it’s yours, but how are you going to take it? This thing will not go in a car!" </a:t>
            </a:r>
            <a:r>
              <a:rPr lang="ko-KR" altLang="en-US" sz="1600" b="1" dirty="0">
                <a:solidFill>
                  <a:srgbClr val="C00000"/>
                </a:solidFill>
                <a:highlight>
                  <a:srgbClr val="F3F5F9"/>
                </a:highlight>
                <a:latin typeface="맑은 고딕"/>
                <a:ea typeface="맑은 고딕"/>
                <a:cs typeface="맑은 고딕"/>
              </a:rPr>
              <a:t>⑤</a:t>
            </a:r>
            <a:r>
              <a:rPr lang="en-US" altLang="ko-KR" sz="1500" b="0" dirty="0">
                <a:solidFill>
                  <a:srgbClr val="1F2328">
                    <a:alpha val="0"/>
                  </a:srgbClr>
                </a:solidFill>
                <a:latin typeface="Calibri"/>
                <a:ea typeface="맑은 고딕"/>
                <a:cs typeface="Calibri"/>
              </a:rPr>
              <a:t> On his way to the car, Mr. Boggis couldn’t help smiling. The table was what every dealer dreamed of. He couldn’t believe his luck. "Dad, what if this thing doesn’t go in his car? He might not pay you," said Bert. Rummins then had an idea. "What he wants is only the legs. Let’s cut the legs off for him," said Rummins. "Great idea!" said Bert. Bert then took out a saw and began to cut off the legs. When Mr. Boggis came back, the legs had been cut off. "Don’t worry, this was a favor. I won’t charge you for this," said Rummins. Mr. Boggis was so shocked that he couldn’t say anything.</a:t>
            </a:r>
            <a:endParaRPr lang="en-US" altLang="ko-KR" sz="1500" b="0" dirty="0">
              <a:solidFill>
                <a:srgbClr val="1F2328"/>
              </a:solidFill>
              <a:latin typeface="Calibri"/>
              <a:ea typeface="맑은 고딕"/>
              <a:cs typeface="Calibri"/>
            </a:endParaRPr>
          </a:p>
        </p:txBody>
      </p:sp>
      <p:sp>
        <p:nvSpPr>
          <p:cNvPr id="12" name="rv_answer"/>
          <p:cNvSpPr/>
          <p:nvPr/>
        </p:nvSpPr>
        <p:spPr>
          <a:xfrm>
            <a:off x="457200" y="483590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⑤</a:t>
            </a:r>
            <a:endParaRPr lang="ko-KR" altLang="en-US" sz="1900" b="1" dirty="0">
              <a:solidFill>
                <a:srgbClr val="5A4200"/>
              </a:solidFill>
              <a:latin typeface="맑은 고딕"/>
              <a:ea typeface="맑은 고딕"/>
              <a:cs typeface="맑은 고딕"/>
            </a:endParaRPr>
          </a:p>
        </p:txBody>
      </p:sp>
      <p:sp>
        <p:nvSpPr>
          <p:cNvPr id="13" name="rv_why"/>
          <p:cNvSpPr/>
          <p:nvPr/>
        </p:nvSpPr>
        <p:spPr>
          <a:xfrm>
            <a:off x="457200" y="5434838"/>
            <a:ext cx="11277295" cy="98424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어떻게 가져가냐는 물음에 'We’ll see'로 답하고 차를 가지러 나가야 ⑤ 뒤 'On his way to the car'가 이어진다. ⑤가 정답이다.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25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25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2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Lst>
  </p:timing>
</p:sld>
</file>

<file path=ppt/slides/slide1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L6-3</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3 · ①</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다음 글의 각 [  ] 안에서 문맥상 알맞은 것을 고르시오.</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6</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클릭할 때마다 괄호 속 정답이 앞에서부터 하나씩 빨간색으로 나타납니다 (총 6개)</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5200396"/>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5200396"/>
          </a:xfrm>
          <a:prstGeom prst="rect">
            <a:avLst/>
          </a:prstGeom>
          <a:noFill/>
        </p:spPr>
        <p:txBody>
          <a:bodyPr wrap="square" lIns="228600" tIns="155448" rIns="228600" bIns="155448" anchor="t" rtlCol="0">
            <a:noAutofit/>
          </a:bodyPr>
          <a:lstStyle/>
          <a:p>
            <a:pPr algn="l">
              <a:lnSpc>
                <a:spcPts val="2750"/>
              </a:lnSpc>
              <a:spcBef>
                <a:spcPts val="0"/>
              </a:spcBef>
              <a:spcAft>
                <a:spcPts val="0"/>
              </a:spcAft>
              <a:buNone/>
            </a:pPr>
            <a:r>
              <a:rPr lang="ko-KR" altLang="en-US" sz="1700" b="1" dirty="0">
                <a:solidFill>
                  <a:srgbClr val="1E2A5A"/>
                </a:solidFill>
                <a:latin typeface="맑은 고딕"/>
                <a:ea typeface="맑은 고딕"/>
                <a:cs typeface="맑은 고딕"/>
              </a:rPr>
              <a:t>①</a:t>
            </a:r>
            <a:r>
              <a:rPr lang="en-US" altLang="ko-KR" sz="1700" b="0" dirty="0">
                <a:solidFill>
                  <a:srgbClr val="1F2328"/>
                </a:solidFill>
                <a:latin typeface="Calibri"/>
                <a:ea typeface="맑은 고딕"/>
                <a:cs typeface="Calibri"/>
              </a:rPr>
              <a:t> </a:t>
            </a:r>
            <a:r>
              <a:rPr lang="en-US" altLang="ko-KR" sz="1700" b="0" dirty="0">
                <a:solidFill>
                  <a:srgbClr val="1F2328"/>
                </a:solidFill>
                <a:latin typeface="Calibri"/>
                <a:ea typeface="맑은 고딕"/>
                <a:cs typeface="Calibri"/>
              </a:rPr>
              <a:t>He then added, "Hmm, I think I may buy it. The legs of my table at home </a:t>
            </a:r>
            <a:r>
              <a:rPr lang="en-US" altLang="ko-KR" sz="1700" b="1" dirty="0">
                <a:solidFill>
                  <a:srgbClr val="1F2328"/>
                </a:solidFill>
                <a:latin typeface="Calibri"/>
                <a:ea typeface="맑은 고딕"/>
                <a:cs typeface="Calibri"/>
              </a:rPr>
              <a:t>[ </a:t>
            </a:r>
            <a:r>
              <a:rPr lang="en-US" altLang="ko-KR" sz="1700" b="1" dirty="0">
                <a:solidFill>
                  <a:srgbClr val="1F2328"/>
                </a:solidFill>
                <a:latin typeface="Calibri"/>
                <a:ea typeface="맑은 고딕"/>
                <a:cs typeface="Calibri"/>
              </a:rPr>
              <a:t>are broken</a:t>
            </a:r>
            <a:r>
              <a:rPr lang="en-US" altLang="ko-KR" sz="1700" b="1" dirty="0">
                <a:solidFill>
                  <a:srgbClr val="1F2328"/>
                </a:solidFill>
                <a:latin typeface="Calibri"/>
                <a:ea typeface="맑은 고딕"/>
                <a:cs typeface="Calibri"/>
              </a:rPr>
              <a:t> / </a:t>
            </a:r>
            <a:r>
              <a:rPr lang="en-US" altLang="ko-KR" sz="1700" b="1" dirty="0">
                <a:solidFill>
                  <a:srgbClr val="1F2328"/>
                </a:solidFill>
                <a:latin typeface="Calibri"/>
                <a:ea typeface="맑은 고딕"/>
                <a:cs typeface="Calibri"/>
              </a:rPr>
              <a:t>is broken</a:t>
            </a:r>
            <a:r>
              <a:rPr lang="en-US" altLang="ko-KR" sz="1700" b="1" dirty="0">
                <a:solidFill>
                  <a:srgbClr val="1F2328"/>
                </a:solidFill>
                <a:latin typeface="Calibri"/>
                <a:ea typeface="맑은 고딕"/>
                <a:cs typeface="Calibri"/>
              </a:rPr>
              <a:t> ]</a:t>
            </a:r>
            <a:r>
              <a:rPr lang="en-US" altLang="ko-KR" sz="1700" b="0" dirty="0">
                <a:solidFill>
                  <a:srgbClr val="1F2328"/>
                </a:solidFill>
                <a:latin typeface="Calibri"/>
                <a:ea typeface="맑은 고딕"/>
                <a:cs typeface="Calibri"/>
              </a:rPr>
              <a:t>. I can cut off the legs of your table and attach them to </a:t>
            </a:r>
            <a:r>
              <a:rPr lang="en-US" altLang="ko-KR" sz="1700" b="1" dirty="0">
                <a:solidFill>
                  <a:srgbClr val="1F2328"/>
                </a:solidFill>
                <a:latin typeface="Calibri"/>
                <a:ea typeface="맑은 고딕"/>
                <a:cs typeface="Calibri"/>
              </a:rPr>
              <a:t>[ </a:t>
            </a:r>
            <a:r>
              <a:rPr lang="en-US" altLang="ko-KR" sz="1700" b="1" dirty="0">
                <a:solidFill>
                  <a:srgbClr val="1F2328"/>
                </a:solidFill>
                <a:latin typeface="Calibri"/>
                <a:ea typeface="맑은 고딕"/>
                <a:cs typeface="Calibri"/>
              </a:rPr>
              <a:t>me</a:t>
            </a:r>
            <a:r>
              <a:rPr lang="en-US" altLang="ko-KR" sz="1700" b="1" dirty="0">
                <a:solidFill>
                  <a:srgbClr val="1F2328"/>
                </a:solidFill>
                <a:latin typeface="Calibri"/>
                <a:ea typeface="맑은 고딕"/>
                <a:cs typeface="Calibri"/>
              </a:rPr>
              <a:t> / </a:t>
            </a:r>
            <a:r>
              <a:rPr lang="en-US" altLang="ko-KR" sz="1700" b="1" dirty="0">
                <a:solidFill>
                  <a:srgbClr val="1F2328"/>
                </a:solidFill>
                <a:latin typeface="Calibri"/>
                <a:ea typeface="맑은 고딕"/>
                <a:cs typeface="Calibri"/>
              </a:rPr>
              <a:t>mine</a:t>
            </a:r>
            <a:r>
              <a:rPr lang="en-US" altLang="ko-KR" sz="1700" b="1" dirty="0">
                <a:solidFill>
                  <a:srgbClr val="1F2328"/>
                </a:solidFill>
                <a:latin typeface="Calibri"/>
                <a:ea typeface="맑은 고딕"/>
                <a:cs typeface="Calibri"/>
              </a:rPr>
              <a:t> ]</a:t>
            </a:r>
            <a:r>
              <a:rPr lang="en-US" altLang="ko-KR" sz="1700" b="0" dirty="0">
                <a:solidFill>
                  <a:srgbClr val="1F2328"/>
                </a:solidFill>
                <a:latin typeface="Calibri"/>
                <a:ea typeface="맑은 고딕"/>
                <a:cs typeface="Calibri"/>
              </a:rPr>
              <a:t>."</a:t>
            </a:r>
            <a:r>
              <a:rPr lang="en-US" altLang="ko-KR" sz="1700" b="0" dirty="0">
                <a:solidFill>
                  <a:srgbClr val="1F2328"/>
                </a:solidFill>
                <a:latin typeface="Calibri"/>
                <a:ea typeface="맑은 고딕"/>
                <a:cs typeface="Calibri"/>
              </a:rPr>
              <a:t>   </a:t>
            </a:r>
            <a:r>
              <a:rPr lang="ko-KR" altLang="en-US" sz="1700" b="1" dirty="0">
                <a:solidFill>
                  <a:srgbClr val="1E2A5A"/>
                </a:solidFill>
                <a:latin typeface="맑은 고딕"/>
                <a:ea typeface="맑은 고딕"/>
                <a:cs typeface="맑은 고딕"/>
              </a:rPr>
              <a:t>②</a:t>
            </a:r>
            <a:r>
              <a:rPr lang="en-US" altLang="ko-KR" sz="1700" b="0" dirty="0">
                <a:solidFill>
                  <a:srgbClr val="1F2328"/>
                </a:solidFill>
                <a:latin typeface="Calibri"/>
                <a:ea typeface="맑은 고딕"/>
                <a:cs typeface="Calibri"/>
              </a:rPr>
              <a:t> </a:t>
            </a:r>
            <a:r>
              <a:rPr lang="en-US" altLang="ko-KR" sz="1700" b="0" dirty="0">
                <a:solidFill>
                  <a:srgbClr val="1F2328"/>
                </a:solidFill>
                <a:latin typeface="Calibri"/>
                <a:ea typeface="맑은 고딕"/>
                <a:cs typeface="Calibri"/>
              </a:rPr>
              <a:t>"How much?" Rummins asked. "Not much, I’m afraid. This is just a reproduction," said Mr. Boggis.</a:t>
            </a:r>
            <a:r>
              <a:rPr lang="en-US" altLang="ko-KR" sz="1700" b="0" dirty="0">
                <a:solidFill>
                  <a:srgbClr val="1F2328"/>
                </a:solidFill>
                <a:latin typeface="Calibri"/>
                <a:ea typeface="맑은 고딕"/>
                <a:cs typeface="Calibri"/>
              </a:rPr>
              <a:t>   </a:t>
            </a:r>
            <a:r>
              <a:rPr lang="ko-KR" altLang="en-US" sz="1700" b="1" dirty="0">
                <a:solidFill>
                  <a:srgbClr val="1E2A5A"/>
                </a:solidFill>
                <a:latin typeface="맑은 고딕"/>
                <a:ea typeface="맑은 고딕"/>
                <a:cs typeface="맑은 고딕"/>
              </a:rPr>
              <a:t>③</a:t>
            </a:r>
            <a:r>
              <a:rPr lang="en-US" altLang="ko-KR" sz="1700" b="0" dirty="0">
                <a:solidFill>
                  <a:srgbClr val="1F2328"/>
                </a:solidFill>
                <a:latin typeface="Calibri"/>
                <a:ea typeface="맑은 고딕"/>
                <a:cs typeface="Calibri"/>
              </a:rPr>
              <a:t> </a:t>
            </a:r>
            <a:r>
              <a:rPr lang="en-US" altLang="ko-KR" sz="1700" b="0" dirty="0">
                <a:solidFill>
                  <a:srgbClr val="1F2328"/>
                </a:solidFill>
                <a:latin typeface="Calibri"/>
                <a:ea typeface="맑은 고딕"/>
                <a:cs typeface="Calibri"/>
              </a:rPr>
              <a:t>"So how much?" "Ten pounds." "Ten? It’s worth more than that." "How about fifteen?" "Make it fifty." "Well, thirty. This is my final offer."</a:t>
            </a:r>
            <a:r>
              <a:rPr lang="en-US" altLang="ko-KR" sz="1700" b="0" dirty="0">
                <a:solidFill>
                  <a:srgbClr val="1F2328"/>
                </a:solidFill>
                <a:latin typeface="Calibri"/>
                <a:ea typeface="맑은 고딕"/>
                <a:cs typeface="Calibri"/>
              </a:rPr>
              <a:t>   </a:t>
            </a:r>
            <a:r>
              <a:rPr lang="ko-KR" altLang="en-US" sz="1700" b="1" dirty="0">
                <a:solidFill>
                  <a:srgbClr val="1E2A5A"/>
                </a:solidFill>
                <a:latin typeface="맑은 고딕"/>
                <a:ea typeface="맑은 고딕"/>
                <a:cs typeface="맑은 고딕"/>
              </a:rPr>
              <a:t>④</a:t>
            </a:r>
            <a:r>
              <a:rPr lang="en-US" altLang="ko-KR" sz="1700" b="0" dirty="0">
                <a:solidFill>
                  <a:srgbClr val="1F2328"/>
                </a:solidFill>
                <a:latin typeface="Calibri"/>
                <a:ea typeface="맑은 고딕"/>
                <a:cs typeface="Calibri"/>
              </a:rPr>
              <a:t> </a:t>
            </a:r>
            <a:r>
              <a:rPr lang="en-US" altLang="ko-KR" sz="1700" b="0" dirty="0">
                <a:solidFill>
                  <a:srgbClr val="1F2328"/>
                </a:solidFill>
                <a:latin typeface="Calibri"/>
                <a:ea typeface="맑은 고딕"/>
                <a:cs typeface="Calibri"/>
              </a:rPr>
              <a:t>"OK, it’s yours, but how are you going to take it? This thing will not go in a car!"</a:t>
            </a:r>
            <a:r>
              <a:rPr lang="en-US" altLang="ko-KR" sz="1700" b="0" dirty="0">
                <a:solidFill>
                  <a:srgbClr val="1F2328"/>
                </a:solidFill>
                <a:latin typeface="Calibri"/>
                <a:ea typeface="맑은 고딕"/>
                <a:cs typeface="Calibri"/>
              </a:rPr>
              <a:t>   </a:t>
            </a:r>
            <a:r>
              <a:rPr lang="ko-KR" altLang="en-US" sz="1700" b="1" dirty="0">
                <a:solidFill>
                  <a:srgbClr val="1E2A5A"/>
                </a:solidFill>
                <a:latin typeface="맑은 고딕"/>
                <a:ea typeface="맑은 고딕"/>
                <a:cs typeface="맑은 고딕"/>
              </a:rPr>
              <a:t>⑤</a:t>
            </a:r>
            <a:r>
              <a:rPr lang="en-US" altLang="ko-KR" sz="1700" b="0" dirty="0">
                <a:solidFill>
                  <a:srgbClr val="1F2328"/>
                </a:solidFill>
                <a:latin typeface="Calibri"/>
                <a:ea typeface="맑은 고딕"/>
                <a:cs typeface="Calibri"/>
              </a:rPr>
              <a:t> </a:t>
            </a:r>
            <a:r>
              <a:rPr lang="en-US" altLang="ko-KR" sz="1700" b="0" dirty="0">
                <a:solidFill>
                  <a:srgbClr val="1F2328"/>
                </a:solidFill>
                <a:latin typeface="Calibri"/>
                <a:ea typeface="맑은 고딕"/>
                <a:cs typeface="Calibri"/>
              </a:rPr>
              <a:t>"We’ll see," Mr. Boggis said and went out to bring his car.</a:t>
            </a:r>
            <a:r>
              <a:rPr lang="en-US" altLang="ko-KR" sz="1700" b="0" dirty="0">
                <a:solidFill>
                  <a:srgbClr val="1F2328"/>
                </a:solidFill>
                <a:latin typeface="Calibri"/>
                <a:ea typeface="맑은 고딕"/>
                <a:cs typeface="Calibri"/>
              </a:rPr>
              <a:t>   </a:t>
            </a:r>
            <a:r>
              <a:rPr lang="ko-KR" altLang="en-US" sz="1700" b="1" dirty="0">
                <a:solidFill>
                  <a:srgbClr val="1E2A5A"/>
                </a:solidFill>
                <a:latin typeface="맑은 고딕"/>
                <a:ea typeface="맑은 고딕"/>
                <a:cs typeface="맑은 고딕"/>
              </a:rPr>
              <a:t>⑥</a:t>
            </a:r>
            <a:r>
              <a:rPr lang="en-US" altLang="ko-KR" sz="1700" b="0" dirty="0">
                <a:solidFill>
                  <a:srgbClr val="1F2328"/>
                </a:solidFill>
                <a:latin typeface="Calibri"/>
                <a:ea typeface="맑은 고딕"/>
                <a:cs typeface="Calibri"/>
              </a:rPr>
              <a:t> </a:t>
            </a:r>
            <a:r>
              <a:rPr lang="en-US" altLang="ko-KR" sz="1700" b="0" dirty="0">
                <a:solidFill>
                  <a:srgbClr val="1F2328"/>
                </a:solidFill>
                <a:latin typeface="Calibri"/>
                <a:ea typeface="맑은 고딕"/>
                <a:cs typeface="Calibri"/>
              </a:rPr>
              <a:t>On his way to the car, Mr. Boggis couldn’t help </a:t>
            </a:r>
            <a:r>
              <a:rPr lang="en-US" altLang="ko-KR" sz="1700" b="1" dirty="0">
                <a:solidFill>
                  <a:srgbClr val="1F2328"/>
                </a:solidFill>
                <a:latin typeface="Calibri"/>
                <a:ea typeface="맑은 고딕"/>
                <a:cs typeface="Calibri"/>
              </a:rPr>
              <a:t>[ </a:t>
            </a:r>
            <a:r>
              <a:rPr lang="en-US" altLang="ko-KR" sz="1700" b="1" dirty="0">
                <a:solidFill>
                  <a:srgbClr val="1F2328"/>
                </a:solidFill>
                <a:latin typeface="Calibri"/>
                <a:ea typeface="맑은 고딕"/>
                <a:cs typeface="Calibri"/>
              </a:rPr>
              <a:t>smiling</a:t>
            </a:r>
            <a:r>
              <a:rPr lang="en-US" altLang="ko-KR" sz="1700" b="1" dirty="0">
                <a:solidFill>
                  <a:srgbClr val="1F2328"/>
                </a:solidFill>
                <a:latin typeface="Calibri"/>
                <a:ea typeface="맑은 고딕"/>
                <a:cs typeface="Calibri"/>
              </a:rPr>
              <a:t> / </a:t>
            </a:r>
            <a:r>
              <a:rPr lang="en-US" altLang="ko-KR" sz="1700" b="1" dirty="0">
                <a:solidFill>
                  <a:srgbClr val="1F2328"/>
                </a:solidFill>
                <a:latin typeface="Calibri"/>
                <a:ea typeface="맑은 고딕"/>
                <a:cs typeface="Calibri"/>
              </a:rPr>
              <a:t>to smile</a:t>
            </a:r>
            <a:r>
              <a:rPr lang="en-US" altLang="ko-KR" sz="1700" b="1" dirty="0">
                <a:solidFill>
                  <a:srgbClr val="1F2328"/>
                </a:solidFill>
                <a:latin typeface="Calibri"/>
                <a:ea typeface="맑은 고딕"/>
                <a:cs typeface="Calibri"/>
              </a:rPr>
              <a:t> ]</a:t>
            </a:r>
            <a:r>
              <a:rPr lang="en-US" altLang="ko-KR" sz="1700" b="0" dirty="0">
                <a:solidFill>
                  <a:srgbClr val="1F2328"/>
                </a:solidFill>
                <a:latin typeface="Calibri"/>
                <a:ea typeface="맑은 고딕"/>
                <a:cs typeface="Calibri"/>
              </a:rPr>
              <a:t>.</a:t>
            </a:r>
            <a:r>
              <a:rPr lang="en-US" altLang="ko-KR" sz="1700" b="0" dirty="0">
                <a:solidFill>
                  <a:srgbClr val="1F2328"/>
                </a:solidFill>
                <a:latin typeface="Calibri"/>
                <a:ea typeface="맑은 고딕"/>
                <a:cs typeface="Calibri"/>
              </a:rPr>
              <a:t>   </a:t>
            </a:r>
            <a:r>
              <a:rPr lang="ko-KR" altLang="en-US" sz="1700" b="1" dirty="0">
                <a:solidFill>
                  <a:srgbClr val="1E2A5A"/>
                </a:solidFill>
                <a:latin typeface="맑은 고딕"/>
                <a:ea typeface="맑은 고딕"/>
                <a:cs typeface="맑은 고딕"/>
              </a:rPr>
              <a:t>⑦</a:t>
            </a:r>
            <a:r>
              <a:rPr lang="en-US" altLang="ko-KR" sz="1700" b="0" dirty="0">
                <a:solidFill>
                  <a:srgbClr val="1F2328"/>
                </a:solidFill>
                <a:latin typeface="Calibri"/>
                <a:ea typeface="맑은 고딕"/>
                <a:cs typeface="Calibri"/>
              </a:rPr>
              <a:t> </a:t>
            </a:r>
            <a:r>
              <a:rPr lang="en-US" altLang="ko-KR" sz="1700" b="0" dirty="0">
                <a:solidFill>
                  <a:srgbClr val="1F2328"/>
                </a:solidFill>
                <a:latin typeface="Calibri"/>
                <a:ea typeface="맑은 고딕"/>
                <a:cs typeface="Calibri"/>
              </a:rPr>
              <a:t>The table was </a:t>
            </a:r>
            <a:r>
              <a:rPr lang="en-US" altLang="ko-KR" sz="1700" b="1" dirty="0">
                <a:solidFill>
                  <a:srgbClr val="1F2328"/>
                </a:solidFill>
                <a:latin typeface="Calibri"/>
                <a:ea typeface="맑은 고딕"/>
                <a:cs typeface="Calibri"/>
              </a:rPr>
              <a:t>[ </a:t>
            </a:r>
            <a:r>
              <a:rPr lang="en-US" altLang="ko-KR" sz="1700" b="1" dirty="0">
                <a:solidFill>
                  <a:srgbClr val="1F2328"/>
                </a:solidFill>
                <a:latin typeface="Calibri"/>
                <a:ea typeface="맑은 고딕"/>
                <a:cs typeface="Calibri"/>
              </a:rPr>
              <a:t>which</a:t>
            </a:r>
            <a:r>
              <a:rPr lang="en-US" altLang="ko-KR" sz="1700" b="1" dirty="0">
                <a:solidFill>
                  <a:srgbClr val="1F2328"/>
                </a:solidFill>
                <a:latin typeface="Calibri"/>
                <a:ea typeface="맑은 고딕"/>
                <a:cs typeface="Calibri"/>
              </a:rPr>
              <a:t> / </a:t>
            </a:r>
            <a:r>
              <a:rPr lang="en-US" altLang="ko-KR" sz="1700" b="1" dirty="0">
                <a:solidFill>
                  <a:srgbClr val="1F2328"/>
                </a:solidFill>
                <a:latin typeface="Calibri"/>
                <a:ea typeface="맑은 고딕"/>
                <a:cs typeface="Calibri"/>
              </a:rPr>
              <a:t>what</a:t>
            </a:r>
            <a:r>
              <a:rPr lang="en-US" altLang="ko-KR" sz="1700" b="1" dirty="0">
                <a:solidFill>
                  <a:srgbClr val="1F2328"/>
                </a:solidFill>
                <a:latin typeface="Calibri"/>
                <a:ea typeface="맑은 고딕"/>
                <a:cs typeface="Calibri"/>
              </a:rPr>
              <a:t> ]</a:t>
            </a:r>
            <a:r>
              <a:rPr lang="en-US" altLang="ko-KR" sz="1700" b="0" dirty="0">
                <a:solidFill>
                  <a:srgbClr val="1F2328"/>
                </a:solidFill>
                <a:latin typeface="Calibri"/>
                <a:ea typeface="맑은 고딕"/>
                <a:cs typeface="Calibri"/>
              </a:rPr>
              <a:t> every dealer dreamed of. He couldn’t believe his luck.</a:t>
            </a:r>
            <a:r>
              <a:rPr lang="en-US" altLang="ko-KR" sz="1700" b="0" dirty="0">
                <a:solidFill>
                  <a:srgbClr val="1F2328"/>
                </a:solidFill>
                <a:latin typeface="Calibri"/>
                <a:ea typeface="맑은 고딕"/>
                <a:cs typeface="Calibri"/>
              </a:rPr>
              <a:t>   </a:t>
            </a:r>
            <a:r>
              <a:rPr lang="ko-KR" altLang="en-US" sz="1700" b="1" dirty="0">
                <a:solidFill>
                  <a:srgbClr val="1E2A5A"/>
                </a:solidFill>
                <a:latin typeface="맑은 고딕"/>
                <a:ea typeface="맑은 고딕"/>
                <a:cs typeface="맑은 고딕"/>
              </a:rPr>
              <a:t>⑧</a:t>
            </a:r>
            <a:r>
              <a:rPr lang="en-US" altLang="ko-KR" sz="1700" b="0" dirty="0">
                <a:solidFill>
                  <a:srgbClr val="1F2328"/>
                </a:solidFill>
                <a:latin typeface="Calibri"/>
                <a:ea typeface="맑은 고딕"/>
                <a:cs typeface="Calibri"/>
              </a:rPr>
              <a:t> </a:t>
            </a:r>
            <a:r>
              <a:rPr lang="en-US" altLang="ko-KR" sz="1700" b="0" dirty="0">
                <a:solidFill>
                  <a:srgbClr val="1F2328"/>
                </a:solidFill>
                <a:latin typeface="Calibri"/>
                <a:ea typeface="맑은 고딕"/>
                <a:cs typeface="Calibri"/>
              </a:rPr>
              <a:t>"Dad, what if this thing doesn’t go in his car? He might not pay you," said Bert.</a:t>
            </a:r>
            <a:r>
              <a:rPr lang="en-US" altLang="ko-KR" sz="1700" b="0" dirty="0">
                <a:solidFill>
                  <a:srgbClr val="1F2328"/>
                </a:solidFill>
                <a:latin typeface="Calibri"/>
                <a:ea typeface="맑은 고딕"/>
                <a:cs typeface="Calibri"/>
              </a:rPr>
              <a:t>   </a:t>
            </a:r>
            <a:r>
              <a:rPr lang="ko-KR" altLang="en-US" sz="1700" b="1" dirty="0">
                <a:solidFill>
                  <a:srgbClr val="1E2A5A"/>
                </a:solidFill>
                <a:latin typeface="맑은 고딕"/>
                <a:ea typeface="맑은 고딕"/>
                <a:cs typeface="맑은 고딕"/>
              </a:rPr>
              <a:t>⑨</a:t>
            </a:r>
            <a:r>
              <a:rPr lang="en-US" altLang="ko-KR" sz="1700" b="0" dirty="0">
                <a:solidFill>
                  <a:srgbClr val="1F2328"/>
                </a:solidFill>
                <a:latin typeface="Calibri"/>
                <a:ea typeface="맑은 고딕"/>
                <a:cs typeface="Calibri"/>
              </a:rPr>
              <a:t> </a:t>
            </a:r>
            <a:r>
              <a:rPr lang="en-US" altLang="ko-KR" sz="1700" b="0" dirty="0">
                <a:solidFill>
                  <a:srgbClr val="1F2328"/>
                </a:solidFill>
                <a:latin typeface="Calibri"/>
                <a:ea typeface="맑은 고딕"/>
                <a:cs typeface="Calibri"/>
              </a:rPr>
              <a:t>Rummins then had an idea. "What he wants is only the legs. Let’s cut the legs off for him," said Rummins.</a:t>
            </a:r>
            <a:r>
              <a:rPr lang="en-US" altLang="ko-KR" sz="1700" b="0" dirty="0">
                <a:solidFill>
                  <a:srgbClr val="1F2328"/>
                </a:solidFill>
                <a:latin typeface="Calibri"/>
                <a:ea typeface="맑은 고딕"/>
                <a:cs typeface="Calibri"/>
              </a:rPr>
              <a:t>   </a:t>
            </a:r>
            <a:r>
              <a:rPr lang="ko-KR" altLang="en-US" sz="1700" b="1" dirty="0">
                <a:solidFill>
                  <a:srgbClr val="1E2A5A"/>
                </a:solidFill>
                <a:latin typeface="맑은 고딕"/>
                <a:ea typeface="맑은 고딕"/>
                <a:cs typeface="맑은 고딕"/>
              </a:rPr>
              <a:t>⑩</a:t>
            </a:r>
            <a:r>
              <a:rPr lang="en-US" altLang="ko-KR" sz="1700" b="0" dirty="0">
                <a:solidFill>
                  <a:srgbClr val="1F2328"/>
                </a:solidFill>
                <a:latin typeface="Calibri"/>
                <a:ea typeface="맑은 고딕"/>
                <a:cs typeface="Calibri"/>
              </a:rPr>
              <a:t> </a:t>
            </a:r>
            <a:r>
              <a:rPr lang="en-US" altLang="ko-KR" sz="1700" b="0" dirty="0">
                <a:solidFill>
                  <a:srgbClr val="1F2328"/>
                </a:solidFill>
                <a:latin typeface="Calibri"/>
                <a:ea typeface="맑은 고딕"/>
                <a:cs typeface="Calibri"/>
              </a:rPr>
              <a:t>"Great idea!" said Bert. Bert then took out a saw and began to cut off the legs.</a:t>
            </a:r>
            <a:r>
              <a:rPr lang="en-US" altLang="ko-KR" sz="1700" b="0" dirty="0">
                <a:solidFill>
                  <a:srgbClr val="1F2328"/>
                </a:solidFill>
                <a:latin typeface="Calibri"/>
                <a:ea typeface="맑은 고딕"/>
                <a:cs typeface="Calibri"/>
              </a:rPr>
              <a:t>   </a:t>
            </a:r>
            <a:r>
              <a:rPr lang="ko-KR" altLang="en-US" sz="1700" b="1" dirty="0">
                <a:solidFill>
                  <a:srgbClr val="1E2A5A"/>
                </a:solidFill>
                <a:latin typeface="맑은 고딕"/>
                <a:ea typeface="맑은 고딕"/>
                <a:cs typeface="맑은 고딕"/>
              </a:rPr>
              <a:t>⑪</a:t>
            </a:r>
            <a:r>
              <a:rPr lang="en-US" altLang="ko-KR" sz="1700" b="0" dirty="0">
                <a:solidFill>
                  <a:srgbClr val="1F2328"/>
                </a:solidFill>
                <a:latin typeface="Calibri"/>
                <a:ea typeface="맑은 고딕"/>
                <a:cs typeface="Calibri"/>
              </a:rPr>
              <a:t> </a:t>
            </a:r>
            <a:r>
              <a:rPr lang="en-US" altLang="ko-KR" sz="1700" b="0" dirty="0">
                <a:solidFill>
                  <a:srgbClr val="1F2328"/>
                </a:solidFill>
                <a:latin typeface="Calibri"/>
                <a:ea typeface="맑은 고딕"/>
                <a:cs typeface="Calibri"/>
              </a:rPr>
              <a:t>When Mr. Boggis came back, the legs </a:t>
            </a:r>
            <a:r>
              <a:rPr lang="en-US" altLang="ko-KR" sz="1700" b="1" dirty="0">
                <a:solidFill>
                  <a:srgbClr val="1F2328"/>
                </a:solidFill>
                <a:latin typeface="Calibri"/>
                <a:ea typeface="맑은 고딕"/>
                <a:cs typeface="Calibri"/>
              </a:rPr>
              <a:t>[ </a:t>
            </a:r>
            <a:r>
              <a:rPr lang="en-US" altLang="ko-KR" sz="1700" b="1" dirty="0">
                <a:solidFill>
                  <a:srgbClr val="1F2328"/>
                </a:solidFill>
                <a:latin typeface="Calibri"/>
                <a:ea typeface="맑은 고딕"/>
                <a:cs typeface="Calibri"/>
              </a:rPr>
              <a:t>had cut</a:t>
            </a:r>
            <a:r>
              <a:rPr lang="en-US" altLang="ko-KR" sz="1700" b="1" dirty="0">
                <a:solidFill>
                  <a:srgbClr val="1F2328"/>
                </a:solidFill>
                <a:latin typeface="Calibri"/>
                <a:ea typeface="맑은 고딕"/>
                <a:cs typeface="Calibri"/>
              </a:rPr>
              <a:t> / </a:t>
            </a:r>
            <a:r>
              <a:rPr lang="en-US" altLang="ko-KR" sz="1700" b="1" dirty="0">
                <a:solidFill>
                  <a:srgbClr val="1F2328"/>
                </a:solidFill>
                <a:latin typeface="Calibri"/>
                <a:ea typeface="맑은 고딕"/>
                <a:cs typeface="Calibri"/>
              </a:rPr>
              <a:t>had been cut</a:t>
            </a:r>
            <a:r>
              <a:rPr lang="en-US" altLang="ko-KR" sz="1700" b="1" dirty="0">
                <a:solidFill>
                  <a:srgbClr val="1F2328"/>
                </a:solidFill>
                <a:latin typeface="Calibri"/>
                <a:ea typeface="맑은 고딕"/>
                <a:cs typeface="Calibri"/>
              </a:rPr>
              <a:t> ]</a:t>
            </a:r>
            <a:r>
              <a:rPr lang="en-US" altLang="ko-KR" sz="1700" b="0" dirty="0">
                <a:solidFill>
                  <a:srgbClr val="1F2328"/>
                </a:solidFill>
                <a:latin typeface="Calibri"/>
                <a:ea typeface="맑은 고딕"/>
                <a:cs typeface="Calibri"/>
              </a:rPr>
              <a:t> off.</a:t>
            </a:r>
            <a:r>
              <a:rPr lang="en-US" altLang="ko-KR" sz="1700" b="0" dirty="0">
                <a:solidFill>
                  <a:srgbClr val="1F2328"/>
                </a:solidFill>
                <a:latin typeface="Calibri"/>
                <a:ea typeface="맑은 고딕"/>
                <a:cs typeface="Calibri"/>
              </a:rPr>
              <a:t>   </a:t>
            </a:r>
            <a:r>
              <a:rPr lang="ko-KR" altLang="en-US" sz="1700" b="1" dirty="0">
                <a:solidFill>
                  <a:srgbClr val="1E2A5A"/>
                </a:solidFill>
                <a:latin typeface="맑은 고딕"/>
                <a:ea typeface="맑은 고딕"/>
                <a:cs typeface="맑은 고딕"/>
              </a:rPr>
              <a:t>⑫</a:t>
            </a:r>
            <a:r>
              <a:rPr lang="en-US" altLang="ko-KR" sz="1700" b="0" dirty="0">
                <a:solidFill>
                  <a:srgbClr val="1F2328"/>
                </a:solidFill>
                <a:latin typeface="Calibri"/>
                <a:ea typeface="맑은 고딕"/>
                <a:cs typeface="Calibri"/>
              </a:rPr>
              <a:t> </a:t>
            </a:r>
            <a:r>
              <a:rPr lang="en-US" altLang="ko-KR" sz="1700" b="0" dirty="0">
                <a:solidFill>
                  <a:srgbClr val="1F2328"/>
                </a:solidFill>
                <a:latin typeface="Calibri"/>
                <a:ea typeface="맑은 고딕"/>
                <a:cs typeface="Calibri"/>
              </a:rPr>
              <a:t>"Don’t worry, this was a favor. I won’t charge you for this," said Rummins.</a:t>
            </a:r>
            <a:r>
              <a:rPr lang="en-US" altLang="ko-KR" sz="1700" b="0" dirty="0">
                <a:solidFill>
                  <a:srgbClr val="1F2328"/>
                </a:solidFill>
                <a:latin typeface="Calibri"/>
                <a:ea typeface="맑은 고딕"/>
                <a:cs typeface="Calibri"/>
              </a:rPr>
              <a:t>   </a:t>
            </a:r>
            <a:r>
              <a:rPr lang="ko-KR" altLang="en-US" sz="1700" b="1" dirty="0">
                <a:solidFill>
                  <a:srgbClr val="1E2A5A"/>
                </a:solidFill>
                <a:latin typeface="맑은 고딕"/>
                <a:ea typeface="맑은 고딕"/>
                <a:cs typeface="맑은 고딕"/>
              </a:rPr>
              <a:t>⑬</a:t>
            </a:r>
            <a:r>
              <a:rPr lang="en-US" altLang="ko-KR" sz="1700" b="0" dirty="0">
                <a:solidFill>
                  <a:srgbClr val="1F2328"/>
                </a:solidFill>
                <a:latin typeface="Calibri"/>
                <a:ea typeface="맑은 고딕"/>
                <a:cs typeface="Calibri"/>
              </a:rPr>
              <a:t> </a:t>
            </a:r>
            <a:r>
              <a:rPr lang="en-US" altLang="ko-KR" sz="1700" b="0" dirty="0">
                <a:solidFill>
                  <a:srgbClr val="1F2328"/>
                </a:solidFill>
                <a:latin typeface="Calibri"/>
                <a:ea typeface="맑은 고딕"/>
                <a:cs typeface="Calibri"/>
              </a:rPr>
              <a:t>Mr. Boggis was so </a:t>
            </a:r>
            <a:r>
              <a:rPr lang="en-US" altLang="ko-KR" sz="1700" b="1" dirty="0">
                <a:solidFill>
                  <a:srgbClr val="1F2328"/>
                </a:solidFill>
                <a:latin typeface="Calibri"/>
                <a:ea typeface="맑은 고딕"/>
                <a:cs typeface="Calibri"/>
              </a:rPr>
              <a:t>[ </a:t>
            </a:r>
            <a:r>
              <a:rPr lang="en-US" altLang="ko-KR" sz="1700" b="1" dirty="0">
                <a:solidFill>
                  <a:srgbClr val="1F2328"/>
                </a:solidFill>
                <a:latin typeface="Calibri"/>
                <a:ea typeface="맑은 고딕"/>
                <a:cs typeface="Calibri"/>
              </a:rPr>
              <a:t>shocked</a:t>
            </a:r>
            <a:r>
              <a:rPr lang="en-US" altLang="ko-KR" sz="1700" b="1" dirty="0">
                <a:solidFill>
                  <a:srgbClr val="1F2328"/>
                </a:solidFill>
                <a:latin typeface="Calibri"/>
                <a:ea typeface="맑은 고딕"/>
                <a:cs typeface="Calibri"/>
              </a:rPr>
              <a:t> / </a:t>
            </a:r>
            <a:r>
              <a:rPr lang="en-US" altLang="ko-KR" sz="1700" b="1" dirty="0">
                <a:solidFill>
                  <a:srgbClr val="1F2328"/>
                </a:solidFill>
                <a:latin typeface="Calibri"/>
                <a:ea typeface="맑은 고딕"/>
                <a:cs typeface="Calibri"/>
              </a:rPr>
              <a:t>shocking</a:t>
            </a:r>
            <a:r>
              <a:rPr lang="en-US" altLang="ko-KR" sz="1700" b="1" dirty="0">
                <a:solidFill>
                  <a:srgbClr val="1F2328"/>
                </a:solidFill>
                <a:latin typeface="Calibri"/>
                <a:ea typeface="맑은 고딕"/>
                <a:cs typeface="Calibri"/>
              </a:rPr>
              <a:t> ]</a:t>
            </a:r>
            <a:r>
              <a:rPr lang="en-US" altLang="ko-KR" sz="1700" b="0" dirty="0">
                <a:solidFill>
                  <a:srgbClr val="1F2328"/>
                </a:solidFill>
                <a:latin typeface="Calibri"/>
                <a:ea typeface="맑은 고딕"/>
                <a:cs typeface="Calibri"/>
              </a:rPr>
              <a:t> that he couldn’t say anything.</a:t>
            </a:r>
            <a:endParaRPr lang="en-US" altLang="ko-KR" sz="1700" b="0" dirty="0">
              <a:solidFill>
                <a:srgbClr val="1F2328"/>
              </a:solidFill>
              <a:latin typeface="Calibri"/>
              <a:ea typeface="맑은 고딕"/>
              <a:cs typeface="Calibri"/>
            </a:endParaRPr>
          </a:p>
        </p:txBody>
      </p:sp>
      <p:sp>
        <p:nvSpPr>
          <p:cNvPr id="9" name="rv_g01"/>
          <p:cNvSpPr txBox="1"/>
          <p:nvPr/>
        </p:nvSpPr>
        <p:spPr>
          <a:xfrm>
            <a:off x="457200" y="950976"/>
            <a:ext cx="11277295" cy="5200396"/>
          </a:xfrm>
          <a:prstGeom prst="rect">
            <a:avLst/>
          </a:prstGeom>
          <a:noFill/>
        </p:spPr>
        <p:txBody>
          <a:bodyPr wrap="square" lIns="228600" tIns="155448" rIns="228600" bIns="155448" anchor="t" rtlCol="0">
            <a:noAutofit/>
          </a:bodyPr>
          <a:lstStyle/>
          <a:p>
            <a:pPr algn="l">
              <a:lnSpc>
                <a:spcPts val="2750"/>
              </a:lnSpc>
              <a:spcBef>
                <a:spcPts val="0"/>
              </a:spcBef>
              <a:spcAft>
                <a:spcPts val="0"/>
              </a:spcAft>
              <a:buNone/>
            </a:pPr>
            <a:r>
              <a:rPr lang="ko-KR" altLang="en-US" sz="1700" b="1" dirty="0">
                <a:solidFill>
                  <a:srgbClr val="1E2A5A">
                    <a:alpha val="0"/>
                  </a:srgbClr>
                </a:solidFill>
                <a:latin typeface="맑은 고딕"/>
                <a:ea typeface="맑은 고딕"/>
                <a:cs typeface="맑은 고딕"/>
              </a:rPr>
              <a:t>①</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He then added, "Hmm, I think I may buy it. The legs of my table at home </a:t>
            </a:r>
            <a:r>
              <a:rPr lang="en-US" altLang="ko-KR" sz="1700" b="1" dirty="0">
                <a:solidFill>
                  <a:srgbClr val="1F2328">
                    <a:alpha val="0"/>
                  </a:srgbClr>
                </a:solidFill>
                <a:latin typeface="Calibri"/>
                <a:ea typeface="맑은 고딕"/>
                <a:cs typeface="Calibri"/>
              </a:rPr>
              <a:t>[ </a:t>
            </a:r>
            <a:r>
              <a:rPr lang="en-US" altLang="ko-KR" sz="1700" b="1" dirty="0">
                <a:solidFill>
                  <a:srgbClr val="C00000"/>
                </a:solidFill>
                <a:highlight>
                  <a:srgbClr val="F3F5F9"/>
                </a:highlight>
                <a:latin typeface="Calibri"/>
                <a:ea typeface="맑은 고딕"/>
                <a:cs typeface="Calibri"/>
              </a:rPr>
              <a:t>are broken</a:t>
            </a:r>
            <a:r>
              <a:rPr lang="en-US" altLang="ko-KR" sz="1700" b="1" dirty="0">
                <a:solidFill>
                  <a:srgbClr val="1F2328">
                    <a:alpha val="0"/>
                  </a:srgbClr>
                </a:solidFill>
                <a:latin typeface="Calibri"/>
                <a:ea typeface="맑은 고딕"/>
                <a:cs typeface="Calibri"/>
              </a:rPr>
              <a:t> / </a:t>
            </a:r>
            <a:r>
              <a:rPr lang="en-US" altLang="ko-KR" sz="1700" b="1" dirty="0">
                <a:solidFill>
                  <a:srgbClr val="1F2328">
                    <a:alpha val="0"/>
                  </a:srgbClr>
                </a:solidFill>
                <a:latin typeface="Calibri"/>
                <a:ea typeface="맑은 고딕"/>
                <a:cs typeface="Calibri"/>
              </a:rPr>
              <a:t>is broken</a:t>
            </a:r>
            <a:r>
              <a:rPr lang="en-US" altLang="ko-KR" sz="1700" b="1"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 I can cut off the legs of your table and attach them to </a:t>
            </a:r>
            <a:r>
              <a:rPr lang="en-US" altLang="ko-KR" sz="1700" b="1" dirty="0">
                <a:solidFill>
                  <a:srgbClr val="1F2328">
                    <a:alpha val="0"/>
                  </a:srgbClr>
                </a:solidFill>
                <a:latin typeface="Calibri"/>
                <a:ea typeface="맑은 고딕"/>
                <a:cs typeface="Calibri"/>
              </a:rPr>
              <a:t>[ </a:t>
            </a:r>
            <a:r>
              <a:rPr lang="en-US" altLang="ko-KR" sz="1700" b="1" dirty="0">
                <a:solidFill>
                  <a:srgbClr val="1F2328">
                    <a:alpha val="0"/>
                  </a:srgbClr>
                </a:solidFill>
                <a:latin typeface="Calibri"/>
                <a:ea typeface="맑은 고딕"/>
                <a:cs typeface="Calibri"/>
              </a:rPr>
              <a:t>me</a:t>
            </a:r>
            <a:r>
              <a:rPr lang="en-US" altLang="ko-KR" sz="1700" b="1" dirty="0">
                <a:solidFill>
                  <a:srgbClr val="1F2328">
                    <a:alpha val="0"/>
                  </a:srgbClr>
                </a:solidFill>
                <a:latin typeface="Calibri"/>
                <a:ea typeface="맑은 고딕"/>
                <a:cs typeface="Calibri"/>
              </a:rPr>
              <a:t> / </a:t>
            </a:r>
            <a:r>
              <a:rPr lang="en-US" altLang="ko-KR" sz="1700" b="1" dirty="0">
                <a:solidFill>
                  <a:srgbClr val="1F2328">
                    <a:alpha val="0"/>
                  </a:srgbClr>
                </a:solidFill>
                <a:latin typeface="Calibri"/>
                <a:ea typeface="맑은 고딕"/>
                <a:cs typeface="Calibri"/>
              </a:rPr>
              <a:t>mine</a:t>
            </a:r>
            <a:r>
              <a:rPr lang="en-US" altLang="ko-KR" sz="1700" b="1"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②</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"How much?" Rummins asked. "Not much, I’m afraid. This is just a reproduction," said Mr. Boggis.</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③</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"So how much?" "Ten pounds." "Ten? It’s worth more than that." "How about fifteen?" "Make it fifty." "Well, thirty. This is my final offer."</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④</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"OK, it’s yours, but how are you going to take it? This thing will not go in a car!"</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⑤</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"We’ll see," Mr. Boggis said and went out to bring his car.</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⑥</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On his way to the car, Mr. Boggis couldn’t help </a:t>
            </a:r>
            <a:r>
              <a:rPr lang="en-US" altLang="ko-KR" sz="1700" b="1" dirty="0">
                <a:solidFill>
                  <a:srgbClr val="1F2328">
                    <a:alpha val="0"/>
                  </a:srgbClr>
                </a:solidFill>
                <a:latin typeface="Calibri"/>
                <a:ea typeface="맑은 고딕"/>
                <a:cs typeface="Calibri"/>
              </a:rPr>
              <a:t>[ </a:t>
            </a:r>
            <a:r>
              <a:rPr lang="en-US" altLang="ko-KR" sz="1700" b="1" dirty="0">
                <a:solidFill>
                  <a:srgbClr val="1F2328">
                    <a:alpha val="0"/>
                  </a:srgbClr>
                </a:solidFill>
                <a:latin typeface="Calibri"/>
                <a:ea typeface="맑은 고딕"/>
                <a:cs typeface="Calibri"/>
              </a:rPr>
              <a:t>smiling</a:t>
            </a:r>
            <a:r>
              <a:rPr lang="en-US" altLang="ko-KR" sz="1700" b="1" dirty="0">
                <a:solidFill>
                  <a:srgbClr val="1F2328">
                    <a:alpha val="0"/>
                  </a:srgbClr>
                </a:solidFill>
                <a:latin typeface="Calibri"/>
                <a:ea typeface="맑은 고딕"/>
                <a:cs typeface="Calibri"/>
              </a:rPr>
              <a:t> / </a:t>
            </a:r>
            <a:r>
              <a:rPr lang="en-US" altLang="ko-KR" sz="1700" b="1" dirty="0">
                <a:solidFill>
                  <a:srgbClr val="1F2328">
                    <a:alpha val="0"/>
                  </a:srgbClr>
                </a:solidFill>
                <a:latin typeface="Calibri"/>
                <a:ea typeface="맑은 고딕"/>
                <a:cs typeface="Calibri"/>
              </a:rPr>
              <a:t>to smile</a:t>
            </a:r>
            <a:r>
              <a:rPr lang="en-US" altLang="ko-KR" sz="1700" b="1"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⑦</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The table was </a:t>
            </a:r>
            <a:r>
              <a:rPr lang="en-US" altLang="ko-KR" sz="1700" b="1" dirty="0">
                <a:solidFill>
                  <a:srgbClr val="1F2328">
                    <a:alpha val="0"/>
                  </a:srgbClr>
                </a:solidFill>
                <a:latin typeface="Calibri"/>
                <a:ea typeface="맑은 고딕"/>
                <a:cs typeface="Calibri"/>
              </a:rPr>
              <a:t>[ </a:t>
            </a:r>
            <a:r>
              <a:rPr lang="en-US" altLang="ko-KR" sz="1700" b="1" dirty="0">
                <a:solidFill>
                  <a:srgbClr val="1F2328">
                    <a:alpha val="0"/>
                  </a:srgbClr>
                </a:solidFill>
                <a:latin typeface="Calibri"/>
                <a:ea typeface="맑은 고딕"/>
                <a:cs typeface="Calibri"/>
              </a:rPr>
              <a:t>which</a:t>
            </a:r>
            <a:r>
              <a:rPr lang="en-US" altLang="ko-KR" sz="1700" b="1" dirty="0">
                <a:solidFill>
                  <a:srgbClr val="1F2328">
                    <a:alpha val="0"/>
                  </a:srgbClr>
                </a:solidFill>
                <a:latin typeface="Calibri"/>
                <a:ea typeface="맑은 고딕"/>
                <a:cs typeface="Calibri"/>
              </a:rPr>
              <a:t> / </a:t>
            </a:r>
            <a:r>
              <a:rPr lang="en-US" altLang="ko-KR" sz="1700" b="1" dirty="0">
                <a:solidFill>
                  <a:srgbClr val="1F2328">
                    <a:alpha val="0"/>
                  </a:srgbClr>
                </a:solidFill>
                <a:latin typeface="Calibri"/>
                <a:ea typeface="맑은 고딕"/>
                <a:cs typeface="Calibri"/>
              </a:rPr>
              <a:t>what</a:t>
            </a:r>
            <a:r>
              <a:rPr lang="en-US" altLang="ko-KR" sz="1700" b="1"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 every dealer dreamed of. He couldn’t believe his luck.</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⑧</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"Dad, what if this thing doesn’t go in his car? He might not pay you," said Bert.</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⑨</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Rummins then had an idea. "What he wants is only the legs. Let’s cut the legs off for him," said Rummins.</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⑩</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"Great idea!" said Bert. Bert then took out a saw and began to cut off the legs.</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⑪</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When Mr. Boggis came back, the legs </a:t>
            </a:r>
            <a:r>
              <a:rPr lang="en-US" altLang="ko-KR" sz="1700" b="1" dirty="0">
                <a:solidFill>
                  <a:srgbClr val="1F2328">
                    <a:alpha val="0"/>
                  </a:srgbClr>
                </a:solidFill>
                <a:latin typeface="Calibri"/>
                <a:ea typeface="맑은 고딕"/>
                <a:cs typeface="Calibri"/>
              </a:rPr>
              <a:t>[ </a:t>
            </a:r>
            <a:r>
              <a:rPr lang="en-US" altLang="ko-KR" sz="1700" b="1" dirty="0">
                <a:solidFill>
                  <a:srgbClr val="1F2328">
                    <a:alpha val="0"/>
                  </a:srgbClr>
                </a:solidFill>
                <a:latin typeface="Calibri"/>
                <a:ea typeface="맑은 고딕"/>
                <a:cs typeface="Calibri"/>
              </a:rPr>
              <a:t>had cut</a:t>
            </a:r>
            <a:r>
              <a:rPr lang="en-US" altLang="ko-KR" sz="1700" b="1" dirty="0">
                <a:solidFill>
                  <a:srgbClr val="1F2328">
                    <a:alpha val="0"/>
                  </a:srgbClr>
                </a:solidFill>
                <a:latin typeface="Calibri"/>
                <a:ea typeface="맑은 고딕"/>
                <a:cs typeface="Calibri"/>
              </a:rPr>
              <a:t> / </a:t>
            </a:r>
            <a:r>
              <a:rPr lang="en-US" altLang="ko-KR" sz="1700" b="1" dirty="0">
                <a:solidFill>
                  <a:srgbClr val="1F2328">
                    <a:alpha val="0"/>
                  </a:srgbClr>
                </a:solidFill>
                <a:latin typeface="Calibri"/>
                <a:ea typeface="맑은 고딕"/>
                <a:cs typeface="Calibri"/>
              </a:rPr>
              <a:t>had been cut</a:t>
            </a:r>
            <a:r>
              <a:rPr lang="en-US" altLang="ko-KR" sz="1700" b="1"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 off.</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⑫</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"Don’t worry, this was a favor. I won’t charge you for this," said Rummins.</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⑬</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Mr. Boggis was so </a:t>
            </a:r>
            <a:r>
              <a:rPr lang="en-US" altLang="ko-KR" sz="1700" b="1" dirty="0">
                <a:solidFill>
                  <a:srgbClr val="1F2328">
                    <a:alpha val="0"/>
                  </a:srgbClr>
                </a:solidFill>
                <a:latin typeface="Calibri"/>
                <a:ea typeface="맑은 고딕"/>
                <a:cs typeface="Calibri"/>
              </a:rPr>
              <a:t>[ </a:t>
            </a:r>
            <a:r>
              <a:rPr lang="en-US" altLang="ko-KR" sz="1700" b="1" dirty="0">
                <a:solidFill>
                  <a:srgbClr val="1F2328">
                    <a:alpha val="0"/>
                  </a:srgbClr>
                </a:solidFill>
                <a:latin typeface="Calibri"/>
                <a:ea typeface="맑은 고딕"/>
                <a:cs typeface="Calibri"/>
              </a:rPr>
              <a:t>shocked</a:t>
            </a:r>
            <a:r>
              <a:rPr lang="en-US" altLang="ko-KR" sz="1700" b="1" dirty="0">
                <a:solidFill>
                  <a:srgbClr val="1F2328">
                    <a:alpha val="0"/>
                  </a:srgbClr>
                </a:solidFill>
                <a:latin typeface="Calibri"/>
                <a:ea typeface="맑은 고딕"/>
                <a:cs typeface="Calibri"/>
              </a:rPr>
              <a:t> / </a:t>
            </a:r>
            <a:r>
              <a:rPr lang="en-US" altLang="ko-KR" sz="1700" b="1" dirty="0">
                <a:solidFill>
                  <a:srgbClr val="1F2328">
                    <a:alpha val="0"/>
                  </a:srgbClr>
                </a:solidFill>
                <a:latin typeface="Calibri"/>
                <a:ea typeface="맑은 고딕"/>
                <a:cs typeface="Calibri"/>
              </a:rPr>
              <a:t>shocking</a:t>
            </a:r>
            <a:r>
              <a:rPr lang="en-US" altLang="ko-KR" sz="1700" b="1"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 that he couldn’t say anything.</a:t>
            </a:r>
            <a:endParaRPr lang="en-US" altLang="ko-KR" sz="1700" b="0" dirty="0">
              <a:solidFill>
                <a:srgbClr val="1F2328"/>
              </a:solidFill>
              <a:latin typeface="Calibri"/>
              <a:ea typeface="맑은 고딕"/>
              <a:cs typeface="Calibri"/>
            </a:endParaRPr>
          </a:p>
        </p:txBody>
      </p:sp>
      <p:sp>
        <p:nvSpPr>
          <p:cNvPr id="10" name="rv_g02"/>
          <p:cNvSpPr txBox="1"/>
          <p:nvPr/>
        </p:nvSpPr>
        <p:spPr>
          <a:xfrm>
            <a:off x="457200" y="950976"/>
            <a:ext cx="11277295" cy="5200396"/>
          </a:xfrm>
          <a:prstGeom prst="rect">
            <a:avLst/>
          </a:prstGeom>
          <a:noFill/>
        </p:spPr>
        <p:txBody>
          <a:bodyPr wrap="square" lIns="228600" tIns="155448" rIns="228600" bIns="155448" anchor="t" rtlCol="0">
            <a:noAutofit/>
          </a:bodyPr>
          <a:lstStyle/>
          <a:p>
            <a:pPr algn="l">
              <a:lnSpc>
                <a:spcPts val="2750"/>
              </a:lnSpc>
              <a:spcBef>
                <a:spcPts val="0"/>
              </a:spcBef>
              <a:spcAft>
                <a:spcPts val="0"/>
              </a:spcAft>
              <a:buNone/>
            </a:pPr>
            <a:r>
              <a:rPr lang="ko-KR" altLang="en-US" sz="1700" b="1" dirty="0">
                <a:solidFill>
                  <a:srgbClr val="1E2A5A">
                    <a:alpha val="0"/>
                  </a:srgbClr>
                </a:solidFill>
                <a:latin typeface="맑은 고딕"/>
                <a:ea typeface="맑은 고딕"/>
                <a:cs typeface="맑은 고딕"/>
              </a:rPr>
              <a:t>①</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He then added, "Hmm, I think I may buy it. The legs of my table at home </a:t>
            </a:r>
            <a:r>
              <a:rPr lang="en-US" altLang="ko-KR" sz="1700" b="1" dirty="0">
                <a:solidFill>
                  <a:srgbClr val="1F2328">
                    <a:alpha val="0"/>
                  </a:srgbClr>
                </a:solidFill>
                <a:latin typeface="Calibri"/>
                <a:ea typeface="맑은 고딕"/>
                <a:cs typeface="Calibri"/>
              </a:rPr>
              <a:t>[ </a:t>
            </a:r>
            <a:r>
              <a:rPr lang="en-US" altLang="ko-KR" sz="1700" b="1" dirty="0">
                <a:solidFill>
                  <a:srgbClr val="1F2328">
                    <a:alpha val="0"/>
                  </a:srgbClr>
                </a:solidFill>
                <a:latin typeface="Calibri"/>
                <a:ea typeface="맑은 고딕"/>
                <a:cs typeface="Calibri"/>
              </a:rPr>
              <a:t>are broken</a:t>
            </a:r>
            <a:r>
              <a:rPr lang="en-US" altLang="ko-KR" sz="1700" b="1" dirty="0">
                <a:solidFill>
                  <a:srgbClr val="1F2328">
                    <a:alpha val="0"/>
                  </a:srgbClr>
                </a:solidFill>
                <a:latin typeface="Calibri"/>
                <a:ea typeface="맑은 고딕"/>
                <a:cs typeface="Calibri"/>
              </a:rPr>
              <a:t> / </a:t>
            </a:r>
            <a:r>
              <a:rPr lang="en-US" altLang="ko-KR" sz="1700" b="1" dirty="0">
                <a:solidFill>
                  <a:srgbClr val="1F2328">
                    <a:alpha val="0"/>
                  </a:srgbClr>
                </a:solidFill>
                <a:latin typeface="Calibri"/>
                <a:ea typeface="맑은 고딕"/>
                <a:cs typeface="Calibri"/>
              </a:rPr>
              <a:t>is broken</a:t>
            </a:r>
            <a:r>
              <a:rPr lang="en-US" altLang="ko-KR" sz="1700" b="1"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 I can cut off the legs of your table and attach them to </a:t>
            </a:r>
            <a:r>
              <a:rPr lang="en-US" altLang="ko-KR" sz="1700" b="1" dirty="0">
                <a:solidFill>
                  <a:srgbClr val="1F2328">
                    <a:alpha val="0"/>
                  </a:srgbClr>
                </a:solidFill>
                <a:latin typeface="Calibri"/>
                <a:ea typeface="맑은 고딕"/>
                <a:cs typeface="Calibri"/>
              </a:rPr>
              <a:t>[ </a:t>
            </a:r>
            <a:r>
              <a:rPr lang="en-US" altLang="ko-KR" sz="1700" b="1" dirty="0">
                <a:solidFill>
                  <a:srgbClr val="1F2328">
                    <a:alpha val="0"/>
                  </a:srgbClr>
                </a:solidFill>
                <a:latin typeface="Calibri"/>
                <a:ea typeface="맑은 고딕"/>
                <a:cs typeface="Calibri"/>
              </a:rPr>
              <a:t>me</a:t>
            </a:r>
            <a:r>
              <a:rPr lang="en-US" altLang="ko-KR" sz="1700" b="1" dirty="0">
                <a:solidFill>
                  <a:srgbClr val="1F2328">
                    <a:alpha val="0"/>
                  </a:srgbClr>
                </a:solidFill>
                <a:latin typeface="Calibri"/>
                <a:ea typeface="맑은 고딕"/>
                <a:cs typeface="Calibri"/>
              </a:rPr>
              <a:t> / </a:t>
            </a:r>
            <a:r>
              <a:rPr lang="en-US" altLang="ko-KR" sz="1700" b="1" dirty="0">
                <a:solidFill>
                  <a:srgbClr val="C00000"/>
                </a:solidFill>
                <a:highlight>
                  <a:srgbClr val="F3F5F9"/>
                </a:highlight>
                <a:latin typeface="Calibri"/>
                <a:ea typeface="맑은 고딕"/>
                <a:cs typeface="Calibri"/>
              </a:rPr>
              <a:t>mine</a:t>
            </a:r>
            <a:r>
              <a:rPr lang="en-US" altLang="ko-KR" sz="1700" b="1"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②</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"How much?" Rummins asked. "Not much, I’m afraid. This is just a reproduction," said Mr. Boggis.</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③</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"So how much?" "Ten pounds." "Ten? It’s worth more than that." "How about fifteen?" "Make it fifty." "Well, thirty. This is my final offer."</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④</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"OK, it’s yours, but how are you going to take it? This thing will not go in a car!"</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⑤</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"We’ll see," Mr. Boggis said and went out to bring his car.</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⑥</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On his way to the car, Mr. Boggis couldn’t help </a:t>
            </a:r>
            <a:r>
              <a:rPr lang="en-US" altLang="ko-KR" sz="1700" b="1" dirty="0">
                <a:solidFill>
                  <a:srgbClr val="1F2328">
                    <a:alpha val="0"/>
                  </a:srgbClr>
                </a:solidFill>
                <a:latin typeface="Calibri"/>
                <a:ea typeface="맑은 고딕"/>
                <a:cs typeface="Calibri"/>
              </a:rPr>
              <a:t>[ </a:t>
            </a:r>
            <a:r>
              <a:rPr lang="en-US" altLang="ko-KR" sz="1700" b="1" dirty="0">
                <a:solidFill>
                  <a:srgbClr val="1F2328">
                    <a:alpha val="0"/>
                  </a:srgbClr>
                </a:solidFill>
                <a:latin typeface="Calibri"/>
                <a:ea typeface="맑은 고딕"/>
                <a:cs typeface="Calibri"/>
              </a:rPr>
              <a:t>smiling</a:t>
            </a:r>
            <a:r>
              <a:rPr lang="en-US" altLang="ko-KR" sz="1700" b="1" dirty="0">
                <a:solidFill>
                  <a:srgbClr val="1F2328">
                    <a:alpha val="0"/>
                  </a:srgbClr>
                </a:solidFill>
                <a:latin typeface="Calibri"/>
                <a:ea typeface="맑은 고딕"/>
                <a:cs typeface="Calibri"/>
              </a:rPr>
              <a:t> / </a:t>
            </a:r>
            <a:r>
              <a:rPr lang="en-US" altLang="ko-KR" sz="1700" b="1" dirty="0">
                <a:solidFill>
                  <a:srgbClr val="1F2328">
                    <a:alpha val="0"/>
                  </a:srgbClr>
                </a:solidFill>
                <a:latin typeface="Calibri"/>
                <a:ea typeface="맑은 고딕"/>
                <a:cs typeface="Calibri"/>
              </a:rPr>
              <a:t>to smile</a:t>
            </a:r>
            <a:r>
              <a:rPr lang="en-US" altLang="ko-KR" sz="1700" b="1"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⑦</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The table was </a:t>
            </a:r>
            <a:r>
              <a:rPr lang="en-US" altLang="ko-KR" sz="1700" b="1" dirty="0">
                <a:solidFill>
                  <a:srgbClr val="1F2328">
                    <a:alpha val="0"/>
                  </a:srgbClr>
                </a:solidFill>
                <a:latin typeface="Calibri"/>
                <a:ea typeface="맑은 고딕"/>
                <a:cs typeface="Calibri"/>
              </a:rPr>
              <a:t>[ </a:t>
            </a:r>
            <a:r>
              <a:rPr lang="en-US" altLang="ko-KR" sz="1700" b="1" dirty="0">
                <a:solidFill>
                  <a:srgbClr val="1F2328">
                    <a:alpha val="0"/>
                  </a:srgbClr>
                </a:solidFill>
                <a:latin typeface="Calibri"/>
                <a:ea typeface="맑은 고딕"/>
                <a:cs typeface="Calibri"/>
              </a:rPr>
              <a:t>which</a:t>
            </a:r>
            <a:r>
              <a:rPr lang="en-US" altLang="ko-KR" sz="1700" b="1" dirty="0">
                <a:solidFill>
                  <a:srgbClr val="1F2328">
                    <a:alpha val="0"/>
                  </a:srgbClr>
                </a:solidFill>
                <a:latin typeface="Calibri"/>
                <a:ea typeface="맑은 고딕"/>
                <a:cs typeface="Calibri"/>
              </a:rPr>
              <a:t> / </a:t>
            </a:r>
            <a:r>
              <a:rPr lang="en-US" altLang="ko-KR" sz="1700" b="1" dirty="0">
                <a:solidFill>
                  <a:srgbClr val="1F2328">
                    <a:alpha val="0"/>
                  </a:srgbClr>
                </a:solidFill>
                <a:latin typeface="Calibri"/>
                <a:ea typeface="맑은 고딕"/>
                <a:cs typeface="Calibri"/>
              </a:rPr>
              <a:t>what</a:t>
            </a:r>
            <a:r>
              <a:rPr lang="en-US" altLang="ko-KR" sz="1700" b="1"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 every dealer dreamed of. He couldn’t believe his luck.</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⑧</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"Dad, what if this thing doesn’t go in his car? He might not pay you," said Bert.</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⑨</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Rummins then had an idea. "What he wants is only the legs. Let’s cut the legs off for him," said Rummins.</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⑩</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"Great idea!" said Bert. Bert then took out a saw and began to cut off the legs.</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⑪</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When Mr. Boggis came back, the legs </a:t>
            </a:r>
            <a:r>
              <a:rPr lang="en-US" altLang="ko-KR" sz="1700" b="1" dirty="0">
                <a:solidFill>
                  <a:srgbClr val="1F2328">
                    <a:alpha val="0"/>
                  </a:srgbClr>
                </a:solidFill>
                <a:latin typeface="Calibri"/>
                <a:ea typeface="맑은 고딕"/>
                <a:cs typeface="Calibri"/>
              </a:rPr>
              <a:t>[ </a:t>
            </a:r>
            <a:r>
              <a:rPr lang="en-US" altLang="ko-KR" sz="1700" b="1" dirty="0">
                <a:solidFill>
                  <a:srgbClr val="1F2328">
                    <a:alpha val="0"/>
                  </a:srgbClr>
                </a:solidFill>
                <a:latin typeface="Calibri"/>
                <a:ea typeface="맑은 고딕"/>
                <a:cs typeface="Calibri"/>
              </a:rPr>
              <a:t>had cut</a:t>
            </a:r>
            <a:r>
              <a:rPr lang="en-US" altLang="ko-KR" sz="1700" b="1" dirty="0">
                <a:solidFill>
                  <a:srgbClr val="1F2328">
                    <a:alpha val="0"/>
                  </a:srgbClr>
                </a:solidFill>
                <a:latin typeface="Calibri"/>
                <a:ea typeface="맑은 고딕"/>
                <a:cs typeface="Calibri"/>
              </a:rPr>
              <a:t> / </a:t>
            </a:r>
            <a:r>
              <a:rPr lang="en-US" altLang="ko-KR" sz="1700" b="1" dirty="0">
                <a:solidFill>
                  <a:srgbClr val="1F2328">
                    <a:alpha val="0"/>
                  </a:srgbClr>
                </a:solidFill>
                <a:latin typeface="Calibri"/>
                <a:ea typeface="맑은 고딕"/>
                <a:cs typeface="Calibri"/>
              </a:rPr>
              <a:t>had been cut</a:t>
            </a:r>
            <a:r>
              <a:rPr lang="en-US" altLang="ko-KR" sz="1700" b="1"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 off.</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⑫</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"Don’t worry, this was a favor. I won’t charge you for this," said Rummins.</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⑬</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Mr. Boggis was so </a:t>
            </a:r>
            <a:r>
              <a:rPr lang="en-US" altLang="ko-KR" sz="1700" b="1" dirty="0">
                <a:solidFill>
                  <a:srgbClr val="1F2328">
                    <a:alpha val="0"/>
                  </a:srgbClr>
                </a:solidFill>
                <a:latin typeface="Calibri"/>
                <a:ea typeface="맑은 고딕"/>
                <a:cs typeface="Calibri"/>
              </a:rPr>
              <a:t>[ </a:t>
            </a:r>
            <a:r>
              <a:rPr lang="en-US" altLang="ko-KR" sz="1700" b="1" dirty="0">
                <a:solidFill>
                  <a:srgbClr val="1F2328">
                    <a:alpha val="0"/>
                  </a:srgbClr>
                </a:solidFill>
                <a:latin typeface="Calibri"/>
                <a:ea typeface="맑은 고딕"/>
                <a:cs typeface="Calibri"/>
              </a:rPr>
              <a:t>shocked</a:t>
            </a:r>
            <a:r>
              <a:rPr lang="en-US" altLang="ko-KR" sz="1700" b="1" dirty="0">
                <a:solidFill>
                  <a:srgbClr val="1F2328">
                    <a:alpha val="0"/>
                  </a:srgbClr>
                </a:solidFill>
                <a:latin typeface="Calibri"/>
                <a:ea typeface="맑은 고딕"/>
                <a:cs typeface="Calibri"/>
              </a:rPr>
              <a:t> / </a:t>
            </a:r>
            <a:r>
              <a:rPr lang="en-US" altLang="ko-KR" sz="1700" b="1" dirty="0">
                <a:solidFill>
                  <a:srgbClr val="1F2328">
                    <a:alpha val="0"/>
                  </a:srgbClr>
                </a:solidFill>
                <a:latin typeface="Calibri"/>
                <a:ea typeface="맑은 고딕"/>
                <a:cs typeface="Calibri"/>
              </a:rPr>
              <a:t>shocking</a:t>
            </a:r>
            <a:r>
              <a:rPr lang="en-US" altLang="ko-KR" sz="1700" b="1"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 that he couldn’t say anything.</a:t>
            </a:r>
            <a:endParaRPr lang="en-US" altLang="ko-KR" sz="1700" b="0" dirty="0">
              <a:solidFill>
                <a:srgbClr val="1F2328"/>
              </a:solidFill>
              <a:latin typeface="Calibri"/>
              <a:ea typeface="맑은 고딕"/>
              <a:cs typeface="Calibri"/>
            </a:endParaRPr>
          </a:p>
        </p:txBody>
      </p:sp>
      <p:sp>
        <p:nvSpPr>
          <p:cNvPr id="11" name="rv_g03"/>
          <p:cNvSpPr txBox="1"/>
          <p:nvPr/>
        </p:nvSpPr>
        <p:spPr>
          <a:xfrm>
            <a:off x="457200" y="950976"/>
            <a:ext cx="11277295" cy="5200396"/>
          </a:xfrm>
          <a:prstGeom prst="rect">
            <a:avLst/>
          </a:prstGeom>
          <a:noFill/>
        </p:spPr>
        <p:txBody>
          <a:bodyPr wrap="square" lIns="228600" tIns="155448" rIns="228600" bIns="155448" anchor="t" rtlCol="0">
            <a:noAutofit/>
          </a:bodyPr>
          <a:lstStyle/>
          <a:p>
            <a:pPr algn="l">
              <a:lnSpc>
                <a:spcPts val="2750"/>
              </a:lnSpc>
              <a:spcBef>
                <a:spcPts val="0"/>
              </a:spcBef>
              <a:spcAft>
                <a:spcPts val="0"/>
              </a:spcAft>
              <a:buNone/>
            </a:pPr>
            <a:r>
              <a:rPr lang="ko-KR" altLang="en-US" sz="1700" b="1" dirty="0">
                <a:solidFill>
                  <a:srgbClr val="1E2A5A">
                    <a:alpha val="0"/>
                  </a:srgbClr>
                </a:solidFill>
                <a:latin typeface="맑은 고딕"/>
                <a:ea typeface="맑은 고딕"/>
                <a:cs typeface="맑은 고딕"/>
              </a:rPr>
              <a:t>①</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He then added, "Hmm, I think I may buy it. The legs of my table at home </a:t>
            </a:r>
            <a:r>
              <a:rPr lang="en-US" altLang="ko-KR" sz="1700" b="1" dirty="0">
                <a:solidFill>
                  <a:srgbClr val="1F2328">
                    <a:alpha val="0"/>
                  </a:srgbClr>
                </a:solidFill>
                <a:latin typeface="Calibri"/>
                <a:ea typeface="맑은 고딕"/>
                <a:cs typeface="Calibri"/>
              </a:rPr>
              <a:t>[ </a:t>
            </a:r>
            <a:r>
              <a:rPr lang="en-US" altLang="ko-KR" sz="1700" b="1" dirty="0">
                <a:solidFill>
                  <a:srgbClr val="1F2328">
                    <a:alpha val="0"/>
                  </a:srgbClr>
                </a:solidFill>
                <a:latin typeface="Calibri"/>
                <a:ea typeface="맑은 고딕"/>
                <a:cs typeface="Calibri"/>
              </a:rPr>
              <a:t>are broken</a:t>
            </a:r>
            <a:r>
              <a:rPr lang="en-US" altLang="ko-KR" sz="1700" b="1" dirty="0">
                <a:solidFill>
                  <a:srgbClr val="1F2328">
                    <a:alpha val="0"/>
                  </a:srgbClr>
                </a:solidFill>
                <a:latin typeface="Calibri"/>
                <a:ea typeface="맑은 고딕"/>
                <a:cs typeface="Calibri"/>
              </a:rPr>
              <a:t> / </a:t>
            </a:r>
            <a:r>
              <a:rPr lang="en-US" altLang="ko-KR" sz="1700" b="1" dirty="0">
                <a:solidFill>
                  <a:srgbClr val="1F2328">
                    <a:alpha val="0"/>
                  </a:srgbClr>
                </a:solidFill>
                <a:latin typeface="Calibri"/>
                <a:ea typeface="맑은 고딕"/>
                <a:cs typeface="Calibri"/>
              </a:rPr>
              <a:t>is broken</a:t>
            </a:r>
            <a:r>
              <a:rPr lang="en-US" altLang="ko-KR" sz="1700" b="1"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 I can cut off the legs of your table and attach them to </a:t>
            </a:r>
            <a:r>
              <a:rPr lang="en-US" altLang="ko-KR" sz="1700" b="1" dirty="0">
                <a:solidFill>
                  <a:srgbClr val="1F2328">
                    <a:alpha val="0"/>
                  </a:srgbClr>
                </a:solidFill>
                <a:latin typeface="Calibri"/>
                <a:ea typeface="맑은 고딕"/>
                <a:cs typeface="Calibri"/>
              </a:rPr>
              <a:t>[ </a:t>
            </a:r>
            <a:r>
              <a:rPr lang="en-US" altLang="ko-KR" sz="1700" b="1" dirty="0">
                <a:solidFill>
                  <a:srgbClr val="1F2328">
                    <a:alpha val="0"/>
                  </a:srgbClr>
                </a:solidFill>
                <a:latin typeface="Calibri"/>
                <a:ea typeface="맑은 고딕"/>
                <a:cs typeface="Calibri"/>
              </a:rPr>
              <a:t>me</a:t>
            </a:r>
            <a:r>
              <a:rPr lang="en-US" altLang="ko-KR" sz="1700" b="1" dirty="0">
                <a:solidFill>
                  <a:srgbClr val="1F2328">
                    <a:alpha val="0"/>
                  </a:srgbClr>
                </a:solidFill>
                <a:latin typeface="Calibri"/>
                <a:ea typeface="맑은 고딕"/>
                <a:cs typeface="Calibri"/>
              </a:rPr>
              <a:t> / </a:t>
            </a:r>
            <a:r>
              <a:rPr lang="en-US" altLang="ko-KR" sz="1700" b="1" dirty="0">
                <a:solidFill>
                  <a:srgbClr val="1F2328">
                    <a:alpha val="0"/>
                  </a:srgbClr>
                </a:solidFill>
                <a:latin typeface="Calibri"/>
                <a:ea typeface="맑은 고딕"/>
                <a:cs typeface="Calibri"/>
              </a:rPr>
              <a:t>mine</a:t>
            </a:r>
            <a:r>
              <a:rPr lang="en-US" altLang="ko-KR" sz="1700" b="1"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②</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"How much?" Rummins asked. "Not much, I’m afraid. This is just a reproduction," said Mr. Boggis.</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③</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"So how much?" "Ten pounds." "Ten? It’s worth more than that." "How about fifteen?" "Make it fifty." "Well, thirty. This is my final offer."</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④</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"OK, it’s yours, but how are you going to take it? This thing will not go in a car!"</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⑤</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"We’ll see," Mr. Boggis said and went out to bring his car.</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⑥</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On his way to the car, Mr. Boggis couldn’t help </a:t>
            </a:r>
            <a:r>
              <a:rPr lang="en-US" altLang="ko-KR" sz="1700" b="1" dirty="0">
                <a:solidFill>
                  <a:srgbClr val="1F2328">
                    <a:alpha val="0"/>
                  </a:srgbClr>
                </a:solidFill>
                <a:latin typeface="Calibri"/>
                <a:ea typeface="맑은 고딕"/>
                <a:cs typeface="Calibri"/>
              </a:rPr>
              <a:t>[ </a:t>
            </a:r>
            <a:r>
              <a:rPr lang="en-US" altLang="ko-KR" sz="1700" b="1" dirty="0">
                <a:solidFill>
                  <a:srgbClr val="C00000"/>
                </a:solidFill>
                <a:highlight>
                  <a:srgbClr val="F3F5F9"/>
                </a:highlight>
                <a:latin typeface="Calibri"/>
                <a:ea typeface="맑은 고딕"/>
                <a:cs typeface="Calibri"/>
              </a:rPr>
              <a:t>smiling</a:t>
            </a:r>
            <a:r>
              <a:rPr lang="en-US" altLang="ko-KR" sz="1700" b="1" dirty="0">
                <a:solidFill>
                  <a:srgbClr val="1F2328">
                    <a:alpha val="0"/>
                  </a:srgbClr>
                </a:solidFill>
                <a:latin typeface="Calibri"/>
                <a:ea typeface="맑은 고딕"/>
                <a:cs typeface="Calibri"/>
              </a:rPr>
              <a:t> / </a:t>
            </a:r>
            <a:r>
              <a:rPr lang="en-US" altLang="ko-KR" sz="1700" b="1" dirty="0">
                <a:solidFill>
                  <a:srgbClr val="1F2328">
                    <a:alpha val="0"/>
                  </a:srgbClr>
                </a:solidFill>
                <a:latin typeface="Calibri"/>
                <a:ea typeface="맑은 고딕"/>
                <a:cs typeface="Calibri"/>
              </a:rPr>
              <a:t>to smile</a:t>
            </a:r>
            <a:r>
              <a:rPr lang="en-US" altLang="ko-KR" sz="1700" b="1"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⑦</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The table was </a:t>
            </a:r>
            <a:r>
              <a:rPr lang="en-US" altLang="ko-KR" sz="1700" b="1" dirty="0">
                <a:solidFill>
                  <a:srgbClr val="1F2328">
                    <a:alpha val="0"/>
                  </a:srgbClr>
                </a:solidFill>
                <a:latin typeface="Calibri"/>
                <a:ea typeface="맑은 고딕"/>
                <a:cs typeface="Calibri"/>
              </a:rPr>
              <a:t>[ </a:t>
            </a:r>
            <a:r>
              <a:rPr lang="en-US" altLang="ko-KR" sz="1700" b="1" dirty="0">
                <a:solidFill>
                  <a:srgbClr val="1F2328">
                    <a:alpha val="0"/>
                  </a:srgbClr>
                </a:solidFill>
                <a:latin typeface="Calibri"/>
                <a:ea typeface="맑은 고딕"/>
                <a:cs typeface="Calibri"/>
              </a:rPr>
              <a:t>which</a:t>
            </a:r>
            <a:r>
              <a:rPr lang="en-US" altLang="ko-KR" sz="1700" b="1" dirty="0">
                <a:solidFill>
                  <a:srgbClr val="1F2328">
                    <a:alpha val="0"/>
                  </a:srgbClr>
                </a:solidFill>
                <a:latin typeface="Calibri"/>
                <a:ea typeface="맑은 고딕"/>
                <a:cs typeface="Calibri"/>
              </a:rPr>
              <a:t> / </a:t>
            </a:r>
            <a:r>
              <a:rPr lang="en-US" altLang="ko-KR" sz="1700" b="1" dirty="0">
                <a:solidFill>
                  <a:srgbClr val="1F2328">
                    <a:alpha val="0"/>
                  </a:srgbClr>
                </a:solidFill>
                <a:latin typeface="Calibri"/>
                <a:ea typeface="맑은 고딕"/>
                <a:cs typeface="Calibri"/>
              </a:rPr>
              <a:t>what</a:t>
            </a:r>
            <a:r>
              <a:rPr lang="en-US" altLang="ko-KR" sz="1700" b="1"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 every dealer dreamed of. He couldn’t believe his luck.</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⑧</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"Dad, what if this thing doesn’t go in his car? He might not pay you," said Bert.</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⑨</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Rummins then had an idea. "What he wants is only the legs. Let’s cut the legs off for him," said Rummins.</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⑩</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"Great idea!" said Bert. Bert then took out a saw and began to cut off the legs.</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⑪</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When Mr. Boggis came back, the legs </a:t>
            </a:r>
            <a:r>
              <a:rPr lang="en-US" altLang="ko-KR" sz="1700" b="1" dirty="0">
                <a:solidFill>
                  <a:srgbClr val="1F2328">
                    <a:alpha val="0"/>
                  </a:srgbClr>
                </a:solidFill>
                <a:latin typeface="Calibri"/>
                <a:ea typeface="맑은 고딕"/>
                <a:cs typeface="Calibri"/>
              </a:rPr>
              <a:t>[ </a:t>
            </a:r>
            <a:r>
              <a:rPr lang="en-US" altLang="ko-KR" sz="1700" b="1" dirty="0">
                <a:solidFill>
                  <a:srgbClr val="1F2328">
                    <a:alpha val="0"/>
                  </a:srgbClr>
                </a:solidFill>
                <a:latin typeface="Calibri"/>
                <a:ea typeface="맑은 고딕"/>
                <a:cs typeface="Calibri"/>
              </a:rPr>
              <a:t>had cut</a:t>
            </a:r>
            <a:r>
              <a:rPr lang="en-US" altLang="ko-KR" sz="1700" b="1" dirty="0">
                <a:solidFill>
                  <a:srgbClr val="1F2328">
                    <a:alpha val="0"/>
                  </a:srgbClr>
                </a:solidFill>
                <a:latin typeface="Calibri"/>
                <a:ea typeface="맑은 고딕"/>
                <a:cs typeface="Calibri"/>
              </a:rPr>
              <a:t> / </a:t>
            </a:r>
            <a:r>
              <a:rPr lang="en-US" altLang="ko-KR" sz="1700" b="1" dirty="0">
                <a:solidFill>
                  <a:srgbClr val="1F2328">
                    <a:alpha val="0"/>
                  </a:srgbClr>
                </a:solidFill>
                <a:latin typeface="Calibri"/>
                <a:ea typeface="맑은 고딕"/>
                <a:cs typeface="Calibri"/>
              </a:rPr>
              <a:t>had been cut</a:t>
            </a:r>
            <a:r>
              <a:rPr lang="en-US" altLang="ko-KR" sz="1700" b="1"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 off.</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⑫</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"Don’t worry, this was a favor. I won’t charge you for this," said Rummins.</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⑬</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Mr. Boggis was so </a:t>
            </a:r>
            <a:r>
              <a:rPr lang="en-US" altLang="ko-KR" sz="1700" b="1" dirty="0">
                <a:solidFill>
                  <a:srgbClr val="1F2328">
                    <a:alpha val="0"/>
                  </a:srgbClr>
                </a:solidFill>
                <a:latin typeface="Calibri"/>
                <a:ea typeface="맑은 고딕"/>
                <a:cs typeface="Calibri"/>
              </a:rPr>
              <a:t>[ </a:t>
            </a:r>
            <a:r>
              <a:rPr lang="en-US" altLang="ko-KR" sz="1700" b="1" dirty="0">
                <a:solidFill>
                  <a:srgbClr val="1F2328">
                    <a:alpha val="0"/>
                  </a:srgbClr>
                </a:solidFill>
                <a:latin typeface="Calibri"/>
                <a:ea typeface="맑은 고딕"/>
                <a:cs typeface="Calibri"/>
              </a:rPr>
              <a:t>shocked</a:t>
            </a:r>
            <a:r>
              <a:rPr lang="en-US" altLang="ko-KR" sz="1700" b="1" dirty="0">
                <a:solidFill>
                  <a:srgbClr val="1F2328">
                    <a:alpha val="0"/>
                  </a:srgbClr>
                </a:solidFill>
                <a:latin typeface="Calibri"/>
                <a:ea typeface="맑은 고딕"/>
                <a:cs typeface="Calibri"/>
              </a:rPr>
              <a:t> / </a:t>
            </a:r>
            <a:r>
              <a:rPr lang="en-US" altLang="ko-KR" sz="1700" b="1" dirty="0">
                <a:solidFill>
                  <a:srgbClr val="1F2328">
                    <a:alpha val="0"/>
                  </a:srgbClr>
                </a:solidFill>
                <a:latin typeface="Calibri"/>
                <a:ea typeface="맑은 고딕"/>
                <a:cs typeface="Calibri"/>
              </a:rPr>
              <a:t>shocking</a:t>
            </a:r>
            <a:r>
              <a:rPr lang="en-US" altLang="ko-KR" sz="1700" b="1"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 that he couldn’t say anything.</a:t>
            </a:r>
            <a:endParaRPr lang="en-US" altLang="ko-KR" sz="1700" b="0" dirty="0">
              <a:solidFill>
                <a:srgbClr val="1F2328"/>
              </a:solidFill>
              <a:latin typeface="Calibri"/>
              <a:ea typeface="맑은 고딕"/>
              <a:cs typeface="Calibri"/>
            </a:endParaRPr>
          </a:p>
        </p:txBody>
      </p:sp>
      <p:sp>
        <p:nvSpPr>
          <p:cNvPr id="12" name="rv_g04"/>
          <p:cNvSpPr txBox="1"/>
          <p:nvPr/>
        </p:nvSpPr>
        <p:spPr>
          <a:xfrm>
            <a:off x="457200" y="950976"/>
            <a:ext cx="11277295" cy="5200396"/>
          </a:xfrm>
          <a:prstGeom prst="rect">
            <a:avLst/>
          </a:prstGeom>
          <a:noFill/>
        </p:spPr>
        <p:txBody>
          <a:bodyPr wrap="square" lIns="228600" tIns="155448" rIns="228600" bIns="155448" anchor="t" rtlCol="0">
            <a:noAutofit/>
          </a:bodyPr>
          <a:lstStyle/>
          <a:p>
            <a:pPr algn="l">
              <a:lnSpc>
                <a:spcPts val="2750"/>
              </a:lnSpc>
              <a:spcBef>
                <a:spcPts val="0"/>
              </a:spcBef>
              <a:spcAft>
                <a:spcPts val="0"/>
              </a:spcAft>
              <a:buNone/>
            </a:pPr>
            <a:r>
              <a:rPr lang="ko-KR" altLang="en-US" sz="1700" b="1" dirty="0">
                <a:solidFill>
                  <a:srgbClr val="1E2A5A">
                    <a:alpha val="0"/>
                  </a:srgbClr>
                </a:solidFill>
                <a:latin typeface="맑은 고딕"/>
                <a:ea typeface="맑은 고딕"/>
                <a:cs typeface="맑은 고딕"/>
              </a:rPr>
              <a:t>①</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He then added, "Hmm, I think I may buy it. The legs of my table at home </a:t>
            </a:r>
            <a:r>
              <a:rPr lang="en-US" altLang="ko-KR" sz="1700" b="1" dirty="0">
                <a:solidFill>
                  <a:srgbClr val="1F2328">
                    <a:alpha val="0"/>
                  </a:srgbClr>
                </a:solidFill>
                <a:latin typeface="Calibri"/>
                <a:ea typeface="맑은 고딕"/>
                <a:cs typeface="Calibri"/>
              </a:rPr>
              <a:t>[ </a:t>
            </a:r>
            <a:r>
              <a:rPr lang="en-US" altLang="ko-KR" sz="1700" b="1" dirty="0">
                <a:solidFill>
                  <a:srgbClr val="1F2328">
                    <a:alpha val="0"/>
                  </a:srgbClr>
                </a:solidFill>
                <a:latin typeface="Calibri"/>
                <a:ea typeface="맑은 고딕"/>
                <a:cs typeface="Calibri"/>
              </a:rPr>
              <a:t>are broken</a:t>
            </a:r>
            <a:r>
              <a:rPr lang="en-US" altLang="ko-KR" sz="1700" b="1" dirty="0">
                <a:solidFill>
                  <a:srgbClr val="1F2328">
                    <a:alpha val="0"/>
                  </a:srgbClr>
                </a:solidFill>
                <a:latin typeface="Calibri"/>
                <a:ea typeface="맑은 고딕"/>
                <a:cs typeface="Calibri"/>
              </a:rPr>
              <a:t> / </a:t>
            </a:r>
            <a:r>
              <a:rPr lang="en-US" altLang="ko-KR" sz="1700" b="1" dirty="0">
                <a:solidFill>
                  <a:srgbClr val="1F2328">
                    <a:alpha val="0"/>
                  </a:srgbClr>
                </a:solidFill>
                <a:latin typeface="Calibri"/>
                <a:ea typeface="맑은 고딕"/>
                <a:cs typeface="Calibri"/>
              </a:rPr>
              <a:t>is broken</a:t>
            </a:r>
            <a:r>
              <a:rPr lang="en-US" altLang="ko-KR" sz="1700" b="1"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 I can cut off the legs of your table and attach them to </a:t>
            </a:r>
            <a:r>
              <a:rPr lang="en-US" altLang="ko-KR" sz="1700" b="1" dirty="0">
                <a:solidFill>
                  <a:srgbClr val="1F2328">
                    <a:alpha val="0"/>
                  </a:srgbClr>
                </a:solidFill>
                <a:latin typeface="Calibri"/>
                <a:ea typeface="맑은 고딕"/>
                <a:cs typeface="Calibri"/>
              </a:rPr>
              <a:t>[ </a:t>
            </a:r>
            <a:r>
              <a:rPr lang="en-US" altLang="ko-KR" sz="1700" b="1" dirty="0">
                <a:solidFill>
                  <a:srgbClr val="1F2328">
                    <a:alpha val="0"/>
                  </a:srgbClr>
                </a:solidFill>
                <a:latin typeface="Calibri"/>
                <a:ea typeface="맑은 고딕"/>
                <a:cs typeface="Calibri"/>
              </a:rPr>
              <a:t>me</a:t>
            </a:r>
            <a:r>
              <a:rPr lang="en-US" altLang="ko-KR" sz="1700" b="1" dirty="0">
                <a:solidFill>
                  <a:srgbClr val="1F2328">
                    <a:alpha val="0"/>
                  </a:srgbClr>
                </a:solidFill>
                <a:latin typeface="Calibri"/>
                <a:ea typeface="맑은 고딕"/>
                <a:cs typeface="Calibri"/>
              </a:rPr>
              <a:t> / </a:t>
            </a:r>
            <a:r>
              <a:rPr lang="en-US" altLang="ko-KR" sz="1700" b="1" dirty="0">
                <a:solidFill>
                  <a:srgbClr val="1F2328">
                    <a:alpha val="0"/>
                  </a:srgbClr>
                </a:solidFill>
                <a:latin typeface="Calibri"/>
                <a:ea typeface="맑은 고딕"/>
                <a:cs typeface="Calibri"/>
              </a:rPr>
              <a:t>mine</a:t>
            </a:r>
            <a:r>
              <a:rPr lang="en-US" altLang="ko-KR" sz="1700" b="1"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②</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"How much?" Rummins asked. "Not much, I’m afraid. This is just a reproduction," said Mr. Boggis.</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③</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"So how much?" "Ten pounds." "Ten? It’s worth more than that." "How about fifteen?" "Make it fifty." "Well, thirty. This is my final offer."</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④</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"OK, it’s yours, but how are you going to take it? This thing will not go in a car!"</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⑤</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"We’ll see," Mr. Boggis said and went out to bring his car.</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⑥</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On his way to the car, Mr. Boggis couldn’t help </a:t>
            </a:r>
            <a:r>
              <a:rPr lang="en-US" altLang="ko-KR" sz="1700" b="1" dirty="0">
                <a:solidFill>
                  <a:srgbClr val="1F2328">
                    <a:alpha val="0"/>
                  </a:srgbClr>
                </a:solidFill>
                <a:latin typeface="Calibri"/>
                <a:ea typeface="맑은 고딕"/>
                <a:cs typeface="Calibri"/>
              </a:rPr>
              <a:t>[ </a:t>
            </a:r>
            <a:r>
              <a:rPr lang="en-US" altLang="ko-KR" sz="1700" b="1" dirty="0">
                <a:solidFill>
                  <a:srgbClr val="1F2328">
                    <a:alpha val="0"/>
                  </a:srgbClr>
                </a:solidFill>
                <a:latin typeface="Calibri"/>
                <a:ea typeface="맑은 고딕"/>
                <a:cs typeface="Calibri"/>
              </a:rPr>
              <a:t>smiling</a:t>
            </a:r>
            <a:r>
              <a:rPr lang="en-US" altLang="ko-KR" sz="1700" b="1" dirty="0">
                <a:solidFill>
                  <a:srgbClr val="1F2328">
                    <a:alpha val="0"/>
                  </a:srgbClr>
                </a:solidFill>
                <a:latin typeface="Calibri"/>
                <a:ea typeface="맑은 고딕"/>
                <a:cs typeface="Calibri"/>
              </a:rPr>
              <a:t> / </a:t>
            </a:r>
            <a:r>
              <a:rPr lang="en-US" altLang="ko-KR" sz="1700" b="1" dirty="0">
                <a:solidFill>
                  <a:srgbClr val="1F2328">
                    <a:alpha val="0"/>
                  </a:srgbClr>
                </a:solidFill>
                <a:latin typeface="Calibri"/>
                <a:ea typeface="맑은 고딕"/>
                <a:cs typeface="Calibri"/>
              </a:rPr>
              <a:t>to smile</a:t>
            </a:r>
            <a:r>
              <a:rPr lang="en-US" altLang="ko-KR" sz="1700" b="1"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⑦</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The table was </a:t>
            </a:r>
            <a:r>
              <a:rPr lang="en-US" altLang="ko-KR" sz="1700" b="1" dirty="0">
                <a:solidFill>
                  <a:srgbClr val="1F2328">
                    <a:alpha val="0"/>
                  </a:srgbClr>
                </a:solidFill>
                <a:latin typeface="Calibri"/>
                <a:ea typeface="맑은 고딕"/>
                <a:cs typeface="Calibri"/>
              </a:rPr>
              <a:t>[ </a:t>
            </a:r>
            <a:r>
              <a:rPr lang="en-US" altLang="ko-KR" sz="1700" b="1" dirty="0">
                <a:solidFill>
                  <a:srgbClr val="1F2328">
                    <a:alpha val="0"/>
                  </a:srgbClr>
                </a:solidFill>
                <a:latin typeface="Calibri"/>
                <a:ea typeface="맑은 고딕"/>
                <a:cs typeface="Calibri"/>
              </a:rPr>
              <a:t>which</a:t>
            </a:r>
            <a:r>
              <a:rPr lang="en-US" altLang="ko-KR" sz="1700" b="1" dirty="0">
                <a:solidFill>
                  <a:srgbClr val="1F2328">
                    <a:alpha val="0"/>
                  </a:srgbClr>
                </a:solidFill>
                <a:latin typeface="Calibri"/>
                <a:ea typeface="맑은 고딕"/>
                <a:cs typeface="Calibri"/>
              </a:rPr>
              <a:t> / </a:t>
            </a:r>
            <a:r>
              <a:rPr lang="en-US" altLang="ko-KR" sz="1700" b="1" dirty="0">
                <a:solidFill>
                  <a:srgbClr val="C00000"/>
                </a:solidFill>
                <a:highlight>
                  <a:srgbClr val="F3F5F9"/>
                </a:highlight>
                <a:latin typeface="Calibri"/>
                <a:ea typeface="맑은 고딕"/>
                <a:cs typeface="Calibri"/>
              </a:rPr>
              <a:t>what</a:t>
            </a:r>
            <a:r>
              <a:rPr lang="en-US" altLang="ko-KR" sz="1700" b="1"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 every dealer dreamed of. He couldn’t believe his luck.</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⑧</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"Dad, what if this thing doesn’t go in his car? He might not pay you," said Bert.</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⑨</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Rummins then had an idea. "What he wants is only the legs. Let’s cut the legs off for him," said Rummins.</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⑩</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"Great idea!" said Bert. Bert then took out a saw and began to cut off the legs.</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⑪</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When Mr. Boggis came back, the legs </a:t>
            </a:r>
            <a:r>
              <a:rPr lang="en-US" altLang="ko-KR" sz="1700" b="1" dirty="0">
                <a:solidFill>
                  <a:srgbClr val="1F2328">
                    <a:alpha val="0"/>
                  </a:srgbClr>
                </a:solidFill>
                <a:latin typeface="Calibri"/>
                <a:ea typeface="맑은 고딕"/>
                <a:cs typeface="Calibri"/>
              </a:rPr>
              <a:t>[ </a:t>
            </a:r>
            <a:r>
              <a:rPr lang="en-US" altLang="ko-KR" sz="1700" b="1" dirty="0">
                <a:solidFill>
                  <a:srgbClr val="1F2328">
                    <a:alpha val="0"/>
                  </a:srgbClr>
                </a:solidFill>
                <a:latin typeface="Calibri"/>
                <a:ea typeface="맑은 고딕"/>
                <a:cs typeface="Calibri"/>
              </a:rPr>
              <a:t>had cut</a:t>
            </a:r>
            <a:r>
              <a:rPr lang="en-US" altLang="ko-KR" sz="1700" b="1" dirty="0">
                <a:solidFill>
                  <a:srgbClr val="1F2328">
                    <a:alpha val="0"/>
                  </a:srgbClr>
                </a:solidFill>
                <a:latin typeface="Calibri"/>
                <a:ea typeface="맑은 고딕"/>
                <a:cs typeface="Calibri"/>
              </a:rPr>
              <a:t> / </a:t>
            </a:r>
            <a:r>
              <a:rPr lang="en-US" altLang="ko-KR" sz="1700" b="1" dirty="0">
                <a:solidFill>
                  <a:srgbClr val="1F2328">
                    <a:alpha val="0"/>
                  </a:srgbClr>
                </a:solidFill>
                <a:latin typeface="Calibri"/>
                <a:ea typeface="맑은 고딕"/>
                <a:cs typeface="Calibri"/>
              </a:rPr>
              <a:t>had been cut</a:t>
            </a:r>
            <a:r>
              <a:rPr lang="en-US" altLang="ko-KR" sz="1700" b="1"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 off.</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⑫</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"Don’t worry, this was a favor. I won’t charge you for this," said Rummins.</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⑬</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Mr. Boggis was so </a:t>
            </a:r>
            <a:r>
              <a:rPr lang="en-US" altLang="ko-KR" sz="1700" b="1" dirty="0">
                <a:solidFill>
                  <a:srgbClr val="1F2328">
                    <a:alpha val="0"/>
                  </a:srgbClr>
                </a:solidFill>
                <a:latin typeface="Calibri"/>
                <a:ea typeface="맑은 고딕"/>
                <a:cs typeface="Calibri"/>
              </a:rPr>
              <a:t>[ </a:t>
            </a:r>
            <a:r>
              <a:rPr lang="en-US" altLang="ko-KR" sz="1700" b="1" dirty="0">
                <a:solidFill>
                  <a:srgbClr val="1F2328">
                    <a:alpha val="0"/>
                  </a:srgbClr>
                </a:solidFill>
                <a:latin typeface="Calibri"/>
                <a:ea typeface="맑은 고딕"/>
                <a:cs typeface="Calibri"/>
              </a:rPr>
              <a:t>shocked</a:t>
            </a:r>
            <a:r>
              <a:rPr lang="en-US" altLang="ko-KR" sz="1700" b="1" dirty="0">
                <a:solidFill>
                  <a:srgbClr val="1F2328">
                    <a:alpha val="0"/>
                  </a:srgbClr>
                </a:solidFill>
                <a:latin typeface="Calibri"/>
                <a:ea typeface="맑은 고딕"/>
                <a:cs typeface="Calibri"/>
              </a:rPr>
              <a:t> / </a:t>
            </a:r>
            <a:r>
              <a:rPr lang="en-US" altLang="ko-KR" sz="1700" b="1" dirty="0">
                <a:solidFill>
                  <a:srgbClr val="1F2328">
                    <a:alpha val="0"/>
                  </a:srgbClr>
                </a:solidFill>
                <a:latin typeface="Calibri"/>
                <a:ea typeface="맑은 고딕"/>
                <a:cs typeface="Calibri"/>
              </a:rPr>
              <a:t>shocking</a:t>
            </a:r>
            <a:r>
              <a:rPr lang="en-US" altLang="ko-KR" sz="1700" b="1"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 that he couldn’t say anything.</a:t>
            </a:r>
            <a:endParaRPr lang="en-US" altLang="ko-KR" sz="1700" b="0" dirty="0">
              <a:solidFill>
                <a:srgbClr val="1F2328"/>
              </a:solidFill>
              <a:latin typeface="Calibri"/>
              <a:ea typeface="맑은 고딕"/>
              <a:cs typeface="Calibri"/>
            </a:endParaRPr>
          </a:p>
        </p:txBody>
      </p:sp>
      <p:sp>
        <p:nvSpPr>
          <p:cNvPr id="13" name="rv_g05"/>
          <p:cNvSpPr txBox="1"/>
          <p:nvPr/>
        </p:nvSpPr>
        <p:spPr>
          <a:xfrm>
            <a:off x="457200" y="950976"/>
            <a:ext cx="11277295" cy="5200396"/>
          </a:xfrm>
          <a:prstGeom prst="rect">
            <a:avLst/>
          </a:prstGeom>
          <a:noFill/>
        </p:spPr>
        <p:txBody>
          <a:bodyPr wrap="square" lIns="228600" tIns="155448" rIns="228600" bIns="155448" anchor="t" rtlCol="0">
            <a:noAutofit/>
          </a:bodyPr>
          <a:lstStyle/>
          <a:p>
            <a:pPr algn="l">
              <a:lnSpc>
                <a:spcPts val="2750"/>
              </a:lnSpc>
              <a:spcBef>
                <a:spcPts val="0"/>
              </a:spcBef>
              <a:spcAft>
                <a:spcPts val="0"/>
              </a:spcAft>
              <a:buNone/>
            </a:pPr>
            <a:r>
              <a:rPr lang="ko-KR" altLang="en-US" sz="1700" b="1" dirty="0">
                <a:solidFill>
                  <a:srgbClr val="1E2A5A">
                    <a:alpha val="0"/>
                  </a:srgbClr>
                </a:solidFill>
                <a:latin typeface="맑은 고딕"/>
                <a:ea typeface="맑은 고딕"/>
                <a:cs typeface="맑은 고딕"/>
              </a:rPr>
              <a:t>①</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He then added, "Hmm, I think I may buy it. The legs of my table at home </a:t>
            </a:r>
            <a:r>
              <a:rPr lang="en-US" altLang="ko-KR" sz="1700" b="1" dirty="0">
                <a:solidFill>
                  <a:srgbClr val="1F2328">
                    <a:alpha val="0"/>
                  </a:srgbClr>
                </a:solidFill>
                <a:latin typeface="Calibri"/>
                <a:ea typeface="맑은 고딕"/>
                <a:cs typeface="Calibri"/>
              </a:rPr>
              <a:t>[ </a:t>
            </a:r>
            <a:r>
              <a:rPr lang="en-US" altLang="ko-KR" sz="1700" b="1" dirty="0">
                <a:solidFill>
                  <a:srgbClr val="1F2328">
                    <a:alpha val="0"/>
                  </a:srgbClr>
                </a:solidFill>
                <a:latin typeface="Calibri"/>
                <a:ea typeface="맑은 고딕"/>
                <a:cs typeface="Calibri"/>
              </a:rPr>
              <a:t>are broken</a:t>
            </a:r>
            <a:r>
              <a:rPr lang="en-US" altLang="ko-KR" sz="1700" b="1" dirty="0">
                <a:solidFill>
                  <a:srgbClr val="1F2328">
                    <a:alpha val="0"/>
                  </a:srgbClr>
                </a:solidFill>
                <a:latin typeface="Calibri"/>
                <a:ea typeface="맑은 고딕"/>
                <a:cs typeface="Calibri"/>
              </a:rPr>
              <a:t> / </a:t>
            </a:r>
            <a:r>
              <a:rPr lang="en-US" altLang="ko-KR" sz="1700" b="1" dirty="0">
                <a:solidFill>
                  <a:srgbClr val="1F2328">
                    <a:alpha val="0"/>
                  </a:srgbClr>
                </a:solidFill>
                <a:latin typeface="Calibri"/>
                <a:ea typeface="맑은 고딕"/>
                <a:cs typeface="Calibri"/>
              </a:rPr>
              <a:t>is broken</a:t>
            </a:r>
            <a:r>
              <a:rPr lang="en-US" altLang="ko-KR" sz="1700" b="1"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 I can cut off the legs of your table and attach them to </a:t>
            </a:r>
            <a:r>
              <a:rPr lang="en-US" altLang="ko-KR" sz="1700" b="1" dirty="0">
                <a:solidFill>
                  <a:srgbClr val="1F2328">
                    <a:alpha val="0"/>
                  </a:srgbClr>
                </a:solidFill>
                <a:latin typeface="Calibri"/>
                <a:ea typeface="맑은 고딕"/>
                <a:cs typeface="Calibri"/>
              </a:rPr>
              <a:t>[ </a:t>
            </a:r>
            <a:r>
              <a:rPr lang="en-US" altLang="ko-KR" sz="1700" b="1" dirty="0">
                <a:solidFill>
                  <a:srgbClr val="1F2328">
                    <a:alpha val="0"/>
                  </a:srgbClr>
                </a:solidFill>
                <a:latin typeface="Calibri"/>
                <a:ea typeface="맑은 고딕"/>
                <a:cs typeface="Calibri"/>
              </a:rPr>
              <a:t>me</a:t>
            </a:r>
            <a:r>
              <a:rPr lang="en-US" altLang="ko-KR" sz="1700" b="1" dirty="0">
                <a:solidFill>
                  <a:srgbClr val="1F2328">
                    <a:alpha val="0"/>
                  </a:srgbClr>
                </a:solidFill>
                <a:latin typeface="Calibri"/>
                <a:ea typeface="맑은 고딕"/>
                <a:cs typeface="Calibri"/>
              </a:rPr>
              <a:t> / </a:t>
            </a:r>
            <a:r>
              <a:rPr lang="en-US" altLang="ko-KR" sz="1700" b="1" dirty="0">
                <a:solidFill>
                  <a:srgbClr val="1F2328">
                    <a:alpha val="0"/>
                  </a:srgbClr>
                </a:solidFill>
                <a:latin typeface="Calibri"/>
                <a:ea typeface="맑은 고딕"/>
                <a:cs typeface="Calibri"/>
              </a:rPr>
              <a:t>mine</a:t>
            </a:r>
            <a:r>
              <a:rPr lang="en-US" altLang="ko-KR" sz="1700" b="1"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②</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"How much?" Rummins asked. "Not much, I’m afraid. This is just a reproduction," said Mr. Boggis.</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③</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"So how much?" "Ten pounds." "Ten? It’s worth more than that." "How about fifteen?" "Make it fifty." "Well, thirty. This is my final offer."</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④</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"OK, it’s yours, but how are you going to take it? This thing will not go in a car!"</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⑤</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"We’ll see," Mr. Boggis said and went out to bring his car.</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⑥</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On his way to the car, Mr. Boggis couldn’t help </a:t>
            </a:r>
            <a:r>
              <a:rPr lang="en-US" altLang="ko-KR" sz="1700" b="1" dirty="0">
                <a:solidFill>
                  <a:srgbClr val="1F2328">
                    <a:alpha val="0"/>
                  </a:srgbClr>
                </a:solidFill>
                <a:latin typeface="Calibri"/>
                <a:ea typeface="맑은 고딕"/>
                <a:cs typeface="Calibri"/>
              </a:rPr>
              <a:t>[ </a:t>
            </a:r>
            <a:r>
              <a:rPr lang="en-US" altLang="ko-KR" sz="1700" b="1" dirty="0">
                <a:solidFill>
                  <a:srgbClr val="1F2328">
                    <a:alpha val="0"/>
                  </a:srgbClr>
                </a:solidFill>
                <a:latin typeface="Calibri"/>
                <a:ea typeface="맑은 고딕"/>
                <a:cs typeface="Calibri"/>
              </a:rPr>
              <a:t>smiling</a:t>
            </a:r>
            <a:r>
              <a:rPr lang="en-US" altLang="ko-KR" sz="1700" b="1" dirty="0">
                <a:solidFill>
                  <a:srgbClr val="1F2328">
                    <a:alpha val="0"/>
                  </a:srgbClr>
                </a:solidFill>
                <a:latin typeface="Calibri"/>
                <a:ea typeface="맑은 고딕"/>
                <a:cs typeface="Calibri"/>
              </a:rPr>
              <a:t> / </a:t>
            </a:r>
            <a:r>
              <a:rPr lang="en-US" altLang="ko-KR" sz="1700" b="1" dirty="0">
                <a:solidFill>
                  <a:srgbClr val="1F2328">
                    <a:alpha val="0"/>
                  </a:srgbClr>
                </a:solidFill>
                <a:latin typeface="Calibri"/>
                <a:ea typeface="맑은 고딕"/>
                <a:cs typeface="Calibri"/>
              </a:rPr>
              <a:t>to smile</a:t>
            </a:r>
            <a:r>
              <a:rPr lang="en-US" altLang="ko-KR" sz="1700" b="1"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⑦</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The table was </a:t>
            </a:r>
            <a:r>
              <a:rPr lang="en-US" altLang="ko-KR" sz="1700" b="1" dirty="0">
                <a:solidFill>
                  <a:srgbClr val="1F2328">
                    <a:alpha val="0"/>
                  </a:srgbClr>
                </a:solidFill>
                <a:latin typeface="Calibri"/>
                <a:ea typeface="맑은 고딕"/>
                <a:cs typeface="Calibri"/>
              </a:rPr>
              <a:t>[ </a:t>
            </a:r>
            <a:r>
              <a:rPr lang="en-US" altLang="ko-KR" sz="1700" b="1" dirty="0">
                <a:solidFill>
                  <a:srgbClr val="1F2328">
                    <a:alpha val="0"/>
                  </a:srgbClr>
                </a:solidFill>
                <a:latin typeface="Calibri"/>
                <a:ea typeface="맑은 고딕"/>
                <a:cs typeface="Calibri"/>
              </a:rPr>
              <a:t>which</a:t>
            </a:r>
            <a:r>
              <a:rPr lang="en-US" altLang="ko-KR" sz="1700" b="1" dirty="0">
                <a:solidFill>
                  <a:srgbClr val="1F2328">
                    <a:alpha val="0"/>
                  </a:srgbClr>
                </a:solidFill>
                <a:latin typeface="Calibri"/>
                <a:ea typeface="맑은 고딕"/>
                <a:cs typeface="Calibri"/>
              </a:rPr>
              <a:t> / </a:t>
            </a:r>
            <a:r>
              <a:rPr lang="en-US" altLang="ko-KR" sz="1700" b="1" dirty="0">
                <a:solidFill>
                  <a:srgbClr val="1F2328">
                    <a:alpha val="0"/>
                  </a:srgbClr>
                </a:solidFill>
                <a:latin typeface="Calibri"/>
                <a:ea typeface="맑은 고딕"/>
                <a:cs typeface="Calibri"/>
              </a:rPr>
              <a:t>what</a:t>
            </a:r>
            <a:r>
              <a:rPr lang="en-US" altLang="ko-KR" sz="1700" b="1"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 every dealer dreamed of. He couldn’t believe his luck.</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⑧</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"Dad, what if this thing doesn’t go in his car? He might not pay you," said Bert.</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⑨</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Rummins then had an idea. "What he wants is only the legs. Let’s cut the legs off for him," said Rummins.</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⑩</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"Great idea!" said Bert. Bert then took out a saw and began to cut off the legs.</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⑪</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When Mr. Boggis came back, the legs </a:t>
            </a:r>
            <a:r>
              <a:rPr lang="en-US" altLang="ko-KR" sz="1700" b="1" dirty="0">
                <a:solidFill>
                  <a:srgbClr val="1F2328">
                    <a:alpha val="0"/>
                  </a:srgbClr>
                </a:solidFill>
                <a:latin typeface="Calibri"/>
                <a:ea typeface="맑은 고딕"/>
                <a:cs typeface="Calibri"/>
              </a:rPr>
              <a:t>[ </a:t>
            </a:r>
            <a:r>
              <a:rPr lang="en-US" altLang="ko-KR" sz="1700" b="1" dirty="0">
                <a:solidFill>
                  <a:srgbClr val="1F2328">
                    <a:alpha val="0"/>
                  </a:srgbClr>
                </a:solidFill>
                <a:latin typeface="Calibri"/>
                <a:ea typeface="맑은 고딕"/>
                <a:cs typeface="Calibri"/>
              </a:rPr>
              <a:t>had cut</a:t>
            </a:r>
            <a:r>
              <a:rPr lang="en-US" altLang="ko-KR" sz="1700" b="1" dirty="0">
                <a:solidFill>
                  <a:srgbClr val="1F2328">
                    <a:alpha val="0"/>
                  </a:srgbClr>
                </a:solidFill>
                <a:latin typeface="Calibri"/>
                <a:ea typeface="맑은 고딕"/>
                <a:cs typeface="Calibri"/>
              </a:rPr>
              <a:t> / </a:t>
            </a:r>
            <a:r>
              <a:rPr lang="en-US" altLang="ko-KR" sz="1700" b="1" dirty="0">
                <a:solidFill>
                  <a:srgbClr val="C00000"/>
                </a:solidFill>
                <a:highlight>
                  <a:srgbClr val="F3F5F9"/>
                </a:highlight>
                <a:latin typeface="Calibri"/>
                <a:ea typeface="맑은 고딕"/>
                <a:cs typeface="Calibri"/>
              </a:rPr>
              <a:t>had been cut</a:t>
            </a:r>
            <a:r>
              <a:rPr lang="en-US" altLang="ko-KR" sz="1700" b="1"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 off.</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⑫</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"Don’t worry, this was a favor. I won’t charge you for this," said Rummins.</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⑬</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Mr. Boggis was so </a:t>
            </a:r>
            <a:r>
              <a:rPr lang="en-US" altLang="ko-KR" sz="1700" b="1" dirty="0">
                <a:solidFill>
                  <a:srgbClr val="1F2328">
                    <a:alpha val="0"/>
                  </a:srgbClr>
                </a:solidFill>
                <a:latin typeface="Calibri"/>
                <a:ea typeface="맑은 고딕"/>
                <a:cs typeface="Calibri"/>
              </a:rPr>
              <a:t>[ </a:t>
            </a:r>
            <a:r>
              <a:rPr lang="en-US" altLang="ko-KR" sz="1700" b="1" dirty="0">
                <a:solidFill>
                  <a:srgbClr val="1F2328">
                    <a:alpha val="0"/>
                  </a:srgbClr>
                </a:solidFill>
                <a:latin typeface="Calibri"/>
                <a:ea typeface="맑은 고딕"/>
                <a:cs typeface="Calibri"/>
              </a:rPr>
              <a:t>shocked</a:t>
            </a:r>
            <a:r>
              <a:rPr lang="en-US" altLang="ko-KR" sz="1700" b="1" dirty="0">
                <a:solidFill>
                  <a:srgbClr val="1F2328">
                    <a:alpha val="0"/>
                  </a:srgbClr>
                </a:solidFill>
                <a:latin typeface="Calibri"/>
                <a:ea typeface="맑은 고딕"/>
                <a:cs typeface="Calibri"/>
              </a:rPr>
              <a:t> / </a:t>
            </a:r>
            <a:r>
              <a:rPr lang="en-US" altLang="ko-KR" sz="1700" b="1" dirty="0">
                <a:solidFill>
                  <a:srgbClr val="1F2328">
                    <a:alpha val="0"/>
                  </a:srgbClr>
                </a:solidFill>
                <a:latin typeface="Calibri"/>
                <a:ea typeface="맑은 고딕"/>
                <a:cs typeface="Calibri"/>
              </a:rPr>
              <a:t>shocking</a:t>
            </a:r>
            <a:r>
              <a:rPr lang="en-US" altLang="ko-KR" sz="1700" b="1"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 that he couldn’t say anything.</a:t>
            </a:r>
            <a:endParaRPr lang="en-US" altLang="ko-KR" sz="1700" b="0" dirty="0">
              <a:solidFill>
                <a:srgbClr val="1F2328"/>
              </a:solidFill>
              <a:latin typeface="Calibri"/>
              <a:ea typeface="맑은 고딕"/>
              <a:cs typeface="Calibri"/>
            </a:endParaRPr>
          </a:p>
        </p:txBody>
      </p:sp>
      <p:sp>
        <p:nvSpPr>
          <p:cNvPr id="14" name="rv_g06"/>
          <p:cNvSpPr txBox="1"/>
          <p:nvPr/>
        </p:nvSpPr>
        <p:spPr>
          <a:xfrm>
            <a:off x="457200" y="950976"/>
            <a:ext cx="11277295" cy="5200396"/>
          </a:xfrm>
          <a:prstGeom prst="rect">
            <a:avLst/>
          </a:prstGeom>
          <a:noFill/>
        </p:spPr>
        <p:txBody>
          <a:bodyPr wrap="square" lIns="228600" tIns="155448" rIns="228600" bIns="155448" anchor="t" rtlCol="0">
            <a:noAutofit/>
          </a:bodyPr>
          <a:lstStyle/>
          <a:p>
            <a:pPr algn="l">
              <a:lnSpc>
                <a:spcPts val="2750"/>
              </a:lnSpc>
              <a:spcBef>
                <a:spcPts val="0"/>
              </a:spcBef>
              <a:spcAft>
                <a:spcPts val="0"/>
              </a:spcAft>
              <a:buNone/>
            </a:pPr>
            <a:r>
              <a:rPr lang="ko-KR" altLang="en-US" sz="1700" b="1" dirty="0">
                <a:solidFill>
                  <a:srgbClr val="1E2A5A">
                    <a:alpha val="0"/>
                  </a:srgbClr>
                </a:solidFill>
                <a:latin typeface="맑은 고딕"/>
                <a:ea typeface="맑은 고딕"/>
                <a:cs typeface="맑은 고딕"/>
              </a:rPr>
              <a:t>①</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He then added, "Hmm, I think I may buy it. The legs of my table at home </a:t>
            </a:r>
            <a:r>
              <a:rPr lang="en-US" altLang="ko-KR" sz="1700" b="1" dirty="0">
                <a:solidFill>
                  <a:srgbClr val="1F2328">
                    <a:alpha val="0"/>
                  </a:srgbClr>
                </a:solidFill>
                <a:latin typeface="Calibri"/>
                <a:ea typeface="맑은 고딕"/>
                <a:cs typeface="Calibri"/>
              </a:rPr>
              <a:t>[ </a:t>
            </a:r>
            <a:r>
              <a:rPr lang="en-US" altLang="ko-KR" sz="1700" b="1" dirty="0">
                <a:solidFill>
                  <a:srgbClr val="1F2328">
                    <a:alpha val="0"/>
                  </a:srgbClr>
                </a:solidFill>
                <a:latin typeface="Calibri"/>
                <a:ea typeface="맑은 고딕"/>
                <a:cs typeface="Calibri"/>
              </a:rPr>
              <a:t>are broken</a:t>
            </a:r>
            <a:r>
              <a:rPr lang="en-US" altLang="ko-KR" sz="1700" b="1" dirty="0">
                <a:solidFill>
                  <a:srgbClr val="1F2328">
                    <a:alpha val="0"/>
                  </a:srgbClr>
                </a:solidFill>
                <a:latin typeface="Calibri"/>
                <a:ea typeface="맑은 고딕"/>
                <a:cs typeface="Calibri"/>
              </a:rPr>
              <a:t> / </a:t>
            </a:r>
            <a:r>
              <a:rPr lang="en-US" altLang="ko-KR" sz="1700" b="1" dirty="0">
                <a:solidFill>
                  <a:srgbClr val="1F2328">
                    <a:alpha val="0"/>
                  </a:srgbClr>
                </a:solidFill>
                <a:latin typeface="Calibri"/>
                <a:ea typeface="맑은 고딕"/>
                <a:cs typeface="Calibri"/>
              </a:rPr>
              <a:t>is broken</a:t>
            </a:r>
            <a:r>
              <a:rPr lang="en-US" altLang="ko-KR" sz="1700" b="1"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 I can cut off the legs of your table and attach them to </a:t>
            </a:r>
            <a:r>
              <a:rPr lang="en-US" altLang="ko-KR" sz="1700" b="1" dirty="0">
                <a:solidFill>
                  <a:srgbClr val="1F2328">
                    <a:alpha val="0"/>
                  </a:srgbClr>
                </a:solidFill>
                <a:latin typeface="Calibri"/>
                <a:ea typeface="맑은 고딕"/>
                <a:cs typeface="Calibri"/>
              </a:rPr>
              <a:t>[ </a:t>
            </a:r>
            <a:r>
              <a:rPr lang="en-US" altLang="ko-KR" sz="1700" b="1" dirty="0">
                <a:solidFill>
                  <a:srgbClr val="1F2328">
                    <a:alpha val="0"/>
                  </a:srgbClr>
                </a:solidFill>
                <a:latin typeface="Calibri"/>
                <a:ea typeface="맑은 고딕"/>
                <a:cs typeface="Calibri"/>
              </a:rPr>
              <a:t>me</a:t>
            </a:r>
            <a:r>
              <a:rPr lang="en-US" altLang="ko-KR" sz="1700" b="1" dirty="0">
                <a:solidFill>
                  <a:srgbClr val="1F2328">
                    <a:alpha val="0"/>
                  </a:srgbClr>
                </a:solidFill>
                <a:latin typeface="Calibri"/>
                <a:ea typeface="맑은 고딕"/>
                <a:cs typeface="Calibri"/>
              </a:rPr>
              <a:t> / </a:t>
            </a:r>
            <a:r>
              <a:rPr lang="en-US" altLang="ko-KR" sz="1700" b="1" dirty="0">
                <a:solidFill>
                  <a:srgbClr val="1F2328">
                    <a:alpha val="0"/>
                  </a:srgbClr>
                </a:solidFill>
                <a:latin typeface="Calibri"/>
                <a:ea typeface="맑은 고딕"/>
                <a:cs typeface="Calibri"/>
              </a:rPr>
              <a:t>mine</a:t>
            </a:r>
            <a:r>
              <a:rPr lang="en-US" altLang="ko-KR" sz="1700" b="1"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②</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"How much?" Rummins asked. "Not much, I’m afraid. This is just a reproduction," said Mr. Boggis.</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③</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"So how much?" "Ten pounds." "Ten? It’s worth more than that." "How about fifteen?" "Make it fifty." "Well, thirty. This is my final offer."</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④</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"OK, it’s yours, but how are you going to take it? This thing will not go in a car!"</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⑤</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"We’ll see," Mr. Boggis said and went out to bring his car.</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⑥</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On his way to the car, Mr. Boggis couldn’t help </a:t>
            </a:r>
            <a:r>
              <a:rPr lang="en-US" altLang="ko-KR" sz="1700" b="1" dirty="0">
                <a:solidFill>
                  <a:srgbClr val="1F2328">
                    <a:alpha val="0"/>
                  </a:srgbClr>
                </a:solidFill>
                <a:latin typeface="Calibri"/>
                <a:ea typeface="맑은 고딕"/>
                <a:cs typeface="Calibri"/>
              </a:rPr>
              <a:t>[ </a:t>
            </a:r>
            <a:r>
              <a:rPr lang="en-US" altLang="ko-KR" sz="1700" b="1" dirty="0">
                <a:solidFill>
                  <a:srgbClr val="1F2328">
                    <a:alpha val="0"/>
                  </a:srgbClr>
                </a:solidFill>
                <a:latin typeface="Calibri"/>
                <a:ea typeface="맑은 고딕"/>
                <a:cs typeface="Calibri"/>
              </a:rPr>
              <a:t>smiling</a:t>
            </a:r>
            <a:r>
              <a:rPr lang="en-US" altLang="ko-KR" sz="1700" b="1" dirty="0">
                <a:solidFill>
                  <a:srgbClr val="1F2328">
                    <a:alpha val="0"/>
                  </a:srgbClr>
                </a:solidFill>
                <a:latin typeface="Calibri"/>
                <a:ea typeface="맑은 고딕"/>
                <a:cs typeface="Calibri"/>
              </a:rPr>
              <a:t> / </a:t>
            </a:r>
            <a:r>
              <a:rPr lang="en-US" altLang="ko-KR" sz="1700" b="1" dirty="0">
                <a:solidFill>
                  <a:srgbClr val="1F2328">
                    <a:alpha val="0"/>
                  </a:srgbClr>
                </a:solidFill>
                <a:latin typeface="Calibri"/>
                <a:ea typeface="맑은 고딕"/>
                <a:cs typeface="Calibri"/>
              </a:rPr>
              <a:t>to smile</a:t>
            </a:r>
            <a:r>
              <a:rPr lang="en-US" altLang="ko-KR" sz="1700" b="1"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⑦</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The table was </a:t>
            </a:r>
            <a:r>
              <a:rPr lang="en-US" altLang="ko-KR" sz="1700" b="1" dirty="0">
                <a:solidFill>
                  <a:srgbClr val="1F2328">
                    <a:alpha val="0"/>
                  </a:srgbClr>
                </a:solidFill>
                <a:latin typeface="Calibri"/>
                <a:ea typeface="맑은 고딕"/>
                <a:cs typeface="Calibri"/>
              </a:rPr>
              <a:t>[ </a:t>
            </a:r>
            <a:r>
              <a:rPr lang="en-US" altLang="ko-KR" sz="1700" b="1" dirty="0">
                <a:solidFill>
                  <a:srgbClr val="1F2328">
                    <a:alpha val="0"/>
                  </a:srgbClr>
                </a:solidFill>
                <a:latin typeface="Calibri"/>
                <a:ea typeface="맑은 고딕"/>
                <a:cs typeface="Calibri"/>
              </a:rPr>
              <a:t>which</a:t>
            </a:r>
            <a:r>
              <a:rPr lang="en-US" altLang="ko-KR" sz="1700" b="1" dirty="0">
                <a:solidFill>
                  <a:srgbClr val="1F2328">
                    <a:alpha val="0"/>
                  </a:srgbClr>
                </a:solidFill>
                <a:latin typeface="Calibri"/>
                <a:ea typeface="맑은 고딕"/>
                <a:cs typeface="Calibri"/>
              </a:rPr>
              <a:t> / </a:t>
            </a:r>
            <a:r>
              <a:rPr lang="en-US" altLang="ko-KR" sz="1700" b="1" dirty="0">
                <a:solidFill>
                  <a:srgbClr val="1F2328">
                    <a:alpha val="0"/>
                  </a:srgbClr>
                </a:solidFill>
                <a:latin typeface="Calibri"/>
                <a:ea typeface="맑은 고딕"/>
                <a:cs typeface="Calibri"/>
              </a:rPr>
              <a:t>what</a:t>
            </a:r>
            <a:r>
              <a:rPr lang="en-US" altLang="ko-KR" sz="1700" b="1"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 every dealer dreamed of. He couldn’t believe his luck.</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⑧</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"Dad, what if this thing doesn’t go in his car? He might not pay you," said Bert.</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⑨</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Rummins then had an idea. "What he wants is only the legs. Let’s cut the legs off for him," said Rummins.</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⑩</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"Great idea!" said Bert. Bert then took out a saw and began to cut off the legs.</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⑪</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When Mr. Boggis came back, the legs </a:t>
            </a:r>
            <a:r>
              <a:rPr lang="en-US" altLang="ko-KR" sz="1700" b="1" dirty="0">
                <a:solidFill>
                  <a:srgbClr val="1F2328">
                    <a:alpha val="0"/>
                  </a:srgbClr>
                </a:solidFill>
                <a:latin typeface="Calibri"/>
                <a:ea typeface="맑은 고딕"/>
                <a:cs typeface="Calibri"/>
              </a:rPr>
              <a:t>[ </a:t>
            </a:r>
            <a:r>
              <a:rPr lang="en-US" altLang="ko-KR" sz="1700" b="1" dirty="0">
                <a:solidFill>
                  <a:srgbClr val="1F2328">
                    <a:alpha val="0"/>
                  </a:srgbClr>
                </a:solidFill>
                <a:latin typeface="Calibri"/>
                <a:ea typeface="맑은 고딕"/>
                <a:cs typeface="Calibri"/>
              </a:rPr>
              <a:t>had cut</a:t>
            </a:r>
            <a:r>
              <a:rPr lang="en-US" altLang="ko-KR" sz="1700" b="1" dirty="0">
                <a:solidFill>
                  <a:srgbClr val="1F2328">
                    <a:alpha val="0"/>
                  </a:srgbClr>
                </a:solidFill>
                <a:latin typeface="Calibri"/>
                <a:ea typeface="맑은 고딕"/>
                <a:cs typeface="Calibri"/>
              </a:rPr>
              <a:t> / </a:t>
            </a:r>
            <a:r>
              <a:rPr lang="en-US" altLang="ko-KR" sz="1700" b="1" dirty="0">
                <a:solidFill>
                  <a:srgbClr val="1F2328">
                    <a:alpha val="0"/>
                  </a:srgbClr>
                </a:solidFill>
                <a:latin typeface="Calibri"/>
                <a:ea typeface="맑은 고딕"/>
                <a:cs typeface="Calibri"/>
              </a:rPr>
              <a:t>had been cut</a:t>
            </a:r>
            <a:r>
              <a:rPr lang="en-US" altLang="ko-KR" sz="1700" b="1"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 off.</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⑫</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"Don’t worry, this was a favor. I won’t charge you for this," said Rummins.</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⑬</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Mr. Boggis was so </a:t>
            </a:r>
            <a:r>
              <a:rPr lang="en-US" altLang="ko-KR" sz="1700" b="1" dirty="0">
                <a:solidFill>
                  <a:srgbClr val="1F2328">
                    <a:alpha val="0"/>
                  </a:srgbClr>
                </a:solidFill>
                <a:latin typeface="Calibri"/>
                <a:ea typeface="맑은 고딕"/>
                <a:cs typeface="Calibri"/>
              </a:rPr>
              <a:t>[ </a:t>
            </a:r>
            <a:r>
              <a:rPr lang="en-US" altLang="ko-KR" sz="1700" b="1" dirty="0">
                <a:solidFill>
                  <a:srgbClr val="C00000"/>
                </a:solidFill>
                <a:highlight>
                  <a:srgbClr val="F3F5F9"/>
                </a:highlight>
                <a:latin typeface="Calibri"/>
                <a:ea typeface="맑은 고딕"/>
                <a:cs typeface="Calibri"/>
              </a:rPr>
              <a:t>shocked</a:t>
            </a:r>
            <a:r>
              <a:rPr lang="en-US" altLang="ko-KR" sz="1700" b="1" dirty="0">
                <a:solidFill>
                  <a:srgbClr val="1F2328">
                    <a:alpha val="0"/>
                  </a:srgbClr>
                </a:solidFill>
                <a:latin typeface="Calibri"/>
                <a:ea typeface="맑은 고딕"/>
                <a:cs typeface="Calibri"/>
              </a:rPr>
              <a:t> / </a:t>
            </a:r>
            <a:r>
              <a:rPr lang="en-US" altLang="ko-KR" sz="1700" b="1" dirty="0">
                <a:solidFill>
                  <a:srgbClr val="1F2328">
                    <a:alpha val="0"/>
                  </a:srgbClr>
                </a:solidFill>
                <a:latin typeface="Calibri"/>
                <a:ea typeface="맑은 고딕"/>
                <a:cs typeface="Calibri"/>
              </a:rPr>
              <a:t>shocking</a:t>
            </a:r>
            <a:r>
              <a:rPr lang="en-US" altLang="ko-KR" sz="1700" b="1"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 that he couldn’t say anything.</a:t>
            </a:r>
            <a:endParaRPr lang="en-US" altLang="ko-KR" sz="1700" b="0" dirty="0">
              <a:solidFill>
                <a:srgbClr val="1F2328"/>
              </a:solidFill>
              <a:latin typeface="Calibri"/>
              <a:ea typeface="맑은 고딕"/>
              <a:cs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25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25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25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250"/>
                                        <p:tgtEl>
                                          <p:spTgt spid="12"/>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250"/>
                                        <p:tgtEl>
                                          <p:spTgt spid="13"/>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4"/>
                                        </p:tgtEl>
                                        <p:attrNameLst>
                                          <p:attrName>style.visibility</p:attrName>
                                        </p:attrNameLst>
                                      </p:cBhvr>
                                      <p:to>
                                        <p:strVal val="visible"/>
                                      </p:to>
                                    </p:set>
                                    <p:animEffect transition="in" filter="fade">
                                      <p:cBhvr>
                                        <p:cTn id="32" dur="2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4" grpId="0" animBg="1"/>
    </p:bldLst>
  </p:timing>
</p:sld>
</file>

<file path=ppt/slides/slide1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L6-3</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3 · ②</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다음 글의 각 [  ] 안에서 문맥상 알맞은 것을 고르시오.</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6</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클릭할 때마다 괄호 속 정답이 앞에서부터 하나씩 빨간색으로 나타납니다 (총 4개)</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4851146"/>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4851146"/>
          </a:xfrm>
          <a:prstGeom prst="rect">
            <a:avLst/>
          </a:prstGeom>
          <a:noFill/>
        </p:spPr>
        <p:txBody>
          <a:bodyPr wrap="square" lIns="228600" tIns="155448" rIns="228600" bIns="155448" anchor="t" rtlCol="0">
            <a:noAutofit/>
          </a:bodyPr>
          <a:lstStyle/>
          <a:p>
            <a:pPr algn="l">
              <a:lnSpc>
                <a:spcPts val="2750"/>
              </a:lnSpc>
              <a:spcBef>
                <a:spcPts val="0"/>
              </a:spcBef>
              <a:spcAft>
                <a:spcPts val="0"/>
              </a:spcAft>
              <a:buNone/>
            </a:pPr>
            <a:r>
              <a:rPr lang="ko-KR" altLang="en-US" sz="1700" b="1" dirty="0">
                <a:solidFill>
                  <a:srgbClr val="1E2A5A"/>
                </a:solidFill>
                <a:latin typeface="맑은 고딕"/>
                <a:ea typeface="맑은 고딕"/>
                <a:cs typeface="맑은 고딕"/>
              </a:rPr>
              <a:t>①</a:t>
            </a:r>
            <a:r>
              <a:rPr lang="en-US" altLang="ko-KR" sz="1700" b="0" dirty="0">
                <a:solidFill>
                  <a:srgbClr val="1F2328"/>
                </a:solidFill>
                <a:latin typeface="Calibri"/>
                <a:ea typeface="맑은 고딕"/>
                <a:cs typeface="Calibri"/>
              </a:rPr>
              <a:t> </a:t>
            </a:r>
            <a:r>
              <a:rPr lang="en-US" altLang="ko-KR" sz="1700" b="0" dirty="0">
                <a:solidFill>
                  <a:srgbClr val="1F2328"/>
                </a:solidFill>
                <a:latin typeface="Calibri"/>
                <a:ea typeface="맑은 고딕"/>
                <a:cs typeface="Calibri"/>
              </a:rPr>
              <a:t>He then added, "Hmm, I think I may buy it. The legs of my table at home are broken. I can cut off the legs of your table and </a:t>
            </a:r>
            <a:r>
              <a:rPr lang="en-US" altLang="ko-KR" sz="1700" b="1" dirty="0">
                <a:solidFill>
                  <a:srgbClr val="1F2328"/>
                </a:solidFill>
                <a:latin typeface="Calibri"/>
                <a:ea typeface="맑은 고딕"/>
                <a:cs typeface="Calibri"/>
              </a:rPr>
              <a:t>[ </a:t>
            </a:r>
            <a:r>
              <a:rPr lang="en-US" altLang="ko-KR" sz="1700" b="1" dirty="0">
                <a:solidFill>
                  <a:srgbClr val="1F2328"/>
                </a:solidFill>
                <a:latin typeface="Calibri"/>
                <a:ea typeface="맑은 고딕"/>
                <a:cs typeface="Calibri"/>
              </a:rPr>
              <a:t>attach</a:t>
            </a:r>
            <a:r>
              <a:rPr lang="en-US" altLang="ko-KR" sz="1700" b="1" dirty="0">
                <a:solidFill>
                  <a:srgbClr val="1F2328"/>
                </a:solidFill>
                <a:latin typeface="Calibri"/>
                <a:ea typeface="맑은 고딕"/>
                <a:cs typeface="Calibri"/>
              </a:rPr>
              <a:t> / </a:t>
            </a:r>
            <a:r>
              <a:rPr lang="en-US" altLang="ko-KR" sz="1700" b="1" dirty="0">
                <a:solidFill>
                  <a:srgbClr val="1F2328"/>
                </a:solidFill>
                <a:latin typeface="Calibri"/>
                <a:ea typeface="맑은 고딕"/>
                <a:cs typeface="Calibri"/>
              </a:rPr>
              <a:t>attaching</a:t>
            </a:r>
            <a:r>
              <a:rPr lang="en-US" altLang="ko-KR" sz="1700" b="1" dirty="0">
                <a:solidFill>
                  <a:srgbClr val="1F2328"/>
                </a:solidFill>
                <a:latin typeface="Calibri"/>
                <a:ea typeface="맑은 고딕"/>
                <a:cs typeface="Calibri"/>
              </a:rPr>
              <a:t> ]</a:t>
            </a:r>
            <a:r>
              <a:rPr lang="en-US" altLang="ko-KR" sz="1700" b="0" dirty="0">
                <a:solidFill>
                  <a:srgbClr val="1F2328"/>
                </a:solidFill>
                <a:latin typeface="Calibri"/>
                <a:ea typeface="맑은 고딕"/>
                <a:cs typeface="Calibri"/>
              </a:rPr>
              <a:t> them to mine."</a:t>
            </a:r>
            <a:r>
              <a:rPr lang="en-US" altLang="ko-KR" sz="1700" b="0" dirty="0">
                <a:solidFill>
                  <a:srgbClr val="1F2328"/>
                </a:solidFill>
                <a:latin typeface="Calibri"/>
                <a:ea typeface="맑은 고딕"/>
                <a:cs typeface="Calibri"/>
              </a:rPr>
              <a:t>   </a:t>
            </a:r>
            <a:r>
              <a:rPr lang="ko-KR" altLang="en-US" sz="1700" b="1" dirty="0">
                <a:solidFill>
                  <a:srgbClr val="1E2A5A"/>
                </a:solidFill>
                <a:latin typeface="맑은 고딕"/>
                <a:ea typeface="맑은 고딕"/>
                <a:cs typeface="맑은 고딕"/>
              </a:rPr>
              <a:t>②</a:t>
            </a:r>
            <a:r>
              <a:rPr lang="en-US" altLang="ko-KR" sz="1700" b="0" dirty="0">
                <a:solidFill>
                  <a:srgbClr val="1F2328"/>
                </a:solidFill>
                <a:latin typeface="Calibri"/>
                <a:ea typeface="맑은 고딕"/>
                <a:cs typeface="Calibri"/>
              </a:rPr>
              <a:t> </a:t>
            </a:r>
            <a:r>
              <a:rPr lang="en-US" altLang="ko-KR" sz="1700" b="0" dirty="0">
                <a:solidFill>
                  <a:srgbClr val="1F2328"/>
                </a:solidFill>
                <a:latin typeface="Calibri"/>
                <a:ea typeface="맑은 고딕"/>
                <a:cs typeface="Calibri"/>
              </a:rPr>
              <a:t>"How much?" Rummins asked. "Not much, I’m afraid. This is just a reproduction," said Mr. Boggis.</a:t>
            </a:r>
            <a:r>
              <a:rPr lang="en-US" altLang="ko-KR" sz="1700" b="0" dirty="0">
                <a:solidFill>
                  <a:srgbClr val="1F2328"/>
                </a:solidFill>
                <a:latin typeface="Calibri"/>
                <a:ea typeface="맑은 고딕"/>
                <a:cs typeface="Calibri"/>
              </a:rPr>
              <a:t>   </a:t>
            </a:r>
            <a:r>
              <a:rPr lang="ko-KR" altLang="en-US" sz="1700" b="1" dirty="0">
                <a:solidFill>
                  <a:srgbClr val="1E2A5A"/>
                </a:solidFill>
                <a:latin typeface="맑은 고딕"/>
                <a:ea typeface="맑은 고딕"/>
                <a:cs typeface="맑은 고딕"/>
              </a:rPr>
              <a:t>③</a:t>
            </a:r>
            <a:r>
              <a:rPr lang="en-US" altLang="ko-KR" sz="1700" b="0" dirty="0">
                <a:solidFill>
                  <a:srgbClr val="1F2328"/>
                </a:solidFill>
                <a:latin typeface="Calibri"/>
                <a:ea typeface="맑은 고딕"/>
                <a:cs typeface="Calibri"/>
              </a:rPr>
              <a:t> </a:t>
            </a:r>
            <a:r>
              <a:rPr lang="en-US" altLang="ko-KR" sz="1700" b="0" dirty="0">
                <a:solidFill>
                  <a:srgbClr val="1F2328"/>
                </a:solidFill>
                <a:latin typeface="Calibri"/>
                <a:ea typeface="맑은 고딕"/>
                <a:cs typeface="Calibri"/>
              </a:rPr>
              <a:t>"So how much?" "Ten pounds." "Ten? It’s worth more than that." "How about fifteen?" "Make it fifty." "Well, thirty. This is my final offer."</a:t>
            </a:r>
            <a:r>
              <a:rPr lang="en-US" altLang="ko-KR" sz="1700" b="0" dirty="0">
                <a:solidFill>
                  <a:srgbClr val="1F2328"/>
                </a:solidFill>
                <a:latin typeface="Calibri"/>
                <a:ea typeface="맑은 고딕"/>
                <a:cs typeface="Calibri"/>
              </a:rPr>
              <a:t>   </a:t>
            </a:r>
            <a:r>
              <a:rPr lang="ko-KR" altLang="en-US" sz="1700" b="1" dirty="0">
                <a:solidFill>
                  <a:srgbClr val="1E2A5A"/>
                </a:solidFill>
                <a:latin typeface="맑은 고딕"/>
                <a:ea typeface="맑은 고딕"/>
                <a:cs typeface="맑은 고딕"/>
              </a:rPr>
              <a:t>④</a:t>
            </a:r>
            <a:r>
              <a:rPr lang="en-US" altLang="ko-KR" sz="1700" b="0" dirty="0">
                <a:solidFill>
                  <a:srgbClr val="1F2328"/>
                </a:solidFill>
                <a:latin typeface="Calibri"/>
                <a:ea typeface="맑은 고딕"/>
                <a:cs typeface="Calibri"/>
              </a:rPr>
              <a:t> </a:t>
            </a:r>
            <a:r>
              <a:rPr lang="en-US" altLang="ko-KR" sz="1700" b="0" dirty="0">
                <a:solidFill>
                  <a:srgbClr val="1F2328"/>
                </a:solidFill>
                <a:latin typeface="Calibri"/>
                <a:ea typeface="맑은 고딕"/>
                <a:cs typeface="Calibri"/>
              </a:rPr>
              <a:t>"OK, it’s </a:t>
            </a:r>
            <a:r>
              <a:rPr lang="en-US" altLang="ko-KR" sz="1700" b="1" dirty="0">
                <a:solidFill>
                  <a:srgbClr val="1F2328"/>
                </a:solidFill>
                <a:latin typeface="Calibri"/>
                <a:ea typeface="맑은 고딕"/>
                <a:cs typeface="Calibri"/>
              </a:rPr>
              <a:t>[ </a:t>
            </a:r>
            <a:r>
              <a:rPr lang="en-US" altLang="ko-KR" sz="1700" b="1" dirty="0">
                <a:solidFill>
                  <a:srgbClr val="1F2328"/>
                </a:solidFill>
                <a:latin typeface="Calibri"/>
                <a:ea typeface="맑은 고딕"/>
                <a:cs typeface="Calibri"/>
              </a:rPr>
              <a:t>yours</a:t>
            </a:r>
            <a:r>
              <a:rPr lang="en-US" altLang="ko-KR" sz="1700" b="1" dirty="0">
                <a:solidFill>
                  <a:srgbClr val="1F2328"/>
                </a:solidFill>
                <a:latin typeface="Calibri"/>
                <a:ea typeface="맑은 고딕"/>
                <a:cs typeface="Calibri"/>
              </a:rPr>
              <a:t> / </a:t>
            </a:r>
            <a:r>
              <a:rPr lang="en-US" altLang="ko-KR" sz="1700" b="1" dirty="0">
                <a:solidFill>
                  <a:srgbClr val="1F2328"/>
                </a:solidFill>
                <a:latin typeface="Calibri"/>
                <a:ea typeface="맑은 고딕"/>
                <a:cs typeface="Calibri"/>
              </a:rPr>
              <a:t>your</a:t>
            </a:r>
            <a:r>
              <a:rPr lang="en-US" altLang="ko-KR" sz="1700" b="1" dirty="0">
                <a:solidFill>
                  <a:srgbClr val="1F2328"/>
                </a:solidFill>
                <a:latin typeface="Calibri"/>
                <a:ea typeface="맑은 고딕"/>
                <a:cs typeface="Calibri"/>
              </a:rPr>
              <a:t> ]</a:t>
            </a:r>
            <a:r>
              <a:rPr lang="en-US" altLang="ko-KR" sz="1700" b="0" dirty="0">
                <a:solidFill>
                  <a:srgbClr val="1F2328"/>
                </a:solidFill>
                <a:latin typeface="Calibri"/>
                <a:ea typeface="맑은 고딕"/>
                <a:cs typeface="Calibri"/>
              </a:rPr>
              <a:t>, but how are you going to take it? This thing will not go in a car!"</a:t>
            </a:r>
            <a:r>
              <a:rPr lang="en-US" altLang="ko-KR" sz="1700" b="0" dirty="0">
                <a:solidFill>
                  <a:srgbClr val="1F2328"/>
                </a:solidFill>
                <a:latin typeface="Calibri"/>
                <a:ea typeface="맑은 고딕"/>
                <a:cs typeface="Calibri"/>
              </a:rPr>
              <a:t>   </a:t>
            </a:r>
            <a:r>
              <a:rPr lang="ko-KR" altLang="en-US" sz="1700" b="1" dirty="0">
                <a:solidFill>
                  <a:srgbClr val="1E2A5A"/>
                </a:solidFill>
                <a:latin typeface="맑은 고딕"/>
                <a:ea typeface="맑은 고딕"/>
                <a:cs typeface="맑은 고딕"/>
              </a:rPr>
              <a:t>⑤</a:t>
            </a:r>
            <a:r>
              <a:rPr lang="en-US" altLang="ko-KR" sz="1700" b="0" dirty="0">
                <a:solidFill>
                  <a:srgbClr val="1F2328"/>
                </a:solidFill>
                <a:latin typeface="Calibri"/>
                <a:ea typeface="맑은 고딕"/>
                <a:cs typeface="Calibri"/>
              </a:rPr>
              <a:t> </a:t>
            </a:r>
            <a:r>
              <a:rPr lang="en-US" altLang="ko-KR" sz="1700" b="0" dirty="0">
                <a:solidFill>
                  <a:srgbClr val="1F2328"/>
                </a:solidFill>
                <a:latin typeface="Calibri"/>
                <a:ea typeface="맑은 고딕"/>
                <a:cs typeface="Calibri"/>
              </a:rPr>
              <a:t>"We’ll see," Mr. Boggis said and went out </a:t>
            </a:r>
            <a:r>
              <a:rPr lang="en-US" altLang="ko-KR" sz="1700" b="1" dirty="0">
                <a:solidFill>
                  <a:srgbClr val="1F2328"/>
                </a:solidFill>
                <a:latin typeface="Calibri"/>
                <a:ea typeface="맑은 고딕"/>
                <a:cs typeface="Calibri"/>
              </a:rPr>
              <a:t>[ </a:t>
            </a:r>
            <a:r>
              <a:rPr lang="en-US" altLang="ko-KR" sz="1700" b="1" dirty="0">
                <a:solidFill>
                  <a:srgbClr val="1F2328"/>
                </a:solidFill>
                <a:latin typeface="Calibri"/>
                <a:ea typeface="맑은 고딕"/>
                <a:cs typeface="Calibri"/>
              </a:rPr>
              <a:t>to bring</a:t>
            </a:r>
            <a:r>
              <a:rPr lang="en-US" altLang="ko-KR" sz="1700" b="1" dirty="0">
                <a:solidFill>
                  <a:srgbClr val="1F2328"/>
                </a:solidFill>
                <a:latin typeface="Calibri"/>
                <a:ea typeface="맑은 고딕"/>
                <a:cs typeface="Calibri"/>
              </a:rPr>
              <a:t> / </a:t>
            </a:r>
            <a:r>
              <a:rPr lang="en-US" altLang="ko-KR" sz="1700" b="1" dirty="0">
                <a:solidFill>
                  <a:srgbClr val="1F2328"/>
                </a:solidFill>
                <a:latin typeface="Calibri"/>
                <a:ea typeface="맑은 고딕"/>
                <a:cs typeface="Calibri"/>
              </a:rPr>
              <a:t>bringing</a:t>
            </a:r>
            <a:r>
              <a:rPr lang="en-US" altLang="ko-KR" sz="1700" b="1" dirty="0">
                <a:solidFill>
                  <a:srgbClr val="1F2328"/>
                </a:solidFill>
                <a:latin typeface="Calibri"/>
                <a:ea typeface="맑은 고딕"/>
                <a:cs typeface="Calibri"/>
              </a:rPr>
              <a:t> ]</a:t>
            </a:r>
            <a:r>
              <a:rPr lang="en-US" altLang="ko-KR" sz="1700" b="0" dirty="0">
                <a:solidFill>
                  <a:srgbClr val="1F2328"/>
                </a:solidFill>
                <a:latin typeface="Calibri"/>
                <a:ea typeface="맑은 고딕"/>
                <a:cs typeface="Calibri"/>
              </a:rPr>
              <a:t> his car.</a:t>
            </a:r>
            <a:r>
              <a:rPr lang="en-US" altLang="ko-KR" sz="1700" b="0" dirty="0">
                <a:solidFill>
                  <a:srgbClr val="1F2328"/>
                </a:solidFill>
                <a:latin typeface="Calibri"/>
                <a:ea typeface="맑은 고딕"/>
                <a:cs typeface="Calibri"/>
              </a:rPr>
              <a:t>   </a:t>
            </a:r>
            <a:r>
              <a:rPr lang="ko-KR" altLang="en-US" sz="1700" b="1" dirty="0">
                <a:solidFill>
                  <a:srgbClr val="1E2A5A"/>
                </a:solidFill>
                <a:latin typeface="맑은 고딕"/>
                <a:ea typeface="맑은 고딕"/>
                <a:cs typeface="맑은 고딕"/>
              </a:rPr>
              <a:t>⑥</a:t>
            </a:r>
            <a:r>
              <a:rPr lang="en-US" altLang="ko-KR" sz="1700" b="0" dirty="0">
                <a:solidFill>
                  <a:srgbClr val="1F2328"/>
                </a:solidFill>
                <a:latin typeface="Calibri"/>
                <a:ea typeface="맑은 고딕"/>
                <a:cs typeface="Calibri"/>
              </a:rPr>
              <a:t> </a:t>
            </a:r>
            <a:r>
              <a:rPr lang="en-US" altLang="ko-KR" sz="1700" b="0" dirty="0">
                <a:solidFill>
                  <a:srgbClr val="1F2328"/>
                </a:solidFill>
                <a:latin typeface="Calibri"/>
                <a:ea typeface="맑은 고딕"/>
                <a:cs typeface="Calibri"/>
              </a:rPr>
              <a:t>On his way to the car, Mr. Boggis couldn’t help smiling.</a:t>
            </a:r>
            <a:r>
              <a:rPr lang="en-US" altLang="ko-KR" sz="1700" b="0" dirty="0">
                <a:solidFill>
                  <a:srgbClr val="1F2328"/>
                </a:solidFill>
                <a:latin typeface="Calibri"/>
                <a:ea typeface="맑은 고딕"/>
                <a:cs typeface="Calibri"/>
              </a:rPr>
              <a:t>   </a:t>
            </a:r>
            <a:r>
              <a:rPr lang="ko-KR" altLang="en-US" sz="1700" b="1" dirty="0">
                <a:solidFill>
                  <a:srgbClr val="1E2A5A"/>
                </a:solidFill>
                <a:latin typeface="맑은 고딕"/>
                <a:ea typeface="맑은 고딕"/>
                <a:cs typeface="맑은 고딕"/>
              </a:rPr>
              <a:t>⑦</a:t>
            </a:r>
            <a:r>
              <a:rPr lang="en-US" altLang="ko-KR" sz="1700" b="0" dirty="0">
                <a:solidFill>
                  <a:srgbClr val="1F2328"/>
                </a:solidFill>
                <a:latin typeface="Calibri"/>
                <a:ea typeface="맑은 고딕"/>
                <a:cs typeface="Calibri"/>
              </a:rPr>
              <a:t> </a:t>
            </a:r>
            <a:r>
              <a:rPr lang="en-US" altLang="ko-KR" sz="1700" b="0" dirty="0">
                <a:solidFill>
                  <a:srgbClr val="1F2328"/>
                </a:solidFill>
                <a:latin typeface="Calibri"/>
                <a:ea typeface="맑은 고딕"/>
                <a:cs typeface="Calibri"/>
              </a:rPr>
              <a:t>The table was what every dealer dreamed of. He couldn’t believe his luck.</a:t>
            </a:r>
            <a:r>
              <a:rPr lang="en-US" altLang="ko-KR" sz="1700" b="0" dirty="0">
                <a:solidFill>
                  <a:srgbClr val="1F2328"/>
                </a:solidFill>
                <a:latin typeface="Calibri"/>
                <a:ea typeface="맑은 고딕"/>
                <a:cs typeface="Calibri"/>
              </a:rPr>
              <a:t>   </a:t>
            </a:r>
            <a:r>
              <a:rPr lang="ko-KR" altLang="en-US" sz="1700" b="1" dirty="0">
                <a:solidFill>
                  <a:srgbClr val="1E2A5A"/>
                </a:solidFill>
                <a:latin typeface="맑은 고딕"/>
                <a:ea typeface="맑은 고딕"/>
                <a:cs typeface="맑은 고딕"/>
              </a:rPr>
              <a:t>⑧</a:t>
            </a:r>
            <a:r>
              <a:rPr lang="en-US" altLang="ko-KR" sz="1700" b="0" dirty="0">
                <a:solidFill>
                  <a:srgbClr val="1F2328"/>
                </a:solidFill>
                <a:latin typeface="Calibri"/>
                <a:ea typeface="맑은 고딕"/>
                <a:cs typeface="Calibri"/>
              </a:rPr>
              <a:t> </a:t>
            </a:r>
            <a:r>
              <a:rPr lang="en-US" altLang="ko-KR" sz="1700" b="0" dirty="0">
                <a:solidFill>
                  <a:srgbClr val="1F2328"/>
                </a:solidFill>
                <a:latin typeface="Calibri"/>
                <a:ea typeface="맑은 고딕"/>
                <a:cs typeface="Calibri"/>
              </a:rPr>
              <a:t>"Dad, what if this thing doesn’t go in his car? He might not pay you," said Bert.</a:t>
            </a:r>
            <a:r>
              <a:rPr lang="en-US" altLang="ko-KR" sz="1700" b="0" dirty="0">
                <a:solidFill>
                  <a:srgbClr val="1F2328"/>
                </a:solidFill>
                <a:latin typeface="Calibri"/>
                <a:ea typeface="맑은 고딕"/>
                <a:cs typeface="Calibri"/>
              </a:rPr>
              <a:t>   </a:t>
            </a:r>
            <a:r>
              <a:rPr lang="ko-KR" altLang="en-US" sz="1700" b="1" dirty="0">
                <a:solidFill>
                  <a:srgbClr val="1E2A5A"/>
                </a:solidFill>
                <a:latin typeface="맑은 고딕"/>
                <a:ea typeface="맑은 고딕"/>
                <a:cs typeface="맑은 고딕"/>
              </a:rPr>
              <a:t>⑨</a:t>
            </a:r>
            <a:r>
              <a:rPr lang="en-US" altLang="ko-KR" sz="1700" b="0" dirty="0">
                <a:solidFill>
                  <a:srgbClr val="1F2328"/>
                </a:solidFill>
                <a:latin typeface="Calibri"/>
                <a:ea typeface="맑은 고딕"/>
                <a:cs typeface="Calibri"/>
              </a:rPr>
              <a:t> </a:t>
            </a:r>
            <a:r>
              <a:rPr lang="en-US" altLang="ko-KR" sz="1700" b="0" dirty="0">
                <a:solidFill>
                  <a:srgbClr val="1F2328"/>
                </a:solidFill>
                <a:latin typeface="Calibri"/>
                <a:ea typeface="맑은 고딕"/>
                <a:cs typeface="Calibri"/>
              </a:rPr>
              <a:t>Rummins then had an idea. "What he wants </a:t>
            </a:r>
            <a:r>
              <a:rPr lang="en-US" altLang="ko-KR" sz="1700" b="1" dirty="0">
                <a:solidFill>
                  <a:srgbClr val="1F2328"/>
                </a:solidFill>
                <a:latin typeface="Calibri"/>
                <a:ea typeface="맑은 고딕"/>
                <a:cs typeface="Calibri"/>
              </a:rPr>
              <a:t>[ </a:t>
            </a:r>
            <a:r>
              <a:rPr lang="en-US" altLang="ko-KR" sz="1700" b="1" dirty="0">
                <a:solidFill>
                  <a:srgbClr val="1F2328"/>
                </a:solidFill>
                <a:latin typeface="Calibri"/>
                <a:ea typeface="맑은 고딕"/>
                <a:cs typeface="Calibri"/>
              </a:rPr>
              <a:t>is only</a:t>
            </a:r>
            <a:r>
              <a:rPr lang="en-US" altLang="ko-KR" sz="1700" b="1" dirty="0">
                <a:solidFill>
                  <a:srgbClr val="1F2328"/>
                </a:solidFill>
                <a:latin typeface="Calibri"/>
                <a:ea typeface="맑은 고딕"/>
                <a:cs typeface="Calibri"/>
              </a:rPr>
              <a:t> / </a:t>
            </a:r>
            <a:r>
              <a:rPr lang="en-US" altLang="ko-KR" sz="1700" b="1" dirty="0">
                <a:solidFill>
                  <a:srgbClr val="1F2328"/>
                </a:solidFill>
                <a:latin typeface="Calibri"/>
                <a:ea typeface="맑은 고딕"/>
                <a:cs typeface="Calibri"/>
              </a:rPr>
              <a:t>are only</a:t>
            </a:r>
            <a:r>
              <a:rPr lang="en-US" altLang="ko-KR" sz="1700" b="1" dirty="0">
                <a:solidFill>
                  <a:srgbClr val="1F2328"/>
                </a:solidFill>
                <a:latin typeface="Calibri"/>
                <a:ea typeface="맑은 고딕"/>
                <a:cs typeface="Calibri"/>
              </a:rPr>
              <a:t> ]</a:t>
            </a:r>
            <a:r>
              <a:rPr lang="en-US" altLang="ko-KR" sz="1700" b="0" dirty="0">
                <a:solidFill>
                  <a:srgbClr val="1F2328"/>
                </a:solidFill>
                <a:latin typeface="Calibri"/>
                <a:ea typeface="맑은 고딕"/>
                <a:cs typeface="Calibri"/>
              </a:rPr>
              <a:t> the legs. Let’s cut the legs off for him," said Rummins.</a:t>
            </a:r>
            <a:r>
              <a:rPr lang="en-US" altLang="ko-KR" sz="1700" b="0" dirty="0">
                <a:solidFill>
                  <a:srgbClr val="1F2328"/>
                </a:solidFill>
                <a:latin typeface="Calibri"/>
                <a:ea typeface="맑은 고딕"/>
                <a:cs typeface="Calibri"/>
              </a:rPr>
              <a:t>   </a:t>
            </a:r>
            <a:r>
              <a:rPr lang="ko-KR" altLang="en-US" sz="1700" b="1" dirty="0">
                <a:solidFill>
                  <a:srgbClr val="1E2A5A"/>
                </a:solidFill>
                <a:latin typeface="맑은 고딕"/>
                <a:ea typeface="맑은 고딕"/>
                <a:cs typeface="맑은 고딕"/>
              </a:rPr>
              <a:t>⑩</a:t>
            </a:r>
            <a:r>
              <a:rPr lang="en-US" altLang="ko-KR" sz="1700" b="0" dirty="0">
                <a:solidFill>
                  <a:srgbClr val="1F2328"/>
                </a:solidFill>
                <a:latin typeface="Calibri"/>
                <a:ea typeface="맑은 고딕"/>
                <a:cs typeface="Calibri"/>
              </a:rPr>
              <a:t> </a:t>
            </a:r>
            <a:r>
              <a:rPr lang="en-US" altLang="ko-KR" sz="1700" b="0" dirty="0">
                <a:solidFill>
                  <a:srgbClr val="1F2328"/>
                </a:solidFill>
                <a:latin typeface="Calibri"/>
                <a:ea typeface="맑은 고딕"/>
                <a:cs typeface="Calibri"/>
              </a:rPr>
              <a:t>"Great idea!" said Bert. Bert then took out a saw and began to cut off the legs.</a:t>
            </a:r>
            <a:r>
              <a:rPr lang="en-US" altLang="ko-KR" sz="1700" b="0" dirty="0">
                <a:solidFill>
                  <a:srgbClr val="1F2328"/>
                </a:solidFill>
                <a:latin typeface="Calibri"/>
                <a:ea typeface="맑은 고딕"/>
                <a:cs typeface="Calibri"/>
              </a:rPr>
              <a:t>   </a:t>
            </a:r>
            <a:r>
              <a:rPr lang="ko-KR" altLang="en-US" sz="1700" b="1" dirty="0">
                <a:solidFill>
                  <a:srgbClr val="1E2A5A"/>
                </a:solidFill>
                <a:latin typeface="맑은 고딕"/>
                <a:ea typeface="맑은 고딕"/>
                <a:cs typeface="맑은 고딕"/>
              </a:rPr>
              <a:t>⑪</a:t>
            </a:r>
            <a:r>
              <a:rPr lang="en-US" altLang="ko-KR" sz="1700" b="0" dirty="0">
                <a:solidFill>
                  <a:srgbClr val="1F2328"/>
                </a:solidFill>
                <a:latin typeface="Calibri"/>
                <a:ea typeface="맑은 고딕"/>
                <a:cs typeface="Calibri"/>
              </a:rPr>
              <a:t> </a:t>
            </a:r>
            <a:r>
              <a:rPr lang="en-US" altLang="ko-KR" sz="1700" b="0" dirty="0">
                <a:solidFill>
                  <a:srgbClr val="1F2328"/>
                </a:solidFill>
                <a:latin typeface="Calibri"/>
                <a:ea typeface="맑은 고딕"/>
                <a:cs typeface="Calibri"/>
              </a:rPr>
              <a:t>When Mr. Boggis came back, the legs had been cut off.</a:t>
            </a:r>
            <a:r>
              <a:rPr lang="en-US" altLang="ko-KR" sz="1700" b="0" dirty="0">
                <a:solidFill>
                  <a:srgbClr val="1F2328"/>
                </a:solidFill>
                <a:latin typeface="Calibri"/>
                <a:ea typeface="맑은 고딕"/>
                <a:cs typeface="Calibri"/>
              </a:rPr>
              <a:t>   </a:t>
            </a:r>
            <a:r>
              <a:rPr lang="ko-KR" altLang="en-US" sz="1700" b="1" dirty="0">
                <a:solidFill>
                  <a:srgbClr val="1E2A5A"/>
                </a:solidFill>
                <a:latin typeface="맑은 고딕"/>
                <a:ea typeface="맑은 고딕"/>
                <a:cs typeface="맑은 고딕"/>
              </a:rPr>
              <a:t>⑫</a:t>
            </a:r>
            <a:r>
              <a:rPr lang="en-US" altLang="ko-KR" sz="1700" b="0" dirty="0">
                <a:solidFill>
                  <a:srgbClr val="1F2328"/>
                </a:solidFill>
                <a:latin typeface="Calibri"/>
                <a:ea typeface="맑은 고딕"/>
                <a:cs typeface="Calibri"/>
              </a:rPr>
              <a:t> </a:t>
            </a:r>
            <a:r>
              <a:rPr lang="en-US" altLang="ko-KR" sz="1700" b="0" dirty="0">
                <a:solidFill>
                  <a:srgbClr val="1F2328"/>
                </a:solidFill>
                <a:latin typeface="Calibri"/>
                <a:ea typeface="맑은 고딕"/>
                <a:cs typeface="Calibri"/>
              </a:rPr>
              <a:t>"Don’t worry, this was a favor. I won’t charge you for this," said Rummins.</a:t>
            </a:r>
            <a:r>
              <a:rPr lang="en-US" altLang="ko-KR" sz="1700" b="0" dirty="0">
                <a:solidFill>
                  <a:srgbClr val="1F2328"/>
                </a:solidFill>
                <a:latin typeface="Calibri"/>
                <a:ea typeface="맑은 고딕"/>
                <a:cs typeface="Calibri"/>
              </a:rPr>
              <a:t>   </a:t>
            </a:r>
            <a:r>
              <a:rPr lang="ko-KR" altLang="en-US" sz="1700" b="1" dirty="0">
                <a:solidFill>
                  <a:srgbClr val="1E2A5A"/>
                </a:solidFill>
                <a:latin typeface="맑은 고딕"/>
                <a:ea typeface="맑은 고딕"/>
                <a:cs typeface="맑은 고딕"/>
              </a:rPr>
              <a:t>⑬</a:t>
            </a:r>
            <a:r>
              <a:rPr lang="en-US" altLang="ko-KR" sz="1700" b="0" dirty="0">
                <a:solidFill>
                  <a:srgbClr val="1F2328"/>
                </a:solidFill>
                <a:latin typeface="Calibri"/>
                <a:ea typeface="맑은 고딕"/>
                <a:cs typeface="Calibri"/>
              </a:rPr>
              <a:t> </a:t>
            </a:r>
            <a:r>
              <a:rPr lang="en-US" altLang="ko-KR" sz="1700" b="0" dirty="0">
                <a:solidFill>
                  <a:srgbClr val="1F2328"/>
                </a:solidFill>
                <a:latin typeface="Calibri"/>
                <a:ea typeface="맑은 고딕"/>
                <a:cs typeface="Calibri"/>
              </a:rPr>
              <a:t>Mr. Boggis was so shocked that he couldn’t say anything.</a:t>
            </a:r>
            <a:endParaRPr lang="en-US" altLang="ko-KR" sz="1700" b="0" dirty="0">
              <a:solidFill>
                <a:srgbClr val="1F2328"/>
              </a:solidFill>
              <a:latin typeface="Calibri"/>
              <a:ea typeface="맑은 고딕"/>
              <a:cs typeface="Calibri"/>
            </a:endParaRPr>
          </a:p>
        </p:txBody>
      </p:sp>
      <p:sp>
        <p:nvSpPr>
          <p:cNvPr id="9" name="rv_g01"/>
          <p:cNvSpPr txBox="1"/>
          <p:nvPr/>
        </p:nvSpPr>
        <p:spPr>
          <a:xfrm>
            <a:off x="457200" y="950976"/>
            <a:ext cx="11277295" cy="4851146"/>
          </a:xfrm>
          <a:prstGeom prst="rect">
            <a:avLst/>
          </a:prstGeom>
          <a:noFill/>
        </p:spPr>
        <p:txBody>
          <a:bodyPr wrap="square" lIns="228600" tIns="155448" rIns="228600" bIns="155448" anchor="t" rtlCol="0">
            <a:noAutofit/>
          </a:bodyPr>
          <a:lstStyle/>
          <a:p>
            <a:pPr algn="l">
              <a:lnSpc>
                <a:spcPts val="2750"/>
              </a:lnSpc>
              <a:spcBef>
                <a:spcPts val="0"/>
              </a:spcBef>
              <a:spcAft>
                <a:spcPts val="0"/>
              </a:spcAft>
              <a:buNone/>
            </a:pPr>
            <a:r>
              <a:rPr lang="ko-KR" altLang="en-US" sz="1700" b="1" dirty="0">
                <a:solidFill>
                  <a:srgbClr val="1E2A5A">
                    <a:alpha val="0"/>
                  </a:srgbClr>
                </a:solidFill>
                <a:latin typeface="맑은 고딕"/>
                <a:ea typeface="맑은 고딕"/>
                <a:cs typeface="맑은 고딕"/>
              </a:rPr>
              <a:t>①</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He then added, "Hmm, I think I may buy it. The legs of my table at home are broken. I can cut off the legs of your table and </a:t>
            </a:r>
            <a:r>
              <a:rPr lang="en-US" altLang="ko-KR" sz="1700" b="1" dirty="0">
                <a:solidFill>
                  <a:srgbClr val="1F2328">
                    <a:alpha val="0"/>
                  </a:srgbClr>
                </a:solidFill>
                <a:latin typeface="Calibri"/>
                <a:ea typeface="맑은 고딕"/>
                <a:cs typeface="Calibri"/>
              </a:rPr>
              <a:t>[ </a:t>
            </a:r>
            <a:r>
              <a:rPr lang="en-US" altLang="ko-KR" sz="1700" b="1" dirty="0">
                <a:solidFill>
                  <a:srgbClr val="C00000"/>
                </a:solidFill>
                <a:highlight>
                  <a:srgbClr val="F3F5F9"/>
                </a:highlight>
                <a:latin typeface="Calibri"/>
                <a:ea typeface="맑은 고딕"/>
                <a:cs typeface="Calibri"/>
              </a:rPr>
              <a:t>attach</a:t>
            </a:r>
            <a:r>
              <a:rPr lang="en-US" altLang="ko-KR" sz="1700" b="1" dirty="0">
                <a:solidFill>
                  <a:srgbClr val="1F2328">
                    <a:alpha val="0"/>
                  </a:srgbClr>
                </a:solidFill>
                <a:latin typeface="Calibri"/>
                <a:ea typeface="맑은 고딕"/>
                <a:cs typeface="Calibri"/>
              </a:rPr>
              <a:t> / </a:t>
            </a:r>
            <a:r>
              <a:rPr lang="en-US" altLang="ko-KR" sz="1700" b="1" dirty="0">
                <a:solidFill>
                  <a:srgbClr val="1F2328">
                    <a:alpha val="0"/>
                  </a:srgbClr>
                </a:solidFill>
                <a:latin typeface="Calibri"/>
                <a:ea typeface="맑은 고딕"/>
                <a:cs typeface="Calibri"/>
              </a:rPr>
              <a:t>attaching</a:t>
            </a:r>
            <a:r>
              <a:rPr lang="en-US" altLang="ko-KR" sz="1700" b="1"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 them to mine."</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②</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"How much?" Rummins asked. "Not much, I’m afraid. This is just a reproduction," said Mr. Boggis.</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③</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"So how much?" "Ten pounds." "Ten? It’s worth more than that." "How about fifteen?" "Make it fifty." "Well, thirty. This is my final offer."</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④</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"OK, it’s </a:t>
            </a:r>
            <a:r>
              <a:rPr lang="en-US" altLang="ko-KR" sz="1700" b="1" dirty="0">
                <a:solidFill>
                  <a:srgbClr val="1F2328">
                    <a:alpha val="0"/>
                  </a:srgbClr>
                </a:solidFill>
                <a:latin typeface="Calibri"/>
                <a:ea typeface="맑은 고딕"/>
                <a:cs typeface="Calibri"/>
              </a:rPr>
              <a:t>[ </a:t>
            </a:r>
            <a:r>
              <a:rPr lang="en-US" altLang="ko-KR" sz="1700" b="1" dirty="0">
                <a:solidFill>
                  <a:srgbClr val="1F2328">
                    <a:alpha val="0"/>
                  </a:srgbClr>
                </a:solidFill>
                <a:latin typeface="Calibri"/>
                <a:ea typeface="맑은 고딕"/>
                <a:cs typeface="Calibri"/>
              </a:rPr>
              <a:t>yours</a:t>
            </a:r>
            <a:r>
              <a:rPr lang="en-US" altLang="ko-KR" sz="1700" b="1" dirty="0">
                <a:solidFill>
                  <a:srgbClr val="1F2328">
                    <a:alpha val="0"/>
                  </a:srgbClr>
                </a:solidFill>
                <a:latin typeface="Calibri"/>
                <a:ea typeface="맑은 고딕"/>
                <a:cs typeface="Calibri"/>
              </a:rPr>
              <a:t> / </a:t>
            </a:r>
            <a:r>
              <a:rPr lang="en-US" altLang="ko-KR" sz="1700" b="1" dirty="0">
                <a:solidFill>
                  <a:srgbClr val="1F2328">
                    <a:alpha val="0"/>
                  </a:srgbClr>
                </a:solidFill>
                <a:latin typeface="Calibri"/>
                <a:ea typeface="맑은 고딕"/>
                <a:cs typeface="Calibri"/>
              </a:rPr>
              <a:t>your</a:t>
            </a:r>
            <a:r>
              <a:rPr lang="en-US" altLang="ko-KR" sz="1700" b="1"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 but how are you going to take it? This thing will not go in a car!"</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⑤</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"We’ll see," Mr. Boggis said and went out </a:t>
            </a:r>
            <a:r>
              <a:rPr lang="en-US" altLang="ko-KR" sz="1700" b="1" dirty="0">
                <a:solidFill>
                  <a:srgbClr val="1F2328">
                    <a:alpha val="0"/>
                  </a:srgbClr>
                </a:solidFill>
                <a:latin typeface="Calibri"/>
                <a:ea typeface="맑은 고딕"/>
                <a:cs typeface="Calibri"/>
              </a:rPr>
              <a:t>[ </a:t>
            </a:r>
            <a:r>
              <a:rPr lang="en-US" altLang="ko-KR" sz="1700" b="1" dirty="0">
                <a:solidFill>
                  <a:srgbClr val="1F2328">
                    <a:alpha val="0"/>
                  </a:srgbClr>
                </a:solidFill>
                <a:latin typeface="Calibri"/>
                <a:ea typeface="맑은 고딕"/>
                <a:cs typeface="Calibri"/>
              </a:rPr>
              <a:t>to bring</a:t>
            </a:r>
            <a:r>
              <a:rPr lang="en-US" altLang="ko-KR" sz="1700" b="1" dirty="0">
                <a:solidFill>
                  <a:srgbClr val="1F2328">
                    <a:alpha val="0"/>
                  </a:srgbClr>
                </a:solidFill>
                <a:latin typeface="Calibri"/>
                <a:ea typeface="맑은 고딕"/>
                <a:cs typeface="Calibri"/>
              </a:rPr>
              <a:t> / </a:t>
            </a:r>
            <a:r>
              <a:rPr lang="en-US" altLang="ko-KR" sz="1700" b="1" dirty="0">
                <a:solidFill>
                  <a:srgbClr val="1F2328">
                    <a:alpha val="0"/>
                  </a:srgbClr>
                </a:solidFill>
                <a:latin typeface="Calibri"/>
                <a:ea typeface="맑은 고딕"/>
                <a:cs typeface="Calibri"/>
              </a:rPr>
              <a:t>bringing</a:t>
            </a:r>
            <a:r>
              <a:rPr lang="en-US" altLang="ko-KR" sz="1700" b="1"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 his car.</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⑥</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On his way to the car, Mr. Boggis couldn’t help smiling.</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⑦</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The table was what every dealer dreamed of. He couldn’t believe his luck.</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⑧</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"Dad, what if this thing doesn’t go in his car? He might not pay you," said Bert.</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⑨</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Rummins then had an idea. "What he wants </a:t>
            </a:r>
            <a:r>
              <a:rPr lang="en-US" altLang="ko-KR" sz="1700" b="1" dirty="0">
                <a:solidFill>
                  <a:srgbClr val="1F2328">
                    <a:alpha val="0"/>
                  </a:srgbClr>
                </a:solidFill>
                <a:latin typeface="Calibri"/>
                <a:ea typeface="맑은 고딕"/>
                <a:cs typeface="Calibri"/>
              </a:rPr>
              <a:t>[ </a:t>
            </a:r>
            <a:r>
              <a:rPr lang="en-US" altLang="ko-KR" sz="1700" b="1" dirty="0">
                <a:solidFill>
                  <a:srgbClr val="1F2328">
                    <a:alpha val="0"/>
                  </a:srgbClr>
                </a:solidFill>
                <a:latin typeface="Calibri"/>
                <a:ea typeface="맑은 고딕"/>
                <a:cs typeface="Calibri"/>
              </a:rPr>
              <a:t>is only</a:t>
            </a:r>
            <a:r>
              <a:rPr lang="en-US" altLang="ko-KR" sz="1700" b="1" dirty="0">
                <a:solidFill>
                  <a:srgbClr val="1F2328">
                    <a:alpha val="0"/>
                  </a:srgbClr>
                </a:solidFill>
                <a:latin typeface="Calibri"/>
                <a:ea typeface="맑은 고딕"/>
                <a:cs typeface="Calibri"/>
              </a:rPr>
              <a:t> / </a:t>
            </a:r>
            <a:r>
              <a:rPr lang="en-US" altLang="ko-KR" sz="1700" b="1" dirty="0">
                <a:solidFill>
                  <a:srgbClr val="1F2328">
                    <a:alpha val="0"/>
                  </a:srgbClr>
                </a:solidFill>
                <a:latin typeface="Calibri"/>
                <a:ea typeface="맑은 고딕"/>
                <a:cs typeface="Calibri"/>
              </a:rPr>
              <a:t>are only</a:t>
            </a:r>
            <a:r>
              <a:rPr lang="en-US" altLang="ko-KR" sz="1700" b="1"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 the legs. Let’s cut the legs off for him," said Rummins.</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⑩</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"Great idea!" said Bert. Bert then took out a saw and began to cut off the legs.</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⑪</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When Mr. Boggis came back, the legs had been cut off.</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⑫</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"Don’t worry, this was a favor. I won’t charge you for this," said Rummins.</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⑬</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Mr. Boggis was so shocked that he couldn’t say anything.</a:t>
            </a:r>
            <a:endParaRPr lang="en-US" altLang="ko-KR" sz="1700" b="0" dirty="0">
              <a:solidFill>
                <a:srgbClr val="1F2328"/>
              </a:solidFill>
              <a:latin typeface="Calibri"/>
              <a:ea typeface="맑은 고딕"/>
              <a:cs typeface="Calibri"/>
            </a:endParaRPr>
          </a:p>
        </p:txBody>
      </p:sp>
      <p:sp>
        <p:nvSpPr>
          <p:cNvPr id="10" name="rv_g02"/>
          <p:cNvSpPr txBox="1"/>
          <p:nvPr/>
        </p:nvSpPr>
        <p:spPr>
          <a:xfrm>
            <a:off x="457200" y="950976"/>
            <a:ext cx="11277295" cy="4851146"/>
          </a:xfrm>
          <a:prstGeom prst="rect">
            <a:avLst/>
          </a:prstGeom>
          <a:noFill/>
        </p:spPr>
        <p:txBody>
          <a:bodyPr wrap="square" lIns="228600" tIns="155448" rIns="228600" bIns="155448" anchor="t" rtlCol="0">
            <a:noAutofit/>
          </a:bodyPr>
          <a:lstStyle/>
          <a:p>
            <a:pPr algn="l">
              <a:lnSpc>
                <a:spcPts val="2750"/>
              </a:lnSpc>
              <a:spcBef>
                <a:spcPts val="0"/>
              </a:spcBef>
              <a:spcAft>
                <a:spcPts val="0"/>
              </a:spcAft>
              <a:buNone/>
            </a:pPr>
            <a:r>
              <a:rPr lang="ko-KR" altLang="en-US" sz="1700" b="1" dirty="0">
                <a:solidFill>
                  <a:srgbClr val="1E2A5A">
                    <a:alpha val="0"/>
                  </a:srgbClr>
                </a:solidFill>
                <a:latin typeface="맑은 고딕"/>
                <a:ea typeface="맑은 고딕"/>
                <a:cs typeface="맑은 고딕"/>
              </a:rPr>
              <a:t>①</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He then added, "Hmm, I think I may buy it. The legs of my table at home are broken. I can cut off the legs of your table and </a:t>
            </a:r>
            <a:r>
              <a:rPr lang="en-US" altLang="ko-KR" sz="1700" b="1" dirty="0">
                <a:solidFill>
                  <a:srgbClr val="1F2328">
                    <a:alpha val="0"/>
                  </a:srgbClr>
                </a:solidFill>
                <a:latin typeface="Calibri"/>
                <a:ea typeface="맑은 고딕"/>
                <a:cs typeface="Calibri"/>
              </a:rPr>
              <a:t>[ </a:t>
            </a:r>
            <a:r>
              <a:rPr lang="en-US" altLang="ko-KR" sz="1700" b="1" dirty="0">
                <a:solidFill>
                  <a:srgbClr val="1F2328">
                    <a:alpha val="0"/>
                  </a:srgbClr>
                </a:solidFill>
                <a:latin typeface="Calibri"/>
                <a:ea typeface="맑은 고딕"/>
                <a:cs typeface="Calibri"/>
              </a:rPr>
              <a:t>attach</a:t>
            </a:r>
            <a:r>
              <a:rPr lang="en-US" altLang="ko-KR" sz="1700" b="1" dirty="0">
                <a:solidFill>
                  <a:srgbClr val="1F2328">
                    <a:alpha val="0"/>
                  </a:srgbClr>
                </a:solidFill>
                <a:latin typeface="Calibri"/>
                <a:ea typeface="맑은 고딕"/>
                <a:cs typeface="Calibri"/>
              </a:rPr>
              <a:t> / </a:t>
            </a:r>
            <a:r>
              <a:rPr lang="en-US" altLang="ko-KR" sz="1700" b="1" dirty="0">
                <a:solidFill>
                  <a:srgbClr val="1F2328">
                    <a:alpha val="0"/>
                  </a:srgbClr>
                </a:solidFill>
                <a:latin typeface="Calibri"/>
                <a:ea typeface="맑은 고딕"/>
                <a:cs typeface="Calibri"/>
              </a:rPr>
              <a:t>attaching</a:t>
            </a:r>
            <a:r>
              <a:rPr lang="en-US" altLang="ko-KR" sz="1700" b="1"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 them to mine."</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②</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"How much?" Rummins asked. "Not much, I’m afraid. This is just a reproduction," said Mr. Boggis.</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③</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"So how much?" "Ten pounds." "Ten? It’s worth more than that." "How about fifteen?" "Make it fifty." "Well, thirty. This is my final offer."</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④</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"OK, it’s </a:t>
            </a:r>
            <a:r>
              <a:rPr lang="en-US" altLang="ko-KR" sz="1700" b="1" dirty="0">
                <a:solidFill>
                  <a:srgbClr val="1F2328">
                    <a:alpha val="0"/>
                  </a:srgbClr>
                </a:solidFill>
                <a:latin typeface="Calibri"/>
                <a:ea typeface="맑은 고딕"/>
                <a:cs typeface="Calibri"/>
              </a:rPr>
              <a:t>[ </a:t>
            </a:r>
            <a:r>
              <a:rPr lang="en-US" altLang="ko-KR" sz="1700" b="1" dirty="0">
                <a:solidFill>
                  <a:srgbClr val="C00000"/>
                </a:solidFill>
                <a:highlight>
                  <a:srgbClr val="F3F5F9"/>
                </a:highlight>
                <a:latin typeface="Calibri"/>
                <a:ea typeface="맑은 고딕"/>
                <a:cs typeface="Calibri"/>
              </a:rPr>
              <a:t>yours</a:t>
            </a:r>
            <a:r>
              <a:rPr lang="en-US" altLang="ko-KR" sz="1700" b="1" dirty="0">
                <a:solidFill>
                  <a:srgbClr val="1F2328">
                    <a:alpha val="0"/>
                  </a:srgbClr>
                </a:solidFill>
                <a:latin typeface="Calibri"/>
                <a:ea typeface="맑은 고딕"/>
                <a:cs typeface="Calibri"/>
              </a:rPr>
              <a:t> / </a:t>
            </a:r>
            <a:r>
              <a:rPr lang="en-US" altLang="ko-KR" sz="1700" b="1" dirty="0">
                <a:solidFill>
                  <a:srgbClr val="1F2328">
                    <a:alpha val="0"/>
                  </a:srgbClr>
                </a:solidFill>
                <a:latin typeface="Calibri"/>
                <a:ea typeface="맑은 고딕"/>
                <a:cs typeface="Calibri"/>
              </a:rPr>
              <a:t>your</a:t>
            </a:r>
            <a:r>
              <a:rPr lang="en-US" altLang="ko-KR" sz="1700" b="1"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 but how are you going to take it? This thing will not go in a car!"</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⑤</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"We’ll see," Mr. Boggis said and went out </a:t>
            </a:r>
            <a:r>
              <a:rPr lang="en-US" altLang="ko-KR" sz="1700" b="1" dirty="0">
                <a:solidFill>
                  <a:srgbClr val="1F2328">
                    <a:alpha val="0"/>
                  </a:srgbClr>
                </a:solidFill>
                <a:latin typeface="Calibri"/>
                <a:ea typeface="맑은 고딕"/>
                <a:cs typeface="Calibri"/>
              </a:rPr>
              <a:t>[ </a:t>
            </a:r>
            <a:r>
              <a:rPr lang="en-US" altLang="ko-KR" sz="1700" b="1" dirty="0">
                <a:solidFill>
                  <a:srgbClr val="1F2328">
                    <a:alpha val="0"/>
                  </a:srgbClr>
                </a:solidFill>
                <a:latin typeface="Calibri"/>
                <a:ea typeface="맑은 고딕"/>
                <a:cs typeface="Calibri"/>
              </a:rPr>
              <a:t>to bring</a:t>
            </a:r>
            <a:r>
              <a:rPr lang="en-US" altLang="ko-KR" sz="1700" b="1" dirty="0">
                <a:solidFill>
                  <a:srgbClr val="1F2328">
                    <a:alpha val="0"/>
                  </a:srgbClr>
                </a:solidFill>
                <a:latin typeface="Calibri"/>
                <a:ea typeface="맑은 고딕"/>
                <a:cs typeface="Calibri"/>
              </a:rPr>
              <a:t> / </a:t>
            </a:r>
            <a:r>
              <a:rPr lang="en-US" altLang="ko-KR" sz="1700" b="1" dirty="0">
                <a:solidFill>
                  <a:srgbClr val="1F2328">
                    <a:alpha val="0"/>
                  </a:srgbClr>
                </a:solidFill>
                <a:latin typeface="Calibri"/>
                <a:ea typeface="맑은 고딕"/>
                <a:cs typeface="Calibri"/>
              </a:rPr>
              <a:t>bringing</a:t>
            </a:r>
            <a:r>
              <a:rPr lang="en-US" altLang="ko-KR" sz="1700" b="1"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 his car.</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⑥</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On his way to the car, Mr. Boggis couldn’t help smiling.</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⑦</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The table was what every dealer dreamed of. He couldn’t believe his luck.</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⑧</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"Dad, what if this thing doesn’t go in his car? He might not pay you," said Bert.</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⑨</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Rummins then had an idea. "What he wants </a:t>
            </a:r>
            <a:r>
              <a:rPr lang="en-US" altLang="ko-KR" sz="1700" b="1" dirty="0">
                <a:solidFill>
                  <a:srgbClr val="1F2328">
                    <a:alpha val="0"/>
                  </a:srgbClr>
                </a:solidFill>
                <a:latin typeface="Calibri"/>
                <a:ea typeface="맑은 고딕"/>
                <a:cs typeface="Calibri"/>
              </a:rPr>
              <a:t>[ </a:t>
            </a:r>
            <a:r>
              <a:rPr lang="en-US" altLang="ko-KR" sz="1700" b="1" dirty="0">
                <a:solidFill>
                  <a:srgbClr val="1F2328">
                    <a:alpha val="0"/>
                  </a:srgbClr>
                </a:solidFill>
                <a:latin typeface="Calibri"/>
                <a:ea typeface="맑은 고딕"/>
                <a:cs typeface="Calibri"/>
              </a:rPr>
              <a:t>is only</a:t>
            </a:r>
            <a:r>
              <a:rPr lang="en-US" altLang="ko-KR" sz="1700" b="1" dirty="0">
                <a:solidFill>
                  <a:srgbClr val="1F2328">
                    <a:alpha val="0"/>
                  </a:srgbClr>
                </a:solidFill>
                <a:latin typeface="Calibri"/>
                <a:ea typeface="맑은 고딕"/>
                <a:cs typeface="Calibri"/>
              </a:rPr>
              <a:t> / </a:t>
            </a:r>
            <a:r>
              <a:rPr lang="en-US" altLang="ko-KR" sz="1700" b="1" dirty="0">
                <a:solidFill>
                  <a:srgbClr val="1F2328">
                    <a:alpha val="0"/>
                  </a:srgbClr>
                </a:solidFill>
                <a:latin typeface="Calibri"/>
                <a:ea typeface="맑은 고딕"/>
                <a:cs typeface="Calibri"/>
              </a:rPr>
              <a:t>are only</a:t>
            </a:r>
            <a:r>
              <a:rPr lang="en-US" altLang="ko-KR" sz="1700" b="1"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 the legs. Let’s cut the legs off for him," said Rummins.</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⑩</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"Great idea!" said Bert. Bert then took out a saw and began to cut off the legs.</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⑪</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When Mr. Boggis came back, the legs had been cut off.</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⑫</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"Don’t worry, this was a favor. I won’t charge you for this," said Rummins.</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⑬</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Mr. Boggis was so shocked that he couldn’t say anything.</a:t>
            </a:r>
            <a:endParaRPr lang="en-US" altLang="ko-KR" sz="1700" b="0" dirty="0">
              <a:solidFill>
                <a:srgbClr val="1F2328"/>
              </a:solidFill>
              <a:latin typeface="Calibri"/>
              <a:ea typeface="맑은 고딕"/>
              <a:cs typeface="Calibri"/>
            </a:endParaRPr>
          </a:p>
        </p:txBody>
      </p:sp>
      <p:sp>
        <p:nvSpPr>
          <p:cNvPr id="11" name="rv_g03"/>
          <p:cNvSpPr txBox="1"/>
          <p:nvPr/>
        </p:nvSpPr>
        <p:spPr>
          <a:xfrm>
            <a:off x="457200" y="950976"/>
            <a:ext cx="11277295" cy="4851146"/>
          </a:xfrm>
          <a:prstGeom prst="rect">
            <a:avLst/>
          </a:prstGeom>
          <a:noFill/>
        </p:spPr>
        <p:txBody>
          <a:bodyPr wrap="square" lIns="228600" tIns="155448" rIns="228600" bIns="155448" anchor="t" rtlCol="0">
            <a:noAutofit/>
          </a:bodyPr>
          <a:lstStyle/>
          <a:p>
            <a:pPr algn="l">
              <a:lnSpc>
                <a:spcPts val="2750"/>
              </a:lnSpc>
              <a:spcBef>
                <a:spcPts val="0"/>
              </a:spcBef>
              <a:spcAft>
                <a:spcPts val="0"/>
              </a:spcAft>
              <a:buNone/>
            </a:pPr>
            <a:r>
              <a:rPr lang="ko-KR" altLang="en-US" sz="1700" b="1" dirty="0">
                <a:solidFill>
                  <a:srgbClr val="1E2A5A">
                    <a:alpha val="0"/>
                  </a:srgbClr>
                </a:solidFill>
                <a:latin typeface="맑은 고딕"/>
                <a:ea typeface="맑은 고딕"/>
                <a:cs typeface="맑은 고딕"/>
              </a:rPr>
              <a:t>①</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He then added, "Hmm, I think I may buy it. The legs of my table at home are broken. I can cut off the legs of your table and </a:t>
            </a:r>
            <a:r>
              <a:rPr lang="en-US" altLang="ko-KR" sz="1700" b="1" dirty="0">
                <a:solidFill>
                  <a:srgbClr val="1F2328">
                    <a:alpha val="0"/>
                  </a:srgbClr>
                </a:solidFill>
                <a:latin typeface="Calibri"/>
                <a:ea typeface="맑은 고딕"/>
                <a:cs typeface="Calibri"/>
              </a:rPr>
              <a:t>[ </a:t>
            </a:r>
            <a:r>
              <a:rPr lang="en-US" altLang="ko-KR" sz="1700" b="1" dirty="0">
                <a:solidFill>
                  <a:srgbClr val="1F2328">
                    <a:alpha val="0"/>
                  </a:srgbClr>
                </a:solidFill>
                <a:latin typeface="Calibri"/>
                <a:ea typeface="맑은 고딕"/>
                <a:cs typeface="Calibri"/>
              </a:rPr>
              <a:t>attach</a:t>
            </a:r>
            <a:r>
              <a:rPr lang="en-US" altLang="ko-KR" sz="1700" b="1" dirty="0">
                <a:solidFill>
                  <a:srgbClr val="1F2328">
                    <a:alpha val="0"/>
                  </a:srgbClr>
                </a:solidFill>
                <a:latin typeface="Calibri"/>
                <a:ea typeface="맑은 고딕"/>
                <a:cs typeface="Calibri"/>
              </a:rPr>
              <a:t> / </a:t>
            </a:r>
            <a:r>
              <a:rPr lang="en-US" altLang="ko-KR" sz="1700" b="1" dirty="0">
                <a:solidFill>
                  <a:srgbClr val="1F2328">
                    <a:alpha val="0"/>
                  </a:srgbClr>
                </a:solidFill>
                <a:latin typeface="Calibri"/>
                <a:ea typeface="맑은 고딕"/>
                <a:cs typeface="Calibri"/>
              </a:rPr>
              <a:t>attaching</a:t>
            </a:r>
            <a:r>
              <a:rPr lang="en-US" altLang="ko-KR" sz="1700" b="1"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 them to mine."</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②</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"How much?" Rummins asked. "Not much, I’m afraid. This is just a reproduction," said Mr. Boggis.</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③</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"So how much?" "Ten pounds." "Ten? It’s worth more than that." "How about fifteen?" "Make it fifty." "Well, thirty. This is my final offer."</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④</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"OK, it’s </a:t>
            </a:r>
            <a:r>
              <a:rPr lang="en-US" altLang="ko-KR" sz="1700" b="1" dirty="0">
                <a:solidFill>
                  <a:srgbClr val="1F2328">
                    <a:alpha val="0"/>
                  </a:srgbClr>
                </a:solidFill>
                <a:latin typeface="Calibri"/>
                <a:ea typeface="맑은 고딕"/>
                <a:cs typeface="Calibri"/>
              </a:rPr>
              <a:t>[ </a:t>
            </a:r>
            <a:r>
              <a:rPr lang="en-US" altLang="ko-KR" sz="1700" b="1" dirty="0">
                <a:solidFill>
                  <a:srgbClr val="1F2328">
                    <a:alpha val="0"/>
                  </a:srgbClr>
                </a:solidFill>
                <a:latin typeface="Calibri"/>
                <a:ea typeface="맑은 고딕"/>
                <a:cs typeface="Calibri"/>
              </a:rPr>
              <a:t>yours</a:t>
            </a:r>
            <a:r>
              <a:rPr lang="en-US" altLang="ko-KR" sz="1700" b="1" dirty="0">
                <a:solidFill>
                  <a:srgbClr val="1F2328">
                    <a:alpha val="0"/>
                  </a:srgbClr>
                </a:solidFill>
                <a:latin typeface="Calibri"/>
                <a:ea typeface="맑은 고딕"/>
                <a:cs typeface="Calibri"/>
              </a:rPr>
              <a:t> / </a:t>
            </a:r>
            <a:r>
              <a:rPr lang="en-US" altLang="ko-KR" sz="1700" b="1" dirty="0">
                <a:solidFill>
                  <a:srgbClr val="1F2328">
                    <a:alpha val="0"/>
                  </a:srgbClr>
                </a:solidFill>
                <a:latin typeface="Calibri"/>
                <a:ea typeface="맑은 고딕"/>
                <a:cs typeface="Calibri"/>
              </a:rPr>
              <a:t>your</a:t>
            </a:r>
            <a:r>
              <a:rPr lang="en-US" altLang="ko-KR" sz="1700" b="1"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 but how are you going to take it? This thing will not go in a car!"</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⑤</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"We’ll see," Mr. Boggis said and went out </a:t>
            </a:r>
            <a:r>
              <a:rPr lang="en-US" altLang="ko-KR" sz="1700" b="1" dirty="0">
                <a:solidFill>
                  <a:srgbClr val="1F2328">
                    <a:alpha val="0"/>
                  </a:srgbClr>
                </a:solidFill>
                <a:latin typeface="Calibri"/>
                <a:ea typeface="맑은 고딕"/>
                <a:cs typeface="Calibri"/>
              </a:rPr>
              <a:t>[ </a:t>
            </a:r>
            <a:r>
              <a:rPr lang="en-US" altLang="ko-KR" sz="1700" b="1" dirty="0">
                <a:solidFill>
                  <a:srgbClr val="C00000"/>
                </a:solidFill>
                <a:highlight>
                  <a:srgbClr val="F3F5F9"/>
                </a:highlight>
                <a:latin typeface="Calibri"/>
                <a:ea typeface="맑은 고딕"/>
                <a:cs typeface="Calibri"/>
              </a:rPr>
              <a:t>to bring</a:t>
            </a:r>
            <a:r>
              <a:rPr lang="en-US" altLang="ko-KR" sz="1700" b="1" dirty="0">
                <a:solidFill>
                  <a:srgbClr val="1F2328">
                    <a:alpha val="0"/>
                  </a:srgbClr>
                </a:solidFill>
                <a:latin typeface="Calibri"/>
                <a:ea typeface="맑은 고딕"/>
                <a:cs typeface="Calibri"/>
              </a:rPr>
              <a:t> / </a:t>
            </a:r>
            <a:r>
              <a:rPr lang="en-US" altLang="ko-KR" sz="1700" b="1" dirty="0">
                <a:solidFill>
                  <a:srgbClr val="1F2328">
                    <a:alpha val="0"/>
                  </a:srgbClr>
                </a:solidFill>
                <a:latin typeface="Calibri"/>
                <a:ea typeface="맑은 고딕"/>
                <a:cs typeface="Calibri"/>
              </a:rPr>
              <a:t>bringing</a:t>
            </a:r>
            <a:r>
              <a:rPr lang="en-US" altLang="ko-KR" sz="1700" b="1"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 his car.</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⑥</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On his way to the car, Mr. Boggis couldn’t help smiling.</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⑦</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The table was what every dealer dreamed of. He couldn’t believe his luck.</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⑧</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"Dad, what if this thing doesn’t go in his car? He might not pay you," said Bert.</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⑨</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Rummins then had an idea. "What he wants </a:t>
            </a:r>
            <a:r>
              <a:rPr lang="en-US" altLang="ko-KR" sz="1700" b="1" dirty="0">
                <a:solidFill>
                  <a:srgbClr val="1F2328">
                    <a:alpha val="0"/>
                  </a:srgbClr>
                </a:solidFill>
                <a:latin typeface="Calibri"/>
                <a:ea typeface="맑은 고딕"/>
                <a:cs typeface="Calibri"/>
              </a:rPr>
              <a:t>[ </a:t>
            </a:r>
            <a:r>
              <a:rPr lang="en-US" altLang="ko-KR" sz="1700" b="1" dirty="0">
                <a:solidFill>
                  <a:srgbClr val="1F2328">
                    <a:alpha val="0"/>
                  </a:srgbClr>
                </a:solidFill>
                <a:latin typeface="Calibri"/>
                <a:ea typeface="맑은 고딕"/>
                <a:cs typeface="Calibri"/>
              </a:rPr>
              <a:t>is only</a:t>
            </a:r>
            <a:r>
              <a:rPr lang="en-US" altLang="ko-KR" sz="1700" b="1" dirty="0">
                <a:solidFill>
                  <a:srgbClr val="1F2328">
                    <a:alpha val="0"/>
                  </a:srgbClr>
                </a:solidFill>
                <a:latin typeface="Calibri"/>
                <a:ea typeface="맑은 고딕"/>
                <a:cs typeface="Calibri"/>
              </a:rPr>
              <a:t> / </a:t>
            </a:r>
            <a:r>
              <a:rPr lang="en-US" altLang="ko-KR" sz="1700" b="1" dirty="0">
                <a:solidFill>
                  <a:srgbClr val="1F2328">
                    <a:alpha val="0"/>
                  </a:srgbClr>
                </a:solidFill>
                <a:latin typeface="Calibri"/>
                <a:ea typeface="맑은 고딕"/>
                <a:cs typeface="Calibri"/>
              </a:rPr>
              <a:t>are only</a:t>
            </a:r>
            <a:r>
              <a:rPr lang="en-US" altLang="ko-KR" sz="1700" b="1"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 the legs. Let’s cut the legs off for him," said Rummins.</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⑩</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"Great idea!" said Bert. Bert then took out a saw and began to cut off the legs.</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⑪</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When Mr. Boggis came back, the legs had been cut off.</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⑫</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"Don’t worry, this was a favor. I won’t charge you for this," said Rummins.</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⑬</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Mr. Boggis was so shocked that he couldn’t say anything.</a:t>
            </a:r>
            <a:endParaRPr lang="en-US" altLang="ko-KR" sz="1700" b="0" dirty="0">
              <a:solidFill>
                <a:srgbClr val="1F2328"/>
              </a:solidFill>
              <a:latin typeface="Calibri"/>
              <a:ea typeface="맑은 고딕"/>
              <a:cs typeface="Calibri"/>
            </a:endParaRPr>
          </a:p>
        </p:txBody>
      </p:sp>
      <p:sp>
        <p:nvSpPr>
          <p:cNvPr id="12" name="rv_g04"/>
          <p:cNvSpPr txBox="1"/>
          <p:nvPr/>
        </p:nvSpPr>
        <p:spPr>
          <a:xfrm>
            <a:off x="457200" y="950976"/>
            <a:ext cx="11277295" cy="4851146"/>
          </a:xfrm>
          <a:prstGeom prst="rect">
            <a:avLst/>
          </a:prstGeom>
          <a:noFill/>
        </p:spPr>
        <p:txBody>
          <a:bodyPr wrap="square" lIns="228600" tIns="155448" rIns="228600" bIns="155448" anchor="t" rtlCol="0">
            <a:noAutofit/>
          </a:bodyPr>
          <a:lstStyle/>
          <a:p>
            <a:pPr algn="l">
              <a:lnSpc>
                <a:spcPts val="2750"/>
              </a:lnSpc>
              <a:spcBef>
                <a:spcPts val="0"/>
              </a:spcBef>
              <a:spcAft>
                <a:spcPts val="0"/>
              </a:spcAft>
              <a:buNone/>
            </a:pPr>
            <a:r>
              <a:rPr lang="ko-KR" altLang="en-US" sz="1700" b="1" dirty="0">
                <a:solidFill>
                  <a:srgbClr val="1E2A5A">
                    <a:alpha val="0"/>
                  </a:srgbClr>
                </a:solidFill>
                <a:latin typeface="맑은 고딕"/>
                <a:ea typeface="맑은 고딕"/>
                <a:cs typeface="맑은 고딕"/>
              </a:rPr>
              <a:t>①</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He then added, "Hmm, I think I may buy it. The legs of my table at home are broken. I can cut off the legs of your table and </a:t>
            </a:r>
            <a:r>
              <a:rPr lang="en-US" altLang="ko-KR" sz="1700" b="1" dirty="0">
                <a:solidFill>
                  <a:srgbClr val="1F2328">
                    <a:alpha val="0"/>
                  </a:srgbClr>
                </a:solidFill>
                <a:latin typeface="Calibri"/>
                <a:ea typeface="맑은 고딕"/>
                <a:cs typeface="Calibri"/>
              </a:rPr>
              <a:t>[ </a:t>
            </a:r>
            <a:r>
              <a:rPr lang="en-US" altLang="ko-KR" sz="1700" b="1" dirty="0">
                <a:solidFill>
                  <a:srgbClr val="1F2328">
                    <a:alpha val="0"/>
                  </a:srgbClr>
                </a:solidFill>
                <a:latin typeface="Calibri"/>
                <a:ea typeface="맑은 고딕"/>
                <a:cs typeface="Calibri"/>
              </a:rPr>
              <a:t>attach</a:t>
            </a:r>
            <a:r>
              <a:rPr lang="en-US" altLang="ko-KR" sz="1700" b="1" dirty="0">
                <a:solidFill>
                  <a:srgbClr val="1F2328">
                    <a:alpha val="0"/>
                  </a:srgbClr>
                </a:solidFill>
                <a:latin typeface="Calibri"/>
                <a:ea typeface="맑은 고딕"/>
                <a:cs typeface="Calibri"/>
              </a:rPr>
              <a:t> / </a:t>
            </a:r>
            <a:r>
              <a:rPr lang="en-US" altLang="ko-KR" sz="1700" b="1" dirty="0">
                <a:solidFill>
                  <a:srgbClr val="1F2328">
                    <a:alpha val="0"/>
                  </a:srgbClr>
                </a:solidFill>
                <a:latin typeface="Calibri"/>
                <a:ea typeface="맑은 고딕"/>
                <a:cs typeface="Calibri"/>
              </a:rPr>
              <a:t>attaching</a:t>
            </a:r>
            <a:r>
              <a:rPr lang="en-US" altLang="ko-KR" sz="1700" b="1"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 them to mine."</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②</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"How much?" Rummins asked. "Not much, I’m afraid. This is just a reproduction," said Mr. Boggis.</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③</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"So how much?" "Ten pounds." "Ten? It’s worth more than that." "How about fifteen?" "Make it fifty." "Well, thirty. This is my final offer."</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④</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"OK, it’s </a:t>
            </a:r>
            <a:r>
              <a:rPr lang="en-US" altLang="ko-KR" sz="1700" b="1" dirty="0">
                <a:solidFill>
                  <a:srgbClr val="1F2328">
                    <a:alpha val="0"/>
                  </a:srgbClr>
                </a:solidFill>
                <a:latin typeface="Calibri"/>
                <a:ea typeface="맑은 고딕"/>
                <a:cs typeface="Calibri"/>
              </a:rPr>
              <a:t>[ </a:t>
            </a:r>
            <a:r>
              <a:rPr lang="en-US" altLang="ko-KR" sz="1700" b="1" dirty="0">
                <a:solidFill>
                  <a:srgbClr val="1F2328">
                    <a:alpha val="0"/>
                  </a:srgbClr>
                </a:solidFill>
                <a:latin typeface="Calibri"/>
                <a:ea typeface="맑은 고딕"/>
                <a:cs typeface="Calibri"/>
              </a:rPr>
              <a:t>yours</a:t>
            </a:r>
            <a:r>
              <a:rPr lang="en-US" altLang="ko-KR" sz="1700" b="1" dirty="0">
                <a:solidFill>
                  <a:srgbClr val="1F2328">
                    <a:alpha val="0"/>
                  </a:srgbClr>
                </a:solidFill>
                <a:latin typeface="Calibri"/>
                <a:ea typeface="맑은 고딕"/>
                <a:cs typeface="Calibri"/>
              </a:rPr>
              <a:t> / </a:t>
            </a:r>
            <a:r>
              <a:rPr lang="en-US" altLang="ko-KR" sz="1700" b="1" dirty="0">
                <a:solidFill>
                  <a:srgbClr val="1F2328">
                    <a:alpha val="0"/>
                  </a:srgbClr>
                </a:solidFill>
                <a:latin typeface="Calibri"/>
                <a:ea typeface="맑은 고딕"/>
                <a:cs typeface="Calibri"/>
              </a:rPr>
              <a:t>your</a:t>
            </a:r>
            <a:r>
              <a:rPr lang="en-US" altLang="ko-KR" sz="1700" b="1"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 but how are you going to take it? This thing will not go in a car!"</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⑤</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"We’ll see," Mr. Boggis said and went out </a:t>
            </a:r>
            <a:r>
              <a:rPr lang="en-US" altLang="ko-KR" sz="1700" b="1" dirty="0">
                <a:solidFill>
                  <a:srgbClr val="1F2328">
                    <a:alpha val="0"/>
                  </a:srgbClr>
                </a:solidFill>
                <a:latin typeface="Calibri"/>
                <a:ea typeface="맑은 고딕"/>
                <a:cs typeface="Calibri"/>
              </a:rPr>
              <a:t>[ </a:t>
            </a:r>
            <a:r>
              <a:rPr lang="en-US" altLang="ko-KR" sz="1700" b="1" dirty="0">
                <a:solidFill>
                  <a:srgbClr val="1F2328">
                    <a:alpha val="0"/>
                  </a:srgbClr>
                </a:solidFill>
                <a:latin typeface="Calibri"/>
                <a:ea typeface="맑은 고딕"/>
                <a:cs typeface="Calibri"/>
              </a:rPr>
              <a:t>to bring</a:t>
            </a:r>
            <a:r>
              <a:rPr lang="en-US" altLang="ko-KR" sz="1700" b="1" dirty="0">
                <a:solidFill>
                  <a:srgbClr val="1F2328">
                    <a:alpha val="0"/>
                  </a:srgbClr>
                </a:solidFill>
                <a:latin typeface="Calibri"/>
                <a:ea typeface="맑은 고딕"/>
                <a:cs typeface="Calibri"/>
              </a:rPr>
              <a:t> / </a:t>
            </a:r>
            <a:r>
              <a:rPr lang="en-US" altLang="ko-KR" sz="1700" b="1" dirty="0">
                <a:solidFill>
                  <a:srgbClr val="1F2328">
                    <a:alpha val="0"/>
                  </a:srgbClr>
                </a:solidFill>
                <a:latin typeface="Calibri"/>
                <a:ea typeface="맑은 고딕"/>
                <a:cs typeface="Calibri"/>
              </a:rPr>
              <a:t>bringing</a:t>
            </a:r>
            <a:r>
              <a:rPr lang="en-US" altLang="ko-KR" sz="1700" b="1"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 his car.</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⑥</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On his way to the car, Mr. Boggis couldn’t help smiling.</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⑦</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The table was what every dealer dreamed of. He couldn’t believe his luck.</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⑧</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"Dad, what if this thing doesn’t go in his car? He might not pay you," said Bert.</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⑨</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Rummins then had an idea. "What he wants </a:t>
            </a:r>
            <a:r>
              <a:rPr lang="en-US" altLang="ko-KR" sz="1700" b="1" dirty="0">
                <a:solidFill>
                  <a:srgbClr val="1F2328">
                    <a:alpha val="0"/>
                  </a:srgbClr>
                </a:solidFill>
                <a:latin typeface="Calibri"/>
                <a:ea typeface="맑은 고딕"/>
                <a:cs typeface="Calibri"/>
              </a:rPr>
              <a:t>[ </a:t>
            </a:r>
            <a:r>
              <a:rPr lang="en-US" altLang="ko-KR" sz="1700" b="1" dirty="0">
                <a:solidFill>
                  <a:srgbClr val="C00000"/>
                </a:solidFill>
                <a:highlight>
                  <a:srgbClr val="F3F5F9"/>
                </a:highlight>
                <a:latin typeface="Calibri"/>
                <a:ea typeface="맑은 고딕"/>
                <a:cs typeface="Calibri"/>
              </a:rPr>
              <a:t>is only</a:t>
            </a:r>
            <a:r>
              <a:rPr lang="en-US" altLang="ko-KR" sz="1700" b="1" dirty="0">
                <a:solidFill>
                  <a:srgbClr val="1F2328">
                    <a:alpha val="0"/>
                  </a:srgbClr>
                </a:solidFill>
                <a:latin typeface="Calibri"/>
                <a:ea typeface="맑은 고딕"/>
                <a:cs typeface="Calibri"/>
              </a:rPr>
              <a:t> / </a:t>
            </a:r>
            <a:r>
              <a:rPr lang="en-US" altLang="ko-KR" sz="1700" b="1" dirty="0">
                <a:solidFill>
                  <a:srgbClr val="1F2328">
                    <a:alpha val="0"/>
                  </a:srgbClr>
                </a:solidFill>
                <a:latin typeface="Calibri"/>
                <a:ea typeface="맑은 고딕"/>
                <a:cs typeface="Calibri"/>
              </a:rPr>
              <a:t>are only</a:t>
            </a:r>
            <a:r>
              <a:rPr lang="en-US" altLang="ko-KR" sz="1700" b="1"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 the legs. Let’s cut the legs off for him," said Rummins.</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⑩</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"Great idea!" said Bert. Bert then took out a saw and began to cut off the legs.</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⑪</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When Mr. Boggis came back, the legs had been cut off.</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⑫</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"Don’t worry, this was a favor. I won’t charge you for this," said Rummins.</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⑬</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Mr. Boggis was so shocked that he couldn’t say anything.</a:t>
            </a:r>
            <a:endParaRPr lang="en-US" altLang="ko-KR" sz="1700" b="0" dirty="0">
              <a:solidFill>
                <a:srgbClr val="1F2328"/>
              </a:solidFill>
              <a:latin typeface="Calibri"/>
              <a:ea typeface="맑은 고딕"/>
              <a:cs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25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25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25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25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Lst>
  </p:timing>
</p:sld>
</file>

<file path=ppt/slides/slide122.xml><?xml version="1.0" encoding="utf-8"?>
<p:sld xmlns:a="http://schemas.openxmlformats.org/drawingml/2006/main" xmlns:p="http://schemas.openxmlformats.org/presentationml/2006/main" xmlns:r="http://schemas.openxmlformats.org/officeDocument/2006/relationships">
  <p:cSld>
    <p:bg>
      <p:bgPr>
        <a:solidFill>
          <a:srgbClr val="1E2A5A"/>
        </a:solidFill>
        <a:effectLst/>
      </p:bgPr>
    </p:bg>
    <p:spTree>
      <p:nvGrpSpPr>
        <p:cNvPr id="1" name=""/>
        <p:cNvGrpSpPr/>
        <p:nvPr/>
      </p:nvGrpSpPr>
      <p:grpSpPr/>
      <p:sp>
        <p:nvSpPr>
          <p:cNvPr id="2" name="sec_title"/>
          <p:cNvSpPr txBox="1"/>
          <p:nvPr/>
        </p:nvSpPr>
        <p:spPr>
          <a:xfrm>
            <a:off x="822960" y="1371600"/>
            <a:ext cx="10515600" cy="868680"/>
          </a:xfrm>
          <a:prstGeom prst="rect">
            <a:avLst/>
          </a:prstGeom>
          <a:noFill/>
        </p:spPr>
        <p:txBody>
          <a:bodyPr wrap="square" lIns="109728" tIns="54864" rIns="109728" bIns="54864" anchor="t" rtlCol="0">
            <a:noAutofit/>
          </a:bodyPr>
          <a:lstStyle/>
          <a:p>
            <a:pPr algn="l">
              <a:lnSpc>
                <a:spcPts val="4800"/>
              </a:lnSpc>
              <a:spcBef>
                <a:spcPts val="0"/>
              </a:spcBef>
              <a:spcAft>
                <a:spcPts val="0"/>
              </a:spcAft>
              <a:buNone/>
            </a:pPr>
            <a:r>
              <a:rPr lang="ko-KR" altLang="en-US" sz="4000" b="1" dirty="0">
                <a:solidFill>
                  <a:srgbClr val="FFE98A"/>
                </a:solidFill>
                <a:latin typeface="맑은 고딕"/>
                <a:ea typeface="맑은 고딕"/>
                <a:cs typeface="맑은 고딕"/>
              </a:rPr>
              <a:t>PART 4  </a:t>
            </a:r>
            <a:r>
              <a:rPr lang="ko-KR" altLang="en-US" sz="4000" b="1" dirty="0">
                <a:solidFill>
                  <a:srgbClr val="FFFFFF"/>
                </a:solidFill>
                <a:latin typeface="맑은 고딕"/>
                <a:ea typeface="맑은 고딕"/>
                <a:cs typeface="맑은 고딕"/>
              </a:rPr>
              <a:t>내용이해 T/F</a:t>
            </a:r>
            <a:endParaRPr lang="ko-KR" sz="4000"/>
          </a:p>
        </p:txBody>
      </p:sp>
      <p:sp>
        <p:nvSpPr>
          <p:cNvPr id="3" name="sec_exam"/>
          <p:cNvSpPr txBox="1"/>
          <p:nvPr/>
        </p:nvSpPr>
        <p:spPr>
          <a:xfrm>
            <a:off x="822960" y="2240280"/>
            <a:ext cx="10515600" cy="502920"/>
          </a:xfrm>
          <a:prstGeom prst="rect">
            <a:avLst/>
          </a:prstGeom>
          <a:noFill/>
        </p:spPr>
        <p:txBody>
          <a:bodyPr wrap="square" lIns="109728" tIns="54864" rIns="109728" bIns="54864" anchor="t" rtlCol="0">
            <a:noAutofit/>
          </a:bodyPr>
          <a:lstStyle/>
          <a:p>
            <a:pPr algn="l">
              <a:lnSpc>
                <a:spcPts val="2400"/>
              </a:lnSpc>
              <a:spcBef>
                <a:spcPts val="0"/>
              </a:spcBef>
              <a:spcAft>
                <a:spcPts val="0"/>
              </a:spcAft>
              <a:buNone/>
            </a:pPr>
            <a:r>
              <a:rPr lang="ko-KR" altLang="en-US" sz="2000" b="0" dirty="0">
                <a:solidFill>
                  <a:srgbClr val="CFD8E8"/>
                </a:solidFill>
                <a:latin typeface="맑은 고딕"/>
                <a:ea typeface="맑은 고딕"/>
                <a:cs typeface="맑은 고딕"/>
              </a:rPr>
              <a:t>중3 동아(윤정미) Lesson 6</a:t>
            </a:r>
            <a:endParaRPr lang="ko-KR" sz="2000"/>
          </a:p>
        </p:txBody>
      </p:sp>
      <p:sp>
        <p:nvSpPr>
          <p:cNvPr id="4" name="sec_ids"/>
          <p:cNvSpPr txBox="1"/>
          <p:nvPr/>
        </p:nvSpPr>
        <p:spPr>
          <a:xfrm>
            <a:off x="822960" y="2788920"/>
            <a:ext cx="10515600" cy="457200"/>
          </a:xfrm>
          <a:prstGeom prst="rect">
            <a:avLst/>
          </a:prstGeom>
          <a:noFill/>
        </p:spPr>
        <p:txBody>
          <a:bodyPr wrap="square" lIns="109728" tIns="54864" rIns="109728" bIns="54864" anchor="t" rtlCol="0">
            <a:noAutofit/>
          </a:bodyPr>
          <a:lstStyle/>
          <a:p>
            <a:pPr algn="l">
              <a:lnSpc>
                <a:spcPts val="2200"/>
              </a:lnSpc>
              <a:spcBef>
                <a:spcPts val="0"/>
              </a:spcBef>
              <a:spcAft>
                <a:spcPts val="0"/>
              </a:spcAft>
              <a:buNone/>
            </a:pPr>
            <a:r>
              <a:rPr lang="en-US" altLang="en-US" sz="1800" b="1" dirty="0">
                <a:solidFill>
                  <a:srgbClr val="AEBBD0"/>
                </a:solidFill>
                <a:latin typeface="Calibri"/>
                <a:ea typeface="맑은 고딕"/>
                <a:cs typeface="Calibri"/>
              </a:rPr>
              <a:t>L6-1  ·  L6-2  ·  L6-3</a:t>
            </a:r>
            <a:endParaRPr lang="ko-KR" sz="1800"/>
          </a:p>
        </p:txBody>
      </p:sp>
      <p:sp>
        <p:nvSpPr>
          <p:cNvPr id="5" name="sec_legend"/>
          <p:cNvSpPr/>
          <p:nvPr/>
        </p:nvSpPr>
        <p:spPr>
          <a:xfrm>
            <a:off x="822960" y="3977639"/>
            <a:ext cx="10515600" cy="1371600"/>
          </a:xfrm>
          <a:prstGeom prst="roundRect">
            <a:avLst>
              <a:gd name="adj" fmla="val 6000"/>
            </a:avLst>
          </a:prstGeom>
          <a:solidFill>
            <a:srgbClr val="27356E"/>
          </a:solidFill>
          <a:ln>
            <a:noFill/>
          </a:ln>
        </p:spPr>
        <p:txBody>
          <a:bodyPr wrap="square" lIns="320040" tIns="137160" rIns="320040" bIns="137160" anchor="ctr" rtlCol="0">
            <a:noAutofit/>
          </a:bodyPr>
          <a:lstStyle/>
          <a:p>
            <a:pPr algn="l">
              <a:lnSpc>
                <a:spcPts val="2600"/>
              </a:lnSpc>
              <a:spcBef>
                <a:spcPts val="0"/>
              </a:spcBef>
              <a:spcAft>
                <a:spcPts val="0"/>
              </a:spcAft>
              <a:buNone/>
            </a:pPr>
            <a:r>
              <a:rPr lang="ko-KR" altLang="en-US" sz="1600" b="1" dirty="0">
                <a:solidFill>
                  <a:srgbClr val="FFE98A"/>
                </a:solidFill>
                <a:latin typeface="맑은 고딕"/>
                <a:ea typeface="맑은 고딕"/>
                <a:cs typeface="맑은 고딕"/>
              </a:rPr>
              <a:t>방법</a:t>
            </a:r>
            <a:r>
              <a:rPr lang="ko-KR" altLang="en-US" sz="1600" b="0" dirty="0">
                <a:solidFill>
                  <a:srgbClr val="FFFFFF"/>
                </a:solidFill>
                <a:latin typeface="맑은 고딕"/>
                <a:ea typeface="맑은 고딕"/>
                <a:cs typeface="맑은 고딕"/>
              </a:rPr>
              <a:t>     본문 단락을 읽고, 우리말 진술이 본문과 일치하면 T, 아니면 F</a:t>
            </a:r>
            <a:endParaRPr lang="ko-KR" sz="1600"/>
          </a:p>
          <a:p>
            <a:pPr algn="l">
              <a:lnSpc>
                <a:spcPts val="2600"/>
              </a:lnSpc>
              <a:spcBef>
                <a:spcPts val="0"/>
              </a:spcBef>
              <a:spcAft>
                <a:spcPts val="0"/>
              </a:spcAft>
              <a:buNone/>
            </a:pPr>
            <a:r>
              <a:rPr lang="ko-KR" altLang="en-US" sz="1600" b="1" dirty="0">
                <a:solidFill>
                  <a:srgbClr val="FFE98A"/>
                </a:solidFill>
                <a:latin typeface="맑은 고딕"/>
                <a:ea typeface="맑은 고딕"/>
                <a:cs typeface="맑은 고딕"/>
              </a:rPr>
              <a:t>클릭</a:t>
            </a:r>
            <a:r>
              <a:rPr lang="ko-KR" altLang="en-US" sz="1600" b="0" dirty="0">
                <a:solidFill>
                  <a:srgbClr val="FFFFFF"/>
                </a:solidFill>
                <a:latin typeface="맑은 고딕"/>
                <a:ea typeface="맑은 고딕"/>
                <a:cs typeface="맑은 고딕"/>
              </a:rPr>
              <a:t>     한 번 클릭하면 5문항의 정답(T/F)이 빨간색으로 한꺼번에 공개</a:t>
            </a:r>
            <a:endParaRPr lang="ko-KR" sz="1600"/>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8000"/>
            </a:avLst>
          </a:prstGeom>
          <a:solidFill>
            <a:srgbClr val="1E2A5A"/>
          </a:solidFill>
          <a:ln>
            <a:noFill/>
          </a:ln>
        </p:spPr>
        <p:txBody>
          <a:bodyPr wrap="square" lIns="45720" tIns="18288" rIns="45720" bIns="18288" anchor="ctr" rtlCol="0">
            <a:noAutofit/>
          </a:bodyPr>
          <a:lstStyle/>
          <a:p>
            <a:pPr algn="ctr">
              <a:lnSpc>
                <a:spcPts val="2000"/>
              </a:lnSpc>
              <a:spcBef>
                <a:spcPts val="0"/>
              </a:spcBef>
              <a:spcAft>
                <a:spcPts val="0"/>
              </a:spcAft>
              <a:buNone/>
            </a:pPr>
            <a:r>
              <a:rPr lang="en-US" altLang="en-US" sz="1700" b="1" dirty="0">
                <a:solidFill>
                  <a:srgbClr val="FFFFFF"/>
                </a:solidFill>
                <a:latin typeface="Calibri"/>
                <a:ea typeface="맑은 고딕"/>
                <a:cs typeface="Calibri"/>
              </a:rPr>
              <a:t>L6-1</a:t>
            </a:r>
            <a:endParaRPr lang="ko-KR" sz="1700"/>
          </a:p>
        </p:txBody>
      </p:sp>
      <p:sp>
        <p:nvSpPr>
          <p:cNvPr id="3" name="hdr_chip"/>
          <p:cNvSpPr/>
          <p:nvPr/>
        </p:nvSpPr>
        <p:spPr>
          <a:xfrm>
            <a:off x="1755648" y="274320"/>
            <a:ext cx="1371600" cy="493776"/>
          </a:xfrm>
          <a:prstGeom prst="roundRect">
            <a:avLst>
              <a:gd name="adj" fmla="val 8000"/>
            </a:avLst>
          </a:prstGeom>
          <a:solidFill>
            <a:srgbClr val="E6EAF4"/>
          </a:solidFill>
          <a:ln>
            <a:noFill/>
          </a:ln>
        </p:spPr>
        <p:txBody>
          <a:bodyPr wrap="square" lIns="27432" tIns="18288" rIns="27432" bIns="18288" anchor="ctr" rtlCol="0">
            <a:noAutofit/>
          </a:bodyPr>
          <a:lstStyle/>
          <a:p>
            <a:pPr algn="ctr">
              <a:lnSpc>
                <a:spcPts val="1700"/>
              </a:lnSpc>
              <a:spcBef>
                <a:spcPts val="0"/>
              </a:spcBef>
              <a:spcAft>
                <a:spcPts val="0"/>
              </a:spcAft>
              <a:buNone/>
            </a:pPr>
            <a:r>
              <a:rPr lang="ko-KR" altLang="en-US" sz="1400" b="1" dirty="0">
                <a:solidFill>
                  <a:srgbClr val="1E2A5A"/>
                </a:solidFill>
                <a:latin typeface="맑은 고딕"/>
                <a:ea typeface="맑은 고딕"/>
                <a:cs typeface="맑은 고딕"/>
              </a:rPr>
              <a:t>PART 4 · 1</a:t>
            </a:r>
            <a:endParaRPr lang="ko-KR" sz="1400"/>
          </a:p>
        </p:txBody>
      </p:sp>
      <p:sp>
        <p:nvSpPr>
          <p:cNvPr id="4" name="hdr_q"/>
          <p:cNvSpPr txBox="1"/>
          <p:nvPr/>
        </p:nvSpPr>
        <p:spPr>
          <a:xfrm>
            <a:off x="3246120" y="246888"/>
            <a:ext cx="8485632" cy="548640"/>
          </a:xfrm>
          <a:prstGeom prst="rect">
            <a:avLst/>
          </a:prstGeom>
          <a:noFill/>
        </p:spPr>
        <p:txBody>
          <a:bodyPr wrap="square" lIns="109728" tIns="54864" rIns="109728" bIns="54864" anchor="ctr" rtlCol="0">
            <a:noAutofit/>
          </a:bodyPr>
          <a:lstStyle/>
          <a:p>
            <a:pPr algn="l">
              <a:lnSpc>
                <a:spcPts val="2400"/>
              </a:lnSpc>
              <a:spcBef>
                <a:spcPts val="0"/>
              </a:spcBef>
              <a:spcAft>
                <a:spcPts val="0"/>
              </a:spcAft>
              <a:buNone/>
            </a:pPr>
            <a:r>
              <a:rPr lang="ko-KR" altLang="en-US" sz="2000" b="1" dirty="0">
                <a:solidFill>
                  <a:srgbClr val="1F2328"/>
                </a:solidFill>
                <a:latin typeface="맑은 고딕"/>
                <a:ea typeface="맑은 고딕"/>
                <a:cs typeface="맑은 고딕"/>
              </a:rPr>
              <a:t>본문과 일치하면 T, 일치하지 않으면 F를 고르시오.</a:t>
            </a:r>
            <a:endParaRPr lang="ko-KR" sz="2000"/>
          </a:p>
        </p:txBody>
      </p:sp>
      <p:sp>
        <p:nvSpPr>
          <p:cNvPr id="5" name="ftr_exam"/>
          <p:cNvSpPr txBox="1"/>
          <p:nvPr/>
        </p:nvSpPr>
        <p:spPr>
          <a:xfrm>
            <a:off x="457200" y="6519672"/>
            <a:ext cx="5669280" cy="256032"/>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6</a:t>
            </a:r>
            <a:endParaRPr lang="ko-KR" sz="1000"/>
          </a:p>
        </p:txBody>
      </p:sp>
      <p:sp>
        <p:nvSpPr>
          <p:cNvPr id="6" name="ftr_hint"/>
          <p:cNvSpPr txBox="1"/>
          <p:nvPr/>
        </p:nvSpPr>
        <p:spPr>
          <a:xfrm>
            <a:off x="5971032" y="6519672"/>
            <a:ext cx="5760720" cy="256032"/>
          </a:xfrm>
          <a:prstGeom prst="rect">
            <a:avLst/>
          </a:prstGeom>
          <a:noFill/>
        </p:spPr>
        <p:txBody>
          <a:bodyPr wrap="square" lIns="0" tIns="0" rIns="0" bIns="0" anchor="t" rtlCol="0">
            <a:noAutofit/>
          </a:bodyPr>
          <a:lstStyle/>
          <a:p>
            <a:pPr algn="r">
              <a:lnSpc>
                <a:spcPts val="1200"/>
              </a:lnSpc>
              <a:spcBef>
                <a:spcPts val="0"/>
              </a:spcBef>
              <a:spcAft>
                <a:spcPts val="0"/>
              </a:spcAft>
              <a:buNone/>
            </a:pPr>
            <a:r>
              <a:rPr lang="ko-KR" altLang="en-US" sz="1000" b="0" dirty="0">
                <a:solidFill>
                  <a:srgbClr val="7A808C"/>
                </a:solidFill>
                <a:latin typeface="맑은 고딕"/>
                <a:ea typeface="맑은 고딕"/>
                <a:cs typeface="맑은 고딕"/>
              </a:rPr>
              <a:t>클릭 ① 정답(T/F) 공개</a:t>
            </a:r>
            <a:endParaRPr lang="ko-KR" sz="1000"/>
          </a:p>
        </p:txBody>
      </p:sp>
      <p:sp>
        <p:nvSpPr>
          <p:cNvPr id="7" name="passage_card"/>
          <p:cNvSpPr/>
          <p:nvPr/>
        </p:nvSpPr>
        <p:spPr>
          <a:xfrm>
            <a:off x="457200" y="950976"/>
            <a:ext cx="11274552" cy="1854708"/>
          </a:xfrm>
          <a:prstGeom prst="roundRect">
            <a:avLst>
              <a:gd name="adj" fmla="val 4000"/>
            </a:avLst>
          </a:prstGeom>
          <a:solidFill>
            <a:srgbClr val="F3F5F9"/>
          </a:solidFill>
          <a:ln w="12700">
            <a:solidFill>
              <a:srgbClr val="D9DFEA"/>
            </a:solidFill>
          </a:ln>
        </p:spPr>
        <p:txBody>
          <a:bodyPr rtlCol="0" anchor="ctr"/>
          <a:lstStyle/>
          <a:p>
            <a:pPr algn="ctr"/>
          </a:p>
        </p:txBody>
      </p:sp>
      <p:sp>
        <p:nvSpPr>
          <p:cNvPr id="8" name="passage"/>
          <p:cNvSpPr txBox="1"/>
          <p:nvPr/>
        </p:nvSpPr>
        <p:spPr>
          <a:xfrm>
            <a:off x="457200" y="950976"/>
            <a:ext cx="11274552" cy="1854708"/>
          </a:xfrm>
          <a:prstGeom prst="rect">
            <a:avLst/>
          </a:prstGeom>
          <a:noFill/>
        </p:spPr>
        <p:txBody>
          <a:bodyPr wrap="square" lIns="182880" tIns="137160" rIns="182880" bIns="137160" anchor="t" rtlCol="0">
            <a:noAutofit/>
          </a:bodyPr>
          <a:lstStyle/>
          <a:p>
            <a:pPr algn="l">
              <a:lnSpc>
                <a:spcPts val="2074"/>
              </a:lnSpc>
              <a:spcBef>
                <a:spcPts val="0"/>
              </a:spcBef>
              <a:spcAft>
                <a:spcPts val="0"/>
              </a:spcAft>
              <a:buNone/>
            </a:pPr>
            <a:r>
              <a:rPr lang="ko-KR" altLang="en-US" sz="1700" b="1" dirty="0">
                <a:solidFill>
                  <a:srgbClr val="1E2A5A"/>
                </a:solidFill>
                <a:latin typeface="맑은 고딕"/>
                <a:ea typeface="맑은 고딕"/>
                <a:cs typeface="맑은 고딕"/>
              </a:rPr>
              <a:t>① </a:t>
            </a:r>
            <a:r>
              <a:rPr lang="en-US" altLang="en-US" sz="1700" b="0" dirty="0">
                <a:solidFill>
                  <a:srgbClr val="1F2328"/>
                </a:solidFill>
                <a:latin typeface="Calibri"/>
                <a:ea typeface="맑은 고딕"/>
                <a:cs typeface="Calibri"/>
              </a:rPr>
              <a:t>Cyril Boggis was an antique furniture dealer in London. </a:t>
            </a:r>
            <a:r>
              <a:rPr lang="ko-KR" altLang="en-US" sz="1700" b="1" dirty="0">
                <a:solidFill>
                  <a:srgbClr val="1E2A5A"/>
                </a:solidFill>
                <a:latin typeface="맑은 고딕"/>
                <a:ea typeface="맑은 고딕"/>
                <a:cs typeface="맑은 고딕"/>
              </a:rPr>
              <a:t>② </a:t>
            </a:r>
            <a:r>
              <a:rPr lang="en-US" altLang="en-US" sz="1700" b="0" dirty="0">
                <a:solidFill>
                  <a:srgbClr val="1F2328"/>
                </a:solidFill>
                <a:latin typeface="Calibri"/>
                <a:ea typeface="맑은 고딕"/>
                <a:cs typeface="Calibri"/>
              </a:rPr>
              <a:t>He was known for buying good things at a low price and then selling them at a high price. </a:t>
            </a:r>
            <a:r>
              <a:rPr lang="ko-KR" altLang="en-US" sz="1700" b="1" dirty="0">
                <a:solidFill>
                  <a:srgbClr val="1E2A5A"/>
                </a:solidFill>
                <a:latin typeface="맑은 고딕"/>
                <a:ea typeface="맑은 고딕"/>
                <a:cs typeface="맑은 고딕"/>
              </a:rPr>
              <a:t>③ </a:t>
            </a:r>
            <a:r>
              <a:rPr lang="en-US" altLang="en-US" sz="1700" b="0" dirty="0">
                <a:solidFill>
                  <a:srgbClr val="1F2328"/>
                </a:solidFill>
                <a:latin typeface="Calibri"/>
                <a:ea typeface="맑은 고딕"/>
                <a:cs typeface="Calibri"/>
              </a:rPr>
              <a:t>People asked him where he had got the furniture, but he just said, "It’s a secret." </a:t>
            </a:r>
            <a:r>
              <a:rPr lang="ko-KR" altLang="en-US" sz="1700" b="1" dirty="0">
                <a:solidFill>
                  <a:srgbClr val="1E2A5A"/>
                </a:solidFill>
                <a:latin typeface="맑은 고딕"/>
                <a:ea typeface="맑은 고딕"/>
                <a:cs typeface="맑은 고딕"/>
              </a:rPr>
              <a:t>④ </a:t>
            </a:r>
            <a:r>
              <a:rPr lang="en-US" altLang="en-US" sz="1700" b="0" dirty="0">
                <a:solidFill>
                  <a:srgbClr val="1F2328"/>
                </a:solidFill>
                <a:latin typeface="Calibri"/>
                <a:ea typeface="맑은 고딕"/>
                <a:cs typeface="Calibri"/>
              </a:rPr>
              <a:t>Mr. Boggis’ secret was simple. He went to small towns every Sunday and knocked on doors. </a:t>
            </a:r>
            <a:r>
              <a:rPr lang="ko-KR" altLang="en-US" sz="1700" b="1" dirty="0">
                <a:solidFill>
                  <a:srgbClr val="1E2A5A"/>
                </a:solidFill>
                <a:latin typeface="맑은 고딕"/>
                <a:ea typeface="맑은 고딕"/>
                <a:cs typeface="맑은 고딕"/>
              </a:rPr>
              <a:t>⑤ </a:t>
            </a:r>
            <a:r>
              <a:rPr lang="en-US" altLang="en-US" sz="1700" b="0" dirty="0">
                <a:solidFill>
                  <a:srgbClr val="1F2328"/>
                </a:solidFill>
                <a:latin typeface="Calibri"/>
                <a:ea typeface="맑은 고딕"/>
                <a:cs typeface="Calibri"/>
              </a:rPr>
              <a:t>He told people that he was a furniture dealer. </a:t>
            </a:r>
            <a:r>
              <a:rPr lang="ko-KR" altLang="en-US" sz="1700" b="1" dirty="0">
                <a:solidFill>
                  <a:srgbClr val="1E2A5A"/>
                </a:solidFill>
                <a:latin typeface="맑은 고딕"/>
                <a:ea typeface="맑은 고딕"/>
                <a:cs typeface="맑은 고딕"/>
              </a:rPr>
              <a:t>⑥ </a:t>
            </a:r>
            <a:r>
              <a:rPr lang="en-US" altLang="en-US" sz="1700" b="0" dirty="0">
                <a:solidFill>
                  <a:srgbClr val="1F2328"/>
                </a:solidFill>
                <a:latin typeface="Calibri"/>
                <a:ea typeface="맑은 고딕"/>
                <a:cs typeface="Calibri"/>
              </a:rPr>
              <a:t>People didn’t know how valuable their things were, so Mr. Boggis took advantage of them. </a:t>
            </a:r>
            <a:r>
              <a:rPr lang="ko-KR" altLang="en-US" sz="1700" b="1" dirty="0">
                <a:solidFill>
                  <a:srgbClr val="1E2A5A"/>
                </a:solidFill>
                <a:latin typeface="맑은 고딕"/>
                <a:ea typeface="맑은 고딕"/>
                <a:cs typeface="맑은 고딕"/>
              </a:rPr>
              <a:t>⑦ </a:t>
            </a:r>
            <a:r>
              <a:rPr lang="en-US" altLang="en-US" sz="1700" b="0" dirty="0">
                <a:solidFill>
                  <a:srgbClr val="1F2328"/>
                </a:solidFill>
                <a:latin typeface="Calibri"/>
                <a:ea typeface="맑은 고딕"/>
                <a:cs typeface="Calibri"/>
              </a:rPr>
              <a:t>He was able to buy things very cheaply. </a:t>
            </a:r>
            <a:endParaRPr lang="ko-KR" sz="1700"/>
          </a:p>
        </p:txBody>
      </p:sp>
      <p:sp>
        <p:nvSpPr>
          <p:cNvPr id="9" name="q_card_1"/>
          <p:cNvSpPr/>
          <p:nvPr/>
        </p:nvSpPr>
        <p:spPr>
          <a:xfrm>
            <a:off x="457200" y="2970276"/>
            <a:ext cx="11274552" cy="466217"/>
          </a:xfrm>
          <a:prstGeom prst="roundRect">
            <a:avLst>
              <a:gd name="adj" fmla="val 12000"/>
            </a:avLst>
          </a:prstGeom>
          <a:noFill/>
          <a:ln w="12700">
            <a:solidFill>
              <a:srgbClr val="D5DAE5"/>
            </a:solidFill>
          </a:ln>
        </p:spPr>
        <p:txBody>
          <a:bodyPr rtlCol="0" anchor="ctr"/>
          <a:lstStyle/>
          <a:p>
            <a:pPr algn="ctr"/>
          </a:p>
        </p:txBody>
      </p:sp>
      <p:sp>
        <p:nvSpPr>
          <p:cNvPr id="10" name="q_1"/>
          <p:cNvSpPr txBox="1"/>
          <p:nvPr/>
        </p:nvSpPr>
        <p:spPr>
          <a:xfrm>
            <a:off x="502920" y="2970276"/>
            <a:ext cx="9171432" cy="466217"/>
          </a:xfrm>
          <a:prstGeom prst="rect">
            <a:avLst/>
          </a:prstGeom>
          <a:noFill/>
        </p:spPr>
        <p:txBody>
          <a:bodyPr wrap="square" lIns="109728" tIns="45720" rIns="109728" bIns="45720" anchor="ctr" rtlCol="0">
            <a:noAutofit/>
          </a:bodyPr>
          <a:lstStyle/>
          <a:p>
            <a:pPr algn="l">
              <a:lnSpc>
                <a:spcPts val="2375"/>
              </a:lnSpc>
              <a:spcBef>
                <a:spcPts val="0"/>
              </a:spcBef>
              <a:spcAft>
                <a:spcPts val="0"/>
              </a:spcAft>
              <a:buNone/>
            </a:pPr>
            <a:r>
              <a:rPr lang="en-US" altLang="en-US" sz="1900" b="1" dirty="0">
                <a:solidFill>
                  <a:srgbClr val="1E2A5A"/>
                </a:solidFill>
                <a:latin typeface="Calibri"/>
                <a:ea typeface="맑은 고딕"/>
                <a:cs typeface="Calibri"/>
              </a:rPr>
              <a:t>1.  </a:t>
            </a:r>
            <a:r>
              <a:rPr lang="ko-KR" altLang="en-US" sz="1900" b="0" dirty="0">
                <a:solidFill>
                  <a:srgbClr val="1F2328"/>
                </a:solidFill>
                <a:latin typeface="맑은 고딕"/>
                <a:ea typeface="맑은 고딕"/>
                <a:cs typeface="맑은 고딕"/>
              </a:rPr>
              <a:t>Cyril Boggis는 런던의 골동품 가구 판매상이었다.</a:t>
            </a:r>
            <a:endParaRPr lang="ko-KR" sz="1900"/>
          </a:p>
        </p:txBody>
      </p:sp>
      <p:sp>
        <p:nvSpPr>
          <p:cNvPr id="11" name="tf_1"/>
          <p:cNvSpPr txBox="1"/>
          <p:nvPr/>
        </p:nvSpPr>
        <p:spPr>
          <a:xfrm>
            <a:off x="9765792" y="2970276"/>
            <a:ext cx="1828800" cy="466217"/>
          </a:xfrm>
          <a:prstGeom prst="rect">
            <a:avLst/>
          </a:prstGeom>
          <a:noFill/>
        </p:spPr>
        <p:txBody>
          <a:bodyPr wrap="square" lIns="18288" tIns="18288" rIns="18288" bIns="18288" anchor="ctr" rtlCol="0">
            <a:noAutofit/>
          </a:bodyPr>
          <a:lstStyle/>
          <a:p>
            <a:pPr algn="ctr">
              <a:lnSpc>
                <a:spcPts val="2375"/>
              </a:lnSpc>
              <a:spcBef>
                <a:spcPts val="0"/>
              </a:spcBef>
              <a:spcAft>
                <a:spcPts val="0"/>
              </a:spcAft>
              <a:buNone/>
            </a:pPr>
            <a:r>
              <a:rPr lang="en-US" altLang="en-US" sz="1900" b="1" dirty="0">
                <a:solidFill>
                  <a:srgbClr val="9AA3B5"/>
                </a:solidFill>
                <a:latin typeface="Calibri"/>
                <a:ea typeface="맑은 고딕"/>
                <a:cs typeface="Calibri"/>
              </a:rPr>
              <a:t>T   /   F</a:t>
            </a:r>
            <a:endParaRPr lang="ko-KR" sz="1900"/>
          </a:p>
        </p:txBody>
      </p:sp>
      <p:sp>
        <p:nvSpPr>
          <p:cNvPr id="12" name="rv_ans_1"/>
          <p:cNvSpPr/>
          <p:nvPr/>
        </p:nvSpPr>
        <p:spPr>
          <a:xfrm>
            <a:off x="9765792" y="3015996"/>
            <a:ext cx="1828800" cy="374777"/>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640"/>
              </a:lnSpc>
              <a:spcBef>
                <a:spcPts val="0"/>
              </a:spcBef>
              <a:spcAft>
                <a:spcPts val="0"/>
              </a:spcAft>
              <a:buNone/>
            </a:pPr>
            <a:r>
              <a:rPr lang="en-US" altLang="en-US" sz="2200" b="1" dirty="0">
                <a:solidFill>
                  <a:srgbClr val="C00000"/>
                </a:solidFill>
                <a:latin typeface="Calibri"/>
                <a:ea typeface="맑은 고딕"/>
                <a:cs typeface="Calibri"/>
              </a:rPr>
              <a:t>T</a:t>
            </a:r>
            <a:endParaRPr lang="ko-KR" sz="2200"/>
          </a:p>
        </p:txBody>
      </p:sp>
      <p:sp>
        <p:nvSpPr>
          <p:cNvPr id="13" name="q_card_2"/>
          <p:cNvSpPr/>
          <p:nvPr/>
        </p:nvSpPr>
        <p:spPr>
          <a:xfrm>
            <a:off x="457200" y="3509645"/>
            <a:ext cx="11274552" cy="466217"/>
          </a:xfrm>
          <a:prstGeom prst="roundRect">
            <a:avLst>
              <a:gd name="adj" fmla="val 12000"/>
            </a:avLst>
          </a:prstGeom>
          <a:noFill/>
          <a:ln w="12700">
            <a:solidFill>
              <a:srgbClr val="D5DAE5"/>
            </a:solidFill>
          </a:ln>
        </p:spPr>
        <p:txBody>
          <a:bodyPr rtlCol="0" anchor="ctr"/>
          <a:lstStyle/>
          <a:p>
            <a:pPr algn="ctr"/>
          </a:p>
        </p:txBody>
      </p:sp>
      <p:sp>
        <p:nvSpPr>
          <p:cNvPr id="14" name="q_2"/>
          <p:cNvSpPr txBox="1"/>
          <p:nvPr/>
        </p:nvSpPr>
        <p:spPr>
          <a:xfrm>
            <a:off x="502920" y="3509645"/>
            <a:ext cx="9171432" cy="466217"/>
          </a:xfrm>
          <a:prstGeom prst="rect">
            <a:avLst/>
          </a:prstGeom>
          <a:noFill/>
        </p:spPr>
        <p:txBody>
          <a:bodyPr wrap="square" lIns="109728" tIns="45720" rIns="109728" bIns="45720" anchor="ctr" rtlCol="0">
            <a:noAutofit/>
          </a:bodyPr>
          <a:lstStyle/>
          <a:p>
            <a:pPr algn="l">
              <a:lnSpc>
                <a:spcPts val="2375"/>
              </a:lnSpc>
              <a:spcBef>
                <a:spcPts val="0"/>
              </a:spcBef>
              <a:spcAft>
                <a:spcPts val="0"/>
              </a:spcAft>
              <a:buNone/>
            </a:pPr>
            <a:r>
              <a:rPr lang="en-US" altLang="en-US" sz="1900" b="1" dirty="0">
                <a:solidFill>
                  <a:srgbClr val="1E2A5A"/>
                </a:solidFill>
                <a:latin typeface="Calibri"/>
                <a:ea typeface="맑은 고딕"/>
                <a:cs typeface="Calibri"/>
              </a:rPr>
              <a:t>2.  </a:t>
            </a:r>
            <a:r>
              <a:rPr lang="ko-KR" altLang="en-US" sz="1900" b="0" dirty="0">
                <a:solidFill>
                  <a:srgbClr val="1F2328"/>
                </a:solidFill>
                <a:latin typeface="맑은 고딕"/>
                <a:ea typeface="맑은 고딕"/>
                <a:cs typeface="맑은 고딕"/>
              </a:rPr>
              <a:t>Boggis는 물건을 비싸게 사서 싸게 파는 것으로 유명했다.</a:t>
            </a:r>
            <a:endParaRPr lang="ko-KR" sz="1900"/>
          </a:p>
        </p:txBody>
      </p:sp>
      <p:sp>
        <p:nvSpPr>
          <p:cNvPr id="15" name="tf_2"/>
          <p:cNvSpPr txBox="1"/>
          <p:nvPr/>
        </p:nvSpPr>
        <p:spPr>
          <a:xfrm>
            <a:off x="9765792" y="3509645"/>
            <a:ext cx="1828800" cy="466217"/>
          </a:xfrm>
          <a:prstGeom prst="rect">
            <a:avLst/>
          </a:prstGeom>
          <a:noFill/>
        </p:spPr>
        <p:txBody>
          <a:bodyPr wrap="square" lIns="18288" tIns="18288" rIns="18288" bIns="18288" anchor="ctr" rtlCol="0">
            <a:noAutofit/>
          </a:bodyPr>
          <a:lstStyle/>
          <a:p>
            <a:pPr algn="ctr">
              <a:lnSpc>
                <a:spcPts val="2375"/>
              </a:lnSpc>
              <a:spcBef>
                <a:spcPts val="0"/>
              </a:spcBef>
              <a:spcAft>
                <a:spcPts val="0"/>
              </a:spcAft>
              <a:buNone/>
            </a:pPr>
            <a:r>
              <a:rPr lang="en-US" altLang="en-US" sz="1900" b="1" dirty="0">
                <a:solidFill>
                  <a:srgbClr val="9AA3B5"/>
                </a:solidFill>
                <a:latin typeface="Calibri"/>
                <a:ea typeface="맑은 고딕"/>
                <a:cs typeface="Calibri"/>
              </a:rPr>
              <a:t>T   /   F</a:t>
            </a:r>
            <a:endParaRPr lang="ko-KR" sz="1900"/>
          </a:p>
        </p:txBody>
      </p:sp>
      <p:sp>
        <p:nvSpPr>
          <p:cNvPr id="16" name="rv_ans_2"/>
          <p:cNvSpPr/>
          <p:nvPr/>
        </p:nvSpPr>
        <p:spPr>
          <a:xfrm>
            <a:off x="9765792" y="3555365"/>
            <a:ext cx="1828800" cy="374777"/>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640"/>
              </a:lnSpc>
              <a:spcBef>
                <a:spcPts val="0"/>
              </a:spcBef>
              <a:spcAft>
                <a:spcPts val="0"/>
              </a:spcAft>
              <a:buNone/>
            </a:pPr>
            <a:r>
              <a:rPr lang="en-US" altLang="en-US" sz="2200" b="1" dirty="0">
                <a:solidFill>
                  <a:srgbClr val="C00000"/>
                </a:solidFill>
                <a:latin typeface="Calibri"/>
                <a:ea typeface="맑은 고딕"/>
                <a:cs typeface="Calibri"/>
              </a:rPr>
              <a:t>F</a:t>
            </a:r>
            <a:endParaRPr lang="ko-KR" sz="2200"/>
          </a:p>
        </p:txBody>
      </p:sp>
      <p:sp>
        <p:nvSpPr>
          <p:cNvPr id="17" name="q_card_3"/>
          <p:cNvSpPr/>
          <p:nvPr/>
        </p:nvSpPr>
        <p:spPr>
          <a:xfrm>
            <a:off x="457200" y="4049014"/>
            <a:ext cx="11274552" cy="466217"/>
          </a:xfrm>
          <a:prstGeom prst="roundRect">
            <a:avLst>
              <a:gd name="adj" fmla="val 12000"/>
            </a:avLst>
          </a:prstGeom>
          <a:noFill/>
          <a:ln w="12700">
            <a:solidFill>
              <a:srgbClr val="D5DAE5"/>
            </a:solidFill>
          </a:ln>
        </p:spPr>
        <p:txBody>
          <a:bodyPr rtlCol="0" anchor="ctr"/>
          <a:lstStyle/>
          <a:p>
            <a:pPr algn="ctr"/>
          </a:p>
        </p:txBody>
      </p:sp>
      <p:sp>
        <p:nvSpPr>
          <p:cNvPr id="18" name="q_3"/>
          <p:cNvSpPr txBox="1"/>
          <p:nvPr/>
        </p:nvSpPr>
        <p:spPr>
          <a:xfrm>
            <a:off x="502920" y="4049014"/>
            <a:ext cx="9171432" cy="466217"/>
          </a:xfrm>
          <a:prstGeom prst="rect">
            <a:avLst/>
          </a:prstGeom>
          <a:noFill/>
        </p:spPr>
        <p:txBody>
          <a:bodyPr wrap="square" lIns="109728" tIns="45720" rIns="109728" bIns="45720" anchor="ctr" rtlCol="0">
            <a:noAutofit/>
          </a:bodyPr>
          <a:lstStyle/>
          <a:p>
            <a:pPr algn="l">
              <a:lnSpc>
                <a:spcPts val="2375"/>
              </a:lnSpc>
              <a:spcBef>
                <a:spcPts val="0"/>
              </a:spcBef>
              <a:spcAft>
                <a:spcPts val="0"/>
              </a:spcAft>
              <a:buNone/>
            </a:pPr>
            <a:r>
              <a:rPr lang="en-US" altLang="en-US" sz="1900" b="1" dirty="0">
                <a:solidFill>
                  <a:srgbClr val="1E2A5A"/>
                </a:solidFill>
                <a:latin typeface="Calibri"/>
                <a:ea typeface="맑은 고딕"/>
                <a:cs typeface="Calibri"/>
              </a:rPr>
              <a:t>3.  </a:t>
            </a:r>
            <a:r>
              <a:rPr lang="ko-KR" altLang="en-US" sz="1900" b="0" dirty="0">
                <a:solidFill>
                  <a:srgbClr val="1F2328"/>
                </a:solidFill>
                <a:latin typeface="맑은 고딕"/>
                <a:ea typeface="맑은 고딕"/>
                <a:cs typeface="맑은 고딕"/>
              </a:rPr>
              <a:t>사람들은 Boggis에게 가구를 어디서 구했는지 물었다.</a:t>
            </a:r>
            <a:endParaRPr lang="ko-KR" sz="1900"/>
          </a:p>
        </p:txBody>
      </p:sp>
      <p:sp>
        <p:nvSpPr>
          <p:cNvPr id="19" name="tf_3"/>
          <p:cNvSpPr txBox="1"/>
          <p:nvPr/>
        </p:nvSpPr>
        <p:spPr>
          <a:xfrm>
            <a:off x="9765792" y="4049014"/>
            <a:ext cx="1828800" cy="466217"/>
          </a:xfrm>
          <a:prstGeom prst="rect">
            <a:avLst/>
          </a:prstGeom>
          <a:noFill/>
        </p:spPr>
        <p:txBody>
          <a:bodyPr wrap="square" lIns="18288" tIns="18288" rIns="18288" bIns="18288" anchor="ctr" rtlCol="0">
            <a:noAutofit/>
          </a:bodyPr>
          <a:lstStyle/>
          <a:p>
            <a:pPr algn="ctr">
              <a:lnSpc>
                <a:spcPts val="2375"/>
              </a:lnSpc>
              <a:spcBef>
                <a:spcPts val="0"/>
              </a:spcBef>
              <a:spcAft>
                <a:spcPts val="0"/>
              </a:spcAft>
              <a:buNone/>
            </a:pPr>
            <a:r>
              <a:rPr lang="en-US" altLang="en-US" sz="1900" b="1" dirty="0">
                <a:solidFill>
                  <a:srgbClr val="9AA3B5"/>
                </a:solidFill>
                <a:latin typeface="Calibri"/>
                <a:ea typeface="맑은 고딕"/>
                <a:cs typeface="Calibri"/>
              </a:rPr>
              <a:t>T   /   F</a:t>
            </a:r>
            <a:endParaRPr lang="ko-KR" sz="1900"/>
          </a:p>
        </p:txBody>
      </p:sp>
      <p:sp>
        <p:nvSpPr>
          <p:cNvPr id="20" name="rv_ans_3"/>
          <p:cNvSpPr/>
          <p:nvPr/>
        </p:nvSpPr>
        <p:spPr>
          <a:xfrm>
            <a:off x="9765792" y="4094734"/>
            <a:ext cx="1828800" cy="374777"/>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640"/>
              </a:lnSpc>
              <a:spcBef>
                <a:spcPts val="0"/>
              </a:spcBef>
              <a:spcAft>
                <a:spcPts val="0"/>
              </a:spcAft>
              <a:buNone/>
            </a:pPr>
            <a:r>
              <a:rPr lang="en-US" altLang="en-US" sz="2200" b="1" dirty="0">
                <a:solidFill>
                  <a:srgbClr val="C00000"/>
                </a:solidFill>
                <a:latin typeface="Calibri"/>
                <a:ea typeface="맑은 고딕"/>
                <a:cs typeface="Calibri"/>
              </a:rPr>
              <a:t>T</a:t>
            </a:r>
            <a:endParaRPr lang="ko-KR" sz="2200"/>
          </a:p>
        </p:txBody>
      </p:sp>
      <p:sp>
        <p:nvSpPr>
          <p:cNvPr id="21" name="q_card_4"/>
          <p:cNvSpPr/>
          <p:nvPr/>
        </p:nvSpPr>
        <p:spPr>
          <a:xfrm>
            <a:off x="457200" y="4588383"/>
            <a:ext cx="11274552" cy="466217"/>
          </a:xfrm>
          <a:prstGeom prst="roundRect">
            <a:avLst>
              <a:gd name="adj" fmla="val 12000"/>
            </a:avLst>
          </a:prstGeom>
          <a:noFill/>
          <a:ln w="12700">
            <a:solidFill>
              <a:srgbClr val="D5DAE5"/>
            </a:solidFill>
          </a:ln>
        </p:spPr>
        <p:txBody>
          <a:bodyPr rtlCol="0" anchor="ctr"/>
          <a:lstStyle/>
          <a:p>
            <a:pPr algn="ctr"/>
          </a:p>
        </p:txBody>
      </p:sp>
      <p:sp>
        <p:nvSpPr>
          <p:cNvPr id="22" name="q_4"/>
          <p:cNvSpPr txBox="1"/>
          <p:nvPr/>
        </p:nvSpPr>
        <p:spPr>
          <a:xfrm>
            <a:off x="502920" y="4588383"/>
            <a:ext cx="9171432" cy="466217"/>
          </a:xfrm>
          <a:prstGeom prst="rect">
            <a:avLst/>
          </a:prstGeom>
          <a:noFill/>
        </p:spPr>
        <p:txBody>
          <a:bodyPr wrap="square" lIns="109728" tIns="45720" rIns="109728" bIns="45720" anchor="ctr" rtlCol="0">
            <a:noAutofit/>
          </a:bodyPr>
          <a:lstStyle/>
          <a:p>
            <a:pPr algn="l">
              <a:lnSpc>
                <a:spcPts val="2375"/>
              </a:lnSpc>
              <a:spcBef>
                <a:spcPts val="0"/>
              </a:spcBef>
              <a:spcAft>
                <a:spcPts val="0"/>
              </a:spcAft>
              <a:buNone/>
            </a:pPr>
            <a:r>
              <a:rPr lang="en-US" altLang="en-US" sz="1900" b="1" dirty="0">
                <a:solidFill>
                  <a:srgbClr val="1E2A5A"/>
                </a:solidFill>
                <a:latin typeface="Calibri"/>
                <a:ea typeface="맑은 고딕"/>
                <a:cs typeface="Calibri"/>
              </a:rPr>
              <a:t>4.  </a:t>
            </a:r>
            <a:r>
              <a:rPr lang="ko-KR" altLang="en-US" sz="1900" b="0" dirty="0">
                <a:solidFill>
                  <a:srgbClr val="1F2328"/>
                </a:solidFill>
                <a:latin typeface="맑은 고딕"/>
                <a:ea typeface="맑은 고딕"/>
                <a:cs typeface="맑은 고딕"/>
              </a:rPr>
              <a:t>Boggis는 가구를 구한 곳을 사람들에게 자세히 알려 주었다.</a:t>
            </a:r>
            <a:endParaRPr lang="ko-KR" sz="1900"/>
          </a:p>
        </p:txBody>
      </p:sp>
      <p:sp>
        <p:nvSpPr>
          <p:cNvPr id="23" name="tf_4"/>
          <p:cNvSpPr txBox="1"/>
          <p:nvPr/>
        </p:nvSpPr>
        <p:spPr>
          <a:xfrm>
            <a:off x="9765792" y="4588383"/>
            <a:ext cx="1828800" cy="466217"/>
          </a:xfrm>
          <a:prstGeom prst="rect">
            <a:avLst/>
          </a:prstGeom>
          <a:noFill/>
        </p:spPr>
        <p:txBody>
          <a:bodyPr wrap="square" lIns="18288" tIns="18288" rIns="18288" bIns="18288" anchor="ctr" rtlCol="0">
            <a:noAutofit/>
          </a:bodyPr>
          <a:lstStyle/>
          <a:p>
            <a:pPr algn="ctr">
              <a:lnSpc>
                <a:spcPts val="2375"/>
              </a:lnSpc>
              <a:spcBef>
                <a:spcPts val="0"/>
              </a:spcBef>
              <a:spcAft>
                <a:spcPts val="0"/>
              </a:spcAft>
              <a:buNone/>
            </a:pPr>
            <a:r>
              <a:rPr lang="en-US" altLang="en-US" sz="1900" b="1" dirty="0">
                <a:solidFill>
                  <a:srgbClr val="9AA3B5"/>
                </a:solidFill>
                <a:latin typeface="Calibri"/>
                <a:ea typeface="맑은 고딕"/>
                <a:cs typeface="Calibri"/>
              </a:rPr>
              <a:t>T   /   F</a:t>
            </a:r>
            <a:endParaRPr lang="ko-KR" sz="1900"/>
          </a:p>
        </p:txBody>
      </p:sp>
      <p:sp>
        <p:nvSpPr>
          <p:cNvPr id="24" name="rv_ans_4"/>
          <p:cNvSpPr/>
          <p:nvPr/>
        </p:nvSpPr>
        <p:spPr>
          <a:xfrm>
            <a:off x="9765792" y="4634103"/>
            <a:ext cx="1828800" cy="374777"/>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640"/>
              </a:lnSpc>
              <a:spcBef>
                <a:spcPts val="0"/>
              </a:spcBef>
              <a:spcAft>
                <a:spcPts val="0"/>
              </a:spcAft>
              <a:buNone/>
            </a:pPr>
            <a:r>
              <a:rPr lang="en-US" altLang="en-US" sz="2200" b="1" dirty="0">
                <a:solidFill>
                  <a:srgbClr val="C00000"/>
                </a:solidFill>
                <a:latin typeface="Calibri"/>
                <a:ea typeface="맑은 고딕"/>
                <a:cs typeface="Calibri"/>
              </a:rPr>
              <a:t>F</a:t>
            </a:r>
            <a:endParaRPr lang="ko-KR" sz="2200"/>
          </a:p>
        </p:txBody>
      </p:sp>
      <p:sp>
        <p:nvSpPr>
          <p:cNvPr id="25" name="q_card_5"/>
          <p:cNvSpPr/>
          <p:nvPr/>
        </p:nvSpPr>
        <p:spPr>
          <a:xfrm>
            <a:off x="457200" y="5127752"/>
            <a:ext cx="11274552" cy="466217"/>
          </a:xfrm>
          <a:prstGeom prst="roundRect">
            <a:avLst>
              <a:gd name="adj" fmla="val 12000"/>
            </a:avLst>
          </a:prstGeom>
          <a:noFill/>
          <a:ln w="12700">
            <a:solidFill>
              <a:srgbClr val="D5DAE5"/>
            </a:solidFill>
          </a:ln>
        </p:spPr>
        <p:txBody>
          <a:bodyPr rtlCol="0" anchor="ctr"/>
          <a:lstStyle/>
          <a:p>
            <a:pPr algn="ctr"/>
          </a:p>
        </p:txBody>
      </p:sp>
      <p:sp>
        <p:nvSpPr>
          <p:cNvPr id="26" name="q_5"/>
          <p:cNvSpPr txBox="1"/>
          <p:nvPr/>
        </p:nvSpPr>
        <p:spPr>
          <a:xfrm>
            <a:off x="502920" y="5127752"/>
            <a:ext cx="9171432" cy="466217"/>
          </a:xfrm>
          <a:prstGeom prst="rect">
            <a:avLst/>
          </a:prstGeom>
          <a:noFill/>
        </p:spPr>
        <p:txBody>
          <a:bodyPr wrap="square" lIns="109728" tIns="45720" rIns="109728" bIns="45720" anchor="ctr" rtlCol="0">
            <a:noAutofit/>
          </a:bodyPr>
          <a:lstStyle/>
          <a:p>
            <a:pPr algn="l">
              <a:lnSpc>
                <a:spcPts val="2375"/>
              </a:lnSpc>
              <a:spcBef>
                <a:spcPts val="0"/>
              </a:spcBef>
              <a:spcAft>
                <a:spcPts val="0"/>
              </a:spcAft>
              <a:buNone/>
            </a:pPr>
            <a:r>
              <a:rPr lang="en-US" altLang="en-US" sz="1900" b="1" dirty="0">
                <a:solidFill>
                  <a:srgbClr val="1E2A5A"/>
                </a:solidFill>
                <a:latin typeface="Calibri"/>
                <a:ea typeface="맑은 고딕"/>
                <a:cs typeface="Calibri"/>
              </a:rPr>
              <a:t>5.  </a:t>
            </a:r>
            <a:r>
              <a:rPr lang="ko-KR" altLang="en-US" sz="1900" b="0" dirty="0">
                <a:solidFill>
                  <a:srgbClr val="1F2328"/>
                </a:solidFill>
                <a:latin typeface="맑은 고딕"/>
                <a:ea typeface="맑은 고딕"/>
                <a:cs typeface="맑은 고딕"/>
              </a:rPr>
              <a:t>Boggis의 비밀은 단순했다.</a:t>
            </a:r>
            <a:endParaRPr lang="ko-KR" sz="1900"/>
          </a:p>
        </p:txBody>
      </p:sp>
      <p:sp>
        <p:nvSpPr>
          <p:cNvPr id="27" name="tf_5"/>
          <p:cNvSpPr txBox="1"/>
          <p:nvPr/>
        </p:nvSpPr>
        <p:spPr>
          <a:xfrm>
            <a:off x="9765792" y="5127752"/>
            <a:ext cx="1828800" cy="466217"/>
          </a:xfrm>
          <a:prstGeom prst="rect">
            <a:avLst/>
          </a:prstGeom>
          <a:noFill/>
        </p:spPr>
        <p:txBody>
          <a:bodyPr wrap="square" lIns="18288" tIns="18288" rIns="18288" bIns="18288" anchor="ctr" rtlCol="0">
            <a:noAutofit/>
          </a:bodyPr>
          <a:lstStyle/>
          <a:p>
            <a:pPr algn="ctr">
              <a:lnSpc>
                <a:spcPts val="2375"/>
              </a:lnSpc>
              <a:spcBef>
                <a:spcPts val="0"/>
              </a:spcBef>
              <a:spcAft>
                <a:spcPts val="0"/>
              </a:spcAft>
              <a:buNone/>
            </a:pPr>
            <a:r>
              <a:rPr lang="en-US" altLang="en-US" sz="1900" b="1" dirty="0">
                <a:solidFill>
                  <a:srgbClr val="9AA3B5"/>
                </a:solidFill>
                <a:latin typeface="Calibri"/>
                <a:ea typeface="맑은 고딕"/>
                <a:cs typeface="Calibri"/>
              </a:rPr>
              <a:t>T   /   F</a:t>
            </a:r>
            <a:endParaRPr lang="ko-KR" sz="1900"/>
          </a:p>
        </p:txBody>
      </p:sp>
      <p:sp>
        <p:nvSpPr>
          <p:cNvPr id="28" name="rv_ans_5"/>
          <p:cNvSpPr/>
          <p:nvPr/>
        </p:nvSpPr>
        <p:spPr>
          <a:xfrm>
            <a:off x="9765792" y="5173472"/>
            <a:ext cx="1828800" cy="374777"/>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640"/>
              </a:lnSpc>
              <a:spcBef>
                <a:spcPts val="0"/>
              </a:spcBef>
              <a:spcAft>
                <a:spcPts val="0"/>
              </a:spcAft>
              <a:buNone/>
            </a:pPr>
            <a:r>
              <a:rPr lang="en-US" altLang="en-US" sz="2200" b="1" dirty="0">
                <a:solidFill>
                  <a:srgbClr val="C00000"/>
                </a:solidFill>
                <a:latin typeface="Calibri"/>
                <a:ea typeface="맑은 고딕"/>
                <a:cs typeface="Calibri"/>
              </a:rPr>
              <a:t>T</a:t>
            </a:r>
            <a:endParaRPr lang="ko-KR" sz="22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25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250"/>
                                        <p:tgtEl>
                                          <p:spTgt spid="1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0"/>
                                        </p:tgtEl>
                                        <p:attrNameLst>
                                          <p:attrName>style.visibility</p:attrName>
                                        </p:attrNameLst>
                                      </p:cBhvr>
                                      <p:to>
                                        <p:strVal val="visible"/>
                                      </p:to>
                                    </p:set>
                                    <p:animEffect transition="in" filter="fade">
                                      <p:cBhvr>
                                        <p:cTn id="13" dur="250"/>
                                        <p:tgtEl>
                                          <p:spTgt spid="20"/>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4"/>
                                        </p:tgtEl>
                                        <p:attrNameLst>
                                          <p:attrName>style.visibility</p:attrName>
                                        </p:attrNameLst>
                                      </p:cBhvr>
                                      <p:to>
                                        <p:strVal val="visible"/>
                                      </p:to>
                                    </p:set>
                                    <p:animEffect transition="in" filter="fade">
                                      <p:cBhvr>
                                        <p:cTn id="16" dur="250"/>
                                        <p:tgtEl>
                                          <p:spTgt spid="24"/>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8"/>
                                        </p:tgtEl>
                                        <p:attrNameLst>
                                          <p:attrName>style.visibility</p:attrName>
                                        </p:attrNameLst>
                                      </p:cBhvr>
                                      <p:to>
                                        <p:strVal val="visible"/>
                                      </p:to>
                                    </p:set>
                                    <p:animEffect transition="in" filter="fade">
                                      <p:cBhvr>
                                        <p:cTn id="19" dur="25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6" grpId="0" animBg="1"/>
      <p:bldP spid="20" grpId="0" animBg="1"/>
      <p:bldP spid="24" grpId="0" animBg="1"/>
      <p:bldP spid="28" grpId="0" animBg="1"/>
    </p:bldLst>
  </p:timing>
</p:sld>
</file>

<file path=ppt/slides/slide1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8000"/>
            </a:avLst>
          </a:prstGeom>
          <a:solidFill>
            <a:srgbClr val="1E2A5A"/>
          </a:solidFill>
          <a:ln>
            <a:noFill/>
          </a:ln>
        </p:spPr>
        <p:txBody>
          <a:bodyPr wrap="square" lIns="45720" tIns="18288" rIns="45720" bIns="18288" anchor="ctr" rtlCol="0">
            <a:noAutofit/>
          </a:bodyPr>
          <a:lstStyle/>
          <a:p>
            <a:pPr algn="ctr">
              <a:lnSpc>
                <a:spcPts val="2000"/>
              </a:lnSpc>
              <a:spcBef>
                <a:spcPts val="0"/>
              </a:spcBef>
              <a:spcAft>
                <a:spcPts val="0"/>
              </a:spcAft>
              <a:buNone/>
            </a:pPr>
            <a:r>
              <a:rPr lang="en-US" altLang="en-US" sz="1700" b="1" dirty="0">
                <a:solidFill>
                  <a:srgbClr val="FFFFFF"/>
                </a:solidFill>
                <a:latin typeface="Calibri"/>
                <a:ea typeface="맑은 고딕"/>
                <a:cs typeface="Calibri"/>
              </a:rPr>
              <a:t>L6-1</a:t>
            </a:r>
            <a:endParaRPr lang="ko-KR" sz="1700"/>
          </a:p>
        </p:txBody>
      </p:sp>
      <p:sp>
        <p:nvSpPr>
          <p:cNvPr id="3" name="hdr_chip"/>
          <p:cNvSpPr/>
          <p:nvPr/>
        </p:nvSpPr>
        <p:spPr>
          <a:xfrm>
            <a:off x="1755648" y="274320"/>
            <a:ext cx="1371600" cy="493776"/>
          </a:xfrm>
          <a:prstGeom prst="roundRect">
            <a:avLst>
              <a:gd name="adj" fmla="val 8000"/>
            </a:avLst>
          </a:prstGeom>
          <a:solidFill>
            <a:srgbClr val="E6EAF4"/>
          </a:solidFill>
          <a:ln>
            <a:noFill/>
          </a:ln>
        </p:spPr>
        <p:txBody>
          <a:bodyPr wrap="square" lIns="27432" tIns="18288" rIns="27432" bIns="18288" anchor="ctr" rtlCol="0">
            <a:noAutofit/>
          </a:bodyPr>
          <a:lstStyle/>
          <a:p>
            <a:pPr algn="ctr">
              <a:lnSpc>
                <a:spcPts val="1700"/>
              </a:lnSpc>
              <a:spcBef>
                <a:spcPts val="0"/>
              </a:spcBef>
              <a:spcAft>
                <a:spcPts val="0"/>
              </a:spcAft>
              <a:buNone/>
            </a:pPr>
            <a:r>
              <a:rPr lang="ko-KR" altLang="en-US" sz="1400" b="1" dirty="0">
                <a:solidFill>
                  <a:srgbClr val="1E2A5A"/>
                </a:solidFill>
                <a:latin typeface="맑은 고딕"/>
                <a:ea typeface="맑은 고딕"/>
                <a:cs typeface="맑은 고딕"/>
              </a:rPr>
              <a:t>PART 4 · 2</a:t>
            </a:r>
            <a:endParaRPr lang="ko-KR" sz="1400"/>
          </a:p>
        </p:txBody>
      </p:sp>
      <p:sp>
        <p:nvSpPr>
          <p:cNvPr id="4" name="hdr_q"/>
          <p:cNvSpPr txBox="1"/>
          <p:nvPr/>
        </p:nvSpPr>
        <p:spPr>
          <a:xfrm>
            <a:off x="3246120" y="246888"/>
            <a:ext cx="8485632" cy="548640"/>
          </a:xfrm>
          <a:prstGeom prst="rect">
            <a:avLst/>
          </a:prstGeom>
          <a:noFill/>
        </p:spPr>
        <p:txBody>
          <a:bodyPr wrap="square" lIns="109728" tIns="54864" rIns="109728" bIns="54864" anchor="ctr" rtlCol="0">
            <a:noAutofit/>
          </a:bodyPr>
          <a:lstStyle/>
          <a:p>
            <a:pPr algn="l">
              <a:lnSpc>
                <a:spcPts val="2400"/>
              </a:lnSpc>
              <a:spcBef>
                <a:spcPts val="0"/>
              </a:spcBef>
              <a:spcAft>
                <a:spcPts val="0"/>
              </a:spcAft>
              <a:buNone/>
            </a:pPr>
            <a:r>
              <a:rPr lang="ko-KR" altLang="en-US" sz="2000" b="1" dirty="0">
                <a:solidFill>
                  <a:srgbClr val="1F2328"/>
                </a:solidFill>
                <a:latin typeface="맑은 고딕"/>
                <a:ea typeface="맑은 고딕"/>
                <a:cs typeface="맑은 고딕"/>
              </a:rPr>
              <a:t>본문과 일치하면 T, 일치하지 않으면 F를 고르시오.</a:t>
            </a:r>
            <a:endParaRPr lang="ko-KR" sz="2000"/>
          </a:p>
        </p:txBody>
      </p:sp>
      <p:sp>
        <p:nvSpPr>
          <p:cNvPr id="5" name="ftr_exam"/>
          <p:cNvSpPr txBox="1"/>
          <p:nvPr/>
        </p:nvSpPr>
        <p:spPr>
          <a:xfrm>
            <a:off x="457200" y="6519672"/>
            <a:ext cx="5669280" cy="256032"/>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6</a:t>
            </a:r>
            <a:endParaRPr lang="ko-KR" sz="1000"/>
          </a:p>
        </p:txBody>
      </p:sp>
      <p:sp>
        <p:nvSpPr>
          <p:cNvPr id="6" name="ftr_hint"/>
          <p:cNvSpPr txBox="1"/>
          <p:nvPr/>
        </p:nvSpPr>
        <p:spPr>
          <a:xfrm>
            <a:off x="5971032" y="6519672"/>
            <a:ext cx="5760720" cy="256032"/>
          </a:xfrm>
          <a:prstGeom prst="rect">
            <a:avLst/>
          </a:prstGeom>
          <a:noFill/>
        </p:spPr>
        <p:txBody>
          <a:bodyPr wrap="square" lIns="0" tIns="0" rIns="0" bIns="0" anchor="t" rtlCol="0">
            <a:noAutofit/>
          </a:bodyPr>
          <a:lstStyle/>
          <a:p>
            <a:pPr algn="r">
              <a:lnSpc>
                <a:spcPts val="1200"/>
              </a:lnSpc>
              <a:spcBef>
                <a:spcPts val="0"/>
              </a:spcBef>
              <a:spcAft>
                <a:spcPts val="0"/>
              </a:spcAft>
              <a:buNone/>
            </a:pPr>
            <a:r>
              <a:rPr lang="ko-KR" altLang="en-US" sz="1000" b="0" dirty="0">
                <a:solidFill>
                  <a:srgbClr val="7A808C"/>
                </a:solidFill>
                <a:latin typeface="맑은 고딕"/>
                <a:ea typeface="맑은 고딕"/>
                <a:cs typeface="맑은 고딕"/>
              </a:rPr>
              <a:t>클릭 ① 정답(T/F) 공개</a:t>
            </a:r>
            <a:endParaRPr lang="ko-KR" sz="1000"/>
          </a:p>
        </p:txBody>
      </p:sp>
      <p:sp>
        <p:nvSpPr>
          <p:cNvPr id="7" name="passage_card"/>
          <p:cNvSpPr/>
          <p:nvPr/>
        </p:nvSpPr>
        <p:spPr>
          <a:xfrm>
            <a:off x="457200" y="950976"/>
            <a:ext cx="11274552" cy="1854708"/>
          </a:xfrm>
          <a:prstGeom prst="roundRect">
            <a:avLst>
              <a:gd name="adj" fmla="val 4000"/>
            </a:avLst>
          </a:prstGeom>
          <a:solidFill>
            <a:srgbClr val="F3F5F9"/>
          </a:solidFill>
          <a:ln w="12700">
            <a:solidFill>
              <a:srgbClr val="D9DFEA"/>
            </a:solidFill>
          </a:ln>
        </p:spPr>
        <p:txBody>
          <a:bodyPr rtlCol="0" anchor="ctr"/>
          <a:lstStyle/>
          <a:p>
            <a:pPr algn="ctr"/>
          </a:p>
        </p:txBody>
      </p:sp>
      <p:sp>
        <p:nvSpPr>
          <p:cNvPr id="8" name="passage"/>
          <p:cNvSpPr txBox="1"/>
          <p:nvPr/>
        </p:nvSpPr>
        <p:spPr>
          <a:xfrm>
            <a:off x="457200" y="950976"/>
            <a:ext cx="11274552" cy="1854708"/>
          </a:xfrm>
          <a:prstGeom prst="rect">
            <a:avLst/>
          </a:prstGeom>
          <a:noFill/>
        </p:spPr>
        <p:txBody>
          <a:bodyPr wrap="square" lIns="182880" tIns="137160" rIns="182880" bIns="137160" anchor="t" rtlCol="0">
            <a:noAutofit/>
          </a:bodyPr>
          <a:lstStyle/>
          <a:p>
            <a:pPr algn="l">
              <a:lnSpc>
                <a:spcPts val="2074"/>
              </a:lnSpc>
              <a:spcBef>
                <a:spcPts val="0"/>
              </a:spcBef>
              <a:spcAft>
                <a:spcPts val="0"/>
              </a:spcAft>
              <a:buNone/>
            </a:pPr>
            <a:r>
              <a:rPr lang="ko-KR" altLang="en-US" sz="1700" b="1" dirty="0">
                <a:solidFill>
                  <a:srgbClr val="1E2A5A"/>
                </a:solidFill>
                <a:latin typeface="맑은 고딕"/>
                <a:ea typeface="맑은 고딕"/>
                <a:cs typeface="맑은 고딕"/>
              </a:rPr>
              <a:t>① </a:t>
            </a:r>
            <a:r>
              <a:rPr lang="en-US" altLang="en-US" sz="1700" b="0" dirty="0">
                <a:solidFill>
                  <a:srgbClr val="1F2328"/>
                </a:solidFill>
                <a:latin typeface="Calibri"/>
                <a:ea typeface="맑은 고딕"/>
                <a:cs typeface="Calibri"/>
              </a:rPr>
              <a:t>Cyril Boggis was an antique furniture dealer in London. </a:t>
            </a:r>
            <a:r>
              <a:rPr lang="ko-KR" altLang="en-US" sz="1700" b="1" dirty="0">
                <a:solidFill>
                  <a:srgbClr val="1E2A5A"/>
                </a:solidFill>
                <a:latin typeface="맑은 고딕"/>
                <a:ea typeface="맑은 고딕"/>
                <a:cs typeface="맑은 고딕"/>
              </a:rPr>
              <a:t>② </a:t>
            </a:r>
            <a:r>
              <a:rPr lang="en-US" altLang="en-US" sz="1700" b="0" dirty="0">
                <a:solidFill>
                  <a:srgbClr val="1F2328"/>
                </a:solidFill>
                <a:latin typeface="Calibri"/>
                <a:ea typeface="맑은 고딕"/>
                <a:cs typeface="Calibri"/>
              </a:rPr>
              <a:t>He was known for buying good things at a low price and then selling them at a high price. </a:t>
            </a:r>
            <a:r>
              <a:rPr lang="ko-KR" altLang="en-US" sz="1700" b="1" dirty="0">
                <a:solidFill>
                  <a:srgbClr val="1E2A5A"/>
                </a:solidFill>
                <a:latin typeface="맑은 고딕"/>
                <a:ea typeface="맑은 고딕"/>
                <a:cs typeface="맑은 고딕"/>
              </a:rPr>
              <a:t>③ </a:t>
            </a:r>
            <a:r>
              <a:rPr lang="en-US" altLang="en-US" sz="1700" b="0" dirty="0">
                <a:solidFill>
                  <a:srgbClr val="1F2328"/>
                </a:solidFill>
                <a:latin typeface="Calibri"/>
                <a:ea typeface="맑은 고딕"/>
                <a:cs typeface="Calibri"/>
              </a:rPr>
              <a:t>People asked him where he had got the furniture, but he just said, "It’s a secret." </a:t>
            </a:r>
            <a:r>
              <a:rPr lang="ko-KR" altLang="en-US" sz="1700" b="1" dirty="0">
                <a:solidFill>
                  <a:srgbClr val="1E2A5A"/>
                </a:solidFill>
                <a:latin typeface="맑은 고딕"/>
                <a:ea typeface="맑은 고딕"/>
                <a:cs typeface="맑은 고딕"/>
              </a:rPr>
              <a:t>④ </a:t>
            </a:r>
            <a:r>
              <a:rPr lang="en-US" altLang="en-US" sz="1700" b="0" dirty="0">
                <a:solidFill>
                  <a:srgbClr val="1F2328"/>
                </a:solidFill>
                <a:latin typeface="Calibri"/>
                <a:ea typeface="맑은 고딕"/>
                <a:cs typeface="Calibri"/>
              </a:rPr>
              <a:t>Mr. Boggis’ secret was simple. He went to small towns every Sunday and knocked on doors. </a:t>
            </a:r>
            <a:r>
              <a:rPr lang="ko-KR" altLang="en-US" sz="1700" b="1" dirty="0">
                <a:solidFill>
                  <a:srgbClr val="1E2A5A"/>
                </a:solidFill>
                <a:latin typeface="맑은 고딕"/>
                <a:ea typeface="맑은 고딕"/>
                <a:cs typeface="맑은 고딕"/>
              </a:rPr>
              <a:t>⑤ </a:t>
            </a:r>
            <a:r>
              <a:rPr lang="en-US" altLang="en-US" sz="1700" b="0" dirty="0">
                <a:solidFill>
                  <a:srgbClr val="1F2328"/>
                </a:solidFill>
                <a:latin typeface="Calibri"/>
                <a:ea typeface="맑은 고딕"/>
                <a:cs typeface="Calibri"/>
              </a:rPr>
              <a:t>He told people that he was a furniture dealer. </a:t>
            </a:r>
            <a:r>
              <a:rPr lang="ko-KR" altLang="en-US" sz="1700" b="1" dirty="0">
                <a:solidFill>
                  <a:srgbClr val="1E2A5A"/>
                </a:solidFill>
                <a:latin typeface="맑은 고딕"/>
                <a:ea typeface="맑은 고딕"/>
                <a:cs typeface="맑은 고딕"/>
              </a:rPr>
              <a:t>⑥ </a:t>
            </a:r>
            <a:r>
              <a:rPr lang="en-US" altLang="en-US" sz="1700" b="0" dirty="0">
                <a:solidFill>
                  <a:srgbClr val="1F2328"/>
                </a:solidFill>
                <a:latin typeface="Calibri"/>
                <a:ea typeface="맑은 고딕"/>
                <a:cs typeface="Calibri"/>
              </a:rPr>
              <a:t>People didn’t know how valuable their things were, so Mr. Boggis took advantage of them. </a:t>
            </a:r>
            <a:r>
              <a:rPr lang="ko-KR" altLang="en-US" sz="1700" b="1" dirty="0">
                <a:solidFill>
                  <a:srgbClr val="1E2A5A"/>
                </a:solidFill>
                <a:latin typeface="맑은 고딕"/>
                <a:ea typeface="맑은 고딕"/>
                <a:cs typeface="맑은 고딕"/>
              </a:rPr>
              <a:t>⑦ </a:t>
            </a:r>
            <a:r>
              <a:rPr lang="en-US" altLang="en-US" sz="1700" b="0" dirty="0">
                <a:solidFill>
                  <a:srgbClr val="1F2328"/>
                </a:solidFill>
                <a:latin typeface="Calibri"/>
                <a:ea typeface="맑은 고딕"/>
                <a:cs typeface="Calibri"/>
              </a:rPr>
              <a:t>He was able to buy things very cheaply. </a:t>
            </a:r>
            <a:endParaRPr lang="ko-KR" sz="1700"/>
          </a:p>
        </p:txBody>
      </p:sp>
      <p:sp>
        <p:nvSpPr>
          <p:cNvPr id="9" name="q_card_1"/>
          <p:cNvSpPr/>
          <p:nvPr/>
        </p:nvSpPr>
        <p:spPr>
          <a:xfrm>
            <a:off x="457200" y="2970276"/>
            <a:ext cx="11274552" cy="466217"/>
          </a:xfrm>
          <a:prstGeom prst="roundRect">
            <a:avLst>
              <a:gd name="adj" fmla="val 12000"/>
            </a:avLst>
          </a:prstGeom>
          <a:noFill/>
          <a:ln w="12700">
            <a:solidFill>
              <a:srgbClr val="D5DAE5"/>
            </a:solidFill>
          </a:ln>
        </p:spPr>
        <p:txBody>
          <a:bodyPr rtlCol="0" anchor="ctr"/>
          <a:lstStyle/>
          <a:p>
            <a:pPr algn="ctr"/>
          </a:p>
        </p:txBody>
      </p:sp>
      <p:sp>
        <p:nvSpPr>
          <p:cNvPr id="10" name="q_1"/>
          <p:cNvSpPr txBox="1"/>
          <p:nvPr/>
        </p:nvSpPr>
        <p:spPr>
          <a:xfrm>
            <a:off x="502920" y="2970276"/>
            <a:ext cx="9171432" cy="466217"/>
          </a:xfrm>
          <a:prstGeom prst="rect">
            <a:avLst/>
          </a:prstGeom>
          <a:noFill/>
        </p:spPr>
        <p:txBody>
          <a:bodyPr wrap="square" lIns="109728" tIns="45720" rIns="109728" bIns="45720" anchor="ctr" rtlCol="0">
            <a:noAutofit/>
          </a:bodyPr>
          <a:lstStyle/>
          <a:p>
            <a:pPr algn="l">
              <a:lnSpc>
                <a:spcPts val="2375"/>
              </a:lnSpc>
              <a:spcBef>
                <a:spcPts val="0"/>
              </a:spcBef>
              <a:spcAft>
                <a:spcPts val="0"/>
              </a:spcAft>
              <a:buNone/>
            </a:pPr>
            <a:r>
              <a:rPr lang="en-US" altLang="en-US" sz="1900" b="1" dirty="0">
                <a:solidFill>
                  <a:srgbClr val="1E2A5A"/>
                </a:solidFill>
                <a:latin typeface="Calibri"/>
                <a:ea typeface="맑은 고딕"/>
                <a:cs typeface="Calibri"/>
              </a:rPr>
              <a:t>6.  </a:t>
            </a:r>
            <a:r>
              <a:rPr lang="ko-KR" altLang="en-US" sz="1900" b="0" dirty="0">
                <a:solidFill>
                  <a:srgbClr val="1F2328"/>
                </a:solidFill>
                <a:latin typeface="맑은 고딕"/>
                <a:ea typeface="맑은 고딕"/>
                <a:cs typeface="맑은 고딕"/>
              </a:rPr>
              <a:t>Boggis는 매주 토요일에 큰 도시들을 방문했다.</a:t>
            </a:r>
            <a:endParaRPr lang="ko-KR" sz="1900"/>
          </a:p>
        </p:txBody>
      </p:sp>
      <p:sp>
        <p:nvSpPr>
          <p:cNvPr id="11" name="tf_1"/>
          <p:cNvSpPr txBox="1"/>
          <p:nvPr/>
        </p:nvSpPr>
        <p:spPr>
          <a:xfrm>
            <a:off x="9765792" y="2970276"/>
            <a:ext cx="1828800" cy="466217"/>
          </a:xfrm>
          <a:prstGeom prst="rect">
            <a:avLst/>
          </a:prstGeom>
          <a:noFill/>
        </p:spPr>
        <p:txBody>
          <a:bodyPr wrap="square" lIns="18288" tIns="18288" rIns="18288" bIns="18288" anchor="ctr" rtlCol="0">
            <a:noAutofit/>
          </a:bodyPr>
          <a:lstStyle/>
          <a:p>
            <a:pPr algn="ctr">
              <a:lnSpc>
                <a:spcPts val="2375"/>
              </a:lnSpc>
              <a:spcBef>
                <a:spcPts val="0"/>
              </a:spcBef>
              <a:spcAft>
                <a:spcPts val="0"/>
              </a:spcAft>
              <a:buNone/>
            </a:pPr>
            <a:r>
              <a:rPr lang="en-US" altLang="en-US" sz="1900" b="1" dirty="0">
                <a:solidFill>
                  <a:srgbClr val="9AA3B5"/>
                </a:solidFill>
                <a:latin typeface="Calibri"/>
                <a:ea typeface="맑은 고딕"/>
                <a:cs typeface="Calibri"/>
              </a:rPr>
              <a:t>T   /   F</a:t>
            </a:r>
            <a:endParaRPr lang="ko-KR" sz="1900"/>
          </a:p>
        </p:txBody>
      </p:sp>
      <p:sp>
        <p:nvSpPr>
          <p:cNvPr id="12" name="rv_ans_1"/>
          <p:cNvSpPr/>
          <p:nvPr/>
        </p:nvSpPr>
        <p:spPr>
          <a:xfrm>
            <a:off x="9765792" y="3015996"/>
            <a:ext cx="1828800" cy="374777"/>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640"/>
              </a:lnSpc>
              <a:spcBef>
                <a:spcPts val="0"/>
              </a:spcBef>
              <a:spcAft>
                <a:spcPts val="0"/>
              </a:spcAft>
              <a:buNone/>
            </a:pPr>
            <a:r>
              <a:rPr lang="en-US" altLang="en-US" sz="2200" b="1" dirty="0">
                <a:solidFill>
                  <a:srgbClr val="C00000"/>
                </a:solidFill>
                <a:latin typeface="Calibri"/>
                <a:ea typeface="맑은 고딕"/>
                <a:cs typeface="Calibri"/>
              </a:rPr>
              <a:t>F</a:t>
            </a:r>
            <a:endParaRPr lang="ko-KR" sz="2200"/>
          </a:p>
        </p:txBody>
      </p:sp>
      <p:sp>
        <p:nvSpPr>
          <p:cNvPr id="13" name="q_card_2"/>
          <p:cNvSpPr/>
          <p:nvPr/>
        </p:nvSpPr>
        <p:spPr>
          <a:xfrm>
            <a:off x="457200" y="3509645"/>
            <a:ext cx="11274552" cy="466217"/>
          </a:xfrm>
          <a:prstGeom prst="roundRect">
            <a:avLst>
              <a:gd name="adj" fmla="val 12000"/>
            </a:avLst>
          </a:prstGeom>
          <a:noFill/>
          <a:ln w="12700">
            <a:solidFill>
              <a:srgbClr val="D5DAE5"/>
            </a:solidFill>
          </a:ln>
        </p:spPr>
        <p:txBody>
          <a:bodyPr rtlCol="0" anchor="ctr"/>
          <a:lstStyle/>
          <a:p>
            <a:pPr algn="ctr"/>
          </a:p>
        </p:txBody>
      </p:sp>
      <p:sp>
        <p:nvSpPr>
          <p:cNvPr id="14" name="q_2"/>
          <p:cNvSpPr txBox="1"/>
          <p:nvPr/>
        </p:nvSpPr>
        <p:spPr>
          <a:xfrm>
            <a:off x="502920" y="3509645"/>
            <a:ext cx="9171432" cy="466217"/>
          </a:xfrm>
          <a:prstGeom prst="rect">
            <a:avLst/>
          </a:prstGeom>
          <a:noFill/>
        </p:spPr>
        <p:txBody>
          <a:bodyPr wrap="square" lIns="109728" tIns="45720" rIns="109728" bIns="45720" anchor="ctr" rtlCol="0">
            <a:noAutofit/>
          </a:bodyPr>
          <a:lstStyle/>
          <a:p>
            <a:pPr algn="l">
              <a:lnSpc>
                <a:spcPts val="2375"/>
              </a:lnSpc>
              <a:spcBef>
                <a:spcPts val="0"/>
              </a:spcBef>
              <a:spcAft>
                <a:spcPts val="0"/>
              </a:spcAft>
              <a:buNone/>
            </a:pPr>
            <a:r>
              <a:rPr lang="en-US" altLang="en-US" sz="1900" b="1" dirty="0">
                <a:solidFill>
                  <a:srgbClr val="1E2A5A"/>
                </a:solidFill>
                <a:latin typeface="Calibri"/>
                <a:ea typeface="맑은 고딕"/>
                <a:cs typeface="Calibri"/>
              </a:rPr>
              <a:t>7.  </a:t>
            </a:r>
            <a:r>
              <a:rPr lang="ko-KR" altLang="en-US" sz="1900" b="0" dirty="0">
                <a:solidFill>
                  <a:srgbClr val="1F2328"/>
                </a:solidFill>
                <a:latin typeface="맑은 고딕"/>
                <a:ea typeface="맑은 고딕"/>
                <a:cs typeface="맑은 고딕"/>
              </a:rPr>
              <a:t>Boggis는 작은 마을에서 집집마다 문을 두드렸다.</a:t>
            </a:r>
            <a:endParaRPr lang="ko-KR" sz="1900"/>
          </a:p>
        </p:txBody>
      </p:sp>
      <p:sp>
        <p:nvSpPr>
          <p:cNvPr id="15" name="tf_2"/>
          <p:cNvSpPr txBox="1"/>
          <p:nvPr/>
        </p:nvSpPr>
        <p:spPr>
          <a:xfrm>
            <a:off x="9765792" y="3509645"/>
            <a:ext cx="1828800" cy="466217"/>
          </a:xfrm>
          <a:prstGeom prst="rect">
            <a:avLst/>
          </a:prstGeom>
          <a:noFill/>
        </p:spPr>
        <p:txBody>
          <a:bodyPr wrap="square" lIns="18288" tIns="18288" rIns="18288" bIns="18288" anchor="ctr" rtlCol="0">
            <a:noAutofit/>
          </a:bodyPr>
          <a:lstStyle/>
          <a:p>
            <a:pPr algn="ctr">
              <a:lnSpc>
                <a:spcPts val="2375"/>
              </a:lnSpc>
              <a:spcBef>
                <a:spcPts val="0"/>
              </a:spcBef>
              <a:spcAft>
                <a:spcPts val="0"/>
              </a:spcAft>
              <a:buNone/>
            </a:pPr>
            <a:r>
              <a:rPr lang="en-US" altLang="en-US" sz="1900" b="1" dirty="0">
                <a:solidFill>
                  <a:srgbClr val="9AA3B5"/>
                </a:solidFill>
                <a:latin typeface="Calibri"/>
                <a:ea typeface="맑은 고딕"/>
                <a:cs typeface="Calibri"/>
              </a:rPr>
              <a:t>T   /   F</a:t>
            </a:r>
            <a:endParaRPr lang="ko-KR" sz="1900"/>
          </a:p>
        </p:txBody>
      </p:sp>
      <p:sp>
        <p:nvSpPr>
          <p:cNvPr id="16" name="rv_ans_2"/>
          <p:cNvSpPr/>
          <p:nvPr/>
        </p:nvSpPr>
        <p:spPr>
          <a:xfrm>
            <a:off x="9765792" y="3555365"/>
            <a:ext cx="1828800" cy="374777"/>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640"/>
              </a:lnSpc>
              <a:spcBef>
                <a:spcPts val="0"/>
              </a:spcBef>
              <a:spcAft>
                <a:spcPts val="0"/>
              </a:spcAft>
              <a:buNone/>
            </a:pPr>
            <a:r>
              <a:rPr lang="en-US" altLang="en-US" sz="2200" b="1" dirty="0">
                <a:solidFill>
                  <a:srgbClr val="C00000"/>
                </a:solidFill>
                <a:latin typeface="Calibri"/>
                <a:ea typeface="맑은 고딕"/>
                <a:cs typeface="Calibri"/>
              </a:rPr>
              <a:t>T</a:t>
            </a:r>
            <a:endParaRPr lang="ko-KR" sz="2200"/>
          </a:p>
        </p:txBody>
      </p:sp>
      <p:sp>
        <p:nvSpPr>
          <p:cNvPr id="17" name="q_card_3"/>
          <p:cNvSpPr/>
          <p:nvPr/>
        </p:nvSpPr>
        <p:spPr>
          <a:xfrm>
            <a:off x="457200" y="4049014"/>
            <a:ext cx="11274552" cy="466217"/>
          </a:xfrm>
          <a:prstGeom prst="roundRect">
            <a:avLst>
              <a:gd name="adj" fmla="val 12000"/>
            </a:avLst>
          </a:prstGeom>
          <a:noFill/>
          <a:ln w="12700">
            <a:solidFill>
              <a:srgbClr val="D5DAE5"/>
            </a:solidFill>
          </a:ln>
        </p:spPr>
        <p:txBody>
          <a:bodyPr rtlCol="0" anchor="ctr"/>
          <a:lstStyle/>
          <a:p>
            <a:pPr algn="ctr"/>
          </a:p>
        </p:txBody>
      </p:sp>
      <p:sp>
        <p:nvSpPr>
          <p:cNvPr id="18" name="q_3"/>
          <p:cNvSpPr txBox="1"/>
          <p:nvPr/>
        </p:nvSpPr>
        <p:spPr>
          <a:xfrm>
            <a:off x="502920" y="4049014"/>
            <a:ext cx="9171432" cy="466217"/>
          </a:xfrm>
          <a:prstGeom prst="rect">
            <a:avLst/>
          </a:prstGeom>
          <a:noFill/>
        </p:spPr>
        <p:txBody>
          <a:bodyPr wrap="square" lIns="109728" tIns="45720" rIns="109728" bIns="45720" anchor="ctr" rtlCol="0">
            <a:noAutofit/>
          </a:bodyPr>
          <a:lstStyle/>
          <a:p>
            <a:pPr algn="l">
              <a:lnSpc>
                <a:spcPts val="2375"/>
              </a:lnSpc>
              <a:spcBef>
                <a:spcPts val="0"/>
              </a:spcBef>
              <a:spcAft>
                <a:spcPts val="0"/>
              </a:spcAft>
              <a:buNone/>
            </a:pPr>
            <a:r>
              <a:rPr lang="en-US" altLang="en-US" sz="1900" b="1" dirty="0">
                <a:solidFill>
                  <a:srgbClr val="1E2A5A"/>
                </a:solidFill>
                <a:latin typeface="Calibri"/>
                <a:ea typeface="맑은 고딕"/>
                <a:cs typeface="Calibri"/>
              </a:rPr>
              <a:t>8.  </a:t>
            </a:r>
            <a:r>
              <a:rPr lang="ko-KR" altLang="en-US" sz="1900" b="0" dirty="0">
                <a:solidFill>
                  <a:srgbClr val="1F2328"/>
                </a:solidFill>
                <a:latin typeface="맑은 고딕"/>
                <a:ea typeface="맑은 고딕"/>
                <a:cs typeface="맑은 고딕"/>
              </a:rPr>
              <a:t>Boggis는 사람들에게 자신이 가구 판매상이라는 사실을 숨겼다.</a:t>
            </a:r>
            <a:endParaRPr lang="ko-KR" sz="1900"/>
          </a:p>
        </p:txBody>
      </p:sp>
      <p:sp>
        <p:nvSpPr>
          <p:cNvPr id="19" name="tf_3"/>
          <p:cNvSpPr txBox="1"/>
          <p:nvPr/>
        </p:nvSpPr>
        <p:spPr>
          <a:xfrm>
            <a:off x="9765792" y="4049014"/>
            <a:ext cx="1828800" cy="466217"/>
          </a:xfrm>
          <a:prstGeom prst="rect">
            <a:avLst/>
          </a:prstGeom>
          <a:noFill/>
        </p:spPr>
        <p:txBody>
          <a:bodyPr wrap="square" lIns="18288" tIns="18288" rIns="18288" bIns="18288" anchor="ctr" rtlCol="0">
            <a:noAutofit/>
          </a:bodyPr>
          <a:lstStyle/>
          <a:p>
            <a:pPr algn="ctr">
              <a:lnSpc>
                <a:spcPts val="2375"/>
              </a:lnSpc>
              <a:spcBef>
                <a:spcPts val="0"/>
              </a:spcBef>
              <a:spcAft>
                <a:spcPts val="0"/>
              </a:spcAft>
              <a:buNone/>
            </a:pPr>
            <a:r>
              <a:rPr lang="en-US" altLang="en-US" sz="1900" b="1" dirty="0">
                <a:solidFill>
                  <a:srgbClr val="9AA3B5"/>
                </a:solidFill>
                <a:latin typeface="Calibri"/>
                <a:ea typeface="맑은 고딕"/>
                <a:cs typeface="Calibri"/>
              </a:rPr>
              <a:t>T   /   F</a:t>
            </a:r>
            <a:endParaRPr lang="ko-KR" sz="1900"/>
          </a:p>
        </p:txBody>
      </p:sp>
      <p:sp>
        <p:nvSpPr>
          <p:cNvPr id="20" name="rv_ans_3"/>
          <p:cNvSpPr/>
          <p:nvPr/>
        </p:nvSpPr>
        <p:spPr>
          <a:xfrm>
            <a:off x="9765792" y="4094734"/>
            <a:ext cx="1828800" cy="374777"/>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640"/>
              </a:lnSpc>
              <a:spcBef>
                <a:spcPts val="0"/>
              </a:spcBef>
              <a:spcAft>
                <a:spcPts val="0"/>
              </a:spcAft>
              <a:buNone/>
            </a:pPr>
            <a:r>
              <a:rPr lang="en-US" altLang="en-US" sz="2200" b="1" dirty="0">
                <a:solidFill>
                  <a:srgbClr val="C00000"/>
                </a:solidFill>
                <a:latin typeface="Calibri"/>
                <a:ea typeface="맑은 고딕"/>
                <a:cs typeface="Calibri"/>
              </a:rPr>
              <a:t>F</a:t>
            </a:r>
            <a:endParaRPr lang="ko-KR" sz="2200"/>
          </a:p>
        </p:txBody>
      </p:sp>
      <p:sp>
        <p:nvSpPr>
          <p:cNvPr id="21" name="q_card_4"/>
          <p:cNvSpPr/>
          <p:nvPr/>
        </p:nvSpPr>
        <p:spPr>
          <a:xfrm>
            <a:off x="457200" y="4588383"/>
            <a:ext cx="11274552" cy="466217"/>
          </a:xfrm>
          <a:prstGeom prst="roundRect">
            <a:avLst>
              <a:gd name="adj" fmla="val 12000"/>
            </a:avLst>
          </a:prstGeom>
          <a:noFill/>
          <a:ln w="12700">
            <a:solidFill>
              <a:srgbClr val="D5DAE5"/>
            </a:solidFill>
          </a:ln>
        </p:spPr>
        <p:txBody>
          <a:bodyPr rtlCol="0" anchor="ctr"/>
          <a:lstStyle/>
          <a:p>
            <a:pPr algn="ctr"/>
          </a:p>
        </p:txBody>
      </p:sp>
      <p:sp>
        <p:nvSpPr>
          <p:cNvPr id="22" name="q_4"/>
          <p:cNvSpPr txBox="1"/>
          <p:nvPr/>
        </p:nvSpPr>
        <p:spPr>
          <a:xfrm>
            <a:off x="502920" y="4588383"/>
            <a:ext cx="9171432" cy="466217"/>
          </a:xfrm>
          <a:prstGeom prst="rect">
            <a:avLst/>
          </a:prstGeom>
          <a:noFill/>
        </p:spPr>
        <p:txBody>
          <a:bodyPr wrap="square" lIns="109728" tIns="45720" rIns="109728" bIns="45720" anchor="ctr" rtlCol="0">
            <a:noAutofit/>
          </a:bodyPr>
          <a:lstStyle/>
          <a:p>
            <a:pPr algn="l">
              <a:lnSpc>
                <a:spcPts val="2375"/>
              </a:lnSpc>
              <a:spcBef>
                <a:spcPts val="0"/>
              </a:spcBef>
              <a:spcAft>
                <a:spcPts val="0"/>
              </a:spcAft>
              <a:buNone/>
            </a:pPr>
            <a:r>
              <a:rPr lang="en-US" altLang="en-US" sz="1900" b="1" dirty="0">
                <a:solidFill>
                  <a:srgbClr val="1E2A5A"/>
                </a:solidFill>
                <a:latin typeface="Calibri"/>
                <a:ea typeface="맑은 고딕"/>
                <a:cs typeface="Calibri"/>
              </a:rPr>
              <a:t>9.  </a:t>
            </a:r>
            <a:r>
              <a:rPr lang="ko-KR" altLang="en-US" sz="1900" b="0" dirty="0">
                <a:solidFill>
                  <a:srgbClr val="1F2328"/>
                </a:solidFill>
                <a:latin typeface="맑은 고딕"/>
                <a:ea typeface="맑은 고딕"/>
                <a:cs typeface="맑은 고딕"/>
              </a:rPr>
              <a:t>사람들은 자신의 물건이 얼마나 값진지 몰랐다.</a:t>
            </a:r>
            <a:endParaRPr lang="ko-KR" sz="1900"/>
          </a:p>
        </p:txBody>
      </p:sp>
      <p:sp>
        <p:nvSpPr>
          <p:cNvPr id="23" name="tf_4"/>
          <p:cNvSpPr txBox="1"/>
          <p:nvPr/>
        </p:nvSpPr>
        <p:spPr>
          <a:xfrm>
            <a:off x="9765792" y="4588383"/>
            <a:ext cx="1828800" cy="466217"/>
          </a:xfrm>
          <a:prstGeom prst="rect">
            <a:avLst/>
          </a:prstGeom>
          <a:noFill/>
        </p:spPr>
        <p:txBody>
          <a:bodyPr wrap="square" lIns="18288" tIns="18288" rIns="18288" bIns="18288" anchor="ctr" rtlCol="0">
            <a:noAutofit/>
          </a:bodyPr>
          <a:lstStyle/>
          <a:p>
            <a:pPr algn="ctr">
              <a:lnSpc>
                <a:spcPts val="2375"/>
              </a:lnSpc>
              <a:spcBef>
                <a:spcPts val="0"/>
              </a:spcBef>
              <a:spcAft>
                <a:spcPts val="0"/>
              </a:spcAft>
              <a:buNone/>
            </a:pPr>
            <a:r>
              <a:rPr lang="en-US" altLang="en-US" sz="1900" b="1" dirty="0">
                <a:solidFill>
                  <a:srgbClr val="9AA3B5"/>
                </a:solidFill>
                <a:latin typeface="Calibri"/>
                <a:ea typeface="맑은 고딕"/>
                <a:cs typeface="Calibri"/>
              </a:rPr>
              <a:t>T   /   F</a:t>
            </a:r>
            <a:endParaRPr lang="ko-KR" sz="1900"/>
          </a:p>
        </p:txBody>
      </p:sp>
      <p:sp>
        <p:nvSpPr>
          <p:cNvPr id="24" name="rv_ans_4"/>
          <p:cNvSpPr/>
          <p:nvPr/>
        </p:nvSpPr>
        <p:spPr>
          <a:xfrm>
            <a:off x="9765792" y="4634103"/>
            <a:ext cx="1828800" cy="374777"/>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640"/>
              </a:lnSpc>
              <a:spcBef>
                <a:spcPts val="0"/>
              </a:spcBef>
              <a:spcAft>
                <a:spcPts val="0"/>
              </a:spcAft>
              <a:buNone/>
            </a:pPr>
            <a:r>
              <a:rPr lang="en-US" altLang="en-US" sz="2200" b="1" dirty="0">
                <a:solidFill>
                  <a:srgbClr val="C00000"/>
                </a:solidFill>
                <a:latin typeface="Calibri"/>
                <a:ea typeface="맑은 고딕"/>
                <a:cs typeface="Calibri"/>
              </a:rPr>
              <a:t>T</a:t>
            </a:r>
            <a:endParaRPr lang="ko-KR" sz="2200"/>
          </a:p>
        </p:txBody>
      </p:sp>
      <p:sp>
        <p:nvSpPr>
          <p:cNvPr id="25" name="q_card_5"/>
          <p:cNvSpPr/>
          <p:nvPr/>
        </p:nvSpPr>
        <p:spPr>
          <a:xfrm>
            <a:off x="457200" y="5127752"/>
            <a:ext cx="11274552" cy="466217"/>
          </a:xfrm>
          <a:prstGeom prst="roundRect">
            <a:avLst>
              <a:gd name="adj" fmla="val 12000"/>
            </a:avLst>
          </a:prstGeom>
          <a:noFill/>
          <a:ln w="12700">
            <a:solidFill>
              <a:srgbClr val="D5DAE5"/>
            </a:solidFill>
          </a:ln>
        </p:spPr>
        <p:txBody>
          <a:bodyPr rtlCol="0" anchor="ctr"/>
          <a:lstStyle/>
          <a:p>
            <a:pPr algn="ctr"/>
          </a:p>
        </p:txBody>
      </p:sp>
      <p:sp>
        <p:nvSpPr>
          <p:cNvPr id="26" name="q_5"/>
          <p:cNvSpPr txBox="1"/>
          <p:nvPr/>
        </p:nvSpPr>
        <p:spPr>
          <a:xfrm>
            <a:off x="502920" y="5127752"/>
            <a:ext cx="9171432" cy="466217"/>
          </a:xfrm>
          <a:prstGeom prst="rect">
            <a:avLst/>
          </a:prstGeom>
          <a:noFill/>
        </p:spPr>
        <p:txBody>
          <a:bodyPr wrap="square" lIns="109728" tIns="45720" rIns="109728" bIns="45720" anchor="ctr" rtlCol="0">
            <a:noAutofit/>
          </a:bodyPr>
          <a:lstStyle/>
          <a:p>
            <a:pPr algn="l">
              <a:lnSpc>
                <a:spcPts val="2375"/>
              </a:lnSpc>
              <a:spcBef>
                <a:spcPts val="0"/>
              </a:spcBef>
              <a:spcAft>
                <a:spcPts val="0"/>
              </a:spcAft>
              <a:buNone/>
            </a:pPr>
            <a:r>
              <a:rPr lang="en-US" altLang="en-US" sz="1900" b="1" dirty="0">
                <a:solidFill>
                  <a:srgbClr val="1E2A5A"/>
                </a:solidFill>
                <a:latin typeface="Calibri"/>
                <a:ea typeface="맑은 고딕"/>
                <a:cs typeface="Calibri"/>
              </a:rPr>
              <a:t>10.  </a:t>
            </a:r>
            <a:r>
              <a:rPr lang="ko-KR" altLang="en-US" sz="1900" b="0" dirty="0">
                <a:solidFill>
                  <a:srgbClr val="1F2328"/>
                </a:solidFill>
                <a:latin typeface="맑은 고딕"/>
                <a:ea typeface="맑은 고딕"/>
                <a:cs typeface="맑은 고딕"/>
              </a:rPr>
              <a:t>Boggis는 물건들을 매우 싸게 살 수 있었다.</a:t>
            </a:r>
            <a:endParaRPr lang="ko-KR" sz="1900"/>
          </a:p>
        </p:txBody>
      </p:sp>
      <p:sp>
        <p:nvSpPr>
          <p:cNvPr id="27" name="tf_5"/>
          <p:cNvSpPr txBox="1"/>
          <p:nvPr/>
        </p:nvSpPr>
        <p:spPr>
          <a:xfrm>
            <a:off x="9765792" y="5127752"/>
            <a:ext cx="1828800" cy="466217"/>
          </a:xfrm>
          <a:prstGeom prst="rect">
            <a:avLst/>
          </a:prstGeom>
          <a:noFill/>
        </p:spPr>
        <p:txBody>
          <a:bodyPr wrap="square" lIns="18288" tIns="18288" rIns="18288" bIns="18288" anchor="ctr" rtlCol="0">
            <a:noAutofit/>
          </a:bodyPr>
          <a:lstStyle/>
          <a:p>
            <a:pPr algn="ctr">
              <a:lnSpc>
                <a:spcPts val="2375"/>
              </a:lnSpc>
              <a:spcBef>
                <a:spcPts val="0"/>
              </a:spcBef>
              <a:spcAft>
                <a:spcPts val="0"/>
              </a:spcAft>
              <a:buNone/>
            </a:pPr>
            <a:r>
              <a:rPr lang="en-US" altLang="en-US" sz="1900" b="1" dirty="0">
                <a:solidFill>
                  <a:srgbClr val="9AA3B5"/>
                </a:solidFill>
                <a:latin typeface="Calibri"/>
                <a:ea typeface="맑은 고딕"/>
                <a:cs typeface="Calibri"/>
              </a:rPr>
              <a:t>T   /   F</a:t>
            </a:r>
            <a:endParaRPr lang="ko-KR" sz="1900"/>
          </a:p>
        </p:txBody>
      </p:sp>
      <p:sp>
        <p:nvSpPr>
          <p:cNvPr id="28" name="rv_ans_5"/>
          <p:cNvSpPr/>
          <p:nvPr/>
        </p:nvSpPr>
        <p:spPr>
          <a:xfrm>
            <a:off x="9765792" y="5173472"/>
            <a:ext cx="1828800" cy="374777"/>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640"/>
              </a:lnSpc>
              <a:spcBef>
                <a:spcPts val="0"/>
              </a:spcBef>
              <a:spcAft>
                <a:spcPts val="0"/>
              </a:spcAft>
              <a:buNone/>
            </a:pPr>
            <a:r>
              <a:rPr lang="en-US" altLang="en-US" sz="2200" b="1" dirty="0">
                <a:solidFill>
                  <a:srgbClr val="C00000"/>
                </a:solidFill>
                <a:latin typeface="Calibri"/>
                <a:ea typeface="맑은 고딕"/>
                <a:cs typeface="Calibri"/>
              </a:rPr>
              <a:t>T</a:t>
            </a:r>
            <a:endParaRPr lang="ko-KR" sz="22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25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250"/>
                                        <p:tgtEl>
                                          <p:spTgt spid="1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0"/>
                                        </p:tgtEl>
                                        <p:attrNameLst>
                                          <p:attrName>style.visibility</p:attrName>
                                        </p:attrNameLst>
                                      </p:cBhvr>
                                      <p:to>
                                        <p:strVal val="visible"/>
                                      </p:to>
                                    </p:set>
                                    <p:animEffect transition="in" filter="fade">
                                      <p:cBhvr>
                                        <p:cTn id="13" dur="250"/>
                                        <p:tgtEl>
                                          <p:spTgt spid="20"/>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4"/>
                                        </p:tgtEl>
                                        <p:attrNameLst>
                                          <p:attrName>style.visibility</p:attrName>
                                        </p:attrNameLst>
                                      </p:cBhvr>
                                      <p:to>
                                        <p:strVal val="visible"/>
                                      </p:to>
                                    </p:set>
                                    <p:animEffect transition="in" filter="fade">
                                      <p:cBhvr>
                                        <p:cTn id="16" dur="250"/>
                                        <p:tgtEl>
                                          <p:spTgt spid="24"/>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8"/>
                                        </p:tgtEl>
                                        <p:attrNameLst>
                                          <p:attrName>style.visibility</p:attrName>
                                        </p:attrNameLst>
                                      </p:cBhvr>
                                      <p:to>
                                        <p:strVal val="visible"/>
                                      </p:to>
                                    </p:set>
                                    <p:animEffect transition="in" filter="fade">
                                      <p:cBhvr>
                                        <p:cTn id="19" dur="25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6" grpId="0" animBg="1"/>
      <p:bldP spid="20" grpId="0" animBg="1"/>
      <p:bldP spid="24" grpId="0" animBg="1"/>
      <p:bldP spid="28" grpId="0" animBg="1"/>
    </p:bldLst>
  </p:timing>
</p:sld>
</file>

<file path=ppt/slides/slide1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8000"/>
            </a:avLst>
          </a:prstGeom>
          <a:solidFill>
            <a:srgbClr val="1E2A5A"/>
          </a:solidFill>
          <a:ln>
            <a:noFill/>
          </a:ln>
        </p:spPr>
        <p:txBody>
          <a:bodyPr wrap="square" lIns="45720" tIns="18288" rIns="45720" bIns="18288" anchor="ctr" rtlCol="0">
            <a:noAutofit/>
          </a:bodyPr>
          <a:lstStyle/>
          <a:p>
            <a:pPr algn="ctr">
              <a:lnSpc>
                <a:spcPts val="2000"/>
              </a:lnSpc>
              <a:spcBef>
                <a:spcPts val="0"/>
              </a:spcBef>
              <a:spcAft>
                <a:spcPts val="0"/>
              </a:spcAft>
              <a:buNone/>
            </a:pPr>
            <a:r>
              <a:rPr lang="en-US" altLang="en-US" sz="1700" b="1" dirty="0">
                <a:solidFill>
                  <a:srgbClr val="FFFFFF"/>
                </a:solidFill>
                <a:latin typeface="Calibri"/>
                <a:ea typeface="맑은 고딕"/>
                <a:cs typeface="Calibri"/>
              </a:rPr>
              <a:t>L6-2</a:t>
            </a:r>
            <a:endParaRPr lang="ko-KR" sz="1700"/>
          </a:p>
        </p:txBody>
      </p:sp>
      <p:sp>
        <p:nvSpPr>
          <p:cNvPr id="3" name="hdr_chip"/>
          <p:cNvSpPr/>
          <p:nvPr/>
        </p:nvSpPr>
        <p:spPr>
          <a:xfrm>
            <a:off x="1755648" y="274320"/>
            <a:ext cx="1371600" cy="493776"/>
          </a:xfrm>
          <a:prstGeom prst="roundRect">
            <a:avLst>
              <a:gd name="adj" fmla="val 8000"/>
            </a:avLst>
          </a:prstGeom>
          <a:solidFill>
            <a:srgbClr val="E6EAF4"/>
          </a:solidFill>
          <a:ln>
            <a:noFill/>
          </a:ln>
        </p:spPr>
        <p:txBody>
          <a:bodyPr wrap="square" lIns="27432" tIns="18288" rIns="27432" bIns="18288" anchor="ctr" rtlCol="0">
            <a:noAutofit/>
          </a:bodyPr>
          <a:lstStyle/>
          <a:p>
            <a:pPr algn="ctr">
              <a:lnSpc>
                <a:spcPts val="1700"/>
              </a:lnSpc>
              <a:spcBef>
                <a:spcPts val="0"/>
              </a:spcBef>
              <a:spcAft>
                <a:spcPts val="0"/>
              </a:spcAft>
              <a:buNone/>
            </a:pPr>
            <a:r>
              <a:rPr lang="ko-KR" altLang="en-US" sz="1400" b="1" dirty="0">
                <a:solidFill>
                  <a:srgbClr val="1E2A5A"/>
                </a:solidFill>
                <a:latin typeface="맑은 고딕"/>
                <a:ea typeface="맑은 고딕"/>
                <a:cs typeface="맑은 고딕"/>
              </a:rPr>
              <a:t>PART 4 · 3</a:t>
            </a:r>
            <a:endParaRPr lang="ko-KR" sz="1400"/>
          </a:p>
        </p:txBody>
      </p:sp>
      <p:sp>
        <p:nvSpPr>
          <p:cNvPr id="4" name="hdr_q"/>
          <p:cNvSpPr txBox="1"/>
          <p:nvPr/>
        </p:nvSpPr>
        <p:spPr>
          <a:xfrm>
            <a:off x="3246120" y="246888"/>
            <a:ext cx="8485632" cy="548640"/>
          </a:xfrm>
          <a:prstGeom prst="rect">
            <a:avLst/>
          </a:prstGeom>
          <a:noFill/>
        </p:spPr>
        <p:txBody>
          <a:bodyPr wrap="square" lIns="109728" tIns="54864" rIns="109728" bIns="54864" anchor="ctr" rtlCol="0">
            <a:noAutofit/>
          </a:bodyPr>
          <a:lstStyle/>
          <a:p>
            <a:pPr algn="l">
              <a:lnSpc>
                <a:spcPts val="2400"/>
              </a:lnSpc>
              <a:spcBef>
                <a:spcPts val="0"/>
              </a:spcBef>
              <a:spcAft>
                <a:spcPts val="0"/>
              </a:spcAft>
              <a:buNone/>
            </a:pPr>
            <a:r>
              <a:rPr lang="ko-KR" altLang="en-US" sz="2000" b="1" dirty="0">
                <a:solidFill>
                  <a:srgbClr val="1F2328"/>
                </a:solidFill>
                <a:latin typeface="맑은 고딕"/>
                <a:ea typeface="맑은 고딕"/>
                <a:cs typeface="맑은 고딕"/>
              </a:rPr>
              <a:t>본문과 일치하면 T, 일치하지 않으면 F를 고르시오.</a:t>
            </a:r>
            <a:endParaRPr lang="ko-KR" sz="2000"/>
          </a:p>
        </p:txBody>
      </p:sp>
      <p:sp>
        <p:nvSpPr>
          <p:cNvPr id="5" name="ftr_exam"/>
          <p:cNvSpPr txBox="1"/>
          <p:nvPr/>
        </p:nvSpPr>
        <p:spPr>
          <a:xfrm>
            <a:off x="457200" y="6519672"/>
            <a:ext cx="5669280" cy="256032"/>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6</a:t>
            </a:r>
            <a:endParaRPr lang="ko-KR" sz="1000"/>
          </a:p>
        </p:txBody>
      </p:sp>
      <p:sp>
        <p:nvSpPr>
          <p:cNvPr id="6" name="ftr_hint"/>
          <p:cNvSpPr txBox="1"/>
          <p:nvPr/>
        </p:nvSpPr>
        <p:spPr>
          <a:xfrm>
            <a:off x="5971032" y="6519672"/>
            <a:ext cx="5760720" cy="256032"/>
          </a:xfrm>
          <a:prstGeom prst="rect">
            <a:avLst/>
          </a:prstGeom>
          <a:noFill/>
        </p:spPr>
        <p:txBody>
          <a:bodyPr wrap="square" lIns="0" tIns="0" rIns="0" bIns="0" anchor="t" rtlCol="0">
            <a:noAutofit/>
          </a:bodyPr>
          <a:lstStyle/>
          <a:p>
            <a:pPr algn="r">
              <a:lnSpc>
                <a:spcPts val="1200"/>
              </a:lnSpc>
              <a:spcBef>
                <a:spcPts val="0"/>
              </a:spcBef>
              <a:spcAft>
                <a:spcPts val="0"/>
              </a:spcAft>
              <a:buNone/>
            </a:pPr>
            <a:r>
              <a:rPr lang="ko-KR" altLang="en-US" sz="1000" b="0" dirty="0">
                <a:solidFill>
                  <a:srgbClr val="7A808C"/>
                </a:solidFill>
                <a:latin typeface="맑은 고딕"/>
                <a:ea typeface="맑은 고딕"/>
                <a:cs typeface="맑은 고딕"/>
              </a:rPr>
              <a:t>클릭 ① 정답(T/F) 공개</a:t>
            </a:r>
            <a:endParaRPr lang="ko-KR" sz="1000"/>
          </a:p>
        </p:txBody>
      </p:sp>
      <p:sp>
        <p:nvSpPr>
          <p:cNvPr id="7" name="passage_card"/>
          <p:cNvSpPr/>
          <p:nvPr/>
        </p:nvSpPr>
        <p:spPr>
          <a:xfrm>
            <a:off x="457200" y="950976"/>
            <a:ext cx="11274552" cy="2257551"/>
          </a:xfrm>
          <a:prstGeom prst="roundRect">
            <a:avLst>
              <a:gd name="adj" fmla="val 4000"/>
            </a:avLst>
          </a:prstGeom>
          <a:solidFill>
            <a:srgbClr val="F3F5F9"/>
          </a:solidFill>
          <a:ln w="12700">
            <a:solidFill>
              <a:srgbClr val="D9DFEA"/>
            </a:solidFill>
          </a:ln>
        </p:spPr>
        <p:txBody>
          <a:bodyPr rtlCol="0" anchor="ctr"/>
          <a:lstStyle/>
          <a:p>
            <a:pPr algn="ctr"/>
          </a:p>
        </p:txBody>
      </p:sp>
      <p:sp>
        <p:nvSpPr>
          <p:cNvPr id="8" name="passage"/>
          <p:cNvSpPr txBox="1"/>
          <p:nvPr/>
        </p:nvSpPr>
        <p:spPr>
          <a:xfrm>
            <a:off x="457200" y="950976"/>
            <a:ext cx="11274552" cy="2257551"/>
          </a:xfrm>
          <a:prstGeom prst="rect">
            <a:avLst/>
          </a:prstGeom>
          <a:noFill/>
        </p:spPr>
        <p:txBody>
          <a:bodyPr wrap="square" lIns="182880" tIns="137160" rIns="182880" bIns="137160" anchor="t" rtlCol="0">
            <a:noAutofit/>
          </a:bodyPr>
          <a:lstStyle/>
          <a:p>
            <a:pPr algn="l">
              <a:lnSpc>
                <a:spcPts val="1952"/>
              </a:lnSpc>
              <a:spcBef>
                <a:spcPts val="0"/>
              </a:spcBef>
              <a:spcAft>
                <a:spcPts val="0"/>
              </a:spcAft>
              <a:buNone/>
            </a:pPr>
            <a:r>
              <a:rPr lang="ko-KR" altLang="en-US" sz="1600" b="1" dirty="0">
                <a:solidFill>
                  <a:srgbClr val="1E2A5A"/>
                </a:solidFill>
                <a:latin typeface="맑은 고딕"/>
                <a:ea typeface="맑은 고딕"/>
                <a:cs typeface="맑은 고딕"/>
              </a:rPr>
              <a:t>⑧ </a:t>
            </a:r>
            <a:r>
              <a:rPr lang="en-US" altLang="en-US" sz="1600" b="0" dirty="0">
                <a:solidFill>
                  <a:srgbClr val="1F2328"/>
                </a:solidFill>
                <a:latin typeface="Calibri"/>
                <a:ea typeface="맑은 고딕"/>
                <a:cs typeface="Calibri"/>
              </a:rPr>
              <a:t>Now it was another Sunday, and Mr. Boggis was in a small town again. </a:t>
            </a:r>
            <a:r>
              <a:rPr lang="ko-KR" altLang="en-US" sz="1600" b="1" dirty="0">
                <a:solidFill>
                  <a:srgbClr val="1E2A5A"/>
                </a:solidFill>
                <a:latin typeface="맑은 고딕"/>
                <a:ea typeface="맑은 고딕"/>
                <a:cs typeface="맑은 고딕"/>
              </a:rPr>
              <a:t>⑨ </a:t>
            </a:r>
            <a:r>
              <a:rPr lang="en-US" altLang="en-US" sz="1600" b="0" dirty="0">
                <a:solidFill>
                  <a:srgbClr val="1F2328"/>
                </a:solidFill>
                <a:latin typeface="Calibri"/>
                <a:ea typeface="맑은 고딕"/>
                <a:cs typeface="Calibri"/>
              </a:rPr>
              <a:t>At a house he visited, he met two men. One was Rummins, the owner, and the other was his son Bert. </a:t>
            </a:r>
            <a:r>
              <a:rPr lang="ko-KR" altLang="en-US" sz="1600" b="1" dirty="0">
                <a:solidFill>
                  <a:srgbClr val="1E2A5A"/>
                </a:solidFill>
                <a:latin typeface="맑은 고딕"/>
                <a:ea typeface="맑은 고딕"/>
                <a:cs typeface="맑은 고딕"/>
              </a:rPr>
              <a:t>⑩ </a:t>
            </a:r>
            <a:r>
              <a:rPr lang="en-US" altLang="en-US" sz="1600" b="0" dirty="0">
                <a:solidFill>
                  <a:srgbClr val="1F2328"/>
                </a:solidFill>
                <a:latin typeface="Calibri"/>
                <a:ea typeface="맑은 고딕"/>
                <a:cs typeface="Calibri"/>
              </a:rPr>
              <a:t>"I buy old furniture. Do you have any?" asked Mr. Boggis. </a:t>
            </a:r>
            <a:r>
              <a:rPr lang="ko-KR" altLang="en-US" sz="1600" b="1" dirty="0">
                <a:solidFill>
                  <a:srgbClr val="1E2A5A"/>
                </a:solidFill>
                <a:latin typeface="맑은 고딕"/>
                <a:ea typeface="맑은 고딕"/>
                <a:cs typeface="맑은 고딕"/>
              </a:rPr>
              <a:t>⑪ </a:t>
            </a:r>
            <a:r>
              <a:rPr lang="en-US" altLang="en-US" sz="1600" b="0" dirty="0">
                <a:solidFill>
                  <a:srgbClr val="1F2328"/>
                </a:solidFill>
                <a:latin typeface="Calibri"/>
                <a:ea typeface="맑은 고딕"/>
                <a:cs typeface="Calibri"/>
              </a:rPr>
              <a:t>"No, I don’t," said Rummins. "Can I just take a look?" asked Mr. Boggis. </a:t>
            </a:r>
            <a:r>
              <a:rPr lang="ko-KR" altLang="en-US" sz="1600" b="1" dirty="0">
                <a:solidFill>
                  <a:srgbClr val="1E2A5A"/>
                </a:solidFill>
                <a:latin typeface="맑은 고딕"/>
                <a:ea typeface="맑은 고딕"/>
                <a:cs typeface="맑은 고딕"/>
              </a:rPr>
              <a:t>⑫ </a:t>
            </a:r>
            <a:r>
              <a:rPr lang="en-US" altLang="en-US" sz="1600" b="0" dirty="0">
                <a:solidFill>
                  <a:srgbClr val="1F2328"/>
                </a:solidFill>
                <a:latin typeface="Calibri"/>
                <a:ea typeface="맑은 고딕"/>
                <a:cs typeface="Calibri"/>
              </a:rPr>
              <a:t>"Sure. Please come in," said Rummins. </a:t>
            </a:r>
            <a:r>
              <a:rPr lang="ko-KR" altLang="en-US" sz="1600" b="1" dirty="0">
                <a:solidFill>
                  <a:srgbClr val="1E2A5A"/>
                </a:solidFill>
                <a:latin typeface="맑은 고딕"/>
                <a:ea typeface="맑은 고딕"/>
                <a:cs typeface="맑은 고딕"/>
              </a:rPr>
              <a:t>⑬ </a:t>
            </a:r>
            <a:r>
              <a:rPr lang="en-US" altLang="en-US" sz="1600" b="0" dirty="0">
                <a:solidFill>
                  <a:srgbClr val="1F2328"/>
                </a:solidFill>
                <a:latin typeface="Calibri"/>
                <a:ea typeface="맑은 고딕"/>
                <a:cs typeface="Calibri"/>
              </a:rPr>
              <a:t>Mr. Boggis first went to the kitchen, and there was nothing. </a:t>
            </a:r>
            <a:r>
              <a:rPr lang="ko-KR" altLang="en-US" sz="1600" b="1" dirty="0">
                <a:solidFill>
                  <a:srgbClr val="1E2A5A"/>
                </a:solidFill>
                <a:latin typeface="맑은 고딕"/>
                <a:ea typeface="맑은 고딕"/>
                <a:cs typeface="맑은 고딕"/>
              </a:rPr>
              <a:t>⑭ </a:t>
            </a:r>
            <a:r>
              <a:rPr lang="en-US" altLang="en-US" sz="1600" b="0" dirty="0">
                <a:solidFill>
                  <a:srgbClr val="1F2328"/>
                </a:solidFill>
                <a:latin typeface="Calibri"/>
                <a:ea typeface="맑은 고딕"/>
                <a:cs typeface="Calibri"/>
              </a:rPr>
              <a:t>He then moved to the living room. And there it was! </a:t>
            </a:r>
            <a:r>
              <a:rPr lang="ko-KR" altLang="en-US" sz="1600" b="1" dirty="0">
                <a:solidFill>
                  <a:srgbClr val="1E2A5A"/>
                </a:solidFill>
                <a:latin typeface="맑은 고딕"/>
                <a:ea typeface="맑은 고딕"/>
                <a:cs typeface="맑은 고딕"/>
              </a:rPr>
              <a:t>⑮ </a:t>
            </a:r>
            <a:r>
              <a:rPr lang="en-US" altLang="en-US" sz="1600" b="0" dirty="0">
                <a:solidFill>
                  <a:srgbClr val="1F2328"/>
                </a:solidFill>
                <a:latin typeface="Calibri"/>
                <a:ea typeface="맑은 고딕"/>
                <a:cs typeface="Calibri"/>
              </a:rPr>
              <a:t>A table which was a priceless piece of eighteenth‑century English furniture. </a:t>
            </a:r>
            <a:r>
              <a:rPr lang="ko-KR" altLang="en-US" sz="1600" b="1" dirty="0">
                <a:solidFill>
                  <a:srgbClr val="1E2A5A"/>
                </a:solidFill>
                <a:latin typeface="맑은 고딕"/>
                <a:ea typeface="맑은 고딕"/>
                <a:cs typeface="맑은 고딕"/>
              </a:rPr>
              <a:t>⑯ </a:t>
            </a:r>
            <a:r>
              <a:rPr lang="en-US" altLang="en-US" sz="1600" b="0" dirty="0">
                <a:solidFill>
                  <a:srgbClr val="1F2328"/>
                </a:solidFill>
                <a:latin typeface="Calibri"/>
                <a:ea typeface="맑은 고딕"/>
                <a:cs typeface="Calibri"/>
              </a:rPr>
              <a:t>He was so excited that he almost fell over. </a:t>
            </a:r>
            <a:r>
              <a:rPr lang="ko-KR" altLang="en-US" sz="1600" b="1" dirty="0">
                <a:solidFill>
                  <a:srgbClr val="1E2A5A"/>
                </a:solidFill>
                <a:latin typeface="맑은 고딕"/>
                <a:ea typeface="맑은 고딕"/>
                <a:cs typeface="맑은 고딕"/>
              </a:rPr>
              <a:t>⑰ </a:t>
            </a:r>
            <a:r>
              <a:rPr lang="en-US" altLang="en-US" sz="1600" b="0" dirty="0">
                <a:solidFill>
                  <a:srgbClr val="1F2328"/>
                </a:solidFill>
                <a:latin typeface="Calibri"/>
                <a:ea typeface="맑은 고딕"/>
                <a:cs typeface="Calibri"/>
              </a:rPr>
              <a:t>"What’s wrong?" Bert asked. "Oh, nothing. Nothing at all," Mr. Boggis lied. </a:t>
            </a:r>
            <a:r>
              <a:rPr lang="ko-KR" altLang="en-US" sz="1600" b="1" dirty="0">
                <a:solidFill>
                  <a:srgbClr val="1E2A5A"/>
                </a:solidFill>
                <a:latin typeface="맑은 고딕"/>
                <a:ea typeface="맑은 고딕"/>
                <a:cs typeface="맑은 고딕"/>
              </a:rPr>
              <a:t>⑱ </a:t>
            </a:r>
            <a:r>
              <a:rPr lang="en-US" altLang="en-US" sz="1600" b="0" dirty="0">
                <a:solidFill>
                  <a:srgbClr val="1F2328"/>
                </a:solidFill>
                <a:latin typeface="Calibri"/>
                <a:ea typeface="맑은 고딕"/>
                <a:cs typeface="Calibri"/>
              </a:rPr>
              <a:t>He then said with a straight face, "This table is a reproduction. It’s worth only a few pounds." </a:t>
            </a:r>
            <a:endParaRPr lang="ko-KR" sz="1600"/>
          </a:p>
        </p:txBody>
      </p:sp>
      <p:sp>
        <p:nvSpPr>
          <p:cNvPr id="9" name="q_card_1"/>
          <p:cNvSpPr/>
          <p:nvPr/>
        </p:nvSpPr>
        <p:spPr>
          <a:xfrm>
            <a:off x="457200" y="3373120"/>
            <a:ext cx="11274552" cy="466217"/>
          </a:xfrm>
          <a:prstGeom prst="roundRect">
            <a:avLst>
              <a:gd name="adj" fmla="val 12000"/>
            </a:avLst>
          </a:prstGeom>
          <a:noFill/>
          <a:ln w="12700">
            <a:solidFill>
              <a:srgbClr val="D5DAE5"/>
            </a:solidFill>
          </a:ln>
        </p:spPr>
        <p:txBody>
          <a:bodyPr rtlCol="0" anchor="ctr"/>
          <a:lstStyle/>
          <a:p>
            <a:pPr algn="ctr"/>
          </a:p>
        </p:txBody>
      </p:sp>
      <p:sp>
        <p:nvSpPr>
          <p:cNvPr id="10" name="q_1"/>
          <p:cNvSpPr txBox="1"/>
          <p:nvPr/>
        </p:nvSpPr>
        <p:spPr>
          <a:xfrm>
            <a:off x="502920" y="3373120"/>
            <a:ext cx="9171432" cy="466217"/>
          </a:xfrm>
          <a:prstGeom prst="rect">
            <a:avLst/>
          </a:prstGeom>
          <a:noFill/>
        </p:spPr>
        <p:txBody>
          <a:bodyPr wrap="square" lIns="109728" tIns="45720" rIns="109728" bIns="45720" anchor="ctr" rtlCol="0">
            <a:noAutofit/>
          </a:bodyPr>
          <a:lstStyle/>
          <a:p>
            <a:pPr algn="l">
              <a:lnSpc>
                <a:spcPts val="2375"/>
              </a:lnSpc>
              <a:spcBef>
                <a:spcPts val="0"/>
              </a:spcBef>
              <a:spcAft>
                <a:spcPts val="0"/>
              </a:spcAft>
              <a:buNone/>
            </a:pPr>
            <a:r>
              <a:rPr lang="en-US" altLang="en-US" sz="1900" b="1" dirty="0">
                <a:solidFill>
                  <a:srgbClr val="1E2A5A"/>
                </a:solidFill>
                <a:latin typeface="Calibri"/>
                <a:ea typeface="맑은 고딕"/>
                <a:cs typeface="Calibri"/>
              </a:rPr>
              <a:t>11.  </a:t>
            </a:r>
            <a:r>
              <a:rPr lang="ko-KR" altLang="en-US" sz="1900" b="0" dirty="0">
                <a:solidFill>
                  <a:srgbClr val="1F2328"/>
                </a:solidFill>
                <a:latin typeface="맑은 고딕"/>
                <a:ea typeface="맑은 고딕"/>
                <a:cs typeface="맑은 고딕"/>
              </a:rPr>
              <a:t>Boggis는 또 다른 일요일에 다시 작은 마을에 있었다.</a:t>
            </a:r>
            <a:endParaRPr lang="ko-KR" sz="1900"/>
          </a:p>
        </p:txBody>
      </p:sp>
      <p:sp>
        <p:nvSpPr>
          <p:cNvPr id="11" name="tf_1"/>
          <p:cNvSpPr txBox="1"/>
          <p:nvPr/>
        </p:nvSpPr>
        <p:spPr>
          <a:xfrm>
            <a:off x="9765792" y="3373120"/>
            <a:ext cx="1828800" cy="466217"/>
          </a:xfrm>
          <a:prstGeom prst="rect">
            <a:avLst/>
          </a:prstGeom>
          <a:noFill/>
        </p:spPr>
        <p:txBody>
          <a:bodyPr wrap="square" lIns="18288" tIns="18288" rIns="18288" bIns="18288" anchor="ctr" rtlCol="0">
            <a:noAutofit/>
          </a:bodyPr>
          <a:lstStyle/>
          <a:p>
            <a:pPr algn="ctr">
              <a:lnSpc>
                <a:spcPts val="2375"/>
              </a:lnSpc>
              <a:spcBef>
                <a:spcPts val="0"/>
              </a:spcBef>
              <a:spcAft>
                <a:spcPts val="0"/>
              </a:spcAft>
              <a:buNone/>
            </a:pPr>
            <a:r>
              <a:rPr lang="en-US" altLang="en-US" sz="1900" b="1" dirty="0">
                <a:solidFill>
                  <a:srgbClr val="9AA3B5"/>
                </a:solidFill>
                <a:latin typeface="Calibri"/>
                <a:ea typeface="맑은 고딕"/>
                <a:cs typeface="Calibri"/>
              </a:rPr>
              <a:t>T   /   F</a:t>
            </a:r>
            <a:endParaRPr lang="ko-KR" sz="1900"/>
          </a:p>
        </p:txBody>
      </p:sp>
      <p:sp>
        <p:nvSpPr>
          <p:cNvPr id="12" name="rv_ans_1"/>
          <p:cNvSpPr/>
          <p:nvPr/>
        </p:nvSpPr>
        <p:spPr>
          <a:xfrm>
            <a:off x="9765792" y="3418839"/>
            <a:ext cx="1828800" cy="374777"/>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640"/>
              </a:lnSpc>
              <a:spcBef>
                <a:spcPts val="0"/>
              </a:spcBef>
              <a:spcAft>
                <a:spcPts val="0"/>
              </a:spcAft>
              <a:buNone/>
            </a:pPr>
            <a:r>
              <a:rPr lang="en-US" altLang="en-US" sz="2200" b="1" dirty="0">
                <a:solidFill>
                  <a:srgbClr val="C00000"/>
                </a:solidFill>
                <a:latin typeface="Calibri"/>
                <a:ea typeface="맑은 고딕"/>
                <a:cs typeface="Calibri"/>
              </a:rPr>
              <a:t>T</a:t>
            </a:r>
            <a:endParaRPr lang="ko-KR" sz="2200"/>
          </a:p>
        </p:txBody>
      </p:sp>
      <p:sp>
        <p:nvSpPr>
          <p:cNvPr id="13" name="q_card_2"/>
          <p:cNvSpPr/>
          <p:nvPr/>
        </p:nvSpPr>
        <p:spPr>
          <a:xfrm>
            <a:off x="457200" y="3912488"/>
            <a:ext cx="11274552" cy="767842"/>
          </a:xfrm>
          <a:prstGeom prst="roundRect">
            <a:avLst>
              <a:gd name="adj" fmla="val 12000"/>
            </a:avLst>
          </a:prstGeom>
          <a:noFill/>
          <a:ln w="12700">
            <a:solidFill>
              <a:srgbClr val="D5DAE5"/>
            </a:solidFill>
          </a:ln>
        </p:spPr>
        <p:txBody>
          <a:bodyPr rtlCol="0" anchor="ctr"/>
          <a:lstStyle/>
          <a:p>
            <a:pPr algn="ctr"/>
          </a:p>
        </p:txBody>
      </p:sp>
      <p:sp>
        <p:nvSpPr>
          <p:cNvPr id="14" name="q_2"/>
          <p:cNvSpPr txBox="1"/>
          <p:nvPr/>
        </p:nvSpPr>
        <p:spPr>
          <a:xfrm>
            <a:off x="502920" y="3912488"/>
            <a:ext cx="9171432" cy="767842"/>
          </a:xfrm>
          <a:prstGeom prst="rect">
            <a:avLst/>
          </a:prstGeom>
          <a:noFill/>
        </p:spPr>
        <p:txBody>
          <a:bodyPr wrap="square" lIns="109728" tIns="45720" rIns="109728" bIns="45720" anchor="ctr" rtlCol="0">
            <a:noAutofit/>
          </a:bodyPr>
          <a:lstStyle/>
          <a:p>
            <a:pPr algn="l">
              <a:lnSpc>
                <a:spcPts val="2375"/>
              </a:lnSpc>
              <a:spcBef>
                <a:spcPts val="0"/>
              </a:spcBef>
              <a:spcAft>
                <a:spcPts val="0"/>
              </a:spcAft>
              <a:buNone/>
            </a:pPr>
            <a:r>
              <a:rPr lang="en-US" altLang="en-US" sz="1900" b="1" dirty="0">
                <a:solidFill>
                  <a:srgbClr val="1E2A5A"/>
                </a:solidFill>
                <a:latin typeface="Calibri"/>
                <a:ea typeface="맑은 고딕"/>
                <a:cs typeface="Calibri"/>
              </a:rPr>
              <a:t>12.  </a:t>
            </a:r>
            <a:r>
              <a:rPr lang="ko-KR" altLang="en-US" sz="1900" b="0" dirty="0">
                <a:solidFill>
                  <a:srgbClr val="1F2328"/>
                </a:solidFill>
                <a:latin typeface="맑은 고딕"/>
                <a:ea typeface="맑은 고딕"/>
                <a:cs typeface="맑은 고딕"/>
              </a:rPr>
              <a:t>Boggis가 방문한 집에서 만난 두 남자는 집주인 Rummins와 그의 아들 Bert였다.</a:t>
            </a:r>
            <a:endParaRPr lang="ko-KR" sz="1900"/>
          </a:p>
        </p:txBody>
      </p:sp>
      <p:sp>
        <p:nvSpPr>
          <p:cNvPr id="15" name="tf_2"/>
          <p:cNvSpPr txBox="1"/>
          <p:nvPr/>
        </p:nvSpPr>
        <p:spPr>
          <a:xfrm>
            <a:off x="9765792" y="3912488"/>
            <a:ext cx="1828800" cy="767842"/>
          </a:xfrm>
          <a:prstGeom prst="rect">
            <a:avLst/>
          </a:prstGeom>
          <a:noFill/>
        </p:spPr>
        <p:txBody>
          <a:bodyPr wrap="square" lIns="18288" tIns="18288" rIns="18288" bIns="18288" anchor="ctr" rtlCol="0">
            <a:noAutofit/>
          </a:bodyPr>
          <a:lstStyle/>
          <a:p>
            <a:pPr algn="ctr">
              <a:lnSpc>
                <a:spcPts val="2375"/>
              </a:lnSpc>
              <a:spcBef>
                <a:spcPts val="0"/>
              </a:spcBef>
              <a:spcAft>
                <a:spcPts val="0"/>
              </a:spcAft>
              <a:buNone/>
            </a:pPr>
            <a:r>
              <a:rPr lang="en-US" altLang="en-US" sz="1900" b="1" dirty="0">
                <a:solidFill>
                  <a:srgbClr val="9AA3B5"/>
                </a:solidFill>
                <a:latin typeface="Calibri"/>
                <a:ea typeface="맑은 고딕"/>
                <a:cs typeface="Calibri"/>
              </a:rPr>
              <a:t>T   /   F</a:t>
            </a:r>
            <a:endParaRPr lang="ko-KR" sz="1900"/>
          </a:p>
        </p:txBody>
      </p:sp>
      <p:sp>
        <p:nvSpPr>
          <p:cNvPr id="16" name="rv_ans_2"/>
          <p:cNvSpPr/>
          <p:nvPr/>
        </p:nvSpPr>
        <p:spPr>
          <a:xfrm>
            <a:off x="9765792" y="3958208"/>
            <a:ext cx="1828800" cy="676402"/>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640"/>
              </a:lnSpc>
              <a:spcBef>
                <a:spcPts val="0"/>
              </a:spcBef>
              <a:spcAft>
                <a:spcPts val="0"/>
              </a:spcAft>
              <a:buNone/>
            </a:pPr>
            <a:r>
              <a:rPr lang="en-US" altLang="en-US" sz="2200" b="1" dirty="0">
                <a:solidFill>
                  <a:srgbClr val="C00000"/>
                </a:solidFill>
                <a:latin typeface="Calibri"/>
                <a:ea typeface="맑은 고딕"/>
                <a:cs typeface="Calibri"/>
              </a:rPr>
              <a:t>T</a:t>
            </a:r>
            <a:endParaRPr lang="ko-KR" sz="2200"/>
          </a:p>
        </p:txBody>
      </p:sp>
      <p:sp>
        <p:nvSpPr>
          <p:cNvPr id="17" name="q_card_3"/>
          <p:cNvSpPr/>
          <p:nvPr/>
        </p:nvSpPr>
        <p:spPr>
          <a:xfrm>
            <a:off x="457200" y="4753483"/>
            <a:ext cx="11274552" cy="466217"/>
          </a:xfrm>
          <a:prstGeom prst="roundRect">
            <a:avLst>
              <a:gd name="adj" fmla="val 12000"/>
            </a:avLst>
          </a:prstGeom>
          <a:noFill/>
          <a:ln w="12700">
            <a:solidFill>
              <a:srgbClr val="D5DAE5"/>
            </a:solidFill>
          </a:ln>
        </p:spPr>
        <p:txBody>
          <a:bodyPr rtlCol="0" anchor="ctr"/>
          <a:lstStyle/>
          <a:p>
            <a:pPr algn="ctr"/>
          </a:p>
        </p:txBody>
      </p:sp>
      <p:sp>
        <p:nvSpPr>
          <p:cNvPr id="18" name="q_3"/>
          <p:cNvSpPr txBox="1"/>
          <p:nvPr/>
        </p:nvSpPr>
        <p:spPr>
          <a:xfrm>
            <a:off x="502920" y="4753483"/>
            <a:ext cx="9171432" cy="466217"/>
          </a:xfrm>
          <a:prstGeom prst="rect">
            <a:avLst/>
          </a:prstGeom>
          <a:noFill/>
        </p:spPr>
        <p:txBody>
          <a:bodyPr wrap="square" lIns="109728" tIns="45720" rIns="109728" bIns="45720" anchor="ctr" rtlCol="0">
            <a:noAutofit/>
          </a:bodyPr>
          <a:lstStyle/>
          <a:p>
            <a:pPr algn="l">
              <a:lnSpc>
                <a:spcPts val="2375"/>
              </a:lnSpc>
              <a:spcBef>
                <a:spcPts val="0"/>
              </a:spcBef>
              <a:spcAft>
                <a:spcPts val="0"/>
              </a:spcAft>
              <a:buNone/>
            </a:pPr>
            <a:r>
              <a:rPr lang="en-US" altLang="en-US" sz="1900" b="1" dirty="0">
                <a:solidFill>
                  <a:srgbClr val="1E2A5A"/>
                </a:solidFill>
                <a:latin typeface="Calibri"/>
                <a:ea typeface="맑은 고딕"/>
                <a:cs typeface="Calibri"/>
              </a:rPr>
              <a:t>13.  </a:t>
            </a:r>
            <a:r>
              <a:rPr lang="ko-KR" altLang="en-US" sz="1900" b="0" dirty="0">
                <a:solidFill>
                  <a:srgbClr val="1F2328"/>
                </a:solidFill>
                <a:latin typeface="맑은 고딕"/>
                <a:ea typeface="맑은 고딕"/>
                <a:cs typeface="맑은 고딕"/>
              </a:rPr>
              <a:t>Rummins는 고가구가 있다고 대답했다.</a:t>
            </a:r>
            <a:endParaRPr lang="ko-KR" sz="1900"/>
          </a:p>
        </p:txBody>
      </p:sp>
      <p:sp>
        <p:nvSpPr>
          <p:cNvPr id="19" name="tf_3"/>
          <p:cNvSpPr txBox="1"/>
          <p:nvPr/>
        </p:nvSpPr>
        <p:spPr>
          <a:xfrm>
            <a:off x="9765792" y="4753483"/>
            <a:ext cx="1828800" cy="466217"/>
          </a:xfrm>
          <a:prstGeom prst="rect">
            <a:avLst/>
          </a:prstGeom>
          <a:noFill/>
        </p:spPr>
        <p:txBody>
          <a:bodyPr wrap="square" lIns="18288" tIns="18288" rIns="18288" bIns="18288" anchor="ctr" rtlCol="0">
            <a:noAutofit/>
          </a:bodyPr>
          <a:lstStyle/>
          <a:p>
            <a:pPr algn="ctr">
              <a:lnSpc>
                <a:spcPts val="2375"/>
              </a:lnSpc>
              <a:spcBef>
                <a:spcPts val="0"/>
              </a:spcBef>
              <a:spcAft>
                <a:spcPts val="0"/>
              </a:spcAft>
              <a:buNone/>
            </a:pPr>
            <a:r>
              <a:rPr lang="en-US" altLang="en-US" sz="1900" b="1" dirty="0">
                <a:solidFill>
                  <a:srgbClr val="9AA3B5"/>
                </a:solidFill>
                <a:latin typeface="Calibri"/>
                <a:ea typeface="맑은 고딕"/>
                <a:cs typeface="Calibri"/>
              </a:rPr>
              <a:t>T   /   F</a:t>
            </a:r>
            <a:endParaRPr lang="ko-KR" sz="1900"/>
          </a:p>
        </p:txBody>
      </p:sp>
      <p:sp>
        <p:nvSpPr>
          <p:cNvPr id="20" name="rv_ans_3"/>
          <p:cNvSpPr/>
          <p:nvPr/>
        </p:nvSpPr>
        <p:spPr>
          <a:xfrm>
            <a:off x="9765792" y="4799202"/>
            <a:ext cx="1828800" cy="374777"/>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640"/>
              </a:lnSpc>
              <a:spcBef>
                <a:spcPts val="0"/>
              </a:spcBef>
              <a:spcAft>
                <a:spcPts val="0"/>
              </a:spcAft>
              <a:buNone/>
            </a:pPr>
            <a:r>
              <a:rPr lang="en-US" altLang="en-US" sz="2200" b="1" dirty="0">
                <a:solidFill>
                  <a:srgbClr val="C00000"/>
                </a:solidFill>
                <a:latin typeface="Calibri"/>
                <a:ea typeface="맑은 고딕"/>
                <a:cs typeface="Calibri"/>
              </a:rPr>
              <a:t>F</a:t>
            </a:r>
            <a:endParaRPr lang="ko-KR" sz="2200"/>
          </a:p>
        </p:txBody>
      </p:sp>
      <p:sp>
        <p:nvSpPr>
          <p:cNvPr id="21" name="q_card_4"/>
          <p:cNvSpPr/>
          <p:nvPr/>
        </p:nvSpPr>
        <p:spPr>
          <a:xfrm>
            <a:off x="457200" y="5292852"/>
            <a:ext cx="11274552" cy="466217"/>
          </a:xfrm>
          <a:prstGeom prst="roundRect">
            <a:avLst>
              <a:gd name="adj" fmla="val 12000"/>
            </a:avLst>
          </a:prstGeom>
          <a:noFill/>
          <a:ln w="12700">
            <a:solidFill>
              <a:srgbClr val="D5DAE5"/>
            </a:solidFill>
          </a:ln>
        </p:spPr>
        <p:txBody>
          <a:bodyPr rtlCol="0" anchor="ctr"/>
          <a:lstStyle/>
          <a:p>
            <a:pPr algn="ctr"/>
          </a:p>
        </p:txBody>
      </p:sp>
      <p:sp>
        <p:nvSpPr>
          <p:cNvPr id="22" name="q_4"/>
          <p:cNvSpPr txBox="1"/>
          <p:nvPr/>
        </p:nvSpPr>
        <p:spPr>
          <a:xfrm>
            <a:off x="502920" y="5292852"/>
            <a:ext cx="9171432" cy="466217"/>
          </a:xfrm>
          <a:prstGeom prst="rect">
            <a:avLst/>
          </a:prstGeom>
          <a:noFill/>
        </p:spPr>
        <p:txBody>
          <a:bodyPr wrap="square" lIns="109728" tIns="45720" rIns="109728" bIns="45720" anchor="ctr" rtlCol="0">
            <a:noAutofit/>
          </a:bodyPr>
          <a:lstStyle/>
          <a:p>
            <a:pPr algn="l">
              <a:lnSpc>
                <a:spcPts val="2375"/>
              </a:lnSpc>
              <a:spcBef>
                <a:spcPts val="0"/>
              </a:spcBef>
              <a:spcAft>
                <a:spcPts val="0"/>
              </a:spcAft>
              <a:buNone/>
            </a:pPr>
            <a:r>
              <a:rPr lang="en-US" altLang="en-US" sz="1900" b="1" dirty="0">
                <a:solidFill>
                  <a:srgbClr val="1E2A5A"/>
                </a:solidFill>
                <a:latin typeface="Calibri"/>
                <a:ea typeface="맑은 고딕"/>
                <a:cs typeface="Calibri"/>
              </a:rPr>
              <a:t>14.  </a:t>
            </a:r>
            <a:r>
              <a:rPr lang="ko-KR" altLang="en-US" sz="1900" b="0" dirty="0">
                <a:solidFill>
                  <a:srgbClr val="1F2328"/>
                </a:solidFill>
                <a:latin typeface="맑은 고딕"/>
                <a:ea typeface="맑은 고딕"/>
                <a:cs typeface="맑은 고딕"/>
              </a:rPr>
              <a:t>Boggis는 집 안을 둘러봐도 되는지 물었다.</a:t>
            </a:r>
            <a:endParaRPr lang="ko-KR" sz="1900"/>
          </a:p>
        </p:txBody>
      </p:sp>
      <p:sp>
        <p:nvSpPr>
          <p:cNvPr id="23" name="tf_4"/>
          <p:cNvSpPr txBox="1"/>
          <p:nvPr/>
        </p:nvSpPr>
        <p:spPr>
          <a:xfrm>
            <a:off x="9765792" y="5292852"/>
            <a:ext cx="1828800" cy="466217"/>
          </a:xfrm>
          <a:prstGeom prst="rect">
            <a:avLst/>
          </a:prstGeom>
          <a:noFill/>
        </p:spPr>
        <p:txBody>
          <a:bodyPr wrap="square" lIns="18288" tIns="18288" rIns="18288" bIns="18288" anchor="ctr" rtlCol="0">
            <a:noAutofit/>
          </a:bodyPr>
          <a:lstStyle/>
          <a:p>
            <a:pPr algn="ctr">
              <a:lnSpc>
                <a:spcPts val="2375"/>
              </a:lnSpc>
              <a:spcBef>
                <a:spcPts val="0"/>
              </a:spcBef>
              <a:spcAft>
                <a:spcPts val="0"/>
              </a:spcAft>
              <a:buNone/>
            </a:pPr>
            <a:r>
              <a:rPr lang="en-US" altLang="en-US" sz="1900" b="1" dirty="0">
                <a:solidFill>
                  <a:srgbClr val="9AA3B5"/>
                </a:solidFill>
                <a:latin typeface="Calibri"/>
                <a:ea typeface="맑은 고딕"/>
                <a:cs typeface="Calibri"/>
              </a:rPr>
              <a:t>T   /   F</a:t>
            </a:r>
            <a:endParaRPr lang="ko-KR" sz="1900"/>
          </a:p>
        </p:txBody>
      </p:sp>
      <p:sp>
        <p:nvSpPr>
          <p:cNvPr id="24" name="rv_ans_4"/>
          <p:cNvSpPr/>
          <p:nvPr/>
        </p:nvSpPr>
        <p:spPr>
          <a:xfrm>
            <a:off x="9765792" y="5338572"/>
            <a:ext cx="1828800" cy="374777"/>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640"/>
              </a:lnSpc>
              <a:spcBef>
                <a:spcPts val="0"/>
              </a:spcBef>
              <a:spcAft>
                <a:spcPts val="0"/>
              </a:spcAft>
              <a:buNone/>
            </a:pPr>
            <a:r>
              <a:rPr lang="en-US" altLang="en-US" sz="2200" b="1" dirty="0">
                <a:solidFill>
                  <a:srgbClr val="C00000"/>
                </a:solidFill>
                <a:latin typeface="Calibri"/>
                <a:ea typeface="맑은 고딕"/>
                <a:cs typeface="Calibri"/>
              </a:rPr>
              <a:t>T</a:t>
            </a:r>
            <a:endParaRPr lang="ko-KR" sz="2200"/>
          </a:p>
        </p:txBody>
      </p:sp>
      <p:sp>
        <p:nvSpPr>
          <p:cNvPr id="25" name="q_card_5"/>
          <p:cNvSpPr/>
          <p:nvPr/>
        </p:nvSpPr>
        <p:spPr>
          <a:xfrm>
            <a:off x="457200" y="5832221"/>
            <a:ext cx="11274552" cy="466217"/>
          </a:xfrm>
          <a:prstGeom prst="roundRect">
            <a:avLst>
              <a:gd name="adj" fmla="val 12000"/>
            </a:avLst>
          </a:prstGeom>
          <a:noFill/>
          <a:ln w="12700">
            <a:solidFill>
              <a:srgbClr val="D5DAE5"/>
            </a:solidFill>
          </a:ln>
        </p:spPr>
        <p:txBody>
          <a:bodyPr rtlCol="0" anchor="ctr"/>
          <a:lstStyle/>
          <a:p>
            <a:pPr algn="ctr"/>
          </a:p>
        </p:txBody>
      </p:sp>
      <p:sp>
        <p:nvSpPr>
          <p:cNvPr id="26" name="q_5"/>
          <p:cNvSpPr txBox="1"/>
          <p:nvPr/>
        </p:nvSpPr>
        <p:spPr>
          <a:xfrm>
            <a:off x="502920" y="5832221"/>
            <a:ext cx="9171432" cy="466217"/>
          </a:xfrm>
          <a:prstGeom prst="rect">
            <a:avLst/>
          </a:prstGeom>
          <a:noFill/>
        </p:spPr>
        <p:txBody>
          <a:bodyPr wrap="square" lIns="109728" tIns="45720" rIns="109728" bIns="45720" anchor="ctr" rtlCol="0">
            <a:noAutofit/>
          </a:bodyPr>
          <a:lstStyle/>
          <a:p>
            <a:pPr algn="l">
              <a:lnSpc>
                <a:spcPts val="2375"/>
              </a:lnSpc>
              <a:spcBef>
                <a:spcPts val="0"/>
              </a:spcBef>
              <a:spcAft>
                <a:spcPts val="0"/>
              </a:spcAft>
              <a:buNone/>
            </a:pPr>
            <a:r>
              <a:rPr lang="en-US" altLang="en-US" sz="1900" b="1" dirty="0">
                <a:solidFill>
                  <a:srgbClr val="1E2A5A"/>
                </a:solidFill>
                <a:latin typeface="Calibri"/>
                <a:ea typeface="맑은 고딕"/>
                <a:cs typeface="Calibri"/>
              </a:rPr>
              <a:t>15.  </a:t>
            </a:r>
            <a:r>
              <a:rPr lang="ko-KR" altLang="en-US" sz="1900" b="0" dirty="0">
                <a:solidFill>
                  <a:srgbClr val="1F2328"/>
                </a:solidFill>
                <a:latin typeface="맑은 고딕"/>
                <a:ea typeface="맑은 고딕"/>
                <a:cs typeface="맑은 고딕"/>
              </a:rPr>
              <a:t>Rummins는 Boggis가 집에 들어오는 것을 거절했다.</a:t>
            </a:r>
            <a:endParaRPr lang="ko-KR" sz="1900"/>
          </a:p>
        </p:txBody>
      </p:sp>
      <p:sp>
        <p:nvSpPr>
          <p:cNvPr id="27" name="tf_5"/>
          <p:cNvSpPr txBox="1"/>
          <p:nvPr/>
        </p:nvSpPr>
        <p:spPr>
          <a:xfrm>
            <a:off x="9765792" y="5832221"/>
            <a:ext cx="1828800" cy="466217"/>
          </a:xfrm>
          <a:prstGeom prst="rect">
            <a:avLst/>
          </a:prstGeom>
          <a:noFill/>
        </p:spPr>
        <p:txBody>
          <a:bodyPr wrap="square" lIns="18288" tIns="18288" rIns="18288" bIns="18288" anchor="ctr" rtlCol="0">
            <a:noAutofit/>
          </a:bodyPr>
          <a:lstStyle/>
          <a:p>
            <a:pPr algn="ctr">
              <a:lnSpc>
                <a:spcPts val="2375"/>
              </a:lnSpc>
              <a:spcBef>
                <a:spcPts val="0"/>
              </a:spcBef>
              <a:spcAft>
                <a:spcPts val="0"/>
              </a:spcAft>
              <a:buNone/>
            </a:pPr>
            <a:r>
              <a:rPr lang="en-US" altLang="en-US" sz="1900" b="1" dirty="0">
                <a:solidFill>
                  <a:srgbClr val="9AA3B5"/>
                </a:solidFill>
                <a:latin typeface="Calibri"/>
                <a:ea typeface="맑은 고딕"/>
                <a:cs typeface="Calibri"/>
              </a:rPr>
              <a:t>T   /   F</a:t>
            </a:r>
            <a:endParaRPr lang="ko-KR" sz="1900"/>
          </a:p>
        </p:txBody>
      </p:sp>
      <p:sp>
        <p:nvSpPr>
          <p:cNvPr id="28" name="rv_ans_5"/>
          <p:cNvSpPr/>
          <p:nvPr/>
        </p:nvSpPr>
        <p:spPr>
          <a:xfrm>
            <a:off x="9765792" y="5877941"/>
            <a:ext cx="1828800" cy="374777"/>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640"/>
              </a:lnSpc>
              <a:spcBef>
                <a:spcPts val="0"/>
              </a:spcBef>
              <a:spcAft>
                <a:spcPts val="0"/>
              </a:spcAft>
              <a:buNone/>
            </a:pPr>
            <a:r>
              <a:rPr lang="en-US" altLang="en-US" sz="2200" b="1" dirty="0">
                <a:solidFill>
                  <a:srgbClr val="C00000"/>
                </a:solidFill>
                <a:latin typeface="Calibri"/>
                <a:ea typeface="맑은 고딕"/>
                <a:cs typeface="Calibri"/>
              </a:rPr>
              <a:t>F</a:t>
            </a:r>
            <a:endParaRPr lang="ko-KR" sz="22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25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250"/>
                                        <p:tgtEl>
                                          <p:spTgt spid="1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0"/>
                                        </p:tgtEl>
                                        <p:attrNameLst>
                                          <p:attrName>style.visibility</p:attrName>
                                        </p:attrNameLst>
                                      </p:cBhvr>
                                      <p:to>
                                        <p:strVal val="visible"/>
                                      </p:to>
                                    </p:set>
                                    <p:animEffect transition="in" filter="fade">
                                      <p:cBhvr>
                                        <p:cTn id="13" dur="250"/>
                                        <p:tgtEl>
                                          <p:spTgt spid="20"/>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4"/>
                                        </p:tgtEl>
                                        <p:attrNameLst>
                                          <p:attrName>style.visibility</p:attrName>
                                        </p:attrNameLst>
                                      </p:cBhvr>
                                      <p:to>
                                        <p:strVal val="visible"/>
                                      </p:to>
                                    </p:set>
                                    <p:animEffect transition="in" filter="fade">
                                      <p:cBhvr>
                                        <p:cTn id="16" dur="250"/>
                                        <p:tgtEl>
                                          <p:spTgt spid="24"/>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8"/>
                                        </p:tgtEl>
                                        <p:attrNameLst>
                                          <p:attrName>style.visibility</p:attrName>
                                        </p:attrNameLst>
                                      </p:cBhvr>
                                      <p:to>
                                        <p:strVal val="visible"/>
                                      </p:to>
                                    </p:set>
                                    <p:animEffect transition="in" filter="fade">
                                      <p:cBhvr>
                                        <p:cTn id="19" dur="25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6" grpId="0" animBg="1"/>
      <p:bldP spid="20" grpId="0" animBg="1"/>
      <p:bldP spid="24" grpId="0" animBg="1"/>
      <p:bldP spid="28" grpId="0" animBg="1"/>
    </p:bldLst>
  </p:timing>
</p:sld>
</file>

<file path=ppt/slides/slide1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8000"/>
            </a:avLst>
          </a:prstGeom>
          <a:solidFill>
            <a:srgbClr val="1E2A5A"/>
          </a:solidFill>
          <a:ln>
            <a:noFill/>
          </a:ln>
        </p:spPr>
        <p:txBody>
          <a:bodyPr wrap="square" lIns="45720" tIns="18288" rIns="45720" bIns="18288" anchor="ctr" rtlCol="0">
            <a:noAutofit/>
          </a:bodyPr>
          <a:lstStyle/>
          <a:p>
            <a:pPr algn="ctr">
              <a:lnSpc>
                <a:spcPts val="2000"/>
              </a:lnSpc>
              <a:spcBef>
                <a:spcPts val="0"/>
              </a:spcBef>
              <a:spcAft>
                <a:spcPts val="0"/>
              </a:spcAft>
              <a:buNone/>
            </a:pPr>
            <a:r>
              <a:rPr lang="en-US" altLang="en-US" sz="1700" b="1" dirty="0">
                <a:solidFill>
                  <a:srgbClr val="FFFFFF"/>
                </a:solidFill>
                <a:latin typeface="Calibri"/>
                <a:ea typeface="맑은 고딕"/>
                <a:cs typeface="Calibri"/>
              </a:rPr>
              <a:t>L6-2</a:t>
            </a:r>
            <a:endParaRPr lang="ko-KR" sz="1700"/>
          </a:p>
        </p:txBody>
      </p:sp>
      <p:sp>
        <p:nvSpPr>
          <p:cNvPr id="3" name="hdr_chip"/>
          <p:cNvSpPr/>
          <p:nvPr/>
        </p:nvSpPr>
        <p:spPr>
          <a:xfrm>
            <a:off x="1755648" y="274320"/>
            <a:ext cx="1371600" cy="493776"/>
          </a:xfrm>
          <a:prstGeom prst="roundRect">
            <a:avLst>
              <a:gd name="adj" fmla="val 8000"/>
            </a:avLst>
          </a:prstGeom>
          <a:solidFill>
            <a:srgbClr val="E6EAF4"/>
          </a:solidFill>
          <a:ln>
            <a:noFill/>
          </a:ln>
        </p:spPr>
        <p:txBody>
          <a:bodyPr wrap="square" lIns="27432" tIns="18288" rIns="27432" bIns="18288" anchor="ctr" rtlCol="0">
            <a:noAutofit/>
          </a:bodyPr>
          <a:lstStyle/>
          <a:p>
            <a:pPr algn="ctr">
              <a:lnSpc>
                <a:spcPts val="1700"/>
              </a:lnSpc>
              <a:spcBef>
                <a:spcPts val="0"/>
              </a:spcBef>
              <a:spcAft>
                <a:spcPts val="0"/>
              </a:spcAft>
              <a:buNone/>
            </a:pPr>
            <a:r>
              <a:rPr lang="ko-KR" altLang="en-US" sz="1400" b="1" dirty="0">
                <a:solidFill>
                  <a:srgbClr val="1E2A5A"/>
                </a:solidFill>
                <a:latin typeface="맑은 고딕"/>
                <a:ea typeface="맑은 고딕"/>
                <a:cs typeface="맑은 고딕"/>
              </a:rPr>
              <a:t>PART 4 · 4</a:t>
            </a:r>
            <a:endParaRPr lang="ko-KR" sz="1400"/>
          </a:p>
        </p:txBody>
      </p:sp>
      <p:sp>
        <p:nvSpPr>
          <p:cNvPr id="4" name="hdr_q"/>
          <p:cNvSpPr txBox="1"/>
          <p:nvPr/>
        </p:nvSpPr>
        <p:spPr>
          <a:xfrm>
            <a:off x="3246120" y="246888"/>
            <a:ext cx="8485632" cy="548640"/>
          </a:xfrm>
          <a:prstGeom prst="rect">
            <a:avLst/>
          </a:prstGeom>
          <a:noFill/>
        </p:spPr>
        <p:txBody>
          <a:bodyPr wrap="square" lIns="109728" tIns="54864" rIns="109728" bIns="54864" anchor="ctr" rtlCol="0">
            <a:noAutofit/>
          </a:bodyPr>
          <a:lstStyle/>
          <a:p>
            <a:pPr algn="l">
              <a:lnSpc>
                <a:spcPts val="2400"/>
              </a:lnSpc>
              <a:spcBef>
                <a:spcPts val="0"/>
              </a:spcBef>
              <a:spcAft>
                <a:spcPts val="0"/>
              </a:spcAft>
              <a:buNone/>
            </a:pPr>
            <a:r>
              <a:rPr lang="ko-KR" altLang="en-US" sz="2000" b="1" dirty="0">
                <a:solidFill>
                  <a:srgbClr val="1F2328"/>
                </a:solidFill>
                <a:latin typeface="맑은 고딕"/>
                <a:ea typeface="맑은 고딕"/>
                <a:cs typeface="맑은 고딕"/>
              </a:rPr>
              <a:t>본문과 일치하면 T, 일치하지 않으면 F를 고르시오.</a:t>
            </a:r>
            <a:endParaRPr lang="ko-KR" sz="2000"/>
          </a:p>
        </p:txBody>
      </p:sp>
      <p:sp>
        <p:nvSpPr>
          <p:cNvPr id="5" name="ftr_exam"/>
          <p:cNvSpPr txBox="1"/>
          <p:nvPr/>
        </p:nvSpPr>
        <p:spPr>
          <a:xfrm>
            <a:off x="457200" y="6519672"/>
            <a:ext cx="5669280" cy="256032"/>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6</a:t>
            </a:r>
            <a:endParaRPr lang="ko-KR" sz="1000"/>
          </a:p>
        </p:txBody>
      </p:sp>
      <p:sp>
        <p:nvSpPr>
          <p:cNvPr id="6" name="ftr_hint"/>
          <p:cNvSpPr txBox="1"/>
          <p:nvPr/>
        </p:nvSpPr>
        <p:spPr>
          <a:xfrm>
            <a:off x="5971032" y="6519672"/>
            <a:ext cx="5760720" cy="256032"/>
          </a:xfrm>
          <a:prstGeom prst="rect">
            <a:avLst/>
          </a:prstGeom>
          <a:noFill/>
        </p:spPr>
        <p:txBody>
          <a:bodyPr wrap="square" lIns="0" tIns="0" rIns="0" bIns="0" anchor="t" rtlCol="0">
            <a:noAutofit/>
          </a:bodyPr>
          <a:lstStyle/>
          <a:p>
            <a:pPr algn="r">
              <a:lnSpc>
                <a:spcPts val="1200"/>
              </a:lnSpc>
              <a:spcBef>
                <a:spcPts val="0"/>
              </a:spcBef>
              <a:spcAft>
                <a:spcPts val="0"/>
              </a:spcAft>
              <a:buNone/>
            </a:pPr>
            <a:r>
              <a:rPr lang="ko-KR" altLang="en-US" sz="1000" b="0" dirty="0">
                <a:solidFill>
                  <a:srgbClr val="7A808C"/>
                </a:solidFill>
                <a:latin typeface="맑은 고딕"/>
                <a:ea typeface="맑은 고딕"/>
                <a:cs typeface="맑은 고딕"/>
              </a:rPr>
              <a:t>클릭 ① 정답(T/F) 공개</a:t>
            </a:r>
            <a:endParaRPr lang="ko-KR" sz="1000"/>
          </a:p>
        </p:txBody>
      </p:sp>
      <p:sp>
        <p:nvSpPr>
          <p:cNvPr id="7" name="passage_card"/>
          <p:cNvSpPr/>
          <p:nvPr/>
        </p:nvSpPr>
        <p:spPr>
          <a:xfrm>
            <a:off x="457200" y="950976"/>
            <a:ext cx="11274552" cy="2257551"/>
          </a:xfrm>
          <a:prstGeom prst="roundRect">
            <a:avLst>
              <a:gd name="adj" fmla="val 4000"/>
            </a:avLst>
          </a:prstGeom>
          <a:solidFill>
            <a:srgbClr val="F3F5F9"/>
          </a:solidFill>
          <a:ln w="12700">
            <a:solidFill>
              <a:srgbClr val="D9DFEA"/>
            </a:solidFill>
          </a:ln>
        </p:spPr>
        <p:txBody>
          <a:bodyPr rtlCol="0" anchor="ctr"/>
          <a:lstStyle/>
          <a:p>
            <a:pPr algn="ctr"/>
          </a:p>
        </p:txBody>
      </p:sp>
      <p:sp>
        <p:nvSpPr>
          <p:cNvPr id="8" name="passage"/>
          <p:cNvSpPr txBox="1"/>
          <p:nvPr/>
        </p:nvSpPr>
        <p:spPr>
          <a:xfrm>
            <a:off x="457200" y="950976"/>
            <a:ext cx="11274552" cy="2257551"/>
          </a:xfrm>
          <a:prstGeom prst="rect">
            <a:avLst/>
          </a:prstGeom>
          <a:noFill/>
        </p:spPr>
        <p:txBody>
          <a:bodyPr wrap="square" lIns="182880" tIns="137160" rIns="182880" bIns="137160" anchor="t" rtlCol="0">
            <a:noAutofit/>
          </a:bodyPr>
          <a:lstStyle/>
          <a:p>
            <a:pPr algn="l">
              <a:lnSpc>
                <a:spcPts val="1952"/>
              </a:lnSpc>
              <a:spcBef>
                <a:spcPts val="0"/>
              </a:spcBef>
              <a:spcAft>
                <a:spcPts val="0"/>
              </a:spcAft>
              <a:buNone/>
            </a:pPr>
            <a:r>
              <a:rPr lang="ko-KR" altLang="en-US" sz="1600" b="1" dirty="0">
                <a:solidFill>
                  <a:srgbClr val="1E2A5A"/>
                </a:solidFill>
                <a:latin typeface="맑은 고딕"/>
                <a:ea typeface="맑은 고딕"/>
                <a:cs typeface="맑은 고딕"/>
              </a:rPr>
              <a:t>⑧ </a:t>
            </a:r>
            <a:r>
              <a:rPr lang="en-US" altLang="en-US" sz="1600" b="0" dirty="0">
                <a:solidFill>
                  <a:srgbClr val="1F2328"/>
                </a:solidFill>
                <a:latin typeface="Calibri"/>
                <a:ea typeface="맑은 고딕"/>
                <a:cs typeface="Calibri"/>
              </a:rPr>
              <a:t>Now it was another Sunday, and Mr. Boggis was in a small town again. </a:t>
            </a:r>
            <a:r>
              <a:rPr lang="ko-KR" altLang="en-US" sz="1600" b="1" dirty="0">
                <a:solidFill>
                  <a:srgbClr val="1E2A5A"/>
                </a:solidFill>
                <a:latin typeface="맑은 고딕"/>
                <a:ea typeface="맑은 고딕"/>
                <a:cs typeface="맑은 고딕"/>
              </a:rPr>
              <a:t>⑨ </a:t>
            </a:r>
            <a:r>
              <a:rPr lang="en-US" altLang="en-US" sz="1600" b="0" dirty="0">
                <a:solidFill>
                  <a:srgbClr val="1F2328"/>
                </a:solidFill>
                <a:latin typeface="Calibri"/>
                <a:ea typeface="맑은 고딕"/>
                <a:cs typeface="Calibri"/>
              </a:rPr>
              <a:t>At a house he visited, he met two men. One was Rummins, the owner, and the other was his son Bert. </a:t>
            </a:r>
            <a:r>
              <a:rPr lang="ko-KR" altLang="en-US" sz="1600" b="1" dirty="0">
                <a:solidFill>
                  <a:srgbClr val="1E2A5A"/>
                </a:solidFill>
                <a:latin typeface="맑은 고딕"/>
                <a:ea typeface="맑은 고딕"/>
                <a:cs typeface="맑은 고딕"/>
              </a:rPr>
              <a:t>⑩ </a:t>
            </a:r>
            <a:r>
              <a:rPr lang="en-US" altLang="en-US" sz="1600" b="0" dirty="0">
                <a:solidFill>
                  <a:srgbClr val="1F2328"/>
                </a:solidFill>
                <a:latin typeface="Calibri"/>
                <a:ea typeface="맑은 고딕"/>
                <a:cs typeface="Calibri"/>
              </a:rPr>
              <a:t>"I buy old furniture. Do you have any?" asked Mr. Boggis. </a:t>
            </a:r>
            <a:r>
              <a:rPr lang="ko-KR" altLang="en-US" sz="1600" b="1" dirty="0">
                <a:solidFill>
                  <a:srgbClr val="1E2A5A"/>
                </a:solidFill>
                <a:latin typeface="맑은 고딕"/>
                <a:ea typeface="맑은 고딕"/>
                <a:cs typeface="맑은 고딕"/>
              </a:rPr>
              <a:t>⑪ </a:t>
            </a:r>
            <a:r>
              <a:rPr lang="en-US" altLang="en-US" sz="1600" b="0" dirty="0">
                <a:solidFill>
                  <a:srgbClr val="1F2328"/>
                </a:solidFill>
                <a:latin typeface="Calibri"/>
                <a:ea typeface="맑은 고딕"/>
                <a:cs typeface="Calibri"/>
              </a:rPr>
              <a:t>"No, I don’t," said Rummins. "Can I just take a look?" asked Mr. Boggis. </a:t>
            </a:r>
            <a:r>
              <a:rPr lang="ko-KR" altLang="en-US" sz="1600" b="1" dirty="0">
                <a:solidFill>
                  <a:srgbClr val="1E2A5A"/>
                </a:solidFill>
                <a:latin typeface="맑은 고딕"/>
                <a:ea typeface="맑은 고딕"/>
                <a:cs typeface="맑은 고딕"/>
              </a:rPr>
              <a:t>⑫ </a:t>
            </a:r>
            <a:r>
              <a:rPr lang="en-US" altLang="en-US" sz="1600" b="0" dirty="0">
                <a:solidFill>
                  <a:srgbClr val="1F2328"/>
                </a:solidFill>
                <a:latin typeface="Calibri"/>
                <a:ea typeface="맑은 고딕"/>
                <a:cs typeface="Calibri"/>
              </a:rPr>
              <a:t>"Sure. Please come in," said Rummins. </a:t>
            </a:r>
            <a:r>
              <a:rPr lang="ko-KR" altLang="en-US" sz="1600" b="1" dirty="0">
                <a:solidFill>
                  <a:srgbClr val="1E2A5A"/>
                </a:solidFill>
                <a:latin typeface="맑은 고딕"/>
                <a:ea typeface="맑은 고딕"/>
                <a:cs typeface="맑은 고딕"/>
              </a:rPr>
              <a:t>⑬ </a:t>
            </a:r>
            <a:r>
              <a:rPr lang="en-US" altLang="en-US" sz="1600" b="0" dirty="0">
                <a:solidFill>
                  <a:srgbClr val="1F2328"/>
                </a:solidFill>
                <a:latin typeface="Calibri"/>
                <a:ea typeface="맑은 고딕"/>
                <a:cs typeface="Calibri"/>
              </a:rPr>
              <a:t>Mr. Boggis first went to the kitchen, and there was nothing. </a:t>
            </a:r>
            <a:r>
              <a:rPr lang="ko-KR" altLang="en-US" sz="1600" b="1" dirty="0">
                <a:solidFill>
                  <a:srgbClr val="1E2A5A"/>
                </a:solidFill>
                <a:latin typeface="맑은 고딕"/>
                <a:ea typeface="맑은 고딕"/>
                <a:cs typeface="맑은 고딕"/>
              </a:rPr>
              <a:t>⑭ </a:t>
            </a:r>
            <a:r>
              <a:rPr lang="en-US" altLang="en-US" sz="1600" b="0" dirty="0">
                <a:solidFill>
                  <a:srgbClr val="1F2328"/>
                </a:solidFill>
                <a:latin typeface="Calibri"/>
                <a:ea typeface="맑은 고딕"/>
                <a:cs typeface="Calibri"/>
              </a:rPr>
              <a:t>He then moved to the living room. And there it was! </a:t>
            </a:r>
            <a:r>
              <a:rPr lang="ko-KR" altLang="en-US" sz="1600" b="1" dirty="0">
                <a:solidFill>
                  <a:srgbClr val="1E2A5A"/>
                </a:solidFill>
                <a:latin typeface="맑은 고딕"/>
                <a:ea typeface="맑은 고딕"/>
                <a:cs typeface="맑은 고딕"/>
              </a:rPr>
              <a:t>⑮ </a:t>
            </a:r>
            <a:r>
              <a:rPr lang="en-US" altLang="en-US" sz="1600" b="0" dirty="0">
                <a:solidFill>
                  <a:srgbClr val="1F2328"/>
                </a:solidFill>
                <a:latin typeface="Calibri"/>
                <a:ea typeface="맑은 고딕"/>
                <a:cs typeface="Calibri"/>
              </a:rPr>
              <a:t>A table which was a priceless piece of eighteenth‑century English furniture. </a:t>
            </a:r>
            <a:r>
              <a:rPr lang="ko-KR" altLang="en-US" sz="1600" b="1" dirty="0">
                <a:solidFill>
                  <a:srgbClr val="1E2A5A"/>
                </a:solidFill>
                <a:latin typeface="맑은 고딕"/>
                <a:ea typeface="맑은 고딕"/>
                <a:cs typeface="맑은 고딕"/>
              </a:rPr>
              <a:t>⑯ </a:t>
            </a:r>
            <a:r>
              <a:rPr lang="en-US" altLang="en-US" sz="1600" b="0" dirty="0">
                <a:solidFill>
                  <a:srgbClr val="1F2328"/>
                </a:solidFill>
                <a:latin typeface="Calibri"/>
                <a:ea typeface="맑은 고딕"/>
                <a:cs typeface="Calibri"/>
              </a:rPr>
              <a:t>He was so excited that he almost fell over. </a:t>
            </a:r>
            <a:r>
              <a:rPr lang="ko-KR" altLang="en-US" sz="1600" b="1" dirty="0">
                <a:solidFill>
                  <a:srgbClr val="1E2A5A"/>
                </a:solidFill>
                <a:latin typeface="맑은 고딕"/>
                <a:ea typeface="맑은 고딕"/>
                <a:cs typeface="맑은 고딕"/>
              </a:rPr>
              <a:t>⑰ </a:t>
            </a:r>
            <a:r>
              <a:rPr lang="en-US" altLang="en-US" sz="1600" b="0" dirty="0">
                <a:solidFill>
                  <a:srgbClr val="1F2328"/>
                </a:solidFill>
                <a:latin typeface="Calibri"/>
                <a:ea typeface="맑은 고딕"/>
                <a:cs typeface="Calibri"/>
              </a:rPr>
              <a:t>"What’s wrong?" Bert asked. "Oh, nothing. Nothing at all," Mr. Boggis lied. </a:t>
            </a:r>
            <a:r>
              <a:rPr lang="ko-KR" altLang="en-US" sz="1600" b="1" dirty="0">
                <a:solidFill>
                  <a:srgbClr val="1E2A5A"/>
                </a:solidFill>
                <a:latin typeface="맑은 고딕"/>
                <a:ea typeface="맑은 고딕"/>
                <a:cs typeface="맑은 고딕"/>
              </a:rPr>
              <a:t>⑱ </a:t>
            </a:r>
            <a:r>
              <a:rPr lang="en-US" altLang="en-US" sz="1600" b="0" dirty="0">
                <a:solidFill>
                  <a:srgbClr val="1F2328"/>
                </a:solidFill>
                <a:latin typeface="Calibri"/>
                <a:ea typeface="맑은 고딕"/>
                <a:cs typeface="Calibri"/>
              </a:rPr>
              <a:t>He then said with a straight face, "This table is a reproduction. It’s worth only a few pounds." </a:t>
            </a:r>
            <a:endParaRPr lang="ko-KR" sz="1600"/>
          </a:p>
        </p:txBody>
      </p:sp>
      <p:sp>
        <p:nvSpPr>
          <p:cNvPr id="9" name="q_card_1"/>
          <p:cNvSpPr/>
          <p:nvPr/>
        </p:nvSpPr>
        <p:spPr>
          <a:xfrm>
            <a:off x="457200" y="3373120"/>
            <a:ext cx="11274552" cy="466217"/>
          </a:xfrm>
          <a:prstGeom prst="roundRect">
            <a:avLst>
              <a:gd name="adj" fmla="val 12000"/>
            </a:avLst>
          </a:prstGeom>
          <a:noFill/>
          <a:ln w="12700">
            <a:solidFill>
              <a:srgbClr val="D5DAE5"/>
            </a:solidFill>
          </a:ln>
        </p:spPr>
        <p:txBody>
          <a:bodyPr rtlCol="0" anchor="ctr"/>
          <a:lstStyle/>
          <a:p>
            <a:pPr algn="ctr"/>
          </a:p>
        </p:txBody>
      </p:sp>
      <p:sp>
        <p:nvSpPr>
          <p:cNvPr id="10" name="q_1"/>
          <p:cNvSpPr txBox="1"/>
          <p:nvPr/>
        </p:nvSpPr>
        <p:spPr>
          <a:xfrm>
            <a:off x="502920" y="3373120"/>
            <a:ext cx="9171432" cy="466217"/>
          </a:xfrm>
          <a:prstGeom prst="rect">
            <a:avLst/>
          </a:prstGeom>
          <a:noFill/>
        </p:spPr>
        <p:txBody>
          <a:bodyPr wrap="square" lIns="109728" tIns="45720" rIns="109728" bIns="45720" anchor="ctr" rtlCol="0">
            <a:noAutofit/>
          </a:bodyPr>
          <a:lstStyle/>
          <a:p>
            <a:pPr algn="l">
              <a:lnSpc>
                <a:spcPts val="2375"/>
              </a:lnSpc>
              <a:spcBef>
                <a:spcPts val="0"/>
              </a:spcBef>
              <a:spcAft>
                <a:spcPts val="0"/>
              </a:spcAft>
              <a:buNone/>
            </a:pPr>
            <a:r>
              <a:rPr lang="en-US" altLang="en-US" sz="1900" b="1" dirty="0">
                <a:solidFill>
                  <a:srgbClr val="1E2A5A"/>
                </a:solidFill>
                <a:latin typeface="Calibri"/>
                <a:ea typeface="맑은 고딕"/>
                <a:cs typeface="Calibri"/>
              </a:rPr>
              <a:t>16.  </a:t>
            </a:r>
            <a:r>
              <a:rPr lang="ko-KR" altLang="en-US" sz="1900" b="0" dirty="0">
                <a:solidFill>
                  <a:srgbClr val="1F2328"/>
                </a:solidFill>
                <a:latin typeface="맑은 고딕"/>
                <a:ea typeface="맑은 고딕"/>
                <a:cs typeface="맑은 고딕"/>
              </a:rPr>
              <a:t>Boggis는 부엌에서 귀중한 탁자를 발견했다.</a:t>
            </a:r>
            <a:endParaRPr lang="ko-KR" sz="1900"/>
          </a:p>
        </p:txBody>
      </p:sp>
      <p:sp>
        <p:nvSpPr>
          <p:cNvPr id="11" name="tf_1"/>
          <p:cNvSpPr txBox="1"/>
          <p:nvPr/>
        </p:nvSpPr>
        <p:spPr>
          <a:xfrm>
            <a:off x="9765792" y="3373120"/>
            <a:ext cx="1828800" cy="466217"/>
          </a:xfrm>
          <a:prstGeom prst="rect">
            <a:avLst/>
          </a:prstGeom>
          <a:noFill/>
        </p:spPr>
        <p:txBody>
          <a:bodyPr wrap="square" lIns="18288" tIns="18288" rIns="18288" bIns="18288" anchor="ctr" rtlCol="0">
            <a:noAutofit/>
          </a:bodyPr>
          <a:lstStyle/>
          <a:p>
            <a:pPr algn="ctr">
              <a:lnSpc>
                <a:spcPts val="2375"/>
              </a:lnSpc>
              <a:spcBef>
                <a:spcPts val="0"/>
              </a:spcBef>
              <a:spcAft>
                <a:spcPts val="0"/>
              </a:spcAft>
              <a:buNone/>
            </a:pPr>
            <a:r>
              <a:rPr lang="en-US" altLang="en-US" sz="1900" b="1" dirty="0">
                <a:solidFill>
                  <a:srgbClr val="9AA3B5"/>
                </a:solidFill>
                <a:latin typeface="Calibri"/>
                <a:ea typeface="맑은 고딕"/>
                <a:cs typeface="Calibri"/>
              </a:rPr>
              <a:t>T   /   F</a:t>
            </a:r>
            <a:endParaRPr lang="ko-KR" sz="1900"/>
          </a:p>
        </p:txBody>
      </p:sp>
      <p:sp>
        <p:nvSpPr>
          <p:cNvPr id="12" name="rv_ans_1"/>
          <p:cNvSpPr/>
          <p:nvPr/>
        </p:nvSpPr>
        <p:spPr>
          <a:xfrm>
            <a:off x="9765792" y="3418839"/>
            <a:ext cx="1828800" cy="374777"/>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640"/>
              </a:lnSpc>
              <a:spcBef>
                <a:spcPts val="0"/>
              </a:spcBef>
              <a:spcAft>
                <a:spcPts val="0"/>
              </a:spcAft>
              <a:buNone/>
            </a:pPr>
            <a:r>
              <a:rPr lang="en-US" altLang="en-US" sz="2200" b="1" dirty="0">
                <a:solidFill>
                  <a:srgbClr val="C00000"/>
                </a:solidFill>
                <a:latin typeface="Calibri"/>
                <a:ea typeface="맑은 고딕"/>
                <a:cs typeface="Calibri"/>
              </a:rPr>
              <a:t>F</a:t>
            </a:r>
            <a:endParaRPr lang="ko-KR" sz="2200"/>
          </a:p>
        </p:txBody>
      </p:sp>
      <p:sp>
        <p:nvSpPr>
          <p:cNvPr id="13" name="q_card_2"/>
          <p:cNvSpPr/>
          <p:nvPr/>
        </p:nvSpPr>
        <p:spPr>
          <a:xfrm>
            <a:off x="457200" y="3912488"/>
            <a:ext cx="11274552" cy="466217"/>
          </a:xfrm>
          <a:prstGeom prst="roundRect">
            <a:avLst>
              <a:gd name="adj" fmla="val 12000"/>
            </a:avLst>
          </a:prstGeom>
          <a:noFill/>
          <a:ln w="12700">
            <a:solidFill>
              <a:srgbClr val="D5DAE5"/>
            </a:solidFill>
          </a:ln>
        </p:spPr>
        <p:txBody>
          <a:bodyPr rtlCol="0" anchor="ctr"/>
          <a:lstStyle/>
          <a:p>
            <a:pPr algn="ctr"/>
          </a:p>
        </p:txBody>
      </p:sp>
      <p:sp>
        <p:nvSpPr>
          <p:cNvPr id="14" name="q_2"/>
          <p:cNvSpPr txBox="1"/>
          <p:nvPr/>
        </p:nvSpPr>
        <p:spPr>
          <a:xfrm>
            <a:off x="502920" y="3912488"/>
            <a:ext cx="9171432" cy="466217"/>
          </a:xfrm>
          <a:prstGeom prst="rect">
            <a:avLst/>
          </a:prstGeom>
          <a:noFill/>
        </p:spPr>
        <p:txBody>
          <a:bodyPr wrap="square" lIns="109728" tIns="45720" rIns="109728" bIns="45720" anchor="ctr" rtlCol="0">
            <a:noAutofit/>
          </a:bodyPr>
          <a:lstStyle/>
          <a:p>
            <a:pPr algn="l">
              <a:lnSpc>
                <a:spcPts val="2375"/>
              </a:lnSpc>
              <a:spcBef>
                <a:spcPts val="0"/>
              </a:spcBef>
              <a:spcAft>
                <a:spcPts val="0"/>
              </a:spcAft>
              <a:buNone/>
            </a:pPr>
            <a:r>
              <a:rPr lang="en-US" altLang="en-US" sz="1900" b="1" dirty="0">
                <a:solidFill>
                  <a:srgbClr val="1E2A5A"/>
                </a:solidFill>
                <a:latin typeface="Calibri"/>
                <a:ea typeface="맑은 고딕"/>
                <a:cs typeface="Calibri"/>
              </a:rPr>
              <a:t>17.  </a:t>
            </a:r>
            <a:r>
              <a:rPr lang="ko-KR" altLang="en-US" sz="1900" b="0" dirty="0">
                <a:solidFill>
                  <a:srgbClr val="1F2328"/>
                </a:solidFill>
                <a:latin typeface="맑은 고딕"/>
                <a:ea typeface="맑은 고딕"/>
                <a:cs typeface="맑은 고딕"/>
              </a:rPr>
              <a:t>거실에 있던 탁자는 18세기 영국 가구였다.</a:t>
            </a:r>
            <a:endParaRPr lang="ko-KR" sz="1900"/>
          </a:p>
        </p:txBody>
      </p:sp>
      <p:sp>
        <p:nvSpPr>
          <p:cNvPr id="15" name="tf_2"/>
          <p:cNvSpPr txBox="1"/>
          <p:nvPr/>
        </p:nvSpPr>
        <p:spPr>
          <a:xfrm>
            <a:off x="9765792" y="3912488"/>
            <a:ext cx="1828800" cy="466217"/>
          </a:xfrm>
          <a:prstGeom prst="rect">
            <a:avLst/>
          </a:prstGeom>
          <a:noFill/>
        </p:spPr>
        <p:txBody>
          <a:bodyPr wrap="square" lIns="18288" tIns="18288" rIns="18288" bIns="18288" anchor="ctr" rtlCol="0">
            <a:noAutofit/>
          </a:bodyPr>
          <a:lstStyle/>
          <a:p>
            <a:pPr algn="ctr">
              <a:lnSpc>
                <a:spcPts val="2375"/>
              </a:lnSpc>
              <a:spcBef>
                <a:spcPts val="0"/>
              </a:spcBef>
              <a:spcAft>
                <a:spcPts val="0"/>
              </a:spcAft>
              <a:buNone/>
            </a:pPr>
            <a:r>
              <a:rPr lang="en-US" altLang="en-US" sz="1900" b="1" dirty="0">
                <a:solidFill>
                  <a:srgbClr val="9AA3B5"/>
                </a:solidFill>
                <a:latin typeface="Calibri"/>
                <a:ea typeface="맑은 고딕"/>
                <a:cs typeface="Calibri"/>
              </a:rPr>
              <a:t>T   /   F</a:t>
            </a:r>
            <a:endParaRPr lang="ko-KR" sz="1900"/>
          </a:p>
        </p:txBody>
      </p:sp>
      <p:sp>
        <p:nvSpPr>
          <p:cNvPr id="16" name="rv_ans_2"/>
          <p:cNvSpPr/>
          <p:nvPr/>
        </p:nvSpPr>
        <p:spPr>
          <a:xfrm>
            <a:off x="9765792" y="3958208"/>
            <a:ext cx="1828800" cy="374777"/>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640"/>
              </a:lnSpc>
              <a:spcBef>
                <a:spcPts val="0"/>
              </a:spcBef>
              <a:spcAft>
                <a:spcPts val="0"/>
              </a:spcAft>
              <a:buNone/>
            </a:pPr>
            <a:r>
              <a:rPr lang="en-US" altLang="en-US" sz="2200" b="1" dirty="0">
                <a:solidFill>
                  <a:srgbClr val="C00000"/>
                </a:solidFill>
                <a:latin typeface="Calibri"/>
                <a:ea typeface="맑은 고딕"/>
                <a:cs typeface="Calibri"/>
              </a:rPr>
              <a:t>T</a:t>
            </a:r>
            <a:endParaRPr lang="ko-KR" sz="2200"/>
          </a:p>
        </p:txBody>
      </p:sp>
      <p:sp>
        <p:nvSpPr>
          <p:cNvPr id="17" name="q_card_3"/>
          <p:cNvSpPr/>
          <p:nvPr/>
        </p:nvSpPr>
        <p:spPr>
          <a:xfrm>
            <a:off x="457200" y="4451858"/>
            <a:ext cx="11274552" cy="466217"/>
          </a:xfrm>
          <a:prstGeom prst="roundRect">
            <a:avLst>
              <a:gd name="adj" fmla="val 12000"/>
            </a:avLst>
          </a:prstGeom>
          <a:noFill/>
          <a:ln w="12700">
            <a:solidFill>
              <a:srgbClr val="D5DAE5"/>
            </a:solidFill>
          </a:ln>
        </p:spPr>
        <p:txBody>
          <a:bodyPr rtlCol="0" anchor="ctr"/>
          <a:lstStyle/>
          <a:p>
            <a:pPr algn="ctr"/>
          </a:p>
        </p:txBody>
      </p:sp>
      <p:sp>
        <p:nvSpPr>
          <p:cNvPr id="18" name="q_3"/>
          <p:cNvSpPr txBox="1"/>
          <p:nvPr/>
        </p:nvSpPr>
        <p:spPr>
          <a:xfrm>
            <a:off x="502920" y="4451858"/>
            <a:ext cx="9171432" cy="466217"/>
          </a:xfrm>
          <a:prstGeom prst="rect">
            <a:avLst/>
          </a:prstGeom>
          <a:noFill/>
        </p:spPr>
        <p:txBody>
          <a:bodyPr wrap="square" lIns="109728" tIns="45720" rIns="109728" bIns="45720" anchor="ctr" rtlCol="0">
            <a:noAutofit/>
          </a:bodyPr>
          <a:lstStyle/>
          <a:p>
            <a:pPr algn="l">
              <a:lnSpc>
                <a:spcPts val="2375"/>
              </a:lnSpc>
              <a:spcBef>
                <a:spcPts val="0"/>
              </a:spcBef>
              <a:spcAft>
                <a:spcPts val="0"/>
              </a:spcAft>
              <a:buNone/>
            </a:pPr>
            <a:r>
              <a:rPr lang="en-US" altLang="en-US" sz="1900" b="1" dirty="0">
                <a:solidFill>
                  <a:srgbClr val="1E2A5A"/>
                </a:solidFill>
                <a:latin typeface="Calibri"/>
                <a:ea typeface="맑은 고딕"/>
                <a:cs typeface="Calibri"/>
              </a:rPr>
              <a:t>18.  </a:t>
            </a:r>
            <a:r>
              <a:rPr lang="ko-KR" altLang="en-US" sz="1900" b="0" dirty="0">
                <a:solidFill>
                  <a:srgbClr val="1F2328"/>
                </a:solidFill>
                <a:latin typeface="맑은 고딕"/>
                <a:ea typeface="맑은 고딕"/>
                <a:cs typeface="맑은 고딕"/>
              </a:rPr>
              <a:t>Boggis는 너무 흥분해서 거의 넘어질 뻔했다.</a:t>
            </a:r>
            <a:endParaRPr lang="ko-KR" sz="1900"/>
          </a:p>
        </p:txBody>
      </p:sp>
      <p:sp>
        <p:nvSpPr>
          <p:cNvPr id="19" name="tf_3"/>
          <p:cNvSpPr txBox="1"/>
          <p:nvPr/>
        </p:nvSpPr>
        <p:spPr>
          <a:xfrm>
            <a:off x="9765792" y="4451858"/>
            <a:ext cx="1828800" cy="466217"/>
          </a:xfrm>
          <a:prstGeom prst="rect">
            <a:avLst/>
          </a:prstGeom>
          <a:noFill/>
        </p:spPr>
        <p:txBody>
          <a:bodyPr wrap="square" lIns="18288" tIns="18288" rIns="18288" bIns="18288" anchor="ctr" rtlCol="0">
            <a:noAutofit/>
          </a:bodyPr>
          <a:lstStyle/>
          <a:p>
            <a:pPr algn="ctr">
              <a:lnSpc>
                <a:spcPts val="2375"/>
              </a:lnSpc>
              <a:spcBef>
                <a:spcPts val="0"/>
              </a:spcBef>
              <a:spcAft>
                <a:spcPts val="0"/>
              </a:spcAft>
              <a:buNone/>
            </a:pPr>
            <a:r>
              <a:rPr lang="en-US" altLang="en-US" sz="1900" b="1" dirty="0">
                <a:solidFill>
                  <a:srgbClr val="9AA3B5"/>
                </a:solidFill>
                <a:latin typeface="Calibri"/>
                <a:ea typeface="맑은 고딕"/>
                <a:cs typeface="Calibri"/>
              </a:rPr>
              <a:t>T   /   F</a:t>
            </a:r>
            <a:endParaRPr lang="ko-KR" sz="1900"/>
          </a:p>
        </p:txBody>
      </p:sp>
      <p:sp>
        <p:nvSpPr>
          <p:cNvPr id="20" name="rv_ans_3"/>
          <p:cNvSpPr/>
          <p:nvPr/>
        </p:nvSpPr>
        <p:spPr>
          <a:xfrm>
            <a:off x="9765792" y="4497578"/>
            <a:ext cx="1828800" cy="374777"/>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640"/>
              </a:lnSpc>
              <a:spcBef>
                <a:spcPts val="0"/>
              </a:spcBef>
              <a:spcAft>
                <a:spcPts val="0"/>
              </a:spcAft>
              <a:buNone/>
            </a:pPr>
            <a:r>
              <a:rPr lang="en-US" altLang="en-US" sz="2200" b="1" dirty="0">
                <a:solidFill>
                  <a:srgbClr val="C00000"/>
                </a:solidFill>
                <a:latin typeface="Calibri"/>
                <a:ea typeface="맑은 고딕"/>
                <a:cs typeface="Calibri"/>
              </a:rPr>
              <a:t>T</a:t>
            </a:r>
            <a:endParaRPr lang="ko-KR" sz="2200"/>
          </a:p>
        </p:txBody>
      </p:sp>
      <p:sp>
        <p:nvSpPr>
          <p:cNvPr id="21" name="q_card_4"/>
          <p:cNvSpPr/>
          <p:nvPr/>
        </p:nvSpPr>
        <p:spPr>
          <a:xfrm>
            <a:off x="457200" y="4991227"/>
            <a:ext cx="11274552" cy="466217"/>
          </a:xfrm>
          <a:prstGeom prst="roundRect">
            <a:avLst>
              <a:gd name="adj" fmla="val 12000"/>
            </a:avLst>
          </a:prstGeom>
          <a:noFill/>
          <a:ln w="12700">
            <a:solidFill>
              <a:srgbClr val="D5DAE5"/>
            </a:solidFill>
          </a:ln>
        </p:spPr>
        <p:txBody>
          <a:bodyPr rtlCol="0" anchor="ctr"/>
          <a:lstStyle/>
          <a:p>
            <a:pPr algn="ctr"/>
          </a:p>
        </p:txBody>
      </p:sp>
      <p:sp>
        <p:nvSpPr>
          <p:cNvPr id="22" name="q_4"/>
          <p:cNvSpPr txBox="1"/>
          <p:nvPr/>
        </p:nvSpPr>
        <p:spPr>
          <a:xfrm>
            <a:off x="502920" y="4991227"/>
            <a:ext cx="9171432" cy="466217"/>
          </a:xfrm>
          <a:prstGeom prst="rect">
            <a:avLst/>
          </a:prstGeom>
          <a:noFill/>
        </p:spPr>
        <p:txBody>
          <a:bodyPr wrap="square" lIns="109728" tIns="45720" rIns="109728" bIns="45720" anchor="ctr" rtlCol="0">
            <a:noAutofit/>
          </a:bodyPr>
          <a:lstStyle/>
          <a:p>
            <a:pPr algn="l">
              <a:lnSpc>
                <a:spcPts val="2375"/>
              </a:lnSpc>
              <a:spcBef>
                <a:spcPts val="0"/>
              </a:spcBef>
              <a:spcAft>
                <a:spcPts val="0"/>
              </a:spcAft>
              <a:buNone/>
            </a:pPr>
            <a:r>
              <a:rPr lang="en-US" altLang="en-US" sz="1900" b="1" dirty="0">
                <a:solidFill>
                  <a:srgbClr val="1E2A5A"/>
                </a:solidFill>
                <a:latin typeface="Calibri"/>
                <a:ea typeface="맑은 고딕"/>
                <a:cs typeface="Calibri"/>
              </a:rPr>
              <a:t>19.  </a:t>
            </a:r>
            <a:r>
              <a:rPr lang="ko-KR" altLang="en-US" sz="1900" b="0" dirty="0">
                <a:solidFill>
                  <a:srgbClr val="1F2328"/>
                </a:solidFill>
                <a:latin typeface="맑은 고딕"/>
                <a:ea typeface="맑은 고딕"/>
                <a:cs typeface="맑은 고딕"/>
              </a:rPr>
              <a:t>Bert가 무슨 일이냐고 묻자 Boggis는 솔직하게 사실을 말했다.</a:t>
            </a:r>
            <a:endParaRPr lang="ko-KR" sz="1900"/>
          </a:p>
        </p:txBody>
      </p:sp>
      <p:sp>
        <p:nvSpPr>
          <p:cNvPr id="23" name="tf_4"/>
          <p:cNvSpPr txBox="1"/>
          <p:nvPr/>
        </p:nvSpPr>
        <p:spPr>
          <a:xfrm>
            <a:off x="9765792" y="4991227"/>
            <a:ext cx="1828800" cy="466217"/>
          </a:xfrm>
          <a:prstGeom prst="rect">
            <a:avLst/>
          </a:prstGeom>
          <a:noFill/>
        </p:spPr>
        <p:txBody>
          <a:bodyPr wrap="square" lIns="18288" tIns="18288" rIns="18288" bIns="18288" anchor="ctr" rtlCol="0">
            <a:noAutofit/>
          </a:bodyPr>
          <a:lstStyle/>
          <a:p>
            <a:pPr algn="ctr">
              <a:lnSpc>
                <a:spcPts val="2375"/>
              </a:lnSpc>
              <a:spcBef>
                <a:spcPts val="0"/>
              </a:spcBef>
              <a:spcAft>
                <a:spcPts val="0"/>
              </a:spcAft>
              <a:buNone/>
            </a:pPr>
            <a:r>
              <a:rPr lang="en-US" altLang="en-US" sz="1900" b="1" dirty="0">
                <a:solidFill>
                  <a:srgbClr val="9AA3B5"/>
                </a:solidFill>
                <a:latin typeface="Calibri"/>
                <a:ea typeface="맑은 고딕"/>
                <a:cs typeface="Calibri"/>
              </a:rPr>
              <a:t>T   /   F</a:t>
            </a:r>
            <a:endParaRPr lang="ko-KR" sz="1900"/>
          </a:p>
        </p:txBody>
      </p:sp>
      <p:sp>
        <p:nvSpPr>
          <p:cNvPr id="24" name="rv_ans_4"/>
          <p:cNvSpPr/>
          <p:nvPr/>
        </p:nvSpPr>
        <p:spPr>
          <a:xfrm>
            <a:off x="9765792" y="5036947"/>
            <a:ext cx="1828800" cy="374777"/>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640"/>
              </a:lnSpc>
              <a:spcBef>
                <a:spcPts val="0"/>
              </a:spcBef>
              <a:spcAft>
                <a:spcPts val="0"/>
              </a:spcAft>
              <a:buNone/>
            </a:pPr>
            <a:r>
              <a:rPr lang="en-US" altLang="en-US" sz="2200" b="1" dirty="0">
                <a:solidFill>
                  <a:srgbClr val="C00000"/>
                </a:solidFill>
                <a:latin typeface="Calibri"/>
                <a:ea typeface="맑은 고딕"/>
                <a:cs typeface="Calibri"/>
              </a:rPr>
              <a:t>F</a:t>
            </a:r>
            <a:endParaRPr lang="ko-KR" sz="2200"/>
          </a:p>
        </p:txBody>
      </p:sp>
      <p:sp>
        <p:nvSpPr>
          <p:cNvPr id="25" name="q_card_5"/>
          <p:cNvSpPr/>
          <p:nvPr/>
        </p:nvSpPr>
        <p:spPr>
          <a:xfrm>
            <a:off x="457200" y="5530596"/>
            <a:ext cx="11274552" cy="466217"/>
          </a:xfrm>
          <a:prstGeom prst="roundRect">
            <a:avLst>
              <a:gd name="adj" fmla="val 12000"/>
            </a:avLst>
          </a:prstGeom>
          <a:noFill/>
          <a:ln w="12700">
            <a:solidFill>
              <a:srgbClr val="D5DAE5"/>
            </a:solidFill>
          </a:ln>
        </p:spPr>
        <p:txBody>
          <a:bodyPr rtlCol="0" anchor="ctr"/>
          <a:lstStyle/>
          <a:p>
            <a:pPr algn="ctr"/>
          </a:p>
        </p:txBody>
      </p:sp>
      <p:sp>
        <p:nvSpPr>
          <p:cNvPr id="26" name="q_5"/>
          <p:cNvSpPr txBox="1"/>
          <p:nvPr/>
        </p:nvSpPr>
        <p:spPr>
          <a:xfrm>
            <a:off x="502920" y="5530596"/>
            <a:ext cx="9171432" cy="466217"/>
          </a:xfrm>
          <a:prstGeom prst="rect">
            <a:avLst/>
          </a:prstGeom>
          <a:noFill/>
        </p:spPr>
        <p:txBody>
          <a:bodyPr wrap="square" lIns="109728" tIns="45720" rIns="109728" bIns="45720" anchor="ctr" rtlCol="0">
            <a:noAutofit/>
          </a:bodyPr>
          <a:lstStyle/>
          <a:p>
            <a:pPr algn="l">
              <a:lnSpc>
                <a:spcPts val="2375"/>
              </a:lnSpc>
              <a:spcBef>
                <a:spcPts val="0"/>
              </a:spcBef>
              <a:spcAft>
                <a:spcPts val="0"/>
              </a:spcAft>
              <a:buNone/>
            </a:pPr>
            <a:r>
              <a:rPr lang="en-US" altLang="en-US" sz="1900" b="1" dirty="0">
                <a:solidFill>
                  <a:srgbClr val="1E2A5A"/>
                </a:solidFill>
                <a:latin typeface="Calibri"/>
                <a:ea typeface="맑은 고딕"/>
                <a:cs typeface="Calibri"/>
              </a:rPr>
              <a:t>20.  </a:t>
            </a:r>
            <a:r>
              <a:rPr lang="ko-KR" altLang="en-US" sz="1900" b="0" dirty="0">
                <a:solidFill>
                  <a:srgbClr val="1F2328"/>
                </a:solidFill>
                <a:latin typeface="맑은 고딕"/>
                <a:ea typeface="맑은 고딕"/>
                <a:cs typeface="맑은 고딕"/>
              </a:rPr>
              <a:t>Boggis는 그 탁자가 수백 파운드의 가치가 있다고 말했다.</a:t>
            </a:r>
            <a:endParaRPr lang="ko-KR" sz="1900"/>
          </a:p>
        </p:txBody>
      </p:sp>
      <p:sp>
        <p:nvSpPr>
          <p:cNvPr id="27" name="tf_5"/>
          <p:cNvSpPr txBox="1"/>
          <p:nvPr/>
        </p:nvSpPr>
        <p:spPr>
          <a:xfrm>
            <a:off x="9765792" y="5530596"/>
            <a:ext cx="1828800" cy="466217"/>
          </a:xfrm>
          <a:prstGeom prst="rect">
            <a:avLst/>
          </a:prstGeom>
          <a:noFill/>
        </p:spPr>
        <p:txBody>
          <a:bodyPr wrap="square" lIns="18288" tIns="18288" rIns="18288" bIns="18288" anchor="ctr" rtlCol="0">
            <a:noAutofit/>
          </a:bodyPr>
          <a:lstStyle/>
          <a:p>
            <a:pPr algn="ctr">
              <a:lnSpc>
                <a:spcPts val="2375"/>
              </a:lnSpc>
              <a:spcBef>
                <a:spcPts val="0"/>
              </a:spcBef>
              <a:spcAft>
                <a:spcPts val="0"/>
              </a:spcAft>
              <a:buNone/>
            </a:pPr>
            <a:r>
              <a:rPr lang="en-US" altLang="en-US" sz="1900" b="1" dirty="0">
                <a:solidFill>
                  <a:srgbClr val="9AA3B5"/>
                </a:solidFill>
                <a:latin typeface="Calibri"/>
                <a:ea typeface="맑은 고딕"/>
                <a:cs typeface="Calibri"/>
              </a:rPr>
              <a:t>T   /   F</a:t>
            </a:r>
            <a:endParaRPr lang="ko-KR" sz="1900"/>
          </a:p>
        </p:txBody>
      </p:sp>
      <p:sp>
        <p:nvSpPr>
          <p:cNvPr id="28" name="rv_ans_5"/>
          <p:cNvSpPr/>
          <p:nvPr/>
        </p:nvSpPr>
        <p:spPr>
          <a:xfrm>
            <a:off x="9765792" y="5576316"/>
            <a:ext cx="1828800" cy="374777"/>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640"/>
              </a:lnSpc>
              <a:spcBef>
                <a:spcPts val="0"/>
              </a:spcBef>
              <a:spcAft>
                <a:spcPts val="0"/>
              </a:spcAft>
              <a:buNone/>
            </a:pPr>
            <a:r>
              <a:rPr lang="en-US" altLang="en-US" sz="2200" b="1" dirty="0">
                <a:solidFill>
                  <a:srgbClr val="C00000"/>
                </a:solidFill>
                <a:latin typeface="Calibri"/>
                <a:ea typeface="맑은 고딕"/>
                <a:cs typeface="Calibri"/>
              </a:rPr>
              <a:t>F</a:t>
            </a:r>
            <a:endParaRPr lang="ko-KR" sz="22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25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250"/>
                                        <p:tgtEl>
                                          <p:spTgt spid="1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0"/>
                                        </p:tgtEl>
                                        <p:attrNameLst>
                                          <p:attrName>style.visibility</p:attrName>
                                        </p:attrNameLst>
                                      </p:cBhvr>
                                      <p:to>
                                        <p:strVal val="visible"/>
                                      </p:to>
                                    </p:set>
                                    <p:animEffect transition="in" filter="fade">
                                      <p:cBhvr>
                                        <p:cTn id="13" dur="250"/>
                                        <p:tgtEl>
                                          <p:spTgt spid="20"/>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4"/>
                                        </p:tgtEl>
                                        <p:attrNameLst>
                                          <p:attrName>style.visibility</p:attrName>
                                        </p:attrNameLst>
                                      </p:cBhvr>
                                      <p:to>
                                        <p:strVal val="visible"/>
                                      </p:to>
                                    </p:set>
                                    <p:animEffect transition="in" filter="fade">
                                      <p:cBhvr>
                                        <p:cTn id="16" dur="250"/>
                                        <p:tgtEl>
                                          <p:spTgt spid="24"/>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8"/>
                                        </p:tgtEl>
                                        <p:attrNameLst>
                                          <p:attrName>style.visibility</p:attrName>
                                        </p:attrNameLst>
                                      </p:cBhvr>
                                      <p:to>
                                        <p:strVal val="visible"/>
                                      </p:to>
                                    </p:set>
                                    <p:animEffect transition="in" filter="fade">
                                      <p:cBhvr>
                                        <p:cTn id="19" dur="25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6" grpId="0" animBg="1"/>
      <p:bldP spid="20" grpId="0" animBg="1"/>
      <p:bldP spid="24" grpId="0" animBg="1"/>
      <p:bldP spid="28" grpId="0" animBg="1"/>
    </p:bldLst>
  </p:timing>
</p:sld>
</file>

<file path=ppt/slides/slide1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8000"/>
            </a:avLst>
          </a:prstGeom>
          <a:solidFill>
            <a:srgbClr val="1E2A5A"/>
          </a:solidFill>
          <a:ln>
            <a:noFill/>
          </a:ln>
        </p:spPr>
        <p:txBody>
          <a:bodyPr wrap="square" lIns="45720" tIns="18288" rIns="45720" bIns="18288" anchor="ctr" rtlCol="0">
            <a:noAutofit/>
          </a:bodyPr>
          <a:lstStyle/>
          <a:p>
            <a:pPr algn="ctr">
              <a:lnSpc>
                <a:spcPts val="2000"/>
              </a:lnSpc>
              <a:spcBef>
                <a:spcPts val="0"/>
              </a:spcBef>
              <a:spcAft>
                <a:spcPts val="0"/>
              </a:spcAft>
              <a:buNone/>
            </a:pPr>
            <a:r>
              <a:rPr lang="en-US" altLang="en-US" sz="1700" b="1" dirty="0">
                <a:solidFill>
                  <a:srgbClr val="FFFFFF"/>
                </a:solidFill>
                <a:latin typeface="Calibri"/>
                <a:ea typeface="맑은 고딕"/>
                <a:cs typeface="Calibri"/>
              </a:rPr>
              <a:t>L6-3</a:t>
            </a:r>
            <a:endParaRPr lang="ko-KR" sz="1700"/>
          </a:p>
        </p:txBody>
      </p:sp>
      <p:sp>
        <p:nvSpPr>
          <p:cNvPr id="3" name="hdr_chip"/>
          <p:cNvSpPr/>
          <p:nvPr/>
        </p:nvSpPr>
        <p:spPr>
          <a:xfrm>
            <a:off x="1755648" y="274320"/>
            <a:ext cx="1371600" cy="493776"/>
          </a:xfrm>
          <a:prstGeom prst="roundRect">
            <a:avLst>
              <a:gd name="adj" fmla="val 8000"/>
            </a:avLst>
          </a:prstGeom>
          <a:solidFill>
            <a:srgbClr val="E6EAF4"/>
          </a:solidFill>
          <a:ln>
            <a:noFill/>
          </a:ln>
        </p:spPr>
        <p:txBody>
          <a:bodyPr wrap="square" lIns="27432" tIns="18288" rIns="27432" bIns="18288" anchor="ctr" rtlCol="0">
            <a:noAutofit/>
          </a:bodyPr>
          <a:lstStyle/>
          <a:p>
            <a:pPr algn="ctr">
              <a:lnSpc>
                <a:spcPts val="1700"/>
              </a:lnSpc>
              <a:spcBef>
                <a:spcPts val="0"/>
              </a:spcBef>
              <a:spcAft>
                <a:spcPts val="0"/>
              </a:spcAft>
              <a:buNone/>
            </a:pPr>
            <a:r>
              <a:rPr lang="ko-KR" altLang="en-US" sz="1400" b="1" dirty="0">
                <a:solidFill>
                  <a:srgbClr val="1E2A5A"/>
                </a:solidFill>
                <a:latin typeface="맑은 고딕"/>
                <a:ea typeface="맑은 고딕"/>
                <a:cs typeface="맑은 고딕"/>
              </a:rPr>
              <a:t>PART 4 · 5</a:t>
            </a:r>
            <a:endParaRPr lang="ko-KR" sz="1400"/>
          </a:p>
        </p:txBody>
      </p:sp>
      <p:sp>
        <p:nvSpPr>
          <p:cNvPr id="4" name="hdr_q"/>
          <p:cNvSpPr txBox="1"/>
          <p:nvPr/>
        </p:nvSpPr>
        <p:spPr>
          <a:xfrm>
            <a:off x="3246120" y="246888"/>
            <a:ext cx="8485632" cy="548640"/>
          </a:xfrm>
          <a:prstGeom prst="rect">
            <a:avLst/>
          </a:prstGeom>
          <a:noFill/>
        </p:spPr>
        <p:txBody>
          <a:bodyPr wrap="square" lIns="109728" tIns="54864" rIns="109728" bIns="54864" anchor="ctr" rtlCol="0">
            <a:noAutofit/>
          </a:bodyPr>
          <a:lstStyle/>
          <a:p>
            <a:pPr algn="l">
              <a:lnSpc>
                <a:spcPts val="2400"/>
              </a:lnSpc>
              <a:spcBef>
                <a:spcPts val="0"/>
              </a:spcBef>
              <a:spcAft>
                <a:spcPts val="0"/>
              </a:spcAft>
              <a:buNone/>
            </a:pPr>
            <a:r>
              <a:rPr lang="ko-KR" altLang="en-US" sz="2000" b="1" dirty="0">
                <a:solidFill>
                  <a:srgbClr val="1F2328"/>
                </a:solidFill>
                <a:latin typeface="맑은 고딕"/>
                <a:ea typeface="맑은 고딕"/>
                <a:cs typeface="맑은 고딕"/>
              </a:rPr>
              <a:t>본문과 일치하면 T, 일치하지 않으면 F를 고르시오.</a:t>
            </a:r>
            <a:endParaRPr lang="ko-KR" sz="2000"/>
          </a:p>
        </p:txBody>
      </p:sp>
      <p:sp>
        <p:nvSpPr>
          <p:cNvPr id="5" name="ftr_exam"/>
          <p:cNvSpPr txBox="1"/>
          <p:nvPr/>
        </p:nvSpPr>
        <p:spPr>
          <a:xfrm>
            <a:off x="457200" y="6519672"/>
            <a:ext cx="5669280" cy="256032"/>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6</a:t>
            </a:r>
            <a:endParaRPr lang="ko-KR" sz="1000"/>
          </a:p>
        </p:txBody>
      </p:sp>
      <p:sp>
        <p:nvSpPr>
          <p:cNvPr id="6" name="ftr_hint"/>
          <p:cNvSpPr txBox="1"/>
          <p:nvPr/>
        </p:nvSpPr>
        <p:spPr>
          <a:xfrm>
            <a:off x="5971032" y="6519672"/>
            <a:ext cx="5760720" cy="256032"/>
          </a:xfrm>
          <a:prstGeom prst="rect">
            <a:avLst/>
          </a:prstGeom>
          <a:noFill/>
        </p:spPr>
        <p:txBody>
          <a:bodyPr wrap="square" lIns="0" tIns="0" rIns="0" bIns="0" anchor="t" rtlCol="0">
            <a:noAutofit/>
          </a:bodyPr>
          <a:lstStyle/>
          <a:p>
            <a:pPr algn="r">
              <a:lnSpc>
                <a:spcPts val="1200"/>
              </a:lnSpc>
              <a:spcBef>
                <a:spcPts val="0"/>
              </a:spcBef>
              <a:spcAft>
                <a:spcPts val="0"/>
              </a:spcAft>
              <a:buNone/>
            </a:pPr>
            <a:r>
              <a:rPr lang="ko-KR" altLang="en-US" sz="1000" b="0" dirty="0">
                <a:solidFill>
                  <a:srgbClr val="7A808C"/>
                </a:solidFill>
                <a:latin typeface="맑은 고딕"/>
                <a:ea typeface="맑은 고딕"/>
                <a:cs typeface="맑은 고딕"/>
              </a:rPr>
              <a:t>클릭 ① 정답(T/F) 공개</a:t>
            </a:r>
            <a:endParaRPr lang="ko-KR" sz="1000"/>
          </a:p>
        </p:txBody>
      </p:sp>
      <p:sp>
        <p:nvSpPr>
          <p:cNvPr id="7" name="passage_card"/>
          <p:cNvSpPr/>
          <p:nvPr/>
        </p:nvSpPr>
        <p:spPr>
          <a:xfrm>
            <a:off x="457200" y="950976"/>
            <a:ext cx="11274552" cy="2443479"/>
          </a:xfrm>
          <a:prstGeom prst="roundRect">
            <a:avLst>
              <a:gd name="adj" fmla="val 4000"/>
            </a:avLst>
          </a:prstGeom>
          <a:solidFill>
            <a:srgbClr val="F3F5F9"/>
          </a:solidFill>
          <a:ln w="12700">
            <a:solidFill>
              <a:srgbClr val="D9DFEA"/>
            </a:solidFill>
          </a:ln>
        </p:spPr>
        <p:txBody>
          <a:bodyPr rtlCol="0" anchor="ctr"/>
          <a:lstStyle/>
          <a:p>
            <a:pPr algn="ctr"/>
          </a:p>
        </p:txBody>
      </p:sp>
      <p:sp>
        <p:nvSpPr>
          <p:cNvPr id="8" name="passage"/>
          <p:cNvSpPr txBox="1"/>
          <p:nvPr/>
        </p:nvSpPr>
        <p:spPr>
          <a:xfrm>
            <a:off x="457200" y="950976"/>
            <a:ext cx="11274552" cy="2443479"/>
          </a:xfrm>
          <a:prstGeom prst="rect">
            <a:avLst/>
          </a:prstGeom>
          <a:noFill/>
        </p:spPr>
        <p:txBody>
          <a:bodyPr wrap="square" lIns="182880" tIns="137160" rIns="182880" bIns="137160" anchor="t" rtlCol="0">
            <a:noAutofit/>
          </a:bodyPr>
          <a:lstStyle/>
          <a:p>
            <a:pPr algn="l">
              <a:lnSpc>
                <a:spcPts val="1707"/>
              </a:lnSpc>
              <a:spcBef>
                <a:spcPts val="0"/>
              </a:spcBef>
              <a:spcAft>
                <a:spcPts val="0"/>
              </a:spcAft>
              <a:buNone/>
            </a:pPr>
            <a:r>
              <a:rPr lang="ko-KR" altLang="en-US" sz="1400" b="1" dirty="0">
                <a:solidFill>
                  <a:srgbClr val="1E2A5A"/>
                </a:solidFill>
                <a:latin typeface="맑은 고딕"/>
                <a:ea typeface="맑은 고딕"/>
                <a:cs typeface="맑은 고딕"/>
              </a:rPr>
              <a:t>⑲ </a:t>
            </a:r>
            <a:r>
              <a:rPr lang="en-US" altLang="en-US" sz="1400" b="0" dirty="0">
                <a:solidFill>
                  <a:srgbClr val="1F2328"/>
                </a:solidFill>
                <a:latin typeface="Calibri"/>
                <a:ea typeface="맑은 고딕"/>
                <a:cs typeface="Calibri"/>
              </a:rPr>
              <a:t>He then added, "Hmm, I think I may buy it. The legs of my table at home are broken. I can cut off the legs of your table and attach them to mine." </a:t>
            </a:r>
            <a:r>
              <a:rPr lang="ko-KR" altLang="en-US" sz="1400" b="1" dirty="0">
                <a:solidFill>
                  <a:srgbClr val="1E2A5A"/>
                </a:solidFill>
                <a:latin typeface="맑은 고딕"/>
                <a:ea typeface="맑은 고딕"/>
                <a:cs typeface="맑은 고딕"/>
              </a:rPr>
              <a:t>⑳ </a:t>
            </a:r>
            <a:r>
              <a:rPr lang="en-US" altLang="en-US" sz="1400" b="0" dirty="0">
                <a:solidFill>
                  <a:srgbClr val="1F2328"/>
                </a:solidFill>
                <a:latin typeface="Calibri"/>
                <a:ea typeface="맑은 고딕"/>
                <a:cs typeface="Calibri"/>
              </a:rPr>
              <a:t>"How much?" Rummins asked. "Not much, I’m afraid. This is just a reproduction," said Mr. Boggis. </a:t>
            </a:r>
            <a:r>
              <a:rPr lang="en-US" altLang="en-US" sz="1400" b="1" dirty="0">
                <a:solidFill>
                  <a:srgbClr val="1E2A5A"/>
                </a:solidFill>
                <a:latin typeface="Calibri"/>
                <a:ea typeface="맑은 고딕"/>
                <a:cs typeface="Calibri"/>
              </a:rPr>
              <a:t>21. </a:t>
            </a:r>
            <a:r>
              <a:rPr lang="en-US" altLang="en-US" sz="1400" b="0" dirty="0">
                <a:solidFill>
                  <a:srgbClr val="1F2328"/>
                </a:solidFill>
                <a:latin typeface="Calibri"/>
                <a:ea typeface="맑은 고딕"/>
                <a:cs typeface="Calibri"/>
              </a:rPr>
              <a:t>"So how much?" "Ten pounds." "Ten? It’s worth more than that." "How about fifteen?" "Make it fifty." "Well, thirty. This is my final offer." </a:t>
            </a:r>
            <a:r>
              <a:rPr lang="en-US" altLang="en-US" sz="1400" b="1" dirty="0">
                <a:solidFill>
                  <a:srgbClr val="1E2A5A"/>
                </a:solidFill>
                <a:latin typeface="Calibri"/>
                <a:ea typeface="맑은 고딕"/>
                <a:cs typeface="Calibri"/>
              </a:rPr>
              <a:t>22. </a:t>
            </a:r>
            <a:r>
              <a:rPr lang="en-US" altLang="en-US" sz="1400" b="0" dirty="0">
                <a:solidFill>
                  <a:srgbClr val="1F2328"/>
                </a:solidFill>
                <a:latin typeface="Calibri"/>
                <a:ea typeface="맑은 고딕"/>
                <a:cs typeface="Calibri"/>
              </a:rPr>
              <a:t>"OK, it’s yours, but how are you going to take it? This thing will not go in a car!" </a:t>
            </a:r>
            <a:r>
              <a:rPr lang="en-US" altLang="en-US" sz="1400" b="1" dirty="0">
                <a:solidFill>
                  <a:srgbClr val="1E2A5A"/>
                </a:solidFill>
                <a:latin typeface="Calibri"/>
                <a:ea typeface="맑은 고딕"/>
                <a:cs typeface="Calibri"/>
              </a:rPr>
              <a:t>23. </a:t>
            </a:r>
            <a:r>
              <a:rPr lang="en-US" altLang="en-US" sz="1400" b="0" dirty="0">
                <a:solidFill>
                  <a:srgbClr val="1F2328"/>
                </a:solidFill>
                <a:latin typeface="Calibri"/>
                <a:ea typeface="맑은 고딕"/>
                <a:cs typeface="Calibri"/>
              </a:rPr>
              <a:t>"We’ll see," Mr. Boggis said and went out to bring his car. </a:t>
            </a:r>
            <a:r>
              <a:rPr lang="en-US" altLang="en-US" sz="1400" b="1" dirty="0">
                <a:solidFill>
                  <a:srgbClr val="1E2A5A"/>
                </a:solidFill>
                <a:latin typeface="Calibri"/>
                <a:ea typeface="맑은 고딕"/>
                <a:cs typeface="Calibri"/>
              </a:rPr>
              <a:t>24. </a:t>
            </a:r>
            <a:r>
              <a:rPr lang="en-US" altLang="en-US" sz="1400" b="0" dirty="0">
                <a:solidFill>
                  <a:srgbClr val="1F2328"/>
                </a:solidFill>
                <a:latin typeface="Calibri"/>
                <a:ea typeface="맑은 고딕"/>
                <a:cs typeface="Calibri"/>
              </a:rPr>
              <a:t>On his way to the car, Mr. Boggis couldn’t help smiling. </a:t>
            </a:r>
            <a:r>
              <a:rPr lang="en-US" altLang="en-US" sz="1400" b="1" dirty="0">
                <a:solidFill>
                  <a:srgbClr val="1E2A5A"/>
                </a:solidFill>
                <a:latin typeface="Calibri"/>
                <a:ea typeface="맑은 고딕"/>
                <a:cs typeface="Calibri"/>
              </a:rPr>
              <a:t>25. </a:t>
            </a:r>
            <a:r>
              <a:rPr lang="en-US" altLang="en-US" sz="1400" b="0" dirty="0">
                <a:solidFill>
                  <a:srgbClr val="1F2328"/>
                </a:solidFill>
                <a:latin typeface="Calibri"/>
                <a:ea typeface="맑은 고딕"/>
                <a:cs typeface="Calibri"/>
              </a:rPr>
              <a:t>The table was what every dealer dreamed of. He couldn’t believe his luck. </a:t>
            </a:r>
            <a:r>
              <a:rPr lang="en-US" altLang="en-US" sz="1400" b="1" dirty="0">
                <a:solidFill>
                  <a:srgbClr val="1E2A5A"/>
                </a:solidFill>
                <a:latin typeface="Calibri"/>
                <a:ea typeface="맑은 고딕"/>
                <a:cs typeface="Calibri"/>
              </a:rPr>
              <a:t>26. </a:t>
            </a:r>
            <a:r>
              <a:rPr lang="en-US" altLang="en-US" sz="1400" b="0" dirty="0">
                <a:solidFill>
                  <a:srgbClr val="1F2328"/>
                </a:solidFill>
                <a:latin typeface="Calibri"/>
                <a:ea typeface="맑은 고딕"/>
                <a:cs typeface="Calibri"/>
              </a:rPr>
              <a:t>"Dad, what if this thing doesn’t go in his car? He might not pay you," said Bert. </a:t>
            </a:r>
            <a:r>
              <a:rPr lang="en-US" altLang="en-US" sz="1400" b="1" dirty="0">
                <a:solidFill>
                  <a:srgbClr val="1E2A5A"/>
                </a:solidFill>
                <a:latin typeface="Calibri"/>
                <a:ea typeface="맑은 고딕"/>
                <a:cs typeface="Calibri"/>
              </a:rPr>
              <a:t>27. </a:t>
            </a:r>
            <a:r>
              <a:rPr lang="en-US" altLang="en-US" sz="1400" b="0" dirty="0">
                <a:solidFill>
                  <a:srgbClr val="1F2328"/>
                </a:solidFill>
                <a:latin typeface="Calibri"/>
                <a:ea typeface="맑은 고딕"/>
                <a:cs typeface="Calibri"/>
              </a:rPr>
              <a:t>Rummins then had an idea. "What he wants is only the legs. Let’s cut the legs off for him," said Rummins. </a:t>
            </a:r>
            <a:r>
              <a:rPr lang="en-US" altLang="en-US" sz="1400" b="1" dirty="0">
                <a:solidFill>
                  <a:srgbClr val="1E2A5A"/>
                </a:solidFill>
                <a:latin typeface="Calibri"/>
                <a:ea typeface="맑은 고딕"/>
                <a:cs typeface="Calibri"/>
              </a:rPr>
              <a:t>28. </a:t>
            </a:r>
            <a:r>
              <a:rPr lang="en-US" altLang="en-US" sz="1400" b="0" dirty="0">
                <a:solidFill>
                  <a:srgbClr val="1F2328"/>
                </a:solidFill>
                <a:latin typeface="Calibri"/>
                <a:ea typeface="맑은 고딕"/>
                <a:cs typeface="Calibri"/>
              </a:rPr>
              <a:t>"Great idea!" said Bert. Bert then took out a saw and began to cut off the legs. </a:t>
            </a:r>
            <a:r>
              <a:rPr lang="en-US" altLang="en-US" sz="1400" b="1" dirty="0">
                <a:solidFill>
                  <a:srgbClr val="1E2A5A"/>
                </a:solidFill>
                <a:latin typeface="Calibri"/>
                <a:ea typeface="맑은 고딕"/>
                <a:cs typeface="Calibri"/>
              </a:rPr>
              <a:t>29. </a:t>
            </a:r>
            <a:r>
              <a:rPr lang="en-US" altLang="en-US" sz="1400" b="0" dirty="0">
                <a:solidFill>
                  <a:srgbClr val="1F2328"/>
                </a:solidFill>
                <a:latin typeface="Calibri"/>
                <a:ea typeface="맑은 고딕"/>
                <a:cs typeface="Calibri"/>
              </a:rPr>
              <a:t>When Mr. Boggis came back, the legs had been cut off. </a:t>
            </a:r>
            <a:r>
              <a:rPr lang="en-US" altLang="en-US" sz="1400" b="1" dirty="0">
                <a:solidFill>
                  <a:srgbClr val="1E2A5A"/>
                </a:solidFill>
                <a:latin typeface="Calibri"/>
                <a:ea typeface="맑은 고딕"/>
                <a:cs typeface="Calibri"/>
              </a:rPr>
              <a:t>30. </a:t>
            </a:r>
            <a:r>
              <a:rPr lang="en-US" altLang="en-US" sz="1400" b="0" dirty="0">
                <a:solidFill>
                  <a:srgbClr val="1F2328"/>
                </a:solidFill>
                <a:latin typeface="Calibri"/>
                <a:ea typeface="맑은 고딕"/>
                <a:cs typeface="Calibri"/>
              </a:rPr>
              <a:t>"Don’t worry, this was a favor. I won’t charge you for this," said Rummins. </a:t>
            </a:r>
            <a:r>
              <a:rPr lang="en-US" altLang="en-US" sz="1400" b="1" dirty="0">
                <a:solidFill>
                  <a:srgbClr val="1E2A5A"/>
                </a:solidFill>
                <a:latin typeface="Calibri"/>
                <a:ea typeface="맑은 고딕"/>
                <a:cs typeface="Calibri"/>
              </a:rPr>
              <a:t>31. </a:t>
            </a:r>
            <a:r>
              <a:rPr lang="en-US" altLang="en-US" sz="1400" b="0" dirty="0">
                <a:solidFill>
                  <a:srgbClr val="1F2328"/>
                </a:solidFill>
                <a:latin typeface="Calibri"/>
                <a:ea typeface="맑은 고딕"/>
                <a:cs typeface="Calibri"/>
              </a:rPr>
              <a:t>Mr. Boggis was so shocked that he couldn’t say anything. </a:t>
            </a:r>
            <a:endParaRPr lang="ko-KR" sz="1400"/>
          </a:p>
        </p:txBody>
      </p:sp>
      <p:sp>
        <p:nvSpPr>
          <p:cNvPr id="9" name="q_card_1"/>
          <p:cNvSpPr/>
          <p:nvPr/>
        </p:nvSpPr>
        <p:spPr>
          <a:xfrm>
            <a:off x="457200" y="3559047"/>
            <a:ext cx="11274552" cy="434467"/>
          </a:xfrm>
          <a:prstGeom prst="roundRect">
            <a:avLst>
              <a:gd name="adj" fmla="val 12000"/>
            </a:avLst>
          </a:prstGeom>
          <a:noFill/>
          <a:ln w="12700">
            <a:solidFill>
              <a:srgbClr val="D5DAE5"/>
            </a:solidFill>
          </a:ln>
        </p:spPr>
        <p:txBody>
          <a:bodyPr rtlCol="0" anchor="ctr"/>
          <a:lstStyle/>
          <a:p>
            <a:pPr algn="ctr"/>
          </a:p>
        </p:txBody>
      </p:sp>
      <p:sp>
        <p:nvSpPr>
          <p:cNvPr id="10" name="q_1"/>
          <p:cNvSpPr txBox="1"/>
          <p:nvPr/>
        </p:nvSpPr>
        <p:spPr>
          <a:xfrm>
            <a:off x="502920" y="3559047"/>
            <a:ext cx="9171432" cy="434467"/>
          </a:xfrm>
          <a:prstGeom prst="rect">
            <a:avLst/>
          </a:prstGeom>
          <a:noFill/>
        </p:spPr>
        <p:txBody>
          <a:bodyPr wrap="square" lIns="109728" tIns="45720" rIns="109728" bIns="45720" anchor="ctr" rtlCol="0">
            <a:noAutofit/>
          </a:bodyPr>
          <a:lstStyle/>
          <a:p>
            <a:pPr algn="l">
              <a:lnSpc>
                <a:spcPts val="2125"/>
              </a:lnSpc>
              <a:spcBef>
                <a:spcPts val="0"/>
              </a:spcBef>
              <a:spcAft>
                <a:spcPts val="0"/>
              </a:spcAft>
              <a:buNone/>
            </a:pPr>
            <a:r>
              <a:rPr lang="en-US" altLang="en-US" sz="1700" b="1" dirty="0">
                <a:solidFill>
                  <a:srgbClr val="1E2A5A"/>
                </a:solidFill>
                <a:latin typeface="Calibri"/>
                <a:ea typeface="맑은 고딕"/>
                <a:cs typeface="Calibri"/>
              </a:rPr>
              <a:t>21.  </a:t>
            </a:r>
            <a:r>
              <a:rPr lang="ko-KR" altLang="en-US" sz="1700" b="0" dirty="0">
                <a:solidFill>
                  <a:srgbClr val="1F2328"/>
                </a:solidFill>
                <a:latin typeface="맑은 고딕"/>
                <a:ea typeface="맑은 고딕"/>
                <a:cs typeface="맑은 고딕"/>
              </a:rPr>
              <a:t>Boggis는 자기 집 탁자의 다리가 부러졌다고 말했다.</a:t>
            </a:r>
            <a:endParaRPr lang="ko-KR" sz="1700"/>
          </a:p>
        </p:txBody>
      </p:sp>
      <p:sp>
        <p:nvSpPr>
          <p:cNvPr id="11" name="tf_1"/>
          <p:cNvSpPr txBox="1"/>
          <p:nvPr/>
        </p:nvSpPr>
        <p:spPr>
          <a:xfrm>
            <a:off x="9765792" y="3559047"/>
            <a:ext cx="1828800" cy="434467"/>
          </a:xfrm>
          <a:prstGeom prst="rect">
            <a:avLst/>
          </a:prstGeom>
          <a:noFill/>
        </p:spPr>
        <p:txBody>
          <a:bodyPr wrap="square" lIns="18288" tIns="18288" rIns="18288" bIns="18288" anchor="ctr" rtlCol="0">
            <a:noAutofit/>
          </a:bodyPr>
          <a:lstStyle/>
          <a:p>
            <a:pPr algn="ctr">
              <a:lnSpc>
                <a:spcPts val="2125"/>
              </a:lnSpc>
              <a:spcBef>
                <a:spcPts val="0"/>
              </a:spcBef>
              <a:spcAft>
                <a:spcPts val="0"/>
              </a:spcAft>
              <a:buNone/>
            </a:pPr>
            <a:r>
              <a:rPr lang="en-US" altLang="en-US" sz="1700" b="1" dirty="0">
                <a:solidFill>
                  <a:srgbClr val="9AA3B5"/>
                </a:solidFill>
                <a:latin typeface="Calibri"/>
                <a:ea typeface="맑은 고딕"/>
                <a:cs typeface="Calibri"/>
              </a:rPr>
              <a:t>T   /   F</a:t>
            </a:r>
            <a:endParaRPr lang="ko-KR" sz="1700"/>
          </a:p>
        </p:txBody>
      </p:sp>
      <p:sp>
        <p:nvSpPr>
          <p:cNvPr id="12" name="rv_ans_1"/>
          <p:cNvSpPr/>
          <p:nvPr/>
        </p:nvSpPr>
        <p:spPr>
          <a:xfrm>
            <a:off x="9765792" y="3604767"/>
            <a:ext cx="1828800" cy="343027"/>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400"/>
              </a:lnSpc>
              <a:spcBef>
                <a:spcPts val="0"/>
              </a:spcBef>
              <a:spcAft>
                <a:spcPts val="0"/>
              </a:spcAft>
              <a:buNone/>
            </a:pPr>
            <a:r>
              <a:rPr lang="en-US" altLang="en-US" sz="2000" b="1" dirty="0">
                <a:solidFill>
                  <a:srgbClr val="C00000"/>
                </a:solidFill>
                <a:latin typeface="Calibri"/>
                <a:ea typeface="맑은 고딕"/>
                <a:cs typeface="Calibri"/>
              </a:rPr>
              <a:t>T</a:t>
            </a:r>
            <a:endParaRPr lang="ko-KR" sz="2000"/>
          </a:p>
        </p:txBody>
      </p:sp>
      <p:sp>
        <p:nvSpPr>
          <p:cNvPr id="13" name="q_card_2"/>
          <p:cNvSpPr/>
          <p:nvPr/>
        </p:nvSpPr>
        <p:spPr>
          <a:xfrm>
            <a:off x="457200" y="4066666"/>
            <a:ext cx="11274552" cy="434467"/>
          </a:xfrm>
          <a:prstGeom prst="roundRect">
            <a:avLst>
              <a:gd name="adj" fmla="val 12000"/>
            </a:avLst>
          </a:prstGeom>
          <a:noFill/>
          <a:ln w="12700">
            <a:solidFill>
              <a:srgbClr val="D5DAE5"/>
            </a:solidFill>
          </a:ln>
        </p:spPr>
        <p:txBody>
          <a:bodyPr rtlCol="0" anchor="ctr"/>
          <a:lstStyle/>
          <a:p>
            <a:pPr algn="ctr"/>
          </a:p>
        </p:txBody>
      </p:sp>
      <p:sp>
        <p:nvSpPr>
          <p:cNvPr id="14" name="q_2"/>
          <p:cNvSpPr txBox="1"/>
          <p:nvPr/>
        </p:nvSpPr>
        <p:spPr>
          <a:xfrm>
            <a:off x="502920" y="4066666"/>
            <a:ext cx="9171432" cy="434467"/>
          </a:xfrm>
          <a:prstGeom prst="rect">
            <a:avLst/>
          </a:prstGeom>
          <a:noFill/>
        </p:spPr>
        <p:txBody>
          <a:bodyPr wrap="square" lIns="109728" tIns="45720" rIns="109728" bIns="45720" anchor="ctr" rtlCol="0">
            <a:noAutofit/>
          </a:bodyPr>
          <a:lstStyle/>
          <a:p>
            <a:pPr algn="l">
              <a:lnSpc>
                <a:spcPts val="2125"/>
              </a:lnSpc>
              <a:spcBef>
                <a:spcPts val="0"/>
              </a:spcBef>
              <a:spcAft>
                <a:spcPts val="0"/>
              </a:spcAft>
              <a:buNone/>
            </a:pPr>
            <a:r>
              <a:rPr lang="en-US" altLang="en-US" sz="1700" b="1" dirty="0">
                <a:solidFill>
                  <a:srgbClr val="1E2A5A"/>
                </a:solidFill>
                <a:latin typeface="Calibri"/>
                <a:ea typeface="맑은 고딕"/>
                <a:cs typeface="Calibri"/>
              </a:rPr>
              <a:t>22.  </a:t>
            </a:r>
            <a:r>
              <a:rPr lang="ko-KR" altLang="en-US" sz="1700" b="0" dirty="0">
                <a:solidFill>
                  <a:srgbClr val="1F2328"/>
                </a:solidFill>
                <a:latin typeface="맑은 고딕"/>
                <a:ea typeface="맑은 고딕"/>
                <a:cs typeface="맑은 고딕"/>
              </a:rPr>
              <a:t>Boggis는 탁자 전체를 자기 집 거실에 둘 것이라고 말했다.</a:t>
            </a:r>
            <a:endParaRPr lang="ko-KR" sz="1700"/>
          </a:p>
        </p:txBody>
      </p:sp>
      <p:sp>
        <p:nvSpPr>
          <p:cNvPr id="15" name="tf_2"/>
          <p:cNvSpPr txBox="1"/>
          <p:nvPr/>
        </p:nvSpPr>
        <p:spPr>
          <a:xfrm>
            <a:off x="9765792" y="4066666"/>
            <a:ext cx="1828800" cy="434467"/>
          </a:xfrm>
          <a:prstGeom prst="rect">
            <a:avLst/>
          </a:prstGeom>
          <a:noFill/>
        </p:spPr>
        <p:txBody>
          <a:bodyPr wrap="square" lIns="18288" tIns="18288" rIns="18288" bIns="18288" anchor="ctr" rtlCol="0">
            <a:noAutofit/>
          </a:bodyPr>
          <a:lstStyle/>
          <a:p>
            <a:pPr algn="ctr">
              <a:lnSpc>
                <a:spcPts val="2125"/>
              </a:lnSpc>
              <a:spcBef>
                <a:spcPts val="0"/>
              </a:spcBef>
              <a:spcAft>
                <a:spcPts val="0"/>
              </a:spcAft>
              <a:buNone/>
            </a:pPr>
            <a:r>
              <a:rPr lang="en-US" altLang="en-US" sz="1700" b="1" dirty="0">
                <a:solidFill>
                  <a:srgbClr val="9AA3B5"/>
                </a:solidFill>
                <a:latin typeface="Calibri"/>
                <a:ea typeface="맑은 고딕"/>
                <a:cs typeface="Calibri"/>
              </a:rPr>
              <a:t>T   /   F</a:t>
            </a:r>
            <a:endParaRPr lang="ko-KR" sz="1700"/>
          </a:p>
        </p:txBody>
      </p:sp>
      <p:sp>
        <p:nvSpPr>
          <p:cNvPr id="16" name="rv_ans_2"/>
          <p:cNvSpPr/>
          <p:nvPr/>
        </p:nvSpPr>
        <p:spPr>
          <a:xfrm>
            <a:off x="9765792" y="4112386"/>
            <a:ext cx="1828800" cy="343027"/>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400"/>
              </a:lnSpc>
              <a:spcBef>
                <a:spcPts val="0"/>
              </a:spcBef>
              <a:spcAft>
                <a:spcPts val="0"/>
              </a:spcAft>
              <a:buNone/>
            </a:pPr>
            <a:r>
              <a:rPr lang="en-US" altLang="en-US" sz="2000" b="1" dirty="0">
                <a:solidFill>
                  <a:srgbClr val="C00000"/>
                </a:solidFill>
                <a:latin typeface="Calibri"/>
                <a:ea typeface="맑은 고딕"/>
                <a:cs typeface="Calibri"/>
              </a:rPr>
              <a:t>F</a:t>
            </a:r>
            <a:endParaRPr lang="ko-KR" sz="2000"/>
          </a:p>
        </p:txBody>
      </p:sp>
      <p:sp>
        <p:nvSpPr>
          <p:cNvPr id="17" name="q_card_3"/>
          <p:cNvSpPr/>
          <p:nvPr/>
        </p:nvSpPr>
        <p:spPr>
          <a:xfrm>
            <a:off x="457200" y="4574286"/>
            <a:ext cx="11274552" cy="434467"/>
          </a:xfrm>
          <a:prstGeom prst="roundRect">
            <a:avLst>
              <a:gd name="adj" fmla="val 12000"/>
            </a:avLst>
          </a:prstGeom>
          <a:noFill/>
          <a:ln w="12700">
            <a:solidFill>
              <a:srgbClr val="D5DAE5"/>
            </a:solidFill>
          </a:ln>
        </p:spPr>
        <p:txBody>
          <a:bodyPr rtlCol="0" anchor="ctr"/>
          <a:lstStyle/>
          <a:p>
            <a:pPr algn="ctr"/>
          </a:p>
        </p:txBody>
      </p:sp>
      <p:sp>
        <p:nvSpPr>
          <p:cNvPr id="18" name="q_3"/>
          <p:cNvSpPr txBox="1"/>
          <p:nvPr/>
        </p:nvSpPr>
        <p:spPr>
          <a:xfrm>
            <a:off x="502920" y="4574286"/>
            <a:ext cx="9171432" cy="434467"/>
          </a:xfrm>
          <a:prstGeom prst="rect">
            <a:avLst/>
          </a:prstGeom>
          <a:noFill/>
        </p:spPr>
        <p:txBody>
          <a:bodyPr wrap="square" lIns="109728" tIns="45720" rIns="109728" bIns="45720" anchor="ctr" rtlCol="0">
            <a:noAutofit/>
          </a:bodyPr>
          <a:lstStyle/>
          <a:p>
            <a:pPr algn="l">
              <a:lnSpc>
                <a:spcPts val="2125"/>
              </a:lnSpc>
              <a:spcBef>
                <a:spcPts val="0"/>
              </a:spcBef>
              <a:spcAft>
                <a:spcPts val="0"/>
              </a:spcAft>
              <a:buNone/>
            </a:pPr>
            <a:r>
              <a:rPr lang="en-US" altLang="en-US" sz="1700" b="1" dirty="0">
                <a:solidFill>
                  <a:srgbClr val="1E2A5A"/>
                </a:solidFill>
                <a:latin typeface="Calibri"/>
                <a:ea typeface="맑은 고딕"/>
                <a:cs typeface="Calibri"/>
              </a:rPr>
              <a:t>23.  </a:t>
            </a:r>
            <a:r>
              <a:rPr lang="ko-KR" altLang="en-US" sz="1700" b="0" dirty="0">
                <a:solidFill>
                  <a:srgbClr val="1F2328"/>
                </a:solidFill>
                <a:latin typeface="맑은 고딕"/>
                <a:ea typeface="맑은 고딕"/>
                <a:cs typeface="맑은 고딕"/>
              </a:rPr>
              <a:t>Boggis가 처음 제시한 가격은 10파운드였다.</a:t>
            </a:r>
            <a:endParaRPr lang="ko-KR" sz="1700"/>
          </a:p>
        </p:txBody>
      </p:sp>
      <p:sp>
        <p:nvSpPr>
          <p:cNvPr id="19" name="tf_3"/>
          <p:cNvSpPr txBox="1"/>
          <p:nvPr/>
        </p:nvSpPr>
        <p:spPr>
          <a:xfrm>
            <a:off x="9765792" y="4574286"/>
            <a:ext cx="1828800" cy="434467"/>
          </a:xfrm>
          <a:prstGeom prst="rect">
            <a:avLst/>
          </a:prstGeom>
          <a:noFill/>
        </p:spPr>
        <p:txBody>
          <a:bodyPr wrap="square" lIns="18288" tIns="18288" rIns="18288" bIns="18288" anchor="ctr" rtlCol="0">
            <a:noAutofit/>
          </a:bodyPr>
          <a:lstStyle/>
          <a:p>
            <a:pPr algn="ctr">
              <a:lnSpc>
                <a:spcPts val="2125"/>
              </a:lnSpc>
              <a:spcBef>
                <a:spcPts val="0"/>
              </a:spcBef>
              <a:spcAft>
                <a:spcPts val="0"/>
              </a:spcAft>
              <a:buNone/>
            </a:pPr>
            <a:r>
              <a:rPr lang="en-US" altLang="en-US" sz="1700" b="1" dirty="0">
                <a:solidFill>
                  <a:srgbClr val="9AA3B5"/>
                </a:solidFill>
                <a:latin typeface="Calibri"/>
                <a:ea typeface="맑은 고딕"/>
                <a:cs typeface="Calibri"/>
              </a:rPr>
              <a:t>T   /   F</a:t>
            </a:r>
            <a:endParaRPr lang="ko-KR" sz="1700"/>
          </a:p>
        </p:txBody>
      </p:sp>
      <p:sp>
        <p:nvSpPr>
          <p:cNvPr id="20" name="rv_ans_3"/>
          <p:cNvSpPr/>
          <p:nvPr/>
        </p:nvSpPr>
        <p:spPr>
          <a:xfrm>
            <a:off x="9765792" y="4620005"/>
            <a:ext cx="1828800" cy="343027"/>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400"/>
              </a:lnSpc>
              <a:spcBef>
                <a:spcPts val="0"/>
              </a:spcBef>
              <a:spcAft>
                <a:spcPts val="0"/>
              </a:spcAft>
              <a:buNone/>
            </a:pPr>
            <a:r>
              <a:rPr lang="en-US" altLang="en-US" sz="2000" b="1" dirty="0">
                <a:solidFill>
                  <a:srgbClr val="C00000"/>
                </a:solidFill>
                <a:latin typeface="Calibri"/>
                <a:ea typeface="맑은 고딕"/>
                <a:cs typeface="Calibri"/>
              </a:rPr>
              <a:t>T</a:t>
            </a:r>
            <a:endParaRPr lang="ko-KR" sz="2000"/>
          </a:p>
        </p:txBody>
      </p:sp>
      <p:sp>
        <p:nvSpPr>
          <p:cNvPr id="21" name="q_card_4"/>
          <p:cNvSpPr/>
          <p:nvPr/>
        </p:nvSpPr>
        <p:spPr>
          <a:xfrm>
            <a:off x="457200" y="5081905"/>
            <a:ext cx="11274552" cy="434467"/>
          </a:xfrm>
          <a:prstGeom prst="roundRect">
            <a:avLst>
              <a:gd name="adj" fmla="val 12000"/>
            </a:avLst>
          </a:prstGeom>
          <a:noFill/>
          <a:ln w="12700">
            <a:solidFill>
              <a:srgbClr val="D5DAE5"/>
            </a:solidFill>
          </a:ln>
        </p:spPr>
        <p:txBody>
          <a:bodyPr rtlCol="0" anchor="ctr"/>
          <a:lstStyle/>
          <a:p>
            <a:pPr algn="ctr"/>
          </a:p>
        </p:txBody>
      </p:sp>
      <p:sp>
        <p:nvSpPr>
          <p:cNvPr id="22" name="q_4"/>
          <p:cNvSpPr txBox="1"/>
          <p:nvPr/>
        </p:nvSpPr>
        <p:spPr>
          <a:xfrm>
            <a:off x="502920" y="5081905"/>
            <a:ext cx="9171432" cy="434467"/>
          </a:xfrm>
          <a:prstGeom prst="rect">
            <a:avLst/>
          </a:prstGeom>
          <a:noFill/>
        </p:spPr>
        <p:txBody>
          <a:bodyPr wrap="square" lIns="109728" tIns="45720" rIns="109728" bIns="45720" anchor="ctr" rtlCol="0">
            <a:noAutofit/>
          </a:bodyPr>
          <a:lstStyle/>
          <a:p>
            <a:pPr algn="l">
              <a:lnSpc>
                <a:spcPts val="2125"/>
              </a:lnSpc>
              <a:spcBef>
                <a:spcPts val="0"/>
              </a:spcBef>
              <a:spcAft>
                <a:spcPts val="0"/>
              </a:spcAft>
              <a:buNone/>
            </a:pPr>
            <a:r>
              <a:rPr lang="en-US" altLang="en-US" sz="1700" b="1" dirty="0">
                <a:solidFill>
                  <a:srgbClr val="1E2A5A"/>
                </a:solidFill>
                <a:latin typeface="Calibri"/>
                <a:ea typeface="맑은 고딕"/>
                <a:cs typeface="Calibri"/>
              </a:rPr>
              <a:t>24.  </a:t>
            </a:r>
            <a:r>
              <a:rPr lang="ko-KR" altLang="en-US" sz="1700" b="0" dirty="0">
                <a:solidFill>
                  <a:srgbClr val="1F2328"/>
                </a:solidFill>
                <a:latin typeface="맑은 고딕"/>
                <a:ea typeface="맑은 고딕"/>
                <a:cs typeface="맑은 고딕"/>
              </a:rPr>
              <a:t>Rummins는 Boggis에게 100파운드를 요구했다.</a:t>
            </a:r>
            <a:endParaRPr lang="ko-KR" sz="1700"/>
          </a:p>
        </p:txBody>
      </p:sp>
      <p:sp>
        <p:nvSpPr>
          <p:cNvPr id="23" name="tf_4"/>
          <p:cNvSpPr txBox="1"/>
          <p:nvPr/>
        </p:nvSpPr>
        <p:spPr>
          <a:xfrm>
            <a:off x="9765792" y="5081905"/>
            <a:ext cx="1828800" cy="434467"/>
          </a:xfrm>
          <a:prstGeom prst="rect">
            <a:avLst/>
          </a:prstGeom>
          <a:noFill/>
        </p:spPr>
        <p:txBody>
          <a:bodyPr wrap="square" lIns="18288" tIns="18288" rIns="18288" bIns="18288" anchor="ctr" rtlCol="0">
            <a:noAutofit/>
          </a:bodyPr>
          <a:lstStyle/>
          <a:p>
            <a:pPr algn="ctr">
              <a:lnSpc>
                <a:spcPts val="2125"/>
              </a:lnSpc>
              <a:spcBef>
                <a:spcPts val="0"/>
              </a:spcBef>
              <a:spcAft>
                <a:spcPts val="0"/>
              </a:spcAft>
              <a:buNone/>
            </a:pPr>
            <a:r>
              <a:rPr lang="en-US" altLang="en-US" sz="1700" b="1" dirty="0">
                <a:solidFill>
                  <a:srgbClr val="9AA3B5"/>
                </a:solidFill>
                <a:latin typeface="Calibri"/>
                <a:ea typeface="맑은 고딕"/>
                <a:cs typeface="Calibri"/>
              </a:rPr>
              <a:t>T   /   F</a:t>
            </a:r>
            <a:endParaRPr lang="ko-KR" sz="1700"/>
          </a:p>
        </p:txBody>
      </p:sp>
      <p:sp>
        <p:nvSpPr>
          <p:cNvPr id="24" name="rv_ans_4"/>
          <p:cNvSpPr/>
          <p:nvPr/>
        </p:nvSpPr>
        <p:spPr>
          <a:xfrm>
            <a:off x="9765792" y="5127625"/>
            <a:ext cx="1828800" cy="343027"/>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400"/>
              </a:lnSpc>
              <a:spcBef>
                <a:spcPts val="0"/>
              </a:spcBef>
              <a:spcAft>
                <a:spcPts val="0"/>
              </a:spcAft>
              <a:buNone/>
            </a:pPr>
            <a:r>
              <a:rPr lang="en-US" altLang="en-US" sz="2000" b="1" dirty="0">
                <a:solidFill>
                  <a:srgbClr val="C00000"/>
                </a:solidFill>
                <a:latin typeface="Calibri"/>
                <a:ea typeface="맑은 고딕"/>
                <a:cs typeface="Calibri"/>
              </a:rPr>
              <a:t>F</a:t>
            </a:r>
            <a:endParaRPr lang="ko-KR" sz="2000"/>
          </a:p>
        </p:txBody>
      </p:sp>
      <p:sp>
        <p:nvSpPr>
          <p:cNvPr id="25" name="q_card_5"/>
          <p:cNvSpPr/>
          <p:nvPr/>
        </p:nvSpPr>
        <p:spPr>
          <a:xfrm>
            <a:off x="457200" y="5589524"/>
            <a:ext cx="11274552" cy="434467"/>
          </a:xfrm>
          <a:prstGeom prst="roundRect">
            <a:avLst>
              <a:gd name="adj" fmla="val 12000"/>
            </a:avLst>
          </a:prstGeom>
          <a:noFill/>
          <a:ln w="12700">
            <a:solidFill>
              <a:srgbClr val="D5DAE5"/>
            </a:solidFill>
          </a:ln>
        </p:spPr>
        <p:txBody>
          <a:bodyPr rtlCol="0" anchor="ctr"/>
          <a:lstStyle/>
          <a:p>
            <a:pPr algn="ctr"/>
          </a:p>
        </p:txBody>
      </p:sp>
      <p:sp>
        <p:nvSpPr>
          <p:cNvPr id="26" name="q_5"/>
          <p:cNvSpPr txBox="1"/>
          <p:nvPr/>
        </p:nvSpPr>
        <p:spPr>
          <a:xfrm>
            <a:off x="502920" y="5589524"/>
            <a:ext cx="9171432" cy="434467"/>
          </a:xfrm>
          <a:prstGeom prst="rect">
            <a:avLst/>
          </a:prstGeom>
          <a:noFill/>
        </p:spPr>
        <p:txBody>
          <a:bodyPr wrap="square" lIns="109728" tIns="45720" rIns="109728" bIns="45720" anchor="ctr" rtlCol="0">
            <a:noAutofit/>
          </a:bodyPr>
          <a:lstStyle/>
          <a:p>
            <a:pPr algn="l">
              <a:lnSpc>
                <a:spcPts val="2125"/>
              </a:lnSpc>
              <a:spcBef>
                <a:spcPts val="0"/>
              </a:spcBef>
              <a:spcAft>
                <a:spcPts val="0"/>
              </a:spcAft>
              <a:buNone/>
            </a:pPr>
            <a:r>
              <a:rPr lang="en-US" altLang="en-US" sz="1700" b="1" dirty="0">
                <a:solidFill>
                  <a:srgbClr val="1E2A5A"/>
                </a:solidFill>
                <a:latin typeface="Calibri"/>
                <a:ea typeface="맑은 고딕"/>
                <a:cs typeface="Calibri"/>
              </a:rPr>
              <a:t>25.  </a:t>
            </a:r>
            <a:r>
              <a:rPr lang="ko-KR" altLang="en-US" sz="1700" b="0" dirty="0">
                <a:solidFill>
                  <a:srgbClr val="1F2328"/>
                </a:solidFill>
                <a:latin typeface="맑은 고딕"/>
                <a:ea typeface="맑은 고딕"/>
                <a:cs typeface="맑은 고딕"/>
              </a:rPr>
              <a:t>Boggis의 마지막 제안은 30파운드였다.</a:t>
            </a:r>
            <a:endParaRPr lang="ko-KR" sz="1700"/>
          </a:p>
        </p:txBody>
      </p:sp>
      <p:sp>
        <p:nvSpPr>
          <p:cNvPr id="27" name="tf_5"/>
          <p:cNvSpPr txBox="1"/>
          <p:nvPr/>
        </p:nvSpPr>
        <p:spPr>
          <a:xfrm>
            <a:off x="9765792" y="5589524"/>
            <a:ext cx="1828800" cy="434467"/>
          </a:xfrm>
          <a:prstGeom prst="rect">
            <a:avLst/>
          </a:prstGeom>
          <a:noFill/>
        </p:spPr>
        <p:txBody>
          <a:bodyPr wrap="square" lIns="18288" tIns="18288" rIns="18288" bIns="18288" anchor="ctr" rtlCol="0">
            <a:noAutofit/>
          </a:bodyPr>
          <a:lstStyle/>
          <a:p>
            <a:pPr algn="ctr">
              <a:lnSpc>
                <a:spcPts val="2125"/>
              </a:lnSpc>
              <a:spcBef>
                <a:spcPts val="0"/>
              </a:spcBef>
              <a:spcAft>
                <a:spcPts val="0"/>
              </a:spcAft>
              <a:buNone/>
            </a:pPr>
            <a:r>
              <a:rPr lang="en-US" altLang="en-US" sz="1700" b="1" dirty="0">
                <a:solidFill>
                  <a:srgbClr val="9AA3B5"/>
                </a:solidFill>
                <a:latin typeface="Calibri"/>
                <a:ea typeface="맑은 고딕"/>
                <a:cs typeface="Calibri"/>
              </a:rPr>
              <a:t>T   /   F</a:t>
            </a:r>
            <a:endParaRPr lang="ko-KR" sz="1700"/>
          </a:p>
        </p:txBody>
      </p:sp>
      <p:sp>
        <p:nvSpPr>
          <p:cNvPr id="28" name="rv_ans_5"/>
          <p:cNvSpPr/>
          <p:nvPr/>
        </p:nvSpPr>
        <p:spPr>
          <a:xfrm>
            <a:off x="9765792" y="5635244"/>
            <a:ext cx="1828800" cy="343027"/>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400"/>
              </a:lnSpc>
              <a:spcBef>
                <a:spcPts val="0"/>
              </a:spcBef>
              <a:spcAft>
                <a:spcPts val="0"/>
              </a:spcAft>
              <a:buNone/>
            </a:pPr>
            <a:r>
              <a:rPr lang="en-US" altLang="en-US" sz="2000" b="1" dirty="0">
                <a:solidFill>
                  <a:srgbClr val="C00000"/>
                </a:solidFill>
                <a:latin typeface="Calibri"/>
                <a:ea typeface="맑은 고딕"/>
                <a:cs typeface="Calibri"/>
              </a:rPr>
              <a:t>T</a:t>
            </a:r>
            <a:endParaRPr lang="ko-KR" sz="20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25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250"/>
                                        <p:tgtEl>
                                          <p:spTgt spid="1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0"/>
                                        </p:tgtEl>
                                        <p:attrNameLst>
                                          <p:attrName>style.visibility</p:attrName>
                                        </p:attrNameLst>
                                      </p:cBhvr>
                                      <p:to>
                                        <p:strVal val="visible"/>
                                      </p:to>
                                    </p:set>
                                    <p:animEffect transition="in" filter="fade">
                                      <p:cBhvr>
                                        <p:cTn id="13" dur="250"/>
                                        <p:tgtEl>
                                          <p:spTgt spid="20"/>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4"/>
                                        </p:tgtEl>
                                        <p:attrNameLst>
                                          <p:attrName>style.visibility</p:attrName>
                                        </p:attrNameLst>
                                      </p:cBhvr>
                                      <p:to>
                                        <p:strVal val="visible"/>
                                      </p:to>
                                    </p:set>
                                    <p:animEffect transition="in" filter="fade">
                                      <p:cBhvr>
                                        <p:cTn id="16" dur="250"/>
                                        <p:tgtEl>
                                          <p:spTgt spid="24"/>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8"/>
                                        </p:tgtEl>
                                        <p:attrNameLst>
                                          <p:attrName>style.visibility</p:attrName>
                                        </p:attrNameLst>
                                      </p:cBhvr>
                                      <p:to>
                                        <p:strVal val="visible"/>
                                      </p:to>
                                    </p:set>
                                    <p:animEffect transition="in" filter="fade">
                                      <p:cBhvr>
                                        <p:cTn id="19" dur="25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6" grpId="0" animBg="1"/>
      <p:bldP spid="20" grpId="0" animBg="1"/>
      <p:bldP spid="24" grpId="0" animBg="1"/>
      <p:bldP spid="28" grpId="0" animBg="1"/>
    </p:bldLst>
  </p:timing>
</p:sld>
</file>

<file path=ppt/slides/slide1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8000"/>
            </a:avLst>
          </a:prstGeom>
          <a:solidFill>
            <a:srgbClr val="1E2A5A"/>
          </a:solidFill>
          <a:ln>
            <a:noFill/>
          </a:ln>
        </p:spPr>
        <p:txBody>
          <a:bodyPr wrap="square" lIns="45720" tIns="18288" rIns="45720" bIns="18288" anchor="ctr" rtlCol="0">
            <a:noAutofit/>
          </a:bodyPr>
          <a:lstStyle/>
          <a:p>
            <a:pPr algn="ctr">
              <a:lnSpc>
                <a:spcPts val="2000"/>
              </a:lnSpc>
              <a:spcBef>
                <a:spcPts val="0"/>
              </a:spcBef>
              <a:spcAft>
                <a:spcPts val="0"/>
              </a:spcAft>
              <a:buNone/>
            </a:pPr>
            <a:r>
              <a:rPr lang="en-US" altLang="en-US" sz="1700" b="1" dirty="0">
                <a:solidFill>
                  <a:srgbClr val="FFFFFF"/>
                </a:solidFill>
                <a:latin typeface="Calibri"/>
                <a:ea typeface="맑은 고딕"/>
                <a:cs typeface="Calibri"/>
              </a:rPr>
              <a:t>L6-3</a:t>
            </a:r>
            <a:endParaRPr lang="ko-KR" sz="1700"/>
          </a:p>
        </p:txBody>
      </p:sp>
      <p:sp>
        <p:nvSpPr>
          <p:cNvPr id="3" name="hdr_chip"/>
          <p:cNvSpPr/>
          <p:nvPr/>
        </p:nvSpPr>
        <p:spPr>
          <a:xfrm>
            <a:off x="1755648" y="274320"/>
            <a:ext cx="1371600" cy="493776"/>
          </a:xfrm>
          <a:prstGeom prst="roundRect">
            <a:avLst>
              <a:gd name="adj" fmla="val 8000"/>
            </a:avLst>
          </a:prstGeom>
          <a:solidFill>
            <a:srgbClr val="E6EAF4"/>
          </a:solidFill>
          <a:ln>
            <a:noFill/>
          </a:ln>
        </p:spPr>
        <p:txBody>
          <a:bodyPr wrap="square" lIns="27432" tIns="18288" rIns="27432" bIns="18288" anchor="ctr" rtlCol="0">
            <a:noAutofit/>
          </a:bodyPr>
          <a:lstStyle/>
          <a:p>
            <a:pPr algn="ctr">
              <a:lnSpc>
                <a:spcPts val="1700"/>
              </a:lnSpc>
              <a:spcBef>
                <a:spcPts val="0"/>
              </a:spcBef>
              <a:spcAft>
                <a:spcPts val="0"/>
              </a:spcAft>
              <a:buNone/>
            </a:pPr>
            <a:r>
              <a:rPr lang="ko-KR" altLang="en-US" sz="1400" b="1" dirty="0">
                <a:solidFill>
                  <a:srgbClr val="1E2A5A"/>
                </a:solidFill>
                <a:latin typeface="맑은 고딕"/>
                <a:ea typeface="맑은 고딕"/>
                <a:cs typeface="맑은 고딕"/>
              </a:rPr>
              <a:t>PART 4 · 6</a:t>
            </a:r>
            <a:endParaRPr lang="ko-KR" sz="1400"/>
          </a:p>
        </p:txBody>
      </p:sp>
      <p:sp>
        <p:nvSpPr>
          <p:cNvPr id="4" name="hdr_q"/>
          <p:cNvSpPr txBox="1"/>
          <p:nvPr/>
        </p:nvSpPr>
        <p:spPr>
          <a:xfrm>
            <a:off x="3246120" y="246888"/>
            <a:ext cx="8485632" cy="548640"/>
          </a:xfrm>
          <a:prstGeom prst="rect">
            <a:avLst/>
          </a:prstGeom>
          <a:noFill/>
        </p:spPr>
        <p:txBody>
          <a:bodyPr wrap="square" lIns="109728" tIns="54864" rIns="109728" bIns="54864" anchor="ctr" rtlCol="0">
            <a:noAutofit/>
          </a:bodyPr>
          <a:lstStyle/>
          <a:p>
            <a:pPr algn="l">
              <a:lnSpc>
                <a:spcPts val="2400"/>
              </a:lnSpc>
              <a:spcBef>
                <a:spcPts val="0"/>
              </a:spcBef>
              <a:spcAft>
                <a:spcPts val="0"/>
              </a:spcAft>
              <a:buNone/>
            </a:pPr>
            <a:r>
              <a:rPr lang="ko-KR" altLang="en-US" sz="2000" b="1" dirty="0">
                <a:solidFill>
                  <a:srgbClr val="1F2328"/>
                </a:solidFill>
                <a:latin typeface="맑은 고딕"/>
                <a:ea typeface="맑은 고딕"/>
                <a:cs typeface="맑은 고딕"/>
              </a:rPr>
              <a:t>본문과 일치하면 T, 일치하지 않으면 F를 고르시오.</a:t>
            </a:r>
            <a:endParaRPr lang="ko-KR" sz="2000"/>
          </a:p>
        </p:txBody>
      </p:sp>
      <p:sp>
        <p:nvSpPr>
          <p:cNvPr id="5" name="ftr_exam"/>
          <p:cNvSpPr txBox="1"/>
          <p:nvPr/>
        </p:nvSpPr>
        <p:spPr>
          <a:xfrm>
            <a:off x="457200" y="6519672"/>
            <a:ext cx="5669280" cy="256032"/>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6</a:t>
            </a:r>
            <a:endParaRPr lang="ko-KR" sz="1000"/>
          </a:p>
        </p:txBody>
      </p:sp>
      <p:sp>
        <p:nvSpPr>
          <p:cNvPr id="6" name="ftr_hint"/>
          <p:cNvSpPr txBox="1"/>
          <p:nvPr/>
        </p:nvSpPr>
        <p:spPr>
          <a:xfrm>
            <a:off x="5971032" y="6519672"/>
            <a:ext cx="5760720" cy="256032"/>
          </a:xfrm>
          <a:prstGeom prst="rect">
            <a:avLst/>
          </a:prstGeom>
          <a:noFill/>
        </p:spPr>
        <p:txBody>
          <a:bodyPr wrap="square" lIns="0" tIns="0" rIns="0" bIns="0" anchor="t" rtlCol="0">
            <a:noAutofit/>
          </a:bodyPr>
          <a:lstStyle/>
          <a:p>
            <a:pPr algn="r">
              <a:lnSpc>
                <a:spcPts val="1200"/>
              </a:lnSpc>
              <a:spcBef>
                <a:spcPts val="0"/>
              </a:spcBef>
              <a:spcAft>
                <a:spcPts val="0"/>
              </a:spcAft>
              <a:buNone/>
            </a:pPr>
            <a:r>
              <a:rPr lang="ko-KR" altLang="en-US" sz="1000" b="0" dirty="0">
                <a:solidFill>
                  <a:srgbClr val="7A808C"/>
                </a:solidFill>
                <a:latin typeface="맑은 고딕"/>
                <a:ea typeface="맑은 고딕"/>
                <a:cs typeface="맑은 고딕"/>
              </a:rPr>
              <a:t>클릭 ① 정답(T/F) 공개</a:t>
            </a:r>
            <a:endParaRPr lang="ko-KR" sz="1000"/>
          </a:p>
        </p:txBody>
      </p:sp>
      <p:sp>
        <p:nvSpPr>
          <p:cNvPr id="7" name="passage_card"/>
          <p:cNvSpPr/>
          <p:nvPr/>
        </p:nvSpPr>
        <p:spPr>
          <a:xfrm>
            <a:off x="457200" y="950976"/>
            <a:ext cx="11274552" cy="2443479"/>
          </a:xfrm>
          <a:prstGeom prst="roundRect">
            <a:avLst>
              <a:gd name="adj" fmla="val 4000"/>
            </a:avLst>
          </a:prstGeom>
          <a:solidFill>
            <a:srgbClr val="F3F5F9"/>
          </a:solidFill>
          <a:ln w="12700">
            <a:solidFill>
              <a:srgbClr val="D9DFEA"/>
            </a:solidFill>
          </a:ln>
        </p:spPr>
        <p:txBody>
          <a:bodyPr rtlCol="0" anchor="ctr"/>
          <a:lstStyle/>
          <a:p>
            <a:pPr algn="ctr"/>
          </a:p>
        </p:txBody>
      </p:sp>
      <p:sp>
        <p:nvSpPr>
          <p:cNvPr id="8" name="passage"/>
          <p:cNvSpPr txBox="1"/>
          <p:nvPr/>
        </p:nvSpPr>
        <p:spPr>
          <a:xfrm>
            <a:off x="457200" y="950976"/>
            <a:ext cx="11274552" cy="2443479"/>
          </a:xfrm>
          <a:prstGeom prst="rect">
            <a:avLst/>
          </a:prstGeom>
          <a:noFill/>
        </p:spPr>
        <p:txBody>
          <a:bodyPr wrap="square" lIns="182880" tIns="137160" rIns="182880" bIns="137160" anchor="t" rtlCol="0">
            <a:noAutofit/>
          </a:bodyPr>
          <a:lstStyle/>
          <a:p>
            <a:pPr algn="l">
              <a:lnSpc>
                <a:spcPts val="1707"/>
              </a:lnSpc>
              <a:spcBef>
                <a:spcPts val="0"/>
              </a:spcBef>
              <a:spcAft>
                <a:spcPts val="0"/>
              </a:spcAft>
              <a:buNone/>
            </a:pPr>
            <a:r>
              <a:rPr lang="ko-KR" altLang="en-US" sz="1400" b="1" dirty="0">
                <a:solidFill>
                  <a:srgbClr val="1E2A5A"/>
                </a:solidFill>
                <a:latin typeface="맑은 고딕"/>
                <a:ea typeface="맑은 고딕"/>
                <a:cs typeface="맑은 고딕"/>
              </a:rPr>
              <a:t>⑲ </a:t>
            </a:r>
            <a:r>
              <a:rPr lang="en-US" altLang="en-US" sz="1400" b="0" dirty="0">
                <a:solidFill>
                  <a:srgbClr val="1F2328"/>
                </a:solidFill>
                <a:latin typeface="Calibri"/>
                <a:ea typeface="맑은 고딕"/>
                <a:cs typeface="Calibri"/>
              </a:rPr>
              <a:t>He then added, "Hmm, I think I may buy it. The legs of my table at home are broken. I can cut off the legs of your table and attach them to mine." </a:t>
            </a:r>
            <a:r>
              <a:rPr lang="ko-KR" altLang="en-US" sz="1400" b="1" dirty="0">
                <a:solidFill>
                  <a:srgbClr val="1E2A5A"/>
                </a:solidFill>
                <a:latin typeface="맑은 고딕"/>
                <a:ea typeface="맑은 고딕"/>
                <a:cs typeface="맑은 고딕"/>
              </a:rPr>
              <a:t>⑳ </a:t>
            </a:r>
            <a:r>
              <a:rPr lang="en-US" altLang="en-US" sz="1400" b="0" dirty="0">
                <a:solidFill>
                  <a:srgbClr val="1F2328"/>
                </a:solidFill>
                <a:latin typeface="Calibri"/>
                <a:ea typeface="맑은 고딕"/>
                <a:cs typeface="Calibri"/>
              </a:rPr>
              <a:t>"How much?" Rummins asked. "Not much, I’m afraid. This is just a reproduction," said Mr. Boggis. </a:t>
            </a:r>
            <a:r>
              <a:rPr lang="en-US" altLang="en-US" sz="1400" b="1" dirty="0">
                <a:solidFill>
                  <a:srgbClr val="1E2A5A"/>
                </a:solidFill>
                <a:latin typeface="Calibri"/>
                <a:ea typeface="맑은 고딕"/>
                <a:cs typeface="Calibri"/>
              </a:rPr>
              <a:t>21. </a:t>
            </a:r>
            <a:r>
              <a:rPr lang="en-US" altLang="en-US" sz="1400" b="0" dirty="0">
                <a:solidFill>
                  <a:srgbClr val="1F2328"/>
                </a:solidFill>
                <a:latin typeface="Calibri"/>
                <a:ea typeface="맑은 고딕"/>
                <a:cs typeface="Calibri"/>
              </a:rPr>
              <a:t>"So how much?" "Ten pounds." "Ten? It’s worth more than that." "How about fifteen?" "Make it fifty." "Well, thirty. This is my final offer." </a:t>
            </a:r>
            <a:r>
              <a:rPr lang="en-US" altLang="en-US" sz="1400" b="1" dirty="0">
                <a:solidFill>
                  <a:srgbClr val="1E2A5A"/>
                </a:solidFill>
                <a:latin typeface="Calibri"/>
                <a:ea typeface="맑은 고딕"/>
                <a:cs typeface="Calibri"/>
              </a:rPr>
              <a:t>22. </a:t>
            </a:r>
            <a:r>
              <a:rPr lang="en-US" altLang="en-US" sz="1400" b="0" dirty="0">
                <a:solidFill>
                  <a:srgbClr val="1F2328"/>
                </a:solidFill>
                <a:latin typeface="Calibri"/>
                <a:ea typeface="맑은 고딕"/>
                <a:cs typeface="Calibri"/>
              </a:rPr>
              <a:t>"OK, it’s yours, but how are you going to take it? This thing will not go in a car!" </a:t>
            </a:r>
            <a:r>
              <a:rPr lang="en-US" altLang="en-US" sz="1400" b="1" dirty="0">
                <a:solidFill>
                  <a:srgbClr val="1E2A5A"/>
                </a:solidFill>
                <a:latin typeface="Calibri"/>
                <a:ea typeface="맑은 고딕"/>
                <a:cs typeface="Calibri"/>
              </a:rPr>
              <a:t>23. </a:t>
            </a:r>
            <a:r>
              <a:rPr lang="en-US" altLang="en-US" sz="1400" b="0" dirty="0">
                <a:solidFill>
                  <a:srgbClr val="1F2328"/>
                </a:solidFill>
                <a:latin typeface="Calibri"/>
                <a:ea typeface="맑은 고딕"/>
                <a:cs typeface="Calibri"/>
              </a:rPr>
              <a:t>"We’ll see," Mr. Boggis said and went out to bring his car. </a:t>
            </a:r>
            <a:r>
              <a:rPr lang="en-US" altLang="en-US" sz="1400" b="1" dirty="0">
                <a:solidFill>
                  <a:srgbClr val="1E2A5A"/>
                </a:solidFill>
                <a:latin typeface="Calibri"/>
                <a:ea typeface="맑은 고딕"/>
                <a:cs typeface="Calibri"/>
              </a:rPr>
              <a:t>24. </a:t>
            </a:r>
            <a:r>
              <a:rPr lang="en-US" altLang="en-US" sz="1400" b="0" dirty="0">
                <a:solidFill>
                  <a:srgbClr val="1F2328"/>
                </a:solidFill>
                <a:latin typeface="Calibri"/>
                <a:ea typeface="맑은 고딕"/>
                <a:cs typeface="Calibri"/>
              </a:rPr>
              <a:t>On his way to the car, Mr. Boggis couldn’t help smiling. </a:t>
            </a:r>
            <a:r>
              <a:rPr lang="en-US" altLang="en-US" sz="1400" b="1" dirty="0">
                <a:solidFill>
                  <a:srgbClr val="1E2A5A"/>
                </a:solidFill>
                <a:latin typeface="Calibri"/>
                <a:ea typeface="맑은 고딕"/>
                <a:cs typeface="Calibri"/>
              </a:rPr>
              <a:t>25. </a:t>
            </a:r>
            <a:r>
              <a:rPr lang="en-US" altLang="en-US" sz="1400" b="0" dirty="0">
                <a:solidFill>
                  <a:srgbClr val="1F2328"/>
                </a:solidFill>
                <a:latin typeface="Calibri"/>
                <a:ea typeface="맑은 고딕"/>
                <a:cs typeface="Calibri"/>
              </a:rPr>
              <a:t>The table was what every dealer dreamed of. He couldn’t believe his luck. </a:t>
            </a:r>
            <a:r>
              <a:rPr lang="en-US" altLang="en-US" sz="1400" b="1" dirty="0">
                <a:solidFill>
                  <a:srgbClr val="1E2A5A"/>
                </a:solidFill>
                <a:latin typeface="Calibri"/>
                <a:ea typeface="맑은 고딕"/>
                <a:cs typeface="Calibri"/>
              </a:rPr>
              <a:t>26. </a:t>
            </a:r>
            <a:r>
              <a:rPr lang="en-US" altLang="en-US" sz="1400" b="0" dirty="0">
                <a:solidFill>
                  <a:srgbClr val="1F2328"/>
                </a:solidFill>
                <a:latin typeface="Calibri"/>
                <a:ea typeface="맑은 고딕"/>
                <a:cs typeface="Calibri"/>
              </a:rPr>
              <a:t>"Dad, what if this thing doesn’t go in his car? He might not pay you," said Bert. </a:t>
            </a:r>
            <a:r>
              <a:rPr lang="en-US" altLang="en-US" sz="1400" b="1" dirty="0">
                <a:solidFill>
                  <a:srgbClr val="1E2A5A"/>
                </a:solidFill>
                <a:latin typeface="Calibri"/>
                <a:ea typeface="맑은 고딕"/>
                <a:cs typeface="Calibri"/>
              </a:rPr>
              <a:t>27. </a:t>
            </a:r>
            <a:r>
              <a:rPr lang="en-US" altLang="en-US" sz="1400" b="0" dirty="0">
                <a:solidFill>
                  <a:srgbClr val="1F2328"/>
                </a:solidFill>
                <a:latin typeface="Calibri"/>
                <a:ea typeface="맑은 고딕"/>
                <a:cs typeface="Calibri"/>
              </a:rPr>
              <a:t>Rummins then had an idea. "What he wants is only the legs. Let’s cut the legs off for him," said Rummins. </a:t>
            </a:r>
            <a:r>
              <a:rPr lang="en-US" altLang="en-US" sz="1400" b="1" dirty="0">
                <a:solidFill>
                  <a:srgbClr val="1E2A5A"/>
                </a:solidFill>
                <a:latin typeface="Calibri"/>
                <a:ea typeface="맑은 고딕"/>
                <a:cs typeface="Calibri"/>
              </a:rPr>
              <a:t>28. </a:t>
            </a:r>
            <a:r>
              <a:rPr lang="en-US" altLang="en-US" sz="1400" b="0" dirty="0">
                <a:solidFill>
                  <a:srgbClr val="1F2328"/>
                </a:solidFill>
                <a:latin typeface="Calibri"/>
                <a:ea typeface="맑은 고딕"/>
                <a:cs typeface="Calibri"/>
              </a:rPr>
              <a:t>"Great idea!" said Bert. Bert then took out a saw and began to cut off the legs. </a:t>
            </a:r>
            <a:r>
              <a:rPr lang="en-US" altLang="en-US" sz="1400" b="1" dirty="0">
                <a:solidFill>
                  <a:srgbClr val="1E2A5A"/>
                </a:solidFill>
                <a:latin typeface="Calibri"/>
                <a:ea typeface="맑은 고딕"/>
                <a:cs typeface="Calibri"/>
              </a:rPr>
              <a:t>29. </a:t>
            </a:r>
            <a:r>
              <a:rPr lang="en-US" altLang="en-US" sz="1400" b="0" dirty="0">
                <a:solidFill>
                  <a:srgbClr val="1F2328"/>
                </a:solidFill>
                <a:latin typeface="Calibri"/>
                <a:ea typeface="맑은 고딕"/>
                <a:cs typeface="Calibri"/>
              </a:rPr>
              <a:t>When Mr. Boggis came back, the legs had been cut off. </a:t>
            </a:r>
            <a:r>
              <a:rPr lang="en-US" altLang="en-US" sz="1400" b="1" dirty="0">
                <a:solidFill>
                  <a:srgbClr val="1E2A5A"/>
                </a:solidFill>
                <a:latin typeface="Calibri"/>
                <a:ea typeface="맑은 고딕"/>
                <a:cs typeface="Calibri"/>
              </a:rPr>
              <a:t>30. </a:t>
            </a:r>
            <a:r>
              <a:rPr lang="en-US" altLang="en-US" sz="1400" b="0" dirty="0">
                <a:solidFill>
                  <a:srgbClr val="1F2328"/>
                </a:solidFill>
                <a:latin typeface="Calibri"/>
                <a:ea typeface="맑은 고딕"/>
                <a:cs typeface="Calibri"/>
              </a:rPr>
              <a:t>"Don’t worry, this was a favor. I won’t charge you for this," said Rummins. </a:t>
            </a:r>
            <a:r>
              <a:rPr lang="en-US" altLang="en-US" sz="1400" b="1" dirty="0">
                <a:solidFill>
                  <a:srgbClr val="1E2A5A"/>
                </a:solidFill>
                <a:latin typeface="Calibri"/>
                <a:ea typeface="맑은 고딕"/>
                <a:cs typeface="Calibri"/>
              </a:rPr>
              <a:t>31. </a:t>
            </a:r>
            <a:r>
              <a:rPr lang="en-US" altLang="en-US" sz="1400" b="0" dirty="0">
                <a:solidFill>
                  <a:srgbClr val="1F2328"/>
                </a:solidFill>
                <a:latin typeface="Calibri"/>
                <a:ea typeface="맑은 고딕"/>
                <a:cs typeface="Calibri"/>
              </a:rPr>
              <a:t>Mr. Boggis was so shocked that he couldn’t say anything. </a:t>
            </a:r>
            <a:endParaRPr lang="ko-KR" sz="1400"/>
          </a:p>
        </p:txBody>
      </p:sp>
      <p:sp>
        <p:nvSpPr>
          <p:cNvPr id="9" name="q_card_1"/>
          <p:cNvSpPr/>
          <p:nvPr/>
        </p:nvSpPr>
        <p:spPr>
          <a:xfrm>
            <a:off x="457200" y="3559047"/>
            <a:ext cx="11274552" cy="434467"/>
          </a:xfrm>
          <a:prstGeom prst="roundRect">
            <a:avLst>
              <a:gd name="adj" fmla="val 12000"/>
            </a:avLst>
          </a:prstGeom>
          <a:noFill/>
          <a:ln w="12700">
            <a:solidFill>
              <a:srgbClr val="D5DAE5"/>
            </a:solidFill>
          </a:ln>
        </p:spPr>
        <p:txBody>
          <a:bodyPr rtlCol="0" anchor="ctr"/>
          <a:lstStyle/>
          <a:p>
            <a:pPr algn="ctr"/>
          </a:p>
        </p:txBody>
      </p:sp>
      <p:sp>
        <p:nvSpPr>
          <p:cNvPr id="10" name="q_1"/>
          <p:cNvSpPr txBox="1"/>
          <p:nvPr/>
        </p:nvSpPr>
        <p:spPr>
          <a:xfrm>
            <a:off x="502920" y="3559047"/>
            <a:ext cx="9171432" cy="434467"/>
          </a:xfrm>
          <a:prstGeom prst="rect">
            <a:avLst/>
          </a:prstGeom>
          <a:noFill/>
        </p:spPr>
        <p:txBody>
          <a:bodyPr wrap="square" lIns="109728" tIns="45720" rIns="109728" bIns="45720" anchor="ctr" rtlCol="0">
            <a:noAutofit/>
          </a:bodyPr>
          <a:lstStyle/>
          <a:p>
            <a:pPr algn="l">
              <a:lnSpc>
                <a:spcPts val="2125"/>
              </a:lnSpc>
              <a:spcBef>
                <a:spcPts val="0"/>
              </a:spcBef>
              <a:spcAft>
                <a:spcPts val="0"/>
              </a:spcAft>
              <a:buNone/>
            </a:pPr>
            <a:r>
              <a:rPr lang="en-US" altLang="en-US" sz="1700" b="1" dirty="0">
                <a:solidFill>
                  <a:srgbClr val="1E2A5A"/>
                </a:solidFill>
                <a:latin typeface="Calibri"/>
                <a:ea typeface="맑은 고딕"/>
                <a:cs typeface="Calibri"/>
              </a:rPr>
              <a:t>26.  </a:t>
            </a:r>
            <a:r>
              <a:rPr lang="ko-KR" altLang="en-US" sz="1700" b="0" dirty="0">
                <a:solidFill>
                  <a:srgbClr val="1F2328"/>
                </a:solidFill>
                <a:latin typeface="맑은 고딕"/>
                <a:ea typeface="맑은 고딕"/>
                <a:cs typeface="맑은 고딕"/>
              </a:rPr>
              <a:t>Rummins는 탁자가 차에 들어가지 않을 것이라고 말했다.</a:t>
            </a:r>
            <a:endParaRPr lang="ko-KR" sz="1700"/>
          </a:p>
        </p:txBody>
      </p:sp>
      <p:sp>
        <p:nvSpPr>
          <p:cNvPr id="11" name="tf_1"/>
          <p:cNvSpPr txBox="1"/>
          <p:nvPr/>
        </p:nvSpPr>
        <p:spPr>
          <a:xfrm>
            <a:off x="9765792" y="3559047"/>
            <a:ext cx="1828800" cy="434467"/>
          </a:xfrm>
          <a:prstGeom prst="rect">
            <a:avLst/>
          </a:prstGeom>
          <a:noFill/>
        </p:spPr>
        <p:txBody>
          <a:bodyPr wrap="square" lIns="18288" tIns="18288" rIns="18288" bIns="18288" anchor="ctr" rtlCol="0">
            <a:noAutofit/>
          </a:bodyPr>
          <a:lstStyle/>
          <a:p>
            <a:pPr algn="ctr">
              <a:lnSpc>
                <a:spcPts val="2125"/>
              </a:lnSpc>
              <a:spcBef>
                <a:spcPts val="0"/>
              </a:spcBef>
              <a:spcAft>
                <a:spcPts val="0"/>
              </a:spcAft>
              <a:buNone/>
            </a:pPr>
            <a:r>
              <a:rPr lang="en-US" altLang="en-US" sz="1700" b="1" dirty="0">
                <a:solidFill>
                  <a:srgbClr val="9AA3B5"/>
                </a:solidFill>
                <a:latin typeface="Calibri"/>
                <a:ea typeface="맑은 고딕"/>
                <a:cs typeface="Calibri"/>
              </a:rPr>
              <a:t>T   /   F</a:t>
            </a:r>
            <a:endParaRPr lang="ko-KR" sz="1700"/>
          </a:p>
        </p:txBody>
      </p:sp>
      <p:sp>
        <p:nvSpPr>
          <p:cNvPr id="12" name="rv_ans_1"/>
          <p:cNvSpPr/>
          <p:nvPr/>
        </p:nvSpPr>
        <p:spPr>
          <a:xfrm>
            <a:off x="9765792" y="3604767"/>
            <a:ext cx="1828800" cy="343027"/>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400"/>
              </a:lnSpc>
              <a:spcBef>
                <a:spcPts val="0"/>
              </a:spcBef>
              <a:spcAft>
                <a:spcPts val="0"/>
              </a:spcAft>
              <a:buNone/>
            </a:pPr>
            <a:r>
              <a:rPr lang="en-US" altLang="en-US" sz="2000" b="1" dirty="0">
                <a:solidFill>
                  <a:srgbClr val="C00000"/>
                </a:solidFill>
                <a:latin typeface="Calibri"/>
                <a:ea typeface="맑은 고딕"/>
                <a:cs typeface="Calibri"/>
              </a:rPr>
              <a:t>T</a:t>
            </a:r>
            <a:endParaRPr lang="ko-KR" sz="2000"/>
          </a:p>
        </p:txBody>
      </p:sp>
      <p:sp>
        <p:nvSpPr>
          <p:cNvPr id="13" name="q_card_2"/>
          <p:cNvSpPr/>
          <p:nvPr/>
        </p:nvSpPr>
        <p:spPr>
          <a:xfrm>
            <a:off x="457200" y="4066666"/>
            <a:ext cx="11274552" cy="434467"/>
          </a:xfrm>
          <a:prstGeom prst="roundRect">
            <a:avLst>
              <a:gd name="adj" fmla="val 12000"/>
            </a:avLst>
          </a:prstGeom>
          <a:noFill/>
          <a:ln w="12700">
            <a:solidFill>
              <a:srgbClr val="D5DAE5"/>
            </a:solidFill>
          </a:ln>
        </p:spPr>
        <p:txBody>
          <a:bodyPr rtlCol="0" anchor="ctr"/>
          <a:lstStyle/>
          <a:p>
            <a:pPr algn="ctr"/>
          </a:p>
        </p:txBody>
      </p:sp>
      <p:sp>
        <p:nvSpPr>
          <p:cNvPr id="14" name="q_2"/>
          <p:cNvSpPr txBox="1"/>
          <p:nvPr/>
        </p:nvSpPr>
        <p:spPr>
          <a:xfrm>
            <a:off x="502920" y="4066666"/>
            <a:ext cx="9171432" cy="434467"/>
          </a:xfrm>
          <a:prstGeom prst="rect">
            <a:avLst/>
          </a:prstGeom>
          <a:noFill/>
        </p:spPr>
        <p:txBody>
          <a:bodyPr wrap="square" lIns="109728" tIns="45720" rIns="109728" bIns="45720" anchor="ctr" rtlCol="0">
            <a:noAutofit/>
          </a:bodyPr>
          <a:lstStyle/>
          <a:p>
            <a:pPr algn="l">
              <a:lnSpc>
                <a:spcPts val="2125"/>
              </a:lnSpc>
              <a:spcBef>
                <a:spcPts val="0"/>
              </a:spcBef>
              <a:spcAft>
                <a:spcPts val="0"/>
              </a:spcAft>
              <a:buNone/>
            </a:pPr>
            <a:r>
              <a:rPr lang="en-US" altLang="en-US" sz="1700" b="1" dirty="0">
                <a:solidFill>
                  <a:srgbClr val="1E2A5A"/>
                </a:solidFill>
                <a:latin typeface="Calibri"/>
                <a:ea typeface="맑은 고딕"/>
                <a:cs typeface="Calibri"/>
              </a:rPr>
              <a:t>27.  </a:t>
            </a:r>
            <a:r>
              <a:rPr lang="ko-KR" altLang="en-US" sz="1700" b="0" dirty="0">
                <a:solidFill>
                  <a:srgbClr val="1F2328"/>
                </a:solidFill>
                <a:latin typeface="맑은 고딕"/>
                <a:ea typeface="맑은 고딕"/>
                <a:cs typeface="맑은 고딕"/>
              </a:rPr>
              <a:t>Boggis는 차로 가는 길에 걱정이 되어 얼굴을 찡그렸다.</a:t>
            </a:r>
            <a:endParaRPr lang="ko-KR" sz="1700"/>
          </a:p>
        </p:txBody>
      </p:sp>
      <p:sp>
        <p:nvSpPr>
          <p:cNvPr id="15" name="tf_2"/>
          <p:cNvSpPr txBox="1"/>
          <p:nvPr/>
        </p:nvSpPr>
        <p:spPr>
          <a:xfrm>
            <a:off x="9765792" y="4066666"/>
            <a:ext cx="1828800" cy="434467"/>
          </a:xfrm>
          <a:prstGeom prst="rect">
            <a:avLst/>
          </a:prstGeom>
          <a:noFill/>
        </p:spPr>
        <p:txBody>
          <a:bodyPr wrap="square" lIns="18288" tIns="18288" rIns="18288" bIns="18288" anchor="ctr" rtlCol="0">
            <a:noAutofit/>
          </a:bodyPr>
          <a:lstStyle/>
          <a:p>
            <a:pPr algn="ctr">
              <a:lnSpc>
                <a:spcPts val="2125"/>
              </a:lnSpc>
              <a:spcBef>
                <a:spcPts val="0"/>
              </a:spcBef>
              <a:spcAft>
                <a:spcPts val="0"/>
              </a:spcAft>
              <a:buNone/>
            </a:pPr>
            <a:r>
              <a:rPr lang="en-US" altLang="en-US" sz="1700" b="1" dirty="0">
                <a:solidFill>
                  <a:srgbClr val="9AA3B5"/>
                </a:solidFill>
                <a:latin typeface="Calibri"/>
                <a:ea typeface="맑은 고딕"/>
                <a:cs typeface="Calibri"/>
              </a:rPr>
              <a:t>T   /   F</a:t>
            </a:r>
            <a:endParaRPr lang="ko-KR" sz="1700"/>
          </a:p>
        </p:txBody>
      </p:sp>
      <p:sp>
        <p:nvSpPr>
          <p:cNvPr id="16" name="rv_ans_2"/>
          <p:cNvSpPr/>
          <p:nvPr/>
        </p:nvSpPr>
        <p:spPr>
          <a:xfrm>
            <a:off x="9765792" y="4112386"/>
            <a:ext cx="1828800" cy="343027"/>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400"/>
              </a:lnSpc>
              <a:spcBef>
                <a:spcPts val="0"/>
              </a:spcBef>
              <a:spcAft>
                <a:spcPts val="0"/>
              </a:spcAft>
              <a:buNone/>
            </a:pPr>
            <a:r>
              <a:rPr lang="en-US" altLang="en-US" sz="2000" b="1" dirty="0">
                <a:solidFill>
                  <a:srgbClr val="C00000"/>
                </a:solidFill>
                <a:latin typeface="Calibri"/>
                <a:ea typeface="맑은 고딕"/>
                <a:cs typeface="Calibri"/>
              </a:rPr>
              <a:t>F</a:t>
            </a:r>
            <a:endParaRPr lang="ko-KR" sz="2000"/>
          </a:p>
        </p:txBody>
      </p:sp>
      <p:sp>
        <p:nvSpPr>
          <p:cNvPr id="17" name="q_card_3"/>
          <p:cNvSpPr/>
          <p:nvPr/>
        </p:nvSpPr>
        <p:spPr>
          <a:xfrm>
            <a:off x="457200" y="4574286"/>
            <a:ext cx="11274552" cy="704342"/>
          </a:xfrm>
          <a:prstGeom prst="roundRect">
            <a:avLst>
              <a:gd name="adj" fmla="val 12000"/>
            </a:avLst>
          </a:prstGeom>
          <a:noFill/>
          <a:ln w="12700">
            <a:solidFill>
              <a:srgbClr val="D5DAE5"/>
            </a:solidFill>
          </a:ln>
        </p:spPr>
        <p:txBody>
          <a:bodyPr rtlCol="0" anchor="ctr"/>
          <a:lstStyle/>
          <a:p>
            <a:pPr algn="ctr"/>
          </a:p>
        </p:txBody>
      </p:sp>
      <p:sp>
        <p:nvSpPr>
          <p:cNvPr id="18" name="q_3"/>
          <p:cNvSpPr txBox="1"/>
          <p:nvPr/>
        </p:nvSpPr>
        <p:spPr>
          <a:xfrm>
            <a:off x="502920" y="4574286"/>
            <a:ext cx="9171432" cy="704342"/>
          </a:xfrm>
          <a:prstGeom prst="rect">
            <a:avLst/>
          </a:prstGeom>
          <a:noFill/>
        </p:spPr>
        <p:txBody>
          <a:bodyPr wrap="square" lIns="109728" tIns="45720" rIns="109728" bIns="45720" anchor="ctr" rtlCol="0">
            <a:noAutofit/>
          </a:bodyPr>
          <a:lstStyle/>
          <a:p>
            <a:pPr algn="l">
              <a:lnSpc>
                <a:spcPts val="2125"/>
              </a:lnSpc>
              <a:spcBef>
                <a:spcPts val="0"/>
              </a:spcBef>
              <a:spcAft>
                <a:spcPts val="0"/>
              </a:spcAft>
              <a:buNone/>
            </a:pPr>
            <a:r>
              <a:rPr lang="en-US" altLang="en-US" sz="1700" b="1" dirty="0">
                <a:solidFill>
                  <a:srgbClr val="1E2A5A"/>
                </a:solidFill>
                <a:latin typeface="Calibri"/>
                <a:ea typeface="맑은 고딕"/>
                <a:cs typeface="Calibri"/>
              </a:rPr>
              <a:t>28.  </a:t>
            </a:r>
            <a:r>
              <a:rPr lang="ko-KR" altLang="en-US" sz="1700" b="0" dirty="0">
                <a:solidFill>
                  <a:srgbClr val="1F2328"/>
                </a:solidFill>
                <a:latin typeface="맑은 고딕"/>
                <a:ea typeface="맑은 고딕"/>
                <a:cs typeface="맑은 고딕"/>
              </a:rPr>
              <a:t>Bert는 탁자가 차에 안 들어가면 Boggis가 돈을 내지 않을 수도 있다고 걱정했다.</a:t>
            </a:r>
            <a:endParaRPr lang="ko-KR" sz="1700"/>
          </a:p>
        </p:txBody>
      </p:sp>
      <p:sp>
        <p:nvSpPr>
          <p:cNvPr id="19" name="tf_3"/>
          <p:cNvSpPr txBox="1"/>
          <p:nvPr/>
        </p:nvSpPr>
        <p:spPr>
          <a:xfrm>
            <a:off x="9765792" y="4574286"/>
            <a:ext cx="1828800" cy="704342"/>
          </a:xfrm>
          <a:prstGeom prst="rect">
            <a:avLst/>
          </a:prstGeom>
          <a:noFill/>
        </p:spPr>
        <p:txBody>
          <a:bodyPr wrap="square" lIns="18288" tIns="18288" rIns="18288" bIns="18288" anchor="ctr" rtlCol="0">
            <a:noAutofit/>
          </a:bodyPr>
          <a:lstStyle/>
          <a:p>
            <a:pPr algn="ctr">
              <a:lnSpc>
                <a:spcPts val="2125"/>
              </a:lnSpc>
              <a:spcBef>
                <a:spcPts val="0"/>
              </a:spcBef>
              <a:spcAft>
                <a:spcPts val="0"/>
              </a:spcAft>
              <a:buNone/>
            </a:pPr>
            <a:r>
              <a:rPr lang="en-US" altLang="en-US" sz="1700" b="1" dirty="0">
                <a:solidFill>
                  <a:srgbClr val="9AA3B5"/>
                </a:solidFill>
                <a:latin typeface="Calibri"/>
                <a:ea typeface="맑은 고딕"/>
                <a:cs typeface="Calibri"/>
              </a:rPr>
              <a:t>T   /   F</a:t>
            </a:r>
            <a:endParaRPr lang="ko-KR" sz="1700"/>
          </a:p>
        </p:txBody>
      </p:sp>
      <p:sp>
        <p:nvSpPr>
          <p:cNvPr id="20" name="rv_ans_3"/>
          <p:cNvSpPr/>
          <p:nvPr/>
        </p:nvSpPr>
        <p:spPr>
          <a:xfrm>
            <a:off x="9765792" y="4620005"/>
            <a:ext cx="1828800" cy="612902"/>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400"/>
              </a:lnSpc>
              <a:spcBef>
                <a:spcPts val="0"/>
              </a:spcBef>
              <a:spcAft>
                <a:spcPts val="0"/>
              </a:spcAft>
              <a:buNone/>
            </a:pPr>
            <a:r>
              <a:rPr lang="en-US" altLang="en-US" sz="2000" b="1" dirty="0">
                <a:solidFill>
                  <a:srgbClr val="C00000"/>
                </a:solidFill>
                <a:latin typeface="Calibri"/>
                <a:ea typeface="맑은 고딕"/>
                <a:cs typeface="Calibri"/>
              </a:rPr>
              <a:t>T</a:t>
            </a:r>
            <a:endParaRPr lang="ko-KR" sz="2000"/>
          </a:p>
        </p:txBody>
      </p:sp>
      <p:sp>
        <p:nvSpPr>
          <p:cNvPr id="21" name="q_card_4"/>
          <p:cNvSpPr/>
          <p:nvPr/>
        </p:nvSpPr>
        <p:spPr>
          <a:xfrm>
            <a:off x="457200" y="5351779"/>
            <a:ext cx="11274552" cy="434467"/>
          </a:xfrm>
          <a:prstGeom prst="roundRect">
            <a:avLst>
              <a:gd name="adj" fmla="val 12000"/>
            </a:avLst>
          </a:prstGeom>
          <a:noFill/>
          <a:ln w="12700">
            <a:solidFill>
              <a:srgbClr val="D5DAE5"/>
            </a:solidFill>
          </a:ln>
        </p:spPr>
        <p:txBody>
          <a:bodyPr rtlCol="0" anchor="ctr"/>
          <a:lstStyle/>
          <a:p>
            <a:pPr algn="ctr"/>
          </a:p>
        </p:txBody>
      </p:sp>
      <p:sp>
        <p:nvSpPr>
          <p:cNvPr id="22" name="q_4"/>
          <p:cNvSpPr txBox="1"/>
          <p:nvPr/>
        </p:nvSpPr>
        <p:spPr>
          <a:xfrm>
            <a:off x="502920" y="5351779"/>
            <a:ext cx="9171432" cy="434467"/>
          </a:xfrm>
          <a:prstGeom prst="rect">
            <a:avLst/>
          </a:prstGeom>
          <a:noFill/>
        </p:spPr>
        <p:txBody>
          <a:bodyPr wrap="square" lIns="109728" tIns="45720" rIns="109728" bIns="45720" anchor="ctr" rtlCol="0">
            <a:noAutofit/>
          </a:bodyPr>
          <a:lstStyle/>
          <a:p>
            <a:pPr algn="l">
              <a:lnSpc>
                <a:spcPts val="2125"/>
              </a:lnSpc>
              <a:spcBef>
                <a:spcPts val="0"/>
              </a:spcBef>
              <a:spcAft>
                <a:spcPts val="0"/>
              </a:spcAft>
              <a:buNone/>
            </a:pPr>
            <a:r>
              <a:rPr lang="en-US" altLang="en-US" sz="1700" b="1" dirty="0">
                <a:solidFill>
                  <a:srgbClr val="1E2A5A"/>
                </a:solidFill>
                <a:latin typeface="Calibri"/>
                <a:ea typeface="맑은 고딕"/>
                <a:cs typeface="Calibri"/>
              </a:rPr>
              <a:t>29.  </a:t>
            </a:r>
            <a:r>
              <a:rPr lang="ko-KR" altLang="en-US" sz="1700" b="0" dirty="0">
                <a:solidFill>
                  <a:srgbClr val="1F2328"/>
                </a:solidFill>
                <a:latin typeface="맑은 고딕"/>
                <a:ea typeface="맑은 고딕"/>
                <a:cs typeface="맑은 고딕"/>
              </a:rPr>
              <a:t>Rummins가 직접 톱을 꺼내 탁자 다리를 잘랐다.</a:t>
            </a:r>
            <a:endParaRPr lang="ko-KR" sz="1700"/>
          </a:p>
        </p:txBody>
      </p:sp>
      <p:sp>
        <p:nvSpPr>
          <p:cNvPr id="23" name="tf_4"/>
          <p:cNvSpPr txBox="1"/>
          <p:nvPr/>
        </p:nvSpPr>
        <p:spPr>
          <a:xfrm>
            <a:off x="9765792" y="5351779"/>
            <a:ext cx="1828800" cy="434467"/>
          </a:xfrm>
          <a:prstGeom prst="rect">
            <a:avLst/>
          </a:prstGeom>
          <a:noFill/>
        </p:spPr>
        <p:txBody>
          <a:bodyPr wrap="square" lIns="18288" tIns="18288" rIns="18288" bIns="18288" anchor="ctr" rtlCol="0">
            <a:noAutofit/>
          </a:bodyPr>
          <a:lstStyle/>
          <a:p>
            <a:pPr algn="ctr">
              <a:lnSpc>
                <a:spcPts val="2125"/>
              </a:lnSpc>
              <a:spcBef>
                <a:spcPts val="0"/>
              </a:spcBef>
              <a:spcAft>
                <a:spcPts val="0"/>
              </a:spcAft>
              <a:buNone/>
            </a:pPr>
            <a:r>
              <a:rPr lang="en-US" altLang="en-US" sz="1700" b="1" dirty="0">
                <a:solidFill>
                  <a:srgbClr val="9AA3B5"/>
                </a:solidFill>
                <a:latin typeface="Calibri"/>
                <a:ea typeface="맑은 고딕"/>
                <a:cs typeface="Calibri"/>
              </a:rPr>
              <a:t>T   /   F</a:t>
            </a:r>
            <a:endParaRPr lang="ko-KR" sz="1700"/>
          </a:p>
        </p:txBody>
      </p:sp>
      <p:sp>
        <p:nvSpPr>
          <p:cNvPr id="24" name="rv_ans_4"/>
          <p:cNvSpPr/>
          <p:nvPr/>
        </p:nvSpPr>
        <p:spPr>
          <a:xfrm>
            <a:off x="9765792" y="5397499"/>
            <a:ext cx="1828800" cy="343027"/>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400"/>
              </a:lnSpc>
              <a:spcBef>
                <a:spcPts val="0"/>
              </a:spcBef>
              <a:spcAft>
                <a:spcPts val="0"/>
              </a:spcAft>
              <a:buNone/>
            </a:pPr>
            <a:r>
              <a:rPr lang="en-US" altLang="en-US" sz="2000" b="1" dirty="0">
                <a:solidFill>
                  <a:srgbClr val="C00000"/>
                </a:solidFill>
                <a:latin typeface="Calibri"/>
                <a:ea typeface="맑은 고딕"/>
                <a:cs typeface="Calibri"/>
              </a:rPr>
              <a:t>F</a:t>
            </a:r>
            <a:endParaRPr lang="ko-KR" sz="2000"/>
          </a:p>
        </p:txBody>
      </p:sp>
      <p:sp>
        <p:nvSpPr>
          <p:cNvPr id="25" name="q_card_5"/>
          <p:cNvSpPr/>
          <p:nvPr/>
        </p:nvSpPr>
        <p:spPr>
          <a:xfrm>
            <a:off x="457200" y="5859398"/>
            <a:ext cx="11274552" cy="434467"/>
          </a:xfrm>
          <a:prstGeom prst="roundRect">
            <a:avLst>
              <a:gd name="adj" fmla="val 12000"/>
            </a:avLst>
          </a:prstGeom>
          <a:noFill/>
          <a:ln w="12700">
            <a:solidFill>
              <a:srgbClr val="D5DAE5"/>
            </a:solidFill>
          </a:ln>
        </p:spPr>
        <p:txBody>
          <a:bodyPr rtlCol="0" anchor="ctr"/>
          <a:lstStyle/>
          <a:p>
            <a:pPr algn="ctr"/>
          </a:p>
        </p:txBody>
      </p:sp>
      <p:sp>
        <p:nvSpPr>
          <p:cNvPr id="26" name="q_5"/>
          <p:cNvSpPr txBox="1"/>
          <p:nvPr/>
        </p:nvSpPr>
        <p:spPr>
          <a:xfrm>
            <a:off x="502920" y="5859398"/>
            <a:ext cx="9171432" cy="434467"/>
          </a:xfrm>
          <a:prstGeom prst="rect">
            <a:avLst/>
          </a:prstGeom>
          <a:noFill/>
        </p:spPr>
        <p:txBody>
          <a:bodyPr wrap="square" lIns="109728" tIns="45720" rIns="109728" bIns="45720" anchor="ctr" rtlCol="0">
            <a:noAutofit/>
          </a:bodyPr>
          <a:lstStyle/>
          <a:p>
            <a:pPr algn="l">
              <a:lnSpc>
                <a:spcPts val="2125"/>
              </a:lnSpc>
              <a:spcBef>
                <a:spcPts val="0"/>
              </a:spcBef>
              <a:spcAft>
                <a:spcPts val="0"/>
              </a:spcAft>
              <a:buNone/>
            </a:pPr>
            <a:r>
              <a:rPr lang="en-US" altLang="en-US" sz="1700" b="1" dirty="0">
                <a:solidFill>
                  <a:srgbClr val="1E2A5A"/>
                </a:solidFill>
                <a:latin typeface="Calibri"/>
                <a:ea typeface="맑은 고딕"/>
                <a:cs typeface="Calibri"/>
              </a:rPr>
              <a:t>30.  </a:t>
            </a:r>
            <a:r>
              <a:rPr lang="ko-KR" altLang="en-US" sz="1700" b="0" dirty="0">
                <a:solidFill>
                  <a:srgbClr val="1F2328"/>
                </a:solidFill>
                <a:latin typeface="맑은 고딕"/>
                <a:ea typeface="맑은 고딕"/>
                <a:cs typeface="맑은 고딕"/>
              </a:rPr>
              <a:t>Boggis는 너무 충격을 받아서 아무 말도 할 수 없었다.</a:t>
            </a:r>
            <a:endParaRPr lang="ko-KR" sz="1700"/>
          </a:p>
        </p:txBody>
      </p:sp>
      <p:sp>
        <p:nvSpPr>
          <p:cNvPr id="27" name="tf_5"/>
          <p:cNvSpPr txBox="1"/>
          <p:nvPr/>
        </p:nvSpPr>
        <p:spPr>
          <a:xfrm>
            <a:off x="9765792" y="5859398"/>
            <a:ext cx="1828800" cy="434467"/>
          </a:xfrm>
          <a:prstGeom prst="rect">
            <a:avLst/>
          </a:prstGeom>
          <a:noFill/>
        </p:spPr>
        <p:txBody>
          <a:bodyPr wrap="square" lIns="18288" tIns="18288" rIns="18288" bIns="18288" anchor="ctr" rtlCol="0">
            <a:noAutofit/>
          </a:bodyPr>
          <a:lstStyle/>
          <a:p>
            <a:pPr algn="ctr">
              <a:lnSpc>
                <a:spcPts val="2125"/>
              </a:lnSpc>
              <a:spcBef>
                <a:spcPts val="0"/>
              </a:spcBef>
              <a:spcAft>
                <a:spcPts val="0"/>
              </a:spcAft>
              <a:buNone/>
            </a:pPr>
            <a:r>
              <a:rPr lang="en-US" altLang="en-US" sz="1700" b="1" dirty="0">
                <a:solidFill>
                  <a:srgbClr val="9AA3B5"/>
                </a:solidFill>
                <a:latin typeface="Calibri"/>
                <a:ea typeface="맑은 고딕"/>
                <a:cs typeface="Calibri"/>
              </a:rPr>
              <a:t>T   /   F</a:t>
            </a:r>
            <a:endParaRPr lang="ko-KR" sz="1700"/>
          </a:p>
        </p:txBody>
      </p:sp>
      <p:sp>
        <p:nvSpPr>
          <p:cNvPr id="28" name="rv_ans_5"/>
          <p:cNvSpPr/>
          <p:nvPr/>
        </p:nvSpPr>
        <p:spPr>
          <a:xfrm>
            <a:off x="9765792" y="5905118"/>
            <a:ext cx="1828800" cy="343027"/>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400"/>
              </a:lnSpc>
              <a:spcBef>
                <a:spcPts val="0"/>
              </a:spcBef>
              <a:spcAft>
                <a:spcPts val="0"/>
              </a:spcAft>
              <a:buNone/>
            </a:pPr>
            <a:r>
              <a:rPr lang="en-US" altLang="en-US" sz="2000" b="1" dirty="0">
                <a:solidFill>
                  <a:srgbClr val="C00000"/>
                </a:solidFill>
                <a:latin typeface="Calibri"/>
                <a:ea typeface="맑은 고딕"/>
                <a:cs typeface="Calibri"/>
              </a:rPr>
              <a:t>T</a:t>
            </a:r>
            <a:endParaRPr lang="ko-KR" sz="20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25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250"/>
                                        <p:tgtEl>
                                          <p:spTgt spid="1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0"/>
                                        </p:tgtEl>
                                        <p:attrNameLst>
                                          <p:attrName>style.visibility</p:attrName>
                                        </p:attrNameLst>
                                      </p:cBhvr>
                                      <p:to>
                                        <p:strVal val="visible"/>
                                      </p:to>
                                    </p:set>
                                    <p:animEffect transition="in" filter="fade">
                                      <p:cBhvr>
                                        <p:cTn id="13" dur="250"/>
                                        <p:tgtEl>
                                          <p:spTgt spid="20"/>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4"/>
                                        </p:tgtEl>
                                        <p:attrNameLst>
                                          <p:attrName>style.visibility</p:attrName>
                                        </p:attrNameLst>
                                      </p:cBhvr>
                                      <p:to>
                                        <p:strVal val="visible"/>
                                      </p:to>
                                    </p:set>
                                    <p:animEffect transition="in" filter="fade">
                                      <p:cBhvr>
                                        <p:cTn id="16" dur="250"/>
                                        <p:tgtEl>
                                          <p:spTgt spid="24"/>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8"/>
                                        </p:tgtEl>
                                        <p:attrNameLst>
                                          <p:attrName>style.visibility</p:attrName>
                                        </p:attrNameLst>
                                      </p:cBhvr>
                                      <p:to>
                                        <p:strVal val="visible"/>
                                      </p:to>
                                    </p:set>
                                    <p:animEffect transition="in" filter="fade">
                                      <p:cBhvr>
                                        <p:cTn id="19" dur="25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6" grpId="0" animBg="1"/>
      <p:bldP spid="20" grpId="0" animBg="1"/>
      <p:bldP spid="24" grpId="0" animBg="1"/>
      <p:bldP spid="28" grpId="0" animBg="1"/>
    </p:bldLst>
  </p:timing>
</p:sld>
</file>

<file path=ppt/slides/slide129.xml><?xml version="1.0" encoding="utf-8"?>
<p:sld xmlns:a="http://schemas.openxmlformats.org/drawingml/2006/main" xmlns:p="http://schemas.openxmlformats.org/presentationml/2006/main" xmlns:r="http://schemas.openxmlformats.org/officeDocument/2006/relationships">
  <p:cSld>
    <p:bg>
      <p:bgPr>
        <a:solidFill>
          <a:srgbClr val="1E2A5A"/>
        </a:solidFill>
        <a:effectLst/>
      </p:bgPr>
    </p:bg>
    <p:spTree>
      <p:nvGrpSpPr>
        <p:cNvPr id="1" name=""/>
        <p:cNvGrpSpPr/>
        <p:nvPr/>
      </p:nvGrpSpPr>
      <p:grpSpPr/>
      <p:sp>
        <p:nvSpPr>
          <p:cNvPr id="2" name="sec_title"/>
          <p:cNvSpPr txBox="1"/>
          <p:nvPr/>
        </p:nvSpPr>
        <p:spPr>
          <a:xfrm>
            <a:off x="822960" y="1371600"/>
            <a:ext cx="10515600" cy="868680"/>
          </a:xfrm>
          <a:prstGeom prst="rect">
            <a:avLst/>
          </a:prstGeom>
          <a:noFill/>
        </p:spPr>
        <p:txBody>
          <a:bodyPr wrap="square" lIns="109728" tIns="54864" rIns="109728" bIns="54864" anchor="t" rtlCol="0">
            <a:noAutofit/>
          </a:bodyPr>
          <a:lstStyle/>
          <a:p>
            <a:pPr algn="l">
              <a:lnSpc>
                <a:spcPts val="4800"/>
              </a:lnSpc>
              <a:spcBef>
                <a:spcPts val="0"/>
              </a:spcBef>
              <a:spcAft>
                <a:spcPts val="0"/>
              </a:spcAft>
              <a:buNone/>
            </a:pPr>
            <a:r>
              <a:rPr lang="ko-KR" altLang="en-US" sz="4000" b="1" dirty="0">
                <a:solidFill>
                  <a:srgbClr val="FFE98A"/>
                </a:solidFill>
                <a:latin typeface="맑은 고딕"/>
                <a:ea typeface="맑은 고딕"/>
                <a:cs typeface="맑은 고딕"/>
              </a:rPr>
              <a:t>PART 5  </a:t>
            </a:r>
            <a:r>
              <a:rPr lang="ko-KR" altLang="en-US" sz="4000" b="1" dirty="0">
                <a:solidFill>
                  <a:srgbClr val="FFFFFF"/>
                </a:solidFill>
                <a:latin typeface="맑은 고딕"/>
                <a:ea typeface="맑은 고딕"/>
                <a:cs typeface="맑은 고딕"/>
              </a:rPr>
              <a:t>어법 선택</a:t>
            </a:r>
            <a:endParaRPr lang="ko-KR" sz="4000"/>
          </a:p>
        </p:txBody>
      </p:sp>
      <p:sp>
        <p:nvSpPr>
          <p:cNvPr id="3" name="sec_exam"/>
          <p:cNvSpPr txBox="1"/>
          <p:nvPr/>
        </p:nvSpPr>
        <p:spPr>
          <a:xfrm>
            <a:off x="822960" y="2240280"/>
            <a:ext cx="10515600" cy="502920"/>
          </a:xfrm>
          <a:prstGeom prst="rect">
            <a:avLst/>
          </a:prstGeom>
          <a:noFill/>
        </p:spPr>
        <p:txBody>
          <a:bodyPr wrap="square" lIns="109728" tIns="54864" rIns="109728" bIns="54864" anchor="t" rtlCol="0">
            <a:noAutofit/>
          </a:bodyPr>
          <a:lstStyle/>
          <a:p>
            <a:pPr algn="l">
              <a:lnSpc>
                <a:spcPts val="2400"/>
              </a:lnSpc>
              <a:spcBef>
                <a:spcPts val="0"/>
              </a:spcBef>
              <a:spcAft>
                <a:spcPts val="0"/>
              </a:spcAft>
              <a:buNone/>
            </a:pPr>
            <a:r>
              <a:rPr lang="ko-KR" altLang="en-US" sz="2000" b="0" dirty="0">
                <a:solidFill>
                  <a:srgbClr val="CFD8E8"/>
                </a:solidFill>
                <a:latin typeface="맑은 고딕"/>
                <a:ea typeface="맑은 고딕"/>
                <a:cs typeface="맑은 고딕"/>
              </a:rPr>
              <a:t>중3 동아(윤정미) Lesson 6</a:t>
            </a:r>
            <a:endParaRPr lang="ko-KR" sz="2000"/>
          </a:p>
        </p:txBody>
      </p:sp>
      <p:sp>
        <p:nvSpPr>
          <p:cNvPr id="4" name="sec_ids"/>
          <p:cNvSpPr txBox="1"/>
          <p:nvPr/>
        </p:nvSpPr>
        <p:spPr>
          <a:xfrm>
            <a:off x="822960" y="2788920"/>
            <a:ext cx="10515600" cy="457200"/>
          </a:xfrm>
          <a:prstGeom prst="rect">
            <a:avLst/>
          </a:prstGeom>
          <a:noFill/>
        </p:spPr>
        <p:txBody>
          <a:bodyPr wrap="square" lIns="109728" tIns="54864" rIns="109728" bIns="54864" anchor="t" rtlCol="0">
            <a:noAutofit/>
          </a:bodyPr>
          <a:lstStyle/>
          <a:p>
            <a:pPr algn="l">
              <a:lnSpc>
                <a:spcPts val="2200"/>
              </a:lnSpc>
              <a:spcBef>
                <a:spcPts val="0"/>
              </a:spcBef>
              <a:spcAft>
                <a:spcPts val="0"/>
              </a:spcAft>
              <a:buNone/>
            </a:pPr>
            <a:r>
              <a:rPr lang="en-US" altLang="en-US" sz="1800" b="1" dirty="0">
                <a:solidFill>
                  <a:srgbClr val="AEBBD0"/>
                </a:solidFill>
                <a:latin typeface="Calibri"/>
                <a:ea typeface="맑은 고딕"/>
                <a:cs typeface="Calibri"/>
              </a:rPr>
              <a:t>1 ~ 31번  ·  11장</a:t>
            </a:r>
            <a:endParaRPr lang="ko-KR" sz="1800"/>
          </a:p>
        </p:txBody>
      </p:sp>
      <p:sp>
        <p:nvSpPr>
          <p:cNvPr id="5" name="sec_legend"/>
          <p:cNvSpPr/>
          <p:nvPr/>
        </p:nvSpPr>
        <p:spPr>
          <a:xfrm>
            <a:off x="822960" y="3977639"/>
            <a:ext cx="10515600" cy="1371600"/>
          </a:xfrm>
          <a:prstGeom prst="roundRect">
            <a:avLst>
              <a:gd name="adj" fmla="val 6000"/>
            </a:avLst>
          </a:prstGeom>
          <a:solidFill>
            <a:srgbClr val="27356E"/>
          </a:solidFill>
          <a:ln>
            <a:noFill/>
          </a:ln>
        </p:spPr>
        <p:txBody>
          <a:bodyPr wrap="square" lIns="320040" tIns="137160" rIns="320040" bIns="137160" anchor="ctr" rtlCol="0">
            <a:noAutofit/>
          </a:bodyPr>
          <a:lstStyle/>
          <a:p>
            <a:pPr algn="l">
              <a:lnSpc>
                <a:spcPts val="2600"/>
              </a:lnSpc>
              <a:spcBef>
                <a:spcPts val="0"/>
              </a:spcBef>
              <a:spcAft>
                <a:spcPts val="0"/>
              </a:spcAft>
              <a:buNone/>
            </a:pPr>
            <a:r>
              <a:rPr lang="ko-KR" altLang="en-US" sz="1600" b="1" dirty="0">
                <a:solidFill>
                  <a:srgbClr val="FFE98A"/>
                </a:solidFill>
                <a:latin typeface="맑은 고딕"/>
                <a:ea typeface="맑은 고딕"/>
                <a:cs typeface="맑은 고딕"/>
              </a:rPr>
              <a:t>방법</a:t>
            </a:r>
            <a:r>
              <a:rPr lang="ko-KR" altLang="en-US" sz="1600" b="0" dirty="0">
                <a:solidFill>
                  <a:srgbClr val="FFFFFF"/>
                </a:solidFill>
                <a:latin typeface="맑은 고딕"/>
                <a:ea typeface="맑은 고딕"/>
                <a:cs typeface="맑은 고딕"/>
              </a:rPr>
              <a:t>     우리말 뜻을 참고하여 [  ] 안에서 어법상 알맞은 것을 고르기</a:t>
            </a:r>
            <a:endParaRPr lang="ko-KR" sz="1600"/>
          </a:p>
          <a:p>
            <a:pPr algn="l">
              <a:lnSpc>
                <a:spcPts val="2600"/>
              </a:lnSpc>
              <a:spcBef>
                <a:spcPts val="0"/>
              </a:spcBef>
              <a:spcAft>
                <a:spcPts val="0"/>
              </a:spcAft>
              <a:buNone/>
            </a:pPr>
            <a:r>
              <a:rPr lang="ko-KR" altLang="en-US" sz="1600" b="1" dirty="0">
                <a:solidFill>
                  <a:srgbClr val="FFE98A"/>
                </a:solidFill>
                <a:latin typeface="맑은 고딕"/>
                <a:ea typeface="맑은 고딕"/>
                <a:cs typeface="맑은 고딕"/>
              </a:rPr>
              <a:t>클릭</a:t>
            </a:r>
            <a:r>
              <a:rPr lang="ko-KR" altLang="en-US" sz="1600" b="0" dirty="0">
                <a:solidFill>
                  <a:srgbClr val="FFFFFF"/>
                </a:solidFill>
                <a:latin typeface="맑은 고딕"/>
                <a:ea typeface="맑은 고딕"/>
                <a:cs typeface="맑은 고딕"/>
              </a:rPr>
              <a:t>     한 번 클릭하면 정답이 빨간색으로 표시되고 문법 포인트가 함께 공개</a:t>
            </a:r>
            <a:endParaRPr lang="ko-KR" sz="1600"/>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8000"/>
            </a:avLst>
          </a:prstGeom>
          <a:solidFill>
            <a:srgbClr val="1E2A5A"/>
          </a:solidFill>
          <a:ln>
            <a:noFill/>
          </a:ln>
        </p:spPr>
        <p:txBody>
          <a:bodyPr wrap="square" lIns="45720" tIns="18288" rIns="45720" bIns="18288" anchor="ctr" rtlCol="0">
            <a:noAutofit/>
          </a:bodyPr>
          <a:lstStyle/>
          <a:p>
            <a:pPr algn="ctr">
              <a:lnSpc>
                <a:spcPts val="2000"/>
              </a:lnSpc>
              <a:spcBef>
                <a:spcPts val="0"/>
              </a:spcBef>
              <a:spcAft>
                <a:spcPts val="0"/>
              </a:spcAft>
              <a:buNone/>
            </a:pPr>
            <a:r>
              <a:rPr lang="en-US" altLang="en-US" sz="1700" b="1" dirty="0">
                <a:solidFill>
                  <a:srgbClr val="FFFFFF"/>
                </a:solidFill>
                <a:latin typeface="Calibri"/>
                <a:ea typeface="맑은 고딕"/>
                <a:cs typeface="Calibri"/>
              </a:rPr>
              <a:t>L6</a:t>
            </a:r>
            <a:endParaRPr lang="ko-KR" sz="1700"/>
          </a:p>
        </p:txBody>
      </p:sp>
      <p:sp>
        <p:nvSpPr>
          <p:cNvPr id="3" name="hdr_chip"/>
          <p:cNvSpPr/>
          <p:nvPr/>
        </p:nvSpPr>
        <p:spPr>
          <a:xfrm>
            <a:off x="1755648" y="274320"/>
            <a:ext cx="1371600" cy="493776"/>
          </a:xfrm>
          <a:prstGeom prst="roundRect">
            <a:avLst>
              <a:gd name="adj" fmla="val 8000"/>
            </a:avLst>
          </a:prstGeom>
          <a:solidFill>
            <a:srgbClr val="E6EAF4"/>
          </a:solidFill>
          <a:ln>
            <a:noFill/>
          </a:ln>
        </p:spPr>
        <p:txBody>
          <a:bodyPr wrap="square" lIns="27432" tIns="18288" rIns="27432" bIns="18288" anchor="ctr" rtlCol="0">
            <a:noAutofit/>
          </a:bodyPr>
          <a:lstStyle/>
          <a:p>
            <a:pPr algn="ctr">
              <a:lnSpc>
                <a:spcPts val="1700"/>
              </a:lnSpc>
              <a:spcBef>
                <a:spcPts val="0"/>
              </a:spcBef>
              <a:spcAft>
                <a:spcPts val="0"/>
              </a:spcAft>
              <a:buNone/>
            </a:pPr>
            <a:r>
              <a:rPr lang="ko-KR" altLang="en-US" sz="1400" b="1" dirty="0">
                <a:solidFill>
                  <a:srgbClr val="1E2A5A"/>
                </a:solidFill>
                <a:latin typeface="맑은 고딕"/>
                <a:ea typeface="맑은 고딕"/>
                <a:cs typeface="맑은 고딕"/>
              </a:rPr>
              <a:t>PART 5 · 1</a:t>
            </a:r>
            <a:endParaRPr lang="ko-KR" sz="1400"/>
          </a:p>
        </p:txBody>
      </p:sp>
      <p:sp>
        <p:nvSpPr>
          <p:cNvPr id="4" name="hdr_q"/>
          <p:cNvSpPr txBox="1"/>
          <p:nvPr/>
        </p:nvSpPr>
        <p:spPr>
          <a:xfrm>
            <a:off x="3246120" y="246888"/>
            <a:ext cx="8485632" cy="548640"/>
          </a:xfrm>
          <a:prstGeom prst="rect">
            <a:avLst/>
          </a:prstGeom>
          <a:noFill/>
        </p:spPr>
        <p:txBody>
          <a:bodyPr wrap="square" lIns="109728" tIns="54864" rIns="109728" bIns="54864" anchor="ctr" rtlCol="0">
            <a:noAutofit/>
          </a:bodyPr>
          <a:lstStyle/>
          <a:p>
            <a:pPr algn="l">
              <a:lnSpc>
                <a:spcPts val="2400"/>
              </a:lnSpc>
              <a:spcBef>
                <a:spcPts val="0"/>
              </a:spcBef>
              <a:spcAft>
                <a:spcPts val="0"/>
              </a:spcAft>
              <a:buNone/>
            </a:pPr>
            <a:r>
              <a:rPr lang="ko-KR" altLang="en-US" sz="2000" b="1" dirty="0">
                <a:solidFill>
                  <a:srgbClr val="1F2328"/>
                </a:solidFill>
                <a:latin typeface="맑은 고딕"/>
                <a:ea typeface="맑은 고딕"/>
                <a:cs typeface="맑은 고딕"/>
              </a:rPr>
              <a:t>[  ] 안에서 어법상 알맞은 것을 고르시오.</a:t>
            </a:r>
            <a:endParaRPr lang="ko-KR" sz="2000"/>
          </a:p>
        </p:txBody>
      </p:sp>
      <p:sp>
        <p:nvSpPr>
          <p:cNvPr id="5" name="ftr_exam"/>
          <p:cNvSpPr txBox="1"/>
          <p:nvPr/>
        </p:nvSpPr>
        <p:spPr>
          <a:xfrm>
            <a:off x="457200" y="6519672"/>
            <a:ext cx="5669280" cy="256032"/>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6</a:t>
            </a:r>
            <a:endParaRPr lang="ko-KR" sz="1000"/>
          </a:p>
        </p:txBody>
      </p:sp>
      <p:sp>
        <p:nvSpPr>
          <p:cNvPr id="6" name="ftr_hint"/>
          <p:cNvSpPr txBox="1"/>
          <p:nvPr/>
        </p:nvSpPr>
        <p:spPr>
          <a:xfrm>
            <a:off x="5971032" y="6519672"/>
            <a:ext cx="5760720" cy="256032"/>
          </a:xfrm>
          <a:prstGeom prst="rect">
            <a:avLst/>
          </a:prstGeom>
          <a:noFill/>
        </p:spPr>
        <p:txBody>
          <a:bodyPr wrap="square" lIns="0" tIns="0" rIns="0" bIns="0" anchor="t" rtlCol="0">
            <a:noAutofit/>
          </a:bodyPr>
          <a:lstStyle/>
          <a:p>
            <a:pPr algn="r">
              <a:lnSpc>
                <a:spcPts val="1200"/>
              </a:lnSpc>
              <a:spcBef>
                <a:spcPts val="0"/>
              </a:spcBef>
              <a:spcAft>
                <a:spcPts val="0"/>
              </a:spcAft>
              <a:buNone/>
            </a:pPr>
            <a:r>
              <a:rPr lang="ko-KR" altLang="en-US" sz="1000" b="0" dirty="0">
                <a:solidFill>
                  <a:srgbClr val="7A808C"/>
                </a:solidFill>
                <a:latin typeface="맑은 고딕"/>
                <a:ea typeface="맑은 고딕"/>
                <a:cs typeface="맑은 고딕"/>
              </a:rPr>
              <a:t>클릭 ① 정답(빨간색) + 문법 포인트 공개</a:t>
            </a:r>
            <a:endParaRPr lang="ko-KR" sz="1000"/>
          </a:p>
        </p:txBody>
      </p:sp>
      <p:sp>
        <p:nvSpPr>
          <p:cNvPr id="7" name="item_card_1"/>
          <p:cNvSpPr/>
          <p:nvPr/>
        </p:nvSpPr>
        <p:spPr>
          <a:xfrm>
            <a:off x="457200" y="950976"/>
            <a:ext cx="11274552" cy="1161034"/>
          </a:xfrm>
          <a:prstGeom prst="roundRect">
            <a:avLst>
              <a:gd name="adj" fmla="val 6000"/>
            </a:avLst>
          </a:prstGeom>
          <a:solidFill>
            <a:srgbClr val="F3F5F9"/>
          </a:solidFill>
          <a:ln w="12700">
            <a:solidFill>
              <a:srgbClr val="D9DFEA"/>
            </a:solidFill>
          </a:ln>
        </p:spPr>
        <p:txBody>
          <a:bodyPr rtlCol="0" anchor="ctr"/>
          <a:lstStyle/>
          <a:p>
            <a:pPr algn="ctr"/>
          </a:p>
        </p:txBody>
      </p:sp>
      <p:sp>
        <p:nvSpPr>
          <p:cNvPr id="8" name="kor_1"/>
          <p:cNvSpPr txBox="1"/>
          <p:nvPr/>
        </p:nvSpPr>
        <p:spPr>
          <a:xfrm>
            <a:off x="457200" y="1060704"/>
            <a:ext cx="11274552" cy="363728"/>
          </a:xfrm>
          <a:prstGeom prst="rect">
            <a:avLst/>
          </a:prstGeom>
          <a:noFill/>
        </p:spPr>
        <p:txBody>
          <a:bodyPr wrap="square" lIns="228600" tIns="54864" rIns="228600" bIns="54864" anchor="t" rtlCol="0">
            <a:noAutofit/>
          </a:bodyPr>
          <a:lstStyle/>
          <a:p>
            <a:pPr algn="l">
              <a:lnSpc>
                <a:spcPts val="2000"/>
              </a:lnSpc>
              <a:spcBef>
                <a:spcPts val="0"/>
              </a:spcBef>
              <a:spcAft>
                <a:spcPts val="0"/>
              </a:spcAft>
              <a:buNone/>
            </a:pPr>
            <a:r>
              <a:rPr lang="en-US" altLang="en-US" sz="1600" b="1" dirty="0">
                <a:solidFill>
                  <a:srgbClr val="1E2A5A"/>
                </a:solidFill>
                <a:latin typeface="Calibri"/>
                <a:ea typeface="맑은 고딕"/>
                <a:cs typeface="Calibri"/>
              </a:rPr>
              <a:t>1.  </a:t>
            </a:r>
            <a:r>
              <a:rPr lang="ko-KR" altLang="en-US" sz="1600" b="0" dirty="0">
                <a:solidFill>
                  <a:srgbClr val="3C4558"/>
                </a:solidFill>
                <a:latin typeface="맑은 고딕"/>
                <a:ea typeface="맑은 고딕"/>
                <a:cs typeface="맑은 고딕"/>
              </a:rPr>
              <a:t>시릴 보기스는 런던에서 골동품 가구를 거래하는 상인이었다.</a:t>
            </a:r>
            <a:endParaRPr lang="ko-KR" sz="1600"/>
          </a:p>
        </p:txBody>
      </p:sp>
      <p:sp>
        <p:nvSpPr>
          <p:cNvPr id="9" name="eng_1"/>
          <p:cNvSpPr txBox="1"/>
          <p:nvPr/>
        </p:nvSpPr>
        <p:spPr>
          <a:xfrm>
            <a:off x="457200" y="1369568"/>
            <a:ext cx="11274552" cy="4653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solidFill>
                <a:latin typeface="Calibri"/>
                <a:ea typeface="맑은 고딕"/>
                <a:cs typeface="Calibri"/>
              </a:rPr>
              <a:t>Cyril Boggis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were</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was</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an antique furniture dealer in London.</a:t>
            </a:r>
            <a:endParaRPr lang="ko-KR" sz="2000"/>
          </a:p>
        </p:txBody>
      </p:sp>
      <p:sp>
        <p:nvSpPr>
          <p:cNvPr id="10" name="rv_eng_1"/>
          <p:cNvSpPr txBox="1"/>
          <p:nvPr/>
        </p:nvSpPr>
        <p:spPr>
          <a:xfrm>
            <a:off x="457200" y="1369568"/>
            <a:ext cx="11274552" cy="4653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alpha val="0"/>
                  </a:srgbClr>
                </a:solidFill>
                <a:latin typeface="Calibri"/>
                <a:ea typeface="맑은 고딕"/>
                <a:cs typeface="Calibri"/>
              </a:rPr>
              <a:t>Cyril Boggis </a:t>
            </a:r>
            <a:r>
              <a:rPr lang="en-US" altLang="en-US" sz="2000" b="1" dirty="0">
                <a:solidFill>
                  <a:srgbClr val="C00000">
                    <a:alpha val="0"/>
                  </a:srgbClr>
                </a:solidFill>
                <a:latin typeface="Calibri"/>
                <a:ea typeface="맑은 고딕"/>
                <a:cs typeface="Calibri"/>
              </a:rPr>
              <a:t>[ </a:t>
            </a:r>
            <a:r>
              <a:rPr lang="en-US" altLang="en-US" sz="2000" b="1" dirty="0">
                <a:solidFill>
                  <a:srgbClr val="C00000">
                    <a:alpha val="0"/>
                  </a:srgbClr>
                </a:solidFill>
                <a:latin typeface="Calibri"/>
                <a:ea typeface="맑은 고딕"/>
                <a:cs typeface="Calibri"/>
              </a:rPr>
              <a:t>were</a:t>
            </a:r>
            <a:r>
              <a:rPr lang="en-US" altLang="en-US" sz="2000" b="1" dirty="0">
                <a:solidFill>
                  <a:srgbClr val="C00000">
                    <a:alpha val="0"/>
                  </a:srgbClr>
                </a:solidFill>
                <a:latin typeface="Calibri"/>
                <a:ea typeface="맑은 고딕"/>
                <a:cs typeface="Calibri"/>
              </a:rPr>
              <a:t> / </a:t>
            </a:r>
            <a:r>
              <a:rPr lang="en-US" altLang="en-US" sz="2000" b="1" dirty="0">
                <a:solidFill>
                  <a:srgbClr val="C00000"/>
                </a:solidFill>
                <a:latin typeface="Calibri"/>
                <a:ea typeface="맑은 고딕"/>
                <a:cs typeface="Calibri"/>
              </a:rPr>
              <a:t>was</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an antique furniture dealer in London.</a:t>
            </a:r>
            <a:endParaRPr lang="ko-KR" sz="2000"/>
          </a:p>
        </p:txBody>
      </p:sp>
      <p:sp>
        <p:nvSpPr>
          <p:cNvPr id="11" name="rv_point_1"/>
          <p:cNvSpPr txBox="1"/>
          <p:nvPr/>
        </p:nvSpPr>
        <p:spPr>
          <a:xfrm>
            <a:off x="457200" y="1780032"/>
            <a:ext cx="11274552" cy="331978"/>
          </a:xfrm>
          <a:prstGeom prst="rect">
            <a:avLst/>
          </a:prstGeom>
          <a:noFill/>
        </p:spPr>
        <p:txBody>
          <a:bodyPr wrap="square" lIns="228600" tIns="54864" rIns="228600" bIns="54864" anchor="t" rtlCol="0">
            <a:noAutofit/>
          </a:bodyPr>
          <a:lstStyle/>
          <a:p>
            <a:pPr algn="l">
              <a:lnSpc>
                <a:spcPts val="1750"/>
              </a:lnSpc>
              <a:spcBef>
                <a:spcPts val="0"/>
              </a:spcBef>
              <a:spcAft>
                <a:spcPts val="0"/>
              </a:spcAft>
              <a:buNone/>
            </a:pPr>
            <a:r>
              <a:rPr lang="ko-KR" altLang="en-US" sz="1400" b="1" dirty="0">
                <a:solidFill>
                  <a:srgbClr val="C00000"/>
                </a:solidFill>
                <a:latin typeface="맑은 고딕"/>
                <a:ea typeface="맑은 고딕"/>
                <a:cs typeface="맑은 고딕"/>
              </a:rPr>
              <a:t>포인트  </a:t>
            </a:r>
            <a:r>
              <a:rPr lang="ko-KR" altLang="en-US" sz="1400" b="0" dirty="0">
                <a:solidFill>
                  <a:srgbClr val="2F5597"/>
                </a:solidFill>
                <a:latin typeface="맑은 고딕"/>
                <a:ea typeface="맑은 고딕"/>
                <a:cs typeface="맑은 고딕"/>
              </a:rPr>
              <a:t>동사의 수 일치 (주어 Cyril Boggis 단수)</a:t>
            </a:r>
            <a:endParaRPr lang="ko-KR" sz="1400"/>
          </a:p>
        </p:txBody>
      </p:sp>
      <p:sp>
        <p:nvSpPr>
          <p:cNvPr id="12" name="item_card_2"/>
          <p:cNvSpPr/>
          <p:nvPr/>
        </p:nvSpPr>
        <p:spPr>
          <a:xfrm>
            <a:off x="457200" y="2221738"/>
            <a:ext cx="11274552" cy="1738884"/>
          </a:xfrm>
          <a:prstGeom prst="roundRect">
            <a:avLst>
              <a:gd name="adj" fmla="val 6000"/>
            </a:avLst>
          </a:prstGeom>
          <a:solidFill>
            <a:srgbClr val="F3F5F9"/>
          </a:solidFill>
          <a:ln w="12700">
            <a:solidFill>
              <a:srgbClr val="D9DFEA"/>
            </a:solidFill>
          </a:ln>
        </p:spPr>
        <p:txBody>
          <a:bodyPr rtlCol="0" anchor="ctr"/>
          <a:lstStyle/>
          <a:p>
            <a:pPr algn="ctr"/>
          </a:p>
        </p:txBody>
      </p:sp>
      <p:sp>
        <p:nvSpPr>
          <p:cNvPr id="13" name="kor_2"/>
          <p:cNvSpPr txBox="1"/>
          <p:nvPr/>
        </p:nvSpPr>
        <p:spPr>
          <a:xfrm>
            <a:off x="457200" y="2331466"/>
            <a:ext cx="11274552" cy="363728"/>
          </a:xfrm>
          <a:prstGeom prst="rect">
            <a:avLst/>
          </a:prstGeom>
          <a:noFill/>
        </p:spPr>
        <p:txBody>
          <a:bodyPr wrap="square" lIns="228600" tIns="54864" rIns="228600" bIns="54864" anchor="t" rtlCol="0">
            <a:noAutofit/>
          </a:bodyPr>
          <a:lstStyle/>
          <a:p>
            <a:pPr algn="l">
              <a:lnSpc>
                <a:spcPts val="2000"/>
              </a:lnSpc>
              <a:spcBef>
                <a:spcPts val="0"/>
              </a:spcBef>
              <a:spcAft>
                <a:spcPts val="0"/>
              </a:spcAft>
              <a:buNone/>
            </a:pPr>
            <a:r>
              <a:rPr lang="en-US" altLang="en-US" sz="1600" b="1" dirty="0">
                <a:solidFill>
                  <a:srgbClr val="1E2A5A"/>
                </a:solidFill>
                <a:latin typeface="Calibri"/>
                <a:ea typeface="맑은 고딕"/>
                <a:cs typeface="Calibri"/>
              </a:rPr>
              <a:t>2.  </a:t>
            </a:r>
            <a:r>
              <a:rPr lang="ko-KR" altLang="en-US" sz="1600" b="0" dirty="0">
                <a:solidFill>
                  <a:srgbClr val="3C4558"/>
                </a:solidFill>
                <a:latin typeface="맑은 고딕"/>
                <a:ea typeface="맑은 고딕"/>
                <a:cs typeface="맑은 고딕"/>
              </a:rPr>
              <a:t>그는 좋은 물건을 싸게 사들인 뒤 비싸게 되파는 것으로 유명했다.</a:t>
            </a:r>
            <a:endParaRPr lang="ko-KR" sz="1600"/>
          </a:p>
        </p:txBody>
      </p:sp>
      <p:sp>
        <p:nvSpPr>
          <p:cNvPr id="14" name="eng_2"/>
          <p:cNvSpPr txBox="1"/>
          <p:nvPr/>
        </p:nvSpPr>
        <p:spPr>
          <a:xfrm>
            <a:off x="457200" y="2640330"/>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solidFill>
                <a:latin typeface="Calibri"/>
                <a:ea typeface="맑은 고딕"/>
                <a:cs typeface="Calibri"/>
              </a:rPr>
              <a:t>He was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known</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knowing</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for buying good things at a low price and then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sell</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selling</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them at a high price.</a:t>
            </a:r>
            <a:endParaRPr lang="ko-KR" sz="2000"/>
          </a:p>
        </p:txBody>
      </p:sp>
      <p:sp>
        <p:nvSpPr>
          <p:cNvPr id="15" name="rv_eng_2"/>
          <p:cNvSpPr txBox="1"/>
          <p:nvPr/>
        </p:nvSpPr>
        <p:spPr>
          <a:xfrm>
            <a:off x="457200" y="2640330"/>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alpha val="0"/>
                  </a:srgbClr>
                </a:solidFill>
                <a:latin typeface="Calibri"/>
                <a:ea typeface="맑은 고딕"/>
                <a:cs typeface="Calibri"/>
              </a:rPr>
              <a:t>He was </a:t>
            </a:r>
            <a:r>
              <a:rPr lang="en-US" altLang="en-US" sz="2000" b="1" dirty="0">
                <a:solidFill>
                  <a:srgbClr val="C00000">
                    <a:alpha val="0"/>
                  </a:srgbClr>
                </a:solidFill>
                <a:latin typeface="Calibri"/>
                <a:ea typeface="맑은 고딕"/>
                <a:cs typeface="Calibri"/>
              </a:rPr>
              <a:t>[ </a:t>
            </a:r>
            <a:r>
              <a:rPr lang="en-US" altLang="en-US" sz="2000" b="1" dirty="0">
                <a:solidFill>
                  <a:srgbClr val="C00000"/>
                </a:solidFill>
                <a:latin typeface="Calibri"/>
                <a:ea typeface="맑은 고딕"/>
                <a:cs typeface="Calibri"/>
              </a:rPr>
              <a:t>known</a:t>
            </a:r>
            <a:r>
              <a:rPr lang="en-US" altLang="en-US" sz="2000" b="1" dirty="0">
                <a:solidFill>
                  <a:srgbClr val="C00000">
                    <a:alpha val="0"/>
                  </a:srgbClr>
                </a:solidFill>
                <a:latin typeface="Calibri"/>
                <a:ea typeface="맑은 고딕"/>
                <a:cs typeface="Calibri"/>
              </a:rPr>
              <a:t> / </a:t>
            </a:r>
            <a:r>
              <a:rPr lang="en-US" altLang="en-US" sz="2000" b="1" dirty="0">
                <a:solidFill>
                  <a:srgbClr val="C00000">
                    <a:alpha val="0"/>
                  </a:srgbClr>
                </a:solidFill>
                <a:latin typeface="Calibri"/>
                <a:ea typeface="맑은 고딕"/>
                <a:cs typeface="Calibri"/>
              </a:rPr>
              <a:t>knowing</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for buying good things at a low price and then </a:t>
            </a:r>
            <a:r>
              <a:rPr lang="en-US" altLang="en-US" sz="2000" b="1" dirty="0">
                <a:solidFill>
                  <a:srgbClr val="C00000">
                    <a:alpha val="0"/>
                  </a:srgbClr>
                </a:solidFill>
                <a:latin typeface="Calibri"/>
                <a:ea typeface="맑은 고딕"/>
                <a:cs typeface="Calibri"/>
              </a:rPr>
              <a:t>[ </a:t>
            </a:r>
            <a:r>
              <a:rPr lang="en-US" altLang="en-US" sz="2000" b="1" dirty="0">
                <a:solidFill>
                  <a:srgbClr val="C00000">
                    <a:alpha val="0"/>
                  </a:srgbClr>
                </a:solidFill>
                <a:latin typeface="Calibri"/>
                <a:ea typeface="맑은 고딕"/>
                <a:cs typeface="Calibri"/>
              </a:rPr>
              <a:t>sell</a:t>
            </a:r>
            <a:r>
              <a:rPr lang="en-US" altLang="en-US" sz="2000" b="1" dirty="0">
                <a:solidFill>
                  <a:srgbClr val="C00000">
                    <a:alpha val="0"/>
                  </a:srgbClr>
                </a:solidFill>
                <a:latin typeface="Calibri"/>
                <a:ea typeface="맑은 고딕"/>
                <a:cs typeface="Calibri"/>
              </a:rPr>
              <a:t> / </a:t>
            </a:r>
            <a:r>
              <a:rPr lang="en-US" altLang="en-US" sz="2000" b="1" dirty="0">
                <a:solidFill>
                  <a:srgbClr val="C00000"/>
                </a:solidFill>
                <a:latin typeface="Calibri"/>
                <a:ea typeface="맑은 고딕"/>
                <a:cs typeface="Calibri"/>
              </a:rPr>
              <a:t>selling</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them at a high price.</a:t>
            </a:r>
            <a:endParaRPr lang="ko-KR" sz="2000"/>
          </a:p>
        </p:txBody>
      </p:sp>
      <p:sp>
        <p:nvSpPr>
          <p:cNvPr id="16" name="rv_point_2"/>
          <p:cNvSpPr txBox="1"/>
          <p:nvPr/>
        </p:nvSpPr>
        <p:spPr>
          <a:xfrm>
            <a:off x="457200" y="3406394"/>
            <a:ext cx="11274552" cy="554227"/>
          </a:xfrm>
          <a:prstGeom prst="rect">
            <a:avLst/>
          </a:prstGeom>
          <a:noFill/>
        </p:spPr>
        <p:txBody>
          <a:bodyPr wrap="square" lIns="228600" tIns="54864" rIns="228600" bIns="54864" anchor="t" rtlCol="0">
            <a:noAutofit/>
          </a:bodyPr>
          <a:lstStyle/>
          <a:p>
            <a:pPr algn="l">
              <a:lnSpc>
                <a:spcPts val="1750"/>
              </a:lnSpc>
              <a:spcBef>
                <a:spcPts val="0"/>
              </a:spcBef>
              <a:spcAft>
                <a:spcPts val="0"/>
              </a:spcAft>
              <a:buNone/>
            </a:pPr>
            <a:r>
              <a:rPr lang="ko-KR" altLang="en-US" sz="1400" b="1" dirty="0">
                <a:solidFill>
                  <a:srgbClr val="C00000"/>
                </a:solidFill>
                <a:latin typeface="맑은 고딕"/>
                <a:ea typeface="맑은 고딕"/>
                <a:cs typeface="맑은 고딕"/>
              </a:rPr>
              <a:t>포인트  </a:t>
            </a:r>
            <a:r>
              <a:rPr lang="ko-KR" altLang="en-US" sz="1400" b="0" dirty="0">
                <a:solidFill>
                  <a:srgbClr val="2F5597"/>
                </a:solidFill>
                <a:latin typeface="맑은 고딕"/>
                <a:ea typeface="맑은 고딕"/>
                <a:cs typeface="맑은 고딕"/>
              </a:rPr>
              <a:t>수동태(능동/수동 구별) (be known for: ~로 알려지다) · to부정사/동명사/동사원형 (전치사 for 뒤 buying과 병렬 → 동명사)</a:t>
            </a:r>
            <a:endParaRPr lang="ko-KR" sz="1400"/>
          </a:p>
        </p:txBody>
      </p:sp>
      <p:sp>
        <p:nvSpPr>
          <p:cNvPr id="17" name="item_card_3"/>
          <p:cNvSpPr/>
          <p:nvPr/>
        </p:nvSpPr>
        <p:spPr>
          <a:xfrm>
            <a:off x="457200" y="4070350"/>
            <a:ext cx="11274552" cy="1516634"/>
          </a:xfrm>
          <a:prstGeom prst="roundRect">
            <a:avLst>
              <a:gd name="adj" fmla="val 6000"/>
            </a:avLst>
          </a:prstGeom>
          <a:solidFill>
            <a:srgbClr val="F3F5F9"/>
          </a:solidFill>
          <a:ln w="12700">
            <a:solidFill>
              <a:srgbClr val="D9DFEA"/>
            </a:solidFill>
          </a:ln>
        </p:spPr>
        <p:txBody>
          <a:bodyPr rtlCol="0" anchor="ctr"/>
          <a:lstStyle/>
          <a:p>
            <a:pPr algn="ctr"/>
          </a:p>
        </p:txBody>
      </p:sp>
      <p:sp>
        <p:nvSpPr>
          <p:cNvPr id="18" name="kor_3"/>
          <p:cNvSpPr txBox="1"/>
          <p:nvPr/>
        </p:nvSpPr>
        <p:spPr>
          <a:xfrm>
            <a:off x="457200" y="4180078"/>
            <a:ext cx="11274552" cy="363728"/>
          </a:xfrm>
          <a:prstGeom prst="rect">
            <a:avLst/>
          </a:prstGeom>
          <a:noFill/>
        </p:spPr>
        <p:txBody>
          <a:bodyPr wrap="square" lIns="228600" tIns="54864" rIns="228600" bIns="54864" anchor="t" rtlCol="0">
            <a:noAutofit/>
          </a:bodyPr>
          <a:lstStyle/>
          <a:p>
            <a:pPr algn="l">
              <a:lnSpc>
                <a:spcPts val="2000"/>
              </a:lnSpc>
              <a:spcBef>
                <a:spcPts val="0"/>
              </a:spcBef>
              <a:spcAft>
                <a:spcPts val="0"/>
              </a:spcAft>
              <a:buNone/>
            </a:pPr>
            <a:r>
              <a:rPr lang="en-US" altLang="en-US" sz="1600" b="1" dirty="0">
                <a:solidFill>
                  <a:srgbClr val="1E2A5A"/>
                </a:solidFill>
                <a:latin typeface="Calibri"/>
                <a:ea typeface="맑은 고딕"/>
                <a:cs typeface="Calibri"/>
              </a:rPr>
              <a:t>3.  </a:t>
            </a:r>
            <a:r>
              <a:rPr lang="ko-KR" altLang="en-US" sz="1600" b="0" dirty="0">
                <a:solidFill>
                  <a:srgbClr val="3C4558"/>
                </a:solidFill>
                <a:latin typeface="맑은 고딕"/>
                <a:ea typeface="맑은 고딕"/>
                <a:cs typeface="맑은 고딕"/>
              </a:rPr>
              <a:t>사람들이 그 가구를 어디서 구했는지 물어도 그는 "비밀입니다."라고만 했다.</a:t>
            </a:r>
            <a:endParaRPr lang="ko-KR" sz="1600"/>
          </a:p>
        </p:txBody>
      </p:sp>
      <p:sp>
        <p:nvSpPr>
          <p:cNvPr id="19" name="eng_3"/>
          <p:cNvSpPr txBox="1"/>
          <p:nvPr/>
        </p:nvSpPr>
        <p:spPr>
          <a:xfrm>
            <a:off x="457200" y="4488942"/>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solidFill>
                <a:latin typeface="Calibri"/>
                <a:ea typeface="맑은 고딕"/>
                <a:cs typeface="Calibri"/>
              </a:rPr>
              <a:t>People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were asked</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asked</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him where he had got the furniture, but he just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said</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was said</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"It’s a secret."</a:t>
            </a:r>
            <a:endParaRPr lang="ko-KR" sz="2000"/>
          </a:p>
        </p:txBody>
      </p:sp>
      <p:sp>
        <p:nvSpPr>
          <p:cNvPr id="20" name="rv_eng_3"/>
          <p:cNvSpPr txBox="1"/>
          <p:nvPr/>
        </p:nvSpPr>
        <p:spPr>
          <a:xfrm>
            <a:off x="457200" y="4488942"/>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alpha val="0"/>
                  </a:srgbClr>
                </a:solidFill>
                <a:latin typeface="Calibri"/>
                <a:ea typeface="맑은 고딕"/>
                <a:cs typeface="Calibri"/>
              </a:rPr>
              <a:t>People </a:t>
            </a:r>
            <a:r>
              <a:rPr lang="en-US" altLang="en-US" sz="2000" b="1" dirty="0">
                <a:solidFill>
                  <a:srgbClr val="C00000">
                    <a:alpha val="0"/>
                  </a:srgbClr>
                </a:solidFill>
                <a:latin typeface="Calibri"/>
                <a:ea typeface="맑은 고딕"/>
                <a:cs typeface="Calibri"/>
              </a:rPr>
              <a:t>[ </a:t>
            </a:r>
            <a:r>
              <a:rPr lang="en-US" altLang="en-US" sz="2000" b="1" dirty="0">
                <a:solidFill>
                  <a:srgbClr val="C00000">
                    <a:alpha val="0"/>
                  </a:srgbClr>
                </a:solidFill>
                <a:latin typeface="Calibri"/>
                <a:ea typeface="맑은 고딕"/>
                <a:cs typeface="Calibri"/>
              </a:rPr>
              <a:t>were asked</a:t>
            </a:r>
            <a:r>
              <a:rPr lang="en-US" altLang="en-US" sz="2000" b="1" dirty="0">
                <a:solidFill>
                  <a:srgbClr val="C00000">
                    <a:alpha val="0"/>
                  </a:srgbClr>
                </a:solidFill>
                <a:latin typeface="Calibri"/>
                <a:ea typeface="맑은 고딕"/>
                <a:cs typeface="Calibri"/>
              </a:rPr>
              <a:t> / </a:t>
            </a:r>
            <a:r>
              <a:rPr lang="en-US" altLang="en-US" sz="2000" b="1" dirty="0">
                <a:solidFill>
                  <a:srgbClr val="C00000"/>
                </a:solidFill>
                <a:latin typeface="Calibri"/>
                <a:ea typeface="맑은 고딕"/>
                <a:cs typeface="Calibri"/>
              </a:rPr>
              <a:t>asked</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him where he had got the furniture, but he just </a:t>
            </a:r>
            <a:r>
              <a:rPr lang="en-US" altLang="en-US" sz="2000" b="1" dirty="0">
                <a:solidFill>
                  <a:srgbClr val="C00000">
                    <a:alpha val="0"/>
                  </a:srgbClr>
                </a:solidFill>
                <a:latin typeface="Calibri"/>
                <a:ea typeface="맑은 고딕"/>
                <a:cs typeface="Calibri"/>
              </a:rPr>
              <a:t>[ </a:t>
            </a:r>
            <a:r>
              <a:rPr lang="en-US" altLang="en-US" sz="2000" b="1" dirty="0">
                <a:solidFill>
                  <a:srgbClr val="C00000"/>
                </a:solidFill>
                <a:latin typeface="Calibri"/>
                <a:ea typeface="맑은 고딕"/>
                <a:cs typeface="Calibri"/>
              </a:rPr>
              <a:t>said</a:t>
            </a:r>
            <a:r>
              <a:rPr lang="en-US" altLang="en-US" sz="2000" b="1" dirty="0">
                <a:solidFill>
                  <a:srgbClr val="C00000">
                    <a:alpha val="0"/>
                  </a:srgbClr>
                </a:solidFill>
                <a:latin typeface="Calibri"/>
                <a:ea typeface="맑은 고딕"/>
                <a:cs typeface="Calibri"/>
              </a:rPr>
              <a:t> / </a:t>
            </a:r>
            <a:r>
              <a:rPr lang="en-US" altLang="en-US" sz="2000" b="1" dirty="0">
                <a:solidFill>
                  <a:srgbClr val="C00000">
                    <a:alpha val="0"/>
                  </a:srgbClr>
                </a:solidFill>
                <a:latin typeface="Calibri"/>
                <a:ea typeface="맑은 고딕"/>
                <a:cs typeface="Calibri"/>
              </a:rPr>
              <a:t>was said</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"It’s a secret."</a:t>
            </a:r>
            <a:endParaRPr lang="ko-KR" sz="2000"/>
          </a:p>
        </p:txBody>
      </p:sp>
      <p:sp>
        <p:nvSpPr>
          <p:cNvPr id="21" name="rv_point_3"/>
          <p:cNvSpPr txBox="1"/>
          <p:nvPr/>
        </p:nvSpPr>
        <p:spPr>
          <a:xfrm>
            <a:off x="457200" y="5255006"/>
            <a:ext cx="11274552" cy="331978"/>
          </a:xfrm>
          <a:prstGeom prst="rect">
            <a:avLst/>
          </a:prstGeom>
          <a:noFill/>
        </p:spPr>
        <p:txBody>
          <a:bodyPr wrap="square" lIns="228600" tIns="54864" rIns="228600" bIns="54864" anchor="t" rtlCol="0">
            <a:noAutofit/>
          </a:bodyPr>
          <a:lstStyle/>
          <a:p>
            <a:pPr algn="l">
              <a:lnSpc>
                <a:spcPts val="1750"/>
              </a:lnSpc>
              <a:spcBef>
                <a:spcPts val="0"/>
              </a:spcBef>
              <a:spcAft>
                <a:spcPts val="0"/>
              </a:spcAft>
              <a:buNone/>
            </a:pPr>
            <a:r>
              <a:rPr lang="ko-KR" altLang="en-US" sz="1400" b="1" dirty="0">
                <a:solidFill>
                  <a:srgbClr val="C00000"/>
                </a:solidFill>
                <a:latin typeface="맑은 고딕"/>
                <a:ea typeface="맑은 고딕"/>
                <a:cs typeface="맑은 고딕"/>
              </a:rPr>
              <a:t>포인트  </a:t>
            </a:r>
            <a:r>
              <a:rPr lang="ko-KR" altLang="en-US" sz="1400" b="0" dirty="0">
                <a:solidFill>
                  <a:srgbClr val="2F5597"/>
                </a:solidFill>
                <a:latin typeface="맑은 고딕"/>
                <a:ea typeface="맑은 고딕"/>
                <a:cs typeface="맑은 고딕"/>
              </a:rPr>
              <a:t>수동태(능동/수동 구별) (목적어 him이 있으므로 능동) · 수동태(능동/수동 구별) (주어 he가 직접 말함 → 능동)</a:t>
            </a:r>
            <a:endParaRPr lang="ko-KR" sz="1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25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250"/>
                                        <p:tgtEl>
                                          <p:spTgt spid="1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250"/>
                                        <p:tgtEl>
                                          <p:spTgt spid="1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fade">
                                      <p:cBhvr>
                                        <p:cTn id="16" dur="250"/>
                                        <p:tgtEl>
                                          <p:spTgt spid="1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250"/>
                                        <p:tgtEl>
                                          <p:spTgt spid="2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fade">
                                      <p:cBhvr>
                                        <p:cTn id="22" dur="25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5" grpId="0" animBg="1"/>
      <p:bldP spid="16" grpId="0" animBg="1"/>
      <p:bldP spid="20" grpId="0" animBg="1"/>
      <p:bldP spid="21" grpId="0" animBg="1"/>
    </p:bldLst>
  </p:timing>
</p:sld>
</file>

<file path=ppt/slides/slide1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8000"/>
            </a:avLst>
          </a:prstGeom>
          <a:solidFill>
            <a:srgbClr val="1E2A5A"/>
          </a:solidFill>
          <a:ln>
            <a:noFill/>
          </a:ln>
        </p:spPr>
        <p:txBody>
          <a:bodyPr wrap="square" lIns="45720" tIns="18288" rIns="45720" bIns="18288" anchor="ctr" rtlCol="0">
            <a:noAutofit/>
          </a:bodyPr>
          <a:lstStyle/>
          <a:p>
            <a:pPr algn="ctr">
              <a:lnSpc>
                <a:spcPts val="2000"/>
              </a:lnSpc>
              <a:spcBef>
                <a:spcPts val="0"/>
              </a:spcBef>
              <a:spcAft>
                <a:spcPts val="0"/>
              </a:spcAft>
              <a:buNone/>
            </a:pPr>
            <a:r>
              <a:rPr lang="en-US" altLang="en-US" sz="1700" b="1" dirty="0">
                <a:solidFill>
                  <a:srgbClr val="FFFFFF"/>
                </a:solidFill>
                <a:latin typeface="Calibri"/>
                <a:ea typeface="맑은 고딕"/>
                <a:cs typeface="Calibri"/>
              </a:rPr>
              <a:t>L6</a:t>
            </a:r>
            <a:endParaRPr lang="ko-KR" sz="1700"/>
          </a:p>
        </p:txBody>
      </p:sp>
      <p:sp>
        <p:nvSpPr>
          <p:cNvPr id="3" name="hdr_chip"/>
          <p:cNvSpPr/>
          <p:nvPr/>
        </p:nvSpPr>
        <p:spPr>
          <a:xfrm>
            <a:off x="1755648" y="274320"/>
            <a:ext cx="1371600" cy="493776"/>
          </a:xfrm>
          <a:prstGeom prst="roundRect">
            <a:avLst>
              <a:gd name="adj" fmla="val 8000"/>
            </a:avLst>
          </a:prstGeom>
          <a:solidFill>
            <a:srgbClr val="E6EAF4"/>
          </a:solidFill>
          <a:ln>
            <a:noFill/>
          </a:ln>
        </p:spPr>
        <p:txBody>
          <a:bodyPr wrap="square" lIns="27432" tIns="18288" rIns="27432" bIns="18288" anchor="ctr" rtlCol="0">
            <a:noAutofit/>
          </a:bodyPr>
          <a:lstStyle/>
          <a:p>
            <a:pPr algn="ctr">
              <a:lnSpc>
                <a:spcPts val="1700"/>
              </a:lnSpc>
              <a:spcBef>
                <a:spcPts val="0"/>
              </a:spcBef>
              <a:spcAft>
                <a:spcPts val="0"/>
              </a:spcAft>
              <a:buNone/>
            </a:pPr>
            <a:r>
              <a:rPr lang="ko-KR" altLang="en-US" sz="1400" b="1" dirty="0">
                <a:solidFill>
                  <a:srgbClr val="1E2A5A"/>
                </a:solidFill>
                <a:latin typeface="맑은 고딕"/>
                <a:ea typeface="맑은 고딕"/>
                <a:cs typeface="맑은 고딕"/>
              </a:rPr>
              <a:t>PART 5 · 2</a:t>
            </a:r>
            <a:endParaRPr lang="ko-KR" sz="1400"/>
          </a:p>
        </p:txBody>
      </p:sp>
      <p:sp>
        <p:nvSpPr>
          <p:cNvPr id="4" name="hdr_q"/>
          <p:cNvSpPr txBox="1"/>
          <p:nvPr/>
        </p:nvSpPr>
        <p:spPr>
          <a:xfrm>
            <a:off x="3246120" y="246888"/>
            <a:ext cx="8485632" cy="548640"/>
          </a:xfrm>
          <a:prstGeom prst="rect">
            <a:avLst/>
          </a:prstGeom>
          <a:noFill/>
        </p:spPr>
        <p:txBody>
          <a:bodyPr wrap="square" lIns="109728" tIns="54864" rIns="109728" bIns="54864" anchor="ctr" rtlCol="0">
            <a:noAutofit/>
          </a:bodyPr>
          <a:lstStyle/>
          <a:p>
            <a:pPr algn="l">
              <a:lnSpc>
                <a:spcPts val="2400"/>
              </a:lnSpc>
              <a:spcBef>
                <a:spcPts val="0"/>
              </a:spcBef>
              <a:spcAft>
                <a:spcPts val="0"/>
              </a:spcAft>
              <a:buNone/>
            </a:pPr>
            <a:r>
              <a:rPr lang="ko-KR" altLang="en-US" sz="2000" b="1" dirty="0">
                <a:solidFill>
                  <a:srgbClr val="1F2328"/>
                </a:solidFill>
                <a:latin typeface="맑은 고딕"/>
                <a:ea typeface="맑은 고딕"/>
                <a:cs typeface="맑은 고딕"/>
              </a:rPr>
              <a:t>[  ] 안에서 어법상 알맞은 것을 고르시오.</a:t>
            </a:r>
            <a:endParaRPr lang="ko-KR" sz="2000"/>
          </a:p>
        </p:txBody>
      </p:sp>
      <p:sp>
        <p:nvSpPr>
          <p:cNvPr id="5" name="ftr_exam"/>
          <p:cNvSpPr txBox="1"/>
          <p:nvPr/>
        </p:nvSpPr>
        <p:spPr>
          <a:xfrm>
            <a:off x="457200" y="6519672"/>
            <a:ext cx="5669280" cy="256032"/>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6</a:t>
            </a:r>
            <a:endParaRPr lang="ko-KR" sz="1000"/>
          </a:p>
        </p:txBody>
      </p:sp>
      <p:sp>
        <p:nvSpPr>
          <p:cNvPr id="6" name="ftr_hint"/>
          <p:cNvSpPr txBox="1"/>
          <p:nvPr/>
        </p:nvSpPr>
        <p:spPr>
          <a:xfrm>
            <a:off x="5971032" y="6519672"/>
            <a:ext cx="5760720" cy="256032"/>
          </a:xfrm>
          <a:prstGeom prst="rect">
            <a:avLst/>
          </a:prstGeom>
          <a:noFill/>
        </p:spPr>
        <p:txBody>
          <a:bodyPr wrap="square" lIns="0" tIns="0" rIns="0" bIns="0" anchor="t" rtlCol="0">
            <a:noAutofit/>
          </a:bodyPr>
          <a:lstStyle/>
          <a:p>
            <a:pPr algn="r">
              <a:lnSpc>
                <a:spcPts val="1200"/>
              </a:lnSpc>
              <a:spcBef>
                <a:spcPts val="0"/>
              </a:spcBef>
              <a:spcAft>
                <a:spcPts val="0"/>
              </a:spcAft>
              <a:buNone/>
            </a:pPr>
            <a:r>
              <a:rPr lang="ko-KR" altLang="en-US" sz="1000" b="0" dirty="0">
                <a:solidFill>
                  <a:srgbClr val="7A808C"/>
                </a:solidFill>
                <a:latin typeface="맑은 고딕"/>
                <a:ea typeface="맑은 고딕"/>
                <a:cs typeface="맑은 고딕"/>
              </a:rPr>
              <a:t>클릭 ① 정답(빨간색) + 문법 포인트 공개</a:t>
            </a:r>
            <a:endParaRPr lang="ko-KR" sz="1000"/>
          </a:p>
        </p:txBody>
      </p:sp>
      <p:sp>
        <p:nvSpPr>
          <p:cNvPr id="7" name="item_card_1"/>
          <p:cNvSpPr/>
          <p:nvPr/>
        </p:nvSpPr>
        <p:spPr>
          <a:xfrm>
            <a:off x="457200" y="950976"/>
            <a:ext cx="11274552" cy="1516634"/>
          </a:xfrm>
          <a:prstGeom prst="roundRect">
            <a:avLst>
              <a:gd name="adj" fmla="val 6000"/>
            </a:avLst>
          </a:prstGeom>
          <a:solidFill>
            <a:srgbClr val="F3F5F9"/>
          </a:solidFill>
          <a:ln w="12700">
            <a:solidFill>
              <a:srgbClr val="D9DFEA"/>
            </a:solidFill>
          </a:ln>
        </p:spPr>
        <p:txBody>
          <a:bodyPr rtlCol="0" anchor="ctr"/>
          <a:lstStyle/>
          <a:p>
            <a:pPr algn="ctr"/>
          </a:p>
        </p:txBody>
      </p:sp>
      <p:sp>
        <p:nvSpPr>
          <p:cNvPr id="8" name="kor_1"/>
          <p:cNvSpPr txBox="1"/>
          <p:nvPr/>
        </p:nvSpPr>
        <p:spPr>
          <a:xfrm>
            <a:off x="457200" y="1060704"/>
            <a:ext cx="11274552" cy="363728"/>
          </a:xfrm>
          <a:prstGeom prst="rect">
            <a:avLst/>
          </a:prstGeom>
          <a:noFill/>
        </p:spPr>
        <p:txBody>
          <a:bodyPr wrap="square" lIns="228600" tIns="54864" rIns="228600" bIns="54864" anchor="t" rtlCol="0">
            <a:noAutofit/>
          </a:bodyPr>
          <a:lstStyle/>
          <a:p>
            <a:pPr algn="l">
              <a:lnSpc>
                <a:spcPts val="2000"/>
              </a:lnSpc>
              <a:spcBef>
                <a:spcPts val="0"/>
              </a:spcBef>
              <a:spcAft>
                <a:spcPts val="0"/>
              </a:spcAft>
              <a:buNone/>
            </a:pPr>
            <a:r>
              <a:rPr lang="en-US" altLang="en-US" sz="1600" b="1" dirty="0">
                <a:solidFill>
                  <a:srgbClr val="1E2A5A"/>
                </a:solidFill>
                <a:latin typeface="Calibri"/>
                <a:ea typeface="맑은 고딕"/>
                <a:cs typeface="Calibri"/>
              </a:rPr>
              <a:t>4.  </a:t>
            </a:r>
            <a:r>
              <a:rPr lang="ko-KR" altLang="en-US" sz="1600" b="0" dirty="0">
                <a:solidFill>
                  <a:srgbClr val="3C4558"/>
                </a:solidFill>
                <a:latin typeface="맑은 고딕"/>
                <a:ea typeface="맑은 고딕"/>
                <a:cs typeface="맑은 고딕"/>
              </a:rPr>
              <a:t>보기스 씨의 비밀은 간단했다. 그는 일요일마다 작은 마을들을 찾아가 집집마다 문을 두드렸다.</a:t>
            </a:r>
            <a:endParaRPr lang="ko-KR" sz="1600"/>
          </a:p>
        </p:txBody>
      </p:sp>
      <p:sp>
        <p:nvSpPr>
          <p:cNvPr id="9" name="eng_1"/>
          <p:cNvSpPr txBox="1"/>
          <p:nvPr/>
        </p:nvSpPr>
        <p:spPr>
          <a:xfrm>
            <a:off x="457200" y="1369568"/>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solidFill>
                <a:latin typeface="Calibri"/>
                <a:ea typeface="맑은 고딕"/>
                <a:cs typeface="Calibri"/>
              </a:rPr>
              <a:t>Mr. Boggis’ secret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was</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were</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simple. He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was gone</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went</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to small towns every Sunday and knocked on doors.</a:t>
            </a:r>
            <a:endParaRPr lang="ko-KR" sz="2000"/>
          </a:p>
        </p:txBody>
      </p:sp>
      <p:sp>
        <p:nvSpPr>
          <p:cNvPr id="10" name="rv_eng_1"/>
          <p:cNvSpPr txBox="1"/>
          <p:nvPr/>
        </p:nvSpPr>
        <p:spPr>
          <a:xfrm>
            <a:off x="457200" y="1369568"/>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alpha val="0"/>
                  </a:srgbClr>
                </a:solidFill>
                <a:latin typeface="Calibri"/>
                <a:ea typeface="맑은 고딕"/>
                <a:cs typeface="Calibri"/>
              </a:rPr>
              <a:t>Mr. Boggis’ secret </a:t>
            </a:r>
            <a:r>
              <a:rPr lang="en-US" altLang="en-US" sz="2000" b="1" dirty="0">
                <a:solidFill>
                  <a:srgbClr val="C00000">
                    <a:alpha val="0"/>
                  </a:srgbClr>
                </a:solidFill>
                <a:latin typeface="Calibri"/>
                <a:ea typeface="맑은 고딕"/>
                <a:cs typeface="Calibri"/>
              </a:rPr>
              <a:t>[ </a:t>
            </a:r>
            <a:r>
              <a:rPr lang="en-US" altLang="en-US" sz="2000" b="1" dirty="0">
                <a:solidFill>
                  <a:srgbClr val="C00000"/>
                </a:solidFill>
                <a:latin typeface="Calibri"/>
                <a:ea typeface="맑은 고딕"/>
                <a:cs typeface="Calibri"/>
              </a:rPr>
              <a:t>was</a:t>
            </a:r>
            <a:r>
              <a:rPr lang="en-US" altLang="en-US" sz="2000" b="1" dirty="0">
                <a:solidFill>
                  <a:srgbClr val="C00000">
                    <a:alpha val="0"/>
                  </a:srgbClr>
                </a:solidFill>
                <a:latin typeface="Calibri"/>
                <a:ea typeface="맑은 고딕"/>
                <a:cs typeface="Calibri"/>
              </a:rPr>
              <a:t> / </a:t>
            </a:r>
            <a:r>
              <a:rPr lang="en-US" altLang="en-US" sz="2000" b="1" dirty="0">
                <a:solidFill>
                  <a:srgbClr val="C00000">
                    <a:alpha val="0"/>
                  </a:srgbClr>
                </a:solidFill>
                <a:latin typeface="Calibri"/>
                <a:ea typeface="맑은 고딕"/>
                <a:cs typeface="Calibri"/>
              </a:rPr>
              <a:t>were</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simple. He </a:t>
            </a:r>
            <a:r>
              <a:rPr lang="en-US" altLang="en-US" sz="2000" b="1" dirty="0">
                <a:solidFill>
                  <a:srgbClr val="C00000">
                    <a:alpha val="0"/>
                  </a:srgbClr>
                </a:solidFill>
                <a:latin typeface="Calibri"/>
                <a:ea typeface="맑은 고딕"/>
                <a:cs typeface="Calibri"/>
              </a:rPr>
              <a:t>[ </a:t>
            </a:r>
            <a:r>
              <a:rPr lang="en-US" altLang="en-US" sz="2000" b="1" dirty="0">
                <a:solidFill>
                  <a:srgbClr val="C00000">
                    <a:alpha val="0"/>
                  </a:srgbClr>
                </a:solidFill>
                <a:latin typeface="Calibri"/>
                <a:ea typeface="맑은 고딕"/>
                <a:cs typeface="Calibri"/>
              </a:rPr>
              <a:t>was gone</a:t>
            </a:r>
            <a:r>
              <a:rPr lang="en-US" altLang="en-US" sz="2000" b="1" dirty="0">
                <a:solidFill>
                  <a:srgbClr val="C00000">
                    <a:alpha val="0"/>
                  </a:srgbClr>
                </a:solidFill>
                <a:latin typeface="Calibri"/>
                <a:ea typeface="맑은 고딕"/>
                <a:cs typeface="Calibri"/>
              </a:rPr>
              <a:t> / </a:t>
            </a:r>
            <a:r>
              <a:rPr lang="en-US" altLang="en-US" sz="2000" b="1" dirty="0">
                <a:solidFill>
                  <a:srgbClr val="C00000"/>
                </a:solidFill>
                <a:latin typeface="Calibri"/>
                <a:ea typeface="맑은 고딕"/>
                <a:cs typeface="Calibri"/>
              </a:rPr>
              <a:t>went</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to small towns every Sunday and knocked on doors.</a:t>
            </a:r>
            <a:endParaRPr lang="ko-KR" sz="2000"/>
          </a:p>
        </p:txBody>
      </p:sp>
      <p:sp>
        <p:nvSpPr>
          <p:cNvPr id="11" name="rv_point_1"/>
          <p:cNvSpPr txBox="1"/>
          <p:nvPr/>
        </p:nvSpPr>
        <p:spPr>
          <a:xfrm>
            <a:off x="457200" y="2135632"/>
            <a:ext cx="11274552" cy="331978"/>
          </a:xfrm>
          <a:prstGeom prst="rect">
            <a:avLst/>
          </a:prstGeom>
          <a:noFill/>
        </p:spPr>
        <p:txBody>
          <a:bodyPr wrap="square" lIns="228600" tIns="54864" rIns="228600" bIns="54864" anchor="t" rtlCol="0">
            <a:noAutofit/>
          </a:bodyPr>
          <a:lstStyle/>
          <a:p>
            <a:pPr algn="l">
              <a:lnSpc>
                <a:spcPts val="1750"/>
              </a:lnSpc>
              <a:spcBef>
                <a:spcPts val="0"/>
              </a:spcBef>
              <a:spcAft>
                <a:spcPts val="0"/>
              </a:spcAft>
              <a:buNone/>
            </a:pPr>
            <a:r>
              <a:rPr lang="ko-KR" altLang="en-US" sz="1400" b="1" dirty="0">
                <a:solidFill>
                  <a:srgbClr val="C00000"/>
                </a:solidFill>
                <a:latin typeface="맑은 고딕"/>
                <a:ea typeface="맑은 고딕"/>
                <a:cs typeface="맑은 고딕"/>
              </a:rPr>
              <a:t>포인트  </a:t>
            </a:r>
            <a:r>
              <a:rPr lang="ko-KR" altLang="en-US" sz="1400" b="0" dirty="0">
                <a:solidFill>
                  <a:srgbClr val="2F5597"/>
                </a:solidFill>
                <a:latin typeface="맑은 고딕"/>
                <a:ea typeface="맑은 고딕"/>
                <a:cs typeface="맑은 고딕"/>
              </a:rPr>
              <a:t>동사의 수 일치 (주어 secret 단수) · 수동태(능동/수동 구별) (자동사 go는 수동태 불가)</a:t>
            </a:r>
            <a:endParaRPr lang="ko-KR" sz="1400"/>
          </a:p>
        </p:txBody>
      </p:sp>
      <p:sp>
        <p:nvSpPr>
          <p:cNvPr id="12" name="item_card_2"/>
          <p:cNvSpPr/>
          <p:nvPr/>
        </p:nvSpPr>
        <p:spPr>
          <a:xfrm>
            <a:off x="457200" y="2577338"/>
            <a:ext cx="11274552" cy="1161034"/>
          </a:xfrm>
          <a:prstGeom prst="roundRect">
            <a:avLst>
              <a:gd name="adj" fmla="val 6000"/>
            </a:avLst>
          </a:prstGeom>
          <a:solidFill>
            <a:srgbClr val="F3F5F9"/>
          </a:solidFill>
          <a:ln w="12700">
            <a:solidFill>
              <a:srgbClr val="D9DFEA"/>
            </a:solidFill>
          </a:ln>
        </p:spPr>
        <p:txBody>
          <a:bodyPr rtlCol="0" anchor="ctr"/>
          <a:lstStyle/>
          <a:p>
            <a:pPr algn="ctr"/>
          </a:p>
        </p:txBody>
      </p:sp>
      <p:sp>
        <p:nvSpPr>
          <p:cNvPr id="13" name="kor_2"/>
          <p:cNvSpPr txBox="1"/>
          <p:nvPr/>
        </p:nvSpPr>
        <p:spPr>
          <a:xfrm>
            <a:off x="457200" y="2687066"/>
            <a:ext cx="11274552" cy="363728"/>
          </a:xfrm>
          <a:prstGeom prst="rect">
            <a:avLst/>
          </a:prstGeom>
          <a:noFill/>
        </p:spPr>
        <p:txBody>
          <a:bodyPr wrap="square" lIns="228600" tIns="54864" rIns="228600" bIns="54864" anchor="t" rtlCol="0">
            <a:noAutofit/>
          </a:bodyPr>
          <a:lstStyle/>
          <a:p>
            <a:pPr algn="l">
              <a:lnSpc>
                <a:spcPts val="2000"/>
              </a:lnSpc>
              <a:spcBef>
                <a:spcPts val="0"/>
              </a:spcBef>
              <a:spcAft>
                <a:spcPts val="0"/>
              </a:spcAft>
              <a:buNone/>
            </a:pPr>
            <a:r>
              <a:rPr lang="en-US" altLang="en-US" sz="1600" b="1" dirty="0">
                <a:solidFill>
                  <a:srgbClr val="1E2A5A"/>
                </a:solidFill>
                <a:latin typeface="Calibri"/>
                <a:ea typeface="맑은 고딕"/>
                <a:cs typeface="Calibri"/>
              </a:rPr>
              <a:t>5.  </a:t>
            </a:r>
            <a:r>
              <a:rPr lang="ko-KR" altLang="en-US" sz="1600" b="0" dirty="0">
                <a:solidFill>
                  <a:srgbClr val="3C4558"/>
                </a:solidFill>
                <a:latin typeface="맑은 고딕"/>
                <a:ea typeface="맑은 고딕"/>
                <a:cs typeface="맑은 고딕"/>
              </a:rPr>
              <a:t>그는 사람들에게 자신이 가구상이라고 말했다.</a:t>
            </a:r>
            <a:endParaRPr lang="ko-KR" sz="1600"/>
          </a:p>
        </p:txBody>
      </p:sp>
      <p:sp>
        <p:nvSpPr>
          <p:cNvPr id="14" name="eng_2"/>
          <p:cNvSpPr txBox="1"/>
          <p:nvPr/>
        </p:nvSpPr>
        <p:spPr>
          <a:xfrm>
            <a:off x="457200" y="2995930"/>
            <a:ext cx="11274552" cy="4653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solidFill>
                <a:latin typeface="Calibri"/>
                <a:ea typeface="맑은 고딕"/>
                <a:cs typeface="Calibri"/>
              </a:rPr>
              <a:t>He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was told</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told</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people that he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was</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were</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a furniture dealer.</a:t>
            </a:r>
            <a:endParaRPr lang="ko-KR" sz="2000"/>
          </a:p>
        </p:txBody>
      </p:sp>
      <p:sp>
        <p:nvSpPr>
          <p:cNvPr id="15" name="rv_eng_2"/>
          <p:cNvSpPr txBox="1"/>
          <p:nvPr/>
        </p:nvSpPr>
        <p:spPr>
          <a:xfrm>
            <a:off x="457200" y="2995930"/>
            <a:ext cx="11274552" cy="4653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alpha val="0"/>
                  </a:srgbClr>
                </a:solidFill>
                <a:latin typeface="Calibri"/>
                <a:ea typeface="맑은 고딕"/>
                <a:cs typeface="Calibri"/>
              </a:rPr>
              <a:t>He </a:t>
            </a:r>
            <a:r>
              <a:rPr lang="en-US" altLang="en-US" sz="2000" b="1" dirty="0">
                <a:solidFill>
                  <a:srgbClr val="C00000">
                    <a:alpha val="0"/>
                  </a:srgbClr>
                </a:solidFill>
                <a:latin typeface="Calibri"/>
                <a:ea typeface="맑은 고딕"/>
                <a:cs typeface="Calibri"/>
              </a:rPr>
              <a:t>[ </a:t>
            </a:r>
            <a:r>
              <a:rPr lang="en-US" altLang="en-US" sz="2000" b="1" dirty="0">
                <a:solidFill>
                  <a:srgbClr val="C00000">
                    <a:alpha val="0"/>
                  </a:srgbClr>
                </a:solidFill>
                <a:latin typeface="Calibri"/>
                <a:ea typeface="맑은 고딕"/>
                <a:cs typeface="Calibri"/>
              </a:rPr>
              <a:t>was told</a:t>
            </a:r>
            <a:r>
              <a:rPr lang="en-US" altLang="en-US" sz="2000" b="1" dirty="0">
                <a:solidFill>
                  <a:srgbClr val="C00000">
                    <a:alpha val="0"/>
                  </a:srgbClr>
                </a:solidFill>
                <a:latin typeface="Calibri"/>
                <a:ea typeface="맑은 고딕"/>
                <a:cs typeface="Calibri"/>
              </a:rPr>
              <a:t> / </a:t>
            </a:r>
            <a:r>
              <a:rPr lang="en-US" altLang="en-US" sz="2000" b="1" dirty="0">
                <a:solidFill>
                  <a:srgbClr val="C00000"/>
                </a:solidFill>
                <a:latin typeface="Calibri"/>
                <a:ea typeface="맑은 고딕"/>
                <a:cs typeface="Calibri"/>
              </a:rPr>
              <a:t>told</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people that he </a:t>
            </a:r>
            <a:r>
              <a:rPr lang="en-US" altLang="en-US" sz="2000" b="1" dirty="0">
                <a:solidFill>
                  <a:srgbClr val="C00000">
                    <a:alpha val="0"/>
                  </a:srgbClr>
                </a:solidFill>
                <a:latin typeface="Calibri"/>
                <a:ea typeface="맑은 고딕"/>
                <a:cs typeface="Calibri"/>
              </a:rPr>
              <a:t>[ </a:t>
            </a:r>
            <a:r>
              <a:rPr lang="en-US" altLang="en-US" sz="2000" b="1" dirty="0">
                <a:solidFill>
                  <a:srgbClr val="C00000"/>
                </a:solidFill>
                <a:latin typeface="Calibri"/>
                <a:ea typeface="맑은 고딕"/>
                <a:cs typeface="Calibri"/>
              </a:rPr>
              <a:t>was</a:t>
            </a:r>
            <a:r>
              <a:rPr lang="en-US" altLang="en-US" sz="2000" b="1" dirty="0">
                <a:solidFill>
                  <a:srgbClr val="C00000">
                    <a:alpha val="0"/>
                  </a:srgbClr>
                </a:solidFill>
                <a:latin typeface="Calibri"/>
                <a:ea typeface="맑은 고딕"/>
                <a:cs typeface="Calibri"/>
              </a:rPr>
              <a:t> / </a:t>
            </a:r>
            <a:r>
              <a:rPr lang="en-US" altLang="en-US" sz="2000" b="1" dirty="0">
                <a:solidFill>
                  <a:srgbClr val="C00000">
                    <a:alpha val="0"/>
                  </a:srgbClr>
                </a:solidFill>
                <a:latin typeface="Calibri"/>
                <a:ea typeface="맑은 고딕"/>
                <a:cs typeface="Calibri"/>
              </a:rPr>
              <a:t>were</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a furniture dealer.</a:t>
            </a:r>
            <a:endParaRPr lang="ko-KR" sz="2000"/>
          </a:p>
        </p:txBody>
      </p:sp>
      <p:sp>
        <p:nvSpPr>
          <p:cNvPr id="16" name="rv_point_2"/>
          <p:cNvSpPr txBox="1"/>
          <p:nvPr/>
        </p:nvSpPr>
        <p:spPr>
          <a:xfrm>
            <a:off x="457200" y="3406394"/>
            <a:ext cx="11274552" cy="331978"/>
          </a:xfrm>
          <a:prstGeom prst="rect">
            <a:avLst/>
          </a:prstGeom>
          <a:noFill/>
        </p:spPr>
        <p:txBody>
          <a:bodyPr wrap="square" lIns="228600" tIns="54864" rIns="228600" bIns="54864" anchor="t" rtlCol="0">
            <a:noAutofit/>
          </a:bodyPr>
          <a:lstStyle/>
          <a:p>
            <a:pPr algn="l">
              <a:lnSpc>
                <a:spcPts val="1750"/>
              </a:lnSpc>
              <a:spcBef>
                <a:spcPts val="0"/>
              </a:spcBef>
              <a:spcAft>
                <a:spcPts val="0"/>
              </a:spcAft>
              <a:buNone/>
            </a:pPr>
            <a:r>
              <a:rPr lang="ko-KR" altLang="en-US" sz="1400" b="1" dirty="0">
                <a:solidFill>
                  <a:srgbClr val="C00000"/>
                </a:solidFill>
                <a:latin typeface="맑은 고딕"/>
                <a:ea typeface="맑은 고딕"/>
                <a:cs typeface="맑은 고딕"/>
              </a:rPr>
              <a:t>포인트  </a:t>
            </a:r>
            <a:r>
              <a:rPr lang="ko-KR" altLang="en-US" sz="1400" b="0" dirty="0">
                <a:solidFill>
                  <a:srgbClr val="2F5597"/>
                </a:solidFill>
                <a:latin typeface="맑은 고딕"/>
                <a:ea typeface="맑은 고딕"/>
                <a:cs typeface="맑은 고딕"/>
              </a:rPr>
              <a:t>수동태(능동/수동 구별) (목적어 people이 있으므로 능동) · 동사의 수 일치 (주어 he)</a:t>
            </a:r>
            <a:endParaRPr lang="ko-KR" sz="1400"/>
          </a:p>
        </p:txBody>
      </p:sp>
      <p:sp>
        <p:nvSpPr>
          <p:cNvPr id="17" name="item_card_3"/>
          <p:cNvSpPr/>
          <p:nvPr/>
        </p:nvSpPr>
        <p:spPr>
          <a:xfrm>
            <a:off x="457200" y="3848100"/>
            <a:ext cx="11274552" cy="1516634"/>
          </a:xfrm>
          <a:prstGeom prst="roundRect">
            <a:avLst>
              <a:gd name="adj" fmla="val 6000"/>
            </a:avLst>
          </a:prstGeom>
          <a:solidFill>
            <a:srgbClr val="F3F5F9"/>
          </a:solidFill>
          <a:ln w="12700">
            <a:solidFill>
              <a:srgbClr val="D9DFEA"/>
            </a:solidFill>
          </a:ln>
        </p:spPr>
        <p:txBody>
          <a:bodyPr rtlCol="0" anchor="ctr"/>
          <a:lstStyle/>
          <a:p>
            <a:pPr algn="ctr"/>
          </a:p>
        </p:txBody>
      </p:sp>
      <p:sp>
        <p:nvSpPr>
          <p:cNvPr id="18" name="kor_3"/>
          <p:cNvSpPr txBox="1"/>
          <p:nvPr/>
        </p:nvSpPr>
        <p:spPr>
          <a:xfrm>
            <a:off x="457200" y="3957828"/>
            <a:ext cx="11274552" cy="363728"/>
          </a:xfrm>
          <a:prstGeom prst="rect">
            <a:avLst/>
          </a:prstGeom>
          <a:noFill/>
        </p:spPr>
        <p:txBody>
          <a:bodyPr wrap="square" lIns="228600" tIns="54864" rIns="228600" bIns="54864" anchor="t" rtlCol="0">
            <a:noAutofit/>
          </a:bodyPr>
          <a:lstStyle/>
          <a:p>
            <a:pPr algn="l">
              <a:lnSpc>
                <a:spcPts val="2000"/>
              </a:lnSpc>
              <a:spcBef>
                <a:spcPts val="0"/>
              </a:spcBef>
              <a:spcAft>
                <a:spcPts val="0"/>
              </a:spcAft>
              <a:buNone/>
            </a:pPr>
            <a:r>
              <a:rPr lang="en-US" altLang="en-US" sz="1600" b="1" dirty="0">
                <a:solidFill>
                  <a:srgbClr val="1E2A5A"/>
                </a:solidFill>
                <a:latin typeface="Calibri"/>
                <a:ea typeface="맑은 고딕"/>
                <a:cs typeface="Calibri"/>
              </a:rPr>
              <a:t>6.  </a:t>
            </a:r>
            <a:r>
              <a:rPr lang="ko-KR" altLang="en-US" sz="1600" b="0" dirty="0">
                <a:solidFill>
                  <a:srgbClr val="3C4558"/>
                </a:solidFill>
                <a:latin typeface="맑은 고딕"/>
                <a:ea typeface="맑은 고딕"/>
                <a:cs typeface="맑은 고딕"/>
              </a:rPr>
              <a:t>사람들은 자기 물건이 얼마나 값진지 몰랐고, 보기스 씨는 그 점을 이용했다.</a:t>
            </a:r>
            <a:endParaRPr lang="ko-KR" sz="1600"/>
          </a:p>
        </p:txBody>
      </p:sp>
      <p:sp>
        <p:nvSpPr>
          <p:cNvPr id="19" name="eng_3"/>
          <p:cNvSpPr txBox="1"/>
          <p:nvPr/>
        </p:nvSpPr>
        <p:spPr>
          <a:xfrm>
            <a:off x="457200" y="4266692"/>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solidFill>
                <a:latin typeface="Calibri"/>
                <a:ea typeface="맑은 고딕"/>
                <a:cs typeface="Calibri"/>
              </a:rPr>
              <a:t>People didn’t know how valuable their things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were</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was</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so Mr. Boggis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was taken</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took</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advantage of them.</a:t>
            </a:r>
            <a:endParaRPr lang="ko-KR" sz="2000"/>
          </a:p>
        </p:txBody>
      </p:sp>
      <p:sp>
        <p:nvSpPr>
          <p:cNvPr id="20" name="rv_eng_3"/>
          <p:cNvSpPr txBox="1"/>
          <p:nvPr/>
        </p:nvSpPr>
        <p:spPr>
          <a:xfrm>
            <a:off x="457200" y="4266692"/>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alpha val="0"/>
                  </a:srgbClr>
                </a:solidFill>
                <a:latin typeface="Calibri"/>
                <a:ea typeface="맑은 고딕"/>
                <a:cs typeface="Calibri"/>
              </a:rPr>
              <a:t>People didn’t know how valuable their things </a:t>
            </a:r>
            <a:r>
              <a:rPr lang="en-US" altLang="en-US" sz="2000" b="1" dirty="0">
                <a:solidFill>
                  <a:srgbClr val="C00000">
                    <a:alpha val="0"/>
                  </a:srgbClr>
                </a:solidFill>
                <a:latin typeface="Calibri"/>
                <a:ea typeface="맑은 고딕"/>
                <a:cs typeface="Calibri"/>
              </a:rPr>
              <a:t>[ </a:t>
            </a:r>
            <a:r>
              <a:rPr lang="en-US" altLang="en-US" sz="2000" b="1" dirty="0">
                <a:solidFill>
                  <a:srgbClr val="C00000"/>
                </a:solidFill>
                <a:latin typeface="Calibri"/>
                <a:ea typeface="맑은 고딕"/>
                <a:cs typeface="Calibri"/>
              </a:rPr>
              <a:t>were</a:t>
            </a:r>
            <a:r>
              <a:rPr lang="en-US" altLang="en-US" sz="2000" b="1" dirty="0">
                <a:solidFill>
                  <a:srgbClr val="C00000">
                    <a:alpha val="0"/>
                  </a:srgbClr>
                </a:solidFill>
                <a:latin typeface="Calibri"/>
                <a:ea typeface="맑은 고딕"/>
                <a:cs typeface="Calibri"/>
              </a:rPr>
              <a:t> / </a:t>
            </a:r>
            <a:r>
              <a:rPr lang="en-US" altLang="en-US" sz="2000" b="1" dirty="0">
                <a:solidFill>
                  <a:srgbClr val="C00000">
                    <a:alpha val="0"/>
                  </a:srgbClr>
                </a:solidFill>
                <a:latin typeface="Calibri"/>
                <a:ea typeface="맑은 고딕"/>
                <a:cs typeface="Calibri"/>
              </a:rPr>
              <a:t>was</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so Mr. Boggis </a:t>
            </a:r>
            <a:r>
              <a:rPr lang="en-US" altLang="en-US" sz="2000" b="1" dirty="0">
                <a:solidFill>
                  <a:srgbClr val="C00000">
                    <a:alpha val="0"/>
                  </a:srgbClr>
                </a:solidFill>
                <a:latin typeface="Calibri"/>
                <a:ea typeface="맑은 고딕"/>
                <a:cs typeface="Calibri"/>
              </a:rPr>
              <a:t>[ </a:t>
            </a:r>
            <a:r>
              <a:rPr lang="en-US" altLang="en-US" sz="2000" b="1" dirty="0">
                <a:solidFill>
                  <a:srgbClr val="C00000">
                    <a:alpha val="0"/>
                  </a:srgbClr>
                </a:solidFill>
                <a:latin typeface="Calibri"/>
                <a:ea typeface="맑은 고딕"/>
                <a:cs typeface="Calibri"/>
              </a:rPr>
              <a:t>was taken</a:t>
            </a:r>
            <a:r>
              <a:rPr lang="en-US" altLang="en-US" sz="2000" b="1" dirty="0">
                <a:solidFill>
                  <a:srgbClr val="C00000">
                    <a:alpha val="0"/>
                  </a:srgbClr>
                </a:solidFill>
                <a:latin typeface="Calibri"/>
                <a:ea typeface="맑은 고딕"/>
                <a:cs typeface="Calibri"/>
              </a:rPr>
              <a:t> / </a:t>
            </a:r>
            <a:r>
              <a:rPr lang="en-US" altLang="en-US" sz="2000" b="1" dirty="0">
                <a:solidFill>
                  <a:srgbClr val="C00000"/>
                </a:solidFill>
                <a:latin typeface="Calibri"/>
                <a:ea typeface="맑은 고딕"/>
                <a:cs typeface="Calibri"/>
              </a:rPr>
              <a:t>took</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advantage of them.</a:t>
            </a:r>
            <a:endParaRPr lang="ko-KR" sz="2000"/>
          </a:p>
        </p:txBody>
      </p:sp>
      <p:sp>
        <p:nvSpPr>
          <p:cNvPr id="21" name="rv_point_3"/>
          <p:cNvSpPr txBox="1"/>
          <p:nvPr/>
        </p:nvSpPr>
        <p:spPr>
          <a:xfrm>
            <a:off x="457200" y="5032756"/>
            <a:ext cx="11274552" cy="331978"/>
          </a:xfrm>
          <a:prstGeom prst="rect">
            <a:avLst/>
          </a:prstGeom>
          <a:noFill/>
        </p:spPr>
        <p:txBody>
          <a:bodyPr wrap="square" lIns="228600" tIns="54864" rIns="228600" bIns="54864" anchor="t" rtlCol="0">
            <a:noAutofit/>
          </a:bodyPr>
          <a:lstStyle/>
          <a:p>
            <a:pPr algn="l">
              <a:lnSpc>
                <a:spcPts val="1750"/>
              </a:lnSpc>
              <a:spcBef>
                <a:spcPts val="0"/>
              </a:spcBef>
              <a:spcAft>
                <a:spcPts val="0"/>
              </a:spcAft>
              <a:buNone/>
            </a:pPr>
            <a:r>
              <a:rPr lang="ko-KR" altLang="en-US" sz="1400" b="1" dirty="0">
                <a:solidFill>
                  <a:srgbClr val="C00000"/>
                </a:solidFill>
                <a:latin typeface="맑은 고딕"/>
                <a:ea typeface="맑은 고딕"/>
                <a:cs typeface="맑은 고딕"/>
              </a:rPr>
              <a:t>포인트  </a:t>
            </a:r>
            <a:r>
              <a:rPr lang="ko-KR" altLang="en-US" sz="1400" b="0" dirty="0">
                <a:solidFill>
                  <a:srgbClr val="2F5597"/>
                </a:solidFill>
                <a:latin typeface="맑은 고딕"/>
                <a:ea typeface="맑은 고딕"/>
                <a:cs typeface="맑은 고딕"/>
              </a:rPr>
              <a:t>동사의 수 일치 (주어 their things 복수) · 수동태(능동/수동 구별) (목적어 advantage가 있으므로 능동)</a:t>
            </a:r>
            <a:endParaRPr lang="ko-KR" sz="1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25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250"/>
                                        <p:tgtEl>
                                          <p:spTgt spid="1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250"/>
                                        <p:tgtEl>
                                          <p:spTgt spid="1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fade">
                                      <p:cBhvr>
                                        <p:cTn id="16" dur="250"/>
                                        <p:tgtEl>
                                          <p:spTgt spid="1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250"/>
                                        <p:tgtEl>
                                          <p:spTgt spid="2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fade">
                                      <p:cBhvr>
                                        <p:cTn id="22" dur="25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5" grpId="0" animBg="1"/>
      <p:bldP spid="16" grpId="0" animBg="1"/>
      <p:bldP spid="20" grpId="0" animBg="1"/>
      <p:bldP spid="21" grpId="0" animBg="1"/>
    </p:bldLst>
  </p:timing>
</p:sld>
</file>

<file path=ppt/slides/slide1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8000"/>
            </a:avLst>
          </a:prstGeom>
          <a:solidFill>
            <a:srgbClr val="1E2A5A"/>
          </a:solidFill>
          <a:ln>
            <a:noFill/>
          </a:ln>
        </p:spPr>
        <p:txBody>
          <a:bodyPr wrap="square" lIns="45720" tIns="18288" rIns="45720" bIns="18288" anchor="ctr" rtlCol="0">
            <a:noAutofit/>
          </a:bodyPr>
          <a:lstStyle/>
          <a:p>
            <a:pPr algn="ctr">
              <a:lnSpc>
                <a:spcPts val="2000"/>
              </a:lnSpc>
              <a:spcBef>
                <a:spcPts val="0"/>
              </a:spcBef>
              <a:spcAft>
                <a:spcPts val="0"/>
              </a:spcAft>
              <a:buNone/>
            </a:pPr>
            <a:r>
              <a:rPr lang="en-US" altLang="en-US" sz="1700" b="1" dirty="0">
                <a:solidFill>
                  <a:srgbClr val="FFFFFF"/>
                </a:solidFill>
                <a:latin typeface="Calibri"/>
                <a:ea typeface="맑은 고딕"/>
                <a:cs typeface="Calibri"/>
              </a:rPr>
              <a:t>L6</a:t>
            </a:r>
            <a:endParaRPr lang="ko-KR" sz="1700"/>
          </a:p>
        </p:txBody>
      </p:sp>
      <p:sp>
        <p:nvSpPr>
          <p:cNvPr id="3" name="hdr_chip"/>
          <p:cNvSpPr/>
          <p:nvPr/>
        </p:nvSpPr>
        <p:spPr>
          <a:xfrm>
            <a:off x="1755648" y="274320"/>
            <a:ext cx="1371600" cy="493776"/>
          </a:xfrm>
          <a:prstGeom prst="roundRect">
            <a:avLst>
              <a:gd name="adj" fmla="val 8000"/>
            </a:avLst>
          </a:prstGeom>
          <a:solidFill>
            <a:srgbClr val="E6EAF4"/>
          </a:solidFill>
          <a:ln>
            <a:noFill/>
          </a:ln>
        </p:spPr>
        <p:txBody>
          <a:bodyPr wrap="square" lIns="27432" tIns="18288" rIns="27432" bIns="18288" anchor="ctr" rtlCol="0">
            <a:noAutofit/>
          </a:bodyPr>
          <a:lstStyle/>
          <a:p>
            <a:pPr algn="ctr">
              <a:lnSpc>
                <a:spcPts val="1700"/>
              </a:lnSpc>
              <a:spcBef>
                <a:spcPts val="0"/>
              </a:spcBef>
              <a:spcAft>
                <a:spcPts val="0"/>
              </a:spcAft>
              <a:buNone/>
            </a:pPr>
            <a:r>
              <a:rPr lang="ko-KR" altLang="en-US" sz="1400" b="1" dirty="0">
                <a:solidFill>
                  <a:srgbClr val="1E2A5A"/>
                </a:solidFill>
                <a:latin typeface="맑은 고딕"/>
                <a:ea typeface="맑은 고딕"/>
                <a:cs typeface="맑은 고딕"/>
              </a:rPr>
              <a:t>PART 5 · 3</a:t>
            </a:r>
            <a:endParaRPr lang="ko-KR" sz="1400"/>
          </a:p>
        </p:txBody>
      </p:sp>
      <p:sp>
        <p:nvSpPr>
          <p:cNvPr id="4" name="hdr_q"/>
          <p:cNvSpPr txBox="1"/>
          <p:nvPr/>
        </p:nvSpPr>
        <p:spPr>
          <a:xfrm>
            <a:off x="3246120" y="246888"/>
            <a:ext cx="8485632" cy="548640"/>
          </a:xfrm>
          <a:prstGeom prst="rect">
            <a:avLst/>
          </a:prstGeom>
          <a:noFill/>
        </p:spPr>
        <p:txBody>
          <a:bodyPr wrap="square" lIns="109728" tIns="54864" rIns="109728" bIns="54864" anchor="ctr" rtlCol="0">
            <a:noAutofit/>
          </a:bodyPr>
          <a:lstStyle/>
          <a:p>
            <a:pPr algn="l">
              <a:lnSpc>
                <a:spcPts val="2400"/>
              </a:lnSpc>
              <a:spcBef>
                <a:spcPts val="0"/>
              </a:spcBef>
              <a:spcAft>
                <a:spcPts val="0"/>
              </a:spcAft>
              <a:buNone/>
            </a:pPr>
            <a:r>
              <a:rPr lang="ko-KR" altLang="en-US" sz="2000" b="1" dirty="0">
                <a:solidFill>
                  <a:srgbClr val="1F2328"/>
                </a:solidFill>
                <a:latin typeface="맑은 고딕"/>
                <a:ea typeface="맑은 고딕"/>
                <a:cs typeface="맑은 고딕"/>
              </a:rPr>
              <a:t>[  ] 안에서 어법상 알맞은 것을 고르시오.</a:t>
            </a:r>
            <a:endParaRPr lang="ko-KR" sz="2000"/>
          </a:p>
        </p:txBody>
      </p:sp>
      <p:sp>
        <p:nvSpPr>
          <p:cNvPr id="5" name="ftr_exam"/>
          <p:cNvSpPr txBox="1"/>
          <p:nvPr/>
        </p:nvSpPr>
        <p:spPr>
          <a:xfrm>
            <a:off x="457200" y="6519672"/>
            <a:ext cx="5669280" cy="256032"/>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6</a:t>
            </a:r>
            <a:endParaRPr lang="ko-KR" sz="1000"/>
          </a:p>
        </p:txBody>
      </p:sp>
      <p:sp>
        <p:nvSpPr>
          <p:cNvPr id="6" name="ftr_hint"/>
          <p:cNvSpPr txBox="1"/>
          <p:nvPr/>
        </p:nvSpPr>
        <p:spPr>
          <a:xfrm>
            <a:off x="5971032" y="6519672"/>
            <a:ext cx="5760720" cy="256032"/>
          </a:xfrm>
          <a:prstGeom prst="rect">
            <a:avLst/>
          </a:prstGeom>
          <a:noFill/>
        </p:spPr>
        <p:txBody>
          <a:bodyPr wrap="square" lIns="0" tIns="0" rIns="0" bIns="0" anchor="t" rtlCol="0">
            <a:noAutofit/>
          </a:bodyPr>
          <a:lstStyle/>
          <a:p>
            <a:pPr algn="r">
              <a:lnSpc>
                <a:spcPts val="1200"/>
              </a:lnSpc>
              <a:spcBef>
                <a:spcPts val="0"/>
              </a:spcBef>
              <a:spcAft>
                <a:spcPts val="0"/>
              </a:spcAft>
              <a:buNone/>
            </a:pPr>
            <a:r>
              <a:rPr lang="ko-KR" altLang="en-US" sz="1000" b="0" dirty="0">
                <a:solidFill>
                  <a:srgbClr val="7A808C"/>
                </a:solidFill>
                <a:latin typeface="맑은 고딕"/>
                <a:ea typeface="맑은 고딕"/>
                <a:cs typeface="맑은 고딕"/>
              </a:rPr>
              <a:t>클릭 ① 정답(빨간색) + 문법 포인트 공개</a:t>
            </a:r>
            <a:endParaRPr lang="ko-KR" sz="1000"/>
          </a:p>
        </p:txBody>
      </p:sp>
      <p:sp>
        <p:nvSpPr>
          <p:cNvPr id="7" name="item_card_1"/>
          <p:cNvSpPr/>
          <p:nvPr/>
        </p:nvSpPr>
        <p:spPr>
          <a:xfrm>
            <a:off x="457200" y="950976"/>
            <a:ext cx="11274552" cy="1161034"/>
          </a:xfrm>
          <a:prstGeom prst="roundRect">
            <a:avLst>
              <a:gd name="adj" fmla="val 6000"/>
            </a:avLst>
          </a:prstGeom>
          <a:solidFill>
            <a:srgbClr val="F3F5F9"/>
          </a:solidFill>
          <a:ln w="12700">
            <a:solidFill>
              <a:srgbClr val="D9DFEA"/>
            </a:solidFill>
          </a:ln>
        </p:spPr>
        <p:txBody>
          <a:bodyPr rtlCol="0" anchor="ctr"/>
          <a:lstStyle/>
          <a:p>
            <a:pPr algn="ctr"/>
          </a:p>
        </p:txBody>
      </p:sp>
      <p:sp>
        <p:nvSpPr>
          <p:cNvPr id="8" name="kor_1"/>
          <p:cNvSpPr txBox="1"/>
          <p:nvPr/>
        </p:nvSpPr>
        <p:spPr>
          <a:xfrm>
            <a:off x="457200" y="1060704"/>
            <a:ext cx="11274552" cy="363728"/>
          </a:xfrm>
          <a:prstGeom prst="rect">
            <a:avLst/>
          </a:prstGeom>
          <a:noFill/>
        </p:spPr>
        <p:txBody>
          <a:bodyPr wrap="square" lIns="228600" tIns="54864" rIns="228600" bIns="54864" anchor="t" rtlCol="0">
            <a:noAutofit/>
          </a:bodyPr>
          <a:lstStyle/>
          <a:p>
            <a:pPr algn="l">
              <a:lnSpc>
                <a:spcPts val="2000"/>
              </a:lnSpc>
              <a:spcBef>
                <a:spcPts val="0"/>
              </a:spcBef>
              <a:spcAft>
                <a:spcPts val="0"/>
              </a:spcAft>
              <a:buNone/>
            </a:pPr>
            <a:r>
              <a:rPr lang="en-US" altLang="en-US" sz="1600" b="1" dirty="0">
                <a:solidFill>
                  <a:srgbClr val="1E2A5A"/>
                </a:solidFill>
                <a:latin typeface="Calibri"/>
                <a:ea typeface="맑은 고딕"/>
                <a:cs typeface="Calibri"/>
              </a:rPr>
              <a:t>7.  </a:t>
            </a:r>
            <a:r>
              <a:rPr lang="ko-KR" altLang="en-US" sz="1600" b="0" dirty="0">
                <a:solidFill>
                  <a:srgbClr val="3C4558"/>
                </a:solidFill>
                <a:latin typeface="맑은 고딕"/>
                <a:ea typeface="맑은 고딕"/>
                <a:cs typeface="맑은 고딕"/>
              </a:rPr>
              <a:t>그는 물건을 아주 싼값에 살 수 있었다.</a:t>
            </a:r>
            <a:endParaRPr lang="ko-KR" sz="1600"/>
          </a:p>
        </p:txBody>
      </p:sp>
      <p:sp>
        <p:nvSpPr>
          <p:cNvPr id="9" name="eng_1"/>
          <p:cNvSpPr txBox="1"/>
          <p:nvPr/>
        </p:nvSpPr>
        <p:spPr>
          <a:xfrm>
            <a:off x="457200" y="1369568"/>
            <a:ext cx="11274552" cy="4653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solidFill>
                <a:latin typeface="Calibri"/>
                <a:ea typeface="맑은 고딕"/>
                <a:cs typeface="Calibri"/>
              </a:rPr>
              <a:t>He was able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buying</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to buy</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things very cheaply.</a:t>
            </a:r>
            <a:endParaRPr lang="ko-KR" sz="2000"/>
          </a:p>
        </p:txBody>
      </p:sp>
      <p:sp>
        <p:nvSpPr>
          <p:cNvPr id="10" name="rv_eng_1"/>
          <p:cNvSpPr txBox="1"/>
          <p:nvPr/>
        </p:nvSpPr>
        <p:spPr>
          <a:xfrm>
            <a:off x="457200" y="1369568"/>
            <a:ext cx="11274552" cy="4653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alpha val="0"/>
                  </a:srgbClr>
                </a:solidFill>
                <a:latin typeface="Calibri"/>
                <a:ea typeface="맑은 고딕"/>
                <a:cs typeface="Calibri"/>
              </a:rPr>
              <a:t>He was able </a:t>
            </a:r>
            <a:r>
              <a:rPr lang="en-US" altLang="en-US" sz="2000" b="1" dirty="0">
                <a:solidFill>
                  <a:srgbClr val="C00000">
                    <a:alpha val="0"/>
                  </a:srgbClr>
                </a:solidFill>
                <a:latin typeface="Calibri"/>
                <a:ea typeface="맑은 고딕"/>
                <a:cs typeface="Calibri"/>
              </a:rPr>
              <a:t>[ </a:t>
            </a:r>
            <a:r>
              <a:rPr lang="en-US" altLang="en-US" sz="2000" b="1" dirty="0">
                <a:solidFill>
                  <a:srgbClr val="C00000">
                    <a:alpha val="0"/>
                  </a:srgbClr>
                </a:solidFill>
                <a:latin typeface="Calibri"/>
                <a:ea typeface="맑은 고딕"/>
                <a:cs typeface="Calibri"/>
              </a:rPr>
              <a:t>buying</a:t>
            </a:r>
            <a:r>
              <a:rPr lang="en-US" altLang="en-US" sz="2000" b="1" dirty="0">
                <a:solidFill>
                  <a:srgbClr val="C00000">
                    <a:alpha val="0"/>
                  </a:srgbClr>
                </a:solidFill>
                <a:latin typeface="Calibri"/>
                <a:ea typeface="맑은 고딕"/>
                <a:cs typeface="Calibri"/>
              </a:rPr>
              <a:t> / </a:t>
            </a:r>
            <a:r>
              <a:rPr lang="en-US" altLang="en-US" sz="2000" b="1" dirty="0">
                <a:solidFill>
                  <a:srgbClr val="C00000"/>
                </a:solidFill>
                <a:latin typeface="Calibri"/>
                <a:ea typeface="맑은 고딕"/>
                <a:cs typeface="Calibri"/>
              </a:rPr>
              <a:t>to buy</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things very cheaply.</a:t>
            </a:r>
            <a:endParaRPr lang="ko-KR" sz="2000"/>
          </a:p>
        </p:txBody>
      </p:sp>
      <p:sp>
        <p:nvSpPr>
          <p:cNvPr id="11" name="rv_point_1"/>
          <p:cNvSpPr txBox="1"/>
          <p:nvPr/>
        </p:nvSpPr>
        <p:spPr>
          <a:xfrm>
            <a:off x="457200" y="1780032"/>
            <a:ext cx="11274552" cy="331978"/>
          </a:xfrm>
          <a:prstGeom prst="rect">
            <a:avLst/>
          </a:prstGeom>
          <a:noFill/>
        </p:spPr>
        <p:txBody>
          <a:bodyPr wrap="square" lIns="228600" tIns="54864" rIns="228600" bIns="54864" anchor="t" rtlCol="0">
            <a:noAutofit/>
          </a:bodyPr>
          <a:lstStyle/>
          <a:p>
            <a:pPr algn="l">
              <a:lnSpc>
                <a:spcPts val="1750"/>
              </a:lnSpc>
              <a:spcBef>
                <a:spcPts val="0"/>
              </a:spcBef>
              <a:spcAft>
                <a:spcPts val="0"/>
              </a:spcAft>
              <a:buNone/>
            </a:pPr>
            <a:r>
              <a:rPr lang="ko-KR" altLang="en-US" sz="1400" b="1" dirty="0">
                <a:solidFill>
                  <a:srgbClr val="C00000"/>
                </a:solidFill>
                <a:latin typeface="맑은 고딕"/>
                <a:ea typeface="맑은 고딕"/>
                <a:cs typeface="맑은 고딕"/>
              </a:rPr>
              <a:t>포인트  </a:t>
            </a:r>
            <a:r>
              <a:rPr lang="ko-KR" altLang="en-US" sz="1400" b="0" dirty="0">
                <a:solidFill>
                  <a:srgbClr val="2F5597"/>
                </a:solidFill>
                <a:latin typeface="맑은 고딕"/>
                <a:ea typeface="맑은 고딕"/>
                <a:cs typeface="맑은 고딕"/>
              </a:rPr>
              <a:t>to부정사/동명사/동사원형 (be able + to부정사)</a:t>
            </a:r>
            <a:endParaRPr lang="ko-KR" sz="1400"/>
          </a:p>
        </p:txBody>
      </p:sp>
      <p:sp>
        <p:nvSpPr>
          <p:cNvPr id="12" name="item_card_2"/>
          <p:cNvSpPr/>
          <p:nvPr/>
        </p:nvSpPr>
        <p:spPr>
          <a:xfrm>
            <a:off x="457200" y="2221738"/>
            <a:ext cx="11274552" cy="1516634"/>
          </a:xfrm>
          <a:prstGeom prst="roundRect">
            <a:avLst>
              <a:gd name="adj" fmla="val 6000"/>
            </a:avLst>
          </a:prstGeom>
          <a:solidFill>
            <a:srgbClr val="F3F5F9"/>
          </a:solidFill>
          <a:ln w="12700">
            <a:solidFill>
              <a:srgbClr val="D9DFEA"/>
            </a:solidFill>
          </a:ln>
        </p:spPr>
        <p:txBody>
          <a:bodyPr rtlCol="0" anchor="ctr"/>
          <a:lstStyle/>
          <a:p>
            <a:pPr algn="ctr"/>
          </a:p>
        </p:txBody>
      </p:sp>
      <p:sp>
        <p:nvSpPr>
          <p:cNvPr id="13" name="kor_2"/>
          <p:cNvSpPr txBox="1"/>
          <p:nvPr/>
        </p:nvSpPr>
        <p:spPr>
          <a:xfrm>
            <a:off x="457200" y="2331466"/>
            <a:ext cx="11274552" cy="363728"/>
          </a:xfrm>
          <a:prstGeom prst="rect">
            <a:avLst/>
          </a:prstGeom>
          <a:noFill/>
        </p:spPr>
        <p:txBody>
          <a:bodyPr wrap="square" lIns="228600" tIns="54864" rIns="228600" bIns="54864" anchor="t" rtlCol="0">
            <a:noAutofit/>
          </a:bodyPr>
          <a:lstStyle/>
          <a:p>
            <a:pPr algn="l">
              <a:lnSpc>
                <a:spcPts val="2000"/>
              </a:lnSpc>
              <a:spcBef>
                <a:spcPts val="0"/>
              </a:spcBef>
              <a:spcAft>
                <a:spcPts val="0"/>
              </a:spcAft>
              <a:buNone/>
            </a:pPr>
            <a:r>
              <a:rPr lang="en-US" altLang="en-US" sz="1600" b="1" dirty="0">
                <a:solidFill>
                  <a:srgbClr val="1E2A5A"/>
                </a:solidFill>
                <a:latin typeface="Calibri"/>
                <a:ea typeface="맑은 고딕"/>
                <a:cs typeface="Calibri"/>
              </a:rPr>
              <a:t>8.  </a:t>
            </a:r>
            <a:r>
              <a:rPr lang="ko-KR" altLang="en-US" sz="1600" b="0" dirty="0">
                <a:solidFill>
                  <a:srgbClr val="3C4558"/>
                </a:solidFill>
                <a:latin typeface="맑은 고딕"/>
                <a:ea typeface="맑은 고딕"/>
                <a:cs typeface="맑은 고딕"/>
              </a:rPr>
              <a:t>어느덧 또 일요일이 되었고, 보기스 씨는 다시 한 작은 마을에 와 있었다.</a:t>
            </a:r>
            <a:endParaRPr lang="ko-KR" sz="1600"/>
          </a:p>
        </p:txBody>
      </p:sp>
      <p:sp>
        <p:nvSpPr>
          <p:cNvPr id="14" name="eng_2"/>
          <p:cNvSpPr txBox="1"/>
          <p:nvPr/>
        </p:nvSpPr>
        <p:spPr>
          <a:xfrm>
            <a:off x="457200" y="2640330"/>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solidFill>
                <a:latin typeface="Calibri"/>
                <a:ea typeface="맑은 고딕"/>
                <a:cs typeface="Calibri"/>
              </a:rPr>
              <a:t>Now it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was</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were</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another Sunday, and Mr. Boggis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were</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was</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in a small town again.</a:t>
            </a:r>
            <a:endParaRPr lang="ko-KR" sz="2000"/>
          </a:p>
        </p:txBody>
      </p:sp>
      <p:sp>
        <p:nvSpPr>
          <p:cNvPr id="15" name="rv_eng_2"/>
          <p:cNvSpPr txBox="1"/>
          <p:nvPr/>
        </p:nvSpPr>
        <p:spPr>
          <a:xfrm>
            <a:off x="457200" y="2640330"/>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alpha val="0"/>
                  </a:srgbClr>
                </a:solidFill>
                <a:latin typeface="Calibri"/>
                <a:ea typeface="맑은 고딕"/>
                <a:cs typeface="Calibri"/>
              </a:rPr>
              <a:t>Now it </a:t>
            </a:r>
            <a:r>
              <a:rPr lang="en-US" altLang="en-US" sz="2000" b="1" dirty="0">
                <a:solidFill>
                  <a:srgbClr val="C00000">
                    <a:alpha val="0"/>
                  </a:srgbClr>
                </a:solidFill>
                <a:latin typeface="Calibri"/>
                <a:ea typeface="맑은 고딕"/>
                <a:cs typeface="Calibri"/>
              </a:rPr>
              <a:t>[ </a:t>
            </a:r>
            <a:r>
              <a:rPr lang="en-US" altLang="en-US" sz="2000" b="1" dirty="0">
                <a:solidFill>
                  <a:srgbClr val="C00000"/>
                </a:solidFill>
                <a:latin typeface="Calibri"/>
                <a:ea typeface="맑은 고딕"/>
                <a:cs typeface="Calibri"/>
              </a:rPr>
              <a:t>was</a:t>
            </a:r>
            <a:r>
              <a:rPr lang="en-US" altLang="en-US" sz="2000" b="1" dirty="0">
                <a:solidFill>
                  <a:srgbClr val="C00000">
                    <a:alpha val="0"/>
                  </a:srgbClr>
                </a:solidFill>
                <a:latin typeface="Calibri"/>
                <a:ea typeface="맑은 고딕"/>
                <a:cs typeface="Calibri"/>
              </a:rPr>
              <a:t> / </a:t>
            </a:r>
            <a:r>
              <a:rPr lang="en-US" altLang="en-US" sz="2000" b="1" dirty="0">
                <a:solidFill>
                  <a:srgbClr val="C00000">
                    <a:alpha val="0"/>
                  </a:srgbClr>
                </a:solidFill>
                <a:latin typeface="Calibri"/>
                <a:ea typeface="맑은 고딕"/>
                <a:cs typeface="Calibri"/>
              </a:rPr>
              <a:t>were</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another Sunday, and Mr. Boggis </a:t>
            </a:r>
            <a:r>
              <a:rPr lang="en-US" altLang="en-US" sz="2000" b="1" dirty="0">
                <a:solidFill>
                  <a:srgbClr val="C00000">
                    <a:alpha val="0"/>
                  </a:srgbClr>
                </a:solidFill>
                <a:latin typeface="Calibri"/>
                <a:ea typeface="맑은 고딕"/>
                <a:cs typeface="Calibri"/>
              </a:rPr>
              <a:t>[ </a:t>
            </a:r>
            <a:r>
              <a:rPr lang="en-US" altLang="en-US" sz="2000" b="1" dirty="0">
                <a:solidFill>
                  <a:srgbClr val="C00000">
                    <a:alpha val="0"/>
                  </a:srgbClr>
                </a:solidFill>
                <a:latin typeface="Calibri"/>
                <a:ea typeface="맑은 고딕"/>
                <a:cs typeface="Calibri"/>
              </a:rPr>
              <a:t>were</a:t>
            </a:r>
            <a:r>
              <a:rPr lang="en-US" altLang="en-US" sz="2000" b="1" dirty="0">
                <a:solidFill>
                  <a:srgbClr val="C00000">
                    <a:alpha val="0"/>
                  </a:srgbClr>
                </a:solidFill>
                <a:latin typeface="Calibri"/>
                <a:ea typeface="맑은 고딕"/>
                <a:cs typeface="Calibri"/>
              </a:rPr>
              <a:t> / </a:t>
            </a:r>
            <a:r>
              <a:rPr lang="en-US" altLang="en-US" sz="2000" b="1" dirty="0">
                <a:solidFill>
                  <a:srgbClr val="C00000"/>
                </a:solidFill>
                <a:latin typeface="Calibri"/>
                <a:ea typeface="맑은 고딕"/>
                <a:cs typeface="Calibri"/>
              </a:rPr>
              <a:t>was</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in a small town again.</a:t>
            </a:r>
            <a:endParaRPr lang="ko-KR" sz="2000"/>
          </a:p>
        </p:txBody>
      </p:sp>
      <p:sp>
        <p:nvSpPr>
          <p:cNvPr id="16" name="rv_point_2"/>
          <p:cNvSpPr txBox="1"/>
          <p:nvPr/>
        </p:nvSpPr>
        <p:spPr>
          <a:xfrm>
            <a:off x="457200" y="3406394"/>
            <a:ext cx="11274552" cy="331978"/>
          </a:xfrm>
          <a:prstGeom prst="rect">
            <a:avLst/>
          </a:prstGeom>
          <a:noFill/>
        </p:spPr>
        <p:txBody>
          <a:bodyPr wrap="square" lIns="228600" tIns="54864" rIns="228600" bIns="54864" anchor="t" rtlCol="0">
            <a:noAutofit/>
          </a:bodyPr>
          <a:lstStyle/>
          <a:p>
            <a:pPr algn="l">
              <a:lnSpc>
                <a:spcPts val="1750"/>
              </a:lnSpc>
              <a:spcBef>
                <a:spcPts val="0"/>
              </a:spcBef>
              <a:spcAft>
                <a:spcPts val="0"/>
              </a:spcAft>
              <a:buNone/>
            </a:pPr>
            <a:r>
              <a:rPr lang="ko-KR" altLang="en-US" sz="1400" b="1" dirty="0">
                <a:solidFill>
                  <a:srgbClr val="C00000"/>
                </a:solidFill>
                <a:latin typeface="맑은 고딕"/>
                <a:ea typeface="맑은 고딕"/>
                <a:cs typeface="맑은 고딕"/>
              </a:rPr>
              <a:t>포인트  </a:t>
            </a:r>
            <a:r>
              <a:rPr lang="ko-KR" altLang="en-US" sz="1400" b="0" dirty="0">
                <a:solidFill>
                  <a:srgbClr val="2F5597"/>
                </a:solidFill>
                <a:latin typeface="맑은 고딕"/>
                <a:ea typeface="맑은 고딕"/>
                <a:cs typeface="맑은 고딕"/>
              </a:rPr>
              <a:t>동사의 수 일치 (주어 it) · 동사의 수 일치 (주어 Mr. Boggis 단수)</a:t>
            </a:r>
            <a:endParaRPr lang="ko-KR" sz="1400"/>
          </a:p>
        </p:txBody>
      </p:sp>
      <p:sp>
        <p:nvSpPr>
          <p:cNvPr id="17" name="item_card_3"/>
          <p:cNvSpPr/>
          <p:nvPr/>
        </p:nvSpPr>
        <p:spPr>
          <a:xfrm>
            <a:off x="457200" y="3848100"/>
            <a:ext cx="11274552" cy="1770633"/>
          </a:xfrm>
          <a:prstGeom prst="roundRect">
            <a:avLst>
              <a:gd name="adj" fmla="val 6000"/>
            </a:avLst>
          </a:prstGeom>
          <a:solidFill>
            <a:srgbClr val="F3F5F9"/>
          </a:solidFill>
          <a:ln w="12700">
            <a:solidFill>
              <a:srgbClr val="D9DFEA"/>
            </a:solidFill>
          </a:ln>
        </p:spPr>
        <p:txBody>
          <a:bodyPr rtlCol="0" anchor="ctr"/>
          <a:lstStyle/>
          <a:p>
            <a:pPr algn="ctr"/>
          </a:p>
        </p:txBody>
      </p:sp>
      <p:sp>
        <p:nvSpPr>
          <p:cNvPr id="18" name="kor_3"/>
          <p:cNvSpPr txBox="1"/>
          <p:nvPr/>
        </p:nvSpPr>
        <p:spPr>
          <a:xfrm>
            <a:off x="457200" y="3957828"/>
            <a:ext cx="11274552" cy="617728"/>
          </a:xfrm>
          <a:prstGeom prst="rect">
            <a:avLst/>
          </a:prstGeom>
          <a:noFill/>
        </p:spPr>
        <p:txBody>
          <a:bodyPr wrap="square" lIns="228600" tIns="54864" rIns="228600" bIns="54864" anchor="t" rtlCol="0">
            <a:noAutofit/>
          </a:bodyPr>
          <a:lstStyle/>
          <a:p>
            <a:pPr algn="l">
              <a:lnSpc>
                <a:spcPts val="2000"/>
              </a:lnSpc>
              <a:spcBef>
                <a:spcPts val="0"/>
              </a:spcBef>
              <a:spcAft>
                <a:spcPts val="0"/>
              </a:spcAft>
              <a:buNone/>
            </a:pPr>
            <a:r>
              <a:rPr lang="en-US" altLang="en-US" sz="1600" b="1" dirty="0">
                <a:solidFill>
                  <a:srgbClr val="1E2A5A"/>
                </a:solidFill>
                <a:latin typeface="Calibri"/>
                <a:ea typeface="맑은 고딕"/>
                <a:cs typeface="Calibri"/>
              </a:rPr>
              <a:t>9.  </a:t>
            </a:r>
            <a:r>
              <a:rPr lang="ko-KR" altLang="en-US" sz="1600" b="0" dirty="0">
                <a:solidFill>
                  <a:srgbClr val="3C4558"/>
                </a:solidFill>
                <a:latin typeface="맑은 고딕"/>
                <a:ea typeface="맑은 고딕"/>
                <a:cs typeface="맑은 고딕"/>
              </a:rPr>
              <a:t>그가 찾아간 어느 집에서 그는 두 남자를 만났다. 한 사람은 집주인 러민스였고, 다른 한 사람은 그의 아들 버트였다.</a:t>
            </a:r>
            <a:endParaRPr lang="ko-KR" sz="1600"/>
          </a:p>
        </p:txBody>
      </p:sp>
      <p:sp>
        <p:nvSpPr>
          <p:cNvPr id="19" name="eng_3"/>
          <p:cNvSpPr txBox="1"/>
          <p:nvPr/>
        </p:nvSpPr>
        <p:spPr>
          <a:xfrm>
            <a:off x="457200" y="4520692"/>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solidFill>
                <a:latin typeface="Calibri"/>
                <a:ea typeface="맑은 고딕"/>
                <a:cs typeface="Calibri"/>
              </a:rPr>
              <a:t>At a house he visited, he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was met</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met</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two men. One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was</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were</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Rummins, the owner, and the other was his son Bert.</a:t>
            </a:r>
            <a:endParaRPr lang="ko-KR" sz="2000"/>
          </a:p>
        </p:txBody>
      </p:sp>
      <p:sp>
        <p:nvSpPr>
          <p:cNvPr id="20" name="rv_eng_3"/>
          <p:cNvSpPr txBox="1"/>
          <p:nvPr/>
        </p:nvSpPr>
        <p:spPr>
          <a:xfrm>
            <a:off x="457200" y="4520692"/>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alpha val="0"/>
                  </a:srgbClr>
                </a:solidFill>
                <a:latin typeface="Calibri"/>
                <a:ea typeface="맑은 고딕"/>
                <a:cs typeface="Calibri"/>
              </a:rPr>
              <a:t>At a house he visited, he </a:t>
            </a:r>
            <a:r>
              <a:rPr lang="en-US" altLang="en-US" sz="2000" b="1" dirty="0">
                <a:solidFill>
                  <a:srgbClr val="C00000">
                    <a:alpha val="0"/>
                  </a:srgbClr>
                </a:solidFill>
                <a:latin typeface="Calibri"/>
                <a:ea typeface="맑은 고딕"/>
                <a:cs typeface="Calibri"/>
              </a:rPr>
              <a:t>[ </a:t>
            </a:r>
            <a:r>
              <a:rPr lang="en-US" altLang="en-US" sz="2000" b="1" dirty="0">
                <a:solidFill>
                  <a:srgbClr val="C00000">
                    <a:alpha val="0"/>
                  </a:srgbClr>
                </a:solidFill>
                <a:latin typeface="Calibri"/>
                <a:ea typeface="맑은 고딕"/>
                <a:cs typeface="Calibri"/>
              </a:rPr>
              <a:t>was met</a:t>
            </a:r>
            <a:r>
              <a:rPr lang="en-US" altLang="en-US" sz="2000" b="1" dirty="0">
                <a:solidFill>
                  <a:srgbClr val="C00000">
                    <a:alpha val="0"/>
                  </a:srgbClr>
                </a:solidFill>
                <a:latin typeface="Calibri"/>
                <a:ea typeface="맑은 고딕"/>
                <a:cs typeface="Calibri"/>
              </a:rPr>
              <a:t> / </a:t>
            </a:r>
            <a:r>
              <a:rPr lang="en-US" altLang="en-US" sz="2000" b="1" dirty="0">
                <a:solidFill>
                  <a:srgbClr val="C00000"/>
                </a:solidFill>
                <a:latin typeface="Calibri"/>
                <a:ea typeface="맑은 고딕"/>
                <a:cs typeface="Calibri"/>
              </a:rPr>
              <a:t>met</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two men. One </a:t>
            </a:r>
            <a:r>
              <a:rPr lang="en-US" altLang="en-US" sz="2000" b="1" dirty="0">
                <a:solidFill>
                  <a:srgbClr val="C00000">
                    <a:alpha val="0"/>
                  </a:srgbClr>
                </a:solidFill>
                <a:latin typeface="Calibri"/>
                <a:ea typeface="맑은 고딕"/>
                <a:cs typeface="Calibri"/>
              </a:rPr>
              <a:t>[ </a:t>
            </a:r>
            <a:r>
              <a:rPr lang="en-US" altLang="en-US" sz="2000" b="1" dirty="0">
                <a:solidFill>
                  <a:srgbClr val="C00000"/>
                </a:solidFill>
                <a:latin typeface="Calibri"/>
                <a:ea typeface="맑은 고딕"/>
                <a:cs typeface="Calibri"/>
              </a:rPr>
              <a:t>was</a:t>
            </a:r>
            <a:r>
              <a:rPr lang="en-US" altLang="en-US" sz="2000" b="1" dirty="0">
                <a:solidFill>
                  <a:srgbClr val="C00000">
                    <a:alpha val="0"/>
                  </a:srgbClr>
                </a:solidFill>
                <a:latin typeface="Calibri"/>
                <a:ea typeface="맑은 고딕"/>
                <a:cs typeface="Calibri"/>
              </a:rPr>
              <a:t> / </a:t>
            </a:r>
            <a:r>
              <a:rPr lang="en-US" altLang="en-US" sz="2000" b="1" dirty="0">
                <a:solidFill>
                  <a:srgbClr val="C00000">
                    <a:alpha val="0"/>
                  </a:srgbClr>
                </a:solidFill>
                <a:latin typeface="Calibri"/>
                <a:ea typeface="맑은 고딕"/>
                <a:cs typeface="Calibri"/>
              </a:rPr>
              <a:t>were</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Rummins, the owner, and the other was his son Bert.</a:t>
            </a:r>
            <a:endParaRPr lang="ko-KR" sz="2000"/>
          </a:p>
        </p:txBody>
      </p:sp>
      <p:sp>
        <p:nvSpPr>
          <p:cNvPr id="21" name="rv_point_3"/>
          <p:cNvSpPr txBox="1"/>
          <p:nvPr/>
        </p:nvSpPr>
        <p:spPr>
          <a:xfrm>
            <a:off x="457200" y="5286756"/>
            <a:ext cx="11274552" cy="331978"/>
          </a:xfrm>
          <a:prstGeom prst="rect">
            <a:avLst/>
          </a:prstGeom>
          <a:noFill/>
        </p:spPr>
        <p:txBody>
          <a:bodyPr wrap="square" lIns="228600" tIns="54864" rIns="228600" bIns="54864" anchor="t" rtlCol="0">
            <a:noAutofit/>
          </a:bodyPr>
          <a:lstStyle/>
          <a:p>
            <a:pPr algn="l">
              <a:lnSpc>
                <a:spcPts val="1750"/>
              </a:lnSpc>
              <a:spcBef>
                <a:spcPts val="0"/>
              </a:spcBef>
              <a:spcAft>
                <a:spcPts val="0"/>
              </a:spcAft>
              <a:buNone/>
            </a:pPr>
            <a:r>
              <a:rPr lang="ko-KR" altLang="en-US" sz="1400" b="1" dirty="0">
                <a:solidFill>
                  <a:srgbClr val="C00000"/>
                </a:solidFill>
                <a:latin typeface="맑은 고딕"/>
                <a:ea typeface="맑은 고딕"/>
                <a:cs typeface="맑은 고딕"/>
              </a:rPr>
              <a:t>포인트  </a:t>
            </a:r>
            <a:r>
              <a:rPr lang="ko-KR" altLang="en-US" sz="1400" b="0" dirty="0">
                <a:solidFill>
                  <a:srgbClr val="2F5597"/>
                </a:solidFill>
                <a:latin typeface="맑은 고딕"/>
                <a:ea typeface="맑은 고딕"/>
                <a:cs typeface="맑은 고딕"/>
              </a:rPr>
              <a:t>수동태(능동/수동 구별) (목적어 two men이 있으므로 능동) · 동사의 수 일치 (주어 One 단수)</a:t>
            </a:r>
            <a:endParaRPr lang="ko-KR" sz="1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25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250"/>
                                        <p:tgtEl>
                                          <p:spTgt spid="1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250"/>
                                        <p:tgtEl>
                                          <p:spTgt spid="1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fade">
                                      <p:cBhvr>
                                        <p:cTn id="16" dur="250"/>
                                        <p:tgtEl>
                                          <p:spTgt spid="1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250"/>
                                        <p:tgtEl>
                                          <p:spTgt spid="2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fade">
                                      <p:cBhvr>
                                        <p:cTn id="22" dur="25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5" grpId="0" animBg="1"/>
      <p:bldP spid="16" grpId="0" animBg="1"/>
      <p:bldP spid="20" grpId="0" animBg="1"/>
      <p:bldP spid="21" grpId="0" animBg="1"/>
    </p:bldLst>
  </p:timing>
</p:sld>
</file>

<file path=ppt/slides/slide1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8000"/>
            </a:avLst>
          </a:prstGeom>
          <a:solidFill>
            <a:srgbClr val="1E2A5A"/>
          </a:solidFill>
          <a:ln>
            <a:noFill/>
          </a:ln>
        </p:spPr>
        <p:txBody>
          <a:bodyPr wrap="square" lIns="45720" tIns="18288" rIns="45720" bIns="18288" anchor="ctr" rtlCol="0">
            <a:noAutofit/>
          </a:bodyPr>
          <a:lstStyle/>
          <a:p>
            <a:pPr algn="ctr">
              <a:lnSpc>
                <a:spcPts val="2000"/>
              </a:lnSpc>
              <a:spcBef>
                <a:spcPts val="0"/>
              </a:spcBef>
              <a:spcAft>
                <a:spcPts val="0"/>
              </a:spcAft>
              <a:buNone/>
            </a:pPr>
            <a:r>
              <a:rPr lang="en-US" altLang="en-US" sz="1700" b="1" dirty="0">
                <a:solidFill>
                  <a:srgbClr val="FFFFFF"/>
                </a:solidFill>
                <a:latin typeface="Calibri"/>
                <a:ea typeface="맑은 고딕"/>
                <a:cs typeface="Calibri"/>
              </a:rPr>
              <a:t>L6</a:t>
            </a:r>
            <a:endParaRPr lang="ko-KR" sz="1700"/>
          </a:p>
        </p:txBody>
      </p:sp>
      <p:sp>
        <p:nvSpPr>
          <p:cNvPr id="3" name="hdr_chip"/>
          <p:cNvSpPr/>
          <p:nvPr/>
        </p:nvSpPr>
        <p:spPr>
          <a:xfrm>
            <a:off x="1755648" y="274320"/>
            <a:ext cx="1371600" cy="493776"/>
          </a:xfrm>
          <a:prstGeom prst="roundRect">
            <a:avLst>
              <a:gd name="adj" fmla="val 8000"/>
            </a:avLst>
          </a:prstGeom>
          <a:solidFill>
            <a:srgbClr val="E6EAF4"/>
          </a:solidFill>
          <a:ln>
            <a:noFill/>
          </a:ln>
        </p:spPr>
        <p:txBody>
          <a:bodyPr wrap="square" lIns="27432" tIns="18288" rIns="27432" bIns="18288" anchor="ctr" rtlCol="0">
            <a:noAutofit/>
          </a:bodyPr>
          <a:lstStyle/>
          <a:p>
            <a:pPr algn="ctr">
              <a:lnSpc>
                <a:spcPts val="1700"/>
              </a:lnSpc>
              <a:spcBef>
                <a:spcPts val="0"/>
              </a:spcBef>
              <a:spcAft>
                <a:spcPts val="0"/>
              </a:spcAft>
              <a:buNone/>
            </a:pPr>
            <a:r>
              <a:rPr lang="ko-KR" altLang="en-US" sz="1400" b="1" dirty="0">
                <a:solidFill>
                  <a:srgbClr val="1E2A5A"/>
                </a:solidFill>
                <a:latin typeface="맑은 고딕"/>
                <a:ea typeface="맑은 고딕"/>
                <a:cs typeface="맑은 고딕"/>
              </a:rPr>
              <a:t>PART 5 · 4</a:t>
            </a:r>
            <a:endParaRPr lang="ko-KR" sz="1400"/>
          </a:p>
        </p:txBody>
      </p:sp>
      <p:sp>
        <p:nvSpPr>
          <p:cNvPr id="4" name="hdr_q"/>
          <p:cNvSpPr txBox="1"/>
          <p:nvPr/>
        </p:nvSpPr>
        <p:spPr>
          <a:xfrm>
            <a:off x="3246120" y="246888"/>
            <a:ext cx="8485632" cy="548640"/>
          </a:xfrm>
          <a:prstGeom prst="rect">
            <a:avLst/>
          </a:prstGeom>
          <a:noFill/>
        </p:spPr>
        <p:txBody>
          <a:bodyPr wrap="square" lIns="109728" tIns="54864" rIns="109728" bIns="54864" anchor="ctr" rtlCol="0">
            <a:noAutofit/>
          </a:bodyPr>
          <a:lstStyle/>
          <a:p>
            <a:pPr algn="l">
              <a:lnSpc>
                <a:spcPts val="2400"/>
              </a:lnSpc>
              <a:spcBef>
                <a:spcPts val="0"/>
              </a:spcBef>
              <a:spcAft>
                <a:spcPts val="0"/>
              </a:spcAft>
              <a:buNone/>
            </a:pPr>
            <a:r>
              <a:rPr lang="ko-KR" altLang="en-US" sz="2000" b="1" dirty="0">
                <a:solidFill>
                  <a:srgbClr val="1F2328"/>
                </a:solidFill>
                <a:latin typeface="맑은 고딕"/>
                <a:ea typeface="맑은 고딕"/>
                <a:cs typeface="맑은 고딕"/>
              </a:rPr>
              <a:t>[  ] 안에서 어법상 알맞은 것을 고르시오.</a:t>
            </a:r>
            <a:endParaRPr lang="ko-KR" sz="2000"/>
          </a:p>
        </p:txBody>
      </p:sp>
      <p:sp>
        <p:nvSpPr>
          <p:cNvPr id="5" name="ftr_exam"/>
          <p:cNvSpPr txBox="1"/>
          <p:nvPr/>
        </p:nvSpPr>
        <p:spPr>
          <a:xfrm>
            <a:off x="457200" y="6519672"/>
            <a:ext cx="5669280" cy="256032"/>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6</a:t>
            </a:r>
            <a:endParaRPr lang="ko-KR" sz="1000"/>
          </a:p>
        </p:txBody>
      </p:sp>
      <p:sp>
        <p:nvSpPr>
          <p:cNvPr id="6" name="ftr_hint"/>
          <p:cNvSpPr txBox="1"/>
          <p:nvPr/>
        </p:nvSpPr>
        <p:spPr>
          <a:xfrm>
            <a:off x="5971032" y="6519672"/>
            <a:ext cx="5760720" cy="256032"/>
          </a:xfrm>
          <a:prstGeom prst="rect">
            <a:avLst/>
          </a:prstGeom>
          <a:noFill/>
        </p:spPr>
        <p:txBody>
          <a:bodyPr wrap="square" lIns="0" tIns="0" rIns="0" bIns="0" anchor="t" rtlCol="0">
            <a:noAutofit/>
          </a:bodyPr>
          <a:lstStyle/>
          <a:p>
            <a:pPr algn="r">
              <a:lnSpc>
                <a:spcPts val="1200"/>
              </a:lnSpc>
              <a:spcBef>
                <a:spcPts val="0"/>
              </a:spcBef>
              <a:spcAft>
                <a:spcPts val="0"/>
              </a:spcAft>
              <a:buNone/>
            </a:pPr>
            <a:r>
              <a:rPr lang="ko-KR" altLang="en-US" sz="1000" b="0" dirty="0">
                <a:solidFill>
                  <a:srgbClr val="7A808C"/>
                </a:solidFill>
                <a:latin typeface="맑은 고딕"/>
                <a:ea typeface="맑은 고딕"/>
                <a:cs typeface="맑은 고딕"/>
              </a:rPr>
              <a:t>클릭 ① 정답(빨간색) + 문법 포인트 공개</a:t>
            </a:r>
            <a:endParaRPr lang="ko-KR" sz="1000"/>
          </a:p>
        </p:txBody>
      </p:sp>
      <p:sp>
        <p:nvSpPr>
          <p:cNvPr id="7" name="item_card_1"/>
          <p:cNvSpPr/>
          <p:nvPr/>
        </p:nvSpPr>
        <p:spPr>
          <a:xfrm>
            <a:off x="457200" y="950976"/>
            <a:ext cx="11274552" cy="1161034"/>
          </a:xfrm>
          <a:prstGeom prst="roundRect">
            <a:avLst>
              <a:gd name="adj" fmla="val 6000"/>
            </a:avLst>
          </a:prstGeom>
          <a:solidFill>
            <a:srgbClr val="F3F5F9"/>
          </a:solidFill>
          <a:ln w="12700">
            <a:solidFill>
              <a:srgbClr val="D9DFEA"/>
            </a:solidFill>
          </a:ln>
        </p:spPr>
        <p:txBody>
          <a:bodyPr rtlCol="0" anchor="ctr"/>
          <a:lstStyle/>
          <a:p>
            <a:pPr algn="ctr"/>
          </a:p>
        </p:txBody>
      </p:sp>
      <p:sp>
        <p:nvSpPr>
          <p:cNvPr id="8" name="kor_1"/>
          <p:cNvSpPr txBox="1"/>
          <p:nvPr/>
        </p:nvSpPr>
        <p:spPr>
          <a:xfrm>
            <a:off x="457200" y="1060704"/>
            <a:ext cx="11274552" cy="363728"/>
          </a:xfrm>
          <a:prstGeom prst="rect">
            <a:avLst/>
          </a:prstGeom>
          <a:noFill/>
        </p:spPr>
        <p:txBody>
          <a:bodyPr wrap="square" lIns="228600" tIns="54864" rIns="228600" bIns="54864" anchor="t" rtlCol="0">
            <a:noAutofit/>
          </a:bodyPr>
          <a:lstStyle/>
          <a:p>
            <a:pPr algn="l">
              <a:lnSpc>
                <a:spcPts val="2000"/>
              </a:lnSpc>
              <a:spcBef>
                <a:spcPts val="0"/>
              </a:spcBef>
              <a:spcAft>
                <a:spcPts val="0"/>
              </a:spcAft>
              <a:buNone/>
            </a:pPr>
            <a:r>
              <a:rPr lang="en-US" altLang="en-US" sz="1600" b="1" dirty="0">
                <a:solidFill>
                  <a:srgbClr val="1E2A5A"/>
                </a:solidFill>
                <a:latin typeface="Calibri"/>
                <a:ea typeface="맑은 고딕"/>
                <a:cs typeface="Calibri"/>
              </a:rPr>
              <a:t>10.  </a:t>
            </a:r>
            <a:r>
              <a:rPr lang="ko-KR" altLang="en-US" sz="1600" b="0" dirty="0">
                <a:solidFill>
                  <a:srgbClr val="3C4558"/>
                </a:solidFill>
                <a:latin typeface="맑은 고딕"/>
                <a:ea typeface="맑은 고딕"/>
                <a:cs typeface="맑은 고딕"/>
              </a:rPr>
              <a:t>"저는 오래된 가구를 삽니다. 혹시 있으신가요?" 보기스 씨가 물었다.</a:t>
            </a:r>
            <a:endParaRPr lang="ko-KR" sz="1600"/>
          </a:p>
        </p:txBody>
      </p:sp>
      <p:sp>
        <p:nvSpPr>
          <p:cNvPr id="9" name="eng_1"/>
          <p:cNvSpPr txBox="1"/>
          <p:nvPr/>
        </p:nvSpPr>
        <p:spPr>
          <a:xfrm>
            <a:off x="457200" y="1369568"/>
            <a:ext cx="11274552" cy="4653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solidFill>
                <a:latin typeface="Calibri"/>
                <a:ea typeface="맑은 고딕"/>
                <a:cs typeface="Calibri"/>
              </a:rPr>
              <a:t>"I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buy</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buys</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old furniture.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Does</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Do</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you have any?" asked Mr. Boggis.</a:t>
            </a:r>
            <a:endParaRPr lang="ko-KR" sz="2000"/>
          </a:p>
        </p:txBody>
      </p:sp>
      <p:sp>
        <p:nvSpPr>
          <p:cNvPr id="10" name="rv_eng_1"/>
          <p:cNvSpPr txBox="1"/>
          <p:nvPr/>
        </p:nvSpPr>
        <p:spPr>
          <a:xfrm>
            <a:off x="457200" y="1369568"/>
            <a:ext cx="11274552" cy="4653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alpha val="0"/>
                  </a:srgbClr>
                </a:solidFill>
                <a:latin typeface="Calibri"/>
                <a:ea typeface="맑은 고딕"/>
                <a:cs typeface="Calibri"/>
              </a:rPr>
              <a:t>"I </a:t>
            </a:r>
            <a:r>
              <a:rPr lang="en-US" altLang="en-US" sz="2000" b="1" dirty="0">
                <a:solidFill>
                  <a:srgbClr val="C00000">
                    <a:alpha val="0"/>
                  </a:srgbClr>
                </a:solidFill>
                <a:latin typeface="Calibri"/>
                <a:ea typeface="맑은 고딕"/>
                <a:cs typeface="Calibri"/>
              </a:rPr>
              <a:t>[ </a:t>
            </a:r>
            <a:r>
              <a:rPr lang="en-US" altLang="en-US" sz="2000" b="1" dirty="0">
                <a:solidFill>
                  <a:srgbClr val="C00000"/>
                </a:solidFill>
                <a:latin typeface="Calibri"/>
                <a:ea typeface="맑은 고딕"/>
                <a:cs typeface="Calibri"/>
              </a:rPr>
              <a:t>buy</a:t>
            </a:r>
            <a:r>
              <a:rPr lang="en-US" altLang="en-US" sz="2000" b="1" dirty="0">
                <a:solidFill>
                  <a:srgbClr val="C00000">
                    <a:alpha val="0"/>
                  </a:srgbClr>
                </a:solidFill>
                <a:latin typeface="Calibri"/>
                <a:ea typeface="맑은 고딕"/>
                <a:cs typeface="Calibri"/>
              </a:rPr>
              <a:t> / </a:t>
            </a:r>
            <a:r>
              <a:rPr lang="en-US" altLang="en-US" sz="2000" b="1" dirty="0">
                <a:solidFill>
                  <a:srgbClr val="C00000">
                    <a:alpha val="0"/>
                  </a:srgbClr>
                </a:solidFill>
                <a:latin typeface="Calibri"/>
                <a:ea typeface="맑은 고딕"/>
                <a:cs typeface="Calibri"/>
              </a:rPr>
              <a:t>buys</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old furniture. </a:t>
            </a:r>
            <a:r>
              <a:rPr lang="en-US" altLang="en-US" sz="2000" b="1" dirty="0">
                <a:solidFill>
                  <a:srgbClr val="C00000">
                    <a:alpha val="0"/>
                  </a:srgbClr>
                </a:solidFill>
                <a:latin typeface="Calibri"/>
                <a:ea typeface="맑은 고딕"/>
                <a:cs typeface="Calibri"/>
              </a:rPr>
              <a:t>[ </a:t>
            </a:r>
            <a:r>
              <a:rPr lang="en-US" altLang="en-US" sz="2000" b="1" dirty="0">
                <a:solidFill>
                  <a:srgbClr val="C00000">
                    <a:alpha val="0"/>
                  </a:srgbClr>
                </a:solidFill>
                <a:latin typeface="Calibri"/>
                <a:ea typeface="맑은 고딕"/>
                <a:cs typeface="Calibri"/>
              </a:rPr>
              <a:t>Does</a:t>
            </a:r>
            <a:r>
              <a:rPr lang="en-US" altLang="en-US" sz="2000" b="1" dirty="0">
                <a:solidFill>
                  <a:srgbClr val="C00000">
                    <a:alpha val="0"/>
                  </a:srgbClr>
                </a:solidFill>
                <a:latin typeface="Calibri"/>
                <a:ea typeface="맑은 고딕"/>
                <a:cs typeface="Calibri"/>
              </a:rPr>
              <a:t> / </a:t>
            </a:r>
            <a:r>
              <a:rPr lang="en-US" altLang="en-US" sz="2000" b="1" dirty="0">
                <a:solidFill>
                  <a:srgbClr val="C00000"/>
                </a:solidFill>
                <a:latin typeface="Calibri"/>
                <a:ea typeface="맑은 고딕"/>
                <a:cs typeface="Calibri"/>
              </a:rPr>
              <a:t>Do</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you have any?" asked Mr. Boggis.</a:t>
            </a:r>
            <a:endParaRPr lang="ko-KR" sz="2000"/>
          </a:p>
        </p:txBody>
      </p:sp>
      <p:sp>
        <p:nvSpPr>
          <p:cNvPr id="11" name="rv_point_1"/>
          <p:cNvSpPr txBox="1"/>
          <p:nvPr/>
        </p:nvSpPr>
        <p:spPr>
          <a:xfrm>
            <a:off x="457200" y="1780032"/>
            <a:ext cx="11274552" cy="331978"/>
          </a:xfrm>
          <a:prstGeom prst="rect">
            <a:avLst/>
          </a:prstGeom>
          <a:noFill/>
        </p:spPr>
        <p:txBody>
          <a:bodyPr wrap="square" lIns="228600" tIns="54864" rIns="228600" bIns="54864" anchor="t" rtlCol="0">
            <a:noAutofit/>
          </a:bodyPr>
          <a:lstStyle/>
          <a:p>
            <a:pPr algn="l">
              <a:lnSpc>
                <a:spcPts val="1750"/>
              </a:lnSpc>
              <a:spcBef>
                <a:spcPts val="0"/>
              </a:spcBef>
              <a:spcAft>
                <a:spcPts val="0"/>
              </a:spcAft>
              <a:buNone/>
            </a:pPr>
            <a:r>
              <a:rPr lang="ko-KR" altLang="en-US" sz="1400" b="1" dirty="0">
                <a:solidFill>
                  <a:srgbClr val="C00000"/>
                </a:solidFill>
                <a:latin typeface="맑은 고딕"/>
                <a:ea typeface="맑은 고딕"/>
                <a:cs typeface="맑은 고딕"/>
              </a:rPr>
              <a:t>포인트  </a:t>
            </a:r>
            <a:r>
              <a:rPr lang="ko-KR" altLang="en-US" sz="1400" b="0" dirty="0">
                <a:solidFill>
                  <a:srgbClr val="2F5597"/>
                </a:solidFill>
                <a:latin typeface="맑은 고딕"/>
                <a:ea typeface="맑은 고딕"/>
                <a:cs typeface="맑은 고딕"/>
              </a:rPr>
              <a:t>동사의 수 일치 (주어 I) · 동사의 수 일치 (주어 you)</a:t>
            </a:r>
            <a:endParaRPr lang="ko-KR" sz="1400"/>
          </a:p>
        </p:txBody>
      </p:sp>
      <p:sp>
        <p:nvSpPr>
          <p:cNvPr id="12" name="item_card_2"/>
          <p:cNvSpPr/>
          <p:nvPr/>
        </p:nvSpPr>
        <p:spPr>
          <a:xfrm>
            <a:off x="457200" y="2221738"/>
            <a:ext cx="11274552" cy="1516634"/>
          </a:xfrm>
          <a:prstGeom prst="roundRect">
            <a:avLst>
              <a:gd name="adj" fmla="val 6000"/>
            </a:avLst>
          </a:prstGeom>
          <a:solidFill>
            <a:srgbClr val="F3F5F9"/>
          </a:solidFill>
          <a:ln w="12700">
            <a:solidFill>
              <a:srgbClr val="D9DFEA"/>
            </a:solidFill>
          </a:ln>
        </p:spPr>
        <p:txBody>
          <a:bodyPr rtlCol="0" anchor="ctr"/>
          <a:lstStyle/>
          <a:p>
            <a:pPr algn="ctr"/>
          </a:p>
        </p:txBody>
      </p:sp>
      <p:sp>
        <p:nvSpPr>
          <p:cNvPr id="13" name="kor_2"/>
          <p:cNvSpPr txBox="1"/>
          <p:nvPr/>
        </p:nvSpPr>
        <p:spPr>
          <a:xfrm>
            <a:off x="457200" y="2331466"/>
            <a:ext cx="11274552" cy="363728"/>
          </a:xfrm>
          <a:prstGeom prst="rect">
            <a:avLst/>
          </a:prstGeom>
          <a:noFill/>
        </p:spPr>
        <p:txBody>
          <a:bodyPr wrap="square" lIns="228600" tIns="54864" rIns="228600" bIns="54864" anchor="t" rtlCol="0">
            <a:noAutofit/>
          </a:bodyPr>
          <a:lstStyle/>
          <a:p>
            <a:pPr algn="l">
              <a:lnSpc>
                <a:spcPts val="2000"/>
              </a:lnSpc>
              <a:spcBef>
                <a:spcPts val="0"/>
              </a:spcBef>
              <a:spcAft>
                <a:spcPts val="0"/>
              </a:spcAft>
              <a:buNone/>
            </a:pPr>
            <a:r>
              <a:rPr lang="en-US" altLang="en-US" sz="1600" b="1" dirty="0">
                <a:solidFill>
                  <a:srgbClr val="1E2A5A"/>
                </a:solidFill>
                <a:latin typeface="Calibri"/>
                <a:ea typeface="맑은 고딕"/>
                <a:cs typeface="Calibri"/>
              </a:rPr>
              <a:t>11.  </a:t>
            </a:r>
            <a:r>
              <a:rPr lang="ko-KR" altLang="en-US" sz="1600" b="0" dirty="0">
                <a:solidFill>
                  <a:srgbClr val="3C4558"/>
                </a:solidFill>
                <a:latin typeface="맑은 고딕"/>
                <a:ea typeface="맑은 고딕"/>
                <a:cs typeface="맑은 고딕"/>
              </a:rPr>
              <a:t>"아뇨, 없어요." 러민스가 대답했다. "그냥 한번 둘러봐도 될까요?" 보기스 씨가 물었다.</a:t>
            </a:r>
            <a:endParaRPr lang="ko-KR" sz="1600"/>
          </a:p>
        </p:txBody>
      </p:sp>
      <p:sp>
        <p:nvSpPr>
          <p:cNvPr id="14" name="eng_2"/>
          <p:cNvSpPr txBox="1"/>
          <p:nvPr/>
        </p:nvSpPr>
        <p:spPr>
          <a:xfrm>
            <a:off x="457200" y="2640330"/>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solidFill>
                <a:latin typeface="Calibri"/>
                <a:ea typeface="맑은 고딕"/>
                <a:cs typeface="Calibri"/>
              </a:rPr>
              <a:t>"No, I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doesn’t</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don’t</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said Rummins. "Can I just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take</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to take</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a look?" asked Mr. Boggis.</a:t>
            </a:r>
            <a:endParaRPr lang="ko-KR" sz="2000"/>
          </a:p>
        </p:txBody>
      </p:sp>
      <p:sp>
        <p:nvSpPr>
          <p:cNvPr id="15" name="rv_eng_2"/>
          <p:cNvSpPr txBox="1"/>
          <p:nvPr/>
        </p:nvSpPr>
        <p:spPr>
          <a:xfrm>
            <a:off x="457200" y="2640330"/>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alpha val="0"/>
                  </a:srgbClr>
                </a:solidFill>
                <a:latin typeface="Calibri"/>
                <a:ea typeface="맑은 고딕"/>
                <a:cs typeface="Calibri"/>
              </a:rPr>
              <a:t>"No, I </a:t>
            </a:r>
            <a:r>
              <a:rPr lang="en-US" altLang="en-US" sz="2000" b="1" dirty="0">
                <a:solidFill>
                  <a:srgbClr val="C00000">
                    <a:alpha val="0"/>
                  </a:srgbClr>
                </a:solidFill>
                <a:latin typeface="Calibri"/>
                <a:ea typeface="맑은 고딕"/>
                <a:cs typeface="Calibri"/>
              </a:rPr>
              <a:t>[ </a:t>
            </a:r>
            <a:r>
              <a:rPr lang="en-US" altLang="en-US" sz="2000" b="1" dirty="0">
                <a:solidFill>
                  <a:srgbClr val="C00000">
                    <a:alpha val="0"/>
                  </a:srgbClr>
                </a:solidFill>
                <a:latin typeface="Calibri"/>
                <a:ea typeface="맑은 고딕"/>
                <a:cs typeface="Calibri"/>
              </a:rPr>
              <a:t>doesn’t</a:t>
            </a:r>
            <a:r>
              <a:rPr lang="en-US" altLang="en-US" sz="2000" b="1" dirty="0">
                <a:solidFill>
                  <a:srgbClr val="C00000">
                    <a:alpha val="0"/>
                  </a:srgbClr>
                </a:solidFill>
                <a:latin typeface="Calibri"/>
                <a:ea typeface="맑은 고딕"/>
                <a:cs typeface="Calibri"/>
              </a:rPr>
              <a:t> / </a:t>
            </a:r>
            <a:r>
              <a:rPr lang="en-US" altLang="en-US" sz="2000" b="1" dirty="0">
                <a:solidFill>
                  <a:srgbClr val="C00000"/>
                </a:solidFill>
                <a:latin typeface="Calibri"/>
                <a:ea typeface="맑은 고딕"/>
                <a:cs typeface="Calibri"/>
              </a:rPr>
              <a:t>don’t</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said Rummins. "Can I just </a:t>
            </a:r>
            <a:r>
              <a:rPr lang="en-US" altLang="en-US" sz="2000" b="1" dirty="0">
                <a:solidFill>
                  <a:srgbClr val="C00000">
                    <a:alpha val="0"/>
                  </a:srgbClr>
                </a:solidFill>
                <a:latin typeface="Calibri"/>
                <a:ea typeface="맑은 고딕"/>
                <a:cs typeface="Calibri"/>
              </a:rPr>
              <a:t>[ </a:t>
            </a:r>
            <a:r>
              <a:rPr lang="en-US" altLang="en-US" sz="2000" b="1" dirty="0">
                <a:solidFill>
                  <a:srgbClr val="C00000"/>
                </a:solidFill>
                <a:latin typeface="Calibri"/>
                <a:ea typeface="맑은 고딕"/>
                <a:cs typeface="Calibri"/>
              </a:rPr>
              <a:t>take</a:t>
            </a:r>
            <a:r>
              <a:rPr lang="en-US" altLang="en-US" sz="2000" b="1" dirty="0">
                <a:solidFill>
                  <a:srgbClr val="C00000">
                    <a:alpha val="0"/>
                  </a:srgbClr>
                </a:solidFill>
                <a:latin typeface="Calibri"/>
                <a:ea typeface="맑은 고딕"/>
                <a:cs typeface="Calibri"/>
              </a:rPr>
              <a:t> / </a:t>
            </a:r>
            <a:r>
              <a:rPr lang="en-US" altLang="en-US" sz="2000" b="1" dirty="0">
                <a:solidFill>
                  <a:srgbClr val="C00000">
                    <a:alpha val="0"/>
                  </a:srgbClr>
                </a:solidFill>
                <a:latin typeface="Calibri"/>
                <a:ea typeface="맑은 고딕"/>
                <a:cs typeface="Calibri"/>
              </a:rPr>
              <a:t>to take</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a look?" asked Mr. Boggis.</a:t>
            </a:r>
            <a:endParaRPr lang="ko-KR" sz="2000"/>
          </a:p>
        </p:txBody>
      </p:sp>
      <p:sp>
        <p:nvSpPr>
          <p:cNvPr id="16" name="rv_point_2"/>
          <p:cNvSpPr txBox="1"/>
          <p:nvPr/>
        </p:nvSpPr>
        <p:spPr>
          <a:xfrm>
            <a:off x="457200" y="3406394"/>
            <a:ext cx="11274552" cy="331978"/>
          </a:xfrm>
          <a:prstGeom prst="rect">
            <a:avLst/>
          </a:prstGeom>
          <a:noFill/>
        </p:spPr>
        <p:txBody>
          <a:bodyPr wrap="square" lIns="228600" tIns="54864" rIns="228600" bIns="54864" anchor="t" rtlCol="0">
            <a:noAutofit/>
          </a:bodyPr>
          <a:lstStyle/>
          <a:p>
            <a:pPr algn="l">
              <a:lnSpc>
                <a:spcPts val="1750"/>
              </a:lnSpc>
              <a:spcBef>
                <a:spcPts val="0"/>
              </a:spcBef>
              <a:spcAft>
                <a:spcPts val="0"/>
              </a:spcAft>
              <a:buNone/>
            </a:pPr>
            <a:r>
              <a:rPr lang="ko-KR" altLang="en-US" sz="1400" b="1" dirty="0">
                <a:solidFill>
                  <a:srgbClr val="C00000"/>
                </a:solidFill>
                <a:latin typeface="맑은 고딕"/>
                <a:ea typeface="맑은 고딕"/>
                <a:cs typeface="맑은 고딕"/>
              </a:rPr>
              <a:t>포인트  </a:t>
            </a:r>
            <a:r>
              <a:rPr lang="ko-KR" altLang="en-US" sz="1400" b="0" dirty="0">
                <a:solidFill>
                  <a:srgbClr val="2F5597"/>
                </a:solidFill>
                <a:latin typeface="맑은 고딕"/>
                <a:ea typeface="맑은 고딕"/>
                <a:cs typeface="맑은 고딕"/>
              </a:rPr>
              <a:t>동사의 수 일치 (주어 I) · to부정사/동명사/동사원형 (조동사 Can + 동사원형)</a:t>
            </a:r>
            <a:endParaRPr lang="ko-KR" sz="1400"/>
          </a:p>
        </p:txBody>
      </p:sp>
      <p:sp>
        <p:nvSpPr>
          <p:cNvPr id="17" name="item_card_3"/>
          <p:cNvSpPr/>
          <p:nvPr/>
        </p:nvSpPr>
        <p:spPr>
          <a:xfrm>
            <a:off x="457200" y="3848100"/>
            <a:ext cx="11274552" cy="1161034"/>
          </a:xfrm>
          <a:prstGeom prst="roundRect">
            <a:avLst>
              <a:gd name="adj" fmla="val 6000"/>
            </a:avLst>
          </a:prstGeom>
          <a:solidFill>
            <a:srgbClr val="F3F5F9"/>
          </a:solidFill>
          <a:ln w="12700">
            <a:solidFill>
              <a:srgbClr val="D9DFEA"/>
            </a:solidFill>
          </a:ln>
        </p:spPr>
        <p:txBody>
          <a:bodyPr rtlCol="0" anchor="ctr"/>
          <a:lstStyle/>
          <a:p>
            <a:pPr algn="ctr"/>
          </a:p>
        </p:txBody>
      </p:sp>
      <p:sp>
        <p:nvSpPr>
          <p:cNvPr id="18" name="kor_3"/>
          <p:cNvSpPr txBox="1"/>
          <p:nvPr/>
        </p:nvSpPr>
        <p:spPr>
          <a:xfrm>
            <a:off x="457200" y="3957828"/>
            <a:ext cx="11274552" cy="363728"/>
          </a:xfrm>
          <a:prstGeom prst="rect">
            <a:avLst/>
          </a:prstGeom>
          <a:noFill/>
        </p:spPr>
        <p:txBody>
          <a:bodyPr wrap="square" lIns="228600" tIns="54864" rIns="228600" bIns="54864" anchor="t" rtlCol="0">
            <a:noAutofit/>
          </a:bodyPr>
          <a:lstStyle/>
          <a:p>
            <a:pPr algn="l">
              <a:lnSpc>
                <a:spcPts val="2000"/>
              </a:lnSpc>
              <a:spcBef>
                <a:spcPts val="0"/>
              </a:spcBef>
              <a:spcAft>
                <a:spcPts val="0"/>
              </a:spcAft>
              <a:buNone/>
            </a:pPr>
            <a:r>
              <a:rPr lang="en-US" altLang="en-US" sz="1600" b="1" dirty="0">
                <a:solidFill>
                  <a:srgbClr val="1E2A5A"/>
                </a:solidFill>
                <a:latin typeface="Calibri"/>
                <a:ea typeface="맑은 고딕"/>
                <a:cs typeface="Calibri"/>
              </a:rPr>
              <a:t>12.  </a:t>
            </a:r>
            <a:r>
              <a:rPr lang="ko-KR" altLang="en-US" sz="1600" b="0" dirty="0">
                <a:solidFill>
                  <a:srgbClr val="3C4558"/>
                </a:solidFill>
                <a:latin typeface="맑은 고딕"/>
                <a:ea typeface="맑은 고딕"/>
                <a:cs typeface="맑은 고딕"/>
              </a:rPr>
              <a:t>"그럼요. 들어오세요." 러민스가 말했다.</a:t>
            </a:r>
            <a:endParaRPr lang="ko-KR" sz="1600"/>
          </a:p>
        </p:txBody>
      </p:sp>
      <p:sp>
        <p:nvSpPr>
          <p:cNvPr id="19" name="eng_3"/>
          <p:cNvSpPr txBox="1"/>
          <p:nvPr/>
        </p:nvSpPr>
        <p:spPr>
          <a:xfrm>
            <a:off x="457200" y="4266692"/>
            <a:ext cx="11274552" cy="4653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solidFill>
                <a:latin typeface="Calibri"/>
                <a:ea typeface="맑은 고딕"/>
                <a:cs typeface="Calibri"/>
              </a:rPr>
              <a:t>"Sure. Please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come</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coming</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in," said Rummins.</a:t>
            </a:r>
            <a:endParaRPr lang="ko-KR" sz="2000"/>
          </a:p>
        </p:txBody>
      </p:sp>
      <p:sp>
        <p:nvSpPr>
          <p:cNvPr id="20" name="rv_eng_3"/>
          <p:cNvSpPr txBox="1"/>
          <p:nvPr/>
        </p:nvSpPr>
        <p:spPr>
          <a:xfrm>
            <a:off x="457200" y="4266692"/>
            <a:ext cx="11274552" cy="4653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alpha val="0"/>
                  </a:srgbClr>
                </a:solidFill>
                <a:latin typeface="Calibri"/>
                <a:ea typeface="맑은 고딕"/>
                <a:cs typeface="Calibri"/>
              </a:rPr>
              <a:t>"Sure. Please </a:t>
            </a:r>
            <a:r>
              <a:rPr lang="en-US" altLang="en-US" sz="2000" b="1" dirty="0">
                <a:solidFill>
                  <a:srgbClr val="C00000">
                    <a:alpha val="0"/>
                  </a:srgbClr>
                </a:solidFill>
                <a:latin typeface="Calibri"/>
                <a:ea typeface="맑은 고딕"/>
                <a:cs typeface="Calibri"/>
              </a:rPr>
              <a:t>[ </a:t>
            </a:r>
            <a:r>
              <a:rPr lang="en-US" altLang="en-US" sz="2000" b="1" dirty="0">
                <a:solidFill>
                  <a:srgbClr val="C00000"/>
                </a:solidFill>
                <a:latin typeface="Calibri"/>
                <a:ea typeface="맑은 고딕"/>
                <a:cs typeface="Calibri"/>
              </a:rPr>
              <a:t>come</a:t>
            </a:r>
            <a:r>
              <a:rPr lang="en-US" altLang="en-US" sz="2000" b="1" dirty="0">
                <a:solidFill>
                  <a:srgbClr val="C00000">
                    <a:alpha val="0"/>
                  </a:srgbClr>
                </a:solidFill>
                <a:latin typeface="Calibri"/>
                <a:ea typeface="맑은 고딕"/>
                <a:cs typeface="Calibri"/>
              </a:rPr>
              <a:t> / </a:t>
            </a:r>
            <a:r>
              <a:rPr lang="en-US" altLang="en-US" sz="2000" b="1" dirty="0">
                <a:solidFill>
                  <a:srgbClr val="C00000">
                    <a:alpha val="0"/>
                  </a:srgbClr>
                </a:solidFill>
                <a:latin typeface="Calibri"/>
                <a:ea typeface="맑은 고딕"/>
                <a:cs typeface="Calibri"/>
              </a:rPr>
              <a:t>coming</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in," said Rummins.</a:t>
            </a:r>
            <a:endParaRPr lang="ko-KR" sz="2000"/>
          </a:p>
        </p:txBody>
      </p:sp>
      <p:sp>
        <p:nvSpPr>
          <p:cNvPr id="21" name="rv_point_3"/>
          <p:cNvSpPr txBox="1"/>
          <p:nvPr/>
        </p:nvSpPr>
        <p:spPr>
          <a:xfrm>
            <a:off x="457200" y="4677156"/>
            <a:ext cx="11274552" cy="331978"/>
          </a:xfrm>
          <a:prstGeom prst="rect">
            <a:avLst/>
          </a:prstGeom>
          <a:noFill/>
        </p:spPr>
        <p:txBody>
          <a:bodyPr wrap="square" lIns="228600" tIns="54864" rIns="228600" bIns="54864" anchor="t" rtlCol="0">
            <a:noAutofit/>
          </a:bodyPr>
          <a:lstStyle/>
          <a:p>
            <a:pPr algn="l">
              <a:lnSpc>
                <a:spcPts val="1750"/>
              </a:lnSpc>
              <a:spcBef>
                <a:spcPts val="0"/>
              </a:spcBef>
              <a:spcAft>
                <a:spcPts val="0"/>
              </a:spcAft>
              <a:buNone/>
            </a:pPr>
            <a:r>
              <a:rPr lang="ko-KR" altLang="en-US" sz="1400" b="1" dirty="0">
                <a:solidFill>
                  <a:srgbClr val="C00000"/>
                </a:solidFill>
                <a:latin typeface="맑은 고딕"/>
                <a:ea typeface="맑은 고딕"/>
                <a:cs typeface="맑은 고딕"/>
              </a:rPr>
              <a:t>포인트  </a:t>
            </a:r>
            <a:r>
              <a:rPr lang="ko-KR" altLang="en-US" sz="1400" b="0" dirty="0">
                <a:solidFill>
                  <a:srgbClr val="2F5597"/>
                </a:solidFill>
                <a:latin typeface="맑은 고딕"/>
                <a:ea typeface="맑은 고딕"/>
                <a:cs typeface="맑은 고딕"/>
              </a:rPr>
              <a:t>to부정사/동명사/동사원형 (명령문 Please + 동사원형)</a:t>
            </a:r>
            <a:endParaRPr lang="ko-KR" sz="1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25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250"/>
                                        <p:tgtEl>
                                          <p:spTgt spid="1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250"/>
                                        <p:tgtEl>
                                          <p:spTgt spid="1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fade">
                                      <p:cBhvr>
                                        <p:cTn id="16" dur="250"/>
                                        <p:tgtEl>
                                          <p:spTgt spid="1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250"/>
                                        <p:tgtEl>
                                          <p:spTgt spid="2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fade">
                                      <p:cBhvr>
                                        <p:cTn id="22" dur="25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5" grpId="0" animBg="1"/>
      <p:bldP spid="16" grpId="0" animBg="1"/>
      <p:bldP spid="20" grpId="0" animBg="1"/>
      <p:bldP spid="21" grpId="0" animBg="1"/>
    </p:bldLst>
  </p:timing>
</p:sld>
</file>

<file path=ppt/slides/slide1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8000"/>
            </a:avLst>
          </a:prstGeom>
          <a:solidFill>
            <a:srgbClr val="1E2A5A"/>
          </a:solidFill>
          <a:ln>
            <a:noFill/>
          </a:ln>
        </p:spPr>
        <p:txBody>
          <a:bodyPr wrap="square" lIns="45720" tIns="18288" rIns="45720" bIns="18288" anchor="ctr" rtlCol="0">
            <a:noAutofit/>
          </a:bodyPr>
          <a:lstStyle/>
          <a:p>
            <a:pPr algn="ctr">
              <a:lnSpc>
                <a:spcPts val="2000"/>
              </a:lnSpc>
              <a:spcBef>
                <a:spcPts val="0"/>
              </a:spcBef>
              <a:spcAft>
                <a:spcPts val="0"/>
              </a:spcAft>
              <a:buNone/>
            </a:pPr>
            <a:r>
              <a:rPr lang="en-US" altLang="en-US" sz="1700" b="1" dirty="0">
                <a:solidFill>
                  <a:srgbClr val="FFFFFF"/>
                </a:solidFill>
                <a:latin typeface="Calibri"/>
                <a:ea typeface="맑은 고딕"/>
                <a:cs typeface="Calibri"/>
              </a:rPr>
              <a:t>L6</a:t>
            </a:r>
            <a:endParaRPr lang="ko-KR" sz="1700"/>
          </a:p>
        </p:txBody>
      </p:sp>
      <p:sp>
        <p:nvSpPr>
          <p:cNvPr id="3" name="hdr_chip"/>
          <p:cNvSpPr/>
          <p:nvPr/>
        </p:nvSpPr>
        <p:spPr>
          <a:xfrm>
            <a:off x="1755648" y="274320"/>
            <a:ext cx="1371600" cy="493776"/>
          </a:xfrm>
          <a:prstGeom prst="roundRect">
            <a:avLst>
              <a:gd name="adj" fmla="val 8000"/>
            </a:avLst>
          </a:prstGeom>
          <a:solidFill>
            <a:srgbClr val="E6EAF4"/>
          </a:solidFill>
          <a:ln>
            <a:noFill/>
          </a:ln>
        </p:spPr>
        <p:txBody>
          <a:bodyPr wrap="square" lIns="27432" tIns="18288" rIns="27432" bIns="18288" anchor="ctr" rtlCol="0">
            <a:noAutofit/>
          </a:bodyPr>
          <a:lstStyle/>
          <a:p>
            <a:pPr algn="ctr">
              <a:lnSpc>
                <a:spcPts val="1700"/>
              </a:lnSpc>
              <a:spcBef>
                <a:spcPts val="0"/>
              </a:spcBef>
              <a:spcAft>
                <a:spcPts val="0"/>
              </a:spcAft>
              <a:buNone/>
            </a:pPr>
            <a:r>
              <a:rPr lang="ko-KR" altLang="en-US" sz="1400" b="1" dirty="0">
                <a:solidFill>
                  <a:srgbClr val="1E2A5A"/>
                </a:solidFill>
                <a:latin typeface="맑은 고딕"/>
                <a:ea typeface="맑은 고딕"/>
                <a:cs typeface="맑은 고딕"/>
              </a:rPr>
              <a:t>PART 5 · 5</a:t>
            </a:r>
            <a:endParaRPr lang="ko-KR" sz="1400"/>
          </a:p>
        </p:txBody>
      </p:sp>
      <p:sp>
        <p:nvSpPr>
          <p:cNvPr id="4" name="hdr_q"/>
          <p:cNvSpPr txBox="1"/>
          <p:nvPr/>
        </p:nvSpPr>
        <p:spPr>
          <a:xfrm>
            <a:off x="3246120" y="246888"/>
            <a:ext cx="8485632" cy="548640"/>
          </a:xfrm>
          <a:prstGeom prst="rect">
            <a:avLst/>
          </a:prstGeom>
          <a:noFill/>
        </p:spPr>
        <p:txBody>
          <a:bodyPr wrap="square" lIns="109728" tIns="54864" rIns="109728" bIns="54864" anchor="ctr" rtlCol="0">
            <a:noAutofit/>
          </a:bodyPr>
          <a:lstStyle/>
          <a:p>
            <a:pPr algn="l">
              <a:lnSpc>
                <a:spcPts val="2400"/>
              </a:lnSpc>
              <a:spcBef>
                <a:spcPts val="0"/>
              </a:spcBef>
              <a:spcAft>
                <a:spcPts val="0"/>
              </a:spcAft>
              <a:buNone/>
            </a:pPr>
            <a:r>
              <a:rPr lang="ko-KR" altLang="en-US" sz="2000" b="1" dirty="0">
                <a:solidFill>
                  <a:srgbClr val="1F2328"/>
                </a:solidFill>
                <a:latin typeface="맑은 고딕"/>
                <a:ea typeface="맑은 고딕"/>
                <a:cs typeface="맑은 고딕"/>
              </a:rPr>
              <a:t>[  ] 안에서 어법상 알맞은 것을 고르시오.</a:t>
            </a:r>
            <a:endParaRPr lang="ko-KR" sz="2000"/>
          </a:p>
        </p:txBody>
      </p:sp>
      <p:sp>
        <p:nvSpPr>
          <p:cNvPr id="5" name="ftr_exam"/>
          <p:cNvSpPr txBox="1"/>
          <p:nvPr/>
        </p:nvSpPr>
        <p:spPr>
          <a:xfrm>
            <a:off x="457200" y="6519672"/>
            <a:ext cx="5669280" cy="256032"/>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6</a:t>
            </a:r>
            <a:endParaRPr lang="ko-KR" sz="1000"/>
          </a:p>
        </p:txBody>
      </p:sp>
      <p:sp>
        <p:nvSpPr>
          <p:cNvPr id="6" name="ftr_hint"/>
          <p:cNvSpPr txBox="1"/>
          <p:nvPr/>
        </p:nvSpPr>
        <p:spPr>
          <a:xfrm>
            <a:off x="5971032" y="6519672"/>
            <a:ext cx="5760720" cy="256032"/>
          </a:xfrm>
          <a:prstGeom prst="rect">
            <a:avLst/>
          </a:prstGeom>
          <a:noFill/>
        </p:spPr>
        <p:txBody>
          <a:bodyPr wrap="square" lIns="0" tIns="0" rIns="0" bIns="0" anchor="t" rtlCol="0">
            <a:noAutofit/>
          </a:bodyPr>
          <a:lstStyle/>
          <a:p>
            <a:pPr algn="r">
              <a:lnSpc>
                <a:spcPts val="1200"/>
              </a:lnSpc>
              <a:spcBef>
                <a:spcPts val="0"/>
              </a:spcBef>
              <a:spcAft>
                <a:spcPts val="0"/>
              </a:spcAft>
              <a:buNone/>
            </a:pPr>
            <a:r>
              <a:rPr lang="ko-KR" altLang="en-US" sz="1000" b="0" dirty="0">
                <a:solidFill>
                  <a:srgbClr val="7A808C"/>
                </a:solidFill>
                <a:latin typeface="맑은 고딕"/>
                <a:ea typeface="맑은 고딕"/>
                <a:cs typeface="맑은 고딕"/>
              </a:rPr>
              <a:t>클릭 ① 정답(빨간색) + 문법 포인트 공개</a:t>
            </a:r>
            <a:endParaRPr lang="ko-KR" sz="1000"/>
          </a:p>
        </p:txBody>
      </p:sp>
      <p:sp>
        <p:nvSpPr>
          <p:cNvPr id="7" name="item_card_1"/>
          <p:cNvSpPr/>
          <p:nvPr/>
        </p:nvSpPr>
        <p:spPr>
          <a:xfrm>
            <a:off x="457200" y="950976"/>
            <a:ext cx="11274552" cy="1516634"/>
          </a:xfrm>
          <a:prstGeom prst="roundRect">
            <a:avLst>
              <a:gd name="adj" fmla="val 6000"/>
            </a:avLst>
          </a:prstGeom>
          <a:solidFill>
            <a:srgbClr val="F3F5F9"/>
          </a:solidFill>
          <a:ln w="12700">
            <a:solidFill>
              <a:srgbClr val="D9DFEA"/>
            </a:solidFill>
          </a:ln>
        </p:spPr>
        <p:txBody>
          <a:bodyPr rtlCol="0" anchor="ctr"/>
          <a:lstStyle/>
          <a:p>
            <a:pPr algn="ctr"/>
          </a:p>
        </p:txBody>
      </p:sp>
      <p:sp>
        <p:nvSpPr>
          <p:cNvPr id="8" name="kor_1"/>
          <p:cNvSpPr txBox="1"/>
          <p:nvPr/>
        </p:nvSpPr>
        <p:spPr>
          <a:xfrm>
            <a:off x="457200" y="1060704"/>
            <a:ext cx="11274552" cy="363728"/>
          </a:xfrm>
          <a:prstGeom prst="rect">
            <a:avLst/>
          </a:prstGeom>
          <a:noFill/>
        </p:spPr>
        <p:txBody>
          <a:bodyPr wrap="square" lIns="228600" tIns="54864" rIns="228600" bIns="54864" anchor="t" rtlCol="0">
            <a:noAutofit/>
          </a:bodyPr>
          <a:lstStyle/>
          <a:p>
            <a:pPr algn="l">
              <a:lnSpc>
                <a:spcPts val="2000"/>
              </a:lnSpc>
              <a:spcBef>
                <a:spcPts val="0"/>
              </a:spcBef>
              <a:spcAft>
                <a:spcPts val="0"/>
              </a:spcAft>
              <a:buNone/>
            </a:pPr>
            <a:r>
              <a:rPr lang="en-US" altLang="en-US" sz="1600" b="1" dirty="0">
                <a:solidFill>
                  <a:srgbClr val="1E2A5A"/>
                </a:solidFill>
                <a:latin typeface="Calibri"/>
                <a:ea typeface="맑은 고딕"/>
                <a:cs typeface="Calibri"/>
              </a:rPr>
              <a:t>13.  </a:t>
            </a:r>
            <a:r>
              <a:rPr lang="ko-KR" altLang="en-US" sz="1600" b="0" dirty="0">
                <a:solidFill>
                  <a:srgbClr val="3C4558"/>
                </a:solidFill>
                <a:latin typeface="맑은 고딕"/>
                <a:ea typeface="맑은 고딕"/>
                <a:cs typeface="맑은 고딕"/>
              </a:rPr>
              <a:t>보기스 씨는 먼저 부엌으로 갔지만 거기엔 아무것도 없었다.</a:t>
            </a:r>
            <a:endParaRPr lang="ko-KR" sz="1600"/>
          </a:p>
        </p:txBody>
      </p:sp>
      <p:sp>
        <p:nvSpPr>
          <p:cNvPr id="9" name="eng_1"/>
          <p:cNvSpPr txBox="1"/>
          <p:nvPr/>
        </p:nvSpPr>
        <p:spPr>
          <a:xfrm>
            <a:off x="457200" y="1369568"/>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solidFill>
                <a:latin typeface="Calibri"/>
                <a:ea typeface="맑은 고딕"/>
                <a:cs typeface="Calibri"/>
              </a:rPr>
              <a:t>Mr. Boggis first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was gone</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went</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to the kitchen, and there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was</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were</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nothing.</a:t>
            </a:r>
            <a:endParaRPr lang="ko-KR" sz="2000"/>
          </a:p>
        </p:txBody>
      </p:sp>
      <p:sp>
        <p:nvSpPr>
          <p:cNvPr id="10" name="rv_eng_1"/>
          <p:cNvSpPr txBox="1"/>
          <p:nvPr/>
        </p:nvSpPr>
        <p:spPr>
          <a:xfrm>
            <a:off x="457200" y="1369568"/>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alpha val="0"/>
                  </a:srgbClr>
                </a:solidFill>
                <a:latin typeface="Calibri"/>
                <a:ea typeface="맑은 고딕"/>
                <a:cs typeface="Calibri"/>
              </a:rPr>
              <a:t>Mr. Boggis first </a:t>
            </a:r>
            <a:r>
              <a:rPr lang="en-US" altLang="en-US" sz="2000" b="1" dirty="0">
                <a:solidFill>
                  <a:srgbClr val="C00000">
                    <a:alpha val="0"/>
                  </a:srgbClr>
                </a:solidFill>
                <a:latin typeface="Calibri"/>
                <a:ea typeface="맑은 고딕"/>
                <a:cs typeface="Calibri"/>
              </a:rPr>
              <a:t>[ </a:t>
            </a:r>
            <a:r>
              <a:rPr lang="en-US" altLang="en-US" sz="2000" b="1" dirty="0">
                <a:solidFill>
                  <a:srgbClr val="C00000">
                    <a:alpha val="0"/>
                  </a:srgbClr>
                </a:solidFill>
                <a:latin typeface="Calibri"/>
                <a:ea typeface="맑은 고딕"/>
                <a:cs typeface="Calibri"/>
              </a:rPr>
              <a:t>was gone</a:t>
            </a:r>
            <a:r>
              <a:rPr lang="en-US" altLang="en-US" sz="2000" b="1" dirty="0">
                <a:solidFill>
                  <a:srgbClr val="C00000">
                    <a:alpha val="0"/>
                  </a:srgbClr>
                </a:solidFill>
                <a:latin typeface="Calibri"/>
                <a:ea typeface="맑은 고딕"/>
                <a:cs typeface="Calibri"/>
              </a:rPr>
              <a:t> / </a:t>
            </a:r>
            <a:r>
              <a:rPr lang="en-US" altLang="en-US" sz="2000" b="1" dirty="0">
                <a:solidFill>
                  <a:srgbClr val="C00000"/>
                </a:solidFill>
                <a:latin typeface="Calibri"/>
                <a:ea typeface="맑은 고딕"/>
                <a:cs typeface="Calibri"/>
              </a:rPr>
              <a:t>went</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to the kitchen, and there </a:t>
            </a:r>
            <a:r>
              <a:rPr lang="en-US" altLang="en-US" sz="2000" b="1" dirty="0">
                <a:solidFill>
                  <a:srgbClr val="C00000">
                    <a:alpha val="0"/>
                  </a:srgbClr>
                </a:solidFill>
                <a:latin typeface="Calibri"/>
                <a:ea typeface="맑은 고딕"/>
                <a:cs typeface="Calibri"/>
              </a:rPr>
              <a:t>[ </a:t>
            </a:r>
            <a:r>
              <a:rPr lang="en-US" altLang="en-US" sz="2000" b="1" dirty="0">
                <a:solidFill>
                  <a:srgbClr val="C00000"/>
                </a:solidFill>
                <a:latin typeface="Calibri"/>
                <a:ea typeface="맑은 고딕"/>
                <a:cs typeface="Calibri"/>
              </a:rPr>
              <a:t>was</a:t>
            </a:r>
            <a:r>
              <a:rPr lang="en-US" altLang="en-US" sz="2000" b="1" dirty="0">
                <a:solidFill>
                  <a:srgbClr val="C00000">
                    <a:alpha val="0"/>
                  </a:srgbClr>
                </a:solidFill>
                <a:latin typeface="Calibri"/>
                <a:ea typeface="맑은 고딕"/>
                <a:cs typeface="Calibri"/>
              </a:rPr>
              <a:t> / </a:t>
            </a:r>
            <a:r>
              <a:rPr lang="en-US" altLang="en-US" sz="2000" b="1" dirty="0">
                <a:solidFill>
                  <a:srgbClr val="C00000">
                    <a:alpha val="0"/>
                  </a:srgbClr>
                </a:solidFill>
                <a:latin typeface="Calibri"/>
                <a:ea typeface="맑은 고딕"/>
                <a:cs typeface="Calibri"/>
              </a:rPr>
              <a:t>were</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nothing.</a:t>
            </a:r>
            <a:endParaRPr lang="ko-KR" sz="2000"/>
          </a:p>
        </p:txBody>
      </p:sp>
      <p:sp>
        <p:nvSpPr>
          <p:cNvPr id="11" name="rv_point_1"/>
          <p:cNvSpPr txBox="1"/>
          <p:nvPr/>
        </p:nvSpPr>
        <p:spPr>
          <a:xfrm>
            <a:off x="457200" y="2135632"/>
            <a:ext cx="11274552" cy="331978"/>
          </a:xfrm>
          <a:prstGeom prst="rect">
            <a:avLst/>
          </a:prstGeom>
          <a:noFill/>
        </p:spPr>
        <p:txBody>
          <a:bodyPr wrap="square" lIns="228600" tIns="54864" rIns="228600" bIns="54864" anchor="t" rtlCol="0">
            <a:noAutofit/>
          </a:bodyPr>
          <a:lstStyle/>
          <a:p>
            <a:pPr algn="l">
              <a:lnSpc>
                <a:spcPts val="1750"/>
              </a:lnSpc>
              <a:spcBef>
                <a:spcPts val="0"/>
              </a:spcBef>
              <a:spcAft>
                <a:spcPts val="0"/>
              </a:spcAft>
              <a:buNone/>
            </a:pPr>
            <a:r>
              <a:rPr lang="ko-KR" altLang="en-US" sz="1400" b="1" dirty="0">
                <a:solidFill>
                  <a:srgbClr val="C00000"/>
                </a:solidFill>
                <a:latin typeface="맑은 고딕"/>
                <a:ea typeface="맑은 고딕"/>
                <a:cs typeface="맑은 고딕"/>
              </a:rPr>
              <a:t>포인트  </a:t>
            </a:r>
            <a:r>
              <a:rPr lang="ko-KR" altLang="en-US" sz="1400" b="0" dirty="0">
                <a:solidFill>
                  <a:srgbClr val="2F5597"/>
                </a:solidFill>
                <a:latin typeface="맑은 고딕"/>
                <a:ea typeface="맑은 고딕"/>
                <a:cs typeface="맑은 고딕"/>
              </a:rPr>
              <a:t>수동태(능동/수동 구별) (자동사 go는 수동태 불가) · 동사의 수 일치 (there was + 단수 nothing)</a:t>
            </a:r>
            <a:endParaRPr lang="ko-KR" sz="1400"/>
          </a:p>
        </p:txBody>
      </p:sp>
      <p:sp>
        <p:nvSpPr>
          <p:cNvPr id="12" name="item_card_2"/>
          <p:cNvSpPr/>
          <p:nvPr/>
        </p:nvSpPr>
        <p:spPr>
          <a:xfrm>
            <a:off x="457200" y="2577338"/>
            <a:ext cx="11274552" cy="1161034"/>
          </a:xfrm>
          <a:prstGeom prst="roundRect">
            <a:avLst>
              <a:gd name="adj" fmla="val 6000"/>
            </a:avLst>
          </a:prstGeom>
          <a:solidFill>
            <a:srgbClr val="F3F5F9"/>
          </a:solidFill>
          <a:ln w="12700">
            <a:solidFill>
              <a:srgbClr val="D9DFEA"/>
            </a:solidFill>
          </a:ln>
        </p:spPr>
        <p:txBody>
          <a:bodyPr rtlCol="0" anchor="ctr"/>
          <a:lstStyle/>
          <a:p>
            <a:pPr algn="ctr"/>
          </a:p>
        </p:txBody>
      </p:sp>
      <p:sp>
        <p:nvSpPr>
          <p:cNvPr id="13" name="kor_2"/>
          <p:cNvSpPr txBox="1"/>
          <p:nvPr/>
        </p:nvSpPr>
        <p:spPr>
          <a:xfrm>
            <a:off x="457200" y="2687066"/>
            <a:ext cx="11274552" cy="363728"/>
          </a:xfrm>
          <a:prstGeom prst="rect">
            <a:avLst/>
          </a:prstGeom>
          <a:noFill/>
        </p:spPr>
        <p:txBody>
          <a:bodyPr wrap="square" lIns="228600" tIns="54864" rIns="228600" bIns="54864" anchor="t" rtlCol="0">
            <a:noAutofit/>
          </a:bodyPr>
          <a:lstStyle/>
          <a:p>
            <a:pPr algn="l">
              <a:lnSpc>
                <a:spcPts val="2000"/>
              </a:lnSpc>
              <a:spcBef>
                <a:spcPts val="0"/>
              </a:spcBef>
              <a:spcAft>
                <a:spcPts val="0"/>
              </a:spcAft>
              <a:buNone/>
            </a:pPr>
            <a:r>
              <a:rPr lang="en-US" altLang="en-US" sz="1600" b="1" dirty="0">
                <a:solidFill>
                  <a:srgbClr val="1E2A5A"/>
                </a:solidFill>
                <a:latin typeface="Calibri"/>
                <a:ea typeface="맑은 고딕"/>
                <a:cs typeface="Calibri"/>
              </a:rPr>
              <a:t>14.  </a:t>
            </a:r>
            <a:r>
              <a:rPr lang="ko-KR" altLang="en-US" sz="1600" b="0" dirty="0">
                <a:solidFill>
                  <a:srgbClr val="3C4558"/>
                </a:solidFill>
                <a:latin typeface="맑은 고딕"/>
                <a:ea typeface="맑은 고딕"/>
                <a:cs typeface="맑은 고딕"/>
              </a:rPr>
              <a:t>그는 이어서 거실로 옮겨 갔다. 그런데 바로 거기 그것이 있었다!</a:t>
            </a:r>
            <a:endParaRPr lang="ko-KR" sz="1600"/>
          </a:p>
        </p:txBody>
      </p:sp>
      <p:sp>
        <p:nvSpPr>
          <p:cNvPr id="14" name="eng_2"/>
          <p:cNvSpPr txBox="1"/>
          <p:nvPr/>
        </p:nvSpPr>
        <p:spPr>
          <a:xfrm>
            <a:off x="457200" y="2995930"/>
            <a:ext cx="11274552" cy="4653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solidFill>
                <a:latin typeface="Calibri"/>
                <a:ea typeface="맑은 고딕"/>
                <a:cs typeface="Calibri"/>
              </a:rPr>
              <a:t>He then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moved</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was moved</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to the living room. And there it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were</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was</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a:t>
            </a:r>
            <a:endParaRPr lang="ko-KR" sz="2000"/>
          </a:p>
        </p:txBody>
      </p:sp>
      <p:sp>
        <p:nvSpPr>
          <p:cNvPr id="15" name="rv_eng_2"/>
          <p:cNvSpPr txBox="1"/>
          <p:nvPr/>
        </p:nvSpPr>
        <p:spPr>
          <a:xfrm>
            <a:off x="457200" y="2995930"/>
            <a:ext cx="11274552" cy="4653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alpha val="0"/>
                  </a:srgbClr>
                </a:solidFill>
                <a:latin typeface="Calibri"/>
                <a:ea typeface="맑은 고딕"/>
                <a:cs typeface="Calibri"/>
              </a:rPr>
              <a:t>He then </a:t>
            </a:r>
            <a:r>
              <a:rPr lang="en-US" altLang="en-US" sz="2000" b="1" dirty="0">
                <a:solidFill>
                  <a:srgbClr val="C00000">
                    <a:alpha val="0"/>
                  </a:srgbClr>
                </a:solidFill>
                <a:latin typeface="Calibri"/>
                <a:ea typeface="맑은 고딕"/>
                <a:cs typeface="Calibri"/>
              </a:rPr>
              <a:t>[ </a:t>
            </a:r>
            <a:r>
              <a:rPr lang="en-US" altLang="en-US" sz="2000" b="1" dirty="0">
                <a:solidFill>
                  <a:srgbClr val="C00000"/>
                </a:solidFill>
                <a:latin typeface="Calibri"/>
                <a:ea typeface="맑은 고딕"/>
                <a:cs typeface="Calibri"/>
              </a:rPr>
              <a:t>moved</a:t>
            </a:r>
            <a:r>
              <a:rPr lang="en-US" altLang="en-US" sz="2000" b="1" dirty="0">
                <a:solidFill>
                  <a:srgbClr val="C00000">
                    <a:alpha val="0"/>
                  </a:srgbClr>
                </a:solidFill>
                <a:latin typeface="Calibri"/>
                <a:ea typeface="맑은 고딕"/>
                <a:cs typeface="Calibri"/>
              </a:rPr>
              <a:t> / </a:t>
            </a:r>
            <a:r>
              <a:rPr lang="en-US" altLang="en-US" sz="2000" b="1" dirty="0">
                <a:solidFill>
                  <a:srgbClr val="C00000">
                    <a:alpha val="0"/>
                  </a:srgbClr>
                </a:solidFill>
                <a:latin typeface="Calibri"/>
                <a:ea typeface="맑은 고딕"/>
                <a:cs typeface="Calibri"/>
              </a:rPr>
              <a:t>was moved</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to the living room. And there it </a:t>
            </a:r>
            <a:r>
              <a:rPr lang="en-US" altLang="en-US" sz="2000" b="1" dirty="0">
                <a:solidFill>
                  <a:srgbClr val="C00000">
                    <a:alpha val="0"/>
                  </a:srgbClr>
                </a:solidFill>
                <a:latin typeface="Calibri"/>
                <a:ea typeface="맑은 고딕"/>
                <a:cs typeface="Calibri"/>
              </a:rPr>
              <a:t>[ </a:t>
            </a:r>
            <a:r>
              <a:rPr lang="en-US" altLang="en-US" sz="2000" b="1" dirty="0">
                <a:solidFill>
                  <a:srgbClr val="C00000">
                    <a:alpha val="0"/>
                  </a:srgbClr>
                </a:solidFill>
                <a:latin typeface="Calibri"/>
                <a:ea typeface="맑은 고딕"/>
                <a:cs typeface="Calibri"/>
              </a:rPr>
              <a:t>were</a:t>
            </a:r>
            <a:r>
              <a:rPr lang="en-US" altLang="en-US" sz="2000" b="1" dirty="0">
                <a:solidFill>
                  <a:srgbClr val="C00000">
                    <a:alpha val="0"/>
                  </a:srgbClr>
                </a:solidFill>
                <a:latin typeface="Calibri"/>
                <a:ea typeface="맑은 고딕"/>
                <a:cs typeface="Calibri"/>
              </a:rPr>
              <a:t> / </a:t>
            </a:r>
            <a:r>
              <a:rPr lang="en-US" altLang="en-US" sz="2000" b="1" dirty="0">
                <a:solidFill>
                  <a:srgbClr val="C00000"/>
                </a:solidFill>
                <a:latin typeface="Calibri"/>
                <a:ea typeface="맑은 고딕"/>
                <a:cs typeface="Calibri"/>
              </a:rPr>
              <a:t>was</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a:t>
            </a:r>
            <a:endParaRPr lang="ko-KR" sz="2000"/>
          </a:p>
        </p:txBody>
      </p:sp>
      <p:sp>
        <p:nvSpPr>
          <p:cNvPr id="16" name="rv_point_2"/>
          <p:cNvSpPr txBox="1"/>
          <p:nvPr/>
        </p:nvSpPr>
        <p:spPr>
          <a:xfrm>
            <a:off x="457200" y="3406394"/>
            <a:ext cx="11274552" cy="331978"/>
          </a:xfrm>
          <a:prstGeom prst="rect">
            <a:avLst/>
          </a:prstGeom>
          <a:noFill/>
        </p:spPr>
        <p:txBody>
          <a:bodyPr wrap="square" lIns="228600" tIns="54864" rIns="228600" bIns="54864" anchor="t" rtlCol="0">
            <a:noAutofit/>
          </a:bodyPr>
          <a:lstStyle/>
          <a:p>
            <a:pPr algn="l">
              <a:lnSpc>
                <a:spcPts val="1750"/>
              </a:lnSpc>
              <a:spcBef>
                <a:spcPts val="0"/>
              </a:spcBef>
              <a:spcAft>
                <a:spcPts val="0"/>
              </a:spcAft>
              <a:buNone/>
            </a:pPr>
            <a:r>
              <a:rPr lang="ko-KR" altLang="en-US" sz="1400" b="1" dirty="0">
                <a:solidFill>
                  <a:srgbClr val="C00000"/>
                </a:solidFill>
                <a:latin typeface="맑은 고딕"/>
                <a:ea typeface="맑은 고딕"/>
                <a:cs typeface="맑은 고딕"/>
              </a:rPr>
              <a:t>포인트  </a:t>
            </a:r>
            <a:r>
              <a:rPr lang="ko-KR" altLang="en-US" sz="1400" b="0" dirty="0">
                <a:solidFill>
                  <a:srgbClr val="2F5597"/>
                </a:solidFill>
                <a:latin typeface="맑은 고딕"/>
                <a:ea typeface="맑은 고딕"/>
                <a:cs typeface="맑은 고딕"/>
              </a:rPr>
              <a:t>수동태(능동/수동 구별) (목적어 없이 스스로 이동 → 능동) · 동사의 수 일치 (주어 it)</a:t>
            </a:r>
            <a:endParaRPr lang="ko-KR" sz="1400"/>
          </a:p>
        </p:txBody>
      </p:sp>
      <p:sp>
        <p:nvSpPr>
          <p:cNvPr id="17" name="item_card_3"/>
          <p:cNvSpPr/>
          <p:nvPr/>
        </p:nvSpPr>
        <p:spPr>
          <a:xfrm>
            <a:off x="457200" y="3848100"/>
            <a:ext cx="11274552" cy="1516634"/>
          </a:xfrm>
          <a:prstGeom prst="roundRect">
            <a:avLst>
              <a:gd name="adj" fmla="val 6000"/>
            </a:avLst>
          </a:prstGeom>
          <a:solidFill>
            <a:srgbClr val="F3F5F9"/>
          </a:solidFill>
          <a:ln w="12700">
            <a:solidFill>
              <a:srgbClr val="D9DFEA"/>
            </a:solidFill>
          </a:ln>
        </p:spPr>
        <p:txBody>
          <a:bodyPr rtlCol="0" anchor="ctr"/>
          <a:lstStyle/>
          <a:p>
            <a:pPr algn="ctr"/>
          </a:p>
        </p:txBody>
      </p:sp>
      <p:sp>
        <p:nvSpPr>
          <p:cNvPr id="18" name="kor_3"/>
          <p:cNvSpPr txBox="1"/>
          <p:nvPr/>
        </p:nvSpPr>
        <p:spPr>
          <a:xfrm>
            <a:off x="457200" y="3957828"/>
            <a:ext cx="11274552" cy="363728"/>
          </a:xfrm>
          <a:prstGeom prst="rect">
            <a:avLst/>
          </a:prstGeom>
          <a:noFill/>
        </p:spPr>
        <p:txBody>
          <a:bodyPr wrap="square" lIns="228600" tIns="54864" rIns="228600" bIns="54864" anchor="t" rtlCol="0">
            <a:noAutofit/>
          </a:bodyPr>
          <a:lstStyle/>
          <a:p>
            <a:pPr algn="l">
              <a:lnSpc>
                <a:spcPts val="2000"/>
              </a:lnSpc>
              <a:spcBef>
                <a:spcPts val="0"/>
              </a:spcBef>
              <a:spcAft>
                <a:spcPts val="0"/>
              </a:spcAft>
              <a:buNone/>
            </a:pPr>
            <a:r>
              <a:rPr lang="en-US" altLang="en-US" sz="1600" b="1" dirty="0">
                <a:solidFill>
                  <a:srgbClr val="1E2A5A"/>
                </a:solidFill>
                <a:latin typeface="Calibri"/>
                <a:ea typeface="맑은 고딕"/>
                <a:cs typeface="Calibri"/>
              </a:rPr>
              <a:t>15.  </a:t>
            </a:r>
            <a:r>
              <a:rPr lang="ko-KR" altLang="en-US" sz="1600" b="0" dirty="0">
                <a:solidFill>
                  <a:srgbClr val="3C4558"/>
                </a:solidFill>
                <a:latin typeface="맑은 고딕"/>
                <a:ea typeface="맑은 고딕"/>
                <a:cs typeface="맑은 고딕"/>
              </a:rPr>
              <a:t>18세기 영국 가구 중에서도 값을 매길 수 없을 만큼 귀한 탁자 하나가.</a:t>
            </a:r>
            <a:endParaRPr lang="ko-KR" sz="1600"/>
          </a:p>
        </p:txBody>
      </p:sp>
      <p:sp>
        <p:nvSpPr>
          <p:cNvPr id="19" name="eng_3"/>
          <p:cNvSpPr txBox="1"/>
          <p:nvPr/>
        </p:nvSpPr>
        <p:spPr>
          <a:xfrm>
            <a:off x="457200" y="4266692"/>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solidFill>
                <a:latin typeface="Calibri"/>
                <a:ea typeface="맑은 고딕"/>
                <a:cs typeface="Calibri"/>
              </a:rPr>
              <a:t>A table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who</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which</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was</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were</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a priceless piece of eighteenth‑century English furniture.</a:t>
            </a:r>
            <a:endParaRPr lang="ko-KR" sz="2000"/>
          </a:p>
        </p:txBody>
      </p:sp>
      <p:sp>
        <p:nvSpPr>
          <p:cNvPr id="20" name="rv_eng_3"/>
          <p:cNvSpPr txBox="1"/>
          <p:nvPr/>
        </p:nvSpPr>
        <p:spPr>
          <a:xfrm>
            <a:off x="457200" y="4266692"/>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alpha val="0"/>
                  </a:srgbClr>
                </a:solidFill>
                <a:latin typeface="Calibri"/>
                <a:ea typeface="맑은 고딕"/>
                <a:cs typeface="Calibri"/>
              </a:rPr>
              <a:t>A table </a:t>
            </a:r>
            <a:r>
              <a:rPr lang="en-US" altLang="en-US" sz="2000" b="1" dirty="0">
                <a:solidFill>
                  <a:srgbClr val="C00000">
                    <a:alpha val="0"/>
                  </a:srgbClr>
                </a:solidFill>
                <a:latin typeface="Calibri"/>
                <a:ea typeface="맑은 고딕"/>
                <a:cs typeface="Calibri"/>
              </a:rPr>
              <a:t>[ </a:t>
            </a:r>
            <a:r>
              <a:rPr lang="en-US" altLang="en-US" sz="2000" b="1" dirty="0">
                <a:solidFill>
                  <a:srgbClr val="C00000">
                    <a:alpha val="0"/>
                  </a:srgbClr>
                </a:solidFill>
                <a:latin typeface="Calibri"/>
                <a:ea typeface="맑은 고딕"/>
                <a:cs typeface="Calibri"/>
              </a:rPr>
              <a:t>who</a:t>
            </a:r>
            <a:r>
              <a:rPr lang="en-US" altLang="en-US" sz="2000" b="1" dirty="0">
                <a:solidFill>
                  <a:srgbClr val="C00000">
                    <a:alpha val="0"/>
                  </a:srgbClr>
                </a:solidFill>
                <a:latin typeface="Calibri"/>
                <a:ea typeface="맑은 고딕"/>
                <a:cs typeface="Calibri"/>
              </a:rPr>
              <a:t> / </a:t>
            </a:r>
            <a:r>
              <a:rPr lang="en-US" altLang="en-US" sz="2000" b="1" dirty="0">
                <a:solidFill>
                  <a:srgbClr val="C00000"/>
                </a:solidFill>
                <a:latin typeface="Calibri"/>
                <a:ea typeface="맑은 고딕"/>
                <a:cs typeface="Calibri"/>
              </a:rPr>
              <a:t>which</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a:t>
            </a:r>
            <a:r>
              <a:rPr lang="en-US" altLang="en-US" sz="2000" b="1" dirty="0">
                <a:solidFill>
                  <a:srgbClr val="C00000">
                    <a:alpha val="0"/>
                  </a:srgbClr>
                </a:solidFill>
                <a:latin typeface="Calibri"/>
                <a:ea typeface="맑은 고딕"/>
                <a:cs typeface="Calibri"/>
              </a:rPr>
              <a:t>[ </a:t>
            </a:r>
            <a:r>
              <a:rPr lang="en-US" altLang="en-US" sz="2000" b="1" dirty="0">
                <a:solidFill>
                  <a:srgbClr val="C00000"/>
                </a:solidFill>
                <a:latin typeface="Calibri"/>
                <a:ea typeface="맑은 고딕"/>
                <a:cs typeface="Calibri"/>
              </a:rPr>
              <a:t>was</a:t>
            </a:r>
            <a:r>
              <a:rPr lang="en-US" altLang="en-US" sz="2000" b="1" dirty="0">
                <a:solidFill>
                  <a:srgbClr val="C00000">
                    <a:alpha val="0"/>
                  </a:srgbClr>
                </a:solidFill>
                <a:latin typeface="Calibri"/>
                <a:ea typeface="맑은 고딕"/>
                <a:cs typeface="Calibri"/>
              </a:rPr>
              <a:t> / </a:t>
            </a:r>
            <a:r>
              <a:rPr lang="en-US" altLang="en-US" sz="2000" b="1" dirty="0">
                <a:solidFill>
                  <a:srgbClr val="C00000">
                    <a:alpha val="0"/>
                  </a:srgbClr>
                </a:solidFill>
                <a:latin typeface="Calibri"/>
                <a:ea typeface="맑은 고딕"/>
                <a:cs typeface="Calibri"/>
              </a:rPr>
              <a:t>were</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a priceless piece of eighteenth‑century English furniture.</a:t>
            </a:r>
            <a:endParaRPr lang="ko-KR" sz="2000"/>
          </a:p>
        </p:txBody>
      </p:sp>
      <p:sp>
        <p:nvSpPr>
          <p:cNvPr id="21" name="rv_point_3"/>
          <p:cNvSpPr txBox="1"/>
          <p:nvPr/>
        </p:nvSpPr>
        <p:spPr>
          <a:xfrm>
            <a:off x="457200" y="5032756"/>
            <a:ext cx="11274552" cy="331978"/>
          </a:xfrm>
          <a:prstGeom prst="rect">
            <a:avLst/>
          </a:prstGeom>
          <a:noFill/>
        </p:spPr>
        <p:txBody>
          <a:bodyPr wrap="square" lIns="228600" tIns="54864" rIns="228600" bIns="54864" anchor="t" rtlCol="0">
            <a:noAutofit/>
          </a:bodyPr>
          <a:lstStyle/>
          <a:p>
            <a:pPr algn="l">
              <a:lnSpc>
                <a:spcPts val="1750"/>
              </a:lnSpc>
              <a:spcBef>
                <a:spcPts val="0"/>
              </a:spcBef>
              <a:spcAft>
                <a:spcPts val="0"/>
              </a:spcAft>
              <a:buNone/>
            </a:pPr>
            <a:r>
              <a:rPr lang="ko-KR" altLang="en-US" sz="1400" b="1" dirty="0">
                <a:solidFill>
                  <a:srgbClr val="C00000"/>
                </a:solidFill>
                <a:latin typeface="맑은 고딕"/>
                <a:ea typeface="맑은 고딕"/>
                <a:cs typeface="맑은 고딕"/>
              </a:rPr>
              <a:t>포인트  </a:t>
            </a:r>
            <a:r>
              <a:rPr lang="ko-KR" altLang="en-US" sz="1400" b="0" dirty="0">
                <a:solidFill>
                  <a:srgbClr val="2F5597"/>
                </a:solidFill>
                <a:latin typeface="맑은 고딕"/>
                <a:ea typeface="맑은 고딕"/>
                <a:cs typeface="맑은 고딕"/>
              </a:rPr>
              <a:t>관계대명사 (선행사 A table=사물) · 동사의 수 일치 (선행사 A table 단수)</a:t>
            </a:r>
            <a:endParaRPr lang="ko-KR" sz="1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25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250"/>
                                        <p:tgtEl>
                                          <p:spTgt spid="1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250"/>
                                        <p:tgtEl>
                                          <p:spTgt spid="1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fade">
                                      <p:cBhvr>
                                        <p:cTn id="16" dur="250"/>
                                        <p:tgtEl>
                                          <p:spTgt spid="1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250"/>
                                        <p:tgtEl>
                                          <p:spTgt spid="2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fade">
                                      <p:cBhvr>
                                        <p:cTn id="22" dur="25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5" grpId="0" animBg="1"/>
      <p:bldP spid="16" grpId="0" animBg="1"/>
      <p:bldP spid="20" grpId="0" animBg="1"/>
      <p:bldP spid="21" grpId="0" animBg="1"/>
    </p:bldLst>
  </p:timing>
</p:sld>
</file>

<file path=ppt/slides/slide1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8000"/>
            </a:avLst>
          </a:prstGeom>
          <a:solidFill>
            <a:srgbClr val="1E2A5A"/>
          </a:solidFill>
          <a:ln>
            <a:noFill/>
          </a:ln>
        </p:spPr>
        <p:txBody>
          <a:bodyPr wrap="square" lIns="45720" tIns="18288" rIns="45720" bIns="18288" anchor="ctr" rtlCol="0">
            <a:noAutofit/>
          </a:bodyPr>
          <a:lstStyle/>
          <a:p>
            <a:pPr algn="ctr">
              <a:lnSpc>
                <a:spcPts val="2000"/>
              </a:lnSpc>
              <a:spcBef>
                <a:spcPts val="0"/>
              </a:spcBef>
              <a:spcAft>
                <a:spcPts val="0"/>
              </a:spcAft>
              <a:buNone/>
            </a:pPr>
            <a:r>
              <a:rPr lang="en-US" altLang="en-US" sz="1700" b="1" dirty="0">
                <a:solidFill>
                  <a:srgbClr val="FFFFFF"/>
                </a:solidFill>
                <a:latin typeface="Calibri"/>
                <a:ea typeface="맑은 고딕"/>
                <a:cs typeface="Calibri"/>
              </a:rPr>
              <a:t>L6</a:t>
            </a:r>
            <a:endParaRPr lang="ko-KR" sz="1700"/>
          </a:p>
        </p:txBody>
      </p:sp>
      <p:sp>
        <p:nvSpPr>
          <p:cNvPr id="3" name="hdr_chip"/>
          <p:cNvSpPr/>
          <p:nvPr/>
        </p:nvSpPr>
        <p:spPr>
          <a:xfrm>
            <a:off x="1755648" y="274320"/>
            <a:ext cx="1371600" cy="493776"/>
          </a:xfrm>
          <a:prstGeom prst="roundRect">
            <a:avLst>
              <a:gd name="adj" fmla="val 8000"/>
            </a:avLst>
          </a:prstGeom>
          <a:solidFill>
            <a:srgbClr val="E6EAF4"/>
          </a:solidFill>
          <a:ln>
            <a:noFill/>
          </a:ln>
        </p:spPr>
        <p:txBody>
          <a:bodyPr wrap="square" lIns="27432" tIns="18288" rIns="27432" bIns="18288" anchor="ctr" rtlCol="0">
            <a:noAutofit/>
          </a:bodyPr>
          <a:lstStyle/>
          <a:p>
            <a:pPr algn="ctr">
              <a:lnSpc>
                <a:spcPts val="1700"/>
              </a:lnSpc>
              <a:spcBef>
                <a:spcPts val="0"/>
              </a:spcBef>
              <a:spcAft>
                <a:spcPts val="0"/>
              </a:spcAft>
              <a:buNone/>
            </a:pPr>
            <a:r>
              <a:rPr lang="ko-KR" altLang="en-US" sz="1400" b="1" dirty="0">
                <a:solidFill>
                  <a:srgbClr val="1E2A5A"/>
                </a:solidFill>
                <a:latin typeface="맑은 고딕"/>
                <a:ea typeface="맑은 고딕"/>
                <a:cs typeface="맑은 고딕"/>
              </a:rPr>
              <a:t>PART 5 · 6</a:t>
            </a:r>
            <a:endParaRPr lang="ko-KR" sz="1400"/>
          </a:p>
        </p:txBody>
      </p:sp>
      <p:sp>
        <p:nvSpPr>
          <p:cNvPr id="4" name="hdr_q"/>
          <p:cNvSpPr txBox="1"/>
          <p:nvPr/>
        </p:nvSpPr>
        <p:spPr>
          <a:xfrm>
            <a:off x="3246120" y="246888"/>
            <a:ext cx="8485632" cy="548640"/>
          </a:xfrm>
          <a:prstGeom prst="rect">
            <a:avLst/>
          </a:prstGeom>
          <a:noFill/>
        </p:spPr>
        <p:txBody>
          <a:bodyPr wrap="square" lIns="109728" tIns="54864" rIns="109728" bIns="54864" anchor="ctr" rtlCol="0">
            <a:noAutofit/>
          </a:bodyPr>
          <a:lstStyle/>
          <a:p>
            <a:pPr algn="l">
              <a:lnSpc>
                <a:spcPts val="2400"/>
              </a:lnSpc>
              <a:spcBef>
                <a:spcPts val="0"/>
              </a:spcBef>
              <a:spcAft>
                <a:spcPts val="0"/>
              </a:spcAft>
              <a:buNone/>
            </a:pPr>
            <a:r>
              <a:rPr lang="ko-KR" altLang="en-US" sz="2000" b="1" dirty="0">
                <a:solidFill>
                  <a:srgbClr val="1F2328"/>
                </a:solidFill>
                <a:latin typeface="맑은 고딕"/>
                <a:ea typeface="맑은 고딕"/>
                <a:cs typeface="맑은 고딕"/>
              </a:rPr>
              <a:t>[  ] 안에서 어법상 알맞은 것을 고르시오.</a:t>
            </a:r>
            <a:endParaRPr lang="ko-KR" sz="2000"/>
          </a:p>
        </p:txBody>
      </p:sp>
      <p:sp>
        <p:nvSpPr>
          <p:cNvPr id="5" name="ftr_exam"/>
          <p:cNvSpPr txBox="1"/>
          <p:nvPr/>
        </p:nvSpPr>
        <p:spPr>
          <a:xfrm>
            <a:off x="457200" y="6519672"/>
            <a:ext cx="5669280" cy="256032"/>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6</a:t>
            </a:r>
            <a:endParaRPr lang="ko-KR" sz="1000"/>
          </a:p>
        </p:txBody>
      </p:sp>
      <p:sp>
        <p:nvSpPr>
          <p:cNvPr id="6" name="ftr_hint"/>
          <p:cNvSpPr txBox="1"/>
          <p:nvPr/>
        </p:nvSpPr>
        <p:spPr>
          <a:xfrm>
            <a:off x="5971032" y="6519672"/>
            <a:ext cx="5760720" cy="256032"/>
          </a:xfrm>
          <a:prstGeom prst="rect">
            <a:avLst/>
          </a:prstGeom>
          <a:noFill/>
        </p:spPr>
        <p:txBody>
          <a:bodyPr wrap="square" lIns="0" tIns="0" rIns="0" bIns="0" anchor="t" rtlCol="0">
            <a:noAutofit/>
          </a:bodyPr>
          <a:lstStyle/>
          <a:p>
            <a:pPr algn="r">
              <a:lnSpc>
                <a:spcPts val="1200"/>
              </a:lnSpc>
              <a:spcBef>
                <a:spcPts val="0"/>
              </a:spcBef>
              <a:spcAft>
                <a:spcPts val="0"/>
              </a:spcAft>
              <a:buNone/>
            </a:pPr>
            <a:r>
              <a:rPr lang="ko-KR" altLang="en-US" sz="1000" b="0" dirty="0">
                <a:solidFill>
                  <a:srgbClr val="7A808C"/>
                </a:solidFill>
                <a:latin typeface="맑은 고딕"/>
                <a:ea typeface="맑은 고딕"/>
                <a:cs typeface="맑은 고딕"/>
              </a:rPr>
              <a:t>클릭 ① 정답(빨간색) + 문법 포인트 공개</a:t>
            </a:r>
            <a:endParaRPr lang="ko-KR" sz="1000"/>
          </a:p>
        </p:txBody>
      </p:sp>
      <p:sp>
        <p:nvSpPr>
          <p:cNvPr id="7" name="item_card_1"/>
          <p:cNvSpPr/>
          <p:nvPr/>
        </p:nvSpPr>
        <p:spPr>
          <a:xfrm>
            <a:off x="457200" y="950976"/>
            <a:ext cx="11274552" cy="1161034"/>
          </a:xfrm>
          <a:prstGeom prst="roundRect">
            <a:avLst>
              <a:gd name="adj" fmla="val 6000"/>
            </a:avLst>
          </a:prstGeom>
          <a:solidFill>
            <a:srgbClr val="F3F5F9"/>
          </a:solidFill>
          <a:ln w="12700">
            <a:solidFill>
              <a:srgbClr val="D9DFEA"/>
            </a:solidFill>
          </a:ln>
        </p:spPr>
        <p:txBody>
          <a:bodyPr rtlCol="0" anchor="ctr"/>
          <a:lstStyle/>
          <a:p>
            <a:pPr algn="ctr"/>
          </a:p>
        </p:txBody>
      </p:sp>
      <p:sp>
        <p:nvSpPr>
          <p:cNvPr id="8" name="kor_1"/>
          <p:cNvSpPr txBox="1"/>
          <p:nvPr/>
        </p:nvSpPr>
        <p:spPr>
          <a:xfrm>
            <a:off x="457200" y="1060704"/>
            <a:ext cx="11274552" cy="363728"/>
          </a:xfrm>
          <a:prstGeom prst="rect">
            <a:avLst/>
          </a:prstGeom>
          <a:noFill/>
        </p:spPr>
        <p:txBody>
          <a:bodyPr wrap="square" lIns="228600" tIns="54864" rIns="228600" bIns="54864" anchor="t" rtlCol="0">
            <a:noAutofit/>
          </a:bodyPr>
          <a:lstStyle/>
          <a:p>
            <a:pPr algn="l">
              <a:lnSpc>
                <a:spcPts val="2000"/>
              </a:lnSpc>
              <a:spcBef>
                <a:spcPts val="0"/>
              </a:spcBef>
              <a:spcAft>
                <a:spcPts val="0"/>
              </a:spcAft>
              <a:buNone/>
            </a:pPr>
            <a:r>
              <a:rPr lang="en-US" altLang="en-US" sz="1600" b="1" dirty="0">
                <a:solidFill>
                  <a:srgbClr val="1E2A5A"/>
                </a:solidFill>
                <a:latin typeface="Calibri"/>
                <a:ea typeface="맑은 고딕"/>
                <a:cs typeface="Calibri"/>
              </a:rPr>
              <a:t>16.  </a:t>
            </a:r>
            <a:r>
              <a:rPr lang="ko-KR" altLang="en-US" sz="1600" b="0" dirty="0">
                <a:solidFill>
                  <a:srgbClr val="3C4558"/>
                </a:solidFill>
                <a:latin typeface="맑은 고딕"/>
                <a:ea typeface="맑은 고딕"/>
                <a:cs typeface="맑은 고딕"/>
              </a:rPr>
              <a:t>그는 너무 흥분해서 하마터면 넘어질 뻔했다.</a:t>
            </a:r>
            <a:endParaRPr lang="ko-KR" sz="1600"/>
          </a:p>
        </p:txBody>
      </p:sp>
      <p:sp>
        <p:nvSpPr>
          <p:cNvPr id="9" name="eng_1"/>
          <p:cNvSpPr txBox="1"/>
          <p:nvPr/>
        </p:nvSpPr>
        <p:spPr>
          <a:xfrm>
            <a:off x="457200" y="1369568"/>
            <a:ext cx="11274552" cy="4653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solidFill>
                <a:latin typeface="Calibri"/>
                <a:ea typeface="맑은 고딕"/>
                <a:cs typeface="Calibri"/>
              </a:rPr>
              <a:t>He was so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excited</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exciting</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that he almost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was fallen</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fell</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over.</a:t>
            </a:r>
            <a:endParaRPr lang="ko-KR" sz="2000"/>
          </a:p>
        </p:txBody>
      </p:sp>
      <p:sp>
        <p:nvSpPr>
          <p:cNvPr id="10" name="rv_eng_1"/>
          <p:cNvSpPr txBox="1"/>
          <p:nvPr/>
        </p:nvSpPr>
        <p:spPr>
          <a:xfrm>
            <a:off x="457200" y="1369568"/>
            <a:ext cx="11274552" cy="4653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alpha val="0"/>
                  </a:srgbClr>
                </a:solidFill>
                <a:latin typeface="Calibri"/>
                <a:ea typeface="맑은 고딕"/>
                <a:cs typeface="Calibri"/>
              </a:rPr>
              <a:t>He was so </a:t>
            </a:r>
            <a:r>
              <a:rPr lang="en-US" altLang="en-US" sz="2000" b="1" dirty="0">
                <a:solidFill>
                  <a:srgbClr val="C00000">
                    <a:alpha val="0"/>
                  </a:srgbClr>
                </a:solidFill>
                <a:latin typeface="Calibri"/>
                <a:ea typeface="맑은 고딕"/>
                <a:cs typeface="Calibri"/>
              </a:rPr>
              <a:t>[ </a:t>
            </a:r>
            <a:r>
              <a:rPr lang="en-US" altLang="en-US" sz="2000" b="1" dirty="0">
                <a:solidFill>
                  <a:srgbClr val="C00000"/>
                </a:solidFill>
                <a:latin typeface="Calibri"/>
                <a:ea typeface="맑은 고딕"/>
                <a:cs typeface="Calibri"/>
              </a:rPr>
              <a:t>excited</a:t>
            </a:r>
            <a:r>
              <a:rPr lang="en-US" altLang="en-US" sz="2000" b="1" dirty="0">
                <a:solidFill>
                  <a:srgbClr val="C00000">
                    <a:alpha val="0"/>
                  </a:srgbClr>
                </a:solidFill>
                <a:latin typeface="Calibri"/>
                <a:ea typeface="맑은 고딕"/>
                <a:cs typeface="Calibri"/>
              </a:rPr>
              <a:t> / </a:t>
            </a:r>
            <a:r>
              <a:rPr lang="en-US" altLang="en-US" sz="2000" b="1" dirty="0">
                <a:solidFill>
                  <a:srgbClr val="C00000">
                    <a:alpha val="0"/>
                  </a:srgbClr>
                </a:solidFill>
                <a:latin typeface="Calibri"/>
                <a:ea typeface="맑은 고딕"/>
                <a:cs typeface="Calibri"/>
              </a:rPr>
              <a:t>exciting</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that he almost </a:t>
            </a:r>
            <a:r>
              <a:rPr lang="en-US" altLang="en-US" sz="2000" b="1" dirty="0">
                <a:solidFill>
                  <a:srgbClr val="C00000">
                    <a:alpha val="0"/>
                  </a:srgbClr>
                </a:solidFill>
                <a:latin typeface="Calibri"/>
                <a:ea typeface="맑은 고딕"/>
                <a:cs typeface="Calibri"/>
              </a:rPr>
              <a:t>[ </a:t>
            </a:r>
            <a:r>
              <a:rPr lang="en-US" altLang="en-US" sz="2000" b="1" dirty="0">
                <a:solidFill>
                  <a:srgbClr val="C00000">
                    <a:alpha val="0"/>
                  </a:srgbClr>
                </a:solidFill>
                <a:latin typeface="Calibri"/>
                <a:ea typeface="맑은 고딕"/>
                <a:cs typeface="Calibri"/>
              </a:rPr>
              <a:t>was fallen</a:t>
            </a:r>
            <a:r>
              <a:rPr lang="en-US" altLang="en-US" sz="2000" b="1" dirty="0">
                <a:solidFill>
                  <a:srgbClr val="C00000">
                    <a:alpha val="0"/>
                  </a:srgbClr>
                </a:solidFill>
                <a:latin typeface="Calibri"/>
                <a:ea typeface="맑은 고딕"/>
                <a:cs typeface="Calibri"/>
              </a:rPr>
              <a:t> / </a:t>
            </a:r>
            <a:r>
              <a:rPr lang="en-US" altLang="en-US" sz="2000" b="1" dirty="0">
                <a:solidFill>
                  <a:srgbClr val="C00000"/>
                </a:solidFill>
                <a:latin typeface="Calibri"/>
                <a:ea typeface="맑은 고딕"/>
                <a:cs typeface="Calibri"/>
              </a:rPr>
              <a:t>fell</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over.</a:t>
            </a:r>
            <a:endParaRPr lang="ko-KR" sz="2000"/>
          </a:p>
        </p:txBody>
      </p:sp>
      <p:sp>
        <p:nvSpPr>
          <p:cNvPr id="11" name="rv_point_1"/>
          <p:cNvSpPr txBox="1"/>
          <p:nvPr/>
        </p:nvSpPr>
        <p:spPr>
          <a:xfrm>
            <a:off x="457200" y="1780032"/>
            <a:ext cx="11274552" cy="331978"/>
          </a:xfrm>
          <a:prstGeom prst="rect">
            <a:avLst/>
          </a:prstGeom>
          <a:noFill/>
        </p:spPr>
        <p:txBody>
          <a:bodyPr wrap="square" lIns="228600" tIns="54864" rIns="228600" bIns="54864" anchor="t" rtlCol="0">
            <a:noAutofit/>
          </a:bodyPr>
          <a:lstStyle/>
          <a:p>
            <a:pPr algn="l">
              <a:lnSpc>
                <a:spcPts val="1750"/>
              </a:lnSpc>
              <a:spcBef>
                <a:spcPts val="0"/>
              </a:spcBef>
              <a:spcAft>
                <a:spcPts val="0"/>
              </a:spcAft>
              <a:buNone/>
            </a:pPr>
            <a:r>
              <a:rPr lang="ko-KR" altLang="en-US" sz="1400" b="1" dirty="0">
                <a:solidFill>
                  <a:srgbClr val="C00000"/>
                </a:solidFill>
                <a:latin typeface="맑은 고딕"/>
                <a:ea typeface="맑은 고딕"/>
                <a:cs typeface="맑은 고딕"/>
              </a:rPr>
              <a:t>포인트  </a:t>
            </a:r>
            <a:r>
              <a:rPr lang="ko-KR" altLang="en-US" sz="1400" b="0" dirty="0">
                <a:solidFill>
                  <a:srgbClr val="2F5597"/>
                </a:solidFill>
                <a:latin typeface="맑은 고딕"/>
                <a:ea typeface="맑은 고딕"/>
                <a:cs typeface="맑은 고딕"/>
              </a:rPr>
              <a:t>분사 (감정을 '느끼는' 사람 → 과거분사) · 수동태(능동/수동 구별) (자동사 fall은 수동태 불가)</a:t>
            </a:r>
            <a:endParaRPr lang="ko-KR" sz="1400"/>
          </a:p>
        </p:txBody>
      </p:sp>
      <p:sp>
        <p:nvSpPr>
          <p:cNvPr id="12" name="item_card_2"/>
          <p:cNvSpPr/>
          <p:nvPr/>
        </p:nvSpPr>
        <p:spPr>
          <a:xfrm>
            <a:off x="457200" y="2221738"/>
            <a:ext cx="11274552" cy="1770633"/>
          </a:xfrm>
          <a:prstGeom prst="roundRect">
            <a:avLst>
              <a:gd name="adj" fmla="val 6000"/>
            </a:avLst>
          </a:prstGeom>
          <a:solidFill>
            <a:srgbClr val="F3F5F9"/>
          </a:solidFill>
          <a:ln w="12700">
            <a:solidFill>
              <a:srgbClr val="D9DFEA"/>
            </a:solidFill>
          </a:ln>
        </p:spPr>
        <p:txBody>
          <a:bodyPr rtlCol="0" anchor="ctr"/>
          <a:lstStyle/>
          <a:p>
            <a:pPr algn="ctr"/>
          </a:p>
        </p:txBody>
      </p:sp>
      <p:sp>
        <p:nvSpPr>
          <p:cNvPr id="13" name="kor_2"/>
          <p:cNvSpPr txBox="1"/>
          <p:nvPr/>
        </p:nvSpPr>
        <p:spPr>
          <a:xfrm>
            <a:off x="457200" y="2331466"/>
            <a:ext cx="11274552" cy="617728"/>
          </a:xfrm>
          <a:prstGeom prst="rect">
            <a:avLst/>
          </a:prstGeom>
          <a:noFill/>
        </p:spPr>
        <p:txBody>
          <a:bodyPr wrap="square" lIns="228600" tIns="54864" rIns="228600" bIns="54864" anchor="t" rtlCol="0">
            <a:noAutofit/>
          </a:bodyPr>
          <a:lstStyle/>
          <a:p>
            <a:pPr algn="l">
              <a:lnSpc>
                <a:spcPts val="2000"/>
              </a:lnSpc>
              <a:spcBef>
                <a:spcPts val="0"/>
              </a:spcBef>
              <a:spcAft>
                <a:spcPts val="0"/>
              </a:spcAft>
              <a:buNone/>
            </a:pPr>
            <a:r>
              <a:rPr lang="en-US" altLang="en-US" sz="1600" b="1" dirty="0">
                <a:solidFill>
                  <a:srgbClr val="1E2A5A"/>
                </a:solidFill>
                <a:latin typeface="Calibri"/>
                <a:ea typeface="맑은 고딕"/>
                <a:cs typeface="Calibri"/>
              </a:rPr>
              <a:t>17.  </a:t>
            </a:r>
            <a:r>
              <a:rPr lang="ko-KR" altLang="en-US" sz="1600" b="0" dirty="0">
                <a:solidFill>
                  <a:srgbClr val="3C4558"/>
                </a:solidFill>
                <a:latin typeface="맑은 고딕"/>
                <a:ea typeface="맑은 고딕"/>
                <a:cs typeface="맑은 고딕"/>
              </a:rPr>
              <a:t>"왜 그러세요?" 버트가 물었다. "아, 아무것도 아니에요. 정말 아무 일도 아닙니다." 보기스 씨는 거짓말을 했다.</a:t>
            </a:r>
            <a:endParaRPr lang="ko-KR" sz="1600"/>
          </a:p>
        </p:txBody>
      </p:sp>
      <p:sp>
        <p:nvSpPr>
          <p:cNvPr id="14" name="eng_2"/>
          <p:cNvSpPr txBox="1"/>
          <p:nvPr/>
        </p:nvSpPr>
        <p:spPr>
          <a:xfrm>
            <a:off x="457200" y="2894330"/>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solidFill>
                <a:latin typeface="Calibri"/>
                <a:ea typeface="맑은 고딕"/>
                <a:cs typeface="Calibri"/>
              </a:rPr>
              <a:t>"What’s wrong?" Bert asked. "Oh, nothing. Nothing at all," Mr. Boggis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was lied</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lied</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a:t>
            </a:r>
            <a:endParaRPr lang="ko-KR" sz="2000"/>
          </a:p>
        </p:txBody>
      </p:sp>
      <p:sp>
        <p:nvSpPr>
          <p:cNvPr id="15" name="rv_eng_2"/>
          <p:cNvSpPr txBox="1"/>
          <p:nvPr/>
        </p:nvSpPr>
        <p:spPr>
          <a:xfrm>
            <a:off x="457200" y="2894330"/>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alpha val="0"/>
                  </a:srgbClr>
                </a:solidFill>
                <a:latin typeface="Calibri"/>
                <a:ea typeface="맑은 고딕"/>
                <a:cs typeface="Calibri"/>
              </a:rPr>
              <a:t>"What’s wrong?" Bert asked. "Oh, nothing. Nothing at all," Mr. Boggis </a:t>
            </a:r>
            <a:r>
              <a:rPr lang="en-US" altLang="en-US" sz="2000" b="1" dirty="0">
                <a:solidFill>
                  <a:srgbClr val="C00000">
                    <a:alpha val="0"/>
                  </a:srgbClr>
                </a:solidFill>
                <a:latin typeface="Calibri"/>
                <a:ea typeface="맑은 고딕"/>
                <a:cs typeface="Calibri"/>
              </a:rPr>
              <a:t>[ </a:t>
            </a:r>
            <a:r>
              <a:rPr lang="en-US" altLang="en-US" sz="2000" b="1" dirty="0">
                <a:solidFill>
                  <a:srgbClr val="C00000">
                    <a:alpha val="0"/>
                  </a:srgbClr>
                </a:solidFill>
                <a:latin typeface="Calibri"/>
                <a:ea typeface="맑은 고딕"/>
                <a:cs typeface="Calibri"/>
              </a:rPr>
              <a:t>was lied</a:t>
            </a:r>
            <a:r>
              <a:rPr lang="en-US" altLang="en-US" sz="2000" b="1" dirty="0">
                <a:solidFill>
                  <a:srgbClr val="C00000">
                    <a:alpha val="0"/>
                  </a:srgbClr>
                </a:solidFill>
                <a:latin typeface="Calibri"/>
                <a:ea typeface="맑은 고딕"/>
                <a:cs typeface="Calibri"/>
              </a:rPr>
              <a:t> / </a:t>
            </a:r>
            <a:r>
              <a:rPr lang="en-US" altLang="en-US" sz="2000" b="1" dirty="0">
                <a:solidFill>
                  <a:srgbClr val="C00000"/>
                </a:solidFill>
                <a:latin typeface="Calibri"/>
                <a:ea typeface="맑은 고딕"/>
                <a:cs typeface="Calibri"/>
              </a:rPr>
              <a:t>lied</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a:t>
            </a:r>
            <a:endParaRPr lang="ko-KR" sz="2000"/>
          </a:p>
        </p:txBody>
      </p:sp>
      <p:sp>
        <p:nvSpPr>
          <p:cNvPr id="16" name="rv_point_2"/>
          <p:cNvSpPr txBox="1"/>
          <p:nvPr/>
        </p:nvSpPr>
        <p:spPr>
          <a:xfrm>
            <a:off x="457200" y="3660393"/>
            <a:ext cx="11274552" cy="331978"/>
          </a:xfrm>
          <a:prstGeom prst="rect">
            <a:avLst/>
          </a:prstGeom>
          <a:noFill/>
        </p:spPr>
        <p:txBody>
          <a:bodyPr wrap="square" lIns="228600" tIns="54864" rIns="228600" bIns="54864" anchor="t" rtlCol="0">
            <a:noAutofit/>
          </a:bodyPr>
          <a:lstStyle/>
          <a:p>
            <a:pPr algn="l">
              <a:lnSpc>
                <a:spcPts val="1750"/>
              </a:lnSpc>
              <a:spcBef>
                <a:spcPts val="0"/>
              </a:spcBef>
              <a:spcAft>
                <a:spcPts val="0"/>
              </a:spcAft>
              <a:buNone/>
            </a:pPr>
            <a:r>
              <a:rPr lang="ko-KR" altLang="en-US" sz="1400" b="1" dirty="0">
                <a:solidFill>
                  <a:srgbClr val="C00000"/>
                </a:solidFill>
                <a:latin typeface="맑은 고딕"/>
                <a:ea typeface="맑은 고딕"/>
                <a:cs typeface="맑은 고딕"/>
              </a:rPr>
              <a:t>포인트  </a:t>
            </a:r>
            <a:r>
              <a:rPr lang="ko-KR" altLang="en-US" sz="1400" b="0" dirty="0">
                <a:solidFill>
                  <a:srgbClr val="2F5597"/>
                </a:solidFill>
                <a:latin typeface="맑은 고딕"/>
                <a:ea typeface="맑은 고딕"/>
                <a:cs typeface="맑은 고딕"/>
              </a:rPr>
              <a:t>수동태(능동/수동 구별) (자동사 lie는 수동태 불가)</a:t>
            </a:r>
            <a:endParaRPr lang="ko-KR" sz="1400"/>
          </a:p>
        </p:txBody>
      </p:sp>
      <p:sp>
        <p:nvSpPr>
          <p:cNvPr id="17" name="item_card_3"/>
          <p:cNvSpPr/>
          <p:nvPr/>
        </p:nvSpPr>
        <p:spPr>
          <a:xfrm>
            <a:off x="457200" y="4102099"/>
            <a:ext cx="11274552" cy="1516634"/>
          </a:xfrm>
          <a:prstGeom prst="roundRect">
            <a:avLst>
              <a:gd name="adj" fmla="val 6000"/>
            </a:avLst>
          </a:prstGeom>
          <a:solidFill>
            <a:srgbClr val="F3F5F9"/>
          </a:solidFill>
          <a:ln w="12700">
            <a:solidFill>
              <a:srgbClr val="D9DFEA"/>
            </a:solidFill>
          </a:ln>
        </p:spPr>
        <p:txBody>
          <a:bodyPr rtlCol="0" anchor="ctr"/>
          <a:lstStyle/>
          <a:p>
            <a:pPr algn="ctr"/>
          </a:p>
        </p:txBody>
      </p:sp>
      <p:sp>
        <p:nvSpPr>
          <p:cNvPr id="18" name="kor_3"/>
          <p:cNvSpPr txBox="1"/>
          <p:nvPr/>
        </p:nvSpPr>
        <p:spPr>
          <a:xfrm>
            <a:off x="457200" y="4211828"/>
            <a:ext cx="11274552" cy="363728"/>
          </a:xfrm>
          <a:prstGeom prst="rect">
            <a:avLst/>
          </a:prstGeom>
          <a:noFill/>
        </p:spPr>
        <p:txBody>
          <a:bodyPr wrap="square" lIns="228600" tIns="54864" rIns="228600" bIns="54864" anchor="t" rtlCol="0">
            <a:noAutofit/>
          </a:bodyPr>
          <a:lstStyle/>
          <a:p>
            <a:pPr algn="l">
              <a:lnSpc>
                <a:spcPts val="2000"/>
              </a:lnSpc>
              <a:spcBef>
                <a:spcPts val="0"/>
              </a:spcBef>
              <a:spcAft>
                <a:spcPts val="0"/>
              </a:spcAft>
              <a:buNone/>
            </a:pPr>
            <a:r>
              <a:rPr lang="en-US" altLang="en-US" sz="1600" b="1" dirty="0">
                <a:solidFill>
                  <a:srgbClr val="1E2A5A"/>
                </a:solidFill>
                <a:latin typeface="Calibri"/>
                <a:ea typeface="맑은 고딕"/>
                <a:cs typeface="Calibri"/>
              </a:rPr>
              <a:t>18.  </a:t>
            </a:r>
            <a:r>
              <a:rPr lang="ko-KR" altLang="en-US" sz="1600" b="0" dirty="0">
                <a:solidFill>
                  <a:srgbClr val="3C4558"/>
                </a:solidFill>
                <a:latin typeface="맑은 고딕"/>
                <a:ea typeface="맑은 고딕"/>
                <a:cs typeface="맑은 고딕"/>
              </a:rPr>
              <a:t>그러고는 시치미를 뚝 떼고 말했다. "이 탁자는 복제품이에요. 몇 파운드밖에 안 나가죠."</a:t>
            </a:r>
            <a:endParaRPr lang="ko-KR" sz="1600"/>
          </a:p>
        </p:txBody>
      </p:sp>
      <p:sp>
        <p:nvSpPr>
          <p:cNvPr id="19" name="eng_3"/>
          <p:cNvSpPr txBox="1"/>
          <p:nvPr/>
        </p:nvSpPr>
        <p:spPr>
          <a:xfrm>
            <a:off x="457200" y="4520692"/>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solidFill>
                <a:latin typeface="Calibri"/>
                <a:ea typeface="맑은 고딕"/>
                <a:cs typeface="Calibri"/>
              </a:rPr>
              <a:t>He then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said</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was said</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with a straight face, "This table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are</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is</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a reproduction. It’s worth only a few pounds."</a:t>
            </a:r>
            <a:endParaRPr lang="ko-KR" sz="2000"/>
          </a:p>
        </p:txBody>
      </p:sp>
      <p:sp>
        <p:nvSpPr>
          <p:cNvPr id="20" name="rv_eng_3"/>
          <p:cNvSpPr txBox="1"/>
          <p:nvPr/>
        </p:nvSpPr>
        <p:spPr>
          <a:xfrm>
            <a:off x="457200" y="4520692"/>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alpha val="0"/>
                  </a:srgbClr>
                </a:solidFill>
                <a:latin typeface="Calibri"/>
                <a:ea typeface="맑은 고딕"/>
                <a:cs typeface="Calibri"/>
              </a:rPr>
              <a:t>He then </a:t>
            </a:r>
            <a:r>
              <a:rPr lang="en-US" altLang="en-US" sz="2000" b="1" dirty="0">
                <a:solidFill>
                  <a:srgbClr val="C00000">
                    <a:alpha val="0"/>
                  </a:srgbClr>
                </a:solidFill>
                <a:latin typeface="Calibri"/>
                <a:ea typeface="맑은 고딕"/>
                <a:cs typeface="Calibri"/>
              </a:rPr>
              <a:t>[ </a:t>
            </a:r>
            <a:r>
              <a:rPr lang="en-US" altLang="en-US" sz="2000" b="1" dirty="0">
                <a:solidFill>
                  <a:srgbClr val="C00000"/>
                </a:solidFill>
                <a:latin typeface="Calibri"/>
                <a:ea typeface="맑은 고딕"/>
                <a:cs typeface="Calibri"/>
              </a:rPr>
              <a:t>said</a:t>
            </a:r>
            <a:r>
              <a:rPr lang="en-US" altLang="en-US" sz="2000" b="1" dirty="0">
                <a:solidFill>
                  <a:srgbClr val="C00000">
                    <a:alpha val="0"/>
                  </a:srgbClr>
                </a:solidFill>
                <a:latin typeface="Calibri"/>
                <a:ea typeface="맑은 고딕"/>
                <a:cs typeface="Calibri"/>
              </a:rPr>
              <a:t> / </a:t>
            </a:r>
            <a:r>
              <a:rPr lang="en-US" altLang="en-US" sz="2000" b="1" dirty="0">
                <a:solidFill>
                  <a:srgbClr val="C00000">
                    <a:alpha val="0"/>
                  </a:srgbClr>
                </a:solidFill>
                <a:latin typeface="Calibri"/>
                <a:ea typeface="맑은 고딕"/>
                <a:cs typeface="Calibri"/>
              </a:rPr>
              <a:t>was said</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with a straight face, "This table </a:t>
            </a:r>
            <a:r>
              <a:rPr lang="en-US" altLang="en-US" sz="2000" b="1" dirty="0">
                <a:solidFill>
                  <a:srgbClr val="C00000">
                    <a:alpha val="0"/>
                  </a:srgbClr>
                </a:solidFill>
                <a:latin typeface="Calibri"/>
                <a:ea typeface="맑은 고딕"/>
                <a:cs typeface="Calibri"/>
              </a:rPr>
              <a:t>[ </a:t>
            </a:r>
            <a:r>
              <a:rPr lang="en-US" altLang="en-US" sz="2000" b="1" dirty="0">
                <a:solidFill>
                  <a:srgbClr val="C00000">
                    <a:alpha val="0"/>
                  </a:srgbClr>
                </a:solidFill>
                <a:latin typeface="Calibri"/>
                <a:ea typeface="맑은 고딕"/>
                <a:cs typeface="Calibri"/>
              </a:rPr>
              <a:t>are</a:t>
            </a:r>
            <a:r>
              <a:rPr lang="en-US" altLang="en-US" sz="2000" b="1" dirty="0">
                <a:solidFill>
                  <a:srgbClr val="C00000">
                    <a:alpha val="0"/>
                  </a:srgbClr>
                </a:solidFill>
                <a:latin typeface="Calibri"/>
                <a:ea typeface="맑은 고딕"/>
                <a:cs typeface="Calibri"/>
              </a:rPr>
              <a:t> / </a:t>
            </a:r>
            <a:r>
              <a:rPr lang="en-US" altLang="en-US" sz="2000" b="1" dirty="0">
                <a:solidFill>
                  <a:srgbClr val="C00000"/>
                </a:solidFill>
                <a:latin typeface="Calibri"/>
                <a:ea typeface="맑은 고딕"/>
                <a:cs typeface="Calibri"/>
              </a:rPr>
              <a:t>is</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a reproduction. It’s worth only a few pounds."</a:t>
            </a:r>
            <a:endParaRPr lang="ko-KR" sz="2000"/>
          </a:p>
        </p:txBody>
      </p:sp>
      <p:sp>
        <p:nvSpPr>
          <p:cNvPr id="21" name="rv_point_3"/>
          <p:cNvSpPr txBox="1"/>
          <p:nvPr/>
        </p:nvSpPr>
        <p:spPr>
          <a:xfrm>
            <a:off x="457200" y="5286756"/>
            <a:ext cx="11274552" cy="331978"/>
          </a:xfrm>
          <a:prstGeom prst="rect">
            <a:avLst/>
          </a:prstGeom>
          <a:noFill/>
        </p:spPr>
        <p:txBody>
          <a:bodyPr wrap="square" lIns="228600" tIns="54864" rIns="228600" bIns="54864" anchor="t" rtlCol="0">
            <a:noAutofit/>
          </a:bodyPr>
          <a:lstStyle/>
          <a:p>
            <a:pPr algn="l">
              <a:lnSpc>
                <a:spcPts val="1750"/>
              </a:lnSpc>
              <a:spcBef>
                <a:spcPts val="0"/>
              </a:spcBef>
              <a:spcAft>
                <a:spcPts val="0"/>
              </a:spcAft>
              <a:buNone/>
            </a:pPr>
            <a:r>
              <a:rPr lang="ko-KR" altLang="en-US" sz="1400" b="1" dirty="0">
                <a:solidFill>
                  <a:srgbClr val="C00000"/>
                </a:solidFill>
                <a:latin typeface="맑은 고딕"/>
                <a:ea typeface="맑은 고딕"/>
                <a:cs typeface="맑은 고딕"/>
              </a:rPr>
              <a:t>포인트  </a:t>
            </a:r>
            <a:r>
              <a:rPr lang="ko-KR" altLang="en-US" sz="1400" b="0" dirty="0">
                <a:solidFill>
                  <a:srgbClr val="2F5597"/>
                </a:solidFill>
                <a:latin typeface="맑은 고딕"/>
                <a:ea typeface="맑은 고딕"/>
                <a:cs typeface="맑은 고딕"/>
              </a:rPr>
              <a:t>수동태(능동/수동 구별) (주어 He가 직접 말함 → 능동) · 동사의 수 일치 (주어 This table 단수)</a:t>
            </a:r>
            <a:endParaRPr lang="ko-KR" sz="1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25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250"/>
                                        <p:tgtEl>
                                          <p:spTgt spid="1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250"/>
                                        <p:tgtEl>
                                          <p:spTgt spid="1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fade">
                                      <p:cBhvr>
                                        <p:cTn id="16" dur="250"/>
                                        <p:tgtEl>
                                          <p:spTgt spid="1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250"/>
                                        <p:tgtEl>
                                          <p:spTgt spid="2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fade">
                                      <p:cBhvr>
                                        <p:cTn id="22" dur="25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5" grpId="0" animBg="1"/>
      <p:bldP spid="16" grpId="0" animBg="1"/>
      <p:bldP spid="20" grpId="0" animBg="1"/>
      <p:bldP spid="21" grpId="0" animBg="1"/>
    </p:bldLst>
  </p:timing>
</p:sld>
</file>

<file path=ppt/slides/slide1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8000"/>
            </a:avLst>
          </a:prstGeom>
          <a:solidFill>
            <a:srgbClr val="1E2A5A"/>
          </a:solidFill>
          <a:ln>
            <a:noFill/>
          </a:ln>
        </p:spPr>
        <p:txBody>
          <a:bodyPr wrap="square" lIns="45720" tIns="18288" rIns="45720" bIns="18288" anchor="ctr" rtlCol="0">
            <a:noAutofit/>
          </a:bodyPr>
          <a:lstStyle/>
          <a:p>
            <a:pPr algn="ctr">
              <a:lnSpc>
                <a:spcPts val="2000"/>
              </a:lnSpc>
              <a:spcBef>
                <a:spcPts val="0"/>
              </a:spcBef>
              <a:spcAft>
                <a:spcPts val="0"/>
              </a:spcAft>
              <a:buNone/>
            </a:pPr>
            <a:r>
              <a:rPr lang="en-US" altLang="en-US" sz="1700" b="1" dirty="0">
                <a:solidFill>
                  <a:srgbClr val="FFFFFF"/>
                </a:solidFill>
                <a:latin typeface="Calibri"/>
                <a:ea typeface="맑은 고딕"/>
                <a:cs typeface="Calibri"/>
              </a:rPr>
              <a:t>L6</a:t>
            </a:r>
            <a:endParaRPr lang="ko-KR" sz="1700"/>
          </a:p>
        </p:txBody>
      </p:sp>
      <p:sp>
        <p:nvSpPr>
          <p:cNvPr id="3" name="hdr_chip"/>
          <p:cNvSpPr/>
          <p:nvPr/>
        </p:nvSpPr>
        <p:spPr>
          <a:xfrm>
            <a:off x="1755648" y="274320"/>
            <a:ext cx="1371600" cy="493776"/>
          </a:xfrm>
          <a:prstGeom prst="roundRect">
            <a:avLst>
              <a:gd name="adj" fmla="val 8000"/>
            </a:avLst>
          </a:prstGeom>
          <a:solidFill>
            <a:srgbClr val="E6EAF4"/>
          </a:solidFill>
          <a:ln>
            <a:noFill/>
          </a:ln>
        </p:spPr>
        <p:txBody>
          <a:bodyPr wrap="square" lIns="27432" tIns="18288" rIns="27432" bIns="18288" anchor="ctr" rtlCol="0">
            <a:noAutofit/>
          </a:bodyPr>
          <a:lstStyle/>
          <a:p>
            <a:pPr algn="ctr">
              <a:lnSpc>
                <a:spcPts val="1700"/>
              </a:lnSpc>
              <a:spcBef>
                <a:spcPts val="0"/>
              </a:spcBef>
              <a:spcAft>
                <a:spcPts val="0"/>
              </a:spcAft>
              <a:buNone/>
            </a:pPr>
            <a:r>
              <a:rPr lang="ko-KR" altLang="en-US" sz="1400" b="1" dirty="0">
                <a:solidFill>
                  <a:srgbClr val="1E2A5A"/>
                </a:solidFill>
                <a:latin typeface="맑은 고딕"/>
                <a:ea typeface="맑은 고딕"/>
                <a:cs typeface="맑은 고딕"/>
              </a:rPr>
              <a:t>PART 5 · 7</a:t>
            </a:r>
            <a:endParaRPr lang="ko-KR" sz="1400"/>
          </a:p>
        </p:txBody>
      </p:sp>
      <p:sp>
        <p:nvSpPr>
          <p:cNvPr id="4" name="hdr_q"/>
          <p:cNvSpPr txBox="1"/>
          <p:nvPr/>
        </p:nvSpPr>
        <p:spPr>
          <a:xfrm>
            <a:off x="3246120" y="246888"/>
            <a:ext cx="8485632" cy="548640"/>
          </a:xfrm>
          <a:prstGeom prst="rect">
            <a:avLst/>
          </a:prstGeom>
          <a:noFill/>
        </p:spPr>
        <p:txBody>
          <a:bodyPr wrap="square" lIns="109728" tIns="54864" rIns="109728" bIns="54864" anchor="ctr" rtlCol="0">
            <a:noAutofit/>
          </a:bodyPr>
          <a:lstStyle/>
          <a:p>
            <a:pPr algn="l">
              <a:lnSpc>
                <a:spcPts val="2400"/>
              </a:lnSpc>
              <a:spcBef>
                <a:spcPts val="0"/>
              </a:spcBef>
              <a:spcAft>
                <a:spcPts val="0"/>
              </a:spcAft>
              <a:buNone/>
            </a:pPr>
            <a:r>
              <a:rPr lang="ko-KR" altLang="en-US" sz="2000" b="1" dirty="0">
                <a:solidFill>
                  <a:srgbClr val="1F2328"/>
                </a:solidFill>
                <a:latin typeface="맑은 고딕"/>
                <a:ea typeface="맑은 고딕"/>
                <a:cs typeface="맑은 고딕"/>
              </a:rPr>
              <a:t>[  ] 안에서 어법상 알맞은 것을 고르시오.</a:t>
            </a:r>
            <a:endParaRPr lang="ko-KR" sz="2000"/>
          </a:p>
        </p:txBody>
      </p:sp>
      <p:sp>
        <p:nvSpPr>
          <p:cNvPr id="5" name="ftr_exam"/>
          <p:cNvSpPr txBox="1"/>
          <p:nvPr/>
        </p:nvSpPr>
        <p:spPr>
          <a:xfrm>
            <a:off x="457200" y="6519672"/>
            <a:ext cx="5669280" cy="256032"/>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6</a:t>
            </a:r>
            <a:endParaRPr lang="ko-KR" sz="1000"/>
          </a:p>
        </p:txBody>
      </p:sp>
      <p:sp>
        <p:nvSpPr>
          <p:cNvPr id="6" name="ftr_hint"/>
          <p:cNvSpPr txBox="1"/>
          <p:nvPr/>
        </p:nvSpPr>
        <p:spPr>
          <a:xfrm>
            <a:off x="5971032" y="6519672"/>
            <a:ext cx="5760720" cy="256032"/>
          </a:xfrm>
          <a:prstGeom prst="rect">
            <a:avLst/>
          </a:prstGeom>
          <a:noFill/>
        </p:spPr>
        <p:txBody>
          <a:bodyPr wrap="square" lIns="0" tIns="0" rIns="0" bIns="0" anchor="t" rtlCol="0">
            <a:noAutofit/>
          </a:bodyPr>
          <a:lstStyle/>
          <a:p>
            <a:pPr algn="r">
              <a:lnSpc>
                <a:spcPts val="1200"/>
              </a:lnSpc>
              <a:spcBef>
                <a:spcPts val="0"/>
              </a:spcBef>
              <a:spcAft>
                <a:spcPts val="0"/>
              </a:spcAft>
              <a:buNone/>
            </a:pPr>
            <a:r>
              <a:rPr lang="ko-KR" altLang="en-US" sz="1000" b="0" dirty="0">
                <a:solidFill>
                  <a:srgbClr val="7A808C"/>
                </a:solidFill>
                <a:latin typeface="맑은 고딕"/>
                <a:ea typeface="맑은 고딕"/>
                <a:cs typeface="맑은 고딕"/>
              </a:rPr>
              <a:t>클릭 ① 정답(빨간색) + 문법 포인트 공개</a:t>
            </a:r>
            <a:endParaRPr lang="ko-KR" sz="1000"/>
          </a:p>
        </p:txBody>
      </p:sp>
      <p:sp>
        <p:nvSpPr>
          <p:cNvPr id="7" name="item_card_1"/>
          <p:cNvSpPr/>
          <p:nvPr/>
        </p:nvSpPr>
        <p:spPr>
          <a:xfrm>
            <a:off x="457200" y="950976"/>
            <a:ext cx="11274552" cy="2348484"/>
          </a:xfrm>
          <a:prstGeom prst="roundRect">
            <a:avLst>
              <a:gd name="adj" fmla="val 6000"/>
            </a:avLst>
          </a:prstGeom>
          <a:solidFill>
            <a:srgbClr val="F3F5F9"/>
          </a:solidFill>
          <a:ln w="12700">
            <a:solidFill>
              <a:srgbClr val="D9DFEA"/>
            </a:solidFill>
          </a:ln>
        </p:spPr>
        <p:txBody>
          <a:bodyPr rtlCol="0" anchor="ctr"/>
          <a:lstStyle/>
          <a:p>
            <a:pPr algn="ctr"/>
          </a:p>
        </p:txBody>
      </p:sp>
      <p:sp>
        <p:nvSpPr>
          <p:cNvPr id="8" name="kor_1"/>
          <p:cNvSpPr txBox="1"/>
          <p:nvPr/>
        </p:nvSpPr>
        <p:spPr>
          <a:xfrm>
            <a:off x="457200" y="1060704"/>
            <a:ext cx="11274552" cy="617728"/>
          </a:xfrm>
          <a:prstGeom prst="rect">
            <a:avLst/>
          </a:prstGeom>
          <a:noFill/>
        </p:spPr>
        <p:txBody>
          <a:bodyPr wrap="square" lIns="228600" tIns="54864" rIns="228600" bIns="54864" anchor="t" rtlCol="0">
            <a:noAutofit/>
          </a:bodyPr>
          <a:lstStyle/>
          <a:p>
            <a:pPr algn="l">
              <a:lnSpc>
                <a:spcPts val="2000"/>
              </a:lnSpc>
              <a:spcBef>
                <a:spcPts val="0"/>
              </a:spcBef>
              <a:spcAft>
                <a:spcPts val="0"/>
              </a:spcAft>
              <a:buNone/>
            </a:pPr>
            <a:r>
              <a:rPr lang="en-US" altLang="en-US" sz="1600" b="1" dirty="0">
                <a:solidFill>
                  <a:srgbClr val="1E2A5A"/>
                </a:solidFill>
                <a:latin typeface="Calibri"/>
                <a:ea typeface="맑은 고딕"/>
                <a:cs typeface="Calibri"/>
              </a:rPr>
              <a:t>19.  </a:t>
            </a:r>
            <a:r>
              <a:rPr lang="ko-KR" altLang="en-US" sz="1600" b="0" dirty="0">
                <a:solidFill>
                  <a:srgbClr val="3C4558"/>
                </a:solidFill>
                <a:latin typeface="맑은 고딕"/>
                <a:ea typeface="맑은 고딕"/>
                <a:cs typeface="맑은 고딕"/>
              </a:rPr>
              <a:t>그는 이렇게 덧붙였다. "흠, 사 갈까 싶네요. 집에 있는 제 탁자 다리가 부러졌거든요. 댁의 탁자 다리를 잘라서 제 탁자에 붙이면 되겠어요."</a:t>
            </a:r>
            <a:endParaRPr lang="ko-KR" sz="1600"/>
          </a:p>
        </p:txBody>
      </p:sp>
      <p:sp>
        <p:nvSpPr>
          <p:cNvPr id="9" name="eng_1"/>
          <p:cNvSpPr txBox="1"/>
          <p:nvPr/>
        </p:nvSpPr>
        <p:spPr>
          <a:xfrm>
            <a:off x="457200" y="1623568"/>
            <a:ext cx="11274552" cy="11765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solidFill>
                <a:latin typeface="Calibri"/>
                <a:ea typeface="맑은 고딕"/>
                <a:cs typeface="Calibri"/>
              </a:rPr>
              <a:t>He then added, "Hmm, I think I may buy it. The legs of my table at home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is</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are</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broken</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breaking</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I can cut off the legs of your table and attach them to mine."</a:t>
            </a:r>
            <a:endParaRPr lang="ko-KR" sz="2000"/>
          </a:p>
        </p:txBody>
      </p:sp>
      <p:sp>
        <p:nvSpPr>
          <p:cNvPr id="10" name="rv_eng_1"/>
          <p:cNvSpPr txBox="1"/>
          <p:nvPr/>
        </p:nvSpPr>
        <p:spPr>
          <a:xfrm>
            <a:off x="457200" y="1623568"/>
            <a:ext cx="11274552" cy="11765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alpha val="0"/>
                  </a:srgbClr>
                </a:solidFill>
                <a:latin typeface="Calibri"/>
                <a:ea typeface="맑은 고딕"/>
                <a:cs typeface="Calibri"/>
              </a:rPr>
              <a:t>He then added, "Hmm, I think I may buy it. The legs of my table at home </a:t>
            </a:r>
            <a:r>
              <a:rPr lang="en-US" altLang="en-US" sz="2000" b="1" dirty="0">
                <a:solidFill>
                  <a:srgbClr val="C00000">
                    <a:alpha val="0"/>
                  </a:srgbClr>
                </a:solidFill>
                <a:latin typeface="Calibri"/>
                <a:ea typeface="맑은 고딕"/>
                <a:cs typeface="Calibri"/>
              </a:rPr>
              <a:t>[ </a:t>
            </a:r>
            <a:r>
              <a:rPr lang="en-US" altLang="en-US" sz="2000" b="1" dirty="0">
                <a:solidFill>
                  <a:srgbClr val="C00000">
                    <a:alpha val="0"/>
                  </a:srgbClr>
                </a:solidFill>
                <a:latin typeface="Calibri"/>
                <a:ea typeface="맑은 고딕"/>
                <a:cs typeface="Calibri"/>
              </a:rPr>
              <a:t>is</a:t>
            </a:r>
            <a:r>
              <a:rPr lang="en-US" altLang="en-US" sz="2000" b="1" dirty="0">
                <a:solidFill>
                  <a:srgbClr val="C00000">
                    <a:alpha val="0"/>
                  </a:srgbClr>
                </a:solidFill>
                <a:latin typeface="Calibri"/>
                <a:ea typeface="맑은 고딕"/>
                <a:cs typeface="Calibri"/>
              </a:rPr>
              <a:t> / </a:t>
            </a:r>
            <a:r>
              <a:rPr lang="en-US" altLang="en-US" sz="2000" b="1" dirty="0">
                <a:solidFill>
                  <a:srgbClr val="C00000"/>
                </a:solidFill>
                <a:latin typeface="Calibri"/>
                <a:ea typeface="맑은 고딕"/>
                <a:cs typeface="Calibri"/>
              </a:rPr>
              <a:t>are</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a:t>
            </a:r>
            <a:r>
              <a:rPr lang="en-US" altLang="en-US" sz="2000" b="1" dirty="0">
                <a:solidFill>
                  <a:srgbClr val="C00000">
                    <a:alpha val="0"/>
                  </a:srgbClr>
                </a:solidFill>
                <a:latin typeface="Calibri"/>
                <a:ea typeface="맑은 고딕"/>
                <a:cs typeface="Calibri"/>
              </a:rPr>
              <a:t>[ </a:t>
            </a:r>
            <a:r>
              <a:rPr lang="en-US" altLang="en-US" sz="2000" b="1" dirty="0">
                <a:solidFill>
                  <a:srgbClr val="C00000"/>
                </a:solidFill>
                <a:latin typeface="Calibri"/>
                <a:ea typeface="맑은 고딕"/>
                <a:cs typeface="Calibri"/>
              </a:rPr>
              <a:t>broken</a:t>
            </a:r>
            <a:r>
              <a:rPr lang="en-US" altLang="en-US" sz="2000" b="1" dirty="0">
                <a:solidFill>
                  <a:srgbClr val="C00000">
                    <a:alpha val="0"/>
                  </a:srgbClr>
                </a:solidFill>
                <a:latin typeface="Calibri"/>
                <a:ea typeface="맑은 고딕"/>
                <a:cs typeface="Calibri"/>
              </a:rPr>
              <a:t> / </a:t>
            </a:r>
            <a:r>
              <a:rPr lang="en-US" altLang="en-US" sz="2000" b="1" dirty="0">
                <a:solidFill>
                  <a:srgbClr val="C00000">
                    <a:alpha val="0"/>
                  </a:srgbClr>
                </a:solidFill>
                <a:latin typeface="Calibri"/>
                <a:ea typeface="맑은 고딕"/>
                <a:cs typeface="Calibri"/>
              </a:rPr>
              <a:t>breaking</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I can cut off the legs of your table and attach them to mine."</a:t>
            </a:r>
            <a:endParaRPr lang="ko-KR" sz="2000"/>
          </a:p>
        </p:txBody>
      </p:sp>
      <p:sp>
        <p:nvSpPr>
          <p:cNvPr id="11" name="rv_point_1"/>
          <p:cNvSpPr txBox="1"/>
          <p:nvPr/>
        </p:nvSpPr>
        <p:spPr>
          <a:xfrm>
            <a:off x="457200" y="2745232"/>
            <a:ext cx="11274552" cy="554227"/>
          </a:xfrm>
          <a:prstGeom prst="rect">
            <a:avLst/>
          </a:prstGeom>
          <a:noFill/>
        </p:spPr>
        <p:txBody>
          <a:bodyPr wrap="square" lIns="228600" tIns="54864" rIns="228600" bIns="54864" anchor="t" rtlCol="0">
            <a:noAutofit/>
          </a:bodyPr>
          <a:lstStyle/>
          <a:p>
            <a:pPr algn="l">
              <a:lnSpc>
                <a:spcPts val="1750"/>
              </a:lnSpc>
              <a:spcBef>
                <a:spcPts val="0"/>
              </a:spcBef>
              <a:spcAft>
                <a:spcPts val="0"/>
              </a:spcAft>
              <a:buNone/>
            </a:pPr>
            <a:r>
              <a:rPr lang="ko-KR" altLang="en-US" sz="1400" b="1" dirty="0">
                <a:solidFill>
                  <a:srgbClr val="C00000"/>
                </a:solidFill>
                <a:latin typeface="맑은 고딕"/>
                <a:ea typeface="맑은 고딕"/>
                <a:cs typeface="맑은 고딕"/>
              </a:rPr>
              <a:t>포인트  </a:t>
            </a:r>
            <a:r>
              <a:rPr lang="ko-KR" altLang="en-US" sz="1400" b="0" dirty="0">
                <a:solidFill>
                  <a:srgbClr val="2F5597"/>
                </a:solidFill>
                <a:latin typeface="맑은 고딕"/>
                <a:ea typeface="맑은 고딕"/>
                <a:cs typeface="맑은 고딕"/>
              </a:rPr>
              <a:t>동사의 수 일치 (주어 The legs 복수, of ~는 수식어) · 수동태(능동/수동 구별) (다리가 '부러진' 상태 → be + p.p.)</a:t>
            </a:r>
            <a:endParaRPr lang="ko-KR" sz="1400"/>
          </a:p>
        </p:txBody>
      </p:sp>
      <p:sp>
        <p:nvSpPr>
          <p:cNvPr id="12" name="item_card_2"/>
          <p:cNvSpPr/>
          <p:nvPr/>
        </p:nvSpPr>
        <p:spPr>
          <a:xfrm>
            <a:off x="457200" y="3409188"/>
            <a:ext cx="11274552" cy="1770633"/>
          </a:xfrm>
          <a:prstGeom prst="roundRect">
            <a:avLst>
              <a:gd name="adj" fmla="val 6000"/>
            </a:avLst>
          </a:prstGeom>
          <a:solidFill>
            <a:srgbClr val="F3F5F9"/>
          </a:solidFill>
          <a:ln w="12700">
            <a:solidFill>
              <a:srgbClr val="D9DFEA"/>
            </a:solidFill>
          </a:ln>
        </p:spPr>
        <p:txBody>
          <a:bodyPr rtlCol="0" anchor="ctr"/>
          <a:lstStyle/>
          <a:p>
            <a:pPr algn="ctr"/>
          </a:p>
        </p:txBody>
      </p:sp>
      <p:sp>
        <p:nvSpPr>
          <p:cNvPr id="13" name="kor_2"/>
          <p:cNvSpPr txBox="1"/>
          <p:nvPr/>
        </p:nvSpPr>
        <p:spPr>
          <a:xfrm>
            <a:off x="457200" y="3518916"/>
            <a:ext cx="11274552" cy="617728"/>
          </a:xfrm>
          <a:prstGeom prst="rect">
            <a:avLst/>
          </a:prstGeom>
          <a:noFill/>
        </p:spPr>
        <p:txBody>
          <a:bodyPr wrap="square" lIns="228600" tIns="54864" rIns="228600" bIns="54864" anchor="t" rtlCol="0">
            <a:noAutofit/>
          </a:bodyPr>
          <a:lstStyle/>
          <a:p>
            <a:pPr algn="l">
              <a:lnSpc>
                <a:spcPts val="2000"/>
              </a:lnSpc>
              <a:spcBef>
                <a:spcPts val="0"/>
              </a:spcBef>
              <a:spcAft>
                <a:spcPts val="0"/>
              </a:spcAft>
              <a:buNone/>
            </a:pPr>
            <a:r>
              <a:rPr lang="en-US" altLang="en-US" sz="1600" b="1" dirty="0">
                <a:solidFill>
                  <a:srgbClr val="1E2A5A"/>
                </a:solidFill>
                <a:latin typeface="Calibri"/>
                <a:ea typeface="맑은 고딕"/>
                <a:cs typeface="Calibri"/>
              </a:rPr>
              <a:t>20.  </a:t>
            </a:r>
            <a:r>
              <a:rPr lang="ko-KR" altLang="en-US" sz="1600" b="0" dirty="0">
                <a:solidFill>
                  <a:srgbClr val="3C4558"/>
                </a:solidFill>
                <a:latin typeface="맑은 고딕"/>
                <a:ea typeface="맑은 고딕"/>
                <a:cs typeface="맑은 고딕"/>
              </a:rPr>
              <a:t>"얼마 쳐 줄 건데요?" 러민스가 물었다. "많이는 못 드려요. 그냥 복제품이니까요." 보기스 씨가 대답했다.</a:t>
            </a:r>
            <a:endParaRPr lang="ko-KR" sz="1600"/>
          </a:p>
        </p:txBody>
      </p:sp>
      <p:sp>
        <p:nvSpPr>
          <p:cNvPr id="14" name="eng_2"/>
          <p:cNvSpPr txBox="1"/>
          <p:nvPr/>
        </p:nvSpPr>
        <p:spPr>
          <a:xfrm>
            <a:off x="457200" y="4081780"/>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solidFill>
                <a:latin typeface="Calibri"/>
                <a:ea typeface="맑은 고딕"/>
                <a:cs typeface="Calibri"/>
              </a:rPr>
              <a:t>"How much?" Rummins asked. "Not much, I’m afraid. This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is</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are</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just a reproduction,"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was said</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said</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Mr. Boggis.</a:t>
            </a:r>
            <a:endParaRPr lang="ko-KR" sz="2000"/>
          </a:p>
        </p:txBody>
      </p:sp>
      <p:sp>
        <p:nvSpPr>
          <p:cNvPr id="15" name="rv_eng_2"/>
          <p:cNvSpPr txBox="1"/>
          <p:nvPr/>
        </p:nvSpPr>
        <p:spPr>
          <a:xfrm>
            <a:off x="457200" y="4081780"/>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alpha val="0"/>
                  </a:srgbClr>
                </a:solidFill>
                <a:latin typeface="Calibri"/>
                <a:ea typeface="맑은 고딕"/>
                <a:cs typeface="Calibri"/>
              </a:rPr>
              <a:t>"How much?" Rummins asked. "Not much, I’m afraid. This </a:t>
            </a:r>
            <a:r>
              <a:rPr lang="en-US" altLang="en-US" sz="2000" b="1" dirty="0">
                <a:solidFill>
                  <a:srgbClr val="C00000">
                    <a:alpha val="0"/>
                  </a:srgbClr>
                </a:solidFill>
                <a:latin typeface="Calibri"/>
                <a:ea typeface="맑은 고딕"/>
                <a:cs typeface="Calibri"/>
              </a:rPr>
              <a:t>[ </a:t>
            </a:r>
            <a:r>
              <a:rPr lang="en-US" altLang="en-US" sz="2000" b="1" dirty="0">
                <a:solidFill>
                  <a:srgbClr val="C00000"/>
                </a:solidFill>
                <a:latin typeface="Calibri"/>
                <a:ea typeface="맑은 고딕"/>
                <a:cs typeface="Calibri"/>
              </a:rPr>
              <a:t>is</a:t>
            </a:r>
            <a:r>
              <a:rPr lang="en-US" altLang="en-US" sz="2000" b="1" dirty="0">
                <a:solidFill>
                  <a:srgbClr val="C00000">
                    <a:alpha val="0"/>
                  </a:srgbClr>
                </a:solidFill>
                <a:latin typeface="Calibri"/>
                <a:ea typeface="맑은 고딕"/>
                <a:cs typeface="Calibri"/>
              </a:rPr>
              <a:t> / </a:t>
            </a:r>
            <a:r>
              <a:rPr lang="en-US" altLang="en-US" sz="2000" b="1" dirty="0">
                <a:solidFill>
                  <a:srgbClr val="C00000">
                    <a:alpha val="0"/>
                  </a:srgbClr>
                </a:solidFill>
                <a:latin typeface="Calibri"/>
                <a:ea typeface="맑은 고딕"/>
                <a:cs typeface="Calibri"/>
              </a:rPr>
              <a:t>are</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just a reproduction," </a:t>
            </a:r>
            <a:r>
              <a:rPr lang="en-US" altLang="en-US" sz="2000" b="1" dirty="0">
                <a:solidFill>
                  <a:srgbClr val="C00000">
                    <a:alpha val="0"/>
                  </a:srgbClr>
                </a:solidFill>
                <a:latin typeface="Calibri"/>
                <a:ea typeface="맑은 고딕"/>
                <a:cs typeface="Calibri"/>
              </a:rPr>
              <a:t>[ </a:t>
            </a:r>
            <a:r>
              <a:rPr lang="en-US" altLang="en-US" sz="2000" b="1" dirty="0">
                <a:solidFill>
                  <a:srgbClr val="C00000">
                    <a:alpha val="0"/>
                  </a:srgbClr>
                </a:solidFill>
                <a:latin typeface="Calibri"/>
                <a:ea typeface="맑은 고딕"/>
                <a:cs typeface="Calibri"/>
              </a:rPr>
              <a:t>was said</a:t>
            </a:r>
            <a:r>
              <a:rPr lang="en-US" altLang="en-US" sz="2000" b="1" dirty="0">
                <a:solidFill>
                  <a:srgbClr val="C00000">
                    <a:alpha val="0"/>
                  </a:srgbClr>
                </a:solidFill>
                <a:latin typeface="Calibri"/>
                <a:ea typeface="맑은 고딕"/>
                <a:cs typeface="Calibri"/>
              </a:rPr>
              <a:t> / </a:t>
            </a:r>
            <a:r>
              <a:rPr lang="en-US" altLang="en-US" sz="2000" b="1" dirty="0">
                <a:solidFill>
                  <a:srgbClr val="C00000"/>
                </a:solidFill>
                <a:latin typeface="Calibri"/>
                <a:ea typeface="맑은 고딕"/>
                <a:cs typeface="Calibri"/>
              </a:rPr>
              <a:t>said</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Mr. Boggis.</a:t>
            </a:r>
            <a:endParaRPr lang="ko-KR" sz="2000"/>
          </a:p>
        </p:txBody>
      </p:sp>
      <p:sp>
        <p:nvSpPr>
          <p:cNvPr id="16" name="rv_point_2"/>
          <p:cNvSpPr txBox="1"/>
          <p:nvPr/>
        </p:nvSpPr>
        <p:spPr>
          <a:xfrm>
            <a:off x="457200" y="4847844"/>
            <a:ext cx="11274552" cy="331978"/>
          </a:xfrm>
          <a:prstGeom prst="rect">
            <a:avLst/>
          </a:prstGeom>
          <a:noFill/>
        </p:spPr>
        <p:txBody>
          <a:bodyPr wrap="square" lIns="228600" tIns="54864" rIns="228600" bIns="54864" anchor="t" rtlCol="0">
            <a:noAutofit/>
          </a:bodyPr>
          <a:lstStyle/>
          <a:p>
            <a:pPr algn="l">
              <a:lnSpc>
                <a:spcPts val="1750"/>
              </a:lnSpc>
              <a:spcBef>
                <a:spcPts val="0"/>
              </a:spcBef>
              <a:spcAft>
                <a:spcPts val="0"/>
              </a:spcAft>
              <a:buNone/>
            </a:pPr>
            <a:r>
              <a:rPr lang="ko-KR" altLang="en-US" sz="1400" b="1" dirty="0">
                <a:solidFill>
                  <a:srgbClr val="C00000"/>
                </a:solidFill>
                <a:latin typeface="맑은 고딕"/>
                <a:ea typeface="맑은 고딕"/>
                <a:cs typeface="맑은 고딕"/>
              </a:rPr>
              <a:t>포인트  </a:t>
            </a:r>
            <a:r>
              <a:rPr lang="ko-KR" altLang="en-US" sz="1400" b="0" dirty="0">
                <a:solidFill>
                  <a:srgbClr val="2F5597"/>
                </a:solidFill>
                <a:latin typeface="맑은 고딕"/>
                <a:ea typeface="맑은 고딕"/>
                <a:cs typeface="맑은 고딕"/>
              </a:rPr>
              <a:t>동사의 수 일치 (주어 This 단수) · 수동태(능동/수동 구별) (주어 Mr. Boggis가 직접 말함 → 능동)</a:t>
            </a:r>
            <a:endParaRPr lang="ko-KR" sz="1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25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250"/>
                                        <p:tgtEl>
                                          <p:spTgt spid="1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250"/>
                                        <p:tgtEl>
                                          <p:spTgt spid="1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fade">
                                      <p:cBhvr>
                                        <p:cTn id="16" dur="25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5" grpId="0" animBg="1"/>
      <p:bldP spid="16" grpId="0" animBg="1"/>
    </p:bldLst>
  </p:timing>
</p:sld>
</file>

<file path=ppt/slides/slide1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8000"/>
            </a:avLst>
          </a:prstGeom>
          <a:solidFill>
            <a:srgbClr val="1E2A5A"/>
          </a:solidFill>
          <a:ln>
            <a:noFill/>
          </a:ln>
        </p:spPr>
        <p:txBody>
          <a:bodyPr wrap="square" lIns="45720" tIns="18288" rIns="45720" bIns="18288" anchor="ctr" rtlCol="0">
            <a:noAutofit/>
          </a:bodyPr>
          <a:lstStyle/>
          <a:p>
            <a:pPr algn="ctr">
              <a:lnSpc>
                <a:spcPts val="2000"/>
              </a:lnSpc>
              <a:spcBef>
                <a:spcPts val="0"/>
              </a:spcBef>
              <a:spcAft>
                <a:spcPts val="0"/>
              </a:spcAft>
              <a:buNone/>
            </a:pPr>
            <a:r>
              <a:rPr lang="en-US" altLang="en-US" sz="1700" b="1" dirty="0">
                <a:solidFill>
                  <a:srgbClr val="FFFFFF"/>
                </a:solidFill>
                <a:latin typeface="Calibri"/>
                <a:ea typeface="맑은 고딕"/>
                <a:cs typeface="Calibri"/>
              </a:rPr>
              <a:t>L6</a:t>
            </a:r>
            <a:endParaRPr lang="ko-KR" sz="1700"/>
          </a:p>
        </p:txBody>
      </p:sp>
      <p:sp>
        <p:nvSpPr>
          <p:cNvPr id="3" name="hdr_chip"/>
          <p:cNvSpPr/>
          <p:nvPr/>
        </p:nvSpPr>
        <p:spPr>
          <a:xfrm>
            <a:off x="1755648" y="274320"/>
            <a:ext cx="1371600" cy="493776"/>
          </a:xfrm>
          <a:prstGeom prst="roundRect">
            <a:avLst>
              <a:gd name="adj" fmla="val 8000"/>
            </a:avLst>
          </a:prstGeom>
          <a:solidFill>
            <a:srgbClr val="E6EAF4"/>
          </a:solidFill>
          <a:ln>
            <a:noFill/>
          </a:ln>
        </p:spPr>
        <p:txBody>
          <a:bodyPr wrap="square" lIns="27432" tIns="18288" rIns="27432" bIns="18288" anchor="ctr" rtlCol="0">
            <a:noAutofit/>
          </a:bodyPr>
          <a:lstStyle/>
          <a:p>
            <a:pPr algn="ctr">
              <a:lnSpc>
                <a:spcPts val="1700"/>
              </a:lnSpc>
              <a:spcBef>
                <a:spcPts val="0"/>
              </a:spcBef>
              <a:spcAft>
                <a:spcPts val="0"/>
              </a:spcAft>
              <a:buNone/>
            </a:pPr>
            <a:r>
              <a:rPr lang="ko-KR" altLang="en-US" sz="1400" b="1" dirty="0">
                <a:solidFill>
                  <a:srgbClr val="1E2A5A"/>
                </a:solidFill>
                <a:latin typeface="맑은 고딕"/>
                <a:ea typeface="맑은 고딕"/>
                <a:cs typeface="맑은 고딕"/>
              </a:rPr>
              <a:t>PART 5 · 8</a:t>
            </a:r>
            <a:endParaRPr lang="ko-KR" sz="1400"/>
          </a:p>
        </p:txBody>
      </p:sp>
      <p:sp>
        <p:nvSpPr>
          <p:cNvPr id="4" name="hdr_q"/>
          <p:cNvSpPr txBox="1"/>
          <p:nvPr/>
        </p:nvSpPr>
        <p:spPr>
          <a:xfrm>
            <a:off x="3246120" y="246888"/>
            <a:ext cx="8485632" cy="548640"/>
          </a:xfrm>
          <a:prstGeom prst="rect">
            <a:avLst/>
          </a:prstGeom>
          <a:noFill/>
        </p:spPr>
        <p:txBody>
          <a:bodyPr wrap="square" lIns="109728" tIns="54864" rIns="109728" bIns="54864" anchor="ctr" rtlCol="0">
            <a:noAutofit/>
          </a:bodyPr>
          <a:lstStyle/>
          <a:p>
            <a:pPr algn="l">
              <a:lnSpc>
                <a:spcPts val="2400"/>
              </a:lnSpc>
              <a:spcBef>
                <a:spcPts val="0"/>
              </a:spcBef>
              <a:spcAft>
                <a:spcPts val="0"/>
              </a:spcAft>
              <a:buNone/>
            </a:pPr>
            <a:r>
              <a:rPr lang="ko-KR" altLang="en-US" sz="2000" b="1" dirty="0">
                <a:solidFill>
                  <a:srgbClr val="1F2328"/>
                </a:solidFill>
                <a:latin typeface="맑은 고딕"/>
                <a:ea typeface="맑은 고딕"/>
                <a:cs typeface="맑은 고딕"/>
              </a:rPr>
              <a:t>[  ] 안에서 어법상 알맞은 것을 고르시오.</a:t>
            </a:r>
            <a:endParaRPr lang="ko-KR" sz="2000"/>
          </a:p>
        </p:txBody>
      </p:sp>
      <p:sp>
        <p:nvSpPr>
          <p:cNvPr id="5" name="ftr_exam"/>
          <p:cNvSpPr txBox="1"/>
          <p:nvPr/>
        </p:nvSpPr>
        <p:spPr>
          <a:xfrm>
            <a:off x="457200" y="6519672"/>
            <a:ext cx="5669280" cy="256032"/>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6</a:t>
            </a:r>
            <a:endParaRPr lang="ko-KR" sz="1000"/>
          </a:p>
        </p:txBody>
      </p:sp>
      <p:sp>
        <p:nvSpPr>
          <p:cNvPr id="6" name="ftr_hint"/>
          <p:cNvSpPr txBox="1"/>
          <p:nvPr/>
        </p:nvSpPr>
        <p:spPr>
          <a:xfrm>
            <a:off x="5971032" y="6519672"/>
            <a:ext cx="5760720" cy="256032"/>
          </a:xfrm>
          <a:prstGeom prst="rect">
            <a:avLst/>
          </a:prstGeom>
          <a:noFill/>
        </p:spPr>
        <p:txBody>
          <a:bodyPr wrap="square" lIns="0" tIns="0" rIns="0" bIns="0" anchor="t" rtlCol="0">
            <a:noAutofit/>
          </a:bodyPr>
          <a:lstStyle/>
          <a:p>
            <a:pPr algn="r">
              <a:lnSpc>
                <a:spcPts val="1200"/>
              </a:lnSpc>
              <a:spcBef>
                <a:spcPts val="0"/>
              </a:spcBef>
              <a:spcAft>
                <a:spcPts val="0"/>
              </a:spcAft>
              <a:buNone/>
            </a:pPr>
            <a:r>
              <a:rPr lang="ko-KR" altLang="en-US" sz="1000" b="0" dirty="0">
                <a:solidFill>
                  <a:srgbClr val="7A808C"/>
                </a:solidFill>
                <a:latin typeface="맑은 고딕"/>
                <a:ea typeface="맑은 고딕"/>
                <a:cs typeface="맑은 고딕"/>
              </a:rPr>
              <a:t>클릭 ① 정답(빨간색) + 문법 포인트 공개</a:t>
            </a:r>
            <a:endParaRPr lang="ko-KR" sz="1000"/>
          </a:p>
        </p:txBody>
      </p:sp>
      <p:sp>
        <p:nvSpPr>
          <p:cNvPr id="7" name="item_card_1"/>
          <p:cNvSpPr/>
          <p:nvPr/>
        </p:nvSpPr>
        <p:spPr>
          <a:xfrm>
            <a:off x="457200" y="950976"/>
            <a:ext cx="11274552" cy="2126234"/>
          </a:xfrm>
          <a:prstGeom prst="roundRect">
            <a:avLst>
              <a:gd name="adj" fmla="val 6000"/>
            </a:avLst>
          </a:prstGeom>
          <a:solidFill>
            <a:srgbClr val="F3F5F9"/>
          </a:solidFill>
          <a:ln w="12700">
            <a:solidFill>
              <a:srgbClr val="D9DFEA"/>
            </a:solidFill>
          </a:ln>
        </p:spPr>
        <p:txBody>
          <a:bodyPr rtlCol="0" anchor="ctr"/>
          <a:lstStyle/>
          <a:p>
            <a:pPr algn="ctr"/>
          </a:p>
        </p:txBody>
      </p:sp>
      <p:sp>
        <p:nvSpPr>
          <p:cNvPr id="8" name="kor_1"/>
          <p:cNvSpPr txBox="1"/>
          <p:nvPr/>
        </p:nvSpPr>
        <p:spPr>
          <a:xfrm>
            <a:off x="457200" y="1060704"/>
            <a:ext cx="11274552" cy="617728"/>
          </a:xfrm>
          <a:prstGeom prst="rect">
            <a:avLst/>
          </a:prstGeom>
          <a:noFill/>
        </p:spPr>
        <p:txBody>
          <a:bodyPr wrap="square" lIns="228600" tIns="54864" rIns="228600" bIns="54864" anchor="t" rtlCol="0">
            <a:noAutofit/>
          </a:bodyPr>
          <a:lstStyle/>
          <a:p>
            <a:pPr algn="l">
              <a:lnSpc>
                <a:spcPts val="2000"/>
              </a:lnSpc>
              <a:spcBef>
                <a:spcPts val="0"/>
              </a:spcBef>
              <a:spcAft>
                <a:spcPts val="0"/>
              </a:spcAft>
              <a:buNone/>
            </a:pPr>
            <a:r>
              <a:rPr lang="en-US" altLang="en-US" sz="1600" b="1" dirty="0">
                <a:solidFill>
                  <a:srgbClr val="1E2A5A"/>
                </a:solidFill>
                <a:latin typeface="Calibri"/>
                <a:ea typeface="맑은 고딕"/>
                <a:cs typeface="Calibri"/>
              </a:rPr>
              <a:t>21.  </a:t>
            </a:r>
            <a:r>
              <a:rPr lang="ko-KR" altLang="en-US" sz="1600" b="0" dirty="0">
                <a:solidFill>
                  <a:srgbClr val="3C4558"/>
                </a:solidFill>
                <a:latin typeface="맑은 고딕"/>
                <a:ea typeface="맑은 고딕"/>
                <a:cs typeface="맑은 고딕"/>
              </a:rPr>
              <a:t>"그래서 얼마요?" "10파운드요." "10파운드? 그것보다는 더 나가요." "15파운드는 어때요?" "50파운드로 하죠." "음, 30파운드. 이게 마지막 제안입니다."</a:t>
            </a:r>
            <a:endParaRPr lang="ko-KR" sz="1600"/>
          </a:p>
        </p:txBody>
      </p:sp>
      <p:sp>
        <p:nvSpPr>
          <p:cNvPr id="9" name="eng_1"/>
          <p:cNvSpPr txBox="1"/>
          <p:nvPr/>
        </p:nvSpPr>
        <p:spPr>
          <a:xfrm>
            <a:off x="457200" y="1623568"/>
            <a:ext cx="11274552" cy="11765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solidFill>
                <a:latin typeface="Calibri"/>
                <a:ea typeface="맑은 고딕"/>
                <a:cs typeface="Calibri"/>
              </a:rPr>
              <a:t>"So how much?" "Ten pounds." "Ten? It’s worth more than that." "How about fifteen?"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Making</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Make</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it fifty." "Well, thirty. This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is</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are</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my final offer."</a:t>
            </a:r>
            <a:endParaRPr lang="ko-KR" sz="2000"/>
          </a:p>
        </p:txBody>
      </p:sp>
      <p:sp>
        <p:nvSpPr>
          <p:cNvPr id="10" name="rv_eng_1"/>
          <p:cNvSpPr txBox="1"/>
          <p:nvPr/>
        </p:nvSpPr>
        <p:spPr>
          <a:xfrm>
            <a:off x="457200" y="1623568"/>
            <a:ext cx="11274552" cy="11765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alpha val="0"/>
                  </a:srgbClr>
                </a:solidFill>
                <a:latin typeface="Calibri"/>
                <a:ea typeface="맑은 고딕"/>
                <a:cs typeface="Calibri"/>
              </a:rPr>
              <a:t>"So how much?" "Ten pounds." "Ten? It’s worth more than that." "How about fifteen?" "</a:t>
            </a:r>
            <a:r>
              <a:rPr lang="en-US" altLang="en-US" sz="2000" b="1" dirty="0">
                <a:solidFill>
                  <a:srgbClr val="C00000">
                    <a:alpha val="0"/>
                  </a:srgbClr>
                </a:solidFill>
                <a:latin typeface="Calibri"/>
                <a:ea typeface="맑은 고딕"/>
                <a:cs typeface="Calibri"/>
              </a:rPr>
              <a:t>[ </a:t>
            </a:r>
            <a:r>
              <a:rPr lang="en-US" altLang="en-US" sz="2000" b="1" dirty="0">
                <a:solidFill>
                  <a:srgbClr val="C00000">
                    <a:alpha val="0"/>
                  </a:srgbClr>
                </a:solidFill>
                <a:latin typeface="Calibri"/>
                <a:ea typeface="맑은 고딕"/>
                <a:cs typeface="Calibri"/>
              </a:rPr>
              <a:t>Making</a:t>
            </a:r>
            <a:r>
              <a:rPr lang="en-US" altLang="en-US" sz="2000" b="1" dirty="0">
                <a:solidFill>
                  <a:srgbClr val="C00000">
                    <a:alpha val="0"/>
                  </a:srgbClr>
                </a:solidFill>
                <a:latin typeface="Calibri"/>
                <a:ea typeface="맑은 고딕"/>
                <a:cs typeface="Calibri"/>
              </a:rPr>
              <a:t> / </a:t>
            </a:r>
            <a:r>
              <a:rPr lang="en-US" altLang="en-US" sz="2000" b="1" dirty="0">
                <a:solidFill>
                  <a:srgbClr val="C00000"/>
                </a:solidFill>
                <a:latin typeface="Calibri"/>
                <a:ea typeface="맑은 고딕"/>
                <a:cs typeface="Calibri"/>
              </a:rPr>
              <a:t>Make</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it fifty." "Well, thirty. This </a:t>
            </a:r>
            <a:r>
              <a:rPr lang="en-US" altLang="en-US" sz="2000" b="1" dirty="0">
                <a:solidFill>
                  <a:srgbClr val="C00000">
                    <a:alpha val="0"/>
                  </a:srgbClr>
                </a:solidFill>
                <a:latin typeface="Calibri"/>
                <a:ea typeface="맑은 고딕"/>
                <a:cs typeface="Calibri"/>
              </a:rPr>
              <a:t>[ </a:t>
            </a:r>
            <a:r>
              <a:rPr lang="en-US" altLang="en-US" sz="2000" b="1" dirty="0">
                <a:solidFill>
                  <a:srgbClr val="C00000"/>
                </a:solidFill>
                <a:latin typeface="Calibri"/>
                <a:ea typeface="맑은 고딕"/>
                <a:cs typeface="Calibri"/>
              </a:rPr>
              <a:t>is</a:t>
            </a:r>
            <a:r>
              <a:rPr lang="en-US" altLang="en-US" sz="2000" b="1" dirty="0">
                <a:solidFill>
                  <a:srgbClr val="C00000">
                    <a:alpha val="0"/>
                  </a:srgbClr>
                </a:solidFill>
                <a:latin typeface="Calibri"/>
                <a:ea typeface="맑은 고딕"/>
                <a:cs typeface="Calibri"/>
              </a:rPr>
              <a:t> / </a:t>
            </a:r>
            <a:r>
              <a:rPr lang="en-US" altLang="en-US" sz="2000" b="1" dirty="0">
                <a:solidFill>
                  <a:srgbClr val="C00000">
                    <a:alpha val="0"/>
                  </a:srgbClr>
                </a:solidFill>
                <a:latin typeface="Calibri"/>
                <a:ea typeface="맑은 고딕"/>
                <a:cs typeface="Calibri"/>
              </a:rPr>
              <a:t>are</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my final offer."</a:t>
            </a:r>
            <a:endParaRPr lang="ko-KR" sz="2000"/>
          </a:p>
        </p:txBody>
      </p:sp>
      <p:sp>
        <p:nvSpPr>
          <p:cNvPr id="11" name="rv_point_1"/>
          <p:cNvSpPr txBox="1"/>
          <p:nvPr/>
        </p:nvSpPr>
        <p:spPr>
          <a:xfrm>
            <a:off x="457200" y="2745232"/>
            <a:ext cx="11274552" cy="331978"/>
          </a:xfrm>
          <a:prstGeom prst="rect">
            <a:avLst/>
          </a:prstGeom>
          <a:noFill/>
        </p:spPr>
        <p:txBody>
          <a:bodyPr wrap="square" lIns="228600" tIns="54864" rIns="228600" bIns="54864" anchor="t" rtlCol="0">
            <a:noAutofit/>
          </a:bodyPr>
          <a:lstStyle/>
          <a:p>
            <a:pPr algn="l">
              <a:lnSpc>
                <a:spcPts val="1750"/>
              </a:lnSpc>
              <a:spcBef>
                <a:spcPts val="0"/>
              </a:spcBef>
              <a:spcAft>
                <a:spcPts val="0"/>
              </a:spcAft>
              <a:buNone/>
            </a:pPr>
            <a:r>
              <a:rPr lang="ko-KR" altLang="en-US" sz="1400" b="1" dirty="0">
                <a:solidFill>
                  <a:srgbClr val="C00000"/>
                </a:solidFill>
                <a:latin typeface="맑은 고딕"/>
                <a:ea typeface="맑은 고딕"/>
                <a:cs typeface="맑은 고딕"/>
              </a:rPr>
              <a:t>포인트  </a:t>
            </a:r>
            <a:r>
              <a:rPr lang="ko-KR" altLang="en-US" sz="1400" b="0" dirty="0">
                <a:solidFill>
                  <a:srgbClr val="2F5597"/>
                </a:solidFill>
                <a:latin typeface="맑은 고딕"/>
                <a:ea typeface="맑은 고딕"/>
                <a:cs typeface="맑은 고딕"/>
              </a:rPr>
              <a:t>to부정사/동명사/동사원형 (명령문 → 동사원형) · 동사의 수 일치 (주어 This 단수)</a:t>
            </a:r>
            <a:endParaRPr lang="ko-KR" sz="1400"/>
          </a:p>
        </p:txBody>
      </p:sp>
      <p:sp>
        <p:nvSpPr>
          <p:cNvPr id="12" name="item_card_2"/>
          <p:cNvSpPr/>
          <p:nvPr/>
        </p:nvSpPr>
        <p:spPr>
          <a:xfrm>
            <a:off x="457200" y="3186938"/>
            <a:ext cx="11274552" cy="1516634"/>
          </a:xfrm>
          <a:prstGeom prst="roundRect">
            <a:avLst>
              <a:gd name="adj" fmla="val 6000"/>
            </a:avLst>
          </a:prstGeom>
          <a:solidFill>
            <a:srgbClr val="F3F5F9"/>
          </a:solidFill>
          <a:ln w="12700">
            <a:solidFill>
              <a:srgbClr val="D9DFEA"/>
            </a:solidFill>
          </a:ln>
        </p:spPr>
        <p:txBody>
          <a:bodyPr rtlCol="0" anchor="ctr"/>
          <a:lstStyle/>
          <a:p>
            <a:pPr algn="ctr"/>
          </a:p>
        </p:txBody>
      </p:sp>
      <p:sp>
        <p:nvSpPr>
          <p:cNvPr id="13" name="kor_2"/>
          <p:cNvSpPr txBox="1"/>
          <p:nvPr/>
        </p:nvSpPr>
        <p:spPr>
          <a:xfrm>
            <a:off x="457200" y="3296666"/>
            <a:ext cx="11274552" cy="363728"/>
          </a:xfrm>
          <a:prstGeom prst="rect">
            <a:avLst/>
          </a:prstGeom>
          <a:noFill/>
        </p:spPr>
        <p:txBody>
          <a:bodyPr wrap="square" lIns="228600" tIns="54864" rIns="228600" bIns="54864" anchor="t" rtlCol="0">
            <a:noAutofit/>
          </a:bodyPr>
          <a:lstStyle/>
          <a:p>
            <a:pPr algn="l">
              <a:lnSpc>
                <a:spcPts val="2000"/>
              </a:lnSpc>
              <a:spcBef>
                <a:spcPts val="0"/>
              </a:spcBef>
              <a:spcAft>
                <a:spcPts val="0"/>
              </a:spcAft>
              <a:buNone/>
            </a:pPr>
            <a:r>
              <a:rPr lang="en-US" altLang="en-US" sz="1600" b="1" dirty="0">
                <a:solidFill>
                  <a:srgbClr val="1E2A5A"/>
                </a:solidFill>
                <a:latin typeface="Calibri"/>
                <a:ea typeface="맑은 고딕"/>
                <a:cs typeface="Calibri"/>
              </a:rPr>
              <a:t>22.  </a:t>
            </a:r>
            <a:r>
              <a:rPr lang="ko-KR" altLang="en-US" sz="1600" b="0" dirty="0">
                <a:solidFill>
                  <a:srgbClr val="3C4558"/>
                </a:solidFill>
                <a:latin typeface="맑은 고딕"/>
                <a:ea typeface="맑은 고딕"/>
                <a:cs typeface="맑은 고딕"/>
              </a:rPr>
              <a:t>"좋아요, 가져가세요. 그런데 어떻게 실어 가려고요? 이건 차에 안 들어갈 텐데!"</a:t>
            </a:r>
            <a:endParaRPr lang="ko-KR" sz="1600"/>
          </a:p>
        </p:txBody>
      </p:sp>
      <p:sp>
        <p:nvSpPr>
          <p:cNvPr id="14" name="eng_2"/>
          <p:cNvSpPr txBox="1"/>
          <p:nvPr/>
        </p:nvSpPr>
        <p:spPr>
          <a:xfrm>
            <a:off x="457200" y="3605530"/>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solidFill>
                <a:latin typeface="Calibri"/>
                <a:ea typeface="맑은 고딕"/>
                <a:cs typeface="Calibri"/>
              </a:rPr>
              <a:t>"OK, it’s yours, but how are you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going</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go</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taking</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to take</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it? This thing will not go in a car!"</a:t>
            </a:r>
            <a:endParaRPr lang="ko-KR" sz="2000"/>
          </a:p>
        </p:txBody>
      </p:sp>
      <p:sp>
        <p:nvSpPr>
          <p:cNvPr id="15" name="rv_eng_2"/>
          <p:cNvSpPr txBox="1"/>
          <p:nvPr/>
        </p:nvSpPr>
        <p:spPr>
          <a:xfrm>
            <a:off x="457200" y="3605530"/>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alpha val="0"/>
                  </a:srgbClr>
                </a:solidFill>
                <a:latin typeface="Calibri"/>
                <a:ea typeface="맑은 고딕"/>
                <a:cs typeface="Calibri"/>
              </a:rPr>
              <a:t>"OK, it’s yours, but how are you </a:t>
            </a:r>
            <a:r>
              <a:rPr lang="en-US" altLang="en-US" sz="2000" b="1" dirty="0">
                <a:solidFill>
                  <a:srgbClr val="C00000">
                    <a:alpha val="0"/>
                  </a:srgbClr>
                </a:solidFill>
                <a:latin typeface="Calibri"/>
                <a:ea typeface="맑은 고딕"/>
                <a:cs typeface="Calibri"/>
              </a:rPr>
              <a:t>[ </a:t>
            </a:r>
            <a:r>
              <a:rPr lang="en-US" altLang="en-US" sz="2000" b="1" dirty="0">
                <a:solidFill>
                  <a:srgbClr val="C00000"/>
                </a:solidFill>
                <a:latin typeface="Calibri"/>
                <a:ea typeface="맑은 고딕"/>
                <a:cs typeface="Calibri"/>
              </a:rPr>
              <a:t>going</a:t>
            </a:r>
            <a:r>
              <a:rPr lang="en-US" altLang="en-US" sz="2000" b="1" dirty="0">
                <a:solidFill>
                  <a:srgbClr val="C00000">
                    <a:alpha val="0"/>
                  </a:srgbClr>
                </a:solidFill>
                <a:latin typeface="Calibri"/>
                <a:ea typeface="맑은 고딕"/>
                <a:cs typeface="Calibri"/>
              </a:rPr>
              <a:t> / </a:t>
            </a:r>
            <a:r>
              <a:rPr lang="en-US" altLang="en-US" sz="2000" b="1" dirty="0">
                <a:solidFill>
                  <a:srgbClr val="C00000">
                    <a:alpha val="0"/>
                  </a:srgbClr>
                </a:solidFill>
                <a:latin typeface="Calibri"/>
                <a:ea typeface="맑은 고딕"/>
                <a:cs typeface="Calibri"/>
              </a:rPr>
              <a:t>go</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a:t>
            </a:r>
            <a:r>
              <a:rPr lang="en-US" altLang="en-US" sz="2000" b="1" dirty="0">
                <a:solidFill>
                  <a:srgbClr val="C00000">
                    <a:alpha val="0"/>
                  </a:srgbClr>
                </a:solidFill>
                <a:latin typeface="Calibri"/>
                <a:ea typeface="맑은 고딕"/>
                <a:cs typeface="Calibri"/>
              </a:rPr>
              <a:t>[ </a:t>
            </a:r>
            <a:r>
              <a:rPr lang="en-US" altLang="en-US" sz="2000" b="1" dirty="0">
                <a:solidFill>
                  <a:srgbClr val="C00000">
                    <a:alpha val="0"/>
                  </a:srgbClr>
                </a:solidFill>
                <a:latin typeface="Calibri"/>
                <a:ea typeface="맑은 고딕"/>
                <a:cs typeface="Calibri"/>
              </a:rPr>
              <a:t>taking</a:t>
            </a:r>
            <a:r>
              <a:rPr lang="en-US" altLang="en-US" sz="2000" b="1" dirty="0">
                <a:solidFill>
                  <a:srgbClr val="C00000">
                    <a:alpha val="0"/>
                  </a:srgbClr>
                </a:solidFill>
                <a:latin typeface="Calibri"/>
                <a:ea typeface="맑은 고딕"/>
                <a:cs typeface="Calibri"/>
              </a:rPr>
              <a:t> / </a:t>
            </a:r>
            <a:r>
              <a:rPr lang="en-US" altLang="en-US" sz="2000" b="1" dirty="0">
                <a:solidFill>
                  <a:srgbClr val="C00000"/>
                </a:solidFill>
                <a:latin typeface="Calibri"/>
                <a:ea typeface="맑은 고딕"/>
                <a:cs typeface="Calibri"/>
              </a:rPr>
              <a:t>to take</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it? This thing will not go in a car!"</a:t>
            </a:r>
            <a:endParaRPr lang="ko-KR" sz="2000"/>
          </a:p>
        </p:txBody>
      </p:sp>
      <p:sp>
        <p:nvSpPr>
          <p:cNvPr id="16" name="rv_point_2"/>
          <p:cNvSpPr txBox="1"/>
          <p:nvPr/>
        </p:nvSpPr>
        <p:spPr>
          <a:xfrm>
            <a:off x="457200" y="4371594"/>
            <a:ext cx="11274552" cy="331978"/>
          </a:xfrm>
          <a:prstGeom prst="rect">
            <a:avLst/>
          </a:prstGeom>
          <a:noFill/>
        </p:spPr>
        <p:txBody>
          <a:bodyPr wrap="square" lIns="228600" tIns="54864" rIns="228600" bIns="54864" anchor="t" rtlCol="0">
            <a:noAutofit/>
          </a:bodyPr>
          <a:lstStyle/>
          <a:p>
            <a:pPr algn="l">
              <a:lnSpc>
                <a:spcPts val="1750"/>
              </a:lnSpc>
              <a:spcBef>
                <a:spcPts val="0"/>
              </a:spcBef>
              <a:spcAft>
                <a:spcPts val="0"/>
              </a:spcAft>
              <a:buNone/>
            </a:pPr>
            <a:r>
              <a:rPr lang="ko-KR" altLang="en-US" sz="1400" b="1" dirty="0">
                <a:solidFill>
                  <a:srgbClr val="C00000"/>
                </a:solidFill>
                <a:latin typeface="맑은 고딕"/>
                <a:ea typeface="맑은 고딕"/>
                <a:cs typeface="맑은 고딕"/>
              </a:rPr>
              <a:t>포인트  </a:t>
            </a:r>
            <a:r>
              <a:rPr lang="ko-KR" altLang="en-US" sz="1400" b="0" dirty="0">
                <a:solidFill>
                  <a:srgbClr val="2F5597"/>
                </a:solidFill>
                <a:latin typeface="맑은 고딕"/>
                <a:ea typeface="맑은 고딕"/>
                <a:cs typeface="맑은 고딕"/>
              </a:rPr>
              <a:t>분사 (be going to: 진행형 V-ing) · to부정사/동명사/동사원형 (be going + to부정사)</a:t>
            </a:r>
            <a:endParaRPr lang="ko-KR" sz="1400"/>
          </a:p>
        </p:txBody>
      </p:sp>
      <p:sp>
        <p:nvSpPr>
          <p:cNvPr id="17" name="item_card_3"/>
          <p:cNvSpPr/>
          <p:nvPr/>
        </p:nvSpPr>
        <p:spPr>
          <a:xfrm>
            <a:off x="457200" y="4813300"/>
            <a:ext cx="11274552" cy="1516634"/>
          </a:xfrm>
          <a:prstGeom prst="roundRect">
            <a:avLst>
              <a:gd name="adj" fmla="val 6000"/>
            </a:avLst>
          </a:prstGeom>
          <a:solidFill>
            <a:srgbClr val="F3F5F9"/>
          </a:solidFill>
          <a:ln w="12700">
            <a:solidFill>
              <a:srgbClr val="D9DFEA"/>
            </a:solidFill>
          </a:ln>
        </p:spPr>
        <p:txBody>
          <a:bodyPr rtlCol="0" anchor="ctr"/>
          <a:lstStyle/>
          <a:p>
            <a:pPr algn="ctr"/>
          </a:p>
        </p:txBody>
      </p:sp>
      <p:sp>
        <p:nvSpPr>
          <p:cNvPr id="18" name="kor_3"/>
          <p:cNvSpPr txBox="1"/>
          <p:nvPr/>
        </p:nvSpPr>
        <p:spPr>
          <a:xfrm>
            <a:off x="457200" y="4923028"/>
            <a:ext cx="11274552" cy="363728"/>
          </a:xfrm>
          <a:prstGeom prst="rect">
            <a:avLst/>
          </a:prstGeom>
          <a:noFill/>
        </p:spPr>
        <p:txBody>
          <a:bodyPr wrap="square" lIns="228600" tIns="54864" rIns="228600" bIns="54864" anchor="t" rtlCol="0">
            <a:noAutofit/>
          </a:bodyPr>
          <a:lstStyle/>
          <a:p>
            <a:pPr algn="l">
              <a:lnSpc>
                <a:spcPts val="2000"/>
              </a:lnSpc>
              <a:spcBef>
                <a:spcPts val="0"/>
              </a:spcBef>
              <a:spcAft>
                <a:spcPts val="0"/>
              </a:spcAft>
              <a:buNone/>
            </a:pPr>
            <a:r>
              <a:rPr lang="en-US" altLang="en-US" sz="1600" b="1" dirty="0">
                <a:solidFill>
                  <a:srgbClr val="1E2A5A"/>
                </a:solidFill>
                <a:latin typeface="Calibri"/>
                <a:ea typeface="맑은 고딕"/>
                <a:cs typeface="Calibri"/>
              </a:rPr>
              <a:t>23.  </a:t>
            </a:r>
            <a:r>
              <a:rPr lang="ko-KR" altLang="en-US" sz="1600" b="0" dirty="0">
                <a:solidFill>
                  <a:srgbClr val="3C4558"/>
                </a:solidFill>
                <a:latin typeface="맑은 고딕"/>
                <a:ea typeface="맑은 고딕"/>
                <a:cs typeface="맑은 고딕"/>
              </a:rPr>
              <a:t>"두고 보죠." 보기스 씨는 그렇게 말하고 차를 가지러 밖으로 나갔다.</a:t>
            </a:r>
            <a:endParaRPr lang="ko-KR" sz="1600"/>
          </a:p>
        </p:txBody>
      </p:sp>
      <p:sp>
        <p:nvSpPr>
          <p:cNvPr id="19" name="eng_3"/>
          <p:cNvSpPr txBox="1"/>
          <p:nvPr/>
        </p:nvSpPr>
        <p:spPr>
          <a:xfrm>
            <a:off x="457200" y="5231892"/>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solidFill>
                <a:latin typeface="Calibri"/>
                <a:ea typeface="맑은 고딕"/>
                <a:cs typeface="Calibri"/>
              </a:rPr>
              <a:t>"We’ll see," Mr. Boggis said and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was gone</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went</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out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to bring</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bringing</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his car.</a:t>
            </a:r>
            <a:endParaRPr lang="ko-KR" sz="2000"/>
          </a:p>
        </p:txBody>
      </p:sp>
      <p:sp>
        <p:nvSpPr>
          <p:cNvPr id="20" name="rv_eng_3"/>
          <p:cNvSpPr txBox="1"/>
          <p:nvPr/>
        </p:nvSpPr>
        <p:spPr>
          <a:xfrm>
            <a:off x="457200" y="5231892"/>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alpha val="0"/>
                  </a:srgbClr>
                </a:solidFill>
                <a:latin typeface="Calibri"/>
                <a:ea typeface="맑은 고딕"/>
                <a:cs typeface="Calibri"/>
              </a:rPr>
              <a:t>"We’ll see," Mr. Boggis said and </a:t>
            </a:r>
            <a:r>
              <a:rPr lang="en-US" altLang="en-US" sz="2000" b="1" dirty="0">
                <a:solidFill>
                  <a:srgbClr val="C00000">
                    <a:alpha val="0"/>
                  </a:srgbClr>
                </a:solidFill>
                <a:latin typeface="Calibri"/>
                <a:ea typeface="맑은 고딕"/>
                <a:cs typeface="Calibri"/>
              </a:rPr>
              <a:t>[ </a:t>
            </a:r>
            <a:r>
              <a:rPr lang="en-US" altLang="en-US" sz="2000" b="1" dirty="0">
                <a:solidFill>
                  <a:srgbClr val="C00000">
                    <a:alpha val="0"/>
                  </a:srgbClr>
                </a:solidFill>
                <a:latin typeface="Calibri"/>
                <a:ea typeface="맑은 고딕"/>
                <a:cs typeface="Calibri"/>
              </a:rPr>
              <a:t>was gone</a:t>
            </a:r>
            <a:r>
              <a:rPr lang="en-US" altLang="en-US" sz="2000" b="1" dirty="0">
                <a:solidFill>
                  <a:srgbClr val="C00000">
                    <a:alpha val="0"/>
                  </a:srgbClr>
                </a:solidFill>
                <a:latin typeface="Calibri"/>
                <a:ea typeface="맑은 고딕"/>
                <a:cs typeface="Calibri"/>
              </a:rPr>
              <a:t> / </a:t>
            </a:r>
            <a:r>
              <a:rPr lang="en-US" altLang="en-US" sz="2000" b="1" dirty="0">
                <a:solidFill>
                  <a:srgbClr val="C00000"/>
                </a:solidFill>
                <a:latin typeface="Calibri"/>
                <a:ea typeface="맑은 고딕"/>
                <a:cs typeface="Calibri"/>
              </a:rPr>
              <a:t>went</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out </a:t>
            </a:r>
            <a:r>
              <a:rPr lang="en-US" altLang="en-US" sz="2000" b="1" dirty="0">
                <a:solidFill>
                  <a:srgbClr val="C00000">
                    <a:alpha val="0"/>
                  </a:srgbClr>
                </a:solidFill>
                <a:latin typeface="Calibri"/>
                <a:ea typeface="맑은 고딕"/>
                <a:cs typeface="Calibri"/>
              </a:rPr>
              <a:t>[ </a:t>
            </a:r>
            <a:r>
              <a:rPr lang="en-US" altLang="en-US" sz="2000" b="1" dirty="0">
                <a:solidFill>
                  <a:srgbClr val="C00000"/>
                </a:solidFill>
                <a:latin typeface="Calibri"/>
                <a:ea typeface="맑은 고딕"/>
                <a:cs typeface="Calibri"/>
              </a:rPr>
              <a:t>to bring</a:t>
            </a:r>
            <a:r>
              <a:rPr lang="en-US" altLang="en-US" sz="2000" b="1" dirty="0">
                <a:solidFill>
                  <a:srgbClr val="C00000">
                    <a:alpha val="0"/>
                  </a:srgbClr>
                </a:solidFill>
                <a:latin typeface="Calibri"/>
                <a:ea typeface="맑은 고딕"/>
                <a:cs typeface="Calibri"/>
              </a:rPr>
              <a:t> / </a:t>
            </a:r>
            <a:r>
              <a:rPr lang="en-US" altLang="en-US" sz="2000" b="1" dirty="0">
                <a:solidFill>
                  <a:srgbClr val="C00000">
                    <a:alpha val="0"/>
                  </a:srgbClr>
                </a:solidFill>
                <a:latin typeface="Calibri"/>
                <a:ea typeface="맑은 고딕"/>
                <a:cs typeface="Calibri"/>
              </a:rPr>
              <a:t>bringing</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his car.</a:t>
            </a:r>
            <a:endParaRPr lang="ko-KR" sz="2000"/>
          </a:p>
        </p:txBody>
      </p:sp>
      <p:sp>
        <p:nvSpPr>
          <p:cNvPr id="21" name="rv_point_3"/>
          <p:cNvSpPr txBox="1"/>
          <p:nvPr/>
        </p:nvSpPr>
        <p:spPr>
          <a:xfrm>
            <a:off x="457200" y="5997956"/>
            <a:ext cx="11274552" cy="331978"/>
          </a:xfrm>
          <a:prstGeom prst="rect">
            <a:avLst/>
          </a:prstGeom>
          <a:noFill/>
        </p:spPr>
        <p:txBody>
          <a:bodyPr wrap="square" lIns="228600" tIns="54864" rIns="228600" bIns="54864" anchor="t" rtlCol="0">
            <a:noAutofit/>
          </a:bodyPr>
          <a:lstStyle/>
          <a:p>
            <a:pPr algn="l">
              <a:lnSpc>
                <a:spcPts val="1750"/>
              </a:lnSpc>
              <a:spcBef>
                <a:spcPts val="0"/>
              </a:spcBef>
              <a:spcAft>
                <a:spcPts val="0"/>
              </a:spcAft>
              <a:buNone/>
            </a:pPr>
            <a:r>
              <a:rPr lang="ko-KR" altLang="en-US" sz="1400" b="1" dirty="0">
                <a:solidFill>
                  <a:srgbClr val="C00000"/>
                </a:solidFill>
                <a:latin typeface="맑은 고딕"/>
                <a:ea typeface="맑은 고딕"/>
                <a:cs typeface="맑은 고딕"/>
              </a:rPr>
              <a:t>포인트  </a:t>
            </a:r>
            <a:r>
              <a:rPr lang="ko-KR" altLang="en-US" sz="1400" b="0" dirty="0">
                <a:solidFill>
                  <a:srgbClr val="2F5597"/>
                </a:solidFill>
                <a:latin typeface="맑은 고딕"/>
                <a:ea typeface="맑은 고딕"/>
                <a:cs typeface="맑은 고딕"/>
              </a:rPr>
              <a:t>수동태(능동/수동 구별) (자동사 go는 수동태 불가) · to부정사/동명사/동사원형 (목적: ~하기 위해)</a:t>
            </a:r>
            <a:endParaRPr lang="ko-KR" sz="1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25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250"/>
                                        <p:tgtEl>
                                          <p:spTgt spid="1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250"/>
                                        <p:tgtEl>
                                          <p:spTgt spid="1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fade">
                                      <p:cBhvr>
                                        <p:cTn id="16" dur="250"/>
                                        <p:tgtEl>
                                          <p:spTgt spid="1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250"/>
                                        <p:tgtEl>
                                          <p:spTgt spid="2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fade">
                                      <p:cBhvr>
                                        <p:cTn id="22" dur="25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5" grpId="0" animBg="1"/>
      <p:bldP spid="16" grpId="0" animBg="1"/>
      <p:bldP spid="20" grpId="0" animBg="1"/>
      <p:bldP spid="21" grpId="0" animBg="1"/>
    </p:bldLst>
  </p:timing>
</p:sld>
</file>

<file path=ppt/slides/slide1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8000"/>
            </a:avLst>
          </a:prstGeom>
          <a:solidFill>
            <a:srgbClr val="1E2A5A"/>
          </a:solidFill>
          <a:ln>
            <a:noFill/>
          </a:ln>
        </p:spPr>
        <p:txBody>
          <a:bodyPr wrap="square" lIns="45720" tIns="18288" rIns="45720" bIns="18288" anchor="ctr" rtlCol="0">
            <a:noAutofit/>
          </a:bodyPr>
          <a:lstStyle/>
          <a:p>
            <a:pPr algn="ctr">
              <a:lnSpc>
                <a:spcPts val="2000"/>
              </a:lnSpc>
              <a:spcBef>
                <a:spcPts val="0"/>
              </a:spcBef>
              <a:spcAft>
                <a:spcPts val="0"/>
              </a:spcAft>
              <a:buNone/>
            </a:pPr>
            <a:r>
              <a:rPr lang="en-US" altLang="en-US" sz="1700" b="1" dirty="0">
                <a:solidFill>
                  <a:srgbClr val="FFFFFF"/>
                </a:solidFill>
                <a:latin typeface="Calibri"/>
                <a:ea typeface="맑은 고딕"/>
                <a:cs typeface="Calibri"/>
              </a:rPr>
              <a:t>L6</a:t>
            </a:r>
            <a:endParaRPr lang="ko-KR" sz="1700"/>
          </a:p>
        </p:txBody>
      </p:sp>
      <p:sp>
        <p:nvSpPr>
          <p:cNvPr id="3" name="hdr_chip"/>
          <p:cNvSpPr/>
          <p:nvPr/>
        </p:nvSpPr>
        <p:spPr>
          <a:xfrm>
            <a:off x="1755648" y="274320"/>
            <a:ext cx="1371600" cy="493776"/>
          </a:xfrm>
          <a:prstGeom prst="roundRect">
            <a:avLst>
              <a:gd name="adj" fmla="val 8000"/>
            </a:avLst>
          </a:prstGeom>
          <a:solidFill>
            <a:srgbClr val="E6EAF4"/>
          </a:solidFill>
          <a:ln>
            <a:noFill/>
          </a:ln>
        </p:spPr>
        <p:txBody>
          <a:bodyPr wrap="square" lIns="27432" tIns="18288" rIns="27432" bIns="18288" anchor="ctr" rtlCol="0">
            <a:noAutofit/>
          </a:bodyPr>
          <a:lstStyle/>
          <a:p>
            <a:pPr algn="ctr">
              <a:lnSpc>
                <a:spcPts val="1700"/>
              </a:lnSpc>
              <a:spcBef>
                <a:spcPts val="0"/>
              </a:spcBef>
              <a:spcAft>
                <a:spcPts val="0"/>
              </a:spcAft>
              <a:buNone/>
            </a:pPr>
            <a:r>
              <a:rPr lang="ko-KR" altLang="en-US" sz="1400" b="1" dirty="0">
                <a:solidFill>
                  <a:srgbClr val="1E2A5A"/>
                </a:solidFill>
                <a:latin typeface="맑은 고딕"/>
                <a:ea typeface="맑은 고딕"/>
                <a:cs typeface="맑은 고딕"/>
              </a:rPr>
              <a:t>PART 5 · 9</a:t>
            </a:r>
            <a:endParaRPr lang="ko-KR" sz="1400"/>
          </a:p>
        </p:txBody>
      </p:sp>
      <p:sp>
        <p:nvSpPr>
          <p:cNvPr id="4" name="hdr_q"/>
          <p:cNvSpPr txBox="1"/>
          <p:nvPr/>
        </p:nvSpPr>
        <p:spPr>
          <a:xfrm>
            <a:off x="3246120" y="246888"/>
            <a:ext cx="8485632" cy="548640"/>
          </a:xfrm>
          <a:prstGeom prst="rect">
            <a:avLst/>
          </a:prstGeom>
          <a:noFill/>
        </p:spPr>
        <p:txBody>
          <a:bodyPr wrap="square" lIns="109728" tIns="54864" rIns="109728" bIns="54864" anchor="ctr" rtlCol="0">
            <a:noAutofit/>
          </a:bodyPr>
          <a:lstStyle/>
          <a:p>
            <a:pPr algn="l">
              <a:lnSpc>
                <a:spcPts val="2400"/>
              </a:lnSpc>
              <a:spcBef>
                <a:spcPts val="0"/>
              </a:spcBef>
              <a:spcAft>
                <a:spcPts val="0"/>
              </a:spcAft>
              <a:buNone/>
            </a:pPr>
            <a:r>
              <a:rPr lang="ko-KR" altLang="en-US" sz="2000" b="1" dirty="0">
                <a:solidFill>
                  <a:srgbClr val="1F2328"/>
                </a:solidFill>
                <a:latin typeface="맑은 고딕"/>
                <a:ea typeface="맑은 고딕"/>
                <a:cs typeface="맑은 고딕"/>
              </a:rPr>
              <a:t>[  ] 안에서 어법상 알맞은 것을 고르시오.</a:t>
            </a:r>
            <a:endParaRPr lang="ko-KR" sz="2000"/>
          </a:p>
        </p:txBody>
      </p:sp>
      <p:sp>
        <p:nvSpPr>
          <p:cNvPr id="5" name="ftr_exam"/>
          <p:cNvSpPr txBox="1"/>
          <p:nvPr/>
        </p:nvSpPr>
        <p:spPr>
          <a:xfrm>
            <a:off x="457200" y="6519672"/>
            <a:ext cx="5669280" cy="256032"/>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6</a:t>
            </a:r>
            <a:endParaRPr lang="ko-KR" sz="1000"/>
          </a:p>
        </p:txBody>
      </p:sp>
      <p:sp>
        <p:nvSpPr>
          <p:cNvPr id="6" name="ftr_hint"/>
          <p:cNvSpPr txBox="1"/>
          <p:nvPr/>
        </p:nvSpPr>
        <p:spPr>
          <a:xfrm>
            <a:off x="5971032" y="6519672"/>
            <a:ext cx="5760720" cy="256032"/>
          </a:xfrm>
          <a:prstGeom prst="rect">
            <a:avLst/>
          </a:prstGeom>
          <a:noFill/>
        </p:spPr>
        <p:txBody>
          <a:bodyPr wrap="square" lIns="0" tIns="0" rIns="0" bIns="0" anchor="t" rtlCol="0">
            <a:noAutofit/>
          </a:bodyPr>
          <a:lstStyle/>
          <a:p>
            <a:pPr algn="r">
              <a:lnSpc>
                <a:spcPts val="1200"/>
              </a:lnSpc>
              <a:spcBef>
                <a:spcPts val="0"/>
              </a:spcBef>
              <a:spcAft>
                <a:spcPts val="0"/>
              </a:spcAft>
              <a:buNone/>
            </a:pPr>
            <a:r>
              <a:rPr lang="ko-KR" altLang="en-US" sz="1000" b="0" dirty="0">
                <a:solidFill>
                  <a:srgbClr val="7A808C"/>
                </a:solidFill>
                <a:latin typeface="맑은 고딕"/>
                <a:ea typeface="맑은 고딕"/>
                <a:cs typeface="맑은 고딕"/>
              </a:rPr>
              <a:t>클릭 ① 정답(빨간색) + 문법 포인트 공개</a:t>
            </a:r>
            <a:endParaRPr lang="ko-KR" sz="1000"/>
          </a:p>
        </p:txBody>
      </p:sp>
      <p:sp>
        <p:nvSpPr>
          <p:cNvPr id="7" name="item_card_1"/>
          <p:cNvSpPr/>
          <p:nvPr/>
        </p:nvSpPr>
        <p:spPr>
          <a:xfrm>
            <a:off x="457200" y="950976"/>
            <a:ext cx="11274552" cy="1161034"/>
          </a:xfrm>
          <a:prstGeom prst="roundRect">
            <a:avLst>
              <a:gd name="adj" fmla="val 6000"/>
            </a:avLst>
          </a:prstGeom>
          <a:solidFill>
            <a:srgbClr val="F3F5F9"/>
          </a:solidFill>
          <a:ln w="12700">
            <a:solidFill>
              <a:srgbClr val="D9DFEA"/>
            </a:solidFill>
          </a:ln>
        </p:spPr>
        <p:txBody>
          <a:bodyPr rtlCol="0" anchor="ctr"/>
          <a:lstStyle/>
          <a:p>
            <a:pPr algn="ctr"/>
          </a:p>
        </p:txBody>
      </p:sp>
      <p:sp>
        <p:nvSpPr>
          <p:cNvPr id="8" name="kor_1"/>
          <p:cNvSpPr txBox="1"/>
          <p:nvPr/>
        </p:nvSpPr>
        <p:spPr>
          <a:xfrm>
            <a:off x="457200" y="1060704"/>
            <a:ext cx="11274552" cy="363728"/>
          </a:xfrm>
          <a:prstGeom prst="rect">
            <a:avLst/>
          </a:prstGeom>
          <a:noFill/>
        </p:spPr>
        <p:txBody>
          <a:bodyPr wrap="square" lIns="228600" tIns="54864" rIns="228600" bIns="54864" anchor="t" rtlCol="0">
            <a:noAutofit/>
          </a:bodyPr>
          <a:lstStyle/>
          <a:p>
            <a:pPr algn="l">
              <a:lnSpc>
                <a:spcPts val="2000"/>
              </a:lnSpc>
              <a:spcBef>
                <a:spcPts val="0"/>
              </a:spcBef>
              <a:spcAft>
                <a:spcPts val="0"/>
              </a:spcAft>
              <a:buNone/>
            </a:pPr>
            <a:r>
              <a:rPr lang="en-US" altLang="en-US" sz="1600" b="1" dirty="0">
                <a:solidFill>
                  <a:srgbClr val="1E2A5A"/>
                </a:solidFill>
                <a:latin typeface="Calibri"/>
                <a:ea typeface="맑은 고딕"/>
                <a:cs typeface="Calibri"/>
              </a:rPr>
              <a:t>24.  </a:t>
            </a:r>
            <a:r>
              <a:rPr lang="ko-KR" altLang="en-US" sz="1600" b="0" dirty="0">
                <a:solidFill>
                  <a:srgbClr val="3C4558"/>
                </a:solidFill>
                <a:latin typeface="맑은 고딕"/>
                <a:ea typeface="맑은 고딕"/>
                <a:cs typeface="맑은 고딕"/>
              </a:rPr>
              <a:t>차로 가는 길에 보기스 씨는 웃음을 참을 수가 없었다.</a:t>
            </a:r>
            <a:endParaRPr lang="ko-KR" sz="1600"/>
          </a:p>
        </p:txBody>
      </p:sp>
      <p:sp>
        <p:nvSpPr>
          <p:cNvPr id="9" name="eng_1"/>
          <p:cNvSpPr txBox="1"/>
          <p:nvPr/>
        </p:nvSpPr>
        <p:spPr>
          <a:xfrm>
            <a:off x="457200" y="1369568"/>
            <a:ext cx="11274552" cy="4653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solidFill>
                <a:latin typeface="Calibri"/>
                <a:ea typeface="맑은 고딕"/>
                <a:cs typeface="Calibri"/>
              </a:rPr>
              <a:t>On his way to the car, Mr. Boggis couldn’t help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smiling</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to smile</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a:t>
            </a:r>
            <a:endParaRPr lang="ko-KR" sz="2000"/>
          </a:p>
        </p:txBody>
      </p:sp>
      <p:sp>
        <p:nvSpPr>
          <p:cNvPr id="10" name="rv_eng_1"/>
          <p:cNvSpPr txBox="1"/>
          <p:nvPr/>
        </p:nvSpPr>
        <p:spPr>
          <a:xfrm>
            <a:off x="457200" y="1369568"/>
            <a:ext cx="11274552" cy="4653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alpha val="0"/>
                  </a:srgbClr>
                </a:solidFill>
                <a:latin typeface="Calibri"/>
                <a:ea typeface="맑은 고딕"/>
                <a:cs typeface="Calibri"/>
              </a:rPr>
              <a:t>On his way to the car, Mr. Boggis couldn’t help </a:t>
            </a:r>
            <a:r>
              <a:rPr lang="en-US" altLang="en-US" sz="2000" b="1" dirty="0">
                <a:solidFill>
                  <a:srgbClr val="C00000">
                    <a:alpha val="0"/>
                  </a:srgbClr>
                </a:solidFill>
                <a:latin typeface="Calibri"/>
                <a:ea typeface="맑은 고딕"/>
                <a:cs typeface="Calibri"/>
              </a:rPr>
              <a:t>[ </a:t>
            </a:r>
            <a:r>
              <a:rPr lang="en-US" altLang="en-US" sz="2000" b="1" dirty="0">
                <a:solidFill>
                  <a:srgbClr val="C00000"/>
                </a:solidFill>
                <a:latin typeface="Calibri"/>
                <a:ea typeface="맑은 고딕"/>
                <a:cs typeface="Calibri"/>
              </a:rPr>
              <a:t>smiling</a:t>
            </a:r>
            <a:r>
              <a:rPr lang="en-US" altLang="en-US" sz="2000" b="1" dirty="0">
                <a:solidFill>
                  <a:srgbClr val="C00000">
                    <a:alpha val="0"/>
                  </a:srgbClr>
                </a:solidFill>
                <a:latin typeface="Calibri"/>
                <a:ea typeface="맑은 고딕"/>
                <a:cs typeface="Calibri"/>
              </a:rPr>
              <a:t> / </a:t>
            </a:r>
            <a:r>
              <a:rPr lang="en-US" altLang="en-US" sz="2000" b="1" dirty="0">
                <a:solidFill>
                  <a:srgbClr val="C00000">
                    <a:alpha val="0"/>
                  </a:srgbClr>
                </a:solidFill>
                <a:latin typeface="Calibri"/>
                <a:ea typeface="맑은 고딕"/>
                <a:cs typeface="Calibri"/>
              </a:rPr>
              <a:t>to smile</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a:t>
            </a:r>
            <a:endParaRPr lang="ko-KR" sz="2000"/>
          </a:p>
        </p:txBody>
      </p:sp>
      <p:sp>
        <p:nvSpPr>
          <p:cNvPr id="11" name="rv_point_1"/>
          <p:cNvSpPr txBox="1"/>
          <p:nvPr/>
        </p:nvSpPr>
        <p:spPr>
          <a:xfrm>
            <a:off x="457200" y="1780032"/>
            <a:ext cx="11274552" cy="331978"/>
          </a:xfrm>
          <a:prstGeom prst="rect">
            <a:avLst/>
          </a:prstGeom>
          <a:noFill/>
        </p:spPr>
        <p:txBody>
          <a:bodyPr wrap="square" lIns="228600" tIns="54864" rIns="228600" bIns="54864" anchor="t" rtlCol="0">
            <a:noAutofit/>
          </a:bodyPr>
          <a:lstStyle/>
          <a:p>
            <a:pPr algn="l">
              <a:lnSpc>
                <a:spcPts val="1750"/>
              </a:lnSpc>
              <a:spcBef>
                <a:spcPts val="0"/>
              </a:spcBef>
              <a:spcAft>
                <a:spcPts val="0"/>
              </a:spcAft>
              <a:buNone/>
            </a:pPr>
            <a:r>
              <a:rPr lang="ko-KR" altLang="en-US" sz="1400" b="1" dirty="0">
                <a:solidFill>
                  <a:srgbClr val="C00000"/>
                </a:solidFill>
                <a:latin typeface="맑은 고딕"/>
                <a:ea typeface="맑은 고딕"/>
                <a:cs typeface="맑은 고딕"/>
              </a:rPr>
              <a:t>포인트  </a:t>
            </a:r>
            <a:r>
              <a:rPr lang="ko-KR" altLang="en-US" sz="1400" b="0" dirty="0">
                <a:solidFill>
                  <a:srgbClr val="2F5597"/>
                </a:solidFill>
                <a:latin typeface="맑은 고딕"/>
                <a:ea typeface="맑은 고딕"/>
                <a:cs typeface="맑은 고딕"/>
              </a:rPr>
              <a:t>to부정사/동명사/동사원형 (cannot help + V-ing)</a:t>
            </a:r>
            <a:endParaRPr lang="ko-KR" sz="1400"/>
          </a:p>
        </p:txBody>
      </p:sp>
      <p:sp>
        <p:nvSpPr>
          <p:cNvPr id="12" name="item_card_2"/>
          <p:cNvSpPr/>
          <p:nvPr/>
        </p:nvSpPr>
        <p:spPr>
          <a:xfrm>
            <a:off x="457200" y="2221738"/>
            <a:ext cx="11274552" cy="1516634"/>
          </a:xfrm>
          <a:prstGeom prst="roundRect">
            <a:avLst>
              <a:gd name="adj" fmla="val 6000"/>
            </a:avLst>
          </a:prstGeom>
          <a:solidFill>
            <a:srgbClr val="F3F5F9"/>
          </a:solidFill>
          <a:ln w="12700">
            <a:solidFill>
              <a:srgbClr val="D9DFEA"/>
            </a:solidFill>
          </a:ln>
        </p:spPr>
        <p:txBody>
          <a:bodyPr rtlCol="0" anchor="ctr"/>
          <a:lstStyle/>
          <a:p>
            <a:pPr algn="ctr"/>
          </a:p>
        </p:txBody>
      </p:sp>
      <p:sp>
        <p:nvSpPr>
          <p:cNvPr id="13" name="kor_2"/>
          <p:cNvSpPr txBox="1"/>
          <p:nvPr/>
        </p:nvSpPr>
        <p:spPr>
          <a:xfrm>
            <a:off x="457200" y="2331466"/>
            <a:ext cx="11274552" cy="363728"/>
          </a:xfrm>
          <a:prstGeom prst="rect">
            <a:avLst/>
          </a:prstGeom>
          <a:noFill/>
        </p:spPr>
        <p:txBody>
          <a:bodyPr wrap="square" lIns="228600" tIns="54864" rIns="228600" bIns="54864" anchor="t" rtlCol="0">
            <a:noAutofit/>
          </a:bodyPr>
          <a:lstStyle/>
          <a:p>
            <a:pPr algn="l">
              <a:lnSpc>
                <a:spcPts val="2000"/>
              </a:lnSpc>
              <a:spcBef>
                <a:spcPts val="0"/>
              </a:spcBef>
              <a:spcAft>
                <a:spcPts val="0"/>
              </a:spcAft>
              <a:buNone/>
            </a:pPr>
            <a:r>
              <a:rPr lang="en-US" altLang="en-US" sz="1600" b="1" dirty="0">
                <a:solidFill>
                  <a:srgbClr val="1E2A5A"/>
                </a:solidFill>
                <a:latin typeface="Calibri"/>
                <a:ea typeface="맑은 고딕"/>
                <a:cs typeface="Calibri"/>
              </a:rPr>
              <a:t>25.  </a:t>
            </a:r>
            <a:r>
              <a:rPr lang="ko-KR" altLang="en-US" sz="1600" b="0" dirty="0">
                <a:solidFill>
                  <a:srgbClr val="3C4558"/>
                </a:solidFill>
                <a:latin typeface="맑은 고딕"/>
                <a:ea typeface="맑은 고딕"/>
                <a:cs typeface="맑은 고딕"/>
              </a:rPr>
              <a:t>그 탁자는 모든 상인이 꿈꾸던 바로 그 물건이었다. 그는 자신의 행운이 믿기지 않았다.</a:t>
            </a:r>
            <a:endParaRPr lang="ko-KR" sz="1600"/>
          </a:p>
        </p:txBody>
      </p:sp>
      <p:sp>
        <p:nvSpPr>
          <p:cNvPr id="14" name="eng_2"/>
          <p:cNvSpPr txBox="1"/>
          <p:nvPr/>
        </p:nvSpPr>
        <p:spPr>
          <a:xfrm>
            <a:off x="457200" y="2640330"/>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solidFill>
                <a:latin typeface="Calibri"/>
                <a:ea typeface="맑은 고딕"/>
                <a:cs typeface="Calibri"/>
              </a:rPr>
              <a:t>The table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were</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was</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what</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which</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every dealer dreamed of. He couldn’t believe his luck.</a:t>
            </a:r>
            <a:endParaRPr lang="ko-KR" sz="2000"/>
          </a:p>
        </p:txBody>
      </p:sp>
      <p:sp>
        <p:nvSpPr>
          <p:cNvPr id="15" name="rv_eng_2"/>
          <p:cNvSpPr txBox="1"/>
          <p:nvPr/>
        </p:nvSpPr>
        <p:spPr>
          <a:xfrm>
            <a:off x="457200" y="2640330"/>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alpha val="0"/>
                  </a:srgbClr>
                </a:solidFill>
                <a:latin typeface="Calibri"/>
                <a:ea typeface="맑은 고딕"/>
                <a:cs typeface="Calibri"/>
              </a:rPr>
              <a:t>The table </a:t>
            </a:r>
            <a:r>
              <a:rPr lang="en-US" altLang="en-US" sz="2000" b="1" dirty="0">
                <a:solidFill>
                  <a:srgbClr val="C00000">
                    <a:alpha val="0"/>
                  </a:srgbClr>
                </a:solidFill>
                <a:latin typeface="Calibri"/>
                <a:ea typeface="맑은 고딕"/>
                <a:cs typeface="Calibri"/>
              </a:rPr>
              <a:t>[ </a:t>
            </a:r>
            <a:r>
              <a:rPr lang="en-US" altLang="en-US" sz="2000" b="1" dirty="0">
                <a:solidFill>
                  <a:srgbClr val="C00000">
                    <a:alpha val="0"/>
                  </a:srgbClr>
                </a:solidFill>
                <a:latin typeface="Calibri"/>
                <a:ea typeface="맑은 고딕"/>
                <a:cs typeface="Calibri"/>
              </a:rPr>
              <a:t>were</a:t>
            </a:r>
            <a:r>
              <a:rPr lang="en-US" altLang="en-US" sz="2000" b="1" dirty="0">
                <a:solidFill>
                  <a:srgbClr val="C00000">
                    <a:alpha val="0"/>
                  </a:srgbClr>
                </a:solidFill>
                <a:latin typeface="Calibri"/>
                <a:ea typeface="맑은 고딕"/>
                <a:cs typeface="Calibri"/>
              </a:rPr>
              <a:t> / </a:t>
            </a:r>
            <a:r>
              <a:rPr lang="en-US" altLang="en-US" sz="2000" b="1" dirty="0">
                <a:solidFill>
                  <a:srgbClr val="C00000"/>
                </a:solidFill>
                <a:latin typeface="Calibri"/>
                <a:ea typeface="맑은 고딕"/>
                <a:cs typeface="Calibri"/>
              </a:rPr>
              <a:t>was</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a:t>
            </a:r>
            <a:r>
              <a:rPr lang="en-US" altLang="en-US" sz="2000" b="1" dirty="0">
                <a:solidFill>
                  <a:srgbClr val="C00000">
                    <a:alpha val="0"/>
                  </a:srgbClr>
                </a:solidFill>
                <a:latin typeface="Calibri"/>
                <a:ea typeface="맑은 고딕"/>
                <a:cs typeface="Calibri"/>
              </a:rPr>
              <a:t>[ </a:t>
            </a:r>
            <a:r>
              <a:rPr lang="en-US" altLang="en-US" sz="2000" b="1" dirty="0">
                <a:solidFill>
                  <a:srgbClr val="C00000"/>
                </a:solidFill>
                <a:latin typeface="Calibri"/>
                <a:ea typeface="맑은 고딕"/>
                <a:cs typeface="Calibri"/>
              </a:rPr>
              <a:t>what</a:t>
            </a:r>
            <a:r>
              <a:rPr lang="en-US" altLang="en-US" sz="2000" b="1" dirty="0">
                <a:solidFill>
                  <a:srgbClr val="C00000">
                    <a:alpha val="0"/>
                  </a:srgbClr>
                </a:solidFill>
                <a:latin typeface="Calibri"/>
                <a:ea typeface="맑은 고딕"/>
                <a:cs typeface="Calibri"/>
              </a:rPr>
              <a:t> / </a:t>
            </a:r>
            <a:r>
              <a:rPr lang="en-US" altLang="en-US" sz="2000" b="1" dirty="0">
                <a:solidFill>
                  <a:srgbClr val="C00000">
                    <a:alpha val="0"/>
                  </a:srgbClr>
                </a:solidFill>
                <a:latin typeface="Calibri"/>
                <a:ea typeface="맑은 고딕"/>
                <a:cs typeface="Calibri"/>
              </a:rPr>
              <a:t>which</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every dealer dreamed of. He couldn’t believe his luck.</a:t>
            </a:r>
            <a:endParaRPr lang="ko-KR" sz="2000"/>
          </a:p>
        </p:txBody>
      </p:sp>
      <p:sp>
        <p:nvSpPr>
          <p:cNvPr id="16" name="rv_point_2"/>
          <p:cNvSpPr txBox="1"/>
          <p:nvPr/>
        </p:nvSpPr>
        <p:spPr>
          <a:xfrm>
            <a:off x="457200" y="3406394"/>
            <a:ext cx="11274552" cy="331978"/>
          </a:xfrm>
          <a:prstGeom prst="rect">
            <a:avLst/>
          </a:prstGeom>
          <a:noFill/>
        </p:spPr>
        <p:txBody>
          <a:bodyPr wrap="square" lIns="228600" tIns="54864" rIns="228600" bIns="54864" anchor="t" rtlCol="0">
            <a:noAutofit/>
          </a:bodyPr>
          <a:lstStyle/>
          <a:p>
            <a:pPr algn="l">
              <a:lnSpc>
                <a:spcPts val="1750"/>
              </a:lnSpc>
              <a:spcBef>
                <a:spcPts val="0"/>
              </a:spcBef>
              <a:spcAft>
                <a:spcPts val="0"/>
              </a:spcAft>
              <a:buNone/>
            </a:pPr>
            <a:r>
              <a:rPr lang="ko-KR" altLang="en-US" sz="1400" b="1" dirty="0">
                <a:solidFill>
                  <a:srgbClr val="C00000"/>
                </a:solidFill>
                <a:latin typeface="맑은 고딕"/>
                <a:ea typeface="맑은 고딕"/>
                <a:cs typeface="맑은 고딕"/>
              </a:rPr>
              <a:t>포인트  </a:t>
            </a:r>
            <a:r>
              <a:rPr lang="ko-KR" altLang="en-US" sz="1400" b="0" dirty="0">
                <a:solidFill>
                  <a:srgbClr val="2F5597"/>
                </a:solidFill>
                <a:latin typeface="맑은 고딕"/>
                <a:ea typeface="맑은 고딕"/>
                <a:cs typeface="맑은 고딕"/>
              </a:rPr>
              <a:t>동사의 수 일치 (주어 The table 단수) · 관계대명사 (선행사 없음 → 관계대명사 what)</a:t>
            </a:r>
            <a:endParaRPr lang="ko-KR" sz="1400"/>
          </a:p>
        </p:txBody>
      </p:sp>
      <p:sp>
        <p:nvSpPr>
          <p:cNvPr id="17" name="item_card_3"/>
          <p:cNvSpPr/>
          <p:nvPr/>
        </p:nvSpPr>
        <p:spPr>
          <a:xfrm>
            <a:off x="457200" y="3848100"/>
            <a:ext cx="11274552" cy="1516634"/>
          </a:xfrm>
          <a:prstGeom prst="roundRect">
            <a:avLst>
              <a:gd name="adj" fmla="val 6000"/>
            </a:avLst>
          </a:prstGeom>
          <a:solidFill>
            <a:srgbClr val="F3F5F9"/>
          </a:solidFill>
          <a:ln w="12700">
            <a:solidFill>
              <a:srgbClr val="D9DFEA"/>
            </a:solidFill>
          </a:ln>
        </p:spPr>
        <p:txBody>
          <a:bodyPr rtlCol="0" anchor="ctr"/>
          <a:lstStyle/>
          <a:p>
            <a:pPr algn="ctr"/>
          </a:p>
        </p:txBody>
      </p:sp>
      <p:sp>
        <p:nvSpPr>
          <p:cNvPr id="18" name="kor_3"/>
          <p:cNvSpPr txBox="1"/>
          <p:nvPr/>
        </p:nvSpPr>
        <p:spPr>
          <a:xfrm>
            <a:off x="457200" y="3957828"/>
            <a:ext cx="11274552" cy="363728"/>
          </a:xfrm>
          <a:prstGeom prst="rect">
            <a:avLst/>
          </a:prstGeom>
          <a:noFill/>
        </p:spPr>
        <p:txBody>
          <a:bodyPr wrap="square" lIns="228600" tIns="54864" rIns="228600" bIns="54864" anchor="t" rtlCol="0">
            <a:noAutofit/>
          </a:bodyPr>
          <a:lstStyle/>
          <a:p>
            <a:pPr algn="l">
              <a:lnSpc>
                <a:spcPts val="2000"/>
              </a:lnSpc>
              <a:spcBef>
                <a:spcPts val="0"/>
              </a:spcBef>
              <a:spcAft>
                <a:spcPts val="0"/>
              </a:spcAft>
              <a:buNone/>
            </a:pPr>
            <a:r>
              <a:rPr lang="en-US" altLang="en-US" sz="1600" b="1" dirty="0">
                <a:solidFill>
                  <a:srgbClr val="1E2A5A"/>
                </a:solidFill>
                <a:latin typeface="Calibri"/>
                <a:ea typeface="맑은 고딕"/>
                <a:cs typeface="Calibri"/>
              </a:rPr>
              <a:t>26.  </a:t>
            </a:r>
            <a:r>
              <a:rPr lang="ko-KR" altLang="en-US" sz="1600" b="0" dirty="0">
                <a:solidFill>
                  <a:srgbClr val="3C4558"/>
                </a:solidFill>
                <a:latin typeface="맑은 고딕"/>
                <a:ea typeface="맑은 고딕"/>
                <a:cs typeface="맑은 고딕"/>
              </a:rPr>
              <a:t>"아빠, 이게 저 사람 차에 안 들어가면 어떡해요? 돈을 안 줄지도 몰라요." 버트가 말했다.</a:t>
            </a:r>
            <a:endParaRPr lang="ko-KR" sz="1600"/>
          </a:p>
        </p:txBody>
      </p:sp>
      <p:sp>
        <p:nvSpPr>
          <p:cNvPr id="19" name="eng_3"/>
          <p:cNvSpPr txBox="1"/>
          <p:nvPr/>
        </p:nvSpPr>
        <p:spPr>
          <a:xfrm>
            <a:off x="457200" y="4266692"/>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solidFill>
                <a:latin typeface="Calibri"/>
                <a:ea typeface="맑은 고딕"/>
                <a:cs typeface="Calibri"/>
              </a:rPr>
              <a:t>"Dad, what if this thing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doesn’t</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don’t</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go in his car? He might not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to pay</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pay</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you," said Bert.</a:t>
            </a:r>
            <a:endParaRPr lang="ko-KR" sz="2000"/>
          </a:p>
        </p:txBody>
      </p:sp>
      <p:sp>
        <p:nvSpPr>
          <p:cNvPr id="20" name="rv_eng_3"/>
          <p:cNvSpPr txBox="1"/>
          <p:nvPr/>
        </p:nvSpPr>
        <p:spPr>
          <a:xfrm>
            <a:off x="457200" y="4266692"/>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alpha val="0"/>
                  </a:srgbClr>
                </a:solidFill>
                <a:latin typeface="Calibri"/>
                <a:ea typeface="맑은 고딕"/>
                <a:cs typeface="Calibri"/>
              </a:rPr>
              <a:t>"Dad, what if this thing </a:t>
            </a:r>
            <a:r>
              <a:rPr lang="en-US" altLang="en-US" sz="2000" b="1" dirty="0">
                <a:solidFill>
                  <a:srgbClr val="C00000">
                    <a:alpha val="0"/>
                  </a:srgbClr>
                </a:solidFill>
                <a:latin typeface="Calibri"/>
                <a:ea typeface="맑은 고딕"/>
                <a:cs typeface="Calibri"/>
              </a:rPr>
              <a:t>[ </a:t>
            </a:r>
            <a:r>
              <a:rPr lang="en-US" altLang="en-US" sz="2000" b="1" dirty="0">
                <a:solidFill>
                  <a:srgbClr val="C00000"/>
                </a:solidFill>
                <a:latin typeface="Calibri"/>
                <a:ea typeface="맑은 고딕"/>
                <a:cs typeface="Calibri"/>
              </a:rPr>
              <a:t>doesn’t</a:t>
            </a:r>
            <a:r>
              <a:rPr lang="en-US" altLang="en-US" sz="2000" b="1" dirty="0">
                <a:solidFill>
                  <a:srgbClr val="C00000">
                    <a:alpha val="0"/>
                  </a:srgbClr>
                </a:solidFill>
                <a:latin typeface="Calibri"/>
                <a:ea typeface="맑은 고딕"/>
                <a:cs typeface="Calibri"/>
              </a:rPr>
              <a:t> / </a:t>
            </a:r>
            <a:r>
              <a:rPr lang="en-US" altLang="en-US" sz="2000" b="1" dirty="0">
                <a:solidFill>
                  <a:srgbClr val="C00000">
                    <a:alpha val="0"/>
                  </a:srgbClr>
                </a:solidFill>
                <a:latin typeface="Calibri"/>
                <a:ea typeface="맑은 고딕"/>
                <a:cs typeface="Calibri"/>
              </a:rPr>
              <a:t>don’t</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go in his car? He might not </a:t>
            </a:r>
            <a:r>
              <a:rPr lang="en-US" altLang="en-US" sz="2000" b="1" dirty="0">
                <a:solidFill>
                  <a:srgbClr val="C00000">
                    <a:alpha val="0"/>
                  </a:srgbClr>
                </a:solidFill>
                <a:latin typeface="Calibri"/>
                <a:ea typeface="맑은 고딕"/>
                <a:cs typeface="Calibri"/>
              </a:rPr>
              <a:t>[ </a:t>
            </a:r>
            <a:r>
              <a:rPr lang="en-US" altLang="en-US" sz="2000" b="1" dirty="0">
                <a:solidFill>
                  <a:srgbClr val="C00000">
                    <a:alpha val="0"/>
                  </a:srgbClr>
                </a:solidFill>
                <a:latin typeface="Calibri"/>
                <a:ea typeface="맑은 고딕"/>
                <a:cs typeface="Calibri"/>
              </a:rPr>
              <a:t>to pay</a:t>
            </a:r>
            <a:r>
              <a:rPr lang="en-US" altLang="en-US" sz="2000" b="1" dirty="0">
                <a:solidFill>
                  <a:srgbClr val="C00000">
                    <a:alpha val="0"/>
                  </a:srgbClr>
                </a:solidFill>
                <a:latin typeface="Calibri"/>
                <a:ea typeface="맑은 고딕"/>
                <a:cs typeface="Calibri"/>
              </a:rPr>
              <a:t> / </a:t>
            </a:r>
            <a:r>
              <a:rPr lang="en-US" altLang="en-US" sz="2000" b="1" dirty="0">
                <a:solidFill>
                  <a:srgbClr val="C00000"/>
                </a:solidFill>
                <a:latin typeface="Calibri"/>
                <a:ea typeface="맑은 고딕"/>
                <a:cs typeface="Calibri"/>
              </a:rPr>
              <a:t>pay</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you," said Bert.</a:t>
            </a:r>
            <a:endParaRPr lang="ko-KR" sz="2000"/>
          </a:p>
        </p:txBody>
      </p:sp>
      <p:sp>
        <p:nvSpPr>
          <p:cNvPr id="21" name="rv_point_3"/>
          <p:cNvSpPr txBox="1"/>
          <p:nvPr/>
        </p:nvSpPr>
        <p:spPr>
          <a:xfrm>
            <a:off x="457200" y="5032756"/>
            <a:ext cx="11274552" cy="331978"/>
          </a:xfrm>
          <a:prstGeom prst="rect">
            <a:avLst/>
          </a:prstGeom>
          <a:noFill/>
        </p:spPr>
        <p:txBody>
          <a:bodyPr wrap="square" lIns="228600" tIns="54864" rIns="228600" bIns="54864" anchor="t" rtlCol="0">
            <a:noAutofit/>
          </a:bodyPr>
          <a:lstStyle/>
          <a:p>
            <a:pPr algn="l">
              <a:lnSpc>
                <a:spcPts val="1750"/>
              </a:lnSpc>
              <a:spcBef>
                <a:spcPts val="0"/>
              </a:spcBef>
              <a:spcAft>
                <a:spcPts val="0"/>
              </a:spcAft>
              <a:buNone/>
            </a:pPr>
            <a:r>
              <a:rPr lang="ko-KR" altLang="en-US" sz="1400" b="1" dirty="0">
                <a:solidFill>
                  <a:srgbClr val="C00000"/>
                </a:solidFill>
                <a:latin typeface="맑은 고딕"/>
                <a:ea typeface="맑은 고딕"/>
                <a:cs typeface="맑은 고딕"/>
              </a:rPr>
              <a:t>포인트  </a:t>
            </a:r>
            <a:r>
              <a:rPr lang="ko-KR" altLang="en-US" sz="1400" b="0" dirty="0">
                <a:solidFill>
                  <a:srgbClr val="2F5597"/>
                </a:solidFill>
                <a:latin typeface="맑은 고딕"/>
                <a:ea typeface="맑은 고딕"/>
                <a:cs typeface="맑은 고딕"/>
              </a:rPr>
              <a:t>동사의 수 일치 (주어 this thing 단수) · to부정사/동명사/동사원형 (조동사 might + 동사원형)</a:t>
            </a:r>
            <a:endParaRPr lang="ko-KR" sz="1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25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250"/>
                                        <p:tgtEl>
                                          <p:spTgt spid="1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250"/>
                                        <p:tgtEl>
                                          <p:spTgt spid="1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fade">
                                      <p:cBhvr>
                                        <p:cTn id="16" dur="250"/>
                                        <p:tgtEl>
                                          <p:spTgt spid="1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250"/>
                                        <p:tgtEl>
                                          <p:spTgt spid="2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fade">
                                      <p:cBhvr>
                                        <p:cTn id="22" dur="25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5" grpId="0" animBg="1"/>
      <p:bldP spid="16" grpId="0" animBg="1"/>
      <p:bldP spid="20" grpId="0" animBg="1"/>
      <p:bldP spid="21" grpId="0" animBg="1"/>
    </p:bldLst>
  </p:timing>
</p:sld>
</file>

<file path=ppt/slides/slide1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8000"/>
            </a:avLst>
          </a:prstGeom>
          <a:solidFill>
            <a:srgbClr val="1E2A5A"/>
          </a:solidFill>
          <a:ln>
            <a:noFill/>
          </a:ln>
        </p:spPr>
        <p:txBody>
          <a:bodyPr wrap="square" lIns="45720" tIns="18288" rIns="45720" bIns="18288" anchor="ctr" rtlCol="0">
            <a:noAutofit/>
          </a:bodyPr>
          <a:lstStyle/>
          <a:p>
            <a:pPr algn="ctr">
              <a:lnSpc>
                <a:spcPts val="2000"/>
              </a:lnSpc>
              <a:spcBef>
                <a:spcPts val="0"/>
              </a:spcBef>
              <a:spcAft>
                <a:spcPts val="0"/>
              </a:spcAft>
              <a:buNone/>
            </a:pPr>
            <a:r>
              <a:rPr lang="en-US" altLang="en-US" sz="1700" b="1" dirty="0">
                <a:solidFill>
                  <a:srgbClr val="FFFFFF"/>
                </a:solidFill>
                <a:latin typeface="Calibri"/>
                <a:ea typeface="맑은 고딕"/>
                <a:cs typeface="Calibri"/>
              </a:rPr>
              <a:t>L6</a:t>
            </a:r>
            <a:endParaRPr lang="ko-KR" sz="1700"/>
          </a:p>
        </p:txBody>
      </p:sp>
      <p:sp>
        <p:nvSpPr>
          <p:cNvPr id="3" name="hdr_chip"/>
          <p:cNvSpPr/>
          <p:nvPr/>
        </p:nvSpPr>
        <p:spPr>
          <a:xfrm>
            <a:off x="1755648" y="274320"/>
            <a:ext cx="1371600" cy="493776"/>
          </a:xfrm>
          <a:prstGeom prst="roundRect">
            <a:avLst>
              <a:gd name="adj" fmla="val 8000"/>
            </a:avLst>
          </a:prstGeom>
          <a:solidFill>
            <a:srgbClr val="E6EAF4"/>
          </a:solidFill>
          <a:ln>
            <a:noFill/>
          </a:ln>
        </p:spPr>
        <p:txBody>
          <a:bodyPr wrap="square" lIns="27432" tIns="18288" rIns="27432" bIns="18288" anchor="ctr" rtlCol="0">
            <a:noAutofit/>
          </a:bodyPr>
          <a:lstStyle/>
          <a:p>
            <a:pPr algn="ctr">
              <a:lnSpc>
                <a:spcPts val="1700"/>
              </a:lnSpc>
              <a:spcBef>
                <a:spcPts val="0"/>
              </a:spcBef>
              <a:spcAft>
                <a:spcPts val="0"/>
              </a:spcAft>
              <a:buNone/>
            </a:pPr>
            <a:r>
              <a:rPr lang="ko-KR" altLang="en-US" sz="1400" b="1" dirty="0">
                <a:solidFill>
                  <a:srgbClr val="1E2A5A"/>
                </a:solidFill>
                <a:latin typeface="맑은 고딕"/>
                <a:ea typeface="맑은 고딕"/>
                <a:cs typeface="맑은 고딕"/>
              </a:rPr>
              <a:t>PART 5 · 10</a:t>
            </a:r>
            <a:endParaRPr lang="ko-KR" sz="1400"/>
          </a:p>
        </p:txBody>
      </p:sp>
      <p:sp>
        <p:nvSpPr>
          <p:cNvPr id="4" name="hdr_q"/>
          <p:cNvSpPr txBox="1"/>
          <p:nvPr/>
        </p:nvSpPr>
        <p:spPr>
          <a:xfrm>
            <a:off x="3246120" y="246888"/>
            <a:ext cx="8485632" cy="548640"/>
          </a:xfrm>
          <a:prstGeom prst="rect">
            <a:avLst/>
          </a:prstGeom>
          <a:noFill/>
        </p:spPr>
        <p:txBody>
          <a:bodyPr wrap="square" lIns="109728" tIns="54864" rIns="109728" bIns="54864" anchor="ctr" rtlCol="0">
            <a:noAutofit/>
          </a:bodyPr>
          <a:lstStyle/>
          <a:p>
            <a:pPr algn="l">
              <a:lnSpc>
                <a:spcPts val="2400"/>
              </a:lnSpc>
              <a:spcBef>
                <a:spcPts val="0"/>
              </a:spcBef>
              <a:spcAft>
                <a:spcPts val="0"/>
              </a:spcAft>
              <a:buNone/>
            </a:pPr>
            <a:r>
              <a:rPr lang="ko-KR" altLang="en-US" sz="2000" b="1" dirty="0">
                <a:solidFill>
                  <a:srgbClr val="1F2328"/>
                </a:solidFill>
                <a:latin typeface="맑은 고딕"/>
                <a:ea typeface="맑은 고딕"/>
                <a:cs typeface="맑은 고딕"/>
              </a:rPr>
              <a:t>[  ] 안에서 어법상 알맞은 것을 고르시오.</a:t>
            </a:r>
            <a:endParaRPr lang="ko-KR" sz="2000"/>
          </a:p>
        </p:txBody>
      </p:sp>
      <p:sp>
        <p:nvSpPr>
          <p:cNvPr id="5" name="ftr_exam"/>
          <p:cNvSpPr txBox="1"/>
          <p:nvPr/>
        </p:nvSpPr>
        <p:spPr>
          <a:xfrm>
            <a:off x="457200" y="6519672"/>
            <a:ext cx="5669280" cy="256032"/>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6</a:t>
            </a:r>
            <a:endParaRPr lang="ko-KR" sz="1000"/>
          </a:p>
        </p:txBody>
      </p:sp>
      <p:sp>
        <p:nvSpPr>
          <p:cNvPr id="6" name="ftr_hint"/>
          <p:cNvSpPr txBox="1"/>
          <p:nvPr/>
        </p:nvSpPr>
        <p:spPr>
          <a:xfrm>
            <a:off x="5971032" y="6519672"/>
            <a:ext cx="5760720" cy="256032"/>
          </a:xfrm>
          <a:prstGeom prst="rect">
            <a:avLst/>
          </a:prstGeom>
          <a:noFill/>
        </p:spPr>
        <p:txBody>
          <a:bodyPr wrap="square" lIns="0" tIns="0" rIns="0" bIns="0" anchor="t" rtlCol="0">
            <a:noAutofit/>
          </a:bodyPr>
          <a:lstStyle/>
          <a:p>
            <a:pPr algn="r">
              <a:lnSpc>
                <a:spcPts val="1200"/>
              </a:lnSpc>
              <a:spcBef>
                <a:spcPts val="0"/>
              </a:spcBef>
              <a:spcAft>
                <a:spcPts val="0"/>
              </a:spcAft>
              <a:buNone/>
            </a:pPr>
            <a:r>
              <a:rPr lang="ko-KR" altLang="en-US" sz="1000" b="0" dirty="0">
                <a:solidFill>
                  <a:srgbClr val="7A808C"/>
                </a:solidFill>
                <a:latin typeface="맑은 고딕"/>
                <a:ea typeface="맑은 고딕"/>
                <a:cs typeface="맑은 고딕"/>
              </a:rPr>
              <a:t>클릭 ① 정답(빨간색) + 문법 포인트 공개</a:t>
            </a:r>
            <a:endParaRPr lang="ko-KR" sz="1000"/>
          </a:p>
        </p:txBody>
      </p:sp>
      <p:sp>
        <p:nvSpPr>
          <p:cNvPr id="7" name="item_card_1"/>
          <p:cNvSpPr/>
          <p:nvPr/>
        </p:nvSpPr>
        <p:spPr>
          <a:xfrm>
            <a:off x="457200" y="950976"/>
            <a:ext cx="11274552" cy="1770633"/>
          </a:xfrm>
          <a:prstGeom prst="roundRect">
            <a:avLst>
              <a:gd name="adj" fmla="val 6000"/>
            </a:avLst>
          </a:prstGeom>
          <a:solidFill>
            <a:srgbClr val="F3F5F9"/>
          </a:solidFill>
          <a:ln w="12700">
            <a:solidFill>
              <a:srgbClr val="D9DFEA"/>
            </a:solidFill>
          </a:ln>
        </p:spPr>
        <p:txBody>
          <a:bodyPr rtlCol="0" anchor="ctr"/>
          <a:lstStyle/>
          <a:p>
            <a:pPr algn="ctr"/>
          </a:p>
        </p:txBody>
      </p:sp>
      <p:sp>
        <p:nvSpPr>
          <p:cNvPr id="8" name="kor_1"/>
          <p:cNvSpPr txBox="1"/>
          <p:nvPr/>
        </p:nvSpPr>
        <p:spPr>
          <a:xfrm>
            <a:off x="457200" y="1060704"/>
            <a:ext cx="11274552" cy="617728"/>
          </a:xfrm>
          <a:prstGeom prst="rect">
            <a:avLst/>
          </a:prstGeom>
          <a:noFill/>
        </p:spPr>
        <p:txBody>
          <a:bodyPr wrap="square" lIns="228600" tIns="54864" rIns="228600" bIns="54864" anchor="t" rtlCol="0">
            <a:noAutofit/>
          </a:bodyPr>
          <a:lstStyle/>
          <a:p>
            <a:pPr algn="l">
              <a:lnSpc>
                <a:spcPts val="2000"/>
              </a:lnSpc>
              <a:spcBef>
                <a:spcPts val="0"/>
              </a:spcBef>
              <a:spcAft>
                <a:spcPts val="0"/>
              </a:spcAft>
              <a:buNone/>
            </a:pPr>
            <a:r>
              <a:rPr lang="en-US" altLang="en-US" sz="1600" b="1" dirty="0">
                <a:solidFill>
                  <a:srgbClr val="1E2A5A"/>
                </a:solidFill>
                <a:latin typeface="Calibri"/>
                <a:ea typeface="맑은 고딕"/>
                <a:cs typeface="Calibri"/>
              </a:rPr>
              <a:t>27.  </a:t>
            </a:r>
            <a:r>
              <a:rPr lang="ko-KR" altLang="en-US" sz="1600" b="0" dirty="0">
                <a:solidFill>
                  <a:srgbClr val="3C4558"/>
                </a:solidFill>
                <a:latin typeface="맑은 고딕"/>
                <a:ea typeface="맑은 고딕"/>
                <a:cs typeface="맑은 고딕"/>
              </a:rPr>
              <a:t>그때 러민스에게 생각이 떠올랐다. "저 사람한테 필요한 건 다리뿐이야. 우리가 다리를 잘라 주자." 러민스가 말했다.</a:t>
            </a:r>
            <a:endParaRPr lang="ko-KR" sz="1600"/>
          </a:p>
        </p:txBody>
      </p:sp>
      <p:sp>
        <p:nvSpPr>
          <p:cNvPr id="9" name="eng_1"/>
          <p:cNvSpPr txBox="1"/>
          <p:nvPr/>
        </p:nvSpPr>
        <p:spPr>
          <a:xfrm>
            <a:off x="457200" y="1623568"/>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solidFill>
                <a:latin typeface="Calibri"/>
                <a:ea typeface="맑은 고딕"/>
                <a:cs typeface="Calibri"/>
              </a:rPr>
              <a:t>Rummins then had an idea.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That</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What</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he wants is only the legs. Let’s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cut</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to cut</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the legs off for him," said Rummins.</a:t>
            </a:r>
            <a:endParaRPr lang="ko-KR" sz="2000"/>
          </a:p>
        </p:txBody>
      </p:sp>
      <p:sp>
        <p:nvSpPr>
          <p:cNvPr id="10" name="rv_eng_1"/>
          <p:cNvSpPr txBox="1"/>
          <p:nvPr/>
        </p:nvSpPr>
        <p:spPr>
          <a:xfrm>
            <a:off x="457200" y="1623568"/>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alpha val="0"/>
                  </a:srgbClr>
                </a:solidFill>
                <a:latin typeface="Calibri"/>
                <a:ea typeface="맑은 고딕"/>
                <a:cs typeface="Calibri"/>
              </a:rPr>
              <a:t>Rummins then had an idea. "</a:t>
            </a:r>
            <a:r>
              <a:rPr lang="en-US" altLang="en-US" sz="2000" b="1" dirty="0">
                <a:solidFill>
                  <a:srgbClr val="C00000">
                    <a:alpha val="0"/>
                  </a:srgbClr>
                </a:solidFill>
                <a:latin typeface="Calibri"/>
                <a:ea typeface="맑은 고딕"/>
                <a:cs typeface="Calibri"/>
              </a:rPr>
              <a:t>[ </a:t>
            </a:r>
            <a:r>
              <a:rPr lang="en-US" altLang="en-US" sz="2000" b="1" dirty="0">
                <a:solidFill>
                  <a:srgbClr val="C00000">
                    <a:alpha val="0"/>
                  </a:srgbClr>
                </a:solidFill>
                <a:latin typeface="Calibri"/>
                <a:ea typeface="맑은 고딕"/>
                <a:cs typeface="Calibri"/>
              </a:rPr>
              <a:t>That</a:t>
            </a:r>
            <a:r>
              <a:rPr lang="en-US" altLang="en-US" sz="2000" b="1" dirty="0">
                <a:solidFill>
                  <a:srgbClr val="C00000">
                    <a:alpha val="0"/>
                  </a:srgbClr>
                </a:solidFill>
                <a:latin typeface="Calibri"/>
                <a:ea typeface="맑은 고딕"/>
                <a:cs typeface="Calibri"/>
              </a:rPr>
              <a:t> / </a:t>
            </a:r>
            <a:r>
              <a:rPr lang="en-US" altLang="en-US" sz="2000" b="1" dirty="0">
                <a:solidFill>
                  <a:srgbClr val="C00000"/>
                </a:solidFill>
                <a:latin typeface="Calibri"/>
                <a:ea typeface="맑은 고딕"/>
                <a:cs typeface="Calibri"/>
              </a:rPr>
              <a:t>What</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he wants is only the legs. Let’s </a:t>
            </a:r>
            <a:r>
              <a:rPr lang="en-US" altLang="en-US" sz="2000" b="1" dirty="0">
                <a:solidFill>
                  <a:srgbClr val="C00000">
                    <a:alpha val="0"/>
                  </a:srgbClr>
                </a:solidFill>
                <a:latin typeface="Calibri"/>
                <a:ea typeface="맑은 고딕"/>
                <a:cs typeface="Calibri"/>
              </a:rPr>
              <a:t>[ </a:t>
            </a:r>
            <a:r>
              <a:rPr lang="en-US" altLang="en-US" sz="2000" b="1" dirty="0">
                <a:solidFill>
                  <a:srgbClr val="C00000"/>
                </a:solidFill>
                <a:latin typeface="Calibri"/>
                <a:ea typeface="맑은 고딕"/>
                <a:cs typeface="Calibri"/>
              </a:rPr>
              <a:t>cut</a:t>
            </a:r>
            <a:r>
              <a:rPr lang="en-US" altLang="en-US" sz="2000" b="1" dirty="0">
                <a:solidFill>
                  <a:srgbClr val="C00000">
                    <a:alpha val="0"/>
                  </a:srgbClr>
                </a:solidFill>
                <a:latin typeface="Calibri"/>
                <a:ea typeface="맑은 고딕"/>
                <a:cs typeface="Calibri"/>
              </a:rPr>
              <a:t> / </a:t>
            </a:r>
            <a:r>
              <a:rPr lang="en-US" altLang="en-US" sz="2000" b="1" dirty="0">
                <a:solidFill>
                  <a:srgbClr val="C00000">
                    <a:alpha val="0"/>
                  </a:srgbClr>
                </a:solidFill>
                <a:latin typeface="Calibri"/>
                <a:ea typeface="맑은 고딕"/>
                <a:cs typeface="Calibri"/>
              </a:rPr>
              <a:t>to cut</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the legs off for him," said Rummins.</a:t>
            </a:r>
            <a:endParaRPr lang="ko-KR" sz="2000"/>
          </a:p>
        </p:txBody>
      </p:sp>
      <p:sp>
        <p:nvSpPr>
          <p:cNvPr id="11" name="rv_point_1"/>
          <p:cNvSpPr txBox="1"/>
          <p:nvPr/>
        </p:nvSpPr>
        <p:spPr>
          <a:xfrm>
            <a:off x="457200" y="2389632"/>
            <a:ext cx="11274552" cy="331978"/>
          </a:xfrm>
          <a:prstGeom prst="rect">
            <a:avLst/>
          </a:prstGeom>
          <a:noFill/>
        </p:spPr>
        <p:txBody>
          <a:bodyPr wrap="square" lIns="228600" tIns="54864" rIns="228600" bIns="54864" anchor="t" rtlCol="0">
            <a:noAutofit/>
          </a:bodyPr>
          <a:lstStyle/>
          <a:p>
            <a:pPr algn="l">
              <a:lnSpc>
                <a:spcPts val="1750"/>
              </a:lnSpc>
              <a:spcBef>
                <a:spcPts val="0"/>
              </a:spcBef>
              <a:spcAft>
                <a:spcPts val="0"/>
              </a:spcAft>
              <a:buNone/>
            </a:pPr>
            <a:r>
              <a:rPr lang="ko-KR" altLang="en-US" sz="1400" b="1" dirty="0">
                <a:solidFill>
                  <a:srgbClr val="C00000"/>
                </a:solidFill>
                <a:latin typeface="맑은 고딕"/>
                <a:ea typeface="맑은 고딕"/>
                <a:cs typeface="맑은 고딕"/>
              </a:rPr>
              <a:t>포인트  </a:t>
            </a:r>
            <a:r>
              <a:rPr lang="ko-KR" altLang="en-US" sz="1400" b="0" dirty="0">
                <a:solidFill>
                  <a:srgbClr val="2F5597"/>
                </a:solidFill>
                <a:latin typeface="맑은 고딕"/>
                <a:ea typeface="맑은 고딕"/>
                <a:cs typeface="맑은 고딕"/>
              </a:rPr>
              <a:t>관계대명사 (선행사 없음, '~하는 것' → what) · to부정사/동명사/동사원형 (Let’s + 동사원형)</a:t>
            </a:r>
            <a:endParaRPr lang="ko-KR" sz="1400"/>
          </a:p>
        </p:txBody>
      </p:sp>
      <p:sp>
        <p:nvSpPr>
          <p:cNvPr id="12" name="item_card_2"/>
          <p:cNvSpPr/>
          <p:nvPr/>
        </p:nvSpPr>
        <p:spPr>
          <a:xfrm>
            <a:off x="457200" y="2831338"/>
            <a:ext cx="11274552" cy="1516634"/>
          </a:xfrm>
          <a:prstGeom prst="roundRect">
            <a:avLst>
              <a:gd name="adj" fmla="val 6000"/>
            </a:avLst>
          </a:prstGeom>
          <a:solidFill>
            <a:srgbClr val="F3F5F9"/>
          </a:solidFill>
          <a:ln w="12700">
            <a:solidFill>
              <a:srgbClr val="D9DFEA"/>
            </a:solidFill>
          </a:ln>
        </p:spPr>
        <p:txBody>
          <a:bodyPr rtlCol="0" anchor="ctr"/>
          <a:lstStyle/>
          <a:p>
            <a:pPr algn="ctr"/>
          </a:p>
        </p:txBody>
      </p:sp>
      <p:sp>
        <p:nvSpPr>
          <p:cNvPr id="13" name="kor_2"/>
          <p:cNvSpPr txBox="1"/>
          <p:nvPr/>
        </p:nvSpPr>
        <p:spPr>
          <a:xfrm>
            <a:off x="457200" y="2941066"/>
            <a:ext cx="11274552" cy="363728"/>
          </a:xfrm>
          <a:prstGeom prst="rect">
            <a:avLst/>
          </a:prstGeom>
          <a:noFill/>
        </p:spPr>
        <p:txBody>
          <a:bodyPr wrap="square" lIns="228600" tIns="54864" rIns="228600" bIns="54864" anchor="t" rtlCol="0">
            <a:noAutofit/>
          </a:bodyPr>
          <a:lstStyle/>
          <a:p>
            <a:pPr algn="l">
              <a:lnSpc>
                <a:spcPts val="2000"/>
              </a:lnSpc>
              <a:spcBef>
                <a:spcPts val="0"/>
              </a:spcBef>
              <a:spcAft>
                <a:spcPts val="0"/>
              </a:spcAft>
              <a:buNone/>
            </a:pPr>
            <a:r>
              <a:rPr lang="en-US" altLang="en-US" sz="1600" b="1" dirty="0">
                <a:solidFill>
                  <a:srgbClr val="1E2A5A"/>
                </a:solidFill>
                <a:latin typeface="Calibri"/>
                <a:ea typeface="맑은 고딕"/>
                <a:cs typeface="Calibri"/>
              </a:rPr>
              <a:t>28.  </a:t>
            </a:r>
            <a:r>
              <a:rPr lang="ko-KR" altLang="en-US" sz="1600" b="0" dirty="0">
                <a:solidFill>
                  <a:srgbClr val="3C4558"/>
                </a:solidFill>
                <a:latin typeface="맑은 고딕"/>
                <a:ea typeface="맑은 고딕"/>
                <a:cs typeface="맑은 고딕"/>
              </a:rPr>
              <a:t>"좋은 생각이에요!" 버트가 말했다. 버트는 곧 톱을 꺼내 탁자 다리를 자르기 시작했다.</a:t>
            </a:r>
            <a:endParaRPr lang="ko-KR" sz="1600"/>
          </a:p>
        </p:txBody>
      </p:sp>
      <p:sp>
        <p:nvSpPr>
          <p:cNvPr id="14" name="eng_2"/>
          <p:cNvSpPr txBox="1"/>
          <p:nvPr/>
        </p:nvSpPr>
        <p:spPr>
          <a:xfrm>
            <a:off x="457200" y="3249930"/>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solidFill>
                <a:latin typeface="Calibri"/>
                <a:ea typeface="맑은 고딕"/>
                <a:cs typeface="Calibri"/>
              </a:rPr>
              <a:t>"Great idea!" said Bert. Bert then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took</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was taken</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out a saw and began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cut</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to cut</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off the legs.</a:t>
            </a:r>
            <a:endParaRPr lang="ko-KR" sz="2000"/>
          </a:p>
        </p:txBody>
      </p:sp>
      <p:sp>
        <p:nvSpPr>
          <p:cNvPr id="15" name="rv_eng_2"/>
          <p:cNvSpPr txBox="1"/>
          <p:nvPr/>
        </p:nvSpPr>
        <p:spPr>
          <a:xfrm>
            <a:off x="457200" y="3249930"/>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alpha val="0"/>
                  </a:srgbClr>
                </a:solidFill>
                <a:latin typeface="Calibri"/>
                <a:ea typeface="맑은 고딕"/>
                <a:cs typeface="Calibri"/>
              </a:rPr>
              <a:t>"Great idea!" said Bert. Bert then </a:t>
            </a:r>
            <a:r>
              <a:rPr lang="en-US" altLang="en-US" sz="2000" b="1" dirty="0">
                <a:solidFill>
                  <a:srgbClr val="C00000">
                    <a:alpha val="0"/>
                  </a:srgbClr>
                </a:solidFill>
                <a:latin typeface="Calibri"/>
                <a:ea typeface="맑은 고딕"/>
                <a:cs typeface="Calibri"/>
              </a:rPr>
              <a:t>[ </a:t>
            </a:r>
            <a:r>
              <a:rPr lang="en-US" altLang="en-US" sz="2000" b="1" dirty="0">
                <a:solidFill>
                  <a:srgbClr val="C00000"/>
                </a:solidFill>
                <a:latin typeface="Calibri"/>
                <a:ea typeface="맑은 고딕"/>
                <a:cs typeface="Calibri"/>
              </a:rPr>
              <a:t>took</a:t>
            </a:r>
            <a:r>
              <a:rPr lang="en-US" altLang="en-US" sz="2000" b="1" dirty="0">
                <a:solidFill>
                  <a:srgbClr val="C00000">
                    <a:alpha val="0"/>
                  </a:srgbClr>
                </a:solidFill>
                <a:latin typeface="Calibri"/>
                <a:ea typeface="맑은 고딕"/>
                <a:cs typeface="Calibri"/>
              </a:rPr>
              <a:t> / </a:t>
            </a:r>
            <a:r>
              <a:rPr lang="en-US" altLang="en-US" sz="2000" b="1" dirty="0">
                <a:solidFill>
                  <a:srgbClr val="C00000">
                    <a:alpha val="0"/>
                  </a:srgbClr>
                </a:solidFill>
                <a:latin typeface="Calibri"/>
                <a:ea typeface="맑은 고딕"/>
                <a:cs typeface="Calibri"/>
              </a:rPr>
              <a:t>was taken</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out a saw and began </a:t>
            </a:r>
            <a:r>
              <a:rPr lang="en-US" altLang="en-US" sz="2000" b="1" dirty="0">
                <a:solidFill>
                  <a:srgbClr val="C00000">
                    <a:alpha val="0"/>
                  </a:srgbClr>
                </a:solidFill>
                <a:latin typeface="Calibri"/>
                <a:ea typeface="맑은 고딕"/>
                <a:cs typeface="Calibri"/>
              </a:rPr>
              <a:t>[ </a:t>
            </a:r>
            <a:r>
              <a:rPr lang="en-US" altLang="en-US" sz="2000" b="1" dirty="0">
                <a:solidFill>
                  <a:srgbClr val="C00000">
                    <a:alpha val="0"/>
                  </a:srgbClr>
                </a:solidFill>
                <a:latin typeface="Calibri"/>
                <a:ea typeface="맑은 고딕"/>
                <a:cs typeface="Calibri"/>
              </a:rPr>
              <a:t>cut</a:t>
            </a:r>
            <a:r>
              <a:rPr lang="en-US" altLang="en-US" sz="2000" b="1" dirty="0">
                <a:solidFill>
                  <a:srgbClr val="C00000">
                    <a:alpha val="0"/>
                  </a:srgbClr>
                </a:solidFill>
                <a:latin typeface="Calibri"/>
                <a:ea typeface="맑은 고딕"/>
                <a:cs typeface="Calibri"/>
              </a:rPr>
              <a:t> / </a:t>
            </a:r>
            <a:r>
              <a:rPr lang="en-US" altLang="en-US" sz="2000" b="1" dirty="0">
                <a:solidFill>
                  <a:srgbClr val="C00000"/>
                </a:solidFill>
                <a:latin typeface="Calibri"/>
                <a:ea typeface="맑은 고딕"/>
                <a:cs typeface="Calibri"/>
              </a:rPr>
              <a:t>to cut</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off the legs.</a:t>
            </a:r>
            <a:endParaRPr lang="ko-KR" sz="2000"/>
          </a:p>
        </p:txBody>
      </p:sp>
      <p:sp>
        <p:nvSpPr>
          <p:cNvPr id="16" name="rv_point_2"/>
          <p:cNvSpPr txBox="1"/>
          <p:nvPr/>
        </p:nvSpPr>
        <p:spPr>
          <a:xfrm>
            <a:off x="457200" y="4015994"/>
            <a:ext cx="11274552" cy="331978"/>
          </a:xfrm>
          <a:prstGeom prst="rect">
            <a:avLst/>
          </a:prstGeom>
          <a:noFill/>
        </p:spPr>
        <p:txBody>
          <a:bodyPr wrap="square" lIns="228600" tIns="54864" rIns="228600" bIns="54864" anchor="t" rtlCol="0">
            <a:noAutofit/>
          </a:bodyPr>
          <a:lstStyle/>
          <a:p>
            <a:pPr algn="l">
              <a:lnSpc>
                <a:spcPts val="1750"/>
              </a:lnSpc>
              <a:spcBef>
                <a:spcPts val="0"/>
              </a:spcBef>
              <a:spcAft>
                <a:spcPts val="0"/>
              </a:spcAft>
              <a:buNone/>
            </a:pPr>
            <a:r>
              <a:rPr lang="ko-KR" altLang="en-US" sz="1400" b="1" dirty="0">
                <a:solidFill>
                  <a:srgbClr val="C00000"/>
                </a:solidFill>
                <a:latin typeface="맑은 고딕"/>
                <a:ea typeface="맑은 고딕"/>
                <a:cs typeface="맑은 고딕"/>
              </a:rPr>
              <a:t>포인트  </a:t>
            </a:r>
            <a:r>
              <a:rPr lang="ko-KR" altLang="en-US" sz="1400" b="0" dirty="0">
                <a:solidFill>
                  <a:srgbClr val="2F5597"/>
                </a:solidFill>
                <a:latin typeface="맑은 고딕"/>
                <a:ea typeface="맑은 고딕"/>
                <a:cs typeface="맑은 고딕"/>
              </a:rPr>
              <a:t>수동태(능동/수동 구별) (목적어 a saw가 있으므로 능동) · to부정사/동명사/동사원형 (begin + to부정사)</a:t>
            </a:r>
            <a:endParaRPr lang="ko-KR" sz="1400"/>
          </a:p>
        </p:txBody>
      </p:sp>
      <p:sp>
        <p:nvSpPr>
          <p:cNvPr id="17" name="item_card_3"/>
          <p:cNvSpPr/>
          <p:nvPr/>
        </p:nvSpPr>
        <p:spPr>
          <a:xfrm>
            <a:off x="457200" y="4457700"/>
            <a:ext cx="11274552" cy="1738884"/>
          </a:xfrm>
          <a:prstGeom prst="roundRect">
            <a:avLst>
              <a:gd name="adj" fmla="val 6000"/>
            </a:avLst>
          </a:prstGeom>
          <a:solidFill>
            <a:srgbClr val="F3F5F9"/>
          </a:solidFill>
          <a:ln w="12700">
            <a:solidFill>
              <a:srgbClr val="D9DFEA"/>
            </a:solidFill>
          </a:ln>
        </p:spPr>
        <p:txBody>
          <a:bodyPr rtlCol="0" anchor="ctr"/>
          <a:lstStyle/>
          <a:p>
            <a:pPr algn="ctr"/>
          </a:p>
        </p:txBody>
      </p:sp>
      <p:sp>
        <p:nvSpPr>
          <p:cNvPr id="18" name="kor_3"/>
          <p:cNvSpPr txBox="1"/>
          <p:nvPr/>
        </p:nvSpPr>
        <p:spPr>
          <a:xfrm>
            <a:off x="457200" y="4567428"/>
            <a:ext cx="11274552" cy="363728"/>
          </a:xfrm>
          <a:prstGeom prst="rect">
            <a:avLst/>
          </a:prstGeom>
          <a:noFill/>
        </p:spPr>
        <p:txBody>
          <a:bodyPr wrap="square" lIns="228600" tIns="54864" rIns="228600" bIns="54864" anchor="t" rtlCol="0">
            <a:noAutofit/>
          </a:bodyPr>
          <a:lstStyle/>
          <a:p>
            <a:pPr algn="l">
              <a:lnSpc>
                <a:spcPts val="2000"/>
              </a:lnSpc>
              <a:spcBef>
                <a:spcPts val="0"/>
              </a:spcBef>
              <a:spcAft>
                <a:spcPts val="0"/>
              </a:spcAft>
              <a:buNone/>
            </a:pPr>
            <a:r>
              <a:rPr lang="en-US" altLang="en-US" sz="1600" b="1" dirty="0">
                <a:solidFill>
                  <a:srgbClr val="1E2A5A"/>
                </a:solidFill>
                <a:latin typeface="Calibri"/>
                <a:ea typeface="맑은 고딕"/>
                <a:cs typeface="Calibri"/>
              </a:rPr>
              <a:t>29.  </a:t>
            </a:r>
            <a:r>
              <a:rPr lang="ko-KR" altLang="en-US" sz="1600" b="0" dirty="0">
                <a:solidFill>
                  <a:srgbClr val="3C4558"/>
                </a:solidFill>
                <a:latin typeface="맑은 고딕"/>
                <a:ea typeface="맑은 고딕"/>
                <a:cs typeface="맑은 고딕"/>
              </a:rPr>
              <a:t>보기스 씨가 돌아왔을 때 탁자 다리는 이미 잘려 나가 있었다.</a:t>
            </a:r>
            <a:endParaRPr lang="ko-KR" sz="1600"/>
          </a:p>
        </p:txBody>
      </p:sp>
      <p:sp>
        <p:nvSpPr>
          <p:cNvPr id="19" name="eng_3"/>
          <p:cNvSpPr txBox="1"/>
          <p:nvPr/>
        </p:nvSpPr>
        <p:spPr>
          <a:xfrm>
            <a:off x="457200" y="4876292"/>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solidFill>
                <a:latin typeface="Calibri"/>
                <a:ea typeface="맑은 고딕"/>
                <a:cs typeface="Calibri"/>
              </a:rPr>
              <a:t>When Mr. Boggis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was come</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came</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back, the legs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had been cut</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had cut</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off.</a:t>
            </a:r>
            <a:endParaRPr lang="ko-KR" sz="2000"/>
          </a:p>
        </p:txBody>
      </p:sp>
      <p:sp>
        <p:nvSpPr>
          <p:cNvPr id="20" name="rv_eng_3"/>
          <p:cNvSpPr txBox="1"/>
          <p:nvPr/>
        </p:nvSpPr>
        <p:spPr>
          <a:xfrm>
            <a:off x="457200" y="4876292"/>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alpha val="0"/>
                  </a:srgbClr>
                </a:solidFill>
                <a:latin typeface="Calibri"/>
                <a:ea typeface="맑은 고딕"/>
                <a:cs typeface="Calibri"/>
              </a:rPr>
              <a:t>When Mr. Boggis </a:t>
            </a:r>
            <a:r>
              <a:rPr lang="en-US" altLang="en-US" sz="2000" b="1" dirty="0">
                <a:solidFill>
                  <a:srgbClr val="C00000">
                    <a:alpha val="0"/>
                  </a:srgbClr>
                </a:solidFill>
                <a:latin typeface="Calibri"/>
                <a:ea typeface="맑은 고딕"/>
                <a:cs typeface="Calibri"/>
              </a:rPr>
              <a:t>[ </a:t>
            </a:r>
            <a:r>
              <a:rPr lang="en-US" altLang="en-US" sz="2000" b="1" dirty="0">
                <a:solidFill>
                  <a:srgbClr val="C00000">
                    <a:alpha val="0"/>
                  </a:srgbClr>
                </a:solidFill>
                <a:latin typeface="Calibri"/>
                <a:ea typeface="맑은 고딕"/>
                <a:cs typeface="Calibri"/>
              </a:rPr>
              <a:t>was come</a:t>
            </a:r>
            <a:r>
              <a:rPr lang="en-US" altLang="en-US" sz="2000" b="1" dirty="0">
                <a:solidFill>
                  <a:srgbClr val="C00000">
                    <a:alpha val="0"/>
                  </a:srgbClr>
                </a:solidFill>
                <a:latin typeface="Calibri"/>
                <a:ea typeface="맑은 고딕"/>
                <a:cs typeface="Calibri"/>
              </a:rPr>
              <a:t> / </a:t>
            </a:r>
            <a:r>
              <a:rPr lang="en-US" altLang="en-US" sz="2000" b="1" dirty="0">
                <a:solidFill>
                  <a:srgbClr val="C00000"/>
                </a:solidFill>
                <a:latin typeface="Calibri"/>
                <a:ea typeface="맑은 고딕"/>
                <a:cs typeface="Calibri"/>
              </a:rPr>
              <a:t>came</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back, the legs </a:t>
            </a:r>
            <a:r>
              <a:rPr lang="en-US" altLang="en-US" sz="2000" b="1" dirty="0">
                <a:solidFill>
                  <a:srgbClr val="C00000">
                    <a:alpha val="0"/>
                  </a:srgbClr>
                </a:solidFill>
                <a:latin typeface="Calibri"/>
                <a:ea typeface="맑은 고딕"/>
                <a:cs typeface="Calibri"/>
              </a:rPr>
              <a:t>[ </a:t>
            </a:r>
            <a:r>
              <a:rPr lang="en-US" altLang="en-US" sz="2000" b="1" dirty="0">
                <a:solidFill>
                  <a:srgbClr val="C00000"/>
                </a:solidFill>
                <a:latin typeface="Calibri"/>
                <a:ea typeface="맑은 고딕"/>
                <a:cs typeface="Calibri"/>
              </a:rPr>
              <a:t>had been cut</a:t>
            </a:r>
            <a:r>
              <a:rPr lang="en-US" altLang="en-US" sz="2000" b="1" dirty="0">
                <a:solidFill>
                  <a:srgbClr val="C00000">
                    <a:alpha val="0"/>
                  </a:srgbClr>
                </a:solidFill>
                <a:latin typeface="Calibri"/>
                <a:ea typeface="맑은 고딕"/>
                <a:cs typeface="Calibri"/>
              </a:rPr>
              <a:t> / </a:t>
            </a:r>
            <a:r>
              <a:rPr lang="en-US" altLang="en-US" sz="2000" b="1" dirty="0">
                <a:solidFill>
                  <a:srgbClr val="C00000">
                    <a:alpha val="0"/>
                  </a:srgbClr>
                </a:solidFill>
                <a:latin typeface="Calibri"/>
                <a:ea typeface="맑은 고딕"/>
                <a:cs typeface="Calibri"/>
              </a:rPr>
              <a:t>had cut</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off.</a:t>
            </a:r>
            <a:endParaRPr lang="ko-KR" sz="2000"/>
          </a:p>
        </p:txBody>
      </p:sp>
      <p:sp>
        <p:nvSpPr>
          <p:cNvPr id="21" name="rv_point_3"/>
          <p:cNvSpPr txBox="1"/>
          <p:nvPr/>
        </p:nvSpPr>
        <p:spPr>
          <a:xfrm>
            <a:off x="457200" y="5642356"/>
            <a:ext cx="11274552" cy="554227"/>
          </a:xfrm>
          <a:prstGeom prst="rect">
            <a:avLst/>
          </a:prstGeom>
          <a:noFill/>
        </p:spPr>
        <p:txBody>
          <a:bodyPr wrap="square" lIns="228600" tIns="54864" rIns="228600" bIns="54864" anchor="t" rtlCol="0">
            <a:noAutofit/>
          </a:bodyPr>
          <a:lstStyle/>
          <a:p>
            <a:pPr algn="l">
              <a:lnSpc>
                <a:spcPts val="1750"/>
              </a:lnSpc>
              <a:spcBef>
                <a:spcPts val="0"/>
              </a:spcBef>
              <a:spcAft>
                <a:spcPts val="0"/>
              </a:spcAft>
              <a:buNone/>
            </a:pPr>
            <a:r>
              <a:rPr lang="ko-KR" altLang="en-US" sz="1400" b="1" dirty="0">
                <a:solidFill>
                  <a:srgbClr val="C00000"/>
                </a:solidFill>
                <a:latin typeface="맑은 고딕"/>
                <a:ea typeface="맑은 고딕"/>
                <a:cs typeface="맑은 고딕"/>
              </a:rPr>
              <a:t>포인트  </a:t>
            </a:r>
            <a:r>
              <a:rPr lang="ko-KR" altLang="en-US" sz="1400" b="0" dirty="0">
                <a:solidFill>
                  <a:srgbClr val="2F5597"/>
                </a:solidFill>
                <a:latin typeface="맑은 고딕"/>
                <a:ea typeface="맑은 고딕"/>
                <a:cs typeface="맑은 고딕"/>
              </a:rPr>
              <a:t>수동태(능동/수동 구별) (자동사 come은 수동태 불가) · 수동태(능동/수동 구별) (다리가 '잘린' 것 → 과거완료 수동)</a:t>
            </a:r>
            <a:endParaRPr lang="ko-KR" sz="1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25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250"/>
                                        <p:tgtEl>
                                          <p:spTgt spid="1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250"/>
                                        <p:tgtEl>
                                          <p:spTgt spid="1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fade">
                                      <p:cBhvr>
                                        <p:cTn id="16" dur="250"/>
                                        <p:tgtEl>
                                          <p:spTgt spid="1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250"/>
                                        <p:tgtEl>
                                          <p:spTgt spid="2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fade">
                                      <p:cBhvr>
                                        <p:cTn id="22" dur="25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5" grpId="0" animBg="1"/>
      <p:bldP spid="16" grpId="0" animBg="1"/>
      <p:bldP spid="20" grpId="0" animBg="1"/>
      <p:bldP spid="21" grpId="0" animBg="1"/>
    </p:bldLst>
  </p:timing>
</p:sld>
</file>

<file path=ppt/slides/slide1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8000"/>
            </a:avLst>
          </a:prstGeom>
          <a:solidFill>
            <a:srgbClr val="1E2A5A"/>
          </a:solidFill>
          <a:ln>
            <a:noFill/>
          </a:ln>
        </p:spPr>
        <p:txBody>
          <a:bodyPr wrap="square" lIns="45720" tIns="18288" rIns="45720" bIns="18288" anchor="ctr" rtlCol="0">
            <a:noAutofit/>
          </a:bodyPr>
          <a:lstStyle/>
          <a:p>
            <a:pPr algn="ctr">
              <a:lnSpc>
                <a:spcPts val="2000"/>
              </a:lnSpc>
              <a:spcBef>
                <a:spcPts val="0"/>
              </a:spcBef>
              <a:spcAft>
                <a:spcPts val="0"/>
              </a:spcAft>
              <a:buNone/>
            </a:pPr>
            <a:r>
              <a:rPr lang="en-US" altLang="en-US" sz="1700" b="1" dirty="0">
                <a:solidFill>
                  <a:srgbClr val="FFFFFF"/>
                </a:solidFill>
                <a:latin typeface="Calibri"/>
                <a:ea typeface="맑은 고딕"/>
                <a:cs typeface="Calibri"/>
              </a:rPr>
              <a:t>L6</a:t>
            </a:r>
            <a:endParaRPr lang="ko-KR" sz="1700"/>
          </a:p>
        </p:txBody>
      </p:sp>
      <p:sp>
        <p:nvSpPr>
          <p:cNvPr id="3" name="hdr_chip"/>
          <p:cNvSpPr/>
          <p:nvPr/>
        </p:nvSpPr>
        <p:spPr>
          <a:xfrm>
            <a:off x="1755648" y="274320"/>
            <a:ext cx="1371600" cy="493776"/>
          </a:xfrm>
          <a:prstGeom prst="roundRect">
            <a:avLst>
              <a:gd name="adj" fmla="val 8000"/>
            </a:avLst>
          </a:prstGeom>
          <a:solidFill>
            <a:srgbClr val="E6EAF4"/>
          </a:solidFill>
          <a:ln>
            <a:noFill/>
          </a:ln>
        </p:spPr>
        <p:txBody>
          <a:bodyPr wrap="square" lIns="27432" tIns="18288" rIns="27432" bIns="18288" anchor="ctr" rtlCol="0">
            <a:noAutofit/>
          </a:bodyPr>
          <a:lstStyle/>
          <a:p>
            <a:pPr algn="ctr">
              <a:lnSpc>
                <a:spcPts val="1700"/>
              </a:lnSpc>
              <a:spcBef>
                <a:spcPts val="0"/>
              </a:spcBef>
              <a:spcAft>
                <a:spcPts val="0"/>
              </a:spcAft>
              <a:buNone/>
            </a:pPr>
            <a:r>
              <a:rPr lang="ko-KR" altLang="en-US" sz="1400" b="1" dirty="0">
                <a:solidFill>
                  <a:srgbClr val="1E2A5A"/>
                </a:solidFill>
                <a:latin typeface="맑은 고딕"/>
                <a:ea typeface="맑은 고딕"/>
                <a:cs typeface="맑은 고딕"/>
              </a:rPr>
              <a:t>PART 5 · 11</a:t>
            </a:r>
            <a:endParaRPr lang="ko-KR" sz="1400"/>
          </a:p>
        </p:txBody>
      </p:sp>
      <p:sp>
        <p:nvSpPr>
          <p:cNvPr id="4" name="hdr_q"/>
          <p:cNvSpPr txBox="1"/>
          <p:nvPr/>
        </p:nvSpPr>
        <p:spPr>
          <a:xfrm>
            <a:off x="3246120" y="246888"/>
            <a:ext cx="8485632" cy="548640"/>
          </a:xfrm>
          <a:prstGeom prst="rect">
            <a:avLst/>
          </a:prstGeom>
          <a:noFill/>
        </p:spPr>
        <p:txBody>
          <a:bodyPr wrap="square" lIns="109728" tIns="54864" rIns="109728" bIns="54864" anchor="ctr" rtlCol="0">
            <a:noAutofit/>
          </a:bodyPr>
          <a:lstStyle/>
          <a:p>
            <a:pPr algn="l">
              <a:lnSpc>
                <a:spcPts val="2400"/>
              </a:lnSpc>
              <a:spcBef>
                <a:spcPts val="0"/>
              </a:spcBef>
              <a:spcAft>
                <a:spcPts val="0"/>
              </a:spcAft>
              <a:buNone/>
            </a:pPr>
            <a:r>
              <a:rPr lang="ko-KR" altLang="en-US" sz="2000" b="1" dirty="0">
                <a:solidFill>
                  <a:srgbClr val="1F2328"/>
                </a:solidFill>
                <a:latin typeface="맑은 고딕"/>
                <a:ea typeface="맑은 고딕"/>
                <a:cs typeface="맑은 고딕"/>
              </a:rPr>
              <a:t>[  ] 안에서 어법상 알맞은 것을 고르시오.</a:t>
            </a:r>
            <a:endParaRPr lang="ko-KR" sz="2000"/>
          </a:p>
        </p:txBody>
      </p:sp>
      <p:sp>
        <p:nvSpPr>
          <p:cNvPr id="5" name="ftr_exam"/>
          <p:cNvSpPr txBox="1"/>
          <p:nvPr/>
        </p:nvSpPr>
        <p:spPr>
          <a:xfrm>
            <a:off x="457200" y="6519672"/>
            <a:ext cx="5669280" cy="256032"/>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6</a:t>
            </a:r>
            <a:endParaRPr lang="ko-KR" sz="1000"/>
          </a:p>
        </p:txBody>
      </p:sp>
      <p:sp>
        <p:nvSpPr>
          <p:cNvPr id="6" name="ftr_hint"/>
          <p:cNvSpPr txBox="1"/>
          <p:nvPr/>
        </p:nvSpPr>
        <p:spPr>
          <a:xfrm>
            <a:off x="5971032" y="6519672"/>
            <a:ext cx="5760720" cy="256032"/>
          </a:xfrm>
          <a:prstGeom prst="rect">
            <a:avLst/>
          </a:prstGeom>
          <a:noFill/>
        </p:spPr>
        <p:txBody>
          <a:bodyPr wrap="square" lIns="0" tIns="0" rIns="0" bIns="0" anchor="t" rtlCol="0">
            <a:noAutofit/>
          </a:bodyPr>
          <a:lstStyle/>
          <a:p>
            <a:pPr algn="r">
              <a:lnSpc>
                <a:spcPts val="1200"/>
              </a:lnSpc>
              <a:spcBef>
                <a:spcPts val="0"/>
              </a:spcBef>
              <a:spcAft>
                <a:spcPts val="0"/>
              </a:spcAft>
              <a:buNone/>
            </a:pPr>
            <a:r>
              <a:rPr lang="ko-KR" altLang="en-US" sz="1000" b="0" dirty="0">
                <a:solidFill>
                  <a:srgbClr val="7A808C"/>
                </a:solidFill>
                <a:latin typeface="맑은 고딕"/>
                <a:ea typeface="맑은 고딕"/>
                <a:cs typeface="맑은 고딕"/>
              </a:rPr>
              <a:t>클릭 ① 정답(빨간색) + 문법 포인트 공개</a:t>
            </a:r>
            <a:endParaRPr lang="ko-KR" sz="1000"/>
          </a:p>
        </p:txBody>
      </p:sp>
      <p:sp>
        <p:nvSpPr>
          <p:cNvPr id="7" name="item_card_1"/>
          <p:cNvSpPr/>
          <p:nvPr/>
        </p:nvSpPr>
        <p:spPr>
          <a:xfrm>
            <a:off x="457200" y="950976"/>
            <a:ext cx="11274552" cy="1516634"/>
          </a:xfrm>
          <a:prstGeom prst="roundRect">
            <a:avLst>
              <a:gd name="adj" fmla="val 6000"/>
            </a:avLst>
          </a:prstGeom>
          <a:solidFill>
            <a:srgbClr val="F3F5F9"/>
          </a:solidFill>
          <a:ln w="12700">
            <a:solidFill>
              <a:srgbClr val="D9DFEA"/>
            </a:solidFill>
          </a:ln>
        </p:spPr>
        <p:txBody>
          <a:bodyPr rtlCol="0" anchor="ctr"/>
          <a:lstStyle/>
          <a:p>
            <a:pPr algn="ctr"/>
          </a:p>
        </p:txBody>
      </p:sp>
      <p:sp>
        <p:nvSpPr>
          <p:cNvPr id="8" name="kor_1"/>
          <p:cNvSpPr txBox="1"/>
          <p:nvPr/>
        </p:nvSpPr>
        <p:spPr>
          <a:xfrm>
            <a:off x="457200" y="1060704"/>
            <a:ext cx="11274552" cy="363728"/>
          </a:xfrm>
          <a:prstGeom prst="rect">
            <a:avLst/>
          </a:prstGeom>
          <a:noFill/>
        </p:spPr>
        <p:txBody>
          <a:bodyPr wrap="square" lIns="228600" tIns="54864" rIns="228600" bIns="54864" anchor="t" rtlCol="0">
            <a:noAutofit/>
          </a:bodyPr>
          <a:lstStyle/>
          <a:p>
            <a:pPr algn="l">
              <a:lnSpc>
                <a:spcPts val="2000"/>
              </a:lnSpc>
              <a:spcBef>
                <a:spcPts val="0"/>
              </a:spcBef>
              <a:spcAft>
                <a:spcPts val="0"/>
              </a:spcAft>
              <a:buNone/>
            </a:pPr>
            <a:r>
              <a:rPr lang="en-US" altLang="en-US" sz="1600" b="1" dirty="0">
                <a:solidFill>
                  <a:srgbClr val="1E2A5A"/>
                </a:solidFill>
                <a:latin typeface="Calibri"/>
                <a:ea typeface="맑은 고딕"/>
                <a:cs typeface="Calibri"/>
              </a:rPr>
              <a:t>30.  </a:t>
            </a:r>
            <a:r>
              <a:rPr lang="ko-KR" altLang="en-US" sz="1600" b="0" dirty="0">
                <a:solidFill>
                  <a:srgbClr val="3C4558"/>
                </a:solidFill>
                <a:latin typeface="맑은 고딕"/>
                <a:ea typeface="맑은 고딕"/>
                <a:cs typeface="맑은 고딕"/>
              </a:rPr>
              <a:t>"걱정 마세요, 이건 그냥 서비스예요. 따로 돈은 안 받을게요." 러민스가 말했다.</a:t>
            </a:r>
            <a:endParaRPr lang="ko-KR" sz="1600"/>
          </a:p>
        </p:txBody>
      </p:sp>
      <p:sp>
        <p:nvSpPr>
          <p:cNvPr id="9" name="eng_1"/>
          <p:cNvSpPr txBox="1"/>
          <p:nvPr/>
        </p:nvSpPr>
        <p:spPr>
          <a:xfrm>
            <a:off x="457200" y="1369568"/>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solidFill>
                <a:latin typeface="Calibri"/>
                <a:ea typeface="맑은 고딕"/>
                <a:cs typeface="Calibri"/>
              </a:rPr>
              <a:t>"Don’t worry, this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was</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were</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a favor. I won’t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to charge</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charge</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you for this," said Rummins.</a:t>
            </a:r>
            <a:endParaRPr lang="ko-KR" sz="2000"/>
          </a:p>
        </p:txBody>
      </p:sp>
      <p:sp>
        <p:nvSpPr>
          <p:cNvPr id="10" name="rv_eng_1"/>
          <p:cNvSpPr txBox="1"/>
          <p:nvPr/>
        </p:nvSpPr>
        <p:spPr>
          <a:xfrm>
            <a:off x="457200" y="1369568"/>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alpha val="0"/>
                  </a:srgbClr>
                </a:solidFill>
                <a:latin typeface="Calibri"/>
                <a:ea typeface="맑은 고딕"/>
                <a:cs typeface="Calibri"/>
              </a:rPr>
              <a:t>"Don’t worry, this </a:t>
            </a:r>
            <a:r>
              <a:rPr lang="en-US" altLang="en-US" sz="2000" b="1" dirty="0">
                <a:solidFill>
                  <a:srgbClr val="C00000">
                    <a:alpha val="0"/>
                  </a:srgbClr>
                </a:solidFill>
                <a:latin typeface="Calibri"/>
                <a:ea typeface="맑은 고딕"/>
                <a:cs typeface="Calibri"/>
              </a:rPr>
              <a:t>[ </a:t>
            </a:r>
            <a:r>
              <a:rPr lang="en-US" altLang="en-US" sz="2000" b="1" dirty="0">
                <a:solidFill>
                  <a:srgbClr val="C00000"/>
                </a:solidFill>
                <a:latin typeface="Calibri"/>
                <a:ea typeface="맑은 고딕"/>
                <a:cs typeface="Calibri"/>
              </a:rPr>
              <a:t>was</a:t>
            </a:r>
            <a:r>
              <a:rPr lang="en-US" altLang="en-US" sz="2000" b="1" dirty="0">
                <a:solidFill>
                  <a:srgbClr val="C00000">
                    <a:alpha val="0"/>
                  </a:srgbClr>
                </a:solidFill>
                <a:latin typeface="Calibri"/>
                <a:ea typeface="맑은 고딕"/>
                <a:cs typeface="Calibri"/>
              </a:rPr>
              <a:t> / </a:t>
            </a:r>
            <a:r>
              <a:rPr lang="en-US" altLang="en-US" sz="2000" b="1" dirty="0">
                <a:solidFill>
                  <a:srgbClr val="C00000">
                    <a:alpha val="0"/>
                  </a:srgbClr>
                </a:solidFill>
                <a:latin typeface="Calibri"/>
                <a:ea typeface="맑은 고딕"/>
                <a:cs typeface="Calibri"/>
              </a:rPr>
              <a:t>were</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a favor. I won’t </a:t>
            </a:r>
            <a:r>
              <a:rPr lang="en-US" altLang="en-US" sz="2000" b="1" dirty="0">
                <a:solidFill>
                  <a:srgbClr val="C00000">
                    <a:alpha val="0"/>
                  </a:srgbClr>
                </a:solidFill>
                <a:latin typeface="Calibri"/>
                <a:ea typeface="맑은 고딕"/>
                <a:cs typeface="Calibri"/>
              </a:rPr>
              <a:t>[ </a:t>
            </a:r>
            <a:r>
              <a:rPr lang="en-US" altLang="en-US" sz="2000" b="1" dirty="0">
                <a:solidFill>
                  <a:srgbClr val="C00000">
                    <a:alpha val="0"/>
                  </a:srgbClr>
                </a:solidFill>
                <a:latin typeface="Calibri"/>
                <a:ea typeface="맑은 고딕"/>
                <a:cs typeface="Calibri"/>
              </a:rPr>
              <a:t>to charge</a:t>
            </a:r>
            <a:r>
              <a:rPr lang="en-US" altLang="en-US" sz="2000" b="1" dirty="0">
                <a:solidFill>
                  <a:srgbClr val="C00000">
                    <a:alpha val="0"/>
                  </a:srgbClr>
                </a:solidFill>
                <a:latin typeface="Calibri"/>
                <a:ea typeface="맑은 고딕"/>
                <a:cs typeface="Calibri"/>
              </a:rPr>
              <a:t> / </a:t>
            </a:r>
            <a:r>
              <a:rPr lang="en-US" altLang="en-US" sz="2000" b="1" dirty="0">
                <a:solidFill>
                  <a:srgbClr val="C00000"/>
                </a:solidFill>
                <a:latin typeface="Calibri"/>
                <a:ea typeface="맑은 고딕"/>
                <a:cs typeface="Calibri"/>
              </a:rPr>
              <a:t>charge</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you for this," said Rummins.</a:t>
            </a:r>
            <a:endParaRPr lang="ko-KR" sz="2000"/>
          </a:p>
        </p:txBody>
      </p:sp>
      <p:sp>
        <p:nvSpPr>
          <p:cNvPr id="11" name="rv_point_1"/>
          <p:cNvSpPr txBox="1"/>
          <p:nvPr/>
        </p:nvSpPr>
        <p:spPr>
          <a:xfrm>
            <a:off x="457200" y="2135632"/>
            <a:ext cx="11274552" cy="331978"/>
          </a:xfrm>
          <a:prstGeom prst="rect">
            <a:avLst/>
          </a:prstGeom>
          <a:noFill/>
        </p:spPr>
        <p:txBody>
          <a:bodyPr wrap="square" lIns="228600" tIns="54864" rIns="228600" bIns="54864" anchor="t" rtlCol="0">
            <a:noAutofit/>
          </a:bodyPr>
          <a:lstStyle/>
          <a:p>
            <a:pPr algn="l">
              <a:lnSpc>
                <a:spcPts val="1750"/>
              </a:lnSpc>
              <a:spcBef>
                <a:spcPts val="0"/>
              </a:spcBef>
              <a:spcAft>
                <a:spcPts val="0"/>
              </a:spcAft>
              <a:buNone/>
            </a:pPr>
            <a:r>
              <a:rPr lang="ko-KR" altLang="en-US" sz="1400" b="1" dirty="0">
                <a:solidFill>
                  <a:srgbClr val="C00000"/>
                </a:solidFill>
                <a:latin typeface="맑은 고딕"/>
                <a:ea typeface="맑은 고딕"/>
                <a:cs typeface="맑은 고딕"/>
              </a:rPr>
              <a:t>포인트  </a:t>
            </a:r>
            <a:r>
              <a:rPr lang="ko-KR" altLang="en-US" sz="1400" b="0" dirty="0">
                <a:solidFill>
                  <a:srgbClr val="2F5597"/>
                </a:solidFill>
                <a:latin typeface="맑은 고딕"/>
                <a:ea typeface="맑은 고딕"/>
                <a:cs typeface="맑은 고딕"/>
              </a:rPr>
              <a:t>동사의 수 일치 (주어 this 단수) · to부정사/동명사/동사원형 (조동사 won’t + 동사원형)</a:t>
            </a:r>
            <a:endParaRPr lang="ko-KR" sz="1400"/>
          </a:p>
        </p:txBody>
      </p:sp>
      <p:sp>
        <p:nvSpPr>
          <p:cNvPr id="12" name="item_card_2"/>
          <p:cNvSpPr/>
          <p:nvPr/>
        </p:nvSpPr>
        <p:spPr>
          <a:xfrm>
            <a:off x="457200" y="2577338"/>
            <a:ext cx="11274552" cy="1516634"/>
          </a:xfrm>
          <a:prstGeom prst="roundRect">
            <a:avLst>
              <a:gd name="adj" fmla="val 6000"/>
            </a:avLst>
          </a:prstGeom>
          <a:solidFill>
            <a:srgbClr val="F3F5F9"/>
          </a:solidFill>
          <a:ln w="12700">
            <a:solidFill>
              <a:srgbClr val="D9DFEA"/>
            </a:solidFill>
          </a:ln>
        </p:spPr>
        <p:txBody>
          <a:bodyPr rtlCol="0" anchor="ctr"/>
          <a:lstStyle/>
          <a:p>
            <a:pPr algn="ctr"/>
          </a:p>
        </p:txBody>
      </p:sp>
      <p:sp>
        <p:nvSpPr>
          <p:cNvPr id="13" name="kor_2"/>
          <p:cNvSpPr txBox="1"/>
          <p:nvPr/>
        </p:nvSpPr>
        <p:spPr>
          <a:xfrm>
            <a:off x="457200" y="2687066"/>
            <a:ext cx="11274552" cy="363728"/>
          </a:xfrm>
          <a:prstGeom prst="rect">
            <a:avLst/>
          </a:prstGeom>
          <a:noFill/>
        </p:spPr>
        <p:txBody>
          <a:bodyPr wrap="square" lIns="228600" tIns="54864" rIns="228600" bIns="54864" anchor="t" rtlCol="0">
            <a:noAutofit/>
          </a:bodyPr>
          <a:lstStyle/>
          <a:p>
            <a:pPr algn="l">
              <a:lnSpc>
                <a:spcPts val="2000"/>
              </a:lnSpc>
              <a:spcBef>
                <a:spcPts val="0"/>
              </a:spcBef>
              <a:spcAft>
                <a:spcPts val="0"/>
              </a:spcAft>
              <a:buNone/>
            </a:pPr>
            <a:r>
              <a:rPr lang="en-US" altLang="en-US" sz="1600" b="1" dirty="0">
                <a:solidFill>
                  <a:srgbClr val="1E2A5A"/>
                </a:solidFill>
                <a:latin typeface="Calibri"/>
                <a:ea typeface="맑은 고딕"/>
                <a:cs typeface="Calibri"/>
              </a:rPr>
              <a:t>31.  </a:t>
            </a:r>
            <a:r>
              <a:rPr lang="ko-KR" altLang="en-US" sz="1600" b="0" dirty="0">
                <a:solidFill>
                  <a:srgbClr val="3C4558"/>
                </a:solidFill>
                <a:latin typeface="맑은 고딕"/>
                <a:ea typeface="맑은 고딕"/>
                <a:cs typeface="맑은 고딕"/>
              </a:rPr>
              <a:t>보기스 씨는 너무 충격을 받아 아무 말도 하지 못했다.</a:t>
            </a:r>
            <a:endParaRPr lang="ko-KR" sz="1600"/>
          </a:p>
        </p:txBody>
      </p:sp>
      <p:sp>
        <p:nvSpPr>
          <p:cNvPr id="14" name="eng_2"/>
          <p:cNvSpPr txBox="1"/>
          <p:nvPr/>
        </p:nvSpPr>
        <p:spPr>
          <a:xfrm>
            <a:off x="457200" y="2995930"/>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solidFill>
                <a:latin typeface="Calibri"/>
                <a:ea typeface="맑은 고딕"/>
                <a:cs typeface="Calibri"/>
              </a:rPr>
              <a:t>Mr. Boggis was so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shocking</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shocked</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that he couldn’t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say</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to say</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anything.</a:t>
            </a:r>
            <a:endParaRPr lang="ko-KR" sz="2000"/>
          </a:p>
        </p:txBody>
      </p:sp>
      <p:sp>
        <p:nvSpPr>
          <p:cNvPr id="15" name="rv_eng_2"/>
          <p:cNvSpPr txBox="1"/>
          <p:nvPr/>
        </p:nvSpPr>
        <p:spPr>
          <a:xfrm>
            <a:off x="457200" y="2995930"/>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alpha val="0"/>
                  </a:srgbClr>
                </a:solidFill>
                <a:latin typeface="Calibri"/>
                <a:ea typeface="맑은 고딕"/>
                <a:cs typeface="Calibri"/>
              </a:rPr>
              <a:t>Mr. Boggis was so </a:t>
            </a:r>
            <a:r>
              <a:rPr lang="en-US" altLang="en-US" sz="2000" b="1" dirty="0">
                <a:solidFill>
                  <a:srgbClr val="C00000">
                    <a:alpha val="0"/>
                  </a:srgbClr>
                </a:solidFill>
                <a:latin typeface="Calibri"/>
                <a:ea typeface="맑은 고딕"/>
                <a:cs typeface="Calibri"/>
              </a:rPr>
              <a:t>[ </a:t>
            </a:r>
            <a:r>
              <a:rPr lang="en-US" altLang="en-US" sz="2000" b="1" dirty="0">
                <a:solidFill>
                  <a:srgbClr val="C00000">
                    <a:alpha val="0"/>
                  </a:srgbClr>
                </a:solidFill>
                <a:latin typeface="Calibri"/>
                <a:ea typeface="맑은 고딕"/>
                <a:cs typeface="Calibri"/>
              </a:rPr>
              <a:t>shocking</a:t>
            </a:r>
            <a:r>
              <a:rPr lang="en-US" altLang="en-US" sz="2000" b="1" dirty="0">
                <a:solidFill>
                  <a:srgbClr val="C00000">
                    <a:alpha val="0"/>
                  </a:srgbClr>
                </a:solidFill>
                <a:latin typeface="Calibri"/>
                <a:ea typeface="맑은 고딕"/>
                <a:cs typeface="Calibri"/>
              </a:rPr>
              <a:t> / </a:t>
            </a:r>
            <a:r>
              <a:rPr lang="en-US" altLang="en-US" sz="2000" b="1" dirty="0">
                <a:solidFill>
                  <a:srgbClr val="C00000"/>
                </a:solidFill>
                <a:latin typeface="Calibri"/>
                <a:ea typeface="맑은 고딕"/>
                <a:cs typeface="Calibri"/>
              </a:rPr>
              <a:t>shocked</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that he couldn’t </a:t>
            </a:r>
            <a:r>
              <a:rPr lang="en-US" altLang="en-US" sz="2000" b="1" dirty="0">
                <a:solidFill>
                  <a:srgbClr val="C00000">
                    <a:alpha val="0"/>
                  </a:srgbClr>
                </a:solidFill>
                <a:latin typeface="Calibri"/>
                <a:ea typeface="맑은 고딕"/>
                <a:cs typeface="Calibri"/>
              </a:rPr>
              <a:t>[ </a:t>
            </a:r>
            <a:r>
              <a:rPr lang="en-US" altLang="en-US" sz="2000" b="1" dirty="0">
                <a:solidFill>
                  <a:srgbClr val="C00000"/>
                </a:solidFill>
                <a:latin typeface="Calibri"/>
                <a:ea typeface="맑은 고딕"/>
                <a:cs typeface="Calibri"/>
              </a:rPr>
              <a:t>say</a:t>
            </a:r>
            <a:r>
              <a:rPr lang="en-US" altLang="en-US" sz="2000" b="1" dirty="0">
                <a:solidFill>
                  <a:srgbClr val="C00000">
                    <a:alpha val="0"/>
                  </a:srgbClr>
                </a:solidFill>
                <a:latin typeface="Calibri"/>
                <a:ea typeface="맑은 고딕"/>
                <a:cs typeface="Calibri"/>
              </a:rPr>
              <a:t> / </a:t>
            </a:r>
            <a:r>
              <a:rPr lang="en-US" altLang="en-US" sz="2000" b="1" dirty="0">
                <a:solidFill>
                  <a:srgbClr val="C00000">
                    <a:alpha val="0"/>
                  </a:srgbClr>
                </a:solidFill>
                <a:latin typeface="Calibri"/>
                <a:ea typeface="맑은 고딕"/>
                <a:cs typeface="Calibri"/>
              </a:rPr>
              <a:t>to say</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anything.</a:t>
            </a:r>
            <a:endParaRPr lang="ko-KR" sz="2000"/>
          </a:p>
        </p:txBody>
      </p:sp>
      <p:sp>
        <p:nvSpPr>
          <p:cNvPr id="16" name="rv_point_2"/>
          <p:cNvSpPr txBox="1"/>
          <p:nvPr/>
        </p:nvSpPr>
        <p:spPr>
          <a:xfrm>
            <a:off x="457200" y="3761994"/>
            <a:ext cx="11274552" cy="331978"/>
          </a:xfrm>
          <a:prstGeom prst="rect">
            <a:avLst/>
          </a:prstGeom>
          <a:noFill/>
        </p:spPr>
        <p:txBody>
          <a:bodyPr wrap="square" lIns="228600" tIns="54864" rIns="228600" bIns="54864" anchor="t" rtlCol="0">
            <a:noAutofit/>
          </a:bodyPr>
          <a:lstStyle/>
          <a:p>
            <a:pPr algn="l">
              <a:lnSpc>
                <a:spcPts val="1750"/>
              </a:lnSpc>
              <a:spcBef>
                <a:spcPts val="0"/>
              </a:spcBef>
              <a:spcAft>
                <a:spcPts val="0"/>
              </a:spcAft>
              <a:buNone/>
            </a:pPr>
            <a:r>
              <a:rPr lang="ko-KR" altLang="en-US" sz="1400" b="1" dirty="0">
                <a:solidFill>
                  <a:srgbClr val="C00000"/>
                </a:solidFill>
                <a:latin typeface="맑은 고딕"/>
                <a:ea typeface="맑은 고딕"/>
                <a:cs typeface="맑은 고딕"/>
              </a:rPr>
              <a:t>포인트  </a:t>
            </a:r>
            <a:r>
              <a:rPr lang="ko-KR" altLang="en-US" sz="1400" b="0" dirty="0">
                <a:solidFill>
                  <a:srgbClr val="2F5597"/>
                </a:solidFill>
                <a:latin typeface="맑은 고딕"/>
                <a:ea typeface="맑은 고딕"/>
                <a:cs typeface="맑은 고딕"/>
              </a:rPr>
              <a:t>분사 (충격을 '받은' 사람 → 과거분사) · to부정사/동명사/동사원형 (조동사 couldn’t + 동사원형)</a:t>
            </a:r>
            <a:endParaRPr lang="ko-KR" sz="1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25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250"/>
                                        <p:tgtEl>
                                          <p:spTgt spid="1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250"/>
                                        <p:tgtEl>
                                          <p:spTgt spid="1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fade">
                                      <p:cBhvr>
                                        <p:cTn id="16" dur="25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5" grpId="0" animBg="1"/>
      <p:bldP spid="16" grpId="0" animBg="1"/>
    </p:bldLst>
  </p:timing>
</p:sld>
</file>

<file path=ppt/slides/slide141.xml><?xml version="1.0" encoding="utf-8"?>
<p:sld xmlns:a="http://schemas.openxmlformats.org/drawingml/2006/main" xmlns:p="http://schemas.openxmlformats.org/presentationml/2006/main" xmlns:r="http://schemas.openxmlformats.org/officeDocument/2006/relationships">
  <p:cSld>
    <p:bg>
      <p:bgPr>
        <a:solidFill>
          <a:srgbClr val="1E2A5A"/>
        </a:solidFill>
        <a:effectLst/>
      </p:bgPr>
    </p:bg>
    <p:spTree>
      <p:nvGrpSpPr>
        <p:cNvPr id="1" name=""/>
        <p:cNvGrpSpPr/>
        <p:nvPr/>
      </p:nvGrpSpPr>
      <p:grpSpPr/>
      <p:sp>
        <p:nvSpPr>
          <p:cNvPr id="2" name="sec_title"/>
          <p:cNvSpPr txBox="1"/>
          <p:nvPr/>
        </p:nvSpPr>
        <p:spPr>
          <a:xfrm>
            <a:off x="822960" y="1371600"/>
            <a:ext cx="10515600" cy="868680"/>
          </a:xfrm>
          <a:prstGeom prst="rect">
            <a:avLst/>
          </a:prstGeom>
          <a:noFill/>
        </p:spPr>
        <p:txBody>
          <a:bodyPr wrap="square" lIns="109728" tIns="54864" rIns="109728" bIns="54864" anchor="t" rtlCol="0">
            <a:noAutofit/>
          </a:bodyPr>
          <a:lstStyle/>
          <a:p>
            <a:pPr algn="l">
              <a:lnSpc>
                <a:spcPts val="4800"/>
              </a:lnSpc>
              <a:spcBef>
                <a:spcPts val="0"/>
              </a:spcBef>
              <a:spcAft>
                <a:spcPts val="0"/>
              </a:spcAft>
              <a:buNone/>
            </a:pPr>
            <a:r>
              <a:rPr lang="ko-KR" altLang="en-US" sz="4000" b="1" dirty="0">
                <a:solidFill>
                  <a:srgbClr val="FFE98A"/>
                </a:solidFill>
                <a:latin typeface="맑은 고딕"/>
                <a:ea typeface="맑은 고딕"/>
                <a:cs typeface="맑은 고딕"/>
              </a:rPr>
              <a:t>PART 6  </a:t>
            </a:r>
            <a:r>
              <a:rPr lang="ko-KR" altLang="en-US" sz="4000" b="1" dirty="0">
                <a:solidFill>
                  <a:srgbClr val="FFFFFF"/>
                </a:solidFill>
                <a:latin typeface="맑은 고딕"/>
                <a:ea typeface="맑은 고딕"/>
                <a:cs typeface="맑은 고딕"/>
              </a:rPr>
              <a:t>순서배열 부분영작</a:t>
            </a:r>
            <a:endParaRPr lang="ko-KR" sz="4000"/>
          </a:p>
        </p:txBody>
      </p:sp>
      <p:sp>
        <p:nvSpPr>
          <p:cNvPr id="3" name="sec_exam"/>
          <p:cNvSpPr txBox="1"/>
          <p:nvPr/>
        </p:nvSpPr>
        <p:spPr>
          <a:xfrm>
            <a:off x="822960" y="2240280"/>
            <a:ext cx="10515600" cy="502920"/>
          </a:xfrm>
          <a:prstGeom prst="rect">
            <a:avLst/>
          </a:prstGeom>
          <a:noFill/>
        </p:spPr>
        <p:txBody>
          <a:bodyPr wrap="square" lIns="109728" tIns="54864" rIns="109728" bIns="54864" anchor="t" rtlCol="0">
            <a:noAutofit/>
          </a:bodyPr>
          <a:lstStyle/>
          <a:p>
            <a:pPr algn="l">
              <a:lnSpc>
                <a:spcPts val="2400"/>
              </a:lnSpc>
              <a:spcBef>
                <a:spcPts val="0"/>
              </a:spcBef>
              <a:spcAft>
                <a:spcPts val="0"/>
              </a:spcAft>
              <a:buNone/>
            </a:pPr>
            <a:r>
              <a:rPr lang="ko-KR" altLang="en-US" sz="2000" b="0" dirty="0">
                <a:solidFill>
                  <a:srgbClr val="CFD8E8"/>
                </a:solidFill>
                <a:latin typeface="맑은 고딕"/>
                <a:ea typeface="맑은 고딕"/>
                <a:cs typeface="맑은 고딕"/>
              </a:rPr>
              <a:t>중3 동아(윤정미) Lesson 6</a:t>
            </a:r>
            <a:endParaRPr lang="ko-KR" sz="2000"/>
          </a:p>
        </p:txBody>
      </p:sp>
      <p:sp>
        <p:nvSpPr>
          <p:cNvPr id="4" name="sec_ids"/>
          <p:cNvSpPr txBox="1"/>
          <p:nvPr/>
        </p:nvSpPr>
        <p:spPr>
          <a:xfrm>
            <a:off x="822960" y="2788920"/>
            <a:ext cx="10515600" cy="457200"/>
          </a:xfrm>
          <a:prstGeom prst="rect">
            <a:avLst/>
          </a:prstGeom>
          <a:noFill/>
        </p:spPr>
        <p:txBody>
          <a:bodyPr wrap="square" lIns="109728" tIns="54864" rIns="109728" bIns="54864" anchor="t" rtlCol="0">
            <a:noAutofit/>
          </a:bodyPr>
          <a:lstStyle/>
          <a:p>
            <a:pPr algn="l">
              <a:lnSpc>
                <a:spcPts val="2200"/>
              </a:lnSpc>
              <a:spcBef>
                <a:spcPts val="0"/>
              </a:spcBef>
              <a:spcAft>
                <a:spcPts val="0"/>
              </a:spcAft>
              <a:buNone/>
            </a:pPr>
            <a:r>
              <a:rPr lang="en-US" altLang="en-US" sz="1800" b="1" dirty="0">
                <a:solidFill>
                  <a:srgbClr val="AEBBD0"/>
                </a:solidFill>
                <a:latin typeface="Calibri"/>
                <a:ea typeface="맑은 고딕"/>
                <a:cs typeface="Calibri"/>
              </a:rPr>
              <a:t>L6-1  ·  L6-2  ·  L6-3</a:t>
            </a:r>
            <a:endParaRPr lang="ko-KR" sz="1800"/>
          </a:p>
        </p:txBody>
      </p:sp>
      <p:sp>
        <p:nvSpPr>
          <p:cNvPr id="5" name="sec_legend"/>
          <p:cNvSpPr/>
          <p:nvPr/>
        </p:nvSpPr>
        <p:spPr>
          <a:xfrm>
            <a:off x="822960" y="3977639"/>
            <a:ext cx="10515600" cy="1371600"/>
          </a:xfrm>
          <a:prstGeom prst="roundRect">
            <a:avLst>
              <a:gd name="adj" fmla="val 6000"/>
            </a:avLst>
          </a:prstGeom>
          <a:solidFill>
            <a:srgbClr val="27356E"/>
          </a:solidFill>
          <a:ln>
            <a:noFill/>
          </a:ln>
        </p:spPr>
        <p:txBody>
          <a:bodyPr wrap="square" lIns="320040" tIns="137160" rIns="320040" bIns="137160" anchor="ctr" rtlCol="0">
            <a:noAutofit/>
          </a:bodyPr>
          <a:lstStyle/>
          <a:p>
            <a:pPr algn="l">
              <a:lnSpc>
                <a:spcPts val="2600"/>
              </a:lnSpc>
              <a:spcBef>
                <a:spcPts val="0"/>
              </a:spcBef>
              <a:spcAft>
                <a:spcPts val="0"/>
              </a:spcAft>
              <a:buNone/>
            </a:pPr>
            <a:r>
              <a:rPr lang="ko-KR" altLang="en-US" sz="1600" b="1" dirty="0">
                <a:solidFill>
                  <a:srgbClr val="FFE98A"/>
                </a:solidFill>
                <a:latin typeface="맑은 고딕"/>
                <a:ea typeface="맑은 고딕"/>
                <a:cs typeface="맑은 고딕"/>
              </a:rPr>
              <a:t>방법</a:t>
            </a:r>
            <a:r>
              <a:rPr lang="ko-KR" altLang="en-US" sz="1600" b="0" dirty="0">
                <a:solidFill>
                  <a:srgbClr val="FFFFFF"/>
                </a:solidFill>
                <a:latin typeface="맑은 고딕"/>
                <a:ea typeface="맑은 고딕"/>
                <a:cs typeface="맑은 고딕"/>
              </a:rPr>
              <a:t>     우리말에 맞게 (  ) 안의 말을 바르게 배열해 영어 문장을 완성</a:t>
            </a:r>
            <a:endParaRPr lang="ko-KR" sz="1600"/>
          </a:p>
          <a:p>
            <a:pPr algn="l">
              <a:lnSpc>
                <a:spcPts val="2600"/>
              </a:lnSpc>
              <a:spcBef>
                <a:spcPts val="0"/>
              </a:spcBef>
              <a:spcAft>
                <a:spcPts val="0"/>
              </a:spcAft>
              <a:buNone/>
            </a:pPr>
            <a:r>
              <a:rPr lang="ko-KR" altLang="en-US" sz="1600" b="1" dirty="0">
                <a:solidFill>
                  <a:srgbClr val="FFE98A"/>
                </a:solidFill>
                <a:latin typeface="맑은 고딕"/>
                <a:ea typeface="맑은 고딕"/>
                <a:cs typeface="맑은 고딕"/>
              </a:rPr>
              <a:t>클릭</a:t>
            </a:r>
            <a:r>
              <a:rPr lang="ko-KR" altLang="en-US" sz="1600" b="0" dirty="0">
                <a:solidFill>
                  <a:srgbClr val="FFFFFF"/>
                </a:solidFill>
                <a:latin typeface="맑은 고딕"/>
                <a:ea typeface="맑은 고딕"/>
                <a:cs typeface="맑은 고딕"/>
              </a:rPr>
              <a:t>     한 번 클릭하면 완성된 영어 문장(정답)이 빨간색으로 공개</a:t>
            </a:r>
            <a:endParaRPr lang="ko-KR" sz="1600"/>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8000"/>
            </a:avLst>
          </a:prstGeom>
          <a:solidFill>
            <a:srgbClr val="1E2A5A"/>
          </a:solidFill>
          <a:ln>
            <a:noFill/>
          </a:ln>
        </p:spPr>
        <p:txBody>
          <a:bodyPr wrap="square" lIns="45720" tIns="18288" rIns="45720" bIns="18288" anchor="ctr" rtlCol="0">
            <a:noAutofit/>
          </a:bodyPr>
          <a:lstStyle/>
          <a:p>
            <a:pPr algn="ctr">
              <a:lnSpc>
                <a:spcPts val="2000"/>
              </a:lnSpc>
              <a:spcBef>
                <a:spcPts val="0"/>
              </a:spcBef>
              <a:spcAft>
                <a:spcPts val="0"/>
              </a:spcAft>
              <a:buNone/>
            </a:pPr>
            <a:r>
              <a:rPr lang="en-US" altLang="en-US" sz="1700" b="1" dirty="0">
                <a:solidFill>
                  <a:srgbClr val="FFFFFF"/>
                </a:solidFill>
                <a:latin typeface="Calibri"/>
                <a:ea typeface="맑은 고딕"/>
                <a:cs typeface="Calibri"/>
              </a:rPr>
              <a:t>L6-1</a:t>
            </a:r>
            <a:endParaRPr lang="ko-KR" sz="1700"/>
          </a:p>
        </p:txBody>
      </p:sp>
      <p:sp>
        <p:nvSpPr>
          <p:cNvPr id="3" name="hdr_chip"/>
          <p:cNvSpPr/>
          <p:nvPr/>
        </p:nvSpPr>
        <p:spPr>
          <a:xfrm>
            <a:off x="1755648" y="274320"/>
            <a:ext cx="1371600" cy="493776"/>
          </a:xfrm>
          <a:prstGeom prst="roundRect">
            <a:avLst>
              <a:gd name="adj" fmla="val 8000"/>
            </a:avLst>
          </a:prstGeom>
          <a:solidFill>
            <a:srgbClr val="E6EAF4"/>
          </a:solidFill>
          <a:ln>
            <a:noFill/>
          </a:ln>
        </p:spPr>
        <p:txBody>
          <a:bodyPr wrap="square" lIns="27432" tIns="18288" rIns="27432" bIns="18288" anchor="ctr" rtlCol="0">
            <a:noAutofit/>
          </a:bodyPr>
          <a:lstStyle/>
          <a:p>
            <a:pPr algn="ctr">
              <a:lnSpc>
                <a:spcPts val="1700"/>
              </a:lnSpc>
              <a:spcBef>
                <a:spcPts val="0"/>
              </a:spcBef>
              <a:spcAft>
                <a:spcPts val="0"/>
              </a:spcAft>
              <a:buNone/>
            </a:pPr>
            <a:r>
              <a:rPr lang="ko-KR" altLang="en-US" sz="1400" b="1" dirty="0">
                <a:solidFill>
                  <a:srgbClr val="1E2A5A"/>
                </a:solidFill>
                <a:latin typeface="맑은 고딕"/>
                <a:ea typeface="맑은 고딕"/>
                <a:cs typeface="맑은 고딕"/>
              </a:rPr>
              <a:t>PART 6 · 1</a:t>
            </a:r>
            <a:endParaRPr lang="ko-KR" sz="1400"/>
          </a:p>
        </p:txBody>
      </p:sp>
      <p:sp>
        <p:nvSpPr>
          <p:cNvPr id="4" name="hdr_q"/>
          <p:cNvSpPr txBox="1"/>
          <p:nvPr/>
        </p:nvSpPr>
        <p:spPr>
          <a:xfrm>
            <a:off x="3246120" y="246888"/>
            <a:ext cx="8485632" cy="548640"/>
          </a:xfrm>
          <a:prstGeom prst="rect">
            <a:avLst/>
          </a:prstGeom>
          <a:noFill/>
        </p:spPr>
        <p:txBody>
          <a:bodyPr wrap="square" lIns="109728" tIns="54864" rIns="109728" bIns="54864" anchor="ctr" rtlCol="0">
            <a:noAutofit/>
          </a:bodyPr>
          <a:lstStyle/>
          <a:p>
            <a:pPr algn="l">
              <a:lnSpc>
                <a:spcPts val="2400"/>
              </a:lnSpc>
              <a:spcBef>
                <a:spcPts val="0"/>
              </a:spcBef>
              <a:spcAft>
                <a:spcPts val="0"/>
              </a:spcAft>
              <a:buNone/>
            </a:pPr>
            <a:r>
              <a:rPr lang="ko-KR" altLang="en-US" sz="2000" b="1" dirty="0">
                <a:solidFill>
                  <a:srgbClr val="1F2328"/>
                </a:solidFill>
                <a:latin typeface="맑은 고딕"/>
                <a:ea typeface="맑은 고딕"/>
                <a:cs typeface="맑은 고딕"/>
              </a:rPr>
              <a:t>우리말에 맞게 (  ) 안의 말을 바르게 배열하시오.</a:t>
            </a:r>
            <a:endParaRPr lang="ko-KR" sz="2000"/>
          </a:p>
        </p:txBody>
      </p:sp>
      <p:sp>
        <p:nvSpPr>
          <p:cNvPr id="5" name="ftr_exam"/>
          <p:cNvSpPr txBox="1"/>
          <p:nvPr/>
        </p:nvSpPr>
        <p:spPr>
          <a:xfrm>
            <a:off x="457200" y="6519672"/>
            <a:ext cx="5669280" cy="256032"/>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6</a:t>
            </a:r>
            <a:endParaRPr lang="ko-KR" sz="1000"/>
          </a:p>
        </p:txBody>
      </p:sp>
      <p:sp>
        <p:nvSpPr>
          <p:cNvPr id="6" name="ftr_hint"/>
          <p:cNvSpPr txBox="1"/>
          <p:nvPr/>
        </p:nvSpPr>
        <p:spPr>
          <a:xfrm>
            <a:off x="5971032" y="6519672"/>
            <a:ext cx="5760720" cy="256032"/>
          </a:xfrm>
          <a:prstGeom prst="rect">
            <a:avLst/>
          </a:prstGeom>
          <a:noFill/>
        </p:spPr>
        <p:txBody>
          <a:bodyPr wrap="square" lIns="0" tIns="0" rIns="0" bIns="0" anchor="t" rtlCol="0">
            <a:noAutofit/>
          </a:bodyPr>
          <a:lstStyle/>
          <a:p>
            <a:pPr algn="r">
              <a:lnSpc>
                <a:spcPts val="1200"/>
              </a:lnSpc>
              <a:spcBef>
                <a:spcPts val="0"/>
              </a:spcBef>
              <a:spcAft>
                <a:spcPts val="0"/>
              </a:spcAft>
              <a:buNone/>
            </a:pPr>
            <a:r>
              <a:rPr lang="ko-KR" altLang="en-US" sz="1000" b="0" dirty="0">
                <a:solidFill>
                  <a:srgbClr val="7A808C"/>
                </a:solidFill>
                <a:latin typeface="맑은 고딕"/>
                <a:ea typeface="맑은 고딕"/>
                <a:cs typeface="맑은 고딕"/>
              </a:rPr>
              <a:t>클릭 ① 완성 문장(정답) 공개</a:t>
            </a:r>
            <a:endParaRPr lang="ko-KR" sz="1000"/>
          </a:p>
        </p:txBody>
      </p:sp>
      <p:sp>
        <p:nvSpPr>
          <p:cNvPr id="7" name="item_card_1"/>
          <p:cNvSpPr/>
          <p:nvPr/>
        </p:nvSpPr>
        <p:spPr>
          <a:xfrm>
            <a:off x="457200" y="950976"/>
            <a:ext cx="11274552" cy="1348232"/>
          </a:xfrm>
          <a:prstGeom prst="roundRect">
            <a:avLst>
              <a:gd name="adj" fmla="val 6000"/>
            </a:avLst>
          </a:prstGeom>
          <a:solidFill>
            <a:srgbClr val="F3F5F9"/>
          </a:solidFill>
          <a:ln w="12700">
            <a:solidFill>
              <a:srgbClr val="D9DFEA"/>
            </a:solidFill>
          </a:ln>
        </p:spPr>
        <p:txBody>
          <a:bodyPr rtlCol="0" anchor="ctr"/>
          <a:lstStyle/>
          <a:p>
            <a:pPr algn="ctr"/>
          </a:p>
        </p:txBody>
      </p:sp>
      <p:sp>
        <p:nvSpPr>
          <p:cNvPr id="8" name="kor_1"/>
          <p:cNvSpPr txBox="1"/>
          <p:nvPr/>
        </p:nvSpPr>
        <p:spPr>
          <a:xfrm>
            <a:off x="457200" y="1060704"/>
            <a:ext cx="11274552" cy="379603"/>
          </a:xfrm>
          <a:prstGeom prst="rect">
            <a:avLst/>
          </a:prstGeom>
          <a:noFill/>
        </p:spPr>
        <p:txBody>
          <a:bodyPr wrap="square" lIns="228600" tIns="54864" rIns="228600" bIns="54864" anchor="t" rtlCol="0">
            <a:noAutofit/>
          </a:bodyPr>
          <a:lstStyle/>
          <a:p>
            <a:pPr algn="l">
              <a:lnSpc>
                <a:spcPts val="2125"/>
              </a:lnSpc>
              <a:spcBef>
                <a:spcPts val="0"/>
              </a:spcBef>
              <a:spcAft>
                <a:spcPts val="0"/>
              </a:spcAft>
              <a:buNone/>
            </a:pPr>
            <a:r>
              <a:rPr lang="en-US" altLang="en-US" sz="1700" b="1" dirty="0">
                <a:solidFill>
                  <a:srgbClr val="1E2A5A"/>
                </a:solidFill>
                <a:latin typeface="Calibri"/>
                <a:ea typeface="맑은 고딕"/>
                <a:cs typeface="Calibri"/>
              </a:rPr>
              <a:t>1.  </a:t>
            </a:r>
            <a:r>
              <a:rPr lang="ko-KR" altLang="en-US" sz="1700" b="1" dirty="0">
                <a:solidFill>
                  <a:srgbClr val="1F2328"/>
                </a:solidFill>
                <a:latin typeface="맑은 고딕"/>
                <a:ea typeface="맑은 고딕"/>
                <a:cs typeface="맑은 고딕"/>
              </a:rPr>
              <a:t>Cyril Boggis는 런던의 골동품 가구 판매상이었다.</a:t>
            </a:r>
            <a:endParaRPr lang="ko-KR" sz="1700"/>
          </a:p>
        </p:txBody>
      </p:sp>
      <p:sp>
        <p:nvSpPr>
          <p:cNvPr id="9" name="ex_1"/>
          <p:cNvSpPr txBox="1"/>
          <p:nvPr/>
        </p:nvSpPr>
        <p:spPr>
          <a:xfrm>
            <a:off x="457200" y="1385443"/>
            <a:ext cx="11274552" cy="435483"/>
          </a:xfrm>
          <a:prstGeom prst="rect">
            <a:avLst/>
          </a:prstGeom>
          <a:noFill/>
        </p:spPr>
        <p:txBody>
          <a:bodyPr wrap="square" lIns="228600" tIns="54864" rIns="228600" bIns="54864" anchor="t" rtlCol="0">
            <a:noAutofit/>
          </a:bodyPr>
          <a:lstStyle/>
          <a:p>
            <a:pPr algn="l">
              <a:lnSpc>
                <a:spcPts val="2565"/>
              </a:lnSpc>
              <a:spcBef>
                <a:spcPts val="0"/>
              </a:spcBef>
              <a:spcAft>
                <a:spcPts val="0"/>
              </a:spcAft>
              <a:buNone/>
            </a:pP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Cyril Boggis</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in London</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was</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an antique furniture dealer</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a:t>
            </a:r>
            <a:endParaRPr lang="ko-KR" sz="1900"/>
          </a:p>
        </p:txBody>
      </p:sp>
      <p:sp>
        <p:nvSpPr>
          <p:cNvPr id="10" name="rv_ans_1"/>
          <p:cNvSpPr txBox="1"/>
          <p:nvPr/>
        </p:nvSpPr>
        <p:spPr>
          <a:xfrm>
            <a:off x="594360" y="1857502"/>
            <a:ext cx="11000232" cy="423418"/>
          </a:xfrm>
          <a:prstGeom prst="rect">
            <a:avLst/>
          </a:prstGeom>
          <a:solidFill>
            <a:srgbClr val="FFF3C4"/>
          </a:solidFill>
        </p:spPr>
        <p:txBody>
          <a:bodyPr wrap="square" lIns="137160" tIns="54864" rIns="137160" bIns="54864" anchor="t" rtlCol="0">
            <a:noAutofit/>
          </a:bodyPr>
          <a:lstStyle/>
          <a:p>
            <a:pPr algn="l">
              <a:lnSpc>
                <a:spcPts val="2470"/>
              </a:lnSpc>
              <a:spcBef>
                <a:spcPts val="0"/>
              </a:spcBef>
              <a:spcAft>
                <a:spcPts val="0"/>
              </a:spcAft>
              <a:buNone/>
            </a:pPr>
            <a:r>
              <a:rPr lang="en-US" altLang="en-US" sz="1900" b="1" dirty="0">
                <a:solidFill>
                  <a:srgbClr val="C00000"/>
                </a:solidFill>
                <a:latin typeface="Calibri"/>
                <a:ea typeface="맑은 고딕"/>
                <a:cs typeface="Calibri"/>
              </a:rPr>
              <a:t>→  </a:t>
            </a:r>
            <a:r>
              <a:rPr lang="en-US" altLang="en-US" sz="1900" b="1" dirty="0">
                <a:solidFill>
                  <a:srgbClr val="C00000"/>
                </a:solidFill>
                <a:latin typeface="Calibri"/>
                <a:ea typeface="맑은 고딕"/>
                <a:cs typeface="Calibri"/>
              </a:rPr>
              <a:t>Cyril Boggis was an antique furniture dealer in London.</a:t>
            </a:r>
            <a:endParaRPr lang="ko-KR" sz="1900"/>
          </a:p>
        </p:txBody>
      </p:sp>
      <p:sp>
        <p:nvSpPr>
          <p:cNvPr id="11" name="item_card_2"/>
          <p:cNvSpPr/>
          <p:nvPr/>
        </p:nvSpPr>
        <p:spPr>
          <a:xfrm>
            <a:off x="457200" y="2408936"/>
            <a:ext cx="11274552" cy="1987677"/>
          </a:xfrm>
          <a:prstGeom prst="roundRect">
            <a:avLst>
              <a:gd name="adj" fmla="val 6000"/>
            </a:avLst>
          </a:prstGeom>
          <a:solidFill>
            <a:srgbClr val="F3F5F9"/>
          </a:solidFill>
          <a:ln w="12700">
            <a:solidFill>
              <a:srgbClr val="D9DFEA"/>
            </a:solidFill>
          </a:ln>
        </p:spPr>
        <p:txBody>
          <a:bodyPr rtlCol="0" anchor="ctr"/>
          <a:lstStyle/>
          <a:p>
            <a:pPr algn="ctr"/>
          </a:p>
        </p:txBody>
      </p:sp>
      <p:sp>
        <p:nvSpPr>
          <p:cNvPr id="12" name="kor_2"/>
          <p:cNvSpPr txBox="1"/>
          <p:nvPr/>
        </p:nvSpPr>
        <p:spPr>
          <a:xfrm>
            <a:off x="457200" y="2518664"/>
            <a:ext cx="11274552" cy="379603"/>
          </a:xfrm>
          <a:prstGeom prst="rect">
            <a:avLst/>
          </a:prstGeom>
          <a:noFill/>
        </p:spPr>
        <p:txBody>
          <a:bodyPr wrap="square" lIns="228600" tIns="54864" rIns="228600" bIns="54864" anchor="t" rtlCol="0">
            <a:noAutofit/>
          </a:bodyPr>
          <a:lstStyle/>
          <a:p>
            <a:pPr algn="l">
              <a:lnSpc>
                <a:spcPts val="2125"/>
              </a:lnSpc>
              <a:spcBef>
                <a:spcPts val="0"/>
              </a:spcBef>
              <a:spcAft>
                <a:spcPts val="0"/>
              </a:spcAft>
              <a:buNone/>
            </a:pPr>
            <a:r>
              <a:rPr lang="en-US" altLang="en-US" sz="1700" b="1" dirty="0">
                <a:solidFill>
                  <a:srgbClr val="1E2A5A"/>
                </a:solidFill>
                <a:latin typeface="Calibri"/>
                <a:ea typeface="맑은 고딕"/>
                <a:cs typeface="Calibri"/>
              </a:rPr>
              <a:t>2.  </a:t>
            </a:r>
            <a:r>
              <a:rPr lang="ko-KR" altLang="en-US" sz="1700" b="1" dirty="0">
                <a:solidFill>
                  <a:srgbClr val="1F2328"/>
                </a:solidFill>
                <a:latin typeface="맑은 고딕"/>
                <a:ea typeface="맑은 고딕"/>
                <a:cs typeface="맑은 고딕"/>
              </a:rPr>
              <a:t>그는 좋은 물건을 낮은 가격에 사서 높은 가격에 파는 것으로 유명했다.</a:t>
            </a:r>
            <a:endParaRPr lang="ko-KR" sz="1700"/>
          </a:p>
        </p:txBody>
      </p:sp>
      <p:sp>
        <p:nvSpPr>
          <p:cNvPr id="13" name="ex_2"/>
          <p:cNvSpPr txBox="1"/>
          <p:nvPr/>
        </p:nvSpPr>
        <p:spPr>
          <a:xfrm>
            <a:off x="457200" y="2843403"/>
            <a:ext cx="11274552" cy="761238"/>
          </a:xfrm>
          <a:prstGeom prst="rect">
            <a:avLst/>
          </a:prstGeom>
          <a:noFill/>
        </p:spPr>
        <p:txBody>
          <a:bodyPr wrap="square" lIns="228600" tIns="54864" rIns="228600" bIns="54864" anchor="t" rtlCol="0">
            <a:noAutofit/>
          </a:bodyPr>
          <a:lstStyle/>
          <a:p>
            <a:pPr algn="l">
              <a:lnSpc>
                <a:spcPts val="2565"/>
              </a:lnSpc>
              <a:spcBef>
                <a:spcPts val="0"/>
              </a:spcBef>
              <a:spcAft>
                <a:spcPts val="0"/>
              </a:spcAft>
              <a:buNone/>
            </a:pP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at a low price</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He</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buying good things</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was known for</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 and then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at a high price</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selling them</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a:t>
            </a:r>
            <a:endParaRPr lang="ko-KR" sz="1900"/>
          </a:p>
        </p:txBody>
      </p:sp>
      <p:sp>
        <p:nvSpPr>
          <p:cNvPr id="14" name="rv_ans_2"/>
          <p:cNvSpPr txBox="1"/>
          <p:nvPr/>
        </p:nvSpPr>
        <p:spPr>
          <a:xfrm>
            <a:off x="594360" y="3641217"/>
            <a:ext cx="11000232" cy="737108"/>
          </a:xfrm>
          <a:prstGeom prst="rect">
            <a:avLst/>
          </a:prstGeom>
          <a:solidFill>
            <a:srgbClr val="FFF3C4"/>
          </a:solidFill>
        </p:spPr>
        <p:txBody>
          <a:bodyPr wrap="square" lIns="137160" tIns="54864" rIns="137160" bIns="54864" anchor="t" rtlCol="0">
            <a:noAutofit/>
          </a:bodyPr>
          <a:lstStyle/>
          <a:p>
            <a:pPr algn="l">
              <a:lnSpc>
                <a:spcPts val="2470"/>
              </a:lnSpc>
              <a:spcBef>
                <a:spcPts val="0"/>
              </a:spcBef>
              <a:spcAft>
                <a:spcPts val="0"/>
              </a:spcAft>
              <a:buNone/>
            </a:pPr>
            <a:r>
              <a:rPr lang="en-US" altLang="en-US" sz="1900" b="1" dirty="0">
                <a:solidFill>
                  <a:srgbClr val="C00000"/>
                </a:solidFill>
                <a:latin typeface="Calibri"/>
                <a:ea typeface="맑은 고딕"/>
                <a:cs typeface="Calibri"/>
              </a:rPr>
              <a:t>→  </a:t>
            </a:r>
            <a:r>
              <a:rPr lang="en-US" altLang="en-US" sz="1900" b="1" dirty="0">
                <a:solidFill>
                  <a:srgbClr val="C00000"/>
                </a:solidFill>
                <a:latin typeface="Calibri"/>
                <a:ea typeface="맑은 고딕"/>
                <a:cs typeface="Calibri"/>
              </a:rPr>
              <a:t>He was known for buying good things at a low price and then selling them at a high price.</a:t>
            </a:r>
            <a:endParaRPr lang="ko-KR" sz="19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25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2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4" grpId="0" animBg="1"/>
    </p:bldLst>
  </p:timing>
</p:sld>
</file>

<file path=ppt/slides/slide1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8000"/>
            </a:avLst>
          </a:prstGeom>
          <a:solidFill>
            <a:srgbClr val="1E2A5A"/>
          </a:solidFill>
          <a:ln>
            <a:noFill/>
          </a:ln>
        </p:spPr>
        <p:txBody>
          <a:bodyPr wrap="square" lIns="45720" tIns="18288" rIns="45720" bIns="18288" anchor="ctr" rtlCol="0">
            <a:noAutofit/>
          </a:bodyPr>
          <a:lstStyle/>
          <a:p>
            <a:pPr algn="ctr">
              <a:lnSpc>
                <a:spcPts val="2000"/>
              </a:lnSpc>
              <a:spcBef>
                <a:spcPts val="0"/>
              </a:spcBef>
              <a:spcAft>
                <a:spcPts val="0"/>
              </a:spcAft>
              <a:buNone/>
            </a:pPr>
            <a:r>
              <a:rPr lang="en-US" altLang="en-US" sz="1700" b="1" dirty="0">
                <a:solidFill>
                  <a:srgbClr val="FFFFFF"/>
                </a:solidFill>
                <a:latin typeface="Calibri"/>
                <a:ea typeface="맑은 고딕"/>
                <a:cs typeface="Calibri"/>
              </a:rPr>
              <a:t>L6-1</a:t>
            </a:r>
            <a:endParaRPr lang="ko-KR" sz="1700"/>
          </a:p>
        </p:txBody>
      </p:sp>
      <p:sp>
        <p:nvSpPr>
          <p:cNvPr id="3" name="hdr_chip"/>
          <p:cNvSpPr/>
          <p:nvPr/>
        </p:nvSpPr>
        <p:spPr>
          <a:xfrm>
            <a:off x="1755648" y="274320"/>
            <a:ext cx="1371600" cy="493776"/>
          </a:xfrm>
          <a:prstGeom prst="roundRect">
            <a:avLst>
              <a:gd name="adj" fmla="val 8000"/>
            </a:avLst>
          </a:prstGeom>
          <a:solidFill>
            <a:srgbClr val="E6EAF4"/>
          </a:solidFill>
          <a:ln>
            <a:noFill/>
          </a:ln>
        </p:spPr>
        <p:txBody>
          <a:bodyPr wrap="square" lIns="27432" tIns="18288" rIns="27432" bIns="18288" anchor="ctr" rtlCol="0">
            <a:noAutofit/>
          </a:bodyPr>
          <a:lstStyle/>
          <a:p>
            <a:pPr algn="ctr">
              <a:lnSpc>
                <a:spcPts val="1700"/>
              </a:lnSpc>
              <a:spcBef>
                <a:spcPts val="0"/>
              </a:spcBef>
              <a:spcAft>
                <a:spcPts val="0"/>
              </a:spcAft>
              <a:buNone/>
            </a:pPr>
            <a:r>
              <a:rPr lang="ko-KR" altLang="en-US" sz="1400" b="1" dirty="0">
                <a:solidFill>
                  <a:srgbClr val="1E2A5A"/>
                </a:solidFill>
                <a:latin typeface="맑은 고딕"/>
                <a:ea typeface="맑은 고딕"/>
                <a:cs typeface="맑은 고딕"/>
              </a:rPr>
              <a:t>PART 6 · 2</a:t>
            </a:r>
            <a:endParaRPr lang="ko-KR" sz="1400"/>
          </a:p>
        </p:txBody>
      </p:sp>
      <p:sp>
        <p:nvSpPr>
          <p:cNvPr id="4" name="hdr_q"/>
          <p:cNvSpPr txBox="1"/>
          <p:nvPr/>
        </p:nvSpPr>
        <p:spPr>
          <a:xfrm>
            <a:off x="3246120" y="246888"/>
            <a:ext cx="8485632" cy="548640"/>
          </a:xfrm>
          <a:prstGeom prst="rect">
            <a:avLst/>
          </a:prstGeom>
          <a:noFill/>
        </p:spPr>
        <p:txBody>
          <a:bodyPr wrap="square" lIns="109728" tIns="54864" rIns="109728" bIns="54864" anchor="ctr" rtlCol="0">
            <a:noAutofit/>
          </a:bodyPr>
          <a:lstStyle/>
          <a:p>
            <a:pPr algn="l">
              <a:lnSpc>
                <a:spcPts val="2400"/>
              </a:lnSpc>
              <a:spcBef>
                <a:spcPts val="0"/>
              </a:spcBef>
              <a:spcAft>
                <a:spcPts val="0"/>
              </a:spcAft>
              <a:buNone/>
            </a:pPr>
            <a:r>
              <a:rPr lang="ko-KR" altLang="en-US" sz="2000" b="1" dirty="0">
                <a:solidFill>
                  <a:srgbClr val="1F2328"/>
                </a:solidFill>
                <a:latin typeface="맑은 고딕"/>
                <a:ea typeface="맑은 고딕"/>
                <a:cs typeface="맑은 고딕"/>
              </a:rPr>
              <a:t>우리말에 맞게 (  ) 안의 말을 바르게 배열하시오.</a:t>
            </a:r>
            <a:endParaRPr lang="ko-KR" sz="2000"/>
          </a:p>
        </p:txBody>
      </p:sp>
      <p:sp>
        <p:nvSpPr>
          <p:cNvPr id="5" name="ftr_exam"/>
          <p:cNvSpPr txBox="1"/>
          <p:nvPr/>
        </p:nvSpPr>
        <p:spPr>
          <a:xfrm>
            <a:off x="457200" y="6519672"/>
            <a:ext cx="5669280" cy="256032"/>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6</a:t>
            </a:r>
            <a:endParaRPr lang="ko-KR" sz="1000"/>
          </a:p>
        </p:txBody>
      </p:sp>
      <p:sp>
        <p:nvSpPr>
          <p:cNvPr id="6" name="ftr_hint"/>
          <p:cNvSpPr txBox="1"/>
          <p:nvPr/>
        </p:nvSpPr>
        <p:spPr>
          <a:xfrm>
            <a:off x="5971032" y="6519672"/>
            <a:ext cx="5760720" cy="256032"/>
          </a:xfrm>
          <a:prstGeom prst="rect">
            <a:avLst/>
          </a:prstGeom>
          <a:noFill/>
        </p:spPr>
        <p:txBody>
          <a:bodyPr wrap="square" lIns="0" tIns="0" rIns="0" bIns="0" anchor="t" rtlCol="0">
            <a:noAutofit/>
          </a:bodyPr>
          <a:lstStyle/>
          <a:p>
            <a:pPr algn="r">
              <a:lnSpc>
                <a:spcPts val="1200"/>
              </a:lnSpc>
              <a:spcBef>
                <a:spcPts val="0"/>
              </a:spcBef>
              <a:spcAft>
                <a:spcPts val="0"/>
              </a:spcAft>
              <a:buNone/>
            </a:pPr>
            <a:r>
              <a:rPr lang="ko-KR" altLang="en-US" sz="1000" b="0" dirty="0">
                <a:solidFill>
                  <a:srgbClr val="7A808C"/>
                </a:solidFill>
                <a:latin typeface="맑은 고딕"/>
                <a:ea typeface="맑은 고딕"/>
                <a:cs typeface="맑은 고딕"/>
              </a:rPr>
              <a:t>클릭 ① 완성 문장(정답) 공개</a:t>
            </a:r>
            <a:endParaRPr lang="ko-KR" sz="1000"/>
          </a:p>
        </p:txBody>
      </p:sp>
      <p:sp>
        <p:nvSpPr>
          <p:cNvPr id="7" name="item_card_1"/>
          <p:cNvSpPr/>
          <p:nvPr/>
        </p:nvSpPr>
        <p:spPr>
          <a:xfrm>
            <a:off x="457200" y="950976"/>
            <a:ext cx="11274552" cy="2257552"/>
          </a:xfrm>
          <a:prstGeom prst="roundRect">
            <a:avLst>
              <a:gd name="adj" fmla="val 6000"/>
            </a:avLst>
          </a:prstGeom>
          <a:solidFill>
            <a:srgbClr val="F3F5F9"/>
          </a:solidFill>
          <a:ln w="12700">
            <a:solidFill>
              <a:srgbClr val="D9DFEA"/>
            </a:solidFill>
          </a:ln>
        </p:spPr>
        <p:txBody>
          <a:bodyPr rtlCol="0" anchor="ctr"/>
          <a:lstStyle/>
          <a:p>
            <a:pPr algn="ctr"/>
          </a:p>
        </p:txBody>
      </p:sp>
      <p:sp>
        <p:nvSpPr>
          <p:cNvPr id="8" name="kor_1"/>
          <p:cNvSpPr txBox="1"/>
          <p:nvPr/>
        </p:nvSpPr>
        <p:spPr>
          <a:xfrm>
            <a:off x="457200" y="1060704"/>
            <a:ext cx="11274552" cy="649478"/>
          </a:xfrm>
          <a:prstGeom prst="rect">
            <a:avLst/>
          </a:prstGeom>
          <a:noFill/>
        </p:spPr>
        <p:txBody>
          <a:bodyPr wrap="square" lIns="228600" tIns="54864" rIns="228600" bIns="54864" anchor="t" rtlCol="0">
            <a:noAutofit/>
          </a:bodyPr>
          <a:lstStyle/>
          <a:p>
            <a:pPr algn="l">
              <a:lnSpc>
                <a:spcPts val="2125"/>
              </a:lnSpc>
              <a:spcBef>
                <a:spcPts val="0"/>
              </a:spcBef>
              <a:spcAft>
                <a:spcPts val="0"/>
              </a:spcAft>
              <a:buNone/>
            </a:pPr>
            <a:r>
              <a:rPr lang="en-US" altLang="en-US" sz="1700" b="1" dirty="0">
                <a:solidFill>
                  <a:srgbClr val="1E2A5A"/>
                </a:solidFill>
                <a:latin typeface="Calibri"/>
                <a:ea typeface="맑은 고딕"/>
                <a:cs typeface="Calibri"/>
              </a:rPr>
              <a:t>3.  </a:t>
            </a:r>
            <a:r>
              <a:rPr lang="ko-KR" altLang="en-US" sz="1700" b="1" dirty="0">
                <a:solidFill>
                  <a:srgbClr val="1F2328"/>
                </a:solidFill>
                <a:latin typeface="맑은 고딕"/>
                <a:ea typeface="맑은 고딕"/>
                <a:cs typeface="맑은 고딕"/>
              </a:rPr>
              <a:t>사람들은 그에게 가구를 어디에서 구했는지 물었지만, 그는 "그건 비밀이에요."라고만 말했다.</a:t>
            </a:r>
            <a:endParaRPr lang="ko-KR" sz="1700"/>
          </a:p>
        </p:txBody>
      </p:sp>
      <p:sp>
        <p:nvSpPr>
          <p:cNvPr id="9" name="ex_1"/>
          <p:cNvSpPr txBox="1"/>
          <p:nvPr/>
        </p:nvSpPr>
        <p:spPr>
          <a:xfrm>
            <a:off x="457200" y="1655318"/>
            <a:ext cx="11274552" cy="761238"/>
          </a:xfrm>
          <a:prstGeom prst="rect">
            <a:avLst/>
          </a:prstGeom>
          <a:noFill/>
        </p:spPr>
        <p:txBody>
          <a:bodyPr wrap="square" lIns="228600" tIns="54864" rIns="228600" bIns="54864" anchor="t" rtlCol="0">
            <a:noAutofit/>
          </a:bodyPr>
          <a:lstStyle/>
          <a:p>
            <a:pPr algn="l">
              <a:lnSpc>
                <a:spcPts val="2565"/>
              </a:lnSpc>
              <a:spcBef>
                <a:spcPts val="0"/>
              </a:spcBef>
              <a:spcAft>
                <a:spcPts val="0"/>
              </a:spcAft>
              <a:buNone/>
            </a:pP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People</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where</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asked</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the furniture</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he had got</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him</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 but he just said, "It’s a secret."</a:t>
            </a:r>
            <a:endParaRPr lang="ko-KR" sz="1900"/>
          </a:p>
        </p:txBody>
      </p:sp>
      <p:sp>
        <p:nvSpPr>
          <p:cNvPr id="10" name="rv_ans_1"/>
          <p:cNvSpPr txBox="1"/>
          <p:nvPr/>
        </p:nvSpPr>
        <p:spPr>
          <a:xfrm>
            <a:off x="594360" y="2453132"/>
            <a:ext cx="11000232" cy="737108"/>
          </a:xfrm>
          <a:prstGeom prst="rect">
            <a:avLst/>
          </a:prstGeom>
          <a:solidFill>
            <a:srgbClr val="FFF3C4"/>
          </a:solidFill>
        </p:spPr>
        <p:txBody>
          <a:bodyPr wrap="square" lIns="137160" tIns="54864" rIns="137160" bIns="54864" anchor="t" rtlCol="0">
            <a:noAutofit/>
          </a:bodyPr>
          <a:lstStyle/>
          <a:p>
            <a:pPr algn="l">
              <a:lnSpc>
                <a:spcPts val="2470"/>
              </a:lnSpc>
              <a:spcBef>
                <a:spcPts val="0"/>
              </a:spcBef>
              <a:spcAft>
                <a:spcPts val="0"/>
              </a:spcAft>
              <a:buNone/>
            </a:pPr>
            <a:r>
              <a:rPr lang="en-US" altLang="en-US" sz="1900" b="1" dirty="0">
                <a:solidFill>
                  <a:srgbClr val="C00000"/>
                </a:solidFill>
                <a:latin typeface="Calibri"/>
                <a:ea typeface="맑은 고딕"/>
                <a:cs typeface="Calibri"/>
              </a:rPr>
              <a:t>→  </a:t>
            </a:r>
            <a:r>
              <a:rPr lang="en-US" altLang="en-US" sz="1900" b="1" dirty="0">
                <a:solidFill>
                  <a:srgbClr val="C00000"/>
                </a:solidFill>
                <a:latin typeface="Calibri"/>
                <a:ea typeface="맑은 고딕"/>
                <a:cs typeface="Calibri"/>
              </a:rPr>
              <a:t>People asked him where he had got the furniture, but he just said, "It’s a secret."</a:t>
            </a:r>
            <a:endParaRPr lang="ko-KR" sz="1900"/>
          </a:p>
        </p:txBody>
      </p:sp>
      <p:sp>
        <p:nvSpPr>
          <p:cNvPr id="11" name="item_card_2"/>
          <p:cNvSpPr/>
          <p:nvPr/>
        </p:nvSpPr>
        <p:spPr>
          <a:xfrm>
            <a:off x="457200" y="3318256"/>
            <a:ext cx="11274552" cy="1987677"/>
          </a:xfrm>
          <a:prstGeom prst="roundRect">
            <a:avLst>
              <a:gd name="adj" fmla="val 6000"/>
            </a:avLst>
          </a:prstGeom>
          <a:solidFill>
            <a:srgbClr val="F3F5F9"/>
          </a:solidFill>
          <a:ln w="12700">
            <a:solidFill>
              <a:srgbClr val="D9DFEA"/>
            </a:solidFill>
          </a:ln>
        </p:spPr>
        <p:txBody>
          <a:bodyPr rtlCol="0" anchor="ctr"/>
          <a:lstStyle/>
          <a:p>
            <a:pPr algn="ctr"/>
          </a:p>
        </p:txBody>
      </p:sp>
      <p:sp>
        <p:nvSpPr>
          <p:cNvPr id="12" name="kor_2"/>
          <p:cNvSpPr txBox="1"/>
          <p:nvPr/>
        </p:nvSpPr>
        <p:spPr>
          <a:xfrm>
            <a:off x="457200" y="3427984"/>
            <a:ext cx="11274552" cy="379603"/>
          </a:xfrm>
          <a:prstGeom prst="rect">
            <a:avLst/>
          </a:prstGeom>
          <a:noFill/>
        </p:spPr>
        <p:txBody>
          <a:bodyPr wrap="square" lIns="228600" tIns="54864" rIns="228600" bIns="54864" anchor="t" rtlCol="0">
            <a:noAutofit/>
          </a:bodyPr>
          <a:lstStyle/>
          <a:p>
            <a:pPr algn="l">
              <a:lnSpc>
                <a:spcPts val="2125"/>
              </a:lnSpc>
              <a:spcBef>
                <a:spcPts val="0"/>
              </a:spcBef>
              <a:spcAft>
                <a:spcPts val="0"/>
              </a:spcAft>
              <a:buNone/>
            </a:pPr>
            <a:r>
              <a:rPr lang="en-US" altLang="en-US" sz="1700" b="1" dirty="0">
                <a:solidFill>
                  <a:srgbClr val="1E2A5A"/>
                </a:solidFill>
                <a:latin typeface="Calibri"/>
                <a:ea typeface="맑은 고딕"/>
                <a:cs typeface="Calibri"/>
              </a:rPr>
              <a:t>4.  </a:t>
            </a:r>
            <a:r>
              <a:rPr lang="ko-KR" altLang="en-US" sz="1700" b="1" dirty="0">
                <a:solidFill>
                  <a:srgbClr val="1F2328"/>
                </a:solidFill>
                <a:latin typeface="맑은 고딕"/>
                <a:ea typeface="맑은 고딕"/>
                <a:cs typeface="맑은 고딕"/>
              </a:rPr>
              <a:t>Boggis 씨의 비밀은 단순했다. 그는 매주 일요일에 작은 마을들을 방문해서 문을 두드렸다.</a:t>
            </a:r>
            <a:endParaRPr lang="ko-KR" sz="1700"/>
          </a:p>
        </p:txBody>
      </p:sp>
      <p:sp>
        <p:nvSpPr>
          <p:cNvPr id="13" name="ex_2"/>
          <p:cNvSpPr txBox="1"/>
          <p:nvPr/>
        </p:nvSpPr>
        <p:spPr>
          <a:xfrm>
            <a:off x="457200" y="3752723"/>
            <a:ext cx="11274552" cy="761238"/>
          </a:xfrm>
          <a:prstGeom prst="rect">
            <a:avLst/>
          </a:prstGeom>
          <a:noFill/>
        </p:spPr>
        <p:txBody>
          <a:bodyPr wrap="square" lIns="228600" tIns="54864" rIns="228600" bIns="54864" anchor="t" rtlCol="0">
            <a:noAutofit/>
          </a:bodyPr>
          <a:lstStyle/>
          <a:p>
            <a:pPr algn="l">
              <a:lnSpc>
                <a:spcPts val="2565"/>
              </a:lnSpc>
              <a:spcBef>
                <a:spcPts val="0"/>
              </a:spcBef>
              <a:spcAft>
                <a:spcPts val="0"/>
              </a:spcAft>
              <a:buNone/>
            </a:pP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was</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Mr. Boggis’ secret</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simple</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went to</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every Sunday</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He</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small towns</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 and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on doors</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knocked</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a:t>
            </a:r>
            <a:endParaRPr lang="ko-KR" sz="1900"/>
          </a:p>
        </p:txBody>
      </p:sp>
      <p:sp>
        <p:nvSpPr>
          <p:cNvPr id="14" name="rv_ans_2"/>
          <p:cNvSpPr txBox="1"/>
          <p:nvPr/>
        </p:nvSpPr>
        <p:spPr>
          <a:xfrm>
            <a:off x="594360" y="4550537"/>
            <a:ext cx="11000232" cy="737108"/>
          </a:xfrm>
          <a:prstGeom prst="rect">
            <a:avLst/>
          </a:prstGeom>
          <a:solidFill>
            <a:srgbClr val="FFF3C4"/>
          </a:solidFill>
        </p:spPr>
        <p:txBody>
          <a:bodyPr wrap="square" lIns="137160" tIns="54864" rIns="137160" bIns="54864" anchor="t" rtlCol="0">
            <a:noAutofit/>
          </a:bodyPr>
          <a:lstStyle/>
          <a:p>
            <a:pPr algn="l">
              <a:lnSpc>
                <a:spcPts val="2470"/>
              </a:lnSpc>
              <a:spcBef>
                <a:spcPts val="0"/>
              </a:spcBef>
              <a:spcAft>
                <a:spcPts val="0"/>
              </a:spcAft>
              <a:buNone/>
            </a:pPr>
            <a:r>
              <a:rPr lang="en-US" altLang="en-US" sz="1900" b="1" dirty="0">
                <a:solidFill>
                  <a:srgbClr val="C00000"/>
                </a:solidFill>
                <a:latin typeface="Calibri"/>
                <a:ea typeface="맑은 고딕"/>
                <a:cs typeface="Calibri"/>
              </a:rPr>
              <a:t>→  </a:t>
            </a:r>
            <a:r>
              <a:rPr lang="en-US" altLang="en-US" sz="1900" b="1" dirty="0">
                <a:solidFill>
                  <a:srgbClr val="C00000"/>
                </a:solidFill>
                <a:latin typeface="Calibri"/>
                <a:ea typeface="맑은 고딕"/>
                <a:cs typeface="Calibri"/>
              </a:rPr>
              <a:t>Mr. Boggis’ secret was simple. He went to small towns every Sunday and knocked on doors.</a:t>
            </a:r>
            <a:endParaRPr lang="ko-KR" sz="19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25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2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4" grpId="0" animBg="1"/>
    </p:bldLst>
  </p:timing>
</p:sld>
</file>

<file path=ppt/slides/slide1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8000"/>
            </a:avLst>
          </a:prstGeom>
          <a:solidFill>
            <a:srgbClr val="1E2A5A"/>
          </a:solidFill>
          <a:ln>
            <a:noFill/>
          </a:ln>
        </p:spPr>
        <p:txBody>
          <a:bodyPr wrap="square" lIns="45720" tIns="18288" rIns="45720" bIns="18288" anchor="ctr" rtlCol="0">
            <a:noAutofit/>
          </a:bodyPr>
          <a:lstStyle/>
          <a:p>
            <a:pPr algn="ctr">
              <a:lnSpc>
                <a:spcPts val="2000"/>
              </a:lnSpc>
              <a:spcBef>
                <a:spcPts val="0"/>
              </a:spcBef>
              <a:spcAft>
                <a:spcPts val="0"/>
              </a:spcAft>
              <a:buNone/>
            </a:pPr>
            <a:r>
              <a:rPr lang="en-US" altLang="en-US" sz="1700" b="1" dirty="0">
                <a:solidFill>
                  <a:srgbClr val="FFFFFF"/>
                </a:solidFill>
                <a:latin typeface="Calibri"/>
                <a:ea typeface="맑은 고딕"/>
                <a:cs typeface="Calibri"/>
              </a:rPr>
              <a:t>L6-1</a:t>
            </a:r>
            <a:endParaRPr lang="ko-KR" sz="1700"/>
          </a:p>
        </p:txBody>
      </p:sp>
      <p:sp>
        <p:nvSpPr>
          <p:cNvPr id="3" name="hdr_chip"/>
          <p:cNvSpPr/>
          <p:nvPr/>
        </p:nvSpPr>
        <p:spPr>
          <a:xfrm>
            <a:off x="1755648" y="274320"/>
            <a:ext cx="1371600" cy="493776"/>
          </a:xfrm>
          <a:prstGeom prst="roundRect">
            <a:avLst>
              <a:gd name="adj" fmla="val 8000"/>
            </a:avLst>
          </a:prstGeom>
          <a:solidFill>
            <a:srgbClr val="E6EAF4"/>
          </a:solidFill>
          <a:ln>
            <a:noFill/>
          </a:ln>
        </p:spPr>
        <p:txBody>
          <a:bodyPr wrap="square" lIns="27432" tIns="18288" rIns="27432" bIns="18288" anchor="ctr" rtlCol="0">
            <a:noAutofit/>
          </a:bodyPr>
          <a:lstStyle/>
          <a:p>
            <a:pPr algn="ctr">
              <a:lnSpc>
                <a:spcPts val="1700"/>
              </a:lnSpc>
              <a:spcBef>
                <a:spcPts val="0"/>
              </a:spcBef>
              <a:spcAft>
                <a:spcPts val="0"/>
              </a:spcAft>
              <a:buNone/>
            </a:pPr>
            <a:r>
              <a:rPr lang="ko-KR" altLang="en-US" sz="1400" b="1" dirty="0">
                <a:solidFill>
                  <a:srgbClr val="1E2A5A"/>
                </a:solidFill>
                <a:latin typeface="맑은 고딕"/>
                <a:ea typeface="맑은 고딕"/>
                <a:cs typeface="맑은 고딕"/>
              </a:rPr>
              <a:t>PART 6 · 3</a:t>
            </a:r>
            <a:endParaRPr lang="ko-KR" sz="1400"/>
          </a:p>
        </p:txBody>
      </p:sp>
      <p:sp>
        <p:nvSpPr>
          <p:cNvPr id="4" name="hdr_q"/>
          <p:cNvSpPr txBox="1"/>
          <p:nvPr/>
        </p:nvSpPr>
        <p:spPr>
          <a:xfrm>
            <a:off x="3246120" y="246888"/>
            <a:ext cx="8485632" cy="548640"/>
          </a:xfrm>
          <a:prstGeom prst="rect">
            <a:avLst/>
          </a:prstGeom>
          <a:noFill/>
        </p:spPr>
        <p:txBody>
          <a:bodyPr wrap="square" lIns="109728" tIns="54864" rIns="109728" bIns="54864" anchor="ctr" rtlCol="0">
            <a:noAutofit/>
          </a:bodyPr>
          <a:lstStyle/>
          <a:p>
            <a:pPr algn="l">
              <a:lnSpc>
                <a:spcPts val="2400"/>
              </a:lnSpc>
              <a:spcBef>
                <a:spcPts val="0"/>
              </a:spcBef>
              <a:spcAft>
                <a:spcPts val="0"/>
              </a:spcAft>
              <a:buNone/>
            </a:pPr>
            <a:r>
              <a:rPr lang="ko-KR" altLang="en-US" sz="2000" b="1" dirty="0">
                <a:solidFill>
                  <a:srgbClr val="1F2328"/>
                </a:solidFill>
                <a:latin typeface="맑은 고딕"/>
                <a:ea typeface="맑은 고딕"/>
                <a:cs typeface="맑은 고딕"/>
              </a:rPr>
              <a:t>우리말에 맞게 (  ) 안의 말을 바르게 배열하시오.</a:t>
            </a:r>
            <a:endParaRPr lang="ko-KR" sz="2000"/>
          </a:p>
        </p:txBody>
      </p:sp>
      <p:sp>
        <p:nvSpPr>
          <p:cNvPr id="5" name="ftr_exam"/>
          <p:cNvSpPr txBox="1"/>
          <p:nvPr/>
        </p:nvSpPr>
        <p:spPr>
          <a:xfrm>
            <a:off x="457200" y="6519672"/>
            <a:ext cx="5669280" cy="256032"/>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6</a:t>
            </a:r>
            <a:endParaRPr lang="ko-KR" sz="1000"/>
          </a:p>
        </p:txBody>
      </p:sp>
      <p:sp>
        <p:nvSpPr>
          <p:cNvPr id="6" name="ftr_hint"/>
          <p:cNvSpPr txBox="1"/>
          <p:nvPr/>
        </p:nvSpPr>
        <p:spPr>
          <a:xfrm>
            <a:off x="5971032" y="6519672"/>
            <a:ext cx="5760720" cy="256032"/>
          </a:xfrm>
          <a:prstGeom prst="rect">
            <a:avLst/>
          </a:prstGeom>
          <a:noFill/>
        </p:spPr>
        <p:txBody>
          <a:bodyPr wrap="square" lIns="0" tIns="0" rIns="0" bIns="0" anchor="t" rtlCol="0">
            <a:noAutofit/>
          </a:bodyPr>
          <a:lstStyle/>
          <a:p>
            <a:pPr algn="r">
              <a:lnSpc>
                <a:spcPts val="1200"/>
              </a:lnSpc>
              <a:spcBef>
                <a:spcPts val="0"/>
              </a:spcBef>
              <a:spcAft>
                <a:spcPts val="0"/>
              </a:spcAft>
              <a:buNone/>
            </a:pPr>
            <a:r>
              <a:rPr lang="ko-KR" altLang="en-US" sz="1000" b="0" dirty="0">
                <a:solidFill>
                  <a:srgbClr val="7A808C"/>
                </a:solidFill>
                <a:latin typeface="맑은 고딕"/>
                <a:ea typeface="맑은 고딕"/>
                <a:cs typeface="맑은 고딕"/>
              </a:rPr>
              <a:t>클릭 ① 완성 문장(정답) 공개</a:t>
            </a:r>
            <a:endParaRPr lang="ko-KR" sz="1000"/>
          </a:p>
        </p:txBody>
      </p:sp>
      <p:sp>
        <p:nvSpPr>
          <p:cNvPr id="7" name="item_card_1"/>
          <p:cNvSpPr/>
          <p:nvPr/>
        </p:nvSpPr>
        <p:spPr>
          <a:xfrm>
            <a:off x="457200" y="950976"/>
            <a:ext cx="11274552" cy="1348232"/>
          </a:xfrm>
          <a:prstGeom prst="roundRect">
            <a:avLst>
              <a:gd name="adj" fmla="val 6000"/>
            </a:avLst>
          </a:prstGeom>
          <a:solidFill>
            <a:srgbClr val="F3F5F9"/>
          </a:solidFill>
          <a:ln w="12700">
            <a:solidFill>
              <a:srgbClr val="D9DFEA"/>
            </a:solidFill>
          </a:ln>
        </p:spPr>
        <p:txBody>
          <a:bodyPr rtlCol="0" anchor="ctr"/>
          <a:lstStyle/>
          <a:p>
            <a:pPr algn="ctr"/>
          </a:p>
        </p:txBody>
      </p:sp>
      <p:sp>
        <p:nvSpPr>
          <p:cNvPr id="8" name="kor_1"/>
          <p:cNvSpPr txBox="1"/>
          <p:nvPr/>
        </p:nvSpPr>
        <p:spPr>
          <a:xfrm>
            <a:off x="457200" y="1060704"/>
            <a:ext cx="11274552" cy="379603"/>
          </a:xfrm>
          <a:prstGeom prst="rect">
            <a:avLst/>
          </a:prstGeom>
          <a:noFill/>
        </p:spPr>
        <p:txBody>
          <a:bodyPr wrap="square" lIns="228600" tIns="54864" rIns="228600" bIns="54864" anchor="t" rtlCol="0">
            <a:noAutofit/>
          </a:bodyPr>
          <a:lstStyle/>
          <a:p>
            <a:pPr algn="l">
              <a:lnSpc>
                <a:spcPts val="2125"/>
              </a:lnSpc>
              <a:spcBef>
                <a:spcPts val="0"/>
              </a:spcBef>
              <a:spcAft>
                <a:spcPts val="0"/>
              </a:spcAft>
              <a:buNone/>
            </a:pPr>
            <a:r>
              <a:rPr lang="en-US" altLang="en-US" sz="1700" b="1" dirty="0">
                <a:solidFill>
                  <a:srgbClr val="1E2A5A"/>
                </a:solidFill>
                <a:latin typeface="Calibri"/>
                <a:ea typeface="맑은 고딕"/>
                <a:cs typeface="Calibri"/>
              </a:rPr>
              <a:t>5.  </a:t>
            </a:r>
            <a:r>
              <a:rPr lang="ko-KR" altLang="en-US" sz="1700" b="1" dirty="0">
                <a:solidFill>
                  <a:srgbClr val="1F2328"/>
                </a:solidFill>
                <a:latin typeface="맑은 고딕"/>
                <a:ea typeface="맑은 고딕"/>
                <a:cs typeface="맑은 고딕"/>
              </a:rPr>
              <a:t>그는 사람들에게 자신이 가구 판매상이라고 말했다.</a:t>
            </a:r>
            <a:endParaRPr lang="ko-KR" sz="1700"/>
          </a:p>
        </p:txBody>
      </p:sp>
      <p:sp>
        <p:nvSpPr>
          <p:cNvPr id="9" name="ex_1"/>
          <p:cNvSpPr txBox="1"/>
          <p:nvPr/>
        </p:nvSpPr>
        <p:spPr>
          <a:xfrm>
            <a:off x="457200" y="1385443"/>
            <a:ext cx="11274552" cy="435483"/>
          </a:xfrm>
          <a:prstGeom prst="rect">
            <a:avLst/>
          </a:prstGeom>
          <a:noFill/>
        </p:spPr>
        <p:txBody>
          <a:bodyPr wrap="square" lIns="228600" tIns="54864" rIns="228600" bIns="54864" anchor="t" rtlCol="0">
            <a:noAutofit/>
          </a:bodyPr>
          <a:lstStyle/>
          <a:p>
            <a:pPr algn="l">
              <a:lnSpc>
                <a:spcPts val="2565"/>
              </a:lnSpc>
              <a:spcBef>
                <a:spcPts val="0"/>
              </a:spcBef>
              <a:spcAft>
                <a:spcPts val="0"/>
              </a:spcAft>
              <a:buNone/>
            </a:pP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He</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a furniture dealer</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that</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told</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he was</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people</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a:t>
            </a:r>
            <a:endParaRPr lang="ko-KR" sz="1900"/>
          </a:p>
        </p:txBody>
      </p:sp>
      <p:sp>
        <p:nvSpPr>
          <p:cNvPr id="10" name="rv_ans_1"/>
          <p:cNvSpPr txBox="1"/>
          <p:nvPr/>
        </p:nvSpPr>
        <p:spPr>
          <a:xfrm>
            <a:off x="594360" y="1857502"/>
            <a:ext cx="11000232" cy="423418"/>
          </a:xfrm>
          <a:prstGeom prst="rect">
            <a:avLst/>
          </a:prstGeom>
          <a:solidFill>
            <a:srgbClr val="FFF3C4"/>
          </a:solidFill>
        </p:spPr>
        <p:txBody>
          <a:bodyPr wrap="square" lIns="137160" tIns="54864" rIns="137160" bIns="54864" anchor="t" rtlCol="0">
            <a:noAutofit/>
          </a:bodyPr>
          <a:lstStyle/>
          <a:p>
            <a:pPr algn="l">
              <a:lnSpc>
                <a:spcPts val="2470"/>
              </a:lnSpc>
              <a:spcBef>
                <a:spcPts val="0"/>
              </a:spcBef>
              <a:spcAft>
                <a:spcPts val="0"/>
              </a:spcAft>
              <a:buNone/>
            </a:pPr>
            <a:r>
              <a:rPr lang="en-US" altLang="en-US" sz="1900" b="1" dirty="0">
                <a:solidFill>
                  <a:srgbClr val="C00000"/>
                </a:solidFill>
                <a:latin typeface="Calibri"/>
                <a:ea typeface="맑은 고딕"/>
                <a:cs typeface="Calibri"/>
              </a:rPr>
              <a:t>→  </a:t>
            </a:r>
            <a:r>
              <a:rPr lang="en-US" altLang="en-US" sz="1900" b="1" dirty="0">
                <a:solidFill>
                  <a:srgbClr val="C00000"/>
                </a:solidFill>
                <a:latin typeface="Calibri"/>
                <a:ea typeface="맑은 고딕"/>
                <a:cs typeface="Calibri"/>
              </a:rPr>
              <a:t>He told people that he was a furniture dealer.</a:t>
            </a:r>
            <a:endParaRPr lang="ko-KR" sz="1900"/>
          </a:p>
        </p:txBody>
      </p:sp>
      <p:sp>
        <p:nvSpPr>
          <p:cNvPr id="11" name="item_card_2"/>
          <p:cNvSpPr/>
          <p:nvPr/>
        </p:nvSpPr>
        <p:spPr>
          <a:xfrm>
            <a:off x="457200" y="2408936"/>
            <a:ext cx="11274552" cy="1987677"/>
          </a:xfrm>
          <a:prstGeom prst="roundRect">
            <a:avLst>
              <a:gd name="adj" fmla="val 6000"/>
            </a:avLst>
          </a:prstGeom>
          <a:solidFill>
            <a:srgbClr val="F3F5F9"/>
          </a:solidFill>
          <a:ln w="12700">
            <a:solidFill>
              <a:srgbClr val="D9DFEA"/>
            </a:solidFill>
          </a:ln>
        </p:spPr>
        <p:txBody>
          <a:bodyPr rtlCol="0" anchor="ctr"/>
          <a:lstStyle/>
          <a:p>
            <a:pPr algn="ctr"/>
          </a:p>
        </p:txBody>
      </p:sp>
      <p:sp>
        <p:nvSpPr>
          <p:cNvPr id="12" name="kor_2"/>
          <p:cNvSpPr txBox="1"/>
          <p:nvPr/>
        </p:nvSpPr>
        <p:spPr>
          <a:xfrm>
            <a:off x="457200" y="2518664"/>
            <a:ext cx="11274552" cy="379603"/>
          </a:xfrm>
          <a:prstGeom prst="rect">
            <a:avLst/>
          </a:prstGeom>
          <a:noFill/>
        </p:spPr>
        <p:txBody>
          <a:bodyPr wrap="square" lIns="228600" tIns="54864" rIns="228600" bIns="54864" anchor="t" rtlCol="0">
            <a:noAutofit/>
          </a:bodyPr>
          <a:lstStyle/>
          <a:p>
            <a:pPr algn="l">
              <a:lnSpc>
                <a:spcPts val="2125"/>
              </a:lnSpc>
              <a:spcBef>
                <a:spcPts val="0"/>
              </a:spcBef>
              <a:spcAft>
                <a:spcPts val="0"/>
              </a:spcAft>
              <a:buNone/>
            </a:pPr>
            <a:r>
              <a:rPr lang="en-US" altLang="en-US" sz="1700" b="1" dirty="0">
                <a:solidFill>
                  <a:srgbClr val="1E2A5A"/>
                </a:solidFill>
                <a:latin typeface="Calibri"/>
                <a:ea typeface="맑은 고딕"/>
                <a:cs typeface="Calibri"/>
              </a:rPr>
              <a:t>6.  </a:t>
            </a:r>
            <a:r>
              <a:rPr lang="ko-KR" altLang="en-US" sz="1700" b="1" dirty="0">
                <a:solidFill>
                  <a:srgbClr val="1F2328"/>
                </a:solidFill>
                <a:latin typeface="맑은 고딕"/>
                <a:ea typeface="맑은 고딕"/>
                <a:cs typeface="맑은 고딕"/>
              </a:rPr>
              <a:t>사람들은 자신들의 물건이 얼마나 값진 것인지 몰랐으므로 Boggis 씨는 그들을 이용했다.</a:t>
            </a:r>
            <a:endParaRPr lang="ko-KR" sz="1700"/>
          </a:p>
        </p:txBody>
      </p:sp>
      <p:sp>
        <p:nvSpPr>
          <p:cNvPr id="13" name="ex_2"/>
          <p:cNvSpPr txBox="1"/>
          <p:nvPr/>
        </p:nvSpPr>
        <p:spPr>
          <a:xfrm>
            <a:off x="457200" y="2843403"/>
            <a:ext cx="11274552" cy="761238"/>
          </a:xfrm>
          <a:prstGeom prst="rect">
            <a:avLst/>
          </a:prstGeom>
          <a:noFill/>
        </p:spPr>
        <p:txBody>
          <a:bodyPr wrap="square" lIns="228600" tIns="54864" rIns="228600" bIns="54864" anchor="t" rtlCol="0">
            <a:noAutofit/>
          </a:bodyPr>
          <a:lstStyle/>
          <a:p>
            <a:pPr algn="l">
              <a:lnSpc>
                <a:spcPts val="2565"/>
              </a:lnSpc>
              <a:spcBef>
                <a:spcPts val="0"/>
              </a:spcBef>
              <a:spcAft>
                <a:spcPts val="0"/>
              </a:spcAft>
              <a:buNone/>
            </a:pP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People</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their things</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didn’t know</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how valuable</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were</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 so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took advantage of</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them</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Mr. Boggis</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a:t>
            </a:r>
            <a:endParaRPr lang="ko-KR" sz="1900"/>
          </a:p>
        </p:txBody>
      </p:sp>
      <p:sp>
        <p:nvSpPr>
          <p:cNvPr id="14" name="rv_ans_2"/>
          <p:cNvSpPr txBox="1"/>
          <p:nvPr/>
        </p:nvSpPr>
        <p:spPr>
          <a:xfrm>
            <a:off x="594360" y="3641217"/>
            <a:ext cx="11000232" cy="737108"/>
          </a:xfrm>
          <a:prstGeom prst="rect">
            <a:avLst/>
          </a:prstGeom>
          <a:solidFill>
            <a:srgbClr val="FFF3C4"/>
          </a:solidFill>
        </p:spPr>
        <p:txBody>
          <a:bodyPr wrap="square" lIns="137160" tIns="54864" rIns="137160" bIns="54864" anchor="t" rtlCol="0">
            <a:noAutofit/>
          </a:bodyPr>
          <a:lstStyle/>
          <a:p>
            <a:pPr algn="l">
              <a:lnSpc>
                <a:spcPts val="2470"/>
              </a:lnSpc>
              <a:spcBef>
                <a:spcPts val="0"/>
              </a:spcBef>
              <a:spcAft>
                <a:spcPts val="0"/>
              </a:spcAft>
              <a:buNone/>
            </a:pPr>
            <a:r>
              <a:rPr lang="en-US" altLang="en-US" sz="1900" b="1" dirty="0">
                <a:solidFill>
                  <a:srgbClr val="C00000"/>
                </a:solidFill>
                <a:latin typeface="Calibri"/>
                <a:ea typeface="맑은 고딕"/>
                <a:cs typeface="Calibri"/>
              </a:rPr>
              <a:t>→  </a:t>
            </a:r>
            <a:r>
              <a:rPr lang="en-US" altLang="en-US" sz="1900" b="1" dirty="0">
                <a:solidFill>
                  <a:srgbClr val="C00000"/>
                </a:solidFill>
                <a:latin typeface="Calibri"/>
                <a:ea typeface="맑은 고딕"/>
                <a:cs typeface="Calibri"/>
              </a:rPr>
              <a:t>People didn’t know how valuable their things were, so Mr. Boggis took advantage of them.</a:t>
            </a:r>
            <a:endParaRPr lang="ko-KR" sz="1900"/>
          </a:p>
        </p:txBody>
      </p:sp>
      <p:sp>
        <p:nvSpPr>
          <p:cNvPr id="15" name="item_card_3"/>
          <p:cNvSpPr/>
          <p:nvPr/>
        </p:nvSpPr>
        <p:spPr>
          <a:xfrm>
            <a:off x="457200" y="4506341"/>
            <a:ext cx="11274552" cy="1348232"/>
          </a:xfrm>
          <a:prstGeom prst="roundRect">
            <a:avLst>
              <a:gd name="adj" fmla="val 6000"/>
            </a:avLst>
          </a:prstGeom>
          <a:solidFill>
            <a:srgbClr val="F3F5F9"/>
          </a:solidFill>
          <a:ln w="12700">
            <a:solidFill>
              <a:srgbClr val="D9DFEA"/>
            </a:solidFill>
          </a:ln>
        </p:spPr>
        <p:txBody>
          <a:bodyPr rtlCol="0" anchor="ctr"/>
          <a:lstStyle/>
          <a:p>
            <a:pPr algn="ctr"/>
          </a:p>
        </p:txBody>
      </p:sp>
      <p:sp>
        <p:nvSpPr>
          <p:cNvPr id="16" name="kor_3"/>
          <p:cNvSpPr txBox="1"/>
          <p:nvPr/>
        </p:nvSpPr>
        <p:spPr>
          <a:xfrm>
            <a:off x="457200" y="4616069"/>
            <a:ext cx="11274552" cy="379603"/>
          </a:xfrm>
          <a:prstGeom prst="rect">
            <a:avLst/>
          </a:prstGeom>
          <a:noFill/>
        </p:spPr>
        <p:txBody>
          <a:bodyPr wrap="square" lIns="228600" tIns="54864" rIns="228600" bIns="54864" anchor="t" rtlCol="0">
            <a:noAutofit/>
          </a:bodyPr>
          <a:lstStyle/>
          <a:p>
            <a:pPr algn="l">
              <a:lnSpc>
                <a:spcPts val="2125"/>
              </a:lnSpc>
              <a:spcBef>
                <a:spcPts val="0"/>
              </a:spcBef>
              <a:spcAft>
                <a:spcPts val="0"/>
              </a:spcAft>
              <a:buNone/>
            </a:pPr>
            <a:r>
              <a:rPr lang="en-US" altLang="en-US" sz="1700" b="1" dirty="0">
                <a:solidFill>
                  <a:srgbClr val="1E2A5A"/>
                </a:solidFill>
                <a:latin typeface="Calibri"/>
                <a:ea typeface="맑은 고딕"/>
                <a:cs typeface="Calibri"/>
              </a:rPr>
              <a:t>7.  </a:t>
            </a:r>
            <a:r>
              <a:rPr lang="ko-KR" altLang="en-US" sz="1700" b="1" dirty="0">
                <a:solidFill>
                  <a:srgbClr val="1F2328"/>
                </a:solidFill>
                <a:latin typeface="맑은 고딕"/>
                <a:ea typeface="맑은 고딕"/>
                <a:cs typeface="맑은 고딕"/>
              </a:rPr>
              <a:t>그는 물건들을 매우 싸게 살 수 있었다.</a:t>
            </a:r>
            <a:endParaRPr lang="ko-KR" sz="1700"/>
          </a:p>
        </p:txBody>
      </p:sp>
      <p:sp>
        <p:nvSpPr>
          <p:cNvPr id="17" name="ex_3"/>
          <p:cNvSpPr txBox="1"/>
          <p:nvPr/>
        </p:nvSpPr>
        <p:spPr>
          <a:xfrm>
            <a:off x="457200" y="4940808"/>
            <a:ext cx="11274552" cy="435483"/>
          </a:xfrm>
          <a:prstGeom prst="rect">
            <a:avLst/>
          </a:prstGeom>
          <a:noFill/>
        </p:spPr>
        <p:txBody>
          <a:bodyPr wrap="square" lIns="228600" tIns="54864" rIns="228600" bIns="54864" anchor="t" rtlCol="0">
            <a:noAutofit/>
          </a:bodyPr>
          <a:lstStyle/>
          <a:p>
            <a:pPr algn="l">
              <a:lnSpc>
                <a:spcPts val="2565"/>
              </a:lnSpc>
              <a:spcBef>
                <a:spcPts val="0"/>
              </a:spcBef>
              <a:spcAft>
                <a:spcPts val="0"/>
              </a:spcAft>
              <a:buNone/>
            </a:pP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He</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very cheaply</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buy things</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was able to</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a:t>
            </a:r>
            <a:endParaRPr lang="ko-KR" sz="1900"/>
          </a:p>
        </p:txBody>
      </p:sp>
      <p:sp>
        <p:nvSpPr>
          <p:cNvPr id="18" name="rv_ans_3"/>
          <p:cNvSpPr txBox="1"/>
          <p:nvPr/>
        </p:nvSpPr>
        <p:spPr>
          <a:xfrm>
            <a:off x="594360" y="5412867"/>
            <a:ext cx="11000232" cy="423418"/>
          </a:xfrm>
          <a:prstGeom prst="rect">
            <a:avLst/>
          </a:prstGeom>
          <a:solidFill>
            <a:srgbClr val="FFF3C4"/>
          </a:solidFill>
        </p:spPr>
        <p:txBody>
          <a:bodyPr wrap="square" lIns="137160" tIns="54864" rIns="137160" bIns="54864" anchor="t" rtlCol="0">
            <a:noAutofit/>
          </a:bodyPr>
          <a:lstStyle/>
          <a:p>
            <a:pPr algn="l">
              <a:lnSpc>
                <a:spcPts val="2470"/>
              </a:lnSpc>
              <a:spcBef>
                <a:spcPts val="0"/>
              </a:spcBef>
              <a:spcAft>
                <a:spcPts val="0"/>
              </a:spcAft>
              <a:buNone/>
            </a:pPr>
            <a:r>
              <a:rPr lang="en-US" altLang="en-US" sz="1900" b="1" dirty="0">
                <a:solidFill>
                  <a:srgbClr val="C00000"/>
                </a:solidFill>
                <a:latin typeface="Calibri"/>
                <a:ea typeface="맑은 고딕"/>
                <a:cs typeface="Calibri"/>
              </a:rPr>
              <a:t>→  </a:t>
            </a:r>
            <a:r>
              <a:rPr lang="en-US" altLang="en-US" sz="1900" b="1" dirty="0">
                <a:solidFill>
                  <a:srgbClr val="C00000"/>
                </a:solidFill>
                <a:latin typeface="Calibri"/>
                <a:ea typeface="맑은 고딕"/>
                <a:cs typeface="Calibri"/>
              </a:rPr>
              <a:t>He was able to buy things very cheaply.</a:t>
            </a:r>
            <a:endParaRPr lang="ko-KR" sz="19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25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250"/>
                                        <p:tgtEl>
                                          <p:spTgt spid="1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8"/>
                                        </p:tgtEl>
                                        <p:attrNameLst>
                                          <p:attrName>style.visibility</p:attrName>
                                        </p:attrNameLst>
                                      </p:cBhvr>
                                      <p:to>
                                        <p:strVal val="visible"/>
                                      </p:to>
                                    </p:set>
                                    <p:animEffect transition="in" filter="fade">
                                      <p:cBhvr>
                                        <p:cTn id="13"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4" grpId="0" animBg="1"/>
      <p:bldP spid="18" grpId="0" animBg="1"/>
    </p:bldLst>
  </p:timing>
</p:sld>
</file>

<file path=ppt/slides/slide1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8000"/>
            </a:avLst>
          </a:prstGeom>
          <a:solidFill>
            <a:srgbClr val="1E2A5A"/>
          </a:solidFill>
          <a:ln>
            <a:noFill/>
          </a:ln>
        </p:spPr>
        <p:txBody>
          <a:bodyPr wrap="square" lIns="45720" tIns="18288" rIns="45720" bIns="18288" anchor="ctr" rtlCol="0">
            <a:noAutofit/>
          </a:bodyPr>
          <a:lstStyle/>
          <a:p>
            <a:pPr algn="ctr">
              <a:lnSpc>
                <a:spcPts val="2000"/>
              </a:lnSpc>
              <a:spcBef>
                <a:spcPts val="0"/>
              </a:spcBef>
              <a:spcAft>
                <a:spcPts val="0"/>
              </a:spcAft>
              <a:buNone/>
            </a:pPr>
            <a:r>
              <a:rPr lang="en-US" altLang="en-US" sz="1700" b="1" dirty="0">
                <a:solidFill>
                  <a:srgbClr val="FFFFFF"/>
                </a:solidFill>
                <a:latin typeface="Calibri"/>
                <a:ea typeface="맑은 고딕"/>
                <a:cs typeface="Calibri"/>
              </a:rPr>
              <a:t>L6-2</a:t>
            </a:r>
            <a:endParaRPr lang="ko-KR" sz="1700"/>
          </a:p>
        </p:txBody>
      </p:sp>
      <p:sp>
        <p:nvSpPr>
          <p:cNvPr id="3" name="hdr_chip"/>
          <p:cNvSpPr/>
          <p:nvPr/>
        </p:nvSpPr>
        <p:spPr>
          <a:xfrm>
            <a:off x="1755648" y="274320"/>
            <a:ext cx="1371600" cy="493776"/>
          </a:xfrm>
          <a:prstGeom prst="roundRect">
            <a:avLst>
              <a:gd name="adj" fmla="val 8000"/>
            </a:avLst>
          </a:prstGeom>
          <a:solidFill>
            <a:srgbClr val="E6EAF4"/>
          </a:solidFill>
          <a:ln>
            <a:noFill/>
          </a:ln>
        </p:spPr>
        <p:txBody>
          <a:bodyPr wrap="square" lIns="27432" tIns="18288" rIns="27432" bIns="18288" anchor="ctr" rtlCol="0">
            <a:noAutofit/>
          </a:bodyPr>
          <a:lstStyle/>
          <a:p>
            <a:pPr algn="ctr">
              <a:lnSpc>
                <a:spcPts val="1700"/>
              </a:lnSpc>
              <a:spcBef>
                <a:spcPts val="0"/>
              </a:spcBef>
              <a:spcAft>
                <a:spcPts val="0"/>
              </a:spcAft>
              <a:buNone/>
            </a:pPr>
            <a:r>
              <a:rPr lang="ko-KR" altLang="en-US" sz="1400" b="1" dirty="0">
                <a:solidFill>
                  <a:srgbClr val="1E2A5A"/>
                </a:solidFill>
                <a:latin typeface="맑은 고딕"/>
                <a:ea typeface="맑은 고딕"/>
                <a:cs typeface="맑은 고딕"/>
              </a:rPr>
              <a:t>PART 6 · 4</a:t>
            </a:r>
            <a:endParaRPr lang="ko-KR" sz="1400"/>
          </a:p>
        </p:txBody>
      </p:sp>
      <p:sp>
        <p:nvSpPr>
          <p:cNvPr id="4" name="hdr_q"/>
          <p:cNvSpPr txBox="1"/>
          <p:nvPr/>
        </p:nvSpPr>
        <p:spPr>
          <a:xfrm>
            <a:off x="3246120" y="246888"/>
            <a:ext cx="8485632" cy="548640"/>
          </a:xfrm>
          <a:prstGeom prst="rect">
            <a:avLst/>
          </a:prstGeom>
          <a:noFill/>
        </p:spPr>
        <p:txBody>
          <a:bodyPr wrap="square" lIns="109728" tIns="54864" rIns="109728" bIns="54864" anchor="ctr" rtlCol="0">
            <a:noAutofit/>
          </a:bodyPr>
          <a:lstStyle/>
          <a:p>
            <a:pPr algn="l">
              <a:lnSpc>
                <a:spcPts val="2400"/>
              </a:lnSpc>
              <a:spcBef>
                <a:spcPts val="0"/>
              </a:spcBef>
              <a:spcAft>
                <a:spcPts val="0"/>
              </a:spcAft>
              <a:buNone/>
            </a:pPr>
            <a:r>
              <a:rPr lang="ko-KR" altLang="en-US" sz="2000" b="1" dirty="0">
                <a:solidFill>
                  <a:srgbClr val="1F2328"/>
                </a:solidFill>
                <a:latin typeface="맑은 고딕"/>
                <a:ea typeface="맑은 고딕"/>
                <a:cs typeface="맑은 고딕"/>
              </a:rPr>
              <a:t>우리말에 맞게 (  ) 안의 말을 바르게 배열하시오.</a:t>
            </a:r>
            <a:endParaRPr lang="ko-KR" sz="2000"/>
          </a:p>
        </p:txBody>
      </p:sp>
      <p:sp>
        <p:nvSpPr>
          <p:cNvPr id="5" name="ftr_exam"/>
          <p:cNvSpPr txBox="1"/>
          <p:nvPr/>
        </p:nvSpPr>
        <p:spPr>
          <a:xfrm>
            <a:off x="457200" y="6519672"/>
            <a:ext cx="5669280" cy="256032"/>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6</a:t>
            </a:r>
            <a:endParaRPr lang="ko-KR" sz="1000"/>
          </a:p>
        </p:txBody>
      </p:sp>
      <p:sp>
        <p:nvSpPr>
          <p:cNvPr id="6" name="ftr_hint"/>
          <p:cNvSpPr txBox="1"/>
          <p:nvPr/>
        </p:nvSpPr>
        <p:spPr>
          <a:xfrm>
            <a:off x="5971032" y="6519672"/>
            <a:ext cx="5760720" cy="256032"/>
          </a:xfrm>
          <a:prstGeom prst="rect">
            <a:avLst/>
          </a:prstGeom>
          <a:noFill/>
        </p:spPr>
        <p:txBody>
          <a:bodyPr wrap="square" lIns="0" tIns="0" rIns="0" bIns="0" anchor="t" rtlCol="0">
            <a:noAutofit/>
          </a:bodyPr>
          <a:lstStyle/>
          <a:p>
            <a:pPr algn="r">
              <a:lnSpc>
                <a:spcPts val="1200"/>
              </a:lnSpc>
              <a:spcBef>
                <a:spcPts val="0"/>
              </a:spcBef>
              <a:spcAft>
                <a:spcPts val="0"/>
              </a:spcAft>
              <a:buNone/>
            </a:pPr>
            <a:r>
              <a:rPr lang="ko-KR" altLang="en-US" sz="1000" b="0" dirty="0">
                <a:solidFill>
                  <a:srgbClr val="7A808C"/>
                </a:solidFill>
                <a:latin typeface="맑은 고딕"/>
                <a:ea typeface="맑은 고딕"/>
                <a:cs typeface="맑은 고딕"/>
              </a:rPr>
              <a:t>클릭 ① 완성 문장(정답) 공개</a:t>
            </a:r>
            <a:endParaRPr lang="ko-KR" sz="1000"/>
          </a:p>
        </p:txBody>
      </p:sp>
      <p:sp>
        <p:nvSpPr>
          <p:cNvPr id="7" name="item_card_1"/>
          <p:cNvSpPr/>
          <p:nvPr/>
        </p:nvSpPr>
        <p:spPr>
          <a:xfrm>
            <a:off x="457200" y="950976"/>
            <a:ext cx="11274552" cy="1348232"/>
          </a:xfrm>
          <a:prstGeom prst="roundRect">
            <a:avLst>
              <a:gd name="adj" fmla="val 6000"/>
            </a:avLst>
          </a:prstGeom>
          <a:solidFill>
            <a:srgbClr val="F3F5F9"/>
          </a:solidFill>
          <a:ln w="12700">
            <a:solidFill>
              <a:srgbClr val="D9DFEA"/>
            </a:solidFill>
          </a:ln>
        </p:spPr>
        <p:txBody>
          <a:bodyPr rtlCol="0" anchor="ctr"/>
          <a:lstStyle/>
          <a:p>
            <a:pPr algn="ctr"/>
          </a:p>
        </p:txBody>
      </p:sp>
      <p:sp>
        <p:nvSpPr>
          <p:cNvPr id="8" name="kor_1"/>
          <p:cNvSpPr txBox="1"/>
          <p:nvPr/>
        </p:nvSpPr>
        <p:spPr>
          <a:xfrm>
            <a:off x="457200" y="1060704"/>
            <a:ext cx="11274552" cy="379603"/>
          </a:xfrm>
          <a:prstGeom prst="rect">
            <a:avLst/>
          </a:prstGeom>
          <a:noFill/>
        </p:spPr>
        <p:txBody>
          <a:bodyPr wrap="square" lIns="228600" tIns="54864" rIns="228600" bIns="54864" anchor="t" rtlCol="0">
            <a:noAutofit/>
          </a:bodyPr>
          <a:lstStyle/>
          <a:p>
            <a:pPr algn="l">
              <a:lnSpc>
                <a:spcPts val="2125"/>
              </a:lnSpc>
              <a:spcBef>
                <a:spcPts val="0"/>
              </a:spcBef>
              <a:spcAft>
                <a:spcPts val="0"/>
              </a:spcAft>
              <a:buNone/>
            </a:pPr>
            <a:r>
              <a:rPr lang="en-US" altLang="en-US" sz="1700" b="1" dirty="0">
                <a:solidFill>
                  <a:srgbClr val="1E2A5A"/>
                </a:solidFill>
                <a:latin typeface="Calibri"/>
                <a:ea typeface="맑은 고딕"/>
                <a:cs typeface="Calibri"/>
              </a:rPr>
              <a:t>1.  </a:t>
            </a:r>
            <a:r>
              <a:rPr lang="ko-KR" altLang="en-US" sz="1700" b="1" dirty="0">
                <a:solidFill>
                  <a:srgbClr val="1F2328"/>
                </a:solidFill>
                <a:latin typeface="맑은 고딕"/>
                <a:ea typeface="맑은 고딕"/>
                <a:cs typeface="맑은 고딕"/>
              </a:rPr>
              <a:t>일요일이 또 찾아왔고, Boggis 씨는 다시 어느 작은 마을에 있었다.</a:t>
            </a:r>
            <a:endParaRPr lang="ko-KR" sz="1700"/>
          </a:p>
        </p:txBody>
      </p:sp>
      <p:sp>
        <p:nvSpPr>
          <p:cNvPr id="9" name="ex_1"/>
          <p:cNvSpPr txBox="1"/>
          <p:nvPr/>
        </p:nvSpPr>
        <p:spPr>
          <a:xfrm>
            <a:off x="457200" y="1385443"/>
            <a:ext cx="11274552" cy="435483"/>
          </a:xfrm>
          <a:prstGeom prst="rect">
            <a:avLst/>
          </a:prstGeom>
          <a:noFill/>
        </p:spPr>
        <p:txBody>
          <a:bodyPr wrap="square" lIns="228600" tIns="54864" rIns="228600" bIns="54864" anchor="t" rtlCol="0">
            <a:noAutofit/>
          </a:bodyPr>
          <a:lstStyle/>
          <a:p>
            <a:pPr algn="l">
              <a:lnSpc>
                <a:spcPts val="2565"/>
              </a:lnSpc>
              <a:spcBef>
                <a:spcPts val="0"/>
              </a:spcBef>
              <a:spcAft>
                <a:spcPts val="0"/>
              </a:spcAft>
              <a:buNone/>
            </a:pPr>
            <a:r>
              <a:rPr lang="en-US" altLang="en-US" sz="1900" b="0" dirty="0">
                <a:solidFill>
                  <a:srgbClr val="1F2328"/>
                </a:solidFill>
                <a:latin typeface="Calibri"/>
                <a:ea typeface="맑은 고딕"/>
                <a:cs typeface="Calibri"/>
              </a:rPr>
              <a:t>Now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another Sunday</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it was</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 and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again</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was</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Mr. Boggis</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in a small town</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a:t>
            </a:r>
            <a:endParaRPr lang="ko-KR" sz="1900"/>
          </a:p>
        </p:txBody>
      </p:sp>
      <p:sp>
        <p:nvSpPr>
          <p:cNvPr id="10" name="rv_ans_1"/>
          <p:cNvSpPr txBox="1"/>
          <p:nvPr/>
        </p:nvSpPr>
        <p:spPr>
          <a:xfrm>
            <a:off x="594360" y="1857502"/>
            <a:ext cx="11000232" cy="423418"/>
          </a:xfrm>
          <a:prstGeom prst="rect">
            <a:avLst/>
          </a:prstGeom>
          <a:solidFill>
            <a:srgbClr val="FFF3C4"/>
          </a:solidFill>
        </p:spPr>
        <p:txBody>
          <a:bodyPr wrap="square" lIns="137160" tIns="54864" rIns="137160" bIns="54864" anchor="t" rtlCol="0">
            <a:noAutofit/>
          </a:bodyPr>
          <a:lstStyle/>
          <a:p>
            <a:pPr algn="l">
              <a:lnSpc>
                <a:spcPts val="2470"/>
              </a:lnSpc>
              <a:spcBef>
                <a:spcPts val="0"/>
              </a:spcBef>
              <a:spcAft>
                <a:spcPts val="0"/>
              </a:spcAft>
              <a:buNone/>
            </a:pPr>
            <a:r>
              <a:rPr lang="en-US" altLang="en-US" sz="1900" b="1" dirty="0">
                <a:solidFill>
                  <a:srgbClr val="C00000"/>
                </a:solidFill>
                <a:latin typeface="Calibri"/>
                <a:ea typeface="맑은 고딕"/>
                <a:cs typeface="Calibri"/>
              </a:rPr>
              <a:t>→  </a:t>
            </a:r>
            <a:r>
              <a:rPr lang="en-US" altLang="en-US" sz="1900" b="1" dirty="0">
                <a:solidFill>
                  <a:srgbClr val="C00000"/>
                </a:solidFill>
                <a:latin typeface="Calibri"/>
                <a:ea typeface="맑은 고딕"/>
                <a:cs typeface="Calibri"/>
              </a:rPr>
              <a:t>Now it was another Sunday, and Mr. Boggis was in a small town again.</a:t>
            </a:r>
            <a:endParaRPr lang="ko-KR" sz="1900"/>
          </a:p>
        </p:txBody>
      </p:sp>
      <p:sp>
        <p:nvSpPr>
          <p:cNvPr id="11" name="item_card_2"/>
          <p:cNvSpPr/>
          <p:nvPr/>
        </p:nvSpPr>
        <p:spPr>
          <a:xfrm>
            <a:off x="457200" y="2408936"/>
            <a:ext cx="11274552" cy="2257552"/>
          </a:xfrm>
          <a:prstGeom prst="roundRect">
            <a:avLst>
              <a:gd name="adj" fmla="val 6000"/>
            </a:avLst>
          </a:prstGeom>
          <a:solidFill>
            <a:srgbClr val="F3F5F9"/>
          </a:solidFill>
          <a:ln w="12700">
            <a:solidFill>
              <a:srgbClr val="D9DFEA"/>
            </a:solidFill>
          </a:ln>
        </p:spPr>
        <p:txBody>
          <a:bodyPr rtlCol="0" anchor="ctr"/>
          <a:lstStyle/>
          <a:p>
            <a:pPr algn="ctr"/>
          </a:p>
        </p:txBody>
      </p:sp>
      <p:sp>
        <p:nvSpPr>
          <p:cNvPr id="12" name="kor_2"/>
          <p:cNvSpPr txBox="1"/>
          <p:nvPr/>
        </p:nvSpPr>
        <p:spPr>
          <a:xfrm>
            <a:off x="457200" y="2518664"/>
            <a:ext cx="11274552" cy="649478"/>
          </a:xfrm>
          <a:prstGeom prst="rect">
            <a:avLst/>
          </a:prstGeom>
          <a:noFill/>
        </p:spPr>
        <p:txBody>
          <a:bodyPr wrap="square" lIns="228600" tIns="54864" rIns="228600" bIns="54864" anchor="t" rtlCol="0">
            <a:noAutofit/>
          </a:bodyPr>
          <a:lstStyle/>
          <a:p>
            <a:pPr algn="l">
              <a:lnSpc>
                <a:spcPts val="2125"/>
              </a:lnSpc>
              <a:spcBef>
                <a:spcPts val="0"/>
              </a:spcBef>
              <a:spcAft>
                <a:spcPts val="0"/>
              </a:spcAft>
              <a:buNone/>
            </a:pPr>
            <a:r>
              <a:rPr lang="en-US" altLang="en-US" sz="1700" b="1" dirty="0">
                <a:solidFill>
                  <a:srgbClr val="1E2A5A"/>
                </a:solidFill>
                <a:latin typeface="Calibri"/>
                <a:ea typeface="맑은 고딕"/>
                <a:cs typeface="Calibri"/>
              </a:rPr>
              <a:t>2.  </a:t>
            </a:r>
            <a:r>
              <a:rPr lang="ko-KR" altLang="en-US" sz="1700" b="1" dirty="0">
                <a:solidFill>
                  <a:srgbClr val="1F2328"/>
                </a:solidFill>
                <a:latin typeface="맑은 고딕"/>
                <a:ea typeface="맑은 고딕"/>
                <a:cs typeface="맑은 고딕"/>
              </a:rPr>
              <a:t>그는 방문한 집에서 두 남자를 만났다. 한 명은 주인인 Rummins였고, 다른 한 명은 그의 아들인 Bert였다.</a:t>
            </a:r>
            <a:endParaRPr lang="ko-KR" sz="1700"/>
          </a:p>
        </p:txBody>
      </p:sp>
      <p:sp>
        <p:nvSpPr>
          <p:cNvPr id="13" name="ex_2"/>
          <p:cNvSpPr txBox="1"/>
          <p:nvPr/>
        </p:nvSpPr>
        <p:spPr>
          <a:xfrm>
            <a:off x="457200" y="3113278"/>
            <a:ext cx="11274552" cy="761238"/>
          </a:xfrm>
          <a:prstGeom prst="rect">
            <a:avLst/>
          </a:prstGeom>
          <a:noFill/>
        </p:spPr>
        <p:txBody>
          <a:bodyPr wrap="square" lIns="228600" tIns="54864" rIns="228600" bIns="54864" anchor="t" rtlCol="0">
            <a:noAutofit/>
          </a:bodyPr>
          <a:lstStyle/>
          <a:p>
            <a:pPr algn="l">
              <a:lnSpc>
                <a:spcPts val="2565"/>
              </a:lnSpc>
              <a:spcBef>
                <a:spcPts val="0"/>
              </a:spcBef>
              <a:spcAft>
                <a:spcPts val="0"/>
              </a:spcAft>
              <a:buNone/>
            </a:pP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he visited</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At a house</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two men</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he met</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 One was Rummins, the owner, and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his son Bert</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was</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the other</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a:t>
            </a:r>
            <a:endParaRPr lang="ko-KR" sz="1900"/>
          </a:p>
        </p:txBody>
      </p:sp>
      <p:sp>
        <p:nvSpPr>
          <p:cNvPr id="14" name="rv_ans_2"/>
          <p:cNvSpPr txBox="1"/>
          <p:nvPr/>
        </p:nvSpPr>
        <p:spPr>
          <a:xfrm>
            <a:off x="594360" y="3911092"/>
            <a:ext cx="11000232" cy="737108"/>
          </a:xfrm>
          <a:prstGeom prst="rect">
            <a:avLst/>
          </a:prstGeom>
          <a:solidFill>
            <a:srgbClr val="FFF3C4"/>
          </a:solidFill>
        </p:spPr>
        <p:txBody>
          <a:bodyPr wrap="square" lIns="137160" tIns="54864" rIns="137160" bIns="54864" anchor="t" rtlCol="0">
            <a:noAutofit/>
          </a:bodyPr>
          <a:lstStyle/>
          <a:p>
            <a:pPr algn="l">
              <a:lnSpc>
                <a:spcPts val="2470"/>
              </a:lnSpc>
              <a:spcBef>
                <a:spcPts val="0"/>
              </a:spcBef>
              <a:spcAft>
                <a:spcPts val="0"/>
              </a:spcAft>
              <a:buNone/>
            </a:pPr>
            <a:r>
              <a:rPr lang="en-US" altLang="en-US" sz="1900" b="1" dirty="0">
                <a:solidFill>
                  <a:srgbClr val="C00000"/>
                </a:solidFill>
                <a:latin typeface="Calibri"/>
                <a:ea typeface="맑은 고딕"/>
                <a:cs typeface="Calibri"/>
              </a:rPr>
              <a:t>→  </a:t>
            </a:r>
            <a:r>
              <a:rPr lang="en-US" altLang="en-US" sz="1900" b="1" dirty="0">
                <a:solidFill>
                  <a:srgbClr val="C00000"/>
                </a:solidFill>
                <a:latin typeface="Calibri"/>
                <a:ea typeface="맑은 고딕"/>
                <a:cs typeface="Calibri"/>
              </a:rPr>
              <a:t>At a house he visited, he met two men. One was Rummins, the owner, and the other was his son Bert.</a:t>
            </a:r>
            <a:endParaRPr lang="ko-KR" sz="1900"/>
          </a:p>
        </p:txBody>
      </p:sp>
      <p:sp>
        <p:nvSpPr>
          <p:cNvPr id="15" name="item_card_3"/>
          <p:cNvSpPr/>
          <p:nvPr/>
        </p:nvSpPr>
        <p:spPr>
          <a:xfrm>
            <a:off x="457200" y="4776216"/>
            <a:ext cx="11274552" cy="1348232"/>
          </a:xfrm>
          <a:prstGeom prst="roundRect">
            <a:avLst>
              <a:gd name="adj" fmla="val 6000"/>
            </a:avLst>
          </a:prstGeom>
          <a:solidFill>
            <a:srgbClr val="F3F5F9"/>
          </a:solidFill>
          <a:ln w="12700">
            <a:solidFill>
              <a:srgbClr val="D9DFEA"/>
            </a:solidFill>
          </a:ln>
        </p:spPr>
        <p:txBody>
          <a:bodyPr rtlCol="0" anchor="ctr"/>
          <a:lstStyle/>
          <a:p>
            <a:pPr algn="ctr"/>
          </a:p>
        </p:txBody>
      </p:sp>
      <p:sp>
        <p:nvSpPr>
          <p:cNvPr id="16" name="kor_3"/>
          <p:cNvSpPr txBox="1"/>
          <p:nvPr/>
        </p:nvSpPr>
        <p:spPr>
          <a:xfrm>
            <a:off x="457200" y="4885944"/>
            <a:ext cx="11274552" cy="379603"/>
          </a:xfrm>
          <a:prstGeom prst="rect">
            <a:avLst/>
          </a:prstGeom>
          <a:noFill/>
        </p:spPr>
        <p:txBody>
          <a:bodyPr wrap="square" lIns="228600" tIns="54864" rIns="228600" bIns="54864" anchor="t" rtlCol="0">
            <a:noAutofit/>
          </a:bodyPr>
          <a:lstStyle/>
          <a:p>
            <a:pPr algn="l">
              <a:lnSpc>
                <a:spcPts val="2125"/>
              </a:lnSpc>
              <a:spcBef>
                <a:spcPts val="0"/>
              </a:spcBef>
              <a:spcAft>
                <a:spcPts val="0"/>
              </a:spcAft>
              <a:buNone/>
            </a:pPr>
            <a:r>
              <a:rPr lang="en-US" altLang="en-US" sz="1700" b="1" dirty="0">
                <a:solidFill>
                  <a:srgbClr val="1E2A5A"/>
                </a:solidFill>
                <a:latin typeface="Calibri"/>
                <a:ea typeface="맑은 고딕"/>
                <a:cs typeface="Calibri"/>
              </a:rPr>
              <a:t>3.  </a:t>
            </a:r>
            <a:r>
              <a:rPr lang="ko-KR" altLang="en-US" sz="1700" b="1" dirty="0">
                <a:solidFill>
                  <a:srgbClr val="1F2328"/>
                </a:solidFill>
                <a:latin typeface="맑은 고딕"/>
                <a:ea typeface="맑은 고딕"/>
                <a:cs typeface="맑은 고딕"/>
              </a:rPr>
              <a:t>"저는 고가구를 삽니다. 고가구가 있으신가요?" Boggis 씨가 물었다.</a:t>
            </a:r>
            <a:endParaRPr lang="ko-KR" sz="1700"/>
          </a:p>
        </p:txBody>
      </p:sp>
      <p:sp>
        <p:nvSpPr>
          <p:cNvPr id="17" name="ex_3"/>
          <p:cNvSpPr txBox="1"/>
          <p:nvPr/>
        </p:nvSpPr>
        <p:spPr>
          <a:xfrm>
            <a:off x="457200" y="5210683"/>
            <a:ext cx="11274552" cy="435483"/>
          </a:xfrm>
          <a:prstGeom prst="rect">
            <a:avLst/>
          </a:prstGeom>
          <a:noFill/>
        </p:spPr>
        <p:txBody>
          <a:bodyPr wrap="square" lIns="228600" tIns="54864" rIns="228600" bIns="54864" anchor="t" rtlCol="0">
            <a:noAutofit/>
          </a:bodyPr>
          <a:lstStyle/>
          <a:p>
            <a:pPr algn="l">
              <a:lnSpc>
                <a:spcPts val="2565"/>
              </a:lnSpc>
              <a:spcBef>
                <a:spcPts val="0"/>
              </a:spcBef>
              <a:spcAft>
                <a:spcPts val="0"/>
              </a:spcAft>
              <a:buNone/>
            </a:pPr>
            <a:r>
              <a:rPr lang="en-US" altLang="en-US" sz="1900" b="0" dirty="0">
                <a:solidFill>
                  <a:srgbClr val="1F2328"/>
                </a:solidFill>
                <a:latin typeface="Calibri"/>
                <a:ea typeface="맑은 고딕"/>
                <a:cs typeface="Calibri"/>
              </a:rPr>
              <a:t>"</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buy</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I</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old furniture</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Do you</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any?"</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have</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 asked Mr. Boggis.</a:t>
            </a:r>
            <a:endParaRPr lang="ko-KR" sz="1900"/>
          </a:p>
        </p:txBody>
      </p:sp>
      <p:sp>
        <p:nvSpPr>
          <p:cNvPr id="18" name="rv_ans_3"/>
          <p:cNvSpPr txBox="1"/>
          <p:nvPr/>
        </p:nvSpPr>
        <p:spPr>
          <a:xfrm>
            <a:off x="594360" y="5682742"/>
            <a:ext cx="11000232" cy="423418"/>
          </a:xfrm>
          <a:prstGeom prst="rect">
            <a:avLst/>
          </a:prstGeom>
          <a:solidFill>
            <a:srgbClr val="FFF3C4"/>
          </a:solidFill>
        </p:spPr>
        <p:txBody>
          <a:bodyPr wrap="square" lIns="137160" tIns="54864" rIns="137160" bIns="54864" anchor="t" rtlCol="0">
            <a:noAutofit/>
          </a:bodyPr>
          <a:lstStyle/>
          <a:p>
            <a:pPr algn="l">
              <a:lnSpc>
                <a:spcPts val="2470"/>
              </a:lnSpc>
              <a:spcBef>
                <a:spcPts val="0"/>
              </a:spcBef>
              <a:spcAft>
                <a:spcPts val="0"/>
              </a:spcAft>
              <a:buNone/>
            </a:pPr>
            <a:r>
              <a:rPr lang="en-US" altLang="en-US" sz="1900" b="1" dirty="0">
                <a:solidFill>
                  <a:srgbClr val="C00000"/>
                </a:solidFill>
                <a:latin typeface="Calibri"/>
                <a:ea typeface="맑은 고딕"/>
                <a:cs typeface="Calibri"/>
              </a:rPr>
              <a:t>→  </a:t>
            </a:r>
            <a:r>
              <a:rPr lang="en-US" altLang="en-US" sz="1900" b="1" dirty="0">
                <a:solidFill>
                  <a:srgbClr val="C00000"/>
                </a:solidFill>
                <a:latin typeface="Calibri"/>
                <a:ea typeface="맑은 고딕"/>
                <a:cs typeface="Calibri"/>
              </a:rPr>
              <a:t>"I buy old furniture. Do you have any?" asked Mr. Boggis.</a:t>
            </a:r>
            <a:endParaRPr lang="ko-KR" sz="19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25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250"/>
                                        <p:tgtEl>
                                          <p:spTgt spid="1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8"/>
                                        </p:tgtEl>
                                        <p:attrNameLst>
                                          <p:attrName>style.visibility</p:attrName>
                                        </p:attrNameLst>
                                      </p:cBhvr>
                                      <p:to>
                                        <p:strVal val="visible"/>
                                      </p:to>
                                    </p:set>
                                    <p:animEffect transition="in" filter="fade">
                                      <p:cBhvr>
                                        <p:cTn id="13"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4" grpId="0" animBg="1"/>
      <p:bldP spid="18" grpId="0" animBg="1"/>
    </p:bldLst>
  </p:timing>
</p:sld>
</file>

<file path=ppt/slides/slide1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8000"/>
            </a:avLst>
          </a:prstGeom>
          <a:solidFill>
            <a:srgbClr val="1E2A5A"/>
          </a:solidFill>
          <a:ln>
            <a:noFill/>
          </a:ln>
        </p:spPr>
        <p:txBody>
          <a:bodyPr wrap="square" lIns="45720" tIns="18288" rIns="45720" bIns="18288" anchor="ctr" rtlCol="0">
            <a:noAutofit/>
          </a:bodyPr>
          <a:lstStyle/>
          <a:p>
            <a:pPr algn="ctr">
              <a:lnSpc>
                <a:spcPts val="2000"/>
              </a:lnSpc>
              <a:spcBef>
                <a:spcPts val="0"/>
              </a:spcBef>
              <a:spcAft>
                <a:spcPts val="0"/>
              </a:spcAft>
              <a:buNone/>
            </a:pPr>
            <a:r>
              <a:rPr lang="en-US" altLang="en-US" sz="1700" b="1" dirty="0">
                <a:solidFill>
                  <a:srgbClr val="FFFFFF"/>
                </a:solidFill>
                <a:latin typeface="Calibri"/>
                <a:ea typeface="맑은 고딕"/>
                <a:cs typeface="Calibri"/>
              </a:rPr>
              <a:t>L6-2</a:t>
            </a:r>
            <a:endParaRPr lang="ko-KR" sz="1700"/>
          </a:p>
        </p:txBody>
      </p:sp>
      <p:sp>
        <p:nvSpPr>
          <p:cNvPr id="3" name="hdr_chip"/>
          <p:cNvSpPr/>
          <p:nvPr/>
        </p:nvSpPr>
        <p:spPr>
          <a:xfrm>
            <a:off x="1755648" y="274320"/>
            <a:ext cx="1371600" cy="493776"/>
          </a:xfrm>
          <a:prstGeom prst="roundRect">
            <a:avLst>
              <a:gd name="adj" fmla="val 8000"/>
            </a:avLst>
          </a:prstGeom>
          <a:solidFill>
            <a:srgbClr val="E6EAF4"/>
          </a:solidFill>
          <a:ln>
            <a:noFill/>
          </a:ln>
        </p:spPr>
        <p:txBody>
          <a:bodyPr wrap="square" lIns="27432" tIns="18288" rIns="27432" bIns="18288" anchor="ctr" rtlCol="0">
            <a:noAutofit/>
          </a:bodyPr>
          <a:lstStyle/>
          <a:p>
            <a:pPr algn="ctr">
              <a:lnSpc>
                <a:spcPts val="1700"/>
              </a:lnSpc>
              <a:spcBef>
                <a:spcPts val="0"/>
              </a:spcBef>
              <a:spcAft>
                <a:spcPts val="0"/>
              </a:spcAft>
              <a:buNone/>
            </a:pPr>
            <a:r>
              <a:rPr lang="ko-KR" altLang="en-US" sz="1400" b="1" dirty="0">
                <a:solidFill>
                  <a:srgbClr val="1E2A5A"/>
                </a:solidFill>
                <a:latin typeface="맑은 고딕"/>
                <a:ea typeface="맑은 고딕"/>
                <a:cs typeface="맑은 고딕"/>
              </a:rPr>
              <a:t>PART 6 · 5</a:t>
            </a:r>
            <a:endParaRPr lang="ko-KR" sz="1400"/>
          </a:p>
        </p:txBody>
      </p:sp>
      <p:sp>
        <p:nvSpPr>
          <p:cNvPr id="4" name="hdr_q"/>
          <p:cNvSpPr txBox="1"/>
          <p:nvPr/>
        </p:nvSpPr>
        <p:spPr>
          <a:xfrm>
            <a:off x="3246120" y="246888"/>
            <a:ext cx="8485632" cy="548640"/>
          </a:xfrm>
          <a:prstGeom prst="rect">
            <a:avLst/>
          </a:prstGeom>
          <a:noFill/>
        </p:spPr>
        <p:txBody>
          <a:bodyPr wrap="square" lIns="109728" tIns="54864" rIns="109728" bIns="54864" anchor="ctr" rtlCol="0">
            <a:noAutofit/>
          </a:bodyPr>
          <a:lstStyle/>
          <a:p>
            <a:pPr algn="l">
              <a:lnSpc>
                <a:spcPts val="2400"/>
              </a:lnSpc>
              <a:spcBef>
                <a:spcPts val="0"/>
              </a:spcBef>
              <a:spcAft>
                <a:spcPts val="0"/>
              </a:spcAft>
              <a:buNone/>
            </a:pPr>
            <a:r>
              <a:rPr lang="ko-KR" altLang="en-US" sz="2000" b="1" dirty="0">
                <a:solidFill>
                  <a:srgbClr val="1F2328"/>
                </a:solidFill>
                <a:latin typeface="맑은 고딕"/>
                <a:ea typeface="맑은 고딕"/>
                <a:cs typeface="맑은 고딕"/>
              </a:rPr>
              <a:t>우리말에 맞게 (  ) 안의 말을 바르게 배열하시오.</a:t>
            </a:r>
            <a:endParaRPr lang="ko-KR" sz="2000"/>
          </a:p>
        </p:txBody>
      </p:sp>
      <p:sp>
        <p:nvSpPr>
          <p:cNvPr id="5" name="ftr_exam"/>
          <p:cNvSpPr txBox="1"/>
          <p:nvPr/>
        </p:nvSpPr>
        <p:spPr>
          <a:xfrm>
            <a:off x="457200" y="6519672"/>
            <a:ext cx="5669280" cy="256032"/>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6</a:t>
            </a:r>
            <a:endParaRPr lang="ko-KR" sz="1000"/>
          </a:p>
        </p:txBody>
      </p:sp>
      <p:sp>
        <p:nvSpPr>
          <p:cNvPr id="6" name="ftr_hint"/>
          <p:cNvSpPr txBox="1"/>
          <p:nvPr/>
        </p:nvSpPr>
        <p:spPr>
          <a:xfrm>
            <a:off x="5971032" y="6519672"/>
            <a:ext cx="5760720" cy="256032"/>
          </a:xfrm>
          <a:prstGeom prst="rect">
            <a:avLst/>
          </a:prstGeom>
          <a:noFill/>
        </p:spPr>
        <p:txBody>
          <a:bodyPr wrap="square" lIns="0" tIns="0" rIns="0" bIns="0" anchor="t" rtlCol="0">
            <a:noAutofit/>
          </a:bodyPr>
          <a:lstStyle/>
          <a:p>
            <a:pPr algn="r">
              <a:lnSpc>
                <a:spcPts val="1200"/>
              </a:lnSpc>
              <a:spcBef>
                <a:spcPts val="0"/>
              </a:spcBef>
              <a:spcAft>
                <a:spcPts val="0"/>
              </a:spcAft>
              <a:buNone/>
            </a:pPr>
            <a:r>
              <a:rPr lang="ko-KR" altLang="en-US" sz="1000" b="0" dirty="0">
                <a:solidFill>
                  <a:srgbClr val="7A808C"/>
                </a:solidFill>
                <a:latin typeface="맑은 고딕"/>
                <a:ea typeface="맑은 고딕"/>
                <a:cs typeface="맑은 고딕"/>
              </a:rPr>
              <a:t>클릭 ① 완성 문장(정답) 공개</a:t>
            </a:r>
            <a:endParaRPr lang="ko-KR" sz="1000"/>
          </a:p>
        </p:txBody>
      </p:sp>
      <p:sp>
        <p:nvSpPr>
          <p:cNvPr id="7" name="item_card_1"/>
          <p:cNvSpPr/>
          <p:nvPr/>
        </p:nvSpPr>
        <p:spPr>
          <a:xfrm>
            <a:off x="457200" y="950976"/>
            <a:ext cx="11274552" cy="1348232"/>
          </a:xfrm>
          <a:prstGeom prst="roundRect">
            <a:avLst>
              <a:gd name="adj" fmla="val 6000"/>
            </a:avLst>
          </a:prstGeom>
          <a:solidFill>
            <a:srgbClr val="F3F5F9"/>
          </a:solidFill>
          <a:ln w="12700">
            <a:solidFill>
              <a:srgbClr val="D9DFEA"/>
            </a:solidFill>
          </a:ln>
        </p:spPr>
        <p:txBody>
          <a:bodyPr rtlCol="0" anchor="ctr"/>
          <a:lstStyle/>
          <a:p>
            <a:pPr algn="ctr"/>
          </a:p>
        </p:txBody>
      </p:sp>
      <p:sp>
        <p:nvSpPr>
          <p:cNvPr id="8" name="kor_1"/>
          <p:cNvSpPr txBox="1"/>
          <p:nvPr/>
        </p:nvSpPr>
        <p:spPr>
          <a:xfrm>
            <a:off x="457200" y="1060704"/>
            <a:ext cx="11274552" cy="379603"/>
          </a:xfrm>
          <a:prstGeom prst="rect">
            <a:avLst/>
          </a:prstGeom>
          <a:noFill/>
        </p:spPr>
        <p:txBody>
          <a:bodyPr wrap="square" lIns="228600" tIns="54864" rIns="228600" bIns="54864" anchor="t" rtlCol="0">
            <a:noAutofit/>
          </a:bodyPr>
          <a:lstStyle/>
          <a:p>
            <a:pPr algn="l">
              <a:lnSpc>
                <a:spcPts val="2125"/>
              </a:lnSpc>
              <a:spcBef>
                <a:spcPts val="0"/>
              </a:spcBef>
              <a:spcAft>
                <a:spcPts val="0"/>
              </a:spcAft>
              <a:buNone/>
            </a:pPr>
            <a:r>
              <a:rPr lang="en-US" altLang="en-US" sz="1700" b="1" dirty="0">
                <a:solidFill>
                  <a:srgbClr val="1E2A5A"/>
                </a:solidFill>
                <a:latin typeface="Calibri"/>
                <a:ea typeface="맑은 고딕"/>
                <a:cs typeface="Calibri"/>
              </a:rPr>
              <a:t>4.  </a:t>
            </a:r>
            <a:r>
              <a:rPr lang="ko-KR" altLang="en-US" sz="1700" b="1" dirty="0">
                <a:solidFill>
                  <a:srgbClr val="1F2328"/>
                </a:solidFill>
                <a:latin typeface="맑은 고딕"/>
                <a:ea typeface="맑은 고딕"/>
                <a:cs typeface="맑은 고딕"/>
              </a:rPr>
              <a:t>"아니요." Rummins가 말했다. "한번 둘러봐도 될까요?" Boggis 씨가 물었다.</a:t>
            </a:r>
            <a:endParaRPr lang="ko-KR" sz="1700"/>
          </a:p>
        </p:txBody>
      </p:sp>
      <p:sp>
        <p:nvSpPr>
          <p:cNvPr id="9" name="ex_1"/>
          <p:cNvSpPr txBox="1"/>
          <p:nvPr/>
        </p:nvSpPr>
        <p:spPr>
          <a:xfrm>
            <a:off x="457200" y="1385443"/>
            <a:ext cx="11274552" cy="435483"/>
          </a:xfrm>
          <a:prstGeom prst="rect">
            <a:avLst/>
          </a:prstGeom>
          <a:noFill/>
        </p:spPr>
        <p:txBody>
          <a:bodyPr wrap="square" lIns="228600" tIns="54864" rIns="228600" bIns="54864" anchor="t" rtlCol="0">
            <a:noAutofit/>
          </a:bodyPr>
          <a:lstStyle/>
          <a:p>
            <a:pPr algn="l">
              <a:lnSpc>
                <a:spcPts val="2565"/>
              </a:lnSpc>
              <a:spcBef>
                <a:spcPts val="0"/>
              </a:spcBef>
              <a:spcAft>
                <a:spcPts val="0"/>
              </a:spcAft>
              <a:buNone/>
            </a:pPr>
            <a:r>
              <a:rPr lang="en-US" altLang="en-US" sz="1900" b="0" dirty="0">
                <a:solidFill>
                  <a:srgbClr val="1F2328"/>
                </a:solidFill>
                <a:latin typeface="Calibri"/>
                <a:ea typeface="맑은 고딕"/>
                <a:cs typeface="Calibri"/>
              </a:rPr>
              <a:t>"No, I don’t," said Rummins.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take a look?"</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Can I</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just</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 asked Mr. Boggis.</a:t>
            </a:r>
            <a:endParaRPr lang="ko-KR" sz="1900"/>
          </a:p>
        </p:txBody>
      </p:sp>
      <p:sp>
        <p:nvSpPr>
          <p:cNvPr id="10" name="rv_ans_1"/>
          <p:cNvSpPr txBox="1"/>
          <p:nvPr/>
        </p:nvSpPr>
        <p:spPr>
          <a:xfrm>
            <a:off x="594360" y="1857502"/>
            <a:ext cx="11000232" cy="423418"/>
          </a:xfrm>
          <a:prstGeom prst="rect">
            <a:avLst/>
          </a:prstGeom>
          <a:solidFill>
            <a:srgbClr val="FFF3C4"/>
          </a:solidFill>
        </p:spPr>
        <p:txBody>
          <a:bodyPr wrap="square" lIns="137160" tIns="54864" rIns="137160" bIns="54864" anchor="t" rtlCol="0">
            <a:noAutofit/>
          </a:bodyPr>
          <a:lstStyle/>
          <a:p>
            <a:pPr algn="l">
              <a:lnSpc>
                <a:spcPts val="2470"/>
              </a:lnSpc>
              <a:spcBef>
                <a:spcPts val="0"/>
              </a:spcBef>
              <a:spcAft>
                <a:spcPts val="0"/>
              </a:spcAft>
              <a:buNone/>
            </a:pPr>
            <a:r>
              <a:rPr lang="en-US" altLang="en-US" sz="1900" b="1" dirty="0">
                <a:solidFill>
                  <a:srgbClr val="C00000"/>
                </a:solidFill>
                <a:latin typeface="Calibri"/>
                <a:ea typeface="맑은 고딕"/>
                <a:cs typeface="Calibri"/>
              </a:rPr>
              <a:t>→  </a:t>
            </a:r>
            <a:r>
              <a:rPr lang="en-US" altLang="en-US" sz="1900" b="1" dirty="0">
                <a:solidFill>
                  <a:srgbClr val="C00000"/>
                </a:solidFill>
                <a:latin typeface="Calibri"/>
                <a:ea typeface="맑은 고딕"/>
                <a:cs typeface="Calibri"/>
              </a:rPr>
              <a:t>"No, I don’t," said Rummins. "Can I just take a look?" asked Mr. Boggis.</a:t>
            </a:r>
            <a:endParaRPr lang="ko-KR" sz="1900"/>
          </a:p>
        </p:txBody>
      </p:sp>
      <p:sp>
        <p:nvSpPr>
          <p:cNvPr id="11" name="item_card_2"/>
          <p:cNvSpPr/>
          <p:nvPr/>
        </p:nvSpPr>
        <p:spPr>
          <a:xfrm>
            <a:off x="457200" y="2408936"/>
            <a:ext cx="11274552" cy="1348232"/>
          </a:xfrm>
          <a:prstGeom prst="roundRect">
            <a:avLst>
              <a:gd name="adj" fmla="val 6000"/>
            </a:avLst>
          </a:prstGeom>
          <a:solidFill>
            <a:srgbClr val="F3F5F9"/>
          </a:solidFill>
          <a:ln w="12700">
            <a:solidFill>
              <a:srgbClr val="D9DFEA"/>
            </a:solidFill>
          </a:ln>
        </p:spPr>
        <p:txBody>
          <a:bodyPr rtlCol="0" anchor="ctr"/>
          <a:lstStyle/>
          <a:p>
            <a:pPr algn="ctr"/>
          </a:p>
        </p:txBody>
      </p:sp>
      <p:sp>
        <p:nvSpPr>
          <p:cNvPr id="12" name="kor_2"/>
          <p:cNvSpPr txBox="1"/>
          <p:nvPr/>
        </p:nvSpPr>
        <p:spPr>
          <a:xfrm>
            <a:off x="457200" y="2518664"/>
            <a:ext cx="11274552" cy="379603"/>
          </a:xfrm>
          <a:prstGeom prst="rect">
            <a:avLst/>
          </a:prstGeom>
          <a:noFill/>
        </p:spPr>
        <p:txBody>
          <a:bodyPr wrap="square" lIns="228600" tIns="54864" rIns="228600" bIns="54864" anchor="t" rtlCol="0">
            <a:noAutofit/>
          </a:bodyPr>
          <a:lstStyle/>
          <a:p>
            <a:pPr algn="l">
              <a:lnSpc>
                <a:spcPts val="2125"/>
              </a:lnSpc>
              <a:spcBef>
                <a:spcPts val="0"/>
              </a:spcBef>
              <a:spcAft>
                <a:spcPts val="0"/>
              </a:spcAft>
              <a:buNone/>
            </a:pPr>
            <a:r>
              <a:rPr lang="en-US" altLang="en-US" sz="1700" b="1" dirty="0">
                <a:solidFill>
                  <a:srgbClr val="1E2A5A"/>
                </a:solidFill>
                <a:latin typeface="Calibri"/>
                <a:ea typeface="맑은 고딕"/>
                <a:cs typeface="Calibri"/>
              </a:rPr>
              <a:t>5.  </a:t>
            </a:r>
            <a:r>
              <a:rPr lang="ko-KR" altLang="en-US" sz="1700" b="1" dirty="0">
                <a:solidFill>
                  <a:srgbClr val="1F2328"/>
                </a:solidFill>
                <a:latin typeface="맑은 고딕"/>
                <a:ea typeface="맑은 고딕"/>
                <a:cs typeface="맑은 고딕"/>
              </a:rPr>
              <a:t>"그럼요. 들어오세요." Rummins가 말했다.</a:t>
            </a:r>
            <a:endParaRPr lang="ko-KR" sz="1700"/>
          </a:p>
        </p:txBody>
      </p:sp>
      <p:sp>
        <p:nvSpPr>
          <p:cNvPr id="13" name="ex_2"/>
          <p:cNvSpPr txBox="1"/>
          <p:nvPr/>
        </p:nvSpPr>
        <p:spPr>
          <a:xfrm>
            <a:off x="457200" y="2843403"/>
            <a:ext cx="11274552" cy="435483"/>
          </a:xfrm>
          <a:prstGeom prst="rect">
            <a:avLst/>
          </a:prstGeom>
          <a:noFill/>
        </p:spPr>
        <p:txBody>
          <a:bodyPr wrap="square" lIns="228600" tIns="54864" rIns="228600" bIns="54864" anchor="t" rtlCol="0">
            <a:noAutofit/>
          </a:bodyPr>
          <a:lstStyle/>
          <a:p>
            <a:pPr algn="l">
              <a:lnSpc>
                <a:spcPts val="2565"/>
              </a:lnSpc>
              <a:spcBef>
                <a:spcPts val="0"/>
              </a:spcBef>
              <a:spcAft>
                <a:spcPts val="0"/>
              </a:spcAft>
              <a:buNone/>
            </a:pPr>
            <a:r>
              <a:rPr lang="en-US" altLang="en-US" sz="1900" b="0" dirty="0">
                <a:solidFill>
                  <a:srgbClr val="1F2328"/>
                </a:solidFill>
                <a:latin typeface="Calibri"/>
                <a:ea typeface="맑은 고딕"/>
                <a:cs typeface="Calibri"/>
              </a:rPr>
              <a:t>"Sure.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come in,"</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Please</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 said Rummins.</a:t>
            </a:r>
            <a:endParaRPr lang="ko-KR" sz="1900"/>
          </a:p>
        </p:txBody>
      </p:sp>
      <p:sp>
        <p:nvSpPr>
          <p:cNvPr id="14" name="rv_ans_2"/>
          <p:cNvSpPr txBox="1"/>
          <p:nvPr/>
        </p:nvSpPr>
        <p:spPr>
          <a:xfrm>
            <a:off x="594360" y="3315462"/>
            <a:ext cx="11000232" cy="423418"/>
          </a:xfrm>
          <a:prstGeom prst="rect">
            <a:avLst/>
          </a:prstGeom>
          <a:solidFill>
            <a:srgbClr val="FFF3C4"/>
          </a:solidFill>
        </p:spPr>
        <p:txBody>
          <a:bodyPr wrap="square" lIns="137160" tIns="54864" rIns="137160" bIns="54864" anchor="t" rtlCol="0">
            <a:noAutofit/>
          </a:bodyPr>
          <a:lstStyle/>
          <a:p>
            <a:pPr algn="l">
              <a:lnSpc>
                <a:spcPts val="2470"/>
              </a:lnSpc>
              <a:spcBef>
                <a:spcPts val="0"/>
              </a:spcBef>
              <a:spcAft>
                <a:spcPts val="0"/>
              </a:spcAft>
              <a:buNone/>
            </a:pPr>
            <a:r>
              <a:rPr lang="en-US" altLang="en-US" sz="1900" b="1" dirty="0">
                <a:solidFill>
                  <a:srgbClr val="C00000"/>
                </a:solidFill>
                <a:latin typeface="Calibri"/>
                <a:ea typeface="맑은 고딕"/>
                <a:cs typeface="Calibri"/>
              </a:rPr>
              <a:t>→  </a:t>
            </a:r>
            <a:r>
              <a:rPr lang="en-US" altLang="en-US" sz="1900" b="1" dirty="0">
                <a:solidFill>
                  <a:srgbClr val="C00000"/>
                </a:solidFill>
                <a:latin typeface="Calibri"/>
                <a:ea typeface="맑은 고딕"/>
                <a:cs typeface="Calibri"/>
              </a:rPr>
              <a:t>"Sure. Please come in," said Rummins.</a:t>
            </a:r>
            <a:endParaRPr lang="ko-KR" sz="1900"/>
          </a:p>
        </p:txBody>
      </p:sp>
      <p:sp>
        <p:nvSpPr>
          <p:cNvPr id="15" name="item_card_3"/>
          <p:cNvSpPr/>
          <p:nvPr/>
        </p:nvSpPr>
        <p:spPr>
          <a:xfrm>
            <a:off x="457200" y="3866896"/>
            <a:ext cx="11274552" cy="1348232"/>
          </a:xfrm>
          <a:prstGeom prst="roundRect">
            <a:avLst>
              <a:gd name="adj" fmla="val 6000"/>
            </a:avLst>
          </a:prstGeom>
          <a:solidFill>
            <a:srgbClr val="F3F5F9"/>
          </a:solidFill>
          <a:ln w="12700">
            <a:solidFill>
              <a:srgbClr val="D9DFEA"/>
            </a:solidFill>
          </a:ln>
        </p:spPr>
        <p:txBody>
          <a:bodyPr rtlCol="0" anchor="ctr"/>
          <a:lstStyle/>
          <a:p>
            <a:pPr algn="ctr"/>
          </a:p>
        </p:txBody>
      </p:sp>
      <p:sp>
        <p:nvSpPr>
          <p:cNvPr id="16" name="kor_3"/>
          <p:cNvSpPr txBox="1"/>
          <p:nvPr/>
        </p:nvSpPr>
        <p:spPr>
          <a:xfrm>
            <a:off x="457200" y="3976624"/>
            <a:ext cx="11274552" cy="379603"/>
          </a:xfrm>
          <a:prstGeom prst="rect">
            <a:avLst/>
          </a:prstGeom>
          <a:noFill/>
        </p:spPr>
        <p:txBody>
          <a:bodyPr wrap="square" lIns="228600" tIns="54864" rIns="228600" bIns="54864" anchor="t" rtlCol="0">
            <a:noAutofit/>
          </a:bodyPr>
          <a:lstStyle/>
          <a:p>
            <a:pPr algn="l">
              <a:lnSpc>
                <a:spcPts val="2125"/>
              </a:lnSpc>
              <a:spcBef>
                <a:spcPts val="0"/>
              </a:spcBef>
              <a:spcAft>
                <a:spcPts val="0"/>
              </a:spcAft>
              <a:buNone/>
            </a:pPr>
            <a:r>
              <a:rPr lang="en-US" altLang="en-US" sz="1700" b="1" dirty="0">
                <a:solidFill>
                  <a:srgbClr val="1E2A5A"/>
                </a:solidFill>
                <a:latin typeface="Calibri"/>
                <a:ea typeface="맑은 고딕"/>
                <a:cs typeface="Calibri"/>
              </a:rPr>
              <a:t>6.  </a:t>
            </a:r>
            <a:r>
              <a:rPr lang="ko-KR" altLang="en-US" sz="1700" b="1" dirty="0">
                <a:solidFill>
                  <a:srgbClr val="1F2328"/>
                </a:solidFill>
                <a:latin typeface="맑은 고딕"/>
                <a:ea typeface="맑은 고딕"/>
                <a:cs typeface="맑은 고딕"/>
              </a:rPr>
              <a:t>Boggis 씨는 먼저 부엌에 갔는데 아무것도 없었다.</a:t>
            </a:r>
            <a:endParaRPr lang="ko-KR" sz="1700"/>
          </a:p>
        </p:txBody>
      </p:sp>
      <p:sp>
        <p:nvSpPr>
          <p:cNvPr id="17" name="ex_3"/>
          <p:cNvSpPr txBox="1"/>
          <p:nvPr/>
        </p:nvSpPr>
        <p:spPr>
          <a:xfrm>
            <a:off x="457200" y="4301363"/>
            <a:ext cx="11274552" cy="435483"/>
          </a:xfrm>
          <a:prstGeom prst="rect">
            <a:avLst/>
          </a:prstGeom>
          <a:noFill/>
        </p:spPr>
        <p:txBody>
          <a:bodyPr wrap="square" lIns="228600" tIns="54864" rIns="228600" bIns="54864" anchor="t" rtlCol="0">
            <a:noAutofit/>
          </a:bodyPr>
          <a:lstStyle/>
          <a:p>
            <a:pPr algn="l">
              <a:lnSpc>
                <a:spcPts val="2565"/>
              </a:lnSpc>
              <a:spcBef>
                <a:spcPts val="0"/>
              </a:spcBef>
              <a:spcAft>
                <a:spcPts val="0"/>
              </a:spcAft>
              <a:buNone/>
            </a:pP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Mr. Boggis</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went to</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the kitchen</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first</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 and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nothing</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there was</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a:t>
            </a:r>
            <a:endParaRPr lang="ko-KR" sz="1900"/>
          </a:p>
        </p:txBody>
      </p:sp>
      <p:sp>
        <p:nvSpPr>
          <p:cNvPr id="18" name="rv_ans_3"/>
          <p:cNvSpPr txBox="1"/>
          <p:nvPr/>
        </p:nvSpPr>
        <p:spPr>
          <a:xfrm>
            <a:off x="594360" y="4773422"/>
            <a:ext cx="11000232" cy="423418"/>
          </a:xfrm>
          <a:prstGeom prst="rect">
            <a:avLst/>
          </a:prstGeom>
          <a:solidFill>
            <a:srgbClr val="FFF3C4"/>
          </a:solidFill>
        </p:spPr>
        <p:txBody>
          <a:bodyPr wrap="square" lIns="137160" tIns="54864" rIns="137160" bIns="54864" anchor="t" rtlCol="0">
            <a:noAutofit/>
          </a:bodyPr>
          <a:lstStyle/>
          <a:p>
            <a:pPr algn="l">
              <a:lnSpc>
                <a:spcPts val="2470"/>
              </a:lnSpc>
              <a:spcBef>
                <a:spcPts val="0"/>
              </a:spcBef>
              <a:spcAft>
                <a:spcPts val="0"/>
              </a:spcAft>
              <a:buNone/>
            </a:pPr>
            <a:r>
              <a:rPr lang="en-US" altLang="en-US" sz="1900" b="1" dirty="0">
                <a:solidFill>
                  <a:srgbClr val="C00000"/>
                </a:solidFill>
                <a:latin typeface="Calibri"/>
                <a:ea typeface="맑은 고딕"/>
                <a:cs typeface="Calibri"/>
              </a:rPr>
              <a:t>→  </a:t>
            </a:r>
            <a:r>
              <a:rPr lang="en-US" altLang="en-US" sz="1900" b="1" dirty="0">
                <a:solidFill>
                  <a:srgbClr val="C00000"/>
                </a:solidFill>
                <a:latin typeface="Calibri"/>
                <a:ea typeface="맑은 고딕"/>
                <a:cs typeface="Calibri"/>
              </a:rPr>
              <a:t>Mr. Boggis first went to the kitchen, and there was nothing.</a:t>
            </a:r>
            <a:endParaRPr lang="ko-KR" sz="19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25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250"/>
                                        <p:tgtEl>
                                          <p:spTgt spid="1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8"/>
                                        </p:tgtEl>
                                        <p:attrNameLst>
                                          <p:attrName>style.visibility</p:attrName>
                                        </p:attrNameLst>
                                      </p:cBhvr>
                                      <p:to>
                                        <p:strVal val="visible"/>
                                      </p:to>
                                    </p:set>
                                    <p:animEffect transition="in" filter="fade">
                                      <p:cBhvr>
                                        <p:cTn id="13"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4" grpId="0" animBg="1"/>
      <p:bldP spid="18" grpId="0" animBg="1"/>
    </p:bldLst>
  </p:timing>
</p:sld>
</file>

<file path=ppt/slides/slide1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8000"/>
            </a:avLst>
          </a:prstGeom>
          <a:solidFill>
            <a:srgbClr val="1E2A5A"/>
          </a:solidFill>
          <a:ln>
            <a:noFill/>
          </a:ln>
        </p:spPr>
        <p:txBody>
          <a:bodyPr wrap="square" lIns="45720" tIns="18288" rIns="45720" bIns="18288" anchor="ctr" rtlCol="0">
            <a:noAutofit/>
          </a:bodyPr>
          <a:lstStyle/>
          <a:p>
            <a:pPr algn="ctr">
              <a:lnSpc>
                <a:spcPts val="2000"/>
              </a:lnSpc>
              <a:spcBef>
                <a:spcPts val="0"/>
              </a:spcBef>
              <a:spcAft>
                <a:spcPts val="0"/>
              </a:spcAft>
              <a:buNone/>
            </a:pPr>
            <a:r>
              <a:rPr lang="en-US" altLang="en-US" sz="1700" b="1" dirty="0">
                <a:solidFill>
                  <a:srgbClr val="FFFFFF"/>
                </a:solidFill>
                <a:latin typeface="Calibri"/>
                <a:ea typeface="맑은 고딕"/>
                <a:cs typeface="Calibri"/>
              </a:rPr>
              <a:t>L6-2</a:t>
            </a:r>
            <a:endParaRPr lang="ko-KR" sz="1700"/>
          </a:p>
        </p:txBody>
      </p:sp>
      <p:sp>
        <p:nvSpPr>
          <p:cNvPr id="3" name="hdr_chip"/>
          <p:cNvSpPr/>
          <p:nvPr/>
        </p:nvSpPr>
        <p:spPr>
          <a:xfrm>
            <a:off x="1755648" y="274320"/>
            <a:ext cx="1371600" cy="493776"/>
          </a:xfrm>
          <a:prstGeom prst="roundRect">
            <a:avLst>
              <a:gd name="adj" fmla="val 8000"/>
            </a:avLst>
          </a:prstGeom>
          <a:solidFill>
            <a:srgbClr val="E6EAF4"/>
          </a:solidFill>
          <a:ln>
            <a:noFill/>
          </a:ln>
        </p:spPr>
        <p:txBody>
          <a:bodyPr wrap="square" lIns="27432" tIns="18288" rIns="27432" bIns="18288" anchor="ctr" rtlCol="0">
            <a:noAutofit/>
          </a:bodyPr>
          <a:lstStyle/>
          <a:p>
            <a:pPr algn="ctr">
              <a:lnSpc>
                <a:spcPts val="1700"/>
              </a:lnSpc>
              <a:spcBef>
                <a:spcPts val="0"/>
              </a:spcBef>
              <a:spcAft>
                <a:spcPts val="0"/>
              </a:spcAft>
              <a:buNone/>
            </a:pPr>
            <a:r>
              <a:rPr lang="ko-KR" altLang="en-US" sz="1400" b="1" dirty="0">
                <a:solidFill>
                  <a:srgbClr val="1E2A5A"/>
                </a:solidFill>
                <a:latin typeface="맑은 고딕"/>
                <a:ea typeface="맑은 고딕"/>
                <a:cs typeface="맑은 고딕"/>
              </a:rPr>
              <a:t>PART 6 · 6</a:t>
            </a:r>
            <a:endParaRPr lang="ko-KR" sz="1400"/>
          </a:p>
        </p:txBody>
      </p:sp>
      <p:sp>
        <p:nvSpPr>
          <p:cNvPr id="4" name="hdr_q"/>
          <p:cNvSpPr txBox="1"/>
          <p:nvPr/>
        </p:nvSpPr>
        <p:spPr>
          <a:xfrm>
            <a:off x="3246120" y="246888"/>
            <a:ext cx="8485632" cy="548640"/>
          </a:xfrm>
          <a:prstGeom prst="rect">
            <a:avLst/>
          </a:prstGeom>
          <a:noFill/>
        </p:spPr>
        <p:txBody>
          <a:bodyPr wrap="square" lIns="109728" tIns="54864" rIns="109728" bIns="54864" anchor="ctr" rtlCol="0">
            <a:noAutofit/>
          </a:bodyPr>
          <a:lstStyle/>
          <a:p>
            <a:pPr algn="l">
              <a:lnSpc>
                <a:spcPts val="2400"/>
              </a:lnSpc>
              <a:spcBef>
                <a:spcPts val="0"/>
              </a:spcBef>
              <a:spcAft>
                <a:spcPts val="0"/>
              </a:spcAft>
              <a:buNone/>
            </a:pPr>
            <a:r>
              <a:rPr lang="ko-KR" altLang="en-US" sz="2000" b="1" dirty="0">
                <a:solidFill>
                  <a:srgbClr val="1F2328"/>
                </a:solidFill>
                <a:latin typeface="맑은 고딕"/>
                <a:ea typeface="맑은 고딕"/>
                <a:cs typeface="맑은 고딕"/>
              </a:rPr>
              <a:t>우리말에 맞게 (  ) 안의 말을 바르게 배열하시오.</a:t>
            </a:r>
            <a:endParaRPr lang="ko-KR" sz="2000"/>
          </a:p>
        </p:txBody>
      </p:sp>
      <p:sp>
        <p:nvSpPr>
          <p:cNvPr id="5" name="ftr_exam"/>
          <p:cNvSpPr txBox="1"/>
          <p:nvPr/>
        </p:nvSpPr>
        <p:spPr>
          <a:xfrm>
            <a:off x="457200" y="6519672"/>
            <a:ext cx="5669280" cy="256032"/>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6</a:t>
            </a:r>
            <a:endParaRPr lang="ko-KR" sz="1000"/>
          </a:p>
        </p:txBody>
      </p:sp>
      <p:sp>
        <p:nvSpPr>
          <p:cNvPr id="6" name="ftr_hint"/>
          <p:cNvSpPr txBox="1"/>
          <p:nvPr/>
        </p:nvSpPr>
        <p:spPr>
          <a:xfrm>
            <a:off x="5971032" y="6519672"/>
            <a:ext cx="5760720" cy="256032"/>
          </a:xfrm>
          <a:prstGeom prst="rect">
            <a:avLst/>
          </a:prstGeom>
          <a:noFill/>
        </p:spPr>
        <p:txBody>
          <a:bodyPr wrap="square" lIns="0" tIns="0" rIns="0" bIns="0" anchor="t" rtlCol="0">
            <a:noAutofit/>
          </a:bodyPr>
          <a:lstStyle/>
          <a:p>
            <a:pPr algn="r">
              <a:lnSpc>
                <a:spcPts val="1200"/>
              </a:lnSpc>
              <a:spcBef>
                <a:spcPts val="0"/>
              </a:spcBef>
              <a:spcAft>
                <a:spcPts val="0"/>
              </a:spcAft>
              <a:buNone/>
            </a:pPr>
            <a:r>
              <a:rPr lang="ko-KR" altLang="en-US" sz="1000" b="0" dirty="0">
                <a:solidFill>
                  <a:srgbClr val="7A808C"/>
                </a:solidFill>
                <a:latin typeface="맑은 고딕"/>
                <a:ea typeface="맑은 고딕"/>
                <a:cs typeface="맑은 고딕"/>
              </a:rPr>
              <a:t>클릭 ① 완성 문장(정답) 공개</a:t>
            </a:r>
            <a:endParaRPr lang="ko-KR" sz="1000"/>
          </a:p>
        </p:txBody>
      </p:sp>
      <p:sp>
        <p:nvSpPr>
          <p:cNvPr id="7" name="item_card_1"/>
          <p:cNvSpPr/>
          <p:nvPr/>
        </p:nvSpPr>
        <p:spPr>
          <a:xfrm>
            <a:off x="457200" y="950976"/>
            <a:ext cx="11274552" cy="1348232"/>
          </a:xfrm>
          <a:prstGeom prst="roundRect">
            <a:avLst>
              <a:gd name="adj" fmla="val 6000"/>
            </a:avLst>
          </a:prstGeom>
          <a:solidFill>
            <a:srgbClr val="F3F5F9"/>
          </a:solidFill>
          <a:ln w="12700">
            <a:solidFill>
              <a:srgbClr val="D9DFEA"/>
            </a:solidFill>
          </a:ln>
        </p:spPr>
        <p:txBody>
          <a:bodyPr rtlCol="0" anchor="ctr"/>
          <a:lstStyle/>
          <a:p>
            <a:pPr algn="ctr"/>
          </a:p>
        </p:txBody>
      </p:sp>
      <p:sp>
        <p:nvSpPr>
          <p:cNvPr id="8" name="kor_1"/>
          <p:cNvSpPr txBox="1"/>
          <p:nvPr/>
        </p:nvSpPr>
        <p:spPr>
          <a:xfrm>
            <a:off x="457200" y="1060704"/>
            <a:ext cx="11274552" cy="379603"/>
          </a:xfrm>
          <a:prstGeom prst="rect">
            <a:avLst/>
          </a:prstGeom>
          <a:noFill/>
        </p:spPr>
        <p:txBody>
          <a:bodyPr wrap="square" lIns="228600" tIns="54864" rIns="228600" bIns="54864" anchor="t" rtlCol="0">
            <a:noAutofit/>
          </a:bodyPr>
          <a:lstStyle/>
          <a:p>
            <a:pPr algn="l">
              <a:lnSpc>
                <a:spcPts val="2125"/>
              </a:lnSpc>
              <a:spcBef>
                <a:spcPts val="0"/>
              </a:spcBef>
              <a:spcAft>
                <a:spcPts val="0"/>
              </a:spcAft>
              <a:buNone/>
            </a:pPr>
            <a:r>
              <a:rPr lang="en-US" altLang="en-US" sz="1700" b="1" dirty="0">
                <a:solidFill>
                  <a:srgbClr val="1E2A5A"/>
                </a:solidFill>
                <a:latin typeface="Calibri"/>
                <a:ea typeface="맑은 고딕"/>
                <a:cs typeface="Calibri"/>
              </a:rPr>
              <a:t>7.  </a:t>
            </a:r>
            <a:r>
              <a:rPr lang="ko-KR" altLang="en-US" sz="1700" b="1" dirty="0">
                <a:solidFill>
                  <a:srgbClr val="1F2328"/>
                </a:solidFill>
                <a:latin typeface="맑은 고딕"/>
                <a:ea typeface="맑은 고딕"/>
                <a:cs typeface="맑은 고딕"/>
              </a:rPr>
              <a:t>그런 다음 그는 거실로 옮겨 갔다. 그리고 그곳에 그것이 있었다!</a:t>
            </a:r>
            <a:endParaRPr lang="ko-KR" sz="1700"/>
          </a:p>
        </p:txBody>
      </p:sp>
      <p:sp>
        <p:nvSpPr>
          <p:cNvPr id="9" name="ex_1"/>
          <p:cNvSpPr txBox="1"/>
          <p:nvPr/>
        </p:nvSpPr>
        <p:spPr>
          <a:xfrm>
            <a:off x="457200" y="1385443"/>
            <a:ext cx="11274552" cy="435483"/>
          </a:xfrm>
          <a:prstGeom prst="rect">
            <a:avLst/>
          </a:prstGeom>
          <a:noFill/>
        </p:spPr>
        <p:txBody>
          <a:bodyPr wrap="square" lIns="228600" tIns="54864" rIns="228600" bIns="54864" anchor="t" rtlCol="0">
            <a:noAutofit/>
          </a:bodyPr>
          <a:lstStyle/>
          <a:p>
            <a:pPr algn="l">
              <a:lnSpc>
                <a:spcPts val="2565"/>
              </a:lnSpc>
              <a:spcBef>
                <a:spcPts val="0"/>
              </a:spcBef>
              <a:spcAft>
                <a:spcPts val="0"/>
              </a:spcAft>
              <a:buNone/>
            </a:pP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the living room</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then</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He</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moved to</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 And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it was!</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there</a:t>
            </a:r>
            <a:r>
              <a:rPr lang="en-US" altLang="en-US" sz="1900" b="1" dirty="0">
                <a:solidFill>
                  <a:srgbClr val="1E2A5A"/>
                </a:solidFill>
                <a:latin typeface="Calibri"/>
                <a:ea typeface="맑은 고딕"/>
                <a:cs typeface="Calibri"/>
              </a:rPr>
              <a:t>)</a:t>
            </a:r>
            <a:endParaRPr lang="ko-KR" sz="1900"/>
          </a:p>
        </p:txBody>
      </p:sp>
      <p:sp>
        <p:nvSpPr>
          <p:cNvPr id="10" name="rv_ans_1"/>
          <p:cNvSpPr txBox="1"/>
          <p:nvPr/>
        </p:nvSpPr>
        <p:spPr>
          <a:xfrm>
            <a:off x="594360" y="1857502"/>
            <a:ext cx="11000232" cy="423418"/>
          </a:xfrm>
          <a:prstGeom prst="rect">
            <a:avLst/>
          </a:prstGeom>
          <a:solidFill>
            <a:srgbClr val="FFF3C4"/>
          </a:solidFill>
        </p:spPr>
        <p:txBody>
          <a:bodyPr wrap="square" lIns="137160" tIns="54864" rIns="137160" bIns="54864" anchor="t" rtlCol="0">
            <a:noAutofit/>
          </a:bodyPr>
          <a:lstStyle/>
          <a:p>
            <a:pPr algn="l">
              <a:lnSpc>
                <a:spcPts val="2470"/>
              </a:lnSpc>
              <a:spcBef>
                <a:spcPts val="0"/>
              </a:spcBef>
              <a:spcAft>
                <a:spcPts val="0"/>
              </a:spcAft>
              <a:buNone/>
            </a:pPr>
            <a:r>
              <a:rPr lang="en-US" altLang="en-US" sz="1900" b="1" dirty="0">
                <a:solidFill>
                  <a:srgbClr val="C00000"/>
                </a:solidFill>
                <a:latin typeface="Calibri"/>
                <a:ea typeface="맑은 고딕"/>
                <a:cs typeface="Calibri"/>
              </a:rPr>
              <a:t>→  </a:t>
            </a:r>
            <a:r>
              <a:rPr lang="en-US" altLang="en-US" sz="1900" b="1" dirty="0">
                <a:solidFill>
                  <a:srgbClr val="C00000"/>
                </a:solidFill>
                <a:latin typeface="Calibri"/>
                <a:ea typeface="맑은 고딕"/>
                <a:cs typeface="Calibri"/>
              </a:rPr>
              <a:t>He then moved to the living room. And there it was!</a:t>
            </a:r>
            <a:endParaRPr lang="ko-KR" sz="1900"/>
          </a:p>
        </p:txBody>
      </p:sp>
      <p:sp>
        <p:nvSpPr>
          <p:cNvPr id="11" name="item_card_2"/>
          <p:cNvSpPr/>
          <p:nvPr/>
        </p:nvSpPr>
        <p:spPr>
          <a:xfrm>
            <a:off x="457200" y="2408936"/>
            <a:ext cx="11274552" cy="1661922"/>
          </a:xfrm>
          <a:prstGeom prst="roundRect">
            <a:avLst>
              <a:gd name="adj" fmla="val 6000"/>
            </a:avLst>
          </a:prstGeom>
          <a:solidFill>
            <a:srgbClr val="F3F5F9"/>
          </a:solidFill>
          <a:ln w="12700">
            <a:solidFill>
              <a:srgbClr val="D9DFEA"/>
            </a:solidFill>
          </a:ln>
        </p:spPr>
        <p:txBody>
          <a:bodyPr rtlCol="0" anchor="ctr"/>
          <a:lstStyle/>
          <a:p>
            <a:pPr algn="ctr"/>
          </a:p>
        </p:txBody>
      </p:sp>
      <p:sp>
        <p:nvSpPr>
          <p:cNvPr id="12" name="kor_2"/>
          <p:cNvSpPr txBox="1"/>
          <p:nvPr/>
        </p:nvSpPr>
        <p:spPr>
          <a:xfrm>
            <a:off x="457200" y="2518664"/>
            <a:ext cx="11274552" cy="379603"/>
          </a:xfrm>
          <a:prstGeom prst="rect">
            <a:avLst/>
          </a:prstGeom>
          <a:noFill/>
        </p:spPr>
        <p:txBody>
          <a:bodyPr wrap="square" lIns="228600" tIns="54864" rIns="228600" bIns="54864" anchor="t" rtlCol="0">
            <a:noAutofit/>
          </a:bodyPr>
          <a:lstStyle/>
          <a:p>
            <a:pPr algn="l">
              <a:lnSpc>
                <a:spcPts val="2125"/>
              </a:lnSpc>
              <a:spcBef>
                <a:spcPts val="0"/>
              </a:spcBef>
              <a:spcAft>
                <a:spcPts val="0"/>
              </a:spcAft>
              <a:buNone/>
            </a:pPr>
            <a:r>
              <a:rPr lang="en-US" altLang="en-US" sz="1700" b="1" dirty="0">
                <a:solidFill>
                  <a:srgbClr val="1E2A5A"/>
                </a:solidFill>
                <a:latin typeface="Calibri"/>
                <a:ea typeface="맑은 고딕"/>
                <a:cs typeface="Calibri"/>
              </a:rPr>
              <a:t>8.  </a:t>
            </a:r>
            <a:r>
              <a:rPr lang="ko-KR" altLang="en-US" sz="1700" b="1" dirty="0">
                <a:solidFill>
                  <a:srgbClr val="1F2328"/>
                </a:solidFill>
                <a:latin typeface="맑은 고딕"/>
                <a:ea typeface="맑은 고딕"/>
                <a:cs typeface="맑은 고딕"/>
              </a:rPr>
              <a:t>매우 귀중한 18세기 영국 가구인 탁자가.</a:t>
            </a:r>
            <a:endParaRPr lang="ko-KR" sz="1700"/>
          </a:p>
        </p:txBody>
      </p:sp>
      <p:sp>
        <p:nvSpPr>
          <p:cNvPr id="13" name="ex_2"/>
          <p:cNvSpPr txBox="1"/>
          <p:nvPr/>
        </p:nvSpPr>
        <p:spPr>
          <a:xfrm>
            <a:off x="457200" y="2843403"/>
            <a:ext cx="11274552" cy="435483"/>
          </a:xfrm>
          <a:prstGeom prst="rect">
            <a:avLst/>
          </a:prstGeom>
          <a:noFill/>
        </p:spPr>
        <p:txBody>
          <a:bodyPr wrap="square" lIns="228600" tIns="54864" rIns="228600" bIns="54864" anchor="t" rtlCol="0">
            <a:noAutofit/>
          </a:bodyPr>
          <a:lstStyle/>
          <a:p>
            <a:pPr algn="l">
              <a:lnSpc>
                <a:spcPts val="2565"/>
              </a:lnSpc>
              <a:spcBef>
                <a:spcPts val="0"/>
              </a:spcBef>
              <a:spcAft>
                <a:spcPts val="0"/>
              </a:spcAft>
              <a:buNone/>
            </a:pP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which was</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of eighteenth‑century English furniture</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A table</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a priceless piece</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a:t>
            </a:r>
            <a:endParaRPr lang="ko-KR" sz="1900"/>
          </a:p>
        </p:txBody>
      </p:sp>
      <p:sp>
        <p:nvSpPr>
          <p:cNvPr id="14" name="rv_ans_2"/>
          <p:cNvSpPr txBox="1"/>
          <p:nvPr/>
        </p:nvSpPr>
        <p:spPr>
          <a:xfrm>
            <a:off x="594360" y="3315462"/>
            <a:ext cx="11000232" cy="737108"/>
          </a:xfrm>
          <a:prstGeom prst="rect">
            <a:avLst/>
          </a:prstGeom>
          <a:solidFill>
            <a:srgbClr val="FFF3C4"/>
          </a:solidFill>
        </p:spPr>
        <p:txBody>
          <a:bodyPr wrap="square" lIns="137160" tIns="54864" rIns="137160" bIns="54864" anchor="t" rtlCol="0">
            <a:noAutofit/>
          </a:bodyPr>
          <a:lstStyle/>
          <a:p>
            <a:pPr algn="l">
              <a:lnSpc>
                <a:spcPts val="2470"/>
              </a:lnSpc>
              <a:spcBef>
                <a:spcPts val="0"/>
              </a:spcBef>
              <a:spcAft>
                <a:spcPts val="0"/>
              </a:spcAft>
              <a:buNone/>
            </a:pPr>
            <a:r>
              <a:rPr lang="en-US" altLang="en-US" sz="1900" b="1" dirty="0">
                <a:solidFill>
                  <a:srgbClr val="C00000"/>
                </a:solidFill>
                <a:latin typeface="Calibri"/>
                <a:ea typeface="맑은 고딕"/>
                <a:cs typeface="Calibri"/>
              </a:rPr>
              <a:t>→  </a:t>
            </a:r>
            <a:r>
              <a:rPr lang="en-US" altLang="en-US" sz="1900" b="1" dirty="0">
                <a:solidFill>
                  <a:srgbClr val="C00000"/>
                </a:solidFill>
                <a:latin typeface="Calibri"/>
                <a:ea typeface="맑은 고딕"/>
                <a:cs typeface="Calibri"/>
              </a:rPr>
              <a:t>A table which was a priceless piece of eighteenth‑century English furniture.</a:t>
            </a:r>
            <a:endParaRPr lang="ko-KR" sz="1900"/>
          </a:p>
        </p:txBody>
      </p:sp>
      <p:sp>
        <p:nvSpPr>
          <p:cNvPr id="15" name="item_card_3"/>
          <p:cNvSpPr/>
          <p:nvPr/>
        </p:nvSpPr>
        <p:spPr>
          <a:xfrm>
            <a:off x="457200" y="4180586"/>
            <a:ext cx="11274552" cy="1348232"/>
          </a:xfrm>
          <a:prstGeom prst="roundRect">
            <a:avLst>
              <a:gd name="adj" fmla="val 6000"/>
            </a:avLst>
          </a:prstGeom>
          <a:solidFill>
            <a:srgbClr val="F3F5F9"/>
          </a:solidFill>
          <a:ln w="12700">
            <a:solidFill>
              <a:srgbClr val="D9DFEA"/>
            </a:solidFill>
          </a:ln>
        </p:spPr>
        <p:txBody>
          <a:bodyPr rtlCol="0" anchor="ctr"/>
          <a:lstStyle/>
          <a:p>
            <a:pPr algn="ctr"/>
          </a:p>
        </p:txBody>
      </p:sp>
      <p:sp>
        <p:nvSpPr>
          <p:cNvPr id="16" name="kor_3"/>
          <p:cNvSpPr txBox="1"/>
          <p:nvPr/>
        </p:nvSpPr>
        <p:spPr>
          <a:xfrm>
            <a:off x="457200" y="4290314"/>
            <a:ext cx="11274552" cy="379603"/>
          </a:xfrm>
          <a:prstGeom prst="rect">
            <a:avLst/>
          </a:prstGeom>
          <a:noFill/>
        </p:spPr>
        <p:txBody>
          <a:bodyPr wrap="square" lIns="228600" tIns="54864" rIns="228600" bIns="54864" anchor="t" rtlCol="0">
            <a:noAutofit/>
          </a:bodyPr>
          <a:lstStyle/>
          <a:p>
            <a:pPr algn="l">
              <a:lnSpc>
                <a:spcPts val="2125"/>
              </a:lnSpc>
              <a:spcBef>
                <a:spcPts val="0"/>
              </a:spcBef>
              <a:spcAft>
                <a:spcPts val="0"/>
              </a:spcAft>
              <a:buNone/>
            </a:pPr>
            <a:r>
              <a:rPr lang="en-US" altLang="en-US" sz="1700" b="1" dirty="0">
                <a:solidFill>
                  <a:srgbClr val="1E2A5A"/>
                </a:solidFill>
                <a:latin typeface="Calibri"/>
                <a:ea typeface="맑은 고딕"/>
                <a:cs typeface="Calibri"/>
              </a:rPr>
              <a:t>9.  </a:t>
            </a:r>
            <a:r>
              <a:rPr lang="ko-KR" altLang="en-US" sz="1700" b="1" dirty="0">
                <a:solidFill>
                  <a:srgbClr val="1F2328"/>
                </a:solidFill>
                <a:latin typeface="맑은 고딕"/>
                <a:ea typeface="맑은 고딕"/>
                <a:cs typeface="맑은 고딕"/>
              </a:rPr>
              <a:t>그는 몹시 흥분해서 거의 넘어질 뻔했다.</a:t>
            </a:r>
            <a:endParaRPr lang="ko-KR" sz="1700"/>
          </a:p>
        </p:txBody>
      </p:sp>
      <p:sp>
        <p:nvSpPr>
          <p:cNvPr id="17" name="ex_3"/>
          <p:cNvSpPr txBox="1"/>
          <p:nvPr/>
        </p:nvSpPr>
        <p:spPr>
          <a:xfrm>
            <a:off x="457200" y="4615053"/>
            <a:ext cx="11274552" cy="435483"/>
          </a:xfrm>
          <a:prstGeom prst="rect">
            <a:avLst/>
          </a:prstGeom>
          <a:noFill/>
        </p:spPr>
        <p:txBody>
          <a:bodyPr wrap="square" lIns="228600" tIns="54864" rIns="228600" bIns="54864" anchor="t" rtlCol="0">
            <a:noAutofit/>
          </a:bodyPr>
          <a:lstStyle/>
          <a:p>
            <a:pPr algn="l">
              <a:lnSpc>
                <a:spcPts val="2565"/>
              </a:lnSpc>
              <a:spcBef>
                <a:spcPts val="0"/>
              </a:spcBef>
              <a:spcAft>
                <a:spcPts val="0"/>
              </a:spcAft>
              <a:buNone/>
            </a:pP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He</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he almost fell over</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so excited</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was</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that</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a:t>
            </a:r>
            <a:endParaRPr lang="ko-KR" sz="1900"/>
          </a:p>
        </p:txBody>
      </p:sp>
      <p:sp>
        <p:nvSpPr>
          <p:cNvPr id="18" name="rv_ans_3"/>
          <p:cNvSpPr txBox="1"/>
          <p:nvPr/>
        </p:nvSpPr>
        <p:spPr>
          <a:xfrm>
            <a:off x="594360" y="5087112"/>
            <a:ext cx="11000232" cy="423418"/>
          </a:xfrm>
          <a:prstGeom prst="rect">
            <a:avLst/>
          </a:prstGeom>
          <a:solidFill>
            <a:srgbClr val="FFF3C4"/>
          </a:solidFill>
        </p:spPr>
        <p:txBody>
          <a:bodyPr wrap="square" lIns="137160" tIns="54864" rIns="137160" bIns="54864" anchor="t" rtlCol="0">
            <a:noAutofit/>
          </a:bodyPr>
          <a:lstStyle/>
          <a:p>
            <a:pPr algn="l">
              <a:lnSpc>
                <a:spcPts val="2470"/>
              </a:lnSpc>
              <a:spcBef>
                <a:spcPts val="0"/>
              </a:spcBef>
              <a:spcAft>
                <a:spcPts val="0"/>
              </a:spcAft>
              <a:buNone/>
            </a:pPr>
            <a:r>
              <a:rPr lang="en-US" altLang="en-US" sz="1900" b="1" dirty="0">
                <a:solidFill>
                  <a:srgbClr val="C00000"/>
                </a:solidFill>
                <a:latin typeface="Calibri"/>
                <a:ea typeface="맑은 고딕"/>
                <a:cs typeface="Calibri"/>
              </a:rPr>
              <a:t>→  </a:t>
            </a:r>
            <a:r>
              <a:rPr lang="en-US" altLang="en-US" sz="1900" b="1" dirty="0">
                <a:solidFill>
                  <a:srgbClr val="C00000"/>
                </a:solidFill>
                <a:latin typeface="Calibri"/>
                <a:ea typeface="맑은 고딕"/>
                <a:cs typeface="Calibri"/>
              </a:rPr>
              <a:t>He was so excited that he almost fell over.</a:t>
            </a:r>
            <a:endParaRPr lang="ko-KR" sz="19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25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250"/>
                                        <p:tgtEl>
                                          <p:spTgt spid="1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8"/>
                                        </p:tgtEl>
                                        <p:attrNameLst>
                                          <p:attrName>style.visibility</p:attrName>
                                        </p:attrNameLst>
                                      </p:cBhvr>
                                      <p:to>
                                        <p:strVal val="visible"/>
                                      </p:to>
                                    </p:set>
                                    <p:animEffect transition="in" filter="fade">
                                      <p:cBhvr>
                                        <p:cTn id="13"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4" grpId="0" animBg="1"/>
      <p:bldP spid="18" grpId="0" animBg="1"/>
    </p:bldLst>
  </p:timing>
</p:sld>
</file>

<file path=ppt/slides/slide1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8000"/>
            </a:avLst>
          </a:prstGeom>
          <a:solidFill>
            <a:srgbClr val="1E2A5A"/>
          </a:solidFill>
          <a:ln>
            <a:noFill/>
          </a:ln>
        </p:spPr>
        <p:txBody>
          <a:bodyPr wrap="square" lIns="45720" tIns="18288" rIns="45720" bIns="18288" anchor="ctr" rtlCol="0">
            <a:noAutofit/>
          </a:bodyPr>
          <a:lstStyle/>
          <a:p>
            <a:pPr algn="ctr">
              <a:lnSpc>
                <a:spcPts val="2000"/>
              </a:lnSpc>
              <a:spcBef>
                <a:spcPts val="0"/>
              </a:spcBef>
              <a:spcAft>
                <a:spcPts val="0"/>
              </a:spcAft>
              <a:buNone/>
            </a:pPr>
            <a:r>
              <a:rPr lang="en-US" altLang="en-US" sz="1700" b="1" dirty="0">
                <a:solidFill>
                  <a:srgbClr val="FFFFFF"/>
                </a:solidFill>
                <a:latin typeface="Calibri"/>
                <a:ea typeface="맑은 고딕"/>
                <a:cs typeface="Calibri"/>
              </a:rPr>
              <a:t>L6-2</a:t>
            </a:r>
            <a:endParaRPr lang="ko-KR" sz="1700"/>
          </a:p>
        </p:txBody>
      </p:sp>
      <p:sp>
        <p:nvSpPr>
          <p:cNvPr id="3" name="hdr_chip"/>
          <p:cNvSpPr/>
          <p:nvPr/>
        </p:nvSpPr>
        <p:spPr>
          <a:xfrm>
            <a:off x="1755648" y="274320"/>
            <a:ext cx="1371600" cy="493776"/>
          </a:xfrm>
          <a:prstGeom prst="roundRect">
            <a:avLst>
              <a:gd name="adj" fmla="val 8000"/>
            </a:avLst>
          </a:prstGeom>
          <a:solidFill>
            <a:srgbClr val="E6EAF4"/>
          </a:solidFill>
          <a:ln>
            <a:noFill/>
          </a:ln>
        </p:spPr>
        <p:txBody>
          <a:bodyPr wrap="square" lIns="27432" tIns="18288" rIns="27432" bIns="18288" anchor="ctr" rtlCol="0">
            <a:noAutofit/>
          </a:bodyPr>
          <a:lstStyle/>
          <a:p>
            <a:pPr algn="ctr">
              <a:lnSpc>
                <a:spcPts val="1700"/>
              </a:lnSpc>
              <a:spcBef>
                <a:spcPts val="0"/>
              </a:spcBef>
              <a:spcAft>
                <a:spcPts val="0"/>
              </a:spcAft>
              <a:buNone/>
            </a:pPr>
            <a:r>
              <a:rPr lang="ko-KR" altLang="en-US" sz="1400" b="1" dirty="0">
                <a:solidFill>
                  <a:srgbClr val="1E2A5A"/>
                </a:solidFill>
                <a:latin typeface="맑은 고딕"/>
                <a:ea typeface="맑은 고딕"/>
                <a:cs typeface="맑은 고딕"/>
              </a:rPr>
              <a:t>PART 6 · 7</a:t>
            </a:r>
            <a:endParaRPr lang="ko-KR" sz="1400"/>
          </a:p>
        </p:txBody>
      </p:sp>
      <p:sp>
        <p:nvSpPr>
          <p:cNvPr id="4" name="hdr_q"/>
          <p:cNvSpPr txBox="1"/>
          <p:nvPr/>
        </p:nvSpPr>
        <p:spPr>
          <a:xfrm>
            <a:off x="3246120" y="246888"/>
            <a:ext cx="8485632" cy="548640"/>
          </a:xfrm>
          <a:prstGeom prst="rect">
            <a:avLst/>
          </a:prstGeom>
          <a:noFill/>
        </p:spPr>
        <p:txBody>
          <a:bodyPr wrap="square" lIns="109728" tIns="54864" rIns="109728" bIns="54864" anchor="ctr" rtlCol="0">
            <a:noAutofit/>
          </a:bodyPr>
          <a:lstStyle/>
          <a:p>
            <a:pPr algn="l">
              <a:lnSpc>
                <a:spcPts val="2400"/>
              </a:lnSpc>
              <a:spcBef>
                <a:spcPts val="0"/>
              </a:spcBef>
              <a:spcAft>
                <a:spcPts val="0"/>
              </a:spcAft>
              <a:buNone/>
            </a:pPr>
            <a:r>
              <a:rPr lang="ko-KR" altLang="en-US" sz="2000" b="1" dirty="0">
                <a:solidFill>
                  <a:srgbClr val="1F2328"/>
                </a:solidFill>
                <a:latin typeface="맑은 고딕"/>
                <a:ea typeface="맑은 고딕"/>
                <a:cs typeface="맑은 고딕"/>
              </a:rPr>
              <a:t>우리말에 맞게 (  ) 안의 말을 바르게 배열하시오.</a:t>
            </a:r>
            <a:endParaRPr lang="ko-KR" sz="2000"/>
          </a:p>
        </p:txBody>
      </p:sp>
      <p:sp>
        <p:nvSpPr>
          <p:cNvPr id="5" name="ftr_exam"/>
          <p:cNvSpPr txBox="1"/>
          <p:nvPr/>
        </p:nvSpPr>
        <p:spPr>
          <a:xfrm>
            <a:off x="457200" y="6519672"/>
            <a:ext cx="5669280" cy="256032"/>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6</a:t>
            </a:r>
            <a:endParaRPr lang="ko-KR" sz="1000"/>
          </a:p>
        </p:txBody>
      </p:sp>
      <p:sp>
        <p:nvSpPr>
          <p:cNvPr id="6" name="ftr_hint"/>
          <p:cNvSpPr txBox="1"/>
          <p:nvPr/>
        </p:nvSpPr>
        <p:spPr>
          <a:xfrm>
            <a:off x="5971032" y="6519672"/>
            <a:ext cx="5760720" cy="256032"/>
          </a:xfrm>
          <a:prstGeom prst="rect">
            <a:avLst/>
          </a:prstGeom>
          <a:noFill/>
        </p:spPr>
        <p:txBody>
          <a:bodyPr wrap="square" lIns="0" tIns="0" rIns="0" bIns="0" anchor="t" rtlCol="0">
            <a:noAutofit/>
          </a:bodyPr>
          <a:lstStyle/>
          <a:p>
            <a:pPr algn="r">
              <a:lnSpc>
                <a:spcPts val="1200"/>
              </a:lnSpc>
              <a:spcBef>
                <a:spcPts val="0"/>
              </a:spcBef>
              <a:spcAft>
                <a:spcPts val="0"/>
              </a:spcAft>
              <a:buNone/>
            </a:pPr>
            <a:r>
              <a:rPr lang="ko-KR" altLang="en-US" sz="1000" b="0" dirty="0">
                <a:solidFill>
                  <a:srgbClr val="7A808C"/>
                </a:solidFill>
                <a:latin typeface="맑은 고딕"/>
                <a:ea typeface="맑은 고딕"/>
                <a:cs typeface="맑은 고딕"/>
              </a:rPr>
              <a:t>클릭 ① 완성 문장(정답) 공개</a:t>
            </a:r>
            <a:endParaRPr lang="ko-KR" sz="1000"/>
          </a:p>
        </p:txBody>
      </p:sp>
      <p:sp>
        <p:nvSpPr>
          <p:cNvPr id="7" name="item_card_1"/>
          <p:cNvSpPr/>
          <p:nvPr/>
        </p:nvSpPr>
        <p:spPr>
          <a:xfrm>
            <a:off x="457200" y="950976"/>
            <a:ext cx="11274552" cy="1931797"/>
          </a:xfrm>
          <a:prstGeom prst="roundRect">
            <a:avLst>
              <a:gd name="adj" fmla="val 6000"/>
            </a:avLst>
          </a:prstGeom>
          <a:solidFill>
            <a:srgbClr val="F3F5F9"/>
          </a:solidFill>
          <a:ln w="12700">
            <a:solidFill>
              <a:srgbClr val="D9DFEA"/>
            </a:solidFill>
          </a:ln>
        </p:spPr>
        <p:txBody>
          <a:bodyPr rtlCol="0" anchor="ctr"/>
          <a:lstStyle/>
          <a:p>
            <a:pPr algn="ctr"/>
          </a:p>
        </p:txBody>
      </p:sp>
      <p:sp>
        <p:nvSpPr>
          <p:cNvPr id="8" name="kor_1"/>
          <p:cNvSpPr txBox="1"/>
          <p:nvPr/>
        </p:nvSpPr>
        <p:spPr>
          <a:xfrm>
            <a:off x="457200" y="1060704"/>
            <a:ext cx="11274552" cy="649478"/>
          </a:xfrm>
          <a:prstGeom prst="rect">
            <a:avLst/>
          </a:prstGeom>
          <a:noFill/>
        </p:spPr>
        <p:txBody>
          <a:bodyPr wrap="square" lIns="228600" tIns="54864" rIns="228600" bIns="54864" anchor="t" rtlCol="0">
            <a:noAutofit/>
          </a:bodyPr>
          <a:lstStyle/>
          <a:p>
            <a:pPr algn="l">
              <a:lnSpc>
                <a:spcPts val="2125"/>
              </a:lnSpc>
              <a:spcBef>
                <a:spcPts val="0"/>
              </a:spcBef>
              <a:spcAft>
                <a:spcPts val="0"/>
              </a:spcAft>
              <a:buNone/>
            </a:pPr>
            <a:r>
              <a:rPr lang="en-US" altLang="en-US" sz="1700" b="1" dirty="0">
                <a:solidFill>
                  <a:srgbClr val="1E2A5A"/>
                </a:solidFill>
                <a:latin typeface="Calibri"/>
                <a:ea typeface="맑은 고딕"/>
                <a:cs typeface="Calibri"/>
              </a:rPr>
              <a:t>10.  </a:t>
            </a:r>
            <a:r>
              <a:rPr lang="ko-KR" altLang="en-US" sz="1700" b="1" dirty="0">
                <a:solidFill>
                  <a:srgbClr val="1F2328"/>
                </a:solidFill>
                <a:latin typeface="맑은 고딕"/>
                <a:ea typeface="맑은 고딕"/>
                <a:cs typeface="맑은 고딕"/>
              </a:rPr>
              <a:t>"무슨 일이세요?" Bert가 물었다. "아, 아무것도 아니에요. 전혀 아무 일도 아닙니다." Boggis 씨는 거짓말을 했다.</a:t>
            </a:r>
            <a:endParaRPr lang="ko-KR" sz="1700"/>
          </a:p>
        </p:txBody>
      </p:sp>
      <p:sp>
        <p:nvSpPr>
          <p:cNvPr id="9" name="ex_1"/>
          <p:cNvSpPr txBox="1"/>
          <p:nvPr/>
        </p:nvSpPr>
        <p:spPr>
          <a:xfrm>
            <a:off x="457200" y="1655318"/>
            <a:ext cx="11274552" cy="435483"/>
          </a:xfrm>
          <a:prstGeom prst="rect">
            <a:avLst/>
          </a:prstGeom>
          <a:noFill/>
        </p:spPr>
        <p:txBody>
          <a:bodyPr wrap="square" lIns="228600" tIns="54864" rIns="228600" bIns="54864" anchor="t" rtlCol="0">
            <a:noAutofit/>
          </a:bodyPr>
          <a:lstStyle/>
          <a:p>
            <a:pPr algn="l">
              <a:lnSpc>
                <a:spcPts val="2565"/>
              </a:lnSpc>
              <a:spcBef>
                <a:spcPts val="0"/>
              </a:spcBef>
              <a:spcAft>
                <a:spcPts val="0"/>
              </a:spcAft>
              <a:buNone/>
            </a:pPr>
            <a:r>
              <a:rPr lang="en-US" altLang="en-US" sz="1900" b="0" dirty="0">
                <a:solidFill>
                  <a:srgbClr val="1F2328"/>
                </a:solidFill>
                <a:latin typeface="Calibri"/>
                <a:ea typeface="맑은 고딕"/>
                <a:cs typeface="Calibri"/>
              </a:rPr>
              <a:t>"What’s wrong?" Bert asked. "Oh, nothing. Nothing at all,"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lied</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Mr. Boggis</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a:t>
            </a:r>
            <a:endParaRPr lang="ko-KR" sz="1900"/>
          </a:p>
        </p:txBody>
      </p:sp>
      <p:sp>
        <p:nvSpPr>
          <p:cNvPr id="10" name="rv_ans_1"/>
          <p:cNvSpPr txBox="1"/>
          <p:nvPr/>
        </p:nvSpPr>
        <p:spPr>
          <a:xfrm>
            <a:off x="594360" y="2127377"/>
            <a:ext cx="11000232" cy="737108"/>
          </a:xfrm>
          <a:prstGeom prst="rect">
            <a:avLst/>
          </a:prstGeom>
          <a:solidFill>
            <a:srgbClr val="FFF3C4"/>
          </a:solidFill>
        </p:spPr>
        <p:txBody>
          <a:bodyPr wrap="square" lIns="137160" tIns="54864" rIns="137160" bIns="54864" anchor="t" rtlCol="0">
            <a:noAutofit/>
          </a:bodyPr>
          <a:lstStyle/>
          <a:p>
            <a:pPr algn="l">
              <a:lnSpc>
                <a:spcPts val="2470"/>
              </a:lnSpc>
              <a:spcBef>
                <a:spcPts val="0"/>
              </a:spcBef>
              <a:spcAft>
                <a:spcPts val="0"/>
              </a:spcAft>
              <a:buNone/>
            </a:pPr>
            <a:r>
              <a:rPr lang="en-US" altLang="en-US" sz="1900" b="1" dirty="0">
                <a:solidFill>
                  <a:srgbClr val="C00000"/>
                </a:solidFill>
                <a:latin typeface="Calibri"/>
                <a:ea typeface="맑은 고딕"/>
                <a:cs typeface="Calibri"/>
              </a:rPr>
              <a:t>→  </a:t>
            </a:r>
            <a:r>
              <a:rPr lang="en-US" altLang="en-US" sz="1900" b="1" dirty="0">
                <a:solidFill>
                  <a:srgbClr val="C00000"/>
                </a:solidFill>
                <a:latin typeface="Calibri"/>
                <a:ea typeface="맑은 고딕"/>
                <a:cs typeface="Calibri"/>
              </a:rPr>
              <a:t>"What’s wrong?" Bert asked. "Oh, nothing. Nothing at all," Mr. Boggis lied.</a:t>
            </a:r>
            <a:endParaRPr lang="ko-KR" sz="1900"/>
          </a:p>
        </p:txBody>
      </p:sp>
      <p:sp>
        <p:nvSpPr>
          <p:cNvPr id="11" name="item_card_2"/>
          <p:cNvSpPr/>
          <p:nvPr/>
        </p:nvSpPr>
        <p:spPr>
          <a:xfrm>
            <a:off x="457200" y="2992501"/>
            <a:ext cx="11274552" cy="2257552"/>
          </a:xfrm>
          <a:prstGeom prst="roundRect">
            <a:avLst>
              <a:gd name="adj" fmla="val 6000"/>
            </a:avLst>
          </a:prstGeom>
          <a:solidFill>
            <a:srgbClr val="F3F5F9"/>
          </a:solidFill>
          <a:ln w="12700">
            <a:solidFill>
              <a:srgbClr val="D9DFEA"/>
            </a:solidFill>
          </a:ln>
        </p:spPr>
        <p:txBody>
          <a:bodyPr rtlCol="0" anchor="ctr"/>
          <a:lstStyle/>
          <a:p>
            <a:pPr algn="ctr"/>
          </a:p>
        </p:txBody>
      </p:sp>
      <p:sp>
        <p:nvSpPr>
          <p:cNvPr id="12" name="kor_2"/>
          <p:cNvSpPr txBox="1"/>
          <p:nvPr/>
        </p:nvSpPr>
        <p:spPr>
          <a:xfrm>
            <a:off x="457200" y="3102229"/>
            <a:ext cx="11274552" cy="649478"/>
          </a:xfrm>
          <a:prstGeom prst="rect">
            <a:avLst/>
          </a:prstGeom>
          <a:noFill/>
        </p:spPr>
        <p:txBody>
          <a:bodyPr wrap="square" lIns="228600" tIns="54864" rIns="228600" bIns="54864" anchor="t" rtlCol="0">
            <a:noAutofit/>
          </a:bodyPr>
          <a:lstStyle/>
          <a:p>
            <a:pPr algn="l">
              <a:lnSpc>
                <a:spcPts val="2125"/>
              </a:lnSpc>
              <a:spcBef>
                <a:spcPts val="0"/>
              </a:spcBef>
              <a:spcAft>
                <a:spcPts val="0"/>
              </a:spcAft>
              <a:buNone/>
            </a:pPr>
            <a:r>
              <a:rPr lang="en-US" altLang="en-US" sz="1700" b="1" dirty="0">
                <a:solidFill>
                  <a:srgbClr val="1E2A5A"/>
                </a:solidFill>
                <a:latin typeface="Calibri"/>
                <a:ea typeface="맑은 고딕"/>
                <a:cs typeface="Calibri"/>
              </a:rPr>
              <a:t>11.  </a:t>
            </a:r>
            <a:r>
              <a:rPr lang="ko-KR" altLang="en-US" sz="1700" b="1" dirty="0">
                <a:solidFill>
                  <a:srgbClr val="1F2328"/>
                </a:solidFill>
                <a:latin typeface="맑은 고딕"/>
                <a:ea typeface="맑은 고딕"/>
                <a:cs typeface="맑은 고딕"/>
              </a:rPr>
              <a:t>그러고 나서 그는 정색하며 말했다. "이 탁자는 복제품입니다. 몇 파운드의 가치밖에 안 돼요."</a:t>
            </a:r>
            <a:endParaRPr lang="ko-KR" sz="1700"/>
          </a:p>
        </p:txBody>
      </p:sp>
      <p:sp>
        <p:nvSpPr>
          <p:cNvPr id="13" name="ex_2"/>
          <p:cNvSpPr txBox="1"/>
          <p:nvPr/>
        </p:nvSpPr>
        <p:spPr>
          <a:xfrm>
            <a:off x="457200" y="3696843"/>
            <a:ext cx="11274552" cy="761238"/>
          </a:xfrm>
          <a:prstGeom prst="rect">
            <a:avLst/>
          </a:prstGeom>
          <a:noFill/>
        </p:spPr>
        <p:txBody>
          <a:bodyPr wrap="square" lIns="228600" tIns="54864" rIns="228600" bIns="54864" anchor="t" rtlCol="0">
            <a:noAutofit/>
          </a:bodyPr>
          <a:lstStyle/>
          <a:p>
            <a:pPr algn="l">
              <a:lnSpc>
                <a:spcPts val="2565"/>
              </a:lnSpc>
              <a:spcBef>
                <a:spcPts val="0"/>
              </a:spcBef>
              <a:spcAft>
                <a:spcPts val="0"/>
              </a:spcAft>
              <a:buNone/>
            </a:pP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with a straight face</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then said</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He</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This table</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a reproduction</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is</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a few pounds."</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It’s worth</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only</a:t>
            </a:r>
            <a:r>
              <a:rPr lang="en-US" altLang="en-US" sz="1900" b="1" dirty="0">
                <a:solidFill>
                  <a:srgbClr val="1E2A5A"/>
                </a:solidFill>
                <a:latin typeface="Calibri"/>
                <a:ea typeface="맑은 고딕"/>
                <a:cs typeface="Calibri"/>
              </a:rPr>
              <a:t>)</a:t>
            </a:r>
            <a:endParaRPr lang="ko-KR" sz="1900"/>
          </a:p>
        </p:txBody>
      </p:sp>
      <p:sp>
        <p:nvSpPr>
          <p:cNvPr id="14" name="rv_ans_2"/>
          <p:cNvSpPr txBox="1"/>
          <p:nvPr/>
        </p:nvSpPr>
        <p:spPr>
          <a:xfrm>
            <a:off x="594360" y="4494657"/>
            <a:ext cx="11000232" cy="737108"/>
          </a:xfrm>
          <a:prstGeom prst="rect">
            <a:avLst/>
          </a:prstGeom>
          <a:solidFill>
            <a:srgbClr val="FFF3C4"/>
          </a:solidFill>
        </p:spPr>
        <p:txBody>
          <a:bodyPr wrap="square" lIns="137160" tIns="54864" rIns="137160" bIns="54864" anchor="t" rtlCol="0">
            <a:noAutofit/>
          </a:bodyPr>
          <a:lstStyle/>
          <a:p>
            <a:pPr algn="l">
              <a:lnSpc>
                <a:spcPts val="2470"/>
              </a:lnSpc>
              <a:spcBef>
                <a:spcPts val="0"/>
              </a:spcBef>
              <a:spcAft>
                <a:spcPts val="0"/>
              </a:spcAft>
              <a:buNone/>
            </a:pPr>
            <a:r>
              <a:rPr lang="en-US" altLang="en-US" sz="1900" b="1" dirty="0">
                <a:solidFill>
                  <a:srgbClr val="C00000"/>
                </a:solidFill>
                <a:latin typeface="Calibri"/>
                <a:ea typeface="맑은 고딕"/>
                <a:cs typeface="Calibri"/>
              </a:rPr>
              <a:t>→  </a:t>
            </a:r>
            <a:r>
              <a:rPr lang="en-US" altLang="en-US" sz="1900" b="1" dirty="0">
                <a:solidFill>
                  <a:srgbClr val="C00000"/>
                </a:solidFill>
                <a:latin typeface="Calibri"/>
                <a:ea typeface="맑은 고딕"/>
                <a:cs typeface="Calibri"/>
              </a:rPr>
              <a:t>He then said with a straight face, "This table is a reproduction. It’s worth only a few pounds."</a:t>
            </a:r>
            <a:endParaRPr lang="ko-KR" sz="19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25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2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4" grpId="0" animBg="1"/>
    </p:bldLst>
  </p:timing>
</p:sld>
</file>

<file path=ppt/slides/slide1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8000"/>
            </a:avLst>
          </a:prstGeom>
          <a:solidFill>
            <a:srgbClr val="1E2A5A"/>
          </a:solidFill>
          <a:ln>
            <a:noFill/>
          </a:ln>
        </p:spPr>
        <p:txBody>
          <a:bodyPr wrap="square" lIns="45720" tIns="18288" rIns="45720" bIns="18288" anchor="ctr" rtlCol="0">
            <a:noAutofit/>
          </a:bodyPr>
          <a:lstStyle/>
          <a:p>
            <a:pPr algn="ctr">
              <a:lnSpc>
                <a:spcPts val="2000"/>
              </a:lnSpc>
              <a:spcBef>
                <a:spcPts val="0"/>
              </a:spcBef>
              <a:spcAft>
                <a:spcPts val="0"/>
              </a:spcAft>
              <a:buNone/>
            </a:pPr>
            <a:r>
              <a:rPr lang="en-US" altLang="en-US" sz="1700" b="1" dirty="0">
                <a:solidFill>
                  <a:srgbClr val="FFFFFF"/>
                </a:solidFill>
                <a:latin typeface="Calibri"/>
                <a:ea typeface="맑은 고딕"/>
                <a:cs typeface="Calibri"/>
              </a:rPr>
              <a:t>L6-3</a:t>
            </a:r>
            <a:endParaRPr lang="ko-KR" sz="1700"/>
          </a:p>
        </p:txBody>
      </p:sp>
      <p:sp>
        <p:nvSpPr>
          <p:cNvPr id="3" name="hdr_chip"/>
          <p:cNvSpPr/>
          <p:nvPr/>
        </p:nvSpPr>
        <p:spPr>
          <a:xfrm>
            <a:off x="1755648" y="274320"/>
            <a:ext cx="1371600" cy="493776"/>
          </a:xfrm>
          <a:prstGeom prst="roundRect">
            <a:avLst>
              <a:gd name="adj" fmla="val 8000"/>
            </a:avLst>
          </a:prstGeom>
          <a:solidFill>
            <a:srgbClr val="E6EAF4"/>
          </a:solidFill>
          <a:ln>
            <a:noFill/>
          </a:ln>
        </p:spPr>
        <p:txBody>
          <a:bodyPr wrap="square" lIns="27432" tIns="18288" rIns="27432" bIns="18288" anchor="ctr" rtlCol="0">
            <a:noAutofit/>
          </a:bodyPr>
          <a:lstStyle/>
          <a:p>
            <a:pPr algn="ctr">
              <a:lnSpc>
                <a:spcPts val="1700"/>
              </a:lnSpc>
              <a:spcBef>
                <a:spcPts val="0"/>
              </a:spcBef>
              <a:spcAft>
                <a:spcPts val="0"/>
              </a:spcAft>
              <a:buNone/>
            </a:pPr>
            <a:r>
              <a:rPr lang="ko-KR" altLang="en-US" sz="1400" b="1" dirty="0">
                <a:solidFill>
                  <a:srgbClr val="1E2A5A"/>
                </a:solidFill>
                <a:latin typeface="맑은 고딕"/>
                <a:ea typeface="맑은 고딕"/>
                <a:cs typeface="맑은 고딕"/>
              </a:rPr>
              <a:t>PART 6 · 8</a:t>
            </a:r>
            <a:endParaRPr lang="ko-KR" sz="1400"/>
          </a:p>
        </p:txBody>
      </p:sp>
      <p:sp>
        <p:nvSpPr>
          <p:cNvPr id="4" name="hdr_q"/>
          <p:cNvSpPr txBox="1"/>
          <p:nvPr/>
        </p:nvSpPr>
        <p:spPr>
          <a:xfrm>
            <a:off x="3246120" y="246888"/>
            <a:ext cx="8485632" cy="548640"/>
          </a:xfrm>
          <a:prstGeom prst="rect">
            <a:avLst/>
          </a:prstGeom>
          <a:noFill/>
        </p:spPr>
        <p:txBody>
          <a:bodyPr wrap="square" lIns="109728" tIns="54864" rIns="109728" bIns="54864" anchor="ctr" rtlCol="0">
            <a:noAutofit/>
          </a:bodyPr>
          <a:lstStyle/>
          <a:p>
            <a:pPr algn="l">
              <a:lnSpc>
                <a:spcPts val="2400"/>
              </a:lnSpc>
              <a:spcBef>
                <a:spcPts val="0"/>
              </a:spcBef>
              <a:spcAft>
                <a:spcPts val="0"/>
              </a:spcAft>
              <a:buNone/>
            </a:pPr>
            <a:r>
              <a:rPr lang="ko-KR" altLang="en-US" sz="2000" b="1" dirty="0">
                <a:solidFill>
                  <a:srgbClr val="1F2328"/>
                </a:solidFill>
                <a:latin typeface="맑은 고딕"/>
                <a:ea typeface="맑은 고딕"/>
                <a:cs typeface="맑은 고딕"/>
              </a:rPr>
              <a:t>우리말에 맞게 (  ) 안의 말을 바르게 배열하시오.</a:t>
            </a:r>
            <a:endParaRPr lang="ko-KR" sz="2000"/>
          </a:p>
        </p:txBody>
      </p:sp>
      <p:sp>
        <p:nvSpPr>
          <p:cNvPr id="5" name="ftr_exam"/>
          <p:cNvSpPr txBox="1"/>
          <p:nvPr/>
        </p:nvSpPr>
        <p:spPr>
          <a:xfrm>
            <a:off x="457200" y="6519672"/>
            <a:ext cx="5669280" cy="256032"/>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6</a:t>
            </a:r>
            <a:endParaRPr lang="ko-KR" sz="1000"/>
          </a:p>
        </p:txBody>
      </p:sp>
      <p:sp>
        <p:nvSpPr>
          <p:cNvPr id="6" name="ftr_hint"/>
          <p:cNvSpPr txBox="1"/>
          <p:nvPr/>
        </p:nvSpPr>
        <p:spPr>
          <a:xfrm>
            <a:off x="5971032" y="6519672"/>
            <a:ext cx="5760720" cy="256032"/>
          </a:xfrm>
          <a:prstGeom prst="rect">
            <a:avLst/>
          </a:prstGeom>
          <a:noFill/>
        </p:spPr>
        <p:txBody>
          <a:bodyPr wrap="square" lIns="0" tIns="0" rIns="0" bIns="0" anchor="t" rtlCol="0">
            <a:noAutofit/>
          </a:bodyPr>
          <a:lstStyle/>
          <a:p>
            <a:pPr algn="r">
              <a:lnSpc>
                <a:spcPts val="1200"/>
              </a:lnSpc>
              <a:spcBef>
                <a:spcPts val="0"/>
              </a:spcBef>
              <a:spcAft>
                <a:spcPts val="0"/>
              </a:spcAft>
              <a:buNone/>
            </a:pPr>
            <a:r>
              <a:rPr lang="ko-KR" altLang="en-US" sz="1000" b="0" dirty="0">
                <a:solidFill>
                  <a:srgbClr val="7A808C"/>
                </a:solidFill>
                <a:latin typeface="맑은 고딕"/>
                <a:ea typeface="맑은 고딕"/>
                <a:cs typeface="맑은 고딕"/>
              </a:rPr>
              <a:t>클릭 ① 완성 문장(정답) 공개</a:t>
            </a:r>
            <a:endParaRPr lang="ko-KR" sz="1000"/>
          </a:p>
        </p:txBody>
      </p:sp>
      <p:sp>
        <p:nvSpPr>
          <p:cNvPr id="7" name="item_card_1"/>
          <p:cNvSpPr/>
          <p:nvPr/>
        </p:nvSpPr>
        <p:spPr>
          <a:xfrm>
            <a:off x="457200" y="950976"/>
            <a:ext cx="11274552" cy="2257552"/>
          </a:xfrm>
          <a:prstGeom prst="roundRect">
            <a:avLst>
              <a:gd name="adj" fmla="val 6000"/>
            </a:avLst>
          </a:prstGeom>
          <a:solidFill>
            <a:srgbClr val="F3F5F9"/>
          </a:solidFill>
          <a:ln w="12700">
            <a:solidFill>
              <a:srgbClr val="D9DFEA"/>
            </a:solidFill>
          </a:ln>
        </p:spPr>
        <p:txBody>
          <a:bodyPr rtlCol="0" anchor="ctr"/>
          <a:lstStyle/>
          <a:p>
            <a:pPr algn="ctr"/>
          </a:p>
        </p:txBody>
      </p:sp>
      <p:sp>
        <p:nvSpPr>
          <p:cNvPr id="8" name="kor_1"/>
          <p:cNvSpPr txBox="1"/>
          <p:nvPr/>
        </p:nvSpPr>
        <p:spPr>
          <a:xfrm>
            <a:off x="457200" y="1060704"/>
            <a:ext cx="11274552" cy="649478"/>
          </a:xfrm>
          <a:prstGeom prst="rect">
            <a:avLst/>
          </a:prstGeom>
          <a:noFill/>
        </p:spPr>
        <p:txBody>
          <a:bodyPr wrap="square" lIns="228600" tIns="54864" rIns="228600" bIns="54864" anchor="t" rtlCol="0">
            <a:noAutofit/>
          </a:bodyPr>
          <a:lstStyle/>
          <a:p>
            <a:pPr algn="l">
              <a:lnSpc>
                <a:spcPts val="2125"/>
              </a:lnSpc>
              <a:spcBef>
                <a:spcPts val="0"/>
              </a:spcBef>
              <a:spcAft>
                <a:spcPts val="0"/>
              </a:spcAft>
              <a:buNone/>
            </a:pPr>
            <a:r>
              <a:rPr lang="en-US" altLang="en-US" sz="1700" b="1" dirty="0">
                <a:solidFill>
                  <a:srgbClr val="1E2A5A"/>
                </a:solidFill>
                <a:latin typeface="Calibri"/>
                <a:ea typeface="맑은 고딕"/>
                <a:cs typeface="Calibri"/>
              </a:rPr>
              <a:t>1.  </a:t>
            </a:r>
            <a:r>
              <a:rPr lang="ko-KR" altLang="en-US" sz="1700" b="1" dirty="0">
                <a:solidFill>
                  <a:srgbClr val="1F2328"/>
                </a:solidFill>
                <a:latin typeface="맑은 고딕"/>
                <a:ea typeface="맑은 고딕"/>
                <a:cs typeface="맑은 고딕"/>
              </a:rPr>
              <a:t>그리고 그는 덧붙였다. "흠, 제가 살 수도 있을 것 같아요. 우리 집에 있는 탁자 다리가 부러졌거든요. 당신의 탁자 다리를 잘라서 제 탁자에 붙일 수 있겠어요."</a:t>
            </a:r>
            <a:endParaRPr lang="ko-KR" sz="1700"/>
          </a:p>
        </p:txBody>
      </p:sp>
      <p:sp>
        <p:nvSpPr>
          <p:cNvPr id="9" name="ex_1"/>
          <p:cNvSpPr txBox="1"/>
          <p:nvPr/>
        </p:nvSpPr>
        <p:spPr>
          <a:xfrm>
            <a:off x="457200" y="1655318"/>
            <a:ext cx="11274552" cy="761238"/>
          </a:xfrm>
          <a:prstGeom prst="rect">
            <a:avLst/>
          </a:prstGeom>
          <a:noFill/>
        </p:spPr>
        <p:txBody>
          <a:bodyPr wrap="square" lIns="228600" tIns="54864" rIns="228600" bIns="54864" anchor="t" rtlCol="0">
            <a:noAutofit/>
          </a:bodyPr>
          <a:lstStyle/>
          <a:p>
            <a:pPr algn="l">
              <a:lnSpc>
                <a:spcPts val="2565"/>
              </a:lnSpc>
              <a:spcBef>
                <a:spcPts val="0"/>
              </a:spcBef>
              <a:spcAft>
                <a:spcPts val="0"/>
              </a:spcAft>
              <a:buNone/>
            </a:pPr>
            <a:r>
              <a:rPr lang="en-US" altLang="en-US" sz="1900" b="0" dirty="0">
                <a:solidFill>
                  <a:srgbClr val="1F2328"/>
                </a:solidFill>
                <a:latin typeface="Calibri"/>
                <a:ea typeface="맑은 고딕"/>
                <a:cs typeface="Calibri"/>
              </a:rPr>
              <a:t>He then added, "Hmm,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buy it</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I think</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I may</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of my table</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are broken</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The legs</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at home</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can cut off</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the legs of your table</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I</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 and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to mine."</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them</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attach</a:t>
            </a:r>
            <a:r>
              <a:rPr lang="en-US" altLang="en-US" sz="1900" b="1" dirty="0">
                <a:solidFill>
                  <a:srgbClr val="1E2A5A"/>
                </a:solidFill>
                <a:latin typeface="Calibri"/>
                <a:ea typeface="맑은 고딕"/>
                <a:cs typeface="Calibri"/>
              </a:rPr>
              <a:t>)</a:t>
            </a:r>
            <a:endParaRPr lang="ko-KR" sz="1900"/>
          </a:p>
        </p:txBody>
      </p:sp>
      <p:sp>
        <p:nvSpPr>
          <p:cNvPr id="10" name="rv_ans_1"/>
          <p:cNvSpPr txBox="1"/>
          <p:nvPr/>
        </p:nvSpPr>
        <p:spPr>
          <a:xfrm>
            <a:off x="594360" y="2453132"/>
            <a:ext cx="11000232" cy="737108"/>
          </a:xfrm>
          <a:prstGeom prst="rect">
            <a:avLst/>
          </a:prstGeom>
          <a:solidFill>
            <a:srgbClr val="FFF3C4"/>
          </a:solidFill>
        </p:spPr>
        <p:txBody>
          <a:bodyPr wrap="square" lIns="137160" tIns="54864" rIns="137160" bIns="54864" anchor="t" rtlCol="0">
            <a:noAutofit/>
          </a:bodyPr>
          <a:lstStyle/>
          <a:p>
            <a:pPr algn="l">
              <a:lnSpc>
                <a:spcPts val="2470"/>
              </a:lnSpc>
              <a:spcBef>
                <a:spcPts val="0"/>
              </a:spcBef>
              <a:spcAft>
                <a:spcPts val="0"/>
              </a:spcAft>
              <a:buNone/>
            </a:pPr>
            <a:r>
              <a:rPr lang="en-US" altLang="en-US" sz="1900" b="1" dirty="0">
                <a:solidFill>
                  <a:srgbClr val="C00000"/>
                </a:solidFill>
                <a:latin typeface="Calibri"/>
                <a:ea typeface="맑은 고딕"/>
                <a:cs typeface="Calibri"/>
              </a:rPr>
              <a:t>→  </a:t>
            </a:r>
            <a:r>
              <a:rPr lang="en-US" altLang="en-US" sz="1900" b="1" dirty="0">
                <a:solidFill>
                  <a:srgbClr val="C00000"/>
                </a:solidFill>
                <a:latin typeface="Calibri"/>
                <a:ea typeface="맑은 고딕"/>
                <a:cs typeface="Calibri"/>
              </a:rPr>
              <a:t>He then added, "Hmm, I think I may buy it. The legs of my table at home are broken. I can cut off the legs of your table and attach them to mine."</a:t>
            </a:r>
            <a:endParaRPr lang="ko-KR" sz="1900"/>
          </a:p>
        </p:txBody>
      </p:sp>
      <p:sp>
        <p:nvSpPr>
          <p:cNvPr id="11" name="item_card_2"/>
          <p:cNvSpPr/>
          <p:nvPr/>
        </p:nvSpPr>
        <p:spPr>
          <a:xfrm>
            <a:off x="457200" y="3318256"/>
            <a:ext cx="11274552" cy="2257552"/>
          </a:xfrm>
          <a:prstGeom prst="roundRect">
            <a:avLst>
              <a:gd name="adj" fmla="val 6000"/>
            </a:avLst>
          </a:prstGeom>
          <a:solidFill>
            <a:srgbClr val="F3F5F9"/>
          </a:solidFill>
          <a:ln w="12700">
            <a:solidFill>
              <a:srgbClr val="D9DFEA"/>
            </a:solidFill>
          </a:ln>
        </p:spPr>
        <p:txBody>
          <a:bodyPr rtlCol="0" anchor="ctr"/>
          <a:lstStyle/>
          <a:p>
            <a:pPr algn="ctr"/>
          </a:p>
        </p:txBody>
      </p:sp>
      <p:sp>
        <p:nvSpPr>
          <p:cNvPr id="12" name="kor_2"/>
          <p:cNvSpPr txBox="1"/>
          <p:nvPr/>
        </p:nvSpPr>
        <p:spPr>
          <a:xfrm>
            <a:off x="457200" y="3427984"/>
            <a:ext cx="11274552" cy="649478"/>
          </a:xfrm>
          <a:prstGeom prst="rect">
            <a:avLst/>
          </a:prstGeom>
          <a:noFill/>
        </p:spPr>
        <p:txBody>
          <a:bodyPr wrap="square" lIns="228600" tIns="54864" rIns="228600" bIns="54864" anchor="t" rtlCol="0">
            <a:noAutofit/>
          </a:bodyPr>
          <a:lstStyle/>
          <a:p>
            <a:pPr algn="l">
              <a:lnSpc>
                <a:spcPts val="2125"/>
              </a:lnSpc>
              <a:spcBef>
                <a:spcPts val="0"/>
              </a:spcBef>
              <a:spcAft>
                <a:spcPts val="0"/>
              </a:spcAft>
              <a:buNone/>
            </a:pPr>
            <a:r>
              <a:rPr lang="en-US" altLang="en-US" sz="1700" b="1" dirty="0">
                <a:solidFill>
                  <a:srgbClr val="1E2A5A"/>
                </a:solidFill>
                <a:latin typeface="Calibri"/>
                <a:ea typeface="맑은 고딕"/>
                <a:cs typeface="Calibri"/>
              </a:rPr>
              <a:t>2.  </a:t>
            </a:r>
            <a:r>
              <a:rPr lang="ko-KR" altLang="en-US" sz="1700" b="1" dirty="0">
                <a:solidFill>
                  <a:srgbClr val="1F2328"/>
                </a:solidFill>
                <a:latin typeface="맑은 고딕"/>
                <a:ea typeface="맑은 고딕"/>
                <a:cs typeface="맑은 고딕"/>
              </a:rPr>
              <a:t>"얼마를 줄 건가요?" Rummins가 물었다. "유감이지만 많이 줄 수는 없어요. 이것은 복제품일 뿐이니까요." Boggis 씨가 말했다.</a:t>
            </a:r>
            <a:endParaRPr lang="ko-KR" sz="1700"/>
          </a:p>
        </p:txBody>
      </p:sp>
      <p:sp>
        <p:nvSpPr>
          <p:cNvPr id="13" name="ex_2"/>
          <p:cNvSpPr txBox="1"/>
          <p:nvPr/>
        </p:nvSpPr>
        <p:spPr>
          <a:xfrm>
            <a:off x="457200" y="4022598"/>
            <a:ext cx="11274552" cy="761238"/>
          </a:xfrm>
          <a:prstGeom prst="rect">
            <a:avLst/>
          </a:prstGeom>
          <a:noFill/>
        </p:spPr>
        <p:txBody>
          <a:bodyPr wrap="square" lIns="228600" tIns="54864" rIns="228600" bIns="54864" anchor="t" rtlCol="0">
            <a:noAutofit/>
          </a:bodyPr>
          <a:lstStyle/>
          <a:p>
            <a:pPr algn="l">
              <a:lnSpc>
                <a:spcPts val="2565"/>
              </a:lnSpc>
              <a:spcBef>
                <a:spcPts val="0"/>
              </a:spcBef>
              <a:spcAft>
                <a:spcPts val="0"/>
              </a:spcAft>
              <a:buNone/>
            </a:pPr>
            <a:r>
              <a:rPr lang="en-US" altLang="en-US" sz="1900" b="0" dirty="0">
                <a:solidFill>
                  <a:srgbClr val="1F2328"/>
                </a:solidFill>
                <a:latin typeface="Calibri"/>
                <a:ea typeface="맑은 고딕"/>
                <a:cs typeface="Calibri"/>
              </a:rPr>
              <a:t>"How much?" Rummins asked. "Not much, I’m afraid.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a reproduction,"</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This is</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just</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 said Mr. Boggis.</a:t>
            </a:r>
            <a:endParaRPr lang="ko-KR" sz="1900"/>
          </a:p>
        </p:txBody>
      </p:sp>
      <p:sp>
        <p:nvSpPr>
          <p:cNvPr id="14" name="rv_ans_2"/>
          <p:cNvSpPr txBox="1"/>
          <p:nvPr/>
        </p:nvSpPr>
        <p:spPr>
          <a:xfrm>
            <a:off x="594360" y="4820412"/>
            <a:ext cx="11000232" cy="737108"/>
          </a:xfrm>
          <a:prstGeom prst="rect">
            <a:avLst/>
          </a:prstGeom>
          <a:solidFill>
            <a:srgbClr val="FFF3C4"/>
          </a:solidFill>
        </p:spPr>
        <p:txBody>
          <a:bodyPr wrap="square" lIns="137160" tIns="54864" rIns="137160" bIns="54864" anchor="t" rtlCol="0">
            <a:noAutofit/>
          </a:bodyPr>
          <a:lstStyle/>
          <a:p>
            <a:pPr algn="l">
              <a:lnSpc>
                <a:spcPts val="2470"/>
              </a:lnSpc>
              <a:spcBef>
                <a:spcPts val="0"/>
              </a:spcBef>
              <a:spcAft>
                <a:spcPts val="0"/>
              </a:spcAft>
              <a:buNone/>
            </a:pPr>
            <a:r>
              <a:rPr lang="en-US" altLang="en-US" sz="1900" b="1" dirty="0">
                <a:solidFill>
                  <a:srgbClr val="C00000"/>
                </a:solidFill>
                <a:latin typeface="Calibri"/>
                <a:ea typeface="맑은 고딕"/>
                <a:cs typeface="Calibri"/>
              </a:rPr>
              <a:t>→  </a:t>
            </a:r>
            <a:r>
              <a:rPr lang="en-US" altLang="en-US" sz="1900" b="1" dirty="0">
                <a:solidFill>
                  <a:srgbClr val="C00000"/>
                </a:solidFill>
                <a:latin typeface="Calibri"/>
                <a:ea typeface="맑은 고딕"/>
                <a:cs typeface="Calibri"/>
              </a:rPr>
              <a:t>"How much?" Rummins asked. "Not much, I’m afraid. This is just a reproduction," said Mr. Boggis.</a:t>
            </a:r>
            <a:endParaRPr lang="ko-KR" sz="19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25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2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4" grpId="0" animBg="1"/>
    </p:bldLst>
  </p:timing>
</p:sld>
</file>

<file path=ppt/slides/slide1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8000"/>
            </a:avLst>
          </a:prstGeom>
          <a:solidFill>
            <a:srgbClr val="1E2A5A"/>
          </a:solidFill>
          <a:ln>
            <a:noFill/>
          </a:ln>
        </p:spPr>
        <p:txBody>
          <a:bodyPr wrap="square" lIns="45720" tIns="18288" rIns="45720" bIns="18288" anchor="ctr" rtlCol="0">
            <a:noAutofit/>
          </a:bodyPr>
          <a:lstStyle/>
          <a:p>
            <a:pPr algn="ctr">
              <a:lnSpc>
                <a:spcPts val="2000"/>
              </a:lnSpc>
              <a:spcBef>
                <a:spcPts val="0"/>
              </a:spcBef>
              <a:spcAft>
                <a:spcPts val="0"/>
              </a:spcAft>
              <a:buNone/>
            </a:pPr>
            <a:r>
              <a:rPr lang="en-US" altLang="en-US" sz="1700" b="1" dirty="0">
                <a:solidFill>
                  <a:srgbClr val="FFFFFF"/>
                </a:solidFill>
                <a:latin typeface="Calibri"/>
                <a:ea typeface="맑은 고딕"/>
                <a:cs typeface="Calibri"/>
              </a:rPr>
              <a:t>L6-3</a:t>
            </a:r>
            <a:endParaRPr lang="ko-KR" sz="1700"/>
          </a:p>
        </p:txBody>
      </p:sp>
      <p:sp>
        <p:nvSpPr>
          <p:cNvPr id="3" name="hdr_chip"/>
          <p:cNvSpPr/>
          <p:nvPr/>
        </p:nvSpPr>
        <p:spPr>
          <a:xfrm>
            <a:off x="1755648" y="274320"/>
            <a:ext cx="1371600" cy="493776"/>
          </a:xfrm>
          <a:prstGeom prst="roundRect">
            <a:avLst>
              <a:gd name="adj" fmla="val 8000"/>
            </a:avLst>
          </a:prstGeom>
          <a:solidFill>
            <a:srgbClr val="E6EAF4"/>
          </a:solidFill>
          <a:ln>
            <a:noFill/>
          </a:ln>
        </p:spPr>
        <p:txBody>
          <a:bodyPr wrap="square" lIns="27432" tIns="18288" rIns="27432" bIns="18288" anchor="ctr" rtlCol="0">
            <a:noAutofit/>
          </a:bodyPr>
          <a:lstStyle/>
          <a:p>
            <a:pPr algn="ctr">
              <a:lnSpc>
                <a:spcPts val="1700"/>
              </a:lnSpc>
              <a:spcBef>
                <a:spcPts val="0"/>
              </a:spcBef>
              <a:spcAft>
                <a:spcPts val="0"/>
              </a:spcAft>
              <a:buNone/>
            </a:pPr>
            <a:r>
              <a:rPr lang="ko-KR" altLang="en-US" sz="1400" b="1" dirty="0">
                <a:solidFill>
                  <a:srgbClr val="1E2A5A"/>
                </a:solidFill>
                <a:latin typeface="맑은 고딕"/>
                <a:ea typeface="맑은 고딕"/>
                <a:cs typeface="맑은 고딕"/>
              </a:rPr>
              <a:t>PART 6 · 9</a:t>
            </a:r>
            <a:endParaRPr lang="ko-KR" sz="1400"/>
          </a:p>
        </p:txBody>
      </p:sp>
      <p:sp>
        <p:nvSpPr>
          <p:cNvPr id="4" name="hdr_q"/>
          <p:cNvSpPr txBox="1"/>
          <p:nvPr/>
        </p:nvSpPr>
        <p:spPr>
          <a:xfrm>
            <a:off x="3246120" y="246888"/>
            <a:ext cx="8485632" cy="548640"/>
          </a:xfrm>
          <a:prstGeom prst="rect">
            <a:avLst/>
          </a:prstGeom>
          <a:noFill/>
        </p:spPr>
        <p:txBody>
          <a:bodyPr wrap="square" lIns="109728" tIns="54864" rIns="109728" bIns="54864" anchor="ctr" rtlCol="0">
            <a:noAutofit/>
          </a:bodyPr>
          <a:lstStyle/>
          <a:p>
            <a:pPr algn="l">
              <a:lnSpc>
                <a:spcPts val="2400"/>
              </a:lnSpc>
              <a:spcBef>
                <a:spcPts val="0"/>
              </a:spcBef>
              <a:spcAft>
                <a:spcPts val="0"/>
              </a:spcAft>
              <a:buNone/>
            </a:pPr>
            <a:r>
              <a:rPr lang="ko-KR" altLang="en-US" sz="2000" b="1" dirty="0">
                <a:solidFill>
                  <a:srgbClr val="1F2328"/>
                </a:solidFill>
                <a:latin typeface="맑은 고딕"/>
                <a:ea typeface="맑은 고딕"/>
                <a:cs typeface="맑은 고딕"/>
              </a:rPr>
              <a:t>우리말에 맞게 (  ) 안의 말을 바르게 배열하시오.</a:t>
            </a:r>
            <a:endParaRPr lang="ko-KR" sz="2000"/>
          </a:p>
        </p:txBody>
      </p:sp>
      <p:sp>
        <p:nvSpPr>
          <p:cNvPr id="5" name="ftr_exam"/>
          <p:cNvSpPr txBox="1"/>
          <p:nvPr/>
        </p:nvSpPr>
        <p:spPr>
          <a:xfrm>
            <a:off x="457200" y="6519672"/>
            <a:ext cx="5669280" cy="256032"/>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6</a:t>
            </a:r>
            <a:endParaRPr lang="ko-KR" sz="1000"/>
          </a:p>
        </p:txBody>
      </p:sp>
      <p:sp>
        <p:nvSpPr>
          <p:cNvPr id="6" name="ftr_hint"/>
          <p:cNvSpPr txBox="1"/>
          <p:nvPr/>
        </p:nvSpPr>
        <p:spPr>
          <a:xfrm>
            <a:off x="5971032" y="6519672"/>
            <a:ext cx="5760720" cy="256032"/>
          </a:xfrm>
          <a:prstGeom prst="rect">
            <a:avLst/>
          </a:prstGeom>
          <a:noFill/>
        </p:spPr>
        <p:txBody>
          <a:bodyPr wrap="square" lIns="0" tIns="0" rIns="0" bIns="0" anchor="t" rtlCol="0">
            <a:noAutofit/>
          </a:bodyPr>
          <a:lstStyle/>
          <a:p>
            <a:pPr algn="r">
              <a:lnSpc>
                <a:spcPts val="1200"/>
              </a:lnSpc>
              <a:spcBef>
                <a:spcPts val="0"/>
              </a:spcBef>
              <a:spcAft>
                <a:spcPts val="0"/>
              </a:spcAft>
              <a:buNone/>
            </a:pPr>
            <a:r>
              <a:rPr lang="ko-KR" altLang="en-US" sz="1000" b="0" dirty="0">
                <a:solidFill>
                  <a:srgbClr val="7A808C"/>
                </a:solidFill>
                <a:latin typeface="맑은 고딕"/>
                <a:ea typeface="맑은 고딕"/>
                <a:cs typeface="맑은 고딕"/>
              </a:rPr>
              <a:t>클릭 ① 완성 문장(정답) 공개</a:t>
            </a:r>
            <a:endParaRPr lang="ko-KR" sz="1000"/>
          </a:p>
        </p:txBody>
      </p:sp>
      <p:sp>
        <p:nvSpPr>
          <p:cNvPr id="7" name="item_card_1"/>
          <p:cNvSpPr/>
          <p:nvPr/>
        </p:nvSpPr>
        <p:spPr>
          <a:xfrm>
            <a:off x="457200" y="950976"/>
            <a:ext cx="11274552" cy="2257552"/>
          </a:xfrm>
          <a:prstGeom prst="roundRect">
            <a:avLst>
              <a:gd name="adj" fmla="val 6000"/>
            </a:avLst>
          </a:prstGeom>
          <a:solidFill>
            <a:srgbClr val="F3F5F9"/>
          </a:solidFill>
          <a:ln w="12700">
            <a:solidFill>
              <a:srgbClr val="D9DFEA"/>
            </a:solidFill>
          </a:ln>
        </p:spPr>
        <p:txBody>
          <a:bodyPr rtlCol="0" anchor="ctr"/>
          <a:lstStyle/>
          <a:p>
            <a:pPr algn="ctr"/>
          </a:p>
        </p:txBody>
      </p:sp>
      <p:sp>
        <p:nvSpPr>
          <p:cNvPr id="8" name="kor_1"/>
          <p:cNvSpPr txBox="1"/>
          <p:nvPr/>
        </p:nvSpPr>
        <p:spPr>
          <a:xfrm>
            <a:off x="457200" y="1060704"/>
            <a:ext cx="11274552" cy="649478"/>
          </a:xfrm>
          <a:prstGeom prst="rect">
            <a:avLst/>
          </a:prstGeom>
          <a:noFill/>
        </p:spPr>
        <p:txBody>
          <a:bodyPr wrap="square" lIns="228600" tIns="54864" rIns="228600" bIns="54864" anchor="t" rtlCol="0">
            <a:noAutofit/>
          </a:bodyPr>
          <a:lstStyle/>
          <a:p>
            <a:pPr algn="l">
              <a:lnSpc>
                <a:spcPts val="2125"/>
              </a:lnSpc>
              <a:spcBef>
                <a:spcPts val="0"/>
              </a:spcBef>
              <a:spcAft>
                <a:spcPts val="0"/>
              </a:spcAft>
              <a:buNone/>
            </a:pPr>
            <a:r>
              <a:rPr lang="en-US" altLang="en-US" sz="1700" b="1" dirty="0">
                <a:solidFill>
                  <a:srgbClr val="1E2A5A"/>
                </a:solidFill>
                <a:latin typeface="Calibri"/>
                <a:ea typeface="맑은 고딕"/>
                <a:cs typeface="Calibri"/>
              </a:rPr>
              <a:t>3.  </a:t>
            </a:r>
            <a:r>
              <a:rPr lang="ko-KR" altLang="en-US" sz="1700" b="1" dirty="0">
                <a:solidFill>
                  <a:srgbClr val="1F2328"/>
                </a:solidFill>
                <a:latin typeface="맑은 고딕"/>
                <a:ea typeface="맑은 고딕"/>
                <a:cs typeface="맑은 고딕"/>
              </a:rPr>
              <a:t>"그래서 얼마를 줄 수 있는데요?" "10파운드요." "10이요? 그것보다는 가치가 더 나가요." "15는 어때요?" "50으로 하지요." "음, 30이요. 이게 제 마지막 제안입니다."</a:t>
            </a:r>
            <a:endParaRPr lang="ko-KR" sz="1700"/>
          </a:p>
        </p:txBody>
      </p:sp>
      <p:sp>
        <p:nvSpPr>
          <p:cNvPr id="9" name="ex_1"/>
          <p:cNvSpPr txBox="1"/>
          <p:nvPr/>
        </p:nvSpPr>
        <p:spPr>
          <a:xfrm>
            <a:off x="457200" y="1655318"/>
            <a:ext cx="11274552" cy="761238"/>
          </a:xfrm>
          <a:prstGeom prst="rect">
            <a:avLst/>
          </a:prstGeom>
          <a:noFill/>
        </p:spPr>
        <p:txBody>
          <a:bodyPr wrap="square" lIns="228600" tIns="54864" rIns="228600" bIns="54864" anchor="t" rtlCol="0">
            <a:noAutofit/>
          </a:bodyPr>
          <a:lstStyle/>
          <a:p>
            <a:pPr algn="l">
              <a:lnSpc>
                <a:spcPts val="2565"/>
              </a:lnSpc>
              <a:spcBef>
                <a:spcPts val="0"/>
              </a:spcBef>
              <a:spcAft>
                <a:spcPts val="0"/>
              </a:spcAft>
              <a:buNone/>
            </a:pPr>
            <a:r>
              <a:rPr lang="en-US" altLang="en-US" sz="1900" b="0" dirty="0">
                <a:solidFill>
                  <a:srgbClr val="1F2328"/>
                </a:solidFill>
                <a:latin typeface="Calibri"/>
                <a:ea typeface="맑은 고딕"/>
                <a:cs typeface="Calibri"/>
              </a:rPr>
              <a:t>"So how much?" "Ten pounds." "Ten?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It’s worth</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than that."</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more</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 "How about fifteen?" "Make it fifty." "Well, thirty.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my</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final offer."</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This is</a:t>
            </a:r>
            <a:r>
              <a:rPr lang="en-US" altLang="en-US" sz="1900" b="1" dirty="0">
                <a:solidFill>
                  <a:srgbClr val="1E2A5A"/>
                </a:solidFill>
                <a:latin typeface="Calibri"/>
                <a:ea typeface="맑은 고딕"/>
                <a:cs typeface="Calibri"/>
              </a:rPr>
              <a:t>)</a:t>
            </a:r>
            <a:endParaRPr lang="ko-KR" sz="1900"/>
          </a:p>
        </p:txBody>
      </p:sp>
      <p:sp>
        <p:nvSpPr>
          <p:cNvPr id="10" name="rv_ans_1"/>
          <p:cNvSpPr txBox="1"/>
          <p:nvPr/>
        </p:nvSpPr>
        <p:spPr>
          <a:xfrm>
            <a:off x="594360" y="2453132"/>
            <a:ext cx="11000232" cy="737108"/>
          </a:xfrm>
          <a:prstGeom prst="rect">
            <a:avLst/>
          </a:prstGeom>
          <a:solidFill>
            <a:srgbClr val="FFF3C4"/>
          </a:solidFill>
        </p:spPr>
        <p:txBody>
          <a:bodyPr wrap="square" lIns="137160" tIns="54864" rIns="137160" bIns="54864" anchor="t" rtlCol="0">
            <a:noAutofit/>
          </a:bodyPr>
          <a:lstStyle/>
          <a:p>
            <a:pPr algn="l">
              <a:lnSpc>
                <a:spcPts val="2470"/>
              </a:lnSpc>
              <a:spcBef>
                <a:spcPts val="0"/>
              </a:spcBef>
              <a:spcAft>
                <a:spcPts val="0"/>
              </a:spcAft>
              <a:buNone/>
            </a:pPr>
            <a:r>
              <a:rPr lang="en-US" altLang="en-US" sz="1900" b="1" dirty="0">
                <a:solidFill>
                  <a:srgbClr val="C00000"/>
                </a:solidFill>
                <a:latin typeface="Calibri"/>
                <a:ea typeface="맑은 고딕"/>
                <a:cs typeface="Calibri"/>
              </a:rPr>
              <a:t>→  </a:t>
            </a:r>
            <a:r>
              <a:rPr lang="en-US" altLang="en-US" sz="1900" b="1" dirty="0">
                <a:solidFill>
                  <a:srgbClr val="C00000"/>
                </a:solidFill>
                <a:latin typeface="Calibri"/>
                <a:ea typeface="맑은 고딕"/>
                <a:cs typeface="Calibri"/>
              </a:rPr>
              <a:t>"So how much?" "Ten pounds." "Ten? It’s worth more than that." "How about fifteen?" "Make it fifty." "Well, thirty. This is my final offer."</a:t>
            </a:r>
            <a:endParaRPr lang="ko-KR" sz="1900"/>
          </a:p>
        </p:txBody>
      </p:sp>
      <p:sp>
        <p:nvSpPr>
          <p:cNvPr id="11" name="item_card_2"/>
          <p:cNvSpPr/>
          <p:nvPr/>
        </p:nvSpPr>
        <p:spPr>
          <a:xfrm>
            <a:off x="457200" y="3318256"/>
            <a:ext cx="11274552" cy="2257552"/>
          </a:xfrm>
          <a:prstGeom prst="roundRect">
            <a:avLst>
              <a:gd name="adj" fmla="val 6000"/>
            </a:avLst>
          </a:prstGeom>
          <a:solidFill>
            <a:srgbClr val="F3F5F9"/>
          </a:solidFill>
          <a:ln w="12700">
            <a:solidFill>
              <a:srgbClr val="D9DFEA"/>
            </a:solidFill>
          </a:ln>
        </p:spPr>
        <p:txBody>
          <a:bodyPr rtlCol="0" anchor="ctr"/>
          <a:lstStyle/>
          <a:p>
            <a:pPr algn="ctr"/>
          </a:p>
        </p:txBody>
      </p:sp>
      <p:sp>
        <p:nvSpPr>
          <p:cNvPr id="12" name="kor_2"/>
          <p:cNvSpPr txBox="1"/>
          <p:nvPr/>
        </p:nvSpPr>
        <p:spPr>
          <a:xfrm>
            <a:off x="457200" y="3427984"/>
            <a:ext cx="11274552" cy="649478"/>
          </a:xfrm>
          <a:prstGeom prst="rect">
            <a:avLst/>
          </a:prstGeom>
          <a:noFill/>
        </p:spPr>
        <p:txBody>
          <a:bodyPr wrap="square" lIns="228600" tIns="54864" rIns="228600" bIns="54864" anchor="t" rtlCol="0">
            <a:noAutofit/>
          </a:bodyPr>
          <a:lstStyle/>
          <a:p>
            <a:pPr algn="l">
              <a:lnSpc>
                <a:spcPts val="2125"/>
              </a:lnSpc>
              <a:spcBef>
                <a:spcPts val="0"/>
              </a:spcBef>
              <a:spcAft>
                <a:spcPts val="0"/>
              </a:spcAft>
              <a:buNone/>
            </a:pPr>
            <a:r>
              <a:rPr lang="en-US" altLang="en-US" sz="1700" b="1" dirty="0">
                <a:solidFill>
                  <a:srgbClr val="1E2A5A"/>
                </a:solidFill>
                <a:latin typeface="Calibri"/>
                <a:ea typeface="맑은 고딕"/>
                <a:cs typeface="Calibri"/>
              </a:rPr>
              <a:t>4.  </a:t>
            </a:r>
            <a:r>
              <a:rPr lang="ko-KR" altLang="en-US" sz="1700" b="1" dirty="0">
                <a:solidFill>
                  <a:srgbClr val="1F2328"/>
                </a:solidFill>
                <a:latin typeface="맑은 고딕"/>
                <a:ea typeface="맑은 고딕"/>
                <a:cs typeface="맑은 고딕"/>
              </a:rPr>
              <a:t>"그러죠, 이건 당신 겁니다. 그런데 이걸 어떻게 가져갈 건가요? 이게 차에 들어가지 않을 텐데요!"</a:t>
            </a:r>
            <a:endParaRPr lang="ko-KR" sz="1700"/>
          </a:p>
        </p:txBody>
      </p:sp>
      <p:sp>
        <p:nvSpPr>
          <p:cNvPr id="13" name="ex_2"/>
          <p:cNvSpPr txBox="1"/>
          <p:nvPr/>
        </p:nvSpPr>
        <p:spPr>
          <a:xfrm>
            <a:off x="457200" y="4022598"/>
            <a:ext cx="11274552" cy="761238"/>
          </a:xfrm>
          <a:prstGeom prst="rect">
            <a:avLst/>
          </a:prstGeom>
          <a:noFill/>
        </p:spPr>
        <p:txBody>
          <a:bodyPr wrap="square" lIns="228600" tIns="54864" rIns="228600" bIns="54864" anchor="t" rtlCol="0">
            <a:noAutofit/>
          </a:bodyPr>
          <a:lstStyle/>
          <a:p>
            <a:pPr algn="l">
              <a:lnSpc>
                <a:spcPts val="2565"/>
              </a:lnSpc>
              <a:spcBef>
                <a:spcPts val="0"/>
              </a:spcBef>
              <a:spcAft>
                <a:spcPts val="0"/>
              </a:spcAft>
              <a:buNone/>
            </a:pPr>
            <a:r>
              <a:rPr lang="en-US" altLang="en-US" sz="1900" b="0" dirty="0">
                <a:solidFill>
                  <a:srgbClr val="1F2328"/>
                </a:solidFill>
                <a:latin typeface="Calibri"/>
                <a:ea typeface="맑은 고딕"/>
                <a:cs typeface="Calibri"/>
              </a:rPr>
              <a:t>"OK, it’s yours, but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take it?</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how</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are you going to</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will not go</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in a car!"</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This thing</a:t>
            </a:r>
            <a:r>
              <a:rPr lang="en-US" altLang="en-US" sz="1900" b="1" dirty="0">
                <a:solidFill>
                  <a:srgbClr val="1E2A5A"/>
                </a:solidFill>
                <a:latin typeface="Calibri"/>
                <a:ea typeface="맑은 고딕"/>
                <a:cs typeface="Calibri"/>
              </a:rPr>
              <a:t>)</a:t>
            </a:r>
            <a:endParaRPr lang="ko-KR" sz="1900"/>
          </a:p>
        </p:txBody>
      </p:sp>
      <p:sp>
        <p:nvSpPr>
          <p:cNvPr id="14" name="rv_ans_2"/>
          <p:cNvSpPr txBox="1"/>
          <p:nvPr/>
        </p:nvSpPr>
        <p:spPr>
          <a:xfrm>
            <a:off x="594360" y="4820412"/>
            <a:ext cx="11000232" cy="737108"/>
          </a:xfrm>
          <a:prstGeom prst="rect">
            <a:avLst/>
          </a:prstGeom>
          <a:solidFill>
            <a:srgbClr val="FFF3C4"/>
          </a:solidFill>
        </p:spPr>
        <p:txBody>
          <a:bodyPr wrap="square" lIns="137160" tIns="54864" rIns="137160" bIns="54864" anchor="t" rtlCol="0">
            <a:noAutofit/>
          </a:bodyPr>
          <a:lstStyle/>
          <a:p>
            <a:pPr algn="l">
              <a:lnSpc>
                <a:spcPts val="2470"/>
              </a:lnSpc>
              <a:spcBef>
                <a:spcPts val="0"/>
              </a:spcBef>
              <a:spcAft>
                <a:spcPts val="0"/>
              </a:spcAft>
              <a:buNone/>
            </a:pPr>
            <a:r>
              <a:rPr lang="en-US" altLang="en-US" sz="1900" b="1" dirty="0">
                <a:solidFill>
                  <a:srgbClr val="C00000"/>
                </a:solidFill>
                <a:latin typeface="Calibri"/>
                <a:ea typeface="맑은 고딕"/>
                <a:cs typeface="Calibri"/>
              </a:rPr>
              <a:t>→  </a:t>
            </a:r>
            <a:r>
              <a:rPr lang="en-US" altLang="en-US" sz="1900" b="1" dirty="0">
                <a:solidFill>
                  <a:srgbClr val="C00000"/>
                </a:solidFill>
                <a:latin typeface="Calibri"/>
                <a:ea typeface="맑은 고딕"/>
                <a:cs typeface="Calibri"/>
              </a:rPr>
              <a:t>"OK, it’s yours, but how are you going to take it? This thing will not go in a car!"</a:t>
            </a:r>
            <a:endParaRPr lang="ko-KR" sz="19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25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2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4" grpId="0" animBg="1"/>
    </p:bldLst>
  </p:timing>
</p:sld>
</file>

<file path=ppt/slides/slide1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8000"/>
            </a:avLst>
          </a:prstGeom>
          <a:solidFill>
            <a:srgbClr val="1E2A5A"/>
          </a:solidFill>
          <a:ln>
            <a:noFill/>
          </a:ln>
        </p:spPr>
        <p:txBody>
          <a:bodyPr wrap="square" lIns="45720" tIns="18288" rIns="45720" bIns="18288" anchor="ctr" rtlCol="0">
            <a:noAutofit/>
          </a:bodyPr>
          <a:lstStyle/>
          <a:p>
            <a:pPr algn="ctr">
              <a:lnSpc>
                <a:spcPts val="2000"/>
              </a:lnSpc>
              <a:spcBef>
                <a:spcPts val="0"/>
              </a:spcBef>
              <a:spcAft>
                <a:spcPts val="0"/>
              </a:spcAft>
              <a:buNone/>
            </a:pPr>
            <a:r>
              <a:rPr lang="en-US" altLang="en-US" sz="1700" b="1" dirty="0">
                <a:solidFill>
                  <a:srgbClr val="FFFFFF"/>
                </a:solidFill>
                <a:latin typeface="Calibri"/>
                <a:ea typeface="맑은 고딕"/>
                <a:cs typeface="Calibri"/>
              </a:rPr>
              <a:t>L6-3</a:t>
            </a:r>
            <a:endParaRPr lang="ko-KR" sz="1700"/>
          </a:p>
        </p:txBody>
      </p:sp>
      <p:sp>
        <p:nvSpPr>
          <p:cNvPr id="3" name="hdr_chip"/>
          <p:cNvSpPr/>
          <p:nvPr/>
        </p:nvSpPr>
        <p:spPr>
          <a:xfrm>
            <a:off x="1755648" y="274320"/>
            <a:ext cx="1371600" cy="493776"/>
          </a:xfrm>
          <a:prstGeom prst="roundRect">
            <a:avLst>
              <a:gd name="adj" fmla="val 8000"/>
            </a:avLst>
          </a:prstGeom>
          <a:solidFill>
            <a:srgbClr val="E6EAF4"/>
          </a:solidFill>
          <a:ln>
            <a:noFill/>
          </a:ln>
        </p:spPr>
        <p:txBody>
          <a:bodyPr wrap="square" lIns="27432" tIns="18288" rIns="27432" bIns="18288" anchor="ctr" rtlCol="0">
            <a:noAutofit/>
          </a:bodyPr>
          <a:lstStyle/>
          <a:p>
            <a:pPr algn="ctr">
              <a:lnSpc>
                <a:spcPts val="1700"/>
              </a:lnSpc>
              <a:spcBef>
                <a:spcPts val="0"/>
              </a:spcBef>
              <a:spcAft>
                <a:spcPts val="0"/>
              </a:spcAft>
              <a:buNone/>
            </a:pPr>
            <a:r>
              <a:rPr lang="ko-KR" altLang="en-US" sz="1400" b="1" dirty="0">
                <a:solidFill>
                  <a:srgbClr val="1E2A5A"/>
                </a:solidFill>
                <a:latin typeface="맑은 고딕"/>
                <a:ea typeface="맑은 고딕"/>
                <a:cs typeface="맑은 고딕"/>
              </a:rPr>
              <a:t>PART 6 · 10</a:t>
            </a:r>
            <a:endParaRPr lang="ko-KR" sz="1400"/>
          </a:p>
        </p:txBody>
      </p:sp>
      <p:sp>
        <p:nvSpPr>
          <p:cNvPr id="4" name="hdr_q"/>
          <p:cNvSpPr txBox="1"/>
          <p:nvPr/>
        </p:nvSpPr>
        <p:spPr>
          <a:xfrm>
            <a:off x="3246120" y="246888"/>
            <a:ext cx="8485632" cy="548640"/>
          </a:xfrm>
          <a:prstGeom prst="rect">
            <a:avLst/>
          </a:prstGeom>
          <a:noFill/>
        </p:spPr>
        <p:txBody>
          <a:bodyPr wrap="square" lIns="109728" tIns="54864" rIns="109728" bIns="54864" anchor="ctr" rtlCol="0">
            <a:noAutofit/>
          </a:bodyPr>
          <a:lstStyle/>
          <a:p>
            <a:pPr algn="l">
              <a:lnSpc>
                <a:spcPts val="2400"/>
              </a:lnSpc>
              <a:spcBef>
                <a:spcPts val="0"/>
              </a:spcBef>
              <a:spcAft>
                <a:spcPts val="0"/>
              </a:spcAft>
              <a:buNone/>
            </a:pPr>
            <a:r>
              <a:rPr lang="ko-KR" altLang="en-US" sz="2000" b="1" dirty="0">
                <a:solidFill>
                  <a:srgbClr val="1F2328"/>
                </a:solidFill>
                <a:latin typeface="맑은 고딕"/>
                <a:ea typeface="맑은 고딕"/>
                <a:cs typeface="맑은 고딕"/>
              </a:rPr>
              <a:t>우리말에 맞게 (  ) 안의 말을 바르게 배열하시오.</a:t>
            </a:r>
            <a:endParaRPr lang="ko-KR" sz="2000"/>
          </a:p>
        </p:txBody>
      </p:sp>
      <p:sp>
        <p:nvSpPr>
          <p:cNvPr id="5" name="ftr_exam"/>
          <p:cNvSpPr txBox="1"/>
          <p:nvPr/>
        </p:nvSpPr>
        <p:spPr>
          <a:xfrm>
            <a:off x="457200" y="6519672"/>
            <a:ext cx="5669280" cy="256032"/>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6</a:t>
            </a:r>
            <a:endParaRPr lang="ko-KR" sz="1000"/>
          </a:p>
        </p:txBody>
      </p:sp>
      <p:sp>
        <p:nvSpPr>
          <p:cNvPr id="6" name="ftr_hint"/>
          <p:cNvSpPr txBox="1"/>
          <p:nvPr/>
        </p:nvSpPr>
        <p:spPr>
          <a:xfrm>
            <a:off x="5971032" y="6519672"/>
            <a:ext cx="5760720" cy="256032"/>
          </a:xfrm>
          <a:prstGeom prst="rect">
            <a:avLst/>
          </a:prstGeom>
          <a:noFill/>
        </p:spPr>
        <p:txBody>
          <a:bodyPr wrap="square" lIns="0" tIns="0" rIns="0" bIns="0" anchor="t" rtlCol="0">
            <a:noAutofit/>
          </a:bodyPr>
          <a:lstStyle/>
          <a:p>
            <a:pPr algn="r">
              <a:lnSpc>
                <a:spcPts val="1200"/>
              </a:lnSpc>
              <a:spcBef>
                <a:spcPts val="0"/>
              </a:spcBef>
              <a:spcAft>
                <a:spcPts val="0"/>
              </a:spcAft>
              <a:buNone/>
            </a:pPr>
            <a:r>
              <a:rPr lang="ko-KR" altLang="en-US" sz="1000" b="0" dirty="0">
                <a:solidFill>
                  <a:srgbClr val="7A808C"/>
                </a:solidFill>
                <a:latin typeface="맑은 고딕"/>
                <a:ea typeface="맑은 고딕"/>
                <a:cs typeface="맑은 고딕"/>
              </a:rPr>
              <a:t>클릭 ① 완성 문장(정답) 공개</a:t>
            </a:r>
            <a:endParaRPr lang="ko-KR" sz="1000"/>
          </a:p>
        </p:txBody>
      </p:sp>
      <p:sp>
        <p:nvSpPr>
          <p:cNvPr id="7" name="item_card_1"/>
          <p:cNvSpPr/>
          <p:nvPr/>
        </p:nvSpPr>
        <p:spPr>
          <a:xfrm>
            <a:off x="457200" y="950976"/>
            <a:ext cx="11274552" cy="1348232"/>
          </a:xfrm>
          <a:prstGeom prst="roundRect">
            <a:avLst>
              <a:gd name="adj" fmla="val 6000"/>
            </a:avLst>
          </a:prstGeom>
          <a:solidFill>
            <a:srgbClr val="F3F5F9"/>
          </a:solidFill>
          <a:ln w="12700">
            <a:solidFill>
              <a:srgbClr val="D9DFEA"/>
            </a:solidFill>
          </a:ln>
        </p:spPr>
        <p:txBody>
          <a:bodyPr rtlCol="0" anchor="ctr"/>
          <a:lstStyle/>
          <a:p>
            <a:pPr algn="ctr"/>
          </a:p>
        </p:txBody>
      </p:sp>
      <p:sp>
        <p:nvSpPr>
          <p:cNvPr id="8" name="kor_1"/>
          <p:cNvSpPr txBox="1"/>
          <p:nvPr/>
        </p:nvSpPr>
        <p:spPr>
          <a:xfrm>
            <a:off x="457200" y="1060704"/>
            <a:ext cx="11274552" cy="379603"/>
          </a:xfrm>
          <a:prstGeom prst="rect">
            <a:avLst/>
          </a:prstGeom>
          <a:noFill/>
        </p:spPr>
        <p:txBody>
          <a:bodyPr wrap="square" lIns="228600" tIns="54864" rIns="228600" bIns="54864" anchor="t" rtlCol="0">
            <a:noAutofit/>
          </a:bodyPr>
          <a:lstStyle/>
          <a:p>
            <a:pPr algn="l">
              <a:lnSpc>
                <a:spcPts val="2125"/>
              </a:lnSpc>
              <a:spcBef>
                <a:spcPts val="0"/>
              </a:spcBef>
              <a:spcAft>
                <a:spcPts val="0"/>
              </a:spcAft>
              <a:buNone/>
            </a:pPr>
            <a:r>
              <a:rPr lang="en-US" altLang="en-US" sz="1700" b="1" dirty="0">
                <a:solidFill>
                  <a:srgbClr val="1E2A5A"/>
                </a:solidFill>
                <a:latin typeface="Calibri"/>
                <a:ea typeface="맑은 고딕"/>
                <a:cs typeface="Calibri"/>
              </a:rPr>
              <a:t>5.  </a:t>
            </a:r>
            <a:r>
              <a:rPr lang="ko-KR" altLang="en-US" sz="1700" b="1" dirty="0">
                <a:solidFill>
                  <a:srgbClr val="1F2328"/>
                </a:solidFill>
                <a:latin typeface="맑은 고딕"/>
                <a:ea typeface="맑은 고딕"/>
                <a:cs typeface="맑은 고딕"/>
              </a:rPr>
              <a:t>"한번 보죠." Boggis 씨가 말하고는 자신의 차를 가지러 밖으로 나갔다.</a:t>
            </a:r>
            <a:endParaRPr lang="ko-KR" sz="1700"/>
          </a:p>
        </p:txBody>
      </p:sp>
      <p:sp>
        <p:nvSpPr>
          <p:cNvPr id="9" name="ex_1"/>
          <p:cNvSpPr txBox="1"/>
          <p:nvPr/>
        </p:nvSpPr>
        <p:spPr>
          <a:xfrm>
            <a:off x="457200" y="1385443"/>
            <a:ext cx="11274552" cy="435483"/>
          </a:xfrm>
          <a:prstGeom prst="rect">
            <a:avLst/>
          </a:prstGeom>
          <a:noFill/>
        </p:spPr>
        <p:txBody>
          <a:bodyPr wrap="square" lIns="228600" tIns="54864" rIns="228600" bIns="54864" anchor="t" rtlCol="0">
            <a:noAutofit/>
          </a:bodyPr>
          <a:lstStyle/>
          <a:p>
            <a:pPr algn="l">
              <a:lnSpc>
                <a:spcPts val="2565"/>
              </a:lnSpc>
              <a:spcBef>
                <a:spcPts val="0"/>
              </a:spcBef>
              <a:spcAft>
                <a:spcPts val="0"/>
              </a:spcAft>
              <a:buNone/>
            </a:pPr>
            <a:r>
              <a:rPr lang="en-US" altLang="en-US" sz="1900" b="0" dirty="0">
                <a:solidFill>
                  <a:srgbClr val="1F2328"/>
                </a:solidFill>
                <a:latin typeface="Calibri"/>
                <a:ea typeface="맑은 고딕"/>
                <a:cs typeface="Calibri"/>
              </a:rPr>
              <a:t>"We’ll see,"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said</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Mr. Boggis</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 and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to bring</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went out</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his car</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a:t>
            </a:r>
            <a:endParaRPr lang="ko-KR" sz="1900"/>
          </a:p>
        </p:txBody>
      </p:sp>
      <p:sp>
        <p:nvSpPr>
          <p:cNvPr id="10" name="rv_ans_1"/>
          <p:cNvSpPr txBox="1"/>
          <p:nvPr/>
        </p:nvSpPr>
        <p:spPr>
          <a:xfrm>
            <a:off x="594360" y="1857502"/>
            <a:ext cx="11000232" cy="423418"/>
          </a:xfrm>
          <a:prstGeom prst="rect">
            <a:avLst/>
          </a:prstGeom>
          <a:solidFill>
            <a:srgbClr val="FFF3C4"/>
          </a:solidFill>
        </p:spPr>
        <p:txBody>
          <a:bodyPr wrap="square" lIns="137160" tIns="54864" rIns="137160" bIns="54864" anchor="t" rtlCol="0">
            <a:noAutofit/>
          </a:bodyPr>
          <a:lstStyle/>
          <a:p>
            <a:pPr algn="l">
              <a:lnSpc>
                <a:spcPts val="2470"/>
              </a:lnSpc>
              <a:spcBef>
                <a:spcPts val="0"/>
              </a:spcBef>
              <a:spcAft>
                <a:spcPts val="0"/>
              </a:spcAft>
              <a:buNone/>
            </a:pPr>
            <a:r>
              <a:rPr lang="en-US" altLang="en-US" sz="1900" b="1" dirty="0">
                <a:solidFill>
                  <a:srgbClr val="C00000"/>
                </a:solidFill>
                <a:latin typeface="Calibri"/>
                <a:ea typeface="맑은 고딕"/>
                <a:cs typeface="Calibri"/>
              </a:rPr>
              <a:t>→  </a:t>
            </a:r>
            <a:r>
              <a:rPr lang="en-US" altLang="en-US" sz="1900" b="1" dirty="0">
                <a:solidFill>
                  <a:srgbClr val="C00000"/>
                </a:solidFill>
                <a:latin typeface="Calibri"/>
                <a:ea typeface="맑은 고딕"/>
                <a:cs typeface="Calibri"/>
              </a:rPr>
              <a:t>"We’ll see," Mr. Boggis said and went out to bring his car.</a:t>
            </a:r>
            <a:endParaRPr lang="ko-KR" sz="1900"/>
          </a:p>
        </p:txBody>
      </p:sp>
      <p:sp>
        <p:nvSpPr>
          <p:cNvPr id="11" name="item_card_2"/>
          <p:cNvSpPr/>
          <p:nvPr/>
        </p:nvSpPr>
        <p:spPr>
          <a:xfrm>
            <a:off x="457200" y="2408936"/>
            <a:ext cx="11274552" cy="1348232"/>
          </a:xfrm>
          <a:prstGeom prst="roundRect">
            <a:avLst>
              <a:gd name="adj" fmla="val 6000"/>
            </a:avLst>
          </a:prstGeom>
          <a:solidFill>
            <a:srgbClr val="F3F5F9"/>
          </a:solidFill>
          <a:ln w="12700">
            <a:solidFill>
              <a:srgbClr val="D9DFEA"/>
            </a:solidFill>
          </a:ln>
        </p:spPr>
        <p:txBody>
          <a:bodyPr rtlCol="0" anchor="ctr"/>
          <a:lstStyle/>
          <a:p>
            <a:pPr algn="ctr"/>
          </a:p>
        </p:txBody>
      </p:sp>
      <p:sp>
        <p:nvSpPr>
          <p:cNvPr id="12" name="kor_2"/>
          <p:cNvSpPr txBox="1"/>
          <p:nvPr/>
        </p:nvSpPr>
        <p:spPr>
          <a:xfrm>
            <a:off x="457200" y="2518664"/>
            <a:ext cx="11274552" cy="379603"/>
          </a:xfrm>
          <a:prstGeom prst="rect">
            <a:avLst/>
          </a:prstGeom>
          <a:noFill/>
        </p:spPr>
        <p:txBody>
          <a:bodyPr wrap="square" lIns="228600" tIns="54864" rIns="228600" bIns="54864" anchor="t" rtlCol="0">
            <a:noAutofit/>
          </a:bodyPr>
          <a:lstStyle/>
          <a:p>
            <a:pPr algn="l">
              <a:lnSpc>
                <a:spcPts val="2125"/>
              </a:lnSpc>
              <a:spcBef>
                <a:spcPts val="0"/>
              </a:spcBef>
              <a:spcAft>
                <a:spcPts val="0"/>
              </a:spcAft>
              <a:buNone/>
            </a:pPr>
            <a:r>
              <a:rPr lang="en-US" altLang="en-US" sz="1700" b="1" dirty="0">
                <a:solidFill>
                  <a:srgbClr val="1E2A5A"/>
                </a:solidFill>
                <a:latin typeface="Calibri"/>
                <a:ea typeface="맑은 고딕"/>
                <a:cs typeface="Calibri"/>
              </a:rPr>
              <a:t>6.  </a:t>
            </a:r>
            <a:r>
              <a:rPr lang="ko-KR" altLang="en-US" sz="1700" b="1" dirty="0">
                <a:solidFill>
                  <a:srgbClr val="1F2328"/>
                </a:solidFill>
                <a:latin typeface="맑은 고딕"/>
                <a:ea typeface="맑은 고딕"/>
                <a:cs typeface="맑은 고딕"/>
              </a:rPr>
              <a:t>차로 가는 길에 Boggis 씨는 싱글벙글하지 않을 수 없었다.</a:t>
            </a:r>
            <a:endParaRPr lang="ko-KR" sz="1700"/>
          </a:p>
        </p:txBody>
      </p:sp>
      <p:sp>
        <p:nvSpPr>
          <p:cNvPr id="13" name="ex_2"/>
          <p:cNvSpPr txBox="1"/>
          <p:nvPr/>
        </p:nvSpPr>
        <p:spPr>
          <a:xfrm>
            <a:off x="457200" y="2843403"/>
            <a:ext cx="11274552" cy="435483"/>
          </a:xfrm>
          <a:prstGeom prst="rect">
            <a:avLst/>
          </a:prstGeom>
          <a:noFill/>
        </p:spPr>
        <p:txBody>
          <a:bodyPr wrap="square" lIns="228600" tIns="54864" rIns="228600" bIns="54864" anchor="t" rtlCol="0">
            <a:noAutofit/>
          </a:bodyPr>
          <a:lstStyle/>
          <a:p>
            <a:pPr algn="l">
              <a:lnSpc>
                <a:spcPts val="2565"/>
              </a:lnSpc>
              <a:spcBef>
                <a:spcPts val="0"/>
              </a:spcBef>
              <a:spcAft>
                <a:spcPts val="0"/>
              </a:spcAft>
              <a:buNone/>
            </a:pP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to the car</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On his way</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couldn’t help</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smiling</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Mr. Boggis</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a:t>
            </a:r>
            <a:endParaRPr lang="ko-KR" sz="1900"/>
          </a:p>
        </p:txBody>
      </p:sp>
      <p:sp>
        <p:nvSpPr>
          <p:cNvPr id="14" name="rv_ans_2"/>
          <p:cNvSpPr txBox="1"/>
          <p:nvPr/>
        </p:nvSpPr>
        <p:spPr>
          <a:xfrm>
            <a:off x="594360" y="3315462"/>
            <a:ext cx="11000232" cy="423418"/>
          </a:xfrm>
          <a:prstGeom prst="rect">
            <a:avLst/>
          </a:prstGeom>
          <a:solidFill>
            <a:srgbClr val="FFF3C4"/>
          </a:solidFill>
        </p:spPr>
        <p:txBody>
          <a:bodyPr wrap="square" lIns="137160" tIns="54864" rIns="137160" bIns="54864" anchor="t" rtlCol="0">
            <a:noAutofit/>
          </a:bodyPr>
          <a:lstStyle/>
          <a:p>
            <a:pPr algn="l">
              <a:lnSpc>
                <a:spcPts val="2470"/>
              </a:lnSpc>
              <a:spcBef>
                <a:spcPts val="0"/>
              </a:spcBef>
              <a:spcAft>
                <a:spcPts val="0"/>
              </a:spcAft>
              <a:buNone/>
            </a:pPr>
            <a:r>
              <a:rPr lang="en-US" altLang="en-US" sz="1900" b="1" dirty="0">
                <a:solidFill>
                  <a:srgbClr val="C00000"/>
                </a:solidFill>
                <a:latin typeface="Calibri"/>
                <a:ea typeface="맑은 고딕"/>
                <a:cs typeface="Calibri"/>
              </a:rPr>
              <a:t>→  </a:t>
            </a:r>
            <a:r>
              <a:rPr lang="en-US" altLang="en-US" sz="1900" b="1" dirty="0">
                <a:solidFill>
                  <a:srgbClr val="C00000"/>
                </a:solidFill>
                <a:latin typeface="Calibri"/>
                <a:ea typeface="맑은 고딕"/>
                <a:cs typeface="Calibri"/>
              </a:rPr>
              <a:t>On his way to the car, Mr. Boggis couldn’t help smiling.</a:t>
            </a:r>
            <a:endParaRPr lang="ko-KR" sz="1900"/>
          </a:p>
        </p:txBody>
      </p:sp>
      <p:sp>
        <p:nvSpPr>
          <p:cNvPr id="15" name="item_card_3"/>
          <p:cNvSpPr/>
          <p:nvPr/>
        </p:nvSpPr>
        <p:spPr>
          <a:xfrm>
            <a:off x="457200" y="3866896"/>
            <a:ext cx="11274552" cy="1661922"/>
          </a:xfrm>
          <a:prstGeom prst="roundRect">
            <a:avLst>
              <a:gd name="adj" fmla="val 6000"/>
            </a:avLst>
          </a:prstGeom>
          <a:solidFill>
            <a:srgbClr val="F3F5F9"/>
          </a:solidFill>
          <a:ln w="12700">
            <a:solidFill>
              <a:srgbClr val="D9DFEA"/>
            </a:solidFill>
          </a:ln>
        </p:spPr>
        <p:txBody>
          <a:bodyPr rtlCol="0" anchor="ctr"/>
          <a:lstStyle/>
          <a:p>
            <a:pPr algn="ctr"/>
          </a:p>
        </p:txBody>
      </p:sp>
      <p:sp>
        <p:nvSpPr>
          <p:cNvPr id="16" name="kor_3"/>
          <p:cNvSpPr txBox="1"/>
          <p:nvPr/>
        </p:nvSpPr>
        <p:spPr>
          <a:xfrm>
            <a:off x="457200" y="3976624"/>
            <a:ext cx="11274552" cy="379603"/>
          </a:xfrm>
          <a:prstGeom prst="rect">
            <a:avLst/>
          </a:prstGeom>
          <a:noFill/>
        </p:spPr>
        <p:txBody>
          <a:bodyPr wrap="square" lIns="228600" tIns="54864" rIns="228600" bIns="54864" anchor="t" rtlCol="0">
            <a:noAutofit/>
          </a:bodyPr>
          <a:lstStyle/>
          <a:p>
            <a:pPr algn="l">
              <a:lnSpc>
                <a:spcPts val="2125"/>
              </a:lnSpc>
              <a:spcBef>
                <a:spcPts val="0"/>
              </a:spcBef>
              <a:spcAft>
                <a:spcPts val="0"/>
              </a:spcAft>
              <a:buNone/>
            </a:pPr>
            <a:r>
              <a:rPr lang="en-US" altLang="en-US" sz="1700" b="1" dirty="0">
                <a:solidFill>
                  <a:srgbClr val="1E2A5A"/>
                </a:solidFill>
                <a:latin typeface="Calibri"/>
                <a:ea typeface="맑은 고딕"/>
                <a:cs typeface="Calibri"/>
              </a:rPr>
              <a:t>7.  </a:t>
            </a:r>
            <a:r>
              <a:rPr lang="ko-KR" altLang="en-US" sz="1700" b="1" dirty="0">
                <a:solidFill>
                  <a:srgbClr val="1F2328"/>
                </a:solidFill>
                <a:latin typeface="맑은 고딕"/>
                <a:ea typeface="맑은 고딕"/>
                <a:cs typeface="맑은 고딕"/>
              </a:rPr>
              <a:t>그 탁자는 모든 판매상이 꿈꾸는 것이었다. 그는 자신의 행운을 믿을 수가 없었다.</a:t>
            </a:r>
            <a:endParaRPr lang="ko-KR" sz="1700"/>
          </a:p>
        </p:txBody>
      </p:sp>
      <p:sp>
        <p:nvSpPr>
          <p:cNvPr id="17" name="ex_3"/>
          <p:cNvSpPr txBox="1"/>
          <p:nvPr/>
        </p:nvSpPr>
        <p:spPr>
          <a:xfrm>
            <a:off x="457200" y="4301363"/>
            <a:ext cx="11274552" cy="435483"/>
          </a:xfrm>
          <a:prstGeom prst="rect">
            <a:avLst/>
          </a:prstGeom>
          <a:noFill/>
        </p:spPr>
        <p:txBody>
          <a:bodyPr wrap="square" lIns="228600" tIns="54864" rIns="228600" bIns="54864" anchor="t" rtlCol="0">
            <a:noAutofit/>
          </a:bodyPr>
          <a:lstStyle/>
          <a:p>
            <a:pPr algn="l">
              <a:lnSpc>
                <a:spcPts val="2565"/>
              </a:lnSpc>
              <a:spcBef>
                <a:spcPts val="0"/>
              </a:spcBef>
              <a:spcAft>
                <a:spcPts val="0"/>
              </a:spcAft>
              <a:buNone/>
            </a:pP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dreamed of</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was</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every dealer</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what</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The table</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his luck</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couldn’t believe</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He</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a:t>
            </a:r>
            <a:endParaRPr lang="ko-KR" sz="1900"/>
          </a:p>
        </p:txBody>
      </p:sp>
      <p:sp>
        <p:nvSpPr>
          <p:cNvPr id="18" name="rv_ans_3"/>
          <p:cNvSpPr txBox="1"/>
          <p:nvPr/>
        </p:nvSpPr>
        <p:spPr>
          <a:xfrm>
            <a:off x="594360" y="4773422"/>
            <a:ext cx="11000232" cy="737108"/>
          </a:xfrm>
          <a:prstGeom prst="rect">
            <a:avLst/>
          </a:prstGeom>
          <a:solidFill>
            <a:srgbClr val="FFF3C4"/>
          </a:solidFill>
        </p:spPr>
        <p:txBody>
          <a:bodyPr wrap="square" lIns="137160" tIns="54864" rIns="137160" bIns="54864" anchor="t" rtlCol="0">
            <a:noAutofit/>
          </a:bodyPr>
          <a:lstStyle/>
          <a:p>
            <a:pPr algn="l">
              <a:lnSpc>
                <a:spcPts val="2470"/>
              </a:lnSpc>
              <a:spcBef>
                <a:spcPts val="0"/>
              </a:spcBef>
              <a:spcAft>
                <a:spcPts val="0"/>
              </a:spcAft>
              <a:buNone/>
            </a:pPr>
            <a:r>
              <a:rPr lang="en-US" altLang="en-US" sz="1900" b="1" dirty="0">
                <a:solidFill>
                  <a:srgbClr val="C00000"/>
                </a:solidFill>
                <a:latin typeface="Calibri"/>
                <a:ea typeface="맑은 고딕"/>
                <a:cs typeface="Calibri"/>
              </a:rPr>
              <a:t>→  </a:t>
            </a:r>
            <a:r>
              <a:rPr lang="en-US" altLang="en-US" sz="1900" b="1" dirty="0">
                <a:solidFill>
                  <a:srgbClr val="C00000"/>
                </a:solidFill>
                <a:latin typeface="Calibri"/>
                <a:ea typeface="맑은 고딕"/>
                <a:cs typeface="Calibri"/>
              </a:rPr>
              <a:t>The table was what every dealer dreamed of. He couldn’t believe his luck.</a:t>
            </a:r>
            <a:endParaRPr lang="ko-KR" sz="19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25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250"/>
                                        <p:tgtEl>
                                          <p:spTgt spid="1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8"/>
                                        </p:tgtEl>
                                        <p:attrNameLst>
                                          <p:attrName>style.visibility</p:attrName>
                                        </p:attrNameLst>
                                      </p:cBhvr>
                                      <p:to>
                                        <p:strVal val="visible"/>
                                      </p:to>
                                    </p:set>
                                    <p:animEffect transition="in" filter="fade">
                                      <p:cBhvr>
                                        <p:cTn id="13"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4" grpId="0" animBg="1"/>
      <p:bldP spid="18" grpId="0" animBg="1"/>
    </p:bldLst>
  </p:timing>
</p:sld>
</file>

<file path=ppt/slides/slide1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8000"/>
            </a:avLst>
          </a:prstGeom>
          <a:solidFill>
            <a:srgbClr val="1E2A5A"/>
          </a:solidFill>
          <a:ln>
            <a:noFill/>
          </a:ln>
        </p:spPr>
        <p:txBody>
          <a:bodyPr wrap="square" lIns="45720" tIns="18288" rIns="45720" bIns="18288" anchor="ctr" rtlCol="0">
            <a:noAutofit/>
          </a:bodyPr>
          <a:lstStyle/>
          <a:p>
            <a:pPr algn="ctr">
              <a:lnSpc>
                <a:spcPts val="2000"/>
              </a:lnSpc>
              <a:spcBef>
                <a:spcPts val="0"/>
              </a:spcBef>
              <a:spcAft>
                <a:spcPts val="0"/>
              </a:spcAft>
              <a:buNone/>
            </a:pPr>
            <a:r>
              <a:rPr lang="en-US" altLang="en-US" sz="1700" b="1" dirty="0">
                <a:solidFill>
                  <a:srgbClr val="FFFFFF"/>
                </a:solidFill>
                <a:latin typeface="Calibri"/>
                <a:ea typeface="맑은 고딕"/>
                <a:cs typeface="Calibri"/>
              </a:rPr>
              <a:t>L6-3</a:t>
            </a:r>
            <a:endParaRPr lang="ko-KR" sz="1700"/>
          </a:p>
        </p:txBody>
      </p:sp>
      <p:sp>
        <p:nvSpPr>
          <p:cNvPr id="3" name="hdr_chip"/>
          <p:cNvSpPr/>
          <p:nvPr/>
        </p:nvSpPr>
        <p:spPr>
          <a:xfrm>
            <a:off x="1755648" y="274320"/>
            <a:ext cx="1371600" cy="493776"/>
          </a:xfrm>
          <a:prstGeom prst="roundRect">
            <a:avLst>
              <a:gd name="adj" fmla="val 8000"/>
            </a:avLst>
          </a:prstGeom>
          <a:solidFill>
            <a:srgbClr val="E6EAF4"/>
          </a:solidFill>
          <a:ln>
            <a:noFill/>
          </a:ln>
        </p:spPr>
        <p:txBody>
          <a:bodyPr wrap="square" lIns="27432" tIns="18288" rIns="27432" bIns="18288" anchor="ctr" rtlCol="0">
            <a:noAutofit/>
          </a:bodyPr>
          <a:lstStyle/>
          <a:p>
            <a:pPr algn="ctr">
              <a:lnSpc>
                <a:spcPts val="1700"/>
              </a:lnSpc>
              <a:spcBef>
                <a:spcPts val="0"/>
              </a:spcBef>
              <a:spcAft>
                <a:spcPts val="0"/>
              </a:spcAft>
              <a:buNone/>
            </a:pPr>
            <a:r>
              <a:rPr lang="ko-KR" altLang="en-US" sz="1400" b="1" dirty="0">
                <a:solidFill>
                  <a:srgbClr val="1E2A5A"/>
                </a:solidFill>
                <a:latin typeface="맑은 고딕"/>
                <a:ea typeface="맑은 고딕"/>
                <a:cs typeface="맑은 고딕"/>
              </a:rPr>
              <a:t>PART 6 · 11</a:t>
            </a:r>
            <a:endParaRPr lang="ko-KR" sz="1400"/>
          </a:p>
        </p:txBody>
      </p:sp>
      <p:sp>
        <p:nvSpPr>
          <p:cNvPr id="4" name="hdr_q"/>
          <p:cNvSpPr txBox="1"/>
          <p:nvPr/>
        </p:nvSpPr>
        <p:spPr>
          <a:xfrm>
            <a:off x="3246120" y="246888"/>
            <a:ext cx="8485632" cy="548640"/>
          </a:xfrm>
          <a:prstGeom prst="rect">
            <a:avLst/>
          </a:prstGeom>
          <a:noFill/>
        </p:spPr>
        <p:txBody>
          <a:bodyPr wrap="square" lIns="109728" tIns="54864" rIns="109728" bIns="54864" anchor="ctr" rtlCol="0">
            <a:noAutofit/>
          </a:bodyPr>
          <a:lstStyle/>
          <a:p>
            <a:pPr algn="l">
              <a:lnSpc>
                <a:spcPts val="2400"/>
              </a:lnSpc>
              <a:spcBef>
                <a:spcPts val="0"/>
              </a:spcBef>
              <a:spcAft>
                <a:spcPts val="0"/>
              </a:spcAft>
              <a:buNone/>
            </a:pPr>
            <a:r>
              <a:rPr lang="ko-KR" altLang="en-US" sz="2000" b="1" dirty="0">
                <a:solidFill>
                  <a:srgbClr val="1F2328"/>
                </a:solidFill>
                <a:latin typeface="맑은 고딕"/>
                <a:ea typeface="맑은 고딕"/>
                <a:cs typeface="맑은 고딕"/>
              </a:rPr>
              <a:t>우리말에 맞게 (  ) 안의 말을 바르게 배열하시오.</a:t>
            </a:r>
            <a:endParaRPr lang="ko-KR" sz="2000"/>
          </a:p>
        </p:txBody>
      </p:sp>
      <p:sp>
        <p:nvSpPr>
          <p:cNvPr id="5" name="ftr_exam"/>
          <p:cNvSpPr txBox="1"/>
          <p:nvPr/>
        </p:nvSpPr>
        <p:spPr>
          <a:xfrm>
            <a:off x="457200" y="6519672"/>
            <a:ext cx="5669280" cy="256032"/>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6</a:t>
            </a:r>
            <a:endParaRPr lang="ko-KR" sz="1000"/>
          </a:p>
        </p:txBody>
      </p:sp>
      <p:sp>
        <p:nvSpPr>
          <p:cNvPr id="6" name="ftr_hint"/>
          <p:cNvSpPr txBox="1"/>
          <p:nvPr/>
        </p:nvSpPr>
        <p:spPr>
          <a:xfrm>
            <a:off x="5971032" y="6519672"/>
            <a:ext cx="5760720" cy="256032"/>
          </a:xfrm>
          <a:prstGeom prst="rect">
            <a:avLst/>
          </a:prstGeom>
          <a:noFill/>
        </p:spPr>
        <p:txBody>
          <a:bodyPr wrap="square" lIns="0" tIns="0" rIns="0" bIns="0" anchor="t" rtlCol="0">
            <a:noAutofit/>
          </a:bodyPr>
          <a:lstStyle/>
          <a:p>
            <a:pPr algn="r">
              <a:lnSpc>
                <a:spcPts val="1200"/>
              </a:lnSpc>
              <a:spcBef>
                <a:spcPts val="0"/>
              </a:spcBef>
              <a:spcAft>
                <a:spcPts val="0"/>
              </a:spcAft>
              <a:buNone/>
            </a:pPr>
            <a:r>
              <a:rPr lang="ko-KR" altLang="en-US" sz="1000" b="0" dirty="0">
                <a:solidFill>
                  <a:srgbClr val="7A808C"/>
                </a:solidFill>
                <a:latin typeface="맑은 고딕"/>
                <a:ea typeface="맑은 고딕"/>
                <a:cs typeface="맑은 고딕"/>
              </a:rPr>
              <a:t>클릭 ① 완성 문장(정답) 공개</a:t>
            </a:r>
            <a:endParaRPr lang="ko-KR" sz="1000"/>
          </a:p>
        </p:txBody>
      </p:sp>
      <p:sp>
        <p:nvSpPr>
          <p:cNvPr id="7" name="item_card_1"/>
          <p:cNvSpPr/>
          <p:nvPr/>
        </p:nvSpPr>
        <p:spPr>
          <a:xfrm>
            <a:off x="457200" y="950976"/>
            <a:ext cx="11274552" cy="2257552"/>
          </a:xfrm>
          <a:prstGeom prst="roundRect">
            <a:avLst>
              <a:gd name="adj" fmla="val 6000"/>
            </a:avLst>
          </a:prstGeom>
          <a:solidFill>
            <a:srgbClr val="F3F5F9"/>
          </a:solidFill>
          <a:ln w="12700">
            <a:solidFill>
              <a:srgbClr val="D9DFEA"/>
            </a:solidFill>
          </a:ln>
        </p:spPr>
        <p:txBody>
          <a:bodyPr rtlCol="0" anchor="ctr"/>
          <a:lstStyle/>
          <a:p>
            <a:pPr algn="ctr"/>
          </a:p>
        </p:txBody>
      </p:sp>
      <p:sp>
        <p:nvSpPr>
          <p:cNvPr id="8" name="kor_1"/>
          <p:cNvSpPr txBox="1"/>
          <p:nvPr/>
        </p:nvSpPr>
        <p:spPr>
          <a:xfrm>
            <a:off x="457200" y="1060704"/>
            <a:ext cx="11274552" cy="649478"/>
          </a:xfrm>
          <a:prstGeom prst="rect">
            <a:avLst/>
          </a:prstGeom>
          <a:noFill/>
        </p:spPr>
        <p:txBody>
          <a:bodyPr wrap="square" lIns="228600" tIns="54864" rIns="228600" bIns="54864" anchor="t" rtlCol="0">
            <a:noAutofit/>
          </a:bodyPr>
          <a:lstStyle/>
          <a:p>
            <a:pPr algn="l">
              <a:lnSpc>
                <a:spcPts val="2125"/>
              </a:lnSpc>
              <a:spcBef>
                <a:spcPts val="0"/>
              </a:spcBef>
              <a:spcAft>
                <a:spcPts val="0"/>
              </a:spcAft>
              <a:buNone/>
            </a:pPr>
            <a:r>
              <a:rPr lang="en-US" altLang="en-US" sz="1700" b="1" dirty="0">
                <a:solidFill>
                  <a:srgbClr val="1E2A5A"/>
                </a:solidFill>
                <a:latin typeface="Calibri"/>
                <a:ea typeface="맑은 고딕"/>
                <a:cs typeface="Calibri"/>
              </a:rPr>
              <a:t>8.  </a:t>
            </a:r>
            <a:r>
              <a:rPr lang="ko-KR" altLang="en-US" sz="1700" b="1" dirty="0">
                <a:solidFill>
                  <a:srgbClr val="1F2328"/>
                </a:solidFill>
                <a:latin typeface="맑은 고딕"/>
                <a:ea typeface="맑은 고딕"/>
                <a:cs typeface="맑은 고딕"/>
              </a:rPr>
              <a:t>"아버지, 만약 이게 그의 차에 안 들어가면 어쩌죠? 그가 값을 지불하지 않을 수도 있어요." Bert가 말했다.</a:t>
            </a:r>
            <a:endParaRPr lang="ko-KR" sz="1700"/>
          </a:p>
        </p:txBody>
      </p:sp>
      <p:sp>
        <p:nvSpPr>
          <p:cNvPr id="9" name="ex_1"/>
          <p:cNvSpPr txBox="1"/>
          <p:nvPr/>
        </p:nvSpPr>
        <p:spPr>
          <a:xfrm>
            <a:off x="457200" y="1655318"/>
            <a:ext cx="11274552" cy="761238"/>
          </a:xfrm>
          <a:prstGeom prst="rect">
            <a:avLst/>
          </a:prstGeom>
          <a:noFill/>
        </p:spPr>
        <p:txBody>
          <a:bodyPr wrap="square" lIns="228600" tIns="54864" rIns="228600" bIns="54864" anchor="t" rtlCol="0">
            <a:noAutofit/>
          </a:bodyPr>
          <a:lstStyle/>
          <a:p>
            <a:pPr algn="l">
              <a:lnSpc>
                <a:spcPts val="2565"/>
              </a:lnSpc>
              <a:spcBef>
                <a:spcPts val="0"/>
              </a:spcBef>
              <a:spcAft>
                <a:spcPts val="0"/>
              </a:spcAft>
              <a:buNone/>
            </a:pPr>
            <a:r>
              <a:rPr lang="en-US" altLang="en-US" sz="1900" b="0" dirty="0">
                <a:solidFill>
                  <a:srgbClr val="1F2328"/>
                </a:solidFill>
                <a:latin typeface="Calibri"/>
                <a:ea typeface="맑은 고딕"/>
                <a:cs typeface="Calibri"/>
              </a:rPr>
              <a:t>"Dad,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what if</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this thing</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in his car?</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doesn’t go</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pay you,"</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might not</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He</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 said Bert.</a:t>
            </a:r>
            <a:endParaRPr lang="ko-KR" sz="1900"/>
          </a:p>
        </p:txBody>
      </p:sp>
      <p:sp>
        <p:nvSpPr>
          <p:cNvPr id="10" name="rv_ans_1"/>
          <p:cNvSpPr txBox="1"/>
          <p:nvPr/>
        </p:nvSpPr>
        <p:spPr>
          <a:xfrm>
            <a:off x="594360" y="2453132"/>
            <a:ext cx="11000232" cy="737108"/>
          </a:xfrm>
          <a:prstGeom prst="rect">
            <a:avLst/>
          </a:prstGeom>
          <a:solidFill>
            <a:srgbClr val="FFF3C4"/>
          </a:solidFill>
        </p:spPr>
        <p:txBody>
          <a:bodyPr wrap="square" lIns="137160" tIns="54864" rIns="137160" bIns="54864" anchor="t" rtlCol="0">
            <a:noAutofit/>
          </a:bodyPr>
          <a:lstStyle/>
          <a:p>
            <a:pPr algn="l">
              <a:lnSpc>
                <a:spcPts val="2470"/>
              </a:lnSpc>
              <a:spcBef>
                <a:spcPts val="0"/>
              </a:spcBef>
              <a:spcAft>
                <a:spcPts val="0"/>
              </a:spcAft>
              <a:buNone/>
            </a:pPr>
            <a:r>
              <a:rPr lang="en-US" altLang="en-US" sz="1900" b="1" dirty="0">
                <a:solidFill>
                  <a:srgbClr val="C00000"/>
                </a:solidFill>
                <a:latin typeface="Calibri"/>
                <a:ea typeface="맑은 고딕"/>
                <a:cs typeface="Calibri"/>
              </a:rPr>
              <a:t>→  </a:t>
            </a:r>
            <a:r>
              <a:rPr lang="en-US" altLang="en-US" sz="1900" b="1" dirty="0">
                <a:solidFill>
                  <a:srgbClr val="C00000"/>
                </a:solidFill>
                <a:latin typeface="Calibri"/>
                <a:ea typeface="맑은 고딕"/>
                <a:cs typeface="Calibri"/>
              </a:rPr>
              <a:t>"Dad, what if this thing doesn’t go in his car? He might not pay you," said Bert.</a:t>
            </a:r>
            <a:endParaRPr lang="ko-KR" sz="1900"/>
          </a:p>
        </p:txBody>
      </p:sp>
      <p:sp>
        <p:nvSpPr>
          <p:cNvPr id="11" name="item_card_2"/>
          <p:cNvSpPr/>
          <p:nvPr/>
        </p:nvSpPr>
        <p:spPr>
          <a:xfrm>
            <a:off x="457200" y="3318256"/>
            <a:ext cx="11274552" cy="2257552"/>
          </a:xfrm>
          <a:prstGeom prst="roundRect">
            <a:avLst>
              <a:gd name="adj" fmla="val 6000"/>
            </a:avLst>
          </a:prstGeom>
          <a:solidFill>
            <a:srgbClr val="F3F5F9"/>
          </a:solidFill>
          <a:ln w="12700">
            <a:solidFill>
              <a:srgbClr val="D9DFEA"/>
            </a:solidFill>
          </a:ln>
        </p:spPr>
        <p:txBody>
          <a:bodyPr rtlCol="0" anchor="ctr"/>
          <a:lstStyle/>
          <a:p>
            <a:pPr algn="ctr"/>
          </a:p>
        </p:txBody>
      </p:sp>
      <p:sp>
        <p:nvSpPr>
          <p:cNvPr id="12" name="kor_2"/>
          <p:cNvSpPr txBox="1"/>
          <p:nvPr/>
        </p:nvSpPr>
        <p:spPr>
          <a:xfrm>
            <a:off x="457200" y="3427984"/>
            <a:ext cx="11274552" cy="649478"/>
          </a:xfrm>
          <a:prstGeom prst="rect">
            <a:avLst/>
          </a:prstGeom>
          <a:noFill/>
        </p:spPr>
        <p:txBody>
          <a:bodyPr wrap="square" lIns="228600" tIns="54864" rIns="228600" bIns="54864" anchor="t" rtlCol="0">
            <a:noAutofit/>
          </a:bodyPr>
          <a:lstStyle/>
          <a:p>
            <a:pPr algn="l">
              <a:lnSpc>
                <a:spcPts val="2125"/>
              </a:lnSpc>
              <a:spcBef>
                <a:spcPts val="0"/>
              </a:spcBef>
              <a:spcAft>
                <a:spcPts val="0"/>
              </a:spcAft>
              <a:buNone/>
            </a:pPr>
            <a:r>
              <a:rPr lang="en-US" altLang="en-US" sz="1700" b="1" dirty="0">
                <a:solidFill>
                  <a:srgbClr val="1E2A5A"/>
                </a:solidFill>
                <a:latin typeface="Calibri"/>
                <a:ea typeface="맑은 고딕"/>
                <a:cs typeface="Calibri"/>
              </a:rPr>
              <a:t>9.  </a:t>
            </a:r>
            <a:r>
              <a:rPr lang="ko-KR" altLang="en-US" sz="1700" b="1" dirty="0">
                <a:solidFill>
                  <a:srgbClr val="1F2328"/>
                </a:solidFill>
                <a:latin typeface="맑은 고딕"/>
                <a:ea typeface="맑은 고딕"/>
                <a:cs typeface="맑은 고딕"/>
              </a:rPr>
              <a:t>Rummins는 그때 생각이 떠올랐다. "그가 원하는 건 오직 탁자의 다리뿐이야. 그를 위해서 다리를 자르자." Rummins가 말했다.</a:t>
            </a:r>
            <a:endParaRPr lang="ko-KR" sz="1700"/>
          </a:p>
        </p:txBody>
      </p:sp>
      <p:sp>
        <p:nvSpPr>
          <p:cNvPr id="13" name="ex_2"/>
          <p:cNvSpPr txBox="1"/>
          <p:nvPr/>
        </p:nvSpPr>
        <p:spPr>
          <a:xfrm>
            <a:off x="457200" y="4022598"/>
            <a:ext cx="11274552" cy="761238"/>
          </a:xfrm>
          <a:prstGeom prst="rect">
            <a:avLst/>
          </a:prstGeom>
          <a:noFill/>
        </p:spPr>
        <p:txBody>
          <a:bodyPr wrap="square" lIns="228600" tIns="54864" rIns="228600" bIns="54864" anchor="t" rtlCol="0">
            <a:noAutofit/>
          </a:bodyPr>
          <a:lstStyle/>
          <a:p>
            <a:pPr algn="l">
              <a:lnSpc>
                <a:spcPts val="2565"/>
              </a:lnSpc>
              <a:spcBef>
                <a:spcPts val="0"/>
              </a:spcBef>
              <a:spcAft>
                <a:spcPts val="0"/>
              </a:spcAft>
              <a:buNone/>
            </a:pP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Rummins</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an idea</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had</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then</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only the legs</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What</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is</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he wants</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cut</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the legs</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off</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for him,"</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Let’s</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 said Rummins.</a:t>
            </a:r>
            <a:endParaRPr lang="ko-KR" sz="1900"/>
          </a:p>
        </p:txBody>
      </p:sp>
      <p:sp>
        <p:nvSpPr>
          <p:cNvPr id="14" name="rv_ans_2"/>
          <p:cNvSpPr txBox="1"/>
          <p:nvPr/>
        </p:nvSpPr>
        <p:spPr>
          <a:xfrm>
            <a:off x="594360" y="4820412"/>
            <a:ext cx="11000232" cy="737108"/>
          </a:xfrm>
          <a:prstGeom prst="rect">
            <a:avLst/>
          </a:prstGeom>
          <a:solidFill>
            <a:srgbClr val="FFF3C4"/>
          </a:solidFill>
        </p:spPr>
        <p:txBody>
          <a:bodyPr wrap="square" lIns="137160" tIns="54864" rIns="137160" bIns="54864" anchor="t" rtlCol="0">
            <a:noAutofit/>
          </a:bodyPr>
          <a:lstStyle/>
          <a:p>
            <a:pPr algn="l">
              <a:lnSpc>
                <a:spcPts val="2470"/>
              </a:lnSpc>
              <a:spcBef>
                <a:spcPts val="0"/>
              </a:spcBef>
              <a:spcAft>
                <a:spcPts val="0"/>
              </a:spcAft>
              <a:buNone/>
            </a:pPr>
            <a:r>
              <a:rPr lang="en-US" altLang="en-US" sz="1900" b="1" dirty="0">
                <a:solidFill>
                  <a:srgbClr val="C00000"/>
                </a:solidFill>
                <a:latin typeface="Calibri"/>
                <a:ea typeface="맑은 고딕"/>
                <a:cs typeface="Calibri"/>
              </a:rPr>
              <a:t>→  </a:t>
            </a:r>
            <a:r>
              <a:rPr lang="en-US" altLang="en-US" sz="1900" b="1" dirty="0">
                <a:solidFill>
                  <a:srgbClr val="C00000"/>
                </a:solidFill>
                <a:latin typeface="Calibri"/>
                <a:ea typeface="맑은 고딕"/>
                <a:cs typeface="Calibri"/>
              </a:rPr>
              <a:t>Rummins then had an idea. "What he wants is only the legs. Let’s cut the legs off for him," said Rummins.</a:t>
            </a:r>
            <a:endParaRPr lang="ko-KR" sz="19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25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2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4" grpId="0" animBg="1"/>
    </p:bldLst>
  </p:timing>
</p:sld>
</file>

<file path=ppt/slides/slide1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8000"/>
            </a:avLst>
          </a:prstGeom>
          <a:solidFill>
            <a:srgbClr val="1E2A5A"/>
          </a:solidFill>
          <a:ln>
            <a:noFill/>
          </a:ln>
        </p:spPr>
        <p:txBody>
          <a:bodyPr wrap="square" lIns="45720" tIns="18288" rIns="45720" bIns="18288" anchor="ctr" rtlCol="0">
            <a:noAutofit/>
          </a:bodyPr>
          <a:lstStyle/>
          <a:p>
            <a:pPr algn="ctr">
              <a:lnSpc>
                <a:spcPts val="2000"/>
              </a:lnSpc>
              <a:spcBef>
                <a:spcPts val="0"/>
              </a:spcBef>
              <a:spcAft>
                <a:spcPts val="0"/>
              </a:spcAft>
              <a:buNone/>
            </a:pPr>
            <a:r>
              <a:rPr lang="en-US" altLang="en-US" sz="1700" b="1" dirty="0">
                <a:solidFill>
                  <a:srgbClr val="FFFFFF"/>
                </a:solidFill>
                <a:latin typeface="Calibri"/>
                <a:ea typeface="맑은 고딕"/>
                <a:cs typeface="Calibri"/>
              </a:rPr>
              <a:t>L6-3</a:t>
            </a:r>
            <a:endParaRPr lang="ko-KR" sz="1700"/>
          </a:p>
        </p:txBody>
      </p:sp>
      <p:sp>
        <p:nvSpPr>
          <p:cNvPr id="3" name="hdr_chip"/>
          <p:cNvSpPr/>
          <p:nvPr/>
        </p:nvSpPr>
        <p:spPr>
          <a:xfrm>
            <a:off x="1755648" y="274320"/>
            <a:ext cx="1371600" cy="493776"/>
          </a:xfrm>
          <a:prstGeom prst="roundRect">
            <a:avLst>
              <a:gd name="adj" fmla="val 8000"/>
            </a:avLst>
          </a:prstGeom>
          <a:solidFill>
            <a:srgbClr val="E6EAF4"/>
          </a:solidFill>
          <a:ln>
            <a:noFill/>
          </a:ln>
        </p:spPr>
        <p:txBody>
          <a:bodyPr wrap="square" lIns="27432" tIns="18288" rIns="27432" bIns="18288" anchor="ctr" rtlCol="0">
            <a:noAutofit/>
          </a:bodyPr>
          <a:lstStyle/>
          <a:p>
            <a:pPr algn="ctr">
              <a:lnSpc>
                <a:spcPts val="1700"/>
              </a:lnSpc>
              <a:spcBef>
                <a:spcPts val="0"/>
              </a:spcBef>
              <a:spcAft>
                <a:spcPts val="0"/>
              </a:spcAft>
              <a:buNone/>
            </a:pPr>
            <a:r>
              <a:rPr lang="ko-KR" altLang="en-US" sz="1400" b="1" dirty="0">
                <a:solidFill>
                  <a:srgbClr val="1E2A5A"/>
                </a:solidFill>
                <a:latin typeface="맑은 고딕"/>
                <a:ea typeface="맑은 고딕"/>
                <a:cs typeface="맑은 고딕"/>
              </a:rPr>
              <a:t>PART 6 · 12</a:t>
            </a:r>
            <a:endParaRPr lang="ko-KR" sz="1400"/>
          </a:p>
        </p:txBody>
      </p:sp>
      <p:sp>
        <p:nvSpPr>
          <p:cNvPr id="4" name="hdr_q"/>
          <p:cNvSpPr txBox="1"/>
          <p:nvPr/>
        </p:nvSpPr>
        <p:spPr>
          <a:xfrm>
            <a:off x="3246120" y="246888"/>
            <a:ext cx="8485632" cy="548640"/>
          </a:xfrm>
          <a:prstGeom prst="rect">
            <a:avLst/>
          </a:prstGeom>
          <a:noFill/>
        </p:spPr>
        <p:txBody>
          <a:bodyPr wrap="square" lIns="109728" tIns="54864" rIns="109728" bIns="54864" anchor="ctr" rtlCol="0">
            <a:noAutofit/>
          </a:bodyPr>
          <a:lstStyle/>
          <a:p>
            <a:pPr algn="l">
              <a:lnSpc>
                <a:spcPts val="2400"/>
              </a:lnSpc>
              <a:spcBef>
                <a:spcPts val="0"/>
              </a:spcBef>
              <a:spcAft>
                <a:spcPts val="0"/>
              </a:spcAft>
              <a:buNone/>
            </a:pPr>
            <a:r>
              <a:rPr lang="ko-KR" altLang="en-US" sz="2000" b="1" dirty="0">
                <a:solidFill>
                  <a:srgbClr val="1F2328"/>
                </a:solidFill>
                <a:latin typeface="맑은 고딕"/>
                <a:ea typeface="맑은 고딕"/>
                <a:cs typeface="맑은 고딕"/>
              </a:rPr>
              <a:t>우리말에 맞게 (  ) 안의 말을 바르게 배열하시오.</a:t>
            </a:r>
            <a:endParaRPr lang="ko-KR" sz="2000"/>
          </a:p>
        </p:txBody>
      </p:sp>
      <p:sp>
        <p:nvSpPr>
          <p:cNvPr id="5" name="ftr_exam"/>
          <p:cNvSpPr txBox="1"/>
          <p:nvPr/>
        </p:nvSpPr>
        <p:spPr>
          <a:xfrm>
            <a:off x="457200" y="6519672"/>
            <a:ext cx="5669280" cy="256032"/>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6</a:t>
            </a:r>
            <a:endParaRPr lang="ko-KR" sz="1000"/>
          </a:p>
        </p:txBody>
      </p:sp>
      <p:sp>
        <p:nvSpPr>
          <p:cNvPr id="6" name="ftr_hint"/>
          <p:cNvSpPr txBox="1"/>
          <p:nvPr/>
        </p:nvSpPr>
        <p:spPr>
          <a:xfrm>
            <a:off x="5971032" y="6519672"/>
            <a:ext cx="5760720" cy="256032"/>
          </a:xfrm>
          <a:prstGeom prst="rect">
            <a:avLst/>
          </a:prstGeom>
          <a:noFill/>
        </p:spPr>
        <p:txBody>
          <a:bodyPr wrap="square" lIns="0" tIns="0" rIns="0" bIns="0" anchor="t" rtlCol="0">
            <a:noAutofit/>
          </a:bodyPr>
          <a:lstStyle/>
          <a:p>
            <a:pPr algn="r">
              <a:lnSpc>
                <a:spcPts val="1200"/>
              </a:lnSpc>
              <a:spcBef>
                <a:spcPts val="0"/>
              </a:spcBef>
              <a:spcAft>
                <a:spcPts val="0"/>
              </a:spcAft>
              <a:buNone/>
            </a:pPr>
            <a:r>
              <a:rPr lang="ko-KR" altLang="en-US" sz="1000" b="0" dirty="0">
                <a:solidFill>
                  <a:srgbClr val="7A808C"/>
                </a:solidFill>
                <a:latin typeface="맑은 고딕"/>
                <a:ea typeface="맑은 고딕"/>
                <a:cs typeface="맑은 고딕"/>
              </a:rPr>
              <a:t>클릭 ① 완성 문장(정답) 공개</a:t>
            </a:r>
            <a:endParaRPr lang="ko-KR" sz="1000"/>
          </a:p>
        </p:txBody>
      </p:sp>
      <p:sp>
        <p:nvSpPr>
          <p:cNvPr id="7" name="item_card_1"/>
          <p:cNvSpPr/>
          <p:nvPr/>
        </p:nvSpPr>
        <p:spPr>
          <a:xfrm>
            <a:off x="457200" y="950976"/>
            <a:ext cx="11274552" cy="2257552"/>
          </a:xfrm>
          <a:prstGeom prst="roundRect">
            <a:avLst>
              <a:gd name="adj" fmla="val 6000"/>
            </a:avLst>
          </a:prstGeom>
          <a:solidFill>
            <a:srgbClr val="F3F5F9"/>
          </a:solidFill>
          <a:ln w="12700">
            <a:solidFill>
              <a:srgbClr val="D9DFEA"/>
            </a:solidFill>
          </a:ln>
        </p:spPr>
        <p:txBody>
          <a:bodyPr rtlCol="0" anchor="ctr"/>
          <a:lstStyle/>
          <a:p>
            <a:pPr algn="ctr"/>
          </a:p>
        </p:txBody>
      </p:sp>
      <p:sp>
        <p:nvSpPr>
          <p:cNvPr id="8" name="kor_1"/>
          <p:cNvSpPr txBox="1"/>
          <p:nvPr/>
        </p:nvSpPr>
        <p:spPr>
          <a:xfrm>
            <a:off x="457200" y="1060704"/>
            <a:ext cx="11274552" cy="649478"/>
          </a:xfrm>
          <a:prstGeom prst="rect">
            <a:avLst/>
          </a:prstGeom>
          <a:noFill/>
        </p:spPr>
        <p:txBody>
          <a:bodyPr wrap="square" lIns="228600" tIns="54864" rIns="228600" bIns="54864" anchor="t" rtlCol="0">
            <a:noAutofit/>
          </a:bodyPr>
          <a:lstStyle/>
          <a:p>
            <a:pPr algn="l">
              <a:lnSpc>
                <a:spcPts val="2125"/>
              </a:lnSpc>
              <a:spcBef>
                <a:spcPts val="0"/>
              </a:spcBef>
              <a:spcAft>
                <a:spcPts val="0"/>
              </a:spcAft>
              <a:buNone/>
            </a:pPr>
            <a:r>
              <a:rPr lang="en-US" altLang="en-US" sz="1700" b="1" dirty="0">
                <a:solidFill>
                  <a:srgbClr val="1E2A5A"/>
                </a:solidFill>
                <a:latin typeface="Calibri"/>
                <a:ea typeface="맑은 고딕"/>
                <a:cs typeface="Calibri"/>
              </a:rPr>
              <a:t>10.  </a:t>
            </a:r>
            <a:r>
              <a:rPr lang="ko-KR" altLang="en-US" sz="1700" b="1" dirty="0">
                <a:solidFill>
                  <a:srgbClr val="1F2328"/>
                </a:solidFill>
                <a:latin typeface="맑은 고딕"/>
                <a:ea typeface="맑은 고딕"/>
                <a:cs typeface="맑은 고딕"/>
              </a:rPr>
              <a:t>"좋은 생각이에요!" Bert가 말했다. 그런 다음 Bert는 톱을 꺼내서 탁자 다리를 자르기 시작했다.</a:t>
            </a:r>
            <a:endParaRPr lang="ko-KR" sz="1700"/>
          </a:p>
        </p:txBody>
      </p:sp>
      <p:sp>
        <p:nvSpPr>
          <p:cNvPr id="9" name="ex_1"/>
          <p:cNvSpPr txBox="1"/>
          <p:nvPr/>
        </p:nvSpPr>
        <p:spPr>
          <a:xfrm>
            <a:off x="457200" y="1655318"/>
            <a:ext cx="11274552" cy="761238"/>
          </a:xfrm>
          <a:prstGeom prst="rect">
            <a:avLst/>
          </a:prstGeom>
          <a:noFill/>
        </p:spPr>
        <p:txBody>
          <a:bodyPr wrap="square" lIns="228600" tIns="54864" rIns="228600" bIns="54864" anchor="t" rtlCol="0">
            <a:noAutofit/>
          </a:bodyPr>
          <a:lstStyle/>
          <a:p>
            <a:pPr algn="l">
              <a:lnSpc>
                <a:spcPts val="2565"/>
              </a:lnSpc>
              <a:spcBef>
                <a:spcPts val="0"/>
              </a:spcBef>
              <a:spcAft>
                <a:spcPts val="0"/>
              </a:spcAft>
              <a:buNone/>
            </a:pPr>
            <a:r>
              <a:rPr lang="en-US" altLang="en-US" sz="1900" b="0" dirty="0">
                <a:solidFill>
                  <a:srgbClr val="1F2328"/>
                </a:solidFill>
                <a:latin typeface="Calibri"/>
                <a:ea typeface="맑은 고딕"/>
                <a:cs typeface="Calibri"/>
              </a:rPr>
              <a:t>"Great idea!" said Bert.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then</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Bert</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took out</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a saw</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 and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the legs</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to cut off</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began</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a:t>
            </a:r>
            <a:endParaRPr lang="ko-KR" sz="1900"/>
          </a:p>
        </p:txBody>
      </p:sp>
      <p:sp>
        <p:nvSpPr>
          <p:cNvPr id="10" name="rv_ans_1"/>
          <p:cNvSpPr txBox="1"/>
          <p:nvPr/>
        </p:nvSpPr>
        <p:spPr>
          <a:xfrm>
            <a:off x="594360" y="2453132"/>
            <a:ext cx="11000232" cy="737108"/>
          </a:xfrm>
          <a:prstGeom prst="rect">
            <a:avLst/>
          </a:prstGeom>
          <a:solidFill>
            <a:srgbClr val="FFF3C4"/>
          </a:solidFill>
        </p:spPr>
        <p:txBody>
          <a:bodyPr wrap="square" lIns="137160" tIns="54864" rIns="137160" bIns="54864" anchor="t" rtlCol="0">
            <a:noAutofit/>
          </a:bodyPr>
          <a:lstStyle/>
          <a:p>
            <a:pPr algn="l">
              <a:lnSpc>
                <a:spcPts val="2470"/>
              </a:lnSpc>
              <a:spcBef>
                <a:spcPts val="0"/>
              </a:spcBef>
              <a:spcAft>
                <a:spcPts val="0"/>
              </a:spcAft>
              <a:buNone/>
            </a:pPr>
            <a:r>
              <a:rPr lang="en-US" altLang="en-US" sz="1900" b="1" dirty="0">
                <a:solidFill>
                  <a:srgbClr val="C00000"/>
                </a:solidFill>
                <a:latin typeface="Calibri"/>
                <a:ea typeface="맑은 고딕"/>
                <a:cs typeface="Calibri"/>
              </a:rPr>
              <a:t>→  </a:t>
            </a:r>
            <a:r>
              <a:rPr lang="en-US" altLang="en-US" sz="1900" b="1" dirty="0">
                <a:solidFill>
                  <a:srgbClr val="C00000"/>
                </a:solidFill>
                <a:latin typeface="Calibri"/>
                <a:ea typeface="맑은 고딕"/>
                <a:cs typeface="Calibri"/>
              </a:rPr>
              <a:t>"Great idea!" said Bert. Bert then took out a saw and began to cut off the legs.</a:t>
            </a:r>
            <a:endParaRPr lang="ko-KR" sz="1900"/>
          </a:p>
        </p:txBody>
      </p:sp>
      <p:sp>
        <p:nvSpPr>
          <p:cNvPr id="11" name="item_card_2"/>
          <p:cNvSpPr/>
          <p:nvPr/>
        </p:nvSpPr>
        <p:spPr>
          <a:xfrm>
            <a:off x="457200" y="3318256"/>
            <a:ext cx="11274552" cy="1348232"/>
          </a:xfrm>
          <a:prstGeom prst="roundRect">
            <a:avLst>
              <a:gd name="adj" fmla="val 6000"/>
            </a:avLst>
          </a:prstGeom>
          <a:solidFill>
            <a:srgbClr val="F3F5F9"/>
          </a:solidFill>
          <a:ln w="12700">
            <a:solidFill>
              <a:srgbClr val="D9DFEA"/>
            </a:solidFill>
          </a:ln>
        </p:spPr>
        <p:txBody>
          <a:bodyPr rtlCol="0" anchor="ctr"/>
          <a:lstStyle/>
          <a:p>
            <a:pPr algn="ctr"/>
          </a:p>
        </p:txBody>
      </p:sp>
      <p:sp>
        <p:nvSpPr>
          <p:cNvPr id="12" name="kor_2"/>
          <p:cNvSpPr txBox="1"/>
          <p:nvPr/>
        </p:nvSpPr>
        <p:spPr>
          <a:xfrm>
            <a:off x="457200" y="3427984"/>
            <a:ext cx="11274552" cy="379603"/>
          </a:xfrm>
          <a:prstGeom prst="rect">
            <a:avLst/>
          </a:prstGeom>
          <a:noFill/>
        </p:spPr>
        <p:txBody>
          <a:bodyPr wrap="square" lIns="228600" tIns="54864" rIns="228600" bIns="54864" anchor="t" rtlCol="0">
            <a:noAutofit/>
          </a:bodyPr>
          <a:lstStyle/>
          <a:p>
            <a:pPr algn="l">
              <a:lnSpc>
                <a:spcPts val="2125"/>
              </a:lnSpc>
              <a:spcBef>
                <a:spcPts val="0"/>
              </a:spcBef>
              <a:spcAft>
                <a:spcPts val="0"/>
              </a:spcAft>
              <a:buNone/>
            </a:pPr>
            <a:r>
              <a:rPr lang="en-US" altLang="en-US" sz="1700" b="1" dirty="0">
                <a:solidFill>
                  <a:srgbClr val="1E2A5A"/>
                </a:solidFill>
                <a:latin typeface="Calibri"/>
                <a:ea typeface="맑은 고딕"/>
                <a:cs typeface="Calibri"/>
              </a:rPr>
              <a:t>11.  </a:t>
            </a:r>
            <a:r>
              <a:rPr lang="ko-KR" altLang="en-US" sz="1700" b="1" dirty="0">
                <a:solidFill>
                  <a:srgbClr val="1F2328"/>
                </a:solidFill>
                <a:latin typeface="맑은 고딕"/>
                <a:ea typeface="맑은 고딕"/>
                <a:cs typeface="맑은 고딕"/>
              </a:rPr>
              <a:t>Boggis 씨가 돌아왔을 때, 탁자 다리는 잘려 있었다.</a:t>
            </a:r>
            <a:endParaRPr lang="ko-KR" sz="1700"/>
          </a:p>
        </p:txBody>
      </p:sp>
      <p:sp>
        <p:nvSpPr>
          <p:cNvPr id="13" name="ex_2"/>
          <p:cNvSpPr txBox="1"/>
          <p:nvPr/>
        </p:nvSpPr>
        <p:spPr>
          <a:xfrm>
            <a:off x="457200" y="3752723"/>
            <a:ext cx="11274552" cy="435483"/>
          </a:xfrm>
          <a:prstGeom prst="rect">
            <a:avLst/>
          </a:prstGeom>
          <a:noFill/>
        </p:spPr>
        <p:txBody>
          <a:bodyPr wrap="square" lIns="228600" tIns="54864" rIns="228600" bIns="54864" anchor="t" rtlCol="0">
            <a:noAutofit/>
          </a:bodyPr>
          <a:lstStyle/>
          <a:p>
            <a:pPr algn="l">
              <a:lnSpc>
                <a:spcPts val="2565"/>
              </a:lnSpc>
              <a:spcBef>
                <a:spcPts val="0"/>
              </a:spcBef>
              <a:spcAft>
                <a:spcPts val="0"/>
              </a:spcAft>
              <a:buNone/>
            </a:pPr>
            <a:r>
              <a:rPr lang="en-US" altLang="en-US" sz="1900" b="0" dirty="0">
                <a:solidFill>
                  <a:srgbClr val="1F2328"/>
                </a:solidFill>
                <a:latin typeface="Calibri"/>
                <a:ea typeface="맑은 고딕"/>
                <a:cs typeface="Calibri"/>
              </a:rPr>
              <a:t>When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came back</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Mr. Boggis</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cut off</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the legs</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had been</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a:t>
            </a:r>
            <a:endParaRPr lang="ko-KR" sz="1900"/>
          </a:p>
        </p:txBody>
      </p:sp>
      <p:sp>
        <p:nvSpPr>
          <p:cNvPr id="14" name="rv_ans_2"/>
          <p:cNvSpPr txBox="1"/>
          <p:nvPr/>
        </p:nvSpPr>
        <p:spPr>
          <a:xfrm>
            <a:off x="594360" y="4224782"/>
            <a:ext cx="11000232" cy="423418"/>
          </a:xfrm>
          <a:prstGeom prst="rect">
            <a:avLst/>
          </a:prstGeom>
          <a:solidFill>
            <a:srgbClr val="FFF3C4"/>
          </a:solidFill>
        </p:spPr>
        <p:txBody>
          <a:bodyPr wrap="square" lIns="137160" tIns="54864" rIns="137160" bIns="54864" anchor="t" rtlCol="0">
            <a:noAutofit/>
          </a:bodyPr>
          <a:lstStyle/>
          <a:p>
            <a:pPr algn="l">
              <a:lnSpc>
                <a:spcPts val="2470"/>
              </a:lnSpc>
              <a:spcBef>
                <a:spcPts val="0"/>
              </a:spcBef>
              <a:spcAft>
                <a:spcPts val="0"/>
              </a:spcAft>
              <a:buNone/>
            </a:pPr>
            <a:r>
              <a:rPr lang="en-US" altLang="en-US" sz="1900" b="1" dirty="0">
                <a:solidFill>
                  <a:srgbClr val="C00000"/>
                </a:solidFill>
                <a:latin typeface="Calibri"/>
                <a:ea typeface="맑은 고딕"/>
                <a:cs typeface="Calibri"/>
              </a:rPr>
              <a:t>→  </a:t>
            </a:r>
            <a:r>
              <a:rPr lang="en-US" altLang="en-US" sz="1900" b="1" dirty="0">
                <a:solidFill>
                  <a:srgbClr val="C00000"/>
                </a:solidFill>
                <a:latin typeface="Calibri"/>
                <a:ea typeface="맑은 고딕"/>
                <a:cs typeface="Calibri"/>
              </a:rPr>
              <a:t>When Mr. Boggis came back, the legs had been cut off.</a:t>
            </a:r>
            <a:endParaRPr lang="ko-KR" sz="19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25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2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4" grpId="0" animBg="1"/>
    </p:bldLst>
  </p:timing>
</p:sld>
</file>

<file path=ppt/slides/slide1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8000"/>
            </a:avLst>
          </a:prstGeom>
          <a:solidFill>
            <a:srgbClr val="1E2A5A"/>
          </a:solidFill>
          <a:ln>
            <a:noFill/>
          </a:ln>
        </p:spPr>
        <p:txBody>
          <a:bodyPr wrap="square" lIns="45720" tIns="18288" rIns="45720" bIns="18288" anchor="ctr" rtlCol="0">
            <a:noAutofit/>
          </a:bodyPr>
          <a:lstStyle/>
          <a:p>
            <a:pPr algn="ctr">
              <a:lnSpc>
                <a:spcPts val="2000"/>
              </a:lnSpc>
              <a:spcBef>
                <a:spcPts val="0"/>
              </a:spcBef>
              <a:spcAft>
                <a:spcPts val="0"/>
              </a:spcAft>
              <a:buNone/>
            </a:pPr>
            <a:r>
              <a:rPr lang="en-US" altLang="en-US" sz="1700" b="1" dirty="0">
                <a:solidFill>
                  <a:srgbClr val="FFFFFF"/>
                </a:solidFill>
                <a:latin typeface="Calibri"/>
                <a:ea typeface="맑은 고딕"/>
                <a:cs typeface="Calibri"/>
              </a:rPr>
              <a:t>L6-3</a:t>
            </a:r>
            <a:endParaRPr lang="ko-KR" sz="1700"/>
          </a:p>
        </p:txBody>
      </p:sp>
      <p:sp>
        <p:nvSpPr>
          <p:cNvPr id="3" name="hdr_chip"/>
          <p:cNvSpPr/>
          <p:nvPr/>
        </p:nvSpPr>
        <p:spPr>
          <a:xfrm>
            <a:off x="1755648" y="274320"/>
            <a:ext cx="1371600" cy="493776"/>
          </a:xfrm>
          <a:prstGeom prst="roundRect">
            <a:avLst>
              <a:gd name="adj" fmla="val 8000"/>
            </a:avLst>
          </a:prstGeom>
          <a:solidFill>
            <a:srgbClr val="E6EAF4"/>
          </a:solidFill>
          <a:ln>
            <a:noFill/>
          </a:ln>
        </p:spPr>
        <p:txBody>
          <a:bodyPr wrap="square" lIns="27432" tIns="18288" rIns="27432" bIns="18288" anchor="ctr" rtlCol="0">
            <a:noAutofit/>
          </a:bodyPr>
          <a:lstStyle/>
          <a:p>
            <a:pPr algn="ctr">
              <a:lnSpc>
                <a:spcPts val="1700"/>
              </a:lnSpc>
              <a:spcBef>
                <a:spcPts val="0"/>
              </a:spcBef>
              <a:spcAft>
                <a:spcPts val="0"/>
              </a:spcAft>
              <a:buNone/>
            </a:pPr>
            <a:r>
              <a:rPr lang="ko-KR" altLang="en-US" sz="1400" b="1" dirty="0">
                <a:solidFill>
                  <a:srgbClr val="1E2A5A"/>
                </a:solidFill>
                <a:latin typeface="맑은 고딕"/>
                <a:ea typeface="맑은 고딕"/>
                <a:cs typeface="맑은 고딕"/>
              </a:rPr>
              <a:t>PART 6 · 13</a:t>
            </a:r>
            <a:endParaRPr lang="ko-KR" sz="1400"/>
          </a:p>
        </p:txBody>
      </p:sp>
      <p:sp>
        <p:nvSpPr>
          <p:cNvPr id="4" name="hdr_q"/>
          <p:cNvSpPr txBox="1"/>
          <p:nvPr/>
        </p:nvSpPr>
        <p:spPr>
          <a:xfrm>
            <a:off x="3246120" y="246888"/>
            <a:ext cx="8485632" cy="548640"/>
          </a:xfrm>
          <a:prstGeom prst="rect">
            <a:avLst/>
          </a:prstGeom>
          <a:noFill/>
        </p:spPr>
        <p:txBody>
          <a:bodyPr wrap="square" lIns="109728" tIns="54864" rIns="109728" bIns="54864" anchor="ctr" rtlCol="0">
            <a:noAutofit/>
          </a:bodyPr>
          <a:lstStyle/>
          <a:p>
            <a:pPr algn="l">
              <a:lnSpc>
                <a:spcPts val="2400"/>
              </a:lnSpc>
              <a:spcBef>
                <a:spcPts val="0"/>
              </a:spcBef>
              <a:spcAft>
                <a:spcPts val="0"/>
              </a:spcAft>
              <a:buNone/>
            </a:pPr>
            <a:r>
              <a:rPr lang="ko-KR" altLang="en-US" sz="2000" b="1" dirty="0">
                <a:solidFill>
                  <a:srgbClr val="1F2328"/>
                </a:solidFill>
                <a:latin typeface="맑은 고딕"/>
                <a:ea typeface="맑은 고딕"/>
                <a:cs typeface="맑은 고딕"/>
              </a:rPr>
              <a:t>우리말에 맞게 (  ) 안의 말을 바르게 배열하시오.</a:t>
            </a:r>
            <a:endParaRPr lang="ko-KR" sz="2000"/>
          </a:p>
        </p:txBody>
      </p:sp>
      <p:sp>
        <p:nvSpPr>
          <p:cNvPr id="5" name="ftr_exam"/>
          <p:cNvSpPr txBox="1"/>
          <p:nvPr/>
        </p:nvSpPr>
        <p:spPr>
          <a:xfrm>
            <a:off x="457200" y="6519672"/>
            <a:ext cx="5669280" cy="256032"/>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6</a:t>
            </a:r>
            <a:endParaRPr lang="ko-KR" sz="1000"/>
          </a:p>
        </p:txBody>
      </p:sp>
      <p:sp>
        <p:nvSpPr>
          <p:cNvPr id="6" name="ftr_hint"/>
          <p:cNvSpPr txBox="1"/>
          <p:nvPr/>
        </p:nvSpPr>
        <p:spPr>
          <a:xfrm>
            <a:off x="5971032" y="6519672"/>
            <a:ext cx="5760720" cy="256032"/>
          </a:xfrm>
          <a:prstGeom prst="rect">
            <a:avLst/>
          </a:prstGeom>
          <a:noFill/>
        </p:spPr>
        <p:txBody>
          <a:bodyPr wrap="square" lIns="0" tIns="0" rIns="0" bIns="0" anchor="t" rtlCol="0">
            <a:noAutofit/>
          </a:bodyPr>
          <a:lstStyle/>
          <a:p>
            <a:pPr algn="r">
              <a:lnSpc>
                <a:spcPts val="1200"/>
              </a:lnSpc>
              <a:spcBef>
                <a:spcPts val="0"/>
              </a:spcBef>
              <a:spcAft>
                <a:spcPts val="0"/>
              </a:spcAft>
              <a:buNone/>
            </a:pPr>
            <a:r>
              <a:rPr lang="ko-KR" altLang="en-US" sz="1000" b="0" dirty="0">
                <a:solidFill>
                  <a:srgbClr val="7A808C"/>
                </a:solidFill>
                <a:latin typeface="맑은 고딕"/>
                <a:ea typeface="맑은 고딕"/>
                <a:cs typeface="맑은 고딕"/>
              </a:rPr>
              <a:t>클릭 ① 완성 문장(정답) 공개</a:t>
            </a:r>
            <a:endParaRPr lang="ko-KR" sz="1000"/>
          </a:p>
        </p:txBody>
      </p:sp>
      <p:sp>
        <p:nvSpPr>
          <p:cNvPr id="7" name="item_card_1"/>
          <p:cNvSpPr/>
          <p:nvPr/>
        </p:nvSpPr>
        <p:spPr>
          <a:xfrm>
            <a:off x="457200" y="950976"/>
            <a:ext cx="11274552" cy="1931797"/>
          </a:xfrm>
          <a:prstGeom prst="roundRect">
            <a:avLst>
              <a:gd name="adj" fmla="val 6000"/>
            </a:avLst>
          </a:prstGeom>
          <a:solidFill>
            <a:srgbClr val="F3F5F9"/>
          </a:solidFill>
          <a:ln w="12700">
            <a:solidFill>
              <a:srgbClr val="D9DFEA"/>
            </a:solidFill>
          </a:ln>
        </p:spPr>
        <p:txBody>
          <a:bodyPr rtlCol="0" anchor="ctr"/>
          <a:lstStyle/>
          <a:p>
            <a:pPr algn="ctr"/>
          </a:p>
        </p:txBody>
      </p:sp>
      <p:sp>
        <p:nvSpPr>
          <p:cNvPr id="8" name="kor_1"/>
          <p:cNvSpPr txBox="1"/>
          <p:nvPr/>
        </p:nvSpPr>
        <p:spPr>
          <a:xfrm>
            <a:off x="457200" y="1060704"/>
            <a:ext cx="11274552" cy="649478"/>
          </a:xfrm>
          <a:prstGeom prst="rect">
            <a:avLst/>
          </a:prstGeom>
          <a:noFill/>
        </p:spPr>
        <p:txBody>
          <a:bodyPr wrap="square" lIns="228600" tIns="54864" rIns="228600" bIns="54864" anchor="t" rtlCol="0">
            <a:noAutofit/>
          </a:bodyPr>
          <a:lstStyle/>
          <a:p>
            <a:pPr algn="l">
              <a:lnSpc>
                <a:spcPts val="2125"/>
              </a:lnSpc>
              <a:spcBef>
                <a:spcPts val="0"/>
              </a:spcBef>
              <a:spcAft>
                <a:spcPts val="0"/>
              </a:spcAft>
              <a:buNone/>
            </a:pPr>
            <a:r>
              <a:rPr lang="en-US" altLang="en-US" sz="1700" b="1" dirty="0">
                <a:solidFill>
                  <a:srgbClr val="1E2A5A"/>
                </a:solidFill>
                <a:latin typeface="Calibri"/>
                <a:ea typeface="맑은 고딕"/>
                <a:cs typeface="Calibri"/>
              </a:rPr>
              <a:t>12.  </a:t>
            </a:r>
            <a:r>
              <a:rPr lang="ko-KR" altLang="en-US" sz="1700" b="1" dirty="0">
                <a:solidFill>
                  <a:srgbClr val="1F2328"/>
                </a:solidFill>
                <a:latin typeface="맑은 고딕"/>
                <a:ea typeface="맑은 고딕"/>
                <a:cs typeface="맑은 고딕"/>
              </a:rPr>
              <a:t>"걱정하지 마세요. 이건 호의로 한 거예요. 이것에 대해 비용을 청구하지는 않을게요." Rummins가 말했다.</a:t>
            </a:r>
            <a:endParaRPr lang="ko-KR" sz="1700"/>
          </a:p>
        </p:txBody>
      </p:sp>
      <p:sp>
        <p:nvSpPr>
          <p:cNvPr id="9" name="ex_1"/>
          <p:cNvSpPr txBox="1"/>
          <p:nvPr/>
        </p:nvSpPr>
        <p:spPr>
          <a:xfrm>
            <a:off x="457200" y="1655318"/>
            <a:ext cx="11274552" cy="435483"/>
          </a:xfrm>
          <a:prstGeom prst="rect">
            <a:avLst/>
          </a:prstGeom>
          <a:noFill/>
        </p:spPr>
        <p:txBody>
          <a:bodyPr wrap="square" lIns="228600" tIns="54864" rIns="228600" bIns="54864" anchor="t" rtlCol="0">
            <a:noAutofit/>
          </a:bodyPr>
          <a:lstStyle/>
          <a:p>
            <a:pPr algn="l">
              <a:lnSpc>
                <a:spcPts val="2565"/>
              </a:lnSpc>
              <a:spcBef>
                <a:spcPts val="0"/>
              </a:spcBef>
              <a:spcAft>
                <a:spcPts val="0"/>
              </a:spcAft>
              <a:buNone/>
            </a:pPr>
            <a:r>
              <a:rPr lang="en-US" altLang="en-US" sz="1900" b="0" dirty="0">
                <a:solidFill>
                  <a:srgbClr val="1F2328"/>
                </a:solidFill>
                <a:latin typeface="Calibri"/>
                <a:ea typeface="맑은 고딕"/>
                <a:cs typeface="Calibri"/>
              </a:rPr>
              <a:t>"Don’t worry,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a favor</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this was</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won’t charge</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for this,"</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I</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you</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 said Rummins.</a:t>
            </a:r>
            <a:endParaRPr lang="ko-KR" sz="1900"/>
          </a:p>
        </p:txBody>
      </p:sp>
      <p:sp>
        <p:nvSpPr>
          <p:cNvPr id="10" name="rv_ans_1"/>
          <p:cNvSpPr txBox="1"/>
          <p:nvPr/>
        </p:nvSpPr>
        <p:spPr>
          <a:xfrm>
            <a:off x="594360" y="2127377"/>
            <a:ext cx="11000232" cy="737108"/>
          </a:xfrm>
          <a:prstGeom prst="rect">
            <a:avLst/>
          </a:prstGeom>
          <a:solidFill>
            <a:srgbClr val="FFF3C4"/>
          </a:solidFill>
        </p:spPr>
        <p:txBody>
          <a:bodyPr wrap="square" lIns="137160" tIns="54864" rIns="137160" bIns="54864" anchor="t" rtlCol="0">
            <a:noAutofit/>
          </a:bodyPr>
          <a:lstStyle/>
          <a:p>
            <a:pPr algn="l">
              <a:lnSpc>
                <a:spcPts val="2470"/>
              </a:lnSpc>
              <a:spcBef>
                <a:spcPts val="0"/>
              </a:spcBef>
              <a:spcAft>
                <a:spcPts val="0"/>
              </a:spcAft>
              <a:buNone/>
            </a:pPr>
            <a:r>
              <a:rPr lang="en-US" altLang="en-US" sz="1900" b="1" dirty="0">
                <a:solidFill>
                  <a:srgbClr val="C00000"/>
                </a:solidFill>
                <a:latin typeface="Calibri"/>
                <a:ea typeface="맑은 고딕"/>
                <a:cs typeface="Calibri"/>
              </a:rPr>
              <a:t>→  </a:t>
            </a:r>
            <a:r>
              <a:rPr lang="en-US" altLang="en-US" sz="1900" b="1" dirty="0">
                <a:solidFill>
                  <a:srgbClr val="C00000"/>
                </a:solidFill>
                <a:latin typeface="Calibri"/>
                <a:ea typeface="맑은 고딕"/>
                <a:cs typeface="Calibri"/>
              </a:rPr>
              <a:t>"Don’t worry, this was a favor. I won’t charge you for this," said Rummins.</a:t>
            </a:r>
            <a:endParaRPr lang="ko-KR" sz="1900"/>
          </a:p>
        </p:txBody>
      </p:sp>
      <p:sp>
        <p:nvSpPr>
          <p:cNvPr id="11" name="item_card_2"/>
          <p:cNvSpPr/>
          <p:nvPr/>
        </p:nvSpPr>
        <p:spPr>
          <a:xfrm>
            <a:off x="457200" y="2992501"/>
            <a:ext cx="11274552" cy="1348232"/>
          </a:xfrm>
          <a:prstGeom prst="roundRect">
            <a:avLst>
              <a:gd name="adj" fmla="val 6000"/>
            </a:avLst>
          </a:prstGeom>
          <a:solidFill>
            <a:srgbClr val="F3F5F9"/>
          </a:solidFill>
          <a:ln w="12700">
            <a:solidFill>
              <a:srgbClr val="D9DFEA"/>
            </a:solidFill>
          </a:ln>
        </p:spPr>
        <p:txBody>
          <a:bodyPr rtlCol="0" anchor="ctr"/>
          <a:lstStyle/>
          <a:p>
            <a:pPr algn="ctr"/>
          </a:p>
        </p:txBody>
      </p:sp>
      <p:sp>
        <p:nvSpPr>
          <p:cNvPr id="12" name="kor_2"/>
          <p:cNvSpPr txBox="1"/>
          <p:nvPr/>
        </p:nvSpPr>
        <p:spPr>
          <a:xfrm>
            <a:off x="457200" y="3102229"/>
            <a:ext cx="11274552" cy="379603"/>
          </a:xfrm>
          <a:prstGeom prst="rect">
            <a:avLst/>
          </a:prstGeom>
          <a:noFill/>
        </p:spPr>
        <p:txBody>
          <a:bodyPr wrap="square" lIns="228600" tIns="54864" rIns="228600" bIns="54864" anchor="t" rtlCol="0">
            <a:noAutofit/>
          </a:bodyPr>
          <a:lstStyle/>
          <a:p>
            <a:pPr algn="l">
              <a:lnSpc>
                <a:spcPts val="2125"/>
              </a:lnSpc>
              <a:spcBef>
                <a:spcPts val="0"/>
              </a:spcBef>
              <a:spcAft>
                <a:spcPts val="0"/>
              </a:spcAft>
              <a:buNone/>
            </a:pPr>
            <a:r>
              <a:rPr lang="en-US" altLang="en-US" sz="1700" b="1" dirty="0">
                <a:solidFill>
                  <a:srgbClr val="1E2A5A"/>
                </a:solidFill>
                <a:latin typeface="Calibri"/>
                <a:ea typeface="맑은 고딕"/>
                <a:cs typeface="Calibri"/>
              </a:rPr>
              <a:t>13.  </a:t>
            </a:r>
            <a:r>
              <a:rPr lang="ko-KR" altLang="en-US" sz="1700" b="1" dirty="0">
                <a:solidFill>
                  <a:srgbClr val="1F2328"/>
                </a:solidFill>
                <a:latin typeface="맑은 고딕"/>
                <a:ea typeface="맑은 고딕"/>
                <a:cs typeface="맑은 고딕"/>
              </a:rPr>
              <a:t>Boggis 씨는 너무 충격을 받아서 아무 말도 할 수 없었다.</a:t>
            </a:r>
            <a:endParaRPr lang="ko-KR" sz="1700"/>
          </a:p>
        </p:txBody>
      </p:sp>
      <p:sp>
        <p:nvSpPr>
          <p:cNvPr id="13" name="ex_2"/>
          <p:cNvSpPr txBox="1"/>
          <p:nvPr/>
        </p:nvSpPr>
        <p:spPr>
          <a:xfrm>
            <a:off x="457200" y="3426968"/>
            <a:ext cx="11274552" cy="435483"/>
          </a:xfrm>
          <a:prstGeom prst="rect">
            <a:avLst/>
          </a:prstGeom>
          <a:noFill/>
        </p:spPr>
        <p:txBody>
          <a:bodyPr wrap="square" lIns="228600" tIns="54864" rIns="228600" bIns="54864" anchor="t" rtlCol="0">
            <a:noAutofit/>
          </a:bodyPr>
          <a:lstStyle/>
          <a:p>
            <a:pPr algn="l">
              <a:lnSpc>
                <a:spcPts val="2565"/>
              </a:lnSpc>
              <a:spcBef>
                <a:spcPts val="0"/>
              </a:spcBef>
              <a:spcAft>
                <a:spcPts val="0"/>
              </a:spcAft>
              <a:buNone/>
            </a:pP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Mr. Boggis</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so shocked</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was</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he couldn’t say</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that</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anything</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a:t>
            </a:r>
            <a:endParaRPr lang="ko-KR" sz="1900"/>
          </a:p>
        </p:txBody>
      </p:sp>
      <p:sp>
        <p:nvSpPr>
          <p:cNvPr id="14" name="rv_ans_2"/>
          <p:cNvSpPr txBox="1"/>
          <p:nvPr/>
        </p:nvSpPr>
        <p:spPr>
          <a:xfrm>
            <a:off x="594360" y="3899027"/>
            <a:ext cx="11000232" cy="423418"/>
          </a:xfrm>
          <a:prstGeom prst="rect">
            <a:avLst/>
          </a:prstGeom>
          <a:solidFill>
            <a:srgbClr val="FFF3C4"/>
          </a:solidFill>
        </p:spPr>
        <p:txBody>
          <a:bodyPr wrap="square" lIns="137160" tIns="54864" rIns="137160" bIns="54864" anchor="t" rtlCol="0">
            <a:noAutofit/>
          </a:bodyPr>
          <a:lstStyle/>
          <a:p>
            <a:pPr algn="l">
              <a:lnSpc>
                <a:spcPts val="2470"/>
              </a:lnSpc>
              <a:spcBef>
                <a:spcPts val="0"/>
              </a:spcBef>
              <a:spcAft>
                <a:spcPts val="0"/>
              </a:spcAft>
              <a:buNone/>
            </a:pPr>
            <a:r>
              <a:rPr lang="en-US" altLang="en-US" sz="1900" b="1" dirty="0">
                <a:solidFill>
                  <a:srgbClr val="C00000"/>
                </a:solidFill>
                <a:latin typeface="Calibri"/>
                <a:ea typeface="맑은 고딕"/>
                <a:cs typeface="Calibri"/>
              </a:rPr>
              <a:t>→  </a:t>
            </a:r>
            <a:r>
              <a:rPr lang="en-US" altLang="en-US" sz="1900" b="1" dirty="0">
                <a:solidFill>
                  <a:srgbClr val="C00000"/>
                </a:solidFill>
                <a:latin typeface="Calibri"/>
                <a:ea typeface="맑은 고딕"/>
                <a:cs typeface="Calibri"/>
              </a:rPr>
              <a:t>Mr. Boggis was so shocked that he couldn’t say anything.</a:t>
            </a:r>
            <a:endParaRPr lang="ko-KR" sz="19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25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2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4" grpId="0" animBg="1"/>
    </p:bldLst>
  </p:timing>
</p:sld>
</file>

<file path=ppt/slides/slide155.xml><?xml version="1.0" encoding="utf-8"?>
<p:sld xmlns:a="http://schemas.openxmlformats.org/drawingml/2006/main" xmlns:p="http://schemas.openxmlformats.org/presentationml/2006/main" xmlns:r="http://schemas.openxmlformats.org/officeDocument/2006/relationships">
  <p:cSld>
    <p:bg>
      <p:bgPr>
        <a:solidFill>
          <a:srgbClr val="1E2A5A"/>
        </a:solidFill>
        <a:effectLst/>
      </p:bgPr>
    </p:bg>
    <p:spTree>
      <p:nvGrpSpPr>
        <p:cNvPr id="1" name=""/>
        <p:cNvGrpSpPr/>
        <p:nvPr/>
      </p:nvGrpSpPr>
      <p:grpSpPr/>
      <p:sp>
        <p:nvSpPr>
          <p:cNvPr id="2" name="dv_title"/>
          <p:cNvSpPr txBox="1"/>
          <p:nvPr/>
        </p:nvSpPr>
        <p:spPr>
          <a:xfrm>
            <a:off x="822960" y="1828800"/>
            <a:ext cx="10515600" cy="1188720"/>
          </a:xfrm>
          <a:prstGeom prst="rect">
            <a:avLst/>
          </a:prstGeom>
          <a:noFill/>
        </p:spPr>
        <p:txBody>
          <a:bodyPr wrap="square" lIns="109728" tIns="54864" rIns="109728" bIns="54864" anchor="t" rtlCol="0">
            <a:noAutofit/>
          </a:bodyPr>
          <a:lstStyle/>
          <a:p>
            <a:pPr algn="l">
              <a:lnSpc>
                <a:spcPts val="7600"/>
              </a:lnSpc>
              <a:spcBef>
                <a:spcPts val="0"/>
              </a:spcBef>
              <a:spcAft>
                <a:spcPts val="0"/>
              </a:spcAft>
              <a:buNone/>
            </a:pPr>
            <a:r>
              <a:rPr lang="en-US" altLang="en-US" sz="6600" b="1" dirty="0">
                <a:solidFill>
                  <a:srgbClr val="FFFFFF"/>
                </a:solidFill>
                <a:latin typeface="Calibri"/>
                <a:ea typeface="맑은 고딕"/>
                <a:cs typeface="Calibri"/>
              </a:rPr>
              <a:t>Lesson </a:t>
            </a:r>
            <a:r>
              <a:rPr lang="en-US" altLang="en-US" sz="6600" b="1" dirty="0">
                <a:solidFill>
                  <a:srgbClr val="FFE98A"/>
                </a:solidFill>
                <a:latin typeface="Calibri"/>
                <a:ea typeface="맑은 고딕"/>
                <a:cs typeface="Calibri"/>
              </a:rPr>
              <a:t>7</a:t>
            </a:r>
            <a:endParaRPr lang="ko-KR" sz="6600"/>
          </a:p>
        </p:txBody>
      </p:sp>
      <p:sp>
        <p:nvSpPr>
          <p:cNvPr id="3" name="dv_exam"/>
          <p:cNvSpPr txBox="1"/>
          <p:nvPr/>
        </p:nvSpPr>
        <p:spPr>
          <a:xfrm>
            <a:off x="822960" y="3063240"/>
            <a:ext cx="10515600" cy="502920"/>
          </a:xfrm>
          <a:prstGeom prst="rect">
            <a:avLst/>
          </a:prstGeom>
          <a:noFill/>
        </p:spPr>
        <p:txBody>
          <a:bodyPr wrap="square" lIns="109728" tIns="54864" rIns="109728" bIns="54864" anchor="t" rtlCol="0">
            <a:noAutofit/>
          </a:bodyPr>
          <a:lstStyle/>
          <a:p>
            <a:pPr algn="l">
              <a:lnSpc>
                <a:spcPts val="2600"/>
              </a:lnSpc>
              <a:spcBef>
                <a:spcPts val="0"/>
              </a:spcBef>
              <a:spcAft>
                <a:spcPts val="0"/>
              </a:spcAft>
              <a:buNone/>
            </a:pPr>
            <a:r>
              <a:rPr lang="ko-KR" altLang="en-US" sz="2200" b="0" dirty="0">
                <a:solidFill>
                  <a:srgbClr val="CFD8E8"/>
                </a:solidFill>
                <a:latin typeface="맑은 고딕"/>
                <a:ea typeface="맑은 고딕"/>
                <a:cs typeface="맑은 고딕"/>
              </a:rPr>
              <a:t>중3 동아(윤정미)</a:t>
            </a:r>
            <a:endParaRPr lang="ko-KR" sz="2200"/>
          </a:p>
        </p:txBody>
      </p:sp>
      <p:sp>
        <p:nvSpPr>
          <p:cNvPr id="4" name="dv_ids"/>
          <p:cNvSpPr txBox="1"/>
          <p:nvPr/>
        </p:nvSpPr>
        <p:spPr>
          <a:xfrm>
            <a:off x="822960" y="3611880"/>
            <a:ext cx="10515600" cy="457200"/>
          </a:xfrm>
          <a:prstGeom prst="rect">
            <a:avLst/>
          </a:prstGeom>
          <a:noFill/>
        </p:spPr>
        <p:txBody>
          <a:bodyPr wrap="square" lIns="109728" tIns="54864" rIns="109728" bIns="54864" anchor="t" rtlCol="0">
            <a:noAutofit/>
          </a:bodyPr>
          <a:lstStyle/>
          <a:p>
            <a:pPr algn="l">
              <a:lnSpc>
                <a:spcPts val="2200"/>
              </a:lnSpc>
              <a:spcBef>
                <a:spcPts val="0"/>
              </a:spcBef>
              <a:spcAft>
                <a:spcPts val="0"/>
              </a:spcAft>
              <a:buNone/>
            </a:pPr>
            <a:r>
              <a:rPr lang="en-US" altLang="en-US" sz="1800" b="1" dirty="0">
                <a:solidFill>
                  <a:srgbClr val="AEBBD0"/>
                </a:solidFill>
                <a:latin typeface="Calibri"/>
                <a:ea typeface="맑은 고딕"/>
                <a:cs typeface="Calibri"/>
              </a:rPr>
              <a:t>L7-1 · L7-2 · L7-3 · L7-4</a:t>
            </a:r>
            <a:endParaRPr lang="ko-KR" sz="1800"/>
          </a:p>
        </p:txBody>
      </p:sp>
      <p:sp>
        <p:nvSpPr>
          <p:cNvPr id="5" name="dv_rule"/>
          <p:cNvSpPr/>
          <p:nvPr/>
        </p:nvSpPr>
        <p:spPr>
          <a:xfrm>
            <a:off x="822960" y="4343400"/>
            <a:ext cx="2011680" cy="54864"/>
          </a:xfrm>
          <a:prstGeom prst="rect">
            <a:avLst/>
          </a:prstGeom>
          <a:solidFill>
            <a:srgbClr val="FFE98A"/>
          </a:solidFill>
          <a:ln>
            <a:noFill/>
          </a:ln>
        </p:spPr>
        <p:txBody>
          <a:bodyPr rtlCol="0" anchor="ctr"/>
          <a:lstStyle/>
          <a:p>
            <a:pPr algn="ctr"/>
          </a:p>
        </p:txBody>
      </p:sp>
      <p:sp>
        <p:nvSpPr>
          <p:cNvPr id="6" name="dv_parts"/>
          <p:cNvSpPr txBox="1"/>
          <p:nvPr/>
        </p:nvSpPr>
        <p:spPr>
          <a:xfrm>
            <a:off x="822960" y="4572000"/>
            <a:ext cx="10515600" cy="457200"/>
          </a:xfrm>
          <a:prstGeom prst="rect">
            <a:avLst/>
          </a:prstGeom>
          <a:noFill/>
        </p:spPr>
        <p:txBody>
          <a:bodyPr wrap="square" lIns="109728" tIns="54864" rIns="109728" bIns="54864" anchor="t" rtlCol="0">
            <a:noAutofit/>
          </a:bodyPr>
          <a:lstStyle/>
          <a:p>
            <a:pPr algn="l">
              <a:lnSpc>
                <a:spcPts val="2000"/>
              </a:lnSpc>
              <a:spcBef>
                <a:spcPts val="0"/>
              </a:spcBef>
              <a:spcAft>
                <a:spcPts val="0"/>
              </a:spcAft>
              <a:buNone/>
            </a:pPr>
            <a:r>
              <a:rPr lang="ko-KR" altLang="en-US" sz="1600" b="0" dirty="0">
                <a:solidFill>
                  <a:srgbClr val="FFFFFF"/>
                </a:solidFill>
                <a:latin typeface="맑은 고딕"/>
                <a:ea typeface="맑은 고딕"/>
                <a:cs typeface="맑은 고딕"/>
              </a:rPr>
              <a:t>PART 1–3 문제풀이  ·  PART 4 T/F  ·  PART 5 어법 선택  ·  PART 6 부분영작</a:t>
            </a:r>
            <a:endParaRPr lang="ko-KR" sz="1600"/>
          </a:p>
        </p:txBody>
      </p:sp>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bg>
      <p:bgPr>
        <a:solidFill>
          <a:srgbClr val="1E2A5A"/>
        </a:solidFill>
        <a:effectLst/>
      </p:bgPr>
    </p:bg>
    <p:spTree>
      <p:nvGrpSpPr>
        <p:cNvPr id="1" name=""/>
        <p:cNvGrpSpPr/>
        <p:nvPr/>
      </p:nvGrpSpPr>
      <p:grpSpPr/>
      <p:sp>
        <p:nvSpPr>
          <p:cNvPr id="2" name="cv_title"/>
          <p:cNvSpPr txBox="1"/>
          <p:nvPr/>
        </p:nvSpPr>
        <p:spPr>
          <a:xfrm>
            <a:off x="822960" y="1371600"/>
            <a:ext cx="10515600" cy="868680"/>
          </a:xfrm>
          <a:prstGeom prst="rect">
            <a:avLst/>
          </a:prstGeom>
          <a:noFill/>
        </p:spPr>
        <p:txBody>
          <a:bodyPr wrap="square" lIns="91440" tIns="45720" rIns="91440" bIns="45720" anchor="t" rtlCol="0">
            <a:noAutofit/>
          </a:bodyPr>
          <a:lstStyle/>
          <a:p>
            <a:pPr algn="l">
              <a:lnSpc>
                <a:spcPts val="5680"/>
              </a:lnSpc>
              <a:spcBef>
                <a:spcPts val="0"/>
              </a:spcBef>
              <a:spcAft>
                <a:spcPts val="0"/>
              </a:spcAft>
              <a:buNone/>
            </a:pPr>
            <a:r>
              <a:rPr lang="ko-KR" altLang="en-US" sz="4000" b="1" dirty="0">
                <a:solidFill>
                  <a:srgbClr val="FFFFFF"/>
                </a:solidFill>
                <a:latin typeface="맑은 고딕"/>
                <a:ea typeface="맑은 고딕"/>
                <a:cs typeface="맑은 고딕"/>
              </a:rPr>
              <a:t>문제 풀이 · 정답 확인</a:t>
            </a:r>
            <a:endParaRPr lang="ko-KR" altLang="en-US" sz="4000" b="1" dirty="0">
              <a:solidFill>
                <a:srgbClr val="FFFFFF"/>
              </a:solidFill>
              <a:latin typeface="맑은 고딕"/>
              <a:ea typeface="맑은 고딕"/>
              <a:cs typeface="맑은 고딕"/>
            </a:endParaRPr>
          </a:p>
        </p:txBody>
      </p:sp>
      <p:sp>
        <p:nvSpPr>
          <p:cNvPr id="3" name="cv_exam"/>
          <p:cNvSpPr txBox="1"/>
          <p:nvPr/>
        </p:nvSpPr>
        <p:spPr>
          <a:xfrm>
            <a:off x="822960" y="2240280"/>
            <a:ext cx="10515600" cy="502920"/>
          </a:xfrm>
          <a:prstGeom prst="rect">
            <a:avLst/>
          </a:prstGeom>
          <a:noFill/>
        </p:spPr>
        <p:txBody>
          <a:bodyPr wrap="square" lIns="91440" tIns="45720" rIns="91440" bIns="45720" anchor="t" rtlCol="0">
            <a:noAutofit/>
          </a:bodyPr>
          <a:lstStyle/>
          <a:p>
            <a:pPr algn="l">
              <a:lnSpc>
                <a:spcPts val="2840"/>
              </a:lnSpc>
              <a:spcBef>
                <a:spcPts val="0"/>
              </a:spcBef>
              <a:spcAft>
                <a:spcPts val="0"/>
              </a:spcAft>
              <a:buNone/>
            </a:pPr>
            <a:r>
              <a:rPr lang="ko-KR" altLang="en-US" sz="2000" b="0" dirty="0">
                <a:solidFill>
                  <a:srgbClr val="CFD8E8"/>
                </a:solidFill>
                <a:latin typeface="맑은 고딕"/>
                <a:ea typeface="맑은 고딕"/>
                <a:cs typeface="맑은 고딕"/>
              </a:rPr>
              <a:t>중3 동아(윤정미) Lesson 7</a:t>
            </a:r>
            <a:endParaRPr lang="ko-KR" altLang="en-US" sz="2000" b="0" dirty="0">
              <a:solidFill>
                <a:srgbClr val="CFD8E8"/>
              </a:solidFill>
              <a:latin typeface="맑은 고딕"/>
              <a:ea typeface="맑은 고딕"/>
              <a:cs typeface="맑은 고딕"/>
            </a:endParaRPr>
          </a:p>
        </p:txBody>
      </p:sp>
      <p:sp>
        <p:nvSpPr>
          <p:cNvPr id="4" name="cv_ids"/>
          <p:cNvSpPr txBox="1"/>
          <p:nvPr/>
        </p:nvSpPr>
        <p:spPr>
          <a:xfrm>
            <a:off x="822960" y="2788920"/>
            <a:ext cx="10515600" cy="457200"/>
          </a:xfrm>
          <a:prstGeom prst="rect">
            <a:avLst/>
          </a:prstGeom>
          <a:noFill/>
        </p:spPr>
        <p:txBody>
          <a:bodyPr wrap="square" lIns="91440" tIns="45720" rIns="91440" bIns="45720" anchor="t" rtlCol="0">
            <a:noAutofit/>
          </a:bodyPr>
          <a:lstStyle/>
          <a:p>
            <a:pPr algn="l">
              <a:lnSpc>
                <a:spcPts val="2340"/>
              </a:lnSpc>
              <a:spcBef>
                <a:spcPts val="0"/>
              </a:spcBef>
              <a:spcAft>
                <a:spcPts val="0"/>
              </a:spcAft>
              <a:buNone/>
            </a:pPr>
            <a:r>
              <a:rPr lang="en-US" altLang="ko-KR" sz="1800" b="1" dirty="0">
                <a:solidFill>
                  <a:srgbClr val="AEBBD0"/>
                </a:solidFill>
                <a:latin typeface="Calibri"/>
                <a:ea typeface="맑은 고딕"/>
                <a:cs typeface="Calibri"/>
              </a:rPr>
              <a:t>L7-1  ·  L7-2  ·  L7-3  ·  L7-4</a:t>
            </a:r>
            <a:endParaRPr lang="en-US" altLang="ko-KR" sz="1800" b="1" dirty="0">
              <a:solidFill>
                <a:srgbClr val="AEBBD0"/>
              </a:solidFill>
              <a:latin typeface="Calibri"/>
              <a:ea typeface="맑은 고딕"/>
              <a:cs typeface="Calibri"/>
            </a:endParaRPr>
          </a:p>
        </p:txBody>
      </p:sp>
      <p:sp>
        <p:nvSpPr>
          <p:cNvPr id="5" name="cv_legend"/>
          <p:cNvSpPr/>
          <p:nvPr/>
        </p:nvSpPr>
        <p:spPr>
          <a:xfrm>
            <a:off x="822960" y="3977639"/>
            <a:ext cx="10515600" cy="1645920"/>
          </a:xfrm>
          <a:prstGeom prst="roundRect">
            <a:avLst>
              <a:gd name="adj" fmla="val 6000"/>
            </a:avLst>
          </a:prstGeom>
          <a:solidFill>
            <a:srgbClr val="27356E"/>
          </a:solidFill>
          <a:ln>
            <a:noFill/>
          </a:ln>
        </p:spPr>
        <p:txBody>
          <a:bodyPr wrap="square" lIns="320040" tIns="201168" rIns="320040" bIns="182880" anchor="t" rtlCol="0">
            <a:noAutofit/>
          </a:bodyPr>
          <a:lstStyle/>
          <a:p>
            <a:pPr algn="l">
              <a:lnSpc>
                <a:spcPts val="2270"/>
              </a:lnSpc>
              <a:spcBef>
                <a:spcPts val="0"/>
              </a:spcBef>
              <a:spcAft>
                <a:spcPts val="800"/>
              </a:spcAft>
              <a:buNone/>
            </a:pPr>
            <a:r>
              <a:rPr lang="ko-KR" altLang="en-US" sz="1600" b="1" dirty="0">
                <a:solidFill>
                  <a:srgbClr val="FFE98A"/>
                </a:solidFill>
                <a:latin typeface="맑은 고딕"/>
                <a:ea typeface="맑은 고딕"/>
                <a:cs typeface="맑은 고딕"/>
              </a:rPr>
              <a:t>PART 1  5지선다     </a:t>
            </a:r>
            <a:r>
              <a:rPr lang="ko-KR" altLang="en-US" sz="1600" b="0" dirty="0">
                <a:solidFill>
                  <a:srgbClr val="FFFFFF"/>
                </a:solidFill>
                <a:latin typeface="맑은 고딕"/>
                <a:ea typeface="맑은 고딕"/>
                <a:cs typeface="맑은 고딕"/>
              </a:rPr>
              <a:t>클릭 ① 정답  →  클릭 ② 본문 근거 형광 + 정답 원리</a:t>
            </a:r>
            <a:endParaRPr lang="ko-KR" altLang="en-US" sz="1600" b="0" dirty="0">
              <a:solidFill>
                <a:srgbClr val="FFFFFF"/>
              </a:solidFill>
              <a:latin typeface="맑은 고딕"/>
              <a:ea typeface="맑은 고딕"/>
              <a:cs typeface="맑은 고딕"/>
            </a:endParaRPr>
          </a:p>
          <a:p>
            <a:pPr algn="l">
              <a:lnSpc>
                <a:spcPts val="2270"/>
              </a:lnSpc>
              <a:spcBef>
                <a:spcPts val="0"/>
              </a:spcBef>
              <a:spcAft>
                <a:spcPts val="800"/>
              </a:spcAft>
              <a:buNone/>
            </a:pPr>
            <a:r>
              <a:rPr lang="ko-KR" altLang="en-US" sz="1600" b="1" dirty="0">
                <a:solidFill>
                  <a:srgbClr val="FFE98A"/>
                </a:solidFill>
                <a:latin typeface="맑은 고딕"/>
                <a:ea typeface="맑은 고딕"/>
                <a:cs typeface="맑은 고딕"/>
              </a:rPr>
              <a:t>PART 2  순서·위치     </a:t>
            </a:r>
            <a:r>
              <a:rPr lang="ko-KR" altLang="en-US" sz="1600" b="0" dirty="0">
                <a:solidFill>
                  <a:srgbClr val="FFFFFF"/>
                </a:solidFill>
                <a:latin typeface="맑은 고딕"/>
                <a:ea typeface="맑은 고딕"/>
                <a:cs typeface="맑은 고딕"/>
              </a:rPr>
              <a:t>클릭 ① 정답  →  클릭 ② 정답 원리</a:t>
            </a:r>
            <a:endParaRPr lang="ko-KR" altLang="en-US" sz="1600" b="0" dirty="0">
              <a:solidFill>
                <a:srgbClr val="FFFFFF"/>
              </a:solidFill>
              <a:latin typeface="맑은 고딕"/>
              <a:ea typeface="맑은 고딕"/>
              <a:cs typeface="맑은 고딕"/>
            </a:endParaRPr>
          </a:p>
          <a:p>
            <a:pPr algn="l">
              <a:lnSpc>
                <a:spcPts val="2270"/>
              </a:lnSpc>
              <a:spcBef>
                <a:spcPts val="0"/>
              </a:spcBef>
              <a:spcAft>
                <a:spcPts val="800"/>
              </a:spcAft>
              <a:buNone/>
            </a:pPr>
            <a:r>
              <a:rPr lang="ko-KR" altLang="en-US" sz="1600" b="1" dirty="0">
                <a:solidFill>
                  <a:srgbClr val="FFE98A"/>
                </a:solidFill>
                <a:latin typeface="맑은 고딕"/>
                <a:ea typeface="맑은 고딕"/>
                <a:cs typeface="맑은 고딕"/>
              </a:rPr>
              <a:t>PART 3  어법·어휘     </a:t>
            </a:r>
            <a:r>
              <a:rPr lang="ko-KR" altLang="en-US" sz="1600" b="0" dirty="0">
                <a:solidFill>
                  <a:srgbClr val="FFFFFF"/>
                </a:solidFill>
                <a:latin typeface="맑은 고딕"/>
                <a:ea typeface="맑은 고딕"/>
                <a:cs typeface="맑은 고딕"/>
              </a:rPr>
              <a:t>본문 속 괄호마다, 클릭할 때마다 정답이 빨간색으로</a:t>
            </a:r>
            <a:endParaRPr lang="ko-KR" altLang="en-US" sz="1600" b="0" dirty="0">
              <a:solidFill>
                <a:srgbClr val="FFFFFF"/>
              </a:solidFill>
              <a:latin typeface="맑은 고딕"/>
              <a:ea typeface="맑은 고딕"/>
              <a:cs typeface="맑은 고딕"/>
            </a:endParaRPr>
          </a:p>
        </p:txBody>
      </p:sp>
    </p:spTree>
  </p:cSld>
  <p:clrMapOvr>
    <a:masterClrMapping/>
  </p:clrMapOvr>
</p:sld>
</file>

<file path=ppt/slides/slide15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L7-1</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1 · 1</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1. 다음 글의 주제로 가장 적절한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7</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본문 근거 형광 + 정답 원리</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212343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2123439"/>
          </a:xfrm>
          <a:prstGeom prst="rect">
            <a:avLst/>
          </a:prstGeom>
          <a:noFill/>
        </p:spPr>
        <p:txBody>
          <a:bodyPr wrap="square" lIns="201168" tIns="118872" rIns="201168" bIns="118872" anchor="t" rtlCol="0">
            <a:noAutofit/>
          </a:bodyPr>
          <a:lstStyle/>
          <a:p>
            <a:pPr algn="just">
              <a:lnSpc>
                <a:spcPts val="1820"/>
              </a:lnSpc>
              <a:spcBef>
                <a:spcPts val="0"/>
              </a:spcBef>
              <a:spcAft>
                <a:spcPts val="0"/>
              </a:spcAft>
              <a:buNone/>
            </a:pPr>
            <a:r>
              <a:rPr lang="en-US" altLang="ko-KR" sz="1400" b="0" dirty="0">
                <a:solidFill>
                  <a:srgbClr val="1F2328"/>
                </a:solidFill>
                <a:latin typeface="Calibri"/>
                <a:ea typeface="맑은 고딕"/>
                <a:cs typeface="Calibri"/>
              </a:rPr>
              <a:t>Have you ever visited an online bookstore and been surprised by the books that the store recommended for you? Many of them looked interesting to you. So how did the bookstore know what you liked? This is all possible because of big data. </a:t>
            </a:r>
            <a:r>
              <a:rPr lang="en-US" altLang="ko-KR" sz="1400" b="0" dirty="0">
                <a:solidFill>
                  <a:srgbClr val="1F2328"/>
                </a:solidFill>
                <a:latin typeface="Calibri"/>
                <a:ea typeface="맑은 고딕"/>
                <a:cs typeface="Calibri"/>
              </a:rPr>
              <a:t>Big data is data sets that are very big and complex.</a:t>
            </a:r>
            <a:r>
              <a:rPr lang="en-US" altLang="ko-KR" sz="1400" b="0" dirty="0">
                <a:solidFill>
                  <a:srgbClr val="1F2328"/>
                </a:solidFill>
                <a:latin typeface="Calibri"/>
                <a:ea typeface="맑은 고딕"/>
                <a:cs typeface="Calibri"/>
              </a:rPr>
              <a:t> As information and communication technology develops, the amount of data we have is getting much greater than before. This is mainly because almost everything that we do online leaves a trace. For example, the photos you upload on your blog and the records of your purchases at online stores are all part of big data. Simply collecting data, however, is not enough. Big data has to be analyzed, and this is done by big data experts. </a:t>
            </a:r>
            <a:r>
              <a:rPr lang="en-US" altLang="ko-KR" sz="1400" b="0" dirty="0">
                <a:solidFill>
                  <a:srgbClr val="1F2328"/>
                </a:solidFill>
                <a:latin typeface="Calibri"/>
                <a:ea typeface="맑은 고딕"/>
                <a:cs typeface="Calibri"/>
              </a:rPr>
              <a:t>Using various methods, experts analyze big data and draw meaningful results from it.</a:t>
            </a:r>
            <a:r>
              <a:rPr lang="en-US" altLang="ko-KR" sz="1400" b="0" dirty="0">
                <a:solidFill>
                  <a:srgbClr val="1F2328"/>
                </a:solidFill>
                <a:latin typeface="Calibri"/>
                <a:ea typeface="맑은 고딕"/>
                <a:cs typeface="Calibri"/>
              </a:rPr>
              <a:t> These results then can be used to make decisions or to predict the future.</a:t>
            </a:r>
            <a:endParaRPr lang="en-US" altLang="ko-KR" sz="1400" b="0" dirty="0">
              <a:solidFill>
                <a:srgbClr val="1F2328"/>
              </a:solidFill>
              <a:latin typeface="Calibri"/>
              <a:ea typeface="맑은 고딕"/>
              <a:cs typeface="Calibri"/>
            </a:endParaRPr>
          </a:p>
        </p:txBody>
      </p:sp>
      <p:sp>
        <p:nvSpPr>
          <p:cNvPr id="9" name="rv_evidence_card"/>
          <p:cNvSpPr/>
          <p:nvPr/>
        </p:nvSpPr>
        <p:spPr>
          <a:xfrm>
            <a:off x="457200" y="950976"/>
            <a:ext cx="11277295" cy="212343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rv_evidence"/>
          <p:cNvSpPr txBox="1"/>
          <p:nvPr/>
        </p:nvSpPr>
        <p:spPr>
          <a:xfrm>
            <a:off x="457200" y="950976"/>
            <a:ext cx="11277295" cy="2123439"/>
          </a:xfrm>
          <a:prstGeom prst="rect">
            <a:avLst/>
          </a:prstGeom>
          <a:noFill/>
        </p:spPr>
        <p:txBody>
          <a:bodyPr wrap="square" lIns="201168" tIns="118872" rIns="201168" bIns="118872" anchor="t" rtlCol="0">
            <a:noAutofit/>
          </a:bodyPr>
          <a:lstStyle/>
          <a:p>
            <a:pPr algn="just">
              <a:lnSpc>
                <a:spcPts val="1820"/>
              </a:lnSpc>
              <a:spcBef>
                <a:spcPts val="0"/>
              </a:spcBef>
              <a:spcAft>
                <a:spcPts val="0"/>
              </a:spcAft>
              <a:buNone/>
            </a:pPr>
            <a:r>
              <a:rPr lang="en-US" altLang="ko-KR" sz="1400" b="0" dirty="0">
                <a:solidFill>
                  <a:srgbClr val="B3BAC6"/>
                </a:solidFill>
                <a:latin typeface="Calibri"/>
                <a:ea typeface="맑은 고딕"/>
                <a:cs typeface="Calibri"/>
              </a:rPr>
              <a:t>Have you ever visited an online bookstore and been surprised by the books that the store recommended for you? Many of them looked interesting to you. So how did the bookstore know what you liked? This is all possible because of big data. </a:t>
            </a:r>
            <a:r>
              <a:rPr lang="en-US" altLang="ko-KR" sz="1400" b="0" dirty="0">
                <a:solidFill>
                  <a:srgbClr val="111111"/>
                </a:solidFill>
                <a:highlight>
                  <a:srgbClr val="FFE45C"/>
                </a:highlight>
                <a:latin typeface="Calibri"/>
                <a:ea typeface="맑은 고딕"/>
                <a:cs typeface="Calibri"/>
              </a:rPr>
              <a:t>Big data is data sets that are very big and complex.</a:t>
            </a:r>
            <a:r>
              <a:rPr lang="en-US" altLang="ko-KR" sz="1400" b="0" dirty="0">
                <a:solidFill>
                  <a:srgbClr val="B3BAC6"/>
                </a:solidFill>
                <a:latin typeface="Calibri"/>
                <a:ea typeface="맑은 고딕"/>
                <a:cs typeface="Calibri"/>
              </a:rPr>
              <a:t> As information and communication technology develops, the amount of data we have is getting much greater than before. This is mainly because almost everything that we do online leaves a trace. For example, the photos you upload on your blog and the records of your purchases at online stores are all part of big data. Simply collecting data, however, is not enough. Big data has to be analyzed, and this is done by big data experts. </a:t>
            </a:r>
            <a:r>
              <a:rPr lang="en-US" altLang="ko-KR" sz="1400" b="0" dirty="0">
                <a:solidFill>
                  <a:srgbClr val="111111"/>
                </a:solidFill>
                <a:highlight>
                  <a:srgbClr val="FFE45C"/>
                </a:highlight>
                <a:latin typeface="Calibri"/>
                <a:ea typeface="맑은 고딕"/>
                <a:cs typeface="Calibri"/>
              </a:rPr>
              <a:t>Using various methods, experts analyze big data and draw meaningful results from it.</a:t>
            </a:r>
            <a:r>
              <a:rPr lang="en-US" altLang="ko-KR" sz="1400" b="0" dirty="0">
                <a:solidFill>
                  <a:srgbClr val="B3BAC6"/>
                </a:solidFill>
                <a:latin typeface="Calibri"/>
                <a:ea typeface="맑은 고딕"/>
                <a:cs typeface="Calibri"/>
              </a:rPr>
              <a:t> These results then can be used to make decisions or to predict the future.</a:t>
            </a:r>
            <a:endParaRPr lang="en-US" altLang="ko-KR" sz="1400" b="0" dirty="0">
              <a:solidFill>
                <a:srgbClr val="B3BAC6"/>
              </a:solidFill>
              <a:latin typeface="Calibri"/>
              <a:ea typeface="맑은 고딕"/>
              <a:cs typeface="Calibri"/>
            </a:endParaRPr>
          </a:p>
        </p:txBody>
      </p:sp>
      <p:sp>
        <p:nvSpPr>
          <p:cNvPr id="11" name="choice_1"/>
          <p:cNvSpPr txBox="1"/>
          <p:nvPr/>
        </p:nvSpPr>
        <p:spPr>
          <a:xfrm>
            <a:off x="457200" y="3220720"/>
            <a:ext cx="11277295" cy="369824"/>
          </a:xfrm>
          <a:prstGeom prst="rect">
            <a:avLst/>
          </a:prstGeom>
          <a:noFill/>
        </p:spPr>
        <p:txBody>
          <a:bodyPr wrap="square" lIns="137160" tIns="27432" rIns="137160" bIns="27432" anchor="t" rtlCol="0">
            <a:noAutofit/>
          </a:bodyPr>
          <a:lstStyle/>
          <a:p>
            <a:pPr algn="l" marL="355600" indent="-355600">
              <a:lnSpc>
                <a:spcPts val="2480"/>
              </a:lnSpc>
              <a:spcBef>
                <a:spcPts val="0"/>
              </a:spcBef>
              <a:spcAft>
                <a:spcPts val="0"/>
              </a:spcAft>
              <a:buNone/>
              <a:tabLst>
                <a:tab pos="355600" algn="l"/>
              </a:tabLst>
            </a:pPr>
            <a:r>
              <a:rPr lang="ko-KR" altLang="en-US" sz="1750" b="1" dirty="0">
                <a:solidFill>
                  <a:srgbClr val="1E2A5A"/>
                </a:solidFill>
                <a:latin typeface="맑은 고딕"/>
                <a:ea typeface="맑은 고딕"/>
                <a:cs typeface="맑은 고딕"/>
              </a:rPr>
              <a:t>①</a:t>
            </a:r>
            <a:r>
              <a:rPr lang="en-US" altLang="ko-KR" sz="1750" b="0" dirty="0">
                <a:solidFill>
                  <a:srgbClr val="1F2328"/>
                </a:solidFill>
                <a:latin typeface="Calibri"/>
                <a:ea typeface="맑은 고딕"/>
                <a:cs typeface="Calibri"/>
              </a:rPr>
              <a:t>	what big data is and how experts make use of it</a:t>
            </a:r>
            <a:endParaRPr lang="en-US" altLang="ko-KR" sz="1750" b="0" dirty="0">
              <a:solidFill>
                <a:srgbClr val="1F2328"/>
              </a:solidFill>
              <a:latin typeface="Calibri"/>
              <a:ea typeface="맑은 고딕"/>
              <a:cs typeface="Calibri"/>
            </a:endParaRPr>
          </a:p>
        </p:txBody>
      </p:sp>
      <p:sp>
        <p:nvSpPr>
          <p:cNvPr id="12" name="rv_pick"/>
          <p:cNvSpPr txBox="1"/>
          <p:nvPr/>
        </p:nvSpPr>
        <p:spPr>
          <a:xfrm>
            <a:off x="457200" y="3220720"/>
            <a:ext cx="11277295" cy="369824"/>
          </a:xfrm>
          <a:prstGeom prst="rect">
            <a:avLst/>
          </a:prstGeom>
          <a:solidFill>
            <a:srgbClr val="FFF3C4"/>
          </a:solidFill>
        </p:spPr>
        <p:txBody>
          <a:bodyPr wrap="square" lIns="137160" tIns="27432" rIns="137160" bIns="27432" anchor="t" rtlCol="0">
            <a:noAutofit/>
          </a:bodyPr>
          <a:lstStyle/>
          <a:p>
            <a:pPr algn="l" marL="355600" indent="-355600">
              <a:lnSpc>
                <a:spcPts val="2480"/>
              </a:lnSpc>
              <a:spcBef>
                <a:spcPts val="0"/>
              </a:spcBef>
              <a:spcAft>
                <a:spcPts val="0"/>
              </a:spcAft>
              <a:buNone/>
              <a:tabLst>
                <a:tab pos="355600" algn="l"/>
              </a:tabLst>
            </a:pPr>
            <a:r>
              <a:rPr lang="ko-KR" altLang="en-US" sz="1750" b="1" dirty="0">
                <a:solidFill>
                  <a:srgbClr val="C00000"/>
                </a:solidFill>
                <a:latin typeface="맑은 고딕"/>
                <a:ea typeface="맑은 고딕"/>
                <a:cs typeface="맑은 고딕"/>
              </a:rPr>
              <a:t>①</a:t>
            </a:r>
            <a:r>
              <a:rPr lang="en-US" altLang="ko-KR" sz="1750" b="0" dirty="0">
                <a:solidFill>
                  <a:srgbClr val="C00000"/>
                </a:solidFill>
                <a:latin typeface="Calibri"/>
                <a:ea typeface="맑은 고딕"/>
                <a:cs typeface="Calibri"/>
              </a:rPr>
              <a:t>	what big data is and how experts make use of it</a:t>
            </a:r>
            <a:endParaRPr lang="en-US" altLang="ko-KR" sz="1750" b="0" dirty="0">
              <a:solidFill>
                <a:srgbClr val="C00000"/>
              </a:solidFill>
              <a:latin typeface="Calibri"/>
              <a:ea typeface="맑은 고딕"/>
              <a:cs typeface="Calibri"/>
            </a:endParaRPr>
          </a:p>
        </p:txBody>
      </p:sp>
      <p:sp>
        <p:nvSpPr>
          <p:cNvPr id="13" name="choice_2"/>
          <p:cNvSpPr txBox="1"/>
          <p:nvPr/>
        </p:nvSpPr>
        <p:spPr>
          <a:xfrm>
            <a:off x="457200" y="3617976"/>
            <a:ext cx="11277295" cy="369824"/>
          </a:xfrm>
          <a:prstGeom prst="rect">
            <a:avLst/>
          </a:prstGeom>
          <a:noFill/>
        </p:spPr>
        <p:txBody>
          <a:bodyPr wrap="square" lIns="137160" tIns="27432" rIns="137160" bIns="27432" anchor="t" rtlCol="0">
            <a:noAutofit/>
          </a:bodyPr>
          <a:lstStyle/>
          <a:p>
            <a:pPr algn="l" marL="355600" indent="-355600">
              <a:lnSpc>
                <a:spcPts val="2480"/>
              </a:lnSpc>
              <a:spcBef>
                <a:spcPts val="0"/>
              </a:spcBef>
              <a:spcAft>
                <a:spcPts val="0"/>
              </a:spcAft>
              <a:buNone/>
              <a:tabLst>
                <a:tab pos="355600" algn="l"/>
              </a:tabLst>
            </a:pPr>
            <a:r>
              <a:rPr lang="ko-KR" altLang="en-US" sz="1750" b="1" dirty="0">
                <a:solidFill>
                  <a:srgbClr val="1E2A5A"/>
                </a:solidFill>
                <a:latin typeface="맑은 고딕"/>
                <a:ea typeface="맑은 고딕"/>
                <a:cs typeface="맑은 고딕"/>
              </a:rPr>
              <a:t>②</a:t>
            </a:r>
            <a:r>
              <a:rPr lang="en-US" altLang="ko-KR" sz="1750" b="0" dirty="0">
                <a:solidFill>
                  <a:srgbClr val="1F2328"/>
                </a:solidFill>
                <a:latin typeface="Calibri"/>
                <a:ea typeface="맑은 고딕"/>
                <a:cs typeface="Calibri"/>
              </a:rPr>
              <a:t>	the reasons people enjoy shopping at online bookstores</a:t>
            </a:r>
            <a:endParaRPr lang="en-US" altLang="ko-KR" sz="1750" b="0" dirty="0">
              <a:solidFill>
                <a:srgbClr val="1F2328"/>
              </a:solidFill>
              <a:latin typeface="Calibri"/>
              <a:ea typeface="맑은 고딕"/>
              <a:cs typeface="Calibri"/>
            </a:endParaRPr>
          </a:p>
        </p:txBody>
      </p:sp>
      <p:sp>
        <p:nvSpPr>
          <p:cNvPr id="14" name="choice_3"/>
          <p:cNvSpPr txBox="1"/>
          <p:nvPr/>
        </p:nvSpPr>
        <p:spPr>
          <a:xfrm>
            <a:off x="457200" y="4015232"/>
            <a:ext cx="11277295" cy="369824"/>
          </a:xfrm>
          <a:prstGeom prst="rect">
            <a:avLst/>
          </a:prstGeom>
          <a:noFill/>
        </p:spPr>
        <p:txBody>
          <a:bodyPr wrap="square" lIns="137160" tIns="27432" rIns="137160" bIns="27432" anchor="t" rtlCol="0">
            <a:noAutofit/>
          </a:bodyPr>
          <a:lstStyle/>
          <a:p>
            <a:pPr algn="l" marL="355600" indent="-355600">
              <a:lnSpc>
                <a:spcPts val="2480"/>
              </a:lnSpc>
              <a:spcBef>
                <a:spcPts val="0"/>
              </a:spcBef>
              <a:spcAft>
                <a:spcPts val="0"/>
              </a:spcAft>
              <a:buNone/>
              <a:tabLst>
                <a:tab pos="355600" algn="l"/>
              </a:tabLst>
            </a:pPr>
            <a:r>
              <a:rPr lang="ko-KR" altLang="en-US" sz="1750" b="1" dirty="0">
                <a:solidFill>
                  <a:srgbClr val="1E2A5A"/>
                </a:solidFill>
                <a:latin typeface="맑은 고딕"/>
                <a:ea typeface="맑은 고딕"/>
                <a:cs typeface="맑은 고딕"/>
              </a:rPr>
              <a:t>③</a:t>
            </a:r>
            <a:r>
              <a:rPr lang="en-US" altLang="ko-KR" sz="1750" b="0" dirty="0">
                <a:solidFill>
                  <a:srgbClr val="1F2328"/>
                </a:solidFill>
                <a:latin typeface="Calibri"/>
                <a:ea typeface="맑은 고딕"/>
                <a:cs typeface="Calibri"/>
              </a:rPr>
              <a:t>	the ways to protect your privacy on online websites</a:t>
            </a:r>
            <a:endParaRPr lang="en-US" altLang="ko-KR" sz="1750" b="0" dirty="0">
              <a:solidFill>
                <a:srgbClr val="1F2328"/>
              </a:solidFill>
              <a:latin typeface="Calibri"/>
              <a:ea typeface="맑은 고딕"/>
              <a:cs typeface="Calibri"/>
            </a:endParaRPr>
          </a:p>
        </p:txBody>
      </p:sp>
      <p:sp>
        <p:nvSpPr>
          <p:cNvPr id="15" name="choice_4"/>
          <p:cNvSpPr txBox="1"/>
          <p:nvPr/>
        </p:nvSpPr>
        <p:spPr>
          <a:xfrm>
            <a:off x="457200" y="4412488"/>
            <a:ext cx="11277295" cy="369824"/>
          </a:xfrm>
          <a:prstGeom prst="rect">
            <a:avLst/>
          </a:prstGeom>
          <a:noFill/>
        </p:spPr>
        <p:txBody>
          <a:bodyPr wrap="square" lIns="137160" tIns="27432" rIns="137160" bIns="27432" anchor="t" rtlCol="0">
            <a:noAutofit/>
          </a:bodyPr>
          <a:lstStyle/>
          <a:p>
            <a:pPr algn="l" marL="355600" indent="-355600">
              <a:lnSpc>
                <a:spcPts val="2480"/>
              </a:lnSpc>
              <a:spcBef>
                <a:spcPts val="0"/>
              </a:spcBef>
              <a:spcAft>
                <a:spcPts val="0"/>
              </a:spcAft>
              <a:buNone/>
              <a:tabLst>
                <a:tab pos="355600" algn="l"/>
              </a:tabLst>
            </a:pPr>
            <a:r>
              <a:rPr lang="ko-KR" altLang="en-US" sz="1750" b="1" dirty="0">
                <a:solidFill>
                  <a:srgbClr val="1E2A5A"/>
                </a:solidFill>
                <a:latin typeface="맑은 고딕"/>
                <a:ea typeface="맑은 고딕"/>
                <a:cs typeface="맑은 고딕"/>
              </a:rPr>
              <a:t>④</a:t>
            </a:r>
            <a:r>
              <a:rPr lang="en-US" altLang="ko-KR" sz="1750" b="0" dirty="0">
                <a:solidFill>
                  <a:srgbClr val="1F2328"/>
                </a:solidFill>
                <a:latin typeface="Calibri"/>
                <a:ea typeface="맑은 고딕"/>
                <a:cs typeface="Calibri"/>
              </a:rPr>
              <a:t>	the problems caused by collecting too much data</a:t>
            </a:r>
            <a:endParaRPr lang="en-US" altLang="ko-KR" sz="1750" b="0" dirty="0">
              <a:solidFill>
                <a:srgbClr val="1F2328"/>
              </a:solidFill>
              <a:latin typeface="Calibri"/>
              <a:ea typeface="맑은 고딕"/>
              <a:cs typeface="Calibri"/>
            </a:endParaRPr>
          </a:p>
        </p:txBody>
      </p:sp>
      <p:sp>
        <p:nvSpPr>
          <p:cNvPr id="16" name="choice_5"/>
          <p:cNvSpPr txBox="1"/>
          <p:nvPr/>
        </p:nvSpPr>
        <p:spPr>
          <a:xfrm>
            <a:off x="457200" y="4809744"/>
            <a:ext cx="11277295" cy="369824"/>
          </a:xfrm>
          <a:prstGeom prst="rect">
            <a:avLst/>
          </a:prstGeom>
          <a:noFill/>
        </p:spPr>
        <p:txBody>
          <a:bodyPr wrap="square" lIns="137160" tIns="27432" rIns="137160" bIns="27432" anchor="t" rtlCol="0">
            <a:noAutofit/>
          </a:bodyPr>
          <a:lstStyle/>
          <a:p>
            <a:pPr algn="l" marL="355600" indent="-355600">
              <a:lnSpc>
                <a:spcPts val="2480"/>
              </a:lnSpc>
              <a:spcBef>
                <a:spcPts val="0"/>
              </a:spcBef>
              <a:spcAft>
                <a:spcPts val="0"/>
              </a:spcAft>
              <a:buNone/>
              <a:tabLst>
                <a:tab pos="355600" algn="l"/>
              </a:tabLst>
            </a:pPr>
            <a:r>
              <a:rPr lang="ko-KR" altLang="en-US" sz="1750" b="1" dirty="0">
                <a:solidFill>
                  <a:srgbClr val="1E2A5A"/>
                </a:solidFill>
                <a:latin typeface="맑은 고딕"/>
                <a:ea typeface="맑은 고딕"/>
                <a:cs typeface="맑은 고딕"/>
              </a:rPr>
              <a:t>⑤</a:t>
            </a:r>
            <a:r>
              <a:rPr lang="en-US" altLang="ko-KR" sz="1750" b="0" dirty="0">
                <a:solidFill>
                  <a:srgbClr val="1F2328"/>
                </a:solidFill>
                <a:latin typeface="Calibri"/>
                <a:ea typeface="맑은 고딕"/>
                <a:cs typeface="Calibri"/>
              </a:rPr>
              <a:t>	why information technology develops faster each year</a:t>
            </a:r>
            <a:endParaRPr lang="en-US" altLang="ko-KR" sz="1750" b="0" dirty="0">
              <a:solidFill>
                <a:srgbClr val="1F2328"/>
              </a:solidFill>
              <a:latin typeface="Calibri"/>
              <a:ea typeface="맑은 고딕"/>
              <a:cs typeface="Calibri"/>
            </a:endParaRPr>
          </a:p>
        </p:txBody>
      </p:sp>
      <p:sp>
        <p:nvSpPr>
          <p:cNvPr id="17" name="rv_answer"/>
          <p:cNvSpPr/>
          <p:nvPr/>
        </p:nvSpPr>
        <p:spPr>
          <a:xfrm>
            <a:off x="457200" y="528929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① </a:t>
            </a:r>
            <a:r>
              <a:rPr lang="en-US" altLang="ko-KR" sz="1900" b="1" dirty="0">
                <a:solidFill>
                  <a:srgbClr val="5A4200"/>
                </a:solidFill>
                <a:latin typeface="Calibri"/>
                <a:ea typeface="맑은 고딕"/>
                <a:cs typeface="Calibri"/>
              </a:rPr>
              <a:t>what big data is and how experts make use of it</a:t>
            </a:r>
            <a:endParaRPr lang="en-US" altLang="ko-KR" sz="1900" b="1" dirty="0">
              <a:solidFill>
                <a:srgbClr val="5A4200"/>
              </a:solidFill>
              <a:latin typeface="Calibri"/>
              <a:ea typeface="맑은 고딕"/>
              <a:cs typeface="Calibri"/>
            </a:endParaRPr>
          </a:p>
        </p:txBody>
      </p:sp>
      <p:sp>
        <p:nvSpPr>
          <p:cNvPr id="18" name="rv_why"/>
          <p:cNvSpPr/>
          <p:nvPr/>
        </p:nvSpPr>
        <p:spPr>
          <a:xfrm>
            <a:off x="457200" y="5888228"/>
            <a:ext cx="11277295" cy="53085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빅데이터가 매우 크고 복잡한 데이터 집합이며 전문가가 분석해 결과를 끌어낸다고 했다. 개념과 활용을 함께 담은 ①이 주제다.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25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25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25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7" grpId="0" animBg="1"/>
      <p:bldP spid="9" grpId="0" animBg="1"/>
      <p:bldP spid="10" grpId="0" animBg="1"/>
      <p:bldP spid="18" grpId="0" animBg="1"/>
    </p:bldLst>
  </p:timing>
</p:sld>
</file>

<file path=ppt/slides/slide15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L7-1</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1 · 2</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2. 다음 글의 제목으로 가장 적절한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7</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본문 근거 형광 + 정답 원리</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212343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2123439"/>
          </a:xfrm>
          <a:prstGeom prst="rect">
            <a:avLst/>
          </a:prstGeom>
          <a:noFill/>
        </p:spPr>
        <p:txBody>
          <a:bodyPr wrap="square" lIns="201168" tIns="118872" rIns="201168" bIns="118872" anchor="t" rtlCol="0">
            <a:noAutofit/>
          </a:bodyPr>
          <a:lstStyle/>
          <a:p>
            <a:pPr algn="just">
              <a:lnSpc>
                <a:spcPts val="1820"/>
              </a:lnSpc>
              <a:spcBef>
                <a:spcPts val="0"/>
              </a:spcBef>
              <a:spcAft>
                <a:spcPts val="0"/>
              </a:spcAft>
              <a:buNone/>
            </a:pPr>
            <a:r>
              <a:rPr lang="en-US" altLang="ko-KR" sz="1400" b="0" dirty="0">
                <a:solidFill>
                  <a:srgbClr val="1F2328"/>
                </a:solidFill>
                <a:latin typeface="Calibri"/>
                <a:ea typeface="맑은 고딕"/>
                <a:cs typeface="Calibri"/>
              </a:rPr>
              <a:t>Have you ever visited an online bookstore and been surprised by the books that the store recommended for you? Many of them looked interesting to you. So how did the bookstore know what you liked? This is all possible because of big data. </a:t>
            </a:r>
            <a:r>
              <a:rPr lang="en-US" altLang="ko-KR" sz="1400" b="0" dirty="0">
                <a:solidFill>
                  <a:srgbClr val="1F2328"/>
                </a:solidFill>
                <a:latin typeface="Calibri"/>
                <a:ea typeface="맑은 고딕"/>
                <a:cs typeface="Calibri"/>
              </a:rPr>
              <a:t>Big data is data sets that are very big and complex.</a:t>
            </a:r>
            <a:r>
              <a:rPr lang="en-US" altLang="ko-KR" sz="1400" b="0" dirty="0">
                <a:solidFill>
                  <a:srgbClr val="1F2328"/>
                </a:solidFill>
                <a:latin typeface="Calibri"/>
                <a:ea typeface="맑은 고딕"/>
                <a:cs typeface="Calibri"/>
              </a:rPr>
              <a:t> As information and communication technology develops, the amount of data we have is getting much greater than before. This is mainly because almost everything that we do online leaves a trace. For example, the photos you upload on your blog and the records of your purchases at online stores are all part of big data. Simply collecting data, however, is not enough. </a:t>
            </a:r>
            <a:r>
              <a:rPr lang="en-US" altLang="ko-KR" sz="1400" b="0" dirty="0">
                <a:solidFill>
                  <a:srgbClr val="1F2328"/>
                </a:solidFill>
                <a:latin typeface="Calibri"/>
                <a:ea typeface="맑은 고딕"/>
                <a:cs typeface="Calibri"/>
              </a:rPr>
              <a:t>Big data has to be analyzed, and this is done by big data experts.</a:t>
            </a:r>
            <a:r>
              <a:rPr lang="en-US" altLang="ko-KR" sz="1400" b="0" dirty="0">
                <a:solidFill>
                  <a:srgbClr val="1F2328"/>
                </a:solidFill>
                <a:latin typeface="Calibri"/>
                <a:ea typeface="맑은 고딕"/>
                <a:cs typeface="Calibri"/>
              </a:rPr>
              <a:t> Using various methods, experts analyze big data and draw meaningful results from it. These results then can be used to make decisions or to predict the future.</a:t>
            </a:r>
            <a:endParaRPr lang="en-US" altLang="ko-KR" sz="1400" b="0" dirty="0">
              <a:solidFill>
                <a:srgbClr val="1F2328"/>
              </a:solidFill>
              <a:latin typeface="Calibri"/>
              <a:ea typeface="맑은 고딕"/>
              <a:cs typeface="Calibri"/>
            </a:endParaRPr>
          </a:p>
        </p:txBody>
      </p:sp>
      <p:sp>
        <p:nvSpPr>
          <p:cNvPr id="9" name="rv_evidence_card"/>
          <p:cNvSpPr/>
          <p:nvPr/>
        </p:nvSpPr>
        <p:spPr>
          <a:xfrm>
            <a:off x="457200" y="950976"/>
            <a:ext cx="11277295" cy="212343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rv_evidence"/>
          <p:cNvSpPr txBox="1"/>
          <p:nvPr/>
        </p:nvSpPr>
        <p:spPr>
          <a:xfrm>
            <a:off x="457200" y="950976"/>
            <a:ext cx="11277295" cy="2123439"/>
          </a:xfrm>
          <a:prstGeom prst="rect">
            <a:avLst/>
          </a:prstGeom>
          <a:noFill/>
        </p:spPr>
        <p:txBody>
          <a:bodyPr wrap="square" lIns="201168" tIns="118872" rIns="201168" bIns="118872" anchor="t" rtlCol="0">
            <a:noAutofit/>
          </a:bodyPr>
          <a:lstStyle/>
          <a:p>
            <a:pPr algn="just">
              <a:lnSpc>
                <a:spcPts val="1820"/>
              </a:lnSpc>
              <a:spcBef>
                <a:spcPts val="0"/>
              </a:spcBef>
              <a:spcAft>
                <a:spcPts val="0"/>
              </a:spcAft>
              <a:buNone/>
            </a:pPr>
            <a:r>
              <a:rPr lang="en-US" altLang="ko-KR" sz="1400" b="0" dirty="0">
                <a:solidFill>
                  <a:srgbClr val="B3BAC6"/>
                </a:solidFill>
                <a:latin typeface="Calibri"/>
                <a:ea typeface="맑은 고딕"/>
                <a:cs typeface="Calibri"/>
              </a:rPr>
              <a:t>Have you ever visited an online bookstore and been surprised by the books that the store recommended for you? Many of them looked interesting to you. So how did the bookstore know what you liked? This is all possible because of big data. </a:t>
            </a:r>
            <a:r>
              <a:rPr lang="en-US" altLang="ko-KR" sz="1400" b="0" dirty="0">
                <a:solidFill>
                  <a:srgbClr val="111111"/>
                </a:solidFill>
                <a:highlight>
                  <a:srgbClr val="FFE45C"/>
                </a:highlight>
                <a:latin typeface="Calibri"/>
                <a:ea typeface="맑은 고딕"/>
                <a:cs typeface="Calibri"/>
              </a:rPr>
              <a:t>Big data is data sets that are very big and complex.</a:t>
            </a:r>
            <a:r>
              <a:rPr lang="en-US" altLang="ko-KR" sz="1400" b="0" dirty="0">
                <a:solidFill>
                  <a:srgbClr val="B3BAC6"/>
                </a:solidFill>
                <a:latin typeface="Calibri"/>
                <a:ea typeface="맑은 고딕"/>
                <a:cs typeface="Calibri"/>
              </a:rPr>
              <a:t> As information and communication technology develops, the amount of data we have is getting much greater than before. This is mainly because almost everything that we do online leaves a trace. For example, the photos you upload on your blog and the records of your purchases at online stores are all part of big data. Simply collecting data, however, is not enough. </a:t>
            </a:r>
            <a:r>
              <a:rPr lang="en-US" altLang="ko-KR" sz="1400" b="0" dirty="0">
                <a:solidFill>
                  <a:srgbClr val="111111"/>
                </a:solidFill>
                <a:highlight>
                  <a:srgbClr val="FFE45C"/>
                </a:highlight>
                <a:latin typeface="Calibri"/>
                <a:ea typeface="맑은 고딕"/>
                <a:cs typeface="Calibri"/>
              </a:rPr>
              <a:t>Big data has to be analyzed, and this is done by big data experts.</a:t>
            </a:r>
            <a:r>
              <a:rPr lang="en-US" altLang="ko-KR" sz="1400" b="0" dirty="0">
                <a:solidFill>
                  <a:srgbClr val="B3BAC6"/>
                </a:solidFill>
                <a:latin typeface="Calibri"/>
                <a:ea typeface="맑은 고딕"/>
                <a:cs typeface="Calibri"/>
              </a:rPr>
              <a:t> Using various methods, experts analyze big data and draw meaningful results from it. These results then can be used to make decisions or to predict the future.</a:t>
            </a:r>
            <a:endParaRPr lang="en-US" altLang="ko-KR" sz="1400" b="0" dirty="0">
              <a:solidFill>
                <a:srgbClr val="B3BAC6"/>
              </a:solidFill>
              <a:latin typeface="Calibri"/>
              <a:ea typeface="맑은 고딕"/>
              <a:cs typeface="Calibri"/>
            </a:endParaRPr>
          </a:p>
        </p:txBody>
      </p:sp>
      <p:sp>
        <p:nvSpPr>
          <p:cNvPr id="11" name="choice_1"/>
          <p:cNvSpPr txBox="1"/>
          <p:nvPr/>
        </p:nvSpPr>
        <p:spPr>
          <a:xfrm>
            <a:off x="457200" y="3220720"/>
            <a:ext cx="11277295" cy="369824"/>
          </a:xfrm>
          <a:prstGeom prst="rect">
            <a:avLst/>
          </a:prstGeom>
          <a:noFill/>
        </p:spPr>
        <p:txBody>
          <a:bodyPr wrap="square" lIns="137160" tIns="27432" rIns="137160" bIns="27432" anchor="t" rtlCol="0">
            <a:noAutofit/>
          </a:bodyPr>
          <a:lstStyle/>
          <a:p>
            <a:pPr algn="l" marL="355600" indent="-355600">
              <a:lnSpc>
                <a:spcPts val="2480"/>
              </a:lnSpc>
              <a:spcBef>
                <a:spcPts val="0"/>
              </a:spcBef>
              <a:spcAft>
                <a:spcPts val="0"/>
              </a:spcAft>
              <a:buNone/>
              <a:tabLst>
                <a:tab pos="355600" algn="l"/>
              </a:tabLst>
            </a:pPr>
            <a:r>
              <a:rPr lang="ko-KR" altLang="en-US" sz="1750" b="1" dirty="0">
                <a:solidFill>
                  <a:srgbClr val="1E2A5A"/>
                </a:solidFill>
                <a:latin typeface="맑은 고딕"/>
                <a:ea typeface="맑은 고딕"/>
                <a:cs typeface="맑은 고딕"/>
              </a:rPr>
              <a:t>①</a:t>
            </a:r>
            <a:r>
              <a:rPr lang="en-US" altLang="ko-KR" sz="1750" b="0" dirty="0">
                <a:solidFill>
                  <a:srgbClr val="1F2328"/>
                </a:solidFill>
                <a:latin typeface="Calibri"/>
                <a:ea typeface="맑은 고딕"/>
                <a:cs typeface="Calibri"/>
              </a:rPr>
              <a:t>	Online Bookstores Know Your Taste</a:t>
            </a:r>
            <a:endParaRPr lang="en-US" altLang="ko-KR" sz="1750" b="0" dirty="0">
              <a:solidFill>
                <a:srgbClr val="1F2328"/>
              </a:solidFill>
              <a:latin typeface="Calibri"/>
              <a:ea typeface="맑은 고딕"/>
              <a:cs typeface="Calibri"/>
            </a:endParaRPr>
          </a:p>
        </p:txBody>
      </p:sp>
      <p:sp>
        <p:nvSpPr>
          <p:cNvPr id="12" name="choice_2"/>
          <p:cNvSpPr txBox="1"/>
          <p:nvPr/>
        </p:nvSpPr>
        <p:spPr>
          <a:xfrm>
            <a:off x="457200" y="3617976"/>
            <a:ext cx="11277295" cy="369824"/>
          </a:xfrm>
          <a:prstGeom prst="rect">
            <a:avLst/>
          </a:prstGeom>
          <a:noFill/>
        </p:spPr>
        <p:txBody>
          <a:bodyPr wrap="square" lIns="137160" tIns="27432" rIns="137160" bIns="27432" anchor="t" rtlCol="0">
            <a:noAutofit/>
          </a:bodyPr>
          <a:lstStyle/>
          <a:p>
            <a:pPr algn="l" marL="355600" indent="-355600">
              <a:lnSpc>
                <a:spcPts val="2480"/>
              </a:lnSpc>
              <a:spcBef>
                <a:spcPts val="0"/>
              </a:spcBef>
              <a:spcAft>
                <a:spcPts val="0"/>
              </a:spcAft>
              <a:buNone/>
              <a:tabLst>
                <a:tab pos="355600" algn="l"/>
              </a:tabLst>
            </a:pPr>
            <a:r>
              <a:rPr lang="ko-KR" altLang="en-US" sz="1750" b="1" dirty="0">
                <a:solidFill>
                  <a:srgbClr val="1E2A5A"/>
                </a:solidFill>
                <a:latin typeface="맑은 고딕"/>
                <a:ea typeface="맑은 고딕"/>
                <a:cs typeface="맑은 고딕"/>
              </a:rPr>
              <a:t>②</a:t>
            </a:r>
            <a:r>
              <a:rPr lang="en-US" altLang="ko-KR" sz="1750" b="0" dirty="0">
                <a:solidFill>
                  <a:srgbClr val="1F2328"/>
                </a:solidFill>
                <a:latin typeface="Calibri"/>
                <a:ea typeface="맑은 고딕"/>
                <a:cs typeface="Calibri"/>
              </a:rPr>
              <a:t>	Big Data: What It Is and How It Works</a:t>
            </a:r>
            <a:endParaRPr lang="en-US" altLang="ko-KR" sz="1750" b="0" dirty="0">
              <a:solidFill>
                <a:srgbClr val="1F2328"/>
              </a:solidFill>
              <a:latin typeface="Calibri"/>
              <a:ea typeface="맑은 고딕"/>
              <a:cs typeface="Calibri"/>
            </a:endParaRPr>
          </a:p>
        </p:txBody>
      </p:sp>
      <p:sp>
        <p:nvSpPr>
          <p:cNvPr id="13" name="rv_pick"/>
          <p:cNvSpPr txBox="1"/>
          <p:nvPr/>
        </p:nvSpPr>
        <p:spPr>
          <a:xfrm>
            <a:off x="457200" y="3617976"/>
            <a:ext cx="11277295" cy="369824"/>
          </a:xfrm>
          <a:prstGeom prst="rect">
            <a:avLst/>
          </a:prstGeom>
          <a:solidFill>
            <a:srgbClr val="FFF3C4"/>
          </a:solidFill>
        </p:spPr>
        <p:txBody>
          <a:bodyPr wrap="square" lIns="137160" tIns="27432" rIns="137160" bIns="27432" anchor="t" rtlCol="0">
            <a:noAutofit/>
          </a:bodyPr>
          <a:lstStyle/>
          <a:p>
            <a:pPr algn="l" marL="355600" indent="-355600">
              <a:lnSpc>
                <a:spcPts val="2480"/>
              </a:lnSpc>
              <a:spcBef>
                <a:spcPts val="0"/>
              </a:spcBef>
              <a:spcAft>
                <a:spcPts val="0"/>
              </a:spcAft>
              <a:buNone/>
              <a:tabLst>
                <a:tab pos="355600" algn="l"/>
              </a:tabLst>
            </a:pPr>
            <a:r>
              <a:rPr lang="ko-KR" altLang="en-US" sz="1750" b="1" dirty="0">
                <a:solidFill>
                  <a:srgbClr val="C00000"/>
                </a:solidFill>
                <a:latin typeface="맑은 고딕"/>
                <a:ea typeface="맑은 고딕"/>
                <a:cs typeface="맑은 고딕"/>
              </a:rPr>
              <a:t>②</a:t>
            </a:r>
            <a:r>
              <a:rPr lang="en-US" altLang="ko-KR" sz="1750" b="0" dirty="0">
                <a:solidFill>
                  <a:srgbClr val="C00000"/>
                </a:solidFill>
                <a:latin typeface="Calibri"/>
                <a:ea typeface="맑은 고딕"/>
                <a:cs typeface="Calibri"/>
              </a:rPr>
              <a:t>	Big Data: What It Is and How It Works</a:t>
            </a:r>
            <a:endParaRPr lang="en-US" altLang="ko-KR" sz="1750" b="0" dirty="0">
              <a:solidFill>
                <a:srgbClr val="C00000"/>
              </a:solidFill>
              <a:latin typeface="Calibri"/>
              <a:ea typeface="맑은 고딕"/>
              <a:cs typeface="Calibri"/>
            </a:endParaRPr>
          </a:p>
        </p:txBody>
      </p:sp>
      <p:sp>
        <p:nvSpPr>
          <p:cNvPr id="14" name="choice_3"/>
          <p:cNvSpPr txBox="1"/>
          <p:nvPr/>
        </p:nvSpPr>
        <p:spPr>
          <a:xfrm>
            <a:off x="457200" y="4015232"/>
            <a:ext cx="11277295" cy="369824"/>
          </a:xfrm>
          <a:prstGeom prst="rect">
            <a:avLst/>
          </a:prstGeom>
          <a:noFill/>
        </p:spPr>
        <p:txBody>
          <a:bodyPr wrap="square" lIns="137160" tIns="27432" rIns="137160" bIns="27432" anchor="t" rtlCol="0">
            <a:noAutofit/>
          </a:bodyPr>
          <a:lstStyle/>
          <a:p>
            <a:pPr algn="l" marL="355600" indent="-355600">
              <a:lnSpc>
                <a:spcPts val="2480"/>
              </a:lnSpc>
              <a:spcBef>
                <a:spcPts val="0"/>
              </a:spcBef>
              <a:spcAft>
                <a:spcPts val="0"/>
              </a:spcAft>
              <a:buNone/>
              <a:tabLst>
                <a:tab pos="355600" algn="l"/>
              </a:tabLst>
            </a:pPr>
            <a:r>
              <a:rPr lang="ko-KR" altLang="en-US" sz="1750" b="1" dirty="0">
                <a:solidFill>
                  <a:srgbClr val="1E2A5A"/>
                </a:solidFill>
                <a:latin typeface="맑은 고딕"/>
                <a:ea typeface="맑은 고딕"/>
                <a:cs typeface="맑은 고딕"/>
              </a:rPr>
              <a:t>③</a:t>
            </a:r>
            <a:r>
              <a:rPr lang="en-US" altLang="ko-KR" sz="1750" b="0" dirty="0">
                <a:solidFill>
                  <a:srgbClr val="1F2328"/>
                </a:solidFill>
                <a:latin typeface="Calibri"/>
                <a:ea typeface="맑은 고딕"/>
                <a:cs typeface="Calibri"/>
              </a:rPr>
              <a:t>	Why Your Photos Belong on Your Blog</a:t>
            </a:r>
            <a:endParaRPr lang="en-US" altLang="ko-KR" sz="1750" b="0" dirty="0">
              <a:solidFill>
                <a:srgbClr val="1F2328"/>
              </a:solidFill>
              <a:latin typeface="Calibri"/>
              <a:ea typeface="맑은 고딕"/>
              <a:cs typeface="Calibri"/>
            </a:endParaRPr>
          </a:p>
        </p:txBody>
      </p:sp>
      <p:sp>
        <p:nvSpPr>
          <p:cNvPr id="15" name="choice_4"/>
          <p:cNvSpPr txBox="1"/>
          <p:nvPr/>
        </p:nvSpPr>
        <p:spPr>
          <a:xfrm>
            <a:off x="457200" y="4412488"/>
            <a:ext cx="11277295" cy="369824"/>
          </a:xfrm>
          <a:prstGeom prst="rect">
            <a:avLst/>
          </a:prstGeom>
          <a:noFill/>
        </p:spPr>
        <p:txBody>
          <a:bodyPr wrap="square" lIns="137160" tIns="27432" rIns="137160" bIns="27432" anchor="t" rtlCol="0">
            <a:noAutofit/>
          </a:bodyPr>
          <a:lstStyle/>
          <a:p>
            <a:pPr algn="l" marL="355600" indent="-355600">
              <a:lnSpc>
                <a:spcPts val="2480"/>
              </a:lnSpc>
              <a:spcBef>
                <a:spcPts val="0"/>
              </a:spcBef>
              <a:spcAft>
                <a:spcPts val="0"/>
              </a:spcAft>
              <a:buNone/>
              <a:tabLst>
                <a:tab pos="355600" algn="l"/>
              </a:tabLst>
            </a:pPr>
            <a:r>
              <a:rPr lang="ko-KR" altLang="en-US" sz="1750" b="1" dirty="0">
                <a:solidFill>
                  <a:srgbClr val="1E2A5A"/>
                </a:solidFill>
                <a:latin typeface="맑은 고딕"/>
                <a:ea typeface="맑은 고딕"/>
                <a:cs typeface="맑은 고딕"/>
              </a:rPr>
              <a:t>④</a:t>
            </a:r>
            <a:r>
              <a:rPr lang="en-US" altLang="ko-KR" sz="1750" b="0" dirty="0">
                <a:solidFill>
                  <a:srgbClr val="1F2328"/>
                </a:solidFill>
                <a:latin typeface="Calibri"/>
                <a:ea typeface="맑은 고딕"/>
                <a:cs typeface="Calibri"/>
              </a:rPr>
              <a:t>	Too Much Data Can Hurt Your Privacy</a:t>
            </a:r>
            <a:endParaRPr lang="en-US" altLang="ko-KR" sz="1750" b="0" dirty="0">
              <a:solidFill>
                <a:srgbClr val="1F2328"/>
              </a:solidFill>
              <a:latin typeface="Calibri"/>
              <a:ea typeface="맑은 고딕"/>
              <a:cs typeface="Calibri"/>
            </a:endParaRPr>
          </a:p>
        </p:txBody>
      </p:sp>
      <p:sp>
        <p:nvSpPr>
          <p:cNvPr id="16" name="choice_5"/>
          <p:cNvSpPr txBox="1"/>
          <p:nvPr/>
        </p:nvSpPr>
        <p:spPr>
          <a:xfrm>
            <a:off x="457200" y="4809744"/>
            <a:ext cx="11277295" cy="369824"/>
          </a:xfrm>
          <a:prstGeom prst="rect">
            <a:avLst/>
          </a:prstGeom>
          <a:noFill/>
        </p:spPr>
        <p:txBody>
          <a:bodyPr wrap="square" lIns="137160" tIns="27432" rIns="137160" bIns="27432" anchor="t" rtlCol="0">
            <a:noAutofit/>
          </a:bodyPr>
          <a:lstStyle/>
          <a:p>
            <a:pPr algn="l" marL="355600" indent="-355600">
              <a:lnSpc>
                <a:spcPts val="2480"/>
              </a:lnSpc>
              <a:spcBef>
                <a:spcPts val="0"/>
              </a:spcBef>
              <a:spcAft>
                <a:spcPts val="0"/>
              </a:spcAft>
              <a:buNone/>
              <a:tabLst>
                <a:tab pos="355600" algn="l"/>
              </a:tabLst>
            </a:pPr>
            <a:r>
              <a:rPr lang="ko-KR" altLang="en-US" sz="1750" b="1" dirty="0">
                <a:solidFill>
                  <a:srgbClr val="1E2A5A"/>
                </a:solidFill>
                <a:latin typeface="맑은 고딕"/>
                <a:ea typeface="맑은 고딕"/>
                <a:cs typeface="맑은 고딕"/>
              </a:rPr>
              <a:t>⑤</a:t>
            </a:r>
            <a:r>
              <a:rPr lang="en-US" altLang="ko-KR" sz="1750" b="0" dirty="0">
                <a:solidFill>
                  <a:srgbClr val="1F2328"/>
                </a:solidFill>
                <a:latin typeface="Calibri"/>
                <a:ea typeface="맑은 고딕"/>
                <a:cs typeface="Calibri"/>
              </a:rPr>
              <a:t>	Technology Develops, Data Disappears</a:t>
            </a:r>
            <a:endParaRPr lang="en-US" altLang="ko-KR" sz="1750" b="0" dirty="0">
              <a:solidFill>
                <a:srgbClr val="1F2328"/>
              </a:solidFill>
              <a:latin typeface="Calibri"/>
              <a:ea typeface="맑은 고딕"/>
              <a:cs typeface="Calibri"/>
            </a:endParaRPr>
          </a:p>
        </p:txBody>
      </p:sp>
      <p:sp>
        <p:nvSpPr>
          <p:cNvPr id="17" name="rv_answer"/>
          <p:cNvSpPr/>
          <p:nvPr/>
        </p:nvSpPr>
        <p:spPr>
          <a:xfrm>
            <a:off x="457200" y="528929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② </a:t>
            </a:r>
            <a:r>
              <a:rPr lang="en-US" altLang="ko-KR" sz="1900" b="1" dirty="0">
                <a:solidFill>
                  <a:srgbClr val="5A4200"/>
                </a:solidFill>
                <a:latin typeface="Calibri"/>
                <a:ea typeface="맑은 고딕"/>
                <a:cs typeface="Calibri"/>
              </a:rPr>
              <a:t>Big Data: What It Is and How It Works</a:t>
            </a:r>
            <a:endParaRPr lang="en-US" altLang="ko-KR" sz="1900" b="1" dirty="0">
              <a:solidFill>
                <a:srgbClr val="5A4200"/>
              </a:solidFill>
              <a:latin typeface="Calibri"/>
              <a:ea typeface="맑은 고딕"/>
              <a:cs typeface="Calibri"/>
            </a:endParaRPr>
          </a:p>
        </p:txBody>
      </p:sp>
      <p:sp>
        <p:nvSpPr>
          <p:cNvPr id="18" name="rv_why"/>
          <p:cNvSpPr/>
          <p:nvPr/>
        </p:nvSpPr>
        <p:spPr>
          <a:xfrm>
            <a:off x="457200" y="5888228"/>
            <a:ext cx="11277295" cy="53085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빅데이터의 정의와 분석·활용 과정을 차례로 설명하므로 '무엇이며 어떻게 작동하는가'를 묻는 ②가 제목으로 알맞다.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250"/>
                                        <p:tgtEl>
                                          <p:spTgt spid="1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25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25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7" grpId="0" animBg="1"/>
      <p:bldP spid="9" grpId="0" animBg="1"/>
      <p:bldP spid="10" grpId="0" animBg="1"/>
      <p:bldP spid="18" grpId="0" animBg="1"/>
    </p:bldLst>
  </p:timing>
</p:sld>
</file>

<file path=ppt/slides/slide15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L7-1</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1 · 3</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3. 다음 글에서 필자가 주장하는 바로 가장 적절한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7</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본문 근거 형광 + 정답 원리</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212343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2123439"/>
          </a:xfrm>
          <a:prstGeom prst="rect">
            <a:avLst/>
          </a:prstGeom>
          <a:noFill/>
        </p:spPr>
        <p:txBody>
          <a:bodyPr wrap="square" lIns="201168" tIns="118872" rIns="201168" bIns="118872" anchor="t" rtlCol="0">
            <a:noAutofit/>
          </a:bodyPr>
          <a:lstStyle/>
          <a:p>
            <a:pPr algn="just">
              <a:lnSpc>
                <a:spcPts val="1820"/>
              </a:lnSpc>
              <a:spcBef>
                <a:spcPts val="0"/>
              </a:spcBef>
              <a:spcAft>
                <a:spcPts val="0"/>
              </a:spcAft>
              <a:buNone/>
            </a:pPr>
            <a:r>
              <a:rPr lang="en-US" altLang="ko-KR" sz="1400" b="0" dirty="0">
                <a:solidFill>
                  <a:srgbClr val="1F2328"/>
                </a:solidFill>
                <a:latin typeface="Calibri"/>
                <a:ea typeface="맑은 고딕"/>
                <a:cs typeface="Calibri"/>
              </a:rPr>
              <a:t>Have you ever visited an online bookstore and been surprised by the books that the store recommended for you? Many of them looked interesting to you. So how did the bookstore know what you liked? This is all possible because of big data. Big data is data sets that are very big and complex. As information and communication technology develops, the amount of data we have is getting much greater than before. This is mainly because almost everything that we do online leaves a trace. For example, the photos you upload on your blog and the records of your purchases at online stores are all part of big data. </a:t>
            </a:r>
            <a:r>
              <a:rPr lang="en-US" altLang="ko-KR" sz="1400" b="0" dirty="0">
                <a:solidFill>
                  <a:srgbClr val="1F2328"/>
                </a:solidFill>
                <a:latin typeface="Calibri"/>
                <a:ea typeface="맑은 고딕"/>
                <a:cs typeface="Calibri"/>
              </a:rPr>
              <a:t>Simply collecting data, however, is not enough.</a:t>
            </a:r>
            <a:r>
              <a:rPr lang="en-US" altLang="ko-KR" sz="1400" b="0" dirty="0">
                <a:solidFill>
                  <a:srgbClr val="1F2328"/>
                </a:solidFill>
                <a:latin typeface="Calibri"/>
                <a:ea typeface="맑은 고딕"/>
                <a:cs typeface="Calibri"/>
              </a:rPr>
              <a:t> </a:t>
            </a:r>
            <a:r>
              <a:rPr lang="en-US" altLang="ko-KR" sz="1400" b="0" dirty="0">
                <a:solidFill>
                  <a:srgbClr val="1F2328"/>
                </a:solidFill>
                <a:latin typeface="Calibri"/>
                <a:ea typeface="맑은 고딕"/>
                <a:cs typeface="Calibri"/>
              </a:rPr>
              <a:t>Big data has to be analyzed, and this is done by big data experts.</a:t>
            </a:r>
            <a:r>
              <a:rPr lang="en-US" altLang="ko-KR" sz="1400" b="0" dirty="0">
                <a:solidFill>
                  <a:srgbClr val="1F2328"/>
                </a:solidFill>
                <a:latin typeface="Calibri"/>
                <a:ea typeface="맑은 고딕"/>
                <a:cs typeface="Calibri"/>
              </a:rPr>
              <a:t> Using various methods, experts analyze big data and draw meaningful results from it. These results then can be used to make decisions or to predict the future.</a:t>
            </a:r>
            <a:endParaRPr lang="en-US" altLang="ko-KR" sz="1400" b="0" dirty="0">
              <a:solidFill>
                <a:srgbClr val="1F2328"/>
              </a:solidFill>
              <a:latin typeface="Calibri"/>
              <a:ea typeface="맑은 고딕"/>
              <a:cs typeface="Calibri"/>
            </a:endParaRPr>
          </a:p>
        </p:txBody>
      </p:sp>
      <p:sp>
        <p:nvSpPr>
          <p:cNvPr id="9" name="rv_evidence_card"/>
          <p:cNvSpPr/>
          <p:nvPr/>
        </p:nvSpPr>
        <p:spPr>
          <a:xfrm>
            <a:off x="457200" y="950976"/>
            <a:ext cx="11277295" cy="212343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rv_evidence"/>
          <p:cNvSpPr txBox="1"/>
          <p:nvPr/>
        </p:nvSpPr>
        <p:spPr>
          <a:xfrm>
            <a:off x="457200" y="950976"/>
            <a:ext cx="11277295" cy="2123439"/>
          </a:xfrm>
          <a:prstGeom prst="rect">
            <a:avLst/>
          </a:prstGeom>
          <a:noFill/>
        </p:spPr>
        <p:txBody>
          <a:bodyPr wrap="square" lIns="201168" tIns="118872" rIns="201168" bIns="118872" anchor="t" rtlCol="0">
            <a:noAutofit/>
          </a:bodyPr>
          <a:lstStyle/>
          <a:p>
            <a:pPr algn="just">
              <a:lnSpc>
                <a:spcPts val="1820"/>
              </a:lnSpc>
              <a:spcBef>
                <a:spcPts val="0"/>
              </a:spcBef>
              <a:spcAft>
                <a:spcPts val="0"/>
              </a:spcAft>
              <a:buNone/>
            </a:pPr>
            <a:r>
              <a:rPr lang="en-US" altLang="ko-KR" sz="1400" b="0" dirty="0">
                <a:solidFill>
                  <a:srgbClr val="B3BAC6"/>
                </a:solidFill>
                <a:latin typeface="Calibri"/>
                <a:ea typeface="맑은 고딕"/>
                <a:cs typeface="Calibri"/>
              </a:rPr>
              <a:t>Have you ever visited an online bookstore and been surprised by the books that the store recommended for you? Many of them looked interesting to you. So how did the bookstore know what you liked? This is all possible because of big data. Big data is data sets that are very big and complex. As information and communication technology develops, the amount of data we have is getting much greater than before. This is mainly because almost everything that we do online leaves a trace. For example, the photos you upload on your blog and the records of your purchases at online stores are all part of big data. </a:t>
            </a:r>
            <a:r>
              <a:rPr lang="en-US" altLang="ko-KR" sz="1400" b="0" dirty="0">
                <a:solidFill>
                  <a:srgbClr val="111111"/>
                </a:solidFill>
                <a:highlight>
                  <a:srgbClr val="FFE45C"/>
                </a:highlight>
                <a:latin typeface="Calibri"/>
                <a:ea typeface="맑은 고딕"/>
                <a:cs typeface="Calibri"/>
              </a:rPr>
              <a:t>Simply collecting data, however, is not enough.</a:t>
            </a:r>
            <a:r>
              <a:rPr lang="en-US" altLang="ko-KR" sz="1400" b="0" dirty="0">
                <a:solidFill>
                  <a:srgbClr val="B3BAC6"/>
                </a:solidFill>
                <a:latin typeface="Calibri"/>
                <a:ea typeface="맑은 고딕"/>
                <a:cs typeface="Calibri"/>
              </a:rPr>
              <a:t> </a:t>
            </a:r>
            <a:r>
              <a:rPr lang="en-US" altLang="ko-KR" sz="1400" b="0" dirty="0">
                <a:solidFill>
                  <a:srgbClr val="111111"/>
                </a:solidFill>
                <a:highlight>
                  <a:srgbClr val="FFE45C"/>
                </a:highlight>
                <a:latin typeface="Calibri"/>
                <a:ea typeface="맑은 고딕"/>
                <a:cs typeface="Calibri"/>
              </a:rPr>
              <a:t>Big data has to be analyzed, and this is done by big data experts.</a:t>
            </a:r>
            <a:r>
              <a:rPr lang="en-US" altLang="ko-KR" sz="1400" b="0" dirty="0">
                <a:solidFill>
                  <a:srgbClr val="B3BAC6"/>
                </a:solidFill>
                <a:latin typeface="Calibri"/>
                <a:ea typeface="맑은 고딕"/>
                <a:cs typeface="Calibri"/>
              </a:rPr>
              <a:t> Using various methods, experts analyze big data and draw meaningful results from it. These results then can be used to make decisions or to predict the future.</a:t>
            </a:r>
            <a:endParaRPr lang="en-US" altLang="ko-KR" sz="1400" b="0" dirty="0">
              <a:solidFill>
                <a:srgbClr val="B3BAC6"/>
              </a:solidFill>
              <a:latin typeface="Calibri"/>
              <a:ea typeface="맑은 고딕"/>
              <a:cs typeface="Calibri"/>
            </a:endParaRPr>
          </a:p>
        </p:txBody>
      </p:sp>
      <p:sp>
        <p:nvSpPr>
          <p:cNvPr id="11" name="choice_1"/>
          <p:cNvSpPr txBox="1"/>
          <p:nvPr/>
        </p:nvSpPr>
        <p:spPr>
          <a:xfrm>
            <a:off x="457200" y="3220720"/>
            <a:ext cx="11277295" cy="369824"/>
          </a:xfrm>
          <a:prstGeom prst="rect">
            <a:avLst/>
          </a:prstGeom>
          <a:noFill/>
        </p:spPr>
        <p:txBody>
          <a:bodyPr wrap="square" lIns="137160" tIns="27432" rIns="137160" bIns="27432" anchor="t" rtlCol="0">
            <a:noAutofit/>
          </a:bodyPr>
          <a:lstStyle/>
          <a:p>
            <a:pPr algn="l" marL="355600" indent="-355600">
              <a:lnSpc>
                <a:spcPts val="2480"/>
              </a:lnSpc>
              <a:spcBef>
                <a:spcPts val="0"/>
              </a:spcBef>
              <a:spcAft>
                <a:spcPts val="0"/>
              </a:spcAft>
              <a:buNone/>
              <a:tabLst>
                <a:tab pos="355600" algn="l"/>
              </a:tabLst>
            </a:pPr>
            <a:r>
              <a:rPr lang="ko-KR" altLang="en-US" sz="1750" b="1" dirty="0">
                <a:solidFill>
                  <a:srgbClr val="1E2A5A"/>
                </a:solidFill>
                <a:latin typeface="맑은 고딕"/>
                <a:ea typeface="맑은 고딕"/>
                <a:cs typeface="맑은 고딕"/>
              </a:rPr>
              <a:t>①</a:t>
            </a:r>
            <a:r>
              <a:rPr lang="ko-KR" altLang="en-US" sz="1750" b="0" dirty="0">
                <a:solidFill>
                  <a:srgbClr val="1F2328"/>
                </a:solidFill>
                <a:latin typeface="맑은 고딕"/>
                <a:ea typeface="맑은 고딕"/>
                <a:cs typeface="맑은 고딕"/>
              </a:rPr>
              <a:t>	온라인 서점은 고객의 취향을 더 존중해 책을 추천해야 한다</a:t>
            </a:r>
            <a:endParaRPr lang="ko-KR" altLang="en-US" sz="1750" b="0" dirty="0">
              <a:solidFill>
                <a:srgbClr val="1F2328"/>
              </a:solidFill>
              <a:latin typeface="맑은 고딕"/>
              <a:ea typeface="맑은 고딕"/>
              <a:cs typeface="맑은 고딕"/>
            </a:endParaRPr>
          </a:p>
        </p:txBody>
      </p:sp>
      <p:sp>
        <p:nvSpPr>
          <p:cNvPr id="12" name="choice_2"/>
          <p:cNvSpPr txBox="1"/>
          <p:nvPr/>
        </p:nvSpPr>
        <p:spPr>
          <a:xfrm>
            <a:off x="457200" y="3617976"/>
            <a:ext cx="11277295" cy="369824"/>
          </a:xfrm>
          <a:prstGeom prst="rect">
            <a:avLst/>
          </a:prstGeom>
          <a:noFill/>
        </p:spPr>
        <p:txBody>
          <a:bodyPr wrap="square" lIns="137160" tIns="27432" rIns="137160" bIns="27432" anchor="t" rtlCol="0">
            <a:noAutofit/>
          </a:bodyPr>
          <a:lstStyle/>
          <a:p>
            <a:pPr algn="l" marL="355600" indent="-355600">
              <a:lnSpc>
                <a:spcPts val="2480"/>
              </a:lnSpc>
              <a:spcBef>
                <a:spcPts val="0"/>
              </a:spcBef>
              <a:spcAft>
                <a:spcPts val="0"/>
              </a:spcAft>
              <a:buNone/>
              <a:tabLst>
                <a:tab pos="355600" algn="l"/>
              </a:tabLst>
            </a:pPr>
            <a:r>
              <a:rPr lang="ko-KR" altLang="en-US" sz="1750" b="1" dirty="0">
                <a:solidFill>
                  <a:srgbClr val="1E2A5A"/>
                </a:solidFill>
                <a:latin typeface="맑은 고딕"/>
                <a:ea typeface="맑은 고딕"/>
                <a:cs typeface="맑은 고딕"/>
              </a:rPr>
              <a:t>②</a:t>
            </a:r>
            <a:r>
              <a:rPr lang="ko-KR" altLang="en-US" sz="1750" b="0" dirty="0">
                <a:solidFill>
                  <a:srgbClr val="1F2328"/>
                </a:solidFill>
                <a:latin typeface="맑은 고딕"/>
                <a:ea typeface="맑은 고딕"/>
                <a:cs typeface="맑은 고딕"/>
              </a:rPr>
              <a:t>	개인 정보를 지키려면 온라인에 흔적을 남기지 말아야 한다</a:t>
            </a:r>
            <a:endParaRPr lang="ko-KR" altLang="en-US" sz="1750" b="0" dirty="0">
              <a:solidFill>
                <a:srgbClr val="1F2328"/>
              </a:solidFill>
              <a:latin typeface="맑은 고딕"/>
              <a:ea typeface="맑은 고딕"/>
              <a:cs typeface="맑은 고딕"/>
            </a:endParaRPr>
          </a:p>
        </p:txBody>
      </p:sp>
      <p:sp>
        <p:nvSpPr>
          <p:cNvPr id="13" name="choice_3"/>
          <p:cNvSpPr txBox="1"/>
          <p:nvPr/>
        </p:nvSpPr>
        <p:spPr>
          <a:xfrm>
            <a:off x="457200" y="4015232"/>
            <a:ext cx="11277295" cy="369824"/>
          </a:xfrm>
          <a:prstGeom prst="rect">
            <a:avLst/>
          </a:prstGeom>
          <a:noFill/>
        </p:spPr>
        <p:txBody>
          <a:bodyPr wrap="square" lIns="137160" tIns="27432" rIns="137160" bIns="27432" anchor="t" rtlCol="0">
            <a:noAutofit/>
          </a:bodyPr>
          <a:lstStyle/>
          <a:p>
            <a:pPr algn="l" marL="355600" indent="-355600">
              <a:lnSpc>
                <a:spcPts val="2480"/>
              </a:lnSpc>
              <a:spcBef>
                <a:spcPts val="0"/>
              </a:spcBef>
              <a:spcAft>
                <a:spcPts val="0"/>
              </a:spcAft>
              <a:buNone/>
              <a:tabLst>
                <a:tab pos="355600" algn="l"/>
              </a:tabLst>
            </a:pPr>
            <a:r>
              <a:rPr lang="ko-KR" altLang="en-US" sz="1750" b="1" dirty="0">
                <a:solidFill>
                  <a:srgbClr val="1E2A5A"/>
                </a:solidFill>
                <a:latin typeface="맑은 고딕"/>
                <a:ea typeface="맑은 고딕"/>
                <a:cs typeface="맑은 고딕"/>
              </a:rPr>
              <a:t>③</a:t>
            </a:r>
            <a:r>
              <a:rPr lang="ko-KR" altLang="en-US" sz="1750" b="0" dirty="0">
                <a:solidFill>
                  <a:srgbClr val="1F2328"/>
                </a:solidFill>
                <a:latin typeface="맑은 고딕"/>
                <a:ea typeface="맑은 고딕"/>
                <a:cs typeface="맑은 고딕"/>
              </a:rPr>
              <a:t>	빅데이터는 수집 후 전문가의 분석을 거쳐야 쓸모가 있다</a:t>
            </a:r>
            <a:endParaRPr lang="ko-KR" altLang="en-US" sz="1750" b="0" dirty="0">
              <a:solidFill>
                <a:srgbClr val="1F2328"/>
              </a:solidFill>
              <a:latin typeface="맑은 고딕"/>
              <a:ea typeface="맑은 고딕"/>
              <a:cs typeface="맑은 고딕"/>
            </a:endParaRPr>
          </a:p>
        </p:txBody>
      </p:sp>
      <p:sp>
        <p:nvSpPr>
          <p:cNvPr id="14" name="rv_pick"/>
          <p:cNvSpPr txBox="1"/>
          <p:nvPr/>
        </p:nvSpPr>
        <p:spPr>
          <a:xfrm>
            <a:off x="457200" y="4015232"/>
            <a:ext cx="11277295" cy="369824"/>
          </a:xfrm>
          <a:prstGeom prst="rect">
            <a:avLst/>
          </a:prstGeom>
          <a:solidFill>
            <a:srgbClr val="FFF3C4"/>
          </a:solidFill>
        </p:spPr>
        <p:txBody>
          <a:bodyPr wrap="square" lIns="137160" tIns="27432" rIns="137160" bIns="27432" anchor="t" rtlCol="0">
            <a:noAutofit/>
          </a:bodyPr>
          <a:lstStyle/>
          <a:p>
            <a:pPr algn="l" marL="355600" indent="-355600">
              <a:lnSpc>
                <a:spcPts val="2480"/>
              </a:lnSpc>
              <a:spcBef>
                <a:spcPts val="0"/>
              </a:spcBef>
              <a:spcAft>
                <a:spcPts val="0"/>
              </a:spcAft>
              <a:buNone/>
              <a:tabLst>
                <a:tab pos="355600" algn="l"/>
              </a:tabLst>
            </a:pPr>
            <a:r>
              <a:rPr lang="ko-KR" altLang="en-US" sz="1750" b="1" dirty="0">
                <a:solidFill>
                  <a:srgbClr val="C00000"/>
                </a:solidFill>
                <a:latin typeface="맑은 고딕"/>
                <a:ea typeface="맑은 고딕"/>
                <a:cs typeface="맑은 고딕"/>
              </a:rPr>
              <a:t>③</a:t>
            </a:r>
            <a:r>
              <a:rPr lang="ko-KR" altLang="en-US" sz="1750" b="0" dirty="0">
                <a:solidFill>
                  <a:srgbClr val="C00000"/>
                </a:solidFill>
                <a:latin typeface="맑은 고딕"/>
                <a:ea typeface="맑은 고딕"/>
                <a:cs typeface="맑은 고딕"/>
              </a:rPr>
              <a:t>	빅데이터는 수집 후 전문가의 분석을 거쳐야 쓸모가 있다</a:t>
            </a:r>
            <a:endParaRPr lang="ko-KR" altLang="en-US" sz="1750" b="0" dirty="0">
              <a:solidFill>
                <a:srgbClr val="C00000"/>
              </a:solidFill>
              <a:latin typeface="맑은 고딕"/>
              <a:ea typeface="맑은 고딕"/>
              <a:cs typeface="맑은 고딕"/>
            </a:endParaRPr>
          </a:p>
        </p:txBody>
      </p:sp>
      <p:sp>
        <p:nvSpPr>
          <p:cNvPr id="15" name="choice_4"/>
          <p:cNvSpPr txBox="1"/>
          <p:nvPr/>
        </p:nvSpPr>
        <p:spPr>
          <a:xfrm>
            <a:off x="457200" y="4412488"/>
            <a:ext cx="11277295" cy="369824"/>
          </a:xfrm>
          <a:prstGeom prst="rect">
            <a:avLst/>
          </a:prstGeom>
          <a:noFill/>
        </p:spPr>
        <p:txBody>
          <a:bodyPr wrap="square" lIns="137160" tIns="27432" rIns="137160" bIns="27432" anchor="t" rtlCol="0">
            <a:noAutofit/>
          </a:bodyPr>
          <a:lstStyle/>
          <a:p>
            <a:pPr algn="l" marL="355600" indent="-355600">
              <a:lnSpc>
                <a:spcPts val="2480"/>
              </a:lnSpc>
              <a:spcBef>
                <a:spcPts val="0"/>
              </a:spcBef>
              <a:spcAft>
                <a:spcPts val="0"/>
              </a:spcAft>
              <a:buNone/>
              <a:tabLst>
                <a:tab pos="355600" algn="l"/>
              </a:tabLst>
            </a:pPr>
            <a:r>
              <a:rPr lang="ko-KR" altLang="en-US" sz="1750" b="1" dirty="0">
                <a:solidFill>
                  <a:srgbClr val="1E2A5A"/>
                </a:solidFill>
                <a:latin typeface="맑은 고딕"/>
                <a:ea typeface="맑은 고딕"/>
                <a:cs typeface="맑은 고딕"/>
              </a:rPr>
              <a:t>④</a:t>
            </a:r>
            <a:r>
              <a:rPr lang="ko-KR" altLang="en-US" sz="1750" b="0" dirty="0">
                <a:solidFill>
                  <a:srgbClr val="1F2328"/>
                </a:solidFill>
                <a:latin typeface="맑은 고딕"/>
                <a:ea typeface="맑은 고딕"/>
                <a:cs typeface="맑은 고딕"/>
              </a:rPr>
              <a:t>	정보 통신 기술의 발달 속도를 조금 더 늦출 필요가 있다</a:t>
            </a:r>
            <a:endParaRPr lang="ko-KR" altLang="en-US" sz="1750" b="0" dirty="0">
              <a:solidFill>
                <a:srgbClr val="1F2328"/>
              </a:solidFill>
              <a:latin typeface="맑은 고딕"/>
              <a:ea typeface="맑은 고딕"/>
              <a:cs typeface="맑은 고딕"/>
            </a:endParaRPr>
          </a:p>
        </p:txBody>
      </p:sp>
      <p:sp>
        <p:nvSpPr>
          <p:cNvPr id="16" name="choice_5"/>
          <p:cNvSpPr txBox="1"/>
          <p:nvPr/>
        </p:nvSpPr>
        <p:spPr>
          <a:xfrm>
            <a:off x="457200" y="4809744"/>
            <a:ext cx="11277295" cy="369824"/>
          </a:xfrm>
          <a:prstGeom prst="rect">
            <a:avLst/>
          </a:prstGeom>
          <a:noFill/>
        </p:spPr>
        <p:txBody>
          <a:bodyPr wrap="square" lIns="137160" tIns="27432" rIns="137160" bIns="27432" anchor="t" rtlCol="0">
            <a:noAutofit/>
          </a:bodyPr>
          <a:lstStyle/>
          <a:p>
            <a:pPr algn="l" marL="355600" indent="-355600">
              <a:lnSpc>
                <a:spcPts val="2480"/>
              </a:lnSpc>
              <a:spcBef>
                <a:spcPts val="0"/>
              </a:spcBef>
              <a:spcAft>
                <a:spcPts val="0"/>
              </a:spcAft>
              <a:buNone/>
              <a:tabLst>
                <a:tab pos="355600" algn="l"/>
              </a:tabLst>
            </a:pPr>
            <a:r>
              <a:rPr lang="ko-KR" altLang="en-US" sz="1750" b="1" dirty="0">
                <a:solidFill>
                  <a:srgbClr val="1E2A5A"/>
                </a:solidFill>
                <a:latin typeface="맑은 고딕"/>
                <a:ea typeface="맑은 고딕"/>
                <a:cs typeface="맑은 고딕"/>
              </a:rPr>
              <a:t>⑤</a:t>
            </a:r>
            <a:r>
              <a:rPr lang="ko-KR" altLang="en-US" sz="1750" b="0" dirty="0">
                <a:solidFill>
                  <a:srgbClr val="1F2328"/>
                </a:solidFill>
                <a:latin typeface="맑은 고딕"/>
                <a:ea typeface="맑은 고딕"/>
                <a:cs typeface="맑은 고딕"/>
              </a:rPr>
              <a:t>	블로그에 올리는 사진은 신중하게 골라서 공유해야 한다</a:t>
            </a:r>
            <a:endParaRPr lang="ko-KR" altLang="en-US" sz="1750" b="0" dirty="0">
              <a:solidFill>
                <a:srgbClr val="1F2328"/>
              </a:solidFill>
              <a:latin typeface="맑은 고딕"/>
              <a:ea typeface="맑은 고딕"/>
              <a:cs typeface="맑은 고딕"/>
            </a:endParaRPr>
          </a:p>
        </p:txBody>
      </p:sp>
      <p:sp>
        <p:nvSpPr>
          <p:cNvPr id="17" name="rv_answer"/>
          <p:cNvSpPr/>
          <p:nvPr/>
        </p:nvSpPr>
        <p:spPr>
          <a:xfrm>
            <a:off x="457200" y="528929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③ </a:t>
            </a:r>
            <a:r>
              <a:rPr lang="ko-KR" altLang="en-US" sz="1900" b="1" dirty="0">
                <a:solidFill>
                  <a:srgbClr val="5A4200"/>
                </a:solidFill>
                <a:latin typeface="맑은 고딕"/>
                <a:ea typeface="맑은 고딕"/>
                <a:cs typeface="맑은 고딕"/>
              </a:rPr>
              <a:t>빅데이터는 수집 후 전문가의 분석을 거쳐야 쓸모가 있다</a:t>
            </a:r>
            <a:endParaRPr lang="ko-KR" altLang="en-US" sz="1900" b="1" dirty="0">
              <a:solidFill>
                <a:srgbClr val="5A4200"/>
              </a:solidFill>
              <a:latin typeface="맑은 고딕"/>
              <a:ea typeface="맑은 고딕"/>
              <a:cs typeface="맑은 고딕"/>
            </a:endParaRPr>
          </a:p>
        </p:txBody>
      </p:sp>
      <p:sp>
        <p:nvSpPr>
          <p:cNvPr id="18" name="rv_why"/>
          <p:cNvSpPr/>
          <p:nvPr/>
        </p:nvSpPr>
        <p:spPr>
          <a:xfrm>
            <a:off x="457200" y="5888228"/>
            <a:ext cx="11277295" cy="53085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데이터를 모으기만 해서는 충분하지 않고 전문가가 분석해야 한다고 했다. 이를 옮긴 ③이 필자의 주장이다.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250"/>
                                        <p:tgtEl>
                                          <p:spTgt spid="1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25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25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7" grpId="0" animBg="1"/>
      <p:bldP spid="9" grpId="0" animBg="1"/>
      <p:bldP spid="10" grpId="0" animBg="1"/>
      <p:bldP spid="18" grpId="0" animBg="1"/>
    </p:bldLst>
  </p:timing>
</p:sld>
</file>

<file path=ppt/slides/slide16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L7-1</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1 · 4</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4. 다음 글의 요지로 가장 적절한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7</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본문 근거 형광 + 정답 원리</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212343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2123439"/>
          </a:xfrm>
          <a:prstGeom prst="rect">
            <a:avLst/>
          </a:prstGeom>
          <a:noFill/>
        </p:spPr>
        <p:txBody>
          <a:bodyPr wrap="square" lIns="201168" tIns="118872" rIns="201168" bIns="118872" anchor="t" rtlCol="0">
            <a:noAutofit/>
          </a:bodyPr>
          <a:lstStyle/>
          <a:p>
            <a:pPr algn="just">
              <a:lnSpc>
                <a:spcPts val="1820"/>
              </a:lnSpc>
              <a:spcBef>
                <a:spcPts val="0"/>
              </a:spcBef>
              <a:spcAft>
                <a:spcPts val="0"/>
              </a:spcAft>
              <a:buNone/>
            </a:pPr>
            <a:r>
              <a:rPr lang="en-US" altLang="ko-KR" sz="1400" b="0" dirty="0">
                <a:solidFill>
                  <a:srgbClr val="1F2328"/>
                </a:solidFill>
                <a:latin typeface="Calibri"/>
                <a:ea typeface="맑은 고딕"/>
                <a:cs typeface="Calibri"/>
              </a:rPr>
              <a:t>Have you ever visited an online bookstore and been surprised by the books that the store recommended for you? Many of them looked interesting to you. So how did the bookstore know what you liked? This is all possible because of big data. Big data is data sets that are very big and complex. As information and communication technology develops, the amount of data we have is getting much greater than before. This is mainly because almost everything that we do online leaves a trace. For example, the photos you upload on your blog and the records of your purchases at online stores are all part of big data. Simply collecting data, however, is not enough. Big data has to be analyzed, and this is done by big data experts. </a:t>
            </a:r>
            <a:r>
              <a:rPr lang="en-US" altLang="ko-KR" sz="1400" b="0" dirty="0">
                <a:solidFill>
                  <a:srgbClr val="1F2328"/>
                </a:solidFill>
                <a:latin typeface="Calibri"/>
                <a:ea typeface="맑은 고딕"/>
                <a:cs typeface="Calibri"/>
              </a:rPr>
              <a:t>Using various methods, experts analyze big data and draw meaningful results from it.</a:t>
            </a:r>
            <a:r>
              <a:rPr lang="en-US" altLang="ko-KR" sz="1400" b="0" dirty="0">
                <a:solidFill>
                  <a:srgbClr val="1F2328"/>
                </a:solidFill>
                <a:latin typeface="Calibri"/>
                <a:ea typeface="맑은 고딕"/>
                <a:cs typeface="Calibri"/>
              </a:rPr>
              <a:t> </a:t>
            </a:r>
            <a:r>
              <a:rPr lang="en-US" altLang="ko-KR" sz="1400" b="0" dirty="0">
                <a:solidFill>
                  <a:srgbClr val="1F2328"/>
                </a:solidFill>
                <a:latin typeface="Calibri"/>
                <a:ea typeface="맑은 고딕"/>
                <a:cs typeface="Calibri"/>
              </a:rPr>
              <a:t>These results then can be used to make decisions or to predict the future.</a:t>
            </a:r>
            <a:endParaRPr lang="en-US" altLang="ko-KR" sz="1400" b="0" dirty="0">
              <a:solidFill>
                <a:srgbClr val="1F2328"/>
              </a:solidFill>
              <a:latin typeface="Calibri"/>
              <a:ea typeface="맑은 고딕"/>
              <a:cs typeface="Calibri"/>
            </a:endParaRPr>
          </a:p>
        </p:txBody>
      </p:sp>
      <p:sp>
        <p:nvSpPr>
          <p:cNvPr id="9" name="rv_evidence_card"/>
          <p:cNvSpPr/>
          <p:nvPr/>
        </p:nvSpPr>
        <p:spPr>
          <a:xfrm>
            <a:off x="457200" y="950976"/>
            <a:ext cx="11277295" cy="212343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rv_evidence"/>
          <p:cNvSpPr txBox="1"/>
          <p:nvPr/>
        </p:nvSpPr>
        <p:spPr>
          <a:xfrm>
            <a:off x="457200" y="950976"/>
            <a:ext cx="11277295" cy="2123439"/>
          </a:xfrm>
          <a:prstGeom prst="rect">
            <a:avLst/>
          </a:prstGeom>
          <a:noFill/>
        </p:spPr>
        <p:txBody>
          <a:bodyPr wrap="square" lIns="201168" tIns="118872" rIns="201168" bIns="118872" anchor="t" rtlCol="0">
            <a:noAutofit/>
          </a:bodyPr>
          <a:lstStyle/>
          <a:p>
            <a:pPr algn="just">
              <a:lnSpc>
                <a:spcPts val="1820"/>
              </a:lnSpc>
              <a:spcBef>
                <a:spcPts val="0"/>
              </a:spcBef>
              <a:spcAft>
                <a:spcPts val="0"/>
              </a:spcAft>
              <a:buNone/>
            </a:pPr>
            <a:r>
              <a:rPr lang="en-US" altLang="ko-KR" sz="1400" b="0" dirty="0">
                <a:solidFill>
                  <a:srgbClr val="B3BAC6"/>
                </a:solidFill>
                <a:latin typeface="Calibri"/>
                <a:ea typeface="맑은 고딕"/>
                <a:cs typeface="Calibri"/>
              </a:rPr>
              <a:t>Have you ever visited an online bookstore and been surprised by the books that the store recommended for you? Many of them looked interesting to you. So how did the bookstore know what you liked? This is all possible because of big data. Big data is data sets that are very big and complex. As information and communication technology develops, the amount of data we have is getting much greater than before. This is mainly because almost everything that we do online leaves a trace. For example, the photos you upload on your blog and the records of your purchases at online stores are all part of big data. Simply collecting data, however, is not enough. Big data has to be analyzed, and this is done by big data experts. </a:t>
            </a:r>
            <a:r>
              <a:rPr lang="en-US" altLang="ko-KR" sz="1400" b="0" dirty="0">
                <a:solidFill>
                  <a:srgbClr val="111111"/>
                </a:solidFill>
                <a:highlight>
                  <a:srgbClr val="FFE45C"/>
                </a:highlight>
                <a:latin typeface="Calibri"/>
                <a:ea typeface="맑은 고딕"/>
                <a:cs typeface="Calibri"/>
              </a:rPr>
              <a:t>Using various methods, experts analyze big data and draw meaningful results from it.</a:t>
            </a:r>
            <a:r>
              <a:rPr lang="en-US" altLang="ko-KR" sz="1400" b="0" dirty="0">
                <a:solidFill>
                  <a:srgbClr val="B3BAC6"/>
                </a:solidFill>
                <a:latin typeface="Calibri"/>
                <a:ea typeface="맑은 고딕"/>
                <a:cs typeface="Calibri"/>
              </a:rPr>
              <a:t> </a:t>
            </a:r>
            <a:r>
              <a:rPr lang="en-US" altLang="ko-KR" sz="1400" b="0" dirty="0">
                <a:solidFill>
                  <a:srgbClr val="111111"/>
                </a:solidFill>
                <a:highlight>
                  <a:srgbClr val="FFE45C"/>
                </a:highlight>
                <a:latin typeface="Calibri"/>
                <a:ea typeface="맑은 고딕"/>
                <a:cs typeface="Calibri"/>
              </a:rPr>
              <a:t>These results then can be used to make decisions or to predict the future.</a:t>
            </a:r>
            <a:endParaRPr lang="en-US" altLang="ko-KR" sz="1400" b="0" dirty="0">
              <a:solidFill>
                <a:srgbClr val="111111"/>
              </a:solidFill>
              <a:latin typeface="Calibri"/>
              <a:ea typeface="맑은 고딕"/>
              <a:cs typeface="Calibri"/>
            </a:endParaRPr>
          </a:p>
        </p:txBody>
      </p:sp>
      <p:sp>
        <p:nvSpPr>
          <p:cNvPr id="11" name="choice_1"/>
          <p:cNvSpPr txBox="1"/>
          <p:nvPr/>
        </p:nvSpPr>
        <p:spPr>
          <a:xfrm>
            <a:off x="457200" y="3220720"/>
            <a:ext cx="11277295" cy="369824"/>
          </a:xfrm>
          <a:prstGeom prst="rect">
            <a:avLst/>
          </a:prstGeom>
          <a:noFill/>
        </p:spPr>
        <p:txBody>
          <a:bodyPr wrap="square" lIns="137160" tIns="27432" rIns="137160" bIns="27432" anchor="t" rtlCol="0">
            <a:noAutofit/>
          </a:bodyPr>
          <a:lstStyle/>
          <a:p>
            <a:pPr algn="l" marL="355600" indent="-355600">
              <a:lnSpc>
                <a:spcPts val="2480"/>
              </a:lnSpc>
              <a:spcBef>
                <a:spcPts val="0"/>
              </a:spcBef>
              <a:spcAft>
                <a:spcPts val="0"/>
              </a:spcAft>
              <a:buNone/>
              <a:tabLst>
                <a:tab pos="355600" algn="l"/>
              </a:tabLst>
            </a:pPr>
            <a:r>
              <a:rPr lang="ko-KR" altLang="en-US" sz="1750" b="1" dirty="0">
                <a:solidFill>
                  <a:srgbClr val="1E2A5A"/>
                </a:solidFill>
                <a:latin typeface="맑은 고딕"/>
                <a:ea typeface="맑은 고딕"/>
                <a:cs typeface="맑은 고딕"/>
              </a:rPr>
              <a:t>①</a:t>
            </a:r>
            <a:r>
              <a:rPr lang="ko-KR" altLang="en-US" sz="1750" b="0" dirty="0">
                <a:solidFill>
                  <a:srgbClr val="1F2328"/>
                </a:solidFill>
                <a:latin typeface="맑은 고딕"/>
                <a:ea typeface="맑은 고딕"/>
                <a:cs typeface="맑은 고딕"/>
              </a:rPr>
              <a:t>	온라인 서점의 추천 도서는 대부분 독자의 흥미를 끈다</a:t>
            </a:r>
            <a:endParaRPr lang="ko-KR" altLang="en-US" sz="1750" b="0" dirty="0">
              <a:solidFill>
                <a:srgbClr val="1F2328"/>
              </a:solidFill>
              <a:latin typeface="맑은 고딕"/>
              <a:ea typeface="맑은 고딕"/>
              <a:cs typeface="맑은 고딕"/>
            </a:endParaRPr>
          </a:p>
        </p:txBody>
      </p:sp>
      <p:sp>
        <p:nvSpPr>
          <p:cNvPr id="12" name="choice_2"/>
          <p:cNvSpPr txBox="1"/>
          <p:nvPr/>
        </p:nvSpPr>
        <p:spPr>
          <a:xfrm>
            <a:off x="457200" y="3617976"/>
            <a:ext cx="11277295" cy="369824"/>
          </a:xfrm>
          <a:prstGeom prst="rect">
            <a:avLst/>
          </a:prstGeom>
          <a:noFill/>
        </p:spPr>
        <p:txBody>
          <a:bodyPr wrap="square" lIns="137160" tIns="27432" rIns="137160" bIns="27432" anchor="t" rtlCol="0">
            <a:noAutofit/>
          </a:bodyPr>
          <a:lstStyle/>
          <a:p>
            <a:pPr algn="l" marL="355600" indent="-355600">
              <a:lnSpc>
                <a:spcPts val="2480"/>
              </a:lnSpc>
              <a:spcBef>
                <a:spcPts val="0"/>
              </a:spcBef>
              <a:spcAft>
                <a:spcPts val="0"/>
              </a:spcAft>
              <a:buNone/>
              <a:tabLst>
                <a:tab pos="355600" algn="l"/>
              </a:tabLst>
            </a:pPr>
            <a:r>
              <a:rPr lang="ko-KR" altLang="en-US" sz="1750" b="1" dirty="0">
                <a:solidFill>
                  <a:srgbClr val="1E2A5A"/>
                </a:solidFill>
                <a:latin typeface="맑은 고딕"/>
                <a:ea typeface="맑은 고딕"/>
                <a:cs typeface="맑은 고딕"/>
              </a:rPr>
              <a:t>②</a:t>
            </a:r>
            <a:r>
              <a:rPr lang="ko-KR" altLang="en-US" sz="1750" b="0" dirty="0">
                <a:solidFill>
                  <a:srgbClr val="1F2328"/>
                </a:solidFill>
                <a:latin typeface="맑은 고딕"/>
                <a:ea typeface="맑은 고딕"/>
                <a:cs typeface="맑은 고딕"/>
              </a:rPr>
              <a:t>	데이터의 양이 많아질수록 그 분석은 불가능해진다</a:t>
            </a:r>
            <a:endParaRPr lang="ko-KR" altLang="en-US" sz="1750" b="0" dirty="0">
              <a:solidFill>
                <a:srgbClr val="1F2328"/>
              </a:solidFill>
              <a:latin typeface="맑은 고딕"/>
              <a:ea typeface="맑은 고딕"/>
              <a:cs typeface="맑은 고딕"/>
            </a:endParaRPr>
          </a:p>
        </p:txBody>
      </p:sp>
      <p:sp>
        <p:nvSpPr>
          <p:cNvPr id="13" name="choice_3"/>
          <p:cNvSpPr txBox="1"/>
          <p:nvPr/>
        </p:nvSpPr>
        <p:spPr>
          <a:xfrm>
            <a:off x="457200" y="4015232"/>
            <a:ext cx="11277295" cy="369824"/>
          </a:xfrm>
          <a:prstGeom prst="rect">
            <a:avLst/>
          </a:prstGeom>
          <a:noFill/>
        </p:spPr>
        <p:txBody>
          <a:bodyPr wrap="square" lIns="137160" tIns="27432" rIns="137160" bIns="27432" anchor="t" rtlCol="0">
            <a:noAutofit/>
          </a:bodyPr>
          <a:lstStyle/>
          <a:p>
            <a:pPr algn="l" marL="355600" indent="-355600">
              <a:lnSpc>
                <a:spcPts val="2480"/>
              </a:lnSpc>
              <a:spcBef>
                <a:spcPts val="0"/>
              </a:spcBef>
              <a:spcAft>
                <a:spcPts val="0"/>
              </a:spcAft>
              <a:buNone/>
              <a:tabLst>
                <a:tab pos="355600" algn="l"/>
              </a:tabLst>
            </a:pPr>
            <a:r>
              <a:rPr lang="ko-KR" altLang="en-US" sz="1750" b="1" dirty="0">
                <a:solidFill>
                  <a:srgbClr val="1E2A5A"/>
                </a:solidFill>
                <a:latin typeface="맑은 고딕"/>
                <a:ea typeface="맑은 고딕"/>
                <a:cs typeface="맑은 고딕"/>
              </a:rPr>
              <a:t>③</a:t>
            </a:r>
            <a:r>
              <a:rPr lang="ko-KR" altLang="en-US" sz="1750" b="0" dirty="0">
                <a:solidFill>
                  <a:srgbClr val="1F2328"/>
                </a:solidFill>
                <a:latin typeface="맑은 고딕"/>
                <a:ea typeface="맑은 고딕"/>
                <a:cs typeface="맑은 고딕"/>
              </a:rPr>
              <a:t>	온라인 구매 기록은 빅데이터에 포함되지 않는다</a:t>
            </a:r>
            <a:endParaRPr lang="ko-KR" altLang="en-US" sz="1750" b="0" dirty="0">
              <a:solidFill>
                <a:srgbClr val="1F2328"/>
              </a:solidFill>
              <a:latin typeface="맑은 고딕"/>
              <a:ea typeface="맑은 고딕"/>
              <a:cs typeface="맑은 고딕"/>
            </a:endParaRPr>
          </a:p>
        </p:txBody>
      </p:sp>
      <p:sp>
        <p:nvSpPr>
          <p:cNvPr id="14" name="choice_4"/>
          <p:cNvSpPr txBox="1"/>
          <p:nvPr/>
        </p:nvSpPr>
        <p:spPr>
          <a:xfrm>
            <a:off x="457200" y="4412488"/>
            <a:ext cx="11277295" cy="369824"/>
          </a:xfrm>
          <a:prstGeom prst="rect">
            <a:avLst/>
          </a:prstGeom>
          <a:noFill/>
        </p:spPr>
        <p:txBody>
          <a:bodyPr wrap="square" lIns="137160" tIns="27432" rIns="137160" bIns="27432" anchor="t" rtlCol="0">
            <a:noAutofit/>
          </a:bodyPr>
          <a:lstStyle/>
          <a:p>
            <a:pPr algn="l" marL="355600" indent="-355600">
              <a:lnSpc>
                <a:spcPts val="2480"/>
              </a:lnSpc>
              <a:spcBef>
                <a:spcPts val="0"/>
              </a:spcBef>
              <a:spcAft>
                <a:spcPts val="0"/>
              </a:spcAft>
              <a:buNone/>
              <a:tabLst>
                <a:tab pos="355600" algn="l"/>
              </a:tabLst>
            </a:pPr>
            <a:r>
              <a:rPr lang="ko-KR" altLang="en-US" sz="1750" b="1" dirty="0">
                <a:solidFill>
                  <a:srgbClr val="1E2A5A"/>
                </a:solidFill>
                <a:latin typeface="맑은 고딕"/>
                <a:ea typeface="맑은 고딕"/>
                <a:cs typeface="맑은 고딕"/>
              </a:rPr>
              <a:t>④</a:t>
            </a:r>
            <a:r>
              <a:rPr lang="ko-KR" altLang="en-US" sz="1750" b="0" dirty="0">
                <a:solidFill>
                  <a:srgbClr val="1F2328"/>
                </a:solidFill>
                <a:latin typeface="맑은 고딕"/>
                <a:ea typeface="맑은 고딕"/>
                <a:cs typeface="맑은 고딕"/>
              </a:rPr>
              <a:t>	빅데이터는 분석을 거쳐 의사결정과 예측에 활용된다</a:t>
            </a:r>
            <a:endParaRPr lang="ko-KR" altLang="en-US" sz="1750" b="0" dirty="0">
              <a:solidFill>
                <a:srgbClr val="1F2328"/>
              </a:solidFill>
              <a:latin typeface="맑은 고딕"/>
              <a:ea typeface="맑은 고딕"/>
              <a:cs typeface="맑은 고딕"/>
            </a:endParaRPr>
          </a:p>
        </p:txBody>
      </p:sp>
      <p:sp>
        <p:nvSpPr>
          <p:cNvPr id="15" name="rv_pick"/>
          <p:cNvSpPr txBox="1"/>
          <p:nvPr/>
        </p:nvSpPr>
        <p:spPr>
          <a:xfrm>
            <a:off x="457200" y="4412488"/>
            <a:ext cx="11277295" cy="369824"/>
          </a:xfrm>
          <a:prstGeom prst="rect">
            <a:avLst/>
          </a:prstGeom>
          <a:solidFill>
            <a:srgbClr val="FFF3C4"/>
          </a:solidFill>
        </p:spPr>
        <p:txBody>
          <a:bodyPr wrap="square" lIns="137160" tIns="27432" rIns="137160" bIns="27432" anchor="t" rtlCol="0">
            <a:noAutofit/>
          </a:bodyPr>
          <a:lstStyle/>
          <a:p>
            <a:pPr algn="l" marL="355600" indent="-355600">
              <a:lnSpc>
                <a:spcPts val="2480"/>
              </a:lnSpc>
              <a:spcBef>
                <a:spcPts val="0"/>
              </a:spcBef>
              <a:spcAft>
                <a:spcPts val="0"/>
              </a:spcAft>
              <a:buNone/>
              <a:tabLst>
                <a:tab pos="355600" algn="l"/>
              </a:tabLst>
            </a:pPr>
            <a:r>
              <a:rPr lang="ko-KR" altLang="en-US" sz="1750" b="1" dirty="0">
                <a:solidFill>
                  <a:srgbClr val="C00000"/>
                </a:solidFill>
                <a:latin typeface="맑은 고딕"/>
                <a:ea typeface="맑은 고딕"/>
                <a:cs typeface="맑은 고딕"/>
              </a:rPr>
              <a:t>④</a:t>
            </a:r>
            <a:r>
              <a:rPr lang="ko-KR" altLang="en-US" sz="1750" b="0" dirty="0">
                <a:solidFill>
                  <a:srgbClr val="C00000"/>
                </a:solidFill>
                <a:latin typeface="맑은 고딕"/>
                <a:ea typeface="맑은 고딕"/>
                <a:cs typeface="맑은 고딕"/>
              </a:rPr>
              <a:t>	빅데이터는 분석을 거쳐 의사결정과 예측에 활용된다</a:t>
            </a:r>
            <a:endParaRPr lang="ko-KR" altLang="en-US" sz="1750" b="0" dirty="0">
              <a:solidFill>
                <a:srgbClr val="C00000"/>
              </a:solidFill>
              <a:latin typeface="맑은 고딕"/>
              <a:ea typeface="맑은 고딕"/>
              <a:cs typeface="맑은 고딕"/>
            </a:endParaRPr>
          </a:p>
        </p:txBody>
      </p:sp>
      <p:sp>
        <p:nvSpPr>
          <p:cNvPr id="16" name="choice_5"/>
          <p:cNvSpPr txBox="1"/>
          <p:nvPr/>
        </p:nvSpPr>
        <p:spPr>
          <a:xfrm>
            <a:off x="457200" y="4809744"/>
            <a:ext cx="11277295" cy="369824"/>
          </a:xfrm>
          <a:prstGeom prst="rect">
            <a:avLst/>
          </a:prstGeom>
          <a:noFill/>
        </p:spPr>
        <p:txBody>
          <a:bodyPr wrap="square" lIns="137160" tIns="27432" rIns="137160" bIns="27432" anchor="t" rtlCol="0">
            <a:noAutofit/>
          </a:bodyPr>
          <a:lstStyle/>
          <a:p>
            <a:pPr algn="l" marL="355600" indent="-355600">
              <a:lnSpc>
                <a:spcPts val="2480"/>
              </a:lnSpc>
              <a:spcBef>
                <a:spcPts val="0"/>
              </a:spcBef>
              <a:spcAft>
                <a:spcPts val="0"/>
              </a:spcAft>
              <a:buNone/>
              <a:tabLst>
                <a:tab pos="355600" algn="l"/>
              </a:tabLst>
            </a:pPr>
            <a:r>
              <a:rPr lang="ko-KR" altLang="en-US" sz="1750" b="1" dirty="0">
                <a:solidFill>
                  <a:srgbClr val="1E2A5A"/>
                </a:solidFill>
                <a:latin typeface="맑은 고딕"/>
                <a:ea typeface="맑은 고딕"/>
                <a:cs typeface="맑은 고딕"/>
              </a:rPr>
              <a:t>⑤</a:t>
            </a:r>
            <a:r>
              <a:rPr lang="ko-KR" altLang="en-US" sz="1750" b="0" dirty="0">
                <a:solidFill>
                  <a:srgbClr val="1F2328"/>
                </a:solidFill>
                <a:latin typeface="맑은 고딕"/>
                <a:ea typeface="맑은 고딕"/>
                <a:cs typeface="맑은 고딕"/>
              </a:rPr>
              <a:t>	데이터는 많이 모으는 것만으로 충분한 가치가 있다</a:t>
            </a:r>
            <a:endParaRPr lang="ko-KR" altLang="en-US" sz="1750" b="0" dirty="0">
              <a:solidFill>
                <a:srgbClr val="1F2328"/>
              </a:solidFill>
              <a:latin typeface="맑은 고딕"/>
              <a:ea typeface="맑은 고딕"/>
              <a:cs typeface="맑은 고딕"/>
            </a:endParaRPr>
          </a:p>
        </p:txBody>
      </p:sp>
      <p:sp>
        <p:nvSpPr>
          <p:cNvPr id="17" name="rv_answer"/>
          <p:cNvSpPr/>
          <p:nvPr/>
        </p:nvSpPr>
        <p:spPr>
          <a:xfrm>
            <a:off x="457200" y="528929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④ </a:t>
            </a:r>
            <a:r>
              <a:rPr lang="ko-KR" altLang="en-US" sz="1900" b="1" dirty="0">
                <a:solidFill>
                  <a:srgbClr val="5A4200"/>
                </a:solidFill>
                <a:latin typeface="맑은 고딕"/>
                <a:ea typeface="맑은 고딕"/>
                <a:cs typeface="맑은 고딕"/>
              </a:rPr>
              <a:t>빅데이터는 분석을 거쳐 의사결정과 예측에 활용된다</a:t>
            </a:r>
            <a:endParaRPr lang="ko-KR" altLang="en-US" sz="1900" b="1" dirty="0">
              <a:solidFill>
                <a:srgbClr val="5A4200"/>
              </a:solidFill>
              <a:latin typeface="맑은 고딕"/>
              <a:ea typeface="맑은 고딕"/>
              <a:cs typeface="맑은 고딕"/>
            </a:endParaRPr>
          </a:p>
        </p:txBody>
      </p:sp>
      <p:sp>
        <p:nvSpPr>
          <p:cNvPr id="18" name="rv_why"/>
          <p:cNvSpPr/>
          <p:nvPr/>
        </p:nvSpPr>
        <p:spPr>
          <a:xfrm>
            <a:off x="457200" y="5888228"/>
            <a:ext cx="11277295" cy="53085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분석에서 얻은 결과가 결정을 내리고 미래를 예측하는 데 쓰인다고 했으므로 ④가 요지다.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250"/>
                                        <p:tgtEl>
                                          <p:spTgt spid="1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25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25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7" grpId="0" animBg="1"/>
      <p:bldP spid="9" grpId="0" animBg="1"/>
      <p:bldP spid="10" grpId="0" animBg="1"/>
      <p:bldP spid="18" grpId="0" animBg="1"/>
    </p:bldLst>
  </p:timing>
</p:sld>
</file>

<file path=ppt/slides/slide16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L7-1</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1 · 5</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5. 다음 글의 내용과 일치하지 않는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7</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본문 근거 형광 + 정답 원리</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212343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2123439"/>
          </a:xfrm>
          <a:prstGeom prst="rect">
            <a:avLst/>
          </a:prstGeom>
          <a:noFill/>
        </p:spPr>
        <p:txBody>
          <a:bodyPr wrap="square" lIns="201168" tIns="118872" rIns="201168" bIns="118872" anchor="t" rtlCol="0">
            <a:noAutofit/>
          </a:bodyPr>
          <a:lstStyle/>
          <a:p>
            <a:pPr algn="just">
              <a:lnSpc>
                <a:spcPts val="1820"/>
              </a:lnSpc>
              <a:spcBef>
                <a:spcPts val="0"/>
              </a:spcBef>
              <a:spcAft>
                <a:spcPts val="0"/>
              </a:spcAft>
              <a:buNone/>
            </a:pPr>
            <a:r>
              <a:rPr lang="en-US" altLang="ko-KR" sz="1400" b="0" dirty="0">
                <a:solidFill>
                  <a:srgbClr val="1F2328"/>
                </a:solidFill>
                <a:latin typeface="Calibri"/>
                <a:ea typeface="맑은 고딕"/>
                <a:cs typeface="Calibri"/>
              </a:rPr>
              <a:t>Have you ever visited an online bookstore and been surprised by the books that the store recommended for you? Many of them looked interesting to you. So how did the bookstore know what you liked? This is all possible because of big data. Big data is data sets that are very big and complex. As information and communication technology develops, the amount of data we have is getting much greater than before. This is mainly because almost everything that we do online leaves a trace. For example, the photos you upload on your blog and the records of your purchases at online stores are all part of big data. </a:t>
            </a:r>
            <a:r>
              <a:rPr lang="en-US" altLang="ko-KR" sz="1400" b="0" dirty="0">
                <a:solidFill>
                  <a:srgbClr val="1F2328"/>
                </a:solidFill>
                <a:latin typeface="Calibri"/>
                <a:ea typeface="맑은 고딕"/>
                <a:cs typeface="Calibri"/>
              </a:rPr>
              <a:t>Simply collecting data, however, is not enough</a:t>
            </a:r>
            <a:r>
              <a:rPr lang="en-US" altLang="ko-KR" sz="1400" b="0" dirty="0">
                <a:solidFill>
                  <a:srgbClr val="1F2328"/>
                </a:solidFill>
                <a:latin typeface="Calibri"/>
                <a:ea typeface="맑은 고딕"/>
                <a:cs typeface="Calibri"/>
              </a:rPr>
              <a:t>. Big data has to be analyzed, and this is done by big data experts. Using various methods, experts analyze big data and draw meaningful results from it. These results then can be used to make decisions or to predict the future.</a:t>
            </a:r>
            <a:endParaRPr lang="en-US" altLang="ko-KR" sz="1400" b="0" dirty="0">
              <a:solidFill>
                <a:srgbClr val="1F2328"/>
              </a:solidFill>
              <a:latin typeface="Calibri"/>
              <a:ea typeface="맑은 고딕"/>
              <a:cs typeface="Calibri"/>
            </a:endParaRPr>
          </a:p>
        </p:txBody>
      </p:sp>
      <p:sp>
        <p:nvSpPr>
          <p:cNvPr id="9" name="rv_evidence_card"/>
          <p:cNvSpPr/>
          <p:nvPr/>
        </p:nvSpPr>
        <p:spPr>
          <a:xfrm>
            <a:off x="457200" y="950976"/>
            <a:ext cx="11277295" cy="212343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rv_evidence"/>
          <p:cNvSpPr txBox="1"/>
          <p:nvPr/>
        </p:nvSpPr>
        <p:spPr>
          <a:xfrm>
            <a:off x="457200" y="950976"/>
            <a:ext cx="11277295" cy="2123439"/>
          </a:xfrm>
          <a:prstGeom prst="rect">
            <a:avLst/>
          </a:prstGeom>
          <a:noFill/>
        </p:spPr>
        <p:txBody>
          <a:bodyPr wrap="square" lIns="201168" tIns="118872" rIns="201168" bIns="118872" anchor="t" rtlCol="0">
            <a:noAutofit/>
          </a:bodyPr>
          <a:lstStyle/>
          <a:p>
            <a:pPr algn="just">
              <a:lnSpc>
                <a:spcPts val="1820"/>
              </a:lnSpc>
              <a:spcBef>
                <a:spcPts val="0"/>
              </a:spcBef>
              <a:spcAft>
                <a:spcPts val="0"/>
              </a:spcAft>
              <a:buNone/>
            </a:pPr>
            <a:r>
              <a:rPr lang="en-US" altLang="ko-KR" sz="1400" b="0" dirty="0">
                <a:solidFill>
                  <a:srgbClr val="B3BAC6"/>
                </a:solidFill>
                <a:latin typeface="Calibri"/>
                <a:ea typeface="맑은 고딕"/>
                <a:cs typeface="Calibri"/>
              </a:rPr>
              <a:t>Have you ever visited an online bookstore and been surprised by the books that the store recommended for you? Many of them looked interesting to you. So how did the bookstore know what you liked? This is all possible because of big data. Big data is data sets that are very big and complex. As information and communication technology develops, the amount of data we have is getting much greater than before. This is mainly because almost everything that we do online leaves a trace. For example, the photos you upload on your blog and the records of your purchases at online stores are all part of big data. </a:t>
            </a:r>
            <a:r>
              <a:rPr lang="en-US" altLang="ko-KR" sz="1400" b="0" dirty="0">
                <a:solidFill>
                  <a:srgbClr val="111111"/>
                </a:solidFill>
                <a:highlight>
                  <a:srgbClr val="FFE45C"/>
                </a:highlight>
                <a:latin typeface="Calibri"/>
                <a:ea typeface="맑은 고딕"/>
                <a:cs typeface="Calibri"/>
              </a:rPr>
              <a:t>Simply collecting data, however, is not enough</a:t>
            </a:r>
            <a:r>
              <a:rPr lang="en-US" altLang="ko-KR" sz="1400" b="0" dirty="0">
                <a:solidFill>
                  <a:srgbClr val="B3BAC6"/>
                </a:solidFill>
                <a:latin typeface="Calibri"/>
                <a:ea typeface="맑은 고딕"/>
                <a:cs typeface="Calibri"/>
              </a:rPr>
              <a:t>. Big data has to be analyzed, and this is done by big data experts. Using various methods, experts analyze big data and draw meaningful results from it. These results then can be used to make decisions or to predict the future.</a:t>
            </a:r>
            <a:endParaRPr lang="en-US" altLang="ko-KR" sz="1400" b="0" dirty="0">
              <a:solidFill>
                <a:srgbClr val="B3BAC6"/>
              </a:solidFill>
              <a:latin typeface="Calibri"/>
              <a:ea typeface="맑은 고딕"/>
              <a:cs typeface="Calibri"/>
            </a:endParaRPr>
          </a:p>
        </p:txBody>
      </p:sp>
      <p:sp>
        <p:nvSpPr>
          <p:cNvPr id="11" name="choice_1"/>
          <p:cNvSpPr txBox="1"/>
          <p:nvPr/>
        </p:nvSpPr>
        <p:spPr>
          <a:xfrm>
            <a:off x="457200" y="3220720"/>
            <a:ext cx="11277295" cy="369824"/>
          </a:xfrm>
          <a:prstGeom prst="rect">
            <a:avLst/>
          </a:prstGeom>
          <a:noFill/>
        </p:spPr>
        <p:txBody>
          <a:bodyPr wrap="square" lIns="137160" tIns="27432" rIns="137160" bIns="27432" anchor="t" rtlCol="0">
            <a:noAutofit/>
          </a:bodyPr>
          <a:lstStyle/>
          <a:p>
            <a:pPr algn="l" marL="355600" indent="-355600">
              <a:lnSpc>
                <a:spcPts val="2480"/>
              </a:lnSpc>
              <a:spcBef>
                <a:spcPts val="0"/>
              </a:spcBef>
              <a:spcAft>
                <a:spcPts val="0"/>
              </a:spcAft>
              <a:buNone/>
              <a:tabLst>
                <a:tab pos="355600" algn="l"/>
              </a:tabLst>
            </a:pPr>
            <a:r>
              <a:rPr lang="ko-KR" altLang="en-US" sz="1750" b="1" dirty="0">
                <a:solidFill>
                  <a:srgbClr val="1E2A5A"/>
                </a:solidFill>
                <a:latin typeface="맑은 고딕"/>
                <a:ea typeface="맑은 고딕"/>
                <a:cs typeface="맑은 고딕"/>
              </a:rPr>
              <a:t>①</a:t>
            </a:r>
            <a:r>
              <a:rPr lang="ko-KR" altLang="en-US" sz="1750" b="0" dirty="0">
                <a:solidFill>
                  <a:srgbClr val="1F2328"/>
                </a:solidFill>
                <a:latin typeface="맑은 고딕"/>
                <a:ea typeface="맑은 고딕"/>
                <a:cs typeface="맑은 고딕"/>
              </a:rPr>
              <a:t>	온라인 서점은 고객에게 책을 추천해 줄 수 있다</a:t>
            </a:r>
            <a:endParaRPr lang="ko-KR" altLang="en-US" sz="1750" b="0" dirty="0">
              <a:solidFill>
                <a:srgbClr val="1F2328"/>
              </a:solidFill>
              <a:latin typeface="맑은 고딕"/>
              <a:ea typeface="맑은 고딕"/>
              <a:cs typeface="맑은 고딕"/>
            </a:endParaRPr>
          </a:p>
        </p:txBody>
      </p:sp>
      <p:sp>
        <p:nvSpPr>
          <p:cNvPr id="12" name="choice_2"/>
          <p:cNvSpPr txBox="1"/>
          <p:nvPr/>
        </p:nvSpPr>
        <p:spPr>
          <a:xfrm>
            <a:off x="457200" y="3617976"/>
            <a:ext cx="11277295" cy="369824"/>
          </a:xfrm>
          <a:prstGeom prst="rect">
            <a:avLst/>
          </a:prstGeom>
          <a:noFill/>
        </p:spPr>
        <p:txBody>
          <a:bodyPr wrap="square" lIns="137160" tIns="27432" rIns="137160" bIns="27432" anchor="t" rtlCol="0">
            <a:noAutofit/>
          </a:bodyPr>
          <a:lstStyle/>
          <a:p>
            <a:pPr algn="l" marL="355600" indent="-355600">
              <a:lnSpc>
                <a:spcPts val="2480"/>
              </a:lnSpc>
              <a:spcBef>
                <a:spcPts val="0"/>
              </a:spcBef>
              <a:spcAft>
                <a:spcPts val="0"/>
              </a:spcAft>
              <a:buNone/>
              <a:tabLst>
                <a:tab pos="355600" algn="l"/>
              </a:tabLst>
            </a:pPr>
            <a:r>
              <a:rPr lang="ko-KR" altLang="en-US" sz="1750" b="1" dirty="0">
                <a:solidFill>
                  <a:srgbClr val="1E2A5A"/>
                </a:solidFill>
                <a:latin typeface="맑은 고딕"/>
                <a:ea typeface="맑은 고딕"/>
                <a:cs typeface="맑은 고딕"/>
              </a:rPr>
              <a:t>②</a:t>
            </a:r>
            <a:r>
              <a:rPr lang="ko-KR" altLang="en-US" sz="1750" b="0" dirty="0">
                <a:solidFill>
                  <a:srgbClr val="1F2328"/>
                </a:solidFill>
                <a:latin typeface="맑은 고딕"/>
                <a:ea typeface="맑은 고딕"/>
                <a:cs typeface="맑은 고딕"/>
              </a:rPr>
              <a:t>	빅데이터는 매우 크고 복잡한 데이터의 집합이다</a:t>
            </a:r>
            <a:endParaRPr lang="ko-KR" altLang="en-US" sz="1750" b="0" dirty="0">
              <a:solidFill>
                <a:srgbClr val="1F2328"/>
              </a:solidFill>
              <a:latin typeface="맑은 고딕"/>
              <a:ea typeface="맑은 고딕"/>
              <a:cs typeface="맑은 고딕"/>
            </a:endParaRPr>
          </a:p>
        </p:txBody>
      </p:sp>
      <p:sp>
        <p:nvSpPr>
          <p:cNvPr id="13" name="choice_3"/>
          <p:cNvSpPr txBox="1"/>
          <p:nvPr/>
        </p:nvSpPr>
        <p:spPr>
          <a:xfrm>
            <a:off x="457200" y="4015232"/>
            <a:ext cx="11277295" cy="369824"/>
          </a:xfrm>
          <a:prstGeom prst="rect">
            <a:avLst/>
          </a:prstGeom>
          <a:noFill/>
        </p:spPr>
        <p:txBody>
          <a:bodyPr wrap="square" lIns="137160" tIns="27432" rIns="137160" bIns="27432" anchor="t" rtlCol="0">
            <a:noAutofit/>
          </a:bodyPr>
          <a:lstStyle/>
          <a:p>
            <a:pPr algn="l" marL="355600" indent="-355600">
              <a:lnSpc>
                <a:spcPts val="2480"/>
              </a:lnSpc>
              <a:spcBef>
                <a:spcPts val="0"/>
              </a:spcBef>
              <a:spcAft>
                <a:spcPts val="0"/>
              </a:spcAft>
              <a:buNone/>
              <a:tabLst>
                <a:tab pos="355600" algn="l"/>
              </a:tabLst>
            </a:pPr>
            <a:r>
              <a:rPr lang="ko-KR" altLang="en-US" sz="1750" b="1" dirty="0">
                <a:solidFill>
                  <a:srgbClr val="1E2A5A"/>
                </a:solidFill>
                <a:latin typeface="맑은 고딕"/>
                <a:ea typeface="맑은 고딕"/>
                <a:cs typeface="맑은 고딕"/>
              </a:rPr>
              <a:t>③</a:t>
            </a:r>
            <a:r>
              <a:rPr lang="ko-KR" altLang="en-US" sz="1750" b="0" dirty="0">
                <a:solidFill>
                  <a:srgbClr val="1F2328"/>
                </a:solidFill>
                <a:latin typeface="맑은 고딕"/>
                <a:ea typeface="맑은 고딕"/>
                <a:cs typeface="맑은 고딕"/>
              </a:rPr>
              <a:t>	단순히 데이터를 수집하는 것만으로도 충분하다</a:t>
            </a:r>
            <a:endParaRPr lang="ko-KR" altLang="en-US" sz="1750" b="0" dirty="0">
              <a:solidFill>
                <a:srgbClr val="1F2328"/>
              </a:solidFill>
              <a:latin typeface="맑은 고딕"/>
              <a:ea typeface="맑은 고딕"/>
              <a:cs typeface="맑은 고딕"/>
            </a:endParaRPr>
          </a:p>
        </p:txBody>
      </p:sp>
      <p:sp>
        <p:nvSpPr>
          <p:cNvPr id="14" name="rv_pick"/>
          <p:cNvSpPr txBox="1"/>
          <p:nvPr/>
        </p:nvSpPr>
        <p:spPr>
          <a:xfrm>
            <a:off x="457200" y="4015232"/>
            <a:ext cx="11277295" cy="369824"/>
          </a:xfrm>
          <a:prstGeom prst="rect">
            <a:avLst/>
          </a:prstGeom>
          <a:solidFill>
            <a:srgbClr val="FFF3C4"/>
          </a:solidFill>
        </p:spPr>
        <p:txBody>
          <a:bodyPr wrap="square" lIns="137160" tIns="27432" rIns="137160" bIns="27432" anchor="t" rtlCol="0">
            <a:noAutofit/>
          </a:bodyPr>
          <a:lstStyle/>
          <a:p>
            <a:pPr algn="l" marL="355600" indent="-355600">
              <a:lnSpc>
                <a:spcPts val="2480"/>
              </a:lnSpc>
              <a:spcBef>
                <a:spcPts val="0"/>
              </a:spcBef>
              <a:spcAft>
                <a:spcPts val="0"/>
              </a:spcAft>
              <a:buNone/>
              <a:tabLst>
                <a:tab pos="355600" algn="l"/>
              </a:tabLst>
            </a:pPr>
            <a:r>
              <a:rPr lang="ko-KR" altLang="en-US" sz="1750" b="1" dirty="0">
                <a:solidFill>
                  <a:srgbClr val="C00000"/>
                </a:solidFill>
                <a:latin typeface="맑은 고딕"/>
                <a:ea typeface="맑은 고딕"/>
                <a:cs typeface="맑은 고딕"/>
              </a:rPr>
              <a:t>③</a:t>
            </a:r>
            <a:r>
              <a:rPr lang="ko-KR" altLang="en-US" sz="1750" b="0" dirty="0">
                <a:solidFill>
                  <a:srgbClr val="C00000"/>
                </a:solidFill>
                <a:latin typeface="맑은 고딕"/>
                <a:ea typeface="맑은 고딕"/>
                <a:cs typeface="맑은 고딕"/>
              </a:rPr>
              <a:t>	단순히 데이터를 수집하는 것만으로도 충분하다</a:t>
            </a:r>
            <a:endParaRPr lang="ko-KR" altLang="en-US" sz="1750" b="0" dirty="0">
              <a:solidFill>
                <a:srgbClr val="C00000"/>
              </a:solidFill>
              <a:latin typeface="맑은 고딕"/>
              <a:ea typeface="맑은 고딕"/>
              <a:cs typeface="맑은 고딕"/>
            </a:endParaRPr>
          </a:p>
        </p:txBody>
      </p:sp>
      <p:sp>
        <p:nvSpPr>
          <p:cNvPr id="15" name="choice_4"/>
          <p:cNvSpPr txBox="1"/>
          <p:nvPr/>
        </p:nvSpPr>
        <p:spPr>
          <a:xfrm>
            <a:off x="457200" y="4412488"/>
            <a:ext cx="11277295" cy="369824"/>
          </a:xfrm>
          <a:prstGeom prst="rect">
            <a:avLst/>
          </a:prstGeom>
          <a:noFill/>
        </p:spPr>
        <p:txBody>
          <a:bodyPr wrap="square" lIns="137160" tIns="27432" rIns="137160" bIns="27432" anchor="t" rtlCol="0">
            <a:noAutofit/>
          </a:bodyPr>
          <a:lstStyle/>
          <a:p>
            <a:pPr algn="l" marL="355600" indent="-355600">
              <a:lnSpc>
                <a:spcPts val="2480"/>
              </a:lnSpc>
              <a:spcBef>
                <a:spcPts val="0"/>
              </a:spcBef>
              <a:spcAft>
                <a:spcPts val="0"/>
              </a:spcAft>
              <a:buNone/>
              <a:tabLst>
                <a:tab pos="355600" algn="l"/>
              </a:tabLst>
            </a:pPr>
            <a:r>
              <a:rPr lang="ko-KR" altLang="en-US" sz="1750" b="1" dirty="0">
                <a:solidFill>
                  <a:srgbClr val="1E2A5A"/>
                </a:solidFill>
                <a:latin typeface="맑은 고딕"/>
                <a:ea typeface="맑은 고딕"/>
                <a:cs typeface="맑은 고딕"/>
              </a:rPr>
              <a:t>④</a:t>
            </a:r>
            <a:r>
              <a:rPr lang="ko-KR" altLang="en-US" sz="1750" b="0" dirty="0">
                <a:solidFill>
                  <a:srgbClr val="1F2328"/>
                </a:solidFill>
                <a:latin typeface="맑은 고딕"/>
                <a:ea typeface="맑은 고딕"/>
                <a:cs typeface="맑은 고딕"/>
              </a:rPr>
              <a:t>	우리가 온라인에서 하는 거의 모든 일은 흔적을 남긴다</a:t>
            </a:r>
            <a:endParaRPr lang="ko-KR" altLang="en-US" sz="1750" b="0" dirty="0">
              <a:solidFill>
                <a:srgbClr val="1F2328"/>
              </a:solidFill>
              <a:latin typeface="맑은 고딕"/>
              <a:ea typeface="맑은 고딕"/>
              <a:cs typeface="맑은 고딕"/>
            </a:endParaRPr>
          </a:p>
        </p:txBody>
      </p:sp>
      <p:sp>
        <p:nvSpPr>
          <p:cNvPr id="16" name="choice_5"/>
          <p:cNvSpPr txBox="1"/>
          <p:nvPr/>
        </p:nvSpPr>
        <p:spPr>
          <a:xfrm>
            <a:off x="457200" y="4809744"/>
            <a:ext cx="11277295" cy="369824"/>
          </a:xfrm>
          <a:prstGeom prst="rect">
            <a:avLst/>
          </a:prstGeom>
          <a:noFill/>
        </p:spPr>
        <p:txBody>
          <a:bodyPr wrap="square" lIns="137160" tIns="27432" rIns="137160" bIns="27432" anchor="t" rtlCol="0">
            <a:noAutofit/>
          </a:bodyPr>
          <a:lstStyle/>
          <a:p>
            <a:pPr algn="l" marL="355600" indent="-355600">
              <a:lnSpc>
                <a:spcPts val="2480"/>
              </a:lnSpc>
              <a:spcBef>
                <a:spcPts val="0"/>
              </a:spcBef>
              <a:spcAft>
                <a:spcPts val="0"/>
              </a:spcAft>
              <a:buNone/>
              <a:tabLst>
                <a:tab pos="355600" algn="l"/>
              </a:tabLst>
            </a:pPr>
            <a:r>
              <a:rPr lang="ko-KR" altLang="en-US" sz="1750" b="1" dirty="0">
                <a:solidFill>
                  <a:srgbClr val="1E2A5A"/>
                </a:solidFill>
                <a:latin typeface="맑은 고딕"/>
                <a:ea typeface="맑은 고딕"/>
                <a:cs typeface="맑은 고딕"/>
              </a:rPr>
              <a:t>⑤</a:t>
            </a:r>
            <a:r>
              <a:rPr lang="ko-KR" altLang="en-US" sz="1750" b="0" dirty="0">
                <a:solidFill>
                  <a:srgbClr val="1F2328"/>
                </a:solidFill>
                <a:latin typeface="맑은 고딕"/>
                <a:ea typeface="맑은 고딕"/>
                <a:cs typeface="맑은 고딕"/>
              </a:rPr>
              <a:t>	전문가들은 빅데이터에서 의미 있는 결과를 얻는다</a:t>
            </a:r>
            <a:endParaRPr lang="ko-KR" altLang="en-US" sz="1750" b="0" dirty="0">
              <a:solidFill>
                <a:srgbClr val="1F2328"/>
              </a:solidFill>
              <a:latin typeface="맑은 고딕"/>
              <a:ea typeface="맑은 고딕"/>
              <a:cs typeface="맑은 고딕"/>
            </a:endParaRPr>
          </a:p>
        </p:txBody>
      </p:sp>
      <p:sp>
        <p:nvSpPr>
          <p:cNvPr id="17" name="rv_answer"/>
          <p:cNvSpPr/>
          <p:nvPr/>
        </p:nvSpPr>
        <p:spPr>
          <a:xfrm>
            <a:off x="457200" y="528929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③ </a:t>
            </a:r>
            <a:r>
              <a:rPr lang="ko-KR" altLang="en-US" sz="1900" b="1" dirty="0">
                <a:solidFill>
                  <a:srgbClr val="5A4200"/>
                </a:solidFill>
                <a:latin typeface="맑은 고딕"/>
                <a:ea typeface="맑은 고딕"/>
                <a:cs typeface="맑은 고딕"/>
              </a:rPr>
              <a:t>단순히 데이터를 수집하는 것만으로도 충분하다</a:t>
            </a:r>
            <a:endParaRPr lang="ko-KR" altLang="en-US" sz="1900" b="1" dirty="0">
              <a:solidFill>
                <a:srgbClr val="5A4200"/>
              </a:solidFill>
              <a:latin typeface="맑은 고딕"/>
              <a:ea typeface="맑은 고딕"/>
              <a:cs typeface="맑은 고딕"/>
            </a:endParaRPr>
          </a:p>
        </p:txBody>
      </p:sp>
      <p:sp>
        <p:nvSpPr>
          <p:cNvPr id="18" name="rv_why"/>
          <p:cNvSpPr/>
          <p:nvPr/>
        </p:nvSpPr>
        <p:spPr>
          <a:xfrm>
            <a:off x="457200" y="5888228"/>
            <a:ext cx="11277295" cy="53085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단순히 데이터를 모으는 것만으로는 충분하지 않다('not enough')고 했으므로 충분하다는 ③은 틀리다.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250"/>
                                        <p:tgtEl>
                                          <p:spTgt spid="1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25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25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7" grpId="0" animBg="1"/>
      <p:bldP spid="9" grpId="0" animBg="1"/>
      <p:bldP spid="10" grpId="0" animBg="1"/>
      <p:bldP spid="18" grpId="0" animBg="1"/>
    </p:bldLst>
  </p:timing>
</p:sld>
</file>

<file path=ppt/slides/slide16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L7-1</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1 · 6</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6. 다음 글의 내용과 일치하는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7</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본문 근거 형광 + 정답 원리</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212343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2123439"/>
          </a:xfrm>
          <a:prstGeom prst="rect">
            <a:avLst/>
          </a:prstGeom>
          <a:noFill/>
        </p:spPr>
        <p:txBody>
          <a:bodyPr wrap="square" lIns="201168" tIns="118872" rIns="201168" bIns="118872" anchor="t" rtlCol="0">
            <a:noAutofit/>
          </a:bodyPr>
          <a:lstStyle/>
          <a:p>
            <a:pPr algn="just">
              <a:lnSpc>
                <a:spcPts val="1820"/>
              </a:lnSpc>
              <a:spcBef>
                <a:spcPts val="0"/>
              </a:spcBef>
              <a:spcAft>
                <a:spcPts val="0"/>
              </a:spcAft>
              <a:buNone/>
            </a:pPr>
            <a:r>
              <a:rPr lang="en-US" altLang="ko-KR" sz="1400" b="0" dirty="0">
                <a:solidFill>
                  <a:srgbClr val="1F2328"/>
                </a:solidFill>
                <a:latin typeface="Calibri"/>
                <a:ea typeface="맑은 고딕"/>
                <a:cs typeface="Calibri"/>
              </a:rPr>
              <a:t>Have you ever visited an online bookstore and been surprised by the books that the store recommended for you? Many of them looked interesting to you. So how did the bookstore know what you liked? This is all possible because of big data. Big data is data sets that are very big and complex. As information and communication technology develops, the amount of data we have is getting much greater than before. This is mainly because almost everything that we do online leaves a trace. For example, the photos you upload on your blog and the records of your purchases at online stores are all part of big data. Simply collecting data, however, is not enough. Big data has to be analyzed, and this is done by big data experts. Using various methods, experts analyze big data and draw meaningful results from it. These results then can be used </a:t>
            </a:r>
            <a:r>
              <a:rPr lang="en-US" altLang="ko-KR" sz="1400" b="0" dirty="0">
                <a:solidFill>
                  <a:srgbClr val="1F2328"/>
                </a:solidFill>
                <a:latin typeface="Calibri"/>
                <a:ea typeface="맑은 고딕"/>
                <a:cs typeface="Calibri"/>
              </a:rPr>
              <a:t>to make decisions or to predict the future</a:t>
            </a:r>
            <a:r>
              <a:rPr lang="en-US" altLang="ko-KR" sz="1400" b="0" dirty="0">
                <a:solidFill>
                  <a:srgbClr val="1F2328"/>
                </a:solidFill>
                <a:latin typeface="Calibri"/>
                <a:ea typeface="맑은 고딕"/>
                <a:cs typeface="Calibri"/>
              </a:rPr>
              <a:t>.</a:t>
            </a:r>
            <a:endParaRPr lang="en-US" altLang="ko-KR" sz="1400" b="0" dirty="0">
              <a:solidFill>
                <a:srgbClr val="1F2328"/>
              </a:solidFill>
              <a:latin typeface="Calibri"/>
              <a:ea typeface="맑은 고딕"/>
              <a:cs typeface="Calibri"/>
            </a:endParaRPr>
          </a:p>
        </p:txBody>
      </p:sp>
      <p:sp>
        <p:nvSpPr>
          <p:cNvPr id="9" name="rv_evidence_card"/>
          <p:cNvSpPr/>
          <p:nvPr/>
        </p:nvSpPr>
        <p:spPr>
          <a:xfrm>
            <a:off x="457200" y="950976"/>
            <a:ext cx="11277295" cy="212343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rv_evidence"/>
          <p:cNvSpPr txBox="1"/>
          <p:nvPr/>
        </p:nvSpPr>
        <p:spPr>
          <a:xfrm>
            <a:off x="457200" y="950976"/>
            <a:ext cx="11277295" cy="2123439"/>
          </a:xfrm>
          <a:prstGeom prst="rect">
            <a:avLst/>
          </a:prstGeom>
          <a:noFill/>
        </p:spPr>
        <p:txBody>
          <a:bodyPr wrap="square" lIns="201168" tIns="118872" rIns="201168" bIns="118872" anchor="t" rtlCol="0">
            <a:noAutofit/>
          </a:bodyPr>
          <a:lstStyle/>
          <a:p>
            <a:pPr algn="just">
              <a:lnSpc>
                <a:spcPts val="1820"/>
              </a:lnSpc>
              <a:spcBef>
                <a:spcPts val="0"/>
              </a:spcBef>
              <a:spcAft>
                <a:spcPts val="0"/>
              </a:spcAft>
              <a:buNone/>
            </a:pPr>
            <a:r>
              <a:rPr lang="en-US" altLang="ko-KR" sz="1400" b="0" dirty="0">
                <a:solidFill>
                  <a:srgbClr val="B3BAC6"/>
                </a:solidFill>
                <a:latin typeface="Calibri"/>
                <a:ea typeface="맑은 고딕"/>
                <a:cs typeface="Calibri"/>
              </a:rPr>
              <a:t>Have you ever visited an online bookstore and been surprised by the books that the store recommended for you? Many of them looked interesting to you. So how did the bookstore know what you liked? This is all possible because of big data. Big data is data sets that are very big and complex. As information and communication technology develops, the amount of data we have is getting much greater than before. This is mainly because almost everything that we do online leaves a trace. For example, the photos you upload on your blog and the records of your purchases at online stores are all part of big data. Simply collecting data, however, is not enough. Big data has to be analyzed, and this is done by big data experts. Using various methods, experts analyze big data and draw meaningful results from it. These results then can be used </a:t>
            </a:r>
            <a:r>
              <a:rPr lang="en-US" altLang="ko-KR" sz="1400" b="0" dirty="0">
                <a:solidFill>
                  <a:srgbClr val="111111"/>
                </a:solidFill>
                <a:highlight>
                  <a:srgbClr val="FFE45C"/>
                </a:highlight>
                <a:latin typeface="Calibri"/>
                <a:ea typeface="맑은 고딕"/>
                <a:cs typeface="Calibri"/>
              </a:rPr>
              <a:t>to make decisions or to predict the future</a:t>
            </a:r>
            <a:r>
              <a:rPr lang="en-US" altLang="ko-KR" sz="1400" b="0" dirty="0">
                <a:solidFill>
                  <a:srgbClr val="B3BAC6"/>
                </a:solidFill>
                <a:latin typeface="Calibri"/>
                <a:ea typeface="맑은 고딕"/>
                <a:cs typeface="Calibri"/>
              </a:rPr>
              <a:t>.</a:t>
            </a:r>
            <a:endParaRPr lang="en-US" altLang="ko-KR" sz="1400" b="0" dirty="0">
              <a:solidFill>
                <a:srgbClr val="B3BAC6"/>
              </a:solidFill>
              <a:latin typeface="Calibri"/>
              <a:ea typeface="맑은 고딕"/>
              <a:cs typeface="Calibri"/>
            </a:endParaRPr>
          </a:p>
        </p:txBody>
      </p:sp>
      <p:sp>
        <p:nvSpPr>
          <p:cNvPr id="11" name="choice_1"/>
          <p:cNvSpPr txBox="1"/>
          <p:nvPr/>
        </p:nvSpPr>
        <p:spPr>
          <a:xfrm>
            <a:off x="457200" y="3220720"/>
            <a:ext cx="11277295" cy="369824"/>
          </a:xfrm>
          <a:prstGeom prst="rect">
            <a:avLst/>
          </a:prstGeom>
          <a:noFill/>
        </p:spPr>
        <p:txBody>
          <a:bodyPr wrap="square" lIns="137160" tIns="27432" rIns="137160" bIns="27432" anchor="t" rtlCol="0">
            <a:noAutofit/>
          </a:bodyPr>
          <a:lstStyle/>
          <a:p>
            <a:pPr algn="l" marL="355600" indent="-355600">
              <a:lnSpc>
                <a:spcPts val="2480"/>
              </a:lnSpc>
              <a:spcBef>
                <a:spcPts val="0"/>
              </a:spcBef>
              <a:spcAft>
                <a:spcPts val="0"/>
              </a:spcAft>
              <a:buNone/>
              <a:tabLst>
                <a:tab pos="355600" algn="l"/>
              </a:tabLst>
            </a:pPr>
            <a:r>
              <a:rPr lang="ko-KR" altLang="en-US" sz="1750" b="1" dirty="0">
                <a:solidFill>
                  <a:srgbClr val="1E2A5A"/>
                </a:solidFill>
                <a:latin typeface="맑은 고딕"/>
                <a:ea typeface="맑은 고딕"/>
                <a:cs typeface="맑은 고딕"/>
              </a:rPr>
              <a:t>①</a:t>
            </a:r>
            <a:r>
              <a:rPr lang="ko-KR" altLang="en-US" sz="1750" b="0" dirty="0">
                <a:solidFill>
                  <a:srgbClr val="1F2328"/>
                </a:solidFill>
                <a:latin typeface="맑은 고딕"/>
                <a:ea typeface="맑은 고딕"/>
                <a:cs typeface="맑은 고딕"/>
              </a:rPr>
              <a:t>	데이터의 양은 이전보다 점점 줄어들고 있다</a:t>
            </a:r>
            <a:endParaRPr lang="ko-KR" altLang="en-US" sz="1750" b="0" dirty="0">
              <a:solidFill>
                <a:srgbClr val="1F2328"/>
              </a:solidFill>
              <a:latin typeface="맑은 고딕"/>
              <a:ea typeface="맑은 고딕"/>
              <a:cs typeface="맑은 고딕"/>
            </a:endParaRPr>
          </a:p>
        </p:txBody>
      </p:sp>
      <p:sp>
        <p:nvSpPr>
          <p:cNvPr id="12" name="choice_2"/>
          <p:cNvSpPr txBox="1"/>
          <p:nvPr/>
        </p:nvSpPr>
        <p:spPr>
          <a:xfrm>
            <a:off x="457200" y="3617976"/>
            <a:ext cx="11277295" cy="369824"/>
          </a:xfrm>
          <a:prstGeom prst="rect">
            <a:avLst/>
          </a:prstGeom>
          <a:noFill/>
        </p:spPr>
        <p:txBody>
          <a:bodyPr wrap="square" lIns="137160" tIns="27432" rIns="137160" bIns="27432" anchor="t" rtlCol="0">
            <a:noAutofit/>
          </a:bodyPr>
          <a:lstStyle/>
          <a:p>
            <a:pPr algn="l" marL="355600" indent="-355600">
              <a:lnSpc>
                <a:spcPts val="2480"/>
              </a:lnSpc>
              <a:spcBef>
                <a:spcPts val="0"/>
              </a:spcBef>
              <a:spcAft>
                <a:spcPts val="0"/>
              </a:spcAft>
              <a:buNone/>
              <a:tabLst>
                <a:tab pos="355600" algn="l"/>
              </a:tabLst>
            </a:pPr>
            <a:r>
              <a:rPr lang="ko-KR" altLang="en-US" sz="1750" b="1" dirty="0">
                <a:solidFill>
                  <a:srgbClr val="1E2A5A"/>
                </a:solidFill>
                <a:latin typeface="맑은 고딕"/>
                <a:ea typeface="맑은 고딕"/>
                <a:cs typeface="맑은 고딕"/>
              </a:rPr>
              <a:t>②</a:t>
            </a:r>
            <a:r>
              <a:rPr lang="ko-KR" altLang="en-US" sz="1750" b="0" dirty="0">
                <a:solidFill>
                  <a:srgbClr val="1F2328"/>
                </a:solidFill>
                <a:latin typeface="맑은 고딕"/>
                <a:ea typeface="맑은 고딕"/>
                <a:cs typeface="맑은 고딕"/>
              </a:rPr>
              <a:t>	블로그에 올린 사진은 빅데이터에서 제외된다</a:t>
            </a:r>
            <a:endParaRPr lang="ko-KR" altLang="en-US" sz="1750" b="0" dirty="0">
              <a:solidFill>
                <a:srgbClr val="1F2328"/>
              </a:solidFill>
              <a:latin typeface="맑은 고딕"/>
              <a:ea typeface="맑은 고딕"/>
              <a:cs typeface="맑은 고딕"/>
            </a:endParaRPr>
          </a:p>
        </p:txBody>
      </p:sp>
      <p:sp>
        <p:nvSpPr>
          <p:cNvPr id="13" name="choice_3"/>
          <p:cNvSpPr txBox="1"/>
          <p:nvPr/>
        </p:nvSpPr>
        <p:spPr>
          <a:xfrm>
            <a:off x="457200" y="4015232"/>
            <a:ext cx="11277295" cy="369824"/>
          </a:xfrm>
          <a:prstGeom prst="rect">
            <a:avLst/>
          </a:prstGeom>
          <a:noFill/>
        </p:spPr>
        <p:txBody>
          <a:bodyPr wrap="square" lIns="137160" tIns="27432" rIns="137160" bIns="27432" anchor="t" rtlCol="0">
            <a:noAutofit/>
          </a:bodyPr>
          <a:lstStyle/>
          <a:p>
            <a:pPr algn="l" marL="355600" indent="-355600">
              <a:lnSpc>
                <a:spcPts val="2480"/>
              </a:lnSpc>
              <a:spcBef>
                <a:spcPts val="0"/>
              </a:spcBef>
              <a:spcAft>
                <a:spcPts val="0"/>
              </a:spcAft>
              <a:buNone/>
              <a:tabLst>
                <a:tab pos="355600" algn="l"/>
              </a:tabLst>
            </a:pPr>
            <a:r>
              <a:rPr lang="ko-KR" altLang="en-US" sz="1750" b="1" dirty="0">
                <a:solidFill>
                  <a:srgbClr val="1E2A5A"/>
                </a:solidFill>
                <a:latin typeface="맑은 고딕"/>
                <a:ea typeface="맑은 고딕"/>
                <a:cs typeface="맑은 고딕"/>
              </a:rPr>
              <a:t>③</a:t>
            </a:r>
            <a:r>
              <a:rPr lang="ko-KR" altLang="en-US" sz="1750" b="0" dirty="0">
                <a:solidFill>
                  <a:srgbClr val="1F2328"/>
                </a:solidFill>
                <a:latin typeface="맑은 고딕"/>
                <a:ea typeface="맑은 고딕"/>
                <a:cs typeface="맑은 고딕"/>
              </a:rPr>
              <a:t>	빅데이터 분석은 일반 사용자들이 직접 한다</a:t>
            </a:r>
            <a:endParaRPr lang="ko-KR" altLang="en-US" sz="1750" b="0" dirty="0">
              <a:solidFill>
                <a:srgbClr val="1F2328"/>
              </a:solidFill>
              <a:latin typeface="맑은 고딕"/>
              <a:ea typeface="맑은 고딕"/>
              <a:cs typeface="맑은 고딕"/>
            </a:endParaRPr>
          </a:p>
        </p:txBody>
      </p:sp>
      <p:sp>
        <p:nvSpPr>
          <p:cNvPr id="14" name="choice_4"/>
          <p:cNvSpPr txBox="1"/>
          <p:nvPr/>
        </p:nvSpPr>
        <p:spPr>
          <a:xfrm>
            <a:off x="457200" y="4412488"/>
            <a:ext cx="11277295" cy="369824"/>
          </a:xfrm>
          <a:prstGeom prst="rect">
            <a:avLst/>
          </a:prstGeom>
          <a:noFill/>
        </p:spPr>
        <p:txBody>
          <a:bodyPr wrap="square" lIns="137160" tIns="27432" rIns="137160" bIns="27432" anchor="t" rtlCol="0">
            <a:noAutofit/>
          </a:bodyPr>
          <a:lstStyle/>
          <a:p>
            <a:pPr algn="l" marL="355600" indent="-355600">
              <a:lnSpc>
                <a:spcPts val="2480"/>
              </a:lnSpc>
              <a:spcBef>
                <a:spcPts val="0"/>
              </a:spcBef>
              <a:spcAft>
                <a:spcPts val="0"/>
              </a:spcAft>
              <a:buNone/>
              <a:tabLst>
                <a:tab pos="355600" algn="l"/>
              </a:tabLst>
            </a:pPr>
            <a:r>
              <a:rPr lang="ko-KR" altLang="en-US" sz="1750" b="1" dirty="0">
                <a:solidFill>
                  <a:srgbClr val="1E2A5A"/>
                </a:solidFill>
                <a:latin typeface="맑은 고딕"/>
                <a:ea typeface="맑은 고딕"/>
                <a:cs typeface="맑은 고딕"/>
              </a:rPr>
              <a:t>④</a:t>
            </a:r>
            <a:r>
              <a:rPr lang="ko-KR" altLang="en-US" sz="1750" b="0" dirty="0">
                <a:solidFill>
                  <a:srgbClr val="1F2328"/>
                </a:solidFill>
                <a:latin typeface="맑은 고딕"/>
                <a:ea typeface="맑은 고딕"/>
                <a:cs typeface="맑은 고딕"/>
              </a:rPr>
              <a:t>	빅데이터는 단순하고 작은 데이터의 모음이다</a:t>
            </a:r>
            <a:endParaRPr lang="ko-KR" altLang="en-US" sz="1750" b="0" dirty="0">
              <a:solidFill>
                <a:srgbClr val="1F2328"/>
              </a:solidFill>
              <a:latin typeface="맑은 고딕"/>
              <a:ea typeface="맑은 고딕"/>
              <a:cs typeface="맑은 고딕"/>
            </a:endParaRPr>
          </a:p>
        </p:txBody>
      </p:sp>
      <p:sp>
        <p:nvSpPr>
          <p:cNvPr id="15" name="choice_5"/>
          <p:cNvSpPr txBox="1"/>
          <p:nvPr/>
        </p:nvSpPr>
        <p:spPr>
          <a:xfrm>
            <a:off x="457200" y="4809744"/>
            <a:ext cx="11277295" cy="369824"/>
          </a:xfrm>
          <a:prstGeom prst="rect">
            <a:avLst/>
          </a:prstGeom>
          <a:noFill/>
        </p:spPr>
        <p:txBody>
          <a:bodyPr wrap="square" lIns="137160" tIns="27432" rIns="137160" bIns="27432" anchor="t" rtlCol="0">
            <a:noAutofit/>
          </a:bodyPr>
          <a:lstStyle/>
          <a:p>
            <a:pPr algn="l" marL="355600" indent="-355600">
              <a:lnSpc>
                <a:spcPts val="2480"/>
              </a:lnSpc>
              <a:spcBef>
                <a:spcPts val="0"/>
              </a:spcBef>
              <a:spcAft>
                <a:spcPts val="0"/>
              </a:spcAft>
              <a:buNone/>
              <a:tabLst>
                <a:tab pos="355600" algn="l"/>
              </a:tabLst>
            </a:pPr>
            <a:r>
              <a:rPr lang="ko-KR" altLang="en-US" sz="1750" b="1" dirty="0">
                <a:solidFill>
                  <a:srgbClr val="1E2A5A"/>
                </a:solidFill>
                <a:latin typeface="맑은 고딕"/>
                <a:ea typeface="맑은 고딕"/>
                <a:cs typeface="맑은 고딕"/>
              </a:rPr>
              <a:t>⑤</a:t>
            </a:r>
            <a:r>
              <a:rPr lang="ko-KR" altLang="en-US" sz="1750" b="0" dirty="0">
                <a:solidFill>
                  <a:srgbClr val="1F2328"/>
                </a:solidFill>
                <a:latin typeface="맑은 고딕"/>
                <a:ea typeface="맑은 고딕"/>
                <a:cs typeface="맑은 고딕"/>
              </a:rPr>
              <a:t>	분석 결과는 미래를 예측하는 데 쓰일 수 있다</a:t>
            </a:r>
            <a:endParaRPr lang="ko-KR" altLang="en-US" sz="1750" b="0" dirty="0">
              <a:solidFill>
                <a:srgbClr val="1F2328"/>
              </a:solidFill>
              <a:latin typeface="맑은 고딕"/>
              <a:ea typeface="맑은 고딕"/>
              <a:cs typeface="맑은 고딕"/>
            </a:endParaRPr>
          </a:p>
        </p:txBody>
      </p:sp>
      <p:sp>
        <p:nvSpPr>
          <p:cNvPr id="16" name="rv_pick"/>
          <p:cNvSpPr txBox="1"/>
          <p:nvPr/>
        </p:nvSpPr>
        <p:spPr>
          <a:xfrm>
            <a:off x="457200" y="4809744"/>
            <a:ext cx="11277295" cy="369824"/>
          </a:xfrm>
          <a:prstGeom prst="rect">
            <a:avLst/>
          </a:prstGeom>
          <a:solidFill>
            <a:srgbClr val="FFF3C4"/>
          </a:solidFill>
        </p:spPr>
        <p:txBody>
          <a:bodyPr wrap="square" lIns="137160" tIns="27432" rIns="137160" bIns="27432" anchor="t" rtlCol="0">
            <a:noAutofit/>
          </a:bodyPr>
          <a:lstStyle/>
          <a:p>
            <a:pPr algn="l" marL="355600" indent="-355600">
              <a:lnSpc>
                <a:spcPts val="2480"/>
              </a:lnSpc>
              <a:spcBef>
                <a:spcPts val="0"/>
              </a:spcBef>
              <a:spcAft>
                <a:spcPts val="0"/>
              </a:spcAft>
              <a:buNone/>
              <a:tabLst>
                <a:tab pos="355600" algn="l"/>
              </a:tabLst>
            </a:pPr>
            <a:r>
              <a:rPr lang="ko-KR" altLang="en-US" sz="1750" b="1" dirty="0">
                <a:solidFill>
                  <a:srgbClr val="C00000"/>
                </a:solidFill>
                <a:latin typeface="맑은 고딕"/>
                <a:ea typeface="맑은 고딕"/>
                <a:cs typeface="맑은 고딕"/>
              </a:rPr>
              <a:t>⑤</a:t>
            </a:r>
            <a:r>
              <a:rPr lang="ko-KR" altLang="en-US" sz="1750" b="0" dirty="0">
                <a:solidFill>
                  <a:srgbClr val="C00000"/>
                </a:solidFill>
                <a:latin typeface="맑은 고딕"/>
                <a:ea typeface="맑은 고딕"/>
                <a:cs typeface="맑은 고딕"/>
              </a:rPr>
              <a:t>	분석 결과는 미래를 예측하는 데 쓰일 수 있다</a:t>
            </a:r>
            <a:endParaRPr lang="ko-KR" altLang="en-US" sz="1750" b="0" dirty="0">
              <a:solidFill>
                <a:srgbClr val="C00000"/>
              </a:solidFill>
              <a:latin typeface="맑은 고딕"/>
              <a:ea typeface="맑은 고딕"/>
              <a:cs typeface="맑은 고딕"/>
            </a:endParaRPr>
          </a:p>
        </p:txBody>
      </p:sp>
      <p:sp>
        <p:nvSpPr>
          <p:cNvPr id="17" name="rv_answer"/>
          <p:cNvSpPr/>
          <p:nvPr/>
        </p:nvSpPr>
        <p:spPr>
          <a:xfrm>
            <a:off x="457200" y="528929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⑤ </a:t>
            </a:r>
            <a:r>
              <a:rPr lang="ko-KR" altLang="en-US" sz="1900" b="1" dirty="0">
                <a:solidFill>
                  <a:srgbClr val="5A4200"/>
                </a:solidFill>
                <a:latin typeface="맑은 고딕"/>
                <a:ea typeface="맑은 고딕"/>
                <a:cs typeface="맑은 고딕"/>
              </a:rPr>
              <a:t>분석 결과는 미래를 예측하는 데 쓰일 수 있다</a:t>
            </a:r>
            <a:endParaRPr lang="ko-KR" altLang="en-US" sz="1900" b="1" dirty="0">
              <a:solidFill>
                <a:srgbClr val="5A4200"/>
              </a:solidFill>
              <a:latin typeface="맑은 고딕"/>
              <a:ea typeface="맑은 고딕"/>
              <a:cs typeface="맑은 고딕"/>
            </a:endParaRPr>
          </a:p>
        </p:txBody>
      </p:sp>
      <p:sp>
        <p:nvSpPr>
          <p:cNvPr id="18" name="rv_why"/>
          <p:cNvSpPr/>
          <p:nvPr/>
        </p:nvSpPr>
        <p:spPr>
          <a:xfrm>
            <a:off x="457200" y="5888228"/>
            <a:ext cx="11277295" cy="53085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분석 결과는 결정을 내리거나 미래를 예측하는 데 쓰일 수 있다고 했으므로 ⑤가 일치한다.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250"/>
                                        <p:tgtEl>
                                          <p:spTgt spid="1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25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25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7" grpId="0" animBg="1"/>
      <p:bldP spid="9" grpId="0" animBg="1"/>
      <p:bldP spid="10" grpId="0" animBg="1"/>
      <p:bldP spid="18" grpId="0" animBg="1"/>
    </p:bldLst>
  </p:timing>
</p:sld>
</file>

<file path=ppt/slides/slide16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L7-1</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2 · 1</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1. 주어진 글 다음에 이어질 글의 순서로 가장 적절한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7</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정답 원리</a:t>
            </a:r>
            <a:endParaRPr lang="ko-KR" altLang="en-US" sz="1000" b="0" dirty="0">
              <a:solidFill>
                <a:srgbClr val="7A808C"/>
              </a:solidFill>
              <a:latin typeface="맑은 고딕"/>
              <a:ea typeface="맑은 고딕"/>
              <a:cs typeface="맑은 고딕"/>
            </a:endParaRPr>
          </a:p>
        </p:txBody>
      </p:sp>
      <p:sp>
        <p:nvSpPr>
          <p:cNvPr id="7" name="given_card"/>
          <p:cNvSpPr/>
          <p:nvPr/>
        </p:nvSpPr>
        <p:spPr>
          <a:xfrm>
            <a:off x="457200" y="950976"/>
            <a:ext cx="11277295" cy="441197"/>
          </a:xfrm>
          <a:prstGeom prst="roundRect">
            <a:avLst>
              <a:gd name="adj" fmla="val 6000"/>
            </a:avLst>
          </a:prstGeom>
          <a:solidFill>
            <a:srgbClr val="FFFFFF"/>
          </a:solidFill>
          <a:ln w="15875">
            <a:solidFill>
              <a:srgbClr val="1E2A5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given"/>
          <p:cNvSpPr txBox="1"/>
          <p:nvPr/>
        </p:nvSpPr>
        <p:spPr>
          <a:xfrm>
            <a:off x="457200" y="950976"/>
            <a:ext cx="11277295" cy="441197"/>
          </a:xfrm>
          <a:prstGeom prst="rect">
            <a:avLst/>
          </a:prstGeom>
          <a:noFill/>
        </p:spPr>
        <p:txBody>
          <a:bodyPr wrap="square" lIns="201168" tIns="100584" rIns="201168" bIns="100584" anchor="t" rtlCol="0">
            <a:noAutofit/>
          </a:bodyPr>
          <a:lstStyle/>
          <a:p>
            <a:pPr algn="l">
              <a:lnSpc>
                <a:spcPts val="1890"/>
              </a:lnSpc>
              <a:spcBef>
                <a:spcPts val="0"/>
              </a:spcBef>
              <a:spcAft>
                <a:spcPts val="0"/>
              </a:spcAft>
              <a:buNone/>
            </a:pPr>
            <a:r>
              <a:rPr lang="en-US" altLang="ko-KR" sz="1450" b="0" dirty="0">
                <a:solidFill>
                  <a:srgbClr val="1F2328"/>
                </a:solidFill>
                <a:latin typeface="Calibri"/>
                <a:ea typeface="맑은 고딕"/>
                <a:cs typeface="Calibri"/>
              </a:rPr>
              <a:t>Have you ever visited an online bookstore and been surprised by the books that the store recommended for you?</a:t>
            </a:r>
            <a:endParaRPr lang="en-US" altLang="ko-KR" sz="1450" b="0" dirty="0">
              <a:solidFill>
                <a:srgbClr val="1F2328"/>
              </a:solidFill>
              <a:latin typeface="Calibri"/>
              <a:ea typeface="맑은 고딕"/>
              <a:cs typeface="Calibri"/>
            </a:endParaRPr>
          </a:p>
        </p:txBody>
      </p:sp>
      <p:sp>
        <p:nvSpPr>
          <p:cNvPr id="9" name="parts_card"/>
          <p:cNvSpPr/>
          <p:nvPr/>
        </p:nvSpPr>
        <p:spPr>
          <a:xfrm>
            <a:off x="457200" y="1520190"/>
            <a:ext cx="11277295" cy="2663951"/>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parts"/>
          <p:cNvSpPr txBox="1"/>
          <p:nvPr/>
        </p:nvSpPr>
        <p:spPr>
          <a:xfrm>
            <a:off x="457200" y="1520190"/>
            <a:ext cx="11277295" cy="2663951"/>
          </a:xfrm>
          <a:prstGeom prst="rect">
            <a:avLst/>
          </a:prstGeom>
          <a:noFill/>
        </p:spPr>
        <p:txBody>
          <a:bodyPr wrap="square" lIns="201168" tIns="118872" rIns="201168" bIns="118872" anchor="t" rtlCol="0">
            <a:noAutofit/>
          </a:bodyPr>
          <a:lstStyle/>
          <a:p>
            <a:pPr algn="just" marL="387350" indent="-387350">
              <a:lnSpc>
                <a:spcPts val="1890"/>
              </a:lnSpc>
              <a:spcBef>
                <a:spcPts val="0"/>
              </a:spcBef>
              <a:spcAft>
                <a:spcPts val="650"/>
              </a:spcAft>
              <a:buNone/>
              <a:tabLst>
                <a:tab pos="387350" algn="l"/>
              </a:tabLst>
            </a:pPr>
            <a:r>
              <a:rPr lang="en-US" altLang="ko-KR" sz="1450" b="1" dirty="0">
                <a:solidFill>
                  <a:srgbClr val="1E2A5A"/>
                </a:solidFill>
                <a:latin typeface="Calibri"/>
                <a:ea typeface="맑은 고딕"/>
                <a:cs typeface="Calibri"/>
              </a:rPr>
              <a:t>(A)</a:t>
            </a:r>
            <a:r>
              <a:rPr lang="en-US" altLang="ko-KR" sz="1450" b="0" dirty="0">
                <a:solidFill>
                  <a:srgbClr val="1F2328"/>
                </a:solidFill>
                <a:latin typeface="Calibri"/>
                <a:ea typeface="맑은 고딕"/>
                <a:cs typeface="Calibri"/>
              </a:rPr>
              <a:t>	Many of them looked interesting to you. So how did the bookstore know what you liked? This is all possible because of big data. Big data is data sets that are very big and complex.</a:t>
            </a:r>
            <a:endParaRPr lang="en-US" altLang="ko-KR" sz="1450" b="0" dirty="0">
              <a:solidFill>
                <a:srgbClr val="1F2328"/>
              </a:solidFill>
              <a:latin typeface="Calibri"/>
              <a:ea typeface="맑은 고딕"/>
              <a:cs typeface="Calibri"/>
            </a:endParaRPr>
          </a:p>
          <a:p>
            <a:pPr algn="just" marL="387350" indent="-387350">
              <a:lnSpc>
                <a:spcPts val="1890"/>
              </a:lnSpc>
              <a:spcBef>
                <a:spcPts val="0"/>
              </a:spcBef>
              <a:spcAft>
                <a:spcPts val="650"/>
              </a:spcAft>
              <a:buNone/>
              <a:tabLst>
                <a:tab pos="387350" algn="l"/>
              </a:tabLst>
            </a:pPr>
            <a:r>
              <a:rPr lang="en-US" altLang="ko-KR" sz="1450" b="1" dirty="0">
                <a:solidFill>
                  <a:srgbClr val="1E2A5A"/>
                </a:solidFill>
                <a:latin typeface="Calibri"/>
                <a:ea typeface="맑은 고딕"/>
                <a:cs typeface="Calibri"/>
              </a:rPr>
              <a:t>(B)</a:t>
            </a:r>
            <a:r>
              <a:rPr lang="en-US" altLang="ko-KR" sz="1450" b="0" dirty="0">
                <a:solidFill>
                  <a:srgbClr val="1F2328"/>
                </a:solidFill>
                <a:latin typeface="Calibri"/>
                <a:ea typeface="맑은 고딕"/>
                <a:cs typeface="Calibri"/>
              </a:rPr>
              <a:t>	Big data has to be analyzed, and this is done by big data experts. Using various methods, experts analyze big data and draw meaningful results from it. These results then can be used to make decisions or to predict the future.</a:t>
            </a:r>
            <a:endParaRPr lang="en-US" altLang="ko-KR" sz="1450" b="0" dirty="0">
              <a:solidFill>
                <a:srgbClr val="1F2328"/>
              </a:solidFill>
              <a:latin typeface="Calibri"/>
              <a:ea typeface="맑은 고딕"/>
              <a:cs typeface="Calibri"/>
            </a:endParaRPr>
          </a:p>
          <a:p>
            <a:pPr algn="just" marL="387350" indent="-387350">
              <a:lnSpc>
                <a:spcPts val="1890"/>
              </a:lnSpc>
              <a:spcBef>
                <a:spcPts val="0"/>
              </a:spcBef>
              <a:spcAft>
                <a:spcPts val="650"/>
              </a:spcAft>
              <a:buNone/>
              <a:tabLst>
                <a:tab pos="387350" algn="l"/>
              </a:tabLst>
            </a:pPr>
            <a:r>
              <a:rPr lang="en-US" altLang="ko-KR" sz="1450" b="1" dirty="0">
                <a:solidFill>
                  <a:srgbClr val="1E2A5A"/>
                </a:solidFill>
                <a:latin typeface="Calibri"/>
                <a:ea typeface="맑은 고딕"/>
                <a:cs typeface="Calibri"/>
              </a:rPr>
              <a:t>(C)</a:t>
            </a:r>
            <a:r>
              <a:rPr lang="en-US" altLang="ko-KR" sz="1450" b="0" dirty="0">
                <a:solidFill>
                  <a:srgbClr val="1F2328"/>
                </a:solidFill>
                <a:latin typeface="Calibri"/>
                <a:ea typeface="맑은 고딕"/>
                <a:cs typeface="Calibri"/>
              </a:rPr>
              <a:t>	As information and communication technology develops, the amount of data we have is getting much greater than before. This is mainly because almost everything that we do online leaves a trace. For example, the photos you upload on your blog and the records of your purchases at online stores are all part of big data. Simply collecting data, however, is not enough.</a:t>
            </a:r>
            <a:endParaRPr lang="en-US" altLang="ko-KR" sz="1450" b="0" dirty="0">
              <a:solidFill>
                <a:srgbClr val="1F2328"/>
              </a:solidFill>
              <a:latin typeface="Calibri"/>
              <a:ea typeface="맑은 고딕"/>
              <a:cs typeface="Calibri"/>
            </a:endParaRPr>
          </a:p>
        </p:txBody>
      </p:sp>
      <p:sp>
        <p:nvSpPr>
          <p:cNvPr id="11" name="options"/>
          <p:cNvSpPr txBox="1"/>
          <p:nvPr/>
        </p:nvSpPr>
        <p:spPr>
          <a:xfrm>
            <a:off x="457200" y="4293870"/>
            <a:ext cx="11277295" cy="420624"/>
          </a:xfrm>
          <a:prstGeom prst="rect">
            <a:avLst/>
          </a:prstGeom>
          <a:noFill/>
        </p:spPr>
        <p:txBody>
          <a:bodyPr wrap="square" lIns="91440" tIns="18288" rIns="91440" bIns="18288" anchor="ctr" rtlCol="0">
            <a:noAutofit/>
          </a:bodyPr>
          <a:lstStyle/>
          <a:p>
            <a:pPr algn="ctr">
              <a:lnSpc>
                <a:spcPts val="2560"/>
              </a:lnSpc>
              <a:spcBef>
                <a:spcPts val="0"/>
              </a:spcBef>
              <a:spcAft>
                <a:spcPts val="0"/>
              </a:spcAft>
              <a:buNone/>
            </a:pPr>
            <a:r>
              <a:rPr lang="ko-KR" altLang="en-US" sz="1800" b="1" dirty="0">
                <a:solidFill>
                  <a:srgbClr val="1E2A5A"/>
                </a:solidFill>
                <a:latin typeface="맑은 고딕"/>
                <a:ea typeface="맑은 고딕"/>
                <a:cs typeface="맑은 고딕"/>
              </a:rPr>
              <a:t>① </a:t>
            </a:r>
            <a:r>
              <a:rPr lang="en-US" altLang="ko-KR" sz="1800" b="0" dirty="0">
                <a:solidFill>
                  <a:srgbClr val="1F2328"/>
                </a:solidFill>
                <a:latin typeface="Calibri"/>
                <a:ea typeface="맑은 고딕"/>
                <a:cs typeface="Calibri"/>
              </a:rPr>
              <a:t>(A) - (C) - (B)</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② </a:t>
            </a:r>
            <a:r>
              <a:rPr lang="en-US" altLang="ko-KR" sz="1800" b="0" dirty="0">
                <a:solidFill>
                  <a:srgbClr val="1F2328"/>
                </a:solidFill>
                <a:latin typeface="Calibri"/>
                <a:ea typeface="맑은 고딕"/>
                <a:cs typeface="Calibri"/>
              </a:rPr>
              <a:t>(B) - (A) - (C)</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③ </a:t>
            </a:r>
            <a:r>
              <a:rPr lang="en-US" altLang="ko-KR" sz="1800" b="0" dirty="0">
                <a:solidFill>
                  <a:srgbClr val="1F2328"/>
                </a:solidFill>
                <a:latin typeface="Calibri"/>
                <a:ea typeface="맑은 고딕"/>
                <a:cs typeface="Calibri"/>
              </a:rPr>
              <a:t>(B) - (C) - (A)</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④ </a:t>
            </a:r>
            <a:r>
              <a:rPr lang="en-US" altLang="ko-KR" sz="1800" b="0" dirty="0">
                <a:solidFill>
                  <a:srgbClr val="1F2328"/>
                </a:solidFill>
                <a:latin typeface="Calibri"/>
                <a:ea typeface="맑은 고딕"/>
                <a:cs typeface="Calibri"/>
              </a:rPr>
              <a:t>(C) - (A) - (B)</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⑤ </a:t>
            </a:r>
            <a:r>
              <a:rPr lang="en-US" altLang="ko-KR" sz="1800" b="0" dirty="0">
                <a:solidFill>
                  <a:srgbClr val="1F2328"/>
                </a:solidFill>
                <a:latin typeface="Calibri"/>
                <a:ea typeface="맑은 고딕"/>
                <a:cs typeface="Calibri"/>
              </a:rPr>
              <a:t>(C) - (B) - (A)</a:t>
            </a:r>
            <a:endParaRPr lang="en-US" altLang="ko-KR" sz="1800" b="0" dirty="0">
              <a:solidFill>
                <a:srgbClr val="1F2328"/>
              </a:solidFill>
              <a:latin typeface="Calibri"/>
              <a:ea typeface="맑은 고딕"/>
              <a:cs typeface="Calibri"/>
            </a:endParaRPr>
          </a:p>
        </p:txBody>
      </p:sp>
      <p:sp>
        <p:nvSpPr>
          <p:cNvPr id="12" name="rv_pick"/>
          <p:cNvSpPr txBox="1"/>
          <p:nvPr/>
        </p:nvSpPr>
        <p:spPr>
          <a:xfrm>
            <a:off x="457200" y="4293870"/>
            <a:ext cx="11277295" cy="420624"/>
          </a:xfrm>
          <a:prstGeom prst="rect">
            <a:avLst/>
          </a:prstGeom>
          <a:noFill/>
        </p:spPr>
        <p:txBody>
          <a:bodyPr wrap="square" lIns="91440" tIns="18288" rIns="91440" bIns="18288" anchor="ctr" rtlCol="0">
            <a:noAutofit/>
          </a:bodyPr>
          <a:lstStyle/>
          <a:p>
            <a:pPr algn="ctr">
              <a:lnSpc>
                <a:spcPts val="2560"/>
              </a:lnSpc>
              <a:spcBef>
                <a:spcPts val="0"/>
              </a:spcBef>
              <a:spcAft>
                <a:spcPts val="0"/>
              </a:spcAft>
              <a:buNone/>
            </a:pPr>
            <a:r>
              <a:rPr lang="ko-KR" altLang="en-US" sz="1800" b="1" dirty="0">
                <a:solidFill>
                  <a:srgbClr val="C00000"/>
                </a:solidFill>
                <a:highlight>
                  <a:srgbClr val="FFFFFF"/>
                </a:highlight>
                <a:latin typeface="맑은 고딕"/>
                <a:ea typeface="맑은 고딕"/>
                <a:cs typeface="맑은 고딕"/>
              </a:rPr>
              <a:t>① </a:t>
            </a:r>
            <a:r>
              <a:rPr lang="en-US" altLang="ko-KR" sz="1800" b="0" dirty="0">
                <a:solidFill>
                  <a:srgbClr val="C00000"/>
                </a:solidFill>
                <a:highlight>
                  <a:srgbClr val="FFFFFF"/>
                </a:highlight>
                <a:latin typeface="Calibri"/>
                <a:ea typeface="맑은 고딕"/>
                <a:cs typeface="Calibri"/>
              </a:rPr>
              <a:t>(A) - (C) - (B)</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② </a:t>
            </a:r>
            <a:r>
              <a:rPr lang="en-US" altLang="ko-KR" sz="1800" b="0" dirty="0">
                <a:solidFill>
                  <a:srgbClr val="1F2328">
                    <a:alpha val="0"/>
                  </a:srgbClr>
                </a:solidFill>
                <a:latin typeface="Calibri"/>
                <a:ea typeface="맑은 고딕"/>
                <a:cs typeface="Calibri"/>
              </a:rPr>
              <a:t>(B) - (A) - (C)</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③ </a:t>
            </a:r>
            <a:r>
              <a:rPr lang="en-US" altLang="ko-KR" sz="1800" b="0" dirty="0">
                <a:solidFill>
                  <a:srgbClr val="1F2328">
                    <a:alpha val="0"/>
                  </a:srgbClr>
                </a:solidFill>
                <a:latin typeface="Calibri"/>
                <a:ea typeface="맑은 고딕"/>
                <a:cs typeface="Calibri"/>
              </a:rPr>
              <a:t>(B) - (C) - (A)</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④ </a:t>
            </a:r>
            <a:r>
              <a:rPr lang="en-US" altLang="ko-KR" sz="1800" b="0" dirty="0">
                <a:solidFill>
                  <a:srgbClr val="1F2328">
                    <a:alpha val="0"/>
                  </a:srgbClr>
                </a:solidFill>
                <a:latin typeface="Calibri"/>
                <a:ea typeface="맑은 고딕"/>
                <a:cs typeface="Calibri"/>
              </a:rPr>
              <a:t>(C) - (A) - (B)</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⑤ </a:t>
            </a:r>
            <a:r>
              <a:rPr lang="en-US" altLang="ko-KR" sz="1800" b="0" dirty="0">
                <a:solidFill>
                  <a:srgbClr val="1F2328">
                    <a:alpha val="0"/>
                  </a:srgbClr>
                </a:solidFill>
                <a:latin typeface="Calibri"/>
                <a:ea typeface="맑은 고딕"/>
                <a:cs typeface="Calibri"/>
              </a:rPr>
              <a:t>(C) - (B) - (A)</a:t>
            </a:r>
            <a:endParaRPr lang="en-US" altLang="ko-KR" sz="1800" b="0" dirty="0">
              <a:solidFill>
                <a:srgbClr val="1F2328"/>
              </a:solidFill>
              <a:latin typeface="Calibri"/>
              <a:ea typeface="맑은 고딕"/>
              <a:cs typeface="Calibri"/>
            </a:endParaRPr>
          </a:p>
        </p:txBody>
      </p:sp>
      <p:sp>
        <p:nvSpPr>
          <p:cNvPr id="13" name="rv_answer"/>
          <p:cNvSpPr/>
          <p:nvPr/>
        </p:nvSpPr>
        <p:spPr>
          <a:xfrm>
            <a:off x="457200" y="4805934"/>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① </a:t>
            </a:r>
            <a:r>
              <a:rPr lang="en-US" altLang="ko-KR" sz="1900" b="1" dirty="0">
                <a:solidFill>
                  <a:srgbClr val="5A4200"/>
                </a:solidFill>
                <a:latin typeface="Calibri"/>
                <a:ea typeface="맑은 고딕"/>
                <a:cs typeface="Calibri"/>
              </a:rPr>
              <a:t>(A) - (C) - (B)</a:t>
            </a:r>
            <a:endParaRPr lang="en-US" altLang="ko-KR" sz="1900" b="1" dirty="0">
              <a:solidFill>
                <a:srgbClr val="5A4200"/>
              </a:solidFill>
              <a:latin typeface="Calibri"/>
              <a:ea typeface="맑은 고딕"/>
              <a:cs typeface="Calibri"/>
            </a:endParaRPr>
          </a:p>
        </p:txBody>
      </p:sp>
      <p:sp>
        <p:nvSpPr>
          <p:cNvPr id="14" name="rv_why"/>
          <p:cNvSpPr/>
          <p:nvPr/>
        </p:nvSpPr>
        <p:spPr>
          <a:xfrm>
            <a:off x="457200" y="5404866"/>
            <a:ext cx="11277295" cy="1014221"/>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(A) 'Many of them'은 추천받은 책들을 받고 빅데이터를 정의한다 → (C) 데이터 양이 늘지만 수집만으론 부족하다('however') → (B) 그래서 분석되어야 한다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25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250"/>
                                        <p:tgtEl>
                                          <p:spTgt spid="1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2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animBg="1"/>
    </p:bldLst>
  </p:timing>
</p:sld>
</file>

<file path=ppt/slides/slide16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L7-1</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2 · 2</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2. 주어진 글 다음에 이어질 글의 순서로 가장 적절한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7</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정답 원리</a:t>
            </a:r>
            <a:endParaRPr lang="ko-KR" altLang="en-US" sz="1000" b="0" dirty="0">
              <a:solidFill>
                <a:srgbClr val="7A808C"/>
              </a:solidFill>
              <a:latin typeface="맑은 고딕"/>
              <a:ea typeface="맑은 고딕"/>
              <a:cs typeface="맑은 고딕"/>
            </a:endParaRPr>
          </a:p>
        </p:txBody>
      </p:sp>
      <p:sp>
        <p:nvSpPr>
          <p:cNvPr id="7" name="given_card"/>
          <p:cNvSpPr/>
          <p:nvPr/>
        </p:nvSpPr>
        <p:spPr>
          <a:xfrm>
            <a:off x="457200" y="950976"/>
            <a:ext cx="11277295" cy="441197"/>
          </a:xfrm>
          <a:prstGeom prst="roundRect">
            <a:avLst>
              <a:gd name="adj" fmla="val 6000"/>
            </a:avLst>
          </a:prstGeom>
          <a:solidFill>
            <a:srgbClr val="FFFFFF"/>
          </a:solidFill>
          <a:ln w="15875">
            <a:solidFill>
              <a:srgbClr val="1E2A5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given"/>
          <p:cNvSpPr txBox="1"/>
          <p:nvPr/>
        </p:nvSpPr>
        <p:spPr>
          <a:xfrm>
            <a:off x="457200" y="950976"/>
            <a:ext cx="11277295" cy="441197"/>
          </a:xfrm>
          <a:prstGeom prst="rect">
            <a:avLst/>
          </a:prstGeom>
          <a:noFill/>
        </p:spPr>
        <p:txBody>
          <a:bodyPr wrap="square" lIns="201168" tIns="100584" rIns="201168" bIns="100584" anchor="t" rtlCol="0">
            <a:noAutofit/>
          </a:bodyPr>
          <a:lstStyle/>
          <a:p>
            <a:pPr algn="l">
              <a:lnSpc>
                <a:spcPts val="1890"/>
              </a:lnSpc>
              <a:spcBef>
                <a:spcPts val="0"/>
              </a:spcBef>
              <a:spcAft>
                <a:spcPts val="0"/>
              </a:spcAft>
              <a:buNone/>
            </a:pPr>
            <a:r>
              <a:rPr lang="en-US" altLang="ko-KR" sz="1450" b="0" dirty="0">
                <a:solidFill>
                  <a:srgbClr val="1F2328"/>
                </a:solidFill>
                <a:latin typeface="Calibri"/>
                <a:ea typeface="맑은 고딕"/>
                <a:cs typeface="Calibri"/>
              </a:rPr>
              <a:t>Have you ever visited an online bookstore and been surprised by the books that the store recommended for you?</a:t>
            </a:r>
            <a:endParaRPr lang="en-US" altLang="ko-KR" sz="1450" b="0" dirty="0">
              <a:solidFill>
                <a:srgbClr val="1F2328"/>
              </a:solidFill>
              <a:latin typeface="Calibri"/>
              <a:ea typeface="맑은 고딕"/>
              <a:cs typeface="Calibri"/>
            </a:endParaRPr>
          </a:p>
        </p:txBody>
      </p:sp>
      <p:sp>
        <p:nvSpPr>
          <p:cNvPr id="9" name="parts_card"/>
          <p:cNvSpPr/>
          <p:nvPr/>
        </p:nvSpPr>
        <p:spPr>
          <a:xfrm>
            <a:off x="457200" y="1520190"/>
            <a:ext cx="11277295" cy="2663951"/>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parts"/>
          <p:cNvSpPr txBox="1"/>
          <p:nvPr/>
        </p:nvSpPr>
        <p:spPr>
          <a:xfrm>
            <a:off x="457200" y="1520190"/>
            <a:ext cx="11277295" cy="2663951"/>
          </a:xfrm>
          <a:prstGeom prst="rect">
            <a:avLst/>
          </a:prstGeom>
          <a:noFill/>
        </p:spPr>
        <p:txBody>
          <a:bodyPr wrap="square" lIns="201168" tIns="118872" rIns="201168" bIns="118872" anchor="t" rtlCol="0">
            <a:noAutofit/>
          </a:bodyPr>
          <a:lstStyle/>
          <a:p>
            <a:pPr algn="just" marL="387350" indent="-387350">
              <a:lnSpc>
                <a:spcPts val="1890"/>
              </a:lnSpc>
              <a:spcBef>
                <a:spcPts val="0"/>
              </a:spcBef>
              <a:spcAft>
                <a:spcPts val="650"/>
              </a:spcAft>
              <a:buNone/>
              <a:tabLst>
                <a:tab pos="387350" algn="l"/>
              </a:tabLst>
            </a:pPr>
            <a:r>
              <a:rPr lang="en-US" altLang="ko-KR" sz="1450" b="1" dirty="0">
                <a:solidFill>
                  <a:srgbClr val="1E2A5A"/>
                </a:solidFill>
                <a:latin typeface="Calibri"/>
                <a:ea typeface="맑은 고딕"/>
                <a:cs typeface="Calibri"/>
              </a:rPr>
              <a:t>(A)</a:t>
            </a:r>
            <a:r>
              <a:rPr lang="en-US" altLang="ko-KR" sz="1450" b="0" dirty="0">
                <a:solidFill>
                  <a:srgbClr val="1F2328"/>
                </a:solidFill>
                <a:latin typeface="Calibri"/>
                <a:ea typeface="맑은 고딕"/>
                <a:cs typeface="Calibri"/>
              </a:rPr>
              <a:t>	Big data has to be analyzed, and this is done by big data experts. Using various methods, experts analyze big data and draw meaningful results from it. These results then can be used to make decisions or to predict the future.</a:t>
            </a:r>
            <a:endParaRPr lang="en-US" altLang="ko-KR" sz="1450" b="0" dirty="0">
              <a:solidFill>
                <a:srgbClr val="1F2328"/>
              </a:solidFill>
              <a:latin typeface="Calibri"/>
              <a:ea typeface="맑은 고딕"/>
              <a:cs typeface="Calibri"/>
            </a:endParaRPr>
          </a:p>
          <a:p>
            <a:pPr algn="just" marL="387350" indent="-387350">
              <a:lnSpc>
                <a:spcPts val="1890"/>
              </a:lnSpc>
              <a:spcBef>
                <a:spcPts val="0"/>
              </a:spcBef>
              <a:spcAft>
                <a:spcPts val="650"/>
              </a:spcAft>
              <a:buNone/>
              <a:tabLst>
                <a:tab pos="387350" algn="l"/>
              </a:tabLst>
            </a:pPr>
            <a:r>
              <a:rPr lang="en-US" altLang="ko-KR" sz="1450" b="1" dirty="0">
                <a:solidFill>
                  <a:srgbClr val="1E2A5A"/>
                </a:solidFill>
                <a:latin typeface="Calibri"/>
                <a:ea typeface="맑은 고딕"/>
                <a:cs typeface="Calibri"/>
              </a:rPr>
              <a:t>(B)</a:t>
            </a:r>
            <a:r>
              <a:rPr lang="en-US" altLang="ko-KR" sz="1450" b="0" dirty="0">
                <a:solidFill>
                  <a:srgbClr val="1F2328"/>
                </a:solidFill>
                <a:latin typeface="Calibri"/>
                <a:ea typeface="맑은 고딕"/>
                <a:cs typeface="Calibri"/>
              </a:rPr>
              <a:t>	Many of them looked interesting to you. So how did the bookstore know what you liked? This is all possible because of big data. Big data is data sets that are very big and complex.</a:t>
            </a:r>
            <a:endParaRPr lang="en-US" altLang="ko-KR" sz="1450" b="0" dirty="0">
              <a:solidFill>
                <a:srgbClr val="1F2328"/>
              </a:solidFill>
              <a:latin typeface="Calibri"/>
              <a:ea typeface="맑은 고딕"/>
              <a:cs typeface="Calibri"/>
            </a:endParaRPr>
          </a:p>
          <a:p>
            <a:pPr algn="just" marL="387350" indent="-387350">
              <a:lnSpc>
                <a:spcPts val="1890"/>
              </a:lnSpc>
              <a:spcBef>
                <a:spcPts val="0"/>
              </a:spcBef>
              <a:spcAft>
                <a:spcPts val="650"/>
              </a:spcAft>
              <a:buNone/>
              <a:tabLst>
                <a:tab pos="387350" algn="l"/>
              </a:tabLst>
            </a:pPr>
            <a:r>
              <a:rPr lang="en-US" altLang="ko-KR" sz="1450" b="1" dirty="0">
                <a:solidFill>
                  <a:srgbClr val="1E2A5A"/>
                </a:solidFill>
                <a:latin typeface="Calibri"/>
                <a:ea typeface="맑은 고딕"/>
                <a:cs typeface="Calibri"/>
              </a:rPr>
              <a:t>(C)</a:t>
            </a:r>
            <a:r>
              <a:rPr lang="en-US" altLang="ko-KR" sz="1450" b="0" dirty="0">
                <a:solidFill>
                  <a:srgbClr val="1F2328"/>
                </a:solidFill>
                <a:latin typeface="Calibri"/>
                <a:ea typeface="맑은 고딕"/>
                <a:cs typeface="Calibri"/>
              </a:rPr>
              <a:t>	As information and communication technology develops, the amount of data we have is getting much greater than before. This is mainly because almost everything that we do online leaves a trace. For example, the photos you upload on your blog and the records of your purchases at online stores are all part of big data. Simply collecting data, however, is not enough.</a:t>
            </a:r>
            <a:endParaRPr lang="en-US" altLang="ko-KR" sz="1450" b="0" dirty="0">
              <a:solidFill>
                <a:srgbClr val="1F2328"/>
              </a:solidFill>
              <a:latin typeface="Calibri"/>
              <a:ea typeface="맑은 고딕"/>
              <a:cs typeface="Calibri"/>
            </a:endParaRPr>
          </a:p>
        </p:txBody>
      </p:sp>
      <p:sp>
        <p:nvSpPr>
          <p:cNvPr id="11" name="options"/>
          <p:cNvSpPr txBox="1"/>
          <p:nvPr/>
        </p:nvSpPr>
        <p:spPr>
          <a:xfrm>
            <a:off x="457200" y="4293870"/>
            <a:ext cx="11277295" cy="420624"/>
          </a:xfrm>
          <a:prstGeom prst="rect">
            <a:avLst/>
          </a:prstGeom>
          <a:noFill/>
        </p:spPr>
        <p:txBody>
          <a:bodyPr wrap="square" lIns="91440" tIns="18288" rIns="91440" bIns="18288" anchor="ctr" rtlCol="0">
            <a:noAutofit/>
          </a:bodyPr>
          <a:lstStyle/>
          <a:p>
            <a:pPr algn="ctr">
              <a:lnSpc>
                <a:spcPts val="2560"/>
              </a:lnSpc>
              <a:spcBef>
                <a:spcPts val="0"/>
              </a:spcBef>
              <a:spcAft>
                <a:spcPts val="0"/>
              </a:spcAft>
              <a:buNone/>
            </a:pPr>
            <a:r>
              <a:rPr lang="ko-KR" altLang="en-US" sz="1800" b="1" dirty="0">
                <a:solidFill>
                  <a:srgbClr val="1E2A5A"/>
                </a:solidFill>
                <a:latin typeface="맑은 고딕"/>
                <a:ea typeface="맑은 고딕"/>
                <a:cs typeface="맑은 고딕"/>
              </a:rPr>
              <a:t>① </a:t>
            </a:r>
            <a:r>
              <a:rPr lang="en-US" altLang="ko-KR" sz="1800" b="0" dirty="0">
                <a:solidFill>
                  <a:srgbClr val="1F2328"/>
                </a:solidFill>
                <a:latin typeface="Calibri"/>
                <a:ea typeface="맑은 고딕"/>
                <a:cs typeface="Calibri"/>
              </a:rPr>
              <a:t>(A) - (C) - (B)</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② </a:t>
            </a:r>
            <a:r>
              <a:rPr lang="en-US" altLang="ko-KR" sz="1800" b="0" dirty="0">
                <a:solidFill>
                  <a:srgbClr val="1F2328"/>
                </a:solidFill>
                <a:latin typeface="Calibri"/>
                <a:ea typeface="맑은 고딕"/>
                <a:cs typeface="Calibri"/>
              </a:rPr>
              <a:t>(B) - (A) - (C)</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③ </a:t>
            </a:r>
            <a:r>
              <a:rPr lang="en-US" altLang="ko-KR" sz="1800" b="0" dirty="0">
                <a:solidFill>
                  <a:srgbClr val="1F2328"/>
                </a:solidFill>
                <a:latin typeface="Calibri"/>
                <a:ea typeface="맑은 고딕"/>
                <a:cs typeface="Calibri"/>
              </a:rPr>
              <a:t>(B) - (C) - (A)</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④ </a:t>
            </a:r>
            <a:r>
              <a:rPr lang="en-US" altLang="ko-KR" sz="1800" b="0" dirty="0">
                <a:solidFill>
                  <a:srgbClr val="1F2328"/>
                </a:solidFill>
                <a:latin typeface="Calibri"/>
                <a:ea typeface="맑은 고딕"/>
                <a:cs typeface="Calibri"/>
              </a:rPr>
              <a:t>(C) - (A) - (B)</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⑤ </a:t>
            </a:r>
            <a:r>
              <a:rPr lang="en-US" altLang="ko-KR" sz="1800" b="0" dirty="0">
                <a:solidFill>
                  <a:srgbClr val="1F2328"/>
                </a:solidFill>
                <a:latin typeface="Calibri"/>
                <a:ea typeface="맑은 고딕"/>
                <a:cs typeface="Calibri"/>
              </a:rPr>
              <a:t>(C) - (B) - (A)</a:t>
            </a:r>
            <a:endParaRPr lang="en-US" altLang="ko-KR" sz="1800" b="0" dirty="0">
              <a:solidFill>
                <a:srgbClr val="1F2328"/>
              </a:solidFill>
              <a:latin typeface="Calibri"/>
              <a:ea typeface="맑은 고딕"/>
              <a:cs typeface="Calibri"/>
            </a:endParaRPr>
          </a:p>
        </p:txBody>
      </p:sp>
      <p:sp>
        <p:nvSpPr>
          <p:cNvPr id="12" name="rv_pick"/>
          <p:cNvSpPr txBox="1"/>
          <p:nvPr/>
        </p:nvSpPr>
        <p:spPr>
          <a:xfrm>
            <a:off x="457200" y="4293870"/>
            <a:ext cx="11277295" cy="420624"/>
          </a:xfrm>
          <a:prstGeom prst="rect">
            <a:avLst/>
          </a:prstGeom>
          <a:noFill/>
        </p:spPr>
        <p:txBody>
          <a:bodyPr wrap="square" lIns="91440" tIns="18288" rIns="91440" bIns="18288" anchor="ctr" rtlCol="0">
            <a:noAutofit/>
          </a:bodyPr>
          <a:lstStyle/>
          <a:p>
            <a:pPr algn="ctr">
              <a:lnSpc>
                <a:spcPts val="2560"/>
              </a:lnSpc>
              <a:spcBef>
                <a:spcPts val="0"/>
              </a:spcBef>
              <a:spcAft>
                <a:spcPts val="0"/>
              </a:spcAft>
              <a:buNone/>
            </a:pPr>
            <a:r>
              <a:rPr lang="ko-KR" altLang="en-US" sz="1800" b="1" dirty="0">
                <a:solidFill>
                  <a:srgbClr val="1E2A5A">
                    <a:alpha val="0"/>
                  </a:srgbClr>
                </a:solidFill>
                <a:latin typeface="맑은 고딕"/>
                <a:ea typeface="맑은 고딕"/>
                <a:cs typeface="맑은 고딕"/>
              </a:rPr>
              <a:t>① </a:t>
            </a:r>
            <a:r>
              <a:rPr lang="en-US" altLang="ko-KR" sz="1800" b="0" dirty="0">
                <a:solidFill>
                  <a:srgbClr val="1F2328">
                    <a:alpha val="0"/>
                  </a:srgbClr>
                </a:solidFill>
                <a:latin typeface="Calibri"/>
                <a:ea typeface="맑은 고딕"/>
                <a:cs typeface="Calibri"/>
              </a:rPr>
              <a:t>(A) - (C) - (B)</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② </a:t>
            </a:r>
            <a:r>
              <a:rPr lang="en-US" altLang="ko-KR" sz="1800" b="0" dirty="0">
                <a:solidFill>
                  <a:srgbClr val="1F2328">
                    <a:alpha val="0"/>
                  </a:srgbClr>
                </a:solidFill>
                <a:latin typeface="Calibri"/>
                <a:ea typeface="맑은 고딕"/>
                <a:cs typeface="Calibri"/>
              </a:rPr>
              <a:t>(B) - (A) - (C)</a:t>
            </a:r>
            <a:r>
              <a:rPr lang="en-US" altLang="ko-KR" sz="1800" b="0" dirty="0">
                <a:solidFill>
                  <a:srgbClr val="1F2328">
                    <a:alpha val="0"/>
                  </a:srgbClr>
                </a:solidFill>
                <a:latin typeface="Calibri"/>
                <a:ea typeface="맑은 고딕"/>
                <a:cs typeface="Calibri"/>
              </a:rPr>
              <a:t>       </a:t>
            </a:r>
            <a:r>
              <a:rPr lang="ko-KR" altLang="en-US" sz="1800" b="1" dirty="0">
                <a:solidFill>
                  <a:srgbClr val="C00000"/>
                </a:solidFill>
                <a:highlight>
                  <a:srgbClr val="FFFFFF"/>
                </a:highlight>
                <a:latin typeface="맑은 고딕"/>
                <a:ea typeface="맑은 고딕"/>
                <a:cs typeface="맑은 고딕"/>
              </a:rPr>
              <a:t>③ </a:t>
            </a:r>
            <a:r>
              <a:rPr lang="en-US" altLang="ko-KR" sz="1800" b="0" dirty="0">
                <a:solidFill>
                  <a:srgbClr val="C00000"/>
                </a:solidFill>
                <a:highlight>
                  <a:srgbClr val="FFFFFF"/>
                </a:highlight>
                <a:latin typeface="Calibri"/>
                <a:ea typeface="맑은 고딕"/>
                <a:cs typeface="Calibri"/>
              </a:rPr>
              <a:t>(B) - (C) - (A)</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④ </a:t>
            </a:r>
            <a:r>
              <a:rPr lang="en-US" altLang="ko-KR" sz="1800" b="0" dirty="0">
                <a:solidFill>
                  <a:srgbClr val="1F2328">
                    <a:alpha val="0"/>
                  </a:srgbClr>
                </a:solidFill>
                <a:latin typeface="Calibri"/>
                <a:ea typeface="맑은 고딕"/>
                <a:cs typeface="Calibri"/>
              </a:rPr>
              <a:t>(C) - (A) - (B)</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⑤ </a:t>
            </a:r>
            <a:r>
              <a:rPr lang="en-US" altLang="ko-KR" sz="1800" b="0" dirty="0">
                <a:solidFill>
                  <a:srgbClr val="1F2328">
                    <a:alpha val="0"/>
                  </a:srgbClr>
                </a:solidFill>
                <a:latin typeface="Calibri"/>
                <a:ea typeface="맑은 고딕"/>
                <a:cs typeface="Calibri"/>
              </a:rPr>
              <a:t>(C) - (B) - (A)</a:t>
            </a:r>
            <a:endParaRPr lang="en-US" altLang="ko-KR" sz="1800" b="0" dirty="0">
              <a:solidFill>
                <a:srgbClr val="1F2328"/>
              </a:solidFill>
              <a:latin typeface="Calibri"/>
              <a:ea typeface="맑은 고딕"/>
              <a:cs typeface="Calibri"/>
            </a:endParaRPr>
          </a:p>
        </p:txBody>
      </p:sp>
      <p:sp>
        <p:nvSpPr>
          <p:cNvPr id="13" name="rv_answer"/>
          <p:cNvSpPr/>
          <p:nvPr/>
        </p:nvSpPr>
        <p:spPr>
          <a:xfrm>
            <a:off x="457200" y="4805934"/>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③ </a:t>
            </a:r>
            <a:r>
              <a:rPr lang="en-US" altLang="ko-KR" sz="1900" b="1" dirty="0">
                <a:solidFill>
                  <a:srgbClr val="5A4200"/>
                </a:solidFill>
                <a:latin typeface="Calibri"/>
                <a:ea typeface="맑은 고딕"/>
                <a:cs typeface="Calibri"/>
              </a:rPr>
              <a:t>(B) - (C) - (A)</a:t>
            </a:r>
            <a:endParaRPr lang="en-US" altLang="ko-KR" sz="1900" b="1" dirty="0">
              <a:solidFill>
                <a:srgbClr val="5A4200"/>
              </a:solidFill>
              <a:latin typeface="Calibri"/>
              <a:ea typeface="맑은 고딕"/>
              <a:cs typeface="Calibri"/>
            </a:endParaRPr>
          </a:p>
        </p:txBody>
      </p:sp>
      <p:sp>
        <p:nvSpPr>
          <p:cNvPr id="14" name="rv_why"/>
          <p:cNvSpPr/>
          <p:nvPr/>
        </p:nvSpPr>
        <p:spPr>
          <a:xfrm>
            <a:off x="457200" y="5404866"/>
            <a:ext cx="11277295" cy="1014221"/>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(B) 'Many of them'이 추천받은 책들을 가리키며 빅데이터를 정의한다 → (C) 데이터가 늘지만 수집만으론 부족하다 → (A) 'Big data has to be analyzed'로 분석을 설명한다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25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250"/>
                                        <p:tgtEl>
                                          <p:spTgt spid="1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2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animBg="1"/>
    </p:bldLst>
  </p:timing>
</p:sld>
</file>

<file path=ppt/slides/slide16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L7-1</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2 · 3</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3. 글의 흐름으로 보아, 주어진 문장이 들어가기에 가장 적절한 곳은?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7</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정답 원리</a:t>
            </a:r>
            <a:endParaRPr lang="ko-KR" altLang="en-US" sz="1000" b="0" dirty="0">
              <a:solidFill>
                <a:srgbClr val="7A808C"/>
              </a:solidFill>
              <a:latin typeface="맑은 고딕"/>
              <a:ea typeface="맑은 고딕"/>
              <a:cs typeface="맑은 고딕"/>
            </a:endParaRPr>
          </a:p>
        </p:txBody>
      </p:sp>
      <p:sp>
        <p:nvSpPr>
          <p:cNvPr id="7" name="given_card"/>
          <p:cNvSpPr/>
          <p:nvPr/>
        </p:nvSpPr>
        <p:spPr>
          <a:xfrm>
            <a:off x="457200" y="950976"/>
            <a:ext cx="11277295" cy="507238"/>
          </a:xfrm>
          <a:prstGeom prst="roundRect">
            <a:avLst>
              <a:gd name="adj" fmla="val 6000"/>
            </a:avLst>
          </a:prstGeom>
          <a:solidFill>
            <a:srgbClr val="FFFFFF"/>
          </a:solidFill>
          <a:ln w="15875">
            <a:solidFill>
              <a:srgbClr val="1E2A5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given"/>
          <p:cNvSpPr txBox="1"/>
          <p:nvPr/>
        </p:nvSpPr>
        <p:spPr>
          <a:xfrm>
            <a:off x="457200" y="950976"/>
            <a:ext cx="11277295" cy="507238"/>
          </a:xfrm>
          <a:prstGeom prst="rect">
            <a:avLst/>
          </a:prstGeom>
          <a:noFill/>
        </p:spPr>
        <p:txBody>
          <a:bodyPr wrap="square" lIns="201168" tIns="100584" rIns="201168" bIns="100584"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주어진 문장</a:t>
            </a:r>
            <a:r>
              <a:rPr lang="en-US" altLang="ko-KR" sz="1700" b="0" dirty="0">
                <a:solidFill>
                  <a:srgbClr val="1F2328"/>
                </a:solidFill>
                <a:latin typeface="Calibri"/>
                <a:ea typeface="맑은 고딕"/>
                <a:cs typeface="Calibri"/>
              </a:rPr>
              <a:t>   Many of them looked interesting to you.</a:t>
            </a:r>
            <a:endParaRPr lang="en-US" altLang="ko-KR" sz="1700" b="0" dirty="0">
              <a:solidFill>
                <a:srgbClr val="1F2328"/>
              </a:solidFill>
              <a:latin typeface="Calibri"/>
              <a:ea typeface="맑은 고딕"/>
              <a:cs typeface="Calibri"/>
            </a:endParaRPr>
          </a:p>
        </p:txBody>
      </p:sp>
      <p:sp>
        <p:nvSpPr>
          <p:cNvPr id="9" name="passage_card"/>
          <p:cNvSpPr/>
          <p:nvPr/>
        </p:nvSpPr>
        <p:spPr>
          <a:xfrm>
            <a:off x="457200" y="1604518"/>
            <a:ext cx="11277295" cy="352551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passage"/>
          <p:cNvSpPr txBox="1"/>
          <p:nvPr/>
        </p:nvSpPr>
        <p:spPr>
          <a:xfrm>
            <a:off x="457200" y="1604518"/>
            <a:ext cx="11277295" cy="3525519"/>
          </a:xfrm>
          <a:prstGeom prst="rect">
            <a:avLst/>
          </a:prstGeom>
          <a:noFill/>
        </p:spPr>
        <p:txBody>
          <a:bodyPr wrap="square" lIns="201168" tIns="118872" rIns="201168" bIns="118872" anchor="t" rtlCol="0">
            <a:noAutofit/>
          </a:bodyPr>
          <a:lstStyle/>
          <a:p>
            <a:pPr algn="just">
              <a:lnSpc>
                <a:spcPts val="2560"/>
              </a:lnSpc>
              <a:spcBef>
                <a:spcPts val="0"/>
              </a:spcBef>
              <a:spcAft>
                <a:spcPts val="0"/>
              </a:spcAft>
              <a:buNone/>
            </a:pPr>
            <a:r>
              <a:rPr lang="en-US" altLang="ko-KR" sz="1700" b="0" dirty="0">
                <a:solidFill>
                  <a:srgbClr val="1F2328"/>
                </a:solidFill>
                <a:latin typeface="Calibri"/>
                <a:ea typeface="맑은 고딕"/>
                <a:cs typeface="Calibri"/>
              </a:rPr>
              <a:t>Have you ever visited an online bookstore and been surprised by the books that the store recommended for you? </a:t>
            </a:r>
            <a:r>
              <a:rPr lang="ko-KR" altLang="en-US" sz="1800" b="1" dirty="0">
                <a:solidFill>
                  <a:srgbClr val="1E2A5A"/>
                </a:solidFill>
                <a:latin typeface="맑은 고딕"/>
                <a:ea typeface="맑은 고딕"/>
                <a:cs typeface="맑은 고딕"/>
              </a:rPr>
              <a:t>②</a:t>
            </a:r>
            <a:r>
              <a:rPr lang="en-US" altLang="ko-KR" sz="1700" b="0" dirty="0">
                <a:solidFill>
                  <a:srgbClr val="1F2328"/>
                </a:solidFill>
                <a:latin typeface="Calibri"/>
                <a:ea typeface="맑은 고딕"/>
                <a:cs typeface="Calibri"/>
              </a:rPr>
              <a:t> So how did the bookstore know what you liked? </a:t>
            </a:r>
            <a:r>
              <a:rPr lang="ko-KR" altLang="en-US" sz="1800" b="1" dirty="0">
                <a:solidFill>
                  <a:srgbClr val="1E2A5A"/>
                </a:solidFill>
                <a:latin typeface="맑은 고딕"/>
                <a:ea typeface="맑은 고딕"/>
                <a:cs typeface="맑은 고딕"/>
              </a:rPr>
              <a:t>③</a:t>
            </a:r>
            <a:r>
              <a:rPr lang="en-US" altLang="ko-KR" sz="1700" b="0" dirty="0">
                <a:solidFill>
                  <a:srgbClr val="1F2328"/>
                </a:solidFill>
                <a:latin typeface="Calibri"/>
                <a:ea typeface="맑은 고딕"/>
                <a:cs typeface="Calibri"/>
              </a:rPr>
              <a:t> This is all possible because of big data. </a:t>
            </a:r>
            <a:r>
              <a:rPr lang="ko-KR" altLang="en-US" sz="1800" b="1" dirty="0">
                <a:solidFill>
                  <a:srgbClr val="1E2A5A"/>
                </a:solidFill>
                <a:latin typeface="맑은 고딕"/>
                <a:ea typeface="맑은 고딕"/>
                <a:cs typeface="맑은 고딕"/>
              </a:rPr>
              <a:t>④</a:t>
            </a:r>
            <a:r>
              <a:rPr lang="en-US" altLang="ko-KR" sz="1700" b="0" dirty="0">
                <a:solidFill>
                  <a:srgbClr val="1F2328"/>
                </a:solidFill>
                <a:latin typeface="Calibri"/>
                <a:ea typeface="맑은 고딕"/>
                <a:cs typeface="Calibri"/>
              </a:rPr>
              <a:t> Big data is data sets that are very big and complex. </a:t>
            </a:r>
            <a:r>
              <a:rPr lang="ko-KR" altLang="en-US" sz="1800" b="1" dirty="0">
                <a:solidFill>
                  <a:srgbClr val="1E2A5A"/>
                </a:solidFill>
                <a:latin typeface="맑은 고딕"/>
                <a:ea typeface="맑은 고딕"/>
                <a:cs typeface="맑은 고딕"/>
              </a:rPr>
              <a:t>⑤</a:t>
            </a:r>
            <a:r>
              <a:rPr lang="en-US" altLang="ko-KR" sz="1700" b="0" dirty="0">
                <a:solidFill>
                  <a:srgbClr val="1F2328"/>
                </a:solidFill>
                <a:latin typeface="Calibri"/>
                <a:ea typeface="맑은 고딕"/>
                <a:cs typeface="Calibri"/>
              </a:rPr>
              <a:t> As information and communication technology develops, the amount of data we have is getting much greater than before. This is mainly because almost everything that we do online leaves a trace. For example, the photos you upload on your blog and the records of your purchases at online stores are all part of big data. Simply collecting data, however, is not enough. Big data has to be analyzed, and this is done by big data experts. Using various methods, experts analyze big data and draw meaningful results from it. These results then can be used to make decisions or to predict the future.</a:t>
            </a:r>
            <a:endParaRPr lang="en-US" altLang="ko-KR" sz="1700" b="0" dirty="0">
              <a:solidFill>
                <a:srgbClr val="1F2328"/>
              </a:solidFill>
              <a:latin typeface="Calibri"/>
              <a:ea typeface="맑은 고딕"/>
              <a:cs typeface="Calibri"/>
            </a:endParaRPr>
          </a:p>
        </p:txBody>
      </p:sp>
      <p:sp>
        <p:nvSpPr>
          <p:cNvPr id="11" name="rv_pick"/>
          <p:cNvSpPr txBox="1"/>
          <p:nvPr/>
        </p:nvSpPr>
        <p:spPr>
          <a:xfrm>
            <a:off x="457200" y="1604518"/>
            <a:ext cx="11277295" cy="3525519"/>
          </a:xfrm>
          <a:prstGeom prst="rect">
            <a:avLst/>
          </a:prstGeom>
          <a:noFill/>
        </p:spPr>
        <p:txBody>
          <a:bodyPr wrap="square" lIns="201168" tIns="118872" rIns="201168" bIns="118872" anchor="t" rtlCol="0">
            <a:noAutofit/>
          </a:bodyPr>
          <a:lstStyle/>
          <a:p>
            <a:pPr algn="just">
              <a:lnSpc>
                <a:spcPts val="2560"/>
              </a:lnSpc>
              <a:spcBef>
                <a:spcPts val="0"/>
              </a:spcBef>
              <a:spcAft>
                <a:spcPts val="0"/>
              </a:spcAft>
              <a:buNone/>
            </a:pPr>
            <a:r>
              <a:rPr lang="en-US" altLang="ko-KR" sz="1700" b="0" dirty="0">
                <a:solidFill>
                  <a:srgbClr val="1F2328">
                    <a:alpha val="0"/>
                  </a:srgbClr>
                </a:solidFill>
                <a:latin typeface="Calibri"/>
                <a:ea typeface="맑은 고딕"/>
                <a:cs typeface="Calibri"/>
              </a:rPr>
              <a:t>Have you ever visited an online bookstore and been surprised by the books that the store recommended for you? </a:t>
            </a:r>
            <a:r>
              <a:rPr lang="ko-KR" altLang="en-US" sz="1800" b="1" dirty="0">
                <a:solidFill>
                  <a:srgbClr val="C00000"/>
                </a:solidFill>
                <a:highlight>
                  <a:srgbClr val="F3F5F9"/>
                </a:highlight>
                <a:latin typeface="맑은 고딕"/>
                <a:ea typeface="맑은 고딕"/>
                <a:cs typeface="맑은 고딕"/>
              </a:rPr>
              <a:t>②</a:t>
            </a:r>
            <a:r>
              <a:rPr lang="en-US" altLang="ko-KR" sz="1700" b="0" dirty="0">
                <a:solidFill>
                  <a:srgbClr val="1F2328">
                    <a:alpha val="0"/>
                  </a:srgbClr>
                </a:solidFill>
                <a:latin typeface="Calibri"/>
                <a:ea typeface="맑은 고딕"/>
                <a:cs typeface="Calibri"/>
              </a:rPr>
              <a:t> So how did the bookstore know what you liked? </a:t>
            </a:r>
            <a:r>
              <a:rPr lang="ko-KR" altLang="en-US" sz="1800" b="1" dirty="0">
                <a:solidFill>
                  <a:srgbClr val="1E2A5A">
                    <a:alpha val="0"/>
                  </a:srgbClr>
                </a:solidFill>
                <a:latin typeface="맑은 고딕"/>
                <a:ea typeface="맑은 고딕"/>
                <a:cs typeface="맑은 고딕"/>
              </a:rPr>
              <a:t>③</a:t>
            </a:r>
            <a:r>
              <a:rPr lang="en-US" altLang="ko-KR" sz="1700" b="0" dirty="0">
                <a:solidFill>
                  <a:srgbClr val="1F2328">
                    <a:alpha val="0"/>
                  </a:srgbClr>
                </a:solidFill>
                <a:latin typeface="Calibri"/>
                <a:ea typeface="맑은 고딕"/>
                <a:cs typeface="Calibri"/>
              </a:rPr>
              <a:t> This is all possible because of big data. </a:t>
            </a:r>
            <a:r>
              <a:rPr lang="ko-KR" altLang="en-US" sz="1800" b="1" dirty="0">
                <a:solidFill>
                  <a:srgbClr val="1E2A5A">
                    <a:alpha val="0"/>
                  </a:srgbClr>
                </a:solidFill>
                <a:latin typeface="맑은 고딕"/>
                <a:ea typeface="맑은 고딕"/>
                <a:cs typeface="맑은 고딕"/>
              </a:rPr>
              <a:t>④</a:t>
            </a:r>
            <a:r>
              <a:rPr lang="en-US" altLang="ko-KR" sz="1700" b="0" dirty="0">
                <a:solidFill>
                  <a:srgbClr val="1F2328">
                    <a:alpha val="0"/>
                  </a:srgbClr>
                </a:solidFill>
                <a:latin typeface="Calibri"/>
                <a:ea typeface="맑은 고딕"/>
                <a:cs typeface="Calibri"/>
              </a:rPr>
              <a:t> Big data is data sets that are very big and complex. </a:t>
            </a:r>
            <a:r>
              <a:rPr lang="ko-KR" altLang="en-US" sz="1800" b="1" dirty="0">
                <a:solidFill>
                  <a:srgbClr val="1E2A5A">
                    <a:alpha val="0"/>
                  </a:srgbClr>
                </a:solidFill>
                <a:latin typeface="맑은 고딕"/>
                <a:ea typeface="맑은 고딕"/>
                <a:cs typeface="맑은 고딕"/>
              </a:rPr>
              <a:t>⑤</a:t>
            </a:r>
            <a:r>
              <a:rPr lang="en-US" altLang="ko-KR" sz="1700" b="0" dirty="0">
                <a:solidFill>
                  <a:srgbClr val="1F2328">
                    <a:alpha val="0"/>
                  </a:srgbClr>
                </a:solidFill>
                <a:latin typeface="Calibri"/>
                <a:ea typeface="맑은 고딕"/>
                <a:cs typeface="Calibri"/>
              </a:rPr>
              <a:t> As information and communication technology develops, the amount of data we have is getting much greater than before. This is mainly because almost everything that we do online leaves a trace. For example, the photos you upload on your blog and the records of your purchases at online stores are all part of big data. Simply collecting data, however, is not enough. Big data has to be analyzed, and this is done by big data experts. Using various methods, experts analyze big data and draw meaningful results from it. These results then can be used to make decisions or to predict the future.</a:t>
            </a:r>
            <a:endParaRPr lang="en-US" altLang="ko-KR" sz="1700" b="0" dirty="0">
              <a:solidFill>
                <a:srgbClr val="1F2328"/>
              </a:solidFill>
              <a:latin typeface="Calibri"/>
              <a:ea typeface="맑은 고딕"/>
              <a:cs typeface="Calibri"/>
            </a:endParaRPr>
          </a:p>
        </p:txBody>
      </p:sp>
      <p:sp>
        <p:nvSpPr>
          <p:cNvPr id="12" name="rv_answer"/>
          <p:cNvSpPr/>
          <p:nvPr/>
        </p:nvSpPr>
        <p:spPr>
          <a:xfrm>
            <a:off x="457200" y="523976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②</a:t>
            </a:r>
            <a:endParaRPr lang="ko-KR" altLang="en-US" sz="1900" b="1" dirty="0">
              <a:solidFill>
                <a:srgbClr val="5A4200"/>
              </a:solidFill>
              <a:latin typeface="맑은 고딕"/>
              <a:ea typeface="맑은 고딕"/>
              <a:cs typeface="맑은 고딕"/>
            </a:endParaRPr>
          </a:p>
        </p:txBody>
      </p:sp>
      <p:sp>
        <p:nvSpPr>
          <p:cNvPr id="13" name="rv_why"/>
          <p:cNvSpPr/>
          <p:nvPr/>
        </p:nvSpPr>
        <p:spPr>
          <a:xfrm>
            <a:off x="457200" y="5838698"/>
            <a:ext cx="11277295" cy="58038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270"/>
              </a:lnSpc>
              <a:spcBef>
                <a:spcPts val="0"/>
              </a:spcBef>
              <a:spcAft>
                <a:spcPts val="0"/>
              </a:spcAft>
              <a:buNone/>
            </a:pPr>
            <a:r>
              <a:rPr lang="ko-KR" altLang="en-US" sz="1600" b="1" dirty="0">
                <a:solidFill>
                  <a:srgbClr val="1E2A5A"/>
                </a:solidFill>
                <a:latin typeface="맑은 고딕"/>
                <a:ea typeface="맑은 고딕"/>
                <a:cs typeface="맑은 고딕"/>
              </a:rPr>
              <a:t>정답 원리   </a:t>
            </a:r>
            <a:r>
              <a:rPr lang="ko-KR" altLang="en-US" sz="1600" b="0" dirty="0">
                <a:solidFill>
                  <a:srgbClr val="16284A"/>
                </a:solidFill>
                <a:latin typeface="맑은 고딕"/>
                <a:ea typeface="맑은 고딕"/>
                <a:cs typeface="맑은 고딕"/>
              </a:rPr>
              <a:t>주어진 문장의 'them'은 서점이 추천한 책들이다. 추천 도서 이야기 바로 뒤, 'So how did'로 이유를 묻기 전인 ②에 들어가야 한다.</a:t>
            </a:r>
            <a:endParaRPr lang="ko-KR" altLang="en-US" sz="16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25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25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2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Lst>
  </p:timing>
</p:sld>
</file>

<file path=ppt/slides/slide16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L7-1</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2 · 4</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4. 글의 흐름으로 보아, 주어진 문장이 들어가기에 가장 적절한 곳은?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7</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정답 원리</a:t>
            </a:r>
            <a:endParaRPr lang="ko-KR" altLang="en-US" sz="1000" b="0" dirty="0">
              <a:solidFill>
                <a:srgbClr val="7A808C"/>
              </a:solidFill>
              <a:latin typeface="맑은 고딕"/>
              <a:ea typeface="맑은 고딕"/>
              <a:cs typeface="맑은 고딕"/>
            </a:endParaRPr>
          </a:p>
        </p:txBody>
      </p:sp>
      <p:sp>
        <p:nvSpPr>
          <p:cNvPr id="7" name="given_card"/>
          <p:cNvSpPr/>
          <p:nvPr/>
        </p:nvSpPr>
        <p:spPr>
          <a:xfrm>
            <a:off x="457200" y="950976"/>
            <a:ext cx="11277295" cy="507238"/>
          </a:xfrm>
          <a:prstGeom prst="roundRect">
            <a:avLst>
              <a:gd name="adj" fmla="val 6000"/>
            </a:avLst>
          </a:prstGeom>
          <a:solidFill>
            <a:srgbClr val="FFFFFF"/>
          </a:solidFill>
          <a:ln w="15875">
            <a:solidFill>
              <a:srgbClr val="1E2A5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given"/>
          <p:cNvSpPr txBox="1"/>
          <p:nvPr/>
        </p:nvSpPr>
        <p:spPr>
          <a:xfrm>
            <a:off x="457200" y="950976"/>
            <a:ext cx="11277295" cy="507238"/>
          </a:xfrm>
          <a:prstGeom prst="rect">
            <a:avLst/>
          </a:prstGeom>
          <a:noFill/>
        </p:spPr>
        <p:txBody>
          <a:bodyPr wrap="square" lIns="201168" tIns="100584" rIns="201168" bIns="100584"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주어진 문장</a:t>
            </a:r>
            <a:r>
              <a:rPr lang="en-US" altLang="ko-KR" sz="1700" b="0" dirty="0">
                <a:solidFill>
                  <a:srgbClr val="1F2328"/>
                </a:solidFill>
                <a:latin typeface="Calibri"/>
                <a:ea typeface="맑은 고딕"/>
                <a:cs typeface="Calibri"/>
              </a:rPr>
              <a:t>   So how did the bookstore know what you liked?</a:t>
            </a:r>
            <a:endParaRPr lang="en-US" altLang="ko-KR" sz="1700" b="0" dirty="0">
              <a:solidFill>
                <a:srgbClr val="1F2328"/>
              </a:solidFill>
              <a:latin typeface="Calibri"/>
              <a:ea typeface="맑은 고딕"/>
              <a:cs typeface="Calibri"/>
            </a:endParaRPr>
          </a:p>
        </p:txBody>
      </p:sp>
      <p:sp>
        <p:nvSpPr>
          <p:cNvPr id="9" name="passage_card"/>
          <p:cNvSpPr/>
          <p:nvPr/>
        </p:nvSpPr>
        <p:spPr>
          <a:xfrm>
            <a:off x="457200" y="1604518"/>
            <a:ext cx="11277295" cy="352551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passage"/>
          <p:cNvSpPr txBox="1"/>
          <p:nvPr/>
        </p:nvSpPr>
        <p:spPr>
          <a:xfrm>
            <a:off x="457200" y="1604518"/>
            <a:ext cx="11277295" cy="3525519"/>
          </a:xfrm>
          <a:prstGeom prst="rect">
            <a:avLst/>
          </a:prstGeom>
          <a:noFill/>
        </p:spPr>
        <p:txBody>
          <a:bodyPr wrap="square" lIns="201168" tIns="118872" rIns="201168" bIns="118872" anchor="t" rtlCol="0">
            <a:noAutofit/>
          </a:bodyPr>
          <a:lstStyle/>
          <a:p>
            <a:pPr algn="just">
              <a:lnSpc>
                <a:spcPts val="2560"/>
              </a:lnSpc>
              <a:spcBef>
                <a:spcPts val="0"/>
              </a:spcBef>
              <a:spcAft>
                <a:spcPts val="0"/>
              </a:spcAft>
              <a:buNone/>
            </a:pPr>
            <a:r>
              <a:rPr lang="en-US" altLang="ko-KR" sz="1700" b="0" dirty="0">
                <a:solidFill>
                  <a:srgbClr val="1F2328"/>
                </a:solidFill>
                <a:latin typeface="Calibri"/>
                <a:ea typeface="맑은 고딕"/>
                <a:cs typeface="Calibri"/>
              </a:rPr>
              <a:t>Have you ever visited an online bookstore and been surprised by the books that the store recommended for you? </a:t>
            </a:r>
            <a:r>
              <a:rPr lang="ko-KR" altLang="en-US" sz="1800" b="1" dirty="0">
                <a:solidFill>
                  <a:srgbClr val="1E2A5A"/>
                </a:solidFill>
                <a:latin typeface="맑은 고딕"/>
                <a:ea typeface="맑은 고딕"/>
                <a:cs typeface="맑은 고딕"/>
              </a:rPr>
              <a:t>②</a:t>
            </a:r>
            <a:r>
              <a:rPr lang="en-US" altLang="ko-KR" sz="1700" b="0" dirty="0">
                <a:solidFill>
                  <a:srgbClr val="1F2328"/>
                </a:solidFill>
                <a:latin typeface="Calibri"/>
                <a:ea typeface="맑은 고딕"/>
                <a:cs typeface="Calibri"/>
              </a:rPr>
              <a:t> Many of them looked interesting to you. </a:t>
            </a:r>
            <a:r>
              <a:rPr lang="ko-KR" altLang="en-US" sz="1800" b="1" dirty="0">
                <a:solidFill>
                  <a:srgbClr val="1E2A5A"/>
                </a:solidFill>
                <a:latin typeface="맑은 고딕"/>
                <a:ea typeface="맑은 고딕"/>
                <a:cs typeface="맑은 고딕"/>
              </a:rPr>
              <a:t>③</a:t>
            </a:r>
            <a:r>
              <a:rPr lang="en-US" altLang="ko-KR" sz="1700" b="0" dirty="0">
                <a:solidFill>
                  <a:srgbClr val="1F2328"/>
                </a:solidFill>
                <a:latin typeface="Calibri"/>
                <a:ea typeface="맑은 고딕"/>
                <a:cs typeface="Calibri"/>
              </a:rPr>
              <a:t> This is all possible because of big data. </a:t>
            </a:r>
            <a:r>
              <a:rPr lang="ko-KR" altLang="en-US" sz="1800" b="1" dirty="0">
                <a:solidFill>
                  <a:srgbClr val="1E2A5A"/>
                </a:solidFill>
                <a:latin typeface="맑은 고딕"/>
                <a:ea typeface="맑은 고딕"/>
                <a:cs typeface="맑은 고딕"/>
              </a:rPr>
              <a:t>④</a:t>
            </a:r>
            <a:r>
              <a:rPr lang="en-US" altLang="ko-KR" sz="1700" b="0" dirty="0">
                <a:solidFill>
                  <a:srgbClr val="1F2328"/>
                </a:solidFill>
                <a:latin typeface="Calibri"/>
                <a:ea typeface="맑은 고딕"/>
                <a:cs typeface="Calibri"/>
              </a:rPr>
              <a:t> Big data is data sets that are very big and complex. </a:t>
            </a:r>
            <a:r>
              <a:rPr lang="ko-KR" altLang="en-US" sz="1800" b="1" dirty="0">
                <a:solidFill>
                  <a:srgbClr val="1E2A5A"/>
                </a:solidFill>
                <a:latin typeface="맑은 고딕"/>
                <a:ea typeface="맑은 고딕"/>
                <a:cs typeface="맑은 고딕"/>
              </a:rPr>
              <a:t>⑤</a:t>
            </a:r>
            <a:r>
              <a:rPr lang="en-US" altLang="ko-KR" sz="1700" b="0" dirty="0">
                <a:solidFill>
                  <a:srgbClr val="1F2328"/>
                </a:solidFill>
                <a:latin typeface="Calibri"/>
                <a:ea typeface="맑은 고딕"/>
                <a:cs typeface="Calibri"/>
              </a:rPr>
              <a:t> As information and communication technology develops, the amount of data we have is getting much greater than before. This is mainly because almost everything that we do online leaves a trace. For example, the photos you upload on your blog and the records of your purchases at online stores are all part of big data. Simply collecting data, however, is not enough. Big data has to be analyzed, and this is done by big data experts. Using various methods, experts analyze big data and draw meaningful results from it. These results then can be used to make decisions or to predict the future.</a:t>
            </a:r>
            <a:endParaRPr lang="en-US" altLang="ko-KR" sz="1700" b="0" dirty="0">
              <a:solidFill>
                <a:srgbClr val="1F2328"/>
              </a:solidFill>
              <a:latin typeface="Calibri"/>
              <a:ea typeface="맑은 고딕"/>
              <a:cs typeface="Calibri"/>
            </a:endParaRPr>
          </a:p>
        </p:txBody>
      </p:sp>
      <p:sp>
        <p:nvSpPr>
          <p:cNvPr id="11" name="rv_pick"/>
          <p:cNvSpPr txBox="1"/>
          <p:nvPr/>
        </p:nvSpPr>
        <p:spPr>
          <a:xfrm>
            <a:off x="457200" y="1604518"/>
            <a:ext cx="11277295" cy="3525519"/>
          </a:xfrm>
          <a:prstGeom prst="rect">
            <a:avLst/>
          </a:prstGeom>
          <a:noFill/>
        </p:spPr>
        <p:txBody>
          <a:bodyPr wrap="square" lIns="201168" tIns="118872" rIns="201168" bIns="118872" anchor="t" rtlCol="0">
            <a:noAutofit/>
          </a:bodyPr>
          <a:lstStyle/>
          <a:p>
            <a:pPr algn="just">
              <a:lnSpc>
                <a:spcPts val="2560"/>
              </a:lnSpc>
              <a:spcBef>
                <a:spcPts val="0"/>
              </a:spcBef>
              <a:spcAft>
                <a:spcPts val="0"/>
              </a:spcAft>
              <a:buNone/>
            </a:pPr>
            <a:r>
              <a:rPr lang="en-US" altLang="ko-KR" sz="1700" b="0" dirty="0">
                <a:solidFill>
                  <a:srgbClr val="1F2328">
                    <a:alpha val="0"/>
                  </a:srgbClr>
                </a:solidFill>
                <a:latin typeface="Calibri"/>
                <a:ea typeface="맑은 고딕"/>
                <a:cs typeface="Calibri"/>
              </a:rPr>
              <a:t>Have you ever visited an online bookstore and been surprised by the books that the store recommended for you? </a:t>
            </a:r>
            <a:r>
              <a:rPr lang="ko-KR" altLang="en-US" sz="1800" b="1" dirty="0">
                <a:solidFill>
                  <a:srgbClr val="1E2A5A">
                    <a:alpha val="0"/>
                  </a:srgbClr>
                </a:solidFill>
                <a:latin typeface="맑은 고딕"/>
                <a:ea typeface="맑은 고딕"/>
                <a:cs typeface="맑은 고딕"/>
              </a:rPr>
              <a:t>②</a:t>
            </a:r>
            <a:r>
              <a:rPr lang="en-US" altLang="ko-KR" sz="1700" b="0" dirty="0">
                <a:solidFill>
                  <a:srgbClr val="1F2328">
                    <a:alpha val="0"/>
                  </a:srgbClr>
                </a:solidFill>
                <a:latin typeface="Calibri"/>
                <a:ea typeface="맑은 고딕"/>
                <a:cs typeface="Calibri"/>
              </a:rPr>
              <a:t> Many of them looked interesting to you. </a:t>
            </a:r>
            <a:r>
              <a:rPr lang="ko-KR" altLang="en-US" sz="1800" b="1" dirty="0">
                <a:solidFill>
                  <a:srgbClr val="C00000"/>
                </a:solidFill>
                <a:highlight>
                  <a:srgbClr val="F3F5F9"/>
                </a:highlight>
                <a:latin typeface="맑은 고딕"/>
                <a:ea typeface="맑은 고딕"/>
                <a:cs typeface="맑은 고딕"/>
              </a:rPr>
              <a:t>③</a:t>
            </a:r>
            <a:r>
              <a:rPr lang="en-US" altLang="ko-KR" sz="1700" b="0" dirty="0">
                <a:solidFill>
                  <a:srgbClr val="1F2328">
                    <a:alpha val="0"/>
                  </a:srgbClr>
                </a:solidFill>
                <a:latin typeface="Calibri"/>
                <a:ea typeface="맑은 고딕"/>
                <a:cs typeface="Calibri"/>
              </a:rPr>
              <a:t> This is all possible because of big data. </a:t>
            </a:r>
            <a:r>
              <a:rPr lang="ko-KR" altLang="en-US" sz="1800" b="1" dirty="0">
                <a:solidFill>
                  <a:srgbClr val="1E2A5A">
                    <a:alpha val="0"/>
                  </a:srgbClr>
                </a:solidFill>
                <a:latin typeface="맑은 고딕"/>
                <a:ea typeface="맑은 고딕"/>
                <a:cs typeface="맑은 고딕"/>
              </a:rPr>
              <a:t>④</a:t>
            </a:r>
            <a:r>
              <a:rPr lang="en-US" altLang="ko-KR" sz="1700" b="0" dirty="0">
                <a:solidFill>
                  <a:srgbClr val="1F2328">
                    <a:alpha val="0"/>
                  </a:srgbClr>
                </a:solidFill>
                <a:latin typeface="Calibri"/>
                <a:ea typeface="맑은 고딕"/>
                <a:cs typeface="Calibri"/>
              </a:rPr>
              <a:t> Big data is data sets that are very big and complex. </a:t>
            </a:r>
            <a:r>
              <a:rPr lang="ko-KR" altLang="en-US" sz="1800" b="1" dirty="0">
                <a:solidFill>
                  <a:srgbClr val="1E2A5A">
                    <a:alpha val="0"/>
                  </a:srgbClr>
                </a:solidFill>
                <a:latin typeface="맑은 고딕"/>
                <a:ea typeface="맑은 고딕"/>
                <a:cs typeface="맑은 고딕"/>
              </a:rPr>
              <a:t>⑤</a:t>
            </a:r>
            <a:r>
              <a:rPr lang="en-US" altLang="ko-KR" sz="1700" b="0" dirty="0">
                <a:solidFill>
                  <a:srgbClr val="1F2328">
                    <a:alpha val="0"/>
                  </a:srgbClr>
                </a:solidFill>
                <a:latin typeface="Calibri"/>
                <a:ea typeface="맑은 고딕"/>
                <a:cs typeface="Calibri"/>
              </a:rPr>
              <a:t> As information and communication technology develops, the amount of data we have is getting much greater than before. This is mainly because almost everything that we do online leaves a trace. For example, the photos you upload on your blog and the records of your purchases at online stores are all part of big data. Simply collecting data, however, is not enough. Big data has to be analyzed, and this is done by big data experts. Using various methods, experts analyze big data and draw meaningful results from it. These results then can be used to make decisions or to predict the future.</a:t>
            </a:r>
            <a:endParaRPr lang="en-US" altLang="ko-KR" sz="1700" b="0" dirty="0">
              <a:solidFill>
                <a:srgbClr val="1F2328"/>
              </a:solidFill>
              <a:latin typeface="Calibri"/>
              <a:ea typeface="맑은 고딕"/>
              <a:cs typeface="Calibri"/>
            </a:endParaRPr>
          </a:p>
        </p:txBody>
      </p:sp>
      <p:sp>
        <p:nvSpPr>
          <p:cNvPr id="12" name="rv_answer"/>
          <p:cNvSpPr/>
          <p:nvPr/>
        </p:nvSpPr>
        <p:spPr>
          <a:xfrm>
            <a:off x="457200" y="523976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③</a:t>
            </a:r>
            <a:endParaRPr lang="ko-KR" altLang="en-US" sz="1900" b="1" dirty="0">
              <a:solidFill>
                <a:srgbClr val="5A4200"/>
              </a:solidFill>
              <a:latin typeface="맑은 고딕"/>
              <a:ea typeface="맑은 고딕"/>
              <a:cs typeface="맑은 고딕"/>
            </a:endParaRPr>
          </a:p>
        </p:txBody>
      </p:sp>
      <p:sp>
        <p:nvSpPr>
          <p:cNvPr id="13" name="rv_why"/>
          <p:cNvSpPr/>
          <p:nvPr/>
        </p:nvSpPr>
        <p:spPr>
          <a:xfrm>
            <a:off x="457200" y="5838698"/>
            <a:ext cx="11277295" cy="58038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'This is all possible'의 This는 서점이 내 취향을 안 일이다. 그 일을 묻는 주어진 문장이 앞에 있어야 하므로 ③이 답이다.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25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25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2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Lst>
  </p:timing>
</p:sld>
</file>

<file path=ppt/slides/slide16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L7-1</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3 · ①</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다음 글의 각 [  ] 안에서 문맥상 알맞은 것을 고르시오.</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7</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클릭할 때마다 괄호 속 정답이 앞에서부터 하나씩 빨간색으로 나타납니다 (총 7개)</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4999735"/>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4999735"/>
          </a:xfrm>
          <a:prstGeom prst="rect">
            <a:avLst/>
          </a:prstGeom>
          <a:noFill/>
        </p:spPr>
        <p:txBody>
          <a:bodyPr wrap="square" lIns="228600" tIns="155448" rIns="228600" bIns="155448" anchor="t" rtlCol="0">
            <a:noAutofit/>
          </a:bodyPr>
          <a:lstStyle/>
          <a:p>
            <a:pPr algn="l">
              <a:lnSpc>
                <a:spcPts val="2840"/>
              </a:lnSpc>
              <a:spcBef>
                <a:spcPts val="0"/>
              </a:spcBef>
              <a:spcAft>
                <a:spcPts val="0"/>
              </a:spcAft>
              <a:buNone/>
            </a:pPr>
            <a:r>
              <a:rPr lang="ko-KR" altLang="en-US" sz="1750" b="1" dirty="0">
                <a:solidFill>
                  <a:srgbClr val="1E2A5A"/>
                </a:solidFill>
                <a:latin typeface="맑은 고딕"/>
                <a:ea typeface="맑은 고딕"/>
                <a:cs typeface="맑은 고딕"/>
              </a:rPr>
              <a:t>①</a:t>
            </a:r>
            <a:r>
              <a:rPr lang="en-US" altLang="ko-KR" sz="1750" b="0" dirty="0">
                <a:solidFill>
                  <a:srgbClr val="1F2328"/>
                </a:solidFill>
                <a:latin typeface="Calibri"/>
                <a:ea typeface="맑은 고딕"/>
                <a:cs typeface="Calibri"/>
              </a:rPr>
              <a:t> </a:t>
            </a:r>
            <a:r>
              <a:rPr lang="en-US" altLang="ko-KR" sz="1750" b="0" dirty="0">
                <a:solidFill>
                  <a:srgbClr val="1F2328"/>
                </a:solidFill>
                <a:latin typeface="Calibri"/>
                <a:ea typeface="맑은 고딕"/>
                <a:cs typeface="Calibri"/>
              </a:rPr>
              <a:t>Have you ever visited an online bookstore and </a:t>
            </a:r>
            <a:r>
              <a:rPr lang="en-US" altLang="ko-KR" sz="1750" b="1" dirty="0">
                <a:solidFill>
                  <a:srgbClr val="1F2328"/>
                </a:solidFill>
                <a:latin typeface="Calibri"/>
                <a:ea typeface="맑은 고딕"/>
                <a:cs typeface="Calibri"/>
              </a:rPr>
              <a:t>[ </a:t>
            </a:r>
            <a:r>
              <a:rPr lang="en-US" altLang="ko-KR" sz="1750" b="1" dirty="0">
                <a:solidFill>
                  <a:srgbClr val="1F2328"/>
                </a:solidFill>
                <a:latin typeface="Calibri"/>
                <a:ea typeface="맑은 고딕"/>
                <a:cs typeface="Calibri"/>
              </a:rPr>
              <a:t>been surprising</a:t>
            </a:r>
            <a:r>
              <a:rPr lang="en-US" altLang="ko-KR" sz="1750" b="1" dirty="0">
                <a:solidFill>
                  <a:srgbClr val="1F2328"/>
                </a:solidFill>
                <a:latin typeface="Calibri"/>
                <a:ea typeface="맑은 고딕"/>
                <a:cs typeface="Calibri"/>
              </a:rPr>
              <a:t> / </a:t>
            </a:r>
            <a:r>
              <a:rPr lang="en-US" altLang="ko-KR" sz="1750" b="1" dirty="0">
                <a:solidFill>
                  <a:srgbClr val="1F2328"/>
                </a:solidFill>
                <a:latin typeface="Calibri"/>
                <a:ea typeface="맑은 고딕"/>
                <a:cs typeface="Calibri"/>
              </a:rPr>
              <a:t>been surprised</a:t>
            </a:r>
            <a:r>
              <a:rPr lang="en-US" altLang="ko-KR" sz="1750" b="1" dirty="0">
                <a:solidFill>
                  <a:srgbClr val="1F2328"/>
                </a:solidFill>
                <a:latin typeface="Calibri"/>
                <a:ea typeface="맑은 고딕"/>
                <a:cs typeface="Calibri"/>
              </a:rPr>
              <a:t> ]</a:t>
            </a:r>
            <a:r>
              <a:rPr lang="en-US" altLang="ko-KR" sz="1750" b="0" dirty="0">
                <a:solidFill>
                  <a:srgbClr val="1F2328"/>
                </a:solidFill>
                <a:latin typeface="Calibri"/>
                <a:ea typeface="맑은 고딕"/>
                <a:cs typeface="Calibri"/>
              </a:rPr>
              <a:t> by the books </a:t>
            </a:r>
            <a:r>
              <a:rPr lang="en-US" altLang="ko-KR" sz="1750" b="1" dirty="0">
                <a:solidFill>
                  <a:srgbClr val="1F2328"/>
                </a:solidFill>
                <a:latin typeface="Calibri"/>
                <a:ea typeface="맑은 고딕"/>
                <a:cs typeface="Calibri"/>
              </a:rPr>
              <a:t>[ </a:t>
            </a:r>
            <a:r>
              <a:rPr lang="en-US" altLang="ko-KR" sz="1750" b="1" dirty="0">
                <a:solidFill>
                  <a:srgbClr val="1F2328"/>
                </a:solidFill>
                <a:latin typeface="Calibri"/>
                <a:ea typeface="맑은 고딕"/>
                <a:cs typeface="Calibri"/>
              </a:rPr>
              <a:t>that the store recommended</a:t>
            </a:r>
            <a:r>
              <a:rPr lang="en-US" altLang="ko-KR" sz="1750" b="1" dirty="0">
                <a:solidFill>
                  <a:srgbClr val="1F2328"/>
                </a:solidFill>
                <a:latin typeface="Calibri"/>
                <a:ea typeface="맑은 고딕"/>
                <a:cs typeface="Calibri"/>
              </a:rPr>
              <a:t> / </a:t>
            </a:r>
            <a:r>
              <a:rPr lang="en-US" altLang="ko-KR" sz="1750" b="1" dirty="0">
                <a:solidFill>
                  <a:srgbClr val="1F2328"/>
                </a:solidFill>
                <a:latin typeface="Calibri"/>
                <a:ea typeface="맑은 고딕"/>
                <a:cs typeface="Calibri"/>
              </a:rPr>
              <a:t>what the store recommended</a:t>
            </a:r>
            <a:r>
              <a:rPr lang="en-US" altLang="ko-KR" sz="1750" b="1" dirty="0">
                <a:solidFill>
                  <a:srgbClr val="1F2328"/>
                </a:solidFill>
                <a:latin typeface="Calibri"/>
                <a:ea typeface="맑은 고딕"/>
                <a:cs typeface="Calibri"/>
              </a:rPr>
              <a:t> ]</a:t>
            </a:r>
            <a:r>
              <a:rPr lang="en-US" altLang="ko-KR" sz="1750" b="0" dirty="0">
                <a:solidFill>
                  <a:srgbClr val="1F2328"/>
                </a:solidFill>
                <a:latin typeface="Calibri"/>
                <a:ea typeface="맑은 고딕"/>
                <a:cs typeface="Calibri"/>
              </a:rPr>
              <a:t> for you?</a:t>
            </a:r>
            <a:r>
              <a:rPr lang="en-US" altLang="ko-KR" sz="1750" b="0" dirty="0">
                <a:solidFill>
                  <a:srgbClr val="1F2328"/>
                </a:solidFill>
                <a:latin typeface="Calibri"/>
                <a:ea typeface="맑은 고딕"/>
                <a:cs typeface="Calibri"/>
              </a:rPr>
              <a:t>   </a:t>
            </a:r>
            <a:r>
              <a:rPr lang="ko-KR" altLang="en-US" sz="1750" b="1" dirty="0">
                <a:solidFill>
                  <a:srgbClr val="1E2A5A"/>
                </a:solidFill>
                <a:latin typeface="맑은 고딕"/>
                <a:ea typeface="맑은 고딕"/>
                <a:cs typeface="맑은 고딕"/>
              </a:rPr>
              <a:t>②</a:t>
            </a:r>
            <a:r>
              <a:rPr lang="en-US" altLang="ko-KR" sz="1750" b="0" dirty="0">
                <a:solidFill>
                  <a:srgbClr val="1F2328"/>
                </a:solidFill>
                <a:latin typeface="Calibri"/>
                <a:ea typeface="맑은 고딕"/>
                <a:cs typeface="Calibri"/>
              </a:rPr>
              <a:t> </a:t>
            </a:r>
            <a:r>
              <a:rPr lang="en-US" altLang="ko-KR" sz="1750" b="0" dirty="0">
                <a:solidFill>
                  <a:srgbClr val="1F2328"/>
                </a:solidFill>
                <a:latin typeface="Calibri"/>
                <a:ea typeface="맑은 고딕"/>
                <a:cs typeface="Calibri"/>
              </a:rPr>
              <a:t>Many of them looked interesting to you.</a:t>
            </a:r>
            <a:r>
              <a:rPr lang="en-US" altLang="ko-KR" sz="1750" b="0" dirty="0">
                <a:solidFill>
                  <a:srgbClr val="1F2328"/>
                </a:solidFill>
                <a:latin typeface="Calibri"/>
                <a:ea typeface="맑은 고딕"/>
                <a:cs typeface="Calibri"/>
              </a:rPr>
              <a:t>   </a:t>
            </a:r>
            <a:r>
              <a:rPr lang="ko-KR" altLang="en-US" sz="1750" b="1" dirty="0">
                <a:solidFill>
                  <a:srgbClr val="1E2A5A"/>
                </a:solidFill>
                <a:latin typeface="맑은 고딕"/>
                <a:ea typeface="맑은 고딕"/>
                <a:cs typeface="맑은 고딕"/>
              </a:rPr>
              <a:t>③</a:t>
            </a:r>
            <a:r>
              <a:rPr lang="en-US" altLang="ko-KR" sz="1750" b="0" dirty="0">
                <a:solidFill>
                  <a:srgbClr val="1F2328"/>
                </a:solidFill>
                <a:latin typeface="Calibri"/>
                <a:ea typeface="맑은 고딕"/>
                <a:cs typeface="Calibri"/>
              </a:rPr>
              <a:t> </a:t>
            </a:r>
            <a:r>
              <a:rPr lang="en-US" altLang="ko-KR" sz="1750" b="0" dirty="0">
                <a:solidFill>
                  <a:srgbClr val="1F2328"/>
                </a:solidFill>
                <a:latin typeface="Calibri"/>
                <a:ea typeface="맑은 고딕"/>
                <a:cs typeface="Calibri"/>
              </a:rPr>
              <a:t>So how did the bookstore know </a:t>
            </a:r>
            <a:r>
              <a:rPr lang="en-US" altLang="ko-KR" sz="1750" b="1" dirty="0">
                <a:solidFill>
                  <a:srgbClr val="1F2328"/>
                </a:solidFill>
                <a:latin typeface="Calibri"/>
                <a:ea typeface="맑은 고딕"/>
                <a:cs typeface="Calibri"/>
              </a:rPr>
              <a:t>[ </a:t>
            </a:r>
            <a:r>
              <a:rPr lang="en-US" altLang="ko-KR" sz="1750" b="1" dirty="0">
                <a:solidFill>
                  <a:srgbClr val="1F2328"/>
                </a:solidFill>
                <a:latin typeface="Calibri"/>
                <a:ea typeface="맑은 고딕"/>
                <a:cs typeface="Calibri"/>
              </a:rPr>
              <a:t>what you liked</a:t>
            </a:r>
            <a:r>
              <a:rPr lang="en-US" altLang="ko-KR" sz="1750" b="1" dirty="0">
                <a:solidFill>
                  <a:srgbClr val="1F2328"/>
                </a:solidFill>
                <a:latin typeface="Calibri"/>
                <a:ea typeface="맑은 고딕"/>
                <a:cs typeface="Calibri"/>
              </a:rPr>
              <a:t> / </a:t>
            </a:r>
            <a:r>
              <a:rPr lang="en-US" altLang="ko-KR" sz="1750" b="1" dirty="0">
                <a:solidFill>
                  <a:srgbClr val="1F2328"/>
                </a:solidFill>
                <a:latin typeface="Calibri"/>
                <a:ea typeface="맑은 고딕"/>
                <a:cs typeface="Calibri"/>
              </a:rPr>
              <a:t>that you liked</a:t>
            </a:r>
            <a:r>
              <a:rPr lang="en-US" altLang="ko-KR" sz="1750" b="1" dirty="0">
                <a:solidFill>
                  <a:srgbClr val="1F2328"/>
                </a:solidFill>
                <a:latin typeface="Calibri"/>
                <a:ea typeface="맑은 고딕"/>
                <a:cs typeface="Calibri"/>
              </a:rPr>
              <a:t> ]</a:t>
            </a:r>
            <a:r>
              <a:rPr lang="en-US" altLang="ko-KR" sz="1750" b="0" dirty="0">
                <a:solidFill>
                  <a:srgbClr val="1F2328"/>
                </a:solidFill>
                <a:latin typeface="Calibri"/>
                <a:ea typeface="맑은 고딕"/>
                <a:cs typeface="Calibri"/>
              </a:rPr>
              <a:t>?</a:t>
            </a:r>
            <a:r>
              <a:rPr lang="en-US" altLang="ko-KR" sz="1750" b="0" dirty="0">
                <a:solidFill>
                  <a:srgbClr val="1F2328"/>
                </a:solidFill>
                <a:latin typeface="Calibri"/>
                <a:ea typeface="맑은 고딕"/>
                <a:cs typeface="Calibri"/>
              </a:rPr>
              <a:t>   </a:t>
            </a:r>
            <a:r>
              <a:rPr lang="ko-KR" altLang="en-US" sz="1750" b="1" dirty="0">
                <a:solidFill>
                  <a:srgbClr val="1E2A5A"/>
                </a:solidFill>
                <a:latin typeface="맑은 고딕"/>
                <a:ea typeface="맑은 고딕"/>
                <a:cs typeface="맑은 고딕"/>
              </a:rPr>
              <a:t>④</a:t>
            </a:r>
            <a:r>
              <a:rPr lang="en-US" altLang="ko-KR" sz="1750" b="0" dirty="0">
                <a:solidFill>
                  <a:srgbClr val="1F2328"/>
                </a:solidFill>
                <a:latin typeface="Calibri"/>
                <a:ea typeface="맑은 고딕"/>
                <a:cs typeface="Calibri"/>
              </a:rPr>
              <a:t> </a:t>
            </a:r>
            <a:r>
              <a:rPr lang="en-US" altLang="ko-KR" sz="1750" b="0" dirty="0">
                <a:solidFill>
                  <a:srgbClr val="1F2328"/>
                </a:solidFill>
                <a:latin typeface="Calibri"/>
                <a:ea typeface="맑은 고딕"/>
                <a:cs typeface="Calibri"/>
              </a:rPr>
              <a:t>This is all possible because of big data.</a:t>
            </a:r>
            <a:r>
              <a:rPr lang="en-US" altLang="ko-KR" sz="1750" b="0" dirty="0">
                <a:solidFill>
                  <a:srgbClr val="1F2328"/>
                </a:solidFill>
                <a:latin typeface="Calibri"/>
                <a:ea typeface="맑은 고딕"/>
                <a:cs typeface="Calibri"/>
              </a:rPr>
              <a:t>   </a:t>
            </a:r>
            <a:r>
              <a:rPr lang="ko-KR" altLang="en-US" sz="1750" b="1" dirty="0">
                <a:solidFill>
                  <a:srgbClr val="1E2A5A"/>
                </a:solidFill>
                <a:latin typeface="맑은 고딕"/>
                <a:ea typeface="맑은 고딕"/>
                <a:cs typeface="맑은 고딕"/>
              </a:rPr>
              <a:t>⑤</a:t>
            </a:r>
            <a:r>
              <a:rPr lang="en-US" altLang="ko-KR" sz="1750" b="0" dirty="0">
                <a:solidFill>
                  <a:srgbClr val="1F2328"/>
                </a:solidFill>
                <a:latin typeface="Calibri"/>
                <a:ea typeface="맑은 고딕"/>
                <a:cs typeface="Calibri"/>
              </a:rPr>
              <a:t> </a:t>
            </a:r>
            <a:r>
              <a:rPr lang="en-US" altLang="ko-KR" sz="1750" b="0" dirty="0">
                <a:solidFill>
                  <a:srgbClr val="1F2328"/>
                </a:solidFill>
                <a:latin typeface="Calibri"/>
                <a:ea typeface="맑은 고딕"/>
                <a:cs typeface="Calibri"/>
              </a:rPr>
              <a:t>Big data is data sets that </a:t>
            </a:r>
            <a:r>
              <a:rPr lang="en-US" altLang="ko-KR" sz="1750" b="1" dirty="0">
                <a:solidFill>
                  <a:srgbClr val="1F2328"/>
                </a:solidFill>
                <a:latin typeface="Calibri"/>
                <a:ea typeface="맑은 고딕"/>
                <a:cs typeface="Calibri"/>
              </a:rPr>
              <a:t>[ </a:t>
            </a:r>
            <a:r>
              <a:rPr lang="en-US" altLang="ko-KR" sz="1750" b="1" dirty="0">
                <a:solidFill>
                  <a:srgbClr val="1F2328"/>
                </a:solidFill>
                <a:latin typeface="Calibri"/>
                <a:ea typeface="맑은 고딕"/>
                <a:cs typeface="Calibri"/>
              </a:rPr>
              <a:t>are very big</a:t>
            </a:r>
            <a:r>
              <a:rPr lang="en-US" altLang="ko-KR" sz="1750" b="1" dirty="0">
                <a:solidFill>
                  <a:srgbClr val="1F2328"/>
                </a:solidFill>
                <a:latin typeface="Calibri"/>
                <a:ea typeface="맑은 고딕"/>
                <a:cs typeface="Calibri"/>
              </a:rPr>
              <a:t> / </a:t>
            </a:r>
            <a:r>
              <a:rPr lang="en-US" altLang="ko-KR" sz="1750" b="1" dirty="0">
                <a:solidFill>
                  <a:srgbClr val="1F2328"/>
                </a:solidFill>
                <a:latin typeface="Calibri"/>
                <a:ea typeface="맑은 고딕"/>
                <a:cs typeface="Calibri"/>
              </a:rPr>
              <a:t>is very big</a:t>
            </a:r>
            <a:r>
              <a:rPr lang="en-US" altLang="ko-KR" sz="1750" b="1" dirty="0">
                <a:solidFill>
                  <a:srgbClr val="1F2328"/>
                </a:solidFill>
                <a:latin typeface="Calibri"/>
                <a:ea typeface="맑은 고딕"/>
                <a:cs typeface="Calibri"/>
              </a:rPr>
              <a:t> ]</a:t>
            </a:r>
            <a:r>
              <a:rPr lang="en-US" altLang="ko-KR" sz="1750" b="0" dirty="0">
                <a:solidFill>
                  <a:srgbClr val="1F2328"/>
                </a:solidFill>
                <a:latin typeface="Calibri"/>
                <a:ea typeface="맑은 고딕"/>
                <a:cs typeface="Calibri"/>
              </a:rPr>
              <a:t> and complex.</a:t>
            </a:r>
            <a:r>
              <a:rPr lang="en-US" altLang="ko-KR" sz="1750" b="0" dirty="0">
                <a:solidFill>
                  <a:srgbClr val="1F2328"/>
                </a:solidFill>
                <a:latin typeface="Calibri"/>
                <a:ea typeface="맑은 고딕"/>
                <a:cs typeface="Calibri"/>
              </a:rPr>
              <a:t>   </a:t>
            </a:r>
            <a:r>
              <a:rPr lang="ko-KR" altLang="en-US" sz="1750" b="1" dirty="0">
                <a:solidFill>
                  <a:srgbClr val="1E2A5A"/>
                </a:solidFill>
                <a:latin typeface="맑은 고딕"/>
                <a:ea typeface="맑은 고딕"/>
                <a:cs typeface="맑은 고딕"/>
              </a:rPr>
              <a:t>⑥</a:t>
            </a:r>
            <a:r>
              <a:rPr lang="en-US" altLang="ko-KR" sz="1750" b="0" dirty="0">
                <a:solidFill>
                  <a:srgbClr val="1F2328"/>
                </a:solidFill>
                <a:latin typeface="Calibri"/>
                <a:ea typeface="맑은 고딕"/>
                <a:cs typeface="Calibri"/>
              </a:rPr>
              <a:t> </a:t>
            </a:r>
            <a:r>
              <a:rPr lang="en-US" altLang="ko-KR" sz="1750" b="0" dirty="0">
                <a:solidFill>
                  <a:srgbClr val="1F2328"/>
                </a:solidFill>
                <a:latin typeface="Calibri"/>
                <a:ea typeface="맑은 고딕"/>
                <a:cs typeface="Calibri"/>
              </a:rPr>
              <a:t>As information and communication technology develops, the amount of data we have </a:t>
            </a:r>
            <a:r>
              <a:rPr lang="en-US" altLang="ko-KR" sz="1750" b="1" dirty="0">
                <a:solidFill>
                  <a:srgbClr val="1F2328"/>
                </a:solidFill>
                <a:latin typeface="Calibri"/>
                <a:ea typeface="맑은 고딕"/>
                <a:cs typeface="Calibri"/>
              </a:rPr>
              <a:t>[ </a:t>
            </a:r>
            <a:r>
              <a:rPr lang="en-US" altLang="ko-KR" sz="1750" b="1" dirty="0">
                <a:solidFill>
                  <a:srgbClr val="1F2328"/>
                </a:solidFill>
                <a:latin typeface="Calibri"/>
                <a:ea typeface="맑은 고딕"/>
                <a:cs typeface="Calibri"/>
              </a:rPr>
              <a:t>are getting</a:t>
            </a:r>
            <a:r>
              <a:rPr lang="en-US" altLang="ko-KR" sz="1750" b="1" dirty="0">
                <a:solidFill>
                  <a:srgbClr val="1F2328"/>
                </a:solidFill>
                <a:latin typeface="Calibri"/>
                <a:ea typeface="맑은 고딕"/>
                <a:cs typeface="Calibri"/>
              </a:rPr>
              <a:t> / </a:t>
            </a:r>
            <a:r>
              <a:rPr lang="en-US" altLang="ko-KR" sz="1750" b="1" dirty="0">
                <a:solidFill>
                  <a:srgbClr val="1F2328"/>
                </a:solidFill>
                <a:latin typeface="Calibri"/>
                <a:ea typeface="맑은 고딕"/>
                <a:cs typeface="Calibri"/>
              </a:rPr>
              <a:t>is getting</a:t>
            </a:r>
            <a:r>
              <a:rPr lang="en-US" altLang="ko-KR" sz="1750" b="1" dirty="0">
                <a:solidFill>
                  <a:srgbClr val="1F2328"/>
                </a:solidFill>
                <a:latin typeface="Calibri"/>
                <a:ea typeface="맑은 고딕"/>
                <a:cs typeface="Calibri"/>
              </a:rPr>
              <a:t> ]</a:t>
            </a:r>
            <a:r>
              <a:rPr lang="en-US" altLang="ko-KR" sz="1750" b="0" dirty="0">
                <a:solidFill>
                  <a:srgbClr val="1F2328"/>
                </a:solidFill>
                <a:latin typeface="Calibri"/>
                <a:ea typeface="맑은 고딕"/>
                <a:cs typeface="Calibri"/>
              </a:rPr>
              <a:t> much greater than before.</a:t>
            </a:r>
            <a:r>
              <a:rPr lang="en-US" altLang="ko-KR" sz="1750" b="0" dirty="0">
                <a:solidFill>
                  <a:srgbClr val="1F2328"/>
                </a:solidFill>
                <a:latin typeface="Calibri"/>
                <a:ea typeface="맑은 고딕"/>
                <a:cs typeface="Calibri"/>
              </a:rPr>
              <a:t>   </a:t>
            </a:r>
            <a:r>
              <a:rPr lang="ko-KR" altLang="en-US" sz="1750" b="1" dirty="0">
                <a:solidFill>
                  <a:srgbClr val="1E2A5A"/>
                </a:solidFill>
                <a:latin typeface="맑은 고딕"/>
                <a:ea typeface="맑은 고딕"/>
                <a:cs typeface="맑은 고딕"/>
              </a:rPr>
              <a:t>⑦</a:t>
            </a:r>
            <a:r>
              <a:rPr lang="en-US" altLang="ko-KR" sz="1750" b="0" dirty="0">
                <a:solidFill>
                  <a:srgbClr val="1F2328"/>
                </a:solidFill>
                <a:latin typeface="Calibri"/>
                <a:ea typeface="맑은 고딕"/>
                <a:cs typeface="Calibri"/>
              </a:rPr>
              <a:t> </a:t>
            </a:r>
            <a:r>
              <a:rPr lang="en-US" altLang="ko-KR" sz="1750" b="0" dirty="0">
                <a:solidFill>
                  <a:srgbClr val="1F2328"/>
                </a:solidFill>
                <a:latin typeface="Calibri"/>
                <a:ea typeface="맑은 고딕"/>
                <a:cs typeface="Calibri"/>
              </a:rPr>
              <a:t>This is mainly because almost everything that we do online </a:t>
            </a:r>
            <a:r>
              <a:rPr lang="en-US" altLang="ko-KR" sz="1750" b="1" dirty="0">
                <a:solidFill>
                  <a:srgbClr val="1F2328"/>
                </a:solidFill>
                <a:latin typeface="Calibri"/>
                <a:ea typeface="맑은 고딕"/>
                <a:cs typeface="Calibri"/>
              </a:rPr>
              <a:t>[ </a:t>
            </a:r>
            <a:r>
              <a:rPr lang="en-US" altLang="ko-KR" sz="1750" b="1" dirty="0">
                <a:solidFill>
                  <a:srgbClr val="1F2328"/>
                </a:solidFill>
                <a:latin typeface="Calibri"/>
                <a:ea typeface="맑은 고딕"/>
                <a:cs typeface="Calibri"/>
              </a:rPr>
              <a:t>leave a trace</a:t>
            </a:r>
            <a:r>
              <a:rPr lang="en-US" altLang="ko-KR" sz="1750" b="1" dirty="0">
                <a:solidFill>
                  <a:srgbClr val="1F2328"/>
                </a:solidFill>
                <a:latin typeface="Calibri"/>
                <a:ea typeface="맑은 고딕"/>
                <a:cs typeface="Calibri"/>
              </a:rPr>
              <a:t> / </a:t>
            </a:r>
            <a:r>
              <a:rPr lang="en-US" altLang="ko-KR" sz="1750" b="1" dirty="0">
                <a:solidFill>
                  <a:srgbClr val="1F2328"/>
                </a:solidFill>
                <a:latin typeface="Calibri"/>
                <a:ea typeface="맑은 고딕"/>
                <a:cs typeface="Calibri"/>
              </a:rPr>
              <a:t>leaves a trace</a:t>
            </a:r>
            <a:r>
              <a:rPr lang="en-US" altLang="ko-KR" sz="1750" b="1" dirty="0">
                <a:solidFill>
                  <a:srgbClr val="1F2328"/>
                </a:solidFill>
                <a:latin typeface="Calibri"/>
                <a:ea typeface="맑은 고딕"/>
                <a:cs typeface="Calibri"/>
              </a:rPr>
              <a:t> ]</a:t>
            </a:r>
            <a:r>
              <a:rPr lang="en-US" altLang="ko-KR" sz="1750" b="0" dirty="0">
                <a:solidFill>
                  <a:srgbClr val="1F2328"/>
                </a:solidFill>
                <a:latin typeface="Calibri"/>
                <a:ea typeface="맑은 고딕"/>
                <a:cs typeface="Calibri"/>
              </a:rPr>
              <a:t>.</a:t>
            </a:r>
            <a:r>
              <a:rPr lang="en-US" altLang="ko-KR" sz="1750" b="0" dirty="0">
                <a:solidFill>
                  <a:srgbClr val="1F2328"/>
                </a:solidFill>
                <a:latin typeface="Calibri"/>
                <a:ea typeface="맑은 고딕"/>
                <a:cs typeface="Calibri"/>
              </a:rPr>
              <a:t>   </a:t>
            </a:r>
            <a:r>
              <a:rPr lang="ko-KR" altLang="en-US" sz="1750" b="1" dirty="0">
                <a:solidFill>
                  <a:srgbClr val="1E2A5A"/>
                </a:solidFill>
                <a:latin typeface="맑은 고딕"/>
                <a:ea typeface="맑은 고딕"/>
                <a:cs typeface="맑은 고딕"/>
              </a:rPr>
              <a:t>⑧</a:t>
            </a:r>
            <a:r>
              <a:rPr lang="en-US" altLang="ko-KR" sz="1750" b="0" dirty="0">
                <a:solidFill>
                  <a:srgbClr val="1F2328"/>
                </a:solidFill>
                <a:latin typeface="Calibri"/>
                <a:ea typeface="맑은 고딕"/>
                <a:cs typeface="Calibri"/>
              </a:rPr>
              <a:t> </a:t>
            </a:r>
            <a:r>
              <a:rPr lang="en-US" altLang="ko-KR" sz="1750" b="0" dirty="0">
                <a:solidFill>
                  <a:srgbClr val="1F2328"/>
                </a:solidFill>
                <a:latin typeface="Calibri"/>
                <a:ea typeface="맑은 고딕"/>
                <a:cs typeface="Calibri"/>
              </a:rPr>
              <a:t>For example, the photos you upload on your blog and the records of your purchases at online stores </a:t>
            </a:r>
            <a:r>
              <a:rPr lang="en-US" altLang="ko-KR" sz="1750" b="1" dirty="0">
                <a:solidFill>
                  <a:srgbClr val="1F2328"/>
                </a:solidFill>
                <a:latin typeface="Calibri"/>
                <a:ea typeface="맑은 고딕"/>
                <a:cs typeface="Calibri"/>
              </a:rPr>
              <a:t>[ </a:t>
            </a:r>
            <a:r>
              <a:rPr lang="en-US" altLang="ko-KR" sz="1750" b="1" dirty="0">
                <a:solidFill>
                  <a:srgbClr val="1F2328"/>
                </a:solidFill>
                <a:latin typeface="Calibri"/>
                <a:ea typeface="맑은 고딕"/>
                <a:cs typeface="Calibri"/>
              </a:rPr>
              <a:t>are all part</a:t>
            </a:r>
            <a:r>
              <a:rPr lang="en-US" altLang="ko-KR" sz="1750" b="1" dirty="0">
                <a:solidFill>
                  <a:srgbClr val="1F2328"/>
                </a:solidFill>
                <a:latin typeface="Calibri"/>
                <a:ea typeface="맑은 고딕"/>
                <a:cs typeface="Calibri"/>
              </a:rPr>
              <a:t> / </a:t>
            </a:r>
            <a:r>
              <a:rPr lang="en-US" altLang="ko-KR" sz="1750" b="1" dirty="0">
                <a:solidFill>
                  <a:srgbClr val="1F2328"/>
                </a:solidFill>
                <a:latin typeface="Calibri"/>
                <a:ea typeface="맑은 고딕"/>
                <a:cs typeface="Calibri"/>
              </a:rPr>
              <a:t>is all part</a:t>
            </a:r>
            <a:r>
              <a:rPr lang="en-US" altLang="ko-KR" sz="1750" b="1" dirty="0">
                <a:solidFill>
                  <a:srgbClr val="1F2328"/>
                </a:solidFill>
                <a:latin typeface="Calibri"/>
                <a:ea typeface="맑은 고딕"/>
                <a:cs typeface="Calibri"/>
              </a:rPr>
              <a:t> ]</a:t>
            </a:r>
            <a:r>
              <a:rPr lang="en-US" altLang="ko-KR" sz="1750" b="0" dirty="0">
                <a:solidFill>
                  <a:srgbClr val="1F2328"/>
                </a:solidFill>
                <a:latin typeface="Calibri"/>
                <a:ea typeface="맑은 고딕"/>
                <a:cs typeface="Calibri"/>
              </a:rPr>
              <a:t> of big data.</a:t>
            </a:r>
            <a:r>
              <a:rPr lang="en-US" altLang="ko-KR" sz="1750" b="0" dirty="0">
                <a:solidFill>
                  <a:srgbClr val="1F2328"/>
                </a:solidFill>
                <a:latin typeface="Calibri"/>
                <a:ea typeface="맑은 고딕"/>
                <a:cs typeface="Calibri"/>
              </a:rPr>
              <a:t>   </a:t>
            </a:r>
            <a:r>
              <a:rPr lang="ko-KR" altLang="en-US" sz="1750" b="1" dirty="0">
                <a:solidFill>
                  <a:srgbClr val="1E2A5A"/>
                </a:solidFill>
                <a:latin typeface="맑은 고딕"/>
                <a:ea typeface="맑은 고딕"/>
                <a:cs typeface="맑은 고딕"/>
              </a:rPr>
              <a:t>⑨</a:t>
            </a:r>
            <a:r>
              <a:rPr lang="en-US" altLang="ko-KR" sz="1750" b="0" dirty="0">
                <a:solidFill>
                  <a:srgbClr val="1F2328"/>
                </a:solidFill>
                <a:latin typeface="Calibri"/>
                <a:ea typeface="맑은 고딕"/>
                <a:cs typeface="Calibri"/>
              </a:rPr>
              <a:t> </a:t>
            </a:r>
            <a:r>
              <a:rPr lang="en-US" altLang="ko-KR" sz="1750" b="0" dirty="0">
                <a:solidFill>
                  <a:srgbClr val="1F2328"/>
                </a:solidFill>
                <a:latin typeface="Calibri"/>
                <a:ea typeface="맑은 고딕"/>
                <a:cs typeface="Calibri"/>
              </a:rPr>
              <a:t>Simply collecting data, however, is not enough.</a:t>
            </a:r>
            <a:r>
              <a:rPr lang="en-US" altLang="ko-KR" sz="1750" b="0" dirty="0">
                <a:solidFill>
                  <a:srgbClr val="1F2328"/>
                </a:solidFill>
                <a:latin typeface="Calibri"/>
                <a:ea typeface="맑은 고딕"/>
                <a:cs typeface="Calibri"/>
              </a:rPr>
              <a:t>   </a:t>
            </a:r>
            <a:r>
              <a:rPr lang="ko-KR" altLang="en-US" sz="1750" b="1" dirty="0">
                <a:solidFill>
                  <a:srgbClr val="1E2A5A"/>
                </a:solidFill>
                <a:latin typeface="맑은 고딕"/>
                <a:ea typeface="맑은 고딕"/>
                <a:cs typeface="맑은 고딕"/>
              </a:rPr>
              <a:t>⑩</a:t>
            </a:r>
            <a:r>
              <a:rPr lang="en-US" altLang="ko-KR" sz="1750" b="0" dirty="0">
                <a:solidFill>
                  <a:srgbClr val="1F2328"/>
                </a:solidFill>
                <a:latin typeface="Calibri"/>
                <a:ea typeface="맑은 고딕"/>
                <a:cs typeface="Calibri"/>
              </a:rPr>
              <a:t> </a:t>
            </a:r>
            <a:r>
              <a:rPr lang="en-US" altLang="ko-KR" sz="1750" b="0" dirty="0">
                <a:solidFill>
                  <a:srgbClr val="1F2328"/>
                </a:solidFill>
                <a:latin typeface="Calibri"/>
                <a:ea typeface="맑은 고딕"/>
                <a:cs typeface="Calibri"/>
              </a:rPr>
              <a:t>Big data has to be analyzed, and this is done by big data experts.</a:t>
            </a:r>
            <a:r>
              <a:rPr lang="en-US" altLang="ko-KR" sz="1750" b="0" dirty="0">
                <a:solidFill>
                  <a:srgbClr val="1F2328"/>
                </a:solidFill>
                <a:latin typeface="Calibri"/>
                <a:ea typeface="맑은 고딕"/>
                <a:cs typeface="Calibri"/>
              </a:rPr>
              <a:t>   </a:t>
            </a:r>
            <a:r>
              <a:rPr lang="ko-KR" altLang="en-US" sz="1750" b="1" dirty="0">
                <a:solidFill>
                  <a:srgbClr val="1E2A5A"/>
                </a:solidFill>
                <a:latin typeface="맑은 고딕"/>
                <a:ea typeface="맑은 고딕"/>
                <a:cs typeface="맑은 고딕"/>
              </a:rPr>
              <a:t>⑪</a:t>
            </a:r>
            <a:r>
              <a:rPr lang="en-US" altLang="ko-KR" sz="1750" b="0" dirty="0">
                <a:solidFill>
                  <a:srgbClr val="1F2328"/>
                </a:solidFill>
                <a:latin typeface="Calibri"/>
                <a:ea typeface="맑은 고딕"/>
                <a:cs typeface="Calibri"/>
              </a:rPr>
              <a:t> </a:t>
            </a:r>
            <a:r>
              <a:rPr lang="en-US" altLang="ko-KR" sz="1750" b="0" dirty="0">
                <a:solidFill>
                  <a:srgbClr val="1F2328"/>
                </a:solidFill>
                <a:latin typeface="Calibri"/>
                <a:ea typeface="맑은 고딕"/>
                <a:cs typeface="Calibri"/>
              </a:rPr>
              <a:t>Using various methods, experts analyze big data and draw meaningful results from it.</a:t>
            </a:r>
            <a:r>
              <a:rPr lang="en-US" altLang="ko-KR" sz="1750" b="0" dirty="0">
                <a:solidFill>
                  <a:srgbClr val="1F2328"/>
                </a:solidFill>
                <a:latin typeface="Calibri"/>
                <a:ea typeface="맑은 고딕"/>
                <a:cs typeface="Calibri"/>
              </a:rPr>
              <a:t>   </a:t>
            </a:r>
            <a:r>
              <a:rPr lang="ko-KR" altLang="en-US" sz="1750" b="1" dirty="0">
                <a:solidFill>
                  <a:srgbClr val="1E2A5A"/>
                </a:solidFill>
                <a:latin typeface="맑은 고딕"/>
                <a:ea typeface="맑은 고딕"/>
                <a:cs typeface="맑은 고딕"/>
              </a:rPr>
              <a:t>⑫</a:t>
            </a:r>
            <a:r>
              <a:rPr lang="en-US" altLang="ko-KR" sz="1750" b="0" dirty="0">
                <a:solidFill>
                  <a:srgbClr val="1F2328"/>
                </a:solidFill>
                <a:latin typeface="Calibri"/>
                <a:ea typeface="맑은 고딕"/>
                <a:cs typeface="Calibri"/>
              </a:rPr>
              <a:t> </a:t>
            </a:r>
            <a:r>
              <a:rPr lang="en-US" altLang="ko-KR" sz="1750" b="0" dirty="0">
                <a:solidFill>
                  <a:srgbClr val="1F2328"/>
                </a:solidFill>
                <a:latin typeface="Calibri"/>
                <a:ea typeface="맑은 고딕"/>
                <a:cs typeface="Calibri"/>
              </a:rPr>
              <a:t>These results then can be used to make decisions or to predict the future.</a:t>
            </a:r>
            <a:endParaRPr lang="en-US" altLang="ko-KR" sz="1750" b="0" dirty="0">
              <a:solidFill>
                <a:srgbClr val="1F2328"/>
              </a:solidFill>
              <a:latin typeface="Calibri"/>
              <a:ea typeface="맑은 고딕"/>
              <a:cs typeface="Calibri"/>
            </a:endParaRPr>
          </a:p>
        </p:txBody>
      </p:sp>
      <p:sp>
        <p:nvSpPr>
          <p:cNvPr id="9" name="rv_g01"/>
          <p:cNvSpPr txBox="1"/>
          <p:nvPr/>
        </p:nvSpPr>
        <p:spPr>
          <a:xfrm>
            <a:off x="457200" y="950976"/>
            <a:ext cx="11277295" cy="4999735"/>
          </a:xfrm>
          <a:prstGeom prst="rect">
            <a:avLst/>
          </a:prstGeom>
          <a:noFill/>
        </p:spPr>
        <p:txBody>
          <a:bodyPr wrap="square" lIns="228600" tIns="155448" rIns="228600" bIns="155448" anchor="t" rtlCol="0">
            <a:noAutofit/>
          </a:bodyPr>
          <a:lstStyle/>
          <a:p>
            <a:pPr algn="l">
              <a:lnSpc>
                <a:spcPts val="2840"/>
              </a:lnSpc>
              <a:spcBef>
                <a:spcPts val="0"/>
              </a:spcBef>
              <a:spcAft>
                <a:spcPts val="0"/>
              </a:spcAft>
              <a:buNone/>
            </a:pPr>
            <a:r>
              <a:rPr lang="ko-KR" altLang="en-US" sz="1750" b="1" dirty="0">
                <a:solidFill>
                  <a:srgbClr val="1E2A5A">
                    <a:alpha val="0"/>
                  </a:srgbClr>
                </a:solidFill>
                <a:latin typeface="맑은 고딕"/>
                <a:ea typeface="맑은 고딕"/>
                <a:cs typeface="맑은 고딕"/>
              </a:rPr>
              <a:t>①</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Have you ever visited an online bookstore and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been surprising</a:t>
            </a:r>
            <a:r>
              <a:rPr lang="en-US" altLang="ko-KR" sz="1750" b="1" dirty="0">
                <a:solidFill>
                  <a:srgbClr val="1F2328">
                    <a:alpha val="0"/>
                  </a:srgbClr>
                </a:solidFill>
                <a:latin typeface="Calibri"/>
                <a:ea typeface="맑은 고딕"/>
                <a:cs typeface="Calibri"/>
              </a:rPr>
              <a:t> / </a:t>
            </a:r>
            <a:r>
              <a:rPr lang="en-US" altLang="ko-KR" sz="1750" b="1" dirty="0">
                <a:solidFill>
                  <a:srgbClr val="C00000"/>
                </a:solidFill>
                <a:highlight>
                  <a:srgbClr val="F3F5F9"/>
                </a:highlight>
                <a:latin typeface="Calibri"/>
                <a:ea typeface="맑은 고딕"/>
                <a:cs typeface="Calibri"/>
              </a:rPr>
              <a:t>been surprised</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 by the books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that the store recommended</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what the store recommended</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 for you?</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②</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Many of them looked interesting to you.</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③</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So how did the bookstore know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what you liked</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that you liked</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④</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This is all possible because of big data.</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⑤</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Big data is data sets that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are very big</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is very big</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 and complex.</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⑥</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As information and communication technology develops, the amount of data we have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are getting</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is getting</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 much greater than before.</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⑦</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This is mainly because almost everything that we do online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leave a trace</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leaves a trace</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⑧</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For example, the photos you upload on your blog and the records of your purchases at online stores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are all part</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is all part</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 of big data.</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⑨</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Simply collecting data, however, is not enough.</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⑩</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Big data has to be analyzed, and this is done by big data experts.</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⑪</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Using various methods, experts analyze big data and draw meaningful results from it.</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⑫</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These results then can be used to make decisions or to predict the future.</a:t>
            </a:r>
            <a:endParaRPr lang="en-US" altLang="ko-KR" sz="1750" b="0" dirty="0">
              <a:solidFill>
                <a:srgbClr val="1F2328"/>
              </a:solidFill>
              <a:latin typeface="Calibri"/>
              <a:ea typeface="맑은 고딕"/>
              <a:cs typeface="Calibri"/>
            </a:endParaRPr>
          </a:p>
        </p:txBody>
      </p:sp>
      <p:sp>
        <p:nvSpPr>
          <p:cNvPr id="10" name="rv_g02"/>
          <p:cNvSpPr txBox="1"/>
          <p:nvPr/>
        </p:nvSpPr>
        <p:spPr>
          <a:xfrm>
            <a:off x="457200" y="950976"/>
            <a:ext cx="11277295" cy="4999735"/>
          </a:xfrm>
          <a:prstGeom prst="rect">
            <a:avLst/>
          </a:prstGeom>
          <a:noFill/>
        </p:spPr>
        <p:txBody>
          <a:bodyPr wrap="square" lIns="228600" tIns="155448" rIns="228600" bIns="155448" anchor="t" rtlCol="0">
            <a:noAutofit/>
          </a:bodyPr>
          <a:lstStyle/>
          <a:p>
            <a:pPr algn="l">
              <a:lnSpc>
                <a:spcPts val="2840"/>
              </a:lnSpc>
              <a:spcBef>
                <a:spcPts val="0"/>
              </a:spcBef>
              <a:spcAft>
                <a:spcPts val="0"/>
              </a:spcAft>
              <a:buNone/>
            </a:pPr>
            <a:r>
              <a:rPr lang="ko-KR" altLang="en-US" sz="1750" b="1" dirty="0">
                <a:solidFill>
                  <a:srgbClr val="1E2A5A">
                    <a:alpha val="0"/>
                  </a:srgbClr>
                </a:solidFill>
                <a:latin typeface="맑은 고딕"/>
                <a:ea typeface="맑은 고딕"/>
                <a:cs typeface="맑은 고딕"/>
              </a:rPr>
              <a:t>①</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Have you ever visited an online bookstore and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been surprising</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been surprised</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 by the books </a:t>
            </a:r>
            <a:r>
              <a:rPr lang="en-US" altLang="ko-KR" sz="1750" b="1" dirty="0">
                <a:solidFill>
                  <a:srgbClr val="1F2328">
                    <a:alpha val="0"/>
                  </a:srgbClr>
                </a:solidFill>
                <a:latin typeface="Calibri"/>
                <a:ea typeface="맑은 고딕"/>
                <a:cs typeface="Calibri"/>
              </a:rPr>
              <a:t>[ </a:t>
            </a:r>
            <a:r>
              <a:rPr lang="en-US" altLang="ko-KR" sz="1750" b="1" dirty="0">
                <a:solidFill>
                  <a:srgbClr val="C00000"/>
                </a:solidFill>
                <a:highlight>
                  <a:srgbClr val="F3F5F9"/>
                </a:highlight>
                <a:latin typeface="Calibri"/>
                <a:ea typeface="맑은 고딕"/>
                <a:cs typeface="Calibri"/>
              </a:rPr>
              <a:t>that the store recommended</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what the store recommended</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 for you?</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②</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Many of them looked interesting to you.</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③</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So how did the bookstore know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what you liked</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that you liked</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④</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This is all possible because of big data.</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⑤</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Big data is data sets that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are very big</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is very big</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 and complex.</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⑥</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As information and communication technology develops, the amount of data we have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are getting</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is getting</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 much greater than before.</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⑦</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This is mainly because almost everything that we do online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leave a trace</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leaves a trace</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⑧</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For example, the photos you upload on your blog and the records of your purchases at online stores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are all part</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is all part</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 of big data.</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⑨</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Simply collecting data, however, is not enough.</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⑩</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Big data has to be analyzed, and this is done by big data experts.</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⑪</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Using various methods, experts analyze big data and draw meaningful results from it.</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⑫</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These results then can be used to make decisions or to predict the future.</a:t>
            </a:r>
            <a:endParaRPr lang="en-US" altLang="ko-KR" sz="1750" b="0" dirty="0">
              <a:solidFill>
                <a:srgbClr val="1F2328"/>
              </a:solidFill>
              <a:latin typeface="Calibri"/>
              <a:ea typeface="맑은 고딕"/>
              <a:cs typeface="Calibri"/>
            </a:endParaRPr>
          </a:p>
        </p:txBody>
      </p:sp>
      <p:sp>
        <p:nvSpPr>
          <p:cNvPr id="11" name="rv_g03"/>
          <p:cNvSpPr txBox="1"/>
          <p:nvPr/>
        </p:nvSpPr>
        <p:spPr>
          <a:xfrm>
            <a:off x="457200" y="950976"/>
            <a:ext cx="11277295" cy="4999735"/>
          </a:xfrm>
          <a:prstGeom prst="rect">
            <a:avLst/>
          </a:prstGeom>
          <a:noFill/>
        </p:spPr>
        <p:txBody>
          <a:bodyPr wrap="square" lIns="228600" tIns="155448" rIns="228600" bIns="155448" anchor="t" rtlCol="0">
            <a:noAutofit/>
          </a:bodyPr>
          <a:lstStyle/>
          <a:p>
            <a:pPr algn="l">
              <a:lnSpc>
                <a:spcPts val="2840"/>
              </a:lnSpc>
              <a:spcBef>
                <a:spcPts val="0"/>
              </a:spcBef>
              <a:spcAft>
                <a:spcPts val="0"/>
              </a:spcAft>
              <a:buNone/>
            </a:pPr>
            <a:r>
              <a:rPr lang="ko-KR" altLang="en-US" sz="1750" b="1" dirty="0">
                <a:solidFill>
                  <a:srgbClr val="1E2A5A">
                    <a:alpha val="0"/>
                  </a:srgbClr>
                </a:solidFill>
                <a:latin typeface="맑은 고딕"/>
                <a:ea typeface="맑은 고딕"/>
                <a:cs typeface="맑은 고딕"/>
              </a:rPr>
              <a:t>①</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Have you ever visited an online bookstore and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been surprising</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been surprised</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 by the books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that the store recommended</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what the store recommended</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 for you?</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②</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Many of them looked interesting to you.</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③</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So how did the bookstore know </a:t>
            </a:r>
            <a:r>
              <a:rPr lang="en-US" altLang="ko-KR" sz="1750" b="1" dirty="0">
                <a:solidFill>
                  <a:srgbClr val="1F2328">
                    <a:alpha val="0"/>
                  </a:srgbClr>
                </a:solidFill>
                <a:latin typeface="Calibri"/>
                <a:ea typeface="맑은 고딕"/>
                <a:cs typeface="Calibri"/>
              </a:rPr>
              <a:t>[ </a:t>
            </a:r>
            <a:r>
              <a:rPr lang="en-US" altLang="ko-KR" sz="1750" b="1" dirty="0">
                <a:solidFill>
                  <a:srgbClr val="C00000"/>
                </a:solidFill>
                <a:highlight>
                  <a:srgbClr val="F3F5F9"/>
                </a:highlight>
                <a:latin typeface="Calibri"/>
                <a:ea typeface="맑은 고딕"/>
                <a:cs typeface="Calibri"/>
              </a:rPr>
              <a:t>what you liked</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that you liked</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④</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This is all possible because of big data.</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⑤</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Big data is data sets that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are very big</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is very big</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 and complex.</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⑥</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As information and communication technology develops, the amount of data we have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are getting</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is getting</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 much greater than before.</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⑦</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This is mainly because almost everything that we do online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leave a trace</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leaves a trace</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⑧</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For example, the photos you upload on your blog and the records of your purchases at online stores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are all part</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is all part</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 of big data.</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⑨</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Simply collecting data, however, is not enough.</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⑩</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Big data has to be analyzed, and this is done by big data experts.</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⑪</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Using various methods, experts analyze big data and draw meaningful results from it.</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⑫</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These results then can be used to make decisions or to predict the future.</a:t>
            </a:r>
            <a:endParaRPr lang="en-US" altLang="ko-KR" sz="1750" b="0" dirty="0">
              <a:solidFill>
                <a:srgbClr val="1F2328"/>
              </a:solidFill>
              <a:latin typeface="Calibri"/>
              <a:ea typeface="맑은 고딕"/>
              <a:cs typeface="Calibri"/>
            </a:endParaRPr>
          </a:p>
        </p:txBody>
      </p:sp>
      <p:sp>
        <p:nvSpPr>
          <p:cNvPr id="12" name="rv_g04"/>
          <p:cNvSpPr txBox="1"/>
          <p:nvPr/>
        </p:nvSpPr>
        <p:spPr>
          <a:xfrm>
            <a:off x="457200" y="950976"/>
            <a:ext cx="11277295" cy="4999735"/>
          </a:xfrm>
          <a:prstGeom prst="rect">
            <a:avLst/>
          </a:prstGeom>
          <a:noFill/>
        </p:spPr>
        <p:txBody>
          <a:bodyPr wrap="square" lIns="228600" tIns="155448" rIns="228600" bIns="155448" anchor="t" rtlCol="0">
            <a:noAutofit/>
          </a:bodyPr>
          <a:lstStyle/>
          <a:p>
            <a:pPr algn="l">
              <a:lnSpc>
                <a:spcPts val="2840"/>
              </a:lnSpc>
              <a:spcBef>
                <a:spcPts val="0"/>
              </a:spcBef>
              <a:spcAft>
                <a:spcPts val="0"/>
              </a:spcAft>
              <a:buNone/>
            </a:pPr>
            <a:r>
              <a:rPr lang="ko-KR" altLang="en-US" sz="1750" b="1" dirty="0">
                <a:solidFill>
                  <a:srgbClr val="1E2A5A">
                    <a:alpha val="0"/>
                  </a:srgbClr>
                </a:solidFill>
                <a:latin typeface="맑은 고딕"/>
                <a:ea typeface="맑은 고딕"/>
                <a:cs typeface="맑은 고딕"/>
              </a:rPr>
              <a:t>①</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Have you ever visited an online bookstore and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been surprising</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been surprised</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 by the books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that the store recommended</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what the store recommended</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 for you?</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②</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Many of them looked interesting to you.</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③</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So how did the bookstore know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what you liked</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that you liked</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④</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This is all possible because of big data.</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⑤</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Big data is data sets that </a:t>
            </a:r>
            <a:r>
              <a:rPr lang="en-US" altLang="ko-KR" sz="1750" b="1" dirty="0">
                <a:solidFill>
                  <a:srgbClr val="1F2328">
                    <a:alpha val="0"/>
                  </a:srgbClr>
                </a:solidFill>
                <a:latin typeface="Calibri"/>
                <a:ea typeface="맑은 고딕"/>
                <a:cs typeface="Calibri"/>
              </a:rPr>
              <a:t>[ </a:t>
            </a:r>
            <a:r>
              <a:rPr lang="en-US" altLang="ko-KR" sz="1750" b="1" dirty="0">
                <a:solidFill>
                  <a:srgbClr val="C00000"/>
                </a:solidFill>
                <a:highlight>
                  <a:srgbClr val="F3F5F9"/>
                </a:highlight>
                <a:latin typeface="Calibri"/>
                <a:ea typeface="맑은 고딕"/>
                <a:cs typeface="Calibri"/>
              </a:rPr>
              <a:t>are very big</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is very big</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 and complex.</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⑥</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As information and communication technology develops, the amount of data we have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are getting</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is getting</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 much greater than before.</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⑦</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This is mainly because almost everything that we do online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leave a trace</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leaves a trace</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⑧</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For example, the photos you upload on your blog and the records of your purchases at online stores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are all part</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is all part</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 of big data.</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⑨</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Simply collecting data, however, is not enough.</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⑩</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Big data has to be analyzed, and this is done by big data experts.</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⑪</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Using various methods, experts analyze big data and draw meaningful results from it.</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⑫</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These results then can be used to make decisions or to predict the future.</a:t>
            </a:r>
            <a:endParaRPr lang="en-US" altLang="ko-KR" sz="1750" b="0" dirty="0">
              <a:solidFill>
                <a:srgbClr val="1F2328"/>
              </a:solidFill>
              <a:latin typeface="Calibri"/>
              <a:ea typeface="맑은 고딕"/>
              <a:cs typeface="Calibri"/>
            </a:endParaRPr>
          </a:p>
        </p:txBody>
      </p:sp>
      <p:sp>
        <p:nvSpPr>
          <p:cNvPr id="13" name="rv_g05"/>
          <p:cNvSpPr txBox="1"/>
          <p:nvPr/>
        </p:nvSpPr>
        <p:spPr>
          <a:xfrm>
            <a:off x="457200" y="950976"/>
            <a:ext cx="11277295" cy="4999735"/>
          </a:xfrm>
          <a:prstGeom prst="rect">
            <a:avLst/>
          </a:prstGeom>
          <a:noFill/>
        </p:spPr>
        <p:txBody>
          <a:bodyPr wrap="square" lIns="228600" tIns="155448" rIns="228600" bIns="155448" anchor="t" rtlCol="0">
            <a:noAutofit/>
          </a:bodyPr>
          <a:lstStyle/>
          <a:p>
            <a:pPr algn="l">
              <a:lnSpc>
                <a:spcPts val="2840"/>
              </a:lnSpc>
              <a:spcBef>
                <a:spcPts val="0"/>
              </a:spcBef>
              <a:spcAft>
                <a:spcPts val="0"/>
              </a:spcAft>
              <a:buNone/>
            </a:pPr>
            <a:r>
              <a:rPr lang="ko-KR" altLang="en-US" sz="1750" b="1" dirty="0">
                <a:solidFill>
                  <a:srgbClr val="1E2A5A">
                    <a:alpha val="0"/>
                  </a:srgbClr>
                </a:solidFill>
                <a:latin typeface="맑은 고딕"/>
                <a:ea typeface="맑은 고딕"/>
                <a:cs typeface="맑은 고딕"/>
              </a:rPr>
              <a:t>①</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Have you ever visited an online bookstore and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been surprising</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been surprised</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 by the books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that the store recommended</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what the store recommended</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 for you?</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②</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Many of them looked interesting to you.</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③</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So how did the bookstore know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what you liked</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that you liked</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④</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This is all possible because of big data.</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⑤</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Big data is data sets that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are very big</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is very big</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 and complex.</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⑥</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As information and communication technology develops, the amount of data we have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are getting</a:t>
            </a:r>
            <a:r>
              <a:rPr lang="en-US" altLang="ko-KR" sz="1750" b="1" dirty="0">
                <a:solidFill>
                  <a:srgbClr val="1F2328">
                    <a:alpha val="0"/>
                  </a:srgbClr>
                </a:solidFill>
                <a:latin typeface="Calibri"/>
                <a:ea typeface="맑은 고딕"/>
                <a:cs typeface="Calibri"/>
              </a:rPr>
              <a:t> / </a:t>
            </a:r>
            <a:r>
              <a:rPr lang="en-US" altLang="ko-KR" sz="1750" b="1" dirty="0">
                <a:solidFill>
                  <a:srgbClr val="C00000"/>
                </a:solidFill>
                <a:highlight>
                  <a:srgbClr val="F3F5F9"/>
                </a:highlight>
                <a:latin typeface="Calibri"/>
                <a:ea typeface="맑은 고딕"/>
                <a:cs typeface="Calibri"/>
              </a:rPr>
              <a:t>is getting</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 much greater than before.</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⑦</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This is mainly because almost everything that we do online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leave a trace</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leaves a trace</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⑧</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For example, the photos you upload on your blog and the records of your purchases at online stores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are all part</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is all part</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 of big data.</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⑨</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Simply collecting data, however, is not enough.</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⑩</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Big data has to be analyzed, and this is done by big data experts.</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⑪</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Using various methods, experts analyze big data and draw meaningful results from it.</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⑫</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These results then can be used to make decisions or to predict the future.</a:t>
            </a:r>
            <a:endParaRPr lang="en-US" altLang="ko-KR" sz="1750" b="0" dirty="0">
              <a:solidFill>
                <a:srgbClr val="1F2328"/>
              </a:solidFill>
              <a:latin typeface="Calibri"/>
              <a:ea typeface="맑은 고딕"/>
              <a:cs typeface="Calibri"/>
            </a:endParaRPr>
          </a:p>
        </p:txBody>
      </p:sp>
      <p:sp>
        <p:nvSpPr>
          <p:cNvPr id="14" name="rv_g06"/>
          <p:cNvSpPr txBox="1"/>
          <p:nvPr/>
        </p:nvSpPr>
        <p:spPr>
          <a:xfrm>
            <a:off x="457200" y="950976"/>
            <a:ext cx="11277295" cy="4999735"/>
          </a:xfrm>
          <a:prstGeom prst="rect">
            <a:avLst/>
          </a:prstGeom>
          <a:noFill/>
        </p:spPr>
        <p:txBody>
          <a:bodyPr wrap="square" lIns="228600" tIns="155448" rIns="228600" bIns="155448" anchor="t" rtlCol="0">
            <a:noAutofit/>
          </a:bodyPr>
          <a:lstStyle/>
          <a:p>
            <a:pPr algn="l">
              <a:lnSpc>
                <a:spcPts val="2840"/>
              </a:lnSpc>
              <a:spcBef>
                <a:spcPts val="0"/>
              </a:spcBef>
              <a:spcAft>
                <a:spcPts val="0"/>
              </a:spcAft>
              <a:buNone/>
            </a:pPr>
            <a:r>
              <a:rPr lang="ko-KR" altLang="en-US" sz="1750" b="1" dirty="0">
                <a:solidFill>
                  <a:srgbClr val="1E2A5A">
                    <a:alpha val="0"/>
                  </a:srgbClr>
                </a:solidFill>
                <a:latin typeface="맑은 고딕"/>
                <a:ea typeface="맑은 고딕"/>
                <a:cs typeface="맑은 고딕"/>
              </a:rPr>
              <a:t>①</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Have you ever visited an online bookstore and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been surprising</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been surprised</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 by the books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that the store recommended</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what the store recommended</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 for you?</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②</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Many of them looked interesting to you.</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③</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So how did the bookstore know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what you liked</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that you liked</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④</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This is all possible because of big data.</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⑤</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Big data is data sets that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are very big</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is very big</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 and complex.</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⑥</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As information and communication technology develops, the amount of data we have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are getting</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is getting</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 much greater than before.</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⑦</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This is mainly because almost everything that we do online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leave a trace</a:t>
            </a:r>
            <a:r>
              <a:rPr lang="en-US" altLang="ko-KR" sz="1750" b="1" dirty="0">
                <a:solidFill>
                  <a:srgbClr val="1F2328">
                    <a:alpha val="0"/>
                  </a:srgbClr>
                </a:solidFill>
                <a:latin typeface="Calibri"/>
                <a:ea typeface="맑은 고딕"/>
                <a:cs typeface="Calibri"/>
              </a:rPr>
              <a:t> / </a:t>
            </a:r>
            <a:r>
              <a:rPr lang="en-US" altLang="ko-KR" sz="1750" b="1" dirty="0">
                <a:solidFill>
                  <a:srgbClr val="C00000"/>
                </a:solidFill>
                <a:highlight>
                  <a:srgbClr val="F3F5F9"/>
                </a:highlight>
                <a:latin typeface="Calibri"/>
                <a:ea typeface="맑은 고딕"/>
                <a:cs typeface="Calibri"/>
              </a:rPr>
              <a:t>leaves a trace</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⑧</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For example, the photos you upload on your blog and the records of your purchases at online stores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are all part</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is all part</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 of big data.</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⑨</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Simply collecting data, however, is not enough.</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⑩</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Big data has to be analyzed, and this is done by big data experts.</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⑪</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Using various methods, experts analyze big data and draw meaningful results from it.</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⑫</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These results then can be used to make decisions or to predict the future.</a:t>
            </a:r>
            <a:endParaRPr lang="en-US" altLang="ko-KR" sz="1750" b="0" dirty="0">
              <a:solidFill>
                <a:srgbClr val="1F2328"/>
              </a:solidFill>
              <a:latin typeface="Calibri"/>
              <a:ea typeface="맑은 고딕"/>
              <a:cs typeface="Calibri"/>
            </a:endParaRPr>
          </a:p>
        </p:txBody>
      </p:sp>
      <p:sp>
        <p:nvSpPr>
          <p:cNvPr id="15" name="rv_g07"/>
          <p:cNvSpPr txBox="1"/>
          <p:nvPr/>
        </p:nvSpPr>
        <p:spPr>
          <a:xfrm>
            <a:off x="457200" y="950976"/>
            <a:ext cx="11277295" cy="4999735"/>
          </a:xfrm>
          <a:prstGeom prst="rect">
            <a:avLst/>
          </a:prstGeom>
          <a:noFill/>
        </p:spPr>
        <p:txBody>
          <a:bodyPr wrap="square" lIns="228600" tIns="155448" rIns="228600" bIns="155448" anchor="t" rtlCol="0">
            <a:noAutofit/>
          </a:bodyPr>
          <a:lstStyle/>
          <a:p>
            <a:pPr algn="l">
              <a:lnSpc>
                <a:spcPts val="2840"/>
              </a:lnSpc>
              <a:spcBef>
                <a:spcPts val="0"/>
              </a:spcBef>
              <a:spcAft>
                <a:spcPts val="0"/>
              </a:spcAft>
              <a:buNone/>
            </a:pPr>
            <a:r>
              <a:rPr lang="ko-KR" altLang="en-US" sz="1750" b="1" dirty="0">
                <a:solidFill>
                  <a:srgbClr val="1E2A5A">
                    <a:alpha val="0"/>
                  </a:srgbClr>
                </a:solidFill>
                <a:latin typeface="맑은 고딕"/>
                <a:ea typeface="맑은 고딕"/>
                <a:cs typeface="맑은 고딕"/>
              </a:rPr>
              <a:t>①</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Have you ever visited an online bookstore and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been surprising</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been surprised</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 by the books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that the store recommended</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what the store recommended</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 for you?</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②</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Many of them looked interesting to you.</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③</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So how did the bookstore know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what you liked</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that you liked</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④</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This is all possible because of big data.</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⑤</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Big data is data sets that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are very big</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is very big</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 and complex.</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⑥</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As information and communication technology develops, the amount of data we have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are getting</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is getting</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 much greater than before.</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⑦</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This is mainly because almost everything that we do online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leave a trace</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leaves a trace</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⑧</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For example, the photos you upload on your blog and the records of your purchases at online stores </a:t>
            </a:r>
            <a:r>
              <a:rPr lang="en-US" altLang="ko-KR" sz="1750" b="1" dirty="0">
                <a:solidFill>
                  <a:srgbClr val="1F2328">
                    <a:alpha val="0"/>
                  </a:srgbClr>
                </a:solidFill>
                <a:latin typeface="Calibri"/>
                <a:ea typeface="맑은 고딕"/>
                <a:cs typeface="Calibri"/>
              </a:rPr>
              <a:t>[ </a:t>
            </a:r>
            <a:r>
              <a:rPr lang="en-US" altLang="ko-KR" sz="1750" b="1" dirty="0">
                <a:solidFill>
                  <a:srgbClr val="C00000"/>
                </a:solidFill>
                <a:highlight>
                  <a:srgbClr val="F3F5F9"/>
                </a:highlight>
                <a:latin typeface="Calibri"/>
                <a:ea typeface="맑은 고딕"/>
                <a:cs typeface="Calibri"/>
              </a:rPr>
              <a:t>are all part</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is all part</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 of big data.</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⑨</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Simply collecting data, however, is not enough.</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⑩</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Big data has to be analyzed, and this is done by big data experts.</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⑪</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Using various methods, experts analyze big data and draw meaningful results from it.</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⑫</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These results then can be used to make decisions or to predict the future.</a:t>
            </a:r>
            <a:endParaRPr lang="en-US" altLang="ko-KR" sz="1750" b="0" dirty="0">
              <a:solidFill>
                <a:srgbClr val="1F2328"/>
              </a:solidFill>
              <a:latin typeface="Calibri"/>
              <a:ea typeface="맑은 고딕"/>
              <a:cs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25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25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25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250"/>
                                        <p:tgtEl>
                                          <p:spTgt spid="12"/>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250"/>
                                        <p:tgtEl>
                                          <p:spTgt spid="13"/>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4"/>
                                        </p:tgtEl>
                                        <p:attrNameLst>
                                          <p:attrName>style.visibility</p:attrName>
                                        </p:attrNameLst>
                                      </p:cBhvr>
                                      <p:to>
                                        <p:strVal val="visible"/>
                                      </p:to>
                                    </p:set>
                                    <p:animEffect transition="in" filter="fade">
                                      <p:cBhvr>
                                        <p:cTn id="32" dur="250"/>
                                        <p:tgtEl>
                                          <p:spTgt spid="14"/>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5"/>
                                        </p:tgtEl>
                                        <p:attrNameLst>
                                          <p:attrName>style.visibility</p:attrName>
                                        </p:attrNameLst>
                                      </p:cBhvr>
                                      <p:to>
                                        <p:strVal val="visible"/>
                                      </p:to>
                                    </p:set>
                                    <p:animEffect transition="in" filter="fade">
                                      <p:cBhvr>
                                        <p:cTn id="37" dur="25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4" grpId="0" animBg="1"/>
      <p:bldP spid="15" grpId="0" animBg="1"/>
    </p:bldLst>
  </p:timing>
</p:sld>
</file>

<file path=ppt/slides/slide16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L7-1</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3 · ②</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다음 글의 각 [  ] 안에서 문맥상 알맞은 것을 고르시오.</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7</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클릭할 때마다 괄호 속 정답이 앞에서부터 하나씩 빨간색으로 나타납니다 (총 8개)</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4999735"/>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4999735"/>
          </a:xfrm>
          <a:prstGeom prst="rect">
            <a:avLst/>
          </a:prstGeom>
          <a:noFill/>
        </p:spPr>
        <p:txBody>
          <a:bodyPr wrap="square" lIns="228600" tIns="155448" rIns="228600" bIns="155448" anchor="t" rtlCol="0">
            <a:noAutofit/>
          </a:bodyPr>
          <a:lstStyle/>
          <a:p>
            <a:pPr algn="l">
              <a:lnSpc>
                <a:spcPts val="2840"/>
              </a:lnSpc>
              <a:spcBef>
                <a:spcPts val="0"/>
              </a:spcBef>
              <a:spcAft>
                <a:spcPts val="0"/>
              </a:spcAft>
              <a:buNone/>
            </a:pPr>
            <a:r>
              <a:rPr lang="ko-KR" altLang="en-US" sz="1750" b="1" dirty="0">
                <a:solidFill>
                  <a:srgbClr val="1E2A5A"/>
                </a:solidFill>
                <a:latin typeface="맑은 고딕"/>
                <a:ea typeface="맑은 고딕"/>
                <a:cs typeface="맑은 고딕"/>
              </a:rPr>
              <a:t>①</a:t>
            </a:r>
            <a:r>
              <a:rPr lang="en-US" altLang="ko-KR" sz="1750" b="0" dirty="0">
                <a:solidFill>
                  <a:srgbClr val="1F2328"/>
                </a:solidFill>
                <a:latin typeface="Calibri"/>
                <a:ea typeface="맑은 고딕"/>
                <a:cs typeface="Calibri"/>
              </a:rPr>
              <a:t> </a:t>
            </a:r>
            <a:r>
              <a:rPr lang="en-US" altLang="ko-KR" sz="1750" b="0" dirty="0">
                <a:solidFill>
                  <a:srgbClr val="1F2328"/>
                </a:solidFill>
                <a:latin typeface="Calibri"/>
                <a:ea typeface="맑은 고딕"/>
                <a:cs typeface="Calibri"/>
              </a:rPr>
              <a:t>Have you ever visited an online bookstore and been surprised by the books that the store recommended for you?</a:t>
            </a:r>
            <a:r>
              <a:rPr lang="en-US" altLang="ko-KR" sz="1750" b="0" dirty="0">
                <a:solidFill>
                  <a:srgbClr val="1F2328"/>
                </a:solidFill>
                <a:latin typeface="Calibri"/>
                <a:ea typeface="맑은 고딕"/>
                <a:cs typeface="Calibri"/>
              </a:rPr>
              <a:t>   </a:t>
            </a:r>
            <a:r>
              <a:rPr lang="ko-KR" altLang="en-US" sz="1750" b="1" dirty="0">
                <a:solidFill>
                  <a:srgbClr val="1E2A5A"/>
                </a:solidFill>
                <a:latin typeface="맑은 고딕"/>
                <a:ea typeface="맑은 고딕"/>
                <a:cs typeface="맑은 고딕"/>
              </a:rPr>
              <a:t>②</a:t>
            </a:r>
            <a:r>
              <a:rPr lang="en-US" altLang="ko-KR" sz="1750" b="0" dirty="0">
                <a:solidFill>
                  <a:srgbClr val="1F2328"/>
                </a:solidFill>
                <a:latin typeface="Calibri"/>
                <a:ea typeface="맑은 고딕"/>
                <a:cs typeface="Calibri"/>
              </a:rPr>
              <a:t> </a:t>
            </a:r>
            <a:r>
              <a:rPr lang="en-US" altLang="ko-KR" sz="1750" b="0" dirty="0">
                <a:solidFill>
                  <a:srgbClr val="1F2328"/>
                </a:solidFill>
                <a:latin typeface="Calibri"/>
                <a:ea typeface="맑은 고딕"/>
                <a:cs typeface="Calibri"/>
              </a:rPr>
              <a:t>Many of them </a:t>
            </a:r>
            <a:r>
              <a:rPr lang="en-US" altLang="ko-KR" sz="1750" b="1" dirty="0">
                <a:solidFill>
                  <a:srgbClr val="1F2328"/>
                </a:solidFill>
                <a:latin typeface="Calibri"/>
                <a:ea typeface="맑은 고딕"/>
                <a:cs typeface="Calibri"/>
              </a:rPr>
              <a:t>[ </a:t>
            </a:r>
            <a:r>
              <a:rPr lang="en-US" altLang="ko-KR" sz="1750" b="1" dirty="0">
                <a:solidFill>
                  <a:srgbClr val="1F2328"/>
                </a:solidFill>
                <a:latin typeface="Calibri"/>
                <a:ea typeface="맑은 고딕"/>
                <a:cs typeface="Calibri"/>
              </a:rPr>
              <a:t>looked interesting</a:t>
            </a:r>
            <a:r>
              <a:rPr lang="en-US" altLang="ko-KR" sz="1750" b="1" dirty="0">
                <a:solidFill>
                  <a:srgbClr val="1F2328"/>
                </a:solidFill>
                <a:latin typeface="Calibri"/>
                <a:ea typeface="맑은 고딕"/>
                <a:cs typeface="Calibri"/>
              </a:rPr>
              <a:t> / </a:t>
            </a:r>
            <a:r>
              <a:rPr lang="en-US" altLang="ko-KR" sz="1750" b="1" dirty="0">
                <a:solidFill>
                  <a:srgbClr val="1F2328"/>
                </a:solidFill>
                <a:latin typeface="Calibri"/>
                <a:ea typeface="맑은 고딕"/>
                <a:cs typeface="Calibri"/>
              </a:rPr>
              <a:t>looked interestingly</a:t>
            </a:r>
            <a:r>
              <a:rPr lang="en-US" altLang="ko-KR" sz="1750" b="1" dirty="0">
                <a:solidFill>
                  <a:srgbClr val="1F2328"/>
                </a:solidFill>
                <a:latin typeface="Calibri"/>
                <a:ea typeface="맑은 고딕"/>
                <a:cs typeface="Calibri"/>
              </a:rPr>
              <a:t> ]</a:t>
            </a:r>
            <a:r>
              <a:rPr lang="en-US" altLang="ko-KR" sz="1750" b="0" dirty="0">
                <a:solidFill>
                  <a:srgbClr val="1F2328"/>
                </a:solidFill>
                <a:latin typeface="Calibri"/>
                <a:ea typeface="맑은 고딕"/>
                <a:cs typeface="Calibri"/>
              </a:rPr>
              <a:t> to you.</a:t>
            </a:r>
            <a:r>
              <a:rPr lang="en-US" altLang="ko-KR" sz="1750" b="0" dirty="0">
                <a:solidFill>
                  <a:srgbClr val="1F2328"/>
                </a:solidFill>
                <a:latin typeface="Calibri"/>
                <a:ea typeface="맑은 고딕"/>
                <a:cs typeface="Calibri"/>
              </a:rPr>
              <a:t>   </a:t>
            </a:r>
            <a:r>
              <a:rPr lang="ko-KR" altLang="en-US" sz="1750" b="1" dirty="0">
                <a:solidFill>
                  <a:srgbClr val="1E2A5A"/>
                </a:solidFill>
                <a:latin typeface="맑은 고딕"/>
                <a:ea typeface="맑은 고딕"/>
                <a:cs typeface="맑은 고딕"/>
              </a:rPr>
              <a:t>③</a:t>
            </a:r>
            <a:r>
              <a:rPr lang="en-US" altLang="ko-KR" sz="1750" b="0" dirty="0">
                <a:solidFill>
                  <a:srgbClr val="1F2328"/>
                </a:solidFill>
                <a:latin typeface="Calibri"/>
                <a:ea typeface="맑은 고딕"/>
                <a:cs typeface="Calibri"/>
              </a:rPr>
              <a:t> </a:t>
            </a:r>
            <a:r>
              <a:rPr lang="en-US" altLang="ko-KR" sz="1750" b="0" dirty="0">
                <a:solidFill>
                  <a:srgbClr val="1F2328"/>
                </a:solidFill>
                <a:latin typeface="Calibri"/>
                <a:ea typeface="맑은 고딕"/>
                <a:cs typeface="Calibri"/>
              </a:rPr>
              <a:t>So how did the bookstore know what you liked?</a:t>
            </a:r>
            <a:r>
              <a:rPr lang="en-US" altLang="ko-KR" sz="1750" b="0" dirty="0">
                <a:solidFill>
                  <a:srgbClr val="1F2328"/>
                </a:solidFill>
                <a:latin typeface="Calibri"/>
                <a:ea typeface="맑은 고딕"/>
                <a:cs typeface="Calibri"/>
              </a:rPr>
              <a:t>   </a:t>
            </a:r>
            <a:r>
              <a:rPr lang="ko-KR" altLang="en-US" sz="1750" b="1" dirty="0">
                <a:solidFill>
                  <a:srgbClr val="1E2A5A"/>
                </a:solidFill>
                <a:latin typeface="맑은 고딕"/>
                <a:ea typeface="맑은 고딕"/>
                <a:cs typeface="맑은 고딕"/>
              </a:rPr>
              <a:t>④</a:t>
            </a:r>
            <a:r>
              <a:rPr lang="en-US" altLang="ko-KR" sz="1750" b="0" dirty="0">
                <a:solidFill>
                  <a:srgbClr val="1F2328"/>
                </a:solidFill>
                <a:latin typeface="Calibri"/>
                <a:ea typeface="맑은 고딕"/>
                <a:cs typeface="Calibri"/>
              </a:rPr>
              <a:t> </a:t>
            </a:r>
            <a:r>
              <a:rPr lang="en-US" altLang="ko-KR" sz="1750" b="0" dirty="0">
                <a:solidFill>
                  <a:srgbClr val="1F2328"/>
                </a:solidFill>
                <a:latin typeface="Calibri"/>
                <a:ea typeface="맑은 고딕"/>
                <a:cs typeface="Calibri"/>
              </a:rPr>
              <a:t>This is all possible </a:t>
            </a:r>
            <a:r>
              <a:rPr lang="en-US" altLang="ko-KR" sz="1750" b="1" dirty="0">
                <a:solidFill>
                  <a:srgbClr val="1F2328"/>
                </a:solidFill>
                <a:latin typeface="Calibri"/>
                <a:ea typeface="맑은 고딕"/>
                <a:cs typeface="Calibri"/>
              </a:rPr>
              <a:t>[ </a:t>
            </a:r>
            <a:r>
              <a:rPr lang="en-US" altLang="ko-KR" sz="1750" b="1" dirty="0">
                <a:solidFill>
                  <a:srgbClr val="1F2328"/>
                </a:solidFill>
                <a:latin typeface="Calibri"/>
                <a:ea typeface="맑은 고딕"/>
                <a:cs typeface="Calibri"/>
              </a:rPr>
              <a:t>because of big data</a:t>
            </a:r>
            <a:r>
              <a:rPr lang="en-US" altLang="ko-KR" sz="1750" b="1" dirty="0">
                <a:solidFill>
                  <a:srgbClr val="1F2328"/>
                </a:solidFill>
                <a:latin typeface="Calibri"/>
                <a:ea typeface="맑은 고딕"/>
                <a:cs typeface="Calibri"/>
              </a:rPr>
              <a:t> / </a:t>
            </a:r>
            <a:r>
              <a:rPr lang="en-US" altLang="ko-KR" sz="1750" b="1" dirty="0">
                <a:solidFill>
                  <a:srgbClr val="1F2328"/>
                </a:solidFill>
                <a:latin typeface="Calibri"/>
                <a:ea typeface="맑은 고딕"/>
                <a:cs typeface="Calibri"/>
              </a:rPr>
              <a:t>because big data</a:t>
            </a:r>
            <a:r>
              <a:rPr lang="en-US" altLang="ko-KR" sz="1750" b="1" dirty="0">
                <a:solidFill>
                  <a:srgbClr val="1F2328"/>
                </a:solidFill>
                <a:latin typeface="Calibri"/>
                <a:ea typeface="맑은 고딕"/>
                <a:cs typeface="Calibri"/>
              </a:rPr>
              <a:t> ]</a:t>
            </a:r>
            <a:r>
              <a:rPr lang="en-US" altLang="ko-KR" sz="1750" b="0" dirty="0">
                <a:solidFill>
                  <a:srgbClr val="1F2328"/>
                </a:solidFill>
                <a:latin typeface="Calibri"/>
                <a:ea typeface="맑은 고딕"/>
                <a:cs typeface="Calibri"/>
              </a:rPr>
              <a:t>.</a:t>
            </a:r>
            <a:r>
              <a:rPr lang="en-US" altLang="ko-KR" sz="1750" b="0" dirty="0">
                <a:solidFill>
                  <a:srgbClr val="1F2328"/>
                </a:solidFill>
                <a:latin typeface="Calibri"/>
                <a:ea typeface="맑은 고딕"/>
                <a:cs typeface="Calibri"/>
              </a:rPr>
              <a:t>   </a:t>
            </a:r>
            <a:r>
              <a:rPr lang="ko-KR" altLang="en-US" sz="1750" b="1" dirty="0">
                <a:solidFill>
                  <a:srgbClr val="1E2A5A"/>
                </a:solidFill>
                <a:latin typeface="맑은 고딕"/>
                <a:ea typeface="맑은 고딕"/>
                <a:cs typeface="맑은 고딕"/>
              </a:rPr>
              <a:t>⑤</a:t>
            </a:r>
            <a:r>
              <a:rPr lang="en-US" altLang="ko-KR" sz="1750" b="0" dirty="0">
                <a:solidFill>
                  <a:srgbClr val="1F2328"/>
                </a:solidFill>
                <a:latin typeface="Calibri"/>
                <a:ea typeface="맑은 고딕"/>
                <a:cs typeface="Calibri"/>
              </a:rPr>
              <a:t> </a:t>
            </a:r>
            <a:r>
              <a:rPr lang="en-US" altLang="ko-KR" sz="1750" b="0" dirty="0">
                <a:solidFill>
                  <a:srgbClr val="1F2328"/>
                </a:solidFill>
                <a:latin typeface="Calibri"/>
                <a:ea typeface="맑은 고딕"/>
                <a:cs typeface="Calibri"/>
              </a:rPr>
              <a:t>Big data is data sets that are very big and complex.</a:t>
            </a:r>
            <a:r>
              <a:rPr lang="en-US" altLang="ko-KR" sz="1750" b="0" dirty="0">
                <a:solidFill>
                  <a:srgbClr val="1F2328"/>
                </a:solidFill>
                <a:latin typeface="Calibri"/>
                <a:ea typeface="맑은 고딕"/>
                <a:cs typeface="Calibri"/>
              </a:rPr>
              <a:t>   </a:t>
            </a:r>
            <a:r>
              <a:rPr lang="ko-KR" altLang="en-US" sz="1750" b="1" dirty="0">
                <a:solidFill>
                  <a:srgbClr val="1E2A5A"/>
                </a:solidFill>
                <a:latin typeface="맑은 고딕"/>
                <a:ea typeface="맑은 고딕"/>
                <a:cs typeface="맑은 고딕"/>
              </a:rPr>
              <a:t>⑥</a:t>
            </a:r>
            <a:r>
              <a:rPr lang="en-US" altLang="ko-KR" sz="1750" b="0" dirty="0">
                <a:solidFill>
                  <a:srgbClr val="1F2328"/>
                </a:solidFill>
                <a:latin typeface="Calibri"/>
                <a:ea typeface="맑은 고딕"/>
                <a:cs typeface="Calibri"/>
              </a:rPr>
              <a:t> </a:t>
            </a:r>
            <a:r>
              <a:rPr lang="en-US" altLang="ko-KR" sz="1750" b="0" dirty="0">
                <a:solidFill>
                  <a:srgbClr val="1F2328"/>
                </a:solidFill>
                <a:latin typeface="Calibri"/>
                <a:ea typeface="맑은 고딕"/>
                <a:cs typeface="Calibri"/>
              </a:rPr>
              <a:t>As information and communication technology develops, the amount of data we have is getting much greater than before.</a:t>
            </a:r>
            <a:r>
              <a:rPr lang="en-US" altLang="ko-KR" sz="1750" b="0" dirty="0">
                <a:solidFill>
                  <a:srgbClr val="1F2328"/>
                </a:solidFill>
                <a:latin typeface="Calibri"/>
                <a:ea typeface="맑은 고딕"/>
                <a:cs typeface="Calibri"/>
              </a:rPr>
              <a:t>   </a:t>
            </a:r>
            <a:r>
              <a:rPr lang="ko-KR" altLang="en-US" sz="1750" b="1" dirty="0">
                <a:solidFill>
                  <a:srgbClr val="1E2A5A"/>
                </a:solidFill>
                <a:latin typeface="맑은 고딕"/>
                <a:ea typeface="맑은 고딕"/>
                <a:cs typeface="맑은 고딕"/>
              </a:rPr>
              <a:t>⑦</a:t>
            </a:r>
            <a:r>
              <a:rPr lang="en-US" altLang="ko-KR" sz="1750" b="0" dirty="0">
                <a:solidFill>
                  <a:srgbClr val="1F2328"/>
                </a:solidFill>
                <a:latin typeface="Calibri"/>
                <a:ea typeface="맑은 고딕"/>
                <a:cs typeface="Calibri"/>
              </a:rPr>
              <a:t> </a:t>
            </a:r>
            <a:r>
              <a:rPr lang="en-US" altLang="ko-KR" sz="1750" b="0" dirty="0">
                <a:solidFill>
                  <a:srgbClr val="1F2328"/>
                </a:solidFill>
                <a:latin typeface="Calibri"/>
                <a:ea typeface="맑은 고딕"/>
                <a:cs typeface="Calibri"/>
              </a:rPr>
              <a:t>This is mainly because almost everything that we do online leaves a trace.</a:t>
            </a:r>
            <a:r>
              <a:rPr lang="en-US" altLang="ko-KR" sz="1750" b="0" dirty="0">
                <a:solidFill>
                  <a:srgbClr val="1F2328"/>
                </a:solidFill>
                <a:latin typeface="Calibri"/>
                <a:ea typeface="맑은 고딕"/>
                <a:cs typeface="Calibri"/>
              </a:rPr>
              <a:t>   </a:t>
            </a:r>
            <a:r>
              <a:rPr lang="ko-KR" altLang="en-US" sz="1750" b="1" dirty="0">
                <a:solidFill>
                  <a:srgbClr val="1E2A5A"/>
                </a:solidFill>
                <a:latin typeface="맑은 고딕"/>
                <a:ea typeface="맑은 고딕"/>
                <a:cs typeface="맑은 고딕"/>
              </a:rPr>
              <a:t>⑧</a:t>
            </a:r>
            <a:r>
              <a:rPr lang="en-US" altLang="ko-KR" sz="1750" b="0" dirty="0">
                <a:solidFill>
                  <a:srgbClr val="1F2328"/>
                </a:solidFill>
                <a:latin typeface="Calibri"/>
                <a:ea typeface="맑은 고딕"/>
                <a:cs typeface="Calibri"/>
              </a:rPr>
              <a:t> </a:t>
            </a:r>
            <a:r>
              <a:rPr lang="en-US" altLang="ko-KR" sz="1750" b="0" dirty="0">
                <a:solidFill>
                  <a:srgbClr val="1F2328"/>
                </a:solidFill>
                <a:latin typeface="Calibri"/>
                <a:ea typeface="맑은 고딕"/>
                <a:cs typeface="Calibri"/>
              </a:rPr>
              <a:t>For example, the photos you upload on your blog and the records of your purchases at online stores are all part of big data.</a:t>
            </a:r>
            <a:r>
              <a:rPr lang="en-US" altLang="ko-KR" sz="1750" b="0" dirty="0">
                <a:solidFill>
                  <a:srgbClr val="1F2328"/>
                </a:solidFill>
                <a:latin typeface="Calibri"/>
                <a:ea typeface="맑은 고딕"/>
                <a:cs typeface="Calibri"/>
              </a:rPr>
              <a:t>   </a:t>
            </a:r>
            <a:r>
              <a:rPr lang="ko-KR" altLang="en-US" sz="1750" b="1" dirty="0">
                <a:solidFill>
                  <a:srgbClr val="1E2A5A"/>
                </a:solidFill>
                <a:latin typeface="맑은 고딕"/>
                <a:ea typeface="맑은 고딕"/>
                <a:cs typeface="맑은 고딕"/>
              </a:rPr>
              <a:t>⑨</a:t>
            </a:r>
            <a:r>
              <a:rPr lang="en-US" altLang="ko-KR" sz="1750" b="0" dirty="0">
                <a:solidFill>
                  <a:srgbClr val="1F2328"/>
                </a:solidFill>
                <a:latin typeface="Calibri"/>
                <a:ea typeface="맑은 고딕"/>
                <a:cs typeface="Calibri"/>
              </a:rPr>
              <a:t> </a:t>
            </a:r>
            <a:r>
              <a:rPr lang="en-US" altLang="ko-KR" sz="1750" b="0" dirty="0">
                <a:solidFill>
                  <a:srgbClr val="1F2328"/>
                </a:solidFill>
                <a:latin typeface="Calibri"/>
                <a:ea typeface="맑은 고딕"/>
                <a:cs typeface="Calibri"/>
              </a:rPr>
              <a:t>Simply collecting data, however, </a:t>
            </a:r>
            <a:r>
              <a:rPr lang="en-US" altLang="ko-KR" sz="1750" b="1" dirty="0">
                <a:solidFill>
                  <a:srgbClr val="1F2328"/>
                </a:solidFill>
                <a:latin typeface="Calibri"/>
                <a:ea typeface="맑은 고딕"/>
                <a:cs typeface="Calibri"/>
              </a:rPr>
              <a:t>[ </a:t>
            </a:r>
            <a:r>
              <a:rPr lang="en-US" altLang="ko-KR" sz="1750" b="1" dirty="0">
                <a:solidFill>
                  <a:srgbClr val="1F2328"/>
                </a:solidFill>
                <a:latin typeface="Calibri"/>
                <a:ea typeface="맑은 고딕"/>
                <a:cs typeface="Calibri"/>
              </a:rPr>
              <a:t>is not enough</a:t>
            </a:r>
            <a:r>
              <a:rPr lang="en-US" altLang="ko-KR" sz="1750" b="1" dirty="0">
                <a:solidFill>
                  <a:srgbClr val="1F2328"/>
                </a:solidFill>
                <a:latin typeface="Calibri"/>
                <a:ea typeface="맑은 고딕"/>
                <a:cs typeface="Calibri"/>
              </a:rPr>
              <a:t> / </a:t>
            </a:r>
            <a:r>
              <a:rPr lang="en-US" altLang="ko-KR" sz="1750" b="1" dirty="0">
                <a:solidFill>
                  <a:srgbClr val="1F2328"/>
                </a:solidFill>
                <a:latin typeface="Calibri"/>
                <a:ea typeface="맑은 고딕"/>
                <a:cs typeface="Calibri"/>
              </a:rPr>
              <a:t>are not enough</a:t>
            </a:r>
            <a:r>
              <a:rPr lang="en-US" altLang="ko-KR" sz="1750" b="1" dirty="0">
                <a:solidFill>
                  <a:srgbClr val="1F2328"/>
                </a:solidFill>
                <a:latin typeface="Calibri"/>
                <a:ea typeface="맑은 고딕"/>
                <a:cs typeface="Calibri"/>
              </a:rPr>
              <a:t> ]</a:t>
            </a:r>
            <a:r>
              <a:rPr lang="en-US" altLang="ko-KR" sz="1750" b="0" dirty="0">
                <a:solidFill>
                  <a:srgbClr val="1F2328"/>
                </a:solidFill>
                <a:latin typeface="Calibri"/>
                <a:ea typeface="맑은 고딕"/>
                <a:cs typeface="Calibri"/>
              </a:rPr>
              <a:t>.</a:t>
            </a:r>
            <a:r>
              <a:rPr lang="en-US" altLang="ko-KR" sz="1750" b="0" dirty="0">
                <a:solidFill>
                  <a:srgbClr val="1F2328"/>
                </a:solidFill>
                <a:latin typeface="Calibri"/>
                <a:ea typeface="맑은 고딕"/>
                <a:cs typeface="Calibri"/>
              </a:rPr>
              <a:t>   </a:t>
            </a:r>
            <a:r>
              <a:rPr lang="ko-KR" altLang="en-US" sz="1750" b="1" dirty="0">
                <a:solidFill>
                  <a:srgbClr val="1E2A5A"/>
                </a:solidFill>
                <a:latin typeface="맑은 고딕"/>
                <a:ea typeface="맑은 고딕"/>
                <a:cs typeface="맑은 고딕"/>
              </a:rPr>
              <a:t>⑩</a:t>
            </a:r>
            <a:r>
              <a:rPr lang="en-US" altLang="ko-KR" sz="1750" b="0" dirty="0">
                <a:solidFill>
                  <a:srgbClr val="1F2328"/>
                </a:solidFill>
                <a:latin typeface="Calibri"/>
                <a:ea typeface="맑은 고딕"/>
                <a:cs typeface="Calibri"/>
              </a:rPr>
              <a:t> </a:t>
            </a:r>
            <a:r>
              <a:rPr lang="en-US" altLang="ko-KR" sz="1750" b="0" dirty="0">
                <a:solidFill>
                  <a:srgbClr val="1F2328"/>
                </a:solidFill>
                <a:latin typeface="Calibri"/>
                <a:ea typeface="맑은 고딕"/>
                <a:cs typeface="Calibri"/>
              </a:rPr>
              <a:t>Big data has to </a:t>
            </a:r>
            <a:r>
              <a:rPr lang="en-US" altLang="ko-KR" sz="1750" b="1" dirty="0">
                <a:solidFill>
                  <a:srgbClr val="1F2328"/>
                </a:solidFill>
                <a:latin typeface="Calibri"/>
                <a:ea typeface="맑은 고딕"/>
                <a:cs typeface="Calibri"/>
              </a:rPr>
              <a:t>[ </a:t>
            </a:r>
            <a:r>
              <a:rPr lang="en-US" altLang="ko-KR" sz="1750" b="1" dirty="0">
                <a:solidFill>
                  <a:srgbClr val="1F2328"/>
                </a:solidFill>
                <a:latin typeface="Calibri"/>
                <a:ea typeface="맑은 고딕"/>
                <a:cs typeface="Calibri"/>
              </a:rPr>
              <a:t>be analyzed</a:t>
            </a:r>
            <a:r>
              <a:rPr lang="en-US" altLang="ko-KR" sz="1750" b="1" dirty="0">
                <a:solidFill>
                  <a:srgbClr val="1F2328"/>
                </a:solidFill>
                <a:latin typeface="Calibri"/>
                <a:ea typeface="맑은 고딕"/>
                <a:cs typeface="Calibri"/>
              </a:rPr>
              <a:t> / </a:t>
            </a:r>
            <a:r>
              <a:rPr lang="en-US" altLang="ko-KR" sz="1750" b="1" dirty="0">
                <a:solidFill>
                  <a:srgbClr val="1F2328"/>
                </a:solidFill>
                <a:latin typeface="Calibri"/>
                <a:ea typeface="맑은 고딕"/>
                <a:cs typeface="Calibri"/>
              </a:rPr>
              <a:t>analyze</a:t>
            </a:r>
            <a:r>
              <a:rPr lang="en-US" altLang="ko-KR" sz="1750" b="1" dirty="0">
                <a:solidFill>
                  <a:srgbClr val="1F2328"/>
                </a:solidFill>
                <a:latin typeface="Calibri"/>
                <a:ea typeface="맑은 고딕"/>
                <a:cs typeface="Calibri"/>
              </a:rPr>
              <a:t> ]</a:t>
            </a:r>
            <a:r>
              <a:rPr lang="en-US" altLang="ko-KR" sz="1750" b="0" dirty="0">
                <a:solidFill>
                  <a:srgbClr val="1F2328"/>
                </a:solidFill>
                <a:latin typeface="Calibri"/>
                <a:ea typeface="맑은 고딕"/>
                <a:cs typeface="Calibri"/>
              </a:rPr>
              <a:t>, and this </a:t>
            </a:r>
            <a:r>
              <a:rPr lang="en-US" altLang="ko-KR" sz="1750" b="1" dirty="0">
                <a:solidFill>
                  <a:srgbClr val="1F2328"/>
                </a:solidFill>
                <a:latin typeface="Calibri"/>
                <a:ea typeface="맑은 고딕"/>
                <a:cs typeface="Calibri"/>
              </a:rPr>
              <a:t>[ </a:t>
            </a:r>
            <a:r>
              <a:rPr lang="en-US" altLang="ko-KR" sz="1750" b="1" dirty="0">
                <a:solidFill>
                  <a:srgbClr val="1F2328"/>
                </a:solidFill>
                <a:latin typeface="Calibri"/>
                <a:ea typeface="맑은 고딕"/>
                <a:cs typeface="Calibri"/>
              </a:rPr>
              <a:t>is done</a:t>
            </a:r>
            <a:r>
              <a:rPr lang="en-US" altLang="ko-KR" sz="1750" b="1" dirty="0">
                <a:solidFill>
                  <a:srgbClr val="1F2328"/>
                </a:solidFill>
                <a:latin typeface="Calibri"/>
                <a:ea typeface="맑은 고딕"/>
                <a:cs typeface="Calibri"/>
              </a:rPr>
              <a:t> / </a:t>
            </a:r>
            <a:r>
              <a:rPr lang="en-US" altLang="ko-KR" sz="1750" b="1" dirty="0">
                <a:solidFill>
                  <a:srgbClr val="1F2328"/>
                </a:solidFill>
                <a:latin typeface="Calibri"/>
                <a:ea typeface="맑은 고딕"/>
                <a:cs typeface="Calibri"/>
              </a:rPr>
              <a:t>is doing</a:t>
            </a:r>
            <a:r>
              <a:rPr lang="en-US" altLang="ko-KR" sz="1750" b="1" dirty="0">
                <a:solidFill>
                  <a:srgbClr val="1F2328"/>
                </a:solidFill>
                <a:latin typeface="Calibri"/>
                <a:ea typeface="맑은 고딕"/>
                <a:cs typeface="Calibri"/>
              </a:rPr>
              <a:t> ]</a:t>
            </a:r>
            <a:r>
              <a:rPr lang="en-US" altLang="ko-KR" sz="1750" b="0" dirty="0">
                <a:solidFill>
                  <a:srgbClr val="1F2328"/>
                </a:solidFill>
                <a:latin typeface="Calibri"/>
                <a:ea typeface="맑은 고딕"/>
                <a:cs typeface="Calibri"/>
              </a:rPr>
              <a:t> by big data experts.</a:t>
            </a:r>
            <a:r>
              <a:rPr lang="en-US" altLang="ko-KR" sz="1750" b="0" dirty="0">
                <a:solidFill>
                  <a:srgbClr val="1F2328"/>
                </a:solidFill>
                <a:latin typeface="Calibri"/>
                <a:ea typeface="맑은 고딕"/>
                <a:cs typeface="Calibri"/>
              </a:rPr>
              <a:t>   </a:t>
            </a:r>
            <a:r>
              <a:rPr lang="ko-KR" altLang="en-US" sz="1750" b="1" dirty="0">
                <a:solidFill>
                  <a:srgbClr val="1E2A5A"/>
                </a:solidFill>
                <a:latin typeface="맑은 고딕"/>
                <a:ea typeface="맑은 고딕"/>
                <a:cs typeface="맑은 고딕"/>
              </a:rPr>
              <a:t>⑪</a:t>
            </a:r>
            <a:r>
              <a:rPr lang="en-US" altLang="ko-KR" sz="1750" b="0" dirty="0">
                <a:solidFill>
                  <a:srgbClr val="1F2328"/>
                </a:solidFill>
                <a:latin typeface="Calibri"/>
                <a:ea typeface="맑은 고딕"/>
                <a:cs typeface="Calibri"/>
              </a:rPr>
              <a:t> </a:t>
            </a:r>
            <a:r>
              <a:rPr lang="en-US" altLang="ko-KR" sz="1750" b="1" dirty="0">
                <a:solidFill>
                  <a:srgbClr val="1F2328"/>
                </a:solidFill>
                <a:latin typeface="Calibri"/>
                <a:ea typeface="맑은 고딕"/>
                <a:cs typeface="Calibri"/>
              </a:rPr>
              <a:t>[ </a:t>
            </a:r>
            <a:r>
              <a:rPr lang="en-US" altLang="ko-KR" sz="1750" b="1" dirty="0">
                <a:solidFill>
                  <a:srgbClr val="1F2328"/>
                </a:solidFill>
                <a:latin typeface="Calibri"/>
                <a:ea typeface="맑은 고딕"/>
                <a:cs typeface="Calibri"/>
              </a:rPr>
              <a:t>Using various methods</a:t>
            </a:r>
            <a:r>
              <a:rPr lang="en-US" altLang="ko-KR" sz="1750" b="1" dirty="0">
                <a:solidFill>
                  <a:srgbClr val="1F2328"/>
                </a:solidFill>
                <a:latin typeface="Calibri"/>
                <a:ea typeface="맑은 고딕"/>
                <a:cs typeface="Calibri"/>
              </a:rPr>
              <a:t> / </a:t>
            </a:r>
            <a:r>
              <a:rPr lang="en-US" altLang="ko-KR" sz="1750" b="1" dirty="0">
                <a:solidFill>
                  <a:srgbClr val="1F2328"/>
                </a:solidFill>
                <a:latin typeface="Calibri"/>
                <a:ea typeface="맑은 고딕"/>
                <a:cs typeface="Calibri"/>
              </a:rPr>
              <a:t>Used various methods</a:t>
            </a:r>
            <a:r>
              <a:rPr lang="en-US" altLang="ko-KR" sz="1750" b="1" dirty="0">
                <a:solidFill>
                  <a:srgbClr val="1F2328"/>
                </a:solidFill>
                <a:latin typeface="Calibri"/>
                <a:ea typeface="맑은 고딕"/>
                <a:cs typeface="Calibri"/>
              </a:rPr>
              <a:t> ]</a:t>
            </a:r>
            <a:r>
              <a:rPr lang="en-US" altLang="ko-KR" sz="1750" b="0" dirty="0">
                <a:solidFill>
                  <a:srgbClr val="1F2328"/>
                </a:solidFill>
                <a:latin typeface="Calibri"/>
                <a:ea typeface="맑은 고딕"/>
                <a:cs typeface="Calibri"/>
              </a:rPr>
              <a:t>, experts analyze big data and draw meaningful results from it.</a:t>
            </a:r>
            <a:r>
              <a:rPr lang="en-US" altLang="ko-KR" sz="1750" b="0" dirty="0">
                <a:solidFill>
                  <a:srgbClr val="1F2328"/>
                </a:solidFill>
                <a:latin typeface="Calibri"/>
                <a:ea typeface="맑은 고딕"/>
                <a:cs typeface="Calibri"/>
              </a:rPr>
              <a:t>   </a:t>
            </a:r>
            <a:r>
              <a:rPr lang="ko-KR" altLang="en-US" sz="1750" b="1" dirty="0">
                <a:solidFill>
                  <a:srgbClr val="1E2A5A"/>
                </a:solidFill>
                <a:latin typeface="맑은 고딕"/>
                <a:ea typeface="맑은 고딕"/>
                <a:cs typeface="맑은 고딕"/>
              </a:rPr>
              <a:t>⑫</a:t>
            </a:r>
            <a:r>
              <a:rPr lang="en-US" altLang="ko-KR" sz="1750" b="0" dirty="0">
                <a:solidFill>
                  <a:srgbClr val="1F2328"/>
                </a:solidFill>
                <a:latin typeface="Calibri"/>
                <a:ea typeface="맑은 고딕"/>
                <a:cs typeface="Calibri"/>
              </a:rPr>
              <a:t> </a:t>
            </a:r>
            <a:r>
              <a:rPr lang="en-US" altLang="ko-KR" sz="1750" b="0" dirty="0">
                <a:solidFill>
                  <a:srgbClr val="1F2328"/>
                </a:solidFill>
                <a:latin typeface="Calibri"/>
                <a:ea typeface="맑은 고딕"/>
                <a:cs typeface="Calibri"/>
              </a:rPr>
              <a:t>These results then can </a:t>
            </a:r>
            <a:r>
              <a:rPr lang="en-US" altLang="ko-KR" sz="1750" b="1" dirty="0">
                <a:solidFill>
                  <a:srgbClr val="1F2328"/>
                </a:solidFill>
                <a:latin typeface="Calibri"/>
                <a:ea typeface="맑은 고딕"/>
                <a:cs typeface="Calibri"/>
              </a:rPr>
              <a:t>[ </a:t>
            </a:r>
            <a:r>
              <a:rPr lang="en-US" altLang="ko-KR" sz="1750" b="1" dirty="0">
                <a:solidFill>
                  <a:srgbClr val="1F2328"/>
                </a:solidFill>
                <a:latin typeface="Calibri"/>
                <a:ea typeface="맑은 고딕"/>
                <a:cs typeface="Calibri"/>
              </a:rPr>
              <a:t>be used</a:t>
            </a:r>
            <a:r>
              <a:rPr lang="en-US" altLang="ko-KR" sz="1750" b="1" dirty="0">
                <a:solidFill>
                  <a:srgbClr val="1F2328"/>
                </a:solidFill>
                <a:latin typeface="Calibri"/>
                <a:ea typeface="맑은 고딕"/>
                <a:cs typeface="Calibri"/>
              </a:rPr>
              <a:t> / </a:t>
            </a:r>
            <a:r>
              <a:rPr lang="en-US" altLang="ko-KR" sz="1750" b="1" dirty="0">
                <a:solidFill>
                  <a:srgbClr val="1F2328"/>
                </a:solidFill>
                <a:latin typeface="Calibri"/>
                <a:ea typeface="맑은 고딕"/>
                <a:cs typeface="Calibri"/>
              </a:rPr>
              <a:t>use</a:t>
            </a:r>
            <a:r>
              <a:rPr lang="en-US" altLang="ko-KR" sz="1750" b="1" dirty="0">
                <a:solidFill>
                  <a:srgbClr val="1F2328"/>
                </a:solidFill>
                <a:latin typeface="Calibri"/>
                <a:ea typeface="맑은 고딕"/>
                <a:cs typeface="Calibri"/>
              </a:rPr>
              <a:t> ]</a:t>
            </a:r>
            <a:r>
              <a:rPr lang="en-US" altLang="ko-KR" sz="1750" b="0" dirty="0">
                <a:solidFill>
                  <a:srgbClr val="1F2328"/>
                </a:solidFill>
                <a:latin typeface="Calibri"/>
                <a:ea typeface="맑은 고딕"/>
                <a:cs typeface="Calibri"/>
              </a:rPr>
              <a:t> to make decisions or </a:t>
            </a:r>
            <a:r>
              <a:rPr lang="en-US" altLang="ko-KR" sz="1750" b="1" dirty="0">
                <a:solidFill>
                  <a:srgbClr val="1F2328"/>
                </a:solidFill>
                <a:latin typeface="Calibri"/>
                <a:ea typeface="맑은 고딕"/>
                <a:cs typeface="Calibri"/>
              </a:rPr>
              <a:t>[ </a:t>
            </a:r>
            <a:r>
              <a:rPr lang="en-US" altLang="ko-KR" sz="1750" b="1" dirty="0">
                <a:solidFill>
                  <a:srgbClr val="1F2328"/>
                </a:solidFill>
                <a:latin typeface="Calibri"/>
                <a:ea typeface="맑은 고딕"/>
                <a:cs typeface="Calibri"/>
              </a:rPr>
              <a:t>to predict</a:t>
            </a:r>
            <a:r>
              <a:rPr lang="en-US" altLang="ko-KR" sz="1750" b="1" dirty="0">
                <a:solidFill>
                  <a:srgbClr val="1F2328"/>
                </a:solidFill>
                <a:latin typeface="Calibri"/>
                <a:ea typeface="맑은 고딕"/>
                <a:cs typeface="Calibri"/>
              </a:rPr>
              <a:t> / </a:t>
            </a:r>
            <a:r>
              <a:rPr lang="en-US" altLang="ko-KR" sz="1750" b="1" dirty="0">
                <a:solidFill>
                  <a:srgbClr val="1F2328"/>
                </a:solidFill>
                <a:latin typeface="Calibri"/>
                <a:ea typeface="맑은 고딕"/>
                <a:cs typeface="Calibri"/>
              </a:rPr>
              <a:t>predicting</a:t>
            </a:r>
            <a:r>
              <a:rPr lang="en-US" altLang="ko-KR" sz="1750" b="1" dirty="0">
                <a:solidFill>
                  <a:srgbClr val="1F2328"/>
                </a:solidFill>
                <a:latin typeface="Calibri"/>
                <a:ea typeface="맑은 고딕"/>
                <a:cs typeface="Calibri"/>
              </a:rPr>
              <a:t> ]</a:t>
            </a:r>
            <a:r>
              <a:rPr lang="en-US" altLang="ko-KR" sz="1750" b="0" dirty="0">
                <a:solidFill>
                  <a:srgbClr val="1F2328"/>
                </a:solidFill>
                <a:latin typeface="Calibri"/>
                <a:ea typeface="맑은 고딕"/>
                <a:cs typeface="Calibri"/>
              </a:rPr>
              <a:t> the future.</a:t>
            </a:r>
            <a:endParaRPr lang="en-US" altLang="ko-KR" sz="1750" b="0" dirty="0">
              <a:solidFill>
                <a:srgbClr val="1F2328"/>
              </a:solidFill>
              <a:latin typeface="Calibri"/>
              <a:ea typeface="맑은 고딕"/>
              <a:cs typeface="Calibri"/>
            </a:endParaRPr>
          </a:p>
        </p:txBody>
      </p:sp>
      <p:sp>
        <p:nvSpPr>
          <p:cNvPr id="9" name="rv_g01"/>
          <p:cNvSpPr txBox="1"/>
          <p:nvPr/>
        </p:nvSpPr>
        <p:spPr>
          <a:xfrm>
            <a:off x="457200" y="950976"/>
            <a:ext cx="11277295" cy="4999735"/>
          </a:xfrm>
          <a:prstGeom prst="rect">
            <a:avLst/>
          </a:prstGeom>
          <a:noFill/>
        </p:spPr>
        <p:txBody>
          <a:bodyPr wrap="square" lIns="228600" tIns="155448" rIns="228600" bIns="155448" anchor="t" rtlCol="0">
            <a:noAutofit/>
          </a:bodyPr>
          <a:lstStyle/>
          <a:p>
            <a:pPr algn="l">
              <a:lnSpc>
                <a:spcPts val="2840"/>
              </a:lnSpc>
              <a:spcBef>
                <a:spcPts val="0"/>
              </a:spcBef>
              <a:spcAft>
                <a:spcPts val="0"/>
              </a:spcAft>
              <a:buNone/>
            </a:pPr>
            <a:r>
              <a:rPr lang="ko-KR" altLang="en-US" sz="1750" b="1" dirty="0">
                <a:solidFill>
                  <a:srgbClr val="1E2A5A">
                    <a:alpha val="0"/>
                  </a:srgbClr>
                </a:solidFill>
                <a:latin typeface="맑은 고딕"/>
                <a:ea typeface="맑은 고딕"/>
                <a:cs typeface="맑은 고딕"/>
              </a:rPr>
              <a:t>①</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Have you ever visited an online bookstore and been surprised by the books that the store recommended for you?</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②</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Many of them </a:t>
            </a:r>
            <a:r>
              <a:rPr lang="en-US" altLang="ko-KR" sz="1750" b="1" dirty="0">
                <a:solidFill>
                  <a:srgbClr val="1F2328">
                    <a:alpha val="0"/>
                  </a:srgbClr>
                </a:solidFill>
                <a:latin typeface="Calibri"/>
                <a:ea typeface="맑은 고딕"/>
                <a:cs typeface="Calibri"/>
              </a:rPr>
              <a:t>[ </a:t>
            </a:r>
            <a:r>
              <a:rPr lang="en-US" altLang="ko-KR" sz="1750" b="1" dirty="0">
                <a:solidFill>
                  <a:srgbClr val="C00000"/>
                </a:solidFill>
                <a:highlight>
                  <a:srgbClr val="F3F5F9"/>
                </a:highlight>
                <a:latin typeface="Calibri"/>
                <a:ea typeface="맑은 고딕"/>
                <a:cs typeface="Calibri"/>
              </a:rPr>
              <a:t>looked interesting</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looked interestingly</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 to you.</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③</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So how did the bookstore know what you liked?</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④</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This is all possible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because of big data</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because big data</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⑤</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Big data is data sets that are very big and complex.</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⑥</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As information and communication technology develops, the amount of data we have is getting much greater than before.</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⑦</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This is mainly because almost everything that we do online leaves a trace.</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⑧</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For example, the photos you upload on your blog and the records of your purchases at online stores are all part of big data.</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⑨</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Simply collecting data, however,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is not enough</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are not enough</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⑩</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Big data has to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be analyzed</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analyze</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 and this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is done</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is doing</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 by big data experts.</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⑪</a:t>
            </a:r>
            <a:r>
              <a:rPr lang="en-US" altLang="ko-KR" sz="1750" b="0"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Using various methods</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Used various methods</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 experts analyze big data and draw meaningful results from it.</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⑫</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These results then can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be used</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use</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 to make decisions or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to predict</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predicting</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 the future.</a:t>
            </a:r>
            <a:endParaRPr lang="en-US" altLang="ko-KR" sz="1750" b="0" dirty="0">
              <a:solidFill>
                <a:srgbClr val="1F2328"/>
              </a:solidFill>
              <a:latin typeface="Calibri"/>
              <a:ea typeface="맑은 고딕"/>
              <a:cs typeface="Calibri"/>
            </a:endParaRPr>
          </a:p>
        </p:txBody>
      </p:sp>
      <p:sp>
        <p:nvSpPr>
          <p:cNvPr id="10" name="rv_g02"/>
          <p:cNvSpPr txBox="1"/>
          <p:nvPr/>
        </p:nvSpPr>
        <p:spPr>
          <a:xfrm>
            <a:off x="457200" y="950976"/>
            <a:ext cx="11277295" cy="4999735"/>
          </a:xfrm>
          <a:prstGeom prst="rect">
            <a:avLst/>
          </a:prstGeom>
          <a:noFill/>
        </p:spPr>
        <p:txBody>
          <a:bodyPr wrap="square" lIns="228600" tIns="155448" rIns="228600" bIns="155448" anchor="t" rtlCol="0">
            <a:noAutofit/>
          </a:bodyPr>
          <a:lstStyle/>
          <a:p>
            <a:pPr algn="l">
              <a:lnSpc>
                <a:spcPts val="2840"/>
              </a:lnSpc>
              <a:spcBef>
                <a:spcPts val="0"/>
              </a:spcBef>
              <a:spcAft>
                <a:spcPts val="0"/>
              </a:spcAft>
              <a:buNone/>
            </a:pPr>
            <a:r>
              <a:rPr lang="ko-KR" altLang="en-US" sz="1750" b="1" dirty="0">
                <a:solidFill>
                  <a:srgbClr val="1E2A5A">
                    <a:alpha val="0"/>
                  </a:srgbClr>
                </a:solidFill>
                <a:latin typeface="맑은 고딕"/>
                <a:ea typeface="맑은 고딕"/>
                <a:cs typeface="맑은 고딕"/>
              </a:rPr>
              <a:t>①</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Have you ever visited an online bookstore and been surprised by the books that the store recommended for you?</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②</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Many of them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looked interesting</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looked interestingly</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 to you.</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③</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So how did the bookstore know what you liked?</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④</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This is all possible </a:t>
            </a:r>
            <a:r>
              <a:rPr lang="en-US" altLang="ko-KR" sz="1750" b="1" dirty="0">
                <a:solidFill>
                  <a:srgbClr val="1F2328">
                    <a:alpha val="0"/>
                  </a:srgbClr>
                </a:solidFill>
                <a:latin typeface="Calibri"/>
                <a:ea typeface="맑은 고딕"/>
                <a:cs typeface="Calibri"/>
              </a:rPr>
              <a:t>[ </a:t>
            </a:r>
            <a:r>
              <a:rPr lang="en-US" altLang="ko-KR" sz="1750" b="1" dirty="0">
                <a:solidFill>
                  <a:srgbClr val="C00000"/>
                </a:solidFill>
                <a:highlight>
                  <a:srgbClr val="F3F5F9"/>
                </a:highlight>
                <a:latin typeface="Calibri"/>
                <a:ea typeface="맑은 고딕"/>
                <a:cs typeface="Calibri"/>
              </a:rPr>
              <a:t>because of big data</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because big data</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⑤</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Big data is data sets that are very big and complex.</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⑥</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As information and communication technology develops, the amount of data we have is getting much greater than before.</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⑦</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This is mainly because almost everything that we do online leaves a trace.</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⑧</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For example, the photos you upload on your blog and the records of your purchases at online stores are all part of big data.</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⑨</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Simply collecting data, however,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is not enough</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are not enough</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⑩</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Big data has to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be analyzed</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analyze</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 and this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is done</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is doing</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 by big data experts.</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⑪</a:t>
            </a:r>
            <a:r>
              <a:rPr lang="en-US" altLang="ko-KR" sz="1750" b="0"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Using various methods</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Used various methods</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 experts analyze big data and draw meaningful results from it.</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⑫</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These results then can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be used</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use</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 to make decisions or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to predict</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predicting</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 the future.</a:t>
            </a:r>
            <a:endParaRPr lang="en-US" altLang="ko-KR" sz="1750" b="0" dirty="0">
              <a:solidFill>
                <a:srgbClr val="1F2328"/>
              </a:solidFill>
              <a:latin typeface="Calibri"/>
              <a:ea typeface="맑은 고딕"/>
              <a:cs typeface="Calibri"/>
            </a:endParaRPr>
          </a:p>
        </p:txBody>
      </p:sp>
      <p:sp>
        <p:nvSpPr>
          <p:cNvPr id="11" name="rv_g03"/>
          <p:cNvSpPr txBox="1"/>
          <p:nvPr/>
        </p:nvSpPr>
        <p:spPr>
          <a:xfrm>
            <a:off x="457200" y="950976"/>
            <a:ext cx="11277295" cy="4999735"/>
          </a:xfrm>
          <a:prstGeom prst="rect">
            <a:avLst/>
          </a:prstGeom>
          <a:noFill/>
        </p:spPr>
        <p:txBody>
          <a:bodyPr wrap="square" lIns="228600" tIns="155448" rIns="228600" bIns="155448" anchor="t" rtlCol="0">
            <a:noAutofit/>
          </a:bodyPr>
          <a:lstStyle/>
          <a:p>
            <a:pPr algn="l">
              <a:lnSpc>
                <a:spcPts val="2840"/>
              </a:lnSpc>
              <a:spcBef>
                <a:spcPts val="0"/>
              </a:spcBef>
              <a:spcAft>
                <a:spcPts val="0"/>
              </a:spcAft>
              <a:buNone/>
            </a:pPr>
            <a:r>
              <a:rPr lang="ko-KR" altLang="en-US" sz="1750" b="1" dirty="0">
                <a:solidFill>
                  <a:srgbClr val="1E2A5A">
                    <a:alpha val="0"/>
                  </a:srgbClr>
                </a:solidFill>
                <a:latin typeface="맑은 고딕"/>
                <a:ea typeface="맑은 고딕"/>
                <a:cs typeface="맑은 고딕"/>
              </a:rPr>
              <a:t>①</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Have you ever visited an online bookstore and been surprised by the books that the store recommended for you?</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②</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Many of them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looked interesting</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looked interestingly</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 to you.</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③</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So how did the bookstore know what you liked?</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④</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This is all possible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because of big data</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because big data</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⑤</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Big data is data sets that are very big and complex.</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⑥</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As information and communication technology develops, the amount of data we have is getting much greater than before.</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⑦</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This is mainly because almost everything that we do online leaves a trace.</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⑧</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For example, the photos you upload on your blog and the records of your purchases at online stores are all part of big data.</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⑨</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Simply collecting data, however, </a:t>
            </a:r>
            <a:r>
              <a:rPr lang="en-US" altLang="ko-KR" sz="1750" b="1" dirty="0">
                <a:solidFill>
                  <a:srgbClr val="1F2328">
                    <a:alpha val="0"/>
                  </a:srgbClr>
                </a:solidFill>
                <a:latin typeface="Calibri"/>
                <a:ea typeface="맑은 고딕"/>
                <a:cs typeface="Calibri"/>
              </a:rPr>
              <a:t>[ </a:t>
            </a:r>
            <a:r>
              <a:rPr lang="en-US" altLang="ko-KR" sz="1750" b="1" dirty="0">
                <a:solidFill>
                  <a:srgbClr val="C00000"/>
                </a:solidFill>
                <a:highlight>
                  <a:srgbClr val="F3F5F9"/>
                </a:highlight>
                <a:latin typeface="Calibri"/>
                <a:ea typeface="맑은 고딕"/>
                <a:cs typeface="Calibri"/>
              </a:rPr>
              <a:t>is not enough</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are not enough</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⑩</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Big data has to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be analyzed</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analyze</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 and this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is done</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is doing</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 by big data experts.</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⑪</a:t>
            </a:r>
            <a:r>
              <a:rPr lang="en-US" altLang="ko-KR" sz="1750" b="0"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Using various methods</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Used various methods</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 experts analyze big data and draw meaningful results from it.</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⑫</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These results then can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be used</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use</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 to make decisions or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to predict</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predicting</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 the future.</a:t>
            </a:r>
            <a:endParaRPr lang="en-US" altLang="ko-KR" sz="1750" b="0" dirty="0">
              <a:solidFill>
                <a:srgbClr val="1F2328"/>
              </a:solidFill>
              <a:latin typeface="Calibri"/>
              <a:ea typeface="맑은 고딕"/>
              <a:cs typeface="Calibri"/>
            </a:endParaRPr>
          </a:p>
        </p:txBody>
      </p:sp>
      <p:sp>
        <p:nvSpPr>
          <p:cNvPr id="12" name="rv_g04"/>
          <p:cNvSpPr txBox="1"/>
          <p:nvPr/>
        </p:nvSpPr>
        <p:spPr>
          <a:xfrm>
            <a:off x="457200" y="950976"/>
            <a:ext cx="11277295" cy="4999735"/>
          </a:xfrm>
          <a:prstGeom prst="rect">
            <a:avLst/>
          </a:prstGeom>
          <a:noFill/>
        </p:spPr>
        <p:txBody>
          <a:bodyPr wrap="square" lIns="228600" tIns="155448" rIns="228600" bIns="155448" anchor="t" rtlCol="0">
            <a:noAutofit/>
          </a:bodyPr>
          <a:lstStyle/>
          <a:p>
            <a:pPr algn="l">
              <a:lnSpc>
                <a:spcPts val="2840"/>
              </a:lnSpc>
              <a:spcBef>
                <a:spcPts val="0"/>
              </a:spcBef>
              <a:spcAft>
                <a:spcPts val="0"/>
              </a:spcAft>
              <a:buNone/>
            </a:pPr>
            <a:r>
              <a:rPr lang="ko-KR" altLang="en-US" sz="1750" b="1" dirty="0">
                <a:solidFill>
                  <a:srgbClr val="1E2A5A">
                    <a:alpha val="0"/>
                  </a:srgbClr>
                </a:solidFill>
                <a:latin typeface="맑은 고딕"/>
                <a:ea typeface="맑은 고딕"/>
                <a:cs typeface="맑은 고딕"/>
              </a:rPr>
              <a:t>①</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Have you ever visited an online bookstore and been surprised by the books that the store recommended for you?</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②</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Many of them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looked interesting</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looked interestingly</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 to you.</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③</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So how did the bookstore know what you liked?</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④</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This is all possible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because of big data</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because big data</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⑤</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Big data is data sets that are very big and complex.</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⑥</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As information and communication technology develops, the amount of data we have is getting much greater than before.</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⑦</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This is mainly because almost everything that we do online leaves a trace.</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⑧</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For example, the photos you upload on your blog and the records of your purchases at online stores are all part of big data.</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⑨</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Simply collecting data, however,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is not enough</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are not enough</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⑩</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Big data has to </a:t>
            </a:r>
            <a:r>
              <a:rPr lang="en-US" altLang="ko-KR" sz="1750" b="1" dirty="0">
                <a:solidFill>
                  <a:srgbClr val="1F2328">
                    <a:alpha val="0"/>
                  </a:srgbClr>
                </a:solidFill>
                <a:latin typeface="Calibri"/>
                <a:ea typeface="맑은 고딕"/>
                <a:cs typeface="Calibri"/>
              </a:rPr>
              <a:t>[ </a:t>
            </a:r>
            <a:r>
              <a:rPr lang="en-US" altLang="ko-KR" sz="1750" b="1" dirty="0">
                <a:solidFill>
                  <a:srgbClr val="C00000"/>
                </a:solidFill>
                <a:highlight>
                  <a:srgbClr val="F3F5F9"/>
                </a:highlight>
                <a:latin typeface="Calibri"/>
                <a:ea typeface="맑은 고딕"/>
                <a:cs typeface="Calibri"/>
              </a:rPr>
              <a:t>be analyzed</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analyze</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 and this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is done</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is doing</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 by big data experts.</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⑪</a:t>
            </a:r>
            <a:r>
              <a:rPr lang="en-US" altLang="ko-KR" sz="1750" b="0"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Using various methods</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Used various methods</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 experts analyze big data and draw meaningful results from it.</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⑫</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These results then can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be used</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use</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 to make decisions or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to predict</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predicting</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 the future.</a:t>
            </a:r>
            <a:endParaRPr lang="en-US" altLang="ko-KR" sz="1750" b="0" dirty="0">
              <a:solidFill>
                <a:srgbClr val="1F2328"/>
              </a:solidFill>
              <a:latin typeface="Calibri"/>
              <a:ea typeface="맑은 고딕"/>
              <a:cs typeface="Calibri"/>
            </a:endParaRPr>
          </a:p>
        </p:txBody>
      </p:sp>
      <p:sp>
        <p:nvSpPr>
          <p:cNvPr id="13" name="rv_g05"/>
          <p:cNvSpPr txBox="1"/>
          <p:nvPr/>
        </p:nvSpPr>
        <p:spPr>
          <a:xfrm>
            <a:off x="457200" y="950976"/>
            <a:ext cx="11277295" cy="4999735"/>
          </a:xfrm>
          <a:prstGeom prst="rect">
            <a:avLst/>
          </a:prstGeom>
          <a:noFill/>
        </p:spPr>
        <p:txBody>
          <a:bodyPr wrap="square" lIns="228600" tIns="155448" rIns="228600" bIns="155448" anchor="t" rtlCol="0">
            <a:noAutofit/>
          </a:bodyPr>
          <a:lstStyle/>
          <a:p>
            <a:pPr algn="l">
              <a:lnSpc>
                <a:spcPts val="2840"/>
              </a:lnSpc>
              <a:spcBef>
                <a:spcPts val="0"/>
              </a:spcBef>
              <a:spcAft>
                <a:spcPts val="0"/>
              </a:spcAft>
              <a:buNone/>
            </a:pPr>
            <a:r>
              <a:rPr lang="ko-KR" altLang="en-US" sz="1750" b="1" dirty="0">
                <a:solidFill>
                  <a:srgbClr val="1E2A5A">
                    <a:alpha val="0"/>
                  </a:srgbClr>
                </a:solidFill>
                <a:latin typeface="맑은 고딕"/>
                <a:ea typeface="맑은 고딕"/>
                <a:cs typeface="맑은 고딕"/>
              </a:rPr>
              <a:t>①</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Have you ever visited an online bookstore and been surprised by the books that the store recommended for you?</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②</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Many of them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looked interesting</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looked interestingly</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 to you.</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③</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So how did the bookstore know what you liked?</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④</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This is all possible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because of big data</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because big data</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⑤</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Big data is data sets that are very big and complex.</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⑥</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As information and communication technology develops, the amount of data we have is getting much greater than before.</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⑦</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This is mainly because almost everything that we do online leaves a trace.</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⑧</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For example, the photos you upload on your blog and the records of your purchases at online stores are all part of big data.</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⑨</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Simply collecting data, however,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is not enough</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are not enough</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⑩</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Big data has to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be analyzed</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analyze</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 and this </a:t>
            </a:r>
            <a:r>
              <a:rPr lang="en-US" altLang="ko-KR" sz="1750" b="1" dirty="0">
                <a:solidFill>
                  <a:srgbClr val="1F2328">
                    <a:alpha val="0"/>
                  </a:srgbClr>
                </a:solidFill>
                <a:latin typeface="Calibri"/>
                <a:ea typeface="맑은 고딕"/>
                <a:cs typeface="Calibri"/>
              </a:rPr>
              <a:t>[ </a:t>
            </a:r>
            <a:r>
              <a:rPr lang="en-US" altLang="ko-KR" sz="1750" b="1" dirty="0">
                <a:solidFill>
                  <a:srgbClr val="C00000"/>
                </a:solidFill>
                <a:highlight>
                  <a:srgbClr val="F3F5F9"/>
                </a:highlight>
                <a:latin typeface="Calibri"/>
                <a:ea typeface="맑은 고딕"/>
                <a:cs typeface="Calibri"/>
              </a:rPr>
              <a:t>is done</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is doing</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 by big data experts.</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⑪</a:t>
            </a:r>
            <a:r>
              <a:rPr lang="en-US" altLang="ko-KR" sz="1750" b="0"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Using various methods</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Used various methods</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 experts analyze big data and draw meaningful results from it.</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⑫</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These results then can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be used</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use</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 to make decisions or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to predict</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predicting</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 the future.</a:t>
            </a:r>
            <a:endParaRPr lang="en-US" altLang="ko-KR" sz="1750" b="0" dirty="0">
              <a:solidFill>
                <a:srgbClr val="1F2328"/>
              </a:solidFill>
              <a:latin typeface="Calibri"/>
              <a:ea typeface="맑은 고딕"/>
              <a:cs typeface="Calibri"/>
            </a:endParaRPr>
          </a:p>
        </p:txBody>
      </p:sp>
      <p:sp>
        <p:nvSpPr>
          <p:cNvPr id="14" name="rv_g06"/>
          <p:cNvSpPr txBox="1"/>
          <p:nvPr/>
        </p:nvSpPr>
        <p:spPr>
          <a:xfrm>
            <a:off x="457200" y="950976"/>
            <a:ext cx="11277295" cy="4999735"/>
          </a:xfrm>
          <a:prstGeom prst="rect">
            <a:avLst/>
          </a:prstGeom>
          <a:noFill/>
        </p:spPr>
        <p:txBody>
          <a:bodyPr wrap="square" lIns="228600" tIns="155448" rIns="228600" bIns="155448" anchor="t" rtlCol="0">
            <a:noAutofit/>
          </a:bodyPr>
          <a:lstStyle/>
          <a:p>
            <a:pPr algn="l">
              <a:lnSpc>
                <a:spcPts val="2840"/>
              </a:lnSpc>
              <a:spcBef>
                <a:spcPts val="0"/>
              </a:spcBef>
              <a:spcAft>
                <a:spcPts val="0"/>
              </a:spcAft>
              <a:buNone/>
            </a:pPr>
            <a:r>
              <a:rPr lang="ko-KR" altLang="en-US" sz="1750" b="1" dirty="0">
                <a:solidFill>
                  <a:srgbClr val="1E2A5A">
                    <a:alpha val="0"/>
                  </a:srgbClr>
                </a:solidFill>
                <a:latin typeface="맑은 고딕"/>
                <a:ea typeface="맑은 고딕"/>
                <a:cs typeface="맑은 고딕"/>
              </a:rPr>
              <a:t>①</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Have you ever visited an online bookstore and been surprised by the books that the store recommended for you?</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②</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Many of them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looked interesting</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looked interestingly</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 to you.</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③</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So how did the bookstore know what you liked?</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④</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This is all possible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because of big data</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because big data</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⑤</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Big data is data sets that are very big and complex.</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⑥</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As information and communication technology develops, the amount of data we have is getting much greater than before.</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⑦</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This is mainly because almost everything that we do online leaves a trace.</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⑧</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For example, the photos you upload on your blog and the records of your purchases at online stores are all part of big data.</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⑨</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Simply collecting data, however,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is not enough</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are not enough</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⑩</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Big data has to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be analyzed</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analyze</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 and this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is done</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is doing</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 by big data experts.</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⑪</a:t>
            </a:r>
            <a:r>
              <a:rPr lang="en-US" altLang="ko-KR" sz="1750" b="0"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 </a:t>
            </a:r>
            <a:r>
              <a:rPr lang="en-US" altLang="ko-KR" sz="1750" b="1" dirty="0">
                <a:solidFill>
                  <a:srgbClr val="C00000"/>
                </a:solidFill>
                <a:highlight>
                  <a:srgbClr val="F3F5F9"/>
                </a:highlight>
                <a:latin typeface="Calibri"/>
                <a:ea typeface="맑은 고딕"/>
                <a:cs typeface="Calibri"/>
              </a:rPr>
              <a:t>Using various methods</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Used various methods</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 experts analyze big data and draw meaningful results from it.</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⑫</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These results then can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be used</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use</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 to make decisions or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to predict</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predicting</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 the future.</a:t>
            </a:r>
            <a:endParaRPr lang="en-US" altLang="ko-KR" sz="1750" b="0" dirty="0">
              <a:solidFill>
                <a:srgbClr val="1F2328"/>
              </a:solidFill>
              <a:latin typeface="Calibri"/>
              <a:ea typeface="맑은 고딕"/>
              <a:cs typeface="Calibri"/>
            </a:endParaRPr>
          </a:p>
        </p:txBody>
      </p:sp>
      <p:sp>
        <p:nvSpPr>
          <p:cNvPr id="15" name="rv_g07"/>
          <p:cNvSpPr txBox="1"/>
          <p:nvPr/>
        </p:nvSpPr>
        <p:spPr>
          <a:xfrm>
            <a:off x="457200" y="950976"/>
            <a:ext cx="11277295" cy="4999735"/>
          </a:xfrm>
          <a:prstGeom prst="rect">
            <a:avLst/>
          </a:prstGeom>
          <a:noFill/>
        </p:spPr>
        <p:txBody>
          <a:bodyPr wrap="square" lIns="228600" tIns="155448" rIns="228600" bIns="155448" anchor="t" rtlCol="0">
            <a:noAutofit/>
          </a:bodyPr>
          <a:lstStyle/>
          <a:p>
            <a:pPr algn="l">
              <a:lnSpc>
                <a:spcPts val="2840"/>
              </a:lnSpc>
              <a:spcBef>
                <a:spcPts val="0"/>
              </a:spcBef>
              <a:spcAft>
                <a:spcPts val="0"/>
              </a:spcAft>
              <a:buNone/>
            </a:pPr>
            <a:r>
              <a:rPr lang="ko-KR" altLang="en-US" sz="1750" b="1" dirty="0">
                <a:solidFill>
                  <a:srgbClr val="1E2A5A">
                    <a:alpha val="0"/>
                  </a:srgbClr>
                </a:solidFill>
                <a:latin typeface="맑은 고딕"/>
                <a:ea typeface="맑은 고딕"/>
                <a:cs typeface="맑은 고딕"/>
              </a:rPr>
              <a:t>①</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Have you ever visited an online bookstore and been surprised by the books that the store recommended for you?</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②</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Many of them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looked interesting</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looked interestingly</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 to you.</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③</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So how did the bookstore know what you liked?</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④</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This is all possible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because of big data</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because big data</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⑤</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Big data is data sets that are very big and complex.</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⑥</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As information and communication technology develops, the amount of data we have is getting much greater than before.</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⑦</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This is mainly because almost everything that we do online leaves a trace.</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⑧</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For example, the photos you upload on your blog and the records of your purchases at online stores are all part of big data.</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⑨</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Simply collecting data, however,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is not enough</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are not enough</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⑩</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Big data has to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be analyzed</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analyze</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 and this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is done</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is doing</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 by big data experts.</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⑪</a:t>
            </a:r>
            <a:r>
              <a:rPr lang="en-US" altLang="ko-KR" sz="1750" b="0"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Using various methods</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Used various methods</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 experts analyze big data and draw meaningful results from it.</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⑫</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These results then can </a:t>
            </a:r>
            <a:r>
              <a:rPr lang="en-US" altLang="ko-KR" sz="1750" b="1" dirty="0">
                <a:solidFill>
                  <a:srgbClr val="1F2328">
                    <a:alpha val="0"/>
                  </a:srgbClr>
                </a:solidFill>
                <a:latin typeface="Calibri"/>
                <a:ea typeface="맑은 고딕"/>
                <a:cs typeface="Calibri"/>
              </a:rPr>
              <a:t>[ </a:t>
            </a:r>
            <a:r>
              <a:rPr lang="en-US" altLang="ko-KR" sz="1750" b="1" dirty="0">
                <a:solidFill>
                  <a:srgbClr val="C00000"/>
                </a:solidFill>
                <a:highlight>
                  <a:srgbClr val="F3F5F9"/>
                </a:highlight>
                <a:latin typeface="Calibri"/>
                <a:ea typeface="맑은 고딕"/>
                <a:cs typeface="Calibri"/>
              </a:rPr>
              <a:t>be used</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use</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 to make decisions or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to predict</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predicting</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 the future.</a:t>
            </a:r>
            <a:endParaRPr lang="en-US" altLang="ko-KR" sz="1750" b="0" dirty="0">
              <a:solidFill>
                <a:srgbClr val="1F2328"/>
              </a:solidFill>
              <a:latin typeface="Calibri"/>
              <a:ea typeface="맑은 고딕"/>
              <a:cs typeface="Calibri"/>
            </a:endParaRPr>
          </a:p>
        </p:txBody>
      </p:sp>
      <p:sp>
        <p:nvSpPr>
          <p:cNvPr id="16" name="rv_g08"/>
          <p:cNvSpPr txBox="1"/>
          <p:nvPr/>
        </p:nvSpPr>
        <p:spPr>
          <a:xfrm>
            <a:off x="457200" y="950976"/>
            <a:ext cx="11277295" cy="4999735"/>
          </a:xfrm>
          <a:prstGeom prst="rect">
            <a:avLst/>
          </a:prstGeom>
          <a:noFill/>
        </p:spPr>
        <p:txBody>
          <a:bodyPr wrap="square" lIns="228600" tIns="155448" rIns="228600" bIns="155448" anchor="t" rtlCol="0">
            <a:noAutofit/>
          </a:bodyPr>
          <a:lstStyle/>
          <a:p>
            <a:pPr algn="l">
              <a:lnSpc>
                <a:spcPts val="2840"/>
              </a:lnSpc>
              <a:spcBef>
                <a:spcPts val="0"/>
              </a:spcBef>
              <a:spcAft>
                <a:spcPts val="0"/>
              </a:spcAft>
              <a:buNone/>
            </a:pPr>
            <a:r>
              <a:rPr lang="ko-KR" altLang="en-US" sz="1750" b="1" dirty="0">
                <a:solidFill>
                  <a:srgbClr val="1E2A5A">
                    <a:alpha val="0"/>
                  </a:srgbClr>
                </a:solidFill>
                <a:latin typeface="맑은 고딕"/>
                <a:ea typeface="맑은 고딕"/>
                <a:cs typeface="맑은 고딕"/>
              </a:rPr>
              <a:t>①</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Have you ever visited an online bookstore and been surprised by the books that the store recommended for you?</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②</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Many of them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looked interesting</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looked interestingly</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 to you.</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③</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So how did the bookstore know what you liked?</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④</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This is all possible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because of big data</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because big data</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⑤</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Big data is data sets that are very big and complex.</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⑥</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As information and communication technology develops, the amount of data we have is getting much greater than before.</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⑦</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This is mainly because almost everything that we do online leaves a trace.</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⑧</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For example, the photos you upload on your blog and the records of your purchases at online stores are all part of big data.</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⑨</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Simply collecting data, however,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is not enough</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are not enough</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⑩</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Big data has to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be analyzed</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analyze</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 and this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is done</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is doing</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 by big data experts.</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⑪</a:t>
            </a:r>
            <a:r>
              <a:rPr lang="en-US" altLang="ko-KR" sz="1750" b="0"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Using various methods</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Used various methods</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 experts analyze big data and draw meaningful results from it.</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⑫</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These results then can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be used</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use</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 to make decisions or </a:t>
            </a:r>
            <a:r>
              <a:rPr lang="en-US" altLang="ko-KR" sz="1750" b="1" dirty="0">
                <a:solidFill>
                  <a:srgbClr val="1F2328">
                    <a:alpha val="0"/>
                  </a:srgbClr>
                </a:solidFill>
                <a:latin typeface="Calibri"/>
                <a:ea typeface="맑은 고딕"/>
                <a:cs typeface="Calibri"/>
              </a:rPr>
              <a:t>[ </a:t>
            </a:r>
            <a:r>
              <a:rPr lang="en-US" altLang="ko-KR" sz="1750" b="1" dirty="0">
                <a:solidFill>
                  <a:srgbClr val="C00000"/>
                </a:solidFill>
                <a:highlight>
                  <a:srgbClr val="F3F5F9"/>
                </a:highlight>
                <a:latin typeface="Calibri"/>
                <a:ea typeface="맑은 고딕"/>
                <a:cs typeface="Calibri"/>
              </a:rPr>
              <a:t>to predict</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predicting</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 the future.</a:t>
            </a:r>
            <a:endParaRPr lang="en-US" altLang="ko-KR" sz="1750" b="0" dirty="0">
              <a:solidFill>
                <a:srgbClr val="1F2328"/>
              </a:solidFill>
              <a:latin typeface="Calibri"/>
              <a:ea typeface="맑은 고딕"/>
              <a:cs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25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25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25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250"/>
                                        <p:tgtEl>
                                          <p:spTgt spid="12"/>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250"/>
                                        <p:tgtEl>
                                          <p:spTgt spid="13"/>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4"/>
                                        </p:tgtEl>
                                        <p:attrNameLst>
                                          <p:attrName>style.visibility</p:attrName>
                                        </p:attrNameLst>
                                      </p:cBhvr>
                                      <p:to>
                                        <p:strVal val="visible"/>
                                      </p:to>
                                    </p:set>
                                    <p:animEffect transition="in" filter="fade">
                                      <p:cBhvr>
                                        <p:cTn id="32" dur="250"/>
                                        <p:tgtEl>
                                          <p:spTgt spid="14"/>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5"/>
                                        </p:tgtEl>
                                        <p:attrNameLst>
                                          <p:attrName>style.visibility</p:attrName>
                                        </p:attrNameLst>
                                      </p:cBhvr>
                                      <p:to>
                                        <p:strVal val="visible"/>
                                      </p:to>
                                    </p:set>
                                    <p:animEffect transition="in" filter="fade">
                                      <p:cBhvr>
                                        <p:cTn id="37" dur="250"/>
                                        <p:tgtEl>
                                          <p:spTgt spid="15"/>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16"/>
                                        </p:tgtEl>
                                        <p:attrNameLst>
                                          <p:attrName>style.visibility</p:attrName>
                                        </p:attrNameLst>
                                      </p:cBhvr>
                                      <p:to>
                                        <p:strVal val="visible"/>
                                      </p:to>
                                    </p:set>
                                    <p:animEffect transition="in" filter="fade">
                                      <p:cBhvr>
                                        <p:cTn id="42" dur="25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4" grpId="0" animBg="1"/>
      <p:bldP spid="15" grpId="0" animBg="1"/>
      <p:bldP spid="16" grpId="0" animBg="1"/>
    </p:bldLst>
  </p:timing>
</p:sld>
</file>

<file path=ppt/slides/slide16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L7-2</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1 · 1</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1. 다음 글의 주제로 가장 적절한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7</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본문 근거 형광 + 정답 원리</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176021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1760219"/>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1F2328"/>
                </a:solidFill>
                <a:latin typeface="Calibri"/>
                <a:ea typeface="맑은 고딕"/>
                <a:cs typeface="Calibri"/>
              </a:rPr>
              <a:t>Big data is influencing almost all parts of our lives.</a:t>
            </a:r>
            <a:r>
              <a:rPr lang="en-US" altLang="ko-KR" sz="1500" b="0" dirty="0">
                <a:solidFill>
                  <a:srgbClr val="1F2328"/>
                </a:solidFill>
                <a:latin typeface="Calibri"/>
                <a:ea typeface="맑은 고딕"/>
                <a:cs typeface="Calibri"/>
              </a:rPr>
              <a:t> It helps companies understand their customers’ needs better and helps them sell more products. It helps people avoid heavy traffic. </a:t>
            </a:r>
            <a:r>
              <a:rPr lang="en-US" altLang="ko-KR" sz="1500" b="0" dirty="0">
                <a:solidFill>
                  <a:srgbClr val="1F2328"/>
                </a:solidFill>
                <a:latin typeface="Calibri"/>
                <a:ea typeface="맑은 고딕"/>
                <a:cs typeface="Calibri"/>
              </a:rPr>
              <a:t>Its uses are endless, and here are some interesting examples.</a:t>
            </a:r>
            <a:r>
              <a:rPr lang="en-US" altLang="ko-KR" sz="1500" b="0" dirty="0">
                <a:solidFill>
                  <a:srgbClr val="1F2328"/>
                </a:solidFill>
                <a:latin typeface="Calibri"/>
                <a:ea typeface="맑은 고딕"/>
                <a:cs typeface="Calibri"/>
              </a:rPr>
              <a:t> Did you know that health professionals can now forecast a disease just as weather experts forecast the weather? This is possible thanks to big data. For example, when the flu season comes, people will buy more flu medicine. They will also search online about flu symptoms more. If this kind of data is analyzed wisely, the spread of the flu can be predicted.</a:t>
            </a:r>
            <a:endParaRPr lang="en-US" altLang="ko-KR" sz="1500" b="0" dirty="0">
              <a:solidFill>
                <a:srgbClr val="1F2328"/>
              </a:solidFill>
              <a:latin typeface="Calibri"/>
              <a:ea typeface="맑은 고딕"/>
              <a:cs typeface="Calibri"/>
            </a:endParaRPr>
          </a:p>
        </p:txBody>
      </p:sp>
      <p:sp>
        <p:nvSpPr>
          <p:cNvPr id="9" name="rv_evidence_card"/>
          <p:cNvSpPr/>
          <p:nvPr/>
        </p:nvSpPr>
        <p:spPr>
          <a:xfrm>
            <a:off x="457200" y="950976"/>
            <a:ext cx="11277295" cy="176021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rv_evidence"/>
          <p:cNvSpPr txBox="1"/>
          <p:nvPr/>
        </p:nvSpPr>
        <p:spPr>
          <a:xfrm>
            <a:off x="457200" y="950976"/>
            <a:ext cx="11277295" cy="1760219"/>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111111"/>
                </a:solidFill>
                <a:highlight>
                  <a:srgbClr val="FFE45C"/>
                </a:highlight>
                <a:latin typeface="Calibri"/>
                <a:ea typeface="맑은 고딕"/>
                <a:cs typeface="Calibri"/>
              </a:rPr>
              <a:t>Big data is influencing almost all parts of our lives.</a:t>
            </a:r>
            <a:r>
              <a:rPr lang="en-US" altLang="ko-KR" sz="1500" b="0" dirty="0">
                <a:solidFill>
                  <a:srgbClr val="B3BAC6"/>
                </a:solidFill>
                <a:latin typeface="Calibri"/>
                <a:ea typeface="맑은 고딕"/>
                <a:cs typeface="Calibri"/>
              </a:rPr>
              <a:t> It helps companies understand their customers’ needs better and helps them sell more products. It helps people avoid heavy traffic. </a:t>
            </a:r>
            <a:r>
              <a:rPr lang="en-US" altLang="ko-KR" sz="1500" b="0" dirty="0">
                <a:solidFill>
                  <a:srgbClr val="111111"/>
                </a:solidFill>
                <a:highlight>
                  <a:srgbClr val="FFE45C"/>
                </a:highlight>
                <a:latin typeface="Calibri"/>
                <a:ea typeface="맑은 고딕"/>
                <a:cs typeface="Calibri"/>
              </a:rPr>
              <a:t>Its uses are endless, and here are some interesting examples.</a:t>
            </a:r>
            <a:r>
              <a:rPr lang="en-US" altLang="ko-KR" sz="1500" b="0" dirty="0">
                <a:solidFill>
                  <a:srgbClr val="B3BAC6"/>
                </a:solidFill>
                <a:latin typeface="Calibri"/>
                <a:ea typeface="맑은 고딕"/>
                <a:cs typeface="Calibri"/>
              </a:rPr>
              <a:t> Did you know that health professionals can now forecast a disease just as weather experts forecast the weather? This is possible thanks to big data. For example, when the flu season comes, people will buy more flu medicine. They will also search online about flu symptoms more. If this kind of data is analyzed wisely, the spread of the flu can be predicted.</a:t>
            </a:r>
            <a:endParaRPr lang="en-US" altLang="ko-KR" sz="1500" b="0" dirty="0">
              <a:solidFill>
                <a:srgbClr val="B3BAC6"/>
              </a:solidFill>
              <a:latin typeface="Calibri"/>
              <a:ea typeface="맑은 고딕"/>
              <a:cs typeface="Calibri"/>
            </a:endParaRPr>
          </a:p>
        </p:txBody>
      </p:sp>
      <p:sp>
        <p:nvSpPr>
          <p:cNvPr id="11" name="choice_1"/>
          <p:cNvSpPr txBox="1"/>
          <p:nvPr/>
        </p:nvSpPr>
        <p:spPr>
          <a:xfrm>
            <a:off x="457200" y="2857500"/>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①</a:t>
            </a:r>
            <a:r>
              <a:rPr lang="en-US" altLang="ko-KR" sz="1800" b="0" dirty="0">
                <a:solidFill>
                  <a:srgbClr val="1F2328"/>
                </a:solidFill>
                <a:latin typeface="Calibri"/>
                <a:ea typeface="맑은 고딕"/>
                <a:cs typeface="Calibri"/>
              </a:rPr>
              <a:t>	the reasons people search online about the flu</a:t>
            </a:r>
            <a:endParaRPr lang="en-US" altLang="ko-KR" sz="1800" b="0" dirty="0">
              <a:solidFill>
                <a:srgbClr val="1F2328"/>
              </a:solidFill>
              <a:latin typeface="Calibri"/>
              <a:ea typeface="맑은 고딕"/>
              <a:cs typeface="Calibri"/>
            </a:endParaRPr>
          </a:p>
        </p:txBody>
      </p:sp>
      <p:sp>
        <p:nvSpPr>
          <p:cNvPr id="12" name="choice_2"/>
          <p:cNvSpPr txBox="1"/>
          <p:nvPr/>
        </p:nvSpPr>
        <p:spPr>
          <a:xfrm>
            <a:off x="457200" y="3264916"/>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②</a:t>
            </a:r>
            <a:r>
              <a:rPr lang="en-US" altLang="ko-KR" sz="1800" b="0" dirty="0">
                <a:solidFill>
                  <a:srgbClr val="1F2328"/>
                </a:solidFill>
                <a:latin typeface="Calibri"/>
                <a:ea typeface="맑은 고딕"/>
                <a:cs typeface="Calibri"/>
              </a:rPr>
              <a:t>	the various ways big data affects our lives</a:t>
            </a:r>
            <a:endParaRPr lang="en-US" altLang="ko-KR" sz="1800" b="0" dirty="0">
              <a:solidFill>
                <a:srgbClr val="1F2328"/>
              </a:solidFill>
              <a:latin typeface="Calibri"/>
              <a:ea typeface="맑은 고딕"/>
              <a:cs typeface="Calibri"/>
            </a:endParaRPr>
          </a:p>
        </p:txBody>
      </p:sp>
      <p:sp>
        <p:nvSpPr>
          <p:cNvPr id="13" name="rv_pick"/>
          <p:cNvSpPr txBox="1"/>
          <p:nvPr/>
        </p:nvSpPr>
        <p:spPr>
          <a:xfrm>
            <a:off x="457200" y="3264916"/>
            <a:ext cx="11277295" cy="379984"/>
          </a:xfrm>
          <a:prstGeom prst="rect">
            <a:avLst/>
          </a:prstGeom>
          <a:solidFill>
            <a:srgbClr val="FFF3C4"/>
          </a:solid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C00000"/>
                </a:solidFill>
                <a:latin typeface="맑은 고딕"/>
                <a:ea typeface="맑은 고딕"/>
                <a:cs typeface="맑은 고딕"/>
              </a:rPr>
              <a:t>②</a:t>
            </a:r>
            <a:r>
              <a:rPr lang="en-US" altLang="ko-KR" sz="1800" b="0" dirty="0">
                <a:solidFill>
                  <a:srgbClr val="C00000"/>
                </a:solidFill>
                <a:latin typeface="Calibri"/>
                <a:ea typeface="맑은 고딕"/>
                <a:cs typeface="Calibri"/>
              </a:rPr>
              <a:t>	the various ways big data affects our lives</a:t>
            </a:r>
            <a:endParaRPr lang="en-US" altLang="ko-KR" sz="1800" b="0" dirty="0">
              <a:solidFill>
                <a:srgbClr val="C00000"/>
              </a:solidFill>
              <a:latin typeface="Calibri"/>
              <a:ea typeface="맑은 고딕"/>
              <a:cs typeface="Calibri"/>
            </a:endParaRPr>
          </a:p>
        </p:txBody>
      </p:sp>
      <p:sp>
        <p:nvSpPr>
          <p:cNvPr id="14" name="choice_3"/>
          <p:cNvSpPr txBox="1"/>
          <p:nvPr/>
        </p:nvSpPr>
        <p:spPr>
          <a:xfrm>
            <a:off x="457200" y="3672332"/>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③</a:t>
            </a:r>
            <a:r>
              <a:rPr lang="en-US" altLang="ko-KR" sz="1800" b="0" dirty="0">
                <a:solidFill>
                  <a:srgbClr val="1F2328"/>
                </a:solidFill>
                <a:latin typeface="Calibri"/>
                <a:ea typeface="맑은 고딕"/>
                <a:cs typeface="Calibri"/>
              </a:rPr>
              <a:t>	how weather experts forecast the weather well</a:t>
            </a:r>
            <a:endParaRPr lang="en-US" altLang="ko-KR" sz="1800" b="0" dirty="0">
              <a:solidFill>
                <a:srgbClr val="1F2328"/>
              </a:solidFill>
              <a:latin typeface="Calibri"/>
              <a:ea typeface="맑은 고딕"/>
              <a:cs typeface="Calibri"/>
            </a:endParaRPr>
          </a:p>
        </p:txBody>
      </p:sp>
      <p:sp>
        <p:nvSpPr>
          <p:cNvPr id="15" name="choice_4"/>
          <p:cNvSpPr txBox="1"/>
          <p:nvPr/>
        </p:nvSpPr>
        <p:spPr>
          <a:xfrm>
            <a:off x="457200" y="4079748"/>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④</a:t>
            </a:r>
            <a:r>
              <a:rPr lang="en-US" altLang="ko-KR" sz="1800" b="0" dirty="0">
                <a:solidFill>
                  <a:srgbClr val="1F2328"/>
                </a:solidFill>
                <a:latin typeface="Calibri"/>
                <a:ea typeface="맑은 고딕"/>
                <a:cs typeface="Calibri"/>
              </a:rPr>
              <a:t>	the difficulty of selling more flu medicine</a:t>
            </a:r>
            <a:endParaRPr lang="en-US" altLang="ko-KR" sz="1800" b="0" dirty="0">
              <a:solidFill>
                <a:srgbClr val="1F2328"/>
              </a:solidFill>
              <a:latin typeface="Calibri"/>
              <a:ea typeface="맑은 고딕"/>
              <a:cs typeface="Calibri"/>
            </a:endParaRPr>
          </a:p>
        </p:txBody>
      </p:sp>
      <p:sp>
        <p:nvSpPr>
          <p:cNvPr id="16" name="choice_5"/>
          <p:cNvSpPr txBox="1"/>
          <p:nvPr/>
        </p:nvSpPr>
        <p:spPr>
          <a:xfrm>
            <a:off x="457200" y="4487164"/>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⑤</a:t>
            </a:r>
            <a:r>
              <a:rPr lang="en-US" altLang="ko-KR" sz="1800" b="0" dirty="0">
                <a:solidFill>
                  <a:srgbClr val="1F2328"/>
                </a:solidFill>
                <a:latin typeface="Calibri"/>
                <a:ea typeface="맑은 고딕"/>
                <a:cs typeface="Calibri"/>
              </a:rPr>
              <a:t>	why heavy traffic happens in big cities</a:t>
            </a:r>
            <a:endParaRPr lang="en-US" altLang="ko-KR" sz="1800" b="0" dirty="0">
              <a:solidFill>
                <a:srgbClr val="1F2328"/>
              </a:solidFill>
              <a:latin typeface="Calibri"/>
              <a:ea typeface="맑은 고딕"/>
              <a:cs typeface="Calibri"/>
            </a:endParaRPr>
          </a:p>
        </p:txBody>
      </p:sp>
      <p:sp>
        <p:nvSpPr>
          <p:cNvPr id="17" name="rv_answer"/>
          <p:cNvSpPr/>
          <p:nvPr/>
        </p:nvSpPr>
        <p:spPr>
          <a:xfrm>
            <a:off x="457200" y="497687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② </a:t>
            </a:r>
            <a:r>
              <a:rPr lang="en-US" altLang="ko-KR" sz="1900" b="1" dirty="0">
                <a:solidFill>
                  <a:srgbClr val="5A4200"/>
                </a:solidFill>
                <a:latin typeface="Calibri"/>
                <a:ea typeface="맑은 고딕"/>
                <a:cs typeface="Calibri"/>
              </a:rPr>
              <a:t>the various ways big data affects our lives</a:t>
            </a:r>
            <a:endParaRPr lang="en-US" altLang="ko-KR" sz="1900" b="1" dirty="0">
              <a:solidFill>
                <a:srgbClr val="5A4200"/>
              </a:solidFill>
              <a:latin typeface="Calibri"/>
              <a:ea typeface="맑은 고딕"/>
              <a:cs typeface="Calibri"/>
            </a:endParaRPr>
          </a:p>
        </p:txBody>
      </p:sp>
      <p:sp>
        <p:nvSpPr>
          <p:cNvPr id="18" name="rv_why"/>
          <p:cNvSpPr/>
          <p:nvPr/>
        </p:nvSpPr>
        <p:spPr>
          <a:xfrm>
            <a:off x="457200" y="5575808"/>
            <a:ext cx="11277295" cy="84327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빅데이터가 삶의 거의 모든 부분에 영향을 주고 쓰임이 끝없다고 했다. 이를 담은 ②가 주제다.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250"/>
                                        <p:tgtEl>
                                          <p:spTgt spid="1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25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25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7" grpId="0" animBg="1"/>
      <p:bldP spid="9" grpId="0" animBg="1"/>
      <p:bldP spid="10" grpId="0" animBg="1"/>
      <p:bldP spid="18" grpId="0" animBg="1"/>
    </p:bldLst>
  </p:timing>
</p:sld>
</file>

<file path=ppt/slides/slide17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L7-2</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1 · 2</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2. 다음 글의 제목으로 가장 적절한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7</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본문 근거 형광 + 정답 원리</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176021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1760219"/>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1F2328"/>
                </a:solidFill>
                <a:latin typeface="Calibri"/>
                <a:ea typeface="맑은 고딕"/>
                <a:cs typeface="Calibri"/>
              </a:rPr>
              <a:t>Big data is influencing almost all parts of our lives. It helps companies understand their customers’ needs better and helps them sell more products. It helps people avoid heavy traffic. </a:t>
            </a:r>
            <a:r>
              <a:rPr lang="en-US" altLang="ko-KR" sz="1500" b="0" dirty="0">
                <a:solidFill>
                  <a:srgbClr val="1F2328"/>
                </a:solidFill>
                <a:latin typeface="Calibri"/>
                <a:ea typeface="맑은 고딕"/>
                <a:cs typeface="Calibri"/>
              </a:rPr>
              <a:t>Its uses are endless</a:t>
            </a:r>
            <a:r>
              <a:rPr lang="en-US" altLang="ko-KR" sz="1500" b="0" dirty="0">
                <a:solidFill>
                  <a:srgbClr val="1F2328"/>
                </a:solidFill>
                <a:latin typeface="Calibri"/>
                <a:ea typeface="맑은 고딕"/>
                <a:cs typeface="Calibri"/>
              </a:rPr>
              <a:t>, and here are some interesting examples. Did you know that health professionals can now forecast a disease just as weather experts forecast the weather? This is possible thanks to big data. For example, when the flu season comes, people will buy more flu medicine. They will also search online about flu symptoms more. If this kind of data is analyzed wisely, the spread of the flu can be predicted.</a:t>
            </a:r>
            <a:endParaRPr lang="en-US" altLang="ko-KR" sz="1500" b="0" dirty="0">
              <a:solidFill>
                <a:srgbClr val="1F2328"/>
              </a:solidFill>
              <a:latin typeface="Calibri"/>
              <a:ea typeface="맑은 고딕"/>
              <a:cs typeface="Calibri"/>
            </a:endParaRPr>
          </a:p>
        </p:txBody>
      </p:sp>
      <p:sp>
        <p:nvSpPr>
          <p:cNvPr id="9" name="rv_evidence_card"/>
          <p:cNvSpPr/>
          <p:nvPr/>
        </p:nvSpPr>
        <p:spPr>
          <a:xfrm>
            <a:off x="457200" y="950976"/>
            <a:ext cx="11277295" cy="176021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rv_evidence"/>
          <p:cNvSpPr txBox="1"/>
          <p:nvPr/>
        </p:nvSpPr>
        <p:spPr>
          <a:xfrm>
            <a:off x="457200" y="950976"/>
            <a:ext cx="11277295" cy="1760219"/>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B3BAC6"/>
                </a:solidFill>
                <a:latin typeface="Calibri"/>
                <a:ea typeface="맑은 고딕"/>
                <a:cs typeface="Calibri"/>
              </a:rPr>
              <a:t>Big data is influencing almost all parts of our lives. It helps companies understand their customers’ needs better and helps them sell more products. It helps people avoid heavy traffic. </a:t>
            </a:r>
            <a:r>
              <a:rPr lang="en-US" altLang="ko-KR" sz="1500" b="0" dirty="0">
                <a:solidFill>
                  <a:srgbClr val="111111"/>
                </a:solidFill>
                <a:highlight>
                  <a:srgbClr val="FFE45C"/>
                </a:highlight>
                <a:latin typeface="Calibri"/>
                <a:ea typeface="맑은 고딕"/>
                <a:cs typeface="Calibri"/>
              </a:rPr>
              <a:t>Its uses are endless</a:t>
            </a:r>
            <a:r>
              <a:rPr lang="en-US" altLang="ko-KR" sz="1500" b="0" dirty="0">
                <a:solidFill>
                  <a:srgbClr val="B3BAC6"/>
                </a:solidFill>
                <a:latin typeface="Calibri"/>
                <a:ea typeface="맑은 고딕"/>
                <a:cs typeface="Calibri"/>
              </a:rPr>
              <a:t>, and here are some interesting examples. Did you know that health professionals can now forecast a disease just as weather experts forecast the weather? This is possible thanks to big data. For example, when the flu season comes, people will buy more flu medicine. They will also search online about flu symptoms more. If this kind of data is analyzed wisely, the spread of the flu can be predicted.</a:t>
            </a:r>
            <a:endParaRPr lang="en-US" altLang="ko-KR" sz="1500" b="0" dirty="0">
              <a:solidFill>
                <a:srgbClr val="B3BAC6"/>
              </a:solidFill>
              <a:latin typeface="Calibri"/>
              <a:ea typeface="맑은 고딕"/>
              <a:cs typeface="Calibri"/>
            </a:endParaRPr>
          </a:p>
        </p:txBody>
      </p:sp>
      <p:sp>
        <p:nvSpPr>
          <p:cNvPr id="11" name="choice_1"/>
          <p:cNvSpPr txBox="1"/>
          <p:nvPr/>
        </p:nvSpPr>
        <p:spPr>
          <a:xfrm>
            <a:off x="457200" y="2857500"/>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①</a:t>
            </a:r>
            <a:r>
              <a:rPr lang="en-US" altLang="ko-KR" sz="1800" b="0" dirty="0">
                <a:solidFill>
                  <a:srgbClr val="1F2328"/>
                </a:solidFill>
                <a:latin typeface="Calibri"/>
                <a:ea typeface="맑은 고딕"/>
                <a:cs typeface="Calibri"/>
              </a:rPr>
              <a:t>	How to Avoid the Flu This Season</a:t>
            </a:r>
            <a:endParaRPr lang="en-US" altLang="ko-KR" sz="1800" b="0" dirty="0">
              <a:solidFill>
                <a:srgbClr val="1F2328"/>
              </a:solidFill>
              <a:latin typeface="Calibri"/>
              <a:ea typeface="맑은 고딕"/>
              <a:cs typeface="Calibri"/>
            </a:endParaRPr>
          </a:p>
        </p:txBody>
      </p:sp>
      <p:sp>
        <p:nvSpPr>
          <p:cNvPr id="12" name="choice_2"/>
          <p:cNvSpPr txBox="1"/>
          <p:nvPr/>
        </p:nvSpPr>
        <p:spPr>
          <a:xfrm>
            <a:off x="457200" y="3264916"/>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②</a:t>
            </a:r>
            <a:r>
              <a:rPr lang="en-US" altLang="ko-KR" sz="1800" b="0" dirty="0">
                <a:solidFill>
                  <a:srgbClr val="1F2328"/>
                </a:solidFill>
                <a:latin typeface="Calibri"/>
                <a:ea typeface="맑은 고딕"/>
                <a:cs typeface="Calibri"/>
              </a:rPr>
              <a:t>	Weather Experts Versus Doctors</a:t>
            </a:r>
            <a:endParaRPr lang="en-US" altLang="ko-KR" sz="1800" b="0" dirty="0">
              <a:solidFill>
                <a:srgbClr val="1F2328"/>
              </a:solidFill>
              <a:latin typeface="Calibri"/>
              <a:ea typeface="맑은 고딕"/>
              <a:cs typeface="Calibri"/>
            </a:endParaRPr>
          </a:p>
        </p:txBody>
      </p:sp>
      <p:sp>
        <p:nvSpPr>
          <p:cNvPr id="13" name="choice_3"/>
          <p:cNvSpPr txBox="1"/>
          <p:nvPr/>
        </p:nvSpPr>
        <p:spPr>
          <a:xfrm>
            <a:off x="457200" y="3672332"/>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③</a:t>
            </a:r>
            <a:r>
              <a:rPr lang="en-US" altLang="ko-KR" sz="1800" b="0" dirty="0">
                <a:solidFill>
                  <a:srgbClr val="1F2328"/>
                </a:solidFill>
                <a:latin typeface="Calibri"/>
                <a:ea typeface="맑은 고딕"/>
                <a:cs typeface="Calibri"/>
              </a:rPr>
              <a:t>	Big Data: Endless Uses in Our Lives</a:t>
            </a:r>
            <a:endParaRPr lang="en-US" altLang="ko-KR" sz="1800" b="0" dirty="0">
              <a:solidFill>
                <a:srgbClr val="1F2328"/>
              </a:solidFill>
              <a:latin typeface="Calibri"/>
              <a:ea typeface="맑은 고딕"/>
              <a:cs typeface="Calibri"/>
            </a:endParaRPr>
          </a:p>
        </p:txBody>
      </p:sp>
      <p:sp>
        <p:nvSpPr>
          <p:cNvPr id="14" name="rv_pick"/>
          <p:cNvSpPr txBox="1"/>
          <p:nvPr/>
        </p:nvSpPr>
        <p:spPr>
          <a:xfrm>
            <a:off x="457200" y="3672332"/>
            <a:ext cx="11277295" cy="379984"/>
          </a:xfrm>
          <a:prstGeom prst="rect">
            <a:avLst/>
          </a:prstGeom>
          <a:solidFill>
            <a:srgbClr val="FFF3C4"/>
          </a:solid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C00000"/>
                </a:solidFill>
                <a:latin typeface="맑은 고딕"/>
                <a:ea typeface="맑은 고딕"/>
                <a:cs typeface="맑은 고딕"/>
              </a:rPr>
              <a:t>③</a:t>
            </a:r>
            <a:r>
              <a:rPr lang="en-US" altLang="ko-KR" sz="1800" b="0" dirty="0">
                <a:solidFill>
                  <a:srgbClr val="C00000"/>
                </a:solidFill>
                <a:latin typeface="Calibri"/>
                <a:ea typeface="맑은 고딕"/>
                <a:cs typeface="Calibri"/>
              </a:rPr>
              <a:t>	Big Data: Endless Uses in Our Lives</a:t>
            </a:r>
            <a:endParaRPr lang="en-US" altLang="ko-KR" sz="1800" b="0" dirty="0">
              <a:solidFill>
                <a:srgbClr val="C00000"/>
              </a:solidFill>
              <a:latin typeface="Calibri"/>
              <a:ea typeface="맑은 고딕"/>
              <a:cs typeface="Calibri"/>
            </a:endParaRPr>
          </a:p>
        </p:txBody>
      </p:sp>
      <p:sp>
        <p:nvSpPr>
          <p:cNvPr id="15" name="choice_4"/>
          <p:cNvSpPr txBox="1"/>
          <p:nvPr/>
        </p:nvSpPr>
        <p:spPr>
          <a:xfrm>
            <a:off x="457200" y="4079748"/>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④</a:t>
            </a:r>
            <a:r>
              <a:rPr lang="en-US" altLang="ko-KR" sz="1800" b="0" dirty="0">
                <a:solidFill>
                  <a:srgbClr val="1F2328"/>
                </a:solidFill>
                <a:latin typeface="Calibri"/>
                <a:ea typeface="맑은 고딕"/>
                <a:cs typeface="Calibri"/>
              </a:rPr>
              <a:t>	Why Companies Sell More Products</a:t>
            </a:r>
            <a:endParaRPr lang="en-US" altLang="ko-KR" sz="1800" b="0" dirty="0">
              <a:solidFill>
                <a:srgbClr val="1F2328"/>
              </a:solidFill>
              <a:latin typeface="Calibri"/>
              <a:ea typeface="맑은 고딕"/>
              <a:cs typeface="Calibri"/>
            </a:endParaRPr>
          </a:p>
        </p:txBody>
      </p:sp>
      <p:sp>
        <p:nvSpPr>
          <p:cNvPr id="16" name="choice_5"/>
          <p:cNvSpPr txBox="1"/>
          <p:nvPr/>
        </p:nvSpPr>
        <p:spPr>
          <a:xfrm>
            <a:off x="457200" y="4487164"/>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⑤</a:t>
            </a:r>
            <a:r>
              <a:rPr lang="en-US" altLang="ko-KR" sz="1800" b="0" dirty="0">
                <a:solidFill>
                  <a:srgbClr val="1F2328"/>
                </a:solidFill>
                <a:latin typeface="Calibri"/>
                <a:ea typeface="맑은 고딕"/>
                <a:cs typeface="Calibri"/>
              </a:rPr>
              <a:t>	Searching Online Is Never Wise</a:t>
            </a:r>
            <a:endParaRPr lang="en-US" altLang="ko-KR" sz="1800" b="0" dirty="0">
              <a:solidFill>
                <a:srgbClr val="1F2328"/>
              </a:solidFill>
              <a:latin typeface="Calibri"/>
              <a:ea typeface="맑은 고딕"/>
              <a:cs typeface="Calibri"/>
            </a:endParaRPr>
          </a:p>
        </p:txBody>
      </p:sp>
      <p:sp>
        <p:nvSpPr>
          <p:cNvPr id="17" name="rv_answer"/>
          <p:cNvSpPr/>
          <p:nvPr/>
        </p:nvSpPr>
        <p:spPr>
          <a:xfrm>
            <a:off x="457200" y="497687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③ </a:t>
            </a:r>
            <a:r>
              <a:rPr lang="en-US" altLang="ko-KR" sz="1900" b="1" dirty="0">
                <a:solidFill>
                  <a:srgbClr val="5A4200"/>
                </a:solidFill>
                <a:latin typeface="Calibri"/>
                <a:ea typeface="맑은 고딕"/>
                <a:cs typeface="Calibri"/>
              </a:rPr>
              <a:t>Big Data: Endless Uses in Our Lives</a:t>
            </a:r>
            <a:endParaRPr lang="en-US" altLang="ko-KR" sz="1900" b="1" dirty="0">
              <a:solidFill>
                <a:srgbClr val="5A4200"/>
              </a:solidFill>
              <a:latin typeface="Calibri"/>
              <a:ea typeface="맑은 고딕"/>
              <a:cs typeface="Calibri"/>
            </a:endParaRPr>
          </a:p>
        </p:txBody>
      </p:sp>
      <p:sp>
        <p:nvSpPr>
          <p:cNvPr id="18" name="rv_why"/>
          <p:cNvSpPr/>
          <p:nvPr/>
        </p:nvSpPr>
        <p:spPr>
          <a:xfrm>
            <a:off x="457200" y="5575808"/>
            <a:ext cx="11277295" cy="84327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회사, 교통, 질병 예측 등 빅데이터의 다양한 쓰임을 소개하므로 'Endless Uses'를 담은 ③이 제목이다.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250"/>
                                        <p:tgtEl>
                                          <p:spTgt spid="1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25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25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7" grpId="0" animBg="1"/>
      <p:bldP spid="9" grpId="0" animBg="1"/>
      <p:bldP spid="10" grpId="0" animBg="1"/>
      <p:bldP spid="18" grpId="0" animBg="1"/>
    </p:bldLst>
  </p:timing>
</p:sld>
</file>

<file path=ppt/slides/slide17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L7-2</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1 · 3</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3. 다음 글에서 필자가 주장하는 바로 가장 적절한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7</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본문 근거 형광 + 정답 원리</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176021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1760219"/>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1F2328"/>
                </a:solidFill>
                <a:latin typeface="Calibri"/>
                <a:ea typeface="맑은 고딕"/>
                <a:cs typeface="Calibri"/>
              </a:rPr>
              <a:t>Big data is influencing almost all parts of our lives. It helps companies understand their customers’ needs better and helps them sell more products. It helps people avoid heavy traffic. Its uses are endless, and here are some interesting examples. Did you know that health professionals can now forecast a disease just as weather experts forecast the weather? This is possible thanks to big data. For example, when the flu season comes, people will buy more flu medicine. They will also search online about flu symptoms more. </a:t>
            </a:r>
            <a:r>
              <a:rPr lang="en-US" altLang="ko-KR" sz="1500" b="0" dirty="0">
                <a:solidFill>
                  <a:srgbClr val="1F2328"/>
                </a:solidFill>
                <a:latin typeface="Calibri"/>
                <a:ea typeface="맑은 고딕"/>
                <a:cs typeface="Calibri"/>
              </a:rPr>
              <a:t>If this kind of data is analyzed wisely, the spread of the flu can be predicted.</a:t>
            </a:r>
            <a:endParaRPr lang="en-US" altLang="ko-KR" sz="1500" b="0" dirty="0">
              <a:solidFill>
                <a:srgbClr val="1F2328"/>
              </a:solidFill>
              <a:latin typeface="Calibri"/>
              <a:ea typeface="맑은 고딕"/>
              <a:cs typeface="Calibri"/>
            </a:endParaRPr>
          </a:p>
        </p:txBody>
      </p:sp>
      <p:sp>
        <p:nvSpPr>
          <p:cNvPr id="9" name="rv_evidence_card"/>
          <p:cNvSpPr/>
          <p:nvPr/>
        </p:nvSpPr>
        <p:spPr>
          <a:xfrm>
            <a:off x="457200" y="950976"/>
            <a:ext cx="11277295" cy="176021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rv_evidence"/>
          <p:cNvSpPr txBox="1"/>
          <p:nvPr/>
        </p:nvSpPr>
        <p:spPr>
          <a:xfrm>
            <a:off x="457200" y="950976"/>
            <a:ext cx="11277295" cy="1760219"/>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B3BAC6"/>
                </a:solidFill>
                <a:latin typeface="Calibri"/>
                <a:ea typeface="맑은 고딕"/>
                <a:cs typeface="Calibri"/>
              </a:rPr>
              <a:t>Big data is influencing almost all parts of our lives. It helps companies understand their customers’ needs better and helps them sell more products. It helps people avoid heavy traffic. Its uses are endless, and here are some interesting examples. Did you know that health professionals can now forecast a disease just as weather experts forecast the weather? This is possible thanks to big data. For example, when the flu season comes, people will buy more flu medicine. They will also search online about flu symptoms more. </a:t>
            </a:r>
            <a:r>
              <a:rPr lang="en-US" altLang="ko-KR" sz="1500" b="0" dirty="0">
                <a:solidFill>
                  <a:srgbClr val="111111"/>
                </a:solidFill>
                <a:highlight>
                  <a:srgbClr val="FFE45C"/>
                </a:highlight>
                <a:latin typeface="Calibri"/>
                <a:ea typeface="맑은 고딕"/>
                <a:cs typeface="Calibri"/>
              </a:rPr>
              <a:t>If this kind of data is analyzed wisely, the spread of the flu can be predicted.</a:t>
            </a:r>
            <a:endParaRPr lang="en-US" altLang="ko-KR" sz="1500" b="0" dirty="0">
              <a:solidFill>
                <a:srgbClr val="111111"/>
              </a:solidFill>
              <a:latin typeface="Calibri"/>
              <a:ea typeface="맑은 고딕"/>
              <a:cs typeface="Calibri"/>
            </a:endParaRPr>
          </a:p>
        </p:txBody>
      </p:sp>
      <p:sp>
        <p:nvSpPr>
          <p:cNvPr id="11" name="choice_1"/>
          <p:cNvSpPr txBox="1"/>
          <p:nvPr/>
        </p:nvSpPr>
        <p:spPr>
          <a:xfrm>
            <a:off x="457200" y="2857500"/>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①</a:t>
            </a:r>
            <a:r>
              <a:rPr lang="ko-KR" altLang="en-US" sz="1800" b="0" dirty="0">
                <a:solidFill>
                  <a:srgbClr val="1F2328"/>
                </a:solidFill>
                <a:latin typeface="맑은 고딕"/>
                <a:ea typeface="맑은 고딕"/>
                <a:cs typeface="맑은 고딕"/>
              </a:rPr>
              <a:t>	독감 철에는 독감 약을 미리 넉넉히 구입해 두어야 한다</a:t>
            </a:r>
            <a:endParaRPr lang="ko-KR" altLang="en-US" sz="1800" b="0" dirty="0">
              <a:solidFill>
                <a:srgbClr val="1F2328"/>
              </a:solidFill>
              <a:latin typeface="맑은 고딕"/>
              <a:ea typeface="맑은 고딕"/>
              <a:cs typeface="맑은 고딕"/>
            </a:endParaRPr>
          </a:p>
        </p:txBody>
      </p:sp>
      <p:sp>
        <p:nvSpPr>
          <p:cNvPr id="12" name="choice_2"/>
          <p:cNvSpPr txBox="1"/>
          <p:nvPr/>
        </p:nvSpPr>
        <p:spPr>
          <a:xfrm>
            <a:off x="457200" y="3264916"/>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②</a:t>
            </a:r>
            <a:r>
              <a:rPr lang="ko-KR" altLang="en-US" sz="1800" b="0" dirty="0">
                <a:solidFill>
                  <a:srgbClr val="1F2328"/>
                </a:solidFill>
                <a:latin typeface="맑은 고딕"/>
                <a:ea typeface="맑은 고딕"/>
                <a:cs typeface="맑은 고딕"/>
              </a:rPr>
              <a:t>	교통 체증을 피하려면 대중교통을 더 자주 이용해야 한다</a:t>
            </a:r>
            <a:endParaRPr lang="ko-KR" altLang="en-US" sz="1800" b="0" dirty="0">
              <a:solidFill>
                <a:srgbClr val="1F2328"/>
              </a:solidFill>
              <a:latin typeface="맑은 고딕"/>
              <a:ea typeface="맑은 고딕"/>
              <a:cs typeface="맑은 고딕"/>
            </a:endParaRPr>
          </a:p>
        </p:txBody>
      </p:sp>
      <p:sp>
        <p:nvSpPr>
          <p:cNvPr id="13" name="choice_3"/>
          <p:cNvSpPr txBox="1"/>
          <p:nvPr/>
        </p:nvSpPr>
        <p:spPr>
          <a:xfrm>
            <a:off x="457200" y="3672332"/>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③</a:t>
            </a:r>
            <a:r>
              <a:rPr lang="ko-KR" altLang="en-US" sz="1800" b="0" dirty="0">
                <a:solidFill>
                  <a:srgbClr val="1F2328"/>
                </a:solidFill>
                <a:latin typeface="맑은 고딕"/>
                <a:ea typeface="맑은 고딕"/>
                <a:cs typeface="맑은 고딕"/>
              </a:rPr>
              <a:t>	건강 전문가들은 날씨 전문가에게 예측 방법을 배워야 한다</a:t>
            </a:r>
            <a:endParaRPr lang="ko-KR" altLang="en-US" sz="1800" b="0" dirty="0">
              <a:solidFill>
                <a:srgbClr val="1F2328"/>
              </a:solidFill>
              <a:latin typeface="맑은 고딕"/>
              <a:ea typeface="맑은 고딕"/>
              <a:cs typeface="맑은 고딕"/>
            </a:endParaRPr>
          </a:p>
        </p:txBody>
      </p:sp>
      <p:sp>
        <p:nvSpPr>
          <p:cNvPr id="14" name="choice_4"/>
          <p:cNvSpPr txBox="1"/>
          <p:nvPr/>
        </p:nvSpPr>
        <p:spPr>
          <a:xfrm>
            <a:off x="457200" y="4079748"/>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④</a:t>
            </a:r>
            <a:r>
              <a:rPr lang="ko-KR" altLang="en-US" sz="1800" b="0" dirty="0">
                <a:solidFill>
                  <a:srgbClr val="1F2328"/>
                </a:solidFill>
                <a:latin typeface="맑은 고딕"/>
                <a:ea typeface="맑은 고딕"/>
                <a:cs typeface="맑은 고딕"/>
              </a:rPr>
              <a:t>	빅데이터를 현명하게 분석하면 삶의 여러 문제에 활용된다</a:t>
            </a:r>
            <a:endParaRPr lang="ko-KR" altLang="en-US" sz="1800" b="0" dirty="0">
              <a:solidFill>
                <a:srgbClr val="1F2328"/>
              </a:solidFill>
              <a:latin typeface="맑은 고딕"/>
              <a:ea typeface="맑은 고딕"/>
              <a:cs typeface="맑은 고딕"/>
            </a:endParaRPr>
          </a:p>
        </p:txBody>
      </p:sp>
      <p:sp>
        <p:nvSpPr>
          <p:cNvPr id="15" name="rv_pick"/>
          <p:cNvSpPr txBox="1"/>
          <p:nvPr/>
        </p:nvSpPr>
        <p:spPr>
          <a:xfrm>
            <a:off x="457200" y="4079748"/>
            <a:ext cx="11277295" cy="379984"/>
          </a:xfrm>
          <a:prstGeom prst="rect">
            <a:avLst/>
          </a:prstGeom>
          <a:solidFill>
            <a:srgbClr val="FFF3C4"/>
          </a:solid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C00000"/>
                </a:solidFill>
                <a:latin typeface="맑은 고딕"/>
                <a:ea typeface="맑은 고딕"/>
                <a:cs typeface="맑은 고딕"/>
              </a:rPr>
              <a:t>④</a:t>
            </a:r>
            <a:r>
              <a:rPr lang="ko-KR" altLang="en-US" sz="1800" b="0" dirty="0">
                <a:solidFill>
                  <a:srgbClr val="C00000"/>
                </a:solidFill>
                <a:latin typeface="맑은 고딕"/>
                <a:ea typeface="맑은 고딕"/>
                <a:cs typeface="맑은 고딕"/>
              </a:rPr>
              <a:t>	빅데이터를 현명하게 분석하면 삶의 여러 문제에 활용된다</a:t>
            </a:r>
            <a:endParaRPr lang="ko-KR" altLang="en-US" sz="1800" b="0" dirty="0">
              <a:solidFill>
                <a:srgbClr val="C00000"/>
              </a:solidFill>
              <a:latin typeface="맑은 고딕"/>
              <a:ea typeface="맑은 고딕"/>
              <a:cs typeface="맑은 고딕"/>
            </a:endParaRPr>
          </a:p>
        </p:txBody>
      </p:sp>
      <p:sp>
        <p:nvSpPr>
          <p:cNvPr id="16" name="choice_5"/>
          <p:cNvSpPr txBox="1"/>
          <p:nvPr/>
        </p:nvSpPr>
        <p:spPr>
          <a:xfrm>
            <a:off x="457200" y="4487164"/>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⑤</a:t>
            </a:r>
            <a:r>
              <a:rPr lang="ko-KR" altLang="en-US" sz="1800" b="0" dirty="0">
                <a:solidFill>
                  <a:srgbClr val="1F2328"/>
                </a:solidFill>
                <a:latin typeface="맑은 고딕"/>
                <a:ea typeface="맑은 고딕"/>
                <a:cs typeface="맑은 고딕"/>
              </a:rPr>
              <a:t>	온라인에서 증상을 검색하기 전에 먼저 병원에 가야 한다</a:t>
            </a:r>
            <a:endParaRPr lang="ko-KR" altLang="en-US" sz="1800" b="0" dirty="0">
              <a:solidFill>
                <a:srgbClr val="1F2328"/>
              </a:solidFill>
              <a:latin typeface="맑은 고딕"/>
              <a:ea typeface="맑은 고딕"/>
              <a:cs typeface="맑은 고딕"/>
            </a:endParaRPr>
          </a:p>
        </p:txBody>
      </p:sp>
      <p:sp>
        <p:nvSpPr>
          <p:cNvPr id="17" name="rv_answer"/>
          <p:cNvSpPr/>
          <p:nvPr/>
        </p:nvSpPr>
        <p:spPr>
          <a:xfrm>
            <a:off x="457200" y="497687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④ </a:t>
            </a:r>
            <a:r>
              <a:rPr lang="ko-KR" altLang="en-US" sz="1900" b="1" dirty="0">
                <a:solidFill>
                  <a:srgbClr val="5A4200"/>
                </a:solidFill>
                <a:latin typeface="맑은 고딕"/>
                <a:ea typeface="맑은 고딕"/>
                <a:cs typeface="맑은 고딕"/>
              </a:rPr>
              <a:t>빅데이터를 현명하게 분석하면 삶의 여러 문제에 활용된다</a:t>
            </a:r>
            <a:endParaRPr lang="ko-KR" altLang="en-US" sz="1900" b="1" dirty="0">
              <a:solidFill>
                <a:srgbClr val="5A4200"/>
              </a:solidFill>
              <a:latin typeface="맑은 고딕"/>
              <a:ea typeface="맑은 고딕"/>
              <a:cs typeface="맑은 고딕"/>
            </a:endParaRPr>
          </a:p>
        </p:txBody>
      </p:sp>
      <p:sp>
        <p:nvSpPr>
          <p:cNvPr id="18" name="rv_why"/>
          <p:cNvSpPr/>
          <p:nvPr/>
        </p:nvSpPr>
        <p:spPr>
          <a:xfrm>
            <a:off x="457200" y="5575808"/>
            <a:ext cx="11277295" cy="84327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데이터를 현명하게 분석하면 독감 확산까지 예측할 수 있다고 했다. 이를 일반화한 ④가 주장이다.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250"/>
                                        <p:tgtEl>
                                          <p:spTgt spid="1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25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25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7" grpId="0" animBg="1"/>
      <p:bldP spid="9" grpId="0" animBg="1"/>
      <p:bldP spid="10" grpId="0" animBg="1"/>
      <p:bldP spid="18" grpId="0" animBg="1"/>
    </p:bldLst>
  </p:timing>
</p:sld>
</file>

<file path=ppt/slides/slide17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L7-2</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1 · 4</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4. 다음 글의 요지로 가장 적절한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7</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본문 근거 형광 + 정답 원리</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176021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1760219"/>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1F2328"/>
                </a:solidFill>
                <a:latin typeface="Calibri"/>
                <a:ea typeface="맑은 고딕"/>
                <a:cs typeface="Calibri"/>
              </a:rPr>
              <a:t>Big data is influencing almost all parts of our lives.</a:t>
            </a:r>
            <a:r>
              <a:rPr lang="en-US" altLang="ko-KR" sz="1500" b="0" dirty="0">
                <a:solidFill>
                  <a:srgbClr val="1F2328"/>
                </a:solidFill>
                <a:latin typeface="Calibri"/>
                <a:ea typeface="맑은 고딕"/>
                <a:cs typeface="Calibri"/>
              </a:rPr>
              <a:t> It helps companies understand their customers’ needs better and helps them sell more products. It helps people avoid heavy traffic. Its uses are endless, and here are some interesting examples. </a:t>
            </a:r>
            <a:r>
              <a:rPr lang="en-US" altLang="ko-KR" sz="1500" b="0" dirty="0">
                <a:solidFill>
                  <a:srgbClr val="1F2328"/>
                </a:solidFill>
                <a:latin typeface="Calibri"/>
                <a:ea typeface="맑은 고딕"/>
                <a:cs typeface="Calibri"/>
              </a:rPr>
              <a:t>Did you know that health professionals can now forecast a disease just as weather experts forecast the weather?</a:t>
            </a:r>
            <a:r>
              <a:rPr lang="en-US" altLang="ko-KR" sz="1500" b="0" dirty="0">
                <a:solidFill>
                  <a:srgbClr val="1F2328"/>
                </a:solidFill>
                <a:latin typeface="Calibri"/>
                <a:ea typeface="맑은 고딕"/>
                <a:cs typeface="Calibri"/>
              </a:rPr>
              <a:t> This is possible thanks to big data. For example, when the flu season comes, people will buy more flu medicine. They will also search online about flu symptoms more. If this kind of data is analyzed wisely, the spread of the flu can be predicted.</a:t>
            </a:r>
            <a:endParaRPr lang="en-US" altLang="ko-KR" sz="1500" b="0" dirty="0">
              <a:solidFill>
                <a:srgbClr val="1F2328"/>
              </a:solidFill>
              <a:latin typeface="Calibri"/>
              <a:ea typeface="맑은 고딕"/>
              <a:cs typeface="Calibri"/>
            </a:endParaRPr>
          </a:p>
        </p:txBody>
      </p:sp>
      <p:sp>
        <p:nvSpPr>
          <p:cNvPr id="9" name="rv_evidence_card"/>
          <p:cNvSpPr/>
          <p:nvPr/>
        </p:nvSpPr>
        <p:spPr>
          <a:xfrm>
            <a:off x="457200" y="950976"/>
            <a:ext cx="11277295" cy="176021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rv_evidence"/>
          <p:cNvSpPr txBox="1"/>
          <p:nvPr/>
        </p:nvSpPr>
        <p:spPr>
          <a:xfrm>
            <a:off x="457200" y="950976"/>
            <a:ext cx="11277295" cy="1760219"/>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111111"/>
                </a:solidFill>
                <a:highlight>
                  <a:srgbClr val="FFE45C"/>
                </a:highlight>
                <a:latin typeface="Calibri"/>
                <a:ea typeface="맑은 고딕"/>
                <a:cs typeface="Calibri"/>
              </a:rPr>
              <a:t>Big data is influencing almost all parts of our lives.</a:t>
            </a:r>
            <a:r>
              <a:rPr lang="en-US" altLang="ko-KR" sz="1500" b="0" dirty="0">
                <a:solidFill>
                  <a:srgbClr val="B3BAC6"/>
                </a:solidFill>
                <a:latin typeface="Calibri"/>
                <a:ea typeface="맑은 고딕"/>
                <a:cs typeface="Calibri"/>
              </a:rPr>
              <a:t> It helps companies understand their customers’ needs better and helps them sell more products. It helps people avoid heavy traffic. Its uses are endless, and here are some interesting examples. </a:t>
            </a:r>
            <a:r>
              <a:rPr lang="en-US" altLang="ko-KR" sz="1500" b="0" dirty="0">
                <a:solidFill>
                  <a:srgbClr val="111111"/>
                </a:solidFill>
                <a:highlight>
                  <a:srgbClr val="FFE45C"/>
                </a:highlight>
                <a:latin typeface="Calibri"/>
                <a:ea typeface="맑은 고딕"/>
                <a:cs typeface="Calibri"/>
              </a:rPr>
              <a:t>Did you know that health professionals can now forecast a disease just as weather experts forecast the weather?</a:t>
            </a:r>
            <a:r>
              <a:rPr lang="en-US" altLang="ko-KR" sz="1500" b="0" dirty="0">
                <a:solidFill>
                  <a:srgbClr val="B3BAC6"/>
                </a:solidFill>
                <a:latin typeface="Calibri"/>
                <a:ea typeface="맑은 고딕"/>
                <a:cs typeface="Calibri"/>
              </a:rPr>
              <a:t> This is possible thanks to big data. For example, when the flu season comes, people will buy more flu medicine. They will also search online about flu symptoms more. If this kind of data is analyzed wisely, the spread of the flu can be predicted.</a:t>
            </a:r>
            <a:endParaRPr lang="en-US" altLang="ko-KR" sz="1500" b="0" dirty="0">
              <a:solidFill>
                <a:srgbClr val="B3BAC6"/>
              </a:solidFill>
              <a:latin typeface="Calibri"/>
              <a:ea typeface="맑은 고딕"/>
              <a:cs typeface="Calibri"/>
            </a:endParaRPr>
          </a:p>
        </p:txBody>
      </p:sp>
      <p:sp>
        <p:nvSpPr>
          <p:cNvPr id="11" name="choice_1"/>
          <p:cNvSpPr txBox="1"/>
          <p:nvPr/>
        </p:nvSpPr>
        <p:spPr>
          <a:xfrm>
            <a:off x="457200" y="2857500"/>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①</a:t>
            </a:r>
            <a:r>
              <a:rPr lang="ko-KR" altLang="en-US" sz="1800" b="0" dirty="0">
                <a:solidFill>
                  <a:srgbClr val="1F2328"/>
                </a:solidFill>
                <a:latin typeface="맑은 고딕"/>
                <a:ea typeface="맑은 고딕"/>
                <a:cs typeface="맑은 고딕"/>
              </a:rPr>
              <a:t>	독감의 확산은 어떤 방법으로도 미리 알 수 없다</a:t>
            </a:r>
            <a:endParaRPr lang="ko-KR" altLang="en-US" sz="1800" b="0" dirty="0">
              <a:solidFill>
                <a:srgbClr val="1F2328"/>
              </a:solidFill>
              <a:latin typeface="맑은 고딕"/>
              <a:ea typeface="맑은 고딕"/>
              <a:cs typeface="맑은 고딕"/>
            </a:endParaRPr>
          </a:p>
        </p:txBody>
      </p:sp>
      <p:sp>
        <p:nvSpPr>
          <p:cNvPr id="12" name="choice_2"/>
          <p:cNvSpPr txBox="1"/>
          <p:nvPr/>
        </p:nvSpPr>
        <p:spPr>
          <a:xfrm>
            <a:off x="457200" y="3264916"/>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②</a:t>
            </a:r>
            <a:r>
              <a:rPr lang="ko-KR" altLang="en-US" sz="1800" b="0" dirty="0">
                <a:solidFill>
                  <a:srgbClr val="1F2328"/>
                </a:solidFill>
                <a:latin typeface="맑은 고딕"/>
                <a:ea typeface="맑은 고딕"/>
                <a:cs typeface="맑은 고딕"/>
              </a:rPr>
              <a:t>	회사들은 고객보다 상품 판매에 더 신경을 쓴다</a:t>
            </a:r>
            <a:endParaRPr lang="ko-KR" altLang="en-US" sz="1800" b="0" dirty="0">
              <a:solidFill>
                <a:srgbClr val="1F2328"/>
              </a:solidFill>
              <a:latin typeface="맑은 고딕"/>
              <a:ea typeface="맑은 고딕"/>
              <a:cs typeface="맑은 고딕"/>
            </a:endParaRPr>
          </a:p>
        </p:txBody>
      </p:sp>
      <p:sp>
        <p:nvSpPr>
          <p:cNvPr id="13" name="choice_3"/>
          <p:cNvSpPr txBox="1"/>
          <p:nvPr/>
        </p:nvSpPr>
        <p:spPr>
          <a:xfrm>
            <a:off x="457200" y="3672332"/>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③</a:t>
            </a:r>
            <a:r>
              <a:rPr lang="ko-KR" altLang="en-US" sz="1800" b="0" dirty="0">
                <a:solidFill>
                  <a:srgbClr val="1F2328"/>
                </a:solidFill>
                <a:latin typeface="맑은 고딕"/>
                <a:ea typeface="맑은 고딕"/>
                <a:cs typeface="맑은 고딕"/>
              </a:rPr>
              <a:t>	날씨 예측은 질병 예측보다 훨씬 더 정확한 편이다</a:t>
            </a:r>
            <a:endParaRPr lang="ko-KR" altLang="en-US" sz="1800" b="0" dirty="0">
              <a:solidFill>
                <a:srgbClr val="1F2328"/>
              </a:solidFill>
              <a:latin typeface="맑은 고딕"/>
              <a:ea typeface="맑은 고딕"/>
              <a:cs typeface="맑은 고딕"/>
            </a:endParaRPr>
          </a:p>
        </p:txBody>
      </p:sp>
      <p:sp>
        <p:nvSpPr>
          <p:cNvPr id="14" name="choice_4"/>
          <p:cNvSpPr txBox="1"/>
          <p:nvPr/>
        </p:nvSpPr>
        <p:spPr>
          <a:xfrm>
            <a:off x="457200" y="4079748"/>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④</a:t>
            </a:r>
            <a:r>
              <a:rPr lang="ko-KR" altLang="en-US" sz="1800" b="0" dirty="0">
                <a:solidFill>
                  <a:srgbClr val="1F2328"/>
                </a:solidFill>
                <a:latin typeface="맑은 고딕"/>
                <a:ea typeface="맑은 고딕"/>
                <a:cs typeface="맑은 고딕"/>
              </a:rPr>
              <a:t>	사람들은 독감 철에 온라인 검색을 점점 덜 하게 된다</a:t>
            </a:r>
            <a:endParaRPr lang="ko-KR" altLang="en-US" sz="1800" b="0" dirty="0">
              <a:solidFill>
                <a:srgbClr val="1F2328"/>
              </a:solidFill>
              <a:latin typeface="맑은 고딕"/>
              <a:ea typeface="맑은 고딕"/>
              <a:cs typeface="맑은 고딕"/>
            </a:endParaRPr>
          </a:p>
        </p:txBody>
      </p:sp>
      <p:sp>
        <p:nvSpPr>
          <p:cNvPr id="15" name="choice_5"/>
          <p:cNvSpPr txBox="1"/>
          <p:nvPr/>
        </p:nvSpPr>
        <p:spPr>
          <a:xfrm>
            <a:off x="457200" y="4487164"/>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⑤</a:t>
            </a:r>
            <a:r>
              <a:rPr lang="ko-KR" altLang="en-US" sz="1800" b="0" dirty="0">
                <a:solidFill>
                  <a:srgbClr val="1F2328"/>
                </a:solidFill>
                <a:latin typeface="맑은 고딕"/>
                <a:ea typeface="맑은 고딕"/>
                <a:cs typeface="맑은 고딕"/>
              </a:rPr>
              <a:t>	빅데이터는 질병 예측 등 삶의 거의 모든 부분에 쓰인다</a:t>
            </a:r>
            <a:endParaRPr lang="ko-KR" altLang="en-US" sz="1800" b="0" dirty="0">
              <a:solidFill>
                <a:srgbClr val="1F2328"/>
              </a:solidFill>
              <a:latin typeface="맑은 고딕"/>
              <a:ea typeface="맑은 고딕"/>
              <a:cs typeface="맑은 고딕"/>
            </a:endParaRPr>
          </a:p>
        </p:txBody>
      </p:sp>
      <p:sp>
        <p:nvSpPr>
          <p:cNvPr id="16" name="rv_pick"/>
          <p:cNvSpPr txBox="1"/>
          <p:nvPr/>
        </p:nvSpPr>
        <p:spPr>
          <a:xfrm>
            <a:off x="457200" y="4487164"/>
            <a:ext cx="11277295" cy="379984"/>
          </a:xfrm>
          <a:prstGeom prst="rect">
            <a:avLst/>
          </a:prstGeom>
          <a:solidFill>
            <a:srgbClr val="FFF3C4"/>
          </a:solid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C00000"/>
                </a:solidFill>
                <a:latin typeface="맑은 고딕"/>
                <a:ea typeface="맑은 고딕"/>
                <a:cs typeface="맑은 고딕"/>
              </a:rPr>
              <a:t>⑤</a:t>
            </a:r>
            <a:r>
              <a:rPr lang="ko-KR" altLang="en-US" sz="1800" b="0" dirty="0">
                <a:solidFill>
                  <a:srgbClr val="C00000"/>
                </a:solidFill>
                <a:latin typeface="맑은 고딕"/>
                <a:ea typeface="맑은 고딕"/>
                <a:cs typeface="맑은 고딕"/>
              </a:rPr>
              <a:t>	빅데이터는 질병 예측 등 삶의 거의 모든 부분에 쓰인다</a:t>
            </a:r>
            <a:endParaRPr lang="ko-KR" altLang="en-US" sz="1800" b="0" dirty="0">
              <a:solidFill>
                <a:srgbClr val="C00000"/>
              </a:solidFill>
              <a:latin typeface="맑은 고딕"/>
              <a:ea typeface="맑은 고딕"/>
              <a:cs typeface="맑은 고딕"/>
            </a:endParaRPr>
          </a:p>
        </p:txBody>
      </p:sp>
      <p:sp>
        <p:nvSpPr>
          <p:cNvPr id="17" name="rv_answer"/>
          <p:cNvSpPr/>
          <p:nvPr/>
        </p:nvSpPr>
        <p:spPr>
          <a:xfrm>
            <a:off x="457200" y="497687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⑤ </a:t>
            </a:r>
            <a:r>
              <a:rPr lang="ko-KR" altLang="en-US" sz="1900" b="1" dirty="0">
                <a:solidFill>
                  <a:srgbClr val="5A4200"/>
                </a:solidFill>
                <a:latin typeface="맑은 고딕"/>
                <a:ea typeface="맑은 고딕"/>
                <a:cs typeface="맑은 고딕"/>
              </a:rPr>
              <a:t>빅데이터는 질병 예측 등 삶의 거의 모든 부분에 쓰인다</a:t>
            </a:r>
            <a:endParaRPr lang="ko-KR" altLang="en-US" sz="1900" b="1" dirty="0">
              <a:solidFill>
                <a:srgbClr val="5A4200"/>
              </a:solidFill>
              <a:latin typeface="맑은 고딕"/>
              <a:ea typeface="맑은 고딕"/>
              <a:cs typeface="맑은 고딕"/>
            </a:endParaRPr>
          </a:p>
        </p:txBody>
      </p:sp>
      <p:sp>
        <p:nvSpPr>
          <p:cNvPr id="18" name="rv_why"/>
          <p:cNvSpPr/>
          <p:nvPr/>
        </p:nvSpPr>
        <p:spPr>
          <a:xfrm>
            <a:off x="457200" y="5575808"/>
            <a:ext cx="11277295" cy="84327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빅데이터는 삶의 거의 모든 부분에 영향을 주며 질병까지 예측하게 한다고 했으므로 ⑤가 요지다.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250"/>
                                        <p:tgtEl>
                                          <p:spTgt spid="1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25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25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7" grpId="0" animBg="1"/>
      <p:bldP spid="9" grpId="0" animBg="1"/>
      <p:bldP spid="10" grpId="0" animBg="1"/>
      <p:bldP spid="18" grpId="0" animBg="1"/>
    </p:bldLst>
  </p:timing>
</p:sld>
</file>

<file path=ppt/slides/slide17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L7-2</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1 · 5</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5. 다음 글의 내용과 일치하지 않는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7</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본문 근거 형광 + 정답 원리</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176021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1760219"/>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1F2328"/>
                </a:solidFill>
                <a:latin typeface="Calibri"/>
                <a:ea typeface="맑은 고딕"/>
                <a:cs typeface="Calibri"/>
              </a:rPr>
              <a:t>Big data is influencing almost all parts of our lives. It helps companies understand their customers’ needs better and helps them sell more products. It helps people avoid heavy traffic. Its uses are endless, and here are some interesting examples. Did you know that health professionals can now forecast a disease just as weather experts forecast the weather? This is possible thanks to big data. For example, when the flu season comes, </a:t>
            </a:r>
            <a:r>
              <a:rPr lang="en-US" altLang="ko-KR" sz="1500" b="0" dirty="0">
                <a:solidFill>
                  <a:srgbClr val="1F2328"/>
                </a:solidFill>
                <a:latin typeface="Calibri"/>
                <a:ea typeface="맑은 고딕"/>
                <a:cs typeface="Calibri"/>
              </a:rPr>
              <a:t>people will buy more flu medicine</a:t>
            </a:r>
            <a:r>
              <a:rPr lang="en-US" altLang="ko-KR" sz="1500" b="0" dirty="0">
                <a:solidFill>
                  <a:srgbClr val="1F2328"/>
                </a:solidFill>
                <a:latin typeface="Calibri"/>
                <a:ea typeface="맑은 고딕"/>
                <a:cs typeface="Calibri"/>
              </a:rPr>
              <a:t>. They will also search online about flu symptoms more. If this kind of data is analyzed wisely, the spread of the flu can be predicted.</a:t>
            </a:r>
            <a:endParaRPr lang="en-US" altLang="ko-KR" sz="1500" b="0" dirty="0">
              <a:solidFill>
                <a:srgbClr val="1F2328"/>
              </a:solidFill>
              <a:latin typeface="Calibri"/>
              <a:ea typeface="맑은 고딕"/>
              <a:cs typeface="Calibri"/>
            </a:endParaRPr>
          </a:p>
        </p:txBody>
      </p:sp>
      <p:sp>
        <p:nvSpPr>
          <p:cNvPr id="9" name="rv_evidence_card"/>
          <p:cNvSpPr/>
          <p:nvPr/>
        </p:nvSpPr>
        <p:spPr>
          <a:xfrm>
            <a:off x="457200" y="950976"/>
            <a:ext cx="11277295" cy="176021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rv_evidence"/>
          <p:cNvSpPr txBox="1"/>
          <p:nvPr/>
        </p:nvSpPr>
        <p:spPr>
          <a:xfrm>
            <a:off x="457200" y="950976"/>
            <a:ext cx="11277295" cy="1760219"/>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B3BAC6"/>
                </a:solidFill>
                <a:latin typeface="Calibri"/>
                <a:ea typeface="맑은 고딕"/>
                <a:cs typeface="Calibri"/>
              </a:rPr>
              <a:t>Big data is influencing almost all parts of our lives. It helps companies understand their customers’ needs better and helps them sell more products. It helps people avoid heavy traffic. Its uses are endless, and here are some interesting examples. Did you know that health professionals can now forecast a disease just as weather experts forecast the weather? This is possible thanks to big data. For example, when the flu season comes, </a:t>
            </a:r>
            <a:r>
              <a:rPr lang="en-US" altLang="ko-KR" sz="1500" b="0" dirty="0">
                <a:solidFill>
                  <a:srgbClr val="111111"/>
                </a:solidFill>
                <a:highlight>
                  <a:srgbClr val="FFE45C"/>
                </a:highlight>
                <a:latin typeface="Calibri"/>
                <a:ea typeface="맑은 고딕"/>
                <a:cs typeface="Calibri"/>
              </a:rPr>
              <a:t>people will buy more flu medicine</a:t>
            </a:r>
            <a:r>
              <a:rPr lang="en-US" altLang="ko-KR" sz="1500" b="0" dirty="0">
                <a:solidFill>
                  <a:srgbClr val="B3BAC6"/>
                </a:solidFill>
                <a:latin typeface="Calibri"/>
                <a:ea typeface="맑은 고딕"/>
                <a:cs typeface="Calibri"/>
              </a:rPr>
              <a:t>. They will also search online about flu symptoms more. If this kind of data is analyzed wisely, the spread of the flu can be predicted.</a:t>
            </a:r>
            <a:endParaRPr lang="en-US" altLang="ko-KR" sz="1500" b="0" dirty="0">
              <a:solidFill>
                <a:srgbClr val="B3BAC6"/>
              </a:solidFill>
              <a:latin typeface="Calibri"/>
              <a:ea typeface="맑은 고딕"/>
              <a:cs typeface="Calibri"/>
            </a:endParaRPr>
          </a:p>
        </p:txBody>
      </p:sp>
      <p:sp>
        <p:nvSpPr>
          <p:cNvPr id="11" name="choice_1"/>
          <p:cNvSpPr txBox="1"/>
          <p:nvPr/>
        </p:nvSpPr>
        <p:spPr>
          <a:xfrm>
            <a:off x="457200" y="2857500"/>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①</a:t>
            </a:r>
            <a:r>
              <a:rPr lang="ko-KR" altLang="en-US" sz="1800" b="0" dirty="0">
                <a:solidFill>
                  <a:srgbClr val="1F2328"/>
                </a:solidFill>
                <a:latin typeface="맑은 고딕"/>
                <a:ea typeface="맑은 고딕"/>
                <a:cs typeface="맑은 고딕"/>
              </a:rPr>
              <a:t>	빅데이터는 회사가 고객의 요구를 이해하도록 돕는다</a:t>
            </a:r>
            <a:endParaRPr lang="ko-KR" altLang="en-US" sz="1800" b="0" dirty="0">
              <a:solidFill>
                <a:srgbClr val="1F2328"/>
              </a:solidFill>
              <a:latin typeface="맑은 고딕"/>
              <a:ea typeface="맑은 고딕"/>
              <a:cs typeface="맑은 고딕"/>
            </a:endParaRPr>
          </a:p>
        </p:txBody>
      </p:sp>
      <p:sp>
        <p:nvSpPr>
          <p:cNvPr id="12" name="choice_2"/>
          <p:cNvSpPr txBox="1"/>
          <p:nvPr/>
        </p:nvSpPr>
        <p:spPr>
          <a:xfrm>
            <a:off x="457200" y="3264916"/>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②</a:t>
            </a:r>
            <a:r>
              <a:rPr lang="ko-KR" altLang="en-US" sz="1800" b="0" dirty="0">
                <a:solidFill>
                  <a:srgbClr val="1F2328"/>
                </a:solidFill>
                <a:latin typeface="맑은 고딕"/>
                <a:ea typeface="맑은 고딕"/>
                <a:cs typeface="맑은 고딕"/>
              </a:rPr>
              <a:t>	빅데이터는 사람들이 교통 체증을 피하도록 돕는다</a:t>
            </a:r>
            <a:endParaRPr lang="ko-KR" altLang="en-US" sz="1800" b="0" dirty="0">
              <a:solidFill>
                <a:srgbClr val="1F2328"/>
              </a:solidFill>
              <a:latin typeface="맑은 고딕"/>
              <a:ea typeface="맑은 고딕"/>
              <a:cs typeface="맑은 고딕"/>
            </a:endParaRPr>
          </a:p>
        </p:txBody>
      </p:sp>
      <p:sp>
        <p:nvSpPr>
          <p:cNvPr id="13" name="choice_3"/>
          <p:cNvSpPr txBox="1"/>
          <p:nvPr/>
        </p:nvSpPr>
        <p:spPr>
          <a:xfrm>
            <a:off x="457200" y="3672332"/>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③</a:t>
            </a:r>
            <a:r>
              <a:rPr lang="ko-KR" altLang="en-US" sz="1800" b="0" dirty="0">
                <a:solidFill>
                  <a:srgbClr val="1F2328"/>
                </a:solidFill>
                <a:latin typeface="맑은 고딕"/>
                <a:ea typeface="맑은 고딕"/>
                <a:cs typeface="맑은 고딕"/>
              </a:rPr>
              <a:t>	건강 전문가들은 이제 질병을 예측할 수 있다</a:t>
            </a:r>
            <a:endParaRPr lang="ko-KR" altLang="en-US" sz="1800" b="0" dirty="0">
              <a:solidFill>
                <a:srgbClr val="1F2328"/>
              </a:solidFill>
              <a:latin typeface="맑은 고딕"/>
              <a:ea typeface="맑은 고딕"/>
              <a:cs typeface="맑은 고딕"/>
            </a:endParaRPr>
          </a:p>
        </p:txBody>
      </p:sp>
      <p:sp>
        <p:nvSpPr>
          <p:cNvPr id="14" name="choice_4"/>
          <p:cNvSpPr txBox="1"/>
          <p:nvPr/>
        </p:nvSpPr>
        <p:spPr>
          <a:xfrm>
            <a:off x="457200" y="4079748"/>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④</a:t>
            </a:r>
            <a:r>
              <a:rPr lang="ko-KR" altLang="en-US" sz="1800" b="0" dirty="0">
                <a:solidFill>
                  <a:srgbClr val="1F2328"/>
                </a:solidFill>
                <a:latin typeface="맑은 고딕"/>
                <a:ea typeface="맑은 고딕"/>
                <a:cs typeface="맑은 고딕"/>
              </a:rPr>
              <a:t>	독감 철에 사람들은 독감 약을 덜 구입할 것이다</a:t>
            </a:r>
            <a:endParaRPr lang="ko-KR" altLang="en-US" sz="1800" b="0" dirty="0">
              <a:solidFill>
                <a:srgbClr val="1F2328"/>
              </a:solidFill>
              <a:latin typeface="맑은 고딕"/>
              <a:ea typeface="맑은 고딕"/>
              <a:cs typeface="맑은 고딕"/>
            </a:endParaRPr>
          </a:p>
        </p:txBody>
      </p:sp>
      <p:sp>
        <p:nvSpPr>
          <p:cNvPr id="15" name="rv_pick"/>
          <p:cNvSpPr txBox="1"/>
          <p:nvPr/>
        </p:nvSpPr>
        <p:spPr>
          <a:xfrm>
            <a:off x="457200" y="4079748"/>
            <a:ext cx="11277295" cy="379984"/>
          </a:xfrm>
          <a:prstGeom prst="rect">
            <a:avLst/>
          </a:prstGeom>
          <a:solidFill>
            <a:srgbClr val="FFF3C4"/>
          </a:solid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C00000"/>
                </a:solidFill>
                <a:latin typeface="맑은 고딕"/>
                <a:ea typeface="맑은 고딕"/>
                <a:cs typeface="맑은 고딕"/>
              </a:rPr>
              <a:t>④</a:t>
            </a:r>
            <a:r>
              <a:rPr lang="ko-KR" altLang="en-US" sz="1800" b="0" dirty="0">
                <a:solidFill>
                  <a:srgbClr val="C00000"/>
                </a:solidFill>
                <a:latin typeface="맑은 고딕"/>
                <a:ea typeface="맑은 고딕"/>
                <a:cs typeface="맑은 고딕"/>
              </a:rPr>
              <a:t>	독감 철에 사람들은 독감 약을 덜 구입할 것이다</a:t>
            </a:r>
            <a:endParaRPr lang="ko-KR" altLang="en-US" sz="1800" b="0" dirty="0">
              <a:solidFill>
                <a:srgbClr val="C00000"/>
              </a:solidFill>
              <a:latin typeface="맑은 고딕"/>
              <a:ea typeface="맑은 고딕"/>
              <a:cs typeface="맑은 고딕"/>
            </a:endParaRPr>
          </a:p>
        </p:txBody>
      </p:sp>
      <p:sp>
        <p:nvSpPr>
          <p:cNvPr id="16" name="choice_5"/>
          <p:cNvSpPr txBox="1"/>
          <p:nvPr/>
        </p:nvSpPr>
        <p:spPr>
          <a:xfrm>
            <a:off x="457200" y="4487164"/>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⑤</a:t>
            </a:r>
            <a:r>
              <a:rPr lang="ko-KR" altLang="en-US" sz="1800" b="0" dirty="0">
                <a:solidFill>
                  <a:srgbClr val="1F2328"/>
                </a:solidFill>
                <a:latin typeface="맑은 고딕"/>
                <a:ea typeface="맑은 고딕"/>
                <a:cs typeface="맑은 고딕"/>
              </a:rPr>
              <a:t>	데이터를 현명하게 분석하면 독감 확산을 예측한다</a:t>
            </a:r>
            <a:endParaRPr lang="ko-KR" altLang="en-US" sz="1800" b="0" dirty="0">
              <a:solidFill>
                <a:srgbClr val="1F2328"/>
              </a:solidFill>
              <a:latin typeface="맑은 고딕"/>
              <a:ea typeface="맑은 고딕"/>
              <a:cs typeface="맑은 고딕"/>
            </a:endParaRPr>
          </a:p>
        </p:txBody>
      </p:sp>
      <p:sp>
        <p:nvSpPr>
          <p:cNvPr id="17" name="rv_answer"/>
          <p:cNvSpPr/>
          <p:nvPr/>
        </p:nvSpPr>
        <p:spPr>
          <a:xfrm>
            <a:off x="457200" y="497687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④ </a:t>
            </a:r>
            <a:r>
              <a:rPr lang="ko-KR" altLang="en-US" sz="1900" b="1" dirty="0">
                <a:solidFill>
                  <a:srgbClr val="5A4200"/>
                </a:solidFill>
                <a:latin typeface="맑은 고딕"/>
                <a:ea typeface="맑은 고딕"/>
                <a:cs typeface="맑은 고딕"/>
              </a:rPr>
              <a:t>독감 철에 사람들은 독감 약을 덜 구입할 것이다</a:t>
            </a:r>
            <a:endParaRPr lang="ko-KR" altLang="en-US" sz="1900" b="1" dirty="0">
              <a:solidFill>
                <a:srgbClr val="5A4200"/>
              </a:solidFill>
              <a:latin typeface="맑은 고딕"/>
              <a:ea typeface="맑은 고딕"/>
              <a:cs typeface="맑은 고딕"/>
            </a:endParaRPr>
          </a:p>
        </p:txBody>
      </p:sp>
      <p:sp>
        <p:nvSpPr>
          <p:cNvPr id="18" name="rv_why"/>
          <p:cNvSpPr/>
          <p:nvPr/>
        </p:nvSpPr>
        <p:spPr>
          <a:xfrm>
            <a:off x="457200" y="5575808"/>
            <a:ext cx="11277295" cy="84327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독감 철에 사람들은 독감 약을 더 많이('more') 살 것이라 했으므로 덜 구입한다는 ④는 틀리다.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250"/>
                                        <p:tgtEl>
                                          <p:spTgt spid="1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25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25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7" grpId="0" animBg="1"/>
      <p:bldP spid="9" grpId="0" animBg="1"/>
      <p:bldP spid="10" grpId="0" animBg="1"/>
      <p:bldP spid="18" grpId="0" animBg="1"/>
    </p:bldLst>
  </p:timing>
</p:sld>
</file>

<file path=ppt/slides/slide17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L7-2</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1 · 6</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6. 다음 글의 내용과 일치하는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7</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본문 근거 형광 + 정답 원리</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176021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1760219"/>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1F2328"/>
                </a:solidFill>
                <a:latin typeface="Calibri"/>
                <a:ea typeface="맑은 고딕"/>
                <a:cs typeface="Calibri"/>
              </a:rPr>
              <a:t>Big data is influencing almost all parts of our lives. It helps companies understand their customers’ needs better and helps them sell more products. It helps people avoid heavy traffic. Its uses are endless, and here are some interesting examples. Did you know that health professionals can now forecast a disease just as weather experts forecast the weather? This is possible thanks to big data. For example, when the flu season comes, people will buy more flu medicine. They will also </a:t>
            </a:r>
            <a:r>
              <a:rPr lang="en-US" altLang="ko-KR" sz="1500" b="0" dirty="0">
                <a:solidFill>
                  <a:srgbClr val="1F2328"/>
                </a:solidFill>
                <a:latin typeface="Calibri"/>
                <a:ea typeface="맑은 고딕"/>
                <a:cs typeface="Calibri"/>
              </a:rPr>
              <a:t>search online about flu symptoms more</a:t>
            </a:r>
            <a:r>
              <a:rPr lang="en-US" altLang="ko-KR" sz="1500" b="0" dirty="0">
                <a:solidFill>
                  <a:srgbClr val="1F2328"/>
                </a:solidFill>
                <a:latin typeface="Calibri"/>
                <a:ea typeface="맑은 고딕"/>
                <a:cs typeface="Calibri"/>
              </a:rPr>
              <a:t>. If this kind of data is analyzed wisely, the spread of the flu can be predicted.</a:t>
            </a:r>
            <a:endParaRPr lang="en-US" altLang="ko-KR" sz="1500" b="0" dirty="0">
              <a:solidFill>
                <a:srgbClr val="1F2328"/>
              </a:solidFill>
              <a:latin typeface="Calibri"/>
              <a:ea typeface="맑은 고딕"/>
              <a:cs typeface="Calibri"/>
            </a:endParaRPr>
          </a:p>
        </p:txBody>
      </p:sp>
      <p:sp>
        <p:nvSpPr>
          <p:cNvPr id="9" name="rv_evidence_card"/>
          <p:cNvSpPr/>
          <p:nvPr/>
        </p:nvSpPr>
        <p:spPr>
          <a:xfrm>
            <a:off x="457200" y="950976"/>
            <a:ext cx="11277295" cy="176021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rv_evidence"/>
          <p:cNvSpPr txBox="1"/>
          <p:nvPr/>
        </p:nvSpPr>
        <p:spPr>
          <a:xfrm>
            <a:off x="457200" y="950976"/>
            <a:ext cx="11277295" cy="1760219"/>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B3BAC6"/>
                </a:solidFill>
                <a:latin typeface="Calibri"/>
                <a:ea typeface="맑은 고딕"/>
                <a:cs typeface="Calibri"/>
              </a:rPr>
              <a:t>Big data is influencing almost all parts of our lives. It helps companies understand their customers’ needs better and helps them sell more products. It helps people avoid heavy traffic. Its uses are endless, and here are some interesting examples. Did you know that health professionals can now forecast a disease just as weather experts forecast the weather? This is possible thanks to big data. For example, when the flu season comes, people will buy more flu medicine. They will also </a:t>
            </a:r>
            <a:r>
              <a:rPr lang="en-US" altLang="ko-KR" sz="1500" b="0" dirty="0">
                <a:solidFill>
                  <a:srgbClr val="111111"/>
                </a:solidFill>
                <a:highlight>
                  <a:srgbClr val="FFE45C"/>
                </a:highlight>
                <a:latin typeface="Calibri"/>
                <a:ea typeface="맑은 고딕"/>
                <a:cs typeface="Calibri"/>
              </a:rPr>
              <a:t>search online about flu symptoms more</a:t>
            </a:r>
            <a:r>
              <a:rPr lang="en-US" altLang="ko-KR" sz="1500" b="0" dirty="0">
                <a:solidFill>
                  <a:srgbClr val="B3BAC6"/>
                </a:solidFill>
                <a:latin typeface="Calibri"/>
                <a:ea typeface="맑은 고딕"/>
                <a:cs typeface="Calibri"/>
              </a:rPr>
              <a:t>. If this kind of data is analyzed wisely, the spread of the flu can be predicted.</a:t>
            </a:r>
            <a:endParaRPr lang="en-US" altLang="ko-KR" sz="1500" b="0" dirty="0">
              <a:solidFill>
                <a:srgbClr val="B3BAC6"/>
              </a:solidFill>
              <a:latin typeface="Calibri"/>
              <a:ea typeface="맑은 고딕"/>
              <a:cs typeface="Calibri"/>
            </a:endParaRPr>
          </a:p>
        </p:txBody>
      </p:sp>
      <p:sp>
        <p:nvSpPr>
          <p:cNvPr id="11" name="choice_1"/>
          <p:cNvSpPr txBox="1"/>
          <p:nvPr/>
        </p:nvSpPr>
        <p:spPr>
          <a:xfrm>
            <a:off x="457200" y="2857500"/>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①</a:t>
            </a:r>
            <a:r>
              <a:rPr lang="ko-KR" altLang="en-US" sz="1800" b="0" dirty="0">
                <a:solidFill>
                  <a:srgbClr val="1F2328"/>
                </a:solidFill>
                <a:latin typeface="맑은 고딕"/>
                <a:ea typeface="맑은 고딕"/>
                <a:cs typeface="맑은 고딕"/>
              </a:rPr>
              <a:t>	독감 철에는 독감 증상 검색이 더 늘어난다</a:t>
            </a:r>
            <a:endParaRPr lang="ko-KR" altLang="en-US" sz="1800" b="0" dirty="0">
              <a:solidFill>
                <a:srgbClr val="1F2328"/>
              </a:solidFill>
              <a:latin typeface="맑은 고딕"/>
              <a:ea typeface="맑은 고딕"/>
              <a:cs typeface="맑은 고딕"/>
            </a:endParaRPr>
          </a:p>
        </p:txBody>
      </p:sp>
      <p:sp>
        <p:nvSpPr>
          <p:cNvPr id="12" name="rv_pick"/>
          <p:cNvSpPr txBox="1"/>
          <p:nvPr/>
        </p:nvSpPr>
        <p:spPr>
          <a:xfrm>
            <a:off x="457200" y="2857500"/>
            <a:ext cx="11277295" cy="379984"/>
          </a:xfrm>
          <a:prstGeom prst="rect">
            <a:avLst/>
          </a:prstGeom>
          <a:solidFill>
            <a:srgbClr val="FFF3C4"/>
          </a:solid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C00000"/>
                </a:solidFill>
                <a:latin typeface="맑은 고딕"/>
                <a:ea typeface="맑은 고딕"/>
                <a:cs typeface="맑은 고딕"/>
              </a:rPr>
              <a:t>①</a:t>
            </a:r>
            <a:r>
              <a:rPr lang="ko-KR" altLang="en-US" sz="1800" b="0" dirty="0">
                <a:solidFill>
                  <a:srgbClr val="C00000"/>
                </a:solidFill>
                <a:latin typeface="맑은 고딕"/>
                <a:ea typeface="맑은 고딕"/>
                <a:cs typeface="맑은 고딕"/>
              </a:rPr>
              <a:t>	독감 철에는 독감 증상 검색이 더 늘어난다</a:t>
            </a:r>
            <a:endParaRPr lang="ko-KR" altLang="en-US" sz="1800" b="0" dirty="0">
              <a:solidFill>
                <a:srgbClr val="C00000"/>
              </a:solidFill>
              <a:latin typeface="맑은 고딕"/>
              <a:ea typeface="맑은 고딕"/>
              <a:cs typeface="맑은 고딕"/>
            </a:endParaRPr>
          </a:p>
        </p:txBody>
      </p:sp>
      <p:sp>
        <p:nvSpPr>
          <p:cNvPr id="13" name="choice_2"/>
          <p:cNvSpPr txBox="1"/>
          <p:nvPr/>
        </p:nvSpPr>
        <p:spPr>
          <a:xfrm>
            <a:off x="457200" y="3264916"/>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②</a:t>
            </a:r>
            <a:r>
              <a:rPr lang="ko-KR" altLang="en-US" sz="1800" b="0" dirty="0">
                <a:solidFill>
                  <a:srgbClr val="1F2328"/>
                </a:solidFill>
                <a:latin typeface="맑은 고딕"/>
                <a:ea typeface="맑은 고딕"/>
                <a:cs typeface="맑은 고딕"/>
              </a:rPr>
              <a:t>	빅데이터의 쓰임은 몇 가지로 한정되어 있다</a:t>
            </a:r>
            <a:endParaRPr lang="ko-KR" altLang="en-US" sz="1800" b="0" dirty="0">
              <a:solidFill>
                <a:srgbClr val="1F2328"/>
              </a:solidFill>
              <a:latin typeface="맑은 고딕"/>
              <a:ea typeface="맑은 고딕"/>
              <a:cs typeface="맑은 고딕"/>
            </a:endParaRPr>
          </a:p>
        </p:txBody>
      </p:sp>
      <p:sp>
        <p:nvSpPr>
          <p:cNvPr id="14" name="choice_3"/>
          <p:cNvSpPr txBox="1"/>
          <p:nvPr/>
        </p:nvSpPr>
        <p:spPr>
          <a:xfrm>
            <a:off x="457200" y="3672332"/>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③</a:t>
            </a:r>
            <a:r>
              <a:rPr lang="ko-KR" altLang="en-US" sz="1800" b="0" dirty="0">
                <a:solidFill>
                  <a:srgbClr val="1F2328"/>
                </a:solidFill>
                <a:latin typeface="맑은 고딕"/>
                <a:ea typeface="맑은 고딕"/>
                <a:cs typeface="맑은 고딕"/>
              </a:rPr>
              <a:t>	날씨 전문가들이 질병을 직접 예측하고 있다</a:t>
            </a:r>
            <a:endParaRPr lang="ko-KR" altLang="en-US" sz="1800" b="0" dirty="0">
              <a:solidFill>
                <a:srgbClr val="1F2328"/>
              </a:solidFill>
              <a:latin typeface="맑은 고딕"/>
              <a:ea typeface="맑은 고딕"/>
              <a:cs typeface="맑은 고딕"/>
            </a:endParaRPr>
          </a:p>
        </p:txBody>
      </p:sp>
      <p:sp>
        <p:nvSpPr>
          <p:cNvPr id="15" name="choice_4"/>
          <p:cNvSpPr txBox="1"/>
          <p:nvPr/>
        </p:nvSpPr>
        <p:spPr>
          <a:xfrm>
            <a:off x="457200" y="4079748"/>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④</a:t>
            </a:r>
            <a:r>
              <a:rPr lang="ko-KR" altLang="en-US" sz="1800" b="0" dirty="0">
                <a:solidFill>
                  <a:srgbClr val="1F2328"/>
                </a:solidFill>
                <a:latin typeface="맑은 고딕"/>
                <a:ea typeface="맑은 고딕"/>
                <a:cs typeface="맑은 고딕"/>
              </a:rPr>
              <a:t>	빅데이터는 회사의 판매에 도움이 되지 않는다</a:t>
            </a:r>
            <a:endParaRPr lang="ko-KR" altLang="en-US" sz="1800" b="0" dirty="0">
              <a:solidFill>
                <a:srgbClr val="1F2328"/>
              </a:solidFill>
              <a:latin typeface="맑은 고딕"/>
              <a:ea typeface="맑은 고딕"/>
              <a:cs typeface="맑은 고딕"/>
            </a:endParaRPr>
          </a:p>
        </p:txBody>
      </p:sp>
      <p:sp>
        <p:nvSpPr>
          <p:cNvPr id="16" name="choice_5"/>
          <p:cNvSpPr txBox="1"/>
          <p:nvPr/>
        </p:nvSpPr>
        <p:spPr>
          <a:xfrm>
            <a:off x="457200" y="4487164"/>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⑤</a:t>
            </a:r>
            <a:r>
              <a:rPr lang="ko-KR" altLang="en-US" sz="1800" b="0" dirty="0">
                <a:solidFill>
                  <a:srgbClr val="1F2328"/>
                </a:solidFill>
                <a:latin typeface="맑은 고딕"/>
                <a:ea typeface="맑은 고딕"/>
                <a:cs typeface="맑은 고딕"/>
              </a:rPr>
              <a:t>	독감의 확산은 빅데이터로도 예측할 수 없다</a:t>
            </a:r>
            <a:endParaRPr lang="ko-KR" altLang="en-US" sz="1800" b="0" dirty="0">
              <a:solidFill>
                <a:srgbClr val="1F2328"/>
              </a:solidFill>
              <a:latin typeface="맑은 고딕"/>
              <a:ea typeface="맑은 고딕"/>
              <a:cs typeface="맑은 고딕"/>
            </a:endParaRPr>
          </a:p>
        </p:txBody>
      </p:sp>
      <p:sp>
        <p:nvSpPr>
          <p:cNvPr id="17" name="rv_answer"/>
          <p:cNvSpPr/>
          <p:nvPr/>
        </p:nvSpPr>
        <p:spPr>
          <a:xfrm>
            <a:off x="457200" y="497687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① </a:t>
            </a:r>
            <a:r>
              <a:rPr lang="ko-KR" altLang="en-US" sz="1900" b="1" dirty="0">
                <a:solidFill>
                  <a:srgbClr val="5A4200"/>
                </a:solidFill>
                <a:latin typeface="맑은 고딕"/>
                <a:ea typeface="맑은 고딕"/>
                <a:cs typeface="맑은 고딕"/>
              </a:rPr>
              <a:t>독감 철에는 독감 증상 검색이 더 늘어난다</a:t>
            </a:r>
            <a:endParaRPr lang="ko-KR" altLang="en-US" sz="1900" b="1" dirty="0">
              <a:solidFill>
                <a:srgbClr val="5A4200"/>
              </a:solidFill>
              <a:latin typeface="맑은 고딕"/>
              <a:ea typeface="맑은 고딕"/>
              <a:cs typeface="맑은 고딕"/>
            </a:endParaRPr>
          </a:p>
        </p:txBody>
      </p:sp>
      <p:sp>
        <p:nvSpPr>
          <p:cNvPr id="18" name="rv_why"/>
          <p:cNvSpPr/>
          <p:nvPr/>
        </p:nvSpPr>
        <p:spPr>
          <a:xfrm>
            <a:off x="457200" y="5575808"/>
            <a:ext cx="11277295" cy="84327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사람들이 온라인에서 독감 증상을 더 많이 검색할 것이라 했으므로 ①이 일치한다.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25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25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25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7" grpId="0" animBg="1"/>
      <p:bldP spid="9" grpId="0" animBg="1"/>
      <p:bldP spid="10" grpId="0" animBg="1"/>
      <p:bldP spid="18" grpId="0" animBg="1"/>
    </p:bldLst>
  </p:timing>
</p:sld>
</file>

<file path=ppt/slides/slide17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L7-2</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2 · 1</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1. 주어진 글 다음에 이어질 글의 순서로 가장 적절한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7</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정답 원리</a:t>
            </a:r>
            <a:endParaRPr lang="ko-KR" altLang="en-US" sz="1000" b="0" dirty="0">
              <a:solidFill>
                <a:srgbClr val="7A808C"/>
              </a:solidFill>
              <a:latin typeface="맑은 고딕"/>
              <a:ea typeface="맑은 고딕"/>
              <a:cs typeface="맑은 고딕"/>
            </a:endParaRPr>
          </a:p>
        </p:txBody>
      </p:sp>
      <p:sp>
        <p:nvSpPr>
          <p:cNvPr id="7" name="given_card"/>
          <p:cNvSpPr/>
          <p:nvPr/>
        </p:nvSpPr>
        <p:spPr>
          <a:xfrm>
            <a:off x="457200" y="950976"/>
            <a:ext cx="11277295" cy="481838"/>
          </a:xfrm>
          <a:prstGeom prst="roundRect">
            <a:avLst>
              <a:gd name="adj" fmla="val 6000"/>
            </a:avLst>
          </a:prstGeom>
          <a:solidFill>
            <a:srgbClr val="FFFFFF"/>
          </a:solidFill>
          <a:ln w="15875">
            <a:solidFill>
              <a:srgbClr val="1E2A5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given"/>
          <p:cNvSpPr txBox="1"/>
          <p:nvPr/>
        </p:nvSpPr>
        <p:spPr>
          <a:xfrm>
            <a:off x="457200" y="950976"/>
            <a:ext cx="11277295" cy="481838"/>
          </a:xfrm>
          <a:prstGeom prst="rect">
            <a:avLst/>
          </a:prstGeom>
          <a:noFill/>
        </p:spPr>
        <p:txBody>
          <a:bodyPr wrap="square" lIns="201168" tIns="100584" rIns="201168" bIns="100584" anchor="t" rtlCol="0">
            <a:noAutofit/>
          </a:bodyPr>
          <a:lstStyle/>
          <a:p>
            <a:pPr algn="l">
              <a:lnSpc>
                <a:spcPts val="2210"/>
              </a:lnSpc>
              <a:spcBef>
                <a:spcPts val="0"/>
              </a:spcBef>
              <a:spcAft>
                <a:spcPts val="0"/>
              </a:spcAft>
              <a:buNone/>
            </a:pPr>
            <a:r>
              <a:rPr lang="en-US" altLang="ko-KR" sz="1700" b="0" dirty="0">
                <a:solidFill>
                  <a:srgbClr val="1F2328"/>
                </a:solidFill>
                <a:latin typeface="Calibri"/>
                <a:ea typeface="맑은 고딕"/>
                <a:cs typeface="Calibri"/>
              </a:rPr>
              <a:t>Big data is influencing almost all parts of our lives.</a:t>
            </a:r>
            <a:endParaRPr lang="en-US" altLang="ko-KR" sz="1700" b="0" dirty="0">
              <a:solidFill>
                <a:srgbClr val="1F2328"/>
              </a:solidFill>
              <a:latin typeface="Calibri"/>
              <a:ea typeface="맑은 고딕"/>
              <a:cs typeface="Calibri"/>
            </a:endParaRPr>
          </a:p>
        </p:txBody>
      </p:sp>
      <p:sp>
        <p:nvSpPr>
          <p:cNvPr id="9" name="parts_card"/>
          <p:cNvSpPr/>
          <p:nvPr/>
        </p:nvSpPr>
        <p:spPr>
          <a:xfrm>
            <a:off x="457200" y="1560830"/>
            <a:ext cx="11277295" cy="2794762"/>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parts"/>
          <p:cNvSpPr txBox="1"/>
          <p:nvPr/>
        </p:nvSpPr>
        <p:spPr>
          <a:xfrm>
            <a:off x="457200" y="1560830"/>
            <a:ext cx="11277295" cy="2794762"/>
          </a:xfrm>
          <a:prstGeom prst="rect">
            <a:avLst/>
          </a:prstGeom>
          <a:noFill/>
        </p:spPr>
        <p:txBody>
          <a:bodyPr wrap="square" lIns="201168" tIns="118872" rIns="201168" bIns="118872" anchor="t" rtlCol="0">
            <a:noAutofit/>
          </a:bodyPr>
          <a:lstStyle/>
          <a:p>
            <a:pPr algn="just" marL="453390" indent="-453390">
              <a:lnSpc>
                <a:spcPts val="2210"/>
              </a:lnSpc>
              <a:spcBef>
                <a:spcPts val="0"/>
              </a:spcBef>
              <a:spcAft>
                <a:spcPts val="770"/>
              </a:spcAft>
              <a:buNone/>
              <a:tabLst>
                <a:tab pos="453390" algn="l"/>
              </a:tabLst>
            </a:pPr>
            <a:r>
              <a:rPr lang="en-US" altLang="ko-KR" sz="1700" b="1" dirty="0">
                <a:solidFill>
                  <a:srgbClr val="1E2A5A"/>
                </a:solidFill>
                <a:latin typeface="Calibri"/>
                <a:ea typeface="맑은 고딕"/>
                <a:cs typeface="Calibri"/>
              </a:rPr>
              <a:t>(A)</a:t>
            </a:r>
            <a:r>
              <a:rPr lang="en-US" altLang="ko-KR" sz="1700" b="0" dirty="0">
                <a:solidFill>
                  <a:srgbClr val="1F2328"/>
                </a:solidFill>
                <a:latin typeface="Calibri"/>
                <a:ea typeface="맑은 고딕"/>
                <a:cs typeface="Calibri"/>
              </a:rPr>
              <a:t>	Did you know that health professionals can now forecast a disease just as weather experts forecast the weather? This is possible thanks to big data. For example, when the flu season comes, people will buy more flu medicine.</a:t>
            </a:r>
            <a:endParaRPr lang="en-US" altLang="ko-KR" sz="1700" b="0" dirty="0">
              <a:solidFill>
                <a:srgbClr val="1F2328"/>
              </a:solidFill>
              <a:latin typeface="Calibri"/>
              <a:ea typeface="맑은 고딕"/>
              <a:cs typeface="Calibri"/>
            </a:endParaRPr>
          </a:p>
          <a:p>
            <a:pPr algn="just" marL="453390" indent="-453390">
              <a:lnSpc>
                <a:spcPts val="2210"/>
              </a:lnSpc>
              <a:spcBef>
                <a:spcPts val="0"/>
              </a:spcBef>
              <a:spcAft>
                <a:spcPts val="770"/>
              </a:spcAft>
              <a:buNone/>
              <a:tabLst>
                <a:tab pos="453390" algn="l"/>
              </a:tabLst>
            </a:pPr>
            <a:r>
              <a:rPr lang="en-US" altLang="ko-KR" sz="1700" b="1" dirty="0">
                <a:solidFill>
                  <a:srgbClr val="1E2A5A"/>
                </a:solidFill>
                <a:latin typeface="Calibri"/>
                <a:ea typeface="맑은 고딕"/>
                <a:cs typeface="Calibri"/>
              </a:rPr>
              <a:t>(B)</a:t>
            </a:r>
            <a:r>
              <a:rPr lang="en-US" altLang="ko-KR" sz="1700" b="0" dirty="0">
                <a:solidFill>
                  <a:srgbClr val="1F2328"/>
                </a:solidFill>
                <a:latin typeface="Calibri"/>
                <a:ea typeface="맑은 고딕"/>
                <a:cs typeface="Calibri"/>
              </a:rPr>
              <a:t>	It helps companies understand their customers’ needs better and helps them sell more products. It helps people avoid heavy traffic. Its uses are endless, and here are some interesting examples.</a:t>
            </a:r>
            <a:endParaRPr lang="en-US" altLang="ko-KR" sz="1700" b="0" dirty="0">
              <a:solidFill>
                <a:srgbClr val="1F2328"/>
              </a:solidFill>
              <a:latin typeface="Calibri"/>
              <a:ea typeface="맑은 고딕"/>
              <a:cs typeface="Calibri"/>
            </a:endParaRPr>
          </a:p>
          <a:p>
            <a:pPr algn="just" marL="453390" indent="-453390">
              <a:lnSpc>
                <a:spcPts val="2210"/>
              </a:lnSpc>
              <a:spcBef>
                <a:spcPts val="0"/>
              </a:spcBef>
              <a:spcAft>
                <a:spcPts val="770"/>
              </a:spcAft>
              <a:buNone/>
              <a:tabLst>
                <a:tab pos="453390" algn="l"/>
              </a:tabLst>
            </a:pPr>
            <a:r>
              <a:rPr lang="en-US" altLang="ko-KR" sz="1700" b="1" dirty="0">
                <a:solidFill>
                  <a:srgbClr val="1E2A5A"/>
                </a:solidFill>
                <a:latin typeface="Calibri"/>
                <a:ea typeface="맑은 고딕"/>
                <a:cs typeface="Calibri"/>
              </a:rPr>
              <a:t>(C)</a:t>
            </a:r>
            <a:r>
              <a:rPr lang="en-US" altLang="ko-KR" sz="1700" b="0" dirty="0">
                <a:solidFill>
                  <a:srgbClr val="1F2328"/>
                </a:solidFill>
                <a:latin typeface="Calibri"/>
                <a:ea typeface="맑은 고딕"/>
                <a:cs typeface="Calibri"/>
              </a:rPr>
              <a:t>	They will also search online about flu symptoms more. If this kind of data is analyzed wisely, the spread of the flu can be predicted.</a:t>
            </a:r>
            <a:endParaRPr lang="en-US" altLang="ko-KR" sz="1700" b="0" dirty="0">
              <a:solidFill>
                <a:srgbClr val="1F2328"/>
              </a:solidFill>
              <a:latin typeface="Calibri"/>
              <a:ea typeface="맑은 고딕"/>
              <a:cs typeface="Calibri"/>
            </a:endParaRPr>
          </a:p>
        </p:txBody>
      </p:sp>
      <p:sp>
        <p:nvSpPr>
          <p:cNvPr id="11" name="options"/>
          <p:cNvSpPr txBox="1"/>
          <p:nvPr/>
        </p:nvSpPr>
        <p:spPr>
          <a:xfrm>
            <a:off x="457200" y="4465320"/>
            <a:ext cx="11277295" cy="420624"/>
          </a:xfrm>
          <a:prstGeom prst="rect">
            <a:avLst/>
          </a:prstGeom>
          <a:noFill/>
        </p:spPr>
        <p:txBody>
          <a:bodyPr wrap="square" lIns="91440" tIns="18288" rIns="91440" bIns="18288" anchor="ctr" rtlCol="0">
            <a:noAutofit/>
          </a:bodyPr>
          <a:lstStyle/>
          <a:p>
            <a:pPr algn="ctr">
              <a:lnSpc>
                <a:spcPts val="2560"/>
              </a:lnSpc>
              <a:spcBef>
                <a:spcPts val="0"/>
              </a:spcBef>
              <a:spcAft>
                <a:spcPts val="0"/>
              </a:spcAft>
              <a:buNone/>
            </a:pPr>
            <a:r>
              <a:rPr lang="ko-KR" altLang="en-US" sz="1800" b="1" dirty="0">
                <a:solidFill>
                  <a:srgbClr val="1E2A5A"/>
                </a:solidFill>
                <a:latin typeface="맑은 고딕"/>
                <a:ea typeface="맑은 고딕"/>
                <a:cs typeface="맑은 고딕"/>
              </a:rPr>
              <a:t>① </a:t>
            </a:r>
            <a:r>
              <a:rPr lang="en-US" altLang="ko-KR" sz="1800" b="0" dirty="0">
                <a:solidFill>
                  <a:srgbClr val="1F2328"/>
                </a:solidFill>
                <a:latin typeface="Calibri"/>
                <a:ea typeface="맑은 고딕"/>
                <a:cs typeface="Calibri"/>
              </a:rPr>
              <a:t>(A) - (C) - (B)</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② </a:t>
            </a:r>
            <a:r>
              <a:rPr lang="en-US" altLang="ko-KR" sz="1800" b="0" dirty="0">
                <a:solidFill>
                  <a:srgbClr val="1F2328"/>
                </a:solidFill>
                <a:latin typeface="Calibri"/>
                <a:ea typeface="맑은 고딕"/>
                <a:cs typeface="Calibri"/>
              </a:rPr>
              <a:t>(B) - (A) - (C)</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③ </a:t>
            </a:r>
            <a:r>
              <a:rPr lang="en-US" altLang="ko-KR" sz="1800" b="0" dirty="0">
                <a:solidFill>
                  <a:srgbClr val="1F2328"/>
                </a:solidFill>
                <a:latin typeface="Calibri"/>
                <a:ea typeface="맑은 고딕"/>
                <a:cs typeface="Calibri"/>
              </a:rPr>
              <a:t>(B) - (C) - (A)</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④ </a:t>
            </a:r>
            <a:r>
              <a:rPr lang="en-US" altLang="ko-KR" sz="1800" b="0" dirty="0">
                <a:solidFill>
                  <a:srgbClr val="1F2328"/>
                </a:solidFill>
                <a:latin typeface="Calibri"/>
                <a:ea typeface="맑은 고딕"/>
                <a:cs typeface="Calibri"/>
              </a:rPr>
              <a:t>(C) - (A) - (B)</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⑤ </a:t>
            </a:r>
            <a:r>
              <a:rPr lang="en-US" altLang="ko-KR" sz="1800" b="0" dirty="0">
                <a:solidFill>
                  <a:srgbClr val="1F2328"/>
                </a:solidFill>
                <a:latin typeface="Calibri"/>
                <a:ea typeface="맑은 고딕"/>
                <a:cs typeface="Calibri"/>
              </a:rPr>
              <a:t>(C) - (B) - (A)</a:t>
            </a:r>
            <a:endParaRPr lang="en-US" altLang="ko-KR" sz="1800" b="0" dirty="0">
              <a:solidFill>
                <a:srgbClr val="1F2328"/>
              </a:solidFill>
              <a:latin typeface="Calibri"/>
              <a:ea typeface="맑은 고딕"/>
              <a:cs typeface="Calibri"/>
            </a:endParaRPr>
          </a:p>
        </p:txBody>
      </p:sp>
      <p:sp>
        <p:nvSpPr>
          <p:cNvPr id="12" name="rv_pick"/>
          <p:cNvSpPr txBox="1"/>
          <p:nvPr/>
        </p:nvSpPr>
        <p:spPr>
          <a:xfrm>
            <a:off x="457200" y="4465320"/>
            <a:ext cx="11277295" cy="420624"/>
          </a:xfrm>
          <a:prstGeom prst="rect">
            <a:avLst/>
          </a:prstGeom>
          <a:noFill/>
        </p:spPr>
        <p:txBody>
          <a:bodyPr wrap="square" lIns="91440" tIns="18288" rIns="91440" bIns="18288" anchor="ctr" rtlCol="0">
            <a:noAutofit/>
          </a:bodyPr>
          <a:lstStyle/>
          <a:p>
            <a:pPr algn="ctr">
              <a:lnSpc>
                <a:spcPts val="2560"/>
              </a:lnSpc>
              <a:spcBef>
                <a:spcPts val="0"/>
              </a:spcBef>
              <a:spcAft>
                <a:spcPts val="0"/>
              </a:spcAft>
              <a:buNone/>
            </a:pPr>
            <a:r>
              <a:rPr lang="ko-KR" altLang="en-US" sz="1800" b="1" dirty="0">
                <a:solidFill>
                  <a:srgbClr val="1E2A5A">
                    <a:alpha val="0"/>
                  </a:srgbClr>
                </a:solidFill>
                <a:latin typeface="맑은 고딕"/>
                <a:ea typeface="맑은 고딕"/>
                <a:cs typeface="맑은 고딕"/>
              </a:rPr>
              <a:t>① </a:t>
            </a:r>
            <a:r>
              <a:rPr lang="en-US" altLang="ko-KR" sz="1800" b="0" dirty="0">
                <a:solidFill>
                  <a:srgbClr val="1F2328">
                    <a:alpha val="0"/>
                  </a:srgbClr>
                </a:solidFill>
                <a:latin typeface="Calibri"/>
                <a:ea typeface="맑은 고딕"/>
                <a:cs typeface="Calibri"/>
              </a:rPr>
              <a:t>(A) - (C) - (B)</a:t>
            </a:r>
            <a:r>
              <a:rPr lang="en-US" altLang="ko-KR" sz="1800" b="0" dirty="0">
                <a:solidFill>
                  <a:srgbClr val="1F2328">
                    <a:alpha val="0"/>
                  </a:srgbClr>
                </a:solidFill>
                <a:latin typeface="Calibri"/>
                <a:ea typeface="맑은 고딕"/>
                <a:cs typeface="Calibri"/>
              </a:rPr>
              <a:t>       </a:t>
            </a:r>
            <a:r>
              <a:rPr lang="ko-KR" altLang="en-US" sz="1800" b="1" dirty="0">
                <a:solidFill>
                  <a:srgbClr val="C00000"/>
                </a:solidFill>
                <a:highlight>
                  <a:srgbClr val="FFFFFF"/>
                </a:highlight>
                <a:latin typeface="맑은 고딕"/>
                <a:ea typeface="맑은 고딕"/>
                <a:cs typeface="맑은 고딕"/>
              </a:rPr>
              <a:t>② </a:t>
            </a:r>
            <a:r>
              <a:rPr lang="en-US" altLang="ko-KR" sz="1800" b="0" dirty="0">
                <a:solidFill>
                  <a:srgbClr val="C00000"/>
                </a:solidFill>
                <a:highlight>
                  <a:srgbClr val="FFFFFF"/>
                </a:highlight>
                <a:latin typeface="Calibri"/>
                <a:ea typeface="맑은 고딕"/>
                <a:cs typeface="Calibri"/>
              </a:rPr>
              <a:t>(B) - (A) - (C)</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③ </a:t>
            </a:r>
            <a:r>
              <a:rPr lang="en-US" altLang="ko-KR" sz="1800" b="0" dirty="0">
                <a:solidFill>
                  <a:srgbClr val="1F2328">
                    <a:alpha val="0"/>
                  </a:srgbClr>
                </a:solidFill>
                <a:latin typeface="Calibri"/>
                <a:ea typeface="맑은 고딕"/>
                <a:cs typeface="Calibri"/>
              </a:rPr>
              <a:t>(B) - (C) - (A)</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④ </a:t>
            </a:r>
            <a:r>
              <a:rPr lang="en-US" altLang="ko-KR" sz="1800" b="0" dirty="0">
                <a:solidFill>
                  <a:srgbClr val="1F2328">
                    <a:alpha val="0"/>
                  </a:srgbClr>
                </a:solidFill>
                <a:latin typeface="Calibri"/>
                <a:ea typeface="맑은 고딕"/>
                <a:cs typeface="Calibri"/>
              </a:rPr>
              <a:t>(C) - (A) - (B)</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⑤ </a:t>
            </a:r>
            <a:r>
              <a:rPr lang="en-US" altLang="ko-KR" sz="1800" b="0" dirty="0">
                <a:solidFill>
                  <a:srgbClr val="1F2328">
                    <a:alpha val="0"/>
                  </a:srgbClr>
                </a:solidFill>
                <a:latin typeface="Calibri"/>
                <a:ea typeface="맑은 고딕"/>
                <a:cs typeface="Calibri"/>
              </a:rPr>
              <a:t>(C) - (B) - (A)</a:t>
            </a:r>
            <a:endParaRPr lang="en-US" altLang="ko-KR" sz="1800" b="0" dirty="0">
              <a:solidFill>
                <a:srgbClr val="1F2328"/>
              </a:solidFill>
              <a:latin typeface="Calibri"/>
              <a:ea typeface="맑은 고딕"/>
              <a:cs typeface="Calibri"/>
            </a:endParaRPr>
          </a:p>
        </p:txBody>
      </p:sp>
      <p:sp>
        <p:nvSpPr>
          <p:cNvPr id="13" name="rv_answer"/>
          <p:cNvSpPr/>
          <p:nvPr/>
        </p:nvSpPr>
        <p:spPr>
          <a:xfrm>
            <a:off x="457200" y="4977384"/>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② </a:t>
            </a:r>
            <a:r>
              <a:rPr lang="en-US" altLang="ko-KR" sz="1900" b="1" dirty="0">
                <a:solidFill>
                  <a:srgbClr val="5A4200"/>
                </a:solidFill>
                <a:latin typeface="Calibri"/>
                <a:ea typeface="맑은 고딕"/>
                <a:cs typeface="Calibri"/>
              </a:rPr>
              <a:t>(B) - (A) - (C)</a:t>
            </a:r>
            <a:endParaRPr lang="en-US" altLang="ko-KR" sz="1900" b="1" dirty="0">
              <a:solidFill>
                <a:srgbClr val="5A4200"/>
              </a:solidFill>
              <a:latin typeface="Calibri"/>
              <a:ea typeface="맑은 고딕"/>
              <a:cs typeface="Calibri"/>
            </a:endParaRPr>
          </a:p>
        </p:txBody>
      </p:sp>
      <p:sp>
        <p:nvSpPr>
          <p:cNvPr id="14" name="rv_why"/>
          <p:cNvSpPr/>
          <p:nvPr/>
        </p:nvSpPr>
        <p:spPr>
          <a:xfrm>
            <a:off x="457200" y="5576316"/>
            <a:ext cx="11277295" cy="842771"/>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(B) 'It'은 빅데이터로, 회사와 교통에 쓰이며 흥미로운 예를 예고한다 → (A) 질병 예측과 독감 약 구매 예시 → (C) 'They'가 그 사람들을 받아 검색과 확산 예측으로 맺는다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25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250"/>
                                        <p:tgtEl>
                                          <p:spTgt spid="1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2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animBg="1"/>
    </p:bldLst>
  </p:timing>
</p:sld>
</file>

<file path=ppt/slides/slide17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L7-2</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2 · 2</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2. 주어진 글 다음에 이어질 글의 순서로 가장 적절한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7</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정답 원리</a:t>
            </a:r>
            <a:endParaRPr lang="ko-KR" altLang="en-US" sz="1000" b="0" dirty="0">
              <a:solidFill>
                <a:srgbClr val="7A808C"/>
              </a:solidFill>
              <a:latin typeface="맑은 고딕"/>
              <a:ea typeface="맑은 고딕"/>
              <a:cs typeface="맑은 고딕"/>
            </a:endParaRPr>
          </a:p>
        </p:txBody>
      </p:sp>
      <p:sp>
        <p:nvSpPr>
          <p:cNvPr id="7" name="given_card"/>
          <p:cNvSpPr/>
          <p:nvPr/>
        </p:nvSpPr>
        <p:spPr>
          <a:xfrm>
            <a:off x="457200" y="950976"/>
            <a:ext cx="11277295" cy="481838"/>
          </a:xfrm>
          <a:prstGeom prst="roundRect">
            <a:avLst>
              <a:gd name="adj" fmla="val 6000"/>
            </a:avLst>
          </a:prstGeom>
          <a:solidFill>
            <a:srgbClr val="FFFFFF"/>
          </a:solidFill>
          <a:ln w="15875">
            <a:solidFill>
              <a:srgbClr val="1E2A5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given"/>
          <p:cNvSpPr txBox="1"/>
          <p:nvPr/>
        </p:nvSpPr>
        <p:spPr>
          <a:xfrm>
            <a:off x="457200" y="950976"/>
            <a:ext cx="11277295" cy="481838"/>
          </a:xfrm>
          <a:prstGeom prst="rect">
            <a:avLst/>
          </a:prstGeom>
          <a:noFill/>
        </p:spPr>
        <p:txBody>
          <a:bodyPr wrap="square" lIns="201168" tIns="100584" rIns="201168" bIns="100584" anchor="t" rtlCol="0">
            <a:noAutofit/>
          </a:bodyPr>
          <a:lstStyle/>
          <a:p>
            <a:pPr algn="l">
              <a:lnSpc>
                <a:spcPts val="2210"/>
              </a:lnSpc>
              <a:spcBef>
                <a:spcPts val="0"/>
              </a:spcBef>
              <a:spcAft>
                <a:spcPts val="0"/>
              </a:spcAft>
              <a:buNone/>
            </a:pPr>
            <a:r>
              <a:rPr lang="en-US" altLang="ko-KR" sz="1700" b="0" dirty="0">
                <a:solidFill>
                  <a:srgbClr val="1F2328"/>
                </a:solidFill>
                <a:latin typeface="Calibri"/>
                <a:ea typeface="맑은 고딕"/>
                <a:cs typeface="Calibri"/>
              </a:rPr>
              <a:t>Big data is influencing almost all parts of our lives.</a:t>
            </a:r>
            <a:endParaRPr lang="en-US" altLang="ko-KR" sz="1700" b="0" dirty="0">
              <a:solidFill>
                <a:srgbClr val="1F2328"/>
              </a:solidFill>
              <a:latin typeface="Calibri"/>
              <a:ea typeface="맑은 고딕"/>
              <a:cs typeface="Calibri"/>
            </a:endParaRPr>
          </a:p>
        </p:txBody>
      </p:sp>
      <p:sp>
        <p:nvSpPr>
          <p:cNvPr id="9" name="parts_card"/>
          <p:cNvSpPr/>
          <p:nvPr/>
        </p:nvSpPr>
        <p:spPr>
          <a:xfrm>
            <a:off x="457200" y="1560830"/>
            <a:ext cx="11277295" cy="2794762"/>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parts"/>
          <p:cNvSpPr txBox="1"/>
          <p:nvPr/>
        </p:nvSpPr>
        <p:spPr>
          <a:xfrm>
            <a:off x="457200" y="1560830"/>
            <a:ext cx="11277295" cy="2794762"/>
          </a:xfrm>
          <a:prstGeom prst="rect">
            <a:avLst/>
          </a:prstGeom>
          <a:noFill/>
        </p:spPr>
        <p:txBody>
          <a:bodyPr wrap="square" lIns="201168" tIns="118872" rIns="201168" bIns="118872" anchor="t" rtlCol="0">
            <a:noAutofit/>
          </a:bodyPr>
          <a:lstStyle/>
          <a:p>
            <a:pPr algn="just" marL="453390" indent="-453390">
              <a:lnSpc>
                <a:spcPts val="2210"/>
              </a:lnSpc>
              <a:spcBef>
                <a:spcPts val="0"/>
              </a:spcBef>
              <a:spcAft>
                <a:spcPts val="770"/>
              </a:spcAft>
              <a:buNone/>
              <a:tabLst>
                <a:tab pos="453390" algn="l"/>
              </a:tabLst>
            </a:pPr>
            <a:r>
              <a:rPr lang="en-US" altLang="ko-KR" sz="1700" b="1" dirty="0">
                <a:solidFill>
                  <a:srgbClr val="1E2A5A"/>
                </a:solidFill>
                <a:latin typeface="Calibri"/>
                <a:ea typeface="맑은 고딕"/>
                <a:cs typeface="Calibri"/>
              </a:rPr>
              <a:t>(A)</a:t>
            </a:r>
            <a:r>
              <a:rPr lang="en-US" altLang="ko-KR" sz="1700" b="0" dirty="0">
                <a:solidFill>
                  <a:srgbClr val="1F2328"/>
                </a:solidFill>
                <a:latin typeface="Calibri"/>
                <a:ea typeface="맑은 고딕"/>
                <a:cs typeface="Calibri"/>
              </a:rPr>
              <a:t>	Did you know that health professionals can now forecast a disease just as weather experts forecast the weather? This is possible thanks to big data. For example, when the flu season comes, people will buy more flu medicine.</a:t>
            </a:r>
            <a:endParaRPr lang="en-US" altLang="ko-KR" sz="1700" b="0" dirty="0">
              <a:solidFill>
                <a:srgbClr val="1F2328"/>
              </a:solidFill>
              <a:latin typeface="Calibri"/>
              <a:ea typeface="맑은 고딕"/>
              <a:cs typeface="Calibri"/>
            </a:endParaRPr>
          </a:p>
          <a:p>
            <a:pPr algn="just" marL="453390" indent="-453390">
              <a:lnSpc>
                <a:spcPts val="2210"/>
              </a:lnSpc>
              <a:spcBef>
                <a:spcPts val="0"/>
              </a:spcBef>
              <a:spcAft>
                <a:spcPts val="770"/>
              </a:spcAft>
              <a:buNone/>
              <a:tabLst>
                <a:tab pos="453390" algn="l"/>
              </a:tabLst>
            </a:pPr>
            <a:r>
              <a:rPr lang="en-US" altLang="ko-KR" sz="1700" b="1" dirty="0">
                <a:solidFill>
                  <a:srgbClr val="1E2A5A"/>
                </a:solidFill>
                <a:latin typeface="Calibri"/>
                <a:ea typeface="맑은 고딕"/>
                <a:cs typeface="Calibri"/>
              </a:rPr>
              <a:t>(B)</a:t>
            </a:r>
            <a:r>
              <a:rPr lang="en-US" altLang="ko-KR" sz="1700" b="0" dirty="0">
                <a:solidFill>
                  <a:srgbClr val="1F2328"/>
                </a:solidFill>
                <a:latin typeface="Calibri"/>
                <a:ea typeface="맑은 고딕"/>
                <a:cs typeface="Calibri"/>
              </a:rPr>
              <a:t>	They will also search online about flu symptoms more. If this kind of data is analyzed wisely, the spread of the flu can be predicted.</a:t>
            </a:r>
            <a:endParaRPr lang="en-US" altLang="ko-KR" sz="1700" b="0" dirty="0">
              <a:solidFill>
                <a:srgbClr val="1F2328"/>
              </a:solidFill>
              <a:latin typeface="Calibri"/>
              <a:ea typeface="맑은 고딕"/>
              <a:cs typeface="Calibri"/>
            </a:endParaRPr>
          </a:p>
          <a:p>
            <a:pPr algn="just" marL="453390" indent="-453390">
              <a:lnSpc>
                <a:spcPts val="2210"/>
              </a:lnSpc>
              <a:spcBef>
                <a:spcPts val="0"/>
              </a:spcBef>
              <a:spcAft>
                <a:spcPts val="770"/>
              </a:spcAft>
              <a:buNone/>
              <a:tabLst>
                <a:tab pos="453390" algn="l"/>
              </a:tabLst>
            </a:pPr>
            <a:r>
              <a:rPr lang="en-US" altLang="ko-KR" sz="1700" b="1" dirty="0">
                <a:solidFill>
                  <a:srgbClr val="1E2A5A"/>
                </a:solidFill>
                <a:latin typeface="Calibri"/>
                <a:ea typeface="맑은 고딕"/>
                <a:cs typeface="Calibri"/>
              </a:rPr>
              <a:t>(C)</a:t>
            </a:r>
            <a:r>
              <a:rPr lang="en-US" altLang="ko-KR" sz="1700" b="0" dirty="0">
                <a:solidFill>
                  <a:srgbClr val="1F2328"/>
                </a:solidFill>
                <a:latin typeface="Calibri"/>
                <a:ea typeface="맑은 고딕"/>
                <a:cs typeface="Calibri"/>
              </a:rPr>
              <a:t>	It helps companies understand their customers’ needs better and helps them sell more products. It helps people avoid heavy traffic. Its uses are endless, and here are some interesting examples.</a:t>
            </a:r>
            <a:endParaRPr lang="en-US" altLang="ko-KR" sz="1700" b="0" dirty="0">
              <a:solidFill>
                <a:srgbClr val="1F2328"/>
              </a:solidFill>
              <a:latin typeface="Calibri"/>
              <a:ea typeface="맑은 고딕"/>
              <a:cs typeface="Calibri"/>
            </a:endParaRPr>
          </a:p>
        </p:txBody>
      </p:sp>
      <p:sp>
        <p:nvSpPr>
          <p:cNvPr id="11" name="options"/>
          <p:cNvSpPr txBox="1"/>
          <p:nvPr/>
        </p:nvSpPr>
        <p:spPr>
          <a:xfrm>
            <a:off x="457200" y="4465320"/>
            <a:ext cx="11277295" cy="420624"/>
          </a:xfrm>
          <a:prstGeom prst="rect">
            <a:avLst/>
          </a:prstGeom>
          <a:noFill/>
        </p:spPr>
        <p:txBody>
          <a:bodyPr wrap="square" lIns="91440" tIns="18288" rIns="91440" bIns="18288" anchor="ctr" rtlCol="0">
            <a:noAutofit/>
          </a:bodyPr>
          <a:lstStyle/>
          <a:p>
            <a:pPr algn="ctr">
              <a:lnSpc>
                <a:spcPts val="2560"/>
              </a:lnSpc>
              <a:spcBef>
                <a:spcPts val="0"/>
              </a:spcBef>
              <a:spcAft>
                <a:spcPts val="0"/>
              </a:spcAft>
              <a:buNone/>
            </a:pPr>
            <a:r>
              <a:rPr lang="ko-KR" altLang="en-US" sz="1800" b="1" dirty="0">
                <a:solidFill>
                  <a:srgbClr val="1E2A5A"/>
                </a:solidFill>
                <a:latin typeface="맑은 고딕"/>
                <a:ea typeface="맑은 고딕"/>
                <a:cs typeface="맑은 고딕"/>
              </a:rPr>
              <a:t>① </a:t>
            </a:r>
            <a:r>
              <a:rPr lang="en-US" altLang="ko-KR" sz="1800" b="0" dirty="0">
                <a:solidFill>
                  <a:srgbClr val="1F2328"/>
                </a:solidFill>
                <a:latin typeface="Calibri"/>
                <a:ea typeface="맑은 고딕"/>
                <a:cs typeface="Calibri"/>
              </a:rPr>
              <a:t>(A) - (C) - (B)</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② </a:t>
            </a:r>
            <a:r>
              <a:rPr lang="en-US" altLang="ko-KR" sz="1800" b="0" dirty="0">
                <a:solidFill>
                  <a:srgbClr val="1F2328"/>
                </a:solidFill>
                <a:latin typeface="Calibri"/>
                <a:ea typeface="맑은 고딕"/>
                <a:cs typeface="Calibri"/>
              </a:rPr>
              <a:t>(B) - (A) - (C)</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③ </a:t>
            </a:r>
            <a:r>
              <a:rPr lang="en-US" altLang="ko-KR" sz="1800" b="0" dirty="0">
                <a:solidFill>
                  <a:srgbClr val="1F2328"/>
                </a:solidFill>
                <a:latin typeface="Calibri"/>
                <a:ea typeface="맑은 고딕"/>
                <a:cs typeface="Calibri"/>
              </a:rPr>
              <a:t>(B) - (C) - (A)</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④ </a:t>
            </a:r>
            <a:r>
              <a:rPr lang="en-US" altLang="ko-KR" sz="1800" b="0" dirty="0">
                <a:solidFill>
                  <a:srgbClr val="1F2328"/>
                </a:solidFill>
                <a:latin typeface="Calibri"/>
                <a:ea typeface="맑은 고딕"/>
                <a:cs typeface="Calibri"/>
              </a:rPr>
              <a:t>(C) - (A) - (B)</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⑤ </a:t>
            </a:r>
            <a:r>
              <a:rPr lang="en-US" altLang="ko-KR" sz="1800" b="0" dirty="0">
                <a:solidFill>
                  <a:srgbClr val="1F2328"/>
                </a:solidFill>
                <a:latin typeface="Calibri"/>
                <a:ea typeface="맑은 고딕"/>
                <a:cs typeface="Calibri"/>
              </a:rPr>
              <a:t>(C) - (B) - (A)</a:t>
            </a:r>
            <a:endParaRPr lang="en-US" altLang="ko-KR" sz="1800" b="0" dirty="0">
              <a:solidFill>
                <a:srgbClr val="1F2328"/>
              </a:solidFill>
              <a:latin typeface="Calibri"/>
              <a:ea typeface="맑은 고딕"/>
              <a:cs typeface="Calibri"/>
            </a:endParaRPr>
          </a:p>
        </p:txBody>
      </p:sp>
      <p:sp>
        <p:nvSpPr>
          <p:cNvPr id="12" name="rv_pick"/>
          <p:cNvSpPr txBox="1"/>
          <p:nvPr/>
        </p:nvSpPr>
        <p:spPr>
          <a:xfrm>
            <a:off x="457200" y="4465320"/>
            <a:ext cx="11277295" cy="420624"/>
          </a:xfrm>
          <a:prstGeom prst="rect">
            <a:avLst/>
          </a:prstGeom>
          <a:noFill/>
        </p:spPr>
        <p:txBody>
          <a:bodyPr wrap="square" lIns="91440" tIns="18288" rIns="91440" bIns="18288" anchor="ctr" rtlCol="0">
            <a:noAutofit/>
          </a:bodyPr>
          <a:lstStyle/>
          <a:p>
            <a:pPr algn="ctr">
              <a:lnSpc>
                <a:spcPts val="2560"/>
              </a:lnSpc>
              <a:spcBef>
                <a:spcPts val="0"/>
              </a:spcBef>
              <a:spcAft>
                <a:spcPts val="0"/>
              </a:spcAft>
              <a:buNone/>
            </a:pPr>
            <a:r>
              <a:rPr lang="ko-KR" altLang="en-US" sz="1800" b="1" dirty="0">
                <a:solidFill>
                  <a:srgbClr val="1E2A5A">
                    <a:alpha val="0"/>
                  </a:srgbClr>
                </a:solidFill>
                <a:latin typeface="맑은 고딕"/>
                <a:ea typeface="맑은 고딕"/>
                <a:cs typeface="맑은 고딕"/>
              </a:rPr>
              <a:t>① </a:t>
            </a:r>
            <a:r>
              <a:rPr lang="en-US" altLang="ko-KR" sz="1800" b="0" dirty="0">
                <a:solidFill>
                  <a:srgbClr val="1F2328">
                    <a:alpha val="0"/>
                  </a:srgbClr>
                </a:solidFill>
                <a:latin typeface="Calibri"/>
                <a:ea typeface="맑은 고딕"/>
                <a:cs typeface="Calibri"/>
              </a:rPr>
              <a:t>(A) - (C) - (B)</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② </a:t>
            </a:r>
            <a:r>
              <a:rPr lang="en-US" altLang="ko-KR" sz="1800" b="0" dirty="0">
                <a:solidFill>
                  <a:srgbClr val="1F2328">
                    <a:alpha val="0"/>
                  </a:srgbClr>
                </a:solidFill>
                <a:latin typeface="Calibri"/>
                <a:ea typeface="맑은 고딕"/>
                <a:cs typeface="Calibri"/>
              </a:rPr>
              <a:t>(B) - (A) - (C)</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③ </a:t>
            </a:r>
            <a:r>
              <a:rPr lang="en-US" altLang="ko-KR" sz="1800" b="0" dirty="0">
                <a:solidFill>
                  <a:srgbClr val="1F2328">
                    <a:alpha val="0"/>
                  </a:srgbClr>
                </a:solidFill>
                <a:latin typeface="Calibri"/>
                <a:ea typeface="맑은 고딕"/>
                <a:cs typeface="Calibri"/>
              </a:rPr>
              <a:t>(B) - (C) - (A)</a:t>
            </a:r>
            <a:r>
              <a:rPr lang="en-US" altLang="ko-KR" sz="1800" b="0" dirty="0">
                <a:solidFill>
                  <a:srgbClr val="1F2328">
                    <a:alpha val="0"/>
                  </a:srgbClr>
                </a:solidFill>
                <a:latin typeface="Calibri"/>
                <a:ea typeface="맑은 고딕"/>
                <a:cs typeface="Calibri"/>
              </a:rPr>
              <a:t>       </a:t>
            </a:r>
            <a:r>
              <a:rPr lang="ko-KR" altLang="en-US" sz="1800" b="1" dirty="0">
                <a:solidFill>
                  <a:srgbClr val="C00000"/>
                </a:solidFill>
                <a:highlight>
                  <a:srgbClr val="FFFFFF"/>
                </a:highlight>
                <a:latin typeface="맑은 고딕"/>
                <a:ea typeface="맑은 고딕"/>
                <a:cs typeface="맑은 고딕"/>
              </a:rPr>
              <a:t>④ </a:t>
            </a:r>
            <a:r>
              <a:rPr lang="en-US" altLang="ko-KR" sz="1800" b="0" dirty="0">
                <a:solidFill>
                  <a:srgbClr val="C00000"/>
                </a:solidFill>
                <a:highlight>
                  <a:srgbClr val="FFFFFF"/>
                </a:highlight>
                <a:latin typeface="Calibri"/>
                <a:ea typeface="맑은 고딕"/>
                <a:cs typeface="Calibri"/>
              </a:rPr>
              <a:t>(C) - (A) - (B)</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⑤ </a:t>
            </a:r>
            <a:r>
              <a:rPr lang="en-US" altLang="ko-KR" sz="1800" b="0" dirty="0">
                <a:solidFill>
                  <a:srgbClr val="1F2328">
                    <a:alpha val="0"/>
                  </a:srgbClr>
                </a:solidFill>
                <a:latin typeface="Calibri"/>
                <a:ea typeface="맑은 고딕"/>
                <a:cs typeface="Calibri"/>
              </a:rPr>
              <a:t>(C) - (B) - (A)</a:t>
            </a:r>
            <a:endParaRPr lang="en-US" altLang="ko-KR" sz="1800" b="0" dirty="0">
              <a:solidFill>
                <a:srgbClr val="1F2328"/>
              </a:solidFill>
              <a:latin typeface="Calibri"/>
              <a:ea typeface="맑은 고딕"/>
              <a:cs typeface="Calibri"/>
            </a:endParaRPr>
          </a:p>
        </p:txBody>
      </p:sp>
      <p:sp>
        <p:nvSpPr>
          <p:cNvPr id="13" name="rv_answer"/>
          <p:cNvSpPr/>
          <p:nvPr/>
        </p:nvSpPr>
        <p:spPr>
          <a:xfrm>
            <a:off x="457200" y="4977384"/>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④ </a:t>
            </a:r>
            <a:r>
              <a:rPr lang="en-US" altLang="ko-KR" sz="1900" b="1" dirty="0">
                <a:solidFill>
                  <a:srgbClr val="5A4200"/>
                </a:solidFill>
                <a:latin typeface="Calibri"/>
                <a:ea typeface="맑은 고딕"/>
                <a:cs typeface="Calibri"/>
              </a:rPr>
              <a:t>(C) - (A) - (B)</a:t>
            </a:r>
            <a:endParaRPr lang="en-US" altLang="ko-KR" sz="1900" b="1" dirty="0">
              <a:solidFill>
                <a:srgbClr val="5A4200"/>
              </a:solidFill>
              <a:latin typeface="Calibri"/>
              <a:ea typeface="맑은 고딕"/>
              <a:cs typeface="Calibri"/>
            </a:endParaRPr>
          </a:p>
        </p:txBody>
      </p:sp>
      <p:sp>
        <p:nvSpPr>
          <p:cNvPr id="14" name="rv_why"/>
          <p:cNvSpPr/>
          <p:nvPr/>
        </p:nvSpPr>
        <p:spPr>
          <a:xfrm>
            <a:off x="457200" y="5576316"/>
            <a:ext cx="11277295" cy="842771"/>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(C) 'It'은 빅데이터로, 쓰임이 끝없다며 예를 예고한다 → (A) 질병 예측과 독감 약을 사는 사람들 → (B) 'They will also'가 그 사람들의 검색을 덧붙이고 확산 예측으로 맺는다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25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250"/>
                                        <p:tgtEl>
                                          <p:spTgt spid="1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2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animBg="1"/>
    </p:bldLst>
  </p:timing>
</p:sld>
</file>

<file path=ppt/slides/slide17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L7-2</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2 · 3</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3. 글의 흐름으로 보아, 주어진 문장이 들어가기에 가장 적절한 곳은?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7</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정답 원리</a:t>
            </a:r>
            <a:endParaRPr lang="ko-KR" altLang="en-US" sz="1000" b="0" dirty="0">
              <a:solidFill>
                <a:srgbClr val="7A808C"/>
              </a:solidFill>
              <a:latin typeface="맑은 고딕"/>
              <a:ea typeface="맑은 고딕"/>
              <a:cs typeface="맑은 고딕"/>
            </a:endParaRPr>
          </a:p>
        </p:txBody>
      </p:sp>
      <p:sp>
        <p:nvSpPr>
          <p:cNvPr id="7" name="given_card"/>
          <p:cNvSpPr/>
          <p:nvPr/>
        </p:nvSpPr>
        <p:spPr>
          <a:xfrm>
            <a:off x="457200" y="950976"/>
            <a:ext cx="11277295" cy="507238"/>
          </a:xfrm>
          <a:prstGeom prst="roundRect">
            <a:avLst>
              <a:gd name="adj" fmla="val 6000"/>
            </a:avLst>
          </a:prstGeom>
          <a:solidFill>
            <a:srgbClr val="FFFFFF"/>
          </a:solidFill>
          <a:ln w="15875">
            <a:solidFill>
              <a:srgbClr val="1E2A5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given"/>
          <p:cNvSpPr txBox="1"/>
          <p:nvPr/>
        </p:nvSpPr>
        <p:spPr>
          <a:xfrm>
            <a:off x="457200" y="950976"/>
            <a:ext cx="11277295" cy="507238"/>
          </a:xfrm>
          <a:prstGeom prst="rect">
            <a:avLst/>
          </a:prstGeom>
          <a:noFill/>
        </p:spPr>
        <p:txBody>
          <a:bodyPr wrap="square" lIns="201168" tIns="100584" rIns="201168" bIns="100584"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주어진 문장</a:t>
            </a:r>
            <a:r>
              <a:rPr lang="en-US" altLang="ko-KR" sz="1700" b="0" dirty="0">
                <a:solidFill>
                  <a:srgbClr val="1F2328"/>
                </a:solidFill>
                <a:latin typeface="Calibri"/>
                <a:ea typeface="맑은 고딕"/>
                <a:cs typeface="Calibri"/>
              </a:rPr>
              <a:t>   It helps people avoid heavy traffic.</a:t>
            </a:r>
            <a:endParaRPr lang="en-US" altLang="ko-KR" sz="1700" b="0" dirty="0">
              <a:solidFill>
                <a:srgbClr val="1F2328"/>
              </a:solidFill>
              <a:latin typeface="Calibri"/>
              <a:ea typeface="맑은 고딕"/>
              <a:cs typeface="Calibri"/>
            </a:endParaRPr>
          </a:p>
        </p:txBody>
      </p:sp>
      <p:sp>
        <p:nvSpPr>
          <p:cNvPr id="9" name="passage_card"/>
          <p:cNvSpPr/>
          <p:nvPr/>
        </p:nvSpPr>
        <p:spPr>
          <a:xfrm>
            <a:off x="457200" y="1604518"/>
            <a:ext cx="11277295" cy="222504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passage"/>
          <p:cNvSpPr txBox="1"/>
          <p:nvPr/>
        </p:nvSpPr>
        <p:spPr>
          <a:xfrm>
            <a:off x="457200" y="1604518"/>
            <a:ext cx="11277295" cy="2225040"/>
          </a:xfrm>
          <a:prstGeom prst="rect">
            <a:avLst/>
          </a:prstGeom>
          <a:noFill/>
        </p:spPr>
        <p:txBody>
          <a:bodyPr wrap="square" lIns="201168" tIns="118872" rIns="201168" bIns="118872" anchor="t" rtlCol="0">
            <a:noAutofit/>
          </a:bodyPr>
          <a:lstStyle/>
          <a:p>
            <a:pPr algn="just">
              <a:lnSpc>
                <a:spcPts val="2560"/>
              </a:lnSpc>
              <a:spcBef>
                <a:spcPts val="0"/>
              </a:spcBef>
              <a:spcAft>
                <a:spcPts val="0"/>
              </a:spcAft>
              <a:buNone/>
            </a:pPr>
            <a:r>
              <a:rPr lang="en-US" altLang="ko-KR" sz="1700" b="0" dirty="0">
                <a:solidFill>
                  <a:srgbClr val="1F2328"/>
                </a:solidFill>
                <a:latin typeface="Calibri"/>
                <a:ea typeface="맑은 고딕"/>
                <a:cs typeface="Calibri"/>
              </a:rPr>
              <a:t>Big data is influencing almost all parts of our lives. </a:t>
            </a:r>
            <a:r>
              <a:rPr lang="ko-KR" altLang="en-US" sz="1800" b="1" dirty="0">
                <a:solidFill>
                  <a:srgbClr val="1E2A5A"/>
                </a:solidFill>
                <a:latin typeface="맑은 고딕"/>
                <a:ea typeface="맑은 고딕"/>
                <a:cs typeface="맑은 고딕"/>
              </a:rPr>
              <a:t>②</a:t>
            </a:r>
            <a:r>
              <a:rPr lang="en-US" altLang="ko-KR" sz="1700" b="0" dirty="0">
                <a:solidFill>
                  <a:srgbClr val="1F2328"/>
                </a:solidFill>
                <a:latin typeface="Calibri"/>
                <a:ea typeface="맑은 고딕"/>
                <a:cs typeface="Calibri"/>
              </a:rPr>
              <a:t> It helps companies understand their customers’ needs better and helps them sell more products. </a:t>
            </a:r>
            <a:r>
              <a:rPr lang="ko-KR" altLang="en-US" sz="1800" b="1" dirty="0">
                <a:solidFill>
                  <a:srgbClr val="1E2A5A"/>
                </a:solidFill>
                <a:latin typeface="맑은 고딕"/>
                <a:ea typeface="맑은 고딕"/>
                <a:cs typeface="맑은 고딕"/>
              </a:rPr>
              <a:t>③</a:t>
            </a:r>
            <a:r>
              <a:rPr lang="en-US" altLang="ko-KR" sz="1700" b="0" dirty="0">
                <a:solidFill>
                  <a:srgbClr val="1F2328"/>
                </a:solidFill>
                <a:latin typeface="Calibri"/>
                <a:ea typeface="맑은 고딕"/>
                <a:cs typeface="Calibri"/>
              </a:rPr>
              <a:t> Its uses are endless, and here are some interesting examples. </a:t>
            </a:r>
            <a:r>
              <a:rPr lang="ko-KR" altLang="en-US" sz="1800" b="1" dirty="0">
                <a:solidFill>
                  <a:srgbClr val="1E2A5A"/>
                </a:solidFill>
                <a:latin typeface="맑은 고딕"/>
                <a:ea typeface="맑은 고딕"/>
                <a:cs typeface="맑은 고딕"/>
              </a:rPr>
              <a:t>④</a:t>
            </a:r>
            <a:r>
              <a:rPr lang="en-US" altLang="ko-KR" sz="1700" b="0" dirty="0">
                <a:solidFill>
                  <a:srgbClr val="1F2328"/>
                </a:solidFill>
                <a:latin typeface="Calibri"/>
                <a:ea typeface="맑은 고딕"/>
                <a:cs typeface="Calibri"/>
              </a:rPr>
              <a:t> Did you know that health professionals can now forecast a disease just as weather experts forecast the weather? </a:t>
            </a:r>
            <a:r>
              <a:rPr lang="ko-KR" altLang="en-US" sz="1800" b="1" dirty="0">
                <a:solidFill>
                  <a:srgbClr val="1E2A5A"/>
                </a:solidFill>
                <a:latin typeface="맑은 고딕"/>
                <a:ea typeface="맑은 고딕"/>
                <a:cs typeface="맑은 고딕"/>
              </a:rPr>
              <a:t>⑤</a:t>
            </a:r>
            <a:r>
              <a:rPr lang="en-US" altLang="ko-KR" sz="1700" b="0" dirty="0">
                <a:solidFill>
                  <a:srgbClr val="1F2328"/>
                </a:solidFill>
                <a:latin typeface="Calibri"/>
                <a:ea typeface="맑은 고딕"/>
                <a:cs typeface="Calibri"/>
              </a:rPr>
              <a:t> This is possible thanks to big data. For example, when the flu season comes, people will buy more flu medicine. They will also search online about flu symptoms more. If this kind of data is analyzed wisely, the spread of the flu can be predicted.</a:t>
            </a:r>
            <a:endParaRPr lang="en-US" altLang="ko-KR" sz="1700" b="0" dirty="0">
              <a:solidFill>
                <a:srgbClr val="1F2328"/>
              </a:solidFill>
              <a:latin typeface="Calibri"/>
              <a:ea typeface="맑은 고딕"/>
              <a:cs typeface="Calibri"/>
            </a:endParaRPr>
          </a:p>
        </p:txBody>
      </p:sp>
      <p:sp>
        <p:nvSpPr>
          <p:cNvPr id="11" name="rv_pick"/>
          <p:cNvSpPr txBox="1"/>
          <p:nvPr/>
        </p:nvSpPr>
        <p:spPr>
          <a:xfrm>
            <a:off x="457200" y="1604518"/>
            <a:ext cx="11277295" cy="2225040"/>
          </a:xfrm>
          <a:prstGeom prst="rect">
            <a:avLst/>
          </a:prstGeom>
          <a:noFill/>
        </p:spPr>
        <p:txBody>
          <a:bodyPr wrap="square" lIns="201168" tIns="118872" rIns="201168" bIns="118872" anchor="t" rtlCol="0">
            <a:noAutofit/>
          </a:bodyPr>
          <a:lstStyle/>
          <a:p>
            <a:pPr algn="just">
              <a:lnSpc>
                <a:spcPts val="2560"/>
              </a:lnSpc>
              <a:spcBef>
                <a:spcPts val="0"/>
              </a:spcBef>
              <a:spcAft>
                <a:spcPts val="0"/>
              </a:spcAft>
              <a:buNone/>
            </a:pPr>
            <a:r>
              <a:rPr lang="en-US" altLang="ko-KR" sz="1700" b="0" dirty="0">
                <a:solidFill>
                  <a:srgbClr val="1F2328">
                    <a:alpha val="0"/>
                  </a:srgbClr>
                </a:solidFill>
                <a:latin typeface="Calibri"/>
                <a:ea typeface="맑은 고딕"/>
                <a:cs typeface="Calibri"/>
              </a:rPr>
              <a:t>Big data is influencing almost all parts of our lives. </a:t>
            </a:r>
            <a:r>
              <a:rPr lang="ko-KR" altLang="en-US" sz="1800" b="1" dirty="0">
                <a:solidFill>
                  <a:srgbClr val="1E2A5A">
                    <a:alpha val="0"/>
                  </a:srgbClr>
                </a:solidFill>
                <a:latin typeface="맑은 고딕"/>
                <a:ea typeface="맑은 고딕"/>
                <a:cs typeface="맑은 고딕"/>
              </a:rPr>
              <a:t>②</a:t>
            </a:r>
            <a:r>
              <a:rPr lang="en-US" altLang="ko-KR" sz="1700" b="0" dirty="0">
                <a:solidFill>
                  <a:srgbClr val="1F2328">
                    <a:alpha val="0"/>
                  </a:srgbClr>
                </a:solidFill>
                <a:latin typeface="Calibri"/>
                <a:ea typeface="맑은 고딕"/>
                <a:cs typeface="Calibri"/>
              </a:rPr>
              <a:t> It helps companies understand their customers’ needs better and helps them sell more products. </a:t>
            </a:r>
            <a:r>
              <a:rPr lang="ko-KR" altLang="en-US" sz="1800" b="1" dirty="0">
                <a:solidFill>
                  <a:srgbClr val="C00000"/>
                </a:solidFill>
                <a:highlight>
                  <a:srgbClr val="F3F5F9"/>
                </a:highlight>
                <a:latin typeface="맑은 고딕"/>
                <a:ea typeface="맑은 고딕"/>
                <a:cs typeface="맑은 고딕"/>
              </a:rPr>
              <a:t>③</a:t>
            </a:r>
            <a:r>
              <a:rPr lang="en-US" altLang="ko-KR" sz="1700" b="0" dirty="0">
                <a:solidFill>
                  <a:srgbClr val="1F2328">
                    <a:alpha val="0"/>
                  </a:srgbClr>
                </a:solidFill>
                <a:latin typeface="Calibri"/>
                <a:ea typeface="맑은 고딕"/>
                <a:cs typeface="Calibri"/>
              </a:rPr>
              <a:t> Its uses are endless, and here are some interesting examples. </a:t>
            </a:r>
            <a:r>
              <a:rPr lang="ko-KR" altLang="en-US" sz="1800" b="1" dirty="0">
                <a:solidFill>
                  <a:srgbClr val="1E2A5A">
                    <a:alpha val="0"/>
                  </a:srgbClr>
                </a:solidFill>
                <a:latin typeface="맑은 고딕"/>
                <a:ea typeface="맑은 고딕"/>
                <a:cs typeface="맑은 고딕"/>
              </a:rPr>
              <a:t>④</a:t>
            </a:r>
            <a:r>
              <a:rPr lang="en-US" altLang="ko-KR" sz="1700" b="0" dirty="0">
                <a:solidFill>
                  <a:srgbClr val="1F2328">
                    <a:alpha val="0"/>
                  </a:srgbClr>
                </a:solidFill>
                <a:latin typeface="Calibri"/>
                <a:ea typeface="맑은 고딕"/>
                <a:cs typeface="Calibri"/>
              </a:rPr>
              <a:t> Did you know that health professionals can now forecast a disease just as weather experts forecast the weather? </a:t>
            </a:r>
            <a:r>
              <a:rPr lang="ko-KR" altLang="en-US" sz="1800" b="1" dirty="0">
                <a:solidFill>
                  <a:srgbClr val="1E2A5A">
                    <a:alpha val="0"/>
                  </a:srgbClr>
                </a:solidFill>
                <a:latin typeface="맑은 고딕"/>
                <a:ea typeface="맑은 고딕"/>
                <a:cs typeface="맑은 고딕"/>
              </a:rPr>
              <a:t>⑤</a:t>
            </a:r>
            <a:r>
              <a:rPr lang="en-US" altLang="ko-KR" sz="1700" b="0" dirty="0">
                <a:solidFill>
                  <a:srgbClr val="1F2328">
                    <a:alpha val="0"/>
                  </a:srgbClr>
                </a:solidFill>
                <a:latin typeface="Calibri"/>
                <a:ea typeface="맑은 고딕"/>
                <a:cs typeface="Calibri"/>
              </a:rPr>
              <a:t> This is possible thanks to big data. For example, when the flu season comes, people will buy more flu medicine. They will also search online about flu symptoms more. If this kind of data is analyzed wisely, the spread of the flu can be predicted.</a:t>
            </a:r>
            <a:endParaRPr lang="en-US" altLang="ko-KR" sz="1700" b="0" dirty="0">
              <a:solidFill>
                <a:srgbClr val="1F2328"/>
              </a:solidFill>
              <a:latin typeface="Calibri"/>
              <a:ea typeface="맑은 고딕"/>
              <a:cs typeface="Calibri"/>
            </a:endParaRPr>
          </a:p>
        </p:txBody>
      </p:sp>
      <p:sp>
        <p:nvSpPr>
          <p:cNvPr id="12" name="rv_answer"/>
          <p:cNvSpPr/>
          <p:nvPr/>
        </p:nvSpPr>
        <p:spPr>
          <a:xfrm>
            <a:off x="457200" y="393928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③</a:t>
            </a:r>
            <a:endParaRPr lang="ko-KR" altLang="en-US" sz="1900" b="1" dirty="0">
              <a:solidFill>
                <a:srgbClr val="5A4200"/>
              </a:solidFill>
              <a:latin typeface="맑은 고딕"/>
              <a:ea typeface="맑은 고딕"/>
              <a:cs typeface="맑은 고딕"/>
            </a:endParaRPr>
          </a:p>
        </p:txBody>
      </p:sp>
      <p:sp>
        <p:nvSpPr>
          <p:cNvPr id="13" name="rv_why"/>
          <p:cNvSpPr/>
          <p:nvPr/>
        </p:nvSpPr>
        <p:spPr>
          <a:xfrm>
            <a:off x="457200" y="4538218"/>
            <a:ext cx="11277295" cy="188086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주어진 문장은 'It helps'로 빅데이터의 쓰임을 하나 더 든다. 같은 구조인 회사 예시 뒤, 'Its uses are endless'로 정리하기 전인 ③에 들어간다.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25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25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2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Lst>
  </p:timing>
</p:sld>
</file>

<file path=ppt/slides/slide17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L7-2</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2 · 4</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4. 글의 흐름으로 보아, 주어진 문장이 들어가기에 가장 적절한 곳은?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7</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정답 원리</a:t>
            </a:r>
            <a:endParaRPr lang="ko-KR" altLang="en-US" sz="1000" b="0" dirty="0">
              <a:solidFill>
                <a:srgbClr val="7A808C"/>
              </a:solidFill>
              <a:latin typeface="맑은 고딕"/>
              <a:ea typeface="맑은 고딕"/>
              <a:cs typeface="맑은 고딕"/>
            </a:endParaRPr>
          </a:p>
        </p:txBody>
      </p:sp>
      <p:sp>
        <p:nvSpPr>
          <p:cNvPr id="7" name="given_card"/>
          <p:cNvSpPr/>
          <p:nvPr/>
        </p:nvSpPr>
        <p:spPr>
          <a:xfrm>
            <a:off x="457200" y="950976"/>
            <a:ext cx="11277295" cy="507238"/>
          </a:xfrm>
          <a:prstGeom prst="roundRect">
            <a:avLst>
              <a:gd name="adj" fmla="val 6000"/>
            </a:avLst>
          </a:prstGeom>
          <a:solidFill>
            <a:srgbClr val="FFFFFF"/>
          </a:solidFill>
          <a:ln w="15875">
            <a:solidFill>
              <a:srgbClr val="1E2A5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given"/>
          <p:cNvSpPr txBox="1"/>
          <p:nvPr/>
        </p:nvSpPr>
        <p:spPr>
          <a:xfrm>
            <a:off x="457200" y="950976"/>
            <a:ext cx="11277295" cy="507238"/>
          </a:xfrm>
          <a:prstGeom prst="rect">
            <a:avLst/>
          </a:prstGeom>
          <a:noFill/>
        </p:spPr>
        <p:txBody>
          <a:bodyPr wrap="square" lIns="201168" tIns="100584" rIns="201168" bIns="100584"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주어진 문장</a:t>
            </a:r>
            <a:r>
              <a:rPr lang="en-US" altLang="ko-KR" sz="1700" b="0" dirty="0">
                <a:solidFill>
                  <a:srgbClr val="1F2328"/>
                </a:solidFill>
                <a:latin typeface="Calibri"/>
                <a:ea typeface="맑은 고딕"/>
                <a:cs typeface="Calibri"/>
              </a:rPr>
              <a:t>   Its uses are endless, and here are some interesting examples.</a:t>
            </a:r>
            <a:endParaRPr lang="en-US" altLang="ko-KR" sz="1700" b="0" dirty="0">
              <a:solidFill>
                <a:srgbClr val="1F2328"/>
              </a:solidFill>
              <a:latin typeface="Calibri"/>
              <a:ea typeface="맑은 고딕"/>
              <a:cs typeface="Calibri"/>
            </a:endParaRPr>
          </a:p>
        </p:txBody>
      </p:sp>
      <p:sp>
        <p:nvSpPr>
          <p:cNvPr id="9" name="passage_card"/>
          <p:cNvSpPr/>
          <p:nvPr/>
        </p:nvSpPr>
        <p:spPr>
          <a:xfrm>
            <a:off x="457200" y="1604518"/>
            <a:ext cx="11277295" cy="222504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passage"/>
          <p:cNvSpPr txBox="1"/>
          <p:nvPr/>
        </p:nvSpPr>
        <p:spPr>
          <a:xfrm>
            <a:off x="457200" y="1604518"/>
            <a:ext cx="11277295" cy="2225040"/>
          </a:xfrm>
          <a:prstGeom prst="rect">
            <a:avLst/>
          </a:prstGeom>
          <a:noFill/>
        </p:spPr>
        <p:txBody>
          <a:bodyPr wrap="square" lIns="201168" tIns="118872" rIns="201168" bIns="118872" anchor="t" rtlCol="0">
            <a:noAutofit/>
          </a:bodyPr>
          <a:lstStyle/>
          <a:p>
            <a:pPr algn="just">
              <a:lnSpc>
                <a:spcPts val="2560"/>
              </a:lnSpc>
              <a:spcBef>
                <a:spcPts val="0"/>
              </a:spcBef>
              <a:spcAft>
                <a:spcPts val="0"/>
              </a:spcAft>
              <a:buNone/>
            </a:pPr>
            <a:r>
              <a:rPr lang="en-US" altLang="ko-KR" sz="1700" b="0" dirty="0">
                <a:solidFill>
                  <a:srgbClr val="1F2328"/>
                </a:solidFill>
                <a:latin typeface="Calibri"/>
                <a:ea typeface="맑은 고딕"/>
                <a:cs typeface="Calibri"/>
              </a:rPr>
              <a:t>Big data is influencing almost all parts of our lives. </a:t>
            </a:r>
            <a:r>
              <a:rPr lang="ko-KR" altLang="en-US" sz="1800" b="1" dirty="0">
                <a:solidFill>
                  <a:srgbClr val="1E2A5A"/>
                </a:solidFill>
                <a:latin typeface="맑은 고딕"/>
                <a:ea typeface="맑은 고딕"/>
                <a:cs typeface="맑은 고딕"/>
              </a:rPr>
              <a:t>②</a:t>
            </a:r>
            <a:r>
              <a:rPr lang="en-US" altLang="ko-KR" sz="1700" b="0" dirty="0">
                <a:solidFill>
                  <a:srgbClr val="1F2328"/>
                </a:solidFill>
                <a:latin typeface="Calibri"/>
                <a:ea typeface="맑은 고딕"/>
                <a:cs typeface="Calibri"/>
              </a:rPr>
              <a:t> It helps companies understand their customers’ needs better and helps them sell more products. </a:t>
            </a:r>
            <a:r>
              <a:rPr lang="ko-KR" altLang="en-US" sz="1800" b="1" dirty="0">
                <a:solidFill>
                  <a:srgbClr val="1E2A5A"/>
                </a:solidFill>
                <a:latin typeface="맑은 고딕"/>
                <a:ea typeface="맑은 고딕"/>
                <a:cs typeface="맑은 고딕"/>
              </a:rPr>
              <a:t>③</a:t>
            </a:r>
            <a:r>
              <a:rPr lang="en-US" altLang="ko-KR" sz="1700" b="0" dirty="0">
                <a:solidFill>
                  <a:srgbClr val="1F2328"/>
                </a:solidFill>
                <a:latin typeface="Calibri"/>
                <a:ea typeface="맑은 고딕"/>
                <a:cs typeface="Calibri"/>
              </a:rPr>
              <a:t> It helps people avoid heavy traffic. </a:t>
            </a:r>
            <a:r>
              <a:rPr lang="ko-KR" altLang="en-US" sz="1800" b="1" dirty="0">
                <a:solidFill>
                  <a:srgbClr val="1E2A5A"/>
                </a:solidFill>
                <a:latin typeface="맑은 고딕"/>
                <a:ea typeface="맑은 고딕"/>
                <a:cs typeface="맑은 고딕"/>
              </a:rPr>
              <a:t>④</a:t>
            </a:r>
            <a:r>
              <a:rPr lang="en-US" altLang="ko-KR" sz="1700" b="0" dirty="0">
                <a:solidFill>
                  <a:srgbClr val="1F2328"/>
                </a:solidFill>
                <a:latin typeface="Calibri"/>
                <a:ea typeface="맑은 고딕"/>
                <a:cs typeface="Calibri"/>
              </a:rPr>
              <a:t> Did you know that health professionals can now forecast a disease just as weather experts forecast the weather? </a:t>
            </a:r>
            <a:r>
              <a:rPr lang="ko-KR" altLang="en-US" sz="1800" b="1" dirty="0">
                <a:solidFill>
                  <a:srgbClr val="1E2A5A"/>
                </a:solidFill>
                <a:latin typeface="맑은 고딕"/>
                <a:ea typeface="맑은 고딕"/>
                <a:cs typeface="맑은 고딕"/>
              </a:rPr>
              <a:t>⑤</a:t>
            </a:r>
            <a:r>
              <a:rPr lang="en-US" altLang="ko-KR" sz="1700" b="0" dirty="0">
                <a:solidFill>
                  <a:srgbClr val="1F2328"/>
                </a:solidFill>
                <a:latin typeface="Calibri"/>
                <a:ea typeface="맑은 고딕"/>
                <a:cs typeface="Calibri"/>
              </a:rPr>
              <a:t> This is possible thanks to big data. For example, when the flu season comes, people will buy more flu medicine. They will also search online about flu symptoms more. If this kind of data is analyzed wisely, the spread of the flu can be predicted.</a:t>
            </a:r>
            <a:endParaRPr lang="en-US" altLang="ko-KR" sz="1700" b="0" dirty="0">
              <a:solidFill>
                <a:srgbClr val="1F2328"/>
              </a:solidFill>
              <a:latin typeface="Calibri"/>
              <a:ea typeface="맑은 고딕"/>
              <a:cs typeface="Calibri"/>
            </a:endParaRPr>
          </a:p>
        </p:txBody>
      </p:sp>
      <p:sp>
        <p:nvSpPr>
          <p:cNvPr id="11" name="rv_pick"/>
          <p:cNvSpPr txBox="1"/>
          <p:nvPr/>
        </p:nvSpPr>
        <p:spPr>
          <a:xfrm>
            <a:off x="457200" y="1604518"/>
            <a:ext cx="11277295" cy="2225040"/>
          </a:xfrm>
          <a:prstGeom prst="rect">
            <a:avLst/>
          </a:prstGeom>
          <a:noFill/>
        </p:spPr>
        <p:txBody>
          <a:bodyPr wrap="square" lIns="201168" tIns="118872" rIns="201168" bIns="118872" anchor="t" rtlCol="0">
            <a:noAutofit/>
          </a:bodyPr>
          <a:lstStyle/>
          <a:p>
            <a:pPr algn="just">
              <a:lnSpc>
                <a:spcPts val="2560"/>
              </a:lnSpc>
              <a:spcBef>
                <a:spcPts val="0"/>
              </a:spcBef>
              <a:spcAft>
                <a:spcPts val="0"/>
              </a:spcAft>
              <a:buNone/>
            </a:pPr>
            <a:r>
              <a:rPr lang="en-US" altLang="ko-KR" sz="1700" b="0" dirty="0">
                <a:solidFill>
                  <a:srgbClr val="1F2328">
                    <a:alpha val="0"/>
                  </a:srgbClr>
                </a:solidFill>
                <a:latin typeface="Calibri"/>
                <a:ea typeface="맑은 고딕"/>
                <a:cs typeface="Calibri"/>
              </a:rPr>
              <a:t>Big data is influencing almost all parts of our lives. </a:t>
            </a:r>
            <a:r>
              <a:rPr lang="ko-KR" altLang="en-US" sz="1800" b="1" dirty="0">
                <a:solidFill>
                  <a:srgbClr val="1E2A5A">
                    <a:alpha val="0"/>
                  </a:srgbClr>
                </a:solidFill>
                <a:latin typeface="맑은 고딕"/>
                <a:ea typeface="맑은 고딕"/>
                <a:cs typeface="맑은 고딕"/>
              </a:rPr>
              <a:t>②</a:t>
            </a:r>
            <a:r>
              <a:rPr lang="en-US" altLang="ko-KR" sz="1700" b="0" dirty="0">
                <a:solidFill>
                  <a:srgbClr val="1F2328">
                    <a:alpha val="0"/>
                  </a:srgbClr>
                </a:solidFill>
                <a:latin typeface="Calibri"/>
                <a:ea typeface="맑은 고딕"/>
                <a:cs typeface="Calibri"/>
              </a:rPr>
              <a:t> It helps companies understand their customers’ needs better and helps them sell more products. </a:t>
            </a:r>
            <a:r>
              <a:rPr lang="ko-KR" altLang="en-US" sz="1800" b="1" dirty="0">
                <a:solidFill>
                  <a:srgbClr val="1E2A5A">
                    <a:alpha val="0"/>
                  </a:srgbClr>
                </a:solidFill>
                <a:latin typeface="맑은 고딕"/>
                <a:ea typeface="맑은 고딕"/>
                <a:cs typeface="맑은 고딕"/>
              </a:rPr>
              <a:t>③</a:t>
            </a:r>
            <a:r>
              <a:rPr lang="en-US" altLang="ko-KR" sz="1700" b="0" dirty="0">
                <a:solidFill>
                  <a:srgbClr val="1F2328">
                    <a:alpha val="0"/>
                  </a:srgbClr>
                </a:solidFill>
                <a:latin typeface="Calibri"/>
                <a:ea typeface="맑은 고딕"/>
                <a:cs typeface="Calibri"/>
              </a:rPr>
              <a:t> It helps people avoid heavy traffic. </a:t>
            </a:r>
            <a:r>
              <a:rPr lang="ko-KR" altLang="en-US" sz="1800" b="1" dirty="0">
                <a:solidFill>
                  <a:srgbClr val="C00000"/>
                </a:solidFill>
                <a:highlight>
                  <a:srgbClr val="F3F5F9"/>
                </a:highlight>
                <a:latin typeface="맑은 고딕"/>
                <a:ea typeface="맑은 고딕"/>
                <a:cs typeface="맑은 고딕"/>
              </a:rPr>
              <a:t>④</a:t>
            </a:r>
            <a:r>
              <a:rPr lang="en-US" altLang="ko-KR" sz="1700" b="0" dirty="0">
                <a:solidFill>
                  <a:srgbClr val="1F2328">
                    <a:alpha val="0"/>
                  </a:srgbClr>
                </a:solidFill>
                <a:latin typeface="Calibri"/>
                <a:ea typeface="맑은 고딕"/>
                <a:cs typeface="Calibri"/>
              </a:rPr>
              <a:t> Did you know that health professionals can now forecast a disease just as weather experts forecast the weather? </a:t>
            </a:r>
            <a:r>
              <a:rPr lang="ko-KR" altLang="en-US" sz="1800" b="1" dirty="0">
                <a:solidFill>
                  <a:srgbClr val="1E2A5A">
                    <a:alpha val="0"/>
                  </a:srgbClr>
                </a:solidFill>
                <a:latin typeface="맑은 고딕"/>
                <a:ea typeface="맑은 고딕"/>
                <a:cs typeface="맑은 고딕"/>
              </a:rPr>
              <a:t>⑤</a:t>
            </a:r>
            <a:r>
              <a:rPr lang="en-US" altLang="ko-KR" sz="1700" b="0" dirty="0">
                <a:solidFill>
                  <a:srgbClr val="1F2328">
                    <a:alpha val="0"/>
                  </a:srgbClr>
                </a:solidFill>
                <a:latin typeface="Calibri"/>
                <a:ea typeface="맑은 고딕"/>
                <a:cs typeface="Calibri"/>
              </a:rPr>
              <a:t> This is possible thanks to big data. For example, when the flu season comes, people will buy more flu medicine. They will also search online about flu symptoms more. If this kind of data is analyzed wisely, the spread of the flu can be predicted.</a:t>
            </a:r>
            <a:endParaRPr lang="en-US" altLang="ko-KR" sz="1700" b="0" dirty="0">
              <a:solidFill>
                <a:srgbClr val="1F2328"/>
              </a:solidFill>
              <a:latin typeface="Calibri"/>
              <a:ea typeface="맑은 고딕"/>
              <a:cs typeface="Calibri"/>
            </a:endParaRPr>
          </a:p>
        </p:txBody>
      </p:sp>
      <p:sp>
        <p:nvSpPr>
          <p:cNvPr id="12" name="rv_answer"/>
          <p:cNvSpPr/>
          <p:nvPr/>
        </p:nvSpPr>
        <p:spPr>
          <a:xfrm>
            <a:off x="457200" y="393928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④</a:t>
            </a:r>
            <a:endParaRPr lang="ko-KR" altLang="en-US" sz="1900" b="1" dirty="0">
              <a:solidFill>
                <a:srgbClr val="5A4200"/>
              </a:solidFill>
              <a:latin typeface="맑은 고딕"/>
              <a:ea typeface="맑은 고딕"/>
              <a:cs typeface="맑은 고딕"/>
            </a:endParaRPr>
          </a:p>
        </p:txBody>
      </p:sp>
      <p:sp>
        <p:nvSpPr>
          <p:cNvPr id="13" name="rv_why"/>
          <p:cNvSpPr/>
          <p:nvPr/>
        </p:nvSpPr>
        <p:spPr>
          <a:xfrm>
            <a:off x="457200" y="4538218"/>
            <a:ext cx="11277295" cy="188086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주어진 문장의 'here are some interesting examples'가 뒤의 질병 예측 사례를 예고한다. 쓰임 나열이 끝나고 'Did you know'가 시작되는 ④가 자리다.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25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25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2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Lst>
  </p:timing>
</p:sld>
</file>

<file path=ppt/slides/slide17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L7-2</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3 · ①</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다음 글의 각 [  ] 안에서 문맥상 알맞은 것을 고르시오.</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7</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클릭할 때마다 괄호 속 정답이 앞에서부터 하나씩 빨간색으로 나타납니다 (총 5개)</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5060696"/>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5060696"/>
          </a:xfrm>
          <a:prstGeom prst="rect">
            <a:avLst/>
          </a:prstGeom>
          <a:noFill/>
        </p:spPr>
        <p:txBody>
          <a:bodyPr wrap="square" lIns="228600" tIns="155448" rIns="228600" bIns="155448" anchor="t" rtlCol="0">
            <a:noAutofit/>
          </a:bodyPr>
          <a:lstStyle/>
          <a:p>
            <a:pPr algn="l">
              <a:lnSpc>
                <a:spcPts val="3400"/>
              </a:lnSpc>
              <a:spcBef>
                <a:spcPts val="0"/>
              </a:spcBef>
              <a:spcAft>
                <a:spcPts val="0"/>
              </a:spcAft>
              <a:buNone/>
            </a:pPr>
            <a:r>
              <a:rPr lang="ko-KR" altLang="en-US" sz="2100" b="1" dirty="0">
                <a:solidFill>
                  <a:srgbClr val="1E2A5A"/>
                </a:solidFill>
                <a:latin typeface="맑은 고딕"/>
                <a:ea typeface="맑은 고딕"/>
                <a:cs typeface="맑은 고딕"/>
              </a:rPr>
              <a:t>①</a:t>
            </a:r>
            <a:r>
              <a:rPr lang="en-US" altLang="ko-KR" sz="2100" b="0" dirty="0">
                <a:solidFill>
                  <a:srgbClr val="1F2328"/>
                </a:solidFill>
                <a:latin typeface="Calibri"/>
                <a:ea typeface="맑은 고딕"/>
                <a:cs typeface="Calibri"/>
              </a:rPr>
              <a:t> </a:t>
            </a:r>
            <a:r>
              <a:rPr lang="en-US" altLang="ko-KR" sz="2100" b="0" dirty="0">
                <a:solidFill>
                  <a:srgbClr val="1F2328"/>
                </a:solidFill>
                <a:latin typeface="Calibri"/>
                <a:ea typeface="맑은 고딕"/>
                <a:cs typeface="Calibri"/>
              </a:rPr>
              <a:t>Big data </a:t>
            </a:r>
            <a:r>
              <a:rPr lang="en-US" altLang="ko-KR" sz="2100" b="1" dirty="0">
                <a:solidFill>
                  <a:srgbClr val="1F2328"/>
                </a:solidFill>
                <a:latin typeface="Calibri"/>
                <a:ea typeface="맑은 고딕"/>
                <a:cs typeface="Calibri"/>
              </a:rPr>
              <a:t>[ </a:t>
            </a:r>
            <a:r>
              <a:rPr lang="en-US" altLang="ko-KR" sz="2100" b="1" dirty="0">
                <a:solidFill>
                  <a:srgbClr val="1F2328"/>
                </a:solidFill>
                <a:latin typeface="Calibri"/>
                <a:ea typeface="맑은 고딕"/>
                <a:cs typeface="Calibri"/>
              </a:rPr>
              <a:t>is influenced</a:t>
            </a:r>
            <a:r>
              <a:rPr lang="en-US" altLang="ko-KR" sz="2100" b="1" dirty="0">
                <a:solidFill>
                  <a:srgbClr val="1F2328"/>
                </a:solidFill>
                <a:latin typeface="Calibri"/>
                <a:ea typeface="맑은 고딕"/>
                <a:cs typeface="Calibri"/>
              </a:rPr>
              <a:t> / </a:t>
            </a:r>
            <a:r>
              <a:rPr lang="en-US" altLang="ko-KR" sz="2100" b="1" dirty="0">
                <a:solidFill>
                  <a:srgbClr val="1F2328"/>
                </a:solidFill>
                <a:latin typeface="Calibri"/>
                <a:ea typeface="맑은 고딕"/>
                <a:cs typeface="Calibri"/>
              </a:rPr>
              <a:t>is influencing</a:t>
            </a:r>
            <a:r>
              <a:rPr lang="en-US" altLang="ko-KR" sz="2100" b="1" dirty="0">
                <a:solidFill>
                  <a:srgbClr val="1F2328"/>
                </a:solidFill>
                <a:latin typeface="Calibri"/>
                <a:ea typeface="맑은 고딕"/>
                <a:cs typeface="Calibri"/>
              </a:rPr>
              <a:t> ]</a:t>
            </a:r>
            <a:r>
              <a:rPr lang="en-US" altLang="ko-KR" sz="2100" b="0" dirty="0">
                <a:solidFill>
                  <a:srgbClr val="1F2328"/>
                </a:solidFill>
                <a:latin typeface="Calibri"/>
                <a:ea typeface="맑은 고딕"/>
                <a:cs typeface="Calibri"/>
              </a:rPr>
              <a:t> almost all parts of our lives.</a:t>
            </a:r>
            <a:r>
              <a:rPr lang="en-US" altLang="ko-KR" sz="2100" b="0" dirty="0">
                <a:solidFill>
                  <a:srgbClr val="1F2328"/>
                </a:solidFill>
                <a:latin typeface="Calibri"/>
                <a:ea typeface="맑은 고딕"/>
                <a:cs typeface="Calibri"/>
              </a:rPr>
              <a:t>   </a:t>
            </a:r>
            <a:r>
              <a:rPr lang="ko-KR" altLang="en-US" sz="2100" b="1" dirty="0">
                <a:solidFill>
                  <a:srgbClr val="1E2A5A"/>
                </a:solidFill>
                <a:latin typeface="맑은 고딕"/>
                <a:ea typeface="맑은 고딕"/>
                <a:cs typeface="맑은 고딕"/>
              </a:rPr>
              <a:t>②</a:t>
            </a:r>
            <a:r>
              <a:rPr lang="en-US" altLang="ko-KR" sz="2100" b="0" dirty="0">
                <a:solidFill>
                  <a:srgbClr val="1F2328"/>
                </a:solidFill>
                <a:latin typeface="Calibri"/>
                <a:ea typeface="맑은 고딕"/>
                <a:cs typeface="Calibri"/>
              </a:rPr>
              <a:t> </a:t>
            </a:r>
            <a:r>
              <a:rPr lang="en-US" altLang="ko-KR" sz="2100" b="0" dirty="0">
                <a:solidFill>
                  <a:srgbClr val="1F2328"/>
                </a:solidFill>
                <a:latin typeface="Calibri"/>
                <a:ea typeface="맑은 고딕"/>
                <a:cs typeface="Calibri"/>
              </a:rPr>
              <a:t>It helps companies understand their customers’ needs better and helps them sell more products.</a:t>
            </a:r>
            <a:r>
              <a:rPr lang="en-US" altLang="ko-KR" sz="2100" b="0" dirty="0">
                <a:solidFill>
                  <a:srgbClr val="1F2328"/>
                </a:solidFill>
                <a:latin typeface="Calibri"/>
                <a:ea typeface="맑은 고딕"/>
                <a:cs typeface="Calibri"/>
              </a:rPr>
              <a:t>   </a:t>
            </a:r>
            <a:r>
              <a:rPr lang="ko-KR" altLang="en-US" sz="2100" b="1" dirty="0">
                <a:solidFill>
                  <a:srgbClr val="1E2A5A"/>
                </a:solidFill>
                <a:latin typeface="맑은 고딕"/>
                <a:ea typeface="맑은 고딕"/>
                <a:cs typeface="맑은 고딕"/>
              </a:rPr>
              <a:t>③</a:t>
            </a:r>
            <a:r>
              <a:rPr lang="en-US" altLang="ko-KR" sz="2100" b="0" dirty="0">
                <a:solidFill>
                  <a:srgbClr val="1F2328"/>
                </a:solidFill>
                <a:latin typeface="Calibri"/>
                <a:ea typeface="맑은 고딕"/>
                <a:cs typeface="Calibri"/>
              </a:rPr>
              <a:t> </a:t>
            </a:r>
            <a:r>
              <a:rPr lang="en-US" altLang="ko-KR" sz="2100" b="0" dirty="0">
                <a:solidFill>
                  <a:srgbClr val="1F2328"/>
                </a:solidFill>
                <a:latin typeface="Calibri"/>
                <a:ea typeface="맑은 고딕"/>
                <a:cs typeface="Calibri"/>
              </a:rPr>
              <a:t>It helps people avoid heavy traffic.</a:t>
            </a:r>
            <a:r>
              <a:rPr lang="en-US" altLang="ko-KR" sz="2100" b="0" dirty="0">
                <a:solidFill>
                  <a:srgbClr val="1F2328"/>
                </a:solidFill>
                <a:latin typeface="Calibri"/>
                <a:ea typeface="맑은 고딕"/>
                <a:cs typeface="Calibri"/>
              </a:rPr>
              <a:t>   </a:t>
            </a:r>
            <a:r>
              <a:rPr lang="ko-KR" altLang="en-US" sz="2100" b="1" dirty="0">
                <a:solidFill>
                  <a:srgbClr val="1E2A5A"/>
                </a:solidFill>
                <a:latin typeface="맑은 고딕"/>
                <a:ea typeface="맑은 고딕"/>
                <a:cs typeface="맑은 고딕"/>
              </a:rPr>
              <a:t>④</a:t>
            </a:r>
            <a:r>
              <a:rPr lang="en-US" altLang="ko-KR" sz="2100" b="0" dirty="0">
                <a:solidFill>
                  <a:srgbClr val="1F2328"/>
                </a:solidFill>
                <a:latin typeface="Calibri"/>
                <a:ea typeface="맑은 고딕"/>
                <a:cs typeface="Calibri"/>
              </a:rPr>
              <a:t> </a:t>
            </a:r>
            <a:r>
              <a:rPr lang="en-US" altLang="ko-KR" sz="2100" b="0" dirty="0">
                <a:solidFill>
                  <a:srgbClr val="1F2328"/>
                </a:solidFill>
                <a:latin typeface="Calibri"/>
                <a:ea typeface="맑은 고딕"/>
                <a:cs typeface="Calibri"/>
              </a:rPr>
              <a:t>Its uses </a:t>
            </a:r>
            <a:r>
              <a:rPr lang="en-US" altLang="ko-KR" sz="2100" b="1" dirty="0">
                <a:solidFill>
                  <a:srgbClr val="1F2328"/>
                </a:solidFill>
                <a:latin typeface="Calibri"/>
                <a:ea typeface="맑은 고딕"/>
                <a:cs typeface="Calibri"/>
              </a:rPr>
              <a:t>[ </a:t>
            </a:r>
            <a:r>
              <a:rPr lang="en-US" altLang="ko-KR" sz="2100" b="1" dirty="0">
                <a:solidFill>
                  <a:srgbClr val="1F2328"/>
                </a:solidFill>
                <a:latin typeface="Calibri"/>
                <a:ea typeface="맑은 고딕"/>
                <a:cs typeface="Calibri"/>
              </a:rPr>
              <a:t>are endless</a:t>
            </a:r>
            <a:r>
              <a:rPr lang="en-US" altLang="ko-KR" sz="2100" b="1" dirty="0">
                <a:solidFill>
                  <a:srgbClr val="1F2328"/>
                </a:solidFill>
                <a:latin typeface="Calibri"/>
                <a:ea typeface="맑은 고딕"/>
                <a:cs typeface="Calibri"/>
              </a:rPr>
              <a:t> / </a:t>
            </a:r>
            <a:r>
              <a:rPr lang="en-US" altLang="ko-KR" sz="2100" b="1" dirty="0">
                <a:solidFill>
                  <a:srgbClr val="1F2328"/>
                </a:solidFill>
                <a:latin typeface="Calibri"/>
                <a:ea typeface="맑은 고딕"/>
                <a:cs typeface="Calibri"/>
              </a:rPr>
              <a:t>is endless</a:t>
            </a:r>
            <a:r>
              <a:rPr lang="en-US" altLang="ko-KR" sz="2100" b="1" dirty="0">
                <a:solidFill>
                  <a:srgbClr val="1F2328"/>
                </a:solidFill>
                <a:latin typeface="Calibri"/>
                <a:ea typeface="맑은 고딕"/>
                <a:cs typeface="Calibri"/>
              </a:rPr>
              <a:t> ]</a:t>
            </a:r>
            <a:r>
              <a:rPr lang="en-US" altLang="ko-KR" sz="2100" b="0" dirty="0">
                <a:solidFill>
                  <a:srgbClr val="1F2328"/>
                </a:solidFill>
                <a:latin typeface="Calibri"/>
                <a:ea typeface="맑은 고딕"/>
                <a:cs typeface="Calibri"/>
              </a:rPr>
              <a:t>, and </a:t>
            </a:r>
            <a:r>
              <a:rPr lang="en-US" altLang="ko-KR" sz="2100" b="1" dirty="0">
                <a:solidFill>
                  <a:srgbClr val="1F2328"/>
                </a:solidFill>
                <a:latin typeface="Calibri"/>
                <a:ea typeface="맑은 고딕"/>
                <a:cs typeface="Calibri"/>
              </a:rPr>
              <a:t>[ </a:t>
            </a:r>
            <a:r>
              <a:rPr lang="en-US" altLang="ko-KR" sz="2100" b="1" dirty="0">
                <a:solidFill>
                  <a:srgbClr val="1F2328"/>
                </a:solidFill>
                <a:latin typeface="Calibri"/>
                <a:ea typeface="맑은 고딕"/>
                <a:cs typeface="Calibri"/>
              </a:rPr>
              <a:t>here are some</a:t>
            </a:r>
            <a:r>
              <a:rPr lang="en-US" altLang="ko-KR" sz="2100" b="1" dirty="0">
                <a:solidFill>
                  <a:srgbClr val="1F2328"/>
                </a:solidFill>
                <a:latin typeface="Calibri"/>
                <a:ea typeface="맑은 고딕"/>
                <a:cs typeface="Calibri"/>
              </a:rPr>
              <a:t> / </a:t>
            </a:r>
            <a:r>
              <a:rPr lang="en-US" altLang="ko-KR" sz="2100" b="1" dirty="0">
                <a:solidFill>
                  <a:srgbClr val="1F2328"/>
                </a:solidFill>
                <a:latin typeface="Calibri"/>
                <a:ea typeface="맑은 고딕"/>
                <a:cs typeface="Calibri"/>
              </a:rPr>
              <a:t>here is some</a:t>
            </a:r>
            <a:r>
              <a:rPr lang="en-US" altLang="ko-KR" sz="2100" b="1" dirty="0">
                <a:solidFill>
                  <a:srgbClr val="1F2328"/>
                </a:solidFill>
                <a:latin typeface="Calibri"/>
                <a:ea typeface="맑은 고딕"/>
                <a:cs typeface="Calibri"/>
              </a:rPr>
              <a:t> ]</a:t>
            </a:r>
            <a:r>
              <a:rPr lang="en-US" altLang="ko-KR" sz="2100" b="0" dirty="0">
                <a:solidFill>
                  <a:srgbClr val="1F2328"/>
                </a:solidFill>
                <a:latin typeface="Calibri"/>
                <a:ea typeface="맑은 고딕"/>
                <a:cs typeface="Calibri"/>
              </a:rPr>
              <a:t> interesting examples.</a:t>
            </a:r>
            <a:r>
              <a:rPr lang="en-US" altLang="ko-KR" sz="2100" b="0" dirty="0">
                <a:solidFill>
                  <a:srgbClr val="1F2328"/>
                </a:solidFill>
                <a:latin typeface="Calibri"/>
                <a:ea typeface="맑은 고딕"/>
                <a:cs typeface="Calibri"/>
              </a:rPr>
              <a:t>   </a:t>
            </a:r>
            <a:r>
              <a:rPr lang="ko-KR" altLang="en-US" sz="2100" b="1" dirty="0">
                <a:solidFill>
                  <a:srgbClr val="1E2A5A"/>
                </a:solidFill>
                <a:latin typeface="맑은 고딕"/>
                <a:ea typeface="맑은 고딕"/>
                <a:cs typeface="맑은 고딕"/>
              </a:rPr>
              <a:t>⑤</a:t>
            </a:r>
            <a:r>
              <a:rPr lang="en-US" altLang="ko-KR" sz="2100" b="0" dirty="0">
                <a:solidFill>
                  <a:srgbClr val="1F2328"/>
                </a:solidFill>
                <a:latin typeface="Calibri"/>
                <a:ea typeface="맑은 고딕"/>
                <a:cs typeface="Calibri"/>
              </a:rPr>
              <a:t> </a:t>
            </a:r>
            <a:r>
              <a:rPr lang="en-US" altLang="ko-KR" sz="2100" b="0" dirty="0">
                <a:solidFill>
                  <a:srgbClr val="1F2328"/>
                </a:solidFill>
                <a:latin typeface="Calibri"/>
                <a:ea typeface="맑은 고딕"/>
                <a:cs typeface="Calibri"/>
              </a:rPr>
              <a:t>Did you know </a:t>
            </a:r>
            <a:r>
              <a:rPr lang="en-US" altLang="ko-KR" sz="2100" b="1" dirty="0">
                <a:solidFill>
                  <a:srgbClr val="1F2328"/>
                </a:solidFill>
                <a:latin typeface="Calibri"/>
                <a:ea typeface="맑은 고딕"/>
                <a:cs typeface="Calibri"/>
              </a:rPr>
              <a:t>[ </a:t>
            </a:r>
            <a:r>
              <a:rPr lang="en-US" altLang="ko-KR" sz="2100" b="1" dirty="0">
                <a:solidFill>
                  <a:srgbClr val="1F2328"/>
                </a:solidFill>
                <a:latin typeface="Calibri"/>
                <a:ea typeface="맑은 고딕"/>
                <a:cs typeface="Calibri"/>
              </a:rPr>
              <a:t>that health professionals</a:t>
            </a:r>
            <a:r>
              <a:rPr lang="en-US" altLang="ko-KR" sz="2100" b="1" dirty="0">
                <a:solidFill>
                  <a:srgbClr val="1F2328"/>
                </a:solidFill>
                <a:latin typeface="Calibri"/>
                <a:ea typeface="맑은 고딕"/>
                <a:cs typeface="Calibri"/>
              </a:rPr>
              <a:t> / </a:t>
            </a:r>
            <a:r>
              <a:rPr lang="en-US" altLang="ko-KR" sz="2100" b="1" dirty="0">
                <a:solidFill>
                  <a:srgbClr val="1F2328"/>
                </a:solidFill>
                <a:latin typeface="Calibri"/>
                <a:ea typeface="맑은 고딕"/>
                <a:cs typeface="Calibri"/>
              </a:rPr>
              <a:t>what health professionals</a:t>
            </a:r>
            <a:r>
              <a:rPr lang="en-US" altLang="ko-KR" sz="2100" b="1" dirty="0">
                <a:solidFill>
                  <a:srgbClr val="1F2328"/>
                </a:solidFill>
                <a:latin typeface="Calibri"/>
                <a:ea typeface="맑은 고딕"/>
                <a:cs typeface="Calibri"/>
              </a:rPr>
              <a:t> ]</a:t>
            </a:r>
            <a:r>
              <a:rPr lang="en-US" altLang="ko-KR" sz="2100" b="0" dirty="0">
                <a:solidFill>
                  <a:srgbClr val="1F2328"/>
                </a:solidFill>
                <a:latin typeface="Calibri"/>
                <a:ea typeface="맑은 고딕"/>
                <a:cs typeface="Calibri"/>
              </a:rPr>
              <a:t> can now forecast a disease just as weather experts forecast the weather?</a:t>
            </a:r>
            <a:r>
              <a:rPr lang="en-US" altLang="ko-KR" sz="2100" b="0" dirty="0">
                <a:solidFill>
                  <a:srgbClr val="1F2328"/>
                </a:solidFill>
                <a:latin typeface="Calibri"/>
                <a:ea typeface="맑은 고딕"/>
                <a:cs typeface="Calibri"/>
              </a:rPr>
              <a:t>   </a:t>
            </a:r>
            <a:r>
              <a:rPr lang="ko-KR" altLang="en-US" sz="2100" b="1" dirty="0">
                <a:solidFill>
                  <a:srgbClr val="1E2A5A"/>
                </a:solidFill>
                <a:latin typeface="맑은 고딕"/>
                <a:ea typeface="맑은 고딕"/>
                <a:cs typeface="맑은 고딕"/>
              </a:rPr>
              <a:t>⑥</a:t>
            </a:r>
            <a:r>
              <a:rPr lang="en-US" altLang="ko-KR" sz="2100" b="0" dirty="0">
                <a:solidFill>
                  <a:srgbClr val="1F2328"/>
                </a:solidFill>
                <a:latin typeface="Calibri"/>
                <a:ea typeface="맑은 고딕"/>
                <a:cs typeface="Calibri"/>
              </a:rPr>
              <a:t> </a:t>
            </a:r>
            <a:r>
              <a:rPr lang="en-US" altLang="ko-KR" sz="2100" b="0" dirty="0">
                <a:solidFill>
                  <a:srgbClr val="1F2328"/>
                </a:solidFill>
                <a:latin typeface="Calibri"/>
                <a:ea typeface="맑은 고딕"/>
                <a:cs typeface="Calibri"/>
              </a:rPr>
              <a:t>This is possible thanks to big data.</a:t>
            </a:r>
            <a:r>
              <a:rPr lang="en-US" altLang="ko-KR" sz="2100" b="0" dirty="0">
                <a:solidFill>
                  <a:srgbClr val="1F2328"/>
                </a:solidFill>
                <a:latin typeface="Calibri"/>
                <a:ea typeface="맑은 고딕"/>
                <a:cs typeface="Calibri"/>
              </a:rPr>
              <a:t>   </a:t>
            </a:r>
            <a:r>
              <a:rPr lang="ko-KR" altLang="en-US" sz="2100" b="1" dirty="0">
                <a:solidFill>
                  <a:srgbClr val="1E2A5A"/>
                </a:solidFill>
                <a:latin typeface="맑은 고딕"/>
                <a:ea typeface="맑은 고딕"/>
                <a:cs typeface="맑은 고딕"/>
              </a:rPr>
              <a:t>⑦</a:t>
            </a:r>
            <a:r>
              <a:rPr lang="en-US" altLang="ko-KR" sz="2100" b="0" dirty="0">
                <a:solidFill>
                  <a:srgbClr val="1F2328"/>
                </a:solidFill>
                <a:latin typeface="Calibri"/>
                <a:ea typeface="맑은 고딕"/>
                <a:cs typeface="Calibri"/>
              </a:rPr>
              <a:t> </a:t>
            </a:r>
            <a:r>
              <a:rPr lang="en-US" altLang="ko-KR" sz="2100" b="0" dirty="0">
                <a:solidFill>
                  <a:srgbClr val="1F2328"/>
                </a:solidFill>
                <a:latin typeface="Calibri"/>
                <a:ea typeface="맑은 고딕"/>
                <a:cs typeface="Calibri"/>
              </a:rPr>
              <a:t>For example, when the flu season </a:t>
            </a:r>
            <a:r>
              <a:rPr lang="en-US" altLang="ko-KR" sz="2100" b="1" dirty="0">
                <a:solidFill>
                  <a:srgbClr val="1F2328"/>
                </a:solidFill>
                <a:latin typeface="Calibri"/>
                <a:ea typeface="맑은 고딕"/>
                <a:cs typeface="Calibri"/>
              </a:rPr>
              <a:t>[ </a:t>
            </a:r>
            <a:r>
              <a:rPr lang="en-US" altLang="ko-KR" sz="2100" b="1" dirty="0">
                <a:solidFill>
                  <a:srgbClr val="1F2328"/>
                </a:solidFill>
                <a:latin typeface="Calibri"/>
                <a:ea typeface="맑은 고딕"/>
                <a:cs typeface="Calibri"/>
              </a:rPr>
              <a:t>will come</a:t>
            </a:r>
            <a:r>
              <a:rPr lang="en-US" altLang="ko-KR" sz="2100" b="1" dirty="0">
                <a:solidFill>
                  <a:srgbClr val="1F2328"/>
                </a:solidFill>
                <a:latin typeface="Calibri"/>
                <a:ea typeface="맑은 고딕"/>
                <a:cs typeface="Calibri"/>
              </a:rPr>
              <a:t> / </a:t>
            </a:r>
            <a:r>
              <a:rPr lang="en-US" altLang="ko-KR" sz="2100" b="1" dirty="0">
                <a:solidFill>
                  <a:srgbClr val="1F2328"/>
                </a:solidFill>
                <a:latin typeface="Calibri"/>
                <a:ea typeface="맑은 고딕"/>
                <a:cs typeface="Calibri"/>
              </a:rPr>
              <a:t>comes</a:t>
            </a:r>
            <a:r>
              <a:rPr lang="en-US" altLang="ko-KR" sz="2100" b="1" dirty="0">
                <a:solidFill>
                  <a:srgbClr val="1F2328"/>
                </a:solidFill>
                <a:latin typeface="Calibri"/>
                <a:ea typeface="맑은 고딕"/>
                <a:cs typeface="Calibri"/>
              </a:rPr>
              <a:t> ]</a:t>
            </a:r>
            <a:r>
              <a:rPr lang="en-US" altLang="ko-KR" sz="2100" b="0" dirty="0">
                <a:solidFill>
                  <a:srgbClr val="1F2328"/>
                </a:solidFill>
                <a:latin typeface="Calibri"/>
                <a:ea typeface="맑은 고딕"/>
                <a:cs typeface="Calibri"/>
              </a:rPr>
              <a:t>, people will buy more flu medicine.</a:t>
            </a:r>
            <a:r>
              <a:rPr lang="en-US" altLang="ko-KR" sz="2100" b="0" dirty="0">
                <a:solidFill>
                  <a:srgbClr val="1F2328"/>
                </a:solidFill>
                <a:latin typeface="Calibri"/>
                <a:ea typeface="맑은 고딕"/>
                <a:cs typeface="Calibri"/>
              </a:rPr>
              <a:t>   </a:t>
            </a:r>
            <a:r>
              <a:rPr lang="ko-KR" altLang="en-US" sz="2100" b="1" dirty="0">
                <a:solidFill>
                  <a:srgbClr val="1E2A5A"/>
                </a:solidFill>
                <a:latin typeface="맑은 고딕"/>
                <a:ea typeface="맑은 고딕"/>
                <a:cs typeface="맑은 고딕"/>
              </a:rPr>
              <a:t>⑧</a:t>
            </a:r>
            <a:r>
              <a:rPr lang="en-US" altLang="ko-KR" sz="2100" b="0" dirty="0">
                <a:solidFill>
                  <a:srgbClr val="1F2328"/>
                </a:solidFill>
                <a:latin typeface="Calibri"/>
                <a:ea typeface="맑은 고딕"/>
                <a:cs typeface="Calibri"/>
              </a:rPr>
              <a:t> </a:t>
            </a:r>
            <a:r>
              <a:rPr lang="en-US" altLang="ko-KR" sz="2100" b="0" dirty="0">
                <a:solidFill>
                  <a:srgbClr val="1F2328"/>
                </a:solidFill>
                <a:latin typeface="Calibri"/>
                <a:ea typeface="맑은 고딕"/>
                <a:cs typeface="Calibri"/>
              </a:rPr>
              <a:t>They will also search online about flu symptoms more.</a:t>
            </a:r>
            <a:r>
              <a:rPr lang="en-US" altLang="ko-KR" sz="2100" b="0" dirty="0">
                <a:solidFill>
                  <a:srgbClr val="1F2328"/>
                </a:solidFill>
                <a:latin typeface="Calibri"/>
                <a:ea typeface="맑은 고딕"/>
                <a:cs typeface="Calibri"/>
              </a:rPr>
              <a:t>   </a:t>
            </a:r>
            <a:r>
              <a:rPr lang="ko-KR" altLang="en-US" sz="2100" b="1" dirty="0">
                <a:solidFill>
                  <a:srgbClr val="1E2A5A"/>
                </a:solidFill>
                <a:latin typeface="맑은 고딕"/>
                <a:ea typeface="맑은 고딕"/>
                <a:cs typeface="맑은 고딕"/>
              </a:rPr>
              <a:t>⑨</a:t>
            </a:r>
            <a:r>
              <a:rPr lang="en-US" altLang="ko-KR" sz="2100" b="0" dirty="0">
                <a:solidFill>
                  <a:srgbClr val="1F2328"/>
                </a:solidFill>
                <a:latin typeface="Calibri"/>
                <a:ea typeface="맑은 고딕"/>
                <a:cs typeface="Calibri"/>
              </a:rPr>
              <a:t> </a:t>
            </a:r>
            <a:r>
              <a:rPr lang="en-US" altLang="ko-KR" sz="2100" b="0" dirty="0">
                <a:solidFill>
                  <a:srgbClr val="1F2328"/>
                </a:solidFill>
                <a:latin typeface="Calibri"/>
                <a:ea typeface="맑은 고딕"/>
                <a:cs typeface="Calibri"/>
              </a:rPr>
              <a:t>If this kind of data is analyzed wisely, the spread of the flu can be predicted.</a:t>
            </a:r>
            <a:endParaRPr lang="en-US" altLang="ko-KR" sz="2100" b="0" dirty="0">
              <a:solidFill>
                <a:srgbClr val="1F2328"/>
              </a:solidFill>
              <a:latin typeface="Calibri"/>
              <a:ea typeface="맑은 고딕"/>
              <a:cs typeface="Calibri"/>
            </a:endParaRPr>
          </a:p>
        </p:txBody>
      </p:sp>
      <p:sp>
        <p:nvSpPr>
          <p:cNvPr id="9" name="rv_g01"/>
          <p:cNvSpPr txBox="1"/>
          <p:nvPr/>
        </p:nvSpPr>
        <p:spPr>
          <a:xfrm>
            <a:off x="457200" y="950976"/>
            <a:ext cx="11277295" cy="5060696"/>
          </a:xfrm>
          <a:prstGeom prst="rect">
            <a:avLst/>
          </a:prstGeom>
          <a:noFill/>
        </p:spPr>
        <p:txBody>
          <a:bodyPr wrap="square" lIns="228600" tIns="155448" rIns="228600" bIns="155448" anchor="t" rtlCol="0">
            <a:noAutofit/>
          </a:bodyPr>
          <a:lstStyle/>
          <a:p>
            <a:pPr algn="l">
              <a:lnSpc>
                <a:spcPts val="3400"/>
              </a:lnSpc>
              <a:spcBef>
                <a:spcPts val="0"/>
              </a:spcBef>
              <a:spcAft>
                <a:spcPts val="0"/>
              </a:spcAft>
              <a:buNone/>
            </a:pPr>
            <a:r>
              <a:rPr lang="ko-KR" altLang="en-US" sz="2100" b="1" dirty="0">
                <a:solidFill>
                  <a:srgbClr val="1E2A5A">
                    <a:alpha val="0"/>
                  </a:srgbClr>
                </a:solidFill>
                <a:latin typeface="맑은 고딕"/>
                <a:ea typeface="맑은 고딕"/>
                <a:cs typeface="맑은 고딕"/>
              </a:rPr>
              <a:t>①</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Big data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is influenced</a:t>
            </a:r>
            <a:r>
              <a:rPr lang="en-US" altLang="ko-KR" sz="2100" b="1" dirty="0">
                <a:solidFill>
                  <a:srgbClr val="1F2328">
                    <a:alpha val="0"/>
                  </a:srgbClr>
                </a:solidFill>
                <a:latin typeface="Calibri"/>
                <a:ea typeface="맑은 고딕"/>
                <a:cs typeface="Calibri"/>
              </a:rPr>
              <a:t> / </a:t>
            </a:r>
            <a:r>
              <a:rPr lang="en-US" altLang="ko-KR" sz="2100" b="1" dirty="0">
                <a:solidFill>
                  <a:srgbClr val="C00000"/>
                </a:solidFill>
                <a:highlight>
                  <a:srgbClr val="F3F5F9"/>
                </a:highlight>
                <a:latin typeface="Calibri"/>
                <a:ea typeface="맑은 고딕"/>
                <a:cs typeface="Calibri"/>
              </a:rPr>
              <a:t>is influencing</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almost all parts of our lives.</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②</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It helps companies understand their customers’ needs better and helps them sell more products.</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③</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It helps people avoid heavy traffic.</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④</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Its uses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are endless</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is endless</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and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here are some</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here is some</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interesting examples.</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⑤</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Did you know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that health professionals</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what health professionals</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can now forecast a disease just as weather experts forecast the weather?</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⑥</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This is possible thanks to big data.</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⑦</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For example, when the flu season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will come</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comes</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people will buy more flu medicine.</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⑧</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They will also search online about flu symptoms more.</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⑨</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If this kind of data is analyzed wisely, the spread of the flu can be predicted.</a:t>
            </a:r>
            <a:endParaRPr lang="en-US" altLang="ko-KR" sz="2100" b="0" dirty="0">
              <a:solidFill>
                <a:srgbClr val="1F2328"/>
              </a:solidFill>
              <a:latin typeface="Calibri"/>
              <a:ea typeface="맑은 고딕"/>
              <a:cs typeface="Calibri"/>
            </a:endParaRPr>
          </a:p>
        </p:txBody>
      </p:sp>
      <p:sp>
        <p:nvSpPr>
          <p:cNvPr id="10" name="rv_g02"/>
          <p:cNvSpPr txBox="1"/>
          <p:nvPr/>
        </p:nvSpPr>
        <p:spPr>
          <a:xfrm>
            <a:off x="457200" y="950976"/>
            <a:ext cx="11277295" cy="5060696"/>
          </a:xfrm>
          <a:prstGeom prst="rect">
            <a:avLst/>
          </a:prstGeom>
          <a:noFill/>
        </p:spPr>
        <p:txBody>
          <a:bodyPr wrap="square" lIns="228600" tIns="155448" rIns="228600" bIns="155448" anchor="t" rtlCol="0">
            <a:noAutofit/>
          </a:bodyPr>
          <a:lstStyle/>
          <a:p>
            <a:pPr algn="l">
              <a:lnSpc>
                <a:spcPts val="3400"/>
              </a:lnSpc>
              <a:spcBef>
                <a:spcPts val="0"/>
              </a:spcBef>
              <a:spcAft>
                <a:spcPts val="0"/>
              </a:spcAft>
              <a:buNone/>
            </a:pPr>
            <a:r>
              <a:rPr lang="ko-KR" altLang="en-US" sz="2100" b="1" dirty="0">
                <a:solidFill>
                  <a:srgbClr val="1E2A5A">
                    <a:alpha val="0"/>
                  </a:srgbClr>
                </a:solidFill>
                <a:latin typeface="맑은 고딕"/>
                <a:ea typeface="맑은 고딕"/>
                <a:cs typeface="맑은 고딕"/>
              </a:rPr>
              <a:t>①</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Big data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is influenced</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is influencing</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almost all parts of our lives.</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②</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It helps companies understand their customers’ needs better and helps them sell more products.</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③</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It helps people avoid heavy traffic.</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④</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Its uses </a:t>
            </a:r>
            <a:r>
              <a:rPr lang="en-US" altLang="ko-KR" sz="2100" b="1" dirty="0">
                <a:solidFill>
                  <a:srgbClr val="1F2328">
                    <a:alpha val="0"/>
                  </a:srgbClr>
                </a:solidFill>
                <a:latin typeface="Calibri"/>
                <a:ea typeface="맑은 고딕"/>
                <a:cs typeface="Calibri"/>
              </a:rPr>
              <a:t>[ </a:t>
            </a:r>
            <a:r>
              <a:rPr lang="en-US" altLang="ko-KR" sz="2100" b="1" dirty="0">
                <a:solidFill>
                  <a:srgbClr val="C00000"/>
                </a:solidFill>
                <a:highlight>
                  <a:srgbClr val="F3F5F9"/>
                </a:highlight>
                <a:latin typeface="Calibri"/>
                <a:ea typeface="맑은 고딕"/>
                <a:cs typeface="Calibri"/>
              </a:rPr>
              <a:t>are endless</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is endless</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and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here are some</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here is some</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interesting examples.</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⑤</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Did you know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that health professionals</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what health professionals</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can now forecast a disease just as weather experts forecast the weather?</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⑥</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This is possible thanks to big data.</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⑦</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For example, when the flu season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will come</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comes</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people will buy more flu medicine.</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⑧</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They will also search online about flu symptoms more.</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⑨</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If this kind of data is analyzed wisely, the spread of the flu can be predicted.</a:t>
            </a:r>
            <a:endParaRPr lang="en-US" altLang="ko-KR" sz="2100" b="0" dirty="0">
              <a:solidFill>
                <a:srgbClr val="1F2328"/>
              </a:solidFill>
              <a:latin typeface="Calibri"/>
              <a:ea typeface="맑은 고딕"/>
              <a:cs typeface="Calibri"/>
            </a:endParaRPr>
          </a:p>
        </p:txBody>
      </p:sp>
      <p:sp>
        <p:nvSpPr>
          <p:cNvPr id="11" name="rv_g03"/>
          <p:cNvSpPr txBox="1"/>
          <p:nvPr/>
        </p:nvSpPr>
        <p:spPr>
          <a:xfrm>
            <a:off x="457200" y="950976"/>
            <a:ext cx="11277295" cy="5060696"/>
          </a:xfrm>
          <a:prstGeom prst="rect">
            <a:avLst/>
          </a:prstGeom>
          <a:noFill/>
        </p:spPr>
        <p:txBody>
          <a:bodyPr wrap="square" lIns="228600" tIns="155448" rIns="228600" bIns="155448" anchor="t" rtlCol="0">
            <a:noAutofit/>
          </a:bodyPr>
          <a:lstStyle/>
          <a:p>
            <a:pPr algn="l">
              <a:lnSpc>
                <a:spcPts val="3400"/>
              </a:lnSpc>
              <a:spcBef>
                <a:spcPts val="0"/>
              </a:spcBef>
              <a:spcAft>
                <a:spcPts val="0"/>
              </a:spcAft>
              <a:buNone/>
            </a:pPr>
            <a:r>
              <a:rPr lang="ko-KR" altLang="en-US" sz="2100" b="1" dirty="0">
                <a:solidFill>
                  <a:srgbClr val="1E2A5A">
                    <a:alpha val="0"/>
                  </a:srgbClr>
                </a:solidFill>
                <a:latin typeface="맑은 고딕"/>
                <a:ea typeface="맑은 고딕"/>
                <a:cs typeface="맑은 고딕"/>
              </a:rPr>
              <a:t>①</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Big data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is influenced</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is influencing</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almost all parts of our lives.</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②</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It helps companies understand their customers’ needs better and helps them sell more products.</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③</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It helps people avoid heavy traffic.</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④</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Its uses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are endless</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is endless</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and </a:t>
            </a:r>
            <a:r>
              <a:rPr lang="en-US" altLang="ko-KR" sz="2100" b="1" dirty="0">
                <a:solidFill>
                  <a:srgbClr val="1F2328">
                    <a:alpha val="0"/>
                  </a:srgbClr>
                </a:solidFill>
                <a:latin typeface="Calibri"/>
                <a:ea typeface="맑은 고딕"/>
                <a:cs typeface="Calibri"/>
              </a:rPr>
              <a:t>[ </a:t>
            </a:r>
            <a:r>
              <a:rPr lang="en-US" altLang="ko-KR" sz="2100" b="1" dirty="0">
                <a:solidFill>
                  <a:srgbClr val="C00000"/>
                </a:solidFill>
                <a:highlight>
                  <a:srgbClr val="F3F5F9"/>
                </a:highlight>
                <a:latin typeface="Calibri"/>
                <a:ea typeface="맑은 고딕"/>
                <a:cs typeface="Calibri"/>
              </a:rPr>
              <a:t>here are some</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here is some</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interesting examples.</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⑤</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Did you know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that health professionals</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what health professionals</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can now forecast a disease just as weather experts forecast the weather?</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⑥</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This is possible thanks to big data.</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⑦</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For example, when the flu season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will come</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comes</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people will buy more flu medicine.</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⑧</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They will also search online about flu symptoms more.</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⑨</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If this kind of data is analyzed wisely, the spread of the flu can be predicted.</a:t>
            </a:r>
            <a:endParaRPr lang="en-US" altLang="ko-KR" sz="2100" b="0" dirty="0">
              <a:solidFill>
                <a:srgbClr val="1F2328"/>
              </a:solidFill>
              <a:latin typeface="Calibri"/>
              <a:ea typeface="맑은 고딕"/>
              <a:cs typeface="Calibri"/>
            </a:endParaRPr>
          </a:p>
        </p:txBody>
      </p:sp>
      <p:sp>
        <p:nvSpPr>
          <p:cNvPr id="12" name="rv_g04"/>
          <p:cNvSpPr txBox="1"/>
          <p:nvPr/>
        </p:nvSpPr>
        <p:spPr>
          <a:xfrm>
            <a:off x="457200" y="950976"/>
            <a:ext cx="11277295" cy="5060696"/>
          </a:xfrm>
          <a:prstGeom prst="rect">
            <a:avLst/>
          </a:prstGeom>
          <a:noFill/>
        </p:spPr>
        <p:txBody>
          <a:bodyPr wrap="square" lIns="228600" tIns="155448" rIns="228600" bIns="155448" anchor="t" rtlCol="0">
            <a:noAutofit/>
          </a:bodyPr>
          <a:lstStyle/>
          <a:p>
            <a:pPr algn="l">
              <a:lnSpc>
                <a:spcPts val="3400"/>
              </a:lnSpc>
              <a:spcBef>
                <a:spcPts val="0"/>
              </a:spcBef>
              <a:spcAft>
                <a:spcPts val="0"/>
              </a:spcAft>
              <a:buNone/>
            </a:pPr>
            <a:r>
              <a:rPr lang="ko-KR" altLang="en-US" sz="2100" b="1" dirty="0">
                <a:solidFill>
                  <a:srgbClr val="1E2A5A">
                    <a:alpha val="0"/>
                  </a:srgbClr>
                </a:solidFill>
                <a:latin typeface="맑은 고딕"/>
                <a:ea typeface="맑은 고딕"/>
                <a:cs typeface="맑은 고딕"/>
              </a:rPr>
              <a:t>①</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Big data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is influenced</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is influencing</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almost all parts of our lives.</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②</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It helps companies understand their customers’ needs better and helps them sell more products.</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③</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It helps people avoid heavy traffic.</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④</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Its uses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are endless</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is endless</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and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here are some</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here is some</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interesting examples.</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⑤</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Did you know </a:t>
            </a:r>
            <a:r>
              <a:rPr lang="en-US" altLang="ko-KR" sz="2100" b="1" dirty="0">
                <a:solidFill>
                  <a:srgbClr val="1F2328">
                    <a:alpha val="0"/>
                  </a:srgbClr>
                </a:solidFill>
                <a:latin typeface="Calibri"/>
                <a:ea typeface="맑은 고딕"/>
                <a:cs typeface="Calibri"/>
              </a:rPr>
              <a:t>[ </a:t>
            </a:r>
            <a:r>
              <a:rPr lang="en-US" altLang="ko-KR" sz="2100" b="1" dirty="0">
                <a:solidFill>
                  <a:srgbClr val="C00000"/>
                </a:solidFill>
                <a:highlight>
                  <a:srgbClr val="F3F5F9"/>
                </a:highlight>
                <a:latin typeface="Calibri"/>
                <a:ea typeface="맑은 고딕"/>
                <a:cs typeface="Calibri"/>
              </a:rPr>
              <a:t>that health professionals</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what health professionals</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can now forecast a disease just as weather experts forecast the weather?</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⑥</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This is possible thanks to big data.</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⑦</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For example, when the flu season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will come</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comes</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people will buy more flu medicine.</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⑧</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They will also search online about flu symptoms more.</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⑨</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If this kind of data is analyzed wisely, the spread of the flu can be predicted.</a:t>
            </a:r>
            <a:endParaRPr lang="en-US" altLang="ko-KR" sz="2100" b="0" dirty="0">
              <a:solidFill>
                <a:srgbClr val="1F2328"/>
              </a:solidFill>
              <a:latin typeface="Calibri"/>
              <a:ea typeface="맑은 고딕"/>
              <a:cs typeface="Calibri"/>
            </a:endParaRPr>
          </a:p>
        </p:txBody>
      </p:sp>
      <p:sp>
        <p:nvSpPr>
          <p:cNvPr id="13" name="rv_g05"/>
          <p:cNvSpPr txBox="1"/>
          <p:nvPr/>
        </p:nvSpPr>
        <p:spPr>
          <a:xfrm>
            <a:off x="457200" y="950976"/>
            <a:ext cx="11277295" cy="5060696"/>
          </a:xfrm>
          <a:prstGeom prst="rect">
            <a:avLst/>
          </a:prstGeom>
          <a:noFill/>
        </p:spPr>
        <p:txBody>
          <a:bodyPr wrap="square" lIns="228600" tIns="155448" rIns="228600" bIns="155448" anchor="t" rtlCol="0">
            <a:noAutofit/>
          </a:bodyPr>
          <a:lstStyle/>
          <a:p>
            <a:pPr algn="l">
              <a:lnSpc>
                <a:spcPts val="3400"/>
              </a:lnSpc>
              <a:spcBef>
                <a:spcPts val="0"/>
              </a:spcBef>
              <a:spcAft>
                <a:spcPts val="0"/>
              </a:spcAft>
              <a:buNone/>
            </a:pPr>
            <a:r>
              <a:rPr lang="ko-KR" altLang="en-US" sz="2100" b="1" dirty="0">
                <a:solidFill>
                  <a:srgbClr val="1E2A5A">
                    <a:alpha val="0"/>
                  </a:srgbClr>
                </a:solidFill>
                <a:latin typeface="맑은 고딕"/>
                <a:ea typeface="맑은 고딕"/>
                <a:cs typeface="맑은 고딕"/>
              </a:rPr>
              <a:t>①</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Big data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is influenced</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is influencing</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almost all parts of our lives.</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②</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It helps companies understand their customers’ needs better and helps them sell more products.</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③</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It helps people avoid heavy traffic.</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④</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Its uses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are endless</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is endless</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and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here are some</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here is some</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interesting examples.</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⑤</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Did you know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that health professionals</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what health professionals</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can now forecast a disease just as weather experts forecast the weather?</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⑥</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This is possible thanks to big data.</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⑦</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For example, when the flu season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will come</a:t>
            </a:r>
            <a:r>
              <a:rPr lang="en-US" altLang="ko-KR" sz="2100" b="1" dirty="0">
                <a:solidFill>
                  <a:srgbClr val="1F2328">
                    <a:alpha val="0"/>
                  </a:srgbClr>
                </a:solidFill>
                <a:latin typeface="Calibri"/>
                <a:ea typeface="맑은 고딕"/>
                <a:cs typeface="Calibri"/>
              </a:rPr>
              <a:t> / </a:t>
            </a:r>
            <a:r>
              <a:rPr lang="en-US" altLang="ko-KR" sz="2100" b="1" dirty="0">
                <a:solidFill>
                  <a:srgbClr val="C00000"/>
                </a:solidFill>
                <a:highlight>
                  <a:srgbClr val="F3F5F9"/>
                </a:highlight>
                <a:latin typeface="Calibri"/>
                <a:ea typeface="맑은 고딕"/>
                <a:cs typeface="Calibri"/>
              </a:rPr>
              <a:t>comes</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people will buy more flu medicine.</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⑧</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They will also search online about flu symptoms more.</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⑨</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If this kind of data is analyzed wisely, the spread of the flu can be predicted.</a:t>
            </a:r>
            <a:endParaRPr lang="en-US" altLang="ko-KR" sz="2100" b="0" dirty="0">
              <a:solidFill>
                <a:srgbClr val="1F2328"/>
              </a:solidFill>
              <a:latin typeface="Calibri"/>
              <a:ea typeface="맑은 고딕"/>
              <a:cs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25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25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25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250"/>
                                        <p:tgtEl>
                                          <p:spTgt spid="12"/>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2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Lst>
  </p:timing>
</p:sld>
</file>

<file path=ppt/slides/slide18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L7-2</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3 · ②</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다음 글의 각 [  ] 안에서 문맥상 알맞은 것을 고르시오.</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7</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클릭할 때마다 괄호 속 정답이 앞에서부터 하나씩 빨간색으로 나타납니다 (총 5개)</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5060696"/>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5060696"/>
          </a:xfrm>
          <a:prstGeom prst="rect">
            <a:avLst/>
          </a:prstGeom>
          <a:noFill/>
        </p:spPr>
        <p:txBody>
          <a:bodyPr wrap="square" lIns="228600" tIns="155448" rIns="228600" bIns="155448" anchor="t" rtlCol="0">
            <a:noAutofit/>
          </a:bodyPr>
          <a:lstStyle/>
          <a:p>
            <a:pPr algn="l">
              <a:lnSpc>
                <a:spcPts val="3400"/>
              </a:lnSpc>
              <a:spcBef>
                <a:spcPts val="0"/>
              </a:spcBef>
              <a:spcAft>
                <a:spcPts val="0"/>
              </a:spcAft>
              <a:buNone/>
            </a:pPr>
            <a:r>
              <a:rPr lang="ko-KR" altLang="en-US" sz="2100" b="1" dirty="0">
                <a:solidFill>
                  <a:srgbClr val="1E2A5A"/>
                </a:solidFill>
                <a:latin typeface="맑은 고딕"/>
                <a:ea typeface="맑은 고딕"/>
                <a:cs typeface="맑은 고딕"/>
              </a:rPr>
              <a:t>①</a:t>
            </a:r>
            <a:r>
              <a:rPr lang="en-US" altLang="ko-KR" sz="2100" b="0" dirty="0">
                <a:solidFill>
                  <a:srgbClr val="1F2328"/>
                </a:solidFill>
                <a:latin typeface="Calibri"/>
                <a:ea typeface="맑은 고딕"/>
                <a:cs typeface="Calibri"/>
              </a:rPr>
              <a:t> </a:t>
            </a:r>
            <a:r>
              <a:rPr lang="en-US" altLang="ko-KR" sz="2100" b="0" dirty="0">
                <a:solidFill>
                  <a:srgbClr val="1F2328"/>
                </a:solidFill>
                <a:latin typeface="Calibri"/>
                <a:ea typeface="맑은 고딕"/>
                <a:cs typeface="Calibri"/>
              </a:rPr>
              <a:t>Big data is influencing almost all parts of our lives.</a:t>
            </a:r>
            <a:r>
              <a:rPr lang="en-US" altLang="ko-KR" sz="2100" b="0" dirty="0">
                <a:solidFill>
                  <a:srgbClr val="1F2328"/>
                </a:solidFill>
                <a:latin typeface="Calibri"/>
                <a:ea typeface="맑은 고딕"/>
                <a:cs typeface="Calibri"/>
              </a:rPr>
              <a:t>   </a:t>
            </a:r>
            <a:r>
              <a:rPr lang="ko-KR" altLang="en-US" sz="2100" b="1" dirty="0">
                <a:solidFill>
                  <a:srgbClr val="1E2A5A"/>
                </a:solidFill>
                <a:latin typeface="맑은 고딕"/>
                <a:ea typeface="맑은 고딕"/>
                <a:cs typeface="맑은 고딕"/>
              </a:rPr>
              <a:t>②</a:t>
            </a:r>
            <a:r>
              <a:rPr lang="en-US" altLang="ko-KR" sz="2100" b="0" dirty="0">
                <a:solidFill>
                  <a:srgbClr val="1F2328"/>
                </a:solidFill>
                <a:latin typeface="Calibri"/>
                <a:ea typeface="맑은 고딕"/>
                <a:cs typeface="Calibri"/>
              </a:rPr>
              <a:t> </a:t>
            </a:r>
            <a:r>
              <a:rPr lang="en-US" altLang="ko-KR" sz="2100" b="0" dirty="0">
                <a:solidFill>
                  <a:srgbClr val="1F2328"/>
                </a:solidFill>
                <a:latin typeface="Calibri"/>
                <a:ea typeface="맑은 고딕"/>
                <a:cs typeface="Calibri"/>
              </a:rPr>
              <a:t>It helps companies understand their customers’ needs better and </a:t>
            </a:r>
            <a:r>
              <a:rPr lang="en-US" altLang="ko-KR" sz="2100" b="1" dirty="0">
                <a:solidFill>
                  <a:srgbClr val="1F2328"/>
                </a:solidFill>
                <a:latin typeface="Calibri"/>
                <a:ea typeface="맑은 고딕"/>
                <a:cs typeface="Calibri"/>
              </a:rPr>
              <a:t>[ </a:t>
            </a:r>
            <a:r>
              <a:rPr lang="en-US" altLang="ko-KR" sz="2100" b="1" dirty="0">
                <a:solidFill>
                  <a:srgbClr val="1F2328"/>
                </a:solidFill>
                <a:latin typeface="Calibri"/>
                <a:ea typeface="맑은 고딕"/>
                <a:cs typeface="Calibri"/>
              </a:rPr>
              <a:t>helps them</a:t>
            </a:r>
            <a:r>
              <a:rPr lang="en-US" altLang="ko-KR" sz="2100" b="1" dirty="0">
                <a:solidFill>
                  <a:srgbClr val="1F2328"/>
                </a:solidFill>
                <a:latin typeface="Calibri"/>
                <a:ea typeface="맑은 고딕"/>
                <a:cs typeface="Calibri"/>
              </a:rPr>
              <a:t> / </a:t>
            </a:r>
            <a:r>
              <a:rPr lang="en-US" altLang="ko-KR" sz="2100" b="1" dirty="0">
                <a:solidFill>
                  <a:srgbClr val="1F2328"/>
                </a:solidFill>
                <a:latin typeface="Calibri"/>
                <a:ea typeface="맑은 고딕"/>
                <a:cs typeface="Calibri"/>
              </a:rPr>
              <a:t>helps themselves</a:t>
            </a:r>
            <a:r>
              <a:rPr lang="en-US" altLang="ko-KR" sz="2100" b="1" dirty="0">
                <a:solidFill>
                  <a:srgbClr val="1F2328"/>
                </a:solidFill>
                <a:latin typeface="Calibri"/>
                <a:ea typeface="맑은 고딕"/>
                <a:cs typeface="Calibri"/>
              </a:rPr>
              <a:t> ]</a:t>
            </a:r>
            <a:r>
              <a:rPr lang="en-US" altLang="ko-KR" sz="2100" b="0" dirty="0">
                <a:solidFill>
                  <a:srgbClr val="1F2328"/>
                </a:solidFill>
                <a:latin typeface="Calibri"/>
                <a:ea typeface="맑은 고딕"/>
                <a:cs typeface="Calibri"/>
              </a:rPr>
              <a:t> sell more products.</a:t>
            </a:r>
            <a:r>
              <a:rPr lang="en-US" altLang="ko-KR" sz="2100" b="0" dirty="0">
                <a:solidFill>
                  <a:srgbClr val="1F2328"/>
                </a:solidFill>
                <a:latin typeface="Calibri"/>
                <a:ea typeface="맑은 고딕"/>
                <a:cs typeface="Calibri"/>
              </a:rPr>
              <a:t>   </a:t>
            </a:r>
            <a:r>
              <a:rPr lang="ko-KR" altLang="en-US" sz="2100" b="1" dirty="0">
                <a:solidFill>
                  <a:srgbClr val="1E2A5A"/>
                </a:solidFill>
                <a:latin typeface="맑은 고딕"/>
                <a:ea typeface="맑은 고딕"/>
                <a:cs typeface="맑은 고딕"/>
              </a:rPr>
              <a:t>③</a:t>
            </a:r>
            <a:r>
              <a:rPr lang="en-US" altLang="ko-KR" sz="2100" b="0" dirty="0">
                <a:solidFill>
                  <a:srgbClr val="1F2328"/>
                </a:solidFill>
                <a:latin typeface="Calibri"/>
                <a:ea typeface="맑은 고딕"/>
                <a:cs typeface="Calibri"/>
              </a:rPr>
              <a:t> </a:t>
            </a:r>
            <a:r>
              <a:rPr lang="en-US" altLang="ko-KR" sz="2100" b="0" dirty="0">
                <a:solidFill>
                  <a:srgbClr val="1F2328"/>
                </a:solidFill>
                <a:latin typeface="Calibri"/>
                <a:ea typeface="맑은 고딕"/>
                <a:cs typeface="Calibri"/>
              </a:rPr>
              <a:t>It helps people </a:t>
            </a:r>
            <a:r>
              <a:rPr lang="en-US" altLang="ko-KR" sz="2100" b="1" dirty="0">
                <a:solidFill>
                  <a:srgbClr val="1F2328"/>
                </a:solidFill>
                <a:latin typeface="Calibri"/>
                <a:ea typeface="맑은 고딕"/>
                <a:cs typeface="Calibri"/>
              </a:rPr>
              <a:t>[ </a:t>
            </a:r>
            <a:r>
              <a:rPr lang="en-US" altLang="ko-KR" sz="2100" b="1" dirty="0">
                <a:solidFill>
                  <a:srgbClr val="1F2328"/>
                </a:solidFill>
                <a:latin typeface="Calibri"/>
                <a:ea typeface="맑은 고딕"/>
                <a:cs typeface="Calibri"/>
              </a:rPr>
              <a:t>avoid heavy traffic</a:t>
            </a:r>
            <a:r>
              <a:rPr lang="en-US" altLang="ko-KR" sz="2100" b="1" dirty="0">
                <a:solidFill>
                  <a:srgbClr val="1F2328"/>
                </a:solidFill>
                <a:latin typeface="Calibri"/>
                <a:ea typeface="맑은 고딕"/>
                <a:cs typeface="Calibri"/>
              </a:rPr>
              <a:t> / </a:t>
            </a:r>
            <a:r>
              <a:rPr lang="en-US" altLang="ko-KR" sz="2100" b="1" dirty="0">
                <a:solidFill>
                  <a:srgbClr val="1F2328"/>
                </a:solidFill>
                <a:latin typeface="Calibri"/>
                <a:ea typeface="맑은 고딕"/>
                <a:cs typeface="Calibri"/>
              </a:rPr>
              <a:t>avoiding heavy traffic</a:t>
            </a:r>
            <a:r>
              <a:rPr lang="en-US" altLang="ko-KR" sz="2100" b="1" dirty="0">
                <a:solidFill>
                  <a:srgbClr val="1F2328"/>
                </a:solidFill>
                <a:latin typeface="Calibri"/>
                <a:ea typeface="맑은 고딕"/>
                <a:cs typeface="Calibri"/>
              </a:rPr>
              <a:t> ]</a:t>
            </a:r>
            <a:r>
              <a:rPr lang="en-US" altLang="ko-KR" sz="2100" b="0" dirty="0">
                <a:solidFill>
                  <a:srgbClr val="1F2328"/>
                </a:solidFill>
                <a:latin typeface="Calibri"/>
                <a:ea typeface="맑은 고딕"/>
                <a:cs typeface="Calibri"/>
              </a:rPr>
              <a:t>.</a:t>
            </a:r>
            <a:r>
              <a:rPr lang="en-US" altLang="ko-KR" sz="2100" b="0" dirty="0">
                <a:solidFill>
                  <a:srgbClr val="1F2328"/>
                </a:solidFill>
                <a:latin typeface="Calibri"/>
                <a:ea typeface="맑은 고딕"/>
                <a:cs typeface="Calibri"/>
              </a:rPr>
              <a:t>   </a:t>
            </a:r>
            <a:r>
              <a:rPr lang="ko-KR" altLang="en-US" sz="2100" b="1" dirty="0">
                <a:solidFill>
                  <a:srgbClr val="1E2A5A"/>
                </a:solidFill>
                <a:latin typeface="맑은 고딕"/>
                <a:ea typeface="맑은 고딕"/>
                <a:cs typeface="맑은 고딕"/>
              </a:rPr>
              <a:t>④</a:t>
            </a:r>
            <a:r>
              <a:rPr lang="en-US" altLang="ko-KR" sz="2100" b="0" dirty="0">
                <a:solidFill>
                  <a:srgbClr val="1F2328"/>
                </a:solidFill>
                <a:latin typeface="Calibri"/>
                <a:ea typeface="맑은 고딕"/>
                <a:cs typeface="Calibri"/>
              </a:rPr>
              <a:t> </a:t>
            </a:r>
            <a:r>
              <a:rPr lang="en-US" altLang="ko-KR" sz="2100" b="0" dirty="0">
                <a:solidFill>
                  <a:srgbClr val="1F2328"/>
                </a:solidFill>
                <a:latin typeface="Calibri"/>
                <a:ea typeface="맑은 고딕"/>
                <a:cs typeface="Calibri"/>
              </a:rPr>
              <a:t>Its uses are endless, and here are some interesting examples.</a:t>
            </a:r>
            <a:r>
              <a:rPr lang="en-US" altLang="ko-KR" sz="2100" b="0" dirty="0">
                <a:solidFill>
                  <a:srgbClr val="1F2328"/>
                </a:solidFill>
                <a:latin typeface="Calibri"/>
                <a:ea typeface="맑은 고딕"/>
                <a:cs typeface="Calibri"/>
              </a:rPr>
              <a:t>   </a:t>
            </a:r>
            <a:r>
              <a:rPr lang="ko-KR" altLang="en-US" sz="2100" b="1" dirty="0">
                <a:solidFill>
                  <a:srgbClr val="1E2A5A"/>
                </a:solidFill>
                <a:latin typeface="맑은 고딕"/>
                <a:ea typeface="맑은 고딕"/>
                <a:cs typeface="맑은 고딕"/>
              </a:rPr>
              <a:t>⑤</a:t>
            </a:r>
            <a:r>
              <a:rPr lang="en-US" altLang="ko-KR" sz="2100" b="0" dirty="0">
                <a:solidFill>
                  <a:srgbClr val="1F2328"/>
                </a:solidFill>
                <a:latin typeface="Calibri"/>
                <a:ea typeface="맑은 고딕"/>
                <a:cs typeface="Calibri"/>
              </a:rPr>
              <a:t> </a:t>
            </a:r>
            <a:r>
              <a:rPr lang="en-US" altLang="ko-KR" sz="2100" b="0" dirty="0">
                <a:solidFill>
                  <a:srgbClr val="1F2328"/>
                </a:solidFill>
                <a:latin typeface="Calibri"/>
                <a:ea typeface="맑은 고딕"/>
                <a:cs typeface="Calibri"/>
              </a:rPr>
              <a:t>Did you know that health professionals can now forecast a disease </a:t>
            </a:r>
            <a:r>
              <a:rPr lang="en-US" altLang="ko-KR" sz="2100" b="1" dirty="0">
                <a:solidFill>
                  <a:srgbClr val="1F2328"/>
                </a:solidFill>
                <a:latin typeface="Calibri"/>
                <a:ea typeface="맑은 고딕"/>
                <a:cs typeface="Calibri"/>
              </a:rPr>
              <a:t>[ </a:t>
            </a:r>
            <a:r>
              <a:rPr lang="en-US" altLang="ko-KR" sz="2100" b="1" dirty="0">
                <a:solidFill>
                  <a:srgbClr val="1F2328"/>
                </a:solidFill>
                <a:latin typeface="Calibri"/>
                <a:ea typeface="맑은 고딕"/>
                <a:cs typeface="Calibri"/>
              </a:rPr>
              <a:t>just as weather</a:t>
            </a:r>
            <a:r>
              <a:rPr lang="en-US" altLang="ko-KR" sz="2100" b="1" dirty="0">
                <a:solidFill>
                  <a:srgbClr val="1F2328"/>
                </a:solidFill>
                <a:latin typeface="Calibri"/>
                <a:ea typeface="맑은 고딕"/>
                <a:cs typeface="Calibri"/>
              </a:rPr>
              <a:t> / </a:t>
            </a:r>
            <a:r>
              <a:rPr lang="en-US" altLang="ko-KR" sz="2100" b="1" dirty="0">
                <a:solidFill>
                  <a:srgbClr val="1F2328"/>
                </a:solidFill>
                <a:latin typeface="Calibri"/>
                <a:ea typeface="맑은 고딕"/>
                <a:cs typeface="Calibri"/>
              </a:rPr>
              <a:t>just like weather</a:t>
            </a:r>
            <a:r>
              <a:rPr lang="en-US" altLang="ko-KR" sz="2100" b="1" dirty="0">
                <a:solidFill>
                  <a:srgbClr val="1F2328"/>
                </a:solidFill>
                <a:latin typeface="Calibri"/>
                <a:ea typeface="맑은 고딕"/>
                <a:cs typeface="Calibri"/>
              </a:rPr>
              <a:t> ]</a:t>
            </a:r>
            <a:r>
              <a:rPr lang="en-US" altLang="ko-KR" sz="2100" b="0" dirty="0">
                <a:solidFill>
                  <a:srgbClr val="1F2328"/>
                </a:solidFill>
                <a:latin typeface="Calibri"/>
                <a:ea typeface="맑은 고딕"/>
                <a:cs typeface="Calibri"/>
              </a:rPr>
              <a:t> experts forecast the weather?</a:t>
            </a:r>
            <a:r>
              <a:rPr lang="en-US" altLang="ko-KR" sz="2100" b="0" dirty="0">
                <a:solidFill>
                  <a:srgbClr val="1F2328"/>
                </a:solidFill>
                <a:latin typeface="Calibri"/>
                <a:ea typeface="맑은 고딕"/>
                <a:cs typeface="Calibri"/>
              </a:rPr>
              <a:t>   </a:t>
            </a:r>
            <a:r>
              <a:rPr lang="ko-KR" altLang="en-US" sz="2100" b="1" dirty="0">
                <a:solidFill>
                  <a:srgbClr val="1E2A5A"/>
                </a:solidFill>
                <a:latin typeface="맑은 고딕"/>
                <a:ea typeface="맑은 고딕"/>
                <a:cs typeface="맑은 고딕"/>
              </a:rPr>
              <a:t>⑥</a:t>
            </a:r>
            <a:r>
              <a:rPr lang="en-US" altLang="ko-KR" sz="2100" b="0" dirty="0">
                <a:solidFill>
                  <a:srgbClr val="1F2328"/>
                </a:solidFill>
                <a:latin typeface="Calibri"/>
                <a:ea typeface="맑은 고딕"/>
                <a:cs typeface="Calibri"/>
              </a:rPr>
              <a:t> </a:t>
            </a:r>
            <a:r>
              <a:rPr lang="en-US" altLang="ko-KR" sz="2100" b="0" dirty="0">
                <a:solidFill>
                  <a:srgbClr val="1F2328"/>
                </a:solidFill>
                <a:latin typeface="Calibri"/>
                <a:ea typeface="맑은 고딕"/>
                <a:cs typeface="Calibri"/>
              </a:rPr>
              <a:t>This is possible thanks to big data.</a:t>
            </a:r>
            <a:r>
              <a:rPr lang="en-US" altLang="ko-KR" sz="2100" b="0" dirty="0">
                <a:solidFill>
                  <a:srgbClr val="1F2328"/>
                </a:solidFill>
                <a:latin typeface="Calibri"/>
                <a:ea typeface="맑은 고딕"/>
                <a:cs typeface="Calibri"/>
              </a:rPr>
              <a:t>   </a:t>
            </a:r>
            <a:r>
              <a:rPr lang="ko-KR" altLang="en-US" sz="2100" b="1" dirty="0">
                <a:solidFill>
                  <a:srgbClr val="1E2A5A"/>
                </a:solidFill>
                <a:latin typeface="맑은 고딕"/>
                <a:ea typeface="맑은 고딕"/>
                <a:cs typeface="맑은 고딕"/>
              </a:rPr>
              <a:t>⑦</a:t>
            </a:r>
            <a:r>
              <a:rPr lang="en-US" altLang="ko-KR" sz="2100" b="0" dirty="0">
                <a:solidFill>
                  <a:srgbClr val="1F2328"/>
                </a:solidFill>
                <a:latin typeface="Calibri"/>
                <a:ea typeface="맑은 고딕"/>
                <a:cs typeface="Calibri"/>
              </a:rPr>
              <a:t> </a:t>
            </a:r>
            <a:r>
              <a:rPr lang="en-US" altLang="ko-KR" sz="2100" b="0" dirty="0">
                <a:solidFill>
                  <a:srgbClr val="1F2328"/>
                </a:solidFill>
                <a:latin typeface="Calibri"/>
                <a:ea typeface="맑은 고딕"/>
                <a:cs typeface="Calibri"/>
              </a:rPr>
              <a:t>For example, when the flu season comes, people will buy more flu medicine.</a:t>
            </a:r>
            <a:r>
              <a:rPr lang="en-US" altLang="ko-KR" sz="2100" b="0" dirty="0">
                <a:solidFill>
                  <a:srgbClr val="1F2328"/>
                </a:solidFill>
                <a:latin typeface="Calibri"/>
                <a:ea typeface="맑은 고딕"/>
                <a:cs typeface="Calibri"/>
              </a:rPr>
              <a:t>   </a:t>
            </a:r>
            <a:r>
              <a:rPr lang="ko-KR" altLang="en-US" sz="2100" b="1" dirty="0">
                <a:solidFill>
                  <a:srgbClr val="1E2A5A"/>
                </a:solidFill>
                <a:latin typeface="맑은 고딕"/>
                <a:ea typeface="맑은 고딕"/>
                <a:cs typeface="맑은 고딕"/>
              </a:rPr>
              <a:t>⑧</a:t>
            </a:r>
            <a:r>
              <a:rPr lang="en-US" altLang="ko-KR" sz="2100" b="0" dirty="0">
                <a:solidFill>
                  <a:srgbClr val="1F2328"/>
                </a:solidFill>
                <a:latin typeface="Calibri"/>
                <a:ea typeface="맑은 고딕"/>
                <a:cs typeface="Calibri"/>
              </a:rPr>
              <a:t> </a:t>
            </a:r>
            <a:r>
              <a:rPr lang="en-US" altLang="ko-KR" sz="2100" b="0" dirty="0">
                <a:solidFill>
                  <a:srgbClr val="1F2328"/>
                </a:solidFill>
                <a:latin typeface="Calibri"/>
                <a:ea typeface="맑은 고딕"/>
                <a:cs typeface="Calibri"/>
              </a:rPr>
              <a:t>They will also search online about flu symptoms more.</a:t>
            </a:r>
            <a:r>
              <a:rPr lang="en-US" altLang="ko-KR" sz="2100" b="0" dirty="0">
                <a:solidFill>
                  <a:srgbClr val="1F2328"/>
                </a:solidFill>
                <a:latin typeface="Calibri"/>
                <a:ea typeface="맑은 고딕"/>
                <a:cs typeface="Calibri"/>
              </a:rPr>
              <a:t>   </a:t>
            </a:r>
            <a:r>
              <a:rPr lang="ko-KR" altLang="en-US" sz="2100" b="1" dirty="0">
                <a:solidFill>
                  <a:srgbClr val="1E2A5A"/>
                </a:solidFill>
                <a:latin typeface="맑은 고딕"/>
                <a:ea typeface="맑은 고딕"/>
                <a:cs typeface="맑은 고딕"/>
              </a:rPr>
              <a:t>⑨</a:t>
            </a:r>
            <a:r>
              <a:rPr lang="en-US" altLang="ko-KR" sz="2100" b="0" dirty="0">
                <a:solidFill>
                  <a:srgbClr val="1F2328"/>
                </a:solidFill>
                <a:latin typeface="Calibri"/>
                <a:ea typeface="맑은 고딕"/>
                <a:cs typeface="Calibri"/>
              </a:rPr>
              <a:t> </a:t>
            </a:r>
            <a:r>
              <a:rPr lang="en-US" altLang="ko-KR" sz="2100" b="0" dirty="0">
                <a:solidFill>
                  <a:srgbClr val="1F2328"/>
                </a:solidFill>
                <a:latin typeface="Calibri"/>
                <a:ea typeface="맑은 고딕"/>
                <a:cs typeface="Calibri"/>
              </a:rPr>
              <a:t>If this kind of data </a:t>
            </a:r>
            <a:r>
              <a:rPr lang="en-US" altLang="ko-KR" sz="2100" b="1" dirty="0">
                <a:solidFill>
                  <a:srgbClr val="1F2328"/>
                </a:solidFill>
                <a:latin typeface="Calibri"/>
                <a:ea typeface="맑은 고딕"/>
                <a:cs typeface="Calibri"/>
              </a:rPr>
              <a:t>[ </a:t>
            </a:r>
            <a:r>
              <a:rPr lang="en-US" altLang="ko-KR" sz="2100" b="1" dirty="0">
                <a:solidFill>
                  <a:srgbClr val="1F2328"/>
                </a:solidFill>
                <a:latin typeface="Calibri"/>
                <a:ea typeface="맑은 고딕"/>
                <a:cs typeface="Calibri"/>
              </a:rPr>
              <a:t>is analyzed</a:t>
            </a:r>
            <a:r>
              <a:rPr lang="en-US" altLang="ko-KR" sz="2100" b="1" dirty="0">
                <a:solidFill>
                  <a:srgbClr val="1F2328"/>
                </a:solidFill>
                <a:latin typeface="Calibri"/>
                <a:ea typeface="맑은 고딕"/>
                <a:cs typeface="Calibri"/>
              </a:rPr>
              <a:t> / </a:t>
            </a:r>
            <a:r>
              <a:rPr lang="en-US" altLang="ko-KR" sz="2100" b="1" dirty="0">
                <a:solidFill>
                  <a:srgbClr val="1F2328"/>
                </a:solidFill>
                <a:latin typeface="Calibri"/>
                <a:ea typeface="맑은 고딕"/>
                <a:cs typeface="Calibri"/>
              </a:rPr>
              <a:t>analyzes</a:t>
            </a:r>
            <a:r>
              <a:rPr lang="en-US" altLang="ko-KR" sz="2100" b="1" dirty="0">
                <a:solidFill>
                  <a:srgbClr val="1F2328"/>
                </a:solidFill>
                <a:latin typeface="Calibri"/>
                <a:ea typeface="맑은 고딕"/>
                <a:cs typeface="Calibri"/>
              </a:rPr>
              <a:t> ]</a:t>
            </a:r>
            <a:r>
              <a:rPr lang="en-US" altLang="ko-KR" sz="2100" b="0" dirty="0">
                <a:solidFill>
                  <a:srgbClr val="1F2328"/>
                </a:solidFill>
                <a:latin typeface="Calibri"/>
                <a:ea typeface="맑은 고딕"/>
                <a:cs typeface="Calibri"/>
              </a:rPr>
              <a:t> wisely, the spread of the flu </a:t>
            </a:r>
            <a:r>
              <a:rPr lang="en-US" altLang="ko-KR" sz="2100" b="1" dirty="0">
                <a:solidFill>
                  <a:srgbClr val="1F2328"/>
                </a:solidFill>
                <a:latin typeface="Calibri"/>
                <a:ea typeface="맑은 고딕"/>
                <a:cs typeface="Calibri"/>
              </a:rPr>
              <a:t>[ </a:t>
            </a:r>
            <a:r>
              <a:rPr lang="en-US" altLang="ko-KR" sz="2100" b="1" dirty="0">
                <a:solidFill>
                  <a:srgbClr val="1F2328"/>
                </a:solidFill>
                <a:latin typeface="Calibri"/>
                <a:ea typeface="맑은 고딕"/>
                <a:cs typeface="Calibri"/>
              </a:rPr>
              <a:t>can be predicted</a:t>
            </a:r>
            <a:r>
              <a:rPr lang="en-US" altLang="ko-KR" sz="2100" b="1" dirty="0">
                <a:solidFill>
                  <a:srgbClr val="1F2328"/>
                </a:solidFill>
                <a:latin typeface="Calibri"/>
                <a:ea typeface="맑은 고딕"/>
                <a:cs typeface="Calibri"/>
              </a:rPr>
              <a:t> / </a:t>
            </a:r>
            <a:r>
              <a:rPr lang="en-US" altLang="ko-KR" sz="2100" b="1" dirty="0">
                <a:solidFill>
                  <a:srgbClr val="1F2328"/>
                </a:solidFill>
                <a:latin typeface="Calibri"/>
                <a:ea typeface="맑은 고딕"/>
                <a:cs typeface="Calibri"/>
              </a:rPr>
              <a:t>can predict</a:t>
            </a:r>
            <a:r>
              <a:rPr lang="en-US" altLang="ko-KR" sz="2100" b="1" dirty="0">
                <a:solidFill>
                  <a:srgbClr val="1F2328"/>
                </a:solidFill>
                <a:latin typeface="Calibri"/>
                <a:ea typeface="맑은 고딕"/>
                <a:cs typeface="Calibri"/>
              </a:rPr>
              <a:t> ]</a:t>
            </a:r>
            <a:r>
              <a:rPr lang="en-US" altLang="ko-KR" sz="2100" b="0" dirty="0">
                <a:solidFill>
                  <a:srgbClr val="1F2328"/>
                </a:solidFill>
                <a:latin typeface="Calibri"/>
                <a:ea typeface="맑은 고딕"/>
                <a:cs typeface="Calibri"/>
              </a:rPr>
              <a:t>.</a:t>
            </a:r>
            <a:endParaRPr lang="en-US" altLang="ko-KR" sz="2100" b="0" dirty="0">
              <a:solidFill>
                <a:srgbClr val="1F2328"/>
              </a:solidFill>
              <a:latin typeface="Calibri"/>
              <a:ea typeface="맑은 고딕"/>
              <a:cs typeface="Calibri"/>
            </a:endParaRPr>
          </a:p>
        </p:txBody>
      </p:sp>
      <p:sp>
        <p:nvSpPr>
          <p:cNvPr id="9" name="rv_g01"/>
          <p:cNvSpPr txBox="1"/>
          <p:nvPr/>
        </p:nvSpPr>
        <p:spPr>
          <a:xfrm>
            <a:off x="457200" y="950976"/>
            <a:ext cx="11277295" cy="5060696"/>
          </a:xfrm>
          <a:prstGeom prst="rect">
            <a:avLst/>
          </a:prstGeom>
          <a:noFill/>
        </p:spPr>
        <p:txBody>
          <a:bodyPr wrap="square" lIns="228600" tIns="155448" rIns="228600" bIns="155448" anchor="t" rtlCol="0">
            <a:noAutofit/>
          </a:bodyPr>
          <a:lstStyle/>
          <a:p>
            <a:pPr algn="l">
              <a:lnSpc>
                <a:spcPts val="3400"/>
              </a:lnSpc>
              <a:spcBef>
                <a:spcPts val="0"/>
              </a:spcBef>
              <a:spcAft>
                <a:spcPts val="0"/>
              </a:spcAft>
              <a:buNone/>
            </a:pPr>
            <a:r>
              <a:rPr lang="ko-KR" altLang="en-US" sz="2100" b="1" dirty="0">
                <a:solidFill>
                  <a:srgbClr val="1E2A5A">
                    <a:alpha val="0"/>
                  </a:srgbClr>
                </a:solidFill>
                <a:latin typeface="맑은 고딕"/>
                <a:ea typeface="맑은 고딕"/>
                <a:cs typeface="맑은 고딕"/>
              </a:rPr>
              <a:t>①</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Big data is influencing almost all parts of our lives.</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②</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It helps companies understand their customers’ needs better and </a:t>
            </a:r>
            <a:r>
              <a:rPr lang="en-US" altLang="ko-KR" sz="2100" b="1" dirty="0">
                <a:solidFill>
                  <a:srgbClr val="1F2328">
                    <a:alpha val="0"/>
                  </a:srgbClr>
                </a:solidFill>
                <a:latin typeface="Calibri"/>
                <a:ea typeface="맑은 고딕"/>
                <a:cs typeface="Calibri"/>
              </a:rPr>
              <a:t>[ </a:t>
            </a:r>
            <a:r>
              <a:rPr lang="en-US" altLang="ko-KR" sz="2100" b="1" dirty="0">
                <a:solidFill>
                  <a:srgbClr val="C00000"/>
                </a:solidFill>
                <a:highlight>
                  <a:srgbClr val="F3F5F9"/>
                </a:highlight>
                <a:latin typeface="Calibri"/>
                <a:ea typeface="맑은 고딕"/>
                <a:cs typeface="Calibri"/>
              </a:rPr>
              <a:t>helps them</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helps themselves</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sell more products.</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③</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It helps people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avoid heavy traffic</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avoiding heavy traffic</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④</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Its uses are endless, and here are some interesting examples.</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⑤</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Did you know that health professionals can now forecast a disease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just as weather</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just like weather</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experts forecast the weather?</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⑥</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This is possible thanks to big data.</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⑦</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For example, when the flu season comes, people will buy more flu medicine.</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⑧</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They will also search online about flu symptoms more.</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⑨</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If this kind of data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is analyzed</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analyzes</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wisely, the spread of the flu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can be predicted</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can predict</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a:t>
            </a:r>
            <a:endParaRPr lang="en-US" altLang="ko-KR" sz="2100" b="0" dirty="0">
              <a:solidFill>
                <a:srgbClr val="1F2328"/>
              </a:solidFill>
              <a:latin typeface="Calibri"/>
              <a:ea typeface="맑은 고딕"/>
              <a:cs typeface="Calibri"/>
            </a:endParaRPr>
          </a:p>
        </p:txBody>
      </p:sp>
      <p:sp>
        <p:nvSpPr>
          <p:cNvPr id="10" name="rv_g02"/>
          <p:cNvSpPr txBox="1"/>
          <p:nvPr/>
        </p:nvSpPr>
        <p:spPr>
          <a:xfrm>
            <a:off x="457200" y="950976"/>
            <a:ext cx="11277295" cy="5060696"/>
          </a:xfrm>
          <a:prstGeom prst="rect">
            <a:avLst/>
          </a:prstGeom>
          <a:noFill/>
        </p:spPr>
        <p:txBody>
          <a:bodyPr wrap="square" lIns="228600" tIns="155448" rIns="228600" bIns="155448" anchor="t" rtlCol="0">
            <a:noAutofit/>
          </a:bodyPr>
          <a:lstStyle/>
          <a:p>
            <a:pPr algn="l">
              <a:lnSpc>
                <a:spcPts val="3400"/>
              </a:lnSpc>
              <a:spcBef>
                <a:spcPts val="0"/>
              </a:spcBef>
              <a:spcAft>
                <a:spcPts val="0"/>
              </a:spcAft>
              <a:buNone/>
            </a:pPr>
            <a:r>
              <a:rPr lang="ko-KR" altLang="en-US" sz="2100" b="1" dirty="0">
                <a:solidFill>
                  <a:srgbClr val="1E2A5A">
                    <a:alpha val="0"/>
                  </a:srgbClr>
                </a:solidFill>
                <a:latin typeface="맑은 고딕"/>
                <a:ea typeface="맑은 고딕"/>
                <a:cs typeface="맑은 고딕"/>
              </a:rPr>
              <a:t>①</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Big data is influencing almost all parts of our lives.</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②</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It helps companies understand their customers’ needs better and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helps them</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helps themselves</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sell more products.</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③</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It helps people </a:t>
            </a:r>
            <a:r>
              <a:rPr lang="en-US" altLang="ko-KR" sz="2100" b="1" dirty="0">
                <a:solidFill>
                  <a:srgbClr val="1F2328">
                    <a:alpha val="0"/>
                  </a:srgbClr>
                </a:solidFill>
                <a:latin typeface="Calibri"/>
                <a:ea typeface="맑은 고딕"/>
                <a:cs typeface="Calibri"/>
              </a:rPr>
              <a:t>[ </a:t>
            </a:r>
            <a:r>
              <a:rPr lang="en-US" altLang="ko-KR" sz="2100" b="1" dirty="0">
                <a:solidFill>
                  <a:srgbClr val="C00000"/>
                </a:solidFill>
                <a:highlight>
                  <a:srgbClr val="F3F5F9"/>
                </a:highlight>
                <a:latin typeface="Calibri"/>
                <a:ea typeface="맑은 고딕"/>
                <a:cs typeface="Calibri"/>
              </a:rPr>
              <a:t>avoid heavy traffic</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avoiding heavy traffic</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④</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Its uses are endless, and here are some interesting examples.</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⑤</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Did you know that health professionals can now forecast a disease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just as weather</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just like weather</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experts forecast the weather?</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⑥</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This is possible thanks to big data.</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⑦</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For example, when the flu season comes, people will buy more flu medicine.</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⑧</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They will also search online about flu symptoms more.</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⑨</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If this kind of data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is analyzed</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analyzes</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wisely, the spread of the flu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can be predicted</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can predict</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a:t>
            </a:r>
            <a:endParaRPr lang="en-US" altLang="ko-KR" sz="2100" b="0" dirty="0">
              <a:solidFill>
                <a:srgbClr val="1F2328"/>
              </a:solidFill>
              <a:latin typeface="Calibri"/>
              <a:ea typeface="맑은 고딕"/>
              <a:cs typeface="Calibri"/>
            </a:endParaRPr>
          </a:p>
        </p:txBody>
      </p:sp>
      <p:sp>
        <p:nvSpPr>
          <p:cNvPr id="11" name="rv_g03"/>
          <p:cNvSpPr txBox="1"/>
          <p:nvPr/>
        </p:nvSpPr>
        <p:spPr>
          <a:xfrm>
            <a:off x="457200" y="950976"/>
            <a:ext cx="11277295" cy="5060696"/>
          </a:xfrm>
          <a:prstGeom prst="rect">
            <a:avLst/>
          </a:prstGeom>
          <a:noFill/>
        </p:spPr>
        <p:txBody>
          <a:bodyPr wrap="square" lIns="228600" tIns="155448" rIns="228600" bIns="155448" anchor="t" rtlCol="0">
            <a:noAutofit/>
          </a:bodyPr>
          <a:lstStyle/>
          <a:p>
            <a:pPr algn="l">
              <a:lnSpc>
                <a:spcPts val="3400"/>
              </a:lnSpc>
              <a:spcBef>
                <a:spcPts val="0"/>
              </a:spcBef>
              <a:spcAft>
                <a:spcPts val="0"/>
              </a:spcAft>
              <a:buNone/>
            </a:pPr>
            <a:r>
              <a:rPr lang="ko-KR" altLang="en-US" sz="2100" b="1" dirty="0">
                <a:solidFill>
                  <a:srgbClr val="1E2A5A">
                    <a:alpha val="0"/>
                  </a:srgbClr>
                </a:solidFill>
                <a:latin typeface="맑은 고딕"/>
                <a:ea typeface="맑은 고딕"/>
                <a:cs typeface="맑은 고딕"/>
              </a:rPr>
              <a:t>①</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Big data is influencing almost all parts of our lives.</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②</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It helps companies understand their customers’ needs better and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helps them</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helps themselves</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sell more products.</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③</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It helps people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avoid heavy traffic</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avoiding heavy traffic</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④</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Its uses are endless, and here are some interesting examples.</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⑤</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Did you know that health professionals can now forecast a disease </a:t>
            </a:r>
            <a:r>
              <a:rPr lang="en-US" altLang="ko-KR" sz="2100" b="1" dirty="0">
                <a:solidFill>
                  <a:srgbClr val="1F2328">
                    <a:alpha val="0"/>
                  </a:srgbClr>
                </a:solidFill>
                <a:latin typeface="Calibri"/>
                <a:ea typeface="맑은 고딕"/>
                <a:cs typeface="Calibri"/>
              </a:rPr>
              <a:t>[ </a:t>
            </a:r>
            <a:r>
              <a:rPr lang="en-US" altLang="ko-KR" sz="2100" b="1" dirty="0">
                <a:solidFill>
                  <a:srgbClr val="C00000"/>
                </a:solidFill>
                <a:highlight>
                  <a:srgbClr val="F3F5F9"/>
                </a:highlight>
                <a:latin typeface="Calibri"/>
                <a:ea typeface="맑은 고딕"/>
                <a:cs typeface="Calibri"/>
              </a:rPr>
              <a:t>just as weather</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just like weather</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experts forecast the weather?</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⑥</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This is possible thanks to big data.</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⑦</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For example, when the flu season comes, people will buy more flu medicine.</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⑧</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They will also search online about flu symptoms more.</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⑨</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If this kind of data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is analyzed</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analyzes</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wisely, the spread of the flu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can be predicted</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can predict</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a:t>
            </a:r>
            <a:endParaRPr lang="en-US" altLang="ko-KR" sz="2100" b="0" dirty="0">
              <a:solidFill>
                <a:srgbClr val="1F2328"/>
              </a:solidFill>
              <a:latin typeface="Calibri"/>
              <a:ea typeface="맑은 고딕"/>
              <a:cs typeface="Calibri"/>
            </a:endParaRPr>
          </a:p>
        </p:txBody>
      </p:sp>
      <p:sp>
        <p:nvSpPr>
          <p:cNvPr id="12" name="rv_g04"/>
          <p:cNvSpPr txBox="1"/>
          <p:nvPr/>
        </p:nvSpPr>
        <p:spPr>
          <a:xfrm>
            <a:off x="457200" y="950976"/>
            <a:ext cx="11277295" cy="5060696"/>
          </a:xfrm>
          <a:prstGeom prst="rect">
            <a:avLst/>
          </a:prstGeom>
          <a:noFill/>
        </p:spPr>
        <p:txBody>
          <a:bodyPr wrap="square" lIns="228600" tIns="155448" rIns="228600" bIns="155448" anchor="t" rtlCol="0">
            <a:noAutofit/>
          </a:bodyPr>
          <a:lstStyle/>
          <a:p>
            <a:pPr algn="l">
              <a:lnSpc>
                <a:spcPts val="3400"/>
              </a:lnSpc>
              <a:spcBef>
                <a:spcPts val="0"/>
              </a:spcBef>
              <a:spcAft>
                <a:spcPts val="0"/>
              </a:spcAft>
              <a:buNone/>
            </a:pPr>
            <a:r>
              <a:rPr lang="ko-KR" altLang="en-US" sz="2100" b="1" dirty="0">
                <a:solidFill>
                  <a:srgbClr val="1E2A5A">
                    <a:alpha val="0"/>
                  </a:srgbClr>
                </a:solidFill>
                <a:latin typeface="맑은 고딕"/>
                <a:ea typeface="맑은 고딕"/>
                <a:cs typeface="맑은 고딕"/>
              </a:rPr>
              <a:t>①</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Big data is influencing almost all parts of our lives.</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②</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It helps companies understand their customers’ needs better and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helps them</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helps themselves</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sell more products.</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③</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It helps people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avoid heavy traffic</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avoiding heavy traffic</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④</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Its uses are endless, and here are some interesting examples.</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⑤</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Did you know that health professionals can now forecast a disease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just as weather</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just like weather</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experts forecast the weather?</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⑥</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This is possible thanks to big data.</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⑦</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For example, when the flu season comes, people will buy more flu medicine.</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⑧</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They will also search online about flu symptoms more.</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⑨</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If this kind of data </a:t>
            </a:r>
            <a:r>
              <a:rPr lang="en-US" altLang="ko-KR" sz="2100" b="1" dirty="0">
                <a:solidFill>
                  <a:srgbClr val="1F2328">
                    <a:alpha val="0"/>
                  </a:srgbClr>
                </a:solidFill>
                <a:latin typeface="Calibri"/>
                <a:ea typeface="맑은 고딕"/>
                <a:cs typeface="Calibri"/>
              </a:rPr>
              <a:t>[ </a:t>
            </a:r>
            <a:r>
              <a:rPr lang="en-US" altLang="ko-KR" sz="2100" b="1" dirty="0">
                <a:solidFill>
                  <a:srgbClr val="C00000"/>
                </a:solidFill>
                <a:highlight>
                  <a:srgbClr val="F3F5F9"/>
                </a:highlight>
                <a:latin typeface="Calibri"/>
                <a:ea typeface="맑은 고딕"/>
                <a:cs typeface="Calibri"/>
              </a:rPr>
              <a:t>is analyzed</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analyzes</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wisely, the spread of the flu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can be predicted</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can predict</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a:t>
            </a:r>
            <a:endParaRPr lang="en-US" altLang="ko-KR" sz="2100" b="0" dirty="0">
              <a:solidFill>
                <a:srgbClr val="1F2328"/>
              </a:solidFill>
              <a:latin typeface="Calibri"/>
              <a:ea typeface="맑은 고딕"/>
              <a:cs typeface="Calibri"/>
            </a:endParaRPr>
          </a:p>
        </p:txBody>
      </p:sp>
      <p:sp>
        <p:nvSpPr>
          <p:cNvPr id="13" name="rv_g05"/>
          <p:cNvSpPr txBox="1"/>
          <p:nvPr/>
        </p:nvSpPr>
        <p:spPr>
          <a:xfrm>
            <a:off x="457200" y="950976"/>
            <a:ext cx="11277295" cy="5060696"/>
          </a:xfrm>
          <a:prstGeom prst="rect">
            <a:avLst/>
          </a:prstGeom>
          <a:noFill/>
        </p:spPr>
        <p:txBody>
          <a:bodyPr wrap="square" lIns="228600" tIns="155448" rIns="228600" bIns="155448" anchor="t" rtlCol="0">
            <a:noAutofit/>
          </a:bodyPr>
          <a:lstStyle/>
          <a:p>
            <a:pPr algn="l">
              <a:lnSpc>
                <a:spcPts val="3400"/>
              </a:lnSpc>
              <a:spcBef>
                <a:spcPts val="0"/>
              </a:spcBef>
              <a:spcAft>
                <a:spcPts val="0"/>
              </a:spcAft>
              <a:buNone/>
            </a:pPr>
            <a:r>
              <a:rPr lang="ko-KR" altLang="en-US" sz="2100" b="1" dirty="0">
                <a:solidFill>
                  <a:srgbClr val="1E2A5A">
                    <a:alpha val="0"/>
                  </a:srgbClr>
                </a:solidFill>
                <a:latin typeface="맑은 고딕"/>
                <a:ea typeface="맑은 고딕"/>
                <a:cs typeface="맑은 고딕"/>
              </a:rPr>
              <a:t>①</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Big data is influencing almost all parts of our lives.</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②</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It helps companies understand their customers’ needs better and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helps them</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helps themselves</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sell more products.</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③</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It helps people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avoid heavy traffic</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avoiding heavy traffic</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④</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Its uses are endless, and here are some interesting examples.</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⑤</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Did you know that health professionals can now forecast a disease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just as weather</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just like weather</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experts forecast the weather?</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⑥</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This is possible thanks to big data.</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⑦</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For example, when the flu season comes, people will buy more flu medicine.</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⑧</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They will also search online about flu symptoms more.</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⑨</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If this kind of data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is analyzed</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analyzes</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wisely, the spread of the flu </a:t>
            </a:r>
            <a:r>
              <a:rPr lang="en-US" altLang="ko-KR" sz="2100" b="1" dirty="0">
                <a:solidFill>
                  <a:srgbClr val="1F2328">
                    <a:alpha val="0"/>
                  </a:srgbClr>
                </a:solidFill>
                <a:latin typeface="Calibri"/>
                <a:ea typeface="맑은 고딕"/>
                <a:cs typeface="Calibri"/>
              </a:rPr>
              <a:t>[ </a:t>
            </a:r>
            <a:r>
              <a:rPr lang="en-US" altLang="ko-KR" sz="2100" b="1" dirty="0">
                <a:solidFill>
                  <a:srgbClr val="C00000"/>
                </a:solidFill>
                <a:highlight>
                  <a:srgbClr val="F3F5F9"/>
                </a:highlight>
                <a:latin typeface="Calibri"/>
                <a:ea typeface="맑은 고딕"/>
                <a:cs typeface="Calibri"/>
              </a:rPr>
              <a:t>can be predicted</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can predict</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a:t>
            </a:r>
            <a:endParaRPr lang="en-US" altLang="ko-KR" sz="2100" b="0" dirty="0">
              <a:solidFill>
                <a:srgbClr val="1F2328"/>
              </a:solidFill>
              <a:latin typeface="Calibri"/>
              <a:ea typeface="맑은 고딕"/>
              <a:cs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25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25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25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250"/>
                                        <p:tgtEl>
                                          <p:spTgt spid="12"/>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2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Lst>
  </p:timing>
</p:sld>
</file>

<file path=ppt/slides/slide18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L7-3</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1 · 1</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1. 다음 글의 주제로 가장 적절한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7</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본문 근거 형광 + 정답 원리</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151257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1512570"/>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1F2328"/>
                </a:solidFill>
                <a:latin typeface="Calibri"/>
                <a:ea typeface="맑은 고딕"/>
                <a:cs typeface="Calibri"/>
              </a:rPr>
              <a:t>Are you a sports fan? </a:t>
            </a:r>
            <a:r>
              <a:rPr lang="en-US" altLang="ko-KR" sz="1500" b="0" dirty="0">
                <a:solidFill>
                  <a:srgbClr val="1F2328"/>
                </a:solidFill>
                <a:latin typeface="Calibri"/>
                <a:ea typeface="맑은 고딕"/>
                <a:cs typeface="Calibri"/>
              </a:rPr>
              <a:t>Well, big data is improving the performance of players, making sports more exciting.</a:t>
            </a:r>
            <a:r>
              <a:rPr lang="en-US" altLang="ko-KR" sz="1500" b="0" dirty="0">
                <a:solidFill>
                  <a:srgbClr val="1F2328"/>
                </a:solidFill>
                <a:latin typeface="Calibri"/>
                <a:ea typeface="맑은 고딕"/>
                <a:cs typeface="Calibri"/>
              </a:rPr>
              <a:t> A famous example is Germany’s national soccer team. The team built a database by collecting and analyzing a huge amount of data on players. For example, the data included information about how much each player ran and how long he had the ball. With the help of this database, Germany’s national soccer team was able to improve its performance and win the 2014 World Cup.</a:t>
            </a:r>
            <a:endParaRPr lang="en-US" altLang="ko-KR" sz="1500" b="0" dirty="0">
              <a:solidFill>
                <a:srgbClr val="1F2328"/>
              </a:solidFill>
              <a:latin typeface="Calibri"/>
              <a:ea typeface="맑은 고딕"/>
              <a:cs typeface="Calibri"/>
            </a:endParaRPr>
          </a:p>
        </p:txBody>
      </p:sp>
      <p:sp>
        <p:nvSpPr>
          <p:cNvPr id="9" name="rv_evidence_card"/>
          <p:cNvSpPr/>
          <p:nvPr/>
        </p:nvSpPr>
        <p:spPr>
          <a:xfrm>
            <a:off x="457200" y="950976"/>
            <a:ext cx="11277295" cy="151257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rv_evidence"/>
          <p:cNvSpPr txBox="1"/>
          <p:nvPr/>
        </p:nvSpPr>
        <p:spPr>
          <a:xfrm>
            <a:off x="457200" y="950976"/>
            <a:ext cx="11277295" cy="1512570"/>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B3BAC6"/>
                </a:solidFill>
                <a:latin typeface="Calibri"/>
                <a:ea typeface="맑은 고딕"/>
                <a:cs typeface="Calibri"/>
              </a:rPr>
              <a:t>Are you a sports fan? </a:t>
            </a:r>
            <a:r>
              <a:rPr lang="en-US" altLang="ko-KR" sz="1500" b="0" dirty="0">
                <a:solidFill>
                  <a:srgbClr val="111111"/>
                </a:solidFill>
                <a:highlight>
                  <a:srgbClr val="FFE45C"/>
                </a:highlight>
                <a:latin typeface="Calibri"/>
                <a:ea typeface="맑은 고딕"/>
                <a:cs typeface="Calibri"/>
              </a:rPr>
              <a:t>Well, big data is improving the performance of players, making sports more exciting.</a:t>
            </a:r>
            <a:r>
              <a:rPr lang="en-US" altLang="ko-KR" sz="1500" b="0" dirty="0">
                <a:solidFill>
                  <a:srgbClr val="B3BAC6"/>
                </a:solidFill>
                <a:latin typeface="Calibri"/>
                <a:ea typeface="맑은 고딕"/>
                <a:cs typeface="Calibri"/>
              </a:rPr>
              <a:t> A famous example is Germany’s national soccer team. The team built a database by collecting and analyzing a huge amount of data on players. For example, the data included information about how much each player ran and how long he had the ball. With the help of this database, Germany’s national soccer team was able to improve its performance and win the 2014 World Cup.</a:t>
            </a:r>
            <a:endParaRPr lang="en-US" altLang="ko-KR" sz="1500" b="0" dirty="0">
              <a:solidFill>
                <a:srgbClr val="B3BAC6"/>
              </a:solidFill>
              <a:latin typeface="Calibri"/>
              <a:ea typeface="맑은 고딕"/>
              <a:cs typeface="Calibri"/>
            </a:endParaRPr>
          </a:p>
        </p:txBody>
      </p:sp>
      <p:sp>
        <p:nvSpPr>
          <p:cNvPr id="11" name="choice_1"/>
          <p:cNvSpPr txBox="1"/>
          <p:nvPr/>
        </p:nvSpPr>
        <p:spPr>
          <a:xfrm>
            <a:off x="457200" y="2609850"/>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①</a:t>
            </a:r>
            <a:r>
              <a:rPr lang="en-US" altLang="ko-KR" sz="1800" b="0" dirty="0">
                <a:solidFill>
                  <a:srgbClr val="1F2328"/>
                </a:solidFill>
                <a:latin typeface="Calibri"/>
                <a:ea typeface="맑은 고딕"/>
                <a:cs typeface="Calibri"/>
              </a:rPr>
              <a:t>	why soccer is the most popular sport in Germany</a:t>
            </a:r>
            <a:endParaRPr lang="en-US" altLang="ko-KR" sz="1800" b="0" dirty="0">
              <a:solidFill>
                <a:srgbClr val="1F2328"/>
              </a:solidFill>
              <a:latin typeface="Calibri"/>
              <a:ea typeface="맑은 고딕"/>
              <a:cs typeface="Calibri"/>
            </a:endParaRPr>
          </a:p>
        </p:txBody>
      </p:sp>
      <p:sp>
        <p:nvSpPr>
          <p:cNvPr id="12" name="choice_2"/>
          <p:cNvSpPr txBox="1"/>
          <p:nvPr/>
        </p:nvSpPr>
        <p:spPr>
          <a:xfrm>
            <a:off x="457200" y="3017266"/>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②</a:t>
            </a:r>
            <a:r>
              <a:rPr lang="en-US" altLang="ko-KR" sz="1800" b="0" dirty="0">
                <a:solidFill>
                  <a:srgbClr val="1F2328"/>
                </a:solidFill>
                <a:latin typeface="Calibri"/>
                <a:ea typeface="맑은 고딕"/>
                <a:cs typeface="Calibri"/>
              </a:rPr>
              <a:t>	the history of the World Cup and its famous teams</a:t>
            </a:r>
            <a:endParaRPr lang="en-US" altLang="ko-KR" sz="1800" b="0" dirty="0">
              <a:solidFill>
                <a:srgbClr val="1F2328"/>
              </a:solidFill>
              <a:latin typeface="Calibri"/>
              <a:ea typeface="맑은 고딕"/>
              <a:cs typeface="Calibri"/>
            </a:endParaRPr>
          </a:p>
        </p:txBody>
      </p:sp>
      <p:sp>
        <p:nvSpPr>
          <p:cNvPr id="13" name="choice_3"/>
          <p:cNvSpPr txBox="1"/>
          <p:nvPr/>
        </p:nvSpPr>
        <p:spPr>
          <a:xfrm>
            <a:off x="457200" y="3424682"/>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③</a:t>
            </a:r>
            <a:r>
              <a:rPr lang="en-US" altLang="ko-KR" sz="1800" b="0" dirty="0">
                <a:solidFill>
                  <a:srgbClr val="1F2328"/>
                </a:solidFill>
                <a:latin typeface="Calibri"/>
                <a:ea typeface="맑은 고딕"/>
                <a:cs typeface="Calibri"/>
              </a:rPr>
              <a:t>	how big data improves the performance of players</a:t>
            </a:r>
            <a:endParaRPr lang="en-US" altLang="ko-KR" sz="1800" b="0" dirty="0">
              <a:solidFill>
                <a:srgbClr val="1F2328"/>
              </a:solidFill>
              <a:latin typeface="Calibri"/>
              <a:ea typeface="맑은 고딕"/>
              <a:cs typeface="Calibri"/>
            </a:endParaRPr>
          </a:p>
        </p:txBody>
      </p:sp>
      <p:sp>
        <p:nvSpPr>
          <p:cNvPr id="14" name="rv_pick"/>
          <p:cNvSpPr txBox="1"/>
          <p:nvPr/>
        </p:nvSpPr>
        <p:spPr>
          <a:xfrm>
            <a:off x="457200" y="3424682"/>
            <a:ext cx="11277295" cy="379984"/>
          </a:xfrm>
          <a:prstGeom prst="rect">
            <a:avLst/>
          </a:prstGeom>
          <a:solidFill>
            <a:srgbClr val="FFF3C4"/>
          </a:solid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C00000"/>
                </a:solidFill>
                <a:latin typeface="맑은 고딕"/>
                <a:ea typeface="맑은 고딕"/>
                <a:cs typeface="맑은 고딕"/>
              </a:rPr>
              <a:t>③</a:t>
            </a:r>
            <a:r>
              <a:rPr lang="en-US" altLang="ko-KR" sz="1800" b="0" dirty="0">
                <a:solidFill>
                  <a:srgbClr val="C00000"/>
                </a:solidFill>
                <a:latin typeface="Calibri"/>
                <a:ea typeface="맑은 고딕"/>
                <a:cs typeface="Calibri"/>
              </a:rPr>
              <a:t>	how big data improves the performance of players</a:t>
            </a:r>
            <a:endParaRPr lang="en-US" altLang="ko-KR" sz="1800" b="0" dirty="0">
              <a:solidFill>
                <a:srgbClr val="C00000"/>
              </a:solidFill>
              <a:latin typeface="Calibri"/>
              <a:ea typeface="맑은 고딕"/>
              <a:cs typeface="Calibri"/>
            </a:endParaRPr>
          </a:p>
        </p:txBody>
      </p:sp>
      <p:sp>
        <p:nvSpPr>
          <p:cNvPr id="15" name="choice_4"/>
          <p:cNvSpPr txBox="1"/>
          <p:nvPr/>
        </p:nvSpPr>
        <p:spPr>
          <a:xfrm>
            <a:off x="457200" y="3832098"/>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④</a:t>
            </a:r>
            <a:r>
              <a:rPr lang="en-US" altLang="ko-KR" sz="1800" b="0" dirty="0">
                <a:solidFill>
                  <a:srgbClr val="1F2328"/>
                </a:solidFill>
                <a:latin typeface="Calibri"/>
                <a:ea typeface="맑은 고딕"/>
                <a:cs typeface="Calibri"/>
              </a:rPr>
              <a:t>	how fans can enjoy watching sports more deeply</a:t>
            </a:r>
            <a:endParaRPr lang="en-US" altLang="ko-KR" sz="1800" b="0" dirty="0">
              <a:solidFill>
                <a:srgbClr val="1F2328"/>
              </a:solidFill>
              <a:latin typeface="Calibri"/>
              <a:ea typeface="맑은 고딕"/>
              <a:cs typeface="Calibri"/>
            </a:endParaRPr>
          </a:p>
        </p:txBody>
      </p:sp>
      <p:sp>
        <p:nvSpPr>
          <p:cNvPr id="16" name="choice_5"/>
          <p:cNvSpPr txBox="1"/>
          <p:nvPr/>
        </p:nvSpPr>
        <p:spPr>
          <a:xfrm>
            <a:off x="457200" y="4239514"/>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⑤</a:t>
            </a:r>
            <a:r>
              <a:rPr lang="en-US" altLang="ko-KR" sz="1800" b="0" dirty="0">
                <a:solidFill>
                  <a:srgbClr val="1F2328"/>
                </a:solidFill>
                <a:latin typeface="Calibri"/>
                <a:ea typeface="맑은 고딕"/>
                <a:cs typeface="Calibri"/>
              </a:rPr>
              <a:t>	the difficulty of collecting data on soccer players</a:t>
            </a:r>
            <a:endParaRPr lang="en-US" altLang="ko-KR" sz="1800" b="0" dirty="0">
              <a:solidFill>
                <a:srgbClr val="1F2328"/>
              </a:solidFill>
              <a:latin typeface="Calibri"/>
              <a:ea typeface="맑은 고딕"/>
              <a:cs typeface="Calibri"/>
            </a:endParaRPr>
          </a:p>
        </p:txBody>
      </p:sp>
      <p:sp>
        <p:nvSpPr>
          <p:cNvPr id="17" name="rv_answer"/>
          <p:cNvSpPr/>
          <p:nvPr/>
        </p:nvSpPr>
        <p:spPr>
          <a:xfrm>
            <a:off x="457200" y="472922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③ </a:t>
            </a:r>
            <a:r>
              <a:rPr lang="en-US" altLang="ko-KR" sz="1900" b="1" dirty="0">
                <a:solidFill>
                  <a:srgbClr val="5A4200"/>
                </a:solidFill>
                <a:latin typeface="Calibri"/>
                <a:ea typeface="맑은 고딕"/>
                <a:cs typeface="Calibri"/>
              </a:rPr>
              <a:t>how big data improves the performance of players</a:t>
            </a:r>
            <a:endParaRPr lang="en-US" altLang="ko-KR" sz="1900" b="1" dirty="0">
              <a:solidFill>
                <a:srgbClr val="5A4200"/>
              </a:solidFill>
              <a:latin typeface="Calibri"/>
              <a:ea typeface="맑은 고딕"/>
              <a:cs typeface="Calibri"/>
            </a:endParaRPr>
          </a:p>
        </p:txBody>
      </p:sp>
      <p:sp>
        <p:nvSpPr>
          <p:cNvPr id="18" name="rv_why"/>
          <p:cNvSpPr/>
          <p:nvPr/>
        </p:nvSpPr>
        <p:spPr>
          <a:xfrm>
            <a:off x="457200" y="5328158"/>
            <a:ext cx="11277295" cy="109092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빅데이터가 선수들의 경기력을 향상하며 스포츠를 더 흥미롭게 만든다고 했다. 이를 옮긴 ③이 주제다.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250"/>
                                        <p:tgtEl>
                                          <p:spTgt spid="1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25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25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7" grpId="0" animBg="1"/>
      <p:bldP spid="9" grpId="0" animBg="1"/>
      <p:bldP spid="10" grpId="0" animBg="1"/>
      <p:bldP spid="18" grpId="0" animBg="1"/>
    </p:bldLst>
  </p:timing>
</p:sld>
</file>

<file path=ppt/slides/slide18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L7-3</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1 · 2</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2. 다음 글의 제목으로 가장 적절한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7</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본문 근거 형광 + 정답 원리</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151257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1512570"/>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1F2328"/>
                </a:solidFill>
                <a:latin typeface="Calibri"/>
                <a:ea typeface="맑은 고딕"/>
                <a:cs typeface="Calibri"/>
              </a:rPr>
              <a:t>Are you a sports fan? Well, big data is improving the performance of players, making sports more exciting. A famous example is Germany’s national soccer team. The team built a database by collecting and analyzing a huge amount of data on players. For example, the data included information about how much each player ran and how long he had the ball. </a:t>
            </a:r>
            <a:r>
              <a:rPr lang="en-US" altLang="ko-KR" sz="1500" b="0" dirty="0">
                <a:solidFill>
                  <a:srgbClr val="1F2328"/>
                </a:solidFill>
                <a:latin typeface="Calibri"/>
                <a:ea typeface="맑은 고딕"/>
                <a:cs typeface="Calibri"/>
              </a:rPr>
              <a:t>With the help of this database, Germany’s national soccer team was able to improve its performance and win the 2014 World Cup.</a:t>
            </a:r>
            <a:endParaRPr lang="en-US" altLang="ko-KR" sz="1500" b="0" dirty="0">
              <a:solidFill>
                <a:srgbClr val="1F2328"/>
              </a:solidFill>
              <a:latin typeface="Calibri"/>
              <a:ea typeface="맑은 고딕"/>
              <a:cs typeface="Calibri"/>
            </a:endParaRPr>
          </a:p>
        </p:txBody>
      </p:sp>
      <p:sp>
        <p:nvSpPr>
          <p:cNvPr id="9" name="rv_evidence_card"/>
          <p:cNvSpPr/>
          <p:nvPr/>
        </p:nvSpPr>
        <p:spPr>
          <a:xfrm>
            <a:off x="457200" y="950976"/>
            <a:ext cx="11277295" cy="151257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rv_evidence"/>
          <p:cNvSpPr txBox="1"/>
          <p:nvPr/>
        </p:nvSpPr>
        <p:spPr>
          <a:xfrm>
            <a:off x="457200" y="950976"/>
            <a:ext cx="11277295" cy="1512570"/>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B3BAC6"/>
                </a:solidFill>
                <a:latin typeface="Calibri"/>
                <a:ea typeface="맑은 고딕"/>
                <a:cs typeface="Calibri"/>
              </a:rPr>
              <a:t>Are you a sports fan? Well, big data is improving the performance of players, making sports more exciting. A famous example is Germany’s national soccer team. The team built a database by collecting and analyzing a huge amount of data on players. For example, the data included information about how much each player ran and how long he had the ball. </a:t>
            </a:r>
            <a:r>
              <a:rPr lang="en-US" altLang="ko-KR" sz="1500" b="0" dirty="0">
                <a:solidFill>
                  <a:srgbClr val="111111"/>
                </a:solidFill>
                <a:highlight>
                  <a:srgbClr val="FFE45C"/>
                </a:highlight>
                <a:latin typeface="Calibri"/>
                <a:ea typeface="맑은 고딕"/>
                <a:cs typeface="Calibri"/>
              </a:rPr>
              <a:t>With the help of this database, Germany’s national soccer team was able to improve its performance and win the 2014 World Cup.</a:t>
            </a:r>
            <a:endParaRPr lang="en-US" altLang="ko-KR" sz="1500" b="0" dirty="0">
              <a:solidFill>
                <a:srgbClr val="111111"/>
              </a:solidFill>
              <a:latin typeface="Calibri"/>
              <a:ea typeface="맑은 고딕"/>
              <a:cs typeface="Calibri"/>
            </a:endParaRPr>
          </a:p>
        </p:txBody>
      </p:sp>
      <p:sp>
        <p:nvSpPr>
          <p:cNvPr id="11" name="choice_1"/>
          <p:cNvSpPr txBox="1"/>
          <p:nvPr/>
        </p:nvSpPr>
        <p:spPr>
          <a:xfrm>
            <a:off x="457200" y="2609850"/>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①</a:t>
            </a:r>
            <a:r>
              <a:rPr lang="en-US" altLang="ko-KR" sz="1800" b="0" dirty="0">
                <a:solidFill>
                  <a:srgbClr val="1F2328"/>
                </a:solidFill>
                <a:latin typeface="Calibri"/>
                <a:ea typeface="맑은 고딕"/>
                <a:cs typeface="Calibri"/>
              </a:rPr>
              <a:t>	Germany: A Nation of Sports Fans</a:t>
            </a:r>
            <a:endParaRPr lang="en-US" altLang="ko-KR" sz="1800" b="0" dirty="0">
              <a:solidFill>
                <a:srgbClr val="1F2328"/>
              </a:solidFill>
              <a:latin typeface="Calibri"/>
              <a:ea typeface="맑은 고딕"/>
              <a:cs typeface="Calibri"/>
            </a:endParaRPr>
          </a:p>
        </p:txBody>
      </p:sp>
      <p:sp>
        <p:nvSpPr>
          <p:cNvPr id="12" name="choice_2"/>
          <p:cNvSpPr txBox="1"/>
          <p:nvPr/>
        </p:nvSpPr>
        <p:spPr>
          <a:xfrm>
            <a:off x="457200" y="3017266"/>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②</a:t>
            </a:r>
            <a:r>
              <a:rPr lang="en-US" altLang="ko-KR" sz="1800" b="0" dirty="0">
                <a:solidFill>
                  <a:srgbClr val="1F2328"/>
                </a:solidFill>
                <a:latin typeface="Calibri"/>
                <a:ea typeface="맑은 고딕"/>
                <a:cs typeface="Calibri"/>
              </a:rPr>
              <a:t>	How Long Should Players Have the Ball?</a:t>
            </a:r>
            <a:endParaRPr lang="en-US" altLang="ko-KR" sz="1800" b="0" dirty="0">
              <a:solidFill>
                <a:srgbClr val="1F2328"/>
              </a:solidFill>
              <a:latin typeface="Calibri"/>
              <a:ea typeface="맑은 고딕"/>
              <a:cs typeface="Calibri"/>
            </a:endParaRPr>
          </a:p>
        </p:txBody>
      </p:sp>
      <p:sp>
        <p:nvSpPr>
          <p:cNvPr id="13" name="choice_3"/>
          <p:cNvSpPr txBox="1"/>
          <p:nvPr/>
        </p:nvSpPr>
        <p:spPr>
          <a:xfrm>
            <a:off x="457200" y="3424682"/>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③</a:t>
            </a:r>
            <a:r>
              <a:rPr lang="en-US" altLang="ko-KR" sz="1800" b="0" dirty="0">
                <a:solidFill>
                  <a:srgbClr val="1F2328"/>
                </a:solidFill>
                <a:latin typeface="Calibri"/>
                <a:ea typeface="맑은 고딕"/>
                <a:cs typeface="Calibri"/>
              </a:rPr>
              <a:t>	The 2014 World Cup Was a Big Surprise</a:t>
            </a:r>
            <a:endParaRPr lang="en-US" altLang="ko-KR" sz="1800" b="0" dirty="0">
              <a:solidFill>
                <a:srgbClr val="1F2328"/>
              </a:solidFill>
              <a:latin typeface="Calibri"/>
              <a:ea typeface="맑은 고딕"/>
              <a:cs typeface="Calibri"/>
            </a:endParaRPr>
          </a:p>
        </p:txBody>
      </p:sp>
      <p:sp>
        <p:nvSpPr>
          <p:cNvPr id="14" name="choice_4"/>
          <p:cNvSpPr txBox="1"/>
          <p:nvPr/>
        </p:nvSpPr>
        <p:spPr>
          <a:xfrm>
            <a:off x="457200" y="3832098"/>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④</a:t>
            </a:r>
            <a:r>
              <a:rPr lang="en-US" altLang="ko-KR" sz="1800" b="0" dirty="0">
                <a:solidFill>
                  <a:srgbClr val="1F2328"/>
                </a:solidFill>
                <a:latin typeface="Calibri"/>
                <a:ea typeface="맑은 고딕"/>
                <a:cs typeface="Calibri"/>
              </a:rPr>
              <a:t>	Big Data Behind a World Cup Victory</a:t>
            </a:r>
            <a:endParaRPr lang="en-US" altLang="ko-KR" sz="1800" b="0" dirty="0">
              <a:solidFill>
                <a:srgbClr val="1F2328"/>
              </a:solidFill>
              <a:latin typeface="Calibri"/>
              <a:ea typeface="맑은 고딕"/>
              <a:cs typeface="Calibri"/>
            </a:endParaRPr>
          </a:p>
        </p:txBody>
      </p:sp>
      <p:sp>
        <p:nvSpPr>
          <p:cNvPr id="15" name="rv_pick"/>
          <p:cNvSpPr txBox="1"/>
          <p:nvPr/>
        </p:nvSpPr>
        <p:spPr>
          <a:xfrm>
            <a:off x="457200" y="3832098"/>
            <a:ext cx="11277295" cy="379984"/>
          </a:xfrm>
          <a:prstGeom prst="rect">
            <a:avLst/>
          </a:prstGeom>
          <a:solidFill>
            <a:srgbClr val="FFF3C4"/>
          </a:solid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C00000"/>
                </a:solidFill>
                <a:latin typeface="맑은 고딕"/>
                <a:ea typeface="맑은 고딕"/>
                <a:cs typeface="맑은 고딕"/>
              </a:rPr>
              <a:t>④</a:t>
            </a:r>
            <a:r>
              <a:rPr lang="en-US" altLang="ko-KR" sz="1800" b="0" dirty="0">
                <a:solidFill>
                  <a:srgbClr val="C00000"/>
                </a:solidFill>
                <a:latin typeface="Calibri"/>
                <a:ea typeface="맑은 고딕"/>
                <a:cs typeface="Calibri"/>
              </a:rPr>
              <a:t>	Big Data Behind a World Cup Victory</a:t>
            </a:r>
            <a:endParaRPr lang="en-US" altLang="ko-KR" sz="1800" b="0" dirty="0">
              <a:solidFill>
                <a:srgbClr val="C00000"/>
              </a:solidFill>
              <a:latin typeface="Calibri"/>
              <a:ea typeface="맑은 고딕"/>
              <a:cs typeface="Calibri"/>
            </a:endParaRPr>
          </a:p>
        </p:txBody>
      </p:sp>
      <p:sp>
        <p:nvSpPr>
          <p:cNvPr id="16" name="choice_5"/>
          <p:cNvSpPr txBox="1"/>
          <p:nvPr/>
        </p:nvSpPr>
        <p:spPr>
          <a:xfrm>
            <a:off x="457200" y="4239514"/>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⑤</a:t>
            </a:r>
            <a:r>
              <a:rPr lang="en-US" altLang="ko-KR" sz="1800" b="0" dirty="0">
                <a:solidFill>
                  <a:srgbClr val="1F2328"/>
                </a:solidFill>
                <a:latin typeface="Calibri"/>
                <a:ea typeface="맑은 고딕"/>
                <a:cs typeface="Calibri"/>
              </a:rPr>
              <a:t>	Building a Database Is Not Easy at All</a:t>
            </a:r>
            <a:endParaRPr lang="en-US" altLang="ko-KR" sz="1800" b="0" dirty="0">
              <a:solidFill>
                <a:srgbClr val="1F2328"/>
              </a:solidFill>
              <a:latin typeface="Calibri"/>
              <a:ea typeface="맑은 고딕"/>
              <a:cs typeface="Calibri"/>
            </a:endParaRPr>
          </a:p>
        </p:txBody>
      </p:sp>
      <p:sp>
        <p:nvSpPr>
          <p:cNvPr id="17" name="rv_answer"/>
          <p:cNvSpPr/>
          <p:nvPr/>
        </p:nvSpPr>
        <p:spPr>
          <a:xfrm>
            <a:off x="457200" y="472922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④ </a:t>
            </a:r>
            <a:r>
              <a:rPr lang="en-US" altLang="ko-KR" sz="1900" b="1" dirty="0">
                <a:solidFill>
                  <a:srgbClr val="5A4200"/>
                </a:solidFill>
                <a:latin typeface="Calibri"/>
                <a:ea typeface="맑은 고딕"/>
                <a:cs typeface="Calibri"/>
              </a:rPr>
              <a:t>Big Data Behind a World Cup Victory</a:t>
            </a:r>
            <a:endParaRPr lang="en-US" altLang="ko-KR" sz="1900" b="1" dirty="0">
              <a:solidFill>
                <a:srgbClr val="5A4200"/>
              </a:solidFill>
              <a:latin typeface="Calibri"/>
              <a:ea typeface="맑은 고딕"/>
              <a:cs typeface="Calibri"/>
            </a:endParaRPr>
          </a:p>
        </p:txBody>
      </p:sp>
      <p:sp>
        <p:nvSpPr>
          <p:cNvPr id="18" name="rv_why"/>
          <p:cNvSpPr/>
          <p:nvPr/>
        </p:nvSpPr>
        <p:spPr>
          <a:xfrm>
            <a:off x="457200" y="5328158"/>
            <a:ext cx="11277295" cy="109092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데이터베이스의 도움으로 독일 축구팀이 2014 월드컵에서 우승했다고 했으므로 ④가 제목으로 알맞다.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250"/>
                                        <p:tgtEl>
                                          <p:spTgt spid="1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25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25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7" grpId="0" animBg="1"/>
      <p:bldP spid="9" grpId="0" animBg="1"/>
      <p:bldP spid="10" grpId="0" animBg="1"/>
      <p:bldP spid="18" grpId="0" animBg="1"/>
    </p:bldLst>
  </p:timing>
</p:sld>
</file>

<file path=ppt/slides/slide18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L7-3</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1 · 3</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3. 다음 글에서 필자가 주장하는 바로 가장 적절한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7</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본문 근거 형광 + 정답 원리</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151257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1512570"/>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1F2328"/>
                </a:solidFill>
                <a:latin typeface="Calibri"/>
                <a:ea typeface="맑은 고딕"/>
                <a:cs typeface="Calibri"/>
              </a:rPr>
              <a:t>Are you a sports fan? Well, big data is improving the performance of players, making sports more exciting. A famous example is Germany’s national soccer team. </a:t>
            </a:r>
            <a:r>
              <a:rPr lang="en-US" altLang="ko-KR" sz="1500" b="0" dirty="0">
                <a:solidFill>
                  <a:srgbClr val="1F2328"/>
                </a:solidFill>
                <a:latin typeface="Calibri"/>
                <a:ea typeface="맑은 고딕"/>
                <a:cs typeface="Calibri"/>
              </a:rPr>
              <a:t>The team built a database by collecting and analyzing a huge amount of data on players.</a:t>
            </a:r>
            <a:r>
              <a:rPr lang="en-US" altLang="ko-KR" sz="1500" b="0" dirty="0">
                <a:solidFill>
                  <a:srgbClr val="1F2328"/>
                </a:solidFill>
                <a:latin typeface="Calibri"/>
                <a:ea typeface="맑은 고딕"/>
                <a:cs typeface="Calibri"/>
              </a:rPr>
              <a:t> For example, the data included information about how much each player ran and how long he had the ball. </a:t>
            </a:r>
            <a:r>
              <a:rPr lang="en-US" altLang="ko-KR" sz="1500" b="0" dirty="0">
                <a:solidFill>
                  <a:srgbClr val="1F2328"/>
                </a:solidFill>
                <a:latin typeface="Calibri"/>
                <a:ea typeface="맑은 고딕"/>
                <a:cs typeface="Calibri"/>
              </a:rPr>
              <a:t>With the help of this database, Germany’s national soccer team was able to improve its performance and win the 2014 World Cup.</a:t>
            </a:r>
            <a:endParaRPr lang="en-US" altLang="ko-KR" sz="1500" b="0" dirty="0">
              <a:solidFill>
                <a:srgbClr val="1F2328"/>
              </a:solidFill>
              <a:latin typeface="Calibri"/>
              <a:ea typeface="맑은 고딕"/>
              <a:cs typeface="Calibri"/>
            </a:endParaRPr>
          </a:p>
        </p:txBody>
      </p:sp>
      <p:sp>
        <p:nvSpPr>
          <p:cNvPr id="9" name="rv_evidence_card"/>
          <p:cNvSpPr/>
          <p:nvPr/>
        </p:nvSpPr>
        <p:spPr>
          <a:xfrm>
            <a:off x="457200" y="950976"/>
            <a:ext cx="11277295" cy="151257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rv_evidence"/>
          <p:cNvSpPr txBox="1"/>
          <p:nvPr/>
        </p:nvSpPr>
        <p:spPr>
          <a:xfrm>
            <a:off x="457200" y="950976"/>
            <a:ext cx="11277295" cy="1512570"/>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B3BAC6"/>
                </a:solidFill>
                <a:latin typeface="Calibri"/>
                <a:ea typeface="맑은 고딕"/>
                <a:cs typeface="Calibri"/>
              </a:rPr>
              <a:t>Are you a sports fan? Well, big data is improving the performance of players, making sports more exciting. A famous example is Germany’s national soccer team. </a:t>
            </a:r>
            <a:r>
              <a:rPr lang="en-US" altLang="ko-KR" sz="1500" b="0" dirty="0">
                <a:solidFill>
                  <a:srgbClr val="111111"/>
                </a:solidFill>
                <a:highlight>
                  <a:srgbClr val="FFE45C"/>
                </a:highlight>
                <a:latin typeface="Calibri"/>
                <a:ea typeface="맑은 고딕"/>
                <a:cs typeface="Calibri"/>
              </a:rPr>
              <a:t>The team built a database by collecting and analyzing a huge amount of data on players.</a:t>
            </a:r>
            <a:r>
              <a:rPr lang="en-US" altLang="ko-KR" sz="1500" b="0" dirty="0">
                <a:solidFill>
                  <a:srgbClr val="B3BAC6"/>
                </a:solidFill>
                <a:latin typeface="Calibri"/>
                <a:ea typeface="맑은 고딕"/>
                <a:cs typeface="Calibri"/>
              </a:rPr>
              <a:t> For example, the data included information about how much each player ran and how long he had the ball. </a:t>
            </a:r>
            <a:r>
              <a:rPr lang="en-US" altLang="ko-KR" sz="1500" b="0" dirty="0">
                <a:solidFill>
                  <a:srgbClr val="111111"/>
                </a:solidFill>
                <a:highlight>
                  <a:srgbClr val="FFE45C"/>
                </a:highlight>
                <a:latin typeface="Calibri"/>
                <a:ea typeface="맑은 고딕"/>
                <a:cs typeface="Calibri"/>
              </a:rPr>
              <a:t>With the help of this database, Germany’s national soccer team was able to improve its performance and win the 2014 World Cup.</a:t>
            </a:r>
            <a:endParaRPr lang="en-US" altLang="ko-KR" sz="1500" b="0" dirty="0">
              <a:solidFill>
                <a:srgbClr val="111111"/>
              </a:solidFill>
              <a:latin typeface="Calibri"/>
              <a:ea typeface="맑은 고딕"/>
              <a:cs typeface="Calibri"/>
            </a:endParaRPr>
          </a:p>
        </p:txBody>
      </p:sp>
      <p:sp>
        <p:nvSpPr>
          <p:cNvPr id="11" name="choice_1"/>
          <p:cNvSpPr txBox="1"/>
          <p:nvPr/>
        </p:nvSpPr>
        <p:spPr>
          <a:xfrm>
            <a:off x="457200" y="2609850"/>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①</a:t>
            </a:r>
            <a:r>
              <a:rPr lang="ko-KR" altLang="en-US" sz="1800" b="0" dirty="0">
                <a:solidFill>
                  <a:srgbClr val="1F2328"/>
                </a:solidFill>
                <a:latin typeface="맑은 고딕"/>
                <a:ea typeface="맑은 고딕"/>
                <a:cs typeface="맑은 고딕"/>
              </a:rPr>
              <a:t>	축구 선수들은 공을 오래 소유하는 연습을 해야 한다</a:t>
            </a:r>
            <a:endParaRPr lang="ko-KR" altLang="en-US" sz="1800" b="0" dirty="0">
              <a:solidFill>
                <a:srgbClr val="1F2328"/>
              </a:solidFill>
              <a:latin typeface="맑은 고딕"/>
              <a:ea typeface="맑은 고딕"/>
              <a:cs typeface="맑은 고딕"/>
            </a:endParaRPr>
          </a:p>
        </p:txBody>
      </p:sp>
      <p:sp>
        <p:nvSpPr>
          <p:cNvPr id="12" name="choice_2"/>
          <p:cNvSpPr txBox="1"/>
          <p:nvPr/>
        </p:nvSpPr>
        <p:spPr>
          <a:xfrm>
            <a:off x="457200" y="3017266"/>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②</a:t>
            </a:r>
            <a:r>
              <a:rPr lang="ko-KR" altLang="en-US" sz="1800" b="0" dirty="0">
                <a:solidFill>
                  <a:srgbClr val="1F2328"/>
                </a:solidFill>
                <a:latin typeface="맑은 고딕"/>
                <a:ea typeface="맑은 고딕"/>
                <a:cs typeface="맑은 고딕"/>
              </a:rPr>
              <a:t>	스포츠 팬들은 국가 대표팀을 더 열심히 응원해야 한다</a:t>
            </a:r>
            <a:endParaRPr lang="ko-KR" altLang="en-US" sz="1800" b="0" dirty="0">
              <a:solidFill>
                <a:srgbClr val="1F2328"/>
              </a:solidFill>
              <a:latin typeface="맑은 고딕"/>
              <a:ea typeface="맑은 고딕"/>
              <a:cs typeface="맑은 고딕"/>
            </a:endParaRPr>
          </a:p>
        </p:txBody>
      </p:sp>
      <p:sp>
        <p:nvSpPr>
          <p:cNvPr id="13" name="choice_3"/>
          <p:cNvSpPr txBox="1"/>
          <p:nvPr/>
        </p:nvSpPr>
        <p:spPr>
          <a:xfrm>
            <a:off x="457200" y="3424682"/>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③</a:t>
            </a:r>
            <a:r>
              <a:rPr lang="ko-KR" altLang="en-US" sz="1800" b="0" dirty="0">
                <a:solidFill>
                  <a:srgbClr val="1F2328"/>
                </a:solidFill>
                <a:latin typeface="맑은 고딕"/>
                <a:ea typeface="맑은 고딕"/>
                <a:cs typeface="맑은 고딕"/>
              </a:rPr>
              <a:t>	월드컵 우승을 위해서는 더 많이 달리는 훈련이 필요하다</a:t>
            </a:r>
            <a:endParaRPr lang="ko-KR" altLang="en-US" sz="1800" b="0" dirty="0">
              <a:solidFill>
                <a:srgbClr val="1F2328"/>
              </a:solidFill>
              <a:latin typeface="맑은 고딕"/>
              <a:ea typeface="맑은 고딕"/>
              <a:cs typeface="맑은 고딕"/>
            </a:endParaRPr>
          </a:p>
        </p:txBody>
      </p:sp>
      <p:sp>
        <p:nvSpPr>
          <p:cNvPr id="14" name="choice_4"/>
          <p:cNvSpPr txBox="1"/>
          <p:nvPr/>
        </p:nvSpPr>
        <p:spPr>
          <a:xfrm>
            <a:off x="457200" y="3832098"/>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④</a:t>
            </a:r>
            <a:r>
              <a:rPr lang="ko-KR" altLang="en-US" sz="1800" b="0" dirty="0">
                <a:solidFill>
                  <a:srgbClr val="1F2328"/>
                </a:solidFill>
                <a:latin typeface="맑은 고딕"/>
                <a:ea typeface="맑은 고딕"/>
                <a:cs typeface="맑은 고딕"/>
              </a:rPr>
              <a:t>	데이터베이스는 전문 업체에 맡겨서 구축하는 것이 좋다</a:t>
            </a:r>
            <a:endParaRPr lang="ko-KR" altLang="en-US" sz="1800" b="0" dirty="0">
              <a:solidFill>
                <a:srgbClr val="1F2328"/>
              </a:solidFill>
              <a:latin typeface="맑은 고딕"/>
              <a:ea typeface="맑은 고딕"/>
              <a:cs typeface="맑은 고딕"/>
            </a:endParaRPr>
          </a:p>
        </p:txBody>
      </p:sp>
      <p:sp>
        <p:nvSpPr>
          <p:cNvPr id="15" name="choice_5"/>
          <p:cNvSpPr txBox="1"/>
          <p:nvPr/>
        </p:nvSpPr>
        <p:spPr>
          <a:xfrm>
            <a:off x="457200" y="4239514"/>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⑤</a:t>
            </a:r>
            <a:r>
              <a:rPr lang="ko-KR" altLang="en-US" sz="1800" b="0" dirty="0">
                <a:solidFill>
                  <a:srgbClr val="1F2328"/>
                </a:solidFill>
                <a:latin typeface="맑은 고딕"/>
                <a:ea typeface="맑은 고딕"/>
                <a:cs typeface="맑은 고딕"/>
              </a:rPr>
              <a:t>	선수 데이터를 분석하면 스포츠의 경기력을 높일 수 있다</a:t>
            </a:r>
            <a:endParaRPr lang="ko-KR" altLang="en-US" sz="1800" b="0" dirty="0">
              <a:solidFill>
                <a:srgbClr val="1F2328"/>
              </a:solidFill>
              <a:latin typeface="맑은 고딕"/>
              <a:ea typeface="맑은 고딕"/>
              <a:cs typeface="맑은 고딕"/>
            </a:endParaRPr>
          </a:p>
        </p:txBody>
      </p:sp>
      <p:sp>
        <p:nvSpPr>
          <p:cNvPr id="16" name="rv_pick"/>
          <p:cNvSpPr txBox="1"/>
          <p:nvPr/>
        </p:nvSpPr>
        <p:spPr>
          <a:xfrm>
            <a:off x="457200" y="4239514"/>
            <a:ext cx="11277295" cy="379984"/>
          </a:xfrm>
          <a:prstGeom prst="rect">
            <a:avLst/>
          </a:prstGeom>
          <a:solidFill>
            <a:srgbClr val="FFF3C4"/>
          </a:solid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C00000"/>
                </a:solidFill>
                <a:latin typeface="맑은 고딕"/>
                <a:ea typeface="맑은 고딕"/>
                <a:cs typeface="맑은 고딕"/>
              </a:rPr>
              <a:t>⑤</a:t>
            </a:r>
            <a:r>
              <a:rPr lang="ko-KR" altLang="en-US" sz="1800" b="0" dirty="0">
                <a:solidFill>
                  <a:srgbClr val="C00000"/>
                </a:solidFill>
                <a:latin typeface="맑은 고딕"/>
                <a:ea typeface="맑은 고딕"/>
                <a:cs typeface="맑은 고딕"/>
              </a:rPr>
              <a:t>	선수 데이터를 분석하면 스포츠의 경기력을 높일 수 있다</a:t>
            </a:r>
            <a:endParaRPr lang="ko-KR" altLang="en-US" sz="1800" b="0" dirty="0">
              <a:solidFill>
                <a:srgbClr val="C00000"/>
              </a:solidFill>
              <a:latin typeface="맑은 고딕"/>
              <a:ea typeface="맑은 고딕"/>
              <a:cs typeface="맑은 고딕"/>
            </a:endParaRPr>
          </a:p>
        </p:txBody>
      </p:sp>
      <p:sp>
        <p:nvSpPr>
          <p:cNvPr id="17" name="rv_answer"/>
          <p:cNvSpPr/>
          <p:nvPr/>
        </p:nvSpPr>
        <p:spPr>
          <a:xfrm>
            <a:off x="457200" y="472922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⑤ </a:t>
            </a:r>
            <a:r>
              <a:rPr lang="ko-KR" altLang="en-US" sz="1900" b="1" dirty="0">
                <a:solidFill>
                  <a:srgbClr val="5A4200"/>
                </a:solidFill>
                <a:latin typeface="맑은 고딕"/>
                <a:ea typeface="맑은 고딕"/>
                <a:cs typeface="맑은 고딕"/>
              </a:rPr>
              <a:t>선수 데이터를 분석하면 스포츠의 경기력을 높일 수 있다</a:t>
            </a:r>
            <a:endParaRPr lang="ko-KR" altLang="en-US" sz="1900" b="1" dirty="0">
              <a:solidFill>
                <a:srgbClr val="5A4200"/>
              </a:solidFill>
              <a:latin typeface="맑은 고딕"/>
              <a:ea typeface="맑은 고딕"/>
              <a:cs typeface="맑은 고딕"/>
            </a:endParaRPr>
          </a:p>
        </p:txBody>
      </p:sp>
      <p:sp>
        <p:nvSpPr>
          <p:cNvPr id="18" name="rv_why"/>
          <p:cNvSpPr/>
          <p:nvPr/>
        </p:nvSpPr>
        <p:spPr>
          <a:xfrm>
            <a:off x="457200" y="5328158"/>
            <a:ext cx="11277295" cy="109092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선수 데이터를 모으고 분석한 덕에 경기력을 높이고 우승했다고 했다. 이를 일반화한 ⑤가 주장이다.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250"/>
                                        <p:tgtEl>
                                          <p:spTgt spid="1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25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25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7" grpId="0" animBg="1"/>
      <p:bldP spid="9" grpId="0" animBg="1"/>
      <p:bldP spid="10" grpId="0" animBg="1"/>
      <p:bldP spid="18" grpId="0" animBg="1"/>
    </p:bldLst>
  </p:timing>
</p:sld>
</file>

<file path=ppt/slides/slide18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L7-3</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1 · 4</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4. 다음 글의 요지로 가장 적절한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7</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본문 근거 형광 + 정답 원리</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151257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1512570"/>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1F2328"/>
                </a:solidFill>
                <a:latin typeface="Calibri"/>
                <a:ea typeface="맑은 고딕"/>
                <a:cs typeface="Calibri"/>
              </a:rPr>
              <a:t>Are you a sports fan? Well, big data is improving the performance of players, making sports more exciting. A famous example is Germany’s national soccer team. The team built a database by collecting and analyzing a huge amount of data on players. For example, the data included information about how much each player ran and how long he had the ball. </a:t>
            </a:r>
            <a:r>
              <a:rPr lang="en-US" altLang="ko-KR" sz="1500" b="0" dirty="0">
                <a:solidFill>
                  <a:srgbClr val="1F2328"/>
                </a:solidFill>
                <a:latin typeface="Calibri"/>
                <a:ea typeface="맑은 고딕"/>
                <a:cs typeface="Calibri"/>
              </a:rPr>
              <a:t>With the help of this database, Germany’s national soccer team was able to improve its performance and win the 2014 World Cup.</a:t>
            </a:r>
            <a:endParaRPr lang="en-US" altLang="ko-KR" sz="1500" b="0" dirty="0">
              <a:solidFill>
                <a:srgbClr val="1F2328"/>
              </a:solidFill>
              <a:latin typeface="Calibri"/>
              <a:ea typeface="맑은 고딕"/>
              <a:cs typeface="Calibri"/>
            </a:endParaRPr>
          </a:p>
        </p:txBody>
      </p:sp>
      <p:sp>
        <p:nvSpPr>
          <p:cNvPr id="9" name="rv_evidence_card"/>
          <p:cNvSpPr/>
          <p:nvPr/>
        </p:nvSpPr>
        <p:spPr>
          <a:xfrm>
            <a:off x="457200" y="950976"/>
            <a:ext cx="11277295" cy="151257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rv_evidence"/>
          <p:cNvSpPr txBox="1"/>
          <p:nvPr/>
        </p:nvSpPr>
        <p:spPr>
          <a:xfrm>
            <a:off x="457200" y="950976"/>
            <a:ext cx="11277295" cy="1512570"/>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B3BAC6"/>
                </a:solidFill>
                <a:latin typeface="Calibri"/>
                <a:ea typeface="맑은 고딕"/>
                <a:cs typeface="Calibri"/>
              </a:rPr>
              <a:t>Are you a sports fan? Well, big data is improving the performance of players, making sports more exciting. A famous example is Germany’s national soccer team. The team built a database by collecting and analyzing a huge amount of data on players. For example, the data included information about how much each player ran and how long he had the ball. </a:t>
            </a:r>
            <a:r>
              <a:rPr lang="en-US" altLang="ko-KR" sz="1500" b="0" dirty="0">
                <a:solidFill>
                  <a:srgbClr val="111111"/>
                </a:solidFill>
                <a:highlight>
                  <a:srgbClr val="FFE45C"/>
                </a:highlight>
                <a:latin typeface="Calibri"/>
                <a:ea typeface="맑은 고딕"/>
                <a:cs typeface="Calibri"/>
              </a:rPr>
              <a:t>With the help of this database, Germany’s national soccer team was able to improve its performance and win the 2014 World Cup.</a:t>
            </a:r>
            <a:endParaRPr lang="en-US" altLang="ko-KR" sz="1500" b="0" dirty="0">
              <a:solidFill>
                <a:srgbClr val="111111"/>
              </a:solidFill>
              <a:latin typeface="Calibri"/>
              <a:ea typeface="맑은 고딕"/>
              <a:cs typeface="Calibri"/>
            </a:endParaRPr>
          </a:p>
        </p:txBody>
      </p:sp>
      <p:sp>
        <p:nvSpPr>
          <p:cNvPr id="11" name="choice_1"/>
          <p:cNvSpPr txBox="1"/>
          <p:nvPr/>
        </p:nvSpPr>
        <p:spPr>
          <a:xfrm>
            <a:off x="457200" y="2609850"/>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①</a:t>
            </a:r>
            <a:r>
              <a:rPr lang="ko-KR" altLang="en-US" sz="1800" b="0" dirty="0">
                <a:solidFill>
                  <a:srgbClr val="1F2328"/>
                </a:solidFill>
                <a:latin typeface="맑은 고딕"/>
                <a:ea typeface="맑은 고딕"/>
                <a:cs typeface="맑은 고딕"/>
              </a:rPr>
              <a:t>	빅데이터 분석이 독일 축구팀의 우승에 크게 기여했다</a:t>
            </a:r>
            <a:endParaRPr lang="ko-KR" altLang="en-US" sz="1800" b="0" dirty="0">
              <a:solidFill>
                <a:srgbClr val="1F2328"/>
              </a:solidFill>
              <a:latin typeface="맑은 고딕"/>
              <a:ea typeface="맑은 고딕"/>
              <a:cs typeface="맑은 고딕"/>
            </a:endParaRPr>
          </a:p>
        </p:txBody>
      </p:sp>
      <p:sp>
        <p:nvSpPr>
          <p:cNvPr id="12" name="rv_pick"/>
          <p:cNvSpPr txBox="1"/>
          <p:nvPr/>
        </p:nvSpPr>
        <p:spPr>
          <a:xfrm>
            <a:off x="457200" y="2609850"/>
            <a:ext cx="11277295" cy="379984"/>
          </a:xfrm>
          <a:prstGeom prst="rect">
            <a:avLst/>
          </a:prstGeom>
          <a:solidFill>
            <a:srgbClr val="FFF3C4"/>
          </a:solid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C00000"/>
                </a:solidFill>
                <a:latin typeface="맑은 고딕"/>
                <a:ea typeface="맑은 고딕"/>
                <a:cs typeface="맑은 고딕"/>
              </a:rPr>
              <a:t>①</a:t>
            </a:r>
            <a:r>
              <a:rPr lang="ko-KR" altLang="en-US" sz="1800" b="0" dirty="0">
                <a:solidFill>
                  <a:srgbClr val="C00000"/>
                </a:solidFill>
                <a:latin typeface="맑은 고딕"/>
                <a:ea typeface="맑은 고딕"/>
                <a:cs typeface="맑은 고딕"/>
              </a:rPr>
              <a:t>	빅데이터 분석이 독일 축구팀의 우승에 크게 기여했다</a:t>
            </a:r>
            <a:endParaRPr lang="ko-KR" altLang="en-US" sz="1800" b="0" dirty="0">
              <a:solidFill>
                <a:srgbClr val="C00000"/>
              </a:solidFill>
              <a:latin typeface="맑은 고딕"/>
              <a:ea typeface="맑은 고딕"/>
              <a:cs typeface="맑은 고딕"/>
            </a:endParaRPr>
          </a:p>
        </p:txBody>
      </p:sp>
      <p:sp>
        <p:nvSpPr>
          <p:cNvPr id="13" name="choice_2"/>
          <p:cNvSpPr txBox="1"/>
          <p:nvPr/>
        </p:nvSpPr>
        <p:spPr>
          <a:xfrm>
            <a:off x="457200" y="3017266"/>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②</a:t>
            </a:r>
            <a:r>
              <a:rPr lang="ko-KR" altLang="en-US" sz="1800" b="0" dirty="0">
                <a:solidFill>
                  <a:srgbClr val="1F2328"/>
                </a:solidFill>
                <a:latin typeface="맑은 고딕"/>
                <a:ea typeface="맑은 고딕"/>
                <a:cs typeface="맑은 고딕"/>
              </a:rPr>
              <a:t>	독일 축구팀은 데이터 없이도 늘 월드컵에서 우승했다</a:t>
            </a:r>
            <a:endParaRPr lang="ko-KR" altLang="en-US" sz="1800" b="0" dirty="0">
              <a:solidFill>
                <a:srgbClr val="1F2328"/>
              </a:solidFill>
              <a:latin typeface="맑은 고딕"/>
              <a:ea typeface="맑은 고딕"/>
              <a:cs typeface="맑은 고딕"/>
            </a:endParaRPr>
          </a:p>
        </p:txBody>
      </p:sp>
      <p:sp>
        <p:nvSpPr>
          <p:cNvPr id="14" name="choice_3"/>
          <p:cNvSpPr txBox="1"/>
          <p:nvPr/>
        </p:nvSpPr>
        <p:spPr>
          <a:xfrm>
            <a:off x="457200" y="3424682"/>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③</a:t>
            </a:r>
            <a:r>
              <a:rPr lang="ko-KR" altLang="en-US" sz="1800" b="0" dirty="0">
                <a:solidFill>
                  <a:srgbClr val="1F2328"/>
                </a:solidFill>
                <a:latin typeface="맑은 고딕"/>
                <a:ea typeface="맑은 고딕"/>
                <a:cs typeface="맑은 고딕"/>
              </a:rPr>
              <a:t>	선수들이 많이 달릴수록 경기 결과는 늘 좋아진다</a:t>
            </a:r>
            <a:endParaRPr lang="ko-KR" altLang="en-US" sz="1800" b="0" dirty="0">
              <a:solidFill>
                <a:srgbClr val="1F2328"/>
              </a:solidFill>
              <a:latin typeface="맑은 고딕"/>
              <a:ea typeface="맑은 고딕"/>
              <a:cs typeface="맑은 고딕"/>
            </a:endParaRPr>
          </a:p>
        </p:txBody>
      </p:sp>
      <p:sp>
        <p:nvSpPr>
          <p:cNvPr id="15" name="choice_4"/>
          <p:cNvSpPr txBox="1"/>
          <p:nvPr/>
        </p:nvSpPr>
        <p:spPr>
          <a:xfrm>
            <a:off x="457200" y="3832098"/>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④</a:t>
            </a:r>
            <a:r>
              <a:rPr lang="ko-KR" altLang="en-US" sz="1800" b="0" dirty="0">
                <a:solidFill>
                  <a:srgbClr val="1F2328"/>
                </a:solidFill>
                <a:latin typeface="맑은 고딕"/>
                <a:ea typeface="맑은 고딕"/>
                <a:cs typeface="맑은 고딕"/>
              </a:rPr>
              <a:t>	스포츠 팬들은 데이터보다 경기의 재미를 더 중시한다</a:t>
            </a:r>
            <a:endParaRPr lang="ko-KR" altLang="en-US" sz="1800" b="0" dirty="0">
              <a:solidFill>
                <a:srgbClr val="1F2328"/>
              </a:solidFill>
              <a:latin typeface="맑은 고딕"/>
              <a:ea typeface="맑은 고딕"/>
              <a:cs typeface="맑은 고딕"/>
            </a:endParaRPr>
          </a:p>
        </p:txBody>
      </p:sp>
      <p:sp>
        <p:nvSpPr>
          <p:cNvPr id="16" name="choice_5"/>
          <p:cNvSpPr txBox="1"/>
          <p:nvPr/>
        </p:nvSpPr>
        <p:spPr>
          <a:xfrm>
            <a:off x="457200" y="4239514"/>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⑤</a:t>
            </a:r>
            <a:r>
              <a:rPr lang="ko-KR" altLang="en-US" sz="1800" b="0" dirty="0">
                <a:solidFill>
                  <a:srgbClr val="1F2328"/>
                </a:solidFill>
                <a:latin typeface="맑은 고딕"/>
                <a:ea typeface="맑은 고딕"/>
                <a:cs typeface="맑은 고딕"/>
              </a:rPr>
              <a:t>	선수들에 관한 데이터는 수집하기가 매우 어렵다</a:t>
            </a:r>
            <a:endParaRPr lang="ko-KR" altLang="en-US" sz="1800" b="0" dirty="0">
              <a:solidFill>
                <a:srgbClr val="1F2328"/>
              </a:solidFill>
              <a:latin typeface="맑은 고딕"/>
              <a:ea typeface="맑은 고딕"/>
              <a:cs typeface="맑은 고딕"/>
            </a:endParaRPr>
          </a:p>
        </p:txBody>
      </p:sp>
      <p:sp>
        <p:nvSpPr>
          <p:cNvPr id="17" name="rv_answer"/>
          <p:cNvSpPr/>
          <p:nvPr/>
        </p:nvSpPr>
        <p:spPr>
          <a:xfrm>
            <a:off x="457200" y="472922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① </a:t>
            </a:r>
            <a:r>
              <a:rPr lang="ko-KR" altLang="en-US" sz="1900" b="1" dirty="0">
                <a:solidFill>
                  <a:srgbClr val="5A4200"/>
                </a:solidFill>
                <a:latin typeface="맑은 고딕"/>
                <a:ea typeface="맑은 고딕"/>
                <a:cs typeface="맑은 고딕"/>
              </a:rPr>
              <a:t>빅데이터 분석이 독일 축구팀의 우승에 크게 기여했다</a:t>
            </a:r>
            <a:endParaRPr lang="ko-KR" altLang="en-US" sz="1900" b="1" dirty="0">
              <a:solidFill>
                <a:srgbClr val="5A4200"/>
              </a:solidFill>
              <a:latin typeface="맑은 고딕"/>
              <a:ea typeface="맑은 고딕"/>
              <a:cs typeface="맑은 고딕"/>
            </a:endParaRPr>
          </a:p>
        </p:txBody>
      </p:sp>
      <p:sp>
        <p:nvSpPr>
          <p:cNvPr id="18" name="rv_why"/>
          <p:cNvSpPr/>
          <p:nvPr/>
        </p:nvSpPr>
        <p:spPr>
          <a:xfrm>
            <a:off x="457200" y="5328158"/>
            <a:ext cx="11277295" cy="109092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데이터베이스의 도움으로 경기력을 높이고 월드컵에서 우승했다고 했으므로 ①이 요지다.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25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25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25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7" grpId="0" animBg="1"/>
      <p:bldP spid="9" grpId="0" animBg="1"/>
      <p:bldP spid="10" grpId="0" animBg="1"/>
      <p:bldP spid="18" grpId="0" animBg="1"/>
    </p:bldLst>
  </p:timing>
</p:sld>
</file>

<file path=ppt/slides/slide18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L7-3</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1 · 5</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5. 다음 글의 내용과 일치하지 않는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7</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본문 근거 형광 + 정답 원리</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151257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1512570"/>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1F2328"/>
                </a:solidFill>
                <a:latin typeface="Calibri"/>
                <a:ea typeface="맑은 고딕"/>
                <a:cs typeface="Calibri"/>
              </a:rPr>
              <a:t>Are you a sports fan? Well, big data is improving the performance of players, making sports more exciting. A famous example is Germany’s national soccer team. The team built a database by collecting and analyzing a huge amount of data on players. For example, the data included information about how much each player ran and how long he had the ball. With the help of this database, Germany’s national soccer team was able to improve its performance and </a:t>
            </a:r>
            <a:r>
              <a:rPr lang="en-US" altLang="ko-KR" sz="1500" b="0" dirty="0">
                <a:solidFill>
                  <a:srgbClr val="1F2328"/>
                </a:solidFill>
                <a:latin typeface="Calibri"/>
                <a:ea typeface="맑은 고딕"/>
                <a:cs typeface="Calibri"/>
              </a:rPr>
              <a:t>win the 2014 World Cup</a:t>
            </a:r>
            <a:r>
              <a:rPr lang="en-US" altLang="ko-KR" sz="1500" b="0" dirty="0">
                <a:solidFill>
                  <a:srgbClr val="1F2328"/>
                </a:solidFill>
                <a:latin typeface="Calibri"/>
                <a:ea typeface="맑은 고딕"/>
                <a:cs typeface="Calibri"/>
              </a:rPr>
              <a:t>.</a:t>
            </a:r>
            <a:endParaRPr lang="en-US" altLang="ko-KR" sz="1500" b="0" dirty="0">
              <a:solidFill>
                <a:srgbClr val="1F2328"/>
              </a:solidFill>
              <a:latin typeface="Calibri"/>
              <a:ea typeface="맑은 고딕"/>
              <a:cs typeface="Calibri"/>
            </a:endParaRPr>
          </a:p>
        </p:txBody>
      </p:sp>
      <p:sp>
        <p:nvSpPr>
          <p:cNvPr id="9" name="rv_evidence_card"/>
          <p:cNvSpPr/>
          <p:nvPr/>
        </p:nvSpPr>
        <p:spPr>
          <a:xfrm>
            <a:off x="457200" y="950976"/>
            <a:ext cx="11277295" cy="151257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rv_evidence"/>
          <p:cNvSpPr txBox="1"/>
          <p:nvPr/>
        </p:nvSpPr>
        <p:spPr>
          <a:xfrm>
            <a:off x="457200" y="950976"/>
            <a:ext cx="11277295" cy="1512570"/>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B3BAC6"/>
                </a:solidFill>
                <a:latin typeface="Calibri"/>
                <a:ea typeface="맑은 고딕"/>
                <a:cs typeface="Calibri"/>
              </a:rPr>
              <a:t>Are you a sports fan? Well, big data is improving the performance of players, making sports more exciting. A famous example is Germany’s national soccer team. The team built a database by collecting and analyzing a huge amount of data on players. For example, the data included information about how much each player ran and how long he had the ball. With the help of this database, Germany’s national soccer team was able to improve its performance and </a:t>
            </a:r>
            <a:r>
              <a:rPr lang="en-US" altLang="ko-KR" sz="1500" b="0" dirty="0">
                <a:solidFill>
                  <a:srgbClr val="111111"/>
                </a:solidFill>
                <a:highlight>
                  <a:srgbClr val="FFE45C"/>
                </a:highlight>
                <a:latin typeface="Calibri"/>
                <a:ea typeface="맑은 고딕"/>
                <a:cs typeface="Calibri"/>
              </a:rPr>
              <a:t>win the 2014 World Cup</a:t>
            </a:r>
            <a:r>
              <a:rPr lang="en-US" altLang="ko-KR" sz="1500" b="0" dirty="0">
                <a:solidFill>
                  <a:srgbClr val="B3BAC6"/>
                </a:solidFill>
                <a:latin typeface="Calibri"/>
                <a:ea typeface="맑은 고딕"/>
                <a:cs typeface="Calibri"/>
              </a:rPr>
              <a:t>.</a:t>
            </a:r>
            <a:endParaRPr lang="en-US" altLang="ko-KR" sz="1500" b="0" dirty="0">
              <a:solidFill>
                <a:srgbClr val="B3BAC6"/>
              </a:solidFill>
              <a:latin typeface="Calibri"/>
              <a:ea typeface="맑은 고딕"/>
              <a:cs typeface="Calibri"/>
            </a:endParaRPr>
          </a:p>
        </p:txBody>
      </p:sp>
      <p:sp>
        <p:nvSpPr>
          <p:cNvPr id="11" name="choice_1"/>
          <p:cNvSpPr txBox="1"/>
          <p:nvPr/>
        </p:nvSpPr>
        <p:spPr>
          <a:xfrm>
            <a:off x="457200" y="2609850"/>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①</a:t>
            </a:r>
            <a:r>
              <a:rPr lang="ko-KR" altLang="en-US" sz="1800" b="0" dirty="0">
                <a:solidFill>
                  <a:srgbClr val="1F2328"/>
                </a:solidFill>
                <a:latin typeface="맑은 고딕"/>
                <a:ea typeface="맑은 고딕"/>
                <a:cs typeface="맑은 고딕"/>
              </a:rPr>
              <a:t>	빅데이터는 선수들의 경기력을 향상하고 있다</a:t>
            </a:r>
            <a:endParaRPr lang="ko-KR" altLang="en-US" sz="1800" b="0" dirty="0">
              <a:solidFill>
                <a:srgbClr val="1F2328"/>
              </a:solidFill>
              <a:latin typeface="맑은 고딕"/>
              <a:ea typeface="맑은 고딕"/>
              <a:cs typeface="맑은 고딕"/>
            </a:endParaRPr>
          </a:p>
        </p:txBody>
      </p:sp>
      <p:sp>
        <p:nvSpPr>
          <p:cNvPr id="12" name="choice_2"/>
          <p:cNvSpPr txBox="1"/>
          <p:nvPr/>
        </p:nvSpPr>
        <p:spPr>
          <a:xfrm>
            <a:off x="457200" y="3017266"/>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②</a:t>
            </a:r>
            <a:r>
              <a:rPr lang="ko-KR" altLang="en-US" sz="1800" b="0" dirty="0">
                <a:solidFill>
                  <a:srgbClr val="1F2328"/>
                </a:solidFill>
                <a:latin typeface="맑은 고딕"/>
                <a:ea typeface="맑은 고딕"/>
                <a:cs typeface="맑은 고딕"/>
              </a:rPr>
              <a:t>	독일 국가 대표 축구팀은 데이터베이스를 구축했다</a:t>
            </a:r>
            <a:endParaRPr lang="ko-KR" altLang="en-US" sz="1800" b="0" dirty="0">
              <a:solidFill>
                <a:srgbClr val="1F2328"/>
              </a:solidFill>
              <a:latin typeface="맑은 고딕"/>
              <a:ea typeface="맑은 고딕"/>
              <a:cs typeface="맑은 고딕"/>
            </a:endParaRPr>
          </a:p>
        </p:txBody>
      </p:sp>
      <p:sp>
        <p:nvSpPr>
          <p:cNvPr id="13" name="choice_3"/>
          <p:cNvSpPr txBox="1"/>
          <p:nvPr/>
        </p:nvSpPr>
        <p:spPr>
          <a:xfrm>
            <a:off x="457200" y="3424682"/>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③</a:t>
            </a:r>
            <a:r>
              <a:rPr lang="ko-KR" altLang="en-US" sz="1800" b="0" dirty="0">
                <a:solidFill>
                  <a:srgbClr val="1F2328"/>
                </a:solidFill>
                <a:latin typeface="맑은 고딕"/>
                <a:ea typeface="맑은 고딕"/>
                <a:cs typeface="맑은 고딕"/>
              </a:rPr>
              <a:t>	데이터에는 각 선수가 달린 양이 포함되었다</a:t>
            </a:r>
            <a:endParaRPr lang="ko-KR" altLang="en-US" sz="1800" b="0" dirty="0">
              <a:solidFill>
                <a:srgbClr val="1F2328"/>
              </a:solidFill>
              <a:latin typeface="맑은 고딕"/>
              <a:ea typeface="맑은 고딕"/>
              <a:cs typeface="맑은 고딕"/>
            </a:endParaRPr>
          </a:p>
        </p:txBody>
      </p:sp>
      <p:sp>
        <p:nvSpPr>
          <p:cNvPr id="14" name="choice_4"/>
          <p:cNvSpPr txBox="1"/>
          <p:nvPr/>
        </p:nvSpPr>
        <p:spPr>
          <a:xfrm>
            <a:off x="457200" y="3832098"/>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④</a:t>
            </a:r>
            <a:r>
              <a:rPr lang="ko-KR" altLang="en-US" sz="1800" b="0" dirty="0">
                <a:solidFill>
                  <a:srgbClr val="1F2328"/>
                </a:solidFill>
                <a:latin typeface="맑은 고딕"/>
                <a:ea typeface="맑은 고딕"/>
                <a:cs typeface="맑은 고딕"/>
              </a:rPr>
              <a:t>	데이터에는 선수가 공을 가진 시간이 포함되었다</a:t>
            </a:r>
            <a:endParaRPr lang="ko-KR" altLang="en-US" sz="1800" b="0" dirty="0">
              <a:solidFill>
                <a:srgbClr val="1F2328"/>
              </a:solidFill>
              <a:latin typeface="맑은 고딕"/>
              <a:ea typeface="맑은 고딕"/>
              <a:cs typeface="맑은 고딕"/>
            </a:endParaRPr>
          </a:p>
        </p:txBody>
      </p:sp>
      <p:sp>
        <p:nvSpPr>
          <p:cNvPr id="15" name="choice_5"/>
          <p:cNvSpPr txBox="1"/>
          <p:nvPr/>
        </p:nvSpPr>
        <p:spPr>
          <a:xfrm>
            <a:off x="457200" y="4239514"/>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⑤</a:t>
            </a:r>
            <a:r>
              <a:rPr lang="ko-KR" altLang="en-US" sz="1800" b="0" dirty="0">
                <a:solidFill>
                  <a:srgbClr val="1F2328"/>
                </a:solidFill>
                <a:latin typeface="맑은 고딕"/>
                <a:ea typeface="맑은 고딕"/>
                <a:cs typeface="맑은 고딕"/>
              </a:rPr>
              <a:t>	독일 축구팀은 2010년 월드컵에서 우승하였다</a:t>
            </a:r>
            <a:endParaRPr lang="ko-KR" altLang="en-US" sz="1800" b="0" dirty="0">
              <a:solidFill>
                <a:srgbClr val="1F2328"/>
              </a:solidFill>
              <a:latin typeface="맑은 고딕"/>
              <a:ea typeface="맑은 고딕"/>
              <a:cs typeface="맑은 고딕"/>
            </a:endParaRPr>
          </a:p>
        </p:txBody>
      </p:sp>
      <p:sp>
        <p:nvSpPr>
          <p:cNvPr id="16" name="rv_pick"/>
          <p:cNvSpPr txBox="1"/>
          <p:nvPr/>
        </p:nvSpPr>
        <p:spPr>
          <a:xfrm>
            <a:off x="457200" y="4239514"/>
            <a:ext cx="11277295" cy="379984"/>
          </a:xfrm>
          <a:prstGeom prst="rect">
            <a:avLst/>
          </a:prstGeom>
          <a:solidFill>
            <a:srgbClr val="FFF3C4"/>
          </a:solid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C00000"/>
                </a:solidFill>
                <a:latin typeface="맑은 고딕"/>
                <a:ea typeface="맑은 고딕"/>
                <a:cs typeface="맑은 고딕"/>
              </a:rPr>
              <a:t>⑤</a:t>
            </a:r>
            <a:r>
              <a:rPr lang="ko-KR" altLang="en-US" sz="1800" b="0" dirty="0">
                <a:solidFill>
                  <a:srgbClr val="C00000"/>
                </a:solidFill>
                <a:latin typeface="맑은 고딕"/>
                <a:ea typeface="맑은 고딕"/>
                <a:cs typeface="맑은 고딕"/>
              </a:rPr>
              <a:t>	독일 축구팀은 2010년 월드컵에서 우승하였다</a:t>
            </a:r>
            <a:endParaRPr lang="ko-KR" altLang="en-US" sz="1800" b="0" dirty="0">
              <a:solidFill>
                <a:srgbClr val="C00000"/>
              </a:solidFill>
              <a:latin typeface="맑은 고딕"/>
              <a:ea typeface="맑은 고딕"/>
              <a:cs typeface="맑은 고딕"/>
            </a:endParaRPr>
          </a:p>
        </p:txBody>
      </p:sp>
      <p:sp>
        <p:nvSpPr>
          <p:cNvPr id="17" name="rv_answer"/>
          <p:cNvSpPr/>
          <p:nvPr/>
        </p:nvSpPr>
        <p:spPr>
          <a:xfrm>
            <a:off x="457200" y="472922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⑤ </a:t>
            </a:r>
            <a:r>
              <a:rPr lang="ko-KR" altLang="en-US" sz="1900" b="1" dirty="0">
                <a:solidFill>
                  <a:srgbClr val="5A4200"/>
                </a:solidFill>
                <a:latin typeface="맑은 고딕"/>
                <a:ea typeface="맑은 고딕"/>
                <a:cs typeface="맑은 고딕"/>
              </a:rPr>
              <a:t>독일 축구팀은 2010년 월드컵에서 우승하였다</a:t>
            </a:r>
            <a:endParaRPr lang="ko-KR" altLang="en-US" sz="1900" b="1" dirty="0">
              <a:solidFill>
                <a:srgbClr val="5A4200"/>
              </a:solidFill>
              <a:latin typeface="맑은 고딕"/>
              <a:ea typeface="맑은 고딕"/>
              <a:cs typeface="맑은 고딕"/>
            </a:endParaRPr>
          </a:p>
        </p:txBody>
      </p:sp>
      <p:sp>
        <p:nvSpPr>
          <p:cNvPr id="18" name="rv_why"/>
          <p:cNvSpPr/>
          <p:nvPr/>
        </p:nvSpPr>
        <p:spPr>
          <a:xfrm>
            <a:off x="457200" y="5328158"/>
            <a:ext cx="11277295" cy="109092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독일 축구팀은 2014년('the 2014 World Cup') 월드컵에서 우승했으므로 2010년이라는 ⑤는 틀리다.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250"/>
                                        <p:tgtEl>
                                          <p:spTgt spid="1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25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25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7" grpId="0" animBg="1"/>
      <p:bldP spid="9" grpId="0" animBg="1"/>
      <p:bldP spid="10" grpId="0" animBg="1"/>
      <p:bldP spid="18" grpId="0" animBg="1"/>
    </p:bldLst>
  </p:timing>
</p:sld>
</file>

<file path=ppt/slides/slide18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L7-3</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1 · 6</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6. 다음 글의 내용과 일치하는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7</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본문 근거 형광 + 정답 원리</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151257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1512570"/>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1F2328"/>
                </a:solidFill>
                <a:latin typeface="Calibri"/>
                <a:ea typeface="맑은 고딕"/>
                <a:cs typeface="Calibri"/>
              </a:rPr>
              <a:t>Are you a sports fan? Well, big data is improving the performance of players, making sports more exciting. A famous example is Germany’s national soccer team. The team built a database by collecting and analyzing a huge amount of data on players. For example, the data included information about how much each player ran and how long he had the ball. With the help of this database, Germany’s national soccer team was able to improve its performance and </a:t>
            </a:r>
            <a:r>
              <a:rPr lang="en-US" altLang="ko-KR" sz="1500" b="0" dirty="0">
                <a:solidFill>
                  <a:srgbClr val="1F2328"/>
                </a:solidFill>
                <a:latin typeface="Calibri"/>
                <a:ea typeface="맑은 고딕"/>
                <a:cs typeface="Calibri"/>
              </a:rPr>
              <a:t>win the 2014 World Cup</a:t>
            </a:r>
            <a:r>
              <a:rPr lang="en-US" altLang="ko-KR" sz="1500" b="0" dirty="0">
                <a:solidFill>
                  <a:srgbClr val="1F2328"/>
                </a:solidFill>
                <a:latin typeface="Calibri"/>
                <a:ea typeface="맑은 고딕"/>
                <a:cs typeface="Calibri"/>
              </a:rPr>
              <a:t>.</a:t>
            </a:r>
            <a:endParaRPr lang="en-US" altLang="ko-KR" sz="1500" b="0" dirty="0">
              <a:solidFill>
                <a:srgbClr val="1F2328"/>
              </a:solidFill>
              <a:latin typeface="Calibri"/>
              <a:ea typeface="맑은 고딕"/>
              <a:cs typeface="Calibri"/>
            </a:endParaRPr>
          </a:p>
        </p:txBody>
      </p:sp>
      <p:sp>
        <p:nvSpPr>
          <p:cNvPr id="9" name="rv_evidence_card"/>
          <p:cNvSpPr/>
          <p:nvPr/>
        </p:nvSpPr>
        <p:spPr>
          <a:xfrm>
            <a:off x="457200" y="950976"/>
            <a:ext cx="11277295" cy="151257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rv_evidence"/>
          <p:cNvSpPr txBox="1"/>
          <p:nvPr/>
        </p:nvSpPr>
        <p:spPr>
          <a:xfrm>
            <a:off x="457200" y="950976"/>
            <a:ext cx="11277295" cy="1512570"/>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B3BAC6"/>
                </a:solidFill>
                <a:latin typeface="Calibri"/>
                <a:ea typeface="맑은 고딕"/>
                <a:cs typeface="Calibri"/>
              </a:rPr>
              <a:t>Are you a sports fan? Well, big data is improving the performance of players, making sports more exciting. A famous example is Germany’s national soccer team. The team built a database by collecting and analyzing a huge amount of data on players. For example, the data included information about how much each player ran and how long he had the ball. With the help of this database, Germany’s national soccer team was able to improve its performance and </a:t>
            </a:r>
            <a:r>
              <a:rPr lang="en-US" altLang="ko-KR" sz="1500" b="0" dirty="0">
                <a:solidFill>
                  <a:srgbClr val="111111"/>
                </a:solidFill>
                <a:highlight>
                  <a:srgbClr val="FFE45C"/>
                </a:highlight>
                <a:latin typeface="Calibri"/>
                <a:ea typeface="맑은 고딕"/>
                <a:cs typeface="Calibri"/>
              </a:rPr>
              <a:t>win the 2014 World Cup</a:t>
            </a:r>
            <a:r>
              <a:rPr lang="en-US" altLang="ko-KR" sz="1500" b="0" dirty="0">
                <a:solidFill>
                  <a:srgbClr val="B3BAC6"/>
                </a:solidFill>
                <a:latin typeface="Calibri"/>
                <a:ea typeface="맑은 고딕"/>
                <a:cs typeface="Calibri"/>
              </a:rPr>
              <a:t>.</a:t>
            </a:r>
            <a:endParaRPr lang="en-US" altLang="ko-KR" sz="1500" b="0" dirty="0">
              <a:solidFill>
                <a:srgbClr val="B3BAC6"/>
              </a:solidFill>
              <a:latin typeface="Calibri"/>
              <a:ea typeface="맑은 고딕"/>
              <a:cs typeface="Calibri"/>
            </a:endParaRPr>
          </a:p>
        </p:txBody>
      </p:sp>
      <p:sp>
        <p:nvSpPr>
          <p:cNvPr id="11" name="choice_1"/>
          <p:cNvSpPr txBox="1"/>
          <p:nvPr/>
        </p:nvSpPr>
        <p:spPr>
          <a:xfrm>
            <a:off x="457200" y="2609850"/>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①</a:t>
            </a:r>
            <a:r>
              <a:rPr lang="ko-KR" altLang="en-US" sz="1800" b="0" dirty="0">
                <a:solidFill>
                  <a:srgbClr val="1F2328"/>
                </a:solidFill>
                <a:latin typeface="맑은 고딕"/>
                <a:ea typeface="맑은 고딕"/>
                <a:cs typeface="맑은 고딕"/>
              </a:rPr>
              <a:t>	빅데이터는 스포츠를 더 지루하게 만들고 있다</a:t>
            </a:r>
            <a:endParaRPr lang="ko-KR" altLang="en-US" sz="1800" b="0" dirty="0">
              <a:solidFill>
                <a:srgbClr val="1F2328"/>
              </a:solidFill>
              <a:latin typeface="맑은 고딕"/>
              <a:ea typeface="맑은 고딕"/>
              <a:cs typeface="맑은 고딕"/>
            </a:endParaRPr>
          </a:p>
        </p:txBody>
      </p:sp>
      <p:sp>
        <p:nvSpPr>
          <p:cNvPr id="12" name="choice_2"/>
          <p:cNvSpPr txBox="1"/>
          <p:nvPr/>
        </p:nvSpPr>
        <p:spPr>
          <a:xfrm>
            <a:off x="457200" y="3017266"/>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②</a:t>
            </a:r>
            <a:r>
              <a:rPr lang="ko-KR" altLang="en-US" sz="1800" b="0" dirty="0">
                <a:solidFill>
                  <a:srgbClr val="1F2328"/>
                </a:solidFill>
                <a:latin typeface="맑은 고딕"/>
                <a:ea typeface="맑은 고딕"/>
                <a:cs typeface="맑은 고딕"/>
              </a:rPr>
              <a:t>	독일 축구팀은 2014년 월드컵에서 우승하였다</a:t>
            </a:r>
            <a:endParaRPr lang="ko-KR" altLang="en-US" sz="1800" b="0" dirty="0">
              <a:solidFill>
                <a:srgbClr val="1F2328"/>
              </a:solidFill>
              <a:latin typeface="맑은 고딕"/>
              <a:ea typeface="맑은 고딕"/>
              <a:cs typeface="맑은 고딕"/>
            </a:endParaRPr>
          </a:p>
        </p:txBody>
      </p:sp>
      <p:sp>
        <p:nvSpPr>
          <p:cNvPr id="13" name="rv_pick"/>
          <p:cNvSpPr txBox="1"/>
          <p:nvPr/>
        </p:nvSpPr>
        <p:spPr>
          <a:xfrm>
            <a:off x="457200" y="3017266"/>
            <a:ext cx="11277295" cy="379984"/>
          </a:xfrm>
          <a:prstGeom prst="rect">
            <a:avLst/>
          </a:prstGeom>
          <a:solidFill>
            <a:srgbClr val="FFF3C4"/>
          </a:solid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C00000"/>
                </a:solidFill>
                <a:latin typeface="맑은 고딕"/>
                <a:ea typeface="맑은 고딕"/>
                <a:cs typeface="맑은 고딕"/>
              </a:rPr>
              <a:t>②</a:t>
            </a:r>
            <a:r>
              <a:rPr lang="ko-KR" altLang="en-US" sz="1800" b="0" dirty="0">
                <a:solidFill>
                  <a:srgbClr val="C00000"/>
                </a:solidFill>
                <a:latin typeface="맑은 고딕"/>
                <a:ea typeface="맑은 고딕"/>
                <a:cs typeface="맑은 고딕"/>
              </a:rPr>
              <a:t>	독일 축구팀은 2014년 월드컵에서 우승하였다</a:t>
            </a:r>
            <a:endParaRPr lang="ko-KR" altLang="en-US" sz="1800" b="0" dirty="0">
              <a:solidFill>
                <a:srgbClr val="C00000"/>
              </a:solidFill>
              <a:latin typeface="맑은 고딕"/>
              <a:ea typeface="맑은 고딕"/>
              <a:cs typeface="맑은 고딕"/>
            </a:endParaRPr>
          </a:p>
        </p:txBody>
      </p:sp>
      <p:sp>
        <p:nvSpPr>
          <p:cNvPr id="14" name="choice_3"/>
          <p:cNvSpPr txBox="1"/>
          <p:nvPr/>
        </p:nvSpPr>
        <p:spPr>
          <a:xfrm>
            <a:off x="457200" y="3424682"/>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③</a:t>
            </a:r>
            <a:r>
              <a:rPr lang="ko-KR" altLang="en-US" sz="1800" b="0" dirty="0">
                <a:solidFill>
                  <a:srgbClr val="1F2328"/>
                </a:solidFill>
                <a:latin typeface="맑은 고딕"/>
                <a:ea typeface="맑은 고딕"/>
                <a:cs typeface="맑은 고딕"/>
              </a:rPr>
              <a:t>	독일 축구팀은 소수의 선수 데이터만 모았다</a:t>
            </a:r>
            <a:endParaRPr lang="ko-KR" altLang="en-US" sz="1800" b="0" dirty="0">
              <a:solidFill>
                <a:srgbClr val="1F2328"/>
              </a:solidFill>
              <a:latin typeface="맑은 고딕"/>
              <a:ea typeface="맑은 고딕"/>
              <a:cs typeface="맑은 고딕"/>
            </a:endParaRPr>
          </a:p>
        </p:txBody>
      </p:sp>
      <p:sp>
        <p:nvSpPr>
          <p:cNvPr id="15" name="choice_4"/>
          <p:cNvSpPr txBox="1"/>
          <p:nvPr/>
        </p:nvSpPr>
        <p:spPr>
          <a:xfrm>
            <a:off x="457200" y="3832098"/>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④</a:t>
            </a:r>
            <a:r>
              <a:rPr lang="ko-KR" altLang="en-US" sz="1800" b="0" dirty="0">
                <a:solidFill>
                  <a:srgbClr val="1F2328"/>
                </a:solidFill>
                <a:latin typeface="맑은 고딕"/>
                <a:ea typeface="맑은 고딕"/>
                <a:cs typeface="맑은 고딕"/>
              </a:rPr>
              <a:t>	데이터에는 선수들의 식단 정보가 포함되었다</a:t>
            </a:r>
            <a:endParaRPr lang="ko-KR" altLang="en-US" sz="1800" b="0" dirty="0">
              <a:solidFill>
                <a:srgbClr val="1F2328"/>
              </a:solidFill>
              <a:latin typeface="맑은 고딕"/>
              <a:ea typeface="맑은 고딕"/>
              <a:cs typeface="맑은 고딕"/>
            </a:endParaRPr>
          </a:p>
        </p:txBody>
      </p:sp>
      <p:sp>
        <p:nvSpPr>
          <p:cNvPr id="16" name="choice_5"/>
          <p:cNvSpPr txBox="1"/>
          <p:nvPr/>
        </p:nvSpPr>
        <p:spPr>
          <a:xfrm>
            <a:off x="457200" y="4239514"/>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⑤</a:t>
            </a:r>
            <a:r>
              <a:rPr lang="ko-KR" altLang="en-US" sz="1800" b="0" dirty="0">
                <a:solidFill>
                  <a:srgbClr val="1F2328"/>
                </a:solidFill>
                <a:latin typeface="맑은 고딕"/>
                <a:ea typeface="맑은 고딕"/>
                <a:cs typeface="맑은 고딕"/>
              </a:rPr>
              <a:t>	데이터베이스는 경기력 향상에 효과가 없었다</a:t>
            </a:r>
            <a:endParaRPr lang="ko-KR" altLang="en-US" sz="1800" b="0" dirty="0">
              <a:solidFill>
                <a:srgbClr val="1F2328"/>
              </a:solidFill>
              <a:latin typeface="맑은 고딕"/>
              <a:ea typeface="맑은 고딕"/>
              <a:cs typeface="맑은 고딕"/>
            </a:endParaRPr>
          </a:p>
        </p:txBody>
      </p:sp>
      <p:sp>
        <p:nvSpPr>
          <p:cNvPr id="17" name="rv_answer"/>
          <p:cNvSpPr/>
          <p:nvPr/>
        </p:nvSpPr>
        <p:spPr>
          <a:xfrm>
            <a:off x="457200" y="472922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② </a:t>
            </a:r>
            <a:r>
              <a:rPr lang="ko-KR" altLang="en-US" sz="1900" b="1" dirty="0">
                <a:solidFill>
                  <a:srgbClr val="5A4200"/>
                </a:solidFill>
                <a:latin typeface="맑은 고딕"/>
                <a:ea typeface="맑은 고딕"/>
                <a:cs typeface="맑은 고딕"/>
              </a:rPr>
              <a:t>독일 축구팀은 2014년 월드컵에서 우승하였다</a:t>
            </a:r>
            <a:endParaRPr lang="ko-KR" altLang="en-US" sz="1900" b="1" dirty="0">
              <a:solidFill>
                <a:srgbClr val="5A4200"/>
              </a:solidFill>
              <a:latin typeface="맑은 고딕"/>
              <a:ea typeface="맑은 고딕"/>
              <a:cs typeface="맑은 고딕"/>
            </a:endParaRPr>
          </a:p>
        </p:txBody>
      </p:sp>
      <p:sp>
        <p:nvSpPr>
          <p:cNvPr id="18" name="rv_why"/>
          <p:cNvSpPr/>
          <p:nvPr/>
        </p:nvSpPr>
        <p:spPr>
          <a:xfrm>
            <a:off x="457200" y="5328158"/>
            <a:ext cx="11277295" cy="109092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데이터베이스의 도움으로 2014년 월드컵에서 우승했다고 했으므로 ②가 일치한다.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250"/>
                                        <p:tgtEl>
                                          <p:spTgt spid="1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25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25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7" grpId="0" animBg="1"/>
      <p:bldP spid="9" grpId="0" animBg="1"/>
      <p:bldP spid="10" grpId="0" animBg="1"/>
      <p:bldP spid="18" grpId="0" animBg="1"/>
    </p:bldLst>
  </p:timing>
</p:sld>
</file>

<file path=ppt/slides/slide18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L7-3</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2 · 1</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1. 주어진 글 다음에 이어질 글의 순서로 가장 적절한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7</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정답 원리</a:t>
            </a:r>
            <a:endParaRPr lang="ko-KR" altLang="en-US" sz="1000" b="0" dirty="0">
              <a:solidFill>
                <a:srgbClr val="7A808C"/>
              </a:solidFill>
              <a:latin typeface="맑은 고딕"/>
              <a:ea typeface="맑은 고딕"/>
              <a:cs typeface="맑은 고딕"/>
            </a:endParaRPr>
          </a:p>
        </p:txBody>
      </p:sp>
      <p:sp>
        <p:nvSpPr>
          <p:cNvPr id="7" name="given_card"/>
          <p:cNvSpPr/>
          <p:nvPr/>
        </p:nvSpPr>
        <p:spPr>
          <a:xfrm>
            <a:off x="457200" y="950976"/>
            <a:ext cx="11277295" cy="481838"/>
          </a:xfrm>
          <a:prstGeom prst="roundRect">
            <a:avLst>
              <a:gd name="adj" fmla="val 6000"/>
            </a:avLst>
          </a:prstGeom>
          <a:solidFill>
            <a:srgbClr val="FFFFFF"/>
          </a:solidFill>
          <a:ln w="15875">
            <a:solidFill>
              <a:srgbClr val="1E2A5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given"/>
          <p:cNvSpPr txBox="1"/>
          <p:nvPr/>
        </p:nvSpPr>
        <p:spPr>
          <a:xfrm>
            <a:off x="457200" y="950976"/>
            <a:ext cx="11277295" cy="481838"/>
          </a:xfrm>
          <a:prstGeom prst="rect">
            <a:avLst/>
          </a:prstGeom>
          <a:noFill/>
        </p:spPr>
        <p:txBody>
          <a:bodyPr wrap="square" lIns="201168" tIns="100584" rIns="201168" bIns="100584" anchor="t" rtlCol="0">
            <a:noAutofit/>
          </a:bodyPr>
          <a:lstStyle/>
          <a:p>
            <a:pPr algn="l">
              <a:lnSpc>
                <a:spcPts val="2210"/>
              </a:lnSpc>
              <a:spcBef>
                <a:spcPts val="0"/>
              </a:spcBef>
              <a:spcAft>
                <a:spcPts val="0"/>
              </a:spcAft>
              <a:buNone/>
            </a:pPr>
            <a:r>
              <a:rPr lang="en-US" altLang="ko-KR" sz="1700" b="0" dirty="0">
                <a:solidFill>
                  <a:srgbClr val="1F2328"/>
                </a:solidFill>
                <a:latin typeface="Calibri"/>
                <a:ea typeface="맑은 고딕"/>
                <a:cs typeface="Calibri"/>
              </a:rPr>
              <a:t>Are you a sports fan?</a:t>
            </a:r>
            <a:endParaRPr lang="en-US" altLang="ko-KR" sz="1700" b="0" dirty="0">
              <a:solidFill>
                <a:srgbClr val="1F2328"/>
              </a:solidFill>
              <a:latin typeface="Calibri"/>
              <a:ea typeface="맑은 고딕"/>
              <a:cs typeface="Calibri"/>
            </a:endParaRPr>
          </a:p>
        </p:txBody>
      </p:sp>
      <p:sp>
        <p:nvSpPr>
          <p:cNvPr id="9" name="parts_card"/>
          <p:cNvSpPr/>
          <p:nvPr/>
        </p:nvSpPr>
        <p:spPr>
          <a:xfrm>
            <a:off x="457200" y="1560830"/>
            <a:ext cx="11277295" cy="2514092"/>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parts"/>
          <p:cNvSpPr txBox="1"/>
          <p:nvPr/>
        </p:nvSpPr>
        <p:spPr>
          <a:xfrm>
            <a:off x="457200" y="1560830"/>
            <a:ext cx="11277295" cy="2514092"/>
          </a:xfrm>
          <a:prstGeom prst="rect">
            <a:avLst/>
          </a:prstGeom>
          <a:noFill/>
        </p:spPr>
        <p:txBody>
          <a:bodyPr wrap="square" lIns="201168" tIns="118872" rIns="201168" bIns="118872" anchor="t" rtlCol="0">
            <a:noAutofit/>
          </a:bodyPr>
          <a:lstStyle/>
          <a:p>
            <a:pPr algn="just" marL="453390" indent="-453390">
              <a:lnSpc>
                <a:spcPts val="2210"/>
              </a:lnSpc>
              <a:spcBef>
                <a:spcPts val="0"/>
              </a:spcBef>
              <a:spcAft>
                <a:spcPts val="770"/>
              </a:spcAft>
              <a:buNone/>
              <a:tabLst>
                <a:tab pos="453390" algn="l"/>
              </a:tabLst>
            </a:pPr>
            <a:r>
              <a:rPr lang="en-US" altLang="ko-KR" sz="1700" b="1" dirty="0">
                <a:solidFill>
                  <a:srgbClr val="1E2A5A"/>
                </a:solidFill>
                <a:latin typeface="Calibri"/>
                <a:ea typeface="맑은 고딕"/>
                <a:cs typeface="Calibri"/>
              </a:rPr>
              <a:t>(A)</a:t>
            </a:r>
            <a:r>
              <a:rPr lang="en-US" altLang="ko-KR" sz="1700" b="0" dirty="0">
                <a:solidFill>
                  <a:srgbClr val="1F2328"/>
                </a:solidFill>
                <a:latin typeface="Calibri"/>
                <a:ea typeface="맑은 고딕"/>
                <a:cs typeface="Calibri"/>
              </a:rPr>
              <a:t>	With the help of this database, Germany’s national soccer team was able to improve its performance and win the 2014 World Cup.</a:t>
            </a:r>
            <a:endParaRPr lang="en-US" altLang="ko-KR" sz="1700" b="0" dirty="0">
              <a:solidFill>
                <a:srgbClr val="1F2328"/>
              </a:solidFill>
              <a:latin typeface="Calibri"/>
              <a:ea typeface="맑은 고딕"/>
              <a:cs typeface="Calibri"/>
            </a:endParaRPr>
          </a:p>
          <a:p>
            <a:pPr algn="just" marL="453390" indent="-453390">
              <a:lnSpc>
                <a:spcPts val="2210"/>
              </a:lnSpc>
              <a:spcBef>
                <a:spcPts val="0"/>
              </a:spcBef>
              <a:spcAft>
                <a:spcPts val="770"/>
              </a:spcAft>
              <a:buNone/>
              <a:tabLst>
                <a:tab pos="453390" algn="l"/>
              </a:tabLst>
            </a:pPr>
            <a:r>
              <a:rPr lang="en-US" altLang="ko-KR" sz="1700" b="1" dirty="0">
                <a:solidFill>
                  <a:srgbClr val="1E2A5A"/>
                </a:solidFill>
                <a:latin typeface="Calibri"/>
                <a:ea typeface="맑은 고딕"/>
                <a:cs typeface="Calibri"/>
              </a:rPr>
              <a:t>(B)</a:t>
            </a:r>
            <a:r>
              <a:rPr lang="en-US" altLang="ko-KR" sz="1700" b="0" dirty="0">
                <a:solidFill>
                  <a:srgbClr val="1F2328"/>
                </a:solidFill>
                <a:latin typeface="Calibri"/>
                <a:ea typeface="맑은 고딕"/>
                <a:cs typeface="Calibri"/>
              </a:rPr>
              <a:t>	Well, big data is improving the performance of players, making sports more exciting. A famous example is Germany’s national soccer team.</a:t>
            </a:r>
            <a:endParaRPr lang="en-US" altLang="ko-KR" sz="1700" b="0" dirty="0">
              <a:solidFill>
                <a:srgbClr val="1F2328"/>
              </a:solidFill>
              <a:latin typeface="Calibri"/>
              <a:ea typeface="맑은 고딕"/>
              <a:cs typeface="Calibri"/>
            </a:endParaRPr>
          </a:p>
          <a:p>
            <a:pPr algn="just" marL="453390" indent="-453390">
              <a:lnSpc>
                <a:spcPts val="2210"/>
              </a:lnSpc>
              <a:spcBef>
                <a:spcPts val="0"/>
              </a:spcBef>
              <a:spcAft>
                <a:spcPts val="770"/>
              </a:spcAft>
              <a:buNone/>
              <a:tabLst>
                <a:tab pos="453390" algn="l"/>
              </a:tabLst>
            </a:pPr>
            <a:r>
              <a:rPr lang="en-US" altLang="ko-KR" sz="1700" b="1" dirty="0">
                <a:solidFill>
                  <a:srgbClr val="1E2A5A"/>
                </a:solidFill>
                <a:latin typeface="Calibri"/>
                <a:ea typeface="맑은 고딕"/>
                <a:cs typeface="Calibri"/>
              </a:rPr>
              <a:t>(C)</a:t>
            </a:r>
            <a:r>
              <a:rPr lang="en-US" altLang="ko-KR" sz="1700" b="0" dirty="0">
                <a:solidFill>
                  <a:srgbClr val="1F2328"/>
                </a:solidFill>
                <a:latin typeface="Calibri"/>
                <a:ea typeface="맑은 고딕"/>
                <a:cs typeface="Calibri"/>
              </a:rPr>
              <a:t>	The team built a database by collecting and analyzing a huge amount of data on players. For example, the data included information about how much each player ran and how long he had the ball.</a:t>
            </a:r>
            <a:endParaRPr lang="en-US" altLang="ko-KR" sz="1700" b="0" dirty="0">
              <a:solidFill>
                <a:srgbClr val="1F2328"/>
              </a:solidFill>
              <a:latin typeface="Calibri"/>
              <a:ea typeface="맑은 고딕"/>
              <a:cs typeface="Calibri"/>
            </a:endParaRPr>
          </a:p>
        </p:txBody>
      </p:sp>
      <p:sp>
        <p:nvSpPr>
          <p:cNvPr id="11" name="options"/>
          <p:cNvSpPr txBox="1"/>
          <p:nvPr/>
        </p:nvSpPr>
        <p:spPr>
          <a:xfrm>
            <a:off x="457200" y="4184650"/>
            <a:ext cx="11277295" cy="420624"/>
          </a:xfrm>
          <a:prstGeom prst="rect">
            <a:avLst/>
          </a:prstGeom>
          <a:noFill/>
        </p:spPr>
        <p:txBody>
          <a:bodyPr wrap="square" lIns="91440" tIns="18288" rIns="91440" bIns="18288" anchor="ctr" rtlCol="0">
            <a:noAutofit/>
          </a:bodyPr>
          <a:lstStyle/>
          <a:p>
            <a:pPr algn="ctr">
              <a:lnSpc>
                <a:spcPts val="2560"/>
              </a:lnSpc>
              <a:spcBef>
                <a:spcPts val="0"/>
              </a:spcBef>
              <a:spcAft>
                <a:spcPts val="0"/>
              </a:spcAft>
              <a:buNone/>
            </a:pPr>
            <a:r>
              <a:rPr lang="ko-KR" altLang="en-US" sz="1800" b="1" dirty="0">
                <a:solidFill>
                  <a:srgbClr val="1E2A5A"/>
                </a:solidFill>
                <a:latin typeface="맑은 고딕"/>
                <a:ea typeface="맑은 고딕"/>
                <a:cs typeface="맑은 고딕"/>
              </a:rPr>
              <a:t>① </a:t>
            </a:r>
            <a:r>
              <a:rPr lang="en-US" altLang="ko-KR" sz="1800" b="0" dirty="0">
                <a:solidFill>
                  <a:srgbClr val="1F2328"/>
                </a:solidFill>
                <a:latin typeface="Calibri"/>
                <a:ea typeface="맑은 고딕"/>
                <a:cs typeface="Calibri"/>
              </a:rPr>
              <a:t>(A) - (C) - (B)</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② </a:t>
            </a:r>
            <a:r>
              <a:rPr lang="en-US" altLang="ko-KR" sz="1800" b="0" dirty="0">
                <a:solidFill>
                  <a:srgbClr val="1F2328"/>
                </a:solidFill>
                <a:latin typeface="Calibri"/>
                <a:ea typeface="맑은 고딕"/>
                <a:cs typeface="Calibri"/>
              </a:rPr>
              <a:t>(B) - (A) - (C)</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③ </a:t>
            </a:r>
            <a:r>
              <a:rPr lang="en-US" altLang="ko-KR" sz="1800" b="0" dirty="0">
                <a:solidFill>
                  <a:srgbClr val="1F2328"/>
                </a:solidFill>
                <a:latin typeface="Calibri"/>
                <a:ea typeface="맑은 고딕"/>
                <a:cs typeface="Calibri"/>
              </a:rPr>
              <a:t>(B) - (C) - (A)</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④ </a:t>
            </a:r>
            <a:r>
              <a:rPr lang="en-US" altLang="ko-KR" sz="1800" b="0" dirty="0">
                <a:solidFill>
                  <a:srgbClr val="1F2328"/>
                </a:solidFill>
                <a:latin typeface="Calibri"/>
                <a:ea typeface="맑은 고딕"/>
                <a:cs typeface="Calibri"/>
              </a:rPr>
              <a:t>(C) - (A) - (B)</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⑤ </a:t>
            </a:r>
            <a:r>
              <a:rPr lang="en-US" altLang="ko-KR" sz="1800" b="0" dirty="0">
                <a:solidFill>
                  <a:srgbClr val="1F2328"/>
                </a:solidFill>
                <a:latin typeface="Calibri"/>
                <a:ea typeface="맑은 고딕"/>
                <a:cs typeface="Calibri"/>
              </a:rPr>
              <a:t>(C) - (B) - (A)</a:t>
            </a:r>
            <a:endParaRPr lang="en-US" altLang="ko-KR" sz="1800" b="0" dirty="0">
              <a:solidFill>
                <a:srgbClr val="1F2328"/>
              </a:solidFill>
              <a:latin typeface="Calibri"/>
              <a:ea typeface="맑은 고딕"/>
              <a:cs typeface="Calibri"/>
            </a:endParaRPr>
          </a:p>
        </p:txBody>
      </p:sp>
      <p:sp>
        <p:nvSpPr>
          <p:cNvPr id="12" name="rv_pick"/>
          <p:cNvSpPr txBox="1"/>
          <p:nvPr/>
        </p:nvSpPr>
        <p:spPr>
          <a:xfrm>
            <a:off x="457200" y="4184650"/>
            <a:ext cx="11277295" cy="420624"/>
          </a:xfrm>
          <a:prstGeom prst="rect">
            <a:avLst/>
          </a:prstGeom>
          <a:noFill/>
        </p:spPr>
        <p:txBody>
          <a:bodyPr wrap="square" lIns="91440" tIns="18288" rIns="91440" bIns="18288" anchor="ctr" rtlCol="0">
            <a:noAutofit/>
          </a:bodyPr>
          <a:lstStyle/>
          <a:p>
            <a:pPr algn="ctr">
              <a:lnSpc>
                <a:spcPts val="2560"/>
              </a:lnSpc>
              <a:spcBef>
                <a:spcPts val="0"/>
              </a:spcBef>
              <a:spcAft>
                <a:spcPts val="0"/>
              </a:spcAft>
              <a:buNone/>
            </a:pPr>
            <a:r>
              <a:rPr lang="ko-KR" altLang="en-US" sz="1800" b="1" dirty="0">
                <a:solidFill>
                  <a:srgbClr val="1E2A5A">
                    <a:alpha val="0"/>
                  </a:srgbClr>
                </a:solidFill>
                <a:latin typeface="맑은 고딕"/>
                <a:ea typeface="맑은 고딕"/>
                <a:cs typeface="맑은 고딕"/>
              </a:rPr>
              <a:t>① </a:t>
            </a:r>
            <a:r>
              <a:rPr lang="en-US" altLang="ko-KR" sz="1800" b="0" dirty="0">
                <a:solidFill>
                  <a:srgbClr val="1F2328">
                    <a:alpha val="0"/>
                  </a:srgbClr>
                </a:solidFill>
                <a:latin typeface="Calibri"/>
                <a:ea typeface="맑은 고딕"/>
                <a:cs typeface="Calibri"/>
              </a:rPr>
              <a:t>(A) - (C) - (B)</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② </a:t>
            </a:r>
            <a:r>
              <a:rPr lang="en-US" altLang="ko-KR" sz="1800" b="0" dirty="0">
                <a:solidFill>
                  <a:srgbClr val="1F2328">
                    <a:alpha val="0"/>
                  </a:srgbClr>
                </a:solidFill>
                <a:latin typeface="Calibri"/>
                <a:ea typeface="맑은 고딕"/>
                <a:cs typeface="Calibri"/>
              </a:rPr>
              <a:t>(B) - (A) - (C)</a:t>
            </a:r>
            <a:r>
              <a:rPr lang="en-US" altLang="ko-KR" sz="1800" b="0" dirty="0">
                <a:solidFill>
                  <a:srgbClr val="1F2328">
                    <a:alpha val="0"/>
                  </a:srgbClr>
                </a:solidFill>
                <a:latin typeface="Calibri"/>
                <a:ea typeface="맑은 고딕"/>
                <a:cs typeface="Calibri"/>
              </a:rPr>
              <a:t>       </a:t>
            </a:r>
            <a:r>
              <a:rPr lang="ko-KR" altLang="en-US" sz="1800" b="1" dirty="0">
                <a:solidFill>
                  <a:srgbClr val="C00000"/>
                </a:solidFill>
                <a:highlight>
                  <a:srgbClr val="FFFFFF"/>
                </a:highlight>
                <a:latin typeface="맑은 고딕"/>
                <a:ea typeface="맑은 고딕"/>
                <a:cs typeface="맑은 고딕"/>
              </a:rPr>
              <a:t>③ </a:t>
            </a:r>
            <a:r>
              <a:rPr lang="en-US" altLang="ko-KR" sz="1800" b="0" dirty="0">
                <a:solidFill>
                  <a:srgbClr val="C00000"/>
                </a:solidFill>
                <a:highlight>
                  <a:srgbClr val="FFFFFF"/>
                </a:highlight>
                <a:latin typeface="Calibri"/>
                <a:ea typeface="맑은 고딕"/>
                <a:cs typeface="Calibri"/>
              </a:rPr>
              <a:t>(B) - (C) - (A)</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④ </a:t>
            </a:r>
            <a:r>
              <a:rPr lang="en-US" altLang="ko-KR" sz="1800" b="0" dirty="0">
                <a:solidFill>
                  <a:srgbClr val="1F2328">
                    <a:alpha val="0"/>
                  </a:srgbClr>
                </a:solidFill>
                <a:latin typeface="Calibri"/>
                <a:ea typeface="맑은 고딕"/>
                <a:cs typeface="Calibri"/>
              </a:rPr>
              <a:t>(C) - (A) - (B)</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⑤ </a:t>
            </a:r>
            <a:r>
              <a:rPr lang="en-US" altLang="ko-KR" sz="1800" b="0" dirty="0">
                <a:solidFill>
                  <a:srgbClr val="1F2328">
                    <a:alpha val="0"/>
                  </a:srgbClr>
                </a:solidFill>
                <a:latin typeface="Calibri"/>
                <a:ea typeface="맑은 고딕"/>
                <a:cs typeface="Calibri"/>
              </a:rPr>
              <a:t>(C) - (B) - (A)</a:t>
            </a:r>
            <a:endParaRPr lang="en-US" altLang="ko-KR" sz="1800" b="0" dirty="0">
              <a:solidFill>
                <a:srgbClr val="1F2328"/>
              </a:solidFill>
              <a:latin typeface="Calibri"/>
              <a:ea typeface="맑은 고딕"/>
              <a:cs typeface="Calibri"/>
            </a:endParaRPr>
          </a:p>
        </p:txBody>
      </p:sp>
      <p:sp>
        <p:nvSpPr>
          <p:cNvPr id="13" name="rv_answer"/>
          <p:cNvSpPr/>
          <p:nvPr/>
        </p:nvSpPr>
        <p:spPr>
          <a:xfrm>
            <a:off x="457200" y="4696714"/>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③ </a:t>
            </a:r>
            <a:r>
              <a:rPr lang="en-US" altLang="ko-KR" sz="1900" b="1" dirty="0">
                <a:solidFill>
                  <a:srgbClr val="5A4200"/>
                </a:solidFill>
                <a:latin typeface="Calibri"/>
                <a:ea typeface="맑은 고딕"/>
                <a:cs typeface="Calibri"/>
              </a:rPr>
              <a:t>(B) - (C) - (A)</a:t>
            </a:r>
            <a:endParaRPr lang="en-US" altLang="ko-KR" sz="1900" b="1" dirty="0">
              <a:solidFill>
                <a:srgbClr val="5A4200"/>
              </a:solidFill>
              <a:latin typeface="Calibri"/>
              <a:ea typeface="맑은 고딕"/>
              <a:cs typeface="Calibri"/>
            </a:endParaRPr>
          </a:p>
        </p:txBody>
      </p:sp>
      <p:sp>
        <p:nvSpPr>
          <p:cNvPr id="14" name="rv_why"/>
          <p:cNvSpPr/>
          <p:nvPr/>
        </p:nvSpPr>
        <p:spPr>
          <a:xfrm>
            <a:off x="457200" y="5295646"/>
            <a:ext cx="11277295" cy="1123441"/>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(B) 빅데이터가 경기력을 높이며 독일 축구팀을 예로 든다 → (C) 'The team'이 그 팀을 받아 데이터베이스 구축을 말한다 → (A) 'this database'의 도움으로 우승한다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25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250"/>
                                        <p:tgtEl>
                                          <p:spTgt spid="1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2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animBg="1"/>
    </p:bldLst>
  </p:timing>
</p:sld>
</file>

<file path=ppt/slides/slide18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L7-3</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2 · 2</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2. 주어진 글 다음에 이어질 글의 순서로 가장 적절한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7</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정답 원리</a:t>
            </a:r>
            <a:endParaRPr lang="ko-KR" altLang="en-US" sz="1000" b="0" dirty="0">
              <a:solidFill>
                <a:srgbClr val="7A808C"/>
              </a:solidFill>
              <a:latin typeface="맑은 고딕"/>
              <a:ea typeface="맑은 고딕"/>
              <a:cs typeface="맑은 고딕"/>
            </a:endParaRPr>
          </a:p>
        </p:txBody>
      </p:sp>
      <p:sp>
        <p:nvSpPr>
          <p:cNvPr id="7" name="given_card"/>
          <p:cNvSpPr/>
          <p:nvPr/>
        </p:nvSpPr>
        <p:spPr>
          <a:xfrm>
            <a:off x="457200" y="950976"/>
            <a:ext cx="11277295" cy="481838"/>
          </a:xfrm>
          <a:prstGeom prst="roundRect">
            <a:avLst>
              <a:gd name="adj" fmla="val 6000"/>
            </a:avLst>
          </a:prstGeom>
          <a:solidFill>
            <a:srgbClr val="FFFFFF"/>
          </a:solidFill>
          <a:ln w="15875">
            <a:solidFill>
              <a:srgbClr val="1E2A5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given"/>
          <p:cNvSpPr txBox="1"/>
          <p:nvPr/>
        </p:nvSpPr>
        <p:spPr>
          <a:xfrm>
            <a:off x="457200" y="950976"/>
            <a:ext cx="11277295" cy="481838"/>
          </a:xfrm>
          <a:prstGeom prst="rect">
            <a:avLst/>
          </a:prstGeom>
          <a:noFill/>
        </p:spPr>
        <p:txBody>
          <a:bodyPr wrap="square" lIns="201168" tIns="100584" rIns="201168" bIns="100584" anchor="t" rtlCol="0">
            <a:noAutofit/>
          </a:bodyPr>
          <a:lstStyle/>
          <a:p>
            <a:pPr algn="l">
              <a:lnSpc>
                <a:spcPts val="2210"/>
              </a:lnSpc>
              <a:spcBef>
                <a:spcPts val="0"/>
              </a:spcBef>
              <a:spcAft>
                <a:spcPts val="0"/>
              </a:spcAft>
              <a:buNone/>
            </a:pPr>
            <a:r>
              <a:rPr lang="en-US" altLang="ko-KR" sz="1700" b="0" dirty="0">
                <a:solidFill>
                  <a:srgbClr val="1F2328"/>
                </a:solidFill>
                <a:latin typeface="Calibri"/>
                <a:ea typeface="맑은 고딕"/>
                <a:cs typeface="Calibri"/>
              </a:rPr>
              <a:t>Are you a sports fan?</a:t>
            </a:r>
            <a:endParaRPr lang="en-US" altLang="ko-KR" sz="1700" b="0" dirty="0">
              <a:solidFill>
                <a:srgbClr val="1F2328"/>
              </a:solidFill>
              <a:latin typeface="Calibri"/>
              <a:ea typeface="맑은 고딕"/>
              <a:cs typeface="Calibri"/>
            </a:endParaRPr>
          </a:p>
        </p:txBody>
      </p:sp>
      <p:sp>
        <p:nvSpPr>
          <p:cNvPr id="9" name="parts_card"/>
          <p:cNvSpPr/>
          <p:nvPr/>
        </p:nvSpPr>
        <p:spPr>
          <a:xfrm>
            <a:off x="457200" y="1560830"/>
            <a:ext cx="11277295" cy="2514092"/>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parts"/>
          <p:cNvSpPr txBox="1"/>
          <p:nvPr/>
        </p:nvSpPr>
        <p:spPr>
          <a:xfrm>
            <a:off x="457200" y="1560830"/>
            <a:ext cx="11277295" cy="2514092"/>
          </a:xfrm>
          <a:prstGeom prst="rect">
            <a:avLst/>
          </a:prstGeom>
          <a:noFill/>
        </p:spPr>
        <p:txBody>
          <a:bodyPr wrap="square" lIns="201168" tIns="118872" rIns="201168" bIns="118872" anchor="t" rtlCol="0">
            <a:noAutofit/>
          </a:bodyPr>
          <a:lstStyle/>
          <a:p>
            <a:pPr algn="just" marL="453390" indent="-453390">
              <a:lnSpc>
                <a:spcPts val="2210"/>
              </a:lnSpc>
              <a:spcBef>
                <a:spcPts val="0"/>
              </a:spcBef>
              <a:spcAft>
                <a:spcPts val="770"/>
              </a:spcAft>
              <a:buNone/>
              <a:tabLst>
                <a:tab pos="453390" algn="l"/>
              </a:tabLst>
            </a:pPr>
            <a:r>
              <a:rPr lang="en-US" altLang="ko-KR" sz="1700" b="1" dirty="0">
                <a:solidFill>
                  <a:srgbClr val="1E2A5A"/>
                </a:solidFill>
                <a:latin typeface="Calibri"/>
                <a:ea typeface="맑은 고딕"/>
                <a:cs typeface="Calibri"/>
              </a:rPr>
              <a:t>(A)</a:t>
            </a:r>
            <a:r>
              <a:rPr lang="en-US" altLang="ko-KR" sz="1700" b="0" dirty="0">
                <a:solidFill>
                  <a:srgbClr val="1F2328"/>
                </a:solidFill>
                <a:latin typeface="Calibri"/>
                <a:ea typeface="맑은 고딕"/>
                <a:cs typeface="Calibri"/>
              </a:rPr>
              <a:t>	With the help of this database, Germany’s national soccer team was able to improve its performance and win the 2014 World Cup.</a:t>
            </a:r>
            <a:endParaRPr lang="en-US" altLang="ko-KR" sz="1700" b="0" dirty="0">
              <a:solidFill>
                <a:srgbClr val="1F2328"/>
              </a:solidFill>
              <a:latin typeface="Calibri"/>
              <a:ea typeface="맑은 고딕"/>
              <a:cs typeface="Calibri"/>
            </a:endParaRPr>
          </a:p>
          <a:p>
            <a:pPr algn="just" marL="453390" indent="-453390">
              <a:lnSpc>
                <a:spcPts val="2210"/>
              </a:lnSpc>
              <a:spcBef>
                <a:spcPts val="0"/>
              </a:spcBef>
              <a:spcAft>
                <a:spcPts val="770"/>
              </a:spcAft>
              <a:buNone/>
              <a:tabLst>
                <a:tab pos="453390" algn="l"/>
              </a:tabLst>
            </a:pPr>
            <a:r>
              <a:rPr lang="en-US" altLang="ko-KR" sz="1700" b="1" dirty="0">
                <a:solidFill>
                  <a:srgbClr val="1E2A5A"/>
                </a:solidFill>
                <a:latin typeface="Calibri"/>
                <a:ea typeface="맑은 고딕"/>
                <a:cs typeface="Calibri"/>
              </a:rPr>
              <a:t>(B)</a:t>
            </a:r>
            <a:r>
              <a:rPr lang="en-US" altLang="ko-KR" sz="1700" b="0" dirty="0">
                <a:solidFill>
                  <a:srgbClr val="1F2328"/>
                </a:solidFill>
                <a:latin typeface="Calibri"/>
                <a:ea typeface="맑은 고딕"/>
                <a:cs typeface="Calibri"/>
              </a:rPr>
              <a:t>	The team built a database by collecting and analyzing a huge amount of data on players. For example, the data included information about how much each player ran and how long he had the ball.</a:t>
            </a:r>
            <a:endParaRPr lang="en-US" altLang="ko-KR" sz="1700" b="0" dirty="0">
              <a:solidFill>
                <a:srgbClr val="1F2328"/>
              </a:solidFill>
              <a:latin typeface="Calibri"/>
              <a:ea typeface="맑은 고딕"/>
              <a:cs typeface="Calibri"/>
            </a:endParaRPr>
          </a:p>
          <a:p>
            <a:pPr algn="just" marL="453390" indent="-453390">
              <a:lnSpc>
                <a:spcPts val="2210"/>
              </a:lnSpc>
              <a:spcBef>
                <a:spcPts val="0"/>
              </a:spcBef>
              <a:spcAft>
                <a:spcPts val="770"/>
              </a:spcAft>
              <a:buNone/>
              <a:tabLst>
                <a:tab pos="453390" algn="l"/>
              </a:tabLst>
            </a:pPr>
            <a:r>
              <a:rPr lang="en-US" altLang="ko-KR" sz="1700" b="1" dirty="0">
                <a:solidFill>
                  <a:srgbClr val="1E2A5A"/>
                </a:solidFill>
                <a:latin typeface="Calibri"/>
                <a:ea typeface="맑은 고딕"/>
                <a:cs typeface="Calibri"/>
              </a:rPr>
              <a:t>(C)</a:t>
            </a:r>
            <a:r>
              <a:rPr lang="en-US" altLang="ko-KR" sz="1700" b="0" dirty="0">
                <a:solidFill>
                  <a:srgbClr val="1F2328"/>
                </a:solidFill>
                <a:latin typeface="Calibri"/>
                <a:ea typeface="맑은 고딕"/>
                <a:cs typeface="Calibri"/>
              </a:rPr>
              <a:t>	Well, big data is improving the performance of players, making sports more exciting. A famous example is Germany’s national soccer team.</a:t>
            </a:r>
            <a:endParaRPr lang="en-US" altLang="ko-KR" sz="1700" b="0" dirty="0">
              <a:solidFill>
                <a:srgbClr val="1F2328"/>
              </a:solidFill>
              <a:latin typeface="Calibri"/>
              <a:ea typeface="맑은 고딕"/>
              <a:cs typeface="Calibri"/>
            </a:endParaRPr>
          </a:p>
        </p:txBody>
      </p:sp>
      <p:sp>
        <p:nvSpPr>
          <p:cNvPr id="11" name="options"/>
          <p:cNvSpPr txBox="1"/>
          <p:nvPr/>
        </p:nvSpPr>
        <p:spPr>
          <a:xfrm>
            <a:off x="457200" y="4184650"/>
            <a:ext cx="11277295" cy="420624"/>
          </a:xfrm>
          <a:prstGeom prst="rect">
            <a:avLst/>
          </a:prstGeom>
          <a:noFill/>
        </p:spPr>
        <p:txBody>
          <a:bodyPr wrap="square" lIns="91440" tIns="18288" rIns="91440" bIns="18288" anchor="ctr" rtlCol="0">
            <a:noAutofit/>
          </a:bodyPr>
          <a:lstStyle/>
          <a:p>
            <a:pPr algn="ctr">
              <a:lnSpc>
                <a:spcPts val="2560"/>
              </a:lnSpc>
              <a:spcBef>
                <a:spcPts val="0"/>
              </a:spcBef>
              <a:spcAft>
                <a:spcPts val="0"/>
              </a:spcAft>
              <a:buNone/>
            </a:pPr>
            <a:r>
              <a:rPr lang="ko-KR" altLang="en-US" sz="1800" b="1" dirty="0">
                <a:solidFill>
                  <a:srgbClr val="1E2A5A"/>
                </a:solidFill>
                <a:latin typeface="맑은 고딕"/>
                <a:ea typeface="맑은 고딕"/>
                <a:cs typeface="맑은 고딕"/>
              </a:rPr>
              <a:t>① </a:t>
            </a:r>
            <a:r>
              <a:rPr lang="en-US" altLang="ko-KR" sz="1800" b="0" dirty="0">
                <a:solidFill>
                  <a:srgbClr val="1F2328"/>
                </a:solidFill>
                <a:latin typeface="Calibri"/>
                <a:ea typeface="맑은 고딕"/>
                <a:cs typeface="Calibri"/>
              </a:rPr>
              <a:t>(A) - (C) - (B)</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② </a:t>
            </a:r>
            <a:r>
              <a:rPr lang="en-US" altLang="ko-KR" sz="1800" b="0" dirty="0">
                <a:solidFill>
                  <a:srgbClr val="1F2328"/>
                </a:solidFill>
                <a:latin typeface="Calibri"/>
                <a:ea typeface="맑은 고딕"/>
                <a:cs typeface="Calibri"/>
              </a:rPr>
              <a:t>(B) - (A) - (C)</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③ </a:t>
            </a:r>
            <a:r>
              <a:rPr lang="en-US" altLang="ko-KR" sz="1800" b="0" dirty="0">
                <a:solidFill>
                  <a:srgbClr val="1F2328"/>
                </a:solidFill>
                <a:latin typeface="Calibri"/>
                <a:ea typeface="맑은 고딕"/>
                <a:cs typeface="Calibri"/>
              </a:rPr>
              <a:t>(B) - (C) - (A)</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④ </a:t>
            </a:r>
            <a:r>
              <a:rPr lang="en-US" altLang="ko-KR" sz="1800" b="0" dirty="0">
                <a:solidFill>
                  <a:srgbClr val="1F2328"/>
                </a:solidFill>
                <a:latin typeface="Calibri"/>
                <a:ea typeface="맑은 고딕"/>
                <a:cs typeface="Calibri"/>
              </a:rPr>
              <a:t>(C) - (A) - (B)</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⑤ </a:t>
            </a:r>
            <a:r>
              <a:rPr lang="en-US" altLang="ko-KR" sz="1800" b="0" dirty="0">
                <a:solidFill>
                  <a:srgbClr val="1F2328"/>
                </a:solidFill>
                <a:latin typeface="Calibri"/>
                <a:ea typeface="맑은 고딕"/>
                <a:cs typeface="Calibri"/>
              </a:rPr>
              <a:t>(C) - (B) - (A)</a:t>
            </a:r>
            <a:endParaRPr lang="en-US" altLang="ko-KR" sz="1800" b="0" dirty="0">
              <a:solidFill>
                <a:srgbClr val="1F2328"/>
              </a:solidFill>
              <a:latin typeface="Calibri"/>
              <a:ea typeface="맑은 고딕"/>
              <a:cs typeface="Calibri"/>
            </a:endParaRPr>
          </a:p>
        </p:txBody>
      </p:sp>
      <p:sp>
        <p:nvSpPr>
          <p:cNvPr id="12" name="rv_pick"/>
          <p:cNvSpPr txBox="1"/>
          <p:nvPr/>
        </p:nvSpPr>
        <p:spPr>
          <a:xfrm>
            <a:off x="457200" y="4184650"/>
            <a:ext cx="11277295" cy="420624"/>
          </a:xfrm>
          <a:prstGeom prst="rect">
            <a:avLst/>
          </a:prstGeom>
          <a:noFill/>
        </p:spPr>
        <p:txBody>
          <a:bodyPr wrap="square" lIns="91440" tIns="18288" rIns="91440" bIns="18288" anchor="ctr" rtlCol="0">
            <a:noAutofit/>
          </a:bodyPr>
          <a:lstStyle/>
          <a:p>
            <a:pPr algn="ctr">
              <a:lnSpc>
                <a:spcPts val="2560"/>
              </a:lnSpc>
              <a:spcBef>
                <a:spcPts val="0"/>
              </a:spcBef>
              <a:spcAft>
                <a:spcPts val="0"/>
              </a:spcAft>
              <a:buNone/>
            </a:pPr>
            <a:r>
              <a:rPr lang="ko-KR" altLang="en-US" sz="1800" b="1" dirty="0">
                <a:solidFill>
                  <a:srgbClr val="1E2A5A">
                    <a:alpha val="0"/>
                  </a:srgbClr>
                </a:solidFill>
                <a:latin typeface="맑은 고딕"/>
                <a:ea typeface="맑은 고딕"/>
                <a:cs typeface="맑은 고딕"/>
              </a:rPr>
              <a:t>① </a:t>
            </a:r>
            <a:r>
              <a:rPr lang="en-US" altLang="ko-KR" sz="1800" b="0" dirty="0">
                <a:solidFill>
                  <a:srgbClr val="1F2328">
                    <a:alpha val="0"/>
                  </a:srgbClr>
                </a:solidFill>
                <a:latin typeface="Calibri"/>
                <a:ea typeface="맑은 고딕"/>
                <a:cs typeface="Calibri"/>
              </a:rPr>
              <a:t>(A) - (C) - (B)</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② </a:t>
            </a:r>
            <a:r>
              <a:rPr lang="en-US" altLang="ko-KR" sz="1800" b="0" dirty="0">
                <a:solidFill>
                  <a:srgbClr val="1F2328">
                    <a:alpha val="0"/>
                  </a:srgbClr>
                </a:solidFill>
                <a:latin typeface="Calibri"/>
                <a:ea typeface="맑은 고딕"/>
                <a:cs typeface="Calibri"/>
              </a:rPr>
              <a:t>(B) - (A) - (C)</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③ </a:t>
            </a:r>
            <a:r>
              <a:rPr lang="en-US" altLang="ko-KR" sz="1800" b="0" dirty="0">
                <a:solidFill>
                  <a:srgbClr val="1F2328">
                    <a:alpha val="0"/>
                  </a:srgbClr>
                </a:solidFill>
                <a:latin typeface="Calibri"/>
                <a:ea typeface="맑은 고딕"/>
                <a:cs typeface="Calibri"/>
              </a:rPr>
              <a:t>(B) - (C) - (A)</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④ </a:t>
            </a:r>
            <a:r>
              <a:rPr lang="en-US" altLang="ko-KR" sz="1800" b="0" dirty="0">
                <a:solidFill>
                  <a:srgbClr val="1F2328">
                    <a:alpha val="0"/>
                  </a:srgbClr>
                </a:solidFill>
                <a:latin typeface="Calibri"/>
                <a:ea typeface="맑은 고딕"/>
                <a:cs typeface="Calibri"/>
              </a:rPr>
              <a:t>(C) - (A) - (B)</a:t>
            </a:r>
            <a:r>
              <a:rPr lang="en-US" altLang="ko-KR" sz="1800" b="0" dirty="0">
                <a:solidFill>
                  <a:srgbClr val="1F2328">
                    <a:alpha val="0"/>
                  </a:srgbClr>
                </a:solidFill>
                <a:latin typeface="Calibri"/>
                <a:ea typeface="맑은 고딕"/>
                <a:cs typeface="Calibri"/>
              </a:rPr>
              <a:t>       </a:t>
            </a:r>
            <a:r>
              <a:rPr lang="ko-KR" altLang="en-US" sz="1800" b="1" dirty="0">
                <a:solidFill>
                  <a:srgbClr val="C00000"/>
                </a:solidFill>
                <a:highlight>
                  <a:srgbClr val="FFFFFF"/>
                </a:highlight>
                <a:latin typeface="맑은 고딕"/>
                <a:ea typeface="맑은 고딕"/>
                <a:cs typeface="맑은 고딕"/>
              </a:rPr>
              <a:t>⑤ </a:t>
            </a:r>
            <a:r>
              <a:rPr lang="en-US" altLang="ko-KR" sz="1800" b="0" dirty="0">
                <a:solidFill>
                  <a:srgbClr val="C00000"/>
                </a:solidFill>
                <a:highlight>
                  <a:srgbClr val="FFFFFF"/>
                </a:highlight>
                <a:latin typeface="Calibri"/>
                <a:ea typeface="맑은 고딕"/>
                <a:cs typeface="Calibri"/>
              </a:rPr>
              <a:t>(C) - (B) - (A)</a:t>
            </a:r>
            <a:endParaRPr lang="en-US" altLang="ko-KR" sz="1800" b="0" dirty="0">
              <a:solidFill>
                <a:srgbClr val="C00000"/>
              </a:solidFill>
              <a:latin typeface="Calibri"/>
              <a:ea typeface="맑은 고딕"/>
              <a:cs typeface="Calibri"/>
            </a:endParaRPr>
          </a:p>
        </p:txBody>
      </p:sp>
      <p:sp>
        <p:nvSpPr>
          <p:cNvPr id="13" name="rv_answer"/>
          <p:cNvSpPr/>
          <p:nvPr/>
        </p:nvSpPr>
        <p:spPr>
          <a:xfrm>
            <a:off x="457200" y="4696714"/>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⑤ </a:t>
            </a:r>
            <a:r>
              <a:rPr lang="en-US" altLang="ko-KR" sz="1900" b="1" dirty="0">
                <a:solidFill>
                  <a:srgbClr val="5A4200"/>
                </a:solidFill>
                <a:latin typeface="Calibri"/>
                <a:ea typeface="맑은 고딕"/>
                <a:cs typeface="Calibri"/>
              </a:rPr>
              <a:t>(C) - (B) - (A)</a:t>
            </a:r>
            <a:endParaRPr lang="en-US" altLang="ko-KR" sz="1900" b="1" dirty="0">
              <a:solidFill>
                <a:srgbClr val="5A4200"/>
              </a:solidFill>
              <a:latin typeface="Calibri"/>
              <a:ea typeface="맑은 고딕"/>
              <a:cs typeface="Calibri"/>
            </a:endParaRPr>
          </a:p>
        </p:txBody>
      </p:sp>
      <p:sp>
        <p:nvSpPr>
          <p:cNvPr id="14" name="rv_why"/>
          <p:cNvSpPr/>
          <p:nvPr/>
        </p:nvSpPr>
        <p:spPr>
          <a:xfrm>
            <a:off x="457200" y="5295646"/>
            <a:ext cx="11277295" cy="1123441"/>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(C) 빅데이터가 경기력을 높인 예로 독일 축구팀을 든다 → (B) 'The team'이 데이터베이스를 구축한다 → (A) 'this database'가 그것을 받아 월드컵 우승으로 맺는다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25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250"/>
                                        <p:tgtEl>
                                          <p:spTgt spid="1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2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animBg="1"/>
    </p:bldLst>
  </p:timing>
</p:sld>
</file>

<file path=ppt/slides/slide18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L7-3</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2 · 3</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3. 글의 흐름으로 보아, 주어진 문장이 들어가기에 가장 적절한 곳은?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7</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정답 원리</a:t>
            </a:r>
            <a:endParaRPr lang="ko-KR" altLang="en-US" sz="1000" b="0" dirty="0">
              <a:solidFill>
                <a:srgbClr val="7A808C"/>
              </a:solidFill>
              <a:latin typeface="맑은 고딕"/>
              <a:ea typeface="맑은 고딕"/>
              <a:cs typeface="맑은 고딕"/>
            </a:endParaRPr>
          </a:p>
        </p:txBody>
      </p:sp>
      <p:sp>
        <p:nvSpPr>
          <p:cNvPr id="7" name="given_card"/>
          <p:cNvSpPr/>
          <p:nvPr/>
        </p:nvSpPr>
        <p:spPr>
          <a:xfrm>
            <a:off x="457200" y="950976"/>
            <a:ext cx="11277295" cy="813308"/>
          </a:xfrm>
          <a:prstGeom prst="roundRect">
            <a:avLst>
              <a:gd name="adj" fmla="val 6000"/>
            </a:avLst>
          </a:prstGeom>
          <a:solidFill>
            <a:srgbClr val="FFFFFF"/>
          </a:solidFill>
          <a:ln w="15875">
            <a:solidFill>
              <a:srgbClr val="1E2A5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given"/>
          <p:cNvSpPr txBox="1"/>
          <p:nvPr/>
        </p:nvSpPr>
        <p:spPr>
          <a:xfrm>
            <a:off x="457200" y="950976"/>
            <a:ext cx="11277295" cy="813308"/>
          </a:xfrm>
          <a:prstGeom prst="rect">
            <a:avLst/>
          </a:prstGeom>
          <a:noFill/>
        </p:spPr>
        <p:txBody>
          <a:bodyPr wrap="square" lIns="201168" tIns="100584" rIns="201168" bIns="100584"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주어진 문장</a:t>
            </a:r>
            <a:r>
              <a:rPr lang="en-US" altLang="ko-KR" sz="1700" b="0" dirty="0">
                <a:solidFill>
                  <a:srgbClr val="1F2328"/>
                </a:solidFill>
                <a:latin typeface="Calibri"/>
                <a:ea typeface="맑은 고딕"/>
                <a:cs typeface="Calibri"/>
              </a:rPr>
              <a:t>   The team built a database by collecting and analyzing a huge amount of data on players.</a:t>
            </a:r>
            <a:endParaRPr lang="en-US" altLang="ko-KR" sz="1700" b="0" dirty="0">
              <a:solidFill>
                <a:srgbClr val="1F2328"/>
              </a:solidFill>
              <a:latin typeface="Calibri"/>
              <a:ea typeface="맑은 고딕"/>
              <a:cs typeface="Calibri"/>
            </a:endParaRPr>
          </a:p>
        </p:txBody>
      </p:sp>
      <p:sp>
        <p:nvSpPr>
          <p:cNvPr id="9" name="passage_card"/>
          <p:cNvSpPr/>
          <p:nvPr/>
        </p:nvSpPr>
        <p:spPr>
          <a:xfrm>
            <a:off x="457200" y="1910587"/>
            <a:ext cx="11277295" cy="189991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passage"/>
          <p:cNvSpPr txBox="1"/>
          <p:nvPr/>
        </p:nvSpPr>
        <p:spPr>
          <a:xfrm>
            <a:off x="457200" y="1910587"/>
            <a:ext cx="11277295" cy="1899919"/>
          </a:xfrm>
          <a:prstGeom prst="rect">
            <a:avLst/>
          </a:prstGeom>
          <a:noFill/>
        </p:spPr>
        <p:txBody>
          <a:bodyPr wrap="square" lIns="201168" tIns="118872" rIns="201168" bIns="118872" anchor="t" rtlCol="0">
            <a:noAutofit/>
          </a:bodyPr>
          <a:lstStyle/>
          <a:p>
            <a:pPr algn="just">
              <a:lnSpc>
                <a:spcPts val="2560"/>
              </a:lnSpc>
              <a:spcBef>
                <a:spcPts val="0"/>
              </a:spcBef>
              <a:spcAft>
                <a:spcPts val="0"/>
              </a:spcAft>
              <a:buNone/>
            </a:pPr>
            <a:r>
              <a:rPr lang="en-US" altLang="ko-KR" sz="1700" b="0" dirty="0">
                <a:solidFill>
                  <a:srgbClr val="1F2328"/>
                </a:solidFill>
                <a:latin typeface="Calibri"/>
                <a:ea typeface="맑은 고딕"/>
                <a:cs typeface="Calibri"/>
              </a:rPr>
              <a:t>Are you a sports fan? </a:t>
            </a:r>
            <a:r>
              <a:rPr lang="ko-KR" altLang="en-US" sz="1800" b="1" dirty="0">
                <a:solidFill>
                  <a:srgbClr val="1E2A5A"/>
                </a:solidFill>
                <a:latin typeface="맑은 고딕"/>
                <a:ea typeface="맑은 고딕"/>
                <a:cs typeface="맑은 고딕"/>
              </a:rPr>
              <a:t>②</a:t>
            </a:r>
            <a:r>
              <a:rPr lang="en-US" altLang="ko-KR" sz="1700" b="0" dirty="0">
                <a:solidFill>
                  <a:srgbClr val="1F2328"/>
                </a:solidFill>
                <a:latin typeface="Calibri"/>
                <a:ea typeface="맑은 고딕"/>
                <a:cs typeface="Calibri"/>
              </a:rPr>
              <a:t> Well, big data is improving the performance of players, making sports more exciting. </a:t>
            </a:r>
            <a:r>
              <a:rPr lang="ko-KR" altLang="en-US" sz="1800" b="1" dirty="0">
                <a:solidFill>
                  <a:srgbClr val="1E2A5A"/>
                </a:solidFill>
                <a:latin typeface="맑은 고딕"/>
                <a:ea typeface="맑은 고딕"/>
                <a:cs typeface="맑은 고딕"/>
              </a:rPr>
              <a:t>③</a:t>
            </a:r>
            <a:r>
              <a:rPr lang="en-US" altLang="ko-KR" sz="1700" b="0" dirty="0">
                <a:solidFill>
                  <a:srgbClr val="1F2328"/>
                </a:solidFill>
                <a:latin typeface="Calibri"/>
                <a:ea typeface="맑은 고딕"/>
                <a:cs typeface="Calibri"/>
              </a:rPr>
              <a:t> A famous example is Germany’s national soccer team. </a:t>
            </a:r>
            <a:r>
              <a:rPr lang="ko-KR" altLang="en-US" sz="1800" b="1" dirty="0">
                <a:solidFill>
                  <a:srgbClr val="1E2A5A"/>
                </a:solidFill>
                <a:latin typeface="맑은 고딕"/>
                <a:ea typeface="맑은 고딕"/>
                <a:cs typeface="맑은 고딕"/>
              </a:rPr>
              <a:t>④</a:t>
            </a:r>
            <a:r>
              <a:rPr lang="en-US" altLang="ko-KR" sz="1700" b="0" dirty="0">
                <a:solidFill>
                  <a:srgbClr val="1F2328"/>
                </a:solidFill>
                <a:latin typeface="Calibri"/>
                <a:ea typeface="맑은 고딕"/>
                <a:cs typeface="Calibri"/>
              </a:rPr>
              <a:t> For example, the data included information about how much each player ran and how long he had the ball. </a:t>
            </a:r>
            <a:r>
              <a:rPr lang="ko-KR" altLang="en-US" sz="1800" b="1" dirty="0">
                <a:solidFill>
                  <a:srgbClr val="1E2A5A"/>
                </a:solidFill>
                <a:latin typeface="맑은 고딕"/>
                <a:ea typeface="맑은 고딕"/>
                <a:cs typeface="맑은 고딕"/>
              </a:rPr>
              <a:t>⑤</a:t>
            </a:r>
            <a:r>
              <a:rPr lang="en-US" altLang="ko-KR" sz="1700" b="0" dirty="0">
                <a:solidFill>
                  <a:srgbClr val="1F2328"/>
                </a:solidFill>
                <a:latin typeface="Calibri"/>
                <a:ea typeface="맑은 고딕"/>
                <a:cs typeface="Calibri"/>
              </a:rPr>
              <a:t> With the help of this database, Germany’s national soccer team was able to improve its performance and win the 2014 World Cup.</a:t>
            </a:r>
            <a:endParaRPr lang="en-US" altLang="ko-KR" sz="1700" b="0" dirty="0">
              <a:solidFill>
                <a:srgbClr val="1F2328"/>
              </a:solidFill>
              <a:latin typeface="Calibri"/>
              <a:ea typeface="맑은 고딕"/>
              <a:cs typeface="Calibri"/>
            </a:endParaRPr>
          </a:p>
        </p:txBody>
      </p:sp>
      <p:sp>
        <p:nvSpPr>
          <p:cNvPr id="11" name="rv_pick"/>
          <p:cNvSpPr txBox="1"/>
          <p:nvPr/>
        </p:nvSpPr>
        <p:spPr>
          <a:xfrm>
            <a:off x="457200" y="1910587"/>
            <a:ext cx="11277295" cy="1899919"/>
          </a:xfrm>
          <a:prstGeom prst="rect">
            <a:avLst/>
          </a:prstGeom>
          <a:noFill/>
        </p:spPr>
        <p:txBody>
          <a:bodyPr wrap="square" lIns="201168" tIns="118872" rIns="201168" bIns="118872" anchor="t" rtlCol="0">
            <a:noAutofit/>
          </a:bodyPr>
          <a:lstStyle/>
          <a:p>
            <a:pPr algn="just">
              <a:lnSpc>
                <a:spcPts val="2560"/>
              </a:lnSpc>
              <a:spcBef>
                <a:spcPts val="0"/>
              </a:spcBef>
              <a:spcAft>
                <a:spcPts val="0"/>
              </a:spcAft>
              <a:buNone/>
            </a:pPr>
            <a:r>
              <a:rPr lang="en-US" altLang="ko-KR" sz="1700" b="0" dirty="0">
                <a:solidFill>
                  <a:srgbClr val="1F2328">
                    <a:alpha val="0"/>
                  </a:srgbClr>
                </a:solidFill>
                <a:latin typeface="Calibri"/>
                <a:ea typeface="맑은 고딕"/>
                <a:cs typeface="Calibri"/>
              </a:rPr>
              <a:t>Are you a sports fan? </a:t>
            </a:r>
            <a:r>
              <a:rPr lang="ko-KR" altLang="en-US" sz="1800" b="1" dirty="0">
                <a:solidFill>
                  <a:srgbClr val="1E2A5A">
                    <a:alpha val="0"/>
                  </a:srgbClr>
                </a:solidFill>
                <a:latin typeface="맑은 고딕"/>
                <a:ea typeface="맑은 고딕"/>
                <a:cs typeface="맑은 고딕"/>
              </a:rPr>
              <a:t>②</a:t>
            </a:r>
            <a:r>
              <a:rPr lang="en-US" altLang="ko-KR" sz="1700" b="0" dirty="0">
                <a:solidFill>
                  <a:srgbClr val="1F2328">
                    <a:alpha val="0"/>
                  </a:srgbClr>
                </a:solidFill>
                <a:latin typeface="Calibri"/>
                <a:ea typeface="맑은 고딕"/>
                <a:cs typeface="Calibri"/>
              </a:rPr>
              <a:t> Well, big data is improving the performance of players, making sports more exciting. </a:t>
            </a:r>
            <a:r>
              <a:rPr lang="ko-KR" altLang="en-US" sz="1800" b="1" dirty="0">
                <a:solidFill>
                  <a:srgbClr val="1E2A5A">
                    <a:alpha val="0"/>
                  </a:srgbClr>
                </a:solidFill>
                <a:latin typeface="맑은 고딕"/>
                <a:ea typeface="맑은 고딕"/>
                <a:cs typeface="맑은 고딕"/>
              </a:rPr>
              <a:t>③</a:t>
            </a:r>
            <a:r>
              <a:rPr lang="en-US" altLang="ko-KR" sz="1700" b="0" dirty="0">
                <a:solidFill>
                  <a:srgbClr val="1F2328">
                    <a:alpha val="0"/>
                  </a:srgbClr>
                </a:solidFill>
                <a:latin typeface="Calibri"/>
                <a:ea typeface="맑은 고딕"/>
                <a:cs typeface="Calibri"/>
              </a:rPr>
              <a:t> A famous example is Germany’s national soccer team. </a:t>
            </a:r>
            <a:r>
              <a:rPr lang="ko-KR" altLang="en-US" sz="1800" b="1" dirty="0">
                <a:solidFill>
                  <a:srgbClr val="C00000"/>
                </a:solidFill>
                <a:highlight>
                  <a:srgbClr val="F3F5F9"/>
                </a:highlight>
                <a:latin typeface="맑은 고딕"/>
                <a:ea typeface="맑은 고딕"/>
                <a:cs typeface="맑은 고딕"/>
              </a:rPr>
              <a:t>④</a:t>
            </a:r>
            <a:r>
              <a:rPr lang="en-US" altLang="ko-KR" sz="1700" b="0" dirty="0">
                <a:solidFill>
                  <a:srgbClr val="1F2328">
                    <a:alpha val="0"/>
                  </a:srgbClr>
                </a:solidFill>
                <a:latin typeface="Calibri"/>
                <a:ea typeface="맑은 고딕"/>
                <a:cs typeface="Calibri"/>
              </a:rPr>
              <a:t> For example, the data included information about how much each player ran and how long he had the ball. </a:t>
            </a:r>
            <a:r>
              <a:rPr lang="ko-KR" altLang="en-US" sz="1800" b="1" dirty="0">
                <a:solidFill>
                  <a:srgbClr val="1E2A5A">
                    <a:alpha val="0"/>
                  </a:srgbClr>
                </a:solidFill>
                <a:latin typeface="맑은 고딕"/>
                <a:ea typeface="맑은 고딕"/>
                <a:cs typeface="맑은 고딕"/>
              </a:rPr>
              <a:t>⑤</a:t>
            </a:r>
            <a:r>
              <a:rPr lang="en-US" altLang="ko-KR" sz="1700" b="0" dirty="0">
                <a:solidFill>
                  <a:srgbClr val="1F2328">
                    <a:alpha val="0"/>
                  </a:srgbClr>
                </a:solidFill>
                <a:latin typeface="Calibri"/>
                <a:ea typeface="맑은 고딕"/>
                <a:cs typeface="Calibri"/>
              </a:rPr>
              <a:t> With the help of this database, Germany’s national soccer team was able to improve its performance and win the 2014 World Cup.</a:t>
            </a:r>
            <a:endParaRPr lang="en-US" altLang="ko-KR" sz="1700" b="0" dirty="0">
              <a:solidFill>
                <a:srgbClr val="1F2328"/>
              </a:solidFill>
              <a:latin typeface="Calibri"/>
              <a:ea typeface="맑은 고딕"/>
              <a:cs typeface="Calibri"/>
            </a:endParaRPr>
          </a:p>
        </p:txBody>
      </p:sp>
      <p:sp>
        <p:nvSpPr>
          <p:cNvPr id="12" name="rv_answer"/>
          <p:cNvSpPr/>
          <p:nvPr/>
        </p:nvSpPr>
        <p:spPr>
          <a:xfrm>
            <a:off x="457200" y="3920235"/>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④</a:t>
            </a:r>
            <a:endParaRPr lang="ko-KR" altLang="en-US" sz="1900" b="1" dirty="0">
              <a:solidFill>
                <a:srgbClr val="5A4200"/>
              </a:solidFill>
              <a:latin typeface="맑은 고딕"/>
              <a:ea typeface="맑은 고딕"/>
              <a:cs typeface="맑은 고딕"/>
            </a:endParaRPr>
          </a:p>
        </p:txBody>
      </p:sp>
      <p:sp>
        <p:nvSpPr>
          <p:cNvPr id="13" name="rv_why"/>
          <p:cNvSpPr/>
          <p:nvPr/>
        </p:nvSpPr>
        <p:spPr>
          <a:xfrm>
            <a:off x="457200" y="4519168"/>
            <a:ext cx="11277295" cy="189991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주어진 문장의 'The team'은 독일 축구팀이고, 'the data'와 'this database'가 그 데이터베이스를 가리킨다. 팀 소개와 데이터 예시 사이인 ④가 자리다.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25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25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2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Lst>
  </p:timing>
</p:sld>
</file>

<file path=ppt/slides/slide19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L7-3</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2 · 4</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4. 글의 흐름으로 보아, 주어진 문장이 들어가기에 가장 적절한 곳은?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7</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정답 원리</a:t>
            </a:r>
            <a:endParaRPr lang="ko-KR" altLang="en-US" sz="1000" b="0" dirty="0">
              <a:solidFill>
                <a:srgbClr val="7A808C"/>
              </a:solidFill>
              <a:latin typeface="맑은 고딕"/>
              <a:ea typeface="맑은 고딕"/>
              <a:cs typeface="맑은 고딕"/>
            </a:endParaRPr>
          </a:p>
        </p:txBody>
      </p:sp>
      <p:sp>
        <p:nvSpPr>
          <p:cNvPr id="7" name="given_card"/>
          <p:cNvSpPr/>
          <p:nvPr/>
        </p:nvSpPr>
        <p:spPr>
          <a:xfrm>
            <a:off x="457200" y="950976"/>
            <a:ext cx="11277295" cy="813308"/>
          </a:xfrm>
          <a:prstGeom prst="roundRect">
            <a:avLst>
              <a:gd name="adj" fmla="val 6000"/>
            </a:avLst>
          </a:prstGeom>
          <a:solidFill>
            <a:srgbClr val="FFFFFF"/>
          </a:solidFill>
          <a:ln w="15875">
            <a:solidFill>
              <a:srgbClr val="1E2A5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given"/>
          <p:cNvSpPr txBox="1"/>
          <p:nvPr/>
        </p:nvSpPr>
        <p:spPr>
          <a:xfrm>
            <a:off x="457200" y="950976"/>
            <a:ext cx="11277295" cy="813308"/>
          </a:xfrm>
          <a:prstGeom prst="rect">
            <a:avLst/>
          </a:prstGeom>
          <a:noFill/>
        </p:spPr>
        <p:txBody>
          <a:bodyPr wrap="square" lIns="201168" tIns="100584" rIns="201168" bIns="100584"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주어진 문장</a:t>
            </a:r>
            <a:r>
              <a:rPr lang="en-US" altLang="ko-KR" sz="1700" b="0" dirty="0">
                <a:solidFill>
                  <a:srgbClr val="1F2328"/>
                </a:solidFill>
                <a:latin typeface="Calibri"/>
                <a:ea typeface="맑은 고딕"/>
                <a:cs typeface="Calibri"/>
              </a:rPr>
              <a:t>   For example, the data included information about how much each player ran and how long he had the ball.</a:t>
            </a:r>
            <a:endParaRPr lang="en-US" altLang="ko-KR" sz="1700" b="0" dirty="0">
              <a:solidFill>
                <a:srgbClr val="1F2328"/>
              </a:solidFill>
              <a:latin typeface="Calibri"/>
              <a:ea typeface="맑은 고딕"/>
              <a:cs typeface="Calibri"/>
            </a:endParaRPr>
          </a:p>
        </p:txBody>
      </p:sp>
      <p:sp>
        <p:nvSpPr>
          <p:cNvPr id="9" name="passage_card"/>
          <p:cNvSpPr/>
          <p:nvPr/>
        </p:nvSpPr>
        <p:spPr>
          <a:xfrm>
            <a:off x="457200" y="1910587"/>
            <a:ext cx="11277295" cy="189991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passage"/>
          <p:cNvSpPr txBox="1"/>
          <p:nvPr/>
        </p:nvSpPr>
        <p:spPr>
          <a:xfrm>
            <a:off x="457200" y="1910587"/>
            <a:ext cx="11277295" cy="1899919"/>
          </a:xfrm>
          <a:prstGeom prst="rect">
            <a:avLst/>
          </a:prstGeom>
          <a:noFill/>
        </p:spPr>
        <p:txBody>
          <a:bodyPr wrap="square" lIns="201168" tIns="118872" rIns="201168" bIns="118872" anchor="t" rtlCol="0">
            <a:noAutofit/>
          </a:bodyPr>
          <a:lstStyle/>
          <a:p>
            <a:pPr algn="just">
              <a:lnSpc>
                <a:spcPts val="2560"/>
              </a:lnSpc>
              <a:spcBef>
                <a:spcPts val="0"/>
              </a:spcBef>
              <a:spcAft>
                <a:spcPts val="0"/>
              </a:spcAft>
              <a:buNone/>
            </a:pPr>
            <a:r>
              <a:rPr lang="en-US" altLang="ko-KR" sz="1700" b="0" dirty="0">
                <a:solidFill>
                  <a:srgbClr val="1F2328"/>
                </a:solidFill>
                <a:latin typeface="Calibri"/>
                <a:ea typeface="맑은 고딕"/>
                <a:cs typeface="Calibri"/>
              </a:rPr>
              <a:t>Are you a sports fan? </a:t>
            </a:r>
            <a:r>
              <a:rPr lang="ko-KR" altLang="en-US" sz="1800" b="1" dirty="0">
                <a:solidFill>
                  <a:srgbClr val="1E2A5A"/>
                </a:solidFill>
                <a:latin typeface="맑은 고딕"/>
                <a:ea typeface="맑은 고딕"/>
                <a:cs typeface="맑은 고딕"/>
              </a:rPr>
              <a:t>②</a:t>
            </a:r>
            <a:r>
              <a:rPr lang="en-US" altLang="ko-KR" sz="1700" b="0" dirty="0">
                <a:solidFill>
                  <a:srgbClr val="1F2328"/>
                </a:solidFill>
                <a:latin typeface="Calibri"/>
                <a:ea typeface="맑은 고딕"/>
                <a:cs typeface="Calibri"/>
              </a:rPr>
              <a:t> Well, big data is improving the performance of players, making sports more exciting. </a:t>
            </a:r>
            <a:r>
              <a:rPr lang="ko-KR" altLang="en-US" sz="1800" b="1" dirty="0">
                <a:solidFill>
                  <a:srgbClr val="1E2A5A"/>
                </a:solidFill>
                <a:latin typeface="맑은 고딕"/>
                <a:ea typeface="맑은 고딕"/>
                <a:cs typeface="맑은 고딕"/>
              </a:rPr>
              <a:t>③</a:t>
            </a:r>
            <a:r>
              <a:rPr lang="en-US" altLang="ko-KR" sz="1700" b="0" dirty="0">
                <a:solidFill>
                  <a:srgbClr val="1F2328"/>
                </a:solidFill>
                <a:latin typeface="Calibri"/>
                <a:ea typeface="맑은 고딕"/>
                <a:cs typeface="Calibri"/>
              </a:rPr>
              <a:t> A famous example is Germany’s national soccer team. </a:t>
            </a:r>
            <a:r>
              <a:rPr lang="ko-KR" altLang="en-US" sz="1800" b="1" dirty="0">
                <a:solidFill>
                  <a:srgbClr val="1E2A5A"/>
                </a:solidFill>
                <a:latin typeface="맑은 고딕"/>
                <a:ea typeface="맑은 고딕"/>
                <a:cs typeface="맑은 고딕"/>
              </a:rPr>
              <a:t>④</a:t>
            </a:r>
            <a:r>
              <a:rPr lang="en-US" altLang="ko-KR" sz="1700" b="0" dirty="0">
                <a:solidFill>
                  <a:srgbClr val="1F2328"/>
                </a:solidFill>
                <a:latin typeface="Calibri"/>
                <a:ea typeface="맑은 고딕"/>
                <a:cs typeface="Calibri"/>
              </a:rPr>
              <a:t> The team built a database by collecting and analyzing a huge amount of data on players. </a:t>
            </a:r>
            <a:r>
              <a:rPr lang="ko-KR" altLang="en-US" sz="1800" b="1" dirty="0">
                <a:solidFill>
                  <a:srgbClr val="1E2A5A"/>
                </a:solidFill>
                <a:latin typeface="맑은 고딕"/>
                <a:ea typeface="맑은 고딕"/>
                <a:cs typeface="맑은 고딕"/>
              </a:rPr>
              <a:t>⑤</a:t>
            </a:r>
            <a:r>
              <a:rPr lang="en-US" altLang="ko-KR" sz="1700" b="0" dirty="0">
                <a:solidFill>
                  <a:srgbClr val="1F2328"/>
                </a:solidFill>
                <a:latin typeface="Calibri"/>
                <a:ea typeface="맑은 고딕"/>
                <a:cs typeface="Calibri"/>
              </a:rPr>
              <a:t> With the help of this database, Germany’s national soccer team was able to improve its performance and win the 2014 World Cup.</a:t>
            </a:r>
            <a:endParaRPr lang="en-US" altLang="ko-KR" sz="1700" b="0" dirty="0">
              <a:solidFill>
                <a:srgbClr val="1F2328"/>
              </a:solidFill>
              <a:latin typeface="Calibri"/>
              <a:ea typeface="맑은 고딕"/>
              <a:cs typeface="Calibri"/>
            </a:endParaRPr>
          </a:p>
        </p:txBody>
      </p:sp>
      <p:sp>
        <p:nvSpPr>
          <p:cNvPr id="11" name="rv_pick"/>
          <p:cNvSpPr txBox="1"/>
          <p:nvPr/>
        </p:nvSpPr>
        <p:spPr>
          <a:xfrm>
            <a:off x="457200" y="1910587"/>
            <a:ext cx="11277295" cy="1899919"/>
          </a:xfrm>
          <a:prstGeom prst="rect">
            <a:avLst/>
          </a:prstGeom>
          <a:noFill/>
        </p:spPr>
        <p:txBody>
          <a:bodyPr wrap="square" lIns="201168" tIns="118872" rIns="201168" bIns="118872" anchor="t" rtlCol="0">
            <a:noAutofit/>
          </a:bodyPr>
          <a:lstStyle/>
          <a:p>
            <a:pPr algn="just">
              <a:lnSpc>
                <a:spcPts val="2560"/>
              </a:lnSpc>
              <a:spcBef>
                <a:spcPts val="0"/>
              </a:spcBef>
              <a:spcAft>
                <a:spcPts val="0"/>
              </a:spcAft>
              <a:buNone/>
            </a:pPr>
            <a:r>
              <a:rPr lang="en-US" altLang="ko-KR" sz="1700" b="0" dirty="0">
                <a:solidFill>
                  <a:srgbClr val="1F2328">
                    <a:alpha val="0"/>
                  </a:srgbClr>
                </a:solidFill>
                <a:latin typeface="Calibri"/>
                <a:ea typeface="맑은 고딕"/>
                <a:cs typeface="Calibri"/>
              </a:rPr>
              <a:t>Are you a sports fan? </a:t>
            </a:r>
            <a:r>
              <a:rPr lang="ko-KR" altLang="en-US" sz="1800" b="1" dirty="0">
                <a:solidFill>
                  <a:srgbClr val="1E2A5A">
                    <a:alpha val="0"/>
                  </a:srgbClr>
                </a:solidFill>
                <a:latin typeface="맑은 고딕"/>
                <a:ea typeface="맑은 고딕"/>
                <a:cs typeface="맑은 고딕"/>
              </a:rPr>
              <a:t>②</a:t>
            </a:r>
            <a:r>
              <a:rPr lang="en-US" altLang="ko-KR" sz="1700" b="0" dirty="0">
                <a:solidFill>
                  <a:srgbClr val="1F2328">
                    <a:alpha val="0"/>
                  </a:srgbClr>
                </a:solidFill>
                <a:latin typeface="Calibri"/>
                <a:ea typeface="맑은 고딕"/>
                <a:cs typeface="Calibri"/>
              </a:rPr>
              <a:t> Well, big data is improving the performance of players, making sports more exciting. </a:t>
            </a:r>
            <a:r>
              <a:rPr lang="ko-KR" altLang="en-US" sz="1800" b="1" dirty="0">
                <a:solidFill>
                  <a:srgbClr val="1E2A5A">
                    <a:alpha val="0"/>
                  </a:srgbClr>
                </a:solidFill>
                <a:latin typeface="맑은 고딕"/>
                <a:ea typeface="맑은 고딕"/>
                <a:cs typeface="맑은 고딕"/>
              </a:rPr>
              <a:t>③</a:t>
            </a:r>
            <a:r>
              <a:rPr lang="en-US" altLang="ko-KR" sz="1700" b="0" dirty="0">
                <a:solidFill>
                  <a:srgbClr val="1F2328">
                    <a:alpha val="0"/>
                  </a:srgbClr>
                </a:solidFill>
                <a:latin typeface="Calibri"/>
                <a:ea typeface="맑은 고딕"/>
                <a:cs typeface="Calibri"/>
              </a:rPr>
              <a:t> A famous example is Germany’s national soccer team. </a:t>
            </a:r>
            <a:r>
              <a:rPr lang="ko-KR" altLang="en-US" sz="1800" b="1" dirty="0">
                <a:solidFill>
                  <a:srgbClr val="1E2A5A">
                    <a:alpha val="0"/>
                  </a:srgbClr>
                </a:solidFill>
                <a:latin typeface="맑은 고딕"/>
                <a:ea typeface="맑은 고딕"/>
                <a:cs typeface="맑은 고딕"/>
              </a:rPr>
              <a:t>④</a:t>
            </a:r>
            <a:r>
              <a:rPr lang="en-US" altLang="ko-KR" sz="1700" b="0" dirty="0">
                <a:solidFill>
                  <a:srgbClr val="1F2328">
                    <a:alpha val="0"/>
                  </a:srgbClr>
                </a:solidFill>
                <a:latin typeface="Calibri"/>
                <a:ea typeface="맑은 고딕"/>
                <a:cs typeface="Calibri"/>
              </a:rPr>
              <a:t> The team built a database by collecting and analyzing a huge amount of data on players. </a:t>
            </a:r>
            <a:r>
              <a:rPr lang="ko-KR" altLang="en-US" sz="1800" b="1" dirty="0">
                <a:solidFill>
                  <a:srgbClr val="C00000"/>
                </a:solidFill>
                <a:highlight>
                  <a:srgbClr val="F3F5F9"/>
                </a:highlight>
                <a:latin typeface="맑은 고딕"/>
                <a:ea typeface="맑은 고딕"/>
                <a:cs typeface="맑은 고딕"/>
              </a:rPr>
              <a:t>⑤</a:t>
            </a:r>
            <a:r>
              <a:rPr lang="en-US" altLang="ko-KR" sz="1700" b="0" dirty="0">
                <a:solidFill>
                  <a:srgbClr val="1F2328">
                    <a:alpha val="0"/>
                  </a:srgbClr>
                </a:solidFill>
                <a:latin typeface="Calibri"/>
                <a:ea typeface="맑은 고딕"/>
                <a:cs typeface="Calibri"/>
              </a:rPr>
              <a:t> With the help of this database, Germany’s national soccer team was able to improve its performance and win the 2014 World Cup.</a:t>
            </a:r>
            <a:endParaRPr lang="en-US" altLang="ko-KR" sz="1700" b="0" dirty="0">
              <a:solidFill>
                <a:srgbClr val="1F2328"/>
              </a:solidFill>
              <a:latin typeface="Calibri"/>
              <a:ea typeface="맑은 고딕"/>
              <a:cs typeface="Calibri"/>
            </a:endParaRPr>
          </a:p>
        </p:txBody>
      </p:sp>
      <p:sp>
        <p:nvSpPr>
          <p:cNvPr id="12" name="rv_answer"/>
          <p:cNvSpPr/>
          <p:nvPr/>
        </p:nvSpPr>
        <p:spPr>
          <a:xfrm>
            <a:off x="457200" y="3920235"/>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⑤</a:t>
            </a:r>
            <a:endParaRPr lang="ko-KR" altLang="en-US" sz="1900" b="1" dirty="0">
              <a:solidFill>
                <a:srgbClr val="5A4200"/>
              </a:solidFill>
              <a:latin typeface="맑은 고딕"/>
              <a:ea typeface="맑은 고딕"/>
              <a:cs typeface="맑은 고딕"/>
            </a:endParaRPr>
          </a:p>
        </p:txBody>
      </p:sp>
      <p:sp>
        <p:nvSpPr>
          <p:cNvPr id="13" name="rv_why"/>
          <p:cNvSpPr/>
          <p:nvPr/>
        </p:nvSpPr>
        <p:spPr>
          <a:xfrm>
            <a:off x="457200" y="4519168"/>
            <a:ext cx="11277295" cy="189991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'For example, the data'는 앞에서 모은 선수 데이터의 구체적 예다. 데이터베이스 구축 뒤, 'this database'로 우승을 말하기 전인 ⑤에 들어간다.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25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25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2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Lst>
  </p:timing>
</p:sld>
</file>

<file path=ppt/slides/slide19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L7-3</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3 · ①</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다음 글의 각 [  ] 안에서 문맥상 알맞은 것을 고르시오.</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7</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클릭할 때마다 괄호 속 정답이 앞에서부터 하나씩 빨간색으로 나타납니다 (총 4개)</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4379976"/>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4379976"/>
          </a:xfrm>
          <a:prstGeom prst="rect">
            <a:avLst/>
          </a:prstGeom>
          <a:noFill/>
        </p:spPr>
        <p:txBody>
          <a:bodyPr wrap="square" lIns="228600" tIns="155448" rIns="228600" bIns="155448" anchor="t" rtlCol="0">
            <a:noAutofit/>
          </a:bodyPr>
          <a:lstStyle/>
          <a:p>
            <a:pPr algn="l">
              <a:lnSpc>
                <a:spcPts val="3560"/>
              </a:lnSpc>
              <a:spcBef>
                <a:spcPts val="0"/>
              </a:spcBef>
              <a:spcAft>
                <a:spcPts val="0"/>
              </a:spcAft>
              <a:buNone/>
            </a:pPr>
            <a:r>
              <a:rPr lang="ko-KR" altLang="en-US" sz="2200" b="1" dirty="0">
                <a:solidFill>
                  <a:srgbClr val="1E2A5A"/>
                </a:solidFill>
                <a:latin typeface="맑은 고딕"/>
                <a:ea typeface="맑은 고딕"/>
                <a:cs typeface="맑은 고딕"/>
              </a:rPr>
              <a:t>①</a:t>
            </a:r>
            <a:r>
              <a:rPr lang="en-US" altLang="ko-KR" sz="2200" b="0"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Are you a sports fan?</a:t>
            </a:r>
            <a:r>
              <a:rPr lang="en-US" altLang="ko-KR" sz="2200" b="0" dirty="0">
                <a:solidFill>
                  <a:srgbClr val="1F2328"/>
                </a:solidFill>
                <a:latin typeface="Calibri"/>
                <a:ea typeface="맑은 고딕"/>
                <a:cs typeface="Calibri"/>
              </a:rPr>
              <a:t>   </a:t>
            </a:r>
            <a:r>
              <a:rPr lang="ko-KR" altLang="en-US" sz="2200" b="1" dirty="0">
                <a:solidFill>
                  <a:srgbClr val="1E2A5A"/>
                </a:solidFill>
                <a:latin typeface="맑은 고딕"/>
                <a:ea typeface="맑은 고딕"/>
                <a:cs typeface="맑은 고딕"/>
              </a:rPr>
              <a:t>②</a:t>
            </a:r>
            <a:r>
              <a:rPr lang="en-US" altLang="ko-KR" sz="2200" b="0"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Well, big data </a:t>
            </a:r>
            <a:r>
              <a:rPr lang="en-US" altLang="ko-KR" sz="2200" b="1" dirty="0">
                <a:solidFill>
                  <a:srgbClr val="1F2328"/>
                </a:solidFill>
                <a:latin typeface="Calibri"/>
                <a:ea typeface="맑은 고딕"/>
                <a:cs typeface="Calibri"/>
              </a:rPr>
              <a:t>[ </a:t>
            </a:r>
            <a:r>
              <a:rPr lang="en-US" altLang="ko-KR" sz="2200" b="1" dirty="0">
                <a:solidFill>
                  <a:srgbClr val="1F2328"/>
                </a:solidFill>
                <a:latin typeface="Calibri"/>
                <a:ea typeface="맑은 고딕"/>
                <a:cs typeface="Calibri"/>
              </a:rPr>
              <a:t>is improved</a:t>
            </a:r>
            <a:r>
              <a:rPr lang="en-US" altLang="ko-KR" sz="2200" b="1" dirty="0">
                <a:solidFill>
                  <a:srgbClr val="1F2328"/>
                </a:solidFill>
                <a:latin typeface="Calibri"/>
                <a:ea typeface="맑은 고딕"/>
                <a:cs typeface="Calibri"/>
              </a:rPr>
              <a:t> / </a:t>
            </a:r>
            <a:r>
              <a:rPr lang="en-US" altLang="ko-KR" sz="2200" b="1" dirty="0">
                <a:solidFill>
                  <a:srgbClr val="1F2328"/>
                </a:solidFill>
                <a:latin typeface="Calibri"/>
                <a:ea typeface="맑은 고딕"/>
                <a:cs typeface="Calibri"/>
              </a:rPr>
              <a:t>is improving</a:t>
            </a:r>
            <a:r>
              <a:rPr lang="en-US" altLang="ko-KR" sz="2200" b="1"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 the performance of players, making sports </a:t>
            </a:r>
            <a:r>
              <a:rPr lang="en-US" altLang="ko-KR" sz="2200" b="1" dirty="0">
                <a:solidFill>
                  <a:srgbClr val="1F2328"/>
                </a:solidFill>
                <a:latin typeface="Calibri"/>
                <a:ea typeface="맑은 고딕"/>
                <a:cs typeface="Calibri"/>
              </a:rPr>
              <a:t>[ </a:t>
            </a:r>
            <a:r>
              <a:rPr lang="en-US" altLang="ko-KR" sz="2200" b="1" dirty="0">
                <a:solidFill>
                  <a:srgbClr val="1F2328"/>
                </a:solidFill>
                <a:latin typeface="Calibri"/>
                <a:ea typeface="맑은 고딕"/>
                <a:cs typeface="Calibri"/>
              </a:rPr>
              <a:t>more exciting</a:t>
            </a:r>
            <a:r>
              <a:rPr lang="en-US" altLang="ko-KR" sz="2200" b="1" dirty="0">
                <a:solidFill>
                  <a:srgbClr val="1F2328"/>
                </a:solidFill>
                <a:latin typeface="Calibri"/>
                <a:ea typeface="맑은 고딕"/>
                <a:cs typeface="Calibri"/>
              </a:rPr>
              <a:t> / </a:t>
            </a:r>
            <a:r>
              <a:rPr lang="en-US" altLang="ko-KR" sz="2200" b="1" dirty="0">
                <a:solidFill>
                  <a:srgbClr val="1F2328"/>
                </a:solidFill>
                <a:latin typeface="Calibri"/>
                <a:ea typeface="맑은 고딕"/>
                <a:cs typeface="Calibri"/>
              </a:rPr>
              <a:t>more excited</a:t>
            </a:r>
            <a:r>
              <a:rPr lang="en-US" altLang="ko-KR" sz="2200" b="1"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a:t>
            </a:r>
            <a:r>
              <a:rPr lang="en-US" altLang="ko-KR" sz="2200" b="0" dirty="0">
                <a:solidFill>
                  <a:srgbClr val="1F2328"/>
                </a:solidFill>
                <a:latin typeface="Calibri"/>
                <a:ea typeface="맑은 고딕"/>
                <a:cs typeface="Calibri"/>
              </a:rPr>
              <a:t>   </a:t>
            </a:r>
            <a:r>
              <a:rPr lang="ko-KR" altLang="en-US" sz="2200" b="1" dirty="0">
                <a:solidFill>
                  <a:srgbClr val="1E2A5A"/>
                </a:solidFill>
                <a:latin typeface="맑은 고딕"/>
                <a:ea typeface="맑은 고딕"/>
                <a:cs typeface="맑은 고딕"/>
              </a:rPr>
              <a:t>③</a:t>
            </a:r>
            <a:r>
              <a:rPr lang="en-US" altLang="ko-KR" sz="2200" b="0"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A famous example is Germany’s national soccer team.</a:t>
            </a:r>
            <a:r>
              <a:rPr lang="en-US" altLang="ko-KR" sz="2200" b="0" dirty="0">
                <a:solidFill>
                  <a:srgbClr val="1F2328"/>
                </a:solidFill>
                <a:latin typeface="Calibri"/>
                <a:ea typeface="맑은 고딕"/>
                <a:cs typeface="Calibri"/>
              </a:rPr>
              <a:t>   </a:t>
            </a:r>
            <a:r>
              <a:rPr lang="ko-KR" altLang="en-US" sz="2200" b="1" dirty="0">
                <a:solidFill>
                  <a:srgbClr val="1E2A5A"/>
                </a:solidFill>
                <a:latin typeface="맑은 고딕"/>
                <a:ea typeface="맑은 고딕"/>
                <a:cs typeface="맑은 고딕"/>
              </a:rPr>
              <a:t>④</a:t>
            </a:r>
            <a:r>
              <a:rPr lang="en-US" altLang="ko-KR" sz="2200" b="0"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The team built a database by collecting and </a:t>
            </a:r>
            <a:r>
              <a:rPr lang="en-US" altLang="ko-KR" sz="2200" b="1" dirty="0">
                <a:solidFill>
                  <a:srgbClr val="1F2328"/>
                </a:solidFill>
                <a:latin typeface="Calibri"/>
                <a:ea typeface="맑은 고딕"/>
                <a:cs typeface="Calibri"/>
              </a:rPr>
              <a:t>[ </a:t>
            </a:r>
            <a:r>
              <a:rPr lang="en-US" altLang="ko-KR" sz="2200" b="1" dirty="0">
                <a:solidFill>
                  <a:srgbClr val="1F2328"/>
                </a:solidFill>
                <a:latin typeface="Calibri"/>
                <a:ea typeface="맑은 고딕"/>
                <a:cs typeface="Calibri"/>
              </a:rPr>
              <a:t>analyzed</a:t>
            </a:r>
            <a:r>
              <a:rPr lang="en-US" altLang="ko-KR" sz="2200" b="1" dirty="0">
                <a:solidFill>
                  <a:srgbClr val="1F2328"/>
                </a:solidFill>
                <a:latin typeface="Calibri"/>
                <a:ea typeface="맑은 고딕"/>
                <a:cs typeface="Calibri"/>
              </a:rPr>
              <a:t> / </a:t>
            </a:r>
            <a:r>
              <a:rPr lang="en-US" altLang="ko-KR" sz="2200" b="1" dirty="0">
                <a:solidFill>
                  <a:srgbClr val="1F2328"/>
                </a:solidFill>
                <a:latin typeface="Calibri"/>
                <a:ea typeface="맑은 고딕"/>
                <a:cs typeface="Calibri"/>
              </a:rPr>
              <a:t>analyzing</a:t>
            </a:r>
            <a:r>
              <a:rPr lang="en-US" altLang="ko-KR" sz="2200" b="1"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 a huge amount of data on players.</a:t>
            </a:r>
            <a:r>
              <a:rPr lang="en-US" altLang="ko-KR" sz="2200" b="0" dirty="0">
                <a:solidFill>
                  <a:srgbClr val="1F2328"/>
                </a:solidFill>
                <a:latin typeface="Calibri"/>
                <a:ea typeface="맑은 고딕"/>
                <a:cs typeface="Calibri"/>
              </a:rPr>
              <a:t>   </a:t>
            </a:r>
            <a:r>
              <a:rPr lang="ko-KR" altLang="en-US" sz="2200" b="1" dirty="0">
                <a:solidFill>
                  <a:srgbClr val="1E2A5A"/>
                </a:solidFill>
                <a:latin typeface="맑은 고딕"/>
                <a:ea typeface="맑은 고딕"/>
                <a:cs typeface="맑은 고딕"/>
              </a:rPr>
              <a:t>⑤</a:t>
            </a:r>
            <a:r>
              <a:rPr lang="en-US" altLang="ko-KR" sz="2200" b="0"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For example, the data </a:t>
            </a:r>
            <a:r>
              <a:rPr lang="en-US" altLang="ko-KR" sz="2200" b="1" dirty="0">
                <a:solidFill>
                  <a:srgbClr val="1F2328"/>
                </a:solidFill>
                <a:latin typeface="Calibri"/>
                <a:ea typeface="맑은 고딕"/>
                <a:cs typeface="Calibri"/>
              </a:rPr>
              <a:t>[ </a:t>
            </a:r>
            <a:r>
              <a:rPr lang="en-US" altLang="ko-KR" sz="2200" b="1" dirty="0">
                <a:solidFill>
                  <a:srgbClr val="1F2328"/>
                </a:solidFill>
                <a:latin typeface="Calibri"/>
                <a:ea typeface="맑은 고딕"/>
                <a:cs typeface="Calibri"/>
              </a:rPr>
              <a:t>included</a:t>
            </a:r>
            <a:r>
              <a:rPr lang="en-US" altLang="ko-KR" sz="2200" b="1" dirty="0">
                <a:solidFill>
                  <a:srgbClr val="1F2328"/>
                </a:solidFill>
                <a:latin typeface="Calibri"/>
                <a:ea typeface="맑은 고딕"/>
                <a:cs typeface="Calibri"/>
              </a:rPr>
              <a:t> / </a:t>
            </a:r>
            <a:r>
              <a:rPr lang="en-US" altLang="ko-KR" sz="2200" b="1" dirty="0">
                <a:solidFill>
                  <a:srgbClr val="1F2328"/>
                </a:solidFill>
                <a:latin typeface="Calibri"/>
                <a:ea typeface="맑은 고딕"/>
                <a:cs typeface="Calibri"/>
              </a:rPr>
              <a:t>was included</a:t>
            </a:r>
            <a:r>
              <a:rPr lang="en-US" altLang="ko-KR" sz="2200" b="1"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 information about how much each player ran and how long he had the ball.</a:t>
            </a:r>
            <a:r>
              <a:rPr lang="en-US" altLang="ko-KR" sz="2200" b="0" dirty="0">
                <a:solidFill>
                  <a:srgbClr val="1F2328"/>
                </a:solidFill>
                <a:latin typeface="Calibri"/>
                <a:ea typeface="맑은 고딕"/>
                <a:cs typeface="Calibri"/>
              </a:rPr>
              <a:t>   </a:t>
            </a:r>
            <a:r>
              <a:rPr lang="ko-KR" altLang="en-US" sz="2200" b="1" dirty="0">
                <a:solidFill>
                  <a:srgbClr val="1E2A5A"/>
                </a:solidFill>
                <a:latin typeface="맑은 고딕"/>
                <a:ea typeface="맑은 고딕"/>
                <a:cs typeface="맑은 고딕"/>
              </a:rPr>
              <a:t>⑥</a:t>
            </a:r>
            <a:r>
              <a:rPr lang="en-US" altLang="ko-KR" sz="2200" b="0"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With the help of this database, Germany’s national soccer team was able to improve its performance and win the 2014 World Cup.</a:t>
            </a:r>
            <a:endParaRPr lang="en-US" altLang="ko-KR" sz="2200" b="0" dirty="0">
              <a:solidFill>
                <a:srgbClr val="1F2328"/>
              </a:solidFill>
              <a:latin typeface="Calibri"/>
              <a:ea typeface="맑은 고딕"/>
              <a:cs typeface="Calibri"/>
            </a:endParaRPr>
          </a:p>
        </p:txBody>
      </p:sp>
      <p:sp>
        <p:nvSpPr>
          <p:cNvPr id="9" name="rv_g01"/>
          <p:cNvSpPr txBox="1"/>
          <p:nvPr/>
        </p:nvSpPr>
        <p:spPr>
          <a:xfrm>
            <a:off x="457200" y="950976"/>
            <a:ext cx="11277295" cy="4379976"/>
          </a:xfrm>
          <a:prstGeom prst="rect">
            <a:avLst/>
          </a:prstGeom>
          <a:noFill/>
        </p:spPr>
        <p:txBody>
          <a:bodyPr wrap="square" lIns="228600" tIns="155448" rIns="228600" bIns="155448" anchor="t" rtlCol="0">
            <a:noAutofit/>
          </a:bodyPr>
          <a:lstStyle/>
          <a:p>
            <a:pPr algn="l">
              <a:lnSpc>
                <a:spcPts val="3560"/>
              </a:lnSpc>
              <a:spcBef>
                <a:spcPts val="0"/>
              </a:spcBef>
              <a:spcAft>
                <a:spcPts val="0"/>
              </a:spcAft>
              <a:buNone/>
            </a:pPr>
            <a:r>
              <a:rPr lang="ko-KR" altLang="en-US" sz="2200" b="1" dirty="0">
                <a:solidFill>
                  <a:srgbClr val="1E2A5A">
                    <a:alpha val="0"/>
                  </a:srgbClr>
                </a:solidFill>
                <a:latin typeface="맑은 고딕"/>
                <a:ea typeface="맑은 고딕"/>
                <a:cs typeface="맑은 고딕"/>
              </a:rPr>
              <a:t>①</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Are you a sports fan?</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②</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Well, big data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is improved</a:t>
            </a:r>
            <a:r>
              <a:rPr lang="en-US" altLang="ko-KR" sz="2200" b="1" dirty="0">
                <a:solidFill>
                  <a:srgbClr val="1F2328">
                    <a:alpha val="0"/>
                  </a:srgbClr>
                </a:solidFill>
                <a:latin typeface="Calibri"/>
                <a:ea typeface="맑은 고딕"/>
                <a:cs typeface="Calibri"/>
              </a:rPr>
              <a:t> / </a:t>
            </a:r>
            <a:r>
              <a:rPr lang="en-US" altLang="ko-KR" sz="2200" b="1" dirty="0">
                <a:solidFill>
                  <a:srgbClr val="C00000"/>
                </a:solidFill>
                <a:highlight>
                  <a:srgbClr val="F3F5F9"/>
                </a:highlight>
                <a:latin typeface="Calibri"/>
                <a:ea typeface="맑은 고딕"/>
                <a:cs typeface="Calibri"/>
              </a:rPr>
              <a:t>is improving</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 performance of players, making sports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more exciting</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more excited</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③</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A famous example is Germany’s national soccer team.</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④</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 team built a database by collecting and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analyzed</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analyzing</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a huge amount of data on players.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⑤</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For example, the data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included</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was included</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information about how much each player ran and how long he had the ball.</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⑥</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With the help of this database, Germany’s national soccer team was able to improve its performance and win the 2014 World Cup.</a:t>
            </a:r>
            <a:endParaRPr lang="en-US" altLang="ko-KR" sz="2200" b="0" dirty="0">
              <a:solidFill>
                <a:srgbClr val="1F2328"/>
              </a:solidFill>
              <a:latin typeface="Calibri"/>
              <a:ea typeface="맑은 고딕"/>
              <a:cs typeface="Calibri"/>
            </a:endParaRPr>
          </a:p>
        </p:txBody>
      </p:sp>
      <p:sp>
        <p:nvSpPr>
          <p:cNvPr id="10" name="rv_g02"/>
          <p:cNvSpPr txBox="1"/>
          <p:nvPr/>
        </p:nvSpPr>
        <p:spPr>
          <a:xfrm>
            <a:off x="457200" y="950976"/>
            <a:ext cx="11277295" cy="4379976"/>
          </a:xfrm>
          <a:prstGeom prst="rect">
            <a:avLst/>
          </a:prstGeom>
          <a:noFill/>
        </p:spPr>
        <p:txBody>
          <a:bodyPr wrap="square" lIns="228600" tIns="155448" rIns="228600" bIns="155448" anchor="t" rtlCol="0">
            <a:noAutofit/>
          </a:bodyPr>
          <a:lstStyle/>
          <a:p>
            <a:pPr algn="l">
              <a:lnSpc>
                <a:spcPts val="3560"/>
              </a:lnSpc>
              <a:spcBef>
                <a:spcPts val="0"/>
              </a:spcBef>
              <a:spcAft>
                <a:spcPts val="0"/>
              </a:spcAft>
              <a:buNone/>
            </a:pPr>
            <a:r>
              <a:rPr lang="ko-KR" altLang="en-US" sz="2200" b="1" dirty="0">
                <a:solidFill>
                  <a:srgbClr val="1E2A5A">
                    <a:alpha val="0"/>
                  </a:srgbClr>
                </a:solidFill>
                <a:latin typeface="맑은 고딕"/>
                <a:ea typeface="맑은 고딕"/>
                <a:cs typeface="맑은 고딕"/>
              </a:rPr>
              <a:t>①</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Are you a sports fan?</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②</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Well, big data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is improved</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is improving</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 performance of players, making sports </a:t>
            </a:r>
            <a:r>
              <a:rPr lang="en-US" altLang="ko-KR" sz="2200" b="1" dirty="0">
                <a:solidFill>
                  <a:srgbClr val="1F2328">
                    <a:alpha val="0"/>
                  </a:srgbClr>
                </a:solidFill>
                <a:latin typeface="Calibri"/>
                <a:ea typeface="맑은 고딕"/>
                <a:cs typeface="Calibri"/>
              </a:rPr>
              <a:t>[ </a:t>
            </a:r>
            <a:r>
              <a:rPr lang="en-US" altLang="ko-KR" sz="2200" b="1" dirty="0">
                <a:solidFill>
                  <a:srgbClr val="C00000"/>
                </a:solidFill>
                <a:highlight>
                  <a:srgbClr val="F3F5F9"/>
                </a:highlight>
                <a:latin typeface="Calibri"/>
                <a:ea typeface="맑은 고딕"/>
                <a:cs typeface="Calibri"/>
              </a:rPr>
              <a:t>more exciting</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more excited</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③</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A famous example is Germany’s national soccer team.</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④</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 team built a database by collecting and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analyzed</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analyzing</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a huge amount of data on players.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⑤</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For example, the data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included</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was included</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information about how much each player ran and how long he had the ball.</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⑥</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With the help of this database, Germany’s national soccer team was able to improve its performance and win the 2014 World Cup.</a:t>
            </a:r>
            <a:endParaRPr lang="en-US" altLang="ko-KR" sz="2200" b="0" dirty="0">
              <a:solidFill>
                <a:srgbClr val="1F2328"/>
              </a:solidFill>
              <a:latin typeface="Calibri"/>
              <a:ea typeface="맑은 고딕"/>
              <a:cs typeface="Calibri"/>
            </a:endParaRPr>
          </a:p>
        </p:txBody>
      </p:sp>
      <p:sp>
        <p:nvSpPr>
          <p:cNvPr id="11" name="rv_g03"/>
          <p:cNvSpPr txBox="1"/>
          <p:nvPr/>
        </p:nvSpPr>
        <p:spPr>
          <a:xfrm>
            <a:off x="457200" y="950976"/>
            <a:ext cx="11277295" cy="4379976"/>
          </a:xfrm>
          <a:prstGeom prst="rect">
            <a:avLst/>
          </a:prstGeom>
          <a:noFill/>
        </p:spPr>
        <p:txBody>
          <a:bodyPr wrap="square" lIns="228600" tIns="155448" rIns="228600" bIns="155448" anchor="t" rtlCol="0">
            <a:noAutofit/>
          </a:bodyPr>
          <a:lstStyle/>
          <a:p>
            <a:pPr algn="l">
              <a:lnSpc>
                <a:spcPts val="3560"/>
              </a:lnSpc>
              <a:spcBef>
                <a:spcPts val="0"/>
              </a:spcBef>
              <a:spcAft>
                <a:spcPts val="0"/>
              </a:spcAft>
              <a:buNone/>
            </a:pPr>
            <a:r>
              <a:rPr lang="ko-KR" altLang="en-US" sz="2200" b="1" dirty="0">
                <a:solidFill>
                  <a:srgbClr val="1E2A5A">
                    <a:alpha val="0"/>
                  </a:srgbClr>
                </a:solidFill>
                <a:latin typeface="맑은 고딕"/>
                <a:ea typeface="맑은 고딕"/>
                <a:cs typeface="맑은 고딕"/>
              </a:rPr>
              <a:t>①</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Are you a sports fan?</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②</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Well, big data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is improved</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is improving</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 performance of players, making sports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more exciting</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more excited</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③</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A famous example is Germany’s national soccer team.</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④</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 team built a database by collecting and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analyzed</a:t>
            </a:r>
            <a:r>
              <a:rPr lang="en-US" altLang="ko-KR" sz="2200" b="1" dirty="0">
                <a:solidFill>
                  <a:srgbClr val="1F2328">
                    <a:alpha val="0"/>
                  </a:srgbClr>
                </a:solidFill>
                <a:latin typeface="Calibri"/>
                <a:ea typeface="맑은 고딕"/>
                <a:cs typeface="Calibri"/>
              </a:rPr>
              <a:t> / </a:t>
            </a:r>
            <a:r>
              <a:rPr lang="en-US" altLang="ko-KR" sz="2200" b="1" dirty="0">
                <a:solidFill>
                  <a:srgbClr val="C00000"/>
                </a:solidFill>
                <a:highlight>
                  <a:srgbClr val="F3F5F9"/>
                </a:highlight>
                <a:latin typeface="Calibri"/>
                <a:ea typeface="맑은 고딕"/>
                <a:cs typeface="Calibri"/>
              </a:rPr>
              <a:t>analyzing</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a huge amount of data on players.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⑤</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For example, the data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included</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was included</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information about how much each player ran and how long he had the ball.</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⑥</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With the help of this database, Germany’s national soccer team was able to improve its performance and win the 2014 World Cup.</a:t>
            </a:r>
            <a:endParaRPr lang="en-US" altLang="ko-KR" sz="2200" b="0" dirty="0">
              <a:solidFill>
                <a:srgbClr val="1F2328"/>
              </a:solidFill>
              <a:latin typeface="Calibri"/>
              <a:ea typeface="맑은 고딕"/>
              <a:cs typeface="Calibri"/>
            </a:endParaRPr>
          </a:p>
        </p:txBody>
      </p:sp>
      <p:sp>
        <p:nvSpPr>
          <p:cNvPr id="12" name="rv_g04"/>
          <p:cNvSpPr txBox="1"/>
          <p:nvPr/>
        </p:nvSpPr>
        <p:spPr>
          <a:xfrm>
            <a:off x="457200" y="950976"/>
            <a:ext cx="11277295" cy="4379976"/>
          </a:xfrm>
          <a:prstGeom prst="rect">
            <a:avLst/>
          </a:prstGeom>
          <a:noFill/>
        </p:spPr>
        <p:txBody>
          <a:bodyPr wrap="square" lIns="228600" tIns="155448" rIns="228600" bIns="155448" anchor="t" rtlCol="0">
            <a:noAutofit/>
          </a:bodyPr>
          <a:lstStyle/>
          <a:p>
            <a:pPr algn="l">
              <a:lnSpc>
                <a:spcPts val="3560"/>
              </a:lnSpc>
              <a:spcBef>
                <a:spcPts val="0"/>
              </a:spcBef>
              <a:spcAft>
                <a:spcPts val="0"/>
              </a:spcAft>
              <a:buNone/>
            </a:pPr>
            <a:r>
              <a:rPr lang="ko-KR" altLang="en-US" sz="2200" b="1" dirty="0">
                <a:solidFill>
                  <a:srgbClr val="1E2A5A">
                    <a:alpha val="0"/>
                  </a:srgbClr>
                </a:solidFill>
                <a:latin typeface="맑은 고딕"/>
                <a:ea typeface="맑은 고딕"/>
                <a:cs typeface="맑은 고딕"/>
              </a:rPr>
              <a:t>①</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Are you a sports fan?</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②</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Well, big data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is improved</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is improving</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 performance of players, making sports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more exciting</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more excited</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③</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A famous example is Germany’s national soccer team.</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④</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 team built a database by collecting and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analyzed</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analyzing</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a huge amount of data on players.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⑤</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For example, the data </a:t>
            </a:r>
            <a:r>
              <a:rPr lang="en-US" altLang="ko-KR" sz="2200" b="1" dirty="0">
                <a:solidFill>
                  <a:srgbClr val="1F2328">
                    <a:alpha val="0"/>
                  </a:srgbClr>
                </a:solidFill>
                <a:latin typeface="Calibri"/>
                <a:ea typeface="맑은 고딕"/>
                <a:cs typeface="Calibri"/>
              </a:rPr>
              <a:t>[ </a:t>
            </a:r>
            <a:r>
              <a:rPr lang="en-US" altLang="ko-KR" sz="2200" b="1" dirty="0">
                <a:solidFill>
                  <a:srgbClr val="C00000"/>
                </a:solidFill>
                <a:highlight>
                  <a:srgbClr val="F3F5F9"/>
                </a:highlight>
                <a:latin typeface="Calibri"/>
                <a:ea typeface="맑은 고딕"/>
                <a:cs typeface="Calibri"/>
              </a:rPr>
              <a:t>included</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was included</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information about how much each player ran and how long he had the ball.</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⑥</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With the help of this database, Germany’s national soccer team was able to improve its performance and win the 2014 World Cup.</a:t>
            </a:r>
            <a:endParaRPr lang="en-US" altLang="ko-KR" sz="2200" b="0" dirty="0">
              <a:solidFill>
                <a:srgbClr val="1F2328"/>
              </a:solidFill>
              <a:latin typeface="Calibri"/>
              <a:ea typeface="맑은 고딕"/>
              <a:cs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25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25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25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25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Lst>
  </p:timing>
</p:sld>
</file>

<file path=ppt/slides/slide19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L7-3</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3 · ②</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다음 글의 각 [  ] 안에서 문맥상 알맞은 것을 고르시오.</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7</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클릭할 때마다 괄호 속 정답이 앞에서부터 하나씩 빨간색으로 나타납니다 (총 4개)</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4379976"/>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4379976"/>
          </a:xfrm>
          <a:prstGeom prst="rect">
            <a:avLst/>
          </a:prstGeom>
          <a:noFill/>
        </p:spPr>
        <p:txBody>
          <a:bodyPr wrap="square" lIns="228600" tIns="155448" rIns="228600" bIns="155448" anchor="t" rtlCol="0">
            <a:noAutofit/>
          </a:bodyPr>
          <a:lstStyle/>
          <a:p>
            <a:pPr algn="l">
              <a:lnSpc>
                <a:spcPts val="3560"/>
              </a:lnSpc>
              <a:spcBef>
                <a:spcPts val="0"/>
              </a:spcBef>
              <a:spcAft>
                <a:spcPts val="0"/>
              </a:spcAft>
              <a:buNone/>
            </a:pPr>
            <a:r>
              <a:rPr lang="ko-KR" altLang="en-US" sz="2200" b="1" dirty="0">
                <a:solidFill>
                  <a:srgbClr val="1E2A5A"/>
                </a:solidFill>
                <a:latin typeface="맑은 고딕"/>
                <a:ea typeface="맑은 고딕"/>
                <a:cs typeface="맑은 고딕"/>
              </a:rPr>
              <a:t>①</a:t>
            </a:r>
            <a:r>
              <a:rPr lang="en-US" altLang="ko-KR" sz="2200" b="0"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Are you a sports fan?</a:t>
            </a:r>
            <a:r>
              <a:rPr lang="en-US" altLang="ko-KR" sz="2200" b="0" dirty="0">
                <a:solidFill>
                  <a:srgbClr val="1F2328"/>
                </a:solidFill>
                <a:latin typeface="Calibri"/>
                <a:ea typeface="맑은 고딕"/>
                <a:cs typeface="Calibri"/>
              </a:rPr>
              <a:t>   </a:t>
            </a:r>
            <a:r>
              <a:rPr lang="ko-KR" altLang="en-US" sz="2200" b="1" dirty="0">
                <a:solidFill>
                  <a:srgbClr val="1E2A5A"/>
                </a:solidFill>
                <a:latin typeface="맑은 고딕"/>
                <a:ea typeface="맑은 고딕"/>
                <a:cs typeface="맑은 고딕"/>
              </a:rPr>
              <a:t>②</a:t>
            </a:r>
            <a:r>
              <a:rPr lang="en-US" altLang="ko-KR" sz="2200" b="0"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Well, big data is improving the performance of players, </a:t>
            </a:r>
            <a:r>
              <a:rPr lang="en-US" altLang="ko-KR" sz="2200" b="1" dirty="0">
                <a:solidFill>
                  <a:srgbClr val="1F2328"/>
                </a:solidFill>
                <a:latin typeface="Calibri"/>
                <a:ea typeface="맑은 고딕"/>
                <a:cs typeface="Calibri"/>
              </a:rPr>
              <a:t>[ </a:t>
            </a:r>
            <a:r>
              <a:rPr lang="en-US" altLang="ko-KR" sz="2200" b="1" dirty="0">
                <a:solidFill>
                  <a:srgbClr val="1F2328"/>
                </a:solidFill>
                <a:latin typeface="Calibri"/>
                <a:ea typeface="맑은 고딕"/>
                <a:cs typeface="Calibri"/>
              </a:rPr>
              <a:t>making sports</a:t>
            </a:r>
            <a:r>
              <a:rPr lang="en-US" altLang="ko-KR" sz="2200" b="1" dirty="0">
                <a:solidFill>
                  <a:srgbClr val="1F2328"/>
                </a:solidFill>
                <a:latin typeface="Calibri"/>
                <a:ea typeface="맑은 고딕"/>
                <a:cs typeface="Calibri"/>
              </a:rPr>
              <a:t> / </a:t>
            </a:r>
            <a:r>
              <a:rPr lang="en-US" altLang="ko-KR" sz="2200" b="1" dirty="0">
                <a:solidFill>
                  <a:srgbClr val="1F2328"/>
                </a:solidFill>
                <a:latin typeface="Calibri"/>
                <a:ea typeface="맑은 고딕"/>
                <a:cs typeface="Calibri"/>
              </a:rPr>
              <a:t>made sports</a:t>
            </a:r>
            <a:r>
              <a:rPr lang="en-US" altLang="ko-KR" sz="2200" b="1"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 more exciting.</a:t>
            </a:r>
            <a:r>
              <a:rPr lang="en-US" altLang="ko-KR" sz="2200" b="0" dirty="0">
                <a:solidFill>
                  <a:srgbClr val="1F2328"/>
                </a:solidFill>
                <a:latin typeface="Calibri"/>
                <a:ea typeface="맑은 고딕"/>
                <a:cs typeface="Calibri"/>
              </a:rPr>
              <a:t>   </a:t>
            </a:r>
            <a:r>
              <a:rPr lang="ko-KR" altLang="en-US" sz="2200" b="1" dirty="0">
                <a:solidFill>
                  <a:srgbClr val="1E2A5A"/>
                </a:solidFill>
                <a:latin typeface="맑은 고딕"/>
                <a:ea typeface="맑은 고딕"/>
                <a:cs typeface="맑은 고딕"/>
              </a:rPr>
              <a:t>③</a:t>
            </a:r>
            <a:r>
              <a:rPr lang="en-US" altLang="ko-KR" sz="2200" b="0"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A famous example is Germany’s national soccer team.</a:t>
            </a:r>
            <a:r>
              <a:rPr lang="en-US" altLang="ko-KR" sz="2200" b="0" dirty="0">
                <a:solidFill>
                  <a:srgbClr val="1F2328"/>
                </a:solidFill>
                <a:latin typeface="Calibri"/>
                <a:ea typeface="맑은 고딕"/>
                <a:cs typeface="Calibri"/>
              </a:rPr>
              <a:t>   </a:t>
            </a:r>
            <a:r>
              <a:rPr lang="ko-KR" altLang="en-US" sz="2200" b="1" dirty="0">
                <a:solidFill>
                  <a:srgbClr val="1E2A5A"/>
                </a:solidFill>
                <a:latin typeface="맑은 고딕"/>
                <a:ea typeface="맑은 고딕"/>
                <a:cs typeface="맑은 고딕"/>
              </a:rPr>
              <a:t>④</a:t>
            </a:r>
            <a:r>
              <a:rPr lang="en-US" altLang="ko-KR" sz="2200" b="0"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The team built a database </a:t>
            </a:r>
            <a:r>
              <a:rPr lang="en-US" altLang="ko-KR" sz="2200" b="1" dirty="0">
                <a:solidFill>
                  <a:srgbClr val="1F2328"/>
                </a:solidFill>
                <a:latin typeface="Calibri"/>
                <a:ea typeface="맑은 고딕"/>
                <a:cs typeface="Calibri"/>
              </a:rPr>
              <a:t>[ </a:t>
            </a:r>
            <a:r>
              <a:rPr lang="en-US" altLang="ko-KR" sz="2200" b="1" dirty="0">
                <a:solidFill>
                  <a:srgbClr val="1F2328"/>
                </a:solidFill>
                <a:latin typeface="Calibri"/>
                <a:ea typeface="맑은 고딕"/>
                <a:cs typeface="Calibri"/>
              </a:rPr>
              <a:t>by collecting</a:t>
            </a:r>
            <a:r>
              <a:rPr lang="en-US" altLang="ko-KR" sz="2200" b="1" dirty="0">
                <a:solidFill>
                  <a:srgbClr val="1F2328"/>
                </a:solidFill>
                <a:latin typeface="Calibri"/>
                <a:ea typeface="맑은 고딕"/>
                <a:cs typeface="Calibri"/>
              </a:rPr>
              <a:t> / </a:t>
            </a:r>
            <a:r>
              <a:rPr lang="en-US" altLang="ko-KR" sz="2200" b="1" dirty="0">
                <a:solidFill>
                  <a:srgbClr val="1F2328"/>
                </a:solidFill>
                <a:latin typeface="Calibri"/>
                <a:ea typeface="맑은 고딕"/>
                <a:cs typeface="Calibri"/>
              </a:rPr>
              <a:t>by collected</a:t>
            </a:r>
            <a:r>
              <a:rPr lang="en-US" altLang="ko-KR" sz="2200" b="1"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 and analyzing a huge amount of data on players.</a:t>
            </a:r>
            <a:r>
              <a:rPr lang="en-US" altLang="ko-KR" sz="2200" b="0" dirty="0">
                <a:solidFill>
                  <a:srgbClr val="1F2328"/>
                </a:solidFill>
                <a:latin typeface="Calibri"/>
                <a:ea typeface="맑은 고딕"/>
                <a:cs typeface="Calibri"/>
              </a:rPr>
              <a:t>   </a:t>
            </a:r>
            <a:r>
              <a:rPr lang="ko-KR" altLang="en-US" sz="2200" b="1" dirty="0">
                <a:solidFill>
                  <a:srgbClr val="1E2A5A"/>
                </a:solidFill>
                <a:latin typeface="맑은 고딕"/>
                <a:ea typeface="맑은 고딕"/>
                <a:cs typeface="맑은 고딕"/>
              </a:rPr>
              <a:t>⑤</a:t>
            </a:r>
            <a:r>
              <a:rPr lang="en-US" altLang="ko-KR" sz="2200" b="0"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For example, the data included information about how much each player ran and how long he had the ball.</a:t>
            </a:r>
            <a:r>
              <a:rPr lang="en-US" altLang="ko-KR" sz="2200" b="0" dirty="0">
                <a:solidFill>
                  <a:srgbClr val="1F2328"/>
                </a:solidFill>
                <a:latin typeface="Calibri"/>
                <a:ea typeface="맑은 고딕"/>
                <a:cs typeface="Calibri"/>
              </a:rPr>
              <a:t>   </a:t>
            </a:r>
            <a:r>
              <a:rPr lang="ko-KR" altLang="en-US" sz="2200" b="1" dirty="0">
                <a:solidFill>
                  <a:srgbClr val="1E2A5A"/>
                </a:solidFill>
                <a:latin typeface="맑은 고딕"/>
                <a:ea typeface="맑은 고딕"/>
                <a:cs typeface="맑은 고딕"/>
              </a:rPr>
              <a:t>⑥</a:t>
            </a:r>
            <a:r>
              <a:rPr lang="en-US" altLang="ko-KR" sz="2200" b="0"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With the help of this database, Germany’s national soccer team was able </a:t>
            </a:r>
            <a:r>
              <a:rPr lang="en-US" altLang="ko-KR" sz="2200" b="1" dirty="0">
                <a:solidFill>
                  <a:srgbClr val="1F2328"/>
                </a:solidFill>
                <a:latin typeface="Calibri"/>
                <a:ea typeface="맑은 고딕"/>
                <a:cs typeface="Calibri"/>
              </a:rPr>
              <a:t>[ </a:t>
            </a:r>
            <a:r>
              <a:rPr lang="en-US" altLang="ko-KR" sz="2200" b="1" dirty="0">
                <a:solidFill>
                  <a:srgbClr val="1F2328"/>
                </a:solidFill>
                <a:latin typeface="Calibri"/>
                <a:ea typeface="맑은 고딕"/>
                <a:cs typeface="Calibri"/>
              </a:rPr>
              <a:t>to improve</a:t>
            </a:r>
            <a:r>
              <a:rPr lang="en-US" altLang="ko-KR" sz="2200" b="1" dirty="0">
                <a:solidFill>
                  <a:srgbClr val="1F2328"/>
                </a:solidFill>
                <a:latin typeface="Calibri"/>
                <a:ea typeface="맑은 고딕"/>
                <a:cs typeface="Calibri"/>
              </a:rPr>
              <a:t> / </a:t>
            </a:r>
            <a:r>
              <a:rPr lang="en-US" altLang="ko-KR" sz="2200" b="1" dirty="0">
                <a:solidFill>
                  <a:srgbClr val="1F2328"/>
                </a:solidFill>
                <a:latin typeface="Calibri"/>
                <a:ea typeface="맑은 고딕"/>
                <a:cs typeface="Calibri"/>
              </a:rPr>
              <a:t>improving</a:t>
            </a:r>
            <a:r>
              <a:rPr lang="en-US" altLang="ko-KR" sz="2200" b="1"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 its performance and </a:t>
            </a:r>
            <a:r>
              <a:rPr lang="en-US" altLang="ko-KR" sz="2200" b="1" dirty="0">
                <a:solidFill>
                  <a:srgbClr val="1F2328"/>
                </a:solidFill>
                <a:latin typeface="Calibri"/>
                <a:ea typeface="맑은 고딕"/>
                <a:cs typeface="Calibri"/>
              </a:rPr>
              <a:t>[ </a:t>
            </a:r>
            <a:r>
              <a:rPr lang="en-US" altLang="ko-KR" sz="2200" b="1" dirty="0">
                <a:solidFill>
                  <a:srgbClr val="1F2328"/>
                </a:solidFill>
                <a:latin typeface="Calibri"/>
                <a:ea typeface="맑은 고딕"/>
                <a:cs typeface="Calibri"/>
              </a:rPr>
              <a:t>win the 2014</a:t>
            </a:r>
            <a:r>
              <a:rPr lang="en-US" altLang="ko-KR" sz="2200" b="1" dirty="0">
                <a:solidFill>
                  <a:srgbClr val="1F2328"/>
                </a:solidFill>
                <a:latin typeface="Calibri"/>
                <a:ea typeface="맑은 고딕"/>
                <a:cs typeface="Calibri"/>
              </a:rPr>
              <a:t> / </a:t>
            </a:r>
            <a:r>
              <a:rPr lang="en-US" altLang="ko-KR" sz="2200" b="1" dirty="0">
                <a:solidFill>
                  <a:srgbClr val="1F2328"/>
                </a:solidFill>
                <a:latin typeface="Calibri"/>
                <a:ea typeface="맑은 고딕"/>
                <a:cs typeface="Calibri"/>
              </a:rPr>
              <a:t>won the 2014</a:t>
            </a:r>
            <a:r>
              <a:rPr lang="en-US" altLang="ko-KR" sz="2200" b="1"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 World Cup.</a:t>
            </a:r>
            <a:endParaRPr lang="en-US" altLang="ko-KR" sz="2200" b="0" dirty="0">
              <a:solidFill>
                <a:srgbClr val="1F2328"/>
              </a:solidFill>
              <a:latin typeface="Calibri"/>
              <a:ea typeface="맑은 고딕"/>
              <a:cs typeface="Calibri"/>
            </a:endParaRPr>
          </a:p>
        </p:txBody>
      </p:sp>
      <p:sp>
        <p:nvSpPr>
          <p:cNvPr id="9" name="rv_g01"/>
          <p:cNvSpPr txBox="1"/>
          <p:nvPr/>
        </p:nvSpPr>
        <p:spPr>
          <a:xfrm>
            <a:off x="457200" y="950976"/>
            <a:ext cx="11277295" cy="4379976"/>
          </a:xfrm>
          <a:prstGeom prst="rect">
            <a:avLst/>
          </a:prstGeom>
          <a:noFill/>
        </p:spPr>
        <p:txBody>
          <a:bodyPr wrap="square" lIns="228600" tIns="155448" rIns="228600" bIns="155448" anchor="t" rtlCol="0">
            <a:noAutofit/>
          </a:bodyPr>
          <a:lstStyle/>
          <a:p>
            <a:pPr algn="l">
              <a:lnSpc>
                <a:spcPts val="3560"/>
              </a:lnSpc>
              <a:spcBef>
                <a:spcPts val="0"/>
              </a:spcBef>
              <a:spcAft>
                <a:spcPts val="0"/>
              </a:spcAft>
              <a:buNone/>
            </a:pPr>
            <a:r>
              <a:rPr lang="ko-KR" altLang="en-US" sz="2200" b="1" dirty="0">
                <a:solidFill>
                  <a:srgbClr val="1E2A5A">
                    <a:alpha val="0"/>
                  </a:srgbClr>
                </a:solidFill>
                <a:latin typeface="맑은 고딕"/>
                <a:ea typeface="맑은 고딕"/>
                <a:cs typeface="맑은 고딕"/>
              </a:rPr>
              <a:t>①</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Are you a sports fan?</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②</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Well, big data is improving the performance of players, </a:t>
            </a:r>
            <a:r>
              <a:rPr lang="en-US" altLang="ko-KR" sz="2200" b="1" dirty="0">
                <a:solidFill>
                  <a:srgbClr val="1F2328">
                    <a:alpha val="0"/>
                  </a:srgbClr>
                </a:solidFill>
                <a:latin typeface="Calibri"/>
                <a:ea typeface="맑은 고딕"/>
                <a:cs typeface="Calibri"/>
              </a:rPr>
              <a:t>[ </a:t>
            </a:r>
            <a:r>
              <a:rPr lang="en-US" altLang="ko-KR" sz="2200" b="1" dirty="0">
                <a:solidFill>
                  <a:srgbClr val="C00000"/>
                </a:solidFill>
                <a:highlight>
                  <a:srgbClr val="F3F5F9"/>
                </a:highlight>
                <a:latin typeface="Calibri"/>
                <a:ea typeface="맑은 고딕"/>
                <a:cs typeface="Calibri"/>
              </a:rPr>
              <a:t>making sports</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made sports</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more exciting.</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③</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A famous example is Germany’s national soccer team.</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④</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 team built a database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by collecting</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by collected</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and analyzing a huge amount of data on players.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⑤</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For example, the data included information about how much each player ran and how long he had the ball.</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⑥</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With the help of this database, Germany’s national soccer team was able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to improve</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improving</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its performance and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win the 2014</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won the 2014</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World Cup.</a:t>
            </a:r>
            <a:endParaRPr lang="en-US" altLang="ko-KR" sz="2200" b="0" dirty="0">
              <a:solidFill>
                <a:srgbClr val="1F2328"/>
              </a:solidFill>
              <a:latin typeface="Calibri"/>
              <a:ea typeface="맑은 고딕"/>
              <a:cs typeface="Calibri"/>
            </a:endParaRPr>
          </a:p>
        </p:txBody>
      </p:sp>
      <p:sp>
        <p:nvSpPr>
          <p:cNvPr id="10" name="rv_g02"/>
          <p:cNvSpPr txBox="1"/>
          <p:nvPr/>
        </p:nvSpPr>
        <p:spPr>
          <a:xfrm>
            <a:off x="457200" y="950976"/>
            <a:ext cx="11277295" cy="4379976"/>
          </a:xfrm>
          <a:prstGeom prst="rect">
            <a:avLst/>
          </a:prstGeom>
          <a:noFill/>
        </p:spPr>
        <p:txBody>
          <a:bodyPr wrap="square" lIns="228600" tIns="155448" rIns="228600" bIns="155448" anchor="t" rtlCol="0">
            <a:noAutofit/>
          </a:bodyPr>
          <a:lstStyle/>
          <a:p>
            <a:pPr algn="l">
              <a:lnSpc>
                <a:spcPts val="3560"/>
              </a:lnSpc>
              <a:spcBef>
                <a:spcPts val="0"/>
              </a:spcBef>
              <a:spcAft>
                <a:spcPts val="0"/>
              </a:spcAft>
              <a:buNone/>
            </a:pPr>
            <a:r>
              <a:rPr lang="ko-KR" altLang="en-US" sz="2200" b="1" dirty="0">
                <a:solidFill>
                  <a:srgbClr val="1E2A5A">
                    <a:alpha val="0"/>
                  </a:srgbClr>
                </a:solidFill>
                <a:latin typeface="맑은 고딕"/>
                <a:ea typeface="맑은 고딕"/>
                <a:cs typeface="맑은 고딕"/>
              </a:rPr>
              <a:t>①</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Are you a sports fan?</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②</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Well, big data is improving the performance of players,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making sports</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made sports</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more exciting.</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③</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A famous example is Germany’s national soccer team.</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④</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 team built a database </a:t>
            </a:r>
            <a:r>
              <a:rPr lang="en-US" altLang="ko-KR" sz="2200" b="1" dirty="0">
                <a:solidFill>
                  <a:srgbClr val="1F2328">
                    <a:alpha val="0"/>
                  </a:srgbClr>
                </a:solidFill>
                <a:latin typeface="Calibri"/>
                <a:ea typeface="맑은 고딕"/>
                <a:cs typeface="Calibri"/>
              </a:rPr>
              <a:t>[ </a:t>
            </a:r>
            <a:r>
              <a:rPr lang="en-US" altLang="ko-KR" sz="2200" b="1" dirty="0">
                <a:solidFill>
                  <a:srgbClr val="C00000"/>
                </a:solidFill>
                <a:highlight>
                  <a:srgbClr val="F3F5F9"/>
                </a:highlight>
                <a:latin typeface="Calibri"/>
                <a:ea typeface="맑은 고딕"/>
                <a:cs typeface="Calibri"/>
              </a:rPr>
              <a:t>by collecting</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by collected</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and analyzing a huge amount of data on players.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⑤</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For example, the data included information about how much each player ran and how long he had the ball.</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⑥</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With the help of this database, Germany’s national soccer team was able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to improve</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improving</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its performance and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win the 2014</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won the 2014</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World Cup.</a:t>
            </a:r>
            <a:endParaRPr lang="en-US" altLang="ko-KR" sz="2200" b="0" dirty="0">
              <a:solidFill>
                <a:srgbClr val="1F2328"/>
              </a:solidFill>
              <a:latin typeface="Calibri"/>
              <a:ea typeface="맑은 고딕"/>
              <a:cs typeface="Calibri"/>
            </a:endParaRPr>
          </a:p>
        </p:txBody>
      </p:sp>
      <p:sp>
        <p:nvSpPr>
          <p:cNvPr id="11" name="rv_g03"/>
          <p:cNvSpPr txBox="1"/>
          <p:nvPr/>
        </p:nvSpPr>
        <p:spPr>
          <a:xfrm>
            <a:off x="457200" y="950976"/>
            <a:ext cx="11277295" cy="4379976"/>
          </a:xfrm>
          <a:prstGeom prst="rect">
            <a:avLst/>
          </a:prstGeom>
          <a:noFill/>
        </p:spPr>
        <p:txBody>
          <a:bodyPr wrap="square" lIns="228600" tIns="155448" rIns="228600" bIns="155448" anchor="t" rtlCol="0">
            <a:noAutofit/>
          </a:bodyPr>
          <a:lstStyle/>
          <a:p>
            <a:pPr algn="l">
              <a:lnSpc>
                <a:spcPts val="3560"/>
              </a:lnSpc>
              <a:spcBef>
                <a:spcPts val="0"/>
              </a:spcBef>
              <a:spcAft>
                <a:spcPts val="0"/>
              </a:spcAft>
              <a:buNone/>
            </a:pPr>
            <a:r>
              <a:rPr lang="ko-KR" altLang="en-US" sz="2200" b="1" dirty="0">
                <a:solidFill>
                  <a:srgbClr val="1E2A5A">
                    <a:alpha val="0"/>
                  </a:srgbClr>
                </a:solidFill>
                <a:latin typeface="맑은 고딕"/>
                <a:ea typeface="맑은 고딕"/>
                <a:cs typeface="맑은 고딕"/>
              </a:rPr>
              <a:t>①</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Are you a sports fan?</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②</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Well, big data is improving the performance of players,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making sports</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made sports</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more exciting.</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③</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A famous example is Germany’s national soccer team.</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④</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 team built a database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by collecting</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by collected</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and analyzing a huge amount of data on players.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⑤</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For example, the data included information about how much each player ran and how long he had the ball.</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⑥</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With the help of this database, Germany’s national soccer team was able </a:t>
            </a:r>
            <a:r>
              <a:rPr lang="en-US" altLang="ko-KR" sz="2200" b="1" dirty="0">
                <a:solidFill>
                  <a:srgbClr val="1F2328">
                    <a:alpha val="0"/>
                  </a:srgbClr>
                </a:solidFill>
                <a:latin typeface="Calibri"/>
                <a:ea typeface="맑은 고딕"/>
                <a:cs typeface="Calibri"/>
              </a:rPr>
              <a:t>[ </a:t>
            </a:r>
            <a:r>
              <a:rPr lang="en-US" altLang="ko-KR" sz="2200" b="1" dirty="0">
                <a:solidFill>
                  <a:srgbClr val="C00000"/>
                </a:solidFill>
                <a:highlight>
                  <a:srgbClr val="F3F5F9"/>
                </a:highlight>
                <a:latin typeface="Calibri"/>
                <a:ea typeface="맑은 고딕"/>
                <a:cs typeface="Calibri"/>
              </a:rPr>
              <a:t>to improve</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improving</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its performance and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win the 2014</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won the 2014</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World Cup.</a:t>
            </a:r>
            <a:endParaRPr lang="en-US" altLang="ko-KR" sz="2200" b="0" dirty="0">
              <a:solidFill>
                <a:srgbClr val="1F2328"/>
              </a:solidFill>
              <a:latin typeface="Calibri"/>
              <a:ea typeface="맑은 고딕"/>
              <a:cs typeface="Calibri"/>
            </a:endParaRPr>
          </a:p>
        </p:txBody>
      </p:sp>
      <p:sp>
        <p:nvSpPr>
          <p:cNvPr id="12" name="rv_g04"/>
          <p:cNvSpPr txBox="1"/>
          <p:nvPr/>
        </p:nvSpPr>
        <p:spPr>
          <a:xfrm>
            <a:off x="457200" y="950976"/>
            <a:ext cx="11277295" cy="4379976"/>
          </a:xfrm>
          <a:prstGeom prst="rect">
            <a:avLst/>
          </a:prstGeom>
          <a:noFill/>
        </p:spPr>
        <p:txBody>
          <a:bodyPr wrap="square" lIns="228600" tIns="155448" rIns="228600" bIns="155448" anchor="t" rtlCol="0">
            <a:noAutofit/>
          </a:bodyPr>
          <a:lstStyle/>
          <a:p>
            <a:pPr algn="l">
              <a:lnSpc>
                <a:spcPts val="3560"/>
              </a:lnSpc>
              <a:spcBef>
                <a:spcPts val="0"/>
              </a:spcBef>
              <a:spcAft>
                <a:spcPts val="0"/>
              </a:spcAft>
              <a:buNone/>
            </a:pPr>
            <a:r>
              <a:rPr lang="ko-KR" altLang="en-US" sz="2200" b="1" dirty="0">
                <a:solidFill>
                  <a:srgbClr val="1E2A5A">
                    <a:alpha val="0"/>
                  </a:srgbClr>
                </a:solidFill>
                <a:latin typeface="맑은 고딕"/>
                <a:ea typeface="맑은 고딕"/>
                <a:cs typeface="맑은 고딕"/>
              </a:rPr>
              <a:t>①</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Are you a sports fan?</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②</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Well, big data is improving the performance of players,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making sports</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made sports</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more exciting.</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③</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A famous example is Germany’s national soccer team.</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④</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 team built a database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by collecting</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by collected</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and analyzing a huge amount of data on players.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⑤</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For example, the data included information about how much each player ran and how long he had the ball.</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⑥</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With the help of this database, Germany’s national soccer team was able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to improve</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improving</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its performance and </a:t>
            </a:r>
            <a:r>
              <a:rPr lang="en-US" altLang="ko-KR" sz="2200" b="1" dirty="0">
                <a:solidFill>
                  <a:srgbClr val="1F2328">
                    <a:alpha val="0"/>
                  </a:srgbClr>
                </a:solidFill>
                <a:latin typeface="Calibri"/>
                <a:ea typeface="맑은 고딕"/>
                <a:cs typeface="Calibri"/>
              </a:rPr>
              <a:t>[ </a:t>
            </a:r>
            <a:r>
              <a:rPr lang="en-US" altLang="ko-KR" sz="2200" b="1" dirty="0">
                <a:solidFill>
                  <a:srgbClr val="C00000"/>
                </a:solidFill>
                <a:highlight>
                  <a:srgbClr val="F3F5F9"/>
                </a:highlight>
                <a:latin typeface="Calibri"/>
                <a:ea typeface="맑은 고딕"/>
                <a:cs typeface="Calibri"/>
              </a:rPr>
              <a:t>win the 2014</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won the 2014</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World Cup.</a:t>
            </a:r>
            <a:endParaRPr lang="en-US" altLang="ko-KR" sz="2200" b="0" dirty="0">
              <a:solidFill>
                <a:srgbClr val="1F2328"/>
              </a:solidFill>
              <a:latin typeface="Calibri"/>
              <a:ea typeface="맑은 고딕"/>
              <a:cs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25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25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25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25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Lst>
  </p:timing>
</p:sld>
</file>

<file path=ppt/slides/slide19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L7-4</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1 · 1</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1. 다음 글의 주제로 가장 적절한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7</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본문 근거 형광 + 정답 원리</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176021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1760219"/>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1F2328"/>
                </a:solidFill>
                <a:latin typeface="Calibri"/>
                <a:ea typeface="맑은 고딕"/>
                <a:cs typeface="Calibri"/>
              </a:rPr>
              <a:t>Thanks to big data, police can now predict crime before it happens.</a:t>
            </a:r>
            <a:r>
              <a:rPr lang="en-US" altLang="ko-KR" sz="1500" b="0" dirty="0">
                <a:solidFill>
                  <a:srgbClr val="1F2328"/>
                </a:solidFill>
                <a:latin typeface="Calibri"/>
                <a:ea typeface="맑은 고딕"/>
                <a:cs typeface="Calibri"/>
              </a:rPr>
              <a:t> Through the analysis of big data about the type, time and place of crime, police can make a map of crime hot spots. This map identifies when and where crime is most likely to happen. Police can prevent further crime by focusing on the areas and the times this map predicts. Big data has already changed the world greatly. So where will the big data industry go from here? </a:t>
            </a:r>
            <a:r>
              <a:rPr lang="en-US" altLang="ko-KR" sz="1500" b="0" dirty="0">
                <a:solidFill>
                  <a:srgbClr val="1F2328"/>
                </a:solidFill>
                <a:latin typeface="Calibri"/>
                <a:ea typeface="맑은 고딕"/>
                <a:cs typeface="Calibri"/>
              </a:rPr>
              <a:t>Nobody knows for sure, but experts agree that big data will play a more and more important role in our lives.</a:t>
            </a:r>
            <a:endParaRPr lang="en-US" altLang="ko-KR" sz="1500" b="0" dirty="0">
              <a:solidFill>
                <a:srgbClr val="1F2328"/>
              </a:solidFill>
              <a:latin typeface="Calibri"/>
              <a:ea typeface="맑은 고딕"/>
              <a:cs typeface="Calibri"/>
            </a:endParaRPr>
          </a:p>
        </p:txBody>
      </p:sp>
      <p:sp>
        <p:nvSpPr>
          <p:cNvPr id="9" name="rv_evidence_card"/>
          <p:cNvSpPr/>
          <p:nvPr/>
        </p:nvSpPr>
        <p:spPr>
          <a:xfrm>
            <a:off x="457200" y="950976"/>
            <a:ext cx="11277295" cy="176021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rv_evidence"/>
          <p:cNvSpPr txBox="1"/>
          <p:nvPr/>
        </p:nvSpPr>
        <p:spPr>
          <a:xfrm>
            <a:off x="457200" y="950976"/>
            <a:ext cx="11277295" cy="1760219"/>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111111"/>
                </a:solidFill>
                <a:highlight>
                  <a:srgbClr val="FFE45C"/>
                </a:highlight>
                <a:latin typeface="Calibri"/>
                <a:ea typeface="맑은 고딕"/>
                <a:cs typeface="Calibri"/>
              </a:rPr>
              <a:t>Thanks to big data, police can now predict crime before it happens.</a:t>
            </a:r>
            <a:r>
              <a:rPr lang="en-US" altLang="ko-KR" sz="1500" b="0" dirty="0">
                <a:solidFill>
                  <a:srgbClr val="B3BAC6"/>
                </a:solidFill>
                <a:latin typeface="Calibri"/>
                <a:ea typeface="맑은 고딕"/>
                <a:cs typeface="Calibri"/>
              </a:rPr>
              <a:t> Through the analysis of big data about the type, time and place of crime, police can make a map of crime hot spots. This map identifies when and where crime is most likely to happen. Police can prevent further crime by focusing on the areas and the times this map predicts. Big data has already changed the world greatly. So where will the big data industry go from here? </a:t>
            </a:r>
            <a:r>
              <a:rPr lang="en-US" altLang="ko-KR" sz="1500" b="0" dirty="0">
                <a:solidFill>
                  <a:srgbClr val="111111"/>
                </a:solidFill>
                <a:highlight>
                  <a:srgbClr val="FFE45C"/>
                </a:highlight>
                <a:latin typeface="Calibri"/>
                <a:ea typeface="맑은 고딕"/>
                <a:cs typeface="Calibri"/>
              </a:rPr>
              <a:t>Nobody knows for sure, but experts agree that big data will play a more and more important role in our lives.</a:t>
            </a:r>
            <a:endParaRPr lang="en-US" altLang="ko-KR" sz="1500" b="0" dirty="0">
              <a:solidFill>
                <a:srgbClr val="111111"/>
              </a:solidFill>
              <a:latin typeface="Calibri"/>
              <a:ea typeface="맑은 고딕"/>
              <a:cs typeface="Calibri"/>
            </a:endParaRPr>
          </a:p>
        </p:txBody>
      </p:sp>
      <p:sp>
        <p:nvSpPr>
          <p:cNvPr id="11" name="choice_1"/>
          <p:cNvSpPr txBox="1"/>
          <p:nvPr/>
        </p:nvSpPr>
        <p:spPr>
          <a:xfrm>
            <a:off x="457200" y="2857500"/>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①</a:t>
            </a:r>
            <a:r>
              <a:rPr lang="en-US" altLang="ko-KR" sz="1800" b="0" dirty="0">
                <a:solidFill>
                  <a:srgbClr val="1F2328"/>
                </a:solidFill>
                <a:latin typeface="Calibri"/>
                <a:ea typeface="맑은 고딕"/>
                <a:cs typeface="Calibri"/>
              </a:rPr>
              <a:t>	the reasons crime happens more in some areas</a:t>
            </a:r>
            <a:endParaRPr lang="en-US" altLang="ko-KR" sz="1800" b="0" dirty="0">
              <a:solidFill>
                <a:srgbClr val="1F2328"/>
              </a:solidFill>
              <a:latin typeface="Calibri"/>
              <a:ea typeface="맑은 고딕"/>
              <a:cs typeface="Calibri"/>
            </a:endParaRPr>
          </a:p>
        </p:txBody>
      </p:sp>
      <p:sp>
        <p:nvSpPr>
          <p:cNvPr id="12" name="choice_2"/>
          <p:cNvSpPr txBox="1"/>
          <p:nvPr/>
        </p:nvSpPr>
        <p:spPr>
          <a:xfrm>
            <a:off x="457200" y="3264916"/>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②</a:t>
            </a:r>
            <a:r>
              <a:rPr lang="en-US" altLang="ko-KR" sz="1800" b="0" dirty="0">
                <a:solidFill>
                  <a:srgbClr val="1F2328"/>
                </a:solidFill>
                <a:latin typeface="Calibri"/>
                <a:ea typeface="맑은 고딕"/>
                <a:cs typeface="Calibri"/>
              </a:rPr>
              <a:t>	the ways police make maps of their own big cities</a:t>
            </a:r>
            <a:endParaRPr lang="en-US" altLang="ko-KR" sz="1800" b="0" dirty="0">
              <a:solidFill>
                <a:srgbClr val="1F2328"/>
              </a:solidFill>
              <a:latin typeface="Calibri"/>
              <a:ea typeface="맑은 고딕"/>
              <a:cs typeface="Calibri"/>
            </a:endParaRPr>
          </a:p>
        </p:txBody>
      </p:sp>
      <p:sp>
        <p:nvSpPr>
          <p:cNvPr id="13" name="choice_3"/>
          <p:cNvSpPr txBox="1"/>
          <p:nvPr/>
        </p:nvSpPr>
        <p:spPr>
          <a:xfrm>
            <a:off x="457200" y="3672332"/>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③</a:t>
            </a:r>
            <a:r>
              <a:rPr lang="en-US" altLang="ko-KR" sz="1800" b="0" dirty="0">
                <a:solidFill>
                  <a:srgbClr val="1F2328"/>
                </a:solidFill>
                <a:latin typeface="Calibri"/>
                <a:ea typeface="맑은 고딕"/>
                <a:cs typeface="Calibri"/>
              </a:rPr>
              <a:t>	why nobody can know the future of crime maps</a:t>
            </a:r>
            <a:endParaRPr lang="en-US" altLang="ko-KR" sz="1800" b="0" dirty="0">
              <a:solidFill>
                <a:srgbClr val="1F2328"/>
              </a:solidFill>
              <a:latin typeface="Calibri"/>
              <a:ea typeface="맑은 고딕"/>
              <a:cs typeface="Calibri"/>
            </a:endParaRPr>
          </a:p>
        </p:txBody>
      </p:sp>
      <p:sp>
        <p:nvSpPr>
          <p:cNvPr id="14" name="choice_4"/>
          <p:cNvSpPr txBox="1"/>
          <p:nvPr/>
        </p:nvSpPr>
        <p:spPr>
          <a:xfrm>
            <a:off x="457200" y="4079748"/>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④</a:t>
            </a:r>
            <a:r>
              <a:rPr lang="en-US" altLang="ko-KR" sz="1800" b="0" dirty="0">
                <a:solidFill>
                  <a:srgbClr val="1F2328"/>
                </a:solidFill>
                <a:latin typeface="Calibri"/>
                <a:ea typeface="맑은 고딕"/>
                <a:cs typeface="Calibri"/>
              </a:rPr>
              <a:t>	the use of big data in crime prevention and its future</a:t>
            </a:r>
            <a:endParaRPr lang="en-US" altLang="ko-KR" sz="1800" b="0" dirty="0">
              <a:solidFill>
                <a:srgbClr val="1F2328"/>
              </a:solidFill>
              <a:latin typeface="Calibri"/>
              <a:ea typeface="맑은 고딕"/>
              <a:cs typeface="Calibri"/>
            </a:endParaRPr>
          </a:p>
        </p:txBody>
      </p:sp>
      <p:sp>
        <p:nvSpPr>
          <p:cNvPr id="15" name="rv_pick"/>
          <p:cNvSpPr txBox="1"/>
          <p:nvPr/>
        </p:nvSpPr>
        <p:spPr>
          <a:xfrm>
            <a:off x="457200" y="4079748"/>
            <a:ext cx="11277295" cy="379984"/>
          </a:xfrm>
          <a:prstGeom prst="rect">
            <a:avLst/>
          </a:prstGeom>
          <a:solidFill>
            <a:srgbClr val="FFF3C4"/>
          </a:solid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C00000"/>
                </a:solidFill>
                <a:latin typeface="맑은 고딕"/>
                <a:ea typeface="맑은 고딕"/>
                <a:cs typeface="맑은 고딕"/>
              </a:rPr>
              <a:t>④</a:t>
            </a:r>
            <a:r>
              <a:rPr lang="en-US" altLang="ko-KR" sz="1800" b="0" dirty="0">
                <a:solidFill>
                  <a:srgbClr val="C00000"/>
                </a:solidFill>
                <a:latin typeface="Calibri"/>
                <a:ea typeface="맑은 고딕"/>
                <a:cs typeface="Calibri"/>
              </a:rPr>
              <a:t>	the use of big data in crime prevention and its future</a:t>
            </a:r>
            <a:endParaRPr lang="en-US" altLang="ko-KR" sz="1800" b="0" dirty="0">
              <a:solidFill>
                <a:srgbClr val="C00000"/>
              </a:solidFill>
              <a:latin typeface="Calibri"/>
              <a:ea typeface="맑은 고딕"/>
              <a:cs typeface="Calibri"/>
            </a:endParaRPr>
          </a:p>
        </p:txBody>
      </p:sp>
      <p:sp>
        <p:nvSpPr>
          <p:cNvPr id="16" name="choice_5"/>
          <p:cNvSpPr txBox="1"/>
          <p:nvPr/>
        </p:nvSpPr>
        <p:spPr>
          <a:xfrm>
            <a:off x="457200" y="4487164"/>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⑤</a:t>
            </a:r>
            <a:r>
              <a:rPr lang="en-US" altLang="ko-KR" sz="1800" b="0" dirty="0">
                <a:solidFill>
                  <a:srgbClr val="1F2328"/>
                </a:solidFill>
                <a:latin typeface="Calibri"/>
                <a:ea typeface="맑은 고딕"/>
                <a:cs typeface="Calibri"/>
              </a:rPr>
              <a:t>	the dangers of big data for people's privacy</a:t>
            </a:r>
            <a:endParaRPr lang="en-US" altLang="ko-KR" sz="1800" b="0" dirty="0">
              <a:solidFill>
                <a:srgbClr val="1F2328"/>
              </a:solidFill>
              <a:latin typeface="Calibri"/>
              <a:ea typeface="맑은 고딕"/>
              <a:cs typeface="Calibri"/>
            </a:endParaRPr>
          </a:p>
        </p:txBody>
      </p:sp>
      <p:sp>
        <p:nvSpPr>
          <p:cNvPr id="17" name="rv_answer"/>
          <p:cNvSpPr/>
          <p:nvPr/>
        </p:nvSpPr>
        <p:spPr>
          <a:xfrm>
            <a:off x="457200" y="497687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④ </a:t>
            </a:r>
            <a:r>
              <a:rPr lang="en-US" altLang="ko-KR" sz="1900" b="1" dirty="0">
                <a:solidFill>
                  <a:srgbClr val="5A4200"/>
                </a:solidFill>
                <a:latin typeface="Calibri"/>
                <a:ea typeface="맑은 고딕"/>
                <a:cs typeface="Calibri"/>
              </a:rPr>
              <a:t>the use of big data in crime prevention and its future</a:t>
            </a:r>
            <a:endParaRPr lang="en-US" altLang="ko-KR" sz="1900" b="1" dirty="0">
              <a:solidFill>
                <a:srgbClr val="5A4200"/>
              </a:solidFill>
              <a:latin typeface="Calibri"/>
              <a:ea typeface="맑은 고딕"/>
              <a:cs typeface="Calibri"/>
            </a:endParaRPr>
          </a:p>
        </p:txBody>
      </p:sp>
      <p:sp>
        <p:nvSpPr>
          <p:cNvPr id="18" name="rv_why"/>
          <p:cNvSpPr/>
          <p:nvPr/>
        </p:nvSpPr>
        <p:spPr>
          <a:xfrm>
            <a:off x="457200" y="5575808"/>
            <a:ext cx="11277295" cy="84327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빅데이터로 경찰이 범죄를 예측하고, 앞으로 그 역할이 더 중요해진다고 했다. 둘을 담은 ④가 주제다.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250"/>
                                        <p:tgtEl>
                                          <p:spTgt spid="1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25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25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7" grpId="0" animBg="1"/>
      <p:bldP spid="9" grpId="0" animBg="1"/>
      <p:bldP spid="10" grpId="0" animBg="1"/>
      <p:bldP spid="18" grpId="0" animBg="1"/>
    </p:bldLst>
  </p:timing>
</p:sld>
</file>

<file path=ppt/slides/slide19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L7-4</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1 · 2</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2. 다음 글의 제목으로 가장 적절한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7</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본문 근거 형광 + 정답 원리</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176021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1760219"/>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1F2328"/>
                </a:solidFill>
                <a:latin typeface="Calibri"/>
                <a:ea typeface="맑은 고딕"/>
                <a:cs typeface="Calibri"/>
              </a:rPr>
              <a:t>Thanks to big data, police can now predict crime before it happens.</a:t>
            </a:r>
            <a:r>
              <a:rPr lang="en-US" altLang="ko-KR" sz="1500" b="0" dirty="0">
                <a:solidFill>
                  <a:srgbClr val="1F2328"/>
                </a:solidFill>
                <a:latin typeface="Calibri"/>
                <a:ea typeface="맑은 고딕"/>
                <a:cs typeface="Calibri"/>
              </a:rPr>
              <a:t> Through the analysis of big data about the type, time and place of crime, police can make a map of crime hot spots. This map identifies when and where crime is most likely to happen. Police can prevent further crime by focusing on the areas and the times this map predicts. Big data has already changed the world greatly. So where will the big data industry go from here? </a:t>
            </a:r>
            <a:r>
              <a:rPr lang="en-US" altLang="ko-KR" sz="1500" b="0" dirty="0">
                <a:solidFill>
                  <a:srgbClr val="1F2328"/>
                </a:solidFill>
                <a:latin typeface="Calibri"/>
                <a:ea typeface="맑은 고딕"/>
                <a:cs typeface="Calibri"/>
              </a:rPr>
              <a:t>Nobody knows for sure, but experts agree that big data will play a more and more important role in our lives.</a:t>
            </a:r>
            <a:endParaRPr lang="en-US" altLang="ko-KR" sz="1500" b="0" dirty="0">
              <a:solidFill>
                <a:srgbClr val="1F2328"/>
              </a:solidFill>
              <a:latin typeface="Calibri"/>
              <a:ea typeface="맑은 고딕"/>
              <a:cs typeface="Calibri"/>
            </a:endParaRPr>
          </a:p>
        </p:txBody>
      </p:sp>
      <p:sp>
        <p:nvSpPr>
          <p:cNvPr id="9" name="rv_evidence_card"/>
          <p:cNvSpPr/>
          <p:nvPr/>
        </p:nvSpPr>
        <p:spPr>
          <a:xfrm>
            <a:off x="457200" y="950976"/>
            <a:ext cx="11277295" cy="176021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rv_evidence"/>
          <p:cNvSpPr txBox="1"/>
          <p:nvPr/>
        </p:nvSpPr>
        <p:spPr>
          <a:xfrm>
            <a:off x="457200" y="950976"/>
            <a:ext cx="11277295" cy="1760219"/>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111111"/>
                </a:solidFill>
                <a:highlight>
                  <a:srgbClr val="FFE45C"/>
                </a:highlight>
                <a:latin typeface="Calibri"/>
                <a:ea typeface="맑은 고딕"/>
                <a:cs typeface="Calibri"/>
              </a:rPr>
              <a:t>Thanks to big data, police can now predict crime before it happens.</a:t>
            </a:r>
            <a:r>
              <a:rPr lang="en-US" altLang="ko-KR" sz="1500" b="0" dirty="0">
                <a:solidFill>
                  <a:srgbClr val="B3BAC6"/>
                </a:solidFill>
                <a:latin typeface="Calibri"/>
                <a:ea typeface="맑은 고딕"/>
                <a:cs typeface="Calibri"/>
              </a:rPr>
              <a:t> Through the analysis of big data about the type, time and place of crime, police can make a map of crime hot spots. This map identifies when and where crime is most likely to happen. Police can prevent further crime by focusing on the areas and the times this map predicts. Big data has already changed the world greatly. So where will the big data industry go from here? </a:t>
            </a:r>
            <a:r>
              <a:rPr lang="en-US" altLang="ko-KR" sz="1500" b="0" dirty="0">
                <a:solidFill>
                  <a:srgbClr val="111111"/>
                </a:solidFill>
                <a:highlight>
                  <a:srgbClr val="FFE45C"/>
                </a:highlight>
                <a:latin typeface="Calibri"/>
                <a:ea typeface="맑은 고딕"/>
                <a:cs typeface="Calibri"/>
              </a:rPr>
              <a:t>Nobody knows for sure, but experts agree that big data will play a more and more important role in our lives.</a:t>
            </a:r>
            <a:endParaRPr lang="en-US" altLang="ko-KR" sz="1500" b="0" dirty="0">
              <a:solidFill>
                <a:srgbClr val="111111"/>
              </a:solidFill>
              <a:latin typeface="Calibri"/>
              <a:ea typeface="맑은 고딕"/>
              <a:cs typeface="Calibri"/>
            </a:endParaRPr>
          </a:p>
        </p:txBody>
      </p:sp>
      <p:sp>
        <p:nvSpPr>
          <p:cNvPr id="11" name="choice_1"/>
          <p:cNvSpPr txBox="1"/>
          <p:nvPr/>
        </p:nvSpPr>
        <p:spPr>
          <a:xfrm>
            <a:off x="457200" y="2857500"/>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①</a:t>
            </a:r>
            <a:r>
              <a:rPr lang="en-US" altLang="ko-KR" sz="1800" b="0" dirty="0">
                <a:solidFill>
                  <a:srgbClr val="1F2328"/>
                </a:solidFill>
                <a:latin typeface="Calibri"/>
                <a:ea typeface="맑은 고딕"/>
                <a:cs typeface="Calibri"/>
              </a:rPr>
              <a:t>	Crime Maps Make Cities More Dangerous</a:t>
            </a:r>
            <a:endParaRPr lang="en-US" altLang="ko-KR" sz="1800" b="0" dirty="0">
              <a:solidFill>
                <a:srgbClr val="1F2328"/>
              </a:solidFill>
              <a:latin typeface="Calibri"/>
              <a:ea typeface="맑은 고딕"/>
              <a:cs typeface="Calibri"/>
            </a:endParaRPr>
          </a:p>
        </p:txBody>
      </p:sp>
      <p:sp>
        <p:nvSpPr>
          <p:cNvPr id="12" name="choice_2"/>
          <p:cNvSpPr txBox="1"/>
          <p:nvPr/>
        </p:nvSpPr>
        <p:spPr>
          <a:xfrm>
            <a:off x="457200" y="3264916"/>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②</a:t>
            </a:r>
            <a:r>
              <a:rPr lang="en-US" altLang="ko-KR" sz="1800" b="0" dirty="0">
                <a:solidFill>
                  <a:srgbClr val="1F2328"/>
                </a:solidFill>
                <a:latin typeface="Calibri"/>
                <a:ea typeface="맑은 고딕"/>
                <a:cs typeface="Calibri"/>
              </a:rPr>
              <a:t>	Can Experts Predict Their Own Future?</a:t>
            </a:r>
            <a:endParaRPr lang="en-US" altLang="ko-KR" sz="1800" b="0" dirty="0">
              <a:solidFill>
                <a:srgbClr val="1F2328"/>
              </a:solidFill>
              <a:latin typeface="Calibri"/>
              <a:ea typeface="맑은 고딕"/>
              <a:cs typeface="Calibri"/>
            </a:endParaRPr>
          </a:p>
        </p:txBody>
      </p:sp>
      <p:sp>
        <p:nvSpPr>
          <p:cNvPr id="13" name="choice_3"/>
          <p:cNvSpPr txBox="1"/>
          <p:nvPr/>
        </p:nvSpPr>
        <p:spPr>
          <a:xfrm>
            <a:off x="457200" y="3672332"/>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③</a:t>
            </a:r>
            <a:r>
              <a:rPr lang="en-US" altLang="ko-KR" sz="1800" b="0" dirty="0">
                <a:solidFill>
                  <a:srgbClr val="1F2328"/>
                </a:solidFill>
                <a:latin typeface="Calibri"/>
                <a:ea typeface="맑은 고딕"/>
                <a:cs typeface="Calibri"/>
              </a:rPr>
              <a:t>	Police Should Work Much Harder at Night</a:t>
            </a:r>
            <a:endParaRPr lang="en-US" altLang="ko-KR" sz="1800" b="0" dirty="0">
              <a:solidFill>
                <a:srgbClr val="1F2328"/>
              </a:solidFill>
              <a:latin typeface="Calibri"/>
              <a:ea typeface="맑은 고딕"/>
              <a:cs typeface="Calibri"/>
            </a:endParaRPr>
          </a:p>
        </p:txBody>
      </p:sp>
      <p:sp>
        <p:nvSpPr>
          <p:cNvPr id="14" name="choice_4"/>
          <p:cNvSpPr txBox="1"/>
          <p:nvPr/>
        </p:nvSpPr>
        <p:spPr>
          <a:xfrm>
            <a:off x="457200" y="4079748"/>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④</a:t>
            </a:r>
            <a:r>
              <a:rPr lang="en-US" altLang="ko-KR" sz="1800" b="0" dirty="0">
                <a:solidFill>
                  <a:srgbClr val="1F2328"/>
                </a:solidFill>
                <a:latin typeface="Calibri"/>
                <a:ea typeface="맑은 고딕"/>
                <a:cs typeface="Calibri"/>
              </a:rPr>
              <a:t>	The Big Data Industry Will Soon Disappear</a:t>
            </a:r>
            <a:endParaRPr lang="en-US" altLang="ko-KR" sz="1800" b="0" dirty="0">
              <a:solidFill>
                <a:srgbClr val="1F2328"/>
              </a:solidFill>
              <a:latin typeface="Calibri"/>
              <a:ea typeface="맑은 고딕"/>
              <a:cs typeface="Calibri"/>
            </a:endParaRPr>
          </a:p>
        </p:txBody>
      </p:sp>
      <p:sp>
        <p:nvSpPr>
          <p:cNvPr id="15" name="choice_5"/>
          <p:cNvSpPr txBox="1"/>
          <p:nvPr/>
        </p:nvSpPr>
        <p:spPr>
          <a:xfrm>
            <a:off x="457200" y="4487164"/>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⑤</a:t>
            </a:r>
            <a:r>
              <a:rPr lang="en-US" altLang="ko-KR" sz="1800" b="0" dirty="0">
                <a:solidFill>
                  <a:srgbClr val="1F2328"/>
                </a:solidFill>
                <a:latin typeface="Calibri"/>
                <a:ea typeface="맑은 고딕"/>
                <a:cs typeface="Calibri"/>
              </a:rPr>
              <a:t>	Big Data Fights Crime and Shapes the Future</a:t>
            </a:r>
            <a:endParaRPr lang="en-US" altLang="ko-KR" sz="1800" b="0" dirty="0">
              <a:solidFill>
                <a:srgbClr val="1F2328"/>
              </a:solidFill>
              <a:latin typeface="Calibri"/>
              <a:ea typeface="맑은 고딕"/>
              <a:cs typeface="Calibri"/>
            </a:endParaRPr>
          </a:p>
        </p:txBody>
      </p:sp>
      <p:sp>
        <p:nvSpPr>
          <p:cNvPr id="16" name="rv_pick"/>
          <p:cNvSpPr txBox="1"/>
          <p:nvPr/>
        </p:nvSpPr>
        <p:spPr>
          <a:xfrm>
            <a:off x="457200" y="4487164"/>
            <a:ext cx="11277295" cy="379984"/>
          </a:xfrm>
          <a:prstGeom prst="rect">
            <a:avLst/>
          </a:prstGeom>
          <a:solidFill>
            <a:srgbClr val="FFF3C4"/>
          </a:solid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C00000"/>
                </a:solidFill>
                <a:latin typeface="맑은 고딕"/>
                <a:ea typeface="맑은 고딕"/>
                <a:cs typeface="맑은 고딕"/>
              </a:rPr>
              <a:t>⑤</a:t>
            </a:r>
            <a:r>
              <a:rPr lang="en-US" altLang="ko-KR" sz="1800" b="0" dirty="0">
                <a:solidFill>
                  <a:srgbClr val="C00000"/>
                </a:solidFill>
                <a:latin typeface="Calibri"/>
                <a:ea typeface="맑은 고딕"/>
                <a:cs typeface="Calibri"/>
              </a:rPr>
              <a:t>	Big Data Fights Crime and Shapes the Future</a:t>
            </a:r>
            <a:endParaRPr lang="en-US" altLang="ko-KR" sz="1800" b="0" dirty="0">
              <a:solidFill>
                <a:srgbClr val="C00000"/>
              </a:solidFill>
              <a:latin typeface="Calibri"/>
              <a:ea typeface="맑은 고딕"/>
              <a:cs typeface="Calibri"/>
            </a:endParaRPr>
          </a:p>
        </p:txBody>
      </p:sp>
      <p:sp>
        <p:nvSpPr>
          <p:cNvPr id="17" name="rv_answer"/>
          <p:cNvSpPr/>
          <p:nvPr/>
        </p:nvSpPr>
        <p:spPr>
          <a:xfrm>
            <a:off x="457200" y="497687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⑤ </a:t>
            </a:r>
            <a:r>
              <a:rPr lang="en-US" altLang="ko-KR" sz="1900" b="1" dirty="0">
                <a:solidFill>
                  <a:srgbClr val="5A4200"/>
                </a:solidFill>
                <a:latin typeface="Calibri"/>
                <a:ea typeface="맑은 고딕"/>
                <a:cs typeface="Calibri"/>
              </a:rPr>
              <a:t>Big Data Fights Crime and Shapes the Future</a:t>
            </a:r>
            <a:endParaRPr lang="en-US" altLang="ko-KR" sz="1900" b="1" dirty="0">
              <a:solidFill>
                <a:srgbClr val="5A4200"/>
              </a:solidFill>
              <a:latin typeface="Calibri"/>
              <a:ea typeface="맑은 고딕"/>
              <a:cs typeface="Calibri"/>
            </a:endParaRPr>
          </a:p>
        </p:txBody>
      </p:sp>
      <p:sp>
        <p:nvSpPr>
          <p:cNvPr id="18" name="rv_why"/>
          <p:cNvSpPr/>
          <p:nvPr/>
        </p:nvSpPr>
        <p:spPr>
          <a:xfrm>
            <a:off x="457200" y="5575808"/>
            <a:ext cx="11277295" cy="84327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빅데이터가 범죄를 막는 데 쓰이고 미래에 더 큰 역할을 한다고 했으므로 ⑤가 제목이다.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250"/>
                                        <p:tgtEl>
                                          <p:spTgt spid="1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25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25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7" grpId="0" animBg="1"/>
      <p:bldP spid="9" grpId="0" animBg="1"/>
      <p:bldP spid="10" grpId="0" animBg="1"/>
      <p:bldP spid="18" grpId="0" animBg="1"/>
    </p:bldLst>
  </p:timing>
</p:sld>
</file>

<file path=ppt/slides/slide19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L7-4</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1 · 3</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3. 다음 글에서 필자가 주장하는 바로 가장 적절한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7</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본문 근거 형광 + 정답 원리</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176021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1760219"/>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1F2328"/>
                </a:solidFill>
                <a:latin typeface="Calibri"/>
                <a:ea typeface="맑은 고딕"/>
                <a:cs typeface="Calibri"/>
              </a:rPr>
              <a:t>Thanks to big data, police can now predict crime before it happens. Through the analysis of big data about the type, time and place of crime, police can make a map of crime hot spots. This map identifies when and where crime is most likely to happen. </a:t>
            </a:r>
            <a:r>
              <a:rPr lang="en-US" altLang="ko-KR" sz="1500" b="0" dirty="0">
                <a:solidFill>
                  <a:srgbClr val="1F2328"/>
                </a:solidFill>
                <a:latin typeface="Calibri"/>
                <a:ea typeface="맑은 고딕"/>
                <a:cs typeface="Calibri"/>
              </a:rPr>
              <a:t>Police can prevent further crime by focusing on the areas and the times this map predicts.</a:t>
            </a:r>
            <a:r>
              <a:rPr lang="en-US" altLang="ko-KR" sz="1500" b="0" dirty="0">
                <a:solidFill>
                  <a:srgbClr val="1F2328"/>
                </a:solidFill>
                <a:latin typeface="Calibri"/>
                <a:ea typeface="맑은 고딕"/>
                <a:cs typeface="Calibri"/>
              </a:rPr>
              <a:t> Big data has already changed the world greatly. So where will the big data industry go from here? Nobody knows for sure, but experts agree that big data will play a more and more important role in our lives.</a:t>
            </a:r>
            <a:endParaRPr lang="en-US" altLang="ko-KR" sz="1500" b="0" dirty="0">
              <a:solidFill>
                <a:srgbClr val="1F2328"/>
              </a:solidFill>
              <a:latin typeface="Calibri"/>
              <a:ea typeface="맑은 고딕"/>
              <a:cs typeface="Calibri"/>
            </a:endParaRPr>
          </a:p>
        </p:txBody>
      </p:sp>
      <p:sp>
        <p:nvSpPr>
          <p:cNvPr id="9" name="rv_evidence_card"/>
          <p:cNvSpPr/>
          <p:nvPr/>
        </p:nvSpPr>
        <p:spPr>
          <a:xfrm>
            <a:off x="457200" y="950976"/>
            <a:ext cx="11277295" cy="176021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rv_evidence"/>
          <p:cNvSpPr txBox="1"/>
          <p:nvPr/>
        </p:nvSpPr>
        <p:spPr>
          <a:xfrm>
            <a:off x="457200" y="950976"/>
            <a:ext cx="11277295" cy="1760219"/>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B3BAC6"/>
                </a:solidFill>
                <a:latin typeface="Calibri"/>
                <a:ea typeface="맑은 고딕"/>
                <a:cs typeface="Calibri"/>
              </a:rPr>
              <a:t>Thanks to big data, police can now predict crime before it happens. Through the analysis of big data about the type, time and place of crime, police can make a map of crime hot spots. This map identifies when and where crime is most likely to happen. </a:t>
            </a:r>
            <a:r>
              <a:rPr lang="en-US" altLang="ko-KR" sz="1500" b="0" dirty="0">
                <a:solidFill>
                  <a:srgbClr val="111111"/>
                </a:solidFill>
                <a:highlight>
                  <a:srgbClr val="FFE45C"/>
                </a:highlight>
                <a:latin typeface="Calibri"/>
                <a:ea typeface="맑은 고딕"/>
                <a:cs typeface="Calibri"/>
              </a:rPr>
              <a:t>Police can prevent further crime by focusing on the areas and the times this map predicts.</a:t>
            </a:r>
            <a:r>
              <a:rPr lang="en-US" altLang="ko-KR" sz="1500" b="0" dirty="0">
                <a:solidFill>
                  <a:srgbClr val="B3BAC6"/>
                </a:solidFill>
                <a:latin typeface="Calibri"/>
                <a:ea typeface="맑은 고딕"/>
                <a:cs typeface="Calibri"/>
              </a:rPr>
              <a:t> Big data has already changed the world greatly. So where will the big data industry go from here? Nobody knows for sure, but experts agree that big data will play a more and more important role in our lives.</a:t>
            </a:r>
            <a:endParaRPr lang="en-US" altLang="ko-KR" sz="1500" b="0" dirty="0">
              <a:solidFill>
                <a:srgbClr val="B3BAC6"/>
              </a:solidFill>
              <a:latin typeface="Calibri"/>
              <a:ea typeface="맑은 고딕"/>
              <a:cs typeface="Calibri"/>
            </a:endParaRPr>
          </a:p>
        </p:txBody>
      </p:sp>
      <p:sp>
        <p:nvSpPr>
          <p:cNvPr id="11" name="choice_1"/>
          <p:cNvSpPr txBox="1"/>
          <p:nvPr/>
        </p:nvSpPr>
        <p:spPr>
          <a:xfrm>
            <a:off x="457200" y="2857500"/>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①</a:t>
            </a:r>
            <a:r>
              <a:rPr lang="ko-KR" altLang="en-US" sz="1800" b="0" dirty="0">
                <a:solidFill>
                  <a:srgbClr val="1F2328"/>
                </a:solidFill>
                <a:latin typeface="맑은 고딕"/>
                <a:ea typeface="맑은 고딕"/>
                <a:cs typeface="맑은 고딕"/>
              </a:rPr>
              <a:t>	빅데이터 분석을 범죄 예방에 적극적으로 활용해야 한다</a:t>
            </a:r>
            <a:endParaRPr lang="ko-KR" altLang="en-US" sz="1800" b="0" dirty="0">
              <a:solidFill>
                <a:srgbClr val="1F2328"/>
              </a:solidFill>
              <a:latin typeface="맑은 고딕"/>
              <a:ea typeface="맑은 고딕"/>
              <a:cs typeface="맑은 고딕"/>
            </a:endParaRPr>
          </a:p>
        </p:txBody>
      </p:sp>
      <p:sp>
        <p:nvSpPr>
          <p:cNvPr id="12" name="rv_pick"/>
          <p:cNvSpPr txBox="1"/>
          <p:nvPr/>
        </p:nvSpPr>
        <p:spPr>
          <a:xfrm>
            <a:off x="457200" y="2857500"/>
            <a:ext cx="11277295" cy="379984"/>
          </a:xfrm>
          <a:prstGeom prst="rect">
            <a:avLst/>
          </a:prstGeom>
          <a:solidFill>
            <a:srgbClr val="FFF3C4"/>
          </a:solid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C00000"/>
                </a:solidFill>
                <a:latin typeface="맑은 고딕"/>
                <a:ea typeface="맑은 고딕"/>
                <a:cs typeface="맑은 고딕"/>
              </a:rPr>
              <a:t>①</a:t>
            </a:r>
            <a:r>
              <a:rPr lang="ko-KR" altLang="en-US" sz="1800" b="0" dirty="0">
                <a:solidFill>
                  <a:srgbClr val="C00000"/>
                </a:solidFill>
                <a:latin typeface="맑은 고딕"/>
                <a:ea typeface="맑은 고딕"/>
                <a:cs typeface="맑은 고딕"/>
              </a:rPr>
              <a:t>	빅데이터 분석을 범죄 예방에 적극적으로 활용해야 한다</a:t>
            </a:r>
            <a:endParaRPr lang="ko-KR" altLang="en-US" sz="1800" b="0" dirty="0">
              <a:solidFill>
                <a:srgbClr val="C00000"/>
              </a:solidFill>
              <a:latin typeface="맑은 고딕"/>
              <a:ea typeface="맑은 고딕"/>
              <a:cs typeface="맑은 고딕"/>
            </a:endParaRPr>
          </a:p>
        </p:txBody>
      </p:sp>
      <p:sp>
        <p:nvSpPr>
          <p:cNvPr id="13" name="choice_2"/>
          <p:cNvSpPr txBox="1"/>
          <p:nvPr/>
        </p:nvSpPr>
        <p:spPr>
          <a:xfrm>
            <a:off x="457200" y="3264916"/>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②</a:t>
            </a:r>
            <a:r>
              <a:rPr lang="ko-KR" altLang="en-US" sz="1800" b="0" dirty="0">
                <a:solidFill>
                  <a:srgbClr val="1F2328"/>
                </a:solidFill>
                <a:latin typeface="맑은 고딕"/>
                <a:ea typeface="맑은 고딕"/>
                <a:cs typeface="맑은 고딕"/>
              </a:rPr>
              <a:t>	경찰은 범죄 다발 지역에 순찰 인력을 두 배로 늘려야 한다</a:t>
            </a:r>
            <a:endParaRPr lang="ko-KR" altLang="en-US" sz="1800" b="0" dirty="0">
              <a:solidFill>
                <a:srgbClr val="1F2328"/>
              </a:solidFill>
              <a:latin typeface="맑은 고딕"/>
              <a:ea typeface="맑은 고딕"/>
              <a:cs typeface="맑은 고딕"/>
            </a:endParaRPr>
          </a:p>
        </p:txBody>
      </p:sp>
      <p:sp>
        <p:nvSpPr>
          <p:cNvPr id="14" name="choice_3"/>
          <p:cNvSpPr txBox="1"/>
          <p:nvPr/>
        </p:nvSpPr>
        <p:spPr>
          <a:xfrm>
            <a:off x="457200" y="3672332"/>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③</a:t>
            </a:r>
            <a:r>
              <a:rPr lang="ko-KR" altLang="en-US" sz="1800" b="0" dirty="0">
                <a:solidFill>
                  <a:srgbClr val="1F2328"/>
                </a:solidFill>
                <a:latin typeface="맑은 고딕"/>
                <a:ea typeface="맑은 고딕"/>
                <a:cs typeface="맑은 고딕"/>
              </a:rPr>
              <a:t>	범죄 지도는 시민들에게 공개하지 않고 비밀로 해야 한다</a:t>
            </a:r>
            <a:endParaRPr lang="ko-KR" altLang="en-US" sz="1800" b="0" dirty="0">
              <a:solidFill>
                <a:srgbClr val="1F2328"/>
              </a:solidFill>
              <a:latin typeface="맑은 고딕"/>
              <a:ea typeface="맑은 고딕"/>
              <a:cs typeface="맑은 고딕"/>
            </a:endParaRPr>
          </a:p>
        </p:txBody>
      </p:sp>
      <p:sp>
        <p:nvSpPr>
          <p:cNvPr id="15" name="choice_4"/>
          <p:cNvSpPr txBox="1"/>
          <p:nvPr/>
        </p:nvSpPr>
        <p:spPr>
          <a:xfrm>
            <a:off x="457200" y="4079748"/>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④</a:t>
            </a:r>
            <a:r>
              <a:rPr lang="ko-KR" altLang="en-US" sz="1800" b="0" dirty="0">
                <a:solidFill>
                  <a:srgbClr val="1F2328"/>
                </a:solidFill>
                <a:latin typeface="맑은 고딕"/>
                <a:ea typeface="맑은 고딕"/>
                <a:cs typeface="맑은 고딕"/>
              </a:rPr>
              <a:t>	빅데이터 산업의 미래는 전문가에게 맡기지 말아야 한다</a:t>
            </a:r>
            <a:endParaRPr lang="ko-KR" altLang="en-US" sz="1800" b="0" dirty="0">
              <a:solidFill>
                <a:srgbClr val="1F2328"/>
              </a:solidFill>
              <a:latin typeface="맑은 고딕"/>
              <a:ea typeface="맑은 고딕"/>
              <a:cs typeface="맑은 고딕"/>
            </a:endParaRPr>
          </a:p>
        </p:txBody>
      </p:sp>
      <p:sp>
        <p:nvSpPr>
          <p:cNvPr id="16" name="choice_5"/>
          <p:cNvSpPr txBox="1"/>
          <p:nvPr/>
        </p:nvSpPr>
        <p:spPr>
          <a:xfrm>
            <a:off x="457200" y="4487164"/>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⑤</a:t>
            </a:r>
            <a:r>
              <a:rPr lang="ko-KR" altLang="en-US" sz="1800" b="0" dirty="0">
                <a:solidFill>
                  <a:srgbClr val="1F2328"/>
                </a:solidFill>
                <a:latin typeface="맑은 고딕"/>
                <a:ea typeface="맑은 고딕"/>
                <a:cs typeface="맑은 고딕"/>
              </a:rPr>
              <a:t>	범죄의 유형보다 장소에 대한 정보를 더 많이 모아야 한다</a:t>
            </a:r>
            <a:endParaRPr lang="ko-KR" altLang="en-US" sz="1800" b="0" dirty="0">
              <a:solidFill>
                <a:srgbClr val="1F2328"/>
              </a:solidFill>
              <a:latin typeface="맑은 고딕"/>
              <a:ea typeface="맑은 고딕"/>
              <a:cs typeface="맑은 고딕"/>
            </a:endParaRPr>
          </a:p>
        </p:txBody>
      </p:sp>
      <p:sp>
        <p:nvSpPr>
          <p:cNvPr id="17" name="rv_answer"/>
          <p:cNvSpPr/>
          <p:nvPr/>
        </p:nvSpPr>
        <p:spPr>
          <a:xfrm>
            <a:off x="457200" y="497687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① </a:t>
            </a:r>
            <a:r>
              <a:rPr lang="ko-KR" altLang="en-US" sz="1900" b="1" dirty="0">
                <a:solidFill>
                  <a:srgbClr val="5A4200"/>
                </a:solidFill>
                <a:latin typeface="맑은 고딕"/>
                <a:ea typeface="맑은 고딕"/>
                <a:cs typeface="맑은 고딕"/>
              </a:rPr>
              <a:t>빅데이터 분석을 범죄 예방에 적극적으로 활용해야 한다</a:t>
            </a:r>
            <a:endParaRPr lang="ko-KR" altLang="en-US" sz="1900" b="1" dirty="0">
              <a:solidFill>
                <a:srgbClr val="5A4200"/>
              </a:solidFill>
              <a:latin typeface="맑은 고딕"/>
              <a:ea typeface="맑은 고딕"/>
              <a:cs typeface="맑은 고딕"/>
            </a:endParaRPr>
          </a:p>
        </p:txBody>
      </p:sp>
      <p:sp>
        <p:nvSpPr>
          <p:cNvPr id="18" name="rv_why"/>
          <p:cNvSpPr/>
          <p:nvPr/>
        </p:nvSpPr>
        <p:spPr>
          <a:xfrm>
            <a:off x="457200" y="5575808"/>
            <a:ext cx="11277295" cy="84327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지도가 예측한 지역과 시간에 집중해 추가 범죄를 막을 수 있다고 했다. 이를 옮긴 ①이 주장이다.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25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25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25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7" grpId="0" animBg="1"/>
      <p:bldP spid="9" grpId="0" animBg="1"/>
      <p:bldP spid="10" grpId="0" animBg="1"/>
      <p:bldP spid="18" grpId="0" animBg="1"/>
    </p:bldLst>
  </p:timing>
</p:sld>
</file>

<file path=ppt/slides/slide19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L7-4</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1 · 4</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4. 다음 글의 요지로 가장 적절한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7</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본문 근거 형광 + 정답 원리</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176021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1760219"/>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1F2328"/>
                </a:solidFill>
                <a:latin typeface="Calibri"/>
                <a:ea typeface="맑은 고딕"/>
                <a:cs typeface="Calibri"/>
              </a:rPr>
              <a:t>Thanks to big data, police can now predict crime before it happens.</a:t>
            </a:r>
            <a:r>
              <a:rPr lang="en-US" altLang="ko-KR" sz="1500" b="0" dirty="0">
                <a:solidFill>
                  <a:srgbClr val="1F2328"/>
                </a:solidFill>
                <a:latin typeface="Calibri"/>
                <a:ea typeface="맑은 고딕"/>
                <a:cs typeface="Calibri"/>
              </a:rPr>
              <a:t> Through the analysis of big data about the type, time and place of crime, police can make a map of crime hot spots. This map identifies when and where crime is most likely to happen. Police can prevent further crime by focusing on the areas and the times this map predicts. Big data has already changed the world greatly. So where will the big data industry go from here? </a:t>
            </a:r>
            <a:r>
              <a:rPr lang="en-US" altLang="ko-KR" sz="1500" b="0" dirty="0">
                <a:solidFill>
                  <a:srgbClr val="1F2328"/>
                </a:solidFill>
                <a:latin typeface="Calibri"/>
                <a:ea typeface="맑은 고딕"/>
                <a:cs typeface="Calibri"/>
              </a:rPr>
              <a:t>Nobody knows for sure, but experts agree that big data will play a more and more important role in our lives.</a:t>
            </a:r>
            <a:endParaRPr lang="en-US" altLang="ko-KR" sz="1500" b="0" dirty="0">
              <a:solidFill>
                <a:srgbClr val="1F2328"/>
              </a:solidFill>
              <a:latin typeface="Calibri"/>
              <a:ea typeface="맑은 고딕"/>
              <a:cs typeface="Calibri"/>
            </a:endParaRPr>
          </a:p>
        </p:txBody>
      </p:sp>
      <p:sp>
        <p:nvSpPr>
          <p:cNvPr id="9" name="rv_evidence_card"/>
          <p:cNvSpPr/>
          <p:nvPr/>
        </p:nvSpPr>
        <p:spPr>
          <a:xfrm>
            <a:off x="457200" y="950976"/>
            <a:ext cx="11277295" cy="176021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rv_evidence"/>
          <p:cNvSpPr txBox="1"/>
          <p:nvPr/>
        </p:nvSpPr>
        <p:spPr>
          <a:xfrm>
            <a:off x="457200" y="950976"/>
            <a:ext cx="11277295" cy="1760219"/>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111111"/>
                </a:solidFill>
                <a:highlight>
                  <a:srgbClr val="FFE45C"/>
                </a:highlight>
                <a:latin typeface="Calibri"/>
                <a:ea typeface="맑은 고딕"/>
                <a:cs typeface="Calibri"/>
              </a:rPr>
              <a:t>Thanks to big data, police can now predict crime before it happens.</a:t>
            </a:r>
            <a:r>
              <a:rPr lang="en-US" altLang="ko-KR" sz="1500" b="0" dirty="0">
                <a:solidFill>
                  <a:srgbClr val="B3BAC6"/>
                </a:solidFill>
                <a:latin typeface="Calibri"/>
                <a:ea typeface="맑은 고딕"/>
                <a:cs typeface="Calibri"/>
              </a:rPr>
              <a:t> Through the analysis of big data about the type, time and place of crime, police can make a map of crime hot spots. This map identifies when and where crime is most likely to happen. Police can prevent further crime by focusing on the areas and the times this map predicts. Big data has already changed the world greatly. So where will the big data industry go from here? </a:t>
            </a:r>
            <a:r>
              <a:rPr lang="en-US" altLang="ko-KR" sz="1500" b="0" dirty="0">
                <a:solidFill>
                  <a:srgbClr val="111111"/>
                </a:solidFill>
                <a:highlight>
                  <a:srgbClr val="FFE45C"/>
                </a:highlight>
                <a:latin typeface="Calibri"/>
                <a:ea typeface="맑은 고딕"/>
                <a:cs typeface="Calibri"/>
              </a:rPr>
              <a:t>Nobody knows for sure, but experts agree that big data will play a more and more important role in our lives.</a:t>
            </a:r>
            <a:endParaRPr lang="en-US" altLang="ko-KR" sz="1500" b="0" dirty="0">
              <a:solidFill>
                <a:srgbClr val="111111"/>
              </a:solidFill>
              <a:latin typeface="Calibri"/>
              <a:ea typeface="맑은 고딕"/>
              <a:cs typeface="Calibri"/>
            </a:endParaRPr>
          </a:p>
        </p:txBody>
      </p:sp>
      <p:sp>
        <p:nvSpPr>
          <p:cNvPr id="11" name="choice_1"/>
          <p:cNvSpPr txBox="1"/>
          <p:nvPr/>
        </p:nvSpPr>
        <p:spPr>
          <a:xfrm>
            <a:off x="457200" y="2857500"/>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①</a:t>
            </a:r>
            <a:r>
              <a:rPr lang="ko-KR" altLang="en-US" sz="1800" b="0" dirty="0">
                <a:solidFill>
                  <a:srgbClr val="1F2328"/>
                </a:solidFill>
                <a:latin typeface="맑은 고딕"/>
                <a:ea typeface="맑은 고딕"/>
                <a:cs typeface="맑은 고딕"/>
              </a:rPr>
              <a:t>	범죄는 언제 어디서 일어날지 전혀 예측할 수 없다</a:t>
            </a:r>
            <a:endParaRPr lang="ko-KR" altLang="en-US" sz="1800" b="0" dirty="0">
              <a:solidFill>
                <a:srgbClr val="1F2328"/>
              </a:solidFill>
              <a:latin typeface="맑은 고딕"/>
              <a:ea typeface="맑은 고딕"/>
              <a:cs typeface="맑은 고딕"/>
            </a:endParaRPr>
          </a:p>
        </p:txBody>
      </p:sp>
      <p:sp>
        <p:nvSpPr>
          <p:cNvPr id="12" name="choice_2"/>
          <p:cNvSpPr txBox="1"/>
          <p:nvPr/>
        </p:nvSpPr>
        <p:spPr>
          <a:xfrm>
            <a:off x="457200" y="3264916"/>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②</a:t>
            </a:r>
            <a:r>
              <a:rPr lang="ko-KR" altLang="en-US" sz="1800" b="0" dirty="0">
                <a:solidFill>
                  <a:srgbClr val="1F2328"/>
                </a:solidFill>
                <a:latin typeface="맑은 고딕"/>
                <a:ea typeface="맑은 고딕"/>
                <a:cs typeface="맑은 고딕"/>
              </a:rPr>
              <a:t>	빅데이터는 범죄 예측을 돕고 앞으로 더 중요해진다</a:t>
            </a:r>
            <a:endParaRPr lang="ko-KR" altLang="en-US" sz="1800" b="0" dirty="0">
              <a:solidFill>
                <a:srgbClr val="1F2328"/>
              </a:solidFill>
              <a:latin typeface="맑은 고딕"/>
              <a:ea typeface="맑은 고딕"/>
              <a:cs typeface="맑은 고딕"/>
            </a:endParaRPr>
          </a:p>
        </p:txBody>
      </p:sp>
      <p:sp>
        <p:nvSpPr>
          <p:cNvPr id="13" name="rv_pick"/>
          <p:cNvSpPr txBox="1"/>
          <p:nvPr/>
        </p:nvSpPr>
        <p:spPr>
          <a:xfrm>
            <a:off x="457200" y="3264916"/>
            <a:ext cx="11277295" cy="379984"/>
          </a:xfrm>
          <a:prstGeom prst="rect">
            <a:avLst/>
          </a:prstGeom>
          <a:solidFill>
            <a:srgbClr val="FFF3C4"/>
          </a:solid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C00000"/>
                </a:solidFill>
                <a:latin typeface="맑은 고딕"/>
                <a:ea typeface="맑은 고딕"/>
                <a:cs typeface="맑은 고딕"/>
              </a:rPr>
              <a:t>②</a:t>
            </a:r>
            <a:r>
              <a:rPr lang="ko-KR" altLang="en-US" sz="1800" b="0" dirty="0">
                <a:solidFill>
                  <a:srgbClr val="C00000"/>
                </a:solidFill>
                <a:latin typeface="맑은 고딕"/>
                <a:ea typeface="맑은 고딕"/>
                <a:cs typeface="맑은 고딕"/>
              </a:rPr>
              <a:t>	빅데이터는 범죄 예측을 돕고 앞으로 더 중요해진다</a:t>
            </a:r>
            <a:endParaRPr lang="ko-KR" altLang="en-US" sz="1800" b="0" dirty="0">
              <a:solidFill>
                <a:srgbClr val="C00000"/>
              </a:solidFill>
              <a:latin typeface="맑은 고딕"/>
              <a:ea typeface="맑은 고딕"/>
              <a:cs typeface="맑은 고딕"/>
            </a:endParaRPr>
          </a:p>
        </p:txBody>
      </p:sp>
      <p:sp>
        <p:nvSpPr>
          <p:cNvPr id="14" name="choice_3"/>
          <p:cNvSpPr txBox="1"/>
          <p:nvPr/>
        </p:nvSpPr>
        <p:spPr>
          <a:xfrm>
            <a:off x="457200" y="3672332"/>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③</a:t>
            </a:r>
            <a:r>
              <a:rPr lang="ko-KR" altLang="en-US" sz="1800" b="0" dirty="0">
                <a:solidFill>
                  <a:srgbClr val="1F2328"/>
                </a:solidFill>
                <a:latin typeface="맑은 고딕"/>
                <a:ea typeface="맑은 고딕"/>
                <a:cs typeface="맑은 고딕"/>
              </a:rPr>
              <a:t>	빅데이터 산업은 이미 그 성장이 거의 끝난 상태다</a:t>
            </a:r>
            <a:endParaRPr lang="ko-KR" altLang="en-US" sz="1800" b="0" dirty="0">
              <a:solidFill>
                <a:srgbClr val="1F2328"/>
              </a:solidFill>
              <a:latin typeface="맑은 고딕"/>
              <a:ea typeface="맑은 고딕"/>
              <a:cs typeface="맑은 고딕"/>
            </a:endParaRPr>
          </a:p>
        </p:txBody>
      </p:sp>
      <p:sp>
        <p:nvSpPr>
          <p:cNvPr id="15" name="choice_4"/>
          <p:cNvSpPr txBox="1"/>
          <p:nvPr/>
        </p:nvSpPr>
        <p:spPr>
          <a:xfrm>
            <a:off x="457200" y="4079748"/>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④</a:t>
            </a:r>
            <a:r>
              <a:rPr lang="ko-KR" altLang="en-US" sz="1800" b="0" dirty="0">
                <a:solidFill>
                  <a:srgbClr val="1F2328"/>
                </a:solidFill>
                <a:latin typeface="맑은 고딕"/>
                <a:ea typeface="맑은 고딕"/>
                <a:cs typeface="맑은 고딕"/>
              </a:rPr>
              <a:t>	전문가들은 빅데이터의 역할에 대해 의견이 갈린다</a:t>
            </a:r>
            <a:endParaRPr lang="ko-KR" altLang="en-US" sz="1800" b="0" dirty="0">
              <a:solidFill>
                <a:srgbClr val="1F2328"/>
              </a:solidFill>
              <a:latin typeface="맑은 고딕"/>
              <a:ea typeface="맑은 고딕"/>
              <a:cs typeface="맑은 고딕"/>
            </a:endParaRPr>
          </a:p>
        </p:txBody>
      </p:sp>
      <p:sp>
        <p:nvSpPr>
          <p:cNvPr id="16" name="choice_5"/>
          <p:cNvSpPr txBox="1"/>
          <p:nvPr/>
        </p:nvSpPr>
        <p:spPr>
          <a:xfrm>
            <a:off x="457200" y="4487164"/>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⑤</a:t>
            </a:r>
            <a:r>
              <a:rPr lang="ko-KR" altLang="en-US" sz="1800" b="0" dirty="0">
                <a:solidFill>
                  <a:srgbClr val="1F2328"/>
                </a:solidFill>
                <a:latin typeface="맑은 고딕"/>
                <a:ea typeface="맑은 고딕"/>
                <a:cs typeface="맑은 고딕"/>
              </a:rPr>
              <a:t>	범죄 지도는 경찰의 업무를 더 복잡하게 만든다</a:t>
            </a:r>
            <a:endParaRPr lang="ko-KR" altLang="en-US" sz="1800" b="0" dirty="0">
              <a:solidFill>
                <a:srgbClr val="1F2328"/>
              </a:solidFill>
              <a:latin typeface="맑은 고딕"/>
              <a:ea typeface="맑은 고딕"/>
              <a:cs typeface="맑은 고딕"/>
            </a:endParaRPr>
          </a:p>
        </p:txBody>
      </p:sp>
      <p:sp>
        <p:nvSpPr>
          <p:cNvPr id="17" name="rv_answer"/>
          <p:cNvSpPr/>
          <p:nvPr/>
        </p:nvSpPr>
        <p:spPr>
          <a:xfrm>
            <a:off x="457200" y="497687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② </a:t>
            </a:r>
            <a:r>
              <a:rPr lang="ko-KR" altLang="en-US" sz="1900" b="1" dirty="0">
                <a:solidFill>
                  <a:srgbClr val="5A4200"/>
                </a:solidFill>
                <a:latin typeface="맑은 고딕"/>
                <a:ea typeface="맑은 고딕"/>
                <a:cs typeface="맑은 고딕"/>
              </a:rPr>
              <a:t>빅데이터는 범죄 예측을 돕고 앞으로 더 중요해진다</a:t>
            </a:r>
            <a:endParaRPr lang="ko-KR" altLang="en-US" sz="1900" b="1" dirty="0">
              <a:solidFill>
                <a:srgbClr val="5A4200"/>
              </a:solidFill>
              <a:latin typeface="맑은 고딕"/>
              <a:ea typeface="맑은 고딕"/>
              <a:cs typeface="맑은 고딕"/>
            </a:endParaRPr>
          </a:p>
        </p:txBody>
      </p:sp>
      <p:sp>
        <p:nvSpPr>
          <p:cNvPr id="18" name="rv_why"/>
          <p:cNvSpPr/>
          <p:nvPr/>
        </p:nvSpPr>
        <p:spPr>
          <a:xfrm>
            <a:off x="457200" y="5575808"/>
            <a:ext cx="11277295" cy="84327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빅데이터는 범죄 예측을 돕고 우리 삶에서 점점 더 중요한 역할을 할 것이라 했으므로 ②가 요지다.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250"/>
                                        <p:tgtEl>
                                          <p:spTgt spid="1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25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25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7" grpId="0" animBg="1"/>
      <p:bldP spid="9" grpId="0" animBg="1"/>
      <p:bldP spid="10" grpId="0" animBg="1"/>
      <p:bldP spid="18" grpId="0" animBg="1"/>
    </p:bldLst>
  </p:timing>
</p:sld>
</file>

<file path=ppt/slides/slide19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L7-4</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1 · 5</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5. 다음 글의 내용과 일치하지 않는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7</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본문 근거 형광 + 정답 원리</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176021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1760219"/>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1F2328"/>
                </a:solidFill>
                <a:latin typeface="Calibri"/>
                <a:ea typeface="맑은 고딕"/>
                <a:cs typeface="Calibri"/>
              </a:rPr>
              <a:t>Thanks to big data, police can now predict crime before it happens. Through the analysis of big data about the type, time and place of crime, police can make a map of crime hot spots. This map identifies when and where crime is most likely to happen. Police can prevent further crime by focusing on the areas and the times this map predicts. Big data has already changed the world greatly. So where will the big data industry go from here? </a:t>
            </a:r>
            <a:r>
              <a:rPr lang="en-US" altLang="ko-KR" sz="1500" b="0" dirty="0">
                <a:solidFill>
                  <a:srgbClr val="1F2328"/>
                </a:solidFill>
                <a:latin typeface="Calibri"/>
                <a:ea typeface="맑은 고딕"/>
                <a:cs typeface="Calibri"/>
              </a:rPr>
              <a:t>Nobody knows for sure</a:t>
            </a:r>
            <a:r>
              <a:rPr lang="en-US" altLang="ko-KR" sz="1500" b="0" dirty="0">
                <a:solidFill>
                  <a:srgbClr val="1F2328"/>
                </a:solidFill>
                <a:latin typeface="Calibri"/>
                <a:ea typeface="맑은 고딕"/>
                <a:cs typeface="Calibri"/>
              </a:rPr>
              <a:t>, but experts agree that big data will play a more and more important role in our lives.</a:t>
            </a:r>
            <a:endParaRPr lang="en-US" altLang="ko-KR" sz="1500" b="0" dirty="0">
              <a:solidFill>
                <a:srgbClr val="1F2328"/>
              </a:solidFill>
              <a:latin typeface="Calibri"/>
              <a:ea typeface="맑은 고딕"/>
              <a:cs typeface="Calibri"/>
            </a:endParaRPr>
          </a:p>
        </p:txBody>
      </p:sp>
      <p:sp>
        <p:nvSpPr>
          <p:cNvPr id="9" name="rv_evidence_card"/>
          <p:cNvSpPr/>
          <p:nvPr/>
        </p:nvSpPr>
        <p:spPr>
          <a:xfrm>
            <a:off x="457200" y="950976"/>
            <a:ext cx="11277295" cy="176021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rv_evidence"/>
          <p:cNvSpPr txBox="1"/>
          <p:nvPr/>
        </p:nvSpPr>
        <p:spPr>
          <a:xfrm>
            <a:off x="457200" y="950976"/>
            <a:ext cx="11277295" cy="1760219"/>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B3BAC6"/>
                </a:solidFill>
                <a:latin typeface="Calibri"/>
                <a:ea typeface="맑은 고딕"/>
                <a:cs typeface="Calibri"/>
              </a:rPr>
              <a:t>Thanks to big data, police can now predict crime before it happens. Through the analysis of big data about the type, time and place of crime, police can make a map of crime hot spots. This map identifies when and where crime is most likely to happen. Police can prevent further crime by focusing on the areas and the times this map predicts. Big data has already changed the world greatly. So where will the big data industry go from here? </a:t>
            </a:r>
            <a:r>
              <a:rPr lang="en-US" altLang="ko-KR" sz="1500" b="0" dirty="0">
                <a:solidFill>
                  <a:srgbClr val="111111"/>
                </a:solidFill>
                <a:highlight>
                  <a:srgbClr val="FFE45C"/>
                </a:highlight>
                <a:latin typeface="Calibri"/>
                <a:ea typeface="맑은 고딕"/>
                <a:cs typeface="Calibri"/>
              </a:rPr>
              <a:t>Nobody knows for sure</a:t>
            </a:r>
            <a:r>
              <a:rPr lang="en-US" altLang="ko-KR" sz="1500" b="0" dirty="0">
                <a:solidFill>
                  <a:srgbClr val="B3BAC6"/>
                </a:solidFill>
                <a:latin typeface="Calibri"/>
                <a:ea typeface="맑은 고딕"/>
                <a:cs typeface="Calibri"/>
              </a:rPr>
              <a:t>, but experts agree that big data will play a more and more important role in our lives.</a:t>
            </a:r>
            <a:endParaRPr lang="en-US" altLang="ko-KR" sz="1500" b="0" dirty="0">
              <a:solidFill>
                <a:srgbClr val="B3BAC6"/>
              </a:solidFill>
              <a:latin typeface="Calibri"/>
              <a:ea typeface="맑은 고딕"/>
              <a:cs typeface="Calibri"/>
            </a:endParaRPr>
          </a:p>
        </p:txBody>
      </p:sp>
      <p:sp>
        <p:nvSpPr>
          <p:cNvPr id="11" name="choice_1"/>
          <p:cNvSpPr txBox="1"/>
          <p:nvPr/>
        </p:nvSpPr>
        <p:spPr>
          <a:xfrm>
            <a:off x="457200" y="2857500"/>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①</a:t>
            </a:r>
            <a:r>
              <a:rPr lang="ko-KR" altLang="en-US" sz="1800" b="0" dirty="0">
                <a:solidFill>
                  <a:srgbClr val="1F2328"/>
                </a:solidFill>
                <a:latin typeface="맑은 고딕"/>
                <a:ea typeface="맑은 고딕"/>
                <a:cs typeface="맑은 고딕"/>
              </a:rPr>
              <a:t>	빅데이터 산업의 미래는 모두가 확실히 알고 있다</a:t>
            </a:r>
            <a:endParaRPr lang="ko-KR" altLang="en-US" sz="1800" b="0" dirty="0">
              <a:solidFill>
                <a:srgbClr val="1F2328"/>
              </a:solidFill>
              <a:latin typeface="맑은 고딕"/>
              <a:ea typeface="맑은 고딕"/>
              <a:cs typeface="맑은 고딕"/>
            </a:endParaRPr>
          </a:p>
        </p:txBody>
      </p:sp>
      <p:sp>
        <p:nvSpPr>
          <p:cNvPr id="12" name="rv_pick"/>
          <p:cNvSpPr txBox="1"/>
          <p:nvPr/>
        </p:nvSpPr>
        <p:spPr>
          <a:xfrm>
            <a:off x="457200" y="2857500"/>
            <a:ext cx="11277295" cy="379984"/>
          </a:xfrm>
          <a:prstGeom prst="rect">
            <a:avLst/>
          </a:prstGeom>
          <a:solidFill>
            <a:srgbClr val="FFF3C4"/>
          </a:solid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C00000"/>
                </a:solidFill>
                <a:latin typeface="맑은 고딕"/>
                <a:ea typeface="맑은 고딕"/>
                <a:cs typeface="맑은 고딕"/>
              </a:rPr>
              <a:t>①</a:t>
            </a:r>
            <a:r>
              <a:rPr lang="ko-KR" altLang="en-US" sz="1800" b="0" dirty="0">
                <a:solidFill>
                  <a:srgbClr val="C00000"/>
                </a:solidFill>
                <a:latin typeface="맑은 고딕"/>
                <a:ea typeface="맑은 고딕"/>
                <a:cs typeface="맑은 고딕"/>
              </a:rPr>
              <a:t>	빅데이터 산업의 미래는 모두가 확실히 알고 있다</a:t>
            </a:r>
            <a:endParaRPr lang="ko-KR" altLang="en-US" sz="1800" b="0" dirty="0">
              <a:solidFill>
                <a:srgbClr val="C00000"/>
              </a:solidFill>
              <a:latin typeface="맑은 고딕"/>
              <a:ea typeface="맑은 고딕"/>
              <a:cs typeface="맑은 고딕"/>
            </a:endParaRPr>
          </a:p>
        </p:txBody>
      </p:sp>
      <p:sp>
        <p:nvSpPr>
          <p:cNvPr id="13" name="choice_2"/>
          <p:cNvSpPr txBox="1"/>
          <p:nvPr/>
        </p:nvSpPr>
        <p:spPr>
          <a:xfrm>
            <a:off x="457200" y="3264916"/>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②</a:t>
            </a:r>
            <a:r>
              <a:rPr lang="ko-KR" altLang="en-US" sz="1800" b="0" dirty="0">
                <a:solidFill>
                  <a:srgbClr val="1F2328"/>
                </a:solidFill>
                <a:latin typeface="맑은 고딕"/>
                <a:ea typeface="맑은 고딕"/>
                <a:cs typeface="맑은 고딕"/>
              </a:rPr>
              <a:t>	경찰은 빅데이터로 범죄를 미리 예측할 수 있다</a:t>
            </a:r>
            <a:endParaRPr lang="ko-KR" altLang="en-US" sz="1800" b="0" dirty="0">
              <a:solidFill>
                <a:srgbClr val="1F2328"/>
              </a:solidFill>
              <a:latin typeface="맑은 고딕"/>
              <a:ea typeface="맑은 고딕"/>
              <a:cs typeface="맑은 고딕"/>
            </a:endParaRPr>
          </a:p>
        </p:txBody>
      </p:sp>
      <p:sp>
        <p:nvSpPr>
          <p:cNvPr id="14" name="choice_3"/>
          <p:cNvSpPr txBox="1"/>
          <p:nvPr/>
        </p:nvSpPr>
        <p:spPr>
          <a:xfrm>
            <a:off x="457200" y="3672332"/>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③</a:t>
            </a:r>
            <a:r>
              <a:rPr lang="ko-KR" altLang="en-US" sz="1800" b="0" dirty="0">
                <a:solidFill>
                  <a:srgbClr val="1F2328"/>
                </a:solidFill>
                <a:latin typeface="맑은 고딕"/>
                <a:ea typeface="맑은 고딕"/>
                <a:cs typeface="맑은 고딕"/>
              </a:rPr>
              <a:t>	범죄 지도는 범죄의 유형, 시간, 장소를 분석한다</a:t>
            </a:r>
            <a:endParaRPr lang="ko-KR" altLang="en-US" sz="1800" b="0" dirty="0">
              <a:solidFill>
                <a:srgbClr val="1F2328"/>
              </a:solidFill>
              <a:latin typeface="맑은 고딕"/>
              <a:ea typeface="맑은 고딕"/>
              <a:cs typeface="맑은 고딕"/>
            </a:endParaRPr>
          </a:p>
        </p:txBody>
      </p:sp>
      <p:sp>
        <p:nvSpPr>
          <p:cNvPr id="15" name="choice_4"/>
          <p:cNvSpPr txBox="1"/>
          <p:nvPr/>
        </p:nvSpPr>
        <p:spPr>
          <a:xfrm>
            <a:off x="457200" y="4079748"/>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④</a:t>
            </a:r>
            <a:r>
              <a:rPr lang="ko-KR" altLang="en-US" sz="1800" b="0" dirty="0">
                <a:solidFill>
                  <a:srgbClr val="1F2328"/>
                </a:solidFill>
                <a:latin typeface="맑은 고딕"/>
                <a:ea typeface="맑은 고딕"/>
                <a:cs typeface="맑은 고딕"/>
              </a:rPr>
              <a:t>	범죄 지도는 범죄가 일어날 시간과 장소를 보여준다</a:t>
            </a:r>
            <a:endParaRPr lang="ko-KR" altLang="en-US" sz="1800" b="0" dirty="0">
              <a:solidFill>
                <a:srgbClr val="1F2328"/>
              </a:solidFill>
              <a:latin typeface="맑은 고딕"/>
              <a:ea typeface="맑은 고딕"/>
              <a:cs typeface="맑은 고딕"/>
            </a:endParaRPr>
          </a:p>
        </p:txBody>
      </p:sp>
      <p:sp>
        <p:nvSpPr>
          <p:cNvPr id="16" name="choice_5"/>
          <p:cNvSpPr txBox="1"/>
          <p:nvPr/>
        </p:nvSpPr>
        <p:spPr>
          <a:xfrm>
            <a:off x="457200" y="4487164"/>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⑤</a:t>
            </a:r>
            <a:r>
              <a:rPr lang="ko-KR" altLang="en-US" sz="1800" b="0" dirty="0">
                <a:solidFill>
                  <a:srgbClr val="1F2328"/>
                </a:solidFill>
                <a:latin typeface="맑은 고딕"/>
                <a:ea typeface="맑은 고딕"/>
                <a:cs typeface="맑은 고딕"/>
              </a:rPr>
              <a:t>	전문가들은 빅데이터의 역할이 커질 것이라 본다</a:t>
            </a:r>
            <a:endParaRPr lang="ko-KR" altLang="en-US" sz="1800" b="0" dirty="0">
              <a:solidFill>
                <a:srgbClr val="1F2328"/>
              </a:solidFill>
              <a:latin typeface="맑은 고딕"/>
              <a:ea typeface="맑은 고딕"/>
              <a:cs typeface="맑은 고딕"/>
            </a:endParaRPr>
          </a:p>
        </p:txBody>
      </p:sp>
      <p:sp>
        <p:nvSpPr>
          <p:cNvPr id="17" name="rv_answer"/>
          <p:cNvSpPr/>
          <p:nvPr/>
        </p:nvSpPr>
        <p:spPr>
          <a:xfrm>
            <a:off x="457200" y="497687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① </a:t>
            </a:r>
            <a:r>
              <a:rPr lang="ko-KR" altLang="en-US" sz="1900" b="1" dirty="0">
                <a:solidFill>
                  <a:srgbClr val="5A4200"/>
                </a:solidFill>
                <a:latin typeface="맑은 고딕"/>
                <a:ea typeface="맑은 고딕"/>
                <a:cs typeface="맑은 고딕"/>
              </a:rPr>
              <a:t>빅데이터 산업의 미래는 모두가 확실히 알고 있다</a:t>
            </a:r>
            <a:endParaRPr lang="ko-KR" altLang="en-US" sz="1900" b="1" dirty="0">
              <a:solidFill>
                <a:srgbClr val="5A4200"/>
              </a:solidFill>
              <a:latin typeface="맑은 고딕"/>
              <a:ea typeface="맑은 고딕"/>
              <a:cs typeface="맑은 고딕"/>
            </a:endParaRPr>
          </a:p>
        </p:txBody>
      </p:sp>
      <p:sp>
        <p:nvSpPr>
          <p:cNvPr id="18" name="rv_why"/>
          <p:cNvSpPr/>
          <p:nvPr/>
        </p:nvSpPr>
        <p:spPr>
          <a:xfrm>
            <a:off x="457200" y="5575808"/>
            <a:ext cx="11277295" cy="84327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빅데이터 산업이 어디로 갈지 아무도 확실히 모른다('Nobody knows')고 했으므로 ①은 틀리다.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25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25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25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7" grpId="0" animBg="1"/>
      <p:bldP spid="9" grpId="0" animBg="1"/>
      <p:bldP spid="10" grpId="0" animBg="1"/>
      <p:bldP spid="18" grpId="0" animBg="1"/>
    </p:bldLst>
  </p:timing>
</p:sld>
</file>

<file path=ppt/slides/slide19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L7-4</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1 · 6</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6. 다음 글의 내용과 일치하는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7</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본문 근거 형광 + 정답 원리</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176021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1760219"/>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1F2328"/>
                </a:solidFill>
                <a:latin typeface="Calibri"/>
                <a:ea typeface="맑은 고딕"/>
                <a:cs typeface="Calibri"/>
              </a:rPr>
              <a:t>Thanks to big data, police can now predict crime before it happens. Through the analysis of big data about the type, time and place of crime, police can make a map of crime hot spots. This map identifies when and where crime is most likely to happen. Police can prevent further crime </a:t>
            </a:r>
            <a:r>
              <a:rPr lang="en-US" altLang="ko-KR" sz="1500" b="0" dirty="0">
                <a:solidFill>
                  <a:srgbClr val="1F2328"/>
                </a:solidFill>
                <a:latin typeface="Calibri"/>
                <a:ea typeface="맑은 고딕"/>
                <a:cs typeface="Calibri"/>
              </a:rPr>
              <a:t>by focusing on the areas and the times</a:t>
            </a:r>
            <a:r>
              <a:rPr lang="en-US" altLang="ko-KR" sz="1500" b="0" dirty="0">
                <a:solidFill>
                  <a:srgbClr val="1F2328"/>
                </a:solidFill>
                <a:latin typeface="Calibri"/>
                <a:ea typeface="맑은 고딕"/>
                <a:cs typeface="Calibri"/>
              </a:rPr>
              <a:t> this map predicts. Big data has already changed the world greatly. So where will the big data industry go from here? Nobody knows for sure, but experts agree that big data will play a more and more important role in our lives.</a:t>
            </a:r>
            <a:endParaRPr lang="en-US" altLang="ko-KR" sz="1500" b="0" dirty="0">
              <a:solidFill>
                <a:srgbClr val="1F2328"/>
              </a:solidFill>
              <a:latin typeface="Calibri"/>
              <a:ea typeface="맑은 고딕"/>
              <a:cs typeface="Calibri"/>
            </a:endParaRPr>
          </a:p>
        </p:txBody>
      </p:sp>
      <p:sp>
        <p:nvSpPr>
          <p:cNvPr id="9" name="rv_evidence_card"/>
          <p:cNvSpPr/>
          <p:nvPr/>
        </p:nvSpPr>
        <p:spPr>
          <a:xfrm>
            <a:off x="457200" y="950976"/>
            <a:ext cx="11277295" cy="176021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rv_evidence"/>
          <p:cNvSpPr txBox="1"/>
          <p:nvPr/>
        </p:nvSpPr>
        <p:spPr>
          <a:xfrm>
            <a:off x="457200" y="950976"/>
            <a:ext cx="11277295" cy="1760219"/>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B3BAC6"/>
                </a:solidFill>
                <a:latin typeface="Calibri"/>
                <a:ea typeface="맑은 고딕"/>
                <a:cs typeface="Calibri"/>
              </a:rPr>
              <a:t>Thanks to big data, police can now predict crime before it happens. Through the analysis of big data about the type, time and place of crime, police can make a map of crime hot spots. This map identifies when and where crime is most likely to happen. Police can prevent further crime </a:t>
            </a:r>
            <a:r>
              <a:rPr lang="en-US" altLang="ko-KR" sz="1500" b="0" dirty="0">
                <a:solidFill>
                  <a:srgbClr val="111111"/>
                </a:solidFill>
                <a:highlight>
                  <a:srgbClr val="FFE45C"/>
                </a:highlight>
                <a:latin typeface="Calibri"/>
                <a:ea typeface="맑은 고딕"/>
                <a:cs typeface="Calibri"/>
              </a:rPr>
              <a:t>by focusing on the areas and the times</a:t>
            </a:r>
            <a:r>
              <a:rPr lang="en-US" altLang="ko-KR" sz="1500" b="0" dirty="0">
                <a:solidFill>
                  <a:srgbClr val="B3BAC6"/>
                </a:solidFill>
                <a:latin typeface="Calibri"/>
                <a:ea typeface="맑은 고딕"/>
                <a:cs typeface="Calibri"/>
              </a:rPr>
              <a:t> this map predicts. Big data has already changed the world greatly. So where will the big data industry go from here? Nobody knows for sure, but experts agree that big data will play a more and more important role in our lives.</a:t>
            </a:r>
            <a:endParaRPr lang="en-US" altLang="ko-KR" sz="1500" b="0" dirty="0">
              <a:solidFill>
                <a:srgbClr val="B3BAC6"/>
              </a:solidFill>
              <a:latin typeface="Calibri"/>
              <a:ea typeface="맑은 고딕"/>
              <a:cs typeface="Calibri"/>
            </a:endParaRPr>
          </a:p>
        </p:txBody>
      </p:sp>
      <p:sp>
        <p:nvSpPr>
          <p:cNvPr id="11" name="choice_1"/>
          <p:cNvSpPr txBox="1"/>
          <p:nvPr/>
        </p:nvSpPr>
        <p:spPr>
          <a:xfrm>
            <a:off x="457200" y="2857500"/>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①</a:t>
            </a:r>
            <a:r>
              <a:rPr lang="ko-KR" altLang="en-US" sz="1800" b="0" dirty="0">
                <a:solidFill>
                  <a:srgbClr val="1F2328"/>
                </a:solidFill>
                <a:latin typeface="맑은 고딕"/>
                <a:ea typeface="맑은 고딕"/>
                <a:cs typeface="맑은 고딕"/>
              </a:rPr>
              <a:t>	경찰은 범죄가 일어난 후에만 대응할 수 있다</a:t>
            </a:r>
            <a:endParaRPr lang="ko-KR" altLang="en-US" sz="1800" b="0" dirty="0">
              <a:solidFill>
                <a:srgbClr val="1F2328"/>
              </a:solidFill>
              <a:latin typeface="맑은 고딕"/>
              <a:ea typeface="맑은 고딕"/>
              <a:cs typeface="맑은 고딕"/>
            </a:endParaRPr>
          </a:p>
        </p:txBody>
      </p:sp>
      <p:sp>
        <p:nvSpPr>
          <p:cNvPr id="12" name="choice_2"/>
          <p:cNvSpPr txBox="1"/>
          <p:nvPr/>
        </p:nvSpPr>
        <p:spPr>
          <a:xfrm>
            <a:off x="457200" y="3264916"/>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②</a:t>
            </a:r>
            <a:r>
              <a:rPr lang="ko-KR" altLang="en-US" sz="1800" b="0" dirty="0">
                <a:solidFill>
                  <a:srgbClr val="1F2328"/>
                </a:solidFill>
                <a:latin typeface="맑은 고딕"/>
                <a:ea typeface="맑은 고딕"/>
                <a:cs typeface="맑은 고딕"/>
              </a:rPr>
              <a:t>	범죄 지도는 범죄 피해자의 정보를 담고 있다</a:t>
            </a:r>
            <a:endParaRPr lang="ko-KR" altLang="en-US" sz="1800" b="0" dirty="0">
              <a:solidFill>
                <a:srgbClr val="1F2328"/>
              </a:solidFill>
              <a:latin typeface="맑은 고딕"/>
              <a:ea typeface="맑은 고딕"/>
              <a:cs typeface="맑은 고딕"/>
            </a:endParaRPr>
          </a:p>
        </p:txBody>
      </p:sp>
      <p:sp>
        <p:nvSpPr>
          <p:cNvPr id="13" name="choice_3"/>
          <p:cNvSpPr txBox="1"/>
          <p:nvPr/>
        </p:nvSpPr>
        <p:spPr>
          <a:xfrm>
            <a:off x="457200" y="3672332"/>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③</a:t>
            </a:r>
            <a:r>
              <a:rPr lang="ko-KR" altLang="en-US" sz="1800" b="0" dirty="0">
                <a:solidFill>
                  <a:srgbClr val="1F2328"/>
                </a:solidFill>
                <a:latin typeface="맑은 고딕"/>
                <a:ea typeface="맑은 고딕"/>
                <a:cs typeface="맑은 고딕"/>
              </a:rPr>
              <a:t>	경찰은 지도가 예측한 곳에 집중해 범죄를 막는다</a:t>
            </a:r>
            <a:endParaRPr lang="ko-KR" altLang="en-US" sz="1800" b="0" dirty="0">
              <a:solidFill>
                <a:srgbClr val="1F2328"/>
              </a:solidFill>
              <a:latin typeface="맑은 고딕"/>
              <a:ea typeface="맑은 고딕"/>
              <a:cs typeface="맑은 고딕"/>
            </a:endParaRPr>
          </a:p>
        </p:txBody>
      </p:sp>
      <p:sp>
        <p:nvSpPr>
          <p:cNvPr id="14" name="rv_pick"/>
          <p:cNvSpPr txBox="1"/>
          <p:nvPr/>
        </p:nvSpPr>
        <p:spPr>
          <a:xfrm>
            <a:off x="457200" y="3672332"/>
            <a:ext cx="11277295" cy="379984"/>
          </a:xfrm>
          <a:prstGeom prst="rect">
            <a:avLst/>
          </a:prstGeom>
          <a:solidFill>
            <a:srgbClr val="FFF3C4"/>
          </a:solid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C00000"/>
                </a:solidFill>
                <a:latin typeface="맑은 고딕"/>
                <a:ea typeface="맑은 고딕"/>
                <a:cs typeface="맑은 고딕"/>
              </a:rPr>
              <a:t>③</a:t>
            </a:r>
            <a:r>
              <a:rPr lang="ko-KR" altLang="en-US" sz="1800" b="0" dirty="0">
                <a:solidFill>
                  <a:srgbClr val="C00000"/>
                </a:solidFill>
                <a:latin typeface="맑은 고딕"/>
                <a:ea typeface="맑은 고딕"/>
                <a:cs typeface="맑은 고딕"/>
              </a:rPr>
              <a:t>	경찰은 지도가 예측한 곳에 집중해 범죄를 막는다</a:t>
            </a:r>
            <a:endParaRPr lang="ko-KR" altLang="en-US" sz="1800" b="0" dirty="0">
              <a:solidFill>
                <a:srgbClr val="C00000"/>
              </a:solidFill>
              <a:latin typeface="맑은 고딕"/>
              <a:ea typeface="맑은 고딕"/>
              <a:cs typeface="맑은 고딕"/>
            </a:endParaRPr>
          </a:p>
        </p:txBody>
      </p:sp>
      <p:sp>
        <p:nvSpPr>
          <p:cNvPr id="15" name="choice_4"/>
          <p:cNvSpPr txBox="1"/>
          <p:nvPr/>
        </p:nvSpPr>
        <p:spPr>
          <a:xfrm>
            <a:off x="457200" y="4079748"/>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④</a:t>
            </a:r>
            <a:r>
              <a:rPr lang="ko-KR" altLang="en-US" sz="1800" b="0" dirty="0">
                <a:solidFill>
                  <a:srgbClr val="1F2328"/>
                </a:solidFill>
                <a:latin typeface="맑은 고딕"/>
                <a:ea typeface="맑은 고딕"/>
                <a:cs typeface="맑은 고딕"/>
              </a:rPr>
              <a:t>	빅데이터는 아직 세상을 거의 바꾸지 못했다</a:t>
            </a:r>
            <a:endParaRPr lang="ko-KR" altLang="en-US" sz="1800" b="0" dirty="0">
              <a:solidFill>
                <a:srgbClr val="1F2328"/>
              </a:solidFill>
              <a:latin typeface="맑은 고딕"/>
              <a:ea typeface="맑은 고딕"/>
              <a:cs typeface="맑은 고딕"/>
            </a:endParaRPr>
          </a:p>
        </p:txBody>
      </p:sp>
      <p:sp>
        <p:nvSpPr>
          <p:cNvPr id="16" name="choice_5"/>
          <p:cNvSpPr txBox="1"/>
          <p:nvPr/>
        </p:nvSpPr>
        <p:spPr>
          <a:xfrm>
            <a:off x="457200" y="4487164"/>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⑤</a:t>
            </a:r>
            <a:r>
              <a:rPr lang="ko-KR" altLang="en-US" sz="1800" b="0" dirty="0">
                <a:solidFill>
                  <a:srgbClr val="1F2328"/>
                </a:solidFill>
                <a:latin typeface="맑은 고딕"/>
                <a:ea typeface="맑은 고딕"/>
                <a:cs typeface="맑은 고딕"/>
              </a:rPr>
              <a:t>	전문가들은 빅데이터의 역할이 줄 것이라 본다</a:t>
            </a:r>
            <a:endParaRPr lang="ko-KR" altLang="en-US" sz="1800" b="0" dirty="0">
              <a:solidFill>
                <a:srgbClr val="1F2328"/>
              </a:solidFill>
              <a:latin typeface="맑은 고딕"/>
              <a:ea typeface="맑은 고딕"/>
              <a:cs typeface="맑은 고딕"/>
            </a:endParaRPr>
          </a:p>
        </p:txBody>
      </p:sp>
      <p:sp>
        <p:nvSpPr>
          <p:cNvPr id="17" name="rv_answer"/>
          <p:cNvSpPr/>
          <p:nvPr/>
        </p:nvSpPr>
        <p:spPr>
          <a:xfrm>
            <a:off x="457200" y="497687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③ </a:t>
            </a:r>
            <a:r>
              <a:rPr lang="ko-KR" altLang="en-US" sz="1900" b="1" dirty="0">
                <a:solidFill>
                  <a:srgbClr val="5A4200"/>
                </a:solidFill>
                <a:latin typeface="맑은 고딕"/>
                <a:ea typeface="맑은 고딕"/>
                <a:cs typeface="맑은 고딕"/>
              </a:rPr>
              <a:t>경찰은 지도가 예측한 곳에 집중해 범죄를 막는다</a:t>
            </a:r>
            <a:endParaRPr lang="ko-KR" altLang="en-US" sz="1900" b="1" dirty="0">
              <a:solidFill>
                <a:srgbClr val="5A4200"/>
              </a:solidFill>
              <a:latin typeface="맑은 고딕"/>
              <a:ea typeface="맑은 고딕"/>
              <a:cs typeface="맑은 고딕"/>
            </a:endParaRPr>
          </a:p>
        </p:txBody>
      </p:sp>
      <p:sp>
        <p:nvSpPr>
          <p:cNvPr id="18" name="rv_why"/>
          <p:cNvSpPr/>
          <p:nvPr/>
        </p:nvSpPr>
        <p:spPr>
          <a:xfrm>
            <a:off x="457200" y="5575808"/>
            <a:ext cx="11277295" cy="84327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경찰은 지도가 예측한 지역과 시간에 집중해 추가 범죄를 막는다고 했으므로 ③이 일치한다.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250"/>
                                        <p:tgtEl>
                                          <p:spTgt spid="1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25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25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7" grpId="0" animBg="1"/>
      <p:bldP spid="9" grpId="0" animBg="1"/>
      <p:bldP spid="10" grpId="0" animBg="1"/>
      <p:bldP spid="18" grpId="0" animBg="1"/>
    </p:bldLst>
  </p:timing>
</p:sld>
</file>

<file path=ppt/slides/slide19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L7-4</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2 · 1</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1. 주어진 글 다음에 이어질 글의 순서로 가장 적절한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7</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정답 원리</a:t>
            </a:r>
            <a:endParaRPr lang="ko-KR" altLang="en-US" sz="1000" b="0" dirty="0">
              <a:solidFill>
                <a:srgbClr val="7A808C"/>
              </a:solidFill>
              <a:latin typeface="맑은 고딕"/>
              <a:ea typeface="맑은 고딕"/>
              <a:cs typeface="맑은 고딕"/>
            </a:endParaRPr>
          </a:p>
        </p:txBody>
      </p:sp>
      <p:sp>
        <p:nvSpPr>
          <p:cNvPr id="7" name="given_card"/>
          <p:cNvSpPr/>
          <p:nvPr/>
        </p:nvSpPr>
        <p:spPr>
          <a:xfrm>
            <a:off x="457200" y="950976"/>
            <a:ext cx="11277295" cy="481838"/>
          </a:xfrm>
          <a:prstGeom prst="roundRect">
            <a:avLst>
              <a:gd name="adj" fmla="val 6000"/>
            </a:avLst>
          </a:prstGeom>
          <a:solidFill>
            <a:srgbClr val="FFFFFF"/>
          </a:solidFill>
          <a:ln w="15875">
            <a:solidFill>
              <a:srgbClr val="1E2A5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given"/>
          <p:cNvSpPr txBox="1"/>
          <p:nvPr/>
        </p:nvSpPr>
        <p:spPr>
          <a:xfrm>
            <a:off x="457200" y="950976"/>
            <a:ext cx="11277295" cy="481838"/>
          </a:xfrm>
          <a:prstGeom prst="rect">
            <a:avLst/>
          </a:prstGeom>
          <a:noFill/>
        </p:spPr>
        <p:txBody>
          <a:bodyPr wrap="square" lIns="201168" tIns="100584" rIns="201168" bIns="100584" anchor="t" rtlCol="0">
            <a:noAutofit/>
          </a:bodyPr>
          <a:lstStyle/>
          <a:p>
            <a:pPr algn="l">
              <a:lnSpc>
                <a:spcPts val="2210"/>
              </a:lnSpc>
              <a:spcBef>
                <a:spcPts val="0"/>
              </a:spcBef>
              <a:spcAft>
                <a:spcPts val="0"/>
              </a:spcAft>
              <a:buNone/>
            </a:pPr>
            <a:r>
              <a:rPr lang="en-US" altLang="ko-KR" sz="1700" b="0" dirty="0">
                <a:solidFill>
                  <a:srgbClr val="1F2328"/>
                </a:solidFill>
                <a:latin typeface="Calibri"/>
                <a:ea typeface="맑은 고딕"/>
                <a:cs typeface="Calibri"/>
              </a:rPr>
              <a:t>Thanks to big data, police can now predict crime before it happens.</a:t>
            </a:r>
            <a:endParaRPr lang="en-US" altLang="ko-KR" sz="1700" b="0" dirty="0">
              <a:solidFill>
                <a:srgbClr val="1F2328"/>
              </a:solidFill>
              <a:latin typeface="Calibri"/>
              <a:ea typeface="맑은 고딕"/>
              <a:cs typeface="Calibri"/>
            </a:endParaRPr>
          </a:p>
        </p:txBody>
      </p:sp>
      <p:sp>
        <p:nvSpPr>
          <p:cNvPr id="9" name="parts_card"/>
          <p:cNvSpPr/>
          <p:nvPr/>
        </p:nvSpPr>
        <p:spPr>
          <a:xfrm>
            <a:off x="457200" y="1560830"/>
            <a:ext cx="11277295" cy="2233422"/>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parts"/>
          <p:cNvSpPr txBox="1"/>
          <p:nvPr/>
        </p:nvSpPr>
        <p:spPr>
          <a:xfrm>
            <a:off x="457200" y="1560830"/>
            <a:ext cx="11277295" cy="2233422"/>
          </a:xfrm>
          <a:prstGeom prst="rect">
            <a:avLst/>
          </a:prstGeom>
          <a:noFill/>
        </p:spPr>
        <p:txBody>
          <a:bodyPr wrap="square" lIns="201168" tIns="118872" rIns="201168" bIns="118872" anchor="t" rtlCol="0">
            <a:noAutofit/>
          </a:bodyPr>
          <a:lstStyle/>
          <a:p>
            <a:pPr algn="just" marL="453390" indent="-453390">
              <a:lnSpc>
                <a:spcPts val="2210"/>
              </a:lnSpc>
              <a:spcBef>
                <a:spcPts val="0"/>
              </a:spcBef>
              <a:spcAft>
                <a:spcPts val="770"/>
              </a:spcAft>
              <a:buNone/>
              <a:tabLst>
                <a:tab pos="453390" algn="l"/>
              </a:tabLst>
            </a:pPr>
            <a:r>
              <a:rPr lang="en-US" altLang="ko-KR" sz="1700" b="1" dirty="0">
                <a:solidFill>
                  <a:srgbClr val="1E2A5A"/>
                </a:solidFill>
                <a:latin typeface="Calibri"/>
                <a:ea typeface="맑은 고딕"/>
                <a:cs typeface="Calibri"/>
              </a:rPr>
              <a:t>(A)</a:t>
            </a:r>
            <a:r>
              <a:rPr lang="en-US" altLang="ko-KR" sz="1700" b="0" dirty="0">
                <a:solidFill>
                  <a:srgbClr val="1F2328"/>
                </a:solidFill>
                <a:latin typeface="Calibri"/>
                <a:ea typeface="맑은 고딕"/>
                <a:cs typeface="Calibri"/>
              </a:rPr>
              <a:t>	Police can prevent further crime by focusing on the areas and the times this map predicts. Big data has already changed the world greatly.</a:t>
            </a:r>
            <a:endParaRPr lang="en-US" altLang="ko-KR" sz="1700" b="0" dirty="0">
              <a:solidFill>
                <a:srgbClr val="1F2328"/>
              </a:solidFill>
              <a:latin typeface="Calibri"/>
              <a:ea typeface="맑은 고딕"/>
              <a:cs typeface="Calibri"/>
            </a:endParaRPr>
          </a:p>
          <a:p>
            <a:pPr algn="just" marL="453390" indent="-453390">
              <a:lnSpc>
                <a:spcPts val="2210"/>
              </a:lnSpc>
              <a:spcBef>
                <a:spcPts val="0"/>
              </a:spcBef>
              <a:spcAft>
                <a:spcPts val="770"/>
              </a:spcAft>
              <a:buNone/>
              <a:tabLst>
                <a:tab pos="453390" algn="l"/>
              </a:tabLst>
            </a:pPr>
            <a:r>
              <a:rPr lang="en-US" altLang="ko-KR" sz="1700" b="1" dirty="0">
                <a:solidFill>
                  <a:srgbClr val="1E2A5A"/>
                </a:solidFill>
                <a:latin typeface="Calibri"/>
                <a:ea typeface="맑은 고딕"/>
                <a:cs typeface="Calibri"/>
              </a:rPr>
              <a:t>(B)</a:t>
            </a:r>
            <a:r>
              <a:rPr lang="en-US" altLang="ko-KR" sz="1700" b="0" dirty="0">
                <a:solidFill>
                  <a:srgbClr val="1F2328"/>
                </a:solidFill>
                <a:latin typeface="Calibri"/>
                <a:ea typeface="맑은 고딕"/>
                <a:cs typeface="Calibri"/>
              </a:rPr>
              <a:t>	So where will the big data industry go from here? Nobody knows for sure, but experts agree that big data will play a more and more important role in our lives.</a:t>
            </a:r>
            <a:endParaRPr lang="en-US" altLang="ko-KR" sz="1700" b="0" dirty="0">
              <a:solidFill>
                <a:srgbClr val="1F2328"/>
              </a:solidFill>
              <a:latin typeface="Calibri"/>
              <a:ea typeface="맑은 고딕"/>
              <a:cs typeface="Calibri"/>
            </a:endParaRPr>
          </a:p>
          <a:p>
            <a:pPr algn="just" marL="453390" indent="-453390">
              <a:lnSpc>
                <a:spcPts val="2210"/>
              </a:lnSpc>
              <a:spcBef>
                <a:spcPts val="0"/>
              </a:spcBef>
              <a:spcAft>
                <a:spcPts val="770"/>
              </a:spcAft>
              <a:buNone/>
              <a:tabLst>
                <a:tab pos="453390" algn="l"/>
              </a:tabLst>
            </a:pPr>
            <a:r>
              <a:rPr lang="en-US" altLang="ko-KR" sz="1700" b="1" dirty="0">
                <a:solidFill>
                  <a:srgbClr val="1E2A5A"/>
                </a:solidFill>
                <a:latin typeface="Calibri"/>
                <a:ea typeface="맑은 고딕"/>
                <a:cs typeface="Calibri"/>
              </a:rPr>
              <a:t>(C)</a:t>
            </a:r>
            <a:r>
              <a:rPr lang="en-US" altLang="ko-KR" sz="1700" b="0" dirty="0">
                <a:solidFill>
                  <a:srgbClr val="1F2328"/>
                </a:solidFill>
                <a:latin typeface="Calibri"/>
                <a:ea typeface="맑은 고딕"/>
                <a:cs typeface="Calibri"/>
              </a:rPr>
              <a:t>	Through the analysis of big data about the type, time and place of crime, police can make a map of crime hot spots. This map identifies when and where crime is most likely to happen.</a:t>
            </a:r>
            <a:endParaRPr lang="en-US" altLang="ko-KR" sz="1700" b="0" dirty="0">
              <a:solidFill>
                <a:srgbClr val="1F2328"/>
              </a:solidFill>
              <a:latin typeface="Calibri"/>
              <a:ea typeface="맑은 고딕"/>
              <a:cs typeface="Calibri"/>
            </a:endParaRPr>
          </a:p>
        </p:txBody>
      </p:sp>
      <p:sp>
        <p:nvSpPr>
          <p:cNvPr id="11" name="options"/>
          <p:cNvSpPr txBox="1"/>
          <p:nvPr/>
        </p:nvSpPr>
        <p:spPr>
          <a:xfrm>
            <a:off x="457200" y="3903980"/>
            <a:ext cx="11277295" cy="420624"/>
          </a:xfrm>
          <a:prstGeom prst="rect">
            <a:avLst/>
          </a:prstGeom>
          <a:noFill/>
        </p:spPr>
        <p:txBody>
          <a:bodyPr wrap="square" lIns="91440" tIns="18288" rIns="91440" bIns="18288" anchor="ctr" rtlCol="0">
            <a:noAutofit/>
          </a:bodyPr>
          <a:lstStyle/>
          <a:p>
            <a:pPr algn="ctr">
              <a:lnSpc>
                <a:spcPts val="2560"/>
              </a:lnSpc>
              <a:spcBef>
                <a:spcPts val="0"/>
              </a:spcBef>
              <a:spcAft>
                <a:spcPts val="0"/>
              </a:spcAft>
              <a:buNone/>
            </a:pPr>
            <a:r>
              <a:rPr lang="ko-KR" altLang="en-US" sz="1800" b="1" dirty="0">
                <a:solidFill>
                  <a:srgbClr val="1E2A5A"/>
                </a:solidFill>
                <a:latin typeface="맑은 고딕"/>
                <a:ea typeface="맑은 고딕"/>
                <a:cs typeface="맑은 고딕"/>
              </a:rPr>
              <a:t>① </a:t>
            </a:r>
            <a:r>
              <a:rPr lang="en-US" altLang="ko-KR" sz="1800" b="0" dirty="0">
                <a:solidFill>
                  <a:srgbClr val="1F2328"/>
                </a:solidFill>
                <a:latin typeface="Calibri"/>
                <a:ea typeface="맑은 고딕"/>
                <a:cs typeface="Calibri"/>
              </a:rPr>
              <a:t>(A) - (C) - (B)</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② </a:t>
            </a:r>
            <a:r>
              <a:rPr lang="en-US" altLang="ko-KR" sz="1800" b="0" dirty="0">
                <a:solidFill>
                  <a:srgbClr val="1F2328"/>
                </a:solidFill>
                <a:latin typeface="Calibri"/>
                <a:ea typeface="맑은 고딕"/>
                <a:cs typeface="Calibri"/>
              </a:rPr>
              <a:t>(B) - (A) - (C)</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③ </a:t>
            </a:r>
            <a:r>
              <a:rPr lang="en-US" altLang="ko-KR" sz="1800" b="0" dirty="0">
                <a:solidFill>
                  <a:srgbClr val="1F2328"/>
                </a:solidFill>
                <a:latin typeface="Calibri"/>
                <a:ea typeface="맑은 고딕"/>
                <a:cs typeface="Calibri"/>
              </a:rPr>
              <a:t>(B) - (C) - (A)</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④ </a:t>
            </a:r>
            <a:r>
              <a:rPr lang="en-US" altLang="ko-KR" sz="1800" b="0" dirty="0">
                <a:solidFill>
                  <a:srgbClr val="1F2328"/>
                </a:solidFill>
                <a:latin typeface="Calibri"/>
                <a:ea typeface="맑은 고딕"/>
                <a:cs typeface="Calibri"/>
              </a:rPr>
              <a:t>(C) - (A) - (B)</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⑤ </a:t>
            </a:r>
            <a:r>
              <a:rPr lang="en-US" altLang="ko-KR" sz="1800" b="0" dirty="0">
                <a:solidFill>
                  <a:srgbClr val="1F2328"/>
                </a:solidFill>
                <a:latin typeface="Calibri"/>
                <a:ea typeface="맑은 고딕"/>
                <a:cs typeface="Calibri"/>
              </a:rPr>
              <a:t>(C) - (B) - (A)</a:t>
            </a:r>
            <a:endParaRPr lang="en-US" altLang="ko-KR" sz="1800" b="0" dirty="0">
              <a:solidFill>
                <a:srgbClr val="1F2328"/>
              </a:solidFill>
              <a:latin typeface="Calibri"/>
              <a:ea typeface="맑은 고딕"/>
              <a:cs typeface="Calibri"/>
            </a:endParaRPr>
          </a:p>
        </p:txBody>
      </p:sp>
      <p:sp>
        <p:nvSpPr>
          <p:cNvPr id="12" name="rv_pick"/>
          <p:cNvSpPr txBox="1"/>
          <p:nvPr/>
        </p:nvSpPr>
        <p:spPr>
          <a:xfrm>
            <a:off x="457200" y="3903980"/>
            <a:ext cx="11277295" cy="420624"/>
          </a:xfrm>
          <a:prstGeom prst="rect">
            <a:avLst/>
          </a:prstGeom>
          <a:noFill/>
        </p:spPr>
        <p:txBody>
          <a:bodyPr wrap="square" lIns="91440" tIns="18288" rIns="91440" bIns="18288" anchor="ctr" rtlCol="0">
            <a:noAutofit/>
          </a:bodyPr>
          <a:lstStyle/>
          <a:p>
            <a:pPr algn="ctr">
              <a:lnSpc>
                <a:spcPts val="2560"/>
              </a:lnSpc>
              <a:spcBef>
                <a:spcPts val="0"/>
              </a:spcBef>
              <a:spcAft>
                <a:spcPts val="0"/>
              </a:spcAft>
              <a:buNone/>
            </a:pPr>
            <a:r>
              <a:rPr lang="ko-KR" altLang="en-US" sz="1800" b="1" dirty="0">
                <a:solidFill>
                  <a:srgbClr val="1E2A5A">
                    <a:alpha val="0"/>
                  </a:srgbClr>
                </a:solidFill>
                <a:latin typeface="맑은 고딕"/>
                <a:ea typeface="맑은 고딕"/>
                <a:cs typeface="맑은 고딕"/>
              </a:rPr>
              <a:t>① </a:t>
            </a:r>
            <a:r>
              <a:rPr lang="en-US" altLang="ko-KR" sz="1800" b="0" dirty="0">
                <a:solidFill>
                  <a:srgbClr val="1F2328">
                    <a:alpha val="0"/>
                  </a:srgbClr>
                </a:solidFill>
                <a:latin typeface="Calibri"/>
                <a:ea typeface="맑은 고딕"/>
                <a:cs typeface="Calibri"/>
              </a:rPr>
              <a:t>(A) - (C) - (B)</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② </a:t>
            </a:r>
            <a:r>
              <a:rPr lang="en-US" altLang="ko-KR" sz="1800" b="0" dirty="0">
                <a:solidFill>
                  <a:srgbClr val="1F2328">
                    <a:alpha val="0"/>
                  </a:srgbClr>
                </a:solidFill>
                <a:latin typeface="Calibri"/>
                <a:ea typeface="맑은 고딕"/>
                <a:cs typeface="Calibri"/>
              </a:rPr>
              <a:t>(B) - (A) - (C)</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③ </a:t>
            </a:r>
            <a:r>
              <a:rPr lang="en-US" altLang="ko-KR" sz="1800" b="0" dirty="0">
                <a:solidFill>
                  <a:srgbClr val="1F2328">
                    <a:alpha val="0"/>
                  </a:srgbClr>
                </a:solidFill>
                <a:latin typeface="Calibri"/>
                <a:ea typeface="맑은 고딕"/>
                <a:cs typeface="Calibri"/>
              </a:rPr>
              <a:t>(B) - (C) - (A)</a:t>
            </a:r>
            <a:r>
              <a:rPr lang="en-US" altLang="ko-KR" sz="1800" b="0" dirty="0">
                <a:solidFill>
                  <a:srgbClr val="1F2328">
                    <a:alpha val="0"/>
                  </a:srgbClr>
                </a:solidFill>
                <a:latin typeface="Calibri"/>
                <a:ea typeface="맑은 고딕"/>
                <a:cs typeface="Calibri"/>
              </a:rPr>
              <a:t>       </a:t>
            </a:r>
            <a:r>
              <a:rPr lang="ko-KR" altLang="en-US" sz="1800" b="1" dirty="0">
                <a:solidFill>
                  <a:srgbClr val="C00000"/>
                </a:solidFill>
                <a:highlight>
                  <a:srgbClr val="FFFFFF"/>
                </a:highlight>
                <a:latin typeface="맑은 고딕"/>
                <a:ea typeface="맑은 고딕"/>
                <a:cs typeface="맑은 고딕"/>
              </a:rPr>
              <a:t>④ </a:t>
            </a:r>
            <a:r>
              <a:rPr lang="en-US" altLang="ko-KR" sz="1800" b="0" dirty="0">
                <a:solidFill>
                  <a:srgbClr val="C00000"/>
                </a:solidFill>
                <a:highlight>
                  <a:srgbClr val="FFFFFF"/>
                </a:highlight>
                <a:latin typeface="Calibri"/>
                <a:ea typeface="맑은 고딕"/>
                <a:cs typeface="Calibri"/>
              </a:rPr>
              <a:t>(C) - (A) - (B)</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⑤ </a:t>
            </a:r>
            <a:r>
              <a:rPr lang="en-US" altLang="ko-KR" sz="1800" b="0" dirty="0">
                <a:solidFill>
                  <a:srgbClr val="1F2328">
                    <a:alpha val="0"/>
                  </a:srgbClr>
                </a:solidFill>
                <a:latin typeface="Calibri"/>
                <a:ea typeface="맑은 고딕"/>
                <a:cs typeface="Calibri"/>
              </a:rPr>
              <a:t>(C) - (B) - (A)</a:t>
            </a:r>
            <a:endParaRPr lang="en-US" altLang="ko-KR" sz="1800" b="0" dirty="0">
              <a:solidFill>
                <a:srgbClr val="1F2328"/>
              </a:solidFill>
              <a:latin typeface="Calibri"/>
              <a:ea typeface="맑은 고딕"/>
              <a:cs typeface="Calibri"/>
            </a:endParaRPr>
          </a:p>
        </p:txBody>
      </p:sp>
      <p:sp>
        <p:nvSpPr>
          <p:cNvPr id="13" name="rv_answer"/>
          <p:cNvSpPr/>
          <p:nvPr/>
        </p:nvSpPr>
        <p:spPr>
          <a:xfrm>
            <a:off x="457200" y="4416044"/>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④ </a:t>
            </a:r>
            <a:r>
              <a:rPr lang="en-US" altLang="ko-KR" sz="1900" b="1" dirty="0">
                <a:solidFill>
                  <a:srgbClr val="5A4200"/>
                </a:solidFill>
                <a:latin typeface="Calibri"/>
                <a:ea typeface="맑은 고딕"/>
                <a:cs typeface="Calibri"/>
              </a:rPr>
              <a:t>(C) - (A) - (B)</a:t>
            </a:r>
            <a:endParaRPr lang="en-US" altLang="ko-KR" sz="1900" b="1" dirty="0">
              <a:solidFill>
                <a:srgbClr val="5A4200"/>
              </a:solidFill>
              <a:latin typeface="Calibri"/>
              <a:ea typeface="맑은 고딕"/>
              <a:cs typeface="Calibri"/>
            </a:endParaRPr>
          </a:p>
        </p:txBody>
      </p:sp>
      <p:sp>
        <p:nvSpPr>
          <p:cNvPr id="14" name="rv_why"/>
          <p:cNvSpPr/>
          <p:nvPr/>
        </p:nvSpPr>
        <p:spPr>
          <a:xfrm>
            <a:off x="457200" y="5014976"/>
            <a:ext cx="11277295" cy="1404111"/>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(C) 빅데이터 분석으로 범죄 지도를 만든다 → (A) 'this map'이 예측한 곳에 집중해 범죄를 막고 세상이 바뀌었다 → (B) 'So'로 산업의 미래를 묻고 맺는다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25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250"/>
                                        <p:tgtEl>
                                          <p:spTgt spid="1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2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animBg="1"/>
    </p:bldLst>
  </p:timing>
</p:sld>
</file>

<file path=ppt/slides/slide20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L7-4</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2 · 2</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2. 주어진 글 다음에 이어질 글의 순서로 가장 적절한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7</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정답 원리</a:t>
            </a:r>
            <a:endParaRPr lang="ko-KR" altLang="en-US" sz="1000" b="0" dirty="0">
              <a:solidFill>
                <a:srgbClr val="7A808C"/>
              </a:solidFill>
              <a:latin typeface="맑은 고딕"/>
              <a:ea typeface="맑은 고딕"/>
              <a:cs typeface="맑은 고딕"/>
            </a:endParaRPr>
          </a:p>
        </p:txBody>
      </p:sp>
      <p:sp>
        <p:nvSpPr>
          <p:cNvPr id="7" name="given_card"/>
          <p:cNvSpPr/>
          <p:nvPr/>
        </p:nvSpPr>
        <p:spPr>
          <a:xfrm>
            <a:off x="457200" y="950976"/>
            <a:ext cx="11277295" cy="481838"/>
          </a:xfrm>
          <a:prstGeom prst="roundRect">
            <a:avLst>
              <a:gd name="adj" fmla="val 6000"/>
            </a:avLst>
          </a:prstGeom>
          <a:solidFill>
            <a:srgbClr val="FFFFFF"/>
          </a:solidFill>
          <a:ln w="15875">
            <a:solidFill>
              <a:srgbClr val="1E2A5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given"/>
          <p:cNvSpPr txBox="1"/>
          <p:nvPr/>
        </p:nvSpPr>
        <p:spPr>
          <a:xfrm>
            <a:off x="457200" y="950976"/>
            <a:ext cx="11277295" cy="481838"/>
          </a:xfrm>
          <a:prstGeom prst="rect">
            <a:avLst/>
          </a:prstGeom>
          <a:noFill/>
        </p:spPr>
        <p:txBody>
          <a:bodyPr wrap="square" lIns="201168" tIns="100584" rIns="201168" bIns="100584" anchor="t" rtlCol="0">
            <a:noAutofit/>
          </a:bodyPr>
          <a:lstStyle/>
          <a:p>
            <a:pPr algn="l">
              <a:lnSpc>
                <a:spcPts val="2210"/>
              </a:lnSpc>
              <a:spcBef>
                <a:spcPts val="0"/>
              </a:spcBef>
              <a:spcAft>
                <a:spcPts val="0"/>
              </a:spcAft>
              <a:buNone/>
            </a:pPr>
            <a:r>
              <a:rPr lang="en-US" altLang="ko-KR" sz="1700" b="0" dirty="0">
                <a:solidFill>
                  <a:srgbClr val="1F2328"/>
                </a:solidFill>
                <a:latin typeface="Calibri"/>
                <a:ea typeface="맑은 고딕"/>
                <a:cs typeface="Calibri"/>
              </a:rPr>
              <a:t>Thanks to big data, police can now predict crime before it happens.</a:t>
            </a:r>
            <a:endParaRPr lang="en-US" altLang="ko-KR" sz="1700" b="0" dirty="0">
              <a:solidFill>
                <a:srgbClr val="1F2328"/>
              </a:solidFill>
              <a:latin typeface="Calibri"/>
              <a:ea typeface="맑은 고딕"/>
              <a:cs typeface="Calibri"/>
            </a:endParaRPr>
          </a:p>
        </p:txBody>
      </p:sp>
      <p:sp>
        <p:nvSpPr>
          <p:cNvPr id="9" name="parts_card"/>
          <p:cNvSpPr/>
          <p:nvPr/>
        </p:nvSpPr>
        <p:spPr>
          <a:xfrm>
            <a:off x="457200" y="1560830"/>
            <a:ext cx="11277295" cy="2233422"/>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parts"/>
          <p:cNvSpPr txBox="1"/>
          <p:nvPr/>
        </p:nvSpPr>
        <p:spPr>
          <a:xfrm>
            <a:off x="457200" y="1560830"/>
            <a:ext cx="11277295" cy="2233422"/>
          </a:xfrm>
          <a:prstGeom prst="rect">
            <a:avLst/>
          </a:prstGeom>
          <a:noFill/>
        </p:spPr>
        <p:txBody>
          <a:bodyPr wrap="square" lIns="201168" tIns="118872" rIns="201168" bIns="118872" anchor="t" rtlCol="0">
            <a:noAutofit/>
          </a:bodyPr>
          <a:lstStyle/>
          <a:p>
            <a:pPr algn="just" marL="453390" indent="-453390">
              <a:lnSpc>
                <a:spcPts val="2210"/>
              </a:lnSpc>
              <a:spcBef>
                <a:spcPts val="0"/>
              </a:spcBef>
              <a:spcAft>
                <a:spcPts val="770"/>
              </a:spcAft>
              <a:buNone/>
              <a:tabLst>
                <a:tab pos="453390" algn="l"/>
              </a:tabLst>
            </a:pPr>
            <a:r>
              <a:rPr lang="en-US" altLang="ko-KR" sz="1700" b="1" dirty="0">
                <a:solidFill>
                  <a:srgbClr val="1E2A5A"/>
                </a:solidFill>
                <a:latin typeface="Calibri"/>
                <a:ea typeface="맑은 고딕"/>
                <a:cs typeface="Calibri"/>
              </a:rPr>
              <a:t>(A)</a:t>
            </a:r>
            <a:r>
              <a:rPr lang="en-US" altLang="ko-KR" sz="1700" b="0" dirty="0">
                <a:solidFill>
                  <a:srgbClr val="1F2328"/>
                </a:solidFill>
                <a:latin typeface="Calibri"/>
                <a:ea typeface="맑은 고딕"/>
                <a:cs typeface="Calibri"/>
              </a:rPr>
              <a:t>	Through the analysis of big data about the type, time and place of crime, police can make a map of crime hot spots. This map identifies when and where crime is most likely to happen.</a:t>
            </a:r>
            <a:endParaRPr lang="en-US" altLang="ko-KR" sz="1700" b="0" dirty="0">
              <a:solidFill>
                <a:srgbClr val="1F2328"/>
              </a:solidFill>
              <a:latin typeface="Calibri"/>
              <a:ea typeface="맑은 고딕"/>
              <a:cs typeface="Calibri"/>
            </a:endParaRPr>
          </a:p>
          <a:p>
            <a:pPr algn="just" marL="453390" indent="-453390">
              <a:lnSpc>
                <a:spcPts val="2210"/>
              </a:lnSpc>
              <a:spcBef>
                <a:spcPts val="0"/>
              </a:spcBef>
              <a:spcAft>
                <a:spcPts val="770"/>
              </a:spcAft>
              <a:buNone/>
              <a:tabLst>
                <a:tab pos="453390" algn="l"/>
              </a:tabLst>
            </a:pPr>
            <a:r>
              <a:rPr lang="en-US" altLang="ko-KR" sz="1700" b="1" dirty="0">
                <a:solidFill>
                  <a:srgbClr val="1E2A5A"/>
                </a:solidFill>
                <a:latin typeface="Calibri"/>
                <a:ea typeface="맑은 고딕"/>
                <a:cs typeface="Calibri"/>
              </a:rPr>
              <a:t>(B)</a:t>
            </a:r>
            <a:r>
              <a:rPr lang="en-US" altLang="ko-KR" sz="1700" b="0" dirty="0">
                <a:solidFill>
                  <a:srgbClr val="1F2328"/>
                </a:solidFill>
                <a:latin typeface="Calibri"/>
                <a:ea typeface="맑은 고딕"/>
                <a:cs typeface="Calibri"/>
              </a:rPr>
              <a:t>	So where will the big data industry go from here? Nobody knows for sure, but experts agree that big data will play a more and more important role in our lives.</a:t>
            </a:r>
            <a:endParaRPr lang="en-US" altLang="ko-KR" sz="1700" b="0" dirty="0">
              <a:solidFill>
                <a:srgbClr val="1F2328"/>
              </a:solidFill>
              <a:latin typeface="Calibri"/>
              <a:ea typeface="맑은 고딕"/>
              <a:cs typeface="Calibri"/>
            </a:endParaRPr>
          </a:p>
          <a:p>
            <a:pPr algn="just" marL="453390" indent="-453390">
              <a:lnSpc>
                <a:spcPts val="2210"/>
              </a:lnSpc>
              <a:spcBef>
                <a:spcPts val="0"/>
              </a:spcBef>
              <a:spcAft>
                <a:spcPts val="770"/>
              </a:spcAft>
              <a:buNone/>
              <a:tabLst>
                <a:tab pos="453390" algn="l"/>
              </a:tabLst>
            </a:pPr>
            <a:r>
              <a:rPr lang="en-US" altLang="ko-KR" sz="1700" b="1" dirty="0">
                <a:solidFill>
                  <a:srgbClr val="1E2A5A"/>
                </a:solidFill>
                <a:latin typeface="Calibri"/>
                <a:ea typeface="맑은 고딕"/>
                <a:cs typeface="Calibri"/>
              </a:rPr>
              <a:t>(C)</a:t>
            </a:r>
            <a:r>
              <a:rPr lang="en-US" altLang="ko-KR" sz="1700" b="0" dirty="0">
                <a:solidFill>
                  <a:srgbClr val="1F2328"/>
                </a:solidFill>
                <a:latin typeface="Calibri"/>
                <a:ea typeface="맑은 고딕"/>
                <a:cs typeface="Calibri"/>
              </a:rPr>
              <a:t>	Police can prevent further crime by focusing on the areas and the times this map predicts. Big data has already changed the world greatly.</a:t>
            </a:r>
            <a:endParaRPr lang="en-US" altLang="ko-KR" sz="1700" b="0" dirty="0">
              <a:solidFill>
                <a:srgbClr val="1F2328"/>
              </a:solidFill>
              <a:latin typeface="Calibri"/>
              <a:ea typeface="맑은 고딕"/>
              <a:cs typeface="Calibri"/>
            </a:endParaRPr>
          </a:p>
        </p:txBody>
      </p:sp>
      <p:sp>
        <p:nvSpPr>
          <p:cNvPr id="11" name="options"/>
          <p:cNvSpPr txBox="1"/>
          <p:nvPr/>
        </p:nvSpPr>
        <p:spPr>
          <a:xfrm>
            <a:off x="457200" y="3903980"/>
            <a:ext cx="11277295" cy="420624"/>
          </a:xfrm>
          <a:prstGeom prst="rect">
            <a:avLst/>
          </a:prstGeom>
          <a:noFill/>
        </p:spPr>
        <p:txBody>
          <a:bodyPr wrap="square" lIns="91440" tIns="18288" rIns="91440" bIns="18288" anchor="ctr" rtlCol="0">
            <a:noAutofit/>
          </a:bodyPr>
          <a:lstStyle/>
          <a:p>
            <a:pPr algn="ctr">
              <a:lnSpc>
                <a:spcPts val="2560"/>
              </a:lnSpc>
              <a:spcBef>
                <a:spcPts val="0"/>
              </a:spcBef>
              <a:spcAft>
                <a:spcPts val="0"/>
              </a:spcAft>
              <a:buNone/>
            </a:pPr>
            <a:r>
              <a:rPr lang="ko-KR" altLang="en-US" sz="1800" b="1" dirty="0">
                <a:solidFill>
                  <a:srgbClr val="1E2A5A"/>
                </a:solidFill>
                <a:latin typeface="맑은 고딕"/>
                <a:ea typeface="맑은 고딕"/>
                <a:cs typeface="맑은 고딕"/>
              </a:rPr>
              <a:t>① </a:t>
            </a:r>
            <a:r>
              <a:rPr lang="en-US" altLang="ko-KR" sz="1800" b="0" dirty="0">
                <a:solidFill>
                  <a:srgbClr val="1F2328"/>
                </a:solidFill>
                <a:latin typeface="Calibri"/>
                <a:ea typeface="맑은 고딕"/>
                <a:cs typeface="Calibri"/>
              </a:rPr>
              <a:t>(A) - (C) - (B)</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② </a:t>
            </a:r>
            <a:r>
              <a:rPr lang="en-US" altLang="ko-KR" sz="1800" b="0" dirty="0">
                <a:solidFill>
                  <a:srgbClr val="1F2328"/>
                </a:solidFill>
                <a:latin typeface="Calibri"/>
                <a:ea typeface="맑은 고딕"/>
                <a:cs typeface="Calibri"/>
              </a:rPr>
              <a:t>(B) - (A) - (C)</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③ </a:t>
            </a:r>
            <a:r>
              <a:rPr lang="en-US" altLang="ko-KR" sz="1800" b="0" dirty="0">
                <a:solidFill>
                  <a:srgbClr val="1F2328"/>
                </a:solidFill>
                <a:latin typeface="Calibri"/>
                <a:ea typeface="맑은 고딕"/>
                <a:cs typeface="Calibri"/>
              </a:rPr>
              <a:t>(B) - (C) - (A)</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④ </a:t>
            </a:r>
            <a:r>
              <a:rPr lang="en-US" altLang="ko-KR" sz="1800" b="0" dirty="0">
                <a:solidFill>
                  <a:srgbClr val="1F2328"/>
                </a:solidFill>
                <a:latin typeface="Calibri"/>
                <a:ea typeface="맑은 고딕"/>
                <a:cs typeface="Calibri"/>
              </a:rPr>
              <a:t>(C) - (A) - (B)</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⑤ </a:t>
            </a:r>
            <a:r>
              <a:rPr lang="en-US" altLang="ko-KR" sz="1800" b="0" dirty="0">
                <a:solidFill>
                  <a:srgbClr val="1F2328"/>
                </a:solidFill>
                <a:latin typeface="Calibri"/>
                <a:ea typeface="맑은 고딕"/>
                <a:cs typeface="Calibri"/>
              </a:rPr>
              <a:t>(C) - (B) - (A)</a:t>
            </a:r>
            <a:endParaRPr lang="en-US" altLang="ko-KR" sz="1800" b="0" dirty="0">
              <a:solidFill>
                <a:srgbClr val="1F2328"/>
              </a:solidFill>
              <a:latin typeface="Calibri"/>
              <a:ea typeface="맑은 고딕"/>
              <a:cs typeface="Calibri"/>
            </a:endParaRPr>
          </a:p>
        </p:txBody>
      </p:sp>
      <p:sp>
        <p:nvSpPr>
          <p:cNvPr id="12" name="rv_pick"/>
          <p:cNvSpPr txBox="1"/>
          <p:nvPr/>
        </p:nvSpPr>
        <p:spPr>
          <a:xfrm>
            <a:off x="457200" y="3903980"/>
            <a:ext cx="11277295" cy="420624"/>
          </a:xfrm>
          <a:prstGeom prst="rect">
            <a:avLst/>
          </a:prstGeom>
          <a:noFill/>
        </p:spPr>
        <p:txBody>
          <a:bodyPr wrap="square" lIns="91440" tIns="18288" rIns="91440" bIns="18288" anchor="ctr" rtlCol="0">
            <a:noAutofit/>
          </a:bodyPr>
          <a:lstStyle/>
          <a:p>
            <a:pPr algn="ctr">
              <a:lnSpc>
                <a:spcPts val="2560"/>
              </a:lnSpc>
              <a:spcBef>
                <a:spcPts val="0"/>
              </a:spcBef>
              <a:spcAft>
                <a:spcPts val="0"/>
              </a:spcAft>
              <a:buNone/>
            </a:pPr>
            <a:r>
              <a:rPr lang="ko-KR" altLang="en-US" sz="1800" b="1" dirty="0">
                <a:solidFill>
                  <a:srgbClr val="C00000"/>
                </a:solidFill>
                <a:highlight>
                  <a:srgbClr val="FFFFFF"/>
                </a:highlight>
                <a:latin typeface="맑은 고딕"/>
                <a:ea typeface="맑은 고딕"/>
                <a:cs typeface="맑은 고딕"/>
              </a:rPr>
              <a:t>① </a:t>
            </a:r>
            <a:r>
              <a:rPr lang="en-US" altLang="ko-KR" sz="1800" b="0" dirty="0">
                <a:solidFill>
                  <a:srgbClr val="C00000"/>
                </a:solidFill>
                <a:highlight>
                  <a:srgbClr val="FFFFFF"/>
                </a:highlight>
                <a:latin typeface="Calibri"/>
                <a:ea typeface="맑은 고딕"/>
                <a:cs typeface="Calibri"/>
              </a:rPr>
              <a:t>(A) - (C) - (B)</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② </a:t>
            </a:r>
            <a:r>
              <a:rPr lang="en-US" altLang="ko-KR" sz="1800" b="0" dirty="0">
                <a:solidFill>
                  <a:srgbClr val="1F2328">
                    <a:alpha val="0"/>
                  </a:srgbClr>
                </a:solidFill>
                <a:latin typeface="Calibri"/>
                <a:ea typeface="맑은 고딕"/>
                <a:cs typeface="Calibri"/>
              </a:rPr>
              <a:t>(B) - (A) - (C)</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③ </a:t>
            </a:r>
            <a:r>
              <a:rPr lang="en-US" altLang="ko-KR" sz="1800" b="0" dirty="0">
                <a:solidFill>
                  <a:srgbClr val="1F2328">
                    <a:alpha val="0"/>
                  </a:srgbClr>
                </a:solidFill>
                <a:latin typeface="Calibri"/>
                <a:ea typeface="맑은 고딕"/>
                <a:cs typeface="Calibri"/>
              </a:rPr>
              <a:t>(B) - (C) - (A)</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④ </a:t>
            </a:r>
            <a:r>
              <a:rPr lang="en-US" altLang="ko-KR" sz="1800" b="0" dirty="0">
                <a:solidFill>
                  <a:srgbClr val="1F2328">
                    <a:alpha val="0"/>
                  </a:srgbClr>
                </a:solidFill>
                <a:latin typeface="Calibri"/>
                <a:ea typeface="맑은 고딕"/>
                <a:cs typeface="Calibri"/>
              </a:rPr>
              <a:t>(C) - (A) - (B)</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⑤ </a:t>
            </a:r>
            <a:r>
              <a:rPr lang="en-US" altLang="ko-KR" sz="1800" b="0" dirty="0">
                <a:solidFill>
                  <a:srgbClr val="1F2328">
                    <a:alpha val="0"/>
                  </a:srgbClr>
                </a:solidFill>
                <a:latin typeface="Calibri"/>
                <a:ea typeface="맑은 고딕"/>
                <a:cs typeface="Calibri"/>
              </a:rPr>
              <a:t>(C) - (B) - (A)</a:t>
            </a:r>
            <a:endParaRPr lang="en-US" altLang="ko-KR" sz="1800" b="0" dirty="0">
              <a:solidFill>
                <a:srgbClr val="1F2328"/>
              </a:solidFill>
              <a:latin typeface="Calibri"/>
              <a:ea typeface="맑은 고딕"/>
              <a:cs typeface="Calibri"/>
            </a:endParaRPr>
          </a:p>
        </p:txBody>
      </p:sp>
      <p:sp>
        <p:nvSpPr>
          <p:cNvPr id="13" name="rv_answer"/>
          <p:cNvSpPr/>
          <p:nvPr/>
        </p:nvSpPr>
        <p:spPr>
          <a:xfrm>
            <a:off x="457200" y="4416044"/>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① </a:t>
            </a:r>
            <a:r>
              <a:rPr lang="en-US" altLang="ko-KR" sz="1900" b="1" dirty="0">
                <a:solidFill>
                  <a:srgbClr val="5A4200"/>
                </a:solidFill>
                <a:latin typeface="Calibri"/>
                <a:ea typeface="맑은 고딕"/>
                <a:cs typeface="Calibri"/>
              </a:rPr>
              <a:t>(A) - (C) - (B)</a:t>
            </a:r>
            <a:endParaRPr lang="en-US" altLang="ko-KR" sz="1900" b="1" dirty="0">
              <a:solidFill>
                <a:srgbClr val="5A4200"/>
              </a:solidFill>
              <a:latin typeface="Calibri"/>
              <a:ea typeface="맑은 고딕"/>
              <a:cs typeface="Calibri"/>
            </a:endParaRPr>
          </a:p>
        </p:txBody>
      </p:sp>
      <p:sp>
        <p:nvSpPr>
          <p:cNvPr id="14" name="rv_why"/>
          <p:cNvSpPr/>
          <p:nvPr/>
        </p:nvSpPr>
        <p:spPr>
          <a:xfrm>
            <a:off x="457200" y="5014976"/>
            <a:ext cx="11277295" cy="1404111"/>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(A) 빅데이터 분석으로 범죄 지도를 만든다 → (C) 'this map'이 예측한 곳에 집중해 범죄를 막는다 → (B) 'So where will'로 산업의 미래를 묻고 맺는다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25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250"/>
                                        <p:tgtEl>
                                          <p:spTgt spid="1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2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animBg="1"/>
    </p:bldLst>
  </p:timing>
</p:sld>
</file>

<file path=ppt/slides/slide20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L7-4</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2 · 3</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3. 글의 흐름으로 보아, 주어진 문장이 들어가기에 가장 적절한 곳은?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7</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정답 원리</a:t>
            </a:r>
            <a:endParaRPr lang="ko-KR" altLang="en-US" sz="1000" b="0" dirty="0">
              <a:solidFill>
                <a:srgbClr val="7A808C"/>
              </a:solidFill>
              <a:latin typeface="맑은 고딕"/>
              <a:ea typeface="맑은 고딕"/>
              <a:cs typeface="맑은 고딕"/>
            </a:endParaRPr>
          </a:p>
        </p:txBody>
      </p:sp>
      <p:sp>
        <p:nvSpPr>
          <p:cNvPr id="7" name="given_card"/>
          <p:cNvSpPr/>
          <p:nvPr/>
        </p:nvSpPr>
        <p:spPr>
          <a:xfrm>
            <a:off x="457200" y="950976"/>
            <a:ext cx="11277295" cy="507238"/>
          </a:xfrm>
          <a:prstGeom prst="roundRect">
            <a:avLst>
              <a:gd name="adj" fmla="val 6000"/>
            </a:avLst>
          </a:prstGeom>
          <a:solidFill>
            <a:srgbClr val="FFFFFF"/>
          </a:solidFill>
          <a:ln w="15875">
            <a:solidFill>
              <a:srgbClr val="1E2A5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given"/>
          <p:cNvSpPr txBox="1"/>
          <p:nvPr/>
        </p:nvSpPr>
        <p:spPr>
          <a:xfrm>
            <a:off x="457200" y="950976"/>
            <a:ext cx="11277295" cy="507238"/>
          </a:xfrm>
          <a:prstGeom prst="rect">
            <a:avLst/>
          </a:prstGeom>
          <a:noFill/>
        </p:spPr>
        <p:txBody>
          <a:bodyPr wrap="square" lIns="201168" tIns="100584" rIns="201168" bIns="100584"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주어진 문장</a:t>
            </a:r>
            <a:r>
              <a:rPr lang="en-US" altLang="ko-KR" sz="1700" b="0" dirty="0">
                <a:solidFill>
                  <a:srgbClr val="1F2328"/>
                </a:solidFill>
                <a:latin typeface="Calibri"/>
                <a:ea typeface="맑은 고딕"/>
                <a:cs typeface="Calibri"/>
              </a:rPr>
              <a:t>   Big data has already changed the world greatly.</a:t>
            </a:r>
            <a:endParaRPr lang="en-US" altLang="ko-KR" sz="1700" b="0" dirty="0">
              <a:solidFill>
                <a:srgbClr val="1F2328"/>
              </a:solidFill>
              <a:latin typeface="Calibri"/>
              <a:ea typeface="맑은 고딕"/>
              <a:cs typeface="Calibri"/>
            </a:endParaRPr>
          </a:p>
        </p:txBody>
      </p:sp>
      <p:sp>
        <p:nvSpPr>
          <p:cNvPr id="9" name="passage_card"/>
          <p:cNvSpPr/>
          <p:nvPr/>
        </p:nvSpPr>
        <p:spPr>
          <a:xfrm>
            <a:off x="457200" y="1604518"/>
            <a:ext cx="11277295" cy="222504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passage"/>
          <p:cNvSpPr txBox="1"/>
          <p:nvPr/>
        </p:nvSpPr>
        <p:spPr>
          <a:xfrm>
            <a:off x="457200" y="1604518"/>
            <a:ext cx="11277295" cy="2225040"/>
          </a:xfrm>
          <a:prstGeom prst="rect">
            <a:avLst/>
          </a:prstGeom>
          <a:noFill/>
        </p:spPr>
        <p:txBody>
          <a:bodyPr wrap="square" lIns="201168" tIns="118872" rIns="201168" bIns="118872" anchor="t" rtlCol="0">
            <a:noAutofit/>
          </a:bodyPr>
          <a:lstStyle/>
          <a:p>
            <a:pPr algn="just">
              <a:lnSpc>
                <a:spcPts val="2560"/>
              </a:lnSpc>
              <a:spcBef>
                <a:spcPts val="0"/>
              </a:spcBef>
              <a:spcAft>
                <a:spcPts val="0"/>
              </a:spcAft>
              <a:buNone/>
            </a:pPr>
            <a:r>
              <a:rPr lang="en-US" altLang="ko-KR" sz="1700" b="0" dirty="0">
                <a:solidFill>
                  <a:srgbClr val="1F2328"/>
                </a:solidFill>
                <a:latin typeface="Calibri"/>
                <a:ea typeface="맑은 고딕"/>
                <a:cs typeface="Calibri"/>
              </a:rPr>
              <a:t>Thanks to big data, police can now predict crime before it happens. </a:t>
            </a:r>
            <a:r>
              <a:rPr lang="ko-KR" altLang="en-US" sz="1800" b="1" dirty="0">
                <a:solidFill>
                  <a:srgbClr val="1E2A5A"/>
                </a:solidFill>
                <a:latin typeface="맑은 고딕"/>
                <a:ea typeface="맑은 고딕"/>
                <a:cs typeface="맑은 고딕"/>
              </a:rPr>
              <a:t>②</a:t>
            </a:r>
            <a:r>
              <a:rPr lang="en-US" altLang="ko-KR" sz="1700" b="0" dirty="0">
                <a:solidFill>
                  <a:srgbClr val="1F2328"/>
                </a:solidFill>
                <a:latin typeface="Calibri"/>
                <a:ea typeface="맑은 고딕"/>
                <a:cs typeface="Calibri"/>
              </a:rPr>
              <a:t> Through the analysis of big data about the type, time and place of crime, police can make a map of crime hot spots. </a:t>
            </a:r>
            <a:r>
              <a:rPr lang="ko-KR" altLang="en-US" sz="1800" b="1" dirty="0">
                <a:solidFill>
                  <a:srgbClr val="1E2A5A"/>
                </a:solidFill>
                <a:latin typeface="맑은 고딕"/>
                <a:ea typeface="맑은 고딕"/>
                <a:cs typeface="맑은 고딕"/>
              </a:rPr>
              <a:t>③</a:t>
            </a:r>
            <a:r>
              <a:rPr lang="en-US" altLang="ko-KR" sz="1700" b="0" dirty="0">
                <a:solidFill>
                  <a:srgbClr val="1F2328"/>
                </a:solidFill>
                <a:latin typeface="Calibri"/>
                <a:ea typeface="맑은 고딕"/>
                <a:cs typeface="Calibri"/>
              </a:rPr>
              <a:t> This map identifies when and where crime is most likely to happen. </a:t>
            </a:r>
            <a:r>
              <a:rPr lang="ko-KR" altLang="en-US" sz="1800" b="1" dirty="0">
                <a:solidFill>
                  <a:srgbClr val="1E2A5A"/>
                </a:solidFill>
                <a:latin typeface="맑은 고딕"/>
                <a:ea typeface="맑은 고딕"/>
                <a:cs typeface="맑은 고딕"/>
              </a:rPr>
              <a:t>④</a:t>
            </a:r>
            <a:r>
              <a:rPr lang="en-US" altLang="ko-KR" sz="1700" b="0" dirty="0">
                <a:solidFill>
                  <a:srgbClr val="1F2328"/>
                </a:solidFill>
                <a:latin typeface="Calibri"/>
                <a:ea typeface="맑은 고딕"/>
                <a:cs typeface="Calibri"/>
              </a:rPr>
              <a:t> Police can prevent further crime by focusing on the areas and the times this map predicts. </a:t>
            </a:r>
            <a:r>
              <a:rPr lang="ko-KR" altLang="en-US" sz="1800" b="1" dirty="0">
                <a:solidFill>
                  <a:srgbClr val="1E2A5A"/>
                </a:solidFill>
                <a:latin typeface="맑은 고딕"/>
                <a:ea typeface="맑은 고딕"/>
                <a:cs typeface="맑은 고딕"/>
              </a:rPr>
              <a:t>⑤</a:t>
            </a:r>
            <a:r>
              <a:rPr lang="en-US" altLang="ko-KR" sz="1700" b="0" dirty="0">
                <a:solidFill>
                  <a:srgbClr val="1F2328"/>
                </a:solidFill>
                <a:latin typeface="Calibri"/>
                <a:ea typeface="맑은 고딕"/>
                <a:cs typeface="Calibri"/>
              </a:rPr>
              <a:t> So where will the big data industry go from here? Nobody knows for sure, but experts agree that big data will play a more and more important role in our lives.</a:t>
            </a:r>
            <a:endParaRPr lang="en-US" altLang="ko-KR" sz="1700" b="0" dirty="0">
              <a:solidFill>
                <a:srgbClr val="1F2328"/>
              </a:solidFill>
              <a:latin typeface="Calibri"/>
              <a:ea typeface="맑은 고딕"/>
              <a:cs typeface="Calibri"/>
            </a:endParaRPr>
          </a:p>
        </p:txBody>
      </p:sp>
      <p:sp>
        <p:nvSpPr>
          <p:cNvPr id="11" name="rv_pick"/>
          <p:cNvSpPr txBox="1"/>
          <p:nvPr/>
        </p:nvSpPr>
        <p:spPr>
          <a:xfrm>
            <a:off x="457200" y="1604518"/>
            <a:ext cx="11277295" cy="2225040"/>
          </a:xfrm>
          <a:prstGeom prst="rect">
            <a:avLst/>
          </a:prstGeom>
          <a:noFill/>
        </p:spPr>
        <p:txBody>
          <a:bodyPr wrap="square" lIns="201168" tIns="118872" rIns="201168" bIns="118872" anchor="t" rtlCol="0">
            <a:noAutofit/>
          </a:bodyPr>
          <a:lstStyle/>
          <a:p>
            <a:pPr algn="just">
              <a:lnSpc>
                <a:spcPts val="2560"/>
              </a:lnSpc>
              <a:spcBef>
                <a:spcPts val="0"/>
              </a:spcBef>
              <a:spcAft>
                <a:spcPts val="0"/>
              </a:spcAft>
              <a:buNone/>
            </a:pPr>
            <a:r>
              <a:rPr lang="en-US" altLang="ko-KR" sz="1700" b="0" dirty="0">
                <a:solidFill>
                  <a:srgbClr val="1F2328">
                    <a:alpha val="0"/>
                  </a:srgbClr>
                </a:solidFill>
                <a:latin typeface="Calibri"/>
                <a:ea typeface="맑은 고딕"/>
                <a:cs typeface="Calibri"/>
              </a:rPr>
              <a:t>Thanks to big data, police can now predict crime before it happens. </a:t>
            </a:r>
            <a:r>
              <a:rPr lang="ko-KR" altLang="en-US" sz="1800" b="1" dirty="0">
                <a:solidFill>
                  <a:srgbClr val="1E2A5A">
                    <a:alpha val="0"/>
                  </a:srgbClr>
                </a:solidFill>
                <a:latin typeface="맑은 고딕"/>
                <a:ea typeface="맑은 고딕"/>
                <a:cs typeface="맑은 고딕"/>
              </a:rPr>
              <a:t>②</a:t>
            </a:r>
            <a:r>
              <a:rPr lang="en-US" altLang="ko-KR" sz="1700" b="0" dirty="0">
                <a:solidFill>
                  <a:srgbClr val="1F2328">
                    <a:alpha val="0"/>
                  </a:srgbClr>
                </a:solidFill>
                <a:latin typeface="Calibri"/>
                <a:ea typeface="맑은 고딕"/>
                <a:cs typeface="Calibri"/>
              </a:rPr>
              <a:t> Through the analysis of big data about the type, time and place of crime, police can make a map of crime hot spots. </a:t>
            </a:r>
            <a:r>
              <a:rPr lang="ko-KR" altLang="en-US" sz="1800" b="1" dirty="0">
                <a:solidFill>
                  <a:srgbClr val="1E2A5A">
                    <a:alpha val="0"/>
                  </a:srgbClr>
                </a:solidFill>
                <a:latin typeface="맑은 고딕"/>
                <a:ea typeface="맑은 고딕"/>
                <a:cs typeface="맑은 고딕"/>
              </a:rPr>
              <a:t>③</a:t>
            </a:r>
            <a:r>
              <a:rPr lang="en-US" altLang="ko-KR" sz="1700" b="0" dirty="0">
                <a:solidFill>
                  <a:srgbClr val="1F2328">
                    <a:alpha val="0"/>
                  </a:srgbClr>
                </a:solidFill>
                <a:latin typeface="Calibri"/>
                <a:ea typeface="맑은 고딕"/>
                <a:cs typeface="Calibri"/>
              </a:rPr>
              <a:t> This map identifies when and where crime is most likely to happen. </a:t>
            </a:r>
            <a:r>
              <a:rPr lang="ko-KR" altLang="en-US" sz="1800" b="1" dirty="0">
                <a:solidFill>
                  <a:srgbClr val="1E2A5A">
                    <a:alpha val="0"/>
                  </a:srgbClr>
                </a:solidFill>
                <a:latin typeface="맑은 고딕"/>
                <a:ea typeface="맑은 고딕"/>
                <a:cs typeface="맑은 고딕"/>
              </a:rPr>
              <a:t>④</a:t>
            </a:r>
            <a:r>
              <a:rPr lang="en-US" altLang="ko-KR" sz="1700" b="0" dirty="0">
                <a:solidFill>
                  <a:srgbClr val="1F2328">
                    <a:alpha val="0"/>
                  </a:srgbClr>
                </a:solidFill>
                <a:latin typeface="Calibri"/>
                <a:ea typeface="맑은 고딕"/>
                <a:cs typeface="Calibri"/>
              </a:rPr>
              <a:t> Police can prevent further crime by focusing on the areas and the times this map predicts. </a:t>
            </a:r>
            <a:r>
              <a:rPr lang="ko-KR" altLang="en-US" sz="1800" b="1" dirty="0">
                <a:solidFill>
                  <a:srgbClr val="C00000"/>
                </a:solidFill>
                <a:highlight>
                  <a:srgbClr val="F3F5F9"/>
                </a:highlight>
                <a:latin typeface="맑은 고딕"/>
                <a:ea typeface="맑은 고딕"/>
                <a:cs typeface="맑은 고딕"/>
              </a:rPr>
              <a:t>⑤</a:t>
            </a:r>
            <a:r>
              <a:rPr lang="en-US" altLang="ko-KR" sz="1700" b="0" dirty="0">
                <a:solidFill>
                  <a:srgbClr val="1F2328">
                    <a:alpha val="0"/>
                  </a:srgbClr>
                </a:solidFill>
                <a:latin typeface="Calibri"/>
                <a:ea typeface="맑은 고딕"/>
                <a:cs typeface="Calibri"/>
              </a:rPr>
              <a:t> So where will the big data industry go from here? Nobody knows for sure, but experts agree that big data will play a more and more important role in our lives.</a:t>
            </a:r>
            <a:endParaRPr lang="en-US" altLang="ko-KR" sz="1700" b="0" dirty="0">
              <a:solidFill>
                <a:srgbClr val="1F2328"/>
              </a:solidFill>
              <a:latin typeface="Calibri"/>
              <a:ea typeface="맑은 고딕"/>
              <a:cs typeface="Calibri"/>
            </a:endParaRPr>
          </a:p>
        </p:txBody>
      </p:sp>
      <p:sp>
        <p:nvSpPr>
          <p:cNvPr id="12" name="rv_answer"/>
          <p:cNvSpPr/>
          <p:nvPr/>
        </p:nvSpPr>
        <p:spPr>
          <a:xfrm>
            <a:off x="457200" y="393928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⑤</a:t>
            </a:r>
            <a:endParaRPr lang="ko-KR" altLang="en-US" sz="1900" b="1" dirty="0">
              <a:solidFill>
                <a:srgbClr val="5A4200"/>
              </a:solidFill>
              <a:latin typeface="맑은 고딕"/>
              <a:ea typeface="맑은 고딕"/>
              <a:cs typeface="맑은 고딕"/>
            </a:endParaRPr>
          </a:p>
        </p:txBody>
      </p:sp>
      <p:sp>
        <p:nvSpPr>
          <p:cNvPr id="13" name="rv_why"/>
          <p:cNvSpPr/>
          <p:nvPr/>
        </p:nvSpPr>
        <p:spPr>
          <a:xfrm>
            <a:off x="457200" y="4538218"/>
            <a:ext cx="11277295" cy="188086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주어진 문장은 범죄 사례를 세상의 변화로 넓힌다. 'So where will'은 그 변화를 받아 산업의 미래를 물으므로 주어진 문장은 ⑤에 들어간다.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25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25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2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Lst>
  </p:timing>
</p:sld>
</file>

<file path=ppt/slides/slide20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L7-4</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2 · 4</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4. 글의 흐름으로 보아, 주어진 문장이 들어가기에 가장 적절한 곳은?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7</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정답 원리</a:t>
            </a:r>
            <a:endParaRPr lang="ko-KR" altLang="en-US" sz="1000" b="0" dirty="0">
              <a:solidFill>
                <a:srgbClr val="7A808C"/>
              </a:solidFill>
              <a:latin typeface="맑은 고딕"/>
              <a:ea typeface="맑은 고딕"/>
              <a:cs typeface="맑은 고딕"/>
            </a:endParaRPr>
          </a:p>
        </p:txBody>
      </p:sp>
      <p:sp>
        <p:nvSpPr>
          <p:cNvPr id="7" name="given_card"/>
          <p:cNvSpPr/>
          <p:nvPr/>
        </p:nvSpPr>
        <p:spPr>
          <a:xfrm>
            <a:off x="457200" y="950976"/>
            <a:ext cx="11277295" cy="813308"/>
          </a:xfrm>
          <a:prstGeom prst="roundRect">
            <a:avLst>
              <a:gd name="adj" fmla="val 6000"/>
            </a:avLst>
          </a:prstGeom>
          <a:solidFill>
            <a:srgbClr val="FFFFFF"/>
          </a:solidFill>
          <a:ln w="15875">
            <a:solidFill>
              <a:srgbClr val="1E2A5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given"/>
          <p:cNvSpPr txBox="1"/>
          <p:nvPr/>
        </p:nvSpPr>
        <p:spPr>
          <a:xfrm>
            <a:off x="457200" y="950976"/>
            <a:ext cx="11277295" cy="813308"/>
          </a:xfrm>
          <a:prstGeom prst="rect">
            <a:avLst/>
          </a:prstGeom>
          <a:noFill/>
        </p:spPr>
        <p:txBody>
          <a:bodyPr wrap="square" lIns="201168" tIns="100584" rIns="201168" bIns="100584"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주어진 문장</a:t>
            </a:r>
            <a:r>
              <a:rPr lang="en-US" altLang="ko-KR" sz="1700" b="0" dirty="0">
                <a:solidFill>
                  <a:srgbClr val="1F2328"/>
                </a:solidFill>
                <a:latin typeface="Calibri"/>
                <a:ea typeface="맑은 고딕"/>
                <a:cs typeface="Calibri"/>
              </a:rPr>
              <a:t>   Through the analysis of big data about the type, time and place of crime, police can make a map of crime hot spots.</a:t>
            </a:r>
            <a:endParaRPr lang="en-US" altLang="ko-KR" sz="1700" b="0" dirty="0">
              <a:solidFill>
                <a:srgbClr val="1F2328"/>
              </a:solidFill>
              <a:latin typeface="Calibri"/>
              <a:ea typeface="맑은 고딕"/>
              <a:cs typeface="Calibri"/>
            </a:endParaRPr>
          </a:p>
        </p:txBody>
      </p:sp>
      <p:sp>
        <p:nvSpPr>
          <p:cNvPr id="9" name="passage_card"/>
          <p:cNvSpPr/>
          <p:nvPr/>
        </p:nvSpPr>
        <p:spPr>
          <a:xfrm>
            <a:off x="457200" y="1910587"/>
            <a:ext cx="11277295" cy="189991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passage"/>
          <p:cNvSpPr txBox="1"/>
          <p:nvPr/>
        </p:nvSpPr>
        <p:spPr>
          <a:xfrm>
            <a:off x="457200" y="1910587"/>
            <a:ext cx="11277295" cy="1899919"/>
          </a:xfrm>
          <a:prstGeom prst="rect">
            <a:avLst/>
          </a:prstGeom>
          <a:noFill/>
        </p:spPr>
        <p:txBody>
          <a:bodyPr wrap="square" lIns="201168" tIns="118872" rIns="201168" bIns="118872" anchor="t" rtlCol="0">
            <a:noAutofit/>
          </a:bodyPr>
          <a:lstStyle/>
          <a:p>
            <a:pPr algn="just">
              <a:lnSpc>
                <a:spcPts val="2560"/>
              </a:lnSpc>
              <a:spcBef>
                <a:spcPts val="0"/>
              </a:spcBef>
              <a:spcAft>
                <a:spcPts val="0"/>
              </a:spcAft>
              <a:buNone/>
            </a:pPr>
            <a:r>
              <a:rPr lang="en-US" altLang="ko-KR" sz="1700" b="0" dirty="0">
                <a:solidFill>
                  <a:srgbClr val="1F2328"/>
                </a:solidFill>
                <a:latin typeface="Calibri"/>
                <a:ea typeface="맑은 고딕"/>
                <a:cs typeface="Calibri"/>
              </a:rPr>
              <a:t>Thanks to big data, police can now predict crime before it happens. </a:t>
            </a:r>
            <a:r>
              <a:rPr lang="ko-KR" altLang="en-US" sz="1800" b="1" dirty="0">
                <a:solidFill>
                  <a:srgbClr val="1E2A5A"/>
                </a:solidFill>
                <a:latin typeface="맑은 고딕"/>
                <a:ea typeface="맑은 고딕"/>
                <a:cs typeface="맑은 고딕"/>
              </a:rPr>
              <a:t>②</a:t>
            </a:r>
            <a:r>
              <a:rPr lang="en-US" altLang="ko-KR" sz="1700" b="0" dirty="0">
                <a:solidFill>
                  <a:srgbClr val="1F2328"/>
                </a:solidFill>
                <a:latin typeface="Calibri"/>
                <a:ea typeface="맑은 고딕"/>
                <a:cs typeface="Calibri"/>
              </a:rPr>
              <a:t> This map identifies when and where crime is most likely to happen. </a:t>
            </a:r>
            <a:r>
              <a:rPr lang="ko-KR" altLang="en-US" sz="1800" b="1" dirty="0">
                <a:solidFill>
                  <a:srgbClr val="1E2A5A"/>
                </a:solidFill>
                <a:latin typeface="맑은 고딕"/>
                <a:ea typeface="맑은 고딕"/>
                <a:cs typeface="맑은 고딕"/>
              </a:rPr>
              <a:t>③</a:t>
            </a:r>
            <a:r>
              <a:rPr lang="en-US" altLang="ko-KR" sz="1700" b="0" dirty="0">
                <a:solidFill>
                  <a:srgbClr val="1F2328"/>
                </a:solidFill>
                <a:latin typeface="Calibri"/>
                <a:ea typeface="맑은 고딕"/>
                <a:cs typeface="Calibri"/>
              </a:rPr>
              <a:t> Police can prevent further crime by focusing on the areas and the times this map predicts. </a:t>
            </a:r>
            <a:r>
              <a:rPr lang="ko-KR" altLang="en-US" sz="1800" b="1" dirty="0">
                <a:solidFill>
                  <a:srgbClr val="1E2A5A"/>
                </a:solidFill>
                <a:latin typeface="맑은 고딕"/>
                <a:ea typeface="맑은 고딕"/>
                <a:cs typeface="맑은 고딕"/>
              </a:rPr>
              <a:t>④</a:t>
            </a:r>
            <a:r>
              <a:rPr lang="en-US" altLang="ko-KR" sz="1700" b="0" dirty="0">
                <a:solidFill>
                  <a:srgbClr val="1F2328"/>
                </a:solidFill>
                <a:latin typeface="Calibri"/>
                <a:ea typeface="맑은 고딕"/>
                <a:cs typeface="Calibri"/>
              </a:rPr>
              <a:t> Big data has already changed the world greatly. </a:t>
            </a:r>
            <a:r>
              <a:rPr lang="ko-KR" altLang="en-US" sz="1800" b="1" dirty="0">
                <a:solidFill>
                  <a:srgbClr val="1E2A5A"/>
                </a:solidFill>
                <a:latin typeface="맑은 고딕"/>
                <a:ea typeface="맑은 고딕"/>
                <a:cs typeface="맑은 고딕"/>
              </a:rPr>
              <a:t>⑤</a:t>
            </a:r>
            <a:r>
              <a:rPr lang="en-US" altLang="ko-KR" sz="1700" b="0" dirty="0">
                <a:solidFill>
                  <a:srgbClr val="1F2328"/>
                </a:solidFill>
                <a:latin typeface="Calibri"/>
                <a:ea typeface="맑은 고딕"/>
                <a:cs typeface="Calibri"/>
              </a:rPr>
              <a:t> So where will the big data industry go from here? Nobody knows for sure, but experts agree that big data will play a more and more important role in our lives.</a:t>
            </a:r>
            <a:endParaRPr lang="en-US" altLang="ko-KR" sz="1700" b="0" dirty="0">
              <a:solidFill>
                <a:srgbClr val="1F2328"/>
              </a:solidFill>
              <a:latin typeface="Calibri"/>
              <a:ea typeface="맑은 고딕"/>
              <a:cs typeface="Calibri"/>
            </a:endParaRPr>
          </a:p>
        </p:txBody>
      </p:sp>
      <p:sp>
        <p:nvSpPr>
          <p:cNvPr id="11" name="rv_pick"/>
          <p:cNvSpPr txBox="1"/>
          <p:nvPr/>
        </p:nvSpPr>
        <p:spPr>
          <a:xfrm>
            <a:off x="457200" y="1910587"/>
            <a:ext cx="11277295" cy="1899919"/>
          </a:xfrm>
          <a:prstGeom prst="rect">
            <a:avLst/>
          </a:prstGeom>
          <a:noFill/>
        </p:spPr>
        <p:txBody>
          <a:bodyPr wrap="square" lIns="201168" tIns="118872" rIns="201168" bIns="118872" anchor="t" rtlCol="0">
            <a:noAutofit/>
          </a:bodyPr>
          <a:lstStyle/>
          <a:p>
            <a:pPr algn="just">
              <a:lnSpc>
                <a:spcPts val="2560"/>
              </a:lnSpc>
              <a:spcBef>
                <a:spcPts val="0"/>
              </a:spcBef>
              <a:spcAft>
                <a:spcPts val="0"/>
              </a:spcAft>
              <a:buNone/>
            </a:pPr>
            <a:r>
              <a:rPr lang="en-US" altLang="ko-KR" sz="1700" b="0" dirty="0">
                <a:solidFill>
                  <a:srgbClr val="1F2328">
                    <a:alpha val="0"/>
                  </a:srgbClr>
                </a:solidFill>
                <a:latin typeface="Calibri"/>
                <a:ea typeface="맑은 고딕"/>
                <a:cs typeface="Calibri"/>
              </a:rPr>
              <a:t>Thanks to big data, police can now predict crime before it happens. </a:t>
            </a:r>
            <a:r>
              <a:rPr lang="ko-KR" altLang="en-US" sz="1800" b="1" dirty="0">
                <a:solidFill>
                  <a:srgbClr val="C00000"/>
                </a:solidFill>
                <a:highlight>
                  <a:srgbClr val="F3F5F9"/>
                </a:highlight>
                <a:latin typeface="맑은 고딕"/>
                <a:ea typeface="맑은 고딕"/>
                <a:cs typeface="맑은 고딕"/>
              </a:rPr>
              <a:t>②</a:t>
            </a:r>
            <a:r>
              <a:rPr lang="en-US" altLang="ko-KR" sz="1700" b="0" dirty="0">
                <a:solidFill>
                  <a:srgbClr val="1F2328">
                    <a:alpha val="0"/>
                  </a:srgbClr>
                </a:solidFill>
                <a:latin typeface="Calibri"/>
                <a:ea typeface="맑은 고딕"/>
                <a:cs typeface="Calibri"/>
              </a:rPr>
              <a:t> This map identifies when and where crime is most likely to happen. </a:t>
            </a:r>
            <a:r>
              <a:rPr lang="ko-KR" altLang="en-US" sz="1800" b="1" dirty="0">
                <a:solidFill>
                  <a:srgbClr val="1E2A5A">
                    <a:alpha val="0"/>
                  </a:srgbClr>
                </a:solidFill>
                <a:latin typeface="맑은 고딕"/>
                <a:ea typeface="맑은 고딕"/>
                <a:cs typeface="맑은 고딕"/>
              </a:rPr>
              <a:t>③</a:t>
            </a:r>
            <a:r>
              <a:rPr lang="en-US" altLang="ko-KR" sz="1700" b="0" dirty="0">
                <a:solidFill>
                  <a:srgbClr val="1F2328">
                    <a:alpha val="0"/>
                  </a:srgbClr>
                </a:solidFill>
                <a:latin typeface="Calibri"/>
                <a:ea typeface="맑은 고딕"/>
                <a:cs typeface="Calibri"/>
              </a:rPr>
              <a:t> Police can prevent further crime by focusing on the areas and the times this map predicts. </a:t>
            </a:r>
            <a:r>
              <a:rPr lang="ko-KR" altLang="en-US" sz="1800" b="1" dirty="0">
                <a:solidFill>
                  <a:srgbClr val="1E2A5A">
                    <a:alpha val="0"/>
                  </a:srgbClr>
                </a:solidFill>
                <a:latin typeface="맑은 고딕"/>
                <a:ea typeface="맑은 고딕"/>
                <a:cs typeface="맑은 고딕"/>
              </a:rPr>
              <a:t>④</a:t>
            </a:r>
            <a:r>
              <a:rPr lang="en-US" altLang="ko-KR" sz="1700" b="0" dirty="0">
                <a:solidFill>
                  <a:srgbClr val="1F2328">
                    <a:alpha val="0"/>
                  </a:srgbClr>
                </a:solidFill>
                <a:latin typeface="Calibri"/>
                <a:ea typeface="맑은 고딕"/>
                <a:cs typeface="Calibri"/>
              </a:rPr>
              <a:t> Big data has already changed the world greatly. </a:t>
            </a:r>
            <a:r>
              <a:rPr lang="ko-KR" altLang="en-US" sz="1800" b="1" dirty="0">
                <a:solidFill>
                  <a:srgbClr val="1E2A5A">
                    <a:alpha val="0"/>
                  </a:srgbClr>
                </a:solidFill>
                <a:latin typeface="맑은 고딕"/>
                <a:ea typeface="맑은 고딕"/>
                <a:cs typeface="맑은 고딕"/>
              </a:rPr>
              <a:t>⑤</a:t>
            </a:r>
            <a:r>
              <a:rPr lang="en-US" altLang="ko-KR" sz="1700" b="0" dirty="0">
                <a:solidFill>
                  <a:srgbClr val="1F2328">
                    <a:alpha val="0"/>
                  </a:srgbClr>
                </a:solidFill>
                <a:latin typeface="Calibri"/>
                <a:ea typeface="맑은 고딕"/>
                <a:cs typeface="Calibri"/>
              </a:rPr>
              <a:t> So where will the big data industry go from here? Nobody knows for sure, but experts agree that big data will play a more and more important role in our lives.</a:t>
            </a:r>
            <a:endParaRPr lang="en-US" altLang="ko-KR" sz="1700" b="0" dirty="0">
              <a:solidFill>
                <a:srgbClr val="1F2328"/>
              </a:solidFill>
              <a:latin typeface="Calibri"/>
              <a:ea typeface="맑은 고딕"/>
              <a:cs typeface="Calibri"/>
            </a:endParaRPr>
          </a:p>
        </p:txBody>
      </p:sp>
      <p:sp>
        <p:nvSpPr>
          <p:cNvPr id="12" name="rv_answer"/>
          <p:cNvSpPr/>
          <p:nvPr/>
        </p:nvSpPr>
        <p:spPr>
          <a:xfrm>
            <a:off x="457200" y="3920235"/>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②</a:t>
            </a:r>
            <a:endParaRPr lang="ko-KR" altLang="en-US" sz="1900" b="1" dirty="0">
              <a:solidFill>
                <a:srgbClr val="5A4200"/>
              </a:solidFill>
              <a:latin typeface="맑은 고딕"/>
              <a:ea typeface="맑은 고딕"/>
              <a:cs typeface="맑은 고딕"/>
            </a:endParaRPr>
          </a:p>
        </p:txBody>
      </p:sp>
      <p:sp>
        <p:nvSpPr>
          <p:cNvPr id="13" name="rv_why"/>
          <p:cNvSpPr/>
          <p:nvPr/>
        </p:nvSpPr>
        <p:spPr>
          <a:xfrm>
            <a:off x="457200" y="4519168"/>
            <a:ext cx="11277295" cy="189991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'This map'이 가리킬 지도가 앞에 없다. 범죄 지도를 처음 소개하는 주어진 문장이 'This map' 앞인 ②에 들어가야 한다.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25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25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2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Lst>
  </p:timing>
</p:sld>
</file>

<file path=ppt/slides/slide20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L7-4</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3 · ①</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다음 글의 각 [  ] 안에서 문맥상 알맞은 것을 고르시오.</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7</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클릭할 때마다 괄호 속 정답이 앞에서부터 하나씩 빨간색으로 나타납니다 (총 4개)</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4730496"/>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4730496"/>
          </a:xfrm>
          <a:prstGeom prst="rect">
            <a:avLst/>
          </a:prstGeom>
          <a:noFill/>
        </p:spPr>
        <p:txBody>
          <a:bodyPr wrap="square" lIns="228600" tIns="155448" rIns="228600" bIns="155448" anchor="t" rtlCol="0">
            <a:noAutofit/>
          </a:bodyPr>
          <a:lstStyle/>
          <a:p>
            <a:pPr algn="l">
              <a:lnSpc>
                <a:spcPts val="3480"/>
              </a:lnSpc>
              <a:spcBef>
                <a:spcPts val="0"/>
              </a:spcBef>
              <a:spcAft>
                <a:spcPts val="0"/>
              </a:spcAft>
              <a:buNone/>
            </a:pPr>
            <a:r>
              <a:rPr lang="ko-KR" altLang="en-US" sz="2150" b="1" dirty="0">
                <a:solidFill>
                  <a:srgbClr val="1E2A5A"/>
                </a:solidFill>
                <a:latin typeface="맑은 고딕"/>
                <a:ea typeface="맑은 고딕"/>
                <a:cs typeface="맑은 고딕"/>
              </a:rPr>
              <a:t>①</a:t>
            </a:r>
            <a:r>
              <a:rPr lang="en-US" altLang="ko-KR" sz="2150" b="0" dirty="0">
                <a:solidFill>
                  <a:srgbClr val="1F2328"/>
                </a:solidFill>
                <a:latin typeface="Calibri"/>
                <a:ea typeface="맑은 고딕"/>
                <a:cs typeface="Calibri"/>
              </a:rPr>
              <a:t> </a:t>
            </a:r>
            <a:r>
              <a:rPr lang="en-US" altLang="ko-KR" sz="2150" b="0" dirty="0">
                <a:solidFill>
                  <a:srgbClr val="1F2328"/>
                </a:solidFill>
                <a:latin typeface="Calibri"/>
                <a:ea typeface="맑은 고딕"/>
                <a:cs typeface="Calibri"/>
              </a:rPr>
              <a:t>Thanks to big data, police can now predict crime </a:t>
            </a:r>
            <a:r>
              <a:rPr lang="en-US" altLang="ko-KR" sz="2150" b="1" dirty="0">
                <a:solidFill>
                  <a:srgbClr val="1F2328"/>
                </a:solidFill>
                <a:latin typeface="Calibri"/>
                <a:ea typeface="맑은 고딕"/>
                <a:cs typeface="Calibri"/>
              </a:rPr>
              <a:t>[ </a:t>
            </a:r>
            <a:r>
              <a:rPr lang="en-US" altLang="ko-KR" sz="2150" b="1" dirty="0">
                <a:solidFill>
                  <a:srgbClr val="1F2328"/>
                </a:solidFill>
                <a:latin typeface="Calibri"/>
                <a:ea typeface="맑은 고딕"/>
                <a:cs typeface="Calibri"/>
              </a:rPr>
              <a:t>before it will happen</a:t>
            </a:r>
            <a:r>
              <a:rPr lang="en-US" altLang="ko-KR" sz="2150" b="1" dirty="0">
                <a:solidFill>
                  <a:srgbClr val="1F2328"/>
                </a:solidFill>
                <a:latin typeface="Calibri"/>
                <a:ea typeface="맑은 고딕"/>
                <a:cs typeface="Calibri"/>
              </a:rPr>
              <a:t> / </a:t>
            </a:r>
            <a:r>
              <a:rPr lang="en-US" altLang="ko-KR" sz="2150" b="1" dirty="0">
                <a:solidFill>
                  <a:srgbClr val="1F2328"/>
                </a:solidFill>
                <a:latin typeface="Calibri"/>
                <a:ea typeface="맑은 고딕"/>
                <a:cs typeface="Calibri"/>
              </a:rPr>
              <a:t>before it happens</a:t>
            </a:r>
            <a:r>
              <a:rPr lang="en-US" altLang="ko-KR" sz="2150" b="1" dirty="0">
                <a:solidFill>
                  <a:srgbClr val="1F2328"/>
                </a:solidFill>
                <a:latin typeface="Calibri"/>
                <a:ea typeface="맑은 고딕"/>
                <a:cs typeface="Calibri"/>
              </a:rPr>
              <a:t> ]</a:t>
            </a:r>
            <a:r>
              <a:rPr lang="en-US" altLang="ko-KR" sz="2150" b="0" dirty="0">
                <a:solidFill>
                  <a:srgbClr val="1F2328"/>
                </a:solidFill>
                <a:latin typeface="Calibri"/>
                <a:ea typeface="맑은 고딕"/>
                <a:cs typeface="Calibri"/>
              </a:rPr>
              <a:t>.</a:t>
            </a:r>
            <a:r>
              <a:rPr lang="en-US" altLang="ko-KR" sz="2150" b="0" dirty="0">
                <a:solidFill>
                  <a:srgbClr val="1F2328"/>
                </a:solidFill>
                <a:latin typeface="Calibri"/>
                <a:ea typeface="맑은 고딕"/>
                <a:cs typeface="Calibri"/>
              </a:rPr>
              <a:t>   </a:t>
            </a:r>
            <a:r>
              <a:rPr lang="ko-KR" altLang="en-US" sz="2150" b="1" dirty="0">
                <a:solidFill>
                  <a:srgbClr val="1E2A5A"/>
                </a:solidFill>
                <a:latin typeface="맑은 고딕"/>
                <a:ea typeface="맑은 고딕"/>
                <a:cs typeface="맑은 고딕"/>
              </a:rPr>
              <a:t>②</a:t>
            </a:r>
            <a:r>
              <a:rPr lang="en-US" altLang="ko-KR" sz="2150" b="0" dirty="0">
                <a:solidFill>
                  <a:srgbClr val="1F2328"/>
                </a:solidFill>
                <a:latin typeface="Calibri"/>
                <a:ea typeface="맑은 고딕"/>
                <a:cs typeface="Calibri"/>
              </a:rPr>
              <a:t> </a:t>
            </a:r>
            <a:r>
              <a:rPr lang="en-US" altLang="ko-KR" sz="2150" b="1" dirty="0">
                <a:solidFill>
                  <a:srgbClr val="1F2328"/>
                </a:solidFill>
                <a:latin typeface="Calibri"/>
                <a:ea typeface="맑은 고딕"/>
                <a:cs typeface="Calibri"/>
              </a:rPr>
              <a:t>[ </a:t>
            </a:r>
            <a:r>
              <a:rPr lang="en-US" altLang="ko-KR" sz="2150" b="1" dirty="0">
                <a:solidFill>
                  <a:srgbClr val="1F2328"/>
                </a:solidFill>
                <a:latin typeface="Calibri"/>
                <a:ea typeface="맑은 고딕"/>
                <a:cs typeface="Calibri"/>
              </a:rPr>
              <a:t>Through the analysis</a:t>
            </a:r>
            <a:r>
              <a:rPr lang="en-US" altLang="ko-KR" sz="2150" b="1" dirty="0">
                <a:solidFill>
                  <a:srgbClr val="1F2328"/>
                </a:solidFill>
                <a:latin typeface="Calibri"/>
                <a:ea typeface="맑은 고딕"/>
                <a:cs typeface="Calibri"/>
              </a:rPr>
              <a:t> / </a:t>
            </a:r>
            <a:r>
              <a:rPr lang="en-US" altLang="ko-KR" sz="2150" b="1" dirty="0">
                <a:solidFill>
                  <a:srgbClr val="1F2328"/>
                </a:solidFill>
                <a:latin typeface="Calibri"/>
                <a:ea typeface="맑은 고딕"/>
                <a:cs typeface="Calibri"/>
              </a:rPr>
              <a:t>Though the analysis</a:t>
            </a:r>
            <a:r>
              <a:rPr lang="en-US" altLang="ko-KR" sz="2150" b="1" dirty="0">
                <a:solidFill>
                  <a:srgbClr val="1F2328"/>
                </a:solidFill>
                <a:latin typeface="Calibri"/>
                <a:ea typeface="맑은 고딕"/>
                <a:cs typeface="Calibri"/>
              </a:rPr>
              <a:t> ]</a:t>
            </a:r>
            <a:r>
              <a:rPr lang="en-US" altLang="ko-KR" sz="2150" b="0" dirty="0">
                <a:solidFill>
                  <a:srgbClr val="1F2328"/>
                </a:solidFill>
                <a:latin typeface="Calibri"/>
                <a:ea typeface="맑은 고딕"/>
                <a:cs typeface="Calibri"/>
              </a:rPr>
              <a:t> of big data about the type, time and place of crime, police can make a map of crime hot spots.</a:t>
            </a:r>
            <a:r>
              <a:rPr lang="en-US" altLang="ko-KR" sz="2150" b="0" dirty="0">
                <a:solidFill>
                  <a:srgbClr val="1F2328"/>
                </a:solidFill>
                <a:latin typeface="Calibri"/>
                <a:ea typeface="맑은 고딕"/>
                <a:cs typeface="Calibri"/>
              </a:rPr>
              <a:t>   </a:t>
            </a:r>
            <a:r>
              <a:rPr lang="ko-KR" altLang="en-US" sz="2150" b="1" dirty="0">
                <a:solidFill>
                  <a:srgbClr val="1E2A5A"/>
                </a:solidFill>
                <a:latin typeface="맑은 고딕"/>
                <a:ea typeface="맑은 고딕"/>
                <a:cs typeface="맑은 고딕"/>
              </a:rPr>
              <a:t>③</a:t>
            </a:r>
            <a:r>
              <a:rPr lang="en-US" altLang="ko-KR" sz="2150" b="0" dirty="0">
                <a:solidFill>
                  <a:srgbClr val="1F2328"/>
                </a:solidFill>
                <a:latin typeface="Calibri"/>
                <a:ea typeface="맑은 고딕"/>
                <a:cs typeface="Calibri"/>
              </a:rPr>
              <a:t> </a:t>
            </a:r>
            <a:r>
              <a:rPr lang="en-US" altLang="ko-KR" sz="2150" b="0" dirty="0">
                <a:solidFill>
                  <a:srgbClr val="1F2328"/>
                </a:solidFill>
                <a:latin typeface="Calibri"/>
                <a:ea typeface="맑은 고딕"/>
                <a:cs typeface="Calibri"/>
              </a:rPr>
              <a:t>This map identifies when and where crime is most likely to happen.</a:t>
            </a:r>
            <a:r>
              <a:rPr lang="en-US" altLang="ko-KR" sz="2150" b="0" dirty="0">
                <a:solidFill>
                  <a:srgbClr val="1F2328"/>
                </a:solidFill>
                <a:latin typeface="Calibri"/>
                <a:ea typeface="맑은 고딕"/>
                <a:cs typeface="Calibri"/>
              </a:rPr>
              <a:t>   </a:t>
            </a:r>
            <a:r>
              <a:rPr lang="ko-KR" altLang="en-US" sz="2150" b="1" dirty="0">
                <a:solidFill>
                  <a:srgbClr val="1E2A5A"/>
                </a:solidFill>
                <a:latin typeface="맑은 고딕"/>
                <a:ea typeface="맑은 고딕"/>
                <a:cs typeface="맑은 고딕"/>
              </a:rPr>
              <a:t>④</a:t>
            </a:r>
            <a:r>
              <a:rPr lang="en-US" altLang="ko-KR" sz="2150" b="0" dirty="0">
                <a:solidFill>
                  <a:srgbClr val="1F2328"/>
                </a:solidFill>
                <a:latin typeface="Calibri"/>
                <a:ea typeface="맑은 고딕"/>
                <a:cs typeface="Calibri"/>
              </a:rPr>
              <a:t> </a:t>
            </a:r>
            <a:r>
              <a:rPr lang="en-US" altLang="ko-KR" sz="2150" b="0" dirty="0">
                <a:solidFill>
                  <a:srgbClr val="1F2328"/>
                </a:solidFill>
                <a:latin typeface="Calibri"/>
                <a:ea typeface="맑은 고딕"/>
                <a:cs typeface="Calibri"/>
              </a:rPr>
              <a:t>Police can prevent further crime </a:t>
            </a:r>
            <a:r>
              <a:rPr lang="en-US" altLang="ko-KR" sz="2150" b="1" dirty="0">
                <a:solidFill>
                  <a:srgbClr val="1F2328"/>
                </a:solidFill>
                <a:latin typeface="Calibri"/>
                <a:ea typeface="맑은 고딕"/>
                <a:cs typeface="Calibri"/>
              </a:rPr>
              <a:t>[ </a:t>
            </a:r>
            <a:r>
              <a:rPr lang="en-US" altLang="ko-KR" sz="2150" b="1" dirty="0">
                <a:solidFill>
                  <a:srgbClr val="1F2328"/>
                </a:solidFill>
                <a:latin typeface="Calibri"/>
                <a:ea typeface="맑은 고딕"/>
                <a:cs typeface="Calibri"/>
              </a:rPr>
              <a:t>by focused</a:t>
            </a:r>
            <a:r>
              <a:rPr lang="en-US" altLang="ko-KR" sz="2150" b="1" dirty="0">
                <a:solidFill>
                  <a:srgbClr val="1F2328"/>
                </a:solidFill>
                <a:latin typeface="Calibri"/>
                <a:ea typeface="맑은 고딕"/>
                <a:cs typeface="Calibri"/>
              </a:rPr>
              <a:t> / </a:t>
            </a:r>
            <a:r>
              <a:rPr lang="en-US" altLang="ko-KR" sz="2150" b="1" dirty="0">
                <a:solidFill>
                  <a:srgbClr val="1F2328"/>
                </a:solidFill>
                <a:latin typeface="Calibri"/>
                <a:ea typeface="맑은 고딕"/>
                <a:cs typeface="Calibri"/>
              </a:rPr>
              <a:t>by focusing</a:t>
            </a:r>
            <a:r>
              <a:rPr lang="en-US" altLang="ko-KR" sz="2150" b="1" dirty="0">
                <a:solidFill>
                  <a:srgbClr val="1F2328"/>
                </a:solidFill>
                <a:latin typeface="Calibri"/>
                <a:ea typeface="맑은 고딕"/>
                <a:cs typeface="Calibri"/>
              </a:rPr>
              <a:t> ]</a:t>
            </a:r>
            <a:r>
              <a:rPr lang="en-US" altLang="ko-KR" sz="2150" b="0" dirty="0">
                <a:solidFill>
                  <a:srgbClr val="1F2328"/>
                </a:solidFill>
                <a:latin typeface="Calibri"/>
                <a:ea typeface="맑은 고딕"/>
                <a:cs typeface="Calibri"/>
              </a:rPr>
              <a:t> on the areas and the times </a:t>
            </a:r>
            <a:r>
              <a:rPr lang="en-US" altLang="ko-KR" sz="2150" b="1" dirty="0">
                <a:solidFill>
                  <a:srgbClr val="1F2328"/>
                </a:solidFill>
                <a:latin typeface="Calibri"/>
                <a:ea typeface="맑은 고딕"/>
                <a:cs typeface="Calibri"/>
              </a:rPr>
              <a:t>[ </a:t>
            </a:r>
            <a:r>
              <a:rPr lang="en-US" altLang="ko-KR" sz="2150" b="1" dirty="0">
                <a:solidFill>
                  <a:srgbClr val="1F2328"/>
                </a:solidFill>
                <a:latin typeface="Calibri"/>
                <a:ea typeface="맑은 고딕"/>
                <a:cs typeface="Calibri"/>
              </a:rPr>
              <a:t>this map predicts</a:t>
            </a:r>
            <a:r>
              <a:rPr lang="en-US" altLang="ko-KR" sz="2150" b="1" dirty="0">
                <a:solidFill>
                  <a:srgbClr val="1F2328"/>
                </a:solidFill>
                <a:latin typeface="Calibri"/>
                <a:ea typeface="맑은 고딕"/>
                <a:cs typeface="Calibri"/>
              </a:rPr>
              <a:t> / </a:t>
            </a:r>
            <a:r>
              <a:rPr lang="en-US" altLang="ko-KR" sz="2150" b="1" dirty="0">
                <a:solidFill>
                  <a:srgbClr val="1F2328"/>
                </a:solidFill>
                <a:latin typeface="Calibri"/>
                <a:ea typeface="맑은 고딕"/>
                <a:cs typeface="Calibri"/>
              </a:rPr>
              <a:t>this map predict</a:t>
            </a:r>
            <a:r>
              <a:rPr lang="en-US" altLang="ko-KR" sz="2150" b="1" dirty="0">
                <a:solidFill>
                  <a:srgbClr val="1F2328"/>
                </a:solidFill>
                <a:latin typeface="Calibri"/>
                <a:ea typeface="맑은 고딕"/>
                <a:cs typeface="Calibri"/>
              </a:rPr>
              <a:t> ]</a:t>
            </a:r>
            <a:r>
              <a:rPr lang="en-US" altLang="ko-KR" sz="2150" b="0" dirty="0">
                <a:solidFill>
                  <a:srgbClr val="1F2328"/>
                </a:solidFill>
                <a:latin typeface="Calibri"/>
                <a:ea typeface="맑은 고딕"/>
                <a:cs typeface="Calibri"/>
              </a:rPr>
              <a:t>.</a:t>
            </a:r>
            <a:r>
              <a:rPr lang="en-US" altLang="ko-KR" sz="2150" b="0" dirty="0">
                <a:solidFill>
                  <a:srgbClr val="1F2328"/>
                </a:solidFill>
                <a:latin typeface="Calibri"/>
                <a:ea typeface="맑은 고딕"/>
                <a:cs typeface="Calibri"/>
              </a:rPr>
              <a:t>   </a:t>
            </a:r>
            <a:r>
              <a:rPr lang="ko-KR" altLang="en-US" sz="2150" b="1" dirty="0">
                <a:solidFill>
                  <a:srgbClr val="1E2A5A"/>
                </a:solidFill>
                <a:latin typeface="맑은 고딕"/>
                <a:ea typeface="맑은 고딕"/>
                <a:cs typeface="맑은 고딕"/>
              </a:rPr>
              <a:t>⑤</a:t>
            </a:r>
            <a:r>
              <a:rPr lang="en-US" altLang="ko-KR" sz="2150" b="0" dirty="0">
                <a:solidFill>
                  <a:srgbClr val="1F2328"/>
                </a:solidFill>
                <a:latin typeface="Calibri"/>
                <a:ea typeface="맑은 고딕"/>
                <a:cs typeface="Calibri"/>
              </a:rPr>
              <a:t> </a:t>
            </a:r>
            <a:r>
              <a:rPr lang="en-US" altLang="ko-KR" sz="2150" b="0" dirty="0">
                <a:solidFill>
                  <a:srgbClr val="1F2328"/>
                </a:solidFill>
                <a:latin typeface="Calibri"/>
                <a:ea typeface="맑은 고딕"/>
                <a:cs typeface="Calibri"/>
              </a:rPr>
              <a:t>Big data has already changed the world greatly.</a:t>
            </a:r>
            <a:r>
              <a:rPr lang="en-US" altLang="ko-KR" sz="2150" b="0" dirty="0">
                <a:solidFill>
                  <a:srgbClr val="1F2328"/>
                </a:solidFill>
                <a:latin typeface="Calibri"/>
                <a:ea typeface="맑은 고딕"/>
                <a:cs typeface="Calibri"/>
              </a:rPr>
              <a:t>   </a:t>
            </a:r>
            <a:r>
              <a:rPr lang="ko-KR" altLang="en-US" sz="2150" b="1" dirty="0">
                <a:solidFill>
                  <a:srgbClr val="1E2A5A"/>
                </a:solidFill>
                <a:latin typeface="맑은 고딕"/>
                <a:ea typeface="맑은 고딕"/>
                <a:cs typeface="맑은 고딕"/>
              </a:rPr>
              <a:t>⑥</a:t>
            </a:r>
            <a:r>
              <a:rPr lang="en-US" altLang="ko-KR" sz="2150" b="0" dirty="0">
                <a:solidFill>
                  <a:srgbClr val="1F2328"/>
                </a:solidFill>
                <a:latin typeface="Calibri"/>
                <a:ea typeface="맑은 고딕"/>
                <a:cs typeface="Calibri"/>
              </a:rPr>
              <a:t> </a:t>
            </a:r>
            <a:r>
              <a:rPr lang="en-US" altLang="ko-KR" sz="2150" b="0" dirty="0">
                <a:solidFill>
                  <a:srgbClr val="1F2328"/>
                </a:solidFill>
                <a:latin typeface="Calibri"/>
                <a:ea typeface="맑은 고딕"/>
                <a:cs typeface="Calibri"/>
              </a:rPr>
              <a:t>So where will the big data industry go from here?</a:t>
            </a:r>
            <a:r>
              <a:rPr lang="en-US" altLang="ko-KR" sz="2150" b="0" dirty="0">
                <a:solidFill>
                  <a:srgbClr val="1F2328"/>
                </a:solidFill>
                <a:latin typeface="Calibri"/>
                <a:ea typeface="맑은 고딕"/>
                <a:cs typeface="Calibri"/>
              </a:rPr>
              <a:t>   </a:t>
            </a:r>
            <a:r>
              <a:rPr lang="ko-KR" altLang="en-US" sz="2150" b="1" dirty="0">
                <a:solidFill>
                  <a:srgbClr val="1E2A5A"/>
                </a:solidFill>
                <a:latin typeface="맑은 고딕"/>
                <a:ea typeface="맑은 고딕"/>
                <a:cs typeface="맑은 고딕"/>
              </a:rPr>
              <a:t>⑦</a:t>
            </a:r>
            <a:r>
              <a:rPr lang="en-US" altLang="ko-KR" sz="2150" b="0" dirty="0">
                <a:solidFill>
                  <a:srgbClr val="1F2328"/>
                </a:solidFill>
                <a:latin typeface="Calibri"/>
                <a:ea typeface="맑은 고딕"/>
                <a:cs typeface="Calibri"/>
              </a:rPr>
              <a:t> </a:t>
            </a:r>
            <a:r>
              <a:rPr lang="en-US" altLang="ko-KR" sz="2150" b="0" dirty="0">
                <a:solidFill>
                  <a:srgbClr val="1F2328"/>
                </a:solidFill>
                <a:latin typeface="Calibri"/>
                <a:ea typeface="맑은 고딕"/>
                <a:cs typeface="Calibri"/>
              </a:rPr>
              <a:t>Nobody knows for sure, but experts agree that big data will play a more and more important role in our lives.</a:t>
            </a:r>
            <a:endParaRPr lang="en-US" altLang="ko-KR" sz="2150" b="0" dirty="0">
              <a:solidFill>
                <a:srgbClr val="1F2328"/>
              </a:solidFill>
              <a:latin typeface="Calibri"/>
              <a:ea typeface="맑은 고딕"/>
              <a:cs typeface="Calibri"/>
            </a:endParaRPr>
          </a:p>
        </p:txBody>
      </p:sp>
      <p:sp>
        <p:nvSpPr>
          <p:cNvPr id="9" name="rv_g01"/>
          <p:cNvSpPr txBox="1"/>
          <p:nvPr/>
        </p:nvSpPr>
        <p:spPr>
          <a:xfrm>
            <a:off x="457200" y="950976"/>
            <a:ext cx="11277295" cy="4730496"/>
          </a:xfrm>
          <a:prstGeom prst="rect">
            <a:avLst/>
          </a:prstGeom>
          <a:noFill/>
        </p:spPr>
        <p:txBody>
          <a:bodyPr wrap="square" lIns="228600" tIns="155448" rIns="228600" bIns="155448" anchor="t" rtlCol="0">
            <a:noAutofit/>
          </a:bodyPr>
          <a:lstStyle/>
          <a:p>
            <a:pPr algn="l">
              <a:lnSpc>
                <a:spcPts val="3480"/>
              </a:lnSpc>
              <a:spcBef>
                <a:spcPts val="0"/>
              </a:spcBef>
              <a:spcAft>
                <a:spcPts val="0"/>
              </a:spcAft>
              <a:buNone/>
            </a:pPr>
            <a:r>
              <a:rPr lang="ko-KR" altLang="en-US" sz="2150" b="1" dirty="0">
                <a:solidFill>
                  <a:srgbClr val="1E2A5A">
                    <a:alpha val="0"/>
                  </a:srgbClr>
                </a:solidFill>
                <a:latin typeface="맑은 고딕"/>
                <a:ea typeface="맑은 고딕"/>
                <a:cs typeface="맑은 고딕"/>
              </a:rPr>
              <a:t>①</a:t>
            </a:r>
            <a:r>
              <a:rPr lang="en-US" altLang="ko-KR" sz="2150" b="0" dirty="0">
                <a:solidFill>
                  <a:srgbClr val="1F2328">
                    <a:alpha val="0"/>
                  </a:srgbClr>
                </a:solidFill>
                <a:latin typeface="Calibri"/>
                <a:ea typeface="맑은 고딕"/>
                <a:cs typeface="Calibri"/>
              </a:rPr>
              <a:t> </a:t>
            </a:r>
            <a:r>
              <a:rPr lang="en-US" altLang="ko-KR" sz="2150" b="0" dirty="0">
                <a:solidFill>
                  <a:srgbClr val="1F2328">
                    <a:alpha val="0"/>
                  </a:srgbClr>
                </a:solidFill>
                <a:latin typeface="Calibri"/>
                <a:ea typeface="맑은 고딕"/>
                <a:cs typeface="Calibri"/>
              </a:rPr>
              <a:t>Thanks to big data, police can now predict crime </a:t>
            </a:r>
            <a:r>
              <a:rPr lang="en-US" altLang="ko-KR" sz="2150" b="1" dirty="0">
                <a:solidFill>
                  <a:srgbClr val="1F2328">
                    <a:alpha val="0"/>
                  </a:srgbClr>
                </a:solidFill>
                <a:latin typeface="Calibri"/>
                <a:ea typeface="맑은 고딕"/>
                <a:cs typeface="Calibri"/>
              </a:rPr>
              <a:t>[ </a:t>
            </a:r>
            <a:r>
              <a:rPr lang="en-US" altLang="ko-KR" sz="2150" b="1" dirty="0">
                <a:solidFill>
                  <a:srgbClr val="1F2328">
                    <a:alpha val="0"/>
                  </a:srgbClr>
                </a:solidFill>
                <a:latin typeface="Calibri"/>
                <a:ea typeface="맑은 고딕"/>
                <a:cs typeface="Calibri"/>
              </a:rPr>
              <a:t>before it will happen</a:t>
            </a:r>
            <a:r>
              <a:rPr lang="en-US" altLang="ko-KR" sz="2150" b="1" dirty="0">
                <a:solidFill>
                  <a:srgbClr val="1F2328">
                    <a:alpha val="0"/>
                  </a:srgbClr>
                </a:solidFill>
                <a:latin typeface="Calibri"/>
                <a:ea typeface="맑은 고딕"/>
                <a:cs typeface="Calibri"/>
              </a:rPr>
              <a:t> / </a:t>
            </a:r>
            <a:r>
              <a:rPr lang="en-US" altLang="ko-KR" sz="2150" b="1" dirty="0">
                <a:solidFill>
                  <a:srgbClr val="C00000"/>
                </a:solidFill>
                <a:highlight>
                  <a:srgbClr val="F3F5F9"/>
                </a:highlight>
                <a:latin typeface="Calibri"/>
                <a:ea typeface="맑은 고딕"/>
                <a:cs typeface="Calibri"/>
              </a:rPr>
              <a:t>before it happens</a:t>
            </a:r>
            <a:r>
              <a:rPr lang="en-US" altLang="ko-KR" sz="2150" b="1" dirty="0">
                <a:solidFill>
                  <a:srgbClr val="1F2328">
                    <a:alpha val="0"/>
                  </a:srgbClr>
                </a:solidFill>
                <a:latin typeface="Calibri"/>
                <a:ea typeface="맑은 고딕"/>
                <a:cs typeface="Calibri"/>
              </a:rPr>
              <a:t> ]</a:t>
            </a:r>
            <a:r>
              <a:rPr lang="en-US" altLang="ko-KR" sz="2150" b="0" dirty="0">
                <a:solidFill>
                  <a:srgbClr val="1F2328">
                    <a:alpha val="0"/>
                  </a:srgbClr>
                </a:solidFill>
                <a:latin typeface="Calibri"/>
                <a:ea typeface="맑은 고딕"/>
                <a:cs typeface="Calibri"/>
              </a:rPr>
              <a:t>.</a:t>
            </a:r>
            <a:r>
              <a:rPr lang="en-US" altLang="ko-KR" sz="2150" b="0" dirty="0">
                <a:solidFill>
                  <a:srgbClr val="1F2328">
                    <a:alpha val="0"/>
                  </a:srgbClr>
                </a:solidFill>
                <a:latin typeface="Calibri"/>
                <a:ea typeface="맑은 고딕"/>
                <a:cs typeface="Calibri"/>
              </a:rPr>
              <a:t>   </a:t>
            </a:r>
            <a:r>
              <a:rPr lang="ko-KR" altLang="en-US" sz="2150" b="1" dirty="0">
                <a:solidFill>
                  <a:srgbClr val="1E2A5A">
                    <a:alpha val="0"/>
                  </a:srgbClr>
                </a:solidFill>
                <a:latin typeface="맑은 고딕"/>
                <a:ea typeface="맑은 고딕"/>
                <a:cs typeface="맑은 고딕"/>
              </a:rPr>
              <a:t>②</a:t>
            </a:r>
            <a:r>
              <a:rPr lang="en-US" altLang="ko-KR" sz="2150" b="0" dirty="0">
                <a:solidFill>
                  <a:srgbClr val="1F2328">
                    <a:alpha val="0"/>
                  </a:srgbClr>
                </a:solidFill>
                <a:latin typeface="Calibri"/>
                <a:ea typeface="맑은 고딕"/>
                <a:cs typeface="Calibri"/>
              </a:rPr>
              <a:t> </a:t>
            </a:r>
            <a:r>
              <a:rPr lang="en-US" altLang="ko-KR" sz="2150" b="1" dirty="0">
                <a:solidFill>
                  <a:srgbClr val="1F2328">
                    <a:alpha val="0"/>
                  </a:srgbClr>
                </a:solidFill>
                <a:latin typeface="Calibri"/>
                <a:ea typeface="맑은 고딕"/>
                <a:cs typeface="Calibri"/>
              </a:rPr>
              <a:t>[ </a:t>
            </a:r>
            <a:r>
              <a:rPr lang="en-US" altLang="ko-KR" sz="2150" b="1" dirty="0">
                <a:solidFill>
                  <a:srgbClr val="1F2328">
                    <a:alpha val="0"/>
                  </a:srgbClr>
                </a:solidFill>
                <a:latin typeface="Calibri"/>
                <a:ea typeface="맑은 고딕"/>
                <a:cs typeface="Calibri"/>
              </a:rPr>
              <a:t>Through the analysis</a:t>
            </a:r>
            <a:r>
              <a:rPr lang="en-US" altLang="ko-KR" sz="2150" b="1" dirty="0">
                <a:solidFill>
                  <a:srgbClr val="1F2328">
                    <a:alpha val="0"/>
                  </a:srgbClr>
                </a:solidFill>
                <a:latin typeface="Calibri"/>
                <a:ea typeface="맑은 고딕"/>
                <a:cs typeface="Calibri"/>
              </a:rPr>
              <a:t> / </a:t>
            </a:r>
            <a:r>
              <a:rPr lang="en-US" altLang="ko-KR" sz="2150" b="1" dirty="0">
                <a:solidFill>
                  <a:srgbClr val="1F2328">
                    <a:alpha val="0"/>
                  </a:srgbClr>
                </a:solidFill>
                <a:latin typeface="Calibri"/>
                <a:ea typeface="맑은 고딕"/>
                <a:cs typeface="Calibri"/>
              </a:rPr>
              <a:t>Though the analysis</a:t>
            </a:r>
            <a:r>
              <a:rPr lang="en-US" altLang="ko-KR" sz="2150" b="1" dirty="0">
                <a:solidFill>
                  <a:srgbClr val="1F2328">
                    <a:alpha val="0"/>
                  </a:srgbClr>
                </a:solidFill>
                <a:latin typeface="Calibri"/>
                <a:ea typeface="맑은 고딕"/>
                <a:cs typeface="Calibri"/>
              </a:rPr>
              <a:t> ]</a:t>
            </a:r>
            <a:r>
              <a:rPr lang="en-US" altLang="ko-KR" sz="2150" b="0" dirty="0">
                <a:solidFill>
                  <a:srgbClr val="1F2328">
                    <a:alpha val="0"/>
                  </a:srgbClr>
                </a:solidFill>
                <a:latin typeface="Calibri"/>
                <a:ea typeface="맑은 고딕"/>
                <a:cs typeface="Calibri"/>
              </a:rPr>
              <a:t> of big data about the type, time and place of crime, police can make a map of crime hot spots.</a:t>
            </a:r>
            <a:r>
              <a:rPr lang="en-US" altLang="ko-KR" sz="2150" b="0" dirty="0">
                <a:solidFill>
                  <a:srgbClr val="1F2328">
                    <a:alpha val="0"/>
                  </a:srgbClr>
                </a:solidFill>
                <a:latin typeface="Calibri"/>
                <a:ea typeface="맑은 고딕"/>
                <a:cs typeface="Calibri"/>
              </a:rPr>
              <a:t>   </a:t>
            </a:r>
            <a:r>
              <a:rPr lang="ko-KR" altLang="en-US" sz="2150" b="1" dirty="0">
                <a:solidFill>
                  <a:srgbClr val="1E2A5A">
                    <a:alpha val="0"/>
                  </a:srgbClr>
                </a:solidFill>
                <a:latin typeface="맑은 고딕"/>
                <a:ea typeface="맑은 고딕"/>
                <a:cs typeface="맑은 고딕"/>
              </a:rPr>
              <a:t>③</a:t>
            </a:r>
            <a:r>
              <a:rPr lang="en-US" altLang="ko-KR" sz="2150" b="0" dirty="0">
                <a:solidFill>
                  <a:srgbClr val="1F2328">
                    <a:alpha val="0"/>
                  </a:srgbClr>
                </a:solidFill>
                <a:latin typeface="Calibri"/>
                <a:ea typeface="맑은 고딕"/>
                <a:cs typeface="Calibri"/>
              </a:rPr>
              <a:t> </a:t>
            </a:r>
            <a:r>
              <a:rPr lang="en-US" altLang="ko-KR" sz="2150" b="0" dirty="0">
                <a:solidFill>
                  <a:srgbClr val="1F2328">
                    <a:alpha val="0"/>
                  </a:srgbClr>
                </a:solidFill>
                <a:latin typeface="Calibri"/>
                <a:ea typeface="맑은 고딕"/>
                <a:cs typeface="Calibri"/>
              </a:rPr>
              <a:t>This map identifies when and where crime is most likely to happen.</a:t>
            </a:r>
            <a:r>
              <a:rPr lang="en-US" altLang="ko-KR" sz="2150" b="0" dirty="0">
                <a:solidFill>
                  <a:srgbClr val="1F2328">
                    <a:alpha val="0"/>
                  </a:srgbClr>
                </a:solidFill>
                <a:latin typeface="Calibri"/>
                <a:ea typeface="맑은 고딕"/>
                <a:cs typeface="Calibri"/>
              </a:rPr>
              <a:t>   </a:t>
            </a:r>
            <a:r>
              <a:rPr lang="ko-KR" altLang="en-US" sz="2150" b="1" dirty="0">
                <a:solidFill>
                  <a:srgbClr val="1E2A5A">
                    <a:alpha val="0"/>
                  </a:srgbClr>
                </a:solidFill>
                <a:latin typeface="맑은 고딕"/>
                <a:ea typeface="맑은 고딕"/>
                <a:cs typeface="맑은 고딕"/>
              </a:rPr>
              <a:t>④</a:t>
            </a:r>
            <a:r>
              <a:rPr lang="en-US" altLang="ko-KR" sz="2150" b="0" dirty="0">
                <a:solidFill>
                  <a:srgbClr val="1F2328">
                    <a:alpha val="0"/>
                  </a:srgbClr>
                </a:solidFill>
                <a:latin typeface="Calibri"/>
                <a:ea typeface="맑은 고딕"/>
                <a:cs typeface="Calibri"/>
              </a:rPr>
              <a:t> </a:t>
            </a:r>
            <a:r>
              <a:rPr lang="en-US" altLang="ko-KR" sz="2150" b="0" dirty="0">
                <a:solidFill>
                  <a:srgbClr val="1F2328">
                    <a:alpha val="0"/>
                  </a:srgbClr>
                </a:solidFill>
                <a:latin typeface="Calibri"/>
                <a:ea typeface="맑은 고딕"/>
                <a:cs typeface="Calibri"/>
              </a:rPr>
              <a:t>Police can prevent further crime </a:t>
            </a:r>
            <a:r>
              <a:rPr lang="en-US" altLang="ko-KR" sz="2150" b="1" dirty="0">
                <a:solidFill>
                  <a:srgbClr val="1F2328">
                    <a:alpha val="0"/>
                  </a:srgbClr>
                </a:solidFill>
                <a:latin typeface="Calibri"/>
                <a:ea typeface="맑은 고딕"/>
                <a:cs typeface="Calibri"/>
              </a:rPr>
              <a:t>[ </a:t>
            </a:r>
            <a:r>
              <a:rPr lang="en-US" altLang="ko-KR" sz="2150" b="1" dirty="0">
                <a:solidFill>
                  <a:srgbClr val="1F2328">
                    <a:alpha val="0"/>
                  </a:srgbClr>
                </a:solidFill>
                <a:latin typeface="Calibri"/>
                <a:ea typeface="맑은 고딕"/>
                <a:cs typeface="Calibri"/>
              </a:rPr>
              <a:t>by focused</a:t>
            </a:r>
            <a:r>
              <a:rPr lang="en-US" altLang="ko-KR" sz="2150" b="1" dirty="0">
                <a:solidFill>
                  <a:srgbClr val="1F2328">
                    <a:alpha val="0"/>
                  </a:srgbClr>
                </a:solidFill>
                <a:latin typeface="Calibri"/>
                <a:ea typeface="맑은 고딕"/>
                <a:cs typeface="Calibri"/>
              </a:rPr>
              <a:t> / </a:t>
            </a:r>
            <a:r>
              <a:rPr lang="en-US" altLang="ko-KR" sz="2150" b="1" dirty="0">
                <a:solidFill>
                  <a:srgbClr val="1F2328">
                    <a:alpha val="0"/>
                  </a:srgbClr>
                </a:solidFill>
                <a:latin typeface="Calibri"/>
                <a:ea typeface="맑은 고딕"/>
                <a:cs typeface="Calibri"/>
              </a:rPr>
              <a:t>by focusing</a:t>
            </a:r>
            <a:r>
              <a:rPr lang="en-US" altLang="ko-KR" sz="2150" b="1" dirty="0">
                <a:solidFill>
                  <a:srgbClr val="1F2328">
                    <a:alpha val="0"/>
                  </a:srgbClr>
                </a:solidFill>
                <a:latin typeface="Calibri"/>
                <a:ea typeface="맑은 고딕"/>
                <a:cs typeface="Calibri"/>
              </a:rPr>
              <a:t> ]</a:t>
            </a:r>
            <a:r>
              <a:rPr lang="en-US" altLang="ko-KR" sz="2150" b="0" dirty="0">
                <a:solidFill>
                  <a:srgbClr val="1F2328">
                    <a:alpha val="0"/>
                  </a:srgbClr>
                </a:solidFill>
                <a:latin typeface="Calibri"/>
                <a:ea typeface="맑은 고딕"/>
                <a:cs typeface="Calibri"/>
              </a:rPr>
              <a:t> on the areas and the times </a:t>
            </a:r>
            <a:r>
              <a:rPr lang="en-US" altLang="ko-KR" sz="2150" b="1" dirty="0">
                <a:solidFill>
                  <a:srgbClr val="1F2328">
                    <a:alpha val="0"/>
                  </a:srgbClr>
                </a:solidFill>
                <a:latin typeface="Calibri"/>
                <a:ea typeface="맑은 고딕"/>
                <a:cs typeface="Calibri"/>
              </a:rPr>
              <a:t>[ </a:t>
            </a:r>
            <a:r>
              <a:rPr lang="en-US" altLang="ko-KR" sz="2150" b="1" dirty="0">
                <a:solidFill>
                  <a:srgbClr val="1F2328">
                    <a:alpha val="0"/>
                  </a:srgbClr>
                </a:solidFill>
                <a:latin typeface="Calibri"/>
                <a:ea typeface="맑은 고딕"/>
                <a:cs typeface="Calibri"/>
              </a:rPr>
              <a:t>this map predicts</a:t>
            </a:r>
            <a:r>
              <a:rPr lang="en-US" altLang="ko-KR" sz="2150" b="1" dirty="0">
                <a:solidFill>
                  <a:srgbClr val="1F2328">
                    <a:alpha val="0"/>
                  </a:srgbClr>
                </a:solidFill>
                <a:latin typeface="Calibri"/>
                <a:ea typeface="맑은 고딕"/>
                <a:cs typeface="Calibri"/>
              </a:rPr>
              <a:t> / </a:t>
            </a:r>
            <a:r>
              <a:rPr lang="en-US" altLang="ko-KR" sz="2150" b="1" dirty="0">
                <a:solidFill>
                  <a:srgbClr val="1F2328">
                    <a:alpha val="0"/>
                  </a:srgbClr>
                </a:solidFill>
                <a:latin typeface="Calibri"/>
                <a:ea typeface="맑은 고딕"/>
                <a:cs typeface="Calibri"/>
              </a:rPr>
              <a:t>this map predict</a:t>
            </a:r>
            <a:r>
              <a:rPr lang="en-US" altLang="ko-KR" sz="2150" b="1" dirty="0">
                <a:solidFill>
                  <a:srgbClr val="1F2328">
                    <a:alpha val="0"/>
                  </a:srgbClr>
                </a:solidFill>
                <a:latin typeface="Calibri"/>
                <a:ea typeface="맑은 고딕"/>
                <a:cs typeface="Calibri"/>
              </a:rPr>
              <a:t> ]</a:t>
            </a:r>
            <a:r>
              <a:rPr lang="en-US" altLang="ko-KR" sz="2150" b="0" dirty="0">
                <a:solidFill>
                  <a:srgbClr val="1F2328">
                    <a:alpha val="0"/>
                  </a:srgbClr>
                </a:solidFill>
                <a:latin typeface="Calibri"/>
                <a:ea typeface="맑은 고딕"/>
                <a:cs typeface="Calibri"/>
              </a:rPr>
              <a:t>.</a:t>
            </a:r>
            <a:r>
              <a:rPr lang="en-US" altLang="ko-KR" sz="2150" b="0" dirty="0">
                <a:solidFill>
                  <a:srgbClr val="1F2328">
                    <a:alpha val="0"/>
                  </a:srgbClr>
                </a:solidFill>
                <a:latin typeface="Calibri"/>
                <a:ea typeface="맑은 고딕"/>
                <a:cs typeface="Calibri"/>
              </a:rPr>
              <a:t>   </a:t>
            </a:r>
            <a:r>
              <a:rPr lang="ko-KR" altLang="en-US" sz="2150" b="1" dirty="0">
                <a:solidFill>
                  <a:srgbClr val="1E2A5A">
                    <a:alpha val="0"/>
                  </a:srgbClr>
                </a:solidFill>
                <a:latin typeface="맑은 고딕"/>
                <a:ea typeface="맑은 고딕"/>
                <a:cs typeface="맑은 고딕"/>
              </a:rPr>
              <a:t>⑤</a:t>
            </a:r>
            <a:r>
              <a:rPr lang="en-US" altLang="ko-KR" sz="2150" b="0" dirty="0">
                <a:solidFill>
                  <a:srgbClr val="1F2328">
                    <a:alpha val="0"/>
                  </a:srgbClr>
                </a:solidFill>
                <a:latin typeface="Calibri"/>
                <a:ea typeface="맑은 고딕"/>
                <a:cs typeface="Calibri"/>
              </a:rPr>
              <a:t> </a:t>
            </a:r>
            <a:r>
              <a:rPr lang="en-US" altLang="ko-KR" sz="2150" b="0" dirty="0">
                <a:solidFill>
                  <a:srgbClr val="1F2328">
                    <a:alpha val="0"/>
                  </a:srgbClr>
                </a:solidFill>
                <a:latin typeface="Calibri"/>
                <a:ea typeface="맑은 고딕"/>
                <a:cs typeface="Calibri"/>
              </a:rPr>
              <a:t>Big data has already changed the world greatly.</a:t>
            </a:r>
            <a:r>
              <a:rPr lang="en-US" altLang="ko-KR" sz="2150" b="0" dirty="0">
                <a:solidFill>
                  <a:srgbClr val="1F2328">
                    <a:alpha val="0"/>
                  </a:srgbClr>
                </a:solidFill>
                <a:latin typeface="Calibri"/>
                <a:ea typeface="맑은 고딕"/>
                <a:cs typeface="Calibri"/>
              </a:rPr>
              <a:t>   </a:t>
            </a:r>
            <a:r>
              <a:rPr lang="ko-KR" altLang="en-US" sz="2150" b="1" dirty="0">
                <a:solidFill>
                  <a:srgbClr val="1E2A5A">
                    <a:alpha val="0"/>
                  </a:srgbClr>
                </a:solidFill>
                <a:latin typeface="맑은 고딕"/>
                <a:ea typeface="맑은 고딕"/>
                <a:cs typeface="맑은 고딕"/>
              </a:rPr>
              <a:t>⑥</a:t>
            </a:r>
            <a:r>
              <a:rPr lang="en-US" altLang="ko-KR" sz="2150" b="0" dirty="0">
                <a:solidFill>
                  <a:srgbClr val="1F2328">
                    <a:alpha val="0"/>
                  </a:srgbClr>
                </a:solidFill>
                <a:latin typeface="Calibri"/>
                <a:ea typeface="맑은 고딕"/>
                <a:cs typeface="Calibri"/>
              </a:rPr>
              <a:t> </a:t>
            </a:r>
            <a:r>
              <a:rPr lang="en-US" altLang="ko-KR" sz="2150" b="0" dirty="0">
                <a:solidFill>
                  <a:srgbClr val="1F2328">
                    <a:alpha val="0"/>
                  </a:srgbClr>
                </a:solidFill>
                <a:latin typeface="Calibri"/>
                <a:ea typeface="맑은 고딕"/>
                <a:cs typeface="Calibri"/>
              </a:rPr>
              <a:t>So where will the big data industry go from here?</a:t>
            </a:r>
            <a:r>
              <a:rPr lang="en-US" altLang="ko-KR" sz="2150" b="0" dirty="0">
                <a:solidFill>
                  <a:srgbClr val="1F2328">
                    <a:alpha val="0"/>
                  </a:srgbClr>
                </a:solidFill>
                <a:latin typeface="Calibri"/>
                <a:ea typeface="맑은 고딕"/>
                <a:cs typeface="Calibri"/>
              </a:rPr>
              <a:t>   </a:t>
            </a:r>
            <a:r>
              <a:rPr lang="ko-KR" altLang="en-US" sz="2150" b="1" dirty="0">
                <a:solidFill>
                  <a:srgbClr val="1E2A5A">
                    <a:alpha val="0"/>
                  </a:srgbClr>
                </a:solidFill>
                <a:latin typeface="맑은 고딕"/>
                <a:ea typeface="맑은 고딕"/>
                <a:cs typeface="맑은 고딕"/>
              </a:rPr>
              <a:t>⑦</a:t>
            </a:r>
            <a:r>
              <a:rPr lang="en-US" altLang="ko-KR" sz="2150" b="0" dirty="0">
                <a:solidFill>
                  <a:srgbClr val="1F2328">
                    <a:alpha val="0"/>
                  </a:srgbClr>
                </a:solidFill>
                <a:latin typeface="Calibri"/>
                <a:ea typeface="맑은 고딕"/>
                <a:cs typeface="Calibri"/>
              </a:rPr>
              <a:t> </a:t>
            </a:r>
            <a:r>
              <a:rPr lang="en-US" altLang="ko-KR" sz="2150" b="0" dirty="0">
                <a:solidFill>
                  <a:srgbClr val="1F2328">
                    <a:alpha val="0"/>
                  </a:srgbClr>
                </a:solidFill>
                <a:latin typeface="Calibri"/>
                <a:ea typeface="맑은 고딕"/>
                <a:cs typeface="Calibri"/>
              </a:rPr>
              <a:t>Nobody knows for sure, but experts agree that big data will play a more and more important role in our lives.</a:t>
            </a:r>
            <a:endParaRPr lang="en-US" altLang="ko-KR" sz="2150" b="0" dirty="0">
              <a:solidFill>
                <a:srgbClr val="1F2328"/>
              </a:solidFill>
              <a:latin typeface="Calibri"/>
              <a:ea typeface="맑은 고딕"/>
              <a:cs typeface="Calibri"/>
            </a:endParaRPr>
          </a:p>
        </p:txBody>
      </p:sp>
      <p:sp>
        <p:nvSpPr>
          <p:cNvPr id="10" name="rv_g02"/>
          <p:cNvSpPr txBox="1"/>
          <p:nvPr/>
        </p:nvSpPr>
        <p:spPr>
          <a:xfrm>
            <a:off x="457200" y="950976"/>
            <a:ext cx="11277295" cy="4730496"/>
          </a:xfrm>
          <a:prstGeom prst="rect">
            <a:avLst/>
          </a:prstGeom>
          <a:noFill/>
        </p:spPr>
        <p:txBody>
          <a:bodyPr wrap="square" lIns="228600" tIns="155448" rIns="228600" bIns="155448" anchor="t" rtlCol="0">
            <a:noAutofit/>
          </a:bodyPr>
          <a:lstStyle/>
          <a:p>
            <a:pPr algn="l">
              <a:lnSpc>
                <a:spcPts val="3480"/>
              </a:lnSpc>
              <a:spcBef>
                <a:spcPts val="0"/>
              </a:spcBef>
              <a:spcAft>
                <a:spcPts val="0"/>
              </a:spcAft>
              <a:buNone/>
            </a:pPr>
            <a:r>
              <a:rPr lang="ko-KR" altLang="en-US" sz="2150" b="1" dirty="0">
                <a:solidFill>
                  <a:srgbClr val="1E2A5A">
                    <a:alpha val="0"/>
                  </a:srgbClr>
                </a:solidFill>
                <a:latin typeface="맑은 고딕"/>
                <a:ea typeface="맑은 고딕"/>
                <a:cs typeface="맑은 고딕"/>
              </a:rPr>
              <a:t>①</a:t>
            </a:r>
            <a:r>
              <a:rPr lang="en-US" altLang="ko-KR" sz="2150" b="0" dirty="0">
                <a:solidFill>
                  <a:srgbClr val="1F2328">
                    <a:alpha val="0"/>
                  </a:srgbClr>
                </a:solidFill>
                <a:latin typeface="Calibri"/>
                <a:ea typeface="맑은 고딕"/>
                <a:cs typeface="Calibri"/>
              </a:rPr>
              <a:t> </a:t>
            </a:r>
            <a:r>
              <a:rPr lang="en-US" altLang="ko-KR" sz="2150" b="0" dirty="0">
                <a:solidFill>
                  <a:srgbClr val="1F2328">
                    <a:alpha val="0"/>
                  </a:srgbClr>
                </a:solidFill>
                <a:latin typeface="Calibri"/>
                <a:ea typeface="맑은 고딕"/>
                <a:cs typeface="Calibri"/>
              </a:rPr>
              <a:t>Thanks to big data, police can now predict crime </a:t>
            </a:r>
            <a:r>
              <a:rPr lang="en-US" altLang="ko-KR" sz="2150" b="1" dirty="0">
                <a:solidFill>
                  <a:srgbClr val="1F2328">
                    <a:alpha val="0"/>
                  </a:srgbClr>
                </a:solidFill>
                <a:latin typeface="Calibri"/>
                <a:ea typeface="맑은 고딕"/>
                <a:cs typeface="Calibri"/>
              </a:rPr>
              <a:t>[ </a:t>
            </a:r>
            <a:r>
              <a:rPr lang="en-US" altLang="ko-KR" sz="2150" b="1" dirty="0">
                <a:solidFill>
                  <a:srgbClr val="1F2328">
                    <a:alpha val="0"/>
                  </a:srgbClr>
                </a:solidFill>
                <a:latin typeface="Calibri"/>
                <a:ea typeface="맑은 고딕"/>
                <a:cs typeface="Calibri"/>
              </a:rPr>
              <a:t>before it will happen</a:t>
            </a:r>
            <a:r>
              <a:rPr lang="en-US" altLang="ko-KR" sz="2150" b="1" dirty="0">
                <a:solidFill>
                  <a:srgbClr val="1F2328">
                    <a:alpha val="0"/>
                  </a:srgbClr>
                </a:solidFill>
                <a:latin typeface="Calibri"/>
                <a:ea typeface="맑은 고딕"/>
                <a:cs typeface="Calibri"/>
              </a:rPr>
              <a:t> / </a:t>
            </a:r>
            <a:r>
              <a:rPr lang="en-US" altLang="ko-KR" sz="2150" b="1" dirty="0">
                <a:solidFill>
                  <a:srgbClr val="1F2328">
                    <a:alpha val="0"/>
                  </a:srgbClr>
                </a:solidFill>
                <a:latin typeface="Calibri"/>
                <a:ea typeface="맑은 고딕"/>
                <a:cs typeface="Calibri"/>
              </a:rPr>
              <a:t>before it happens</a:t>
            </a:r>
            <a:r>
              <a:rPr lang="en-US" altLang="ko-KR" sz="2150" b="1" dirty="0">
                <a:solidFill>
                  <a:srgbClr val="1F2328">
                    <a:alpha val="0"/>
                  </a:srgbClr>
                </a:solidFill>
                <a:latin typeface="Calibri"/>
                <a:ea typeface="맑은 고딕"/>
                <a:cs typeface="Calibri"/>
              </a:rPr>
              <a:t> ]</a:t>
            </a:r>
            <a:r>
              <a:rPr lang="en-US" altLang="ko-KR" sz="2150" b="0" dirty="0">
                <a:solidFill>
                  <a:srgbClr val="1F2328">
                    <a:alpha val="0"/>
                  </a:srgbClr>
                </a:solidFill>
                <a:latin typeface="Calibri"/>
                <a:ea typeface="맑은 고딕"/>
                <a:cs typeface="Calibri"/>
              </a:rPr>
              <a:t>.</a:t>
            </a:r>
            <a:r>
              <a:rPr lang="en-US" altLang="ko-KR" sz="2150" b="0" dirty="0">
                <a:solidFill>
                  <a:srgbClr val="1F2328">
                    <a:alpha val="0"/>
                  </a:srgbClr>
                </a:solidFill>
                <a:latin typeface="Calibri"/>
                <a:ea typeface="맑은 고딕"/>
                <a:cs typeface="Calibri"/>
              </a:rPr>
              <a:t>   </a:t>
            </a:r>
            <a:r>
              <a:rPr lang="ko-KR" altLang="en-US" sz="2150" b="1" dirty="0">
                <a:solidFill>
                  <a:srgbClr val="1E2A5A">
                    <a:alpha val="0"/>
                  </a:srgbClr>
                </a:solidFill>
                <a:latin typeface="맑은 고딕"/>
                <a:ea typeface="맑은 고딕"/>
                <a:cs typeface="맑은 고딕"/>
              </a:rPr>
              <a:t>②</a:t>
            </a:r>
            <a:r>
              <a:rPr lang="en-US" altLang="ko-KR" sz="2150" b="0" dirty="0">
                <a:solidFill>
                  <a:srgbClr val="1F2328">
                    <a:alpha val="0"/>
                  </a:srgbClr>
                </a:solidFill>
                <a:latin typeface="Calibri"/>
                <a:ea typeface="맑은 고딕"/>
                <a:cs typeface="Calibri"/>
              </a:rPr>
              <a:t> </a:t>
            </a:r>
            <a:r>
              <a:rPr lang="en-US" altLang="ko-KR" sz="2150" b="1" dirty="0">
                <a:solidFill>
                  <a:srgbClr val="1F2328">
                    <a:alpha val="0"/>
                  </a:srgbClr>
                </a:solidFill>
                <a:latin typeface="Calibri"/>
                <a:ea typeface="맑은 고딕"/>
                <a:cs typeface="Calibri"/>
              </a:rPr>
              <a:t>[ </a:t>
            </a:r>
            <a:r>
              <a:rPr lang="en-US" altLang="ko-KR" sz="2150" b="1" dirty="0">
                <a:solidFill>
                  <a:srgbClr val="C00000"/>
                </a:solidFill>
                <a:highlight>
                  <a:srgbClr val="F3F5F9"/>
                </a:highlight>
                <a:latin typeface="Calibri"/>
                <a:ea typeface="맑은 고딕"/>
                <a:cs typeface="Calibri"/>
              </a:rPr>
              <a:t>Through the analysis</a:t>
            </a:r>
            <a:r>
              <a:rPr lang="en-US" altLang="ko-KR" sz="2150" b="1" dirty="0">
                <a:solidFill>
                  <a:srgbClr val="1F2328">
                    <a:alpha val="0"/>
                  </a:srgbClr>
                </a:solidFill>
                <a:latin typeface="Calibri"/>
                <a:ea typeface="맑은 고딕"/>
                <a:cs typeface="Calibri"/>
              </a:rPr>
              <a:t> / </a:t>
            </a:r>
            <a:r>
              <a:rPr lang="en-US" altLang="ko-KR" sz="2150" b="1" dirty="0">
                <a:solidFill>
                  <a:srgbClr val="1F2328">
                    <a:alpha val="0"/>
                  </a:srgbClr>
                </a:solidFill>
                <a:latin typeface="Calibri"/>
                <a:ea typeface="맑은 고딕"/>
                <a:cs typeface="Calibri"/>
              </a:rPr>
              <a:t>Though the analysis</a:t>
            </a:r>
            <a:r>
              <a:rPr lang="en-US" altLang="ko-KR" sz="2150" b="1" dirty="0">
                <a:solidFill>
                  <a:srgbClr val="1F2328">
                    <a:alpha val="0"/>
                  </a:srgbClr>
                </a:solidFill>
                <a:latin typeface="Calibri"/>
                <a:ea typeface="맑은 고딕"/>
                <a:cs typeface="Calibri"/>
              </a:rPr>
              <a:t> ]</a:t>
            </a:r>
            <a:r>
              <a:rPr lang="en-US" altLang="ko-KR" sz="2150" b="0" dirty="0">
                <a:solidFill>
                  <a:srgbClr val="1F2328">
                    <a:alpha val="0"/>
                  </a:srgbClr>
                </a:solidFill>
                <a:latin typeface="Calibri"/>
                <a:ea typeface="맑은 고딕"/>
                <a:cs typeface="Calibri"/>
              </a:rPr>
              <a:t> of big data about the type, time and place of crime, police can make a map of crime hot spots.</a:t>
            </a:r>
            <a:r>
              <a:rPr lang="en-US" altLang="ko-KR" sz="2150" b="0" dirty="0">
                <a:solidFill>
                  <a:srgbClr val="1F2328">
                    <a:alpha val="0"/>
                  </a:srgbClr>
                </a:solidFill>
                <a:latin typeface="Calibri"/>
                <a:ea typeface="맑은 고딕"/>
                <a:cs typeface="Calibri"/>
              </a:rPr>
              <a:t>   </a:t>
            </a:r>
            <a:r>
              <a:rPr lang="ko-KR" altLang="en-US" sz="2150" b="1" dirty="0">
                <a:solidFill>
                  <a:srgbClr val="1E2A5A">
                    <a:alpha val="0"/>
                  </a:srgbClr>
                </a:solidFill>
                <a:latin typeface="맑은 고딕"/>
                <a:ea typeface="맑은 고딕"/>
                <a:cs typeface="맑은 고딕"/>
              </a:rPr>
              <a:t>③</a:t>
            </a:r>
            <a:r>
              <a:rPr lang="en-US" altLang="ko-KR" sz="2150" b="0" dirty="0">
                <a:solidFill>
                  <a:srgbClr val="1F2328">
                    <a:alpha val="0"/>
                  </a:srgbClr>
                </a:solidFill>
                <a:latin typeface="Calibri"/>
                <a:ea typeface="맑은 고딕"/>
                <a:cs typeface="Calibri"/>
              </a:rPr>
              <a:t> </a:t>
            </a:r>
            <a:r>
              <a:rPr lang="en-US" altLang="ko-KR" sz="2150" b="0" dirty="0">
                <a:solidFill>
                  <a:srgbClr val="1F2328">
                    <a:alpha val="0"/>
                  </a:srgbClr>
                </a:solidFill>
                <a:latin typeface="Calibri"/>
                <a:ea typeface="맑은 고딕"/>
                <a:cs typeface="Calibri"/>
              </a:rPr>
              <a:t>This map identifies when and where crime is most likely to happen.</a:t>
            </a:r>
            <a:r>
              <a:rPr lang="en-US" altLang="ko-KR" sz="2150" b="0" dirty="0">
                <a:solidFill>
                  <a:srgbClr val="1F2328">
                    <a:alpha val="0"/>
                  </a:srgbClr>
                </a:solidFill>
                <a:latin typeface="Calibri"/>
                <a:ea typeface="맑은 고딕"/>
                <a:cs typeface="Calibri"/>
              </a:rPr>
              <a:t>   </a:t>
            </a:r>
            <a:r>
              <a:rPr lang="ko-KR" altLang="en-US" sz="2150" b="1" dirty="0">
                <a:solidFill>
                  <a:srgbClr val="1E2A5A">
                    <a:alpha val="0"/>
                  </a:srgbClr>
                </a:solidFill>
                <a:latin typeface="맑은 고딕"/>
                <a:ea typeface="맑은 고딕"/>
                <a:cs typeface="맑은 고딕"/>
              </a:rPr>
              <a:t>④</a:t>
            </a:r>
            <a:r>
              <a:rPr lang="en-US" altLang="ko-KR" sz="2150" b="0" dirty="0">
                <a:solidFill>
                  <a:srgbClr val="1F2328">
                    <a:alpha val="0"/>
                  </a:srgbClr>
                </a:solidFill>
                <a:latin typeface="Calibri"/>
                <a:ea typeface="맑은 고딕"/>
                <a:cs typeface="Calibri"/>
              </a:rPr>
              <a:t> </a:t>
            </a:r>
            <a:r>
              <a:rPr lang="en-US" altLang="ko-KR" sz="2150" b="0" dirty="0">
                <a:solidFill>
                  <a:srgbClr val="1F2328">
                    <a:alpha val="0"/>
                  </a:srgbClr>
                </a:solidFill>
                <a:latin typeface="Calibri"/>
                <a:ea typeface="맑은 고딕"/>
                <a:cs typeface="Calibri"/>
              </a:rPr>
              <a:t>Police can prevent further crime </a:t>
            </a:r>
            <a:r>
              <a:rPr lang="en-US" altLang="ko-KR" sz="2150" b="1" dirty="0">
                <a:solidFill>
                  <a:srgbClr val="1F2328">
                    <a:alpha val="0"/>
                  </a:srgbClr>
                </a:solidFill>
                <a:latin typeface="Calibri"/>
                <a:ea typeface="맑은 고딕"/>
                <a:cs typeface="Calibri"/>
              </a:rPr>
              <a:t>[ </a:t>
            </a:r>
            <a:r>
              <a:rPr lang="en-US" altLang="ko-KR" sz="2150" b="1" dirty="0">
                <a:solidFill>
                  <a:srgbClr val="1F2328">
                    <a:alpha val="0"/>
                  </a:srgbClr>
                </a:solidFill>
                <a:latin typeface="Calibri"/>
                <a:ea typeface="맑은 고딕"/>
                <a:cs typeface="Calibri"/>
              </a:rPr>
              <a:t>by focused</a:t>
            </a:r>
            <a:r>
              <a:rPr lang="en-US" altLang="ko-KR" sz="2150" b="1" dirty="0">
                <a:solidFill>
                  <a:srgbClr val="1F2328">
                    <a:alpha val="0"/>
                  </a:srgbClr>
                </a:solidFill>
                <a:latin typeface="Calibri"/>
                <a:ea typeface="맑은 고딕"/>
                <a:cs typeface="Calibri"/>
              </a:rPr>
              <a:t> / </a:t>
            </a:r>
            <a:r>
              <a:rPr lang="en-US" altLang="ko-KR" sz="2150" b="1" dirty="0">
                <a:solidFill>
                  <a:srgbClr val="1F2328">
                    <a:alpha val="0"/>
                  </a:srgbClr>
                </a:solidFill>
                <a:latin typeface="Calibri"/>
                <a:ea typeface="맑은 고딕"/>
                <a:cs typeface="Calibri"/>
              </a:rPr>
              <a:t>by focusing</a:t>
            </a:r>
            <a:r>
              <a:rPr lang="en-US" altLang="ko-KR" sz="2150" b="1" dirty="0">
                <a:solidFill>
                  <a:srgbClr val="1F2328">
                    <a:alpha val="0"/>
                  </a:srgbClr>
                </a:solidFill>
                <a:latin typeface="Calibri"/>
                <a:ea typeface="맑은 고딕"/>
                <a:cs typeface="Calibri"/>
              </a:rPr>
              <a:t> ]</a:t>
            </a:r>
            <a:r>
              <a:rPr lang="en-US" altLang="ko-KR" sz="2150" b="0" dirty="0">
                <a:solidFill>
                  <a:srgbClr val="1F2328">
                    <a:alpha val="0"/>
                  </a:srgbClr>
                </a:solidFill>
                <a:latin typeface="Calibri"/>
                <a:ea typeface="맑은 고딕"/>
                <a:cs typeface="Calibri"/>
              </a:rPr>
              <a:t> on the areas and the times </a:t>
            </a:r>
            <a:r>
              <a:rPr lang="en-US" altLang="ko-KR" sz="2150" b="1" dirty="0">
                <a:solidFill>
                  <a:srgbClr val="1F2328">
                    <a:alpha val="0"/>
                  </a:srgbClr>
                </a:solidFill>
                <a:latin typeface="Calibri"/>
                <a:ea typeface="맑은 고딕"/>
                <a:cs typeface="Calibri"/>
              </a:rPr>
              <a:t>[ </a:t>
            </a:r>
            <a:r>
              <a:rPr lang="en-US" altLang="ko-KR" sz="2150" b="1" dirty="0">
                <a:solidFill>
                  <a:srgbClr val="1F2328">
                    <a:alpha val="0"/>
                  </a:srgbClr>
                </a:solidFill>
                <a:latin typeface="Calibri"/>
                <a:ea typeface="맑은 고딕"/>
                <a:cs typeface="Calibri"/>
              </a:rPr>
              <a:t>this map predicts</a:t>
            </a:r>
            <a:r>
              <a:rPr lang="en-US" altLang="ko-KR" sz="2150" b="1" dirty="0">
                <a:solidFill>
                  <a:srgbClr val="1F2328">
                    <a:alpha val="0"/>
                  </a:srgbClr>
                </a:solidFill>
                <a:latin typeface="Calibri"/>
                <a:ea typeface="맑은 고딕"/>
                <a:cs typeface="Calibri"/>
              </a:rPr>
              <a:t> / </a:t>
            </a:r>
            <a:r>
              <a:rPr lang="en-US" altLang="ko-KR" sz="2150" b="1" dirty="0">
                <a:solidFill>
                  <a:srgbClr val="1F2328">
                    <a:alpha val="0"/>
                  </a:srgbClr>
                </a:solidFill>
                <a:latin typeface="Calibri"/>
                <a:ea typeface="맑은 고딕"/>
                <a:cs typeface="Calibri"/>
              </a:rPr>
              <a:t>this map predict</a:t>
            </a:r>
            <a:r>
              <a:rPr lang="en-US" altLang="ko-KR" sz="2150" b="1" dirty="0">
                <a:solidFill>
                  <a:srgbClr val="1F2328">
                    <a:alpha val="0"/>
                  </a:srgbClr>
                </a:solidFill>
                <a:latin typeface="Calibri"/>
                <a:ea typeface="맑은 고딕"/>
                <a:cs typeface="Calibri"/>
              </a:rPr>
              <a:t> ]</a:t>
            </a:r>
            <a:r>
              <a:rPr lang="en-US" altLang="ko-KR" sz="2150" b="0" dirty="0">
                <a:solidFill>
                  <a:srgbClr val="1F2328">
                    <a:alpha val="0"/>
                  </a:srgbClr>
                </a:solidFill>
                <a:latin typeface="Calibri"/>
                <a:ea typeface="맑은 고딕"/>
                <a:cs typeface="Calibri"/>
              </a:rPr>
              <a:t>.</a:t>
            </a:r>
            <a:r>
              <a:rPr lang="en-US" altLang="ko-KR" sz="2150" b="0" dirty="0">
                <a:solidFill>
                  <a:srgbClr val="1F2328">
                    <a:alpha val="0"/>
                  </a:srgbClr>
                </a:solidFill>
                <a:latin typeface="Calibri"/>
                <a:ea typeface="맑은 고딕"/>
                <a:cs typeface="Calibri"/>
              </a:rPr>
              <a:t>   </a:t>
            </a:r>
            <a:r>
              <a:rPr lang="ko-KR" altLang="en-US" sz="2150" b="1" dirty="0">
                <a:solidFill>
                  <a:srgbClr val="1E2A5A">
                    <a:alpha val="0"/>
                  </a:srgbClr>
                </a:solidFill>
                <a:latin typeface="맑은 고딕"/>
                <a:ea typeface="맑은 고딕"/>
                <a:cs typeface="맑은 고딕"/>
              </a:rPr>
              <a:t>⑤</a:t>
            </a:r>
            <a:r>
              <a:rPr lang="en-US" altLang="ko-KR" sz="2150" b="0" dirty="0">
                <a:solidFill>
                  <a:srgbClr val="1F2328">
                    <a:alpha val="0"/>
                  </a:srgbClr>
                </a:solidFill>
                <a:latin typeface="Calibri"/>
                <a:ea typeface="맑은 고딕"/>
                <a:cs typeface="Calibri"/>
              </a:rPr>
              <a:t> </a:t>
            </a:r>
            <a:r>
              <a:rPr lang="en-US" altLang="ko-KR" sz="2150" b="0" dirty="0">
                <a:solidFill>
                  <a:srgbClr val="1F2328">
                    <a:alpha val="0"/>
                  </a:srgbClr>
                </a:solidFill>
                <a:latin typeface="Calibri"/>
                <a:ea typeface="맑은 고딕"/>
                <a:cs typeface="Calibri"/>
              </a:rPr>
              <a:t>Big data has already changed the world greatly.</a:t>
            </a:r>
            <a:r>
              <a:rPr lang="en-US" altLang="ko-KR" sz="2150" b="0" dirty="0">
                <a:solidFill>
                  <a:srgbClr val="1F2328">
                    <a:alpha val="0"/>
                  </a:srgbClr>
                </a:solidFill>
                <a:latin typeface="Calibri"/>
                <a:ea typeface="맑은 고딕"/>
                <a:cs typeface="Calibri"/>
              </a:rPr>
              <a:t>   </a:t>
            </a:r>
            <a:r>
              <a:rPr lang="ko-KR" altLang="en-US" sz="2150" b="1" dirty="0">
                <a:solidFill>
                  <a:srgbClr val="1E2A5A">
                    <a:alpha val="0"/>
                  </a:srgbClr>
                </a:solidFill>
                <a:latin typeface="맑은 고딕"/>
                <a:ea typeface="맑은 고딕"/>
                <a:cs typeface="맑은 고딕"/>
              </a:rPr>
              <a:t>⑥</a:t>
            </a:r>
            <a:r>
              <a:rPr lang="en-US" altLang="ko-KR" sz="2150" b="0" dirty="0">
                <a:solidFill>
                  <a:srgbClr val="1F2328">
                    <a:alpha val="0"/>
                  </a:srgbClr>
                </a:solidFill>
                <a:latin typeface="Calibri"/>
                <a:ea typeface="맑은 고딕"/>
                <a:cs typeface="Calibri"/>
              </a:rPr>
              <a:t> </a:t>
            </a:r>
            <a:r>
              <a:rPr lang="en-US" altLang="ko-KR" sz="2150" b="0" dirty="0">
                <a:solidFill>
                  <a:srgbClr val="1F2328">
                    <a:alpha val="0"/>
                  </a:srgbClr>
                </a:solidFill>
                <a:latin typeface="Calibri"/>
                <a:ea typeface="맑은 고딕"/>
                <a:cs typeface="Calibri"/>
              </a:rPr>
              <a:t>So where will the big data industry go from here?</a:t>
            </a:r>
            <a:r>
              <a:rPr lang="en-US" altLang="ko-KR" sz="2150" b="0" dirty="0">
                <a:solidFill>
                  <a:srgbClr val="1F2328">
                    <a:alpha val="0"/>
                  </a:srgbClr>
                </a:solidFill>
                <a:latin typeface="Calibri"/>
                <a:ea typeface="맑은 고딕"/>
                <a:cs typeface="Calibri"/>
              </a:rPr>
              <a:t>   </a:t>
            </a:r>
            <a:r>
              <a:rPr lang="ko-KR" altLang="en-US" sz="2150" b="1" dirty="0">
                <a:solidFill>
                  <a:srgbClr val="1E2A5A">
                    <a:alpha val="0"/>
                  </a:srgbClr>
                </a:solidFill>
                <a:latin typeface="맑은 고딕"/>
                <a:ea typeface="맑은 고딕"/>
                <a:cs typeface="맑은 고딕"/>
              </a:rPr>
              <a:t>⑦</a:t>
            </a:r>
            <a:r>
              <a:rPr lang="en-US" altLang="ko-KR" sz="2150" b="0" dirty="0">
                <a:solidFill>
                  <a:srgbClr val="1F2328">
                    <a:alpha val="0"/>
                  </a:srgbClr>
                </a:solidFill>
                <a:latin typeface="Calibri"/>
                <a:ea typeface="맑은 고딕"/>
                <a:cs typeface="Calibri"/>
              </a:rPr>
              <a:t> </a:t>
            </a:r>
            <a:r>
              <a:rPr lang="en-US" altLang="ko-KR" sz="2150" b="0" dirty="0">
                <a:solidFill>
                  <a:srgbClr val="1F2328">
                    <a:alpha val="0"/>
                  </a:srgbClr>
                </a:solidFill>
                <a:latin typeface="Calibri"/>
                <a:ea typeface="맑은 고딕"/>
                <a:cs typeface="Calibri"/>
              </a:rPr>
              <a:t>Nobody knows for sure, but experts agree that big data will play a more and more important role in our lives.</a:t>
            </a:r>
            <a:endParaRPr lang="en-US" altLang="ko-KR" sz="2150" b="0" dirty="0">
              <a:solidFill>
                <a:srgbClr val="1F2328"/>
              </a:solidFill>
              <a:latin typeface="Calibri"/>
              <a:ea typeface="맑은 고딕"/>
              <a:cs typeface="Calibri"/>
            </a:endParaRPr>
          </a:p>
        </p:txBody>
      </p:sp>
      <p:sp>
        <p:nvSpPr>
          <p:cNvPr id="11" name="rv_g03"/>
          <p:cNvSpPr txBox="1"/>
          <p:nvPr/>
        </p:nvSpPr>
        <p:spPr>
          <a:xfrm>
            <a:off x="457200" y="950976"/>
            <a:ext cx="11277295" cy="4730496"/>
          </a:xfrm>
          <a:prstGeom prst="rect">
            <a:avLst/>
          </a:prstGeom>
          <a:noFill/>
        </p:spPr>
        <p:txBody>
          <a:bodyPr wrap="square" lIns="228600" tIns="155448" rIns="228600" bIns="155448" anchor="t" rtlCol="0">
            <a:noAutofit/>
          </a:bodyPr>
          <a:lstStyle/>
          <a:p>
            <a:pPr algn="l">
              <a:lnSpc>
                <a:spcPts val="3480"/>
              </a:lnSpc>
              <a:spcBef>
                <a:spcPts val="0"/>
              </a:spcBef>
              <a:spcAft>
                <a:spcPts val="0"/>
              </a:spcAft>
              <a:buNone/>
            </a:pPr>
            <a:r>
              <a:rPr lang="ko-KR" altLang="en-US" sz="2150" b="1" dirty="0">
                <a:solidFill>
                  <a:srgbClr val="1E2A5A">
                    <a:alpha val="0"/>
                  </a:srgbClr>
                </a:solidFill>
                <a:latin typeface="맑은 고딕"/>
                <a:ea typeface="맑은 고딕"/>
                <a:cs typeface="맑은 고딕"/>
              </a:rPr>
              <a:t>①</a:t>
            </a:r>
            <a:r>
              <a:rPr lang="en-US" altLang="ko-KR" sz="2150" b="0" dirty="0">
                <a:solidFill>
                  <a:srgbClr val="1F2328">
                    <a:alpha val="0"/>
                  </a:srgbClr>
                </a:solidFill>
                <a:latin typeface="Calibri"/>
                <a:ea typeface="맑은 고딕"/>
                <a:cs typeface="Calibri"/>
              </a:rPr>
              <a:t> </a:t>
            </a:r>
            <a:r>
              <a:rPr lang="en-US" altLang="ko-KR" sz="2150" b="0" dirty="0">
                <a:solidFill>
                  <a:srgbClr val="1F2328">
                    <a:alpha val="0"/>
                  </a:srgbClr>
                </a:solidFill>
                <a:latin typeface="Calibri"/>
                <a:ea typeface="맑은 고딕"/>
                <a:cs typeface="Calibri"/>
              </a:rPr>
              <a:t>Thanks to big data, police can now predict crime </a:t>
            </a:r>
            <a:r>
              <a:rPr lang="en-US" altLang="ko-KR" sz="2150" b="1" dirty="0">
                <a:solidFill>
                  <a:srgbClr val="1F2328">
                    <a:alpha val="0"/>
                  </a:srgbClr>
                </a:solidFill>
                <a:latin typeface="Calibri"/>
                <a:ea typeface="맑은 고딕"/>
                <a:cs typeface="Calibri"/>
              </a:rPr>
              <a:t>[ </a:t>
            </a:r>
            <a:r>
              <a:rPr lang="en-US" altLang="ko-KR" sz="2150" b="1" dirty="0">
                <a:solidFill>
                  <a:srgbClr val="1F2328">
                    <a:alpha val="0"/>
                  </a:srgbClr>
                </a:solidFill>
                <a:latin typeface="Calibri"/>
                <a:ea typeface="맑은 고딕"/>
                <a:cs typeface="Calibri"/>
              </a:rPr>
              <a:t>before it will happen</a:t>
            </a:r>
            <a:r>
              <a:rPr lang="en-US" altLang="ko-KR" sz="2150" b="1" dirty="0">
                <a:solidFill>
                  <a:srgbClr val="1F2328">
                    <a:alpha val="0"/>
                  </a:srgbClr>
                </a:solidFill>
                <a:latin typeface="Calibri"/>
                <a:ea typeface="맑은 고딕"/>
                <a:cs typeface="Calibri"/>
              </a:rPr>
              <a:t> / </a:t>
            </a:r>
            <a:r>
              <a:rPr lang="en-US" altLang="ko-KR" sz="2150" b="1" dirty="0">
                <a:solidFill>
                  <a:srgbClr val="1F2328">
                    <a:alpha val="0"/>
                  </a:srgbClr>
                </a:solidFill>
                <a:latin typeface="Calibri"/>
                <a:ea typeface="맑은 고딕"/>
                <a:cs typeface="Calibri"/>
              </a:rPr>
              <a:t>before it happens</a:t>
            </a:r>
            <a:r>
              <a:rPr lang="en-US" altLang="ko-KR" sz="2150" b="1" dirty="0">
                <a:solidFill>
                  <a:srgbClr val="1F2328">
                    <a:alpha val="0"/>
                  </a:srgbClr>
                </a:solidFill>
                <a:latin typeface="Calibri"/>
                <a:ea typeface="맑은 고딕"/>
                <a:cs typeface="Calibri"/>
              </a:rPr>
              <a:t> ]</a:t>
            </a:r>
            <a:r>
              <a:rPr lang="en-US" altLang="ko-KR" sz="2150" b="0" dirty="0">
                <a:solidFill>
                  <a:srgbClr val="1F2328">
                    <a:alpha val="0"/>
                  </a:srgbClr>
                </a:solidFill>
                <a:latin typeface="Calibri"/>
                <a:ea typeface="맑은 고딕"/>
                <a:cs typeface="Calibri"/>
              </a:rPr>
              <a:t>.</a:t>
            </a:r>
            <a:r>
              <a:rPr lang="en-US" altLang="ko-KR" sz="2150" b="0" dirty="0">
                <a:solidFill>
                  <a:srgbClr val="1F2328">
                    <a:alpha val="0"/>
                  </a:srgbClr>
                </a:solidFill>
                <a:latin typeface="Calibri"/>
                <a:ea typeface="맑은 고딕"/>
                <a:cs typeface="Calibri"/>
              </a:rPr>
              <a:t>   </a:t>
            </a:r>
            <a:r>
              <a:rPr lang="ko-KR" altLang="en-US" sz="2150" b="1" dirty="0">
                <a:solidFill>
                  <a:srgbClr val="1E2A5A">
                    <a:alpha val="0"/>
                  </a:srgbClr>
                </a:solidFill>
                <a:latin typeface="맑은 고딕"/>
                <a:ea typeface="맑은 고딕"/>
                <a:cs typeface="맑은 고딕"/>
              </a:rPr>
              <a:t>②</a:t>
            </a:r>
            <a:r>
              <a:rPr lang="en-US" altLang="ko-KR" sz="2150" b="0" dirty="0">
                <a:solidFill>
                  <a:srgbClr val="1F2328">
                    <a:alpha val="0"/>
                  </a:srgbClr>
                </a:solidFill>
                <a:latin typeface="Calibri"/>
                <a:ea typeface="맑은 고딕"/>
                <a:cs typeface="Calibri"/>
              </a:rPr>
              <a:t> </a:t>
            </a:r>
            <a:r>
              <a:rPr lang="en-US" altLang="ko-KR" sz="2150" b="1" dirty="0">
                <a:solidFill>
                  <a:srgbClr val="1F2328">
                    <a:alpha val="0"/>
                  </a:srgbClr>
                </a:solidFill>
                <a:latin typeface="Calibri"/>
                <a:ea typeface="맑은 고딕"/>
                <a:cs typeface="Calibri"/>
              </a:rPr>
              <a:t>[ </a:t>
            </a:r>
            <a:r>
              <a:rPr lang="en-US" altLang="ko-KR" sz="2150" b="1" dirty="0">
                <a:solidFill>
                  <a:srgbClr val="1F2328">
                    <a:alpha val="0"/>
                  </a:srgbClr>
                </a:solidFill>
                <a:latin typeface="Calibri"/>
                <a:ea typeface="맑은 고딕"/>
                <a:cs typeface="Calibri"/>
              </a:rPr>
              <a:t>Through the analysis</a:t>
            </a:r>
            <a:r>
              <a:rPr lang="en-US" altLang="ko-KR" sz="2150" b="1" dirty="0">
                <a:solidFill>
                  <a:srgbClr val="1F2328">
                    <a:alpha val="0"/>
                  </a:srgbClr>
                </a:solidFill>
                <a:latin typeface="Calibri"/>
                <a:ea typeface="맑은 고딕"/>
                <a:cs typeface="Calibri"/>
              </a:rPr>
              <a:t> / </a:t>
            </a:r>
            <a:r>
              <a:rPr lang="en-US" altLang="ko-KR" sz="2150" b="1" dirty="0">
                <a:solidFill>
                  <a:srgbClr val="1F2328">
                    <a:alpha val="0"/>
                  </a:srgbClr>
                </a:solidFill>
                <a:latin typeface="Calibri"/>
                <a:ea typeface="맑은 고딕"/>
                <a:cs typeface="Calibri"/>
              </a:rPr>
              <a:t>Though the analysis</a:t>
            </a:r>
            <a:r>
              <a:rPr lang="en-US" altLang="ko-KR" sz="2150" b="1" dirty="0">
                <a:solidFill>
                  <a:srgbClr val="1F2328">
                    <a:alpha val="0"/>
                  </a:srgbClr>
                </a:solidFill>
                <a:latin typeface="Calibri"/>
                <a:ea typeface="맑은 고딕"/>
                <a:cs typeface="Calibri"/>
              </a:rPr>
              <a:t> ]</a:t>
            </a:r>
            <a:r>
              <a:rPr lang="en-US" altLang="ko-KR" sz="2150" b="0" dirty="0">
                <a:solidFill>
                  <a:srgbClr val="1F2328">
                    <a:alpha val="0"/>
                  </a:srgbClr>
                </a:solidFill>
                <a:latin typeface="Calibri"/>
                <a:ea typeface="맑은 고딕"/>
                <a:cs typeface="Calibri"/>
              </a:rPr>
              <a:t> of big data about the type, time and place of crime, police can make a map of crime hot spots.</a:t>
            </a:r>
            <a:r>
              <a:rPr lang="en-US" altLang="ko-KR" sz="2150" b="0" dirty="0">
                <a:solidFill>
                  <a:srgbClr val="1F2328">
                    <a:alpha val="0"/>
                  </a:srgbClr>
                </a:solidFill>
                <a:latin typeface="Calibri"/>
                <a:ea typeface="맑은 고딕"/>
                <a:cs typeface="Calibri"/>
              </a:rPr>
              <a:t>   </a:t>
            </a:r>
            <a:r>
              <a:rPr lang="ko-KR" altLang="en-US" sz="2150" b="1" dirty="0">
                <a:solidFill>
                  <a:srgbClr val="1E2A5A">
                    <a:alpha val="0"/>
                  </a:srgbClr>
                </a:solidFill>
                <a:latin typeface="맑은 고딕"/>
                <a:ea typeface="맑은 고딕"/>
                <a:cs typeface="맑은 고딕"/>
              </a:rPr>
              <a:t>③</a:t>
            </a:r>
            <a:r>
              <a:rPr lang="en-US" altLang="ko-KR" sz="2150" b="0" dirty="0">
                <a:solidFill>
                  <a:srgbClr val="1F2328">
                    <a:alpha val="0"/>
                  </a:srgbClr>
                </a:solidFill>
                <a:latin typeface="Calibri"/>
                <a:ea typeface="맑은 고딕"/>
                <a:cs typeface="Calibri"/>
              </a:rPr>
              <a:t> </a:t>
            </a:r>
            <a:r>
              <a:rPr lang="en-US" altLang="ko-KR" sz="2150" b="0" dirty="0">
                <a:solidFill>
                  <a:srgbClr val="1F2328">
                    <a:alpha val="0"/>
                  </a:srgbClr>
                </a:solidFill>
                <a:latin typeface="Calibri"/>
                <a:ea typeface="맑은 고딕"/>
                <a:cs typeface="Calibri"/>
              </a:rPr>
              <a:t>This map identifies when and where crime is most likely to happen.</a:t>
            </a:r>
            <a:r>
              <a:rPr lang="en-US" altLang="ko-KR" sz="2150" b="0" dirty="0">
                <a:solidFill>
                  <a:srgbClr val="1F2328">
                    <a:alpha val="0"/>
                  </a:srgbClr>
                </a:solidFill>
                <a:latin typeface="Calibri"/>
                <a:ea typeface="맑은 고딕"/>
                <a:cs typeface="Calibri"/>
              </a:rPr>
              <a:t>   </a:t>
            </a:r>
            <a:r>
              <a:rPr lang="ko-KR" altLang="en-US" sz="2150" b="1" dirty="0">
                <a:solidFill>
                  <a:srgbClr val="1E2A5A">
                    <a:alpha val="0"/>
                  </a:srgbClr>
                </a:solidFill>
                <a:latin typeface="맑은 고딕"/>
                <a:ea typeface="맑은 고딕"/>
                <a:cs typeface="맑은 고딕"/>
              </a:rPr>
              <a:t>④</a:t>
            </a:r>
            <a:r>
              <a:rPr lang="en-US" altLang="ko-KR" sz="2150" b="0" dirty="0">
                <a:solidFill>
                  <a:srgbClr val="1F2328">
                    <a:alpha val="0"/>
                  </a:srgbClr>
                </a:solidFill>
                <a:latin typeface="Calibri"/>
                <a:ea typeface="맑은 고딕"/>
                <a:cs typeface="Calibri"/>
              </a:rPr>
              <a:t> </a:t>
            </a:r>
            <a:r>
              <a:rPr lang="en-US" altLang="ko-KR" sz="2150" b="0" dirty="0">
                <a:solidFill>
                  <a:srgbClr val="1F2328">
                    <a:alpha val="0"/>
                  </a:srgbClr>
                </a:solidFill>
                <a:latin typeface="Calibri"/>
                <a:ea typeface="맑은 고딕"/>
                <a:cs typeface="Calibri"/>
              </a:rPr>
              <a:t>Police can prevent further crime </a:t>
            </a:r>
            <a:r>
              <a:rPr lang="en-US" altLang="ko-KR" sz="2150" b="1" dirty="0">
                <a:solidFill>
                  <a:srgbClr val="1F2328">
                    <a:alpha val="0"/>
                  </a:srgbClr>
                </a:solidFill>
                <a:latin typeface="Calibri"/>
                <a:ea typeface="맑은 고딕"/>
                <a:cs typeface="Calibri"/>
              </a:rPr>
              <a:t>[ </a:t>
            </a:r>
            <a:r>
              <a:rPr lang="en-US" altLang="ko-KR" sz="2150" b="1" dirty="0">
                <a:solidFill>
                  <a:srgbClr val="1F2328">
                    <a:alpha val="0"/>
                  </a:srgbClr>
                </a:solidFill>
                <a:latin typeface="Calibri"/>
                <a:ea typeface="맑은 고딕"/>
                <a:cs typeface="Calibri"/>
              </a:rPr>
              <a:t>by focused</a:t>
            </a:r>
            <a:r>
              <a:rPr lang="en-US" altLang="ko-KR" sz="2150" b="1" dirty="0">
                <a:solidFill>
                  <a:srgbClr val="1F2328">
                    <a:alpha val="0"/>
                  </a:srgbClr>
                </a:solidFill>
                <a:latin typeface="Calibri"/>
                <a:ea typeface="맑은 고딕"/>
                <a:cs typeface="Calibri"/>
              </a:rPr>
              <a:t> / </a:t>
            </a:r>
            <a:r>
              <a:rPr lang="en-US" altLang="ko-KR" sz="2150" b="1" dirty="0">
                <a:solidFill>
                  <a:srgbClr val="C00000"/>
                </a:solidFill>
                <a:highlight>
                  <a:srgbClr val="F3F5F9"/>
                </a:highlight>
                <a:latin typeface="Calibri"/>
                <a:ea typeface="맑은 고딕"/>
                <a:cs typeface="Calibri"/>
              </a:rPr>
              <a:t>by focusing</a:t>
            </a:r>
            <a:r>
              <a:rPr lang="en-US" altLang="ko-KR" sz="2150" b="1" dirty="0">
                <a:solidFill>
                  <a:srgbClr val="1F2328">
                    <a:alpha val="0"/>
                  </a:srgbClr>
                </a:solidFill>
                <a:latin typeface="Calibri"/>
                <a:ea typeface="맑은 고딕"/>
                <a:cs typeface="Calibri"/>
              </a:rPr>
              <a:t> ]</a:t>
            </a:r>
            <a:r>
              <a:rPr lang="en-US" altLang="ko-KR" sz="2150" b="0" dirty="0">
                <a:solidFill>
                  <a:srgbClr val="1F2328">
                    <a:alpha val="0"/>
                  </a:srgbClr>
                </a:solidFill>
                <a:latin typeface="Calibri"/>
                <a:ea typeface="맑은 고딕"/>
                <a:cs typeface="Calibri"/>
              </a:rPr>
              <a:t> on the areas and the times </a:t>
            </a:r>
            <a:r>
              <a:rPr lang="en-US" altLang="ko-KR" sz="2150" b="1" dirty="0">
                <a:solidFill>
                  <a:srgbClr val="1F2328">
                    <a:alpha val="0"/>
                  </a:srgbClr>
                </a:solidFill>
                <a:latin typeface="Calibri"/>
                <a:ea typeface="맑은 고딕"/>
                <a:cs typeface="Calibri"/>
              </a:rPr>
              <a:t>[ </a:t>
            </a:r>
            <a:r>
              <a:rPr lang="en-US" altLang="ko-KR" sz="2150" b="1" dirty="0">
                <a:solidFill>
                  <a:srgbClr val="1F2328">
                    <a:alpha val="0"/>
                  </a:srgbClr>
                </a:solidFill>
                <a:latin typeface="Calibri"/>
                <a:ea typeface="맑은 고딕"/>
                <a:cs typeface="Calibri"/>
              </a:rPr>
              <a:t>this map predicts</a:t>
            </a:r>
            <a:r>
              <a:rPr lang="en-US" altLang="ko-KR" sz="2150" b="1" dirty="0">
                <a:solidFill>
                  <a:srgbClr val="1F2328">
                    <a:alpha val="0"/>
                  </a:srgbClr>
                </a:solidFill>
                <a:latin typeface="Calibri"/>
                <a:ea typeface="맑은 고딕"/>
                <a:cs typeface="Calibri"/>
              </a:rPr>
              <a:t> / </a:t>
            </a:r>
            <a:r>
              <a:rPr lang="en-US" altLang="ko-KR" sz="2150" b="1" dirty="0">
                <a:solidFill>
                  <a:srgbClr val="1F2328">
                    <a:alpha val="0"/>
                  </a:srgbClr>
                </a:solidFill>
                <a:latin typeface="Calibri"/>
                <a:ea typeface="맑은 고딕"/>
                <a:cs typeface="Calibri"/>
              </a:rPr>
              <a:t>this map predict</a:t>
            </a:r>
            <a:r>
              <a:rPr lang="en-US" altLang="ko-KR" sz="2150" b="1" dirty="0">
                <a:solidFill>
                  <a:srgbClr val="1F2328">
                    <a:alpha val="0"/>
                  </a:srgbClr>
                </a:solidFill>
                <a:latin typeface="Calibri"/>
                <a:ea typeface="맑은 고딕"/>
                <a:cs typeface="Calibri"/>
              </a:rPr>
              <a:t> ]</a:t>
            </a:r>
            <a:r>
              <a:rPr lang="en-US" altLang="ko-KR" sz="2150" b="0" dirty="0">
                <a:solidFill>
                  <a:srgbClr val="1F2328">
                    <a:alpha val="0"/>
                  </a:srgbClr>
                </a:solidFill>
                <a:latin typeface="Calibri"/>
                <a:ea typeface="맑은 고딕"/>
                <a:cs typeface="Calibri"/>
              </a:rPr>
              <a:t>.</a:t>
            </a:r>
            <a:r>
              <a:rPr lang="en-US" altLang="ko-KR" sz="2150" b="0" dirty="0">
                <a:solidFill>
                  <a:srgbClr val="1F2328">
                    <a:alpha val="0"/>
                  </a:srgbClr>
                </a:solidFill>
                <a:latin typeface="Calibri"/>
                <a:ea typeface="맑은 고딕"/>
                <a:cs typeface="Calibri"/>
              </a:rPr>
              <a:t>   </a:t>
            </a:r>
            <a:r>
              <a:rPr lang="ko-KR" altLang="en-US" sz="2150" b="1" dirty="0">
                <a:solidFill>
                  <a:srgbClr val="1E2A5A">
                    <a:alpha val="0"/>
                  </a:srgbClr>
                </a:solidFill>
                <a:latin typeface="맑은 고딕"/>
                <a:ea typeface="맑은 고딕"/>
                <a:cs typeface="맑은 고딕"/>
              </a:rPr>
              <a:t>⑤</a:t>
            </a:r>
            <a:r>
              <a:rPr lang="en-US" altLang="ko-KR" sz="2150" b="0" dirty="0">
                <a:solidFill>
                  <a:srgbClr val="1F2328">
                    <a:alpha val="0"/>
                  </a:srgbClr>
                </a:solidFill>
                <a:latin typeface="Calibri"/>
                <a:ea typeface="맑은 고딕"/>
                <a:cs typeface="Calibri"/>
              </a:rPr>
              <a:t> </a:t>
            </a:r>
            <a:r>
              <a:rPr lang="en-US" altLang="ko-KR" sz="2150" b="0" dirty="0">
                <a:solidFill>
                  <a:srgbClr val="1F2328">
                    <a:alpha val="0"/>
                  </a:srgbClr>
                </a:solidFill>
                <a:latin typeface="Calibri"/>
                <a:ea typeface="맑은 고딕"/>
                <a:cs typeface="Calibri"/>
              </a:rPr>
              <a:t>Big data has already changed the world greatly.</a:t>
            </a:r>
            <a:r>
              <a:rPr lang="en-US" altLang="ko-KR" sz="2150" b="0" dirty="0">
                <a:solidFill>
                  <a:srgbClr val="1F2328">
                    <a:alpha val="0"/>
                  </a:srgbClr>
                </a:solidFill>
                <a:latin typeface="Calibri"/>
                <a:ea typeface="맑은 고딕"/>
                <a:cs typeface="Calibri"/>
              </a:rPr>
              <a:t>   </a:t>
            </a:r>
            <a:r>
              <a:rPr lang="ko-KR" altLang="en-US" sz="2150" b="1" dirty="0">
                <a:solidFill>
                  <a:srgbClr val="1E2A5A">
                    <a:alpha val="0"/>
                  </a:srgbClr>
                </a:solidFill>
                <a:latin typeface="맑은 고딕"/>
                <a:ea typeface="맑은 고딕"/>
                <a:cs typeface="맑은 고딕"/>
              </a:rPr>
              <a:t>⑥</a:t>
            </a:r>
            <a:r>
              <a:rPr lang="en-US" altLang="ko-KR" sz="2150" b="0" dirty="0">
                <a:solidFill>
                  <a:srgbClr val="1F2328">
                    <a:alpha val="0"/>
                  </a:srgbClr>
                </a:solidFill>
                <a:latin typeface="Calibri"/>
                <a:ea typeface="맑은 고딕"/>
                <a:cs typeface="Calibri"/>
              </a:rPr>
              <a:t> </a:t>
            </a:r>
            <a:r>
              <a:rPr lang="en-US" altLang="ko-KR" sz="2150" b="0" dirty="0">
                <a:solidFill>
                  <a:srgbClr val="1F2328">
                    <a:alpha val="0"/>
                  </a:srgbClr>
                </a:solidFill>
                <a:latin typeface="Calibri"/>
                <a:ea typeface="맑은 고딕"/>
                <a:cs typeface="Calibri"/>
              </a:rPr>
              <a:t>So where will the big data industry go from here?</a:t>
            </a:r>
            <a:r>
              <a:rPr lang="en-US" altLang="ko-KR" sz="2150" b="0" dirty="0">
                <a:solidFill>
                  <a:srgbClr val="1F2328">
                    <a:alpha val="0"/>
                  </a:srgbClr>
                </a:solidFill>
                <a:latin typeface="Calibri"/>
                <a:ea typeface="맑은 고딕"/>
                <a:cs typeface="Calibri"/>
              </a:rPr>
              <a:t>   </a:t>
            </a:r>
            <a:r>
              <a:rPr lang="ko-KR" altLang="en-US" sz="2150" b="1" dirty="0">
                <a:solidFill>
                  <a:srgbClr val="1E2A5A">
                    <a:alpha val="0"/>
                  </a:srgbClr>
                </a:solidFill>
                <a:latin typeface="맑은 고딕"/>
                <a:ea typeface="맑은 고딕"/>
                <a:cs typeface="맑은 고딕"/>
              </a:rPr>
              <a:t>⑦</a:t>
            </a:r>
            <a:r>
              <a:rPr lang="en-US" altLang="ko-KR" sz="2150" b="0" dirty="0">
                <a:solidFill>
                  <a:srgbClr val="1F2328">
                    <a:alpha val="0"/>
                  </a:srgbClr>
                </a:solidFill>
                <a:latin typeface="Calibri"/>
                <a:ea typeface="맑은 고딕"/>
                <a:cs typeface="Calibri"/>
              </a:rPr>
              <a:t> </a:t>
            </a:r>
            <a:r>
              <a:rPr lang="en-US" altLang="ko-KR" sz="2150" b="0" dirty="0">
                <a:solidFill>
                  <a:srgbClr val="1F2328">
                    <a:alpha val="0"/>
                  </a:srgbClr>
                </a:solidFill>
                <a:latin typeface="Calibri"/>
                <a:ea typeface="맑은 고딕"/>
                <a:cs typeface="Calibri"/>
              </a:rPr>
              <a:t>Nobody knows for sure, but experts agree that big data will play a more and more important role in our lives.</a:t>
            </a:r>
            <a:endParaRPr lang="en-US" altLang="ko-KR" sz="2150" b="0" dirty="0">
              <a:solidFill>
                <a:srgbClr val="1F2328"/>
              </a:solidFill>
              <a:latin typeface="Calibri"/>
              <a:ea typeface="맑은 고딕"/>
              <a:cs typeface="Calibri"/>
            </a:endParaRPr>
          </a:p>
        </p:txBody>
      </p:sp>
      <p:sp>
        <p:nvSpPr>
          <p:cNvPr id="12" name="rv_g04"/>
          <p:cNvSpPr txBox="1"/>
          <p:nvPr/>
        </p:nvSpPr>
        <p:spPr>
          <a:xfrm>
            <a:off x="457200" y="950976"/>
            <a:ext cx="11277295" cy="4730496"/>
          </a:xfrm>
          <a:prstGeom prst="rect">
            <a:avLst/>
          </a:prstGeom>
          <a:noFill/>
        </p:spPr>
        <p:txBody>
          <a:bodyPr wrap="square" lIns="228600" tIns="155448" rIns="228600" bIns="155448" anchor="t" rtlCol="0">
            <a:noAutofit/>
          </a:bodyPr>
          <a:lstStyle/>
          <a:p>
            <a:pPr algn="l">
              <a:lnSpc>
                <a:spcPts val="3480"/>
              </a:lnSpc>
              <a:spcBef>
                <a:spcPts val="0"/>
              </a:spcBef>
              <a:spcAft>
                <a:spcPts val="0"/>
              </a:spcAft>
              <a:buNone/>
            </a:pPr>
            <a:r>
              <a:rPr lang="ko-KR" altLang="en-US" sz="2150" b="1" dirty="0">
                <a:solidFill>
                  <a:srgbClr val="1E2A5A">
                    <a:alpha val="0"/>
                  </a:srgbClr>
                </a:solidFill>
                <a:latin typeface="맑은 고딕"/>
                <a:ea typeface="맑은 고딕"/>
                <a:cs typeface="맑은 고딕"/>
              </a:rPr>
              <a:t>①</a:t>
            </a:r>
            <a:r>
              <a:rPr lang="en-US" altLang="ko-KR" sz="2150" b="0" dirty="0">
                <a:solidFill>
                  <a:srgbClr val="1F2328">
                    <a:alpha val="0"/>
                  </a:srgbClr>
                </a:solidFill>
                <a:latin typeface="Calibri"/>
                <a:ea typeface="맑은 고딕"/>
                <a:cs typeface="Calibri"/>
              </a:rPr>
              <a:t> </a:t>
            </a:r>
            <a:r>
              <a:rPr lang="en-US" altLang="ko-KR" sz="2150" b="0" dirty="0">
                <a:solidFill>
                  <a:srgbClr val="1F2328">
                    <a:alpha val="0"/>
                  </a:srgbClr>
                </a:solidFill>
                <a:latin typeface="Calibri"/>
                <a:ea typeface="맑은 고딕"/>
                <a:cs typeface="Calibri"/>
              </a:rPr>
              <a:t>Thanks to big data, police can now predict crime </a:t>
            </a:r>
            <a:r>
              <a:rPr lang="en-US" altLang="ko-KR" sz="2150" b="1" dirty="0">
                <a:solidFill>
                  <a:srgbClr val="1F2328">
                    <a:alpha val="0"/>
                  </a:srgbClr>
                </a:solidFill>
                <a:latin typeface="Calibri"/>
                <a:ea typeface="맑은 고딕"/>
                <a:cs typeface="Calibri"/>
              </a:rPr>
              <a:t>[ </a:t>
            </a:r>
            <a:r>
              <a:rPr lang="en-US" altLang="ko-KR" sz="2150" b="1" dirty="0">
                <a:solidFill>
                  <a:srgbClr val="1F2328">
                    <a:alpha val="0"/>
                  </a:srgbClr>
                </a:solidFill>
                <a:latin typeface="Calibri"/>
                <a:ea typeface="맑은 고딕"/>
                <a:cs typeface="Calibri"/>
              </a:rPr>
              <a:t>before it will happen</a:t>
            </a:r>
            <a:r>
              <a:rPr lang="en-US" altLang="ko-KR" sz="2150" b="1" dirty="0">
                <a:solidFill>
                  <a:srgbClr val="1F2328">
                    <a:alpha val="0"/>
                  </a:srgbClr>
                </a:solidFill>
                <a:latin typeface="Calibri"/>
                <a:ea typeface="맑은 고딕"/>
                <a:cs typeface="Calibri"/>
              </a:rPr>
              <a:t> / </a:t>
            </a:r>
            <a:r>
              <a:rPr lang="en-US" altLang="ko-KR" sz="2150" b="1" dirty="0">
                <a:solidFill>
                  <a:srgbClr val="1F2328">
                    <a:alpha val="0"/>
                  </a:srgbClr>
                </a:solidFill>
                <a:latin typeface="Calibri"/>
                <a:ea typeface="맑은 고딕"/>
                <a:cs typeface="Calibri"/>
              </a:rPr>
              <a:t>before it happens</a:t>
            </a:r>
            <a:r>
              <a:rPr lang="en-US" altLang="ko-KR" sz="2150" b="1" dirty="0">
                <a:solidFill>
                  <a:srgbClr val="1F2328">
                    <a:alpha val="0"/>
                  </a:srgbClr>
                </a:solidFill>
                <a:latin typeface="Calibri"/>
                <a:ea typeface="맑은 고딕"/>
                <a:cs typeface="Calibri"/>
              </a:rPr>
              <a:t> ]</a:t>
            </a:r>
            <a:r>
              <a:rPr lang="en-US" altLang="ko-KR" sz="2150" b="0" dirty="0">
                <a:solidFill>
                  <a:srgbClr val="1F2328">
                    <a:alpha val="0"/>
                  </a:srgbClr>
                </a:solidFill>
                <a:latin typeface="Calibri"/>
                <a:ea typeface="맑은 고딕"/>
                <a:cs typeface="Calibri"/>
              </a:rPr>
              <a:t>.</a:t>
            </a:r>
            <a:r>
              <a:rPr lang="en-US" altLang="ko-KR" sz="2150" b="0" dirty="0">
                <a:solidFill>
                  <a:srgbClr val="1F2328">
                    <a:alpha val="0"/>
                  </a:srgbClr>
                </a:solidFill>
                <a:latin typeface="Calibri"/>
                <a:ea typeface="맑은 고딕"/>
                <a:cs typeface="Calibri"/>
              </a:rPr>
              <a:t>   </a:t>
            </a:r>
            <a:r>
              <a:rPr lang="ko-KR" altLang="en-US" sz="2150" b="1" dirty="0">
                <a:solidFill>
                  <a:srgbClr val="1E2A5A">
                    <a:alpha val="0"/>
                  </a:srgbClr>
                </a:solidFill>
                <a:latin typeface="맑은 고딕"/>
                <a:ea typeface="맑은 고딕"/>
                <a:cs typeface="맑은 고딕"/>
              </a:rPr>
              <a:t>②</a:t>
            </a:r>
            <a:r>
              <a:rPr lang="en-US" altLang="ko-KR" sz="2150" b="0" dirty="0">
                <a:solidFill>
                  <a:srgbClr val="1F2328">
                    <a:alpha val="0"/>
                  </a:srgbClr>
                </a:solidFill>
                <a:latin typeface="Calibri"/>
                <a:ea typeface="맑은 고딕"/>
                <a:cs typeface="Calibri"/>
              </a:rPr>
              <a:t> </a:t>
            </a:r>
            <a:r>
              <a:rPr lang="en-US" altLang="ko-KR" sz="2150" b="1" dirty="0">
                <a:solidFill>
                  <a:srgbClr val="1F2328">
                    <a:alpha val="0"/>
                  </a:srgbClr>
                </a:solidFill>
                <a:latin typeface="Calibri"/>
                <a:ea typeface="맑은 고딕"/>
                <a:cs typeface="Calibri"/>
              </a:rPr>
              <a:t>[ </a:t>
            </a:r>
            <a:r>
              <a:rPr lang="en-US" altLang="ko-KR" sz="2150" b="1" dirty="0">
                <a:solidFill>
                  <a:srgbClr val="1F2328">
                    <a:alpha val="0"/>
                  </a:srgbClr>
                </a:solidFill>
                <a:latin typeface="Calibri"/>
                <a:ea typeface="맑은 고딕"/>
                <a:cs typeface="Calibri"/>
              </a:rPr>
              <a:t>Through the analysis</a:t>
            </a:r>
            <a:r>
              <a:rPr lang="en-US" altLang="ko-KR" sz="2150" b="1" dirty="0">
                <a:solidFill>
                  <a:srgbClr val="1F2328">
                    <a:alpha val="0"/>
                  </a:srgbClr>
                </a:solidFill>
                <a:latin typeface="Calibri"/>
                <a:ea typeface="맑은 고딕"/>
                <a:cs typeface="Calibri"/>
              </a:rPr>
              <a:t> / </a:t>
            </a:r>
            <a:r>
              <a:rPr lang="en-US" altLang="ko-KR" sz="2150" b="1" dirty="0">
                <a:solidFill>
                  <a:srgbClr val="1F2328">
                    <a:alpha val="0"/>
                  </a:srgbClr>
                </a:solidFill>
                <a:latin typeface="Calibri"/>
                <a:ea typeface="맑은 고딕"/>
                <a:cs typeface="Calibri"/>
              </a:rPr>
              <a:t>Though the analysis</a:t>
            </a:r>
            <a:r>
              <a:rPr lang="en-US" altLang="ko-KR" sz="2150" b="1" dirty="0">
                <a:solidFill>
                  <a:srgbClr val="1F2328">
                    <a:alpha val="0"/>
                  </a:srgbClr>
                </a:solidFill>
                <a:latin typeface="Calibri"/>
                <a:ea typeface="맑은 고딕"/>
                <a:cs typeface="Calibri"/>
              </a:rPr>
              <a:t> ]</a:t>
            </a:r>
            <a:r>
              <a:rPr lang="en-US" altLang="ko-KR" sz="2150" b="0" dirty="0">
                <a:solidFill>
                  <a:srgbClr val="1F2328">
                    <a:alpha val="0"/>
                  </a:srgbClr>
                </a:solidFill>
                <a:latin typeface="Calibri"/>
                <a:ea typeface="맑은 고딕"/>
                <a:cs typeface="Calibri"/>
              </a:rPr>
              <a:t> of big data about the type, time and place of crime, police can make a map of crime hot spots.</a:t>
            </a:r>
            <a:r>
              <a:rPr lang="en-US" altLang="ko-KR" sz="2150" b="0" dirty="0">
                <a:solidFill>
                  <a:srgbClr val="1F2328">
                    <a:alpha val="0"/>
                  </a:srgbClr>
                </a:solidFill>
                <a:latin typeface="Calibri"/>
                <a:ea typeface="맑은 고딕"/>
                <a:cs typeface="Calibri"/>
              </a:rPr>
              <a:t>   </a:t>
            </a:r>
            <a:r>
              <a:rPr lang="ko-KR" altLang="en-US" sz="2150" b="1" dirty="0">
                <a:solidFill>
                  <a:srgbClr val="1E2A5A">
                    <a:alpha val="0"/>
                  </a:srgbClr>
                </a:solidFill>
                <a:latin typeface="맑은 고딕"/>
                <a:ea typeface="맑은 고딕"/>
                <a:cs typeface="맑은 고딕"/>
              </a:rPr>
              <a:t>③</a:t>
            </a:r>
            <a:r>
              <a:rPr lang="en-US" altLang="ko-KR" sz="2150" b="0" dirty="0">
                <a:solidFill>
                  <a:srgbClr val="1F2328">
                    <a:alpha val="0"/>
                  </a:srgbClr>
                </a:solidFill>
                <a:latin typeface="Calibri"/>
                <a:ea typeface="맑은 고딕"/>
                <a:cs typeface="Calibri"/>
              </a:rPr>
              <a:t> </a:t>
            </a:r>
            <a:r>
              <a:rPr lang="en-US" altLang="ko-KR" sz="2150" b="0" dirty="0">
                <a:solidFill>
                  <a:srgbClr val="1F2328">
                    <a:alpha val="0"/>
                  </a:srgbClr>
                </a:solidFill>
                <a:latin typeface="Calibri"/>
                <a:ea typeface="맑은 고딕"/>
                <a:cs typeface="Calibri"/>
              </a:rPr>
              <a:t>This map identifies when and where crime is most likely to happen.</a:t>
            </a:r>
            <a:r>
              <a:rPr lang="en-US" altLang="ko-KR" sz="2150" b="0" dirty="0">
                <a:solidFill>
                  <a:srgbClr val="1F2328">
                    <a:alpha val="0"/>
                  </a:srgbClr>
                </a:solidFill>
                <a:latin typeface="Calibri"/>
                <a:ea typeface="맑은 고딕"/>
                <a:cs typeface="Calibri"/>
              </a:rPr>
              <a:t>   </a:t>
            </a:r>
            <a:r>
              <a:rPr lang="ko-KR" altLang="en-US" sz="2150" b="1" dirty="0">
                <a:solidFill>
                  <a:srgbClr val="1E2A5A">
                    <a:alpha val="0"/>
                  </a:srgbClr>
                </a:solidFill>
                <a:latin typeface="맑은 고딕"/>
                <a:ea typeface="맑은 고딕"/>
                <a:cs typeface="맑은 고딕"/>
              </a:rPr>
              <a:t>④</a:t>
            </a:r>
            <a:r>
              <a:rPr lang="en-US" altLang="ko-KR" sz="2150" b="0" dirty="0">
                <a:solidFill>
                  <a:srgbClr val="1F2328">
                    <a:alpha val="0"/>
                  </a:srgbClr>
                </a:solidFill>
                <a:latin typeface="Calibri"/>
                <a:ea typeface="맑은 고딕"/>
                <a:cs typeface="Calibri"/>
              </a:rPr>
              <a:t> </a:t>
            </a:r>
            <a:r>
              <a:rPr lang="en-US" altLang="ko-KR" sz="2150" b="0" dirty="0">
                <a:solidFill>
                  <a:srgbClr val="1F2328">
                    <a:alpha val="0"/>
                  </a:srgbClr>
                </a:solidFill>
                <a:latin typeface="Calibri"/>
                <a:ea typeface="맑은 고딕"/>
                <a:cs typeface="Calibri"/>
              </a:rPr>
              <a:t>Police can prevent further crime </a:t>
            </a:r>
            <a:r>
              <a:rPr lang="en-US" altLang="ko-KR" sz="2150" b="1" dirty="0">
                <a:solidFill>
                  <a:srgbClr val="1F2328">
                    <a:alpha val="0"/>
                  </a:srgbClr>
                </a:solidFill>
                <a:latin typeface="Calibri"/>
                <a:ea typeface="맑은 고딕"/>
                <a:cs typeface="Calibri"/>
              </a:rPr>
              <a:t>[ </a:t>
            </a:r>
            <a:r>
              <a:rPr lang="en-US" altLang="ko-KR" sz="2150" b="1" dirty="0">
                <a:solidFill>
                  <a:srgbClr val="1F2328">
                    <a:alpha val="0"/>
                  </a:srgbClr>
                </a:solidFill>
                <a:latin typeface="Calibri"/>
                <a:ea typeface="맑은 고딕"/>
                <a:cs typeface="Calibri"/>
              </a:rPr>
              <a:t>by focused</a:t>
            </a:r>
            <a:r>
              <a:rPr lang="en-US" altLang="ko-KR" sz="2150" b="1" dirty="0">
                <a:solidFill>
                  <a:srgbClr val="1F2328">
                    <a:alpha val="0"/>
                  </a:srgbClr>
                </a:solidFill>
                <a:latin typeface="Calibri"/>
                <a:ea typeface="맑은 고딕"/>
                <a:cs typeface="Calibri"/>
              </a:rPr>
              <a:t> / </a:t>
            </a:r>
            <a:r>
              <a:rPr lang="en-US" altLang="ko-KR" sz="2150" b="1" dirty="0">
                <a:solidFill>
                  <a:srgbClr val="1F2328">
                    <a:alpha val="0"/>
                  </a:srgbClr>
                </a:solidFill>
                <a:latin typeface="Calibri"/>
                <a:ea typeface="맑은 고딕"/>
                <a:cs typeface="Calibri"/>
              </a:rPr>
              <a:t>by focusing</a:t>
            </a:r>
            <a:r>
              <a:rPr lang="en-US" altLang="ko-KR" sz="2150" b="1" dirty="0">
                <a:solidFill>
                  <a:srgbClr val="1F2328">
                    <a:alpha val="0"/>
                  </a:srgbClr>
                </a:solidFill>
                <a:latin typeface="Calibri"/>
                <a:ea typeface="맑은 고딕"/>
                <a:cs typeface="Calibri"/>
              </a:rPr>
              <a:t> ]</a:t>
            </a:r>
            <a:r>
              <a:rPr lang="en-US" altLang="ko-KR" sz="2150" b="0" dirty="0">
                <a:solidFill>
                  <a:srgbClr val="1F2328">
                    <a:alpha val="0"/>
                  </a:srgbClr>
                </a:solidFill>
                <a:latin typeface="Calibri"/>
                <a:ea typeface="맑은 고딕"/>
                <a:cs typeface="Calibri"/>
              </a:rPr>
              <a:t> on the areas and the times </a:t>
            </a:r>
            <a:r>
              <a:rPr lang="en-US" altLang="ko-KR" sz="2150" b="1" dirty="0">
                <a:solidFill>
                  <a:srgbClr val="1F2328">
                    <a:alpha val="0"/>
                  </a:srgbClr>
                </a:solidFill>
                <a:latin typeface="Calibri"/>
                <a:ea typeface="맑은 고딕"/>
                <a:cs typeface="Calibri"/>
              </a:rPr>
              <a:t>[ </a:t>
            </a:r>
            <a:r>
              <a:rPr lang="en-US" altLang="ko-KR" sz="2150" b="1" dirty="0">
                <a:solidFill>
                  <a:srgbClr val="C00000"/>
                </a:solidFill>
                <a:highlight>
                  <a:srgbClr val="F3F5F9"/>
                </a:highlight>
                <a:latin typeface="Calibri"/>
                <a:ea typeface="맑은 고딕"/>
                <a:cs typeface="Calibri"/>
              </a:rPr>
              <a:t>this map predicts</a:t>
            </a:r>
            <a:r>
              <a:rPr lang="en-US" altLang="ko-KR" sz="2150" b="1" dirty="0">
                <a:solidFill>
                  <a:srgbClr val="1F2328">
                    <a:alpha val="0"/>
                  </a:srgbClr>
                </a:solidFill>
                <a:latin typeface="Calibri"/>
                <a:ea typeface="맑은 고딕"/>
                <a:cs typeface="Calibri"/>
              </a:rPr>
              <a:t> / </a:t>
            </a:r>
            <a:r>
              <a:rPr lang="en-US" altLang="ko-KR" sz="2150" b="1" dirty="0">
                <a:solidFill>
                  <a:srgbClr val="1F2328">
                    <a:alpha val="0"/>
                  </a:srgbClr>
                </a:solidFill>
                <a:latin typeface="Calibri"/>
                <a:ea typeface="맑은 고딕"/>
                <a:cs typeface="Calibri"/>
              </a:rPr>
              <a:t>this map predict</a:t>
            </a:r>
            <a:r>
              <a:rPr lang="en-US" altLang="ko-KR" sz="2150" b="1" dirty="0">
                <a:solidFill>
                  <a:srgbClr val="1F2328">
                    <a:alpha val="0"/>
                  </a:srgbClr>
                </a:solidFill>
                <a:latin typeface="Calibri"/>
                <a:ea typeface="맑은 고딕"/>
                <a:cs typeface="Calibri"/>
              </a:rPr>
              <a:t> ]</a:t>
            </a:r>
            <a:r>
              <a:rPr lang="en-US" altLang="ko-KR" sz="2150" b="0" dirty="0">
                <a:solidFill>
                  <a:srgbClr val="1F2328">
                    <a:alpha val="0"/>
                  </a:srgbClr>
                </a:solidFill>
                <a:latin typeface="Calibri"/>
                <a:ea typeface="맑은 고딕"/>
                <a:cs typeface="Calibri"/>
              </a:rPr>
              <a:t>.</a:t>
            </a:r>
            <a:r>
              <a:rPr lang="en-US" altLang="ko-KR" sz="2150" b="0" dirty="0">
                <a:solidFill>
                  <a:srgbClr val="1F2328">
                    <a:alpha val="0"/>
                  </a:srgbClr>
                </a:solidFill>
                <a:latin typeface="Calibri"/>
                <a:ea typeface="맑은 고딕"/>
                <a:cs typeface="Calibri"/>
              </a:rPr>
              <a:t>   </a:t>
            </a:r>
            <a:r>
              <a:rPr lang="ko-KR" altLang="en-US" sz="2150" b="1" dirty="0">
                <a:solidFill>
                  <a:srgbClr val="1E2A5A">
                    <a:alpha val="0"/>
                  </a:srgbClr>
                </a:solidFill>
                <a:latin typeface="맑은 고딕"/>
                <a:ea typeface="맑은 고딕"/>
                <a:cs typeface="맑은 고딕"/>
              </a:rPr>
              <a:t>⑤</a:t>
            </a:r>
            <a:r>
              <a:rPr lang="en-US" altLang="ko-KR" sz="2150" b="0" dirty="0">
                <a:solidFill>
                  <a:srgbClr val="1F2328">
                    <a:alpha val="0"/>
                  </a:srgbClr>
                </a:solidFill>
                <a:latin typeface="Calibri"/>
                <a:ea typeface="맑은 고딕"/>
                <a:cs typeface="Calibri"/>
              </a:rPr>
              <a:t> </a:t>
            </a:r>
            <a:r>
              <a:rPr lang="en-US" altLang="ko-KR" sz="2150" b="0" dirty="0">
                <a:solidFill>
                  <a:srgbClr val="1F2328">
                    <a:alpha val="0"/>
                  </a:srgbClr>
                </a:solidFill>
                <a:latin typeface="Calibri"/>
                <a:ea typeface="맑은 고딕"/>
                <a:cs typeface="Calibri"/>
              </a:rPr>
              <a:t>Big data has already changed the world greatly.</a:t>
            </a:r>
            <a:r>
              <a:rPr lang="en-US" altLang="ko-KR" sz="2150" b="0" dirty="0">
                <a:solidFill>
                  <a:srgbClr val="1F2328">
                    <a:alpha val="0"/>
                  </a:srgbClr>
                </a:solidFill>
                <a:latin typeface="Calibri"/>
                <a:ea typeface="맑은 고딕"/>
                <a:cs typeface="Calibri"/>
              </a:rPr>
              <a:t>   </a:t>
            </a:r>
            <a:r>
              <a:rPr lang="ko-KR" altLang="en-US" sz="2150" b="1" dirty="0">
                <a:solidFill>
                  <a:srgbClr val="1E2A5A">
                    <a:alpha val="0"/>
                  </a:srgbClr>
                </a:solidFill>
                <a:latin typeface="맑은 고딕"/>
                <a:ea typeface="맑은 고딕"/>
                <a:cs typeface="맑은 고딕"/>
              </a:rPr>
              <a:t>⑥</a:t>
            </a:r>
            <a:r>
              <a:rPr lang="en-US" altLang="ko-KR" sz="2150" b="0" dirty="0">
                <a:solidFill>
                  <a:srgbClr val="1F2328">
                    <a:alpha val="0"/>
                  </a:srgbClr>
                </a:solidFill>
                <a:latin typeface="Calibri"/>
                <a:ea typeface="맑은 고딕"/>
                <a:cs typeface="Calibri"/>
              </a:rPr>
              <a:t> </a:t>
            </a:r>
            <a:r>
              <a:rPr lang="en-US" altLang="ko-KR" sz="2150" b="0" dirty="0">
                <a:solidFill>
                  <a:srgbClr val="1F2328">
                    <a:alpha val="0"/>
                  </a:srgbClr>
                </a:solidFill>
                <a:latin typeface="Calibri"/>
                <a:ea typeface="맑은 고딕"/>
                <a:cs typeface="Calibri"/>
              </a:rPr>
              <a:t>So where will the big data industry go from here?</a:t>
            </a:r>
            <a:r>
              <a:rPr lang="en-US" altLang="ko-KR" sz="2150" b="0" dirty="0">
                <a:solidFill>
                  <a:srgbClr val="1F2328">
                    <a:alpha val="0"/>
                  </a:srgbClr>
                </a:solidFill>
                <a:latin typeface="Calibri"/>
                <a:ea typeface="맑은 고딕"/>
                <a:cs typeface="Calibri"/>
              </a:rPr>
              <a:t>   </a:t>
            </a:r>
            <a:r>
              <a:rPr lang="ko-KR" altLang="en-US" sz="2150" b="1" dirty="0">
                <a:solidFill>
                  <a:srgbClr val="1E2A5A">
                    <a:alpha val="0"/>
                  </a:srgbClr>
                </a:solidFill>
                <a:latin typeface="맑은 고딕"/>
                <a:ea typeface="맑은 고딕"/>
                <a:cs typeface="맑은 고딕"/>
              </a:rPr>
              <a:t>⑦</a:t>
            </a:r>
            <a:r>
              <a:rPr lang="en-US" altLang="ko-KR" sz="2150" b="0" dirty="0">
                <a:solidFill>
                  <a:srgbClr val="1F2328">
                    <a:alpha val="0"/>
                  </a:srgbClr>
                </a:solidFill>
                <a:latin typeface="Calibri"/>
                <a:ea typeface="맑은 고딕"/>
                <a:cs typeface="Calibri"/>
              </a:rPr>
              <a:t> </a:t>
            </a:r>
            <a:r>
              <a:rPr lang="en-US" altLang="ko-KR" sz="2150" b="0" dirty="0">
                <a:solidFill>
                  <a:srgbClr val="1F2328">
                    <a:alpha val="0"/>
                  </a:srgbClr>
                </a:solidFill>
                <a:latin typeface="Calibri"/>
                <a:ea typeface="맑은 고딕"/>
                <a:cs typeface="Calibri"/>
              </a:rPr>
              <a:t>Nobody knows for sure, but experts agree that big data will play a more and more important role in our lives.</a:t>
            </a:r>
            <a:endParaRPr lang="en-US" altLang="ko-KR" sz="2150" b="0" dirty="0">
              <a:solidFill>
                <a:srgbClr val="1F2328"/>
              </a:solidFill>
              <a:latin typeface="Calibri"/>
              <a:ea typeface="맑은 고딕"/>
              <a:cs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25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25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25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25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Lst>
  </p:timing>
</p:sld>
</file>

<file path=ppt/slides/slide20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L7-4</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3 · ②</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다음 글의 각 [  ] 안에서 문맥상 알맞은 것을 고르시오.</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7</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클릭할 때마다 괄호 속 정답이 앞에서부터 하나씩 빨간색으로 나타납니다 (총 4개)</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5172456"/>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5172456"/>
          </a:xfrm>
          <a:prstGeom prst="rect">
            <a:avLst/>
          </a:prstGeom>
          <a:noFill/>
        </p:spPr>
        <p:txBody>
          <a:bodyPr wrap="square" lIns="228600" tIns="155448" rIns="228600" bIns="155448" anchor="t" rtlCol="0">
            <a:noAutofit/>
          </a:bodyPr>
          <a:lstStyle/>
          <a:p>
            <a:pPr algn="l">
              <a:lnSpc>
                <a:spcPts val="3480"/>
              </a:lnSpc>
              <a:spcBef>
                <a:spcPts val="0"/>
              </a:spcBef>
              <a:spcAft>
                <a:spcPts val="0"/>
              </a:spcAft>
              <a:buNone/>
            </a:pPr>
            <a:r>
              <a:rPr lang="ko-KR" altLang="en-US" sz="2150" b="1" dirty="0">
                <a:solidFill>
                  <a:srgbClr val="1E2A5A"/>
                </a:solidFill>
                <a:latin typeface="맑은 고딕"/>
                <a:ea typeface="맑은 고딕"/>
                <a:cs typeface="맑은 고딕"/>
              </a:rPr>
              <a:t>①</a:t>
            </a:r>
            <a:r>
              <a:rPr lang="en-US" altLang="ko-KR" sz="2150" b="0" dirty="0">
                <a:solidFill>
                  <a:srgbClr val="1F2328"/>
                </a:solidFill>
                <a:latin typeface="Calibri"/>
                <a:ea typeface="맑은 고딕"/>
                <a:cs typeface="Calibri"/>
              </a:rPr>
              <a:t> </a:t>
            </a:r>
            <a:r>
              <a:rPr lang="en-US" altLang="ko-KR" sz="2150" b="0" dirty="0">
                <a:solidFill>
                  <a:srgbClr val="1F2328"/>
                </a:solidFill>
                <a:latin typeface="Calibri"/>
                <a:ea typeface="맑은 고딕"/>
                <a:cs typeface="Calibri"/>
              </a:rPr>
              <a:t>Thanks to big data, police </a:t>
            </a:r>
            <a:r>
              <a:rPr lang="en-US" altLang="ko-KR" sz="2150" b="1" dirty="0">
                <a:solidFill>
                  <a:srgbClr val="1F2328"/>
                </a:solidFill>
                <a:latin typeface="Calibri"/>
                <a:ea typeface="맑은 고딕"/>
                <a:cs typeface="Calibri"/>
              </a:rPr>
              <a:t>[ </a:t>
            </a:r>
            <a:r>
              <a:rPr lang="en-US" altLang="ko-KR" sz="2150" b="1" dirty="0">
                <a:solidFill>
                  <a:srgbClr val="1F2328"/>
                </a:solidFill>
                <a:latin typeface="Calibri"/>
                <a:ea typeface="맑은 고딕"/>
                <a:cs typeface="Calibri"/>
              </a:rPr>
              <a:t>can now predict</a:t>
            </a:r>
            <a:r>
              <a:rPr lang="en-US" altLang="ko-KR" sz="2150" b="1" dirty="0">
                <a:solidFill>
                  <a:srgbClr val="1F2328"/>
                </a:solidFill>
                <a:latin typeface="Calibri"/>
                <a:ea typeface="맑은 고딕"/>
                <a:cs typeface="Calibri"/>
              </a:rPr>
              <a:t> / </a:t>
            </a:r>
            <a:r>
              <a:rPr lang="en-US" altLang="ko-KR" sz="2150" b="1" dirty="0">
                <a:solidFill>
                  <a:srgbClr val="1F2328"/>
                </a:solidFill>
                <a:latin typeface="Calibri"/>
                <a:ea typeface="맑은 고딕"/>
                <a:cs typeface="Calibri"/>
              </a:rPr>
              <a:t>can now be predicted</a:t>
            </a:r>
            <a:r>
              <a:rPr lang="en-US" altLang="ko-KR" sz="2150" b="1" dirty="0">
                <a:solidFill>
                  <a:srgbClr val="1F2328"/>
                </a:solidFill>
                <a:latin typeface="Calibri"/>
                <a:ea typeface="맑은 고딕"/>
                <a:cs typeface="Calibri"/>
              </a:rPr>
              <a:t> ]</a:t>
            </a:r>
            <a:r>
              <a:rPr lang="en-US" altLang="ko-KR" sz="2150" b="0" dirty="0">
                <a:solidFill>
                  <a:srgbClr val="1F2328"/>
                </a:solidFill>
                <a:latin typeface="Calibri"/>
                <a:ea typeface="맑은 고딕"/>
                <a:cs typeface="Calibri"/>
              </a:rPr>
              <a:t> crime before it happens.</a:t>
            </a:r>
            <a:r>
              <a:rPr lang="en-US" altLang="ko-KR" sz="2150" b="0" dirty="0">
                <a:solidFill>
                  <a:srgbClr val="1F2328"/>
                </a:solidFill>
                <a:latin typeface="Calibri"/>
                <a:ea typeface="맑은 고딕"/>
                <a:cs typeface="Calibri"/>
              </a:rPr>
              <a:t>   </a:t>
            </a:r>
            <a:r>
              <a:rPr lang="ko-KR" altLang="en-US" sz="2150" b="1" dirty="0">
                <a:solidFill>
                  <a:srgbClr val="1E2A5A"/>
                </a:solidFill>
                <a:latin typeface="맑은 고딕"/>
                <a:ea typeface="맑은 고딕"/>
                <a:cs typeface="맑은 고딕"/>
              </a:rPr>
              <a:t>②</a:t>
            </a:r>
            <a:r>
              <a:rPr lang="en-US" altLang="ko-KR" sz="2150" b="0" dirty="0">
                <a:solidFill>
                  <a:srgbClr val="1F2328"/>
                </a:solidFill>
                <a:latin typeface="Calibri"/>
                <a:ea typeface="맑은 고딕"/>
                <a:cs typeface="Calibri"/>
              </a:rPr>
              <a:t> </a:t>
            </a:r>
            <a:r>
              <a:rPr lang="en-US" altLang="ko-KR" sz="2150" b="0" dirty="0">
                <a:solidFill>
                  <a:srgbClr val="1F2328"/>
                </a:solidFill>
                <a:latin typeface="Calibri"/>
                <a:ea typeface="맑은 고딕"/>
                <a:cs typeface="Calibri"/>
              </a:rPr>
              <a:t>Through the analysis of big data about the type, time and place of crime, police can make a map of crime hot spots.</a:t>
            </a:r>
            <a:r>
              <a:rPr lang="en-US" altLang="ko-KR" sz="2150" b="0" dirty="0">
                <a:solidFill>
                  <a:srgbClr val="1F2328"/>
                </a:solidFill>
                <a:latin typeface="Calibri"/>
                <a:ea typeface="맑은 고딕"/>
                <a:cs typeface="Calibri"/>
              </a:rPr>
              <a:t>   </a:t>
            </a:r>
            <a:r>
              <a:rPr lang="ko-KR" altLang="en-US" sz="2150" b="1" dirty="0">
                <a:solidFill>
                  <a:srgbClr val="1E2A5A"/>
                </a:solidFill>
                <a:latin typeface="맑은 고딕"/>
                <a:ea typeface="맑은 고딕"/>
                <a:cs typeface="맑은 고딕"/>
              </a:rPr>
              <a:t>③</a:t>
            </a:r>
            <a:r>
              <a:rPr lang="en-US" altLang="ko-KR" sz="2150" b="0" dirty="0">
                <a:solidFill>
                  <a:srgbClr val="1F2328"/>
                </a:solidFill>
                <a:latin typeface="Calibri"/>
                <a:ea typeface="맑은 고딕"/>
                <a:cs typeface="Calibri"/>
              </a:rPr>
              <a:t> </a:t>
            </a:r>
            <a:r>
              <a:rPr lang="en-US" altLang="ko-KR" sz="2150" b="0" dirty="0">
                <a:solidFill>
                  <a:srgbClr val="1F2328"/>
                </a:solidFill>
                <a:latin typeface="Calibri"/>
                <a:ea typeface="맑은 고딕"/>
                <a:cs typeface="Calibri"/>
              </a:rPr>
              <a:t>This map identifies when and where crime is most likely to happen.</a:t>
            </a:r>
            <a:r>
              <a:rPr lang="en-US" altLang="ko-KR" sz="2150" b="0" dirty="0">
                <a:solidFill>
                  <a:srgbClr val="1F2328"/>
                </a:solidFill>
                <a:latin typeface="Calibri"/>
                <a:ea typeface="맑은 고딕"/>
                <a:cs typeface="Calibri"/>
              </a:rPr>
              <a:t>   </a:t>
            </a:r>
            <a:r>
              <a:rPr lang="ko-KR" altLang="en-US" sz="2150" b="1" dirty="0">
                <a:solidFill>
                  <a:srgbClr val="1E2A5A"/>
                </a:solidFill>
                <a:latin typeface="맑은 고딕"/>
                <a:ea typeface="맑은 고딕"/>
                <a:cs typeface="맑은 고딕"/>
              </a:rPr>
              <a:t>④</a:t>
            </a:r>
            <a:r>
              <a:rPr lang="en-US" altLang="ko-KR" sz="2150" b="0" dirty="0">
                <a:solidFill>
                  <a:srgbClr val="1F2328"/>
                </a:solidFill>
                <a:latin typeface="Calibri"/>
                <a:ea typeface="맑은 고딕"/>
                <a:cs typeface="Calibri"/>
              </a:rPr>
              <a:t> </a:t>
            </a:r>
            <a:r>
              <a:rPr lang="en-US" altLang="ko-KR" sz="2150" b="0" dirty="0">
                <a:solidFill>
                  <a:srgbClr val="1F2328"/>
                </a:solidFill>
                <a:latin typeface="Calibri"/>
                <a:ea typeface="맑은 고딕"/>
                <a:cs typeface="Calibri"/>
              </a:rPr>
              <a:t>Police can prevent further crime by focusing on the areas and the times this map predicts.</a:t>
            </a:r>
            <a:r>
              <a:rPr lang="en-US" altLang="ko-KR" sz="2150" b="0" dirty="0">
                <a:solidFill>
                  <a:srgbClr val="1F2328"/>
                </a:solidFill>
                <a:latin typeface="Calibri"/>
                <a:ea typeface="맑은 고딕"/>
                <a:cs typeface="Calibri"/>
              </a:rPr>
              <a:t>   </a:t>
            </a:r>
            <a:r>
              <a:rPr lang="ko-KR" altLang="en-US" sz="2150" b="1" dirty="0">
                <a:solidFill>
                  <a:srgbClr val="1E2A5A"/>
                </a:solidFill>
                <a:latin typeface="맑은 고딕"/>
                <a:ea typeface="맑은 고딕"/>
                <a:cs typeface="맑은 고딕"/>
              </a:rPr>
              <a:t>⑤</a:t>
            </a:r>
            <a:r>
              <a:rPr lang="en-US" altLang="ko-KR" sz="2150" b="0" dirty="0">
                <a:solidFill>
                  <a:srgbClr val="1F2328"/>
                </a:solidFill>
                <a:latin typeface="Calibri"/>
                <a:ea typeface="맑은 고딕"/>
                <a:cs typeface="Calibri"/>
              </a:rPr>
              <a:t> </a:t>
            </a:r>
            <a:r>
              <a:rPr lang="en-US" altLang="ko-KR" sz="2150" b="0" dirty="0">
                <a:solidFill>
                  <a:srgbClr val="1F2328"/>
                </a:solidFill>
                <a:latin typeface="Calibri"/>
                <a:ea typeface="맑은 고딕"/>
                <a:cs typeface="Calibri"/>
              </a:rPr>
              <a:t>Big data </a:t>
            </a:r>
            <a:r>
              <a:rPr lang="en-US" altLang="ko-KR" sz="2150" b="1" dirty="0">
                <a:solidFill>
                  <a:srgbClr val="1F2328"/>
                </a:solidFill>
                <a:latin typeface="Calibri"/>
                <a:ea typeface="맑은 고딕"/>
                <a:cs typeface="Calibri"/>
              </a:rPr>
              <a:t>[ </a:t>
            </a:r>
            <a:r>
              <a:rPr lang="en-US" altLang="ko-KR" sz="2150" b="1" dirty="0">
                <a:solidFill>
                  <a:srgbClr val="1F2328"/>
                </a:solidFill>
                <a:latin typeface="Calibri"/>
                <a:ea typeface="맑은 고딕"/>
                <a:cs typeface="Calibri"/>
              </a:rPr>
              <a:t>has already changed</a:t>
            </a:r>
            <a:r>
              <a:rPr lang="en-US" altLang="ko-KR" sz="2150" b="1" dirty="0">
                <a:solidFill>
                  <a:srgbClr val="1F2328"/>
                </a:solidFill>
                <a:latin typeface="Calibri"/>
                <a:ea typeface="맑은 고딕"/>
                <a:cs typeface="Calibri"/>
              </a:rPr>
              <a:t> / </a:t>
            </a:r>
            <a:r>
              <a:rPr lang="en-US" altLang="ko-KR" sz="2150" b="1" dirty="0">
                <a:solidFill>
                  <a:srgbClr val="1F2328"/>
                </a:solidFill>
                <a:latin typeface="Calibri"/>
                <a:ea typeface="맑은 고딕"/>
                <a:cs typeface="Calibri"/>
              </a:rPr>
              <a:t>has already been changed</a:t>
            </a:r>
            <a:r>
              <a:rPr lang="en-US" altLang="ko-KR" sz="2150" b="1" dirty="0">
                <a:solidFill>
                  <a:srgbClr val="1F2328"/>
                </a:solidFill>
                <a:latin typeface="Calibri"/>
                <a:ea typeface="맑은 고딕"/>
                <a:cs typeface="Calibri"/>
              </a:rPr>
              <a:t> ]</a:t>
            </a:r>
            <a:r>
              <a:rPr lang="en-US" altLang="ko-KR" sz="2150" b="0" dirty="0">
                <a:solidFill>
                  <a:srgbClr val="1F2328"/>
                </a:solidFill>
                <a:latin typeface="Calibri"/>
                <a:ea typeface="맑은 고딕"/>
                <a:cs typeface="Calibri"/>
              </a:rPr>
              <a:t> the world greatly.</a:t>
            </a:r>
            <a:r>
              <a:rPr lang="en-US" altLang="ko-KR" sz="2150" b="0" dirty="0">
                <a:solidFill>
                  <a:srgbClr val="1F2328"/>
                </a:solidFill>
                <a:latin typeface="Calibri"/>
                <a:ea typeface="맑은 고딕"/>
                <a:cs typeface="Calibri"/>
              </a:rPr>
              <a:t>   </a:t>
            </a:r>
            <a:r>
              <a:rPr lang="ko-KR" altLang="en-US" sz="2150" b="1" dirty="0">
                <a:solidFill>
                  <a:srgbClr val="1E2A5A"/>
                </a:solidFill>
                <a:latin typeface="맑은 고딕"/>
                <a:ea typeface="맑은 고딕"/>
                <a:cs typeface="맑은 고딕"/>
              </a:rPr>
              <a:t>⑥</a:t>
            </a:r>
            <a:r>
              <a:rPr lang="en-US" altLang="ko-KR" sz="2150" b="0" dirty="0">
                <a:solidFill>
                  <a:srgbClr val="1F2328"/>
                </a:solidFill>
                <a:latin typeface="Calibri"/>
                <a:ea typeface="맑은 고딕"/>
                <a:cs typeface="Calibri"/>
              </a:rPr>
              <a:t> </a:t>
            </a:r>
            <a:r>
              <a:rPr lang="en-US" altLang="ko-KR" sz="2150" b="0" dirty="0">
                <a:solidFill>
                  <a:srgbClr val="1F2328"/>
                </a:solidFill>
                <a:latin typeface="Calibri"/>
                <a:ea typeface="맑은 고딕"/>
                <a:cs typeface="Calibri"/>
              </a:rPr>
              <a:t>So where will the big data industry go from here?</a:t>
            </a:r>
            <a:r>
              <a:rPr lang="en-US" altLang="ko-KR" sz="2150" b="0" dirty="0">
                <a:solidFill>
                  <a:srgbClr val="1F2328"/>
                </a:solidFill>
                <a:latin typeface="Calibri"/>
                <a:ea typeface="맑은 고딕"/>
                <a:cs typeface="Calibri"/>
              </a:rPr>
              <a:t>   </a:t>
            </a:r>
            <a:r>
              <a:rPr lang="ko-KR" altLang="en-US" sz="2150" b="1" dirty="0">
                <a:solidFill>
                  <a:srgbClr val="1E2A5A"/>
                </a:solidFill>
                <a:latin typeface="맑은 고딕"/>
                <a:ea typeface="맑은 고딕"/>
                <a:cs typeface="맑은 고딕"/>
              </a:rPr>
              <a:t>⑦</a:t>
            </a:r>
            <a:r>
              <a:rPr lang="en-US" altLang="ko-KR" sz="2150" b="0" dirty="0">
                <a:solidFill>
                  <a:srgbClr val="1F2328"/>
                </a:solidFill>
                <a:latin typeface="Calibri"/>
                <a:ea typeface="맑은 고딕"/>
                <a:cs typeface="Calibri"/>
              </a:rPr>
              <a:t> </a:t>
            </a:r>
            <a:r>
              <a:rPr lang="en-US" altLang="ko-KR" sz="2150" b="0" dirty="0">
                <a:solidFill>
                  <a:srgbClr val="1F2328"/>
                </a:solidFill>
                <a:latin typeface="Calibri"/>
                <a:ea typeface="맑은 고딕"/>
                <a:cs typeface="Calibri"/>
              </a:rPr>
              <a:t>Nobody knows for sure, but experts agree </a:t>
            </a:r>
            <a:r>
              <a:rPr lang="en-US" altLang="ko-KR" sz="2150" b="1" dirty="0">
                <a:solidFill>
                  <a:srgbClr val="1F2328"/>
                </a:solidFill>
                <a:latin typeface="Calibri"/>
                <a:ea typeface="맑은 고딕"/>
                <a:cs typeface="Calibri"/>
              </a:rPr>
              <a:t>[ </a:t>
            </a:r>
            <a:r>
              <a:rPr lang="en-US" altLang="ko-KR" sz="2150" b="1" dirty="0">
                <a:solidFill>
                  <a:srgbClr val="1F2328"/>
                </a:solidFill>
                <a:latin typeface="Calibri"/>
                <a:ea typeface="맑은 고딕"/>
                <a:cs typeface="Calibri"/>
              </a:rPr>
              <a:t>that big data</a:t>
            </a:r>
            <a:r>
              <a:rPr lang="en-US" altLang="ko-KR" sz="2150" b="1" dirty="0">
                <a:solidFill>
                  <a:srgbClr val="1F2328"/>
                </a:solidFill>
                <a:latin typeface="Calibri"/>
                <a:ea typeface="맑은 고딕"/>
                <a:cs typeface="Calibri"/>
              </a:rPr>
              <a:t> / </a:t>
            </a:r>
            <a:r>
              <a:rPr lang="en-US" altLang="ko-KR" sz="2150" b="1" dirty="0">
                <a:solidFill>
                  <a:srgbClr val="1F2328"/>
                </a:solidFill>
                <a:latin typeface="Calibri"/>
                <a:ea typeface="맑은 고딕"/>
                <a:cs typeface="Calibri"/>
              </a:rPr>
              <a:t>what big data</a:t>
            </a:r>
            <a:r>
              <a:rPr lang="en-US" altLang="ko-KR" sz="2150" b="1" dirty="0">
                <a:solidFill>
                  <a:srgbClr val="1F2328"/>
                </a:solidFill>
                <a:latin typeface="Calibri"/>
                <a:ea typeface="맑은 고딕"/>
                <a:cs typeface="Calibri"/>
              </a:rPr>
              <a:t> ]</a:t>
            </a:r>
            <a:r>
              <a:rPr lang="en-US" altLang="ko-KR" sz="2150" b="0" dirty="0">
                <a:solidFill>
                  <a:srgbClr val="1F2328"/>
                </a:solidFill>
                <a:latin typeface="Calibri"/>
                <a:ea typeface="맑은 고딕"/>
                <a:cs typeface="Calibri"/>
              </a:rPr>
              <a:t> will play a </a:t>
            </a:r>
            <a:r>
              <a:rPr lang="en-US" altLang="ko-KR" sz="2150" b="1" dirty="0">
                <a:solidFill>
                  <a:srgbClr val="1F2328"/>
                </a:solidFill>
                <a:latin typeface="Calibri"/>
                <a:ea typeface="맑은 고딕"/>
                <a:cs typeface="Calibri"/>
              </a:rPr>
              <a:t>[ </a:t>
            </a:r>
            <a:r>
              <a:rPr lang="en-US" altLang="ko-KR" sz="2150" b="1" dirty="0">
                <a:solidFill>
                  <a:srgbClr val="1F2328"/>
                </a:solidFill>
                <a:latin typeface="Calibri"/>
                <a:ea typeface="맑은 고딕"/>
                <a:cs typeface="Calibri"/>
              </a:rPr>
              <a:t>more and more important</a:t>
            </a:r>
            <a:r>
              <a:rPr lang="en-US" altLang="ko-KR" sz="2150" b="1" dirty="0">
                <a:solidFill>
                  <a:srgbClr val="1F2328"/>
                </a:solidFill>
                <a:latin typeface="Calibri"/>
                <a:ea typeface="맑은 고딕"/>
                <a:cs typeface="Calibri"/>
              </a:rPr>
              <a:t> / </a:t>
            </a:r>
            <a:r>
              <a:rPr lang="en-US" altLang="ko-KR" sz="2150" b="1" dirty="0">
                <a:solidFill>
                  <a:srgbClr val="1F2328"/>
                </a:solidFill>
                <a:latin typeface="Calibri"/>
                <a:ea typeface="맑은 고딕"/>
                <a:cs typeface="Calibri"/>
              </a:rPr>
              <a:t>more and more importantly</a:t>
            </a:r>
            <a:r>
              <a:rPr lang="en-US" altLang="ko-KR" sz="2150" b="1" dirty="0">
                <a:solidFill>
                  <a:srgbClr val="1F2328"/>
                </a:solidFill>
                <a:latin typeface="Calibri"/>
                <a:ea typeface="맑은 고딕"/>
                <a:cs typeface="Calibri"/>
              </a:rPr>
              <a:t> ]</a:t>
            </a:r>
            <a:r>
              <a:rPr lang="en-US" altLang="ko-KR" sz="2150" b="0" dirty="0">
                <a:solidFill>
                  <a:srgbClr val="1F2328"/>
                </a:solidFill>
                <a:latin typeface="Calibri"/>
                <a:ea typeface="맑은 고딕"/>
                <a:cs typeface="Calibri"/>
              </a:rPr>
              <a:t> role in our lives.</a:t>
            </a:r>
            <a:endParaRPr lang="en-US" altLang="ko-KR" sz="2150" b="0" dirty="0">
              <a:solidFill>
                <a:srgbClr val="1F2328"/>
              </a:solidFill>
              <a:latin typeface="Calibri"/>
              <a:ea typeface="맑은 고딕"/>
              <a:cs typeface="Calibri"/>
            </a:endParaRPr>
          </a:p>
        </p:txBody>
      </p:sp>
      <p:sp>
        <p:nvSpPr>
          <p:cNvPr id="9" name="rv_g01"/>
          <p:cNvSpPr txBox="1"/>
          <p:nvPr/>
        </p:nvSpPr>
        <p:spPr>
          <a:xfrm>
            <a:off x="457200" y="950976"/>
            <a:ext cx="11277295" cy="5172456"/>
          </a:xfrm>
          <a:prstGeom prst="rect">
            <a:avLst/>
          </a:prstGeom>
          <a:noFill/>
        </p:spPr>
        <p:txBody>
          <a:bodyPr wrap="square" lIns="228600" tIns="155448" rIns="228600" bIns="155448" anchor="t" rtlCol="0">
            <a:noAutofit/>
          </a:bodyPr>
          <a:lstStyle/>
          <a:p>
            <a:pPr algn="l">
              <a:lnSpc>
                <a:spcPts val="3480"/>
              </a:lnSpc>
              <a:spcBef>
                <a:spcPts val="0"/>
              </a:spcBef>
              <a:spcAft>
                <a:spcPts val="0"/>
              </a:spcAft>
              <a:buNone/>
            </a:pPr>
            <a:r>
              <a:rPr lang="ko-KR" altLang="en-US" sz="2150" b="1" dirty="0">
                <a:solidFill>
                  <a:srgbClr val="1E2A5A">
                    <a:alpha val="0"/>
                  </a:srgbClr>
                </a:solidFill>
                <a:latin typeface="맑은 고딕"/>
                <a:ea typeface="맑은 고딕"/>
                <a:cs typeface="맑은 고딕"/>
              </a:rPr>
              <a:t>①</a:t>
            </a:r>
            <a:r>
              <a:rPr lang="en-US" altLang="ko-KR" sz="2150" b="0" dirty="0">
                <a:solidFill>
                  <a:srgbClr val="1F2328">
                    <a:alpha val="0"/>
                  </a:srgbClr>
                </a:solidFill>
                <a:latin typeface="Calibri"/>
                <a:ea typeface="맑은 고딕"/>
                <a:cs typeface="Calibri"/>
              </a:rPr>
              <a:t> </a:t>
            </a:r>
            <a:r>
              <a:rPr lang="en-US" altLang="ko-KR" sz="2150" b="0" dirty="0">
                <a:solidFill>
                  <a:srgbClr val="1F2328">
                    <a:alpha val="0"/>
                  </a:srgbClr>
                </a:solidFill>
                <a:latin typeface="Calibri"/>
                <a:ea typeface="맑은 고딕"/>
                <a:cs typeface="Calibri"/>
              </a:rPr>
              <a:t>Thanks to big data, police </a:t>
            </a:r>
            <a:r>
              <a:rPr lang="en-US" altLang="ko-KR" sz="2150" b="1" dirty="0">
                <a:solidFill>
                  <a:srgbClr val="1F2328">
                    <a:alpha val="0"/>
                  </a:srgbClr>
                </a:solidFill>
                <a:latin typeface="Calibri"/>
                <a:ea typeface="맑은 고딕"/>
                <a:cs typeface="Calibri"/>
              </a:rPr>
              <a:t>[ </a:t>
            </a:r>
            <a:r>
              <a:rPr lang="en-US" altLang="ko-KR" sz="2150" b="1" dirty="0">
                <a:solidFill>
                  <a:srgbClr val="C00000"/>
                </a:solidFill>
                <a:highlight>
                  <a:srgbClr val="F3F5F9"/>
                </a:highlight>
                <a:latin typeface="Calibri"/>
                <a:ea typeface="맑은 고딕"/>
                <a:cs typeface="Calibri"/>
              </a:rPr>
              <a:t>can now predict</a:t>
            </a:r>
            <a:r>
              <a:rPr lang="en-US" altLang="ko-KR" sz="2150" b="1" dirty="0">
                <a:solidFill>
                  <a:srgbClr val="1F2328">
                    <a:alpha val="0"/>
                  </a:srgbClr>
                </a:solidFill>
                <a:latin typeface="Calibri"/>
                <a:ea typeface="맑은 고딕"/>
                <a:cs typeface="Calibri"/>
              </a:rPr>
              <a:t> / </a:t>
            </a:r>
            <a:r>
              <a:rPr lang="en-US" altLang="ko-KR" sz="2150" b="1" dirty="0">
                <a:solidFill>
                  <a:srgbClr val="1F2328">
                    <a:alpha val="0"/>
                  </a:srgbClr>
                </a:solidFill>
                <a:latin typeface="Calibri"/>
                <a:ea typeface="맑은 고딕"/>
                <a:cs typeface="Calibri"/>
              </a:rPr>
              <a:t>can now be predicted</a:t>
            </a:r>
            <a:r>
              <a:rPr lang="en-US" altLang="ko-KR" sz="2150" b="1" dirty="0">
                <a:solidFill>
                  <a:srgbClr val="1F2328">
                    <a:alpha val="0"/>
                  </a:srgbClr>
                </a:solidFill>
                <a:latin typeface="Calibri"/>
                <a:ea typeface="맑은 고딕"/>
                <a:cs typeface="Calibri"/>
              </a:rPr>
              <a:t> ]</a:t>
            </a:r>
            <a:r>
              <a:rPr lang="en-US" altLang="ko-KR" sz="2150" b="0" dirty="0">
                <a:solidFill>
                  <a:srgbClr val="1F2328">
                    <a:alpha val="0"/>
                  </a:srgbClr>
                </a:solidFill>
                <a:latin typeface="Calibri"/>
                <a:ea typeface="맑은 고딕"/>
                <a:cs typeface="Calibri"/>
              </a:rPr>
              <a:t> crime before it happens.</a:t>
            </a:r>
            <a:r>
              <a:rPr lang="en-US" altLang="ko-KR" sz="2150" b="0" dirty="0">
                <a:solidFill>
                  <a:srgbClr val="1F2328">
                    <a:alpha val="0"/>
                  </a:srgbClr>
                </a:solidFill>
                <a:latin typeface="Calibri"/>
                <a:ea typeface="맑은 고딕"/>
                <a:cs typeface="Calibri"/>
              </a:rPr>
              <a:t>   </a:t>
            </a:r>
            <a:r>
              <a:rPr lang="ko-KR" altLang="en-US" sz="2150" b="1" dirty="0">
                <a:solidFill>
                  <a:srgbClr val="1E2A5A">
                    <a:alpha val="0"/>
                  </a:srgbClr>
                </a:solidFill>
                <a:latin typeface="맑은 고딕"/>
                <a:ea typeface="맑은 고딕"/>
                <a:cs typeface="맑은 고딕"/>
              </a:rPr>
              <a:t>②</a:t>
            </a:r>
            <a:r>
              <a:rPr lang="en-US" altLang="ko-KR" sz="2150" b="0" dirty="0">
                <a:solidFill>
                  <a:srgbClr val="1F2328">
                    <a:alpha val="0"/>
                  </a:srgbClr>
                </a:solidFill>
                <a:latin typeface="Calibri"/>
                <a:ea typeface="맑은 고딕"/>
                <a:cs typeface="Calibri"/>
              </a:rPr>
              <a:t> </a:t>
            </a:r>
            <a:r>
              <a:rPr lang="en-US" altLang="ko-KR" sz="2150" b="0" dirty="0">
                <a:solidFill>
                  <a:srgbClr val="1F2328">
                    <a:alpha val="0"/>
                  </a:srgbClr>
                </a:solidFill>
                <a:latin typeface="Calibri"/>
                <a:ea typeface="맑은 고딕"/>
                <a:cs typeface="Calibri"/>
              </a:rPr>
              <a:t>Through the analysis of big data about the type, time and place of crime, police can make a map of crime hot spots.</a:t>
            </a:r>
            <a:r>
              <a:rPr lang="en-US" altLang="ko-KR" sz="2150" b="0" dirty="0">
                <a:solidFill>
                  <a:srgbClr val="1F2328">
                    <a:alpha val="0"/>
                  </a:srgbClr>
                </a:solidFill>
                <a:latin typeface="Calibri"/>
                <a:ea typeface="맑은 고딕"/>
                <a:cs typeface="Calibri"/>
              </a:rPr>
              <a:t>   </a:t>
            </a:r>
            <a:r>
              <a:rPr lang="ko-KR" altLang="en-US" sz="2150" b="1" dirty="0">
                <a:solidFill>
                  <a:srgbClr val="1E2A5A">
                    <a:alpha val="0"/>
                  </a:srgbClr>
                </a:solidFill>
                <a:latin typeface="맑은 고딕"/>
                <a:ea typeface="맑은 고딕"/>
                <a:cs typeface="맑은 고딕"/>
              </a:rPr>
              <a:t>③</a:t>
            </a:r>
            <a:r>
              <a:rPr lang="en-US" altLang="ko-KR" sz="2150" b="0" dirty="0">
                <a:solidFill>
                  <a:srgbClr val="1F2328">
                    <a:alpha val="0"/>
                  </a:srgbClr>
                </a:solidFill>
                <a:latin typeface="Calibri"/>
                <a:ea typeface="맑은 고딕"/>
                <a:cs typeface="Calibri"/>
              </a:rPr>
              <a:t> </a:t>
            </a:r>
            <a:r>
              <a:rPr lang="en-US" altLang="ko-KR" sz="2150" b="0" dirty="0">
                <a:solidFill>
                  <a:srgbClr val="1F2328">
                    <a:alpha val="0"/>
                  </a:srgbClr>
                </a:solidFill>
                <a:latin typeface="Calibri"/>
                <a:ea typeface="맑은 고딕"/>
                <a:cs typeface="Calibri"/>
              </a:rPr>
              <a:t>This map identifies when and where crime is most likely to happen.</a:t>
            </a:r>
            <a:r>
              <a:rPr lang="en-US" altLang="ko-KR" sz="2150" b="0" dirty="0">
                <a:solidFill>
                  <a:srgbClr val="1F2328">
                    <a:alpha val="0"/>
                  </a:srgbClr>
                </a:solidFill>
                <a:latin typeface="Calibri"/>
                <a:ea typeface="맑은 고딕"/>
                <a:cs typeface="Calibri"/>
              </a:rPr>
              <a:t>   </a:t>
            </a:r>
            <a:r>
              <a:rPr lang="ko-KR" altLang="en-US" sz="2150" b="1" dirty="0">
                <a:solidFill>
                  <a:srgbClr val="1E2A5A">
                    <a:alpha val="0"/>
                  </a:srgbClr>
                </a:solidFill>
                <a:latin typeface="맑은 고딕"/>
                <a:ea typeface="맑은 고딕"/>
                <a:cs typeface="맑은 고딕"/>
              </a:rPr>
              <a:t>④</a:t>
            </a:r>
            <a:r>
              <a:rPr lang="en-US" altLang="ko-KR" sz="2150" b="0" dirty="0">
                <a:solidFill>
                  <a:srgbClr val="1F2328">
                    <a:alpha val="0"/>
                  </a:srgbClr>
                </a:solidFill>
                <a:latin typeface="Calibri"/>
                <a:ea typeface="맑은 고딕"/>
                <a:cs typeface="Calibri"/>
              </a:rPr>
              <a:t> </a:t>
            </a:r>
            <a:r>
              <a:rPr lang="en-US" altLang="ko-KR" sz="2150" b="0" dirty="0">
                <a:solidFill>
                  <a:srgbClr val="1F2328">
                    <a:alpha val="0"/>
                  </a:srgbClr>
                </a:solidFill>
                <a:latin typeface="Calibri"/>
                <a:ea typeface="맑은 고딕"/>
                <a:cs typeface="Calibri"/>
              </a:rPr>
              <a:t>Police can prevent further crime by focusing on the areas and the times this map predicts.</a:t>
            </a:r>
            <a:r>
              <a:rPr lang="en-US" altLang="ko-KR" sz="2150" b="0" dirty="0">
                <a:solidFill>
                  <a:srgbClr val="1F2328">
                    <a:alpha val="0"/>
                  </a:srgbClr>
                </a:solidFill>
                <a:latin typeface="Calibri"/>
                <a:ea typeface="맑은 고딕"/>
                <a:cs typeface="Calibri"/>
              </a:rPr>
              <a:t>   </a:t>
            </a:r>
            <a:r>
              <a:rPr lang="ko-KR" altLang="en-US" sz="2150" b="1" dirty="0">
                <a:solidFill>
                  <a:srgbClr val="1E2A5A">
                    <a:alpha val="0"/>
                  </a:srgbClr>
                </a:solidFill>
                <a:latin typeface="맑은 고딕"/>
                <a:ea typeface="맑은 고딕"/>
                <a:cs typeface="맑은 고딕"/>
              </a:rPr>
              <a:t>⑤</a:t>
            </a:r>
            <a:r>
              <a:rPr lang="en-US" altLang="ko-KR" sz="2150" b="0" dirty="0">
                <a:solidFill>
                  <a:srgbClr val="1F2328">
                    <a:alpha val="0"/>
                  </a:srgbClr>
                </a:solidFill>
                <a:latin typeface="Calibri"/>
                <a:ea typeface="맑은 고딕"/>
                <a:cs typeface="Calibri"/>
              </a:rPr>
              <a:t> </a:t>
            </a:r>
            <a:r>
              <a:rPr lang="en-US" altLang="ko-KR" sz="2150" b="0" dirty="0">
                <a:solidFill>
                  <a:srgbClr val="1F2328">
                    <a:alpha val="0"/>
                  </a:srgbClr>
                </a:solidFill>
                <a:latin typeface="Calibri"/>
                <a:ea typeface="맑은 고딕"/>
                <a:cs typeface="Calibri"/>
              </a:rPr>
              <a:t>Big data </a:t>
            </a:r>
            <a:r>
              <a:rPr lang="en-US" altLang="ko-KR" sz="2150" b="1" dirty="0">
                <a:solidFill>
                  <a:srgbClr val="1F2328">
                    <a:alpha val="0"/>
                  </a:srgbClr>
                </a:solidFill>
                <a:latin typeface="Calibri"/>
                <a:ea typeface="맑은 고딕"/>
                <a:cs typeface="Calibri"/>
              </a:rPr>
              <a:t>[ </a:t>
            </a:r>
            <a:r>
              <a:rPr lang="en-US" altLang="ko-KR" sz="2150" b="1" dirty="0">
                <a:solidFill>
                  <a:srgbClr val="1F2328">
                    <a:alpha val="0"/>
                  </a:srgbClr>
                </a:solidFill>
                <a:latin typeface="Calibri"/>
                <a:ea typeface="맑은 고딕"/>
                <a:cs typeface="Calibri"/>
              </a:rPr>
              <a:t>has already changed</a:t>
            </a:r>
            <a:r>
              <a:rPr lang="en-US" altLang="ko-KR" sz="2150" b="1" dirty="0">
                <a:solidFill>
                  <a:srgbClr val="1F2328">
                    <a:alpha val="0"/>
                  </a:srgbClr>
                </a:solidFill>
                <a:latin typeface="Calibri"/>
                <a:ea typeface="맑은 고딕"/>
                <a:cs typeface="Calibri"/>
              </a:rPr>
              <a:t> / </a:t>
            </a:r>
            <a:r>
              <a:rPr lang="en-US" altLang="ko-KR" sz="2150" b="1" dirty="0">
                <a:solidFill>
                  <a:srgbClr val="1F2328">
                    <a:alpha val="0"/>
                  </a:srgbClr>
                </a:solidFill>
                <a:latin typeface="Calibri"/>
                <a:ea typeface="맑은 고딕"/>
                <a:cs typeface="Calibri"/>
              </a:rPr>
              <a:t>has already been changed</a:t>
            </a:r>
            <a:r>
              <a:rPr lang="en-US" altLang="ko-KR" sz="2150" b="1" dirty="0">
                <a:solidFill>
                  <a:srgbClr val="1F2328">
                    <a:alpha val="0"/>
                  </a:srgbClr>
                </a:solidFill>
                <a:latin typeface="Calibri"/>
                <a:ea typeface="맑은 고딕"/>
                <a:cs typeface="Calibri"/>
              </a:rPr>
              <a:t> ]</a:t>
            </a:r>
            <a:r>
              <a:rPr lang="en-US" altLang="ko-KR" sz="2150" b="0" dirty="0">
                <a:solidFill>
                  <a:srgbClr val="1F2328">
                    <a:alpha val="0"/>
                  </a:srgbClr>
                </a:solidFill>
                <a:latin typeface="Calibri"/>
                <a:ea typeface="맑은 고딕"/>
                <a:cs typeface="Calibri"/>
              </a:rPr>
              <a:t> the world greatly.</a:t>
            </a:r>
            <a:r>
              <a:rPr lang="en-US" altLang="ko-KR" sz="2150" b="0" dirty="0">
                <a:solidFill>
                  <a:srgbClr val="1F2328">
                    <a:alpha val="0"/>
                  </a:srgbClr>
                </a:solidFill>
                <a:latin typeface="Calibri"/>
                <a:ea typeface="맑은 고딕"/>
                <a:cs typeface="Calibri"/>
              </a:rPr>
              <a:t>   </a:t>
            </a:r>
            <a:r>
              <a:rPr lang="ko-KR" altLang="en-US" sz="2150" b="1" dirty="0">
                <a:solidFill>
                  <a:srgbClr val="1E2A5A">
                    <a:alpha val="0"/>
                  </a:srgbClr>
                </a:solidFill>
                <a:latin typeface="맑은 고딕"/>
                <a:ea typeface="맑은 고딕"/>
                <a:cs typeface="맑은 고딕"/>
              </a:rPr>
              <a:t>⑥</a:t>
            </a:r>
            <a:r>
              <a:rPr lang="en-US" altLang="ko-KR" sz="2150" b="0" dirty="0">
                <a:solidFill>
                  <a:srgbClr val="1F2328">
                    <a:alpha val="0"/>
                  </a:srgbClr>
                </a:solidFill>
                <a:latin typeface="Calibri"/>
                <a:ea typeface="맑은 고딕"/>
                <a:cs typeface="Calibri"/>
              </a:rPr>
              <a:t> </a:t>
            </a:r>
            <a:r>
              <a:rPr lang="en-US" altLang="ko-KR" sz="2150" b="0" dirty="0">
                <a:solidFill>
                  <a:srgbClr val="1F2328">
                    <a:alpha val="0"/>
                  </a:srgbClr>
                </a:solidFill>
                <a:latin typeface="Calibri"/>
                <a:ea typeface="맑은 고딕"/>
                <a:cs typeface="Calibri"/>
              </a:rPr>
              <a:t>So where will the big data industry go from here?</a:t>
            </a:r>
            <a:r>
              <a:rPr lang="en-US" altLang="ko-KR" sz="2150" b="0" dirty="0">
                <a:solidFill>
                  <a:srgbClr val="1F2328">
                    <a:alpha val="0"/>
                  </a:srgbClr>
                </a:solidFill>
                <a:latin typeface="Calibri"/>
                <a:ea typeface="맑은 고딕"/>
                <a:cs typeface="Calibri"/>
              </a:rPr>
              <a:t>   </a:t>
            </a:r>
            <a:r>
              <a:rPr lang="ko-KR" altLang="en-US" sz="2150" b="1" dirty="0">
                <a:solidFill>
                  <a:srgbClr val="1E2A5A">
                    <a:alpha val="0"/>
                  </a:srgbClr>
                </a:solidFill>
                <a:latin typeface="맑은 고딕"/>
                <a:ea typeface="맑은 고딕"/>
                <a:cs typeface="맑은 고딕"/>
              </a:rPr>
              <a:t>⑦</a:t>
            </a:r>
            <a:r>
              <a:rPr lang="en-US" altLang="ko-KR" sz="2150" b="0" dirty="0">
                <a:solidFill>
                  <a:srgbClr val="1F2328">
                    <a:alpha val="0"/>
                  </a:srgbClr>
                </a:solidFill>
                <a:latin typeface="Calibri"/>
                <a:ea typeface="맑은 고딕"/>
                <a:cs typeface="Calibri"/>
              </a:rPr>
              <a:t> </a:t>
            </a:r>
            <a:r>
              <a:rPr lang="en-US" altLang="ko-KR" sz="2150" b="0" dirty="0">
                <a:solidFill>
                  <a:srgbClr val="1F2328">
                    <a:alpha val="0"/>
                  </a:srgbClr>
                </a:solidFill>
                <a:latin typeface="Calibri"/>
                <a:ea typeface="맑은 고딕"/>
                <a:cs typeface="Calibri"/>
              </a:rPr>
              <a:t>Nobody knows for sure, but experts agree </a:t>
            </a:r>
            <a:r>
              <a:rPr lang="en-US" altLang="ko-KR" sz="2150" b="1" dirty="0">
                <a:solidFill>
                  <a:srgbClr val="1F2328">
                    <a:alpha val="0"/>
                  </a:srgbClr>
                </a:solidFill>
                <a:latin typeface="Calibri"/>
                <a:ea typeface="맑은 고딕"/>
                <a:cs typeface="Calibri"/>
              </a:rPr>
              <a:t>[ </a:t>
            </a:r>
            <a:r>
              <a:rPr lang="en-US" altLang="ko-KR" sz="2150" b="1" dirty="0">
                <a:solidFill>
                  <a:srgbClr val="1F2328">
                    <a:alpha val="0"/>
                  </a:srgbClr>
                </a:solidFill>
                <a:latin typeface="Calibri"/>
                <a:ea typeface="맑은 고딕"/>
                <a:cs typeface="Calibri"/>
              </a:rPr>
              <a:t>that big data</a:t>
            </a:r>
            <a:r>
              <a:rPr lang="en-US" altLang="ko-KR" sz="2150" b="1" dirty="0">
                <a:solidFill>
                  <a:srgbClr val="1F2328">
                    <a:alpha val="0"/>
                  </a:srgbClr>
                </a:solidFill>
                <a:latin typeface="Calibri"/>
                <a:ea typeface="맑은 고딕"/>
                <a:cs typeface="Calibri"/>
              </a:rPr>
              <a:t> / </a:t>
            </a:r>
            <a:r>
              <a:rPr lang="en-US" altLang="ko-KR" sz="2150" b="1" dirty="0">
                <a:solidFill>
                  <a:srgbClr val="1F2328">
                    <a:alpha val="0"/>
                  </a:srgbClr>
                </a:solidFill>
                <a:latin typeface="Calibri"/>
                <a:ea typeface="맑은 고딕"/>
                <a:cs typeface="Calibri"/>
              </a:rPr>
              <a:t>what big data</a:t>
            </a:r>
            <a:r>
              <a:rPr lang="en-US" altLang="ko-KR" sz="2150" b="1" dirty="0">
                <a:solidFill>
                  <a:srgbClr val="1F2328">
                    <a:alpha val="0"/>
                  </a:srgbClr>
                </a:solidFill>
                <a:latin typeface="Calibri"/>
                <a:ea typeface="맑은 고딕"/>
                <a:cs typeface="Calibri"/>
              </a:rPr>
              <a:t> ]</a:t>
            </a:r>
            <a:r>
              <a:rPr lang="en-US" altLang="ko-KR" sz="2150" b="0" dirty="0">
                <a:solidFill>
                  <a:srgbClr val="1F2328">
                    <a:alpha val="0"/>
                  </a:srgbClr>
                </a:solidFill>
                <a:latin typeface="Calibri"/>
                <a:ea typeface="맑은 고딕"/>
                <a:cs typeface="Calibri"/>
              </a:rPr>
              <a:t> will play a </a:t>
            </a:r>
            <a:r>
              <a:rPr lang="en-US" altLang="ko-KR" sz="2150" b="1" dirty="0">
                <a:solidFill>
                  <a:srgbClr val="1F2328">
                    <a:alpha val="0"/>
                  </a:srgbClr>
                </a:solidFill>
                <a:latin typeface="Calibri"/>
                <a:ea typeface="맑은 고딕"/>
                <a:cs typeface="Calibri"/>
              </a:rPr>
              <a:t>[ </a:t>
            </a:r>
            <a:r>
              <a:rPr lang="en-US" altLang="ko-KR" sz="2150" b="1" dirty="0">
                <a:solidFill>
                  <a:srgbClr val="1F2328">
                    <a:alpha val="0"/>
                  </a:srgbClr>
                </a:solidFill>
                <a:latin typeface="Calibri"/>
                <a:ea typeface="맑은 고딕"/>
                <a:cs typeface="Calibri"/>
              </a:rPr>
              <a:t>more and more important</a:t>
            </a:r>
            <a:r>
              <a:rPr lang="en-US" altLang="ko-KR" sz="2150" b="1" dirty="0">
                <a:solidFill>
                  <a:srgbClr val="1F2328">
                    <a:alpha val="0"/>
                  </a:srgbClr>
                </a:solidFill>
                <a:latin typeface="Calibri"/>
                <a:ea typeface="맑은 고딕"/>
                <a:cs typeface="Calibri"/>
              </a:rPr>
              <a:t> / </a:t>
            </a:r>
            <a:r>
              <a:rPr lang="en-US" altLang="ko-KR" sz="2150" b="1" dirty="0">
                <a:solidFill>
                  <a:srgbClr val="1F2328">
                    <a:alpha val="0"/>
                  </a:srgbClr>
                </a:solidFill>
                <a:latin typeface="Calibri"/>
                <a:ea typeface="맑은 고딕"/>
                <a:cs typeface="Calibri"/>
              </a:rPr>
              <a:t>more and more importantly</a:t>
            </a:r>
            <a:r>
              <a:rPr lang="en-US" altLang="ko-KR" sz="2150" b="1" dirty="0">
                <a:solidFill>
                  <a:srgbClr val="1F2328">
                    <a:alpha val="0"/>
                  </a:srgbClr>
                </a:solidFill>
                <a:latin typeface="Calibri"/>
                <a:ea typeface="맑은 고딕"/>
                <a:cs typeface="Calibri"/>
              </a:rPr>
              <a:t> ]</a:t>
            </a:r>
            <a:r>
              <a:rPr lang="en-US" altLang="ko-KR" sz="2150" b="0" dirty="0">
                <a:solidFill>
                  <a:srgbClr val="1F2328">
                    <a:alpha val="0"/>
                  </a:srgbClr>
                </a:solidFill>
                <a:latin typeface="Calibri"/>
                <a:ea typeface="맑은 고딕"/>
                <a:cs typeface="Calibri"/>
              </a:rPr>
              <a:t> role in our lives.</a:t>
            </a:r>
            <a:endParaRPr lang="en-US" altLang="ko-KR" sz="2150" b="0" dirty="0">
              <a:solidFill>
                <a:srgbClr val="1F2328"/>
              </a:solidFill>
              <a:latin typeface="Calibri"/>
              <a:ea typeface="맑은 고딕"/>
              <a:cs typeface="Calibri"/>
            </a:endParaRPr>
          </a:p>
        </p:txBody>
      </p:sp>
      <p:sp>
        <p:nvSpPr>
          <p:cNvPr id="10" name="rv_g02"/>
          <p:cNvSpPr txBox="1"/>
          <p:nvPr/>
        </p:nvSpPr>
        <p:spPr>
          <a:xfrm>
            <a:off x="457200" y="950976"/>
            <a:ext cx="11277295" cy="5172456"/>
          </a:xfrm>
          <a:prstGeom prst="rect">
            <a:avLst/>
          </a:prstGeom>
          <a:noFill/>
        </p:spPr>
        <p:txBody>
          <a:bodyPr wrap="square" lIns="228600" tIns="155448" rIns="228600" bIns="155448" anchor="t" rtlCol="0">
            <a:noAutofit/>
          </a:bodyPr>
          <a:lstStyle/>
          <a:p>
            <a:pPr algn="l">
              <a:lnSpc>
                <a:spcPts val="3480"/>
              </a:lnSpc>
              <a:spcBef>
                <a:spcPts val="0"/>
              </a:spcBef>
              <a:spcAft>
                <a:spcPts val="0"/>
              </a:spcAft>
              <a:buNone/>
            </a:pPr>
            <a:r>
              <a:rPr lang="ko-KR" altLang="en-US" sz="2150" b="1" dirty="0">
                <a:solidFill>
                  <a:srgbClr val="1E2A5A">
                    <a:alpha val="0"/>
                  </a:srgbClr>
                </a:solidFill>
                <a:latin typeface="맑은 고딕"/>
                <a:ea typeface="맑은 고딕"/>
                <a:cs typeface="맑은 고딕"/>
              </a:rPr>
              <a:t>①</a:t>
            </a:r>
            <a:r>
              <a:rPr lang="en-US" altLang="ko-KR" sz="2150" b="0" dirty="0">
                <a:solidFill>
                  <a:srgbClr val="1F2328">
                    <a:alpha val="0"/>
                  </a:srgbClr>
                </a:solidFill>
                <a:latin typeface="Calibri"/>
                <a:ea typeface="맑은 고딕"/>
                <a:cs typeface="Calibri"/>
              </a:rPr>
              <a:t> </a:t>
            </a:r>
            <a:r>
              <a:rPr lang="en-US" altLang="ko-KR" sz="2150" b="0" dirty="0">
                <a:solidFill>
                  <a:srgbClr val="1F2328">
                    <a:alpha val="0"/>
                  </a:srgbClr>
                </a:solidFill>
                <a:latin typeface="Calibri"/>
                <a:ea typeface="맑은 고딕"/>
                <a:cs typeface="Calibri"/>
              </a:rPr>
              <a:t>Thanks to big data, police </a:t>
            </a:r>
            <a:r>
              <a:rPr lang="en-US" altLang="ko-KR" sz="2150" b="1" dirty="0">
                <a:solidFill>
                  <a:srgbClr val="1F2328">
                    <a:alpha val="0"/>
                  </a:srgbClr>
                </a:solidFill>
                <a:latin typeface="Calibri"/>
                <a:ea typeface="맑은 고딕"/>
                <a:cs typeface="Calibri"/>
              </a:rPr>
              <a:t>[ </a:t>
            </a:r>
            <a:r>
              <a:rPr lang="en-US" altLang="ko-KR" sz="2150" b="1" dirty="0">
                <a:solidFill>
                  <a:srgbClr val="1F2328">
                    <a:alpha val="0"/>
                  </a:srgbClr>
                </a:solidFill>
                <a:latin typeface="Calibri"/>
                <a:ea typeface="맑은 고딕"/>
                <a:cs typeface="Calibri"/>
              </a:rPr>
              <a:t>can now predict</a:t>
            </a:r>
            <a:r>
              <a:rPr lang="en-US" altLang="ko-KR" sz="2150" b="1" dirty="0">
                <a:solidFill>
                  <a:srgbClr val="1F2328">
                    <a:alpha val="0"/>
                  </a:srgbClr>
                </a:solidFill>
                <a:latin typeface="Calibri"/>
                <a:ea typeface="맑은 고딕"/>
                <a:cs typeface="Calibri"/>
              </a:rPr>
              <a:t> / </a:t>
            </a:r>
            <a:r>
              <a:rPr lang="en-US" altLang="ko-KR" sz="2150" b="1" dirty="0">
                <a:solidFill>
                  <a:srgbClr val="1F2328">
                    <a:alpha val="0"/>
                  </a:srgbClr>
                </a:solidFill>
                <a:latin typeface="Calibri"/>
                <a:ea typeface="맑은 고딕"/>
                <a:cs typeface="Calibri"/>
              </a:rPr>
              <a:t>can now be predicted</a:t>
            </a:r>
            <a:r>
              <a:rPr lang="en-US" altLang="ko-KR" sz="2150" b="1" dirty="0">
                <a:solidFill>
                  <a:srgbClr val="1F2328">
                    <a:alpha val="0"/>
                  </a:srgbClr>
                </a:solidFill>
                <a:latin typeface="Calibri"/>
                <a:ea typeface="맑은 고딕"/>
                <a:cs typeface="Calibri"/>
              </a:rPr>
              <a:t> ]</a:t>
            </a:r>
            <a:r>
              <a:rPr lang="en-US" altLang="ko-KR" sz="2150" b="0" dirty="0">
                <a:solidFill>
                  <a:srgbClr val="1F2328">
                    <a:alpha val="0"/>
                  </a:srgbClr>
                </a:solidFill>
                <a:latin typeface="Calibri"/>
                <a:ea typeface="맑은 고딕"/>
                <a:cs typeface="Calibri"/>
              </a:rPr>
              <a:t> crime before it happens.</a:t>
            </a:r>
            <a:r>
              <a:rPr lang="en-US" altLang="ko-KR" sz="2150" b="0" dirty="0">
                <a:solidFill>
                  <a:srgbClr val="1F2328">
                    <a:alpha val="0"/>
                  </a:srgbClr>
                </a:solidFill>
                <a:latin typeface="Calibri"/>
                <a:ea typeface="맑은 고딕"/>
                <a:cs typeface="Calibri"/>
              </a:rPr>
              <a:t>   </a:t>
            </a:r>
            <a:r>
              <a:rPr lang="ko-KR" altLang="en-US" sz="2150" b="1" dirty="0">
                <a:solidFill>
                  <a:srgbClr val="1E2A5A">
                    <a:alpha val="0"/>
                  </a:srgbClr>
                </a:solidFill>
                <a:latin typeface="맑은 고딕"/>
                <a:ea typeface="맑은 고딕"/>
                <a:cs typeface="맑은 고딕"/>
              </a:rPr>
              <a:t>②</a:t>
            </a:r>
            <a:r>
              <a:rPr lang="en-US" altLang="ko-KR" sz="2150" b="0" dirty="0">
                <a:solidFill>
                  <a:srgbClr val="1F2328">
                    <a:alpha val="0"/>
                  </a:srgbClr>
                </a:solidFill>
                <a:latin typeface="Calibri"/>
                <a:ea typeface="맑은 고딕"/>
                <a:cs typeface="Calibri"/>
              </a:rPr>
              <a:t> </a:t>
            </a:r>
            <a:r>
              <a:rPr lang="en-US" altLang="ko-KR" sz="2150" b="0" dirty="0">
                <a:solidFill>
                  <a:srgbClr val="1F2328">
                    <a:alpha val="0"/>
                  </a:srgbClr>
                </a:solidFill>
                <a:latin typeface="Calibri"/>
                <a:ea typeface="맑은 고딕"/>
                <a:cs typeface="Calibri"/>
              </a:rPr>
              <a:t>Through the analysis of big data about the type, time and place of crime, police can make a map of crime hot spots.</a:t>
            </a:r>
            <a:r>
              <a:rPr lang="en-US" altLang="ko-KR" sz="2150" b="0" dirty="0">
                <a:solidFill>
                  <a:srgbClr val="1F2328">
                    <a:alpha val="0"/>
                  </a:srgbClr>
                </a:solidFill>
                <a:latin typeface="Calibri"/>
                <a:ea typeface="맑은 고딕"/>
                <a:cs typeface="Calibri"/>
              </a:rPr>
              <a:t>   </a:t>
            </a:r>
            <a:r>
              <a:rPr lang="ko-KR" altLang="en-US" sz="2150" b="1" dirty="0">
                <a:solidFill>
                  <a:srgbClr val="1E2A5A">
                    <a:alpha val="0"/>
                  </a:srgbClr>
                </a:solidFill>
                <a:latin typeface="맑은 고딕"/>
                <a:ea typeface="맑은 고딕"/>
                <a:cs typeface="맑은 고딕"/>
              </a:rPr>
              <a:t>③</a:t>
            </a:r>
            <a:r>
              <a:rPr lang="en-US" altLang="ko-KR" sz="2150" b="0" dirty="0">
                <a:solidFill>
                  <a:srgbClr val="1F2328">
                    <a:alpha val="0"/>
                  </a:srgbClr>
                </a:solidFill>
                <a:latin typeface="Calibri"/>
                <a:ea typeface="맑은 고딕"/>
                <a:cs typeface="Calibri"/>
              </a:rPr>
              <a:t> </a:t>
            </a:r>
            <a:r>
              <a:rPr lang="en-US" altLang="ko-KR" sz="2150" b="0" dirty="0">
                <a:solidFill>
                  <a:srgbClr val="1F2328">
                    <a:alpha val="0"/>
                  </a:srgbClr>
                </a:solidFill>
                <a:latin typeface="Calibri"/>
                <a:ea typeface="맑은 고딕"/>
                <a:cs typeface="Calibri"/>
              </a:rPr>
              <a:t>This map identifies when and where crime is most likely to happen.</a:t>
            </a:r>
            <a:r>
              <a:rPr lang="en-US" altLang="ko-KR" sz="2150" b="0" dirty="0">
                <a:solidFill>
                  <a:srgbClr val="1F2328">
                    <a:alpha val="0"/>
                  </a:srgbClr>
                </a:solidFill>
                <a:latin typeface="Calibri"/>
                <a:ea typeface="맑은 고딕"/>
                <a:cs typeface="Calibri"/>
              </a:rPr>
              <a:t>   </a:t>
            </a:r>
            <a:r>
              <a:rPr lang="ko-KR" altLang="en-US" sz="2150" b="1" dirty="0">
                <a:solidFill>
                  <a:srgbClr val="1E2A5A">
                    <a:alpha val="0"/>
                  </a:srgbClr>
                </a:solidFill>
                <a:latin typeface="맑은 고딕"/>
                <a:ea typeface="맑은 고딕"/>
                <a:cs typeface="맑은 고딕"/>
              </a:rPr>
              <a:t>④</a:t>
            </a:r>
            <a:r>
              <a:rPr lang="en-US" altLang="ko-KR" sz="2150" b="0" dirty="0">
                <a:solidFill>
                  <a:srgbClr val="1F2328">
                    <a:alpha val="0"/>
                  </a:srgbClr>
                </a:solidFill>
                <a:latin typeface="Calibri"/>
                <a:ea typeface="맑은 고딕"/>
                <a:cs typeface="Calibri"/>
              </a:rPr>
              <a:t> </a:t>
            </a:r>
            <a:r>
              <a:rPr lang="en-US" altLang="ko-KR" sz="2150" b="0" dirty="0">
                <a:solidFill>
                  <a:srgbClr val="1F2328">
                    <a:alpha val="0"/>
                  </a:srgbClr>
                </a:solidFill>
                <a:latin typeface="Calibri"/>
                <a:ea typeface="맑은 고딕"/>
                <a:cs typeface="Calibri"/>
              </a:rPr>
              <a:t>Police can prevent further crime by focusing on the areas and the times this map predicts.</a:t>
            </a:r>
            <a:r>
              <a:rPr lang="en-US" altLang="ko-KR" sz="2150" b="0" dirty="0">
                <a:solidFill>
                  <a:srgbClr val="1F2328">
                    <a:alpha val="0"/>
                  </a:srgbClr>
                </a:solidFill>
                <a:latin typeface="Calibri"/>
                <a:ea typeface="맑은 고딕"/>
                <a:cs typeface="Calibri"/>
              </a:rPr>
              <a:t>   </a:t>
            </a:r>
            <a:r>
              <a:rPr lang="ko-KR" altLang="en-US" sz="2150" b="1" dirty="0">
                <a:solidFill>
                  <a:srgbClr val="1E2A5A">
                    <a:alpha val="0"/>
                  </a:srgbClr>
                </a:solidFill>
                <a:latin typeface="맑은 고딕"/>
                <a:ea typeface="맑은 고딕"/>
                <a:cs typeface="맑은 고딕"/>
              </a:rPr>
              <a:t>⑤</a:t>
            </a:r>
            <a:r>
              <a:rPr lang="en-US" altLang="ko-KR" sz="2150" b="0" dirty="0">
                <a:solidFill>
                  <a:srgbClr val="1F2328">
                    <a:alpha val="0"/>
                  </a:srgbClr>
                </a:solidFill>
                <a:latin typeface="Calibri"/>
                <a:ea typeface="맑은 고딕"/>
                <a:cs typeface="Calibri"/>
              </a:rPr>
              <a:t> </a:t>
            </a:r>
            <a:r>
              <a:rPr lang="en-US" altLang="ko-KR" sz="2150" b="0" dirty="0">
                <a:solidFill>
                  <a:srgbClr val="1F2328">
                    <a:alpha val="0"/>
                  </a:srgbClr>
                </a:solidFill>
                <a:latin typeface="Calibri"/>
                <a:ea typeface="맑은 고딕"/>
                <a:cs typeface="Calibri"/>
              </a:rPr>
              <a:t>Big data </a:t>
            </a:r>
            <a:r>
              <a:rPr lang="en-US" altLang="ko-KR" sz="2150" b="1" dirty="0">
                <a:solidFill>
                  <a:srgbClr val="1F2328">
                    <a:alpha val="0"/>
                  </a:srgbClr>
                </a:solidFill>
                <a:latin typeface="Calibri"/>
                <a:ea typeface="맑은 고딕"/>
                <a:cs typeface="Calibri"/>
              </a:rPr>
              <a:t>[ </a:t>
            </a:r>
            <a:r>
              <a:rPr lang="en-US" altLang="ko-KR" sz="2150" b="1" dirty="0">
                <a:solidFill>
                  <a:srgbClr val="C00000"/>
                </a:solidFill>
                <a:highlight>
                  <a:srgbClr val="F3F5F9"/>
                </a:highlight>
                <a:latin typeface="Calibri"/>
                <a:ea typeface="맑은 고딕"/>
                <a:cs typeface="Calibri"/>
              </a:rPr>
              <a:t>has already changed</a:t>
            </a:r>
            <a:r>
              <a:rPr lang="en-US" altLang="ko-KR" sz="2150" b="1" dirty="0">
                <a:solidFill>
                  <a:srgbClr val="1F2328">
                    <a:alpha val="0"/>
                  </a:srgbClr>
                </a:solidFill>
                <a:latin typeface="Calibri"/>
                <a:ea typeface="맑은 고딕"/>
                <a:cs typeface="Calibri"/>
              </a:rPr>
              <a:t> / </a:t>
            </a:r>
            <a:r>
              <a:rPr lang="en-US" altLang="ko-KR" sz="2150" b="1" dirty="0">
                <a:solidFill>
                  <a:srgbClr val="1F2328">
                    <a:alpha val="0"/>
                  </a:srgbClr>
                </a:solidFill>
                <a:latin typeface="Calibri"/>
                <a:ea typeface="맑은 고딕"/>
                <a:cs typeface="Calibri"/>
              </a:rPr>
              <a:t>has already been changed</a:t>
            </a:r>
            <a:r>
              <a:rPr lang="en-US" altLang="ko-KR" sz="2150" b="1" dirty="0">
                <a:solidFill>
                  <a:srgbClr val="1F2328">
                    <a:alpha val="0"/>
                  </a:srgbClr>
                </a:solidFill>
                <a:latin typeface="Calibri"/>
                <a:ea typeface="맑은 고딕"/>
                <a:cs typeface="Calibri"/>
              </a:rPr>
              <a:t> ]</a:t>
            </a:r>
            <a:r>
              <a:rPr lang="en-US" altLang="ko-KR" sz="2150" b="0" dirty="0">
                <a:solidFill>
                  <a:srgbClr val="1F2328">
                    <a:alpha val="0"/>
                  </a:srgbClr>
                </a:solidFill>
                <a:latin typeface="Calibri"/>
                <a:ea typeface="맑은 고딕"/>
                <a:cs typeface="Calibri"/>
              </a:rPr>
              <a:t> the world greatly.</a:t>
            </a:r>
            <a:r>
              <a:rPr lang="en-US" altLang="ko-KR" sz="2150" b="0" dirty="0">
                <a:solidFill>
                  <a:srgbClr val="1F2328">
                    <a:alpha val="0"/>
                  </a:srgbClr>
                </a:solidFill>
                <a:latin typeface="Calibri"/>
                <a:ea typeface="맑은 고딕"/>
                <a:cs typeface="Calibri"/>
              </a:rPr>
              <a:t>   </a:t>
            </a:r>
            <a:r>
              <a:rPr lang="ko-KR" altLang="en-US" sz="2150" b="1" dirty="0">
                <a:solidFill>
                  <a:srgbClr val="1E2A5A">
                    <a:alpha val="0"/>
                  </a:srgbClr>
                </a:solidFill>
                <a:latin typeface="맑은 고딕"/>
                <a:ea typeface="맑은 고딕"/>
                <a:cs typeface="맑은 고딕"/>
              </a:rPr>
              <a:t>⑥</a:t>
            </a:r>
            <a:r>
              <a:rPr lang="en-US" altLang="ko-KR" sz="2150" b="0" dirty="0">
                <a:solidFill>
                  <a:srgbClr val="1F2328">
                    <a:alpha val="0"/>
                  </a:srgbClr>
                </a:solidFill>
                <a:latin typeface="Calibri"/>
                <a:ea typeface="맑은 고딕"/>
                <a:cs typeface="Calibri"/>
              </a:rPr>
              <a:t> </a:t>
            </a:r>
            <a:r>
              <a:rPr lang="en-US" altLang="ko-KR" sz="2150" b="0" dirty="0">
                <a:solidFill>
                  <a:srgbClr val="1F2328">
                    <a:alpha val="0"/>
                  </a:srgbClr>
                </a:solidFill>
                <a:latin typeface="Calibri"/>
                <a:ea typeface="맑은 고딕"/>
                <a:cs typeface="Calibri"/>
              </a:rPr>
              <a:t>So where will the big data industry go from here?</a:t>
            </a:r>
            <a:r>
              <a:rPr lang="en-US" altLang="ko-KR" sz="2150" b="0" dirty="0">
                <a:solidFill>
                  <a:srgbClr val="1F2328">
                    <a:alpha val="0"/>
                  </a:srgbClr>
                </a:solidFill>
                <a:latin typeface="Calibri"/>
                <a:ea typeface="맑은 고딕"/>
                <a:cs typeface="Calibri"/>
              </a:rPr>
              <a:t>   </a:t>
            </a:r>
            <a:r>
              <a:rPr lang="ko-KR" altLang="en-US" sz="2150" b="1" dirty="0">
                <a:solidFill>
                  <a:srgbClr val="1E2A5A">
                    <a:alpha val="0"/>
                  </a:srgbClr>
                </a:solidFill>
                <a:latin typeface="맑은 고딕"/>
                <a:ea typeface="맑은 고딕"/>
                <a:cs typeface="맑은 고딕"/>
              </a:rPr>
              <a:t>⑦</a:t>
            </a:r>
            <a:r>
              <a:rPr lang="en-US" altLang="ko-KR" sz="2150" b="0" dirty="0">
                <a:solidFill>
                  <a:srgbClr val="1F2328">
                    <a:alpha val="0"/>
                  </a:srgbClr>
                </a:solidFill>
                <a:latin typeface="Calibri"/>
                <a:ea typeface="맑은 고딕"/>
                <a:cs typeface="Calibri"/>
              </a:rPr>
              <a:t> </a:t>
            </a:r>
            <a:r>
              <a:rPr lang="en-US" altLang="ko-KR" sz="2150" b="0" dirty="0">
                <a:solidFill>
                  <a:srgbClr val="1F2328">
                    <a:alpha val="0"/>
                  </a:srgbClr>
                </a:solidFill>
                <a:latin typeface="Calibri"/>
                <a:ea typeface="맑은 고딕"/>
                <a:cs typeface="Calibri"/>
              </a:rPr>
              <a:t>Nobody knows for sure, but experts agree </a:t>
            </a:r>
            <a:r>
              <a:rPr lang="en-US" altLang="ko-KR" sz="2150" b="1" dirty="0">
                <a:solidFill>
                  <a:srgbClr val="1F2328">
                    <a:alpha val="0"/>
                  </a:srgbClr>
                </a:solidFill>
                <a:latin typeface="Calibri"/>
                <a:ea typeface="맑은 고딕"/>
                <a:cs typeface="Calibri"/>
              </a:rPr>
              <a:t>[ </a:t>
            </a:r>
            <a:r>
              <a:rPr lang="en-US" altLang="ko-KR" sz="2150" b="1" dirty="0">
                <a:solidFill>
                  <a:srgbClr val="1F2328">
                    <a:alpha val="0"/>
                  </a:srgbClr>
                </a:solidFill>
                <a:latin typeface="Calibri"/>
                <a:ea typeface="맑은 고딕"/>
                <a:cs typeface="Calibri"/>
              </a:rPr>
              <a:t>that big data</a:t>
            </a:r>
            <a:r>
              <a:rPr lang="en-US" altLang="ko-KR" sz="2150" b="1" dirty="0">
                <a:solidFill>
                  <a:srgbClr val="1F2328">
                    <a:alpha val="0"/>
                  </a:srgbClr>
                </a:solidFill>
                <a:latin typeface="Calibri"/>
                <a:ea typeface="맑은 고딕"/>
                <a:cs typeface="Calibri"/>
              </a:rPr>
              <a:t> / </a:t>
            </a:r>
            <a:r>
              <a:rPr lang="en-US" altLang="ko-KR" sz="2150" b="1" dirty="0">
                <a:solidFill>
                  <a:srgbClr val="1F2328">
                    <a:alpha val="0"/>
                  </a:srgbClr>
                </a:solidFill>
                <a:latin typeface="Calibri"/>
                <a:ea typeface="맑은 고딕"/>
                <a:cs typeface="Calibri"/>
              </a:rPr>
              <a:t>what big data</a:t>
            </a:r>
            <a:r>
              <a:rPr lang="en-US" altLang="ko-KR" sz="2150" b="1" dirty="0">
                <a:solidFill>
                  <a:srgbClr val="1F2328">
                    <a:alpha val="0"/>
                  </a:srgbClr>
                </a:solidFill>
                <a:latin typeface="Calibri"/>
                <a:ea typeface="맑은 고딕"/>
                <a:cs typeface="Calibri"/>
              </a:rPr>
              <a:t> ]</a:t>
            </a:r>
            <a:r>
              <a:rPr lang="en-US" altLang="ko-KR" sz="2150" b="0" dirty="0">
                <a:solidFill>
                  <a:srgbClr val="1F2328">
                    <a:alpha val="0"/>
                  </a:srgbClr>
                </a:solidFill>
                <a:latin typeface="Calibri"/>
                <a:ea typeface="맑은 고딕"/>
                <a:cs typeface="Calibri"/>
              </a:rPr>
              <a:t> will play a </a:t>
            </a:r>
            <a:r>
              <a:rPr lang="en-US" altLang="ko-KR" sz="2150" b="1" dirty="0">
                <a:solidFill>
                  <a:srgbClr val="1F2328">
                    <a:alpha val="0"/>
                  </a:srgbClr>
                </a:solidFill>
                <a:latin typeface="Calibri"/>
                <a:ea typeface="맑은 고딕"/>
                <a:cs typeface="Calibri"/>
              </a:rPr>
              <a:t>[ </a:t>
            </a:r>
            <a:r>
              <a:rPr lang="en-US" altLang="ko-KR" sz="2150" b="1" dirty="0">
                <a:solidFill>
                  <a:srgbClr val="1F2328">
                    <a:alpha val="0"/>
                  </a:srgbClr>
                </a:solidFill>
                <a:latin typeface="Calibri"/>
                <a:ea typeface="맑은 고딕"/>
                <a:cs typeface="Calibri"/>
              </a:rPr>
              <a:t>more and more important</a:t>
            </a:r>
            <a:r>
              <a:rPr lang="en-US" altLang="ko-KR" sz="2150" b="1" dirty="0">
                <a:solidFill>
                  <a:srgbClr val="1F2328">
                    <a:alpha val="0"/>
                  </a:srgbClr>
                </a:solidFill>
                <a:latin typeface="Calibri"/>
                <a:ea typeface="맑은 고딕"/>
                <a:cs typeface="Calibri"/>
              </a:rPr>
              <a:t> / </a:t>
            </a:r>
            <a:r>
              <a:rPr lang="en-US" altLang="ko-KR" sz="2150" b="1" dirty="0">
                <a:solidFill>
                  <a:srgbClr val="1F2328">
                    <a:alpha val="0"/>
                  </a:srgbClr>
                </a:solidFill>
                <a:latin typeface="Calibri"/>
                <a:ea typeface="맑은 고딕"/>
                <a:cs typeface="Calibri"/>
              </a:rPr>
              <a:t>more and more importantly</a:t>
            </a:r>
            <a:r>
              <a:rPr lang="en-US" altLang="ko-KR" sz="2150" b="1" dirty="0">
                <a:solidFill>
                  <a:srgbClr val="1F2328">
                    <a:alpha val="0"/>
                  </a:srgbClr>
                </a:solidFill>
                <a:latin typeface="Calibri"/>
                <a:ea typeface="맑은 고딕"/>
                <a:cs typeface="Calibri"/>
              </a:rPr>
              <a:t> ]</a:t>
            </a:r>
            <a:r>
              <a:rPr lang="en-US" altLang="ko-KR" sz="2150" b="0" dirty="0">
                <a:solidFill>
                  <a:srgbClr val="1F2328">
                    <a:alpha val="0"/>
                  </a:srgbClr>
                </a:solidFill>
                <a:latin typeface="Calibri"/>
                <a:ea typeface="맑은 고딕"/>
                <a:cs typeface="Calibri"/>
              </a:rPr>
              <a:t> role in our lives.</a:t>
            </a:r>
            <a:endParaRPr lang="en-US" altLang="ko-KR" sz="2150" b="0" dirty="0">
              <a:solidFill>
                <a:srgbClr val="1F2328"/>
              </a:solidFill>
              <a:latin typeface="Calibri"/>
              <a:ea typeface="맑은 고딕"/>
              <a:cs typeface="Calibri"/>
            </a:endParaRPr>
          </a:p>
        </p:txBody>
      </p:sp>
      <p:sp>
        <p:nvSpPr>
          <p:cNvPr id="11" name="rv_g03"/>
          <p:cNvSpPr txBox="1"/>
          <p:nvPr/>
        </p:nvSpPr>
        <p:spPr>
          <a:xfrm>
            <a:off x="457200" y="950976"/>
            <a:ext cx="11277295" cy="5172456"/>
          </a:xfrm>
          <a:prstGeom prst="rect">
            <a:avLst/>
          </a:prstGeom>
          <a:noFill/>
        </p:spPr>
        <p:txBody>
          <a:bodyPr wrap="square" lIns="228600" tIns="155448" rIns="228600" bIns="155448" anchor="t" rtlCol="0">
            <a:noAutofit/>
          </a:bodyPr>
          <a:lstStyle/>
          <a:p>
            <a:pPr algn="l">
              <a:lnSpc>
                <a:spcPts val="3480"/>
              </a:lnSpc>
              <a:spcBef>
                <a:spcPts val="0"/>
              </a:spcBef>
              <a:spcAft>
                <a:spcPts val="0"/>
              </a:spcAft>
              <a:buNone/>
            </a:pPr>
            <a:r>
              <a:rPr lang="ko-KR" altLang="en-US" sz="2150" b="1" dirty="0">
                <a:solidFill>
                  <a:srgbClr val="1E2A5A">
                    <a:alpha val="0"/>
                  </a:srgbClr>
                </a:solidFill>
                <a:latin typeface="맑은 고딕"/>
                <a:ea typeface="맑은 고딕"/>
                <a:cs typeface="맑은 고딕"/>
              </a:rPr>
              <a:t>①</a:t>
            </a:r>
            <a:r>
              <a:rPr lang="en-US" altLang="ko-KR" sz="2150" b="0" dirty="0">
                <a:solidFill>
                  <a:srgbClr val="1F2328">
                    <a:alpha val="0"/>
                  </a:srgbClr>
                </a:solidFill>
                <a:latin typeface="Calibri"/>
                <a:ea typeface="맑은 고딕"/>
                <a:cs typeface="Calibri"/>
              </a:rPr>
              <a:t> </a:t>
            </a:r>
            <a:r>
              <a:rPr lang="en-US" altLang="ko-KR" sz="2150" b="0" dirty="0">
                <a:solidFill>
                  <a:srgbClr val="1F2328">
                    <a:alpha val="0"/>
                  </a:srgbClr>
                </a:solidFill>
                <a:latin typeface="Calibri"/>
                <a:ea typeface="맑은 고딕"/>
                <a:cs typeface="Calibri"/>
              </a:rPr>
              <a:t>Thanks to big data, police </a:t>
            </a:r>
            <a:r>
              <a:rPr lang="en-US" altLang="ko-KR" sz="2150" b="1" dirty="0">
                <a:solidFill>
                  <a:srgbClr val="1F2328">
                    <a:alpha val="0"/>
                  </a:srgbClr>
                </a:solidFill>
                <a:latin typeface="Calibri"/>
                <a:ea typeface="맑은 고딕"/>
                <a:cs typeface="Calibri"/>
              </a:rPr>
              <a:t>[ </a:t>
            </a:r>
            <a:r>
              <a:rPr lang="en-US" altLang="ko-KR" sz="2150" b="1" dirty="0">
                <a:solidFill>
                  <a:srgbClr val="1F2328">
                    <a:alpha val="0"/>
                  </a:srgbClr>
                </a:solidFill>
                <a:latin typeface="Calibri"/>
                <a:ea typeface="맑은 고딕"/>
                <a:cs typeface="Calibri"/>
              </a:rPr>
              <a:t>can now predict</a:t>
            </a:r>
            <a:r>
              <a:rPr lang="en-US" altLang="ko-KR" sz="2150" b="1" dirty="0">
                <a:solidFill>
                  <a:srgbClr val="1F2328">
                    <a:alpha val="0"/>
                  </a:srgbClr>
                </a:solidFill>
                <a:latin typeface="Calibri"/>
                <a:ea typeface="맑은 고딕"/>
                <a:cs typeface="Calibri"/>
              </a:rPr>
              <a:t> / </a:t>
            </a:r>
            <a:r>
              <a:rPr lang="en-US" altLang="ko-KR" sz="2150" b="1" dirty="0">
                <a:solidFill>
                  <a:srgbClr val="1F2328">
                    <a:alpha val="0"/>
                  </a:srgbClr>
                </a:solidFill>
                <a:latin typeface="Calibri"/>
                <a:ea typeface="맑은 고딕"/>
                <a:cs typeface="Calibri"/>
              </a:rPr>
              <a:t>can now be predicted</a:t>
            </a:r>
            <a:r>
              <a:rPr lang="en-US" altLang="ko-KR" sz="2150" b="1" dirty="0">
                <a:solidFill>
                  <a:srgbClr val="1F2328">
                    <a:alpha val="0"/>
                  </a:srgbClr>
                </a:solidFill>
                <a:latin typeface="Calibri"/>
                <a:ea typeface="맑은 고딕"/>
                <a:cs typeface="Calibri"/>
              </a:rPr>
              <a:t> ]</a:t>
            </a:r>
            <a:r>
              <a:rPr lang="en-US" altLang="ko-KR" sz="2150" b="0" dirty="0">
                <a:solidFill>
                  <a:srgbClr val="1F2328">
                    <a:alpha val="0"/>
                  </a:srgbClr>
                </a:solidFill>
                <a:latin typeface="Calibri"/>
                <a:ea typeface="맑은 고딕"/>
                <a:cs typeface="Calibri"/>
              </a:rPr>
              <a:t> crime before it happens.</a:t>
            </a:r>
            <a:r>
              <a:rPr lang="en-US" altLang="ko-KR" sz="2150" b="0" dirty="0">
                <a:solidFill>
                  <a:srgbClr val="1F2328">
                    <a:alpha val="0"/>
                  </a:srgbClr>
                </a:solidFill>
                <a:latin typeface="Calibri"/>
                <a:ea typeface="맑은 고딕"/>
                <a:cs typeface="Calibri"/>
              </a:rPr>
              <a:t>   </a:t>
            </a:r>
            <a:r>
              <a:rPr lang="ko-KR" altLang="en-US" sz="2150" b="1" dirty="0">
                <a:solidFill>
                  <a:srgbClr val="1E2A5A">
                    <a:alpha val="0"/>
                  </a:srgbClr>
                </a:solidFill>
                <a:latin typeface="맑은 고딕"/>
                <a:ea typeface="맑은 고딕"/>
                <a:cs typeface="맑은 고딕"/>
              </a:rPr>
              <a:t>②</a:t>
            </a:r>
            <a:r>
              <a:rPr lang="en-US" altLang="ko-KR" sz="2150" b="0" dirty="0">
                <a:solidFill>
                  <a:srgbClr val="1F2328">
                    <a:alpha val="0"/>
                  </a:srgbClr>
                </a:solidFill>
                <a:latin typeface="Calibri"/>
                <a:ea typeface="맑은 고딕"/>
                <a:cs typeface="Calibri"/>
              </a:rPr>
              <a:t> </a:t>
            </a:r>
            <a:r>
              <a:rPr lang="en-US" altLang="ko-KR" sz="2150" b="0" dirty="0">
                <a:solidFill>
                  <a:srgbClr val="1F2328">
                    <a:alpha val="0"/>
                  </a:srgbClr>
                </a:solidFill>
                <a:latin typeface="Calibri"/>
                <a:ea typeface="맑은 고딕"/>
                <a:cs typeface="Calibri"/>
              </a:rPr>
              <a:t>Through the analysis of big data about the type, time and place of crime, police can make a map of crime hot spots.</a:t>
            </a:r>
            <a:r>
              <a:rPr lang="en-US" altLang="ko-KR" sz="2150" b="0" dirty="0">
                <a:solidFill>
                  <a:srgbClr val="1F2328">
                    <a:alpha val="0"/>
                  </a:srgbClr>
                </a:solidFill>
                <a:latin typeface="Calibri"/>
                <a:ea typeface="맑은 고딕"/>
                <a:cs typeface="Calibri"/>
              </a:rPr>
              <a:t>   </a:t>
            </a:r>
            <a:r>
              <a:rPr lang="ko-KR" altLang="en-US" sz="2150" b="1" dirty="0">
                <a:solidFill>
                  <a:srgbClr val="1E2A5A">
                    <a:alpha val="0"/>
                  </a:srgbClr>
                </a:solidFill>
                <a:latin typeface="맑은 고딕"/>
                <a:ea typeface="맑은 고딕"/>
                <a:cs typeface="맑은 고딕"/>
              </a:rPr>
              <a:t>③</a:t>
            </a:r>
            <a:r>
              <a:rPr lang="en-US" altLang="ko-KR" sz="2150" b="0" dirty="0">
                <a:solidFill>
                  <a:srgbClr val="1F2328">
                    <a:alpha val="0"/>
                  </a:srgbClr>
                </a:solidFill>
                <a:latin typeface="Calibri"/>
                <a:ea typeface="맑은 고딕"/>
                <a:cs typeface="Calibri"/>
              </a:rPr>
              <a:t> </a:t>
            </a:r>
            <a:r>
              <a:rPr lang="en-US" altLang="ko-KR" sz="2150" b="0" dirty="0">
                <a:solidFill>
                  <a:srgbClr val="1F2328">
                    <a:alpha val="0"/>
                  </a:srgbClr>
                </a:solidFill>
                <a:latin typeface="Calibri"/>
                <a:ea typeface="맑은 고딕"/>
                <a:cs typeface="Calibri"/>
              </a:rPr>
              <a:t>This map identifies when and where crime is most likely to happen.</a:t>
            </a:r>
            <a:r>
              <a:rPr lang="en-US" altLang="ko-KR" sz="2150" b="0" dirty="0">
                <a:solidFill>
                  <a:srgbClr val="1F2328">
                    <a:alpha val="0"/>
                  </a:srgbClr>
                </a:solidFill>
                <a:latin typeface="Calibri"/>
                <a:ea typeface="맑은 고딕"/>
                <a:cs typeface="Calibri"/>
              </a:rPr>
              <a:t>   </a:t>
            </a:r>
            <a:r>
              <a:rPr lang="ko-KR" altLang="en-US" sz="2150" b="1" dirty="0">
                <a:solidFill>
                  <a:srgbClr val="1E2A5A">
                    <a:alpha val="0"/>
                  </a:srgbClr>
                </a:solidFill>
                <a:latin typeface="맑은 고딕"/>
                <a:ea typeface="맑은 고딕"/>
                <a:cs typeface="맑은 고딕"/>
              </a:rPr>
              <a:t>④</a:t>
            </a:r>
            <a:r>
              <a:rPr lang="en-US" altLang="ko-KR" sz="2150" b="0" dirty="0">
                <a:solidFill>
                  <a:srgbClr val="1F2328">
                    <a:alpha val="0"/>
                  </a:srgbClr>
                </a:solidFill>
                <a:latin typeface="Calibri"/>
                <a:ea typeface="맑은 고딕"/>
                <a:cs typeface="Calibri"/>
              </a:rPr>
              <a:t> </a:t>
            </a:r>
            <a:r>
              <a:rPr lang="en-US" altLang="ko-KR" sz="2150" b="0" dirty="0">
                <a:solidFill>
                  <a:srgbClr val="1F2328">
                    <a:alpha val="0"/>
                  </a:srgbClr>
                </a:solidFill>
                <a:latin typeface="Calibri"/>
                <a:ea typeface="맑은 고딕"/>
                <a:cs typeface="Calibri"/>
              </a:rPr>
              <a:t>Police can prevent further crime by focusing on the areas and the times this map predicts.</a:t>
            </a:r>
            <a:r>
              <a:rPr lang="en-US" altLang="ko-KR" sz="2150" b="0" dirty="0">
                <a:solidFill>
                  <a:srgbClr val="1F2328">
                    <a:alpha val="0"/>
                  </a:srgbClr>
                </a:solidFill>
                <a:latin typeface="Calibri"/>
                <a:ea typeface="맑은 고딕"/>
                <a:cs typeface="Calibri"/>
              </a:rPr>
              <a:t>   </a:t>
            </a:r>
            <a:r>
              <a:rPr lang="ko-KR" altLang="en-US" sz="2150" b="1" dirty="0">
                <a:solidFill>
                  <a:srgbClr val="1E2A5A">
                    <a:alpha val="0"/>
                  </a:srgbClr>
                </a:solidFill>
                <a:latin typeface="맑은 고딕"/>
                <a:ea typeface="맑은 고딕"/>
                <a:cs typeface="맑은 고딕"/>
              </a:rPr>
              <a:t>⑤</a:t>
            </a:r>
            <a:r>
              <a:rPr lang="en-US" altLang="ko-KR" sz="2150" b="0" dirty="0">
                <a:solidFill>
                  <a:srgbClr val="1F2328">
                    <a:alpha val="0"/>
                  </a:srgbClr>
                </a:solidFill>
                <a:latin typeface="Calibri"/>
                <a:ea typeface="맑은 고딕"/>
                <a:cs typeface="Calibri"/>
              </a:rPr>
              <a:t> </a:t>
            </a:r>
            <a:r>
              <a:rPr lang="en-US" altLang="ko-KR" sz="2150" b="0" dirty="0">
                <a:solidFill>
                  <a:srgbClr val="1F2328">
                    <a:alpha val="0"/>
                  </a:srgbClr>
                </a:solidFill>
                <a:latin typeface="Calibri"/>
                <a:ea typeface="맑은 고딕"/>
                <a:cs typeface="Calibri"/>
              </a:rPr>
              <a:t>Big data </a:t>
            </a:r>
            <a:r>
              <a:rPr lang="en-US" altLang="ko-KR" sz="2150" b="1" dirty="0">
                <a:solidFill>
                  <a:srgbClr val="1F2328">
                    <a:alpha val="0"/>
                  </a:srgbClr>
                </a:solidFill>
                <a:latin typeface="Calibri"/>
                <a:ea typeface="맑은 고딕"/>
                <a:cs typeface="Calibri"/>
              </a:rPr>
              <a:t>[ </a:t>
            </a:r>
            <a:r>
              <a:rPr lang="en-US" altLang="ko-KR" sz="2150" b="1" dirty="0">
                <a:solidFill>
                  <a:srgbClr val="1F2328">
                    <a:alpha val="0"/>
                  </a:srgbClr>
                </a:solidFill>
                <a:latin typeface="Calibri"/>
                <a:ea typeface="맑은 고딕"/>
                <a:cs typeface="Calibri"/>
              </a:rPr>
              <a:t>has already changed</a:t>
            </a:r>
            <a:r>
              <a:rPr lang="en-US" altLang="ko-KR" sz="2150" b="1" dirty="0">
                <a:solidFill>
                  <a:srgbClr val="1F2328">
                    <a:alpha val="0"/>
                  </a:srgbClr>
                </a:solidFill>
                <a:latin typeface="Calibri"/>
                <a:ea typeface="맑은 고딕"/>
                <a:cs typeface="Calibri"/>
              </a:rPr>
              <a:t> / </a:t>
            </a:r>
            <a:r>
              <a:rPr lang="en-US" altLang="ko-KR" sz="2150" b="1" dirty="0">
                <a:solidFill>
                  <a:srgbClr val="1F2328">
                    <a:alpha val="0"/>
                  </a:srgbClr>
                </a:solidFill>
                <a:latin typeface="Calibri"/>
                <a:ea typeface="맑은 고딕"/>
                <a:cs typeface="Calibri"/>
              </a:rPr>
              <a:t>has already been changed</a:t>
            </a:r>
            <a:r>
              <a:rPr lang="en-US" altLang="ko-KR" sz="2150" b="1" dirty="0">
                <a:solidFill>
                  <a:srgbClr val="1F2328">
                    <a:alpha val="0"/>
                  </a:srgbClr>
                </a:solidFill>
                <a:latin typeface="Calibri"/>
                <a:ea typeface="맑은 고딕"/>
                <a:cs typeface="Calibri"/>
              </a:rPr>
              <a:t> ]</a:t>
            </a:r>
            <a:r>
              <a:rPr lang="en-US" altLang="ko-KR" sz="2150" b="0" dirty="0">
                <a:solidFill>
                  <a:srgbClr val="1F2328">
                    <a:alpha val="0"/>
                  </a:srgbClr>
                </a:solidFill>
                <a:latin typeface="Calibri"/>
                <a:ea typeface="맑은 고딕"/>
                <a:cs typeface="Calibri"/>
              </a:rPr>
              <a:t> the world greatly.</a:t>
            </a:r>
            <a:r>
              <a:rPr lang="en-US" altLang="ko-KR" sz="2150" b="0" dirty="0">
                <a:solidFill>
                  <a:srgbClr val="1F2328">
                    <a:alpha val="0"/>
                  </a:srgbClr>
                </a:solidFill>
                <a:latin typeface="Calibri"/>
                <a:ea typeface="맑은 고딕"/>
                <a:cs typeface="Calibri"/>
              </a:rPr>
              <a:t>   </a:t>
            </a:r>
            <a:r>
              <a:rPr lang="ko-KR" altLang="en-US" sz="2150" b="1" dirty="0">
                <a:solidFill>
                  <a:srgbClr val="1E2A5A">
                    <a:alpha val="0"/>
                  </a:srgbClr>
                </a:solidFill>
                <a:latin typeface="맑은 고딕"/>
                <a:ea typeface="맑은 고딕"/>
                <a:cs typeface="맑은 고딕"/>
              </a:rPr>
              <a:t>⑥</a:t>
            </a:r>
            <a:r>
              <a:rPr lang="en-US" altLang="ko-KR" sz="2150" b="0" dirty="0">
                <a:solidFill>
                  <a:srgbClr val="1F2328">
                    <a:alpha val="0"/>
                  </a:srgbClr>
                </a:solidFill>
                <a:latin typeface="Calibri"/>
                <a:ea typeface="맑은 고딕"/>
                <a:cs typeface="Calibri"/>
              </a:rPr>
              <a:t> </a:t>
            </a:r>
            <a:r>
              <a:rPr lang="en-US" altLang="ko-KR" sz="2150" b="0" dirty="0">
                <a:solidFill>
                  <a:srgbClr val="1F2328">
                    <a:alpha val="0"/>
                  </a:srgbClr>
                </a:solidFill>
                <a:latin typeface="Calibri"/>
                <a:ea typeface="맑은 고딕"/>
                <a:cs typeface="Calibri"/>
              </a:rPr>
              <a:t>So where will the big data industry go from here?</a:t>
            </a:r>
            <a:r>
              <a:rPr lang="en-US" altLang="ko-KR" sz="2150" b="0" dirty="0">
                <a:solidFill>
                  <a:srgbClr val="1F2328">
                    <a:alpha val="0"/>
                  </a:srgbClr>
                </a:solidFill>
                <a:latin typeface="Calibri"/>
                <a:ea typeface="맑은 고딕"/>
                <a:cs typeface="Calibri"/>
              </a:rPr>
              <a:t>   </a:t>
            </a:r>
            <a:r>
              <a:rPr lang="ko-KR" altLang="en-US" sz="2150" b="1" dirty="0">
                <a:solidFill>
                  <a:srgbClr val="1E2A5A">
                    <a:alpha val="0"/>
                  </a:srgbClr>
                </a:solidFill>
                <a:latin typeface="맑은 고딕"/>
                <a:ea typeface="맑은 고딕"/>
                <a:cs typeface="맑은 고딕"/>
              </a:rPr>
              <a:t>⑦</a:t>
            </a:r>
            <a:r>
              <a:rPr lang="en-US" altLang="ko-KR" sz="2150" b="0" dirty="0">
                <a:solidFill>
                  <a:srgbClr val="1F2328">
                    <a:alpha val="0"/>
                  </a:srgbClr>
                </a:solidFill>
                <a:latin typeface="Calibri"/>
                <a:ea typeface="맑은 고딕"/>
                <a:cs typeface="Calibri"/>
              </a:rPr>
              <a:t> </a:t>
            </a:r>
            <a:r>
              <a:rPr lang="en-US" altLang="ko-KR" sz="2150" b="0" dirty="0">
                <a:solidFill>
                  <a:srgbClr val="1F2328">
                    <a:alpha val="0"/>
                  </a:srgbClr>
                </a:solidFill>
                <a:latin typeface="Calibri"/>
                <a:ea typeface="맑은 고딕"/>
                <a:cs typeface="Calibri"/>
              </a:rPr>
              <a:t>Nobody knows for sure, but experts agree </a:t>
            </a:r>
            <a:r>
              <a:rPr lang="en-US" altLang="ko-KR" sz="2150" b="1" dirty="0">
                <a:solidFill>
                  <a:srgbClr val="1F2328">
                    <a:alpha val="0"/>
                  </a:srgbClr>
                </a:solidFill>
                <a:latin typeface="Calibri"/>
                <a:ea typeface="맑은 고딕"/>
                <a:cs typeface="Calibri"/>
              </a:rPr>
              <a:t>[ </a:t>
            </a:r>
            <a:r>
              <a:rPr lang="en-US" altLang="ko-KR" sz="2150" b="1" dirty="0">
                <a:solidFill>
                  <a:srgbClr val="C00000"/>
                </a:solidFill>
                <a:highlight>
                  <a:srgbClr val="F3F5F9"/>
                </a:highlight>
                <a:latin typeface="Calibri"/>
                <a:ea typeface="맑은 고딕"/>
                <a:cs typeface="Calibri"/>
              </a:rPr>
              <a:t>that big data</a:t>
            </a:r>
            <a:r>
              <a:rPr lang="en-US" altLang="ko-KR" sz="2150" b="1" dirty="0">
                <a:solidFill>
                  <a:srgbClr val="1F2328">
                    <a:alpha val="0"/>
                  </a:srgbClr>
                </a:solidFill>
                <a:latin typeface="Calibri"/>
                <a:ea typeface="맑은 고딕"/>
                <a:cs typeface="Calibri"/>
              </a:rPr>
              <a:t> / </a:t>
            </a:r>
            <a:r>
              <a:rPr lang="en-US" altLang="ko-KR" sz="2150" b="1" dirty="0">
                <a:solidFill>
                  <a:srgbClr val="1F2328">
                    <a:alpha val="0"/>
                  </a:srgbClr>
                </a:solidFill>
                <a:latin typeface="Calibri"/>
                <a:ea typeface="맑은 고딕"/>
                <a:cs typeface="Calibri"/>
              </a:rPr>
              <a:t>what big data</a:t>
            </a:r>
            <a:r>
              <a:rPr lang="en-US" altLang="ko-KR" sz="2150" b="1" dirty="0">
                <a:solidFill>
                  <a:srgbClr val="1F2328">
                    <a:alpha val="0"/>
                  </a:srgbClr>
                </a:solidFill>
                <a:latin typeface="Calibri"/>
                <a:ea typeface="맑은 고딕"/>
                <a:cs typeface="Calibri"/>
              </a:rPr>
              <a:t> ]</a:t>
            </a:r>
            <a:r>
              <a:rPr lang="en-US" altLang="ko-KR" sz="2150" b="0" dirty="0">
                <a:solidFill>
                  <a:srgbClr val="1F2328">
                    <a:alpha val="0"/>
                  </a:srgbClr>
                </a:solidFill>
                <a:latin typeface="Calibri"/>
                <a:ea typeface="맑은 고딕"/>
                <a:cs typeface="Calibri"/>
              </a:rPr>
              <a:t> will play a </a:t>
            </a:r>
            <a:r>
              <a:rPr lang="en-US" altLang="ko-KR" sz="2150" b="1" dirty="0">
                <a:solidFill>
                  <a:srgbClr val="1F2328">
                    <a:alpha val="0"/>
                  </a:srgbClr>
                </a:solidFill>
                <a:latin typeface="Calibri"/>
                <a:ea typeface="맑은 고딕"/>
                <a:cs typeface="Calibri"/>
              </a:rPr>
              <a:t>[ </a:t>
            </a:r>
            <a:r>
              <a:rPr lang="en-US" altLang="ko-KR" sz="2150" b="1" dirty="0">
                <a:solidFill>
                  <a:srgbClr val="1F2328">
                    <a:alpha val="0"/>
                  </a:srgbClr>
                </a:solidFill>
                <a:latin typeface="Calibri"/>
                <a:ea typeface="맑은 고딕"/>
                <a:cs typeface="Calibri"/>
              </a:rPr>
              <a:t>more and more important</a:t>
            </a:r>
            <a:r>
              <a:rPr lang="en-US" altLang="ko-KR" sz="2150" b="1" dirty="0">
                <a:solidFill>
                  <a:srgbClr val="1F2328">
                    <a:alpha val="0"/>
                  </a:srgbClr>
                </a:solidFill>
                <a:latin typeface="Calibri"/>
                <a:ea typeface="맑은 고딕"/>
                <a:cs typeface="Calibri"/>
              </a:rPr>
              <a:t> / </a:t>
            </a:r>
            <a:r>
              <a:rPr lang="en-US" altLang="ko-KR" sz="2150" b="1" dirty="0">
                <a:solidFill>
                  <a:srgbClr val="1F2328">
                    <a:alpha val="0"/>
                  </a:srgbClr>
                </a:solidFill>
                <a:latin typeface="Calibri"/>
                <a:ea typeface="맑은 고딕"/>
                <a:cs typeface="Calibri"/>
              </a:rPr>
              <a:t>more and more importantly</a:t>
            </a:r>
            <a:r>
              <a:rPr lang="en-US" altLang="ko-KR" sz="2150" b="1" dirty="0">
                <a:solidFill>
                  <a:srgbClr val="1F2328">
                    <a:alpha val="0"/>
                  </a:srgbClr>
                </a:solidFill>
                <a:latin typeface="Calibri"/>
                <a:ea typeface="맑은 고딕"/>
                <a:cs typeface="Calibri"/>
              </a:rPr>
              <a:t> ]</a:t>
            </a:r>
            <a:r>
              <a:rPr lang="en-US" altLang="ko-KR" sz="2150" b="0" dirty="0">
                <a:solidFill>
                  <a:srgbClr val="1F2328">
                    <a:alpha val="0"/>
                  </a:srgbClr>
                </a:solidFill>
                <a:latin typeface="Calibri"/>
                <a:ea typeface="맑은 고딕"/>
                <a:cs typeface="Calibri"/>
              </a:rPr>
              <a:t> role in our lives.</a:t>
            </a:r>
            <a:endParaRPr lang="en-US" altLang="ko-KR" sz="2150" b="0" dirty="0">
              <a:solidFill>
                <a:srgbClr val="1F2328"/>
              </a:solidFill>
              <a:latin typeface="Calibri"/>
              <a:ea typeface="맑은 고딕"/>
              <a:cs typeface="Calibri"/>
            </a:endParaRPr>
          </a:p>
        </p:txBody>
      </p:sp>
      <p:sp>
        <p:nvSpPr>
          <p:cNvPr id="12" name="rv_g04"/>
          <p:cNvSpPr txBox="1"/>
          <p:nvPr/>
        </p:nvSpPr>
        <p:spPr>
          <a:xfrm>
            <a:off x="457200" y="950976"/>
            <a:ext cx="11277295" cy="5172456"/>
          </a:xfrm>
          <a:prstGeom prst="rect">
            <a:avLst/>
          </a:prstGeom>
          <a:noFill/>
        </p:spPr>
        <p:txBody>
          <a:bodyPr wrap="square" lIns="228600" tIns="155448" rIns="228600" bIns="155448" anchor="t" rtlCol="0">
            <a:noAutofit/>
          </a:bodyPr>
          <a:lstStyle/>
          <a:p>
            <a:pPr algn="l">
              <a:lnSpc>
                <a:spcPts val="3480"/>
              </a:lnSpc>
              <a:spcBef>
                <a:spcPts val="0"/>
              </a:spcBef>
              <a:spcAft>
                <a:spcPts val="0"/>
              </a:spcAft>
              <a:buNone/>
            </a:pPr>
            <a:r>
              <a:rPr lang="ko-KR" altLang="en-US" sz="2150" b="1" dirty="0">
                <a:solidFill>
                  <a:srgbClr val="1E2A5A">
                    <a:alpha val="0"/>
                  </a:srgbClr>
                </a:solidFill>
                <a:latin typeface="맑은 고딕"/>
                <a:ea typeface="맑은 고딕"/>
                <a:cs typeface="맑은 고딕"/>
              </a:rPr>
              <a:t>①</a:t>
            </a:r>
            <a:r>
              <a:rPr lang="en-US" altLang="ko-KR" sz="2150" b="0" dirty="0">
                <a:solidFill>
                  <a:srgbClr val="1F2328">
                    <a:alpha val="0"/>
                  </a:srgbClr>
                </a:solidFill>
                <a:latin typeface="Calibri"/>
                <a:ea typeface="맑은 고딕"/>
                <a:cs typeface="Calibri"/>
              </a:rPr>
              <a:t> </a:t>
            </a:r>
            <a:r>
              <a:rPr lang="en-US" altLang="ko-KR" sz="2150" b="0" dirty="0">
                <a:solidFill>
                  <a:srgbClr val="1F2328">
                    <a:alpha val="0"/>
                  </a:srgbClr>
                </a:solidFill>
                <a:latin typeface="Calibri"/>
                <a:ea typeface="맑은 고딕"/>
                <a:cs typeface="Calibri"/>
              </a:rPr>
              <a:t>Thanks to big data, police </a:t>
            </a:r>
            <a:r>
              <a:rPr lang="en-US" altLang="ko-KR" sz="2150" b="1" dirty="0">
                <a:solidFill>
                  <a:srgbClr val="1F2328">
                    <a:alpha val="0"/>
                  </a:srgbClr>
                </a:solidFill>
                <a:latin typeface="Calibri"/>
                <a:ea typeface="맑은 고딕"/>
                <a:cs typeface="Calibri"/>
              </a:rPr>
              <a:t>[ </a:t>
            </a:r>
            <a:r>
              <a:rPr lang="en-US" altLang="ko-KR" sz="2150" b="1" dirty="0">
                <a:solidFill>
                  <a:srgbClr val="1F2328">
                    <a:alpha val="0"/>
                  </a:srgbClr>
                </a:solidFill>
                <a:latin typeface="Calibri"/>
                <a:ea typeface="맑은 고딕"/>
                <a:cs typeface="Calibri"/>
              </a:rPr>
              <a:t>can now predict</a:t>
            </a:r>
            <a:r>
              <a:rPr lang="en-US" altLang="ko-KR" sz="2150" b="1" dirty="0">
                <a:solidFill>
                  <a:srgbClr val="1F2328">
                    <a:alpha val="0"/>
                  </a:srgbClr>
                </a:solidFill>
                <a:latin typeface="Calibri"/>
                <a:ea typeface="맑은 고딕"/>
                <a:cs typeface="Calibri"/>
              </a:rPr>
              <a:t> / </a:t>
            </a:r>
            <a:r>
              <a:rPr lang="en-US" altLang="ko-KR" sz="2150" b="1" dirty="0">
                <a:solidFill>
                  <a:srgbClr val="1F2328">
                    <a:alpha val="0"/>
                  </a:srgbClr>
                </a:solidFill>
                <a:latin typeface="Calibri"/>
                <a:ea typeface="맑은 고딕"/>
                <a:cs typeface="Calibri"/>
              </a:rPr>
              <a:t>can now be predicted</a:t>
            </a:r>
            <a:r>
              <a:rPr lang="en-US" altLang="ko-KR" sz="2150" b="1" dirty="0">
                <a:solidFill>
                  <a:srgbClr val="1F2328">
                    <a:alpha val="0"/>
                  </a:srgbClr>
                </a:solidFill>
                <a:latin typeface="Calibri"/>
                <a:ea typeface="맑은 고딕"/>
                <a:cs typeface="Calibri"/>
              </a:rPr>
              <a:t> ]</a:t>
            </a:r>
            <a:r>
              <a:rPr lang="en-US" altLang="ko-KR" sz="2150" b="0" dirty="0">
                <a:solidFill>
                  <a:srgbClr val="1F2328">
                    <a:alpha val="0"/>
                  </a:srgbClr>
                </a:solidFill>
                <a:latin typeface="Calibri"/>
                <a:ea typeface="맑은 고딕"/>
                <a:cs typeface="Calibri"/>
              </a:rPr>
              <a:t> crime before it happens.</a:t>
            </a:r>
            <a:r>
              <a:rPr lang="en-US" altLang="ko-KR" sz="2150" b="0" dirty="0">
                <a:solidFill>
                  <a:srgbClr val="1F2328">
                    <a:alpha val="0"/>
                  </a:srgbClr>
                </a:solidFill>
                <a:latin typeface="Calibri"/>
                <a:ea typeface="맑은 고딕"/>
                <a:cs typeface="Calibri"/>
              </a:rPr>
              <a:t>   </a:t>
            </a:r>
            <a:r>
              <a:rPr lang="ko-KR" altLang="en-US" sz="2150" b="1" dirty="0">
                <a:solidFill>
                  <a:srgbClr val="1E2A5A">
                    <a:alpha val="0"/>
                  </a:srgbClr>
                </a:solidFill>
                <a:latin typeface="맑은 고딕"/>
                <a:ea typeface="맑은 고딕"/>
                <a:cs typeface="맑은 고딕"/>
              </a:rPr>
              <a:t>②</a:t>
            </a:r>
            <a:r>
              <a:rPr lang="en-US" altLang="ko-KR" sz="2150" b="0" dirty="0">
                <a:solidFill>
                  <a:srgbClr val="1F2328">
                    <a:alpha val="0"/>
                  </a:srgbClr>
                </a:solidFill>
                <a:latin typeface="Calibri"/>
                <a:ea typeface="맑은 고딕"/>
                <a:cs typeface="Calibri"/>
              </a:rPr>
              <a:t> </a:t>
            </a:r>
            <a:r>
              <a:rPr lang="en-US" altLang="ko-KR" sz="2150" b="0" dirty="0">
                <a:solidFill>
                  <a:srgbClr val="1F2328">
                    <a:alpha val="0"/>
                  </a:srgbClr>
                </a:solidFill>
                <a:latin typeface="Calibri"/>
                <a:ea typeface="맑은 고딕"/>
                <a:cs typeface="Calibri"/>
              </a:rPr>
              <a:t>Through the analysis of big data about the type, time and place of crime, police can make a map of crime hot spots.</a:t>
            </a:r>
            <a:r>
              <a:rPr lang="en-US" altLang="ko-KR" sz="2150" b="0" dirty="0">
                <a:solidFill>
                  <a:srgbClr val="1F2328">
                    <a:alpha val="0"/>
                  </a:srgbClr>
                </a:solidFill>
                <a:latin typeface="Calibri"/>
                <a:ea typeface="맑은 고딕"/>
                <a:cs typeface="Calibri"/>
              </a:rPr>
              <a:t>   </a:t>
            </a:r>
            <a:r>
              <a:rPr lang="ko-KR" altLang="en-US" sz="2150" b="1" dirty="0">
                <a:solidFill>
                  <a:srgbClr val="1E2A5A">
                    <a:alpha val="0"/>
                  </a:srgbClr>
                </a:solidFill>
                <a:latin typeface="맑은 고딕"/>
                <a:ea typeface="맑은 고딕"/>
                <a:cs typeface="맑은 고딕"/>
              </a:rPr>
              <a:t>③</a:t>
            </a:r>
            <a:r>
              <a:rPr lang="en-US" altLang="ko-KR" sz="2150" b="0" dirty="0">
                <a:solidFill>
                  <a:srgbClr val="1F2328">
                    <a:alpha val="0"/>
                  </a:srgbClr>
                </a:solidFill>
                <a:latin typeface="Calibri"/>
                <a:ea typeface="맑은 고딕"/>
                <a:cs typeface="Calibri"/>
              </a:rPr>
              <a:t> </a:t>
            </a:r>
            <a:r>
              <a:rPr lang="en-US" altLang="ko-KR" sz="2150" b="0" dirty="0">
                <a:solidFill>
                  <a:srgbClr val="1F2328">
                    <a:alpha val="0"/>
                  </a:srgbClr>
                </a:solidFill>
                <a:latin typeface="Calibri"/>
                <a:ea typeface="맑은 고딕"/>
                <a:cs typeface="Calibri"/>
              </a:rPr>
              <a:t>This map identifies when and where crime is most likely to happen.</a:t>
            </a:r>
            <a:r>
              <a:rPr lang="en-US" altLang="ko-KR" sz="2150" b="0" dirty="0">
                <a:solidFill>
                  <a:srgbClr val="1F2328">
                    <a:alpha val="0"/>
                  </a:srgbClr>
                </a:solidFill>
                <a:latin typeface="Calibri"/>
                <a:ea typeface="맑은 고딕"/>
                <a:cs typeface="Calibri"/>
              </a:rPr>
              <a:t>   </a:t>
            </a:r>
            <a:r>
              <a:rPr lang="ko-KR" altLang="en-US" sz="2150" b="1" dirty="0">
                <a:solidFill>
                  <a:srgbClr val="1E2A5A">
                    <a:alpha val="0"/>
                  </a:srgbClr>
                </a:solidFill>
                <a:latin typeface="맑은 고딕"/>
                <a:ea typeface="맑은 고딕"/>
                <a:cs typeface="맑은 고딕"/>
              </a:rPr>
              <a:t>④</a:t>
            </a:r>
            <a:r>
              <a:rPr lang="en-US" altLang="ko-KR" sz="2150" b="0" dirty="0">
                <a:solidFill>
                  <a:srgbClr val="1F2328">
                    <a:alpha val="0"/>
                  </a:srgbClr>
                </a:solidFill>
                <a:latin typeface="Calibri"/>
                <a:ea typeface="맑은 고딕"/>
                <a:cs typeface="Calibri"/>
              </a:rPr>
              <a:t> </a:t>
            </a:r>
            <a:r>
              <a:rPr lang="en-US" altLang="ko-KR" sz="2150" b="0" dirty="0">
                <a:solidFill>
                  <a:srgbClr val="1F2328">
                    <a:alpha val="0"/>
                  </a:srgbClr>
                </a:solidFill>
                <a:latin typeface="Calibri"/>
                <a:ea typeface="맑은 고딕"/>
                <a:cs typeface="Calibri"/>
              </a:rPr>
              <a:t>Police can prevent further crime by focusing on the areas and the times this map predicts.</a:t>
            </a:r>
            <a:r>
              <a:rPr lang="en-US" altLang="ko-KR" sz="2150" b="0" dirty="0">
                <a:solidFill>
                  <a:srgbClr val="1F2328">
                    <a:alpha val="0"/>
                  </a:srgbClr>
                </a:solidFill>
                <a:latin typeface="Calibri"/>
                <a:ea typeface="맑은 고딕"/>
                <a:cs typeface="Calibri"/>
              </a:rPr>
              <a:t>   </a:t>
            </a:r>
            <a:r>
              <a:rPr lang="ko-KR" altLang="en-US" sz="2150" b="1" dirty="0">
                <a:solidFill>
                  <a:srgbClr val="1E2A5A">
                    <a:alpha val="0"/>
                  </a:srgbClr>
                </a:solidFill>
                <a:latin typeface="맑은 고딕"/>
                <a:ea typeface="맑은 고딕"/>
                <a:cs typeface="맑은 고딕"/>
              </a:rPr>
              <a:t>⑤</a:t>
            </a:r>
            <a:r>
              <a:rPr lang="en-US" altLang="ko-KR" sz="2150" b="0" dirty="0">
                <a:solidFill>
                  <a:srgbClr val="1F2328">
                    <a:alpha val="0"/>
                  </a:srgbClr>
                </a:solidFill>
                <a:latin typeface="Calibri"/>
                <a:ea typeface="맑은 고딕"/>
                <a:cs typeface="Calibri"/>
              </a:rPr>
              <a:t> </a:t>
            </a:r>
            <a:r>
              <a:rPr lang="en-US" altLang="ko-KR" sz="2150" b="0" dirty="0">
                <a:solidFill>
                  <a:srgbClr val="1F2328">
                    <a:alpha val="0"/>
                  </a:srgbClr>
                </a:solidFill>
                <a:latin typeface="Calibri"/>
                <a:ea typeface="맑은 고딕"/>
                <a:cs typeface="Calibri"/>
              </a:rPr>
              <a:t>Big data </a:t>
            </a:r>
            <a:r>
              <a:rPr lang="en-US" altLang="ko-KR" sz="2150" b="1" dirty="0">
                <a:solidFill>
                  <a:srgbClr val="1F2328">
                    <a:alpha val="0"/>
                  </a:srgbClr>
                </a:solidFill>
                <a:latin typeface="Calibri"/>
                <a:ea typeface="맑은 고딕"/>
                <a:cs typeface="Calibri"/>
              </a:rPr>
              <a:t>[ </a:t>
            </a:r>
            <a:r>
              <a:rPr lang="en-US" altLang="ko-KR" sz="2150" b="1" dirty="0">
                <a:solidFill>
                  <a:srgbClr val="1F2328">
                    <a:alpha val="0"/>
                  </a:srgbClr>
                </a:solidFill>
                <a:latin typeface="Calibri"/>
                <a:ea typeface="맑은 고딕"/>
                <a:cs typeface="Calibri"/>
              </a:rPr>
              <a:t>has already changed</a:t>
            </a:r>
            <a:r>
              <a:rPr lang="en-US" altLang="ko-KR" sz="2150" b="1" dirty="0">
                <a:solidFill>
                  <a:srgbClr val="1F2328">
                    <a:alpha val="0"/>
                  </a:srgbClr>
                </a:solidFill>
                <a:latin typeface="Calibri"/>
                <a:ea typeface="맑은 고딕"/>
                <a:cs typeface="Calibri"/>
              </a:rPr>
              <a:t> / </a:t>
            </a:r>
            <a:r>
              <a:rPr lang="en-US" altLang="ko-KR" sz="2150" b="1" dirty="0">
                <a:solidFill>
                  <a:srgbClr val="1F2328">
                    <a:alpha val="0"/>
                  </a:srgbClr>
                </a:solidFill>
                <a:latin typeface="Calibri"/>
                <a:ea typeface="맑은 고딕"/>
                <a:cs typeface="Calibri"/>
              </a:rPr>
              <a:t>has already been changed</a:t>
            </a:r>
            <a:r>
              <a:rPr lang="en-US" altLang="ko-KR" sz="2150" b="1" dirty="0">
                <a:solidFill>
                  <a:srgbClr val="1F2328">
                    <a:alpha val="0"/>
                  </a:srgbClr>
                </a:solidFill>
                <a:latin typeface="Calibri"/>
                <a:ea typeface="맑은 고딕"/>
                <a:cs typeface="Calibri"/>
              </a:rPr>
              <a:t> ]</a:t>
            </a:r>
            <a:r>
              <a:rPr lang="en-US" altLang="ko-KR" sz="2150" b="0" dirty="0">
                <a:solidFill>
                  <a:srgbClr val="1F2328">
                    <a:alpha val="0"/>
                  </a:srgbClr>
                </a:solidFill>
                <a:latin typeface="Calibri"/>
                <a:ea typeface="맑은 고딕"/>
                <a:cs typeface="Calibri"/>
              </a:rPr>
              <a:t> the world greatly.</a:t>
            </a:r>
            <a:r>
              <a:rPr lang="en-US" altLang="ko-KR" sz="2150" b="0" dirty="0">
                <a:solidFill>
                  <a:srgbClr val="1F2328">
                    <a:alpha val="0"/>
                  </a:srgbClr>
                </a:solidFill>
                <a:latin typeface="Calibri"/>
                <a:ea typeface="맑은 고딕"/>
                <a:cs typeface="Calibri"/>
              </a:rPr>
              <a:t>   </a:t>
            </a:r>
            <a:r>
              <a:rPr lang="ko-KR" altLang="en-US" sz="2150" b="1" dirty="0">
                <a:solidFill>
                  <a:srgbClr val="1E2A5A">
                    <a:alpha val="0"/>
                  </a:srgbClr>
                </a:solidFill>
                <a:latin typeface="맑은 고딕"/>
                <a:ea typeface="맑은 고딕"/>
                <a:cs typeface="맑은 고딕"/>
              </a:rPr>
              <a:t>⑥</a:t>
            </a:r>
            <a:r>
              <a:rPr lang="en-US" altLang="ko-KR" sz="2150" b="0" dirty="0">
                <a:solidFill>
                  <a:srgbClr val="1F2328">
                    <a:alpha val="0"/>
                  </a:srgbClr>
                </a:solidFill>
                <a:latin typeface="Calibri"/>
                <a:ea typeface="맑은 고딕"/>
                <a:cs typeface="Calibri"/>
              </a:rPr>
              <a:t> </a:t>
            </a:r>
            <a:r>
              <a:rPr lang="en-US" altLang="ko-KR" sz="2150" b="0" dirty="0">
                <a:solidFill>
                  <a:srgbClr val="1F2328">
                    <a:alpha val="0"/>
                  </a:srgbClr>
                </a:solidFill>
                <a:latin typeface="Calibri"/>
                <a:ea typeface="맑은 고딕"/>
                <a:cs typeface="Calibri"/>
              </a:rPr>
              <a:t>So where will the big data industry go from here?</a:t>
            </a:r>
            <a:r>
              <a:rPr lang="en-US" altLang="ko-KR" sz="2150" b="0" dirty="0">
                <a:solidFill>
                  <a:srgbClr val="1F2328">
                    <a:alpha val="0"/>
                  </a:srgbClr>
                </a:solidFill>
                <a:latin typeface="Calibri"/>
                <a:ea typeface="맑은 고딕"/>
                <a:cs typeface="Calibri"/>
              </a:rPr>
              <a:t>   </a:t>
            </a:r>
            <a:r>
              <a:rPr lang="ko-KR" altLang="en-US" sz="2150" b="1" dirty="0">
                <a:solidFill>
                  <a:srgbClr val="1E2A5A">
                    <a:alpha val="0"/>
                  </a:srgbClr>
                </a:solidFill>
                <a:latin typeface="맑은 고딕"/>
                <a:ea typeface="맑은 고딕"/>
                <a:cs typeface="맑은 고딕"/>
              </a:rPr>
              <a:t>⑦</a:t>
            </a:r>
            <a:r>
              <a:rPr lang="en-US" altLang="ko-KR" sz="2150" b="0" dirty="0">
                <a:solidFill>
                  <a:srgbClr val="1F2328">
                    <a:alpha val="0"/>
                  </a:srgbClr>
                </a:solidFill>
                <a:latin typeface="Calibri"/>
                <a:ea typeface="맑은 고딕"/>
                <a:cs typeface="Calibri"/>
              </a:rPr>
              <a:t> </a:t>
            </a:r>
            <a:r>
              <a:rPr lang="en-US" altLang="ko-KR" sz="2150" b="0" dirty="0">
                <a:solidFill>
                  <a:srgbClr val="1F2328">
                    <a:alpha val="0"/>
                  </a:srgbClr>
                </a:solidFill>
                <a:latin typeface="Calibri"/>
                <a:ea typeface="맑은 고딕"/>
                <a:cs typeface="Calibri"/>
              </a:rPr>
              <a:t>Nobody knows for sure, but experts agree </a:t>
            </a:r>
            <a:r>
              <a:rPr lang="en-US" altLang="ko-KR" sz="2150" b="1" dirty="0">
                <a:solidFill>
                  <a:srgbClr val="1F2328">
                    <a:alpha val="0"/>
                  </a:srgbClr>
                </a:solidFill>
                <a:latin typeface="Calibri"/>
                <a:ea typeface="맑은 고딕"/>
                <a:cs typeface="Calibri"/>
              </a:rPr>
              <a:t>[ </a:t>
            </a:r>
            <a:r>
              <a:rPr lang="en-US" altLang="ko-KR" sz="2150" b="1" dirty="0">
                <a:solidFill>
                  <a:srgbClr val="1F2328">
                    <a:alpha val="0"/>
                  </a:srgbClr>
                </a:solidFill>
                <a:latin typeface="Calibri"/>
                <a:ea typeface="맑은 고딕"/>
                <a:cs typeface="Calibri"/>
              </a:rPr>
              <a:t>that big data</a:t>
            </a:r>
            <a:r>
              <a:rPr lang="en-US" altLang="ko-KR" sz="2150" b="1" dirty="0">
                <a:solidFill>
                  <a:srgbClr val="1F2328">
                    <a:alpha val="0"/>
                  </a:srgbClr>
                </a:solidFill>
                <a:latin typeface="Calibri"/>
                <a:ea typeface="맑은 고딕"/>
                <a:cs typeface="Calibri"/>
              </a:rPr>
              <a:t> / </a:t>
            </a:r>
            <a:r>
              <a:rPr lang="en-US" altLang="ko-KR" sz="2150" b="1" dirty="0">
                <a:solidFill>
                  <a:srgbClr val="1F2328">
                    <a:alpha val="0"/>
                  </a:srgbClr>
                </a:solidFill>
                <a:latin typeface="Calibri"/>
                <a:ea typeface="맑은 고딕"/>
                <a:cs typeface="Calibri"/>
              </a:rPr>
              <a:t>what big data</a:t>
            </a:r>
            <a:r>
              <a:rPr lang="en-US" altLang="ko-KR" sz="2150" b="1" dirty="0">
                <a:solidFill>
                  <a:srgbClr val="1F2328">
                    <a:alpha val="0"/>
                  </a:srgbClr>
                </a:solidFill>
                <a:latin typeface="Calibri"/>
                <a:ea typeface="맑은 고딕"/>
                <a:cs typeface="Calibri"/>
              </a:rPr>
              <a:t> ]</a:t>
            </a:r>
            <a:r>
              <a:rPr lang="en-US" altLang="ko-KR" sz="2150" b="0" dirty="0">
                <a:solidFill>
                  <a:srgbClr val="1F2328">
                    <a:alpha val="0"/>
                  </a:srgbClr>
                </a:solidFill>
                <a:latin typeface="Calibri"/>
                <a:ea typeface="맑은 고딕"/>
                <a:cs typeface="Calibri"/>
              </a:rPr>
              <a:t> will play a </a:t>
            </a:r>
            <a:r>
              <a:rPr lang="en-US" altLang="ko-KR" sz="2150" b="1" dirty="0">
                <a:solidFill>
                  <a:srgbClr val="1F2328">
                    <a:alpha val="0"/>
                  </a:srgbClr>
                </a:solidFill>
                <a:latin typeface="Calibri"/>
                <a:ea typeface="맑은 고딕"/>
                <a:cs typeface="Calibri"/>
              </a:rPr>
              <a:t>[ </a:t>
            </a:r>
            <a:r>
              <a:rPr lang="en-US" altLang="ko-KR" sz="2150" b="1" dirty="0">
                <a:solidFill>
                  <a:srgbClr val="C00000"/>
                </a:solidFill>
                <a:highlight>
                  <a:srgbClr val="F3F5F9"/>
                </a:highlight>
                <a:latin typeface="Calibri"/>
                <a:ea typeface="맑은 고딕"/>
                <a:cs typeface="Calibri"/>
              </a:rPr>
              <a:t>more and more important</a:t>
            </a:r>
            <a:r>
              <a:rPr lang="en-US" altLang="ko-KR" sz="2150" b="1" dirty="0">
                <a:solidFill>
                  <a:srgbClr val="1F2328">
                    <a:alpha val="0"/>
                  </a:srgbClr>
                </a:solidFill>
                <a:latin typeface="Calibri"/>
                <a:ea typeface="맑은 고딕"/>
                <a:cs typeface="Calibri"/>
              </a:rPr>
              <a:t> / </a:t>
            </a:r>
            <a:r>
              <a:rPr lang="en-US" altLang="ko-KR" sz="2150" b="1" dirty="0">
                <a:solidFill>
                  <a:srgbClr val="1F2328">
                    <a:alpha val="0"/>
                  </a:srgbClr>
                </a:solidFill>
                <a:latin typeface="Calibri"/>
                <a:ea typeface="맑은 고딕"/>
                <a:cs typeface="Calibri"/>
              </a:rPr>
              <a:t>more and more importantly</a:t>
            </a:r>
            <a:r>
              <a:rPr lang="en-US" altLang="ko-KR" sz="2150" b="1" dirty="0">
                <a:solidFill>
                  <a:srgbClr val="1F2328">
                    <a:alpha val="0"/>
                  </a:srgbClr>
                </a:solidFill>
                <a:latin typeface="Calibri"/>
                <a:ea typeface="맑은 고딕"/>
                <a:cs typeface="Calibri"/>
              </a:rPr>
              <a:t> ]</a:t>
            </a:r>
            <a:r>
              <a:rPr lang="en-US" altLang="ko-KR" sz="2150" b="0" dirty="0">
                <a:solidFill>
                  <a:srgbClr val="1F2328">
                    <a:alpha val="0"/>
                  </a:srgbClr>
                </a:solidFill>
                <a:latin typeface="Calibri"/>
                <a:ea typeface="맑은 고딕"/>
                <a:cs typeface="Calibri"/>
              </a:rPr>
              <a:t> role in our lives.</a:t>
            </a:r>
            <a:endParaRPr lang="en-US" altLang="ko-KR" sz="2150" b="0" dirty="0">
              <a:solidFill>
                <a:srgbClr val="1F2328"/>
              </a:solidFill>
              <a:latin typeface="Calibri"/>
              <a:ea typeface="맑은 고딕"/>
              <a:cs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25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25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25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25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Lst>
  </p:timing>
</p:sld>
</file>

<file path=ppt/slides/slide205.xml><?xml version="1.0" encoding="utf-8"?>
<p:sld xmlns:a="http://schemas.openxmlformats.org/drawingml/2006/main" xmlns:p="http://schemas.openxmlformats.org/presentationml/2006/main" xmlns:r="http://schemas.openxmlformats.org/officeDocument/2006/relationships">
  <p:cSld>
    <p:bg>
      <p:bgPr>
        <a:solidFill>
          <a:srgbClr val="1E2A5A"/>
        </a:solidFill>
        <a:effectLst/>
      </p:bgPr>
    </p:bg>
    <p:spTree>
      <p:nvGrpSpPr>
        <p:cNvPr id="1" name=""/>
        <p:cNvGrpSpPr/>
        <p:nvPr/>
      </p:nvGrpSpPr>
      <p:grpSpPr/>
      <p:sp>
        <p:nvSpPr>
          <p:cNvPr id="2" name="sec_title"/>
          <p:cNvSpPr txBox="1"/>
          <p:nvPr/>
        </p:nvSpPr>
        <p:spPr>
          <a:xfrm>
            <a:off x="822960" y="1371600"/>
            <a:ext cx="10515600" cy="868680"/>
          </a:xfrm>
          <a:prstGeom prst="rect">
            <a:avLst/>
          </a:prstGeom>
          <a:noFill/>
        </p:spPr>
        <p:txBody>
          <a:bodyPr wrap="square" lIns="109728" tIns="54864" rIns="109728" bIns="54864" anchor="t" rtlCol="0">
            <a:noAutofit/>
          </a:bodyPr>
          <a:lstStyle/>
          <a:p>
            <a:pPr algn="l">
              <a:lnSpc>
                <a:spcPts val="4800"/>
              </a:lnSpc>
              <a:spcBef>
                <a:spcPts val="0"/>
              </a:spcBef>
              <a:spcAft>
                <a:spcPts val="0"/>
              </a:spcAft>
              <a:buNone/>
            </a:pPr>
            <a:r>
              <a:rPr lang="ko-KR" altLang="en-US" sz="4000" b="1" dirty="0">
                <a:solidFill>
                  <a:srgbClr val="FFE98A"/>
                </a:solidFill>
                <a:latin typeface="맑은 고딕"/>
                <a:ea typeface="맑은 고딕"/>
                <a:cs typeface="맑은 고딕"/>
              </a:rPr>
              <a:t>PART 4  </a:t>
            </a:r>
            <a:r>
              <a:rPr lang="ko-KR" altLang="en-US" sz="4000" b="1" dirty="0">
                <a:solidFill>
                  <a:srgbClr val="FFFFFF"/>
                </a:solidFill>
                <a:latin typeface="맑은 고딕"/>
                <a:ea typeface="맑은 고딕"/>
                <a:cs typeface="맑은 고딕"/>
              </a:rPr>
              <a:t>내용이해 T/F</a:t>
            </a:r>
            <a:endParaRPr lang="ko-KR" sz="4000"/>
          </a:p>
        </p:txBody>
      </p:sp>
      <p:sp>
        <p:nvSpPr>
          <p:cNvPr id="3" name="sec_exam"/>
          <p:cNvSpPr txBox="1"/>
          <p:nvPr/>
        </p:nvSpPr>
        <p:spPr>
          <a:xfrm>
            <a:off x="822960" y="2240280"/>
            <a:ext cx="10515600" cy="502920"/>
          </a:xfrm>
          <a:prstGeom prst="rect">
            <a:avLst/>
          </a:prstGeom>
          <a:noFill/>
        </p:spPr>
        <p:txBody>
          <a:bodyPr wrap="square" lIns="109728" tIns="54864" rIns="109728" bIns="54864" anchor="t" rtlCol="0">
            <a:noAutofit/>
          </a:bodyPr>
          <a:lstStyle/>
          <a:p>
            <a:pPr algn="l">
              <a:lnSpc>
                <a:spcPts val="2400"/>
              </a:lnSpc>
              <a:spcBef>
                <a:spcPts val="0"/>
              </a:spcBef>
              <a:spcAft>
                <a:spcPts val="0"/>
              </a:spcAft>
              <a:buNone/>
            </a:pPr>
            <a:r>
              <a:rPr lang="ko-KR" altLang="en-US" sz="2000" b="0" dirty="0">
                <a:solidFill>
                  <a:srgbClr val="CFD8E8"/>
                </a:solidFill>
                <a:latin typeface="맑은 고딕"/>
                <a:ea typeface="맑은 고딕"/>
                <a:cs typeface="맑은 고딕"/>
              </a:rPr>
              <a:t>중3 동아(윤정미) Lesson 7</a:t>
            </a:r>
            <a:endParaRPr lang="ko-KR" sz="2000"/>
          </a:p>
        </p:txBody>
      </p:sp>
      <p:sp>
        <p:nvSpPr>
          <p:cNvPr id="4" name="sec_ids"/>
          <p:cNvSpPr txBox="1"/>
          <p:nvPr/>
        </p:nvSpPr>
        <p:spPr>
          <a:xfrm>
            <a:off x="822960" y="2788920"/>
            <a:ext cx="10515600" cy="457200"/>
          </a:xfrm>
          <a:prstGeom prst="rect">
            <a:avLst/>
          </a:prstGeom>
          <a:noFill/>
        </p:spPr>
        <p:txBody>
          <a:bodyPr wrap="square" lIns="109728" tIns="54864" rIns="109728" bIns="54864" anchor="t" rtlCol="0">
            <a:noAutofit/>
          </a:bodyPr>
          <a:lstStyle/>
          <a:p>
            <a:pPr algn="l">
              <a:lnSpc>
                <a:spcPts val="2200"/>
              </a:lnSpc>
              <a:spcBef>
                <a:spcPts val="0"/>
              </a:spcBef>
              <a:spcAft>
                <a:spcPts val="0"/>
              </a:spcAft>
              <a:buNone/>
            </a:pPr>
            <a:r>
              <a:rPr lang="en-US" altLang="en-US" sz="1800" b="1" dirty="0">
                <a:solidFill>
                  <a:srgbClr val="AEBBD0"/>
                </a:solidFill>
                <a:latin typeface="Calibri"/>
                <a:ea typeface="맑은 고딕"/>
                <a:cs typeface="Calibri"/>
              </a:rPr>
              <a:t>L7-1  ·  L7-2  ·  L7-3  ·  L7-4</a:t>
            </a:r>
            <a:endParaRPr lang="ko-KR" sz="1800"/>
          </a:p>
        </p:txBody>
      </p:sp>
      <p:sp>
        <p:nvSpPr>
          <p:cNvPr id="5" name="sec_legend"/>
          <p:cNvSpPr/>
          <p:nvPr/>
        </p:nvSpPr>
        <p:spPr>
          <a:xfrm>
            <a:off x="822960" y="3977639"/>
            <a:ext cx="10515600" cy="1371600"/>
          </a:xfrm>
          <a:prstGeom prst="roundRect">
            <a:avLst>
              <a:gd name="adj" fmla="val 6000"/>
            </a:avLst>
          </a:prstGeom>
          <a:solidFill>
            <a:srgbClr val="27356E"/>
          </a:solidFill>
          <a:ln>
            <a:noFill/>
          </a:ln>
        </p:spPr>
        <p:txBody>
          <a:bodyPr wrap="square" lIns="320040" tIns="137160" rIns="320040" bIns="137160" anchor="ctr" rtlCol="0">
            <a:noAutofit/>
          </a:bodyPr>
          <a:lstStyle/>
          <a:p>
            <a:pPr algn="l">
              <a:lnSpc>
                <a:spcPts val="2600"/>
              </a:lnSpc>
              <a:spcBef>
                <a:spcPts val="0"/>
              </a:spcBef>
              <a:spcAft>
                <a:spcPts val="0"/>
              </a:spcAft>
              <a:buNone/>
            </a:pPr>
            <a:r>
              <a:rPr lang="ko-KR" altLang="en-US" sz="1600" b="1" dirty="0">
                <a:solidFill>
                  <a:srgbClr val="FFE98A"/>
                </a:solidFill>
                <a:latin typeface="맑은 고딕"/>
                <a:ea typeface="맑은 고딕"/>
                <a:cs typeface="맑은 고딕"/>
              </a:rPr>
              <a:t>방법</a:t>
            </a:r>
            <a:r>
              <a:rPr lang="ko-KR" altLang="en-US" sz="1600" b="0" dirty="0">
                <a:solidFill>
                  <a:srgbClr val="FFFFFF"/>
                </a:solidFill>
                <a:latin typeface="맑은 고딕"/>
                <a:ea typeface="맑은 고딕"/>
                <a:cs typeface="맑은 고딕"/>
              </a:rPr>
              <a:t>     본문 단락을 읽고, 우리말 진술이 본문과 일치하면 T, 아니면 F</a:t>
            </a:r>
            <a:endParaRPr lang="ko-KR" sz="1600"/>
          </a:p>
          <a:p>
            <a:pPr algn="l">
              <a:lnSpc>
                <a:spcPts val="2600"/>
              </a:lnSpc>
              <a:spcBef>
                <a:spcPts val="0"/>
              </a:spcBef>
              <a:spcAft>
                <a:spcPts val="0"/>
              </a:spcAft>
              <a:buNone/>
            </a:pPr>
            <a:r>
              <a:rPr lang="ko-KR" altLang="en-US" sz="1600" b="1" dirty="0">
                <a:solidFill>
                  <a:srgbClr val="FFE98A"/>
                </a:solidFill>
                <a:latin typeface="맑은 고딕"/>
                <a:ea typeface="맑은 고딕"/>
                <a:cs typeface="맑은 고딕"/>
              </a:rPr>
              <a:t>클릭</a:t>
            </a:r>
            <a:r>
              <a:rPr lang="ko-KR" altLang="en-US" sz="1600" b="0" dirty="0">
                <a:solidFill>
                  <a:srgbClr val="FFFFFF"/>
                </a:solidFill>
                <a:latin typeface="맑은 고딕"/>
                <a:ea typeface="맑은 고딕"/>
                <a:cs typeface="맑은 고딕"/>
              </a:rPr>
              <a:t>     한 번 클릭하면 5문항의 정답(T/F)이 빨간색으로 한꺼번에 공개</a:t>
            </a:r>
            <a:endParaRPr lang="ko-KR" sz="1600"/>
          </a:p>
        </p:txBody>
      </p:sp>
    </p:spTree>
  </p:cSld>
  <p:clrMapOvr>
    <a:masterClrMapping/>
  </p:clrMapOvr>
</p:sld>
</file>

<file path=ppt/slides/slide20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8000"/>
            </a:avLst>
          </a:prstGeom>
          <a:solidFill>
            <a:srgbClr val="1E2A5A"/>
          </a:solidFill>
          <a:ln>
            <a:noFill/>
          </a:ln>
        </p:spPr>
        <p:txBody>
          <a:bodyPr wrap="square" lIns="45720" tIns="18288" rIns="45720" bIns="18288" anchor="ctr" rtlCol="0">
            <a:noAutofit/>
          </a:bodyPr>
          <a:lstStyle/>
          <a:p>
            <a:pPr algn="ctr">
              <a:lnSpc>
                <a:spcPts val="2000"/>
              </a:lnSpc>
              <a:spcBef>
                <a:spcPts val="0"/>
              </a:spcBef>
              <a:spcAft>
                <a:spcPts val="0"/>
              </a:spcAft>
              <a:buNone/>
            </a:pPr>
            <a:r>
              <a:rPr lang="en-US" altLang="en-US" sz="1700" b="1" dirty="0">
                <a:solidFill>
                  <a:srgbClr val="FFFFFF"/>
                </a:solidFill>
                <a:latin typeface="Calibri"/>
                <a:ea typeface="맑은 고딕"/>
                <a:cs typeface="Calibri"/>
              </a:rPr>
              <a:t>L7-1</a:t>
            </a:r>
            <a:endParaRPr lang="ko-KR" sz="1700"/>
          </a:p>
        </p:txBody>
      </p:sp>
      <p:sp>
        <p:nvSpPr>
          <p:cNvPr id="3" name="hdr_chip"/>
          <p:cNvSpPr/>
          <p:nvPr/>
        </p:nvSpPr>
        <p:spPr>
          <a:xfrm>
            <a:off x="1755648" y="274320"/>
            <a:ext cx="1371600" cy="493776"/>
          </a:xfrm>
          <a:prstGeom prst="roundRect">
            <a:avLst>
              <a:gd name="adj" fmla="val 8000"/>
            </a:avLst>
          </a:prstGeom>
          <a:solidFill>
            <a:srgbClr val="E6EAF4"/>
          </a:solidFill>
          <a:ln>
            <a:noFill/>
          </a:ln>
        </p:spPr>
        <p:txBody>
          <a:bodyPr wrap="square" lIns="27432" tIns="18288" rIns="27432" bIns="18288" anchor="ctr" rtlCol="0">
            <a:noAutofit/>
          </a:bodyPr>
          <a:lstStyle/>
          <a:p>
            <a:pPr algn="ctr">
              <a:lnSpc>
                <a:spcPts val="1700"/>
              </a:lnSpc>
              <a:spcBef>
                <a:spcPts val="0"/>
              </a:spcBef>
              <a:spcAft>
                <a:spcPts val="0"/>
              </a:spcAft>
              <a:buNone/>
            </a:pPr>
            <a:r>
              <a:rPr lang="ko-KR" altLang="en-US" sz="1400" b="1" dirty="0">
                <a:solidFill>
                  <a:srgbClr val="1E2A5A"/>
                </a:solidFill>
                <a:latin typeface="맑은 고딕"/>
                <a:ea typeface="맑은 고딕"/>
                <a:cs typeface="맑은 고딕"/>
              </a:rPr>
              <a:t>PART 4 · 1</a:t>
            </a:r>
            <a:endParaRPr lang="ko-KR" sz="1400"/>
          </a:p>
        </p:txBody>
      </p:sp>
      <p:sp>
        <p:nvSpPr>
          <p:cNvPr id="4" name="hdr_q"/>
          <p:cNvSpPr txBox="1"/>
          <p:nvPr/>
        </p:nvSpPr>
        <p:spPr>
          <a:xfrm>
            <a:off x="3246120" y="246888"/>
            <a:ext cx="8485632" cy="548640"/>
          </a:xfrm>
          <a:prstGeom prst="rect">
            <a:avLst/>
          </a:prstGeom>
          <a:noFill/>
        </p:spPr>
        <p:txBody>
          <a:bodyPr wrap="square" lIns="109728" tIns="54864" rIns="109728" bIns="54864" anchor="ctr" rtlCol="0">
            <a:noAutofit/>
          </a:bodyPr>
          <a:lstStyle/>
          <a:p>
            <a:pPr algn="l">
              <a:lnSpc>
                <a:spcPts val="2400"/>
              </a:lnSpc>
              <a:spcBef>
                <a:spcPts val="0"/>
              </a:spcBef>
              <a:spcAft>
                <a:spcPts val="0"/>
              </a:spcAft>
              <a:buNone/>
            </a:pPr>
            <a:r>
              <a:rPr lang="ko-KR" altLang="en-US" sz="2000" b="1" dirty="0">
                <a:solidFill>
                  <a:srgbClr val="1F2328"/>
                </a:solidFill>
                <a:latin typeface="맑은 고딕"/>
                <a:ea typeface="맑은 고딕"/>
                <a:cs typeface="맑은 고딕"/>
              </a:rPr>
              <a:t>본문과 일치하면 T, 일치하지 않으면 F를 고르시오.</a:t>
            </a:r>
            <a:endParaRPr lang="ko-KR" sz="2000"/>
          </a:p>
        </p:txBody>
      </p:sp>
      <p:sp>
        <p:nvSpPr>
          <p:cNvPr id="5" name="ftr_exam"/>
          <p:cNvSpPr txBox="1"/>
          <p:nvPr/>
        </p:nvSpPr>
        <p:spPr>
          <a:xfrm>
            <a:off x="457200" y="6519672"/>
            <a:ext cx="5669280" cy="256032"/>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7</a:t>
            </a:r>
            <a:endParaRPr lang="ko-KR" sz="1000"/>
          </a:p>
        </p:txBody>
      </p:sp>
      <p:sp>
        <p:nvSpPr>
          <p:cNvPr id="6" name="ftr_hint"/>
          <p:cNvSpPr txBox="1"/>
          <p:nvPr/>
        </p:nvSpPr>
        <p:spPr>
          <a:xfrm>
            <a:off x="5971032" y="6519672"/>
            <a:ext cx="5760720" cy="256032"/>
          </a:xfrm>
          <a:prstGeom prst="rect">
            <a:avLst/>
          </a:prstGeom>
          <a:noFill/>
        </p:spPr>
        <p:txBody>
          <a:bodyPr wrap="square" lIns="0" tIns="0" rIns="0" bIns="0" anchor="t" rtlCol="0">
            <a:noAutofit/>
          </a:bodyPr>
          <a:lstStyle/>
          <a:p>
            <a:pPr algn="r">
              <a:lnSpc>
                <a:spcPts val="1200"/>
              </a:lnSpc>
              <a:spcBef>
                <a:spcPts val="0"/>
              </a:spcBef>
              <a:spcAft>
                <a:spcPts val="0"/>
              </a:spcAft>
              <a:buNone/>
            </a:pPr>
            <a:r>
              <a:rPr lang="ko-KR" altLang="en-US" sz="1000" b="0" dirty="0">
                <a:solidFill>
                  <a:srgbClr val="7A808C"/>
                </a:solidFill>
                <a:latin typeface="맑은 고딕"/>
                <a:ea typeface="맑은 고딕"/>
                <a:cs typeface="맑은 고딕"/>
              </a:rPr>
              <a:t>클릭 ① 정답(T/F) 공개</a:t>
            </a:r>
            <a:endParaRPr lang="ko-KR" sz="1000"/>
          </a:p>
        </p:txBody>
      </p:sp>
      <p:sp>
        <p:nvSpPr>
          <p:cNvPr id="7" name="passage_card"/>
          <p:cNvSpPr/>
          <p:nvPr/>
        </p:nvSpPr>
        <p:spPr>
          <a:xfrm>
            <a:off x="457200" y="950976"/>
            <a:ext cx="11274552" cy="2366010"/>
          </a:xfrm>
          <a:prstGeom prst="roundRect">
            <a:avLst>
              <a:gd name="adj" fmla="val 4000"/>
            </a:avLst>
          </a:prstGeom>
          <a:solidFill>
            <a:srgbClr val="F3F5F9"/>
          </a:solidFill>
          <a:ln w="12700">
            <a:solidFill>
              <a:srgbClr val="D9DFEA"/>
            </a:solidFill>
          </a:ln>
        </p:spPr>
        <p:txBody>
          <a:bodyPr rtlCol="0" anchor="ctr"/>
          <a:lstStyle/>
          <a:p>
            <a:pPr algn="ctr"/>
          </a:p>
        </p:txBody>
      </p:sp>
      <p:sp>
        <p:nvSpPr>
          <p:cNvPr id="8" name="passage"/>
          <p:cNvSpPr txBox="1"/>
          <p:nvPr/>
        </p:nvSpPr>
        <p:spPr>
          <a:xfrm>
            <a:off x="457200" y="950976"/>
            <a:ext cx="11274552" cy="2366010"/>
          </a:xfrm>
          <a:prstGeom prst="rect">
            <a:avLst/>
          </a:prstGeom>
          <a:noFill/>
        </p:spPr>
        <p:txBody>
          <a:bodyPr wrap="square" lIns="182880" tIns="137160" rIns="182880" bIns="137160" anchor="t" rtlCol="0">
            <a:noAutofit/>
          </a:bodyPr>
          <a:lstStyle/>
          <a:p>
            <a:pPr algn="l">
              <a:lnSpc>
                <a:spcPts val="1830"/>
              </a:lnSpc>
              <a:spcBef>
                <a:spcPts val="0"/>
              </a:spcBef>
              <a:spcAft>
                <a:spcPts val="0"/>
              </a:spcAft>
              <a:buNone/>
            </a:pPr>
            <a:r>
              <a:rPr lang="ko-KR" altLang="en-US" sz="1500" b="1" dirty="0">
                <a:solidFill>
                  <a:srgbClr val="1E2A5A"/>
                </a:solidFill>
                <a:latin typeface="맑은 고딕"/>
                <a:ea typeface="맑은 고딕"/>
                <a:cs typeface="맑은 고딕"/>
              </a:rPr>
              <a:t>① </a:t>
            </a:r>
            <a:r>
              <a:rPr lang="en-US" altLang="en-US" sz="1500" b="0" dirty="0">
                <a:solidFill>
                  <a:srgbClr val="1F2328"/>
                </a:solidFill>
                <a:latin typeface="Calibri"/>
                <a:ea typeface="맑은 고딕"/>
                <a:cs typeface="Calibri"/>
              </a:rPr>
              <a:t>Have you ever visited an online bookstore and been surprised by the books that the store recommended for you? </a:t>
            </a:r>
            <a:r>
              <a:rPr lang="ko-KR" altLang="en-US" sz="1500" b="1" dirty="0">
                <a:solidFill>
                  <a:srgbClr val="1E2A5A"/>
                </a:solidFill>
                <a:latin typeface="맑은 고딕"/>
                <a:ea typeface="맑은 고딕"/>
                <a:cs typeface="맑은 고딕"/>
              </a:rPr>
              <a:t>② </a:t>
            </a:r>
            <a:r>
              <a:rPr lang="en-US" altLang="en-US" sz="1500" b="0" dirty="0">
                <a:solidFill>
                  <a:srgbClr val="1F2328"/>
                </a:solidFill>
                <a:latin typeface="Calibri"/>
                <a:ea typeface="맑은 고딕"/>
                <a:cs typeface="Calibri"/>
              </a:rPr>
              <a:t>Many of them looked interesting to you. So how did the bookstore know what you liked? </a:t>
            </a:r>
            <a:r>
              <a:rPr lang="ko-KR" altLang="en-US" sz="1500" b="1" dirty="0">
                <a:solidFill>
                  <a:srgbClr val="1E2A5A"/>
                </a:solidFill>
                <a:latin typeface="맑은 고딕"/>
                <a:ea typeface="맑은 고딕"/>
                <a:cs typeface="맑은 고딕"/>
              </a:rPr>
              <a:t>③ </a:t>
            </a:r>
            <a:r>
              <a:rPr lang="en-US" altLang="en-US" sz="1500" b="0" dirty="0">
                <a:solidFill>
                  <a:srgbClr val="1F2328"/>
                </a:solidFill>
                <a:latin typeface="Calibri"/>
                <a:ea typeface="맑은 고딕"/>
                <a:cs typeface="Calibri"/>
              </a:rPr>
              <a:t>This is all possible because of big data. </a:t>
            </a:r>
            <a:r>
              <a:rPr lang="ko-KR" altLang="en-US" sz="1500" b="1" dirty="0">
                <a:solidFill>
                  <a:srgbClr val="1E2A5A"/>
                </a:solidFill>
                <a:latin typeface="맑은 고딕"/>
                <a:ea typeface="맑은 고딕"/>
                <a:cs typeface="맑은 고딕"/>
              </a:rPr>
              <a:t>④ </a:t>
            </a:r>
            <a:r>
              <a:rPr lang="en-US" altLang="en-US" sz="1500" b="0" dirty="0">
                <a:solidFill>
                  <a:srgbClr val="1F2328"/>
                </a:solidFill>
                <a:latin typeface="Calibri"/>
                <a:ea typeface="맑은 고딕"/>
                <a:cs typeface="Calibri"/>
              </a:rPr>
              <a:t>Big data is data sets that are very big and complex. </a:t>
            </a:r>
            <a:r>
              <a:rPr lang="ko-KR" altLang="en-US" sz="1500" b="1" dirty="0">
                <a:solidFill>
                  <a:srgbClr val="1E2A5A"/>
                </a:solidFill>
                <a:latin typeface="맑은 고딕"/>
                <a:ea typeface="맑은 고딕"/>
                <a:cs typeface="맑은 고딕"/>
              </a:rPr>
              <a:t>⑤ </a:t>
            </a:r>
            <a:r>
              <a:rPr lang="en-US" altLang="en-US" sz="1500" b="0" dirty="0">
                <a:solidFill>
                  <a:srgbClr val="1F2328"/>
                </a:solidFill>
                <a:latin typeface="Calibri"/>
                <a:ea typeface="맑은 고딕"/>
                <a:cs typeface="Calibri"/>
              </a:rPr>
              <a:t>As information and communication technology develops, the amount of data we have is getting much greater than before. </a:t>
            </a:r>
            <a:r>
              <a:rPr lang="ko-KR" altLang="en-US" sz="1500" b="1" dirty="0">
                <a:solidFill>
                  <a:srgbClr val="1E2A5A"/>
                </a:solidFill>
                <a:latin typeface="맑은 고딕"/>
                <a:ea typeface="맑은 고딕"/>
                <a:cs typeface="맑은 고딕"/>
              </a:rPr>
              <a:t>⑥ </a:t>
            </a:r>
            <a:r>
              <a:rPr lang="en-US" altLang="en-US" sz="1500" b="0" dirty="0">
                <a:solidFill>
                  <a:srgbClr val="1F2328"/>
                </a:solidFill>
                <a:latin typeface="Calibri"/>
                <a:ea typeface="맑은 고딕"/>
                <a:cs typeface="Calibri"/>
              </a:rPr>
              <a:t>This is mainly because almost everything that we do online leaves a trace. </a:t>
            </a:r>
            <a:r>
              <a:rPr lang="ko-KR" altLang="en-US" sz="1500" b="1" dirty="0">
                <a:solidFill>
                  <a:srgbClr val="1E2A5A"/>
                </a:solidFill>
                <a:latin typeface="맑은 고딕"/>
                <a:ea typeface="맑은 고딕"/>
                <a:cs typeface="맑은 고딕"/>
              </a:rPr>
              <a:t>⑦ </a:t>
            </a:r>
            <a:r>
              <a:rPr lang="en-US" altLang="en-US" sz="1500" b="0" dirty="0">
                <a:solidFill>
                  <a:srgbClr val="1F2328"/>
                </a:solidFill>
                <a:latin typeface="Calibri"/>
                <a:ea typeface="맑은 고딕"/>
                <a:cs typeface="Calibri"/>
              </a:rPr>
              <a:t>For example, the photos you upload on your blog and the records of your purchases at online stores are all part of big data. </a:t>
            </a:r>
            <a:r>
              <a:rPr lang="ko-KR" altLang="en-US" sz="1500" b="1" dirty="0">
                <a:solidFill>
                  <a:srgbClr val="1E2A5A"/>
                </a:solidFill>
                <a:latin typeface="맑은 고딕"/>
                <a:ea typeface="맑은 고딕"/>
                <a:cs typeface="맑은 고딕"/>
              </a:rPr>
              <a:t>⑧ </a:t>
            </a:r>
            <a:r>
              <a:rPr lang="en-US" altLang="en-US" sz="1500" b="0" dirty="0">
                <a:solidFill>
                  <a:srgbClr val="1F2328"/>
                </a:solidFill>
                <a:latin typeface="Calibri"/>
                <a:ea typeface="맑은 고딕"/>
                <a:cs typeface="Calibri"/>
              </a:rPr>
              <a:t>Simply collecting data, however, is not enough. </a:t>
            </a:r>
            <a:r>
              <a:rPr lang="ko-KR" altLang="en-US" sz="1500" b="1" dirty="0">
                <a:solidFill>
                  <a:srgbClr val="1E2A5A"/>
                </a:solidFill>
                <a:latin typeface="맑은 고딕"/>
                <a:ea typeface="맑은 고딕"/>
                <a:cs typeface="맑은 고딕"/>
              </a:rPr>
              <a:t>⑨ </a:t>
            </a:r>
            <a:r>
              <a:rPr lang="en-US" altLang="en-US" sz="1500" b="0" dirty="0">
                <a:solidFill>
                  <a:srgbClr val="1F2328"/>
                </a:solidFill>
                <a:latin typeface="Calibri"/>
                <a:ea typeface="맑은 고딕"/>
                <a:cs typeface="Calibri"/>
              </a:rPr>
              <a:t>Big data has to be analyzed, and this is done by big data experts. </a:t>
            </a:r>
            <a:r>
              <a:rPr lang="ko-KR" altLang="en-US" sz="1500" b="1" dirty="0">
                <a:solidFill>
                  <a:srgbClr val="1E2A5A"/>
                </a:solidFill>
                <a:latin typeface="맑은 고딕"/>
                <a:ea typeface="맑은 고딕"/>
                <a:cs typeface="맑은 고딕"/>
              </a:rPr>
              <a:t>⑩ </a:t>
            </a:r>
            <a:r>
              <a:rPr lang="en-US" altLang="en-US" sz="1500" b="0" dirty="0">
                <a:solidFill>
                  <a:srgbClr val="1F2328"/>
                </a:solidFill>
                <a:latin typeface="Calibri"/>
                <a:ea typeface="맑은 고딕"/>
                <a:cs typeface="Calibri"/>
              </a:rPr>
              <a:t>Using various methods, experts analyze big data and draw meaningful results from it. </a:t>
            </a:r>
            <a:r>
              <a:rPr lang="ko-KR" altLang="en-US" sz="1500" b="1" dirty="0">
                <a:solidFill>
                  <a:srgbClr val="1E2A5A"/>
                </a:solidFill>
                <a:latin typeface="맑은 고딕"/>
                <a:ea typeface="맑은 고딕"/>
                <a:cs typeface="맑은 고딕"/>
              </a:rPr>
              <a:t>⑪ </a:t>
            </a:r>
            <a:r>
              <a:rPr lang="en-US" altLang="en-US" sz="1500" b="0" dirty="0">
                <a:solidFill>
                  <a:srgbClr val="1F2328"/>
                </a:solidFill>
                <a:latin typeface="Calibri"/>
                <a:ea typeface="맑은 고딕"/>
                <a:cs typeface="Calibri"/>
              </a:rPr>
              <a:t>These results then can be used to make decisions or to predict the future. </a:t>
            </a:r>
            <a:endParaRPr lang="ko-KR" sz="1500"/>
          </a:p>
        </p:txBody>
      </p:sp>
      <p:sp>
        <p:nvSpPr>
          <p:cNvPr id="9" name="q_card_1"/>
          <p:cNvSpPr/>
          <p:nvPr/>
        </p:nvSpPr>
        <p:spPr>
          <a:xfrm>
            <a:off x="457200" y="3481578"/>
            <a:ext cx="11274552" cy="704342"/>
          </a:xfrm>
          <a:prstGeom prst="roundRect">
            <a:avLst>
              <a:gd name="adj" fmla="val 12000"/>
            </a:avLst>
          </a:prstGeom>
          <a:noFill/>
          <a:ln w="12700">
            <a:solidFill>
              <a:srgbClr val="D5DAE5"/>
            </a:solidFill>
          </a:ln>
        </p:spPr>
        <p:txBody>
          <a:bodyPr rtlCol="0" anchor="ctr"/>
          <a:lstStyle/>
          <a:p>
            <a:pPr algn="ctr"/>
          </a:p>
        </p:txBody>
      </p:sp>
      <p:sp>
        <p:nvSpPr>
          <p:cNvPr id="10" name="q_1"/>
          <p:cNvSpPr txBox="1"/>
          <p:nvPr/>
        </p:nvSpPr>
        <p:spPr>
          <a:xfrm>
            <a:off x="502920" y="3481578"/>
            <a:ext cx="9171432" cy="704342"/>
          </a:xfrm>
          <a:prstGeom prst="rect">
            <a:avLst/>
          </a:prstGeom>
          <a:noFill/>
        </p:spPr>
        <p:txBody>
          <a:bodyPr wrap="square" lIns="109728" tIns="45720" rIns="109728" bIns="45720" anchor="ctr" rtlCol="0">
            <a:noAutofit/>
          </a:bodyPr>
          <a:lstStyle/>
          <a:p>
            <a:pPr algn="l">
              <a:lnSpc>
                <a:spcPts val="2125"/>
              </a:lnSpc>
              <a:spcBef>
                <a:spcPts val="0"/>
              </a:spcBef>
              <a:spcAft>
                <a:spcPts val="0"/>
              </a:spcAft>
              <a:buNone/>
            </a:pPr>
            <a:r>
              <a:rPr lang="en-US" altLang="en-US" sz="1700" b="1" dirty="0">
                <a:solidFill>
                  <a:srgbClr val="1E2A5A"/>
                </a:solidFill>
                <a:latin typeface="Calibri"/>
                <a:ea typeface="맑은 고딕"/>
                <a:cs typeface="Calibri"/>
              </a:rPr>
              <a:t>1.  </a:t>
            </a:r>
            <a:r>
              <a:rPr lang="ko-KR" altLang="en-US" sz="1700" b="0" dirty="0">
                <a:solidFill>
                  <a:srgbClr val="1F2328"/>
                </a:solidFill>
                <a:latin typeface="맑은 고딕"/>
                <a:ea typeface="맑은 고딕"/>
                <a:cs typeface="맑은 고딕"/>
              </a:rPr>
              <a:t>온라인 서점이 추천한 책 중 다수가 흥미로워 보였을 수 있다고 글은 말한다.</a:t>
            </a:r>
            <a:endParaRPr lang="ko-KR" sz="1700"/>
          </a:p>
        </p:txBody>
      </p:sp>
      <p:sp>
        <p:nvSpPr>
          <p:cNvPr id="11" name="tf_1"/>
          <p:cNvSpPr txBox="1"/>
          <p:nvPr/>
        </p:nvSpPr>
        <p:spPr>
          <a:xfrm>
            <a:off x="9765792" y="3481578"/>
            <a:ext cx="1828800" cy="704342"/>
          </a:xfrm>
          <a:prstGeom prst="rect">
            <a:avLst/>
          </a:prstGeom>
          <a:noFill/>
        </p:spPr>
        <p:txBody>
          <a:bodyPr wrap="square" lIns="18288" tIns="18288" rIns="18288" bIns="18288" anchor="ctr" rtlCol="0">
            <a:noAutofit/>
          </a:bodyPr>
          <a:lstStyle/>
          <a:p>
            <a:pPr algn="ctr">
              <a:lnSpc>
                <a:spcPts val="2125"/>
              </a:lnSpc>
              <a:spcBef>
                <a:spcPts val="0"/>
              </a:spcBef>
              <a:spcAft>
                <a:spcPts val="0"/>
              </a:spcAft>
              <a:buNone/>
            </a:pPr>
            <a:r>
              <a:rPr lang="en-US" altLang="en-US" sz="1700" b="1" dirty="0">
                <a:solidFill>
                  <a:srgbClr val="9AA3B5"/>
                </a:solidFill>
                <a:latin typeface="Calibri"/>
                <a:ea typeface="맑은 고딕"/>
                <a:cs typeface="Calibri"/>
              </a:rPr>
              <a:t>T   /   F</a:t>
            </a:r>
            <a:endParaRPr lang="ko-KR" sz="1700"/>
          </a:p>
        </p:txBody>
      </p:sp>
      <p:sp>
        <p:nvSpPr>
          <p:cNvPr id="12" name="rv_ans_1"/>
          <p:cNvSpPr/>
          <p:nvPr/>
        </p:nvSpPr>
        <p:spPr>
          <a:xfrm>
            <a:off x="9765792" y="3527298"/>
            <a:ext cx="1828800" cy="612902"/>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400"/>
              </a:lnSpc>
              <a:spcBef>
                <a:spcPts val="0"/>
              </a:spcBef>
              <a:spcAft>
                <a:spcPts val="0"/>
              </a:spcAft>
              <a:buNone/>
            </a:pPr>
            <a:r>
              <a:rPr lang="en-US" altLang="en-US" sz="2000" b="1" dirty="0">
                <a:solidFill>
                  <a:srgbClr val="C00000"/>
                </a:solidFill>
                <a:latin typeface="Calibri"/>
                <a:ea typeface="맑은 고딕"/>
                <a:cs typeface="Calibri"/>
              </a:rPr>
              <a:t>T</a:t>
            </a:r>
            <a:endParaRPr lang="ko-KR" sz="2000"/>
          </a:p>
        </p:txBody>
      </p:sp>
      <p:sp>
        <p:nvSpPr>
          <p:cNvPr id="13" name="q_card_2"/>
          <p:cNvSpPr/>
          <p:nvPr/>
        </p:nvSpPr>
        <p:spPr>
          <a:xfrm>
            <a:off x="457200" y="4259072"/>
            <a:ext cx="11274552" cy="434467"/>
          </a:xfrm>
          <a:prstGeom prst="roundRect">
            <a:avLst>
              <a:gd name="adj" fmla="val 12000"/>
            </a:avLst>
          </a:prstGeom>
          <a:noFill/>
          <a:ln w="12700">
            <a:solidFill>
              <a:srgbClr val="D5DAE5"/>
            </a:solidFill>
          </a:ln>
        </p:spPr>
        <p:txBody>
          <a:bodyPr rtlCol="0" anchor="ctr"/>
          <a:lstStyle/>
          <a:p>
            <a:pPr algn="ctr"/>
          </a:p>
        </p:txBody>
      </p:sp>
      <p:sp>
        <p:nvSpPr>
          <p:cNvPr id="14" name="q_2"/>
          <p:cNvSpPr txBox="1"/>
          <p:nvPr/>
        </p:nvSpPr>
        <p:spPr>
          <a:xfrm>
            <a:off x="502920" y="4259072"/>
            <a:ext cx="9171432" cy="434467"/>
          </a:xfrm>
          <a:prstGeom prst="rect">
            <a:avLst/>
          </a:prstGeom>
          <a:noFill/>
        </p:spPr>
        <p:txBody>
          <a:bodyPr wrap="square" lIns="109728" tIns="45720" rIns="109728" bIns="45720" anchor="ctr" rtlCol="0">
            <a:noAutofit/>
          </a:bodyPr>
          <a:lstStyle/>
          <a:p>
            <a:pPr algn="l">
              <a:lnSpc>
                <a:spcPts val="2125"/>
              </a:lnSpc>
              <a:spcBef>
                <a:spcPts val="0"/>
              </a:spcBef>
              <a:spcAft>
                <a:spcPts val="0"/>
              </a:spcAft>
              <a:buNone/>
            </a:pPr>
            <a:r>
              <a:rPr lang="en-US" altLang="en-US" sz="1700" b="1" dirty="0">
                <a:solidFill>
                  <a:srgbClr val="1E2A5A"/>
                </a:solidFill>
                <a:latin typeface="Calibri"/>
                <a:ea typeface="맑은 고딕"/>
                <a:cs typeface="Calibri"/>
              </a:rPr>
              <a:t>2.  </a:t>
            </a:r>
            <a:r>
              <a:rPr lang="ko-KR" altLang="en-US" sz="1700" b="0" dirty="0">
                <a:solidFill>
                  <a:srgbClr val="1F2328"/>
                </a:solidFill>
                <a:latin typeface="맑은 고딕"/>
                <a:ea typeface="맑은 고딕"/>
                <a:cs typeface="맑은 고딕"/>
              </a:rPr>
              <a:t>서점이 사람들의 취향을 아는 것은 빅데이터 덕분이다.</a:t>
            </a:r>
            <a:endParaRPr lang="ko-KR" sz="1700"/>
          </a:p>
        </p:txBody>
      </p:sp>
      <p:sp>
        <p:nvSpPr>
          <p:cNvPr id="15" name="tf_2"/>
          <p:cNvSpPr txBox="1"/>
          <p:nvPr/>
        </p:nvSpPr>
        <p:spPr>
          <a:xfrm>
            <a:off x="9765792" y="4259072"/>
            <a:ext cx="1828800" cy="434467"/>
          </a:xfrm>
          <a:prstGeom prst="rect">
            <a:avLst/>
          </a:prstGeom>
          <a:noFill/>
        </p:spPr>
        <p:txBody>
          <a:bodyPr wrap="square" lIns="18288" tIns="18288" rIns="18288" bIns="18288" anchor="ctr" rtlCol="0">
            <a:noAutofit/>
          </a:bodyPr>
          <a:lstStyle/>
          <a:p>
            <a:pPr algn="ctr">
              <a:lnSpc>
                <a:spcPts val="2125"/>
              </a:lnSpc>
              <a:spcBef>
                <a:spcPts val="0"/>
              </a:spcBef>
              <a:spcAft>
                <a:spcPts val="0"/>
              </a:spcAft>
              <a:buNone/>
            </a:pPr>
            <a:r>
              <a:rPr lang="en-US" altLang="en-US" sz="1700" b="1" dirty="0">
                <a:solidFill>
                  <a:srgbClr val="9AA3B5"/>
                </a:solidFill>
                <a:latin typeface="Calibri"/>
                <a:ea typeface="맑은 고딕"/>
                <a:cs typeface="Calibri"/>
              </a:rPr>
              <a:t>T   /   F</a:t>
            </a:r>
            <a:endParaRPr lang="ko-KR" sz="1700"/>
          </a:p>
        </p:txBody>
      </p:sp>
      <p:sp>
        <p:nvSpPr>
          <p:cNvPr id="16" name="rv_ans_2"/>
          <p:cNvSpPr/>
          <p:nvPr/>
        </p:nvSpPr>
        <p:spPr>
          <a:xfrm>
            <a:off x="9765792" y="4304792"/>
            <a:ext cx="1828800" cy="343027"/>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400"/>
              </a:lnSpc>
              <a:spcBef>
                <a:spcPts val="0"/>
              </a:spcBef>
              <a:spcAft>
                <a:spcPts val="0"/>
              </a:spcAft>
              <a:buNone/>
            </a:pPr>
            <a:r>
              <a:rPr lang="en-US" altLang="en-US" sz="2000" b="1" dirty="0">
                <a:solidFill>
                  <a:srgbClr val="C00000"/>
                </a:solidFill>
                <a:latin typeface="Calibri"/>
                <a:ea typeface="맑은 고딕"/>
                <a:cs typeface="Calibri"/>
              </a:rPr>
              <a:t>T</a:t>
            </a:r>
            <a:endParaRPr lang="ko-KR" sz="2000"/>
          </a:p>
        </p:txBody>
      </p:sp>
      <p:sp>
        <p:nvSpPr>
          <p:cNvPr id="17" name="q_card_3"/>
          <p:cNvSpPr/>
          <p:nvPr/>
        </p:nvSpPr>
        <p:spPr>
          <a:xfrm>
            <a:off x="457200" y="4766691"/>
            <a:ext cx="11274552" cy="434467"/>
          </a:xfrm>
          <a:prstGeom prst="roundRect">
            <a:avLst>
              <a:gd name="adj" fmla="val 12000"/>
            </a:avLst>
          </a:prstGeom>
          <a:noFill/>
          <a:ln w="12700">
            <a:solidFill>
              <a:srgbClr val="D5DAE5"/>
            </a:solidFill>
          </a:ln>
        </p:spPr>
        <p:txBody>
          <a:bodyPr rtlCol="0" anchor="ctr"/>
          <a:lstStyle/>
          <a:p>
            <a:pPr algn="ctr"/>
          </a:p>
        </p:txBody>
      </p:sp>
      <p:sp>
        <p:nvSpPr>
          <p:cNvPr id="18" name="q_3"/>
          <p:cNvSpPr txBox="1"/>
          <p:nvPr/>
        </p:nvSpPr>
        <p:spPr>
          <a:xfrm>
            <a:off x="502920" y="4766691"/>
            <a:ext cx="9171432" cy="434467"/>
          </a:xfrm>
          <a:prstGeom prst="rect">
            <a:avLst/>
          </a:prstGeom>
          <a:noFill/>
        </p:spPr>
        <p:txBody>
          <a:bodyPr wrap="square" lIns="109728" tIns="45720" rIns="109728" bIns="45720" anchor="ctr" rtlCol="0">
            <a:noAutofit/>
          </a:bodyPr>
          <a:lstStyle/>
          <a:p>
            <a:pPr algn="l">
              <a:lnSpc>
                <a:spcPts val="2125"/>
              </a:lnSpc>
              <a:spcBef>
                <a:spcPts val="0"/>
              </a:spcBef>
              <a:spcAft>
                <a:spcPts val="0"/>
              </a:spcAft>
              <a:buNone/>
            </a:pPr>
            <a:r>
              <a:rPr lang="en-US" altLang="en-US" sz="1700" b="1" dirty="0">
                <a:solidFill>
                  <a:srgbClr val="1E2A5A"/>
                </a:solidFill>
                <a:latin typeface="Calibri"/>
                <a:ea typeface="맑은 고딕"/>
                <a:cs typeface="Calibri"/>
              </a:rPr>
              <a:t>3.  </a:t>
            </a:r>
            <a:r>
              <a:rPr lang="ko-KR" altLang="en-US" sz="1700" b="0" dirty="0">
                <a:solidFill>
                  <a:srgbClr val="1F2328"/>
                </a:solidFill>
                <a:latin typeface="맑은 고딕"/>
                <a:ea typeface="맑은 고딕"/>
                <a:cs typeface="맑은 고딕"/>
              </a:rPr>
              <a:t>빅데이터는 작고 단순한 데이터의 집합이다.</a:t>
            </a:r>
            <a:endParaRPr lang="ko-KR" sz="1700"/>
          </a:p>
        </p:txBody>
      </p:sp>
      <p:sp>
        <p:nvSpPr>
          <p:cNvPr id="19" name="tf_3"/>
          <p:cNvSpPr txBox="1"/>
          <p:nvPr/>
        </p:nvSpPr>
        <p:spPr>
          <a:xfrm>
            <a:off x="9765792" y="4766691"/>
            <a:ext cx="1828800" cy="434467"/>
          </a:xfrm>
          <a:prstGeom prst="rect">
            <a:avLst/>
          </a:prstGeom>
          <a:noFill/>
        </p:spPr>
        <p:txBody>
          <a:bodyPr wrap="square" lIns="18288" tIns="18288" rIns="18288" bIns="18288" anchor="ctr" rtlCol="0">
            <a:noAutofit/>
          </a:bodyPr>
          <a:lstStyle/>
          <a:p>
            <a:pPr algn="ctr">
              <a:lnSpc>
                <a:spcPts val="2125"/>
              </a:lnSpc>
              <a:spcBef>
                <a:spcPts val="0"/>
              </a:spcBef>
              <a:spcAft>
                <a:spcPts val="0"/>
              </a:spcAft>
              <a:buNone/>
            </a:pPr>
            <a:r>
              <a:rPr lang="en-US" altLang="en-US" sz="1700" b="1" dirty="0">
                <a:solidFill>
                  <a:srgbClr val="9AA3B5"/>
                </a:solidFill>
                <a:latin typeface="Calibri"/>
                <a:ea typeface="맑은 고딕"/>
                <a:cs typeface="Calibri"/>
              </a:rPr>
              <a:t>T   /   F</a:t>
            </a:r>
            <a:endParaRPr lang="ko-KR" sz="1700"/>
          </a:p>
        </p:txBody>
      </p:sp>
      <p:sp>
        <p:nvSpPr>
          <p:cNvPr id="20" name="rv_ans_3"/>
          <p:cNvSpPr/>
          <p:nvPr/>
        </p:nvSpPr>
        <p:spPr>
          <a:xfrm>
            <a:off x="9765792" y="4812411"/>
            <a:ext cx="1828800" cy="343027"/>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400"/>
              </a:lnSpc>
              <a:spcBef>
                <a:spcPts val="0"/>
              </a:spcBef>
              <a:spcAft>
                <a:spcPts val="0"/>
              </a:spcAft>
              <a:buNone/>
            </a:pPr>
            <a:r>
              <a:rPr lang="en-US" altLang="en-US" sz="2000" b="1" dirty="0">
                <a:solidFill>
                  <a:srgbClr val="C00000"/>
                </a:solidFill>
                <a:latin typeface="Calibri"/>
                <a:ea typeface="맑은 고딕"/>
                <a:cs typeface="Calibri"/>
              </a:rPr>
              <a:t>F</a:t>
            </a:r>
            <a:endParaRPr lang="ko-KR" sz="2000"/>
          </a:p>
        </p:txBody>
      </p:sp>
      <p:sp>
        <p:nvSpPr>
          <p:cNvPr id="21" name="q_card_4"/>
          <p:cNvSpPr/>
          <p:nvPr/>
        </p:nvSpPr>
        <p:spPr>
          <a:xfrm>
            <a:off x="457200" y="5274310"/>
            <a:ext cx="11274552" cy="434467"/>
          </a:xfrm>
          <a:prstGeom prst="roundRect">
            <a:avLst>
              <a:gd name="adj" fmla="val 12000"/>
            </a:avLst>
          </a:prstGeom>
          <a:noFill/>
          <a:ln w="12700">
            <a:solidFill>
              <a:srgbClr val="D5DAE5"/>
            </a:solidFill>
          </a:ln>
        </p:spPr>
        <p:txBody>
          <a:bodyPr rtlCol="0" anchor="ctr"/>
          <a:lstStyle/>
          <a:p>
            <a:pPr algn="ctr"/>
          </a:p>
        </p:txBody>
      </p:sp>
      <p:sp>
        <p:nvSpPr>
          <p:cNvPr id="22" name="q_4"/>
          <p:cNvSpPr txBox="1"/>
          <p:nvPr/>
        </p:nvSpPr>
        <p:spPr>
          <a:xfrm>
            <a:off x="502920" y="5274310"/>
            <a:ext cx="9171432" cy="434467"/>
          </a:xfrm>
          <a:prstGeom prst="rect">
            <a:avLst/>
          </a:prstGeom>
          <a:noFill/>
        </p:spPr>
        <p:txBody>
          <a:bodyPr wrap="square" lIns="109728" tIns="45720" rIns="109728" bIns="45720" anchor="ctr" rtlCol="0">
            <a:noAutofit/>
          </a:bodyPr>
          <a:lstStyle/>
          <a:p>
            <a:pPr algn="l">
              <a:lnSpc>
                <a:spcPts val="2125"/>
              </a:lnSpc>
              <a:spcBef>
                <a:spcPts val="0"/>
              </a:spcBef>
              <a:spcAft>
                <a:spcPts val="0"/>
              </a:spcAft>
              <a:buNone/>
            </a:pPr>
            <a:r>
              <a:rPr lang="en-US" altLang="en-US" sz="1700" b="1" dirty="0">
                <a:solidFill>
                  <a:srgbClr val="1E2A5A"/>
                </a:solidFill>
                <a:latin typeface="Calibri"/>
                <a:ea typeface="맑은 고딕"/>
                <a:cs typeface="Calibri"/>
              </a:rPr>
              <a:t>4.  </a:t>
            </a:r>
            <a:r>
              <a:rPr lang="ko-KR" altLang="en-US" sz="1700" b="0" dirty="0">
                <a:solidFill>
                  <a:srgbClr val="1F2328"/>
                </a:solidFill>
                <a:latin typeface="맑은 고딕"/>
                <a:ea typeface="맑은 고딕"/>
                <a:cs typeface="맑은 고딕"/>
              </a:rPr>
              <a:t>정보 통신 기술이 발달하면서 데이터의 양이 훨씬 많아지고 있다.</a:t>
            </a:r>
            <a:endParaRPr lang="ko-KR" sz="1700"/>
          </a:p>
        </p:txBody>
      </p:sp>
      <p:sp>
        <p:nvSpPr>
          <p:cNvPr id="23" name="tf_4"/>
          <p:cNvSpPr txBox="1"/>
          <p:nvPr/>
        </p:nvSpPr>
        <p:spPr>
          <a:xfrm>
            <a:off x="9765792" y="5274310"/>
            <a:ext cx="1828800" cy="434467"/>
          </a:xfrm>
          <a:prstGeom prst="rect">
            <a:avLst/>
          </a:prstGeom>
          <a:noFill/>
        </p:spPr>
        <p:txBody>
          <a:bodyPr wrap="square" lIns="18288" tIns="18288" rIns="18288" bIns="18288" anchor="ctr" rtlCol="0">
            <a:noAutofit/>
          </a:bodyPr>
          <a:lstStyle/>
          <a:p>
            <a:pPr algn="ctr">
              <a:lnSpc>
                <a:spcPts val="2125"/>
              </a:lnSpc>
              <a:spcBef>
                <a:spcPts val="0"/>
              </a:spcBef>
              <a:spcAft>
                <a:spcPts val="0"/>
              </a:spcAft>
              <a:buNone/>
            </a:pPr>
            <a:r>
              <a:rPr lang="en-US" altLang="en-US" sz="1700" b="1" dirty="0">
                <a:solidFill>
                  <a:srgbClr val="9AA3B5"/>
                </a:solidFill>
                <a:latin typeface="Calibri"/>
                <a:ea typeface="맑은 고딕"/>
                <a:cs typeface="Calibri"/>
              </a:rPr>
              <a:t>T   /   F</a:t>
            </a:r>
            <a:endParaRPr lang="ko-KR" sz="1700"/>
          </a:p>
        </p:txBody>
      </p:sp>
      <p:sp>
        <p:nvSpPr>
          <p:cNvPr id="24" name="rv_ans_4"/>
          <p:cNvSpPr/>
          <p:nvPr/>
        </p:nvSpPr>
        <p:spPr>
          <a:xfrm>
            <a:off x="9765792" y="5320030"/>
            <a:ext cx="1828800" cy="343027"/>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400"/>
              </a:lnSpc>
              <a:spcBef>
                <a:spcPts val="0"/>
              </a:spcBef>
              <a:spcAft>
                <a:spcPts val="0"/>
              </a:spcAft>
              <a:buNone/>
            </a:pPr>
            <a:r>
              <a:rPr lang="en-US" altLang="en-US" sz="2000" b="1" dirty="0">
                <a:solidFill>
                  <a:srgbClr val="C00000"/>
                </a:solidFill>
                <a:latin typeface="Calibri"/>
                <a:ea typeface="맑은 고딕"/>
                <a:cs typeface="Calibri"/>
              </a:rPr>
              <a:t>T</a:t>
            </a:r>
            <a:endParaRPr lang="ko-KR" sz="2000"/>
          </a:p>
        </p:txBody>
      </p:sp>
      <p:sp>
        <p:nvSpPr>
          <p:cNvPr id="25" name="q_card_5"/>
          <p:cNvSpPr/>
          <p:nvPr/>
        </p:nvSpPr>
        <p:spPr>
          <a:xfrm>
            <a:off x="457200" y="5781929"/>
            <a:ext cx="11274552" cy="434467"/>
          </a:xfrm>
          <a:prstGeom prst="roundRect">
            <a:avLst>
              <a:gd name="adj" fmla="val 12000"/>
            </a:avLst>
          </a:prstGeom>
          <a:noFill/>
          <a:ln w="12700">
            <a:solidFill>
              <a:srgbClr val="D5DAE5"/>
            </a:solidFill>
          </a:ln>
        </p:spPr>
        <p:txBody>
          <a:bodyPr rtlCol="0" anchor="ctr"/>
          <a:lstStyle/>
          <a:p>
            <a:pPr algn="ctr"/>
          </a:p>
        </p:txBody>
      </p:sp>
      <p:sp>
        <p:nvSpPr>
          <p:cNvPr id="26" name="q_5"/>
          <p:cNvSpPr txBox="1"/>
          <p:nvPr/>
        </p:nvSpPr>
        <p:spPr>
          <a:xfrm>
            <a:off x="502920" y="5781929"/>
            <a:ext cx="9171432" cy="434467"/>
          </a:xfrm>
          <a:prstGeom prst="rect">
            <a:avLst/>
          </a:prstGeom>
          <a:noFill/>
        </p:spPr>
        <p:txBody>
          <a:bodyPr wrap="square" lIns="109728" tIns="45720" rIns="109728" bIns="45720" anchor="ctr" rtlCol="0">
            <a:noAutofit/>
          </a:bodyPr>
          <a:lstStyle/>
          <a:p>
            <a:pPr algn="l">
              <a:lnSpc>
                <a:spcPts val="2125"/>
              </a:lnSpc>
              <a:spcBef>
                <a:spcPts val="0"/>
              </a:spcBef>
              <a:spcAft>
                <a:spcPts val="0"/>
              </a:spcAft>
              <a:buNone/>
            </a:pPr>
            <a:r>
              <a:rPr lang="en-US" altLang="en-US" sz="1700" b="1" dirty="0">
                <a:solidFill>
                  <a:srgbClr val="1E2A5A"/>
                </a:solidFill>
                <a:latin typeface="Calibri"/>
                <a:ea typeface="맑은 고딕"/>
                <a:cs typeface="Calibri"/>
              </a:rPr>
              <a:t>5.  </a:t>
            </a:r>
            <a:r>
              <a:rPr lang="ko-KR" altLang="en-US" sz="1700" b="0" dirty="0">
                <a:solidFill>
                  <a:srgbClr val="1F2328"/>
                </a:solidFill>
                <a:latin typeface="맑은 고딕"/>
                <a:ea typeface="맑은 고딕"/>
                <a:cs typeface="맑은 고딕"/>
              </a:rPr>
              <a:t>데이터 양이 늘어나는 주된 이유는 오프라인 활동이 기록되기 때문이다.</a:t>
            </a:r>
            <a:endParaRPr lang="ko-KR" sz="1700"/>
          </a:p>
        </p:txBody>
      </p:sp>
      <p:sp>
        <p:nvSpPr>
          <p:cNvPr id="27" name="tf_5"/>
          <p:cNvSpPr txBox="1"/>
          <p:nvPr/>
        </p:nvSpPr>
        <p:spPr>
          <a:xfrm>
            <a:off x="9765792" y="5781929"/>
            <a:ext cx="1828800" cy="434467"/>
          </a:xfrm>
          <a:prstGeom prst="rect">
            <a:avLst/>
          </a:prstGeom>
          <a:noFill/>
        </p:spPr>
        <p:txBody>
          <a:bodyPr wrap="square" lIns="18288" tIns="18288" rIns="18288" bIns="18288" anchor="ctr" rtlCol="0">
            <a:noAutofit/>
          </a:bodyPr>
          <a:lstStyle/>
          <a:p>
            <a:pPr algn="ctr">
              <a:lnSpc>
                <a:spcPts val="2125"/>
              </a:lnSpc>
              <a:spcBef>
                <a:spcPts val="0"/>
              </a:spcBef>
              <a:spcAft>
                <a:spcPts val="0"/>
              </a:spcAft>
              <a:buNone/>
            </a:pPr>
            <a:r>
              <a:rPr lang="en-US" altLang="en-US" sz="1700" b="1" dirty="0">
                <a:solidFill>
                  <a:srgbClr val="9AA3B5"/>
                </a:solidFill>
                <a:latin typeface="Calibri"/>
                <a:ea typeface="맑은 고딕"/>
                <a:cs typeface="Calibri"/>
              </a:rPr>
              <a:t>T   /   F</a:t>
            </a:r>
            <a:endParaRPr lang="ko-KR" sz="1700"/>
          </a:p>
        </p:txBody>
      </p:sp>
      <p:sp>
        <p:nvSpPr>
          <p:cNvPr id="28" name="rv_ans_5"/>
          <p:cNvSpPr/>
          <p:nvPr/>
        </p:nvSpPr>
        <p:spPr>
          <a:xfrm>
            <a:off x="9765792" y="5827649"/>
            <a:ext cx="1828800" cy="343027"/>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400"/>
              </a:lnSpc>
              <a:spcBef>
                <a:spcPts val="0"/>
              </a:spcBef>
              <a:spcAft>
                <a:spcPts val="0"/>
              </a:spcAft>
              <a:buNone/>
            </a:pPr>
            <a:r>
              <a:rPr lang="en-US" altLang="en-US" sz="2000" b="1" dirty="0">
                <a:solidFill>
                  <a:srgbClr val="C00000"/>
                </a:solidFill>
                <a:latin typeface="Calibri"/>
                <a:ea typeface="맑은 고딕"/>
                <a:cs typeface="Calibri"/>
              </a:rPr>
              <a:t>F</a:t>
            </a:r>
            <a:endParaRPr lang="ko-KR" sz="20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25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250"/>
                                        <p:tgtEl>
                                          <p:spTgt spid="1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0"/>
                                        </p:tgtEl>
                                        <p:attrNameLst>
                                          <p:attrName>style.visibility</p:attrName>
                                        </p:attrNameLst>
                                      </p:cBhvr>
                                      <p:to>
                                        <p:strVal val="visible"/>
                                      </p:to>
                                    </p:set>
                                    <p:animEffect transition="in" filter="fade">
                                      <p:cBhvr>
                                        <p:cTn id="13" dur="250"/>
                                        <p:tgtEl>
                                          <p:spTgt spid="20"/>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4"/>
                                        </p:tgtEl>
                                        <p:attrNameLst>
                                          <p:attrName>style.visibility</p:attrName>
                                        </p:attrNameLst>
                                      </p:cBhvr>
                                      <p:to>
                                        <p:strVal val="visible"/>
                                      </p:to>
                                    </p:set>
                                    <p:animEffect transition="in" filter="fade">
                                      <p:cBhvr>
                                        <p:cTn id="16" dur="250"/>
                                        <p:tgtEl>
                                          <p:spTgt spid="24"/>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8"/>
                                        </p:tgtEl>
                                        <p:attrNameLst>
                                          <p:attrName>style.visibility</p:attrName>
                                        </p:attrNameLst>
                                      </p:cBhvr>
                                      <p:to>
                                        <p:strVal val="visible"/>
                                      </p:to>
                                    </p:set>
                                    <p:animEffect transition="in" filter="fade">
                                      <p:cBhvr>
                                        <p:cTn id="19" dur="25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6" grpId="0" animBg="1"/>
      <p:bldP spid="20" grpId="0" animBg="1"/>
      <p:bldP spid="24" grpId="0" animBg="1"/>
      <p:bldP spid="28" grpId="0" animBg="1"/>
    </p:bldLst>
  </p:timing>
</p:sld>
</file>

<file path=ppt/slides/slide20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8000"/>
            </a:avLst>
          </a:prstGeom>
          <a:solidFill>
            <a:srgbClr val="1E2A5A"/>
          </a:solidFill>
          <a:ln>
            <a:noFill/>
          </a:ln>
        </p:spPr>
        <p:txBody>
          <a:bodyPr wrap="square" lIns="45720" tIns="18288" rIns="45720" bIns="18288" anchor="ctr" rtlCol="0">
            <a:noAutofit/>
          </a:bodyPr>
          <a:lstStyle/>
          <a:p>
            <a:pPr algn="ctr">
              <a:lnSpc>
                <a:spcPts val="2000"/>
              </a:lnSpc>
              <a:spcBef>
                <a:spcPts val="0"/>
              </a:spcBef>
              <a:spcAft>
                <a:spcPts val="0"/>
              </a:spcAft>
              <a:buNone/>
            </a:pPr>
            <a:r>
              <a:rPr lang="en-US" altLang="en-US" sz="1700" b="1" dirty="0">
                <a:solidFill>
                  <a:srgbClr val="FFFFFF"/>
                </a:solidFill>
                <a:latin typeface="Calibri"/>
                <a:ea typeface="맑은 고딕"/>
                <a:cs typeface="Calibri"/>
              </a:rPr>
              <a:t>L7-1</a:t>
            </a:r>
            <a:endParaRPr lang="ko-KR" sz="1700"/>
          </a:p>
        </p:txBody>
      </p:sp>
      <p:sp>
        <p:nvSpPr>
          <p:cNvPr id="3" name="hdr_chip"/>
          <p:cNvSpPr/>
          <p:nvPr/>
        </p:nvSpPr>
        <p:spPr>
          <a:xfrm>
            <a:off x="1755648" y="274320"/>
            <a:ext cx="1371600" cy="493776"/>
          </a:xfrm>
          <a:prstGeom prst="roundRect">
            <a:avLst>
              <a:gd name="adj" fmla="val 8000"/>
            </a:avLst>
          </a:prstGeom>
          <a:solidFill>
            <a:srgbClr val="E6EAF4"/>
          </a:solidFill>
          <a:ln>
            <a:noFill/>
          </a:ln>
        </p:spPr>
        <p:txBody>
          <a:bodyPr wrap="square" lIns="27432" tIns="18288" rIns="27432" bIns="18288" anchor="ctr" rtlCol="0">
            <a:noAutofit/>
          </a:bodyPr>
          <a:lstStyle/>
          <a:p>
            <a:pPr algn="ctr">
              <a:lnSpc>
                <a:spcPts val="1700"/>
              </a:lnSpc>
              <a:spcBef>
                <a:spcPts val="0"/>
              </a:spcBef>
              <a:spcAft>
                <a:spcPts val="0"/>
              </a:spcAft>
              <a:buNone/>
            </a:pPr>
            <a:r>
              <a:rPr lang="ko-KR" altLang="en-US" sz="1400" b="1" dirty="0">
                <a:solidFill>
                  <a:srgbClr val="1E2A5A"/>
                </a:solidFill>
                <a:latin typeface="맑은 고딕"/>
                <a:ea typeface="맑은 고딕"/>
                <a:cs typeface="맑은 고딕"/>
              </a:rPr>
              <a:t>PART 4 · 2</a:t>
            </a:r>
            <a:endParaRPr lang="ko-KR" sz="1400"/>
          </a:p>
        </p:txBody>
      </p:sp>
      <p:sp>
        <p:nvSpPr>
          <p:cNvPr id="4" name="hdr_q"/>
          <p:cNvSpPr txBox="1"/>
          <p:nvPr/>
        </p:nvSpPr>
        <p:spPr>
          <a:xfrm>
            <a:off x="3246120" y="246888"/>
            <a:ext cx="8485632" cy="548640"/>
          </a:xfrm>
          <a:prstGeom prst="rect">
            <a:avLst/>
          </a:prstGeom>
          <a:noFill/>
        </p:spPr>
        <p:txBody>
          <a:bodyPr wrap="square" lIns="109728" tIns="54864" rIns="109728" bIns="54864" anchor="ctr" rtlCol="0">
            <a:noAutofit/>
          </a:bodyPr>
          <a:lstStyle/>
          <a:p>
            <a:pPr algn="l">
              <a:lnSpc>
                <a:spcPts val="2400"/>
              </a:lnSpc>
              <a:spcBef>
                <a:spcPts val="0"/>
              </a:spcBef>
              <a:spcAft>
                <a:spcPts val="0"/>
              </a:spcAft>
              <a:buNone/>
            </a:pPr>
            <a:r>
              <a:rPr lang="ko-KR" altLang="en-US" sz="2000" b="1" dirty="0">
                <a:solidFill>
                  <a:srgbClr val="1F2328"/>
                </a:solidFill>
                <a:latin typeface="맑은 고딕"/>
                <a:ea typeface="맑은 고딕"/>
                <a:cs typeface="맑은 고딕"/>
              </a:rPr>
              <a:t>본문과 일치하면 T, 일치하지 않으면 F를 고르시오.</a:t>
            </a:r>
            <a:endParaRPr lang="ko-KR" sz="2000"/>
          </a:p>
        </p:txBody>
      </p:sp>
      <p:sp>
        <p:nvSpPr>
          <p:cNvPr id="5" name="ftr_exam"/>
          <p:cNvSpPr txBox="1"/>
          <p:nvPr/>
        </p:nvSpPr>
        <p:spPr>
          <a:xfrm>
            <a:off x="457200" y="6519672"/>
            <a:ext cx="5669280" cy="256032"/>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7</a:t>
            </a:r>
            <a:endParaRPr lang="ko-KR" sz="1000"/>
          </a:p>
        </p:txBody>
      </p:sp>
      <p:sp>
        <p:nvSpPr>
          <p:cNvPr id="6" name="ftr_hint"/>
          <p:cNvSpPr txBox="1"/>
          <p:nvPr/>
        </p:nvSpPr>
        <p:spPr>
          <a:xfrm>
            <a:off x="5971032" y="6519672"/>
            <a:ext cx="5760720" cy="256032"/>
          </a:xfrm>
          <a:prstGeom prst="rect">
            <a:avLst/>
          </a:prstGeom>
          <a:noFill/>
        </p:spPr>
        <p:txBody>
          <a:bodyPr wrap="square" lIns="0" tIns="0" rIns="0" bIns="0" anchor="t" rtlCol="0">
            <a:noAutofit/>
          </a:bodyPr>
          <a:lstStyle/>
          <a:p>
            <a:pPr algn="r">
              <a:lnSpc>
                <a:spcPts val="1200"/>
              </a:lnSpc>
              <a:spcBef>
                <a:spcPts val="0"/>
              </a:spcBef>
              <a:spcAft>
                <a:spcPts val="0"/>
              </a:spcAft>
              <a:buNone/>
            </a:pPr>
            <a:r>
              <a:rPr lang="ko-KR" altLang="en-US" sz="1000" b="0" dirty="0">
                <a:solidFill>
                  <a:srgbClr val="7A808C"/>
                </a:solidFill>
                <a:latin typeface="맑은 고딕"/>
                <a:ea typeface="맑은 고딕"/>
                <a:cs typeface="맑은 고딕"/>
              </a:rPr>
              <a:t>클릭 ① 정답(T/F) 공개</a:t>
            </a:r>
            <a:endParaRPr lang="ko-KR" sz="1000"/>
          </a:p>
        </p:txBody>
      </p:sp>
      <p:sp>
        <p:nvSpPr>
          <p:cNvPr id="7" name="passage_card"/>
          <p:cNvSpPr/>
          <p:nvPr/>
        </p:nvSpPr>
        <p:spPr>
          <a:xfrm>
            <a:off x="457200" y="950976"/>
            <a:ext cx="11274552" cy="2366010"/>
          </a:xfrm>
          <a:prstGeom prst="roundRect">
            <a:avLst>
              <a:gd name="adj" fmla="val 4000"/>
            </a:avLst>
          </a:prstGeom>
          <a:solidFill>
            <a:srgbClr val="F3F5F9"/>
          </a:solidFill>
          <a:ln w="12700">
            <a:solidFill>
              <a:srgbClr val="D9DFEA"/>
            </a:solidFill>
          </a:ln>
        </p:spPr>
        <p:txBody>
          <a:bodyPr rtlCol="0" anchor="ctr"/>
          <a:lstStyle/>
          <a:p>
            <a:pPr algn="ctr"/>
          </a:p>
        </p:txBody>
      </p:sp>
      <p:sp>
        <p:nvSpPr>
          <p:cNvPr id="8" name="passage"/>
          <p:cNvSpPr txBox="1"/>
          <p:nvPr/>
        </p:nvSpPr>
        <p:spPr>
          <a:xfrm>
            <a:off x="457200" y="950976"/>
            <a:ext cx="11274552" cy="2366010"/>
          </a:xfrm>
          <a:prstGeom prst="rect">
            <a:avLst/>
          </a:prstGeom>
          <a:noFill/>
        </p:spPr>
        <p:txBody>
          <a:bodyPr wrap="square" lIns="182880" tIns="137160" rIns="182880" bIns="137160" anchor="t" rtlCol="0">
            <a:noAutofit/>
          </a:bodyPr>
          <a:lstStyle/>
          <a:p>
            <a:pPr algn="l">
              <a:lnSpc>
                <a:spcPts val="1830"/>
              </a:lnSpc>
              <a:spcBef>
                <a:spcPts val="0"/>
              </a:spcBef>
              <a:spcAft>
                <a:spcPts val="0"/>
              </a:spcAft>
              <a:buNone/>
            </a:pPr>
            <a:r>
              <a:rPr lang="ko-KR" altLang="en-US" sz="1500" b="1" dirty="0">
                <a:solidFill>
                  <a:srgbClr val="1E2A5A"/>
                </a:solidFill>
                <a:latin typeface="맑은 고딕"/>
                <a:ea typeface="맑은 고딕"/>
                <a:cs typeface="맑은 고딕"/>
              </a:rPr>
              <a:t>① </a:t>
            </a:r>
            <a:r>
              <a:rPr lang="en-US" altLang="en-US" sz="1500" b="0" dirty="0">
                <a:solidFill>
                  <a:srgbClr val="1F2328"/>
                </a:solidFill>
                <a:latin typeface="Calibri"/>
                <a:ea typeface="맑은 고딕"/>
                <a:cs typeface="Calibri"/>
              </a:rPr>
              <a:t>Have you ever visited an online bookstore and been surprised by the books that the store recommended for you? </a:t>
            </a:r>
            <a:r>
              <a:rPr lang="ko-KR" altLang="en-US" sz="1500" b="1" dirty="0">
                <a:solidFill>
                  <a:srgbClr val="1E2A5A"/>
                </a:solidFill>
                <a:latin typeface="맑은 고딕"/>
                <a:ea typeface="맑은 고딕"/>
                <a:cs typeface="맑은 고딕"/>
              </a:rPr>
              <a:t>② </a:t>
            </a:r>
            <a:r>
              <a:rPr lang="en-US" altLang="en-US" sz="1500" b="0" dirty="0">
                <a:solidFill>
                  <a:srgbClr val="1F2328"/>
                </a:solidFill>
                <a:latin typeface="Calibri"/>
                <a:ea typeface="맑은 고딕"/>
                <a:cs typeface="Calibri"/>
              </a:rPr>
              <a:t>Many of them looked interesting to you. So how did the bookstore know what you liked? </a:t>
            </a:r>
            <a:r>
              <a:rPr lang="ko-KR" altLang="en-US" sz="1500" b="1" dirty="0">
                <a:solidFill>
                  <a:srgbClr val="1E2A5A"/>
                </a:solidFill>
                <a:latin typeface="맑은 고딕"/>
                <a:ea typeface="맑은 고딕"/>
                <a:cs typeface="맑은 고딕"/>
              </a:rPr>
              <a:t>③ </a:t>
            </a:r>
            <a:r>
              <a:rPr lang="en-US" altLang="en-US" sz="1500" b="0" dirty="0">
                <a:solidFill>
                  <a:srgbClr val="1F2328"/>
                </a:solidFill>
                <a:latin typeface="Calibri"/>
                <a:ea typeface="맑은 고딕"/>
                <a:cs typeface="Calibri"/>
              </a:rPr>
              <a:t>This is all possible because of big data. </a:t>
            </a:r>
            <a:r>
              <a:rPr lang="ko-KR" altLang="en-US" sz="1500" b="1" dirty="0">
                <a:solidFill>
                  <a:srgbClr val="1E2A5A"/>
                </a:solidFill>
                <a:latin typeface="맑은 고딕"/>
                <a:ea typeface="맑은 고딕"/>
                <a:cs typeface="맑은 고딕"/>
              </a:rPr>
              <a:t>④ </a:t>
            </a:r>
            <a:r>
              <a:rPr lang="en-US" altLang="en-US" sz="1500" b="0" dirty="0">
                <a:solidFill>
                  <a:srgbClr val="1F2328"/>
                </a:solidFill>
                <a:latin typeface="Calibri"/>
                <a:ea typeface="맑은 고딕"/>
                <a:cs typeface="Calibri"/>
              </a:rPr>
              <a:t>Big data is data sets that are very big and complex. </a:t>
            </a:r>
            <a:r>
              <a:rPr lang="ko-KR" altLang="en-US" sz="1500" b="1" dirty="0">
                <a:solidFill>
                  <a:srgbClr val="1E2A5A"/>
                </a:solidFill>
                <a:latin typeface="맑은 고딕"/>
                <a:ea typeface="맑은 고딕"/>
                <a:cs typeface="맑은 고딕"/>
              </a:rPr>
              <a:t>⑤ </a:t>
            </a:r>
            <a:r>
              <a:rPr lang="en-US" altLang="en-US" sz="1500" b="0" dirty="0">
                <a:solidFill>
                  <a:srgbClr val="1F2328"/>
                </a:solidFill>
                <a:latin typeface="Calibri"/>
                <a:ea typeface="맑은 고딕"/>
                <a:cs typeface="Calibri"/>
              </a:rPr>
              <a:t>As information and communication technology develops, the amount of data we have is getting much greater than before. </a:t>
            </a:r>
            <a:r>
              <a:rPr lang="ko-KR" altLang="en-US" sz="1500" b="1" dirty="0">
                <a:solidFill>
                  <a:srgbClr val="1E2A5A"/>
                </a:solidFill>
                <a:latin typeface="맑은 고딕"/>
                <a:ea typeface="맑은 고딕"/>
                <a:cs typeface="맑은 고딕"/>
              </a:rPr>
              <a:t>⑥ </a:t>
            </a:r>
            <a:r>
              <a:rPr lang="en-US" altLang="en-US" sz="1500" b="0" dirty="0">
                <a:solidFill>
                  <a:srgbClr val="1F2328"/>
                </a:solidFill>
                <a:latin typeface="Calibri"/>
                <a:ea typeface="맑은 고딕"/>
                <a:cs typeface="Calibri"/>
              </a:rPr>
              <a:t>This is mainly because almost everything that we do online leaves a trace. </a:t>
            </a:r>
            <a:r>
              <a:rPr lang="ko-KR" altLang="en-US" sz="1500" b="1" dirty="0">
                <a:solidFill>
                  <a:srgbClr val="1E2A5A"/>
                </a:solidFill>
                <a:latin typeface="맑은 고딕"/>
                <a:ea typeface="맑은 고딕"/>
                <a:cs typeface="맑은 고딕"/>
              </a:rPr>
              <a:t>⑦ </a:t>
            </a:r>
            <a:r>
              <a:rPr lang="en-US" altLang="en-US" sz="1500" b="0" dirty="0">
                <a:solidFill>
                  <a:srgbClr val="1F2328"/>
                </a:solidFill>
                <a:latin typeface="Calibri"/>
                <a:ea typeface="맑은 고딕"/>
                <a:cs typeface="Calibri"/>
              </a:rPr>
              <a:t>For example, the photos you upload on your blog and the records of your purchases at online stores are all part of big data. </a:t>
            </a:r>
            <a:r>
              <a:rPr lang="ko-KR" altLang="en-US" sz="1500" b="1" dirty="0">
                <a:solidFill>
                  <a:srgbClr val="1E2A5A"/>
                </a:solidFill>
                <a:latin typeface="맑은 고딕"/>
                <a:ea typeface="맑은 고딕"/>
                <a:cs typeface="맑은 고딕"/>
              </a:rPr>
              <a:t>⑧ </a:t>
            </a:r>
            <a:r>
              <a:rPr lang="en-US" altLang="en-US" sz="1500" b="0" dirty="0">
                <a:solidFill>
                  <a:srgbClr val="1F2328"/>
                </a:solidFill>
                <a:latin typeface="Calibri"/>
                <a:ea typeface="맑은 고딕"/>
                <a:cs typeface="Calibri"/>
              </a:rPr>
              <a:t>Simply collecting data, however, is not enough. </a:t>
            </a:r>
            <a:r>
              <a:rPr lang="ko-KR" altLang="en-US" sz="1500" b="1" dirty="0">
                <a:solidFill>
                  <a:srgbClr val="1E2A5A"/>
                </a:solidFill>
                <a:latin typeface="맑은 고딕"/>
                <a:ea typeface="맑은 고딕"/>
                <a:cs typeface="맑은 고딕"/>
              </a:rPr>
              <a:t>⑨ </a:t>
            </a:r>
            <a:r>
              <a:rPr lang="en-US" altLang="en-US" sz="1500" b="0" dirty="0">
                <a:solidFill>
                  <a:srgbClr val="1F2328"/>
                </a:solidFill>
                <a:latin typeface="Calibri"/>
                <a:ea typeface="맑은 고딕"/>
                <a:cs typeface="Calibri"/>
              </a:rPr>
              <a:t>Big data has to be analyzed, and this is done by big data experts. </a:t>
            </a:r>
            <a:r>
              <a:rPr lang="ko-KR" altLang="en-US" sz="1500" b="1" dirty="0">
                <a:solidFill>
                  <a:srgbClr val="1E2A5A"/>
                </a:solidFill>
                <a:latin typeface="맑은 고딕"/>
                <a:ea typeface="맑은 고딕"/>
                <a:cs typeface="맑은 고딕"/>
              </a:rPr>
              <a:t>⑩ </a:t>
            </a:r>
            <a:r>
              <a:rPr lang="en-US" altLang="en-US" sz="1500" b="0" dirty="0">
                <a:solidFill>
                  <a:srgbClr val="1F2328"/>
                </a:solidFill>
                <a:latin typeface="Calibri"/>
                <a:ea typeface="맑은 고딕"/>
                <a:cs typeface="Calibri"/>
              </a:rPr>
              <a:t>Using various methods, experts analyze big data and draw meaningful results from it. </a:t>
            </a:r>
            <a:r>
              <a:rPr lang="ko-KR" altLang="en-US" sz="1500" b="1" dirty="0">
                <a:solidFill>
                  <a:srgbClr val="1E2A5A"/>
                </a:solidFill>
                <a:latin typeface="맑은 고딕"/>
                <a:ea typeface="맑은 고딕"/>
                <a:cs typeface="맑은 고딕"/>
              </a:rPr>
              <a:t>⑪ </a:t>
            </a:r>
            <a:r>
              <a:rPr lang="en-US" altLang="en-US" sz="1500" b="0" dirty="0">
                <a:solidFill>
                  <a:srgbClr val="1F2328"/>
                </a:solidFill>
                <a:latin typeface="Calibri"/>
                <a:ea typeface="맑은 고딕"/>
                <a:cs typeface="Calibri"/>
              </a:rPr>
              <a:t>These results then can be used to make decisions or to predict the future. </a:t>
            </a:r>
            <a:endParaRPr lang="ko-KR" sz="1500"/>
          </a:p>
        </p:txBody>
      </p:sp>
      <p:sp>
        <p:nvSpPr>
          <p:cNvPr id="9" name="q_card_1"/>
          <p:cNvSpPr/>
          <p:nvPr/>
        </p:nvSpPr>
        <p:spPr>
          <a:xfrm>
            <a:off x="457200" y="3481578"/>
            <a:ext cx="11274552" cy="450342"/>
          </a:xfrm>
          <a:prstGeom prst="roundRect">
            <a:avLst>
              <a:gd name="adj" fmla="val 12000"/>
            </a:avLst>
          </a:prstGeom>
          <a:noFill/>
          <a:ln w="12700">
            <a:solidFill>
              <a:srgbClr val="D5DAE5"/>
            </a:solidFill>
          </a:ln>
        </p:spPr>
        <p:txBody>
          <a:bodyPr rtlCol="0" anchor="ctr"/>
          <a:lstStyle/>
          <a:p>
            <a:pPr algn="ctr"/>
          </a:p>
        </p:txBody>
      </p:sp>
      <p:sp>
        <p:nvSpPr>
          <p:cNvPr id="10" name="q_1"/>
          <p:cNvSpPr txBox="1"/>
          <p:nvPr/>
        </p:nvSpPr>
        <p:spPr>
          <a:xfrm>
            <a:off x="502920" y="3481578"/>
            <a:ext cx="9171432" cy="450342"/>
          </a:xfrm>
          <a:prstGeom prst="rect">
            <a:avLst/>
          </a:prstGeom>
          <a:noFill/>
        </p:spPr>
        <p:txBody>
          <a:bodyPr wrap="square" lIns="109728" tIns="45720" rIns="109728" bIns="45720" anchor="ctr" rtlCol="0">
            <a:noAutofit/>
          </a:bodyPr>
          <a:lstStyle/>
          <a:p>
            <a:pPr algn="l">
              <a:lnSpc>
                <a:spcPts val="2250"/>
              </a:lnSpc>
              <a:spcBef>
                <a:spcPts val="0"/>
              </a:spcBef>
              <a:spcAft>
                <a:spcPts val="0"/>
              </a:spcAft>
              <a:buNone/>
            </a:pPr>
            <a:r>
              <a:rPr lang="en-US" altLang="en-US" sz="1800" b="1" dirty="0">
                <a:solidFill>
                  <a:srgbClr val="1E2A5A"/>
                </a:solidFill>
                <a:latin typeface="Calibri"/>
                <a:ea typeface="맑은 고딕"/>
                <a:cs typeface="Calibri"/>
              </a:rPr>
              <a:t>6.  </a:t>
            </a:r>
            <a:r>
              <a:rPr lang="ko-KR" altLang="en-US" sz="1800" b="0" dirty="0">
                <a:solidFill>
                  <a:srgbClr val="1F2328"/>
                </a:solidFill>
                <a:latin typeface="맑은 고딕"/>
                <a:ea typeface="맑은 고딕"/>
                <a:cs typeface="맑은 고딕"/>
              </a:rPr>
              <a:t>온라인에서 하는 거의 모든 것이 흔적을 남긴다.</a:t>
            </a:r>
            <a:endParaRPr lang="ko-KR" sz="1800"/>
          </a:p>
        </p:txBody>
      </p:sp>
      <p:sp>
        <p:nvSpPr>
          <p:cNvPr id="11" name="tf_1"/>
          <p:cNvSpPr txBox="1"/>
          <p:nvPr/>
        </p:nvSpPr>
        <p:spPr>
          <a:xfrm>
            <a:off x="9765792" y="3481578"/>
            <a:ext cx="1828800" cy="450342"/>
          </a:xfrm>
          <a:prstGeom prst="rect">
            <a:avLst/>
          </a:prstGeom>
          <a:noFill/>
        </p:spPr>
        <p:txBody>
          <a:bodyPr wrap="square" lIns="18288" tIns="18288" rIns="18288" bIns="18288" anchor="ctr" rtlCol="0">
            <a:noAutofit/>
          </a:bodyPr>
          <a:lstStyle/>
          <a:p>
            <a:pPr algn="ctr">
              <a:lnSpc>
                <a:spcPts val="2250"/>
              </a:lnSpc>
              <a:spcBef>
                <a:spcPts val="0"/>
              </a:spcBef>
              <a:spcAft>
                <a:spcPts val="0"/>
              </a:spcAft>
              <a:buNone/>
            </a:pPr>
            <a:r>
              <a:rPr lang="en-US" altLang="en-US" sz="1800" b="1" dirty="0">
                <a:solidFill>
                  <a:srgbClr val="9AA3B5"/>
                </a:solidFill>
                <a:latin typeface="Calibri"/>
                <a:ea typeface="맑은 고딕"/>
                <a:cs typeface="Calibri"/>
              </a:rPr>
              <a:t>T   /   F</a:t>
            </a:r>
            <a:endParaRPr lang="ko-KR" sz="1800"/>
          </a:p>
        </p:txBody>
      </p:sp>
      <p:sp>
        <p:nvSpPr>
          <p:cNvPr id="12" name="rv_ans_1"/>
          <p:cNvSpPr/>
          <p:nvPr/>
        </p:nvSpPr>
        <p:spPr>
          <a:xfrm>
            <a:off x="9765792" y="3527298"/>
            <a:ext cx="1828800" cy="358901"/>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520"/>
              </a:lnSpc>
              <a:spcBef>
                <a:spcPts val="0"/>
              </a:spcBef>
              <a:spcAft>
                <a:spcPts val="0"/>
              </a:spcAft>
              <a:buNone/>
            </a:pPr>
            <a:r>
              <a:rPr lang="en-US" altLang="en-US" sz="2100" b="1" dirty="0">
                <a:solidFill>
                  <a:srgbClr val="C00000"/>
                </a:solidFill>
                <a:latin typeface="Calibri"/>
                <a:ea typeface="맑은 고딕"/>
                <a:cs typeface="Calibri"/>
              </a:rPr>
              <a:t>T</a:t>
            </a:r>
            <a:endParaRPr lang="ko-KR" sz="2100"/>
          </a:p>
        </p:txBody>
      </p:sp>
      <p:sp>
        <p:nvSpPr>
          <p:cNvPr id="13" name="q_card_2"/>
          <p:cNvSpPr/>
          <p:nvPr/>
        </p:nvSpPr>
        <p:spPr>
          <a:xfrm>
            <a:off x="457200" y="4005072"/>
            <a:ext cx="11274552" cy="450342"/>
          </a:xfrm>
          <a:prstGeom prst="roundRect">
            <a:avLst>
              <a:gd name="adj" fmla="val 12000"/>
            </a:avLst>
          </a:prstGeom>
          <a:noFill/>
          <a:ln w="12700">
            <a:solidFill>
              <a:srgbClr val="D5DAE5"/>
            </a:solidFill>
          </a:ln>
        </p:spPr>
        <p:txBody>
          <a:bodyPr rtlCol="0" anchor="ctr"/>
          <a:lstStyle/>
          <a:p>
            <a:pPr algn="ctr"/>
          </a:p>
        </p:txBody>
      </p:sp>
      <p:sp>
        <p:nvSpPr>
          <p:cNvPr id="14" name="q_2"/>
          <p:cNvSpPr txBox="1"/>
          <p:nvPr/>
        </p:nvSpPr>
        <p:spPr>
          <a:xfrm>
            <a:off x="502920" y="4005072"/>
            <a:ext cx="9171432" cy="450342"/>
          </a:xfrm>
          <a:prstGeom prst="rect">
            <a:avLst/>
          </a:prstGeom>
          <a:noFill/>
        </p:spPr>
        <p:txBody>
          <a:bodyPr wrap="square" lIns="109728" tIns="45720" rIns="109728" bIns="45720" anchor="ctr" rtlCol="0">
            <a:noAutofit/>
          </a:bodyPr>
          <a:lstStyle/>
          <a:p>
            <a:pPr algn="l">
              <a:lnSpc>
                <a:spcPts val="2250"/>
              </a:lnSpc>
              <a:spcBef>
                <a:spcPts val="0"/>
              </a:spcBef>
              <a:spcAft>
                <a:spcPts val="0"/>
              </a:spcAft>
              <a:buNone/>
            </a:pPr>
            <a:r>
              <a:rPr lang="en-US" altLang="en-US" sz="1800" b="1" dirty="0">
                <a:solidFill>
                  <a:srgbClr val="1E2A5A"/>
                </a:solidFill>
                <a:latin typeface="Calibri"/>
                <a:ea typeface="맑은 고딕"/>
                <a:cs typeface="Calibri"/>
              </a:rPr>
              <a:t>7.  </a:t>
            </a:r>
            <a:r>
              <a:rPr lang="ko-KR" altLang="en-US" sz="1800" b="0" dirty="0">
                <a:solidFill>
                  <a:srgbClr val="1F2328"/>
                </a:solidFill>
                <a:latin typeface="맑은 고딕"/>
                <a:ea typeface="맑은 고딕"/>
                <a:cs typeface="맑은 고딕"/>
              </a:rPr>
              <a:t>블로그에 올린 사진도 빅데이터의 일부이다.</a:t>
            </a:r>
            <a:endParaRPr lang="ko-KR" sz="1800"/>
          </a:p>
        </p:txBody>
      </p:sp>
      <p:sp>
        <p:nvSpPr>
          <p:cNvPr id="15" name="tf_2"/>
          <p:cNvSpPr txBox="1"/>
          <p:nvPr/>
        </p:nvSpPr>
        <p:spPr>
          <a:xfrm>
            <a:off x="9765792" y="4005072"/>
            <a:ext cx="1828800" cy="450342"/>
          </a:xfrm>
          <a:prstGeom prst="rect">
            <a:avLst/>
          </a:prstGeom>
          <a:noFill/>
        </p:spPr>
        <p:txBody>
          <a:bodyPr wrap="square" lIns="18288" tIns="18288" rIns="18288" bIns="18288" anchor="ctr" rtlCol="0">
            <a:noAutofit/>
          </a:bodyPr>
          <a:lstStyle/>
          <a:p>
            <a:pPr algn="ctr">
              <a:lnSpc>
                <a:spcPts val="2250"/>
              </a:lnSpc>
              <a:spcBef>
                <a:spcPts val="0"/>
              </a:spcBef>
              <a:spcAft>
                <a:spcPts val="0"/>
              </a:spcAft>
              <a:buNone/>
            </a:pPr>
            <a:r>
              <a:rPr lang="en-US" altLang="en-US" sz="1800" b="1" dirty="0">
                <a:solidFill>
                  <a:srgbClr val="9AA3B5"/>
                </a:solidFill>
                <a:latin typeface="Calibri"/>
                <a:ea typeface="맑은 고딕"/>
                <a:cs typeface="Calibri"/>
              </a:rPr>
              <a:t>T   /   F</a:t>
            </a:r>
            <a:endParaRPr lang="ko-KR" sz="1800"/>
          </a:p>
        </p:txBody>
      </p:sp>
      <p:sp>
        <p:nvSpPr>
          <p:cNvPr id="16" name="rv_ans_2"/>
          <p:cNvSpPr/>
          <p:nvPr/>
        </p:nvSpPr>
        <p:spPr>
          <a:xfrm>
            <a:off x="9765792" y="4050791"/>
            <a:ext cx="1828800" cy="358901"/>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520"/>
              </a:lnSpc>
              <a:spcBef>
                <a:spcPts val="0"/>
              </a:spcBef>
              <a:spcAft>
                <a:spcPts val="0"/>
              </a:spcAft>
              <a:buNone/>
            </a:pPr>
            <a:r>
              <a:rPr lang="en-US" altLang="en-US" sz="2100" b="1" dirty="0">
                <a:solidFill>
                  <a:srgbClr val="C00000"/>
                </a:solidFill>
                <a:latin typeface="Calibri"/>
                <a:ea typeface="맑은 고딕"/>
                <a:cs typeface="Calibri"/>
              </a:rPr>
              <a:t>T</a:t>
            </a:r>
            <a:endParaRPr lang="ko-KR" sz="2100"/>
          </a:p>
        </p:txBody>
      </p:sp>
      <p:sp>
        <p:nvSpPr>
          <p:cNvPr id="17" name="q_card_3"/>
          <p:cNvSpPr/>
          <p:nvPr/>
        </p:nvSpPr>
        <p:spPr>
          <a:xfrm>
            <a:off x="457200" y="4528566"/>
            <a:ext cx="11274552" cy="450342"/>
          </a:xfrm>
          <a:prstGeom prst="roundRect">
            <a:avLst>
              <a:gd name="adj" fmla="val 12000"/>
            </a:avLst>
          </a:prstGeom>
          <a:noFill/>
          <a:ln w="12700">
            <a:solidFill>
              <a:srgbClr val="D5DAE5"/>
            </a:solidFill>
          </a:ln>
        </p:spPr>
        <p:txBody>
          <a:bodyPr rtlCol="0" anchor="ctr"/>
          <a:lstStyle/>
          <a:p>
            <a:pPr algn="ctr"/>
          </a:p>
        </p:txBody>
      </p:sp>
      <p:sp>
        <p:nvSpPr>
          <p:cNvPr id="18" name="q_3"/>
          <p:cNvSpPr txBox="1"/>
          <p:nvPr/>
        </p:nvSpPr>
        <p:spPr>
          <a:xfrm>
            <a:off x="502920" y="4528566"/>
            <a:ext cx="9171432" cy="450342"/>
          </a:xfrm>
          <a:prstGeom prst="rect">
            <a:avLst/>
          </a:prstGeom>
          <a:noFill/>
        </p:spPr>
        <p:txBody>
          <a:bodyPr wrap="square" lIns="109728" tIns="45720" rIns="109728" bIns="45720" anchor="ctr" rtlCol="0">
            <a:noAutofit/>
          </a:bodyPr>
          <a:lstStyle/>
          <a:p>
            <a:pPr algn="l">
              <a:lnSpc>
                <a:spcPts val="2250"/>
              </a:lnSpc>
              <a:spcBef>
                <a:spcPts val="0"/>
              </a:spcBef>
              <a:spcAft>
                <a:spcPts val="0"/>
              </a:spcAft>
              <a:buNone/>
            </a:pPr>
            <a:r>
              <a:rPr lang="en-US" altLang="en-US" sz="1800" b="1" dirty="0">
                <a:solidFill>
                  <a:srgbClr val="1E2A5A"/>
                </a:solidFill>
                <a:latin typeface="Calibri"/>
                <a:ea typeface="맑은 고딕"/>
                <a:cs typeface="Calibri"/>
              </a:rPr>
              <a:t>8.  </a:t>
            </a:r>
            <a:r>
              <a:rPr lang="ko-KR" altLang="en-US" sz="1800" b="0" dirty="0">
                <a:solidFill>
                  <a:srgbClr val="1F2328"/>
                </a:solidFill>
                <a:latin typeface="맑은 고딕"/>
                <a:ea typeface="맑은 고딕"/>
                <a:cs typeface="맑은 고딕"/>
              </a:rPr>
              <a:t>단순히 데이터를 수집하는 것만으로 충분하다.</a:t>
            </a:r>
            <a:endParaRPr lang="ko-KR" sz="1800"/>
          </a:p>
        </p:txBody>
      </p:sp>
      <p:sp>
        <p:nvSpPr>
          <p:cNvPr id="19" name="tf_3"/>
          <p:cNvSpPr txBox="1"/>
          <p:nvPr/>
        </p:nvSpPr>
        <p:spPr>
          <a:xfrm>
            <a:off x="9765792" y="4528566"/>
            <a:ext cx="1828800" cy="450342"/>
          </a:xfrm>
          <a:prstGeom prst="rect">
            <a:avLst/>
          </a:prstGeom>
          <a:noFill/>
        </p:spPr>
        <p:txBody>
          <a:bodyPr wrap="square" lIns="18288" tIns="18288" rIns="18288" bIns="18288" anchor="ctr" rtlCol="0">
            <a:noAutofit/>
          </a:bodyPr>
          <a:lstStyle/>
          <a:p>
            <a:pPr algn="ctr">
              <a:lnSpc>
                <a:spcPts val="2250"/>
              </a:lnSpc>
              <a:spcBef>
                <a:spcPts val="0"/>
              </a:spcBef>
              <a:spcAft>
                <a:spcPts val="0"/>
              </a:spcAft>
              <a:buNone/>
            </a:pPr>
            <a:r>
              <a:rPr lang="en-US" altLang="en-US" sz="1800" b="1" dirty="0">
                <a:solidFill>
                  <a:srgbClr val="9AA3B5"/>
                </a:solidFill>
                <a:latin typeface="Calibri"/>
                <a:ea typeface="맑은 고딕"/>
                <a:cs typeface="Calibri"/>
              </a:rPr>
              <a:t>T   /   F</a:t>
            </a:r>
            <a:endParaRPr lang="ko-KR" sz="1800"/>
          </a:p>
        </p:txBody>
      </p:sp>
      <p:sp>
        <p:nvSpPr>
          <p:cNvPr id="20" name="rv_ans_3"/>
          <p:cNvSpPr/>
          <p:nvPr/>
        </p:nvSpPr>
        <p:spPr>
          <a:xfrm>
            <a:off x="9765792" y="4574286"/>
            <a:ext cx="1828800" cy="358901"/>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520"/>
              </a:lnSpc>
              <a:spcBef>
                <a:spcPts val="0"/>
              </a:spcBef>
              <a:spcAft>
                <a:spcPts val="0"/>
              </a:spcAft>
              <a:buNone/>
            </a:pPr>
            <a:r>
              <a:rPr lang="en-US" altLang="en-US" sz="2100" b="1" dirty="0">
                <a:solidFill>
                  <a:srgbClr val="C00000"/>
                </a:solidFill>
                <a:latin typeface="Calibri"/>
                <a:ea typeface="맑은 고딕"/>
                <a:cs typeface="Calibri"/>
              </a:rPr>
              <a:t>F</a:t>
            </a:r>
            <a:endParaRPr lang="ko-KR" sz="2100"/>
          </a:p>
        </p:txBody>
      </p:sp>
      <p:sp>
        <p:nvSpPr>
          <p:cNvPr id="21" name="q_card_4"/>
          <p:cNvSpPr/>
          <p:nvPr/>
        </p:nvSpPr>
        <p:spPr>
          <a:xfrm>
            <a:off x="457200" y="5052059"/>
            <a:ext cx="11274552" cy="450342"/>
          </a:xfrm>
          <a:prstGeom prst="roundRect">
            <a:avLst>
              <a:gd name="adj" fmla="val 12000"/>
            </a:avLst>
          </a:prstGeom>
          <a:noFill/>
          <a:ln w="12700">
            <a:solidFill>
              <a:srgbClr val="D5DAE5"/>
            </a:solidFill>
          </a:ln>
        </p:spPr>
        <p:txBody>
          <a:bodyPr rtlCol="0" anchor="ctr"/>
          <a:lstStyle/>
          <a:p>
            <a:pPr algn="ctr"/>
          </a:p>
        </p:txBody>
      </p:sp>
      <p:sp>
        <p:nvSpPr>
          <p:cNvPr id="22" name="q_4"/>
          <p:cNvSpPr txBox="1"/>
          <p:nvPr/>
        </p:nvSpPr>
        <p:spPr>
          <a:xfrm>
            <a:off x="502920" y="5052059"/>
            <a:ext cx="9171432" cy="450342"/>
          </a:xfrm>
          <a:prstGeom prst="rect">
            <a:avLst/>
          </a:prstGeom>
          <a:noFill/>
        </p:spPr>
        <p:txBody>
          <a:bodyPr wrap="square" lIns="109728" tIns="45720" rIns="109728" bIns="45720" anchor="ctr" rtlCol="0">
            <a:noAutofit/>
          </a:bodyPr>
          <a:lstStyle/>
          <a:p>
            <a:pPr algn="l">
              <a:lnSpc>
                <a:spcPts val="2250"/>
              </a:lnSpc>
              <a:spcBef>
                <a:spcPts val="0"/>
              </a:spcBef>
              <a:spcAft>
                <a:spcPts val="0"/>
              </a:spcAft>
              <a:buNone/>
            </a:pPr>
            <a:r>
              <a:rPr lang="en-US" altLang="en-US" sz="1800" b="1" dirty="0">
                <a:solidFill>
                  <a:srgbClr val="1E2A5A"/>
                </a:solidFill>
                <a:latin typeface="Calibri"/>
                <a:ea typeface="맑은 고딕"/>
                <a:cs typeface="Calibri"/>
              </a:rPr>
              <a:t>9.  </a:t>
            </a:r>
            <a:r>
              <a:rPr lang="ko-KR" altLang="en-US" sz="1800" b="0" dirty="0">
                <a:solidFill>
                  <a:srgbClr val="1F2328"/>
                </a:solidFill>
                <a:latin typeface="맑은 고딕"/>
                <a:ea typeface="맑은 고딕"/>
                <a:cs typeface="맑은 고딕"/>
              </a:rPr>
              <a:t>빅데이터는 일반 이용자들이 직접 분석한다.</a:t>
            </a:r>
            <a:endParaRPr lang="ko-KR" sz="1800"/>
          </a:p>
        </p:txBody>
      </p:sp>
      <p:sp>
        <p:nvSpPr>
          <p:cNvPr id="23" name="tf_4"/>
          <p:cNvSpPr txBox="1"/>
          <p:nvPr/>
        </p:nvSpPr>
        <p:spPr>
          <a:xfrm>
            <a:off x="9765792" y="5052059"/>
            <a:ext cx="1828800" cy="450342"/>
          </a:xfrm>
          <a:prstGeom prst="rect">
            <a:avLst/>
          </a:prstGeom>
          <a:noFill/>
        </p:spPr>
        <p:txBody>
          <a:bodyPr wrap="square" lIns="18288" tIns="18288" rIns="18288" bIns="18288" anchor="ctr" rtlCol="0">
            <a:noAutofit/>
          </a:bodyPr>
          <a:lstStyle/>
          <a:p>
            <a:pPr algn="ctr">
              <a:lnSpc>
                <a:spcPts val="2250"/>
              </a:lnSpc>
              <a:spcBef>
                <a:spcPts val="0"/>
              </a:spcBef>
              <a:spcAft>
                <a:spcPts val="0"/>
              </a:spcAft>
              <a:buNone/>
            </a:pPr>
            <a:r>
              <a:rPr lang="en-US" altLang="en-US" sz="1800" b="1" dirty="0">
                <a:solidFill>
                  <a:srgbClr val="9AA3B5"/>
                </a:solidFill>
                <a:latin typeface="Calibri"/>
                <a:ea typeface="맑은 고딕"/>
                <a:cs typeface="Calibri"/>
              </a:rPr>
              <a:t>T   /   F</a:t>
            </a:r>
            <a:endParaRPr lang="ko-KR" sz="1800"/>
          </a:p>
        </p:txBody>
      </p:sp>
      <p:sp>
        <p:nvSpPr>
          <p:cNvPr id="24" name="rv_ans_4"/>
          <p:cNvSpPr/>
          <p:nvPr/>
        </p:nvSpPr>
        <p:spPr>
          <a:xfrm>
            <a:off x="9765792" y="5097779"/>
            <a:ext cx="1828800" cy="358901"/>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520"/>
              </a:lnSpc>
              <a:spcBef>
                <a:spcPts val="0"/>
              </a:spcBef>
              <a:spcAft>
                <a:spcPts val="0"/>
              </a:spcAft>
              <a:buNone/>
            </a:pPr>
            <a:r>
              <a:rPr lang="en-US" altLang="en-US" sz="2100" b="1" dirty="0">
                <a:solidFill>
                  <a:srgbClr val="C00000"/>
                </a:solidFill>
                <a:latin typeface="Calibri"/>
                <a:ea typeface="맑은 고딕"/>
                <a:cs typeface="Calibri"/>
              </a:rPr>
              <a:t>F</a:t>
            </a:r>
            <a:endParaRPr lang="ko-KR" sz="2100"/>
          </a:p>
        </p:txBody>
      </p:sp>
      <p:sp>
        <p:nvSpPr>
          <p:cNvPr id="25" name="q_card_5"/>
          <p:cNvSpPr/>
          <p:nvPr/>
        </p:nvSpPr>
        <p:spPr>
          <a:xfrm>
            <a:off x="457200" y="5575553"/>
            <a:ext cx="11274552" cy="450342"/>
          </a:xfrm>
          <a:prstGeom prst="roundRect">
            <a:avLst>
              <a:gd name="adj" fmla="val 12000"/>
            </a:avLst>
          </a:prstGeom>
          <a:noFill/>
          <a:ln w="12700">
            <a:solidFill>
              <a:srgbClr val="D5DAE5"/>
            </a:solidFill>
          </a:ln>
        </p:spPr>
        <p:txBody>
          <a:bodyPr rtlCol="0" anchor="ctr"/>
          <a:lstStyle/>
          <a:p>
            <a:pPr algn="ctr"/>
          </a:p>
        </p:txBody>
      </p:sp>
      <p:sp>
        <p:nvSpPr>
          <p:cNvPr id="26" name="q_5"/>
          <p:cNvSpPr txBox="1"/>
          <p:nvPr/>
        </p:nvSpPr>
        <p:spPr>
          <a:xfrm>
            <a:off x="502920" y="5575553"/>
            <a:ext cx="9171432" cy="450342"/>
          </a:xfrm>
          <a:prstGeom prst="rect">
            <a:avLst/>
          </a:prstGeom>
          <a:noFill/>
        </p:spPr>
        <p:txBody>
          <a:bodyPr wrap="square" lIns="109728" tIns="45720" rIns="109728" bIns="45720" anchor="ctr" rtlCol="0">
            <a:noAutofit/>
          </a:bodyPr>
          <a:lstStyle/>
          <a:p>
            <a:pPr algn="l">
              <a:lnSpc>
                <a:spcPts val="2250"/>
              </a:lnSpc>
              <a:spcBef>
                <a:spcPts val="0"/>
              </a:spcBef>
              <a:spcAft>
                <a:spcPts val="0"/>
              </a:spcAft>
              <a:buNone/>
            </a:pPr>
            <a:r>
              <a:rPr lang="en-US" altLang="en-US" sz="1800" b="1" dirty="0">
                <a:solidFill>
                  <a:srgbClr val="1E2A5A"/>
                </a:solidFill>
                <a:latin typeface="Calibri"/>
                <a:ea typeface="맑은 고딕"/>
                <a:cs typeface="Calibri"/>
              </a:rPr>
              <a:t>10.  </a:t>
            </a:r>
            <a:r>
              <a:rPr lang="ko-KR" altLang="en-US" sz="1800" b="0" dirty="0">
                <a:solidFill>
                  <a:srgbClr val="1F2328"/>
                </a:solidFill>
                <a:latin typeface="맑은 고딕"/>
                <a:ea typeface="맑은 고딕"/>
                <a:cs typeface="맑은 고딕"/>
              </a:rPr>
              <a:t>분석 결과는 의사결정이나 미래 예측에 사용될 수 있다.</a:t>
            </a:r>
            <a:endParaRPr lang="ko-KR" sz="1800"/>
          </a:p>
        </p:txBody>
      </p:sp>
      <p:sp>
        <p:nvSpPr>
          <p:cNvPr id="27" name="tf_5"/>
          <p:cNvSpPr txBox="1"/>
          <p:nvPr/>
        </p:nvSpPr>
        <p:spPr>
          <a:xfrm>
            <a:off x="9765792" y="5575553"/>
            <a:ext cx="1828800" cy="450342"/>
          </a:xfrm>
          <a:prstGeom prst="rect">
            <a:avLst/>
          </a:prstGeom>
          <a:noFill/>
        </p:spPr>
        <p:txBody>
          <a:bodyPr wrap="square" lIns="18288" tIns="18288" rIns="18288" bIns="18288" anchor="ctr" rtlCol="0">
            <a:noAutofit/>
          </a:bodyPr>
          <a:lstStyle/>
          <a:p>
            <a:pPr algn="ctr">
              <a:lnSpc>
                <a:spcPts val="2250"/>
              </a:lnSpc>
              <a:spcBef>
                <a:spcPts val="0"/>
              </a:spcBef>
              <a:spcAft>
                <a:spcPts val="0"/>
              </a:spcAft>
              <a:buNone/>
            </a:pPr>
            <a:r>
              <a:rPr lang="en-US" altLang="en-US" sz="1800" b="1" dirty="0">
                <a:solidFill>
                  <a:srgbClr val="9AA3B5"/>
                </a:solidFill>
                <a:latin typeface="Calibri"/>
                <a:ea typeface="맑은 고딕"/>
                <a:cs typeface="Calibri"/>
              </a:rPr>
              <a:t>T   /   F</a:t>
            </a:r>
            <a:endParaRPr lang="ko-KR" sz="1800"/>
          </a:p>
        </p:txBody>
      </p:sp>
      <p:sp>
        <p:nvSpPr>
          <p:cNvPr id="28" name="rv_ans_5"/>
          <p:cNvSpPr/>
          <p:nvPr/>
        </p:nvSpPr>
        <p:spPr>
          <a:xfrm>
            <a:off x="9765792" y="5621273"/>
            <a:ext cx="1828800" cy="358901"/>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520"/>
              </a:lnSpc>
              <a:spcBef>
                <a:spcPts val="0"/>
              </a:spcBef>
              <a:spcAft>
                <a:spcPts val="0"/>
              </a:spcAft>
              <a:buNone/>
            </a:pPr>
            <a:r>
              <a:rPr lang="en-US" altLang="en-US" sz="2100" b="1" dirty="0">
                <a:solidFill>
                  <a:srgbClr val="C00000"/>
                </a:solidFill>
                <a:latin typeface="Calibri"/>
                <a:ea typeface="맑은 고딕"/>
                <a:cs typeface="Calibri"/>
              </a:rPr>
              <a:t>T</a:t>
            </a:r>
            <a:endParaRPr lang="ko-KR" sz="21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25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250"/>
                                        <p:tgtEl>
                                          <p:spTgt spid="1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0"/>
                                        </p:tgtEl>
                                        <p:attrNameLst>
                                          <p:attrName>style.visibility</p:attrName>
                                        </p:attrNameLst>
                                      </p:cBhvr>
                                      <p:to>
                                        <p:strVal val="visible"/>
                                      </p:to>
                                    </p:set>
                                    <p:animEffect transition="in" filter="fade">
                                      <p:cBhvr>
                                        <p:cTn id="13" dur="250"/>
                                        <p:tgtEl>
                                          <p:spTgt spid="20"/>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4"/>
                                        </p:tgtEl>
                                        <p:attrNameLst>
                                          <p:attrName>style.visibility</p:attrName>
                                        </p:attrNameLst>
                                      </p:cBhvr>
                                      <p:to>
                                        <p:strVal val="visible"/>
                                      </p:to>
                                    </p:set>
                                    <p:animEffect transition="in" filter="fade">
                                      <p:cBhvr>
                                        <p:cTn id="16" dur="250"/>
                                        <p:tgtEl>
                                          <p:spTgt spid="24"/>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8"/>
                                        </p:tgtEl>
                                        <p:attrNameLst>
                                          <p:attrName>style.visibility</p:attrName>
                                        </p:attrNameLst>
                                      </p:cBhvr>
                                      <p:to>
                                        <p:strVal val="visible"/>
                                      </p:to>
                                    </p:set>
                                    <p:animEffect transition="in" filter="fade">
                                      <p:cBhvr>
                                        <p:cTn id="19" dur="25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6" grpId="0" animBg="1"/>
      <p:bldP spid="20" grpId="0" animBg="1"/>
      <p:bldP spid="24" grpId="0" animBg="1"/>
      <p:bldP spid="28" grpId="0" animBg="1"/>
    </p:bldLst>
  </p:timing>
</p:sld>
</file>

<file path=ppt/slides/slide20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8000"/>
            </a:avLst>
          </a:prstGeom>
          <a:solidFill>
            <a:srgbClr val="1E2A5A"/>
          </a:solidFill>
          <a:ln>
            <a:noFill/>
          </a:ln>
        </p:spPr>
        <p:txBody>
          <a:bodyPr wrap="square" lIns="45720" tIns="18288" rIns="45720" bIns="18288" anchor="ctr" rtlCol="0">
            <a:noAutofit/>
          </a:bodyPr>
          <a:lstStyle/>
          <a:p>
            <a:pPr algn="ctr">
              <a:lnSpc>
                <a:spcPts val="2000"/>
              </a:lnSpc>
              <a:spcBef>
                <a:spcPts val="0"/>
              </a:spcBef>
              <a:spcAft>
                <a:spcPts val="0"/>
              </a:spcAft>
              <a:buNone/>
            </a:pPr>
            <a:r>
              <a:rPr lang="en-US" altLang="en-US" sz="1700" b="1" dirty="0">
                <a:solidFill>
                  <a:srgbClr val="FFFFFF"/>
                </a:solidFill>
                <a:latin typeface="Calibri"/>
                <a:ea typeface="맑은 고딕"/>
                <a:cs typeface="Calibri"/>
              </a:rPr>
              <a:t>L7-2</a:t>
            </a:r>
            <a:endParaRPr lang="ko-KR" sz="1700"/>
          </a:p>
        </p:txBody>
      </p:sp>
      <p:sp>
        <p:nvSpPr>
          <p:cNvPr id="3" name="hdr_chip"/>
          <p:cNvSpPr/>
          <p:nvPr/>
        </p:nvSpPr>
        <p:spPr>
          <a:xfrm>
            <a:off x="1755648" y="274320"/>
            <a:ext cx="1371600" cy="493776"/>
          </a:xfrm>
          <a:prstGeom prst="roundRect">
            <a:avLst>
              <a:gd name="adj" fmla="val 8000"/>
            </a:avLst>
          </a:prstGeom>
          <a:solidFill>
            <a:srgbClr val="E6EAF4"/>
          </a:solidFill>
          <a:ln>
            <a:noFill/>
          </a:ln>
        </p:spPr>
        <p:txBody>
          <a:bodyPr wrap="square" lIns="27432" tIns="18288" rIns="27432" bIns="18288" anchor="ctr" rtlCol="0">
            <a:noAutofit/>
          </a:bodyPr>
          <a:lstStyle/>
          <a:p>
            <a:pPr algn="ctr">
              <a:lnSpc>
                <a:spcPts val="1700"/>
              </a:lnSpc>
              <a:spcBef>
                <a:spcPts val="0"/>
              </a:spcBef>
              <a:spcAft>
                <a:spcPts val="0"/>
              </a:spcAft>
              <a:buNone/>
            </a:pPr>
            <a:r>
              <a:rPr lang="ko-KR" altLang="en-US" sz="1400" b="1" dirty="0">
                <a:solidFill>
                  <a:srgbClr val="1E2A5A"/>
                </a:solidFill>
                <a:latin typeface="맑은 고딕"/>
                <a:ea typeface="맑은 고딕"/>
                <a:cs typeface="맑은 고딕"/>
              </a:rPr>
              <a:t>PART 4 · 3</a:t>
            </a:r>
            <a:endParaRPr lang="ko-KR" sz="1400"/>
          </a:p>
        </p:txBody>
      </p:sp>
      <p:sp>
        <p:nvSpPr>
          <p:cNvPr id="4" name="hdr_q"/>
          <p:cNvSpPr txBox="1"/>
          <p:nvPr/>
        </p:nvSpPr>
        <p:spPr>
          <a:xfrm>
            <a:off x="3246120" y="246888"/>
            <a:ext cx="8485632" cy="548640"/>
          </a:xfrm>
          <a:prstGeom prst="rect">
            <a:avLst/>
          </a:prstGeom>
          <a:noFill/>
        </p:spPr>
        <p:txBody>
          <a:bodyPr wrap="square" lIns="109728" tIns="54864" rIns="109728" bIns="54864" anchor="ctr" rtlCol="0">
            <a:noAutofit/>
          </a:bodyPr>
          <a:lstStyle/>
          <a:p>
            <a:pPr algn="l">
              <a:lnSpc>
                <a:spcPts val="2400"/>
              </a:lnSpc>
              <a:spcBef>
                <a:spcPts val="0"/>
              </a:spcBef>
              <a:spcAft>
                <a:spcPts val="0"/>
              </a:spcAft>
              <a:buNone/>
            </a:pPr>
            <a:r>
              <a:rPr lang="ko-KR" altLang="en-US" sz="2000" b="1" dirty="0">
                <a:solidFill>
                  <a:srgbClr val="1F2328"/>
                </a:solidFill>
                <a:latin typeface="맑은 고딕"/>
                <a:ea typeface="맑은 고딕"/>
                <a:cs typeface="맑은 고딕"/>
              </a:rPr>
              <a:t>본문과 일치하면 T, 일치하지 않으면 F를 고르시오.</a:t>
            </a:r>
            <a:endParaRPr lang="ko-KR" sz="2000"/>
          </a:p>
        </p:txBody>
      </p:sp>
      <p:sp>
        <p:nvSpPr>
          <p:cNvPr id="5" name="ftr_exam"/>
          <p:cNvSpPr txBox="1"/>
          <p:nvPr/>
        </p:nvSpPr>
        <p:spPr>
          <a:xfrm>
            <a:off x="457200" y="6519672"/>
            <a:ext cx="5669280" cy="256032"/>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7</a:t>
            </a:r>
            <a:endParaRPr lang="ko-KR" sz="1000"/>
          </a:p>
        </p:txBody>
      </p:sp>
      <p:sp>
        <p:nvSpPr>
          <p:cNvPr id="6" name="ftr_hint"/>
          <p:cNvSpPr txBox="1"/>
          <p:nvPr/>
        </p:nvSpPr>
        <p:spPr>
          <a:xfrm>
            <a:off x="5971032" y="6519672"/>
            <a:ext cx="5760720" cy="256032"/>
          </a:xfrm>
          <a:prstGeom prst="rect">
            <a:avLst/>
          </a:prstGeom>
          <a:noFill/>
        </p:spPr>
        <p:txBody>
          <a:bodyPr wrap="square" lIns="0" tIns="0" rIns="0" bIns="0" anchor="t" rtlCol="0">
            <a:noAutofit/>
          </a:bodyPr>
          <a:lstStyle/>
          <a:p>
            <a:pPr algn="r">
              <a:lnSpc>
                <a:spcPts val="1200"/>
              </a:lnSpc>
              <a:spcBef>
                <a:spcPts val="0"/>
              </a:spcBef>
              <a:spcAft>
                <a:spcPts val="0"/>
              </a:spcAft>
              <a:buNone/>
            </a:pPr>
            <a:r>
              <a:rPr lang="ko-KR" altLang="en-US" sz="1000" b="0" dirty="0">
                <a:solidFill>
                  <a:srgbClr val="7A808C"/>
                </a:solidFill>
                <a:latin typeface="맑은 고딕"/>
                <a:ea typeface="맑은 고딕"/>
                <a:cs typeface="맑은 고딕"/>
              </a:rPr>
              <a:t>클릭 ① 정답(T/F) 공개</a:t>
            </a:r>
            <a:endParaRPr lang="ko-KR" sz="1000"/>
          </a:p>
        </p:txBody>
      </p:sp>
      <p:sp>
        <p:nvSpPr>
          <p:cNvPr id="7" name="passage_card"/>
          <p:cNvSpPr/>
          <p:nvPr/>
        </p:nvSpPr>
        <p:spPr>
          <a:xfrm>
            <a:off x="457200" y="950976"/>
            <a:ext cx="11274552" cy="2118105"/>
          </a:xfrm>
          <a:prstGeom prst="roundRect">
            <a:avLst>
              <a:gd name="adj" fmla="val 4000"/>
            </a:avLst>
          </a:prstGeom>
          <a:solidFill>
            <a:srgbClr val="F3F5F9"/>
          </a:solidFill>
          <a:ln w="12700">
            <a:solidFill>
              <a:srgbClr val="D9DFEA"/>
            </a:solidFill>
          </a:ln>
        </p:spPr>
        <p:txBody>
          <a:bodyPr rtlCol="0" anchor="ctr"/>
          <a:lstStyle/>
          <a:p>
            <a:pPr algn="ctr"/>
          </a:p>
        </p:txBody>
      </p:sp>
      <p:sp>
        <p:nvSpPr>
          <p:cNvPr id="8" name="passage"/>
          <p:cNvSpPr txBox="1"/>
          <p:nvPr/>
        </p:nvSpPr>
        <p:spPr>
          <a:xfrm>
            <a:off x="457200" y="950976"/>
            <a:ext cx="11274552" cy="2118105"/>
          </a:xfrm>
          <a:prstGeom prst="rect">
            <a:avLst/>
          </a:prstGeom>
          <a:noFill/>
        </p:spPr>
        <p:txBody>
          <a:bodyPr wrap="square" lIns="182880" tIns="137160" rIns="182880" bIns="137160" anchor="t" rtlCol="0">
            <a:noAutofit/>
          </a:bodyPr>
          <a:lstStyle/>
          <a:p>
            <a:pPr algn="l">
              <a:lnSpc>
                <a:spcPts val="2074"/>
              </a:lnSpc>
              <a:spcBef>
                <a:spcPts val="0"/>
              </a:spcBef>
              <a:spcAft>
                <a:spcPts val="0"/>
              </a:spcAft>
              <a:buNone/>
            </a:pPr>
            <a:r>
              <a:rPr lang="ko-KR" altLang="en-US" sz="1700" b="1" dirty="0">
                <a:solidFill>
                  <a:srgbClr val="1E2A5A"/>
                </a:solidFill>
                <a:latin typeface="맑은 고딕"/>
                <a:ea typeface="맑은 고딕"/>
                <a:cs typeface="맑은 고딕"/>
              </a:rPr>
              <a:t>⑫ </a:t>
            </a:r>
            <a:r>
              <a:rPr lang="en-US" altLang="en-US" sz="1700" b="0" dirty="0">
                <a:solidFill>
                  <a:srgbClr val="1F2328"/>
                </a:solidFill>
                <a:latin typeface="Calibri"/>
                <a:ea typeface="맑은 고딕"/>
                <a:cs typeface="Calibri"/>
              </a:rPr>
              <a:t>Big data is influencing almost all parts of our lives. </a:t>
            </a:r>
            <a:r>
              <a:rPr lang="ko-KR" altLang="en-US" sz="1700" b="1" dirty="0">
                <a:solidFill>
                  <a:srgbClr val="1E2A5A"/>
                </a:solidFill>
                <a:latin typeface="맑은 고딕"/>
                <a:ea typeface="맑은 고딕"/>
                <a:cs typeface="맑은 고딕"/>
              </a:rPr>
              <a:t>⑬ </a:t>
            </a:r>
            <a:r>
              <a:rPr lang="en-US" altLang="en-US" sz="1700" b="0" dirty="0">
                <a:solidFill>
                  <a:srgbClr val="1F2328"/>
                </a:solidFill>
                <a:latin typeface="Calibri"/>
                <a:ea typeface="맑은 고딕"/>
                <a:cs typeface="Calibri"/>
              </a:rPr>
              <a:t>It helps companies understand their customers’ needs better and helps them sell more products. </a:t>
            </a:r>
            <a:r>
              <a:rPr lang="ko-KR" altLang="en-US" sz="1700" b="1" dirty="0">
                <a:solidFill>
                  <a:srgbClr val="1E2A5A"/>
                </a:solidFill>
                <a:latin typeface="맑은 고딕"/>
                <a:ea typeface="맑은 고딕"/>
                <a:cs typeface="맑은 고딕"/>
              </a:rPr>
              <a:t>⑭ </a:t>
            </a:r>
            <a:r>
              <a:rPr lang="en-US" altLang="en-US" sz="1700" b="0" dirty="0">
                <a:solidFill>
                  <a:srgbClr val="1F2328"/>
                </a:solidFill>
                <a:latin typeface="Calibri"/>
                <a:ea typeface="맑은 고딕"/>
                <a:cs typeface="Calibri"/>
              </a:rPr>
              <a:t>It helps people avoid heavy traffic. Its uses are endless, and here are some interesting examples. </a:t>
            </a:r>
            <a:r>
              <a:rPr lang="ko-KR" altLang="en-US" sz="1700" b="1" dirty="0">
                <a:solidFill>
                  <a:srgbClr val="1E2A5A"/>
                </a:solidFill>
                <a:latin typeface="맑은 고딕"/>
                <a:ea typeface="맑은 고딕"/>
                <a:cs typeface="맑은 고딕"/>
              </a:rPr>
              <a:t>⑮ </a:t>
            </a:r>
            <a:r>
              <a:rPr lang="en-US" altLang="en-US" sz="1700" b="0" dirty="0">
                <a:solidFill>
                  <a:srgbClr val="1F2328"/>
                </a:solidFill>
                <a:latin typeface="Calibri"/>
                <a:ea typeface="맑은 고딕"/>
                <a:cs typeface="Calibri"/>
              </a:rPr>
              <a:t>Did you know that health professionals can now forecast a disease just as weather experts forecast the weather? </a:t>
            </a:r>
            <a:r>
              <a:rPr lang="ko-KR" altLang="en-US" sz="1700" b="1" dirty="0">
                <a:solidFill>
                  <a:srgbClr val="1E2A5A"/>
                </a:solidFill>
                <a:latin typeface="맑은 고딕"/>
                <a:ea typeface="맑은 고딕"/>
                <a:cs typeface="맑은 고딕"/>
              </a:rPr>
              <a:t>⑯ </a:t>
            </a:r>
            <a:r>
              <a:rPr lang="en-US" altLang="en-US" sz="1700" b="0" dirty="0">
                <a:solidFill>
                  <a:srgbClr val="1F2328"/>
                </a:solidFill>
                <a:latin typeface="Calibri"/>
                <a:ea typeface="맑은 고딕"/>
                <a:cs typeface="Calibri"/>
              </a:rPr>
              <a:t>This is possible thanks to big data. For example, when the flu season comes, people will buy more flu medicine. </a:t>
            </a:r>
            <a:r>
              <a:rPr lang="ko-KR" altLang="en-US" sz="1700" b="1" dirty="0">
                <a:solidFill>
                  <a:srgbClr val="1E2A5A"/>
                </a:solidFill>
                <a:latin typeface="맑은 고딕"/>
                <a:ea typeface="맑은 고딕"/>
                <a:cs typeface="맑은 고딕"/>
              </a:rPr>
              <a:t>⑰ </a:t>
            </a:r>
            <a:r>
              <a:rPr lang="en-US" altLang="en-US" sz="1700" b="0" dirty="0">
                <a:solidFill>
                  <a:srgbClr val="1F2328"/>
                </a:solidFill>
                <a:latin typeface="Calibri"/>
                <a:ea typeface="맑은 고딕"/>
                <a:cs typeface="Calibri"/>
              </a:rPr>
              <a:t>They will also search online about flu symptoms more. </a:t>
            </a:r>
            <a:r>
              <a:rPr lang="ko-KR" altLang="en-US" sz="1700" b="1" dirty="0">
                <a:solidFill>
                  <a:srgbClr val="1E2A5A"/>
                </a:solidFill>
                <a:latin typeface="맑은 고딕"/>
                <a:ea typeface="맑은 고딕"/>
                <a:cs typeface="맑은 고딕"/>
              </a:rPr>
              <a:t>⑱ </a:t>
            </a:r>
            <a:r>
              <a:rPr lang="en-US" altLang="en-US" sz="1700" b="0" dirty="0">
                <a:solidFill>
                  <a:srgbClr val="1F2328"/>
                </a:solidFill>
                <a:latin typeface="Calibri"/>
                <a:ea typeface="맑은 고딕"/>
                <a:cs typeface="Calibri"/>
              </a:rPr>
              <a:t>If this kind of data is analyzed wisely, the spread of the flu can be predicted. </a:t>
            </a:r>
            <a:endParaRPr lang="ko-KR" sz="1700"/>
          </a:p>
        </p:txBody>
      </p:sp>
      <p:sp>
        <p:nvSpPr>
          <p:cNvPr id="9" name="q_card_1"/>
          <p:cNvSpPr/>
          <p:nvPr/>
        </p:nvSpPr>
        <p:spPr>
          <a:xfrm>
            <a:off x="457200" y="3233674"/>
            <a:ext cx="11274552" cy="466217"/>
          </a:xfrm>
          <a:prstGeom prst="roundRect">
            <a:avLst>
              <a:gd name="adj" fmla="val 12000"/>
            </a:avLst>
          </a:prstGeom>
          <a:noFill/>
          <a:ln w="12700">
            <a:solidFill>
              <a:srgbClr val="D5DAE5"/>
            </a:solidFill>
          </a:ln>
        </p:spPr>
        <p:txBody>
          <a:bodyPr rtlCol="0" anchor="ctr"/>
          <a:lstStyle/>
          <a:p>
            <a:pPr algn="ctr"/>
          </a:p>
        </p:txBody>
      </p:sp>
      <p:sp>
        <p:nvSpPr>
          <p:cNvPr id="10" name="q_1"/>
          <p:cNvSpPr txBox="1"/>
          <p:nvPr/>
        </p:nvSpPr>
        <p:spPr>
          <a:xfrm>
            <a:off x="502920" y="3233674"/>
            <a:ext cx="9171432" cy="466217"/>
          </a:xfrm>
          <a:prstGeom prst="rect">
            <a:avLst/>
          </a:prstGeom>
          <a:noFill/>
        </p:spPr>
        <p:txBody>
          <a:bodyPr wrap="square" lIns="109728" tIns="45720" rIns="109728" bIns="45720" anchor="ctr" rtlCol="0">
            <a:noAutofit/>
          </a:bodyPr>
          <a:lstStyle/>
          <a:p>
            <a:pPr algn="l">
              <a:lnSpc>
                <a:spcPts val="2375"/>
              </a:lnSpc>
              <a:spcBef>
                <a:spcPts val="0"/>
              </a:spcBef>
              <a:spcAft>
                <a:spcPts val="0"/>
              </a:spcAft>
              <a:buNone/>
            </a:pPr>
            <a:r>
              <a:rPr lang="en-US" altLang="en-US" sz="1900" b="1" dirty="0">
                <a:solidFill>
                  <a:srgbClr val="1E2A5A"/>
                </a:solidFill>
                <a:latin typeface="Calibri"/>
                <a:ea typeface="맑은 고딕"/>
                <a:cs typeface="Calibri"/>
              </a:rPr>
              <a:t>11.  </a:t>
            </a:r>
            <a:r>
              <a:rPr lang="ko-KR" altLang="en-US" sz="1900" b="0" dirty="0">
                <a:solidFill>
                  <a:srgbClr val="1F2328"/>
                </a:solidFill>
                <a:latin typeface="맑은 고딕"/>
                <a:ea typeface="맑은 고딕"/>
                <a:cs typeface="맑은 고딕"/>
              </a:rPr>
              <a:t>빅데이터는 우리 삶의 거의 모든 부분에 영향을 미치고 있다.</a:t>
            </a:r>
            <a:endParaRPr lang="ko-KR" sz="1900"/>
          </a:p>
        </p:txBody>
      </p:sp>
      <p:sp>
        <p:nvSpPr>
          <p:cNvPr id="11" name="tf_1"/>
          <p:cNvSpPr txBox="1"/>
          <p:nvPr/>
        </p:nvSpPr>
        <p:spPr>
          <a:xfrm>
            <a:off x="9765792" y="3233674"/>
            <a:ext cx="1828800" cy="466217"/>
          </a:xfrm>
          <a:prstGeom prst="rect">
            <a:avLst/>
          </a:prstGeom>
          <a:noFill/>
        </p:spPr>
        <p:txBody>
          <a:bodyPr wrap="square" lIns="18288" tIns="18288" rIns="18288" bIns="18288" anchor="ctr" rtlCol="0">
            <a:noAutofit/>
          </a:bodyPr>
          <a:lstStyle/>
          <a:p>
            <a:pPr algn="ctr">
              <a:lnSpc>
                <a:spcPts val="2375"/>
              </a:lnSpc>
              <a:spcBef>
                <a:spcPts val="0"/>
              </a:spcBef>
              <a:spcAft>
                <a:spcPts val="0"/>
              </a:spcAft>
              <a:buNone/>
            </a:pPr>
            <a:r>
              <a:rPr lang="en-US" altLang="en-US" sz="1900" b="1" dirty="0">
                <a:solidFill>
                  <a:srgbClr val="9AA3B5"/>
                </a:solidFill>
                <a:latin typeface="Calibri"/>
                <a:ea typeface="맑은 고딕"/>
                <a:cs typeface="Calibri"/>
              </a:rPr>
              <a:t>T   /   F</a:t>
            </a:r>
            <a:endParaRPr lang="ko-KR" sz="1900"/>
          </a:p>
        </p:txBody>
      </p:sp>
      <p:sp>
        <p:nvSpPr>
          <p:cNvPr id="12" name="rv_ans_1"/>
          <p:cNvSpPr/>
          <p:nvPr/>
        </p:nvSpPr>
        <p:spPr>
          <a:xfrm>
            <a:off x="9765792" y="3279393"/>
            <a:ext cx="1828800" cy="374777"/>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640"/>
              </a:lnSpc>
              <a:spcBef>
                <a:spcPts val="0"/>
              </a:spcBef>
              <a:spcAft>
                <a:spcPts val="0"/>
              </a:spcAft>
              <a:buNone/>
            </a:pPr>
            <a:r>
              <a:rPr lang="en-US" altLang="en-US" sz="2200" b="1" dirty="0">
                <a:solidFill>
                  <a:srgbClr val="C00000"/>
                </a:solidFill>
                <a:latin typeface="Calibri"/>
                <a:ea typeface="맑은 고딕"/>
                <a:cs typeface="Calibri"/>
              </a:rPr>
              <a:t>T</a:t>
            </a:r>
            <a:endParaRPr lang="ko-KR" sz="2200"/>
          </a:p>
        </p:txBody>
      </p:sp>
      <p:sp>
        <p:nvSpPr>
          <p:cNvPr id="13" name="q_card_2"/>
          <p:cNvSpPr/>
          <p:nvPr/>
        </p:nvSpPr>
        <p:spPr>
          <a:xfrm>
            <a:off x="457200" y="3773043"/>
            <a:ext cx="11274552" cy="466217"/>
          </a:xfrm>
          <a:prstGeom prst="roundRect">
            <a:avLst>
              <a:gd name="adj" fmla="val 12000"/>
            </a:avLst>
          </a:prstGeom>
          <a:noFill/>
          <a:ln w="12700">
            <a:solidFill>
              <a:srgbClr val="D5DAE5"/>
            </a:solidFill>
          </a:ln>
        </p:spPr>
        <p:txBody>
          <a:bodyPr rtlCol="0" anchor="ctr"/>
          <a:lstStyle/>
          <a:p>
            <a:pPr algn="ctr"/>
          </a:p>
        </p:txBody>
      </p:sp>
      <p:sp>
        <p:nvSpPr>
          <p:cNvPr id="14" name="q_2"/>
          <p:cNvSpPr txBox="1"/>
          <p:nvPr/>
        </p:nvSpPr>
        <p:spPr>
          <a:xfrm>
            <a:off x="502920" y="3773043"/>
            <a:ext cx="9171432" cy="466217"/>
          </a:xfrm>
          <a:prstGeom prst="rect">
            <a:avLst/>
          </a:prstGeom>
          <a:noFill/>
        </p:spPr>
        <p:txBody>
          <a:bodyPr wrap="square" lIns="109728" tIns="45720" rIns="109728" bIns="45720" anchor="ctr" rtlCol="0">
            <a:noAutofit/>
          </a:bodyPr>
          <a:lstStyle/>
          <a:p>
            <a:pPr algn="l">
              <a:lnSpc>
                <a:spcPts val="2375"/>
              </a:lnSpc>
              <a:spcBef>
                <a:spcPts val="0"/>
              </a:spcBef>
              <a:spcAft>
                <a:spcPts val="0"/>
              </a:spcAft>
              <a:buNone/>
            </a:pPr>
            <a:r>
              <a:rPr lang="en-US" altLang="en-US" sz="1900" b="1" dirty="0">
                <a:solidFill>
                  <a:srgbClr val="1E2A5A"/>
                </a:solidFill>
                <a:latin typeface="Calibri"/>
                <a:ea typeface="맑은 고딕"/>
                <a:cs typeface="Calibri"/>
              </a:rPr>
              <a:t>12.  </a:t>
            </a:r>
            <a:r>
              <a:rPr lang="ko-KR" altLang="en-US" sz="1900" b="0" dirty="0">
                <a:solidFill>
                  <a:srgbClr val="1F2328"/>
                </a:solidFill>
                <a:latin typeface="맑은 고딕"/>
                <a:ea typeface="맑은 고딕"/>
                <a:cs typeface="맑은 고딕"/>
              </a:rPr>
              <a:t>빅데이터는 회사들이 소비자의 필요를 더 잘 이해하도록 돕는다.</a:t>
            </a:r>
            <a:endParaRPr lang="ko-KR" sz="1900"/>
          </a:p>
        </p:txBody>
      </p:sp>
      <p:sp>
        <p:nvSpPr>
          <p:cNvPr id="15" name="tf_2"/>
          <p:cNvSpPr txBox="1"/>
          <p:nvPr/>
        </p:nvSpPr>
        <p:spPr>
          <a:xfrm>
            <a:off x="9765792" y="3773043"/>
            <a:ext cx="1828800" cy="466217"/>
          </a:xfrm>
          <a:prstGeom prst="rect">
            <a:avLst/>
          </a:prstGeom>
          <a:noFill/>
        </p:spPr>
        <p:txBody>
          <a:bodyPr wrap="square" lIns="18288" tIns="18288" rIns="18288" bIns="18288" anchor="ctr" rtlCol="0">
            <a:noAutofit/>
          </a:bodyPr>
          <a:lstStyle/>
          <a:p>
            <a:pPr algn="ctr">
              <a:lnSpc>
                <a:spcPts val="2375"/>
              </a:lnSpc>
              <a:spcBef>
                <a:spcPts val="0"/>
              </a:spcBef>
              <a:spcAft>
                <a:spcPts val="0"/>
              </a:spcAft>
              <a:buNone/>
            </a:pPr>
            <a:r>
              <a:rPr lang="en-US" altLang="en-US" sz="1900" b="1" dirty="0">
                <a:solidFill>
                  <a:srgbClr val="9AA3B5"/>
                </a:solidFill>
                <a:latin typeface="Calibri"/>
                <a:ea typeface="맑은 고딕"/>
                <a:cs typeface="Calibri"/>
              </a:rPr>
              <a:t>T   /   F</a:t>
            </a:r>
            <a:endParaRPr lang="ko-KR" sz="1900"/>
          </a:p>
        </p:txBody>
      </p:sp>
      <p:sp>
        <p:nvSpPr>
          <p:cNvPr id="16" name="rv_ans_2"/>
          <p:cNvSpPr/>
          <p:nvPr/>
        </p:nvSpPr>
        <p:spPr>
          <a:xfrm>
            <a:off x="9765792" y="3818762"/>
            <a:ext cx="1828800" cy="374777"/>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640"/>
              </a:lnSpc>
              <a:spcBef>
                <a:spcPts val="0"/>
              </a:spcBef>
              <a:spcAft>
                <a:spcPts val="0"/>
              </a:spcAft>
              <a:buNone/>
            </a:pPr>
            <a:r>
              <a:rPr lang="en-US" altLang="en-US" sz="2200" b="1" dirty="0">
                <a:solidFill>
                  <a:srgbClr val="C00000"/>
                </a:solidFill>
                <a:latin typeface="Calibri"/>
                <a:ea typeface="맑은 고딕"/>
                <a:cs typeface="Calibri"/>
              </a:rPr>
              <a:t>T</a:t>
            </a:r>
            <a:endParaRPr lang="ko-KR" sz="2200"/>
          </a:p>
        </p:txBody>
      </p:sp>
      <p:sp>
        <p:nvSpPr>
          <p:cNvPr id="17" name="q_card_3"/>
          <p:cNvSpPr/>
          <p:nvPr/>
        </p:nvSpPr>
        <p:spPr>
          <a:xfrm>
            <a:off x="457200" y="4312412"/>
            <a:ext cx="11274552" cy="466217"/>
          </a:xfrm>
          <a:prstGeom prst="roundRect">
            <a:avLst>
              <a:gd name="adj" fmla="val 12000"/>
            </a:avLst>
          </a:prstGeom>
          <a:noFill/>
          <a:ln w="12700">
            <a:solidFill>
              <a:srgbClr val="D5DAE5"/>
            </a:solidFill>
          </a:ln>
        </p:spPr>
        <p:txBody>
          <a:bodyPr rtlCol="0" anchor="ctr"/>
          <a:lstStyle/>
          <a:p>
            <a:pPr algn="ctr"/>
          </a:p>
        </p:txBody>
      </p:sp>
      <p:sp>
        <p:nvSpPr>
          <p:cNvPr id="18" name="q_3"/>
          <p:cNvSpPr txBox="1"/>
          <p:nvPr/>
        </p:nvSpPr>
        <p:spPr>
          <a:xfrm>
            <a:off x="502920" y="4312412"/>
            <a:ext cx="9171432" cy="466217"/>
          </a:xfrm>
          <a:prstGeom prst="rect">
            <a:avLst/>
          </a:prstGeom>
          <a:noFill/>
        </p:spPr>
        <p:txBody>
          <a:bodyPr wrap="square" lIns="109728" tIns="45720" rIns="109728" bIns="45720" anchor="ctr" rtlCol="0">
            <a:noAutofit/>
          </a:bodyPr>
          <a:lstStyle/>
          <a:p>
            <a:pPr algn="l">
              <a:lnSpc>
                <a:spcPts val="2375"/>
              </a:lnSpc>
              <a:spcBef>
                <a:spcPts val="0"/>
              </a:spcBef>
              <a:spcAft>
                <a:spcPts val="0"/>
              </a:spcAft>
              <a:buNone/>
            </a:pPr>
            <a:r>
              <a:rPr lang="en-US" altLang="en-US" sz="1900" b="1" dirty="0">
                <a:solidFill>
                  <a:srgbClr val="1E2A5A"/>
                </a:solidFill>
                <a:latin typeface="Calibri"/>
                <a:ea typeface="맑은 고딕"/>
                <a:cs typeface="Calibri"/>
              </a:rPr>
              <a:t>13.  </a:t>
            </a:r>
            <a:r>
              <a:rPr lang="ko-KR" altLang="en-US" sz="1900" b="0" dirty="0">
                <a:solidFill>
                  <a:srgbClr val="1F2328"/>
                </a:solidFill>
                <a:latin typeface="맑은 고딕"/>
                <a:ea typeface="맑은 고딕"/>
                <a:cs typeface="맑은 고딕"/>
              </a:rPr>
              <a:t>빅데이터는 회사들이 상품을 덜 팔게 만든다.</a:t>
            </a:r>
            <a:endParaRPr lang="ko-KR" sz="1900"/>
          </a:p>
        </p:txBody>
      </p:sp>
      <p:sp>
        <p:nvSpPr>
          <p:cNvPr id="19" name="tf_3"/>
          <p:cNvSpPr txBox="1"/>
          <p:nvPr/>
        </p:nvSpPr>
        <p:spPr>
          <a:xfrm>
            <a:off x="9765792" y="4312412"/>
            <a:ext cx="1828800" cy="466217"/>
          </a:xfrm>
          <a:prstGeom prst="rect">
            <a:avLst/>
          </a:prstGeom>
          <a:noFill/>
        </p:spPr>
        <p:txBody>
          <a:bodyPr wrap="square" lIns="18288" tIns="18288" rIns="18288" bIns="18288" anchor="ctr" rtlCol="0">
            <a:noAutofit/>
          </a:bodyPr>
          <a:lstStyle/>
          <a:p>
            <a:pPr algn="ctr">
              <a:lnSpc>
                <a:spcPts val="2375"/>
              </a:lnSpc>
              <a:spcBef>
                <a:spcPts val="0"/>
              </a:spcBef>
              <a:spcAft>
                <a:spcPts val="0"/>
              </a:spcAft>
              <a:buNone/>
            </a:pPr>
            <a:r>
              <a:rPr lang="en-US" altLang="en-US" sz="1900" b="1" dirty="0">
                <a:solidFill>
                  <a:srgbClr val="9AA3B5"/>
                </a:solidFill>
                <a:latin typeface="Calibri"/>
                <a:ea typeface="맑은 고딕"/>
                <a:cs typeface="Calibri"/>
              </a:rPr>
              <a:t>T   /   F</a:t>
            </a:r>
            <a:endParaRPr lang="ko-KR" sz="1900"/>
          </a:p>
        </p:txBody>
      </p:sp>
      <p:sp>
        <p:nvSpPr>
          <p:cNvPr id="20" name="rv_ans_3"/>
          <p:cNvSpPr/>
          <p:nvPr/>
        </p:nvSpPr>
        <p:spPr>
          <a:xfrm>
            <a:off x="9765792" y="4358132"/>
            <a:ext cx="1828800" cy="374777"/>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640"/>
              </a:lnSpc>
              <a:spcBef>
                <a:spcPts val="0"/>
              </a:spcBef>
              <a:spcAft>
                <a:spcPts val="0"/>
              </a:spcAft>
              <a:buNone/>
            </a:pPr>
            <a:r>
              <a:rPr lang="en-US" altLang="en-US" sz="2200" b="1" dirty="0">
                <a:solidFill>
                  <a:srgbClr val="C00000"/>
                </a:solidFill>
                <a:latin typeface="Calibri"/>
                <a:ea typeface="맑은 고딕"/>
                <a:cs typeface="Calibri"/>
              </a:rPr>
              <a:t>F</a:t>
            </a:r>
            <a:endParaRPr lang="ko-KR" sz="2200"/>
          </a:p>
        </p:txBody>
      </p:sp>
      <p:sp>
        <p:nvSpPr>
          <p:cNvPr id="21" name="q_card_4"/>
          <p:cNvSpPr/>
          <p:nvPr/>
        </p:nvSpPr>
        <p:spPr>
          <a:xfrm>
            <a:off x="457200" y="4851781"/>
            <a:ext cx="11274552" cy="466217"/>
          </a:xfrm>
          <a:prstGeom prst="roundRect">
            <a:avLst>
              <a:gd name="adj" fmla="val 12000"/>
            </a:avLst>
          </a:prstGeom>
          <a:noFill/>
          <a:ln w="12700">
            <a:solidFill>
              <a:srgbClr val="D5DAE5"/>
            </a:solidFill>
          </a:ln>
        </p:spPr>
        <p:txBody>
          <a:bodyPr rtlCol="0" anchor="ctr"/>
          <a:lstStyle/>
          <a:p>
            <a:pPr algn="ctr"/>
          </a:p>
        </p:txBody>
      </p:sp>
      <p:sp>
        <p:nvSpPr>
          <p:cNvPr id="22" name="q_4"/>
          <p:cNvSpPr txBox="1"/>
          <p:nvPr/>
        </p:nvSpPr>
        <p:spPr>
          <a:xfrm>
            <a:off x="502920" y="4851781"/>
            <a:ext cx="9171432" cy="466217"/>
          </a:xfrm>
          <a:prstGeom prst="rect">
            <a:avLst/>
          </a:prstGeom>
          <a:noFill/>
        </p:spPr>
        <p:txBody>
          <a:bodyPr wrap="square" lIns="109728" tIns="45720" rIns="109728" bIns="45720" anchor="ctr" rtlCol="0">
            <a:noAutofit/>
          </a:bodyPr>
          <a:lstStyle/>
          <a:p>
            <a:pPr algn="l">
              <a:lnSpc>
                <a:spcPts val="2375"/>
              </a:lnSpc>
              <a:spcBef>
                <a:spcPts val="0"/>
              </a:spcBef>
              <a:spcAft>
                <a:spcPts val="0"/>
              </a:spcAft>
              <a:buNone/>
            </a:pPr>
            <a:r>
              <a:rPr lang="en-US" altLang="en-US" sz="1900" b="1" dirty="0">
                <a:solidFill>
                  <a:srgbClr val="1E2A5A"/>
                </a:solidFill>
                <a:latin typeface="Calibri"/>
                <a:ea typeface="맑은 고딕"/>
                <a:cs typeface="Calibri"/>
              </a:rPr>
              <a:t>14.  </a:t>
            </a:r>
            <a:r>
              <a:rPr lang="ko-KR" altLang="en-US" sz="1900" b="0" dirty="0">
                <a:solidFill>
                  <a:srgbClr val="1F2328"/>
                </a:solidFill>
                <a:latin typeface="맑은 고딕"/>
                <a:ea typeface="맑은 고딕"/>
                <a:cs typeface="맑은 고딕"/>
              </a:rPr>
              <a:t>빅데이터는 사람들이 교통 체증을 피하도록 돕는다.</a:t>
            </a:r>
            <a:endParaRPr lang="ko-KR" sz="1900"/>
          </a:p>
        </p:txBody>
      </p:sp>
      <p:sp>
        <p:nvSpPr>
          <p:cNvPr id="23" name="tf_4"/>
          <p:cNvSpPr txBox="1"/>
          <p:nvPr/>
        </p:nvSpPr>
        <p:spPr>
          <a:xfrm>
            <a:off x="9765792" y="4851781"/>
            <a:ext cx="1828800" cy="466217"/>
          </a:xfrm>
          <a:prstGeom prst="rect">
            <a:avLst/>
          </a:prstGeom>
          <a:noFill/>
        </p:spPr>
        <p:txBody>
          <a:bodyPr wrap="square" lIns="18288" tIns="18288" rIns="18288" bIns="18288" anchor="ctr" rtlCol="0">
            <a:noAutofit/>
          </a:bodyPr>
          <a:lstStyle/>
          <a:p>
            <a:pPr algn="ctr">
              <a:lnSpc>
                <a:spcPts val="2375"/>
              </a:lnSpc>
              <a:spcBef>
                <a:spcPts val="0"/>
              </a:spcBef>
              <a:spcAft>
                <a:spcPts val="0"/>
              </a:spcAft>
              <a:buNone/>
            </a:pPr>
            <a:r>
              <a:rPr lang="en-US" altLang="en-US" sz="1900" b="1" dirty="0">
                <a:solidFill>
                  <a:srgbClr val="9AA3B5"/>
                </a:solidFill>
                <a:latin typeface="Calibri"/>
                <a:ea typeface="맑은 고딕"/>
                <a:cs typeface="Calibri"/>
              </a:rPr>
              <a:t>T   /   F</a:t>
            </a:r>
            <a:endParaRPr lang="ko-KR" sz="1900"/>
          </a:p>
        </p:txBody>
      </p:sp>
      <p:sp>
        <p:nvSpPr>
          <p:cNvPr id="24" name="rv_ans_4"/>
          <p:cNvSpPr/>
          <p:nvPr/>
        </p:nvSpPr>
        <p:spPr>
          <a:xfrm>
            <a:off x="9765792" y="4897501"/>
            <a:ext cx="1828800" cy="374777"/>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640"/>
              </a:lnSpc>
              <a:spcBef>
                <a:spcPts val="0"/>
              </a:spcBef>
              <a:spcAft>
                <a:spcPts val="0"/>
              </a:spcAft>
              <a:buNone/>
            </a:pPr>
            <a:r>
              <a:rPr lang="en-US" altLang="en-US" sz="2200" b="1" dirty="0">
                <a:solidFill>
                  <a:srgbClr val="C00000"/>
                </a:solidFill>
                <a:latin typeface="Calibri"/>
                <a:ea typeface="맑은 고딕"/>
                <a:cs typeface="Calibri"/>
              </a:rPr>
              <a:t>T</a:t>
            </a:r>
            <a:endParaRPr lang="ko-KR" sz="2200"/>
          </a:p>
        </p:txBody>
      </p:sp>
      <p:sp>
        <p:nvSpPr>
          <p:cNvPr id="25" name="q_card_5"/>
          <p:cNvSpPr/>
          <p:nvPr/>
        </p:nvSpPr>
        <p:spPr>
          <a:xfrm>
            <a:off x="457200" y="5391150"/>
            <a:ext cx="11274552" cy="466217"/>
          </a:xfrm>
          <a:prstGeom prst="roundRect">
            <a:avLst>
              <a:gd name="adj" fmla="val 12000"/>
            </a:avLst>
          </a:prstGeom>
          <a:noFill/>
          <a:ln w="12700">
            <a:solidFill>
              <a:srgbClr val="D5DAE5"/>
            </a:solidFill>
          </a:ln>
        </p:spPr>
        <p:txBody>
          <a:bodyPr rtlCol="0" anchor="ctr"/>
          <a:lstStyle/>
          <a:p>
            <a:pPr algn="ctr"/>
          </a:p>
        </p:txBody>
      </p:sp>
      <p:sp>
        <p:nvSpPr>
          <p:cNvPr id="26" name="q_5"/>
          <p:cNvSpPr txBox="1"/>
          <p:nvPr/>
        </p:nvSpPr>
        <p:spPr>
          <a:xfrm>
            <a:off x="502920" y="5391150"/>
            <a:ext cx="9171432" cy="466217"/>
          </a:xfrm>
          <a:prstGeom prst="rect">
            <a:avLst/>
          </a:prstGeom>
          <a:noFill/>
        </p:spPr>
        <p:txBody>
          <a:bodyPr wrap="square" lIns="109728" tIns="45720" rIns="109728" bIns="45720" anchor="ctr" rtlCol="0">
            <a:noAutofit/>
          </a:bodyPr>
          <a:lstStyle/>
          <a:p>
            <a:pPr algn="l">
              <a:lnSpc>
                <a:spcPts val="2375"/>
              </a:lnSpc>
              <a:spcBef>
                <a:spcPts val="0"/>
              </a:spcBef>
              <a:spcAft>
                <a:spcPts val="0"/>
              </a:spcAft>
              <a:buNone/>
            </a:pPr>
            <a:r>
              <a:rPr lang="en-US" altLang="en-US" sz="1900" b="1" dirty="0">
                <a:solidFill>
                  <a:srgbClr val="1E2A5A"/>
                </a:solidFill>
                <a:latin typeface="Calibri"/>
                <a:ea typeface="맑은 고딕"/>
                <a:cs typeface="Calibri"/>
              </a:rPr>
              <a:t>15.  </a:t>
            </a:r>
            <a:r>
              <a:rPr lang="ko-KR" altLang="en-US" sz="1900" b="0" dirty="0">
                <a:solidFill>
                  <a:srgbClr val="1F2328"/>
                </a:solidFill>
                <a:latin typeface="맑은 고딕"/>
                <a:ea typeface="맑은 고딕"/>
                <a:cs typeface="맑은 고딕"/>
              </a:rPr>
              <a:t>빅데이터의 쓰임은 매우 제한적이다.</a:t>
            </a:r>
            <a:endParaRPr lang="ko-KR" sz="1900"/>
          </a:p>
        </p:txBody>
      </p:sp>
      <p:sp>
        <p:nvSpPr>
          <p:cNvPr id="27" name="tf_5"/>
          <p:cNvSpPr txBox="1"/>
          <p:nvPr/>
        </p:nvSpPr>
        <p:spPr>
          <a:xfrm>
            <a:off x="9765792" y="5391150"/>
            <a:ext cx="1828800" cy="466217"/>
          </a:xfrm>
          <a:prstGeom prst="rect">
            <a:avLst/>
          </a:prstGeom>
          <a:noFill/>
        </p:spPr>
        <p:txBody>
          <a:bodyPr wrap="square" lIns="18288" tIns="18288" rIns="18288" bIns="18288" anchor="ctr" rtlCol="0">
            <a:noAutofit/>
          </a:bodyPr>
          <a:lstStyle/>
          <a:p>
            <a:pPr algn="ctr">
              <a:lnSpc>
                <a:spcPts val="2375"/>
              </a:lnSpc>
              <a:spcBef>
                <a:spcPts val="0"/>
              </a:spcBef>
              <a:spcAft>
                <a:spcPts val="0"/>
              </a:spcAft>
              <a:buNone/>
            </a:pPr>
            <a:r>
              <a:rPr lang="en-US" altLang="en-US" sz="1900" b="1" dirty="0">
                <a:solidFill>
                  <a:srgbClr val="9AA3B5"/>
                </a:solidFill>
                <a:latin typeface="Calibri"/>
                <a:ea typeface="맑은 고딕"/>
                <a:cs typeface="Calibri"/>
              </a:rPr>
              <a:t>T   /   F</a:t>
            </a:r>
            <a:endParaRPr lang="ko-KR" sz="1900"/>
          </a:p>
        </p:txBody>
      </p:sp>
      <p:sp>
        <p:nvSpPr>
          <p:cNvPr id="28" name="rv_ans_5"/>
          <p:cNvSpPr/>
          <p:nvPr/>
        </p:nvSpPr>
        <p:spPr>
          <a:xfrm>
            <a:off x="9765792" y="5436870"/>
            <a:ext cx="1828800" cy="374777"/>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640"/>
              </a:lnSpc>
              <a:spcBef>
                <a:spcPts val="0"/>
              </a:spcBef>
              <a:spcAft>
                <a:spcPts val="0"/>
              </a:spcAft>
              <a:buNone/>
            </a:pPr>
            <a:r>
              <a:rPr lang="en-US" altLang="en-US" sz="2200" b="1" dirty="0">
                <a:solidFill>
                  <a:srgbClr val="C00000"/>
                </a:solidFill>
                <a:latin typeface="Calibri"/>
                <a:ea typeface="맑은 고딕"/>
                <a:cs typeface="Calibri"/>
              </a:rPr>
              <a:t>F</a:t>
            </a:r>
            <a:endParaRPr lang="ko-KR" sz="22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25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250"/>
                                        <p:tgtEl>
                                          <p:spTgt spid="1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0"/>
                                        </p:tgtEl>
                                        <p:attrNameLst>
                                          <p:attrName>style.visibility</p:attrName>
                                        </p:attrNameLst>
                                      </p:cBhvr>
                                      <p:to>
                                        <p:strVal val="visible"/>
                                      </p:to>
                                    </p:set>
                                    <p:animEffect transition="in" filter="fade">
                                      <p:cBhvr>
                                        <p:cTn id="13" dur="250"/>
                                        <p:tgtEl>
                                          <p:spTgt spid="20"/>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4"/>
                                        </p:tgtEl>
                                        <p:attrNameLst>
                                          <p:attrName>style.visibility</p:attrName>
                                        </p:attrNameLst>
                                      </p:cBhvr>
                                      <p:to>
                                        <p:strVal val="visible"/>
                                      </p:to>
                                    </p:set>
                                    <p:animEffect transition="in" filter="fade">
                                      <p:cBhvr>
                                        <p:cTn id="16" dur="250"/>
                                        <p:tgtEl>
                                          <p:spTgt spid="24"/>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8"/>
                                        </p:tgtEl>
                                        <p:attrNameLst>
                                          <p:attrName>style.visibility</p:attrName>
                                        </p:attrNameLst>
                                      </p:cBhvr>
                                      <p:to>
                                        <p:strVal val="visible"/>
                                      </p:to>
                                    </p:set>
                                    <p:animEffect transition="in" filter="fade">
                                      <p:cBhvr>
                                        <p:cTn id="19" dur="25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6" grpId="0" animBg="1"/>
      <p:bldP spid="20" grpId="0" animBg="1"/>
      <p:bldP spid="24" grpId="0" animBg="1"/>
      <p:bldP spid="28" grpId="0" animBg="1"/>
    </p:bldLst>
  </p:timing>
</p:sld>
</file>

<file path=ppt/slides/slide20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8000"/>
            </a:avLst>
          </a:prstGeom>
          <a:solidFill>
            <a:srgbClr val="1E2A5A"/>
          </a:solidFill>
          <a:ln>
            <a:noFill/>
          </a:ln>
        </p:spPr>
        <p:txBody>
          <a:bodyPr wrap="square" lIns="45720" tIns="18288" rIns="45720" bIns="18288" anchor="ctr" rtlCol="0">
            <a:noAutofit/>
          </a:bodyPr>
          <a:lstStyle/>
          <a:p>
            <a:pPr algn="ctr">
              <a:lnSpc>
                <a:spcPts val="2000"/>
              </a:lnSpc>
              <a:spcBef>
                <a:spcPts val="0"/>
              </a:spcBef>
              <a:spcAft>
                <a:spcPts val="0"/>
              </a:spcAft>
              <a:buNone/>
            </a:pPr>
            <a:r>
              <a:rPr lang="en-US" altLang="en-US" sz="1700" b="1" dirty="0">
                <a:solidFill>
                  <a:srgbClr val="FFFFFF"/>
                </a:solidFill>
                <a:latin typeface="Calibri"/>
                <a:ea typeface="맑은 고딕"/>
                <a:cs typeface="Calibri"/>
              </a:rPr>
              <a:t>L7-2</a:t>
            </a:r>
            <a:endParaRPr lang="ko-KR" sz="1700"/>
          </a:p>
        </p:txBody>
      </p:sp>
      <p:sp>
        <p:nvSpPr>
          <p:cNvPr id="3" name="hdr_chip"/>
          <p:cNvSpPr/>
          <p:nvPr/>
        </p:nvSpPr>
        <p:spPr>
          <a:xfrm>
            <a:off x="1755648" y="274320"/>
            <a:ext cx="1371600" cy="493776"/>
          </a:xfrm>
          <a:prstGeom prst="roundRect">
            <a:avLst>
              <a:gd name="adj" fmla="val 8000"/>
            </a:avLst>
          </a:prstGeom>
          <a:solidFill>
            <a:srgbClr val="E6EAF4"/>
          </a:solidFill>
          <a:ln>
            <a:noFill/>
          </a:ln>
        </p:spPr>
        <p:txBody>
          <a:bodyPr wrap="square" lIns="27432" tIns="18288" rIns="27432" bIns="18288" anchor="ctr" rtlCol="0">
            <a:noAutofit/>
          </a:bodyPr>
          <a:lstStyle/>
          <a:p>
            <a:pPr algn="ctr">
              <a:lnSpc>
                <a:spcPts val="1700"/>
              </a:lnSpc>
              <a:spcBef>
                <a:spcPts val="0"/>
              </a:spcBef>
              <a:spcAft>
                <a:spcPts val="0"/>
              </a:spcAft>
              <a:buNone/>
            </a:pPr>
            <a:r>
              <a:rPr lang="ko-KR" altLang="en-US" sz="1400" b="1" dirty="0">
                <a:solidFill>
                  <a:srgbClr val="1E2A5A"/>
                </a:solidFill>
                <a:latin typeface="맑은 고딕"/>
                <a:ea typeface="맑은 고딕"/>
                <a:cs typeface="맑은 고딕"/>
              </a:rPr>
              <a:t>PART 4 · 4</a:t>
            </a:r>
            <a:endParaRPr lang="ko-KR" sz="1400"/>
          </a:p>
        </p:txBody>
      </p:sp>
      <p:sp>
        <p:nvSpPr>
          <p:cNvPr id="4" name="hdr_q"/>
          <p:cNvSpPr txBox="1"/>
          <p:nvPr/>
        </p:nvSpPr>
        <p:spPr>
          <a:xfrm>
            <a:off x="3246120" y="246888"/>
            <a:ext cx="8485632" cy="548640"/>
          </a:xfrm>
          <a:prstGeom prst="rect">
            <a:avLst/>
          </a:prstGeom>
          <a:noFill/>
        </p:spPr>
        <p:txBody>
          <a:bodyPr wrap="square" lIns="109728" tIns="54864" rIns="109728" bIns="54864" anchor="ctr" rtlCol="0">
            <a:noAutofit/>
          </a:bodyPr>
          <a:lstStyle/>
          <a:p>
            <a:pPr algn="l">
              <a:lnSpc>
                <a:spcPts val="2400"/>
              </a:lnSpc>
              <a:spcBef>
                <a:spcPts val="0"/>
              </a:spcBef>
              <a:spcAft>
                <a:spcPts val="0"/>
              </a:spcAft>
              <a:buNone/>
            </a:pPr>
            <a:r>
              <a:rPr lang="ko-KR" altLang="en-US" sz="2000" b="1" dirty="0">
                <a:solidFill>
                  <a:srgbClr val="1F2328"/>
                </a:solidFill>
                <a:latin typeface="맑은 고딕"/>
                <a:ea typeface="맑은 고딕"/>
                <a:cs typeface="맑은 고딕"/>
              </a:rPr>
              <a:t>본문과 일치하면 T, 일치하지 않으면 F를 고르시오.</a:t>
            </a:r>
            <a:endParaRPr lang="ko-KR" sz="2000"/>
          </a:p>
        </p:txBody>
      </p:sp>
      <p:sp>
        <p:nvSpPr>
          <p:cNvPr id="5" name="ftr_exam"/>
          <p:cNvSpPr txBox="1"/>
          <p:nvPr/>
        </p:nvSpPr>
        <p:spPr>
          <a:xfrm>
            <a:off x="457200" y="6519672"/>
            <a:ext cx="5669280" cy="256032"/>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7</a:t>
            </a:r>
            <a:endParaRPr lang="ko-KR" sz="1000"/>
          </a:p>
        </p:txBody>
      </p:sp>
      <p:sp>
        <p:nvSpPr>
          <p:cNvPr id="6" name="ftr_hint"/>
          <p:cNvSpPr txBox="1"/>
          <p:nvPr/>
        </p:nvSpPr>
        <p:spPr>
          <a:xfrm>
            <a:off x="5971032" y="6519672"/>
            <a:ext cx="5760720" cy="256032"/>
          </a:xfrm>
          <a:prstGeom prst="rect">
            <a:avLst/>
          </a:prstGeom>
          <a:noFill/>
        </p:spPr>
        <p:txBody>
          <a:bodyPr wrap="square" lIns="0" tIns="0" rIns="0" bIns="0" anchor="t" rtlCol="0">
            <a:noAutofit/>
          </a:bodyPr>
          <a:lstStyle/>
          <a:p>
            <a:pPr algn="r">
              <a:lnSpc>
                <a:spcPts val="1200"/>
              </a:lnSpc>
              <a:spcBef>
                <a:spcPts val="0"/>
              </a:spcBef>
              <a:spcAft>
                <a:spcPts val="0"/>
              </a:spcAft>
              <a:buNone/>
            </a:pPr>
            <a:r>
              <a:rPr lang="ko-KR" altLang="en-US" sz="1000" b="0" dirty="0">
                <a:solidFill>
                  <a:srgbClr val="7A808C"/>
                </a:solidFill>
                <a:latin typeface="맑은 고딕"/>
                <a:ea typeface="맑은 고딕"/>
                <a:cs typeface="맑은 고딕"/>
              </a:rPr>
              <a:t>클릭 ① 정답(T/F) 공개</a:t>
            </a:r>
            <a:endParaRPr lang="ko-KR" sz="1000"/>
          </a:p>
        </p:txBody>
      </p:sp>
      <p:sp>
        <p:nvSpPr>
          <p:cNvPr id="7" name="passage_card"/>
          <p:cNvSpPr/>
          <p:nvPr/>
        </p:nvSpPr>
        <p:spPr>
          <a:xfrm>
            <a:off x="457200" y="950976"/>
            <a:ext cx="11274552" cy="2009647"/>
          </a:xfrm>
          <a:prstGeom prst="roundRect">
            <a:avLst>
              <a:gd name="adj" fmla="val 4000"/>
            </a:avLst>
          </a:prstGeom>
          <a:solidFill>
            <a:srgbClr val="F3F5F9"/>
          </a:solidFill>
          <a:ln w="12700">
            <a:solidFill>
              <a:srgbClr val="D9DFEA"/>
            </a:solidFill>
          </a:ln>
        </p:spPr>
        <p:txBody>
          <a:bodyPr rtlCol="0" anchor="ctr"/>
          <a:lstStyle/>
          <a:p>
            <a:pPr algn="ctr"/>
          </a:p>
        </p:txBody>
      </p:sp>
      <p:sp>
        <p:nvSpPr>
          <p:cNvPr id="8" name="passage"/>
          <p:cNvSpPr txBox="1"/>
          <p:nvPr/>
        </p:nvSpPr>
        <p:spPr>
          <a:xfrm>
            <a:off x="457200" y="950976"/>
            <a:ext cx="11274552" cy="2009647"/>
          </a:xfrm>
          <a:prstGeom prst="rect">
            <a:avLst/>
          </a:prstGeom>
          <a:noFill/>
        </p:spPr>
        <p:txBody>
          <a:bodyPr wrap="square" lIns="182880" tIns="137160" rIns="182880" bIns="137160" anchor="t" rtlCol="0">
            <a:noAutofit/>
          </a:bodyPr>
          <a:lstStyle/>
          <a:p>
            <a:pPr algn="l">
              <a:lnSpc>
                <a:spcPts val="1952"/>
              </a:lnSpc>
              <a:spcBef>
                <a:spcPts val="0"/>
              </a:spcBef>
              <a:spcAft>
                <a:spcPts val="0"/>
              </a:spcAft>
              <a:buNone/>
            </a:pPr>
            <a:r>
              <a:rPr lang="ko-KR" altLang="en-US" sz="1600" b="1" dirty="0">
                <a:solidFill>
                  <a:srgbClr val="1E2A5A"/>
                </a:solidFill>
                <a:latin typeface="맑은 고딕"/>
                <a:ea typeface="맑은 고딕"/>
                <a:cs typeface="맑은 고딕"/>
              </a:rPr>
              <a:t>⑫ </a:t>
            </a:r>
            <a:r>
              <a:rPr lang="en-US" altLang="en-US" sz="1600" b="0" dirty="0">
                <a:solidFill>
                  <a:srgbClr val="1F2328"/>
                </a:solidFill>
                <a:latin typeface="Calibri"/>
                <a:ea typeface="맑은 고딕"/>
                <a:cs typeface="Calibri"/>
              </a:rPr>
              <a:t>Big data is influencing almost all parts of our lives. </a:t>
            </a:r>
            <a:r>
              <a:rPr lang="ko-KR" altLang="en-US" sz="1600" b="1" dirty="0">
                <a:solidFill>
                  <a:srgbClr val="1E2A5A"/>
                </a:solidFill>
                <a:latin typeface="맑은 고딕"/>
                <a:ea typeface="맑은 고딕"/>
                <a:cs typeface="맑은 고딕"/>
              </a:rPr>
              <a:t>⑬ </a:t>
            </a:r>
            <a:r>
              <a:rPr lang="en-US" altLang="en-US" sz="1600" b="0" dirty="0">
                <a:solidFill>
                  <a:srgbClr val="1F2328"/>
                </a:solidFill>
                <a:latin typeface="Calibri"/>
                <a:ea typeface="맑은 고딕"/>
                <a:cs typeface="Calibri"/>
              </a:rPr>
              <a:t>It helps companies understand their customers’ needs better and helps them sell more products. </a:t>
            </a:r>
            <a:r>
              <a:rPr lang="ko-KR" altLang="en-US" sz="1600" b="1" dirty="0">
                <a:solidFill>
                  <a:srgbClr val="1E2A5A"/>
                </a:solidFill>
                <a:latin typeface="맑은 고딕"/>
                <a:ea typeface="맑은 고딕"/>
                <a:cs typeface="맑은 고딕"/>
              </a:rPr>
              <a:t>⑭ </a:t>
            </a:r>
            <a:r>
              <a:rPr lang="en-US" altLang="en-US" sz="1600" b="0" dirty="0">
                <a:solidFill>
                  <a:srgbClr val="1F2328"/>
                </a:solidFill>
                <a:latin typeface="Calibri"/>
                <a:ea typeface="맑은 고딕"/>
                <a:cs typeface="Calibri"/>
              </a:rPr>
              <a:t>It helps people avoid heavy traffic. Its uses are endless, and here are some interesting examples. </a:t>
            </a:r>
            <a:r>
              <a:rPr lang="ko-KR" altLang="en-US" sz="1600" b="1" dirty="0">
                <a:solidFill>
                  <a:srgbClr val="1E2A5A"/>
                </a:solidFill>
                <a:latin typeface="맑은 고딕"/>
                <a:ea typeface="맑은 고딕"/>
                <a:cs typeface="맑은 고딕"/>
              </a:rPr>
              <a:t>⑮ </a:t>
            </a:r>
            <a:r>
              <a:rPr lang="en-US" altLang="en-US" sz="1600" b="0" dirty="0">
                <a:solidFill>
                  <a:srgbClr val="1F2328"/>
                </a:solidFill>
                <a:latin typeface="Calibri"/>
                <a:ea typeface="맑은 고딕"/>
                <a:cs typeface="Calibri"/>
              </a:rPr>
              <a:t>Did you know that health professionals can now forecast a disease just as weather experts forecast the weather? </a:t>
            </a:r>
            <a:r>
              <a:rPr lang="ko-KR" altLang="en-US" sz="1600" b="1" dirty="0">
                <a:solidFill>
                  <a:srgbClr val="1E2A5A"/>
                </a:solidFill>
                <a:latin typeface="맑은 고딕"/>
                <a:ea typeface="맑은 고딕"/>
                <a:cs typeface="맑은 고딕"/>
              </a:rPr>
              <a:t>⑯ </a:t>
            </a:r>
            <a:r>
              <a:rPr lang="en-US" altLang="en-US" sz="1600" b="0" dirty="0">
                <a:solidFill>
                  <a:srgbClr val="1F2328"/>
                </a:solidFill>
                <a:latin typeface="Calibri"/>
                <a:ea typeface="맑은 고딕"/>
                <a:cs typeface="Calibri"/>
              </a:rPr>
              <a:t>This is possible thanks to big data. For example, when the flu season comes, people will buy more flu medicine. </a:t>
            </a:r>
            <a:r>
              <a:rPr lang="ko-KR" altLang="en-US" sz="1600" b="1" dirty="0">
                <a:solidFill>
                  <a:srgbClr val="1E2A5A"/>
                </a:solidFill>
                <a:latin typeface="맑은 고딕"/>
                <a:ea typeface="맑은 고딕"/>
                <a:cs typeface="맑은 고딕"/>
              </a:rPr>
              <a:t>⑰ </a:t>
            </a:r>
            <a:r>
              <a:rPr lang="en-US" altLang="en-US" sz="1600" b="0" dirty="0">
                <a:solidFill>
                  <a:srgbClr val="1F2328"/>
                </a:solidFill>
                <a:latin typeface="Calibri"/>
                <a:ea typeface="맑은 고딕"/>
                <a:cs typeface="Calibri"/>
              </a:rPr>
              <a:t>They will also search online about flu symptoms more. </a:t>
            </a:r>
            <a:r>
              <a:rPr lang="ko-KR" altLang="en-US" sz="1600" b="1" dirty="0">
                <a:solidFill>
                  <a:srgbClr val="1E2A5A"/>
                </a:solidFill>
                <a:latin typeface="맑은 고딕"/>
                <a:ea typeface="맑은 고딕"/>
                <a:cs typeface="맑은 고딕"/>
              </a:rPr>
              <a:t>⑱ </a:t>
            </a:r>
            <a:r>
              <a:rPr lang="en-US" altLang="en-US" sz="1600" b="0" dirty="0">
                <a:solidFill>
                  <a:srgbClr val="1F2328"/>
                </a:solidFill>
                <a:latin typeface="Calibri"/>
                <a:ea typeface="맑은 고딕"/>
                <a:cs typeface="Calibri"/>
              </a:rPr>
              <a:t>If this kind of data is analyzed wisely, the spread of the flu can be predicted. </a:t>
            </a:r>
            <a:endParaRPr lang="ko-KR" sz="1600"/>
          </a:p>
        </p:txBody>
      </p:sp>
      <p:sp>
        <p:nvSpPr>
          <p:cNvPr id="9" name="q_card_1"/>
          <p:cNvSpPr/>
          <p:nvPr/>
        </p:nvSpPr>
        <p:spPr>
          <a:xfrm>
            <a:off x="457200" y="3125216"/>
            <a:ext cx="11274552" cy="466217"/>
          </a:xfrm>
          <a:prstGeom prst="roundRect">
            <a:avLst>
              <a:gd name="adj" fmla="val 12000"/>
            </a:avLst>
          </a:prstGeom>
          <a:noFill/>
          <a:ln w="12700">
            <a:solidFill>
              <a:srgbClr val="D5DAE5"/>
            </a:solidFill>
          </a:ln>
        </p:spPr>
        <p:txBody>
          <a:bodyPr rtlCol="0" anchor="ctr"/>
          <a:lstStyle/>
          <a:p>
            <a:pPr algn="ctr"/>
          </a:p>
        </p:txBody>
      </p:sp>
      <p:sp>
        <p:nvSpPr>
          <p:cNvPr id="10" name="q_1"/>
          <p:cNvSpPr txBox="1"/>
          <p:nvPr/>
        </p:nvSpPr>
        <p:spPr>
          <a:xfrm>
            <a:off x="502920" y="3125216"/>
            <a:ext cx="9171432" cy="466217"/>
          </a:xfrm>
          <a:prstGeom prst="rect">
            <a:avLst/>
          </a:prstGeom>
          <a:noFill/>
        </p:spPr>
        <p:txBody>
          <a:bodyPr wrap="square" lIns="109728" tIns="45720" rIns="109728" bIns="45720" anchor="ctr" rtlCol="0">
            <a:noAutofit/>
          </a:bodyPr>
          <a:lstStyle/>
          <a:p>
            <a:pPr algn="l">
              <a:lnSpc>
                <a:spcPts val="2375"/>
              </a:lnSpc>
              <a:spcBef>
                <a:spcPts val="0"/>
              </a:spcBef>
              <a:spcAft>
                <a:spcPts val="0"/>
              </a:spcAft>
              <a:buNone/>
            </a:pPr>
            <a:r>
              <a:rPr lang="en-US" altLang="en-US" sz="1900" b="1" dirty="0">
                <a:solidFill>
                  <a:srgbClr val="1E2A5A"/>
                </a:solidFill>
                <a:latin typeface="Calibri"/>
                <a:ea typeface="맑은 고딕"/>
                <a:cs typeface="Calibri"/>
              </a:rPr>
              <a:t>16.  </a:t>
            </a:r>
            <a:r>
              <a:rPr lang="ko-KR" altLang="en-US" sz="1900" b="0" dirty="0">
                <a:solidFill>
                  <a:srgbClr val="1F2328"/>
                </a:solidFill>
                <a:latin typeface="맑은 고딕"/>
                <a:ea typeface="맑은 고딕"/>
                <a:cs typeface="맑은 고딕"/>
              </a:rPr>
              <a:t>건강 전문가들은 이제 질병을 예측할 수 있다.</a:t>
            </a:r>
            <a:endParaRPr lang="ko-KR" sz="1900"/>
          </a:p>
        </p:txBody>
      </p:sp>
      <p:sp>
        <p:nvSpPr>
          <p:cNvPr id="11" name="tf_1"/>
          <p:cNvSpPr txBox="1"/>
          <p:nvPr/>
        </p:nvSpPr>
        <p:spPr>
          <a:xfrm>
            <a:off x="9765792" y="3125216"/>
            <a:ext cx="1828800" cy="466217"/>
          </a:xfrm>
          <a:prstGeom prst="rect">
            <a:avLst/>
          </a:prstGeom>
          <a:noFill/>
        </p:spPr>
        <p:txBody>
          <a:bodyPr wrap="square" lIns="18288" tIns="18288" rIns="18288" bIns="18288" anchor="ctr" rtlCol="0">
            <a:noAutofit/>
          </a:bodyPr>
          <a:lstStyle/>
          <a:p>
            <a:pPr algn="ctr">
              <a:lnSpc>
                <a:spcPts val="2375"/>
              </a:lnSpc>
              <a:spcBef>
                <a:spcPts val="0"/>
              </a:spcBef>
              <a:spcAft>
                <a:spcPts val="0"/>
              </a:spcAft>
              <a:buNone/>
            </a:pPr>
            <a:r>
              <a:rPr lang="en-US" altLang="en-US" sz="1900" b="1" dirty="0">
                <a:solidFill>
                  <a:srgbClr val="9AA3B5"/>
                </a:solidFill>
                <a:latin typeface="Calibri"/>
                <a:ea typeface="맑은 고딕"/>
                <a:cs typeface="Calibri"/>
              </a:rPr>
              <a:t>T   /   F</a:t>
            </a:r>
            <a:endParaRPr lang="ko-KR" sz="1900"/>
          </a:p>
        </p:txBody>
      </p:sp>
      <p:sp>
        <p:nvSpPr>
          <p:cNvPr id="12" name="rv_ans_1"/>
          <p:cNvSpPr/>
          <p:nvPr/>
        </p:nvSpPr>
        <p:spPr>
          <a:xfrm>
            <a:off x="9765792" y="3170936"/>
            <a:ext cx="1828800" cy="374777"/>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640"/>
              </a:lnSpc>
              <a:spcBef>
                <a:spcPts val="0"/>
              </a:spcBef>
              <a:spcAft>
                <a:spcPts val="0"/>
              </a:spcAft>
              <a:buNone/>
            </a:pPr>
            <a:r>
              <a:rPr lang="en-US" altLang="en-US" sz="2200" b="1" dirty="0">
                <a:solidFill>
                  <a:srgbClr val="C00000"/>
                </a:solidFill>
                <a:latin typeface="Calibri"/>
                <a:ea typeface="맑은 고딕"/>
                <a:cs typeface="Calibri"/>
              </a:rPr>
              <a:t>T</a:t>
            </a:r>
            <a:endParaRPr lang="ko-KR" sz="2200"/>
          </a:p>
        </p:txBody>
      </p:sp>
      <p:sp>
        <p:nvSpPr>
          <p:cNvPr id="13" name="q_card_2"/>
          <p:cNvSpPr/>
          <p:nvPr/>
        </p:nvSpPr>
        <p:spPr>
          <a:xfrm>
            <a:off x="457200" y="3664585"/>
            <a:ext cx="11274552" cy="466217"/>
          </a:xfrm>
          <a:prstGeom prst="roundRect">
            <a:avLst>
              <a:gd name="adj" fmla="val 12000"/>
            </a:avLst>
          </a:prstGeom>
          <a:noFill/>
          <a:ln w="12700">
            <a:solidFill>
              <a:srgbClr val="D5DAE5"/>
            </a:solidFill>
          </a:ln>
        </p:spPr>
        <p:txBody>
          <a:bodyPr rtlCol="0" anchor="ctr"/>
          <a:lstStyle/>
          <a:p>
            <a:pPr algn="ctr"/>
          </a:p>
        </p:txBody>
      </p:sp>
      <p:sp>
        <p:nvSpPr>
          <p:cNvPr id="14" name="q_2"/>
          <p:cNvSpPr txBox="1"/>
          <p:nvPr/>
        </p:nvSpPr>
        <p:spPr>
          <a:xfrm>
            <a:off x="502920" y="3664585"/>
            <a:ext cx="9171432" cy="466217"/>
          </a:xfrm>
          <a:prstGeom prst="rect">
            <a:avLst/>
          </a:prstGeom>
          <a:noFill/>
        </p:spPr>
        <p:txBody>
          <a:bodyPr wrap="square" lIns="109728" tIns="45720" rIns="109728" bIns="45720" anchor="ctr" rtlCol="0">
            <a:noAutofit/>
          </a:bodyPr>
          <a:lstStyle/>
          <a:p>
            <a:pPr algn="l">
              <a:lnSpc>
                <a:spcPts val="2375"/>
              </a:lnSpc>
              <a:spcBef>
                <a:spcPts val="0"/>
              </a:spcBef>
              <a:spcAft>
                <a:spcPts val="0"/>
              </a:spcAft>
              <a:buNone/>
            </a:pPr>
            <a:r>
              <a:rPr lang="en-US" altLang="en-US" sz="1900" b="1" dirty="0">
                <a:solidFill>
                  <a:srgbClr val="1E2A5A"/>
                </a:solidFill>
                <a:latin typeface="Calibri"/>
                <a:ea typeface="맑은 고딕"/>
                <a:cs typeface="Calibri"/>
              </a:rPr>
              <a:t>17.  </a:t>
            </a:r>
            <a:r>
              <a:rPr lang="ko-KR" altLang="en-US" sz="1900" b="0" dirty="0">
                <a:solidFill>
                  <a:srgbClr val="1F2328"/>
                </a:solidFill>
                <a:latin typeface="맑은 고딕"/>
                <a:ea typeface="맑은 고딕"/>
                <a:cs typeface="맑은 고딕"/>
              </a:rPr>
              <a:t>독감의 계절이 오면 사람들은 독감 약을 덜 구입한다.</a:t>
            </a:r>
            <a:endParaRPr lang="ko-KR" sz="1900"/>
          </a:p>
        </p:txBody>
      </p:sp>
      <p:sp>
        <p:nvSpPr>
          <p:cNvPr id="15" name="tf_2"/>
          <p:cNvSpPr txBox="1"/>
          <p:nvPr/>
        </p:nvSpPr>
        <p:spPr>
          <a:xfrm>
            <a:off x="9765792" y="3664585"/>
            <a:ext cx="1828800" cy="466217"/>
          </a:xfrm>
          <a:prstGeom prst="rect">
            <a:avLst/>
          </a:prstGeom>
          <a:noFill/>
        </p:spPr>
        <p:txBody>
          <a:bodyPr wrap="square" lIns="18288" tIns="18288" rIns="18288" bIns="18288" anchor="ctr" rtlCol="0">
            <a:noAutofit/>
          </a:bodyPr>
          <a:lstStyle/>
          <a:p>
            <a:pPr algn="ctr">
              <a:lnSpc>
                <a:spcPts val="2375"/>
              </a:lnSpc>
              <a:spcBef>
                <a:spcPts val="0"/>
              </a:spcBef>
              <a:spcAft>
                <a:spcPts val="0"/>
              </a:spcAft>
              <a:buNone/>
            </a:pPr>
            <a:r>
              <a:rPr lang="en-US" altLang="en-US" sz="1900" b="1" dirty="0">
                <a:solidFill>
                  <a:srgbClr val="9AA3B5"/>
                </a:solidFill>
                <a:latin typeface="Calibri"/>
                <a:ea typeface="맑은 고딕"/>
                <a:cs typeface="Calibri"/>
              </a:rPr>
              <a:t>T   /   F</a:t>
            </a:r>
            <a:endParaRPr lang="ko-KR" sz="1900"/>
          </a:p>
        </p:txBody>
      </p:sp>
      <p:sp>
        <p:nvSpPr>
          <p:cNvPr id="16" name="rv_ans_2"/>
          <p:cNvSpPr/>
          <p:nvPr/>
        </p:nvSpPr>
        <p:spPr>
          <a:xfrm>
            <a:off x="9765792" y="3710304"/>
            <a:ext cx="1828800" cy="374777"/>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640"/>
              </a:lnSpc>
              <a:spcBef>
                <a:spcPts val="0"/>
              </a:spcBef>
              <a:spcAft>
                <a:spcPts val="0"/>
              </a:spcAft>
              <a:buNone/>
            </a:pPr>
            <a:r>
              <a:rPr lang="en-US" altLang="en-US" sz="2200" b="1" dirty="0">
                <a:solidFill>
                  <a:srgbClr val="C00000"/>
                </a:solidFill>
                <a:latin typeface="Calibri"/>
                <a:ea typeface="맑은 고딕"/>
                <a:cs typeface="Calibri"/>
              </a:rPr>
              <a:t>F</a:t>
            </a:r>
            <a:endParaRPr lang="ko-KR" sz="2200"/>
          </a:p>
        </p:txBody>
      </p:sp>
      <p:sp>
        <p:nvSpPr>
          <p:cNvPr id="17" name="q_card_3"/>
          <p:cNvSpPr/>
          <p:nvPr/>
        </p:nvSpPr>
        <p:spPr>
          <a:xfrm>
            <a:off x="457200" y="4203954"/>
            <a:ext cx="11274552" cy="767842"/>
          </a:xfrm>
          <a:prstGeom prst="roundRect">
            <a:avLst>
              <a:gd name="adj" fmla="val 12000"/>
            </a:avLst>
          </a:prstGeom>
          <a:noFill/>
          <a:ln w="12700">
            <a:solidFill>
              <a:srgbClr val="D5DAE5"/>
            </a:solidFill>
          </a:ln>
        </p:spPr>
        <p:txBody>
          <a:bodyPr rtlCol="0" anchor="ctr"/>
          <a:lstStyle/>
          <a:p>
            <a:pPr algn="ctr"/>
          </a:p>
        </p:txBody>
      </p:sp>
      <p:sp>
        <p:nvSpPr>
          <p:cNvPr id="18" name="q_3"/>
          <p:cNvSpPr txBox="1"/>
          <p:nvPr/>
        </p:nvSpPr>
        <p:spPr>
          <a:xfrm>
            <a:off x="502920" y="4203954"/>
            <a:ext cx="9171432" cy="767842"/>
          </a:xfrm>
          <a:prstGeom prst="rect">
            <a:avLst/>
          </a:prstGeom>
          <a:noFill/>
        </p:spPr>
        <p:txBody>
          <a:bodyPr wrap="square" lIns="109728" tIns="45720" rIns="109728" bIns="45720" anchor="ctr" rtlCol="0">
            <a:noAutofit/>
          </a:bodyPr>
          <a:lstStyle/>
          <a:p>
            <a:pPr algn="l">
              <a:lnSpc>
                <a:spcPts val="2375"/>
              </a:lnSpc>
              <a:spcBef>
                <a:spcPts val="0"/>
              </a:spcBef>
              <a:spcAft>
                <a:spcPts val="0"/>
              </a:spcAft>
              <a:buNone/>
            </a:pPr>
            <a:r>
              <a:rPr lang="en-US" altLang="en-US" sz="1900" b="1" dirty="0">
                <a:solidFill>
                  <a:srgbClr val="1E2A5A"/>
                </a:solidFill>
                <a:latin typeface="Calibri"/>
                <a:ea typeface="맑은 고딕"/>
                <a:cs typeface="Calibri"/>
              </a:rPr>
              <a:t>18.  </a:t>
            </a:r>
            <a:r>
              <a:rPr lang="ko-KR" altLang="en-US" sz="1900" b="0" dirty="0">
                <a:solidFill>
                  <a:srgbClr val="1F2328"/>
                </a:solidFill>
                <a:latin typeface="맑은 고딕"/>
                <a:ea typeface="맑은 고딕"/>
                <a:cs typeface="맑은 고딕"/>
              </a:rPr>
              <a:t>독감의 계절에 사람들은 온라인에서 독감 증상을 더 많이 검색한다.</a:t>
            </a:r>
            <a:endParaRPr lang="ko-KR" sz="1900"/>
          </a:p>
        </p:txBody>
      </p:sp>
      <p:sp>
        <p:nvSpPr>
          <p:cNvPr id="19" name="tf_3"/>
          <p:cNvSpPr txBox="1"/>
          <p:nvPr/>
        </p:nvSpPr>
        <p:spPr>
          <a:xfrm>
            <a:off x="9765792" y="4203954"/>
            <a:ext cx="1828800" cy="767842"/>
          </a:xfrm>
          <a:prstGeom prst="rect">
            <a:avLst/>
          </a:prstGeom>
          <a:noFill/>
        </p:spPr>
        <p:txBody>
          <a:bodyPr wrap="square" lIns="18288" tIns="18288" rIns="18288" bIns="18288" anchor="ctr" rtlCol="0">
            <a:noAutofit/>
          </a:bodyPr>
          <a:lstStyle/>
          <a:p>
            <a:pPr algn="ctr">
              <a:lnSpc>
                <a:spcPts val="2375"/>
              </a:lnSpc>
              <a:spcBef>
                <a:spcPts val="0"/>
              </a:spcBef>
              <a:spcAft>
                <a:spcPts val="0"/>
              </a:spcAft>
              <a:buNone/>
            </a:pPr>
            <a:r>
              <a:rPr lang="en-US" altLang="en-US" sz="1900" b="1" dirty="0">
                <a:solidFill>
                  <a:srgbClr val="9AA3B5"/>
                </a:solidFill>
                <a:latin typeface="Calibri"/>
                <a:ea typeface="맑은 고딕"/>
                <a:cs typeface="Calibri"/>
              </a:rPr>
              <a:t>T   /   F</a:t>
            </a:r>
            <a:endParaRPr lang="ko-KR" sz="1900"/>
          </a:p>
        </p:txBody>
      </p:sp>
      <p:sp>
        <p:nvSpPr>
          <p:cNvPr id="20" name="rv_ans_3"/>
          <p:cNvSpPr/>
          <p:nvPr/>
        </p:nvSpPr>
        <p:spPr>
          <a:xfrm>
            <a:off x="9765792" y="4249674"/>
            <a:ext cx="1828800" cy="676402"/>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640"/>
              </a:lnSpc>
              <a:spcBef>
                <a:spcPts val="0"/>
              </a:spcBef>
              <a:spcAft>
                <a:spcPts val="0"/>
              </a:spcAft>
              <a:buNone/>
            </a:pPr>
            <a:r>
              <a:rPr lang="en-US" altLang="en-US" sz="2200" b="1" dirty="0">
                <a:solidFill>
                  <a:srgbClr val="C00000"/>
                </a:solidFill>
                <a:latin typeface="Calibri"/>
                <a:ea typeface="맑은 고딕"/>
                <a:cs typeface="Calibri"/>
              </a:rPr>
              <a:t>T</a:t>
            </a:r>
            <a:endParaRPr lang="ko-KR" sz="2200"/>
          </a:p>
        </p:txBody>
      </p:sp>
      <p:sp>
        <p:nvSpPr>
          <p:cNvPr id="21" name="q_card_4"/>
          <p:cNvSpPr/>
          <p:nvPr/>
        </p:nvSpPr>
        <p:spPr>
          <a:xfrm>
            <a:off x="457200" y="5044948"/>
            <a:ext cx="11274552" cy="767842"/>
          </a:xfrm>
          <a:prstGeom prst="roundRect">
            <a:avLst>
              <a:gd name="adj" fmla="val 12000"/>
            </a:avLst>
          </a:prstGeom>
          <a:noFill/>
          <a:ln w="12700">
            <a:solidFill>
              <a:srgbClr val="D5DAE5"/>
            </a:solidFill>
          </a:ln>
        </p:spPr>
        <p:txBody>
          <a:bodyPr rtlCol="0" anchor="ctr"/>
          <a:lstStyle/>
          <a:p>
            <a:pPr algn="ctr"/>
          </a:p>
        </p:txBody>
      </p:sp>
      <p:sp>
        <p:nvSpPr>
          <p:cNvPr id="22" name="q_4"/>
          <p:cNvSpPr txBox="1"/>
          <p:nvPr/>
        </p:nvSpPr>
        <p:spPr>
          <a:xfrm>
            <a:off x="502920" y="5044948"/>
            <a:ext cx="9171432" cy="767842"/>
          </a:xfrm>
          <a:prstGeom prst="rect">
            <a:avLst/>
          </a:prstGeom>
          <a:noFill/>
        </p:spPr>
        <p:txBody>
          <a:bodyPr wrap="square" lIns="109728" tIns="45720" rIns="109728" bIns="45720" anchor="ctr" rtlCol="0">
            <a:noAutofit/>
          </a:bodyPr>
          <a:lstStyle/>
          <a:p>
            <a:pPr algn="l">
              <a:lnSpc>
                <a:spcPts val="2375"/>
              </a:lnSpc>
              <a:spcBef>
                <a:spcPts val="0"/>
              </a:spcBef>
              <a:spcAft>
                <a:spcPts val="0"/>
              </a:spcAft>
              <a:buNone/>
            </a:pPr>
            <a:r>
              <a:rPr lang="en-US" altLang="en-US" sz="1900" b="1" dirty="0">
                <a:solidFill>
                  <a:srgbClr val="1E2A5A"/>
                </a:solidFill>
                <a:latin typeface="Calibri"/>
                <a:ea typeface="맑은 고딕"/>
                <a:cs typeface="Calibri"/>
              </a:rPr>
              <a:t>19.  </a:t>
            </a:r>
            <a:r>
              <a:rPr lang="ko-KR" altLang="en-US" sz="1900" b="0" dirty="0">
                <a:solidFill>
                  <a:srgbClr val="1F2328"/>
                </a:solidFill>
                <a:latin typeface="맑은 고딕"/>
                <a:ea typeface="맑은 고딕"/>
                <a:cs typeface="맑은 고딕"/>
              </a:rPr>
              <a:t>관련 데이터를 현명하게 분석하면 독감의 확산을 예측할 수 있다.</a:t>
            </a:r>
            <a:endParaRPr lang="ko-KR" sz="1900"/>
          </a:p>
        </p:txBody>
      </p:sp>
      <p:sp>
        <p:nvSpPr>
          <p:cNvPr id="23" name="tf_4"/>
          <p:cNvSpPr txBox="1"/>
          <p:nvPr/>
        </p:nvSpPr>
        <p:spPr>
          <a:xfrm>
            <a:off x="9765792" y="5044948"/>
            <a:ext cx="1828800" cy="767842"/>
          </a:xfrm>
          <a:prstGeom prst="rect">
            <a:avLst/>
          </a:prstGeom>
          <a:noFill/>
        </p:spPr>
        <p:txBody>
          <a:bodyPr wrap="square" lIns="18288" tIns="18288" rIns="18288" bIns="18288" anchor="ctr" rtlCol="0">
            <a:noAutofit/>
          </a:bodyPr>
          <a:lstStyle/>
          <a:p>
            <a:pPr algn="ctr">
              <a:lnSpc>
                <a:spcPts val="2375"/>
              </a:lnSpc>
              <a:spcBef>
                <a:spcPts val="0"/>
              </a:spcBef>
              <a:spcAft>
                <a:spcPts val="0"/>
              </a:spcAft>
              <a:buNone/>
            </a:pPr>
            <a:r>
              <a:rPr lang="en-US" altLang="en-US" sz="1900" b="1" dirty="0">
                <a:solidFill>
                  <a:srgbClr val="9AA3B5"/>
                </a:solidFill>
                <a:latin typeface="Calibri"/>
                <a:ea typeface="맑은 고딕"/>
                <a:cs typeface="Calibri"/>
              </a:rPr>
              <a:t>T   /   F</a:t>
            </a:r>
            <a:endParaRPr lang="ko-KR" sz="1900"/>
          </a:p>
        </p:txBody>
      </p:sp>
      <p:sp>
        <p:nvSpPr>
          <p:cNvPr id="24" name="rv_ans_4"/>
          <p:cNvSpPr/>
          <p:nvPr/>
        </p:nvSpPr>
        <p:spPr>
          <a:xfrm>
            <a:off x="9765792" y="5090668"/>
            <a:ext cx="1828800" cy="676402"/>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640"/>
              </a:lnSpc>
              <a:spcBef>
                <a:spcPts val="0"/>
              </a:spcBef>
              <a:spcAft>
                <a:spcPts val="0"/>
              </a:spcAft>
              <a:buNone/>
            </a:pPr>
            <a:r>
              <a:rPr lang="en-US" altLang="en-US" sz="2200" b="1" dirty="0">
                <a:solidFill>
                  <a:srgbClr val="C00000"/>
                </a:solidFill>
                <a:latin typeface="Calibri"/>
                <a:ea typeface="맑은 고딕"/>
                <a:cs typeface="Calibri"/>
              </a:rPr>
              <a:t>T</a:t>
            </a:r>
            <a:endParaRPr lang="ko-KR" sz="2200"/>
          </a:p>
        </p:txBody>
      </p:sp>
      <p:sp>
        <p:nvSpPr>
          <p:cNvPr id="25" name="q_card_5"/>
          <p:cNvSpPr/>
          <p:nvPr/>
        </p:nvSpPr>
        <p:spPr>
          <a:xfrm>
            <a:off x="457200" y="5885942"/>
            <a:ext cx="11274552" cy="466217"/>
          </a:xfrm>
          <a:prstGeom prst="roundRect">
            <a:avLst>
              <a:gd name="adj" fmla="val 12000"/>
            </a:avLst>
          </a:prstGeom>
          <a:noFill/>
          <a:ln w="12700">
            <a:solidFill>
              <a:srgbClr val="D5DAE5"/>
            </a:solidFill>
          </a:ln>
        </p:spPr>
        <p:txBody>
          <a:bodyPr rtlCol="0" anchor="ctr"/>
          <a:lstStyle/>
          <a:p>
            <a:pPr algn="ctr"/>
          </a:p>
        </p:txBody>
      </p:sp>
      <p:sp>
        <p:nvSpPr>
          <p:cNvPr id="26" name="q_5"/>
          <p:cNvSpPr txBox="1"/>
          <p:nvPr/>
        </p:nvSpPr>
        <p:spPr>
          <a:xfrm>
            <a:off x="502920" y="5885942"/>
            <a:ext cx="9171432" cy="466217"/>
          </a:xfrm>
          <a:prstGeom prst="rect">
            <a:avLst/>
          </a:prstGeom>
          <a:noFill/>
        </p:spPr>
        <p:txBody>
          <a:bodyPr wrap="square" lIns="109728" tIns="45720" rIns="109728" bIns="45720" anchor="ctr" rtlCol="0">
            <a:noAutofit/>
          </a:bodyPr>
          <a:lstStyle/>
          <a:p>
            <a:pPr algn="l">
              <a:lnSpc>
                <a:spcPts val="2375"/>
              </a:lnSpc>
              <a:spcBef>
                <a:spcPts val="0"/>
              </a:spcBef>
              <a:spcAft>
                <a:spcPts val="0"/>
              </a:spcAft>
              <a:buNone/>
            </a:pPr>
            <a:r>
              <a:rPr lang="en-US" altLang="en-US" sz="1900" b="1" dirty="0">
                <a:solidFill>
                  <a:srgbClr val="1E2A5A"/>
                </a:solidFill>
                <a:latin typeface="Calibri"/>
                <a:ea typeface="맑은 고딕"/>
                <a:cs typeface="Calibri"/>
              </a:rPr>
              <a:t>20.  </a:t>
            </a:r>
            <a:r>
              <a:rPr lang="ko-KR" altLang="en-US" sz="1900" b="0" dirty="0">
                <a:solidFill>
                  <a:srgbClr val="1F2328"/>
                </a:solidFill>
                <a:latin typeface="맑은 고딕"/>
                <a:ea typeface="맑은 고딕"/>
                <a:cs typeface="맑은 고딕"/>
              </a:rPr>
              <a:t>질병 예측은 날씨 전문가들이 담당한다.</a:t>
            </a:r>
            <a:endParaRPr lang="ko-KR" sz="1900"/>
          </a:p>
        </p:txBody>
      </p:sp>
      <p:sp>
        <p:nvSpPr>
          <p:cNvPr id="27" name="tf_5"/>
          <p:cNvSpPr txBox="1"/>
          <p:nvPr/>
        </p:nvSpPr>
        <p:spPr>
          <a:xfrm>
            <a:off x="9765792" y="5885942"/>
            <a:ext cx="1828800" cy="466217"/>
          </a:xfrm>
          <a:prstGeom prst="rect">
            <a:avLst/>
          </a:prstGeom>
          <a:noFill/>
        </p:spPr>
        <p:txBody>
          <a:bodyPr wrap="square" lIns="18288" tIns="18288" rIns="18288" bIns="18288" anchor="ctr" rtlCol="0">
            <a:noAutofit/>
          </a:bodyPr>
          <a:lstStyle/>
          <a:p>
            <a:pPr algn="ctr">
              <a:lnSpc>
                <a:spcPts val="2375"/>
              </a:lnSpc>
              <a:spcBef>
                <a:spcPts val="0"/>
              </a:spcBef>
              <a:spcAft>
                <a:spcPts val="0"/>
              </a:spcAft>
              <a:buNone/>
            </a:pPr>
            <a:r>
              <a:rPr lang="en-US" altLang="en-US" sz="1900" b="1" dirty="0">
                <a:solidFill>
                  <a:srgbClr val="9AA3B5"/>
                </a:solidFill>
                <a:latin typeface="Calibri"/>
                <a:ea typeface="맑은 고딕"/>
                <a:cs typeface="Calibri"/>
              </a:rPr>
              <a:t>T   /   F</a:t>
            </a:r>
            <a:endParaRPr lang="ko-KR" sz="1900"/>
          </a:p>
        </p:txBody>
      </p:sp>
      <p:sp>
        <p:nvSpPr>
          <p:cNvPr id="28" name="rv_ans_5"/>
          <p:cNvSpPr/>
          <p:nvPr/>
        </p:nvSpPr>
        <p:spPr>
          <a:xfrm>
            <a:off x="9765792" y="5931662"/>
            <a:ext cx="1828800" cy="374777"/>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640"/>
              </a:lnSpc>
              <a:spcBef>
                <a:spcPts val="0"/>
              </a:spcBef>
              <a:spcAft>
                <a:spcPts val="0"/>
              </a:spcAft>
              <a:buNone/>
            </a:pPr>
            <a:r>
              <a:rPr lang="en-US" altLang="en-US" sz="2200" b="1" dirty="0">
                <a:solidFill>
                  <a:srgbClr val="C00000"/>
                </a:solidFill>
                <a:latin typeface="Calibri"/>
                <a:ea typeface="맑은 고딕"/>
                <a:cs typeface="Calibri"/>
              </a:rPr>
              <a:t>F</a:t>
            </a:r>
            <a:endParaRPr lang="ko-KR" sz="22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25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250"/>
                                        <p:tgtEl>
                                          <p:spTgt spid="1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0"/>
                                        </p:tgtEl>
                                        <p:attrNameLst>
                                          <p:attrName>style.visibility</p:attrName>
                                        </p:attrNameLst>
                                      </p:cBhvr>
                                      <p:to>
                                        <p:strVal val="visible"/>
                                      </p:to>
                                    </p:set>
                                    <p:animEffect transition="in" filter="fade">
                                      <p:cBhvr>
                                        <p:cTn id="13" dur="250"/>
                                        <p:tgtEl>
                                          <p:spTgt spid="20"/>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4"/>
                                        </p:tgtEl>
                                        <p:attrNameLst>
                                          <p:attrName>style.visibility</p:attrName>
                                        </p:attrNameLst>
                                      </p:cBhvr>
                                      <p:to>
                                        <p:strVal val="visible"/>
                                      </p:to>
                                    </p:set>
                                    <p:animEffect transition="in" filter="fade">
                                      <p:cBhvr>
                                        <p:cTn id="16" dur="250"/>
                                        <p:tgtEl>
                                          <p:spTgt spid="24"/>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8"/>
                                        </p:tgtEl>
                                        <p:attrNameLst>
                                          <p:attrName>style.visibility</p:attrName>
                                        </p:attrNameLst>
                                      </p:cBhvr>
                                      <p:to>
                                        <p:strVal val="visible"/>
                                      </p:to>
                                    </p:set>
                                    <p:animEffect transition="in" filter="fade">
                                      <p:cBhvr>
                                        <p:cTn id="19" dur="25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6" grpId="0" animBg="1"/>
      <p:bldP spid="20" grpId="0" animBg="1"/>
      <p:bldP spid="24" grpId="0" animBg="1"/>
      <p:bldP spid="28" grpId="0" animBg="1"/>
    </p:bldLst>
  </p:timing>
</p:sld>
</file>

<file path=ppt/slides/slide2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8000"/>
            </a:avLst>
          </a:prstGeom>
          <a:solidFill>
            <a:srgbClr val="1E2A5A"/>
          </a:solidFill>
          <a:ln>
            <a:noFill/>
          </a:ln>
        </p:spPr>
        <p:txBody>
          <a:bodyPr wrap="square" lIns="45720" tIns="18288" rIns="45720" bIns="18288" anchor="ctr" rtlCol="0">
            <a:noAutofit/>
          </a:bodyPr>
          <a:lstStyle/>
          <a:p>
            <a:pPr algn="ctr">
              <a:lnSpc>
                <a:spcPts val="2000"/>
              </a:lnSpc>
              <a:spcBef>
                <a:spcPts val="0"/>
              </a:spcBef>
              <a:spcAft>
                <a:spcPts val="0"/>
              </a:spcAft>
              <a:buNone/>
            </a:pPr>
            <a:r>
              <a:rPr lang="en-US" altLang="en-US" sz="1700" b="1" dirty="0">
                <a:solidFill>
                  <a:srgbClr val="FFFFFF"/>
                </a:solidFill>
                <a:latin typeface="Calibri"/>
                <a:ea typeface="맑은 고딕"/>
                <a:cs typeface="Calibri"/>
              </a:rPr>
              <a:t>L7-3</a:t>
            </a:r>
            <a:endParaRPr lang="ko-KR" sz="1700"/>
          </a:p>
        </p:txBody>
      </p:sp>
      <p:sp>
        <p:nvSpPr>
          <p:cNvPr id="3" name="hdr_chip"/>
          <p:cNvSpPr/>
          <p:nvPr/>
        </p:nvSpPr>
        <p:spPr>
          <a:xfrm>
            <a:off x="1755648" y="274320"/>
            <a:ext cx="1371600" cy="493776"/>
          </a:xfrm>
          <a:prstGeom prst="roundRect">
            <a:avLst>
              <a:gd name="adj" fmla="val 8000"/>
            </a:avLst>
          </a:prstGeom>
          <a:solidFill>
            <a:srgbClr val="E6EAF4"/>
          </a:solidFill>
          <a:ln>
            <a:noFill/>
          </a:ln>
        </p:spPr>
        <p:txBody>
          <a:bodyPr wrap="square" lIns="27432" tIns="18288" rIns="27432" bIns="18288" anchor="ctr" rtlCol="0">
            <a:noAutofit/>
          </a:bodyPr>
          <a:lstStyle/>
          <a:p>
            <a:pPr algn="ctr">
              <a:lnSpc>
                <a:spcPts val="1700"/>
              </a:lnSpc>
              <a:spcBef>
                <a:spcPts val="0"/>
              </a:spcBef>
              <a:spcAft>
                <a:spcPts val="0"/>
              </a:spcAft>
              <a:buNone/>
            </a:pPr>
            <a:r>
              <a:rPr lang="ko-KR" altLang="en-US" sz="1400" b="1" dirty="0">
                <a:solidFill>
                  <a:srgbClr val="1E2A5A"/>
                </a:solidFill>
                <a:latin typeface="맑은 고딕"/>
                <a:ea typeface="맑은 고딕"/>
                <a:cs typeface="맑은 고딕"/>
              </a:rPr>
              <a:t>PART 4 · 5</a:t>
            </a:r>
            <a:endParaRPr lang="ko-KR" sz="1400"/>
          </a:p>
        </p:txBody>
      </p:sp>
      <p:sp>
        <p:nvSpPr>
          <p:cNvPr id="4" name="hdr_q"/>
          <p:cNvSpPr txBox="1"/>
          <p:nvPr/>
        </p:nvSpPr>
        <p:spPr>
          <a:xfrm>
            <a:off x="3246120" y="246888"/>
            <a:ext cx="8485632" cy="548640"/>
          </a:xfrm>
          <a:prstGeom prst="rect">
            <a:avLst/>
          </a:prstGeom>
          <a:noFill/>
        </p:spPr>
        <p:txBody>
          <a:bodyPr wrap="square" lIns="109728" tIns="54864" rIns="109728" bIns="54864" anchor="ctr" rtlCol="0">
            <a:noAutofit/>
          </a:bodyPr>
          <a:lstStyle/>
          <a:p>
            <a:pPr algn="l">
              <a:lnSpc>
                <a:spcPts val="2400"/>
              </a:lnSpc>
              <a:spcBef>
                <a:spcPts val="0"/>
              </a:spcBef>
              <a:spcAft>
                <a:spcPts val="0"/>
              </a:spcAft>
              <a:buNone/>
            </a:pPr>
            <a:r>
              <a:rPr lang="ko-KR" altLang="en-US" sz="2000" b="1" dirty="0">
                <a:solidFill>
                  <a:srgbClr val="1F2328"/>
                </a:solidFill>
                <a:latin typeface="맑은 고딕"/>
                <a:ea typeface="맑은 고딕"/>
                <a:cs typeface="맑은 고딕"/>
              </a:rPr>
              <a:t>본문과 일치하면 T, 일치하지 않으면 F를 고르시오.</a:t>
            </a:r>
            <a:endParaRPr lang="ko-KR" sz="2000"/>
          </a:p>
        </p:txBody>
      </p:sp>
      <p:sp>
        <p:nvSpPr>
          <p:cNvPr id="5" name="ftr_exam"/>
          <p:cNvSpPr txBox="1"/>
          <p:nvPr/>
        </p:nvSpPr>
        <p:spPr>
          <a:xfrm>
            <a:off x="457200" y="6519672"/>
            <a:ext cx="5669280" cy="256032"/>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7</a:t>
            </a:r>
            <a:endParaRPr lang="ko-KR" sz="1000"/>
          </a:p>
        </p:txBody>
      </p:sp>
      <p:sp>
        <p:nvSpPr>
          <p:cNvPr id="6" name="ftr_hint"/>
          <p:cNvSpPr txBox="1"/>
          <p:nvPr/>
        </p:nvSpPr>
        <p:spPr>
          <a:xfrm>
            <a:off x="5971032" y="6519672"/>
            <a:ext cx="5760720" cy="256032"/>
          </a:xfrm>
          <a:prstGeom prst="rect">
            <a:avLst/>
          </a:prstGeom>
          <a:noFill/>
        </p:spPr>
        <p:txBody>
          <a:bodyPr wrap="square" lIns="0" tIns="0" rIns="0" bIns="0" anchor="t" rtlCol="0">
            <a:noAutofit/>
          </a:bodyPr>
          <a:lstStyle/>
          <a:p>
            <a:pPr algn="r">
              <a:lnSpc>
                <a:spcPts val="1200"/>
              </a:lnSpc>
              <a:spcBef>
                <a:spcPts val="0"/>
              </a:spcBef>
              <a:spcAft>
                <a:spcPts val="0"/>
              </a:spcAft>
              <a:buNone/>
            </a:pPr>
            <a:r>
              <a:rPr lang="ko-KR" altLang="en-US" sz="1000" b="0" dirty="0">
                <a:solidFill>
                  <a:srgbClr val="7A808C"/>
                </a:solidFill>
                <a:latin typeface="맑은 고딕"/>
                <a:ea typeface="맑은 고딕"/>
                <a:cs typeface="맑은 고딕"/>
              </a:rPr>
              <a:t>클릭 ① 정답(T/F) 공개</a:t>
            </a:r>
            <a:endParaRPr lang="ko-KR" sz="1000"/>
          </a:p>
        </p:txBody>
      </p:sp>
      <p:sp>
        <p:nvSpPr>
          <p:cNvPr id="7" name="passage_card"/>
          <p:cNvSpPr/>
          <p:nvPr/>
        </p:nvSpPr>
        <p:spPr>
          <a:xfrm>
            <a:off x="457200" y="950976"/>
            <a:ext cx="11274552" cy="1854708"/>
          </a:xfrm>
          <a:prstGeom prst="roundRect">
            <a:avLst>
              <a:gd name="adj" fmla="val 4000"/>
            </a:avLst>
          </a:prstGeom>
          <a:solidFill>
            <a:srgbClr val="F3F5F9"/>
          </a:solidFill>
          <a:ln w="12700">
            <a:solidFill>
              <a:srgbClr val="D9DFEA"/>
            </a:solidFill>
          </a:ln>
        </p:spPr>
        <p:txBody>
          <a:bodyPr rtlCol="0" anchor="ctr"/>
          <a:lstStyle/>
          <a:p>
            <a:pPr algn="ctr"/>
          </a:p>
        </p:txBody>
      </p:sp>
      <p:sp>
        <p:nvSpPr>
          <p:cNvPr id="8" name="passage"/>
          <p:cNvSpPr txBox="1"/>
          <p:nvPr/>
        </p:nvSpPr>
        <p:spPr>
          <a:xfrm>
            <a:off x="457200" y="950976"/>
            <a:ext cx="11274552" cy="1854708"/>
          </a:xfrm>
          <a:prstGeom prst="rect">
            <a:avLst/>
          </a:prstGeom>
          <a:noFill/>
        </p:spPr>
        <p:txBody>
          <a:bodyPr wrap="square" lIns="182880" tIns="137160" rIns="182880" bIns="137160" anchor="t" rtlCol="0">
            <a:noAutofit/>
          </a:bodyPr>
          <a:lstStyle/>
          <a:p>
            <a:pPr algn="l">
              <a:lnSpc>
                <a:spcPts val="2074"/>
              </a:lnSpc>
              <a:spcBef>
                <a:spcPts val="0"/>
              </a:spcBef>
              <a:spcAft>
                <a:spcPts val="0"/>
              </a:spcAft>
              <a:buNone/>
            </a:pPr>
            <a:r>
              <a:rPr lang="ko-KR" altLang="en-US" sz="1700" b="1" dirty="0">
                <a:solidFill>
                  <a:srgbClr val="1E2A5A"/>
                </a:solidFill>
                <a:latin typeface="맑은 고딕"/>
                <a:ea typeface="맑은 고딕"/>
                <a:cs typeface="맑은 고딕"/>
              </a:rPr>
              <a:t>⑲ </a:t>
            </a:r>
            <a:r>
              <a:rPr lang="en-US" altLang="en-US" sz="1700" b="0" dirty="0">
                <a:solidFill>
                  <a:srgbClr val="1F2328"/>
                </a:solidFill>
                <a:latin typeface="Calibri"/>
                <a:ea typeface="맑은 고딕"/>
                <a:cs typeface="Calibri"/>
              </a:rPr>
              <a:t>Are you a sports fan? Well, big data is improving the performance of players, making sports more exciting. </a:t>
            </a:r>
            <a:r>
              <a:rPr lang="ko-KR" altLang="en-US" sz="1700" b="1" dirty="0">
                <a:solidFill>
                  <a:srgbClr val="1E2A5A"/>
                </a:solidFill>
                <a:latin typeface="맑은 고딕"/>
                <a:ea typeface="맑은 고딕"/>
                <a:cs typeface="맑은 고딕"/>
              </a:rPr>
              <a:t>⑳ </a:t>
            </a:r>
            <a:r>
              <a:rPr lang="en-US" altLang="en-US" sz="1700" b="0" dirty="0">
                <a:solidFill>
                  <a:srgbClr val="1F2328"/>
                </a:solidFill>
                <a:latin typeface="Calibri"/>
                <a:ea typeface="맑은 고딕"/>
                <a:cs typeface="Calibri"/>
              </a:rPr>
              <a:t>A famous example is Germany’s national soccer team. </a:t>
            </a:r>
            <a:r>
              <a:rPr lang="en-US" altLang="en-US" sz="1700" b="1" dirty="0">
                <a:solidFill>
                  <a:srgbClr val="1E2A5A"/>
                </a:solidFill>
                <a:latin typeface="Calibri"/>
                <a:ea typeface="맑은 고딕"/>
                <a:cs typeface="Calibri"/>
              </a:rPr>
              <a:t>21. </a:t>
            </a:r>
            <a:r>
              <a:rPr lang="en-US" altLang="en-US" sz="1700" b="0" dirty="0">
                <a:solidFill>
                  <a:srgbClr val="1F2328"/>
                </a:solidFill>
                <a:latin typeface="Calibri"/>
                <a:ea typeface="맑은 고딕"/>
                <a:cs typeface="Calibri"/>
              </a:rPr>
              <a:t>The team built a database by collecting and analyzing a huge amount of data on players. </a:t>
            </a:r>
            <a:r>
              <a:rPr lang="en-US" altLang="en-US" sz="1700" b="1" dirty="0">
                <a:solidFill>
                  <a:srgbClr val="1E2A5A"/>
                </a:solidFill>
                <a:latin typeface="Calibri"/>
                <a:ea typeface="맑은 고딕"/>
                <a:cs typeface="Calibri"/>
              </a:rPr>
              <a:t>22. </a:t>
            </a:r>
            <a:r>
              <a:rPr lang="en-US" altLang="en-US" sz="1700" b="0" dirty="0">
                <a:solidFill>
                  <a:srgbClr val="1F2328"/>
                </a:solidFill>
                <a:latin typeface="Calibri"/>
                <a:ea typeface="맑은 고딕"/>
                <a:cs typeface="Calibri"/>
              </a:rPr>
              <a:t>For example, the data included information about how much each player ran and how long he had the ball. </a:t>
            </a:r>
            <a:r>
              <a:rPr lang="en-US" altLang="en-US" sz="1700" b="1" dirty="0">
                <a:solidFill>
                  <a:srgbClr val="1E2A5A"/>
                </a:solidFill>
                <a:latin typeface="Calibri"/>
                <a:ea typeface="맑은 고딕"/>
                <a:cs typeface="Calibri"/>
              </a:rPr>
              <a:t>23. </a:t>
            </a:r>
            <a:r>
              <a:rPr lang="en-US" altLang="en-US" sz="1700" b="0" dirty="0">
                <a:solidFill>
                  <a:srgbClr val="1F2328"/>
                </a:solidFill>
                <a:latin typeface="Calibri"/>
                <a:ea typeface="맑은 고딕"/>
                <a:cs typeface="Calibri"/>
              </a:rPr>
              <a:t>With the help of this database, Germany’s national soccer team was able to improve its performance and win the 2014 World Cup. </a:t>
            </a:r>
            <a:endParaRPr lang="ko-KR" sz="1700"/>
          </a:p>
        </p:txBody>
      </p:sp>
      <p:sp>
        <p:nvSpPr>
          <p:cNvPr id="9" name="q_card_1"/>
          <p:cNvSpPr/>
          <p:nvPr/>
        </p:nvSpPr>
        <p:spPr>
          <a:xfrm>
            <a:off x="457200" y="2970276"/>
            <a:ext cx="11274552" cy="466217"/>
          </a:xfrm>
          <a:prstGeom prst="roundRect">
            <a:avLst>
              <a:gd name="adj" fmla="val 12000"/>
            </a:avLst>
          </a:prstGeom>
          <a:noFill/>
          <a:ln w="12700">
            <a:solidFill>
              <a:srgbClr val="D5DAE5"/>
            </a:solidFill>
          </a:ln>
        </p:spPr>
        <p:txBody>
          <a:bodyPr rtlCol="0" anchor="ctr"/>
          <a:lstStyle/>
          <a:p>
            <a:pPr algn="ctr"/>
          </a:p>
        </p:txBody>
      </p:sp>
      <p:sp>
        <p:nvSpPr>
          <p:cNvPr id="10" name="q_1"/>
          <p:cNvSpPr txBox="1"/>
          <p:nvPr/>
        </p:nvSpPr>
        <p:spPr>
          <a:xfrm>
            <a:off x="502920" y="2970276"/>
            <a:ext cx="9171432" cy="466217"/>
          </a:xfrm>
          <a:prstGeom prst="rect">
            <a:avLst/>
          </a:prstGeom>
          <a:noFill/>
        </p:spPr>
        <p:txBody>
          <a:bodyPr wrap="square" lIns="109728" tIns="45720" rIns="109728" bIns="45720" anchor="ctr" rtlCol="0">
            <a:noAutofit/>
          </a:bodyPr>
          <a:lstStyle/>
          <a:p>
            <a:pPr algn="l">
              <a:lnSpc>
                <a:spcPts val="2375"/>
              </a:lnSpc>
              <a:spcBef>
                <a:spcPts val="0"/>
              </a:spcBef>
              <a:spcAft>
                <a:spcPts val="0"/>
              </a:spcAft>
              <a:buNone/>
            </a:pPr>
            <a:r>
              <a:rPr lang="en-US" altLang="en-US" sz="1900" b="1" dirty="0">
                <a:solidFill>
                  <a:srgbClr val="1E2A5A"/>
                </a:solidFill>
                <a:latin typeface="Calibri"/>
                <a:ea typeface="맑은 고딕"/>
                <a:cs typeface="Calibri"/>
              </a:rPr>
              <a:t>21.  </a:t>
            </a:r>
            <a:r>
              <a:rPr lang="ko-KR" altLang="en-US" sz="1900" b="0" dirty="0">
                <a:solidFill>
                  <a:srgbClr val="1F2328"/>
                </a:solidFill>
                <a:latin typeface="맑은 고딕"/>
                <a:ea typeface="맑은 고딕"/>
                <a:cs typeface="맑은 고딕"/>
              </a:rPr>
              <a:t>빅데이터는 선수들의 경기력을 향상하고 있다.</a:t>
            </a:r>
            <a:endParaRPr lang="ko-KR" sz="1900"/>
          </a:p>
        </p:txBody>
      </p:sp>
      <p:sp>
        <p:nvSpPr>
          <p:cNvPr id="11" name="tf_1"/>
          <p:cNvSpPr txBox="1"/>
          <p:nvPr/>
        </p:nvSpPr>
        <p:spPr>
          <a:xfrm>
            <a:off x="9765792" y="2970276"/>
            <a:ext cx="1828800" cy="466217"/>
          </a:xfrm>
          <a:prstGeom prst="rect">
            <a:avLst/>
          </a:prstGeom>
          <a:noFill/>
        </p:spPr>
        <p:txBody>
          <a:bodyPr wrap="square" lIns="18288" tIns="18288" rIns="18288" bIns="18288" anchor="ctr" rtlCol="0">
            <a:noAutofit/>
          </a:bodyPr>
          <a:lstStyle/>
          <a:p>
            <a:pPr algn="ctr">
              <a:lnSpc>
                <a:spcPts val="2375"/>
              </a:lnSpc>
              <a:spcBef>
                <a:spcPts val="0"/>
              </a:spcBef>
              <a:spcAft>
                <a:spcPts val="0"/>
              </a:spcAft>
              <a:buNone/>
            </a:pPr>
            <a:r>
              <a:rPr lang="en-US" altLang="en-US" sz="1900" b="1" dirty="0">
                <a:solidFill>
                  <a:srgbClr val="9AA3B5"/>
                </a:solidFill>
                <a:latin typeface="Calibri"/>
                <a:ea typeface="맑은 고딕"/>
                <a:cs typeface="Calibri"/>
              </a:rPr>
              <a:t>T   /   F</a:t>
            </a:r>
            <a:endParaRPr lang="ko-KR" sz="1900"/>
          </a:p>
        </p:txBody>
      </p:sp>
      <p:sp>
        <p:nvSpPr>
          <p:cNvPr id="12" name="rv_ans_1"/>
          <p:cNvSpPr/>
          <p:nvPr/>
        </p:nvSpPr>
        <p:spPr>
          <a:xfrm>
            <a:off x="9765792" y="3015996"/>
            <a:ext cx="1828800" cy="374777"/>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640"/>
              </a:lnSpc>
              <a:spcBef>
                <a:spcPts val="0"/>
              </a:spcBef>
              <a:spcAft>
                <a:spcPts val="0"/>
              </a:spcAft>
              <a:buNone/>
            </a:pPr>
            <a:r>
              <a:rPr lang="en-US" altLang="en-US" sz="2200" b="1" dirty="0">
                <a:solidFill>
                  <a:srgbClr val="C00000"/>
                </a:solidFill>
                <a:latin typeface="Calibri"/>
                <a:ea typeface="맑은 고딕"/>
                <a:cs typeface="Calibri"/>
              </a:rPr>
              <a:t>T</a:t>
            </a:r>
            <a:endParaRPr lang="ko-KR" sz="2200"/>
          </a:p>
        </p:txBody>
      </p:sp>
      <p:sp>
        <p:nvSpPr>
          <p:cNvPr id="13" name="q_card_2"/>
          <p:cNvSpPr/>
          <p:nvPr/>
        </p:nvSpPr>
        <p:spPr>
          <a:xfrm>
            <a:off x="457200" y="3509645"/>
            <a:ext cx="11274552" cy="466217"/>
          </a:xfrm>
          <a:prstGeom prst="roundRect">
            <a:avLst>
              <a:gd name="adj" fmla="val 12000"/>
            </a:avLst>
          </a:prstGeom>
          <a:noFill/>
          <a:ln w="12700">
            <a:solidFill>
              <a:srgbClr val="D5DAE5"/>
            </a:solidFill>
          </a:ln>
        </p:spPr>
        <p:txBody>
          <a:bodyPr rtlCol="0" anchor="ctr"/>
          <a:lstStyle/>
          <a:p>
            <a:pPr algn="ctr"/>
          </a:p>
        </p:txBody>
      </p:sp>
      <p:sp>
        <p:nvSpPr>
          <p:cNvPr id="14" name="q_2"/>
          <p:cNvSpPr txBox="1"/>
          <p:nvPr/>
        </p:nvSpPr>
        <p:spPr>
          <a:xfrm>
            <a:off x="502920" y="3509645"/>
            <a:ext cx="9171432" cy="466217"/>
          </a:xfrm>
          <a:prstGeom prst="rect">
            <a:avLst/>
          </a:prstGeom>
          <a:noFill/>
        </p:spPr>
        <p:txBody>
          <a:bodyPr wrap="square" lIns="109728" tIns="45720" rIns="109728" bIns="45720" anchor="ctr" rtlCol="0">
            <a:noAutofit/>
          </a:bodyPr>
          <a:lstStyle/>
          <a:p>
            <a:pPr algn="l">
              <a:lnSpc>
                <a:spcPts val="2375"/>
              </a:lnSpc>
              <a:spcBef>
                <a:spcPts val="0"/>
              </a:spcBef>
              <a:spcAft>
                <a:spcPts val="0"/>
              </a:spcAft>
              <a:buNone/>
            </a:pPr>
            <a:r>
              <a:rPr lang="en-US" altLang="en-US" sz="1900" b="1" dirty="0">
                <a:solidFill>
                  <a:srgbClr val="1E2A5A"/>
                </a:solidFill>
                <a:latin typeface="Calibri"/>
                <a:ea typeface="맑은 고딕"/>
                <a:cs typeface="Calibri"/>
              </a:rPr>
              <a:t>22.  </a:t>
            </a:r>
            <a:r>
              <a:rPr lang="ko-KR" altLang="en-US" sz="1900" b="0" dirty="0">
                <a:solidFill>
                  <a:srgbClr val="1F2328"/>
                </a:solidFill>
                <a:latin typeface="맑은 고딕"/>
                <a:ea typeface="맑은 고딕"/>
                <a:cs typeface="맑은 고딕"/>
              </a:rPr>
              <a:t>빅데이터는 스포츠를 덜 흥미롭게 만들고 있다.</a:t>
            </a:r>
            <a:endParaRPr lang="ko-KR" sz="1900"/>
          </a:p>
        </p:txBody>
      </p:sp>
      <p:sp>
        <p:nvSpPr>
          <p:cNvPr id="15" name="tf_2"/>
          <p:cNvSpPr txBox="1"/>
          <p:nvPr/>
        </p:nvSpPr>
        <p:spPr>
          <a:xfrm>
            <a:off x="9765792" y="3509645"/>
            <a:ext cx="1828800" cy="466217"/>
          </a:xfrm>
          <a:prstGeom prst="rect">
            <a:avLst/>
          </a:prstGeom>
          <a:noFill/>
        </p:spPr>
        <p:txBody>
          <a:bodyPr wrap="square" lIns="18288" tIns="18288" rIns="18288" bIns="18288" anchor="ctr" rtlCol="0">
            <a:noAutofit/>
          </a:bodyPr>
          <a:lstStyle/>
          <a:p>
            <a:pPr algn="ctr">
              <a:lnSpc>
                <a:spcPts val="2375"/>
              </a:lnSpc>
              <a:spcBef>
                <a:spcPts val="0"/>
              </a:spcBef>
              <a:spcAft>
                <a:spcPts val="0"/>
              </a:spcAft>
              <a:buNone/>
            </a:pPr>
            <a:r>
              <a:rPr lang="en-US" altLang="en-US" sz="1900" b="1" dirty="0">
                <a:solidFill>
                  <a:srgbClr val="9AA3B5"/>
                </a:solidFill>
                <a:latin typeface="Calibri"/>
                <a:ea typeface="맑은 고딕"/>
                <a:cs typeface="Calibri"/>
              </a:rPr>
              <a:t>T   /   F</a:t>
            </a:r>
            <a:endParaRPr lang="ko-KR" sz="1900"/>
          </a:p>
        </p:txBody>
      </p:sp>
      <p:sp>
        <p:nvSpPr>
          <p:cNvPr id="16" name="rv_ans_2"/>
          <p:cNvSpPr/>
          <p:nvPr/>
        </p:nvSpPr>
        <p:spPr>
          <a:xfrm>
            <a:off x="9765792" y="3555365"/>
            <a:ext cx="1828800" cy="374777"/>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640"/>
              </a:lnSpc>
              <a:spcBef>
                <a:spcPts val="0"/>
              </a:spcBef>
              <a:spcAft>
                <a:spcPts val="0"/>
              </a:spcAft>
              <a:buNone/>
            </a:pPr>
            <a:r>
              <a:rPr lang="en-US" altLang="en-US" sz="2200" b="1" dirty="0">
                <a:solidFill>
                  <a:srgbClr val="C00000"/>
                </a:solidFill>
                <a:latin typeface="Calibri"/>
                <a:ea typeface="맑은 고딕"/>
                <a:cs typeface="Calibri"/>
              </a:rPr>
              <a:t>F</a:t>
            </a:r>
            <a:endParaRPr lang="ko-KR" sz="2200"/>
          </a:p>
        </p:txBody>
      </p:sp>
      <p:sp>
        <p:nvSpPr>
          <p:cNvPr id="17" name="q_card_3"/>
          <p:cNvSpPr/>
          <p:nvPr/>
        </p:nvSpPr>
        <p:spPr>
          <a:xfrm>
            <a:off x="457200" y="4049014"/>
            <a:ext cx="11274552" cy="466217"/>
          </a:xfrm>
          <a:prstGeom prst="roundRect">
            <a:avLst>
              <a:gd name="adj" fmla="val 12000"/>
            </a:avLst>
          </a:prstGeom>
          <a:noFill/>
          <a:ln w="12700">
            <a:solidFill>
              <a:srgbClr val="D5DAE5"/>
            </a:solidFill>
          </a:ln>
        </p:spPr>
        <p:txBody>
          <a:bodyPr rtlCol="0" anchor="ctr"/>
          <a:lstStyle/>
          <a:p>
            <a:pPr algn="ctr"/>
          </a:p>
        </p:txBody>
      </p:sp>
      <p:sp>
        <p:nvSpPr>
          <p:cNvPr id="18" name="q_3"/>
          <p:cNvSpPr txBox="1"/>
          <p:nvPr/>
        </p:nvSpPr>
        <p:spPr>
          <a:xfrm>
            <a:off x="502920" y="4049014"/>
            <a:ext cx="9171432" cy="466217"/>
          </a:xfrm>
          <a:prstGeom prst="rect">
            <a:avLst/>
          </a:prstGeom>
          <a:noFill/>
        </p:spPr>
        <p:txBody>
          <a:bodyPr wrap="square" lIns="109728" tIns="45720" rIns="109728" bIns="45720" anchor="ctr" rtlCol="0">
            <a:noAutofit/>
          </a:bodyPr>
          <a:lstStyle/>
          <a:p>
            <a:pPr algn="l">
              <a:lnSpc>
                <a:spcPts val="2375"/>
              </a:lnSpc>
              <a:spcBef>
                <a:spcPts val="0"/>
              </a:spcBef>
              <a:spcAft>
                <a:spcPts val="0"/>
              </a:spcAft>
              <a:buNone/>
            </a:pPr>
            <a:r>
              <a:rPr lang="en-US" altLang="en-US" sz="1900" b="1" dirty="0">
                <a:solidFill>
                  <a:srgbClr val="1E2A5A"/>
                </a:solidFill>
                <a:latin typeface="Calibri"/>
                <a:ea typeface="맑은 고딕"/>
                <a:cs typeface="Calibri"/>
              </a:rPr>
              <a:t>23.  </a:t>
            </a:r>
            <a:r>
              <a:rPr lang="ko-KR" altLang="en-US" sz="1900" b="0" dirty="0">
                <a:solidFill>
                  <a:srgbClr val="1F2328"/>
                </a:solidFill>
                <a:latin typeface="맑은 고딕"/>
                <a:ea typeface="맑은 고딕"/>
                <a:cs typeface="맑은 고딕"/>
              </a:rPr>
              <a:t>유명한 사례로 독일 국가 대표 축구팀이 소개된다.</a:t>
            </a:r>
            <a:endParaRPr lang="ko-KR" sz="1900"/>
          </a:p>
        </p:txBody>
      </p:sp>
      <p:sp>
        <p:nvSpPr>
          <p:cNvPr id="19" name="tf_3"/>
          <p:cNvSpPr txBox="1"/>
          <p:nvPr/>
        </p:nvSpPr>
        <p:spPr>
          <a:xfrm>
            <a:off x="9765792" y="4049014"/>
            <a:ext cx="1828800" cy="466217"/>
          </a:xfrm>
          <a:prstGeom prst="rect">
            <a:avLst/>
          </a:prstGeom>
          <a:noFill/>
        </p:spPr>
        <p:txBody>
          <a:bodyPr wrap="square" lIns="18288" tIns="18288" rIns="18288" bIns="18288" anchor="ctr" rtlCol="0">
            <a:noAutofit/>
          </a:bodyPr>
          <a:lstStyle/>
          <a:p>
            <a:pPr algn="ctr">
              <a:lnSpc>
                <a:spcPts val="2375"/>
              </a:lnSpc>
              <a:spcBef>
                <a:spcPts val="0"/>
              </a:spcBef>
              <a:spcAft>
                <a:spcPts val="0"/>
              </a:spcAft>
              <a:buNone/>
            </a:pPr>
            <a:r>
              <a:rPr lang="en-US" altLang="en-US" sz="1900" b="1" dirty="0">
                <a:solidFill>
                  <a:srgbClr val="9AA3B5"/>
                </a:solidFill>
                <a:latin typeface="Calibri"/>
                <a:ea typeface="맑은 고딕"/>
                <a:cs typeface="Calibri"/>
              </a:rPr>
              <a:t>T   /   F</a:t>
            </a:r>
            <a:endParaRPr lang="ko-KR" sz="1900"/>
          </a:p>
        </p:txBody>
      </p:sp>
      <p:sp>
        <p:nvSpPr>
          <p:cNvPr id="20" name="rv_ans_3"/>
          <p:cNvSpPr/>
          <p:nvPr/>
        </p:nvSpPr>
        <p:spPr>
          <a:xfrm>
            <a:off x="9765792" y="4094734"/>
            <a:ext cx="1828800" cy="374777"/>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640"/>
              </a:lnSpc>
              <a:spcBef>
                <a:spcPts val="0"/>
              </a:spcBef>
              <a:spcAft>
                <a:spcPts val="0"/>
              </a:spcAft>
              <a:buNone/>
            </a:pPr>
            <a:r>
              <a:rPr lang="en-US" altLang="en-US" sz="2200" b="1" dirty="0">
                <a:solidFill>
                  <a:srgbClr val="C00000"/>
                </a:solidFill>
                <a:latin typeface="Calibri"/>
                <a:ea typeface="맑은 고딕"/>
                <a:cs typeface="Calibri"/>
              </a:rPr>
              <a:t>T</a:t>
            </a:r>
            <a:endParaRPr lang="ko-KR" sz="2200"/>
          </a:p>
        </p:txBody>
      </p:sp>
      <p:sp>
        <p:nvSpPr>
          <p:cNvPr id="21" name="q_card_4"/>
          <p:cNvSpPr/>
          <p:nvPr/>
        </p:nvSpPr>
        <p:spPr>
          <a:xfrm>
            <a:off x="457200" y="4588383"/>
            <a:ext cx="11274552" cy="466217"/>
          </a:xfrm>
          <a:prstGeom prst="roundRect">
            <a:avLst>
              <a:gd name="adj" fmla="val 12000"/>
            </a:avLst>
          </a:prstGeom>
          <a:noFill/>
          <a:ln w="12700">
            <a:solidFill>
              <a:srgbClr val="D5DAE5"/>
            </a:solidFill>
          </a:ln>
        </p:spPr>
        <p:txBody>
          <a:bodyPr rtlCol="0" anchor="ctr"/>
          <a:lstStyle/>
          <a:p>
            <a:pPr algn="ctr"/>
          </a:p>
        </p:txBody>
      </p:sp>
      <p:sp>
        <p:nvSpPr>
          <p:cNvPr id="22" name="q_4"/>
          <p:cNvSpPr txBox="1"/>
          <p:nvPr/>
        </p:nvSpPr>
        <p:spPr>
          <a:xfrm>
            <a:off x="502920" y="4588383"/>
            <a:ext cx="9171432" cy="466217"/>
          </a:xfrm>
          <a:prstGeom prst="rect">
            <a:avLst/>
          </a:prstGeom>
          <a:noFill/>
        </p:spPr>
        <p:txBody>
          <a:bodyPr wrap="square" lIns="109728" tIns="45720" rIns="109728" bIns="45720" anchor="ctr" rtlCol="0">
            <a:noAutofit/>
          </a:bodyPr>
          <a:lstStyle/>
          <a:p>
            <a:pPr algn="l">
              <a:lnSpc>
                <a:spcPts val="2375"/>
              </a:lnSpc>
              <a:spcBef>
                <a:spcPts val="0"/>
              </a:spcBef>
              <a:spcAft>
                <a:spcPts val="0"/>
              </a:spcAft>
              <a:buNone/>
            </a:pPr>
            <a:r>
              <a:rPr lang="en-US" altLang="en-US" sz="1900" b="1" dirty="0">
                <a:solidFill>
                  <a:srgbClr val="1E2A5A"/>
                </a:solidFill>
                <a:latin typeface="Calibri"/>
                <a:ea typeface="맑은 고딕"/>
                <a:cs typeface="Calibri"/>
              </a:rPr>
              <a:t>24.  </a:t>
            </a:r>
            <a:r>
              <a:rPr lang="ko-KR" altLang="en-US" sz="1900" b="0" dirty="0">
                <a:solidFill>
                  <a:srgbClr val="1F2328"/>
                </a:solidFill>
                <a:latin typeface="맑은 고딕"/>
                <a:ea typeface="맑은 고딕"/>
                <a:cs typeface="맑은 고딕"/>
              </a:rPr>
              <a:t>독일 팀은 소수 선수의 적은 데이터만 모았다.</a:t>
            </a:r>
            <a:endParaRPr lang="ko-KR" sz="1900"/>
          </a:p>
        </p:txBody>
      </p:sp>
      <p:sp>
        <p:nvSpPr>
          <p:cNvPr id="23" name="tf_4"/>
          <p:cNvSpPr txBox="1"/>
          <p:nvPr/>
        </p:nvSpPr>
        <p:spPr>
          <a:xfrm>
            <a:off x="9765792" y="4588383"/>
            <a:ext cx="1828800" cy="466217"/>
          </a:xfrm>
          <a:prstGeom prst="rect">
            <a:avLst/>
          </a:prstGeom>
          <a:noFill/>
        </p:spPr>
        <p:txBody>
          <a:bodyPr wrap="square" lIns="18288" tIns="18288" rIns="18288" bIns="18288" anchor="ctr" rtlCol="0">
            <a:noAutofit/>
          </a:bodyPr>
          <a:lstStyle/>
          <a:p>
            <a:pPr algn="ctr">
              <a:lnSpc>
                <a:spcPts val="2375"/>
              </a:lnSpc>
              <a:spcBef>
                <a:spcPts val="0"/>
              </a:spcBef>
              <a:spcAft>
                <a:spcPts val="0"/>
              </a:spcAft>
              <a:buNone/>
            </a:pPr>
            <a:r>
              <a:rPr lang="en-US" altLang="en-US" sz="1900" b="1" dirty="0">
                <a:solidFill>
                  <a:srgbClr val="9AA3B5"/>
                </a:solidFill>
                <a:latin typeface="Calibri"/>
                <a:ea typeface="맑은 고딕"/>
                <a:cs typeface="Calibri"/>
              </a:rPr>
              <a:t>T   /   F</a:t>
            </a:r>
            <a:endParaRPr lang="ko-KR" sz="1900"/>
          </a:p>
        </p:txBody>
      </p:sp>
      <p:sp>
        <p:nvSpPr>
          <p:cNvPr id="24" name="rv_ans_4"/>
          <p:cNvSpPr/>
          <p:nvPr/>
        </p:nvSpPr>
        <p:spPr>
          <a:xfrm>
            <a:off x="9765792" y="4634103"/>
            <a:ext cx="1828800" cy="374777"/>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640"/>
              </a:lnSpc>
              <a:spcBef>
                <a:spcPts val="0"/>
              </a:spcBef>
              <a:spcAft>
                <a:spcPts val="0"/>
              </a:spcAft>
              <a:buNone/>
            </a:pPr>
            <a:r>
              <a:rPr lang="en-US" altLang="en-US" sz="2200" b="1" dirty="0">
                <a:solidFill>
                  <a:srgbClr val="C00000"/>
                </a:solidFill>
                <a:latin typeface="Calibri"/>
                <a:ea typeface="맑은 고딕"/>
                <a:cs typeface="Calibri"/>
              </a:rPr>
              <a:t>F</a:t>
            </a:r>
            <a:endParaRPr lang="ko-KR" sz="2200"/>
          </a:p>
        </p:txBody>
      </p:sp>
      <p:sp>
        <p:nvSpPr>
          <p:cNvPr id="25" name="q_card_5"/>
          <p:cNvSpPr/>
          <p:nvPr/>
        </p:nvSpPr>
        <p:spPr>
          <a:xfrm>
            <a:off x="457200" y="5127752"/>
            <a:ext cx="11274552" cy="466217"/>
          </a:xfrm>
          <a:prstGeom prst="roundRect">
            <a:avLst>
              <a:gd name="adj" fmla="val 12000"/>
            </a:avLst>
          </a:prstGeom>
          <a:noFill/>
          <a:ln w="12700">
            <a:solidFill>
              <a:srgbClr val="D5DAE5"/>
            </a:solidFill>
          </a:ln>
        </p:spPr>
        <p:txBody>
          <a:bodyPr rtlCol="0" anchor="ctr"/>
          <a:lstStyle/>
          <a:p>
            <a:pPr algn="ctr"/>
          </a:p>
        </p:txBody>
      </p:sp>
      <p:sp>
        <p:nvSpPr>
          <p:cNvPr id="26" name="q_5"/>
          <p:cNvSpPr txBox="1"/>
          <p:nvPr/>
        </p:nvSpPr>
        <p:spPr>
          <a:xfrm>
            <a:off x="502920" y="5127752"/>
            <a:ext cx="9171432" cy="466217"/>
          </a:xfrm>
          <a:prstGeom prst="rect">
            <a:avLst/>
          </a:prstGeom>
          <a:noFill/>
        </p:spPr>
        <p:txBody>
          <a:bodyPr wrap="square" lIns="109728" tIns="45720" rIns="109728" bIns="45720" anchor="ctr" rtlCol="0">
            <a:noAutofit/>
          </a:bodyPr>
          <a:lstStyle/>
          <a:p>
            <a:pPr algn="l">
              <a:lnSpc>
                <a:spcPts val="2375"/>
              </a:lnSpc>
              <a:spcBef>
                <a:spcPts val="0"/>
              </a:spcBef>
              <a:spcAft>
                <a:spcPts val="0"/>
              </a:spcAft>
              <a:buNone/>
            </a:pPr>
            <a:r>
              <a:rPr lang="en-US" altLang="en-US" sz="1900" b="1" dirty="0">
                <a:solidFill>
                  <a:srgbClr val="1E2A5A"/>
                </a:solidFill>
                <a:latin typeface="Calibri"/>
                <a:ea typeface="맑은 고딕"/>
                <a:cs typeface="Calibri"/>
              </a:rPr>
              <a:t>25.  </a:t>
            </a:r>
            <a:r>
              <a:rPr lang="ko-KR" altLang="en-US" sz="1900" b="0" dirty="0">
                <a:solidFill>
                  <a:srgbClr val="1F2328"/>
                </a:solidFill>
                <a:latin typeface="맑은 고딕"/>
                <a:ea typeface="맑은 고딕"/>
                <a:cs typeface="맑은 고딕"/>
              </a:rPr>
              <a:t>독일 팀은 데이터를 모으고 분석해 데이터베이스를 구축했다.</a:t>
            </a:r>
            <a:endParaRPr lang="ko-KR" sz="1900"/>
          </a:p>
        </p:txBody>
      </p:sp>
      <p:sp>
        <p:nvSpPr>
          <p:cNvPr id="27" name="tf_5"/>
          <p:cNvSpPr txBox="1"/>
          <p:nvPr/>
        </p:nvSpPr>
        <p:spPr>
          <a:xfrm>
            <a:off x="9765792" y="5127752"/>
            <a:ext cx="1828800" cy="466217"/>
          </a:xfrm>
          <a:prstGeom prst="rect">
            <a:avLst/>
          </a:prstGeom>
          <a:noFill/>
        </p:spPr>
        <p:txBody>
          <a:bodyPr wrap="square" lIns="18288" tIns="18288" rIns="18288" bIns="18288" anchor="ctr" rtlCol="0">
            <a:noAutofit/>
          </a:bodyPr>
          <a:lstStyle/>
          <a:p>
            <a:pPr algn="ctr">
              <a:lnSpc>
                <a:spcPts val="2375"/>
              </a:lnSpc>
              <a:spcBef>
                <a:spcPts val="0"/>
              </a:spcBef>
              <a:spcAft>
                <a:spcPts val="0"/>
              </a:spcAft>
              <a:buNone/>
            </a:pPr>
            <a:r>
              <a:rPr lang="en-US" altLang="en-US" sz="1900" b="1" dirty="0">
                <a:solidFill>
                  <a:srgbClr val="9AA3B5"/>
                </a:solidFill>
                <a:latin typeface="Calibri"/>
                <a:ea typeface="맑은 고딕"/>
                <a:cs typeface="Calibri"/>
              </a:rPr>
              <a:t>T   /   F</a:t>
            </a:r>
            <a:endParaRPr lang="ko-KR" sz="1900"/>
          </a:p>
        </p:txBody>
      </p:sp>
      <p:sp>
        <p:nvSpPr>
          <p:cNvPr id="28" name="rv_ans_5"/>
          <p:cNvSpPr/>
          <p:nvPr/>
        </p:nvSpPr>
        <p:spPr>
          <a:xfrm>
            <a:off x="9765792" y="5173472"/>
            <a:ext cx="1828800" cy="374777"/>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640"/>
              </a:lnSpc>
              <a:spcBef>
                <a:spcPts val="0"/>
              </a:spcBef>
              <a:spcAft>
                <a:spcPts val="0"/>
              </a:spcAft>
              <a:buNone/>
            </a:pPr>
            <a:r>
              <a:rPr lang="en-US" altLang="en-US" sz="2200" b="1" dirty="0">
                <a:solidFill>
                  <a:srgbClr val="C00000"/>
                </a:solidFill>
                <a:latin typeface="Calibri"/>
                <a:ea typeface="맑은 고딕"/>
                <a:cs typeface="Calibri"/>
              </a:rPr>
              <a:t>T</a:t>
            </a:r>
            <a:endParaRPr lang="ko-KR" sz="22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25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250"/>
                                        <p:tgtEl>
                                          <p:spTgt spid="1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0"/>
                                        </p:tgtEl>
                                        <p:attrNameLst>
                                          <p:attrName>style.visibility</p:attrName>
                                        </p:attrNameLst>
                                      </p:cBhvr>
                                      <p:to>
                                        <p:strVal val="visible"/>
                                      </p:to>
                                    </p:set>
                                    <p:animEffect transition="in" filter="fade">
                                      <p:cBhvr>
                                        <p:cTn id="13" dur="250"/>
                                        <p:tgtEl>
                                          <p:spTgt spid="20"/>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4"/>
                                        </p:tgtEl>
                                        <p:attrNameLst>
                                          <p:attrName>style.visibility</p:attrName>
                                        </p:attrNameLst>
                                      </p:cBhvr>
                                      <p:to>
                                        <p:strVal val="visible"/>
                                      </p:to>
                                    </p:set>
                                    <p:animEffect transition="in" filter="fade">
                                      <p:cBhvr>
                                        <p:cTn id="16" dur="250"/>
                                        <p:tgtEl>
                                          <p:spTgt spid="24"/>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8"/>
                                        </p:tgtEl>
                                        <p:attrNameLst>
                                          <p:attrName>style.visibility</p:attrName>
                                        </p:attrNameLst>
                                      </p:cBhvr>
                                      <p:to>
                                        <p:strVal val="visible"/>
                                      </p:to>
                                    </p:set>
                                    <p:animEffect transition="in" filter="fade">
                                      <p:cBhvr>
                                        <p:cTn id="19" dur="25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6" grpId="0" animBg="1"/>
      <p:bldP spid="20" grpId="0" animBg="1"/>
      <p:bldP spid="24" grpId="0" animBg="1"/>
      <p:bldP spid="28" grpId="0" animBg="1"/>
    </p:bldLst>
  </p:timing>
</p:sld>
</file>

<file path=ppt/slides/slide2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8000"/>
            </a:avLst>
          </a:prstGeom>
          <a:solidFill>
            <a:srgbClr val="1E2A5A"/>
          </a:solidFill>
          <a:ln>
            <a:noFill/>
          </a:ln>
        </p:spPr>
        <p:txBody>
          <a:bodyPr wrap="square" lIns="45720" tIns="18288" rIns="45720" bIns="18288" anchor="ctr" rtlCol="0">
            <a:noAutofit/>
          </a:bodyPr>
          <a:lstStyle/>
          <a:p>
            <a:pPr algn="ctr">
              <a:lnSpc>
                <a:spcPts val="2000"/>
              </a:lnSpc>
              <a:spcBef>
                <a:spcPts val="0"/>
              </a:spcBef>
              <a:spcAft>
                <a:spcPts val="0"/>
              </a:spcAft>
              <a:buNone/>
            </a:pPr>
            <a:r>
              <a:rPr lang="en-US" altLang="en-US" sz="1700" b="1" dirty="0">
                <a:solidFill>
                  <a:srgbClr val="FFFFFF"/>
                </a:solidFill>
                <a:latin typeface="Calibri"/>
                <a:ea typeface="맑은 고딕"/>
                <a:cs typeface="Calibri"/>
              </a:rPr>
              <a:t>L7-3</a:t>
            </a:r>
            <a:endParaRPr lang="ko-KR" sz="1700"/>
          </a:p>
        </p:txBody>
      </p:sp>
      <p:sp>
        <p:nvSpPr>
          <p:cNvPr id="3" name="hdr_chip"/>
          <p:cNvSpPr/>
          <p:nvPr/>
        </p:nvSpPr>
        <p:spPr>
          <a:xfrm>
            <a:off x="1755648" y="274320"/>
            <a:ext cx="1371600" cy="493776"/>
          </a:xfrm>
          <a:prstGeom prst="roundRect">
            <a:avLst>
              <a:gd name="adj" fmla="val 8000"/>
            </a:avLst>
          </a:prstGeom>
          <a:solidFill>
            <a:srgbClr val="E6EAF4"/>
          </a:solidFill>
          <a:ln>
            <a:noFill/>
          </a:ln>
        </p:spPr>
        <p:txBody>
          <a:bodyPr wrap="square" lIns="27432" tIns="18288" rIns="27432" bIns="18288" anchor="ctr" rtlCol="0">
            <a:noAutofit/>
          </a:bodyPr>
          <a:lstStyle/>
          <a:p>
            <a:pPr algn="ctr">
              <a:lnSpc>
                <a:spcPts val="1700"/>
              </a:lnSpc>
              <a:spcBef>
                <a:spcPts val="0"/>
              </a:spcBef>
              <a:spcAft>
                <a:spcPts val="0"/>
              </a:spcAft>
              <a:buNone/>
            </a:pPr>
            <a:r>
              <a:rPr lang="ko-KR" altLang="en-US" sz="1400" b="1" dirty="0">
                <a:solidFill>
                  <a:srgbClr val="1E2A5A"/>
                </a:solidFill>
                <a:latin typeface="맑은 고딕"/>
                <a:ea typeface="맑은 고딕"/>
                <a:cs typeface="맑은 고딕"/>
              </a:rPr>
              <a:t>PART 4 · 6</a:t>
            </a:r>
            <a:endParaRPr lang="ko-KR" sz="1400"/>
          </a:p>
        </p:txBody>
      </p:sp>
      <p:sp>
        <p:nvSpPr>
          <p:cNvPr id="4" name="hdr_q"/>
          <p:cNvSpPr txBox="1"/>
          <p:nvPr/>
        </p:nvSpPr>
        <p:spPr>
          <a:xfrm>
            <a:off x="3246120" y="246888"/>
            <a:ext cx="8485632" cy="548640"/>
          </a:xfrm>
          <a:prstGeom prst="rect">
            <a:avLst/>
          </a:prstGeom>
          <a:noFill/>
        </p:spPr>
        <p:txBody>
          <a:bodyPr wrap="square" lIns="109728" tIns="54864" rIns="109728" bIns="54864" anchor="ctr" rtlCol="0">
            <a:noAutofit/>
          </a:bodyPr>
          <a:lstStyle/>
          <a:p>
            <a:pPr algn="l">
              <a:lnSpc>
                <a:spcPts val="2400"/>
              </a:lnSpc>
              <a:spcBef>
                <a:spcPts val="0"/>
              </a:spcBef>
              <a:spcAft>
                <a:spcPts val="0"/>
              </a:spcAft>
              <a:buNone/>
            </a:pPr>
            <a:r>
              <a:rPr lang="ko-KR" altLang="en-US" sz="2000" b="1" dirty="0">
                <a:solidFill>
                  <a:srgbClr val="1F2328"/>
                </a:solidFill>
                <a:latin typeface="맑은 고딕"/>
                <a:ea typeface="맑은 고딕"/>
                <a:cs typeface="맑은 고딕"/>
              </a:rPr>
              <a:t>본문과 일치하면 T, 일치하지 않으면 F를 고르시오.</a:t>
            </a:r>
            <a:endParaRPr lang="ko-KR" sz="2000"/>
          </a:p>
        </p:txBody>
      </p:sp>
      <p:sp>
        <p:nvSpPr>
          <p:cNvPr id="5" name="ftr_exam"/>
          <p:cNvSpPr txBox="1"/>
          <p:nvPr/>
        </p:nvSpPr>
        <p:spPr>
          <a:xfrm>
            <a:off x="457200" y="6519672"/>
            <a:ext cx="5669280" cy="256032"/>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7</a:t>
            </a:r>
            <a:endParaRPr lang="ko-KR" sz="1000"/>
          </a:p>
        </p:txBody>
      </p:sp>
      <p:sp>
        <p:nvSpPr>
          <p:cNvPr id="6" name="ftr_hint"/>
          <p:cNvSpPr txBox="1"/>
          <p:nvPr/>
        </p:nvSpPr>
        <p:spPr>
          <a:xfrm>
            <a:off x="5971032" y="6519672"/>
            <a:ext cx="5760720" cy="256032"/>
          </a:xfrm>
          <a:prstGeom prst="rect">
            <a:avLst/>
          </a:prstGeom>
          <a:noFill/>
        </p:spPr>
        <p:txBody>
          <a:bodyPr wrap="square" lIns="0" tIns="0" rIns="0" bIns="0" anchor="t" rtlCol="0">
            <a:noAutofit/>
          </a:bodyPr>
          <a:lstStyle/>
          <a:p>
            <a:pPr algn="r">
              <a:lnSpc>
                <a:spcPts val="1200"/>
              </a:lnSpc>
              <a:spcBef>
                <a:spcPts val="0"/>
              </a:spcBef>
              <a:spcAft>
                <a:spcPts val="0"/>
              </a:spcAft>
              <a:buNone/>
            </a:pPr>
            <a:r>
              <a:rPr lang="ko-KR" altLang="en-US" sz="1000" b="0" dirty="0">
                <a:solidFill>
                  <a:srgbClr val="7A808C"/>
                </a:solidFill>
                <a:latin typeface="맑은 고딕"/>
                <a:ea typeface="맑은 고딕"/>
                <a:cs typeface="맑은 고딕"/>
              </a:rPr>
              <a:t>클릭 ① 정답(T/F) 공개</a:t>
            </a:r>
            <a:endParaRPr lang="ko-KR" sz="1000"/>
          </a:p>
        </p:txBody>
      </p:sp>
      <p:sp>
        <p:nvSpPr>
          <p:cNvPr id="7" name="passage_card"/>
          <p:cNvSpPr/>
          <p:nvPr/>
        </p:nvSpPr>
        <p:spPr>
          <a:xfrm>
            <a:off x="457200" y="950976"/>
            <a:ext cx="11274552" cy="1854708"/>
          </a:xfrm>
          <a:prstGeom prst="roundRect">
            <a:avLst>
              <a:gd name="adj" fmla="val 4000"/>
            </a:avLst>
          </a:prstGeom>
          <a:solidFill>
            <a:srgbClr val="F3F5F9"/>
          </a:solidFill>
          <a:ln w="12700">
            <a:solidFill>
              <a:srgbClr val="D9DFEA"/>
            </a:solidFill>
          </a:ln>
        </p:spPr>
        <p:txBody>
          <a:bodyPr rtlCol="0" anchor="ctr"/>
          <a:lstStyle/>
          <a:p>
            <a:pPr algn="ctr"/>
          </a:p>
        </p:txBody>
      </p:sp>
      <p:sp>
        <p:nvSpPr>
          <p:cNvPr id="8" name="passage"/>
          <p:cNvSpPr txBox="1"/>
          <p:nvPr/>
        </p:nvSpPr>
        <p:spPr>
          <a:xfrm>
            <a:off x="457200" y="950976"/>
            <a:ext cx="11274552" cy="1854708"/>
          </a:xfrm>
          <a:prstGeom prst="rect">
            <a:avLst/>
          </a:prstGeom>
          <a:noFill/>
        </p:spPr>
        <p:txBody>
          <a:bodyPr wrap="square" lIns="182880" tIns="137160" rIns="182880" bIns="137160" anchor="t" rtlCol="0">
            <a:noAutofit/>
          </a:bodyPr>
          <a:lstStyle/>
          <a:p>
            <a:pPr algn="l">
              <a:lnSpc>
                <a:spcPts val="2074"/>
              </a:lnSpc>
              <a:spcBef>
                <a:spcPts val="0"/>
              </a:spcBef>
              <a:spcAft>
                <a:spcPts val="0"/>
              </a:spcAft>
              <a:buNone/>
            </a:pPr>
            <a:r>
              <a:rPr lang="ko-KR" altLang="en-US" sz="1700" b="1" dirty="0">
                <a:solidFill>
                  <a:srgbClr val="1E2A5A"/>
                </a:solidFill>
                <a:latin typeface="맑은 고딕"/>
                <a:ea typeface="맑은 고딕"/>
                <a:cs typeface="맑은 고딕"/>
              </a:rPr>
              <a:t>⑲ </a:t>
            </a:r>
            <a:r>
              <a:rPr lang="en-US" altLang="en-US" sz="1700" b="0" dirty="0">
                <a:solidFill>
                  <a:srgbClr val="1F2328"/>
                </a:solidFill>
                <a:latin typeface="Calibri"/>
                <a:ea typeface="맑은 고딕"/>
                <a:cs typeface="Calibri"/>
              </a:rPr>
              <a:t>Are you a sports fan? Well, big data is improving the performance of players, making sports more exciting. </a:t>
            </a:r>
            <a:r>
              <a:rPr lang="ko-KR" altLang="en-US" sz="1700" b="1" dirty="0">
                <a:solidFill>
                  <a:srgbClr val="1E2A5A"/>
                </a:solidFill>
                <a:latin typeface="맑은 고딕"/>
                <a:ea typeface="맑은 고딕"/>
                <a:cs typeface="맑은 고딕"/>
              </a:rPr>
              <a:t>⑳ </a:t>
            </a:r>
            <a:r>
              <a:rPr lang="en-US" altLang="en-US" sz="1700" b="0" dirty="0">
                <a:solidFill>
                  <a:srgbClr val="1F2328"/>
                </a:solidFill>
                <a:latin typeface="Calibri"/>
                <a:ea typeface="맑은 고딕"/>
                <a:cs typeface="Calibri"/>
              </a:rPr>
              <a:t>A famous example is Germany’s national soccer team. </a:t>
            </a:r>
            <a:r>
              <a:rPr lang="en-US" altLang="en-US" sz="1700" b="1" dirty="0">
                <a:solidFill>
                  <a:srgbClr val="1E2A5A"/>
                </a:solidFill>
                <a:latin typeface="Calibri"/>
                <a:ea typeface="맑은 고딕"/>
                <a:cs typeface="Calibri"/>
              </a:rPr>
              <a:t>21. </a:t>
            </a:r>
            <a:r>
              <a:rPr lang="en-US" altLang="en-US" sz="1700" b="0" dirty="0">
                <a:solidFill>
                  <a:srgbClr val="1F2328"/>
                </a:solidFill>
                <a:latin typeface="Calibri"/>
                <a:ea typeface="맑은 고딕"/>
                <a:cs typeface="Calibri"/>
              </a:rPr>
              <a:t>The team built a database by collecting and analyzing a huge amount of data on players. </a:t>
            </a:r>
            <a:r>
              <a:rPr lang="en-US" altLang="en-US" sz="1700" b="1" dirty="0">
                <a:solidFill>
                  <a:srgbClr val="1E2A5A"/>
                </a:solidFill>
                <a:latin typeface="Calibri"/>
                <a:ea typeface="맑은 고딕"/>
                <a:cs typeface="Calibri"/>
              </a:rPr>
              <a:t>22. </a:t>
            </a:r>
            <a:r>
              <a:rPr lang="en-US" altLang="en-US" sz="1700" b="0" dirty="0">
                <a:solidFill>
                  <a:srgbClr val="1F2328"/>
                </a:solidFill>
                <a:latin typeface="Calibri"/>
                <a:ea typeface="맑은 고딕"/>
                <a:cs typeface="Calibri"/>
              </a:rPr>
              <a:t>For example, the data included information about how much each player ran and how long he had the ball. </a:t>
            </a:r>
            <a:r>
              <a:rPr lang="en-US" altLang="en-US" sz="1700" b="1" dirty="0">
                <a:solidFill>
                  <a:srgbClr val="1E2A5A"/>
                </a:solidFill>
                <a:latin typeface="Calibri"/>
                <a:ea typeface="맑은 고딕"/>
                <a:cs typeface="Calibri"/>
              </a:rPr>
              <a:t>23. </a:t>
            </a:r>
            <a:r>
              <a:rPr lang="en-US" altLang="en-US" sz="1700" b="0" dirty="0">
                <a:solidFill>
                  <a:srgbClr val="1F2328"/>
                </a:solidFill>
                <a:latin typeface="Calibri"/>
                <a:ea typeface="맑은 고딕"/>
                <a:cs typeface="Calibri"/>
              </a:rPr>
              <a:t>With the help of this database, Germany’s national soccer team was able to improve its performance and win the 2014 World Cup. </a:t>
            </a:r>
            <a:endParaRPr lang="ko-KR" sz="1700"/>
          </a:p>
        </p:txBody>
      </p:sp>
      <p:sp>
        <p:nvSpPr>
          <p:cNvPr id="9" name="q_card_1"/>
          <p:cNvSpPr/>
          <p:nvPr/>
        </p:nvSpPr>
        <p:spPr>
          <a:xfrm>
            <a:off x="457200" y="2970276"/>
            <a:ext cx="11274552" cy="466217"/>
          </a:xfrm>
          <a:prstGeom prst="roundRect">
            <a:avLst>
              <a:gd name="adj" fmla="val 12000"/>
            </a:avLst>
          </a:prstGeom>
          <a:noFill/>
          <a:ln w="12700">
            <a:solidFill>
              <a:srgbClr val="D5DAE5"/>
            </a:solidFill>
          </a:ln>
        </p:spPr>
        <p:txBody>
          <a:bodyPr rtlCol="0" anchor="ctr"/>
          <a:lstStyle/>
          <a:p>
            <a:pPr algn="ctr"/>
          </a:p>
        </p:txBody>
      </p:sp>
      <p:sp>
        <p:nvSpPr>
          <p:cNvPr id="10" name="q_1"/>
          <p:cNvSpPr txBox="1"/>
          <p:nvPr/>
        </p:nvSpPr>
        <p:spPr>
          <a:xfrm>
            <a:off x="502920" y="2970276"/>
            <a:ext cx="9171432" cy="466217"/>
          </a:xfrm>
          <a:prstGeom prst="rect">
            <a:avLst/>
          </a:prstGeom>
          <a:noFill/>
        </p:spPr>
        <p:txBody>
          <a:bodyPr wrap="square" lIns="109728" tIns="45720" rIns="109728" bIns="45720" anchor="ctr" rtlCol="0">
            <a:noAutofit/>
          </a:bodyPr>
          <a:lstStyle/>
          <a:p>
            <a:pPr algn="l">
              <a:lnSpc>
                <a:spcPts val="2375"/>
              </a:lnSpc>
              <a:spcBef>
                <a:spcPts val="0"/>
              </a:spcBef>
              <a:spcAft>
                <a:spcPts val="0"/>
              </a:spcAft>
              <a:buNone/>
            </a:pPr>
            <a:r>
              <a:rPr lang="en-US" altLang="en-US" sz="1900" b="1" dirty="0">
                <a:solidFill>
                  <a:srgbClr val="1E2A5A"/>
                </a:solidFill>
                <a:latin typeface="Calibri"/>
                <a:ea typeface="맑은 고딕"/>
                <a:cs typeface="Calibri"/>
              </a:rPr>
              <a:t>26.  </a:t>
            </a:r>
            <a:r>
              <a:rPr lang="ko-KR" altLang="en-US" sz="1900" b="0" dirty="0">
                <a:solidFill>
                  <a:srgbClr val="1F2328"/>
                </a:solidFill>
                <a:latin typeface="맑은 고딕"/>
                <a:ea typeface="맑은 고딕"/>
                <a:cs typeface="맑은 고딕"/>
              </a:rPr>
              <a:t>데이터에는 각 선수가 얼마나 많이 달렸는지가 포함되었다.</a:t>
            </a:r>
            <a:endParaRPr lang="ko-KR" sz="1900"/>
          </a:p>
        </p:txBody>
      </p:sp>
      <p:sp>
        <p:nvSpPr>
          <p:cNvPr id="11" name="tf_1"/>
          <p:cNvSpPr txBox="1"/>
          <p:nvPr/>
        </p:nvSpPr>
        <p:spPr>
          <a:xfrm>
            <a:off x="9765792" y="2970276"/>
            <a:ext cx="1828800" cy="466217"/>
          </a:xfrm>
          <a:prstGeom prst="rect">
            <a:avLst/>
          </a:prstGeom>
          <a:noFill/>
        </p:spPr>
        <p:txBody>
          <a:bodyPr wrap="square" lIns="18288" tIns="18288" rIns="18288" bIns="18288" anchor="ctr" rtlCol="0">
            <a:noAutofit/>
          </a:bodyPr>
          <a:lstStyle/>
          <a:p>
            <a:pPr algn="ctr">
              <a:lnSpc>
                <a:spcPts val="2375"/>
              </a:lnSpc>
              <a:spcBef>
                <a:spcPts val="0"/>
              </a:spcBef>
              <a:spcAft>
                <a:spcPts val="0"/>
              </a:spcAft>
              <a:buNone/>
            </a:pPr>
            <a:r>
              <a:rPr lang="en-US" altLang="en-US" sz="1900" b="1" dirty="0">
                <a:solidFill>
                  <a:srgbClr val="9AA3B5"/>
                </a:solidFill>
                <a:latin typeface="Calibri"/>
                <a:ea typeface="맑은 고딕"/>
                <a:cs typeface="Calibri"/>
              </a:rPr>
              <a:t>T   /   F</a:t>
            </a:r>
            <a:endParaRPr lang="ko-KR" sz="1900"/>
          </a:p>
        </p:txBody>
      </p:sp>
      <p:sp>
        <p:nvSpPr>
          <p:cNvPr id="12" name="rv_ans_1"/>
          <p:cNvSpPr/>
          <p:nvPr/>
        </p:nvSpPr>
        <p:spPr>
          <a:xfrm>
            <a:off x="9765792" y="3015996"/>
            <a:ext cx="1828800" cy="374777"/>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640"/>
              </a:lnSpc>
              <a:spcBef>
                <a:spcPts val="0"/>
              </a:spcBef>
              <a:spcAft>
                <a:spcPts val="0"/>
              </a:spcAft>
              <a:buNone/>
            </a:pPr>
            <a:r>
              <a:rPr lang="en-US" altLang="en-US" sz="2200" b="1" dirty="0">
                <a:solidFill>
                  <a:srgbClr val="C00000"/>
                </a:solidFill>
                <a:latin typeface="Calibri"/>
                <a:ea typeface="맑은 고딕"/>
                <a:cs typeface="Calibri"/>
              </a:rPr>
              <a:t>T</a:t>
            </a:r>
            <a:endParaRPr lang="ko-KR" sz="2200"/>
          </a:p>
        </p:txBody>
      </p:sp>
      <p:sp>
        <p:nvSpPr>
          <p:cNvPr id="13" name="q_card_2"/>
          <p:cNvSpPr/>
          <p:nvPr/>
        </p:nvSpPr>
        <p:spPr>
          <a:xfrm>
            <a:off x="457200" y="3509645"/>
            <a:ext cx="11274552" cy="767842"/>
          </a:xfrm>
          <a:prstGeom prst="roundRect">
            <a:avLst>
              <a:gd name="adj" fmla="val 12000"/>
            </a:avLst>
          </a:prstGeom>
          <a:noFill/>
          <a:ln w="12700">
            <a:solidFill>
              <a:srgbClr val="D5DAE5"/>
            </a:solidFill>
          </a:ln>
        </p:spPr>
        <p:txBody>
          <a:bodyPr rtlCol="0" anchor="ctr"/>
          <a:lstStyle/>
          <a:p>
            <a:pPr algn="ctr"/>
          </a:p>
        </p:txBody>
      </p:sp>
      <p:sp>
        <p:nvSpPr>
          <p:cNvPr id="14" name="q_2"/>
          <p:cNvSpPr txBox="1"/>
          <p:nvPr/>
        </p:nvSpPr>
        <p:spPr>
          <a:xfrm>
            <a:off x="502920" y="3509645"/>
            <a:ext cx="9171432" cy="767842"/>
          </a:xfrm>
          <a:prstGeom prst="rect">
            <a:avLst/>
          </a:prstGeom>
          <a:noFill/>
        </p:spPr>
        <p:txBody>
          <a:bodyPr wrap="square" lIns="109728" tIns="45720" rIns="109728" bIns="45720" anchor="ctr" rtlCol="0">
            <a:noAutofit/>
          </a:bodyPr>
          <a:lstStyle/>
          <a:p>
            <a:pPr algn="l">
              <a:lnSpc>
                <a:spcPts val="2375"/>
              </a:lnSpc>
              <a:spcBef>
                <a:spcPts val="0"/>
              </a:spcBef>
              <a:spcAft>
                <a:spcPts val="0"/>
              </a:spcAft>
              <a:buNone/>
            </a:pPr>
            <a:r>
              <a:rPr lang="en-US" altLang="en-US" sz="1900" b="1" dirty="0">
                <a:solidFill>
                  <a:srgbClr val="1E2A5A"/>
                </a:solidFill>
                <a:latin typeface="Calibri"/>
                <a:ea typeface="맑은 고딕"/>
                <a:cs typeface="Calibri"/>
              </a:rPr>
              <a:t>27.  </a:t>
            </a:r>
            <a:r>
              <a:rPr lang="ko-KR" altLang="en-US" sz="1900" b="0" dirty="0">
                <a:solidFill>
                  <a:srgbClr val="1F2328"/>
                </a:solidFill>
                <a:latin typeface="맑은 고딕"/>
                <a:ea typeface="맑은 고딕"/>
                <a:cs typeface="맑은 고딕"/>
              </a:rPr>
              <a:t>데이터에는 각 선수가 공을 얼마나 오래 가지고 있었는지가 포함되었다.</a:t>
            </a:r>
            <a:endParaRPr lang="ko-KR" sz="1900"/>
          </a:p>
        </p:txBody>
      </p:sp>
      <p:sp>
        <p:nvSpPr>
          <p:cNvPr id="15" name="tf_2"/>
          <p:cNvSpPr txBox="1"/>
          <p:nvPr/>
        </p:nvSpPr>
        <p:spPr>
          <a:xfrm>
            <a:off x="9765792" y="3509645"/>
            <a:ext cx="1828800" cy="767842"/>
          </a:xfrm>
          <a:prstGeom prst="rect">
            <a:avLst/>
          </a:prstGeom>
          <a:noFill/>
        </p:spPr>
        <p:txBody>
          <a:bodyPr wrap="square" lIns="18288" tIns="18288" rIns="18288" bIns="18288" anchor="ctr" rtlCol="0">
            <a:noAutofit/>
          </a:bodyPr>
          <a:lstStyle/>
          <a:p>
            <a:pPr algn="ctr">
              <a:lnSpc>
                <a:spcPts val="2375"/>
              </a:lnSpc>
              <a:spcBef>
                <a:spcPts val="0"/>
              </a:spcBef>
              <a:spcAft>
                <a:spcPts val="0"/>
              </a:spcAft>
              <a:buNone/>
            </a:pPr>
            <a:r>
              <a:rPr lang="en-US" altLang="en-US" sz="1900" b="1" dirty="0">
                <a:solidFill>
                  <a:srgbClr val="9AA3B5"/>
                </a:solidFill>
                <a:latin typeface="Calibri"/>
                <a:ea typeface="맑은 고딕"/>
                <a:cs typeface="Calibri"/>
              </a:rPr>
              <a:t>T   /   F</a:t>
            </a:r>
            <a:endParaRPr lang="ko-KR" sz="1900"/>
          </a:p>
        </p:txBody>
      </p:sp>
      <p:sp>
        <p:nvSpPr>
          <p:cNvPr id="16" name="rv_ans_2"/>
          <p:cNvSpPr/>
          <p:nvPr/>
        </p:nvSpPr>
        <p:spPr>
          <a:xfrm>
            <a:off x="9765792" y="3555365"/>
            <a:ext cx="1828800" cy="676402"/>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640"/>
              </a:lnSpc>
              <a:spcBef>
                <a:spcPts val="0"/>
              </a:spcBef>
              <a:spcAft>
                <a:spcPts val="0"/>
              </a:spcAft>
              <a:buNone/>
            </a:pPr>
            <a:r>
              <a:rPr lang="en-US" altLang="en-US" sz="2200" b="1" dirty="0">
                <a:solidFill>
                  <a:srgbClr val="C00000"/>
                </a:solidFill>
                <a:latin typeface="Calibri"/>
                <a:ea typeface="맑은 고딕"/>
                <a:cs typeface="Calibri"/>
              </a:rPr>
              <a:t>T</a:t>
            </a:r>
            <a:endParaRPr lang="ko-KR" sz="2200"/>
          </a:p>
        </p:txBody>
      </p:sp>
      <p:sp>
        <p:nvSpPr>
          <p:cNvPr id="17" name="q_card_3"/>
          <p:cNvSpPr/>
          <p:nvPr/>
        </p:nvSpPr>
        <p:spPr>
          <a:xfrm>
            <a:off x="457200" y="4350639"/>
            <a:ext cx="11274552" cy="767842"/>
          </a:xfrm>
          <a:prstGeom prst="roundRect">
            <a:avLst>
              <a:gd name="adj" fmla="val 12000"/>
            </a:avLst>
          </a:prstGeom>
          <a:noFill/>
          <a:ln w="12700">
            <a:solidFill>
              <a:srgbClr val="D5DAE5"/>
            </a:solidFill>
          </a:ln>
        </p:spPr>
        <p:txBody>
          <a:bodyPr rtlCol="0" anchor="ctr"/>
          <a:lstStyle/>
          <a:p>
            <a:pPr algn="ctr"/>
          </a:p>
        </p:txBody>
      </p:sp>
      <p:sp>
        <p:nvSpPr>
          <p:cNvPr id="18" name="q_3"/>
          <p:cNvSpPr txBox="1"/>
          <p:nvPr/>
        </p:nvSpPr>
        <p:spPr>
          <a:xfrm>
            <a:off x="502920" y="4350639"/>
            <a:ext cx="9171432" cy="767842"/>
          </a:xfrm>
          <a:prstGeom prst="rect">
            <a:avLst/>
          </a:prstGeom>
          <a:noFill/>
        </p:spPr>
        <p:txBody>
          <a:bodyPr wrap="square" lIns="109728" tIns="45720" rIns="109728" bIns="45720" anchor="ctr" rtlCol="0">
            <a:noAutofit/>
          </a:bodyPr>
          <a:lstStyle/>
          <a:p>
            <a:pPr algn="l">
              <a:lnSpc>
                <a:spcPts val="2375"/>
              </a:lnSpc>
              <a:spcBef>
                <a:spcPts val="0"/>
              </a:spcBef>
              <a:spcAft>
                <a:spcPts val="0"/>
              </a:spcAft>
              <a:buNone/>
            </a:pPr>
            <a:r>
              <a:rPr lang="en-US" altLang="en-US" sz="1900" b="1" dirty="0">
                <a:solidFill>
                  <a:srgbClr val="1E2A5A"/>
                </a:solidFill>
                <a:latin typeface="Calibri"/>
                <a:ea typeface="맑은 고딕"/>
                <a:cs typeface="Calibri"/>
              </a:rPr>
              <a:t>28.  </a:t>
            </a:r>
            <a:r>
              <a:rPr lang="ko-KR" altLang="en-US" sz="1900" b="0" dirty="0">
                <a:solidFill>
                  <a:srgbClr val="1F2328"/>
                </a:solidFill>
                <a:latin typeface="맑은 고딕"/>
                <a:ea typeface="맑은 고딕"/>
                <a:cs typeface="맑은 고딕"/>
              </a:rPr>
              <a:t>데이터에는 선수들이 하루에 몇 시간 잠을 잤는지가 포함되었다고 나와 있다.</a:t>
            </a:r>
            <a:endParaRPr lang="ko-KR" sz="1900"/>
          </a:p>
        </p:txBody>
      </p:sp>
      <p:sp>
        <p:nvSpPr>
          <p:cNvPr id="19" name="tf_3"/>
          <p:cNvSpPr txBox="1"/>
          <p:nvPr/>
        </p:nvSpPr>
        <p:spPr>
          <a:xfrm>
            <a:off x="9765792" y="4350639"/>
            <a:ext cx="1828800" cy="767842"/>
          </a:xfrm>
          <a:prstGeom prst="rect">
            <a:avLst/>
          </a:prstGeom>
          <a:noFill/>
        </p:spPr>
        <p:txBody>
          <a:bodyPr wrap="square" lIns="18288" tIns="18288" rIns="18288" bIns="18288" anchor="ctr" rtlCol="0">
            <a:noAutofit/>
          </a:bodyPr>
          <a:lstStyle/>
          <a:p>
            <a:pPr algn="ctr">
              <a:lnSpc>
                <a:spcPts val="2375"/>
              </a:lnSpc>
              <a:spcBef>
                <a:spcPts val="0"/>
              </a:spcBef>
              <a:spcAft>
                <a:spcPts val="0"/>
              </a:spcAft>
              <a:buNone/>
            </a:pPr>
            <a:r>
              <a:rPr lang="en-US" altLang="en-US" sz="1900" b="1" dirty="0">
                <a:solidFill>
                  <a:srgbClr val="9AA3B5"/>
                </a:solidFill>
                <a:latin typeface="Calibri"/>
                <a:ea typeface="맑은 고딕"/>
                <a:cs typeface="Calibri"/>
              </a:rPr>
              <a:t>T   /   F</a:t>
            </a:r>
            <a:endParaRPr lang="ko-KR" sz="1900"/>
          </a:p>
        </p:txBody>
      </p:sp>
      <p:sp>
        <p:nvSpPr>
          <p:cNvPr id="20" name="rv_ans_3"/>
          <p:cNvSpPr/>
          <p:nvPr/>
        </p:nvSpPr>
        <p:spPr>
          <a:xfrm>
            <a:off x="9765792" y="4396359"/>
            <a:ext cx="1828800" cy="676402"/>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640"/>
              </a:lnSpc>
              <a:spcBef>
                <a:spcPts val="0"/>
              </a:spcBef>
              <a:spcAft>
                <a:spcPts val="0"/>
              </a:spcAft>
              <a:buNone/>
            </a:pPr>
            <a:r>
              <a:rPr lang="en-US" altLang="en-US" sz="2200" b="1" dirty="0">
                <a:solidFill>
                  <a:srgbClr val="C00000"/>
                </a:solidFill>
                <a:latin typeface="Calibri"/>
                <a:ea typeface="맑은 고딕"/>
                <a:cs typeface="Calibri"/>
              </a:rPr>
              <a:t>F</a:t>
            </a:r>
            <a:endParaRPr lang="ko-KR" sz="2200"/>
          </a:p>
        </p:txBody>
      </p:sp>
      <p:sp>
        <p:nvSpPr>
          <p:cNvPr id="21" name="q_card_4"/>
          <p:cNvSpPr/>
          <p:nvPr/>
        </p:nvSpPr>
        <p:spPr>
          <a:xfrm>
            <a:off x="457200" y="5191633"/>
            <a:ext cx="11274552" cy="466217"/>
          </a:xfrm>
          <a:prstGeom prst="roundRect">
            <a:avLst>
              <a:gd name="adj" fmla="val 12000"/>
            </a:avLst>
          </a:prstGeom>
          <a:noFill/>
          <a:ln w="12700">
            <a:solidFill>
              <a:srgbClr val="D5DAE5"/>
            </a:solidFill>
          </a:ln>
        </p:spPr>
        <p:txBody>
          <a:bodyPr rtlCol="0" anchor="ctr"/>
          <a:lstStyle/>
          <a:p>
            <a:pPr algn="ctr"/>
          </a:p>
        </p:txBody>
      </p:sp>
      <p:sp>
        <p:nvSpPr>
          <p:cNvPr id="22" name="q_4"/>
          <p:cNvSpPr txBox="1"/>
          <p:nvPr/>
        </p:nvSpPr>
        <p:spPr>
          <a:xfrm>
            <a:off x="502920" y="5191633"/>
            <a:ext cx="9171432" cy="466217"/>
          </a:xfrm>
          <a:prstGeom prst="rect">
            <a:avLst/>
          </a:prstGeom>
          <a:noFill/>
        </p:spPr>
        <p:txBody>
          <a:bodyPr wrap="square" lIns="109728" tIns="45720" rIns="109728" bIns="45720" anchor="ctr" rtlCol="0">
            <a:noAutofit/>
          </a:bodyPr>
          <a:lstStyle/>
          <a:p>
            <a:pPr algn="l">
              <a:lnSpc>
                <a:spcPts val="2375"/>
              </a:lnSpc>
              <a:spcBef>
                <a:spcPts val="0"/>
              </a:spcBef>
              <a:spcAft>
                <a:spcPts val="0"/>
              </a:spcAft>
              <a:buNone/>
            </a:pPr>
            <a:r>
              <a:rPr lang="en-US" altLang="en-US" sz="1900" b="1" dirty="0">
                <a:solidFill>
                  <a:srgbClr val="1E2A5A"/>
                </a:solidFill>
                <a:latin typeface="Calibri"/>
                <a:ea typeface="맑은 고딕"/>
                <a:cs typeface="Calibri"/>
              </a:rPr>
              <a:t>29.  </a:t>
            </a:r>
            <a:r>
              <a:rPr lang="ko-KR" altLang="en-US" sz="1900" b="0" dirty="0">
                <a:solidFill>
                  <a:srgbClr val="1F2328"/>
                </a:solidFill>
                <a:latin typeface="맑은 고딕"/>
                <a:ea typeface="맑은 고딕"/>
                <a:cs typeface="맑은 고딕"/>
              </a:rPr>
              <a:t>독일 팀은 데이터베이스의 도움으로 경기력을 향상할 수 있었다.</a:t>
            </a:r>
            <a:endParaRPr lang="ko-KR" sz="1900"/>
          </a:p>
        </p:txBody>
      </p:sp>
      <p:sp>
        <p:nvSpPr>
          <p:cNvPr id="23" name="tf_4"/>
          <p:cNvSpPr txBox="1"/>
          <p:nvPr/>
        </p:nvSpPr>
        <p:spPr>
          <a:xfrm>
            <a:off x="9765792" y="5191633"/>
            <a:ext cx="1828800" cy="466217"/>
          </a:xfrm>
          <a:prstGeom prst="rect">
            <a:avLst/>
          </a:prstGeom>
          <a:noFill/>
        </p:spPr>
        <p:txBody>
          <a:bodyPr wrap="square" lIns="18288" tIns="18288" rIns="18288" bIns="18288" anchor="ctr" rtlCol="0">
            <a:noAutofit/>
          </a:bodyPr>
          <a:lstStyle/>
          <a:p>
            <a:pPr algn="ctr">
              <a:lnSpc>
                <a:spcPts val="2375"/>
              </a:lnSpc>
              <a:spcBef>
                <a:spcPts val="0"/>
              </a:spcBef>
              <a:spcAft>
                <a:spcPts val="0"/>
              </a:spcAft>
              <a:buNone/>
            </a:pPr>
            <a:r>
              <a:rPr lang="en-US" altLang="en-US" sz="1900" b="1" dirty="0">
                <a:solidFill>
                  <a:srgbClr val="9AA3B5"/>
                </a:solidFill>
                <a:latin typeface="Calibri"/>
                <a:ea typeface="맑은 고딕"/>
                <a:cs typeface="Calibri"/>
              </a:rPr>
              <a:t>T   /   F</a:t>
            </a:r>
            <a:endParaRPr lang="ko-KR" sz="1900"/>
          </a:p>
        </p:txBody>
      </p:sp>
      <p:sp>
        <p:nvSpPr>
          <p:cNvPr id="24" name="rv_ans_4"/>
          <p:cNvSpPr/>
          <p:nvPr/>
        </p:nvSpPr>
        <p:spPr>
          <a:xfrm>
            <a:off x="9765792" y="5237353"/>
            <a:ext cx="1828800" cy="374777"/>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640"/>
              </a:lnSpc>
              <a:spcBef>
                <a:spcPts val="0"/>
              </a:spcBef>
              <a:spcAft>
                <a:spcPts val="0"/>
              </a:spcAft>
              <a:buNone/>
            </a:pPr>
            <a:r>
              <a:rPr lang="en-US" altLang="en-US" sz="2200" b="1" dirty="0">
                <a:solidFill>
                  <a:srgbClr val="C00000"/>
                </a:solidFill>
                <a:latin typeface="Calibri"/>
                <a:ea typeface="맑은 고딕"/>
                <a:cs typeface="Calibri"/>
              </a:rPr>
              <a:t>T</a:t>
            </a:r>
            <a:endParaRPr lang="ko-KR" sz="2200"/>
          </a:p>
        </p:txBody>
      </p:sp>
      <p:sp>
        <p:nvSpPr>
          <p:cNvPr id="25" name="q_card_5"/>
          <p:cNvSpPr/>
          <p:nvPr/>
        </p:nvSpPr>
        <p:spPr>
          <a:xfrm>
            <a:off x="457200" y="5731002"/>
            <a:ext cx="11274552" cy="466217"/>
          </a:xfrm>
          <a:prstGeom prst="roundRect">
            <a:avLst>
              <a:gd name="adj" fmla="val 12000"/>
            </a:avLst>
          </a:prstGeom>
          <a:noFill/>
          <a:ln w="12700">
            <a:solidFill>
              <a:srgbClr val="D5DAE5"/>
            </a:solidFill>
          </a:ln>
        </p:spPr>
        <p:txBody>
          <a:bodyPr rtlCol="0" anchor="ctr"/>
          <a:lstStyle/>
          <a:p>
            <a:pPr algn="ctr"/>
          </a:p>
        </p:txBody>
      </p:sp>
      <p:sp>
        <p:nvSpPr>
          <p:cNvPr id="26" name="q_5"/>
          <p:cNvSpPr txBox="1"/>
          <p:nvPr/>
        </p:nvSpPr>
        <p:spPr>
          <a:xfrm>
            <a:off x="502920" y="5731002"/>
            <a:ext cx="9171432" cy="466217"/>
          </a:xfrm>
          <a:prstGeom prst="rect">
            <a:avLst/>
          </a:prstGeom>
          <a:noFill/>
        </p:spPr>
        <p:txBody>
          <a:bodyPr wrap="square" lIns="109728" tIns="45720" rIns="109728" bIns="45720" anchor="ctr" rtlCol="0">
            <a:noAutofit/>
          </a:bodyPr>
          <a:lstStyle/>
          <a:p>
            <a:pPr algn="l">
              <a:lnSpc>
                <a:spcPts val="2375"/>
              </a:lnSpc>
              <a:spcBef>
                <a:spcPts val="0"/>
              </a:spcBef>
              <a:spcAft>
                <a:spcPts val="0"/>
              </a:spcAft>
              <a:buNone/>
            </a:pPr>
            <a:r>
              <a:rPr lang="en-US" altLang="en-US" sz="1900" b="1" dirty="0">
                <a:solidFill>
                  <a:srgbClr val="1E2A5A"/>
                </a:solidFill>
                <a:latin typeface="Calibri"/>
                <a:ea typeface="맑은 고딕"/>
                <a:cs typeface="Calibri"/>
              </a:rPr>
              <a:t>30.  </a:t>
            </a:r>
            <a:r>
              <a:rPr lang="ko-KR" altLang="en-US" sz="1900" b="0" dirty="0">
                <a:solidFill>
                  <a:srgbClr val="1F2328"/>
                </a:solidFill>
                <a:latin typeface="맑은 고딕"/>
                <a:ea typeface="맑은 고딕"/>
                <a:cs typeface="맑은 고딕"/>
              </a:rPr>
              <a:t>독일 팀은 2010년 월드컵에서 우승했다.</a:t>
            </a:r>
            <a:endParaRPr lang="ko-KR" sz="1900"/>
          </a:p>
        </p:txBody>
      </p:sp>
      <p:sp>
        <p:nvSpPr>
          <p:cNvPr id="27" name="tf_5"/>
          <p:cNvSpPr txBox="1"/>
          <p:nvPr/>
        </p:nvSpPr>
        <p:spPr>
          <a:xfrm>
            <a:off x="9765792" y="5731002"/>
            <a:ext cx="1828800" cy="466217"/>
          </a:xfrm>
          <a:prstGeom prst="rect">
            <a:avLst/>
          </a:prstGeom>
          <a:noFill/>
        </p:spPr>
        <p:txBody>
          <a:bodyPr wrap="square" lIns="18288" tIns="18288" rIns="18288" bIns="18288" anchor="ctr" rtlCol="0">
            <a:noAutofit/>
          </a:bodyPr>
          <a:lstStyle/>
          <a:p>
            <a:pPr algn="ctr">
              <a:lnSpc>
                <a:spcPts val="2375"/>
              </a:lnSpc>
              <a:spcBef>
                <a:spcPts val="0"/>
              </a:spcBef>
              <a:spcAft>
                <a:spcPts val="0"/>
              </a:spcAft>
              <a:buNone/>
            </a:pPr>
            <a:r>
              <a:rPr lang="en-US" altLang="en-US" sz="1900" b="1" dirty="0">
                <a:solidFill>
                  <a:srgbClr val="9AA3B5"/>
                </a:solidFill>
                <a:latin typeface="Calibri"/>
                <a:ea typeface="맑은 고딕"/>
                <a:cs typeface="Calibri"/>
              </a:rPr>
              <a:t>T   /   F</a:t>
            </a:r>
            <a:endParaRPr lang="ko-KR" sz="1900"/>
          </a:p>
        </p:txBody>
      </p:sp>
      <p:sp>
        <p:nvSpPr>
          <p:cNvPr id="28" name="rv_ans_5"/>
          <p:cNvSpPr/>
          <p:nvPr/>
        </p:nvSpPr>
        <p:spPr>
          <a:xfrm>
            <a:off x="9765792" y="5776722"/>
            <a:ext cx="1828800" cy="374777"/>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640"/>
              </a:lnSpc>
              <a:spcBef>
                <a:spcPts val="0"/>
              </a:spcBef>
              <a:spcAft>
                <a:spcPts val="0"/>
              </a:spcAft>
              <a:buNone/>
            </a:pPr>
            <a:r>
              <a:rPr lang="en-US" altLang="en-US" sz="2200" b="1" dirty="0">
                <a:solidFill>
                  <a:srgbClr val="C00000"/>
                </a:solidFill>
                <a:latin typeface="Calibri"/>
                <a:ea typeface="맑은 고딕"/>
                <a:cs typeface="Calibri"/>
              </a:rPr>
              <a:t>F</a:t>
            </a:r>
            <a:endParaRPr lang="ko-KR" sz="22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25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250"/>
                                        <p:tgtEl>
                                          <p:spTgt spid="1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0"/>
                                        </p:tgtEl>
                                        <p:attrNameLst>
                                          <p:attrName>style.visibility</p:attrName>
                                        </p:attrNameLst>
                                      </p:cBhvr>
                                      <p:to>
                                        <p:strVal val="visible"/>
                                      </p:to>
                                    </p:set>
                                    <p:animEffect transition="in" filter="fade">
                                      <p:cBhvr>
                                        <p:cTn id="13" dur="250"/>
                                        <p:tgtEl>
                                          <p:spTgt spid="20"/>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4"/>
                                        </p:tgtEl>
                                        <p:attrNameLst>
                                          <p:attrName>style.visibility</p:attrName>
                                        </p:attrNameLst>
                                      </p:cBhvr>
                                      <p:to>
                                        <p:strVal val="visible"/>
                                      </p:to>
                                    </p:set>
                                    <p:animEffect transition="in" filter="fade">
                                      <p:cBhvr>
                                        <p:cTn id="16" dur="250"/>
                                        <p:tgtEl>
                                          <p:spTgt spid="24"/>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8"/>
                                        </p:tgtEl>
                                        <p:attrNameLst>
                                          <p:attrName>style.visibility</p:attrName>
                                        </p:attrNameLst>
                                      </p:cBhvr>
                                      <p:to>
                                        <p:strVal val="visible"/>
                                      </p:to>
                                    </p:set>
                                    <p:animEffect transition="in" filter="fade">
                                      <p:cBhvr>
                                        <p:cTn id="19" dur="25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6" grpId="0" animBg="1"/>
      <p:bldP spid="20" grpId="0" animBg="1"/>
      <p:bldP spid="24" grpId="0" animBg="1"/>
      <p:bldP spid="28" grpId="0" animBg="1"/>
    </p:bldLst>
  </p:timing>
</p:sld>
</file>

<file path=ppt/slides/slide2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8000"/>
            </a:avLst>
          </a:prstGeom>
          <a:solidFill>
            <a:srgbClr val="1E2A5A"/>
          </a:solidFill>
          <a:ln>
            <a:noFill/>
          </a:ln>
        </p:spPr>
        <p:txBody>
          <a:bodyPr wrap="square" lIns="45720" tIns="18288" rIns="45720" bIns="18288" anchor="ctr" rtlCol="0">
            <a:noAutofit/>
          </a:bodyPr>
          <a:lstStyle/>
          <a:p>
            <a:pPr algn="ctr">
              <a:lnSpc>
                <a:spcPts val="2000"/>
              </a:lnSpc>
              <a:spcBef>
                <a:spcPts val="0"/>
              </a:spcBef>
              <a:spcAft>
                <a:spcPts val="0"/>
              </a:spcAft>
              <a:buNone/>
            </a:pPr>
            <a:r>
              <a:rPr lang="en-US" altLang="en-US" sz="1700" b="1" dirty="0">
                <a:solidFill>
                  <a:srgbClr val="FFFFFF"/>
                </a:solidFill>
                <a:latin typeface="Calibri"/>
                <a:ea typeface="맑은 고딕"/>
                <a:cs typeface="Calibri"/>
              </a:rPr>
              <a:t>L7-4</a:t>
            </a:r>
            <a:endParaRPr lang="ko-KR" sz="1700"/>
          </a:p>
        </p:txBody>
      </p:sp>
      <p:sp>
        <p:nvSpPr>
          <p:cNvPr id="3" name="hdr_chip"/>
          <p:cNvSpPr/>
          <p:nvPr/>
        </p:nvSpPr>
        <p:spPr>
          <a:xfrm>
            <a:off x="1755648" y="274320"/>
            <a:ext cx="1371600" cy="493776"/>
          </a:xfrm>
          <a:prstGeom prst="roundRect">
            <a:avLst>
              <a:gd name="adj" fmla="val 8000"/>
            </a:avLst>
          </a:prstGeom>
          <a:solidFill>
            <a:srgbClr val="E6EAF4"/>
          </a:solidFill>
          <a:ln>
            <a:noFill/>
          </a:ln>
        </p:spPr>
        <p:txBody>
          <a:bodyPr wrap="square" lIns="27432" tIns="18288" rIns="27432" bIns="18288" anchor="ctr" rtlCol="0">
            <a:noAutofit/>
          </a:bodyPr>
          <a:lstStyle/>
          <a:p>
            <a:pPr algn="ctr">
              <a:lnSpc>
                <a:spcPts val="1700"/>
              </a:lnSpc>
              <a:spcBef>
                <a:spcPts val="0"/>
              </a:spcBef>
              <a:spcAft>
                <a:spcPts val="0"/>
              </a:spcAft>
              <a:buNone/>
            </a:pPr>
            <a:r>
              <a:rPr lang="ko-KR" altLang="en-US" sz="1400" b="1" dirty="0">
                <a:solidFill>
                  <a:srgbClr val="1E2A5A"/>
                </a:solidFill>
                <a:latin typeface="맑은 고딕"/>
                <a:ea typeface="맑은 고딕"/>
                <a:cs typeface="맑은 고딕"/>
              </a:rPr>
              <a:t>PART 4 · 7</a:t>
            </a:r>
            <a:endParaRPr lang="ko-KR" sz="1400"/>
          </a:p>
        </p:txBody>
      </p:sp>
      <p:sp>
        <p:nvSpPr>
          <p:cNvPr id="4" name="hdr_q"/>
          <p:cNvSpPr txBox="1"/>
          <p:nvPr/>
        </p:nvSpPr>
        <p:spPr>
          <a:xfrm>
            <a:off x="3246120" y="246888"/>
            <a:ext cx="8485632" cy="548640"/>
          </a:xfrm>
          <a:prstGeom prst="rect">
            <a:avLst/>
          </a:prstGeom>
          <a:noFill/>
        </p:spPr>
        <p:txBody>
          <a:bodyPr wrap="square" lIns="109728" tIns="54864" rIns="109728" bIns="54864" anchor="ctr" rtlCol="0">
            <a:noAutofit/>
          </a:bodyPr>
          <a:lstStyle/>
          <a:p>
            <a:pPr algn="l">
              <a:lnSpc>
                <a:spcPts val="2400"/>
              </a:lnSpc>
              <a:spcBef>
                <a:spcPts val="0"/>
              </a:spcBef>
              <a:spcAft>
                <a:spcPts val="0"/>
              </a:spcAft>
              <a:buNone/>
            </a:pPr>
            <a:r>
              <a:rPr lang="ko-KR" altLang="en-US" sz="2000" b="1" dirty="0">
                <a:solidFill>
                  <a:srgbClr val="1F2328"/>
                </a:solidFill>
                <a:latin typeface="맑은 고딕"/>
                <a:ea typeface="맑은 고딕"/>
                <a:cs typeface="맑은 고딕"/>
              </a:rPr>
              <a:t>본문과 일치하면 T, 일치하지 않으면 F를 고르시오.</a:t>
            </a:r>
            <a:endParaRPr lang="ko-KR" sz="2000"/>
          </a:p>
        </p:txBody>
      </p:sp>
      <p:sp>
        <p:nvSpPr>
          <p:cNvPr id="5" name="ftr_exam"/>
          <p:cNvSpPr txBox="1"/>
          <p:nvPr/>
        </p:nvSpPr>
        <p:spPr>
          <a:xfrm>
            <a:off x="457200" y="6519672"/>
            <a:ext cx="5669280" cy="256032"/>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7</a:t>
            </a:r>
            <a:endParaRPr lang="ko-KR" sz="1000"/>
          </a:p>
        </p:txBody>
      </p:sp>
      <p:sp>
        <p:nvSpPr>
          <p:cNvPr id="6" name="ftr_hint"/>
          <p:cNvSpPr txBox="1"/>
          <p:nvPr/>
        </p:nvSpPr>
        <p:spPr>
          <a:xfrm>
            <a:off x="5971032" y="6519672"/>
            <a:ext cx="5760720" cy="256032"/>
          </a:xfrm>
          <a:prstGeom prst="rect">
            <a:avLst/>
          </a:prstGeom>
          <a:noFill/>
        </p:spPr>
        <p:txBody>
          <a:bodyPr wrap="square" lIns="0" tIns="0" rIns="0" bIns="0" anchor="t" rtlCol="0">
            <a:noAutofit/>
          </a:bodyPr>
          <a:lstStyle/>
          <a:p>
            <a:pPr algn="r">
              <a:lnSpc>
                <a:spcPts val="1200"/>
              </a:lnSpc>
              <a:spcBef>
                <a:spcPts val="0"/>
              </a:spcBef>
              <a:spcAft>
                <a:spcPts val="0"/>
              </a:spcAft>
              <a:buNone/>
            </a:pPr>
            <a:r>
              <a:rPr lang="ko-KR" altLang="en-US" sz="1000" b="0" dirty="0">
                <a:solidFill>
                  <a:srgbClr val="7A808C"/>
                </a:solidFill>
                <a:latin typeface="맑은 고딕"/>
                <a:ea typeface="맑은 고딕"/>
                <a:cs typeface="맑은 고딕"/>
              </a:rPr>
              <a:t>클릭 ① 정답(T/F) 공개</a:t>
            </a:r>
            <a:endParaRPr lang="ko-KR" sz="1000"/>
          </a:p>
        </p:txBody>
      </p:sp>
      <p:sp>
        <p:nvSpPr>
          <p:cNvPr id="7" name="passage_card"/>
          <p:cNvSpPr/>
          <p:nvPr/>
        </p:nvSpPr>
        <p:spPr>
          <a:xfrm>
            <a:off x="457200" y="950976"/>
            <a:ext cx="11274552" cy="2118105"/>
          </a:xfrm>
          <a:prstGeom prst="roundRect">
            <a:avLst>
              <a:gd name="adj" fmla="val 4000"/>
            </a:avLst>
          </a:prstGeom>
          <a:solidFill>
            <a:srgbClr val="F3F5F9"/>
          </a:solidFill>
          <a:ln w="12700">
            <a:solidFill>
              <a:srgbClr val="D9DFEA"/>
            </a:solidFill>
          </a:ln>
        </p:spPr>
        <p:txBody>
          <a:bodyPr rtlCol="0" anchor="ctr"/>
          <a:lstStyle/>
          <a:p>
            <a:pPr algn="ctr"/>
          </a:p>
        </p:txBody>
      </p:sp>
      <p:sp>
        <p:nvSpPr>
          <p:cNvPr id="8" name="passage"/>
          <p:cNvSpPr txBox="1"/>
          <p:nvPr/>
        </p:nvSpPr>
        <p:spPr>
          <a:xfrm>
            <a:off x="457200" y="950976"/>
            <a:ext cx="11274552" cy="2118105"/>
          </a:xfrm>
          <a:prstGeom prst="rect">
            <a:avLst/>
          </a:prstGeom>
          <a:noFill/>
        </p:spPr>
        <p:txBody>
          <a:bodyPr wrap="square" lIns="182880" tIns="137160" rIns="182880" bIns="137160" anchor="t" rtlCol="0">
            <a:noAutofit/>
          </a:bodyPr>
          <a:lstStyle/>
          <a:p>
            <a:pPr algn="l">
              <a:lnSpc>
                <a:spcPts val="2074"/>
              </a:lnSpc>
              <a:spcBef>
                <a:spcPts val="0"/>
              </a:spcBef>
              <a:spcAft>
                <a:spcPts val="0"/>
              </a:spcAft>
              <a:buNone/>
            </a:pPr>
            <a:r>
              <a:rPr lang="en-US" altLang="en-US" sz="1700" b="1" dirty="0">
                <a:solidFill>
                  <a:srgbClr val="1E2A5A"/>
                </a:solidFill>
                <a:latin typeface="Calibri"/>
                <a:ea typeface="맑은 고딕"/>
                <a:cs typeface="Calibri"/>
              </a:rPr>
              <a:t>24. </a:t>
            </a:r>
            <a:r>
              <a:rPr lang="en-US" altLang="en-US" sz="1700" b="0" dirty="0">
                <a:solidFill>
                  <a:srgbClr val="1F2328"/>
                </a:solidFill>
                <a:latin typeface="Calibri"/>
                <a:ea typeface="맑은 고딕"/>
                <a:cs typeface="Calibri"/>
              </a:rPr>
              <a:t>Thanks to big data, police can now predict crime before it happens. </a:t>
            </a:r>
            <a:r>
              <a:rPr lang="en-US" altLang="en-US" sz="1700" b="1" dirty="0">
                <a:solidFill>
                  <a:srgbClr val="1E2A5A"/>
                </a:solidFill>
                <a:latin typeface="Calibri"/>
                <a:ea typeface="맑은 고딕"/>
                <a:cs typeface="Calibri"/>
              </a:rPr>
              <a:t>25. </a:t>
            </a:r>
            <a:r>
              <a:rPr lang="en-US" altLang="en-US" sz="1700" b="0" dirty="0">
                <a:solidFill>
                  <a:srgbClr val="1F2328"/>
                </a:solidFill>
                <a:latin typeface="Calibri"/>
                <a:ea typeface="맑은 고딕"/>
                <a:cs typeface="Calibri"/>
              </a:rPr>
              <a:t>Through the analysis of big data about the type, time and place of crime, police can make a map of crime hot spots. </a:t>
            </a:r>
            <a:r>
              <a:rPr lang="en-US" altLang="en-US" sz="1700" b="1" dirty="0">
                <a:solidFill>
                  <a:srgbClr val="1E2A5A"/>
                </a:solidFill>
                <a:latin typeface="Calibri"/>
                <a:ea typeface="맑은 고딕"/>
                <a:cs typeface="Calibri"/>
              </a:rPr>
              <a:t>26. </a:t>
            </a:r>
            <a:r>
              <a:rPr lang="en-US" altLang="en-US" sz="1700" b="0" dirty="0">
                <a:solidFill>
                  <a:srgbClr val="1F2328"/>
                </a:solidFill>
                <a:latin typeface="Calibri"/>
                <a:ea typeface="맑은 고딕"/>
                <a:cs typeface="Calibri"/>
              </a:rPr>
              <a:t>This map identifies when and where crime is most likely to happen. </a:t>
            </a:r>
            <a:r>
              <a:rPr lang="en-US" altLang="en-US" sz="1700" b="1" dirty="0">
                <a:solidFill>
                  <a:srgbClr val="1E2A5A"/>
                </a:solidFill>
                <a:latin typeface="Calibri"/>
                <a:ea typeface="맑은 고딕"/>
                <a:cs typeface="Calibri"/>
              </a:rPr>
              <a:t>27. </a:t>
            </a:r>
            <a:r>
              <a:rPr lang="en-US" altLang="en-US" sz="1700" b="0" dirty="0">
                <a:solidFill>
                  <a:srgbClr val="1F2328"/>
                </a:solidFill>
                <a:latin typeface="Calibri"/>
                <a:ea typeface="맑은 고딕"/>
                <a:cs typeface="Calibri"/>
              </a:rPr>
              <a:t>Police can prevent further crime by focusing on the areas and the times this map predicts. </a:t>
            </a:r>
            <a:r>
              <a:rPr lang="en-US" altLang="en-US" sz="1700" b="1" dirty="0">
                <a:solidFill>
                  <a:srgbClr val="1E2A5A"/>
                </a:solidFill>
                <a:latin typeface="Calibri"/>
                <a:ea typeface="맑은 고딕"/>
                <a:cs typeface="Calibri"/>
              </a:rPr>
              <a:t>28. </a:t>
            </a:r>
            <a:r>
              <a:rPr lang="en-US" altLang="en-US" sz="1700" b="0" dirty="0">
                <a:solidFill>
                  <a:srgbClr val="1F2328"/>
                </a:solidFill>
                <a:latin typeface="Calibri"/>
                <a:ea typeface="맑은 고딕"/>
                <a:cs typeface="Calibri"/>
              </a:rPr>
              <a:t>Big data has already changed the world greatly. </a:t>
            </a:r>
            <a:r>
              <a:rPr lang="en-US" altLang="en-US" sz="1700" b="1" dirty="0">
                <a:solidFill>
                  <a:srgbClr val="1E2A5A"/>
                </a:solidFill>
                <a:latin typeface="Calibri"/>
                <a:ea typeface="맑은 고딕"/>
                <a:cs typeface="Calibri"/>
              </a:rPr>
              <a:t>29. </a:t>
            </a:r>
            <a:r>
              <a:rPr lang="en-US" altLang="en-US" sz="1700" b="0" dirty="0">
                <a:solidFill>
                  <a:srgbClr val="1F2328"/>
                </a:solidFill>
                <a:latin typeface="Calibri"/>
                <a:ea typeface="맑은 고딕"/>
                <a:cs typeface="Calibri"/>
              </a:rPr>
              <a:t>So where will the big data industry go from here? </a:t>
            </a:r>
            <a:r>
              <a:rPr lang="en-US" altLang="en-US" sz="1700" b="1" dirty="0">
                <a:solidFill>
                  <a:srgbClr val="1E2A5A"/>
                </a:solidFill>
                <a:latin typeface="Calibri"/>
                <a:ea typeface="맑은 고딕"/>
                <a:cs typeface="Calibri"/>
              </a:rPr>
              <a:t>30. </a:t>
            </a:r>
            <a:r>
              <a:rPr lang="en-US" altLang="en-US" sz="1700" b="0" dirty="0">
                <a:solidFill>
                  <a:srgbClr val="1F2328"/>
                </a:solidFill>
                <a:latin typeface="Calibri"/>
                <a:ea typeface="맑은 고딕"/>
                <a:cs typeface="Calibri"/>
              </a:rPr>
              <a:t>Nobody knows for sure, but experts agree that big data will play a more and more important role in our lives. </a:t>
            </a:r>
            <a:endParaRPr lang="ko-KR" sz="1700"/>
          </a:p>
        </p:txBody>
      </p:sp>
      <p:sp>
        <p:nvSpPr>
          <p:cNvPr id="9" name="q_card_1"/>
          <p:cNvSpPr/>
          <p:nvPr/>
        </p:nvSpPr>
        <p:spPr>
          <a:xfrm>
            <a:off x="457200" y="3233674"/>
            <a:ext cx="11274552" cy="466217"/>
          </a:xfrm>
          <a:prstGeom prst="roundRect">
            <a:avLst>
              <a:gd name="adj" fmla="val 12000"/>
            </a:avLst>
          </a:prstGeom>
          <a:noFill/>
          <a:ln w="12700">
            <a:solidFill>
              <a:srgbClr val="D5DAE5"/>
            </a:solidFill>
          </a:ln>
        </p:spPr>
        <p:txBody>
          <a:bodyPr rtlCol="0" anchor="ctr"/>
          <a:lstStyle/>
          <a:p>
            <a:pPr algn="ctr"/>
          </a:p>
        </p:txBody>
      </p:sp>
      <p:sp>
        <p:nvSpPr>
          <p:cNvPr id="10" name="q_1"/>
          <p:cNvSpPr txBox="1"/>
          <p:nvPr/>
        </p:nvSpPr>
        <p:spPr>
          <a:xfrm>
            <a:off x="502920" y="3233674"/>
            <a:ext cx="9171432" cy="466217"/>
          </a:xfrm>
          <a:prstGeom prst="rect">
            <a:avLst/>
          </a:prstGeom>
          <a:noFill/>
        </p:spPr>
        <p:txBody>
          <a:bodyPr wrap="square" lIns="109728" tIns="45720" rIns="109728" bIns="45720" anchor="ctr" rtlCol="0">
            <a:noAutofit/>
          </a:bodyPr>
          <a:lstStyle/>
          <a:p>
            <a:pPr algn="l">
              <a:lnSpc>
                <a:spcPts val="2375"/>
              </a:lnSpc>
              <a:spcBef>
                <a:spcPts val="0"/>
              </a:spcBef>
              <a:spcAft>
                <a:spcPts val="0"/>
              </a:spcAft>
              <a:buNone/>
            </a:pPr>
            <a:r>
              <a:rPr lang="en-US" altLang="en-US" sz="1900" b="1" dirty="0">
                <a:solidFill>
                  <a:srgbClr val="1E2A5A"/>
                </a:solidFill>
                <a:latin typeface="Calibri"/>
                <a:ea typeface="맑은 고딕"/>
                <a:cs typeface="Calibri"/>
              </a:rPr>
              <a:t>31.  </a:t>
            </a:r>
            <a:r>
              <a:rPr lang="ko-KR" altLang="en-US" sz="1900" b="0" dirty="0">
                <a:solidFill>
                  <a:srgbClr val="1F2328"/>
                </a:solidFill>
                <a:latin typeface="맑은 고딕"/>
                <a:ea typeface="맑은 고딕"/>
                <a:cs typeface="맑은 고딕"/>
              </a:rPr>
              <a:t>빅데이터 덕분에 경찰은 범죄가 일어나기 전에 예측할 수 있다.</a:t>
            </a:r>
            <a:endParaRPr lang="ko-KR" sz="1900"/>
          </a:p>
        </p:txBody>
      </p:sp>
      <p:sp>
        <p:nvSpPr>
          <p:cNvPr id="11" name="tf_1"/>
          <p:cNvSpPr txBox="1"/>
          <p:nvPr/>
        </p:nvSpPr>
        <p:spPr>
          <a:xfrm>
            <a:off x="9765792" y="3233674"/>
            <a:ext cx="1828800" cy="466217"/>
          </a:xfrm>
          <a:prstGeom prst="rect">
            <a:avLst/>
          </a:prstGeom>
          <a:noFill/>
        </p:spPr>
        <p:txBody>
          <a:bodyPr wrap="square" lIns="18288" tIns="18288" rIns="18288" bIns="18288" anchor="ctr" rtlCol="0">
            <a:noAutofit/>
          </a:bodyPr>
          <a:lstStyle/>
          <a:p>
            <a:pPr algn="ctr">
              <a:lnSpc>
                <a:spcPts val="2375"/>
              </a:lnSpc>
              <a:spcBef>
                <a:spcPts val="0"/>
              </a:spcBef>
              <a:spcAft>
                <a:spcPts val="0"/>
              </a:spcAft>
              <a:buNone/>
            </a:pPr>
            <a:r>
              <a:rPr lang="en-US" altLang="en-US" sz="1900" b="1" dirty="0">
                <a:solidFill>
                  <a:srgbClr val="9AA3B5"/>
                </a:solidFill>
                <a:latin typeface="Calibri"/>
                <a:ea typeface="맑은 고딕"/>
                <a:cs typeface="Calibri"/>
              </a:rPr>
              <a:t>T   /   F</a:t>
            </a:r>
            <a:endParaRPr lang="ko-KR" sz="1900"/>
          </a:p>
        </p:txBody>
      </p:sp>
      <p:sp>
        <p:nvSpPr>
          <p:cNvPr id="12" name="rv_ans_1"/>
          <p:cNvSpPr/>
          <p:nvPr/>
        </p:nvSpPr>
        <p:spPr>
          <a:xfrm>
            <a:off x="9765792" y="3279393"/>
            <a:ext cx="1828800" cy="374777"/>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640"/>
              </a:lnSpc>
              <a:spcBef>
                <a:spcPts val="0"/>
              </a:spcBef>
              <a:spcAft>
                <a:spcPts val="0"/>
              </a:spcAft>
              <a:buNone/>
            </a:pPr>
            <a:r>
              <a:rPr lang="en-US" altLang="en-US" sz="2200" b="1" dirty="0">
                <a:solidFill>
                  <a:srgbClr val="C00000"/>
                </a:solidFill>
                <a:latin typeface="Calibri"/>
                <a:ea typeface="맑은 고딕"/>
                <a:cs typeface="Calibri"/>
              </a:rPr>
              <a:t>T</a:t>
            </a:r>
            <a:endParaRPr lang="ko-KR" sz="2200"/>
          </a:p>
        </p:txBody>
      </p:sp>
      <p:sp>
        <p:nvSpPr>
          <p:cNvPr id="13" name="q_card_2"/>
          <p:cNvSpPr/>
          <p:nvPr/>
        </p:nvSpPr>
        <p:spPr>
          <a:xfrm>
            <a:off x="457200" y="3773043"/>
            <a:ext cx="11274552" cy="466217"/>
          </a:xfrm>
          <a:prstGeom prst="roundRect">
            <a:avLst>
              <a:gd name="adj" fmla="val 12000"/>
            </a:avLst>
          </a:prstGeom>
          <a:noFill/>
          <a:ln w="12700">
            <a:solidFill>
              <a:srgbClr val="D5DAE5"/>
            </a:solidFill>
          </a:ln>
        </p:spPr>
        <p:txBody>
          <a:bodyPr rtlCol="0" anchor="ctr"/>
          <a:lstStyle/>
          <a:p>
            <a:pPr algn="ctr"/>
          </a:p>
        </p:txBody>
      </p:sp>
      <p:sp>
        <p:nvSpPr>
          <p:cNvPr id="14" name="q_2"/>
          <p:cNvSpPr txBox="1"/>
          <p:nvPr/>
        </p:nvSpPr>
        <p:spPr>
          <a:xfrm>
            <a:off x="502920" y="3773043"/>
            <a:ext cx="9171432" cy="466217"/>
          </a:xfrm>
          <a:prstGeom prst="rect">
            <a:avLst/>
          </a:prstGeom>
          <a:noFill/>
        </p:spPr>
        <p:txBody>
          <a:bodyPr wrap="square" lIns="109728" tIns="45720" rIns="109728" bIns="45720" anchor="ctr" rtlCol="0">
            <a:noAutofit/>
          </a:bodyPr>
          <a:lstStyle/>
          <a:p>
            <a:pPr algn="l">
              <a:lnSpc>
                <a:spcPts val="2375"/>
              </a:lnSpc>
              <a:spcBef>
                <a:spcPts val="0"/>
              </a:spcBef>
              <a:spcAft>
                <a:spcPts val="0"/>
              </a:spcAft>
              <a:buNone/>
            </a:pPr>
            <a:r>
              <a:rPr lang="en-US" altLang="en-US" sz="1900" b="1" dirty="0">
                <a:solidFill>
                  <a:srgbClr val="1E2A5A"/>
                </a:solidFill>
                <a:latin typeface="Calibri"/>
                <a:ea typeface="맑은 고딕"/>
                <a:cs typeface="Calibri"/>
              </a:rPr>
              <a:t>32.  </a:t>
            </a:r>
            <a:r>
              <a:rPr lang="ko-KR" altLang="en-US" sz="1900" b="0" dirty="0">
                <a:solidFill>
                  <a:srgbClr val="1F2328"/>
                </a:solidFill>
                <a:latin typeface="맑은 고딕"/>
                <a:ea typeface="맑은 고딕"/>
                <a:cs typeface="맑은 고딕"/>
              </a:rPr>
              <a:t>경찰은 범죄의 유형, 시간, 장소에 관한 빅데이터를 분석한다.</a:t>
            </a:r>
            <a:endParaRPr lang="ko-KR" sz="1900"/>
          </a:p>
        </p:txBody>
      </p:sp>
      <p:sp>
        <p:nvSpPr>
          <p:cNvPr id="15" name="tf_2"/>
          <p:cNvSpPr txBox="1"/>
          <p:nvPr/>
        </p:nvSpPr>
        <p:spPr>
          <a:xfrm>
            <a:off x="9765792" y="3773043"/>
            <a:ext cx="1828800" cy="466217"/>
          </a:xfrm>
          <a:prstGeom prst="rect">
            <a:avLst/>
          </a:prstGeom>
          <a:noFill/>
        </p:spPr>
        <p:txBody>
          <a:bodyPr wrap="square" lIns="18288" tIns="18288" rIns="18288" bIns="18288" anchor="ctr" rtlCol="0">
            <a:noAutofit/>
          </a:bodyPr>
          <a:lstStyle/>
          <a:p>
            <a:pPr algn="ctr">
              <a:lnSpc>
                <a:spcPts val="2375"/>
              </a:lnSpc>
              <a:spcBef>
                <a:spcPts val="0"/>
              </a:spcBef>
              <a:spcAft>
                <a:spcPts val="0"/>
              </a:spcAft>
              <a:buNone/>
            </a:pPr>
            <a:r>
              <a:rPr lang="en-US" altLang="en-US" sz="1900" b="1" dirty="0">
                <a:solidFill>
                  <a:srgbClr val="9AA3B5"/>
                </a:solidFill>
                <a:latin typeface="Calibri"/>
                <a:ea typeface="맑은 고딕"/>
                <a:cs typeface="Calibri"/>
              </a:rPr>
              <a:t>T   /   F</a:t>
            </a:r>
            <a:endParaRPr lang="ko-KR" sz="1900"/>
          </a:p>
        </p:txBody>
      </p:sp>
      <p:sp>
        <p:nvSpPr>
          <p:cNvPr id="16" name="rv_ans_2"/>
          <p:cNvSpPr/>
          <p:nvPr/>
        </p:nvSpPr>
        <p:spPr>
          <a:xfrm>
            <a:off x="9765792" y="3818762"/>
            <a:ext cx="1828800" cy="374777"/>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640"/>
              </a:lnSpc>
              <a:spcBef>
                <a:spcPts val="0"/>
              </a:spcBef>
              <a:spcAft>
                <a:spcPts val="0"/>
              </a:spcAft>
              <a:buNone/>
            </a:pPr>
            <a:r>
              <a:rPr lang="en-US" altLang="en-US" sz="2200" b="1" dirty="0">
                <a:solidFill>
                  <a:srgbClr val="C00000"/>
                </a:solidFill>
                <a:latin typeface="Calibri"/>
                <a:ea typeface="맑은 고딕"/>
                <a:cs typeface="Calibri"/>
              </a:rPr>
              <a:t>T</a:t>
            </a:r>
            <a:endParaRPr lang="ko-KR" sz="2200"/>
          </a:p>
        </p:txBody>
      </p:sp>
      <p:sp>
        <p:nvSpPr>
          <p:cNvPr id="17" name="q_card_3"/>
          <p:cNvSpPr/>
          <p:nvPr/>
        </p:nvSpPr>
        <p:spPr>
          <a:xfrm>
            <a:off x="457200" y="4312412"/>
            <a:ext cx="11274552" cy="466217"/>
          </a:xfrm>
          <a:prstGeom prst="roundRect">
            <a:avLst>
              <a:gd name="adj" fmla="val 12000"/>
            </a:avLst>
          </a:prstGeom>
          <a:noFill/>
          <a:ln w="12700">
            <a:solidFill>
              <a:srgbClr val="D5DAE5"/>
            </a:solidFill>
          </a:ln>
        </p:spPr>
        <p:txBody>
          <a:bodyPr rtlCol="0" anchor="ctr"/>
          <a:lstStyle/>
          <a:p>
            <a:pPr algn="ctr"/>
          </a:p>
        </p:txBody>
      </p:sp>
      <p:sp>
        <p:nvSpPr>
          <p:cNvPr id="18" name="q_3"/>
          <p:cNvSpPr txBox="1"/>
          <p:nvPr/>
        </p:nvSpPr>
        <p:spPr>
          <a:xfrm>
            <a:off x="502920" y="4312412"/>
            <a:ext cx="9171432" cy="466217"/>
          </a:xfrm>
          <a:prstGeom prst="rect">
            <a:avLst/>
          </a:prstGeom>
          <a:noFill/>
        </p:spPr>
        <p:txBody>
          <a:bodyPr wrap="square" lIns="109728" tIns="45720" rIns="109728" bIns="45720" anchor="ctr" rtlCol="0">
            <a:noAutofit/>
          </a:bodyPr>
          <a:lstStyle/>
          <a:p>
            <a:pPr algn="l">
              <a:lnSpc>
                <a:spcPts val="2375"/>
              </a:lnSpc>
              <a:spcBef>
                <a:spcPts val="0"/>
              </a:spcBef>
              <a:spcAft>
                <a:spcPts val="0"/>
              </a:spcAft>
              <a:buNone/>
            </a:pPr>
            <a:r>
              <a:rPr lang="en-US" altLang="en-US" sz="1900" b="1" dirty="0">
                <a:solidFill>
                  <a:srgbClr val="1E2A5A"/>
                </a:solidFill>
                <a:latin typeface="Calibri"/>
                <a:ea typeface="맑은 고딕"/>
                <a:cs typeface="Calibri"/>
              </a:rPr>
              <a:t>33.  </a:t>
            </a:r>
            <a:r>
              <a:rPr lang="ko-KR" altLang="en-US" sz="1900" b="0" dirty="0">
                <a:solidFill>
                  <a:srgbClr val="1F2328"/>
                </a:solidFill>
                <a:latin typeface="맑은 고딕"/>
                <a:ea typeface="맑은 고딕"/>
                <a:cs typeface="맑은 고딕"/>
              </a:rPr>
              <a:t>경찰은 범죄 피해자의 나이만 분석해 지도를 만든다.</a:t>
            </a:r>
            <a:endParaRPr lang="ko-KR" sz="1900"/>
          </a:p>
        </p:txBody>
      </p:sp>
      <p:sp>
        <p:nvSpPr>
          <p:cNvPr id="19" name="tf_3"/>
          <p:cNvSpPr txBox="1"/>
          <p:nvPr/>
        </p:nvSpPr>
        <p:spPr>
          <a:xfrm>
            <a:off x="9765792" y="4312412"/>
            <a:ext cx="1828800" cy="466217"/>
          </a:xfrm>
          <a:prstGeom prst="rect">
            <a:avLst/>
          </a:prstGeom>
          <a:noFill/>
        </p:spPr>
        <p:txBody>
          <a:bodyPr wrap="square" lIns="18288" tIns="18288" rIns="18288" bIns="18288" anchor="ctr" rtlCol="0">
            <a:noAutofit/>
          </a:bodyPr>
          <a:lstStyle/>
          <a:p>
            <a:pPr algn="ctr">
              <a:lnSpc>
                <a:spcPts val="2375"/>
              </a:lnSpc>
              <a:spcBef>
                <a:spcPts val="0"/>
              </a:spcBef>
              <a:spcAft>
                <a:spcPts val="0"/>
              </a:spcAft>
              <a:buNone/>
            </a:pPr>
            <a:r>
              <a:rPr lang="en-US" altLang="en-US" sz="1900" b="1" dirty="0">
                <a:solidFill>
                  <a:srgbClr val="9AA3B5"/>
                </a:solidFill>
                <a:latin typeface="Calibri"/>
                <a:ea typeface="맑은 고딕"/>
                <a:cs typeface="Calibri"/>
              </a:rPr>
              <a:t>T   /   F</a:t>
            </a:r>
            <a:endParaRPr lang="ko-KR" sz="1900"/>
          </a:p>
        </p:txBody>
      </p:sp>
      <p:sp>
        <p:nvSpPr>
          <p:cNvPr id="20" name="rv_ans_3"/>
          <p:cNvSpPr/>
          <p:nvPr/>
        </p:nvSpPr>
        <p:spPr>
          <a:xfrm>
            <a:off x="9765792" y="4358132"/>
            <a:ext cx="1828800" cy="374777"/>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640"/>
              </a:lnSpc>
              <a:spcBef>
                <a:spcPts val="0"/>
              </a:spcBef>
              <a:spcAft>
                <a:spcPts val="0"/>
              </a:spcAft>
              <a:buNone/>
            </a:pPr>
            <a:r>
              <a:rPr lang="en-US" altLang="en-US" sz="2200" b="1" dirty="0">
                <a:solidFill>
                  <a:srgbClr val="C00000"/>
                </a:solidFill>
                <a:latin typeface="Calibri"/>
                <a:ea typeface="맑은 고딕"/>
                <a:cs typeface="Calibri"/>
              </a:rPr>
              <a:t>F</a:t>
            </a:r>
            <a:endParaRPr lang="ko-KR" sz="2200"/>
          </a:p>
        </p:txBody>
      </p:sp>
      <p:sp>
        <p:nvSpPr>
          <p:cNvPr id="21" name="q_card_4"/>
          <p:cNvSpPr/>
          <p:nvPr/>
        </p:nvSpPr>
        <p:spPr>
          <a:xfrm>
            <a:off x="457200" y="4851781"/>
            <a:ext cx="11274552" cy="466217"/>
          </a:xfrm>
          <a:prstGeom prst="roundRect">
            <a:avLst>
              <a:gd name="adj" fmla="val 12000"/>
            </a:avLst>
          </a:prstGeom>
          <a:noFill/>
          <a:ln w="12700">
            <a:solidFill>
              <a:srgbClr val="D5DAE5"/>
            </a:solidFill>
          </a:ln>
        </p:spPr>
        <p:txBody>
          <a:bodyPr rtlCol="0" anchor="ctr"/>
          <a:lstStyle/>
          <a:p>
            <a:pPr algn="ctr"/>
          </a:p>
        </p:txBody>
      </p:sp>
      <p:sp>
        <p:nvSpPr>
          <p:cNvPr id="22" name="q_4"/>
          <p:cNvSpPr txBox="1"/>
          <p:nvPr/>
        </p:nvSpPr>
        <p:spPr>
          <a:xfrm>
            <a:off x="502920" y="4851781"/>
            <a:ext cx="9171432" cy="466217"/>
          </a:xfrm>
          <a:prstGeom prst="rect">
            <a:avLst/>
          </a:prstGeom>
          <a:noFill/>
        </p:spPr>
        <p:txBody>
          <a:bodyPr wrap="square" lIns="109728" tIns="45720" rIns="109728" bIns="45720" anchor="ctr" rtlCol="0">
            <a:noAutofit/>
          </a:bodyPr>
          <a:lstStyle/>
          <a:p>
            <a:pPr algn="l">
              <a:lnSpc>
                <a:spcPts val="2375"/>
              </a:lnSpc>
              <a:spcBef>
                <a:spcPts val="0"/>
              </a:spcBef>
              <a:spcAft>
                <a:spcPts val="0"/>
              </a:spcAft>
              <a:buNone/>
            </a:pPr>
            <a:r>
              <a:rPr lang="en-US" altLang="en-US" sz="1900" b="1" dirty="0">
                <a:solidFill>
                  <a:srgbClr val="1E2A5A"/>
                </a:solidFill>
                <a:latin typeface="Calibri"/>
                <a:ea typeface="맑은 고딕"/>
                <a:cs typeface="Calibri"/>
              </a:rPr>
              <a:t>34.  </a:t>
            </a:r>
            <a:r>
              <a:rPr lang="ko-KR" altLang="en-US" sz="1900" b="0" dirty="0">
                <a:solidFill>
                  <a:srgbClr val="1F2328"/>
                </a:solidFill>
                <a:latin typeface="맑은 고딕"/>
                <a:ea typeface="맑은 고딕"/>
                <a:cs typeface="맑은 고딕"/>
              </a:rPr>
              <a:t>경찰은 범죄 다발 지역의 지도를 만들 수 있다.</a:t>
            </a:r>
            <a:endParaRPr lang="ko-KR" sz="1900"/>
          </a:p>
        </p:txBody>
      </p:sp>
      <p:sp>
        <p:nvSpPr>
          <p:cNvPr id="23" name="tf_4"/>
          <p:cNvSpPr txBox="1"/>
          <p:nvPr/>
        </p:nvSpPr>
        <p:spPr>
          <a:xfrm>
            <a:off x="9765792" y="4851781"/>
            <a:ext cx="1828800" cy="466217"/>
          </a:xfrm>
          <a:prstGeom prst="rect">
            <a:avLst/>
          </a:prstGeom>
          <a:noFill/>
        </p:spPr>
        <p:txBody>
          <a:bodyPr wrap="square" lIns="18288" tIns="18288" rIns="18288" bIns="18288" anchor="ctr" rtlCol="0">
            <a:noAutofit/>
          </a:bodyPr>
          <a:lstStyle/>
          <a:p>
            <a:pPr algn="ctr">
              <a:lnSpc>
                <a:spcPts val="2375"/>
              </a:lnSpc>
              <a:spcBef>
                <a:spcPts val="0"/>
              </a:spcBef>
              <a:spcAft>
                <a:spcPts val="0"/>
              </a:spcAft>
              <a:buNone/>
            </a:pPr>
            <a:r>
              <a:rPr lang="en-US" altLang="en-US" sz="1900" b="1" dirty="0">
                <a:solidFill>
                  <a:srgbClr val="9AA3B5"/>
                </a:solidFill>
                <a:latin typeface="Calibri"/>
                <a:ea typeface="맑은 고딕"/>
                <a:cs typeface="Calibri"/>
              </a:rPr>
              <a:t>T   /   F</a:t>
            </a:r>
            <a:endParaRPr lang="ko-KR" sz="1900"/>
          </a:p>
        </p:txBody>
      </p:sp>
      <p:sp>
        <p:nvSpPr>
          <p:cNvPr id="24" name="rv_ans_4"/>
          <p:cNvSpPr/>
          <p:nvPr/>
        </p:nvSpPr>
        <p:spPr>
          <a:xfrm>
            <a:off x="9765792" y="4897501"/>
            <a:ext cx="1828800" cy="374777"/>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640"/>
              </a:lnSpc>
              <a:spcBef>
                <a:spcPts val="0"/>
              </a:spcBef>
              <a:spcAft>
                <a:spcPts val="0"/>
              </a:spcAft>
              <a:buNone/>
            </a:pPr>
            <a:r>
              <a:rPr lang="en-US" altLang="en-US" sz="2200" b="1" dirty="0">
                <a:solidFill>
                  <a:srgbClr val="C00000"/>
                </a:solidFill>
                <a:latin typeface="Calibri"/>
                <a:ea typeface="맑은 고딕"/>
                <a:cs typeface="Calibri"/>
              </a:rPr>
              <a:t>T</a:t>
            </a:r>
            <a:endParaRPr lang="ko-KR" sz="2200"/>
          </a:p>
        </p:txBody>
      </p:sp>
      <p:sp>
        <p:nvSpPr>
          <p:cNvPr id="25" name="q_card_5"/>
          <p:cNvSpPr/>
          <p:nvPr/>
        </p:nvSpPr>
        <p:spPr>
          <a:xfrm>
            <a:off x="457200" y="5391150"/>
            <a:ext cx="11274552" cy="767842"/>
          </a:xfrm>
          <a:prstGeom prst="roundRect">
            <a:avLst>
              <a:gd name="adj" fmla="val 12000"/>
            </a:avLst>
          </a:prstGeom>
          <a:noFill/>
          <a:ln w="12700">
            <a:solidFill>
              <a:srgbClr val="D5DAE5"/>
            </a:solidFill>
          </a:ln>
        </p:spPr>
        <p:txBody>
          <a:bodyPr rtlCol="0" anchor="ctr"/>
          <a:lstStyle/>
          <a:p>
            <a:pPr algn="ctr"/>
          </a:p>
        </p:txBody>
      </p:sp>
      <p:sp>
        <p:nvSpPr>
          <p:cNvPr id="26" name="q_5"/>
          <p:cNvSpPr txBox="1"/>
          <p:nvPr/>
        </p:nvSpPr>
        <p:spPr>
          <a:xfrm>
            <a:off x="502920" y="5391150"/>
            <a:ext cx="9171432" cy="767842"/>
          </a:xfrm>
          <a:prstGeom prst="rect">
            <a:avLst/>
          </a:prstGeom>
          <a:noFill/>
        </p:spPr>
        <p:txBody>
          <a:bodyPr wrap="square" lIns="109728" tIns="45720" rIns="109728" bIns="45720" anchor="ctr" rtlCol="0">
            <a:noAutofit/>
          </a:bodyPr>
          <a:lstStyle/>
          <a:p>
            <a:pPr algn="l">
              <a:lnSpc>
                <a:spcPts val="2375"/>
              </a:lnSpc>
              <a:spcBef>
                <a:spcPts val="0"/>
              </a:spcBef>
              <a:spcAft>
                <a:spcPts val="0"/>
              </a:spcAft>
              <a:buNone/>
            </a:pPr>
            <a:r>
              <a:rPr lang="en-US" altLang="en-US" sz="1900" b="1" dirty="0">
                <a:solidFill>
                  <a:srgbClr val="1E2A5A"/>
                </a:solidFill>
                <a:latin typeface="Calibri"/>
                <a:ea typeface="맑은 고딕"/>
                <a:cs typeface="Calibri"/>
              </a:rPr>
              <a:t>35.  </a:t>
            </a:r>
            <a:r>
              <a:rPr lang="ko-KR" altLang="en-US" sz="1900" b="0" dirty="0">
                <a:solidFill>
                  <a:srgbClr val="1F2328"/>
                </a:solidFill>
                <a:latin typeface="맑은 고딕"/>
                <a:ea typeface="맑은 고딕"/>
                <a:cs typeface="맑은 고딕"/>
              </a:rPr>
              <a:t>이 지도는 범죄가 언제, 어디에서 가장 일어날 것 같은지 알려 준다.</a:t>
            </a:r>
            <a:endParaRPr lang="ko-KR" sz="1900"/>
          </a:p>
        </p:txBody>
      </p:sp>
      <p:sp>
        <p:nvSpPr>
          <p:cNvPr id="27" name="tf_5"/>
          <p:cNvSpPr txBox="1"/>
          <p:nvPr/>
        </p:nvSpPr>
        <p:spPr>
          <a:xfrm>
            <a:off x="9765792" y="5391150"/>
            <a:ext cx="1828800" cy="767842"/>
          </a:xfrm>
          <a:prstGeom prst="rect">
            <a:avLst/>
          </a:prstGeom>
          <a:noFill/>
        </p:spPr>
        <p:txBody>
          <a:bodyPr wrap="square" lIns="18288" tIns="18288" rIns="18288" bIns="18288" anchor="ctr" rtlCol="0">
            <a:noAutofit/>
          </a:bodyPr>
          <a:lstStyle/>
          <a:p>
            <a:pPr algn="ctr">
              <a:lnSpc>
                <a:spcPts val="2375"/>
              </a:lnSpc>
              <a:spcBef>
                <a:spcPts val="0"/>
              </a:spcBef>
              <a:spcAft>
                <a:spcPts val="0"/>
              </a:spcAft>
              <a:buNone/>
            </a:pPr>
            <a:r>
              <a:rPr lang="en-US" altLang="en-US" sz="1900" b="1" dirty="0">
                <a:solidFill>
                  <a:srgbClr val="9AA3B5"/>
                </a:solidFill>
                <a:latin typeface="Calibri"/>
                <a:ea typeface="맑은 고딕"/>
                <a:cs typeface="Calibri"/>
              </a:rPr>
              <a:t>T   /   F</a:t>
            </a:r>
            <a:endParaRPr lang="ko-KR" sz="1900"/>
          </a:p>
        </p:txBody>
      </p:sp>
      <p:sp>
        <p:nvSpPr>
          <p:cNvPr id="28" name="rv_ans_5"/>
          <p:cNvSpPr/>
          <p:nvPr/>
        </p:nvSpPr>
        <p:spPr>
          <a:xfrm>
            <a:off x="9765792" y="5436870"/>
            <a:ext cx="1828800" cy="676402"/>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640"/>
              </a:lnSpc>
              <a:spcBef>
                <a:spcPts val="0"/>
              </a:spcBef>
              <a:spcAft>
                <a:spcPts val="0"/>
              </a:spcAft>
              <a:buNone/>
            </a:pPr>
            <a:r>
              <a:rPr lang="en-US" altLang="en-US" sz="2200" b="1" dirty="0">
                <a:solidFill>
                  <a:srgbClr val="C00000"/>
                </a:solidFill>
                <a:latin typeface="Calibri"/>
                <a:ea typeface="맑은 고딕"/>
                <a:cs typeface="Calibri"/>
              </a:rPr>
              <a:t>T</a:t>
            </a:r>
            <a:endParaRPr lang="ko-KR" sz="22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25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250"/>
                                        <p:tgtEl>
                                          <p:spTgt spid="1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0"/>
                                        </p:tgtEl>
                                        <p:attrNameLst>
                                          <p:attrName>style.visibility</p:attrName>
                                        </p:attrNameLst>
                                      </p:cBhvr>
                                      <p:to>
                                        <p:strVal val="visible"/>
                                      </p:to>
                                    </p:set>
                                    <p:animEffect transition="in" filter="fade">
                                      <p:cBhvr>
                                        <p:cTn id="13" dur="250"/>
                                        <p:tgtEl>
                                          <p:spTgt spid="20"/>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4"/>
                                        </p:tgtEl>
                                        <p:attrNameLst>
                                          <p:attrName>style.visibility</p:attrName>
                                        </p:attrNameLst>
                                      </p:cBhvr>
                                      <p:to>
                                        <p:strVal val="visible"/>
                                      </p:to>
                                    </p:set>
                                    <p:animEffect transition="in" filter="fade">
                                      <p:cBhvr>
                                        <p:cTn id="16" dur="250"/>
                                        <p:tgtEl>
                                          <p:spTgt spid="24"/>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8"/>
                                        </p:tgtEl>
                                        <p:attrNameLst>
                                          <p:attrName>style.visibility</p:attrName>
                                        </p:attrNameLst>
                                      </p:cBhvr>
                                      <p:to>
                                        <p:strVal val="visible"/>
                                      </p:to>
                                    </p:set>
                                    <p:animEffect transition="in" filter="fade">
                                      <p:cBhvr>
                                        <p:cTn id="19" dur="25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6" grpId="0" animBg="1"/>
      <p:bldP spid="20" grpId="0" animBg="1"/>
      <p:bldP spid="24" grpId="0" animBg="1"/>
      <p:bldP spid="28" grpId="0" animBg="1"/>
    </p:bldLst>
  </p:timing>
</p:sld>
</file>

<file path=ppt/slides/slide2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8000"/>
            </a:avLst>
          </a:prstGeom>
          <a:solidFill>
            <a:srgbClr val="1E2A5A"/>
          </a:solidFill>
          <a:ln>
            <a:noFill/>
          </a:ln>
        </p:spPr>
        <p:txBody>
          <a:bodyPr wrap="square" lIns="45720" tIns="18288" rIns="45720" bIns="18288" anchor="ctr" rtlCol="0">
            <a:noAutofit/>
          </a:bodyPr>
          <a:lstStyle/>
          <a:p>
            <a:pPr algn="ctr">
              <a:lnSpc>
                <a:spcPts val="2000"/>
              </a:lnSpc>
              <a:spcBef>
                <a:spcPts val="0"/>
              </a:spcBef>
              <a:spcAft>
                <a:spcPts val="0"/>
              </a:spcAft>
              <a:buNone/>
            </a:pPr>
            <a:r>
              <a:rPr lang="en-US" altLang="en-US" sz="1700" b="1" dirty="0">
                <a:solidFill>
                  <a:srgbClr val="FFFFFF"/>
                </a:solidFill>
                <a:latin typeface="Calibri"/>
                <a:ea typeface="맑은 고딕"/>
                <a:cs typeface="Calibri"/>
              </a:rPr>
              <a:t>L7-4</a:t>
            </a:r>
            <a:endParaRPr lang="ko-KR" sz="1700"/>
          </a:p>
        </p:txBody>
      </p:sp>
      <p:sp>
        <p:nvSpPr>
          <p:cNvPr id="3" name="hdr_chip"/>
          <p:cNvSpPr/>
          <p:nvPr/>
        </p:nvSpPr>
        <p:spPr>
          <a:xfrm>
            <a:off x="1755648" y="274320"/>
            <a:ext cx="1371600" cy="493776"/>
          </a:xfrm>
          <a:prstGeom prst="roundRect">
            <a:avLst>
              <a:gd name="adj" fmla="val 8000"/>
            </a:avLst>
          </a:prstGeom>
          <a:solidFill>
            <a:srgbClr val="E6EAF4"/>
          </a:solidFill>
          <a:ln>
            <a:noFill/>
          </a:ln>
        </p:spPr>
        <p:txBody>
          <a:bodyPr wrap="square" lIns="27432" tIns="18288" rIns="27432" bIns="18288" anchor="ctr" rtlCol="0">
            <a:noAutofit/>
          </a:bodyPr>
          <a:lstStyle/>
          <a:p>
            <a:pPr algn="ctr">
              <a:lnSpc>
                <a:spcPts val="1700"/>
              </a:lnSpc>
              <a:spcBef>
                <a:spcPts val="0"/>
              </a:spcBef>
              <a:spcAft>
                <a:spcPts val="0"/>
              </a:spcAft>
              <a:buNone/>
            </a:pPr>
            <a:r>
              <a:rPr lang="ko-KR" altLang="en-US" sz="1400" b="1" dirty="0">
                <a:solidFill>
                  <a:srgbClr val="1E2A5A"/>
                </a:solidFill>
                <a:latin typeface="맑은 고딕"/>
                <a:ea typeface="맑은 고딕"/>
                <a:cs typeface="맑은 고딕"/>
              </a:rPr>
              <a:t>PART 4 · 8</a:t>
            </a:r>
            <a:endParaRPr lang="ko-KR" sz="1400"/>
          </a:p>
        </p:txBody>
      </p:sp>
      <p:sp>
        <p:nvSpPr>
          <p:cNvPr id="4" name="hdr_q"/>
          <p:cNvSpPr txBox="1"/>
          <p:nvPr/>
        </p:nvSpPr>
        <p:spPr>
          <a:xfrm>
            <a:off x="3246120" y="246888"/>
            <a:ext cx="8485632" cy="548640"/>
          </a:xfrm>
          <a:prstGeom prst="rect">
            <a:avLst/>
          </a:prstGeom>
          <a:noFill/>
        </p:spPr>
        <p:txBody>
          <a:bodyPr wrap="square" lIns="109728" tIns="54864" rIns="109728" bIns="54864" anchor="ctr" rtlCol="0">
            <a:noAutofit/>
          </a:bodyPr>
          <a:lstStyle/>
          <a:p>
            <a:pPr algn="l">
              <a:lnSpc>
                <a:spcPts val="2400"/>
              </a:lnSpc>
              <a:spcBef>
                <a:spcPts val="0"/>
              </a:spcBef>
              <a:spcAft>
                <a:spcPts val="0"/>
              </a:spcAft>
              <a:buNone/>
            </a:pPr>
            <a:r>
              <a:rPr lang="ko-KR" altLang="en-US" sz="2000" b="1" dirty="0">
                <a:solidFill>
                  <a:srgbClr val="1F2328"/>
                </a:solidFill>
                <a:latin typeface="맑은 고딕"/>
                <a:ea typeface="맑은 고딕"/>
                <a:cs typeface="맑은 고딕"/>
              </a:rPr>
              <a:t>본문과 일치하면 T, 일치하지 않으면 F를 고르시오.</a:t>
            </a:r>
            <a:endParaRPr lang="ko-KR" sz="2000"/>
          </a:p>
        </p:txBody>
      </p:sp>
      <p:sp>
        <p:nvSpPr>
          <p:cNvPr id="5" name="ftr_exam"/>
          <p:cNvSpPr txBox="1"/>
          <p:nvPr/>
        </p:nvSpPr>
        <p:spPr>
          <a:xfrm>
            <a:off x="457200" y="6519672"/>
            <a:ext cx="5669280" cy="256032"/>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7</a:t>
            </a:r>
            <a:endParaRPr lang="ko-KR" sz="1000"/>
          </a:p>
        </p:txBody>
      </p:sp>
      <p:sp>
        <p:nvSpPr>
          <p:cNvPr id="6" name="ftr_hint"/>
          <p:cNvSpPr txBox="1"/>
          <p:nvPr/>
        </p:nvSpPr>
        <p:spPr>
          <a:xfrm>
            <a:off x="5971032" y="6519672"/>
            <a:ext cx="5760720" cy="256032"/>
          </a:xfrm>
          <a:prstGeom prst="rect">
            <a:avLst/>
          </a:prstGeom>
          <a:noFill/>
        </p:spPr>
        <p:txBody>
          <a:bodyPr wrap="square" lIns="0" tIns="0" rIns="0" bIns="0" anchor="t" rtlCol="0">
            <a:noAutofit/>
          </a:bodyPr>
          <a:lstStyle/>
          <a:p>
            <a:pPr algn="r">
              <a:lnSpc>
                <a:spcPts val="1200"/>
              </a:lnSpc>
              <a:spcBef>
                <a:spcPts val="0"/>
              </a:spcBef>
              <a:spcAft>
                <a:spcPts val="0"/>
              </a:spcAft>
              <a:buNone/>
            </a:pPr>
            <a:r>
              <a:rPr lang="ko-KR" altLang="en-US" sz="1000" b="0" dirty="0">
                <a:solidFill>
                  <a:srgbClr val="7A808C"/>
                </a:solidFill>
                <a:latin typeface="맑은 고딕"/>
                <a:ea typeface="맑은 고딕"/>
                <a:cs typeface="맑은 고딕"/>
              </a:rPr>
              <a:t>클릭 ① 정답(T/F) 공개</a:t>
            </a:r>
            <a:endParaRPr lang="ko-KR" sz="1000"/>
          </a:p>
        </p:txBody>
      </p:sp>
      <p:sp>
        <p:nvSpPr>
          <p:cNvPr id="7" name="passage_card"/>
          <p:cNvSpPr/>
          <p:nvPr/>
        </p:nvSpPr>
        <p:spPr>
          <a:xfrm>
            <a:off x="457200" y="950976"/>
            <a:ext cx="11274552" cy="2118105"/>
          </a:xfrm>
          <a:prstGeom prst="roundRect">
            <a:avLst>
              <a:gd name="adj" fmla="val 4000"/>
            </a:avLst>
          </a:prstGeom>
          <a:solidFill>
            <a:srgbClr val="F3F5F9"/>
          </a:solidFill>
          <a:ln w="12700">
            <a:solidFill>
              <a:srgbClr val="D9DFEA"/>
            </a:solidFill>
          </a:ln>
        </p:spPr>
        <p:txBody>
          <a:bodyPr rtlCol="0" anchor="ctr"/>
          <a:lstStyle/>
          <a:p>
            <a:pPr algn="ctr"/>
          </a:p>
        </p:txBody>
      </p:sp>
      <p:sp>
        <p:nvSpPr>
          <p:cNvPr id="8" name="passage"/>
          <p:cNvSpPr txBox="1"/>
          <p:nvPr/>
        </p:nvSpPr>
        <p:spPr>
          <a:xfrm>
            <a:off x="457200" y="950976"/>
            <a:ext cx="11274552" cy="2118105"/>
          </a:xfrm>
          <a:prstGeom prst="rect">
            <a:avLst/>
          </a:prstGeom>
          <a:noFill/>
        </p:spPr>
        <p:txBody>
          <a:bodyPr wrap="square" lIns="182880" tIns="137160" rIns="182880" bIns="137160" anchor="t" rtlCol="0">
            <a:noAutofit/>
          </a:bodyPr>
          <a:lstStyle/>
          <a:p>
            <a:pPr algn="l">
              <a:lnSpc>
                <a:spcPts val="2074"/>
              </a:lnSpc>
              <a:spcBef>
                <a:spcPts val="0"/>
              </a:spcBef>
              <a:spcAft>
                <a:spcPts val="0"/>
              </a:spcAft>
              <a:buNone/>
            </a:pPr>
            <a:r>
              <a:rPr lang="en-US" altLang="en-US" sz="1700" b="1" dirty="0">
                <a:solidFill>
                  <a:srgbClr val="1E2A5A"/>
                </a:solidFill>
                <a:latin typeface="Calibri"/>
                <a:ea typeface="맑은 고딕"/>
                <a:cs typeface="Calibri"/>
              </a:rPr>
              <a:t>24. </a:t>
            </a:r>
            <a:r>
              <a:rPr lang="en-US" altLang="en-US" sz="1700" b="0" dirty="0">
                <a:solidFill>
                  <a:srgbClr val="1F2328"/>
                </a:solidFill>
                <a:latin typeface="Calibri"/>
                <a:ea typeface="맑은 고딕"/>
                <a:cs typeface="Calibri"/>
              </a:rPr>
              <a:t>Thanks to big data, police can now predict crime before it happens. </a:t>
            </a:r>
            <a:r>
              <a:rPr lang="en-US" altLang="en-US" sz="1700" b="1" dirty="0">
                <a:solidFill>
                  <a:srgbClr val="1E2A5A"/>
                </a:solidFill>
                <a:latin typeface="Calibri"/>
                <a:ea typeface="맑은 고딕"/>
                <a:cs typeface="Calibri"/>
              </a:rPr>
              <a:t>25. </a:t>
            </a:r>
            <a:r>
              <a:rPr lang="en-US" altLang="en-US" sz="1700" b="0" dirty="0">
                <a:solidFill>
                  <a:srgbClr val="1F2328"/>
                </a:solidFill>
                <a:latin typeface="Calibri"/>
                <a:ea typeface="맑은 고딕"/>
                <a:cs typeface="Calibri"/>
              </a:rPr>
              <a:t>Through the analysis of big data about the type, time and place of crime, police can make a map of crime hot spots. </a:t>
            </a:r>
            <a:r>
              <a:rPr lang="en-US" altLang="en-US" sz="1700" b="1" dirty="0">
                <a:solidFill>
                  <a:srgbClr val="1E2A5A"/>
                </a:solidFill>
                <a:latin typeface="Calibri"/>
                <a:ea typeface="맑은 고딕"/>
                <a:cs typeface="Calibri"/>
              </a:rPr>
              <a:t>26. </a:t>
            </a:r>
            <a:r>
              <a:rPr lang="en-US" altLang="en-US" sz="1700" b="0" dirty="0">
                <a:solidFill>
                  <a:srgbClr val="1F2328"/>
                </a:solidFill>
                <a:latin typeface="Calibri"/>
                <a:ea typeface="맑은 고딕"/>
                <a:cs typeface="Calibri"/>
              </a:rPr>
              <a:t>This map identifies when and where crime is most likely to happen. </a:t>
            </a:r>
            <a:r>
              <a:rPr lang="en-US" altLang="en-US" sz="1700" b="1" dirty="0">
                <a:solidFill>
                  <a:srgbClr val="1E2A5A"/>
                </a:solidFill>
                <a:latin typeface="Calibri"/>
                <a:ea typeface="맑은 고딕"/>
                <a:cs typeface="Calibri"/>
              </a:rPr>
              <a:t>27. </a:t>
            </a:r>
            <a:r>
              <a:rPr lang="en-US" altLang="en-US" sz="1700" b="0" dirty="0">
                <a:solidFill>
                  <a:srgbClr val="1F2328"/>
                </a:solidFill>
                <a:latin typeface="Calibri"/>
                <a:ea typeface="맑은 고딕"/>
                <a:cs typeface="Calibri"/>
              </a:rPr>
              <a:t>Police can prevent further crime by focusing on the areas and the times this map predicts. </a:t>
            </a:r>
            <a:r>
              <a:rPr lang="en-US" altLang="en-US" sz="1700" b="1" dirty="0">
                <a:solidFill>
                  <a:srgbClr val="1E2A5A"/>
                </a:solidFill>
                <a:latin typeface="Calibri"/>
                <a:ea typeface="맑은 고딕"/>
                <a:cs typeface="Calibri"/>
              </a:rPr>
              <a:t>28. </a:t>
            </a:r>
            <a:r>
              <a:rPr lang="en-US" altLang="en-US" sz="1700" b="0" dirty="0">
                <a:solidFill>
                  <a:srgbClr val="1F2328"/>
                </a:solidFill>
                <a:latin typeface="Calibri"/>
                <a:ea typeface="맑은 고딕"/>
                <a:cs typeface="Calibri"/>
              </a:rPr>
              <a:t>Big data has already changed the world greatly. </a:t>
            </a:r>
            <a:r>
              <a:rPr lang="en-US" altLang="en-US" sz="1700" b="1" dirty="0">
                <a:solidFill>
                  <a:srgbClr val="1E2A5A"/>
                </a:solidFill>
                <a:latin typeface="Calibri"/>
                <a:ea typeface="맑은 고딕"/>
                <a:cs typeface="Calibri"/>
              </a:rPr>
              <a:t>29. </a:t>
            </a:r>
            <a:r>
              <a:rPr lang="en-US" altLang="en-US" sz="1700" b="0" dirty="0">
                <a:solidFill>
                  <a:srgbClr val="1F2328"/>
                </a:solidFill>
                <a:latin typeface="Calibri"/>
                <a:ea typeface="맑은 고딕"/>
                <a:cs typeface="Calibri"/>
              </a:rPr>
              <a:t>So where will the big data industry go from here? </a:t>
            </a:r>
            <a:r>
              <a:rPr lang="en-US" altLang="en-US" sz="1700" b="1" dirty="0">
                <a:solidFill>
                  <a:srgbClr val="1E2A5A"/>
                </a:solidFill>
                <a:latin typeface="Calibri"/>
                <a:ea typeface="맑은 고딕"/>
                <a:cs typeface="Calibri"/>
              </a:rPr>
              <a:t>30. </a:t>
            </a:r>
            <a:r>
              <a:rPr lang="en-US" altLang="en-US" sz="1700" b="0" dirty="0">
                <a:solidFill>
                  <a:srgbClr val="1F2328"/>
                </a:solidFill>
                <a:latin typeface="Calibri"/>
                <a:ea typeface="맑은 고딕"/>
                <a:cs typeface="Calibri"/>
              </a:rPr>
              <a:t>Nobody knows for sure, but experts agree that big data will play a more and more important role in our lives. </a:t>
            </a:r>
            <a:endParaRPr lang="ko-KR" sz="1700"/>
          </a:p>
        </p:txBody>
      </p:sp>
      <p:sp>
        <p:nvSpPr>
          <p:cNvPr id="9" name="q_card_1"/>
          <p:cNvSpPr/>
          <p:nvPr/>
        </p:nvSpPr>
        <p:spPr>
          <a:xfrm>
            <a:off x="457200" y="3233674"/>
            <a:ext cx="11274552" cy="466217"/>
          </a:xfrm>
          <a:prstGeom prst="roundRect">
            <a:avLst>
              <a:gd name="adj" fmla="val 12000"/>
            </a:avLst>
          </a:prstGeom>
          <a:noFill/>
          <a:ln w="12700">
            <a:solidFill>
              <a:srgbClr val="D5DAE5"/>
            </a:solidFill>
          </a:ln>
        </p:spPr>
        <p:txBody>
          <a:bodyPr rtlCol="0" anchor="ctr"/>
          <a:lstStyle/>
          <a:p>
            <a:pPr algn="ctr"/>
          </a:p>
        </p:txBody>
      </p:sp>
      <p:sp>
        <p:nvSpPr>
          <p:cNvPr id="10" name="q_1"/>
          <p:cNvSpPr txBox="1"/>
          <p:nvPr/>
        </p:nvSpPr>
        <p:spPr>
          <a:xfrm>
            <a:off x="502920" y="3233674"/>
            <a:ext cx="9171432" cy="466217"/>
          </a:xfrm>
          <a:prstGeom prst="rect">
            <a:avLst/>
          </a:prstGeom>
          <a:noFill/>
        </p:spPr>
        <p:txBody>
          <a:bodyPr wrap="square" lIns="109728" tIns="45720" rIns="109728" bIns="45720" anchor="ctr" rtlCol="0">
            <a:noAutofit/>
          </a:bodyPr>
          <a:lstStyle/>
          <a:p>
            <a:pPr algn="l">
              <a:lnSpc>
                <a:spcPts val="2375"/>
              </a:lnSpc>
              <a:spcBef>
                <a:spcPts val="0"/>
              </a:spcBef>
              <a:spcAft>
                <a:spcPts val="0"/>
              </a:spcAft>
              <a:buNone/>
            </a:pPr>
            <a:r>
              <a:rPr lang="en-US" altLang="en-US" sz="1900" b="1" dirty="0">
                <a:solidFill>
                  <a:srgbClr val="1E2A5A"/>
                </a:solidFill>
                <a:latin typeface="Calibri"/>
                <a:ea typeface="맑은 고딕"/>
                <a:cs typeface="Calibri"/>
              </a:rPr>
              <a:t>36.  </a:t>
            </a:r>
            <a:r>
              <a:rPr lang="ko-KR" altLang="en-US" sz="1900" b="0" dirty="0">
                <a:solidFill>
                  <a:srgbClr val="1F2328"/>
                </a:solidFill>
                <a:latin typeface="맑은 고딕"/>
                <a:ea typeface="맑은 고딕"/>
                <a:cs typeface="맑은 고딕"/>
              </a:rPr>
              <a:t>경찰은 지도가 예측한 지역을 피해서 순찰한다.</a:t>
            </a:r>
            <a:endParaRPr lang="ko-KR" sz="1900"/>
          </a:p>
        </p:txBody>
      </p:sp>
      <p:sp>
        <p:nvSpPr>
          <p:cNvPr id="11" name="tf_1"/>
          <p:cNvSpPr txBox="1"/>
          <p:nvPr/>
        </p:nvSpPr>
        <p:spPr>
          <a:xfrm>
            <a:off x="9765792" y="3233674"/>
            <a:ext cx="1828800" cy="466217"/>
          </a:xfrm>
          <a:prstGeom prst="rect">
            <a:avLst/>
          </a:prstGeom>
          <a:noFill/>
        </p:spPr>
        <p:txBody>
          <a:bodyPr wrap="square" lIns="18288" tIns="18288" rIns="18288" bIns="18288" anchor="ctr" rtlCol="0">
            <a:noAutofit/>
          </a:bodyPr>
          <a:lstStyle/>
          <a:p>
            <a:pPr algn="ctr">
              <a:lnSpc>
                <a:spcPts val="2375"/>
              </a:lnSpc>
              <a:spcBef>
                <a:spcPts val="0"/>
              </a:spcBef>
              <a:spcAft>
                <a:spcPts val="0"/>
              </a:spcAft>
              <a:buNone/>
            </a:pPr>
            <a:r>
              <a:rPr lang="en-US" altLang="en-US" sz="1900" b="1" dirty="0">
                <a:solidFill>
                  <a:srgbClr val="9AA3B5"/>
                </a:solidFill>
                <a:latin typeface="Calibri"/>
                <a:ea typeface="맑은 고딕"/>
                <a:cs typeface="Calibri"/>
              </a:rPr>
              <a:t>T   /   F</a:t>
            </a:r>
            <a:endParaRPr lang="ko-KR" sz="1900"/>
          </a:p>
        </p:txBody>
      </p:sp>
      <p:sp>
        <p:nvSpPr>
          <p:cNvPr id="12" name="rv_ans_1"/>
          <p:cNvSpPr/>
          <p:nvPr/>
        </p:nvSpPr>
        <p:spPr>
          <a:xfrm>
            <a:off x="9765792" y="3279393"/>
            <a:ext cx="1828800" cy="374777"/>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640"/>
              </a:lnSpc>
              <a:spcBef>
                <a:spcPts val="0"/>
              </a:spcBef>
              <a:spcAft>
                <a:spcPts val="0"/>
              </a:spcAft>
              <a:buNone/>
            </a:pPr>
            <a:r>
              <a:rPr lang="en-US" altLang="en-US" sz="2200" b="1" dirty="0">
                <a:solidFill>
                  <a:srgbClr val="C00000"/>
                </a:solidFill>
                <a:latin typeface="Calibri"/>
                <a:ea typeface="맑은 고딕"/>
                <a:cs typeface="Calibri"/>
              </a:rPr>
              <a:t>F</a:t>
            </a:r>
            <a:endParaRPr lang="ko-KR" sz="2200"/>
          </a:p>
        </p:txBody>
      </p:sp>
      <p:sp>
        <p:nvSpPr>
          <p:cNvPr id="13" name="q_card_2"/>
          <p:cNvSpPr/>
          <p:nvPr/>
        </p:nvSpPr>
        <p:spPr>
          <a:xfrm>
            <a:off x="457200" y="3773043"/>
            <a:ext cx="11274552" cy="466217"/>
          </a:xfrm>
          <a:prstGeom prst="roundRect">
            <a:avLst>
              <a:gd name="adj" fmla="val 12000"/>
            </a:avLst>
          </a:prstGeom>
          <a:noFill/>
          <a:ln w="12700">
            <a:solidFill>
              <a:srgbClr val="D5DAE5"/>
            </a:solidFill>
          </a:ln>
        </p:spPr>
        <p:txBody>
          <a:bodyPr rtlCol="0" anchor="ctr"/>
          <a:lstStyle/>
          <a:p>
            <a:pPr algn="ctr"/>
          </a:p>
        </p:txBody>
      </p:sp>
      <p:sp>
        <p:nvSpPr>
          <p:cNvPr id="14" name="q_2"/>
          <p:cNvSpPr txBox="1"/>
          <p:nvPr/>
        </p:nvSpPr>
        <p:spPr>
          <a:xfrm>
            <a:off x="502920" y="3773043"/>
            <a:ext cx="9171432" cy="466217"/>
          </a:xfrm>
          <a:prstGeom prst="rect">
            <a:avLst/>
          </a:prstGeom>
          <a:noFill/>
        </p:spPr>
        <p:txBody>
          <a:bodyPr wrap="square" lIns="109728" tIns="45720" rIns="109728" bIns="45720" anchor="ctr" rtlCol="0">
            <a:noAutofit/>
          </a:bodyPr>
          <a:lstStyle/>
          <a:p>
            <a:pPr algn="l">
              <a:lnSpc>
                <a:spcPts val="2375"/>
              </a:lnSpc>
              <a:spcBef>
                <a:spcPts val="0"/>
              </a:spcBef>
              <a:spcAft>
                <a:spcPts val="0"/>
              </a:spcAft>
              <a:buNone/>
            </a:pPr>
            <a:r>
              <a:rPr lang="en-US" altLang="en-US" sz="1900" b="1" dirty="0">
                <a:solidFill>
                  <a:srgbClr val="1E2A5A"/>
                </a:solidFill>
                <a:latin typeface="Calibri"/>
                <a:ea typeface="맑은 고딕"/>
                <a:cs typeface="Calibri"/>
              </a:rPr>
              <a:t>37.  </a:t>
            </a:r>
            <a:r>
              <a:rPr lang="ko-KR" altLang="en-US" sz="1900" b="0" dirty="0">
                <a:solidFill>
                  <a:srgbClr val="1F2328"/>
                </a:solidFill>
                <a:latin typeface="맑은 고딕"/>
                <a:ea typeface="맑은 고딕"/>
                <a:cs typeface="맑은 고딕"/>
              </a:rPr>
              <a:t>빅데이터는 이미 세계를 크게 변화시켰다.</a:t>
            </a:r>
            <a:endParaRPr lang="ko-KR" sz="1900"/>
          </a:p>
        </p:txBody>
      </p:sp>
      <p:sp>
        <p:nvSpPr>
          <p:cNvPr id="15" name="tf_2"/>
          <p:cNvSpPr txBox="1"/>
          <p:nvPr/>
        </p:nvSpPr>
        <p:spPr>
          <a:xfrm>
            <a:off x="9765792" y="3773043"/>
            <a:ext cx="1828800" cy="466217"/>
          </a:xfrm>
          <a:prstGeom prst="rect">
            <a:avLst/>
          </a:prstGeom>
          <a:noFill/>
        </p:spPr>
        <p:txBody>
          <a:bodyPr wrap="square" lIns="18288" tIns="18288" rIns="18288" bIns="18288" anchor="ctr" rtlCol="0">
            <a:noAutofit/>
          </a:bodyPr>
          <a:lstStyle/>
          <a:p>
            <a:pPr algn="ctr">
              <a:lnSpc>
                <a:spcPts val="2375"/>
              </a:lnSpc>
              <a:spcBef>
                <a:spcPts val="0"/>
              </a:spcBef>
              <a:spcAft>
                <a:spcPts val="0"/>
              </a:spcAft>
              <a:buNone/>
            </a:pPr>
            <a:r>
              <a:rPr lang="en-US" altLang="en-US" sz="1900" b="1" dirty="0">
                <a:solidFill>
                  <a:srgbClr val="9AA3B5"/>
                </a:solidFill>
                <a:latin typeface="Calibri"/>
                <a:ea typeface="맑은 고딕"/>
                <a:cs typeface="Calibri"/>
              </a:rPr>
              <a:t>T   /   F</a:t>
            </a:r>
            <a:endParaRPr lang="ko-KR" sz="1900"/>
          </a:p>
        </p:txBody>
      </p:sp>
      <p:sp>
        <p:nvSpPr>
          <p:cNvPr id="16" name="rv_ans_2"/>
          <p:cNvSpPr/>
          <p:nvPr/>
        </p:nvSpPr>
        <p:spPr>
          <a:xfrm>
            <a:off x="9765792" y="3818762"/>
            <a:ext cx="1828800" cy="374777"/>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640"/>
              </a:lnSpc>
              <a:spcBef>
                <a:spcPts val="0"/>
              </a:spcBef>
              <a:spcAft>
                <a:spcPts val="0"/>
              </a:spcAft>
              <a:buNone/>
            </a:pPr>
            <a:r>
              <a:rPr lang="en-US" altLang="en-US" sz="2200" b="1" dirty="0">
                <a:solidFill>
                  <a:srgbClr val="C00000"/>
                </a:solidFill>
                <a:latin typeface="Calibri"/>
                <a:ea typeface="맑은 고딕"/>
                <a:cs typeface="Calibri"/>
              </a:rPr>
              <a:t>T</a:t>
            </a:r>
            <a:endParaRPr lang="ko-KR" sz="2200"/>
          </a:p>
        </p:txBody>
      </p:sp>
      <p:sp>
        <p:nvSpPr>
          <p:cNvPr id="17" name="q_card_3"/>
          <p:cNvSpPr/>
          <p:nvPr/>
        </p:nvSpPr>
        <p:spPr>
          <a:xfrm>
            <a:off x="457200" y="4312412"/>
            <a:ext cx="11274552" cy="466217"/>
          </a:xfrm>
          <a:prstGeom prst="roundRect">
            <a:avLst>
              <a:gd name="adj" fmla="val 12000"/>
            </a:avLst>
          </a:prstGeom>
          <a:noFill/>
          <a:ln w="12700">
            <a:solidFill>
              <a:srgbClr val="D5DAE5"/>
            </a:solidFill>
          </a:ln>
        </p:spPr>
        <p:txBody>
          <a:bodyPr rtlCol="0" anchor="ctr"/>
          <a:lstStyle/>
          <a:p>
            <a:pPr algn="ctr"/>
          </a:p>
        </p:txBody>
      </p:sp>
      <p:sp>
        <p:nvSpPr>
          <p:cNvPr id="18" name="q_3"/>
          <p:cNvSpPr txBox="1"/>
          <p:nvPr/>
        </p:nvSpPr>
        <p:spPr>
          <a:xfrm>
            <a:off x="502920" y="4312412"/>
            <a:ext cx="9171432" cy="466217"/>
          </a:xfrm>
          <a:prstGeom prst="rect">
            <a:avLst/>
          </a:prstGeom>
          <a:noFill/>
        </p:spPr>
        <p:txBody>
          <a:bodyPr wrap="square" lIns="109728" tIns="45720" rIns="109728" bIns="45720" anchor="ctr" rtlCol="0">
            <a:noAutofit/>
          </a:bodyPr>
          <a:lstStyle/>
          <a:p>
            <a:pPr algn="l">
              <a:lnSpc>
                <a:spcPts val="2375"/>
              </a:lnSpc>
              <a:spcBef>
                <a:spcPts val="0"/>
              </a:spcBef>
              <a:spcAft>
                <a:spcPts val="0"/>
              </a:spcAft>
              <a:buNone/>
            </a:pPr>
            <a:r>
              <a:rPr lang="en-US" altLang="en-US" sz="1900" b="1" dirty="0">
                <a:solidFill>
                  <a:srgbClr val="1E2A5A"/>
                </a:solidFill>
                <a:latin typeface="Calibri"/>
                <a:ea typeface="맑은 고딕"/>
                <a:cs typeface="Calibri"/>
              </a:rPr>
              <a:t>38.  </a:t>
            </a:r>
            <a:r>
              <a:rPr lang="ko-KR" altLang="en-US" sz="1900" b="0" dirty="0">
                <a:solidFill>
                  <a:srgbClr val="1F2328"/>
                </a:solidFill>
                <a:latin typeface="맑은 고딕"/>
                <a:ea typeface="맑은 고딕"/>
                <a:cs typeface="맑은 고딕"/>
              </a:rPr>
              <a:t>빅데이터 산업의 미래는 누구나 확실히 알고 있다.</a:t>
            </a:r>
            <a:endParaRPr lang="ko-KR" sz="1900"/>
          </a:p>
        </p:txBody>
      </p:sp>
      <p:sp>
        <p:nvSpPr>
          <p:cNvPr id="19" name="tf_3"/>
          <p:cNvSpPr txBox="1"/>
          <p:nvPr/>
        </p:nvSpPr>
        <p:spPr>
          <a:xfrm>
            <a:off x="9765792" y="4312412"/>
            <a:ext cx="1828800" cy="466217"/>
          </a:xfrm>
          <a:prstGeom prst="rect">
            <a:avLst/>
          </a:prstGeom>
          <a:noFill/>
        </p:spPr>
        <p:txBody>
          <a:bodyPr wrap="square" lIns="18288" tIns="18288" rIns="18288" bIns="18288" anchor="ctr" rtlCol="0">
            <a:noAutofit/>
          </a:bodyPr>
          <a:lstStyle/>
          <a:p>
            <a:pPr algn="ctr">
              <a:lnSpc>
                <a:spcPts val="2375"/>
              </a:lnSpc>
              <a:spcBef>
                <a:spcPts val="0"/>
              </a:spcBef>
              <a:spcAft>
                <a:spcPts val="0"/>
              </a:spcAft>
              <a:buNone/>
            </a:pPr>
            <a:r>
              <a:rPr lang="en-US" altLang="en-US" sz="1900" b="1" dirty="0">
                <a:solidFill>
                  <a:srgbClr val="9AA3B5"/>
                </a:solidFill>
                <a:latin typeface="Calibri"/>
                <a:ea typeface="맑은 고딕"/>
                <a:cs typeface="Calibri"/>
              </a:rPr>
              <a:t>T   /   F</a:t>
            </a:r>
            <a:endParaRPr lang="ko-KR" sz="1900"/>
          </a:p>
        </p:txBody>
      </p:sp>
      <p:sp>
        <p:nvSpPr>
          <p:cNvPr id="20" name="rv_ans_3"/>
          <p:cNvSpPr/>
          <p:nvPr/>
        </p:nvSpPr>
        <p:spPr>
          <a:xfrm>
            <a:off x="9765792" y="4358132"/>
            <a:ext cx="1828800" cy="374777"/>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640"/>
              </a:lnSpc>
              <a:spcBef>
                <a:spcPts val="0"/>
              </a:spcBef>
              <a:spcAft>
                <a:spcPts val="0"/>
              </a:spcAft>
              <a:buNone/>
            </a:pPr>
            <a:r>
              <a:rPr lang="en-US" altLang="en-US" sz="2200" b="1" dirty="0">
                <a:solidFill>
                  <a:srgbClr val="C00000"/>
                </a:solidFill>
                <a:latin typeface="Calibri"/>
                <a:ea typeface="맑은 고딕"/>
                <a:cs typeface="Calibri"/>
              </a:rPr>
              <a:t>F</a:t>
            </a:r>
            <a:endParaRPr lang="ko-KR" sz="2200"/>
          </a:p>
        </p:txBody>
      </p:sp>
      <p:sp>
        <p:nvSpPr>
          <p:cNvPr id="21" name="q_card_4"/>
          <p:cNvSpPr/>
          <p:nvPr/>
        </p:nvSpPr>
        <p:spPr>
          <a:xfrm>
            <a:off x="457200" y="4851781"/>
            <a:ext cx="11274552" cy="767842"/>
          </a:xfrm>
          <a:prstGeom prst="roundRect">
            <a:avLst>
              <a:gd name="adj" fmla="val 12000"/>
            </a:avLst>
          </a:prstGeom>
          <a:noFill/>
          <a:ln w="12700">
            <a:solidFill>
              <a:srgbClr val="D5DAE5"/>
            </a:solidFill>
          </a:ln>
        </p:spPr>
        <p:txBody>
          <a:bodyPr rtlCol="0" anchor="ctr"/>
          <a:lstStyle/>
          <a:p>
            <a:pPr algn="ctr"/>
          </a:p>
        </p:txBody>
      </p:sp>
      <p:sp>
        <p:nvSpPr>
          <p:cNvPr id="22" name="q_4"/>
          <p:cNvSpPr txBox="1"/>
          <p:nvPr/>
        </p:nvSpPr>
        <p:spPr>
          <a:xfrm>
            <a:off x="502920" y="4851781"/>
            <a:ext cx="9171432" cy="767842"/>
          </a:xfrm>
          <a:prstGeom prst="rect">
            <a:avLst/>
          </a:prstGeom>
          <a:noFill/>
        </p:spPr>
        <p:txBody>
          <a:bodyPr wrap="square" lIns="109728" tIns="45720" rIns="109728" bIns="45720" anchor="ctr" rtlCol="0">
            <a:noAutofit/>
          </a:bodyPr>
          <a:lstStyle/>
          <a:p>
            <a:pPr algn="l">
              <a:lnSpc>
                <a:spcPts val="2375"/>
              </a:lnSpc>
              <a:spcBef>
                <a:spcPts val="0"/>
              </a:spcBef>
              <a:spcAft>
                <a:spcPts val="0"/>
              </a:spcAft>
              <a:buNone/>
            </a:pPr>
            <a:r>
              <a:rPr lang="en-US" altLang="en-US" sz="1900" b="1" dirty="0">
                <a:solidFill>
                  <a:srgbClr val="1E2A5A"/>
                </a:solidFill>
                <a:latin typeface="Calibri"/>
                <a:ea typeface="맑은 고딕"/>
                <a:cs typeface="Calibri"/>
              </a:rPr>
              <a:t>39.  </a:t>
            </a:r>
            <a:r>
              <a:rPr lang="ko-KR" altLang="en-US" sz="1900" b="0" dirty="0">
                <a:solidFill>
                  <a:srgbClr val="1F2328"/>
                </a:solidFill>
                <a:latin typeface="맑은 고딕"/>
                <a:ea typeface="맑은 고딕"/>
                <a:cs typeface="맑은 고딕"/>
              </a:rPr>
              <a:t>전문가들은 빅데이터가 점점 더 중요한 역할을 할 것이라는 데 동의한다.</a:t>
            </a:r>
            <a:endParaRPr lang="ko-KR" sz="1900"/>
          </a:p>
        </p:txBody>
      </p:sp>
      <p:sp>
        <p:nvSpPr>
          <p:cNvPr id="23" name="tf_4"/>
          <p:cNvSpPr txBox="1"/>
          <p:nvPr/>
        </p:nvSpPr>
        <p:spPr>
          <a:xfrm>
            <a:off x="9765792" y="4851781"/>
            <a:ext cx="1828800" cy="767842"/>
          </a:xfrm>
          <a:prstGeom prst="rect">
            <a:avLst/>
          </a:prstGeom>
          <a:noFill/>
        </p:spPr>
        <p:txBody>
          <a:bodyPr wrap="square" lIns="18288" tIns="18288" rIns="18288" bIns="18288" anchor="ctr" rtlCol="0">
            <a:noAutofit/>
          </a:bodyPr>
          <a:lstStyle/>
          <a:p>
            <a:pPr algn="ctr">
              <a:lnSpc>
                <a:spcPts val="2375"/>
              </a:lnSpc>
              <a:spcBef>
                <a:spcPts val="0"/>
              </a:spcBef>
              <a:spcAft>
                <a:spcPts val="0"/>
              </a:spcAft>
              <a:buNone/>
            </a:pPr>
            <a:r>
              <a:rPr lang="en-US" altLang="en-US" sz="1900" b="1" dirty="0">
                <a:solidFill>
                  <a:srgbClr val="9AA3B5"/>
                </a:solidFill>
                <a:latin typeface="Calibri"/>
                <a:ea typeface="맑은 고딕"/>
                <a:cs typeface="Calibri"/>
              </a:rPr>
              <a:t>T   /   F</a:t>
            </a:r>
            <a:endParaRPr lang="ko-KR" sz="1900"/>
          </a:p>
        </p:txBody>
      </p:sp>
      <p:sp>
        <p:nvSpPr>
          <p:cNvPr id="24" name="rv_ans_4"/>
          <p:cNvSpPr/>
          <p:nvPr/>
        </p:nvSpPr>
        <p:spPr>
          <a:xfrm>
            <a:off x="9765792" y="4897501"/>
            <a:ext cx="1828800" cy="676402"/>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640"/>
              </a:lnSpc>
              <a:spcBef>
                <a:spcPts val="0"/>
              </a:spcBef>
              <a:spcAft>
                <a:spcPts val="0"/>
              </a:spcAft>
              <a:buNone/>
            </a:pPr>
            <a:r>
              <a:rPr lang="en-US" altLang="en-US" sz="2200" b="1" dirty="0">
                <a:solidFill>
                  <a:srgbClr val="C00000"/>
                </a:solidFill>
                <a:latin typeface="Calibri"/>
                <a:ea typeface="맑은 고딕"/>
                <a:cs typeface="Calibri"/>
              </a:rPr>
              <a:t>T</a:t>
            </a:r>
            <a:endParaRPr lang="ko-KR" sz="2200"/>
          </a:p>
        </p:txBody>
      </p:sp>
      <p:sp>
        <p:nvSpPr>
          <p:cNvPr id="25" name="q_card_5"/>
          <p:cNvSpPr/>
          <p:nvPr/>
        </p:nvSpPr>
        <p:spPr>
          <a:xfrm>
            <a:off x="457200" y="5692775"/>
            <a:ext cx="11274552" cy="466217"/>
          </a:xfrm>
          <a:prstGeom prst="roundRect">
            <a:avLst>
              <a:gd name="adj" fmla="val 12000"/>
            </a:avLst>
          </a:prstGeom>
          <a:noFill/>
          <a:ln w="12700">
            <a:solidFill>
              <a:srgbClr val="D5DAE5"/>
            </a:solidFill>
          </a:ln>
        </p:spPr>
        <p:txBody>
          <a:bodyPr rtlCol="0" anchor="ctr"/>
          <a:lstStyle/>
          <a:p>
            <a:pPr algn="ctr"/>
          </a:p>
        </p:txBody>
      </p:sp>
      <p:sp>
        <p:nvSpPr>
          <p:cNvPr id="26" name="q_5"/>
          <p:cNvSpPr txBox="1"/>
          <p:nvPr/>
        </p:nvSpPr>
        <p:spPr>
          <a:xfrm>
            <a:off x="502920" y="5692775"/>
            <a:ext cx="9171432" cy="466217"/>
          </a:xfrm>
          <a:prstGeom prst="rect">
            <a:avLst/>
          </a:prstGeom>
          <a:noFill/>
        </p:spPr>
        <p:txBody>
          <a:bodyPr wrap="square" lIns="109728" tIns="45720" rIns="109728" bIns="45720" anchor="ctr" rtlCol="0">
            <a:noAutofit/>
          </a:bodyPr>
          <a:lstStyle/>
          <a:p>
            <a:pPr algn="l">
              <a:lnSpc>
                <a:spcPts val="2375"/>
              </a:lnSpc>
              <a:spcBef>
                <a:spcPts val="0"/>
              </a:spcBef>
              <a:spcAft>
                <a:spcPts val="0"/>
              </a:spcAft>
              <a:buNone/>
            </a:pPr>
            <a:r>
              <a:rPr lang="en-US" altLang="en-US" sz="1900" b="1" dirty="0">
                <a:solidFill>
                  <a:srgbClr val="1E2A5A"/>
                </a:solidFill>
                <a:latin typeface="Calibri"/>
                <a:ea typeface="맑은 고딕"/>
                <a:cs typeface="Calibri"/>
              </a:rPr>
              <a:t>40.  </a:t>
            </a:r>
            <a:r>
              <a:rPr lang="ko-KR" altLang="en-US" sz="1900" b="0" dirty="0">
                <a:solidFill>
                  <a:srgbClr val="1F2328"/>
                </a:solidFill>
                <a:latin typeface="맑은 고딕"/>
                <a:ea typeface="맑은 고딕"/>
                <a:cs typeface="맑은 고딕"/>
              </a:rPr>
              <a:t>전문가들은 빅데이터의 역할이 앞으로 줄어들 것이라고 본다.</a:t>
            </a:r>
            <a:endParaRPr lang="ko-KR" sz="1900"/>
          </a:p>
        </p:txBody>
      </p:sp>
      <p:sp>
        <p:nvSpPr>
          <p:cNvPr id="27" name="tf_5"/>
          <p:cNvSpPr txBox="1"/>
          <p:nvPr/>
        </p:nvSpPr>
        <p:spPr>
          <a:xfrm>
            <a:off x="9765792" y="5692775"/>
            <a:ext cx="1828800" cy="466217"/>
          </a:xfrm>
          <a:prstGeom prst="rect">
            <a:avLst/>
          </a:prstGeom>
          <a:noFill/>
        </p:spPr>
        <p:txBody>
          <a:bodyPr wrap="square" lIns="18288" tIns="18288" rIns="18288" bIns="18288" anchor="ctr" rtlCol="0">
            <a:noAutofit/>
          </a:bodyPr>
          <a:lstStyle/>
          <a:p>
            <a:pPr algn="ctr">
              <a:lnSpc>
                <a:spcPts val="2375"/>
              </a:lnSpc>
              <a:spcBef>
                <a:spcPts val="0"/>
              </a:spcBef>
              <a:spcAft>
                <a:spcPts val="0"/>
              </a:spcAft>
              <a:buNone/>
            </a:pPr>
            <a:r>
              <a:rPr lang="en-US" altLang="en-US" sz="1900" b="1" dirty="0">
                <a:solidFill>
                  <a:srgbClr val="9AA3B5"/>
                </a:solidFill>
                <a:latin typeface="Calibri"/>
                <a:ea typeface="맑은 고딕"/>
                <a:cs typeface="Calibri"/>
              </a:rPr>
              <a:t>T   /   F</a:t>
            </a:r>
            <a:endParaRPr lang="ko-KR" sz="1900"/>
          </a:p>
        </p:txBody>
      </p:sp>
      <p:sp>
        <p:nvSpPr>
          <p:cNvPr id="28" name="rv_ans_5"/>
          <p:cNvSpPr/>
          <p:nvPr/>
        </p:nvSpPr>
        <p:spPr>
          <a:xfrm>
            <a:off x="9765792" y="5738495"/>
            <a:ext cx="1828800" cy="374777"/>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640"/>
              </a:lnSpc>
              <a:spcBef>
                <a:spcPts val="0"/>
              </a:spcBef>
              <a:spcAft>
                <a:spcPts val="0"/>
              </a:spcAft>
              <a:buNone/>
            </a:pPr>
            <a:r>
              <a:rPr lang="en-US" altLang="en-US" sz="2200" b="1" dirty="0">
                <a:solidFill>
                  <a:srgbClr val="C00000"/>
                </a:solidFill>
                <a:latin typeface="Calibri"/>
                <a:ea typeface="맑은 고딕"/>
                <a:cs typeface="Calibri"/>
              </a:rPr>
              <a:t>F</a:t>
            </a:r>
            <a:endParaRPr lang="ko-KR" sz="22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25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250"/>
                                        <p:tgtEl>
                                          <p:spTgt spid="1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0"/>
                                        </p:tgtEl>
                                        <p:attrNameLst>
                                          <p:attrName>style.visibility</p:attrName>
                                        </p:attrNameLst>
                                      </p:cBhvr>
                                      <p:to>
                                        <p:strVal val="visible"/>
                                      </p:to>
                                    </p:set>
                                    <p:animEffect transition="in" filter="fade">
                                      <p:cBhvr>
                                        <p:cTn id="13" dur="250"/>
                                        <p:tgtEl>
                                          <p:spTgt spid="20"/>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4"/>
                                        </p:tgtEl>
                                        <p:attrNameLst>
                                          <p:attrName>style.visibility</p:attrName>
                                        </p:attrNameLst>
                                      </p:cBhvr>
                                      <p:to>
                                        <p:strVal val="visible"/>
                                      </p:to>
                                    </p:set>
                                    <p:animEffect transition="in" filter="fade">
                                      <p:cBhvr>
                                        <p:cTn id="16" dur="250"/>
                                        <p:tgtEl>
                                          <p:spTgt spid="24"/>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8"/>
                                        </p:tgtEl>
                                        <p:attrNameLst>
                                          <p:attrName>style.visibility</p:attrName>
                                        </p:attrNameLst>
                                      </p:cBhvr>
                                      <p:to>
                                        <p:strVal val="visible"/>
                                      </p:to>
                                    </p:set>
                                    <p:animEffect transition="in" filter="fade">
                                      <p:cBhvr>
                                        <p:cTn id="19" dur="25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6" grpId="0" animBg="1"/>
      <p:bldP spid="20" grpId="0" animBg="1"/>
      <p:bldP spid="24" grpId="0" animBg="1"/>
      <p:bldP spid="28" grpId="0" animBg="1"/>
    </p:bldLst>
  </p:timing>
</p:sld>
</file>

<file path=ppt/slides/slide214.xml><?xml version="1.0" encoding="utf-8"?>
<p:sld xmlns:a="http://schemas.openxmlformats.org/drawingml/2006/main" xmlns:p="http://schemas.openxmlformats.org/presentationml/2006/main" xmlns:r="http://schemas.openxmlformats.org/officeDocument/2006/relationships">
  <p:cSld>
    <p:bg>
      <p:bgPr>
        <a:solidFill>
          <a:srgbClr val="1E2A5A"/>
        </a:solidFill>
        <a:effectLst/>
      </p:bgPr>
    </p:bg>
    <p:spTree>
      <p:nvGrpSpPr>
        <p:cNvPr id="1" name=""/>
        <p:cNvGrpSpPr/>
        <p:nvPr/>
      </p:nvGrpSpPr>
      <p:grpSpPr/>
      <p:sp>
        <p:nvSpPr>
          <p:cNvPr id="2" name="sec_title"/>
          <p:cNvSpPr txBox="1"/>
          <p:nvPr/>
        </p:nvSpPr>
        <p:spPr>
          <a:xfrm>
            <a:off x="822960" y="1371600"/>
            <a:ext cx="10515600" cy="868680"/>
          </a:xfrm>
          <a:prstGeom prst="rect">
            <a:avLst/>
          </a:prstGeom>
          <a:noFill/>
        </p:spPr>
        <p:txBody>
          <a:bodyPr wrap="square" lIns="109728" tIns="54864" rIns="109728" bIns="54864" anchor="t" rtlCol="0">
            <a:noAutofit/>
          </a:bodyPr>
          <a:lstStyle/>
          <a:p>
            <a:pPr algn="l">
              <a:lnSpc>
                <a:spcPts val="4800"/>
              </a:lnSpc>
              <a:spcBef>
                <a:spcPts val="0"/>
              </a:spcBef>
              <a:spcAft>
                <a:spcPts val="0"/>
              </a:spcAft>
              <a:buNone/>
            </a:pPr>
            <a:r>
              <a:rPr lang="ko-KR" altLang="en-US" sz="4000" b="1" dirty="0">
                <a:solidFill>
                  <a:srgbClr val="FFE98A"/>
                </a:solidFill>
                <a:latin typeface="맑은 고딕"/>
                <a:ea typeface="맑은 고딕"/>
                <a:cs typeface="맑은 고딕"/>
              </a:rPr>
              <a:t>PART 5  </a:t>
            </a:r>
            <a:r>
              <a:rPr lang="ko-KR" altLang="en-US" sz="4000" b="1" dirty="0">
                <a:solidFill>
                  <a:srgbClr val="FFFFFF"/>
                </a:solidFill>
                <a:latin typeface="맑은 고딕"/>
                <a:ea typeface="맑은 고딕"/>
                <a:cs typeface="맑은 고딕"/>
              </a:rPr>
              <a:t>어법 선택</a:t>
            </a:r>
            <a:endParaRPr lang="ko-KR" sz="4000"/>
          </a:p>
        </p:txBody>
      </p:sp>
      <p:sp>
        <p:nvSpPr>
          <p:cNvPr id="3" name="sec_exam"/>
          <p:cNvSpPr txBox="1"/>
          <p:nvPr/>
        </p:nvSpPr>
        <p:spPr>
          <a:xfrm>
            <a:off x="822960" y="2240280"/>
            <a:ext cx="10515600" cy="502920"/>
          </a:xfrm>
          <a:prstGeom prst="rect">
            <a:avLst/>
          </a:prstGeom>
          <a:noFill/>
        </p:spPr>
        <p:txBody>
          <a:bodyPr wrap="square" lIns="109728" tIns="54864" rIns="109728" bIns="54864" anchor="t" rtlCol="0">
            <a:noAutofit/>
          </a:bodyPr>
          <a:lstStyle/>
          <a:p>
            <a:pPr algn="l">
              <a:lnSpc>
                <a:spcPts val="2400"/>
              </a:lnSpc>
              <a:spcBef>
                <a:spcPts val="0"/>
              </a:spcBef>
              <a:spcAft>
                <a:spcPts val="0"/>
              </a:spcAft>
              <a:buNone/>
            </a:pPr>
            <a:r>
              <a:rPr lang="ko-KR" altLang="en-US" sz="2000" b="0" dirty="0">
                <a:solidFill>
                  <a:srgbClr val="CFD8E8"/>
                </a:solidFill>
                <a:latin typeface="맑은 고딕"/>
                <a:ea typeface="맑은 고딕"/>
                <a:cs typeface="맑은 고딕"/>
              </a:rPr>
              <a:t>중3 동아(윤정미) Lesson 7</a:t>
            </a:r>
            <a:endParaRPr lang="ko-KR" sz="2000"/>
          </a:p>
        </p:txBody>
      </p:sp>
      <p:sp>
        <p:nvSpPr>
          <p:cNvPr id="4" name="sec_ids"/>
          <p:cNvSpPr txBox="1"/>
          <p:nvPr/>
        </p:nvSpPr>
        <p:spPr>
          <a:xfrm>
            <a:off x="822960" y="2788920"/>
            <a:ext cx="10515600" cy="457200"/>
          </a:xfrm>
          <a:prstGeom prst="rect">
            <a:avLst/>
          </a:prstGeom>
          <a:noFill/>
        </p:spPr>
        <p:txBody>
          <a:bodyPr wrap="square" lIns="109728" tIns="54864" rIns="109728" bIns="54864" anchor="t" rtlCol="0">
            <a:noAutofit/>
          </a:bodyPr>
          <a:lstStyle/>
          <a:p>
            <a:pPr algn="l">
              <a:lnSpc>
                <a:spcPts val="2200"/>
              </a:lnSpc>
              <a:spcBef>
                <a:spcPts val="0"/>
              </a:spcBef>
              <a:spcAft>
                <a:spcPts val="0"/>
              </a:spcAft>
              <a:buNone/>
            </a:pPr>
            <a:r>
              <a:rPr lang="en-US" altLang="en-US" sz="1800" b="1" dirty="0">
                <a:solidFill>
                  <a:srgbClr val="AEBBD0"/>
                </a:solidFill>
                <a:latin typeface="Calibri"/>
                <a:ea typeface="맑은 고딕"/>
                <a:cs typeface="Calibri"/>
              </a:rPr>
              <a:t>1 ~ 30번  ·  11장</a:t>
            </a:r>
            <a:endParaRPr lang="ko-KR" sz="1800"/>
          </a:p>
        </p:txBody>
      </p:sp>
      <p:sp>
        <p:nvSpPr>
          <p:cNvPr id="5" name="sec_legend"/>
          <p:cNvSpPr/>
          <p:nvPr/>
        </p:nvSpPr>
        <p:spPr>
          <a:xfrm>
            <a:off x="822960" y="3977639"/>
            <a:ext cx="10515600" cy="1371600"/>
          </a:xfrm>
          <a:prstGeom prst="roundRect">
            <a:avLst>
              <a:gd name="adj" fmla="val 6000"/>
            </a:avLst>
          </a:prstGeom>
          <a:solidFill>
            <a:srgbClr val="27356E"/>
          </a:solidFill>
          <a:ln>
            <a:noFill/>
          </a:ln>
        </p:spPr>
        <p:txBody>
          <a:bodyPr wrap="square" lIns="320040" tIns="137160" rIns="320040" bIns="137160" anchor="ctr" rtlCol="0">
            <a:noAutofit/>
          </a:bodyPr>
          <a:lstStyle/>
          <a:p>
            <a:pPr algn="l">
              <a:lnSpc>
                <a:spcPts val="2600"/>
              </a:lnSpc>
              <a:spcBef>
                <a:spcPts val="0"/>
              </a:spcBef>
              <a:spcAft>
                <a:spcPts val="0"/>
              </a:spcAft>
              <a:buNone/>
            </a:pPr>
            <a:r>
              <a:rPr lang="ko-KR" altLang="en-US" sz="1600" b="1" dirty="0">
                <a:solidFill>
                  <a:srgbClr val="FFE98A"/>
                </a:solidFill>
                <a:latin typeface="맑은 고딕"/>
                <a:ea typeface="맑은 고딕"/>
                <a:cs typeface="맑은 고딕"/>
              </a:rPr>
              <a:t>방법</a:t>
            </a:r>
            <a:r>
              <a:rPr lang="ko-KR" altLang="en-US" sz="1600" b="0" dirty="0">
                <a:solidFill>
                  <a:srgbClr val="FFFFFF"/>
                </a:solidFill>
                <a:latin typeface="맑은 고딕"/>
                <a:ea typeface="맑은 고딕"/>
                <a:cs typeface="맑은 고딕"/>
              </a:rPr>
              <a:t>     우리말 뜻을 참고하여 [  ] 안에서 어법상 알맞은 것을 고르기</a:t>
            </a:r>
            <a:endParaRPr lang="ko-KR" sz="1600"/>
          </a:p>
          <a:p>
            <a:pPr algn="l">
              <a:lnSpc>
                <a:spcPts val="2600"/>
              </a:lnSpc>
              <a:spcBef>
                <a:spcPts val="0"/>
              </a:spcBef>
              <a:spcAft>
                <a:spcPts val="0"/>
              </a:spcAft>
              <a:buNone/>
            </a:pPr>
            <a:r>
              <a:rPr lang="ko-KR" altLang="en-US" sz="1600" b="1" dirty="0">
                <a:solidFill>
                  <a:srgbClr val="FFE98A"/>
                </a:solidFill>
                <a:latin typeface="맑은 고딕"/>
                <a:ea typeface="맑은 고딕"/>
                <a:cs typeface="맑은 고딕"/>
              </a:rPr>
              <a:t>클릭</a:t>
            </a:r>
            <a:r>
              <a:rPr lang="ko-KR" altLang="en-US" sz="1600" b="0" dirty="0">
                <a:solidFill>
                  <a:srgbClr val="FFFFFF"/>
                </a:solidFill>
                <a:latin typeface="맑은 고딕"/>
                <a:ea typeface="맑은 고딕"/>
                <a:cs typeface="맑은 고딕"/>
              </a:rPr>
              <a:t>     한 번 클릭하면 정답이 빨간색으로 표시되고 문법 포인트가 함께 공개</a:t>
            </a:r>
            <a:endParaRPr lang="ko-KR" sz="1600"/>
          </a:p>
        </p:txBody>
      </p:sp>
    </p:spTree>
  </p:cSld>
  <p:clrMapOvr>
    <a:masterClrMapping/>
  </p:clrMapOvr>
</p:sld>
</file>

<file path=ppt/slides/slide2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8000"/>
            </a:avLst>
          </a:prstGeom>
          <a:solidFill>
            <a:srgbClr val="1E2A5A"/>
          </a:solidFill>
          <a:ln>
            <a:noFill/>
          </a:ln>
        </p:spPr>
        <p:txBody>
          <a:bodyPr wrap="square" lIns="45720" tIns="18288" rIns="45720" bIns="18288" anchor="ctr" rtlCol="0">
            <a:noAutofit/>
          </a:bodyPr>
          <a:lstStyle/>
          <a:p>
            <a:pPr algn="ctr">
              <a:lnSpc>
                <a:spcPts val="2000"/>
              </a:lnSpc>
              <a:spcBef>
                <a:spcPts val="0"/>
              </a:spcBef>
              <a:spcAft>
                <a:spcPts val="0"/>
              </a:spcAft>
              <a:buNone/>
            </a:pPr>
            <a:r>
              <a:rPr lang="en-US" altLang="en-US" sz="1700" b="1" dirty="0">
                <a:solidFill>
                  <a:srgbClr val="FFFFFF"/>
                </a:solidFill>
                <a:latin typeface="Calibri"/>
                <a:ea typeface="맑은 고딕"/>
                <a:cs typeface="Calibri"/>
              </a:rPr>
              <a:t>L7</a:t>
            </a:r>
            <a:endParaRPr lang="ko-KR" sz="1700"/>
          </a:p>
        </p:txBody>
      </p:sp>
      <p:sp>
        <p:nvSpPr>
          <p:cNvPr id="3" name="hdr_chip"/>
          <p:cNvSpPr/>
          <p:nvPr/>
        </p:nvSpPr>
        <p:spPr>
          <a:xfrm>
            <a:off x="1755648" y="274320"/>
            <a:ext cx="1371600" cy="493776"/>
          </a:xfrm>
          <a:prstGeom prst="roundRect">
            <a:avLst>
              <a:gd name="adj" fmla="val 8000"/>
            </a:avLst>
          </a:prstGeom>
          <a:solidFill>
            <a:srgbClr val="E6EAF4"/>
          </a:solidFill>
          <a:ln>
            <a:noFill/>
          </a:ln>
        </p:spPr>
        <p:txBody>
          <a:bodyPr wrap="square" lIns="27432" tIns="18288" rIns="27432" bIns="18288" anchor="ctr" rtlCol="0">
            <a:noAutofit/>
          </a:bodyPr>
          <a:lstStyle/>
          <a:p>
            <a:pPr algn="ctr">
              <a:lnSpc>
                <a:spcPts val="1700"/>
              </a:lnSpc>
              <a:spcBef>
                <a:spcPts val="0"/>
              </a:spcBef>
              <a:spcAft>
                <a:spcPts val="0"/>
              </a:spcAft>
              <a:buNone/>
            </a:pPr>
            <a:r>
              <a:rPr lang="ko-KR" altLang="en-US" sz="1400" b="1" dirty="0">
                <a:solidFill>
                  <a:srgbClr val="1E2A5A"/>
                </a:solidFill>
                <a:latin typeface="맑은 고딕"/>
                <a:ea typeface="맑은 고딕"/>
                <a:cs typeface="맑은 고딕"/>
              </a:rPr>
              <a:t>PART 5 · 1</a:t>
            </a:r>
            <a:endParaRPr lang="ko-KR" sz="1400"/>
          </a:p>
        </p:txBody>
      </p:sp>
      <p:sp>
        <p:nvSpPr>
          <p:cNvPr id="4" name="hdr_q"/>
          <p:cNvSpPr txBox="1"/>
          <p:nvPr/>
        </p:nvSpPr>
        <p:spPr>
          <a:xfrm>
            <a:off x="3246120" y="246888"/>
            <a:ext cx="8485632" cy="548640"/>
          </a:xfrm>
          <a:prstGeom prst="rect">
            <a:avLst/>
          </a:prstGeom>
          <a:noFill/>
        </p:spPr>
        <p:txBody>
          <a:bodyPr wrap="square" lIns="109728" tIns="54864" rIns="109728" bIns="54864" anchor="ctr" rtlCol="0">
            <a:noAutofit/>
          </a:bodyPr>
          <a:lstStyle/>
          <a:p>
            <a:pPr algn="l">
              <a:lnSpc>
                <a:spcPts val="2400"/>
              </a:lnSpc>
              <a:spcBef>
                <a:spcPts val="0"/>
              </a:spcBef>
              <a:spcAft>
                <a:spcPts val="0"/>
              </a:spcAft>
              <a:buNone/>
            </a:pPr>
            <a:r>
              <a:rPr lang="ko-KR" altLang="en-US" sz="2000" b="1" dirty="0">
                <a:solidFill>
                  <a:srgbClr val="1F2328"/>
                </a:solidFill>
                <a:latin typeface="맑은 고딕"/>
                <a:ea typeface="맑은 고딕"/>
                <a:cs typeface="맑은 고딕"/>
              </a:rPr>
              <a:t>[  ] 안에서 어법상 알맞은 것을 고르시오.</a:t>
            </a:r>
            <a:endParaRPr lang="ko-KR" sz="2000"/>
          </a:p>
        </p:txBody>
      </p:sp>
      <p:sp>
        <p:nvSpPr>
          <p:cNvPr id="5" name="ftr_exam"/>
          <p:cNvSpPr txBox="1"/>
          <p:nvPr/>
        </p:nvSpPr>
        <p:spPr>
          <a:xfrm>
            <a:off x="457200" y="6519672"/>
            <a:ext cx="5669280" cy="256032"/>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7</a:t>
            </a:r>
            <a:endParaRPr lang="ko-KR" sz="1000"/>
          </a:p>
        </p:txBody>
      </p:sp>
      <p:sp>
        <p:nvSpPr>
          <p:cNvPr id="6" name="ftr_hint"/>
          <p:cNvSpPr txBox="1"/>
          <p:nvPr/>
        </p:nvSpPr>
        <p:spPr>
          <a:xfrm>
            <a:off x="5971032" y="6519672"/>
            <a:ext cx="5760720" cy="256032"/>
          </a:xfrm>
          <a:prstGeom prst="rect">
            <a:avLst/>
          </a:prstGeom>
          <a:noFill/>
        </p:spPr>
        <p:txBody>
          <a:bodyPr wrap="square" lIns="0" tIns="0" rIns="0" bIns="0" anchor="t" rtlCol="0">
            <a:noAutofit/>
          </a:bodyPr>
          <a:lstStyle/>
          <a:p>
            <a:pPr algn="r">
              <a:lnSpc>
                <a:spcPts val="1200"/>
              </a:lnSpc>
              <a:spcBef>
                <a:spcPts val="0"/>
              </a:spcBef>
              <a:spcAft>
                <a:spcPts val="0"/>
              </a:spcAft>
              <a:buNone/>
            </a:pPr>
            <a:r>
              <a:rPr lang="ko-KR" altLang="en-US" sz="1000" b="0" dirty="0">
                <a:solidFill>
                  <a:srgbClr val="7A808C"/>
                </a:solidFill>
                <a:latin typeface="맑은 고딕"/>
                <a:ea typeface="맑은 고딕"/>
                <a:cs typeface="맑은 고딕"/>
              </a:rPr>
              <a:t>클릭 ① 정답(빨간색) + 문법 포인트 공개</a:t>
            </a:r>
            <a:endParaRPr lang="ko-KR" sz="1000"/>
          </a:p>
        </p:txBody>
      </p:sp>
      <p:sp>
        <p:nvSpPr>
          <p:cNvPr id="7" name="item_card_1"/>
          <p:cNvSpPr/>
          <p:nvPr/>
        </p:nvSpPr>
        <p:spPr>
          <a:xfrm>
            <a:off x="457200" y="950976"/>
            <a:ext cx="11274552" cy="1516634"/>
          </a:xfrm>
          <a:prstGeom prst="roundRect">
            <a:avLst>
              <a:gd name="adj" fmla="val 6000"/>
            </a:avLst>
          </a:prstGeom>
          <a:solidFill>
            <a:srgbClr val="F3F5F9"/>
          </a:solidFill>
          <a:ln w="12700">
            <a:solidFill>
              <a:srgbClr val="D9DFEA"/>
            </a:solidFill>
          </a:ln>
        </p:spPr>
        <p:txBody>
          <a:bodyPr rtlCol="0" anchor="ctr"/>
          <a:lstStyle/>
          <a:p>
            <a:pPr algn="ctr"/>
          </a:p>
        </p:txBody>
      </p:sp>
      <p:sp>
        <p:nvSpPr>
          <p:cNvPr id="8" name="kor_1"/>
          <p:cNvSpPr txBox="1"/>
          <p:nvPr/>
        </p:nvSpPr>
        <p:spPr>
          <a:xfrm>
            <a:off x="457200" y="1060704"/>
            <a:ext cx="11274552" cy="363728"/>
          </a:xfrm>
          <a:prstGeom prst="rect">
            <a:avLst/>
          </a:prstGeom>
          <a:noFill/>
        </p:spPr>
        <p:txBody>
          <a:bodyPr wrap="square" lIns="228600" tIns="54864" rIns="228600" bIns="54864" anchor="t" rtlCol="0">
            <a:noAutofit/>
          </a:bodyPr>
          <a:lstStyle/>
          <a:p>
            <a:pPr algn="l">
              <a:lnSpc>
                <a:spcPts val="2000"/>
              </a:lnSpc>
              <a:spcBef>
                <a:spcPts val="0"/>
              </a:spcBef>
              <a:spcAft>
                <a:spcPts val="0"/>
              </a:spcAft>
              <a:buNone/>
            </a:pPr>
            <a:r>
              <a:rPr lang="en-US" altLang="en-US" sz="1600" b="1" dirty="0">
                <a:solidFill>
                  <a:srgbClr val="1E2A5A"/>
                </a:solidFill>
                <a:latin typeface="Calibri"/>
                <a:ea typeface="맑은 고딕"/>
                <a:cs typeface="Calibri"/>
              </a:rPr>
              <a:t>1.  </a:t>
            </a:r>
            <a:r>
              <a:rPr lang="ko-KR" altLang="en-US" sz="1600" b="0" dirty="0">
                <a:solidFill>
                  <a:srgbClr val="3C4558"/>
                </a:solidFill>
                <a:latin typeface="맑은 고딕"/>
                <a:ea typeface="맑은 고딕"/>
                <a:cs typeface="맑은 고딕"/>
              </a:rPr>
              <a:t>온라인 서점에 들렀다가 서점이 추천한 책들을 보고 놀란 적이 있는가?</a:t>
            </a:r>
            <a:endParaRPr lang="ko-KR" sz="1600"/>
          </a:p>
        </p:txBody>
      </p:sp>
      <p:sp>
        <p:nvSpPr>
          <p:cNvPr id="9" name="eng_1"/>
          <p:cNvSpPr txBox="1"/>
          <p:nvPr/>
        </p:nvSpPr>
        <p:spPr>
          <a:xfrm>
            <a:off x="457200" y="1369568"/>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solidFill>
                <a:latin typeface="Calibri"/>
                <a:ea typeface="맑은 고딕"/>
                <a:cs typeface="Calibri"/>
              </a:rPr>
              <a:t>Have you ever visited an online bookstore and been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surprising</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surprised</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by the books that the store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recommended</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was recommended</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for you?</a:t>
            </a:r>
            <a:endParaRPr lang="ko-KR" sz="2000"/>
          </a:p>
        </p:txBody>
      </p:sp>
      <p:sp>
        <p:nvSpPr>
          <p:cNvPr id="10" name="rv_eng_1"/>
          <p:cNvSpPr txBox="1"/>
          <p:nvPr/>
        </p:nvSpPr>
        <p:spPr>
          <a:xfrm>
            <a:off x="457200" y="1369568"/>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alpha val="0"/>
                  </a:srgbClr>
                </a:solidFill>
                <a:latin typeface="Calibri"/>
                <a:ea typeface="맑은 고딕"/>
                <a:cs typeface="Calibri"/>
              </a:rPr>
              <a:t>Have you ever visited an online bookstore and been </a:t>
            </a:r>
            <a:r>
              <a:rPr lang="en-US" altLang="en-US" sz="2000" b="1" dirty="0">
                <a:solidFill>
                  <a:srgbClr val="C00000">
                    <a:alpha val="0"/>
                  </a:srgbClr>
                </a:solidFill>
                <a:latin typeface="Calibri"/>
                <a:ea typeface="맑은 고딕"/>
                <a:cs typeface="Calibri"/>
              </a:rPr>
              <a:t>[ </a:t>
            </a:r>
            <a:r>
              <a:rPr lang="en-US" altLang="en-US" sz="2000" b="1" dirty="0">
                <a:solidFill>
                  <a:srgbClr val="C00000">
                    <a:alpha val="0"/>
                  </a:srgbClr>
                </a:solidFill>
                <a:latin typeface="Calibri"/>
                <a:ea typeface="맑은 고딕"/>
                <a:cs typeface="Calibri"/>
              </a:rPr>
              <a:t>surprising</a:t>
            </a:r>
            <a:r>
              <a:rPr lang="en-US" altLang="en-US" sz="2000" b="1" dirty="0">
                <a:solidFill>
                  <a:srgbClr val="C00000">
                    <a:alpha val="0"/>
                  </a:srgbClr>
                </a:solidFill>
                <a:latin typeface="Calibri"/>
                <a:ea typeface="맑은 고딕"/>
                <a:cs typeface="Calibri"/>
              </a:rPr>
              <a:t> / </a:t>
            </a:r>
            <a:r>
              <a:rPr lang="en-US" altLang="en-US" sz="2000" b="1" dirty="0">
                <a:solidFill>
                  <a:srgbClr val="C00000"/>
                </a:solidFill>
                <a:latin typeface="Calibri"/>
                <a:ea typeface="맑은 고딕"/>
                <a:cs typeface="Calibri"/>
              </a:rPr>
              <a:t>surprised</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by the books that the store </a:t>
            </a:r>
            <a:r>
              <a:rPr lang="en-US" altLang="en-US" sz="2000" b="1" dirty="0">
                <a:solidFill>
                  <a:srgbClr val="C00000">
                    <a:alpha val="0"/>
                  </a:srgbClr>
                </a:solidFill>
                <a:latin typeface="Calibri"/>
                <a:ea typeface="맑은 고딕"/>
                <a:cs typeface="Calibri"/>
              </a:rPr>
              <a:t>[ </a:t>
            </a:r>
            <a:r>
              <a:rPr lang="en-US" altLang="en-US" sz="2000" b="1" dirty="0">
                <a:solidFill>
                  <a:srgbClr val="C00000"/>
                </a:solidFill>
                <a:latin typeface="Calibri"/>
                <a:ea typeface="맑은 고딕"/>
                <a:cs typeface="Calibri"/>
              </a:rPr>
              <a:t>recommended</a:t>
            </a:r>
            <a:r>
              <a:rPr lang="en-US" altLang="en-US" sz="2000" b="1" dirty="0">
                <a:solidFill>
                  <a:srgbClr val="C00000">
                    <a:alpha val="0"/>
                  </a:srgbClr>
                </a:solidFill>
                <a:latin typeface="Calibri"/>
                <a:ea typeface="맑은 고딕"/>
                <a:cs typeface="Calibri"/>
              </a:rPr>
              <a:t> / </a:t>
            </a:r>
            <a:r>
              <a:rPr lang="en-US" altLang="en-US" sz="2000" b="1" dirty="0">
                <a:solidFill>
                  <a:srgbClr val="C00000">
                    <a:alpha val="0"/>
                  </a:srgbClr>
                </a:solidFill>
                <a:latin typeface="Calibri"/>
                <a:ea typeface="맑은 고딕"/>
                <a:cs typeface="Calibri"/>
              </a:rPr>
              <a:t>was recommended</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for you?</a:t>
            </a:r>
            <a:endParaRPr lang="ko-KR" sz="2000"/>
          </a:p>
        </p:txBody>
      </p:sp>
      <p:sp>
        <p:nvSpPr>
          <p:cNvPr id="11" name="rv_point_1"/>
          <p:cNvSpPr txBox="1"/>
          <p:nvPr/>
        </p:nvSpPr>
        <p:spPr>
          <a:xfrm>
            <a:off x="457200" y="2135632"/>
            <a:ext cx="11274552" cy="331978"/>
          </a:xfrm>
          <a:prstGeom prst="rect">
            <a:avLst/>
          </a:prstGeom>
          <a:noFill/>
        </p:spPr>
        <p:txBody>
          <a:bodyPr wrap="square" lIns="228600" tIns="54864" rIns="228600" bIns="54864" anchor="t" rtlCol="0">
            <a:noAutofit/>
          </a:bodyPr>
          <a:lstStyle/>
          <a:p>
            <a:pPr algn="l">
              <a:lnSpc>
                <a:spcPts val="1750"/>
              </a:lnSpc>
              <a:spcBef>
                <a:spcPts val="0"/>
              </a:spcBef>
              <a:spcAft>
                <a:spcPts val="0"/>
              </a:spcAft>
              <a:buNone/>
            </a:pPr>
            <a:r>
              <a:rPr lang="ko-KR" altLang="en-US" sz="1400" b="1" dirty="0">
                <a:solidFill>
                  <a:srgbClr val="C00000"/>
                </a:solidFill>
                <a:latin typeface="맑은 고딕"/>
                <a:ea typeface="맑은 고딕"/>
                <a:cs typeface="맑은 고딕"/>
              </a:rPr>
              <a:t>포인트  </a:t>
            </a:r>
            <a:r>
              <a:rPr lang="ko-KR" altLang="en-US" sz="1400" b="0" dirty="0">
                <a:solidFill>
                  <a:srgbClr val="2F5597"/>
                </a:solidFill>
                <a:latin typeface="맑은 고딕"/>
                <a:ea typeface="맑은 고딕"/>
                <a:cs typeface="맑은 고딕"/>
              </a:rPr>
              <a:t>분사 (놀람을 '느낀' 사람 → 과거분사) · 수동태(능동/수동 구별) (주어 the store가 추천 → 능동)</a:t>
            </a:r>
            <a:endParaRPr lang="ko-KR" sz="1400"/>
          </a:p>
        </p:txBody>
      </p:sp>
      <p:sp>
        <p:nvSpPr>
          <p:cNvPr id="12" name="item_card_2"/>
          <p:cNvSpPr/>
          <p:nvPr/>
        </p:nvSpPr>
        <p:spPr>
          <a:xfrm>
            <a:off x="457200" y="2577338"/>
            <a:ext cx="11274552" cy="1516634"/>
          </a:xfrm>
          <a:prstGeom prst="roundRect">
            <a:avLst>
              <a:gd name="adj" fmla="val 6000"/>
            </a:avLst>
          </a:prstGeom>
          <a:solidFill>
            <a:srgbClr val="F3F5F9"/>
          </a:solidFill>
          <a:ln w="12700">
            <a:solidFill>
              <a:srgbClr val="D9DFEA"/>
            </a:solidFill>
          </a:ln>
        </p:spPr>
        <p:txBody>
          <a:bodyPr rtlCol="0" anchor="ctr"/>
          <a:lstStyle/>
          <a:p>
            <a:pPr algn="ctr"/>
          </a:p>
        </p:txBody>
      </p:sp>
      <p:sp>
        <p:nvSpPr>
          <p:cNvPr id="13" name="kor_2"/>
          <p:cNvSpPr txBox="1"/>
          <p:nvPr/>
        </p:nvSpPr>
        <p:spPr>
          <a:xfrm>
            <a:off x="457200" y="2687066"/>
            <a:ext cx="11274552" cy="363728"/>
          </a:xfrm>
          <a:prstGeom prst="rect">
            <a:avLst/>
          </a:prstGeom>
          <a:noFill/>
        </p:spPr>
        <p:txBody>
          <a:bodyPr wrap="square" lIns="228600" tIns="54864" rIns="228600" bIns="54864" anchor="t" rtlCol="0">
            <a:noAutofit/>
          </a:bodyPr>
          <a:lstStyle/>
          <a:p>
            <a:pPr algn="l">
              <a:lnSpc>
                <a:spcPts val="2000"/>
              </a:lnSpc>
              <a:spcBef>
                <a:spcPts val="0"/>
              </a:spcBef>
              <a:spcAft>
                <a:spcPts val="0"/>
              </a:spcAft>
              <a:buNone/>
            </a:pPr>
            <a:r>
              <a:rPr lang="en-US" altLang="en-US" sz="1600" b="1" dirty="0">
                <a:solidFill>
                  <a:srgbClr val="1E2A5A"/>
                </a:solidFill>
                <a:latin typeface="Calibri"/>
                <a:ea typeface="맑은 고딕"/>
                <a:cs typeface="Calibri"/>
              </a:rPr>
              <a:t>2.  </a:t>
            </a:r>
            <a:r>
              <a:rPr lang="ko-KR" altLang="en-US" sz="1600" b="0" dirty="0">
                <a:solidFill>
                  <a:srgbClr val="3C4558"/>
                </a:solidFill>
                <a:latin typeface="맑은 고딕"/>
                <a:ea typeface="맑은 고딕"/>
                <a:cs typeface="맑은 고딕"/>
              </a:rPr>
              <a:t>그중 상당수가 흥미로워 보였을 것이다. 그렇다면 서점은 당신이 좋아하는 것을 어떻게 알았을까?</a:t>
            </a:r>
            <a:endParaRPr lang="ko-KR" sz="1600"/>
          </a:p>
        </p:txBody>
      </p:sp>
      <p:sp>
        <p:nvSpPr>
          <p:cNvPr id="14" name="eng_2"/>
          <p:cNvSpPr txBox="1"/>
          <p:nvPr/>
        </p:nvSpPr>
        <p:spPr>
          <a:xfrm>
            <a:off x="457200" y="2995930"/>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solidFill>
                <a:latin typeface="Calibri"/>
                <a:ea typeface="맑은 고딕"/>
                <a:cs typeface="Calibri"/>
              </a:rPr>
              <a:t>Many of them looked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interesting</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interested</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to you. So how did the bookstore know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that</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what</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you liked?</a:t>
            </a:r>
            <a:endParaRPr lang="ko-KR" sz="2000"/>
          </a:p>
        </p:txBody>
      </p:sp>
      <p:sp>
        <p:nvSpPr>
          <p:cNvPr id="15" name="rv_eng_2"/>
          <p:cNvSpPr txBox="1"/>
          <p:nvPr/>
        </p:nvSpPr>
        <p:spPr>
          <a:xfrm>
            <a:off x="457200" y="2995930"/>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alpha val="0"/>
                  </a:srgbClr>
                </a:solidFill>
                <a:latin typeface="Calibri"/>
                <a:ea typeface="맑은 고딕"/>
                <a:cs typeface="Calibri"/>
              </a:rPr>
              <a:t>Many of them looked </a:t>
            </a:r>
            <a:r>
              <a:rPr lang="en-US" altLang="en-US" sz="2000" b="1" dirty="0">
                <a:solidFill>
                  <a:srgbClr val="C00000">
                    <a:alpha val="0"/>
                  </a:srgbClr>
                </a:solidFill>
                <a:latin typeface="Calibri"/>
                <a:ea typeface="맑은 고딕"/>
                <a:cs typeface="Calibri"/>
              </a:rPr>
              <a:t>[ </a:t>
            </a:r>
            <a:r>
              <a:rPr lang="en-US" altLang="en-US" sz="2000" b="1" dirty="0">
                <a:solidFill>
                  <a:srgbClr val="C00000"/>
                </a:solidFill>
                <a:latin typeface="Calibri"/>
                <a:ea typeface="맑은 고딕"/>
                <a:cs typeface="Calibri"/>
              </a:rPr>
              <a:t>interesting</a:t>
            </a:r>
            <a:r>
              <a:rPr lang="en-US" altLang="en-US" sz="2000" b="1" dirty="0">
                <a:solidFill>
                  <a:srgbClr val="C00000">
                    <a:alpha val="0"/>
                  </a:srgbClr>
                </a:solidFill>
                <a:latin typeface="Calibri"/>
                <a:ea typeface="맑은 고딕"/>
                <a:cs typeface="Calibri"/>
              </a:rPr>
              <a:t> / </a:t>
            </a:r>
            <a:r>
              <a:rPr lang="en-US" altLang="en-US" sz="2000" b="1" dirty="0">
                <a:solidFill>
                  <a:srgbClr val="C00000">
                    <a:alpha val="0"/>
                  </a:srgbClr>
                </a:solidFill>
                <a:latin typeface="Calibri"/>
                <a:ea typeface="맑은 고딕"/>
                <a:cs typeface="Calibri"/>
              </a:rPr>
              <a:t>interested</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to you. So how did the bookstore know </a:t>
            </a:r>
            <a:r>
              <a:rPr lang="en-US" altLang="en-US" sz="2000" b="1" dirty="0">
                <a:solidFill>
                  <a:srgbClr val="C00000">
                    <a:alpha val="0"/>
                  </a:srgbClr>
                </a:solidFill>
                <a:latin typeface="Calibri"/>
                <a:ea typeface="맑은 고딕"/>
                <a:cs typeface="Calibri"/>
              </a:rPr>
              <a:t>[ </a:t>
            </a:r>
            <a:r>
              <a:rPr lang="en-US" altLang="en-US" sz="2000" b="1" dirty="0">
                <a:solidFill>
                  <a:srgbClr val="C00000">
                    <a:alpha val="0"/>
                  </a:srgbClr>
                </a:solidFill>
                <a:latin typeface="Calibri"/>
                <a:ea typeface="맑은 고딕"/>
                <a:cs typeface="Calibri"/>
              </a:rPr>
              <a:t>that</a:t>
            </a:r>
            <a:r>
              <a:rPr lang="en-US" altLang="en-US" sz="2000" b="1" dirty="0">
                <a:solidFill>
                  <a:srgbClr val="C00000">
                    <a:alpha val="0"/>
                  </a:srgbClr>
                </a:solidFill>
                <a:latin typeface="Calibri"/>
                <a:ea typeface="맑은 고딕"/>
                <a:cs typeface="Calibri"/>
              </a:rPr>
              <a:t> / </a:t>
            </a:r>
            <a:r>
              <a:rPr lang="en-US" altLang="en-US" sz="2000" b="1" dirty="0">
                <a:solidFill>
                  <a:srgbClr val="C00000"/>
                </a:solidFill>
                <a:latin typeface="Calibri"/>
                <a:ea typeface="맑은 고딕"/>
                <a:cs typeface="Calibri"/>
              </a:rPr>
              <a:t>what</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you liked?</a:t>
            </a:r>
            <a:endParaRPr lang="ko-KR" sz="2000"/>
          </a:p>
        </p:txBody>
      </p:sp>
      <p:sp>
        <p:nvSpPr>
          <p:cNvPr id="16" name="rv_point_2"/>
          <p:cNvSpPr txBox="1"/>
          <p:nvPr/>
        </p:nvSpPr>
        <p:spPr>
          <a:xfrm>
            <a:off x="457200" y="3761994"/>
            <a:ext cx="11274552" cy="331978"/>
          </a:xfrm>
          <a:prstGeom prst="rect">
            <a:avLst/>
          </a:prstGeom>
          <a:noFill/>
        </p:spPr>
        <p:txBody>
          <a:bodyPr wrap="square" lIns="228600" tIns="54864" rIns="228600" bIns="54864" anchor="t" rtlCol="0">
            <a:noAutofit/>
          </a:bodyPr>
          <a:lstStyle/>
          <a:p>
            <a:pPr algn="l">
              <a:lnSpc>
                <a:spcPts val="1750"/>
              </a:lnSpc>
              <a:spcBef>
                <a:spcPts val="0"/>
              </a:spcBef>
              <a:spcAft>
                <a:spcPts val="0"/>
              </a:spcAft>
              <a:buNone/>
            </a:pPr>
            <a:r>
              <a:rPr lang="ko-KR" altLang="en-US" sz="1400" b="1" dirty="0">
                <a:solidFill>
                  <a:srgbClr val="C00000"/>
                </a:solidFill>
                <a:latin typeface="맑은 고딕"/>
                <a:ea typeface="맑은 고딕"/>
                <a:cs typeface="맑은 고딕"/>
              </a:rPr>
              <a:t>포인트  </a:t>
            </a:r>
            <a:r>
              <a:rPr lang="ko-KR" altLang="en-US" sz="1400" b="0" dirty="0">
                <a:solidFill>
                  <a:srgbClr val="2F5597"/>
                </a:solidFill>
                <a:latin typeface="맑은 고딕"/>
                <a:ea typeface="맑은 고딕"/>
                <a:cs typeface="맑은 고딕"/>
              </a:rPr>
              <a:t>분사 (흥미를 '일으키는' 책 → 현재분사) · 관계대명사 (선행사 없음 → what)</a:t>
            </a:r>
            <a:endParaRPr lang="ko-KR" sz="1400"/>
          </a:p>
        </p:txBody>
      </p:sp>
      <p:sp>
        <p:nvSpPr>
          <p:cNvPr id="17" name="item_card_3"/>
          <p:cNvSpPr/>
          <p:nvPr/>
        </p:nvSpPr>
        <p:spPr>
          <a:xfrm>
            <a:off x="457200" y="4203700"/>
            <a:ext cx="11274552" cy="1161034"/>
          </a:xfrm>
          <a:prstGeom prst="roundRect">
            <a:avLst>
              <a:gd name="adj" fmla="val 6000"/>
            </a:avLst>
          </a:prstGeom>
          <a:solidFill>
            <a:srgbClr val="F3F5F9"/>
          </a:solidFill>
          <a:ln w="12700">
            <a:solidFill>
              <a:srgbClr val="D9DFEA"/>
            </a:solidFill>
          </a:ln>
        </p:spPr>
        <p:txBody>
          <a:bodyPr rtlCol="0" anchor="ctr"/>
          <a:lstStyle/>
          <a:p>
            <a:pPr algn="ctr"/>
          </a:p>
        </p:txBody>
      </p:sp>
      <p:sp>
        <p:nvSpPr>
          <p:cNvPr id="18" name="kor_3"/>
          <p:cNvSpPr txBox="1"/>
          <p:nvPr/>
        </p:nvSpPr>
        <p:spPr>
          <a:xfrm>
            <a:off x="457200" y="4313428"/>
            <a:ext cx="11274552" cy="363728"/>
          </a:xfrm>
          <a:prstGeom prst="rect">
            <a:avLst/>
          </a:prstGeom>
          <a:noFill/>
        </p:spPr>
        <p:txBody>
          <a:bodyPr wrap="square" lIns="228600" tIns="54864" rIns="228600" bIns="54864" anchor="t" rtlCol="0">
            <a:noAutofit/>
          </a:bodyPr>
          <a:lstStyle/>
          <a:p>
            <a:pPr algn="l">
              <a:lnSpc>
                <a:spcPts val="2000"/>
              </a:lnSpc>
              <a:spcBef>
                <a:spcPts val="0"/>
              </a:spcBef>
              <a:spcAft>
                <a:spcPts val="0"/>
              </a:spcAft>
              <a:buNone/>
            </a:pPr>
            <a:r>
              <a:rPr lang="en-US" altLang="en-US" sz="1600" b="1" dirty="0">
                <a:solidFill>
                  <a:srgbClr val="1E2A5A"/>
                </a:solidFill>
                <a:latin typeface="Calibri"/>
                <a:ea typeface="맑은 고딕"/>
                <a:cs typeface="Calibri"/>
              </a:rPr>
              <a:t>3.  </a:t>
            </a:r>
            <a:r>
              <a:rPr lang="ko-KR" altLang="en-US" sz="1600" b="0" dirty="0">
                <a:solidFill>
                  <a:srgbClr val="3C4558"/>
                </a:solidFill>
                <a:latin typeface="맑은 고딕"/>
                <a:ea typeface="맑은 고딕"/>
                <a:cs typeface="맑은 고딕"/>
              </a:rPr>
              <a:t>이 모든 것은 빅데이터 덕분에 가능하다.</a:t>
            </a:r>
            <a:endParaRPr lang="ko-KR" sz="1600"/>
          </a:p>
        </p:txBody>
      </p:sp>
      <p:sp>
        <p:nvSpPr>
          <p:cNvPr id="19" name="eng_3"/>
          <p:cNvSpPr txBox="1"/>
          <p:nvPr/>
        </p:nvSpPr>
        <p:spPr>
          <a:xfrm>
            <a:off x="457200" y="4622292"/>
            <a:ext cx="11274552" cy="4653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solidFill>
                <a:latin typeface="Calibri"/>
                <a:ea typeface="맑은 고딕"/>
                <a:cs typeface="Calibri"/>
              </a:rPr>
              <a:t>This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are</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is</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all possible because of big data.</a:t>
            </a:r>
            <a:endParaRPr lang="ko-KR" sz="2000"/>
          </a:p>
        </p:txBody>
      </p:sp>
      <p:sp>
        <p:nvSpPr>
          <p:cNvPr id="20" name="rv_eng_3"/>
          <p:cNvSpPr txBox="1"/>
          <p:nvPr/>
        </p:nvSpPr>
        <p:spPr>
          <a:xfrm>
            <a:off x="457200" y="4622292"/>
            <a:ext cx="11274552" cy="4653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alpha val="0"/>
                  </a:srgbClr>
                </a:solidFill>
                <a:latin typeface="Calibri"/>
                <a:ea typeface="맑은 고딕"/>
                <a:cs typeface="Calibri"/>
              </a:rPr>
              <a:t>This </a:t>
            </a:r>
            <a:r>
              <a:rPr lang="en-US" altLang="en-US" sz="2000" b="1" dirty="0">
                <a:solidFill>
                  <a:srgbClr val="C00000">
                    <a:alpha val="0"/>
                  </a:srgbClr>
                </a:solidFill>
                <a:latin typeface="Calibri"/>
                <a:ea typeface="맑은 고딕"/>
                <a:cs typeface="Calibri"/>
              </a:rPr>
              <a:t>[ </a:t>
            </a:r>
            <a:r>
              <a:rPr lang="en-US" altLang="en-US" sz="2000" b="1" dirty="0">
                <a:solidFill>
                  <a:srgbClr val="C00000">
                    <a:alpha val="0"/>
                  </a:srgbClr>
                </a:solidFill>
                <a:latin typeface="Calibri"/>
                <a:ea typeface="맑은 고딕"/>
                <a:cs typeface="Calibri"/>
              </a:rPr>
              <a:t>are</a:t>
            </a:r>
            <a:r>
              <a:rPr lang="en-US" altLang="en-US" sz="2000" b="1" dirty="0">
                <a:solidFill>
                  <a:srgbClr val="C00000">
                    <a:alpha val="0"/>
                  </a:srgbClr>
                </a:solidFill>
                <a:latin typeface="Calibri"/>
                <a:ea typeface="맑은 고딕"/>
                <a:cs typeface="Calibri"/>
              </a:rPr>
              <a:t> / </a:t>
            </a:r>
            <a:r>
              <a:rPr lang="en-US" altLang="en-US" sz="2000" b="1" dirty="0">
                <a:solidFill>
                  <a:srgbClr val="C00000"/>
                </a:solidFill>
                <a:latin typeface="Calibri"/>
                <a:ea typeface="맑은 고딕"/>
                <a:cs typeface="Calibri"/>
              </a:rPr>
              <a:t>is</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all possible because of big data.</a:t>
            </a:r>
            <a:endParaRPr lang="ko-KR" sz="2000"/>
          </a:p>
        </p:txBody>
      </p:sp>
      <p:sp>
        <p:nvSpPr>
          <p:cNvPr id="21" name="rv_point_3"/>
          <p:cNvSpPr txBox="1"/>
          <p:nvPr/>
        </p:nvSpPr>
        <p:spPr>
          <a:xfrm>
            <a:off x="457200" y="5032756"/>
            <a:ext cx="11274552" cy="331978"/>
          </a:xfrm>
          <a:prstGeom prst="rect">
            <a:avLst/>
          </a:prstGeom>
          <a:noFill/>
        </p:spPr>
        <p:txBody>
          <a:bodyPr wrap="square" lIns="228600" tIns="54864" rIns="228600" bIns="54864" anchor="t" rtlCol="0">
            <a:noAutofit/>
          </a:bodyPr>
          <a:lstStyle/>
          <a:p>
            <a:pPr algn="l">
              <a:lnSpc>
                <a:spcPts val="1750"/>
              </a:lnSpc>
              <a:spcBef>
                <a:spcPts val="0"/>
              </a:spcBef>
              <a:spcAft>
                <a:spcPts val="0"/>
              </a:spcAft>
              <a:buNone/>
            </a:pPr>
            <a:r>
              <a:rPr lang="ko-KR" altLang="en-US" sz="1400" b="1" dirty="0">
                <a:solidFill>
                  <a:srgbClr val="C00000"/>
                </a:solidFill>
                <a:latin typeface="맑은 고딕"/>
                <a:ea typeface="맑은 고딕"/>
                <a:cs typeface="맑은 고딕"/>
              </a:rPr>
              <a:t>포인트  </a:t>
            </a:r>
            <a:r>
              <a:rPr lang="ko-KR" altLang="en-US" sz="1400" b="0" dirty="0">
                <a:solidFill>
                  <a:srgbClr val="2F5597"/>
                </a:solidFill>
                <a:latin typeface="맑은 고딕"/>
                <a:ea typeface="맑은 고딕"/>
                <a:cs typeface="맑은 고딕"/>
              </a:rPr>
              <a:t>동사의 수 일치 (주어 This 단수)</a:t>
            </a:r>
            <a:endParaRPr lang="ko-KR" sz="1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25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250"/>
                                        <p:tgtEl>
                                          <p:spTgt spid="1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250"/>
                                        <p:tgtEl>
                                          <p:spTgt spid="1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fade">
                                      <p:cBhvr>
                                        <p:cTn id="16" dur="250"/>
                                        <p:tgtEl>
                                          <p:spTgt spid="1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250"/>
                                        <p:tgtEl>
                                          <p:spTgt spid="2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fade">
                                      <p:cBhvr>
                                        <p:cTn id="22" dur="25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5" grpId="0" animBg="1"/>
      <p:bldP spid="16" grpId="0" animBg="1"/>
      <p:bldP spid="20" grpId="0" animBg="1"/>
      <p:bldP spid="21" grpId="0" animBg="1"/>
    </p:bldLst>
  </p:timing>
</p:sld>
</file>

<file path=ppt/slides/slide2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8000"/>
            </a:avLst>
          </a:prstGeom>
          <a:solidFill>
            <a:srgbClr val="1E2A5A"/>
          </a:solidFill>
          <a:ln>
            <a:noFill/>
          </a:ln>
        </p:spPr>
        <p:txBody>
          <a:bodyPr wrap="square" lIns="45720" tIns="18288" rIns="45720" bIns="18288" anchor="ctr" rtlCol="0">
            <a:noAutofit/>
          </a:bodyPr>
          <a:lstStyle/>
          <a:p>
            <a:pPr algn="ctr">
              <a:lnSpc>
                <a:spcPts val="2000"/>
              </a:lnSpc>
              <a:spcBef>
                <a:spcPts val="0"/>
              </a:spcBef>
              <a:spcAft>
                <a:spcPts val="0"/>
              </a:spcAft>
              <a:buNone/>
            </a:pPr>
            <a:r>
              <a:rPr lang="en-US" altLang="en-US" sz="1700" b="1" dirty="0">
                <a:solidFill>
                  <a:srgbClr val="FFFFFF"/>
                </a:solidFill>
                <a:latin typeface="Calibri"/>
                <a:ea typeface="맑은 고딕"/>
                <a:cs typeface="Calibri"/>
              </a:rPr>
              <a:t>L7</a:t>
            </a:r>
            <a:endParaRPr lang="ko-KR" sz="1700"/>
          </a:p>
        </p:txBody>
      </p:sp>
      <p:sp>
        <p:nvSpPr>
          <p:cNvPr id="3" name="hdr_chip"/>
          <p:cNvSpPr/>
          <p:nvPr/>
        </p:nvSpPr>
        <p:spPr>
          <a:xfrm>
            <a:off x="1755648" y="274320"/>
            <a:ext cx="1371600" cy="493776"/>
          </a:xfrm>
          <a:prstGeom prst="roundRect">
            <a:avLst>
              <a:gd name="adj" fmla="val 8000"/>
            </a:avLst>
          </a:prstGeom>
          <a:solidFill>
            <a:srgbClr val="E6EAF4"/>
          </a:solidFill>
          <a:ln>
            <a:noFill/>
          </a:ln>
        </p:spPr>
        <p:txBody>
          <a:bodyPr wrap="square" lIns="27432" tIns="18288" rIns="27432" bIns="18288" anchor="ctr" rtlCol="0">
            <a:noAutofit/>
          </a:bodyPr>
          <a:lstStyle/>
          <a:p>
            <a:pPr algn="ctr">
              <a:lnSpc>
                <a:spcPts val="1700"/>
              </a:lnSpc>
              <a:spcBef>
                <a:spcPts val="0"/>
              </a:spcBef>
              <a:spcAft>
                <a:spcPts val="0"/>
              </a:spcAft>
              <a:buNone/>
            </a:pPr>
            <a:r>
              <a:rPr lang="ko-KR" altLang="en-US" sz="1400" b="1" dirty="0">
                <a:solidFill>
                  <a:srgbClr val="1E2A5A"/>
                </a:solidFill>
                <a:latin typeface="맑은 고딕"/>
                <a:ea typeface="맑은 고딕"/>
                <a:cs typeface="맑은 고딕"/>
              </a:rPr>
              <a:t>PART 5 · 2</a:t>
            </a:r>
            <a:endParaRPr lang="ko-KR" sz="1400"/>
          </a:p>
        </p:txBody>
      </p:sp>
      <p:sp>
        <p:nvSpPr>
          <p:cNvPr id="4" name="hdr_q"/>
          <p:cNvSpPr txBox="1"/>
          <p:nvPr/>
        </p:nvSpPr>
        <p:spPr>
          <a:xfrm>
            <a:off x="3246120" y="246888"/>
            <a:ext cx="8485632" cy="548640"/>
          </a:xfrm>
          <a:prstGeom prst="rect">
            <a:avLst/>
          </a:prstGeom>
          <a:noFill/>
        </p:spPr>
        <p:txBody>
          <a:bodyPr wrap="square" lIns="109728" tIns="54864" rIns="109728" bIns="54864" anchor="ctr" rtlCol="0">
            <a:noAutofit/>
          </a:bodyPr>
          <a:lstStyle/>
          <a:p>
            <a:pPr algn="l">
              <a:lnSpc>
                <a:spcPts val="2400"/>
              </a:lnSpc>
              <a:spcBef>
                <a:spcPts val="0"/>
              </a:spcBef>
              <a:spcAft>
                <a:spcPts val="0"/>
              </a:spcAft>
              <a:buNone/>
            </a:pPr>
            <a:r>
              <a:rPr lang="ko-KR" altLang="en-US" sz="2000" b="1" dirty="0">
                <a:solidFill>
                  <a:srgbClr val="1F2328"/>
                </a:solidFill>
                <a:latin typeface="맑은 고딕"/>
                <a:ea typeface="맑은 고딕"/>
                <a:cs typeface="맑은 고딕"/>
              </a:rPr>
              <a:t>[  ] 안에서 어법상 알맞은 것을 고르시오.</a:t>
            </a:r>
            <a:endParaRPr lang="ko-KR" sz="2000"/>
          </a:p>
        </p:txBody>
      </p:sp>
      <p:sp>
        <p:nvSpPr>
          <p:cNvPr id="5" name="ftr_exam"/>
          <p:cNvSpPr txBox="1"/>
          <p:nvPr/>
        </p:nvSpPr>
        <p:spPr>
          <a:xfrm>
            <a:off x="457200" y="6519672"/>
            <a:ext cx="5669280" cy="256032"/>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7</a:t>
            </a:r>
            <a:endParaRPr lang="ko-KR" sz="1000"/>
          </a:p>
        </p:txBody>
      </p:sp>
      <p:sp>
        <p:nvSpPr>
          <p:cNvPr id="6" name="ftr_hint"/>
          <p:cNvSpPr txBox="1"/>
          <p:nvPr/>
        </p:nvSpPr>
        <p:spPr>
          <a:xfrm>
            <a:off x="5971032" y="6519672"/>
            <a:ext cx="5760720" cy="256032"/>
          </a:xfrm>
          <a:prstGeom prst="rect">
            <a:avLst/>
          </a:prstGeom>
          <a:noFill/>
        </p:spPr>
        <p:txBody>
          <a:bodyPr wrap="square" lIns="0" tIns="0" rIns="0" bIns="0" anchor="t" rtlCol="0">
            <a:noAutofit/>
          </a:bodyPr>
          <a:lstStyle/>
          <a:p>
            <a:pPr algn="r">
              <a:lnSpc>
                <a:spcPts val="1200"/>
              </a:lnSpc>
              <a:spcBef>
                <a:spcPts val="0"/>
              </a:spcBef>
              <a:spcAft>
                <a:spcPts val="0"/>
              </a:spcAft>
              <a:buNone/>
            </a:pPr>
            <a:r>
              <a:rPr lang="ko-KR" altLang="en-US" sz="1000" b="0" dirty="0">
                <a:solidFill>
                  <a:srgbClr val="7A808C"/>
                </a:solidFill>
                <a:latin typeface="맑은 고딕"/>
                <a:ea typeface="맑은 고딕"/>
                <a:cs typeface="맑은 고딕"/>
              </a:rPr>
              <a:t>클릭 ① 정답(빨간색) + 문법 포인트 공개</a:t>
            </a:r>
            <a:endParaRPr lang="ko-KR" sz="1000"/>
          </a:p>
        </p:txBody>
      </p:sp>
      <p:sp>
        <p:nvSpPr>
          <p:cNvPr id="7" name="item_card_1"/>
          <p:cNvSpPr/>
          <p:nvPr/>
        </p:nvSpPr>
        <p:spPr>
          <a:xfrm>
            <a:off x="457200" y="950976"/>
            <a:ext cx="11274552" cy="1161034"/>
          </a:xfrm>
          <a:prstGeom prst="roundRect">
            <a:avLst>
              <a:gd name="adj" fmla="val 6000"/>
            </a:avLst>
          </a:prstGeom>
          <a:solidFill>
            <a:srgbClr val="F3F5F9"/>
          </a:solidFill>
          <a:ln w="12700">
            <a:solidFill>
              <a:srgbClr val="D9DFEA"/>
            </a:solidFill>
          </a:ln>
        </p:spPr>
        <p:txBody>
          <a:bodyPr rtlCol="0" anchor="ctr"/>
          <a:lstStyle/>
          <a:p>
            <a:pPr algn="ctr"/>
          </a:p>
        </p:txBody>
      </p:sp>
      <p:sp>
        <p:nvSpPr>
          <p:cNvPr id="8" name="kor_1"/>
          <p:cNvSpPr txBox="1"/>
          <p:nvPr/>
        </p:nvSpPr>
        <p:spPr>
          <a:xfrm>
            <a:off x="457200" y="1060704"/>
            <a:ext cx="11274552" cy="363728"/>
          </a:xfrm>
          <a:prstGeom prst="rect">
            <a:avLst/>
          </a:prstGeom>
          <a:noFill/>
        </p:spPr>
        <p:txBody>
          <a:bodyPr wrap="square" lIns="228600" tIns="54864" rIns="228600" bIns="54864" anchor="t" rtlCol="0">
            <a:noAutofit/>
          </a:bodyPr>
          <a:lstStyle/>
          <a:p>
            <a:pPr algn="l">
              <a:lnSpc>
                <a:spcPts val="2000"/>
              </a:lnSpc>
              <a:spcBef>
                <a:spcPts val="0"/>
              </a:spcBef>
              <a:spcAft>
                <a:spcPts val="0"/>
              </a:spcAft>
              <a:buNone/>
            </a:pPr>
            <a:r>
              <a:rPr lang="en-US" altLang="en-US" sz="1600" b="1" dirty="0">
                <a:solidFill>
                  <a:srgbClr val="1E2A5A"/>
                </a:solidFill>
                <a:latin typeface="Calibri"/>
                <a:ea typeface="맑은 고딕"/>
                <a:cs typeface="Calibri"/>
              </a:rPr>
              <a:t>4.  </a:t>
            </a:r>
            <a:r>
              <a:rPr lang="ko-KR" altLang="en-US" sz="1600" b="0" dirty="0">
                <a:solidFill>
                  <a:srgbClr val="3C4558"/>
                </a:solidFill>
                <a:latin typeface="맑은 고딕"/>
                <a:ea typeface="맑은 고딕"/>
                <a:cs typeface="맑은 고딕"/>
              </a:rPr>
              <a:t>빅데이터란 규모가 매우 크고 복잡한 데이터의 집합이다.</a:t>
            </a:r>
            <a:endParaRPr lang="ko-KR" sz="1600"/>
          </a:p>
        </p:txBody>
      </p:sp>
      <p:sp>
        <p:nvSpPr>
          <p:cNvPr id="9" name="eng_1"/>
          <p:cNvSpPr txBox="1"/>
          <p:nvPr/>
        </p:nvSpPr>
        <p:spPr>
          <a:xfrm>
            <a:off x="457200" y="1369568"/>
            <a:ext cx="11274552" cy="4653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solidFill>
                <a:latin typeface="Calibri"/>
                <a:ea typeface="맑은 고딕"/>
                <a:cs typeface="Calibri"/>
              </a:rPr>
              <a:t>Big data is data sets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that</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who</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is</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are</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very big and complex.</a:t>
            </a:r>
            <a:endParaRPr lang="ko-KR" sz="2000"/>
          </a:p>
        </p:txBody>
      </p:sp>
      <p:sp>
        <p:nvSpPr>
          <p:cNvPr id="10" name="rv_eng_1"/>
          <p:cNvSpPr txBox="1"/>
          <p:nvPr/>
        </p:nvSpPr>
        <p:spPr>
          <a:xfrm>
            <a:off x="457200" y="1369568"/>
            <a:ext cx="11274552" cy="4653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alpha val="0"/>
                  </a:srgbClr>
                </a:solidFill>
                <a:latin typeface="Calibri"/>
                <a:ea typeface="맑은 고딕"/>
                <a:cs typeface="Calibri"/>
              </a:rPr>
              <a:t>Big data is data sets </a:t>
            </a:r>
            <a:r>
              <a:rPr lang="en-US" altLang="en-US" sz="2000" b="1" dirty="0">
                <a:solidFill>
                  <a:srgbClr val="C00000">
                    <a:alpha val="0"/>
                  </a:srgbClr>
                </a:solidFill>
                <a:latin typeface="Calibri"/>
                <a:ea typeface="맑은 고딕"/>
                <a:cs typeface="Calibri"/>
              </a:rPr>
              <a:t>[ </a:t>
            </a:r>
            <a:r>
              <a:rPr lang="en-US" altLang="en-US" sz="2000" b="1" dirty="0">
                <a:solidFill>
                  <a:srgbClr val="C00000"/>
                </a:solidFill>
                <a:latin typeface="Calibri"/>
                <a:ea typeface="맑은 고딕"/>
                <a:cs typeface="Calibri"/>
              </a:rPr>
              <a:t>that</a:t>
            </a:r>
            <a:r>
              <a:rPr lang="en-US" altLang="en-US" sz="2000" b="1" dirty="0">
                <a:solidFill>
                  <a:srgbClr val="C00000">
                    <a:alpha val="0"/>
                  </a:srgbClr>
                </a:solidFill>
                <a:latin typeface="Calibri"/>
                <a:ea typeface="맑은 고딕"/>
                <a:cs typeface="Calibri"/>
              </a:rPr>
              <a:t> / </a:t>
            </a:r>
            <a:r>
              <a:rPr lang="en-US" altLang="en-US" sz="2000" b="1" dirty="0">
                <a:solidFill>
                  <a:srgbClr val="C00000">
                    <a:alpha val="0"/>
                  </a:srgbClr>
                </a:solidFill>
                <a:latin typeface="Calibri"/>
                <a:ea typeface="맑은 고딕"/>
                <a:cs typeface="Calibri"/>
              </a:rPr>
              <a:t>who</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a:t>
            </a:r>
            <a:r>
              <a:rPr lang="en-US" altLang="en-US" sz="2000" b="1" dirty="0">
                <a:solidFill>
                  <a:srgbClr val="C00000">
                    <a:alpha val="0"/>
                  </a:srgbClr>
                </a:solidFill>
                <a:latin typeface="Calibri"/>
                <a:ea typeface="맑은 고딕"/>
                <a:cs typeface="Calibri"/>
              </a:rPr>
              <a:t>[ </a:t>
            </a:r>
            <a:r>
              <a:rPr lang="en-US" altLang="en-US" sz="2000" b="1" dirty="0">
                <a:solidFill>
                  <a:srgbClr val="C00000">
                    <a:alpha val="0"/>
                  </a:srgbClr>
                </a:solidFill>
                <a:latin typeface="Calibri"/>
                <a:ea typeface="맑은 고딕"/>
                <a:cs typeface="Calibri"/>
              </a:rPr>
              <a:t>is</a:t>
            </a:r>
            <a:r>
              <a:rPr lang="en-US" altLang="en-US" sz="2000" b="1" dirty="0">
                <a:solidFill>
                  <a:srgbClr val="C00000">
                    <a:alpha val="0"/>
                  </a:srgbClr>
                </a:solidFill>
                <a:latin typeface="Calibri"/>
                <a:ea typeface="맑은 고딕"/>
                <a:cs typeface="Calibri"/>
              </a:rPr>
              <a:t> / </a:t>
            </a:r>
            <a:r>
              <a:rPr lang="en-US" altLang="en-US" sz="2000" b="1" dirty="0">
                <a:solidFill>
                  <a:srgbClr val="C00000"/>
                </a:solidFill>
                <a:latin typeface="Calibri"/>
                <a:ea typeface="맑은 고딕"/>
                <a:cs typeface="Calibri"/>
              </a:rPr>
              <a:t>are</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very big and complex.</a:t>
            </a:r>
            <a:endParaRPr lang="ko-KR" sz="2000"/>
          </a:p>
        </p:txBody>
      </p:sp>
      <p:sp>
        <p:nvSpPr>
          <p:cNvPr id="11" name="rv_point_1"/>
          <p:cNvSpPr txBox="1"/>
          <p:nvPr/>
        </p:nvSpPr>
        <p:spPr>
          <a:xfrm>
            <a:off x="457200" y="1780032"/>
            <a:ext cx="11274552" cy="331978"/>
          </a:xfrm>
          <a:prstGeom prst="rect">
            <a:avLst/>
          </a:prstGeom>
          <a:noFill/>
        </p:spPr>
        <p:txBody>
          <a:bodyPr wrap="square" lIns="228600" tIns="54864" rIns="228600" bIns="54864" anchor="t" rtlCol="0">
            <a:noAutofit/>
          </a:bodyPr>
          <a:lstStyle/>
          <a:p>
            <a:pPr algn="l">
              <a:lnSpc>
                <a:spcPts val="1750"/>
              </a:lnSpc>
              <a:spcBef>
                <a:spcPts val="0"/>
              </a:spcBef>
              <a:spcAft>
                <a:spcPts val="0"/>
              </a:spcAft>
              <a:buNone/>
            </a:pPr>
            <a:r>
              <a:rPr lang="ko-KR" altLang="en-US" sz="1400" b="1" dirty="0">
                <a:solidFill>
                  <a:srgbClr val="C00000"/>
                </a:solidFill>
                <a:latin typeface="맑은 고딕"/>
                <a:ea typeface="맑은 고딕"/>
                <a:cs typeface="맑은 고딕"/>
              </a:rPr>
              <a:t>포인트  </a:t>
            </a:r>
            <a:r>
              <a:rPr lang="ko-KR" altLang="en-US" sz="1400" b="0" dirty="0">
                <a:solidFill>
                  <a:srgbClr val="2F5597"/>
                </a:solidFill>
                <a:latin typeface="맑은 고딕"/>
                <a:ea typeface="맑은 고딕"/>
                <a:cs typeface="맑은 고딕"/>
              </a:rPr>
              <a:t>관계대명사 (선행사 data sets=사물) · 동사의 수 일치 (선행사 data sets 복수)</a:t>
            </a:r>
            <a:endParaRPr lang="ko-KR" sz="1400"/>
          </a:p>
        </p:txBody>
      </p:sp>
      <p:sp>
        <p:nvSpPr>
          <p:cNvPr id="12" name="item_card_2"/>
          <p:cNvSpPr/>
          <p:nvPr/>
        </p:nvSpPr>
        <p:spPr>
          <a:xfrm>
            <a:off x="457200" y="2221738"/>
            <a:ext cx="11274552" cy="1516634"/>
          </a:xfrm>
          <a:prstGeom prst="roundRect">
            <a:avLst>
              <a:gd name="adj" fmla="val 6000"/>
            </a:avLst>
          </a:prstGeom>
          <a:solidFill>
            <a:srgbClr val="F3F5F9"/>
          </a:solidFill>
          <a:ln w="12700">
            <a:solidFill>
              <a:srgbClr val="D9DFEA"/>
            </a:solidFill>
          </a:ln>
        </p:spPr>
        <p:txBody>
          <a:bodyPr rtlCol="0" anchor="ctr"/>
          <a:lstStyle/>
          <a:p>
            <a:pPr algn="ctr"/>
          </a:p>
        </p:txBody>
      </p:sp>
      <p:sp>
        <p:nvSpPr>
          <p:cNvPr id="13" name="kor_2"/>
          <p:cNvSpPr txBox="1"/>
          <p:nvPr/>
        </p:nvSpPr>
        <p:spPr>
          <a:xfrm>
            <a:off x="457200" y="2331466"/>
            <a:ext cx="11274552" cy="363728"/>
          </a:xfrm>
          <a:prstGeom prst="rect">
            <a:avLst/>
          </a:prstGeom>
          <a:noFill/>
        </p:spPr>
        <p:txBody>
          <a:bodyPr wrap="square" lIns="228600" tIns="54864" rIns="228600" bIns="54864" anchor="t" rtlCol="0">
            <a:noAutofit/>
          </a:bodyPr>
          <a:lstStyle/>
          <a:p>
            <a:pPr algn="l">
              <a:lnSpc>
                <a:spcPts val="2000"/>
              </a:lnSpc>
              <a:spcBef>
                <a:spcPts val="0"/>
              </a:spcBef>
              <a:spcAft>
                <a:spcPts val="0"/>
              </a:spcAft>
              <a:buNone/>
            </a:pPr>
            <a:r>
              <a:rPr lang="en-US" altLang="en-US" sz="1600" b="1" dirty="0">
                <a:solidFill>
                  <a:srgbClr val="1E2A5A"/>
                </a:solidFill>
                <a:latin typeface="Calibri"/>
                <a:ea typeface="맑은 고딕"/>
                <a:cs typeface="Calibri"/>
              </a:rPr>
              <a:t>5.  </a:t>
            </a:r>
            <a:r>
              <a:rPr lang="ko-KR" altLang="en-US" sz="1600" b="0" dirty="0">
                <a:solidFill>
                  <a:srgbClr val="3C4558"/>
                </a:solidFill>
                <a:latin typeface="맑은 고딕"/>
                <a:ea typeface="맑은 고딕"/>
                <a:cs typeface="맑은 고딕"/>
              </a:rPr>
              <a:t>정보 통신 기술이 발달함에 따라 우리가 가진 데이터의 양은 예전보다 훨씬 더 많아지고 있다.</a:t>
            </a:r>
            <a:endParaRPr lang="ko-KR" sz="1600"/>
          </a:p>
        </p:txBody>
      </p:sp>
      <p:sp>
        <p:nvSpPr>
          <p:cNvPr id="14" name="eng_2"/>
          <p:cNvSpPr txBox="1"/>
          <p:nvPr/>
        </p:nvSpPr>
        <p:spPr>
          <a:xfrm>
            <a:off x="457200" y="2640330"/>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solidFill>
                <a:latin typeface="Calibri"/>
                <a:ea typeface="맑은 고딕"/>
                <a:cs typeface="Calibri"/>
              </a:rPr>
              <a:t>As information and communication technology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develop</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develops</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the amount of data we have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is</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are</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getting much greater than before.</a:t>
            </a:r>
            <a:endParaRPr lang="ko-KR" sz="2000"/>
          </a:p>
        </p:txBody>
      </p:sp>
      <p:sp>
        <p:nvSpPr>
          <p:cNvPr id="15" name="rv_eng_2"/>
          <p:cNvSpPr txBox="1"/>
          <p:nvPr/>
        </p:nvSpPr>
        <p:spPr>
          <a:xfrm>
            <a:off x="457200" y="2640330"/>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alpha val="0"/>
                  </a:srgbClr>
                </a:solidFill>
                <a:latin typeface="Calibri"/>
                <a:ea typeface="맑은 고딕"/>
                <a:cs typeface="Calibri"/>
              </a:rPr>
              <a:t>As information and communication technology </a:t>
            </a:r>
            <a:r>
              <a:rPr lang="en-US" altLang="en-US" sz="2000" b="1" dirty="0">
                <a:solidFill>
                  <a:srgbClr val="C00000">
                    <a:alpha val="0"/>
                  </a:srgbClr>
                </a:solidFill>
                <a:latin typeface="Calibri"/>
                <a:ea typeface="맑은 고딕"/>
                <a:cs typeface="Calibri"/>
              </a:rPr>
              <a:t>[ </a:t>
            </a:r>
            <a:r>
              <a:rPr lang="en-US" altLang="en-US" sz="2000" b="1" dirty="0">
                <a:solidFill>
                  <a:srgbClr val="C00000">
                    <a:alpha val="0"/>
                  </a:srgbClr>
                </a:solidFill>
                <a:latin typeface="Calibri"/>
                <a:ea typeface="맑은 고딕"/>
                <a:cs typeface="Calibri"/>
              </a:rPr>
              <a:t>develop</a:t>
            </a:r>
            <a:r>
              <a:rPr lang="en-US" altLang="en-US" sz="2000" b="1" dirty="0">
                <a:solidFill>
                  <a:srgbClr val="C00000">
                    <a:alpha val="0"/>
                  </a:srgbClr>
                </a:solidFill>
                <a:latin typeface="Calibri"/>
                <a:ea typeface="맑은 고딕"/>
                <a:cs typeface="Calibri"/>
              </a:rPr>
              <a:t> / </a:t>
            </a:r>
            <a:r>
              <a:rPr lang="en-US" altLang="en-US" sz="2000" b="1" dirty="0">
                <a:solidFill>
                  <a:srgbClr val="C00000"/>
                </a:solidFill>
                <a:latin typeface="Calibri"/>
                <a:ea typeface="맑은 고딕"/>
                <a:cs typeface="Calibri"/>
              </a:rPr>
              <a:t>develops</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the amount of data we have </a:t>
            </a:r>
            <a:r>
              <a:rPr lang="en-US" altLang="en-US" sz="2000" b="1" dirty="0">
                <a:solidFill>
                  <a:srgbClr val="C00000">
                    <a:alpha val="0"/>
                  </a:srgbClr>
                </a:solidFill>
                <a:latin typeface="Calibri"/>
                <a:ea typeface="맑은 고딕"/>
                <a:cs typeface="Calibri"/>
              </a:rPr>
              <a:t>[ </a:t>
            </a:r>
            <a:r>
              <a:rPr lang="en-US" altLang="en-US" sz="2000" b="1" dirty="0">
                <a:solidFill>
                  <a:srgbClr val="C00000"/>
                </a:solidFill>
                <a:latin typeface="Calibri"/>
                <a:ea typeface="맑은 고딕"/>
                <a:cs typeface="Calibri"/>
              </a:rPr>
              <a:t>is</a:t>
            </a:r>
            <a:r>
              <a:rPr lang="en-US" altLang="en-US" sz="2000" b="1" dirty="0">
                <a:solidFill>
                  <a:srgbClr val="C00000">
                    <a:alpha val="0"/>
                  </a:srgbClr>
                </a:solidFill>
                <a:latin typeface="Calibri"/>
                <a:ea typeface="맑은 고딕"/>
                <a:cs typeface="Calibri"/>
              </a:rPr>
              <a:t> / </a:t>
            </a:r>
            <a:r>
              <a:rPr lang="en-US" altLang="en-US" sz="2000" b="1" dirty="0">
                <a:solidFill>
                  <a:srgbClr val="C00000">
                    <a:alpha val="0"/>
                  </a:srgbClr>
                </a:solidFill>
                <a:latin typeface="Calibri"/>
                <a:ea typeface="맑은 고딕"/>
                <a:cs typeface="Calibri"/>
              </a:rPr>
              <a:t>are</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getting much greater than before.</a:t>
            </a:r>
            <a:endParaRPr lang="ko-KR" sz="2000"/>
          </a:p>
        </p:txBody>
      </p:sp>
      <p:sp>
        <p:nvSpPr>
          <p:cNvPr id="16" name="rv_point_2"/>
          <p:cNvSpPr txBox="1"/>
          <p:nvPr/>
        </p:nvSpPr>
        <p:spPr>
          <a:xfrm>
            <a:off x="457200" y="3406394"/>
            <a:ext cx="11274552" cy="331978"/>
          </a:xfrm>
          <a:prstGeom prst="rect">
            <a:avLst/>
          </a:prstGeom>
          <a:noFill/>
        </p:spPr>
        <p:txBody>
          <a:bodyPr wrap="square" lIns="228600" tIns="54864" rIns="228600" bIns="54864" anchor="t" rtlCol="0">
            <a:noAutofit/>
          </a:bodyPr>
          <a:lstStyle/>
          <a:p>
            <a:pPr algn="l">
              <a:lnSpc>
                <a:spcPts val="1750"/>
              </a:lnSpc>
              <a:spcBef>
                <a:spcPts val="0"/>
              </a:spcBef>
              <a:spcAft>
                <a:spcPts val="0"/>
              </a:spcAft>
              <a:buNone/>
            </a:pPr>
            <a:r>
              <a:rPr lang="ko-KR" altLang="en-US" sz="1400" b="1" dirty="0">
                <a:solidFill>
                  <a:srgbClr val="C00000"/>
                </a:solidFill>
                <a:latin typeface="맑은 고딕"/>
                <a:ea typeface="맑은 고딕"/>
                <a:cs typeface="맑은 고딕"/>
              </a:rPr>
              <a:t>포인트  </a:t>
            </a:r>
            <a:r>
              <a:rPr lang="ko-KR" altLang="en-US" sz="1400" b="0" dirty="0">
                <a:solidFill>
                  <a:srgbClr val="2F5597"/>
                </a:solidFill>
                <a:latin typeface="맑은 고딕"/>
                <a:ea typeface="맑은 고딕"/>
                <a:cs typeface="맑은 고딕"/>
              </a:rPr>
              <a:t>동사의 수 일치 (주어 technology 단수) · 동사의 수 일치 (주어 the amount 단수)</a:t>
            </a:r>
            <a:endParaRPr lang="ko-KR" sz="1400"/>
          </a:p>
        </p:txBody>
      </p:sp>
      <p:sp>
        <p:nvSpPr>
          <p:cNvPr id="17" name="item_card_3"/>
          <p:cNvSpPr/>
          <p:nvPr/>
        </p:nvSpPr>
        <p:spPr>
          <a:xfrm>
            <a:off x="457200" y="3848100"/>
            <a:ext cx="11274552" cy="1516634"/>
          </a:xfrm>
          <a:prstGeom prst="roundRect">
            <a:avLst>
              <a:gd name="adj" fmla="val 6000"/>
            </a:avLst>
          </a:prstGeom>
          <a:solidFill>
            <a:srgbClr val="F3F5F9"/>
          </a:solidFill>
          <a:ln w="12700">
            <a:solidFill>
              <a:srgbClr val="D9DFEA"/>
            </a:solidFill>
          </a:ln>
        </p:spPr>
        <p:txBody>
          <a:bodyPr rtlCol="0" anchor="ctr"/>
          <a:lstStyle/>
          <a:p>
            <a:pPr algn="ctr"/>
          </a:p>
        </p:txBody>
      </p:sp>
      <p:sp>
        <p:nvSpPr>
          <p:cNvPr id="18" name="kor_3"/>
          <p:cNvSpPr txBox="1"/>
          <p:nvPr/>
        </p:nvSpPr>
        <p:spPr>
          <a:xfrm>
            <a:off x="457200" y="3957828"/>
            <a:ext cx="11274552" cy="363728"/>
          </a:xfrm>
          <a:prstGeom prst="rect">
            <a:avLst/>
          </a:prstGeom>
          <a:noFill/>
        </p:spPr>
        <p:txBody>
          <a:bodyPr wrap="square" lIns="228600" tIns="54864" rIns="228600" bIns="54864" anchor="t" rtlCol="0">
            <a:noAutofit/>
          </a:bodyPr>
          <a:lstStyle/>
          <a:p>
            <a:pPr algn="l">
              <a:lnSpc>
                <a:spcPts val="2000"/>
              </a:lnSpc>
              <a:spcBef>
                <a:spcPts val="0"/>
              </a:spcBef>
              <a:spcAft>
                <a:spcPts val="0"/>
              </a:spcAft>
              <a:buNone/>
            </a:pPr>
            <a:r>
              <a:rPr lang="en-US" altLang="en-US" sz="1600" b="1" dirty="0">
                <a:solidFill>
                  <a:srgbClr val="1E2A5A"/>
                </a:solidFill>
                <a:latin typeface="Calibri"/>
                <a:ea typeface="맑은 고딕"/>
                <a:cs typeface="Calibri"/>
              </a:rPr>
              <a:t>6.  </a:t>
            </a:r>
            <a:r>
              <a:rPr lang="ko-KR" altLang="en-US" sz="1600" b="0" dirty="0">
                <a:solidFill>
                  <a:srgbClr val="3C4558"/>
                </a:solidFill>
                <a:latin typeface="맑은 고딕"/>
                <a:ea typeface="맑은 고딕"/>
                <a:cs typeface="맑은 고딕"/>
              </a:rPr>
              <a:t>이는 주로 우리가 온라인에서 하는 거의 모든 일이 흔적을 남기기 때문이다.</a:t>
            </a:r>
            <a:endParaRPr lang="ko-KR" sz="1600"/>
          </a:p>
        </p:txBody>
      </p:sp>
      <p:sp>
        <p:nvSpPr>
          <p:cNvPr id="19" name="eng_3"/>
          <p:cNvSpPr txBox="1"/>
          <p:nvPr/>
        </p:nvSpPr>
        <p:spPr>
          <a:xfrm>
            <a:off x="457200" y="4266692"/>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solidFill>
                <a:latin typeface="Calibri"/>
                <a:ea typeface="맑은 고딕"/>
                <a:cs typeface="Calibri"/>
              </a:rPr>
              <a:t>This is mainly because almost everything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that</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who</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we do online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leave</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leaves</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a trace.</a:t>
            </a:r>
            <a:endParaRPr lang="ko-KR" sz="2000"/>
          </a:p>
        </p:txBody>
      </p:sp>
      <p:sp>
        <p:nvSpPr>
          <p:cNvPr id="20" name="rv_eng_3"/>
          <p:cNvSpPr txBox="1"/>
          <p:nvPr/>
        </p:nvSpPr>
        <p:spPr>
          <a:xfrm>
            <a:off x="457200" y="4266692"/>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alpha val="0"/>
                  </a:srgbClr>
                </a:solidFill>
                <a:latin typeface="Calibri"/>
                <a:ea typeface="맑은 고딕"/>
                <a:cs typeface="Calibri"/>
              </a:rPr>
              <a:t>This is mainly because almost everything </a:t>
            </a:r>
            <a:r>
              <a:rPr lang="en-US" altLang="en-US" sz="2000" b="1" dirty="0">
                <a:solidFill>
                  <a:srgbClr val="C00000">
                    <a:alpha val="0"/>
                  </a:srgbClr>
                </a:solidFill>
                <a:latin typeface="Calibri"/>
                <a:ea typeface="맑은 고딕"/>
                <a:cs typeface="Calibri"/>
              </a:rPr>
              <a:t>[ </a:t>
            </a:r>
            <a:r>
              <a:rPr lang="en-US" altLang="en-US" sz="2000" b="1" dirty="0">
                <a:solidFill>
                  <a:srgbClr val="C00000"/>
                </a:solidFill>
                <a:latin typeface="Calibri"/>
                <a:ea typeface="맑은 고딕"/>
                <a:cs typeface="Calibri"/>
              </a:rPr>
              <a:t>that</a:t>
            </a:r>
            <a:r>
              <a:rPr lang="en-US" altLang="en-US" sz="2000" b="1" dirty="0">
                <a:solidFill>
                  <a:srgbClr val="C00000">
                    <a:alpha val="0"/>
                  </a:srgbClr>
                </a:solidFill>
                <a:latin typeface="Calibri"/>
                <a:ea typeface="맑은 고딕"/>
                <a:cs typeface="Calibri"/>
              </a:rPr>
              <a:t> / </a:t>
            </a:r>
            <a:r>
              <a:rPr lang="en-US" altLang="en-US" sz="2000" b="1" dirty="0">
                <a:solidFill>
                  <a:srgbClr val="C00000">
                    <a:alpha val="0"/>
                  </a:srgbClr>
                </a:solidFill>
                <a:latin typeface="Calibri"/>
                <a:ea typeface="맑은 고딕"/>
                <a:cs typeface="Calibri"/>
              </a:rPr>
              <a:t>who</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we do online </a:t>
            </a:r>
            <a:r>
              <a:rPr lang="en-US" altLang="en-US" sz="2000" b="1" dirty="0">
                <a:solidFill>
                  <a:srgbClr val="C00000">
                    <a:alpha val="0"/>
                  </a:srgbClr>
                </a:solidFill>
                <a:latin typeface="Calibri"/>
                <a:ea typeface="맑은 고딕"/>
                <a:cs typeface="Calibri"/>
              </a:rPr>
              <a:t>[ </a:t>
            </a:r>
            <a:r>
              <a:rPr lang="en-US" altLang="en-US" sz="2000" b="1" dirty="0">
                <a:solidFill>
                  <a:srgbClr val="C00000">
                    <a:alpha val="0"/>
                  </a:srgbClr>
                </a:solidFill>
                <a:latin typeface="Calibri"/>
                <a:ea typeface="맑은 고딕"/>
                <a:cs typeface="Calibri"/>
              </a:rPr>
              <a:t>leave</a:t>
            </a:r>
            <a:r>
              <a:rPr lang="en-US" altLang="en-US" sz="2000" b="1" dirty="0">
                <a:solidFill>
                  <a:srgbClr val="C00000">
                    <a:alpha val="0"/>
                  </a:srgbClr>
                </a:solidFill>
                <a:latin typeface="Calibri"/>
                <a:ea typeface="맑은 고딕"/>
                <a:cs typeface="Calibri"/>
              </a:rPr>
              <a:t> / </a:t>
            </a:r>
            <a:r>
              <a:rPr lang="en-US" altLang="en-US" sz="2000" b="1" dirty="0">
                <a:solidFill>
                  <a:srgbClr val="C00000"/>
                </a:solidFill>
                <a:latin typeface="Calibri"/>
                <a:ea typeface="맑은 고딕"/>
                <a:cs typeface="Calibri"/>
              </a:rPr>
              <a:t>leaves</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a trace.</a:t>
            </a:r>
            <a:endParaRPr lang="ko-KR" sz="2000"/>
          </a:p>
        </p:txBody>
      </p:sp>
      <p:sp>
        <p:nvSpPr>
          <p:cNvPr id="21" name="rv_point_3"/>
          <p:cNvSpPr txBox="1"/>
          <p:nvPr/>
        </p:nvSpPr>
        <p:spPr>
          <a:xfrm>
            <a:off x="457200" y="5032756"/>
            <a:ext cx="11274552" cy="331978"/>
          </a:xfrm>
          <a:prstGeom prst="rect">
            <a:avLst/>
          </a:prstGeom>
          <a:noFill/>
        </p:spPr>
        <p:txBody>
          <a:bodyPr wrap="square" lIns="228600" tIns="54864" rIns="228600" bIns="54864" anchor="t" rtlCol="0">
            <a:noAutofit/>
          </a:bodyPr>
          <a:lstStyle/>
          <a:p>
            <a:pPr algn="l">
              <a:lnSpc>
                <a:spcPts val="1750"/>
              </a:lnSpc>
              <a:spcBef>
                <a:spcPts val="0"/>
              </a:spcBef>
              <a:spcAft>
                <a:spcPts val="0"/>
              </a:spcAft>
              <a:buNone/>
            </a:pPr>
            <a:r>
              <a:rPr lang="ko-KR" altLang="en-US" sz="1400" b="1" dirty="0">
                <a:solidFill>
                  <a:srgbClr val="C00000"/>
                </a:solidFill>
                <a:latin typeface="맑은 고딕"/>
                <a:ea typeface="맑은 고딕"/>
                <a:cs typeface="맑은 고딕"/>
              </a:rPr>
              <a:t>포인트  </a:t>
            </a:r>
            <a:r>
              <a:rPr lang="ko-KR" altLang="en-US" sz="1400" b="0" dirty="0">
                <a:solidFill>
                  <a:srgbClr val="2F5597"/>
                </a:solidFill>
                <a:latin typeface="맑은 고딕"/>
                <a:ea typeface="맑은 고딕"/>
                <a:cs typeface="맑은 고딕"/>
              </a:rPr>
              <a:t>관계대명사 (선행사 everything=사물) · 동사의 수 일치 (주어 everything 단수)</a:t>
            </a:r>
            <a:endParaRPr lang="ko-KR" sz="1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25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250"/>
                                        <p:tgtEl>
                                          <p:spTgt spid="1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250"/>
                                        <p:tgtEl>
                                          <p:spTgt spid="1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fade">
                                      <p:cBhvr>
                                        <p:cTn id="16" dur="250"/>
                                        <p:tgtEl>
                                          <p:spTgt spid="1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250"/>
                                        <p:tgtEl>
                                          <p:spTgt spid="2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fade">
                                      <p:cBhvr>
                                        <p:cTn id="22" dur="25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5" grpId="0" animBg="1"/>
      <p:bldP spid="16" grpId="0" animBg="1"/>
      <p:bldP spid="20" grpId="0" animBg="1"/>
      <p:bldP spid="21" grpId="0" animBg="1"/>
    </p:bldLst>
  </p:timing>
</p:sld>
</file>

<file path=ppt/slides/slide2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8000"/>
            </a:avLst>
          </a:prstGeom>
          <a:solidFill>
            <a:srgbClr val="1E2A5A"/>
          </a:solidFill>
          <a:ln>
            <a:noFill/>
          </a:ln>
        </p:spPr>
        <p:txBody>
          <a:bodyPr wrap="square" lIns="45720" tIns="18288" rIns="45720" bIns="18288" anchor="ctr" rtlCol="0">
            <a:noAutofit/>
          </a:bodyPr>
          <a:lstStyle/>
          <a:p>
            <a:pPr algn="ctr">
              <a:lnSpc>
                <a:spcPts val="2000"/>
              </a:lnSpc>
              <a:spcBef>
                <a:spcPts val="0"/>
              </a:spcBef>
              <a:spcAft>
                <a:spcPts val="0"/>
              </a:spcAft>
              <a:buNone/>
            </a:pPr>
            <a:r>
              <a:rPr lang="en-US" altLang="en-US" sz="1700" b="1" dirty="0">
                <a:solidFill>
                  <a:srgbClr val="FFFFFF"/>
                </a:solidFill>
                <a:latin typeface="Calibri"/>
                <a:ea typeface="맑은 고딕"/>
                <a:cs typeface="Calibri"/>
              </a:rPr>
              <a:t>L7</a:t>
            </a:r>
            <a:endParaRPr lang="ko-KR" sz="1700"/>
          </a:p>
        </p:txBody>
      </p:sp>
      <p:sp>
        <p:nvSpPr>
          <p:cNvPr id="3" name="hdr_chip"/>
          <p:cNvSpPr/>
          <p:nvPr/>
        </p:nvSpPr>
        <p:spPr>
          <a:xfrm>
            <a:off x="1755648" y="274320"/>
            <a:ext cx="1371600" cy="493776"/>
          </a:xfrm>
          <a:prstGeom prst="roundRect">
            <a:avLst>
              <a:gd name="adj" fmla="val 8000"/>
            </a:avLst>
          </a:prstGeom>
          <a:solidFill>
            <a:srgbClr val="E6EAF4"/>
          </a:solidFill>
          <a:ln>
            <a:noFill/>
          </a:ln>
        </p:spPr>
        <p:txBody>
          <a:bodyPr wrap="square" lIns="27432" tIns="18288" rIns="27432" bIns="18288" anchor="ctr" rtlCol="0">
            <a:noAutofit/>
          </a:bodyPr>
          <a:lstStyle/>
          <a:p>
            <a:pPr algn="ctr">
              <a:lnSpc>
                <a:spcPts val="1700"/>
              </a:lnSpc>
              <a:spcBef>
                <a:spcPts val="0"/>
              </a:spcBef>
              <a:spcAft>
                <a:spcPts val="0"/>
              </a:spcAft>
              <a:buNone/>
            </a:pPr>
            <a:r>
              <a:rPr lang="ko-KR" altLang="en-US" sz="1400" b="1" dirty="0">
                <a:solidFill>
                  <a:srgbClr val="1E2A5A"/>
                </a:solidFill>
                <a:latin typeface="맑은 고딕"/>
                <a:ea typeface="맑은 고딕"/>
                <a:cs typeface="맑은 고딕"/>
              </a:rPr>
              <a:t>PART 5 · 3</a:t>
            </a:r>
            <a:endParaRPr lang="ko-KR" sz="1400"/>
          </a:p>
        </p:txBody>
      </p:sp>
      <p:sp>
        <p:nvSpPr>
          <p:cNvPr id="4" name="hdr_q"/>
          <p:cNvSpPr txBox="1"/>
          <p:nvPr/>
        </p:nvSpPr>
        <p:spPr>
          <a:xfrm>
            <a:off x="3246120" y="246888"/>
            <a:ext cx="8485632" cy="548640"/>
          </a:xfrm>
          <a:prstGeom prst="rect">
            <a:avLst/>
          </a:prstGeom>
          <a:noFill/>
        </p:spPr>
        <p:txBody>
          <a:bodyPr wrap="square" lIns="109728" tIns="54864" rIns="109728" bIns="54864" anchor="ctr" rtlCol="0">
            <a:noAutofit/>
          </a:bodyPr>
          <a:lstStyle/>
          <a:p>
            <a:pPr algn="l">
              <a:lnSpc>
                <a:spcPts val="2400"/>
              </a:lnSpc>
              <a:spcBef>
                <a:spcPts val="0"/>
              </a:spcBef>
              <a:spcAft>
                <a:spcPts val="0"/>
              </a:spcAft>
              <a:buNone/>
            </a:pPr>
            <a:r>
              <a:rPr lang="ko-KR" altLang="en-US" sz="2000" b="1" dirty="0">
                <a:solidFill>
                  <a:srgbClr val="1F2328"/>
                </a:solidFill>
                <a:latin typeface="맑은 고딕"/>
                <a:ea typeface="맑은 고딕"/>
                <a:cs typeface="맑은 고딕"/>
              </a:rPr>
              <a:t>[  ] 안에서 어법상 알맞은 것을 고르시오.</a:t>
            </a:r>
            <a:endParaRPr lang="ko-KR" sz="2000"/>
          </a:p>
        </p:txBody>
      </p:sp>
      <p:sp>
        <p:nvSpPr>
          <p:cNvPr id="5" name="ftr_exam"/>
          <p:cNvSpPr txBox="1"/>
          <p:nvPr/>
        </p:nvSpPr>
        <p:spPr>
          <a:xfrm>
            <a:off x="457200" y="6519672"/>
            <a:ext cx="5669280" cy="256032"/>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7</a:t>
            </a:r>
            <a:endParaRPr lang="ko-KR" sz="1000"/>
          </a:p>
        </p:txBody>
      </p:sp>
      <p:sp>
        <p:nvSpPr>
          <p:cNvPr id="6" name="ftr_hint"/>
          <p:cNvSpPr txBox="1"/>
          <p:nvPr/>
        </p:nvSpPr>
        <p:spPr>
          <a:xfrm>
            <a:off x="5971032" y="6519672"/>
            <a:ext cx="5760720" cy="256032"/>
          </a:xfrm>
          <a:prstGeom prst="rect">
            <a:avLst/>
          </a:prstGeom>
          <a:noFill/>
        </p:spPr>
        <p:txBody>
          <a:bodyPr wrap="square" lIns="0" tIns="0" rIns="0" bIns="0" anchor="t" rtlCol="0">
            <a:noAutofit/>
          </a:bodyPr>
          <a:lstStyle/>
          <a:p>
            <a:pPr algn="r">
              <a:lnSpc>
                <a:spcPts val="1200"/>
              </a:lnSpc>
              <a:spcBef>
                <a:spcPts val="0"/>
              </a:spcBef>
              <a:spcAft>
                <a:spcPts val="0"/>
              </a:spcAft>
              <a:buNone/>
            </a:pPr>
            <a:r>
              <a:rPr lang="ko-KR" altLang="en-US" sz="1000" b="0" dirty="0">
                <a:solidFill>
                  <a:srgbClr val="7A808C"/>
                </a:solidFill>
                <a:latin typeface="맑은 고딕"/>
                <a:ea typeface="맑은 고딕"/>
                <a:cs typeface="맑은 고딕"/>
              </a:rPr>
              <a:t>클릭 ① 정답(빨간색) + 문법 포인트 공개</a:t>
            </a:r>
            <a:endParaRPr lang="ko-KR" sz="1000"/>
          </a:p>
        </p:txBody>
      </p:sp>
      <p:sp>
        <p:nvSpPr>
          <p:cNvPr id="7" name="item_card_1"/>
          <p:cNvSpPr/>
          <p:nvPr/>
        </p:nvSpPr>
        <p:spPr>
          <a:xfrm>
            <a:off x="457200" y="950976"/>
            <a:ext cx="11274552" cy="1516634"/>
          </a:xfrm>
          <a:prstGeom prst="roundRect">
            <a:avLst>
              <a:gd name="adj" fmla="val 6000"/>
            </a:avLst>
          </a:prstGeom>
          <a:solidFill>
            <a:srgbClr val="F3F5F9"/>
          </a:solidFill>
          <a:ln w="12700">
            <a:solidFill>
              <a:srgbClr val="D9DFEA"/>
            </a:solidFill>
          </a:ln>
        </p:spPr>
        <p:txBody>
          <a:bodyPr rtlCol="0" anchor="ctr"/>
          <a:lstStyle/>
          <a:p>
            <a:pPr algn="ctr"/>
          </a:p>
        </p:txBody>
      </p:sp>
      <p:sp>
        <p:nvSpPr>
          <p:cNvPr id="8" name="kor_1"/>
          <p:cNvSpPr txBox="1"/>
          <p:nvPr/>
        </p:nvSpPr>
        <p:spPr>
          <a:xfrm>
            <a:off x="457200" y="1060704"/>
            <a:ext cx="11274552" cy="363728"/>
          </a:xfrm>
          <a:prstGeom prst="rect">
            <a:avLst/>
          </a:prstGeom>
          <a:noFill/>
        </p:spPr>
        <p:txBody>
          <a:bodyPr wrap="square" lIns="228600" tIns="54864" rIns="228600" bIns="54864" anchor="t" rtlCol="0">
            <a:noAutofit/>
          </a:bodyPr>
          <a:lstStyle/>
          <a:p>
            <a:pPr algn="l">
              <a:lnSpc>
                <a:spcPts val="2000"/>
              </a:lnSpc>
              <a:spcBef>
                <a:spcPts val="0"/>
              </a:spcBef>
              <a:spcAft>
                <a:spcPts val="0"/>
              </a:spcAft>
              <a:buNone/>
            </a:pPr>
            <a:r>
              <a:rPr lang="en-US" altLang="en-US" sz="1600" b="1" dirty="0">
                <a:solidFill>
                  <a:srgbClr val="1E2A5A"/>
                </a:solidFill>
                <a:latin typeface="Calibri"/>
                <a:ea typeface="맑은 고딕"/>
                <a:cs typeface="Calibri"/>
              </a:rPr>
              <a:t>7.  </a:t>
            </a:r>
            <a:r>
              <a:rPr lang="ko-KR" altLang="en-US" sz="1600" b="0" dirty="0">
                <a:solidFill>
                  <a:srgbClr val="3C4558"/>
                </a:solidFill>
                <a:latin typeface="맑은 고딕"/>
                <a:ea typeface="맑은 고딕"/>
                <a:cs typeface="맑은 고딕"/>
              </a:rPr>
              <a:t>예를 들어, 블로그에 올린 사진이나 온라인 상점에서의 구매 기록도 모두 빅데이터의 일부다.</a:t>
            </a:r>
            <a:endParaRPr lang="ko-KR" sz="1600"/>
          </a:p>
        </p:txBody>
      </p:sp>
      <p:sp>
        <p:nvSpPr>
          <p:cNvPr id="9" name="eng_1"/>
          <p:cNvSpPr txBox="1"/>
          <p:nvPr/>
        </p:nvSpPr>
        <p:spPr>
          <a:xfrm>
            <a:off x="457200" y="1369568"/>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solidFill>
                <a:latin typeface="Calibri"/>
                <a:ea typeface="맑은 고딕"/>
                <a:cs typeface="Calibri"/>
              </a:rPr>
              <a:t>For example, the photos you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uploads</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upload</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on your blog and the records of your purchases at online stores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are</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is</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all part of big data.</a:t>
            </a:r>
            <a:endParaRPr lang="ko-KR" sz="2000"/>
          </a:p>
        </p:txBody>
      </p:sp>
      <p:sp>
        <p:nvSpPr>
          <p:cNvPr id="10" name="rv_eng_1"/>
          <p:cNvSpPr txBox="1"/>
          <p:nvPr/>
        </p:nvSpPr>
        <p:spPr>
          <a:xfrm>
            <a:off x="457200" y="1369568"/>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alpha val="0"/>
                  </a:srgbClr>
                </a:solidFill>
                <a:latin typeface="Calibri"/>
                <a:ea typeface="맑은 고딕"/>
                <a:cs typeface="Calibri"/>
              </a:rPr>
              <a:t>For example, the photos you </a:t>
            </a:r>
            <a:r>
              <a:rPr lang="en-US" altLang="en-US" sz="2000" b="1" dirty="0">
                <a:solidFill>
                  <a:srgbClr val="C00000">
                    <a:alpha val="0"/>
                  </a:srgbClr>
                </a:solidFill>
                <a:latin typeface="Calibri"/>
                <a:ea typeface="맑은 고딕"/>
                <a:cs typeface="Calibri"/>
              </a:rPr>
              <a:t>[ </a:t>
            </a:r>
            <a:r>
              <a:rPr lang="en-US" altLang="en-US" sz="2000" b="1" dirty="0">
                <a:solidFill>
                  <a:srgbClr val="C00000">
                    <a:alpha val="0"/>
                  </a:srgbClr>
                </a:solidFill>
                <a:latin typeface="Calibri"/>
                <a:ea typeface="맑은 고딕"/>
                <a:cs typeface="Calibri"/>
              </a:rPr>
              <a:t>uploads</a:t>
            </a:r>
            <a:r>
              <a:rPr lang="en-US" altLang="en-US" sz="2000" b="1" dirty="0">
                <a:solidFill>
                  <a:srgbClr val="C00000">
                    <a:alpha val="0"/>
                  </a:srgbClr>
                </a:solidFill>
                <a:latin typeface="Calibri"/>
                <a:ea typeface="맑은 고딕"/>
                <a:cs typeface="Calibri"/>
              </a:rPr>
              <a:t> / </a:t>
            </a:r>
            <a:r>
              <a:rPr lang="en-US" altLang="en-US" sz="2000" b="1" dirty="0">
                <a:solidFill>
                  <a:srgbClr val="C00000"/>
                </a:solidFill>
                <a:latin typeface="Calibri"/>
                <a:ea typeface="맑은 고딕"/>
                <a:cs typeface="Calibri"/>
              </a:rPr>
              <a:t>upload</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on your blog and the records of your purchases at online stores </a:t>
            </a:r>
            <a:r>
              <a:rPr lang="en-US" altLang="en-US" sz="2000" b="1" dirty="0">
                <a:solidFill>
                  <a:srgbClr val="C00000">
                    <a:alpha val="0"/>
                  </a:srgbClr>
                </a:solidFill>
                <a:latin typeface="Calibri"/>
                <a:ea typeface="맑은 고딕"/>
                <a:cs typeface="Calibri"/>
              </a:rPr>
              <a:t>[ </a:t>
            </a:r>
            <a:r>
              <a:rPr lang="en-US" altLang="en-US" sz="2000" b="1" dirty="0">
                <a:solidFill>
                  <a:srgbClr val="C00000"/>
                </a:solidFill>
                <a:latin typeface="Calibri"/>
                <a:ea typeface="맑은 고딕"/>
                <a:cs typeface="Calibri"/>
              </a:rPr>
              <a:t>are</a:t>
            </a:r>
            <a:r>
              <a:rPr lang="en-US" altLang="en-US" sz="2000" b="1" dirty="0">
                <a:solidFill>
                  <a:srgbClr val="C00000">
                    <a:alpha val="0"/>
                  </a:srgbClr>
                </a:solidFill>
                <a:latin typeface="Calibri"/>
                <a:ea typeface="맑은 고딕"/>
                <a:cs typeface="Calibri"/>
              </a:rPr>
              <a:t> / </a:t>
            </a:r>
            <a:r>
              <a:rPr lang="en-US" altLang="en-US" sz="2000" b="1" dirty="0">
                <a:solidFill>
                  <a:srgbClr val="C00000">
                    <a:alpha val="0"/>
                  </a:srgbClr>
                </a:solidFill>
                <a:latin typeface="Calibri"/>
                <a:ea typeface="맑은 고딕"/>
                <a:cs typeface="Calibri"/>
              </a:rPr>
              <a:t>is</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all part of big data.</a:t>
            </a:r>
            <a:endParaRPr lang="ko-KR" sz="2000"/>
          </a:p>
        </p:txBody>
      </p:sp>
      <p:sp>
        <p:nvSpPr>
          <p:cNvPr id="11" name="rv_point_1"/>
          <p:cNvSpPr txBox="1"/>
          <p:nvPr/>
        </p:nvSpPr>
        <p:spPr>
          <a:xfrm>
            <a:off x="457200" y="2135632"/>
            <a:ext cx="11274552" cy="331978"/>
          </a:xfrm>
          <a:prstGeom prst="rect">
            <a:avLst/>
          </a:prstGeom>
          <a:noFill/>
        </p:spPr>
        <p:txBody>
          <a:bodyPr wrap="square" lIns="228600" tIns="54864" rIns="228600" bIns="54864" anchor="t" rtlCol="0">
            <a:noAutofit/>
          </a:bodyPr>
          <a:lstStyle/>
          <a:p>
            <a:pPr algn="l">
              <a:lnSpc>
                <a:spcPts val="1750"/>
              </a:lnSpc>
              <a:spcBef>
                <a:spcPts val="0"/>
              </a:spcBef>
              <a:spcAft>
                <a:spcPts val="0"/>
              </a:spcAft>
              <a:buNone/>
            </a:pPr>
            <a:r>
              <a:rPr lang="ko-KR" altLang="en-US" sz="1400" b="1" dirty="0">
                <a:solidFill>
                  <a:srgbClr val="C00000"/>
                </a:solidFill>
                <a:latin typeface="맑은 고딕"/>
                <a:ea typeface="맑은 고딕"/>
                <a:cs typeface="맑은 고딕"/>
              </a:rPr>
              <a:t>포인트  </a:t>
            </a:r>
            <a:r>
              <a:rPr lang="ko-KR" altLang="en-US" sz="1400" b="0" dirty="0">
                <a:solidFill>
                  <a:srgbClr val="2F5597"/>
                </a:solidFill>
                <a:latin typeface="맑은 고딕"/>
                <a:ea typeface="맑은 고딕"/>
                <a:cs typeface="맑은 고딕"/>
              </a:rPr>
              <a:t>동사의 수 일치 (주어 you) · 동사의 수 일치 (주어 the photos and the records 복수)</a:t>
            </a:r>
            <a:endParaRPr lang="ko-KR" sz="1400"/>
          </a:p>
        </p:txBody>
      </p:sp>
      <p:sp>
        <p:nvSpPr>
          <p:cNvPr id="12" name="item_card_2"/>
          <p:cNvSpPr/>
          <p:nvPr/>
        </p:nvSpPr>
        <p:spPr>
          <a:xfrm>
            <a:off x="457200" y="2577338"/>
            <a:ext cx="11274552" cy="1161034"/>
          </a:xfrm>
          <a:prstGeom prst="roundRect">
            <a:avLst>
              <a:gd name="adj" fmla="val 6000"/>
            </a:avLst>
          </a:prstGeom>
          <a:solidFill>
            <a:srgbClr val="F3F5F9"/>
          </a:solidFill>
          <a:ln w="12700">
            <a:solidFill>
              <a:srgbClr val="D9DFEA"/>
            </a:solidFill>
          </a:ln>
        </p:spPr>
        <p:txBody>
          <a:bodyPr rtlCol="0" anchor="ctr"/>
          <a:lstStyle/>
          <a:p>
            <a:pPr algn="ctr"/>
          </a:p>
        </p:txBody>
      </p:sp>
      <p:sp>
        <p:nvSpPr>
          <p:cNvPr id="13" name="kor_2"/>
          <p:cNvSpPr txBox="1"/>
          <p:nvPr/>
        </p:nvSpPr>
        <p:spPr>
          <a:xfrm>
            <a:off x="457200" y="2687066"/>
            <a:ext cx="11274552" cy="363728"/>
          </a:xfrm>
          <a:prstGeom prst="rect">
            <a:avLst/>
          </a:prstGeom>
          <a:noFill/>
        </p:spPr>
        <p:txBody>
          <a:bodyPr wrap="square" lIns="228600" tIns="54864" rIns="228600" bIns="54864" anchor="t" rtlCol="0">
            <a:noAutofit/>
          </a:bodyPr>
          <a:lstStyle/>
          <a:p>
            <a:pPr algn="l">
              <a:lnSpc>
                <a:spcPts val="2000"/>
              </a:lnSpc>
              <a:spcBef>
                <a:spcPts val="0"/>
              </a:spcBef>
              <a:spcAft>
                <a:spcPts val="0"/>
              </a:spcAft>
              <a:buNone/>
            </a:pPr>
            <a:r>
              <a:rPr lang="en-US" altLang="en-US" sz="1600" b="1" dirty="0">
                <a:solidFill>
                  <a:srgbClr val="1E2A5A"/>
                </a:solidFill>
                <a:latin typeface="Calibri"/>
                <a:ea typeface="맑은 고딕"/>
                <a:cs typeface="Calibri"/>
              </a:rPr>
              <a:t>8.  </a:t>
            </a:r>
            <a:r>
              <a:rPr lang="ko-KR" altLang="en-US" sz="1600" b="0" dirty="0">
                <a:solidFill>
                  <a:srgbClr val="3C4558"/>
                </a:solidFill>
                <a:latin typeface="맑은 고딕"/>
                <a:ea typeface="맑은 고딕"/>
                <a:cs typeface="맑은 고딕"/>
              </a:rPr>
              <a:t>하지만 데이터를 모으기만 하는 것으로는 충분하지 않다.</a:t>
            </a:r>
            <a:endParaRPr lang="ko-KR" sz="1600"/>
          </a:p>
        </p:txBody>
      </p:sp>
      <p:sp>
        <p:nvSpPr>
          <p:cNvPr id="14" name="eng_2"/>
          <p:cNvSpPr txBox="1"/>
          <p:nvPr/>
        </p:nvSpPr>
        <p:spPr>
          <a:xfrm>
            <a:off x="457200" y="2995930"/>
            <a:ext cx="11274552" cy="4653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solidFill>
                <a:latin typeface="Calibri"/>
                <a:ea typeface="맑은 고딕"/>
                <a:cs typeface="Calibri"/>
              </a:rPr>
              <a:t>Simply collecting data, however,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is</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are</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not enough.</a:t>
            </a:r>
            <a:endParaRPr lang="ko-KR" sz="2000"/>
          </a:p>
        </p:txBody>
      </p:sp>
      <p:sp>
        <p:nvSpPr>
          <p:cNvPr id="15" name="rv_eng_2"/>
          <p:cNvSpPr txBox="1"/>
          <p:nvPr/>
        </p:nvSpPr>
        <p:spPr>
          <a:xfrm>
            <a:off x="457200" y="2995930"/>
            <a:ext cx="11274552" cy="4653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alpha val="0"/>
                  </a:srgbClr>
                </a:solidFill>
                <a:latin typeface="Calibri"/>
                <a:ea typeface="맑은 고딕"/>
                <a:cs typeface="Calibri"/>
              </a:rPr>
              <a:t>Simply collecting data, however, </a:t>
            </a:r>
            <a:r>
              <a:rPr lang="en-US" altLang="en-US" sz="2000" b="1" dirty="0">
                <a:solidFill>
                  <a:srgbClr val="C00000">
                    <a:alpha val="0"/>
                  </a:srgbClr>
                </a:solidFill>
                <a:latin typeface="Calibri"/>
                <a:ea typeface="맑은 고딕"/>
                <a:cs typeface="Calibri"/>
              </a:rPr>
              <a:t>[ </a:t>
            </a:r>
            <a:r>
              <a:rPr lang="en-US" altLang="en-US" sz="2000" b="1" dirty="0">
                <a:solidFill>
                  <a:srgbClr val="C00000"/>
                </a:solidFill>
                <a:latin typeface="Calibri"/>
                <a:ea typeface="맑은 고딕"/>
                <a:cs typeface="Calibri"/>
              </a:rPr>
              <a:t>is</a:t>
            </a:r>
            <a:r>
              <a:rPr lang="en-US" altLang="en-US" sz="2000" b="1" dirty="0">
                <a:solidFill>
                  <a:srgbClr val="C00000">
                    <a:alpha val="0"/>
                  </a:srgbClr>
                </a:solidFill>
                <a:latin typeface="Calibri"/>
                <a:ea typeface="맑은 고딕"/>
                <a:cs typeface="Calibri"/>
              </a:rPr>
              <a:t> / </a:t>
            </a:r>
            <a:r>
              <a:rPr lang="en-US" altLang="en-US" sz="2000" b="1" dirty="0">
                <a:solidFill>
                  <a:srgbClr val="C00000">
                    <a:alpha val="0"/>
                  </a:srgbClr>
                </a:solidFill>
                <a:latin typeface="Calibri"/>
                <a:ea typeface="맑은 고딕"/>
                <a:cs typeface="Calibri"/>
              </a:rPr>
              <a:t>are</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not enough.</a:t>
            </a:r>
            <a:endParaRPr lang="ko-KR" sz="2000"/>
          </a:p>
        </p:txBody>
      </p:sp>
      <p:sp>
        <p:nvSpPr>
          <p:cNvPr id="16" name="rv_point_2"/>
          <p:cNvSpPr txBox="1"/>
          <p:nvPr/>
        </p:nvSpPr>
        <p:spPr>
          <a:xfrm>
            <a:off x="457200" y="3406394"/>
            <a:ext cx="11274552" cy="331978"/>
          </a:xfrm>
          <a:prstGeom prst="rect">
            <a:avLst/>
          </a:prstGeom>
          <a:noFill/>
        </p:spPr>
        <p:txBody>
          <a:bodyPr wrap="square" lIns="228600" tIns="54864" rIns="228600" bIns="54864" anchor="t" rtlCol="0">
            <a:noAutofit/>
          </a:bodyPr>
          <a:lstStyle/>
          <a:p>
            <a:pPr algn="l">
              <a:lnSpc>
                <a:spcPts val="1750"/>
              </a:lnSpc>
              <a:spcBef>
                <a:spcPts val="0"/>
              </a:spcBef>
              <a:spcAft>
                <a:spcPts val="0"/>
              </a:spcAft>
              <a:buNone/>
            </a:pPr>
            <a:r>
              <a:rPr lang="ko-KR" altLang="en-US" sz="1400" b="1" dirty="0">
                <a:solidFill>
                  <a:srgbClr val="C00000"/>
                </a:solidFill>
                <a:latin typeface="맑은 고딕"/>
                <a:ea typeface="맑은 고딕"/>
                <a:cs typeface="맑은 고딕"/>
              </a:rPr>
              <a:t>포인트  </a:t>
            </a:r>
            <a:r>
              <a:rPr lang="ko-KR" altLang="en-US" sz="1400" b="0" dirty="0">
                <a:solidFill>
                  <a:srgbClr val="2F5597"/>
                </a:solidFill>
                <a:latin typeface="맑은 고딕"/>
                <a:ea typeface="맑은 고딕"/>
                <a:cs typeface="맑은 고딕"/>
              </a:rPr>
              <a:t>동사의 수 일치 (동명사 주어 → 단수)</a:t>
            </a:r>
            <a:endParaRPr lang="ko-KR" sz="1400"/>
          </a:p>
        </p:txBody>
      </p:sp>
      <p:sp>
        <p:nvSpPr>
          <p:cNvPr id="17" name="item_card_3"/>
          <p:cNvSpPr/>
          <p:nvPr/>
        </p:nvSpPr>
        <p:spPr>
          <a:xfrm>
            <a:off x="457200" y="3848100"/>
            <a:ext cx="11274552" cy="1738884"/>
          </a:xfrm>
          <a:prstGeom prst="roundRect">
            <a:avLst>
              <a:gd name="adj" fmla="val 6000"/>
            </a:avLst>
          </a:prstGeom>
          <a:solidFill>
            <a:srgbClr val="F3F5F9"/>
          </a:solidFill>
          <a:ln w="12700">
            <a:solidFill>
              <a:srgbClr val="D9DFEA"/>
            </a:solidFill>
          </a:ln>
        </p:spPr>
        <p:txBody>
          <a:bodyPr rtlCol="0" anchor="ctr"/>
          <a:lstStyle/>
          <a:p>
            <a:pPr algn="ctr"/>
          </a:p>
        </p:txBody>
      </p:sp>
      <p:sp>
        <p:nvSpPr>
          <p:cNvPr id="18" name="kor_3"/>
          <p:cNvSpPr txBox="1"/>
          <p:nvPr/>
        </p:nvSpPr>
        <p:spPr>
          <a:xfrm>
            <a:off x="457200" y="3957828"/>
            <a:ext cx="11274552" cy="363728"/>
          </a:xfrm>
          <a:prstGeom prst="rect">
            <a:avLst/>
          </a:prstGeom>
          <a:noFill/>
        </p:spPr>
        <p:txBody>
          <a:bodyPr wrap="square" lIns="228600" tIns="54864" rIns="228600" bIns="54864" anchor="t" rtlCol="0">
            <a:noAutofit/>
          </a:bodyPr>
          <a:lstStyle/>
          <a:p>
            <a:pPr algn="l">
              <a:lnSpc>
                <a:spcPts val="2000"/>
              </a:lnSpc>
              <a:spcBef>
                <a:spcPts val="0"/>
              </a:spcBef>
              <a:spcAft>
                <a:spcPts val="0"/>
              </a:spcAft>
              <a:buNone/>
            </a:pPr>
            <a:r>
              <a:rPr lang="en-US" altLang="en-US" sz="1600" b="1" dirty="0">
                <a:solidFill>
                  <a:srgbClr val="1E2A5A"/>
                </a:solidFill>
                <a:latin typeface="Calibri"/>
                <a:ea typeface="맑은 고딕"/>
                <a:cs typeface="Calibri"/>
              </a:rPr>
              <a:t>9.  </a:t>
            </a:r>
            <a:r>
              <a:rPr lang="ko-KR" altLang="en-US" sz="1600" b="0" dirty="0">
                <a:solidFill>
                  <a:srgbClr val="3C4558"/>
                </a:solidFill>
                <a:latin typeface="맑은 고딕"/>
                <a:ea typeface="맑은 고딕"/>
                <a:cs typeface="맑은 고딕"/>
              </a:rPr>
              <a:t>빅데이터는 분석 과정을 거쳐야 하며, 이 일은 빅데이터 전문가들이 맡는다.</a:t>
            </a:r>
            <a:endParaRPr lang="ko-KR" sz="1600"/>
          </a:p>
        </p:txBody>
      </p:sp>
      <p:sp>
        <p:nvSpPr>
          <p:cNvPr id="19" name="eng_3"/>
          <p:cNvSpPr txBox="1"/>
          <p:nvPr/>
        </p:nvSpPr>
        <p:spPr>
          <a:xfrm>
            <a:off x="457200" y="4266692"/>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solidFill>
                <a:latin typeface="Calibri"/>
                <a:ea typeface="맑은 고딕"/>
                <a:cs typeface="Calibri"/>
              </a:rPr>
              <a:t>Big data has to be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analyzing</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analyzed</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and this is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done</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doing</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by big data experts.</a:t>
            </a:r>
            <a:endParaRPr lang="ko-KR" sz="2000"/>
          </a:p>
        </p:txBody>
      </p:sp>
      <p:sp>
        <p:nvSpPr>
          <p:cNvPr id="20" name="rv_eng_3"/>
          <p:cNvSpPr txBox="1"/>
          <p:nvPr/>
        </p:nvSpPr>
        <p:spPr>
          <a:xfrm>
            <a:off x="457200" y="4266692"/>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alpha val="0"/>
                  </a:srgbClr>
                </a:solidFill>
                <a:latin typeface="Calibri"/>
                <a:ea typeface="맑은 고딕"/>
                <a:cs typeface="Calibri"/>
              </a:rPr>
              <a:t>Big data has to be </a:t>
            </a:r>
            <a:r>
              <a:rPr lang="en-US" altLang="en-US" sz="2000" b="1" dirty="0">
                <a:solidFill>
                  <a:srgbClr val="C00000">
                    <a:alpha val="0"/>
                  </a:srgbClr>
                </a:solidFill>
                <a:latin typeface="Calibri"/>
                <a:ea typeface="맑은 고딕"/>
                <a:cs typeface="Calibri"/>
              </a:rPr>
              <a:t>[ </a:t>
            </a:r>
            <a:r>
              <a:rPr lang="en-US" altLang="en-US" sz="2000" b="1" dirty="0">
                <a:solidFill>
                  <a:srgbClr val="C00000">
                    <a:alpha val="0"/>
                  </a:srgbClr>
                </a:solidFill>
                <a:latin typeface="Calibri"/>
                <a:ea typeface="맑은 고딕"/>
                <a:cs typeface="Calibri"/>
              </a:rPr>
              <a:t>analyzing</a:t>
            </a:r>
            <a:r>
              <a:rPr lang="en-US" altLang="en-US" sz="2000" b="1" dirty="0">
                <a:solidFill>
                  <a:srgbClr val="C00000">
                    <a:alpha val="0"/>
                  </a:srgbClr>
                </a:solidFill>
                <a:latin typeface="Calibri"/>
                <a:ea typeface="맑은 고딕"/>
                <a:cs typeface="Calibri"/>
              </a:rPr>
              <a:t> / </a:t>
            </a:r>
            <a:r>
              <a:rPr lang="en-US" altLang="en-US" sz="2000" b="1" dirty="0">
                <a:solidFill>
                  <a:srgbClr val="C00000"/>
                </a:solidFill>
                <a:latin typeface="Calibri"/>
                <a:ea typeface="맑은 고딕"/>
                <a:cs typeface="Calibri"/>
              </a:rPr>
              <a:t>analyzed</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and this is </a:t>
            </a:r>
            <a:r>
              <a:rPr lang="en-US" altLang="en-US" sz="2000" b="1" dirty="0">
                <a:solidFill>
                  <a:srgbClr val="C00000">
                    <a:alpha val="0"/>
                  </a:srgbClr>
                </a:solidFill>
                <a:latin typeface="Calibri"/>
                <a:ea typeface="맑은 고딕"/>
                <a:cs typeface="Calibri"/>
              </a:rPr>
              <a:t>[ </a:t>
            </a:r>
            <a:r>
              <a:rPr lang="en-US" altLang="en-US" sz="2000" b="1" dirty="0">
                <a:solidFill>
                  <a:srgbClr val="C00000"/>
                </a:solidFill>
                <a:latin typeface="Calibri"/>
                <a:ea typeface="맑은 고딕"/>
                <a:cs typeface="Calibri"/>
              </a:rPr>
              <a:t>done</a:t>
            </a:r>
            <a:r>
              <a:rPr lang="en-US" altLang="en-US" sz="2000" b="1" dirty="0">
                <a:solidFill>
                  <a:srgbClr val="C00000">
                    <a:alpha val="0"/>
                  </a:srgbClr>
                </a:solidFill>
                <a:latin typeface="Calibri"/>
                <a:ea typeface="맑은 고딕"/>
                <a:cs typeface="Calibri"/>
              </a:rPr>
              <a:t> / </a:t>
            </a:r>
            <a:r>
              <a:rPr lang="en-US" altLang="en-US" sz="2000" b="1" dirty="0">
                <a:solidFill>
                  <a:srgbClr val="C00000">
                    <a:alpha val="0"/>
                  </a:srgbClr>
                </a:solidFill>
                <a:latin typeface="Calibri"/>
                <a:ea typeface="맑은 고딕"/>
                <a:cs typeface="Calibri"/>
              </a:rPr>
              <a:t>doing</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by big data experts.</a:t>
            </a:r>
            <a:endParaRPr lang="ko-KR" sz="2000"/>
          </a:p>
        </p:txBody>
      </p:sp>
      <p:sp>
        <p:nvSpPr>
          <p:cNvPr id="21" name="rv_point_3"/>
          <p:cNvSpPr txBox="1"/>
          <p:nvPr/>
        </p:nvSpPr>
        <p:spPr>
          <a:xfrm>
            <a:off x="457200" y="5032756"/>
            <a:ext cx="11274552" cy="554227"/>
          </a:xfrm>
          <a:prstGeom prst="rect">
            <a:avLst/>
          </a:prstGeom>
          <a:noFill/>
        </p:spPr>
        <p:txBody>
          <a:bodyPr wrap="square" lIns="228600" tIns="54864" rIns="228600" bIns="54864" anchor="t" rtlCol="0">
            <a:noAutofit/>
          </a:bodyPr>
          <a:lstStyle/>
          <a:p>
            <a:pPr algn="l">
              <a:lnSpc>
                <a:spcPts val="1750"/>
              </a:lnSpc>
              <a:spcBef>
                <a:spcPts val="0"/>
              </a:spcBef>
              <a:spcAft>
                <a:spcPts val="0"/>
              </a:spcAft>
              <a:buNone/>
            </a:pPr>
            <a:r>
              <a:rPr lang="ko-KR" altLang="en-US" sz="1400" b="1" dirty="0">
                <a:solidFill>
                  <a:srgbClr val="C00000"/>
                </a:solidFill>
                <a:latin typeface="맑은 고딕"/>
                <a:ea typeface="맑은 고딕"/>
                <a:cs typeface="맑은 고딕"/>
              </a:rPr>
              <a:t>포인트  </a:t>
            </a:r>
            <a:r>
              <a:rPr lang="ko-KR" altLang="en-US" sz="1400" b="0" dirty="0">
                <a:solidFill>
                  <a:srgbClr val="2F5597"/>
                </a:solidFill>
                <a:latin typeface="맑은 고딕"/>
                <a:ea typeface="맑은 고딕"/>
                <a:cs typeface="맑은 고딕"/>
              </a:rPr>
              <a:t>수동태(능동/수동 구별) (빅데이터가 '분석되는' 것 → be + p.p.) · 수동태(능동/수동 구별) (by 행위자 → be + p.p.)</a:t>
            </a:r>
            <a:endParaRPr lang="ko-KR" sz="1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25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250"/>
                                        <p:tgtEl>
                                          <p:spTgt spid="1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250"/>
                                        <p:tgtEl>
                                          <p:spTgt spid="1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fade">
                                      <p:cBhvr>
                                        <p:cTn id="16" dur="250"/>
                                        <p:tgtEl>
                                          <p:spTgt spid="1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250"/>
                                        <p:tgtEl>
                                          <p:spTgt spid="2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fade">
                                      <p:cBhvr>
                                        <p:cTn id="22" dur="25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5" grpId="0" animBg="1"/>
      <p:bldP spid="16" grpId="0" animBg="1"/>
      <p:bldP spid="20" grpId="0" animBg="1"/>
      <p:bldP spid="21" grpId="0" animBg="1"/>
    </p:bldLst>
  </p:timing>
</p:sld>
</file>

<file path=ppt/slides/slide2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8000"/>
            </a:avLst>
          </a:prstGeom>
          <a:solidFill>
            <a:srgbClr val="1E2A5A"/>
          </a:solidFill>
          <a:ln>
            <a:noFill/>
          </a:ln>
        </p:spPr>
        <p:txBody>
          <a:bodyPr wrap="square" lIns="45720" tIns="18288" rIns="45720" bIns="18288" anchor="ctr" rtlCol="0">
            <a:noAutofit/>
          </a:bodyPr>
          <a:lstStyle/>
          <a:p>
            <a:pPr algn="ctr">
              <a:lnSpc>
                <a:spcPts val="2000"/>
              </a:lnSpc>
              <a:spcBef>
                <a:spcPts val="0"/>
              </a:spcBef>
              <a:spcAft>
                <a:spcPts val="0"/>
              </a:spcAft>
              <a:buNone/>
            </a:pPr>
            <a:r>
              <a:rPr lang="en-US" altLang="en-US" sz="1700" b="1" dirty="0">
                <a:solidFill>
                  <a:srgbClr val="FFFFFF"/>
                </a:solidFill>
                <a:latin typeface="Calibri"/>
                <a:ea typeface="맑은 고딕"/>
                <a:cs typeface="Calibri"/>
              </a:rPr>
              <a:t>L7</a:t>
            </a:r>
            <a:endParaRPr lang="ko-KR" sz="1700"/>
          </a:p>
        </p:txBody>
      </p:sp>
      <p:sp>
        <p:nvSpPr>
          <p:cNvPr id="3" name="hdr_chip"/>
          <p:cNvSpPr/>
          <p:nvPr/>
        </p:nvSpPr>
        <p:spPr>
          <a:xfrm>
            <a:off x="1755648" y="274320"/>
            <a:ext cx="1371600" cy="493776"/>
          </a:xfrm>
          <a:prstGeom prst="roundRect">
            <a:avLst>
              <a:gd name="adj" fmla="val 8000"/>
            </a:avLst>
          </a:prstGeom>
          <a:solidFill>
            <a:srgbClr val="E6EAF4"/>
          </a:solidFill>
          <a:ln>
            <a:noFill/>
          </a:ln>
        </p:spPr>
        <p:txBody>
          <a:bodyPr wrap="square" lIns="27432" tIns="18288" rIns="27432" bIns="18288" anchor="ctr" rtlCol="0">
            <a:noAutofit/>
          </a:bodyPr>
          <a:lstStyle/>
          <a:p>
            <a:pPr algn="ctr">
              <a:lnSpc>
                <a:spcPts val="1700"/>
              </a:lnSpc>
              <a:spcBef>
                <a:spcPts val="0"/>
              </a:spcBef>
              <a:spcAft>
                <a:spcPts val="0"/>
              </a:spcAft>
              <a:buNone/>
            </a:pPr>
            <a:r>
              <a:rPr lang="ko-KR" altLang="en-US" sz="1400" b="1" dirty="0">
                <a:solidFill>
                  <a:srgbClr val="1E2A5A"/>
                </a:solidFill>
                <a:latin typeface="맑은 고딕"/>
                <a:ea typeface="맑은 고딕"/>
                <a:cs typeface="맑은 고딕"/>
              </a:rPr>
              <a:t>PART 5 · 4</a:t>
            </a:r>
            <a:endParaRPr lang="ko-KR" sz="1400"/>
          </a:p>
        </p:txBody>
      </p:sp>
      <p:sp>
        <p:nvSpPr>
          <p:cNvPr id="4" name="hdr_q"/>
          <p:cNvSpPr txBox="1"/>
          <p:nvPr/>
        </p:nvSpPr>
        <p:spPr>
          <a:xfrm>
            <a:off x="3246120" y="246888"/>
            <a:ext cx="8485632" cy="548640"/>
          </a:xfrm>
          <a:prstGeom prst="rect">
            <a:avLst/>
          </a:prstGeom>
          <a:noFill/>
        </p:spPr>
        <p:txBody>
          <a:bodyPr wrap="square" lIns="109728" tIns="54864" rIns="109728" bIns="54864" anchor="ctr" rtlCol="0">
            <a:noAutofit/>
          </a:bodyPr>
          <a:lstStyle/>
          <a:p>
            <a:pPr algn="l">
              <a:lnSpc>
                <a:spcPts val="2400"/>
              </a:lnSpc>
              <a:spcBef>
                <a:spcPts val="0"/>
              </a:spcBef>
              <a:spcAft>
                <a:spcPts val="0"/>
              </a:spcAft>
              <a:buNone/>
            </a:pPr>
            <a:r>
              <a:rPr lang="ko-KR" altLang="en-US" sz="2000" b="1" dirty="0">
                <a:solidFill>
                  <a:srgbClr val="1F2328"/>
                </a:solidFill>
                <a:latin typeface="맑은 고딕"/>
                <a:ea typeface="맑은 고딕"/>
                <a:cs typeface="맑은 고딕"/>
              </a:rPr>
              <a:t>[  ] 안에서 어법상 알맞은 것을 고르시오.</a:t>
            </a:r>
            <a:endParaRPr lang="ko-KR" sz="2000"/>
          </a:p>
        </p:txBody>
      </p:sp>
      <p:sp>
        <p:nvSpPr>
          <p:cNvPr id="5" name="ftr_exam"/>
          <p:cNvSpPr txBox="1"/>
          <p:nvPr/>
        </p:nvSpPr>
        <p:spPr>
          <a:xfrm>
            <a:off x="457200" y="6519672"/>
            <a:ext cx="5669280" cy="256032"/>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7</a:t>
            </a:r>
            <a:endParaRPr lang="ko-KR" sz="1000"/>
          </a:p>
        </p:txBody>
      </p:sp>
      <p:sp>
        <p:nvSpPr>
          <p:cNvPr id="6" name="ftr_hint"/>
          <p:cNvSpPr txBox="1"/>
          <p:nvPr/>
        </p:nvSpPr>
        <p:spPr>
          <a:xfrm>
            <a:off x="5971032" y="6519672"/>
            <a:ext cx="5760720" cy="256032"/>
          </a:xfrm>
          <a:prstGeom prst="rect">
            <a:avLst/>
          </a:prstGeom>
          <a:noFill/>
        </p:spPr>
        <p:txBody>
          <a:bodyPr wrap="square" lIns="0" tIns="0" rIns="0" bIns="0" anchor="t" rtlCol="0">
            <a:noAutofit/>
          </a:bodyPr>
          <a:lstStyle/>
          <a:p>
            <a:pPr algn="r">
              <a:lnSpc>
                <a:spcPts val="1200"/>
              </a:lnSpc>
              <a:spcBef>
                <a:spcPts val="0"/>
              </a:spcBef>
              <a:spcAft>
                <a:spcPts val="0"/>
              </a:spcAft>
              <a:buNone/>
            </a:pPr>
            <a:r>
              <a:rPr lang="ko-KR" altLang="en-US" sz="1000" b="0" dirty="0">
                <a:solidFill>
                  <a:srgbClr val="7A808C"/>
                </a:solidFill>
                <a:latin typeface="맑은 고딕"/>
                <a:ea typeface="맑은 고딕"/>
                <a:cs typeface="맑은 고딕"/>
              </a:rPr>
              <a:t>클릭 ① 정답(빨간색) + 문법 포인트 공개</a:t>
            </a:r>
            <a:endParaRPr lang="ko-KR" sz="1000"/>
          </a:p>
        </p:txBody>
      </p:sp>
      <p:sp>
        <p:nvSpPr>
          <p:cNvPr id="7" name="item_card_1"/>
          <p:cNvSpPr/>
          <p:nvPr/>
        </p:nvSpPr>
        <p:spPr>
          <a:xfrm>
            <a:off x="457200" y="950976"/>
            <a:ext cx="11274552" cy="1516634"/>
          </a:xfrm>
          <a:prstGeom prst="roundRect">
            <a:avLst>
              <a:gd name="adj" fmla="val 6000"/>
            </a:avLst>
          </a:prstGeom>
          <a:solidFill>
            <a:srgbClr val="F3F5F9"/>
          </a:solidFill>
          <a:ln w="12700">
            <a:solidFill>
              <a:srgbClr val="D9DFEA"/>
            </a:solidFill>
          </a:ln>
        </p:spPr>
        <p:txBody>
          <a:bodyPr rtlCol="0" anchor="ctr"/>
          <a:lstStyle/>
          <a:p>
            <a:pPr algn="ctr"/>
          </a:p>
        </p:txBody>
      </p:sp>
      <p:sp>
        <p:nvSpPr>
          <p:cNvPr id="8" name="kor_1"/>
          <p:cNvSpPr txBox="1"/>
          <p:nvPr/>
        </p:nvSpPr>
        <p:spPr>
          <a:xfrm>
            <a:off x="457200" y="1060704"/>
            <a:ext cx="11274552" cy="363728"/>
          </a:xfrm>
          <a:prstGeom prst="rect">
            <a:avLst/>
          </a:prstGeom>
          <a:noFill/>
        </p:spPr>
        <p:txBody>
          <a:bodyPr wrap="square" lIns="228600" tIns="54864" rIns="228600" bIns="54864" anchor="t" rtlCol="0">
            <a:noAutofit/>
          </a:bodyPr>
          <a:lstStyle/>
          <a:p>
            <a:pPr algn="l">
              <a:lnSpc>
                <a:spcPts val="2000"/>
              </a:lnSpc>
              <a:spcBef>
                <a:spcPts val="0"/>
              </a:spcBef>
              <a:spcAft>
                <a:spcPts val="0"/>
              </a:spcAft>
              <a:buNone/>
            </a:pPr>
            <a:r>
              <a:rPr lang="en-US" altLang="en-US" sz="1600" b="1" dirty="0">
                <a:solidFill>
                  <a:srgbClr val="1E2A5A"/>
                </a:solidFill>
                <a:latin typeface="Calibri"/>
                <a:ea typeface="맑은 고딕"/>
                <a:cs typeface="Calibri"/>
              </a:rPr>
              <a:t>10.  </a:t>
            </a:r>
            <a:r>
              <a:rPr lang="ko-KR" altLang="en-US" sz="1600" b="0" dirty="0">
                <a:solidFill>
                  <a:srgbClr val="3C4558"/>
                </a:solidFill>
                <a:latin typeface="맑은 고딕"/>
                <a:ea typeface="맑은 고딕"/>
                <a:cs typeface="맑은 고딕"/>
              </a:rPr>
              <a:t>전문가들은 다양한 방법을 활용해 빅데이터를 분석하고, 거기서 의미 있는 결과를 이끌어 낸다.</a:t>
            </a:r>
            <a:endParaRPr lang="ko-KR" sz="1600"/>
          </a:p>
        </p:txBody>
      </p:sp>
      <p:sp>
        <p:nvSpPr>
          <p:cNvPr id="9" name="eng_1"/>
          <p:cNvSpPr txBox="1"/>
          <p:nvPr/>
        </p:nvSpPr>
        <p:spPr>
          <a:xfrm>
            <a:off x="457200" y="1369568"/>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Using</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Used</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various methods, experts analyze big data and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draws</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draw</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meaningful results from it.</a:t>
            </a:r>
            <a:endParaRPr lang="ko-KR" sz="2000"/>
          </a:p>
        </p:txBody>
      </p:sp>
      <p:sp>
        <p:nvSpPr>
          <p:cNvPr id="10" name="rv_eng_1"/>
          <p:cNvSpPr txBox="1"/>
          <p:nvPr/>
        </p:nvSpPr>
        <p:spPr>
          <a:xfrm>
            <a:off x="457200" y="1369568"/>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1" dirty="0">
                <a:solidFill>
                  <a:srgbClr val="C00000">
                    <a:alpha val="0"/>
                  </a:srgbClr>
                </a:solidFill>
                <a:latin typeface="Calibri"/>
                <a:ea typeface="맑은 고딕"/>
                <a:cs typeface="Calibri"/>
              </a:rPr>
              <a:t>[ </a:t>
            </a:r>
            <a:r>
              <a:rPr lang="en-US" altLang="en-US" sz="2000" b="1" dirty="0">
                <a:solidFill>
                  <a:srgbClr val="C00000"/>
                </a:solidFill>
                <a:latin typeface="Calibri"/>
                <a:ea typeface="맑은 고딕"/>
                <a:cs typeface="Calibri"/>
              </a:rPr>
              <a:t>Using</a:t>
            </a:r>
            <a:r>
              <a:rPr lang="en-US" altLang="en-US" sz="2000" b="1" dirty="0">
                <a:solidFill>
                  <a:srgbClr val="C00000">
                    <a:alpha val="0"/>
                  </a:srgbClr>
                </a:solidFill>
                <a:latin typeface="Calibri"/>
                <a:ea typeface="맑은 고딕"/>
                <a:cs typeface="Calibri"/>
              </a:rPr>
              <a:t> / </a:t>
            </a:r>
            <a:r>
              <a:rPr lang="en-US" altLang="en-US" sz="2000" b="1" dirty="0">
                <a:solidFill>
                  <a:srgbClr val="C00000">
                    <a:alpha val="0"/>
                  </a:srgbClr>
                </a:solidFill>
                <a:latin typeface="Calibri"/>
                <a:ea typeface="맑은 고딕"/>
                <a:cs typeface="Calibri"/>
              </a:rPr>
              <a:t>Used</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various methods, experts analyze big data and </a:t>
            </a:r>
            <a:r>
              <a:rPr lang="en-US" altLang="en-US" sz="2000" b="1" dirty="0">
                <a:solidFill>
                  <a:srgbClr val="C00000">
                    <a:alpha val="0"/>
                  </a:srgbClr>
                </a:solidFill>
                <a:latin typeface="Calibri"/>
                <a:ea typeface="맑은 고딕"/>
                <a:cs typeface="Calibri"/>
              </a:rPr>
              <a:t>[ </a:t>
            </a:r>
            <a:r>
              <a:rPr lang="en-US" altLang="en-US" sz="2000" b="1" dirty="0">
                <a:solidFill>
                  <a:srgbClr val="C00000">
                    <a:alpha val="0"/>
                  </a:srgbClr>
                </a:solidFill>
                <a:latin typeface="Calibri"/>
                <a:ea typeface="맑은 고딕"/>
                <a:cs typeface="Calibri"/>
              </a:rPr>
              <a:t>draws</a:t>
            </a:r>
            <a:r>
              <a:rPr lang="en-US" altLang="en-US" sz="2000" b="1" dirty="0">
                <a:solidFill>
                  <a:srgbClr val="C00000">
                    <a:alpha val="0"/>
                  </a:srgbClr>
                </a:solidFill>
                <a:latin typeface="Calibri"/>
                <a:ea typeface="맑은 고딕"/>
                <a:cs typeface="Calibri"/>
              </a:rPr>
              <a:t> / </a:t>
            </a:r>
            <a:r>
              <a:rPr lang="en-US" altLang="en-US" sz="2000" b="1" dirty="0">
                <a:solidFill>
                  <a:srgbClr val="C00000"/>
                </a:solidFill>
                <a:latin typeface="Calibri"/>
                <a:ea typeface="맑은 고딕"/>
                <a:cs typeface="Calibri"/>
              </a:rPr>
              <a:t>draw</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meaningful results from it.</a:t>
            </a:r>
            <a:endParaRPr lang="ko-KR" sz="2000"/>
          </a:p>
        </p:txBody>
      </p:sp>
      <p:sp>
        <p:nvSpPr>
          <p:cNvPr id="11" name="rv_point_1"/>
          <p:cNvSpPr txBox="1"/>
          <p:nvPr/>
        </p:nvSpPr>
        <p:spPr>
          <a:xfrm>
            <a:off x="457200" y="2135632"/>
            <a:ext cx="11274552" cy="331978"/>
          </a:xfrm>
          <a:prstGeom prst="rect">
            <a:avLst/>
          </a:prstGeom>
          <a:noFill/>
        </p:spPr>
        <p:txBody>
          <a:bodyPr wrap="square" lIns="228600" tIns="54864" rIns="228600" bIns="54864" anchor="t" rtlCol="0">
            <a:noAutofit/>
          </a:bodyPr>
          <a:lstStyle/>
          <a:p>
            <a:pPr algn="l">
              <a:lnSpc>
                <a:spcPts val="1750"/>
              </a:lnSpc>
              <a:spcBef>
                <a:spcPts val="0"/>
              </a:spcBef>
              <a:spcAft>
                <a:spcPts val="0"/>
              </a:spcAft>
              <a:buNone/>
            </a:pPr>
            <a:r>
              <a:rPr lang="ko-KR" altLang="en-US" sz="1400" b="1" dirty="0">
                <a:solidFill>
                  <a:srgbClr val="C00000"/>
                </a:solidFill>
                <a:latin typeface="맑은 고딕"/>
                <a:ea typeface="맑은 고딕"/>
                <a:cs typeface="맑은 고딕"/>
              </a:rPr>
              <a:t>포인트  </a:t>
            </a:r>
            <a:r>
              <a:rPr lang="ko-KR" altLang="en-US" sz="1400" b="0" dirty="0">
                <a:solidFill>
                  <a:srgbClr val="2F5597"/>
                </a:solidFill>
                <a:latin typeface="맑은 고딕"/>
                <a:ea typeface="맑은 고딕"/>
                <a:cs typeface="맑은 고딕"/>
              </a:rPr>
              <a:t>분사 (전문가가 '사용하는' 능동 → 현재분사 분사구문) · 동사의 수 일치 (주어 experts 복수)</a:t>
            </a:r>
            <a:endParaRPr lang="ko-KR" sz="1400"/>
          </a:p>
        </p:txBody>
      </p:sp>
      <p:sp>
        <p:nvSpPr>
          <p:cNvPr id="12" name="item_card_2"/>
          <p:cNvSpPr/>
          <p:nvPr/>
        </p:nvSpPr>
        <p:spPr>
          <a:xfrm>
            <a:off x="457200" y="2577338"/>
            <a:ext cx="11274552" cy="1516634"/>
          </a:xfrm>
          <a:prstGeom prst="roundRect">
            <a:avLst>
              <a:gd name="adj" fmla="val 6000"/>
            </a:avLst>
          </a:prstGeom>
          <a:solidFill>
            <a:srgbClr val="F3F5F9"/>
          </a:solidFill>
          <a:ln w="12700">
            <a:solidFill>
              <a:srgbClr val="D9DFEA"/>
            </a:solidFill>
          </a:ln>
        </p:spPr>
        <p:txBody>
          <a:bodyPr rtlCol="0" anchor="ctr"/>
          <a:lstStyle/>
          <a:p>
            <a:pPr algn="ctr"/>
          </a:p>
        </p:txBody>
      </p:sp>
      <p:sp>
        <p:nvSpPr>
          <p:cNvPr id="13" name="kor_2"/>
          <p:cNvSpPr txBox="1"/>
          <p:nvPr/>
        </p:nvSpPr>
        <p:spPr>
          <a:xfrm>
            <a:off x="457200" y="2687066"/>
            <a:ext cx="11274552" cy="363728"/>
          </a:xfrm>
          <a:prstGeom prst="rect">
            <a:avLst/>
          </a:prstGeom>
          <a:noFill/>
        </p:spPr>
        <p:txBody>
          <a:bodyPr wrap="square" lIns="228600" tIns="54864" rIns="228600" bIns="54864" anchor="t" rtlCol="0">
            <a:noAutofit/>
          </a:bodyPr>
          <a:lstStyle/>
          <a:p>
            <a:pPr algn="l">
              <a:lnSpc>
                <a:spcPts val="2000"/>
              </a:lnSpc>
              <a:spcBef>
                <a:spcPts val="0"/>
              </a:spcBef>
              <a:spcAft>
                <a:spcPts val="0"/>
              </a:spcAft>
              <a:buNone/>
            </a:pPr>
            <a:r>
              <a:rPr lang="en-US" altLang="en-US" sz="1600" b="1" dirty="0">
                <a:solidFill>
                  <a:srgbClr val="1E2A5A"/>
                </a:solidFill>
                <a:latin typeface="Calibri"/>
                <a:ea typeface="맑은 고딕"/>
                <a:cs typeface="Calibri"/>
              </a:rPr>
              <a:t>11.  </a:t>
            </a:r>
            <a:r>
              <a:rPr lang="ko-KR" altLang="en-US" sz="1600" b="0" dirty="0">
                <a:solidFill>
                  <a:srgbClr val="3C4558"/>
                </a:solidFill>
                <a:latin typeface="맑은 고딕"/>
                <a:ea typeface="맑은 고딕"/>
                <a:cs typeface="맑은 고딕"/>
              </a:rPr>
              <a:t>그렇게 얻은 결과는 의사 결정을 하거나 미래를 예측하는 데 쓰일 수 있다.</a:t>
            </a:r>
            <a:endParaRPr lang="ko-KR" sz="1600"/>
          </a:p>
        </p:txBody>
      </p:sp>
      <p:sp>
        <p:nvSpPr>
          <p:cNvPr id="14" name="eng_2"/>
          <p:cNvSpPr txBox="1"/>
          <p:nvPr/>
        </p:nvSpPr>
        <p:spPr>
          <a:xfrm>
            <a:off x="457200" y="2995930"/>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solidFill>
                <a:latin typeface="Calibri"/>
                <a:ea typeface="맑은 고딕"/>
                <a:cs typeface="Calibri"/>
              </a:rPr>
              <a:t>These results then can be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using</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used</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to make</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making</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decisions or to predict the future.</a:t>
            </a:r>
            <a:endParaRPr lang="ko-KR" sz="2000"/>
          </a:p>
        </p:txBody>
      </p:sp>
      <p:sp>
        <p:nvSpPr>
          <p:cNvPr id="15" name="rv_eng_2"/>
          <p:cNvSpPr txBox="1"/>
          <p:nvPr/>
        </p:nvSpPr>
        <p:spPr>
          <a:xfrm>
            <a:off x="457200" y="2995930"/>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alpha val="0"/>
                  </a:srgbClr>
                </a:solidFill>
                <a:latin typeface="Calibri"/>
                <a:ea typeface="맑은 고딕"/>
                <a:cs typeface="Calibri"/>
              </a:rPr>
              <a:t>These results then can be </a:t>
            </a:r>
            <a:r>
              <a:rPr lang="en-US" altLang="en-US" sz="2000" b="1" dirty="0">
                <a:solidFill>
                  <a:srgbClr val="C00000">
                    <a:alpha val="0"/>
                  </a:srgbClr>
                </a:solidFill>
                <a:latin typeface="Calibri"/>
                <a:ea typeface="맑은 고딕"/>
                <a:cs typeface="Calibri"/>
              </a:rPr>
              <a:t>[ </a:t>
            </a:r>
            <a:r>
              <a:rPr lang="en-US" altLang="en-US" sz="2000" b="1" dirty="0">
                <a:solidFill>
                  <a:srgbClr val="C00000">
                    <a:alpha val="0"/>
                  </a:srgbClr>
                </a:solidFill>
                <a:latin typeface="Calibri"/>
                <a:ea typeface="맑은 고딕"/>
                <a:cs typeface="Calibri"/>
              </a:rPr>
              <a:t>using</a:t>
            </a:r>
            <a:r>
              <a:rPr lang="en-US" altLang="en-US" sz="2000" b="1" dirty="0">
                <a:solidFill>
                  <a:srgbClr val="C00000">
                    <a:alpha val="0"/>
                  </a:srgbClr>
                </a:solidFill>
                <a:latin typeface="Calibri"/>
                <a:ea typeface="맑은 고딕"/>
                <a:cs typeface="Calibri"/>
              </a:rPr>
              <a:t> / </a:t>
            </a:r>
            <a:r>
              <a:rPr lang="en-US" altLang="en-US" sz="2000" b="1" dirty="0">
                <a:solidFill>
                  <a:srgbClr val="C00000"/>
                </a:solidFill>
                <a:latin typeface="Calibri"/>
                <a:ea typeface="맑은 고딕"/>
                <a:cs typeface="Calibri"/>
              </a:rPr>
              <a:t>used</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a:t>
            </a:r>
            <a:r>
              <a:rPr lang="en-US" altLang="en-US" sz="2000" b="1" dirty="0">
                <a:solidFill>
                  <a:srgbClr val="C00000">
                    <a:alpha val="0"/>
                  </a:srgbClr>
                </a:solidFill>
                <a:latin typeface="Calibri"/>
                <a:ea typeface="맑은 고딕"/>
                <a:cs typeface="Calibri"/>
              </a:rPr>
              <a:t>[ </a:t>
            </a:r>
            <a:r>
              <a:rPr lang="en-US" altLang="en-US" sz="2000" b="1" dirty="0">
                <a:solidFill>
                  <a:srgbClr val="C00000"/>
                </a:solidFill>
                <a:latin typeface="Calibri"/>
                <a:ea typeface="맑은 고딕"/>
                <a:cs typeface="Calibri"/>
              </a:rPr>
              <a:t>to make</a:t>
            </a:r>
            <a:r>
              <a:rPr lang="en-US" altLang="en-US" sz="2000" b="1" dirty="0">
                <a:solidFill>
                  <a:srgbClr val="C00000">
                    <a:alpha val="0"/>
                  </a:srgbClr>
                </a:solidFill>
                <a:latin typeface="Calibri"/>
                <a:ea typeface="맑은 고딕"/>
                <a:cs typeface="Calibri"/>
              </a:rPr>
              <a:t> / </a:t>
            </a:r>
            <a:r>
              <a:rPr lang="en-US" altLang="en-US" sz="2000" b="1" dirty="0">
                <a:solidFill>
                  <a:srgbClr val="C00000">
                    <a:alpha val="0"/>
                  </a:srgbClr>
                </a:solidFill>
                <a:latin typeface="Calibri"/>
                <a:ea typeface="맑은 고딕"/>
                <a:cs typeface="Calibri"/>
              </a:rPr>
              <a:t>making</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decisions or to predict the future.</a:t>
            </a:r>
            <a:endParaRPr lang="ko-KR" sz="2000"/>
          </a:p>
        </p:txBody>
      </p:sp>
      <p:sp>
        <p:nvSpPr>
          <p:cNvPr id="16" name="rv_point_2"/>
          <p:cNvSpPr txBox="1"/>
          <p:nvPr/>
        </p:nvSpPr>
        <p:spPr>
          <a:xfrm>
            <a:off x="457200" y="3761994"/>
            <a:ext cx="11274552" cy="331978"/>
          </a:xfrm>
          <a:prstGeom prst="rect">
            <a:avLst/>
          </a:prstGeom>
          <a:noFill/>
        </p:spPr>
        <p:txBody>
          <a:bodyPr wrap="square" lIns="228600" tIns="54864" rIns="228600" bIns="54864" anchor="t" rtlCol="0">
            <a:noAutofit/>
          </a:bodyPr>
          <a:lstStyle/>
          <a:p>
            <a:pPr algn="l">
              <a:lnSpc>
                <a:spcPts val="1750"/>
              </a:lnSpc>
              <a:spcBef>
                <a:spcPts val="0"/>
              </a:spcBef>
              <a:spcAft>
                <a:spcPts val="0"/>
              </a:spcAft>
              <a:buNone/>
            </a:pPr>
            <a:r>
              <a:rPr lang="ko-KR" altLang="en-US" sz="1400" b="1" dirty="0">
                <a:solidFill>
                  <a:srgbClr val="C00000"/>
                </a:solidFill>
                <a:latin typeface="맑은 고딕"/>
                <a:ea typeface="맑은 고딕"/>
                <a:cs typeface="맑은 고딕"/>
              </a:rPr>
              <a:t>포인트  </a:t>
            </a:r>
            <a:r>
              <a:rPr lang="ko-KR" altLang="en-US" sz="1400" b="0" dirty="0">
                <a:solidFill>
                  <a:srgbClr val="2F5597"/>
                </a:solidFill>
                <a:latin typeface="맑은 고딕"/>
                <a:ea typeface="맑은 고딕"/>
                <a:cs typeface="맑은 고딕"/>
              </a:rPr>
              <a:t>수동태(능동/수동 구별) (결과가 '사용되는' 것 → be + p.p.) · to부정사/동명사/동사원형 (목적: ~하기 위해)</a:t>
            </a:r>
            <a:endParaRPr lang="ko-KR" sz="1400"/>
          </a:p>
        </p:txBody>
      </p:sp>
      <p:sp>
        <p:nvSpPr>
          <p:cNvPr id="17" name="item_card_3"/>
          <p:cNvSpPr/>
          <p:nvPr/>
        </p:nvSpPr>
        <p:spPr>
          <a:xfrm>
            <a:off x="457200" y="4203700"/>
            <a:ext cx="11274552" cy="1161034"/>
          </a:xfrm>
          <a:prstGeom prst="roundRect">
            <a:avLst>
              <a:gd name="adj" fmla="val 6000"/>
            </a:avLst>
          </a:prstGeom>
          <a:solidFill>
            <a:srgbClr val="F3F5F9"/>
          </a:solidFill>
          <a:ln w="12700">
            <a:solidFill>
              <a:srgbClr val="D9DFEA"/>
            </a:solidFill>
          </a:ln>
        </p:spPr>
        <p:txBody>
          <a:bodyPr rtlCol="0" anchor="ctr"/>
          <a:lstStyle/>
          <a:p>
            <a:pPr algn="ctr"/>
          </a:p>
        </p:txBody>
      </p:sp>
      <p:sp>
        <p:nvSpPr>
          <p:cNvPr id="18" name="kor_3"/>
          <p:cNvSpPr txBox="1"/>
          <p:nvPr/>
        </p:nvSpPr>
        <p:spPr>
          <a:xfrm>
            <a:off x="457200" y="4313428"/>
            <a:ext cx="11274552" cy="363728"/>
          </a:xfrm>
          <a:prstGeom prst="rect">
            <a:avLst/>
          </a:prstGeom>
          <a:noFill/>
        </p:spPr>
        <p:txBody>
          <a:bodyPr wrap="square" lIns="228600" tIns="54864" rIns="228600" bIns="54864" anchor="t" rtlCol="0">
            <a:noAutofit/>
          </a:bodyPr>
          <a:lstStyle/>
          <a:p>
            <a:pPr algn="l">
              <a:lnSpc>
                <a:spcPts val="2000"/>
              </a:lnSpc>
              <a:spcBef>
                <a:spcPts val="0"/>
              </a:spcBef>
              <a:spcAft>
                <a:spcPts val="0"/>
              </a:spcAft>
              <a:buNone/>
            </a:pPr>
            <a:r>
              <a:rPr lang="en-US" altLang="en-US" sz="1600" b="1" dirty="0">
                <a:solidFill>
                  <a:srgbClr val="1E2A5A"/>
                </a:solidFill>
                <a:latin typeface="Calibri"/>
                <a:ea typeface="맑은 고딕"/>
                <a:cs typeface="Calibri"/>
              </a:rPr>
              <a:t>12.  </a:t>
            </a:r>
            <a:r>
              <a:rPr lang="ko-KR" altLang="en-US" sz="1600" b="0" dirty="0">
                <a:solidFill>
                  <a:srgbClr val="3C4558"/>
                </a:solidFill>
                <a:latin typeface="맑은 고딕"/>
                <a:ea typeface="맑은 고딕"/>
                <a:cs typeface="맑은 고딕"/>
              </a:rPr>
              <a:t>빅데이터는 우리 삶의 거의 모든 영역에 영향을 미치고 있다.</a:t>
            </a:r>
            <a:endParaRPr lang="ko-KR" sz="1600"/>
          </a:p>
        </p:txBody>
      </p:sp>
      <p:sp>
        <p:nvSpPr>
          <p:cNvPr id="19" name="eng_3"/>
          <p:cNvSpPr txBox="1"/>
          <p:nvPr/>
        </p:nvSpPr>
        <p:spPr>
          <a:xfrm>
            <a:off x="457200" y="4622292"/>
            <a:ext cx="11274552" cy="4653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solidFill>
                <a:latin typeface="Calibri"/>
                <a:ea typeface="맑은 고딕"/>
                <a:cs typeface="Calibri"/>
              </a:rPr>
              <a:t>Big data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is</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are</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influenced</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influencing</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almost all parts of our lives.</a:t>
            </a:r>
            <a:endParaRPr lang="ko-KR" sz="2000"/>
          </a:p>
        </p:txBody>
      </p:sp>
      <p:sp>
        <p:nvSpPr>
          <p:cNvPr id="20" name="rv_eng_3"/>
          <p:cNvSpPr txBox="1"/>
          <p:nvPr/>
        </p:nvSpPr>
        <p:spPr>
          <a:xfrm>
            <a:off x="457200" y="4622292"/>
            <a:ext cx="11274552" cy="4653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alpha val="0"/>
                  </a:srgbClr>
                </a:solidFill>
                <a:latin typeface="Calibri"/>
                <a:ea typeface="맑은 고딕"/>
                <a:cs typeface="Calibri"/>
              </a:rPr>
              <a:t>Big data </a:t>
            </a:r>
            <a:r>
              <a:rPr lang="en-US" altLang="en-US" sz="2000" b="1" dirty="0">
                <a:solidFill>
                  <a:srgbClr val="C00000">
                    <a:alpha val="0"/>
                  </a:srgbClr>
                </a:solidFill>
                <a:latin typeface="Calibri"/>
                <a:ea typeface="맑은 고딕"/>
                <a:cs typeface="Calibri"/>
              </a:rPr>
              <a:t>[ </a:t>
            </a:r>
            <a:r>
              <a:rPr lang="en-US" altLang="en-US" sz="2000" b="1" dirty="0">
                <a:solidFill>
                  <a:srgbClr val="C00000"/>
                </a:solidFill>
                <a:latin typeface="Calibri"/>
                <a:ea typeface="맑은 고딕"/>
                <a:cs typeface="Calibri"/>
              </a:rPr>
              <a:t>is</a:t>
            </a:r>
            <a:r>
              <a:rPr lang="en-US" altLang="en-US" sz="2000" b="1" dirty="0">
                <a:solidFill>
                  <a:srgbClr val="C00000">
                    <a:alpha val="0"/>
                  </a:srgbClr>
                </a:solidFill>
                <a:latin typeface="Calibri"/>
                <a:ea typeface="맑은 고딕"/>
                <a:cs typeface="Calibri"/>
              </a:rPr>
              <a:t> / </a:t>
            </a:r>
            <a:r>
              <a:rPr lang="en-US" altLang="en-US" sz="2000" b="1" dirty="0">
                <a:solidFill>
                  <a:srgbClr val="C00000">
                    <a:alpha val="0"/>
                  </a:srgbClr>
                </a:solidFill>
                <a:latin typeface="Calibri"/>
                <a:ea typeface="맑은 고딕"/>
                <a:cs typeface="Calibri"/>
              </a:rPr>
              <a:t>are</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a:t>
            </a:r>
            <a:r>
              <a:rPr lang="en-US" altLang="en-US" sz="2000" b="1" dirty="0">
                <a:solidFill>
                  <a:srgbClr val="C00000">
                    <a:alpha val="0"/>
                  </a:srgbClr>
                </a:solidFill>
                <a:latin typeface="Calibri"/>
                <a:ea typeface="맑은 고딕"/>
                <a:cs typeface="Calibri"/>
              </a:rPr>
              <a:t>[ </a:t>
            </a:r>
            <a:r>
              <a:rPr lang="en-US" altLang="en-US" sz="2000" b="1" dirty="0">
                <a:solidFill>
                  <a:srgbClr val="C00000">
                    <a:alpha val="0"/>
                  </a:srgbClr>
                </a:solidFill>
                <a:latin typeface="Calibri"/>
                <a:ea typeface="맑은 고딕"/>
                <a:cs typeface="Calibri"/>
              </a:rPr>
              <a:t>influenced</a:t>
            </a:r>
            <a:r>
              <a:rPr lang="en-US" altLang="en-US" sz="2000" b="1" dirty="0">
                <a:solidFill>
                  <a:srgbClr val="C00000">
                    <a:alpha val="0"/>
                  </a:srgbClr>
                </a:solidFill>
                <a:latin typeface="Calibri"/>
                <a:ea typeface="맑은 고딕"/>
                <a:cs typeface="Calibri"/>
              </a:rPr>
              <a:t> / </a:t>
            </a:r>
            <a:r>
              <a:rPr lang="en-US" altLang="en-US" sz="2000" b="1" dirty="0">
                <a:solidFill>
                  <a:srgbClr val="C00000"/>
                </a:solidFill>
                <a:latin typeface="Calibri"/>
                <a:ea typeface="맑은 고딕"/>
                <a:cs typeface="Calibri"/>
              </a:rPr>
              <a:t>influencing</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almost all parts of our lives.</a:t>
            </a:r>
            <a:endParaRPr lang="ko-KR" sz="2000"/>
          </a:p>
        </p:txBody>
      </p:sp>
      <p:sp>
        <p:nvSpPr>
          <p:cNvPr id="21" name="rv_point_3"/>
          <p:cNvSpPr txBox="1"/>
          <p:nvPr/>
        </p:nvSpPr>
        <p:spPr>
          <a:xfrm>
            <a:off x="457200" y="5032756"/>
            <a:ext cx="11274552" cy="331978"/>
          </a:xfrm>
          <a:prstGeom prst="rect">
            <a:avLst/>
          </a:prstGeom>
          <a:noFill/>
        </p:spPr>
        <p:txBody>
          <a:bodyPr wrap="square" lIns="228600" tIns="54864" rIns="228600" bIns="54864" anchor="t" rtlCol="0">
            <a:noAutofit/>
          </a:bodyPr>
          <a:lstStyle/>
          <a:p>
            <a:pPr algn="l">
              <a:lnSpc>
                <a:spcPts val="1750"/>
              </a:lnSpc>
              <a:spcBef>
                <a:spcPts val="0"/>
              </a:spcBef>
              <a:spcAft>
                <a:spcPts val="0"/>
              </a:spcAft>
              <a:buNone/>
            </a:pPr>
            <a:r>
              <a:rPr lang="ko-KR" altLang="en-US" sz="1400" b="1" dirty="0">
                <a:solidFill>
                  <a:srgbClr val="C00000"/>
                </a:solidFill>
                <a:latin typeface="맑은 고딕"/>
                <a:ea typeface="맑은 고딕"/>
                <a:cs typeface="맑은 고딕"/>
              </a:rPr>
              <a:t>포인트  </a:t>
            </a:r>
            <a:r>
              <a:rPr lang="ko-KR" altLang="en-US" sz="1400" b="0" dirty="0">
                <a:solidFill>
                  <a:srgbClr val="2F5597"/>
                </a:solidFill>
                <a:latin typeface="맑은 고딕"/>
                <a:ea typeface="맑은 고딕"/>
                <a:cs typeface="맑은 고딕"/>
              </a:rPr>
              <a:t>동사의 수 일치 (주어 Big data 단수) · 분사 (목적어가 있는 진행형 be + V-ing)</a:t>
            </a:r>
            <a:endParaRPr lang="ko-KR" sz="1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25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250"/>
                                        <p:tgtEl>
                                          <p:spTgt spid="1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250"/>
                                        <p:tgtEl>
                                          <p:spTgt spid="1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fade">
                                      <p:cBhvr>
                                        <p:cTn id="16" dur="250"/>
                                        <p:tgtEl>
                                          <p:spTgt spid="1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250"/>
                                        <p:tgtEl>
                                          <p:spTgt spid="2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fade">
                                      <p:cBhvr>
                                        <p:cTn id="22" dur="25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5" grpId="0" animBg="1"/>
      <p:bldP spid="16" grpId="0" animBg="1"/>
      <p:bldP spid="20" grpId="0" animBg="1"/>
      <p:bldP spid="21" grpId="0" animBg="1"/>
    </p:bldLst>
  </p:timing>
</p:sld>
</file>

<file path=ppt/slides/slide2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8000"/>
            </a:avLst>
          </a:prstGeom>
          <a:solidFill>
            <a:srgbClr val="1E2A5A"/>
          </a:solidFill>
          <a:ln>
            <a:noFill/>
          </a:ln>
        </p:spPr>
        <p:txBody>
          <a:bodyPr wrap="square" lIns="45720" tIns="18288" rIns="45720" bIns="18288" anchor="ctr" rtlCol="0">
            <a:noAutofit/>
          </a:bodyPr>
          <a:lstStyle/>
          <a:p>
            <a:pPr algn="ctr">
              <a:lnSpc>
                <a:spcPts val="2000"/>
              </a:lnSpc>
              <a:spcBef>
                <a:spcPts val="0"/>
              </a:spcBef>
              <a:spcAft>
                <a:spcPts val="0"/>
              </a:spcAft>
              <a:buNone/>
            </a:pPr>
            <a:r>
              <a:rPr lang="en-US" altLang="en-US" sz="1700" b="1" dirty="0">
                <a:solidFill>
                  <a:srgbClr val="FFFFFF"/>
                </a:solidFill>
                <a:latin typeface="Calibri"/>
                <a:ea typeface="맑은 고딕"/>
                <a:cs typeface="Calibri"/>
              </a:rPr>
              <a:t>L7</a:t>
            </a:r>
            <a:endParaRPr lang="ko-KR" sz="1700"/>
          </a:p>
        </p:txBody>
      </p:sp>
      <p:sp>
        <p:nvSpPr>
          <p:cNvPr id="3" name="hdr_chip"/>
          <p:cNvSpPr/>
          <p:nvPr/>
        </p:nvSpPr>
        <p:spPr>
          <a:xfrm>
            <a:off x="1755648" y="274320"/>
            <a:ext cx="1371600" cy="493776"/>
          </a:xfrm>
          <a:prstGeom prst="roundRect">
            <a:avLst>
              <a:gd name="adj" fmla="val 8000"/>
            </a:avLst>
          </a:prstGeom>
          <a:solidFill>
            <a:srgbClr val="E6EAF4"/>
          </a:solidFill>
          <a:ln>
            <a:noFill/>
          </a:ln>
        </p:spPr>
        <p:txBody>
          <a:bodyPr wrap="square" lIns="27432" tIns="18288" rIns="27432" bIns="18288" anchor="ctr" rtlCol="0">
            <a:noAutofit/>
          </a:bodyPr>
          <a:lstStyle/>
          <a:p>
            <a:pPr algn="ctr">
              <a:lnSpc>
                <a:spcPts val="1700"/>
              </a:lnSpc>
              <a:spcBef>
                <a:spcPts val="0"/>
              </a:spcBef>
              <a:spcAft>
                <a:spcPts val="0"/>
              </a:spcAft>
              <a:buNone/>
            </a:pPr>
            <a:r>
              <a:rPr lang="ko-KR" altLang="en-US" sz="1400" b="1" dirty="0">
                <a:solidFill>
                  <a:srgbClr val="1E2A5A"/>
                </a:solidFill>
                <a:latin typeface="맑은 고딕"/>
                <a:ea typeface="맑은 고딕"/>
                <a:cs typeface="맑은 고딕"/>
              </a:rPr>
              <a:t>PART 5 · 5</a:t>
            </a:r>
            <a:endParaRPr lang="ko-KR" sz="1400"/>
          </a:p>
        </p:txBody>
      </p:sp>
      <p:sp>
        <p:nvSpPr>
          <p:cNvPr id="4" name="hdr_q"/>
          <p:cNvSpPr txBox="1"/>
          <p:nvPr/>
        </p:nvSpPr>
        <p:spPr>
          <a:xfrm>
            <a:off x="3246120" y="246888"/>
            <a:ext cx="8485632" cy="548640"/>
          </a:xfrm>
          <a:prstGeom prst="rect">
            <a:avLst/>
          </a:prstGeom>
          <a:noFill/>
        </p:spPr>
        <p:txBody>
          <a:bodyPr wrap="square" lIns="109728" tIns="54864" rIns="109728" bIns="54864" anchor="ctr" rtlCol="0">
            <a:noAutofit/>
          </a:bodyPr>
          <a:lstStyle/>
          <a:p>
            <a:pPr algn="l">
              <a:lnSpc>
                <a:spcPts val="2400"/>
              </a:lnSpc>
              <a:spcBef>
                <a:spcPts val="0"/>
              </a:spcBef>
              <a:spcAft>
                <a:spcPts val="0"/>
              </a:spcAft>
              <a:buNone/>
            </a:pPr>
            <a:r>
              <a:rPr lang="ko-KR" altLang="en-US" sz="2000" b="1" dirty="0">
                <a:solidFill>
                  <a:srgbClr val="1F2328"/>
                </a:solidFill>
                <a:latin typeface="맑은 고딕"/>
                <a:ea typeface="맑은 고딕"/>
                <a:cs typeface="맑은 고딕"/>
              </a:rPr>
              <a:t>[  ] 안에서 어법상 알맞은 것을 고르시오.</a:t>
            </a:r>
            <a:endParaRPr lang="ko-KR" sz="2000"/>
          </a:p>
        </p:txBody>
      </p:sp>
      <p:sp>
        <p:nvSpPr>
          <p:cNvPr id="5" name="ftr_exam"/>
          <p:cNvSpPr txBox="1"/>
          <p:nvPr/>
        </p:nvSpPr>
        <p:spPr>
          <a:xfrm>
            <a:off x="457200" y="6519672"/>
            <a:ext cx="5669280" cy="256032"/>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7</a:t>
            </a:r>
            <a:endParaRPr lang="ko-KR" sz="1000"/>
          </a:p>
        </p:txBody>
      </p:sp>
      <p:sp>
        <p:nvSpPr>
          <p:cNvPr id="6" name="ftr_hint"/>
          <p:cNvSpPr txBox="1"/>
          <p:nvPr/>
        </p:nvSpPr>
        <p:spPr>
          <a:xfrm>
            <a:off x="5971032" y="6519672"/>
            <a:ext cx="5760720" cy="256032"/>
          </a:xfrm>
          <a:prstGeom prst="rect">
            <a:avLst/>
          </a:prstGeom>
          <a:noFill/>
        </p:spPr>
        <p:txBody>
          <a:bodyPr wrap="square" lIns="0" tIns="0" rIns="0" bIns="0" anchor="t" rtlCol="0">
            <a:noAutofit/>
          </a:bodyPr>
          <a:lstStyle/>
          <a:p>
            <a:pPr algn="r">
              <a:lnSpc>
                <a:spcPts val="1200"/>
              </a:lnSpc>
              <a:spcBef>
                <a:spcPts val="0"/>
              </a:spcBef>
              <a:spcAft>
                <a:spcPts val="0"/>
              </a:spcAft>
              <a:buNone/>
            </a:pPr>
            <a:r>
              <a:rPr lang="ko-KR" altLang="en-US" sz="1000" b="0" dirty="0">
                <a:solidFill>
                  <a:srgbClr val="7A808C"/>
                </a:solidFill>
                <a:latin typeface="맑은 고딕"/>
                <a:ea typeface="맑은 고딕"/>
                <a:cs typeface="맑은 고딕"/>
              </a:rPr>
              <a:t>클릭 ① 정답(빨간색) + 문법 포인트 공개</a:t>
            </a:r>
            <a:endParaRPr lang="ko-KR" sz="1000"/>
          </a:p>
        </p:txBody>
      </p:sp>
      <p:sp>
        <p:nvSpPr>
          <p:cNvPr id="7" name="item_card_1"/>
          <p:cNvSpPr/>
          <p:nvPr/>
        </p:nvSpPr>
        <p:spPr>
          <a:xfrm>
            <a:off x="457200" y="950976"/>
            <a:ext cx="11274552" cy="1516634"/>
          </a:xfrm>
          <a:prstGeom prst="roundRect">
            <a:avLst>
              <a:gd name="adj" fmla="val 6000"/>
            </a:avLst>
          </a:prstGeom>
          <a:solidFill>
            <a:srgbClr val="F3F5F9"/>
          </a:solidFill>
          <a:ln w="12700">
            <a:solidFill>
              <a:srgbClr val="D9DFEA"/>
            </a:solidFill>
          </a:ln>
        </p:spPr>
        <p:txBody>
          <a:bodyPr rtlCol="0" anchor="ctr"/>
          <a:lstStyle/>
          <a:p>
            <a:pPr algn="ctr"/>
          </a:p>
        </p:txBody>
      </p:sp>
      <p:sp>
        <p:nvSpPr>
          <p:cNvPr id="8" name="kor_1"/>
          <p:cNvSpPr txBox="1"/>
          <p:nvPr/>
        </p:nvSpPr>
        <p:spPr>
          <a:xfrm>
            <a:off x="457200" y="1060704"/>
            <a:ext cx="11274552" cy="363728"/>
          </a:xfrm>
          <a:prstGeom prst="rect">
            <a:avLst/>
          </a:prstGeom>
          <a:noFill/>
        </p:spPr>
        <p:txBody>
          <a:bodyPr wrap="square" lIns="228600" tIns="54864" rIns="228600" bIns="54864" anchor="t" rtlCol="0">
            <a:noAutofit/>
          </a:bodyPr>
          <a:lstStyle/>
          <a:p>
            <a:pPr algn="l">
              <a:lnSpc>
                <a:spcPts val="2000"/>
              </a:lnSpc>
              <a:spcBef>
                <a:spcPts val="0"/>
              </a:spcBef>
              <a:spcAft>
                <a:spcPts val="0"/>
              </a:spcAft>
              <a:buNone/>
            </a:pPr>
            <a:r>
              <a:rPr lang="en-US" altLang="en-US" sz="1600" b="1" dirty="0">
                <a:solidFill>
                  <a:srgbClr val="1E2A5A"/>
                </a:solidFill>
                <a:latin typeface="Calibri"/>
                <a:ea typeface="맑은 고딕"/>
                <a:cs typeface="Calibri"/>
              </a:rPr>
              <a:t>13.  </a:t>
            </a:r>
            <a:r>
              <a:rPr lang="ko-KR" altLang="en-US" sz="1600" b="0" dirty="0">
                <a:solidFill>
                  <a:srgbClr val="3C4558"/>
                </a:solidFill>
                <a:latin typeface="맑은 고딕"/>
                <a:ea typeface="맑은 고딕"/>
                <a:cs typeface="맑은 고딕"/>
              </a:rPr>
              <a:t>빅데이터 덕분에 기업은 고객이 원하는 것을 더 잘 파악하고 제품을 더 많이 팔 수 있다.</a:t>
            </a:r>
            <a:endParaRPr lang="ko-KR" sz="1600"/>
          </a:p>
        </p:txBody>
      </p:sp>
      <p:sp>
        <p:nvSpPr>
          <p:cNvPr id="9" name="eng_1"/>
          <p:cNvSpPr txBox="1"/>
          <p:nvPr/>
        </p:nvSpPr>
        <p:spPr>
          <a:xfrm>
            <a:off x="457200" y="1369568"/>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solidFill>
                <a:latin typeface="Calibri"/>
                <a:ea typeface="맑은 고딕"/>
                <a:cs typeface="Calibri"/>
              </a:rPr>
              <a:t>It helps companies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understanding</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understand</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their customers’ needs better and helps them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sell</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selling</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more products.</a:t>
            </a:r>
            <a:endParaRPr lang="ko-KR" sz="2000"/>
          </a:p>
        </p:txBody>
      </p:sp>
      <p:sp>
        <p:nvSpPr>
          <p:cNvPr id="10" name="rv_eng_1"/>
          <p:cNvSpPr txBox="1"/>
          <p:nvPr/>
        </p:nvSpPr>
        <p:spPr>
          <a:xfrm>
            <a:off x="457200" y="1369568"/>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alpha val="0"/>
                  </a:srgbClr>
                </a:solidFill>
                <a:latin typeface="Calibri"/>
                <a:ea typeface="맑은 고딕"/>
                <a:cs typeface="Calibri"/>
              </a:rPr>
              <a:t>It helps companies </a:t>
            </a:r>
            <a:r>
              <a:rPr lang="en-US" altLang="en-US" sz="2000" b="1" dirty="0">
                <a:solidFill>
                  <a:srgbClr val="C00000">
                    <a:alpha val="0"/>
                  </a:srgbClr>
                </a:solidFill>
                <a:latin typeface="Calibri"/>
                <a:ea typeface="맑은 고딕"/>
                <a:cs typeface="Calibri"/>
              </a:rPr>
              <a:t>[ </a:t>
            </a:r>
            <a:r>
              <a:rPr lang="en-US" altLang="en-US" sz="2000" b="1" dirty="0">
                <a:solidFill>
                  <a:srgbClr val="C00000">
                    <a:alpha val="0"/>
                  </a:srgbClr>
                </a:solidFill>
                <a:latin typeface="Calibri"/>
                <a:ea typeface="맑은 고딕"/>
                <a:cs typeface="Calibri"/>
              </a:rPr>
              <a:t>understanding</a:t>
            </a:r>
            <a:r>
              <a:rPr lang="en-US" altLang="en-US" sz="2000" b="1" dirty="0">
                <a:solidFill>
                  <a:srgbClr val="C00000">
                    <a:alpha val="0"/>
                  </a:srgbClr>
                </a:solidFill>
                <a:latin typeface="Calibri"/>
                <a:ea typeface="맑은 고딕"/>
                <a:cs typeface="Calibri"/>
              </a:rPr>
              <a:t> / </a:t>
            </a:r>
            <a:r>
              <a:rPr lang="en-US" altLang="en-US" sz="2000" b="1" dirty="0">
                <a:solidFill>
                  <a:srgbClr val="C00000"/>
                </a:solidFill>
                <a:latin typeface="Calibri"/>
                <a:ea typeface="맑은 고딕"/>
                <a:cs typeface="Calibri"/>
              </a:rPr>
              <a:t>understand</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their customers’ needs better and helps them </a:t>
            </a:r>
            <a:r>
              <a:rPr lang="en-US" altLang="en-US" sz="2000" b="1" dirty="0">
                <a:solidFill>
                  <a:srgbClr val="C00000">
                    <a:alpha val="0"/>
                  </a:srgbClr>
                </a:solidFill>
                <a:latin typeface="Calibri"/>
                <a:ea typeface="맑은 고딕"/>
                <a:cs typeface="Calibri"/>
              </a:rPr>
              <a:t>[ </a:t>
            </a:r>
            <a:r>
              <a:rPr lang="en-US" altLang="en-US" sz="2000" b="1" dirty="0">
                <a:solidFill>
                  <a:srgbClr val="C00000"/>
                </a:solidFill>
                <a:latin typeface="Calibri"/>
                <a:ea typeface="맑은 고딕"/>
                <a:cs typeface="Calibri"/>
              </a:rPr>
              <a:t>sell</a:t>
            </a:r>
            <a:r>
              <a:rPr lang="en-US" altLang="en-US" sz="2000" b="1" dirty="0">
                <a:solidFill>
                  <a:srgbClr val="C00000">
                    <a:alpha val="0"/>
                  </a:srgbClr>
                </a:solidFill>
                <a:latin typeface="Calibri"/>
                <a:ea typeface="맑은 고딕"/>
                <a:cs typeface="Calibri"/>
              </a:rPr>
              <a:t> / </a:t>
            </a:r>
            <a:r>
              <a:rPr lang="en-US" altLang="en-US" sz="2000" b="1" dirty="0">
                <a:solidFill>
                  <a:srgbClr val="C00000">
                    <a:alpha val="0"/>
                  </a:srgbClr>
                </a:solidFill>
                <a:latin typeface="Calibri"/>
                <a:ea typeface="맑은 고딕"/>
                <a:cs typeface="Calibri"/>
              </a:rPr>
              <a:t>selling</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more products.</a:t>
            </a:r>
            <a:endParaRPr lang="ko-KR" sz="2000"/>
          </a:p>
        </p:txBody>
      </p:sp>
      <p:sp>
        <p:nvSpPr>
          <p:cNvPr id="11" name="rv_point_1"/>
          <p:cNvSpPr txBox="1"/>
          <p:nvPr/>
        </p:nvSpPr>
        <p:spPr>
          <a:xfrm>
            <a:off x="457200" y="2135632"/>
            <a:ext cx="11274552" cy="331978"/>
          </a:xfrm>
          <a:prstGeom prst="rect">
            <a:avLst/>
          </a:prstGeom>
          <a:noFill/>
        </p:spPr>
        <p:txBody>
          <a:bodyPr wrap="square" lIns="228600" tIns="54864" rIns="228600" bIns="54864" anchor="t" rtlCol="0">
            <a:noAutofit/>
          </a:bodyPr>
          <a:lstStyle/>
          <a:p>
            <a:pPr algn="l">
              <a:lnSpc>
                <a:spcPts val="1750"/>
              </a:lnSpc>
              <a:spcBef>
                <a:spcPts val="0"/>
              </a:spcBef>
              <a:spcAft>
                <a:spcPts val="0"/>
              </a:spcAft>
              <a:buNone/>
            </a:pPr>
            <a:r>
              <a:rPr lang="ko-KR" altLang="en-US" sz="1400" b="1" dirty="0">
                <a:solidFill>
                  <a:srgbClr val="C00000"/>
                </a:solidFill>
                <a:latin typeface="맑은 고딕"/>
                <a:ea typeface="맑은 고딕"/>
                <a:cs typeface="맑은 고딕"/>
              </a:rPr>
              <a:t>포인트  </a:t>
            </a:r>
            <a:r>
              <a:rPr lang="ko-KR" altLang="en-US" sz="1400" b="0" dirty="0">
                <a:solidFill>
                  <a:srgbClr val="2F5597"/>
                </a:solidFill>
                <a:latin typeface="맑은 고딕"/>
                <a:ea typeface="맑은 고딕"/>
                <a:cs typeface="맑은 고딕"/>
              </a:rPr>
              <a:t>to부정사/동명사/동사원형 (help + 목적어 + 동사원형) · to부정사/동명사/동사원형 (help + 목적어 + 동사원형)</a:t>
            </a:r>
            <a:endParaRPr lang="ko-KR" sz="1400"/>
          </a:p>
        </p:txBody>
      </p:sp>
      <p:sp>
        <p:nvSpPr>
          <p:cNvPr id="12" name="item_card_2"/>
          <p:cNvSpPr/>
          <p:nvPr/>
        </p:nvSpPr>
        <p:spPr>
          <a:xfrm>
            <a:off x="457200" y="2577338"/>
            <a:ext cx="11274552" cy="1770633"/>
          </a:xfrm>
          <a:prstGeom prst="roundRect">
            <a:avLst>
              <a:gd name="adj" fmla="val 6000"/>
            </a:avLst>
          </a:prstGeom>
          <a:solidFill>
            <a:srgbClr val="F3F5F9"/>
          </a:solidFill>
          <a:ln w="12700">
            <a:solidFill>
              <a:srgbClr val="D9DFEA"/>
            </a:solidFill>
          </a:ln>
        </p:spPr>
        <p:txBody>
          <a:bodyPr rtlCol="0" anchor="ctr"/>
          <a:lstStyle/>
          <a:p>
            <a:pPr algn="ctr"/>
          </a:p>
        </p:txBody>
      </p:sp>
      <p:sp>
        <p:nvSpPr>
          <p:cNvPr id="13" name="kor_2"/>
          <p:cNvSpPr txBox="1"/>
          <p:nvPr/>
        </p:nvSpPr>
        <p:spPr>
          <a:xfrm>
            <a:off x="457200" y="2687066"/>
            <a:ext cx="11274552" cy="617728"/>
          </a:xfrm>
          <a:prstGeom prst="rect">
            <a:avLst/>
          </a:prstGeom>
          <a:noFill/>
        </p:spPr>
        <p:txBody>
          <a:bodyPr wrap="square" lIns="228600" tIns="54864" rIns="228600" bIns="54864" anchor="t" rtlCol="0">
            <a:noAutofit/>
          </a:bodyPr>
          <a:lstStyle/>
          <a:p>
            <a:pPr algn="l">
              <a:lnSpc>
                <a:spcPts val="2000"/>
              </a:lnSpc>
              <a:spcBef>
                <a:spcPts val="0"/>
              </a:spcBef>
              <a:spcAft>
                <a:spcPts val="0"/>
              </a:spcAft>
              <a:buNone/>
            </a:pPr>
            <a:r>
              <a:rPr lang="en-US" altLang="en-US" sz="1600" b="1" dirty="0">
                <a:solidFill>
                  <a:srgbClr val="1E2A5A"/>
                </a:solidFill>
                <a:latin typeface="Calibri"/>
                <a:ea typeface="맑은 고딕"/>
                <a:cs typeface="Calibri"/>
              </a:rPr>
              <a:t>14.  </a:t>
            </a:r>
            <a:r>
              <a:rPr lang="ko-KR" altLang="en-US" sz="1600" b="0" dirty="0">
                <a:solidFill>
                  <a:srgbClr val="3C4558"/>
                </a:solidFill>
                <a:latin typeface="맑은 고딕"/>
                <a:ea typeface="맑은 고딕"/>
                <a:cs typeface="맑은 고딕"/>
              </a:rPr>
              <a:t>또 사람들이 교통 체증을 피하도록 돕기도 한다. 그 쓰임새는 끝이 없는데, 여기 흥미로운 사례 몇 가지를 소개한다.</a:t>
            </a:r>
            <a:endParaRPr lang="ko-KR" sz="1600"/>
          </a:p>
        </p:txBody>
      </p:sp>
      <p:sp>
        <p:nvSpPr>
          <p:cNvPr id="14" name="eng_2"/>
          <p:cNvSpPr txBox="1"/>
          <p:nvPr/>
        </p:nvSpPr>
        <p:spPr>
          <a:xfrm>
            <a:off x="457200" y="3249930"/>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solidFill>
                <a:latin typeface="Calibri"/>
                <a:ea typeface="맑은 고딕"/>
                <a:cs typeface="Calibri"/>
              </a:rPr>
              <a:t>It helps people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avoid</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avoiding</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heavy traffic. Its uses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is</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are</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endless, and here are some interesting examples.</a:t>
            </a:r>
            <a:endParaRPr lang="ko-KR" sz="2000"/>
          </a:p>
        </p:txBody>
      </p:sp>
      <p:sp>
        <p:nvSpPr>
          <p:cNvPr id="15" name="rv_eng_2"/>
          <p:cNvSpPr txBox="1"/>
          <p:nvPr/>
        </p:nvSpPr>
        <p:spPr>
          <a:xfrm>
            <a:off x="457200" y="3249930"/>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alpha val="0"/>
                  </a:srgbClr>
                </a:solidFill>
                <a:latin typeface="Calibri"/>
                <a:ea typeface="맑은 고딕"/>
                <a:cs typeface="Calibri"/>
              </a:rPr>
              <a:t>It helps people </a:t>
            </a:r>
            <a:r>
              <a:rPr lang="en-US" altLang="en-US" sz="2000" b="1" dirty="0">
                <a:solidFill>
                  <a:srgbClr val="C00000">
                    <a:alpha val="0"/>
                  </a:srgbClr>
                </a:solidFill>
                <a:latin typeface="Calibri"/>
                <a:ea typeface="맑은 고딕"/>
                <a:cs typeface="Calibri"/>
              </a:rPr>
              <a:t>[ </a:t>
            </a:r>
            <a:r>
              <a:rPr lang="en-US" altLang="en-US" sz="2000" b="1" dirty="0">
                <a:solidFill>
                  <a:srgbClr val="C00000"/>
                </a:solidFill>
                <a:latin typeface="Calibri"/>
                <a:ea typeface="맑은 고딕"/>
                <a:cs typeface="Calibri"/>
              </a:rPr>
              <a:t>avoid</a:t>
            </a:r>
            <a:r>
              <a:rPr lang="en-US" altLang="en-US" sz="2000" b="1" dirty="0">
                <a:solidFill>
                  <a:srgbClr val="C00000">
                    <a:alpha val="0"/>
                  </a:srgbClr>
                </a:solidFill>
                <a:latin typeface="Calibri"/>
                <a:ea typeface="맑은 고딕"/>
                <a:cs typeface="Calibri"/>
              </a:rPr>
              <a:t> / </a:t>
            </a:r>
            <a:r>
              <a:rPr lang="en-US" altLang="en-US" sz="2000" b="1" dirty="0">
                <a:solidFill>
                  <a:srgbClr val="C00000">
                    <a:alpha val="0"/>
                  </a:srgbClr>
                </a:solidFill>
                <a:latin typeface="Calibri"/>
                <a:ea typeface="맑은 고딕"/>
                <a:cs typeface="Calibri"/>
              </a:rPr>
              <a:t>avoiding</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heavy traffic. Its uses </a:t>
            </a:r>
            <a:r>
              <a:rPr lang="en-US" altLang="en-US" sz="2000" b="1" dirty="0">
                <a:solidFill>
                  <a:srgbClr val="C00000">
                    <a:alpha val="0"/>
                  </a:srgbClr>
                </a:solidFill>
                <a:latin typeface="Calibri"/>
                <a:ea typeface="맑은 고딕"/>
                <a:cs typeface="Calibri"/>
              </a:rPr>
              <a:t>[ </a:t>
            </a:r>
            <a:r>
              <a:rPr lang="en-US" altLang="en-US" sz="2000" b="1" dirty="0">
                <a:solidFill>
                  <a:srgbClr val="C00000">
                    <a:alpha val="0"/>
                  </a:srgbClr>
                </a:solidFill>
                <a:latin typeface="Calibri"/>
                <a:ea typeface="맑은 고딕"/>
                <a:cs typeface="Calibri"/>
              </a:rPr>
              <a:t>is</a:t>
            </a:r>
            <a:r>
              <a:rPr lang="en-US" altLang="en-US" sz="2000" b="1" dirty="0">
                <a:solidFill>
                  <a:srgbClr val="C00000">
                    <a:alpha val="0"/>
                  </a:srgbClr>
                </a:solidFill>
                <a:latin typeface="Calibri"/>
                <a:ea typeface="맑은 고딕"/>
                <a:cs typeface="Calibri"/>
              </a:rPr>
              <a:t> / </a:t>
            </a:r>
            <a:r>
              <a:rPr lang="en-US" altLang="en-US" sz="2000" b="1" dirty="0">
                <a:solidFill>
                  <a:srgbClr val="C00000"/>
                </a:solidFill>
                <a:latin typeface="Calibri"/>
                <a:ea typeface="맑은 고딕"/>
                <a:cs typeface="Calibri"/>
              </a:rPr>
              <a:t>are</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endless, and here are some interesting examples.</a:t>
            </a:r>
            <a:endParaRPr lang="ko-KR" sz="2000"/>
          </a:p>
        </p:txBody>
      </p:sp>
      <p:sp>
        <p:nvSpPr>
          <p:cNvPr id="16" name="rv_point_2"/>
          <p:cNvSpPr txBox="1"/>
          <p:nvPr/>
        </p:nvSpPr>
        <p:spPr>
          <a:xfrm>
            <a:off x="457200" y="4015994"/>
            <a:ext cx="11274552" cy="331978"/>
          </a:xfrm>
          <a:prstGeom prst="rect">
            <a:avLst/>
          </a:prstGeom>
          <a:noFill/>
        </p:spPr>
        <p:txBody>
          <a:bodyPr wrap="square" lIns="228600" tIns="54864" rIns="228600" bIns="54864" anchor="t" rtlCol="0">
            <a:noAutofit/>
          </a:bodyPr>
          <a:lstStyle/>
          <a:p>
            <a:pPr algn="l">
              <a:lnSpc>
                <a:spcPts val="1750"/>
              </a:lnSpc>
              <a:spcBef>
                <a:spcPts val="0"/>
              </a:spcBef>
              <a:spcAft>
                <a:spcPts val="0"/>
              </a:spcAft>
              <a:buNone/>
            </a:pPr>
            <a:r>
              <a:rPr lang="ko-KR" altLang="en-US" sz="1400" b="1" dirty="0">
                <a:solidFill>
                  <a:srgbClr val="C00000"/>
                </a:solidFill>
                <a:latin typeface="맑은 고딕"/>
                <a:ea typeface="맑은 고딕"/>
                <a:cs typeface="맑은 고딕"/>
              </a:rPr>
              <a:t>포인트  </a:t>
            </a:r>
            <a:r>
              <a:rPr lang="ko-KR" altLang="en-US" sz="1400" b="0" dirty="0">
                <a:solidFill>
                  <a:srgbClr val="2F5597"/>
                </a:solidFill>
                <a:latin typeface="맑은 고딕"/>
                <a:ea typeface="맑은 고딕"/>
                <a:cs typeface="맑은 고딕"/>
              </a:rPr>
              <a:t>to부정사/동명사/동사원형 (help + 목적어 + 동사원형) · 동사의 수 일치 (주어 Its uses 복수)</a:t>
            </a:r>
            <a:endParaRPr lang="ko-KR" sz="1400"/>
          </a:p>
        </p:txBody>
      </p:sp>
      <p:sp>
        <p:nvSpPr>
          <p:cNvPr id="17" name="item_card_3"/>
          <p:cNvSpPr/>
          <p:nvPr/>
        </p:nvSpPr>
        <p:spPr>
          <a:xfrm>
            <a:off x="457200" y="4457700"/>
            <a:ext cx="11274552" cy="1770633"/>
          </a:xfrm>
          <a:prstGeom prst="roundRect">
            <a:avLst>
              <a:gd name="adj" fmla="val 6000"/>
            </a:avLst>
          </a:prstGeom>
          <a:solidFill>
            <a:srgbClr val="F3F5F9"/>
          </a:solidFill>
          <a:ln w="12700">
            <a:solidFill>
              <a:srgbClr val="D9DFEA"/>
            </a:solidFill>
          </a:ln>
        </p:spPr>
        <p:txBody>
          <a:bodyPr rtlCol="0" anchor="ctr"/>
          <a:lstStyle/>
          <a:p>
            <a:pPr algn="ctr"/>
          </a:p>
        </p:txBody>
      </p:sp>
      <p:sp>
        <p:nvSpPr>
          <p:cNvPr id="18" name="kor_3"/>
          <p:cNvSpPr txBox="1"/>
          <p:nvPr/>
        </p:nvSpPr>
        <p:spPr>
          <a:xfrm>
            <a:off x="457200" y="4567428"/>
            <a:ext cx="11274552" cy="617728"/>
          </a:xfrm>
          <a:prstGeom prst="rect">
            <a:avLst/>
          </a:prstGeom>
          <a:noFill/>
        </p:spPr>
        <p:txBody>
          <a:bodyPr wrap="square" lIns="228600" tIns="54864" rIns="228600" bIns="54864" anchor="t" rtlCol="0">
            <a:noAutofit/>
          </a:bodyPr>
          <a:lstStyle/>
          <a:p>
            <a:pPr algn="l">
              <a:lnSpc>
                <a:spcPts val="2000"/>
              </a:lnSpc>
              <a:spcBef>
                <a:spcPts val="0"/>
              </a:spcBef>
              <a:spcAft>
                <a:spcPts val="0"/>
              </a:spcAft>
              <a:buNone/>
            </a:pPr>
            <a:r>
              <a:rPr lang="en-US" altLang="en-US" sz="1600" b="1" dirty="0">
                <a:solidFill>
                  <a:srgbClr val="1E2A5A"/>
                </a:solidFill>
                <a:latin typeface="Calibri"/>
                <a:ea typeface="맑은 고딕"/>
                <a:cs typeface="Calibri"/>
              </a:rPr>
              <a:t>15.  </a:t>
            </a:r>
            <a:r>
              <a:rPr lang="ko-KR" altLang="en-US" sz="1600" b="0" dirty="0">
                <a:solidFill>
                  <a:srgbClr val="3C4558"/>
                </a:solidFill>
                <a:latin typeface="맑은 고딕"/>
                <a:ea typeface="맑은 고딕"/>
                <a:cs typeface="맑은 고딕"/>
              </a:rPr>
              <a:t>기상 전문가들이 날씨를 예보하듯, 이제는 보건 전문가들이 질병을 예측할 수 있다는 사실을 알고 있었는가?</a:t>
            </a:r>
            <a:endParaRPr lang="ko-KR" sz="1600"/>
          </a:p>
        </p:txBody>
      </p:sp>
      <p:sp>
        <p:nvSpPr>
          <p:cNvPr id="19" name="eng_3"/>
          <p:cNvSpPr txBox="1"/>
          <p:nvPr/>
        </p:nvSpPr>
        <p:spPr>
          <a:xfrm>
            <a:off x="457200" y="5130292"/>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solidFill>
                <a:latin typeface="Calibri"/>
                <a:ea typeface="맑은 고딕"/>
                <a:cs typeface="Calibri"/>
              </a:rPr>
              <a:t>Did you know that health professionals can now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to forecast</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forecast</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a disease just as weather experts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forecast</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forecasts</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the weather?</a:t>
            </a:r>
            <a:endParaRPr lang="ko-KR" sz="2000"/>
          </a:p>
        </p:txBody>
      </p:sp>
      <p:sp>
        <p:nvSpPr>
          <p:cNvPr id="20" name="rv_eng_3"/>
          <p:cNvSpPr txBox="1"/>
          <p:nvPr/>
        </p:nvSpPr>
        <p:spPr>
          <a:xfrm>
            <a:off x="457200" y="5130292"/>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alpha val="0"/>
                  </a:srgbClr>
                </a:solidFill>
                <a:latin typeface="Calibri"/>
                <a:ea typeface="맑은 고딕"/>
                <a:cs typeface="Calibri"/>
              </a:rPr>
              <a:t>Did you know that health professionals can now </a:t>
            </a:r>
            <a:r>
              <a:rPr lang="en-US" altLang="en-US" sz="2000" b="1" dirty="0">
                <a:solidFill>
                  <a:srgbClr val="C00000">
                    <a:alpha val="0"/>
                  </a:srgbClr>
                </a:solidFill>
                <a:latin typeface="Calibri"/>
                <a:ea typeface="맑은 고딕"/>
                <a:cs typeface="Calibri"/>
              </a:rPr>
              <a:t>[ </a:t>
            </a:r>
            <a:r>
              <a:rPr lang="en-US" altLang="en-US" sz="2000" b="1" dirty="0">
                <a:solidFill>
                  <a:srgbClr val="C00000">
                    <a:alpha val="0"/>
                  </a:srgbClr>
                </a:solidFill>
                <a:latin typeface="Calibri"/>
                <a:ea typeface="맑은 고딕"/>
                <a:cs typeface="Calibri"/>
              </a:rPr>
              <a:t>to forecast</a:t>
            </a:r>
            <a:r>
              <a:rPr lang="en-US" altLang="en-US" sz="2000" b="1" dirty="0">
                <a:solidFill>
                  <a:srgbClr val="C00000">
                    <a:alpha val="0"/>
                  </a:srgbClr>
                </a:solidFill>
                <a:latin typeface="Calibri"/>
                <a:ea typeface="맑은 고딕"/>
                <a:cs typeface="Calibri"/>
              </a:rPr>
              <a:t> / </a:t>
            </a:r>
            <a:r>
              <a:rPr lang="en-US" altLang="en-US" sz="2000" b="1" dirty="0">
                <a:solidFill>
                  <a:srgbClr val="C00000"/>
                </a:solidFill>
                <a:latin typeface="Calibri"/>
                <a:ea typeface="맑은 고딕"/>
                <a:cs typeface="Calibri"/>
              </a:rPr>
              <a:t>forecast</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a disease just as weather experts </a:t>
            </a:r>
            <a:r>
              <a:rPr lang="en-US" altLang="en-US" sz="2000" b="1" dirty="0">
                <a:solidFill>
                  <a:srgbClr val="C00000">
                    <a:alpha val="0"/>
                  </a:srgbClr>
                </a:solidFill>
                <a:latin typeface="Calibri"/>
                <a:ea typeface="맑은 고딕"/>
                <a:cs typeface="Calibri"/>
              </a:rPr>
              <a:t>[ </a:t>
            </a:r>
            <a:r>
              <a:rPr lang="en-US" altLang="en-US" sz="2000" b="1" dirty="0">
                <a:solidFill>
                  <a:srgbClr val="C00000"/>
                </a:solidFill>
                <a:latin typeface="Calibri"/>
                <a:ea typeface="맑은 고딕"/>
                <a:cs typeface="Calibri"/>
              </a:rPr>
              <a:t>forecast</a:t>
            </a:r>
            <a:r>
              <a:rPr lang="en-US" altLang="en-US" sz="2000" b="1" dirty="0">
                <a:solidFill>
                  <a:srgbClr val="C00000">
                    <a:alpha val="0"/>
                  </a:srgbClr>
                </a:solidFill>
                <a:latin typeface="Calibri"/>
                <a:ea typeface="맑은 고딕"/>
                <a:cs typeface="Calibri"/>
              </a:rPr>
              <a:t> / </a:t>
            </a:r>
            <a:r>
              <a:rPr lang="en-US" altLang="en-US" sz="2000" b="1" dirty="0">
                <a:solidFill>
                  <a:srgbClr val="C00000">
                    <a:alpha val="0"/>
                  </a:srgbClr>
                </a:solidFill>
                <a:latin typeface="Calibri"/>
                <a:ea typeface="맑은 고딕"/>
                <a:cs typeface="Calibri"/>
              </a:rPr>
              <a:t>forecasts</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the weather?</a:t>
            </a:r>
            <a:endParaRPr lang="ko-KR" sz="2000"/>
          </a:p>
        </p:txBody>
      </p:sp>
      <p:sp>
        <p:nvSpPr>
          <p:cNvPr id="21" name="rv_point_3"/>
          <p:cNvSpPr txBox="1"/>
          <p:nvPr/>
        </p:nvSpPr>
        <p:spPr>
          <a:xfrm>
            <a:off x="457200" y="5896356"/>
            <a:ext cx="11274552" cy="331978"/>
          </a:xfrm>
          <a:prstGeom prst="rect">
            <a:avLst/>
          </a:prstGeom>
          <a:noFill/>
        </p:spPr>
        <p:txBody>
          <a:bodyPr wrap="square" lIns="228600" tIns="54864" rIns="228600" bIns="54864" anchor="t" rtlCol="0">
            <a:noAutofit/>
          </a:bodyPr>
          <a:lstStyle/>
          <a:p>
            <a:pPr algn="l">
              <a:lnSpc>
                <a:spcPts val="1750"/>
              </a:lnSpc>
              <a:spcBef>
                <a:spcPts val="0"/>
              </a:spcBef>
              <a:spcAft>
                <a:spcPts val="0"/>
              </a:spcAft>
              <a:buNone/>
            </a:pPr>
            <a:r>
              <a:rPr lang="ko-KR" altLang="en-US" sz="1400" b="1" dirty="0">
                <a:solidFill>
                  <a:srgbClr val="C00000"/>
                </a:solidFill>
                <a:latin typeface="맑은 고딕"/>
                <a:ea typeface="맑은 고딕"/>
                <a:cs typeface="맑은 고딕"/>
              </a:rPr>
              <a:t>포인트  </a:t>
            </a:r>
            <a:r>
              <a:rPr lang="ko-KR" altLang="en-US" sz="1400" b="0" dirty="0">
                <a:solidFill>
                  <a:srgbClr val="2F5597"/>
                </a:solidFill>
                <a:latin typeface="맑은 고딕"/>
                <a:ea typeface="맑은 고딕"/>
                <a:cs typeface="맑은 고딕"/>
              </a:rPr>
              <a:t>to부정사/동명사/동사원형 (조동사 can + 동사원형) · 동사의 수 일치 (주어 weather experts 복수)</a:t>
            </a:r>
            <a:endParaRPr lang="ko-KR" sz="1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25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250"/>
                                        <p:tgtEl>
                                          <p:spTgt spid="1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250"/>
                                        <p:tgtEl>
                                          <p:spTgt spid="1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fade">
                                      <p:cBhvr>
                                        <p:cTn id="16" dur="250"/>
                                        <p:tgtEl>
                                          <p:spTgt spid="1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250"/>
                                        <p:tgtEl>
                                          <p:spTgt spid="2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fade">
                                      <p:cBhvr>
                                        <p:cTn id="22" dur="25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5" grpId="0" animBg="1"/>
      <p:bldP spid="16" grpId="0" animBg="1"/>
      <p:bldP spid="20" grpId="0" animBg="1"/>
      <p:bldP spid="21" grpId="0" animBg="1"/>
    </p:bldLst>
  </p:timing>
</p:sld>
</file>

<file path=ppt/slides/slide2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8000"/>
            </a:avLst>
          </a:prstGeom>
          <a:solidFill>
            <a:srgbClr val="1E2A5A"/>
          </a:solidFill>
          <a:ln>
            <a:noFill/>
          </a:ln>
        </p:spPr>
        <p:txBody>
          <a:bodyPr wrap="square" lIns="45720" tIns="18288" rIns="45720" bIns="18288" anchor="ctr" rtlCol="0">
            <a:noAutofit/>
          </a:bodyPr>
          <a:lstStyle/>
          <a:p>
            <a:pPr algn="ctr">
              <a:lnSpc>
                <a:spcPts val="2000"/>
              </a:lnSpc>
              <a:spcBef>
                <a:spcPts val="0"/>
              </a:spcBef>
              <a:spcAft>
                <a:spcPts val="0"/>
              </a:spcAft>
              <a:buNone/>
            </a:pPr>
            <a:r>
              <a:rPr lang="en-US" altLang="en-US" sz="1700" b="1" dirty="0">
                <a:solidFill>
                  <a:srgbClr val="FFFFFF"/>
                </a:solidFill>
                <a:latin typeface="Calibri"/>
                <a:ea typeface="맑은 고딕"/>
                <a:cs typeface="Calibri"/>
              </a:rPr>
              <a:t>L7</a:t>
            </a:r>
            <a:endParaRPr lang="ko-KR" sz="1700"/>
          </a:p>
        </p:txBody>
      </p:sp>
      <p:sp>
        <p:nvSpPr>
          <p:cNvPr id="3" name="hdr_chip"/>
          <p:cNvSpPr/>
          <p:nvPr/>
        </p:nvSpPr>
        <p:spPr>
          <a:xfrm>
            <a:off x="1755648" y="274320"/>
            <a:ext cx="1371600" cy="493776"/>
          </a:xfrm>
          <a:prstGeom prst="roundRect">
            <a:avLst>
              <a:gd name="adj" fmla="val 8000"/>
            </a:avLst>
          </a:prstGeom>
          <a:solidFill>
            <a:srgbClr val="E6EAF4"/>
          </a:solidFill>
          <a:ln>
            <a:noFill/>
          </a:ln>
        </p:spPr>
        <p:txBody>
          <a:bodyPr wrap="square" lIns="27432" tIns="18288" rIns="27432" bIns="18288" anchor="ctr" rtlCol="0">
            <a:noAutofit/>
          </a:bodyPr>
          <a:lstStyle/>
          <a:p>
            <a:pPr algn="ctr">
              <a:lnSpc>
                <a:spcPts val="1700"/>
              </a:lnSpc>
              <a:spcBef>
                <a:spcPts val="0"/>
              </a:spcBef>
              <a:spcAft>
                <a:spcPts val="0"/>
              </a:spcAft>
              <a:buNone/>
            </a:pPr>
            <a:r>
              <a:rPr lang="ko-KR" altLang="en-US" sz="1400" b="1" dirty="0">
                <a:solidFill>
                  <a:srgbClr val="1E2A5A"/>
                </a:solidFill>
                <a:latin typeface="맑은 고딕"/>
                <a:ea typeface="맑은 고딕"/>
                <a:cs typeface="맑은 고딕"/>
              </a:rPr>
              <a:t>PART 5 · 6</a:t>
            </a:r>
            <a:endParaRPr lang="ko-KR" sz="1400"/>
          </a:p>
        </p:txBody>
      </p:sp>
      <p:sp>
        <p:nvSpPr>
          <p:cNvPr id="4" name="hdr_q"/>
          <p:cNvSpPr txBox="1"/>
          <p:nvPr/>
        </p:nvSpPr>
        <p:spPr>
          <a:xfrm>
            <a:off x="3246120" y="246888"/>
            <a:ext cx="8485632" cy="548640"/>
          </a:xfrm>
          <a:prstGeom prst="rect">
            <a:avLst/>
          </a:prstGeom>
          <a:noFill/>
        </p:spPr>
        <p:txBody>
          <a:bodyPr wrap="square" lIns="109728" tIns="54864" rIns="109728" bIns="54864" anchor="ctr" rtlCol="0">
            <a:noAutofit/>
          </a:bodyPr>
          <a:lstStyle/>
          <a:p>
            <a:pPr algn="l">
              <a:lnSpc>
                <a:spcPts val="2400"/>
              </a:lnSpc>
              <a:spcBef>
                <a:spcPts val="0"/>
              </a:spcBef>
              <a:spcAft>
                <a:spcPts val="0"/>
              </a:spcAft>
              <a:buNone/>
            </a:pPr>
            <a:r>
              <a:rPr lang="ko-KR" altLang="en-US" sz="2000" b="1" dirty="0">
                <a:solidFill>
                  <a:srgbClr val="1F2328"/>
                </a:solidFill>
                <a:latin typeface="맑은 고딕"/>
                <a:ea typeface="맑은 고딕"/>
                <a:cs typeface="맑은 고딕"/>
              </a:rPr>
              <a:t>[  ] 안에서 어법상 알맞은 것을 고르시오.</a:t>
            </a:r>
            <a:endParaRPr lang="ko-KR" sz="2000"/>
          </a:p>
        </p:txBody>
      </p:sp>
      <p:sp>
        <p:nvSpPr>
          <p:cNvPr id="5" name="ftr_exam"/>
          <p:cNvSpPr txBox="1"/>
          <p:nvPr/>
        </p:nvSpPr>
        <p:spPr>
          <a:xfrm>
            <a:off x="457200" y="6519672"/>
            <a:ext cx="5669280" cy="256032"/>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7</a:t>
            </a:r>
            <a:endParaRPr lang="ko-KR" sz="1000"/>
          </a:p>
        </p:txBody>
      </p:sp>
      <p:sp>
        <p:nvSpPr>
          <p:cNvPr id="6" name="ftr_hint"/>
          <p:cNvSpPr txBox="1"/>
          <p:nvPr/>
        </p:nvSpPr>
        <p:spPr>
          <a:xfrm>
            <a:off x="5971032" y="6519672"/>
            <a:ext cx="5760720" cy="256032"/>
          </a:xfrm>
          <a:prstGeom prst="rect">
            <a:avLst/>
          </a:prstGeom>
          <a:noFill/>
        </p:spPr>
        <p:txBody>
          <a:bodyPr wrap="square" lIns="0" tIns="0" rIns="0" bIns="0" anchor="t" rtlCol="0">
            <a:noAutofit/>
          </a:bodyPr>
          <a:lstStyle/>
          <a:p>
            <a:pPr algn="r">
              <a:lnSpc>
                <a:spcPts val="1200"/>
              </a:lnSpc>
              <a:spcBef>
                <a:spcPts val="0"/>
              </a:spcBef>
              <a:spcAft>
                <a:spcPts val="0"/>
              </a:spcAft>
              <a:buNone/>
            </a:pPr>
            <a:r>
              <a:rPr lang="ko-KR" altLang="en-US" sz="1000" b="0" dirty="0">
                <a:solidFill>
                  <a:srgbClr val="7A808C"/>
                </a:solidFill>
                <a:latin typeface="맑은 고딕"/>
                <a:ea typeface="맑은 고딕"/>
                <a:cs typeface="맑은 고딕"/>
              </a:rPr>
              <a:t>클릭 ① 정답(빨간색) + 문법 포인트 공개</a:t>
            </a:r>
            <a:endParaRPr lang="ko-KR" sz="1000"/>
          </a:p>
        </p:txBody>
      </p:sp>
      <p:sp>
        <p:nvSpPr>
          <p:cNvPr id="7" name="item_card_1"/>
          <p:cNvSpPr/>
          <p:nvPr/>
        </p:nvSpPr>
        <p:spPr>
          <a:xfrm>
            <a:off x="457200" y="950976"/>
            <a:ext cx="11274552" cy="1516634"/>
          </a:xfrm>
          <a:prstGeom prst="roundRect">
            <a:avLst>
              <a:gd name="adj" fmla="val 6000"/>
            </a:avLst>
          </a:prstGeom>
          <a:solidFill>
            <a:srgbClr val="F3F5F9"/>
          </a:solidFill>
          <a:ln w="12700">
            <a:solidFill>
              <a:srgbClr val="D9DFEA"/>
            </a:solidFill>
          </a:ln>
        </p:spPr>
        <p:txBody>
          <a:bodyPr rtlCol="0" anchor="ctr"/>
          <a:lstStyle/>
          <a:p>
            <a:pPr algn="ctr"/>
          </a:p>
        </p:txBody>
      </p:sp>
      <p:sp>
        <p:nvSpPr>
          <p:cNvPr id="8" name="kor_1"/>
          <p:cNvSpPr txBox="1"/>
          <p:nvPr/>
        </p:nvSpPr>
        <p:spPr>
          <a:xfrm>
            <a:off x="457200" y="1060704"/>
            <a:ext cx="11274552" cy="363728"/>
          </a:xfrm>
          <a:prstGeom prst="rect">
            <a:avLst/>
          </a:prstGeom>
          <a:noFill/>
        </p:spPr>
        <p:txBody>
          <a:bodyPr wrap="square" lIns="228600" tIns="54864" rIns="228600" bIns="54864" anchor="t" rtlCol="0">
            <a:noAutofit/>
          </a:bodyPr>
          <a:lstStyle/>
          <a:p>
            <a:pPr algn="l">
              <a:lnSpc>
                <a:spcPts val="2000"/>
              </a:lnSpc>
              <a:spcBef>
                <a:spcPts val="0"/>
              </a:spcBef>
              <a:spcAft>
                <a:spcPts val="0"/>
              </a:spcAft>
              <a:buNone/>
            </a:pPr>
            <a:r>
              <a:rPr lang="en-US" altLang="en-US" sz="1600" b="1" dirty="0">
                <a:solidFill>
                  <a:srgbClr val="1E2A5A"/>
                </a:solidFill>
                <a:latin typeface="Calibri"/>
                <a:ea typeface="맑은 고딕"/>
                <a:cs typeface="Calibri"/>
              </a:rPr>
              <a:t>16.  </a:t>
            </a:r>
            <a:r>
              <a:rPr lang="ko-KR" altLang="en-US" sz="1600" b="0" dirty="0">
                <a:solidFill>
                  <a:srgbClr val="3C4558"/>
                </a:solidFill>
                <a:latin typeface="맑은 고딕"/>
                <a:ea typeface="맑은 고딕"/>
                <a:cs typeface="맑은 고딕"/>
              </a:rPr>
              <a:t>이는 빅데이터 덕분이다. 예를 들어 독감 철이 다가오면 사람들은 독감약을 더 많이 살 것이다.</a:t>
            </a:r>
            <a:endParaRPr lang="ko-KR" sz="1600"/>
          </a:p>
        </p:txBody>
      </p:sp>
      <p:sp>
        <p:nvSpPr>
          <p:cNvPr id="9" name="eng_1"/>
          <p:cNvSpPr txBox="1"/>
          <p:nvPr/>
        </p:nvSpPr>
        <p:spPr>
          <a:xfrm>
            <a:off x="457200" y="1369568"/>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solidFill>
                <a:latin typeface="Calibri"/>
                <a:ea typeface="맑은 고딕"/>
                <a:cs typeface="Calibri"/>
              </a:rPr>
              <a:t>This is possible thanks to big data. For example, when the flu season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comes</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come</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people will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to buy</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buy</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more flu medicine.</a:t>
            </a:r>
            <a:endParaRPr lang="ko-KR" sz="2000"/>
          </a:p>
        </p:txBody>
      </p:sp>
      <p:sp>
        <p:nvSpPr>
          <p:cNvPr id="10" name="rv_eng_1"/>
          <p:cNvSpPr txBox="1"/>
          <p:nvPr/>
        </p:nvSpPr>
        <p:spPr>
          <a:xfrm>
            <a:off x="457200" y="1369568"/>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alpha val="0"/>
                  </a:srgbClr>
                </a:solidFill>
                <a:latin typeface="Calibri"/>
                <a:ea typeface="맑은 고딕"/>
                <a:cs typeface="Calibri"/>
              </a:rPr>
              <a:t>This is possible thanks to big data. For example, when the flu season </a:t>
            </a:r>
            <a:r>
              <a:rPr lang="en-US" altLang="en-US" sz="2000" b="1" dirty="0">
                <a:solidFill>
                  <a:srgbClr val="C00000">
                    <a:alpha val="0"/>
                  </a:srgbClr>
                </a:solidFill>
                <a:latin typeface="Calibri"/>
                <a:ea typeface="맑은 고딕"/>
                <a:cs typeface="Calibri"/>
              </a:rPr>
              <a:t>[ </a:t>
            </a:r>
            <a:r>
              <a:rPr lang="en-US" altLang="en-US" sz="2000" b="1" dirty="0">
                <a:solidFill>
                  <a:srgbClr val="C00000"/>
                </a:solidFill>
                <a:latin typeface="Calibri"/>
                <a:ea typeface="맑은 고딕"/>
                <a:cs typeface="Calibri"/>
              </a:rPr>
              <a:t>comes</a:t>
            </a:r>
            <a:r>
              <a:rPr lang="en-US" altLang="en-US" sz="2000" b="1" dirty="0">
                <a:solidFill>
                  <a:srgbClr val="C00000">
                    <a:alpha val="0"/>
                  </a:srgbClr>
                </a:solidFill>
                <a:latin typeface="Calibri"/>
                <a:ea typeface="맑은 고딕"/>
                <a:cs typeface="Calibri"/>
              </a:rPr>
              <a:t> / </a:t>
            </a:r>
            <a:r>
              <a:rPr lang="en-US" altLang="en-US" sz="2000" b="1" dirty="0">
                <a:solidFill>
                  <a:srgbClr val="C00000">
                    <a:alpha val="0"/>
                  </a:srgbClr>
                </a:solidFill>
                <a:latin typeface="Calibri"/>
                <a:ea typeface="맑은 고딕"/>
                <a:cs typeface="Calibri"/>
              </a:rPr>
              <a:t>come</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people will </a:t>
            </a:r>
            <a:r>
              <a:rPr lang="en-US" altLang="en-US" sz="2000" b="1" dirty="0">
                <a:solidFill>
                  <a:srgbClr val="C00000">
                    <a:alpha val="0"/>
                  </a:srgbClr>
                </a:solidFill>
                <a:latin typeface="Calibri"/>
                <a:ea typeface="맑은 고딕"/>
                <a:cs typeface="Calibri"/>
              </a:rPr>
              <a:t>[ </a:t>
            </a:r>
            <a:r>
              <a:rPr lang="en-US" altLang="en-US" sz="2000" b="1" dirty="0">
                <a:solidFill>
                  <a:srgbClr val="C00000">
                    <a:alpha val="0"/>
                  </a:srgbClr>
                </a:solidFill>
                <a:latin typeface="Calibri"/>
                <a:ea typeface="맑은 고딕"/>
                <a:cs typeface="Calibri"/>
              </a:rPr>
              <a:t>to buy</a:t>
            </a:r>
            <a:r>
              <a:rPr lang="en-US" altLang="en-US" sz="2000" b="1" dirty="0">
                <a:solidFill>
                  <a:srgbClr val="C00000">
                    <a:alpha val="0"/>
                  </a:srgbClr>
                </a:solidFill>
                <a:latin typeface="Calibri"/>
                <a:ea typeface="맑은 고딕"/>
                <a:cs typeface="Calibri"/>
              </a:rPr>
              <a:t> / </a:t>
            </a:r>
            <a:r>
              <a:rPr lang="en-US" altLang="en-US" sz="2000" b="1" dirty="0">
                <a:solidFill>
                  <a:srgbClr val="C00000"/>
                </a:solidFill>
                <a:latin typeface="Calibri"/>
                <a:ea typeface="맑은 고딕"/>
                <a:cs typeface="Calibri"/>
              </a:rPr>
              <a:t>buy</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more flu medicine.</a:t>
            </a:r>
            <a:endParaRPr lang="ko-KR" sz="2000"/>
          </a:p>
        </p:txBody>
      </p:sp>
      <p:sp>
        <p:nvSpPr>
          <p:cNvPr id="11" name="rv_point_1"/>
          <p:cNvSpPr txBox="1"/>
          <p:nvPr/>
        </p:nvSpPr>
        <p:spPr>
          <a:xfrm>
            <a:off x="457200" y="2135632"/>
            <a:ext cx="11274552" cy="331978"/>
          </a:xfrm>
          <a:prstGeom prst="rect">
            <a:avLst/>
          </a:prstGeom>
          <a:noFill/>
        </p:spPr>
        <p:txBody>
          <a:bodyPr wrap="square" lIns="228600" tIns="54864" rIns="228600" bIns="54864" anchor="t" rtlCol="0">
            <a:noAutofit/>
          </a:bodyPr>
          <a:lstStyle/>
          <a:p>
            <a:pPr algn="l">
              <a:lnSpc>
                <a:spcPts val="1750"/>
              </a:lnSpc>
              <a:spcBef>
                <a:spcPts val="0"/>
              </a:spcBef>
              <a:spcAft>
                <a:spcPts val="0"/>
              </a:spcAft>
              <a:buNone/>
            </a:pPr>
            <a:r>
              <a:rPr lang="ko-KR" altLang="en-US" sz="1400" b="1" dirty="0">
                <a:solidFill>
                  <a:srgbClr val="C00000"/>
                </a:solidFill>
                <a:latin typeface="맑은 고딕"/>
                <a:ea typeface="맑은 고딕"/>
                <a:cs typeface="맑은 고딕"/>
              </a:rPr>
              <a:t>포인트  </a:t>
            </a:r>
            <a:r>
              <a:rPr lang="ko-KR" altLang="en-US" sz="1400" b="0" dirty="0">
                <a:solidFill>
                  <a:srgbClr val="2F5597"/>
                </a:solidFill>
                <a:latin typeface="맑은 고딕"/>
                <a:ea typeface="맑은 고딕"/>
                <a:cs typeface="맑은 고딕"/>
              </a:rPr>
              <a:t>동사의 수 일치 (주어 the flu season 단수) · to부정사/동명사/동사원형 (조동사 will + 동사원형)</a:t>
            </a:r>
            <a:endParaRPr lang="ko-KR" sz="1400"/>
          </a:p>
        </p:txBody>
      </p:sp>
      <p:sp>
        <p:nvSpPr>
          <p:cNvPr id="12" name="item_card_2"/>
          <p:cNvSpPr/>
          <p:nvPr/>
        </p:nvSpPr>
        <p:spPr>
          <a:xfrm>
            <a:off x="457200" y="2577338"/>
            <a:ext cx="11274552" cy="1161034"/>
          </a:xfrm>
          <a:prstGeom prst="roundRect">
            <a:avLst>
              <a:gd name="adj" fmla="val 6000"/>
            </a:avLst>
          </a:prstGeom>
          <a:solidFill>
            <a:srgbClr val="F3F5F9"/>
          </a:solidFill>
          <a:ln w="12700">
            <a:solidFill>
              <a:srgbClr val="D9DFEA"/>
            </a:solidFill>
          </a:ln>
        </p:spPr>
        <p:txBody>
          <a:bodyPr rtlCol="0" anchor="ctr"/>
          <a:lstStyle/>
          <a:p>
            <a:pPr algn="ctr"/>
          </a:p>
        </p:txBody>
      </p:sp>
      <p:sp>
        <p:nvSpPr>
          <p:cNvPr id="13" name="kor_2"/>
          <p:cNvSpPr txBox="1"/>
          <p:nvPr/>
        </p:nvSpPr>
        <p:spPr>
          <a:xfrm>
            <a:off x="457200" y="2687066"/>
            <a:ext cx="11274552" cy="363728"/>
          </a:xfrm>
          <a:prstGeom prst="rect">
            <a:avLst/>
          </a:prstGeom>
          <a:noFill/>
        </p:spPr>
        <p:txBody>
          <a:bodyPr wrap="square" lIns="228600" tIns="54864" rIns="228600" bIns="54864" anchor="t" rtlCol="0">
            <a:noAutofit/>
          </a:bodyPr>
          <a:lstStyle/>
          <a:p>
            <a:pPr algn="l">
              <a:lnSpc>
                <a:spcPts val="2000"/>
              </a:lnSpc>
              <a:spcBef>
                <a:spcPts val="0"/>
              </a:spcBef>
              <a:spcAft>
                <a:spcPts val="0"/>
              </a:spcAft>
              <a:buNone/>
            </a:pPr>
            <a:r>
              <a:rPr lang="en-US" altLang="en-US" sz="1600" b="1" dirty="0">
                <a:solidFill>
                  <a:srgbClr val="1E2A5A"/>
                </a:solidFill>
                <a:latin typeface="Calibri"/>
                <a:ea typeface="맑은 고딕"/>
                <a:cs typeface="Calibri"/>
              </a:rPr>
              <a:t>17.  </a:t>
            </a:r>
            <a:r>
              <a:rPr lang="ko-KR" altLang="en-US" sz="1600" b="0" dirty="0">
                <a:solidFill>
                  <a:srgbClr val="3C4558"/>
                </a:solidFill>
                <a:latin typeface="맑은 고딕"/>
                <a:ea typeface="맑은 고딕"/>
                <a:cs typeface="맑은 고딕"/>
              </a:rPr>
              <a:t>또한 독감 증상에 대해 인터넷 검색도 더 많이 할 것이다.</a:t>
            </a:r>
            <a:endParaRPr lang="ko-KR" sz="1600"/>
          </a:p>
        </p:txBody>
      </p:sp>
      <p:sp>
        <p:nvSpPr>
          <p:cNvPr id="14" name="eng_2"/>
          <p:cNvSpPr txBox="1"/>
          <p:nvPr/>
        </p:nvSpPr>
        <p:spPr>
          <a:xfrm>
            <a:off x="457200" y="2995930"/>
            <a:ext cx="11274552" cy="4653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solidFill>
                <a:latin typeface="Calibri"/>
                <a:ea typeface="맑은 고딕"/>
                <a:cs typeface="Calibri"/>
              </a:rPr>
              <a:t>They will also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searching</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search</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online about flu symptoms more.</a:t>
            </a:r>
            <a:endParaRPr lang="ko-KR" sz="2000"/>
          </a:p>
        </p:txBody>
      </p:sp>
      <p:sp>
        <p:nvSpPr>
          <p:cNvPr id="15" name="rv_eng_2"/>
          <p:cNvSpPr txBox="1"/>
          <p:nvPr/>
        </p:nvSpPr>
        <p:spPr>
          <a:xfrm>
            <a:off x="457200" y="2995930"/>
            <a:ext cx="11274552" cy="4653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alpha val="0"/>
                  </a:srgbClr>
                </a:solidFill>
                <a:latin typeface="Calibri"/>
                <a:ea typeface="맑은 고딕"/>
                <a:cs typeface="Calibri"/>
              </a:rPr>
              <a:t>They will also </a:t>
            </a:r>
            <a:r>
              <a:rPr lang="en-US" altLang="en-US" sz="2000" b="1" dirty="0">
                <a:solidFill>
                  <a:srgbClr val="C00000">
                    <a:alpha val="0"/>
                  </a:srgbClr>
                </a:solidFill>
                <a:latin typeface="Calibri"/>
                <a:ea typeface="맑은 고딕"/>
                <a:cs typeface="Calibri"/>
              </a:rPr>
              <a:t>[ </a:t>
            </a:r>
            <a:r>
              <a:rPr lang="en-US" altLang="en-US" sz="2000" b="1" dirty="0">
                <a:solidFill>
                  <a:srgbClr val="C00000">
                    <a:alpha val="0"/>
                  </a:srgbClr>
                </a:solidFill>
                <a:latin typeface="Calibri"/>
                <a:ea typeface="맑은 고딕"/>
                <a:cs typeface="Calibri"/>
              </a:rPr>
              <a:t>searching</a:t>
            </a:r>
            <a:r>
              <a:rPr lang="en-US" altLang="en-US" sz="2000" b="1" dirty="0">
                <a:solidFill>
                  <a:srgbClr val="C00000">
                    <a:alpha val="0"/>
                  </a:srgbClr>
                </a:solidFill>
                <a:latin typeface="Calibri"/>
                <a:ea typeface="맑은 고딕"/>
                <a:cs typeface="Calibri"/>
              </a:rPr>
              <a:t> / </a:t>
            </a:r>
            <a:r>
              <a:rPr lang="en-US" altLang="en-US" sz="2000" b="1" dirty="0">
                <a:solidFill>
                  <a:srgbClr val="C00000"/>
                </a:solidFill>
                <a:latin typeface="Calibri"/>
                <a:ea typeface="맑은 고딕"/>
                <a:cs typeface="Calibri"/>
              </a:rPr>
              <a:t>search</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online about flu symptoms more.</a:t>
            </a:r>
            <a:endParaRPr lang="ko-KR" sz="2000"/>
          </a:p>
        </p:txBody>
      </p:sp>
      <p:sp>
        <p:nvSpPr>
          <p:cNvPr id="16" name="rv_point_2"/>
          <p:cNvSpPr txBox="1"/>
          <p:nvPr/>
        </p:nvSpPr>
        <p:spPr>
          <a:xfrm>
            <a:off x="457200" y="3406394"/>
            <a:ext cx="11274552" cy="331978"/>
          </a:xfrm>
          <a:prstGeom prst="rect">
            <a:avLst/>
          </a:prstGeom>
          <a:noFill/>
        </p:spPr>
        <p:txBody>
          <a:bodyPr wrap="square" lIns="228600" tIns="54864" rIns="228600" bIns="54864" anchor="t" rtlCol="0">
            <a:noAutofit/>
          </a:bodyPr>
          <a:lstStyle/>
          <a:p>
            <a:pPr algn="l">
              <a:lnSpc>
                <a:spcPts val="1750"/>
              </a:lnSpc>
              <a:spcBef>
                <a:spcPts val="0"/>
              </a:spcBef>
              <a:spcAft>
                <a:spcPts val="0"/>
              </a:spcAft>
              <a:buNone/>
            </a:pPr>
            <a:r>
              <a:rPr lang="ko-KR" altLang="en-US" sz="1400" b="1" dirty="0">
                <a:solidFill>
                  <a:srgbClr val="C00000"/>
                </a:solidFill>
                <a:latin typeface="맑은 고딕"/>
                <a:ea typeface="맑은 고딕"/>
                <a:cs typeface="맑은 고딕"/>
              </a:rPr>
              <a:t>포인트  </a:t>
            </a:r>
            <a:r>
              <a:rPr lang="ko-KR" altLang="en-US" sz="1400" b="0" dirty="0">
                <a:solidFill>
                  <a:srgbClr val="2F5597"/>
                </a:solidFill>
                <a:latin typeface="맑은 고딕"/>
                <a:ea typeface="맑은 고딕"/>
                <a:cs typeface="맑은 고딕"/>
              </a:rPr>
              <a:t>to부정사/동명사/동사원형 (조동사 will + 동사원형)</a:t>
            </a:r>
            <a:endParaRPr lang="ko-KR" sz="1400"/>
          </a:p>
        </p:txBody>
      </p:sp>
      <p:sp>
        <p:nvSpPr>
          <p:cNvPr id="17" name="item_card_3"/>
          <p:cNvSpPr/>
          <p:nvPr/>
        </p:nvSpPr>
        <p:spPr>
          <a:xfrm>
            <a:off x="457200" y="3848100"/>
            <a:ext cx="11274552" cy="1738884"/>
          </a:xfrm>
          <a:prstGeom prst="roundRect">
            <a:avLst>
              <a:gd name="adj" fmla="val 6000"/>
            </a:avLst>
          </a:prstGeom>
          <a:solidFill>
            <a:srgbClr val="F3F5F9"/>
          </a:solidFill>
          <a:ln w="12700">
            <a:solidFill>
              <a:srgbClr val="D9DFEA"/>
            </a:solidFill>
          </a:ln>
        </p:spPr>
        <p:txBody>
          <a:bodyPr rtlCol="0" anchor="ctr"/>
          <a:lstStyle/>
          <a:p>
            <a:pPr algn="ctr"/>
          </a:p>
        </p:txBody>
      </p:sp>
      <p:sp>
        <p:nvSpPr>
          <p:cNvPr id="18" name="kor_3"/>
          <p:cNvSpPr txBox="1"/>
          <p:nvPr/>
        </p:nvSpPr>
        <p:spPr>
          <a:xfrm>
            <a:off x="457200" y="3957828"/>
            <a:ext cx="11274552" cy="363728"/>
          </a:xfrm>
          <a:prstGeom prst="rect">
            <a:avLst/>
          </a:prstGeom>
          <a:noFill/>
        </p:spPr>
        <p:txBody>
          <a:bodyPr wrap="square" lIns="228600" tIns="54864" rIns="228600" bIns="54864" anchor="t" rtlCol="0">
            <a:noAutofit/>
          </a:bodyPr>
          <a:lstStyle/>
          <a:p>
            <a:pPr algn="l">
              <a:lnSpc>
                <a:spcPts val="2000"/>
              </a:lnSpc>
              <a:spcBef>
                <a:spcPts val="0"/>
              </a:spcBef>
              <a:spcAft>
                <a:spcPts val="0"/>
              </a:spcAft>
              <a:buNone/>
            </a:pPr>
            <a:r>
              <a:rPr lang="en-US" altLang="en-US" sz="1600" b="1" dirty="0">
                <a:solidFill>
                  <a:srgbClr val="1E2A5A"/>
                </a:solidFill>
                <a:latin typeface="Calibri"/>
                <a:ea typeface="맑은 고딕"/>
                <a:cs typeface="Calibri"/>
              </a:rPr>
              <a:t>18.  </a:t>
            </a:r>
            <a:r>
              <a:rPr lang="ko-KR" altLang="en-US" sz="1600" b="0" dirty="0">
                <a:solidFill>
                  <a:srgbClr val="3C4558"/>
                </a:solidFill>
                <a:latin typeface="맑은 고딕"/>
                <a:ea typeface="맑은 고딕"/>
                <a:cs typeface="맑은 고딕"/>
              </a:rPr>
              <a:t>이런 데이터를 현명하게 분석하면 독감이 어떻게 퍼질지 예측할 수 있다.</a:t>
            </a:r>
            <a:endParaRPr lang="ko-KR" sz="1600"/>
          </a:p>
        </p:txBody>
      </p:sp>
      <p:sp>
        <p:nvSpPr>
          <p:cNvPr id="19" name="eng_3"/>
          <p:cNvSpPr txBox="1"/>
          <p:nvPr/>
        </p:nvSpPr>
        <p:spPr>
          <a:xfrm>
            <a:off x="457200" y="4266692"/>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solidFill>
                <a:latin typeface="Calibri"/>
                <a:ea typeface="맑은 고딕"/>
                <a:cs typeface="Calibri"/>
              </a:rPr>
              <a:t>If this kind of data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is analyzed</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analyzes</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wisely, the spread of the flu can be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predicting</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predicted</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a:t>
            </a:r>
            <a:endParaRPr lang="ko-KR" sz="2000"/>
          </a:p>
        </p:txBody>
      </p:sp>
      <p:sp>
        <p:nvSpPr>
          <p:cNvPr id="20" name="rv_eng_3"/>
          <p:cNvSpPr txBox="1"/>
          <p:nvPr/>
        </p:nvSpPr>
        <p:spPr>
          <a:xfrm>
            <a:off x="457200" y="4266692"/>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alpha val="0"/>
                  </a:srgbClr>
                </a:solidFill>
                <a:latin typeface="Calibri"/>
                <a:ea typeface="맑은 고딕"/>
                <a:cs typeface="Calibri"/>
              </a:rPr>
              <a:t>If this kind of data </a:t>
            </a:r>
            <a:r>
              <a:rPr lang="en-US" altLang="en-US" sz="2000" b="1" dirty="0">
                <a:solidFill>
                  <a:srgbClr val="C00000">
                    <a:alpha val="0"/>
                  </a:srgbClr>
                </a:solidFill>
                <a:latin typeface="Calibri"/>
                <a:ea typeface="맑은 고딕"/>
                <a:cs typeface="Calibri"/>
              </a:rPr>
              <a:t>[ </a:t>
            </a:r>
            <a:r>
              <a:rPr lang="en-US" altLang="en-US" sz="2000" b="1" dirty="0">
                <a:solidFill>
                  <a:srgbClr val="C00000"/>
                </a:solidFill>
                <a:latin typeface="Calibri"/>
                <a:ea typeface="맑은 고딕"/>
                <a:cs typeface="Calibri"/>
              </a:rPr>
              <a:t>is analyzed</a:t>
            </a:r>
            <a:r>
              <a:rPr lang="en-US" altLang="en-US" sz="2000" b="1" dirty="0">
                <a:solidFill>
                  <a:srgbClr val="C00000">
                    <a:alpha val="0"/>
                  </a:srgbClr>
                </a:solidFill>
                <a:latin typeface="Calibri"/>
                <a:ea typeface="맑은 고딕"/>
                <a:cs typeface="Calibri"/>
              </a:rPr>
              <a:t> / </a:t>
            </a:r>
            <a:r>
              <a:rPr lang="en-US" altLang="en-US" sz="2000" b="1" dirty="0">
                <a:solidFill>
                  <a:srgbClr val="C00000">
                    <a:alpha val="0"/>
                  </a:srgbClr>
                </a:solidFill>
                <a:latin typeface="Calibri"/>
                <a:ea typeface="맑은 고딕"/>
                <a:cs typeface="Calibri"/>
              </a:rPr>
              <a:t>analyzes</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wisely, the spread of the flu can be </a:t>
            </a:r>
            <a:r>
              <a:rPr lang="en-US" altLang="en-US" sz="2000" b="1" dirty="0">
                <a:solidFill>
                  <a:srgbClr val="C00000">
                    <a:alpha val="0"/>
                  </a:srgbClr>
                </a:solidFill>
                <a:latin typeface="Calibri"/>
                <a:ea typeface="맑은 고딕"/>
                <a:cs typeface="Calibri"/>
              </a:rPr>
              <a:t>[ </a:t>
            </a:r>
            <a:r>
              <a:rPr lang="en-US" altLang="en-US" sz="2000" b="1" dirty="0">
                <a:solidFill>
                  <a:srgbClr val="C00000">
                    <a:alpha val="0"/>
                  </a:srgbClr>
                </a:solidFill>
                <a:latin typeface="Calibri"/>
                <a:ea typeface="맑은 고딕"/>
                <a:cs typeface="Calibri"/>
              </a:rPr>
              <a:t>predicting</a:t>
            </a:r>
            <a:r>
              <a:rPr lang="en-US" altLang="en-US" sz="2000" b="1" dirty="0">
                <a:solidFill>
                  <a:srgbClr val="C00000">
                    <a:alpha val="0"/>
                  </a:srgbClr>
                </a:solidFill>
                <a:latin typeface="Calibri"/>
                <a:ea typeface="맑은 고딕"/>
                <a:cs typeface="Calibri"/>
              </a:rPr>
              <a:t> / </a:t>
            </a:r>
            <a:r>
              <a:rPr lang="en-US" altLang="en-US" sz="2000" b="1" dirty="0">
                <a:solidFill>
                  <a:srgbClr val="C00000"/>
                </a:solidFill>
                <a:latin typeface="Calibri"/>
                <a:ea typeface="맑은 고딕"/>
                <a:cs typeface="Calibri"/>
              </a:rPr>
              <a:t>predicted</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a:t>
            </a:r>
            <a:endParaRPr lang="ko-KR" sz="2000"/>
          </a:p>
        </p:txBody>
      </p:sp>
      <p:sp>
        <p:nvSpPr>
          <p:cNvPr id="21" name="rv_point_3"/>
          <p:cNvSpPr txBox="1"/>
          <p:nvPr/>
        </p:nvSpPr>
        <p:spPr>
          <a:xfrm>
            <a:off x="457200" y="5032756"/>
            <a:ext cx="11274552" cy="554227"/>
          </a:xfrm>
          <a:prstGeom prst="rect">
            <a:avLst/>
          </a:prstGeom>
          <a:noFill/>
        </p:spPr>
        <p:txBody>
          <a:bodyPr wrap="square" lIns="228600" tIns="54864" rIns="228600" bIns="54864" anchor="t" rtlCol="0">
            <a:noAutofit/>
          </a:bodyPr>
          <a:lstStyle/>
          <a:p>
            <a:pPr algn="l">
              <a:lnSpc>
                <a:spcPts val="1750"/>
              </a:lnSpc>
              <a:spcBef>
                <a:spcPts val="0"/>
              </a:spcBef>
              <a:spcAft>
                <a:spcPts val="0"/>
              </a:spcAft>
              <a:buNone/>
            </a:pPr>
            <a:r>
              <a:rPr lang="ko-KR" altLang="en-US" sz="1400" b="1" dirty="0">
                <a:solidFill>
                  <a:srgbClr val="C00000"/>
                </a:solidFill>
                <a:latin typeface="맑은 고딕"/>
                <a:ea typeface="맑은 고딕"/>
                <a:cs typeface="맑은 고딕"/>
              </a:rPr>
              <a:t>포인트  </a:t>
            </a:r>
            <a:r>
              <a:rPr lang="ko-KR" altLang="en-US" sz="1400" b="0" dirty="0">
                <a:solidFill>
                  <a:srgbClr val="2F5597"/>
                </a:solidFill>
                <a:latin typeface="맑은 고딕"/>
                <a:ea typeface="맑은 고딕"/>
                <a:cs typeface="맑은 고딕"/>
              </a:rPr>
              <a:t>수동태(능동/수동 구별) (데이터가 '분석되는' 것 → be + p.p.) · 수동태(능동/수동 구별) (확산이 '예측되는' 것 → be + p.p.)</a:t>
            </a:r>
            <a:endParaRPr lang="ko-KR" sz="1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25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250"/>
                                        <p:tgtEl>
                                          <p:spTgt spid="1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250"/>
                                        <p:tgtEl>
                                          <p:spTgt spid="1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fade">
                                      <p:cBhvr>
                                        <p:cTn id="16" dur="250"/>
                                        <p:tgtEl>
                                          <p:spTgt spid="1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250"/>
                                        <p:tgtEl>
                                          <p:spTgt spid="2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fade">
                                      <p:cBhvr>
                                        <p:cTn id="22" dur="25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5" grpId="0" animBg="1"/>
      <p:bldP spid="16" grpId="0" animBg="1"/>
      <p:bldP spid="20" grpId="0" animBg="1"/>
      <p:bldP spid="21" grpId="0" animBg="1"/>
    </p:bldLst>
  </p:timing>
</p:sld>
</file>

<file path=ppt/slides/slide2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8000"/>
            </a:avLst>
          </a:prstGeom>
          <a:solidFill>
            <a:srgbClr val="1E2A5A"/>
          </a:solidFill>
          <a:ln>
            <a:noFill/>
          </a:ln>
        </p:spPr>
        <p:txBody>
          <a:bodyPr wrap="square" lIns="45720" tIns="18288" rIns="45720" bIns="18288" anchor="ctr" rtlCol="0">
            <a:noAutofit/>
          </a:bodyPr>
          <a:lstStyle/>
          <a:p>
            <a:pPr algn="ctr">
              <a:lnSpc>
                <a:spcPts val="2000"/>
              </a:lnSpc>
              <a:spcBef>
                <a:spcPts val="0"/>
              </a:spcBef>
              <a:spcAft>
                <a:spcPts val="0"/>
              </a:spcAft>
              <a:buNone/>
            </a:pPr>
            <a:r>
              <a:rPr lang="en-US" altLang="en-US" sz="1700" b="1" dirty="0">
                <a:solidFill>
                  <a:srgbClr val="FFFFFF"/>
                </a:solidFill>
                <a:latin typeface="Calibri"/>
                <a:ea typeface="맑은 고딕"/>
                <a:cs typeface="Calibri"/>
              </a:rPr>
              <a:t>L7</a:t>
            </a:r>
            <a:endParaRPr lang="ko-KR" sz="1700"/>
          </a:p>
        </p:txBody>
      </p:sp>
      <p:sp>
        <p:nvSpPr>
          <p:cNvPr id="3" name="hdr_chip"/>
          <p:cNvSpPr/>
          <p:nvPr/>
        </p:nvSpPr>
        <p:spPr>
          <a:xfrm>
            <a:off x="1755648" y="274320"/>
            <a:ext cx="1371600" cy="493776"/>
          </a:xfrm>
          <a:prstGeom prst="roundRect">
            <a:avLst>
              <a:gd name="adj" fmla="val 8000"/>
            </a:avLst>
          </a:prstGeom>
          <a:solidFill>
            <a:srgbClr val="E6EAF4"/>
          </a:solidFill>
          <a:ln>
            <a:noFill/>
          </a:ln>
        </p:spPr>
        <p:txBody>
          <a:bodyPr wrap="square" lIns="27432" tIns="18288" rIns="27432" bIns="18288" anchor="ctr" rtlCol="0">
            <a:noAutofit/>
          </a:bodyPr>
          <a:lstStyle/>
          <a:p>
            <a:pPr algn="ctr">
              <a:lnSpc>
                <a:spcPts val="1700"/>
              </a:lnSpc>
              <a:spcBef>
                <a:spcPts val="0"/>
              </a:spcBef>
              <a:spcAft>
                <a:spcPts val="0"/>
              </a:spcAft>
              <a:buNone/>
            </a:pPr>
            <a:r>
              <a:rPr lang="ko-KR" altLang="en-US" sz="1400" b="1" dirty="0">
                <a:solidFill>
                  <a:srgbClr val="1E2A5A"/>
                </a:solidFill>
                <a:latin typeface="맑은 고딕"/>
                <a:ea typeface="맑은 고딕"/>
                <a:cs typeface="맑은 고딕"/>
              </a:rPr>
              <a:t>PART 5 · 7</a:t>
            </a:r>
            <a:endParaRPr lang="ko-KR" sz="1400"/>
          </a:p>
        </p:txBody>
      </p:sp>
      <p:sp>
        <p:nvSpPr>
          <p:cNvPr id="4" name="hdr_q"/>
          <p:cNvSpPr txBox="1"/>
          <p:nvPr/>
        </p:nvSpPr>
        <p:spPr>
          <a:xfrm>
            <a:off x="3246120" y="246888"/>
            <a:ext cx="8485632" cy="548640"/>
          </a:xfrm>
          <a:prstGeom prst="rect">
            <a:avLst/>
          </a:prstGeom>
          <a:noFill/>
        </p:spPr>
        <p:txBody>
          <a:bodyPr wrap="square" lIns="109728" tIns="54864" rIns="109728" bIns="54864" anchor="ctr" rtlCol="0">
            <a:noAutofit/>
          </a:bodyPr>
          <a:lstStyle/>
          <a:p>
            <a:pPr algn="l">
              <a:lnSpc>
                <a:spcPts val="2400"/>
              </a:lnSpc>
              <a:spcBef>
                <a:spcPts val="0"/>
              </a:spcBef>
              <a:spcAft>
                <a:spcPts val="0"/>
              </a:spcAft>
              <a:buNone/>
            </a:pPr>
            <a:r>
              <a:rPr lang="ko-KR" altLang="en-US" sz="2000" b="1" dirty="0">
                <a:solidFill>
                  <a:srgbClr val="1F2328"/>
                </a:solidFill>
                <a:latin typeface="맑은 고딕"/>
                <a:ea typeface="맑은 고딕"/>
                <a:cs typeface="맑은 고딕"/>
              </a:rPr>
              <a:t>[  ] 안에서 어법상 알맞은 것을 고르시오.</a:t>
            </a:r>
            <a:endParaRPr lang="ko-KR" sz="2000"/>
          </a:p>
        </p:txBody>
      </p:sp>
      <p:sp>
        <p:nvSpPr>
          <p:cNvPr id="5" name="ftr_exam"/>
          <p:cNvSpPr txBox="1"/>
          <p:nvPr/>
        </p:nvSpPr>
        <p:spPr>
          <a:xfrm>
            <a:off x="457200" y="6519672"/>
            <a:ext cx="5669280" cy="256032"/>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7</a:t>
            </a:r>
            <a:endParaRPr lang="ko-KR" sz="1000"/>
          </a:p>
        </p:txBody>
      </p:sp>
      <p:sp>
        <p:nvSpPr>
          <p:cNvPr id="6" name="ftr_hint"/>
          <p:cNvSpPr txBox="1"/>
          <p:nvPr/>
        </p:nvSpPr>
        <p:spPr>
          <a:xfrm>
            <a:off x="5971032" y="6519672"/>
            <a:ext cx="5760720" cy="256032"/>
          </a:xfrm>
          <a:prstGeom prst="rect">
            <a:avLst/>
          </a:prstGeom>
          <a:noFill/>
        </p:spPr>
        <p:txBody>
          <a:bodyPr wrap="square" lIns="0" tIns="0" rIns="0" bIns="0" anchor="t" rtlCol="0">
            <a:noAutofit/>
          </a:bodyPr>
          <a:lstStyle/>
          <a:p>
            <a:pPr algn="r">
              <a:lnSpc>
                <a:spcPts val="1200"/>
              </a:lnSpc>
              <a:spcBef>
                <a:spcPts val="0"/>
              </a:spcBef>
              <a:spcAft>
                <a:spcPts val="0"/>
              </a:spcAft>
              <a:buNone/>
            </a:pPr>
            <a:r>
              <a:rPr lang="ko-KR" altLang="en-US" sz="1000" b="0" dirty="0">
                <a:solidFill>
                  <a:srgbClr val="7A808C"/>
                </a:solidFill>
                <a:latin typeface="맑은 고딕"/>
                <a:ea typeface="맑은 고딕"/>
                <a:cs typeface="맑은 고딕"/>
              </a:rPr>
              <a:t>클릭 ① 정답(빨간색) + 문법 포인트 공개</a:t>
            </a:r>
            <a:endParaRPr lang="ko-KR" sz="1000"/>
          </a:p>
        </p:txBody>
      </p:sp>
      <p:sp>
        <p:nvSpPr>
          <p:cNvPr id="7" name="item_card_1"/>
          <p:cNvSpPr/>
          <p:nvPr/>
        </p:nvSpPr>
        <p:spPr>
          <a:xfrm>
            <a:off x="457200" y="950976"/>
            <a:ext cx="11274552" cy="1770633"/>
          </a:xfrm>
          <a:prstGeom prst="roundRect">
            <a:avLst>
              <a:gd name="adj" fmla="val 6000"/>
            </a:avLst>
          </a:prstGeom>
          <a:solidFill>
            <a:srgbClr val="F3F5F9"/>
          </a:solidFill>
          <a:ln w="12700">
            <a:solidFill>
              <a:srgbClr val="D9DFEA"/>
            </a:solidFill>
          </a:ln>
        </p:spPr>
        <p:txBody>
          <a:bodyPr rtlCol="0" anchor="ctr"/>
          <a:lstStyle/>
          <a:p>
            <a:pPr algn="ctr"/>
          </a:p>
        </p:txBody>
      </p:sp>
      <p:sp>
        <p:nvSpPr>
          <p:cNvPr id="8" name="kor_1"/>
          <p:cNvSpPr txBox="1"/>
          <p:nvPr/>
        </p:nvSpPr>
        <p:spPr>
          <a:xfrm>
            <a:off x="457200" y="1060704"/>
            <a:ext cx="11274552" cy="617728"/>
          </a:xfrm>
          <a:prstGeom prst="rect">
            <a:avLst/>
          </a:prstGeom>
          <a:noFill/>
        </p:spPr>
        <p:txBody>
          <a:bodyPr wrap="square" lIns="228600" tIns="54864" rIns="228600" bIns="54864" anchor="t" rtlCol="0">
            <a:noAutofit/>
          </a:bodyPr>
          <a:lstStyle/>
          <a:p>
            <a:pPr algn="l">
              <a:lnSpc>
                <a:spcPts val="2000"/>
              </a:lnSpc>
              <a:spcBef>
                <a:spcPts val="0"/>
              </a:spcBef>
              <a:spcAft>
                <a:spcPts val="0"/>
              </a:spcAft>
              <a:buNone/>
            </a:pPr>
            <a:r>
              <a:rPr lang="en-US" altLang="en-US" sz="1600" b="1" dirty="0">
                <a:solidFill>
                  <a:srgbClr val="1E2A5A"/>
                </a:solidFill>
                <a:latin typeface="Calibri"/>
                <a:ea typeface="맑은 고딕"/>
                <a:cs typeface="Calibri"/>
              </a:rPr>
              <a:t>19.  </a:t>
            </a:r>
            <a:r>
              <a:rPr lang="ko-KR" altLang="en-US" sz="1600" b="0" dirty="0">
                <a:solidFill>
                  <a:srgbClr val="3C4558"/>
                </a:solidFill>
                <a:latin typeface="맑은 고딕"/>
                <a:ea typeface="맑은 고딕"/>
                <a:cs typeface="맑은 고딕"/>
              </a:rPr>
              <a:t>스포츠를 좋아하는가? 빅데이터는 선수들의 경기력을 끌어올려 스포츠를 더욱 흥미진진하게 만들고 있다.</a:t>
            </a:r>
            <a:endParaRPr lang="ko-KR" sz="1600"/>
          </a:p>
        </p:txBody>
      </p:sp>
      <p:sp>
        <p:nvSpPr>
          <p:cNvPr id="9" name="eng_1"/>
          <p:cNvSpPr txBox="1"/>
          <p:nvPr/>
        </p:nvSpPr>
        <p:spPr>
          <a:xfrm>
            <a:off x="457200" y="1623568"/>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solidFill>
                <a:latin typeface="Calibri"/>
                <a:ea typeface="맑은 고딕"/>
                <a:cs typeface="Calibri"/>
              </a:rPr>
              <a:t>Are you a sports fan? Well, big data is improving the performance of players,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made</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making</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sports more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exciting</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excited</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a:t>
            </a:r>
            <a:endParaRPr lang="ko-KR" sz="2000"/>
          </a:p>
        </p:txBody>
      </p:sp>
      <p:sp>
        <p:nvSpPr>
          <p:cNvPr id="10" name="rv_eng_1"/>
          <p:cNvSpPr txBox="1"/>
          <p:nvPr/>
        </p:nvSpPr>
        <p:spPr>
          <a:xfrm>
            <a:off x="457200" y="1623568"/>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alpha val="0"/>
                  </a:srgbClr>
                </a:solidFill>
                <a:latin typeface="Calibri"/>
                <a:ea typeface="맑은 고딕"/>
                <a:cs typeface="Calibri"/>
              </a:rPr>
              <a:t>Are you a sports fan? Well, big data is improving the performance of players, </a:t>
            </a:r>
            <a:r>
              <a:rPr lang="en-US" altLang="en-US" sz="2000" b="1" dirty="0">
                <a:solidFill>
                  <a:srgbClr val="C00000">
                    <a:alpha val="0"/>
                  </a:srgbClr>
                </a:solidFill>
                <a:latin typeface="Calibri"/>
                <a:ea typeface="맑은 고딕"/>
                <a:cs typeface="Calibri"/>
              </a:rPr>
              <a:t>[ </a:t>
            </a:r>
            <a:r>
              <a:rPr lang="en-US" altLang="en-US" sz="2000" b="1" dirty="0">
                <a:solidFill>
                  <a:srgbClr val="C00000">
                    <a:alpha val="0"/>
                  </a:srgbClr>
                </a:solidFill>
                <a:latin typeface="Calibri"/>
                <a:ea typeface="맑은 고딕"/>
                <a:cs typeface="Calibri"/>
              </a:rPr>
              <a:t>made</a:t>
            </a:r>
            <a:r>
              <a:rPr lang="en-US" altLang="en-US" sz="2000" b="1" dirty="0">
                <a:solidFill>
                  <a:srgbClr val="C00000">
                    <a:alpha val="0"/>
                  </a:srgbClr>
                </a:solidFill>
                <a:latin typeface="Calibri"/>
                <a:ea typeface="맑은 고딕"/>
                <a:cs typeface="Calibri"/>
              </a:rPr>
              <a:t> / </a:t>
            </a:r>
            <a:r>
              <a:rPr lang="en-US" altLang="en-US" sz="2000" b="1" dirty="0">
                <a:solidFill>
                  <a:srgbClr val="C00000"/>
                </a:solidFill>
                <a:latin typeface="Calibri"/>
                <a:ea typeface="맑은 고딕"/>
                <a:cs typeface="Calibri"/>
              </a:rPr>
              <a:t>making</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sports more </a:t>
            </a:r>
            <a:r>
              <a:rPr lang="en-US" altLang="en-US" sz="2000" b="1" dirty="0">
                <a:solidFill>
                  <a:srgbClr val="C00000">
                    <a:alpha val="0"/>
                  </a:srgbClr>
                </a:solidFill>
                <a:latin typeface="Calibri"/>
                <a:ea typeface="맑은 고딕"/>
                <a:cs typeface="Calibri"/>
              </a:rPr>
              <a:t>[ </a:t>
            </a:r>
            <a:r>
              <a:rPr lang="en-US" altLang="en-US" sz="2000" b="1" dirty="0">
                <a:solidFill>
                  <a:srgbClr val="C00000"/>
                </a:solidFill>
                <a:latin typeface="Calibri"/>
                <a:ea typeface="맑은 고딕"/>
                <a:cs typeface="Calibri"/>
              </a:rPr>
              <a:t>exciting</a:t>
            </a:r>
            <a:r>
              <a:rPr lang="en-US" altLang="en-US" sz="2000" b="1" dirty="0">
                <a:solidFill>
                  <a:srgbClr val="C00000">
                    <a:alpha val="0"/>
                  </a:srgbClr>
                </a:solidFill>
                <a:latin typeface="Calibri"/>
                <a:ea typeface="맑은 고딕"/>
                <a:cs typeface="Calibri"/>
              </a:rPr>
              <a:t> / </a:t>
            </a:r>
            <a:r>
              <a:rPr lang="en-US" altLang="en-US" sz="2000" b="1" dirty="0">
                <a:solidFill>
                  <a:srgbClr val="C00000">
                    <a:alpha val="0"/>
                  </a:srgbClr>
                </a:solidFill>
                <a:latin typeface="Calibri"/>
                <a:ea typeface="맑은 고딕"/>
                <a:cs typeface="Calibri"/>
              </a:rPr>
              <a:t>excited</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a:t>
            </a:r>
            <a:endParaRPr lang="ko-KR" sz="2000"/>
          </a:p>
        </p:txBody>
      </p:sp>
      <p:sp>
        <p:nvSpPr>
          <p:cNvPr id="11" name="rv_point_1"/>
          <p:cNvSpPr txBox="1"/>
          <p:nvPr/>
        </p:nvSpPr>
        <p:spPr>
          <a:xfrm>
            <a:off x="457200" y="2389632"/>
            <a:ext cx="11274552" cy="331978"/>
          </a:xfrm>
          <a:prstGeom prst="rect">
            <a:avLst/>
          </a:prstGeom>
          <a:noFill/>
        </p:spPr>
        <p:txBody>
          <a:bodyPr wrap="square" lIns="228600" tIns="54864" rIns="228600" bIns="54864" anchor="t" rtlCol="0">
            <a:noAutofit/>
          </a:bodyPr>
          <a:lstStyle/>
          <a:p>
            <a:pPr algn="l">
              <a:lnSpc>
                <a:spcPts val="1750"/>
              </a:lnSpc>
              <a:spcBef>
                <a:spcPts val="0"/>
              </a:spcBef>
              <a:spcAft>
                <a:spcPts val="0"/>
              </a:spcAft>
              <a:buNone/>
            </a:pPr>
            <a:r>
              <a:rPr lang="ko-KR" altLang="en-US" sz="1400" b="1" dirty="0">
                <a:solidFill>
                  <a:srgbClr val="C00000"/>
                </a:solidFill>
                <a:latin typeface="맑은 고딕"/>
                <a:ea typeface="맑은 고딕"/>
                <a:cs typeface="맑은 고딕"/>
              </a:rPr>
              <a:t>포인트  </a:t>
            </a:r>
            <a:r>
              <a:rPr lang="ko-KR" altLang="en-US" sz="1400" b="0" dirty="0">
                <a:solidFill>
                  <a:srgbClr val="2F5597"/>
                </a:solidFill>
                <a:latin typeface="맑은 고딕"/>
                <a:ea typeface="맑은 고딕"/>
                <a:cs typeface="맑은 고딕"/>
              </a:rPr>
              <a:t>분사 (빅데이터가 '만드는' 능동 → 현재분사 분사구문) · 분사 (흥미를 '일으키는' 스포츠 → 현재분사)</a:t>
            </a:r>
            <a:endParaRPr lang="ko-KR" sz="1400"/>
          </a:p>
        </p:txBody>
      </p:sp>
      <p:sp>
        <p:nvSpPr>
          <p:cNvPr id="12" name="item_card_2"/>
          <p:cNvSpPr/>
          <p:nvPr/>
        </p:nvSpPr>
        <p:spPr>
          <a:xfrm>
            <a:off x="457200" y="2831338"/>
            <a:ext cx="11274552" cy="1161034"/>
          </a:xfrm>
          <a:prstGeom prst="roundRect">
            <a:avLst>
              <a:gd name="adj" fmla="val 6000"/>
            </a:avLst>
          </a:prstGeom>
          <a:solidFill>
            <a:srgbClr val="F3F5F9"/>
          </a:solidFill>
          <a:ln w="12700">
            <a:solidFill>
              <a:srgbClr val="D9DFEA"/>
            </a:solidFill>
          </a:ln>
        </p:spPr>
        <p:txBody>
          <a:bodyPr rtlCol="0" anchor="ctr"/>
          <a:lstStyle/>
          <a:p>
            <a:pPr algn="ctr"/>
          </a:p>
        </p:txBody>
      </p:sp>
      <p:sp>
        <p:nvSpPr>
          <p:cNvPr id="13" name="kor_2"/>
          <p:cNvSpPr txBox="1"/>
          <p:nvPr/>
        </p:nvSpPr>
        <p:spPr>
          <a:xfrm>
            <a:off x="457200" y="2941066"/>
            <a:ext cx="11274552" cy="363728"/>
          </a:xfrm>
          <a:prstGeom prst="rect">
            <a:avLst/>
          </a:prstGeom>
          <a:noFill/>
        </p:spPr>
        <p:txBody>
          <a:bodyPr wrap="square" lIns="228600" tIns="54864" rIns="228600" bIns="54864" anchor="t" rtlCol="0">
            <a:noAutofit/>
          </a:bodyPr>
          <a:lstStyle/>
          <a:p>
            <a:pPr algn="l">
              <a:lnSpc>
                <a:spcPts val="2000"/>
              </a:lnSpc>
              <a:spcBef>
                <a:spcPts val="0"/>
              </a:spcBef>
              <a:spcAft>
                <a:spcPts val="0"/>
              </a:spcAft>
              <a:buNone/>
            </a:pPr>
            <a:r>
              <a:rPr lang="en-US" altLang="en-US" sz="1600" b="1" dirty="0">
                <a:solidFill>
                  <a:srgbClr val="1E2A5A"/>
                </a:solidFill>
                <a:latin typeface="Calibri"/>
                <a:ea typeface="맑은 고딕"/>
                <a:cs typeface="Calibri"/>
              </a:rPr>
              <a:t>20.  </a:t>
            </a:r>
            <a:r>
              <a:rPr lang="ko-KR" altLang="en-US" sz="1600" b="0" dirty="0">
                <a:solidFill>
                  <a:srgbClr val="3C4558"/>
                </a:solidFill>
                <a:latin typeface="맑은 고딕"/>
                <a:ea typeface="맑은 고딕"/>
                <a:cs typeface="맑은 고딕"/>
              </a:rPr>
              <a:t>대표적인 사례로 독일 축구 국가대표팀을 들 수 있다.</a:t>
            </a:r>
            <a:endParaRPr lang="ko-KR" sz="1600"/>
          </a:p>
        </p:txBody>
      </p:sp>
      <p:sp>
        <p:nvSpPr>
          <p:cNvPr id="14" name="eng_2"/>
          <p:cNvSpPr txBox="1"/>
          <p:nvPr/>
        </p:nvSpPr>
        <p:spPr>
          <a:xfrm>
            <a:off x="457200" y="3249930"/>
            <a:ext cx="11274552" cy="4653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solidFill>
                <a:latin typeface="Calibri"/>
                <a:ea typeface="맑은 고딕"/>
                <a:cs typeface="Calibri"/>
              </a:rPr>
              <a:t>A famous example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is</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are</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Germany’s national soccer team.</a:t>
            </a:r>
            <a:endParaRPr lang="ko-KR" sz="2000"/>
          </a:p>
        </p:txBody>
      </p:sp>
      <p:sp>
        <p:nvSpPr>
          <p:cNvPr id="15" name="rv_eng_2"/>
          <p:cNvSpPr txBox="1"/>
          <p:nvPr/>
        </p:nvSpPr>
        <p:spPr>
          <a:xfrm>
            <a:off x="457200" y="3249930"/>
            <a:ext cx="11274552" cy="4653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alpha val="0"/>
                  </a:srgbClr>
                </a:solidFill>
                <a:latin typeface="Calibri"/>
                <a:ea typeface="맑은 고딕"/>
                <a:cs typeface="Calibri"/>
              </a:rPr>
              <a:t>A famous example </a:t>
            </a:r>
            <a:r>
              <a:rPr lang="en-US" altLang="en-US" sz="2000" b="1" dirty="0">
                <a:solidFill>
                  <a:srgbClr val="C00000">
                    <a:alpha val="0"/>
                  </a:srgbClr>
                </a:solidFill>
                <a:latin typeface="Calibri"/>
                <a:ea typeface="맑은 고딕"/>
                <a:cs typeface="Calibri"/>
              </a:rPr>
              <a:t>[ </a:t>
            </a:r>
            <a:r>
              <a:rPr lang="en-US" altLang="en-US" sz="2000" b="1" dirty="0">
                <a:solidFill>
                  <a:srgbClr val="C00000"/>
                </a:solidFill>
                <a:latin typeface="Calibri"/>
                <a:ea typeface="맑은 고딕"/>
                <a:cs typeface="Calibri"/>
              </a:rPr>
              <a:t>is</a:t>
            </a:r>
            <a:r>
              <a:rPr lang="en-US" altLang="en-US" sz="2000" b="1" dirty="0">
                <a:solidFill>
                  <a:srgbClr val="C00000">
                    <a:alpha val="0"/>
                  </a:srgbClr>
                </a:solidFill>
                <a:latin typeface="Calibri"/>
                <a:ea typeface="맑은 고딕"/>
                <a:cs typeface="Calibri"/>
              </a:rPr>
              <a:t> / </a:t>
            </a:r>
            <a:r>
              <a:rPr lang="en-US" altLang="en-US" sz="2000" b="1" dirty="0">
                <a:solidFill>
                  <a:srgbClr val="C00000">
                    <a:alpha val="0"/>
                  </a:srgbClr>
                </a:solidFill>
                <a:latin typeface="Calibri"/>
                <a:ea typeface="맑은 고딕"/>
                <a:cs typeface="Calibri"/>
              </a:rPr>
              <a:t>are</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Germany’s national soccer team.</a:t>
            </a:r>
            <a:endParaRPr lang="ko-KR" sz="2000"/>
          </a:p>
        </p:txBody>
      </p:sp>
      <p:sp>
        <p:nvSpPr>
          <p:cNvPr id="16" name="rv_point_2"/>
          <p:cNvSpPr txBox="1"/>
          <p:nvPr/>
        </p:nvSpPr>
        <p:spPr>
          <a:xfrm>
            <a:off x="457200" y="3660394"/>
            <a:ext cx="11274552" cy="331978"/>
          </a:xfrm>
          <a:prstGeom prst="rect">
            <a:avLst/>
          </a:prstGeom>
          <a:noFill/>
        </p:spPr>
        <p:txBody>
          <a:bodyPr wrap="square" lIns="228600" tIns="54864" rIns="228600" bIns="54864" anchor="t" rtlCol="0">
            <a:noAutofit/>
          </a:bodyPr>
          <a:lstStyle/>
          <a:p>
            <a:pPr algn="l">
              <a:lnSpc>
                <a:spcPts val="1750"/>
              </a:lnSpc>
              <a:spcBef>
                <a:spcPts val="0"/>
              </a:spcBef>
              <a:spcAft>
                <a:spcPts val="0"/>
              </a:spcAft>
              <a:buNone/>
            </a:pPr>
            <a:r>
              <a:rPr lang="ko-KR" altLang="en-US" sz="1400" b="1" dirty="0">
                <a:solidFill>
                  <a:srgbClr val="C00000"/>
                </a:solidFill>
                <a:latin typeface="맑은 고딕"/>
                <a:ea typeface="맑은 고딕"/>
                <a:cs typeface="맑은 고딕"/>
              </a:rPr>
              <a:t>포인트  </a:t>
            </a:r>
            <a:r>
              <a:rPr lang="ko-KR" altLang="en-US" sz="1400" b="0" dirty="0">
                <a:solidFill>
                  <a:srgbClr val="2F5597"/>
                </a:solidFill>
                <a:latin typeface="맑은 고딕"/>
                <a:ea typeface="맑은 고딕"/>
                <a:cs typeface="맑은 고딕"/>
              </a:rPr>
              <a:t>동사의 수 일치 (주어 A famous example 단수)</a:t>
            </a:r>
            <a:endParaRPr lang="ko-KR" sz="1400"/>
          </a:p>
        </p:txBody>
      </p:sp>
      <p:sp>
        <p:nvSpPr>
          <p:cNvPr id="17" name="item_card_3"/>
          <p:cNvSpPr/>
          <p:nvPr/>
        </p:nvSpPr>
        <p:spPr>
          <a:xfrm>
            <a:off x="457200" y="4102099"/>
            <a:ext cx="11274552" cy="1516634"/>
          </a:xfrm>
          <a:prstGeom prst="roundRect">
            <a:avLst>
              <a:gd name="adj" fmla="val 6000"/>
            </a:avLst>
          </a:prstGeom>
          <a:solidFill>
            <a:srgbClr val="F3F5F9"/>
          </a:solidFill>
          <a:ln w="12700">
            <a:solidFill>
              <a:srgbClr val="D9DFEA"/>
            </a:solidFill>
          </a:ln>
        </p:spPr>
        <p:txBody>
          <a:bodyPr rtlCol="0" anchor="ctr"/>
          <a:lstStyle/>
          <a:p>
            <a:pPr algn="ctr"/>
          </a:p>
        </p:txBody>
      </p:sp>
      <p:sp>
        <p:nvSpPr>
          <p:cNvPr id="18" name="kor_3"/>
          <p:cNvSpPr txBox="1"/>
          <p:nvPr/>
        </p:nvSpPr>
        <p:spPr>
          <a:xfrm>
            <a:off x="457200" y="4211828"/>
            <a:ext cx="11274552" cy="363728"/>
          </a:xfrm>
          <a:prstGeom prst="rect">
            <a:avLst/>
          </a:prstGeom>
          <a:noFill/>
        </p:spPr>
        <p:txBody>
          <a:bodyPr wrap="square" lIns="228600" tIns="54864" rIns="228600" bIns="54864" anchor="t" rtlCol="0">
            <a:noAutofit/>
          </a:bodyPr>
          <a:lstStyle/>
          <a:p>
            <a:pPr algn="l">
              <a:lnSpc>
                <a:spcPts val="2000"/>
              </a:lnSpc>
              <a:spcBef>
                <a:spcPts val="0"/>
              </a:spcBef>
              <a:spcAft>
                <a:spcPts val="0"/>
              </a:spcAft>
              <a:buNone/>
            </a:pPr>
            <a:r>
              <a:rPr lang="en-US" altLang="en-US" sz="1600" b="1" dirty="0">
                <a:solidFill>
                  <a:srgbClr val="1E2A5A"/>
                </a:solidFill>
                <a:latin typeface="Calibri"/>
                <a:ea typeface="맑은 고딕"/>
                <a:cs typeface="Calibri"/>
              </a:rPr>
              <a:t>21.  </a:t>
            </a:r>
            <a:r>
              <a:rPr lang="ko-KR" altLang="en-US" sz="1600" b="0" dirty="0">
                <a:solidFill>
                  <a:srgbClr val="3C4558"/>
                </a:solidFill>
                <a:latin typeface="맑은 고딕"/>
                <a:ea typeface="맑은 고딕"/>
                <a:cs typeface="맑은 고딕"/>
              </a:rPr>
              <a:t>이 팀은 선수들에 관한 방대한 데이터를 모으고 분석해서 데이터베이스를 구축했다.</a:t>
            </a:r>
            <a:endParaRPr lang="ko-KR" sz="1600"/>
          </a:p>
        </p:txBody>
      </p:sp>
      <p:sp>
        <p:nvSpPr>
          <p:cNvPr id="19" name="eng_3"/>
          <p:cNvSpPr txBox="1"/>
          <p:nvPr/>
        </p:nvSpPr>
        <p:spPr>
          <a:xfrm>
            <a:off x="457200" y="4520692"/>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solidFill>
                <a:latin typeface="Calibri"/>
                <a:ea typeface="맑은 고딕"/>
                <a:cs typeface="Calibri"/>
              </a:rPr>
              <a:t>The team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was built</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built</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a database by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collecting</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collect</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and analyzing a huge amount of data on players.</a:t>
            </a:r>
            <a:endParaRPr lang="ko-KR" sz="2000"/>
          </a:p>
        </p:txBody>
      </p:sp>
      <p:sp>
        <p:nvSpPr>
          <p:cNvPr id="20" name="rv_eng_3"/>
          <p:cNvSpPr txBox="1"/>
          <p:nvPr/>
        </p:nvSpPr>
        <p:spPr>
          <a:xfrm>
            <a:off x="457200" y="4520692"/>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alpha val="0"/>
                  </a:srgbClr>
                </a:solidFill>
                <a:latin typeface="Calibri"/>
                <a:ea typeface="맑은 고딕"/>
                <a:cs typeface="Calibri"/>
              </a:rPr>
              <a:t>The team </a:t>
            </a:r>
            <a:r>
              <a:rPr lang="en-US" altLang="en-US" sz="2000" b="1" dirty="0">
                <a:solidFill>
                  <a:srgbClr val="C00000">
                    <a:alpha val="0"/>
                  </a:srgbClr>
                </a:solidFill>
                <a:latin typeface="Calibri"/>
                <a:ea typeface="맑은 고딕"/>
                <a:cs typeface="Calibri"/>
              </a:rPr>
              <a:t>[ </a:t>
            </a:r>
            <a:r>
              <a:rPr lang="en-US" altLang="en-US" sz="2000" b="1" dirty="0">
                <a:solidFill>
                  <a:srgbClr val="C00000">
                    <a:alpha val="0"/>
                  </a:srgbClr>
                </a:solidFill>
                <a:latin typeface="Calibri"/>
                <a:ea typeface="맑은 고딕"/>
                <a:cs typeface="Calibri"/>
              </a:rPr>
              <a:t>was built</a:t>
            </a:r>
            <a:r>
              <a:rPr lang="en-US" altLang="en-US" sz="2000" b="1" dirty="0">
                <a:solidFill>
                  <a:srgbClr val="C00000">
                    <a:alpha val="0"/>
                  </a:srgbClr>
                </a:solidFill>
                <a:latin typeface="Calibri"/>
                <a:ea typeface="맑은 고딕"/>
                <a:cs typeface="Calibri"/>
              </a:rPr>
              <a:t> / </a:t>
            </a:r>
            <a:r>
              <a:rPr lang="en-US" altLang="en-US" sz="2000" b="1" dirty="0">
                <a:solidFill>
                  <a:srgbClr val="C00000"/>
                </a:solidFill>
                <a:latin typeface="Calibri"/>
                <a:ea typeface="맑은 고딕"/>
                <a:cs typeface="Calibri"/>
              </a:rPr>
              <a:t>built</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a database by </a:t>
            </a:r>
            <a:r>
              <a:rPr lang="en-US" altLang="en-US" sz="2000" b="1" dirty="0">
                <a:solidFill>
                  <a:srgbClr val="C00000">
                    <a:alpha val="0"/>
                  </a:srgbClr>
                </a:solidFill>
                <a:latin typeface="Calibri"/>
                <a:ea typeface="맑은 고딕"/>
                <a:cs typeface="Calibri"/>
              </a:rPr>
              <a:t>[ </a:t>
            </a:r>
            <a:r>
              <a:rPr lang="en-US" altLang="en-US" sz="2000" b="1" dirty="0">
                <a:solidFill>
                  <a:srgbClr val="C00000"/>
                </a:solidFill>
                <a:latin typeface="Calibri"/>
                <a:ea typeface="맑은 고딕"/>
                <a:cs typeface="Calibri"/>
              </a:rPr>
              <a:t>collecting</a:t>
            </a:r>
            <a:r>
              <a:rPr lang="en-US" altLang="en-US" sz="2000" b="1" dirty="0">
                <a:solidFill>
                  <a:srgbClr val="C00000">
                    <a:alpha val="0"/>
                  </a:srgbClr>
                </a:solidFill>
                <a:latin typeface="Calibri"/>
                <a:ea typeface="맑은 고딕"/>
                <a:cs typeface="Calibri"/>
              </a:rPr>
              <a:t> / </a:t>
            </a:r>
            <a:r>
              <a:rPr lang="en-US" altLang="en-US" sz="2000" b="1" dirty="0">
                <a:solidFill>
                  <a:srgbClr val="C00000">
                    <a:alpha val="0"/>
                  </a:srgbClr>
                </a:solidFill>
                <a:latin typeface="Calibri"/>
                <a:ea typeface="맑은 고딕"/>
                <a:cs typeface="Calibri"/>
              </a:rPr>
              <a:t>collect</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and analyzing a huge amount of data on players.</a:t>
            </a:r>
            <a:endParaRPr lang="ko-KR" sz="2000"/>
          </a:p>
        </p:txBody>
      </p:sp>
      <p:sp>
        <p:nvSpPr>
          <p:cNvPr id="21" name="rv_point_3"/>
          <p:cNvSpPr txBox="1"/>
          <p:nvPr/>
        </p:nvSpPr>
        <p:spPr>
          <a:xfrm>
            <a:off x="457200" y="5286756"/>
            <a:ext cx="11274552" cy="331978"/>
          </a:xfrm>
          <a:prstGeom prst="rect">
            <a:avLst/>
          </a:prstGeom>
          <a:noFill/>
        </p:spPr>
        <p:txBody>
          <a:bodyPr wrap="square" lIns="228600" tIns="54864" rIns="228600" bIns="54864" anchor="t" rtlCol="0">
            <a:noAutofit/>
          </a:bodyPr>
          <a:lstStyle/>
          <a:p>
            <a:pPr algn="l">
              <a:lnSpc>
                <a:spcPts val="1750"/>
              </a:lnSpc>
              <a:spcBef>
                <a:spcPts val="0"/>
              </a:spcBef>
              <a:spcAft>
                <a:spcPts val="0"/>
              </a:spcAft>
              <a:buNone/>
            </a:pPr>
            <a:r>
              <a:rPr lang="ko-KR" altLang="en-US" sz="1400" b="1" dirty="0">
                <a:solidFill>
                  <a:srgbClr val="C00000"/>
                </a:solidFill>
                <a:latin typeface="맑은 고딕"/>
                <a:ea typeface="맑은 고딕"/>
                <a:cs typeface="맑은 고딕"/>
              </a:rPr>
              <a:t>포인트  </a:t>
            </a:r>
            <a:r>
              <a:rPr lang="ko-KR" altLang="en-US" sz="1400" b="0" dirty="0">
                <a:solidFill>
                  <a:srgbClr val="2F5597"/>
                </a:solidFill>
                <a:latin typeface="맑은 고딕"/>
                <a:ea typeface="맑은 고딕"/>
                <a:cs typeface="맑은 고딕"/>
              </a:rPr>
              <a:t>수동태(능동/수동 구별) (목적어 a database가 있으므로 능동) · to부정사/동명사/동사원형 (전치사 by + 동명사)</a:t>
            </a:r>
            <a:endParaRPr lang="ko-KR" sz="1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25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250"/>
                                        <p:tgtEl>
                                          <p:spTgt spid="1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250"/>
                                        <p:tgtEl>
                                          <p:spTgt spid="1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fade">
                                      <p:cBhvr>
                                        <p:cTn id="16" dur="250"/>
                                        <p:tgtEl>
                                          <p:spTgt spid="1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250"/>
                                        <p:tgtEl>
                                          <p:spTgt spid="2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fade">
                                      <p:cBhvr>
                                        <p:cTn id="22" dur="25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5" grpId="0" animBg="1"/>
      <p:bldP spid="16" grpId="0" animBg="1"/>
      <p:bldP spid="20" grpId="0" animBg="1"/>
      <p:bldP spid="21" grpId="0" animBg="1"/>
    </p:bldLst>
  </p:timing>
</p:sld>
</file>

<file path=ppt/slides/slide2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8000"/>
            </a:avLst>
          </a:prstGeom>
          <a:solidFill>
            <a:srgbClr val="1E2A5A"/>
          </a:solidFill>
          <a:ln>
            <a:noFill/>
          </a:ln>
        </p:spPr>
        <p:txBody>
          <a:bodyPr wrap="square" lIns="45720" tIns="18288" rIns="45720" bIns="18288" anchor="ctr" rtlCol="0">
            <a:noAutofit/>
          </a:bodyPr>
          <a:lstStyle/>
          <a:p>
            <a:pPr algn="ctr">
              <a:lnSpc>
                <a:spcPts val="2000"/>
              </a:lnSpc>
              <a:spcBef>
                <a:spcPts val="0"/>
              </a:spcBef>
              <a:spcAft>
                <a:spcPts val="0"/>
              </a:spcAft>
              <a:buNone/>
            </a:pPr>
            <a:r>
              <a:rPr lang="en-US" altLang="en-US" sz="1700" b="1" dirty="0">
                <a:solidFill>
                  <a:srgbClr val="FFFFFF"/>
                </a:solidFill>
                <a:latin typeface="Calibri"/>
                <a:ea typeface="맑은 고딕"/>
                <a:cs typeface="Calibri"/>
              </a:rPr>
              <a:t>L7</a:t>
            </a:r>
            <a:endParaRPr lang="ko-KR" sz="1700"/>
          </a:p>
        </p:txBody>
      </p:sp>
      <p:sp>
        <p:nvSpPr>
          <p:cNvPr id="3" name="hdr_chip"/>
          <p:cNvSpPr/>
          <p:nvPr/>
        </p:nvSpPr>
        <p:spPr>
          <a:xfrm>
            <a:off x="1755648" y="274320"/>
            <a:ext cx="1371600" cy="493776"/>
          </a:xfrm>
          <a:prstGeom prst="roundRect">
            <a:avLst>
              <a:gd name="adj" fmla="val 8000"/>
            </a:avLst>
          </a:prstGeom>
          <a:solidFill>
            <a:srgbClr val="E6EAF4"/>
          </a:solidFill>
          <a:ln>
            <a:noFill/>
          </a:ln>
        </p:spPr>
        <p:txBody>
          <a:bodyPr wrap="square" lIns="27432" tIns="18288" rIns="27432" bIns="18288" anchor="ctr" rtlCol="0">
            <a:noAutofit/>
          </a:bodyPr>
          <a:lstStyle/>
          <a:p>
            <a:pPr algn="ctr">
              <a:lnSpc>
                <a:spcPts val="1700"/>
              </a:lnSpc>
              <a:spcBef>
                <a:spcPts val="0"/>
              </a:spcBef>
              <a:spcAft>
                <a:spcPts val="0"/>
              </a:spcAft>
              <a:buNone/>
            </a:pPr>
            <a:r>
              <a:rPr lang="ko-KR" altLang="en-US" sz="1400" b="1" dirty="0">
                <a:solidFill>
                  <a:srgbClr val="1E2A5A"/>
                </a:solidFill>
                <a:latin typeface="맑은 고딕"/>
                <a:ea typeface="맑은 고딕"/>
                <a:cs typeface="맑은 고딕"/>
              </a:rPr>
              <a:t>PART 5 · 8</a:t>
            </a:r>
            <a:endParaRPr lang="ko-KR" sz="1400"/>
          </a:p>
        </p:txBody>
      </p:sp>
      <p:sp>
        <p:nvSpPr>
          <p:cNvPr id="4" name="hdr_q"/>
          <p:cNvSpPr txBox="1"/>
          <p:nvPr/>
        </p:nvSpPr>
        <p:spPr>
          <a:xfrm>
            <a:off x="3246120" y="246888"/>
            <a:ext cx="8485632" cy="548640"/>
          </a:xfrm>
          <a:prstGeom prst="rect">
            <a:avLst/>
          </a:prstGeom>
          <a:noFill/>
        </p:spPr>
        <p:txBody>
          <a:bodyPr wrap="square" lIns="109728" tIns="54864" rIns="109728" bIns="54864" anchor="ctr" rtlCol="0">
            <a:noAutofit/>
          </a:bodyPr>
          <a:lstStyle/>
          <a:p>
            <a:pPr algn="l">
              <a:lnSpc>
                <a:spcPts val="2400"/>
              </a:lnSpc>
              <a:spcBef>
                <a:spcPts val="0"/>
              </a:spcBef>
              <a:spcAft>
                <a:spcPts val="0"/>
              </a:spcAft>
              <a:buNone/>
            </a:pPr>
            <a:r>
              <a:rPr lang="ko-KR" altLang="en-US" sz="2000" b="1" dirty="0">
                <a:solidFill>
                  <a:srgbClr val="1F2328"/>
                </a:solidFill>
                <a:latin typeface="맑은 고딕"/>
                <a:ea typeface="맑은 고딕"/>
                <a:cs typeface="맑은 고딕"/>
              </a:rPr>
              <a:t>[  ] 안에서 어법상 알맞은 것을 고르시오.</a:t>
            </a:r>
            <a:endParaRPr lang="ko-KR" sz="2000"/>
          </a:p>
        </p:txBody>
      </p:sp>
      <p:sp>
        <p:nvSpPr>
          <p:cNvPr id="5" name="ftr_exam"/>
          <p:cNvSpPr txBox="1"/>
          <p:nvPr/>
        </p:nvSpPr>
        <p:spPr>
          <a:xfrm>
            <a:off x="457200" y="6519672"/>
            <a:ext cx="5669280" cy="256032"/>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7</a:t>
            </a:r>
            <a:endParaRPr lang="ko-KR" sz="1000"/>
          </a:p>
        </p:txBody>
      </p:sp>
      <p:sp>
        <p:nvSpPr>
          <p:cNvPr id="6" name="ftr_hint"/>
          <p:cNvSpPr txBox="1"/>
          <p:nvPr/>
        </p:nvSpPr>
        <p:spPr>
          <a:xfrm>
            <a:off x="5971032" y="6519672"/>
            <a:ext cx="5760720" cy="256032"/>
          </a:xfrm>
          <a:prstGeom prst="rect">
            <a:avLst/>
          </a:prstGeom>
          <a:noFill/>
        </p:spPr>
        <p:txBody>
          <a:bodyPr wrap="square" lIns="0" tIns="0" rIns="0" bIns="0" anchor="t" rtlCol="0">
            <a:noAutofit/>
          </a:bodyPr>
          <a:lstStyle/>
          <a:p>
            <a:pPr algn="r">
              <a:lnSpc>
                <a:spcPts val="1200"/>
              </a:lnSpc>
              <a:spcBef>
                <a:spcPts val="0"/>
              </a:spcBef>
              <a:spcAft>
                <a:spcPts val="0"/>
              </a:spcAft>
              <a:buNone/>
            </a:pPr>
            <a:r>
              <a:rPr lang="ko-KR" altLang="en-US" sz="1000" b="0" dirty="0">
                <a:solidFill>
                  <a:srgbClr val="7A808C"/>
                </a:solidFill>
                <a:latin typeface="맑은 고딕"/>
                <a:ea typeface="맑은 고딕"/>
                <a:cs typeface="맑은 고딕"/>
              </a:rPr>
              <a:t>클릭 ① 정답(빨간색) + 문법 포인트 공개</a:t>
            </a:r>
            <a:endParaRPr lang="ko-KR" sz="1000"/>
          </a:p>
        </p:txBody>
      </p:sp>
      <p:sp>
        <p:nvSpPr>
          <p:cNvPr id="7" name="item_card_1"/>
          <p:cNvSpPr/>
          <p:nvPr/>
        </p:nvSpPr>
        <p:spPr>
          <a:xfrm>
            <a:off x="457200" y="950976"/>
            <a:ext cx="11274552" cy="1992884"/>
          </a:xfrm>
          <a:prstGeom prst="roundRect">
            <a:avLst>
              <a:gd name="adj" fmla="val 6000"/>
            </a:avLst>
          </a:prstGeom>
          <a:solidFill>
            <a:srgbClr val="F3F5F9"/>
          </a:solidFill>
          <a:ln w="12700">
            <a:solidFill>
              <a:srgbClr val="D9DFEA"/>
            </a:solidFill>
          </a:ln>
        </p:spPr>
        <p:txBody>
          <a:bodyPr rtlCol="0" anchor="ctr"/>
          <a:lstStyle/>
          <a:p>
            <a:pPr algn="ctr"/>
          </a:p>
        </p:txBody>
      </p:sp>
      <p:sp>
        <p:nvSpPr>
          <p:cNvPr id="8" name="kor_1"/>
          <p:cNvSpPr txBox="1"/>
          <p:nvPr/>
        </p:nvSpPr>
        <p:spPr>
          <a:xfrm>
            <a:off x="457200" y="1060704"/>
            <a:ext cx="11274552" cy="617728"/>
          </a:xfrm>
          <a:prstGeom prst="rect">
            <a:avLst/>
          </a:prstGeom>
          <a:noFill/>
        </p:spPr>
        <p:txBody>
          <a:bodyPr wrap="square" lIns="228600" tIns="54864" rIns="228600" bIns="54864" anchor="t" rtlCol="0">
            <a:noAutofit/>
          </a:bodyPr>
          <a:lstStyle/>
          <a:p>
            <a:pPr algn="l">
              <a:lnSpc>
                <a:spcPts val="2000"/>
              </a:lnSpc>
              <a:spcBef>
                <a:spcPts val="0"/>
              </a:spcBef>
              <a:spcAft>
                <a:spcPts val="0"/>
              </a:spcAft>
              <a:buNone/>
            </a:pPr>
            <a:r>
              <a:rPr lang="en-US" altLang="en-US" sz="1600" b="1" dirty="0">
                <a:solidFill>
                  <a:srgbClr val="1E2A5A"/>
                </a:solidFill>
                <a:latin typeface="Calibri"/>
                <a:ea typeface="맑은 고딕"/>
                <a:cs typeface="Calibri"/>
              </a:rPr>
              <a:t>22.  </a:t>
            </a:r>
            <a:r>
              <a:rPr lang="ko-KR" altLang="en-US" sz="1600" b="0" dirty="0">
                <a:solidFill>
                  <a:srgbClr val="3C4558"/>
                </a:solidFill>
                <a:latin typeface="맑은 고딕"/>
                <a:ea typeface="맑은 고딕"/>
                <a:cs typeface="맑은 고딕"/>
              </a:rPr>
              <a:t>예를 들어 그 데이터에는 선수 한 명 한 명이 얼마나 많이 뛰었는지, 공을 얼마나 오래 갖고 있었는지에 대한 정보가 담겼다.</a:t>
            </a:r>
            <a:endParaRPr lang="ko-KR" sz="1600"/>
          </a:p>
        </p:txBody>
      </p:sp>
      <p:sp>
        <p:nvSpPr>
          <p:cNvPr id="9" name="eng_1"/>
          <p:cNvSpPr txBox="1"/>
          <p:nvPr/>
        </p:nvSpPr>
        <p:spPr>
          <a:xfrm>
            <a:off x="457200" y="1623568"/>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solidFill>
                <a:latin typeface="Calibri"/>
                <a:ea typeface="맑은 고딕"/>
                <a:cs typeface="Calibri"/>
              </a:rPr>
              <a:t>For example, the data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included</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was included</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information about how much each player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was run</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ran</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and how long he had the ball.</a:t>
            </a:r>
            <a:endParaRPr lang="ko-KR" sz="2000"/>
          </a:p>
        </p:txBody>
      </p:sp>
      <p:sp>
        <p:nvSpPr>
          <p:cNvPr id="10" name="rv_eng_1"/>
          <p:cNvSpPr txBox="1"/>
          <p:nvPr/>
        </p:nvSpPr>
        <p:spPr>
          <a:xfrm>
            <a:off x="457200" y="1623568"/>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alpha val="0"/>
                  </a:srgbClr>
                </a:solidFill>
                <a:latin typeface="Calibri"/>
                <a:ea typeface="맑은 고딕"/>
                <a:cs typeface="Calibri"/>
              </a:rPr>
              <a:t>For example, the data </a:t>
            </a:r>
            <a:r>
              <a:rPr lang="en-US" altLang="en-US" sz="2000" b="1" dirty="0">
                <a:solidFill>
                  <a:srgbClr val="C00000">
                    <a:alpha val="0"/>
                  </a:srgbClr>
                </a:solidFill>
                <a:latin typeface="Calibri"/>
                <a:ea typeface="맑은 고딕"/>
                <a:cs typeface="Calibri"/>
              </a:rPr>
              <a:t>[ </a:t>
            </a:r>
            <a:r>
              <a:rPr lang="en-US" altLang="en-US" sz="2000" b="1" dirty="0">
                <a:solidFill>
                  <a:srgbClr val="C00000"/>
                </a:solidFill>
                <a:latin typeface="Calibri"/>
                <a:ea typeface="맑은 고딕"/>
                <a:cs typeface="Calibri"/>
              </a:rPr>
              <a:t>included</a:t>
            </a:r>
            <a:r>
              <a:rPr lang="en-US" altLang="en-US" sz="2000" b="1" dirty="0">
                <a:solidFill>
                  <a:srgbClr val="C00000">
                    <a:alpha val="0"/>
                  </a:srgbClr>
                </a:solidFill>
                <a:latin typeface="Calibri"/>
                <a:ea typeface="맑은 고딕"/>
                <a:cs typeface="Calibri"/>
              </a:rPr>
              <a:t> / </a:t>
            </a:r>
            <a:r>
              <a:rPr lang="en-US" altLang="en-US" sz="2000" b="1" dirty="0">
                <a:solidFill>
                  <a:srgbClr val="C00000">
                    <a:alpha val="0"/>
                  </a:srgbClr>
                </a:solidFill>
                <a:latin typeface="Calibri"/>
                <a:ea typeface="맑은 고딕"/>
                <a:cs typeface="Calibri"/>
              </a:rPr>
              <a:t>was included</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information about how much each player </a:t>
            </a:r>
            <a:r>
              <a:rPr lang="en-US" altLang="en-US" sz="2000" b="1" dirty="0">
                <a:solidFill>
                  <a:srgbClr val="C00000">
                    <a:alpha val="0"/>
                  </a:srgbClr>
                </a:solidFill>
                <a:latin typeface="Calibri"/>
                <a:ea typeface="맑은 고딕"/>
                <a:cs typeface="Calibri"/>
              </a:rPr>
              <a:t>[ </a:t>
            </a:r>
            <a:r>
              <a:rPr lang="en-US" altLang="en-US" sz="2000" b="1" dirty="0">
                <a:solidFill>
                  <a:srgbClr val="C00000">
                    <a:alpha val="0"/>
                  </a:srgbClr>
                </a:solidFill>
                <a:latin typeface="Calibri"/>
                <a:ea typeface="맑은 고딕"/>
                <a:cs typeface="Calibri"/>
              </a:rPr>
              <a:t>was run</a:t>
            </a:r>
            <a:r>
              <a:rPr lang="en-US" altLang="en-US" sz="2000" b="1" dirty="0">
                <a:solidFill>
                  <a:srgbClr val="C00000">
                    <a:alpha val="0"/>
                  </a:srgbClr>
                </a:solidFill>
                <a:latin typeface="Calibri"/>
                <a:ea typeface="맑은 고딕"/>
                <a:cs typeface="Calibri"/>
              </a:rPr>
              <a:t> / </a:t>
            </a:r>
            <a:r>
              <a:rPr lang="en-US" altLang="en-US" sz="2000" b="1" dirty="0">
                <a:solidFill>
                  <a:srgbClr val="C00000"/>
                </a:solidFill>
                <a:latin typeface="Calibri"/>
                <a:ea typeface="맑은 고딕"/>
                <a:cs typeface="Calibri"/>
              </a:rPr>
              <a:t>ran</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and how long he had the ball.</a:t>
            </a:r>
            <a:endParaRPr lang="ko-KR" sz="2000"/>
          </a:p>
        </p:txBody>
      </p:sp>
      <p:sp>
        <p:nvSpPr>
          <p:cNvPr id="11" name="rv_point_1"/>
          <p:cNvSpPr txBox="1"/>
          <p:nvPr/>
        </p:nvSpPr>
        <p:spPr>
          <a:xfrm>
            <a:off x="457200" y="2389632"/>
            <a:ext cx="11274552" cy="554227"/>
          </a:xfrm>
          <a:prstGeom prst="rect">
            <a:avLst/>
          </a:prstGeom>
          <a:noFill/>
        </p:spPr>
        <p:txBody>
          <a:bodyPr wrap="square" lIns="228600" tIns="54864" rIns="228600" bIns="54864" anchor="t" rtlCol="0">
            <a:noAutofit/>
          </a:bodyPr>
          <a:lstStyle/>
          <a:p>
            <a:pPr algn="l">
              <a:lnSpc>
                <a:spcPts val="1750"/>
              </a:lnSpc>
              <a:spcBef>
                <a:spcPts val="0"/>
              </a:spcBef>
              <a:spcAft>
                <a:spcPts val="0"/>
              </a:spcAft>
              <a:buNone/>
            </a:pPr>
            <a:r>
              <a:rPr lang="ko-KR" altLang="en-US" sz="1400" b="1" dirty="0">
                <a:solidFill>
                  <a:srgbClr val="C00000"/>
                </a:solidFill>
                <a:latin typeface="맑은 고딕"/>
                <a:ea typeface="맑은 고딕"/>
                <a:cs typeface="맑은 고딕"/>
              </a:rPr>
              <a:t>포인트  </a:t>
            </a:r>
            <a:r>
              <a:rPr lang="ko-KR" altLang="en-US" sz="1400" b="0" dirty="0">
                <a:solidFill>
                  <a:srgbClr val="2F5597"/>
                </a:solidFill>
                <a:latin typeface="맑은 고딕"/>
                <a:ea typeface="맑은 고딕"/>
                <a:cs typeface="맑은 고딕"/>
              </a:rPr>
              <a:t>수동태(능동/수동 구별) (목적어 information이 있으므로 능동) · 수동태(능동/수동 구별) (자동사 run은 수동태 불가)</a:t>
            </a:r>
            <a:endParaRPr lang="ko-KR" sz="1400"/>
          </a:p>
        </p:txBody>
      </p:sp>
      <p:sp>
        <p:nvSpPr>
          <p:cNvPr id="12" name="item_card_2"/>
          <p:cNvSpPr/>
          <p:nvPr/>
        </p:nvSpPr>
        <p:spPr>
          <a:xfrm>
            <a:off x="457200" y="3053588"/>
            <a:ext cx="11274552" cy="1770633"/>
          </a:xfrm>
          <a:prstGeom prst="roundRect">
            <a:avLst>
              <a:gd name="adj" fmla="val 6000"/>
            </a:avLst>
          </a:prstGeom>
          <a:solidFill>
            <a:srgbClr val="F3F5F9"/>
          </a:solidFill>
          <a:ln w="12700">
            <a:solidFill>
              <a:srgbClr val="D9DFEA"/>
            </a:solidFill>
          </a:ln>
        </p:spPr>
        <p:txBody>
          <a:bodyPr rtlCol="0" anchor="ctr"/>
          <a:lstStyle/>
          <a:p>
            <a:pPr algn="ctr"/>
          </a:p>
        </p:txBody>
      </p:sp>
      <p:sp>
        <p:nvSpPr>
          <p:cNvPr id="13" name="kor_2"/>
          <p:cNvSpPr txBox="1"/>
          <p:nvPr/>
        </p:nvSpPr>
        <p:spPr>
          <a:xfrm>
            <a:off x="457200" y="3163316"/>
            <a:ext cx="11274552" cy="617728"/>
          </a:xfrm>
          <a:prstGeom prst="rect">
            <a:avLst/>
          </a:prstGeom>
          <a:noFill/>
        </p:spPr>
        <p:txBody>
          <a:bodyPr wrap="square" lIns="228600" tIns="54864" rIns="228600" bIns="54864" anchor="t" rtlCol="0">
            <a:noAutofit/>
          </a:bodyPr>
          <a:lstStyle/>
          <a:p>
            <a:pPr algn="l">
              <a:lnSpc>
                <a:spcPts val="2000"/>
              </a:lnSpc>
              <a:spcBef>
                <a:spcPts val="0"/>
              </a:spcBef>
              <a:spcAft>
                <a:spcPts val="0"/>
              </a:spcAft>
              <a:buNone/>
            </a:pPr>
            <a:r>
              <a:rPr lang="en-US" altLang="en-US" sz="1600" b="1" dirty="0">
                <a:solidFill>
                  <a:srgbClr val="1E2A5A"/>
                </a:solidFill>
                <a:latin typeface="Calibri"/>
                <a:ea typeface="맑은 고딕"/>
                <a:cs typeface="Calibri"/>
              </a:rPr>
              <a:t>23.  </a:t>
            </a:r>
            <a:r>
              <a:rPr lang="ko-KR" altLang="en-US" sz="1600" b="0" dirty="0">
                <a:solidFill>
                  <a:srgbClr val="3C4558"/>
                </a:solidFill>
                <a:latin typeface="맑은 고딕"/>
                <a:ea typeface="맑은 고딕"/>
                <a:cs typeface="맑은 고딕"/>
              </a:rPr>
              <a:t>이 데이터베이스의 도움으로 독일 축구 국가대표팀은 경기력을 높였고, 2014년 월드컵에서 우승할 수 있었다.</a:t>
            </a:r>
            <a:endParaRPr lang="ko-KR" sz="1600"/>
          </a:p>
        </p:txBody>
      </p:sp>
      <p:sp>
        <p:nvSpPr>
          <p:cNvPr id="14" name="eng_2"/>
          <p:cNvSpPr txBox="1"/>
          <p:nvPr/>
        </p:nvSpPr>
        <p:spPr>
          <a:xfrm>
            <a:off x="457200" y="3726180"/>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solidFill>
                <a:latin typeface="Calibri"/>
                <a:ea typeface="맑은 고딕"/>
                <a:cs typeface="Calibri"/>
              </a:rPr>
              <a:t>With the help of this database, Germany’s national soccer team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were</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was</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able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to improve</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improving</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its performance and win the 2014 World Cup.</a:t>
            </a:r>
            <a:endParaRPr lang="ko-KR" sz="2000"/>
          </a:p>
        </p:txBody>
      </p:sp>
      <p:sp>
        <p:nvSpPr>
          <p:cNvPr id="15" name="rv_eng_2"/>
          <p:cNvSpPr txBox="1"/>
          <p:nvPr/>
        </p:nvSpPr>
        <p:spPr>
          <a:xfrm>
            <a:off x="457200" y="3726180"/>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alpha val="0"/>
                  </a:srgbClr>
                </a:solidFill>
                <a:latin typeface="Calibri"/>
                <a:ea typeface="맑은 고딕"/>
                <a:cs typeface="Calibri"/>
              </a:rPr>
              <a:t>With the help of this database, Germany’s national soccer team </a:t>
            </a:r>
            <a:r>
              <a:rPr lang="en-US" altLang="en-US" sz="2000" b="1" dirty="0">
                <a:solidFill>
                  <a:srgbClr val="C00000">
                    <a:alpha val="0"/>
                  </a:srgbClr>
                </a:solidFill>
                <a:latin typeface="Calibri"/>
                <a:ea typeface="맑은 고딕"/>
                <a:cs typeface="Calibri"/>
              </a:rPr>
              <a:t>[ </a:t>
            </a:r>
            <a:r>
              <a:rPr lang="en-US" altLang="en-US" sz="2000" b="1" dirty="0">
                <a:solidFill>
                  <a:srgbClr val="C00000">
                    <a:alpha val="0"/>
                  </a:srgbClr>
                </a:solidFill>
                <a:latin typeface="Calibri"/>
                <a:ea typeface="맑은 고딕"/>
                <a:cs typeface="Calibri"/>
              </a:rPr>
              <a:t>were</a:t>
            </a:r>
            <a:r>
              <a:rPr lang="en-US" altLang="en-US" sz="2000" b="1" dirty="0">
                <a:solidFill>
                  <a:srgbClr val="C00000">
                    <a:alpha val="0"/>
                  </a:srgbClr>
                </a:solidFill>
                <a:latin typeface="Calibri"/>
                <a:ea typeface="맑은 고딕"/>
                <a:cs typeface="Calibri"/>
              </a:rPr>
              <a:t> / </a:t>
            </a:r>
            <a:r>
              <a:rPr lang="en-US" altLang="en-US" sz="2000" b="1" dirty="0">
                <a:solidFill>
                  <a:srgbClr val="C00000"/>
                </a:solidFill>
                <a:latin typeface="Calibri"/>
                <a:ea typeface="맑은 고딕"/>
                <a:cs typeface="Calibri"/>
              </a:rPr>
              <a:t>was</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able </a:t>
            </a:r>
            <a:r>
              <a:rPr lang="en-US" altLang="en-US" sz="2000" b="1" dirty="0">
                <a:solidFill>
                  <a:srgbClr val="C00000">
                    <a:alpha val="0"/>
                  </a:srgbClr>
                </a:solidFill>
                <a:latin typeface="Calibri"/>
                <a:ea typeface="맑은 고딕"/>
                <a:cs typeface="Calibri"/>
              </a:rPr>
              <a:t>[ </a:t>
            </a:r>
            <a:r>
              <a:rPr lang="en-US" altLang="en-US" sz="2000" b="1" dirty="0">
                <a:solidFill>
                  <a:srgbClr val="C00000"/>
                </a:solidFill>
                <a:latin typeface="Calibri"/>
                <a:ea typeface="맑은 고딕"/>
                <a:cs typeface="Calibri"/>
              </a:rPr>
              <a:t>to improve</a:t>
            </a:r>
            <a:r>
              <a:rPr lang="en-US" altLang="en-US" sz="2000" b="1" dirty="0">
                <a:solidFill>
                  <a:srgbClr val="C00000">
                    <a:alpha val="0"/>
                  </a:srgbClr>
                </a:solidFill>
                <a:latin typeface="Calibri"/>
                <a:ea typeface="맑은 고딕"/>
                <a:cs typeface="Calibri"/>
              </a:rPr>
              <a:t> / </a:t>
            </a:r>
            <a:r>
              <a:rPr lang="en-US" altLang="en-US" sz="2000" b="1" dirty="0">
                <a:solidFill>
                  <a:srgbClr val="C00000">
                    <a:alpha val="0"/>
                  </a:srgbClr>
                </a:solidFill>
                <a:latin typeface="Calibri"/>
                <a:ea typeface="맑은 고딕"/>
                <a:cs typeface="Calibri"/>
              </a:rPr>
              <a:t>improving</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its performance and win the 2014 World Cup.</a:t>
            </a:r>
            <a:endParaRPr lang="ko-KR" sz="2000"/>
          </a:p>
        </p:txBody>
      </p:sp>
      <p:sp>
        <p:nvSpPr>
          <p:cNvPr id="16" name="rv_point_2"/>
          <p:cNvSpPr txBox="1"/>
          <p:nvPr/>
        </p:nvSpPr>
        <p:spPr>
          <a:xfrm>
            <a:off x="457200" y="4492244"/>
            <a:ext cx="11274552" cy="331978"/>
          </a:xfrm>
          <a:prstGeom prst="rect">
            <a:avLst/>
          </a:prstGeom>
          <a:noFill/>
        </p:spPr>
        <p:txBody>
          <a:bodyPr wrap="square" lIns="228600" tIns="54864" rIns="228600" bIns="54864" anchor="t" rtlCol="0">
            <a:noAutofit/>
          </a:bodyPr>
          <a:lstStyle/>
          <a:p>
            <a:pPr algn="l">
              <a:lnSpc>
                <a:spcPts val="1750"/>
              </a:lnSpc>
              <a:spcBef>
                <a:spcPts val="0"/>
              </a:spcBef>
              <a:spcAft>
                <a:spcPts val="0"/>
              </a:spcAft>
              <a:buNone/>
            </a:pPr>
            <a:r>
              <a:rPr lang="ko-KR" altLang="en-US" sz="1400" b="1" dirty="0">
                <a:solidFill>
                  <a:srgbClr val="C00000"/>
                </a:solidFill>
                <a:latin typeface="맑은 고딕"/>
                <a:ea typeface="맑은 고딕"/>
                <a:cs typeface="맑은 고딕"/>
              </a:rPr>
              <a:t>포인트  </a:t>
            </a:r>
            <a:r>
              <a:rPr lang="ko-KR" altLang="en-US" sz="1400" b="0" dirty="0">
                <a:solidFill>
                  <a:srgbClr val="2F5597"/>
                </a:solidFill>
                <a:latin typeface="맑은 고딕"/>
                <a:ea typeface="맑은 고딕"/>
                <a:cs typeface="맑은 고딕"/>
              </a:rPr>
              <a:t>동사의 수 일치 (주어 the team 단수) · to부정사/동명사/동사원형 (be able + to부정사)</a:t>
            </a:r>
            <a:endParaRPr lang="ko-KR" sz="1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25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250"/>
                                        <p:tgtEl>
                                          <p:spTgt spid="1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250"/>
                                        <p:tgtEl>
                                          <p:spTgt spid="1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fade">
                                      <p:cBhvr>
                                        <p:cTn id="16" dur="25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5" grpId="0" animBg="1"/>
      <p:bldP spid="16" grpId="0" animBg="1"/>
    </p:bldLst>
  </p:timing>
</p:sld>
</file>

<file path=ppt/slides/slide2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8000"/>
            </a:avLst>
          </a:prstGeom>
          <a:solidFill>
            <a:srgbClr val="1E2A5A"/>
          </a:solidFill>
          <a:ln>
            <a:noFill/>
          </a:ln>
        </p:spPr>
        <p:txBody>
          <a:bodyPr wrap="square" lIns="45720" tIns="18288" rIns="45720" bIns="18288" anchor="ctr" rtlCol="0">
            <a:noAutofit/>
          </a:bodyPr>
          <a:lstStyle/>
          <a:p>
            <a:pPr algn="ctr">
              <a:lnSpc>
                <a:spcPts val="2000"/>
              </a:lnSpc>
              <a:spcBef>
                <a:spcPts val="0"/>
              </a:spcBef>
              <a:spcAft>
                <a:spcPts val="0"/>
              </a:spcAft>
              <a:buNone/>
            </a:pPr>
            <a:r>
              <a:rPr lang="en-US" altLang="en-US" sz="1700" b="1" dirty="0">
                <a:solidFill>
                  <a:srgbClr val="FFFFFF"/>
                </a:solidFill>
                <a:latin typeface="Calibri"/>
                <a:ea typeface="맑은 고딕"/>
                <a:cs typeface="Calibri"/>
              </a:rPr>
              <a:t>L7</a:t>
            </a:r>
            <a:endParaRPr lang="ko-KR" sz="1700"/>
          </a:p>
        </p:txBody>
      </p:sp>
      <p:sp>
        <p:nvSpPr>
          <p:cNvPr id="3" name="hdr_chip"/>
          <p:cNvSpPr/>
          <p:nvPr/>
        </p:nvSpPr>
        <p:spPr>
          <a:xfrm>
            <a:off x="1755648" y="274320"/>
            <a:ext cx="1371600" cy="493776"/>
          </a:xfrm>
          <a:prstGeom prst="roundRect">
            <a:avLst>
              <a:gd name="adj" fmla="val 8000"/>
            </a:avLst>
          </a:prstGeom>
          <a:solidFill>
            <a:srgbClr val="E6EAF4"/>
          </a:solidFill>
          <a:ln>
            <a:noFill/>
          </a:ln>
        </p:spPr>
        <p:txBody>
          <a:bodyPr wrap="square" lIns="27432" tIns="18288" rIns="27432" bIns="18288" anchor="ctr" rtlCol="0">
            <a:noAutofit/>
          </a:bodyPr>
          <a:lstStyle/>
          <a:p>
            <a:pPr algn="ctr">
              <a:lnSpc>
                <a:spcPts val="1700"/>
              </a:lnSpc>
              <a:spcBef>
                <a:spcPts val="0"/>
              </a:spcBef>
              <a:spcAft>
                <a:spcPts val="0"/>
              </a:spcAft>
              <a:buNone/>
            </a:pPr>
            <a:r>
              <a:rPr lang="ko-KR" altLang="en-US" sz="1400" b="1" dirty="0">
                <a:solidFill>
                  <a:srgbClr val="1E2A5A"/>
                </a:solidFill>
                <a:latin typeface="맑은 고딕"/>
                <a:ea typeface="맑은 고딕"/>
                <a:cs typeface="맑은 고딕"/>
              </a:rPr>
              <a:t>PART 5 · 9</a:t>
            </a:r>
            <a:endParaRPr lang="ko-KR" sz="1400"/>
          </a:p>
        </p:txBody>
      </p:sp>
      <p:sp>
        <p:nvSpPr>
          <p:cNvPr id="4" name="hdr_q"/>
          <p:cNvSpPr txBox="1"/>
          <p:nvPr/>
        </p:nvSpPr>
        <p:spPr>
          <a:xfrm>
            <a:off x="3246120" y="246888"/>
            <a:ext cx="8485632" cy="548640"/>
          </a:xfrm>
          <a:prstGeom prst="rect">
            <a:avLst/>
          </a:prstGeom>
          <a:noFill/>
        </p:spPr>
        <p:txBody>
          <a:bodyPr wrap="square" lIns="109728" tIns="54864" rIns="109728" bIns="54864" anchor="ctr" rtlCol="0">
            <a:noAutofit/>
          </a:bodyPr>
          <a:lstStyle/>
          <a:p>
            <a:pPr algn="l">
              <a:lnSpc>
                <a:spcPts val="2400"/>
              </a:lnSpc>
              <a:spcBef>
                <a:spcPts val="0"/>
              </a:spcBef>
              <a:spcAft>
                <a:spcPts val="0"/>
              </a:spcAft>
              <a:buNone/>
            </a:pPr>
            <a:r>
              <a:rPr lang="ko-KR" altLang="en-US" sz="2000" b="1" dirty="0">
                <a:solidFill>
                  <a:srgbClr val="1F2328"/>
                </a:solidFill>
                <a:latin typeface="맑은 고딕"/>
                <a:ea typeface="맑은 고딕"/>
                <a:cs typeface="맑은 고딕"/>
              </a:rPr>
              <a:t>[  ] 안에서 어법상 알맞은 것을 고르시오.</a:t>
            </a:r>
            <a:endParaRPr lang="ko-KR" sz="2000"/>
          </a:p>
        </p:txBody>
      </p:sp>
      <p:sp>
        <p:nvSpPr>
          <p:cNvPr id="5" name="ftr_exam"/>
          <p:cNvSpPr txBox="1"/>
          <p:nvPr/>
        </p:nvSpPr>
        <p:spPr>
          <a:xfrm>
            <a:off x="457200" y="6519672"/>
            <a:ext cx="5669280" cy="256032"/>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7</a:t>
            </a:r>
            <a:endParaRPr lang="ko-KR" sz="1000"/>
          </a:p>
        </p:txBody>
      </p:sp>
      <p:sp>
        <p:nvSpPr>
          <p:cNvPr id="6" name="ftr_hint"/>
          <p:cNvSpPr txBox="1"/>
          <p:nvPr/>
        </p:nvSpPr>
        <p:spPr>
          <a:xfrm>
            <a:off x="5971032" y="6519672"/>
            <a:ext cx="5760720" cy="256032"/>
          </a:xfrm>
          <a:prstGeom prst="rect">
            <a:avLst/>
          </a:prstGeom>
          <a:noFill/>
        </p:spPr>
        <p:txBody>
          <a:bodyPr wrap="square" lIns="0" tIns="0" rIns="0" bIns="0" anchor="t" rtlCol="0">
            <a:noAutofit/>
          </a:bodyPr>
          <a:lstStyle/>
          <a:p>
            <a:pPr algn="r">
              <a:lnSpc>
                <a:spcPts val="1200"/>
              </a:lnSpc>
              <a:spcBef>
                <a:spcPts val="0"/>
              </a:spcBef>
              <a:spcAft>
                <a:spcPts val="0"/>
              </a:spcAft>
              <a:buNone/>
            </a:pPr>
            <a:r>
              <a:rPr lang="ko-KR" altLang="en-US" sz="1000" b="0" dirty="0">
                <a:solidFill>
                  <a:srgbClr val="7A808C"/>
                </a:solidFill>
                <a:latin typeface="맑은 고딕"/>
                <a:ea typeface="맑은 고딕"/>
                <a:cs typeface="맑은 고딕"/>
              </a:rPr>
              <a:t>클릭 ① 정답(빨간색) + 문법 포인트 공개</a:t>
            </a:r>
            <a:endParaRPr lang="ko-KR" sz="1000"/>
          </a:p>
        </p:txBody>
      </p:sp>
      <p:sp>
        <p:nvSpPr>
          <p:cNvPr id="7" name="item_card_1"/>
          <p:cNvSpPr/>
          <p:nvPr/>
        </p:nvSpPr>
        <p:spPr>
          <a:xfrm>
            <a:off x="457200" y="950976"/>
            <a:ext cx="11274552" cy="1516634"/>
          </a:xfrm>
          <a:prstGeom prst="roundRect">
            <a:avLst>
              <a:gd name="adj" fmla="val 6000"/>
            </a:avLst>
          </a:prstGeom>
          <a:solidFill>
            <a:srgbClr val="F3F5F9"/>
          </a:solidFill>
          <a:ln w="12700">
            <a:solidFill>
              <a:srgbClr val="D9DFEA"/>
            </a:solidFill>
          </a:ln>
        </p:spPr>
        <p:txBody>
          <a:bodyPr rtlCol="0" anchor="ctr"/>
          <a:lstStyle/>
          <a:p>
            <a:pPr algn="ctr"/>
          </a:p>
        </p:txBody>
      </p:sp>
      <p:sp>
        <p:nvSpPr>
          <p:cNvPr id="8" name="kor_1"/>
          <p:cNvSpPr txBox="1"/>
          <p:nvPr/>
        </p:nvSpPr>
        <p:spPr>
          <a:xfrm>
            <a:off x="457200" y="1060704"/>
            <a:ext cx="11274552" cy="363728"/>
          </a:xfrm>
          <a:prstGeom prst="rect">
            <a:avLst/>
          </a:prstGeom>
          <a:noFill/>
        </p:spPr>
        <p:txBody>
          <a:bodyPr wrap="square" lIns="228600" tIns="54864" rIns="228600" bIns="54864" anchor="t" rtlCol="0">
            <a:noAutofit/>
          </a:bodyPr>
          <a:lstStyle/>
          <a:p>
            <a:pPr algn="l">
              <a:lnSpc>
                <a:spcPts val="2000"/>
              </a:lnSpc>
              <a:spcBef>
                <a:spcPts val="0"/>
              </a:spcBef>
              <a:spcAft>
                <a:spcPts val="0"/>
              </a:spcAft>
              <a:buNone/>
            </a:pPr>
            <a:r>
              <a:rPr lang="en-US" altLang="en-US" sz="1600" b="1" dirty="0">
                <a:solidFill>
                  <a:srgbClr val="1E2A5A"/>
                </a:solidFill>
                <a:latin typeface="Calibri"/>
                <a:ea typeface="맑은 고딕"/>
                <a:cs typeface="Calibri"/>
              </a:rPr>
              <a:t>24.  </a:t>
            </a:r>
            <a:r>
              <a:rPr lang="ko-KR" altLang="en-US" sz="1600" b="0" dirty="0">
                <a:solidFill>
                  <a:srgbClr val="3C4558"/>
                </a:solidFill>
                <a:latin typeface="맑은 고딕"/>
                <a:ea typeface="맑은 고딕"/>
                <a:cs typeface="맑은 고딕"/>
              </a:rPr>
              <a:t>빅데이터 덕분에 경찰은 이제 범죄가 일어나기 전에 미리 예측할 수 있다.</a:t>
            </a:r>
            <a:endParaRPr lang="ko-KR" sz="1600"/>
          </a:p>
        </p:txBody>
      </p:sp>
      <p:sp>
        <p:nvSpPr>
          <p:cNvPr id="9" name="eng_1"/>
          <p:cNvSpPr txBox="1"/>
          <p:nvPr/>
        </p:nvSpPr>
        <p:spPr>
          <a:xfrm>
            <a:off x="457200" y="1369568"/>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solidFill>
                <a:latin typeface="Calibri"/>
                <a:ea typeface="맑은 고딕"/>
                <a:cs typeface="Calibri"/>
              </a:rPr>
              <a:t>Thanks to big data, police can now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predict</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to predict</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crime before it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is happened</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happens</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a:t>
            </a:r>
            <a:endParaRPr lang="ko-KR" sz="2000"/>
          </a:p>
        </p:txBody>
      </p:sp>
      <p:sp>
        <p:nvSpPr>
          <p:cNvPr id="10" name="rv_eng_1"/>
          <p:cNvSpPr txBox="1"/>
          <p:nvPr/>
        </p:nvSpPr>
        <p:spPr>
          <a:xfrm>
            <a:off x="457200" y="1369568"/>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alpha val="0"/>
                  </a:srgbClr>
                </a:solidFill>
                <a:latin typeface="Calibri"/>
                <a:ea typeface="맑은 고딕"/>
                <a:cs typeface="Calibri"/>
              </a:rPr>
              <a:t>Thanks to big data, police can now </a:t>
            </a:r>
            <a:r>
              <a:rPr lang="en-US" altLang="en-US" sz="2000" b="1" dirty="0">
                <a:solidFill>
                  <a:srgbClr val="C00000">
                    <a:alpha val="0"/>
                  </a:srgbClr>
                </a:solidFill>
                <a:latin typeface="Calibri"/>
                <a:ea typeface="맑은 고딕"/>
                <a:cs typeface="Calibri"/>
              </a:rPr>
              <a:t>[ </a:t>
            </a:r>
            <a:r>
              <a:rPr lang="en-US" altLang="en-US" sz="2000" b="1" dirty="0">
                <a:solidFill>
                  <a:srgbClr val="C00000"/>
                </a:solidFill>
                <a:latin typeface="Calibri"/>
                <a:ea typeface="맑은 고딕"/>
                <a:cs typeface="Calibri"/>
              </a:rPr>
              <a:t>predict</a:t>
            </a:r>
            <a:r>
              <a:rPr lang="en-US" altLang="en-US" sz="2000" b="1" dirty="0">
                <a:solidFill>
                  <a:srgbClr val="C00000">
                    <a:alpha val="0"/>
                  </a:srgbClr>
                </a:solidFill>
                <a:latin typeface="Calibri"/>
                <a:ea typeface="맑은 고딕"/>
                <a:cs typeface="Calibri"/>
              </a:rPr>
              <a:t> / </a:t>
            </a:r>
            <a:r>
              <a:rPr lang="en-US" altLang="en-US" sz="2000" b="1" dirty="0">
                <a:solidFill>
                  <a:srgbClr val="C00000">
                    <a:alpha val="0"/>
                  </a:srgbClr>
                </a:solidFill>
                <a:latin typeface="Calibri"/>
                <a:ea typeface="맑은 고딕"/>
                <a:cs typeface="Calibri"/>
              </a:rPr>
              <a:t>to predict</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crime before it </a:t>
            </a:r>
            <a:r>
              <a:rPr lang="en-US" altLang="en-US" sz="2000" b="1" dirty="0">
                <a:solidFill>
                  <a:srgbClr val="C00000">
                    <a:alpha val="0"/>
                  </a:srgbClr>
                </a:solidFill>
                <a:latin typeface="Calibri"/>
                <a:ea typeface="맑은 고딕"/>
                <a:cs typeface="Calibri"/>
              </a:rPr>
              <a:t>[ </a:t>
            </a:r>
            <a:r>
              <a:rPr lang="en-US" altLang="en-US" sz="2000" b="1" dirty="0">
                <a:solidFill>
                  <a:srgbClr val="C00000">
                    <a:alpha val="0"/>
                  </a:srgbClr>
                </a:solidFill>
                <a:latin typeface="Calibri"/>
                <a:ea typeface="맑은 고딕"/>
                <a:cs typeface="Calibri"/>
              </a:rPr>
              <a:t>is happened</a:t>
            </a:r>
            <a:r>
              <a:rPr lang="en-US" altLang="en-US" sz="2000" b="1" dirty="0">
                <a:solidFill>
                  <a:srgbClr val="C00000">
                    <a:alpha val="0"/>
                  </a:srgbClr>
                </a:solidFill>
                <a:latin typeface="Calibri"/>
                <a:ea typeface="맑은 고딕"/>
                <a:cs typeface="Calibri"/>
              </a:rPr>
              <a:t> / </a:t>
            </a:r>
            <a:r>
              <a:rPr lang="en-US" altLang="en-US" sz="2000" b="1" dirty="0">
                <a:solidFill>
                  <a:srgbClr val="C00000"/>
                </a:solidFill>
                <a:latin typeface="Calibri"/>
                <a:ea typeface="맑은 고딕"/>
                <a:cs typeface="Calibri"/>
              </a:rPr>
              <a:t>happens</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a:t>
            </a:r>
            <a:endParaRPr lang="ko-KR" sz="2000"/>
          </a:p>
        </p:txBody>
      </p:sp>
      <p:sp>
        <p:nvSpPr>
          <p:cNvPr id="11" name="rv_point_1"/>
          <p:cNvSpPr txBox="1"/>
          <p:nvPr/>
        </p:nvSpPr>
        <p:spPr>
          <a:xfrm>
            <a:off x="457200" y="2135632"/>
            <a:ext cx="11274552" cy="331978"/>
          </a:xfrm>
          <a:prstGeom prst="rect">
            <a:avLst/>
          </a:prstGeom>
          <a:noFill/>
        </p:spPr>
        <p:txBody>
          <a:bodyPr wrap="square" lIns="228600" tIns="54864" rIns="228600" bIns="54864" anchor="t" rtlCol="0">
            <a:noAutofit/>
          </a:bodyPr>
          <a:lstStyle/>
          <a:p>
            <a:pPr algn="l">
              <a:lnSpc>
                <a:spcPts val="1750"/>
              </a:lnSpc>
              <a:spcBef>
                <a:spcPts val="0"/>
              </a:spcBef>
              <a:spcAft>
                <a:spcPts val="0"/>
              </a:spcAft>
              <a:buNone/>
            </a:pPr>
            <a:r>
              <a:rPr lang="ko-KR" altLang="en-US" sz="1400" b="1" dirty="0">
                <a:solidFill>
                  <a:srgbClr val="C00000"/>
                </a:solidFill>
                <a:latin typeface="맑은 고딕"/>
                <a:ea typeface="맑은 고딕"/>
                <a:cs typeface="맑은 고딕"/>
              </a:rPr>
              <a:t>포인트  </a:t>
            </a:r>
            <a:r>
              <a:rPr lang="ko-KR" altLang="en-US" sz="1400" b="0" dirty="0">
                <a:solidFill>
                  <a:srgbClr val="2F5597"/>
                </a:solidFill>
                <a:latin typeface="맑은 고딕"/>
                <a:ea typeface="맑은 고딕"/>
                <a:cs typeface="맑은 고딕"/>
              </a:rPr>
              <a:t>to부정사/동명사/동사원형 (조동사 can + 동사원형) · 수동태(능동/수동 구별) (자동사 happen은 수동태 불가)</a:t>
            </a:r>
            <a:endParaRPr lang="ko-KR" sz="1400"/>
          </a:p>
        </p:txBody>
      </p:sp>
      <p:sp>
        <p:nvSpPr>
          <p:cNvPr id="12" name="item_card_2"/>
          <p:cNvSpPr/>
          <p:nvPr/>
        </p:nvSpPr>
        <p:spPr>
          <a:xfrm>
            <a:off x="457200" y="2577338"/>
            <a:ext cx="11274552" cy="1516634"/>
          </a:xfrm>
          <a:prstGeom prst="roundRect">
            <a:avLst>
              <a:gd name="adj" fmla="val 6000"/>
            </a:avLst>
          </a:prstGeom>
          <a:solidFill>
            <a:srgbClr val="F3F5F9"/>
          </a:solidFill>
          <a:ln w="12700">
            <a:solidFill>
              <a:srgbClr val="D9DFEA"/>
            </a:solidFill>
          </a:ln>
        </p:spPr>
        <p:txBody>
          <a:bodyPr rtlCol="0" anchor="ctr"/>
          <a:lstStyle/>
          <a:p>
            <a:pPr algn="ctr"/>
          </a:p>
        </p:txBody>
      </p:sp>
      <p:sp>
        <p:nvSpPr>
          <p:cNvPr id="13" name="kor_2"/>
          <p:cNvSpPr txBox="1"/>
          <p:nvPr/>
        </p:nvSpPr>
        <p:spPr>
          <a:xfrm>
            <a:off x="457200" y="2687066"/>
            <a:ext cx="11274552" cy="363728"/>
          </a:xfrm>
          <a:prstGeom prst="rect">
            <a:avLst/>
          </a:prstGeom>
          <a:noFill/>
        </p:spPr>
        <p:txBody>
          <a:bodyPr wrap="square" lIns="228600" tIns="54864" rIns="228600" bIns="54864" anchor="t" rtlCol="0">
            <a:noAutofit/>
          </a:bodyPr>
          <a:lstStyle/>
          <a:p>
            <a:pPr algn="l">
              <a:lnSpc>
                <a:spcPts val="2000"/>
              </a:lnSpc>
              <a:spcBef>
                <a:spcPts val="0"/>
              </a:spcBef>
              <a:spcAft>
                <a:spcPts val="0"/>
              </a:spcAft>
              <a:buNone/>
            </a:pPr>
            <a:r>
              <a:rPr lang="en-US" altLang="en-US" sz="1600" b="1" dirty="0">
                <a:solidFill>
                  <a:srgbClr val="1E2A5A"/>
                </a:solidFill>
                <a:latin typeface="Calibri"/>
                <a:ea typeface="맑은 고딕"/>
                <a:cs typeface="Calibri"/>
              </a:rPr>
              <a:t>25.  </a:t>
            </a:r>
            <a:r>
              <a:rPr lang="ko-KR" altLang="en-US" sz="1600" b="0" dirty="0">
                <a:solidFill>
                  <a:srgbClr val="3C4558"/>
                </a:solidFill>
                <a:latin typeface="맑은 고딕"/>
                <a:ea typeface="맑은 고딕"/>
                <a:cs typeface="맑은 고딕"/>
              </a:rPr>
              <a:t>범죄의 유형·시간·장소에 관한 빅데이터를 분석하면 경찰은 범죄 다발 지역 지도를 만들 수 있다.</a:t>
            </a:r>
            <a:endParaRPr lang="ko-KR" sz="1600"/>
          </a:p>
        </p:txBody>
      </p:sp>
      <p:sp>
        <p:nvSpPr>
          <p:cNvPr id="14" name="eng_2"/>
          <p:cNvSpPr txBox="1"/>
          <p:nvPr/>
        </p:nvSpPr>
        <p:spPr>
          <a:xfrm>
            <a:off x="457200" y="2995930"/>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solidFill>
                <a:latin typeface="Calibri"/>
                <a:ea typeface="맑은 고딕"/>
                <a:cs typeface="Calibri"/>
              </a:rPr>
              <a:t>Through the analysis of big data about the type, time and place of crime, police can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making</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make</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a map of crime hot spots.</a:t>
            </a:r>
            <a:endParaRPr lang="ko-KR" sz="2000"/>
          </a:p>
        </p:txBody>
      </p:sp>
      <p:sp>
        <p:nvSpPr>
          <p:cNvPr id="15" name="rv_eng_2"/>
          <p:cNvSpPr txBox="1"/>
          <p:nvPr/>
        </p:nvSpPr>
        <p:spPr>
          <a:xfrm>
            <a:off x="457200" y="2995930"/>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alpha val="0"/>
                  </a:srgbClr>
                </a:solidFill>
                <a:latin typeface="Calibri"/>
                <a:ea typeface="맑은 고딕"/>
                <a:cs typeface="Calibri"/>
              </a:rPr>
              <a:t>Through the analysis of big data about the type, time and place of crime, police can </a:t>
            </a:r>
            <a:r>
              <a:rPr lang="en-US" altLang="en-US" sz="2000" b="1" dirty="0">
                <a:solidFill>
                  <a:srgbClr val="C00000">
                    <a:alpha val="0"/>
                  </a:srgbClr>
                </a:solidFill>
                <a:latin typeface="Calibri"/>
                <a:ea typeface="맑은 고딕"/>
                <a:cs typeface="Calibri"/>
              </a:rPr>
              <a:t>[ </a:t>
            </a:r>
            <a:r>
              <a:rPr lang="en-US" altLang="en-US" sz="2000" b="1" dirty="0">
                <a:solidFill>
                  <a:srgbClr val="C00000">
                    <a:alpha val="0"/>
                  </a:srgbClr>
                </a:solidFill>
                <a:latin typeface="Calibri"/>
                <a:ea typeface="맑은 고딕"/>
                <a:cs typeface="Calibri"/>
              </a:rPr>
              <a:t>making</a:t>
            </a:r>
            <a:r>
              <a:rPr lang="en-US" altLang="en-US" sz="2000" b="1" dirty="0">
                <a:solidFill>
                  <a:srgbClr val="C00000">
                    <a:alpha val="0"/>
                  </a:srgbClr>
                </a:solidFill>
                <a:latin typeface="Calibri"/>
                <a:ea typeface="맑은 고딕"/>
                <a:cs typeface="Calibri"/>
              </a:rPr>
              <a:t> / </a:t>
            </a:r>
            <a:r>
              <a:rPr lang="en-US" altLang="en-US" sz="2000" b="1" dirty="0">
                <a:solidFill>
                  <a:srgbClr val="C00000"/>
                </a:solidFill>
                <a:latin typeface="Calibri"/>
                <a:ea typeface="맑은 고딕"/>
                <a:cs typeface="Calibri"/>
              </a:rPr>
              <a:t>make</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a map of crime hot spots.</a:t>
            </a:r>
            <a:endParaRPr lang="ko-KR" sz="2000"/>
          </a:p>
        </p:txBody>
      </p:sp>
      <p:sp>
        <p:nvSpPr>
          <p:cNvPr id="16" name="rv_point_2"/>
          <p:cNvSpPr txBox="1"/>
          <p:nvPr/>
        </p:nvSpPr>
        <p:spPr>
          <a:xfrm>
            <a:off x="457200" y="3761994"/>
            <a:ext cx="11274552" cy="331978"/>
          </a:xfrm>
          <a:prstGeom prst="rect">
            <a:avLst/>
          </a:prstGeom>
          <a:noFill/>
        </p:spPr>
        <p:txBody>
          <a:bodyPr wrap="square" lIns="228600" tIns="54864" rIns="228600" bIns="54864" anchor="t" rtlCol="0">
            <a:noAutofit/>
          </a:bodyPr>
          <a:lstStyle/>
          <a:p>
            <a:pPr algn="l">
              <a:lnSpc>
                <a:spcPts val="1750"/>
              </a:lnSpc>
              <a:spcBef>
                <a:spcPts val="0"/>
              </a:spcBef>
              <a:spcAft>
                <a:spcPts val="0"/>
              </a:spcAft>
              <a:buNone/>
            </a:pPr>
            <a:r>
              <a:rPr lang="ko-KR" altLang="en-US" sz="1400" b="1" dirty="0">
                <a:solidFill>
                  <a:srgbClr val="C00000"/>
                </a:solidFill>
                <a:latin typeface="맑은 고딕"/>
                <a:ea typeface="맑은 고딕"/>
                <a:cs typeface="맑은 고딕"/>
              </a:rPr>
              <a:t>포인트  </a:t>
            </a:r>
            <a:r>
              <a:rPr lang="ko-KR" altLang="en-US" sz="1400" b="0" dirty="0">
                <a:solidFill>
                  <a:srgbClr val="2F5597"/>
                </a:solidFill>
                <a:latin typeface="맑은 고딕"/>
                <a:ea typeface="맑은 고딕"/>
                <a:cs typeface="맑은 고딕"/>
              </a:rPr>
              <a:t>to부정사/동명사/동사원형 (조동사 can + 동사원형)</a:t>
            </a:r>
            <a:endParaRPr lang="ko-KR" sz="1400"/>
          </a:p>
        </p:txBody>
      </p:sp>
      <p:sp>
        <p:nvSpPr>
          <p:cNvPr id="17" name="item_card_3"/>
          <p:cNvSpPr/>
          <p:nvPr/>
        </p:nvSpPr>
        <p:spPr>
          <a:xfrm>
            <a:off x="457200" y="4203700"/>
            <a:ext cx="11274552" cy="1516634"/>
          </a:xfrm>
          <a:prstGeom prst="roundRect">
            <a:avLst>
              <a:gd name="adj" fmla="val 6000"/>
            </a:avLst>
          </a:prstGeom>
          <a:solidFill>
            <a:srgbClr val="F3F5F9"/>
          </a:solidFill>
          <a:ln w="12700">
            <a:solidFill>
              <a:srgbClr val="D9DFEA"/>
            </a:solidFill>
          </a:ln>
        </p:spPr>
        <p:txBody>
          <a:bodyPr rtlCol="0" anchor="ctr"/>
          <a:lstStyle/>
          <a:p>
            <a:pPr algn="ctr"/>
          </a:p>
        </p:txBody>
      </p:sp>
      <p:sp>
        <p:nvSpPr>
          <p:cNvPr id="18" name="kor_3"/>
          <p:cNvSpPr txBox="1"/>
          <p:nvPr/>
        </p:nvSpPr>
        <p:spPr>
          <a:xfrm>
            <a:off x="457200" y="4313428"/>
            <a:ext cx="11274552" cy="363728"/>
          </a:xfrm>
          <a:prstGeom prst="rect">
            <a:avLst/>
          </a:prstGeom>
          <a:noFill/>
        </p:spPr>
        <p:txBody>
          <a:bodyPr wrap="square" lIns="228600" tIns="54864" rIns="228600" bIns="54864" anchor="t" rtlCol="0">
            <a:noAutofit/>
          </a:bodyPr>
          <a:lstStyle/>
          <a:p>
            <a:pPr algn="l">
              <a:lnSpc>
                <a:spcPts val="2000"/>
              </a:lnSpc>
              <a:spcBef>
                <a:spcPts val="0"/>
              </a:spcBef>
              <a:spcAft>
                <a:spcPts val="0"/>
              </a:spcAft>
              <a:buNone/>
            </a:pPr>
            <a:r>
              <a:rPr lang="en-US" altLang="en-US" sz="1600" b="1" dirty="0">
                <a:solidFill>
                  <a:srgbClr val="1E2A5A"/>
                </a:solidFill>
                <a:latin typeface="Calibri"/>
                <a:ea typeface="맑은 고딕"/>
                <a:cs typeface="Calibri"/>
              </a:rPr>
              <a:t>26.  </a:t>
            </a:r>
            <a:r>
              <a:rPr lang="ko-KR" altLang="en-US" sz="1600" b="0" dirty="0">
                <a:solidFill>
                  <a:srgbClr val="3C4558"/>
                </a:solidFill>
                <a:latin typeface="맑은 고딕"/>
                <a:ea typeface="맑은 고딕"/>
                <a:cs typeface="맑은 고딕"/>
              </a:rPr>
              <a:t>이 지도는 범죄가 언제, 어디에서 일어날 가능성이 가장 높은지 알려 준다.</a:t>
            </a:r>
            <a:endParaRPr lang="ko-KR" sz="1600"/>
          </a:p>
        </p:txBody>
      </p:sp>
      <p:sp>
        <p:nvSpPr>
          <p:cNvPr id="19" name="eng_3"/>
          <p:cNvSpPr txBox="1"/>
          <p:nvPr/>
        </p:nvSpPr>
        <p:spPr>
          <a:xfrm>
            <a:off x="457200" y="4622292"/>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solidFill>
                <a:latin typeface="Calibri"/>
                <a:ea typeface="맑은 고딕"/>
                <a:cs typeface="Calibri"/>
              </a:rPr>
              <a:t>This map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identifies</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identify</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when and where crime is most likely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happening</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to happen</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a:t>
            </a:r>
            <a:endParaRPr lang="ko-KR" sz="2000"/>
          </a:p>
        </p:txBody>
      </p:sp>
      <p:sp>
        <p:nvSpPr>
          <p:cNvPr id="20" name="rv_eng_3"/>
          <p:cNvSpPr txBox="1"/>
          <p:nvPr/>
        </p:nvSpPr>
        <p:spPr>
          <a:xfrm>
            <a:off x="457200" y="4622292"/>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alpha val="0"/>
                  </a:srgbClr>
                </a:solidFill>
                <a:latin typeface="Calibri"/>
                <a:ea typeface="맑은 고딕"/>
                <a:cs typeface="Calibri"/>
              </a:rPr>
              <a:t>This map </a:t>
            </a:r>
            <a:r>
              <a:rPr lang="en-US" altLang="en-US" sz="2000" b="1" dirty="0">
                <a:solidFill>
                  <a:srgbClr val="C00000">
                    <a:alpha val="0"/>
                  </a:srgbClr>
                </a:solidFill>
                <a:latin typeface="Calibri"/>
                <a:ea typeface="맑은 고딕"/>
                <a:cs typeface="Calibri"/>
              </a:rPr>
              <a:t>[ </a:t>
            </a:r>
            <a:r>
              <a:rPr lang="en-US" altLang="en-US" sz="2000" b="1" dirty="0">
                <a:solidFill>
                  <a:srgbClr val="C00000"/>
                </a:solidFill>
                <a:latin typeface="Calibri"/>
                <a:ea typeface="맑은 고딕"/>
                <a:cs typeface="Calibri"/>
              </a:rPr>
              <a:t>identifies</a:t>
            </a:r>
            <a:r>
              <a:rPr lang="en-US" altLang="en-US" sz="2000" b="1" dirty="0">
                <a:solidFill>
                  <a:srgbClr val="C00000">
                    <a:alpha val="0"/>
                  </a:srgbClr>
                </a:solidFill>
                <a:latin typeface="Calibri"/>
                <a:ea typeface="맑은 고딕"/>
                <a:cs typeface="Calibri"/>
              </a:rPr>
              <a:t> / </a:t>
            </a:r>
            <a:r>
              <a:rPr lang="en-US" altLang="en-US" sz="2000" b="1" dirty="0">
                <a:solidFill>
                  <a:srgbClr val="C00000">
                    <a:alpha val="0"/>
                  </a:srgbClr>
                </a:solidFill>
                <a:latin typeface="Calibri"/>
                <a:ea typeface="맑은 고딕"/>
                <a:cs typeface="Calibri"/>
              </a:rPr>
              <a:t>identify</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when and where crime is most likely </a:t>
            </a:r>
            <a:r>
              <a:rPr lang="en-US" altLang="en-US" sz="2000" b="1" dirty="0">
                <a:solidFill>
                  <a:srgbClr val="C00000">
                    <a:alpha val="0"/>
                  </a:srgbClr>
                </a:solidFill>
                <a:latin typeface="Calibri"/>
                <a:ea typeface="맑은 고딕"/>
                <a:cs typeface="Calibri"/>
              </a:rPr>
              <a:t>[ </a:t>
            </a:r>
            <a:r>
              <a:rPr lang="en-US" altLang="en-US" sz="2000" b="1" dirty="0">
                <a:solidFill>
                  <a:srgbClr val="C00000">
                    <a:alpha val="0"/>
                  </a:srgbClr>
                </a:solidFill>
                <a:latin typeface="Calibri"/>
                <a:ea typeface="맑은 고딕"/>
                <a:cs typeface="Calibri"/>
              </a:rPr>
              <a:t>happening</a:t>
            </a:r>
            <a:r>
              <a:rPr lang="en-US" altLang="en-US" sz="2000" b="1" dirty="0">
                <a:solidFill>
                  <a:srgbClr val="C00000">
                    <a:alpha val="0"/>
                  </a:srgbClr>
                </a:solidFill>
                <a:latin typeface="Calibri"/>
                <a:ea typeface="맑은 고딕"/>
                <a:cs typeface="Calibri"/>
              </a:rPr>
              <a:t> / </a:t>
            </a:r>
            <a:r>
              <a:rPr lang="en-US" altLang="en-US" sz="2000" b="1" dirty="0">
                <a:solidFill>
                  <a:srgbClr val="C00000"/>
                </a:solidFill>
                <a:latin typeface="Calibri"/>
                <a:ea typeface="맑은 고딕"/>
                <a:cs typeface="Calibri"/>
              </a:rPr>
              <a:t>to happen</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a:t>
            </a:r>
            <a:endParaRPr lang="ko-KR" sz="2000"/>
          </a:p>
        </p:txBody>
      </p:sp>
      <p:sp>
        <p:nvSpPr>
          <p:cNvPr id="21" name="rv_point_3"/>
          <p:cNvSpPr txBox="1"/>
          <p:nvPr/>
        </p:nvSpPr>
        <p:spPr>
          <a:xfrm>
            <a:off x="457200" y="5388356"/>
            <a:ext cx="11274552" cy="331978"/>
          </a:xfrm>
          <a:prstGeom prst="rect">
            <a:avLst/>
          </a:prstGeom>
          <a:noFill/>
        </p:spPr>
        <p:txBody>
          <a:bodyPr wrap="square" lIns="228600" tIns="54864" rIns="228600" bIns="54864" anchor="t" rtlCol="0">
            <a:noAutofit/>
          </a:bodyPr>
          <a:lstStyle/>
          <a:p>
            <a:pPr algn="l">
              <a:lnSpc>
                <a:spcPts val="1750"/>
              </a:lnSpc>
              <a:spcBef>
                <a:spcPts val="0"/>
              </a:spcBef>
              <a:spcAft>
                <a:spcPts val="0"/>
              </a:spcAft>
              <a:buNone/>
            </a:pPr>
            <a:r>
              <a:rPr lang="ko-KR" altLang="en-US" sz="1400" b="1" dirty="0">
                <a:solidFill>
                  <a:srgbClr val="C00000"/>
                </a:solidFill>
                <a:latin typeface="맑은 고딕"/>
                <a:ea typeface="맑은 고딕"/>
                <a:cs typeface="맑은 고딕"/>
              </a:rPr>
              <a:t>포인트  </a:t>
            </a:r>
            <a:r>
              <a:rPr lang="ko-KR" altLang="en-US" sz="1400" b="0" dirty="0">
                <a:solidFill>
                  <a:srgbClr val="2F5597"/>
                </a:solidFill>
                <a:latin typeface="맑은 고딕"/>
                <a:ea typeface="맑은 고딕"/>
                <a:cs typeface="맑은 고딕"/>
              </a:rPr>
              <a:t>동사의 수 일치 (주어 This map 단수) · to부정사/동명사/동사원형 (be likely + to부정사)</a:t>
            </a:r>
            <a:endParaRPr lang="ko-KR" sz="1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25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250"/>
                                        <p:tgtEl>
                                          <p:spTgt spid="1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250"/>
                                        <p:tgtEl>
                                          <p:spTgt spid="1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fade">
                                      <p:cBhvr>
                                        <p:cTn id="16" dur="250"/>
                                        <p:tgtEl>
                                          <p:spTgt spid="1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250"/>
                                        <p:tgtEl>
                                          <p:spTgt spid="2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fade">
                                      <p:cBhvr>
                                        <p:cTn id="22" dur="25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5" grpId="0" animBg="1"/>
      <p:bldP spid="16" grpId="0" animBg="1"/>
      <p:bldP spid="20" grpId="0" animBg="1"/>
      <p:bldP spid="21" grpId="0" animBg="1"/>
    </p:bldLst>
  </p:timing>
</p:sld>
</file>

<file path=ppt/slides/slide2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8000"/>
            </a:avLst>
          </a:prstGeom>
          <a:solidFill>
            <a:srgbClr val="1E2A5A"/>
          </a:solidFill>
          <a:ln>
            <a:noFill/>
          </a:ln>
        </p:spPr>
        <p:txBody>
          <a:bodyPr wrap="square" lIns="45720" tIns="18288" rIns="45720" bIns="18288" anchor="ctr" rtlCol="0">
            <a:noAutofit/>
          </a:bodyPr>
          <a:lstStyle/>
          <a:p>
            <a:pPr algn="ctr">
              <a:lnSpc>
                <a:spcPts val="2000"/>
              </a:lnSpc>
              <a:spcBef>
                <a:spcPts val="0"/>
              </a:spcBef>
              <a:spcAft>
                <a:spcPts val="0"/>
              </a:spcAft>
              <a:buNone/>
            </a:pPr>
            <a:r>
              <a:rPr lang="en-US" altLang="en-US" sz="1700" b="1" dirty="0">
                <a:solidFill>
                  <a:srgbClr val="FFFFFF"/>
                </a:solidFill>
                <a:latin typeface="Calibri"/>
                <a:ea typeface="맑은 고딕"/>
                <a:cs typeface="Calibri"/>
              </a:rPr>
              <a:t>L7</a:t>
            </a:r>
            <a:endParaRPr lang="ko-KR" sz="1700"/>
          </a:p>
        </p:txBody>
      </p:sp>
      <p:sp>
        <p:nvSpPr>
          <p:cNvPr id="3" name="hdr_chip"/>
          <p:cNvSpPr/>
          <p:nvPr/>
        </p:nvSpPr>
        <p:spPr>
          <a:xfrm>
            <a:off x="1755648" y="274320"/>
            <a:ext cx="1371600" cy="493776"/>
          </a:xfrm>
          <a:prstGeom prst="roundRect">
            <a:avLst>
              <a:gd name="adj" fmla="val 8000"/>
            </a:avLst>
          </a:prstGeom>
          <a:solidFill>
            <a:srgbClr val="E6EAF4"/>
          </a:solidFill>
          <a:ln>
            <a:noFill/>
          </a:ln>
        </p:spPr>
        <p:txBody>
          <a:bodyPr wrap="square" lIns="27432" tIns="18288" rIns="27432" bIns="18288" anchor="ctr" rtlCol="0">
            <a:noAutofit/>
          </a:bodyPr>
          <a:lstStyle/>
          <a:p>
            <a:pPr algn="ctr">
              <a:lnSpc>
                <a:spcPts val="1700"/>
              </a:lnSpc>
              <a:spcBef>
                <a:spcPts val="0"/>
              </a:spcBef>
              <a:spcAft>
                <a:spcPts val="0"/>
              </a:spcAft>
              <a:buNone/>
            </a:pPr>
            <a:r>
              <a:rPr lang="ko-KR" altLang="en-US" sz="1400" b="1" dirty="0">
                <a:solidFill>
                  <a:srgbClr val="1E2A5A"/>
                </a:solidFill>
                <a:latin typeface="맑은 고딕"/>
                <a:ea typeface="맑은 고딕"/>
                <a:cs typeface="맑은 고딕"/>
              </a:rPr>
              <a:t>PART 5 · 10</a:t>
            </a:r>
            <a:endParaRPr lang="ko-KR" sz="1400"/>
          </a:p>
        </p:txBody>
      </p:sp>
      <p:sp>
        <p:nvSpPr>
          <p:cNvPr id="4" name="hdr_q"/>
          <p:cNvSpPr txBox="1"/>
          <p:nvPr/>
        </p:nvSpPr>
        <p:spPr>
          <a:xfrm>
            <a:off x="3246120" y="246888"/>
            <a:ext cx="8485632" cy="548640"/>
          </a:xfrm>
          <a:prstGeom prst="rect">
            <a:avLst/>
          </a:prstGeom>
          <a:noFill/>
        </p:spPr>
        <p:txBody>
          <a:bodyPr wrap="square" lIns="109728" tIns="54864" rIns="109728" bIns="54864" anchor="ctr" rtlCol="0">
            <a:noAutofit/>
          </a:bodyPr>
          <a:lstStyle/>
          <a:p>
            <a:pPr algn="l">
              <a:lnSpc>
                <a:spcPts val="2400"/>
              </a:lnSpc>
              <a:spcBef>
                <a:spcPts val="0"/>
              </a:spcBef>
              <a:spcAft>
                <a:spcPts val="0"/>
              </a:spcAft>
              <a:buNone/>
            </a:pPr>
            <a:r>
              <a:rPr lang="ko-KR" altLang="en-US" sz="2000" b="1" dirty="0">
                <a:solidFill>
                  <a:srgbClr val="1F2328"/>
                </a:solidFill>
                <a:latin typeface="맑은 고딕"/>
                <a:ea typeface="맑은 고딕"/>
                <a:cs typeface="맑은 고딕"/>
              </a:rPr>
              <a:t>[  ] 안에서 어법상 알맞은 것을 고르시오.</a:t>
            </a:r>
            <a:endParaRPr lang="ko-KR" sz="2000"/>
          </a:p>
        </p:txBody>
      </p:sp>
      <p:sp>
        <p:nvSpPr>
          <p:cNvPr id="5" name="ftr_exam"/>
          <p:cNvSpPr txBox="1"/>
          <p:nvPr/>
        </p:nvSpPr>
        <p:spPr>
          <a:xfrm>
            <a:off x="457200" y="6519672"/>
            <a:ext cx="5669280" cy="256032"/>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7</a:t>
            </a:r>
            <a:endParaRPr lang="ko-KR" sz="1000"/>
          </a:p>
        </p:txBody>
      </p:sp>
      <p:sp>
        <p:nvSpPr>
          <p:cNvPr id="6" name="ftr_hint"/>
          <p:cNvSpPr txBox="1"/>
          <p:nvPr/>
        </p:nvSpPr>
        <p:spPr>
          <a:xfrm>
            <a:off x="5971032" y="6519672"/>
            <a:ext cx="5760720" cy="256032"/>
          </a:xfrm>
          <a:prstGeom prst="rect">
            <a:avLst/>
          </a:prstGeom>
          <a:noFill/>
        </p:spPr>
        <p:txBody>
          <a:bodyPr wrap="square" lIns="0" tIns="0" rIns="0" bIns="0" anchor="t" rtlCol="0">
            <a:noAutofit/>
          </a:bodyPr>
          <a:lstStyle/>
          <a:p>
            <a:pPr algn="r">
              <a:lnSpc>
                <a:spcPts val="1200"/>
              </a:lnSpc>
              <a:spcBef>
                <a:spcPts val="0"/>
              </a:spcBef>
              <a:spcAft>
                <a:spcPts val="0"/>
              </a:spcAft>
              <a:buNone/>
            </a:pPr>
            <a:r>
              <a:rPr lang="ko-KR" altLang="en-US" sz="1000" b="0" dirty="0">
                <a:solidFill>
                  <a:srgbClr val="7A808C"/>
                </a:solidFill>
                <a:latin typeface="맑은 고딕"/>
                <a:ea typeface="맑은 고딕"/>
                <a:cs typeface="맑은 고딕"/>
              </a:rPr>
              <a:t>클릭 ① 정답(빨간색) + 문법 포인트 공개</a:t>
            </a:r>
            <a:endParaRPr lang="ko-KR" sz="1000"/>
          </a:p>
        </p:txBody>
      </p:sp>
      <p:sp>
        <p:nvSpPr>
          <p:cNvPr id="7" name="item_card_1"/>
          <p:cNvSpPr/>
          <p:nvPr/>
        </p:nvSpPr>
        <p:spPr>
          <a:xfrm>
            <a:off x="457200" y="950976"/>
            <a:ext cx="11274552" cy="1516634"/>
          </a:xfrm>
          <a:prstGeom prst="roundRect">
            <a:avLst>
              <a:gd name="adj" fmla="val 6000"/>
            </a:avLst>
          </a:prstGeom>
          <a:solidFill>
            <a:srgbClr val="F3F5F9"/>
          </a:solidFill>
          <a:ln w="12700">
            <a:solidFill>
              <a:srgbClr val="D9DFEA"/>
            </a:solidFill>
          </a:ln>
        </p:spPr>
        <p:txBody>
          <a:bodyPr rtlCol="0" anchor="ctr"/>
          <a:lstStyle/>
          <a:p>
            <a:pPr algn="ctr"/>
          </a:p>
        </p:txBody>
      </p:sp>
      <p:sp>
        <p:nvSpPr>
          <p:cNvPr id="8" name="kor_1"/>
          <p:cNvSpPr txBox="1"/>
          <p:nvPr/>
        </p:nvSpPr>
        <p:spPr>
          <a:xfrm>
            <a:off x="457200" y="1060704"/>
            <a:ext cx="11274552" cy="363728"/>
          </a:xfrm>
          <a:prstGeom prst="rect">
            <a:avLst/>
          </a:prstGeom>
          <a:noFill/>
        </p:spPr>
        <p:txBody>
          <a:bodyPr wrap="square" lIns="228600" tIns="54864" rIns="228600" bIns="54864" anchor="t" rtlCol="0">
            <a:noAutofit/>
          </a:bodyPr>
          <a:lstStyle/>
          <a:p>
            <a:pPr algn="l">
              <a:lnSpc>
                <a:spcPts val="2000"/>
              </a:lnSpc>
              <a:spcBef>
                <a:spcPts val="0"/>
              </a:spcBef>
              <a:spcAft>
                <a:spcPts val="0"/>
              </a:spcAft>
              <a:buNone/>
            </a:pPr>
            <a:r>
              <a:rPr lang="en-US" altLang="en-US" sz="1600" b="1" dirty="0">
                <a:solidFill>
                  <a:srgbClr val="1E2A5A"/>
                </a:solidFill>
                <a:latin typeface="Calibri"/>
                <a:ea typeface="맑은 고딕"/>
                <a:cs typeface="Calibri"/>
              </a:rPr>
              <a:t>27.  </a:t>
            </a:r>
            <a:r>
              <a:rPr lang="ko-KR" altLang="en-US" sz="1600" b="0" dirty="0">
                <a:solidFill>
                  <a:srgbClr val="3C4558"/>
                </a:solidFill>
                <a:latin typeface="맑은 고딕"/>
                <a:ea typeface="맑은 고딕"/>
                <a:cs typeface="맑은 고딕"/>
              </a:rPr>
              <a:t>경찰은 이 지도가 예측한 지역과 시간대에 집중함으로써 추가 범죄를 막을 수 있다.</a:t>
            </a:r>
            <a:endParaRPr lang="ko-KR" sz="1600"/>
          </a:p>
        </p:txBody>
      </p:sp>
      <p:sp>
        <p:nvSpPr>
          <p:cNvPr id="9" name="eng_1"/>
          <p:cNvSpPr txBox="1"/>
          <p:nvPr/>
        </p:nvSpPr>
        <p:spPr>
          <a:xfrm>
            <a:off x="457200" y="1369568"/>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solidFill>
                <a:latin typeface="Calibri"/>
                <a:ea typeface="맑은 고딕"/>
                <a:cs typeface="Calibri"/>
              </a:rPr>
              <a:t>Police can prevent further crime by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focus</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focusing</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on the areas and the times this map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predicts</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predict</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a:t>
            </a:r>
            <a:endParaRPr lang="ko-KR" sz="2000"/>
          </a:p>
        </p:txBody>
      </p:sp>
      <p:sp>
        <p:nvSpPr>
          <p:cNvPr id="10" name="rv_eng_1"/>
          <p:cNvSpPr txBox="1"/>
          <p:nvPr/>
        </p:nvSpPr>
        <p:spPr>
          <a:xfrm>
            <a:off x="457200" y="1369568"/>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alpha val="0"/>
                  </a:srgbClr>
                </a:solidFill>
                <a:latin typeface="Calibri"/>
                <a:ea typeface="맑은 고딕"/>
                <a:cs typeface="Calibri"/>
              </a:rPr>
              <a:t>Police can prevent further crime by </a:t>
            </a:r>
            <a:r>
              <a:rPr lang="en-US" altLang="en-US" sz="2000" b="1" dirty="0">
                <a:solidFill>
                  <a:srgbClr val="C00000">
                    <a:alpha val="0"/>
                  </a:srgbClr>
                </a:solidFill>
                <a:latin typeface="Calibri"/>
                <a:ea typeface="맑은 고딕"/>
                <a:cs typeface="Calibri"/>
              </a:rPr>
              <a:t>[ </a:t>
            </a:r>
            <a:r>
              <a:rPr lang="en-US" altLang="en-US" sz="2000" b="1" dirty="0">
                <a:solidFill>
                  <a:srgbClr val="C00000">
                    <a:alpha val="0"/>
                  </a:srgbClr>
                </a:solidFill>
                <a:latin typeface="Calibri"/>
                <a:ea typeface="맑은 고딕"/>
                <a:cs typeface="Calibri"/>
              </a:rPr>
              <a:t>focus</a:t>
            </a:r>
            <a:r>
              <a:rPr lang="en-US" altLang="en-US" sz="2000" b="1" dirty="0">
                <a:solidFill>
                  <a:srgbClr val="C00000">
                    <a:alpha val="0"/>
                  </a:srgbClr>
                </a:solidFill>
                <a:latin typeface="Calibri"/>
                <a:ea typeface="맑은 고딕"/>
                <a:cs typeface="Calibri"/>
              </a:rPr>
              <a:t> / </a:t>
            </a:r>
            <a:r>
              <a:rPr lang="en-US" altLang="en-US" sz="2000" b="1" dirty="0">
                <a:solidFill>
                  <a:srgbClr val="C00000"/>
                </a:solidFill>
                <a:latin typeface="Calibri"/>
                <a:ea typeface="맑은 고딕"/>
                <a:cs typeface="Calibri"/>
              </a:rPr>
              <a:t>focusing</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on the areas and the times this map </a:t>
            </a:r>
            <a:r>
              <a:rPr lang="en-US" altLang="en-US" sz="2000" b="1" dirty="0">
                <a:solidFill>
                  <a:srgbClr val="C00000">
                    <a:alpha val="0"/>
                  </a:srgbClr>
                </a:solidFill>
                <a:latin typeface="Calibri"/>
                <a:ea typeface="맑은 고딕"/>
                <a:cs typeface="Calibri"/>
              </a:rPr>
              <a:t>[ </a:t>
            </a:r>
            <a:r>
              <a:rPr lang="en-US" altLang="en-US" sz="2000" b="1" dirty="0">
                <a:solidFill>
                  <a:srgbClr val="C00000"/>
                </a:solidFill>
                <a:latin typeface="Calibri"/>
                <a:ea typeface="맑은 고딕"/>
                <a:cs typeface="Calibri"/>
              </a:rPr>
              <a:t>predicts</a:t>
            </a:r>
            <a:r>
              <a:rPr lang="en-US" altLang="en-US" sz="2000" b="1" dirty="0">
                <a:solidFill>
                  <a:srgbClr val="C00000">
                    <a:alpha val="0"/>
                  </a:srgbClr>
                </a:solidFill>
                <a:latin typeface="Calibri"/>
                <a:ea typeface="맑은 고딕"/>
                <a:cs typeface="Calibri"/>
              </a:rPr>
              <a:t> / </a:t>
            </a:r>
            <a:r>
              <a:rPr lang="en-US" altLang="en-US" sz="2000" b="1" dirty="0">
                <a:solidFill>
                  <a:srgbClr val="C00000">
                    <a:alpha val="0"/>
                  </a:srgbClr>
                </a:solidFill>
                <a:latin typeface="Calibri"/>
                <a:ea typeface="맑은 고딕"/>
                <a:cs typeface="Calibri"/>
              </a:rPr>
              <a:t>predict</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a:t>
            </a:r>
            <a:endParaRPr lang="ko-KR" sz="2000"/>
          </a:p>
        </p:txBody>
      </p:sp>
      <p:sp>
        <p:nvSpPr>
          <p:cNvPr id="11" name="rv_point_1"/>
          <p:cNvSpPr txBox="1"/>
          <p:nvPr/>
        </p:nvSpPr>
        <p:spPr>
          <a:xfrm>
            <a:off x="457200" y="2135632"/>
            <a:ext cx="11274552" cy="331978"/>
          </a:xfrm>
          <a:prstGeom prst="rect">
            <a:avLst/>
          </a:prstGeom>
          <a:noFill/>
        </p:spPr>
        <p:txBody>
          <a:bodyPr wrap="square" lIns="228600" tIns="54864" rIns="228600" bIns="54864" anchor="t" rtlCol="0">
            <a:noAutofit/>
          </a:bodyPr>
          <a:lstStyle/>
          <a:p>
            <a:pPr algn="l">
              <a:lnSpc>
                <a:spcPts val="1750"/>
              </a:lnSpc>
              <a:spcBef>
                <a:spcPts val="0"/>
              </a:spcBef>
              <a:spcAft>
                <a:spcPts val="0"/>
              </a:spcAft>
              <a:buNone/>
            </a:pPr>
            <a:r>
              <a:rPr lang="ko-KR" altLang="en-US" sz="1400" b="1" dirty="0">
                <a:solidFill>
                  <a:srgbClr val="C00000"/>
                </a:solidFill>
                <a:latin typeface="맑은 고딕"/>
                <a:ea typeface="맑은 고딕"/>
                <a:cs typeface="맑은 고딕"/>
              </a:rPr>
              <a:t>포인트  </a:t>
            </a:r>
            <a:r>
              <a:rPr lang="ko-KR" altLang="en-US" sz="1400" b="0" dirty="0">
                <a:solidFill>
                  <a:srgbClr val="2F5597"/>
                </a:solidFill>
                <a:latin typeface="맑은 고딕"/>
                <a:ea typeface="맑은 고딕"/>
                <a:cs typeface="맑은 고딕"/>
              </a:rPr>
              <a:t>to부정사/동명사/동사원형 (전치사 by + 동명사) · 동사의 수 일치 (주어 this map 단수)</a:t>
            </a:r>
            <a:endParaRPr lang="ko-KR" sz="1400"/>
          </a:p>
        </p:txBody>
      </p:sp>
      <p:sp>
        <p:nvSpPr>
          <p:cNvPr id="12" name="item_card_2"/>
          <p:cNvSpPr/>
          <p:nvPr/>
        </p:nvSpPr>
        <p:spPr>
          <a:xfrm>
            <a:off x="457200" y="2577338"/>
            <a:ext cx="11274552" cy="1161034"/>
          </a:xfrm>
          <a:prstGeom prst="roundRect">
            <a:avLst>
              <a:gd name="adj" fmla="val 6000"/>
            </a:avLst>
          </a:prstGeom>
          <a:solidFill>
            <a:srgbClr val="F3F5F9"/>
          </a:solidFill>
          <a:ln w="12700">
            <a:solidFill>
              <a:srgbClr val="D9DFEA"/>
            </a:solidFill>
          </a:ln>
        </p:spPr>
        <p:txBody>
          <a:bodyPr rtlCol="0" anchor="ctr"/>
          <a:lstStyle/>
          <a:p>
            <a:pPr algn="ctr"/>
          </a:p>
        </p:txBody>
      </p:sp>
      <p:sp>
        <p:nvSpPr>
          <p:cNvPr id="13" name="kor_2"/>
          <p:cNvSpPr txBox="1"/>
          <p:nvPr/>
        </p:nvSpPr>
        <p:spPr>
          <a:xfrm>
            <a:off x="457200" y="2687066"/>
            <a:ext cx="11274552" cy="363728"/>
          </a:xfrm>
          <a:prstGeom prst="rect">
            <a:avLst/>
          </a:prstGeom>
          <a:noFill/>
        </p:spPr>
        <p:txBody>
          <a:bodyPr wrap="square" lIns="228600" tIns="54864" rIns="228600" bIns="54864" anchor="t" rtlCol="0">
            <a:noAutofit/>
          </a:bodyPr>
          <a:lstStyle/>
          <a:p>
            <a:pPr algn="l">
              <a:lnSpc>
                <a:spcPts val="2000"/>
              </a:lnSpc>
              <a:spcBef>
                <a:spcPts val="0"/>
              </a:spcBef>
              <a:spcAft>
                <a:spcPts val="0"/>
              </a:spcAft>
              <a:buNone/>
            </a:pPr>
            <a:r>
              <a:rPr lang="en-US" altLang="en-US" sz="1600" b="1" dirty="0">
                <a:solidFill>
                  <a:srgbClr val="1E2A5A"/>
                </a:solidFill>
                <a:latin typeface="Calibri"/>
                <a:ea typeface="맑은 고딕"/>
                <a:cs typeface="Calibri"/>
              </a:rPr>
              <a:t>28.  </a:t>
            </a:r>
            <a:r>
              <a:rPr lang="ko-KR" altLang="en-US" sz="1600" b="0" dirty="0">
                <a:solidFill>
                  <a:srgbClr val="3C4558"/>
                </a:solidFill>
                <a:latin typeface="맑은 고딕"/>
                <a:ea typeface="맑은 고딕"/>
                <a:cs typeface="맑은 고딕"/>
              </a:rPr>
              <a:t>빅데이터는 이미 세상을 크게 바꾸어 놓았다.</a:t>
            </a:r>
            <a:endParaRPr lang="ko-KR" sz="1600"/>
          </a:p>
        </p:txBody>
      </p:sp>
      <p:sp>
        <p:nvSpPr>
          <p:cNvPr id="14" name="eng_2"/>
          <p:cNvSpPr txBox="1"/>
          <p:nvPr/>
        </p:nvSpPr>
        <p:spPr>
          <a:xfrm>
            <a:off x="457200" y="2995930"/>
            <a:ext cx="11274552" cy="4653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solidFill>
                <a:latin typeface="Calibri"/>
                <a:ea typeface="맑은 고딕"/>
                <a:cs typeface="Calibri"/>
              </a:rPr>
              <a:t>Big data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has</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have</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already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been changed</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changed</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the world greatly.</a:t>
            </a:r>
            <a:endParaRPr lang="ko-KR" sz="2000"/>
          </a:p>
        </p:txBody>
      </p:sp>
      <p:sp>
        <p:nvSpPr>
          <p:cNvPr id="15" name="rv_eng_2"/>
          <p:cNvSpPr txBox="1"/>
          <p:nvPr/>
        </p:nvSpPr>
        <p:spPr>
          <a:xfrm>
            <a:off x="457200" y="2995930"/>
            <a:ext cx="11274552" cy="4653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alpha val="0"/>
                  </a:srgbClr>
                </a:solidFill>
                <a:latin typeface="Calibri"/>
                <a:ea typeface="맑은 고딕"/>
                <a:cs typeface="Calibri"/>
              </a:rPr>
              <a:t>Big data </a:t>
            </a:r>
            <a:r>
              <a:rPr lang="en-US" altLang="en-US" sz="2000" b="1" dirty="0">
                <a:solidFill>
                  <a:srgbClr val="C00000">
                    <a:alpha val="0"/>
                  </a:srgbClr>
                </a:solidFill>
                <a:latin typeface="Calibri"/>
                <a:ea typeface="맑은 고딕"/>
                <a:cs typeface="Calibri"/>
              </a:rPr>
              <a:t>[ </a:t>
            </a:r>
            <a:r>
              <a:rPr lang="en-US" altLang="en-US" sz="2000" b="1" dirty="0">
                <a:solidFill>
                  <a:srgbClr val="C00000"/>
                </a:solidFill>
                <a:latin typeface="Calibri"/>
                <a:ea typeface="맑은 고딕"/>
                <a:cs typeface="Calibri"/>
              </a:rPr>
              <a:t>has</a:t>
            </a:r>
            <a:r>
              <a:rPr lang="en-US" altLang="en-US" sz="2000" b="1" dirty="0">
                <a:solidFill>
                  <a:srgbClr val="C00000">
                    <a:alpha val="0"/>
                  </a:srgbClr>
                </a:solidFill>
                <a:latin typeface="Calibri"/>
                <a:ea typeface="맑은 고딕"/>
                <a:cs typeface="Calibri"/>
              </a:rPr>
              <a:t> / </a:t>
            </a:r>
            <a:r>
              <a:rPr lang="en-US" altLang="en-US" sz="2000" b="1" dirty="0">
                <a:solidFill>
                  <a:srgbClr val="C00000">
                    <a:alpha val="0"/>
                  </a:srgbClr>
                </a:solidFill>
                <a:latin typeface="Calibri"/>
                <a:ea typeface="맑은 고딕"/>
                <a:cs typeface="Calibri"/>
              </a:rPr>
              <a:t>have</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already </a:t>
            </a:r>
            <a:r>
              <a:rPr lang="en-US" altLang="en-US" sz="2000" b="1" dirty="0">
                <a:solidFill>
                  <a:srgbClr val="C00000">
                    <a:alpha val="0"/>
                  </a:srgbClr>
                </a:solidFill>
                <a:latin typeface="Calibri"/>
                <a:ea typeface="맑은 고딕"/>
                <a:cs typeface="Calibri"/>
              </a:rPr>
              <a:t>[ </a:t>
            </a:r>
            <a:r>
              <a:rPr lang="en-US" altLang="en-US" sz="2000" b="1" dirty="0">
                <a:solidFill>
                  <a:srgbClr val="C00000">
                    <a:alpha val="0"/>
                  </a:srgbClr>
                </a:solidFill>
                <a:latin typeface="Calibri"/>
                <a:ea typeface="맑은 고딕"/>
                <a:cs typeface="Calibri"/>
              </a:rPr>
              <a:t>been changed</a:t>
            </a:r>
            <a:r>
              <a:rPr lang="en-US" altLang="en-US" sz="2000" b="1" dirty="0">
                <a:solidFill>
                  <a:srgbClr val="C00000">
                    <a:alpha val="0"/>
                  </a:srgbClr>
                </a:solidFill>
                <a:latin typeface="Calibri"/>
                <a:ea typeface="맑은 고딕"/>
                <a:cs typeface="Calibri"/>
              </a:rPr>
              <a:t> / </a:t>
            </a:r>
            <a:r>
              <a:rPr lang="en-US" altLang="en-US" sz="2000" b="1" dirty="0">
                <a:solidFill>
                  <a:srgbClr val="C00000"/>
                </a:solidFill>
                <a:latin typeface="Calibri"/>
                <a:ea typeface="맑은 고딕"/>
                <a:cs typeface="Calibri"/>
              </a:rPr>
              <a:t>changed</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the world greatly.</a:t>
            </a:r>
            <a:endParaRPr lang="ko-KR" sz="2000"/>
          </a:p>
        </p:txBody>
      </p:sp>
      <p:sp>
        <p:nvSpPr>
          <p:cNvPr id="16" name="rv_point_2"/>
          <p:cNvSpPr txBox="1"/>
          <p:nvPr/>
        </p:nvSpPr>
        <p:spPr>
          <a:xfrm>
            <a:off x="457200" y="3406394"/>
            <a:ext cx="11274552" cy="331978"/>
          </a:xfrm>
          <a:prstGeom prst="rect">
            <a:avLst/>
          </a:prstGeom>
          <a:noFill/>
        </p:spPr>
        <p:txBody>
          <a:bodyPr wrap="square" lIns="228600" tIns="54864" rIns="228600" bIns="54864" anchor="t" rtlCol="0">
            <a:noAutofit/>
          </a:bodyPr>
          <a:lstStyle/>
          <a:p>
            <a:pPr algn="l">
              <a:lnSpc>
                <a:spcPts val="1750"/>
              </a:lnSpc>
              <a:spcBef>
                <a:spcPts val="0"/>
              </a:spcBef>
              <a:spcAft>
                <a:spcPts val="0"/>
              </a:spcAft>
              <a:buNone/>
            </a:pPr>
            <a:r>
              <a:rPr lang="ko-KR" altLang="en-US" sz="1400" b="1" dirty="0">
                <a:solidFill>
                  <a:srgbClr val="C00000"/>
                </a:solidFill>
                <a:latin typeface="맑은 고딕"/>
                <a:ea typeface="맑은 고딕"/>
                <a:cs typeface="맑은 고딕"/>
              </a:rPr>
              <a:t>포인트  </a:t>
            </a:r>
            <a:r>
              <a:rPr lang="ko-KR" altLang="en-US" sz="1400" b="0" dirty="0">
                <a:solidFill>
                  <a:srgbClr val="2F5597"/>
                </a:solidFill>
                <a:latin typeface="맑은 고딕"/>
                <a:ea typeface="맑은 고딕"/>
                <a:cs typeface="맑은 고딕"/>
              </a:rPr>
              <a:t>동사의 수 일치 (주어 Big data 단수) · 수동태(능동/수동 구별) (목적어 the world가 있으므로 능동)</a:t>
            </a:r>
            <a:endParaRPr lang="ko-KR" sz="1400"/>
          </a:p>
        </p:txBody>
      </p:sp>
      <p:sp>
        <p:nvSpPr>
          <p:cNvPr id="17" name="item_card_3"/>
          <p:cNvSpPr/>
          <p:nvPr/>
        </p:nvSpPr>
        <p:spPr>
          <a:xfrm>
            <a:off x="457200" y="3848100"/>
            <a:ext cx="11274552" cy="1161034"/>
          </a:xfrm>
          <a:prstGeom prst="roundRect">
            <a:avLst>
              <a:gd name="adj" fmla="val 6000"/>
            </a:avLst>
          </a:prstGeom>
          <a:solidFill>
            <a:srgbClr val="F3F5F9"/>
          </a:solidFill>
          <a:ln w="12700">
            <a:solidFill>
              <a:srgbClr val="D9DFEA"/>
            </a:solidFill>
          </a:ln>
        </p:spPr>
        <p:txBody>
          <a:bodyPr rtlCol="0" anchor="ctr"/>
          <a:lstStyle/>
          <a:p>
            <a:pPr algn="ctr"/>
          </a:p>
        </p:txBody>
      </p:sp>
      <p:sp>
        <p:nvSpPr>
          <p:cNvPr id="18" name="kor_3"/>
          <p:cNvSpPr txBox="1"/>
          <p:nvPr/>
        </p:nvSpPr>
        <p:spPr>
          <a:xfrm>
            <a:off x="457200" y="3957828"/>
            <a:ext cx="11274552" cy="363728"/>
          </a:xfrm>
          <a:prstGeom prst="rect">
            <a:avLst/>
          </a:prstGeom>
          <a:noFill/>
        </p:spPr>
        <p:txBody>
          <a:bodyPr wrap="square" lIns="228600" tIns="54864" rIns="228600" bIns="54864" anchor="t" rtlCol="0">
            <a:noAutofit/>
          </a:bodyPr>
          <a:lstStyle/>
          <a:p>
            <a:pPr algn="l">
              <a:lnSpc>
                <a:spcPts val="2000"/>
              </a:lnSpc>
              <a:spcBef>
                <a:spcPts val="0"/>
              </a:spcBef>
              <a:spcAft>
                <a:spcPts val="0"/>
              </a:spcAft>
              <a:buNone/>
            </a:pPr>
            <a:r>
              <a:rPr lang="en-US" altLang="en-US" sz="1600" b="1" dirty="0">
                <a:solidFill>
                  <a:srgbClr val="1E2A5A"/>
                </a:solidFill>
                <a:latin typeface="Calibri"/>
                <a:ea typeface="맑은 고딕"/>
                <a:cs typeface="Calibri"/>
              </a:rPr>
              <a:t>29.  </a:t>
            </a:r>
            <a:r>
              <a:rPr lang="ko-KR" altLang="en-US" sz="1600" b="0" dirty="0">
                <a:solidFill>
                  <a:srgbClr val="3C4558"/>
                </a:solidFill>
                <a:latin typeface="맑은 고딕"/>
                <a:ea typeface="맑은 고딕"/>
                <a:cs typeface="맑은 고딕"/>
              </a:rPr>
              <a:t>그렇다면 빅데이터 산업은 앞으로 어디로 나아갈까?</a:t>
            </a:r>
            <a:endParaRPr lang="ko-KR" sz="1600"/>
          </a:p>
        </p:txBody>
      </p:sp>
      <p:sp>
        <p:nvSpPr>
          <p:cNvPr id="19" name="eng_3"/>
          <p:cNvSpPr txBox="1"/>
          <p:nvPr/>
        </p:nvSpPr>
        <p:spPr>
          <a:xfrm>
            <a:off x="457200" y="4266692"/>
            <a:ext cx="11274552" cy="4653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solidFill>
                <a:latin typeface="Calibri"/>
                <a:ea typeface="맑은 고딕"/>
                <a:cs typeface="Calibri"/>
              </a:rPr>
              <a:t>So where will the big data industry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to go</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go</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from here?</a:t>
            </a:r>
            <a:endParaRPr lang="ko-KR" sz="2000"/>
          </a:p>
        </p:txBody>
      </p:sp>
      <p:sp>
        <p:nvSpPr>
          <p:cNvPr id="20" name="rv_eng_3"/>
          <p:cNvSpPr txBox="1"/>
          <p:nvPr/>
        </p:nvSpPr>
        <p:spPr>
          <a:xfrm>
            <a:off x="457200" y="4266692"/>
            <a:ext cx="11274552" cy="4653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alpha val="0"/>
                  </a:srgbClr>
                </a:solidFill>
                <a:latin typeface="Calibri"/>
                <a:ea typeface="맑은 고딕"/>
                <a:cs typeface="Calibri"/>
              </a:rPr>
              <a:t>So where will the big data industry </a:t>
            </a:r>
            <a:r>
              <a:rPr lang="en-US" altLang="en-US" sz="2000" b="1" dirty="0">
                <a:solidFill>
                  <a:srgbClr val="C00000">
                    <a:alpha val="0"/>
                  </a:srgbClr>
                </a:solidFill>
                <a:latin typeface="Calibri"/>
                <a:ea typeface="맑은 고딕"/>
                <a:cs typeface="Calibri"/>
              </a:rPr>
              <a:t>[ </a:t>
            </a:r>
            <a:r>
              <a:rPr lang="en-US" altLang="en-US" sz="2000" b="1" dirty="0">
                <a:solidFill>
                  <a:srgbClr val="C00000">
                    <a:alpha val="0"/>
                  </a:srgbClr>
                </a:solidFill>
                <a:latin typeface="Calibri"/>
                <a:ea typeface="맑은 고딕"/>
                <a:cs typeface="Calibri"/>
              </a:rPr>
              <a:t>to go</a:t>
            </a:r>
            <a:r>
              <a:rPr lang="en-US" altLang="en-US" sz="2000" b="1" dirty="0">
                <a:solidFill>
                  <a:srgbClr val="C00000">
                    <a:alpha val="0"/>
                  </a:srgbClr>
                </a:solidFill>
                <a:latin typeface="Calibri"/>
                <a:ea typeface="맑은 고딕"/>
                <a:cs typeface="Calibri"/>
              </a:rPr>
              <a:t> / </a:t>
            </a:r>
            <a:r>
              <a:rPr lang="en-US" altLang="en-US" sz="2000" b="1" dirty="0">
                <a:solidFill>
                  <a:srgbClr val="C00000"/>
                </a:solidFill>
                <a:latin typeface="Calibri"/>
                <a:ea typeface="맑은 고딕"/>
                <a:cs typeface="Calibri"/>
              </a:rPr>
              <a:t>go</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from here?</a:t>
            </a:r>
            <a:endParaRPr lang="ko-KR" sz="2000"/>
          </a:p>
        </p:txBody>
      </p:sp>
      <p:sp>
        <p:nvSpPr>
          <p:cNvPr id="21" name="rv_point_3"/>
          <p:cNvSpPr txBox="1"/>
          <p:nvPr/>
        </p:nvSpPr>
        <p:spPr>
          <a:xfrm>
            <a:off x="457200" y="4677156"/>
            <a:ext cx="11274552" cy="331978"/>
          </a:xfrm>
          <a:prstGeom prst="rect">
            <a:avLst/>
          </a:prstGeom>
          <a:noFill/>
        </p:spPr>
        <p:txBody>
          <a:bodyPr wrap="square" lIns="228600" tIns="54864" rIns="228600" bIns="54864" anchor="t" rtlCol="0">
            <a:noAutofit/>
          </a:bodyPr>
          <a:lstStyle/>
          <a:p>
            <a:pPr algn="l">
              <a:lnSpc>
                <a:spcPts val="1750"/>
              </a:lnSpc>
              <a:spcBef>
                <a:spcPts val="0"/>
              </a:spcBef>
              <a:spcAft>
                <a:spcPts val="0"/>
              </a:spcAft>
              <a:buNone/>
            </a:pPr>
            <a:r>
              <a:rPr lang="ko-KR" altLang="en-US" sz="1400" b="1" dirty="0">
                <a:solidFill>
                  <a:srgbClr val="C00000"/>
                </a:solidFill>
                <a:latin typeface="맑은 고딕"/>
                <a:ea typeface="맑은 고딕"/>
                <a:cs typeface="맑은 고딕"/>
              </a:rPr>
              <a:t>포인트  </a:t>
            </a:r>
            <a:r>
              <a:rPr lang="ko-KR" altLang="en-US" sz="1400" b="0" dirty="0">
                <a:solidFill>
                  <a:srgbClr val="2F5597"/>
                </a:solidFill>
                <a:latin typeface="맑은 고딕"/>
                <a:ea typeface="맑은 고딕"/>
                <a:cs typeface="맑은 고딕"/>
              </a:rPr>
              <a:t>to부정사/동명사/동사원형 (조동사 will + 동사원형)</a:t>
            </a:r>
            <a:endParaRPr lang="ko-KR" sz="1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25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250"/>
                                        <p:tgtEl>
                                          <p:spTgt spid="1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250"/>
                                        <p:tgtEl>
                                          <p:spTgt spid="1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fade">
                                      <p:cBhvr>
                                        <p:cTn id="16" dur="250"/>
                                        <p:tgtEl>
                                          <p:spTgt spid="1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250"/>
                                        <p:tgtEl>
                                          <p:spTgt spid="2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fade">
                                      <p:cBhvr>
                                        <p:cTn id="22" dur="25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5" grpId="0" animBg="1"/>
      <p:bldP spid="16" grpId="0" animBg="1"/>
      <p:bldP spid="20" grpId="0" animBg="1"/>
      <p:bldP spid="21" grpId="0" animBg="1"/>
    </p:bldLst>
  </p:timing>
</p:sld>
</file>

<file path=ppt/slides/slide2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8000"/>
            </a:avLst>
          </a:prstGeom>
          <a:solidFill>
            <a:srgbClr val="1E2A5A"/>
          </a:solidFill>
          <a:ln>
            <a:noFill/>
          </a:ln>
        </p:spPr>
        <p:txBody>
          <a:bodyPr wrap="square" lIns="45720" tIns="18288" rIns="45720" bIns="18288" anchor="ctr" rtlCol="0">
            <a:noAutofit/>
          </a:bodyPr>
          <a:lstStyle/>
          <a:p>
            <a:pPr algn="ctr">
              <a:lnSpc>
                <a:spcPts val="2000"/>
              </a:lnSpc>
              <a:spcBef>
                <a:spcPts val="0"/>
              </a:spcBef>
              <a:spcAft>
                <a:spcPts val="0"/>
              </a:spcAft>
              <a:buNone/>
            </a:pPr>
            <a:r>
              <a:rPr lang="en-US" altLang="en-US" sz="1700" b="1" dirty="0">
                <a:solidFill>
                  <a:srgbClr val="FFFFFF"/>
                </a:solidFill>
                <a:latin typeface="Calibri"/>
                <a:ea typeface="맑은 고딕"/>
                <a:cs typeface="Calibri"/>
              </a:rPr>
              <a:t>L7</a:t>
            </a:r>
            <a:endParaRPr lang="ko-KR" sz="1700"/>
          </a:p>
        </p:txBody>
      </p:sp>
      <p:sp>
        <p:nvSpPr>
          <p:cNvPr id="3" name="hdr_chip"/>
          <p:cNvSpPr/>
          <p:nvPr/>
        </p:nvSpPr>
        <p:spPr>
          <a:xfrm>
            <a:off x="1755648" y="274320"/>
            <a:ext cx="1371600" cy="493776"/>
          </a:xfrm>
          <a:prstGeom prst="roundRect">
            <a:avLst>
              <a:gd name="adj" fmla="val 8000"/>
            </a:avLst>
          </a:prstGeom>
          <a:solidFill>
            <a:srgbClr val="E6EAF4"/>
          </a:solidFill>
          <a:ln>
            <a:noFill/>
          </a:ln>
        </p:spPr>
        <p:txBody>
          <a:bodyPr wrap="square" lIns="27432" tIns="18288" rIns="27432" bIns="18288" anchor="ctr" rtlCol="0">
            <a:noAutofit/>
          </a:bodyPr>
          <a:lstStyle/>
          <a:p>
            <a:pPr algn="ctr">
              <a:lnSpc>
                <a:spcPts val="1700"/>
              </a:lnSpc>
              <a:spcBef>
                <a:spcPts val="0"/>
              </a:spcBef>
              <a:spcAft>
                <a:spcPts val="0"/>
              </a:spcAft>
              <a:buNone/>
            </a:pPr>
            <a:r>
              <a:rPr lang="ko-KR" altLang="en-US" sz="1400" b="1" dirty="0">
                <a:solidFill>
                  <a:srgbClr val="1E2A5A"/>
                </a:solidFill>
                <a:latin typeface="맑은 고딕"/>
                <a:ea typeface="맑은 고딕"/>
                <a:cs typeface="맑은 고딕"/>
              </a:rPr>
              <a:t>PART 5 · 11</a:t>
            </a:r>
            <a:endParaRPr lang="ko-KR" sz="1400"/>
          </a:p>
        </p:txBody>
      </p:sp>
      <p:sp>
        <p:nvSpPr>
          <p:cNvPr id="4" name="hdr_q"/>
          <p:cNvSpPr txBox="1"/>
          <p:nvPr/>
        </p:nvSpPr>
        <p:spPr>
          <a:xfrm>
            <a:off x="3246120" y="246888"/>
            <a:ext cx="8485632" cy="548640"/>
          </a:xfrm>
          <a:prstGeom prst="rect">
            <a:avLst/>
          </a:prstGeom>
          <a:noFill/>
        </p:spPr>
        <p:txBody>
          <a:bodyPr wrap="square" lIns="109728" tIns="54864" rIns="109728" bIns="54864" anchor="ctr" rtlCol="0">
            <a:noAutofit/>
          </a:bodyPr>
          <a:lstStyle/>
          <a:p>
            <a:pPr algn="l">
              <a:lnSpc>
                <a:spcPts val="2400"/>
              </a:lnSpc>
              <a:spcBef>
                <a:spcPts val="0"/>
              </a:spcBef>
              <a:spcAft>
                <a:spcPts val="0"/>
              </a:spcAft>
              <a:buNone/>
            </a:pPr>
            <a:r>
              <a:rPr lang="ko-KR" altLang="en-US" sz="2000" b="1" dirty="0">
                <a:solidFill>
                  <a:srgbClr val="1F2328"/>
                </a:solidFill>
                <a:latin typeface="맑은 고딕"/>
                <a:ea typeface="맑은 고딕"/>
                <a:cs typeface="맑은 고딕"/>
              </a:rPr>
              <a:t>[  ] 안에서 어법상 알맞은 것을 고르시오.</a:t>
            </a:r>
            <a:endParaRPr lang="ko-KR" sz="2000"/>
          </a:p>
        </p:txBody>
      </p:sp>
      <p:sp>
        <p:nvSpPr>
          <p:cNvPr id="5" name="ftr_exam"/>
          <p:cNvSpPr txBox="1"/>
          <p:nvPr/>
        </p:nvSpPr>
        <p:spPr>
          <a:xfrm>
            <a:off x="457200" y="6519672"/>
            <a:ext cx="5669280" cy="256032"/>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7</a:t>
            </a:r>
            <a:endParaRPr lang="ko-KR" sz="1000"/>
          </a:p>
        </p:txBody>
      </p:sp>
      <p:sp>
        <p:nvSpPr>
          <p:cNvPr id="6" name="ftr_hint"/>
          <p:cNvSpPr txBox="1"/>
          <p:nvPr/>
        </p:nvSpPr>
        <p:spPr>
          <a:xfrm>
            <a:off x="5971032" y="6519672"/>
            <a:ext cx="5760720" cy="256032"/>
          </a:xfrm>
          <a:prstGeom prst="rect">
            <a:avLst/>
          </a:prstGeom>
          <a:noFill/>
        </p:spPr>
        <p:txBody>
          <a:bodyPr wrap="square" lIns="0" tIns="0" rIns="0" bIns="0" anchor="t" rtlCol="0">
            <a:noAutofit/>
          </a:bodyPr>
          <a:lstStyle/>
          <a:p>
            <a:pPr algn="r">
              <a:lnSpc>
                <a:spcPts val="1200"/>
              </a:lnSpc>
              <a:spcBef>
                <a:spcPts val="0"/>
              </a:spcBef>
              <a:spcAft>
                <a:spcPts val="0"/>
              </a:spcAft>
              <a:buNone/>
            </a:pPr>
            <a:r>
              <a:rPr lang="ko-KR" altLang="en-US" sz="1000" b="0" dirty="0">
                <a:solidFill>
                  <a:srgbClr val="7A808C"/>
                </a:solidFill>
                <a:latin typeface="맑은 고딕"/>
                <a:ea typeface="맑은 고딕"/>
                <a:cs typeface="맑은 고딕"/>
              </a:rPr>
              <a:t>클릭 ① 정답(빨간색) + 문법 포인트 공개</a:t>
            </a:r>
            <a:endParaRPr lang="ko-KR" sz="1000"/>
          </a:p>
        </p:txBody>
      </p:sp>
      <p:sp>
        <p:nvSpPr>
          <p:cNvPr id="7" name="item_card_1"/>
          <p:cNvSpPr/>
          <p:nvPr/>
        </p:nvSpPr>
        <p:spPr>
          <a:xfrm>
            <a:off x="457200" y="950976"/>
            <a:ext cx="11274552" cy="1770633"/>
          </a:xfrm>
          <a:prstGeom prst="roundRect">
            <a:avLst>
              <a:gd name="adj" fmla="val 6000"/>
            </a:avLst>
          </a:prstGeom>
          <a:solidFill>
            <a:srgbClr val="F3F5F9"/>
          </a:solidFill>
          <a:ln w="12700">
            <a:solidFill>
              <a:srgbClr val="D9DFEA"/>
            </a:solidFill>
          </a:ln>
        </p:spPr>
        <p:txBody>
          <a:bodyPr rtlCol="0" anchor="ctr"/>
          <a:lstStyle/>
          <a:p>
            <a:pPr algn="ctr"/>
          </a:p>
        </p:txBody>
      </p:sp>
      <p:sp>
        <p:nvSpPr>
          <p:cNvPr id="8" name="kor_1"/>
          <p:cNvSpPr txBox="1"/>
          <p:nvPr/>
        </p:nvSpPr>
        <p:spPr>
          <a:xfrm>
            <a:off x="457200" y="1060704"/>
            <a:ext cx="11274552" cy="617728"/>
          </a:xfrm>
          <a:prstGeom prst="rect">
            <a:avLst/>
          </a:prstGeom>
          <a:noFill/>
        </p:spPr>
        <p:txBody>
          <a:bodyPr wrap="square" lIns="228600" tIns="54864" rIns="228600" bIns="54864" anchor="t" rtlCol="0">
            <a:noAutofit/>
          </a:bodyPr>
          <a:lstStyle/>
          <a:p>
            <a:pPr algn="l">
              <a:lnSpc>
                <a:spcPts val="2000"/>
              </a:lnSpc>
              <a:spcBef>
                <a:spcPts val="0"/>
              </a:spcBef>
              <a:spcAft>
                <a:spcPts val="0"/>
              </a:spcAft>
              <a:buNone/>
            </a:pPr>
            <a:r>
              <a:rPr lang="en-US" altLang="en-US" sz="1600" b="1" dirty="0">
                <a:solidFill>
                  <a:srgbClr val="1E2A5A"/>
                </a:solidFill>
                <a:latin typeface="Calibri"/>
                <a:ea typeface="맑은 고딕"/>
                <a:cs typeface="Calibri"/>
              </a:rPr>
              <a:t>30.  </a:t>
            </a:r>
            <a:r>
              <a:rPr lang="ko-KR" altLang="en-US" sz="1600" b="0" dirty="0">
                <a:solidFill>
                  <a:srgbClr val="3C4558"/>
                </a:solidFill>
                <a:latin typeface="맑은 고딕"/>
                <a:ea typeface="맑은 고딕"/>
                <a:cs typeface="맑은 고딕"/>
              </a:rPr>
              <a:t>확실히 아는 사람은 없지만, 전문가들은 빅데이터가 우리 삶에서 점점 더 중요한 역할을 하게 될 것이라는 데 의견을 같이한다.</a:t>
            </a:r>
            <a:endParaRPr lang="ko-KR" sz="1600"/>
          </a:p>
        </p:txBody>
      </p:sp>
      <p:sp>
        <p:nvSpPr>
          <p:cNvPr id="9" name="eng_1"/>
          <p:cNvSpPr txBox="1"/>
          <p:nvPr/>
        </p:nvSpPr>
        <p:spPr>
          <a:xfrm>
            <a:off x="457200" y="1623568"/>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solidFill>
                <a:latin typeface="Calibri"/>
                <a:ea typeface="맑은 고딕"/>
                <a:cs typeface="Calibri"/>
              </a:rPr>
              <a:t>Nobody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knows</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know</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for sure, but experts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agrees</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agree</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that big data will play a more and more important role in our lives.</a:t>
            </a:r>
            <a:endParaRPr lang="ko-KR" sz="2000"/>
          </a:p>
        </p:txBody>
      </p:sp>
      <p:sp>
        <p:nvSpPr>
          <p:cNvPr id="10" name="rv_eng_1"/>
          <p:cNvSpPr txBox="1"/>
          <p:nvPr/>
        </p:nvSpPr>
        <p:spPr>
          <a:xfrm>
            <a:off x="457200" y="1623568"/>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alpha val="0"/>
                  </a:srgbClr>
                </a:solidFill>
                <a:latin typeface="Calibri"/>
                <a:ea typeface="맑은 고딕"/>
                <a:cs typeface="Calibri"/>
              </a:rPr>
              <a:t>Nobody </a:t>
            </a:r>
            <a:r>
              <a:rPr lang="en-US" altLang="en-US" sz="2000" b="1" dirty="0">
                <a:solidFill>
                  <a:srgbClr val="C00000">
                    <a:alpha val="0"/>
                  </a:srgbClr>
                </a:solidFill>
                <a:latin typeface="Calibri"/>
                <a:ea typeface="맑은 고딕"/>
                <a:cs typeface="Calibri"/>
              </a:rPr>
              <a:t>[ </a:t>
            </a:r>
            <a:r>
              <a:rPr lang="en-US" altLang="en-US" sz="2000" b="1" dirty="0">
                <a:solidFill>
                  <a:srgbClr val="C00000"/>
                </a:solidFill>
                <a:latin typeface="Calibri"/>
                <a:ea typeface="맑은 고딕"/>
                <a:cs typeface="Calibri"/>
              </a:rPr>
              <a:t>knows</a:t>
            </a:r>
            <a:r>
              <a:rPr lang="en-US" altLang="en-US" sz="2000" b="1" dirty="0">
                <a:solidFill>
                  <a:srgbClr val="C00000">
                    <a:alpha val="0"/>
                  </a:srgbClr>
                </a:solidFill>
                <a:latin typeface="Calibri"/>
                <a:ea typeface="맑은 고딕"/>
                <a:cs typeface="Calibri"/>
              </a:rPr>
              <a:t> / </a:t>
            </a:r>
            <a:r>
              <a:rPr lang="en-US" altLang="en-US" sz="2000" b="1" dirty="0">
                <a:solidFill>
                  <a:srgbClr val="C00000">
                    <a:alpha val="0"/>
                  </a:srgbClr>
                </a:solidFill>
                <a:latin typeface="Calibri"/>
                <a:ea typeface="맑은 고딕"/>
                <a:cs typeface="Calibri"/>
              </a:rPr>
              <a:t>know</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for sure, but experts </a:t>
            </a:r>
            <a:r>
              <a:rPr lang="en-US" altLang="en-US" sz="2000" b="1" dirty="0">
                <a:solidFill>
                  <a:srgbClr val="C00000">
                    <a:alpha val="0"/>
                  </a:srgbClr>
                </a:solidFill>
                <a:latin typeface="Calibri"/>
                <a:ea typeface="맑은 고딕"/>
                <a:cs typeface="Calibri"/>
              </a:rPr>
              <a:t>[ </a:t>
            </a:r>
            <a:r>
              <a:rPr lang="en-US" altLang="en-US" sz="2000" b="1" dirty="0">
                <a:solidFill>
                  <a:srgbClr val="C00000">
                    <a:alpha val="0"/>
                  </a:srgbClr>
                </a:solidFill>
                <a:latin typeface="Calibri"/>
                <a:ea typeface="맑은 고딕"/>
                <a:cs typeface="Calibri"/>
              </a:rPr>
              <a:t>agrees</a:t>
            </a:r>
            <a:r>
              <a:rPr lang="en-US" altLang="en-US" sz="2000" b="1" dirty="0">
                <a:solidFill>
                  <a:srgbClr val="C00000">
                    <a:alpha val="0"/>
                  </a:srgbClr>
                </a:solidFill>
                <a:latin typeface="Calibri"/>
                <a:ea typeface="맑은 고딕"/>
                <a:cs typeface="Calibri"/>
              </a:rPr>
              <a:t> / </a:t>
            </a:r>
            <a:r>
              <a:rPr lang="en-US" altLang="en-US" sz="2000" b="1" dirty="0">
                <a:solidFill>
                  <a:srgbClr val="C00000"/>
                </a:solidFill>
                <a:latin typeface="Calibri"/>
                <a:ea typeface="맑은 고딕"/>
                <a:cs typeface="Calibri"/>
              </a:rPr>
              <a:t>agree</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that big data will play a more and more important role in our lives.</a:t>
            </a:r>
            <a:endParaRPr lang="ko-KR" sz="2000"/>
          </a:p>
        </p:txBody>
      </p:sp>
      <p:sp>
        <p:nvSpPr>
          <p:cNvPr id="11" name="rv_point_1"/>
          <p:cNvSpPr txBox="1"/>
          <p:nvPr/>
        </p:nvSpPr>
        <p:spPr>
          <a:xfrm>
            <a:off x="457200" y="2389632"/>
            <a:ext cx="11274552" cy="331978"/>
          </a:xfrm>
          <a:prstGeom prst="rect">
            <a:avLst/>
          </a:prstGeom>
          <a:noFill/>
        </p:spPr>
        <p:txBody>
          <a:bodyPr wrap="square" lIns="228600" tIns="54864" rIns="228600" bIns="54864" anchor="t" rtlCol="0">
            <a:noAutofit/>
          </a:bodyPr>
          <a:lstStyle/>
          <a:p>
            <a:pPr algn="l">
              <a:lnSpc>
                <a:spcPts val="1750"/>
              </a:lnSpc>
              <a:spcBef>
                <a:spcPts val="0"/>
              </a:spcBef>
              <a:spcAft>
                <a:spcPts val="0"/>
              </a:spcAft>
              <a:buNone/>
            </a:pPr>
            <a:r>
              <a:rPr lang="ko-KR" altLang="en-US" sz="1400" b="1" dirty="0">
                <a:solidFill>
                  <a:srgbClr val="C00000"/>
                </a:solidFill>
                <a:latin typeface="맑은 고딕"/>
                <a:ea typeface="맑은 고딕"/>
                <a:cs typeface="맑은 고딕"/>
              </a:rPr>
              <a:t>포인트  </a:t>
            </a:r>
            <a:r>
              <a:rPr lang="ko-KR" altLang="en-US" sz="1400" b="0" dirty="0">
                <a:solidFill>
                  <a:srgbClr val="2F5597"/>
                </a:solidFill>
                <a:latin typeface="맑은 고딕"/>
                <a:ea typeface="맑은 고딕"/>
                <a:cs typeface="맑은 고딕"/>
              </a:rPr>
              <a:t>동사의 수 일치 (주어 Nobody 단수) · 동사의 수 일치 (주어 experts 복수)</a:t>
            </a:r>
            <a:endParaRPr lang="ko-KR" sz="1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25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25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Lst>
  </p:timing>
</p:sld>
</file>

<file path=ppt/slides/slide226.xml><?xml version="1.0" encoding="utf-8"?>
<p:sld xmlns:a="http://schemas.openxmlformats.org/drawingml/2006/main" xmlns:p="http://schemas.openxmlformats.org/presentationml/2006/main" xmlns:r="http://schemas.openxmlformats.org/officeDocument/2006/relationships">
  <p:cSld>
    <p:bg>
      <p:bgPr>
        <a:solidFill>
          <a:srgbClr val="1E2A5A"/>
        </a:solidFill>
        <a:effectLst/>
      </p:bgPr>
    </p:bg>
    <p:spTree>
      <p:nvGrpSpPr>
        <p:cNvPr id="1" name=""/>
        <p:cNvGrpSpPr/>
        <p:nvPr/>
      </p:nvGrpSpPr>
      <p:grpSpPr/>
      <p:sp>
        <p:nvSpPr>
          <p:cNvPr id="2" name="sec_title"/>
          <p:cNvSpPr txBox="1"/>
          <p:nvPr/>
        </p:nvSpPr>
        <p:spPr>
          <a:xfrm>
            <a:off x="822960" y="1371600"/>
            <a:ext cx="10515600" cy="868680"/>
          </a:xfrm>
          <a:prstGeom prst="rect">
            <a:avLst/>
          </a:prstGeom>
          <a:noFill/>
        </p:spPr>
        <p:txBody>
          <a:bodyPr wrap="square" lIns="109728" tIns="54864" rIns="109728" bIns="54864" anchor="t" rtlCol="0">
            <a:noAutofit/>
          </a:bodyPr>
          <a:lstStyle/>
          <a:p>
            <a:pPr algn="l">
              <a:lnSpc>
                <a:spcPts val="4800"/>
              </a:lnSpc>
              <a:spcBef>
                <a:spcPts val="0"/>
              </a:spcBef>
              <a:spcAft>
                <a:spcPts val="0"/>
              </a:spcAft>
              <a:buNone/>
            </a:pPr>
            <a:r>
              <a:rPr lang="ko-KR" altLang="en-US" sz="4000" b="1" dirty="0">
                <a:solidFill>
                  <a:srgbClr val="FFE98A"/>
                </a:solidFill>
                <a:latin typeface="맑은 고딕"/>
                <a:ea typeface="맑은 고딕"/>
                <a:cs typeface="맑은 고딕"/>
              </a:rPr>
              <a:t>PART 6  </a:t>
            </a:r>
            <a:r>
              <a:rPr lang="ko-KR" altLang="en-US" sz="4000" b="1" dirty="0">
                <a:solidFill>
                  <a:srgbClr val="FFFFFF"/>
                </a:solidFill>
                <a:latin typeface="맑은 고딕"/>
                <a:ea typeface="맑은 고딕"/>
                <a:cs typeface="맑은 고딕"/>
              </a:rPr>
              <a:t>순서배열 부분영작</a:t>
            </a:r>
            <a:endParaRPr lang="ko-KR" sz="4000"/>
          </a:p>
        </p:txBody>
      </p:sp>
      <p:sp>
        <p:nvSpPr>
          <p:cNvPr id="3" name="sec_exam"/>
          <p:cNvSpPr txBox="1"/>
          <p:nvPr/>
        </p:nvSpPr>
        <p:spPr>
          <a:xfrm>
            <a:off x="822960" y="2240280"/>
            <a:ext cx="10515600" cy="502920"/>
          </a:xfrm>
          <a:prstGeom prst="rect">
            <a:avLst/>
          </a:prstGeom>
          <a:noFill/>
        </p:spPr>
        <p:txBody>
          <a:bodyPr wrap="square" lIns="109728" tIns="54864" rIns="109728" bIns="54864" anchor="t" rtlCol="0">
            <a:noAutofit/>
          </a:bodyPr>
          <a:lstStyle/>
          <a:p>
            <a:pPr algn="l">
              <a:lnSpc>
                <a:spcPts val="2400"/>
              </a:lnSpc>
              <a:spcBef>
                <a:spcPts val="0"/>
              </a:spcBef>
              <a:spcAft>
                <a:spcPts val="0"/>
              </a:spcAft>
              <a:buNone/>
            </a:pPr>
            <a:r>
              <a:rPr lang="ko-KR" altLang="en-US" sz="2000" b="0" dirty="0">
                <a:solidFill>
                  <a:srgbClr val="CFD8E8"/>
                </a:solidFill>
                <a:latin typeface="맑은 고딕"/>
                <a:ea typeface="맑은 고딕"/>
                <a:cs typeface="맑은 고딕"/>
              </a:rPr>
              <a:t>중3 동아(윤정미) Lesson 7</a:t>
            </a:r>
            <a:endParaRPr lang="ko-KR" sz="2000"/>
          </a:p>
        </p:txBody>
      </p:sp>
      <p:sp>
        <p:nvSpPr>
          <p:cNvPr id="4" name="sec_ids"/>
          <p:cNvSpPr txBox="1"/>
          <p:nvPr/>
        </p:nvSpPr>
        <p:spPr>
          <a:xfrm>
            <a:off x="822960" y="2788920"/>
            <a:ext cx="10515600" cy="457200"/>
          </a:xfrm>
          <a:prstGeom prst="rect">
            <a:avLst/>
          </a:prstGeom>
          <a:noFill/>
        </p:spPr>
        <p:txBody>
          <a:bodyPr wrap="square" lIns="109728" tIns="54864" rIns="109728" bIns="54864" anchor="t" rtlCol="0">
            <a:noAutofit/>
          </a:bodyPr>
          <a:lstStyle/>
          <a:p>
            <a:pPr algn="l">
              <a:lnSpc>
                <a:spcPts val="2200"/>
              </a:lnSpc>
              <a:spcBef>
                <a:spcPts val="0"/>
              </a:spcBef>
              <a:spcAft>
                <a:spcPts val="0"/>
              </a:spcAft>
              <a:buNone/>
            </a:pPr>
            <a:r>
              <a:rPr lang="en-US" altLang="en-US" sz="1800" b="1" dirty="0">
                <a:solidFill>
                  <a:srgbClr val="AEBBD0"/>
                </a:solidFill>
                <a:latin typeface="Calibri"/>
                <a:ea typeface="맑은 고딕"/>
                <a:cs typeface="Calibri"/>
              </a:rPr>
              <a:t>L7-1  ·  L7-2  ·  L7-3  ·  L7-4</a:t>
            </a:r>
            <a:endParaRPr lang="ko-KR" sz="1800"/>
          </a:p>
        </p:txBody>
      </p:sp>
      <p:sp>
        <p:nvSpPr>
          <p:cNvPr id="5" name="sec_legend"/>
          <p:cNvSpPr/>
          <p:nvPr/>
        </p:nvSpPr>
        <p:spPr>
          <a:xfrm>
            <a:off x="822960" y="3977639"/>
            <a:ext cx="10515600" cy="1371600"/>
          </a:xfrm>
          <a:prstGeom prst="roundRect">
            <a:avLst>
              <a:gd name="adj" fmla="val 6000"/>
            </a:avLst>
          </a:prstGeom>
          <a:solidFill>
            <a:srgbClr val="27356E"/>
          </a:solidFill>
          <a:ln>
            <a:noFill/>
          </a:ln>
        </p:spPr>
        <p:txBody>
          <a:bodyPr wrap="square" lIns="320040" tIns="137160" rIns="320040" bIns="137160" anchor="ctr" rtlCol="0">
            <a:noAutofit/>
          </a:bodyPr>
          <a:lstStyle/>
          <a:p>
            <a:pPr algn="l">
              <a:lnSpc>
                <a:spcPts val="2600"/>
              </a:lnSpc>
              <a:spcBef>
                <a:spcPts val="0"/>
              </a:spcBef>
              <a:spcAft>
                <a:spcPts val="0"/>
              </a:spcAft>
              <a:buNone/>
            </a:pPr>
            <a:r>
              <a:rPr lang="ko-KR" altLang="en-US" sz="1600" b="1" dirty="0">
                <a:solidFill>
                  <a:srgbClr val="FFE98A"/>
                </a:solidFill>
                <a:latin typeface="맑은 고딕"/>
                <a:ea typeface="맑은 고딕"/>
                <a:cs typeface="맑은 고딕"/>
              </a:rPr>
              <a:t>방법</a:t>
            </a:r>
            <a:r>
              <a:rPr lang="ko-KR" altLang="en-US" sz="1600" b="0" dirty="0">
                <a:solidFill>
                  <a:srgbClr val="FFFFFF"/>
                </a:solidFill>
                <a:latin typeface="맑은 고딕"/>
                <a:ea typeface="맑은 고딕"/>
                <a:cs typeface="맑은 고딕"/>
              </a:rPr>
              <a:t>     우리말에 맞게 (  ) 안의 말을 바르게 배열해 영어 문장을 완성</a:t>
            </a:r>
            <a:endParaRPr lang="ko-KR" sz="1600"/>
          </a:p>
          <a:p>
            <a:pPr algn="l">
              <a:lnSpc>
                <a:spcPts val="2600"/>
              </a:lnSpc>
              <a:spcBef>
                <a:spcPts val="0"/>
              </a:spcBef>
              <a:spcAft>
                <a:spcPts val="0"/>
              </a:spcAft>
              <a:buNone/>
            </a:pPr>
            <a:r>
              <a:rPr lang="ko-KR" altLang="en-US" sz="1600" b="1" dirty="0">
                <a:solidFill>
                  <a:srgbClr val="FFE98A"/>
                </a:solidFill>
                <a:latin typeface="맑은 고딕"/>
                <a:ea typeface="맑은 고딕"/>
                <a:cs typeface="맑은 고딕"/>
              </a:rPr>
              <a:t>클릭</a:t>
            </a:r>
            <a:r>
              <a:rPr lang="ko-KR" altLang="en-US" sz="1600" b="0" dirty="0">
                <a:solidFill>
                  <a:srgbClr val="FFFFFF"/>
                </a:solidFill>
                <a:latin typeface="맑은 고딕"/>
                <a:ea typeface="맑은 고딕"/>
                <a:cs typeface="맑은 고딕"/>
              </a:rPr>
              <a:t>     한 번 클릭하면 완성된 영어 문장(정답)이 빨간색으로 공개</a:t>
            </a:r>
            <a:endParaRPr lang="ko-KR" sz="1600"/>
          </a:p>
        </p:txBody>
      </p:sp>
    </p:spTree>
  </p:cSld>
  <p:clrMapOvr>
    <a:masterClrMapping/>
  </p:clrMapOvr>
</p:sld>
</file>

<file path=ppt/slides/slide2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8000"/>
            </a:avLst>
          </a:prstGeom>
          <a:solidFill>
            <a:srgbClr val="1E2A5A"/>
          </a:solidFill>
          <a:ln>
            <a:noFill/>
          </a:ln>
        </p:spPr>
        <p:txBody>
          <a:bodyPr wrap="square" lIns="45720" tIns="18288" rIns="45720" bIns="18288" anchor="ctr" rtlCol="0">
            <a:noAutofit/>
          </a:bodyPr>
          <a:lstStyle/>
          <a:p>
            <a:pPr algn="ctr">
              <a:lnSpc>
                <a:spcPts val="2000"/>
              </a:lnSpc>
              <a:spcBef>
                <a:spcPts val="0"/>
              </a:spcBef>
              <a:spcAft>
                <a:spcPts val="0"/>
              </a:spcAft>
              <a:buNone/>
            </a:pPr>
            <a:r>
              <a:rPr lang="en-US" altLang="en-US" sz="1700" b="1" dirty="0">
                <a:solidFill>
                  <a:srgbClr val="FFFFFF"/>
                </a:solidFill>
                <a:latin typeface="Calibri"/>
                <a:ea typeface="맑은 고딕"/>
                <a:cs typeface="Calibri"/>
              </a:rPr>
              <a:t>L7-1</a:t>
            </a:r>
            <a:endParaRPr lang="ko-KR" sz="1700"/>
          </a:p>
        </p:txBody>
      </p:sp>
      <p:sp>
        <p:nvSpPr>
          <p:cNvPr id="3" name="hdr_chip"/>
          <p:cNvSpPr/>
          <p:nvPr/>
        </p:nvSpPr>
        <p:spPr>
          <a:xfrm>
            <a:off x="1755648" y="274320"/>
            <a:ext cx="1371600" cy="493776"/>
          </a:xfrm>
          <a:prstGeom prst="roundRect">
            <a:avLst>
              <a:gd name="adj" fmla="val 8000"/>
            </a:avLst>
          </a:prstGeom>
          <a:solidFill>
            <a:srgbClr val="E6EAF4"/>
          </a:solidFill>
          <a:ln>
            <a:noFill/>
          </a:ln>
        </p:spPr>
        <p:txBody>
          <a:bodyPr wrap="square" lIns="27432" tIns="18288" rIns="27432" bIns="18288" anchor="ctr" rtlCol="0">
            <a:noAutofit/>
          </a:bodyPr>
          <a:lstStyle/>
          <a:p>
            <a:pPr algn="ctr">
              <a:lnSpc>
                <a:spcPts val="1700"/>
              </a:lnSpc>
              <a:spcBef>
                <a:spcPts val="0"/>
              </a:spcBef>
              <a:spcAft>
                <a:spcPts val="0"/>
              </a:spcAft>
              <a:buNone/>
            </a:pPr>
            <a:r>
              <a:rPr lang="ko-KR" altLang="en-US" sz="1400" b="1" dirty="0">
                <a:solidFill>
                  <a:srgbClr val="1E2A5A"/>
                </a:solidFill>
                <a:latin typeface="맑은 고딕"/>
                <a:ea typeface="맑은 고딕"/>
                <a:cs typeface="맑은 고딕"/>
              </a:rPr>
              <a:t>PART 6 · 1</a:t>
            </a:r>
            <a:endParaRPr lang="ko-KR" sz="1400"/>
          </a:p>
        </p:txBody>
      </p:sp>
      <p:sp>
        <p:nvSpPr>
          <p:cNvPr id="4" name="hdr_q"/>
          <p:cNvSpPr txBox="1"/>
          <p:nvPr/>
        </p:nvSpPr>
        <p:spPr>
          <a:xfrm>
            <a:off x="3246120" y="246888"/>
            <a:ext cx="8485632" cy="548640"/>
          </a:xfrm>
          <a:prstGeom prst="rect">
            <a:avLst/>
          </a:prstGeom>
          <a:noFill/>
        </p:spPr>
        <p:txBody>
          <a:bodyPr wrap="square" lIns="109728" tIns="54864" rIns="109728" bIns="54864" anchor="ctr" rtlCol="0">
            <a:noAutofit/>
          </a:bodyPr>
          <a:lstStyle/>
          <a:p>
            <a:pPr algn="l">
              <a:lnSpc>
                <a:spcPts val="2400"/>
              </a:lnSpc>
              <a:spcBef>
                <a:spcPts val="0"/>
              </a:spcBef>
              <a:spcAft>
                <a:spcPts val="0"/>
              </a:spcAft>
              <a:buNone/>
            </a:pPr>
            <a:r>
              <a:rPr lang="ko-KR" altLang="en-US" sz="2000" b="1" dirty="0">
                <a:solidFill>
                  <a:srgbClr val="1F2328"/>
                </a:solidFill>
                <a:latin typeface="맑은 고딕"/>
                <a:ea typeface="맑은 고딕"/>
                <a:cs typeface="맑은 고딕"/>
              </a:rPr>
              <a:t>우리말에 맞게 (  ) 안의 말을 바르게 배열하시오.</a:t>
            </a:r>
            <a:endParaRPr lang="ko-KR" sz="2000"/>
          </a:p>
        </p:txBody>
      </p:sp>
      <p:sp>
        <p:nvSpPr>
          <p:cNvPr id="5" name="ftr_exam"/>
          <p:cNvSpPr txBox="1"/>
          <p:nvPr/>
        </p:nvSpPr>
        <p:spPr>
          <a:xfrm>
            <a:off x="457200" y="6519672"/>
            <a:ext cx="5669280" cy="256032"/>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7</a:t>
            </a:r>
            <a:endParaRPr lang="ko-KR" sz="1000"/>
          </a:p>
        </p:txBody>
      </p:sp>
      <p:sp>
        <p:nvSpPr>
          <p:cNvPr id="6" name="ftr_hint"/>
          <p:cNvSpPr txBox="1"/>
          <p:nvPr/>
        </p:nvSpPr>
        <p:spPr>
          <a:xfrm>
            <a:off x="5971032" y="6519672"/>
            <a:ext cx="5760720" cy="256032"/>
          </a:xfrm>
          <a:prstGeom prst="rect">
            <a:avLst/>
          </a:prstGeom>
          <a:noFill/>
        </p:spPr>
        <p:txBody>
          <a:bodyPr wrap="square" lIns="0" tIns="0" rIns="0" bIns="0" anchor="t" rtlCol="0">
            <a:noAutofit/>
          </a:bodyPr>
          <a:lstStyle/>
          <a:p>
            <a:pPr algn="r">
              <a:lnSpc>
                <a:spcPts val="1200"/>
              </a:lnSpc>
              <a:spcBef>
                <a:spcPts val="0"/>
              </a:spcBef>
              <a:spcAft>
                <a:spcPts val="0"/>
              </a:spcAft>
              <a:buNone/>
            </a:pPr>
            <a:r>
              <a:rPr lang="ko-KR" altLang="en-US" sz="1000" b="0" dirty="0">
                <a:solidFill>
                  <a:srgbClr val="7A808C"/>
                </a:solidFill>
                <a:latin typeface="맑은 고딕"/>
                <a:ea typeface="맑은 고딕"/>
                <a:cs typeface="맑은 고딕"/>
              </a:rPr>
              <a:t>클릭 ① 완성 문장(정답) 공개</a:t>
            </a:r>
            <a:endParaRPr lang="ko-KR" sz="1000"/>
          </a:p>
        </p:txBody>
      </p:sp>
      <p:sp>
        <p:nvSpPr>
          <p:cNvPr id="7" name="item_card_1"/>
          <p:cNvSpPr/>
          <p:nvPr/>
        </p:nvSpPr>
        <p:spPr>
          <a:xfrm>
            <a:off x="457200" y="950976"/>
            <a:ext cx="11274552" cy="1987677"/>
          </a:xfrm>
          <a:prstGeom prst="roundRect">
            <a:avLst>
              <a:gd name="adj" fmla="val 6000"/>
            </a:avLst>
          </a:prstGeom>
          <a:solidFill>
            <a:srgbClr val="F3F5F9"/>
          </a:solidFill>
          <a:ln w="12700">
            <a:solidFill>
              <a:srgbClr val="D9DFEA"/>
            </a:solidFill>
          </a:ln>
        </p:spPr>
        <p:txBody>
          <a:bodyPr rtlCol="0" anchor="ctr"/>
          <a:lstStyle/>
          <a:p>
            <a:pPr algn="ctr"/>
          </a:p>
        </p:txBody>
      </p:sp>
      <p:sp>
        <p:nvSpPr>
          <p:cNvPr id="8" name="kor_1"/>
          <p:cNvSpPr txBox="1"/>
          <p:nvPr/>
        </p:nvSpPr>
        <p:spPr>
          <a:xfrm>
            <a:off x="457200" y="1060704"/>
            <a:ext cx="11274552" cy="379603"/>
          </a:xfrm>
          <a:prstGeom prst="rect">
            <a:avLst/>
          </a:prstGeom>
          <a:noFill/>
        </p:spPr>
        <p:txBody>
          <a:bodyPr wrap="square" lIns="228600" tIns="54864" rIns="228600" bIns="54864" anchor="t" rtlCol="0">
            <a:noAutofit/>
          </a:bodyPr>
          <a:lstStyle/>
          <a:p>
            <a:pPr algn="l">
              <a:lnSpc>
                <a:spcPts val="2125"/>
              </a:lnSpc>
              <a:spcBef>
                <a:spcPts val="0"/>
              </a:spcBef>
              <a:spcAft>
                <a:spcPts val="0"/>
              </a:spcAft>
              <a:buNone/>
            </a:pPr>
            <a:r>
              <a:rPr lang="en-US" altLang="en-US" sz="1700" b="1" dirty="0">
                <a:solidFill>
                  <a:srgbClr val="1E2A5A"/>
                </a:solidFill>
                <a:latin typeface="Calibri"/>
                <a:ea typeface="맑은 고딕"/>
                <a:cs typeface="Calibri"/>
              </a:rPr>
              <a:t>1.  </a:t>
            </a:r>
            <a:r>
              <a:rPr lang="ko-KR" altLang="en-US" sz="1700" b="1" dirty="0">
                <a:solidFill>
                  <a:srgbClr val="1F2328"/>
                </a:solidFill>
                <a:latin typeface="맑은 고딕"/>
                <a:ea typeface="맑은 고딕"/>
                <a:cs typeface="맑은 고딕"/>
              </a:rPr>
              <a:t>당신은 온라인 서점을 방문해서 그 서점이 당신에게 추천한 책들을 보고 놀란 적이 있는가?</a:t>
            </a:r>
            <a:endParaRPr lang="ko-KR" sz="1700"/>
          </a:p>
        </p:txBody>
      </p:sp>
      <p:sp>
        <p:nvSpPr>
          <p:cNvPr id="9" name="ex_1"/>
          <p:cNvSpPr txBox="1"/>
          <p:nvPr/>
        </p:nvSpPr>
        <p:spPr>
          <a:xfrm>
            <a:off x="457200" y="1385443"/>
            <a:ext cx="11274552" cy="761238"/>
          </a:xfrm>
          <a:prstGeom prst="rect">
            <a:avLst/>
          </a:prstGeom>
          <a:noFill/>
        </p:spPr>
        <p:txBody>
          <a:bodyPr wrap="square" lIns="228600" tIns="54864" rIns="228600" bIns="54864" anchor="t" rtlCol="0">
            <a:noAutofit/>
          </a:bodyPr>
          <a:lstStyle/>
          <a:p>
            <a:pPr algn="l">
              <a:lnSpc>
                <a:spcPts val="2565"/>
              </a:lnSpc>
              <a:spcBef>
                <a:spcPts val="0"/>
              </a:spcBef>
              <a:spcAft>
                <a:spcPts val="0"/>
              </a:spcAft>
              <a:buNone/>
            </a:pP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an online bookstore</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Have you ever visited</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 and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by the books</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been surprised</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 that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recommended</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the store</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for you?</a:t>
            </a:r>
            <a:r>
              <a:rPr lang="en-US" altLang="en-US" sz="1900" b="1" dirty="0">
                <a:solidFill>
                  <a:srgbClr val="1E2A5A"/>
                </a:solidFill>
                <a:latin typeface="Calibri"/>
                <a:ea typeface="맑은 고딕"/>
                <a:cs typeface="Calibri"/>
              </a:rPr>
              <a:t>)</a:t>
            </a:r>
            <a:endParaRPr lang="ko-KR" sz="1900"/>
          </a:p>
        </p:txBody>
      </p:sp>
      <p:sp>
        <p:nvSpPr>
          <p:cNvPr id="10" name="rv_ans_1"/>
          <p:cNvSpPr txBox="1"/>
          <p:nvPr/>
        </p:nvSpPr>
        <p:spPr>
          <a:xfrm>
            <a:off x="594360" y="2183257"/>
            <a:ext cx="11000232" cy="737108"/>
          </a:xfrm>
          <a:prstGeom prst="rect">
            <a:avLst/>
          </a:prstGeom>
          <a:solidFill>
            <a:srgbClr val="FFF3C4"/>
          </a:solidFill>
        </p:spPr>
        <p:txBody>
          <a:bodyPr wrap="square" lIns="137160" tIns="54864" rIns="137160" bIns="54864" anchor="t" rtlCol="0">
            <a:noAutofit/>
          </a:bodyPr>
          <a:lstStyle/>
          <a:p>
            <a:pPr algn="l">
              <a:lnSpc>
                <a:spcPts val="2470"/>
              </a:lnSpc>
              <a:spcBef>
                <a:spcPts val="0"/>
              </a:spcBef>
              <a:spcAft>
                <a:spcPts val="0"/>
              </a:spcAft>
              <a:buNone/>
            </a:pPr>
            <a:r>
              <a:rPr lang="en-US" altLang="en-US" sz="1900" b="1" dirty="0">
                <a:solidFill>
                  <a:srgbClr val="C00000"/>
                </a:solidFill>
                <a:latin typeface="Calibri"/>
                <a:ea typeface="맑은 고딕"/>
                <a:cs typeface="Calibri"/>
              </a:rPr>
              <a:t>→  </a:t>
            </a:r>
            <a:r>
              <a:rPr lang="en-US" altLang="en-US" sz="1900" b="1" dirty="0">
                <a:solidFill>
                  <a:srgbClr val="C00000"/>
                </a:solidFill>
                <a:latin typeface="Calibri"/>
                <a:ea typeface="맑은 고딕"/>
                <a:cs typeface="Calibri"/>
              </a:rPr>
              <a:t>Have you ever visited an online bookstore and been surprised by the books that the store recommended for you?</a:t>
            </a:r>
            <a:endParaRPr lang="ko-KR" sz="1900"/>
          </a:p>
        </p:txBody>
      </p:sp>
      <p:sp>
        <p:nvSpPr>
          <p:cNvPr id="11" name="item_card_2"/>
          <p:cNvSpPr/>
          <p:nvPr/>
        </p:nvSpPr>
        <p:spPr>
          <a:xfrm>
            <a:off x="457200" y="3048381"/>
            <a:ext cx="11274552" cy="2257552"/>
          </a:xfrm>
          <a:prstGeom prst="roundRect">
            <a:avLst>
              <a:gd name="adj" fmla="val 6000"/>
            </a:avLst>
          </a:prstGeom>
          <a:solidFill>
            <a:srgbClr val="F3F5F9"/>
          </a:solidFill>
          <a:ln w="12700">
            <a:solidFill>
              <a:srgbClr val="D9DFEA"/>
            </a:solidFill>
          </a:ln>
        </p:spPr>
        <p:txBody>
          <a:bodyPr rtlCol="0" anchor="ctr"/>
          <a:lstStyle/>
          <a:p>
            <a:pPr algn="ctr"/>
          </a:p>
        </p:txBody>
      </p:sp>
      <p:sp>
        <p:nvSpPr>
          <p:cNvPr id="12" name="kor_2"/>
          <p:cNvSpPr txBox="1"/>
          <p:nvPr/>
        </p:nvSpPr>
        <p:spPr>
          <a:xfrm>
            <a:off x="457200" y="3158109"/>
            <a:ext cx="11274552" cy="649478"/>
          </a:xfrm>
          <a:prstGeom prst="rect">
            <a:avLst/>
          </a:prstGeom>
          <a:noFill/>
        </p:spPr>
        <p:txBody>
          <a:bodyPr wrap="square" lIns="228600" tIns="54864" rIns="228600" bIns="54864" anchor="t" rtlCol="0">
            <a:noAutofit/>
          </a:bodyPr>
          <a:lstStyle/>
          <a:p>
            <a:pPr algn="l">
              <a:lnSpc>
                <a:spcPts val="2125"/>
              </a:lnSpc>
              <a:spcBef>
                <a:spcPts val="0"/>
              </a:spcBef>
              <a:spcAft>
                <a:spcPts val="0"/>
              </a:spcAft>
              <a:buNone/>
            </a:pPr>
            <a:r>
              <a:rPr lang="en-US" altLang="en-US" sz="1700" b="1" dirty="0">
                <a:solidFill>
                  <a:srgbClr val="1E2A5A"/>
                </a:solidFill>
                <a:latin typeface="Calibri"/>
                <a:ea typeface="맑은 고딕"/>
                <a:cs typeface="Calibri"/>
              </a:rPr>
              <a:t>2.  </a:t>
            </a:r>
            <a:r>
              <a:rPr lang="ko-KR" altLang="en-US" sz="1700" b="1" dirty="0">
                <a:solidFill>
                  <a:srgbClr val="1F2328"/>
                </a:solidFill>
                <a:latin typeface="맑은 고딕"/>
                <a:ea typeface="맑은 고딕"/>
                <a:cs typeface="맑은 고딕"/>
              </a:rPr>
              <a:t>그 책들 중 다수가 당신에게 흥미로워 보였다. 그 서점은 당신이 무엇을 좋아하는지 어떻게 알았을까?</a:t>
            </a:r>
            <a:endParaRPr lang="ko-KR" sz="1700"/>
          </a:p>
        </p:txBody>
      </p:sp>
      <p:sp>
        <p:nvSpPr>
          <p:cNvPr id="13" name="ex_2"/>
          <p:cNvSpPr txBox="1"/>
          <p:nvPr/>
        </p:nvSpPr>
        <p:spPr>
          <a:xfrm>
            <a:off x="457200" y="3752723"/>
            <a:ext cx="11274552" cy="761238"/>
          </a:xfrm>
          <a:prstGeom prst="rect">
            <a:avLst/>
          </a:prstGeom>
          <a:noFill/>
        </p:spPr>
        <p:txBody>
          <a:bodyPr wrap="square" lIns="228600" tIns="54864" rIns="228600" bIns="54864" anchor="t" rtlCol="0">
            <a:noAutofit/>
          </a:bodyPr>
          <a:lstStyle/>
          <a:p>
            <a:pPr algn="l">
              <a:lnSpc>
                <a:spcPts val="2565"/>
              </a:lnSpc>
              <a:spcBef>
                <a:spcPts val="0"/>
              </a:spcBef>
              <a:spcAft>
                <a:spcPts val="0"/>
              </a:spcAft>
              <a:buNone/>
            </a:pP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to you</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interesting</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looked</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Many of them</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 So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how</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know</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did</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what you liked?</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the bookstore</a:t>
            </a:r>
            <a:r>
              <a:rPr lang="en-US" altLang="en-US" sz="1900" b="1" dirty="0">
                <a:solidFill>
                  <a:srgbClr val="1E2A5A"/>
                </a:solidFill>
                <a:latin typeface="Calibri"/>
                <a:ea typeface="맑은 고딕"/>
                <a:cs typeface="Calibri"/>
              </a:rPr>
              <a:t>)</a:t>
            </a:r>
            <a:endParaRPr lang="ko-KR" sz="1900"/>
          </a:p>
        </p:txBody>
      </p:sp>
      <p:sp>
        <p:nvSpPr>
          <p:cNvPr id="14" name="rv_ans_2"/>
          <p:cNvSpPr txBox="1"/>
          <p:nvPr/>
        </p:nvSpPr>
        <p:spPr>
          <a:xfrm>
            <a:off x="594360" y="4550537"/>
            <a:ext cx="11000232" cy="737108"/>
          </a:xfrm>
          <a:prstGeom prst="rect">
            <a:avLst/>
          </a:prstGeom>
          <a:solidFill>
            <a:srgbClr val="FFF3C4"/>
          </a:solidFill>
        </p:spPr>
        <p:txBody>
          <a:bodyPr wrap="square" lIns="137160" tIns="54864" rIns="137160" bIns="54864" anchor="t" rtlCol="0">
            <a:noAutofit/>
          </a:bodyPr>
          <a:lstStyle/>
          <a:p>
            <a:pPr algn="l">
              <a:lnSpc>
                <a:spcPts val="2470"/>
              </a:lnSpc>
              <a:spcBef>
                <a:spcPts val="0"/>
              </a:spcBef>
              <a:spcAft>
                <a:spcPts val="0"/>
              </a:spcAft>
              <a:buNone/>
            </a:pPr>
            <a:r>
              <a:rPr lang="en-US" altLang="en-US" sz="1900" b="1" dirty="0">
                <a:solidFill>
                  <a:srgbClr val="C00000"/>
                </a:solidFill>
                <a:latin typeface="Calibri"/>
                <a:ea typeface="맑은 고딕"/>
                <a:cs typeface="Calibri"/>
              </a:rPr>
              <a:t>→  </a:t>
            </a:r>
            <a:r>
              <a:rPr lang="en-US" altLang="en-US" sz="1900" b="1" dirty="0">
                <a:solidFill>
                  <a:srgbClr val="C00000"/>
                </a:solidFill>
                <a:latin typeface="Calibri"/>
                <a:ea typeface="맑은 고딕"/>
                <a:cs typeface="Calibri"/>
              </a:rPr>
              <a:t>Many of them looked interesting to you. So how did the bookstore know what you liked?</a:t>
            </a:r>
            <a:endParaRPr lang="ko-KR" sz="19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25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2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4" grpId="0" animBg="1"/>
    </p:bldLst>
  </p:timing>
</p:sld>
</file>

<file path=ppt/slides/slide2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8000"/>
            </a:avLst>
          </a:prstGeom>
          <a:solidFill>
            <a:srgbClr val="1E2A5A"/>
          </a:solidFill>
          <a:ln>
            <a:noFill/>
          </a:ln>
        </p:spPr>
        <p:txBody>
          <a:bodyPr wrap="square" lIns="45720" tIns="18288" rIns="45720" bIns="18288" anchor="ctr" rtlCol="0">
            <a:noAutofit/>
          </a:bodyPr>
          <a:lstStyle/>
          <a:p>
            <a:pPr algn="ctr">
              <a:lnSpc>
                <a:spcPts val="2000"/>
              </a:lnSpc>
              <a:spcBef>
                <a:spcPts val="0"/>
              </a:spcBef>
              <a:spcAft>
                <a:spcPts val="0"/>
              </a:spcAft>
              <a:buNone/>
            </a:pPr>
            <a:r>
              <a:rPr lang="en-US" altLang="en-US" sz="1700" b="1" dirty="0">
                <a:solidFill>
                  <a:srgbClr val="FFFFFF"/>
                </a:solidFill>
                <a:latin typeface="Calibri"/>
                <a:ea typeface="맑은 고딕"/>
                <a:cs typeface="Calibri"/>
              </a:rPr>
              <a:t>L7-1</a:t>
            </a:r>
            <a:endParaRPr lang="ko-KR" sz="1700"/>
          </a:p>
        </p:txBody>
      </p:sp>
      <p:sp>
        <p:nvSpPr>
          <p:cNvPr id="3" name="hdr_chip"/>
          <p:cNvSpPr/>
          <p:nvPr/>
        </p:nvSpPr>
        <p:spPr>
          <a:xfrm>
            <a:off x="1755648" y="274320"/>
            <a:ext cx="1371600" cy="493776"/>
          </a:xfrm>
          <a:prstGeom prst="roundRect">
            <a:avLst>
              <a:gd name="adj" fmla="val 8000"/>
            </a:avLst>
          </a:prstGeom>
          <a:solidFill>
            <a:srgbClr val="E6EAF4"/>
          </a:solidFill>
          <a:ln>
            <a:noFill/>
          </a:ln>
        </p:spPr>
        <p:txBody>
          <a:bodyPr wrap="square" lIns="27432" tIns="18288" rIns="27432" bIns="18288" anchor="ctr" rtlCol="0">
            <a:noAutofit/>
          </a:bodyPr>
          <a:lstStyle/>
          <a:p>
            <a:pPr algn="ctr">
              <a:lnSpc>
                <a:spcPts val="1700"/>
              </a:lnSpc>
              <a:spcBef>
                <a:spcPts val="0"/>
              </a:spcBef>
              <a:spcAft>
                <a:spcPts val="0"/>
              </a:spcAft>
              <a:buNone/>
            </a:pPr>
            <a:r>
              <a:rPr lang="ko-KR" altLang="en-US" sz="1400" b="1" dirty="0">
                <a:solidFill>
                  <a:srgbClr val="1E2A5A"/>
                </a:solidFill>
                <a:latin typeface="맑은 고딕"/>
                <a:ea typeface="맑은 고딕"/>
                <a:cs typeface="맑은 고딕"/>
              </a:rPr>
              <a:t>PART 6 · 2</a:t>
            </a:r>
            <a:endParaRPr lang="ko-KR" sz="1400"/>
          </a:p>
        </p:txBody>
      </p:sp>
      <p:sp>
        <p:nvSpPr>
          <p:cNvPr id="4" name="hdr_q"/>
          <p:cNvSpPr txBox="1"/>
          <p:nvPr/>
        </p:nvSpPr>
        <p:spPr>
          <a:xfrm>
            <a:off x="3246120" y="246888"/>
            <a:ext cx="8485632" cy="548640"/>
          </a:xfrm>
          <a:prstGeom prst="rect">
            <a:avLst/>
          </a:prstGeom>
          <a:noFill/>
        </p:spPr>
        <p:txBody>
          <a:bodyPr wrap="square" lIns="109728" tIns="54864" rIns="109728" bIns="54864" anchor="ctr" rtlCol="0">
            <a:noAutofit/>
          </a:bodyPr>
          <a:lstStyle/>
          <a:p>
            <a:pPr algn="l">
              <a:lnSpc>
                <a:spcPts val="2400"/>
              </a:lnSpc>
              <a:spcBef>
                <a:spcPts val="0"/>
              </a:spcBef>
              <a:spcAft>
                <a:spcPts val="0"/>
              </a:spcAft>
              <a:buNone/>
            </a:pPr>
            <a:r>
              <a:rPr lang="ko-KR" altLang="en-US" sz="2000" b="1" dirty="0">
                <a:solidFill>
                  <a:srgbClr val="1F2328"/>
                </a:solidFill>
                <a:latin typeface="맑은 고딕"/>
                <a:ea typeface="맑은 고딕"/>
                <a:cs typeface="맑은 고딕"/>
              </a:rPr>
              <a:t>우리말에 맞게 (  ) 안의 말을 바르게 배열하시오.</a:t>
            </a:r>
            <a:endParaRPr lang="ko-KR" sz="2000"/>
          </a:p>
        </p:txBody>
      </p:sp>
      <p:sp>
        <p:nvSpPr>
          <p:cNvPr id="5" name="ftr_exam"/>
          <p:cNvSpPr txBox="1"/>
          <p:nvPr/>
        </p:nvSpPr>
        <p:spPr>
          <a:xfrm>
            <a:off x="457200" y="6519672"/>
            <a:ext cx="5669280" cy="256032"/>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7</a:t>
            </a:r>
            <a:endParaRPr lang="ko-KR" sz="1000"/>
          </a:p>
        </p:txBody>
      </p:sp>
      <p:sp>
        <p:nvSpPr>
          <p:cNvPr id="6" name="ftr_hint"/>
          <p:cNvSpPr txBox="1"/>
          <p:nvPr/>
        </p:nvSpPr>
        <p:spPr>
          <a:xfrm>
            <a:off x="5971032" y="6519672"/>
            <a:ext cx="5760720" cy="256032"/>
          </a:xfrm>
          <a:prstGeom prst="rect">
            <a:avLst/>
          </a:prstGeom>
          <a:noFill/>
        </p:spPr>
        <p:txBody>
          <a:bodyPr wrap="square" lIns="0" tIns="0" rIns="0" bIns="0" anchor="t" rtlCol="0">
            <a:noAutofit/>
          </a:bodyPr>
          <a:lstStyle/>
          <a:p>
            <a:pPr algn="r">
              <a:lnSpc>
                <a:spcPts val="1200"/>
              </a:lnSpc>
              <a:spcBef>
                <a:spcPts val="0"/>
              </a:spcBef>
              <a:spcAft>
                <a:spcPts val="0"/>
              </a:spcAft>
              <a:buNone/>
            </a:pPr>
            <a:r>
              <a:rPr lang="ko-KR" altLang="en-US" sz="1000" b="0" dirty="0">
                <a:solidFill>
                  <a:srgbClr val="7A808C"/>
                </a:solidFill>
                <a:latin typeface="맑은 고딕"/>
                <a:ea typeface="맑은 고딕"/>
                <a:cs typeface="맑은 고딕"/>
              </a:rPr>
              <a:t>클릭 ① 완성 문장(정답) 공개</a:t>
            </a:r>
            <a:endParaRPr lang="ko-KR" sz="1000"/>
          </a:p>
        </p:txBody>
      </p:sp>
      <p:sp>
        <p:nvSpPr>
          <p:cNvPr id="7" name="item_card_1"/>
          <p:cNvSpPr/>
          <p:nvPr/>
        </p:nvSpPr>
        <p:spPr>
          <a:xfrm>
            <a:off x="457200" y="950976"/>
            <a:ext cx="11274552" cy="1348232"/>
          </a:xfrm>
          <a:prstGeom prst="roundRect">
            <a:avLst>
              <a:gd name="adj" fmla="val 6000"/>
            </a:avLst>
          </a:prstGeom>
          <a:solidFill>
            <a:srgbClr val="F3F5F9"/>
          </a:solidFill>
          <a:ln w="12700">
            <a:solidFill>
              <a:srgbClr val="D9DFEA"/>
            </a:solidFill>
          </a:ln>
        </p:spPr>
        <p:txBody>
          <a:bodyPr rtlCol="0" anchor="ctr"/>
          <a:lstStyle/>
          <a:p>
            <a:pPr algn="ctr"/>
          </a:p>
        </p:txBody>
      </p:sp>
      <p:sp>
        <p:nvSpPr>
          <p:cNvPr id="8" name="kor_1"/>
          <p:cNvSpPr txBox="1"/>
          <p:nvPr/>
        </p:nvSpPr>
        <p:spPr>
          <a:xfrm>
            <a:off x="457200" y="1060704"/>
            <a:ext cx="11274552" cy="379603"/>
          </a:xfrm>
          <a:prstGeom prst="rect">
            <a:avLst/>
          </a:prstGeom>
          <a:noFill/>
        </p:spPr>
        <p:txBody>
          <a:bodyPr wrap="square" lIns="228600" tIns="54864" rIns="228600" bIns="54864" anchor="t" rtlCol="0">
            <a:noAutofit/>
          </a:bodyPr>
          <a:lstStyle/>
          <a:p>
            <a:pPr algn="l">
              <a:lnSpc>
                <a:spcPts val="2125"/>
              </a:lnSpc>
              <a:spcBef>
                <a:spcPts val="0"/>
              </a:spcBef>
              <a:spcAft>
                <a:spcPts val="0"/>
              </a:spcAft>
              <a:buNone/>
            </a:pPr>
            <a:r>
              <a:rPr lang="en-US" altLang="en-US" sz="1700" b="1" dirty="0">
                <a:solidFill>
                  <a:srgbClr val="1E2A5A"/>
                </a:solidFill>
                <a:latin typeface="Calibri"/>
                <a:ea typeface="맑은 고딕"/>
                <a:cs typeface="Calibri"/>
              </a:rPr>
              <a:t>3.  </a:t>
            </a:r>
            <a:r>
              <a:rPr lang="ko-KR" altLang="en-US" sz="1700" b="1" dirty="0">
                <a:solidFill>
                  <a:srgbClr val="1F2328"/>
                </a:solidFill>
                <a:latin typeface="맑은 고딕"/>
                <a:ea typeface="맑은 고딕"/>
                <a:cs typeface="맑은 고딕"/>
              </a:rPr>
              <a:t>이것은 모두 빅데이터 때문에 가능하다.</a:t>
            </a:r>
            <a:endParaRPr lang="ko-KR" sz="1700"/>
          </a:p>
        </p:txBody>
      </p:sp>
      <p:sp>
        <p:nvSpPr>
          <p:cNvPr id="9" name="ex_1"/>
          <p:cNvSpPr txBox="1"/>
          <p:nvPr/>
        </p:nvSpPr>
        <p:spPr>
          <a:xfrm>
            <a:off x="457200" y="1385443"/>
            <a:ext cx="11274552" cy="435483"/>
          </a:xfrm>
          <a:prstGeom prst="rect">
            <a:avLst/>
          </a:prstGeom>
          <a:noFill/>
        </p:spPr>
        <p:txBody>
          <a:bodyPr wrap="square" lIns="228600" tIns="54864" rIns="228600" bIns="54864" anchor="t" rtlCol="0">
            <a:noAutofit/>
          </a:bodyPr>
          <a:lstStyle/>
          <a:p>
            <a:pPr algn="l">
              <a:lnSpc>
                <a:spcPts val="2565"/>
              </a:lnSpc>
              <a:spcBef>
                <a:spcPts val="0"/>
              </a:spcBef>
              <a:spcAft>
                <a:spcPts val="0"/>
              </a:spcAft>
              <a:buNone/>
            </a:pP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big data</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all possible</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because of</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This is</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a:t>
            </a:r>
            <a:endParaRPr lang="ko-KR" sz="1900"/>
          </a:p>
        </p:txBody>
      </p:sp>
      <p:sp>
        <p:nvSpPr>
          <p:cNvPr id="10" name="rv_ans_1"/>
          <p:cNvSpPr txBox="1"/>
          <p:nvPr/>
        </p:nvSpPr>
        <p:spPr>
          <a:xfrm>
            <a:off x="594360" y="1857502"/>
            <a:ext cx="11000232" cy="423418"/>
          </a:xfrm>
          <a:prstGeom prst="rect">
            <a:avLst/>
          </a:prstGeom>
          <a:solidFill>
            <a:srgbClr val="FFF3C4"/>
          </a:solidFill>
        </p:spPr>
        <p:txBody>
          <a:bodyPr wrap="square" lIns="137160" tIns="54864" rIns="137160" bIns="54864" anchor="t" rtlCol="0">
            <a:noAutofit/>
          </a:bodyPr>
          <a:lstStyle/>
          <a:p>
            <a:pPr algn="l">
              <a:lnSpc>
                <a:spcPts val="2470"/>
              </a:lnSpc>
              <a:spcBef>
                <a:spcPts val="0"/>
              </a:spcBef>
              <a:spcAft>
                <a:spcPts val="0"/>
              </a:spcAft>
              <a:buNone/>
            </a:pPr>
            <a:r>
              <a:rPr lang="en-US" altLang="en-US" sz="1900" b="1" dirty="0">
                <a:solidFill>
                  <a:srgbClr val="C00000"/>
                </a:solidFill>
                <a:latin typeface="Calibri"/>
                <a:ea typeface="맑은 고딕"/>
                <a:cs typeface="Calibri"/>
              </a:rPr>
              <a:t>→  </a:t>
            </a:r>
            <a:r>
              <a:rPr lang="en-US" altLang="en-US" sz="1900" b="1" dirty="0">
                <a:solidFill>
                  <a:srgbClr val="C00000"/>
                </a:solidFill>
                <a:latin typeface="Calibri"/>
                <a:ea typeface="맑은 고딕"/>
                <a:cs typeface="Calibri"/>
              </a:rPr>
              <a:t>This is all possible because of big data.</a:t>
            </a:r>
            <a:endParaRPr lang="ko-KR" sz="1900"/>
          </a:p>
        </p:txBody>
      </p:sp>
      <p:sp>
        <p:nvSpPr>
          <p:cNvPr id="11" name="item_card_2"/>
          <p:cNvSpPr/>
          <p:nvPr/>
        </p:nvSpPr>
        <p:spPr>
          <a:xfrm>
            <a:off x="457200" y="2408936"/>
            <a:ext cx="11274552" cy="1348232"/>
          </a:xfrm>
          <a:prstGeom prst="roundRect">
            <a:avLst>
              <a:gd name="adj" fmla="val 6000"/>
            </a:avLst>
          </a:prstGeom>
          <a:solidFill>
            <a:srgbClr val="F3F5F9"/>
          </a:solidFill>
          <a:ln w="12700">
            <a:solidFill>
              <a:srgbClr val="D9DFEA"/>
            </a:solidFill>
          </a:ln>
        </p:spPr>
        <p:txBody>
          <a:bodyPr rtlCol="0" anchor="ctr"/>
          <a:lstStyle/>
          <a:p>
            <a:pPr algn="ctr"/>
          </a:p>
        </p:txBody>
      </p:sp>
      <p:sp>
        <p:nvSpPr>
          <p:cNvPr id="12" name="kor_2"/>
          <p:cNvSpPr txBox="1"/>
          <p:nvPr/>
        </p:nvSpPr>
        <p:spPr>
          <a:xfrm>
            <a:off x="457200" y="2518664"/>
            <a:ext cx="11274552" cy="379603"/>
          </a:xfrm>
          <a:prstGeom prst="rect">
            <a:avLst/>
          </a:prstGeom>
          <a:noFill/>
        </p:spPr>
        <p:txBody>
          <a:bodyPr wrap="square" lIns="228600" tIns="54864" rIns="228600" bIns="54864" anchor="t" rtlCol="0">
            <a:noAutofit/>
          </a:bodyPr>
          <a:lstStyle/>
          <a:p>
            <a:pPr algn="l">
              <a:lnSpc>
                <a:spcPts val="2125"/>
              </a:lnSpc>
              <a:spcBef>
                <a:spcPts val="0"/>
              </a:spcBef>
              <a:spcAft>
                <a:spcPts val="0"/>
              </a:spcAft>
              <a:buNone/>
            </a:pPr>
            <a:r>
              <a:rPr lang="en-US" altLang="en-US" sz="1700" b="1" dirty="0">
                <a:solidFill>
                  <a:srgbClr val="1E2A5A"/>
                </a:solidFill>
                <a:latin typeface="Calibri"/>
                <a:ea typeface="맑은 고딕"/>
                <a:cs typeface="Calibri"/>
              </a:rPr>
              <a:t>4.  </a:t>
            </a:r>
            <a:r>
              <a:rPr lang="ko-KR" altLang="en-US" sz="1700" b="1" dirty="0">
                <a:solidFill>
                  <a:srgbClr val="1F2328"/>
                </a:solidFill>
                <a:latin typeface="맑은 고딕"/>
                <a:ea typeface="맑은 고딕"/>
                <a:cs typeface="맑은 고딕"/>
              </a:rPr>
              <a:t>빅데이터는 매우 크고 복잡한 데이터의 집합이다.</a:t>
            </a:r>
            <a:endParaRPr lang="ko-KR" sz="1700"/>
          </a:p>
        </p:txBody>
      </p:sp>
      <p:sp>
        <p:nvSpPr>
          <p:cNvPr id="13" name="ex_2"/>
          <p:cNvSpPr txBox="1"/>
          <p:nvPr/>
        </p:nvSpPr>
        <p:spPr>
          <a:xfrm>
            <a:off x="457200" y="2843403"/>
            <a:ext cx="11274552" cy="435483"/>
          </a:xfrm>
          <a:prstGeom prst="rect">
            <a:avLst/>
          </a:prstGeom>
          <a:noFill/>
        </p:spPr>
        <p:txBody>
          <a:bodyPr wrap="square" lIns="228600" tIns="54864" rIns="228600" bIns="54864" anchor="t" rtlCol="0">
            <a:noAutofit/>
          </a:bodyPr>
          <a:lstStyle/>
          <a:p>
            <a:pPr algn="l">
              <a:lnSpc>
                <a:spcPts val="2565"/>
              </a:lnSpc>
              <a:spcBef>
                <a:spcPts val="0"/>
              </a:spcBef>
              <a:spcAft>
                <a:spcPts val="0"/>
              </a:spcAft>
              <a:buNone/>
            </a:pP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Big data</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data sets</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is</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 that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very big</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and complex</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are</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a:t>
            </a:r>
            <a:endParaRPr lang="ko-KR" sz="1900"/>
          </a:p>
        </p:txBody>
      </p:sp>
      <p:sp>
        <p:nvSpPr>
          <p:cNvPr id="14" name="rv_ans_2"/>
          <p:cNvSpPr txBox="1"/>
          <p:nvPr/>
        </p:nvSpPr>
        <p:spPr>
          <a:xfrm>
            <a:off x="594360" y="3315462"/>
            <a:ext cx="11000232" cy="423418"/>
          </a:xfrm>
          <a:prstGeom prst="rect">
            <a:avLst/>
          </a:prstGeom>
          <a:solidFill>
            <a:srgbClr val="FFF3C4"/>
          </a:solidFill>
        </p:spPr>
        <p:txBody>
          <a:bodyPr wrap="square" lIns="137160" tIns="54864" rIns="137160" bIns="54864" anchor="t" rtlCol="0">
            <a:noAutofit/>
          </a:bodyPr>
          <a:lstStyle/>
          <a:p>
            <a:pPr algn="l">
              <a:lnSpc>
                <a:spcPts val="2470"/>
              </a:lnSpc>
              <a:spcBef>
                <a:spcPts val="0"/>
              </a:spcBef>
              <a:spcAft>
                <a:spcPts val="0"/>
              </a:spcAft>
              <a:buNone/>
            </a:pPr>
            <a:r>
              <a:rPr lang="en-US" altLang="en-US" sz="1900" b="1" dirty="0">
                <a:solidFill>
                  <a:srgbClr val="C00000"/>
                </a:solidFill>
                <a:latin typeface="Calibri"/>
                <a:ea typeface="맑은 고딕"/>
                <a:cs typeface="Calibri"/>
              </a:rPr>
              <a:t>→  </a:t>
            </a:r>
            <a:r>
              <a:rPr lang="en-US" altLang="en-US" sz="1900" b="1" dirty="0">
                <a:solidFill>
                  <a:srgbClr val="C00000"/>
                </a:solidFill>
                <a:latin typeface="Calibri"/>
                <a:ea typeface="맑은 고딕"/>
                <a:cs typeface="Calibri"/>
              </a:rPr>
              <a:t>Big data is data sets that are very big and complex.</a:t>
            </a:r>
            <a:endParaRPr lang="ko-KR" sz="1900"/>
          </a:p>
        </p:txBody>
      </p:sp>
      <p:sp>
        <p:nvSpPr>
          <p:cNvPr id="15" name="item_card_3"/>
          <p:cNvSpPr/>
          <p:nvPr/>
        </p:nvSpPr>
        <p:spPr>
          <a:xfrm>
            <a:off x="457200" y="3866896"/>
            <a:ext cx="11274552" cy="2257552"/>
          </a:xfrm>
          <a:prstGeom prst="roundRect">
            <a:avLst>
              <a:gd name="adj" fmla="val 6000"/>
            </a:avLst>
          </a:prstGeom>
          <a:solidFill>
            <a:srgbClr val="F3F5F9"/>
          </a:solidFill>
          <a:ln w="12700">
            <a:solidFill>
              <a:srgbClr val="D9DFEA"/>
            </a:solidFill>
          </a:ln>
        </p:spPr>
        <p:txBody>
          <a:bodyPr rtlCol="0" anchor="ctr"/>
          <a:lstStyle/>
          <a:p>
            <a:pPr algn="ctr"/>
          </a:p>
        </p:txBody>
      </p:sp>
      <p:sp>
        <p:nvSpPr>
          <p:cNvPr id="16" name="kor_3"/>
          <p:cNvSpPr txBox="1"/>
          <p:nvPr/>
        </p:nvSpPr>
        <p:spPr>
          <a:xfrm>
            <a:off x="457200" y="3976624"/>
            <a:ext cx="11274552" cy="649478"/>
          </a:xfrm>
          <a:prstGeom prst="rect">
            <a:avLst/>
          </a:prstGeom>
          <a:noFill/>
        </p:spPr>
        <p:txBody>
          <a:bodyPr wrap="square" lIns="228600" tIns="54864" rIns="228600" bIns="54864" anchor="t" rtlCol="0">
            <a:noAutofit/>
          </a:bodyPr>
          <a:lstStyle/>
          <a:p>
            <a:pPr algn="l">
              <a:lnSpc>
                <a:spcPts val="2125"/>
              </a:lnSpc>
              <a:spcBef>
                <a:spcPts val="0"/>
              </a:spcBef>
              <a:spcAft>
                <a:spcPts val="0"/>
              </a:spcAft>
              <a:buNone/>
            </a:pPr>
            <a:r>
              <a:rPr lang="en-US" altLang="en-US" sz="1700" b="1" dirty="0">
                <a:solidFill>
                  <a:srgbClr val="1E2A5A"/>
                </a:solidFill>
                <a:latin typeface="Calibri"/>
                <a:ea typeface="맑은 고딕"/>
                <a:cs typeface="Calibri"/>
              </a:rPr>
              <a:t>5.  </a:t>
            </a:r>
            <a:r>
              <a:rPr lang="ko-KR" altLang="en-US" sz="1700" b="1" dirty="0">
                <a:solidFill>
                  <a:srgbClr val="1F2328"/>
                </a:solidFill>
                <a:latin typeface="맑은 고딕"/>
                <a:ea typeface="맑은 고딕"/>
                <a:cs typeface="맑은 고딕"/>
              </a:rPr>
              <a:t>정보 통신 기술이 발달함에 따라 우리가 갖고 있는 데이터의 양이 이전보다 훨씬 더 많아지고 있다.</a:t>
            </a:r>
            <a:endParaRPr lang="ko-KR" sz="1700"/>
          </a:p>
        </p:txBody>
      </p:sp>
      <p:sp>
        <p:nvSpPr>
          <p:cNvPr id="17" name="ex_3"/>
          <p:cNvSpPr txBox="1"/>
          <p:nvPr/>
        </p:nvSpPr>
        <p:spPr>
          <a:xfrm>
            <a:off x="457200" y="4571238"/>
            <a:ext cx="11274552" cy="761238"/>
          </a:xfrm>
          <a:prstGeom prst="rect">
            <a:avLst/>
          </a:prstGeom>
          <a:noFill/>
        </p:spPr>
        <p:txBody>
          <a:bodyPr wrap="square" lIns="228600" tIns="54864" rIns="228600" bIns="54864" anchor="t" rtlCol="0">
            <a:noAutofit/>
          </a:bodyPr>
          <a:lstStyle/>
          <a:p>
            <a:pPr algn="l">
              <a:lnSpc>
                <a:spcPts val="2565"/>
              </a:lnSpc>
              <a:spcBef>
                <a:spcPts val="0"/>
              </a:spcBef>
              <a:spcAft>
                <a:spcPts val="0"/>
              </a:spcAft>
              <a:buNone/>
            </a:pPr>
            <a:r>
              <a:rPr lang="en-US" altLang="en-US" sz="1900" b="0" dirty="0">
                <a:solidFill>
                  <a:srgbClr val="1F2328"/>
                </a:solidFill>
                <a:latin typeface="Calibri"/>
                <a:ea typeface="맑은 고딕"/>
                <a:cs typeface="Calibri"/>
              </a:rPr>
              <a:t>As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develops</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information and communication technology</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the amount of data</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than before</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we have</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much greater</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is getting</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a:t>
            </a:r>
            <a:endParaRPr lang="ko-KR" sz="1900"/>
          </a:p>
        </p:txBody>
      </p:sp>
      <p:sp>
        <p:nvSpPr>
          <p:cNvPr id="18" name="rv_ans_3"/>
          <p:cNvSpPr txBox="1"/>
          <p:nvPr/>
        </p:nvSpPr>
        <p:spPr>
          <a:xfrm>
            <a:off x="594360" y="5369052"/>
            <a:ext cx="11000232" cy="737108"/>
          </a:xfrm>
          <a:prstGeom prst="rect">
            <a:avLst/>
          </a:prstGeom>
          <a:solidFill>
            <a:srgbClr val="FFF3C4"/>
          </a:solidFill>
        </p:spPr>
        <p:txBody>
          <a:bodyPr wrap="square" lIns="137160" tIns="54864" rIns="137160" bIns="54864" anchor="t" rtlCol="0">
            <a:noAutofit/>
          </a:bodyPr>
          <a:lstStyle/>
          <a:p>
            <a:pPr algn="l">
              <a:lnSpc>
                <a:spcPts val="2470"/>
              </a:lnSpc>
              <a:spcBef>
                <a:spcPts val="0"/>
              </a:spcBef>
              <a:spcAft>
                <a:spcPts val="0"/>
              </a:spcAft>
              <a:buNone/>
            </a:pPr>
            <a:r>
              <a:rPr lang="en-US" altLang="en-US" sz="1900" b="1" dirty="0">
                <a:solidFill>
                  <a:srgbClr val="C00000"/>
                </a:solidFill>
                <a:latin typeface="Calibri"/>
                <a:ea typeface="맑은 고딕"/>
                <a:cs typeface="Calibri"/>
              </a:rPr>
              <a:t>→  </a:t>
            </a:r>
            <a:r>
              <a:rPr lang="en-US" altLang="en-US" sz="1900" b="1" dirty="0">
                <a:solidFill>
                  <a:srgbClr val="C00000"/>
                </a:solidFill>
                <a:latin typeface="Calibri"/>
                <a:ea typeface="맑은 고딕"/>
                <a:cs typeface="Calibri"/>
              </a:rPr>
              <a:t>As information and communication technology develops, the amount of data we have is getting much greater than before.</a:t>
            </a:r>
            <a:endParaRPr lang="ko-KR" sz="19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25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250"/>
                                        <p:tgtEl>
                                          <p:spTgt spid="1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8"/>
                                        </p:tgtEl>
                                        <p:attrNameLst>
                                          <p:attrName>style.visibility</p:attrName>
                                        </p:attrNameLst>
                                      </p:cBhvr>
                                      <p:to>
                                        <p:strVal val="visible"/>
                                      </p:to>
                                    </p:set>
                                    <p:animEffect transition="in" filter="fade">
                                      <p:cBhvr>
                                        <p:cTn id="13"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4" grpId="0" animBg="1"/>
      <p:bldP spid="18" grpId="0" animBg="1"/>
    </p:bldLst>
  </p:timing>
</p:sld>
</file>

<file path=ppt/slides/slide2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8000"/>
            </a:avLst>
          </a:prstGeom>
          <a:solidFill>
            <a:srgbClr val="1E2A5A"/>
          </a:solidFill>
          <a:ln>
            <a:noFill/>
          </a:ln>
        </p:spPr>
        <p:txBody>
          <a:bodyPr wrap="square" lIns="45720" tIns="18288" rIns="45720" bIns="18288" anchor="ctr" rtlCol="0">
            <a:noAutofit/>
          </a:bodyPr>
          <a:lstStyle/>
          <a:p>
            <a:pPr algn="ctr">
              <a:lnSpc>
                <a:spcPts val="2000"/>
              </a:lnSpc>
              <a:spcBef>
                <a:spcPts val="0"/>
              </a:spcBef>
              <a:spcAft>
                <a:spcPts val="0"/>
              </a:spcAft>
              <a:buNone/>
            </a:pPr>
            <a:r>
              <a:rPr lang="en-US" altLang="en-US" sz="1700" b="1" dirty="0">
                <a:solidFill>
                  <a:srgbClr val="FFFFFF"/>
                </a:solidFill>
                <a:latin typeface="Calibri"/>
                <a:ea typeface="맑은 고딕"/>
                <a:cs typeface="Calibri"/>
              </a:rPr>
              <a:t>L7-1</a:t>
            </a:r>
            <a:endParaRPr lang="ko-KR" sz="1700"/>
          </a:p>
        </p:txBody>
      </p:sp>
      <p:sp>
        <p:nvSpPr>
          <p:cNvPr id="3" name="hdr_chip"/>
          <p:cNvSpPr/>
          <p:nvPr/>
        </p:nvSpPr>
        <p:spPr>
          <a:xfrm>
            <a:off x="1755648" y="274320"/>
            <a:ext cx="1371600" cy="493776"/>
          </a:xfrm>
          <a:prstGeom prst="roundRect">
            <a:avLst>
              <a:gd name="adj" fmla="val 8000"/>
            </a:avLst>
          </a:prstGeom>
          <a:solidFill>
            <a:srgbClr val="E6EAF4"/>
          </a:solidFill>
          <a:ln>
            <a:noFill/>
          </a:ln>
        </p:spPr>
        <p:txBody>
          <a:bodyPr wrap="square" lIns="27432" tIns="18288" rIns="27432" bIns="18288" anchor="ctr" rtlCol="0">
            <a:noAutofit/>
          </a:bodyPr>
          <a:lstStyle/>
          <a:p>
            <a:pPr algn="ctr">
              <a:lnSpc>
                <a:spcPts val="1700"/>
              </a:lnSpc>
              <a:spcBef>
                <a:spcPts val="0"/>
              </a:spcBef>
              <a:spcAft>
                <a:spcPts val="0"/>
              </a:spcAft>
              <a:buNone/>
            </a:pPr>
            <a:r>
              <a:rPr lang="ko-KR" altLang="en-US" sz="1400" b="1" dirty="0">
                <a:solidFill>
                  <a:srgbClr val="1E2A5A"/>
                </a:solidFill>
                <a:latin typeface="맑은 고딕"/>
                <a:ea typeface="맑은 고딕"/>
                <a:cs typeface="맑은 고딕"/>
              </a:rPr>
              <a:t>PART 6 · 3</a:t>
            </a:r>
            <a:endParaRPr lang="ko-KR" sz="1400"/>
          </a:p>
        </p:txBody>
      </p:sp>
      <p:sp>
        <p:nvSpPr>
          <p:cNvPr id="4" name="hdr_q"/>
          <p:cNvSpPr txBox="1"/>
          <p:nvPr/>
        </p:nvSpPr>
        <p:spPr>
          <a:xfrm>
            <a:off x="3246120" y="246888"/>
            <a:ext cx="8485632" cy="548640"/>
          </a:xfrm>
          <a:prstGeom prst="rect">
            <a:avLst/>
          </a:prstGeom>
          <a:noFill/>
        </p:spPr>
        <p:txBody>
          <a:bodyPr wrap="square" lIns="109728" tIns="54864" rIns="109728" bIns="54864" anchor="ctr" rtlCol="0">
            <a:noAutofit/>
          </a:bodyPr>
          <a:lstStyle/>
          <a:p>
            <a:pPr algn="l">
              <a:lnSpc>
                <a:spcPts val="2400"/>
              </a:lnSpc>
              <a:spcBef>
                <a:spcPts val="0"/>
              </a:spcBef>
              <a:spcAft>
                <a:spcPts val="0"/>
              </a:spcAft>
              <a:buNone/>
            </a:pPr>
            <a:r>
              <a:rPr lang="ko-KR" altLang="en-US" sz="2000" b="1" dirty="0">
                <a:solidFill>
                  <a:srgbClr val="1F2328"/>
                </a:solidFill>
                <a:latin typeface="맑은 고딕"/>
                <a:ea typeface="맑은 고딕"/>
                <a:cs typeface="맑은 고딕"/>
              </a:rPr>
              <a:t>우리말에 맞게 (  ) 안의 말을 바르게 배열하시오.</a:t>
            </a:r>
            <a:endParaRPr lang="ko-KR" sz="2000"/>
          </a:p>
        </p:txBody>
      </p:sp>
      <p:sp>
        <p:nvSpPr>
          <p:cNvPr id="5" name="ftr_exam"/>
          <p:cNvSpPr txBox="1"/>
          <p:nvPr/>
        </p:nvSpPr>
        <p:spPr>
          <a:xfrm>
            <a:off x="457200" y="6519672"/>
            <a:ext cx="5669280" cy="256032"/>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7</a:t>
            </a:r>
            <a:endParaRPr lang="ko-KR" sz="1000"/>
          </a:p>
        </p:txBody>
      </p:sp>
      <p:sp>
        <p:nvSpPr>
          <p:cNvPr id="6" name="ftr_hint"/>
          <p:cNvSpPr txBox="1"/>
          <p:nvPr/>
        </p:nvSpPr>
        <p:spPr>
          <a:xfrm>
            <a:off x="5971032" y="6519672"/>
            <a:ext cx="5760720" cy="256032"/>
          </a:xfrm>
          <a:prstGeom prst="rect">
            <a:avLst/>
          </a:prstGeom>
          <a:noFill/>
        </p:spPr>
        <p:txBody>
          <a:bodyPr wrap="square" lIns="0" tIns="0" rIns="0" bIns="0" anchor="t" rtlCol="0">
            <a:noAutofit/>
          </a:bodyPr>
          <a:lstStyle/>
          <a:p>
            <a:pPr algn="r">
              <a:lnSpc>
                <a:spcPts val="1200"/>
              </a:lnSpc>
              <a:spcBef>
                <a:spcPts val="0"/>
              </a:spcBef>
              <a:spcAft>
                <a:spcPts val="0"/>
              </a:spcAft>
              <a:buNone/>
            </a:pPr>
            <a:r>
              <a:rPr lang="ko-KR" altLang="en-US" sz="1000" b="0" dirty="0">
                <a:solidFill>
                  <a:srgbClr val="7A808C"/>
                </a:solidFill>
                <a:latin typeface="맑은 고딕"/>
                <a:ea typeface="맑은 고딕"/>
                <a:cs typeface="맑은 고딕"/>
              </a:rPr>
              <a:t>클릭 ① 완성 문장(정답) 공개</a:t>
            </a:r>
            <a:endParaRPr lang="ko-KR" sz="1000"/>
          </a:p>
        </p:txBody>
      </p:sp>
      <p:sp>
        <p:nvSpPr>
          <p:cNvPr id="7" name="item_card_1"/>
          <p:cNvSpPr/>
          <p:nvPr/>
        </p:nvSpPr>
        <p:spPr>
          <a:xfrm>
            <a:off x="457200" y="950976"/>
            <a:ext cx="11274552" cy="1661922"/>
          </a:xfrm>
          <a:prstGeom prst="roundRect">
            <a:avLst>
              <a:gd name="adj" fmla="val 6000"/>
            </a:avLst>
          </a:prstGeom>
          <a:solidFill>
            <a:srgbClr val="F3F5F9"/>
          </a:solidFill>
          <a:ln w="12700">
            <a:solidFill>
              <a:srgbClr val="D9DFEA"/>
            </a:solidFill>
          </a:ln>
        </p:spPr>
        <p:txBody>
          <a:bodyPr rtlCol="0" anchor="ctr"/>
          <a:lstStyle/>
          <a:p>
            <a:pPr algn="ctr"/>
          </a:p>
        </p:txBody>
      </p:sp>
      <p:sp>
        <p:nvSpPr>
          <p:cNvPr id="8" name="kor_1"/>
          <p:cNvSpPr txBox="1"/>
          <p:nvPr/>
        </p:nvSpPr>
        <p:spPr>
          <a:xfrm>
            <a:off x="457200" y="1060704"/>
            <a:ext cx="11274552" cy="379603"/>
          </a:xfrm>
          <a:prstGeom prst="rect">
            <a:avLst/>
          </a:prstGeom>
          <a:noFill/>
        </p:spPr>
        <p:txBody>
          <a:bodyPr wrap="square" lIns="228600" tIns="54864" rIns="228600" bIns="54864" anchor="t" rtlCol="0">
            <a:noAutofit/>
          </a:bodyPr>
          <a:lstStyle/>
          <a:p>
            <a:pPr algn="l">
              <a:lnSpc>
                <a:spcPts val="2125"/>
              </a:lnSpc>
              <a:spcBef>
                <a:spcPts val="0"/>
              </a:spcBef>
              <a:spcAft>
                <a:spcPts val="0"/>
              </a:spcAft>
              <a:buNone/>
            </a:pPr>
            <a:r>
              <a:rPr lang="en-US" altLang="en-US" sz="1700" b="1" dirty="0">
                <a:solidFill>
                  <a:srgbClr val="1E2A5A"/>
                </a:solidFill>
                <a:latin typeface="Calibri"/>
                <a:ea typeface="맑은 고딕"/>
                <a:cs typeface="Calibri"/>
              </a:rPr>
              <a:t>6.  </a:t>
            </a:r>
            <a:r>
              <a:rPr lang="ko-KR" altLang="en-US" sz="1700" b="1" dirty="0">
                <a:solidFill>
                  <a:srgbClr val="1F2328"/>
                </a:solidFill>
                <a:latin typeface="맑은 고딕"/>
                <a:ea typeface="맑은 고딕"/>
                <a:cs typeface="맑은 고딕"/>
              </a:rPr>
              <a:t>이것의 주된 이유는 우리가 온라인상에서 하는 거의 모든 것들이 흔적을 남기기 때문이다.</a:t>
            </a:r>
            <a:endParaRPr lang="ko-KR" sz="1700"/>
          </a:p>
        </p:txBody>
      </p:sp>
      <p:sp>
        <p:nvSpPr>
          <p:cNvPr id="9" name="ex_1"/>
          <p:cNvSpPr txBox="1"/>
          <p:nvPr/>
        </p:nvSpPr>
        <p:spPr>
          <a:xfrm>
            <a:off x="457200" y="1385443"/>
            <a:ext cx="11274552" cy="435483"/>
          </a:xfrm>
          <a:prstGeom prst="rect">
            <a:avLst/>
          </a:prstGeom>
          <a:noFill/>
        </p:spPr>
        <p:txBody>
          <a:bodyPr wrap="square" lIns="228600" tIns="54864" rIns="228600" bIns="54864" anchor="t" rtlCol="0">
            <a:noAutofit/>
          </a:bodyPr>
          <a:lstStyle/>
          <a:p>
            <a:pPr algn="l">
              <a:lnSpc>
                <a:spcPts val="2565"/>
              </a:lnSpc>
              <a:spcBef>
                <a:spcPts val="0"/>
              </a:spcBef>
              <a:spcAft>
                <a:spcPts val="0"/>
              </a:spcAft>
              <a:buNone/>
            </a:pP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because</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This is</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mainly</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that we do online</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a trace</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almost everything</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leaves</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a:t>
            </a:r>
            <a:endParaRPr lang="ko-KR" sz="1900"/>
          </a:p>
        </p:txBody>
      </p:sp>
      <p:sp>
        <p:nvSpPr>
          <p:cNvPr id="10" name="rv_ans_1"/>
          <p:cNvSpPr txBox="1"/>
          <p:nvPr/>
        </p:nvSpPr>
        <p:spPr>
          <a:xfrm>
            <a:off x="594360" y="1857502"/>
            <a:ext cx="11000232" cy="737108"/>
          </a:xfrm>
          <a:prstGeom prst="rect">
            <a:avLst/>
          </a:prstGeom>
          <a:solidFill>
            <a:srgbClr val="FFF3C4"/>
          </a:solidFill>
        </p:spPr>
        <p:txBody>
          <a:bodyPr wrap="square" lIns="137160" tIns="54864" rIns="137160" bIns="54864" anchor="t" rtlCol="0">
            <a:noAutofit/>
          </a:bodyPr>
          <a:lstStyle/>
          <a:p>
            <a:pPr algn="l">
              <a:lnSpc>
                <a:spcPts val="2470"/>
              </a:lnSpc>
              <a:spcBef>
                <a:spcPts val="0"/>
              </a:spcBef>
              <a:spcAft>
                <a:spcPts val="0"/>
              </a:spcAft>
              <a:buNone/>
            </a:pPr>
            <a:r>
              <a:rPr lang="en-US" altLang="en-US" sz="1900" b="1" dirty="0">
                <a:solidFill>
                  <a:srgbClr val="C00000"/>
                </a:solidFill>
                <a:latin typeface="Calibri"/>
                <a:ea typeface="맑은 고딕"/>
                <a:cs typeface="Calibri"/>
              </a:rPr>
              <a:t>→  </a:t>
            </a:r>
            <a:r>
              <a:rPr lang="en-US" altLang="en-US" sz="1900" b="1" dirty="0">
                <a:solidFill>
                  <a:srgbClr val="C00000"/>
                </a:solidFill>
                <a:latin typeface="Calibri"/>
                <a:ea typeface="맑은 고딕"/>
                <a:cs typeface="Calibri"/>
              </a:rPr>
              <a:t>This is mainly because almost everything that we do online leaves a trace.</a:t>
            </a:r>
            <a:endParaRPr lang="ko-KR" sz="1900"/>
          </a:p>
        </p:txBody>
      </p:sp>
      <p:sp>
        <p:nvSpPr>
          <p:cNvPr id="11" name="item_card_2"/>
          <p:cNvSpPr/>
          <p:nvPr/>
        </p:nvSpPr>
        <p:spPr>
          <a:xfrm>
            <a:off x="457200" y="2722626"/>
            <a:ext cx="11274552" cy="2257552"/>
          </a:xfrm>
          <a:prstGeom prst="roundRect">
            <a:avLst>
              <a:gd name="adj" fmla="val 6000"/>
            </a:avLst>
          </a:prstGeom>
          <a:solidFill>
            <a:srgbClr val="F3F5F9"/>
          </a:solidFill>
          <a:ln w="12700">
            <a:solidFill>
              <a:srgbClr val="D9DFEA"/>
            </a:solidFill>
          </a:ln>
        </p:spPr>
        <p:txBody>
          <a:bodyPr rtlCol="0" anchor="ctr"/>
          <a:lstStyle/>
          <a:p>
            <a:pPr algn="ctr"/>
          </a:p>
        </p:txBody>
      </p:sp>
      <p:sp>
        <p:nvSpPr>
          <p:cNvPr id="12" name="kor_2"/>
          <p:cNvSpPr txBox="1"/>
          <p:nvPr/>
        </p:nvSpPr>
        <p:spPr>
          <a:xfrm>
            <a:off x="457200" y="2832354"/>
            <a:ext cx="11274552" cy="649478"/>
          </a:xfrm>
          <a:prstGeom prst="rect">
            <a:avLst/>
          </a:prstGeom>
          <a:noFill/>
        </p:spPr>
        <p:txBody>
          <a:bodyPr wrap="square" lIns="228600" tIns="54864" rIns="228600" bIns="54864" anchor="t" rtlCol="0">
            <a:noAutofit/>
          </a:bodyPr>
          <a:lstStyle/>
          <a:p>
            <a:pPr algn="l">
              <a:lnSpc>
                <a:spcPts val="2125"/>
              </a:lnSpc>
              <a:spcBef>
                <a:spcPts val="0"/>
              </a:spcBef>
              <a:spcAft>
                <a:spcPts val="0"/>
              </a:spcAft>
              <a:buNone/>
            </a:pPr>
            <a:r>
              <a:rPr lang="en-US" altLang="en-US" sz="1700" b="1" dirty="0">
                <a:solidFill>
                  <a:srgbClr val="1E2A5A"/>
                </a:solidFill>
                <a:latin typeface="Calibri"/>
                <a:ea typeface="맑은 고딕"/>
                <a:cs typeface="Calibri"/>
              </a:rPr>
              <a:t>7.  </a:t>
            </a:r>
            <a:r>
              <a:rPr lang="ko-KR" altLang="en-US" sz="1700" b="1" dirty="0">
                <a:solidFill>
                  <a:srgbClr val="1F2328"/>
                </a:solidFill>
                <a:latin typeface="맑은 고딕"/>
                <a:ea typeface="맑은 고딕"/>
                <a:cs typeface="맑은 고딕"/>
              </a:rPr>
              <a:t>예를 들어, 당신이 블로그에 올린 사진들과 온라인 상점에서의 구매 기록들이 모두 빅데이터의 일부이다.</a:t>
            </a:r>
            <a:endParaRPr lang="ko-KR" sz="1700"/>
          </a:p>
        </p:txBody>
      </p:sp>
      <p:sp>
        <p:nvSpPr>
          <p:cNvPr id="13" name="ex_2"/>
          <p:cNvSpPr txBox="1"/>
          <p:nvPr/>
        </p:nvSpPr>
        <p:spPr>
          <a:xfrm>
            <a:off x="457200" y="3426968"/>
            <a:ext cx="11274552" cy="761238"/>
          </a:xfrm>
          <a:prstGeom prst="rect">
            <a:avLst/>
          </a:prstGeom>
          <a:noFill/>
        </p:spPr>
        <p:txBody>
          <a:bodyPr wrap="square" lIns="228600" tIns="54864" rIns="228600" bIns="54864" anchor="t" rtlCol="0">
            <a:noAutofit/>
          </a:bodyPr>
          <a:lstStyle/>
          <a:p>
            <a:pPr algn="l">
              <a:lnSpc>
                <a:spcPts val="2565"/>
              </a:lnSpc>
              <a:spcBef>
                <a:spcPts val="0"/>
              </a:spcBef>
              <a:spcAft>
                <a:spcPts val="0"/>
              </a:spcAft>
              <a:buNone/>
            </a:pPr>
            <a:r>
              <a:rPr lang="en-US" altLang="en-US" sz="1900" b="0" dirty="0">
                <a:solidFill>
                  <a:srgbClr val="1F2328"/>
                </a:solidFill>
                <a:latin typeface="Calibri"/>
                <a:ea typeface="맑은 고딕"/>
                <a:cs typeface="Calibri"/>
              </a:rPr>
              <a:t>For example,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on your blog</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you upload</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the photos</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 and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at online stores</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the records of your purchases</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 are all part of big data.</a:t>
            </a:r>
            <a:endParaRPr lang="ko-KR" sz="1900"/>
          </a:p>
        </p:txBody>
      </p:sp>
      <p:sp>
        <p:nvSpPr>
          <p:cNvPr id="14" name="rv_ans_2"/>
          <p:cNvSpPr txBox="1"/>
          <p:nvPr/>
        </p:nvSpPr>
        <p:spPr>
          <a:xfrm>
            <a:off x="594360" y="4224782"/>
            <a:ext cx="11000232" cy="737108"/>
          </a:xfrm>
          <a:prstGeom prst="rect">
            <a:avLst/>
          </a:prstGeom>
          <a:solidFill>
            <a:srgbClr val="FFF3C4"/>
          </a:solidFill>
        </p:spPr>
        <p:txBody>
          <a:bodyPr wrap="square" lIns="137160" tIns="54864" rIns="137160" bIns="54864" anchor="t" rtlCol="0">
            <a:noAutofit/>
          </a:bodyPr>
          <a:lstStyle/>
          <a:p>
            <a:pPr algn="l">
              <a:lnSpc>
                <a:spcPts val="2470"/>
              </a:lnSpc>
              <a:spcBef>
                <a:spcPts val="0"/>
              </a:spcBef>
              <a:spcAft>
                <a:spcPts val="0"/>
              </a:spcAft>
              <a:buNone/>
            </a:pPr>
            <a:r>
              <a:rPr lang="en-US" altLang="en-US" sz="1900" b="1" dirty="0">
                <a:solidFill>
                  <a:srgbClr val="C00000"/>
                </a:solidFill>
                <a:latin typeface="Calibri"/>
                <a:ea typeface="맑은 고딕"/>
                <a:cs typeface="Calibri"/>
              </a:rPr>
              <a:t>→  </a:t>
            </a:r>
            <a:r>
              <a:rPr lang="en-US" altLang="en-US" sz="1900" b="1" dirty="0">
                <a:solidFill>
                  <a:srgbClr val="C00000"/>
                </a:solidFill>
                <a:latin typeface="Calibri"/>
                <a:ea typeface="맑은 고딕"/>
                <a:cs typeface="Calibri"/>
              </a:rPr>
              <a:t>For example, the photos you upload on your blog and the records of your purchases at online stores are all part of big data.</a:t>
            </a:r>
            <a:endParaRPr lang="ko-KR" sz="19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25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2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4" grpId="0" animBg="1"/>
    </p:bldLst>
  </p:timing>
</p:sld>
</file>

<file path=ppt/slides/slide2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8000"/>
            </a:avLst>
          </a:prstGeom>
          <a:solidFill>
            <a:srgbClr val="1E2A5A"/>
          </a:solidFill>
          <a:ln>
            <a:noFill/>
          </a:ln>
        </p:spPr>
        <p:txBody>
          <a:bodyPr wrap="square" lIns="45720" tIns="18288" rIns="45720" bIns="18288" anchor="ctr" rtlCol="0">
            <a:noAutofit/>
          </a:bodyPr>
          <a:lstStyle/>
          <a:p>
            <a:pPr algn="ctr">
              <a:lnSpc>
                <a:spcPts val="2000"/>
              </a:lnSpc>
              <a:spcBef>
                <a:spcPts val="0"/>
              </a:spcBef>
              <a:spcAft>
                <a:spcPts val="0"/>
              </a:spcAft>
              <a:buNone/>
            </a:pPr>
            <a:r>
              <a:rPr lang="en-US" altLang="en-US" sz="1700" b="1" dirty="0">
                <a:solidFill>
                  <a:srgbClr val="FFFFFF"/>
                </a:solidFill>
                <a:latin typeface="Calibri"/>
                <a:ea typeface="맑은 고딕"/>
                <a:cs typeface="Calibri"/>
              </a:rPr>
              <a:t>L7-1</a:t>
            </a:r>
            <a:endParaRPr lang="ko-KR" sz="1700"/>
          </a:p>
        </p:txBody>
      </p:sp>
      <p:sp>
        <p:nvSpPr>
          <p:cNvPr id="3" name="hdr_chip"/>
          <p:cNvSpPr/>
          <p:nvPr/>
        </p:nvSpPr>
        <p:spPr>
          <a:xfrm>
            <a:off x="1755648" y="274320"/>
            <a:ext cx="1371600" cy="493776"/>
          </a:xfrm>
          <a:prstGeom prst="roundRect">
            <a:avLst>
              <a:gd name="adj" fmla="val 8000"/>
            </a:avLst>
          </a:prstGeom>
          <a:solidFill>
            <a:srgbClr val="E6EAF4"/>
          </a:solidFill>
          <a:ln>
            <a:noFill/>
          </a:ln>
        </p:spPr>
        <p:txBody>
          <a:bodyPr wrap="square" lIns="27432" tIns="18288" rIns="27432" bIns="18288" anchor="ctr" rtlCol="0">
            <a:noAutofit/>
          </a:bodyPr>
          <a:lstStyle/>
          <a:p>
            <a:pPr algn="ctr">
              <a:lnSpc>
                <a:spcPts val="1700"/>
              </a:lnSpc>
              <a:spcBef>
                <a:spcPts val="0"/>
              </a:spcBef>
              <a:spcAft>
                <a:spcPts val="0"/>
              </a:spcAft>
              <a:buNone/>
            </a:pPr>
            <a:r>
              <a:rPr lang="ko-KR" altLang="en-US" sz="1400" b="1" dirty="0">
                <a:solidFill>
                  <a:srgbClr val="1E2A5A"/>
                </a:solidFill>
                <a:latin typeface="맑은 고딕"/>
                <a:ea typeface="맑은 고딕"/>
                <a:cs typeface="맑은 고딕"/>
              </a:rPr>
              <a:t>PART 6 · 4</a:t>
            </a:r>
            <a:endParaRPr lang="ko-KR" sz="1400"/>
          </a:p>
        </p:txBody>
      </p:sp>
      <p:sp>
        <p:nvSpPr>
          <p:cNvPr id="4" name="hdr_q"/>
          <p:cNvSpPr txBox="1"/>
          <p:nvPr/>
        </p:nvSpPr>
        <p:spPr>
          <a:xfrm>
            <a:off x="3246120" y="246888"/>
            <a:ext cx="8485632" cy="548640"/>
          </a:xfrm>
          <a:prstGeom prst="rect">
            <a:avLst/>
          </a:prstGeom>
          <a:noFill/>
        </p:spPr>
        <p:txBody>
          <a:bodyPr wrap="square" lIns="109728" tIns="54864" rIns="109728" bIns="54864" anchor="ctr" rtlCol="0">
            <a:noAutofit/>
          </a:bodyPr>
          <a:lstStyle/>
          <a:p>
            <a:pPr algn="l">
              <a:lnSpc>
                <a:spcPts val="2400"/>
              </a:lnSpc>
              <a:spcBef>
                <a:spcPts val="0"/>
              </a:spcBef>
              <a:spcAft>
                <a:spcPts val="0"/>
              </a:spcAft>
              <a:buNone/>
            </a:pPr>
            <a:r>
              <a:rPr lang="ko-KR" altLang="en-US" sz="2000" b="1" dirty="0">
                <a:solidFill>
                  <a:srgbClr val="1F2328"/>
                </a:solidFill>
                <a:latin typeface="맑은 고딕"/>
                <a:ea typeface="맑은 고딕"/>
                <a:cs typeface="맑은 고딕"/>
              </a:rPr>
              <a:t>우리말에 맞게 (  ) 안의 말을 바르게 배열하시오.</a:t>
            </a:r>
            <a:endParaRPr lang="ko-KR" sz="2000"/>
          </a:p>
        </p:txBody>
      </p:sp>
      <p:sp>
        <p:nvSpPr>
          <p:cNvPr id="5" name="ftr_exam"/>
          <p:cNvSpPr txBox="1"/>
          <p:nvPr/>
        </p:nvSpPr>
        <p:spPr>
          <a:xfrm>
            <a:off x="457200" y="6519672"/>
            <a:ext cx="5669280" cy="256032"/>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7</a:t>
            </a:r>
            <a:endParaRPr lang="ko-KR" sz="1000"/>
          </a:p>
        </p:txBody>
      </p:sp>
      <p:sp>
        <p:nvSpPr>
          <p:cNvPr id="6" name="ftr_hint"/>
          <p:cNvSpPr txBox="1"/>
          <p:nvPr/>
        </p:nvSpPr>
        <p:spPr>
          <a:xfrm>
            <a:off x="5971032" y="6519672"/>
            <a:ext cx="5760720" cy="256032"/>
          </a:xfrm>
          <a:prstGeom prst="rect">
            <a:avLst/>
          </a:prstGeom>
          <a:noFill/>
        </p:spPr>
        <p:txBody>
          <a:bodyPr wrap="square" lIns="0" tIns="0" rIns="0" bIns="0" anchor="t" rtlCol="0">
            <a:noAutofit/>
          </a:bodyPr>
          <a:lstStyle/>
          <a:p>
            <a:pPr algn="r">
              <a:lnSpc>
                <a:spcPts val="1200"/>
              </a:lnSpc>
              <a:spcBef>
                <a:spcPts val="0"/>
              </a:spcBef>
              <a:spcAft>
                <a:spcPts val="0"/>
              </a:spcAft>
              <a:buNone/>
            </a:pPr>
            <a:r>
              <a:rPr lang="ko-KR" altLang="en-US" sz="1000" b="0" dirty="0">
                <a:solidFill>
                  <a:srgbClr val="7A808C"/>
                </a:solidFill>
                <a:latin typeface="맑은 고딕"/>
                <a:ea typeface="맑은 고딕"/>
                <a:cs typeface="맑은 고딕"/>
              </a:rPr>
              <a:t>클릭 ① 완성 문장(정답) 공개</a:t>
            </a:r>
            <a:endParaRPr lang="ko-KR" sz="1000"/>
          </a:p>
        </p:txBody>
      </p:sp>
      <p:sp>
        <p:nvSpPr>
          <p:cNvPr id="7" name="item_card_1"/>
          <p:cNvSpPr/>
          <p:nvPr/>
        </p:nvSpPr>
        <p:spPr>
          <a:xfrm>
            <a:off x="457200" y="950976"/>
            <a:ext cx="11274552" cy="1348232"/>
          </a:xfrm>
          <a:prstGeom prst="roundRect">
            <a:avLst>
              <a:gd name="adj" fmla="val 6000"/>
            </a:avLst>
          </a:prstGeom>
          <a:solidFill>
            <a:srgbClr val="F3F5F9"/>
          </a:solidFill>
          <a:ln w="12700">
            <a:solidFill>
              <a:srgbClr val="D9DFEA"/>
            </a:solidFill>
          </a:ln>
        </p:spPr>
        <p:txBody>
          <a:bodyPr rtlCol="0" anchor="ctr"/>
          <a:lstStyle/>
          <a:p>
            <a:pPr algn="ctr"/>
          </a:p>
        </p:txBody>
      </p:sp>
      <p:sp>
        <p:nvSpPr>
          <p:cNvPr id="8" name="kor_1"/>
          <p:cNvSpPr txBox="1"/>
          <p:nvPr/>
        </p:nvSpPr>
        <p:spPr>
          <a:xfrm>
            <a:off x="457200" y="1060704"/>
            <a:ext cx="11274552" cy="379603"/>
          </a:xfrm>
          <a:prstGeom prst="rect">
            <a:avLst/>
          </a:prstGeom>
          <a:noFill/>
        </p:spPr>
        <p:txBody>
          <a:bodyPr wrap="square" lIns="228600" tIns="54864" rIns="228600" bIns="54864" anchor="t" rtlCol="0">
            <a:noAutofit/>
          </a:bodyPr>
          <a:lstStyle/>
          <a:p>
            <a:pPr algn="l">
              <a:lnSpc>
                <a:spcPts val="2125"/>
              </a:lnSpc>
              <a:spcBef>
                <a:spcPts val="0"/>
              </a:spcBef>
              <a:spcAft>
                <a:spcPts val="0"/>
              </a:spcAft>
              <a:buNone/>
            </a:pPr>
            <a:r>
              <a:rPr lang="en-US" altLang="en-US" sz="1700" b="1" dirty="0">
                <a:solidFill>
                  <a:srgbClr val="1E2A5A"/>
                </a:solidFill>
                <a:latin typeface="Calibri"/>
                <a:ea typeface="맑은 고딕"/>
                <a:cs typeface="Calibri"/>
              </a:rPr>
              <a:t>8.  </a:t>
            </a:r>
            <a:r>
              <a:rPr lang="ko-KR" altLang="en-US" sz="1700" b="1" dirty="0">
                <a:solidFill>
                  <a:srgbClr val="1F2328"/>
                </a:solidFill>
                <a:latin typeface="맑은 고딕"/>
                <a:ea typeface="맑은 고딕"/>
                <a:cs typeface="맑은 고딕"/>
              </a:rPr>
              <a:t>하지만 단순히 데이터를 수집하는 것만으로는 충분하지 않다.</a:t>
            </a:r>
            <a:endParaRPr lang="ko-KR" sz="1700"/>
          </a:p>
        </p:txBody>
      </p:sp>
      <p:sp>
        <p:nvSpPr>
          <p:cNvPr id="9" name="ex_1"/>
          <p:cNvSpPr txBox="1"/>
          <p:nvPr/>
        </p:nvSpPr>
        <p:spPr>
          <a:xfrm>
            <a:off x="457200" y="1385443"/>
            <a:ext cx="11274552" cy="435483"/>
          </a:xfrm>
          <a:prstGeom prst="rect">
            <a:avLst/>
          </a:prstGeom>
          <a:noFill/>
        </p:spPr>
        <p:txBody>
          <a:bodyPr wrap="square" lIns="228600" tIns="54864" rIns="228600" bIns="54864" anchor="t" rtlCol="0">
            <a:noAutofit/>
          </a:bodyPr>
          <a:lstStyle/>
          <a:p>
            <a:pPr algn="l">
              <a:lnSpc>
                <a:spcPts val="2565"/>
              </a:lnSpc>
              <a:spcBef>
                <a:spcPts val="0"/>
              </a:spcBef>
              <a:spcAft>
                <a:spcPts val="0"/>
              </a:spcAft>
              <a:buNone/>
            </a:pP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collecting</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Simply</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data</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 however,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enough</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is not</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a:t>
            </a:r>
            <a:endParaRPr lang="ko-KR" sz="1900"/>
          </a:p>
        </p:txBody>
      </p:sp>
      <p:sp>
        <p:nvSpPr>
          <p:cNvPr id="10" name="rv_ans_1"/>
          <p:cNvSpPr txBox="1"/>
          <p:nvPr/>
        </p:nvSpPr>
        <p:spPr>
          <a:xfrm>
            <a:off x="594360" y="1857502"/>
            <a:ext cx="11000232" cy="423418"/>
          </a:xfrm>
          <a:prstGeom prst="rect">
            <a:avLst/>
          </a:prstGeom>
          <a:solidFill>
            <a:srgbClr val="FFF3C4"/>
          </a:solidFill>
        </p:spPr>
        <p:txBody>
          <a:bodyPr wrap="square" lIns="137160" tIns="54864" rIns="137160" bIns="54864" anchor="t" rtlCol="0">
            <a:noAutofit/>
          </a:bodyPr>
          <a:lstStyle/>
          <a:p>
            <a:pPr algn="l">
              <a:lnSpc>
                <a:spcPts val="2470"/>
              </a:lnSpc>
              <a:spcBef>
                <a:spcPts val="0"/>
              </a:spcBef>
              <a:spcAft>
                <a:spcPts val="0"/>
              </a:spcAft>
              <a:buNone/>
            </a:pPr>
            <a:r>
              <a:rPr lang="en-US" altLang="en-US" sz="1900" b="1" dirty="0">
                <a:solidFill>
                  <a:srgbClr val="C00000"/>
                </a:solidFill>
                <a:latin typeface="Calibri"/>
                <a:ea typeface="맑은 고딕"/>
                <a:cs typeface="Calibri"/>
              </a:rPr>
              <a:t>→  </a:t>
            </a:r>
            <a:r>
              <a:rPr lang="en-US" altLang="en-US" sz="1900" b="1" dirty="0">
                <a:solidFill>
                  <a:srgbClr val="C00000"/>
                </a:solidFill>
                <a:latin typeface="Calibri"/>
                <a:ea typeface="맑은 고딕"/>
                <a:cs typeface="Calibri"/>
              </a:rPr>
              <a:t>Simply collecting data, however, is not enough.</a:t>
            </a:r>
            <a:endParaRPr lang="ko-KR" sz="1900"/>
          </a:p>
        </p:txBody>
      </p:sp>
      <p:sp>
        <p:nvSpPr>
          <p:cNvPr id="11" name="item_card_2"/>
          <p:cNvSpPr/>
          <p:nvPr/>
        </p:nvSpPr>
        <p:spPr>
          <a:xfrm>
            <a:off x="457200" y="2408936"/>
            <a:ext cx="11274552" cy="1348232"/>
          </a:xfrm>
          <a:prstGeom prst="roundRect">
            <a:avLst>
              <a:gd name="adj" fmla="val 6000"/>
            </a:avLst>
          </a:prstGeom>
          <a:solidFill>
            <a:srgbClr val="F3F5F9"/>
          </a:solidFill>
          <a:ln w="12700">
            <a:solidFill>
              <a:srgbClr val="D9DFEA"/>
            </a:solidFill>
          </a:ln>
        </p:spPr>
        <p:txBody>
          <a:bodyPr rtlCol="0" anchor="ctr"/>
          <a:lstStyle/>
          <a:p>
            <a:pPr algn="ctr"/>
          </a:p>
        </p:txBody>
      </p:sp>
      <p:sp>
        <p:nvSpPr>
          <p:cNvPr id="12" name="kor_2"/>
          <p:cNvSpPr txBox="1"/>
          <p:nvPr/>
        </p:nvSpPr>
        <p:spPr>
          <a:xfrm>
            <a:off x="457200" y="2518664"/>
            <a:ext cx="11274552" cy="379603"/>
          </a:xfrm>
          <a:prstGeom prst="rect">
            <a:avLst/>
          </a:prstGeom>
          <a:noFill/>
        </p:spPr>
        <p:txBody>
          <a:bodyPr wrap="square" lIns="228600" tIns="54864" rIns="228600" bIns="54864" anchor="t" rtlCol="0">
            <a:noAutofit/>
          </a:bodyPr>
          <a:lstStyle/>
          <a:p>
            <a:pPr algn="l">
              <a:lnSpc>
                <a:spcPts val="2125"/>
              </a:lnSpc>
              <a:spcBef>
                <a:spcPts val="0"/>
              </a:spcBef>
              <a:spcAft>
                <a:spcPts val="0"/>
              </a:spcAft>
              <a:buNone/>
            </a:pPr>
            <a:r>
              <a:rPr lang="en-US" altLang="en-US" sz="1700" b="1" dirty="0">
                <a:solidFill>
                  <a:srgbClr val="1E2A5A"/>
                </a:solidFill>
                <a:latin typeface="Calibri"/>
                <a:ea typeface="맑은 고딕"/>
                <a:cs typeface="Calibri"/>
              </a:rPr>
              <a:t>9.  </a:t>
            </a:r>
            <a:r>
              <a:rPr lang="ko-KR" altLang="en-US" sz="1700" b="1" dirty="0">
                <a:solidFill>
                  <a:srgbClr val="1F2328"/>
                </a:solidFill>
                <a:latin typeface="맑은 고딕"/>
                <a:ea typeface="맑은 고딕"/>
                <a:cs typeface="맑은 고딕"/>
              </a:rPr>
              <a:t>빅데이터는 분석되어야 하는데, 이것은 빅데이터 전문가들에 의해서 이루어진다.</a:t>
            </a:r>
            <a:endParaRPr lang="ko-KR" sz="1700"/>
          </a:p>
        </p:txBody>
      </p:sp>
      <p:sp>
        <p:nvSpPr>
          <p:cNvPr id="13" name="ex_2"/>
          <p:cNvSpPr txBox="1"/>
          <p:nvPr/>
        </p:nvSpPr>
        <p:spPr>
          <a:xfrm>
            <a:off x="457200" y="2843403"/>
            <a:ext cx="11274552" cy="435483"/>
          </a:xfrm>
          <a:prstGeom prst="rect">
            <a:avLst/>
          </a:prstGeom>
          <a:noFill/>
        </p:spPr>
        <p:txBody>
          <a:bodyPr wrap="square" lIns="228600" tIns="54864" rIns="228600" bIns="54864" anchor="t" rtlCol="0">
            <a:noAutofit/>
          </a:bodyPr>
          <a:lstStyle/>
          <a:p>
            <a:pPr algn="l">
              <a:lnSpc>
                <a:spcPts val="2565"/>
              </a:lnSpc>
              <a:spcBef>
                <a:spcPts val="0"/>
              </a:spcBef>
              <a:spcAft>
                <a:spcPts val="0"/>
              </a:spcAft>
              <a:buNone/>
            </a:pP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has to be</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analyzed</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Big data</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 and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this</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by big data experts</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is done</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a:t>
            </a:r>
            <a:endParaRPr lang="ko-KR" sz="1900"/>
          </a:p>
        </p:txBody>
      </p:sp>
      <p:sp>
        <p:nvSpPr>
          <p:cNvPr id="14" name="rv_ans_2"/>
          <p:cNvSpPr txBox="1"/>
          <p:nvPr/>
        </p:nvSpPr>
        <p:spPr>
          <a:xfrm>
            <a:off x="594360" y="3315462"/>
            <a:ext cx="11000232" cy="423418"/>
          </a:xfrm>
          <a:prstGeom prst="rect">
            <a:avLst/>
          </a:prstGeom>
          <a:solidFill>
            <a:srgbClr val="FFF3C4"/>
          </a:solidFill>
        </p:spPr>
        <p:txBody>
          <a:bodyPr wrap="square" lIns="137160" tIns="54864" rIns="137160" bIns="54864" anchor="t" rtlCol="0">
            <a:noAutofit/>
          </a:bodyPr>
          <a:lstStyle/>
          <a:p>
            <a:pPr algn="l">
              <a:lnSpc>
                <a:spcPts val="2470"/>
              </a:lnSpc>
              <a:spcBef>
                <a:spcPts val="0"/>
              </a:spcBef>
              <a:spcAft>
                <a:spcPts val="0"/>
              </a:spcAft>
              <a:buNone/>
            </a:pPr>
            <a:r>
              <a:rPr lang="en-US" altLang="en-US" sz="1900" b="1" dirty="0">
                <a:solidFill>
                  <a:srgbClr val="C00000"/>
                </a:solidFill>
                <a:latin typeface="Calibri"/>
                <a:ea typeface="맑은 고딕"/>
                <a:cs typeface="Calibri"/>
              </a:rPr>
              <a:t>→  </a:t>
            </a:r>
            <a:r>
              <a:rPr lang="en-US" altLang="en-US" sz="1900" b="1" dirty="0">
                <a:solidFill>
                  <a:srgbClr val="C00000"/>
                </a:solidFill>
                <a:latin typeface="Calibri"/>
                <a:ea typeface="맑은 고딕"/>
                <a:cs typeface="Calibri"/>
              </a:rPr>
              <a:t>Big data has to be analyzed, and this is done by big data experts.</a:t>
            </a:r>
            <a:endParaRPr lang="ko-KR" sz="1900"/>
          </a:p>
        </p:txBody>
      </p:sp>
      <p:sp>
        <p:nvSpPr>
          <p:cNvPr id="15" name="item_card_3"/>
          <p:cNvSpPr/>
          <p:nvPr/>
        </p:nvSpPr>
        <p:spPr>
          <a:xfrm>
            <a:off x="457200" y="3866896"/>
            <a:ext cx="11274552" cy="2257552"/>
          </a:xfrm>
          <a:prstGeom prst="roundRect">
            <a:avLst>
              <a:gd name="adj" fmla="val 6000"/>
            </a:avLst>
          </a:prstGeom>
          <a:solidFill>
            <a:srgbClr val="F3F5F9"/>
          </a:solidFill>
          <a:ln w="12700">
            <a:solidFill>
              <a:srgbClr val="D9DFEA"/>
            </a:solidFill>
          </a:ln>
        </p:spPr>
        <p:txBody>
          <a:bodyPr rtlCol="0" anchor="ctr"/>
          <a:lstStyle/>
          <a:p>
            <a:pPr algn="ctr"/>
          </a:p>
        </p:txBody>
      </p:sp>
      <p:sp>
        <p:nvSpPr>
          <p:cNvPr id="16" name="kor_3"/>
          <p:cNvSpPr txBox="1"/>
          <p:nvPr/>
        </p:nvSpPr>
        <p:spPr>
          <a:xfrm>
            <a:off x="457200" y="3976624"/>
            <a:ext cx="11274552" cy="649478"/>
          </a:xfrm>
          <a:prstGeom prst="rect">
            <a:avLst/>
          </a:prstGeom>
          <a:noFill/>
        </p:spPr>
        <p:txBody>
          <a:bodyPr wrap="square" lIns="228600" tIns="54864" rIns="228600" bIns="54864" anchor="t" rtlCol="0">
            <a:noAutofit/>
          </a:bodyPr>
          <a:lstStyle/>
          <a:p>
            <a:pPr algn="l">
              <a:lnSpc>
                <a:spcPts val="2125"/>
              </a:lnSpc>
              <a:spcBef>
                <a:spcPts val="0"/>
              </a:spcBef>
              <a:spcAft>
                <a:spcPts val="0"/>
              </a:spcAft>
              <a:buNone/>
            </a:pPr>
            <a:r>
              <a:rPr lang="en-US" altLang="en-US" sz="1700" b="1" dirty="0">
                <a:solidFill>
                  <a:srgbClr val="1E2A5A"/>
                </a:solidFill>
                <a:latin typeface="Calibri"/>
                <a:ea typeface="맑은 고딕"/>
                <a:cs typeface="Calibri"/>
              </a:rPr>
              <a:t>10.  </a:t>
            </a:r>
            <a:r>
              <a:rPr lang="ko-KR" altLang="en-US" sz="1700" b="1" dirty="0">
                <a:solidFill>
                  <a:srgbClr val="1F2328"/>
                </a:solidFill>
                <a:latin typeface="맑은 고딕"/>
                <a:ea typeface="맑은 고딕"/>
                <a:cs typeface="맑은 고딕"/>
              </a:rPr>
              <a:t>전문가들은 다양한 방법들을 사용하여 빅데이터를 분석하고, 그것으로부터 의미 있는 결과들을 도출한다.</a:t>
            </a:r>
            <a:endParaRPr lang="ko-KR" sz="1700"/>
          </a:p>
        </p:txBody>
      </p:sp>
      <p:sp>
        <p:nvSpPr>
          <p:cNvPr id="17" name="ex_3"/>
          <p:cNvSpPr txBox="1"/>
          <p:nvPr/>
        </p:nvSpPr>
        <p:spPr>
          <a:xfrm>
            <a:off x="457200" y="4571238"/>
            <a:ext cx="11274552" cy="761238"/>
          </a:xfrm>
          <a:prstGeom prst="rect">
            <a:avLst/>
          </a:prstGeom>
          <a:noFill/>
        </p:spPr>
        <p:txBody>
          <a:bodyPr wrap="square" lIns="228600" tIns="54864" rIns="228600" bIns="54864" anchor="t" rtlCol="0">
            <a:noAutofit/>
          </a:bodyPr>
          <a:lstStyle/>
          <a:p>
            <a:pPr algn="l">
              <a:lnSpc>
                <a:spcPts val="2565"/>
              </a:lnSpc>
              <a:spcBef>
                <a:spcPts val="0"/>
              </a:spcBef>
              <a:spcAft>
                <a:spcPts val="0"/>
              </a:spcAft>
              <a:buNone/>
            </a:pPr>
            <a:r>
              <a:rPr lang="en-US" altLang="en-US" sz="1900" b="0" dirty="0">
                <a:solidFill>
                  <a:srgbClr val="1F2328"/>
                </a:solidFill>
                <a:latin typeface="Calibri"/>
                <a:ea typeface="맑은 고딕"/>
                <a:cs typeface="Calibri"/>
              </a:rPr>
              <a:t>Using various methods,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experts</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big data</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analyze</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 and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meaningful results</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from it</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draw</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a:t>
            </a:r>
            <a:endParaRPr lang="ko-KR" sz="1900"/>
          </a:p>
        </p:txBody>
      </p:sp>
      <p:sp>
        <p:nvSpPr>
          <p:cNvPr id="18" name="rv_ans_3"/>
          <p:cNvSpPr txBox="1"/>
          <p:nvPr/>
        </p:nvSpPr>
        <p:spPr>
          <a:xfrm>
            <a:off x="594360" y="5369052"/>
            <a:ext cx="11000232" cy="737108"/>
          </a:xfrm>
          <a:prstGeom prst="rect">
            <a:avLst/>
          </a:prstGeom>
          <a:solidFill>
            <a:srgbClr val="FFF3C4"/>
          </a:solidFill>
        </p:spPr>
        <p:txBody>
          <a:bodyPr wrap="square" lIns="137160" tIns="54864" rIns="137160" bIns="54864" anchor="t" rtlCol="0">
            <a:noAutofit/>
          </a:bodyPr>
          <a:lstStyle/>
          <a:p>
            <a:pPr algn="l">
              <a:lnSpc>
                <a:spcPts val="2470"/>
              </a:lnSpc>
              <a:spcBef>
                <a:spcPts val="0"/>
              </a:spcBef>
              <a:spcAft>
                <a:spcPts val="0"/>
              </a:spcAft>
              <a:buNone/>
            </a:pPr>
            <a:r>
              <a:rPr lang="en-US" altLang="en-US" sz="1900" b="1" dirty="0">
                <a:solidFill>
                  <a:srgbClr val="C00000"/>
                </a:solidFill>
                <a:latin typeface="Calibri"/>
                <a:ea typeface="맑은 고딕"/>
                <a:cs typeface="Calibri"/>
              </a:rPr>
              <a:t>→  </a:t>
            </a:r>
            <a:r>
              <a:rPr lang="en-US" altLang="en-US" sz="1900" b="1" dirty="0">
                <a:solidFill>
                  <a:srgbClr val="C00000"/>
                </a:solidFill>
                <a:latin typeface="Calibri"/>
                <a:ea typeface="맑은 고딕"/>
                <a:cs typeface="Calibri"/>
              </a:rPr>
              <a:t>Using various methods, experts analyze big data and draw meaningful results from it.</a:t>
            </a:r>
            <a:endParaRPr lang="ko-KR" sz="19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25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250"/>
                                        <p:tgtEl>
                                          <p:spTgt spid="1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8"/>
                                        </p:tgtEl>
                                        <p:attrNameLst>
                                          <p:attrName>style.visibility</p:attrName>
                                        </p:attrNameLst>
                                      </p:cBhvr>
                                      <p:to>
                                        <p:strVal val="visible"/>
                                      </p:to>
                                    </p:set>
                                    <p:animEffect transition="in" filter="fade">
                                      <p:cBhvr>
                                        <p:cTn id="13"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4" grpId="0" animBg="1"/>
      <p:bldP spid="18" grpId="0" animBg="1"/>
    </p:bldLst>
  </p:timing>
</p:sld>
</file>

<file path=ppt/slides/slide2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8000"/>
            </a:avLst>
          </a:prstGeom>
          <a:solidFill>
            <a:srgbClr val="1E2A5A"/>
          </a:solidFill>
          <a:ln>
            <a:noFill/>
          </a:ln>
        </p:spPr>
        <p:txBody>
          <a:bodyPr wrap="square" lIns="45720" tIns="18288" rIns="45720" bIns="18288" anchor="ctr" rtlCol="0">
            <a:noAutofit/>
          </a:bodyPr>
          <a:lstStyle/>
          <a:p>
            <a:pPr algn="ctr">
              <a:lnSpc>
                <a:spcPts val="2000"/>
              </a:lnSpc>
              <a:spcBef>
                <a:spcPts val="0"/>
              </a:spcBef>
              <a:spcAft>
                <a:spcPts val="0"/>
              </a:spcAft>
              <a:buNone/>
            </a:pPr>
            <a:r>
              <a:rPr lang="en-US" altLang="en-US" sz="1700" b="1" dirty="0">
                <a:solidFill>
                  <a:srgbClr val="FFFFFF"/>
                </a:solidFill>
                <a:latin typeface="Calibri"/>
                <a:ea typeface="맑은 고딕"/>
                <a:cs typeface="Calibri"/>
              </a:rPr>
              <a:t>L7-1</a:t>
            </a:r>
            <a:endParaRPr lang="ko-KR" sz="1700"/>
          </a:p>
        </p:txBody>
      </p:sp>
      <p:sp>
        <p:nvSpPr>
          <p:cNvPr id="3" name="hdr_chip"/>
          <p:cNvSpPr/>
          <p:nvPr/>
        </p:nvSpPr>
        <p:spPr>
          <a:xfrm>
            <a:off x="1755648" y="274320"/>
            <a:ext cx="1371600" cy="493776"/>
          </a:xfrm>
          <a:prstGeom prst="roundRect">
            <a:avLst>
              <a:gd name="adj" fmla="val 8000"/>
            </a:avLst>
          </a:prstGeom>
          <a:solidFill>
            <a:srgbClr val="E6EAF4"/>
          </a:solidFill>
          <a:ln>
            <a:noFill/>
          </a:ln>
        </p:spPr>
        <p:txBody>
          <a:bodyPr wrap="square" lIns="27432" tIns="18288" rIns="27432" bIns="18288" anchor="ctr" rtlCol="0">
            <a:noAutofit/>
          </a:bodyPr>
          <a:lstStyle/>
          <a:p>
            <a:pPr algn="ctr">
              <a:lnSpc>
                <a:spcPts val="1700"/>
              </a:lnSpc>
              <a:spcBef>
                <a:spcPts val="0"/>
              </a:spcBef>
              <a:spcAft>
                <a:spcPts val="0"/>
              </a:spcAft>
              <a:buNone/>
            </a:pPr>
            <a:r>
              <a:rPr lang="ko-KR" altLang="en-US" sz="1400" b="1" dirty="0">
                <a:solidFill>
                  <a:srgbClr val="1E2A5A"/>
                </a:solidFill>
                <a:latin typeface="맑은 고딕"/>
                <a:ea typeface="맑은 고딕"/>
                <a:cs typeface="맑은 고딕"/>
              </a:rPr>
              <a:t>PART 6 · 5</a:t>
            </a:r>
            <a:endParaRPr lang="ko-KR" sz="1400"/>
          </a:p>
        </p:txBody>
      </p:sp>
      <p:sp>
        <p:nvSpPr>
          <p:cNvPr id="4" name="hdr_q"/>
          <p:cNvSpPr txBox="1"/>
          <p:nvPr/>
        </p:nvSpPr>
        <p:spPr>
          <a:xfrm>
            <a:off x="3246120" y="246888"/>
            <a:ext cx="8485632" cy="548640"/>
          </a:xfrm>
          <a:prstGeom prst="rect">
            <a:avLst/>
          </a:prstGeom>
          <a:noFill/>
        </p:spPr>
        <p:txBody>
          <a:bodyPr wrap="square" lIns="109728" tIns="54864" rIns="109728" bIns="54864" anchor="ctr" rtlCol="0">
            <a:noAutofit/>
          </a:bodyPr>
          <a:lstStyle/>
          <a:p>
            <a:pPr algn="l">
              <a:lnSpc>
                <a:spcPts val="2400"/>
              </a:lnSpc>
              <a:spcBef>
                <a:spcPts val="0"/>
              </a:spcBef>
              <a:spcAft>
                <a:spcPts val="0"/>
              </a:spcAft>
              <a:buNone/>
            </a:pPr>
            <a:r>
              <a:rPr lang="ko-KR" altLang="en-US" sz="2000" b="1" dirty="0">
                <a:solidFill>
                  <a:srgbClr val="1F2328"/>
                </a:solidFill>
                <a:latin typeface="맑은 고딕"/>
                <a:ea typeface="맑은 고딕"/>
                <a:cs typeface="맑은 고딕"/>
              </a:rPr>
              <a:t>우리말에 맞게 (  ) 안의 말을 바르게 배열하시오.</a:t>
            </a:r>
            <a:endParaRPr lang="ko-KR" sz="2000"/>
          </a:p>
        </p:txBody>
      </p:sp>
      <p:sp>
        <p:nvSpPr>
          <p:cNvPr id="5" name="ftr_exam"/>
          <p:cNvSpPr txBox="1"/>
          <p:nvPr/>
        </p:nvSpPr>
        <p:spPr>
          <a:xfrm>
            <a:off x="457200" y="6519672"/>
            <a:ext cx="5669280" cy="256032"/>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7</a:t>
            </a:r>
            <a:endParaRPr lang="ko-KR" sz="1000"/>
          </a:p>
        </p:txBody>
      </p:sp>
      <p:sp>
        <p:nvSpPr>
          <p:cNvPr id="6" name="ftr_hint"/>
          <p:cNvSpPr txBox="1"/>
          <p:nvPr/>
        </p:nvSpPr>
        <p:spPr>
          <a:xfrm>
            <a:off x="5971032" y="6519672"/>
            <a:ext cx="5760720" cy="256032"/>
          </a:xfrm>
          <a:prstGeom prst="rect">
            <a:avLst/>
          </a:prstGeom>
          <a:noFill/>
        </p:spPr>
        <p:txBody>
          <a:bodyPr wrap="square" lIns="0" tIns="0" rIns="0" bIns="0" anchor="t" rtlCol="0">
            <a:noAutofit/>
          </a:bodyPr>
          <a:lstStyle/>
          <a:p>
            <a:pPr algn="r">
              <a:lnSpc>
                <a:spcPts val="1200"/>
              </a:lnSpc>
              <a:spcBef>
                <a:spcPts val="0"/>
              </a:spcBef>
              <a:spcAft>
                <a:spcPts val="0"/>
              </a:spcAft>
              <a:buNone/>
            </a:pPr>
            <a:r>
              <a:rPr lang="ko-KR" altLang="en-US" sz="1000" b="0" dirty="0">
                <a:solidFill>
                  <a:srgbClr val="7A808C"/>
                </a:solidFill>
                <a:latin typeface="맑은 고딕"/>
                <a:ea typeface="맑은 고딕"/>
                <a:cs typeface="맑은 고딕"/>
              </a:rPr>
              <a:t>클릭 ① 완성 문장(정답) 공개</a:t>
            </a:r>
            <a:endParaRPr lang="ko-KR" sz="1000"/>
          </a:p>
        </p:txBody>
      </p:sp>
      <p:sp>
        <p:nvSpPr>
          <p:cNvPr id="7" name="item_card_1"/>
          <p:cNvSpPr/>
          <p:nvPr/>
        </p:nvSpPr>
        <p:spPr>
          <a:xfrm>
            <a:off x="457200" y="950976"/>
            <a:ext cx="11274552" cy="1661922"/>
          </a:xfrm>
          <a:prstGeom prst="roundRect">
            <a:avLst>
              <a:gd name="adj" fmla="val 6000"/>
            </a:avLst>
          </a:prstGeom>
          <a:solidFill>
            <a:srgbClr val="F3F5F9"/>
          </a:solidFill>
          <a:ln w="12700">
            <a:solidFill>
              <a:srgbClr val="D9DFEA"/>
            </a:solidFill>
          </a:ln>
        </p:spPr>
        <p:txBody>
          <a:bodyPr rtlCol="0" anchor="ctr"/>
          <a:lstStyle/>
          <a:p>
            <a:pPr algn="ctr"/>
          </a:p>
        </p:txBody>
      </p:sp>
      <p:sp>
        <p:nvSpPr>
          <p:cNvPr id="8" name="kor_1"/>
          <p:cNvSpPr txBox="1"/>
          <p:nvPr/>
        </p:nvSpPr>
        <p:spPr>
          <a:xfrm>
            <a:off x="457200" y="1060704"/>
            <a:ext cx="11274552" cy="379603"/>
          </a:xfrm>
          <a:prstGeom prst="rect">
            <a:avLst/>
          </a:prstGeom>
          <a:noFill/>
        </p:spPr>
        <p:txBody>
          <a:bodyPr wrap="square" lIns="228600" tIns="54864" rIns="228600" bIns="54864" anchor="t" rtlCol="0">
            <a:noAutofit/>
          </a:bodyPr>
          <a:lstStyle/>
          <a:p>
            <a:pPr algn="l">
              <a:lnSpc>
                <a:spcPts val="2125"/>
              </a:lnSpc>
              <a:spcBef>
                <a:spcPts val="0"/>
              </a:spcBef>
              <a:spcAft>
                <a:spcPts val="0"/>
              </a:spcAft>
              <a:buNone/>
            </a:pPr>
            <a:r>
              <a:rPr lang="en-US" altLang="en-US" sz="1700" b="1" dirty="0">
                <a:solidFill>
                  <a:srgbClr val="1E2A5A"/>
                </a:solidFill>
                <a:latin typeface="Calibri"/>
                <a:ea typeface="맑은 고딕"/>
                <a:cs typeface="Calibri"/>
              </a:rPr>
              <a:t>11.  </a:t>
            </a:r>
            <a:r>
              <a:rPr lang="ko-KR" altLang="en-US" sz="1700" b="1" dirty="0">
                <a:solidFill>
                  <a:srgbClr val="1F2328"/>
                </a:solidFill>
                <a:latin typeface="맑은 고딕"/>
                <a:ea typeface="맑은 고딕"/>
                <a:cs typeface="맑은 고딕"/>
              </a:rPr>
              <a:t>그런 다음, 이런 결과들은 의사결정을 하거나 미래를 예측하는 데 사용될 수 있다.</a:t>
            </a:r>
            <a:endParaRPr lang="ko-KR" sz="1700"/>
          </a:p>
        </p:txBody>
      </p:sp>
      <p:sp>
        <p:nvSpPr>
          <p:cNvPr id="9" name="ex_1"/>
          <p:cNvSpPr txBox="1"/>
          <p:nvPr/>
        </p:nvSpPr>
        <p:spPr>
          <a:xfrm>
            <a:off x="457200" y="1385443"/>
            <a:ext cx="11274552" cy="435483"/>
          </a:xfrm>
          <a:prstGeom prst="rect">
            <a:avLst/>
          </a:prstGeom>
          <a:noFill/>
        </p:spPr>
        <p:txBody>
          <a:bodyPr wrap="square" lIns="228600" tIns="54864" rIns="228600" bIns="54864" anchor="t" rtlCol="0">
            <a:noAutofit/>
          </a:bodyPr>
          <a:lstStyle/>
          <a:p>
            <a:pPr algn="l">
              <a:lnSpc>
                <a:spcPts val="2565"/>
              </a:lnSpc>
              <a:spcBef>
                <a:spcPts val="0"/>
              </a:spcBef>
              <a:spcAft>
                <a:spcPts val="0"/>
              </a:spcAft>
              <a:buNone/>
            </a:pP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These results</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can be used</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then</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to make decisions</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to predict the future</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or</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a:t>
            </a:r>
            <a:endParaRPr lang="ko-KR" sz="1900"/>
          </a:p>
        </p:txBody>
      </p:sp>
      <p:sp>
        <p:nvSpPr>
          <p:cNvPr id="10" name="rv_ans_1"/>
          <p:cNvSpPr txBox="1"/>
          <p:nvPr/>
        </p:nvSpPr>
        <p:spPr>
          <a:xfrm>
            <a:off x="594360" y="1857502"/>
            <a:ext cx="11000232" cy="737108"/>
          </a:xfrm>
          <a:prstGeom prst="rect">
            <a:avLst/>
          </a:prstGeom>
          <a:solidFill>
            <a:srgbClr val="FFF3C4"/>
          </a:solidFill>
        </p:spPr>
        <p:txBody>
          <a:bodyPr wrap="square" lIns="137160" tIns="54864" rIns="137160" bIns="54864" anchor="t" rtlCol="0">
            <a:noAutofit/>
          </a:bodyPr>
          <a:lstStyle/>
          <a:p>
            <a:pPr algn="l">
              <a:lnSpc>
                <a:spcPts val="2470"/>
              </a:lnSpc>
              <a:spcBef>
                <a:spcPts val="0"/>
              </a:spcBef>
              <a:spcAft>
                <a:spcPts val="0"/>
              </a:spcAft>
              <a:buNone/>
            </a:pPr>
            <a:r>
              <a:rPr lang="en-US" altLang="en-US" sz="1900" b="1" dirty="0">
                <a:solidFill>
                  <a:srgbClr val="C00000"/>
                </a:solidFill>
                <a:latin typeface="Calibri"/>
                <a:ea typeface="맑은 고딕"/>
                <a:cs typeface="Calibri"/>
              </a:rPr>
              <a:t>→  </a:t>
            </a:r>
            <a:r>
              <a:rPr lang="en-US" altLang="en-US" sz="1900" b="1" dirty="0">
                <a:solidFill>
                  <a:srgbClr val="C00000"/>
                </a:solidFill>
                <a:latin typeface="Calibri"/>
                <a:ea typeface="맑은 고딕"/>
                <a:cs typeface="Calibri"/>
              </a:rPr>
              <a:t>These results then can be used to make decisions or to predict the future.</a:t>
            </a:r>
            <a:endParaRPr lang="ko-KR" sz="19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25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2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8000"/>
            </a:avLst>
          </a:prstGeom>
          <a:solidFill>
            <a:srgbClr val="1E2A5A"/>
          </a:solidFill>
          <a:ln>
            <a:noFill/>
          </a:ln>
        </p:spPr>
        <p:txBody>
          <a:bodyPr wrap="square" lIns="45720" tIns="18288" rIns="45720" bIns="18288" anchor="ctr" rtlCol="0">
            <a:noAutofit/>
          </a:bodyPr>
          <a:lstStyle/>
          <a:p>
            <a:pPr algn="ctr">
              <a:lnSpc>
                <a:spcPts val="2000"/>
              </a:lnSpc>
              <a:spcBef>
                <a:spcPts val="0"/>
              </a:spcBef>
              <a:spcAft>
                <a:spcPts val="0"/>
              </a:spcAft>
              <a:buNone/>
            </a:pPr>
            <a:r>
              <a:rPr lang="en-US" altLang="en-US" sz="1700" b="1" dirty="0">
                <a:solidFill>
                  <a:srgbClr val="FFFFFF"/>
                </a:solidFill>
                <a:latin typeface="Calibri"/>
                <a:ea typeface="맑은 고딕"/>
                <a:cs typeface="Calibri"/>
              </a:rPr>
              <a:t>L7-2</a:t>
            </a:r>
            <a:endParaRPr lang="ko-KR" sz="1700"/>
          </a:p>
        </p:txBody>
      </p:sp>
      <p:sp>
        <p:nvSpPr>
          <p:cNvPr id="3" name="hdr_chip"/>
          <p:cNvSpPr/>
          <p:nvPr/>
        </p:nvSpPr>
        <p:spPr>
          <a:xfrm>
            <a:off x="1755648" y="274320"/>
            <a:ext cx="1371600" cy="493776"/>
          </a:xfrm>
          <a:prstGeom prst="roundRect">
            <a:avLst>
              <a:gd name="adj" fmla="val 8000"/>
            </a:avLst>
          </a:prstGeom>
          <a:solidFill>
            <a:srgbClr val="E6EAF4"/>
          </a:solidFill>
          <a:ln>
            <a:noFill/>
          </a:ln>
        </p:spPr>
        <p:txBody>
          <a:bodyPr wrap="square" lIns="27432" tIns="18288" rIns="27432" bIns="18288" anchor="ctr" rtlCol="0">
            <a:noAutofit/>
          </a:bodyPr>
          <a:lstStyle/>
          <a:p>
            <a:pPr algn="ctr">
              <a:lnSpc>
                <a:spcPts val="1700"/>
              </a:lnSpc>
              <a:spcBef>
                <a:spcPts val="0"/>
              </a:spcBef>
              <a:spcAft>
                <a:spcPts val="0"/>
              </a:spcAft>
              <a:buNone/>
            </a:pPr>
            <a:r>
              <a:rPr lang="ko-KR" altLang="en-US" sz="1400" b="1" dirty="0">
                <a:solidFill>
                  <a:srgbClr val="1E2A5A"/>
                </a:solidFill>
                <a:latin typeface="맑은 고딕"/>
                <a:ea typeface="맑은 고딕"/>
                <a:cs typeface="맑은 고딕"/>
              </a:rPr>
              <a:t>PART 6 · 6</a:t>
            </a:r>
            <a:endParaRPr lang="ko-KR" sz="1400"/>
          </a:p>
        </p:txBody>
      </p:sp>
      <p:sp>
        <p:nvSpPr>
          <p:cNvPr id="4" name="hdr_q"/>
          <p:cNvSpPr txBox="1"/>
          <p:nvPr/>
        </p:nvSpPr>
        <p:spPr>
          <a:xfrm>
            <a:off x="3246120" y="246888"/>
            <a:ext cx="8485632" cy="548640"/>
          </a:xfrm>
          <a:prstGeom prst="rect">
            <a:avLst/>
          </a:prstGeom>
          <a:noFill/>
        </p:spPr>
        <p:txBody>
          <a:bodyPr wrap="square" lIns="109728" tIns="54864" rIns="109728" bIns="54864" anchor="ctr" rtlCol="0">
            <a:noAutofit/>
          </a:bodyPr>
          <a:lstStyle/>
          <a:p>
            <a:pPr algn="l">
              <a:lnSpc>
                <a:spcPts val="2400"/>
              </a:lnSpc>
              <a:spcBef>
                <a:spcPts val="0"/>
              </a:spcBef>
              <a:spcAft>
                <a:spcPts val="0"/>
              </a:spcAft>
              <a:buNone/>
            </a:pPr>
            <a:r>
              <a:rPr lang="ko-KR" altLang="en-US" sz="2000" b="1" dirty="0">
                <a:solidFill>
                  <a:srgbClr val="1F2328"/>
                </a:solidFill>
                <a:latin typeface="맑은 고딕"/>
                <a:ea typeface="맑은 고딕"/>
                <a:cs typeface="맑은 고딕"/>
              </a:rPr>
              <a:t>우리말에 맞게 (  ) 안의 말을 바르게 배열하시오.</a:t>
            </a:r>
            <a:endParaRPr lang="ko-KR" sz="2000"/>
          </a:p>
        </p:txBody>
      </p:sp>
      <p:sp>
        <p:nvSpPr>
          <p:cNvPr id="5" name="ftr_exam"/>
          <p:cNvSpPr txBox="1"/>
          <p:nvPr/>
        </p:nvSpPr>
        <p:spPr>
          <a:xfrm>
            <a:off x="457200" y="6519672"/>
            <a:ext cx="5669280" cy="256032"/>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7</a:t>
            </a:r>
            <a:endParaRPr lang="ko-KR" sz="1000"/>
          </a:p>
        </p:txBody>
      </p:sp>
      <p:sp>
        <p:nvSpPr>
          <p:cNvPr id="6" name="ftr_hint"/>
          <p:cNvSpPr txBox="1"/>
          <p:nvPr/>
        </p:nvSpPr>
        <p:spPr>
          <a:xfrm>
            <a:off x="5971032" y="6519672"/>
            <a:ext cx="5760720" cy="256032"/>
          </a:xfrm>
          <a:prstGeom prst="rect">
            <a:avLst/>
          </a:prstGeom>
          <a:noFill/>
        </p:spPr>
        <p:txBody>
          <a:bodyPr wrap="square" lIns="0" tIns="0" rIns="0" bIns="0" anchor="t" rtlCol="0">
            <a:noAutofit/>
          </a:bodyPr>
          <a:lstStyle/>
          <a:p>
            <a:pPr algn="r">
              <a:lnSpc>
                <a:spcPts val="1200"/>
              </a:lnSpc>
              <a:spcBef>
                <a:spcPts val="0"/>
              </a:spcBef>
              <a:spcAft>
                <a:spcPts val="0"/>
              </a:spcAft>
              <a:buNone/>
            </a:pPr>
            <a:r>
              <a:rPr lang="ko-KR" altLang="en-US" sz="1000" b="0" dirty="0">
                <a:solidFill>
                  <a:srgbClr val="7A808C"/>
                </a:solidFill>
                <a:latin typeface="맑은 고딕"/>
                <a:ea typeface="맑은 고딕"/>
                <a:cs typeface="맑은 고딕"/>
              </a:rPr>
              <a:t>클릭 ① 완성 문장(정답) 공개</a:t>
            </a:r>
            <a:endParaRPr lang="ko-KR" sz="1000"/>
          </a:p>
        </p:txBody>
      </p:sp>
      <p:sp>
        <p:nvSpPr>
          <p:cNvPr id="7" name="item_card_1"/>
          <p:cNvSpPr/>
          <p:nvPr/>
        </p:nvSpPr>
        <p:spPr>
          <a:xfrm>
            <a:off x="457200" y="950976"/>
            <a:ext cx="11274552" cy="1348232"/>
          </a:xfrm>
          <a:prstGeom prst="roundRect">
            <a:avLst>
              <a:gd name="adj" fmla="val 6000"/>
            </a:avLst>
          </a:prstGeom>
          <a:solidFill>
            <a:srgbClr val="F3F5F9"/>
          </a:solidFill>
          <a:ln w="12700">
            <a:solidFill>
              <a:srgbClr val="D9DFEA"/>
            </a:solidFill>
          </a:ln>
        </p:spPr>
        <p:txBody>
          <a:bodyPr rtlCol="0" anchor="ctr"/>
          <a:lstStyle/>
          <a:p>
            <a:pPr algn="ctr"/>
          </a:p>
        </p:txBody>
      </p:sp>
      <p:sp>
        <p:nvSpPr>
          <p:cNvPr id="8" name="kor_1"/>
          <p:cNvSpPr txBox="1"/>
          <p:nvPr/>
        </p:nvSpPr>
        <p:spPr>
          <a:xfrm>
            <a:off x="457200" y="1060704"/>
            <a:ext cx="11274552" cy="379603"/>
          </a:xfrm>
          <a:prstGeom prst="rect">
            <a:avLst/>
          </a:prstGeom>
          <a:noFill/>
        </p:spPr>
        <p:txBody>
          <a:bodyPr wrap="square" lIns="228600" tIns="54864" rIns="228600" bIns="54864" anchor="t" rtlCol="0">
            <a:noAutofit/>
          </a:bodyPr>
          <a:lstStyle/>
          <a:p>
            <a:pPr algn="l">
              <a:lnSpc>
                <a:spcPts val="2125"/>
              </a:lnSpc>
              <a:spcBef>
                <a:spcPts val="0"/>
              </a:spcBef>
              <a:spcAft>
                <a:spcPts val="0"/>
              </a:spcAft>
              <a:buNone/>
            </a:pPr>
            <a:r>
              <a:rPr lang="en-US" altLang="en-US" sz="1700" b="1" dirty="0">
                <a:solidFill>
                  <a:srgbClr val="1E2A5A"/>
                </a:solidFill>
                <a:latin typeface="Calibri"/>
                <a:ea typeface="맑은 고딕"/>
                <a:cs typeface="Calibri"/>
              </a:rPr>
              <a:t>1.  </a:t>
            </a:r>
            <a:r>
              <a:rPr lang="ko-KR" altLang="en-US" sz="1700" b="1" dirty="0">
                <a:solidFill>
                  <a:srgbClr val="1F2328"/>
                </a:solidFill>
                <a:latin typeface="맑은 고딕"/>
                <a:ea typeface="맑은 고딕"/>
                <a:cs typeface="맑은 고딕"/>
              </a:rPr>
              <a:t>빅데이터는 우리 삶의 거의 모든 부분에 영향을 미치고 있다.</a:t>
            </a:r>
            <a:endParaRPr lang="ko-KR" sz="1700"/>
          </a:p>
        </p:txBody>
      </p:sp>
      <p:sp>
        <p:nvSpPr>
          <p:cNvPr id="9" name="ex_1"/>
          <p:cNvSpPr txBox="1"/>
          <p:nvPr/>
        </p:nvSpPr>
        <p:spPr>
          <a:xfrm>
            <a:off x="457200" y="1385443"/>
            <a:ext cx="11274552" cy="435483"/>
          </a:xfrm>
          <a:prstGeom prst="rect">
            <a:avLst/>
          </a:prstGeom>
          <a:noFill/>
        </p:spPr>
        <p:txBody>
          <a:bodyPr wrap="square" lIns="228600" tIns="54864" rIns="228600" bIns="54864" anchor="t" rtlCol="0">
            <a:noAutofit/>
          </a:bodyPr>
          <a:lstStyle/>
          <a:p>
            <a:pPr algn="l">
              <a:lnSpc>
                <a:spcPts val="2565"/>
              </a:lnSpc>
              <a:spcBef>
                <a:spcPts val="0"/>
              </a:spcBef>
              <a:spcAft>
                <a:spcPts val="0"/>
              </a:spcAft>
              <a:buNone/>
            </a:pP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almost all parts</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Big data</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of our lives</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is influencing</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a:t>
            </a:r>
            <a:endParaRPr lang="ko-KR" sz="1900"/>
          </a:p>
        </p:txBody>
      </p:sp>
      <p:sp>
        <p:nvSpPr>
          <p:cNvPr id="10" name="rv_ans_1"/>
          <p:cNvSpPr txBox="1"/>
          <p:nvPr/>
        </p:nvSpPr>
        <p:spPr>
          <a:xfrm>
            <a:off x="594360" y="1857502"/>
            <a:ext cx="11000232" cy="423418"/>
          </a:xfrm>
          <a:prstGeom prst="rect">
            <a:avLst/>
          </a:prstGeom>
          <a:solidFill>
            <a:srgbClr val="FFF3C4"/>
          </a:solidFill>
        </p:spPr>
        <p:txBody>
          <a:bodyPr wrap="square" lIns="137160" tIns="54864" rIns="137160" bIns="54864" anchor="t" rtlCol="0">
            <a:noAutofit/>
          </a:bodyPr>
          <a:lstStyle/>
          <a:p>
            <a:pPr algn="l">
              <a:lnSpc>
                <a:spcPts val="2470"/>
              </a:lnSpc>
              <a:spcBef>
                <a:spcPts val="0"/>
              </a:spcBef>
              <a:spcAft>
                <a:spcPts val="0"/>
              </a:spcAft>
              <a:buNone/>
            </a:pPr>
            <a:r>
              <a:rPr lang="en-US" altLang="en-US" sz="1900" b="1" dirty="0">
                <a:solidFill>
                  <a:srgbClr val="C00000"/>
                </a:solidFill>
                <a:latin typeface="Calibri"/>
                <a:ea typeface="맑은 고딕"/>
                <a:cs typeface="Calibri"/>
              </a:rPr>
              <a:t>→  </a:t>
            </a:r>
            <a:r>
              <a:rPr lang="en-US" altLang="en-US" sz="1900" b="1" dirty="0">
                <a:solidFill>
                  <a:srgbClr val="C00000"/>
                </a:solidFill>
                <a:latin typeface="Calibri"/>
                <a:ea typeface="맑은 고딕"/>
                <a:cs typeface="Calibri"/>
              </a:rPr>
              <a:t>Big data is influencing almost all parts of our lives.</a:t>
            </a:r>
            <a:endParaRPr lang="ko-KR" sz="1900"/>
          </a:p>
        </p:txBody>
      </p:sp>
      <p:sp>
        <p:nvSpPr>
          <p:cNvPr id="11" name="item_card_2"/>
          <p:cNvSpPr/>
          <p:nvPr/>
        </p:nvSpPr>
        <p:spPr>
          <a:xfrm>
            <a:off x="457200" y="2408936"/>
            <a:ext cx="11274552" cy="2257552"/>
          </a:xfrm>
          <a:prstGeom prst="roundRect">
            <a:avLst>
              <a:gd name="adj" fmla="val 6000"/>
            </a:avLst>
          </a:prstGeom>
          <a:solidFill>
            <a:srgbClr val="F3F5F9"/>
          </a:solidFill>
          <a:ln w="12700">
            <a:solidFill>
              <a:srgbClr val="D9DFEA"/>
            </a:solidFill>
          </a:ln>
        </p:spPr>
        <p:txBody>
          <a:bodyPr rtlCol="0" anchor="ctr"/>
          <a:lstStyle/>
          <a:p>
            <a:pPr algn="ctr"/>
          </a:p>
        </p:txBody>
      </p:sp>
      <p:sp>
        <p:nvSpPr>
          <p:cNvPr id="12" name="kor_2"/>
          <p:cNvSpPr txBox="1"/>
          <p:nvPr/>
        </p:nvSpPr>
        <p:spPr>
          <a:xfrm>
            <a:off x="457200" y="2518664"/>
            <a:ext cx="11274552" cy="649478"/>
          </a:xfrm>
          <a:prstGeom prst="rect">
            <a:avLst/>
          </a:prstGeom>
          <a:noFill/>
        </p:spPr>
        <p:txBody>
          <a:bodyPr wrap="square" lIns="228600" tIns="54864" rIns="228600" bIns="54864" anchor="t" rtlCol="0">
            <a:noAutofit/>
          </a:bodyPr>
          <a:lstStyle/>
          <a:p>
            <a:pPr algn="l">
              <a:lnSpc>
                <a:spcPts val="2125"/>
              </a:lnSpc>
              <a:spcBef>
                <a:spcPts val="0"/>
              </a:spcBef>
              <a:spcAft>
                <a:spcPts val="0"/>
              </a:spcAft>
              <a:buNone/>
            </a:pPr>
            <a:r>
              <a:rPr lang="en-US" altLang="en-US" sz="1700" b="1" dirty="0">
                <a:solidFill>
                  <a:srgbClr val="1E2A5A"/>
                </a:solidFill>
                <a:latin typeface="Calibri"/>
                <a:ea typeface="맑은 고딕"/>
                <a:cs typeface="Calibri"/>
              </a:rPr>
              <a:t>2.  </a:t>
            </a:r>
            <a:r>
              <a:rPr lang="ko-KR" altLang="en-US" sz="1700" b="1" dirty="0">
                <a:solidFill>
                  <a:srgbClr val="1F2328"/>
                </a:solidFill>
                <a:latin typeface="맑은 고딕"/>
                <a:ea typeface="맑은 고딕"/>
                <a:cs typeface="맑은 고딕"/>
              </a:rPr>
              <a:t>그것은 회사들이 소비자들이 필요로 하는 것을 더 잘 이해하고 더 많은 상품을 팔도록 도와준다.</a:t>
            </a:r>
            <a:endParaRPr lang="ko-KR" sz="1700"/>
          </a:p>
        </p:txBody>
      </p:sp>
      <p:sp>
        <p:nvSpPr>
          <p:cNvPr id="13" name="ex_2"/>
          <p:cNvSpPr txBox="1"/>
          <p:nvPr/>
        </p:nvSpPr>
        <p:spPr>
          <a:xfrm>
            <a:off x="457200" y="3113278"/>
            <a:ext cx="11274552" cy="761238"/>
          </a:xfrm>
          <a:prstGeom prst="rect">
            <a:avLst/>
          </a:prstGeom>
          <a:noFill/>
        </p:spPr>
        <p:txBody>
          <a:bodyPr wrap="square" lIns="228600" tIns="54864" rIns="228600" bIns="54864" anchor="t" rtlCol="0">
            <a:noAutofit/>
          </a:bodyPr>
          <a:lstStyle/>
          <a:p>
            <a:pPr algn="l">
              <a:lnSpc>
                <a:spcPts val="2565"/>
              </a:lnSpc>
              <a:spcBef>
                <a:spcPts val="0"/>
              </a:spcBef>
              <a:spcAft>
                <a:spcPts val="0"/>
              </a:spcAft>
              <a:buNone/>
            </a:pP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helps</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It</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better</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their customers’ needs</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companies</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understand</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 and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them</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more products</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helps</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sell</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a:t>
            </a:r>
            <a:endParaRPr lang="ko-KR" sz="1900"/>
          </a:p>
        </p:txBody>
      </p:sp>
      <p:sp>
        <p:nvSpPr>
          <p:cNvPr id="14" name="rv_ans_2"/>
          <p:cNvSpPr txBox="1"/>
          <p:nvPr/>
        </p:nvSpPr>
        <p:spPr>
          <a:xfrm>
            <a:off x="594360" y="3911092"/>
            <a:ext cx="11000232" cy="737108"/>
          </a:xfrm>
          <a:prstGeom prst="rect">
            <a:avLst/>
          </a:prstGeom>
          <a:solidFill>
            <a:srgbClr val="FFF3C4"/>
          </a:solidFill>
        </p:spPr>
        <p:txBody>
          <a:bodyPr wrap="square" lIns="137160" tIns="54864" rIns="137160" bIns="54864" anchor="t" rtlCol="0">
            <a:noAutofit/>
          </a:bodyPr>
          <a:lstStyle/>
          <a:p>
            <a:pPr algn="l">
              <a:lnSpc>
                <a:spcPts val="2470"/>
              </a:lnSpc>
              <a:spcBef>
                <a:spcPts val="0"/>
              </a:spcBef>
              <a:spcAft>
                <a:spcPts val="0"/>
              </a:spcAft>
              <a:buNone/>
            </a:pPr>
            <a:r>
              <a:rPr lang="en-US" altLang="en-US" sz="1900" b="1" dirty="0">
                <a:solidFill>
                  <a:srgbClr val="C00000"/>
                </a:solidFill>
                <a:latin typeface="Calibri"/>
                <a:ea typeface="맑은 고딕"/>
                <a:cs typeface="Calibri"/>
              </a:rPr>
              <a:t>→  </a:t>
            </a:r>
            <a:r>
              <a:rPr lang="en-US" altLang="en-US" sz="1900" b="1" dirty="0">
                <a:solidFill>
                  <a:srgbClr val="C00000"/>
                </a:solidFill>
                <a:latin typeface="Calibri"/>
                <a:ea typeface="맑은 고딕"/>
                <a:cs typeface="Calibri"/>
              </a:rPr>
              <a:t>It helps companies understand their customers’ needs better and helps them sell more products.</a:t>
            </a:r>
            <a:endParaRPr lang="ko-KR" sz="19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25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2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4" grpId="0" animBg="1"/>
    </p:bldLst>
  </p:timing>
</p:sld>
</file>

<file path=ppt/slides/slide2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8000"/>
            </a:avLst>
          </a:prstGeom>
          <a:solidFill>
            <a:srgbClr val="1E2A5A"/>
          </a:solidFill>
          <a:ln>
            <a:noFill/>
          </a:ln>
        </p:spPr>
        <p:txBody>
          <a:bodyPr wrap="square" lIns="45720" tIns="18288" rIns="45720" bIns="18288" anchor="ctr" rtlCol="0">
            <a:noAutofit/>
          </a:bodyPr>
          <a:lstStyle/>
          <a:p>
            <a:pPr algn="ctr">
              <a:lnSpc>
                <a:spcPts val="2000"/>
              </a:lnSpc>
              <a:spcBef>
                <a:spcPts val="0"/>
              </a:spcBef>
              <a:spcAft>
                <a:spcPts val="0"/>
              </a:spcAft>
              <a:buNone/>
            </a:pPr>
            <a:r>
              <a:rPr lang="en-US" altLang="en-US" sz="1700" b="1" dirty="0">
                <a:solidFill>
                  <a:srgbClr val="FFFFFF"/>
                </a:solidFill>
                <a:latin typeface="Calibri"/>
                <a:ea typeface="맑은 고딕"/>
                <a:cs typeface="Calibri"/>
              </a:rPr>
              <a:t>L7-2</a:t>
            </a:r>
            <a:endParaRPr lang="ko-KR" sz="1700"/>
          </a:p>
        </p:txBody>
      </p:sp>
      <p:sp>
        <p:nvSpPr>
          <p:cNvPr id="3" name="hdr_chip"/>
          <p:cNvSpPr/>
          <p:nvPr/>
        </p:nvSpPr>
        <p:spPr>
          <a:xfrm>
            <a:off x="1755648" y="274320"/>
            <a:ext cx="1371600" cy="493776"/>
          </a:xfrm>
          <a:prstGeom prst="roundRect">
            <a:avLst>
              <a:gd name="adj" fmla="val 8000"/>
            </a:avLst>
          </a:prstGeom>
          <a:solidFill>
            <a:srgbClr val="E6EAF4"/>
          </a:solidFill>
          <a:ln>
            <a:noFill/>
          </a:ln>
        </p:spPr>
        <p:txBody>
          <a:bodyPr wrap="square" lIns="27432" tIns="18288" rIns="27432" bIns="18288" anchor="ctr" rtlCol="0">
            <a:noAutofit/>
          </a:bodyPr>
          <a:lstStyle/>
          <a:p>
            <a:pPr algn="ctr">
              <a:lnSpc>
                <a:spcPts val="1700"/>
              </a:lnSpc>
              <a:spcBef>
                <a:spcPts val="0"/>
              </a:spcBef>
              <a:spcAft>
                <a:spcPts val="0"/>
              </a:spcAft>
              <a:buNone/>
            </a:pPr>
            <a:r>
              <a:rPr lang="ko-KR" altLang="en-US" sz="1400" b="1" dirty="0">
                <a:solidFill>
                  <a:srgbClr val="1E2A5A"/>
                </a:solidFill>
                <a:latin typeface="맑은 고딕"/>
                <a:ea typeface="맑은 고딕"/>
                <a:cs typeface="맑은 고딕"/>
              </a:rPr>
              <a:t>PART 6 · 7</a:t>
            </a:r>
            <a:endParaRPr lang="ko-KR" sz="1400"/>
          </a:p>
        </p:txBody>
      </p:sp>
      <p:sp>
        <p:nvSpPr>
          <p:cNvPr id="4" name="hdr_q"/>
          <p:cNvSpPr txBox="1"/>
          <p:nvPr/>
        </p:nvSpPr>
        <p:spPr>
          <a:xfrm>
            <a:off x="3246120" y="246888"/>
            <a:ext cx="8485632" cy="548640"/>
          </a:xfrm>
          <a:prstGeom prst="rect">
            <a:avLst/>
          </a:prstGeom>
          <a:noFill/>
        </p:spPr>
        <p:txBody>
          <a:bodyPr wrap="square" lIns="109728" tIns="54864" rIns="109728" bIns="54864" anchor="ctr" rtlCol="0">
            <a:noAutofit/>
          </a:bodyPr>
          <a:lstStyle/>
          <a:p>
            <a:pPr algn="l">
              <a:lnSpc>
                <a:spcPts val="2400"/>
              </a:lnSpc>
              <a:spcBef>
                <a:spcPts val="0"/>
              </a:spcBef>
              <a:spcAft>
                <a:spcPts val="0"/>
              </a:spcAft>
              <a:buNone/>
            </a:pPr>
            <a:r>
              <a:rPr lang="ko-KR" altLang="en-US" sz="2000" b="1" dirty="0">
                <a:solidFill>
                  <a:srgbClr val="1F2328"/>
                </a:solidFill>
                <a:latin typeface="맑은 고딕"/>
                <a:ea typeface="맑은 고딕"/>
                <a:cs typeface="맑은 고딕"/>
              </a:rPr>
              <a:t>우리말에 맞게 (  ) 안의 말을 바르게 배열하시오.</a:t>
            </a:r>
            <a:endParaRPr lang="ko-KR" sz="2000"/>
          </a:p>
        </p:txBody>
      </p:sp>
      <p:sp>
        <p:nvSpPr>
          <p:cNvPr id="5" name="ftr_exam"/>
          <p:cNvSpPr txBox="1"/>
          <p:nvPr/>
        </p:nvSpPr>
        <p:spPr>
          <a:xfrm>
            <a:off x="457200" y="6519672"/>
            <a:ext cx="5669280" cy="256032"/>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7</a:t>
            </a:r>
            <a:endParaRPr lang="ko-KR" sz="1000"/>
          </a:p>
        </p:txBody>
      </p:sp>
      <p:sp>
        <p:nvSpPr>
          <p:cNvPr id="6" name="ftr_hint"/>
          <p:cNvSpPr txBox="1"/>
          <p:nvPr/>
        </p:nvSpPr>
        <p:spPr>
          <a:xfrm>
            <a:off x="5971032" y="6519672"/>
            <a:ext cx="5760720" cy="256032"/>
          </a:xfrm>
          <a:prstGeom prst="rect">
            <a:avLst/>
          </a:prstGeom>
          <a:noFill/>
        </p:spPr>
        <p:txBody>
          <a:bodyPr wrap="square" lIns="0" tIns="0" rIns="0" bIns="0" anchor="t" rtlCol="0">
            <a:noAutofit/>
          </a:bodyPr>
          <a:lstStyle/>
          <a:p>
            <a:pPr algn="r">
              <a:lnSpc>
                <a:spcPts val="1200"/>
              </a:lnSpc>
              <a:spcBef>
                <a:spcPts val="0"/>
              </a:spcBef>
              <a:spcAft>
                <a:spcPts val="0"/>
              </a:spcAft>
              <a:buNone/>
            </a:pPr>
            <a:r>
              <a:rPr lang="ko-KR" altLang="en-US" sz="1000" b="0" dirty="0">
                <a:solidFill>
                  <a:srgbClr val="7A808C"/>
                </a:solidFill>
                <a:latin typeface="맑은 고딕"/>
                <a:ea typeface="맑은 고딕"/>
                <a:cs typeface="맑은 고딕"/>
              </a:rPr>
              <a:t>클릭 ① 완성 문장(정답) 공개</a:t>
            </a:r>
            <a:endParaRPr lang="ko-KR" sz="1000"/>
          </a:p>
        </p:txBody>
      </p:sp>
      <p:sp>
        <p:nvSpPr>
          <p:cNvPr id="7" name="item_card_1"/>
          <p:cNvSpPr/>
          <p:nvPr/>
        </p:nvSpPr>
        <p:spPr>
          <a:xfrm>
            <a:off x="457200" y="950976"/>
            <a:ext cx="11274552" cy="2257552"/>
          </a:xfrm>
          <a:prstGeom prst="roundRect">
            <a:avLst>
              <a:gd name="adj" fmla="val 6000"/>
            </a:avLst>
          </a:prstGeom>
          <a:solidFill>
            <a:srgbClr val="F3F5F9"/>
          </a:solidFill>
          <a:ln w="12700">
            <a:solidFill>
              <a:srgbClr val="D9DFEA"/>
            </a:solidFill>
          </a:ln>
        </p:spPr>
        <p:txBody>
          <a:bodyPr rtlCol="0" anchor="ctr"/>
          <a:lstStyle/>
          <a:p>
            <a:pPr algn="ctr"/>
          </a:p>
        </p:txBody>
      </p:sp>
      <p:sp>
        <p:nvSpPr>
          <p:cNvPr id="8" name="kor_1"/>
          <p:cNvSpPr txBox="1"/>
          <p:nvPr/>
        </p:nvSpPr>
        <p:spPr>
          <a:xfrm>
            <a:off x="457200" y="1060704"/>
            <a:ext cx="11274552" cy="649478"/>
          </a:xfrm>
          <a:prstGeom prst="rect">
            <a:avLst/>
          </a:prstGeom>
          <a:noFill/>
        </p:spPr>
        <p:txBody>
          <a:bodyPr wrap="square" lIns="228600" tIns="54864" rIns="228600" bIns="54864" anchor="t" rtlCol="0">
            <a:noAutofit/>
          </a:bodyPr>
          <a:lstStyle/>
          <a:p>
            <a:pPr algn="l">
              <a:lnSpc>
                <a:spcPts val="2125"/>
              </a:lnSpc>
              <a:spcBef>
                <a:spcPts val="0"/>
              </a:spcBef>
              <a:spcAft>
                <a:spcPts val="0"/>
              </a:spcAft>
              <a:buNone/>
            </a:pPr>
            <a:r>
              <a:rPr lang="en-US" altLang="en-US" sz="1700" b="1" dirty="0">
                <a:solidFill>
                  <a:srgbClr val="1E2A5A"/>
                </a:solidFill>
                <a:latin typeface="Calibri"/>
                <a:ea typeface="맑은 고딕"/>
                <a:cs typeface="Calibri"/>
              </a:rPr>
              <a:t>3.  </a:t>
            </a:r>
            <a:r>
              <a:rPr lang="ko-KR" altLang="en-US" sz="1700" b="1" dirty="0">
                <a:solidFill>
                  <a:srgbClr val="1F2328"/>
                </a:solidFill>
                <a:latin typeface="맑은 고딕"/>
                <a:ea typeface="맑은 고딕"/>
                <a:cs typeface="맑은 고딕"/>
              </a:rPr>
              <a:t>그것은 사람들이 교통 체증을 피하도록 도와준다. 그것의 쓰임은 끝이 없는데, 여기 몇 가지 흥미로운 예들이 있다.</a:t>
            </a:r>
            <a:endParaRPr lang="ko-KR" sz="1700"/>
          </a:p>
        </p:txBody>
      </p:sp>
      <p:sp>
        <p:nvSpPr>
          <p:cNvPr id="9" name="ex_1"/>
          <p:cNvSpPr txBox="1"/>
          <p:nvPr/>
        </p:nvSpPr>
        <p:spPr>
          <a:xfrm>
            <a:off x="457200" y="1655318"/>
            <a:ext cx="11274552" cy="761238"/>
          </a:xfrm>
          <a:prstGeom prst="rect">
            <a:avLst/>
          </a:prstGeom>
          <a:noFill/>
        </p:spPr>
        <p:txBody>
          <a:bodyPr wrap="square" lIns="228600" tIns="54864" rIns="228600" bIns="54864" anchor="t" rtlCol="0">
            <a:noAutofit/>
          </a:bodyPr>
          <a:lstStyle/>
          <a:p>
            <a:pPr algn="l">
              <a:lnSpc>
                <a:spcPts val="2565"/>
              </a:lnSpc>
              <a:spcBef>
                <a:spcPts val="0"/>
              </a:spcBef>
              <a:spcAft>
                <a:spcPts val="0"/>
              </a:spcAft>
              <a:buNone/>
            </a:pP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It</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heavy traffic</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people</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helps</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avoid</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are</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endless</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Its uses</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 and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some interesting examples</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here are</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a:t>
            </a:r>
            <a:endParaRPr lang="ko-KR" sz="1900"/>
          </a:p>
        </p:txBody>
      </p:sp>
      <p:sp>
        <p:nvSpPr>
          <p:cNvPr id="10" name="rv_ans_1"/>
          <p:cNvSpPr txBox="1"/>
          <p:nvPr/>
        </p:nvSpPr>
        <p:spPr>
          <a:xfrm>
            <a:off x="594360" y="2453132"/>
            <a:ext cx="11000232" cy="737108"/>
          </a:xfrm>
          <a:prstGeom prst="rect">
            <a:avLst/>
          </a:prstGeom>
          <a:solidFill>
            <a:srgbClr val="FFF3C4"/>
          </a:solidFill>
        </p:spPr>
        <p:txBody>
          <a:bodyPr wrap="square" lIns="137160" tIns="54864" rIns="137160" bIns="54864" anchor="t" rtlCol="0">
            <a:noAutofit/>
          </a:bodyPr>
          <a:lstStyle/>
          <a:p>
            <a:pPr algn="l">
              <a:lnSpc>
                <a:spcPts val="2470"/>
              </a:lnSpc>
              <a:spcBef>
                <a:spcPts val="0"/>
              </a:spcBef>
              <a:spcAft>
                <a:spcPts val="0"/>
              </a:spcAft>
              <a:buNone/>
            </a:pPr>
            <a:r>
              <a:rPr lang="en-US" altLang="en-US" sz="1900" b="1" dirty="0">
                <a:solidFill>
                  <a:srgbClr val="C00000"/>
                </a:solidFill>
                <a:latin typeface="Calibri"/>
                <a:ea typeface="맑은 고딕"/>
                <a:cs typeface="Calibri"/>
              </a:rPr>
              <a:t>→  </a:t>
            </a:r>
            <a:r>
              <a:rPr lang="en-US" altLang="en-US" sz="1900" b="1" dirty="0">
                <a:solidFill>
                  <a:srgbClr val="C00000"/>
                </a:solidFill>
                <a:latin typeface="Calibri"/>
                <a:ea typeface="맑은 고딕"/>
                <a:cs typeface="Calibri"/>
              </a:rPr>
              <a:t>It helps people avoid heavy traffic. Its uses are endless, and here are some interesting examples.</a:t>
            </a:r>
            <a:endParaRPr lang="ko-KR" sz="1900"/>
          </a:p>
        </p:txBody>
      </p:sp>
      <p:sp>
        <p:nvSpPr>
          <p:cNvPr id="11" name="item_card_2"/>
          <p:cNvSpPr/>
          <p:nvPr/>
        </p:nvSpPr>
        <p:spPr>
          <a:xfrm>
            <a:off x="457200" y="3318256"/>
            <a:ext cx="11274552" cy="2257552"/>
          </a:xfrm>
          <a:prstGeom prst="roundRect">
            <a:avLst>
              <a:gd name="adj" fmla="val 6000"/>
            </a:avLst>
          </a:prstGeom>
          <a:solidFill>
            <a:srgbClr val="F3F5F9"/>
          </a:solidFill>
          <a:ln w="12700">
            <a:solidFill>
              <a:srgbClr val="D9DFEA"/>
            </a:solidFill>
          </a:ln>
        </p:spPr>
        <p:txBody>
          <a:bodyPr rtlCol="0" anchor="ctr"/>
          <a:lstStyle/>
          <a:p>
            <a:pPr algn="ctr"/>
          </a:p>
        </p:txBody>
      </p:sp>
      <p:sp>
        <p:nvSpPr>
          <p:cNvPr id="12" name="kor_2"/>
          <p:cNvSpPr txBox="1"/>
          <p:nvPr/>
        </p:nvSpPr>
        <p:spPr>
          <a:xfrm>
            <a:off x="457200" y="3427984"/>
            <a:ext cx="11274552" cy="649478"/>
          </a:xfrm>
          <a:prstGeom prst="rect">
            <a:avLst/>
          </a:prstGeom>
          <a:noFill/>
        </p:spPr>
        <p:txBody>
          <a:bodyPr wrap="square" lIns="228600" tIns="54864" rIns="228600" bIns="54864" anchor="t" rtlCol="0">
            <a:noAutofit/>
          </a:bodyPr>
          <a:lstStyle/>
          <a:p>
            <a:pPr algn="l">
              <a:lnSpc>
                <a:spcPts val="2125"/>
              </a:lnSpc>
              <a:spcBef>
                <a:spcPts val="0"/>
              </a:spcBef>
              <a:spcAft>
                <a:spcPts val="0"/>
              </a:spcAft>
              <a:buNone/>
            </a:pPr>
            <a:r>
              <a:rPr lang="en-US" altLang="en-US" sz="1700" b="1" dirty="0">
                <a:solidFill>
                  <a:srgbClr val="1E2A5A"/>
                </a:solidFill>
                <a:latin typeface="Calibri"/>
                <a:ea typeface="맑은 고딕"/>
                <a:cs typeface="Calibri"/>
              </a:rPr>
              <a:t>4.  </a:t>
            </a:r>
            <a:r>
              <a:rPr lang="ko-KR" altLang="en-US" sz="1700" b="1" dirty="0">
                <a:solidFill>
                  <a:srgbClr val="1F2328"/>
                </a:solidFill>
                <a:latin typeface="맑은 고딕"/>
                <a:ea typeface="맑은 고딕"/>
                <a:cs typeface="맑은 고딕"/>
              </a:rPr>
              <a:t>당신은 날씨 전문가들이 날씨를 예측하는 것과 같이 현재 건강 전문가들이 질병을 예측할 수 있다는 것을 알고 있었는가?</a:t>
            </a:r>
            <a:endParaRPr lang="ko-KR" sz="1700"/>
          </a:p>
        </p:txBody>
      </p:sp>
      <p:sp>
        <p:nvSpPr>
          <p:cNvPr id="13" name="ex_2"/>
          <p:cNvSpPr txBox="1"/>
          <p:nvPr/>
        </p:nvSpPr>
        <p:spPr>
          <a:xfrm>
            <a:off x="457200" y="4022598"/>
            <a:ext cx="11274552" cy="761238"/>
          </a:xfrm>
          <a:prstGeom prst="rect">
            <a:avLst/>
          </a:prstGeom>
          <a:noFill/>
        </p:spPr>
        <p:txBody>
          <a:bodyPr wrap="square" lIns="228600" tIns="54864" rIns="228600" bIns="54864" anchor="t" rtlCol="0">
            <a:noAutofit/>
          </a:bodyPr>
          <a:lstStyle/>
          <a:p>
            <a:pPr algn="l">
              <a:lnSpc>
                <a:spcPts val="2565"/>
              </a:lnSpc>
              <a:spcBef>
                <a:spcPts val="0"/>
              </a:spcBef>
              <a:spcAft>
                <a:spcPts val="0"/>
              </a:spcAft>
              <a:buNone/>
            </a:pPr>
            <a:r>
              <a:rPr lang="en-US" altLang="en-US" sz="1900" b="0" dirty="0">
                <a:solidFill>
                  <a:srgbClr val="1F2328"/>
                </a:solidFill>
                <a:latin typeface="Calibri"/>
                <a:ea typeface="맑은 고딕"/>
                <a:cs typeface="Calibri"/>
              </a:rPr>
              <a:t>Did you know that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forecast</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health professionals</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can now</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a disease</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 just as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the weather?</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forecast</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weather experts</a:t>
            </a:r>
            <a:r>
              <a:rPr lang="en-US" altLang="en-US" sz="1900" b="1" dirty="0">
                <a:solidFill>
                  <a:srgbClr val="1E2A5A"/>
                </a:solidFill>
                <a:latin typeface="Calibri"/>
                <a:ea typeface="맑은 고딕"/>
                <a:cs typeface="Calibri"/>
              </a:rPr>
              <a:t>)</a:t>
            </a:r>
            <a:endParaRPr lang="ko-KR" sz="1900"/>
          </a:p>
        </p:txBody>
      </p:sp>
      <p:sp>
        <p:nvSpPr>
          <p:cNvPr id="14" name="rv_ans_2"/>
          <p:cNvSpPr txBox="1"/>
          <p:nvPr/>
        </p:nvSpPr>
        <p:spPr>
          <a:xfrm>
            <a:off x="594360" y="4820412"/>
            <a:ext cx="11000232" cy="737108"/>
          </a:xfrm>
          <a:prstGeom prst="rect">
            <a:avLst/>
          </a:prstGeom>
          <a:solidFill>
            <a:srgbClr val="FFF3C4"/>
          </a:solidFill>
        </p:spPr>
        <p:txBody>
          <a:bodyPr wrap="square" lIns="137160" tIns="54864" rIns="137160" bIns="54864" anchor="t" rtlCol="0">
            <a:noAutofit/>
          </a:bodyPr>
          <a:lstStyle/>
          <a:p>
            <a:pPr algn="l">
              <a:lnSpc>
                <a:spcPts val="2470"/>
              </a:lnSpc>
              <a:spcBef>
                <a:spcPts val="0"/>
              </a:spcBef>
              <a:spcAft>
                <a:spcPts val="0"/>
              </a:spcAft>
              <a:buNone/>
            </a:pPr>
            <a:r>
              <a:rPr lang="en-US" altLang="en-US" sz="1900" b="1" dirty="0">
                <a:solidFill>
                  <a:srgbClr val="C00000"/>
                </a:solidFill>
                <a:latin typeface="Calibri"/>
                <a:ea typeface="맑은 고딕"/>
                <a:cs typeface="Calibri"/>
              </a:rPr>
              <a:t>→  </a:t>
            </a:r>
            <a:r>
              <a:rPr lang="en-US" altLang="en-US" sz="1900" b="1" dirty="0">
                <a:solidFill>
                  <a:srgbClr val="C00000"/>
                </a:solidFill>
                <a:latin typeface="Calibri"/>
                <a:ea typeface="맑은 고딕"/>
                <a:cs typeface="Calibri"/>
              </a:rPr>
              <a:t>Did you know that health professionals can now forecast a disease just as weather experts forecast the weather?</a:t>
            </a:r>
            <a:endParaRPr lang="ko-KR" sz="19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25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2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4" grpId="0" animBg="1"/>
    </p:bldLst>
  </p:timing>
</p:sld>
</file>

<file path=ppt/slides/slide2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8000"/>
            </a:avLst>
          </a:prstGeom>
          <a:solidFill>
            <a:srgbClr val="1E2A5A"/>
          </a:solidFill>
          <a:ln>
            <a:noFill/>
          </a:ln>
        </p:spPr>
        <p:txBody>
          <a:bodyPr wrap="square" lIns="45720" tIns="18288" rIns="45720" bIns="18288" anchor="ctr" rtlCol="0">
            <a:noAutofit/>
          </a:bodyPr>
          <a:lstStyle/>
          <a:p>
            <a:pPr algn="ctr">
              <a:lnSpc>
                <a:spcPts val="2000"/>
              </a:lnSpc>
              <a:spcBef>
                <a:spcPts val="0"/>
              </a:spcBef>
              <a:spcAft>
                <a:spcPts val="0"/>
              </a:spcAft>
              <a:buNone/>
            </a:pPr>
            <a:r>
              <a:rPr lang="en-US" altLang="en-US" sz="1700" b="1" dirty="0">
                <a:solidFill>
                  <a:srgbClr val="FFFFFF"/>
                </a:solidFill>
                <a:latin typeface="Calibri"/>
                <a:ea typeface="맑은 고딕"/>
                <a:cs typeface="Calibri"/>
              </a:rPr>
              <a:t>L7-2</a:t>
            </a:r>
            <a:endParaRPr lang="ko-KR" sz="1700"/>
          </a:p>
        </p:txBody>
      </p:sp>
      <p:sp>
        <p:nvSpPr>
          <p:cNvPr id="3" name="hdr_chip"/>
          <p:cNvSpPr/>
          <p:nvPr/>
        </p:nvSpPr>
        <p:spPr>
          <a:xfrm>
            <a:off x="1755648" y="274320"/>
            <a:ext cx="1371600" cy="493776"/>
          </a:xfrm>
          <a:prstGeom prst="roundRect">
            <a:avLst>
              <a:gd name="adj" fmla="val 8000"/>
            </a:avLst>
          </a:prstGeom>
          <a:solidFill>
            <a:srgbClr val="E6EAF4"/>
          </a:solidFill>
          <a:ln>
            <a:noFill/>
          </a:ln>
        </p:spPr>
        <p:txBody>
          <a:bodyPr wrap="square" lIns="27432" tIns="18288" rIns="27432" bIns="18288" anchor="ctr" rtlCol="0">
            <a:noAutofit/>
          </a:bodyPr>
          <a:lstStyle/>
          <a:p>
            <a:pPr algn="ctr">
              <a:lnSpc>
                <a:spcPts val="1700"/>
              </a:lnSpc>
              <a:spcBef>
                <a:spcPts val="0"/>
              </a:spcBef>
              <a:spcAft>
                <a:spcPts val="0"/>
              </a:spcAft>
              <a:buNone/>
            </a:pPr>
            <a:r>
              <a:rPr lang="ko-KR" altLang="en-US" sz="1400" b="1" dirty="0">
                <a:solidFill>
                  <a:srgbClr val="1E2A5A"/>
                </a:solidFill>
                <a:latin typeface="맑은 고딕"/>
                <a:ea typeface="맑은 고딕"/>
                <a:cs typeface="맑은 고딕"/>
              </a:rPr>
              <a:t>PART 6 · 8</a:t>
            </a:r>
            <a:endParaRPr lang="ko-KR" sz="1400"/>
          </a:p>
        </p:txBody>
      </p:sp>
      <p:sp>
        <p:nvSpPr>
          <p:cNvPr id="4" name="hdr_q"/>
          <p:cNvSpPr txBox="1"/>
          <p:nvPr/>
        </p:nvSpPr>
        <p:spPr>
          <a:xfrm>
            <a:off x="3246120" y="246888"/>
            <a:ext cx="8485632" cy="548640"/>
          </a:xfrm>
          <a:prstGeom prst="rect">
            <a:avLst/>
          </a:prstGeom>
          <a:noFill/>
        </p:spPr>
        <p:txBody>
          <a:bodyPr wrap="square" lIns="109728" tIns="54864" rIns="109728" bIns="54864" anchor="ctr" rtlCol="0">
            <a:noAutofit/>
          </a:bodyPr>
          <a:lstStyle/>
          <a:p>
            <a:pPr algn="l">
              <a:lnSpc>
                <a:spcPts val="2400"/>
              </a:lnSpc>
              <a:spcBef>
                <a:spcPts val="0"/>
              </a:spcBef>
              <a:spcAft>
                <a:spcPts val="0"/>
              </a:spcAft>
              <a:buNone/>
            </a:pPr>
            <a:r>
              <a:rPr lang="ko-KR" altLang="en-US" sz="2000" b="1" dirty="0">
                <a:solidFill>
                  <a:srgbClr val="1F2328"/>
                </a:solidFill>
                <a:latin typeface="맑은 고딕"/>
                <a:ea typeface="맑은 고딕"/>
                <a:cs typeface="맑은 고딕"/>
              </a:rPr>
              <a:t>우리말에 맞게 (  ) 안의 말을 바르게 배열하시오.</a:t>
            </a:r>
            <a:endParaRPr lang="ko-KR" sz="2000"/>
          </a:p>
        </p:txBody>
      </p:sp>
      <p:sp>
        <p:nvSpPr>
          <p:cNvPr id="5" name="ftr_exam"/>
          <p:cNvSpPr txBox="1"/>
          <p:nvPr/>
        </p:nvSpPr>
        <p:spPr>
          <a:xfrm>
            <a:off x="457200" y="6519672"/>
            <a:ext cx="5669280" cy="256032"/>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7</a:t>
            </a:r>
            <a:endParaRPr lang="ko-KR" sz="1000"/>
          </a:p>
        </p:txBody>
      </p:sp>
      <p:sp>
        <p:nvSpPr>
          <p:cNvPr id="6" name="ftr_hint"/>
          <p:cNvSpPr txBox="1"/>
          <p:nvPr/>
        </p:nvSpPr>
        <p:spPr>
          <a:xfrm>
            <a:off x="5971032" y="6519672"/>
            <a:ext cx="5760720" cy="256032"/>
          </a:xfrm>
          <a:prstGeom prst="rect">
            <a:avLst/>
          </a:prstGeom>
          <a:noFill/>
        </p:spPr>
        <p:txBody>
          <a:bodyPr wrap="square" lIns="0" tIns="0" rIns="0" bIns="0" anchor="t" rtlCol="0">
            <a:noAutofit/>
          </a:bodyPr>
          <a:lstStyle/>
          <a:p>
            <a:pPr algn="r">
              <a:lnSpc>
                <a:spcPts val="1200"/>
              </a:lnSpc>
              <a:spcBef>
                <a:spcPts val="0"/>
              </a:spcBef>
              <a:spcAft>
                <a:spcPts val="0"/>
              </a:spcAft>
              <a:buNone/>
            </a:pPr>
            <a:r>
              <a:rPr lang="ko-KR" altLang="en-US" sz="1000" b="0" dirty="0">
                <a:solidFill>
                  <a:srgbClr val="7A808C"/>
                </a:solidFill>
                <a:latin typeface="맑은 고딕"/>
                <a:ea typeface="맑은 고딕"/>
                <a:cs typeface="맑은 고딕"/>
              </a:rPr>
              <a:t>클릭 ① 완성 문장(정답) 공개</a:t>
            </a:r>
            <a:endParaRPr lang="ko-KR" sz="1000"/>
          </a:p>
        </p:txBody>
      </p:sp>
      <p:sp>
        <p:nvSpPr>
          <p:cNvPr id="7" name="item_card_1"/>
          <p:cNvSpPr/>
          <p:nvPr/>
        </p:nvSpPr>
        <p:spPr>
          <a:xfrm>
            <a:off x="457200" y="950976"/>
            <a:ext cx="11274552" cy="2257552"/>
          </a:xfrm>
          <a:prstGeom prst="roundRect">
            <a:avLst>
              <a:gd name="adj" fmla="val 6000"/>
            </a:avLst>
          </a:prstGeom>
          <a:solidFill>
            <a:srgbClr val="F3F5F9"/>
          </a:solidFill>
          <a:ln w="12700">
            <a:solidFill>
              <a:srgbClr val="D9DFEA"/>
            </a:solidFill>
          </a:ln>
        </p:spPr>
        <p:txBody>
          <a:bodyPr rtlCol="0" anchor="ctr"/>
          <a:lstStyle/>
          <a:p>
            <a:pPr algn="ctr"/>
          </a:p>
        </p:txBody>
      </p:sp>
      <p:sp>
        <p:nvSpPr>
          <p:cNvPr id="8" name="kor_1"/>
          <p:cNvSpPr txBox="1"/>
          <p:nvPr/>
        </p:nvSpPr>
        <p:spPr>
          <a:xfrm>
            <a:off x="457200" y="1060704"/>
            <a:ext cx="11274552" cy="649478"/>
          </a:xfrm>
          <a:prstGeom prst="rect">
            <a:avLst/>
          </a:prstGeom>
          <a:noFill/>
        </p:spPr>
        <p:txBody>
          <a:bodyPr wrap="square" lIns="228600" tIns="54864" rIns="228600" bIns="54864" anchor="t" rtlCol="0">
            <a:noAutofit/>
          </a:bodyPr>
          <a:lstStyle/>
          <a:p>
            <a:pPr algn="l">
              <a:lnSpc>
                <a:spcPts val="2125"/>
              </a:lnSpc>
              <a:spcBef>
                <a:spcPts val="0"/>
              </a:spcBef>
              <a:spcAft>
                <a:spcPts val="0"/>
              </a:spcAft>
              <a:buNone/>
            </a:pPr>
            <a:r>
              <a:rPr lang="en-US" altLang="en-US" sz="1700" b="1" dirty="0">
                <a:solidFill>
                  <a:srgbClr val="1E2A5A"/>
                </a:solidFill>
                <a:latin typeface="Calibri"/>
                <a:ea typeface="맑은 고딕"/>
                <a:cs typeface="Calibri"/>
              </a:rPr>
              <a:t>5.  </a:t>
            </a:r>
            <a:r>
              <a:rPr lang="ko-KR" altLang="en-US" sz="1700" b="1" dirty="0">
                <a:solidFill>
                  <a:srgbClr val="1F2328"/>
                </a:solidFill>
                <a:latin typeface="맑은 고딕"/>
                <a:ea typeface="맑은 고딕"/>
                <a:cs typeface="맑은 고딕"/>
              </a:rPr>
              <a:t>이것은 빅데이터 덕분에 가능하다. 예를 들어, 독감의 계절이 오면 사람들은 독감 약을 더 많이 구입할 것이다.</a:t>
            </a:r>
            <a:endParaRPr lang="ko-KR" sz="1700"/>
          </a:p>
        </p:txBody>
      </p:sp>
      <p:sp>
        <p:nvSpPr>
          <p:cNvPr id="9" name="ex_1"/>
          <p:cNvSpPr txBox="1"/>
          <p:nvPr/>
        </p:nvSpPr>
        <p:spPr>
          <a:xfrm>
            <a:off x="457200" y="1655318"/>
            <a:ext cx="11274552" cy="761238"/>
          </a:xfrm>
          <a:prstGeom prst="rect">
            <a:avLst/>
          </a:prstGeom>
          <a:noFill/>
        </p:spPr>
        <p:txBody>
          <a:bodyPr wrap="square" lIns="228600" tIns="54864" rIns="228600" bIns="54864" anchor="t" rtlCol="0">
            <a:noAutofit/>
          </a:bodyPr>
          <a:lstStyle/>
          <a:p>
            <a:pPr algn="l">
              <a:lnSpc>
                <a:spcPts val="2565"/>
              </a:lnSpc>
              <a:spcBef>
                <a:spcPts val="0"/>
              </a:spcBef>
              <a:spcAft>
                <a:spcPts val="0"/>
              </a:spcAft>
              <a:buNone/>
            </a:pP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big data</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thanks to</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This is</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possible</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 For example, when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comes</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the flu season</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will buy</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people</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more</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flu medicine</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a:t>
            </a:r>
            <a:endParaRPr lang="ko-KR" sz="1900"/>
          </a:p>
        </p:txBody>
      </p:sp>
      <p:sp>
        <p:nvSpPr>
          <p:cNvPr id="10" name="rv_ans_1"/>
          <p:cNvSpPr txBox="1"/>
          <p:nvPr/>
        </p:nvSpPr>
        <p:spPr>
          <a:xfrm>
            <a:off x="594360" y="2453132"/>
            <a:ext cx="11000232" cy="737108"/>
          </a:xfrm>
          <a:prstGeom prst="rect">
            <a:avLst/>
          </a:prstGeom>
          <a:solidFill>
            <a:srgbClr val="FFF3C4"/>
          </a:solidFill>
        </p:spPr>
        <p:txBody>
          <a:bodyPr wrap="square" lIns="137160" tIns="54864" rIns="137160" bIns="54864" anchor="t" rtlCol="0">
            <a:noAutofit/>
          </a:bodyPr>
          <a:lstStyle/>
          <a:p>
            <a:pPr algn="l">
              <a:lnSpc>
                <a:spcPts val="2470"/>
              </a:lnSpc>
              <a:spcBef>
                <a:spcPts val="0"/>
              </a:spcBef>
              <a:spcAft>
                <a:spcPts val="0"/>
              </a:spcAft>
              <a:buNone/>
            </a:pPr>
            <a:r>
              <a:rPr lang="en-US" altLang="en-US" sz="1900" b="1" dirty="0">
                <a:solidFill>
                  <a:srgbClr val="C00000"/>
                </a:solidFill>
                <a:latin typeface="Calibri"/>
                <a:ea typeface="맑은 고딕"/>
                <a:cs typeface="Calibri"/>
              </a:rPr>
              <a:t>→  </a:t>
            </a:r>
            <a:r>
              <a:rPr lang="en-US" altLang="en-US" sz="1900" b="1" dirty="0">
                <a:solidFill>
                  <a:srgbClr val="C00000"/>
                </a:solidFill>
                <a:latin typeface="Calibri"/>
                <a:ea typeface="맑은 고딕"/>
                <a:cs typeface="Calibri"/>
              </a:rPr>
              <a:t>This is possible thanks to big data. For example, when the flu season comes, people will buy more flu medicine.</a:t>
            </a:r>
            <a:endParaRPr lang="ko-KR" sz="1900"/>
          </a:p>
        </p:txBody>
      </p:sp>
      <p:sp>
        <p:nvSpPr>
          <p:cNvPr id="11" name="item_card_2"/>
          <p:cNvSpPr/>
          <p:nvPr/>
        </p:nvSpPr>
        <p:spPr>
          <a:xfrm>
            <a:off x="457200" y="3318256"/>
            <a:ext cx="11274552" cy="1348232"/>
          </a:xfrm>
          <a:prstGeom prst="roundRect">
            <a:avLst>
              <a:gd name="adj" fmla="val 6000"/>
            </a:avLst>
          </a:prstGeom>
          <a:solidFill>
            <a:srgbClr val="F3F5F9"/>
          </a:solidFill>
          <a:ln w="12700">
            <a:solidFill>
              <a:srgbClr val="D9DFEA"/>
            </a:solidFill>
          </a:ln>
        </p:spPr>
        <p:txBody>
          <a:bodyPr rtlCol="0" anchor="ctr"/>
          <a:lstStyle/>
          <a:p>
            <a:pPr algn="ctr"/>
          </a:p>
        </p:txBody>
      </p:sp>
      <p:sp>
        <p:nvSpPr>
          <p:cNvPr id="12" name="kor_2"/>
          <p:cNvSpPr txBox="1"/>
          <p:nvPr/>
        </p:nvSpPr>
        <p:spPr>
          <a:xfrm>
            <a:off x="457200" y="3427984"/>
            <a:ext cx="11274552" cy="379603"/>
          </a:xfrm>
          <a:prstGeom prst="rect">
            <a:avLst/>
          </a:prstGeom>
          <a:noFill/>
        </p:spPr>
        <p:txBody>
          <a:bodyPr wrap="square" lIns="228600" tIns="54864" rIns="228600" bIns="54864" anchor="t" rtlCol="0">
            <a:noAutofit/>
          </a:bodyPr>
          <a:lstStyle/>
          <a:p>
            <a:pPr algn="l">
              <a:lnSpc>
                <a:spcPts val="2125"/>
              </a:lnSpc>
              <a:spcBef>
                <a:spcPts val="0"/>
              </a:spcBef>
              <a:spcAft>
                <a:spcPts val="0"/>
              </a:spcAft>
              <a:buNone/>
            </a:pPr>
            <a:r>
              <a:rPr lang="en-US" altLang="en-US" sz="1700" b="1" dirty="0">
                <a:solidFill>
                  <a:srgbClr val="1E2A5A"/>
                </a:solidFill>
                <a:latin typeface="Calibri"/>
                <a:ea typeface="맑은 고딕"/>
                <a:cs typeface="Calibri"/>
              </a:rPr>
              <a:t>6.  </a:t>
            </a:r>
            <a:r>
              <a:rPr lang="ko-KR" altLang="en-US" sz="1700" b="1" dirty="0">
                <a:solidFill>
                  <a:srgbClr val="1F2328"/>
                </a:solidFill>
                <a:latin typeface="맑은 고딕"/>
                <a:ea typeface="맑은 고딕"/>
                <a:cs typeface="맑은 고딕"/>
              </a:rPr>
              <a:t>그들은 또한 온라인상에서 독감 증상에 대해 더 많이 검색해 볼 것이다.</a:t>
            </a:r>
            <a:endParaRPr lang="ko-KR" sz="1700"/>
          </a:p>
        </p:txBody>
      </p:sp>
      <p:sp>
        <p:nvSpPr>
          <p:cNvPr id="13" name="ex_2"/>
          <p:cNvSpPr txBox="1"/>
          <p:nvPr/>
        </p:nvSpPr>
        <p:spPr>
          <a:xfrm>
            <a:off x="457200" y="3752723"/>
            <a:ext cx="11274552" cy="435483"/>
          </a:xfrm>
          <a:prstGeom prst="rect">
            <a:avLst/>
          </a:prstGeom>
          <a:noFill/>
        </p:spPr>
        <p:txBody>
          <a:bodyPr wrap="square" lIns="228600" tIns="54864" rIns="228600" bIns="54864" anchor="t" rtlCol="0">
            <a:noAutofit/>
          </a:bodyPr>
          <a:lstStyle/>
          <a:p>
            <a:pPr algn="l">
              <a:lnSpc>
                <a:spcPts val="2565"/>
              </a:lnSpc>
              <a:spcBef>
                <a:spcPts val="0"/>
              </a:spcBef>
              <a:spcAft>
                <a:spcPts val="0"/>
              </a:spcAft>
              <a:buNone/>
            </a:pP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They</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about flu symptoms</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will also</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search online</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more</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a:t>
            </a:r>
            <a:endParaRPr lang="ko-KR" sz="1900"/>
          </a:p>
        </p:txBody>
      </p:sp>
      <p:sp>
        <p:nvSpPr>
          <p:cNvPr id="14" name="rv_ans_2"/>
          <p:cNvSpPr txBox="1"/>
          <p:nvPr/>
        </p:nvSpPr>
        <p:spPr>
          <a:xfrm>
            <a:off x="594360" y="4224782"/>
            <a:ext cx="11000232" cy="423418"/>
          </a:xfrm>
          <a:prstGeom prst="rect">
            <a:avLst/>
          </a:prstGeom>
          <a:solidFill>
            <a:srgbClr val="FFF3C4"/>
          </a:solidFill>
        </p:spPr>
        <p:txBody>
          <a:bodyPr wrap="square" lIns="137160" tIns="54864" rIns="137160" bIns="54864" anchor="t" rtlCol="0">
            <a:noAutofit/>
          </a:bodyPr>
          <a:lstStyle/>
          <a:p>
            <a:pPr algn="l">
              <a:lnSpc>
                <a:spcPts val="2470"/>
              </a:lnSpc>
              <a:spcBef>
                <a:spcPts val="0"/>
              </a:spcBef>
              <a:spcAft>
                <a:spcPts val="0"/>
              </a:spcAft>
              <a:buNone/>
            </a:pPr>
            <a:r>
              <a:rPr lang="en-US" altLang="en-US" sz="1900" b="1" dirty="0">
                <a:solidFill>
                  <a:srgbClr val="C00000"/>
                </a:solidFill>
                <a:latin typeface="Calibri"/>
                <a:ea typeface="맑은 고딕"/>
                <a:cs typeface="Calibri"/>
              </a:rPr>
              <a:t>→  </a:t>
            </a:r>
            <a:r>
              <a:rPr lang="en-US" altLang="en-US" sz="1900" b="1" dirty="0">
                <a:solidFill>
                  <a:srgbClr val="C00000"/>
                </a:solidFill>
                <a:latin typeface="Calibri"/>
                <a:ea typeface="맑은 고딕"/>
                <a:cs typeface="Calibri"/>
              </a:rPr>
              <a:t>They will also search online about flu symptoms more.</a:t>
            </a:r>
            <a:endParaRPr lang="ko-KR" sz="19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25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2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4" grpId="0" animBg="1"/>
    </p:bldLst>
  </p:timing>
</p:sld>
</file>

<file path=ppt/slides/slide2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8000"/>
            </a:avLst>
          </a:prstGeom>
          <a:solidFill>
            <a:srgbClr val="1E2A5A"/>
          </a:solidFill>
          <a:ln>
            <a:noFill/>
          </a:ln>
        </p:spPr>
        <p:txBody>
          <a:bodyPr wrap="square" lIns="45720" tIns="18288" rIns="45720" bIns="18288" anchor="ctr" rtlCol="0">
            <a:noAutofit/>
          </a:bodyPr>
          <a:lstStyle/>
          <a:p>
            <a:pPr algn="ctr">
              <a:lnSpc>
                <a:spcPts val="2000"/>
              </a:lnSpc>
              <a:spcBef>
                <a:spcPts val="0"/>
              </a:spcBef>
              <a:spcAft>
                <a:spcPts val="0"/>
              </a:spcAft>
              <a:buNone/>
            </a:pPr>
            <a:r>
              <a:rPr lang="en-US" altLang="en-US" sz="1700" b="1" dirty="0">
                <a:solidFill>
                  <a:srgbClr val="FFFFFF"/>
                </a:solidFill>
                <a:latin typeface="Calibri"/>
                <a:ea typeface="맑은 고딕"/>
                <a:cs typeface="Calibri"/>
              </a:rPr>
              <a:t>L7-2</a:t>
            </a:r>
            <a:endParaRPr lang="ko-KR" sz="1700"/>
          </a:p>
        </p:txBody>
      </p:sp>
      <p:sp>
        <p:nvSpPr>
          <p:cNvPr id="3" name="hdr_chip"/>
          <p:cNvSpPr/>
          <p:nvPr/>
        </p:nvSpPr>
        <p:spPr>
          <a:xfrm>
            <a:off x="1755648" y="274320"/>
            <a:ext cx="1371600" cy="493776"/>
          </a:xfrm>
          <a:prstGeom prst="roundRect">
            <a:avLst>
              <a:gd name="adj" fmla="val 8000"/>
            </a:avLst>
          </a:prstGeom>
          <a:solidFill>
            <a:srgbClr val="E6EAF4"/>
          </a:solidFill>
          <a:ln>
            <a:noFill/>
          </a:ln>
        </p:spPr>
        <p:txBody>
          <a:bodyPr wrap="square" lIns="27432" tIns="18288" rIns="27432" bIns="18288" anchor="ctr" rtlCol="0">
            <a:noAutofit/>
          </a:bodyPr>
          <a:lstStyle/>
          <a:p>
            <a:pPr algn="ctr">
              <a:lnSpc>
                <a:spcPts val="1700"/>
              </a:lnSpc>
              <a:spcBef>
                <a:spcPts val="0"/>
              </a:spcBef>
              <a:spcAft>
                <a:spcPts val="0"/>
              </a:spcAft>
              <a:buNone/>
            </a:pPr>
            <a:r>
              <a:rPr lang="ko-KR" altLang="en-US" sz="1400" b="1" dirty="0">
                <a:solidFill>
                  <a:srgbClr val="1E2A5A"/>
                </a:solidFill>
                <a:latin typeface="맑은 고딕"/>
                <a:ea typeface="맑은 고딕"/>
                <a:cs typeface="맑은 고딕"/>
              </a:rPr>
              <a:t>PART 6 · 9</a:t>
            </a:r>
            <a:endParaRPr lang="ko-KR" sz="1400"/>
          </a:p>
        </p:txBody>
      </p:sp>
      <p:sp>
        <p:nvSpPr>
          <p:cNvPr id="4" name="hdr_q"/>
          <p:cNvSpPr txBox="1"/>
          <p:nvPr/>
        </p:nvSpPr>
        <p:spPr>
          <a:xfrm>
            <a:off x="3246120" y="246888"/>
            <a:ext cx="8485632" cy="548640"/>
          </a:xfrm>
          <a:prstGeom prst="rect">
            <a:avLst/>
          </a:prstGeom>
          <a:noFill/>
        </p:spPr>
        <p:txBody>
          <a:bodyPr wrap="square" lIns="109728" tIns="54864" rIns="109728" bIns="54864" anchor="ctr" rtlCol="0">
            <a:noAutofit/>
          </a:bodyPr>
          <a:lstStyle/>
          <a:p>
            <a:pPr algn="l">
              <a:lnSpc>
                <a:spcPts val="2400"/>
              </a:lnSpc>
              <a:spcBef>
                <a:spcPts val="0"/>
              </a:spcBef>
              <a:spcAft>
                <a:spcPts val="0"/>
              </a:spcAft>
              <a:buNone/>
            </a:pPr>
            <a:r>
              <a:rPr lang="ko-KR" altLang="en-US" sz="2000" b="1" dirty="0">
                <a:solidFill>
                  <a:srgbClr val="1F2328"/>
                </a:solidFill>
                <a:latin typeface="맑은 고딕"/>
                <a:ea typeface="맑은 고딕"/>
                <a:cs typeface="맑은 고딕"/>
              </a:rPr>
              <a:t>우리말에 맞게 (  ) 안의 말을 바르게 배열하시오.</a:t>
            </a:r>
            <a:endParaRPr lang="ko-KR" sz="2000"/>
          </a:p>
        </p:txBody>
      </p:sp>
      <p:sp>
        <p:nvSpPr>
          <p:cNvPr id="5" name="ftr_exam"/>
          <p:cNvSpPr txBox="1"/>
          <p:nvPr/>
        </p:nvSpPr>
        <p:spPr>
          <a:xfrm>
            <a:off x="457200" y="6519672"/>
            <a:ext cx="5669280" cy="256032"/>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7</a:t>
            </a:r>
            <a:endParaRPr lang="ko-KR" sz="1000"/>
          </a:p>
        </p:txBody>
      </p:sp>
      <p:sp>
        <p:nvSpPr>
          <p:cNvPr id="6" name="ftr_hint"/>
          <p:cNvSpPr txBox="1"/>
          <p:nvPr/>
        </p:nvSpPr>
        <p:spPr>
          <a:xfrm>
            <a:off x="5971032" y="6519672"/>
            <a:ext cx="5760720" cy="256032"/>
          </a:xfrm>
          <a:prstGeom prst="rect">
            <a:avLst/>
          </a:prstGeom>
          <a:noFill/>
        </p:spPr>
        <p:txBody>
          <a:bodyPr wrap="square" lIns="0" tIns="0" rIns="0" bIns="0" anchor="t" rtlCol="0">
            <a:noAutofit/>
          </a:bodyPr>
          <a:lstStyle/>
          <a:p>
            <a:pPr algn="r">
              <a:lnSpc>
                <a:spcPts val="1200"/>
              </a:lnSpc>
              <a:spcBef>
                <a:spcPts val="0"/>
              </a:spcBef>
              <a:spcAft>
                <a:spcPts val="0"/>
              </a:spcAft>
              <a:buNone/>
            </a:pPr>
            <a:r>
              <a:rPr lang="ko-KR" altLang="en-US" sz="1000" b="0" dirty="0">
                <a:solidFill>
                  <a:srgbClr val="7A808C"/>
                </a:solidFill>
                <a:latin typeface="맑은 고딕"/>
                <a:ea typeface="맑은 고딕"/>
                <a:cs typeface="맑은 고딕"/>
              </a:rPr>
              <a:t>클릭 ① 완성 문장(정답) 공개</a:t>
            </a:r>
            <a:endParaRPr lang="ko-KR" sz="1000"/>
          </a:p>
        </p:txBody>
      </p:sp>
      <p:sp>
        <p:nvSpPr>
          <p:cNvPr id="7" name="item_card_1"/>
          <p:cNvSpPr/>
          <p:nvPr/>
        </p:nvSpPr>
        <p:spPr>
          <a:xfrm>
            <a:off x="457200" y="950976"/>
            <a:ext cx="11274552" cy="1661922"/>
          </a:xfrm>
          <a:prstGeom prst="roundRect">
            <a:avLst>
              <a:gd name="adj" fmla="val 6000"/>
            </a:avLst>
          </a:prstGeom>
          <a:solidFill>
            <a:srgbClr val="F3F5F9"/>
          </a:solidFill>
          <a:ln w="12700">
            <a:solidFill>
              <a:srgbClr val="D9DFEA"/>
            </a:solidFill>
          </a:ln>
        </p:spPr>
        <p:txBody>
          <a:bodyPr rtlCol="0" anchor="ctr"/>
          <a:lstStyle/>
          <a:p>
            <a:pPr algn="ctr"/>
          </a:p>
        </p:txBody>
      </p:sp>
      <p:sp>
        <p:nvSpPr>
          <p:cNvPr id="8" name="kor_1"/>
          <p:cNvSpPr txBox="1"/>
          <p:nvPr/>
        </p:nvSpPr>
        <p:spPr>
          <a:xfrm>
            <a:off x="457200" y="1060704"/>
            <a:ext cx="11274552" cy="379603"/>
          </a:xfrm>
          <a:prstGeom prst="rect">
            <a:avLst/>
          </a:prstGeom>
          <a:noFill/>
        </p:spPr>
        <p:txBody>
          <a:bodyPr wrap="square" lIns="228600" tIns="54864" rIns="228600" bIns="54864" anchor="t" rtlCol="0">
            <a:noAutofit/>
          </a:bodyPr>
          <a:lstStyle/>
          <a:p>
            <a:pPr algn="l">
              <a:lnSpc>
                <a:spcPts val="2125"/>
              </a:lnSpc>
              <a:spcBef>
                <a:spcPts val="0"/>
              </a:spcBef>
              <a:spcAft>
                <a:spcPts val="0"/>
              </a:spcAft>
              <a:buNone/>
            </a:pPr>
            <a:r>
              <a:rPr lang="en-US" altLang="en-US" sz="1700" b="1" dirty="0">
                <a:solidFill>
                  <a:srgbClr val="1E2A5A"/>
                </a:solidFill>
                <a:latin typeface="Calibri"/>
                <a:ea typeface="맑은 고딕"/>
                <a:cs typeface="Calibri"/>
              </a:rPr>
              <a:t>7.  </a:t>
            </a:r>
            <a:r>
              <a:rPr lang="ko-KR" altLang="en-US" sz="1700" b="1" dirty="0">
                <a:solidFill>
                  <a:srgbClr val="1F2328"/>
                </a:solidFill>
                <a:latin typeface="맑은 고딕"/>
                <a:ea typeface="맑은 고딕"/>
                <a:cs typeface="맑은 고딕"/>
              </a:rPr>
              <a:t>이런 종류의 데이터가 현명하게 분석된다면, 독감의 확산을 예측할 수 있다.</a:t>
            </a:r>
            <a:endParaRPr lang="ko-KR" sz="1700"/>
          </a:p>
        </p:txBody>
      </p:sp>
      <p:sp>
        <p:nvSpPr>
          <p:cNvPr id="9" name="ex_1"/>
          <p:cNvSpPr txBox="1"/>
          <p:nvPr/>
        </p:nvSpPr>
        <p:spPr>
          <a:xfrm>
            <a:off x="457200" y="1385443"/>
            <a:ext cx="11274552" cy="435483"/>
          </a:xfrm>
          <a:prstGeom prst="rect">
            <a:avLst/>
          </a:prstGeom>
          <a:noFill/>
        </p:spPr>
        <p:txBody>
          <a:bodyPr wrap="square" lIns="228600" tIns="54864" rIns="228600" bIns="54864" anchor="t" rtlCol="0">
            <a:noAutofit/>
          </a:bodyPr>
          <a:lstStyle/>
          <a:p>
            <a:pPr algn="l">
              <a:lnSpc>
                <a:spcPts val="2565"/>
              </a:lnSpc>
              <a:spcBef>
                <a:spcPts val="0"/>
              </a:spcBef>
              <a:spcAft>
                <a:spcPts val="0"/>
              </a:spcAft>
              <a:buNone/>
            </a:pPr>
            <a:r>
              <a:rPr lang="en-US" altLang="en-US" sz="1900" b="0" dirty="0">
                <a:solidFill>
                  <a:srgbClr val="1F2328"/>
                </a:solidFill>
                <a:latin typeface="Calibri"/>
                <a:ea typeface="맑은 고딕"/>
                <a:cs typeface="Calibri"/>
              </a:rPr>
              <a:t>If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wisely</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this kind of data</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is analyzed</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can be</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predicted</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the spread of the flu</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a:t>
            </a:r>
            <a:endParaRPr lang="ko-KR" sz="1900"/>
          </a:p>
        </p:txBody>
      </p:sp>
      <p:sp>
        <p:nvSpPr>
          <p:cNvPr id="10" name="rv_ans_1"/>
          <p:cNvSpPr txBox="1"/>
          <p:nvPr/>
        </p:nvSpPr>
        <p:spPr>
          <a:xfrm>
            <a:off x="594360" y="1857502"/>
            <a:ext cx="11000232" cy="737108"/>
          </a:xfrm>
          <a:prstGeom prst="rect">
            <a:avLst/>
          </a:prstGeom>
          <a:solidFill>
            <a:srgbClr val="FFF3C4"/>
          </a:solidFill>
        </p:spPr>
        <p:txBody>
          <a:bodyPr wrap="square" lIns="137160" tIns="54864" rIns="137160" bIns="54864" anchor="t" rtlCol="0">
            <a:noAutofit/>
          </a:bodyPr>
          <a:lstStyle/>
          <a:p>
            <a:pPr algn="l">
              <a:lnSpc>
                <a:spcPts val="2470"/>
              </a:lnSpc>
              <a:spcBef>
                <a:spcPts val="0"/>
              </a:spcBef>
              <a:spcAft>
                <a:spcPts val="0"/>
              </a:spcAft>
              <a:buNone/>
            </a:pPr>
            <a:r>
              <a:rPr lang="en-US" altLang="en-US" sz="1900" b="1" dirty="0">
                <a:solidFill>
                  <a:srgbClr val="C00000"/>
                </a:solidFill>
                <a:latin typeface="Calibri"/>
                <a:ea typeface="맑은 고딕"/>
                <a:cs typeface="Calibri"/>
              </a:rPr>
              <a:t>→  </a:t>
            </a:r>
            <a:r>
              <a:rPr lang="en-US" altLang="en-US" sz="1900" b="1" dirty="0">
                <a:solidFill>
                  <a:srgbClr val="C00000"/>
                </a:solidFill>
                <a:latin typeface="Calibri"/>
                <a:ea typeface="맑은 고딕"/>
                <a:cs typeface="Calibri"/>
              </a:rPr>
              <a:t>If this kind of data is analyzed wisely, the spread of the flu can be predicted.</a:t>
            </a:r>
            <a:endParaRPr lang="ko-KR" sz="19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25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2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8000"/>
            </a:avLst>
          </a:prstGeom>
          <a:solidFill>
            <a:srgbClr val="1E2A5A"/>
          </a:solidFill>
          <a:ln>
            <a:noFill/>
          </a:ln>
        </p:spPr>
        <p:txBody>
          <a:bodyPr wrap="square" lIns="45720" tIns="18288" rIns="45720" bIns="18288" anchor="ctr" rtlCol="0">
            <a:noAutofit/>
          </a:bodyPr>
          <a:lstStyle/>
          <a:p>
            <a:pPr algn="ctr">
              <a:lnSpc>
                <a:spcPts val="2000"/>
              </a:lnSpc>
              <a:spcBef>
                <a:spcPts val="0"/>
              </a:spcBef>
              <a:spcAft>
                <a:spcPts val="0"/>
              </a:spcAft>
              <a:buNone/>
            </a:pPr>
            <a:r>
              <a:rPr lang="en-US" altLang="en-US" sz="1700" b="1" dirty="0">
                <a:solidFill>
                  <a:srgbClr val="FFFFFF"/>
                </a:solidFill>
                <a:latin typeface="Calibri"/>
                <a:ea typeface="맑은 고딕"/>
                <a:cs typeface="Calibri"/>
              </a:rPr>
              <a:t>L7-3</a:t>
            </a:r>
            <a:endParaRPr lang="ko-KR" sz="1700"/>
          </a:p>
        </p:txBody>
      </p:sp>
      <p:sp>
        <p:nvSpPr>
          <p:cNvPr id="3" name="hdr_chip"/>
          <p:cNvSpPr/>
          <p:nvPr/>
        </p:nvSpPr>
        <p:spPr>
          <a:xfrm>
            <a:off x="1755648" y="274320"/>
            <a:ext cx="1371600" cy="493776"/>
          </a:xfrm>
          <a:prstGeom prst="roundRect">
            <a:avLst>
              <a:gd name="adj" fmla="val 8000"/>
            </a:avLst>
          </a:prstGeom>
          <a:solidFill>
            <a:srgbClr val="E6EAF4"/>
          </a:solidFill>
          <a:ln>
            <a:noFill/>
          </a:ln>
        </p:spPr>
        <p:txBody>
          <a:bodyPr wrap="square" lIns="27432" tIns="18288" rIns="27432" bIns="18288" anchor="ctr" rtlCol="0">
            <a:noAutofit/>
          </a:bodyPr>
          <a:lstStyle/>
          <a:p>
            <a:pPr algn="ctr">
              <a:lnSpc>
                <a:spcPts val="1700"/>
              </a:lnSpc>
              <a:spcBef>
                <a:spcPts val="0"/>
              </a:spcBef>
              <a:spcAft>
                <a:spcPts val="0"/>
              </a:spcAft>
              <a:buNone/>
            </a:pPr>
            <a:r>
              <a:rPr lang="ko-KR" altLang="en-US" sz="1400" b="1" dirty="0">
                <a:solidFill>
                  <a:srgbClr val="1E2A5A"/>
                </a:solidFill>
                <a:latin typeface="맑은 고딕"/>
                <a:ea typeface="맑은 고딕"/>
                <a:cs typeface="맑은 고딕"/>
              </a:rPr>
              <a:t>PART 6 · 10</a:t>
            </a:r>
            <a:endParaRPr lang="ko-KR" sz="1400"/>
          </a:p>
        </p:txBody>
      </p:sp>
      <p:sp>
        <p:nvSpPr>
          <p:cNvPr id="4" name="hdr_q"/>
          <p:cNvSpPr txBox="1"/>
          <p:nvPr/>
        </p:nvSpPr>
        <p:spPr>
          <a:xfrm>
            <a:off x="3246120" y="246888"/>
            <a:ext cx="8485632" cy="548640"/>
          </a:xfrm>
          <a:prstGeom prst="rect">
            <a:avLst/>
          </a:prstGeom>
          <a:noFill/>
        </p:spPr>
        <p:txBody>
          <a:bodyPr wrap="square" lIns="109728" tIns="54864" rIns="109728" bIns="54864" anchor="ctr" rtlCol="0">
            <a:noAutofit/>
          </a:bodyPr>
          <a:lstStyle/>
          <a:p>
            <a:pPr algn="l">
              <a:lnSpc>
                <a:spcPts val="2400"/>
              </a:lnSpc>
              <a:spcBef>
                <a:spcPts val="0"/>
              </a:spcBef>
              <a:spcAft>
                <a:spcPts val="0"/>
              </a:spcAft>
              <a:buNone/>
            </a:pPr>
            <a:r>
              <a:rPr lang="ko-KR" altLang="en-US" sz="2000" b="1" dirty="0">
                <a:solidFill>
                  <a:srgbClr val="1F2328"/>
                </a:solidFill>
                <a:latin typeface="맑은 고딕"/>
                <a:ea typeface="맑은 고딕"/>
                <a:cs typeface="맑은 고딕"/>
              </a:rPr>
              <a:t>우리말에 맞게 (  ) 안의 말을 바르게 배열하시오.</a:t>
            </a:r>
            <a:endParaRPr lang="ko-KR" sz="2000"/>
          </a:p>
        </p:txBody>
      </p:sp>
      <p:sp>
        <p:nvSpPr>
          <p:cNvPr id="5" name="ftr_exam"/>
          <p:cNvSpPr txBox="1"/>
          <p:nvPr/>
        </p:nvSpPr>
        <p:spPr>
          <a:xfrm>
            <a:off x="457200" y="6519672"/>
            <a:ext cx="5669280" cy="256032"/>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7</a:t>
            </a:r>
            <a:endParaRPr lang="ko-KR" sz="1000"/>
          </a:p>
        </p:txBody>
      </p:sp>
      <p:sp>
        <p:nvSpPr>
          <p:cNvPr id="6" name="ftr_hint"/>
          <p:cNvSpPr txBox="1"/>
          <p:nvPr/>
        </p:nvSpPr>
        <p:spPr>
          <a:xfrm>
            <a:off x="5971032" y="6519672"/>
            <a:ext cx="5760720" cy="256032"/>
          </a:xfrm>
          <a:prstGeom prst="rect">
            <a:avLst/>
          </a:prstGeom>
          <a:noFill/>
        </p:spPr>
        <p:txBody>
          <a:bodyPr wrap="square" lIns="0" tIns="0" rIns="0" bIns="0" anchor="t" rtlCol="0">
            <a:noAutofit/>
          </a:bodyPr>
          <a:lstStyle/>
          <a:p>
            <a:pPr algn="r">
              <a:lnSpc>
                <a:spcPts val="1200"/>
              </a:lnSpc>
              <a:spcBef>
                <a:spcPts val="0"/>
              </a:spcBef>
              <a:spcAft>
                <a:spcPts val="0"/>
              </a:spcAft>
              <a:buNone/>
            </a:pPr>
            <a:r>
              <a:rPr lang="ko-KR" altLang="en-US" sz="1000" b="0" dirty="0">
                <a:solidFill>
                  <a:srgbClr val="7A808C"/>
                </a:solidFill>
                <a:latin typeface="맑은 고딕"/>
                <a:ea typeface="맑은 고딕"/>
                <a:cs typeface="맑은 고딕"/>
              </a:rPr>
              <a:t>클릭 ① 완성 문장(정답) 공개</a:t>
            </a:r>
            <a:endParaRPr lang="ko-KR" sz="1000"/>
          </a:p>
        </p:txBody>
      </p:sp>
      <p:sp>
        <p:nvSpPr>
          <p:cNvPr id="7" name="item_card_1"/>
          <p:cNvSpPr/>
          <p:nvPr/>
        </p:nvSpPr>
        <p:spPr>
          <a:xfrm>
            <a:off x="457200" y="950976"/>
            <a:ext cx="11274552" cy="2257552"/>
          </a:xfrm>
          <a:prstGeom prst="roundRect">
            <a:avLst>
              <a:gd name="adj" fmla="val 6000"/>
            </a:avLst>
          </a:prstGeom>
          <a:solidFill>
            <a:srgbClr val="F3F5F9"/>
          </a:solidFill>
          <a:ln w="12700">
            <a:solidFill>
              <a:srgbClr val="D9DFEA"/>
            </a:solidFill>
          </a:ln>
        </p:spPr>
        <p:txBody>
          <a:bodyPr rtlCol="0" anchor="ctr"/>
          <a:lstStyle/>
          <a:p>
            <a:pPr algn="ctr"/>
          </a:p>
        </p:txBody>
      </p:sp>
      <p:sp>
        <p:nvSpPr>
          <p:cNvPr id="8" name="kor_1"/>
          <p:cNvSpPr txBox="1"/>
          <p:nvPr/>
        </p:nvSpPr>
        <p:spPr>
          <a:xfrm>
            <a:off x="457200" y="1060704"/>
            <a:ext cx="11274552" cy="649478"/>
          </a:xfrm>
          <a:prstGeom prst="rect">
            <a:avLst/>
          </a:prstGeom>
          <a:noFill/>
        </p:spPr>
        <p:txBody>
          <a:bodyPr wrap="square" lIns="228600" tIns="54864" rIns="228600" bIns="54864" anchor="t" rtlCol="0">
            <a:noAutofit/>
          </a:bodyPr>
          <a:lstStyle/>
          <a:p>
            <a:pPr algn="l">
              <a:lnSpc>
                <a:spcPts val="2125"/>
              </a:lnSpc>
              <a:spcBef>
                <a:spcPts val="0"/>
              </a:spcBef>
              <a:spcAft>
                <a:spcPts val="0"/>
              </a:spcAft>
              <a:buNone/>
            </a:pPr>
            <a:r>
              <a:rPr lang="en-US" altLang="en-US" sz="1700" b="1" dirty="0">
                <a:solidFill>
                  <a:srgbClr val="1E2A5A"/>
                </a:solidFill>
                <a:latin typeface="Calibri"/>
                <a:ea typeface="맑은 고딕"/>
                <a:cs typeface="Calibri"/>
              </a:rPr>
              <a:t>1.  </a:t>
            </a:r>
            <a:r>
              <a:rPr lang="ko-KR" altLang="en-US" sz="1700" b="1" dirty="0">
                <a:solidFill>
                  <a:srgbClr val="1F2328"/>
                </a:solidFill>
                <a:latin typeface="맑은 고딕"/>
                <a:ea typeface="맑은 고딕"/>
                <a:cs typeface="맑은 고딕"/>
              </a:rPr>
              <a:t>당신은 스포츠 팬인가? 빅데이터는 스포츠를 더 흥미진진하게 만들면서 선수들의 경기력을 향상하고 있다.</a:t>
            </a:r>
            <a:endParaRPr lang="ko-KR" sz="1700"/>
          </a:p>
        </p:txBody>
      </p:sp>
      <p:sp>
        <p:nvSpPr>
          <p:cNvPr id="9" name="ex_1"/>
          <p:cNvSpPr txBox="1"/>
          <p:nvPr/>
        </p:nvSpPr>
        <p:spPr>
          <a:xfrm>
            <a:off x="457200" y="1655318"/>
            <a:ext cx="11274552" cy="761238"/>
          </a:xfrm>
          <a:prstGeom prst="rect">
            <a:avLst/>
          </a:prstGeom>
          <a:noFill/>
        </p:spPr>
        <p:txBody>
          <a:bodyPr wrap="square" lIns="228600" tIns="54864" rIns="228600" bIns="54864" anchor="t" rtlCol="0">
            <a:noAutofit/>
          </a:bodyPr>
          <a:lstStyle/>
          <a:p>
            <a:pPr algn="l">
              <a:lnSpc>
                <a:spcPts val="2565"/>
              </a:lnSpc>
              <a:spcBef>
                <a:spcPts val="0"/>
              </a:spcBef>
              <a:spcAft>
                <a:spcPts val="0"/>
              </a:spcAft>
              <a:buNone/>
            </a:pPr>
            <a:r>
              <a:rPr lang="en-US" altLang="en-US" sz="1900" b="0" dirty="0">
                <a:solidFill>
                  <a:srgbClr val="1F2328"/>
                </a:solidFill>
                <a:latin typeface="Calibri"/>
                <a:ea typeface="맑은 고딕"/>
                <a:cs typeface="Calibri"/>
              </a:rPr>
              <a:t>Are you a sports fan? Well,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is improving</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the performance</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of players</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big data</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more exciting</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sports</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making</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a:t>
            </a:r>
            <a:endParaRPr lang="ko-KR" sz="1900"/>
          </a:p>
        </p:txBody>
      </p:sp>
      <p:sp>
        <p:nvSpPr>
          <p:cNvPr id="10" name="rv_ans_1"/>
          <p:cNvSpPr txBox="1"/>
          <p:nvPr/>
        </p:nvSpPr>
        <p:spPr>
          <a:xfrm>
            <a:off x="594360" y="2453132"/>
            <a:ext cx="11000232" cy="737108"/>
          </a:xfrm>
          <a:prstGeom prst="rect">
            <a:avLst/>
          </a:prstGeom>
          <a:solidFill>
            <a:srgbClr val="FFF3C4"/>
          </a:solidFill>
        </p:spPr>
        <p:txBody>
          <a:bodyPr wrap="square" lIns="137160" tIns="54864" rIns="137160" bIns="54864" anchor="t" rtlCol="0">
            <a:noAutofit/>
          </a:bodyPr>
          <a:lstStyle/>
          <a:p>
            <a:pPr algn="l">
              <a:lnSpc>
                <a:spcPts val="2470"/>
              </a:lnSpc>
              <a:spcBef>
                <a:spcPts val="0"/>
              </a:spcBef>
              <a:spcAft>
                <a:spcPts val="0"/>
              </a:spcAft>
              <a:buNone/>
            </a:pPr>
            <a:r>
              <a:rPr lang="en-US" altLang="en-US" sz="1900" b="1" dirty="0">
                <a:solidFill>
                  <a:srgbClr val="C00000"/>
                </a:solidFill>
                <a:latin typeface="Calibri"/>
                <a:ea typeface="맑은 고딕"/>
                <a:cs typeface="Calibri"/>
              </a:rPr>
              <a:t>→  </a:t>
            </a:r>
            <a:r>
              <a:rPr lang="en-US" altLang="en-US" sz="1900" b="1" dirty="0">
                <a:solidFill>
                  <a:srgbClr val="C00000"/>
                </a:solidFill>
                <a:latin typeface="Calibri"/>
                <a:ea typeface="맑은 고딕"/>
                <a:cs typeface="Calibri"/>
              </a:rPr>
              <a:t>Are you a sports fan? Well, big data is improving the performance of players, making sports more exciting.</a:t>
            </a:r>
            <a:endParaRPr lang="ko-KR" sz="1900"/>
          </a:p>
        </p:txBody>
      </p:sp>
      <p:sp>
        <p:nvSpPr>
          <p:cNvPr id="11" name="item_card_2"/>
          <p:cNvSpPr/>
          <p:nvPr/>
        </p:nvSpPr>
        <p:spPr>
          <a:xfrm>
            <a:off x="457200" y="3318256"/>
            <a:ext cx="11274552" cy="1348232"/>
          </a:xfrm>
          <a:prstGeom prst="roundRect">
            <a:avLst>
              <a:gd name="adj" fmla="val 6000"/>
            </a:avLst>
          </a:prstGeom>
          <a:solidFill>
            <a:srgbClr val="F3F5F9"/>
          </a:solidFill>
          <a:ln w="12700">
            <a:solidFill>
              <a:srgbClr val="D9DFEA"/>
            </a:solidFill>
          </a:ln>
        </p:spPr>
        <p:txBody>
          <a:bodyPr rtlCol="0" anchor="ctr"/>
          <a:lstStyle/>
          <a:p>
            <a:pPr algn="ctr"/>
          </a:p>
        </p:txBody>
      </p:sp>
      <p:sp>
        <p:nvSpPr>
          <p:cNvPr id="12" name="kor_2"/>
          <p:cNvSpPr txBox="1"/>
          <p:nvPr/>
        </p:nvSpPr>
        <p:spPr>
          <a:xfrm>
            <a:off x="457200" y="3427984"/>
            <a:ext cx="11274552" cy="379603"/>
          </a:xfrm>
          <a:prstGeom prst="rect">
            <a:avLst/>
          </a:prstGeom>
          <a:noFill/>
        </p:spPr>
        <p:txBody>
          <a:bodyPr wrap="square" lIns="228600" tIns="54864" rIns="228600" bIns="54864" anchor="t" rtlCol="0">
            <a:noAutofit/>
          </a:bodyPr>
          <a:lstStyle/>
          <a:p>
            <a:pPr algn="l">
              <a:lnSpc>
                <a:spcPts val="2125"/>
              </a:lnSpc>
              <a:spcBef>
                <a:spcPts val="0"/>
              </a:spcBef>
              <a:spcAft>
                <a:spcPts val="0"/>
              </a:spcAft>
              <a:buNone/>
            </a:pPr>
            <a:r>
              <a:rPr lang="en-US" altLang="en-US" sz="1700" b="1" dirty="0">
                <a:solidFill>
                  <a:srgbClr val="1E2A5A"/>
                </a:solidFill>
                <a:latin typeface="Calibri"/>
                <a:ea typeface="맑은 고딕"/>
                <a:cs typeface="Calibri"/>
              </a:rPr>
              <a:t>2.  </a:t>
            </a:r>
            <a:r>
              <a:rPr lang="ko-KR" altLang="en-US" sz="1700" b="1" dirty="0">
                <a:solidFill>
                  <a:srgbClr val="1F2328"/>
                </a:solidFill>
                <a:latin typeface="맑은 고딕"/>
                <a:ea typeface="맑은 고딕"/>
                <a:cs typeface="맑은 고딕"/>
              </a:rPr>
              <a:t>한 유명한 사례가 독일 국가 대표 축구팀이다.</a:t>
            </a:r>
            <a:endParaRPr lang="ko-KR" sz="1700"/>
          </a:p>
        </p:txBody>
      </p:sp>
      <p:sp>
        <p:nvSpPr>
          <p:cNvPr id="13" name="ex_2"/>
          <p:cNvSpPr txBox="1"/>
          <p:nvPr/>
        </p:nvSpPr>
        <p:spPr>
          <a:xfrm>
            <a:off x="457200" y="3752723"/>
            <a:ext cx="11274552" cy="435483"/>
          </a:xfrm>
          <a:prstGeom prst="rect">
            <a:avLst/>
          </a:prstGeom>
          <a:noFill/>
        </p:spPr>
        <p:txBody>
          <a:bodyPr wrap="square" lIns="228600" tIns="54864" rIns="228600" bIns="54864" anchor="t" rtlCol="0">
            <a:noAutofit/>
          </a:bodyPr>
          <a:lstStyle/>
          <a:p>
            <a:pPr algn="l">
              <a:lnSpc>
                <a:spcPts val="2565"/>
              </a:lnSpc>
              <a:spcBef>
                <a:spcPts val="0"/>
              </a:spcBef>
              <a:spcAft>
                <a:spcPts val="0"/>
              </a:spcAft>
              <a:buNone/>
            </a:pP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Germany’s national soccer team</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is</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A famous example</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a:t>
            </a:r>
            <a:endParaRPr lang="ko-KR" sz="1900"/>
          </a:p>
        </p:txBody>
      </p:sp>
      <p:sp>
        <p:nvSpPr>
          <p:cNvPr id="14" name="rv_ans_2"/>
          <p:cNvSpPr txBox="1"/>
          <p:nvPr/>
        </p:nvSpPr>
        <p:spPr>
          <a:xfrm>
            <a:off x="594360" y="4224782"/>
            <a:ext cx="11000232" cy="423418"/>
          </a:xfrm>
          <a:prstGeom prst="rect">
            <a:avLst/>
          </a:prstGeom>
          <a:solidFill>
            <a:srgbClr val="FFF3C4"/>
          </a:solidFill>
        </p:spPr>
        <p:txBody>
          <a:bodyPr wrap="square" lIns="137160" tIns="54864" rIns="137160" bIns="54864" anchor="t" rtlCol="0">
            <a:noAutofit/>
          </a:bodyPr>
          <a:lstStyle/>
          <a:p>
            <a:pPr algn="l">
              <a:lnSpc>
                <a:spcPts val="2470"/>
              </a:lnSpc>
              <a:spcBef>
                <a:spcPts val="0"/>
              </a:spcBef>
              <a:spcAft>
                <a:spcPts val="0"/>
              </a:spcAft>
              <a:buNone/>
            </a:pPr>
            <a:r>
              <a:rPr lang="en-US" altLang="en-US" sz="1900" b="1" dirty="0">
                <a:solidFill>
                  <a:srgbClr val="C00000"/>
                </a:solidFill>
                <a:latin typeface="Calibri"/>
                <a:ea typeface="맑은 고딕"/>
                <a:cs typeface="Calibri"/>
              </a:rPr>
              <a:t>→  </a:t>
            </a:r>
            <a:r>
              <a:rPr lang="en-US" altLang="en-US" sz="1900" b="1" dirty="0">
                <a:solidFill>
                  <a:srgbClr val="C00000"/>
                </a:solidFill>
                <a:latin typeface="Calibri"/>
                <a:ea typeface="맑은 고딕"/>
                <a:cs typeface="Calibri"/>
              </a:rPr>
              <a:t>A famous example is Germany’s national soccer team.</a:t>
            </a:r>
            <a:endParaRPr lang="ko-KR" sz="19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25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2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4" grpId="0" animBg="1"/>
    </p:bldLst>
  </p:timing>
</p:sld>
</file>

<file path=ppt/slides/slide2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8000"/>
            </a:avLst>
          </a:prstGeom>
          <a:solidFill>
            <a:srgbClr val="1E2A5A"/>
          </a:solidFill>
          <a:ln>
            <a:noFill/>
          </a:ln>
        </p:spPr>
        <p:txBody>
          <a:bodyPr wrap="square" lIns="45720" tIns="18288" rIns="45720" bIns="18288" anchor="ctr" rtlCol="0">
            <a:noAutofit/>
          </a:bodyPr>
          <a:lstStyle/>
          <a:p>
            <a:pPr algn="ctr">
              <a:lnSpc>
                <a:spcPts val="2000"/>
              </a:lnSpc>
              <a:spcBef>
                <a:spcPts val="0"/>
              </a:spcBef>
              <a:spcAft>
                <a:spcPts val="0"/>
              </a:spcAft>
              <a:buNone/>
            </a:pPr>
            <a:r>
              <a:rPr lang="en-US" altLang="en-US" sz="1700" b="1" dirty="0">
                <a:solidFill>
                  <a:srgbClr val="FFFFFF"/>
                </a:solidFill>
                <a:latin typeface="Calibri"/>
                <a:ea typeface="맑은 고딕"/>
                <a:cs typeface="Calibri"/>
              </a:rPr>
              <a:t>L7-3</a:t>
            </a:r>
            <a:endParaRPr lang="ko-KR" sz="1700"/>
          </a:p>
        </p:txBody>
      </p:sp>
      <p:sp>
        <p:nvSpPr>
          <p:cNvPr id="3" name="hdr_chip"/>
          <p:cNvSpPr/>
          <p:nvPr/>
        </p:nvSpPr>
        <p:spPr>
          <a:xfrm>
            <a:off x="1755648" y="274320"/>
            <a:ext cx="1371600" cy="493776"/>
          </a:xfrm>
          <a:prstGeom prst="roundRect">
            <a:avLst>
              <a:gd name="adj" fmla="val 8000"/>
            </a:avLst>
          </a:prstGeom>
          <a:solidFill>
            <a:srgbClr val="E6EAF4"/>
          </a:solidFill>
          <a:ln>
            <a:noFill/>
          </a:ln>
        </p:spPr>
        <p:txBody>
          <a:bodyPr wrap="square" lIns="27432" tIns="18288" rIns="27432" bIns="18288" anchor="ctr" rtlCol="0">
            <a:noAutofit/>
          </a:bodyPr>
          <a:lstStyle/>
          <a:p>
            <a:pPr algn="ctr">
              <a:lnSpc>
                <a:spcPts val="1700"/>
              </a:lnSpc>
              <a:spcBef>
                <a:spcPts val="0"/>
              </a:spcBef>
              <a:spcAft>
                <a:spcPts val="0"/>
              </a:spcAft>
              <a:buNone/>
            </a:pPr>
            <a:r>
              <a:rPr lang="ko-KR" altLang="en-US" sz="1400" b="1" dirty="0">
                <a:solidFill>
                  <a:srgbClr val="1E2A5A"/>
                </a:solidFill>
                <a:latin typeface="맑은 고딕"/>
                <a:ea typeface="맑은 고딕"/>
                <a:cs typeface="맑은 고딕"/>
              </a:rPr>
              <a:t>PART 6 · 11</a:t>
            </a:r>
            <a:endParaRPr lang="ko-KR" sz="1400"/>
          </a:p>
        </p:txBody>
      </p:sp>
      <p:sp>
        <p:nvSpPr>
          <p:cNvPr id="4" name="hdr_q"/>
          <p:cNvSpPr txBox="1"/>
          <p:nvPr/>
        </p:nvSpPr>
        <p:spPr>
          <a:xfrm>
            <a:off x="3246120" y="246888"/>
            <a:ext cx="8485632" cy="548640"/>
          </a:xfrm>
          <a:prstGeom prst="rect">
            <a:avLst/>
          </a:prstGeom>
          <a:noFill/>
        </p:spPr>
        <p:txBody>
          <a:bodyPr wrap="square" lIns="109728" tIns="54864" rIns="109728" bIns="54864" anchor="ctr" rtlCol="0">
            <a:noAutofit/>
          </a:bodyPr>
          <a:lstStyle/>
          <a:p>
            <a:pPr algn="l">
              <a:lnSpc>
                <a:spcPts val="2400"/>
              </a:lnSpc>
              <a:spcBef>
                <a:spcPts val="0"/>
              </a:spcBef>
              <a:spcAft>
                <a:spcPts val="0"/>
              </a:spcAft>
              <a:buNone/>
            </a:pPr>
            <a:r>
              <a:rPr lang="ko-KR" altLang="en-US" sz="2000" b="1" dirty="0">
                <a:solidFill>
                  <a:srgbClr val="1F2328"/>
                </a:solidFill>
                <a:latin typeface="맑은 고딕"/>
                <a:ea typeface="맑은 고딕"/>
                <a:cs typeface="맑은 고딕"/>
              </a:rPr>
              <a:t>우리말에 맞게 (  ) 안의 말을 바르게 배열하시오.</a:t>
            </a:r>
            <a:endParaRPr lang="ko-KR" sz="2000"/>
          </a:p>
        </p:txBody>
      </p:sp>
      <p:sp>
        <p:nvSpPr>
          <p:cNvPr id="5" name="ftr_exam"/>
          <p:cNvSpPr txBox="1"/>
          <p:nvPr/>
        </p:nvSpPr>
        <p:spPr>
          <a:xfrm>
            <a:off x="457200" y="6519672"/>
            <a:ext cx="5669280" cy="256032"/>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7</a:t>
            </a:r>
            <a:endParaRPr lang="ko-KR" sz="1000"/>
          </a:p>
        </p:txBody>
      </p:sp>
      <p:sp>
        <p:nvSpPr>
          <p:cNvPr id="6" name="ftr_hint"/>
          <p:cNvSpPr txBox="1"/>
          <p:nvPr/>
        </p:nvSpPr>
        <p:spPr>
          <a:xfrm>
            <a:off x="5971032" y="6519672"/>
            <a:ext cx="5760720" cy="256032"/>
          </a:xfrm>
          <a:prstGeom prst="rect">
            <a:avLst/>
          </a:prstGeom>
          <a:noFill/>
        </p:spPr>
        <p:txBody>
          <a:bodyPr wrap="square" lIns="0" tIns="0" rIns="0" bIns="0" anchor="t" rtlCol="0">
            <a:noAutofit/>
          </a:bodyPr>
          <a:lstStyle/>
          <a:p>
            <a:pPr algn="r">
              <a:lnSpc>
                <a:spcPts val="1200"/>
              </a:lnSpc>
              <a:spcBef>
                <a:spcPts val="0"/>
              </a:spcBef>
              <a:spcAft>
                <a:spcPts val="0"/>
              </a:spcAft>
              <a:buNone/>
            </a:pPr>
            <a:r>
              <a:rPr lang="ko-KR" altLang="en-US" sz="1000" b="0" dirty="0">
                <a:solidFill>
                  <a:srgbClr val="7A808C"/>
                </a:solidFill>
                <a:latin typeface="맑은 고딕"/>
                <a:ea typeface="맑은 고딕"/>
                <a:cs typeface="맑은 고딕"/>
              </a:rPr>
              <a:t>클릭 ① 완성 문장(정답) 공개</a:t>
            </a:r>
            <a:endParaRPr lang="ko-KR" sz="1000"/>
          </a:p>
        </p:txBody>
      </p:sp>
      <p:sp>
        <p:nvSpPr>
          <p:cNvPr id="7" name="item_card_1"/>
          <p:cNvSpPr/>
          <p:nvPr/>
        </p:nvSpPr>
        <p:spPr>
          <a:xfrm>
            <a:off x="457200" y="950976"/>
            <a:ext cx="11274552" cy="1987677"/>
          </a:xfrm>
          <a:prstGeom prst="roundRect">
            <a:avLst>
              <a:gd name="adj" fmla="val 6000"/>
            </a:avLst>
          </a:prstGeom>
          <a:solidFill>
            <a:srgbClr val="F3F5F9"/>
          </a:solidFill>
          <a:ln w="12700">
            <a:solidFill>
              <a:srgbClr val="D9DFEA"/>
            </a:solidFill>
          </a:ln>
        </p:spPr>
        <p:txBody>
          <a:bodyPr rtlCol="0" anchor="ctr"/>
          <a:lstStyle/>
          <a:p>
            <a:pPr algn="ctr"/>
          </a:p>
        </p:txBody>
      </p:sp>
      <p:sp>
        <p:nvSpPr>
          <p:cNvPr id="8" name="kor_1"/>
          <p:cNvSpPr txBox="1"/>
          <p:nvPr/>
        </p:nvSpPr>
        <p:spPr>
          <a:xfrm>
            <a:off x="457200" y="1060704"/>
            <a:ext cx="11274552" cy="379603"/>
          </a:xfrm>
          <a:prstGeom prst="rect">
            <a:avLst/>
          </a:prstGeom>
          <a:noFill/>
        </p:spPr>
        <p:txBody>
          <a:bodyPr wrap="square" lIns="228600" tIns="54864" rIns="228600" bIns="54864" anchor="t" rtlCol="0">
            <a:noAutofit/>
          </a:bodyPr>
          <a:lstStyle/>
          <a:p>
            <a:pPr algn="l">
              <a:lnSpc>
                <a:spcPts val="2125"/>
              </a:lnSpc>
              <a:spcBef>
                <a:spcPts val="0"/>
              </a:spcBef>
              <a:spcAft>
                <a:spcPts val="0"/>
              </a:spcAft>
              <a:buNone/>
            </a:pPr>
            <a:r>
              <a:rPr lang="en-US" altLang="en-US" sz="1700" b="1" dirty="0">
                <a:solidFill>
                  <a:srgbClr val="1E2A5A"/>
                </a:solidFill>
                <a:latin typeface="Calibri"/>
                <a:ea typeface="맑은 고딕"/>
                <a:cs typeface="Calibri"/>
              </a:rPr>
              <a:t>3.  </a:t>
            </a:r>
            <a:r>
              <a:rPr lang="ko-KR" altLang="en-US" sz="1700" b="1" dirty="0">
                <a:solidFill>
                  <a:srgbClr val="1F2328"/>
                </a:solidFill>
                <a:latin typeface="맑은 고딕"/>
                <a:ea typeface="맑은 고딕"/>
                <a:cs typeface="맑은 고딕"/>
              </a:rPr>
              <a:t>그 팀은 선수들에 관한 엄청난 양의 데이터를 모으고 분석함으로써 데이터베이스를 구축했다.</a:t>
            </a:r>
            <a:endParaRPr lang="ko-KR" sz="1700"/>
          </a:p>
        </p:txBody>
      </p:sp>
      <p:sp>
        <p:nvSpPr>
          <p:cNvPr id="9" name="ex_1"/>
          <p:cNvSpPr txBox="1"/>
          <p:nvPr/>
        </p:nvSpPr>
        <p:spPr>
          <a:xfrm>
            <a:off x="457200" y="1385443"/>
            <a:ext cx="11274552" cy="761238"/>
          </a:xfrm>
          <a:prstGeom prst="rect">
            <a:avLst/>
          </a:prstGeom>
          <a:noFill/>
        </p:spPr>
        <p:txBody>
          <a:bodyPr wrap="square" lIns="228600" tIns="54864" rIns="228600" bIns="54864" anchor="t" rtlCol="0">
            <a:noAutofit/>
          </a:bodyPr>
          <a:lstStyle/>
          <a:p>
            <a:pPr algn="l">
              <a:lnSpc>
                <a:spcPts val="2565"/>
              </a:lnSpc>
              <a:spcBef>
                <a:spcPts val="0"/>
              </a:spcBef>
              <a:spcAft>
                <a:spcPts val="0"/>
              </a:spcAft>
              <a:buNone/>
            </a:pP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a database</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The team</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built</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 by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a huge amount of data</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on players</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collecting and analyzing</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a:t>
            </a:r>
            <a:endParaRPr lang="ko-KR" sz="1900"/>
          </a:p>
        </p:txBody>
      </p:sp>
      <p:sp>
        <p:nvSpPr>
          <p:cNvPr id="10" name="rv_ans_1"/>
          <p:cNvSpPr txBox="1"/>
          <p:nvPr/>
        </p:nvSpPr>
        <p:spPr>
          <a:xfrm>
            <a:off x="594360" y="2183257"/>
            <a:ext cx="11000232" cy="737108"/>
          </a:xfrm>
          <a:prstGeom prst="rect">
            <a:avLst/>
          </a:prstGeom>
          <a:solidFill>
            <a:srgbClr val="FFF3C4"/>
          </a:solidFill>
        </p:spPr>
        <p:txBody>
          <a:bodyPr wrap="square" lIns="137160" tIns="54864" rIns="137160" bIns="54864" anchor="t" rtlCol="0">
            <a:noAutofit/>
          </a:bodyPr>
          <a:lstStyle/>
          <a:p>
            <a:pPr algn="l">
              <a:lnSpc>
                <a:spcPts val="2470"/>
              </a:lnSpc>
              <a:spcBef>
                <a:spcPts val="0"/>
              </a:spcBef>
              <a:spcAft>
                <a:spcPts val="0"/>
              </a:spcAft>
              <a:buNone/>
            </a:pPr>
            <a:r>
              <a:rPr lang="en-US" altLang="en-US" sz="1900" b="1" dirty="0">
                <a:solidFill>
                  <a:srgbClr val="C00000"/>
                </a:solidFill>
                <a:latin typeface="Calibri"/>
                <a:ea typeface="맑은 고딕"/>
                <a:cs typeface="Calibri"/>
              </a:rPr>
              <a:t>→  </a:t>
            </a:r>
            <a:r>
              <a:rPr lang="en-US" altLang="en-US" sz="1900" b="1" dirty="0">
                <a:solidFill>
                  <a:srgbClr val="C00000"/>
                </a:solidFill>
                <a:latin typeface="Calibri"/>
                <a:ea typeface="맑은 고딕"/>
                <a:cs typeface="Calibri"/>
              </a:rPr>
              <a:t>The team built a database by collecting and analyzing a huge amount of data on players.</a:t>
            </a:r>
            <a:endParaRPr lang="ko-KR" sz="1900"/>
          </a:p>
        </p:txBody>
      </p:sp>
      <p:sp>
        <p:nvSpPr>
          <p:cNvPr id="11" name="item_card_2"/>
          <p:cNvSpPr/>
          <p:nvPr/>
        </p:nvSpPr>
        <p:spPr>
          <a:xfrm>
            <a:off x="457200" y="3048381"/>
            <a:ext cx="11274552" cy="2257552"/>
          </a:xfrm>
          <a:prstGeom prst="roundRect">
            <a:avLst>
              <a:gd name="adj" fmla="val 6000"/>
            </a:avLst>
          </a:prstGeom>
          <a:solidFill>
            <a:srgbClr val="F3F5F9"/>
          </a:solidFill>
          <a:ln w="12700">
            <a:solidFill>
              <a:srgbClr val="D9DFEA"/>
            </a:solidFill>
          </a:ln>
        </p:spPr>
        <p:txBody>
          <a:bodyPr rtlCol="0" anchor="ctr"/>
          <a:lstStyle/>
          <a:p>
            <a:pPr algn="ctr"/>
          </a:p>
        </p:txBody>
      </p:sp>
      <p:sp>
        <p:nvSpPr>
          <p:cNvPr id="12" name="kor_2"/>
          <p:cNvSpPr txBox="1"/>
          <p:nvPr/>
        </p:nvSpPr>
        <p:spPr>
          <a:xfrm>
            <a:off x="457200" y="3158109"/>
            <a:ext cx="11274552" cy="649478"/>
          </a:xfrm>
          <a:prstGeom prst="rect">
            <a:avLst/>
          </a:prstGeom>
          <a:noFill/>
        </p:spPr>
        <p:txBody>
          <a:bodyPr wrap="square" lIns="228600" tIns="54864" rIns="228600" bIns="54864" anchor="t" rtlCol="0">
            <a:noAutofit/>
          </a:bodyPr>
          <a:lstStyle/>
          <a:p>
            <a:pPr algn="l">
              <a:lnSpc>
                <a:spcPts val="2125"/>
              </a:lnSpc>
              <a:spcBef>
                <a:spcPts val="0"/>
              </a:spcBef>
              <a:spcAft>
                <a:spcPts val="0"/>
              </a:spcAft>
              <a:buNone/>
            </a:pPr>
            <a:r>
              <a:rPr lang="en-US" altLang="en-US" sz="1700" b="1" dirty="0">
                <a:solidFill>
                  <a:srgbClr val="1E2A5A"/>
                </a:solidFill>
                <a:latin typeface="Calibri"/>
                <a:ea typeface="맑은 고딕"/>
                <a:cs typeface="Calibri"/>
              </a:rPr>
              <a:t>4.  </a:t>
            </a:r>
            <a:r>
              <a:rPr lang="ko-KR" altLang="en-US" sz="1700" b="1" dirty="0">
                <a:solidFill>
                  <a:srgbClr val="1F2328"/>
                </a:solidFill>
                <a:latin typeface="맑은 고딕"/>
                <a:ea typeface="맑은 고딕"/>
                <a:cs typeface="맑은 고딕"/>
              </a:rPr>
              <a:t>예를 들어, 그 데이터는 각각의 선수들이 얼마나 많이 달렸고, 얼마나 오랫동안 공을 갖고 있었는지를 포함했다.</a:t>
            </a:r>
            <a:endParaRPr lang="ko-KR" sz="1700"/>
          </a:p>
        </p:txBody>
      </p:sp>
      <p:sp>
        <p:nvSpPr>
          <p:cNvPr id="13" name="ex_2"/>
          <p:cNvSpPr txBox="1"/>
          <p:nvPr/>
        </p:nvSpPr>
        <p:spPr>
          <a:xfrm>
            <a:off x="457200" y="3752723"/>
            <a:ext cx="11274552" cy="761238"/>
          </a:xfrm>
          <a:prstGeom prst="rect">
            <a:avLst/>
          </a:prstGeom>
          <a:noFill/>
        </p:spPr>
        <p:txBody>
          <a:bodyPr wrap="square" lIns="228600" tIns="54864" rIns="228600" bIns="54864" anchor="t" rtlCol="0">
            <a:noAutofit/>
          </a:bodyPr>
          <a:lstStyle/>
          <a:p>
            <a:pPr algn="l">
              <a:lnSpc>
                <a:spcPts val="2565"/>
              </a:lnSpc>
              <a:spcBef>
                <a:spcPts val="0"/>
              </a:spcBef>
              <a:spcAft>
                <a:spcPts val="0"/>
              </a:spcAft>
              <a:buNone/>
            </a:pPr>
            <a:r>
              <a:rPr lang="en-US" altLang="en-US" sz="1900" b="0" dirty="0">
                <a:solidFill>
                  <a:srgbClr val="1F2328"/>
                </a:solidFill>
                <a:latin typeface="Calibri"/>
                <a:ea typeface="맑은 고딕"/>
                <a:cs typeface="Calibri"/>
              </a:rPr>
              <a:t>For example,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information</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included</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the data</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 about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ran</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each player</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how much</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 and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how long</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he</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the ball</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had</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a:t>
            </a:r>
            <a:endParaRPr lang="ko-KR" sz="1900"/>
          </a:p>
        </p:txBody>
      </p:sp>
      <p:sp>
        <p:nvSpPr>
          <p:cNvPr id="14" name="rv_ans_2"/>
          <p:cNvSpPr txBox="1"/>
          <p:nvPr/>
        </p:nvSpPr>
        <p:spPr>
          <a:xfrm>
            <a:off x="594360" y="4550537"/>
            <a:ext cx="11000232" cy="737108"/>
          </a:xfrm>
          <a:prstGeom prst="rect">
            <a:avLst/>
          </a:prstGeom>
          <a:solidFill>
            <a:srgbClr val="FFF3C4"/>
          </a:solidFill>
        </p:spPr>
        <p:txBody>
          <a:bodyPr wrap="square" lIns="137160" tIns="54864" rIns="137160" bIns="54864" anchor="t" rtlCol="0">
            <a:noAutofit/>
          </a:bodyPr>
          <a:lstStyle/>
          <a:p>
            <a:pPr algn="l">
              <a:lnSpc>
                <a:spcPts val="2470"/>
              </a:lnSpc>
              <a:spcBef>
                <a:spcPts val="0"/>
              </a:spcBef>
              <a:spcAft>
                <a:spcPts val="0"/>
              </a:spcAft>
              <a:buNone/>
            </a:pPr>
            <a:r>
              <a:rPr lang="en-US" altLang="en-US" sz="1900" b="1" dirty="0">
                <a:solidFill>
                  <a:srgbClr val="C00000"/>
                </a:solidFill>
                <a:latin typeface="Calibri"/>
                <a:ea typeface="맑은 고딕"/>
                <a:cs typeface="Calibri"/>
              </a:rPr>
              <a:t>→  </a:t>
            </a:r>
            <a:r>
              <a:rPr lang="en-US" altLang="en-US" sz="1900" b="1" dirty="0">
                <a:solidFill>
                  <a:srgbClr val="C00000"/>
                </a:solidFill>
                <a:latin typeface="Calibri"/>
                <a:ea typeface="맑은 고딕"/>
                <a:cs typeface="Calibri"/>
              </a:rPr>
              <a:t>For example, the data included information about how much each player ran and how long he had the ball.</a:t>
            </a:r>
            <a:endParaRPr lang="ko-KR" sz="19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25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2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4" grpId="0" animBg="1"/>
    </p:bldLst>
  </p:timing>
</p:sld>
</file>

<file path=ppt/slides/slide2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8000"/>
            </a:avLst>
          </a:prstGeom>
          <a:solidFill>
            <a:srgbClr val="1E2A5A"/>
          </a:solidFill>
          <a:ln>
            <a:noFill/>
          </a:ln>
        </p:spPr>
        <p:txBody>
          <a:bodyPr wrap="square" lIns="45720" tIns="18288" rIns="45720" bIns="18288" anchor="ctr" rtlCol="0">
            <a:noAutofit/>
          </a:bodyPr>
          <a:lstStyle/>
          <a:p>
            <a:pPr algn="ctr">
              <a:lnSpc>
                <a:spcPts val="2000"/>
              </a:lnSpc>
              <a:spcBef>
                <a:spcPts val="0"/>
              </a:spcBef>
              <a:spcAft>
                <a:spcPts val="0"/>
              </a:spcAft>
              <a:buNone/>
            </a:pPr>
            <a:r>
              <a:rPr lang="en-US" altLang="en-US" sz="1700" b="1" dirty="0">
                <a:solidFill>
                  <a:srgbClr val="FFFFFF"/>
                </a:solidFill>
                <a:latin typeface="Calibri"/>
                <a:ea typeface="맑은 고딕"/>
                <a:cs typeface="Calibri"/>
              </a:rPr>
              <a:t>L7-3</a:t>
            </a:r>
            <a:endParaRPr lang="ko-KR" sz="1700"/>
          </a:p>
        </p:txBody>
      </p:sp>
      <p:sp>
        <p:nvSpPr>
          <p:cNvPr id="3" name="hdr_chip"/>
          <p:cNvSpPr/>
          <p:nvPr/>
        </p:nvSpPr>
        <p:spPr>
          <a:xfrm>
            <a:off x="1755648" y="274320"/>
            <a:ext cx="1371600" cy="493776"/>
          </a:xfrm>
          <a:prstGeom prst="roundRect">
            <a:avLst>
              <a:gd name="adj" fmla="val 8000"/>
            </a:avLst>
          </a:prstGeom>
          <a:solidFill>
            <a:srgbClr val="E6EAF4"/>
          </a:solidFill>
          <a:ln>
            <a:noFill/>
          </a:ln>
        </p:spPr>
        <p:txBody>
          <a:bodyPr wrap="square" lIns="27432" tIns="18288" rIns="27432" bIns="18288" anchor="ctr" rtlCol="0">
            <a:noAutofit/>
          </a:bodyPr>
          <a:lstStyle/>
          <a:p>
            <a:pPr algn="ctr">
              <a:lnSpc>
                <a:spcPts val="1700"/>
              </a:lnSpc>
              <a:spcBef>
                <a:spcPts val="0"/>
              </a:spcBef>
              <a:spcAft>
                <a:spcPts val="0"/>
              </a:spcAft>
              <a:buNone/>
            </a:pPr>
            <a:r>
              <a:rPr lang="ko-KR" altLang="en-US" sz="1400" b="1" dirty="0">
                <a:solidFill>
                  <a:srgbClr val="1E2A5A"/>
                </a:solidFill>
                <a:latin typeface="맑은 고딕"/>
                <a:ea typeface="맑은 고딕"/>
                <a:cs typeface="맑은 고딕"/>
              </a:rPr>
              <a:t>PART 6 · 12</a:t>
            </a:r>
            <a:endParaRPr lang="ko-KR" sz="1400"/>
          </a:p>
        </p:txBody>
      </p:sp>
      <p:sp>
        <p:nvSpPr>
          <p:cNvPr id="4" name="hdr_q"/>
          <p:cNvSpPr txBox="1"/>
          <p:nvPr/>
        </p:nvSpPr>
        <p:spPr>
          <a:xfrm>
            <a:off x="3246120" y="246888"/>
            <a:ext cx="8485632" cy="548640"/>
          </a:xfrm>
          <a:prstGeom prst="rect">
            <a:avLst/>
          </a:prstGeom>
          <a:noFill/>
        </p:spPr>
        <p:txBody>
          <a:bodyPr wrap="square" lIns="109728" tIns="54864" rIns="109728" bIns="54864" anchor="ctr" rtlCol="0">
            <a:noAutofit/>
          </a:bodyPr>
          <a:lstStyle/>
          <a:p>
            <a:pPr algn="l">
              <a:lnSpc>
                <a:spcPts val="2400"/>
              </a:lnSpc>
              <a:spcBef>
                <a:spcPts val="0"/>
              </a:spcBef>
              <a:spcAft>
                <a:spcPts val="0"/>
              </a:spcAft>
              <a:buNone/>
            </a:pPr>
            <a:r>
              <a:rPr lang="ko-KR" altLang="en-US" sz="2000" b="1" dirty="0">
                <a:solidFill>
                  <a:srgbClr val="1F2328"/>
                </a:solidFill>
                <a:latin typeface="맑은 고딕"/>
                <a:ea typeface="맑은 고딕"/>
                <a:cs typeface="맑은 고딕"/>
              </a:rPr>
              <a:t>우리말에 맞게 (  ) 안의 말을 바르게 배열하시오.</a:t>
            </a:r>
            <a:endParaRPr lang="ko-KR" sz="2000"/>
          </a:p>
        </p:txBody>
      </p:sp>
      <p:sp>
        <p:nvSpPr>
          <p:cNvPr id="5" name="ftr_exam"/>
          <p:cNvSpPr txBox="1"/>
          <p:nvPr/>
        </p:nvSpPr>
        <p:spPr>
          <a:xfrm>
            <a:off x="457200" y="6519672"/>
            <a:ext cx="5669280" cy="256032"/>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7</a:t>
            </a:r>
            <a:endParaRPr lang="ko-KR" sz="1000"/>
          </a:p>
        </p:txBody>
      </p:sp>
      <p:sp>
        <p:nvSpPr>
          <p:cNvPr id="6" name="ftr_hint"/>
          <p:cNvSpPr txBox="1"/>
          <p:nvPr/>
        </p:nvSpPr>
        <p:spPr>
          <a:xfrm>
            <a:off x="5971032" y="6519672"/>
            <a:ext cx="5760720" cy="256032"/>
          </a:xfrm>
          <a:prstGeom prst="rect">
            <a:avLst/>
          </a:prstGeom>
          <a:noFill/>
        </p:spPr>
        <p:txBody>
          <a:bodyPr wrap="square" lIns="0" tIns="0" rIns="0" bIns="0" anchor="t" rtlCol="0">
            <a:noAutofit/>
          </a:bodyPr>
          <a:lstStyle/>
          <a:p>
            <a:pPr algn="r">
              <a:lnSpc>
                <a:spcPts val="1200"/>
              </a:lnSpc>
              <a:spcBef>
                <a:spcPts val="0"/>
              </a:spcBef>
              <a:spcAft>
                <a:spcPts val="0"/>
              </a:spcAft>
              <a:buNone/>
            </a:pPr>
            <a:r>
              <a:rPr lang="ko-KR" altLang="en-US" sz="1000" b="0" dirty="0">
                <a:solidFill>
                  <a:srgbClr val="7A808C"/>
                </a:solidFill>
                <a:latin typeface="맑은 고딕"/>
                <a:ea typeface="맑은 고딕"/>
                <a:cs typeface="맑은 고딕"/>
              </a:rPr>
              <a:t>클릭 ① 완성 문장(정답) 공개</a:t>
            </a:r>
            <a:endParaRPr lang="ko-KR" sz="1000"/>
          </a:p>
        </p:txBody>
      </p:sp>
      <p:sp>
        <p:nvSpPr>
          <p:cNvPr id="7" name="item_card_1"/>
          <p:cNvSpPr/>
          <p:nvPr/>
        </p:nvSpPr>
        <p:spPr>
          <a:xfrm>
            <a:off x="457200" y="950976"/>
            <a:ext cx="11274552" cy="2257552"/>
          </a:xfrm>
          <a:prstGeom prst="roundRect">
            <a:avLst>
              <a:gd name="adj" fmla="val 6000"/>
            </a:avLst>
          </a:prstGeom>
          <a:solidFill>
            <a:srgbClr val="F3F5F9"/>
          </a:solidFill>
          <a:ln w="12700">
            <a:solidFill>
              <a:srgbClr val="D9DFEA"/>
            </a:solidFill>
          </a:ln>
        </p:spPr>
        <p:txBody>
          <a:bodyPr rtlCol="0" anchor="ctr"/>
          <a:lstStyle/>
          <a:p>
            <a:pPr algn="ctr"/>
          </a:p>
        </p:txBody>
      </p:sp>
      <p:sp>
        <p:nvSpPr>
          <p:cNvPr id="8" name="kor_1"/>
          <p:cNvSpPr txBox="1"/>
          <p:nvPr/>
        </p:nvSpPr>
        <p:spPr>
          <a:xfrm>
            <a:off x="457200" y="1060704"/>
            <a:ext cx="11274552" cy="649478"/>
          </a:xfrm>
          <a:prstGeom prst="rect">
            <a:avLst/>
          </a:prstGeom>
          <a:noFill/>
        </p:spPr>
        <p:txBody>
          <a:bodyPr wrap="square" lIns="228600" tIns="54864" rIns="228600" bIns="54864" anchor="t" rtlCol="0">
            <a:noAutofit/>
          </a:bodyPr>
          <a:lstStyle/>
          <a:p>
            <a:pPr algn="l">
              <a:lnSpc>
                <a:spcPts val="2125"/>
              </a:lnSpc>
              <a:spcBef>
                <a:spcPts val="0"/>
              </a:spcBef>
              <a:spcAft>
                <a:spcPts val="0"/>
              </a:spcAft>
              <a:buNone/>
            </a:pPr>
            <a:r>
              <a:rPr lang="en-US" altLang="en-US" sz="1700" b="1" dirty="0">
                <a:solidFill>
                  <a:srgbClr val="1E2A5A"/>
                </a:solidFill>
                <a:latin typeface="Calibri"/>
                <a:ea typeface="맑은 고딕"/>
                <a:cs typeface="Calibri"/>
              </a:rPr>
              <a:t>5.  </a:t>
            </a:r>
            <a:r>
              <a:rPr lang="ko-KR" altLang="en-US" sz="1700" b="1" dirty="0">
                <a:solidFill>
                  <a:srgbClr val="1F2328"/>
                </a:solidFill>
                <a:latin typeface="맑은 고딕"/>
                <a:ea typeface="맑은 고딕"/>
                <a:cs typeface="맑은 고딕"/>
              </a:rPr>
              <a:t>이 데이터베이스의 도움으로, 독일 국가 대표 축구팀은 경기력을 향상할 수 있었고, 2014년 월드컵에서 우승할 수 있었다.</a:t>
            </a:r>
            <a:endParaRPr lang="ko-KR" sz="1700"/>
          </a:p>
        </p:txBody>
      </p:sp>
      <p:sp>
        <p:nvSpPr>
          <p:cNvPr id="9" name="ex_1"/>
          <p:cNvSpPr txBox="1"/>
          <p:nvPr/>
        </p:nvSpPr>
        <p:spPr>
          <a:xfrm>
            <a:off x="457200" y="1655318"/>
            <a:ext cx="11274552" cy="761238"/>
          </a:xfrm>
          <a:prstGeom prst="rect">
            <a:avLst/>
          </a:prstGeom>
          <a:noFill/>
        </p:spPr>
        <p:txBody>
          <a:bodyPr wrap="square" lIns="228600" tIns="54864" rIns="228600" bIns="54864" anchor="t" rtlCol="0">
            <a:noAutofit/>
          </a:bodyPr>
          <a:lstStyle/>
          <a:p>
            <a:pPr algn="l">
              <a:lnSpc>
                <a:spcPts val="2565"/>
              </a:lnSpc>
              <a:spcBef>
                <a:spcPts val="0"/>
              </a:spcBef>
              <a:spcAft>
                <a:spcPts val="0"/>
              </a:spcAft>
              <a:buNone/>
            </a:pP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of this database</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With the help</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was able to</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Germany’s national soccer team</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improve its performance</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 and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the 2014 World Cup</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win</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a:t>
            </a:r>
            <a:endParaRPr lang="ko-KR" sz="1900"/>
          </a:p>
        </p:txBody>
      </p:sp>
      <p:sp>
        <p:nvSpPr>
          <p:cNvPr id="10" name="rv_ans_1"/>
          <p:cNvSpPr txBox="1"/>
          <p:nvPr/>
        </p:nvSpPr>
        <p:spPr>
          <a:xfrm>
            <a:off x="594360" y="2453132"/>
            <a:ext cx="11000232" cy="737108"/>
          </a:xfrm>
          <a:prstGeom prst="rect">
            <a:avLst/>
          </a:prstGeom>
          <a:solidFill>
            <a:srgbClr val="FFF3C4"/>
          </a:solidFill>
        </p:spPr>
        <p:txBody>
          <a:bodyPr wrap="square" lIns="137160" tIns="54864" rIns="137160" bIns="54864" anchor="t" rtlCol="0">
            <a:noAutofit/>
          </a:bodyPr>
          <a:lstStyle/>
          <a:p>
            <a:pPr algn="l">
              <a:lnSpc>
                <a:spcPts val="2470"/>
              </a:lnSpc>
              <a:spcBef>
                <a:spcPts val="0"/>
              </a:spcBef>
              <a:spcAft>
                <a:spcPts val="0"/>
              </a:spcAft>
              <a:buNone/>
            </a:pPr>
            <a:r>
              <a:rPr lang="en-US" altLang="en-US" sz="1900" b="1" dirty="0">
                <a:solidFill>
                  <a:srgbClr val="C00000"/>
                </a:solidFill>
                <a:latin typeface="Calibri"/>
                <a:ea typeface="맑은 고딕"/>
                <a:cs typeface="Calibri"/>
              </a:rPr>
              <a:t>→  </a:t>
            </a:r>
            <a:r>
              <a:rPr lang="en-US" altLang="en-US" sz="1900" b="1" dirty="0">
                <a:solidFill>
                  <a:srgbClr val="C00000"/>
                </a:solidFill>
                <a:latin typeface="Calibri"/>
                <a:ea typeface="맑은 고딕"/>
                <a:cs typeface="Calibri"/>
              </a:rPr>
              <a:t>With the help of this database, Germany’s national soccer team was able to improve its performance and win the 2014 World Cup.</a:t>
            </a:r>
            <a:endParaRPr lang="ko-KR" sz="19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25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2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8000"/>
            </a:avLst>
          </a:prstGeom>
          <a:solidFill>
            <a:srgbClr val="1E2A5A"/>
          </a:solidFill>
          <a:ln>
            <a:noFill/>
          </a:ln>
        </p:spPr>
        <p:txBody>
          <a:bodyPr wrap="square" lIns="45720" tIns="18288" rIns="45720" bIns="18288" anchor="ctr" rtlCol="0">
            <a:noAutofit/>
          </a:bodyPr>
          <a:lstStyle/>
          <a:p>
            <a:pPr algn="ctr">
              <a:lnSpc>
                <a:spcPts val="2000"/>
              </a:lnSpc>
              <a:spcBef>
                <a:spcPts val="0"/>
              </a:spcBef>
              <a:spcAft>
                <a:spcPts val="0"/>
              </a:spcAft>
              <a:buNone/>
            </a:pPr>
            <a:r>
              <a:rPr lang="en-US" altLang="en-US" sz="1700" b="1" dirty="0">
                <a:solidFill>
                  <a:srgbClr val="FFFFFF"/>
                </a:solidFill>
                <a:latin typeface="Calibri"/>
                <a:ea typeface="맑은 고딕"/>
                <a:cs typeface="Calibri"/>
              </a:rPr>
              <a:t>L7-4</a:t>
            </a:r>
            <a:endParaRPr lang="ko-KR" sz="1700"/>
          </a:p>
        </p:txBody>
      </p:sp>
      <p:sp>
        <p:nvSpPr>
          <p:cNvPr id="3" name="hdr_chip"/>
          <p:cNvSpPr/>
          <p:nvPr/>
        </p:nvSpPr>
        <p:spPr>
          <a:xfrm>
            <a:off x="1755648" y="274320"/>
            <a:ext cx="1371600" cy="493776"/>
          </a:xfrm>
          <a:prstGeom prst="roundRect">
            <a:avLst>
              <a:gd name="adj" fmla="val 8000"/>
            </a:avLst>
          </a:prstGeom>
          <a:solidFill>
            <a:srgbClr val="E6EAF4"/>
          </a:solidFill>
          <a:ln>
            <a:noFill/>
          </a:ln>
        </p:spPr>
        <p:txBody>
          <a:bodyPr wrap="square" lIns="27432" tIns="18288" rIns="27432" bIns="18288" anchor="ctr" rtlCol="0">
            <a:noAutofit/>
          </a:bodyPr>
          <a:lstStyle/>
          <a:p>
            <a:pPr algn="ctr">
              <a:lnSpc>
                <a:spcPts val="1700"/>
              </a:lnSpc>
              <a:spcBef>
                <a:spcPts val="0"/>
              </a:spcBef>
              <a:spcAft>
                <a:spcPts val="0"/>
              </a:spcAft>
              <a:buNone/>
            </a:pPr>
            <a:r>
              <a:rPr lang="ko-KR" altLang="en-US" sz="1400" b="1" dirty="0">
                <a:solidFill>
                  <a:srgbClr val="1E2A5A"/>
                </a:solidFill>
                <a:latin typeface="맑은 고딕"/>
                <a:ea typeface="맑은 고딕"/>
                <a:cs typeface="맑은 고딕"/>
              </a:rPr>
              <a:t>PART 6 · 13</a:t>
            </a:r>
            <a:endParaRPr lang="ko-KR" sz="1400"/>
          </a:p>
        </p:txBody>
      </p:sp>
      <p:sp>
        <p:nvSpPr>
          <p:cNvPr id="4" name="hdr_q"/>
          <p:cNvSpPr txBox="1"/>
          <p:nvPr/>
        </p:nvSpPr>
        <p:spPr>
          <a:xfrm>
            <a:off x="3246120" y="246888"/>
            <a:ext cx="8485632" cy="548640"/>
          </a:xfrm>
          <a:prstGeom prst="rect">
            <a:avLst/>
          </a:prstGeom>
          <a:noFill/>
        </p:spPr>
        <p:txBody>
          <a:bodyPr wrap="square" lIns="109728" tIns="54864" rIns="109728" bIns="54864" anchor="ctr" rtlCol="0">
            <a:noAutofit/>
          </a:bodyPr>
          <a:lstStyle/>
          <a:p>
            <a:pPr algn="l">
              <a:lnSpc>
                <a:spcPts val="2400"/>
              </a:lnSpc>
              <a:spcBef>
                <a:spcPts val="0"/>
              </a:spcBef>
              <a:spcAft>
                <a:spcPts val="0"/>
              </a:spcAft>
              <a:buNone/>
            </a:pPr>
            <a:r>
              <a:rPr lang="ko-KR" altLang="en-US" sz="2000" b="1" dirty="0">
                <a:solidFill>
                  <a:srgbClr val="1F2328"/>
                </a:solidFill>
                <a:latin typeface="맑은 고딕"/>
                <a:ea typeface="맑은 고딕"/>
                <a:cs typeface="맑은 고딕"/>
              </a:rPr>
              <a:t>우리말에 맞게 (  ) 안의 말을 바르게 배열하시오.</a:t>
            </a:r>
            <a:endParaRPr lang="ko-KR" sz="2000"/>
          </a:p>
        </p:txBody>
      </p:sp>
      <p:sp>
        <p:nvSpPr>
          <p:cNvPr id="5" name="ftr_exam"/>
          <p:cNvSpPr txBox="1"/>
          <p:nvPr/>
        </p:nvSpPr>
        <p:spPr>
          <a:xfrm>
            <a:off x="457200" y="6519672"/>
            <a:ext cx="5669280" cy="256032"/>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7</a:t>
            </a:r>
            <a:endParaRPr lang="ko-KR" sz="1000"/>
          </a:p>
        </p:txBody>
      </p:sp>
      <p:sp>
        <p:nvSpPr>
          <p:cNvPr id="6" name="ftr_hint"/>
          <p:cNvSpPr txBox="1"/>
          <p:nvPr/>
        </p:nvSpPr>
        <p:spPr>
          <a:xfrm>
            <a:off x="5971032" y="6519672"/>
            <a:ext cx="5760720" cy="256032"/>
          </a:xfrm>
          <a:prstGeom prst="rect">
            <a:avLst/>
          </a:prstGeom>
          <a:noFill/>
        </p:spPr>
        <p:txBody>
          <a:bodyPr wrap="square" lIns="0" tIns="0" rIns="0" bIns="0" anchor="t" rtlCol="0">
            <a:noAutofit/>
          </a:bodyPr>
          <a:lstStyle/>
          <a:p>
            <a:pPr algn="r">
              <a:lnSpc>
                <a:spcPts val="1200"/>
              </a:lnSpc>
              <a:spcBef>
                <a:spcPts val="0"/>
              </a:spcBef>
              <a:spcAft>
                <a:spcPts val="0"/>
              </a:spcAft>
              <a:buNone/>
            </a:pPr>
            <a:r>
              <a:rPr lang="ko-KR" altLang="en-US" sz="1000" b="0" dirty="0">
                <a:solidFill>
                  <a:srgbClr val="7A808C"/>
                </a:solidFill>
                <a:latin typeface="맑은 고딕"/>
                <a:ea typeface="맑은 고딕"/>
                <a:cs typeface="맑은 고딕"/>
              </a:rPr>
              <a:t>클릭 ① 완성 문장(정답) 공개</a:t>
            </a:r>
            <a:endParaRPr lang="ko-KR" sz="1000"/>
          </a:p>
        </p:txBody>
      </p:sp>
      <p:sp>
        <p:nvSpPr>
          <p:cNvPr id="7" name="item_card_1"/>
          <p:cNvSpPr/>
          <p:nvPr/>
        </p:nvSpPr>
        <p:spPr>
          <a:xfrm>
            <a:off x="457200" y="950976"/>
            <a:ext cx="11274552" cy="1348232"/>
          </a:xfrm>
          <a:prstGeom prst="roundRect">
            <a:avLst>
              <a:gd name="adj" fmla="val 6000"/>
            </a:avLst>
          </a:prstGeom>
          <a:solidFill>
            <a:srgbClr val="F3F5F9"/>
          </a:solidFill>
          <a:ln w="12700">
            <a:solidFill>
              <a:srgbClr val="D9DFEA"/>
            </a:solidFill>
          </a:ln>
        </p:spPr>
        <p:txBody>
          <a:bodyPr rtlCol="0" anchor="ctr"/>
          <a:lstStyle/>
          <a:p>
            <a:pPr algn="ctr"/>
          </a:p>
        </p:txBody>
      </p:sp>
      <p:sp>
        <p:nvSpPr>
          <p:cNvPr id="8" name="kor_1"/>
          <p:cNvSpPr txBox="1"/>
          <p:nvPr/>
        </p:nvSpPr>
        <p:spPr>
          <a:xfrm>
            <a:off x="457200" y="1060704"/>
            <a:ext cx="11274552" cy="379603"/>
          </a:xfrm>
          <a:prstGeom prst="rect">
            <a:avLst/>
          </a:prstGeom>
          <a:noFill/>
        </p:spPr>
        <p:txBody>
          <a:bodyPr wrap="square" lIns="228600" tIns="54864" rIns="228600" bIns="54864" anchor="t" rtlCol="0">
            <a:noAutofit/>
          </a:bodyPr>
          <a:lstStyle/>
          <a:p>
            <a:pPr algn="l">
              <a:lnSpc>
                <a:spcPts val="2125"/>
              </a:lnSpc>
              <a:spcBef>
                <a:spcPts val="0"/>
              </a:spcBef>
              <a:spcAft>
                <a:spcPts val="0"/>
              </a:spcAft>
              <a:buNone/>
            </a:pPr>
            <a:r>
              <a:rPr lang="en-US" altLang="en-US" sz="1700" b="1" dirty="0">
                <a:solidFill>
                  <a:srgbClr val="1E2A5A"/>
                </a:solidFill>
                <a:latin typeface="Calibri"/>
                <a:ea typeface="맑은 고딕"/>
                <a:cs typeface="Calibri"/>
              </a:rPr>
              <a:t>1.  </a:t>
            </a:r>
            <a:r>
              <a:rPr lang="ko-KR" altLang="en-US" sz="1700" b="1" dirty="0">
                <a:solidFill>
                  <a:srgbClr val="1F2328"/>
                </a:solidFill>
                <a:latin typeface="맑은 고딕"/>
                <a:ea typeface="맑은 고딕"/>
                <a:cs typeface="맑은 고딕"/>
              </a:rPr>
              <a:t>빅데이터 덕분에 경찰은 이제 범죄가 발생하기 전에 그 범죄를 예측할 수 있다.</a:t>
            </a:r>
            <a:endParaRPr lang="ko-KR" sz="1700"/>
          </a:p>
        </p:txBody>
      </p:sp>
      <p:sp>
        <p:nvSpPr>
          <p:cNvPr id="9" name="ex_1"/>
          <p:cNvSpPr txBox="1"/>
          <p:nvPr/>
        </p:nvSpPr>
        <p:spPr>
          <a:xfrm>
            <a:off x="457200" y="1385443"/>
            <a:ext cx="11274552" cy="435483"/>
          </a:xfrm>
          <a:prstGeom prst="rect">
            <a:avLst/>
          </a:prstGeom>
          <a:noFill/>
        </p:spPr>
        <p:txBody>
          <a:bodyPr wrap="square" lIns="228600" tIns="54864" rIns="228600" bIns="54864" anchor="t" rtlCol="0">
            <a:noAutofit/>
          </a:bodyPr>
          <a:lstStyle/>
          <a:p>
            <a:pPr algn="l">
              <a:lnSpc>
                <a:spcPts val="2565"/>
              </a:lnSpc>
              <a:spcBef>
                <a:spcPts val="0"/>
              </a:spcBef>
              <a:spcAft>
                <a:spcPts val="0"/>
              </a:spcAft>
              <a:buNone/>
            </a:pPr>
            <a:r>
              <a:rPr lang="en-US" altLang="en-US" sz="1900" b="0" dirty="0">
                <a:solidFill>
                  <a:srgbClr val="1F2328"/>
                </a:solidFill>
                <a:latin typeface="Calibri"/>
                <a:ea typeface="맑은 고딕"/>
                <a:cs typeface="Calibri"/>
              </a:rPr>
              <a:t>Thanks to big data,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can now</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crime</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police</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predict</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 before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happens</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it</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a:t>
            </a:r>
            <a:endParaRPr lang="ko-KR" sz="1900"/>
          </a:p>
        </p:txBody>
      </p:sp>
      <p:sp>
        <p:nvSpPr>
          <p:cNvPr id="10" name="rv_ans_1"/>
          <p:cNvSpPr txBox="1"/>
          <p:nvPr/>
        </p:nvSpPr>
        <p:spPr>
          <a:xfrm>
            <a:off x="594360" y="1857502"/>
            <a:ext cx="11000232" cy="423418"/>
          </a:xfrm>
          <a:prstGeom prst="rect">
            <a:avLst/>
          </a:prstGeom>
          <a:solidFill>
            <a:srgbClr val="FFF3C4"/>
          </a:solidFill>
        </p:spPr>
        <p:txBody>
          <a:bodyPr wrap="square" lIns="137160" tIns="54864" rIns="137160" bIns="54864" anchor="t" rtlCol="0">
            <a:noAutofit/>
          </a:bodyPr>
          <a:lstStyle/>
          <a:p>
            <a:pPr algn="l">
              <a:lnSpc>
                <a:spcPts val="2470"/>
              </a:lnSpc>
              <a:spcBef>
                <a:spcPts val="0"/>
              </a:spcBef>
              <a:spcAft>
                <a:spcPts val="0"/>
              </a:spcAft>
              <a:buNone/>
            </a:pPr>
            <a:r>
              <a:rPr lang="en-US" altLang="en-US" sz="1900" b="1" dirty="0">
                <a:solidFill>
                  <a:srgbClr val="C00000"/>
                </a:solidFill>
                <a:latin typeface="Calibri"/>
                <a:ea typeface="맑은 고딕"/>
                <a:cs typeface="Calibri"/>
              </a:rPr>
              <a:t>→  </a:t>
            </a:r>
            <a:r>
              <a:rPr lang="en-US" altLang="en-US" sz="1900" b="1" dirty="0">
                <a:solidFill>
                  <a:srgbClr val="C00000"/>
                </a:solidFill>
                <a:latin typeface="Calibri"/>
                <a:ea typeface="맑은 고딕"/>
                <a:cs typeface="Calibri"/>
              </a:rPr>
              <a:t>Thanks to big data, police can now predict crime before it happens.</a:t>
            </a:r>
            <a:endParaRPr lang="ko-KR" sz="1900"/>
          </a:p>
        </p:txBody>
      </p:sp>
      <p:sp>
        <p:nvSpPr>
          <p:cNvPr id="11" name="item_card_2"/>
          <p:cNvSpPr/>
          <p:nvPr/>
        </p:nvSpPr>
        <p:spPr>
          <a:xfrm>
            <a:off x="457200" y="2408936"/>
            <a:ext cx="11274552" cy="2257552"/>
          </a:xfrm>
          <a:prstGeom prst="roundRect">
            <a:avLst>
              <a:gd name="adj" fmla="val 6000"/>
            </a:avLst>
          </a:prstGeom>
          <a:solidFill>
            <a:srgbClr val="F3F5F9"/>
          </a:solidFill>
          <a:ln w="12700">
            <a:solidFill>
              <a:srgbClr val="D9DFEA"/>
            </a:solidFill>
          </a:ln>
        </p:spPr>
        <p:txBody>
          <a:bodyPr rtlCol="0" anchor="ctr"/>
          <a:lstStyle/>
          <a:p>
            <a:pPr algn="ctr"/>
          </a:p>
        </p:txBody>
      </p:sp>
      <p:sp>
        <p:nvSpPr>
          <p:cNvPr id="12" name="kor_2"/>
          <p:cNvSpPr txBox="1"/>
          <p:nvPr/>
        </p:nvSpPr>
        <p:spPr>
          <a:xfrm>
            <a:off x="457200" y="2518664"/>
            <a:ext cx="11274552" cy="649478"/>
          </a:xfrm>
          <a:prstGeom prst="rect">
            <a:avLst/>
          </a:prstGeom>
          <a:noFill/>
        </p:spPr>
        <p:txBody>
          <a:bodyPr wrap="square" lIns="228600" tIns="54864" rIns="228600" bIns="54864" anchor="t" rtlCol="0">
            <a:noAutofit/>
          </a:bodyPr>
          <a:lstStyle/>
          <a:p>
            <a:pPr algn="l">
              <a:lnSpc>
                <a:spcPts val="2125"/>
              </a:lnSpc>
              <a:spcBef>
                <a:spcPts val="0"/>
              </a:spcBef>
              <a:spcAft>
                <a:spcPts val="0"/>
              </a:spcAft>
              <a:buNone/>
            </a:pPr>
            <a:r>
              <a:rPr lang="en-US" altLang="en-US" sz="1700" b="1" dirty="0">
                <a:solidFill>
                  <a:srgbClr val="1E2A5A"/>
                </a:solidFill>
                <a:latin typeface="Calibri"/>
                <a:ea typeface="맑은 고딕"/>
                <a:cs typeface="Calibri"/>
              </a:rPr>
              <a:t>2.  </a:t>
            </a:r>
            <a:r>
              <a:rPr lang="ko-KR" altLang="en-US" sz="1700" b="1" dirty="0">
                <a:solidFill>
                  <a:srgbClr val="1F2328"/>
                </a:solidFill>
                <a:latin typeface="맑은 고딕"/>
                <a:ea typeface="맑은 고딕"/>
                <a:cs typeface="맑은 고딕"/>
              </a:rPr>
              <a:t>범죄의 유형, 시간 및 장소에 관한 빅데이터 분석을 통해, 경찰은 범죄 다발 지역의 지도를 만들 수 있다.</a:t>
            </a:r>
            <a:endParaRPr lang="ko-KR" sz="1700"/>
          </a:p>
        </p:txBody>
      </p:sp>
      <p:sp>
        <p:nvSpPr>
          <p:cNvPr id="13" name="ex_2"/>
          <p:cNvSpPr txBox="1"/>
          <p:nvPr/>
        </p:nvSpPr>
        <p:spPr>
          <a:xfrm>
            <a:off x="457200" y="3113278"/>
            <a:ext cx="11274552" cy="761238"/>
          </a:xfrm>
          <a:prstGeom prst="rect">
            <a:avLst/>
          </a:prstGeom>
          <a:noFill/>
        </p:spPr>
        <p:txBody>
          <a:bodyPr wrap="square" lIns="228600" tIns="54864" rIns="228600" bIns="54864" anchor="t" rtlCol="0">
            <a:noAutofit/>
          </a:bodyPr>
          <a:lstStyle/>
          <a:p>
            <a:pPr algn="l">
              <a:lnSpc>
                <a:spcPts val="2565"/>
              </a:lnSpc>
              <a:spcBef>
                <a:spcPts val="0"/>
              </a:spcBef>
              <a:spcAft>
                <a:spcPts val="0"/>
              </a:spcAft>
              <a:buNone/>
            </a:pP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of big data</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Through the analysis</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 about the type, time and place of crime,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of crime hot spots</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can make</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a map</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police</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a:t>
            </a:r>
            <a:endParaRPr lang="ko-KR" sz="1900"/>
          </a:p>
        </p:txBody>
      </p:sp>
      <p:sp>
        <p:nvSpPr>
          <p:cNvPr id="14" name="rv_ans_2"/>
          <p:cNvSpPr txBox="1"/>
          <p:nvPr/>
        </p:nvSpPr>
        <p:spPr>
          <a:xfrm>
            <a:off x="594360" y="3911092"/>
            <a:ext cx="11000232" cy="737108"/>
          </a:xfrm>
          <a:prstGeom prst="rect">
            <a:avLst/>
          </a:prstGeom>
          <a:solidFill>
            <a:srgbClr val="FFF3C4"/>
          </a:solidFill>
        </p:spPr>
        <p:txBody>
          <a:bodyPr wrap="square" lIns="137160" tIns="54864" rIns="137160" bIns="54864" anchor="t" rtlCol="0">
            <a:noAutofit/>
          </a:bodyPr>
          <a:lstStyle/>
          <a:p>
            <a:pPr algn="l">
              <a:lnSpc>
                <a:spcPts val="2470"/>
              </a:lnSpc>
              <a:spcBef>
                <a:spcPts val="0"/>
              </a:spcBef>
              <a:spcAft>
                <a:spcPts val="0"/>
              </a:spcAft>
              <a:buNone/>
            </a:pPr>
            <a:r>
              <a:rPr lang="en-US" altLang="en-US" sz="1900" b="1" dirty="0">
                <a:solidFill>
                  <a:srgbClr val="C00000"/>
                </a:solidFill>
                <a:latin typeface="Calibri"/>
                <a:ea typeface="맑은 고딕"/>
                <a:cs typeface="Calibri"/>
              </a:rPr>
              <a:t>→  </a:t>
            </a:r>
            <a:r>
              <a:rPr lang="en-US" altLang="en-US" sz="1900" b="1" dirty="0">
                <a:solidFill>
                  <a:srgbClr val="C00000"/>
                </a:solidFill>
                <a:latin typeface="Calibri"/>
                <a:ea typeface="맑은 고딕"/>
                <a:cs typeface="Calibri"/>
              </a:rPr>
              <a:t>Through the analysis of big data about the type, time and place of crime, police can make a map of crime hot spots.</a:t>
            </a:r>
            <a:endParaRPr lang="ko-KR" sz="1900"/>
          </a:p>
        </p:txBody>
      </p:sp>
      <p:sp>
        <p:nvSpPr>
          <p:cNvPr id="15" name="item_card_3"/>
          <p:cNvSpPr/>
          <p:nvPr/>
        </p:nvSpPr>
        <p:spPr>
          <a:xfrm>
            <a:off x="457200" y="4776216"/>
            <a:ext cx="11274552" cy="1348232"/>
          </a:xfrm>
          <a:prstGeom prst="roundRect">
            <a:avLst>
              <a:gd name="adj" fmla="val 6000"/>
            </a:avLst>
          </a:prstGeom>
          <a:solidFill>
            <a:srgbClr val="F3F5F9"/>
          </a:solidFill>
          <a:ln w="12700">
            <a:solidFill>
              <a:srgbClr val="D9DFEA"/>
            </a:solidFill>
          </a:ln>
        </p:spPr>
        <p:txBody>
          <a:bodyPr rtlCol="0" anchor="ctr"/>
          <a:lstStyle/>
          <a:p>
            <a:pPr algn="ctr"/>
          </a:p>
        </p:txBody>
      </p:sp>
      <p:sp>
        <p:nvSpPr>
          <p:cNvPr id="16" name="kor_3"/>
          <p:cNvSpPr txBox="1"/>
          <p:nvPr/>
        </p:nvSpPr>
        <p:spPr>
          <a:xfrm>
            <a:off x="457200" y="4885944"/>
            <a:ext cx="11274552" cy="379603"/>
          </a:xfrm>
          <a:prstGeom prst="rect">
            <a:avLst/>
          </a:prstGeom>
          <a:noFill/>
        </p:spPr>
        <p:txBody>
          <a:bodyPr wrap="square" lIns="228600" tIns="54864" rIns="228600" bIns="54864" anchor="t" rtlCol="0">
            <a:noAutofit/>
          </a:bodyPr>
          <a:lstStyle/>
          <a:p>
            <a:pPr algn="l">
              <a:lnSpc>
                <a:spcPts val="2125"/>
              </a:lnSpc>
              <a:spcBef>
                <a:spcPts val="0"/>
              </a:spcBef>
              <a:spcAft>
                <a:spcPts val="0"/>
              </a:spcAft>
              <a:buNone/>
            </a:pPr>
            <a:r>
              <a:rPr lang="en-US" altLang="en-US" sz="1700" b="1" dirty="0">
                <a:solidFill>
                  <a:srgbClr val="1E2A5A"/>
                </a:solidFill>
                <a:latin typeface="Calibri"/>
                <a:ea typeface="맑은 고딕"/>
                <a:cs typeface="Calibri"/>
              </a:rPr>
              <a:t>3.  </a:t>
            </a:r>
            <a:r>
              <a:rPr lang="ko-KR" altLang="en-US" sz="1700" b="1" dirty="0">
                <a:solidFill>
                  <a:srgbClr val="1F2328"/>
                </a:solidFill>
                <a:latin typeface="맑은 고딕"/>
                <a:ea typeface="맑은 고딕"/>
                <a:cs typeface="맑은 고딕"/>
              </a:rPr>
              <a:t>이 지도는 범죄가 언제, 어디에서 가장 발생할 것 같은지 알려 준다.</a:t>
            </a:r>
            <a:endParaRPr lang="ko-KR" sz="1700"/>
          </a:p>
        </p:txBody>
      </p:sp>
      <p:sp>
        <p:nvSpPr>
          <p:cNvPr id="17" name="ex_3"/>
          <p:cNvSpPr txBox="1"/>
          <p:nvPr/>
        </p:nvSpPr>
        <p:spPr>
          <a:xfrm>
            <a:off x="457200" y="5210683"/>
            <a:ext cx="11274552" cy="435483"/>
          </a:xfrm>
          <a:prstGeom prst="rect">
            <a:avLst/>
          </a:prstGeom>
          <a:noFill/>
        </p:spPr>
        <p:txBody>
          <a:bodyPr wrap="square" lIns="228600" tIns="54864" rIns="228600" bIns="54864" anchor="t" rtlCol="0">
            <a:noAutofit/>
          </a:bodyPr>
          <a:lstStyle/>
          <a:p>
            <a:pPr algn="l">
              <a:lnSpc>
                <a:spcPts val="2565"/>
              </a:lnSpc>
              <a:spcBef>
                <a:spcPts val="0"/>
              </a:spcBef>
              <a:spcAft>
                <a:spcPts val="0"/>
              </a:spcAft>
              <a:buNone/>
            </a:pP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identifies</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This map</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most likely</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crime</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when and where</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is</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to happen</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a:t>
            </a:r>
            <a:endParaRPr lang="ko-KR" sz="1900"/>
          </a:p>
        </p:txBody>
      </p:sp>
      <p:sp>
        <p:nvSpPr>
          <p:cNvPr id="18" name="rv_ans_3"/>
          <p:cNvSpPr txBox="1"/>
          <p:nvPr/>
        </p:nvSpPr>
        <p:spPr>
          <a:xfrm>
            <a:off x="594360" y="5682742"/>
            <a:ext cx="11000232" cy="423418"/>
          </a:xfrm>
          <a:prstGeom prst="rect">
            <a:avLst/>
          </a:prstGeom>
          <a:solidFill>
            <a:srgbClr val="FFF3C4"/>
          </a:solidFill>
        </p:spPr>
        <p:txBody>
          <a:bodyPr wrap="square" lIns="137160" tIns="54864" rIns="137160" bIns="54864" anchor="t" rtlCol="0">
            <a:noAutofit/>
          </a:bodyPr>
          <a:lstStyle/>
          <a:p>
            <a:pPr algn="l">
              <a:lnSpc>
                <a:spcPts val="2470"/>
              </a:lnSpc>
              <a:spcBef>
                <a:spcPts val="0"/>
              </a:spcBef>
              <a:spcAft>
                <a:spcPts val="0"/>
              </a:spcAft>
              <a:buNone/>
            </a:pPr>
            <a:r>
              <a:rPr lang="en-US" altLang="en-US" sz="1900" b="1" dirty="0">
                <a:solidFill>
                  <a:srgbClr val="C00000"/>
                </a:solidFill>
                <a:latin typeface="Calibri"/>
                <a:ea typeface="맑은 고딕"/>
                <a:cs typeface="Calibri"/>
              </a:rPr>
              <a:t>→  </a:t>
            </a:r>
            <a:r>
              <a:rPr lang="en-US" altLang="en-US" sz="1900" b="1" dirty="0">
                <a:solidFill>
                  <a:srgbClr val="C00000"/>
                </a:solidFill>
                <a:latin typeface="Calibri"/>
                <a:ea typeface="맑은 고딕"/>
                <a:cs typeface="Calibri"/>
              </a:rPr>
              <a:t>This map identifies when and where crime is most likely to happen.</a:t>
            </a:r>
            <a:endParaRPr lang="ko-KR" sz="19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25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250"/>
                                        <p:tgtEl>
                                          <p:spTgt spid="1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8"/>
                                        </p:tgtEl>
                                        <p:attrNameLst>
                                          <p:attrName>style.visibility</p:attrName>
                                        </p:attrNameLst>
                                      </p:cBhvr>
                                      <p:to>
                                        <p:strVal val="visible"/>
                                      </p:to>
                                    </p:set>
                                    <p:animEffect transition="in" filter="fade">
                                      <p:cBhvr>
                                        <p:cTn id="13"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4" grpId="0" animBg="1"/>
      <p:bldP spid="18" grpId="0" animBg="1"/>
    </p:bldLst>
  </p:timing>
</p:sld>
</file>

<file path=ppt/slides/slide2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8000"/>
            </a:avLst>
          </a:prstGeom>
          <a:solidFill>
            <a:srgbClr val="1E2A5A"/>
          </a:solidFill>
          <a:ln>
            <a:noFill/>
          </a:ln>
        </p:spPr>
        <p:txBody>
          <a:bodyPr wrap="square" lIns="45720" tIns="18288" rIns="45720" bIns="18288" anchor="ctr" rtlCol="0">
            <a:noAutofit/>
          </a:bodyPr>
          <a:lstStyle/>
          <a:p>
            <a:pPr algn="ctr">
              <a:lnSpc>
                <a:spcPts val="2000"/>
              </a:lnSpc>
              <a:spcBef>
                <a:spcPts val="0"/>
              </a:spcBef>
              <a:spcAft>
                <a:spcPts val="0"/>
              </a:spcAft>
              <a:buNone/>
            </a:pPr>
            <a:r>
              <a:rPr lang="en-US" altLang="en-US" sz="1700" b="1" dirty="0">
                <a:solidFill>
                  <a:srgbClr val="FFFFFF"/>
                </a:solidFill>
                <a:latin typeface="Calibri"/>
                <a:ea typeface="맑은 고딕"/>
                <a:cs typeface="Calibri"/>
              </a:rPr>
              <a:t>L7-4</a:t>
            </a:r>
            <a:endParaRPr lang="ko-KR" sz="1700"/>
          </a:p>
        </p:txBody>
      </p:sp>
      <p:sp>
        <p:nvSpPr>
          <p:cNvPr id="3" name="hdr_chip"/>
          <p:cNvSpPr/>
          <p:nvPr/>
        </p:nvSpPr>
        <p:spPr>
          <a:xfrm>
            <a:off x="1755648" y="274320"/>
            <a:ext cx="1371600" cy="493776"/>
          </a:xfrm>
          <a:prstGeom prst="roundRect">
            <a:avLst>
              <a:gd name="adj" fmla="val 8000"/>
            </a:avLst>
          </a:prstGeom>
          <a:solidFill>
            <a:srgbClr val="E6EAF4"/>
          </a:solidFill>
          <a:ln>
            <a:noFill/>
          </a:ln>
        </p:spPr>
        <p:txBody>
          <a:bodyPr wrap="square" lIns="27432" tIns="18288" rIns="27432" bIns="18288" anchor="ctr" rtlCol="0">
            <a:noAutofit/>
          </a:bodyPr>
          <a:lstStyle/>
          <a:p>
            <a:pPr algn="ctr">
              <a:lnSpc>
                <a:spcPts val="1700"/>
              </a:lnSpc>
              <a:spcBef>
                <a:spcPts val="0"/>
              </a:spcBef>
              <a:spcAft>
                <a:spcPts val="0"/>
              </a:spcAft>
              <a:buNone/>
            </a:pPr>
            <a:r>
              <a:rPr lang="ko-KR" altLang="en-US" sz="1400" b="1" dirty="0">
                <a:solidFill>
                  <a:srgbClr val="1E2A5A"/>
                </a:solidFill>
                <a:latin typeface="맑은 고딕"/>
                <a:ea typeface="맑은 고딕"/>
                <a:cs typeface="맑은 고딕"/>
              </a:rPr>
              <a:t>PART 6 · 14</a:t>
            </a:r>
            <a:endParaRPr lang="ko-KR" sz="1400"/>
          </a:p>
        </p:txBody>
      </p:sp>
      <p:sp>
        <p:nvSpPr>
          <p:cNvPr id="4" name="hdr_q"/>
          <p:cNvSpPr txBox="1"/>
          <p:nvPr/>
        </p:nvSpPr>
        <p:spPr>
          <a:xfrm>
            <a:off x="3246120" y="246888"/>
            <a:ext cx="8485632" cy="548640"/>
          </a:xfrm>
          <a:prstGeom prst="rect">
            <a:avLst/>
          </a:prstGeom>
          <a:noFill/>
        </p:spPr>
        <p:txBody>
          <a:bodyPr wrap="square" lIns="109728" tIns="54864" rIns="109728" bIns="54864" anchor="ctr" rtlCol="0">
            <a:noAutofit/>
          </a:bodyPr>
          <a:lstStyle/>
          <a:p>
            <a:pPr algn="l">
              <a:lnSpc>
                <a:spcPts val="2400"/>
              </a:lnSpc>
              <a:spcBef>
                <a:spcPts val="0"/>
              </a:spcBef>
              <a:spcAft>
                <a:spcPts val="0"/>
              </a:spcAft>
              <a:buNone/>
            </a:pPr>
            <a:r>
              <a:rPr lang="ko-KR" altLang="en-US" sz="2000" b="1" dirty="0">
                <a:solidFill>
                  <a:srgbClr val="1F2328"/>
                </a:solidFill>
                <a:latin typeface="맑은 고딕"/>
                <a:ea typeface="맑은 고딕"/>
                <a:cs typeface="맑은 고딕"/>
              </a:rPr>
              <a:t>우리말에 맞게 (  ) 안의 말을 바르게 배열하시오.</a:t>
            </a:r>
            <a:endParaRPr lang="ko-KR" sz="2000"/>
          </a:p>
        </p:txBody>
      </p:sp>
      <p:sp>
        <p:nvSpPr>
          <p:cNvPr id="5" name="ftr_exam"/>
          <p:cNvSpPr txBox="1"/>
          <p:nvPr/>
        </p:nvSpPr>
        <p:spPr>
          <a:xfrm>
            <a:off x="457200" y="6519672"/>
            <a:ext cx="5669280" cy="256032"/>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7</a:t>
            </a:r>
            <a:endParaRPr lang="ko-KR" sz="1000"/>
          </a:p>
        </p:txBody>
      </p:sp>
      <p:sp>
        <p:nvSpPr>
          <p:cNvPr id="6" name="ftr_hint"/>
          <p:cNvSpPr txBox="1"/>
          <p:nvPr/>
        </p:nvSpPr>
        <p:spPr>
          <a:xfrm>
            <a:off x="5971032" y="6519672"/>
            <a:ext cx="5760720" cy="256032"/>
          </a:xfrm>
          <a:prstGeom prst="rect">
            <a:avLst/>
          </a:prstGeom>
          <a:noFill/>
        </p:spPr>
        <p:txBody>
          <a:bodyPr wrap="square" lIns="0" tIns="0" rIns="0" bIns="0" anchor="t" rtlCol="0">
            <a:noAutofit/>
          </a:bodyPr>
          <a:lstStyle/>
          <a:p>
            <a:pPr algn="r">
              <a:lnSpc>
                <a:spcPts val="1200"/>
              </a:lnSpc>
              <a:spcBef>
                <a:spcPts val="0"/>
              </a:spcBef>
              <a:spcAft>
                <a:spcPts val="0"/>
              </a:spcAft>
              <a:buNone/>
            </a:pPr>
            <a:r>
              <a:rPr lang="ko-KR" altLang="en-US" sz="1000" b="0" dirty="0">
                <a:solidFill>
                  <a:srgbClr val="7A808C"/>
                </a:solidFill>
                <a:latin typeface="맑은 고딕"/>
                <a:ea typeface="맑은 고딕"/>
                <a:cs typeface="맑은 고딕"/>
              </a:rPr>
              <a:t>클릭 ① 완성 문장(정답) 공개</a:t>
            </a:r>
            <a:endParaRPr lang="ko-KR" sz="1000"/>
          </a:p>
        </p:txBody>
      </p:sp>
      <p:sp>
        <p:nvSpPr>
          <p:cNvPr id="7" name="item_card_1"/>
          <p:cNvSpPr/>
          <p:nvPr/>
        </p:nvSpPr>
        <p:spPr>
          <a:xfrm>
            <a:off x="457200" y="950976"/>
            <a:ext cx="11274552" cy="1987677"/>
          </a:xfrm>
          <a:prstGeom prst="roundRect">
            <a:avLst>
              <a:gd name="adj" fmla="val 6000"/>
            </a:avLst>
          </a:prstGeom>
          <a:solidFill>
            <a:srgbClr val="F3F5F9"/>
          </a:solidFill>
          <a:ln w="12700">
            <a:solidFill>
              <a:srgbClr val="D9DFEA"/>
            </a:solidFill>
          </a:ln>
        </p:spPr>
        <p:txBody>
          <a:bodyPr rtlCol="0" anchor="ctr"/>
          <a:lstStyle/>
          <a:p>
            <a:pPr algn="ctr"/>
          </a:p>
        </p:txBody>
      </p:sp>
      <p:sp>
        <p:nvSpPr>
          <p:cNvPr id="8" name="kor_1"/>
          <p:cNvSpPr txBox="1"/>
          <p:nvPr/>
        </p:nvSpPr>
        <p:spPr>
          <a:xfrm>
            <a:off x="457200" y="1060704"/>
            <a:ext cx="11274552" cy="379603"/>
          </a:xfrm>
          <a:prstGeom prst="rect">
            <a:avLst/>
          </a:prstGeom>
          <a:noFill/>
        </p:spPr>
        <p:txBody>
          <a:bodyPr wrap="square" lIns="228600" tIns="54864" rIns="228600" bIns="54864" anchor="t" rtlCol="0">
            <a:noAutofit/>
          </a:bodyPr>
          <a:lstStyle/>
          <a:p>
            <a:pPr algn="l">
              <a:lnSpc>
                <a:spcPts val="2125"/>
              </a:lnSpc>
              <a:spcBef>
                <a:spcPts val="0"/>
              </a:spcBef>
              <a:spcAft>
                <a:spcPts val="0"/>
              </a:spcAft>
              <a:buNone/>
            </a:pPr>
            <a:r>
              <a:rPr lang="en-US" altLang="en-US" sz="1700" b="1" dirty="0">
                <a:solidFill>
                  <a:srgbClr val="1E2A5A"/>
                </a:solidFill>
                <a:latin typeface="Calibri"/>
                <a:ea typeface="맑은 고딕"/>
                <a:cs typeface="Calibri"/>
              </a:rPr>
              <a:t>4.  </a:t>
            </a:r>
            <a:r>
              <a:rPr lang="ko-KR" altLang="en-US" sz="1700" b="1" dirty="0">
                <a:solidFill>
                  <a:srgbClr val="1F2328"/>
                </a:solidFill>
                <a:latin typeface="맑은 고딕"/>
                <a:ea typeface="맑은 고딕"/>
                <a:cs typeface="맑은 고딕"/>
              </a:rPr>
              <a:t>경찰은 이 지도가 예측하는 지역과 시간대에 집중함으로써 추가 범죄를 예방할 수 있다.</a:t>
            </a:r>
            <a:endParaRPr lang="ko-KR" sz="1700"/>
          </a:p>
        </p:txBody>
      </p:sp>
      <p:sp>
        <p:nvSpPr>
          <p:cNvPr id="9" name="ex_1"/>
          <p:cNvSpPr txBox="1"/>
          <p:nvPr/>
        </p:nvSpPr>
        <p:spPr>
          <a:xfrm>
            <a:off x="457200" y="1385443"/>
            <a:ext cx="11274552" cy="761238"/>
          </a:xfrm>
          <a:prstGeom prst="rect">
            <a:avLst/>
          </a:prstGeom>
          <a:noFill/>
        </p:spPr>
        <p:txBody>
          <a:bodyPr wrap="square" lIns="228600" tIns="54864" rIns="228600" bIns="54864" anchor="t" rtlCol="0">
            <a:noAutofit/>
          </a:bodyPr>
          <a:lstStyle/>
          <a:p>
            <a:pPr algn="l">
              <a:lnSpc>
                <a:spcPts val="2565"/>
              </a:lnSpc>
              <a:spcBef>
                <a:spcPts val="0"/>
              </a:spcBef>
              <a:spcAft>
                <a:spcPts val="0"/>
              </a:spcAft>
              <a:buNone/>
            </a:pP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can prevent</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further crime</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Police</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 by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this map predicts</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focusing on</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the areas and the times</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a:t>
            </a:r>
            <a:endParaRPr lang="ko-KR" sz="1900"/>
          </a:p>
        </p:txBody>
      </p:sp>
      <p:sp>
        <p:nvSpPr>
          <p:cNvPr id="10" name="rv_ans_1"/>
          <p:cNvSpPr txBox="1"/>
          <p:nvPr/>
        </p:nvSpPr>
        <p:spPr>
          <a:xfrm>
            <a:off x="594360" y="2183257"/>
            <a:ext cx="11000232" cy="737108"/>
          </a:xfrm>
          <a:prstGeom prst="rect">
            <a:avLst/>
          </a:prstGeom>
          <a:solidFill>
            <a:srgbClr val="FFF3C4"/>
          </a:solidFill>
        </p:spPr>
        <p:txBody>
          <a:bodyPr wrap="square" lIns="137160" tIns="54864" rIns="137160" bIns="54864" anchor="t" rtlCol="0">
            <a:noAutofit/>
          </a:bodyPr>
          <a:lstStyle/>
          <a:p>
            <a:pPr algn="l">
              <a:lnSpc>
                <a:spcPts val="2470"/>
              </a:lnSpc>
              <a:spcBef>
                <a:spcPts val="0"/>
              </a:spcBef>
              <a:spcAft>
                <a:spcPts val="0"/>
              </a:spcAft>
              <a:buNone/>
            </a:pPr>
            <a:r>
              <a:rPr lang="en-US" altLang="en-US" sz="1900" b="1" dirty="0">
                <a:solidFill>
                  <a:srgbClr val="C00000"/>
                </a:solidFill>
                <a:latin typeface="Calibri"/>
                <a:ea typeface="맑은 고딕"/>
                <a:cs typeface="Calibri"/>
              </a:rPr>
              <a:t>→  </a:t>
            </a:r>
            <a:r>
              <a:rPr lang="en-US" altLang="en-US" sz="1900" b="1" dirty="0">
                <a:solidFill>
                  <a:srgbClr val="C00000"/>
                </a:solidFill>
                <a:latin typeface="Calibri"/>
                <a:ea typeface="맑은 고딕"/>
                <a:cs typeface="Calibri"/>
              </a:rPr>
              <a:t>Police can prevent further crime by focusing on the areas and the times this map predicts.</a:t>
            </a:r>
            <a:endParaRPr lang="ko-KR" sz="1900"/>
          </a:p>
        </p:txBody>
      </p:sp>
      <p:sp>
        <p:nvSpPr>
          <p:cNvPr id="11" name="item_card_2"/>
          <p:cNvSpPr/>
          <p:nvPr/>
        </p:nvSpPr>
        <p:spPr>
          <a:xfrm>
            <a:off x="457200" y="3048381"/>
            <a:ext cx="11274552" cy="1348232"/>
          </a:xfrm>
          <a:prstGeom prst="roundRect">
            <a:avLst>
              <a:gd name="adj" fmla="val 6000"/>
            </a:avLst>
          </a:prstGeom>
          <a:solidFill>
            <a:srgbClr val="F3F5F9"/>
          </a:solidFill>
          <a:ln w="12700">
            <a:solidFill>
              <a:srgbClr val="D9DFEA"/>
            </a:solidFill>
          </a:ln>
        </p:spPr>
        <p:txBody>
          <a:bodyPr rtlCol="0" anchor="ctr"/>
          <a:lstStyle/>
          <a:p>
            <a:pPr algn="ctr"/>
          </a:p>
        </p:txBody>
      </p:sp>
      <p:sp>
        <p:nvSpPr>
          <p:cNvPr id="12" name="kor_2"/>
          <p:cNvSpPr txBox="1"/>
          <p:nvPr/>
        </p:nvSpPr>
        <p:spPr>
          <a:xfrm>
            <a:off x="457200" y="3158109"/>
            <a:ext cx="11274552" cy="379603"/>
          </a:xfrm>
          <a:prstGeom prst="rect">
            <a:avLst/>
          </a:prstGeom>
          <a:noFill/>
        </p:spPr>
        <p:txBody>
          <a:bodyPr wrap="square" lIns="228600" tIns="54864" rIns="228600" bIns="54864" anchor="t" rtlCol="0">
            <a:noAutofit/>
          </a:bodyPr>
          <a:lstStyle/>
          <a:p>
            <a:pPr algn="l">
              <a:lnSpc>
                <a:spcPts val="2125"/>
              </a:lnSpc>
              <a:spcBef>
                <a:spcPts val="0"/>
              </a:spcBef>
              <a:spcAft>
                <a:spcPts val="0"/>
              </a:spcAft>
              <a:buNone/>
            </a:pPr>
            <a:r>
              <a:rPr lang="en-US" altLang="en-US" sz="1700" b="1" dirty="0">
                <a:solidFill>
                  <a:srgbClr val="1E2A5A"/>
                </a:solidFill>
                <a:latin typeface="Calibri"/>
                <a:ea typeface="맑은 고딕"/>
                <a:cs typeface="Calibri"/>
              </a:rPr>
              <a:t>5.  </a:t>
            </a:r>
            <a:r>
              <a:rPr lang="ko-KR" altLang="en-US" sz="1700" b="1" dirty="0">
                <a:solidFill>
                  <a:srgbClr val="1F2328"/>
                </a:solidFill>
                <a:latin typeface="맑은 고딕"/>
                <a:ea typeface="맑은 고딕"/>
                <a:cs typeface="맑은 고딕"/>
              </a:rPr>
              <a:t>빅데이터는 이미 세계를 크게 변화시켰다.</a:t>
            </a:r>
            <a:endParaRPr lang="ko-KR" sz="1700"/>
          </a:p>
        </p:txBody>
      </p:sp>
      <p:sp>
        <p:nvSpPr>
          <p:cNvPr id="13" name="ex_2"/>
          <p:cNvSpPr txBox="1"/>
          <p:nvPr/>
        </p:nvSpPr>
        <p:spPr>
          <a:xfrm>
            <a:off x="457200" y="3482848"/>
            <a:ext cx="11274552" cy="435483"/>
          </a:xfrm>
          <a:prstGeom prst="rect">
            <a:avLst/>
          </a:prstGeom>
          <a:noFill/>
        </p:spPr>
        <p:txBody>
          <a:bodyPr wrap="square" lIns="228600" tIns="54864" rIns="228600" bIns="54864" anchor="t" rtlCol="0">
            <a:noAutofit/>
          </a:bodyPr>
          <a:lstStyle/>
          <a:p>
            <a:pPr algn="l">
              <a:lnSpc>
                <a:spcPts val="2565"/>
              </a:lnSpc>
              <a:spcBef>
                <a:spcPts val="0"/>
              </a:spcBef>
              <a:spcAft>
                <a:spcPts val="0"/>
              </a:spcAft>
              <a:buNone/>
            </a:pP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has already changed</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greatly</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Big data</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the world</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a:t>
            </a:r>
            <a:endParaRPr lang="ko-KR" sz="1900"/>
          </a:p>
        </p:txBody>
      </p:sp>
      <p:sp>
        <p:nvSpPr>
          <p:cNvPr id="14" name="rv_ans_2"/>
          <p:cNvSpPr txBox="1"/>
          <p:nvPr/>
        </p:nvSpPr>
        <p:spPr>
          <a:xfrm>
            <a:off x="594360" y="3954907"/>
            <a:ext cx="11000232" cy="423418"/>
          </a:xfrm>
          <a:prstGeom prst="rect">
            <a:avLst/>
          </a:prstGeom>
          <a:solidFill>
            <a:srgbClr val="FFF3C4"/>
          </a:solidFill>
        </p:spPr>
        <p:txBody>
          <a:bodyPr wrap="square" lIns="137160" tIns="54864" rIns="137160" bIns="54864" anchor="t" rtlCol="0">
            <a:noAutofit/>
          </a:bodyPr>
          <a:lstStyle/>
          <a:p>
            <a:pPr algn="l">
              <a:lnSpc>
                <a:spcPts val="2470"/>
              </a:lnSpc>
              <a:spcBef>
                <a:spcPts val="0"/>
              </a:spcBef>
              <a:spcAft>
                <a:spcPts val="0"/>
              </a:spcAft>
              <a:buNone/>
            </a:pPr>
            <a:r>
              <a:rPr lang="en-US" altLang="en-US" sz="1900" b="1" dirty="0">
                <a:solidFill>
                  <a:srgbClr val="C00000"/>
                </a:solidFill>
                <a:latin typeface="Calibri"/>
                <a:ea typeface="맑은 고딕"/>
                <a:cs typeface="Calibri"/>
              </a:rPr>
              <a:t>→  </a:t>
            </a:r>
            <a:r>
              <a:rPr lang="en-US" altLang="en-US" sz="1900" b="1" dirty="0">
                <a:solidFill>
                  <a:srgbClr val="C00000"/>
                </a:solidFill>
                <a:latin typeface="Calibri"/>
                <a:ea typeface="맑은 고딕"/>
                <a:cs typeface="Calibri"/>
              </a:rPr>
              <a:t>Big data has already changed the world greatly.</a:t>
            </a:r>
            <a:endParaRPr lang="ko-KR" sz="19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25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2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4" grpId="0" animBg="1"/>
    </p:bldLst>
  </p:timing>
</p:sld>
</file>

<file path=ppt/slides/slide2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8000"/>
            </a:avLst>
          </a:prstGeom>
          <a:solidFill>
            <a:srgbClr val="1E2A5A"/>
          </a:solidFill>
          <a:ln>
            <a:noFill/>
          </a:ln>
        </p:spPr>
        <p:txBody>
          <a:bodyPr wrap="square" lIns="45720" tIns="18288" rIns="45720" bIns="18288" anchor="ctr" rtlCol="0">
            <a:noAutofit/>
          </a:bodyPr>
          <a:lstStyle/>
          <a:p>
            <a:pPr algn="ctr">
              <a:lnSpc>
                <a:spcPts val="2000"/>
              </a:lnSpc>
              <a:spcBef>
                <a:spcPts val="0"/>
              </a:spcBef>
              <a:spcAft>
                <a:spcPts val="0"/>
              </a:spcAft>
              <a:buNone/>
            </a:pPr>
            <a:r>
              <a:rPr lang="en-US" altLang="en-US" sz="1700" b="1" dirty="0">
                <a:solidFill>
                  <a:srgbClr val="FFFFFF"/>
                </a:solidFill>
                <a:latin typeface="Calibri"/>
                <a:ea typeface="맑은 고딕"/>
                <a:cs typeface="Calibri"/>
              </a:rPr>
              <a:t>L7-4</a:t>
            </a:r>
            <a:endParaRPr lang="ko-KR" sz="1700"/>
          </a:p>
        </p:txBody>
      </p:sp>
      <p:sp>
        <p:nvSpPr>
          <p:cNvPr id="3" name="hdr_chip"/>
          <p:cNvSpPr/>
          <p:nvPr/>
        </p:nvSpPr>
        <p:spPr>
          <a:xfrm>
            <a:off x="1755648" y="274320"/>
            <a:ext cx="1371600" cy="493776"/>
          </a:xfrm>
          <a:prstGeom prst="roundRect">
            <a:avLst>
              <a:gd name="adj" fmla="val 8000"/>
            </a:avLst>
          </a:prstGeom>
          <a:solidFill>
            <a:srgbClr val="E6EAF4"/>
          </a:solidFill>
          <a:ln>
            <a:noFill/>
          </a:ln>
        </p:spPr>
        <p:txBody>
          <a:bodyPr wrap="square" lIns="27432" tIns="18288" rIns="27432" bIns="18288" anchor="ctr" rtlCol="0">
            <a:noAutofit/>
          </a:bodyPr>
          <a:lstStyle/>
          <a:p>
            <a:pPr algn="ctr">
              <a:lnSpc>
                <a:spcPts val="1700"/>
              </a:lnSpc>
              <a:spcBef>
                <a:spcPts val="0"/>
              </a:spcBef>
              <a:spcAft>
                <a:spcPts val="0"/>
              </a:spcAft>
              <a:buNone/>
            </a:pPr>
            <a:r>
              <a:rPr lang="ko-KR" altLang="en-US" sz="1400" b="1" dirty="0">
                <a:solidFill>
                  <a:srgbClr val="1E2A5A"/>
                </a:solidFill>
                <a:latin typeface="맑은 고딕"/>
                <a:ea typeface="맑은 고딕"/>
                <a:cs typeface="맑은 고딕"/>
              </a:rPr>
              <a:t>PART 6 · 15</a:t>
            </a:r>
            <a:endParaRPr lang="ko-KR" sz="1400"/>
          </a:p>
        </p:txBody>
      </p:sp>
      <p:sp>
        <p:nvSpPr>
          <p:cNvPr id="4" name="hdr_q"/>
          <p:cNvSpPr txBox="1"/>
          <p:nvPr/>
        </p:nvSpPr>
        <p:spPr>
          <a:xfrm>
            <a:off x="3246120" y="246888"/>
            <a:ext cx="8485632" cy="548640"/>
          </a:xfrm>
          <a:prstGeom prst="rect">
            <a:avLst/>
          </a:prstGeom>
          <a:noFill/>
        </p:spPr>
        <p:txBody>
          <a:bodyPr wrap="square" lIns="109728" tIns="54864" rIns="109728" bIns="54864" anchor="ctr" rtlCol="0">
            <a:noAutofit/>
          </a:bodyPr>
          <a:lstStyle/>
          <a:p>
            <a:pPr algn="l">
              <a:lnSpc>
                <a:spcPts val="2400"/>
              </a:lnSpc>
              <a:spcBef>
                <a:spcPts val="0"/>
              </a:spcBef>
              <a:spcAft>
                <a:spcPts val="0"/>
              </a:spcAft>
              <a:buNone/>
            </a:pPr>
            <a:r>
              <a:rPr lang="ko-KR" altLang="en-US" sz="2000" b="1" dirty="0">
                <a:solidFill>
                  <a:srgbClr val="1F2328"/>
                </a:solidFill>
                <a:latin typeface="맑은 고딕"/>
                <a:ea typeface="맑은 고딕"/>
                <a:cs typeface="맑은 고딕"/>
              </a:rPr>
              <a:t>우리말에 맞게 (  ) 안의 말을 바르게 배열하시오.</a:t>
            </a:r>
            <a:endParaRPr lang="ko-KR" sz="2000"/>
          </a:p>
        </p:txBody>
      </p:sp>
      <p:sp>
        <p:nvSpPr>
          <p:cNvPr id="5" name="ftr_exam"/>
          <p:cNvSpPr txBox="1"/>
          <p:nvPr/>
        </p:nvSpPr>
        <p:spPr>
          <a:xfrm>
            <a:off x="457200" y="6519672"/>
            <a:ext cx="5669280" cy="256032"/>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7</a:t>
            </a:r>
            <a:endParaRPr lang="ko-KR" sz="1000"/>
          </a:p>
        </p:txBody>
      </p:sp>
      <p:sp>
        <p:nvSpPr>
          <p:cNvPr id="6" name="ftr_hint"/>
          <p:cNvSpPr txBox="1"/>
          <p:nvPr/>
        </p:nvSpPr>
        <p:spPr>
          <a:xfrm>
            <a:off x="5971032" y="6519672"/>
            <a:ext cx="5760720" cy="256032"/>
          </a:xfrm>
          <a:prstGeom prst="rect">
            <a:avLst/>
          </a:prstGeom>
          <a:noFill/>
        </p:spPr>
        <p:txBody>
          <a:bodyPr wrap="square" lIns="0" tIns="0" rIns="0" bIns="0" anchor="t" rtlCol="0">
            <a:noAutofit/>
          </a:bodyPr>
          <a:lstStyle/>
          <a:p>
            <a:pPr algn="r">
              <a:lnSpc>
                <a:spcPts val="1200"/>
              </a:lnSpc>
              <a:spcBef>
                <a:spcPts val="0"/>
              </a:spcBef>
              <a:spcAft>
                <a:spcPts val="0"/>
              </a:spcAft>
              <a:buNone/>
            </a:pPr>
            <a:r>
              <a:rPr lang="ko-KR" altLang="en-US" sz="1000" b="0" dirty="0">
                <a:solidFill>
                  <a:srgbClr val="7A808C"/>
                </a:solidFill>
                <a:latin typeface="맑은 고딕"/>
                <a:ea typeface="맑은 고딕"/>
                <a:cs typeface="맑은 고딕"/>
              </a:rPr>
              <a:t>클릭 ① 완성 문장(정답) 공개</a:t>
            </a:r>
            <a:endParaRPr lang="ko-KR" sz="1000"/>
          </a:p>
        </p:txBody>
      </p:sp>
      <p:sp>
        <p:nvSpPr>
          <p:cNvPr id="7" name="item_card_1"/>
          <p:cNvSpPr/>
          <p:nvPr/>
        </p:nvSpPr>
        <p:spPr>
          <a:xfrm>
            <a:off x="457200" y="950976"/>
            <a:ext cx="11274552" cy="1348232"/>
          </a:xfrm>
          <a:prstGeom prst="roundRect">
            <a:avLst>
              <a:gd name="adj" fmla="val 6000"/>
            </a:avLst>
          </a:prstGeom>
          <a:solidFill>
            <a:srgbClr val="F3F5F9"/>
          </a:solidFill>
          <a:ln w="12700">
            <a:solidFill>
              <a:srgbClr val="D9DFEA"/>
            </a:solidFill>
          </a:ln>
        </p:spPr>
        <p:txBody>
          <a:bodyPr rtlCol="0" anchor="ctr"/>
          <a:lstStyle/>
          <a:p>
            <a:pPr algn="ctr"/>
          </a:p>
        </p:txBody>
      </p:sp>
      <p:sp>
        <p:nvSpPr>
          <p:cNvPr id="8" name="kor_1"/>
          <p:cNvSpPr txBox="1"/>
          <p:nvPr/>
        </p:nvSpPr>
        <p:spPr>
          <a:xfrm>
            <a:off x="457200" y="1060704"/>
            <a:ext cx="11274552" cy="379603"/>
          </a:xfrm>
          <a:prstGeom prst="rect">
            <a:avLst/>
          </a:prstGeom>
          <a:noFill/>
        </p:spPr>
        <p:txBody>
          <a:bodyPr wrap="square" lIns="228600" tIns="54864" rIns="228600" bIns="54864" anchor="t" rtlCol="0">
            <a:noAutofit/>
          </a:bodyPr>
          <a:lstStyle/>
          <a:p>
            <a:pPr algn="l">
              <a:lnSpc>
                <a:spcPts val="2125"/>
              </a:lnSpc>
              <a:spcBef>
                <a:spcPts val="0"/>
              </a:spcBef>
              <a:spcAft>
                <a:spcPts val="0"/>
              </a:spcAft>
              <a:buNone/>
            </a:pPr>
            <a:r>
              <a:rPr lang="en-US" altLang="en-US" sz="1700" b="1" dirty="0">
                <a:solidFill>
                  <a:srgbClr val="1E2A5A"/>
                </a:solidFill>
                <a:latin typeface="Calibri"/>
                <a:ea typeface="맑은 고딕"/>
                <a:cs typeface="Calibri"/>
              </a:rPr>
              <a:t>6.  </a:t>
            </a:r>
            <a:r>
              <a:rPr lang="ko-KR" altLang="en-US" sz="1700" b="1" dirty="0">
                <a:solidFill>
                  <a:srgbClr val="1F2328"/>
                </a:solidFill>
                <a:latin typeface="맑은 고딕"/>
                <a:ea typeface="맑은 고딕"/>
                <a:cs typeface="맑은 고딕"/>
              </a:rPr>
              <a:t>그러면 빅데이터 산업은 여기에서부터 어디로 가게 될까?</a:t>
            </a:r>
            <a:endParaRPr lang="ko-KR" sz="1700"/>
          </a:p>
        </p:txBody>
      </p:sp>
      <p:sp>
        <p:nvSpPr>
          <p:cNvPr id="9" name="ex_1"/>
          <p:cNvSpPr txBox="1"/>
          <p:nvPr/>
        </p:nvSpPr>
        <p:spPr>
          <a:xfrm>
            <a:off x="457200" y="1385443"/>
            <a:ext cx="11274552" cy="435483"/>
          </a:xfrm>
          <a:prstGeom prst="rect">
            <a:avLst/>
          </a:prstGeom>
          <a:noFill/>
        </p:spPr>
        <p:txBody>
          <a:bodyPr wrap="square" lIns="228600" tIns="54864" rIns="228600" bIns="54864" anchor="t" rtlCol="0">
            <a:noAutofit/>
          </a:bodyPr>
          <a:lstStyle/>
          <a:p>
            <a:pPr algn="l">
              <a:lnSpc>
                <a:spcPts val="2565"/>
              </a:lnSpc>
              <a:spcBef>
                <a:spcPts val="0"/>
              </a:spcBef>
              <a:spcAft>
                <a:spcPts val="0"/>
              </a:spcAft>
              <a:buNone/>
            </a:pPr>
            <a:r>
              <a:rPr lang="en-US" altLang="en-US" sz="1900" b="0" dirty="0">
                <a:solidFill>
                  <a:srgbClr val="1F2328"/>
                </a:solidFill>
                <a:latin typeface="Calibri"/>
                <a:ea typeface="맑은 고딕"/>
                <a:cs typeface="Calibri"/>
              </a:rPr>
              <a:t>So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will</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where</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go</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the big data industry</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from here?</a:t>
            </a:r>
            <a:r>
              <a:rPr lang="en-US" altLang="en-US" sz="1900" b="1" dirty="0">
                <a:solidFill>
                  <a:srgbClr val="1E2A5A"/>
                </a:solidFill>
                <a:latin typeface="Calibri"/>
                <a:ea typeface="맑은 고딕"/>
                <a:cs typeface="Calibri"/>
              </a:rPr>
              <a:t>)</a:t>
            </a:r>
            <a:endParaRPr lang="ko-KR" sz="1900"/>
          </a:p>
        </p:txBody>
      </p:sp>
      <p:sp>
        <p:nvSpPr>
          <p:cNvPr id="10" name="rv_ans_1"/>
          <p:cNvSpPr txBox="1"/>
          <p:nvPr/>
        </p:nvSpPr>
        <p:spPr>
          <a:xfrm>
            <a:off x="594360" y="1857502"/>
            <a:ext cx="11000232" cy="423418"/>
          </a:xfrm>
          <a:prstGeom prst="rect">
            <a:avLst/>
          </a:prstGeom>
          <a:solidFill>
            <a:srgbClr val="FFF3C4"/>
          </a:solidFill>
        </p:spPr>
        <p:txBody>
          <a:bodyPr wrap="square" lIns="137160" tIns="54864" rIns="137160" bIns="54864" anchor="t" rtlCol="0">
            <a:noAutofit/>
          </a:bodyPr>
          <a:lstStyle/>
          <a:p>
            <a:pPr algn="l">
              <a:lnSpc>
                <a:spcPts val="2470"/>
              </a:lnSpc>
              <a:spcBef>
                <a:spcPts val="0"/>
              </a:spcBef>
              <a:spcAft>
                <a:spcPts val="0"/>
              </a:spcAft>
              <a:buNone/>
            </a:pPr>
            <a:r>
              <a:rPr lang="en-US" altLang="en-US" sz="1900" b="1" dirty="0">
                <a:solidFill>
                  <a:srgbClr val="C00000"/>
                </a:solidFill>
                <a:latin typeface="Calibri"/>
                <a:ea typeface="맑은 고딕"/>
                <a:cs typeface="Calibri"/>
              </a:rPr>
              <a:t>→  </a:t>
            </a:r>
            <a:r>
              <a:rPr lang="en-US" altLang="en-US" sz="1900" b="1" dirty="0">
                <a:solidFill>
                  <a:srgbClr val="C00000"/>
                </a:solidFill>
                <a:latin typeface="Calibri"/>
                <a:ea typeface="맑은 고딕"/>
                <a:cs typeface="Calibri"/>
              </a:rPr>
              <a:t>So where will the big data industry go from here?</a:t>
            </a:r>
            <a:endParaRPr lang="ko-KR" sz="1900"/>
          </a:p>
        </p:txBody>
      </p:sp>
      <p:sp>
        <p:nvSpPr>
          <p:cNvPr id="11" name="item_card_2"/>
          <p:cNvSpPr/>
          <p:nvPr/>
        </p:nvSpPr>
        <p:spPr>
          <a:xfrm>
            <a:off x="457200" y="2408936"/>
            <a:ext cx="11274552" cy="2257552"/>
          </a:xfrm>
          <a:prstGeom prst="roundRect">
            <a:avLst>
              <a:gd name="adj" fmla="val 6000"/>
            </a:avLst>
          </a:prstGeom>
          <a:solidFill>
            <a:srgbClr val="F3F5F9"/>
          </a:solidFill>
          <a:ln w="12700">
            <a:solidFill>
              <a:srgbClr val="D9DFEA"/>
            </a:solidFill>
          </a:ln>
        </p:spPr>
        <p:txBody>
          <a:bodyPr rtlCol="0" anchor="ctr"/>
          <a:lstStyle/>
          <a:p>
            <a:pPr algn="ctr"/>
          </a:p>
        </p:txBody>
      </p:sp>
      <p:sp>
        <p:nvSpPr>
          <p:cNvPr id="12" name="kor_2"/>
          <p:cNvSpPr txBox="1"/>
          <p:nvPr/>
        </p:nvSpPr>
        <p:spPr>
          <a:xfrm>
            <a:off x="457200" y="2518664"/>
            <a:ext cx="11274552" cy="649478"/>
          </a:xfrm>
          <a:prstGeom prst="rect">
            <a:avLst/>
          </a:prstGeom>
          <a:noFill/>
        </p:spPr>
        <p:txBody>
          <a:bodyPr wrap="square" lIns="228600" tIns="54864" rIns="228600" bIns="54864" anchor="t" rtlCol="0">
            <a:noAutofit/>
          </a:bodyPr>
          <a:lstStyle/>
          <a:p>
            <a:pPr algn="l">
              <a:lnSpc>
                <a:spcPts val="2125"/>
              </a:lnSpc>
              <a:spcBef>
                <a:spcPts val="0"/>
              </a:spcBef>
              <a:spcAft>
                <a:spcPts val="0"/>
              </a:spcAft>
              <a:buNone/>
            </a:pPr>
            <a:r>
              <a:rPr lang="en-US" altLang="en-US" sz="1700" b="1" dirty="0">
                <a:solidFill>
                  <a:srgbClr val="1E2A5A"/>
                </a:solidFill>
                <a:latin typeface="Calibri"/>
                <a:ea typeface="맑은 고딕"/>
                <a:cs typeface="Calibri"/>
              </a:rPr>
              <a:t>7.  </a:t>
            </a:r>
            <a:r>
              <a:rPr lang="ko-KR" altLang="en-US" sz="1700" b="1" dirty="0">
                <a:solidFill>
                  <a:srgbClr val="1F2328"/>
                </a:solidFill>
                <a:latin typeface="맑은 고딕"/>
                <a:ea typeface="맑은 고딕"/>
                <a:cs typeface="맑은 고딕"/>
              </a:rPr>
              <a:t>누구도 확실히 알지는 못하지만, 전문가들은 빅데이터가 우리 삶에서 더욱 더 중요한 역할을 할 것이라는 데에는 동의한다.</a:t>
            </a:r>
            <a:endParaRPr lang="ko-KR" sz="1700"/>
          </a:p>
        </p:txBody>
      </p:sp>
      <p:sp>
        <p:nvSpPr>
          <p:cNvPr id="13" name="ex_2"/>
          <p:cNvSpPr txBox="1"/>
          <p:nvPr/>
        </p:nvSpPr>
        <p:spPr>
          <a:xfrm>
            <a:off x="457200" y="3113278"/>
            <a:ext cx="11274552" cy="761238"/>
          </a:xfrm>
          <a:prstGeom prst="rect">
            <a:avLst/>
          </a:prstGeom>
          <a:noFill/>
        </p:spPr>
        <p:txBody>
          <a:bodyPr wrap="square" lIns="228600" tIns="54864" rIns="228600" bIns="54864" anchor="t" rtlCol="0">
            <a:noAutofit/>
          </a:bodyPr>
          <a:lstStyle/>
          <a:p>
            <a:pPr algn="l">
              <a:lnSpc>
                <a:spcPts val="2565"/>
              </a:lnSpc>
              <a:spcBef>
                <a:spcPts val="0"/>
              </a:spcBef>
              <a:spcAft>
                <a:spcPts val="0"/>
              </a:spcAft>
              <a:buNone/>
            </a:pP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for sure</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Nobody</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knows</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 but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agree</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experts</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 that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big data</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a more and more important role</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will play</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in our lives</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a:t>
            </a:r>
            <a:endParaRPr lang="ko-KR" sz="1900"/>
          </a:p>
        </p:txBody>
      </p:sp>
      <p:sp>
        <p:nvSpPr>
          <p:cNvPr id="14" name="rv_ans_2"/>
          <p:cNvSpPr txBox="1"/>
          <p:nvPr/>
        </p:nvSpPr>
        <p:spPr>
          <a:xfrm>
            <a:off x="594360" y="3911092"/>
            <a:ext cx="11000232" cy="737108"/>
          </a:xfrm>
          <a:prstGeom prst="rect">
            <a:avLst/>
          </a:prstGeom>
          <a:solidFill>
            <a:srgbClr val="FFF3C4"/>
          </a:solidFill>
        </p:spPr>
        <p:txBody>
          <a:bodyPr wrap="square" lIns="137160" tIns="54864" rIns="137160" bIns="54864" anchor="t" rtlCol="0">
            <a:noAutofit/>
          </a:bodyPr>
          <a:lstStyle/>
          <a:p>
            <a:pPr algn="l">
              <a:lnSpc>
                <a:spcPts val="2470"/>
              </a:lnSpc>
              <a:spcBef>
                <a:spcPts val="0"/>
              </a:spcBef>
              <a:spcAft>
                <a:spcPts val="0"/>
              </a:spcAft>
              <a:buNone/>
            </a:pPr>
            <a:r>
              <a:rPr lang="en-US" altLang="en-US" sz="1900" b="1" dirty="0">
                <a:solidFill>
                  <a:srgbClr val="C00000"/>
                </a:solidFill>
                <a:latin typeface="Calibri"/>
                <a:ea typeface="맑은 고딕"/>
                <a:cs typeface="Calibri"/>
              </a:rPr>
              <a:t>→  </a:t>
            </a:r>
            <a:r>
              <a:rPr lang="en-US" altLang="en-US" sz="1900" b="1" dirty="0">
                <a:solidFill>
                  <a:srgbClr val="C00000"/>
                </a:solidFill>
                <a:latin typeface="Calibri"/>
                <a:ea typeface="맑은 고딕"/>
                <a:cs typeface="Calibri"/>
              </a:rPr>
              <a:t>Nobody knows for sure, but experts agree that big data will play a more and more important role in our lives.</a:t>
            </a:r>
            <a:endParaRPr lang="ko-KR" sz="19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25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2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4" grpId="0" animBg="1"/>
    </p:bldLst>
  </p:timing>
</p:sld>
</file>

<file path=ppt/slides/slide242.xml><?xml version="1.0" encoding="utf-8"?>
<p:sld xmlns:a="http://schemas.openxmlformats.org/drawingml/2006/main" xmlns:p="http://schemas.openxmlformats.org/presentationml/2006/main" xmlns:r="http://schemas.openxmlformats.org/officeDocument/2006/relationships">
  <p:cSld>
    <p:bg>
      <p:bgPr>
        <a:solidFill>
          <a:srgbClr val="1E2A5A"/>
        </a:solidFill>
        <a:effectLst/>
      </p:bgPr>
    </p:bg>
    <p:spTree>
      <p:nvGrpSpPr>
        <p:cNvPr id="1" name=""/>
        <p:cNvGrpSpPr/>
        <p:nvPr/>
      </p:nvGrpSpPr>
      <p:grpSpPr/>
      <p:sp>
        <p:nvSpPr>
          <p:cNvPr id="2" name="dv_title"/>
          <p:cNvSpPr txBox="1"/>
          <p:nvPr/>
        </p:nvSpPr>
        <p:spPr>
          <a:xfrm>
            <a:off x="822960" y="1828800"/>
            <a:ext cx="10515600" cy="1188720"/>
          </a:xfrm>
          <a:prstGeom prst="rect">
            <a:avLst/>
          </a:prstGeom>
          <a:noFill/>
        </p:spPr>
        <p:txBody>
          <a:bodyPr wrap="square" lIns="109728" tIns="54864" rIns="109728" bIns="54864" anchor="t" rtlCol="0">
            <a:noAutofit/>
          </a:bodyPr>
          <a:lstStyle/>
          <a:p>
            <a:pPr algn="l">
              <a:lnSpc>
                <a:spcPts val="7600"/>
              </a:lnSpc>
              <a:spcBef>
                <a:spcPts val="0"/>
              </a:spcBef>
              <a:spcAft>
                <a:spcPts val="0"/>
              </a:spcAft>
              <a:buNone/>
            </a:pPr>
            <a:r>
              <a:rPr lang="en-US" altLang="en-US" sz="6600" b="1" dirty="0">
                <a:solidFill>
                  <a:srgbClr val="FFFFFF"/>
                </a:solidFill>
                <a:latin typeface="Calibri"/>
                <a:ea typeface="맑은 고딕"/>
                <a:cs typeface="Calibri"/>
              </a:rPr>
              <a:t>Lesson </a:t>
            </a:r>
            <a:r>
              <a:rPr lang="en-US" altLang="en-US" sz="6600" b="1" dirty="0">
                <a:solidFill>
                  <a:srgbClr val="FFE98A"/>
                </a:solidFill>
                <a:latin typeface="Calibri"/>
                <a:ea typeface="맑은 고딕"/>
                <a:cs typeface="Calibri"/>
              </a:rPr>
              <a:t>8</a:t>
            </a:r>
            <a:endParaRPr lang="ko-KR" sz="6600"/>
          </a:p>
        </p:txBody>
      </p:sp>
      <p:sp>
        <p:nvSpPr>
          <p:cNvPr id="3" name="dv_exam"/>
          <p:cNvSpPr txBox="1"/>
          <p:nvPr/>
        </p:nvSpPr>
        <p:spPr>
          <a:xfrm>
            <a:off x="822960" y="3063240"/>
            <a:ext cx="10515600" cy="502920"/>
          </a:xfrm>
          <a:prstGeom prst="rect">
            <a:avLst/>
          </a:prstGeom>
          <a:noFill/>
        </p:spPr>
        <p:txBody>
          <a:bodyPr wrap="square" lIns="109728" tIns="54864" rIns="109728" bIns="54864" anchor="t" rtlCol="0">
            <a:noAutofit/>
          </a:bodyPr>
          <a:lstStyle/>
          <a:p>
            <a:pPr algn="l">
              <a:lnSpc>
                <a:spcPts val="2600"/>
              </a:lnSpc>
              <a:spcBef>
                <a:spcPts val="0"/>
              </a:spcBef>
              <a:spcAft>
                <a:spcPts val="0"/>
              </a:spcAft>
              <a:buNone/>
            </a:pPr>
            <a:r>
              <a:rPr lang="ko-KR" altLang="en-US" sz="2200" b="0" dirty="0">
                <a:solidFill>
                  <a:srgbClr val="CFD8E8"/>
                </a:solidFill>
                <a:latin typeface="맑은 고딕"/>
                <a:ea typeface="맑은 고딕"/>
                <a:cs typeface="맑은 고딕"/>
              </a:rPr>
              <a:t>중3 동아(윤정미)</a:t>
            </a:r>
            <a:endParaRPr lang="ko-KR" sz="2200"/>
          </a:p>
        </p:txBody>
      </p:sp>
      <p:sp>
        <p:nvSpPr>
          <p:cNvPr id="4" name="dv_ids"/>
          <p:cNvSpPr txBox="1"/>
          <p:nvPr/>
        </p:nvSpPr>
        <p:spPr>
          <a:xfrm>
            <a:off x="822960" y="3611880"/>
            <a:ext cx="10515600" cy="457200"/>
          </a:xfrm>
          <a:prstGeom prst="rect">
            <a:avLst/>
          </a:prstGeom>
          <a:noFill/>
        </p:spPr>
        <p:txBody>
          <a:bodyPr wrap="square" lIns="109728" tIns="54864" rIns="109728" bIns="54864" anchor="t" rtlCol="0">
            <a:noAutofit/>
          </a:bodyPr>
          <a:lstStyle/>
          <a:p>
            <a:pPr algn="l">
              <a:lnSpc>
                <a:spcPts val="2200"/>
              </a:lnSpc>
              <a:spcBef>
                <a:spcPts val="0"/>
              </a:spcBef>
              <a:spcAft>
                <a:spcPts val="0"/>
              </a:spcAft>
              <a:buNone/>
            </a:pPr>
            <a:r>
              <a:rPr lang="en-US" altLang="en-US" sz="1800" b="1" dirty="0">
                <a:solidFill>
                  <a:srgbClr val="AEBBD0"/>
                </a:solidFill>
                <a:latin typeface="Calibri"/>
                <a:ea typeface="맑은 고딕"/>
                <a:cs typeface="Calibri"/>
              </a:rPr>
              <a:t>L8-1 · L8-2 · L8-3</a:t>
            </a:r>
            <a:endParaRPr lang="ko-KR" sz="1800"/>
          </a:p>
        </p:txBody>
      </p:sp>
      <p:sp>
        <p:nvSpPr>
          <p:cNvPr id="5" name="dv_rule"/>
          <p:cNvSpPr/>
          <p:nvPr/>
        </p:nvSpPr>
        <p:spPr>
          <a:xfrm>
            <a:off x="822960" y="4343400"/>
            <a:ext cx="2011680" cy="54864"/>
          </a:xfrm>
          <a:prstGeom prst="rect">
            <a:avLst/>
          </a:prstGeom>
          <a:solidFill>
            <a:srgbClr val="FFE98A"/>
          </a:solidFill>
          <a:ln>
            <a:noFill/>
          </a:ln>
        </p:spPr>
        <p:txBody>
          <a:bodyPr rtlCol="0" anchor="ctr"/>
          <a:lstStyle/>
          <a:p>
            <a:pPr algn="ctr"/>
          </a:p>
        </p:txBody>
      </p:sp>
      <p:sp>
        <p:nvSpPr>
          <p:cNvPr id="6" name="dv_parts"/>
          <p:cNvSpPr txBox="1"/>
          <p:nvPr/>
        </p:nvSpPr>
        <p:spPr>
          <a:xfrm>
            <a:off x="822960" y="4572000"/>
            <a:ext cx="10515600" cy="457200"/>
          </a:xfrm>
          <a:prstGeom prst="rect">
            <a:avLst/>
          </a:prstGeom>
          <a:noFill/>
        </p:spPr>
        <p:txBody>
          <a:bodyPr wrap="square" lIns="109728" tIns="54864" rIns="109728" bIns="54864" anchor="t" rtlCol="0">
            <a:noAutofit/>
          </a:bodyPr>
          <a:lstStyle/>
          <a:p>
            <a:pPr algn="l">
              <a:lnSpc>
                <a:spcPts val="2000"/>
              </a:lnSpc>
              <a:spcBef>
                <a:spcPts val="0"/>
              </a:spcBef>
              <a:spcAft>
                <a:spcPts val="0"/>
              </a:spcAft>
              <a:buNone/>
            </a:pPr>
            <a:r>
              <a:rPr lang="ko-KR" altLang="en-US" sz="1600" b="0" dirty="0">
                <a:solidFill>
                  <a:srgbClr val="FFFFFF"/>
                </a:solidFill>
                <a:latin typeface="맑은 고딕"/>
                <a:ea typeface="맑은 고딕"/>
                <a:cs typeface="맑은 고딕"/>
              </a:rPr>
              <a:t>PART 1–3 문제풀이  ·  PART 4 T/F  ·  PART 5 어법 선택  ·  PART 6 부분영작</a:t>
            </a:r>
            <a:endParaRPr lang="ko-KR" sz="1600"/>
          </a:p>
        </p:txBody>
      </p:sp>
    </p:spTree>
  </p:cSld>
  <p:clrMapOvr>
    <a:masterClrMapping/>
  </p:clrMapOvr>
</p:sld>
</file>

<file path=ppt/slides/slide243.xml><?xml version="1.0" encoding="utf-8"?>
<p:sld xmlns:a="http://schemas.openxmlformats.org/drawingml/2006/main" xmlns:p="http://schemas.openxmlformats.org/presentationml/2006/main" xmlns:r="http://schemas.openxmlformats.org/officeDocument/2006/relationships">
  <p:cSld>
    <p:bg>
      <p:bgPr>
        <a:solidFill>
          <a:srgbClr val="1E2A5A"/>
        </a:solidFill>
        <a:effectLst/>
      </p:bgPr>
    </p:bg>
    <p:spTree>
      <p:nvGrpSpPr>
        <p:cNvPr id="1" name=""/>
        <p:cNvGrpSpPr/>
        <p:nvPr/>
      </p:nvGrpSpPr>
      <p:grpSpPr/>
      <p:sp>
        <p:nvSpPr>
          <p:cNvPr id="2" name="cv_title"/>
          <p:cNvSpPr txBox="1"/>
          <p:nvPr/>
        </p:nvSpPr>
        <p:spPr>
          <a:xfrm>
            <a:off x="822960" y="1371600"/>
            <a:ext cx="10515600" cy="868680"/>
          </a:xfrm>
          <a:prstGeom prst="rect">
            <a:avLst/>
          </a:prstGeom>
          <a:noFill/>
        </p:spPr>
        <p:txBody>
          <a:bodyPr wrap="square" lIns="91440" tIns="45720" rIns="91440" bIns="45720" anchor="t" rtlCol="0">
            <a:noAutofit/>
          </a:bodyPr>
          <a:lstStyle/>
          <a:p>
            <a:pPr algn="l">
              <a:lnSpc>
                <a:spcPts val="5680"/>
              </a:lnSpc>
              <a:spcBef>
                <a:spcPts val="0"/>
              </a:spcBef>
              <a:spcAft>
                <a:spcPts val="0"/>
              </a:spcAft>
              <a:buNone/>
            </a:pPr>
            <a:r>
              <a:rPr lang="ko-KR" altLang="en-US" sz="4000" b="1" dirty="0">
                <a:solidFill>
                  <a:srgbClr val="FFFFFF"/>
                </a:solidFill>
                <a:latin typeface="맑은 고딕"/>
                <a:ea typeface="맑은 고딕"/>
                <a:cs typeface="맑은 고딕"/>
              </a:rPr>
              <a:t>문제 풀이 · 정답 확인</a:t>
            </a:r>
            <a:endParaRPr lang="ko-KR" altLang="en-US" sz="4000" b="1" dirty="0">
              <a:solidFill>
                <a:srgbClr val="FFFFFF"/>
              </a:solidFill>
              <a:latin typeface="맑은 고딕"/>
              <a:ea typeface="맑은 고딕"/>
              <a:cs typeface="맑은 고딕"/>
            </a:endParaRPr>
          </a:p>
        </p:txBody>
      </p:sp>
      <p:sp>
        <p:nvSpPr>
          <p:cNvPr id="3" name="cv_exam"/>
          <p:cNvSpPr txBox="1"/>
          <p:nvPr/>
        </p:nvSpPr>
        <p:spPr>
          <a:xfrm>
            <a:off x="822960" y="2240280"/>
            <a:ext cx="10515600" cy="502920"/>
          </a:xfrm>
          <a:prstGeom prst="rect">
            <a:avLst/>
          </a:prstGeom>
          <a:noFill/>
        </p:spPr>
        <p:txBody>
          <a:bodyPr wrap="square" lIns="91440" tIns="45720" rIns="91440" bIns="45720" anchor="t" rtlCol="0">
            <a:noAutofit/>
          </a:bodyPr>
          <a:lstStyle/>
          <a:p>
            <a:pPr algn="l">
              <a:lnSpc>
                <a:spcPts val="2840"/>
              </a:lnSpc>
              <a:spcBef>
                <a:spcPts val="0"/>
              </a:spcBef>
              <a:spcAft>
                <a:spcPts val="0"/>
              </a:spcAft>
              <a:buNone/>
            </a:pPr>
            <a:r>
              <a:rPr lang="ko-KR" altLang="en-US" sz="2000" b="0" dirty="0">
                <a:solidFill>
                  <a:srgbClr val="CFD8E8"/>
                </a:solidFill>
                <a:latin typeface="맑은 고딕"/>
                <a:ea typeface="맑은 고딕"/>
                <a:cs typeface="맑은 고딕"/>
              </a:rPr>
              <a:t>중3 동아(윤정미) Lesson 8</a:t>
            </a:r>
            <a:endParaRPr lang="ko-KR" altLang="en-US" sz="2000" b="0" dirty="0">
              <a:solidFill>
                <a:srgbClr val="CFD8E8"/>
              </a:solidFill>
              <a:latin typeface="맑은 고딕"/>
              <a:ea typeface="맑은 고딕"/>
              <a:cs typeface="맑은 고딕"/>
            </a:endParaRPr>
          </a:p>
        </p:txBody>
      </p:sp>
      <p:sp>
        <p:nvSpPr>
          <p:cNvPr id="4" name="cv_ids"/>
          <p:cNvSpPr txBox="1"/>
          <p:nvPr/>
        </p:nvSpPr>
        <p:spPr>
          <a:xfrm>
            <a:off x="822960" y="2788920"/>
            <a:ext cx="10515600" cy="457200"/>
          </a:xfrm>
          <a:prstGeom prst="rect">
            <a:avLst/>
          </a:prstGeom>
          <a:noFill/>
        </p:spPr>
        <p:txBody>
          <a:bodyPr wrap="square" lIns="91440" tIns="45720" rIns="91440" bIns="45720" anchor="t" rtlCol="0">
            <a:noAutofit/>
          </a:bodyPr>
          <a:lstStyle/>
          <a:p>
            <a:pPr algn="l">
              <a:lnSpc>
                <a:spcPts val="2340"/>
              </a:lnSpc>
              <a:spcBef>
                <a:spcPts val="0"/>
              </a:spcBef>
              <a:spcAft>
                <a:spcPts val="0"/>
              </a:spcAft>
              <a:buNone/>
            </a:pPr>
            <a:r>
              <a:rPr lang="en-US" altLang="ko-KR" sz="1800" b="1" dirty="0">
                <a:solidFill>
                  <a:srgbClr val="AEBBD0"/>
                </a:solidFill>
                <a:latin typeface="Calibri"/>
                <a:ea typeface="맑은 고딕"/>
                <a:cs typeface="Calibri"/>
              </a:rPr>
              <a:t>L8-1  ·  L8-2  ·  L8-3</a:t>
            </a:r>
            <a:endParaRPr lang="en-US" altLang="ko-KR" sz="1800" b="1" dirty="0">
              <a:solidFill>
                <a:srgbClr val="AEBBD0"/>
              </a:solidFill>
              <a:latin typeface="Calibri"/>
              <a:ea typeface="맑은 고딕"/>
              <a:cs typeface="Calibri"/>
            </a:endParaRPr>
          </a:p>
        </p:txBody>
      </p:sp>
      <p:sp>
        <p:nvSpPr>
          <p:cNvPr id="5" name="cv_legend"/>
          <p:cNvSpPr/>
          <p:nvPr/>
        </p:nvSpPr>
        <p:spPr>
          <a:xfrm>
            <a:off x="822960" y="3977639"/>
            <a:ext cx="10515600" cy="1645920"/>
          </a:xfrm>
          <a:prstGeom prst="roundRect">
            <a:avLst>
              <a:gd name="adj" fmla="val 6000"/>
            </a:avLst>
          </a:prstGeom>
          <a:solidFill>
            <a:srgbClr val="27356E"/>
          </a:solidFill>
          <a:ln>
            <a:noFill/>
          </a:ln>
        </p:spPr>
        <p:txBody>
          <a:bodyPr wrap="square" lIns="320040" tIns="201168" rIns="320040" bIns="182880" anchor="t" rtlCol="0">
            <a:noAutofit/>
          </a:bodyPr>
          <a:lstStyle/>
          <a:p>
            <a:pPr algn="l">
              <a:lnSpc>
                <a:spcPts val="2270"/>
              </a:lnSpc>
              <a:spcBef>
                <a:spcPts val="0"/>
              </a:spcBef>
              <a:spcAft>
                <a:spcPts val="800"/>
              </a:spcAft>
              <a:buNone/>
            </a:pPr>
            <a:r>
              <a:rPr lang="ko-KR" altLang="en-US" sz="1600" b="1" dirty="0">
                <a:solidFill>
                  <a:srgbClr val="FFE98A"/>
                </a:solidFill>
                <a:latin typeface="맑은 고딕"/>
                <a:ea typeface="맑은 고딕"/>
                <a:cs typeface="맑은 고딕"/>
              </a:rPr>
              <a:t>PART 1  5지선다     </a:t>
            </a:r>
            <a:r>
              <a:rPr lang="ko-KR" altLang="en-US" sz="1600" b="0" dirty="0">
                <a:solidFill>
                  <a:srgbClr val="FFFFFF"/>
                </a:solidFill>
                <a:latin typeface="맑은 고딕"/>
                <a:ea typeface="맑은 고딕"/>
                <a:cs typeface="맑은 고딕"/>
              </a:rPr>
              <a:t>클릭 ① 정답  →  클릭 ② 본문 근거 형광 + 정답 원리</a:t>
            </a:r>
            <a:endParaRPr lang="ko-KR" altLang="en-US" sz="1600" b="0" dirty="0">
              <a:solidFill>
                <a:srgbClr val="FFFFFF"/>
              </a:solidFill>
              <a:latin typeface="맑은 고딕"/>
              <a:ea typeface="맑은 고딕"/>
              <a:cs typeface="맑은 고딕"/>
            </a:endParaRPr>
          </a:p>
          <a:p>
            <a:pPr algn="l">
              <a:lnSpc>
                <a:spcPts val="2270"/>
              </a:lnSpc>
              <a:spcBef>
                <a:spcPts val="0"/>
              </a:spcBef>
              <a:spcAft>
                <a:spcPts val="800"/>
              </a:spcAft>
              <a:buNone/>
            </a:pPr>
            <a:r>
              <a:rPr lang="ko-KR" altLang="en-US" sz="1600" b="1" dirty="0">
                <a:solidFill>
                  <a:srgbClr val="FFE98A"/>
                </a:solidFill>
                <a:latin typeface="맑은 고딕"/>
                <a:ea typeface="맑은 고딕"/>
                <a:cs typeface="맑은 고딕"/>
              </a:rPr>
              <a:t>PART 2  순서·위치     </a:t>
            </a:r>
            <a:r>
              <a:rPr lang="ko-KR" altLang="en-US" sz="1600" b="0" dirty="0">
                <a:solidFill>
                  <a:srgbClr val="FFFFFF"/>
                </a:solidFill>
                <a:latin typeface="맑은 고딕"/>
                <a:ea typeface="맑은 고딕"/>
                <a:cs typeface="맑은 고딕"/>
              </a:rPr>
              <a:t>클릭 ① 정답  →  클릭 ② 정답 원리</a:t>
            </a:r>
            <a:endParaRPr lang="ko-KR" altLang="en-US" sz="1600" b="0" dirty="0">
              <a:solidFill>
                <a:srgbClr val="FFFFFF"/>
              </a:solidFill>
              <a:latin typeface="맑은 고딕"/>
              <a:ea typeface="맑은 고딕"/>
              <a:cs typeface="맑은 고딕"/>
            </a:endParaRPr>
          </a:p>
          <a:p>
            <a:pPr algn="l">
              <a:lnSpc>
                <a:spcPts val="2270"/>
              </a:lnSpc>
              <a:spcBef>
                <a:spcPts val="0"/>
              </a:spcBef>
              <a:spcAft>
                <a:spcPts val="800"/>
              </a:spcAft>
              <a:buNone/>
            </a:pPr>
            <a:r>
              <a:rPr lang="ko-KR" altLang="en-US" sz="1600" b="1" dirty="0">
                <a:solidFill>
                  <a:srgbClr val="FFE98A"/>
                </a:solidFill>
                <a:latin typeface="맑은 고딕"/>
                <a:ea typeface="맑은 고딕"/>
                <a:cs typeface="맑은 고딕"/>
              </a:rPr>
              <a:t>PART 3  어법·어휘     </a:t>
            </a:r>
            <a:r>
              <a:rPr lang="ko-KR" altLang="en-US" sz="1600" b="0" dirty="0">
                <a:solidFill>
                  <a:srgbClr val="FFFFFF"/>
                </a:solidFill>
                <a:latin typeface="맑은 고딕"/>
                <a:ea typeface="맑은 고딕"/>
                <a:cs typeface="맑은 고딕"/>
              </a:rPr>
              <a:t>본문 속 괄호마다, 클릭할 때마다 정답이 빨간색으로</a:t>
            </a:r>
            <a:endParaRPr lang="ko-KR" altLang="en-US" sz="1600" b="0" dirty="0">
              <a:solidFill>
                <a:srgbClr val="FFFFFF"/>
              </a:solidFill>
              <a:latin typeface="맑은 고딕"/>
              <a:ea typeface="맑은 고딕"/>
              <a:cs typeface="맑은 고딕"/>
            </a:endParaRPr>
          </a:p>
        </p:txBody>
      </p:sp>
    </p:spTree>
  </p:cSld>
  <p:clrMapOvr>
    <a:masterClrMapping/>
  </p:clrMapOvr>
</p:sld>
</file>

<file path=ppt/slides/slide2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L8-1</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1 · 1</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1. 다음 글의 주제로 가장 적절한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8</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본문 근거 형광 + 정답 원리</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162687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1626870"/>
          </a:xfrm>
          <a:prstGeom prst="rect">
            <a:avLst/>
          </a:prstGeom>
          <a:noFill/>
        </p:spPr>
        <p:txBody>
          <a:bodyPr wrap="square" lIns="201168" tIns="118872" rIns="201168" bIns="118872" anchor="t" rtlCol="0">
            <a:noAutofit/>
          </a:bodyPr>
          <a:lstStyle/>
          <a:p>
            <a:pPr algn="just">
              <a:lnSpc>
                <a:spcPts val="2130"/>
              </a:lnSpc>
              <a:spcBef>
                <a:spcPts val="0"/>
              </a:spcBef>
              <a:spcAft>
                <a:spcPts val="0"/>
              </a:spcAft>
              <a:buNone/>
            </a:pPr>
            <a:r>
              <a:rPr lang="en-US" altLang="ko-KR" sz="1500" b="0" dirty="0">
                <a:solidFill>
                  <a:srgbClr val="1F2328"/>
                </a:solidFill>
                <a:latin typeface="Calibri"/>
                <a:ea typeface="맑은 고딕"/>
                <a:cs typeface="Calibri"/>
              </a:rPr>
              <a:t>Look at the painting on the right. Do you see the Chinese character, hyo (孝)? Do you also see a carp, a geomungo, and a fan? </a:t>
            </a:r>
            <a:r>
              <a:rPr lang="en-US" altLang="ko-KR" sz="1500" b="0" dirty="0">
                <a:solidFill>
                  <a:srgbClr val="1F2328"/>
                </a:solidFill>
                <a:latin typeface="Calibri"/>
                <a:ea typeface="맑은 고딕"/>
                <a:cs typeface="Calibri"/>
              </a:rPr>
              <a:t>This kind of painting is called Munjado, and it is a type of folk painting that was popular in the late Joseon dynasty.</a:t>
            </a:r>
            <a:r>
              <a:rPr lang="en-US" altLang="ko-KR" sz="1500" b="0" dirty="0">
                <a:solidFill>
                  <a:srgbClr val="1F2328"/>
                </a:solidFill>
                <a:latin typeface="Calibri"/>
                <a:ea typeface="맑은 고딕"/>
                <a:cs typeface="Calibri"/>
              </a:rPr>
              <a:t> In Munjado, there is usually a Chinese character with some animals or objects. One of eight Chinese characters appears in Munjado. They are hyo (孝), je (悌), chung (忠), sin (信), ye (禮), ui (義), yeom (廉), and chi (恥), and </a:t>
            </a:r>
            <a:r>
              <a:rPr lang="en-US" altLang="ko-KR" sz="1500" b="0" dirty="0">
                <a:solidFill>
                  <a:srgbClr val="1F2328"/>
                </a:solidFill>
                <a:latin typeface="Calibri"/>
                <a:ea typeface="맑은 고딕"/>
                <a:cs typeface="Calibri"/>
              </a:rPr>
              <a:t>they represent the values</a:t>
            </a:r>
            <a:r>
              <a:rPr lang="en-US" altLang="ko-KR" sz="1500" b="0" dirty="0">
                <a:solidFill>
                  <a:srgbClr val="1F2328"/>
                </a:solidFill>
                <a:latin typeface="Calibri"/>
                <a:ea typeface="맑은 고딕"/>
                <a:cs typeface="Calibri"/>
              </a:rPr>
              <a:t> that were important to people of the Joseon dynasty.</a:t>
            </a:r>
            <a:endParaRPr lang="en-US" altLang="ko-KR" sz="1500" b="0" dirty="0">
              <a:solidFill>
                <a:srgbClr val="1F2328"/>
              </a:solidFill>
              <a:latin typeface="Calibri"/>
              <a:ea typeface="맑은 고딕"/>
              <a:cs typeface="Calibri"/>
            </a:endParaRPr>
          </a:p>
        </p:txBody>
      </p:sp>
      <p:sp>
        <p:nvSpPr>
          <p:cNvPr id="9" name="rv_evidence_card"/>
          <p:cNvSpPr/>
          <p:nvPr/>
        </p:nvSpPr>
        <p:spPr>
          <a:xfrm>
            <a:off x="457200" y="950976"/>
            <a:ext cx="11277295" cy="162687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rv_evidence"/>
          <p:cNvSpPr txBox="1"/>
          <p:nvPr/>
        </p:nvSpPr>
        <p:spPr>
          <a:xfrm>
            <a:off x="457200" y="950976"/>
            <a:ext cx="11277295" cy="1626870"/>
          </a:xfrm>
          <a:prstGeom prst="rect">
            <a:avLst/>
          </a:prstGeom>
          <a:noFill/>
        </p:spPr>
        <p:txBody>
          <a:bodyPr wrap="square" lIns="201168" tIns="118872" rIns="201168" bIns="118872" anchor="t" rtlCol="0">
            <a:noAutofit/>
          </a:bodyPr>
          <a:lstStyle/>
          <a:p>
            <a:pPr algn="just">
              <a:lnSpc>
                <a:spcPts val="2130"/>
              </a:lnSpc>
              <a:spcBef>
                <a:spcPts val="0"/>
              </a:spcBef>
              <a:spcAft>
                <a:spcPts val="0"/>
              </a:spcAft>
              <a:buNone/>
            </a:pPr>
            <a:r>
              <a:rPr lang="en-US" altLang="ko-KR" sz="1500" b="0" dirty="0">
                <a:solidFill>
                  <a:srgbClr val="B3BAC6"/>
                </a:solidFill>
                <a:latin typeface="Calibri"/>
                <a:ea typeface="맑은 고딕"/>
                <a:cs typeface="Calibri"/>
              </a:rPr>
              <a:t>Look at the painting on the right. Do you see the Chinese character, hyo (孝)? Do you also see a carp, a geomungo, and a fan? </a:t>
            </a:r>
            <a:r>
              <a:rPr lang="en-US" altLang="ko-KR" sz="1500" b="0" dirty="0">
                <a:solidFill>
                  <a:srgbClr val="111111"/>
                </a:solidFill>
                <a:highlight>
                  <a:srgbClr val="FFE45C"/>
                </a:highlight>
                <a:latin typeface="Calibri"/>
                <a:ea typeface="맑은 고딕"/>
                <a:cs typeface="Calibri"/>
              </a:rPr>
              <a:t>This kind of painting is called Munjado, and it is a type of folk painting that was popular in the late Joseon dynasty.</a:t>
            </a:r>
            <a:r>
              <a:rPr lang="en-US" altLang="ko-KR" sz="1500" b="0" dirty="0">
                <a:solidFill>
                  <a:srgbClr val="B3BAC6"/>
                </a:solidFill>
                <a:latin typeface="Calibri"/>
                <a:ea typeface="맑은 고딕"/>
                <a:cs typeface="Calibri"/>
              </a:rPr>
              <a:t> In Munjado, there is usually a Chinese character with some animals or objects. One of eight Chinese characters appears in Munjado. They are hyo (孝), je (悌), chung (忠), sin (信), ye (禮), ui (義), yeom (廉), and chi (恥), and </a:t>
            </a:r>
            <a:r>
              <a:rPr lang="en-US" altLang="ko-KR" sz="1500" b="0" dirty="0">
                <a:solidFill>
                  <a:srgbClr val="111111"/>
                </a:solidFill>
                <a:highlight>
                  <a:srgbClr val="FFE45C"/>
                </a:highlight>
                <a:latin typeface="Calibri"/>
                <a:ea typeface="맑은 고딕"/>
                <a:cs typeface="Calibri"/>
              </a:rPr>
              <a:t>they represent the values</a:t>
            </a:r>
            <a:r>
              <a:rPr lang="en-US" altLang="ko-KR" sz="1500" b="0" dirty="0">
                <a:solidFill>
                  <a:srgbClr val="B3BAC6"/>
                </a:solidFill>
                <a:latin typeface="Calibri"/>
                <a:ea typeface="맑은 고딕"/>
                <a:cs typeface="Calibri"/>
              </a:rPr>
              <a:t> that were important to people of the Joseon dynasty.</a:t>
            </a:r>
            <a:endParaRPr lang="en-US" altLang="ko-KR" sz="1500" b="0" dirty="0">
              <a:solidFill>
                <a:srgbClr val="B3BAC6"/>
              </a:solidFill>
              <a:latin typeface="Calibri"/>
              <a:ea typeface="맑은 고딕"/>
              <a:cs typeface="Calibri"/>
            </a:endParaRPr>
          </a:p>
        </p:txBody>
      </p:sp>
      <p:sp>
        <p:nvSpPr>
          <p:cNvPr id="11" name="choice_1"/>
          <p:cNvSpPr txBox="1"/>
          <p:nvPr/>
        </p:nvSpPr>
        <p:spPr>
          <a:xfrm>
            <a:off x="457200" y="2724150"/>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①</a:t>
            </a:r>
            <a:r>
              <a:rPr lang="en-US" altLang="ko-KR" sz="1800" b="0" dirty="0">
                <a:solidFill>
                  <a:srgbClr val="1F2328"/>
                </a:solidFill>
                <a:latin typeface="Calibri"/>
                <a:ea typeface="맑은 고딕"/>
                <a:cs typeface="Calibri"/>
              </a:rPr>
              <a:t>	the history of Chinese characters</a:t>
            </a:r>
            <a:endParaRPr lang="en-US" altLang="ko-KR" sz="1800" b="0" dirty="0">
              <a:solidFill>
                <a:srgbClr val="1F2328"/>
              </a:solidFill>
              <a:latin typeface="Calibri"/>
              <a:ea typeface="맑은 고딕"/>
              <a:cs typeface="Calibri"/>
            </a:endParaRPr>
          </a:p>
        </p:txBody>
      </p:sp>
      <p:sp>
        <p:nvSpPr>
          <p:cNvPr id="12" name="choice_2"/>
          <p:cNvSpPr txBox="1"/>
          <p:nvPr/>
        </p:nvSpPr>
        <p:spPr>
          <a:xfrm>
            <a:off x="457200" y="3131566"/>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②</a:t>
            </a:r>
            <a:r>
              <a:rPr lang="en-US" altLang="ko-KR" sz="1800" b="0" dirty="0">
                <a:solidFill>
                  <a:srgbClr val="1F2328"/>
                </a:solidFill>
                <a:latin typeface="Calibri"/>
                <a:ea typeface="맑은 고딕"/>
                <a:cs typeface="Calibri"/>
              </a:rPr>
              <a:t>	the tools used to make folk art</a:t>
            </a:r>
            <a:endParaRPr lang="en-US" altLang="ko-KR" sz="1800" b="0" dirty="0">
              <a:solidFill>
                <a:srgbClr val="1F2328"/>
              </a:solidFill>
              <a:latin typeface="Calibri"/>
              <a:ea typeface="맑은 고딕"/>
              <a:cs typeface="Calibri"/>
            </a:endParaRPr>
          </a:p>
        </p:txBody>
      </p:sp>
      <p:sp>
        <p:nvSpPr>
          <p:cNvPr id="13" name="choice_3"/>
          <p:cNvSpPr txBox="1"/>
          <p:nvPr/>
        </p:nvSpPr>
        <p:spPr>
          <a:xfrm>
            <a:off x="457200" y="3538982"/>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③</a:t>
            </a:r>
            <a:r>
              <a:rPr lang="en-US" altLang="ko-KR" sz="1800" b="0" dirty="0">
                <a:solidFill>
                  <a:srgbClr val="1F2328"/>
                </a:solidFill>
                <a:latin typeface="Calibri"/>
                <a:ea typeface="맑은 고딕"/>
                <a:cs typeface="Calibri"/>
              </a:rPr>
              <a:t>	the life of painters in Joseon</a:t>
            </a:r>
            <a:endParaRPr lang="en-US" altLang="ko-KR" sz="1800" b="0" dirty="0">
              <a:solidFill>
                <a:srgbClr val="1F2328"/>
              </a:solidFill>
              <a:latin typeface="Calibri"/>
              <a:ea typeface="맑은 고딕"/>
              <a:cs typeface="Calibri"/>
            </a:endParaRPr>
          </a:p>
        </p:txBody>
      </p:sp>
      <p:sp>
        <p:nvSpPr>
          <p:cNvPr id="14" name="choice_4"/>
          <p:cNvSpPr txBox="1"/>
          <p:nvPr/>
        </p:nvSpPr>
        <p:spPr>
          <a:xfrm>
            <a:off x="457200" y="3946398"/>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④</a:t>
            </a:r>
            <a:r>
              <a:rPr lang="en-US" altLang="ko-KR" sz="1800" b="0" dirty="0">
                <a:solidFill>
                  <a:srgbClr val="1F2328"/>
                </a:solidFill>
                <a:latin typeface="Calibri"/>
                <a:ea typeface="맑은 고딕"/>
                <a:cs typeface="Calibri"/>
              </a:rPr>
              <a:t>	the reasons fans were popular</a:t>
            </a:r>
            <a:endParaRPr lang="en-US" altLang="ko-KR" sz="1800" b="0" dirty="0">
              <a:solidFill>
                <a:srgbClr val="1F2328"/>
              </a:solidFill>
              <a:latin typeface="Calibri"/>
              <a:ea typeface="맑은 고딕"/>
              <a:cs typeface="Calibri"/>
            </a:endParaRPr>
          </a:p>
        </p:txBody>
      </p:sp>
      <p:sp>
        <p:nvSpPr>
          <p:cNvPr id="15" name="choice_5"/>
          <p:cNvSpPr txBox="1"/>
          <p:nvPr/>
        </p:nvSpPr>
        <p:spPr>
          <a:xfrm>
            <a:off x="457200" y="4353814"/>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⑤</a:t>
            </a:r>
            <a:r>
              <a:rPr lang="en-US" altLang="ko-KR" sz="1800" b="0" dirty="0">
                <a:solidFill>
                  <a:srgbClr val="1F2328"/>
                </a:solidFill>
                <a:latin typeface="Calibri"/>
                <a:ea typeface="맑은 고딕"/>
                <a:cs typeface="Calibri"/>
              </a:rPr>
              <a:t>	the meaning and features of Munjado</a:t>
            </a:r>
            <a:endParaRPr lang="en-US" altLang="ko-KR" sz="1800" b="0" dirty="0">
              <a:solidFill>
                <a:srgbClr val="1F2328"/>
              </a:solidFill>
              <a:latin typeface="Calibri"/>
              <a:ea typeface="맑은 고딕"/>
              <a:cs typeface="Calibri"/>
            </a:endParaRPr>
          </a:p>
        </p:txBody>
      </p:sp>
      <p:sp>
        <p:nvSpPr>
          <p:cNvPr id="16" name="rv_pick"/>
          <p:cNvSpPr txBox="1"/>
          <p:nvPr/>
        </p:nvSpPr>
        <p:spPr>
          <a:xfrm>
            <a:off x="457200" y="4353814"/>
            <a:ext cx="11277295" cy="379984"/>
          </a:xfrm>
          <a:prstGeom prst="rect">
            <a:avLst/>
          </a:prstGeom>
          <a:solidFill>
            <a:srgbClr val="FFF3C4"/>
          </a:solid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C00000"/>
                </a:solidFill>
                <a:latin typeface="맑은 고딕"/>
                <a:ea typeface="맑은 고딕"/>
                <a:cs typeface="맑은 고딕"/>
              </a:rPr>
              <a:t>⑤</a:t>
            </a:r>
            <a:r>
              <a:rPr lang="en-US" altLang="ko-KR" sz="1800" b="0" dirty="0">
                <a:solidFill>
                  <a:srgbClr val="C00000"/>
                </a:solidFill>
                <a:latin typeface="Calibri"/>
                <a:ea typeface="맑은 고딕"/>
                <a:cs typeface="Calibri"/>
              </a:rPr>
              <a:t>	the meaning and features of Munjado</a:t>
            </a:r>
            <a:endParaRPr lang="en-US" altLang="ko-KR" sz="1800" b="0" dirty="0">
              <a:solidFill>
                <a:srgbClr val="C00000"/>
              </a:solidFill>
              <a:latin typeface="Calibri"/>
              <a:ea typeface="맑은 고딕"/>
              <a:cs typeface="Calibri"/>
            </a:endParaRPr>
          </a:p>
        </p:txBody>
      </p:sp>
      <p:sp>
        <p:nvSpPr>
          <p:cNvPr id="17" name="rv_answer"/>
          <p:cNvSpPr/>
          <p:nvPr/>
        </p:nvSpPr>
        <p:spPr>
          <a:xfrm>
            <a:off x="457200" y="484352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⑤ </a:t>
            </a:r>
            <a:r>
              <a:rPr lang="en-US" altLang="ko-KR" sz="1900" b="1" dirty="0">
                <a:solidFill>
                  <a:srgbClr val="5A4200"/>
                </a:solidFill>
                <a:latin typeface="Calibri"/>
                <a:ea typeface="맑은 고딕"/>
                <a:cs typeface="Calibri"/>
              </a:rPr>
              <a:t>the meaning and features of Munjado</a:t>
            </a:r>
            <a:endParaRPr lang="en-US" altLang="ko-KR" sz="1900" b="1" dirty="0">
              <a:solidFill>
                <a:srgbClr val="5A4200"/>
              </a:solidFill>
              <a:latin typeface="Calibri"/>
              <a:ea typeface="맑은 고딕"/>
              <a:cs typeface="Calibri"/>
            </a:endParaRPr>
          </a:p>
        </p:txBody>
      </p:sp>
      <p:sp>
        <p:nvSpPr>
          <p:cNvPr id="18" name="rv_why"/>
          <p:cNvSpPr/>
          <p:nvPr/>
        </p:nvSpPr>
        <p:spPr>
          <a:xfrm>
            <a:off x="457200" y="5442458"/>
            <a:ext cx="11277295" cy="97662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문자도가 어떤 그림이며 그 속 한자가 조선 사람들의 가치를 나타낸다고 설명한다. 정답은 ⑤이다.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250"/>
                                        <p:tgtEl>
                                          <p:spTgt spid="1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25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25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7" grpId="0" animBg="1"/>
      <p:bldP spid="9" grpId="0" animBg="1"/>
      <p:bldP spid="10" grpId="0" animBg="1"/>
      <p:bldP spid="18" grpId="0" animBg="1"/>
    </p:bldLst>
  </p:timing>
</p:sld>
</file>

<file path=ppt/slides/slide2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L8-1</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1 · 2</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2. 다음 글의 제목으로 가장 적절한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8</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본문 근거 형광 + 정답 원리</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162687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1626870"/>
          </a:xfrm>
          <a:prstGeom prst="rect">
            <a:avLst/>
          </a:prstGeom>
          <a:noFill/>
        </p:spPr>
        <p:txBody>
          <a:bodyPr wrap="square" lIns="201168" tIns="118872" rIns="201168" bIns="118872" anchor="t" rtlCol="0">
            <a:noAutofit/>
          </a:bodyPr>
          <a:lstStyle/>
          <a:p>
            <a:pPr algn="just">
              <a:lnSpc>
                <a:spcPts val="2130"/>
              </a:lnSpc>
              <a:spcBef>
                <a:spcPts val="0"/>
              </a:spcBef>
              <a:spcAft>
                <a:spcPts val="0"/>
              </a:spcAft>
              <a:buNone/>
            </a:pPr>
            <a:r>
              <a:rPr lang="en-US" altLang="ko-KR" sz="1500" b="0" dirty="0">
                <a:solidFill>
                  <a:srgbClr val="1F2328"/>
                </a:solidFill>
                <a:latin typeface="Calibri"/>
                <a:ea typeface="맑은 고딕"/>
                <a:cs typeface="Calibri"/>
              </a:rPr>
              <a:t>Look at the painting on the right. Do you see the Chinese character, hyo (孝)? Do you also see a carp, a geomungo, and a fan? This kind of painting is called Munjado, and it is a type of folk painting that was popular in the late Joseon dynasty. In Munjado, there is usually a Chinese character with some animals or objects. One of eight Chinese characters appears in Munjado. They are hyo (孝), je (悌), chung (忠), sin (信), ye (禮), ui (義), yeom (廉), and chi (恥), and </a:t>
            </a:r>
            <a:r>
              <a:rPr lang="en-US" altLang="ko-KR" sz="1500" b="0" dirty="0">
                <a:solidFill>
                  <a:srgbClr val="1F2328"/>
                </a:solidFill>
                <a:latin typeface="Calibri"/>
                <a:ea typeface="맑은 고딕"/>
                <a:cs typeface="Calibri"/>
              </a:rPr>
              <a:t>they represent the values that were important</a:t>
            </a:r>
            <a:r>
              <a:rPr lang="en-US" altLang="ko-KR" sz="1500" b="0" dirty="0">
                <a:solidFill>
                  <a:srgbClr val="1F2328"/>
                </a:solidFill>
                <a:latin typeface="Calibri"/>
                <a:ea typeface="맑은 고딕"/>
                <a:cs typeface="Calibri"/>
              </a:rPr>
              <a:t> to people of the Joseon dynasty.</a:t>
            </a:r>
            <a:endParaRPr lang="en-US" altLang="ko-KR" sz="1500" b="0" dirty="0">
              <a:solidFill>
                <a:srgbClr val="1F2328"/>
              </a:solidFill>
              <a:latin typeface="Calibri"/>
              <a:ea typeface="맑은 고딕"/>
              <a:cs typeface="Calibri"/>
            </a:endParaRPr>
          </a:p>
        </p:txBody>
      </p:sp>
      <p:sp>
        <p:nvSpPr>
          <p:cNvPr id="9" name="rv_evidence_card"/>
          <p:cNvSpPr/>
          <p:nvPr/>
        </p:nvSpPr>
        <p:spPr>
          <a:xfrm>
            <a:off x="457200" y="950976"/>
            <a:ext cx="11277295" cy="162687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rv_evidence"/>
          <p:cNvSpPr txBox="1"/>
          <p:nvPr/>
        </p:nvSpPr>
        <p:spPr>
          <a:xfrm>
            <a:off x="457200" y="950976"/>
            <a:ext cx="11277295" cy="1626870"/>
          </a:xfrm>
          <a:prstGeom prst="rect">
            <a:avLst/>
          </a:prstGeom>
          <a:noFill/>
        </p:spPr>
        <p:txBody>
          <a:bodyPr wrap="square" lIns="201168" tIns="118872" rIns="201168" bIns="118872" anchor="t" rtlCol="0">
            <a:noAutofit/>
          </a:bodyPr>
          <a:lstStyle/>
          <a:p>
            <a:pPr algn="just">
              <a:lnSpc>
                <a:spcPts val="2130"/>
              </a:lnSpc>
              <a:spcBef>
                <a:spcPts val="0"/>
              </a:spcBef>
              <a:spcAft>
                <a:spcPts val="0"/>
              </a:spcAft>
              <a:buNone/>
            </a:pPr>
            <a:r>
              <a:rPr lang="en-US" altLang="ko-KR" sz="1500" b="0" dirty="0">
                <a:solidFill>
                  <a:srgbClr val="B3BAC6"/>
                </a:solidFill>
                <a:latin typeface="Calibri"/>
                <a:ea typeface="맑은 고딕"/>
                <a:cs typeface="Calibri"/>
              </a:rPr>
              <a:t>Look at the painting on the right. Do you see the Chinese character, hyo (孝)? Do you also see a carp, a geomungo, and a fan? This kind of painting is called Munjado, and it is a type of folk painting that was popular in the late Joseon dynasty. In Munjado, there is usually a Chinese character with some animals or objects. One of eight Chinese characters appears in Munjado. They are hyo (孝), je (悌), chung (忠), sin (信), ye (禮), ui (義), yeom (廉), and chi (恥), and </a:t>
            </a:r>
            <a:r>
              <a:rPr lang="en-US" altLang="ko-KR" sz="1500" b="0" dirty="0">
                <a:solidFill>
                  <a:srgbClr val="111111"/>
                </a:solidFill>
                <a:highlight>
                  <a:srgbClr val="FFE45C"/>
                </a:highlight>
                <a:latin typeface="Calibri"/>
                <a:ea typeface="맑은 고딕"/>
                <a:cs typeface="Calibri"/>
              </a:rPr>
              <a:t>they represent the values that were important</a:t>
            </a:r>
            <a:r>
              <a:rPr lang="en-US" altLang="ko-KR" sz="1500" b="0" dirty="0">
                <a:solidFill>
                  <a:srgbClr val="B3BAC6"/>
                </a:solidFill>
                <a:latin typeface="Calibri"/>
                <a:ea typeface="맑은 고딕"/>
                <a:cs typeface="Calibri"/>
              </a:rPr>
              <a:t> to people of the Joseon dynasty.</a:t>
            </a:r>
            <a:endParaRPr lang="en-US" altLang="ko-KR" sz="1500" b="0" dirty="0">
              <a:solidFill>
                <a:srgbClr val="B3BAC6"/>
              </a:solidFill>
              <a:latin typeface="Calibri"/>
              <a:ea typeface="맑은 고딕"/>
              <a:cs typeface="Calibri"/>
            </a:endParaRPr>
          </a:p>
        </p:txBody>
      </p:sp>
      <p:sp>
        <p:nvSpPr>
          <p:cNvPr id="11" name="choice_1"/>
          <p:cNvSpPr txBox="1"/>
          <p:nvPr/>
        </p:nvSpPr>
        <p:spPr>
          <a:xfrm>
            <a:off x="457200" y="2724150"/>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①</a:t>
            </a:r>
            <a:r>
              <a:rPr lang="en-US" altLang="ko-KR" sz="1800" b="0" dirty="0">
                <a:solidFill>
                  <a:srgbClr val="1F2328"/>
                </a:solidFill>
                <a:latin typeface="Calibri"/>
                <a:ea typeface="맑은 고딕"/>
                <a:cs typeface="Calibri"/>
              </a:rPr>
              <a:t>	Munjado: Characters with Values</a:t>
            </a:r>
            <a:endParaRPr lang="en-US" altLang="ko-KR" sz="1800" b="0" dirty="0">
              <a:solidFill>
                <a:srgbClr val="1F2328"/>
              </a:solidFill>
              <a:latin typeface="Calibri"/>
              <a:ea typeface="맑은 고딕"/>
              <a:cs typeface="Calibri"/>
            </a:endParaRPr>
          </a:p>
        </p:txBody>
      </p:sp>
      <p:sp>
        <p:nvSpPr>
          <p:cNvPr id="12" name="rv_pick"/>
          <p:cNvSpPr txBox="1"/>
          <p:nvPr/>
        </p:nvSpPr>
        <p:spPr>
          <a:xfrm>
            <a:off x="457200" y="2724150"/>
            <a:ext cx="11277295" cy="379984"/>
          </a:xfrm>
          <a:prstGeom prst="rect">
            <a:avLst/>
          </a:prstGeom>
          <a:solidFill>
            <a:srgbClr val="FFF3C4"/>
          </a:solid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C00000"/>
                </a:solidFill>
                <a:latin typeface="맑은 고딕"/>
                <a:ea typeface="맑은 고딕"/>
                <a:cs typeface="맑은 고딕"/>
              </a:rPr>
              <a:t>①</a:t>
            </a:r>
            <a:r>
              <a:rPr lang="en-US" altLang="ko-KR" sz="1800" b="0" dirty="0">
                <a:solidFill>
                  <a:srgbClr val="C00000"/>
                </a:solidFill>
                <a:latin typeface="Calibri"/>
                <a:ea typeface="맑은 고딕"/>
                <a:cs typeface="Calibri"/>
              </a:rPr>
              <a:t>	Munjado: Characters with Values</a:t>
            </a:r>
            <a:endParaRPr lang="en-US" altLang="ko-KR" sz="1800" b="0" dirty="0">
              <a:solidFill>
                <a:srgbClr val="C00000"/>
              </a:solidFill>
              <a:latin typeface="Calibri"/>
              <a:ea typeface="맑은 고딕"/>
              <a:cs typeface="Calibri"/>
            </a:endParaRPr>
          </a:p>
        </p:txBody>
      </p:sp>
      <p:sp>
        <p:nvSpPr>
          <p:cNvPr id="13" name="choice_2"/>
          <p:cNvSpPr txBox="1"/>
          <p:nvPr/>
        </p:nvSpPr>
        <p:spPr>
          <a:xfrm>
            <a:off x="457200" y="3131566"/>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②</a:t>
            </a:r>
            <a:r>
              <a:rPr lang="en-US" altLang="ko-KR" sz="1800" b="0" dirty="0">
                <a:solidFill>
                  <a:srgbClr val="1F2328"/>
                </a:solidFill>
                <a:latin typeface="Calibri"/>
                <a:ea typeface="맑은 고딕"/>
                <a:cs typeface="Calibri"/>
              </a:rPr>
              <a:t>	How to Write Chinese Characters</a:t>
            </a:r>
            <a:endParaRPr lang="en-US" altLang="ko-KR" sz="1800" b="0" dirty="0">
              <a:solidFill>
                <a:srgbClr val="1F2328"/>
              </a:solidFill>
              <a:latin typeface="Calibri"/>
              <a:ea typeface="맑은 고딕"/>
              <a:cs typeface="Calibri"/>
            </a:endParaRPr>
          </a:p>
        </p:txBody>
      </p:sp>
      <p:sp>
        <p:nvSpPr>
          <p:cNvPr id="14" name="choice_3"/>
          <p:cNvSpPr txBox="1"/>
          <p:nvPr/>
        </p:nvSpPr>
        <p:spPr>
          <a:xfrm>
            <a:off x="457200" y="3538982"/>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③</a:t>
            </a:r>
            <a:r>
              <a:rPr lang="en-US" altLang="ko-KR" sz="1800" b="0" dirty="0">
                <a:solidFill>
                  <a:srgbClr val="1F2328"/>
                </a:solidFill>
                <a:latin typeface="Calibri"/>
                <a:ea typeface="맑은 고딕"/>
                <a:cs typeface="Calibri"/>
              </a:rPr>
              <a:t>	Famous Painters of Joseon</a:t>
            </a:r>
            <a:endParaRPr lang="en-US" altLang="ko-KR" sz="1800" b="0" dirty="0">
              <a:solidFill>
                <a:srgbClr val="1F2328"/>
              </a:solidFill>
              <a:latin typeface="Calibri"/>
              <a:ea typeface="맑은 고딕"/>
              <a:cs typeface="Calibri"/>
            </a:endParaRPr>
          </a:p>
        </p:txBody>
      </p:sp>
      <p:sp>
        <p:nvSpPr>
          <p:cNvPr id="15" name="choice_4"/>
          <p:cNvSpPr txBox="1"/>
          <p:nvPr/>
        </p:nvSpPr>
        <p:spPr>
          <a:xfrm>
            <a:off x="457200" y="3946398"/>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④</a:t>
            </a:r>
            <a:r>
              <a:rPr lang="en-US" altLang="ko-KR" sz="1800" b="0" dirty="0">
                <a:solidFill>
                  <a:srgbClr val="1F2328"/>
                </a:solidFill>
                <a:latin typeface="Calibri"/>
                <a:ea typeface="맑은 고딕"/>
                <a:cs typeface="Calibri"/>
              </a:rPr>
              <a:t>	Animals Loved by Joseon People</a:t>
            </a:r>
            <a:endParaRPr lang="en-US" altLang="ko-KR" sz="1800" b="0" dirty="0">
              <a:solidFill>
                <a:srgbClr val="1F2328"/>
              </a:solidFill>
              <a:latin typeface="Calibri"/>
              <a:ea typeface="맑은 고딕"/>
              <a:cs typeface="Calibri"/>
            </a:endParaRPr>
          </a:p>
        </p:txBody>
      </p:sp>
      <p:sp>
        <p:nvSpPr>
          <p:cNvPr id="16" name="choice_5"/>
          <p:cNvSpPr txBox="1"/>
          <p:nvPr/>
        </p:nvSpPr>
        <p:spPr>
          <a:xfrm>
            <a:off x="457200" y="4353814"/>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⑤</a:t>
            </a:r>
            <a:r>
              <a:rPr lang="en-US" altLang="ko-KR" sz="1800" b="0" dirty="0">
                <a:solidFill>
                  <a:srgbClr val="1F2328"/>
                </a:solidFill>
                <a:latin typeface="Calibri"/>
                <a:ea typeface="맑은 고딕"/>
                <a:cs typeface="Calibri"/>
              </a:rPr>
              <a:t>	Folk Music in the Late Joseon</a:t>
            </a:r>
            <a:endParaRPr lang="en-US" altLang="ko-KR" sz="1800" b="0" dirty="0">
              <a:solidFill>
                <a:srgbClr val="1F2328"/>
              </a:solidFill>
              <a:latin typeface="Calibri"/>
              <a:ea typeface="맑은 고딕"/>
              <a:cs typeface="Calibri"/>
            </a:endParaRPr>
          </a:p>
        </p:txBody>
      </p:sp>
      <p:sp>
        <p:nvSpPr>
          <p:cNvPr id="17" name="rv_answer"/>
          <p:cNvSpPr/>
          <p:nvPr/>
        </p:nvSpPr>
        <p:spPr>
          <a:xfrm>
            <a:off x="457200" y="484352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① </a:t>
            </a:r>
            <a:r>
              <a:rPr lang="en-US" altLang="ko-KR" sz="1900" b="1" dirty="0">
                <a:solidFill>
                  <a:srgbClr val="5A4200"/>
                </a:solidFill>
                <a:latin typeface="Calibri"/>
                <a:ea typeface="맑은 고딕"/>
                <a:cs typeface="Calibri"/>
              </a:rPr>
              <a:t>Munjado: Characters with Values</a:t>
            </a:r>
            <a:endParaRPr lang="en-US" altLang="ko-KR" sz="1900" b="1" dirty="0">
              <a:solidFill>
                <a:srgbClr val="5A4200"/>
              </a:solidFill>
              <a:latin typeface="Calibri"/>
              <a:ea typeface="맑은 고딕"/>
              <a:cs typeface="Calibri"/>
            </a:endParaRPr>
          </a:p>
        </p:txBody>
      </p:sp>
      <p:sp>
        <p:nvSpPr>
          <p:cNvPr id="18" name="rv_why"/>
          <p:cNvSpPr/>
          <p:nvPr/>
        </p:nvSpPr>
        <p:spPr>
          <a:xfrm>
            <a:off x="457200" y="5442458"/>
            <a:ext cx="11277295" cy="97662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문자도의 한자는 조선 사람들에게 중요했던 가치('the values')를 나타낸다. 이를 담은 ①이 제목이다.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25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25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25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7" grpId="0" animBg="1"/>
      <p:bldP spid="9" grpId="0" animBg="1"/>
      <p:bldP spid="10" grpId="0" animBg="1"/>
      <p:bldP spid="18" grpId="0" animBg="1"/>
    </p:bldLst>
  </p:timing>
</p:sld>
</file>

<file path=ppt/slides/slide2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L8-1</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1 · 3</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3. 다음 글에서 필자가 주장하는 바로 가장 적절한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8</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본문 근거 형광 + 정답 원리</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162687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1626870"/>
          </a:xfrm>
          <a:prstGeom prst="rect">
            <a:avLst/>
          </a:prstGeom>
          <a:noFill/>
        </p:spPr>
        <p:txBody>
          <a:bodyPr wrap="square" lIns="201168" tIns="118872" rIns="201168" bIns="118872" anchor="t" rtlCol="0">
            <a:noAutofit/>
          </a:bodyPr>
          <a:lstStyle/>
          <a:p>
            <a:pPr algn="just">
              <a:lnSpc>
                <a:spcPts val="2130"/>
              </a:lnSpc>
              <a:spcBef>
                <a:spcPts val="0"/>
              </a:spcBef>
              <a:spcAft>
                <a:spcPts val="0"/>
              </a:spcAft>
              <a:buNone/>
            </a:pPr>
            <a:r>
              <a:rPr lang="en-US" altLang="ko-KR" sz="1500" b="0" dirty="0">
                <a:solidFill>
                  <a:srgbClr val="1F2328"/>
                </a:solidFill>
                <a:latin typeface="Calibri"/>
                <a:ea typeface="맑은 고딕"/>
                <a:cs typeface="Calibri"/>
              </a:rPr>
              <a:t>Look at the painting on the right. Do you see the Chinese character, hyo (孝)? Do you also see a carp, a geomungo, and a fan? This kind of painting is called Munjado, and it is a type of folk painting that was popular in the late Joseon dynasty. In Munjado, there is usually a Chinese character with some animals or objects. One of eight Chinese characters appears in Munjado. They are hyo (孝), je (悌), chung (忠), sin (信), ye (禮), ui (義), yeom (廉), and chi (恥), and </a:t>
            </a:r>
            <a:r>
              <a:rPr lang="en-US" altLang="ko-KR" sz="1500" b="0" dirty="0">
                <a:solidFill>
                  <a:srgbClr val="1F2328"/>
                </a:solidFill>
                <a:latin typeface="Calibri"/>
                <a:ea typeface="맑은 고딕"/>
                <a:cs typeface="Calibri"/>
              </a:rPr>
              <a:t>they represent the values that were important</a:t>
            </a:r>
            <a:r>
              <a:rPr lang="en-US" altLang="ko-KR" sz="1500" b="0" dirty="0">
                <a:solidFill>
                  <a:srgbClr val="1F2328"/>
                </a:solidFill>
                <a:latin typeface="Calibri"/>
                <a:ea typeface="맑은 고딕"/>
                <a:cs typeface="Calibri"/>
              </a:rPr>
              <a:t> to people of the Joseon dynasty.</a:t>
            </a:r>
            <a:endParaRPr lang="en-US" altLang="ko-KR" sz="1500" b="0" dirty="0">
              <a:solidFill>
                <a:srgbClr val="1F2328"/>
              </a:solidFill>
              <a:latin typeface="Calibri"/>
              <a:ea typeface="맑은 고딕"/>
              <a:cs typeface="Calibri"/>
            </a:endParaRPr>
          </a:p>
        </p:txBody>
      </p:sp>
      <p:sp>
        <p:nvSpPr>
          <p:cNvPr id="9" name="rv_evidence_card"/>
          <p:cNvSpPr/>
          <p:nvPr/>
        </p:nvSpPr>
        <p:spPr>
          <a:xfrm>
            <a:off x="457200" y="950976"/>
            <a:ext cx="11277295" cy="162687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rv_evidence"/>
          <p:cNvSpPr txBox="1"/>
          <p:nvPr/>
        </p:nvSpPr>
        <p:spPr>
          <a:xfrm>
            <a:off x="457200" y="950976"/>
            <a:ext cx="11277295" cy="1626870"/>
          </a:xfrm>
          <a:prstGeom prst="rect">
            <a:avLst/>
          </a:prstGeom>
          <a:noFill/>
        </p:spPr>
        <p:txBody>
          <a:bodyPr wrap="square" lIns="201168" tIns="118872" rIns="201168" bIns="118872" anchor="t" rtlCol="0">
            <a:noAutofit/>
          </a:bodyPr>
          <a:lstStyle/>
          <a:p>
            <a:pPr algn="just">
              <a:lnSpc>
                <a:spcPts val="2130"/>
              </a:lnSpc>
              <a:spcBef>
                <a:spcPts val="0"/>
              </a:spcBef>
              <a:spcAft>
                <a:spcPts val="0"/>
              </a:spcAft>
              <a:buNone/>
            </a:pPr>
            <a:r>
              <a:rPr lang="en-US" altLang="ko-KR" sz="1500" b="0" dirty="0">
                <a:solidFill>
                  <a:srgbClr val="B3BAC6"/>
                </a:solidFill>
                <a:latin typeface="Calibri"/>
                <a:ea typeface="맑은 고딕"/>
                <a:cs typeface="Calibri"/>
              </a:rPr>
              <a:t>Look at the painting on the right. Do you see the Chinese character, hyo (孝)? Do you also see a carp, a geomungo, and a fan? This kind of painting is called Munjado, and it is a type of folk painting that was popular in the late Joseon dynasty. In Munjado, there is usually a Chinese character with some animals or objects. One of eight Chinese characters appears in Munjado. They are hyo (孝), je (悌), chung (忠), sin (信), ye (禮), ui (義), yeom (廉), and chi (恥), and </a:t>
            </a:r>
            <a:r>
              <a:rPr lang="en-US" altLang="ko-KR" sz="1500" b="0" dirty="0">
                <a:solidFill>
                  <a:srgbClr val="111111"/>
                </a:solidFill>
                <a:highlight>
                  <a:srgbClr val="FFE45C"/>
                </a:highlight>
                <a:latin typeface="Calibri"/>
                <a:ea typeface="맑은 고딕"/>
                <a:cs typeface="Calibri"/>
              </a:rPr>
              <a:t>they represent the values that were important</a:t>
            </a:r>
            <a:r>
              <a:rPr lang="en-US" altLang="ko-KR" sz="1500" b="0" dirty="0">
                <a:solidFill>
                  <a:srgbClr val="B3BAC6"/>
                </a:solidFill>
                <a:latin typeface="Calibri"/>
                <a:ea typeface="맑은 고딕"/>
                <a:cs typeface="Calibri"/>
              </a:rPr>
              <a:t> to people of the Joseon dynasty.</a:t>
            </a:r>
            <a:endParaRPr lang="en-US" altLang="ko-KR" sz="1500" b="0" dirty="0">
              <a:solidFill>
                <a:srgbClr val="B3BAC6"/>
              </a:solidFill>
              <a:latin typeface="Calibri"/>
              <a:ea typeface="맑은 고딕"/>
              <a:cs typeface="Calibri"/>
            </a:endParaRPr>
          </a:p>
        </p:txBody>
      </p:sp>
      <p:sp>
        <p:nvSpPr>
          <p:cNvPr id="11" name="choice_1"/>
          <p:cNvSpPr txBox="1"/>
          <p:nvPr/>
        </p:nvSpPr>
        <p:spPr>
          <a:xfrm>
            <a:off x="457200" y="2724150"/>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①</a:t>
            </a:r>
            <a:r>
              <a:rPr lang="ko-KR" altLang="en-US" sz="1800" b="0" dirty="0">
                <a:solidFill>
                  <a:srgbClr val="1F2328"/>
                </a:solidFill>
                <a:latin typeface="맑은 고딕"/>
                <a:ea typeface="맑은 고딕"/>
                <a:cs typeface="맑은 고딕"/>
              </a:rPr>
              <a:t>	한자를 정확하게 쓰는 법부터 익혀야 한다</a:t>
            </a:r>
            <a:endParaRPr lang="ko-KR" altLang="en-US" sz="1800" b="0" dirty="0">
              <a:solidFill>
                <a:srgbClr val="1F2328"/>
              </a:solidFill>
              <a:latin typeface="맑은 고딕"/>
              <a:ea typeface="맑은 고딕"/>
              <a:cs typeface="맑은 고딕"/>
            </a:endParaRPr>
          </a:p>
        </p:txBody>
      </p:sp>
      <p:sp>
        <p:nvSpPr>
          <p:cNvPr id="12" name="choice_2"/>
          <p:cNvSpPr txBox="1"/>
          <p:nvPr/>
        </p:nvSpPr>
        <p:spPr>
          <a:xfrm>
            <a:off x="457200" y="3131566"/>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②</a:t>
            </a:r>
            <a:r>
              <a:rPr lang="ko-KR" altLang="en-US" sz="1800" b="0" dirty="0">
                <a:solidFill>
                  <a:srgbClr val="1F2328"/>
                </a:solidFill>
                <a:latin typeface="맑은 고딕"/>
                <a:ea typeface="맑은 고딕"/>
                <a:cs typeface="맑은 고딕"/>
              </a:rPr>
              <a:t>	문자도에 담긴 가치의 의미를 살펴보아야 한다</a:t>
            </a:r>
            <a:endParaRPr lang="ko-KR" altLang="en-US" sz="1800" b="0" dirty="0">
              <a:solidFill>
                <a:srgbClr val="1F2328"/>
              </a:solidFill>
              <a:latin typeface="맑은 고딕"/>
              <a:ea typeface="맑은 고딕"/>
              <a:cs typeface="맑은 고딕"/>
            </a:endParaRPr>
          </a:p>
        </p:txBody>
      </p:sp>
      <p:sp>
        <p:nvSpPr>
          <p:cNvPr id="13" name="rv_pick"/>
          <p:cNvSpPr txBox="1"/>
          <p:nvPr/>
        </p:nvSpPr>
        <p:spPr>
          <a:xfrm>
            <a:off x="457200" y="3131566"/>
            <a:ext cx="11277295" cy="379984"/>
          </a:xfrm>
          <a:prstGeom prst="rect">
            <a:avLst/>
          </a:prstGeom>
          <a:solidFill>
            <a:srgbClr val="FFF3C4"/>
          </a:solid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C00000"/>
                </a:solidFill>
                <a:latin typeface="맑은 고딕"/>
                <a:ea typeface="맑은 고딕"/>
                <a:cs typeface="맑은 고딕"/>
              </a:rPr>
              <a:t>②</a:t>
            </a:r>
            <a:r>
              <a:rPr lang="ko-KR" altLang="en-US" sz="1800" b="0" dirty="0">
                <a:solidFill>
                  <a:srgbClr val="C00000"/>
                </a:solidFill>
                <a:latin typeface="맑은 고딕"/>
                <a:ea typeface="맑은 고딕"/>
                <a:cs typeface="맑은 고딕"/>
              </a:rPr>
              <a:t>	문자도에 담긴 가치의 의미를 살펴보아야 한다</a:t>
            </a:r>
            <a:endParaRPr lang="ko-KR" altLang="en-US" sz="1800" b="0" dirty="0">
              <a:solidFill>
                <a:srgbClr val="C00000"/>
              </a:solidFill>
              <a:latin typeface="맑은 고딕"/>
              <a:ea typeface="맑은 고딕"/>
              <a:cs typeface="맑은 고딕"/>
            </a:endParaRPr>
          </a:p>
        </p:txBody>
      </p:sp>
      <p:sp>
        <p:nvSpPr>
          <p:cNvPr id="14" name="choice_3"/>
          <p:cNvSpPr txBox="1"/>
          <p:nvPr/>
        </p:nvSpPr>
        <p:spPr>
          <a:xfrm>
            <a:off x="457200" y="3538982"/>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③</a:t>
            </a:r>
            <a:r>
              <a:rPr lang="ko-KR" altLang="en-US" sz="1800" b="0" dirty="0">
                <a:solidFill>
                  <a:srgbClr val="1F2328"/>
                </a:solidFill>
                <a:latin typeface="맑은 고딕"/>
                <a:ea typeface="맑은 고딕"/>
                <a:cs typeface="맑은 고딕"/>
              </a:rPr>
              <a:t>	민화보다 궁중 회화를 먼저 감상해야 한다</a:t>
            </a:r>
            <a:endParaRPr lang="ko-KR" altLang="en-US" sz="1800" b="0" dirty="0">
              <a:solidFill>
                <a:srgbClr val="1F2328"/>
              </a:solidFill>
              <a:latin typeface="맑은 고딕"/>
              <a:ea typeface="맑은 고딕"/>
              <a:cs typeface="맑은 고딕"/>
            </a:endParaRPr>
          </a:p>
        </p:txBody>
      </p:sp>
      <p:sp>
        <p:nvSpPr>
          <p:cNvPr id="15" name="choice_4"/>
          <p:cNvSpPr txBox="1"/>
          <p:nvPr/>
        </p:nvSpPr>
        <p:spPr>
          <a:xfrm>
            <a:off x="457200" y="3946398"/>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④</a:t>
            </a:r>
            <a:r>
              <a:rPr lang="ko-KR" altLang="en-US" sz="1800" b="0" dirty="0">
                <a:solidFill>
                  <a:srgbClr val="1F2328"/>
                </a:solidFill>
                <a:latin typeface="맑은 고딕"/>
                <a:ea typeface="맑은 고딕"/>
                <a:cs typeface="맑은 고딕"/>
              </a:rPr>
              <a:t>	그림 속 동물의 생김새를 자세히 그려야 한다</a:t>
            </a:r>
            <a:endParaRPr lang="ko-KR" altLang="en-US" sz="1800" b="0" dirty="0">
              <a:solidFill>
                <a:srgbClr val="1F2328"/>
              </a:solidFill>
              <a:latin typeface="맑은 고딕"/>
              <a:ea typeface="맑은 고딕"/>
              <a:cs typeface="맑은 고딕"/>
            </a:endParaRPr>
          </a:p>
        </p:txBody>
      </p:sp>
      <p:sp>
        <p:nvSpPr>
          <p:cNvPr id="16" name="choice_5"/>
          <p:cNvSpPr txBox="1"/>
          <p:nvPr/>
        </p:nvSpPr>
        <p:spPr>
          <a:xfrm>
            <a:off x="457200" y="4353814"/>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⑤</a:t>
            </a:r>
            <a:r>
              <a:rPr lang="ko-KR" altLang="en-US" sz="1800" b="0" dirty="0">
                <a:solidFill>
                  <a:srgbClr val="1F2328"/>
                </a:solidFill>
                <a:latin typeface="맑은 고딕"/>
                <a:ea typeface="맑은 고딕"/>
                <a:cs typeface="맑은 고딕"/>
              </a:rPr>
              <a:t>	조선 시대의 악기 연주법을 배워 보아야 한다</a:t>
            </a:r>
            <a:endParaRPr lang="ko-KR" altLang="en-US" sz="1800" b="0" dirty="0">
              <a:solidFill>
                <a:srgbClr val="1F2328"/>
              </a:solidFill>
              <a:latin typeface="맑은 고딕"/>
              <a:ea typeface="맑은 고딕"/>
              <a:cs typeface="맑은 고딕"/>
            </a:endParaRPr>
          </a:p>
        </p:txBody>
      </p:sp>
      <p:sp>
        <p:nvSpPr>
          <p:cNvPr id="17" name="rv_answer"/>
          <p:cNvSpPr/>
          <p:nvPr/>
        </p:nvSpPr>
        <p:spPr>
          <a:xfrm>
            <a:off x="457200" y="484352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② </a:t>
            </a:r>
            <a:r>
              <a:rPr lang="ko-KR" altLang="en-US" sz="1900" b="1" dirty="0">
                <a:solidFill>
                  <a:srgbClr val="5A4200"/>
                </a:solidFill>
                <a:latin typeface="맑은 고딕"/>
                <a:ea typeface="맑은 고딕"/>
                <a:cs typeface="맑은 고딕"/>
              </a:rPr>
              <a:t>문자도에 담긴 가치의 의미를 살펴보아야 한다</a:t>
            </a:r>
            <a:endParaRPr lang="ko-KR" altLang="en-US" sz="1900" b="1" dirty="0">
              <a:solidFill>
                <a:srgbClr val="5A4200"/>
              </a:solidFill>
              <a:latin typeface="맑은 고딕"/>
              <a:ea typeface="맑은 고딕"/>
              <a:cs typeface="맑은 고딕"/>
            </a:endParaRPr>
          </a:p>
        </p:txBody>
      </p:sp>
      <p:sp>
        <p:nvSpPr>
          <p:cNvPr id="18" name="rv_why"/>
          <p:cNvSpPr/>
          <p:nvPr/>
        </p:nvSpPr>
        <p:spPr>
          <a:xfrm>
            <a:off x="457200" y="5442458"/>
            <a:ext cx="11277295" cy="97662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문자도 속 한자가 조선 사람들이 중시한 가치를 나타낸다고 했으니 그 의미를 살펴보자는 ②가 알맞다.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250"/>
                                        <p:tgtEl>
                                          <p:spTgt spid="1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25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25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7" grpId="0" animBg="1"/>
      <p:bldP spid="9" grpId="0" animBg="1"/>
      <p:bldP spid="10" grpId="0" animBg="1"/>
      <p:bldP spid="18" grpId="0" animBg="1"/>
    </p:bldLst>
  </p:timing>
</p:sld>
</file>

<file path=ppt/slides/slide2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L8-1</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1 · 4</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4. 다음 글의 요지로 가장 적절한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8</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본문 근거 형광 + 정답 원리</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162687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1626870"/>
          </a:xfrm>
          <a:prstGeom prst="rect">
            <a:avLst/>
          </a:prstGeom>
          <a:noFill/>
        </p:spPr>
        <p:txBody>
          <a:bodyPr wrap="square" lIns="201168" tIns="118872" rIns="201168" bIns="118872" anchor="t" rtlCol="0">
            <a:noAutofit/>
          </a:bodyPr>
          <a:lstStyle/>
          <a:p>
            <a:pPr algn="just">
              <a:lnSpc>
                <a:spcPts val="2130"/>
              </a:lnSpc>
              <a:spcBef>
                <a:spcPts val="0"/>
              </a:spcBef>
              <a:spcAft>
                <a:spcPts val="0"/>
              </a:spcAft>
              <a:buNone/>
            </a:pPr>
            <a:r>
              <a:rPr lang="en-US" altLang="ko-KR" sz="1500" b="0" dirty="0">
                <a:solidFill>
                  <a:srgbClr val="1F2328"/>
                </a:solidFill>
                <a:latin typeface="Calibri"/>
                <a:ea typeface="맑은 고딕"/>
                <a:cs typeface="Calibri"/>
              </a:rPr>
              <a:t>Look at the painting on the right. Do you see the Chinese character, hyo (孝)? Do you also see a carp, a geomungo, and a fan? This kind of painting is called Munjado, and it is a type of folk painting that was popular in the late Joseon dynasty. In Munjado, there is usually a Chinese character with some animals or objects. One of eight Chinese characters appears in Munjado. They are hyo (孝), je (悌), chung (忠), sin (信), ye (禮), ui (義), yeom (廉), and chi (恥), and </a:t>
            </a:r>
            <a:r>
              <a:rPr lang="en-US" altLang="ko-KR" sz="1500" b="0" dirty="0">
                <a:solidFill>
                  <a:srgbClr val="1F2328"/>
                </a:solidFill>
                <a:latin typeface="Calibri"/>
                <a:ea typeface="맑은 고딕"/>
                <a:cs typeface="Calibri"/>
              </a:rPr>
              <a:t>they represent the values that were important</a:t>
            </a:r>
            <a:r>
              <a:rPr lang="en-US" altLang="ko-KR" sz="1500" b="0" dirty="0">
                <a:solidFill>
                  <a:srgbClr val="1F2328"/>
                </a:solidFill>
                <a:latin typeface="Calibri"/>
                <a:ea typeface="맑은 고딕"/>
                <a:cs typeface="Calibri"/>
              </a:rPr>
              <a:t> to people of the Joseon dynasty.</a:t>
            </a:r>
            <a:endParaRPr lang="en-US" altLang="ko-KR" sz="1500" b="0" dirty="0">
              <a:solidFill>
                <a:srgbClr val="1F2328"/>
              </a:solidFill>
              <a:latin typeface="Calibri"/>
              <a:ea typeface="맑은 고딕"/>
              <a:cs typeface="Calibri"/>
            </a:endParaRPr>
          </a:p>
        </p:txBody>
      </p:sp>
      <p:sp>
        <p:nvSpPr>
          <p:cNvPr id="9" name="rv_evidence_card"/>
          <p:cNvSpPr/>
          <p:nvPr/>
        </p:nvSpPr>
        <p:spPr>
          <a:xfrm>
            <a:off x="457200" y="950976"/>
            <a:ext cx="11277295" cy="162687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rv_evidence"/>
          <p:cNvSpPr txBox="1"/>
          <p:nvPr/>
        </p:nvSpPr>
        <p:spPr>
          <a:xfrm>
            <a:off x="457200" y="950976"/>
            <a:ext cx="11277295" cy="1626870"/>
          </a:xfrm>
          <a:prstGeom prst="rect">
            <a:avLst/>
          </a:prstGeom>
          <a:noFill/>
        </p:spPr>
        <p:txBody>
          <a:bodyPr wrap="square" lIns="201168" tIns="118872" rIns="201168" bIns="118872" anchor="t" rtlCol="0">
            <a:noAutofit/>
          </a:bodyPr>
          <a:lstStyle/>
          <a:p>
            <a:pPr algn="just">
              <a:lnSpc>
                <a:spcPts val="2130"/>
              </a:lnSpc>
              <a:spcBef>
                <a:spcPts val="0"/>
              </a:spcBef>
              <a:spcAft>
                <a:spcPts val="0"/>
              </a:spcAft>
              <a:buNone/>
            </a:pPr>
            <a:r>
              <a:rPr lang="en-US" altLang="ko-KR" sz="1500" b="0" dirty="0">
                <a:solidFill>
                  <a:srgbClr val="B3BAC6"/>
                </a:solidFill>
                <a:latin typeface="Calibri"/>
                <a:ea typeface="맑은 고딕"/>
                <a:cs typeface="Calibri"/>
              </a:rPr>
              <a:t>Look at the painting on the right. Do you see the Chinese character, hyo (孝)? Do you also see a carp, a geomungo, and a fan? This kind of painting is called Munjado, and it is a type of folk painting that was popular in the late Joseon dynasty. In Munjado, there is usually a Chinese character with some animals or objects. One of eight Chinese characters appears in Munjado. They are hyo (孝), je (悌), chung (忠), sin (信), ye (禮), ui (義), yeom (廉), and chi (恥), and </a:t>
            </a:r>
            <a:r>
              <a:rPr lang="en-US" altLang="ko-KR" sz="1500" b="0" dirty="0">
                <a:solidFill>
                  <a:srgbClr val="111111"/>
                </a:solidFill>
                <a:highlight>
                  <a:srgbClr val="FFE45C"/>
                </a:highlight>
                <a:latin typeface="Calibri"/>
                <a:ea typeface="맑은 고딕"/>
                <a:cs typeface="Calibri"/>
              </a:rPr>
              <a:t>they represent the values that were important</a:t>
            </a:r>
            <a:r>
              <a:rPr lang="en-US" altLang="ko-KR" sz="1500" b="0" dirty="0">
                <a:solidFill>
                  <a:srgbClr val="B3BAC6"/>
                </a:solidFill>
                <a:latin typeface="Calibri"/>
                <a:ea typeface="맑은 고딕"/>
                <a:cs typeface="Calibri"/>
              </a:rPr>
              <a:t> to people of the Joseon dynasty.</a:t>
            </a:r>
            <a:endParaRPr lang="en-US" altLang="ko-KR" sz="1500" b="0" dirty="0">
              <a:solidFill>
                <a:srgbClr val="B3BAC6"/>
              </a:solidFill>
              <a:latin typeface="Calibri"/>
              <a:ea typeface="맑은 고딕"/>
              <a:cs typeface="Calibri"/>
            </a:endParaRPr>
          </a:p>
        </p:txBody>
      </p:sp>
      <p:sp>
        <p:nvSpPr>
          <p:cNvPr id="11" name="choice_1"/>
          <p:cNvSpPr txBox="1"/>
          <p:nvPr/>
        </p:nvSpPr>
        <p:spPr>
          <a:xfrm>
            <a:off x="457200" y="2724150"/>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①</a:t>
            </a:r>
            <a:r>
              <a:rPr lang="ko-KR" altLang="en-US" sz="1800" b="0" dirty="0">
                <a:solidFill>
                  <a:srgbClr val="1F2328"/>
                </a:solidFill>
                <a:latin typeface="맑은 고딕"/>
                <a:ea typeface="맑은 고딕"/>
                <a:cs typeface="맑은 고딕"/>
              </a:rPr>
              <a:t>	문자도는 조선 왕실만 즐기던 그림이었다</a:t>
            </a:r>
            <a:endParaRPr lang="ko-KR" altLang="en-US" sz="1800" b="0" dirty="0">
              <a:solidFill>
                <a:srgbClr val="1F2328"/>
              </a:solidFill>
              <a:latin typeface="맑은 고딕"/>
              <a:ea typeface="맑은 고딕"/>
              <a:cs typeface="맑은 고딕"/>
            </a:endParaRPr>
          </a:p>
        </p:txBody>
      </p:sp>
      <p:sp>
        <p:nvSpPr>
          <p:cNvPr id="12" name="choice_2"/>
          <p:cNvSpPr txBox="1"/>
          <p:nvPr/>
        </p:nvSpPr>
        <p:spPr>
          <a:xfrm>
            <a:off x="457200" y="3131566"/>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②</a:t>
            </a:r>
            <a:r>
              <a:rPr lang="ko-KR" altLang="en-US" sz="1800" b="0" dirty="0">
                <a:solidFill>
                  <a:srgbClr val="1F2328"/>
                </a:solidFill>
                <a:latin typeface="맑은 고딕"/>
                <a:ea typeface="맑은 고딕"/>
                <a:cs typeface="맑은 고딕"/>
              </a:rPr>
              <a:t>	문자도에는 한자가 전혀 등장하지 않는다</a:t>
            </a:r>
            <a:endParaRPr lang="ko-KR" altLang="en-US" sz="1800" b="0" dirty="0">
              <a:solidFill>
                <a:srgbClr val="1F2328"/>
              </a:solidFill>
              <a:latin typeface="맑은 고딕"/>
              <a:ea typeface="맑은 고딕"/>
              <a:cs typeface="맑은 고딕"/>
            </a:endParaRPr>
          </a:p>
        </p:txBody>
      </p:sp>
      <p:sp>
        <p:nvSpPr>
          <p:cNvPr id="13" name="choice_3"/>
          <p:cNvSpPr txBox="1"/>
          <p:nvPr/>
        </p:nvSpPr>
        <p:spPr>
          <a:xfrm>
            <a:off x="457200" y="3538982"/>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③</a:t>
            </a:r>
            <a:r>
              <a:rPr lang="ko-KR" altLang="en-US" sz="1800" b="0" dirty="0">
                <a:solidFill>
                  <a:srgbClr val="1F2328"/>
                </a:solidFill>
                <a:latin typeface="맑은 고딕"/>
                <a:ea typeface="맑은 고딕"/>
                <a:cs typeface="맑은 고딕"/>
              </a:rPr>
              <a:t>	문자도는 조선 사람의 가치를 한자로 담았다</a:t>
            </a:r>
            <a:endParaRPr lang="ko-KR" altLang="en-US" sz="1800" b="0" dirty="0">
              <a:solidFill>
                <a:srgbClr val="1F2328"/>
              </a:solidFill>
              <a:latin typeface="맑은 고딕"/>
              <a:ea typeface="맑은 고딕"/>
              <a:cs typeface="맑은 고딕"/>
            </a:endParaRPr>
          </a:p>
        </p:txBody>
      </p:sp>
      <p:sp>
        <p:nvSpPr>
          <p:cNvPr id="14" name="rv_pick"/>
          <p:cNvSpPr txBox="1"/>
          <p:nvPr/>
        </p:nvSpPr>
        <p:spPr>
          <a:xfrm>
            <a:off x="457200" y="3538982"/>
            <a:ext cx="11277295" cy="379984"/>
          </a:xfrm>
          <a:prstGeom prst="rect">
            <a:avLst/>
          </a:prstGeom>
          <a:solidFill>
            <a:srgbClr val="FFF3C4"/>
          </a:solid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C00000"/>
                </a:solidFill>
                <a:latin typeface="맑은 고딕"/>
                <a:ea typeface="맑은 고딕"/>
                <a:cs typeface="맑은 고딕"/>
              </a:rPr>
              <a:t>③</a:t>
            </a:r>
            <a:r>
              <a:rPr lang="ko-KR" altLang="en-US" sz="1800" b="0" dirty="0">
                <a:solidFill>
                  <a:srgbClr val="C00000"/>
                </a:solidFill>
                <a:latin typeface="맑은 고딕"/>
                <a:ea typeface="맑은 고딕"/>
                <a:cs typeface="맑은 고딕"/>
              </a:rPr>
              <a:t>	문자도는 조선 사람의 가치를 한자로 담았다</a:t>
            </a:r>
            <a:endParaRPr lang="ko-KR" altLang="en-US" sz="1800" b="0" dirty="0">
              <a:solidFill>
                <a:srgbClr val="C00000"/>
              </a:solidFill>
              <a:latin typeface="맑은 고딕"/>
              <a:ea typeface="맑은 고딕"/>
              <a:cs typeface="맑은 고딕"/>
            </a:endParaRPr>
          </a:p>
        </p:txBody>
      </p:sp>
      <p:sp>
        <p:nvSpPr>
          <p:cNvPr id="15" name="choice_4"/>
          <p:cNvSpPr txBox="1"/>
          <p:nvPr/>
        </p:nvSpPr>
        <p:spPr>
          <a:xfrm>
            <a:off x="457200" y="3946398"/>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④</a:t>
            </a:r>
            <a:r>
              <a:rPr lang="ko-KR" altLang="en-US" sz="1800" b="0" dirty="0">
                <a:solidFill>
                  <a:srgbClr val="1F2328"/>
                </a:solidFill>
                <a:latin typeface="맑은 고딕"/>
                <a:ea typeface="맑은 고딕"/>
                <a:cs typeface="맑은 고딕"/>
              </a:rPr>
              <a:t>	문자도는 현대에 새로 만들어진 그림이다</a:t>
            </a:r>
            <a:endParaRPr lang="ko-KR" altLang="en-US" sz="1800" b="0" dirty="0">
              <a:solidFill>
                <a:srgbClr val="1F2328"/>
              </a:solidFill>
              <a:latin typeface="맑은 고딕"/>
              <a:ea typeface="맑은 고딕"/>
              <a:cs typeface="맑은 고딕"/>
            </a:endParaRPr>
          </a:p>
        </p:txBody>
      </p:sp>
      <p:sp>
        <p:nvSpPr>
          <p:cNvPr id="16" name="choice_5"/>
          <p:cNvSpPr txBox="1"/>
          <p:nvPr/>
        </p:nvSpPr>
        <p:spPr>
          <a:xfrm>
            <a:off x="457200" y="4353814"/>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⑤</a:t>
            </a:r>
            <a:r>
              <a:rPr lang="ko-KR" altLang="en-US" sz="1800" b="0" dirty="0">
                <a:solidFill>
                  <a:srgbClr val="1F2328"/>
                </a:solidFill>
                <a:latin typeface="맑은 고딕"/>
                <a:ea typeface="맑은 고딕"/>
                <a:cs typeface="맑은 고딕"/>
              </a:rPr>
              <a:t>	문자도는 동물만 그린 조선의 민화이다</a:t>
            </a:r>
            <a:endParaRPr lang="ko-KR" altLang="en-US" sz="1800" b="0" dirty="0">
              <a:solidFill>
                <a:srgbClr val="1F2328"/>
              </a:solidFill>
              <a:latin typeface="맑은 고딕"/>
              <a:ea typeface="맑은 고딕"/>
              <a:cs typeface="맑은 고딕"/>
            </a:endParaRPr>
          </a:p>
        </p:txBody>
      </p:sp>
      <p:sp>
        <p:nvSpPr>
          <p:cNvPr id="17" name="rv_answer"/>
          <p:cNvSpPr/>
          <p:nvPr/>
        </p:nvSpPr>
        <p:spPr>
          <a:xfrm>
            <a:off x="457200" y="484352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③ </a:t>
            </a:r>
            <a:r>
              <a:rPr lang="ko-KR" altLang="en-US" sz="1900" b="1" dirty="0">
                <a:solidFill>
                  <a:srgbClr val="5A4200"/>
                </a:solidFill>
                <a:latin typeface="맑은 고딕"/>
                <a:ea typeface="맑은 고딕"/>
                <a:cs typeface="맑은 고딕"/>
              </a:rPr>
              <a:t>문자도는 조선 사람의 가치를 한자로 담았다</a:t>
            </a:r>
            <a:endParaRPr lang="ko-KR" altLang="en-US" sz="1900" b="1" dirty="0">
              <a:solidFill>
                <a:srgbClr val="5A4200"/>
              </a:solidFill>
              <a:latin typeface="맑은 고딕"/>
              <a:ea typeface="맑은 고딕"/>
              <a:cs typeface="맑은 고딕"/>
            </a:endParaRPr>
          </a:p>
        </p:txBody>
      </p:sp>
      <p:sp>
        <p:nvSpPr>
          <p:cNvPr id="18" name="rv_why"/>
          <p:cNvSpPr/>
          <p:nvPr/>
        </p:nvSpPr>
        <p:spPr>
          <a:xfrm>
            <a:off x="457200" y="5442458"/>
            <a:ext cx="11277295" cy="97662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여덟 한자가 조선 사람들에게 중요했던 가치를 나타낸다고 했다. 이를 정리한 ③이 요지이다.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250"/>
                                        <p:tgtEl>
                                          <p:spTgt spid="1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25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25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7" grpId="0" animBg="1"/>
      <p:bldP spid="9" grpId="0" animBg="1"/>
      <p:bldP spid="10" grpId="0" animBg="1"/>
      <p:bldP spid="18" grpId="0" animBg="1"/>
    </p:bldLst>
  </p:timing>
</p:sld>
</file>

<file path=ppt/slides/slide2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L8-1</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1 · 5</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5. 다음 글의 내용과 일치하지 않는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8</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본문 근거 형광 + 정답 원리</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162687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1626870"/>
          </a:xfrm>
          <a:prstGeom prst="rect">
            <a:avLst/>
          </a:prstGeom>
          <a:noFill/>
        </p:spPr>
        <p:txBody>
          <a:bodyPr wrap="square" lIns="201168" tIns="118872" rIns="201168" bIns="118872" anchor="t" rtlCol="0">
            <a:noAutofit/>
          </a:bodyPr>
          <a:lstStyle/>
          <a:p>
            <a:pPr algn="just">
              <a:lnSpc>
                <a:spcPts val="2130"/>
              </a:lnSpc>
              <a:spcBef>
                <a:spcPts val="0"/>
              </a:spcBef>
              <a:spcAft>
                <a:spcPts val="0"/>
              </a:spcAft>
              <a:buNone/>
            </a:pPr>
            <a:r>
              <a:rPr lang="en-US" altLang="ko-KR" sz="1500" b="0" dirty="0">
                <a:solidFill>
                  <a:srgbClr val="1F2328"/>
                </a:solidFill>
                <a:latin typeface="Calibri"/>
                <a:ea typeface="맑은 고딕"/>
                <a:cs typeface="Calibri"/>
              </a:rPr>
              <a:t>Look at the painting on the right. Do you see the Chinese character, hyo (孝)? Do you also see a carp, a geomungo, and a fan? This kind of painting is called Munjado, and it is a type of folk painting that was popular in the late Joseon dynasty. In Munjado, there is usually a Chinese character with some animals or objects. </a:t>
            </a:r>
            <a:r>
              <a:rPr lang="en-US" altLang="ko-KR" sz="1500" b="0" dirty="0">
                <a:solidFill>
                  <a:srgbClr val="1F2328"/>
                </a:solidFill>
                <a:latin typeface="Calibri"/>
                <a:ea typeface="맑은 고딕"/>
                <a:cs typeface="Calibri"/>
              </a:rPr>
              <a:t>One of eight Chinese characters</a:t>
            </a:r>
            <a:r>
              <a:rPr lang="en-US" altLang="ko-KR" sz="1500" b="0" dirty="0">
                <a:solidFill>
                  <a:srgbClr val="1F2328"/>
                </a:solidFill>
                <a:latin typeface="Calibri"/>
                <a:ea typeface="맑은 고딕"/>
                <a:cs typeface="Calibri"/>
              </a:rPr>
              <a:t> appears in Munjado. They are hyo (孝), je (悌), chung (忠), sin (信), ye (禮), ui (義), yeom (廉), and chi (恥), and they represent the values that were important to people of the Joseon dynasty.</a:t>
            </a:r>
            <a:endParaRPr lang="en-US" altLang="ko-KR" sz="1500" b="0" dirty="0">
              <a:solidFill>
                <a:srgbClr val="1F2328"/>
              </a:solidFill>
              <a:latin typeface="Calibri"/>
              <a:ea typeface="맑은 고딕"/>
              <a:cs typeface="Calibri"/>
            </a:endParaRPr>
          </a:p>
        </p:txBody>
      </p:sp>
      <p:sp>
        <p:nvSpPr>
          <p:cNvPr id="9" name="rv_evidence_card"/>
          <p:cNvSpPr/>
          <p:nvPr/>
        </p:nvSpPr>
        <p:spPr>
          <a:xfrm>
            <a:off x="457200" y="950976"/>
            <a:ext cx="11277295" cy="162687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rv_evidence"/>
          <p:cNvSpPr txBox="1"/>
          <p:nvPr/>
        </p:nvSpPr>
        <p:spPr>
          <a:xfrm>
            <a:off x="457200" y="950976"/>
            <a:ext cx="11277295" cy="1626870"/>
          </a:xfrm>
          <a:prstGeom prst="rect">
            <a:avLst/>
          </a:prstGeom>
          <a:noFill/>
        </p:spPr>
        <p:txBody>
          <a:bodyPr wrap="square" lIns="201168" tIns="118872" rIns="201168" bIns="118872" anchor="t" rtlCol="0">
            <a:noAutofit/>
          </a:bodyPr>
          <a:lstStyle/>
          <a:p>
            <a:pPr algn="just">
              <a:lnSpc>
                <a:spcPts val="2130"/>
              </a:lnSpc>
              <a:spcBef>
                <a:spcPts val="0"/>
              </a:spcBef>
              <a:spcAft>
                <a:spcPts val="0"/>
              </a:spcAft>
              <a:buNone/>
            </a:pPr>
            <a:r>
              <a:rPr lang="en-US" altLang="ko-KR" sz="1500" b="0" dirty="0">
                <a:solidFill>
                  <a:srgbClr val="B3BAC6"/>
                </a:solidFill>
                <a:latin typeface="Calibri"/>
                <a:ea typeface="맑은 고딕"/>
                <a:cs typeface="Calibri"/>
              </a:rPr>
              <a:t>Look at the painting on the right. Do you see the Chinese character, hyo (孝)? Do you also see a carp, a geomungo, and a fan? This kind of painting is called Munjado, and it is a type of folk painting that was popular in the late Joseon dynasty. In Munjado, there is usually a Chinese character with some animals or objects. </a:t>
            </a:r>
            <a:r>
              <a:rPr lang="en-US" altLang="ko-KR" sz="1500" b="0" dirty="0">
                <a:solidFill>
                  <a:srgbClr val="111111"/>
                </a:solidFill>
                <a:highlight>
                  <a:srgbClr val="FFE45C"/>
                </a:highlight>
                <a:latin typeface="Calibri"/>
                <a:ea typeface="맑은 고딕"/>
                <a:cs typeface="Calibri"/>
              </a:rPr>
              <a:t>One of eight Chinese characters</a:t>
            </a:r>
            <a:r>
              <a:rPr lang="en-US" altLang="ko-KR" sz="1500" b="0" dirty="0">
                <a:solidFill>
                  <a:srgbClr val="B3BAC6"/>
                </a:solidFill>
                <a:latin typeface="Calibri"/>
                <a:ea typeface="맑은 고딕"/>
                <a:cs typeface="Calibri"/>
              </a:rPr>
              <a:t> appears in Munjado. They are hyo (孝), je (悌), chung (忠), sin (信), ye (禮), ui (義), yeom (廉), and chi (恥), and they represent the values that were important to people of the Joseon dynasty.</a:t>
            </a:r>
            <a:endParaRPr lang="en-US" altLang="ko-KR" sz="1500" b="0" dirty="0">
              <a:solidFill>
                <a:srgbClr val="B3BAC6"/>
              </a:solidFill>
              <a:latin typeface="Calibri"/>
              <a:ea typeface="맑은 고딕"/>
              <a:cs typeface="Calibri"/>
            </a:endParaRPr>
          </a:p>
        </p:txBody>
      </p:sp>
      <p:sp>
        <p:nvSpPr>
          <p:cNvPr id="11" name="choice_1"/>
          <p:cNvSpPr txBox="1"/>
          <p:nvPr/>
        </p:nvSpPr>
        <p:spPr>
          <a:xfrm>
            <a:off x="457200" y="2724150"/>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①</a:t>
            </a:r>
            <a:r>
              <a:rPr lang="ko-KR" altLang="en-US" sz="1800" b="0" dirty="0">
                <a:solidFill>
                  <a:srgbClr val="1F2328"/>
                </a:solidFill>
                <a:latin typeface="맑은 고딕"/>
                <a:ea typeface="맑은 고딕"/>
                <a:cs typeface="맑은 고딕"/>
              </a:rPr>
              <a:t>	문자도는 민화의 한 종류이다</a:t>
            </a:r>
            <a:endParaRPr lang="ko-KR" altLang="en-US" sz="1800" b="0" dirty="0">
              <a:solidFill>
                <a:srgbClr val="1F2328"/>
              </a:solidFill>
              <a:latin typeface="맑은 고딕"/>
              <a:ea typeface="맑은 고딕"/>
              <a:cs typeface="맑은 고딕"/>
            </a:endParaRPr>
          </a:p>
        </p:txBody>
      </p:sp>
      <p:sp>
        <p:nvSpPr>
          <p:cNvPr id="12" name="choice_2"/>
          <p:cNvSpPr txBox="1"/>
          <p:nvPr/>
        </p:nvSpPr>
        <p:spPr>
          <a:xfrm>
            <a:off x="457200" y="3131566"/>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②</a:t>
            </a:r>
            <a:r>
              <a:rPr lang="ko-KR" altLang="en-US" sz="1800" b="0" dirty="0">
                <a:solidFill>
                  <a:srgbClr val="1F2328"/>
                </a:solidFill>
                <a:latin typeface="맑은 고딕"/>
                <a:ea typeface="맑은 고딕"/>
                <a:cs typeface="맑은 고딕"/>
              </a:rPr>
              <a:t>	문자도에는 한자 열 개가 함께 나온다</a:t>
            </a:r>
            <a:endParaRPr lang="ko-KR" altLang="en-US" sz="1800" b="0" dirty="0">
              <a:solidFill>
                <a:srgbClr val="1F2328"/>
              </a:solidFill>
              <a:latin typeface="맑은 고딕"/>
              <a:ea typeface="맑은 고딕"/>
              <a:cs typeface="맑은 고딕"/>
            </a:endParaRPr>
          </a:p>
        </p:txBody>
      </p:sp>
      <p:sp>
        <p:nvSpPr>
          <p:cNvPr id="13" name="rv_pick"/>
          <p:cNvSpPr txBox="1"/>
          <p:nvPr/>
        </p:nvSpPr>
        <p:spPr>
          <a:xfrm>
            <a:off x="457200" y="3131566"/>
            <a:ext cx="11277295" cy="379984"/>
          </a:xfrm>
          <a:prstGeom prst="rect">
            <a:avLst/>
          </a:prstGeom>
          <a:solidFill>
            <a:srgbClr val="FFF3C4"/>
          </a:solid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C00000"/>
                </a:solidFill>
                <a:latin typeface="맑은 고딕"/>
                <a:ea typeface="맑은 고딕"/>
                <a:cs typeface="맑은 고딕"/>
              </a:rPr>
              <a:t>②</a:t>
            </a:r>
            <a:r>
              <a:rPr lang="ko-KR" altLang="en-US" sz="1800" b="0" dirty="0">
                <a:solidFill>
                  <a:srgbClr val="C00000"/>
                </a:solidFill>
                <a:latin typeface="맑은 고딕"/>
                <a:ea typeface="맑은 고딕"/>
                <a:cs typeface="맑은 고딕"/>
              </a:rPr>
              <a:t>	문자도에는 한자 열 개가 함께 나온다</a:t>
            </a:r>
            <a:endParaRPr lang="ko-KR" altLang="en-US" sz="1800" b="0" dirty="0">
              <a:solidFill>
                <a:srgbClr val="C00000"/>
              </a:solidFill>
              <a:latin typeface="맑은 고딕"/>
              <a:ea typeface="맑은 고딕"/>
              <a:cs typeface="맑은 고딕"/>
            </a:endParaRPr>
          </a:p>
        </p:txBody>
      </p:sp>
      <p:sp>
        <p:nvSpPr>
          <p:cNvPr id="14" name="choice_3"/>
          <p:cNvSpPr txBox="1"/>
          <p:nvPr/>
        </p:nvSpPr>
        <p:spPr>
          <a:xfrm>
            <a:off x="457200" y="3538982"/>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③</a:t>
            </a:r>
            <a:r>
              <a:rPr lang="ko-KR" altLang="en-US" sz="1800" b="0" dirty="0">
                <a:solidFill>
                  <a:srgbClr val="1F2328"/>
                </a:solidFill>
                <a:latin typeface="맑은 고딕"/>
                <a:ea typeface="맑은 고딕"/>
                <a:cs typeface="맑은 고딕"/>
              </a:rPr>
              <a:t>	문자도는 조선 후기에 인기가 있었다</a:t>
            </a:r>
            <a:endParaRPr lang="ko-KR" altLang="en-US" sz="1800" b="0" dirty="0">
              <a:solidFill>
                <a:srgbClr val="1F2328"/>
              </a:solidFill>
              <a:latin typeface="맑은 고딕"/>
              <a:ea typeface="맑은 고딕"/>
              <a:cs typeface="맑은 고딕"/>
            </a:endParaRPr>
          </a:p>
        </p:txBody>
      </p:sp>
      <p:sp>
        <p:nvSpPr>
          <p:cNvPr id="15" name="choice_4"/>
          <p:cNvSpPr txBox="1"/>
          <p:nvPr/>
        </p:nvSpPr>
        <p:spPr>
          <a:xfrm>
            <a:off x="457200" y="3946398"/>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④</a:t>
            </a:r>
            <a:r>
              <a:rPr lang="ko-KR" altLang="en-US" sz="1800" b="0" dirty="0">
                <a:solidFill>
                  <a:srgbClr val="1F2328"/>
                </a:solidFill>
                <a:latin typeface="맑은 고딕"/>
                <a:ea typeface="맑은 고딕"/>
                <a:cs typeface="맑은 고딕"/>
              </a:rPr>
              <a:t>	문자도에는 보통 한자가 하나 나온다</a:t>
            </a:r>
            <a:endParaRPr lang="ko-KR" altLang="en-US" sz="1800" b="0" dirty="0">
              <a:solidFill>
                <a:srgbClr val="1F2328"/>
              </a:solidFill>
              <a:latin typeface="맑은 고딕"/>
              <a:ea typeface="맑은 고딕"/>
              <a:cs typeface="맑은 고딕"/>
            </a:endParaRPr>
          </a:p>
        </p:txBody>
      </p:sp>
      <p:sp>
        <p:nvSpPr>
          <p:cNvPr id="16" name="choice_5"/>
          <p:cNvSpPr txBox="1"/>
          <p:nvPr/>
        </p:nvSpPr>
        <p:spPr>
          <a:xfrm>
            <a:off x="457200" y="4353814"/>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⑤</a:t>
            </a:r>
            <a:r>
              <a:rPr lang="ko-KR" altLang="en-US" sz="1800" b="0" dirty="0">
                <a:solidFill>
                  <a:srgbClr val="1F2328"/>
                </a:solidFill>
                <a:latin typeface="맑은 고딕"/>
                <a:ea typeface="맑은 고딕"/>
                <a:cs typeface="맑은 고딕"/>
              </a:rPr>
              <a:t>	문자도에는 동물이나 사물도 함께 나온다</a:t>
            </a:r>
            <a:endParaRPr lang="ko-KR" altLang="en-US" sz="1800" b="0" dirty="0">
              <a:solidFill>
                <a:srgbClr val="1F2328"/>
              </a:solidFill>
              <a:latin typeface="맑은 고딕"/>
              <a:ea typeface="맑은 고딕"/>
              <a:cs typeface="맑은 고딕"/>
            </a:endParaRPr>
          </a:p>
        </p:txBody>
      </p:sp>
      <p:sp>
        <p:nvSpPr>
          <p:cNvPr id="17" name="rv_answer"/>
          <p:cNvSpPr/>
          <p:nvPr/>
        </p:nvSpPr>
        <p:spPr>
          <a:xfrm>
            <a:off x="457200" y="484352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② </a:t>
            </a:r>
            <a:r>
              <a:rPr lang="ko-KR" altLang="en-US" sz="1900" b="1" dirty="0">
                <a:solidFill>
                  <a:srgbClr val="5A4200"/>
                </a:solidFill>
                <a:latin typeface="맑은 고딕"/>
                <a:ea typeface="맑은 고딕"/>
                <a:cs typeface="맑은 고딕"/>
              </a:rPr>
              <a:t>문자도에는 한자 열 개가 함께 나온다</a:t>
            </a:r>
            <a:endParaRPr lang="ko-KR" altLang="en-US" sz="1900" b="1" dirty="0">
              <a:solidFill>
                <a:srgbClr val="5A4200"/>
              </a:solidFill>
              <a:latin typeface="맑은 고딕"/>
              <a:ea typeface="맑은 고딕"/>
              <a:cs typeface="맑은 고딕"/>
            </a:endParaRPr>
          </a:p>
        </p:txBody>
      </p:sp>
      <p:sp>
        <p:nvSpPr>
          <p:cNvPr id="18" name="rv_why"/>
          <p:cNvSpPr/>
          <p:nvPr/>
        </p:nvSpPr>
        <p:spPr>
          <a:xfrm>
            <a:off x="457200" y="5442458"/>
            <a:ext cx="11277295" cy="97662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문자도에는 여덟 개의 한자 중 하나('One of eight')가 나온다. 한자 열 개가 함께 나온다는 ②는 틀리다.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250"/>
                                        <p:tgtEl>
                                          <p:spTgt spid="1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25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25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7" grpId="0" animBg="1"/>
      <p:bldP spid="9" grpId="0" animBg="1"/>
      <p:bldP spid="10" grpId="0" animBg="1"/>
      <p:bldP spid="18" grpId="0" animBg="1"/>
    </p:bldLst>
  </p:timing>
</p:sld>
</file>

<file path=ppt/slides/slide2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L8-1</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1 · 6</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6. 다음 글의 내용과 일치하는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8</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본문 근거 형광 + 정답 원리</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162687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1626870"/>
          </a:xfrm>
          <a:prstGeom prst="rect">
            <a:avLst/>
          </a:prstGeom>
          <a:noFill/>
        </p:spPr>
        <p:txBody>
          <a:bodyPr wrap="square" lIns="201168" tIns="118872" rIns="201168" bIns="118872" anchor="t" rtlCol="0">
            <a:noAutofit/>
          </a:bodyPr>
          <a:lstStyle/>
          <a:p>
            <a:pPr algn="just">
              <a:lnSpc>
                <a:spcPts val="2130"/>
              </a:lnSpc>
              <a:spcBef>
                <a:spcPts val="0"/>
              </a:spcBef>
              <a:spcAft>
                <a:spcPts val="0"/>
              </a:spcAft>
              <a:buNone/>
            </a:pPr>
            <a:r>
              <a:rPr lang="en-US" altLang="ko-KR" sz="1500" b="0" dirty="0">
                <a:solidFill>
                  <a:srgbClr val="1F2328"/>
                </a:solidFill>
                <a:latin typeface="Calibri"/>
                <a:ea typeface="맑은 고딕"/>
                <a:cs typeface="Calibri"/>
              </a:rPr>
              <a:t>Look at the painting on the right. Do you see the Chinese character, hyo (孝)? Do you also see a carp, a geomungo, and a fan? This kind of painting is called Munjado, and it is a type of folk painting that was popular in the late Joseon dynasty. In Munjado, there is usually a Chinese character with some animals or objects. One of eight Chinese characters appears in Munjado. They are hyo (孝), je (悌), chung (忠), sin (信), ye (禮), ui (義), yeom (廉), and chi (恥), and </a:t>
            </a:r>
            <a:r>
              <a:rPr lang="en-US" altLang="ko-KR" sz="1500" b="0" dirty="0">
                <a:solidFill>
                  <a:srgbClr val="1F2328"/>
                </a:solidFill>
                <a:latin typeface="Calibri"/>
                <a:ea typeface="맑은 고딕"/>
                <a:cs typeface="Calibri"/>
              </a:rPr>
              <a:t>they represent the values that were important</a:t>
            </a:r>
            <a:r>
              <a:rPr lang="en-US" altLang="ko-KR" sz="1500" b="0" dirty="0">
                <a:solidFill>
                  <a:srgbClr val="1F2328"/>
                </a:solidFill>
                <a:latin typeface="Calibri"/>
                <a:ea typeface="맑은 고딕"/>
                <a:cs typeface="Calibri"/>
              </a:rPr>
              <a:t> to people of the Joseon dynasty.</a:t>
            </a:r>
            <a:endParaRPr lang="en-US" altLang="ko-KR" sz="1500" b="0" dirty="0">
              <a:solidFill>
                <a:srgbClr val="1F2328"/>
              </a:solidFill>
              <a:latin typeface="Calibri"/>
              <a:ea typeface="맑은 고딕"/>
              <a:cs typeface="Calibri"/>
            </a:endParaRPr>
          </a:p>
        </p:txBody>
      </p:sp>
      <p:sp>
        <p:nvSpPr>
          <p:cNvPr id="9" name="rv_evidence_card"/>
          <p:cNvSpPr/>
          <p:nvPr/>
        </p:nvSpPr>
        <p:spPr>
          <a:xfrm>
            <a:off x="457200" y="950976"/>
            <a:ext cx="11277295" cy="162687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rv_evidence"/>
          <p:cNvSpPr txBox="1"/>
          <p:nvPr/>
        </p:nvSpPr>
        <p:spPr>
          <a:xfrm>
            <a:off x="457200" y="950976"/>
            <a:ext cx="11277295" cy="1626870"/>
          </a:xfrm>
          <a:prstGeom prst="rect">
            <a:avLst/>
          </a:prstGeom>
          <a:noFill/>
        </p:spPr>
        <p:txBody>
          <a:bodyPr wrap="square" lIns="201168" tIns="118872" rIns="201168" bIns="118872" anchor="t" rtlCol="0">
            <a:noAutofit/>
          </a:bodyPr>
          <a:lstStyle/>
          <a:p>
            <a:pPr algn="just">
              <a:lnSpc>
                <a:spcPts val="2130"/>
              </a:lnSpc>
              <a:spcBef>
                <a:spcPts val="0"/>
              </a:spcBef>
              <a:spcAft>
                <a:spcPts val="0"/>
              </a:spcAft>
              <a:buNone/>
            </a:pPr>
            <a:r>
              <a:rPr lang="en-US" altLang="ko-KR" sz="1500" b="0" dirty="0">
                <a:solidFill>
                  <a:srgbClr val="B3BAC6"/>
                </a:solidFill>
                <a:latin typeface="Calibri"/>
                <a:ea typeface="맑은 고딕"/>
                <a:cs typeface="Calibri"/>
              </a:rPr>
              <a:t>Look at the painting on the right. Do you see the Chinese character, hyo (孝)? Do you also see a carp, a geomungo, and a fan? This kind of painting is called Munjado, and it is a type of folk painting that was popular in the late Joseon dynasty. In Munjado, there is usually a Chinese character with some animals or objects. One of eight Chinese characters appears in Munjado. They are hyo (孝), je (悌), chung (忠), sin (信), ye (禮), ui (義), yeom (廉), and chi (恥), and </a:t>
            </a:r>
            <a:r>
              <a:rPr lang="en-US" altLang="ko-KR" sz="1500" b="0" dirty="0">
                <a:solidFill>
                  <a:srgbClr val="111111"/>
                </a:solidFill>
                <a:highlight>
                  <a:srgbClr val="FFE45C"/>
                </a:highlight>
                <a:latin typeface="Calibri"/>
                <a:ea typeface="맑은 고딕"/>
                <a:cs typeface="Calibri"/>
              </a:rPr>
              <a:t>they represent the values that were important</a:t>
            </a:r>
            <a:r>
              <a:rPr lang="en-US" altLang="ko-KR" sz="1500" b="0" dirty="0">
                <a:solidFill>
                  <a:srgbClr val="B3BAC6"/>
                </a:solidFill>
                <a:latin typeface="Calibri"/>
                <a:ea typeface="맑은 고딕"/>
                <a:cs typeface="Calibri"/>
              </a:rPr>
              <a:t> to people of the Joseon dynasty.</a:t>
            </a:r>
            <a:endParaRPr lang="en-US" altLang="ko-KR" sz="1500" b="0" dirty="0">
              <a:solidFill>
                <a:srgbClr val="B3BAC6"/>
              </a:solidFill>
              <a:latin typeface="Calibri"/>
              <a:ea typeface="맑은 고딕"/>
              <a:cs typeface="Calibri"/>
            </a:endParaRPr>
          </a:p>
        </p:txBody>
      </p:sp>
      <p:sp>
        <p:nvSpPr>
          <p:cNvPr id="11" name="choice_1"/>
          <p:cNvSpPr txBox="1"/>
          <p:nvPr/>
        </p:nvSpPr>
        <p:spPr>
          <a:xfrm>
            <a:off x="457200" y="2724150"/>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①</a:t>
            </a:r>
            <a:r>
              <a:rPr lang="ko-KR" altLang="en-US" sz="1800" b="0" dirty="0">
                <a:solidFill>
                  <a:srgbClr val="1F2328"/>
                </a:solidFill>
                <a:latin typeface="맑은 고딕"/>
                <a:ea typeface="맑은 고딕"/>
                <a:cs typeface="맑은 고딕"/>
              </a:rPr>
              <a:t>	효(孝) 그림에는 호랑이가 그려져 있다</a:t>
            </a:r>
            <a:endParaRPr lang="ko-KR" altLang="en-US" sz="1800" b="0" dirty="0">
              <a:solidFill>
                <a:srgbClr val="1F2328"/>
              </a:solidFill>
              <a:latin typeface="맑은 고딕"/>
              <a:ea typeface="맑은 고딕"/>
              <a:cs typeface="맑은 고딕"/>
            </a:endParaRPr>
          </a:p>
        </p:txBody>
      </p:sp>
      <p:sp>
        <p:nvSpPr>
          <p:cNvPr id="12" name="choice_2"/>
          <p:cNvSpPr txBox="1"/>
          <p:nvPr/>
        </p:nvSpPr>
        <p:spPr>
          <a:xfrm>
            <a:off x="457200" y="3131566"/>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②</a:t>
            </a:r>
            <a:r>
              <a:rPr lang="ko-KR" altLang="en-US" sz="1800" b="0" dirty="0">
                <a:solidFill>
                  <a:srgbClr val="1F2328"/>
                </a:solidFill>
                <a:latin typeface="맑은 고딕"/>
                <a:ea typeface="맑은 고딕"/>
                <a:cs typeface="맑은 고딕"/>
              </a:rPr>
              <a:t>	문자도의 한자는 모두 열두 개이다</a:t>
            </a:r>
            <a:endParaRPr lang="ko-KR" altLang="en-US" sz="1800" b="0" dirty="0">
              <a:solidFill>
                <a:srgbClr val="1F2328"/>
              </a:solidFill>
              <a:latin typeface="맑은 고딕"/>
              <a:ea typeface="맑은 고딕"/>
              <a:cs typeface="맑은 고딕"/>
            </a:endParaRPr>
          </a:p>
        </p:txBody>
      </p:sp>
      <p:sp>
        <p:nvSpPr>
          <p:cNvPr id="13" name="choice_3"/>
          <p:cNvSpPr txBox="1"/>
          <p:nvPr/>
        </p:nvSpPr>
        <p:spPr>
          <a:xfrm>
            <a:off x="457200" y="3538982"/>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③</a:t>
            </a:r>
            <a:r>
              <a:rPr lang="ko-KR" altLang="en-US" sz="1800" b="0" dirty="0">
                <a:solidFill>
                  <a:srgbClr val="1F2328"/>
                </a:solidFill>
                <a:latin typeface="맑은 고딕"/>
                <a:ea typeface="맑은 고딕"/>
                <a:cs typeface="맑은 고딕"/>
              </a:rPr>
              <a:t>	문자도는 조선 초기에만 그려졌다</a:t>
            </a:r>
            <a:endParaRPr lang="ko-KR" altLang="en-US" sz="1800" b="0" dirty="0">
              <a:solidFill>
                <a:srgbClr val="1F2328"/>
              </a:solidFill>
              <a:latin typeface="맑은 고딕"/>
              <a:ea typeface="맑은 고딕"/>
              <a:cs typeface="맑은 고딕"/>
            </a:endParaRPr>
          </a:p>
        </p:txBody>
      </p:sp>
      <p:sp>
        <p:nvSpPr>
          <p:cNvPr id="14" name="choice_4"/>
          <p:cNvSpPr txBox="1"/>
          <p:nvPr/>
        </p:nvSpPr>
        <p:spPr>
          <a:xfrm>
            <a:off x="457200" y="3946398"/>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④</a:t>
            </a:r>
            <a:r>
              <a:rPr lang="ko-KR" altLang="en-US" sz="1800" b="0" dirty="0">
                <a:solidFill>
                  <a:srgbClr val="1F2328"/>
                </a:solidFill>
                <a:latin typeface="맑은 고딕"/>
                <a:ea typeface="맑은 고딕"/>
                <a:cs typeface="맑은 고딕"/>
              </a:rPr>
              <a:t>	여덟 한자는 조선 사람의 가치를 나타낸다</a:t>
            </a:r>
            <a:endParaRPr lang="ko-KR" altLang="en-US" sz="1800" b="0" dirty="0">
              <a:solidFill>
                <a:srgbClr val="1F2328"/>
              </a:solidFill>
              <a:latin typeface="맑은 고딕"/>
              <a:ea typeface="맑은 고딕"/>
              <a:cs typeface="맑은 고딕"/>
            </a:endParaRPr>
          </a:p>
        </p:txBody>
      </p:sp>
      <p:sp>
        <p:nvSpPr>
          <p:cNvPr id="15" name="rv_pick"/>
          <p:cNvSpPr txBox="1"/>
          <p:nvPr/>
        </p:nvSpPr>
        <p:spPr>
          <a:xfrm>
            <a:off x="457200" y="3946398"/>
            <a:ext cx="11277295" cy="379984"/>
          </a:xfrm>
          <a:prstGeom prst="rect">
            <a:avLst/>
          </a:prstGeom>
          <a:solidFill>
            <a:srgbClr val="FFF3C4"/>
          </a:solid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C00000"/>
                </a:solidFill>
                <a:latin typeface="맑은 고딕"/>
                <a:ea typeface="맑은 고딕"/>
                <a:cs typeface="맑은 고딕"/>
              </a:rPr>
              <a:t>④</a:t>
            </a:r>
            <a:r>
              <a:rPr lang="ko-KR" altLang="en-US" sz="1800" b="0" dirty="0">
                <a:solidFill>
                  <a:srgbClr val="C00000"/>
                </a:solidFill>
                <a:latin typeface="맑은 고딕"/>
                <a:ea typeface="맑은 고딕"/>
                <a:cs typeface="맑은 고딕"/>
              </a:rPr>
              <a:t>	여덟 한자는 조선 사람의 가치를 나타낸다</a:t>
            </a:r>
            <a:endParaRPr lang="ko-KR" altLang="en-US" sz="1800" b="0" dirty="0">
              <a:solidFill>
                <a:srgbClr val="C00000"/>
              </a:solidFill>
              <a:latin typeface="맑은 고딕"/>
              <a:ea typeface="맑은 고딕"/>
              <a:cs typeface="맑은 고딕"/>
            </a:endParaRPr>
          </a:p>
        </p:txBody>
      </p:sp>
      <p:sp>
        <p:nvSpPr>
          <p:cNvPr id="16" name="choice_5"/>
          <p:cNvSpPr txBox="1"/>
          <p:nvPr/>
        </p:nvSpPr>
        <p:spPr>
          <a:xfrm>
            <a:off x="457200" y="4353814"/>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⑤</a:t>
            </a:r>
            <a:r>
              <a:rPr lang="ko-KR" altLang="en-US" sz="1800" b="0" dirty="0">
                <a:solidFill>
                  <a:srgbClr val="1F2328"/>
                </a:solidFill>
                <a:latin typeface="맑은 고딕"/>
                <a:ea typeface="맑은 고딕"/>
                <a:cs typeface="맑은 고딕"/>
              </a:rPr>
              <a:t>	문자도에는 동물이 등장하지 않는다</a:t>
            </a:r>
            <a:endParaRPr lang="ko-KR" altLang="en-US" sz="1800" b="0" dirty="0">
              <a:solidFill>
                <a:srgbClr val="1F2328"/>
              </a:solidFill>
              <a:latin typeface="맑은 고딕"/>
              <a:ea typeface="맑은 고딕"/>
              <a:cs typeface="맑은 고딕"/>
            </a:endParaRPr>
          </a:p>
        </p:txBody>
      </p:sp>
      <p:sp>
        <p:nvSpPr>
          <p:cNvPr id="17" name="rv_answer"/>
          <p:cNvSpPr/>
          <p:nvPr/>
        </p:nvSpPr>
        <p:spPr>
          <a:xfrm>
            <a:off x="457200" y="484352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④ </a:t>
            </a:r>
            <a:r>
              <a:rPr lang="ko-KR" altLang="en-US" sz="1900" b="1" dirty="0">
                <a:solidFill>
                  <a:srgbClr val="5A4200"/>
                </a:solidFill>
                <a:latin typeface="맑은 고딕"/>
                <a:ea typeface="맑은 고딕"/>
                <a:cs typeface="맑은 고딕"/>
              </a:rPr>
              <a:t>여덟 한자는 조선 사람의 가치를 나타낸다</a:t>
            </a:r>
            <a:endParaRPr lang="ko-KR" altLang="en-US" sz="1900" b="1" dirty="0">
              <a:solidFill>
                <a:srgbClr val="5A4200"/>
              </a:solidFill>
              <a:latin typeface="맑은 고딕"/>
              <a:ea typeface="맑은 고딕"/>
              <a:cs typeface="맑은 고딕"/>
            </a:endParaRPr>
          </a:p>
        </p:txBody>
      </p:sp>
      <p:sp>
        <p:nvSpPr>
          <p:cNvPr id="18" name="rv_why"/>
          <p:cNvSpPr/>
          <p:nvPr/>
        </p:nvSpPr>
        <p:spPr>
          <a:xfrm>
            <a:off x="457200" y="5442458"/>
            <a:ext cx="11277295" cy="97662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여덟 한자는 조선 시대 사람들에게 중요했던 가치를 나타낸다고 했으므로 ④가 일치한다.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250"/>
                                        <p:tgtEl>
                                          <p:spTgt spid="1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25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25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7" grpId="0" animBg="1"/>
      <p:bldP spid="9" grpId="0" animBg="1"/>
      <p:bldP spid="10" grpId="0" animBg="1"/>
      <p:bldP spid="18" grpId="0" animBg="1"/>
    </p:bldLst>
  </p:timing>
</p:sld>
</file>

<file path=ppt/slides/slide2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L8-1</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2 · 1</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1. 주어진 글 다음에 이어질 글의 순서로 가장 적절한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8</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정답 원리</a:t>
            </a:r>
            <a:endParaRPr lang="ko-KR" altLang="en-US" sz="1000" b="0" dirty="0">
              <a:solidFill>
                <a:srgbClr val="7A808C"/>
              </a:solidFill>
              <a:latin typeface="맑은 고딕"/>
              <a:ea typeface="맑은 고딕"/>
              <a:cs typeface="맑은 고딕"/>
            </a:endParaRPr>
          </a:p>
        </p:txBody>
      </p:sp>
      <p:sp>
        <p:nvSpPr>
          <p:cNvPr id="7" name="given_card"/>
          <p:cNvSpPr/>
          <p:nvPr/>
        </p:nvSpPr>
        <p:spPr>
          <a:xfrm>
            <a:off x="457200" y="950976"/>
            <a:ext cx="11277295" cy="481838"/>
          </a:xfrm>
          <a:prstGeom prst="roundRect">
            <a:avLst>
              <a:gd name="adj" fmla="val 6000"/>
            </a:avLst>
          </a:prstGeom>
          <a:solidFill>
            <a:srgbClr val="FFFFFF"/>
          </a:solidFill>
          <a:ln w="15875">
            <a:solidFill>
              <a:srgbClr val="1E2A5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given"/>
          <p:cNvSpPr txBox="1"/>
          <p:nvPr/>
        </p:nvSpPr>
        <p:spPr>
          <a:xfrm>
            <a:off x="457200" y="950976"/>
            <a:ext cx="11277295" cy="481838"/>
          </a:xfrm>
          <a:prstGeom prst="rect">
            <a:avLst/>
          </a:prstGeom>
          <a:noFill/>
        </p:spPr>
        <p:txBody>
          <a:bodyPr wrap="square" lIns="201168" tIns="100584" rIns="201168" bIns="100584" anchor="t" rtlCol="0">
            <a:noAutofit/>
          </a:bodyPr>
          <a:lstStyle/>
          <a:p>
            <a:pPr algn="l">
              <a:lnSpc>
                <a:spcPts val="2210"/>
              </a:lnSpc>
              <a:spcBef>
                <a:spcPts val="0"/>
              </a:spcBef>
              <a:spcAft>
                <a:spcPts val="0"/>
              </a:spcAft>
              <a:buNone/>
            </a:pPr>
            <a:r>
              <a:rPr lang="en-US" altLang="ko-KR" sz="1700" b="0" dirty="0">
                <a:solidFill>
                  <a:srgbClr val="1F2328"/>
                </a:solidFill>
                <a:latin typeface="Calibri"/>
                <a:ea typeface="맑은 고딕"/>
                <a:cs typeface="Calibri"/>
              </a:rPr>
              <a:t>Look at the painting on the right.</a:t>
            </a:r>
            <a:endParaRPr lang="en-US" altLang="ko-KR" sz="1700" b="0" dirty="0">
              <a:solidFill>
                <a:srgbClr val="1F2328"/>
              </a:solidFill>
              <a:latin typeface="Calibri"/>
              <a:ea typeface="맑은 고딕"/>
              <a:cs typeface="Calibri"/>
            </a:endParaRPr>
          </a:p>
        </p:txBody>
      </p:sp>
      <p:sp>
        <p:nvSpPr>
          <p:cNvPr id="9" name="parts_card"/>
          <p:cNvSpPr/>
          <p:nvPr/>
        </p:nvSpPr>
        <p:spPr>
          <a:xfrm>
            <a:off x="457200" y="1560830"/>
            <a:ext cx="11277295" cy="2615692"/>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parts"/>
          <p:cNvSpPr txBox="1"/>
          <p:nvPr/>
        </p:nvSpPr>
        <p:spPr>
          <a:xfrm>
            <a:off x="457200" y="1560830"/>
            <a:ext cx="11277295" cy="2615692"/>
          </a:xfrm>
          <a:prstGeom prst="rect">
            <a:avLst/>
          </a:prstGeom>
          <a:noFill/>
        </p:spPr>
        <p:txBody>
          <a:bodyPr wrap="square" lIns="201168" tIns="118872" rIns="201168" bIns="118872" anchor="t" rtlCol="0">
            <a:noAutofit/>
          </a:bodyPr>
          <a:lstStyle/>
          <a:p>
            <a:pPr algn="just" marL="453390" indent="-453390">
              <a:lnSpc>
                <a:spcPts val="2410"/>
              </a:lnSpc>
              <a:spcBef>
                <a:spcPts val="0"/>
              </a:spcBef>
              <a:spcAft>
                <a:spcPts val="770"/>
              </a:spcAft>
              <a:buNone/>
              <a:tabLst>
                <a:tab pos="453390" algn="l"/>
              </a:tabLst>
            </a:pPr>
            <a:r>
              <a:rPr lang="en-US" altLang="ko-KR" sz="1700" b="1" dirty="0">
                <a:solidFill>
                  <a:srgbClr val="1E2A5A"/>
                </a:solidFill>
                <a:latin typeface="Calibri"/>
                <a:ea typeface="맑은 고딕"/>
                <a:cs typeface="Calibri"/>
              </a:rPr>
              <a:t>(A)</a:t>
            </a:r>
            <a:r>
              <a:rPr lang="en-US" altLang="ko-KR" sz="1700" b="0" dirty="0">
                <a:solidFill>
                  <a:srgbClr val="1F2328"/>
                </a:solidFill>
                <a:latin typeface="Calibri"/>
                <a:ea typeface="맑은 고딕"/>
                <a:cs typeface="Calibri"/>
              </a:rPr>
              <a:t>	Do you see the Chinese character, hyo (孝)? Do you also see a carp, a geomungo, and a fan?</a:t>
            </a:r>
            <a:endParaRPr lang="en-US" altLang="ko-KR" sz="1700" b="0" dirty="0">
              <a:solidFill>
                <a:srgbClr val="1F2328"/>
              </a:solidFill>
              <a:latin typeface="Calibri"/>
              <a:ea typeface="맑은 고딕"/>
              <a:cs typeface="Calibri"/>
            </a:endParaRPr>
          </a:p>
          <a:p>
            <a:pPr algn="just" marL="453390" indent="-453390">
              <a:lnSpc>
                <a:spcPts val="2410"/>
              </a:lnSpc>
              <a:spcBef>
                <a:spcPts val="0"/>
              </a:spcBef>
              <a:spcAft>
                <a:spcPts val="770"/>
              </a:spcAft>
              <a:buNone/>
              <a:tabLst>
                <a:tab pos="453390" algn="l"/>
              </a:tabLst>
            </a:pPr>
            <a:r>
              <a:rPr lang="en-US" altLang="ko-KR" sz="1700" b="1" dirty="0">
                <a:solidFill>
                  <a:srgbClr val="1E2A5A"/>
                </a:solidFill>
                <a:latin typeface="Calibri"/>
                <a:ea typeface="맑은 고딕"/>
                <a:cs typeface="Calibri"/>
              </a:rPr>
              <a:t>(B)</a:t>
            </a:r>
            <a:r>
              <a:rPr lang="en-US" altLang="ko-KR" sz="1700" b="0" dirty="0">
                <a:solidFill>
                  <a:srgbClr val="1F2328"/>
                </a:solidFill>
                <a:latin typeface="Calibri"/>
                <a:ea typeface="맑은 고딕"/>
                <a:cs typeface="Calibri"/>
              </a:rPr>
              <a:t>	One of eight Chinese characters appears in Munjado. They are hyo (孝), je (悌), chung (忠), sin (信), ye (禮), ui (義), yeom (廉), and chi (恥), and they represent the values that were important to people of the Joseon dynasty.</a:t>
            </a:r>
            <a:endParaRPr lang="en-US" altLang="ko-KR" sz="1700" b="0" dirty="0">
              <a:solidFill>
                <a:srgbClr val="1F2328"/>
              </a:solidFill>
              <a:latin typeface="Calibri"/>
              <a:ea typeface="맑은 고딕"/>
              <a:cs typeface="Calibri"/>
            </a:endParaRPr>
          </a:p>
          <a:p>
            <a:pPr algn="just" marL="453390" indent="-453390">
              <a:lnSpc>
                <a:spcPts val="2210"/>
              </a:lnSpc>
              <a:spcBef>
                <a:spcPts val="0"/>
              </a:spcBef>
              <a:spcAft>
                <a:spcPts val="770"/>
              </a:spcAft>
              <a:buNone/>
              <a:tabLst>
                <a:tab pos="453390" algn="l"/>
              </a:tabLst>
            </a:pPr>
            <a:r>
              <a:rPr lang="en-US" altLang="ko-KR" sz="1700" b="1" dirty="0">
                <a:solidFill>
                  <a:srgbClr val="1E2A5A"/>
                </a:solidFill>
                <a:latin typeface="Calibri"/>
                <a:ea typeface="맑은 고딕"/>
                <a:cs typeface="Calibri"/>
              </a:rPr>
              <a:t>(C)</a:t>
            </a:r>
            <a:r>
              <a:rPr lang="en-US" altLang="ko-KR" sz="1700" b="0" dirty="0">
                <a:solidFill>
                  <a:srgbClr val="1F2328"/>
                </a:solidFill>
                <a:latin typeface="Calibri"/>
                <a:ea typeface="맑은 고딕"/>
                <a:cs typeface="Calibri"/>
              </a:rPr>
              <a:t>	This kind of painting is called Munjado, and it is a type of folk painting that was popular in the late Joseon dynasty. In Munjado, there is usually a Chinese character with some animals or objects.</a:t>
            </a:r>
            <a:endParaRPr lang="en-US" altLang="ko-KR" sz="1700" b="0" dirty="0">
              <a:solidFill>
                <a:srgbClr val="1F2328"/>
              </a:solidFill>
              <a:latin typeface="Calibri"/>
              <a:ea typeface="맑은 고딕"/>
              <a:cs typeface="Calibri"/>
            </a:endParaRPr>
          </a:p>
        </p:txBody>
      </p:sp>
      <p:sp>
        <p:nvSpPr>
          <p:cNvPr id="11" name="options"/>
          <p:cNvSpPr txBox="1"/>
          <p:nvPr/>
        </p:nvSpPr>
        <p:spPr>
          <a:xfrm>
            <a:off x="457200" y="4286250"/>
            <a:ext cx="11277295" cy="420624"/>
          </a:xfrm>
          <a:prstGeom prst="rect">
            <a:avLst/>
          </a:prstGeom>
          <a:noFill/>
        </p:spPr>
        <p:txBody>
          <a:bodyPr wrap="square" lIns="91440" tIns="18288" rIns="91440" bIns="18288" anchor="ctr" rtlCol="0">
            <a:noAutofit/>
          </a:bodyPr>
          <a:lstStyle/>
          <a:p>
            <a:pPr algn="ctr">
              <a:lnSpc>
                <a:spcPts val="2560"/>
              </a:lnSpc>
              <a:spcBef>
                <a:spcPts val="0"/>
              </a:spcBef>
              <a:spcAft>
                <a:spcPts val="0"/>
              </a:spcAft>
              <a:buNone/>
            </a:pPr>
            <a:r>
              <a:rPr lang="ko-KR" altLang="en-US" sz="1800" b="1" dirty="0">
                <a:solidFill>
                  <a:srgbClr val="1E2A5A"/>
                </a:solidFill>
                <a:latin typeface="맑은 고딕"/>
                <a:ea typeface="맑은 고딕"/>
                <a:cs typeface="맑은 고딕"/>
              </a:rPr>
              <a:t>① </a:t>
            </a:r>
            <a:r>
              <a:rPr lang="en-US" altLang="ko-KR" sz="1800" b="0" dirty="0">
                <a:solidFill>
                  <a:srgbClr val="1F2328"/>
                </a:solidFill>
                <a:latin typeface="Calibri"/>
                <a:ea typeface="맑은 고딕"/>
                <a:cs typeface="Calibri"/>
              </a:rPr>
              <a:t>(A) - (C) - (B)</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② </a:t>
            </a:r>
            <a:r>
              <a:rPr lang="en-US" altLang="ko-KR" sz="1800" b="0" dirty="0">
                <a:solidFill>
                  <a:srgbClr val="1F2328"/>
                </a:solidFill>
                <a:latin typeface="Calibri"/>
                <a:ea typeface="맑은 고딕"/>
                <a:cs typeface="Calibri"/>
              </a:rPr>
              <a:t>(B) - (A) - (C)</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③ </a:t>
            </a:r>
            <a:r>
              <a:rPr lang="en-US" altLang="ko-KR" sz="1800" b="0" dirty="0">
                <a:solidFill>
                  <a:srgbClr val="1F2328"/>
                </a:solidFill>
                <a:latin typeface="Calibri"/>
                <a:ea typeface="맑은 고딕"/>
                <a:cs typeface="Calibri"/>
              </a:rPr>
              <a:t>(B) - (C) - (A)</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④ </a:t>
            </a:r>
            <a:r>
              <a:rPr lang="en-US" altLang="ko-KR" sz="1800" b="0" dirty="0">
                <a:solidFill>
                  <a:srgbClr val="1F2328"/>
                </a:solidFill>
                <a:latin typeface="Calibri"/>
                <a:ea typeface="맑은 고딕"/>
                <a:cs typeface="Calibri"/>
              </a:rPr>
              <a:t>(C) - (A) - (B)</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⑤ </a:t>
            </a:r>
            <a:r>
              <a:rPr lang="en-US" altLang="ko-KR" sz="1800" b="0" dirty="0">
                <a:solidFill>
                  <a:srgbClr val="1F2328"/>
                </a:solidFill>
                <a:latin typeface="Calibri"/>
                <a:ea typeface="맑은 고딕"/>
                <a:cs typeface="Calibri"/>
              </a:rPr>
              <a:t>(C) - (B) - (A)</a:t>
            </a:r>
            <a:endParaRPr lang="en-US" altLang="ko-KR" sz="1800" b="0" dirty="0">
              <a:solidFill>
                <a:srgbClr val="1F2328"/>
              </a:solidFill>
              <a:latin typeface="Calibri"/>
              <a:ea typeface="맑은 고딕"/>
              <a:cs typeface="Calibri"/>
            </a:endParaRPr>
          </a:p>
        </p:txBody>
      </p:sp>
      <p:sp>
        <p:nvSpPr>
          <p:cNvPr id="12" name="rv_pick"/>
          <p:cNvSpPr txBox="1"/>
          <p:nvPr/>
        </p:nvSpPr>
        <p:spPr>
          <a:xfrm>
            <a:off x="457200" y="4286250"/>
            <a:ext cx="11277295" cy="420624"/>
          </a:xfrm>
          <a:prstGeom prst="rect">
            <a:avLst/>
          </a:prstGeom>
          <a:noFill/>
        </p:spPr>
        <p:txBody>
          <a:bodyPr wrap="square" lIns="91440" tIns="18288" rIns="91440" bIns="18288" anchor="ctr" rtlCol="0">
            <a:noAutofit/>
          </a:bodyPr>
          <a:lstStyle/>
          <a:p>
            <a:pPr algn="ctr">
              <a:lnSpc>
                <a:spcPts val="2560"/>
              </a:lnSpc>
              <a:spcBef>
                <a:spcPts val="0"/>
              </a:spcBef>
              <a:spcAft>
                <a:spcPts val="0"/>
              </a:spcAft>
              <a:buNone/>
            </a:pPr>
            <a:r>
              <a:rPr lang="ko-KR" altLang="en-US" sz="1800" b="1" dirty="0">
                <a:solidFill>
                  <a:srgbClr val="C00000"/>
                </a:solidFill>
                <a:highlight>
                  <a:srgbClr val="FFFFFF"/>
                </a:highlight>
                <a:latin typeface="맑은 고딕"/>
                <a:ea typeface="맑은 고딕"/>
                <a:cs typeface="맑은 고딕"/>
              </a:rPr>
              <a:t>① </a:t>
            </a:r>
            <a:r>
              <a:rPr lang="en-US" altLang="ko-KR" sz="1800" b="0" dirty="0">
                <a:solidFill>
                  <a:srgbClr val="C00000"/>
                </a:solidFill>
                <a:highlight>
                  <a:srgbClr val="FFFFFF"/>
                </a:highlight>
                <a:latin typeface="Calibri"/>
                <a:ea typeface="맑은 고딕"/>
                <a:cs typeface="Calibri"/>
              </a:rPr>
              <a:t>(A) - (C) - (B)</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② </a:t>
            </a:r>
            <a:r>
              <a:rPr lang="en-US" altLang="ko-KR" sz="1800" b="0" dirty="0">
                <a:solidFill>
                  <a:srgbClr val="1F2328">
                    <a:alpha val="0"/>
                  </a:srgbClr>
                </a:solidFill>
                <a:latin typeface="Calibri"/>
                <a:ea typeface="맑은 고딕"/>
                <a:cs typeface="Calibri"/>
              </a:rPr>
              <a:t>(B) - (A) - (C)</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③ </a:t>
            </a:r>
            <a:r>
              <a:rPr lang="en-US" altLang="ko-KR" sz="1800" b="0" dirty="0">
                <a:solidFill>
                  <a:srgbClr val="1F2328">
                    <a:alpha val="0"/>
                  </a:srgbClr>
                </a:solidFill>
                <a:latin typeface="Calibri"/>
                <a:ea typeface="맑은 고딕"/>
                <a:cs typeface="Calibri"/>
              </a:rPr>
              <a:t>(B) - (C) - (A)</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④ </a:t>
            </a:r>
            <a:r>
              <a:rPr lang="en-US" altLang="ko-KR" sz="1800" b="0" dirty="0">
                <a:solidFill>
                  <a:srgbClr val="1F2328">
                    <a:alpha val="0"/>
                  </a:srgbClr>
                </a:solidFill>
                <a:latin typeface="Calibri"/>
                <a:ea typeface="맑은 고딕"/>
                <a:cs typeface="Calibri"/>
              </a:rPr>
              <a:t>(C) - (A) - (B)</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⑤ </a:t>
            </a:r>
            <a:r>
              <a:rPr lang="en-US" altLang="ko-KR" sz="1800" b="0" dirty="0">
                <a:solidFill>
                  <a:srgbClr val="1F2328">
                    <a:alpha val="0"/>
                  </a:srgbClr>
                </a:solidFill>
                <a:latin typeface="Calibri"/>
                <a:ea typeface="맑은 고딕"/>
                <a:cs typeface="Calibri"/>
              </a:rPr>
              <a:t>(C) - (B) - (A)</a:t>
            </a:r>
            <a:endParaRPr lang="en-US" altLang="ko-KR" sz="1800" b="0" dirty="0">
              <a:solidFill>
                <a:srgbClr val="1F2328"/>
              </a:solidFill>
              <a:latin typeface="Calibri"/>
              <a:ea typeface="맑은 고딕"/>
              <a:cs typeface="Calibri"/>
            </a:endParaRPr>
          </a:p>
        </p:txBody>
      </p:sp>
      <p:sp>
        <p:nvSpPr>
          <p:cNvPr id="13" name="rv_answer"/>
          <p:cNvSpPr/>
          <p:nvPr/>
        </p:nvSpPr>
        <p:spPr>
          <a:xfrm>
            <a:off x="457200" y="4798314"/>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① </a:t>
            </a:r>
            <a:r>
              <a:rPr lang="en-US" altLang="ko-KR" sz="1900" b="1" dirty="0">
                <a:solidFill>
                  <a:srgbClr val="5A4200"/>
                </a:solidFill>
                <a:latin typeface="Calibri"/>
                <a:ea typeface="맑은 고딕"/>
                <a:cs typeface="Calibri"/>
              </a:rPr>
              <a:t>(A) - (C) - (B)</a:t>
            </a:r>
            <a:endParaRPr lang="en-US" altLang="ko-KR" sz="1900" b="1" dirty="0">
              <a:solidFill>
                <a:srgbClr val="5A4200"/>
              </a:solidFill>
              <a:latin typeface="Calibri"/>
              <a:ea typeface="맑은 고딕"/>
              <a:cs typeface="Calibri"/>
            </a:endParaRPr>
          </a:p>
        </p:txBody>
      </p:sp>
      <p:sp>
        <p:nvSpPr>
          <p:cNvPr id="14" name="rv_why"/>
          <p:cNvSpPr/>
          <p:nvPr/>
        </p:nvSpPr>
        <p:spPr>
          <a:xfrm>
            <a:off x="457200" y="5397246"/>
            <a:ext cx="11277295" cy="1021841"/>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그림을 보라는 말 → (A) 그림 속 효(孝)와 잉어·부채를 묻는다 → (C) 'This kind of painting'으로 문자도를 소개한다 → (B) 'Munjado'에 나오는 여덟 한자를 설명한다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25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250"/>
                                        <p:tgtEl>
                                          <p:spTgt spid="1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2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animBg="1"/>
    </p:bldLst>
  </p:timing>
</p:sld>
</file>

<file path=ppt/slides/slide2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L8-1</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2 · 2</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2. 주어진 글 다음에 이어질 글의 순서로 가장 적절한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8</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정답 원리</a:t>
            </a:r>
            <a:endParaRPr lang="ko-KR" altLang="en-US" sz="1000" b="0" dirty="0">
              <a:solidFill>
                <a:srgbClr val="7A808C"/>
              </a:solidFill>
              <a:latin typeface="맑은 고딕"/>
              <a:ea typeface="맑은 고딕"/>
              <a:cs typeface="맑은 고딕"/>
            </a:endParaRPr>
          </a:p>
        </p:txBody>
      </p:sp>
      <p:sp>
        <p:nvSpPr>
          <p:cNvPr id="7" name="given_card"/>
          <p:cNvSpPr/>
          <p:nvPr/>
        </p:nvSpPr>
        <p:spPr>
          <a:xfrm>
            <a:off x="457200" y="950976"/>
            <a:ext cx="11277295" cy="481838"/>
          </a:xfrm>
          <a:prstGeom prst="roundRect">
            <a:avLst>
              <a:gd name="adj" fmla="val 6000"/>
            </a:avLst>
          </a:prstGeom>
          <a:solidFill>
            <a:srgbClr val="FFFFFF"/>
          </a:solidFill>
          <a:ln w="15875">
            <a:solidFill>
              <a:srgbClr val="1E2A5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given"/>
          <p:cNvSpPr txBox="1"/>
          <p:nvPr/>
        </p:nvSpPr>
        <p:spPr>
          <a:xfrm>
            <a:off x="457200" y="950976"/>
            <a:ext cx="11277295" cy="481838"/>
          </a:xfrm>
          <a:prstGeom prst="rect">
            <a:avLst/>
          </a:prstGeom>
          <a:noFill/>
        </p:spPr>
        <p:txBody>
          <a:bodyPr wrap="square" lIns="201168" tIns="100584" rIns="201168" bIns="100584" anchor="t" rtlCol="0">
            <a:noAutofit/>
          </a:bodyPr>
          <a:lstStyle/>
          <a:p>
            <a:pPr algn="l">
              <a:lnSpc>
                <a:spcPts val="2210"/>
              </a:lnSpc>
              <a:spcBef>
                <a:spcPts val="0"/>
              </a:spcBef>
              <a:spcAft>
                <a:spcPts val="0"/>
              </a:spcAft>
              <a:buNone/>
            </a:pPr>
            <a:r>
              <a:rPr lang="en-US" altLang="ko-KR" sz="1700" b="0" dirty="0">
                <a:solidFill>
                  <a:srgbClr val="1F2328"/>
                </a:solidFill>
                <a:latin typeface="Calibri"/>
                <a:ea typeface="맑은 고딕"/>
                <a:cs typeface="Calibri"/>
              </a:rPr>
              <a:t>Look at the painting on the right.</a:t>
            </a:r>
            <a:endParaRPr lang="en-US" altLang="ko-KR" sz="1700" b="0" dirty="0">
              <a:solidFill>
                <a:srgbClr val="1F2328"/>
              </a:solidFill>
              <a:latin typeface="Calibri"/>
              <a:ea typeface="맑은 고딕"/>
              <a:cs typeface="Calibri"/>
            </a:endParaRPr>
          </a:p>
        </p:txBody>
      </p:sp>
      <p:sp>
        <p:nvSpPr>
          <p:cNvPr id="9" name="parts_card"/>
          <p:cNvSpPr/>
          <p:nvPr/>
        </p:nvSpPr>
        <p:spPr>
          <a:xfrm>
            <a:off x="457200" y="1560830"/>
            <a:ext cx="11277295" cy="2615692"/>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parts"/>
          <p:cNvSpPr txBox="1"/>
          <p:nvPr/>
        </p:nvSpPr>
        <p:spPr>
          <a:xfrm>
            <a:off x="457200" y="1560830"/>
            <a:ext cx="11277295" cy="2615692"/>
          </a:xfrm>
          <a:prstGeom prst="rect">
            <a:avLst/>
          </a:prstGeom>
          <a:noFill/>
        </p:spPr>
        <p:txBody>
          <a:bodyPr wrap="square" lIns="201168" tIns="118872" rIns="201168" bIns="118872" anchor="t" rtlCol="0">
            <a:noAutofit/>
          </a:bodyPr>
          <a:lstStyle/>
          <a:p>
            <a:pPr algn="just" marL="453390" indent="-453390">
              <a:lnSpc>
                <a:spcPts val="2410"/>
              </a:lnSpc>
              <a:spcBef>
                <a:spcPts val="0"/>
              </a:spcBef>
              <a:spcAft>
                <a:spcPts val="770"/>
              </a:spcAft>
              <a:buNone/>
              <a:tabLst>
                <a:tab pos="453390" algn="l"/>
              </a:tabLst>
            </a:pPr>
            <a:r>
              <a:rPr lang="en-US" altLang="ko-KR" sz="1700" b="1" dirty="0">
                <a:solidFill>
                  <a:srgbClr val="1E2A5A"/>
                </a:solidFill>
                <a:latin typeface="Calibri"/>
                <a:ea typeface="맑은 고딕"/>
                <a:cs typeface="Calibri"/>
              </a:rPr>
              <a:t>(A)</a:t>
            </a:r>
            <a:r>
              <a:rPr lang="en-US" altLang="ko-KR" sz="1700" b="0" dirty="0">
                <a:solidFill>
                  <a:srgbClr val="1F2328"/>
                </a:solidFill>
                <a:latin typeface="Calibri"/>
                <a:ea typeface="맑은 고딕"/>
                <a:cs typeface="Calibri"/>
              </a:rPr>
              <a:t>	One of eight Chinese characters appears in Munjado. They are hyo (孝), je (悌), chung (忠), sin (信), ye (禮), ui (義), yeom (廉), and chi (恥), and they represent the values that were important to people of the Joseon dynasty.</a:t>
            </a:r>
            <a:endParaRPr lang="en-US" altLang="ko-KR" sz="1700" b="0" dirty="0">
              <a:solidFill>
                <a:srgbClr val="1F2328"/>
              </a:solidFill>
              <a:latin typeface="Calibri"/>
              <a:ea typeface="맑은 고딕"/>
              <a:cs typeface="Calibri"/>
            </a:endParaRPr>
          </a:p>
          <a:p>
            <a:pPr algn="just" marL="453390" indent="-453390">
              <a:lnSpc>
                <a:spcPts val="2410"/>
              </a:lnSpc>
              <a:spcBef>
                <a:spcPts val="0"/>
              </a:spcBef>
              <a:spcAft>
                <a:spcPts val="770"/>
              </a:spcAft>
              <a:buNone/>
              <a:tabLst>
                <a:tab pos="453390" algn="l"/>
              </a:tabLst>
            </a:pPr>
            <a:r>
              <a:rPr lang="en-US" altLang="ko-KR" sz="1700" b="1" dirty="0">
                <a:solidFill>
                  <a:srgbClr val="1E2A5A"/>
                </a:solidFill>
                <a:latin typeface="Calibri"/>
                <a:ea typeface="맑은 고딕"/>
                <a:cs typeface="Calibri"/>
              </a:rPr>
              <a:t>(B)</a:t>
            </a:r>
            <a:r>
              <a:rPr lang="en-US" altLang="ko-KR" sz="1700" b="0" dirty="0">
                <a:solidFill>
                  <a:srgbClr val="1F2328"/>
                </a:solidFill>
                <a:latin typeface="Calibri"/>
                <a:ea typeface="맑은 고딕"/>
                <a:cs typeface="Calibri"/>
              </a:rPr>
              <a:t>	Do you see the Chinese character, hyo (孝)? Do you also see a carp, a geomungo, and a fan?</a:t>
            </a:r>
            <a:endParaRPr lang="en-US" altLang="ko-KR" sz="1700" b="0" dirty="0">
              <a:solidFill>
                <a:srgbClr val="1F2328"/>
              </a:solidFill>
              <a:latin typeface="Calibri"/>
              <a:ea typeface="맑은 고딕"/>
              <a:cs typeface="Calibri"/>
            </a:endParaRPr>
          </a:p>
          <a:p>
            <a:pPr algn="just" marL="453390" indent="-453390">
              <a:lnSpc>
                <a:spcPts val="2210"/>
              </a:lnSpc>
              <a:spcBef>
                <a:spcPts val="0"/>
              </a:spcBef>
              <a:spcAft>
                <a:spcPts val="770"/>
              </a:spcAft>
              <a:buNone/>
              <a:tabLst>
                <a:tab pos="453390" algn="l"/>
              </a:tabLst>
            </a:pPr>
            <a:r>
              <a:rPr lang="en-US" altLang="ko-KR" sz="1700" b="1" dirty="0">
                <a:solidFill>
                  <a:srgbClr val="1E2A5A"/>
                </a:solidFill>
                <a:latin typeface="Calibri"/>
                <a:ea typeface="맑은 고딕"/>
                <a:cs typeface="Calibri"/>
              </a:rPr>
              <a:t>(C)</a:t>
            </a:r>
            <a:r>
              <a:rPr lang="en-US" altLang="ko-KR" sz="1700" b="0" dirty="0">
                <a:solidFill>
                  <a:srgbClr val="1F2328"/>
                </a:solidFill>
                <a:latin typeface="Calibri"/>
                <a:ea typeface="맑은 고딕"/>
                <a:cs typeface="Calibri"/>
              </a:rPr>
              <a:t>	This kind of painting is called Munjado, and it is a type of folk painting that was popular in the late Joseon dynasty. In Munjado, there is usually a Chinese character with some animals or objects.</a:t>
            </a:r>
            <a:endParaRPr lang="en-US" altLang="ko-KR" sz="1700" b="0" dirty="0">
              <a:solidFill>
                <a:srgbClr val="1F2328"/>
              </a:solidFill>
              <a:latin typeface="Calibri"/>
              <a:ea typeface="맑은 고딕"/>
              <a:cs typeface="Calibri"/>
            </a:endParaRPr>
          </a:p>
        </p:txBody>
      </p:sp>
      <p:sp>
        <p:nvSpPr>
          <p:cNvPr id="11" name="options"/>
          <p:cNvSpPr txBox="1"/>
          <p:nvPr/>
        </p:nvSpPr>
        <p:spPr>
          <a:xfrm>
            <a:off x="457200" y="4286250"/>
            <a:ext cx="11277295" cy="420624"/>
          </a:xfrm>
          <a:prstGeom prst="rect">
            <a:avLst/>
          </a:prstGeom>
          <a:noFill/>
        </p:spPr>
        <p:txBody>
          <a:bodyPr wrap="square" lIns="91440" tIns="18288" rIns="91440" bIns="18288" anchor="ctr" rtlCol="0">
            <a:noAutofit/>
          </a:bodyPr>
          <a:lstStyle/>
          <a:p>
            <a:pPr algn="ctr">
              <a:lnSpc>
                <a:spcPts val="2560"/>
              </a:lnSpc>
              <a:spcBef>
                <a:spcPts val="0"/>
              </a:spcBef>
              <a:spcAft>
                <a:spcPts val="0"/>
              </a:spcAft>
              <a:buNone/>
            </a:pPr>
            <a:r>
              <a:rPr lang="ko-KR" altLang="en-US" sz="1800" b="1" dirty="0">
                <a:solidFill>
                  <a:srgbClr val="1E2A5A"/>
                </a:solidFill>
                <a:latin typeface="맑은 고딕"/>
                <a:ea typeface="맑은 고딕"/>
                <a:cs typeface="맑은 고딕"/>
              </a:rPr>
              <a:t>① </a:t>
            </a:r>
            <a:r>
              <a:rPr lang="en-US" altLang="ko-KR" sz="1800" b="0" dirty="0">
                <a:solidFill>
                  <a:srgbClr val="1F2328"/>
                </a:solidFill>
                <a:latin typeface="Calibri"/>
                <a:ea typeface="맑은 고딕"/>
                <a:cs typeface="Calibri"/>
              </a:rPr>
              <a:t>(A) - (C) - (B)</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② </a:t>
            </a:r>
            <a:r>
              <a:rPr lang="en-US" altLang="ko-KR" sz="1800" b="0" dirty="0">
                <a:solidFill>
                  <a:srgbClr val="1F2328"/>
                </a:solidFill>
                <a:latin typeface="Calibri"/>
                <a:ea typeface="맑은 고딕"/>
                <a:cs typeface="Calibri"/>
              </a:rPr>
              <a:t>(B) - (A) - (C)</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③ </a:t>
            </a:r>
            <a:r>
              <a:rPr lang="en-US" altLang="ko-KR" sz="1800" b="0" dirty="0">
                <a:solidFill>
                  <a:srgbClr val="1F2328"/>
                </a:solidFill>
                <a:latin typeface="Calibri"/>
                <a:ea typeface="맑은 고딕"/>
                <a:cs typeface="Calibri"/>
              </a:rPr>
              <a:t>(B) - (C) - (A)</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④ </a:t>
            </a:r>
            <a:r>
              <a:rPr lang="en-US" altLang="ko-KR" sz="1800" b="0" dirty="0">
                <a:solidFill>
                  <a:srgbClr val="1F2328"/>
                </a:solidFill>
                <a:latin typeface="Calibri"/>
                <a:ea typeface="맑은 고딕"/>
                <a:cs typeface="Calibri"/>
              </a:rPr>
              <a:t>(C) - (A) - (B)</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⑤ </a:t>
            </a:r>
            <a:r>
              <a:rPr lang="en-US" altLang="ko-KR" sz="1800" b="0" dirty="0">
                <a:solidFill>
                  <a:srgbClr val="1F2328"/>
                </a:solidFill>
                <a:latin typeface="Calibri"/>
                <a:ea typeface="맑은 고딕"/>
                <a:cs typeface="Calibri"/>
              </a:rPr>
              <a:t>(C) - (B) - (A)</a:t>
            </a:r>
            <a:endParaRPr lang="en-US" altLang="ko-KR" sz="1800" b="0" dirty="0">
              <a:solidFill>
                <a:srgbClr val="1F2328"/>
              </a:solidFill>
              <a:latin typeface="Calibri"/>
              <a:ea typeface="맑은 고딕"/>
              <a:cs typeface="Calibri"/>
            </a:endParaRPr>
          </a:p>
        </p:txBody>
      </p:sp>
      <p:sp>
        <p:nvSpPr>
          <p:cNvPr id="12" name="rv_pick"/>
          <p:cNvSpPr txBox="1"/>
          <p:nvPr/>
        </p:nvSpPr>
        <p:spPr>
          <a:xfrm>
            <a:off x="457200" y="4286250"/>
            <a:ext cx="11277295" cy="420624"/>
          </a:xfrm>
          <a:prstGeom prst="rect">
            <a:avLst/>
          </a:prstGeom>
          <a:noFill/>
        </p:spPr>
        <p:txBody>
          <a:bodyPr wrap="square" lIns="91440" tIns="18288" rIns="91440" bIns="18288" anchor="ctr" rtlCol="0">
            <a:noAutofit/>
          </a:bodyPr>
          <a:lstStyle/>
          <a:p>
            <a:pPr algn="ctr">
              <a:lnSpc>
                <a:spcPts val="2560"/>
              </a:lnSpc>
              <a:spcBef>
                <a:spcPts val="0"/>
              </a:spcBef>
              <a:spcAft>
                <a:spcPts val="0"/>
              </a:spcAft>
              <a:buNone/>
            </a:pPr>
            <a:r>
              <a:rPr lang="ko-KR" altLang="en-US" sz="1800" b="1" dirty="0">
                <a:solidFill>
                  <a:srgbClr val="1E2A5A">
                    <a:alpha val="0"/>
                  </a:srgbClr>
                </a:solidFill>
                <a:latin typeface="맑은 고딕"/>
                <a:ea typeface="맑은 고딕"/>
                <a:cs typeface="맑은 고딕"/>
              </a:rPr>
              <a:t>① </a:t>
            </a:r>
            <a:r>
              <a:rPr lang="en-US" altLang="ko-KR" sz="1800" b="0" dirty="0">
                <a:solidFill>
                  <a:srgbClr val="1F2328">
                    <a:alpha val="0"/>
                  </a:srgbClr>
                </a:solidFill>
                <a:latin typeface="Calibri"/>
                <a:ea typeface="맑은 고딕"/>
                <a:cs typeface="Calibri"/>
              </a:rPr>
              <a:t>(A) - (C) - (B)</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② </a:t>
            </a:r>
            <a:r>
              <a:rPr lang="en-US" altLang="ko-KR" sz="1800" b="0" dirty="0">
                <a:solidFill>
                  <a:srgbClr val="1F2328">
                    <a:alpha val="0"/>
                  </a:srgbClr>
                </a:solidFill>
                <a:latin typeface="Calibri"/>
                <a:ea typeface="맑은 고딕"/>
                <a:cs typeface="Calibri"/>
              </a:rPr>
              <a:t>(B) - (A) - (C)</a:t>
            </a:r>
            <a:r>
              <a:rPr lang="en-US" altLang="ko-KR" sz="1800" b="0" dirty="0">
                <a:solidFill>
                  <a:srgbClr val="1F2328">
                    <a:alpha val="0"/>
                  </a:srgbClr>
                </a:solidFill>
                <a:latin typeface="Calibri"/>
                <a:ea typeface="맑은 고딕"/>
                <a:cs typeface="Calibri"/>
              </a:rPr>
              <a:t>       </a:t>
            </a:r>
            <a:r>
              <a:rPr lang="ko-KR" altLang="en-US" sz="1800" b="1" dirty="0">
                <a:solidFill>
                  <a:srgbClr val="C00000"/>
                </a:solidFill>
                <a:highlight>
                  <a:srgbClr val="FFFFFF"/>
                </a:highlight>
                <a:latin typeface="맑은 고딕"/>
                <a:ea typeface="맑은 고딕"/>
                <a:cs typeface="맑은 고딕"/>
              </a:rPr>
              <a:t>③ </a:t>
            </a:r>
            <a:r>
              <a:rPr lang="en-US" altLang="ko-KR" sz="1800" b="0" dirty="0">
                <a:solidFill>
                  <a:srgbClr val="C00000"/>
                </a:solidFill>
                <a:highlight>
                  <a:srgbClr val="FFFFFF"/>
                </a:highlight>
                <a:latin typeface="Calibri"/>
                <a:ea typeface="맑은 고딕"/>
                <a:cs typeface="Calibri"/>
              </a:rPr>
              <a:t>(B) - (C) - (A)</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④ </a:t>
            </a:r>
            <a:r>
              <a:rPr lang="en-US" altLang="ko-KR" sz="1800" b="0" dirty="0">
                <a:solidFill>
                  <a:srgbClr val="1F2328">
                    <a:alpha val="0"/>
                  </a:srgbClr>
                </a:solidFill>
                <a:latin typeface="Calibri"/>
                <a:ea typeface="맑은 고딕"/>
                <a:cs typeface="Calibri"/>
              </a:rPr>
              <a:t>(C) - (A) - (B)</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⑤ </a:t>
            </a:r>
            <a:r>
              <a:rPr lang="en-US" altLang="ko-KR" sz="1800" b="0" dirty="0">
                <a:solidFill>
                  <a:srgbClr val="1F2328">
                    <a:alpha val="0"/>
                  </a:srgbClr>
                </a:solidFill>
                <a:latin typeface="Calibri"/>
                <a:ea typeface="맑은 고딕"/>
                <a:cs typeface="Calibri"/>
              </a:rPr>
              <a:t>(C) - (B) - (A)</a:t>
            </a:r>
            <a:endParaRPr lang="en-US" altLang="ko-KR" sz="1800" b="0" dirty="0">
              <a:solidFill>
                <a:srgbClr val="1F2328"/>
              </a:solidFill>
              <a:latin typeface="Calibri"/>
              <a:ea typeface="맑은 고딕"/>
              <a:cs typeface="Calibri"/>
            </a:endParaRPr>
          </a:p>
        </p:txBody>
      </p:sp>
      <p:sp>
        <p:nvSpPr>
          <p:cNvPr id="13" name="rv_answer"/>
          <p:cNvSpPr/>
          <p:nvPr/>
        </p:nvSpPr>
        <p:spPr>
          <a:xfrm>
            <a:off x="457200" y="4798314"/>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③ </a:t>
            </a:r>
            <a:r>
              <a:rPr lang="en-US" altLang="ko-KR" sz="1900" b="1" dirty="0">
                <a:solidFill>
                  <a:srgbClr val="5A4200"/>
                </a:solidFill>
                <a:latin typeface="Calibri"/>
                <a:ea typeface="맑은 고딕"/>
                <a:cs typeface="Calibri"/>
              </a:rPr>
              <a:t>(B) - (C) - (A)</a:t>
            </a:r>
            <a:endParaRPr lang="en-US" altLang="ko-KR" sz="1900" b="1" dirty="0">
              <a:solidFill>
                <a:srgbClr val="5A4200"/>
              </a:solidFill>
              <a:latin typeface="Calibri"/>
              <a:ea typeface="맑은 고딕"/>
              <a:cs typeface="Calibri"/>
            </a:endParaRPr>
          </a:p>
        </p:txBody>
      </p:sp>
      <p:sp>
        <p:nvSpPr>
          <p:cNvPr id="14" name="rv_why"/>
          <p:cNvSpPr/>
          <p:nvPr/>
        </p:nvSpPr>
        <p:spPr>
          <a:xfrm>
            <a:off x="457200" y="5397246"/>
            <a:ext cx="11277295" cy="1021841"/>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그림을 보라는 말 → (B) 그림 속 효(孝)와 사물을 묻는다 → (C) 'This kind of painting'이 앞의 그림을 받아 문자도라 부른다 → (A) 문자도의 여덟 한자로 이어진다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25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250"/>
                                        <p:tgtEl>
                                          <p:spTgt spid="1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2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animBg="1"/>
    </p:bldLst>
  </p:timing>
</p:sld>
</file>

<file path=ppt/slides/slide2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L8-1</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2 · 3</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3. 글의 흐름으로 보아, 주어진 문장이 들어가기에 가장 적절한 곳은?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8</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정답 원리</a:t>
            </a:r>
            <a:endParaRPr lang="ko-KR" altLang="en-US" sz="1000" b="0" dirty="0">
              <a:solidFill>
                <a:srgbClr val="7A808C"/>
              </a:solidFill>
              <a:latin typeface="맑은 고딕"/>
              <a:ea typeface="맑은 고딕"/>
              <a:cs typeface="맑은 고딕"/>
            </a:endParaRPr>
          </a:p>
        </p:txBody>
      </p:sp>
      <p:sp>
        <p:nvSpPr>
          <p:cNvPr id="7" name="given_card"/>
          <p:cNvSpPr/>
          <p:nvPr/>
        </p:nvSpPr>
        <p:spPr>
          <a:xfrm>
            <a:off x="457200" y="950976"/>
            <a:ext cx="11277295" cy="507238"/>
          </a:xfrm>
          <a:prstGeom prst="roundRect">
            <a:avLst>
              <a:gd name="adj" fmla="val 6000"/>
            </a:avLst>
          </a:prstGeom>
          <a:solidFill>
            <a:srgbClr val="FFFFFF"/>
          </a:solidFill>
          <a:ln w="15875">
            <a:solidFill>
              <a:srgbClr val="1E2A5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given"/>
          <p:cNvSpPr txBox="1"/>
          <p:nvPr/>
        </p:nvSpPr>
        <p:spPr>
          <a:xfrm>
            <a:off x="457200" y="950976"/>
            <a:ext cx="11277295" cy="507238"/>
          </a:xfrm>
          <a:prstGeom prst="rect">
            <a:avLst/>
          </a:prstGeom>
          <a:noFill/>
        </p:spPr>
        <p:txBody>
          <a:bodyPr wrap="square" lIns="201168" tIns="100584" rIns="201168" bIns="100584"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주어진 문장</a:t>
            </a:r>
            <a:r>
              <a:rPr lang="en-US" altLang="ko-KR" sz="1700" b="0" dirty="0">
                <a:solidFill>
                  <a:srgbClr val="1F2328"/>
                </a:solidFill>
                <a:latin typeface="Calibri"/>
                <a:ea typeface="맑은 고딕"/>
                <a:cs typeface="Calibri"/>
              </a:rPr>
              <a:t>   Do you see the Chinese character, hyo (孝)?</a:t>
            </a:r>
            <a:endParaRPr lang="en-US" altLang="ko-KR" sz="1700" b="0" dirty="0">
              <a:solidFill>
                <a:srgbClr val="1F2328"/>
              </a:solidFill>
              <a:latin typeface="Calibri"/>
              <a:ea typeface="맑은 고딕"/>
              <a:cs typeface="Calibri"/>
            </a:endParaRPr>
          </a:p>
        </p:txBody>
      </p:sp>
      <p:sp>
        <p:nvSpPr>
          <p:cNvPr id="9" name="passage_card"/>
          <p:cNvSpPr/>
          <p:nvPr/>
        </p:nvSpPr>
        <p:spPr>
          <a:xfrm>
            <a:off x="457200" y="1604518"/>
            <a:ext cx="11277295" cy="222504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passage"/>
          <p:cNvSpPr txBox="1"/>
          <p:nvPr/>
        </p:nvSpPr>
        <p:spPr>
          <a:xfrm>
            <a:off x="457200" y="1604518"/>
            <a:ext cx="11277295" cy="2225040"/>
          </a:xfrm>
          <a:prstGeom prst="rect">
            <a:avLst/>
          </a:prstGeom>
          <a:noFill/>
        </p:spPr>
        <p:txBody>
          <a:bodyPr wrap="square" lIns="201168" tIns="118872" rIns="201168" bIns="118872" anchor="t" rtlCol="0">
            <a:noAutofit/>
          </a:bodyPr>
          <a:lstStyle/>
          <a:p>
            <a:pPr algn="just">
              <a:lnSpc>
                <a:spcPts val="2560"/>
              </a:lnSpc>
              <a:spcBef>
                <a:spcPts val="0"/>
              </a:spcBef>
              <a:spcAft>
                <a:spcPts val="0"/>
              </a:spcAft>
              <a:buNone/>
            </a:pPr>
            <a:r>
              <a:rPr lang="en-US" altLang="ko-KR" sz="1700" b="0" dirty="0">
                <a:solidFill>
                  <a:srgbClr val="1F2328"/>
                </a:solidFill>
                <a:latin typeface="Calibri"/>
                <a:ea typeface="맑은 고딕"/>
                <a:cs typeface="Calibri"/>
              </a:rPr>
              <a:t>Look at the painting on the right. </a:t>
            </a:r>
            <a:r>
              <a:rPr lang="ko-KR" altLang="en-US" sz="1800" b="1" dirty="0">
                <a:solidFill>
                  <a:srgbClr val="1E2A5A"/>
                </a:solidFill>
                <a:latin typeface="맑은 고딕"/>
                <a:ea typeface="맑은 고딕"/>
                <a:cs typeface="맑은 고딕"/>
              </a:rPr>
              <a:t>②</a:t>
            </a:r>
            <a:r>
              <a:rPr lang="en-US" altLang="ko-KR" sz="1700" b="0" dirty="0">
                <a:solidFill>
                  <a:srgbClr val="1F2328"/>
                </a:solidFill>
                <a:latin typeface="Calibri"/>
                <a:ea typeface="맑은 고딕"/>
                <a:cs typeface="Calibri"/>
              </a:rPr>
              <a:t> Do you also see a carp, a geomungo, and a fan? </a:t>
            </a:r>
            <a:r>
              <a:rPr lang="ko-KR" altLang="en-US" sz="1800" b="1" dirty="0">
                <a:solidFill>
                  <a:srgbClr val="1E2A5A"/>
                </a:solidFill>
                <a:latin typeface="맑은 고딕"/>
                <a:ea typeface="맑은 고딕"/>
                <a:cs typeface="맑은 고딕"/>
              </a:rPr>
              <a:t>③</a:t>
            </a:r>
            <a:r>
              <a:rPr lang="en-US" altLang="ko-KR" sz="1700" b="0" dirty="0">
                <a:solidFill>
                  <a:srgbClr val="1F2328"/>
                </a:solidFill>
                <a:latin typeface="Calibri"/>
                <a:ea typeface="맑은 고딕"/>
                <a:cs typeface="Calibri"/>
              </a:rPr>
              <a:t> This kind of painting is called Munjado, and it is a type of folk painting that was popular in the late Joseon dynasty. </a:t>
            </a:r>
            <a:r>
              <a:rPr lang="ko-KR" altLang="en-US" sz="1800" b="1" dirty="0">
                <a:solidFill>
                  <a:srgbClr val="1E2A5A"/>
                </a:solidFill>
                <a:latin typeface="맑은 고딕"/>
                <a:ea typeface="맑은 고딕"/>
                <a:cs typeface="맑은 고딕"/>
              </a:rPr>
              <a:t>④</a:t>
            </a:r>
            <a:r>
              <a:rPr lang="en-US" altLang="ko-KR" sz="1700" b="0" dirty="0">
                <a:solidFill>
                  <a:srgbClr val="1F2328"/>
                </a:solidFill>
                <a:latin typeface="Calibri"/>
                <a:ea typeface="맑은 고딕"/>
                <a:cs typeface="Calibri"/>
              </a:rPr>
              <a:t> In Munjado, there is usually a Chinese character with some animals or objects. </a:t>
            </a:r>
            <a:r>
              <a:rPr lang="ko-KR" altLang="en-US" sz="1800" b="1" dirty="0">
                <a:solidFill>
                  <a:srgbClr val="1E2A5A"/>
                </a:solidFill>
                <a:latin typeface="맑은 고딕"/>
                <a:ea typeface="맑은 고딕"/>
                <a:cs typeface="맑은 고딕"/>
              </a:rPr>
              <a:t>⑤</a:t>
            </a:r>
            <a:r>
              <a:rPr lang="en-US" altLang="ko-KR" sz="1700" b="0" dirty="0">
                <a:solidFill>
                  <a:srgbClr val="1F2328"/>
                </a:solidFill>
                <a:latin typeface="Calibri"/>
                <a:ea typeface="맑은 고딕"/>
                <a:cs typeface="Calibri"/>
              </a:rPr>
              <a:t> One of eight Chinese characters appears in Munjado. They are hyo (孝), je (悌), chung (忠), sin (信), ye (禮), ui (義), yeom (廉), and chi (恥), and they represent the values that were important to people of the Joseon dynasty.</a:t>
            </a:r>
            <a:endParaRPr lang="en-US" altLang="ko-KR" sz="1700" b="0" dirty="0">
              <a:solidFill>
                <a:srgbClr val="1F2328"/>
              </a:solidFill>
              <a:latin typeface="Calibri"/>
              <a:ea typeface="맑은 고딕"/>
              <a:cs typeface="Calibri"/>
            </a:endParaRPr>
          </a:p>
        </p:txBody>
      </p:sp>
      <p:sp>
        <p:nvSpPr>
          <p:cNvPr id="11" name="rv_pick"/>
          <p:cNvSpPr txBox="1"/>
          <p:nvPr/>
        </p:nvSpPr>
        <p:spPr>
          <a:xfrm>
            <a:off x="457200" y="1604518"/>
            <a:ext cx="11277295" cy="2225040"/>
          </a:xfrm>
          <a:prstGeom prst="rect">
            <a:avLst/>
          </a:prstGeom>
          <a:noFill/>
        </p:spPr>
        <p:txBody>
          <a:bodyPr wrap="square" lIns="201168" tIns="118872" rIns="201168" bIns="118872" anchor="t" rtlCol="0">
            <a:noAutofit/>
          </a:bodyPr>
          <a:lstStyle/>
          <a:p>
            <a:pPr algn="just">
              <a:lnSpc>
                <a:spcPts val="2560"/>
              </a:lnSpc>
              <a:spcBef>
                <a:spcPts val="0"/>
              </a:spcBef>
              <a:spcAft>
                <a:spcPts val="0"/>
              </a:spcAft>
              <a:buNone/>
            </a:pPr>
            <a:r>
              <a:rPr lang="en-US" altLang="ko-KR" sz="1700" b="0" dirty="0">
                <a:solidFill>
                  <a:srgbClr val="1F2328">
                    <a:alpha val="0"/>
                  </a:srgbClr>
                </a:solidFill>
                <a:latin typeface="Calibri"/>
                <a:ea typeface="맑은 고딕"/>
                <a:cs typeface="Calibri"/>
              </a:rPr>
              <a:t>Look at the painting on the right. </a:t>
            </a:r>
            <a:r>
              <a:rPr lang="ko-KR" altLang="en-US" sz="1800" b="1" dirty="0">
                <a:solidFill>
                  <a:srgbClr val="C00000"/>
                </a:solidFill>
                <a:highlight>
                  <a:srgbClr val="F3F5F9"/>
                </a:highlight>
                <a:latin typeface="맑은 고딕"/>
                <a:ea typeface="맑은 고딕"/>
                <a:cs typeface="맑은 고딕"/>
              </a:rPr>
              <a:t>②</a:t>
            </a:r>
            <a:r>
              <a:rPr lang="en-US" altLang="ko-KR" sz="1700" b="0" dirty="0">
                <a:solidFill>
                  <a:srgbClr val="1F2328">
                    <a:alpha val="0"/>
                  </a:srgbClr>
                </a:solidFill>
                <a:latin typeface="Calibri"/>
                <a:ea typeface="맑은 고딕"/>
                <a:cs typeface="Calibri"/>
              </a:rPr>
              <a:t> Do you also see a carp, a geomungo, and a fan? </a:t>
            </a:r>
            <a:r>
              <a:rPr lang="ko-KR" altLang="en-US" sz="1800" b="1" dirty="0">
                <a:solidFill>
                  <a:srgbClr val="1E2A5A">
                    <a:alpha val="0"/>
                  </a:srgbClr>
                </a:solidFill>
                <a:latin typeface="맑은 고딕"/>
                <a:ea typeface="맑은 고딕"/>
                <a:cs typeface="맑은 고딕"/>
              </a:rPr>
              <a:t>③</a:t>
            </a:r>
            <a:r>
              <a:rPr lang="en-US" altLang="ko-KR" sz="1700" b="0" dirty="0">
                <a:solidFill>
                  <a:srgbClr val="1F2328">
                    <a:alpha val="0"/>
                  </a:srgbClr>
                </a:solidFill>
                <a:latin typeface="Calibri"/>
                <a:ea typeface="맑은 고딕"/>
                <a:cs typeface="Calibri"/>
              </a:rPr>
              <a:t> This kind of painting is called Munjado, and it is a type of folk painting that was popular in the late Joseon dynasty. </a:t>
            </a:r>
            <a:r>
              <a:rPr lang="ko-KR" altLang="en-US" sz="1800" b="1" dirty="0">
                <a:solidFill>
                  <a:srgbClr val="1E2A5A">
                    <a:alpha val="0"/>
                  </a:srgbClr>
                </a:solidFill>
                <a:latin typeface="맑은 고딕"/>
                <a:ea typeface="맑은 고딕"/>
                <a:cs typeface="맑은 고딕"/>
              </a:rPr>
              <a:t>④</a:t>
            </a:r>
            <a:r>
              <a:rPr lang="en-US" altLang="ko-KR" sz="1700" b="0" dirty="0">
                <a:solidFill>
                  <a:srgbClr val="1F2328">
                    <a:alpha val="0"/>
                  </a:srgbClr>
                </a:solidFill>
                <a:latin typeface="Calibri"/>
                <a:ea typeface="맑은 고딕"/>
                <a:cs typeface="Calibri"/>
              </a:rPr>
              <a:t> In Munjado, there is usually a Chinese character with some animals or objects. </a:t>
            </a:r>
            <a:r>
              <a:rPr lang="ko-KR" altLang="en-US" sz="1800" b="1" dirty="0">
                <a:solidFill>
                  <a:srgbClr val="1E2A5A">
                    <a:alpha val="0"/>
                  </a:srgbClr>
                </a:solidFill>
                <a:latin typeface="맑은 고딕"/>
                <a:ea typeface="맑은 고딕"/>
                <a:cs typeface="맑은 고딕"/>
              </a:rPr>
              <a:t>⑤</a:t>
            </a:r>
            <a:r>
              <a:rPr lang="en-US" altLang="ko-KR" sz="1700" b="0" dirty="0">
                <a:solidFill>
                  <a:srgbClr val="1F2328">
                    <a:alpha val="0"/>
                  </a:srgbClr>
                </a:solidFill>
                <a:latin typeface="Calibri"/>
                <a:ea typeface="맑은 고딕"/>
                <a:cs typeface="Calibri"/>
              </a:rPr>
              <a:t> One of eight Chinese characters appears in Munjado. They are hyo (孝), je (悌), chung (忠), sin (信), ye (禮), ui (義), yeom (廉), and chi (恥), and they represent the values that were important to people of the Joseon dynasty.</a:t>
            </a:r>
            <a:endParaRPr lang="en-US" altLang="ko-KR" sz="1700" b="0" dirty="0">
              <a:solidFill>
                <a:srgbClr val="1F2328"/>
              </a:solidFill>
              <a:latin typeface="Calibri"/>
              <a:ea typeface="맑은 고딕"/>
              <a:cs typeface="Calibri"/>
            </a:endParaRPr>
          </a:p>
        </p:txBody>
      </p:sp>
      <p:sp>
        <p:nvSpPr>
          <p:cNvPr id="12" name="rv_answer"/>
          <p:cNvSpPr/>
          <p:nvPr/>
        </p:nvSpPr>
        <p:spPr>
          <a:xfrm>
            <a:off x="457200" y="393928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②</a:t>
            </a:r>
            <a:endParaRPr lang="ko-KR" altLang="en-US" sz="1900" b="1" dirty="0">
              <a:solidFill>
                <a:srgbClr val="5A4200"/>
              </a:solidFill>
              <a:latin typeface="맑은 고딕"/>
              <a:ea typeface="맑은 고딕"/>
              <a:cs typeface="맑은 고딕"/>
            </a:endParaRPr>
          </a:p>
        </p:txBody>
      </p:sp>
      <p:sp>
        <p:nvSpPr>
          <p:cNvPr id="13" name="rv_why"/>
          <p:cNvSpPr/>
          <p:nvPr/>
        </p:nvSpPr>
        <p:spPr>
          <a:xfrm>
            <a:off x="457200" y="4538218"/>
            <a:ext cx="11277295" cy="188086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주어진 문장이 그림 속 한자 효(孝)를 먼저 묻고, ② 뒤 문장이 'also'로 잉어·거문고·부채를 덧붙인다. 따라서 ②가 알맞다.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25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25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2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Lst>
  </p:timing>
</p:sld>
</file>

<file path=ppt/slides/slide2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L8-1</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2 · 4</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4. 글의 흐름으로 보아, 주어진 문장이 들어가기에 가장 적절한 곳은?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8</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정답 원리</a:t>
            </a:r>
            <a:endParaRPr lang="ko-KR" altLang="en-US" sz="1000" b="0" dirty="0">
              <a:solidFill>
                <a:srgbClr val="7A808C"/>
              </a:solidFill>
              <a:latin typeface="맑은 고딕"/>
              <a:ea typeface="맑은 고딕"/>
              <a:cs typeface="맑은 고딕"/>
            </a:endParaRPr>
          </a:p>
        </p:txBody>
      </p:sp>
      <p:sp>
        <p:nvSpPr>
          <p:cNvPr id="7" name="given_card"/>
          <p:cNvSpPr/>
          <p:nvPr/>
        </p:nvSpPr>
        <p:spPr>
          <a:xfrm>
            <a:off x="457200" y="950976"/>
            <a:ext cx="11277295" cy="507238"/>
          </a:xfrm>
          <a:prstGeom prst="roundRect">
            <a:avLst>
              <a:gd name="adj" fmla="val 6000"/>
            </a:avLst>
          </a:prstGeom>
          <a:solidFill>
            <a:srgbClr val="FFFFFF"/>
          </a:solidFill>
          <a:ln w="15875">
            <a:solidFill>
              <a:srgbClr val="1E2A5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given"/>
          <p:cNvSpPr txBox="1"/>
          <p:nvPr/>
        </p:nvSpPr>
        <p:spPr>
          <a:xfrm>
            <a:off x="457200" y="950976"/>
            <a:ext cx="11277295" cy="507238"/>
          </a:xfrm>
          <a:prstGeom prst="rect">
            <a:avLst/>
          </a:prstGeom>
          <a:noFill/>
        </p:spPr>
        <p:txBody>
          <a:bodyPr wrap="square" lIns="201168" tIns="100584" rIns="201168" bIns="100584"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주어진 문장</a:t>
            </a:r>
            <a:r>
              <a:rPr lang="en-US" altLang="ko-KR" sz="1700" b="0" dirty="0">
                <a:solidFill>
                  <a:srgbClr val="1F2328"/>
                </a:solidFill>
                <a:latin typeface="Calibri"/>
                <a:ea typeface="맑은 고딕"/>
                <a:cs typeface="Calibri"/>
              </a:rPr>
              <a:t>   Do you also see a carp, a geomungo, and a fan?</a:t>
            </a:r>
            <a:endParaRPr lang="en-US" altLang="ko-KR" sz="1700" b="0" dirty="0">
              <a:solidFill>
                <a:srgbClr val="1F2328"/>
              </a:solidFill>
              <a:latin typeface="Calibri"/>
              <a:ea typeface="맑은 고딕"/>
              <a:cs typeface="Calibri"/>
            </a:endParaRPr>
          </a:p>
        </p:txBody>
      </p:sp>
      <p:sp>
        <p:nvSpPr>
          <p:cNvPr id="9" name="passage_card"/>
          <p:cNvSpPr/>
          <p:nvPr/>
        </p:nvSpPr>
        <p:spPr>
          <a:xfrm>
            <a:off x="457200" y="1604518"/>
            <a:ext cx="11277295" cy="222504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passage"/>
          <p:cNvSpPr txBox="1"/>
          <p:nvPr/>
        </p:nvSpPr>
        <p:spPr>
          <a:xfrm>
            <a:off x="457200" y="1604518"/>
            <a:ext cx="11277295" cy="2225040"/>
          </a:xfrm>
          <a:prstGeom prst="rect">
            <a:avLst/>
          </a:prstGeom>
          <a:noFill/>
        </p:spPr>
        <p:txBody>
          <a:bodyPr wrap="square" lIns="201168" tIns="118872" rIns="201168" bIns="118872" anchor="t" rtlCol="0">
            <a:noAutofit/>
          </a:bodyPr>
          <a:lstStyle/>
          <a:p>
            <a:pPr algn="just">
              <a:lnSpc>
                <a:spcPts val="2560"/>
              </a:lnSpc>
              <a:spcBef>
                <a:spcPts val="0"/>
              </a:spcBef>
              <a:spcAft>
                <a:spcPts val="0"/>
              </a:spcAft>
              <a:buNone/>
            </a:pPr>
            <a:r>
              <a:rPr lang="en-US" altLang="ko-KR" sz="1700" b="0" dirty="0">
                <a:solidFill>
                  <a:srgbClr val="1F2328"/>
                </a:solidFill>
                <a:latin typeface="Calibri"/>
                <a:ea typeface="맑은 고딕"/>
                <a:cs typeface="Calibri"/>
              </a:rPr>
              <a:t>Look at the painting on the right. </a:t>
            </a:r>
            <a:r>
              <a:rPr lang="ko-KR" altLang="en-US" sz="1800" b="1" dirty="0">
                <a:solidFill>
                  <a:srgbClr val="1E2A5A"/>
                </a:solidFill>
                <a:latin typeface="맑은 고딕"/>
                <a:ea typeface="맑은 고딕"/>
                <a:cs typeface="맑은 고딕"/>
              </a:rPr>
              <a:t>②</a:t>
            </a:r>
            <a:r>
              <a:rPr lang="en-US" altLang="ko-KR" sz="1700" b="0" dirty="0">
                <a:solidFill>
                  <a:srgbClr val="1F2328"/>
                </a:solidFill>
                <a:latin typeface="Calibri"/>
                <a:ea typeface="맑은 고딕"/>
                <a:cs typeface="Calibri"/>
              </a:rPr>
              <a:t> Do you see the Chinese character, hyo (孝)? </a:t>
            </a:r>
            <a:r>
              <a:rPr lang="ko-KR" altLang="en-US" sz="1800" b="1" dirty="0">
                <a:solidFill>
                  <a:srgbClr val="1E2A5A"/>
                </a:solidFill>
                <a:latin typeface="맑은 고딕"/>
                <a:ea typeface="맑은 고딕"/>
                <a:cs typeface="맑은 고딕"/>
              </a:rPr>
              <a:t>③</a:t>
            </a:r>
            <a:r>
              <a:rPr lang="en-US" altLang="ko-KR" sz="1700" b="0" dirty="0">
                <a:solidFill>
                  <a:srgbClr val="1F2328"/>
                </a:solidFill>
                <a:latin typeface="Calibri"/>
                <a:ea typeface="맑은 고딕"/>
                <a:cs typeface="Calibri"/>
              </a:rPr>
              <a:t> This kind of painting is called Munjado, and it is a type of folk painting that was popular in the late Joseon dynasty. </a:t>
            </a:r>
            <a:r>
              <a:rPr lang="ko-KR" altLang="en-US" sz="1800" b="1" dirty="0">
                <a:solidFill>
                  <a:srgbClr val="1E2A5A"/>
                </a:solidFill>
                <a:latin typeface="맑은 고딕"/>
                <a:ea typeface="맑은 고딕"/>
                <a:cs typeface="맑은 고딕"/>
              </a:rPr>
              <a:t>④</a:t>
            </a:r>
            <a:r>
              <a:rPr lang="en-US" altLang="ko-KR" sz="1700" b="0" dirty="0">
                <a:solidFill>
                  <a:srgbClr val="1F2328"/>
                </a:solidFill>
                <a:latin typeface="Calibri"/>
                <a:ea typeface="맑은 고딕"/>
                <a:cs typeface="Calibri"/>
              </a:rPr>
              <a:t> In Munjado, there is usually a Chinese character with some animals or objects. </a:t>
            </a:r>
            <a:r>
              <a:rPr lang="ko-KR" altLang="en-US" sz="1800" b="1" dirty="0">
                <a:solidFill>
                  <a:srgbClr val="1E2A5A"/>
                </a:solidFill>
                <a:latin typeface="맑은 고딕"/>
                <a:ea typeface="맑은 고딕"/>
                <a:cs typeface="맑은 고딕"/>
              </a:rPr>
              <a:t>⑤</a:t>
            </a:r>
            <a:r>
              <a:rPr lang="en-US" altLang="ko-KR" sz="1700" b="0" dirty="0">
                <a:solidFill>
                  <a:srgbClr val="1F2328"/>
                </a:solidFill>
                <a:latin typeface="Calibri"/>
                <a:ea typeface="맑은 고딕"/>
                <a:cs typeface="Calibri"/>
              </a:rPr>
              <a:t> One of eight Chinese characters appears in Munjado. They are hyo (孝), je (悌), chung (忠), sin (信), ye (禮), ui (義), yeom (廉), and chi (恥), and they represent the values that were important to people of the Joseon dynasty.</a:t>
            </a:r>
            <a:endParaRPr lang="en-US" altLang="ko-KR" sz="1700" b="0" dirty="0">
              <a:solidFill>
                <a:srgbClr val="1F2328"/>
              </a:solidFill>
              <a:latin typeface="Calibri"/>
              <a:ea typeface="맑은 고딕"/>
              <a:cs typeface="Calibri"/>
            </a:endParaRPr>
          </a:p>
        </p:txBody>
      </p:sp>
      <p:sp>
        <p:nvSpPr>
          <p:cNvPr id="11" name="rv_pick"/>
          <p:cNvSpPr txBox="1"/>
          <p:nvPr/>
        </p:nvSpPr>
        <p:spPr>
          <a:xfrm>
            <a:off x="457200" y="1604518"/>
            <a:ext cx="11277295" cy="2225040"/>
          </a:xfrm>
          <a:prstGeom prst="rect">
            <a:avLst/>
          </a:prstGeom>
          <a:noFill/>
        </p:spPr>
        <p:txBody>
          <a:bodyPr wrap="square" lIns="201168" tIns="118872" rIns="201168" bIns="118872" anchor="t" rtlCol="0">
            <a:noAutofit/>
          </a:bodyPr>
          <a:lstStyle/>
          <a:p>
            <a:pPr algn="just">
              <a:lnSpc>
                <a:spcPts val="2560"/>
              </a:lnSpc>
              <a:spcBef>
                <a:spcPts val="0"/>
              </a:spcBef>
              <a:spcAft>
                <a:spcPts val="0"/>
              </a:spcAft>
              <a:buNone/>
            </a:pPr>
            <a:r>
              <a:rPr lang="en-US" altLang="ko-KR" sz="1700" b="0" dirty="0">
                <a:solidFill>
                  <a:srgbClr val="1F2328">
                    <a:alpha val="0"/>
                  </a:srgbClr>
                </a:solidFill>
                <a:latin typeface="Calibri"/>
                <a:ea typeface="맑은 고딕"/>
                <a:cs typeface="Calibri"/>
              </a:rPr>
              <a:t>Look at the painting on the right. </a:t>
            </a:r>
            <a:r>
              <a:rPr lang="ko-KR" altLang="en-US" sz="1800" b="1" dirty="0">
                <a:solidFill>
                  <a:srgbClr val="1E2A5A">
                    <a:alpha val="0"/>
                  </a:srgbClr>
                </a:solidFill>
                <a:latin typeface="맑은 고딕"/>
                <a:ea typeface="맑은 고딕"/>
                <a:cs typeface="맑은 고딕"/>
              </a:rPr>
              <a:t>②</a:t>
            </a:r>
            <a:r>
              <a:rPr lang="en-US" altLang="ko-KR" sz="1700" b="0" dirty="0">
                <a:solidFill>
                  <a:srgbClr val="1F2328">
                    <a:alpha val="0"/>
                  </a:srgbClr>
                </a:solidFill>
                <a:latin typeface="Calibri"/>
                <a:ea typeface="맑은 고딕"/>
                <a:cs typeface="Calibri"/>
              </a:rPr>
              <a:t> Do you see the Chinese character, hyo (孝)? </a:t>
            </a:r>
            <a:r>
              <a:rPr lang="ko-KR" altLang="en-US" sz="1800" b="1" dirty="0">
                <a:solidFill>
                  <a:srgbClr val="C00000"/>
                </a:solidFill>
                <a:highlight>
                  <a:srgbClr val="F3F5F9"/>
                </a:highlight>
                <a:latin typeface="맑은 고딕"/>
                <a:ea typeface="맑은 고딕"/>
                <a:cs typeface="맑은 고딕"/>
              </a:rPr>
              <a:t>③</a:t>
            </a:r>
            <a:r>
              <a:rPr lang="en-US" altLang="ko-KR" sz="1700" b="0" dirty="0">
                <a:solidFill>
                  <a:srgbClr val="1F2328">
                    <a:alpha val="0"/>
                  </a:srgbClr>
                </a:solidFill>
                <a:latin typeface="Calibri"/>
                <a:ea typeface="맑은 고딕"/>
                <a:cs typeface="Calibri"/>
              </a:rPr>
              <a:t> This kind of painting is called Munjado, and it is a type of folk painting that was popular in the late Joseon dynasty. </a:t>
            </a:r>
            <a:r>
              <a:rPr lang="ko-KR" altLang="en-US" sz="1800" b="1" dirty="0">
                <a:solidFill>
                  <a:srgbClr val="1E2A5A">
                    <a:alpha val="0"/>
                  </a:srgbClr>
                </a:solidFill>
                <a:latin typeface="맑은 고딕"/>
                <a:ea typeface="맑은 고딕"/>
                <a:cs typeface="맑은 고딕"/>
              </a:rPr>
              <a:t>④</a:t>
            </a:r>
            <a:r>
              <a:rPr lang="en-US" altLang="ko-KR" sz="1700" b="0" dirty="0">
                <a:solidFill>
                  <a:srgbClr val="1F2328">
                    <a:alpha val="0"/>
                  </a:srgbClr>
                </a:solidFill>
                <a:latin typeface="Calibri"/>
                <a:ea typeface="맑은 고딕"/>
                <a:cs typeface="Calibri"/>
              </a:rPr>
              <a:t> In Munjado, there is usually a Chinese character with some animals or objects. </a:t>
            </a:r>
            <a:r>
              <a:rPr lang="ko-KR" altLang="en-US" sz="1800" b="1" dirty="0">
                <a:solidFill>
                  <a:srgbClr val="1E2A5A">
                    <a:alpha val="0"/>
                  </a:srgbClr>
                </a:solidFill>
                <a:latin typeface="맑은 고딕"/>
                <a:ea typeface="맑은 고딕"/>
                <a:cs typeface="맑은 고딕"/>
              </a:rPr>
              <a:t>⑤</a:t>
            </a:r>
            <a:r>
              <a:rPr lang="en-US" altLang="ko-KR" sz="1700" b="0" dirty="0">
                <a:solidFill>
                  <a:srgbClr val="1F2328">
                    <a:alpha val="0"/>
                  </a:srgbClr>
                </a:solidFill>
                <a:latin typeface="Calibri"/>
                <a:ea typeface="맑은 고딕"/>
                <a:cs typeface="Calibri"/>
              </a:rPr>
              <a:t> One of eight Chinese characters appears in Munjado. They are hyo (孝), je (悌), chung (忠), sin (信), ye (禮), ui (義), yeom (廉), and chi (恥), and they represent the values that were important to people of the Joseon dynasty.</a:t>
            </a:r>
            <a:endParaRPr lang="en-US" altLang="ko-KR" sz="1700" b="0" dirty="0">
              <a:solidFill>
                <a:srgbClr val="1F2328"/>
              </a:solidFill>
              <a:latin typeface="Calibri"/>
              <a:ea typeface="맑은 고딕"/>
              <a:cs typeface="Calibri"/>
            </a:endParaRPr>
          </a:p>
        </p:txBody>
      </p:sp>
      <p:sp>
        <p:nvSpPr>
          <p:cNvPr id="12" name="rv_answer"/>
          <p:cNvSpPr/>
          <p:nvPr/>
        </p:nvSpPr>
        <p:spPr>
          <a:xfrm>
            <a:off x="457200" y="393928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③</a:t>
            </a:r>
            <a:endParaRPr lang="ko-KR" altLang="en-US" sz="1900" b="1" dirty="0">
              <a:solidFill>
                <a:srgbClr val="5A4200"/>
              </a:solidFill>
              <a:latin typeface="맑은 고딕"/>
              <a:ea typeface="맑은 고딕"/>
              <a:cs typeface="맑은 고딕"/>
            </a:endParaRPr>
          </a:p>
        </p:txBody>
      </p:sp>
      <p:sp>
        <p:nvSpPr>
          <p:cNvPr id="13" name="rv_why"/>
          <p:cNvSpPr/>
          <p:nvPr/>
        </p:nvSpPr>
        <p:spPr>
          <a:xfrm>
            <a:off x="457200" y="4538218"/>
            <a:ext cx="11277295" cy="188086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② 앞에서 효(孝)를 묻고, 주어진 문장이 'also'로 잉어·거문고·부채를 더 묻는다. ③ 뒤 'This kind of painting'이 이 그림을 받으므로 ③이다.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25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25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2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Lst>
  </p:timing>
</p:sld>
</file>

<file path=ppt/slides/slide2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L8-1</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3 · ①</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다음 글의 각 [  ] 안에서 문맥상 알맞은 것을 고르시오.</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8</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클릭할 때마다 괄호 속 정답이 앞에서부터 하나씩 빨간색으로 나타납니다 (총 4개)</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4379976"/>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4379976"/>
          </a:xfrm>
          <a:prstGeom prst="rect">
            <a:avLst/>
          </a:prstGeom>
          <a:noFill/>
        </p:spPr>
        <p:txBody>
          <a:bodyPr wrap="square" lIns="228600" tIns="155448" rIns="228600" bIns="155448" anchor="t" rtlCol="0">
            <a:noAutofit/>
          </a:bodyPr>
          <a:lstStyle/>
          <a:p>
            <a:pPr algn="l">
              <a:lnSpc>
                <a:spcPts val="3560"/>
              </a:lnSpc>
              <a:spcBef>
                <a:spcPts val="0"/>
              </a:spcBef>
              <a:spcAft>
                <a:spcPts val="0"/>
              </a:spcAft>
              <a:buNone/>
            </a:pPr>
            <a:r>
              <a:rPr lang="ko-KR" altLang="en-US" sz="2200" b="1" dirty="0">
                <a:solidFill>
                  <a:srgbClr val="1E2A5A"/>
                </a:solidFill>
                <a:latin typeface="맑은 고딕"/>
                <a:ea typeface="맑은 고딕"/>
                <a:cs typeface="맑은 고딕"/>
              </a:rPr>
              <a:t>①</a:t>
            </a:r>
            <a:r>
              <a:rPr lang="en-US" altLang="ko-KR" sz="2200" b="0"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Look at the painting on the right.</a:t>
            </a:r>
            <a:r>
              <a:rPr lang="en-US" altLang="ko-KR" sz="2200" b="0" dirty="0">
                <a:solidFill>
                  <a:srgbClr val="1F2328"/>
                </a:solidFill>
                <a:latin typeface="Calibri"/>
                <a:ea typeface="맑은 고딕"/>
                <a:cs typeface="Calibri"/>
              </a:rPr>
              <a:t>   </a:t>
            </a:r>
            <a:r>
              <a:rPr lang="ko-KR" altLang="en-US" sz="2200" b="1" dirty="0">
                <a:solidFill>
                  <a:srgbClr val="1E2A5A"/>
                </a:solidFill>
                <a:latin typeface="맑은 고딕"/>
                <a:ea typeface="맑은 고딕"/>
                <a:cs typeface="맑은 고딕"/>
              </a:rPr>
              <a:t>②</a:t>
            </a:r>
            <a:r>
              <a:rPr lang="en-US" altLang="ko-KR" sz="2200" b="0"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Do you see the Chinese character, hyo (孝)?</a:t>
            </a:r>
            <a:r>
              <a:rPr lang="en-US" altLang="ko-KR" sz="2200" b="0" dirty="0">
                <a:solidFill>
                  <a:srgbClr val="1F2328"/>
                </a:solidFill>
                <a:latin typeface="Calibri"/>
                <a:ea typeface="맑은 고딕"/>
                <a:cs typeface="Calibri"/>
              </a:rPr>
              <a:t>   </a:t>
            </a:r>
            <a:r>
              <a:rPr lang="ko-KR" altLang="en-US" sz="2200" b="1" dirty="0">
                <a:solidFill>
                  <a:srgbClr val="1E2A5A"/>
                </a:solidFill>
                <a:latin typeface="맑은 고딕"/>
                <a:ea typeface="맑은 고딕"/>
                <a:cs typeface="맑은 고딕"/>
              </a:rPr>
              <a:t>③</a:t>
            </a:r>
            <a:r>
              <a:rPr lang="en-US" altLang="ko-KR" sz="2200" b="0"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Do you also see a carp, a geomungo, and a fan?</a:t>
            </a:r>
            <a:r>
              <a:rPr lang="en-US" altLang="ko-KR" sz="2200" b="0" dirty="0">
                <a:solidFill>
                  <a:srgbClr val="1F2328"/>
                </a:solidFill>
                <a:latin typeface="Calibri"/>
                <a:ea typeface="맑은 고딕"/>
                <a:cs typeface="Calibri"/>
              </a:rPr>
              <a:t>   </a:t>
            </a:r>
            <a:r>
              <a:rPr lang="ko-KR" altLang="en-US" sz="2200" b="1" dirty="0">
                <a:solidFill>
                  <a:srgbClr val="1E2A5A"/>
                </a:solidFill>
                <a:latin typeface="맑은 고딕"/>
                <a:ea typeface="맑은 고딕"/>
                <a:cs typeface="맑은 고딕"/>
              </a:rPr>
              <a:t>④</a:t>
            </a:r>
            <a:r>
              <a:rPr lang="en-US" altLang="ko-KR" sz="2200" b="0"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This kind of painting </a:t>
            </a:r>
            <a:r>
              <a:rPr lang="en-US" altLang="ko-KR" sz="2200" b="1" dirty="0">
                <a:solidFill>
                  <a:srgbClr val="1F2328"/>
                </a:solidFill>
                <a:latin typeface="Calibri"/>
                <a:ea typeface="맑은 고딕"/>
                <a:cs typeface="Calibri"/>
              </a:rPr>
              <a:t>[ </a:t>
            </a:r>
            <a:r>
              <a:rPr lang="en-US" altLang="ko-KR" sz="2200" b="1" dirty="0">
                <a:solidFill>
                  <a:srgbClr val="1F2328"/>
                </a:solidFill>
                <a:latin typeface="Calibri"/>
                <a:ea typeface="맑은 고딕"/>
                <a:cs typeface="Calibri"/>
              </a:rPr>
              <a:t>is called</a:t>
            </a:r>
            <a:r>
              <a:rPr lang="en-US" altLang="ko-KR" sz="2200" b="1" dirty="0">
                <a:solidFill>
                  <a:srgbClr val="1F2328"/>
                </a:solidFill>
                <a:latin typeface="Calibri"/>
                <a:ea typeface="맑은 고딕"/>
                <a:cs typeface="Calibri"/>
              </a:rPr>
              <a:t> / </a:t>
            </a:r>
            <a:r>
              <a:rPr lang="en-US" altLang="ko-KR" sz="2200" b="1" dirty="0">
                <a:solidFill>
                  <a:srgbClr val="1F2328"/>
                </a:solidFill>
                <a:latin typeface="Calibri"/>
                <a:ea typeface="맑은 고딕"/>
                <a:cs typeface="Calibri"/>
              </a:rPr>
              <a:t>calls</a:t>
            </a:r>
            <a:r>
              <a:rPr lang="en-US" altLang="ko-KR" sz="2200" b="1"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 Munjado, and it is a type of folk painting </a:t>
            </a:r>
            <a:r>
              <a:rPr lang="en-US" altLang="ko-KR" sz="2200" b="1" dirty="0">
                <a:solidFill>
                  <a:srgbClr val="1F2328"/>
                </a:solidFill>
                <a:latin typeface="Calibri"/>
                <a:ea typeface="맑은 고딕"/>
                <a:cs typeface="Calibri"/>
              </a:rPr>
              <a:t>[ </a:t>
            </a:r>
            <a:r>
              <a:rPr lang="en-US" altLang="ko-KR" sz="2200" b="1" dirty="0">
                <a:solidFill>
                  <a:srgbClr val="1F2328"/>
                </a:solidFill>
                <a:latin typeface="Calibri"/>
                <a:ea typeface="맑은 고딕"/>
                <a:cs typeface="Calibri"/>
              </a:rPr>
              <a:t>what</a:t>
            </a:r>
            <a:r>
              <a:rPr lang="en-US" altLang="ko-KR" sz="2200" b="1" dirty="0">
                <a:solidFill>
                  <a:srgbClr val="1F2328"/>
                </a:solidFill>
                <a:latin typeface="Calibri"/>
                <a:ea typeface="맑은 고딕"/>
                <a:cs typeface="Calibri"/>
              </a:rPr>
              <a:t> / </a:t>
            </a:r>
            <a:r>
              <a:rPr lang="en-US" altLang="ko-KR" sz="2200" b="1" dirty="0">
                <a:solidFill>
                  <a:srgbClr val="1F2328"/>
                </a:solidFill>
                <a:latin typeface="Calibri"/>
                <a:ea typeface="맑은 고딕"/>
                <a:cs typeface="Calibri"/>
              </a:rPr>
              <a:t>that</a:t>
            </a:r>
            <a:r>
              <a:rPr lang="en-US" altLang="ko-KR" sz="2200" b="1"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 was popular in the late Joseon dynasty.</a:t>
            </a:r>
            <a:r>
              <a:rPr lang="en-US" altLang="ko-KR" sz="2200" b="0" dirty="0">
                <a:solidFill>
                  <a:srgbClr val="1F2328"/>
                </a:solidFill>
                <a:latin typeface="Calibri"/>
                <a:ea typeface="맑은 고딕"/>
                <a:cs typeface="Calibri"/>
              </a:rPr>
              <a:t>   </a:t>
            </a:r>
            <a:r>
              <a:rPr lang="ko-KR" altLang="en-US" sz="2200" b="1" dirty="0">
                <a:solidFill>
                  <a:srgbClr val="1E2A5A"/>
                </a:solidFill>
                <a:latin typeface="맑은 고딕"/>
                <a:ea typeface="맑은 고딕"/>
                <a:cs typeface="맑은 고딕"/>
              </a:rPr>
              <a:t>⑤</a:t>
            </a:r>
            <a:r>
              <a:rPr lang="en-US" altLang="ko-KR" sz="2200" b="0"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In Munjado, there is usually a Chinese character with some animals or objects.</a:t>
            </a:r>
            <a:r>
              <a:rPr lang="en-US" altLang="ko-KR" sz="2200" b="0" dirty="0">
                <a:solidFill>
                  <a:srgbClr val="1F2328"/>
                </a:solidFill>
                <a:latin typeface="Calibri"/>
                <a:ea typeface="맑은 고딕"/>
                <a:cs typeface="Calibri"/>
              </a:rPr>
              <a:t>   </a:t>
            </a:r>
            <a:r>
              <a:rPr lang="ko-KR" altLang="en-US" sz="2200" b="1" dirty="0">
                <a:solidFill>
                  <a:srgbClr val="1E2A5A"/>
                </a:solidFill>
                <a:latin typeface="맑은 고딕"/>
                <a:ea typeface="맑은 고딕"/>
                <a:cs typeface="맑은 고딕"/>
              </a:rPr>
              <a:t>⑥</a:t>
            </a:r>
            <a:r>
              <a:rPr lang="en-US" altLang="ko-KR" sz="2200" b="0"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One of eight Chinese characters </a:t>
            </a:r>
            <a:r>
              <a:rPr lang="en-US" altLang="ko-KR" sz="2200" b="1" dirty="0">
                <a:solidFill>
                  <a:srgbClr val="1F2328"/>
                </a:solidFill>
                <a:latin typeface="Calibri"/>
                <a:ea typeface="맑은 고딕"/>
                <a:cs typeface="Calibri"/>
              </a:rPr>
              <a:t>[ </a:t>
            </a:r>
            <a:r>
              <a:rPr lang="en-US" altLang="ko-KR" sz="2200" b="1" dirty="0">
                <a:solidFill>
                  <a:srgbClr val="1F2328"/>
                </a:solidFill>
                <a:latin typeface="Calibri"/>
                <a:ea typeface="맑은 고딕"/>
                <a:cs typeface="Calibri"/>
              </a:rPr>
              <a:t>appear</a:t>
            </a:r>
            <a:r>
              <a:rPr lang="en-US" altLang="ko-KR" sz="2200" b="1" dirty="0">
                <a:solidFill>
                  <a:srgbClr val="1F2328"/>
                </a:solidFill>
                <a:latin typeface="Calibri"/>
                <a:ea typeface="맑은 고딕"/>
                <a:cs typeface="Calibri"/>
              </a:rPr>
              <a:t> / </a:t>
            </a:r>
            <a:r>
              <a:rPr lang="en-US" altLang="ko-KR" sz="2200" b="1" dirty="0">
                <a:solidFill>
                  <a:srgbClr val="1F2328"/>
                </a:solidFill>
                <a:latin typeface="Calibri"/>
                <a:ea typeface="맑은 고딕"/>
                <a:cs typeface="Calibri"/>
              </a:rPr>
              <a:t>appears</a:t>
            </a:r>
            <a:r>
              <a:rPr lang="en-US" altLang="ko-KR" sz="2200" b="1"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 in Munjado.</a:t>
            </a:r>
            <a:r>
              <a:rPr lang="en-US" altLang="ko-KR" sz="2200" b="0" dirty="0">
                <a:solidFill>
                  <a:srgbClr val="1F2328"/>
                </a:solidFill>
                <a:latin typeface="Calibri"/>
                <a:ea typeface="맑은 고딕"/>
                <a:cs typeface="Calibri"/>
              </a:rPr>
              <a:t>   </a:t>
            </a:r>
            <a:r>
              <a:rPr lang="ko-KR" altLang="en-US" sz="2200" b="1" dirty="0">
                <a:solidFill>
                  <a:srgbClr val="1E2A5A"/>
                </a:solidFill>
                <a:latin typeface="맑은 고딕"/>
                <a:ea typeface="맑은 고딕"/>
                <a:cs typeface="맑은 고딕"/>
              </a:rPr>
              <a:t>⑦</a:t>
            </a:r>
            <a:r>
              <a:rPr lang="en-US" altLang="ko-KR" sz="2200" b="0"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They are hyo (孝), je (悌), chung (忠), sin (信), ye (禮), ui (義), yeom (廉), and chi (恥), and they represent the values that </a:t>
            </a:r>
            <a:r>
              <a:rPr lang="en-US" altLang="ko-KR" sz="2200" b="1" dirty="0">
                <a:solidFill>
                  <a:srgbClr val="1F2328"/>
                </a:solidFill>
                <a:latin typeface="Calibri"/>
                <a:ea typeface="맑은 고딕"/>
                <a:cs typeface="Calibri"/>
              </a:rPr>
              <a:t>[ </a:t>
            </a:r>
            <a:r>
              <a:rPr lang="en-US" altLang="ko-KR" sz="2200" b="1" dirty="0">
                <a:solidFill>
                  <a:srgbClr val="1F2328"/>
                </a:solidFill>
                <a:latin typeface="Calibri"/>
                <a:ea typeface="맑은 고딕"/>
                <a:cs typeface="Calibri"/>
              </a:rPr>
              <a:t>were</a:t>
            </a:r>
            <a:r>
              <a:rPr lang="en-US" altLang="ko-KR" sz="2200" b="1" dirty="0">
                <a:solidFill>
                  <a:srgbClr val="1F2328"/>
                </a:solidFill>
                <a:latin typeface="Calibri"/>
                <a:ea typeface="맑은 고딕"/>
                <a:cs typeface="Calibri"/>
              </a:rPr>
              <a:t> / </a:t>
            </a:r>
            <a:r>
              <a:rPr lang="en-US" altLang="ko-KR" sz="2200" b="1" dirty="0">
                <a:solidFill>
                  <a:srgbClr val="1F2328"/>
                </a:solidFill>
                <a:latin typeface="Calibri"/>
                <a:ea typeface="맑은 고딕"/>
                <a:cs typeface="Calibri"/>
              </a:rPr>
              <a:t>was</a:t>
            </a:r>
            <a:r>
              <a:rPr lang="en-US" altLang="ko-KR" sz="2200" b="1"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 important to people of the Joseon dynasty.</a:t>
            </a:r>
            <a:endParaRPr lang="en-US" altLang="ko-KR" sz="2200" b="0" dirty="0">
              <a:solidFill>
                <a:srgbClr val="1F2328"/>
              </a:solidFill>
              <a:latin typeface="Calibri"/>
              <a:ea typeface="맑은 고딕"/>
              <a:cs typeface="Calibri"/>
            </a:endParaRPr>
          </a:p>
        </p:txBody>
      </p:sp>
      <p:sp>
        <p:nvSpPr>
          <p:cNvPr id="9" name="rv_g01"/>
          <p:cNvSpPr txBox="1"/>
          <p:nvPr/>
        </p:nvSpPr>
        <p:spPr>
          <a:xfrm>
            <a:off x="457200" y="950976"/>
            <a:ext cx="11277295" cy="4379976"/>
          </a:xfrm>
          <a:prstGeom prst="rect">
            <a:avLst/>
          </a:prstGeom>
          <a:noFill/>
        </p:spPr>
        <p:txBody>
          <a:bodyPr wrap="square" lIns="228600" tIns="155448" rIns="228600" bIns="155448" anchor="t" rtlCol="0">
            <a:noAutofit/>
          </a:bodyPr>
          <a:lstStyle/>
          <a:p>
            <a:pPr algn="l">
              <a:lnSpc>
                <a:spcPts val="3560"/>
              </a:lnSpc>
              <a:spcBef>
                <a:spcPts val="0"/>
              </a:spcBef>
              <a:spcAft>
                <a:spcPts val="0"/>
              </a:spcAft>
              <a:buNone/>
            </a:pPr>
            <a:r>
              <a:rPr lang="ko-KR" altLang="en-US" sz="2200" b="1" dirty="0">
                <a:solidFill>
                  <a:srgbClr val="1E2A5A">
                    <a:alpha val="0"/>
                  </a:srgbClr>
                </a:solidFill>
                <a:latin typeface="맑은 고딕"/>
                <a:ea typeface="맑은 고딕"/>
                <a:cs typeface="맑은 고딕"/>
              </a:rPr>
              <a:t>①</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Look at the painting on the right.</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②</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Do you see the Chinese character, hyo (孝)?</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③</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Do you also see a carp, a geomungo, and a fan?</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④</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This kind of painting </a:t>
            </a:r>
            <a:r>
              <a:rPr lang="en-US" altLang="ko-KR" sz="2200" b="1" dirty="0">
                <a:solidFill>
                  <a:srgbClr val="1F2328">
                    <a:alpha val="0"/>
                  </a:srgbClr>
                </a:solidFill>
                <a:latin typeface="Calibri"/>
                <a:ea typeface="맑은 고딕"/>
                <a:cs typeface="Calibri"/>
              </a:rPr>
              <a:t>[ </a:t>
            </a:r>
            <a:r>
              <a:rPr lang="en-US" altLang="ko-KR" sz="2200" b="1" dirty="0">
                <a:solidFill>
                  <a:srgbClr val="C00000"/>
                </a:solidFill>
                <a:highlight>
                  <a:srgbClr val="F3F5F9"/>
                </a:highlight>
                <a:latin typeface="Calibri"/>
                <a:ea typeface="맑은 고딕"/>
                <a:cs typeface="Calibri"/>
              </a:rPr>
              <a:t>is called</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calls</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Munjado, and it is a type of folk painting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what</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that</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was popular in the late Joseon dynasty.</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⑤</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In Munjado, there is usually a Chinese character with some animals or objects.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⑥</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One of eight Chinese characters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appear</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appears</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in Munjado.</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⑦</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They are hyo (孝), je (悌), chung (忠), sin (信), ye (禮), ui (義), yeom (廉), and chi (恥), and they represent the values that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were</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was</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important to people of the Joseon dynasty.</a:t>
            </a:r>
            <a:endParaRPr lang="en-US" altLang="ko-KR" sz="2200" b="0" dirty="0">
              <a:solidFill>
                <a:srgbClr val="1F2328"/>
              </a:solidFill>
              <a:latin typeface="Calibri"/>
              <a:ea typeface="맑은 고딕"/>
              <a:cs typeface="Calibri"/>
            </a:endParaRPr>
          </a:p>
        </p:txBody>
      </p:sp>
      <p:sp>
        <p:nvSpPr>
          <p:cNvPr id="10" name="rv_g02"/>
          <p:cNvSpPr txBox="1"/>
          <p:nvPr/>
        </p:nvSpPr>
        <p:spPr>
          <a:xfrm>
            <a:off x="457200" y="950976"/>
            <a:ext cx="11277295" cy="4379976"/>
          </a:xfrm>
          <a:prstGeom prst="rect">
            <a:avLst/>
          </a:prstGeom>
          <a:noFill/>
        </p:spPr>
        <p:txBody>
          <a:bodyPr wrap="square" lIns="228600" tIns="155448" rIns="228600" bIns="155448" anchor="t" rtlCol="0">
            <a:noAutofit/>
          </a:bodyPr>
          <a:lstStyle/>
          <a:p>
            <a:pPr algn="l">
              <a:lnSpc>
                <a:spcPts val="3560"/>
              </a:lnSpc>
              <a:spcBef>
                <a:spcPts val="0"/>
              </a:spcBef>
              <a:spcAft>
                <a:spcPts val="0"/>
              </a:spcAft>
              <a:buNone/>
            </a:pPr>
            <a:r>
              <a:rPr lang="ko-KR" altLang="en-US" sz="2200" b="1" dirty="0">
                <a:solidFill>
                  <a:srgbClr val="1E2A5A">
                    <a:alpha val="0"/>
                  </a:srgbClr>
                </a:solidFill>
                <a:latin typeface="맑은 고딕"/>
                <a:ea typeface="맑은 고딕"/>
                <a:cs typeface="맑은 고딕"/>
              </a:rPr>
              <a:t>①</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Look at the painting on the right.</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②</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Do you see the Chinese character, hyo (孝)?</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③</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Do you also see a carp, a geomungo, and a fan?</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④</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This kind of painting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is called</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calls</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Munjado, and it is a type of folk painting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what</a:t>
            </a:r>
            <a:r>
              <a:rPr lang="en-US" altLang="ko-KR" sz="2200" b="1" dirty="0">
                <a:solidFill>
                  <a:srgbClr val="1F2328">
                    <a:alpha val="0"/>
                  </a:srgbClr>
                </a:solidFill>
                <a:latin typeface="Calibri"/>
                <a:ea typeface="맑은 고딕"/>
                <a:cs typeface="Calibri"/>
              </a:rPr>
              <a:t> / </a:t>
            </a:r>
            <a:r>
              <a:rPr lang="en-US" altLang="ko-KR" sz="2200" b="1" dirty="0">
                <a:solidFill>
                  <a:srgbClr val="C00000"/>
                </a:solidFill>
                <a:highlight>
                  <a:srgbClr val="F3F5F9"/>
                </a:highlight>
                <a:latin typeface="Calibri"/>
                <a:ea typeface="맑은 고딕"/>
                <a:cs typeface="Calibri"/>
              </a:rPr>
              <a:t>that</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was popular in the late Joseon dynasty.</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⑤</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In Munjado, there is usually a Chinese character with some animals or objects.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⑥</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One of eight Chinese characters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appear</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appears</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in Munjado.</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⑦</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They are hyo (孝), je (悌), chung (忠), sin (信), ye (禮), ui (義), yeom (廉), and chi (恥), and they represent the values that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were</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was</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important to people of the Joseon dynasty.</a:t>
            </a:r>
            <a:endParaRPr lang="en-US" altLang="ko-KR" sz="2200" b="0" dirty="0">
              <a:solidFill>
                <a:srgbClr val="1F2328"/>
              </a:solidFill>
              <a:latin typeface="Calibri"/>
              <a:ea typeface="맑은 고딕"/>
              <a:cs typeface="Calibri"/>
            </a:endParaRPr>
          </a:p>
        </p:txBody>
      </p:sp>
      <p:sp>
        <p:nvSpPr>
          <p:cNvPr id="11" name="rv_g03"/>
          <p:cNvSpPr txBox="1"/>
          <p:nvPr/>
        </p:nvSpPr>
        <p:spPr>
          <a:xfrm>
            <a:off x="457200" y="950976"/>
            <a:ext cx="11277295" cy="4379976"/>
          </a:xfrm>
          <a:prstGeom prst="rect">
            <a:avLst/>
          </a:prstGeom>
          <a:noFill/>
        </p:spPr>
        <p:txBody>
          <a:bodyPr wrap="square" lIns="228600" tIns="155448" rIns="228600" bIns="155448" anchor="t" rtlCol="0">
            <a:noAutofit/>
          </a:bodyPr>
          <a:lstStyle/>
          <a:p>
            <a:pPr algn="l">
              <a:lnSpc>
                <a:spcPts val="3560"/>
              </a:lnSpc>
              <a:spcBef>
                <a:spcPts val="0"/>
              </a:spcBef>
              <a:spcAft>
                <a:spcPts val="0"/>
              </a:spcAft>
              <a:buNone/>
            </a:pPr>
            <a:r>
              <a:rPr lang="ko-KR" altLang="en-US" sz="2200" b="1" dirty="0">
                <a:solidFill>
                  <a:srgbClr val="1E2A5A">
                    <a:alpha val="0"/>
                  </a:srgbClr>
                </a:solidFill>
                <a:latin typeface="맑은 고딕"/>
                <a:ea typeface="맑은 고딕"/>
                <a:cs typeface="맑은 고딕"/>
              </a:rPr>
              <a:t>①</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Look at the painting on the right.</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②</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Do you see the Chinese character, hyo (孝)?</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③</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Do you also see a carp, a geomungo, and a fan?</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④</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This kind of painting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is called</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calls</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Munjado, and it is a type of folk painting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what</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that</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was popular in the late Joseon dynasty.</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⑤</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In Munjado, there is usually a Chinese character with some animals or objects.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⑥</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One of eight Chinese characters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appear</a:t>
            </a:r>
            <a:r>
              <a:rPr lang="en-US" altLang="ko-KR" sz="2200" b="1" dirty="0">
                <a:solidFill>
                  <a:srgbClr val="1F2328">
                    <a:alpha val="0"/>
                  </a:srgbClr>
                </a:solidFill>
                <a:latin typeface="Calibri"/>
                <a:ea typeface="맑은 고딕"/>
                <a:cs typeface="Calibri"/>
              </a:rPr>
              <a:t> / </a:t>
            </a:r>
            <a:r>
              <a:rPr lang="en-US" altLang="ko-KR" sz="2200" b="1" dirty="0">
                <a:solidFill>
                  <a:srgbClr val="C00000"/>
                </a:solidFill>
                <a:highlight>
                  <a:srgbClr val="F3F5F9"/>
                </a:highlight>
                <a:latin typeface="Calibri"/>
                <a:ea typeface="맑은 고딕"/>
                <a:cs typeface="Calibri"/>
              </a:rPr>
              <a:t>appears</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in Munjado.</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⑦</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They are hyo (孝), je (悌), chung (忠), sin (信), ye (禮), ui (義), yeom (廉), and chi (恥), and they represent the values that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were</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was</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important to people of the Joseon dynasty.</a:t>
            </a:r>
            <a:endParaRPr lang="en-US" altLang="ko-KR" sz="2200" b="0" dirty="0">
              <a:solidFill>
                <a:srgbClr val="1F2328"/>
              </a:solidFill>
              <a:latin typeface="Calibri"/>
              <a:ea typeface="맑은 고딕"/>
              <a:cs typeface="Calibri"/>
            </a:endParaRPr>
          </a:p>
        </p:txBody>
      </p:sp>
      <p:sp>
        <p:nvSpPr>
          <p:cNvPr id="12" name="rv_g04"/>
          <p:cNvSpPr txBox="1"/>
          <p:nvPr/>
        </p:nvSpPr>
        <p:spPr>
          <a:xfrm>
            <a:off x="457200" y="950976"/>
            <a:ext cx="11277295" cy="4379976"/>
          </a:xfrm>
          <a:prstGeom prst="rect">
            <a:avLst/>
          </a:prstGeom>
          <a:noFill/>
        </p:spPr>
        <p:txBody>
          <a:bodyPr wrap="square" lIns="228600" tIns="155448" rIns="228600" bIns="155448" anchor="t" rtlCol="0">
            <a:noAutofit/>
          </a:bodyPr>
          <a:lstStyle/>
          <a:p>
            <a:pPr algn="l">
              <a:lnSpc>
                <a:spcPts val="3560"/>
              </a:lnSpc>
              <a:spcBef>
                <a:spcPts val="0"/>
              </a:spcBef>
              <a:spcAft>
                <a:spcPts val="0"/>
              </a:spcAft>
              <a:buNone/>
            </a:pPr>
            <a:r>
              <a:rPr lang="ko-KR" altLang="en-US" sz="2200" b="1" dirty="0">
                <a:solidFill>
                  <a:srgbClr val="1E2A5A">
                    <a:alpha val="0"/>
                  </a:srgbClr>
                </a:solidFill>
                <a:latin typeface="맑은 고딕"/>
                <a:ea typeface="맑은 고딕"/>
                <a:cs typeface="맑은 고딕"/>
              </a:rPr>
              <a:t>①</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Look at the painting on the right.</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②</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Do you see the Chinese character, hyo (孝)?</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③</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Do you also see a carp, a geomungo, and a fan?</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④</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This kind of painting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is called</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calls</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Munjado, and it is a type of folk painting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what</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that</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was popular in the late Joseon dynasty.</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⑤</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In Munjado, there is usually a Chinese character with some animals or objects.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⑥</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One of eight Chinese characters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appear</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appears</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in Munjado.</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⑦</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They are hyo (孝), je (悌), chung (忠), sin (信), ye (禮), ui (義), yeom (廉), and chi (恥), and they represent the values that </a:t>
            </a:r>
            <a:r>
              <a:rPr lang="en-US" altLang="ko-KR" sz="2200" b="1" dirty="0">
                <a:solidFill>
                  <a:srgbClr val="1F2328">
                    <a:alpha val="0"/>
                  </a:srgbClr>
                </a:solidFill>
                <a:latin typeface="Calibri"/>
                <a:ea typeface="맑은 고딕"/>
                <a:cs typeface="Calibri"/>
              </a:rPr>
              <a:t>[ </a:t>
            </a:r>
            <a:r>
              <a:rPr lang="en-US" altLang="ko-KR" sz="2200" b="1" dirty="0">
                <a:solidFill>
                  <a:srgbClr val="C00000"/>
                </a:solidFill>
                <a:highlight>
                  <a:srgbClr val="F3F5F9"/>
                </a:highlight>
                <a:latin typeface="Calibri"/>
                <a:ea typeface="맑은 고딕"/>
                <a:cs typeface="Calibri"/>
              </a:rPr>
              <a:t>were</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was</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important to people of the Joseon dynasty.</a:t>
            </a:r>
            <a:endParaRPr lang="en-US" altLang="ko-KR" sz="2200" b="0" dirty="0">
              <a:solidFill>
                <a:srgbClr val="1F2328"/>
              </a:solidFill>
              <a:latin typeface="Calibri"/>
              <a:ea typeface="맑은 고딕"/>
              <a:cs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25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25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25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25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Lst>
  </p:timing>
</p:sld>
</file>

<file path=ppt/slides/slide2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L8-1</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3 · ②</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다음 글의 각 [  ] 안에서 문맥상 알맞은 것을 고르시오.</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8</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클릭할 때마다 괄호 속 정답이 앞에서부터 하나씩 빨간색으로 나타납니다 (총 3개)</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4379976"/>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4379976"/>
          </a:xfrm>
          <a:prstGeom prst="rect">
            <a:avLst/>
          </a:prstGeom>
          <a:noFill/>
        </p:spPr>
        <p:txBody>
          <a:bodyPr wrap="square" lIns="228600" tIns="155448" rIns="228600" bIns="155448" anchor="t" rtlCol="0">
            <a:noAutofit/>
          </a:bodyPr>
          <a:lstStyle/>
          <a:p>
            <a:pPr algn="l">
              <a:lnSpc>
                <a:spcPts val="3560"/>
              </a:lnSpc>
              <a:spcBef>
                <a:spcPts val="0"/>
              </a:spcBef>
              <a:spcAft>
                <a:spcPts val="0"/>
              </a:spcAft>
              <a:buNone/>
            </a:pPr>
            <a:r>
              <a:rPr lang="ko-KR" altLang="en-US" sz="2200" b="1" dirty="0">
                <a:solidFill>
                  <a:srgbClr val="1E2A5A"/>
                </a:solidFill>
                <a:latin typeface="맑은 고딕"/>
                <a:ea typeface="맑은 고딕"/>
                <a:cs typeface="맑은 고딕"/>
              </a:rPr>
              <a:t>①</a:t>
            </a:r>
            <a:r>
              <a:rPr lang="en-US" altLang="ko-KR" sz="2200" b="0"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Look at the painting on the right.</a:t>
            </a:r>
            <a:r>
              <a:rPr lang="en-US" altLang="ko-KR" sz="2200" b="0" dirty="0">
                <a:solidFill>
                  <a:srgbClr val="1F2328"/>
                </a:solidFill>
                <a:latin typeface="Calibri"/>
                <a:ea typeface="맑은 고딕"/>
                <a:cs typeface="Calibri"/>
              </a:rPr>
              <a:t>   </a:t>
            </a:r>
            <a:r>
              <a:rPr lang="ko-KR" altLang="en-US" sz="2200" b="1" dirty="0">
                <a:solidFill>
                  <a:srgbClr val="1E2A5A"/>
                </a:solidFill>
                <a:latin typeface="맑은 고딕"/>
                <a:ea typeface="맑은 고딕"/>
                <a:cs typeface="맑은 고딕"/>
              </a:rPr>
              <a:t>②</a:t>
            </a:r>
            <a:r>
              <a:rPr lang="en-US" altLang="ko-KR" sz="2200" b="0"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Do you see the Chinese character, hyo (孝)?</a:t>
            </a:r>
            <a:r>
              <a:rPr lang="en-US" altLang="ko-KR" sz="2200" b="0" dirty="0">
                <a:solidFill>
                  <a:srgbClr val="1F2328"/>
                </a:solidFill>
                <a:latin typeface="Calibri"/>
                <a:ea typeface="맑은 고딕"/>
                <a:cs typeface="Calibri"/>
              </a:rPr>
              <a:t>   </a:t>
            </a:r>
            <a:r>
              <a:rPr lang="ko-KR" altLang="en-US" sz="2200" b="1" dirty="0">
                <a:solidFill>
                  <a:srgbClr val="1E2A5A"/>
                </a:solidFill>
                <a:latin typeface="맑은 고딕"/>
                <a:ea typeface="맑은 고딕"/>
                <a:cs typeface="맑은 고딕"/>
              </a:rPr>
              <a:t>③</a:t>
            </a:r>
            <a:r>
              <a:rPr lang="en-US" altLang="ko-KR" sz="2200" b="0"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Do you also see a carp, a geomungo, and a fan?</a:t>
            </a:r>
            <a:r>
              <a:rPr lang="en-US" altLang="ko-KR" sz="2200" b="0" dirty="0">
                <a:solidFill>
                  <a:srgbClr val="1F2328"/>
                </a:solidFill>
                <a:latin typeface="Calibri"/>
                <a:ea typeface="맑은 고딕"/>
                <a:cs typeface="Calibri"/>
              </a:rPr>
              <a:t>   </a:t>
            </a:r>
            <a:r>
              <a:rPr lang="ko-KR" altLang="en-US" sz="2200" b="1" dirty="0">
                <a:solidFill>
                  <a:srgbClr val="1E2A5A"/>
                </a:solidFill>
                <a:latin typeface="맑은 고딕"/>
                <a:ea typeface="맑은 고딕"/>
                <a:cs typeface="맑은 고딕"/>
              </a:rPr>
              <a:t>④</a:t>
            </a:r>
            <a:r>
              <a:rPr lang="en-US" altLang="ko-KR" sz="2200" b="0"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This kind of painting is called Munjado, and it is a type of folk painting that was </a:t>
            </a:r>
            <a:r>
              <a:rPr lang="en-US" altLang="ko-KR" sz="2200" b="1" dirty="0">
                <a:solidFill>
                  <a:srgbClr val="1F2328"/>
                </a:solidFill>
                <a:latin typeface="Calibri"/>
                <a:ea typeface="맑은 고딕"/>
                <a:cs typeface="Calibri"/>
              </a:rPr>
              <a:t>[ </a:t>
            </a:r>
            <a:r>
              <a:rPr lang="en-US" altLang="ko-KR" sz="2200" b="1" dirty="0">
                <a:solidFill>
                  <a:srgbClr val="1F2328"/>
                </a:solidFill>
                <a:latin typeface="Calibri"/>
                <a:ea typeface="맑은 고딕"/>
                <a:cs typeface="Calibri"/>
              </a:rPr>
              <a:t>popular</a:t>
            </a:r>
            <a:r>
              <a:rPr lang="en-US" altLang="ko-KR" sz="2200" b="1" dirty="0">
                <a:solidFill>
                  <a:srgbClr val="1F2328"/>
                </a:solidFill>
                <a:latin typeface="Calibri"/>
                <a:ea typeface="맑은 고딕"/>
                <a:cs typeface="Calibri"/>
              </a:rPr>
              <a:t> / </a:t>
            </a:r>
            <a:r>
              <a:rPr lang="en-US" altLang="ko-KR" sz="2200" b="1" dirty="0">
                <a:solidFill>
                  <a:srgbClr val="1F2328"/>
                </a:solidFill>
                <a:latin typeface="Calibri"/>
                <a:ea typeface="맑은 고딕"/>
                <a:cs typeface="Calibri"/>
              </a:rPr>
              <a:t>popularly</a:t>
            </a:r>
            <a:r>
              <a:rPr lang="en-US" altLang="ko-KR" sz="2200" b="1"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 in the late Joseon dynasty.</a:t>
            </a:r>
            <a:r>
              <a:rPr lang="en-US" altLang="ko-KR" sz="2200" b="0" dirty="0">
                <a:solidFill>
                  <a:srgbClr val="1F2328"/>
                </a:solidFill>
                <a:latin typeface="Calibri"/>
                <a:ea typeface="맑은 고딕"/>
                <a:cs typeface="Calibri"/>
              </a:rPr>
              <a:t>   </a:t>
            </a:r>
            <a:r>
              <a:rPr lang="ko-KR" altLang="en-US" sz="2200" b="1" dirty="0">
                <a:solidFill>
                  <a:srgbClr val="1E2A5A"/>
                </a:solidFill>
                <a:latin typeface="맑은 고딕"/>
                <a:ea typeface="맑은 고딕"/>
                <a:cs typeface="맑은 고딕"/>
              </a:rPr>
              <a:t>⑤</a:t>
            </a:r>
            <a:r>
              <a:rPr lang="en-US" altLang="ko-KR" sz="2200" b="0"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In Munjado, there </a:t>
            </a:r>
            <a:r>
              <a:rPr lang="en-US" altLang="ko-KR" sz="2200" b="1" dirty="0">
                <a:solidFill>
                  <a:srgbClr val="1F2328"/>
                </a:solidFill>
                <a:latin typeface="Calibri"/>
                <a:ea typeface="맑은 고딕"/>
                <a:cs typeface="Calibri"/>
              </a:rPr>
              <a:t>[ </a:t>
            </a:r>
            <a:r>
              <a:rPr lang="en-US" altLang="ko-KR" sz="2200" b="1" dirty="0">
                <a:solidFill>
                  <a:srgbClr val="1F2328"/>
                </a:solidFill>
                <a:latin typeface="Calibri"/>
                <a:ea typeface="맑은 고딕"/>
                <a:cs typeface="Calibri"/>
              </a:rPr>
              <a:t>is</a:t>
            </a:r>
            <a:r>
              <a:rPr lang="en-US" altLang="ko-KR" sz="2200" b="1" dirty="0">
                <a:solidFill>
                  <a:srgbClr val="1F2328"/>
                </a:solidFill>
                <a:latin typeface="Calibri"/>
                <a:ea typeface="맑은 고딕"/>
                <a:cs typeface="Calibri"/>
              </a:rPr>
              <a:t> / </a:t>
            </a:r>
            <a:r>
              <a:rPr lang="en-US" altLang="ko-KR" sz="2200" b="1" dirty="0">
                <a:solidFill>
                  <a:srgbClr val="1F2328"/>
                </a:solidFill>
                <a:latin typeface="Calibri"/>
                <a:ea typeface="맑은 고딕"/>
                <a:cs typeface="Calibri"/>
              </a:rPr>
              <a:t>are</a:t>
            </a:r>
            <a:r>
              <a:rPr lang="en-US" altLang="ko-KR" sz="2200" b="1"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 usually a Chinese character with some animals or objects.</a:t>
            </a:r>
            <a:r>
              <a:rPr lang="en-US" altLang="ko-KR" sz="2200" b="0" dirty="0">
                <a:solidFill>
                  <a:srgbClr val="1F2328"/>
                </a:solidFill>
                <a:latin typeface="Calibri"/>
                <a:ea typeface="맑은 고딕"/>
                <a:cs typeface="Calibri"/>
              </a:rPr>
              <a:t>   </a:t>
            </a:r>
            <a:r>
              <a:rPr lang="ko-KR" altLang="en-US" sz="2200" b="1" dirty="0">
                <a:solidFill>
                  <a:srgbClr val="1E2A5A"/>
                </a:solidFill>
                <a:latin typeface="맑은 고딕"/>
                <a:ea typeface="맑은 고딕"/>
                <a:cs typeface="맑은 고딕"/>
              </a:rPr>
              <a:t>⑥</a:t>
            </a:r>
            <a:r>
              <a:rPr lang="en-US" altLang="ko-KR" sz="2200" b="0"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One of eight Chinese characters appears in Munjado.</a:t>
            </a:r>
            <a:r>
              <a:rPr lang="en-US" altLang="ko-KR" sz="2200" b="0" dirty="0">
                <a:solidFill>
                  <a:srgbClr val="1F2328"/>
                </a:solidFill>
                <a:latin typeface="Calibri"/>
                <a:ea typeface="맑은 고딕"/>
                <a:cs typeface="Calibri"/>
              </a:rPr>
              <a:t>   </a:t>
            </a:r>
            <a:r>
              <a:rPr lang="ko-KR" altLang="en-US" sz="2200" b="1" dirty="0">
                <a:solidFill>
                  <a:srgbClr val="1E2A5A"/>
                </a:solidFill>
                <a:latin typeface="맑은 고딕"/>
                <a:ea typeface="맑은 고딕"/>
                <a:cs typeface="맑은 고딕"/>
              </a:rPr>
              <a:t>⑦</a:t>
            </a:r>
            <a:r>
              <a:rPr lang="en-US" altLang="ko-KR" sz="2200" b="0"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They are hyo (孝), je (悌), chung (忠), sin (信), ye (禮), ui (義), yeom (廉), and chi (恥), and they </a:t>
            </a:r>
            <a:r>
              <a:rPr lang="en-US" altLang="ko-KR" sz="2200" b="1" dirty="0">
                <a:solidFill>
                  <a:srgbClr val="1F2328"/>
                </a:solidFill>
                <a:latin typeface="Calibri"/>
                <a:ea typeface="맑은 고딕"/>
                <a:cs typeface="Calibri"/>
              </a:rPr>
              <a:t>[ </a:t>
            </a:r>
            <a:r>
              <a:rPr lang="en-US" altLang="ko-KR" sz="2200" b="1" dirty="0">
                <a:solidFill>
                  <a:srgbClr val="1F2328"/>
                </a:solidFill>
                <a:latin typeface="Calibri"/>
                <a:ea typeface="맑은 고딕"/>
                <a:cs typeface="Calibri"/>
              </a:rPr>
              <a:t>represent</a:t>
            </a:r>
            <a:r>
              <a:rPr lang="en-US" altLang="ko-KR" sz="2200" b="1" dirty="0">
                <a:solidFill>
                  <a:srgbClr val="1F2328"/>
                </a:solidFill>
                <a:latin typeface="Calibri"/>
                <a:ea typeface="맑은 고딕"/>
                <a:cs typeface="Calibri"/>
              </a:rPr>
              <a:t> / </a:t>
            </a:r>
            <a:r>
              <a:rPr lang="en-US" altLang="ko-KR" sz="2200" b="1" dirty="0">
                <a:solidFill>
                  <a:srgbClr val="1F2328"/>
                </a:solidFill>
                <a:latin typeface="Calibri"/>
                <a:ea typeface="맑은 고딕"/>
                <a:cs typeface="Calibri"/>
              </a:rPr>
              <a:t>represents</a:t>
            </a:r>
            <a:r>
              <a:rPr lang="en-US" altLang="ko-KR" sz="2200" b="1"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 the values that were important to people of the Joseon dynasty.</a:t>
            </a:r>
            <a:endParaRPr lang="en-US" altLang="ko-KR" sz="2200" b="0" dirty="0">
              <a:solidFill>
                <a:srgbClr val="1F2328"/>
              </a:solidFill>
              <a:latin typeface="Calibri"/>
              <a:ea typeface="맑은 고딕"/>
              <a:cs typeface="Calibri"/>
            </a:endParaRPr>
          </a:p>
        </p:txBody>
      </p:sp>
      <p:sp>
        <p:nvSpPr>
          <p:cNvPr id="9" name="rv_g01"/>
          <p:cNvSpPr txBox="1"/>
          <p:nvPr/>
        </p:nvSpPr>
        <p:spPr>
          <a:xfrm>
            <a:off x="457200" y="950976"/>
            <a:ext cx="11277295" cy="4379976"/>
          </a:xfrm>
          <a:prstGeom prst="rect">
            <a:avLst/>
          </a:prstGeom>
          <a:noFill/>
        </p:spPr>
        <p:txBody>
          <a:bodyPr wrap="square" lIns="228600" tIns="155448" rIns="228600" bIns="155448" anchor="t" rtlCol="0">
            <a:noAutofit/>
          </a:bodyPr>
          <a:lstStyle/>
          <a:p>
            <a:pPr algn="l">
              <a:lnSpc>
                <a:spcPts val="3560"/>
              </a:lnSpc>
              <a:spcBef>
                <a:spcPts val="0"/>
              </a:spcBef>
              <a:spcAft>
                <a:spcPts val="0"/>
              </a:spcAft>
              <a:buNone/>
            </a:pPr>
            <a:r>
              <a:rPr lang="ko-KR" altLang="en-US" sz="2200" b="1" dirty="0">
                <a:solidFill>
                  <a:srgbClr val="1E2A5A">
                    <a:alpha val="0"/>
                  </a:srgbClr>
                </a:solidFill>
                <a:latin typeface="맑은 고딕"/>
                <a:ea typeface="맑은 고딕"/>
                <a:cs typeface="맑은 고딕"/>
              </a:rPr>
              <a:t>①</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Look at the painting on the right.</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②</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Do you see the Chinese character, hyo (孝)?</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③</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Do you also see a carp, a geomungo, and a fan?</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④</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This kind of painting is called Munjado, and it is a type of folk painting that was </a:t>
            </a:r>
            <a:r>
              <a:rPr lang="en-US" altLang="ko-KR" sz="2200" b="1" dirty="0">
                <a:solidFill>
                  <a:srgbClr val="1F2328">
                    <a:alpha val="0"/>
                  </a:srgbClr>
                </a:solidFill>
                <a:latin typeface="Calibri"/>
                <a:ea typeface="맑은 고딕"/>
                <a:cs typeface="Calibri"/>
              </a:rPr>
              <a:t>[ </a:t>
            </a:r>
            <a:r>
              <a:rPr lang="en-US" altLang="ko-KR" sz="2200" b="1" dirty="0">
                <a:solidFill>
                  <a:srgbClr val="C00000"/>
                </a:solidFill>
                <a:highlight>
                  <a:srgbClr val="F3F5F9"/>
                </a:highlight>
                <a:latin typeface="Calibri"/>
                <a:ea typeface="맑은 고딕"/>
                <a:cs typeface="Calibri"/>
              </a:rPr>
              <a:t>popular</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popularly</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in the late Joseon dynasty.</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⑤</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In Munjado, there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is</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are</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usually a Chinese character with some animals or objects.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⑥</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One of eight Chinese characters appears in Munjado.</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⑦</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They are hyo (孝), je (悌), chung (忠), sin (信), ye (禮), ui (義), yeom (廉), and chi (恥), and they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represent</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represents</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 values that were important to people of the Joseon dynasty.</a:t>
            </a:r>
            <a:endParaRPr lang="en-US" altLang="ko-KR" sz="2200" b="0" dirty="0">
              <a:solidFill>
                <a:srgbClr val="1F2328"/>
              </a:solidFill>
              <a:latin typeface="Calibri"/>
              <a:ea typeface="맑은 고딕"/>
              <a:cs typeface="Calibri"/>
            </a:endParaRPr>
          </a:p>
        </p:txBody>
      </p:sp>
      <p:sp>
        <p:nvSpPr>
          <p:cNvPr id="10" name="rv_g02"/>
          <p:cNvSpPr txBox="1"/>
          <p:nvPr/>
        </p:nvSpPr>
        <p:spPr>
          <a:xfrm>
            <a:off x="457200" y="950976"/>
            <a:ext cx="11277295" cy="4379976"/>
          </a:xfrm>
          <a:prstGeom prst="rect">
            <a:avLst/>
          </a:prstGeom>
          <a:noFill/>
        </p:spPr>
        <p:txBody>
          <a:bodyPr wrap="square" lIns="228600" tIns="155448" rIns="228600" bIns="155448" anchor="t" rtlCol="0">
            <a:noAutofit/>
          </a:bodyPr>
          <a:lstStyle/>
          <a:p>
            <a:pPr algn="l">
              <a:lnSpc>
                <a:spcPts val="3560"/>
              </a:lnSpc>
              <a:spcBef>
                <a:spcPts val="0"/>
              </a:spcBef>
              <a:spcAft>
                <a:spcPts val="0"/>
              </a:spcAft>
              <a:buNone/>
            </a:pPr>
            <a:r>
              <a:rPr lang="ko-KR" altLang="en-US" sz="2200" b="1" dirty="0">
                <a:solidFill>
                  <a:srgbClr val="1E2A5A">
                    <a:alpha val="0"/>
                  </a:srgbClr>
                </a:solidFill>
                <a:latin typeface="맑은 고딕"/>
                <a:ea typeface="맑은 고딕"/>
                <a:cs typeface="맑은 고딕"/>
              </a:rPr>
              <a:t>①</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Look at the painting on the right.</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②</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Do you see the Chinese character, hyo (孝)?</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③</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Do you also see a carp, a geomungo, and a fan?</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④</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This kind of painting is called Munjado, and it is a type of folk painting that was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popular</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popularly</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in the late Joseon dynasty.</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⑤</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In Munjado, there </a:t>
            </a:r>
            <a:r>
              <a:rPr lang="en-US" altLang="ko-KR" sz="2200" b="1" dirty="0">
                <a:solidFill>
                  <a:srgbClr val="1F2328">
                    <a:alpha val="0"/>
                  </a:srgbClr>
                </a:solidFill>
                <a:latin typeface="Calibri"/>
                <a:ea typeface="맑은 고딕"/>
                <a:cs typeface="Calibri"/>
              </a:rPr>
              <a:t>[ </a:t>
            </a:r>
            <a:r>
              <a:rPr lang="en-US" altLang="ko-KR" sz="2200" b="1" dirty="0">
                <a:solidFill>
                  <a:srgbClr val="C00000"/>
                </a:solidFill>
                <a:highlight>
                  <a:srgbClr val="F3F5F9"/>
                </a:highlight>
                <a:latin typeface="Calibri"/>
                <a:ea typeface="맑은 고딕"/>
                <a:cs typeface="Calibri"/>
              </a:rPr>
              <a:t>is</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are</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usually a Chinese character with some animals or objects.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⑥</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One of eight Chinese characters appears in Munjado.</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⑦</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They are hyo (孝), je (悌), chung (忠), sin (信), ye (禮), ui (義), yeom (廉), and chi (恥), and they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represent</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represents</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 values that were important to people of the Joseon dynasty.</a:t>
            </a:r>
            <a:endParaRPr lang="en-US" altLang="ko-KR" sz="2200" b="0" dirty="0">
              <a:solidFill>
                <a:srgbClr val="1F2328"/>
              </a:solidFill>
              <a:latin typeface="Calibri"/>
              <a:ea typeface="맑은 고딕"/>
              <a:cs typeface="Calibri"/>
            </a:endParaRPr>
          </a:p>
        </p:txBody>
      </p:sp>
      <p:sp>
        <p:nvSpPr>
          <p:cNvPr id="11" name="rv_g03"/>
          <p:cNvSpPr txBox="1"/>
          <p:nvPr/>
        </p:nvSpPr>
        <p:spPr>
          <a:xfrm>
            <a:off x="457200" y="950976"/>
            <a:ext cx="11277295" cy="4379976"/>
          </a:xfrm>
          <a:prstGeom prst="rect">
            <a:avLst/>
          </a:prstGeom>
          <a:noFill/>
        </p:spPr>
        <p:txBody>
          <a:bodyPr wrap="square" lIns="228600" tIns="155448" rIns="228600" bIns="155448" anchor="t" rtlCol="0">
            <a:noAutofit/>
          </a:bodyPr>
          <a:lstStyle/>
          <a:p>
            <a:pPr algn="l">
              <a:lnSpc>
                <a:spcPts val="3560"/>
              </a:lnSpc>
              <a:spcBef>
                <a:spcPts val="0"/>
              </a:spcBef>
              <a:spcAft>
                <a:spcPts val="0"/>
              </a:spcAft>
              <a:buNone/>
            </a:pPr>
            <a:r>
              <a:rPr lang="ko-KR" altLang="en-US" sz="2200" b="1" dirty="0">
                <a:solidFill>
                  <a:srgbClr val="1E2A5A">
                    <a:alpha val="0"/>
                  </a:srgbClr>
                </a:solidFill>
                <a:latin typeface="맑은 고딕"/>
                <a:ea typeface="맑은 고딕"/>
                <a:cs typeface="맑은 고딕"/>
              </a:rPr>
              <a:t>①</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Look at the painting on the right.</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②</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Do you see the Chinese character, hyo (孝)?</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③</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Do you also see a carp, a geomungo, and a fan?</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④</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This kind of painting is called Munjado, and it is a type of folk painting that was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popular</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popularly</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in the late Joseon dynasty.</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⑤</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In Munjado, there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is</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are</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usually a Chinese character with some animals or objects.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⑥</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One of eight Chinese characters appears in Munjado.</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⑦</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They are hyo (孝), je (悌), chung (忠), sin (信), ye (禮), ui (義), yeom (廉), and chi (恥), and they </a:t>
            </a:r>
            <a:r>
              <a:rPr lang="en-US" altLang="ko-KR" sz="2200" b="1" dirty="0">
                <a:solidFill>
                  <a:srgbClr val="1F2328">
                    <a:alpha val="0"/>
                  </a:srgbClr>
                </a:solidFill>
                <a:latin typeface="Calibri"/>
                <a:ea typeface="맑은 고딕"/>
                <a:cs typeface="Calibri"/>
              </a:rPr>
              <a:t>[ </a:t>
            </a:r>
            <a:r>
              <a:rPr lang="en-US" altLang="ko-KR" sz="2200" b="1" dirty="0">
                <a:solidFill>
                  <a:srgbClr val="C00000"/>
                </a:solidFill>
                <a:highlight>
                  <a:srgbClr val="F3F5F9"/>
                </a:highlight>
                <a:latin typeface="Calibri"/>
                <a:ea typeface="맑은 고딕"/>
                <a:cs typeface="Calibri"/>
              </a:rPr>
              <a:t>represent</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represents</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 values that were important to people of the Joseon dynasty.</a:t>
            </a:r>
            <a:endParaRPr lang="en-US" altLang="ko-KR" sz="2200" b="0" dirty="0">
              <a:solidFill>
                <a:srgbClr val="1F2328"/>
              </a:solidFill>
              <a:latin typeface="Calibri"/>
              <a:ea typeface="맑은 고딕"/>
              <a:cs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25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25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25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Lst>
  </p:timing>
</p:sld>
</file>

<file path=ppt/slides/slide25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L8-2</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1 · 1</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1. 다음 글의 주제로 가장 적절한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8</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본문 근거 형광 + 정답 원리</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195452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1954529"/>
          </a:xfrm>
          <a:prstGeom prst="rect">
            <a:avLst/>
          </a:prstGeom>
          <a:noFill/>
        </p:spPr>
        <p:txBody>
          <a:bodyPr wrap="square" lIns="201168" tIns="118872" rIns="201168" bIns="118872" anchor="t" rtlCol="0">
            <a:noAutofit/>
          </a:bodyPr>
          <a:lstStyle/>
          <a:p>
            <a:pPr algn="just">
              <a:lnSpc>
                <a:spcPts val="1890"/>
              </a:lnSpc>
              <a:spcBef>
                <a:spcPts val="0"/>
              </a:spcBef>
              <a:spcAft>
                <a:spcPts val="0"/>
              </a:spcAft>
              <a:buNone/>
            </a:pPr>
            <a:r>
              <a:rPr lang="en-US" altLang="ko-KR" sz="1450" b="0" dirty="0">
                <a:solidFill>
                  <a:srgbClr val="1F2328"/>
                </a:solidFill>
                <a:latin typeface="Calibri"/>
                <a:ea typeface="맑은 고딕"/>
                <a:cs typeface="Calibri"/>
              </a:rPr>
              <a:t>The animals or objects in Munjado are not just decorations. They often are symbolic. </a:t>
            </a:r>
            <a:r>
              <a:rPr lang="en-US" altLang="ko-KR" sz="1450" b="0" dirty="0">
                <a:solidFill>
                  <a:srgbClr val="1F2328"/>
                </a:solidFill>
                <a:latin typeface="Calibri"/>
                <a:ea typeface="맑은 고딕"/>
                <a:cs typeface="Calibri"/>
              </a:rPr>
              <a:t>For example, carp in the paintings of hyo symbolize respect for parents because of an old story.</a:t>
            </a:r>
            <a:r>
              <a:rPr lang="en-US" altLang="ko-KR" sz="1450" b="0" dirty="0">
                <a:solidFill>
                  <a:srgbClr val="1F2328"/>
                </a:solidFill>
                <a:latin typeface="Calibri"/>
                <a:ea typeface="맑은 고딕"/>
                <a:cs typeface="Calibri"/>
              </a:rPr>
              <a:t> The story goes as follows. Once upon a time, a man lived with his old mother. One winter, the man’s mother became ill and couldn’t eat anything. On one very cold day, the mother said to the man, “It would be wonderful if I could eat fresh fish.” The man went out to the river, but it was completely frozen. It was impossible for him to catch any fish. The man was so disappointed that he cried out to the sky, “What should I do? Please help me.” Then the ice melted, and three carp suddenly came out of the water. The man went back home and cooked the fish for his mother. Then his mother got well.</a:t>
            </a:r>
            <a:endParaRPr lang="en-US" altLang="ko-KR" sz="1450" b="0" dirty="0">
              <a:solidFill>
                <a:srgbClr val="1F2328"/>
              </a:solidFill>
              <a:latin typeface="Calibri"/>
              <a:ea typeface="맑은 고딕"/>
              <a:cs typeface="Calibri"/>
            </a:endParaRPr>
          </a:p>
        </p:txBody>
      </p:sp>
      <p:sp>
        <p:nvSpPr>
          <p:cNvPr id="9" name="rv_evidence_card"/>
          <p:cNvSpPr/>
          <p:nvPr/>
        </p:nvSpPr>
        <p:spPr>
          <a:xfrm>
            <a:off x="457200" y="950976"/>
            <a:ext cx="11277295" cy="195452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rv_evidence"/>
          <p:cNvSpPr txBox="1"/>
          <p:nvPr/>
        </p:nvSpPr>
        <p:spPr>
          <a:xfrm>
            <a:off x="457200" y="950976"/>
            <a:ext cx="11277295" cy="1954529"/>
          </a:xfrm>
          <a:prstGeom prst="rect">
            <a:avLst/>
          </a:prstGeom>
          <a:noFill/>
        </p:spPr>
        <p:txBody>
          <a:bodyPr wrap="square" lIns="201168" tIns="118872" rIns="201168" bIns="118872" anchor="t" rtlCol="0">
            <a:noAutofit/>
          </a:bodyPr>
          <a:lstStyle/>
          <a:p>
            <a:pPr algn="just">
              <a:lnSpc>
                <a:spcPts val="1890"/>
              </a:lnSpc>
              <a:spcBef>
                <a:spcPts val="0"/>
              </a:spcBef>
              <a:spcAft>
                <a:spcPts val="0"/>
              </a:spcAft>
              <a:buNone/>
            </a:pPr>
            <a:r>
              <a:rPr lang="en-US" altLang="ko-KR" sz="1450" b="0" dirty="0">
                <a:solidFill>
                  <a:srgbClr val="B3BAC6"/>
                </a:solidFill>
                <a:latin typeface="Calibri"/>
                <a:ea typeface="맑은 고딕"/>
                <a:cs typeface="Calibri"/>
              </a:rPr>
              <a:t>The animals or objects in Munjado are not just decorations. They often are symbolic. </a:t>
            </a:r>
            <a:r>
              <a:rPr lang="en-US" altLang="ko-KR" sz="1450" b="0" dirty="0">
                <a:solidFill>
                  <a:srgbClr val="111111"/>
                </a:solidFill>
                <a:highlight>
                  <a:srgbClr val="FFE45C"/>
                </a:highlight>
                <a:latin typeface="Calibri"/>
                <a:ea typeface="맑은 고딕"/>
                <a:cs typeface="Calibri"/>
              </a:rPr>
              <a:t>For example, carp in the paintings of hyo symbolize respect for parents because of an old story.</a:t>
            </a:r>
            <a:r>
              <a:rPr lang="en-US" altLang="ko-KR" sz="1450" b="0" dirty="0">
                <a:solidFill>
                  <a:srgbClr val="B3BAC6"/>
                </a:solidFill>
                <a:latin typeface="Calibri"/>
                <a:ea typeface="맑은 고딕"/>
                <a:cs typeface="Calibri"/>
              </a:rPr>
              <a:t> The story goes as follows. Once upon a time, a man lived with his old mother. One winter, the man’s mother became ill and couldn’t eat anything. On one very cold day, the mother said to the man, “It would be wonderful if I could eat fresh fish.” The man went out to the river, but it was completely frozen. It was impossible for him to catch any fish. The man was so disappointed that he cried out to the sky, “What should I do? Please help me.” Then the ice melted, and three carp suddenly came out of the water. The man went back home and cooked the fish for his mother. Then his mother got well.</a:t>
            </a:r>
            <a:endParaRPr lang="en-US" altLang="ko-KR" sz="1450" b="0" dirty="0">
              <a:solidFill>
                <a:srgbClr val="B3BAC6"/>
              </a:solidFill>
              <a:latin typeface="Calibri"/>
              <a:ea typeface="맑은 고딕"/>
              <a:cs typeface="Calibri"/>
            </a:endParaRPr>
          </a:p>
        </p:txBody>
      </p:sp>
      <p:sp>
        <p:nvSpPr>
          <p:cNvPr id="11" name="choice_1"/>
          <p:cNvSpPr txBox="1"/>
          <p:nvPr/>
        </p:nvSpPr>
        <p:spPr>
          <a:xfrm>
            <a:off x="457200" y="3051810"/>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①</a:t>
            </a:r>
            <a:r>
              <a:rPr lang="en-US" altLang="ko-KR" sz="1800" b="0" dirty="0">
                <a:solidFill>
                  <a:srgbClr val="1F2328"/>
                </a:solidFill>
                <a:latin typeface="Calibri"/>
                <a:ea typeface="맑은 고딕"/>
                <a:cs typeface="Calibri"/>
              </a:rPr>
              <a:t>	how carp became a sign of respect for parents</a:t>
            </a:r>
            <a:endParaRPr lang="en-US" altLang="ko-KR" sz="1800" b="0" dirty="0">
              <a:solidFill>
                <a:srgbClr val="1F2328"/>
              </a:solidFill>
              <a:latin typeface="Calibri"/>
              <a:ea typeface="맑은 고딕"/>
              <a:cs typeface="Calibri"/>
            </a:endParaRPr>
          </a:p>
        </p:txBody>
      </p:sp>
      <p:sp>
        <p:nvSpPr>
          <p:cNvPr id="12" name="rv_pick"/>
          <p:cNvSpPr txBox="1"/>
          <p:nvPr/>
        </p:nvSpPr>
        <p:spPr>
          <a:xfrm>
            <a:off x="457200" y="3051810"/>
            <a:ext cx="11277295" cy="379984"/>
          </a:xfrm>
          <a:prstGeom prst="rect">
            <a:avLst/>
          </a:prstGeom>
          <a:solidFill>
            <a:srgbClr val="FFF3C4"/>
          </a:solid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C00000"/>
                </a:solidFill>
                <a:latin typeface="맑은 고딕"/>
                <a:ea typeface="맑은 고딕"/>
                <a:cs typeface="맑은 고딕"/>
              </a:rPr>
              <a:t>①</a:t>
            </a:r>
            <a:r>
              <a:rPr lang="en-US" altLang="ko-KR" sz="1800" b="0" dirty="0">
                <a:solidFill>
                  <a:srgbClr val="C00000"/>
                </a:solidFill>
                <a:latin typeface="Calibri"/>
                <a:ea typeface="맑은 고딕"/>
                <a:cs typeface="Calibri"/>
              </a:rPr>
              <a:t>	how carp became a sign of respect for parents</a:t>
            </a:r>
            <a:endParaRPr lang="en-US" altLang="ko-KR" sz="1800" b="0" dirty="0">
              <a:solidFill>
                <a:srgbClr val="C00000"/>
              </a:solidFill>
              <a:latin typeface="Calibri"/>
              <a:ea typeface="맑은 고딕"/>
              <a:cs typeface="Calibri"/>
            </a:endParaRPr>
          </a:p>
        </p:txBody>
      </p:sp>
      <p:sp>
        <p:nvSpPr>
          <p:cNvPr id="13" name="choice_2"/>
          <p:cNvSpPr txBox="1"/>
          <p:nvPr/>
        </p:nvSpPr>
        <p:spPr>
          <a:xfrm>
            <a:off x="457200" y="3459226"/>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②</a:t>
            </a:r>
            <a:r>
              <a:rPr lang="en-US" altLang="ko-KR" sz="1800" b="0" dirty="0">
                <a:solidFill>
                  <a:srgbClr val="1F2328"/>
                </a:solidFill>
                <a:latin typeface="Calibri"/>
                <a:ea typeface="맑은 고딕"/>
                <a:cs typeface="Calibri"/>
              </a:rPr>
              <a:t>	why carp live in very cold frozen rivers</a:t>
            </a:r>
            <a:endParaRPr lang="en-US" altLang="ko-KR" sz="1800" b="0" dirty="0">
              <a:solidFill>
                <a:srgbClr val="1F2328"/>
              </a:solidFill>
              <a:latin typeface="Calibri"/>
              <a:ea typeface="맑은 고딕"/>
              <a:cs typeface="Calibri"/>
            </a:endParaRPr>
          </a:p>
        </p:txBody>
      </p:sp>
      <p:sp>
        <p:nvSpPr>
          <p:cNvPr id="14" name="choice_3"/>
          <p:cNvSpPr txBox="1"/>
          <p:nvPr/>
        </p:nvSpPr>
        <p:spPr>
          <a:xfrm>
            <a:off x="457200" y="3866642"/>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③</a:t>
            </a:r>
            <a:r>
              <a:rPr lang="en-US" altLang="ko-KR" sz="1800" b="0" dirty="0">
                <a:solidFill>
                  <a:srgbClr val="1F2328"/>
                </a:solidFill>
                <a:latin typeface="Calibri"/>
                <a:ea typeface="맑은 고딕"/>
                <a:cs typeface="Calibri"/>
              </a:rPr>
              <a:t>	ways to cook fresh fish for sick people</a:t>
            </a:r>
            <a:endParaRPr lang="en-US" altLang="ko-KR" sz="1800" b="0" dirty="0">
              <a:solidFill>
                <a:srgbClr val="1F2328"/>
              </a:solidFill>
              <a:latin typeface="Calibri"/>
              <a:ea typeface="맑은 고딕"/>
              <a:cs typeface="Calibri"/>
            </a:endParaRPr>
          </a:p>
        </p:txBody>
      </p:sp>
      <p:sp>
        <p:nvSpPr>
          <p:cNvPr id="15" name="choice_4"/>
          <p:cNvSpPr txBox="1"/>
          <p:nvPr/>
        </p:nvSpPr>
        <p:spPr>
          <a:xfrm>
            <a:off x="457200" y="4274058"/>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④</a:t>
            </a:r>
            <a:r>
              <a:rPr lang="en-US" altLang="ko-KR" sz="1800" b="0" dirty="0">
                <a:solidFill>
                  <a:srgbClr val="1F2328"/>
                </a:solidFill>
                <a:latin typeface="Calibri"/>
                <a:ea typeface="맑은 고딕"/>
                <a:cs typeface="Calibri"/>
              </a:rPr>
              <a:t>	the reason ice melts fast in the winter</a:t>
            </a:r>
            <a:endParaRPr lang="en-US" altLang="ko-KR" sz="1800" b="0" dirty="0">
              <a:solidFill>
                <a:srgbClr val="1F2328"/>
              </a:solidFill>
              <a:latin typeface="Calibri"/>
              <a:ea typeface="맑은 고딕"/>
              <a:cs typeface="Calibri"/>
            </a:endParaRPr>
          </a:p>
        </p:txBody>
      </p:sp>
      <p:sp>
        <p:nvSpPr>
          <p:cNvPr id="16" name="choice_5"/>
          <p:cNvSpPr txBox="1"/>
          <p:nvPr/>
        </p:nvSpPr>
        <p:spPr>
          <a:xfrm>
            <a:off x="457200" y="4681474"/>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⑤</a:t>
            </a:r>
            <a:r>
              <a:rPr lang="en-US" altLang="ko-KR" sz="1800" b="0" dirty="0">
                <a:solidFill>
                  <a:srgbClr val="1F2328"/>
                </a:solidFill>
                <a:latin typeface="Calibri"/>
                <a:ea typeface="맑은 고딕"/>
                <a:cs typeface="Calibri"/>
              </a:rPr>
              <a:t>	how Joseon men learned to catch fish</a:t>
            </a:r>
            <a:endParaRPr lang="en-US" altLang="ko-KR" sz="1800" b="0" dirty="0">
              <a:solidFill>
                <a:srgbClr val="1F2328"/>
              </a:solidFill>
              <a:latin typeface="Calibri"/>
              <a:ea typeface="맑은 고딕"/>
              <a:cs typeface="Calibri"/>
            </a:endParaRPr>
          </a:p>
        </p:txBody>
      </p:sp>
      <p:sp>
        <p:nvSpPr>
          <p:cNvPr id="17" name="rv_answer"/>
          <p:cNvSpPr/>
          <p:nvPr/>
        </p:nvSpPr>
        <p:spPr>
          <a:xfrm>
            <a:off x="457200" y="517118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① </a:t>
            </a:r>
            <a:r>
              <a:rPr lang="en-US" altLang="ko-KR" sz="1900" b="1" dirty="0">
                <a:solidFill>
                  <a:srgbClr val="5A4200"/>
                </a:solidFill>
                <a:latin typeface="Calibri"/>
                <a:ea typeface="맑은 고딕"/>
                <a:cs typeface="Calibri"/>
              </a:rPr>
              <a:t>how carp became a sign of respect for parents</a:t>
            </a:r>
            <a:endParaRPr lang="en-US" altLang="ko-KR" sz="1900" b="1" dirty="0">
              <a:solidFill>
                <a:srgbClr val="5A4200"/>
              </a:solidFill>
              <a:latin typeface="Calibri"/>
              <a:ea typeface="맑은 고딕"/>
              <a:cs typeface="Calibri"/>
            </a:endParaRPr>
          </a:p>
        </p:txBody>
      </p:sp>
      <p:sp>
        <p:nvSpPr>
          <p:cNvPr id="18" name="rv_why"/>
          <p:cNvSpPr/>
          <p:nvPr/>
        </p:nvSpPr>
        <p:spPr>
          <a:xfrm>
            <a:off x="457200" y="5770118"/>
            <a:ext cx="11277295" cy="64896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효 그림 속 잉어가 옛이야기 때문에 부모님에 대한 공경('respect for parents')을 상징한다고 한다. 정답은 ①이다.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25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25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25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7" grpId="0" animBg="1"/>
      <p:bldP spid="9" grpId="0" animBg="1"/>
      <p:bldP spid="10" grpId="0" animBg="1"/>
      <p:bldP spid="18" grpId="0" animBg="1"/>
    </p:bldLst>
  </p:timing>
</p:sld>
</file>

<file path=ppt/slides/slide25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L8-2</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1 · 2</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2. 다음 글의 제목으로 가장 적절한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8</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본문 근거 형광 + 정답 원리</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195452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1954529"/>
          </a:xfrm>
          <a:prstGeom prst="rect">
            <a:avLst/>
          </a:prstGeom>
          <a:noFill/>
        </p:spPr>
        <p:txBody>
          <a:bodyPr wrap="square" lIns="201168" tIns="118872" rIns="201168" bIns="118872" anchor="t" rtlCol="0">
            <a:noAutofit/>
          </a:bodyPr>
          <a:lstStyle/>
          <a:p>
            <a:pPr algn="just">
              <a:lnSpc>
                <a:spcPts val="1890"/>
              </a:lnSpc>
              <a:spcBef>
                <a:spcPts val="0"/>
              </a:spcBef>
              <a:spcAft>
                <a:spcPts val="0"/>
              </a:spcAft>
              <a:buNone/>
            </a:pPr>
            <a:r>
              <a:rPr lang="en-US" altLang="ko-KR" sz="1450" b="0" dirty="0">
                <a:solidFill>
                  <a:srgbClr val="1F2328"/>
                </a:solidFill>
                <a:latin typeface="Calibri"/>
                <a:ea typeface="맑은 고딕"/>
                <a:cs typeface="Calibri"/>
              </a:rPr>
              <a:t>The animals or objects in Munjado are not just decorations. They often are symbolic. </a:t>
            </a:r>
            <a:r>
              <a:rPr lang="en-US" altLang="ko-KR" sz="1450" b="0" dirty="0">
                <a:solidFill>
                  <a:srgbClr val="1F2328"/>
                </a:solidFill>
                <a:latin typeface="Calibri"/>
                <a:ea typeface="맑은 고딕"/>
                <a:cs typeface="Calibri"/>
              </a:rPr>
              <a:t>For example, carp in the paintings of hyo symbolize respect for parents because of an old story.</a:t>
            </a:r>
            <a:r>
              <a:rPr lang="en-US" altLang="ko-KR" sz="1450" b="0" dirty="0">
                <a:solidFill>
                  <a:srgbClr val="1F2328"/>
                </a:solidFill>
                <a:latin typeface="Calibri"/>
                <a:ea typeface="맑은 고딕"/>
                <a:cs typeface="Calibri"/>
              </a:rPr>
              <a:t> The story goes as follows. Once upon a time, a man lived with his old mother. One winter, the man’s mother became ill and couldn’t eat anything. On one very cold day, the mother said to the man, “It would be wonderful if I could eat fresh fish.” The man went out to the river, but it was completely frozen. It was impossible for him to catch any fish. The man was so disappointed that he cried out to the sky, “What should I do? Please help me.” Then the ice melted, and three carp suddenly came out of the water. The man went back home and cooked the fish for his mother. Then his mother got well.</a:t>
            </a:r>
            <a:endParaRPr lang="en-US" altLang="ko-KR" sz="1450" b="0" dirty="0">
              <a:solidFill>
                <a:srgbClr val="1F2328"/>
              </a:solidFill>
              <a:latin typeface="Calibri"/>
              <a:ea typeface="맑은 고딕"/>
              <a:cs typeface="Calibri"/>
            </a:endParaRPr>
          </a:p>
        </p:txBody>
      </p:sp>
      <p:sp>
        <p:nvSpPr>
          <p:cNvPr id="9" name="rv_evidence_card"/>
          <p:cNvSpPr/>
          <p:nvPr/>
        </p:nvSpPr>
        <p:spPr>
          <a:xfrm>
            <a:off x="457200" y="950976"/>
            <a:ext cx="11277295" cy="195452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rv_evidence"/>
          <p:cNvSpPr txBox="1"/>
          <p:nvPr/>
        </p:nvSpPr>
        <p:spPr>
          <a:xfrm>
            <a:off x="457200" y="950976"/>
            <a:ext cx="11277295" cy="1954529"/>
          </a:xfrm>
          <a:prstGeom prst="rect">
            <a:avLst/>
          </a:prstGeom>
          <a:noFill/>
        </p:spPr>
        <p:txBody>
          <a:bodyPr wrap="square" lIns="201168" tIns="118872" rIns="201168" bIns="118872" anchor="t" rtlCol="0">
            <a:noAutofit/>
          </a:bodyPr>
          <a:lstStyle/>
          <a:p>
            <a:pPr algn="just">
              <a:lnSpc>
                <a:spcPts val="1890"/>
              </a:lnSpc>
              <a:spcBef>
                <a:spcPts val="0"/>
              </a:spcBef>
              <a:spcAft>
                <a:spcPts val="0"/>
              </a:spcAft>
              <a:buNone/>
            </a:pPr>
            <a:r>
              <a:rPr lang="en-US" altLang="ko-KR" sz="1450" b="0" dirty="0">
                <a:solidFill>
                  <a:srgbClr val="B3BAC6"/>
                </a:solidFill>
                <a:latin typeface="Calibri"/>
                <a:ea typeface="맑은 고딕"/>
                <a:cs typeface="Calibri"/>
              </a:rPr>
              <a:t>The animals or objects in Munjado are not just decorations. They often are symbolic. </a:t>
            </a:r>
            <a:r>
              <a:rPr lang="en-US" altLang="ko-KR" sz="1450" b="0" dirty="0">
                <a:solidFill>
                  <a:srgbClr val="111111"/>
                </a:solidFill>
                <a:highlight>
                  <a:srgbClr val="FFE45C"/>
                </a:highlight>
                <a:latin typeface="Calibri"/>
                <a:ea typeface="맑은 고딕"/>
                <a:cs typeface="Calibri"/>
              </a:rPr>
              <a:t>For example, carp in the paintings of hyo symbolize respect for parents because of an old story.</a:t>
            </a:r>
            <a:r>
              <a:rPr lang="en-US" altLang="ko-KR" sz="1450" b="0" dirty="0">
                <a:solidFill>
                  <a:srgbClr val="B3BAC6"/>
                </a:solidFill>
                <a:latin typeface="Calibri"/>
                <a:ea typeface="맑은 고딕"/>
                <a:cs typeface="Calibri"/>
              </a:rPr>
              <a:t> The story goes as follows. Once upon a time, a man lived with his old mother. One winter, the man’s mother became ill and couldn’t eat anything. On one very cold day, the mother said to the man, “It would be wonderful if I could eat fresh fish.” The man went out to the river, but it was completely frozen. It was impossible for him to catch any fish. The man was so disappointed that he cried out to the sky, “What should I do? Please help me.” Then the ice melted, and three carp suddenly came out of the water. The man went back home and cooked the fish for his mother. Then his mother got well.</a:t>
            </a:r>
            <a:endParaRPr lang="en-US" altLang="ko-KR" sz="1450" b="0" dirty="0">
              <a:solidFill>
                <a:srgbClr val="B3BAC6"/>
              </a:solidFill>
              <a:latin typeface="Calibri"/>
              <a:ea typeface="맑은 고딕"/>
              <a:cs typeface="Calibri"/>
            </a:endParaRPr>
          </a:p>
        </p:txBody>
      </p:sp>
      <p:sp>
        <p:nvSpPr>
          <p:cNvPr id="11" name="choice_1"/>
          <p:cNvSpPr txBox="1"/>
          <p:nvPr/>
        </p:nvSpPr>
        <p:spPr>
          <a:xfrm>
            <a:off x="457200" y="3051810"/>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①</a:t>
            </a:r>
            <a:r>
              <a:rPr lang="en-US" altLang="ko-KR" sz="1800" b="0" dirty="0">
                <a:solidFill>
                  <a:srgbClr val="1F2328"/>
                </a:solidFill>
                <a:latin typeface="Calibri"/>
                <a:ea typeface="맑은 고딕"/>
                <a:cs typeface="Calibri"/>
              </a:rPr>
              <a:t>	Fishing Tips for Cold Winter Days</a:t>
            </a:r>
            <a:endParaRPr lang="en-US" altLang="ko-KR" sz="1800" b="0" dirty="0">
              <a:solidFill>
                <a:srgbClr val="1F2328"/>
              </a:solidFill>
              <a:latin typeface="Calibri"/>
              <a:ea typeface="맑은 고딕"/>
              <a:cs typeface="Calibri"/>
            </a:endParaRPr>
          </a:p>
        </p:txBody>
      </p:sp>
      <p:sp>
        <p:nvSpPr>
          <p:cNvPr id="12" name="choice_2"/>
          <p:cNvSpPr txBox="1"/>
          <p:nvPr/>
        </p:nvSpPr>
        <p:spPr>
          <a:xfrm>
            <a:off x="457200" y="3459226"/>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②</a:t>
            </a:r>
            <a:r>
              <a:rPr lang="en-US" altLang="ko-KR" sz="1800" b="0" dirty="0">
                <a:solidFill>
                  <a:srgbClr val="1F2328"/>
                </a:solidFill>
                <a:latin typeface="Calibri"/>
                <a:ea typeface="맑은 고딕"/>
                <a:cs typeface="Calibri"/>
              </a:rPr>
              <a:t>	The Carp: A Symbol of Filial Respect</a:t>
            </a:r>
            <a:endParaRPr lang="en-US" altLang="ko-KR" sz="1800" b="0" dirty="0">
              <a:solidFill>
                <a:srgbClr val="1F2328"/>
              </a:solidFill>
              <a:latin typeface="Calibri"/>
              <a:ea typeface="맑은 고딕"/>
              <a:cs typeface="Calibri"/>
            </a:endParaRPr>
          </a:p>
        </p:txBody>
      </p:sp>
      <p:sp>
        <p:nvSpPr>
          <p:cNvPr id="13" name="rv_pick"/>
          <p:cNvSpPr txBox="1"/>
          <p:nvPr/>
        </p:nvSpPr>
        <p:spPr>
          <a:xfrm>
            <a:off x="457200" y="3459226"/>
            <a:ext cx="11277295" cy="379984"/>
          </a:xfrm>
          <a:prstGeom prst="rect">
            <a:avLst/>
          </a:prstGeom>
          <a:solidFill>
            <a:srgbClr val="FFF3C4"/>
          </a:solid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C00000"/>
                </a:solidFill>
                <a:latin typeface="맑은 고딕"/>
                <a:ea typeface="맑은 고딕"/>
                <a:cs typeface="맑은 고딕"/>
              </a:rPr>
              <a:t>②</a:t>
            </a:r>
            <a:r>
              <a:rPr lang="en-US" altLang="ko-KR" sz="1800" b="0" dirty="0">
                <a:solidFill>
                  <a:srgbClr val="C00000"/>
                </a:solidFill>
                <a:latin typeface="Calibri"/>
                <a:ea typeface="맑은 고딕"/>
                <a:cs typeface="Calibri"/>
              </a:rPr>
              <a:t>	The Carp: A Symbol of Filial Respect</a:t>
            </a:r>
            <a:endParaRPr lang="en-US" altLang="ko-KR" sz="1800" b="0" dirty="0">
              <a:solidFill>
                <a:srgbClr val="C00000"/>
              </a:solidFill>
              <a:latin typeface="Calibri"/>
              <a:ea typeface="맑은 고딕"/>
              <a:cs typeface="Calibri"/>
            </a:endParaRPr>
          </a:p>
        </p:txBody>
      </p:sp>
      <p:sp>
        <p:nvSpPr>
          <p:cNvPr id="14" name="choice_3"/>
          <p:cNvSpPr txBox="1"/>
          <p:nvPr/>
        </p:nvSpPr>
        <p:spPr>
          <a:xfrm>
            <a:off x="457200" y="3866642"/>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③</a:t>
            </a:r>
            <a:r>
              <a:rPr lang="en-US" altLang="ko-KR" sz="1800" b="0" dirty="0">
                <a:solidFill>
                  <a:srgbClr val="1F2328"/>
                </a:solidFill>
                <a:latin typeface="Calibri"/>
                <a:ea typeface="맑은 고딕"/>
                <a:cs typeface="Calibri"/>
              </a:rPr>
              <a:t>	How to Cook Carp for Your Family</a:t>
            </a:r>
            <a:endParaRPr lang="en-US" altLang="ko-KR" sz="1800" b="0" dirty="0">
              <a:solidFill>
                <a:srgbClr val="1F2328"/>
              </a:solidFill>
              <a:latin typeface="Calibri"/>
              <a:ea typeface="맑은 고딕"/>
              <a:cs typeface="Calibri"/>
            </a:endParaRPr>
          </a:p>
        </p:txBody>
      </p:sp>
      <p:sp>
        <p:nvSpPr>
          <p:cNvPr id="15" name="choice_4"/>
          <p:cNvSpPr txBox="1"/>
          <p:nvPr/>
        </p:nvSpPr>
        <p:spPr>
          <a:xfrm>
            <a:off x="457200" y="4274058"/>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④</a:t>
            </a:r>
            <a:r>
              <a:rPr lang="en-US" altLang="ko-KR" sz="1800" b="0" dirty="0">
                <a:solidFill>
                  <a:srgbClr val="1F2328"/>
                </a:solidFill>
                <a:latin typeface="Calibri"/>
                <a:ea typeface="맑은 고딕"/>
                <a:cs typeface="Calibri"/>
              </a:rPr>
              <a:t>	Why Rivers Freeze in Early Winter</a:t>
            </a:r>
            <a:endParaRPr lang="en-US" altLang="ko-KR" sz="1800" b="0" dirty="0">
              <a:solidFill>
                <a:srgbClr val="1F2328"/>
              </a:solidFill>
              <a:latin typeface="Calibri"/>
              <a:ea typeface="맑은 고딕"/>
              <a:cs typeface="Calibri"/>
            </a:endParaRPr>
          </a:p>
        </p:txBody>
      </p:sp>
      <p:sp>
        <p:nvSpPr>
          <p:cNvPr id="16" name="choice_5"/>
          <p:cNvSpPr txBox="1"/>
          <p:nvPr/>
        </p:nvSpPr>
        <p:spPr>
          <a:xfrm>
            <a:off x="457200" y="4681474"/>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⑤</a:t>
            </a:r>
            <a:r>
              <a:rPr lang="en-US" altLang="ko-KR" sz="1800" b="0" dirty="0">
                <a:solidFill>
                  <a:srgbClr val="1F2328"/>
                </a:solidFill>
                <a:latin typeface="Calibri"/>
                <a:ea typeface="맑은 고딕"/>
                <a:cs typeface="Calibri"/>
              </a:rPr>
              <a:t>	Decorations That Joseon People Loved</a:t>
            </a:r>
            <a:endParaRPr lang="en-US" altLang="ko-KR" sz="1800" b="0" dirty="0">
              <a:solidFill>
                <a:srgbClr val="1F2328"/>
              </a:solidFill>
              <a:latin typeface="Calibri"/>
              <a:ea typeface="맑은 고딕"/>
              <a:cs typeface="Calibri"/>
            </a:endParaRPr>
          </a:p>
        </p:txBody>
      </p:sp>
      <p:sp>
        <p:nvSpPr>
          <p:cNvPr id="17" name="rv_answer"/>
          <p:cNvSpPr/>
          <p:nvPr/>
        </p:nvSpPr>
        <p:spPr>
          <a:xfrm>
            <a:off x="457200" y="517118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② </a:t>
            </a:r>
            <a:r>
              <a:rPr lang="en-US" altLang="ko-KR" sz="1900" b="1" dirty="0">
                <a:solidFill>
                  <a:srgbClr val="5A4200"/>
                </a:solidFill>
                <a:latin typeface="Calibri"/>
                <a:ea typeface="맑은 고딕"/>
                <a:cs typeface="Calibri"/>
              </a:rPr>
              <a:t>The Carp: A Symbol of Filial Respect</a:t>
            </a:r>
            <a:endParaRPr lang="en-US" altLang="ko-KR" sz="1900" b="1" dirty="0">
              <a:solidFill>
                <a:srgbClr val="5A4200"/>
              </a:solidFill>
              <a:latin typeface="Calibri"/>
              <a:ea typeface="맑은 고딕"/>
              <a:cs typeface="Calibri"/>
            </a:endParaRPr>
          </a:p>
        </p:txBody>
      </p:sp>
      <p:sp>
        <p:nvSpPr>
          <p:cNvPr id="18" name="rv_why"/>
          <p:cNvSpPr/>
          <p:nvPr/>
        </p:nvSpPr>
        <p:spPr>
          <a:xfrm>
            <a:off x="457200" y="5770118"/>
            <a:ext cx="11277295" cy="64896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잉어가 한 옛이야기로 인해 부모 공경을 상징한다는 것이 중심 내용이므로 ②가 제목으로 알맞다.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250"/>
                                        <p:tgtEl>
                                          <p:spTgt spid="1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25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25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7" grpId="0" animBg="1"/>
      <p:bldP spid="9" grpId="0" animBg="1"/>
      <p:bldP spid="10" grpId="0" animBg="1"/>
      <p:bldP spid="18" grpId="0" animBg="1"/>
    </p:bldLst>
  </p:timing>
</p:sld>
</file>

<file path=ppt/slides/slide25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L8-2</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1 · 3</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3. 다음 글에서 필자가 주장하는 바로 가장 적절한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8</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본문 근거 형광 + 정답 원리</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195452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1954529"/>
          </a:xfrm>
          <a:prstGeom prst="rect">
            <a:avLst/>
          </a:prstGeom>
          <a:noFill/>
        </p:spPr>
        <p:txBody>
          <a:bodyPr wrap="square" lIns="201168" tIns="118872" rIns="201168" bIns="118872" anchor="t" rtlCol="0">
            <a:noAutofit/>
          </a:bodyPr>
          <a:lstStyle/>
          <a:p>
            <a:pPr algn="just">
              <a:lnSpc>
                <a:spcPts val="1890"/>
              </a:lnSpc>
              <a:spcBef>
                <a:spcPts val="0"/>
              </a:spcBef>
              <a:spcAft>
                <a:spcPts val="0"/>
              </a:spcAft>
              <a:buNone/>
            </a:pPr>
            <a:r>
              <a:rPr lang="en-US" altLang="ko-KR" sz="1450" b="0" dirty="0">
                <a:solidFill>
                  <a:srgbClr val="1F2328"/>
                </a:solidFill>
                <a:latin typeface="Calibri"/>
                <a:ea typeface="맑은 고딕"/>
                <a:cs typeface="Calibri"/>
              </a:rPr>
              <a:t>The animals or objects in Munjado are not just decorations.</a:t>
            </a:r>
            <a:r>
              <a:rPr lang="en-US" altLang="ko-KR" sz="1450" b="0" dirty="0">
                <a:solidFill>
                  <a:srgbClr val="1F2328"/>
                </a:solidFill>
                <a:latin typeface="Calibri"/>
                <a:ea typeface="맑은 고딕"/>
                <a:cs typeface="Calibri"/>
              </a:rPr>
              <a:t> </a:t>
            </a:r>
            <a:r>
              <a:rPr lang="en-US" altLang="ko-KR" sz="1450" b="0" dirty="0">
                <a:solidFill>
                  <a:srgbClr val="1F2328"/>
                </a:solidFill>
                <a:latin typeface="Calibri"/>
                <a:ea typeface="맑은 고딕"/>
                <a:cs typeface="Calibri"/>
              </a:rPr>
              <a:t>They often are symbolic.</a:t>
            </a:r>
            <a:r>
              <a:rPr lang="en-US" altLang="ko-KR" sz="1450" b="0" dirty="0">
                <a:solidFill>
                  <a:srgbClr val="1F2328"/>
                </a:solidFill>
                <a:latin typeface="Calibri"/>
                <a:ea typeface="맑은 고딕"/>
                <a:cs typeface="Calibri"/>
              </a:rPr>
              <a:t> For example, carp in the paintings of hyo symbolize respect for parents because of an old story. The story goes as follows. Once upon a time, a man lived with his old mother. One winter, the man’s mother became ill and couldn’t eat anything. On one very cold day, the mother said to the man, “It would be wonderful if I could eat fresh fish.” The man went out to the river, but it was completely frozen. It was impossible for him to catch any fish. The man was so disappointed that he cried out to the sky, “What should I do? Please help me.” Then the ice melted, and three carp suddenly came out of the water. The man went back home and cooked the fish for his mother. Then his mother got well.</a:t>
            </a:r>
            <a:endParaRPr lang="en-US" altLang="ko-KR" sz="1450" b="0" dirty="0">
              <a:solidFill>
                <a:srgbClr val="1F2328"/>
              </a:solidFill>
              <a:latin typeface="Calibri"/>
              <a:ea typeface="맑은 고딕"/>
              <a:cs typeface="Calibri"/>
            </a:endParaRPr>
          </a:p>
        </p:txBody>
      </p:sp>
      <p:sp>
        <p:nvSpPr>
          <p:cNvPr id="9" name="rv_evidence_card"/>
          <p:cNvSpPr/>
          <p:nvPr/>
        </p:nvSpPr>
        <p:spPr>
          <a:xfrm>
            <a:off x="457200" y="950976"/>
            <a:ext cx="11277295" cy="195452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rv_evidence"/>
          <p:cNvSpPr txBox="1"/>
          <p:nvPr/>
        </p:nvSpPr>
        <p:spPr>
          <a:xfrm>
            <a:off x="457200" y="950976"/>
            <a:ext cx="11277295" cy="1954529"/>
          </a:xfrm>
          <a:prstGeom prst="rect">
            <a:avLst/>
          </a:prstGeom>
          <a:noFill/>
        </p:spPr>
        <p:txBody>
          <a:bodyPr wrap="square" lIns="201168" tIns="118872" rIns="201168" bIns="118872" anchor="t" rtlCol="0">
            <a:noAutofit/>
          </a:bodyPr>
          <a:lstStyle/>
          <a:p>
            <a:pPr algn="just">
              <a:lnSpc>
                <a:spcPts val="1890"/>
              </a:lnSpc>
              <a:spcBef>
                <a:spcPts val="0"/>
              </a:spcBef>
              <a:spcAft>
                <a:spcPts val="0"/>
              </a:spcAft>
              <a:buNone/>
            </a:pPr>
            <a:r>
              <a:rPr lang="en-US" altLang="ko-KR" sz="1450" b="0" dirty="0">
                <a:solidFill>
                  <a:srgbClr val="111111"/>
                </a:solidFill>
                <a:highlight>
                  <a:srgbClr val="FFE45C"/>
                </a:highlight>
                <a:latin typeface="Calibri"/>
                <a:ea typeface="맑은 고딕"/>
                <a:cs typeface="Calibri"/>
              </a:rPr>
              <a:t>The animals or objects in Munjado are not just decorations.</a:t>
            </a:r>
            <a:r>
              <a:rPr lang="en-US" altLang="ko-KR" sz="1450" b="0" dirty="0">
                <a:solidFill>
                  <a:srgbClr val="B3BAC6"/>
                </a:solidFill>
                <a:latin typeface="Calibri"/>
                <a:ea typeface="맑은 고딕"/>
                <a:cs typeface="Calibri"/>
              </a:rPr>
              <a:t> </a:t>
            </a:r>
            <a:r>
              <a:rPr lang="en-US" altLang="ko-KR" sz="1450" b="0" dirty="0">
                <a:solidFill>
                  <a:srgbClr val="111111"/>
                </a:solidFill>
                <a:highlight>
                  <a:srgbClr val="FFE45C"/>
                </a:highlight>
                <a:latin typeface="Calibri"/>
                <a:ea typeface="맑은 고딕"/>
                <a:cs typeface="Calibri"/>
              </a:rPr>
              <a:t>They often are symbolic.</a:t>
            </a:r>
            <a:r>
              <a:rPr lang="en-US" altLang="ko-KR" sz="1450" b="0" dirty="0">
                <a:solidFill>
                  <a:srgbClr val="B3BAC6"/>
                </a:solidFill>
                <a:latin typeface="Calibri"/>
                <a:ea typeface="맑은 고딕"/>
                <a:cs typeface="Calibri"/>
              </a:rPr>
              <a:t> For example, carp in the paintings of hyo symbolize respect for parents because of an old story. The story goes as follows. Once upon a time, a man lived with his old mother. One winter, the man’s mother became ill and couldn’t eat anything. On one very cold day, the mother said to the man, “It would be wonderful if I could eat fresh fish.” The man went out to the river, but it was completely frozen. It was impossible for him to catch any fish. The man was so disappointed that he cried out to the sky, “What should I do? Please help me.” Then the ice melted, and three carp suddenly came out of the water. The man went back home and cooked the fish for his mother. Then his mother got well.</a:t>
            </a:r>
            <a:endParaRPr lang="en-US" altLang="ko-KR" sz="1450" b="0" dirty="0">
              <a:solidFill>
                <a:srgbClr val="B3BAC6"/>
              </a:solidFill>
              <a:latin typeface="Calibri"/>
              <a:ea typeface="맑은 고딕"/>
              <a:cs typeface="Calibri"/>
            </a:endParaRPr>
          </a:p>
        </p:txBody>
      </p:sp>
      <p:sp>
        <p:nvSpPr>
          <p:cNvPr id="11" name="choice_1"/>
          <p:cNvSpPr txBox="1"/>
          <p:nvPr/>
        </p:nvSpPr>
        <p:spPr>
          <a:xfrm>
            <a:off x="457200" y="3051810"/>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①</a:t>
            </a:r>
            <a:r>
              <a:rPr lang="ko-KR" altLang="en-US" sz="1800" b="0" dirty="0">
                <a:solidFill>
                  <a:srgbClr val="1F2328"/>
                </a:solidFill>
                <a:latin typeface="맑은 고딕"/>
                <a:ea typeface="맑은 고딕"/>
                <a:cs typeface="맑은 고딕"/>
              </a:rPr>
              <a:t>	추운 날에는 강에 나가지 말아야 한다</a:t>
            </a:r>
            <a:endParaRPr lang="ko-KR" altLang="en-US" sz="1800" b="0" dirty="0">
              <a:solidFill>
                <a:srgbClr val="1F2328"/>
              </a:solidFill>
              <a:latin typeface="맑은 고딕"/>
              <a:ea typeface="맑은 고딕"/>
              <a:cs typeface="맑은 고딕"/>
            </a:endParaRPr>
          </a:p>
        </p:txBody>
      </p:sp>
      <p:sp>
        <p:nvSpPr>
          <p:cNvPr id="12" name="choice_2"/>
          <p:cNvSpPr txBox="1"/>
          <p:nvPr/>
        </p:nvSpPr>
        <p:spPr>
          <a:xfrm>
            <a:off x="457200" y="3459226"/>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②</a:t>
            </a:r>
            <a:r>
              <a:rPr lang="ko-KR" altLang="en-US" sz="1800" b="0" dirty="0">
                <a:solidFill>
                  <a:srgbClr val="1F2328"/>
                </a:solidFill>
                <a:latin typeface="맑은 고딕"/>
                <a:ea typeface="맑은 고딕"/>
                <a:cs typeface="맑은 고딕"/>
              </a:rPr>
              <a:t>	아플 때는 신선한 생선을 먹어야 한다</a:t>
            </a:r>
            <a:endParaRPr lang="ko-KR" altLang="en-US" sz="1800" b="0" dirty="0">
              <a:solidFill>
                <a:srgbClr val="1F2328"/>
              </a:solidFill>
              <a:latin typeface="맑은 고딕"/>
              <a:ea typeface="맑은 고딕"/>
              <a:cs typeface="맑은 고딕"/>
            </a:endParaRPr>
          </a:p>
        </p:txBody>
      </p:sp>
      <p:sp>
        <p:nvSpPr>
          <p:cNvPr id="13" name="choice_3"/>
          <p:cNvSpPr txBox="1"/>
          <p:nvPr/>
        </p:nvSpPr>
        <p:spPr>
          <a:xfrm>
            <a:off x="457200" y="3866642"/>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③</a:t>
            </a:r>
            <a:r>
              <a:rPr lang="ko-KR" altLang="en-US" sz="1800" b="0" dirty="0">
                <a:solidFill>
                  <a:srgbClr val="1F2328"/>
                </a:solidFill>
                <a:latin typeface="맑은 고딕"/>
                <a:ea typeface="맑은 고딕"/>
                <a:cs typeface="맑은 고딕"/>
              </a:rPr>
              <a:t>	그림 속 사물의 상징적 의미를 읽어야 한다</a:t>
            </a:r>
            <a:endParaRPr lang="ko-KR" altLang="en-US" sz="1800" b="0" dirty="0">
              <a:solidFill>
                <a:srgbClr val="1F2328"/>
              </a:solidFill>
              <a:latin typeface="맑은 고딕"/>
              <a:ea typeface="맑은 고딕"/>
              <a:cs typeface="맑은 고딕"/>
            </a:endParaRPr>
          </a:p>
        </p:txBody>
      </p:sp>
      <p:sp>
        <p:nvSpPr>
          <p:cNvPr id="14" name="rv_pick"/>
          <p:cNvSpPr txBox="1"/>
          <p:nvPr/>
        </p:nvSpPr>
        <p:spPr>
          <a:xfrm>
            <a:off x="457200" y="3866642"/>
            <a:ext cx="11277295" cy="379984"/>
          </a:xfrm>
          <a:prstGeom prst="rect">
            <a:avLst/>
          </a:prstGeom>
          <a:solidFill>
            <a:srgbClr val="FFF3C4"/>
          </a:solid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C00000"/>
                </a:solidFill>
                <a:latin typeface="맑은 고딕"/>
                <a:ea typeface="맑은 고딕"/>
                <a:cs typeface="맑은 고딕"/>
              </a:rPr>
              <a:t>③</a:t>
            </a:r>
            <a:r>
              <a:rPr lang="ko-KR" altLang="en-US" sz="1800" b="0" dirty="0">
                <a:solidFill>
                  <a:srgbClr val="C00000"/>
                </a:solidFill>
                <a:latin typeface="맑은 고딕"/>
                <a:ea typeface="맑은 고딕"/>
                <a:cs typeface="맑은 고딕"/>
              </a:rPr>
              <a:t>	그림 속 사물의 상징적 의미를 읽어야 한다</a:t>
            </a:r>
            <a:endParaRPr lang="ko-KR" altLang="en-US" sz="1800" b="0" dirty="0">
              <a:solidFill>
                <a:srgbClr val="C00000"/>
              </a:solidFill>
              <a:latin typeface="맑은 고딕"/>
              <a:ea typeface="맑은 고딕"/>
              <a:cs typeface="맑은 고딕"/>
            </a:endParaRPr>
          </a:p>
        </p:txBody>
      </p:sp>
      <p:sp>
        <p:nvSpPr>
          <p:cNvPr id="15" name="choice_4"/>
          <p:cNvSpPr txBox="1"/>
          <p:nvPr/>
        </p:nvSpPr>
        <p:spPr>
          <a:xfrm>
            <a:off x="457200" y="4274058"/>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④</a:t>
            </a:r>
            <a:r>
              <a:rPr lang="ko-KR" altLang="en-US" sz="1800" b="0" dirty="0">
                <a:solidFill>
                  <a:srgbClr val="1F2328"/>
                </a:solidFill>
                <a:latin typeface="맑은 고딕"/>
                <a:ea typeface="맑은 고딕"/>
                <a:cs typeface="맑은 고딕"/>
              </a:rPr>
              <a:t>	민화의 장식은 화려하게 그려야 한다</a:t>
            </a:r>
            <a:endParaRPr lang="ko-KR" altLang="en-US" sz="1800" b="0" dirty="0">
              <a:solidFill>
                <a:srgbClr val="1F2328"/>
              </a:solidFill>
              <a:latin typeface="맑은 고딕"/>
              <a:ea typeface="맑은 고딕"/>
              <a:cs typeface="맑은 고딕"/>
            </a:endParaRPr>
          </a:p>
        </p:txBody>
      </p:sp>
      <p:sp>
        <p:nvSpPr>
          <p:cNvPr id="16" name="choice_5"/>
          <p:cNvSpPr txBox="1"/>
          <p:nvPr/>
        </p:nvSpPr>
        <p:spPr>
          <a:xfrm>
            <a:off x="457200" y="4681474"/>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⑤</a:t>
            </a:r>
            <a:r>
              <a:rPr lang="ko-KR" altLang="en-US" sz="1800" b="0" dirty="0">
                <a:solidFill>
                  <a:srgbClr val="1F2328"/>
                </a:solidFill>
                <a:latin typeface="맑은 고딕"/>
                <a:ea typeface="맑은 고딕"/>
                <a:cs typeface="맑은 고딕"/>
              </a:rPr>
              <a:t>	옛이야기는 사실 여부를 따져 읽어야 한다</a:t>
            </a:r>
            <a:endParaRPr lang="ko-KR" altLang="en-US" sz="1800" b="0" dirty="0">
              <a:solidFill>
                <a:srgbClr val="1F2328"/>
              </a:solidFill>
              <a:latin typeface="맑은 고딕"/>
              <a:ea typeface="맑은 고딕"/>
              <a:cs typeface="맑은 고딕"/>
            </a:endParaRPr>
          </a:p>
        </p:txBody>
      </p:sp>
      <p:sp>
        <p:nvSpPr>
          <p:cNvPr id="17" name="rv_answer"/>
          <p:cNvSpPr/>
          <p:nvPr/>
        </p:nvSpPr>
        <p:spPr>
          <a:xfrm>
            <a:off x="457200" y="517118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③ </a:t>
            </a:r>
            <a:r>
              <a:rPr lang="ko-KR" altLang="en-US" sz="1900" b="1" dirty="0">
                <a:solidFill>
                  <a:srgbClr val="5A4200"/>
                </a:solidFill>
                <a:latin typeface="맑은 고딕"/>
                <a:ea typeface="맑은 고딕"/>
                <a:cs typeface="맑은 고딕"/>
              </a:rPr>
              <a:t>그림 속 사물의 상징적 의미를 읽어야 한다</a:t>
            </a:r>
            <a:endParaRPr lang="ko-KR" altLang="en-US" sz="1900" b="1" dirty="0">
              <a:solidFill>
                <a:srgbClr val="5A4200"/>
              </a:solidFill>
              <a:latin typeface="맑은 고딕"/>
              <a:ea typeface="맑은 고딕"/>
              <a:cs typeface="맑은 고딕"/>
            </a:endParaRPr>
          </a:p>
        </p:txBody>
      </p:sp>
      <p:sp>
        <p:nvSpPr>
          <p:cNvPr id="18" name="rv_why"/>
          <p:cNvSpPr/>
          <p:nvPr/>
        </p:nvSpPr>
        <p:spPr>
          <a:xfrm>
            <a:off x="457200" y="5770118"/>
            <a:ext cx="11277295" cy="64896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문자도의 동물과 사물은 단순한 장식이 아니라 상징적이라고 했으므로 그 의미를 읽자는 ③이 알맞다.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250"/>
                                        <p:tgtEl>
                                          <p:spTgt spid="1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25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25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7" grpId="0" animBg="1"/>
      <p:bldP spid="9" grpId="0" animBg="1"/>
      <p:bldP spid="10" grpId="0" animBg="1"/>
      <p:bldP spid="18" grpId="0" animBg="1"/>
    </p:bldLst>
  </p:timing>
</p:sld>
</file>

<file path=ppt/slides/slide25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L8-2</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1 · 4</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4. 다음 글의 요지로 가장 적절한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8</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본문 근거 형광 + 정답 원리</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195452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1954529"/>
          </a:xfrm>
          <a:prstGeom prst="rect">
            <a:avLst/>
          </a:prstGeom>
          <a:noFill/>
        </p:spPr>
        <p:txBody>
          <a:bodyPr wrap="square" lIns="201168" tIns="118872" rIns="201168" bIns="118872" anchor="t" rtlCol="0">
            <a:noAutofit/>
          </a:bodyPr>
          <a:lstStyle/>
          <a:p>
            <a:pPr algn="just">
              <a:lnSpc>
                <a:spcPts val="1890"/>
              </a:lnSpc>
              <a:spcBef>
                <a:spcPts val="0"/>
              </a:spcBef>
              <a:spcAft>
                <a:spcPts val="0"/>
              </a:spcAft>
              <a:buNone/>
            </a:pPr>
            <a:r>
              <a:rPr lang="en-US" altLang="ko-KR" sz="1450" b="0" dirty="0">
                <a:solidFill>
                  <a:srgbClr val="1F2328"/>
                </a:solidFill>
                <a:latin typeface="Calibri"/>
                <a:ea typeface="맑은 고딕"/>
                <a:cs typeface="Calibri"/>
              </a:rPr>
              <a:t>The animals or objects in Munjado are not just decorations. They often are symbolic. </a:t>
            </a:r>
            <a:r>
              <a:rPr lang="en-US" altLang="ko-KR" sz="1450" b="0" dirty="0">
                <a:solidFill>
                  <a:srgbClr val="1F2328"/>
                </a:solidFill>
                <a:latin typeface="Calibri"/>
                <a:ea typeface="맑은 고딕"/>
                <a:cs typeface="Calibri"/>
              </a:rPr>
              <a:t>For example, carp in the paintings of hyo symbolize respect for parents because of an old story.</a:t>
            </a:r>
            <a:r>
              <a:rPr lang="en-US" altLang="ko-KR" sz="1450" b="0" dirty="0">
                <a:solidFill>
                  <a:srgbClr val="1F2328"/>
                </a:solidFill>
                <a:latin typeface="Calibri"/>
                <a:ea typeface="맑은 고딕"/>
                <a:cs typeface="Calibri"/>
              </a:rPr>
              <a:t> The story goes as follows. Once upon a time, a man lived with his old mother. One winter, the man’s mother became ill and couldn’t eat anything. On one very cold day, the mother said to the man, “It would be wonderful if I could eat fresh fish.” The man went out to the river, but it was completely frozen. It was impossible for him to catch any fish. The man was so disappointed that he cried out to the sky, “What should I do? Please help me.” Then the ice melted, and three carp suddenly came out of the water. The man went back home and cooked the fish for his mother. Then his mother got well.</a:t>
            </a:r>
            <a:endParaRPr lang="en-US" altLang="ko-KR" sz="1450" b="0" dirty="0">
              <a:solidFill>
                <a:srgbClr val="1F2328"/>
              </a:solidFill>
              <a:latin typeface="Calibri"/>
              <a:ea typeface="맑은 고딕"/>
              <a:cs typeface="Calibri"/>
            </a:endParaRPr>
          </a:p>
        </p:txBody>
      </p:sp>
      <p:sp>
        <p:nvSpPr>
          <p:cNvPr id="9" name="rv_evidence_card"/>
          <p:cNvSpPr/>
          <p:nvPr/>
        </p:nvSpPr>
        <p:spPr>
          <a:xfrm>
            <a:off x="457200" y="950976"/>
            <a:ext cx="11277295" cy="195452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rv_evidence"/>
          <p:cNvSpPr txBox="1"/>
          <p:nvPr/>
        </p:nvSpPr>
        <p:spPr>
          <a:xfrm>
            <a:off x="457200" y="950976"/>
            <a:ext cx="11277295" cy="1954529"/>
          </a:xfrm>
          <a:prstGeom prst="rect">
            <a:avLst/>
          </a:prstGeom>
          <a:noFill/>
        </p:spPr>
        <p:txBody>
          <a:bodyPr wrap="square" lIns="201168" tIns="118872" rIns="201168" bIns="118872" anchor="t" rtlCol="0">
            <a:noAutofit/>
          </a:bodyPr>
          <a:lstStyle/>
          <a:p>
            <a:pPr algn="just">
              <a:lnSpc>
                <a:spcPts val="1890"/>
              </a:lnSpc>
              <a:spcBef>
                <a:spcPts val="0"/>
              </a:spcBef>
              <a:spcAft>
                <a:spcPts val="0"/>
              </a:spcAft>
              <a:buNone/>
            </a:pPr>
            <a:r>
              <a:rPr lang="en-US" altLang="ko-KR" sz="1450" b="0" dirty="0">
                <a:solidFill>
                  <a:srgbClr val="B3BAC6"/>
                </a:solidFill>
                <a:latin typeface="Calibri"/>
                <a:ea typeface="맑은 고딕"/>
                <a:cs typeface="Calibri"/>
              </a:rPr>
              <a:t>The animals or objects in Munjado are not just decorations. They often are symbolic. </a:t>
            </a:r>
            <a:r>
              <a:rPr lang="en-US" altLang="ko-KR" sz="1450" b="0" dirty="0">
                <a:solidFill>
                  <a:srgbClr val="111111"/>
                </a:solidFill>
                <a:highlight>
                  <a:srgbClr val="FFE45C"/>
                </a:highlight>
                <a:latin typeface="Calibri"/>
                <a:ea typeface="맑은 고딕"/>
                <a:cs typeface="Calibri"/>
              </a:rPr>
              <a:t>For example, carp in the paintings of hyo symbolize respect for parents because of an old story.</a:t>
            </a:r>
            <a:r>
              <a:rPr lang="en-US" altLang="ko-KR" sz="1450" b="0" dirty="0">
                <a:solidFill>
                  <a:srgbClr val="B3BAC6"/>
                </a:solidFill>
                <a:latin typeface="Calibri"/>
                <a:ea typeface="맑은 고딕"/>
                <a:cs typeface="Calibri"/>
              </a:rPr>
              <a:t> The story goes as follows. Once upon a time, a man lived with his old mother. One winter, the man’s mother became ill and couldn’t eat anything. On one very cold day, the mother said to the man, “It would be wonderful if I could eat fresh fish.” The man went out to the river, but it was completely frozen. It was impossible for him to catch any fish. The man was so disappointed that he cried out to the sky, “What should I do? Please help me.” Then the ice melted, and three carp suddenly came out of the water. The man went back home and cooked the fish for his mother. Then his mother got well.</a:t>
            </a:r>
            <a:endParaRPr lang="en-US" altLang="ko-KR" sz="1450" b="0" dirty="0">
              <a:solidFill>
                <a:srgbClr val="B3BAC6"/>
              </a:solidFill>
              <a:latin typeface="Calibri"/>
              <a:ea typeface="맑은 고딕"/>
              <a:cs typeface="Calibri"/>
            </a:endParaRPr>
          </a:p>
        </p:txBody>
      </p:sp>
      <p:sp>
        <p:nvSpPr>
          <p:cNvPr id="11" name="choice_1"/>
          <p:cNvSpPr txBox="1"/>
          <p:nvPr/>
        </p:nvSpPr>
        <p:spPr>
          <a:xfrm>
            <a:off x="457200" y="3051810"/>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①</a:t>
            </a:r>
            <a:r>
              <a:rPr lang="ko-KR" altLang="en-US" sz="1800" b="0" dirty="0">
                <a:solidFill>
                  <a:srgbClr val="1F2328"/>
                </a:solidFill>
                <a:latin typeface="맑은 고딕"/>
                <a:ea typeface="맑은 고딕"/>
                <a:cs typeface="맑은 고딕"/>
              </a:rPr>
              <a:t>	문자도 속 사물은 단순한 장식에 불과하다</a:t>
            </a:r>
            <a:endParaRPr lang="ko-KR" altLang="en-US" sz="1800" b="0" dirty="0">
              <a:solidFill>
                <a:srgbClr val="1F2328"/>
              </a:solidFill>
              <a:latin typeface="맑은 고딕"/>
              <a:ea typeface="맑은 고딕"/>
              <a:cs typeface="맑은 고딕"/>
            </a:endParaRPr>
          </a:p>
        </p:txBody>
      </p:sp>
      <p:sp>
        <p:nvSpPr>
          <p:cNvPr id="12" name="choice_2"/>
          <p:cNvSpPr txBox="1"/>
          <p:nvPr/>
        </p:nvSpPr>
        <p:spPr>
          <a:xfrm>
            <a:off x="457200" y="3459226"/>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②</a:t>
            </a:r>
            <a:r>
              <a:rPr lang="ko-KR" altLang="en-US" sz="1800" b="0" dirty="0">
                <a:solidFill>
                  <a:srgbClr val="1F2328"/>
                </a:solidFill>
                <a:latin typeface="맑은 고딕"/>
                <a:ea typeface="맑은 고딕"/>
                <a:cs typeface="맑은 고딕"/>
              </a:rPr>
              <a:t>	잉어는 겨울철 귀한 보양식으로 쓰였다</a:t>
            </a:r>
            <a:endParaRPr lang="ko-KR" altLang="en-US" sz="1800" b="0" dirty="0">
              <a:solidFill>
                <a:srgbClr val="1F2328"/>
              </a:solidFill>
              <a:latin typeface="맑은 고딕"/>
              <a:ea typeface="맑은 고딕"/>
              <a:cs typeface="맑은 고딕"/>
            </a:endParaRPr>
          </a:p>
        </p:txBody>
      </p:sp>
      <p:sp>
        <p:nvSpPr>
          <p:cNvPr id="13" name="choice_3"/>
          <p:cNvSpPr txBox="1"/>
          <p:nvPr/>
        </p:nvSpPr>
        <p:spPr>
          <a:xfrm>
            <a:off x="457200" y="3866642"/>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③</a:t>
            </a:r>
            <a:r>
              <a:rPr lang="ko-KR" altLang="en-US" sz="1800" b="0" dirty="0">
                <a:solidFill>
                  <a:srgbClr val="1F2328"/>
                </a:solidFill>
                <a:latin typeface="맑은 고딕"/>
                <a:ea typeface="맑은 고딕"/>
                <a:cs typeface="맑은 고딕"/>
              </a:rPr>
              <a:t>	얼음 낚시는 조선의 대표적 풍습이었다</a:t>
            </a:r>
            <a:endParaRPr lang="ko-KR" altLang="en-US" sz="1800" b="0" dirty="0">
              <a:solidFill>
                <a:srgbClr val="1F2328"/>
              </a:solidFill>
              <a:latin typeface="맑은 고딕"/>
              <a:ea typeface="맑은 고딕"/>
              <a:cs typeface="맑은 고딕"/>
            </a:endParaRPr>
          </a:p>
        </p:txBody>
      </p:sp>
      <p:sp>
        <p:nvSpPr>
          <p:cNvPr id="14" name="choice_4"/>
          <p:cNvSpPr txBox="1"/>
          <p:nvPr/>
        </p:nvSpPr>
        <p:spPr>
          <a:xfrm>
            <a:off x="457200" y="4274058"/>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④</a:t>
            </a:r>
            <a:r>
              <a:rPr lang="ko-KR" altLang="en-US" sz="1800" b="0" dirty="0">
                <a:solidFill>
                  <a:srgbClr val="1F2328"/>
                </a:solidFill>
                <a:latin typeface="맑은 고딕"/>
                <a:ea typeface="맑은 고딕"/>
                <a:cs typeface="맑은 고딕"/>
              </a:rPr>
              <a:t>	효 그림의 잉어는 옛이야기로 효를 상징한다</a:t>
            </a:r>
            <a:endParaRPr lang="ko-KR" altLang="en-US" sz="1800" b="0" dirty="0">
              <a:solidFill>
                <a:srgbClr val="1F2328"/>
              </a:solidFill>
              <a:latin typeface="맑은 고딕"/>
              <a:ea typeface="맑은 고딕"/>
              <a:cs typeface="맑은 고딕"/>
            </a:endParaRPr>
          </a:p>
        </p:txBody>
      </p:sp>
      <p:sp>
        <p:nvSpPr>
          <p:cNvPr id="15" name="rv_pick"/>
          <p:cNvSpPr txBox="1"/>
          <p:nvPr/>
        </p:nvSpPr>
        <p:spPr>
          <a:xfrm>
            <a:off x="457200" y="4274058"/>
            <a:ext cx="11277295" cy="379984"/>
          </a:xfrm>
          <a:prstGeom prst="rect">
            <a:avLst/>
          </a:prstGeom>
          <a:solidFill>
            <a:srgbClr val="FFF3C4"/>
          </a:solid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C00000"/>
                </a:solidFill>
                <a:latin typeface="맑은 고딕"/>
                <a:ea typeface="맑은 고딕"/>
                <a:cs typeface="맑은 고딕"/>
              </a:rPr>
              <a:t>④</a:t>
            </a:r>
            <a:r>
              <a:rPr lang="ko-KR" altLang="en-US" sz="1800" b="0" dirty="0">
                <a:solidFill>
                  <a:srgbClr val="C00000"/>
                </a:solidFill>
                <a:latin typeface="맑은 고딕"/>
                <a:ea typeface="맑은 고딕"/>
                <a:cs typeface="맑은 고딕"/>
              </a:rPr>
              <a:t>	효 그림의 잉어는 옛이야기로 효를 상징한다</a:t>
            </a:r>
            <a:endParaRPr lang="ko-KR" altLang="en-US" sz="1800" b="0" dirty="0">
              <a:solidFill>
                <a:srgbClr val="C00000"/>
              </a:solidFill>
              <a:latin typeface="맑은 고딕"/>
              <a:ea typeface="맑은 고딕"/>
              <a:cs typeface="맑은 고딕"/>
            </a:endParaRPr>
          </a:p>
        </p:txBody>
      </p:sp>
      <p:sp>
        <p:nvSpPr>
          <p:cNvPr id="16" name="choice_5"/>
          <p:cNvSpPr txBox="1"/>
          <p:nvPr/>
        </p:nvSpPr>
        <p:spPr>
          <a:xfrm>
            <a:off x="457200" y="4681474"/>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⑤</a:t>
            </a:r>
            <a:r>
              <a:rPr lang="ko-KR" altLang="en-US" sz="1800" b="0" dirty="0">
                <a:solidFill>
                  <a:srgbClr val="1F2328"/>
                </a:solidFill>
                <a:latin typeface="맑은 고딕"/>
                <a:ea typeface="맑은 고딕"/>
                <a:cs typeface="맑은 고딕"/>
              </a:rPr>
              <a:t>	잉어는 강물이 녹을 때만 잡을 수 있었다</a:t>
            </a:r>
            <a:endParaRPr lang="ko-KR" altLang="en-US" sz="1800" b="0" dirty="0">
              <a:solidFill>
                <a:srgbClr val="1F2328"/>
              </a:solidFill>
              <a:latin typeface="맑은 고딕"/>
              <a:ea typeface="맑은 고딕"/>
              <a:cs typeface="맑은 고딕"/>
            </a:endParaRPr>
          </a:p>
        </p:txBody>
      </p:sp>
      <p:sp>
        <p:nvSpPr>
          <p:cNvPr id="17" name="rv_answer"/>
          <p:cNvSpPr/>
          <p:nvPr/>
        </p:nvSpPr>
        <p:spPr>
          <a:xfrm>
            <a:off x="457200" y="517118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④ </a:t>
            </a:r>
            <a:r>
              <a:rPr lang="ko-KR" altLang="en-US" sz="1900" b="1" dirty="0">
                <a:solidFill>
                  <a:srgbClr val="5A4200"/>
                </a:solidFill>
                <a:latin typeface="맑은 고딕"/>
                <a:ea typeface="맑은 고딕"/>
                <a:cs typeface="맑은 고딕"/>
              </a:rPr>
              <a:t>효 그림의 잉어는 옛이야기로 효를 상징한다</a:t>
            </a:r>
            <a:endParaRPr lang="ko-KR" altLang="en-US" sz="1900" b="1" dirty="0">
              <a:solidFill>
                <a:srgbClr val="5A4200"/>
              </a:solidFill>
              <a:latin typeface="맑은 고딕"/>
              <a:ea typeface="맑은 고딕"/>
              <a:cs typeface="맑은 고딕"/>
            </a:endParaRPr>
          </a:p>
        </p:txBody>
      </p:sp>
      <p:sp>
        <p:nvSpPr>
          <p:cNvPr id="18" name="rv_why"/>
          <p:cNvSpPr/>
          <p:nvPr/>
        </p:nvSpPr>
        <p:spPr>
          <a:xfrm>
            <a:off x="457200" y="5770118"/>
            <a:ext cx="11277295" cy="64896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잉어가 옛이야기 때문에 부모님에 대한 공경을 상징한다고 했다. 이를 정리한 ④가 요지이다.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250"/>
                                        <p:tgtEl>
                                          <p:spTgt spid="1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25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25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7" grpId="0" animBg="1"/>
      <p:bldP spid="9" grpId="0" animBg="1"/>
      <p:bldP spid="10" grpId="0" animBg="1"/>
      <p:bldP spid="18" grpId="0" animBg="1"/>
    </p:bldLst>
  </p:timing>
</p:sld>
</file>

<file path=ppt/slides/slide26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L8-2</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1 · 5</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5. 다음 글의 내용과 일치하지 않는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8</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본문 근거 형광 + 정답 원리</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195452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1954529"/>
          </a:xfrm>
          <a:prstGeom prst="rect">
            <a:avLst/>
          </a:prstGeom>
          <a:noFill/>
        </p:spPr>
        <p:txBody>
          <a:bodyPr wrap="square" lIns="201168" tIns="118872" rIns="201168" bIns="118872" anchor="t" rtlCol="0">
            <a:noAutofit/>
          </a:bodyPr>
          <a:lstStyle/>
          <a:p>
            <a:pPr algn="just">
              <a:lnSpc>
                <a:spcPts val="1890"/>
              </a:lnSpc>
              <a:spcBef>
                <a:spcPts val="0"/>
              </a:spcBef>
              <a:spcAft>
                <a:spcPts val="0"/>
              </a:spcAft>
              <a:buNone/>
            </a:pPr>
            <a:r>
              <a:rPr lang="en-US" altLang="ko-KR" sz="1450" b="0" dirty="0">
                <a:solidFill>
                  <a:srgbClr val="1F2328"/>
                </a:solidFill>
                <a:latin typeface="Calibri"/>
                <a:ea typeface="맑은 고딕"/>
                <a:cs typeface="Calibri"/>
              </a:rPr>
              <a:t>The animals or objects in Munjado are not just decorations. They often are symbolic. For example, carp in the paintings of hyo symbolize respect for parents because of an old story. The story goes as follows. Once upon a time, a man lived with his old mother. One winter, the man’s mother became ill and couldn’t eat anything. On one very cold day, the mother said to the man, “It would be wonderful if I could eat fresh fish.” The man went out to the river, but it was completely frozen. It was </a:t>
            </a:r>
            <a:r>
              <a:rPr lang="en-US" altLang="ko-KR" sz="1450" b="0" dirty="0">
                <a:solidFill>
                  <a:srgbClr val="1F2328"/>
                </a:solidFill>
                <a:latin typeface="Calibri"/>
                <a:ea typeface="맑은 고딕"/>
                <a:cs typeface="Calibri"/>
              </a:rPr>
              <a:t>impossible for him to catch any fish</a:t>
            </a:r>
            <a:r>
              <a:rPr lang="en-US" altLang="ko-KR" sz="1450" b="0" dirty="0">
                <a:solidFill>
                  <a:srgbClr val="1F2328"/>
                </a:solidFill>
                <a:latin typeface="Calibri"/>
                <a:ea typeface="맑은 고딕"/>
                <a:cs typeface="Calibri"/>
              </a:rPr>
              <a:t>. The man was so disappointed that he cried out to the sky, “What should I do? Please help me.” Then the ice melted, and </a:t>
            </a:r>
            <a:r>
              <a:rPr lang="en-US" altLang="ko-KR" sz="1450" b="0" dirty="0">
                <a:solidFill>
                  <a:srgbClr val="1F2328"/>
                </a:solidFill>
                <a:latin typeface="Calibri"/>
                <a:ea typeface="맑은 고딕"/>
                <a:cs typeface="Calibri"/>
              </a:rPr>
              <a:t>three carp suddenly came out of the water</a:t>
            </a:r>
            <a:r>
              <a:rPr lang="en-US" altLang="ko-KR" sz="1450" b="0" dirty="0">
                <a:solidFill>
                  <a:srgbClr val="1F2328"/>
                </a:solidFill>
                <a:latin typeface="Calibri"/>
                <a:ea typeface="맑은 고딕"/>
                <a:cs typeface="Calibri"/>
              </a:rPr>
              <a:t>. The man went back home and cooked the fish for his mother. Then his mother got well.</a:t>
            </a:r>
            <a:endParaRPr lang="en-US" altLang="ko-KR" sz="1450" b="0" dirty="0">
              <a:solidFill>
                <a:srgbClr val="1F2328"/>
              </a:solidFill>
              <a:latin typeface="Calibri"/>
              <a:ea typeface="맑은 고딕"/>
              <a:cs typeface="Calibri"/>
            </a:endParaRPr>
          </a:p>
        </p:txBody>
      </p:sp>
      <p:sp>
        <p:nvSpPr>
          <p:cNvPr id="9" name="rv_evidence_card"/>
          <p:cNvSpPr/>
          <p:nvPr/>
        </p:nvSpPr>
        <p:spPr>
          <a:xfrm>
            <a:off x="457200" y="950976"/>
            <a:ext cx="11277295" cy="195452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rv_evidence"/>
          <p:cNvSpPr txBox="1"/>
          <p:nvPr/>
        </p:nvSpPr>
        <p:spPr>
          <a:xfrm>
            <a:off x="457200" y="950976"/>
            <a:ext cx="11277295" cy="1954529"/>
          </a:xfrm>
          <a:prstGeom prst="rect">
            <a:avLst/>
          </a:prstGeom>
          <a:noFill/>
        </p:spPr>
        <p:txBody>
          <a:bodyPr wrap="square" lIns="201168" tIns="118872" rIns="201168" bIns="118872" anchor="t" rtlCol="0">
            <a:noAutofit/>
          </a:bodyPr>
          <a:lstStyle/>
          <a:p>
            <a:pPr algn="just">
              <a:lnSpc>
                <a:spcPts val="1890"/>
              </a:lnSpc>
              <a:spcBef>
                <a:spcPts val="0"/>
              </a:spcBef>
              <a:spcAft>
                <a:spcPts val="0"/>
              </a:spcAft>
              <a:buNone/>
            </a:pPr>
            <a:r>
              <a:rPr lang="en-US" altLang="ko-KR" sz="1450" b="0" dirty="0">
                <a:solidFill>
                  <a:srgbClr val="B3BAC6"/>
                </a:solidFill>
                <a:latin typeface="Calibri"/>
                <a:ea typeface="맑은 고딕"/>
                <a:cs typeface="Calibri"/>
              </a:rPr>
              <a:t>The animals or objects in Munjado are not just decorations. They often are symbolic. For example, carp in the paintings of hyo symbolize respect for parents because of an old story. The story goes as follows. Once upon a time, a man lived with his old mother. One winter, the man’s mother became ill and couldn’t eat anything. On one very cold day, the mother said to the man, “It would be wonderful if I could eat fresh fish.” The man went out to the river, but it was completely frozen. It was </a:t>
            </a:r>
            <a:r>
              <a:rPr lang="en-US" altLang="ko-KR" sz="1450" b="0" dirty="0">
                <a:solidFill>
                  <a:srgbClr val="111111"/>
                </a:solidFill>
                <a:highlight>
                  <a:srgbClr val="FFE45C"/>
                </a:highlight>
                <a:latin typeface="Calibri"/>
                <a:ea typeface="맑은 고딕"/>
                <a:cs typeface="Calibri"/>
              </a:rPr>
              <a:t>impossible for him to catch any fish</a:t>
            </a:r>
            <a:r>
              <a:rPr lang="en-US" altLang="ko-KR" sz="1450" b="0" dirty="0">
                <a:solidFill>
                  <a:srgbClr val="B3BAC6"/>
                </a:solidFill>
                <a:latin typeface="Calibri"/>
                <a:ea typeface="맑은 고딕"/>
                <a:cs typeface="Calibri"/>
              </a:rPr>
              <a:t>. The man was so disappointed that he cried out to the sky, “What should I do? Please help me.” Then the ice melted, and </a:t>
            </a:r>
            <a:r>
              <a:rPr lang="en-US" altLang="ko-KR" sz="1450" b="0" dirty="0">
                <a:solidFill>
                  <a:srgbClr val="111111"/>
                </a:solidFill>
                <a:highlight>
                  <a:srgbClr val="FFE45C"/>
                </a:highlight>
                <a:latin typeface="Calibri"/>
                <a:ea typeface="맑은 고딕"/>
                <a:cs typeface="Calibri"/>
              </a:rPr>
              <a:t>three carp suddenly came out of the water</a:t>
            </a:r>
            <a:r>
              <a:rPr lang="en-US" altLang="ko-KR" sz="1450" b="0" dirty="0">
                <a:solidFill>
                  <a:srgbClr val="B3BAC6"/>
                </a:solidFill>
                <a:latin typeface="Calibri"/>
                <a:ea typeface="맑은 고딕"/>
                <a:cs typeface="Calibri"/>
              </a:rPr>
              <a:t>. The man went back home and cooked the fish for his mother. Then his mother got well.</a:t>
            </a:r>
            <a:endParaRPr lang="en-US" altLang="ko-KR" sz="1450" b="0" dirty="0">
              <a:solidFill>
                <a:srgbClr val="B3BAC6"/>
              </a:solidFill>
              <a:latin typeface="Calibri"/>
              <a:ea typeface="맑은 고딕"/>
              <a:cs typeface="Calibri"/>
            </a:endParaRPr>
          </a:p>
        </p:txBody>
      </p:sp>
      <p:sp>
        <p:nvSpPr>
          <p:cNvPr id="11" name="choice_1"/>
          <p:cNvSpPr txBox="1"/>
          <p:nvPr/>
        </p:nvSpPr>
        <p:spPr>
          <a:xfrm>
            <a:off x="457200" y="3051810"/>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①</a:t>
            </a:r>
            <a:r>
              <a:rPr lang="ko-KR" altLang="en-US" sz="1800" b="0" dirty="0">
                <a:solidFill>
                  <a:srgbClr val="1F2328"/>
                </a:solidFill>
                <a:latin typeface="맑은 고딕"/>
                <a:ea typeface="맑은 고딕"/>
                <a:cs typeface="맑은 고딕"/>
              </a:rPr>
              <a:t>	남자는 나이 든 어머니와 함께 살았다</a:t>
            </a:r>
            <a:endParaRPr lang="ko-KR" altLang="en-US" sz="1800" b="0" dirty="0">
              <a:solidFill>
                <a:srgbClr val="1F2328"/>
              </a:solidFill>
              <a:latin typeface="맑은 고딕"/>
              <a:ea typeface="맑은 고딕"/>
              <a:cs typeface="맑은 고딕"/>
            </a:endParaRPr>
          </a:p>
        </p:txBody>
      </p:sp>
      <p:sp>
        <p:nvSpPr>
          <p:cNvPr id="12" name="choice_2"/>
          <p:cNvSpPr txBox="1"/>
          <p:nvPr/>
        </p:nvSpPr>
        <p:spPr>
          <a:xfrm>
            <a:off x="457200" y="3459226"/>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②</a:t>
            </a:r>
            <a:r>
              <a:rPr lang="ko-KR" altLang="en-US" sz="1800" b="0" dirty="0">
                <a:solidFill>
                  <a:srgbClr val="1F2328"/>
                </a:solidFill>
                <a:latin typeface="맑은 고딕"/>
                <a:ea typeface="맑은 고딕"/>
                <a:cs typeface="맑은 고딕"/>
              </a:rPr>
              <a:t>	어머니는 어느 겨울에 병이 들었다</a:t>
            </a:r>
            <a:endParaRPr lang="ko-KR" altLang="en-US" sz="1800" b="0" dirty="0">
              <a:solidFill>
                <a:srgbClr val="1F2328"/>
              </a:solidFill>
              <a:latin typeface="맑은 고딕"/>
              <a:ea typeface="맑은 고딕"/>
              <a:cs typeface="맑은 고딕"/>
            </a:endParaRPr>
          </a:p>
        </p:txBody>
      </p:sp>
      <p:sp>
        <p:nvSpPr>
          <p:cNvPr id="13" name="choice_3"/>
          <p:cNvSpPr txBox="1"/>
          <p:nvPr/>
        </p:nvSpPr>
        <p:spPr>
          <a:xfrm>
            <a:off x="457200" y="3866642"/>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③</a:t>
            </a:r>
            <a:r>
              <a:rPr lang="ko-KR" altLang="en-US" sz="1800" b="0" dirty="0">
                <a:solidFill>
                  <a:srgbClr val="1F2328"/>
                </a:solidFill>
                <a:latin typeface="맑은 고딕"/>
                <a:ea typeface="맑은 고딕"/>
                <a:cs typeface="맑은 고딕"/>
              </a:rPr>
              <a:t>	남자는 강에서 잉어 다섯 마리를 잡았다</a:t>
            </a:r>
            <a:endParaRPr lang="ko-KR" altLang="en-US" sz="1800" b="0" dirty="0">
              <a:solidFill>
                <a:srgbClr val="1F2328"/>
              </a:solidFill>
              <a:latin typeface="맑은 고딕"/>
              <a:ea typeface="맑은 고딕"/>
              <a:cs typeface="맑은 고딕"/>
            </a:endParaRPr>
          </a:p>
        </p:txBody>
      </p:sp>
      <p:sp>
        <p:nvSpPr>
          <p:cNvPr id="14" name="rv_pick"/>
          <p:cNvSpPr txBox="1"/>
          <p:nvPr/>
        </p:nvSpPr>
        <p:spPr>
          <a:xfrm>
            <a:off x="457200" y="3866642"/>
            <a:ext cx="11277295" cy="379984"/>
          </a:xfrm>
          <a:prstGeom prst="rect">
            <a:avLst/>
          </a:prstGeom>
          <a:solidFill>
            <a:srgbClr val="FFF3C4"/>
          </a:solid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C00000"/>
                </a:solidFill>
                <a:latin typeface="맑은 고딕"/>
                <a:ea typeface="맑은 고딕"/>
                <a:cs typeface="맑은 고딕"/>
              </a:rPr>
              <a:t>③</a:t>
            </a:r>
            <a:r>
              <a:rPr lang="ko-KR" altLang="en-US" sz="1800" b="0" dirty="0">
                <a:solidFill>
                  <a:srgbClr val="C00000"/>
                </a:solidFill>
                <a:latin typeface="맑은 고딕"/>
                <a:ea typeface="맑은 고딕"/>
                <a:cs typeface="맑은 고딕"/>
              </a:rPr>
              <a:t>	남자는 강에서 잉어 다섯 마리를 잡았다</a:t>
            </a:r>
            <a:endParaRPr lang="ko-KR" altLang="en-US" sz="1800" b="0" dirty="0">
              <a:solidFill>
                <a:srgbClr val="C00000"/>
              </a:solidFill>
              <a:latin typeface="맑은 고딕"/>
              <a:ea typeface="맑은 고딕"/>
              <a:cs typeface="맑은 고딕"/>
            </a:endParaRPr>
          </a:p>
        </p:txBody>
      </p:sp>
      <p:sp>
        <p:nvSpPr>
          <p:cNvPr id="15" name="choice_4"/>
          <p:cNvSpPr txBox="1"/>
          <p:nvPr/>
        </p:nvSpPr>
        <p:spPr>
          <a:xfrm>
            <a:off x="457200" y="4274058"/>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④</a:t>
            </a:r>
            <a:r>
              <a:rPr lang="ko-KR" altLang="en-US" sz="1800" b="0" dirty="0">
                <a:solidFill>
                  <a:srgbClr val="1F2328"/>
                </a:solidFill>
                <a:latin typeface="맑은 고딕"/>
                <a:ea typeface="맑은 고딕"/>
                <a:cs typeface="맑은 고딕"/>
              </a:rPr>
              <a:t>	어머니는 신선한 물고기를 먹고 싶어 했다</a:t>
            </a:r>
            <a:endParaRPr lang="ko-KR" altLang="en-US" sz="1800" b="0" dirty="0">
              <a:solidFill>
                <a:srgbClr val="1F2328"/>
              </a:solidFill>
              <a:latin typeface="맑은 고딕"/>
              <a:ea typeface="맑은 고딕"/>
              <a:cs typeface="맑은 고딕"/>
            </a:endParaRPr>
          </a:p>
        </p:txBody>
      </p:sp>
      <p:sp>
        <p:nvSpPr>
          <p:cNvPr id="16" name="choice_5"/>
          <p:cNvSpPr txBox="1"/>
          <p:nvPr/>
        </p:nvSpPr>
        <p:spPr>
          <a:xfrm>
            <a:off x="457200" y="4681474"/>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⑤</a:t>
            </a:r>
            <a:r>
              <a:rPr lang="ko-KR" altLang="en-US" sz="1800" b="0" dirty="0">
                <a:solidFill>
                  <a:srgbClr val="1F2328"/>
                </a:solidFill>
                <a:latin typeface="맑은 고딕"/>
                <a:ea typeface="맑은 고딕"/>
                <a:cs typeface="맑은 고딕"/>
              </a:rPr>
              <a:t>	남자가 갔을 때 강은 완전히 얼어 있었다</a:t>
            </a:r>
            <a:endParaRPr lang="ko-KR" altLang="en-US" sz="1800" b="0" dirty="0">
              <a:solidFill>
                <a:srgbClr val="1F2328"/>
              </a:solidFill>
              <a:latin typeface="맑은 고딕"/>
              <a:ea typeface="맑은 고딕"/>
              <a:cs typeface="맑은 고딕"/>
            </a:endParaRPr>
          </a:p>
        </p:txBody>
      </p:sp>
      <p:sp>
        <p:nvSpPr>
          <p:cNvPr id="17" name="rv_answer"/>
          <p:cNvSpPr/>
          <p:nvPr/>
        </p:nvSpPr>
        <p:spPr>
          <a:xfrm>
            <a:off x="457200" y="517118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③ </a:t>
            </a:r>
            <a:r>
              <a:rPr lang="ko-KR" altLang="en-US" sz="1900" b="1" dirty="0">
                <a:solidFill>
                  <a:srgbClr val="5A4200"/>
                </a:solidFill>
                <a:latin typeface="맑은 고딕"/>
                <a:ea typeface="맑은 고딕"/>
                <a:cs typeface="맑은 고딕"/>
              </a:rPr>
              <a:t>남자는 강에서 잉어 다섯 마리를 잡았다</a:t>
            </a:r>
            <a:endParaRPr lang="ko-KR" altLang="en-US" sz="1900" b="1" dirty="0">
              <a:solidFill>
                <a:srgbClr val="5A4200"/>
              </a:solidFill>
              <a:latin typeface="맑은 고딕"/>
              <a:ea typeface="맑은 고딕"/>
              <a:cs typeface="맑은 고딕"/>
            </a:endParaRPr>
          </a:p>
        </p:txBody>
      </p:sp>
      <p:sp>
        <p:nvSpPr>
          <p:cNvPr id="18" name="rv_why"/>
          <p:cNvSpPr/>
          <p:nvPr/>
        </p:nvSpPr>
        <p:spPr>
          <a:xfrm>
            <a:off x="457200" y="5770118"/>
            <a:ext cx="11277295" cy="64896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남자는 언 강에서 물고기를 잡을 수 없었고 잉어 세 마리가 물 밖으로 나왔다. 다섯 마리를 잡았다는 ③은 틀리다.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250"/>
                                        <p:tgtEl>
                                          <p:spTgt spid="1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25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25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7" grpId="0" animBg="1"/>
      <p:bldP spid="9" grpId="0" animBg="1"/>
      <p:bldP spid="10" grpId="0" animBg="1"/>
      <p:bldP spid="18" grpId="0" animBg="1"/>
    </p:bldLst>
  </p:timing>
</p:sld>
</file>

<file path=ppt/slides/slide26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L8-2</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1 · 6</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6. 다음 글의 내용과 일치하는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8</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본문 근거 형광 + 정답 원리</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195452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1954529"/>
          </a:xfrm>
          <a:prstGeom prst="rect">
            <a:avLst/>
          </a:prstGeom>
          <a:noFill/>
        </p:spPr>
        <p:txBody>
          <a:bodyPr wrap="square" lIns="201168" tIns="118872" rIns="201168" bIns="118872" anchor="t" rtlCol="0">
            <a:noAutofit/>
          </a:bodyPr>
          <a:lstStyle/>
          <a:p>
            <a:pPr algn="just">
              <a:lnSpc>
                <a:spcPts val="1890"/>
              </a:lnSpc>
              <a:spcBef>
                <a:spcPts val="0"/>
              </a:spcBef>
              <a:spcAft>
                <a:spcPts val="0"/>
              </a:spcAft>
              <a:buNone/>
            </a:pPr>
            <a:r>
              <a:rPr lang="en-US" altLang="ko-KR" sz="1450" b="0" dirty="0">
                <a:solidFill>
                  <a:srgbClr val="1F2328"/>
                </a:solidFill>
                <a:latin typeface="Calibri"/>
                <a:ea typeface="맑은 고딕"/>
                <a:cs typeface="Calibri"/>
              </a:rPr>
              <a:t>The animals or objects in Munjado are not just decorations. They often are symbolic. For example, carp in the paintings of hyo symbolize respect for parents because of an old story. The story goes as follows. Once upon a time, a man lived with his old mother. One winter, the man’s mother became ill and couldn’t eat anything. On one very cold day, the mother said to the man, “It would be wonderful if I could eat fresh fish.” The man went out to the river, but it was completely frozen. It was impossible for him to catch any fish. The man was so disappointed that he cried out to the sky, “What should I do? Please help me.” </a:t>
            </a:r>
            <a:r>
              <a:rPr lang="en-US" altLang="ko-KR" sz="1450" b="0" dirty="0">
                <a:solidFill>
                  <a:srgbClr val="1F2328"/>
                </a:solidFill>
                <a:latin typeface="Calibri"/>
                <a:ea typeface="맑은 고딕"/>
                <a:cs typeface="Calibri"/>
              </a:rPr>
              <a:t>Then the ice melted, and three carp suddenly came out of the water.</a:t>
            </a:r>
            <a:r>
              <a:rPr lang="en-US" altLang="ko-KR" sz="1450" b="0" dirty="0">
                <a:solidFill>
                  <a:srgbClr val="1F2328"/>
                </a:solidFill>
                <a:latin typeface="Calibri"/>
                <a:ea typeface="맑은 고딕"/>
                <a:cs typeface="Calibri"/>
              </a:rPr>
              <a:t> The man went back home and cooked the fish for his mother. Then his mother got well.</a:t>
            </a:r>
            <a:endParaRPr lang="en-US" altLang="ko-KR" sz="1450" b="0" dirty="0">
              <a:solidFill>
                <a:srgbClr val="1F2328"/>
              </a:solidFill>
              <a:latin typeface="Calibri"/>
              <a:ea typeface="맑은 고딕"/>
              <a:cs typeface="Calibri"/>
            </a:endParaRPr>
          </a:p>
        </p:txBody>
      </p:sp>
      <p:sp>
        <p:nvSpPr>
          <p:cNvPr id="9" name="rv_evidence_card"/>
          <p:cNvSpPr/>
          <p:nvPr/>
        </p:nvSpPr>
        <p:spPr>
          <a:xfrm>
            <a:off x="457200" y="950976"/>
            <a:ext cx="11277295" cy="195452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rv_evidence"/>
          <p:cNvSpPr txBox="1"/>
          <p:nvPr/>
        </p:nvSpPr>
        <p:spPr>
          <a:xfrm>
            <a:off x="457200" y="950976"/>
            <a:ext cx="11277295" cy="1954529"/>
          </a:xfrm>
          <a:prstGeom prst="rect">
            <a:avLst/>
          </a:prstGeom>
          <a:noFill/>
        </p:spPr>
        <p:txBody>
          <a:bodyPr wrap="square" lIns="201168" tIns="118872" rIns="201168" bIns="118872" anchor="t" rtlCol="0">
            <a:noAutofit/>
          </a:bodyPr>
          <a:lstStyle/>
          <a:p>
            <a:pPr algn="just">
              <a:lnSpc>
                <a:spcPts val="1890"/>
              </a:lnSpc>
              <a:spcBef>
                <a:spcPts val="0"/>
              </a:spcBef>
              <a:spcAft>
                <a:spcPts val="0"/>
              </a:spcAft>
              <a:buNone/>
            </a:pPr>
            <a:r>
              <a:rPr lang="en-US" altLang="ko-KR" sz="1450" b="0" dirty="0">
                <a:solidFill>
                  <a:srgbClr val="B3BAC6"/>
                </a:solidFill>
                <a:latin typeface="Calibri"/>
                <a:ea typeface="맑은 고딕"/>
                <a:cs typeface="Calibri"/>
              </a:rPr>
              <a:t>The animals or objects in Munjado are not just decorations. They often are symbolic. For example, carp in the paintings of hyo symbolize respect for parents because of an old story. The story goes as follows. Once upon a time, a man lived with his old mother. One winter, the man’s mother became ill and couldn’t eat anything. On one very cold day, the mother said to the man, “It would be wonderful if I could eat fresh fish.” The man went out to the river, but it was completely frozen. It was impossible for him to catch any fish. The man was so disappointed that he cried out to the sky, “What should I do? Please help me.” </a:t>
            </a:r>
            <a:r>
              <a:rPr lang="en-US" altLang="ko-KR" sz="1450" b="0" dirty="0">
                <a:solidFill>
                  <a:srgbClr val="111111"/>
                </a:solidFill>
                <a:highlight>
                  <a:srgbClr val="FFE45C"/>
                </a:highlight>
                <a:latin typeface="Calibri"/>
                <a:ea typeface="맑은 고딕"/>
                <a:cs typeface="Calibri"/>
              </a:rPr>
              <a:t>Then the ice melted, and three carp suddenly came out of the water.</a:t>
            </a:r>
            <a:r>
              <a:rPr lang="en-US" altLang="ko-KR" sz="1450" b="0" dirty="0">
                <a:solidFill>
                  <a:srgbClr val="B3BAC6"/>
                </a:solidFill>
                <a:latin typeface="Calibri"/>
                <a:ea typeface="맑은 고딕"/>
                <a:cs typeface="Calibri"/>
              </a:rPr>
              <a:t> The man went back home and cooked the fish for his mother. Then his mother got well.</a:t>
            </a:r>
            <a:endParaRPr lang="en-US" altLang="ko-KR" sz="1450" b="0" dirty="0">
              <a:solidFill>
                <a:srgbClr val="B3BAC6"/>
              </a:solidFill>
              <a:latin typeface="Calibri"/>
              <a:ea typeface="맑은 고딕"/>
              <a:cs typeface="Calibri"/>
            </a:endParaRPr>
          </a:p>
        </p:txBody>
      </p:sp>
      <p:sp>
        <p:nvSpPr>
          <p:cNvPr id="11" name="choice_1"/>
          <p:cNvSpPr txBox="1"/>
          <p:nvPr/>
        </p:nvSpPr>
        <p:spPr>
          <a:xfrm>
            <a:off x="457200" y="3051810"/>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①</a:t>
            </a:r>
            <a:r>
              <a:rPr lang="ko-KR" altLang="en-US" sz="1800" b="0" dirty="0">
                <a:solidFill>
                  <a:srgbClr val="1F2328"/>
                </a:solidFill>
                <a:latin typeface="맑은 고딕"/>
                <a:ea typeface="맑은 고딕"/>
                <a:cs typeface="맑은 고딕"/>
              </a:rPr>
              <a:t>	문자도의 사물은 단지 장식일 뿐이다</a:t>
            </a:r>
            <a:endParaRPr lang="ko-KR" altLang="en-US" sz="1800" b="0" dirty="0">
              <a:solidFill>
                <a:srgbClr val="1F2328"/>
              </a:solidFill>
              <a:latin typeface="맑은 고딕"/>
              <a:ea typeface="맑은 고딕"/>
              <a:cs typeface="맑은 고딕"/>
            </a:endParaRPr>
          </a:p>
        </p:txBody>
      </p:sp>
      <p:sp>
        <p:nvSpPr>
          <p:cNvPr id="12" name="choice_2"/>
          <p:cNvSpPr txBox="1"/>
          <p:nvPr/>
        </p:nvSpPr>
        <p:spPr>
          <a:xfrm>
            <a:off x="457200" y="3459226"/>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②</a:t>
            </a:r>
            <a:r>
              <a:rPr lang="ko-KR" altLang="en-US" sz="1800" b="0" dirty="0">
                <a:solidFill>
                  <a:srgbClr val="1F2328"/>
                </a:solidFill>
                <a:latin typeface="맑은 고딕"/>
                <a:ea typeface="맑은 고딕"/>
                <a:cs typeface="맑은 고딕"/>
              </a:rPr>
              <a:t>	남자는 따뜻한 봄날에 강으로 갔다</a:t>
            </a:r>
            <a:endParaRPr lang="ko-KR" altLang="en-US" sz="1800" b="0" dirty="0">
              <a:solidFill>
                <a:srgbClr val="1F2328"/>
              </a:solidFill>
              <a:latin typeface="맑은 고딕"/>
              <a:ea typeface="맑은 고딕"/>
              <a:cs typeface="맑은 고딕"/>
            </a:endParaRPr>
          </a:p>
        </p:txBody>
      </p:sp>
      <p:sp>
        <p:nvSpPr>
          <p:cNvPr id="13" name="choice_3"/>
          <p:cNvSpPr txBox="1"/>
          <p:nvPr/>
        </p:nvSpPr>
        <p:spPr>
          <a:xfrm>
            <a:off x="457200" y="3866642"/>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③</a:t>
            </a:r>
            <a:r>
              <a:rPr lang="ko-KR" altLang="en-US" sz="1800" b="0" dirty="0">
                <a:solidFill>
                  <a:srgbClr val="1F2328"/>
                </a:solidFill>
                <a:latin typeface="맑은 고딕"/>
                <a:ea typeface="맑은 고딕"/>
                <a:cs typeface="맑은 고딕"/>
              </a:rPr>
              <a:t>	어머니는 물고기를 먹고도 낫지 않았다</a:t>
            </a:r>
            <a:endParaRPr lang="ko-KR" altLang="en-US" sz="1800" b="0" dirty="0">
              <a:solidFill>
                <a:srgbClr val="1F2328"/>
              </a:solidFill>
              <a:latin typeface="맑은 고딕"/>
              <a:ea typeface="맑은 고딕"/>
              <a:cs typeface="맑은 고딕"/>
            </a:endParaRPr>
          </a:p>
        </p:txBody>
      </p:sp>
      <p:sp>
        <p:nvSpPr>
          <p:cNvPr id="14" name="choice_4"/>
          <p:cNvSpPr txBox="1"/>
          <p:nvPr/>
        </p:nvSpPr>
        <p:spPr>
          <a:xfrm>
            <a:off x="457200" y="4274058"/>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④</a:t>
            </a:r>
            <a:r>
              <a:rPr lang="ko-KR" altLang="en-US" sz="1800" b="0" dirty="0">
                <a:solidFill>
                  <a:srgbClr val="1F2328"/>
                </a:solidFill>
                <a:latin typeface="맑은 고딕"/>
                <a:ea typeface="맑은 고딕"/>
                <a:cs typeface="맑은 고딕"/>
              </a:rPr>
              <a:t>	남자는 시장에서 물고기를 사 왔다</a:t>
            </a:r>
            <a:endParaRPr lang="ko-KR" altLang="en-US" sz="1800" b="0" dirty="0">
              <a:solidFill>
                <a:srgbClr val="1F2328"/>
              </a:solidFill>
              <a:latin typeface="맑은 고딕"/>
              <a:ea typeface="맑은 고딕"/>
              <a:cs typeface="맑은 고딕"/>
            </a:endParaRPr>
          </a:p>
        </p:txBody>
      </p:sp>
      <p:sp>
        <p:nvSpPr>
          <p:cNvPr id="15" name="choice_5"/>
          <p:cNvSpPr txBox="1"/>
          <p:nvPr/>
        </p:nvSpPr>
        <p:spPr>
          <a:xfrm>
            <a:off x="457200" y="4681474"/>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⑤</a:t>
            </a:r>
            <a:r>
              <a:rPr lang="ko-KR" altLang="en-US" sz="1800" b="0" dirty="0">
                <a:solidFill>
                  <a:srgbClr val="1F2328"/>
                </a:solidFill>
                <a:latin typeface="맑은 고딕"/>
                <a:ea typeface="맑은 고딕"/>
                <a:cs typeface="맑은 고딕"/>
              </a:rPr>
              <a:t>	얼음이 녹은 뒤 잉어 세 마리가 나왔다</a:t>
            </a:r>
            <a:endParaRPr lang="ko-KR" altLang="en-US" sz="1800" b="0" dirty="0">
              <a:solidFill>
                <a:srgbClr val="1F2328"/>
              </a:solidFill>
              <a:latin typeface="맑은 고딕"/>
              <a:ea typeface="맑은 고딕"/>
              <a:cs typeface="맑은 고딕"/>
            </a:endParaRPr>
          </a:p>
        </p:txBody>
      </p:sp>
      <p:sp>
        <p:nvSpPr>
          <p:cNvPr id="16" name="rv_pick"/>
          <p:cNvSpPr txBox="1"/>
          <p:nvPr/>
        </p:nvSpPr>
        <p:spPr>
          <a:xfrm>
            <a:off x="457200" y="4681474"/>
            <a:ext cx="11277295" cy="379984"/>
          </a:xfrm>
          <a:prstGeom prst="rect">
            <a:avLst/>
          </a:prstGeom>
          <a:solidFill>
            <a:srgbClr val="FFF3C4"/>
          </a:solid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C00000"/>
                </a:solidFill>
                <a:latin typeface="맑은 고딕"/>
                <a:ea typeface="맑은 고딕"/>
                <a:cs typeface="맑은 고딕"/>
              </a:rPr>
              <a:t>⑤</a:t>
            </a:r>
            <a:r>
              <a:rPr lang="ko-KR" altLang="en-US" sz="1800" b="0" dirty="0">
                <a:solidFill>
                  <a:srgbClr val="C00000"/>
                </a:solidFill>
                <a:latin typeface="맑은 고딕"/>
                <a:ea typeface="맑은 고딕"/>
                <a:cs typeface="맑은 고딕"/>
              </a:rPr>
              <a:t>	얼음이 녹은 뒤 잉어 세 마리가 나왔다</a:t>
            </a:r>
            <a:endParaRPr lang="ko-KR" altLang="en-US" sz="1800" b="0" dirty="0">
              <a:solidFill>
                <a:srgbClr val="C00000"/>
              </a:solidFill>
              <a:latin typeface="맑은 고딕"/>
              <a:ea typeface="맑은 고딕"/>
              <a:cs typeface="맑은 고딕"/>
            </a:endParaRPr>
          </a:p>
        </p:txBody>
      </p:sp>
      <p:sp>
        <p:nvSpPr>
          <p:cNvPr id="17" name="rv_answer"/>
          <p:cNvSpPr/>
          <p:nvPr/>
        </p:nvSpPr>
        <p:spPr>
          <a:xfrm>
            <a:off x="457200" y="517118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⑤ </a:t>
            </a:r>
            <a:r>
              <a:rPr lang="ko-KR" altLang="en-US" sz="1900" b="1" dirty="0">
                <a:solidFill>
                  <a:srgbClr val="5A4200"/>
                </a:solidFill>
                <a:latin typeface="맑은 고딕"/>
                <a:ea typeface="맑은 고딕"/>
                <a:cs typeface="맑은 고딕"/>
              </a:rPr>
              <a:t>얼음이 녹은 뒤 잉어 세 마리가 나왔다</a:t>
            </a:r>
            <a:endParaRPr lang="ko-KR" altLang="en-US" sz="1900" b="1" dirty="0">
              <a:solidFill>
                <a:srgbClr val="5A4200"/>
              </a:solidFill>
              <a:latin typeface="맑은 고딕"/>
              <a:ea typeface="맑은 고딕"/>
              <a:cs typeface="맑은 고딕"/>
            </a:endParaRPr>
          </a:p>
        </p:txBody>
      </p:sp>
      <p:sp>
        <p:nvSpPr>
          <p:cNvPr id="18" name="rv_why"/>
          <p:cNvSpPr/>
          <p:nvPr/>
        </p:nvSpPr>
        <p:spPr>
          <a:xfrm>
            <a:off x="457200" y="5770118"/>
            <a:ext cx="11277295" cy="64896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얼음이 녹고 잉어 세 마리가 갑자기 물 밖으로 나왔다고 했으므로 ⑤가 일치한다.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250"/>
                                        <p:tgtEl>
                                          <p:spTgt spid="1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25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25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7" grpId="0" animBg="1"/>
      <p:bldP spid="9" grpId="0" animBg="1"/>
      <p:bldP spid="10" grpId="0" animBg="1"/>
      <p:bldP spid="18" grpId="0" animBg="1"/>
    </p:bldLst>
  </p:timing>
</p:sld>
</file>

<file path=ppt/slides/slide26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L8-2</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2 · 1</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1. 주어진 글 다음에 이어질 글의 순서로 가장 적절한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8</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정답 원리</a:t>
            </a:r>
            <a:endParaRPr lang="ko-KR" altLang="en-US" sz="1000" b="0" dirty="0">
              <a:solidFill>
                <a:srgbClr val="7A808C"/>
              </a:solidFill>
              <a:latin typeface="맑은 고딕"/>
              <a:ea typeface="맑은 고딕"/>
              <a:cs typeface="맑은 고딕"/>
            </a:endParaRPr>
          </a:p>
        </p:txBody>
      </p:sp>
      <p:sp>
        <p:nvSpPr>
          <p:cNvPr id="7" name="given_card"/>
          <p:cNvSpPr/>
          <p:nvPr/>
        </p:nvSpPr>
        <p:spPr>
          <a:xfrm>
            <a:off x="457200" y="950976"/>
            <a:ext cx="11277295" cy="457708"/>
          </a:xfrm>
          <a:prstGeom prst="roundRect">
            <a:avLst>
              <a:gd name="adj" fmla="val 6000"/>
            </a:avLst>
          </a:prstGeom>
          <a:solidFill>
            <a:srgbClr val="FFFFFF"/>
          </a:solidFill>
          <a:ln w="15875">
            <a:solidFill>
              <a:srgbClr val="1E2A5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given"/>
          <p:cNvSpPr txBox="1"/>
          <p:nvPr/>
        </p:nvSpPr>
        <p:spPr>
          <a:xfrm>
            <a:off x="457200" y="950976"/>
            <a:ext cx="11277295" cy="457708"/>
          </a:xfrm>
          <a:prstGeom prst="rect">
            <a:avLst/>
          </a:prstGeom>
          <a:noFill/>
        </p:spPr>
        <p:txBody>
          <a:bodyPr wrap="square" lIns="201168" tIns="100584" rIns="201168" bIns="100584" anchor="t" rtlCol="0">
            <a:noAutofit/>
          </a:bodyPr>
          <a:lstStyle/>
          <a:p>
            <a:pPr algn="l">
              <a:lnSpc>
                <a:spcPts val="2020"/>
              </a:lnSpc>
              <a:spcBef>
                <a:spcPts val="0"/>
              </a:spcBef>
              <a:spcAft>
                <a:spcPts val="0"/>
              </a:spcAft>
              <a:buNone/>
            </a:pPr>
            <a:r>
              <a:rPr lang="en-US" altLang="ko-KR" sz="1550" b="0" dirty="0">
                <a:solidFill>
                  <a:srgbClr val="1F2328"/>
                </a:solidFill>
                <a:latin typeface="Calibri"/>
                <a:ea typeface="맑은 고딕"/>
                <a:cs typeface="Calibri"/>
              </a:rPr>
              <a:t>The animals or objects in Munjado are not just decorations.</a:t>
            </a:r>
            <a:endParaRPr lang="en-US" altLang="ko-KR" sz="1550" b="0" dirty="0">
              <a:solidFill>
                <a:srgbClr val="1F2328"/>
              </a:solidFill>
              <a:latin typeface="Calibri"/>
              <a:ea typeface="맑은 고딕"/>
              <a:cs typeface="Calibri"/>
            </a:endParaRPr>
          </a:p>
        </p:txBody>
      </p:sp>
      <p:sp>
        <p:nvSpPr>
          <p:cNvPr id="9" name="parts_card"/>
          <p:cNvSpPr/>
          <p:nvPr/>
        </p:nvSpPr>
        <p:spPr>
          <a:xfrm>
            <a:off x="457200" y="1536700"/>
            <a:ext cx="11277295" cy="2575051"/>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parts"/>
          <p:cNvSpPr txBox="1"/>
          <p:nvPr/>
        </p:nvSpPr>
        <p:spPr>
          <a:xfrm>
            <a:off x="457200" y="1536700"/>
            <a:ext cx="11277295" cy="2575051"/>
          </a:xfrm>
          <a:prstGeom prst="rect">
            <a:avLst/>
          </a:prstGeom>
          <a:noFill/>
        </p:spPr>
        <p:txBody>
          <a:bodyPr wrap="square" lIns="201168" tIns="118872" rIns="201168" bIns="118872" anchor="t" rtlCol="0">
            <a:noAutofit/>
          </a:bodyPr>
          <a:lstStyle/>
          <a:p>
            <a:pPr algn="just" marL="414020" indent="-414020">
              <a:lnSpc>
                <a:spcPts val="2020"/>
              </a:lnSpc>
              <a:spcBef>
                <a:spcPts val="0"/>
              </a:spcBef>
              <a:spcAft>
                <a:spcPts val="700"/>
              </a:spcAft>
              <a:buNone/>
              <a:tabLst>
                <a:tab pos="414020" algn="l"/>
              </a:tabLst>
            </a:pPr>
            <a:r>
              <a:rPr lang="en-US" altLang="ko-KR" sz="1550" b="1" dirty="0">
                <a:solidFill>
                  <a:srgbClr val="1E2A5A"/>
                </a:solidFill>
                <a:latin typeface="Calibri"/>
                <a:ea typeface="맑은 고딕"/>
                <a:cs typeface="Calibri"/>
              </a:rPr>
              <a:t>(A)</a:t>
            </a:r>
            <a:r>
              <a:rPr lang="en-US" altLang="ko-KR" sz="1550" b="0" dirty="0">
                <a:solidFill>
                  <a:srgbClr val="1F2328"/>
                </a:solidFill>
                <a:latin typeface="Calibri"/>
                <a:ea typeface="맑은 고딕"/>
                <a:cs typeface="Calibri"/>
              </a:rPr>
              <a:t>	One winter, the man’s mother became ill and couldn’t eat anything. On one very cold day, the mother said to the man, “It would be wonderful if I could eat fresh fish.” The man went out to the river, but it was completely frozen. It was impossible for him to catch any fish.</a:t>
            </a:r>
            <a:endParaRPr lang="en-US" altLang="ko-KR" sz="1550" b="0" dirty="0">
              <a:solidFill>
                <a:srgbClr val="1F2328"/>
              </a:solidFill>
              <a:latin typeface="Calibri"/>
              <a:ea typeface="맑은 고딕"/>
              <a:cs typeface="Calibri"/>
            </a:endParaRPr>
          </a:p>
          <a:p>
            <a:pPr algn="just" marL="414020" indent="-414020">
              <a:lnSpc>
                <a:spcPts val="2020"/>
              </a:lnSpc>
              <a:spcBef>
                <a:spcPts val="0"/>
              </a:spcBef>
              <a:spcAft>
                <a:spcPts val="700"/>
              </a:spcAft>
              <a:buNone/>
              <a:tabLst>
                <a:tab pos="414020" algn="l"/>
              </a:tabLst>
            </a:pPr>
            <a:r>
              <a:rPr lang="en-US" altLang="ko-KR" sz="1550" b="1" dirty="0">
                <a:solidFill>
                  <a:srgbClr val="1E2A5A"/>
                </a:solidFill>
                <a:latin typeface="Calibri"/>
                <a:ea typeface="맑은 고딕"/>
                <a:cs typeface="Calibri"/>
              </a:rPr>
              <a:t>(B)</a:t>
            </a:r>
            <a:r>
              <a:rPr lang="en-US" altLang="ko-KR" sz="1550" b="0" dirty="0">
                <a:solidFill>
                  <a:srgbClr val="1F2328"/>
                </a:solidFill>
                <a:latin typeface="Calibri"/>
                <a:ea typeface="맑은 고딕"/>
                <a:cs typeface="Calibri"/>
              </a:rPr>
              <a:t>	They often are symbolic. For example, carp in the paintings of hyo symbolize respect for parents because of an old story. The story goes as follows. Once upon a time, a man lived with his old mother.</a:t>
            </a:r>
            <a:endParaRPr lang="en-US" altLang="ko-KR" sz="1550" b="0" dirty="0">
              <a:solidFill>
                <a:srgbClr val="1F2328"/>
              </a:solidFill>
              <a:latin typeface="Calibri"/>
              <a:ea typeface="맑은 고딕"/>
              <a:cs typeface="Calibri"/>
            </a:endParaRPr>
          </a:p>
          <a:p>
            <a:pPr algn="just" marL="414020" indent="-414020">
              <a:lnSpc>
                <a:spcPts val="2020"/>
              </a:lnSpc>
              <a:spcBef>
                <a:spcPts val="0"/>
              </a:spcBef>
              <a:spcAft>
                <a:spcPts val="700"/>
              </a:spcAft>
              <a:buNone/>
              <a:tabLst>
                <a:tab pos="414020" algn="l"/>
              </a:tabLst>
            </a:pPr>
            <a:r>
              <a:rPr lang="en-US" altLang="ko-KR" sz="1550" b="1" dirty="0">
                <a:solidFill>
                  <a:srgbClr val="1E2A5A"/>
                </a:solidFill>
                <a:latin typeface="Calibri"/>
                <a:ea typeface="맑은 고딕"/>
                <a:cs typeface="Calibri"/>
              </a:rPr>
              <a:t>(C)</a:t>
            </a:r>
            <a:r>
              <a:rPr lang="en-US" altLang="ko-KR" sz="1550" b="0" dirty="0">
                <a:solidFill>
                  <a:srgbClr val="1F2328"/>
                </a:solidFill>
                <a:latin typeface="Calibri"/>
                <a:ea typeface="맑은 고딕"/>
                <a:cs typeface="Calibri"/>
              </a:rPr>
              <a:t>	The man was so disappointed that he cried out to the sky, “What should I do? Please help me.” Then the ice melted, and three carp suddenly came out of the water. The man went back home and cooked the fish for his mother. Then his mother got well.</a:t>
            </a:r>
            <a:endParaRPr lang="en-US" altLang="ko-KR" sz="1550" b="0" dirty="0">
              <a:solidFill>
                <a:srgbClr val="1F2328"/>
              </a:solidFill>
              <a:latin typeface="Calibri"/>
              <a:ea typeface="맑은 고딕"/>
              <a:cs typeface="Calibri"/>
            </a:endParaRPr>
          </a:p>
        </p:txBody>
      </p:sp>
      <p:sp>
        <p:nvSpPr>
          <p:cNvPr id="11" name="options"/>
          <p:cNvSpPr txBox="1"/>
          <p:nvPr/>
        </p:nvSpPr>
        <p:spPr>
          <a:xfrm>
            <a:off x="457200" y="4221480"/>
            <a:ext cx="11277295" cy="420624"/>
          </a:xfrm>
          <a:prstGeom prst="rect">
            <a:avLst/>
          </a:prstGeom>
          <a:noFill/>
        </p:spPr>
        <p:txBody>
          <a:bodyPr wrap="square" lIns="91440" tIns="18288" rIns="91440" bIns="18288" anchor="ctr" rtlCol="0">
            <a:noAutofit/>
          </a:bodyPr>
          <a:lstStyle/>
          <a:p>
            <a:pPr algn="ctr">
              <a:lnSpc>
                <a:spcPts val="2560"/>
              </a:lnSpc>
              <a:spcBef>
                <a:spcPts val="0"/>
              </a:spcBef>
              <a:spcAft>
                <a:spcPts val="0"/>
              </a:spcAft>
              <a:buNone/>
            </a:pPr>
            <a:r>
              <a:rPr lang="ko-KR" altLang="en-US" sz="1800" b="1" dirty="0">
                <a:solidFill>
                  <a:srgbClr val="1E2A5A"/>
                </a:solidFill>
                <a:latin typeface="맑은 고딕"/>
                <a:ea typeface="맑은 고딕"/>
                <a:cs typeface="맑은 고딕"/>
              </a:rPr>
              <a:t>① </a:t>
            </a:r>
            <a:r>
              <a:rPr lang="en-US" altLang="ko-KR" sz="1800" b="0" dirty="0">
                <a:solidFill>
                  <a:srgbClr val="1F2328"/>
                </a:solidFill>
                <a:latin typeface="Calibri"/>
                <a:ea typeface="맑은 고딕"/>
                <a:cs typeface="Calibri"/>
              </a:rPr>
              <a:t>(A) - (C) - (B)</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② </a:t>
            </a:r>
            <a:r>
              <a:rPr lang="en-US" altLang="ko-KR" sz="1800" b="0" dirty="0">
                <a:solidFill>
                  <a:srgbClr val="1F2328"/>
                </a:solidFill>
                <a:latin typeface="Calibri"/>
                <a:ea typeface="맑은 고딕"/>
                <a:cs typeface="Calibri"/>
              </a:rPr>
              <a:t>(B) - (A) - (C)</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③ </a:t>
            </a:r>
            <a:r>
              <a:rPr lang="en-US" altLang="ko-KR" sz="1800" b="0" dirty="0">
                <a:solidFill>
                  <a:srgbClr val="1F2328"/>
                </a:solidFill>
                <a:latin typeface="Calibri"/>
                <a:ea typeface="맑은 고딕"/>
                <a:cs typeface="Calibri"/>
              </a:rPr>
              <a:t>(B) - (C) - (A)</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④ </a:t>
            </a:r>
            <a:r>
              <a:rPr lang="en-US" altLang="ko-KR" sz="1800" b="0" dirty="0">
                <a:solidFill>
                  <a:srgbClr val="1F2328"/>
                </a:solidFill>
                <a:latin typeface="Calibri"/>
                <a:ea typeface="맑은 고딕"/>
                <a:cs typeface="Calibri"/>
              </a:rPr>
              <a:t>(C) - (A) - (B)</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⑤ </a:t>
            </a:r>
            <a:r>
              <a:rPr lang="en-US" altLang="ko-KR" sz="1800" b="0" dirty="0">
                <a:solidFill>
                  <a:srgbClr val="1F2328"/>
                </a:solidFill>
                <a:latin typeface="Calibri"/>
                <a:ea typeface="맑은 고딕"/>
                <a:cs typeface="Calibri"/>
              </a:rPr>
              <a:t>(C) - (B) - (A)</a:t>
            </a:r>
            <a:endParaRPr lang="en-US" altLang="ko-KR" sz="1800" b="0" dirty="0">
              <a:solidFill>
                <a:srgbClr val="1F2328"/>
              </a:solidFill>
              <a:latin typeface="Calibri"/>
              <a:ea typeface="맑은 고딕"/>
              <a:cs typeface="Calibri"/>
            </a:endParaRPr>
          </a:p>
        </p:txBody>
      </p:sp>
      <p:sp>
        <p:nvSpPr>
          <p:cNvPr id="12" name="rv_pick"/>
          <p:cNvSpPr txBox="1"/>
          <p:nvPr/>
        </p:nvSpPr>
        <p:spPr>
          <a:xfrm>
            <a:off x="457200" y="4221480"/>
            <a:ext cx="11277295" cy="420624"/>
          </a:xfrm>
          <a:prstGeom prst="rect">
            <a:avLst/>
          </a:prstGeom>
          <a:noFill/>
        </p:spPr>
        <p:txBody>
          <a:bodyPr wrap="square" lIns="91440" tIns="18288" rIns="91440" bIns="18288" anchor="ctr" rtlCol="0">
            <a:noAutofit/>
          </a:bodyPr>
          <a:lstStyle/>
          <a:p>
            <a:pPr algn="ctr">
              <a:lnSpc>
                <a:spcPts val="2560"/>
              </a:lnSpc>
              <a:spcBef>
                <a:spcPts val="0"/>
              </a:spcBef>
              <a:spcAft>
                <a:spcPts val="0"/>
              </a:spcAft>
              <a:buNone/>
            </a:pPr>
            <a:r>
              <a:rPr lang="ko-KR" altLang="en-US" sz="1800" b="1" dirty="0">
                <a:solidFill>
                  <a:srgbClr val="1E2A5A">
                    <a:alpha val="0"/>
                  </a:srgbClr>
                </a:solidFill>
                <a:latin typeface="맑은 고딕"/>
                <a:ea typeface="맑은 고딕"/>
                <a:cs typeface="맑은 고딕"/>
              </a:rPr>
              <a:t>① </a:t>
            </a:r>
            <a:r>
              <a:rPr lang="en-US" altLang="ko-KR" sz="1800" b="0" dirty="0">
                <a:solidFill>
                  <a:srgbClr val="1F2328">
                    <a:alpha val="0"/>
                  </a:srgbClr>
                </a:solidFill>
                <a:latin typeface="Calibri"/>
                <a:ea typeface="맑은 고딕"/>
                <a:cs typeface="Calibri"/>
              </a:rPr>
              <a:t>(A) - (C) - (B)</a:t>
            </a:r>
            <a:r>
              <a:rPr lang="en-US" altLang="ko-KR" sz="1800" b="0" dirty="0">
                <a:solidFill>
                  <a:srgbClr val="1F2328">
                    <a:alpha val="0"/>
                  </a:srgbClr>
                </a:solidFill>
                <a:latin typeface="Calibri"/>
                <a:ea typeface="맑은 고딕"/>
                <a:cs typeface="Calibri"/>
              </a:rPr>
              <a:t>       </a:t>
            </a:r>
            <a:r>
              <a:rPr lang="ko-KR" altLang="en-US" sz="1800" b="1" dirty="0">
                <a:solidFill>
                  <a:srgbClr val="C00000"/>
                </a:solidFill>
                <a:highlight>
                  <a:srgbClr val="FFFFFF"/>
                </a:highlight>
                <a:latin typeface="맑은 고딕"/>
                <a:ea typeface="맑은 고딕"/>
                <a:cs typeface="맑은 고딕"/>
              </a:rPr>
              <a:t>② </a:t>
            </a:r>
            <a:r>
              <a:rPr lang="en-US" altLang="ko-KR" sz="1800" b="0" dirty="0">
                <a:solidFill>
                  <a:srgbClr val="C00000"/>
                </a:solidFill>
                <a:highlight>
                  <a:srgbClr val="FFFFFF"/>
                </a:highlight>
                <a:latin typeface="Calibri"/>
                <a:ea typeface="맑은 고딕"/>
                <a:cs typeface="Calibri"/>
              </a:rPr>
              <a:t>(B) - (A) - (C)</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③ </a:t>
            </a:r>
            <a:r>
              <a:rPr lang="en-US" altLang="ko-KR" sz="1800" b="0" dirty="0">
                <a:solidFill>
                  <a:srgbClr val="1F2328">
                    <a:alpha val="0"/>
                  </a:srgbClr>
                </a:solidFill>
                <a:latin typeface="Calibri"/>
                <a:ea typeface="맑은 고딕"/>
                <a:cs typeface="Calibri"/>
              </a:rPr>
              <a:t>(B) - (C) - (A)</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④ </a:t>
            </a:r>
            <a:r>
              <a:rPr lang="en-US" altLang="ko-KR" sz="1800" b="0" dirty="0">
                <a:solidFill>
                  <a:srgbClr val="1F2328">
                    <a:alpha val="0"/>
                  </a:srgbClr>
                </a:solidFill>
                <a:latin typeface="Calibri"/>
                <a:ea typeface="맑은 고딕"/>
                <a:cs typeface="Calibri"/>
              </a:rPr>
              <a:t>(C) - (A) - (B)</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⑤ </a:t>
            </a:r>
            <a:r>
              <a:rPr lang="en-US" altLang="ko-KR" sz="1800" b="0" dirty="0">
                <a:solidFill>
                  <a:srgbClr val="1F2328">
                    <a:alpha val="0"/>
                  </a:srgbClr>
                </a:solidFill>
                <a:latin typeface="Calibri"/>
                <a:ea typeface="맑은 고딕"/>
                <a:cs typeface="Calibri"/>
              </a:rPr>
              <a:t>(C) - (B) - (A)</a:t>
            </a:r>
            <a:endParaRPr lang="en-US" altLang="ko-KR" sz="1800" b="0" dirty="0">
              <a:solidFill>
                <a:srgbClr val="1F2328"/>
              </a:solidFill>
              <a:latin typeface="Calibri"/>
              <a:ea typeface="맑은 고딕"/>
              <a:cs typeface="Calibri"/>
            </a:endParaRPr>
          </a:p>
        </p:txBody>
      </p:sp>
      <p:sp>
        <p:nvSpPr>
          <p:cNvPr id="13" name="rv_answer"/>
          <p:cNvSpPr/>
          <p:nvPr/>
        </p:nvSpPr>
        <p:spPr>
          <a:xfrm>
            <a:off x="457200" y="4733543"/>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② </a:t>
            </a:r>
            <a:r>
              <a:rPr lang="en-US" altLang="ko-KR" sz="1900" b="1" dirty="0">
                <a:solidFill>
                  <a:srgbClr val="5A4200"/>
                </a:solidFill>
                <a:latin typeface="Calibri"/>
                <a:ea typeface="맑은 고딕"/>
                <a:cs typeface="Calibri"/>
              </a:rPr>
              <a:t>(B) - (A) - (C)</a:t>
            </a:r>
            <a:endParaRPr lang="en-US" altLang="ko-KR" sz="1900" b="1" dirty="0">
              <a:solidFill>
                <a:srgbClr val="5A4200"/>
              </a:solidFill>
              <a:latin typeface="Calibri"/>
              <a:ea typeface="맑은 고딕"/>
              <a:cs typeface="Calibri"/>
            </a:endParaRPr>
          </a:p>
        </p:txBody>
      </p:sp>
      <p:sp>
        <p:nvSpPr>
          <p:cNvPr id="14" name="rv_why"/>
          <p:cNvSpPr/>
          <p:nvPr/>
        </p:nvSpPr>
        <p:spPr>
          <a:xfrm>
            <a:off x="457200" y="5332475"/>
            <a:ext cx="11277295" cy="1086612"/>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사물은 장식이 아니라는 말 → (B) 'They often are symbolic'과 잉어 이야기 예고 → (A) 'One winter' 어머니가 병들고 강이 얼었다 → (C) 'The man'이 낙담해 외치자 잉어가 나왔다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25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250"/>
                                        <p:tgtEl>
                                          <p:spTgt spid="1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2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animBg="1"/>
    </p:bldLst>
  </p:timing>
</p:sld>
</file>

<file path=ppt/slides/slide26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L8-2</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2 · 2</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2. 주어진 글 다음에 이어질 글의 순서로 가장 적절한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8</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정답 원리</a:t>
            </a:r>
            <a:endParaRPr lang="ko-KR" altLang="en-US" sz="1000" b="0" dirty="0">
              <a:solidFill>
                <a:srgbClr val="7A808C"/>
              </a:solidFill>
              <a:latin typeface="맑은 고딕"/>
              <a:ea typeface="맑은 고딕"/>
              <a:cs typeface="맑은 고딕"/>
            </a:endParaRPr>
          </a:p>
        </p:txBody>
      </p:sp>
      <p:sp>
        <p:nvSpPr>
          <p:cNvPr id="7" name="given_card"/>
          <p:cNvSpPr/>
          <p:nvPr/>
        </p:nvSpPr>
        <p:spPr>
          <a:xfrm>
            <a:off x="457200" y="950976"/>
            <a:ext cx="11277295" cy="457708"/>
          </a:xfrm>
          <a:prstGeom prst="roundRect">
            <a:avLst>
              <a:gd name="adj" fmla="val 6000"/>
            </a:avLst>
          </a:prstGeom>
          <a:solidFill>
            <a:srgbClr val="FFFFFF"/>
          </a:solidFill>
          <a:ln w="15875">
            <a:solidFill>
              <a:srgbClr val="1E2A5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given"/>
          <p:cNvSpPr txBox="1"/>
          <p:nvPr/>
        </p:nvSpPr>
        <p:spPr>
          <a:xfrm>
            <a:off x="457200" y="950976"/>
            <a:ext cx="11277295" cy="457708"/>
          </a:xfrm>
          <a:prstGeom prst="rect">
            <a:avLst/>
          </a:prstGeom>
          <a:noFill/>
        </p:spPr>
        <p:txBody>
          <a:bodyPr wrap="square" lIns="201168" tIns="100584" rIns="201168" bIns="100584" anchor="t" rtlCol="0">
            <a:noAutofit/>
          </a:bodyPr>
          <a:lstStyle/>
          <a:p>
            <a:pPr algn="l">
              <a:lnSpc>
                <a:spcPts val="2020"/>
              </a:lnSpc>
              <a:spcBef>
                <a:spcPts val="0"/>
              </a:spcBef>
              <a:spcAft>
                <a:spcPts val="0"/>
              </a:spcAft>
              <a:buNone/>
            </a:pPr>
            <a:r>
              <a:rPr lang="en-US" altLang="ko-KR" sz="1550" b="0" dirty="0">
                <a:solidFill>
                  <a:srgbClr val="1F2328"/>
                </a:solidFill>
                <a:latin typeface="Calibri"/>
                <a:ea typeface="맑은 고딕"/>
                <a:cs typeface="Calibri"/>
              </a:rPr>
              <a:t>The animals or objects in Munjado are not just decorations.</a:t>
            </a:r>
            <a:endParaRPr lang="en-US" altLang="ko-KR" sz="1550" b="0" dirty="0">
              <a:solidFill>
                <a:srgbClr val="1F2328"/>
              </a:solidFill>
              <a:latin typeface="Calibri"/>
              <a:ea typeface="맑은 고딕"/>
              <a:cs typeface="Calibri"/>
            </a:endParaRPr>
          </a:p>
        </p:txBody>
      </p:sp>
      <p:sp>
        <p:nvSpPr>
          <p:cNvPr id="9" name="parts_card"/>
          <p:cNvSpPr/>
          <p:nvPr/>
        </p:nvSpPr>
        <p:spPr>
          <a:xfrm>
            <a:off x="457200" y="1536700"/>
            <a:ext cx="11277295" cy="2575051"/>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parts"/>
          <p:cNvSpPr txBox="1"/>
          <p:nvPr/>
        </p:nvSpPr>
        <p:spPr>
          <a:xfrm>
            <a:off x="457200" y="1536700"/>
            <a:ext cx="11277295" cy="2575051"/>
          </a:xfrm>
          <a:prstGeom prst="rect">
            <a:avLst/>
          </a:prstGeom>
          <a:noFill/>
        </p:spPr>
        <p:txBody>
          <a:bodyPr wrap="square" lIns="201168" tIns="118872" rIns="201168" bIns="118872" anchor="t" rtlCol="0">
            <a:noAutofit/>
          </a:bodyPr>
          <a:lstStyle/>
          <a:p>
            <a:pPr algn="just" marL="414020" indent="-414020">
              <a:lnSpc>
                <a:spcPts val="2020"/>
              </a:lnSpc>
              <a:spcBef>
                <a:spcPts val="0"/>
              </a:spcBef>
              <a:spcAft>
                <a:spcPts val="700"/>
              </a:spcAft>
              <a:buNone/>
              <a:tabLst>
                <a:tab pos="414020" algn="l"/>
              </a:tabLst>
            </a:pPr>
            <a:r>
              <a:rPr lang="en-US" altLang="ko-KR" sz="1550" b="1" dirty="0">
                <a:solidFill>
                  <a:srgbClr val="1E2A5A"/>
                </a:solidFill>
                <a:latin typeface="Calibri"/>
                <a:ea typeface="맑은 고딕"/>
                <a:cs typeface="Calibri"/>
              </a:rPr>
              <a:t>(A)</a:t>
            </a:r>
            <a:r>
              <a:rPr lang="en-US" altLang="ko-KR" sz="1550" b="0" dirty="0">
                <a:solidFill>
                  <a:srgbClr val="1F2328"/>
                </a:solidFill>
                <a:latin typeface="Calibri"/>
                <a:ea typeface="맑은 고딕"/>
                <a:cs typeface="Calibri"/>
              </a:rPr>
              <a:t>	One winter, the man’s mother became ill and couldn’t eat anything. On one very cold day, the mother said to the man, “It would be wonderful if I could eat fresh fish.” The man went out to the river, but it was completely frozen. It was impossible for him to catch any fish.</a:t>
            </a:r>
            <a:endParaRPr lang="en-US" altLang="ko-KR" sz="1550" b="0" dirty="0">
              <a:solidFill>
                <a:srgbClr val="1F2328"/>
              </a:solidFill>
              <a:latin typeface="Calibri"/>
              <a:ea typeface="맑은 고딕"/>
              <a:cs typeface="Calibri"/>
            </a:endParaRPr>
          </a:p>
          <a:p>
            <a:pPr algn="just" marL="414020" indent="-414020">
              <a:lnSpc>
                <a:spcPts val="2020"/>
              </a:lnSpc>
              <a:spcBef>
                <a:spcPts val="0"/>
              </a:spcBef>
              <a:spcAft>
                <a:spcPts val="700"/>
              </a:spcAft>
              <a:buNone/>
              <a:tabLst>
                <a:tab pos="414020" algn="l"/>
              </a:tabLst>
            </a:pPr>
            <a:r>
              <a:rPr lang="en-US" altLang="ko-KR" sz="1550" b="1" dirty="0">
                <a:solidFill>
                  <a:srgbClr val="1E2A5A"/>
                </a:solidFill>
                <a:latin typeface="Calibri"/>
                <a:ea typeface="맑은 고딕"/>
                <a:cs typeface="Calibri"/>
              </a:rPr>
              <a:t>(B)</a:t>
            </a:r>
            <a:r>
              <a:rPr lang="en-US" altLang="ko-KR" sz="1550" b="0" dirty="0">
                <a:solidFill>
                  <a:srgbClr val="1F2328"/>
                </a:solidFill>
                <a:latin typeface="Calibri"/>
                <a:ea typeface="맑은 고딕"/>
                <a:cs typeface="Calibri"/>
              </a:rPr>
              <a:t>	The man was so disappointed that he cried out to the sky, “What should I do? Please help me.” Then the ice melted, and three carp suddenly came out of the water. The man went back home and cooked the fish for his mother. Then his mother got well.</a:t>
            </a:r>
            <a:endParaRPr lang="en-US" altLang="ko-KR" sz="1550" b="0" dirty="0">
              <a:solidFill>
                <a:srgbClr val="1F2328"/>
              </a:solidFill>
              <a:latin typeface="Calibri"/>
              <a:ea typeface="맑은 고딕"/>
              <a:cs typeface="Calibri"/>
            </a:endParaRPr>
          </a:p>
          <a:p>
            <a:pPr algn="just" marL="414020" indent="-414020">
              <a:lnSpc>
                <a:spcPts val="2020"/>
              </a:lnSpc>
              <a:spcBef>
                <a:spcPts val="0"/>
              </a:spcBef>
              <a:spcAft>
                <a:spcPts val="700"/>
              </a:spcAft>
              <a:buNone/>
              <a:tabLst>
                <a:tab pos="414020" algn="l"/>
              </a:tabLst>
            </a:pPr>
            <a:r>
              <a:rPr lang="en-US" altLang="ko-KR" sz="1550" b="1" dirty="0">
                <a:solidFill>
                  <a:srgbClr val="1E2A5A"/>
                </a:solidFill>
                <a:latin typeface="Calibri"/>
                <a:ea typeface="맑은 고딕"/>
                <a:cs typeface="Calibri"/>
              </a:rPr>
              <a:t>(C)</a:t>
            </a:r>
            <a:r>
              <a:rPr lang="en-US" altLang="ko-KR" sz="1550" b="0" dirty="0">
                <a:solidFill>
                  <a:srgbClr val="1F2328"/>
                </a:solidFill>
                <a:latin typeface="Calibri"/>
                <a:ea typeface="맑은 고딕"/>
                <a:cs typeface="Calibri"/>
              </a:rPr>
              <a:t>	They often are symbolic. For example, carp in the paintings of hyo symbolize respect for parents because of an old story. The story goes as follows. Once upon a time, a man lived with his old mother.</a:t>
            </a:r>
            <a:endParaRPr lang="en-US" altLang="ko-KR" sz="1550" b="0" dirty="0">
              <a:solidFill>
                <a:srgbClr val="1F2328"/>
              </a:solidFill>
              <a:latin typeface="Calibri"/>
              <a:ea typeface="맑은 고딕"/>
              <a:cs typeface="Calibri"/>
            </a:endParaRPr>
          </a:p>
        </p:txBody>
      </p:sp>
      <p:sp>
        <p:nvSpPr>
          <p:cNvPr id="11" name="options"/>
          <p:cNvSpPr txBox="1"/>
          <p:nvPr/>
        </p:nvSpPr>
        <p:spPr>
          <a:xfrm>
            <a:off x="457200" y="4221480"/>
            <a:ext cx="11277295" cy="420624"/>
          </a:xfrm>
          <a:prstGeom prst="rect">
            <a:avLst/>
          </a:prstGeom>
          <a:noFill/>
        </p:spPr>
        <p:txBody>
          <a:bodyPr wrap="square" lIns="91440" tIns="18288" rIns="91440" bIns="18288" anchor="ctr" rtlCol="0">
            <a:noAutofit/>
          </a:bodyPr>
          <a:lstStyle/>
          <a:p>
            <a:pPr algn="ctr">
              <a:lnSpc>
                <a:spcPts val="2560"/>
              </a:lnSpc>
              <a:spcBef>
                <a:spcPts val="0"/>
              </a:spcBef>
              <a:spcAft>
                <a:spcPts val="0"/>
              </a:spcAft>
              <a:buNone/>
            </a:pPr>
            <a:r>
              <a:rPr lang="ko-KR" altLang="en-US" sz="1800" b="1" dirty="0">
                <a:solidFill>
                  <a:srgbClr val="1E2A5A"/>
                </a:solidFill>
                <a:latin typeface="맑은 고딕"/>
                <a:ea typeface="맑은 고딕"/>
                <a:cs typeface="맑은 고딕"/>
              </a:rPr>
              <a:t>① </a:t>
            </a:r>
            <a:r>
              <a:rPr lang="en-US" altLang="ko-KR" sz="1800" b="0" dirty="0">
                <a:solidFill>
                  <a:srgbClr val="1F2328"/>
                </a:solidFill>
                <a:latin typeface="Calibri"/>
                <a:ea typeface="맑은 고딕"/>
                <a:cs typeface="Calibri"/>
              </a:rPr>
              <a:t>(A) - (C) - (B)</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② </a:t>
            </a:r>
            <a:r>
              <a:rPr lang="en-US" altLang="ko-KR" sz="1800" b="0" dirty="0">
                <a:solidFill>
                  <a:srgbClr val="1F2328"/>
                </a:solidFill>
                <a:latin typeface="Calibri"/>
                <a:ea typeface="맑은 고딕"/>
                <a:cs typeface="Calibri"/>
              </a:rPr>
              <a:t>(B) - (A) - (C)</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③ </a:t>
            </a:r>
            <a:r>
              <a:rPr lang="en-US" altLang="ko-KR" sz="1800" b="0" dirty="0">
                <a:solidFill>
                  <a:srgbClr val="1F2328"/>
                </a:solidFill>
                <a:latin typeface="Calibri"/>
                <a:ea typeface="맑은 고딕"/>
                <a:cs typeface="Calibri"/>
              </a:rPr>
              <a:t>(B) - (C) - (A)</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④ </a:t>
            </a:r>
            <a:r>
              <a:rPr lang="en-US" altLang="ko-KR" sz="1800" b="0" dirty="0">
                <a:solidFill>
                  <a:srgbClr val="1F2328"/>
                </a:solidFill>
                <a:latin typeface="Calibri"/>
                <a:ea typeface="맑은 고딕"/>
                <a:cs typeface="Calibri"/>
              </a:rPr>
              <a:t>(C) - (A) - (B)</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⑤ </a:t>
            </a:r>
            <a:r>
              <a:rPr lang="en-US" altLang="ko-KR" sz="1800" b="0" dirty="0">
                <a:solidFill>
                  <a:srgbClr val="1F2328"/>
                </a:solidFill>
                <a:latin typeface="Calibri"/>
                <a:ea typeface="맑은 고딕"/>
                <a:cs typeface="Calibri"/>
              </a:rPr>
              <a:t>(C) - (B) - (A)</a:t>
            </a:r>
            <a:endParaRPr lang="en-US" altLang="ko-KR" sz="1800" b="0" dirty="0">
              <a:solidFill>
                <a:srgbClr val="1F2328"/>
              </a:solidFill>
              <a:latin typeface="Calibri"/>
              <a:ea typeface="맑은 고딕"/>
              <a:cs typeface="Calibri"/>
            </a:endParaRPr>
          </a:p>
        </p:txBody>
      </p:sp>
      <p:sp>
        <p:nvSpPr>
          <p:cNvPr id="12" name="rv_pick"/>
          <p:cNvSpPr txBox="1"/>
          <p:nvPr/>
        </p:nvSpPr>
        <p:spPr>
          <a:xfrm>
            <a:off x="457200" y="4221480"/>
            <a:ext cx="11277295" cy="420624"/>
          </a:xfrm>
          <a:prstGeom prst="rect">
            <a:avLst/>
          </a:prstGeom>
          <a:noFill/>
        </p:spPr>
        <p:txBody>
          <a:bodyPr wrap="square" lIns="91440" tIns="18288" rIns="91440" bIns="18288" anchor="ctr" rtlCol="0">
            <a:noAutofit/>
          </a:bodyPr>
          <a:lstStyle/>
          <a:p>
            <a:pPr algn="ctr">
              <a:lnSpc>
                <a:spcPts val="2560"/>
              </a:lnSpc>
              <a:spcBef>
                <a:spcPts val="0"/>
              </a:spcBef>
              <a:spcAft>
                <a:spcPts val="0"/>
              </a:spcAft>
              <a:buNone/>
            </a:pPr>
            <a:r>
              <a:rPr lang="ko-KR" altLang="en-US" sz="1800" b="1" dirty="0">
                <a:solidFill>
                  <a:srgbClr val="1E2A5A">
                    <a:alpha val="0"/>
                  </a:srgbClr>
                </a:solidFill>
                <a:latin typeface="맑은 고딕"/>
                <a:ea typeface="맑은 고딕"/>
                <a:cs typeface="맑은 고딕"/>
              </a:rPr>
              <a:t>① </a:t>
            </a:r>
            <a:r>
              <a:rPr lang="en-US" altLang="ko-KR" sz="1800" b="0" dirty="0">
                <a:solidFill>
                  <a:srgbClr val="1F2328">
                    <a:alpha val="0"/>
                  </a:srgbClr>
                </a:solidFill>
                <a:latin typeface="Calibri"/>
                <a:ea typeface="맑은 고딕"/>
                <a:cs typeface="Calibri"/>
              </a:rPr>
              <a:t>(A) - (C) - (B)</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② </a:t>
            </a:r>
            <a:r>
              <a:rPr lang="en-US" altLang="ko-KR" sz="1800" b="0" dirty="0">
                <a:solidFill>
                  <a:srgbClr val="1F2328">
                    <a:alpha val="0"/>
                  </a:srgbClr>
                </a:solidFill>
                <a:latin typeface="Calibri"/>
                <a:ea typeface="맑은 고딕"/>
                <a:cs typeface="Calibri"/>
              </a:rPr>
              <a:t>(B) - (A) - (C)</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③ </a:t>
            </a:r>
            <a:r>
              <a:rPr lang="en-US" altLang="ko-KR" sz="1800" b="0" dirty="0">
                <a:solidFill>
                  <a:srgbClr val="1F2328">
                    <a:alpha val="0"/>
                  </a:srgbClr>
                </a:solidFill>
                <a:latin typeface="Calibri"/>
                <a:ea typeface="맑은 고딕"/>
                <a:cs typeface="Calibri"/>
              </a:rPr>
              <a:t>(B) - (C) - (A)</a:t>
            </a:r>
            <a:r>
              <a:rPr lang="en-US" altLang="ko-KR" sz="1800" b="0" dirty="0">
                <a:solidFill>
                  <a:srgbClr val="1F2328">
                    <a:alpha val="0"/>
                  </a:srgbClr>
                </a:solidFill>
                <a:latin typeface="Calibri"/>
                <a:ea typeface="맑은 고딕"/>
                <a:cs typeface="Calibri"/>
              </a:rPr>
              <a:t>       </a:t>
            </a:r>
            <a:r>
              <a:rPr lang="ko-KR" altLang="en-US" sz="1800" b="1" dirty="0">
                <a:solidFill>
                  <a:srgbClr val="C00000"/>
                </a:solidFill>
                <a:highlight>
                  <a:srgbClr val="FFFFFF"/>
                </a:highlight>
                <a:latin typeface="맑은 고딕"/>
                <a:ea typeface="맑은 고딕"/>
                <a:cs typeface="맑은 고딕"/>
              </a:rPr>
              <a:t>④ </a:t>
            </a:r>
            <a:r>
              <a:rPr lang="en-US" altLang="ko-KR" sz="1800" b="0" dirty="0">
                <a:solidFill>
                  <a:srgbClr val="C00000"/>
                </a:solidFill>
                <a:highlight>
                  <a:srgbClr val="FFFFFF"/>
                </a:highlight>
                <a:latin typeface="Calibri"/>
                <a:ea typeface="맑은 고딕"/>
                <a:cs typeface="Calibri"/>
              </a:rPr>
              <a:t>(C) - (A) - (B)</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⑤ </a:t>
            </a:r>
            <a:r>
              <a:rPr lang="en-US" altLang="ko-KR" sz="1800" b="0" dirty="0">
                <a:solidFill>
                  <a:srgbClr val="1F2328">
                    <a:alpha val="0"/>
                  </a:srgbClr>
                </a:solidFill>
                <a:latin typeface="Calibri"/>
                <a:ea typeface="맑은 고딕"/>
                <a:cs typeface="Calibri"/>
              </a:rPr>
              <a:t>(C) - (B) - (A)</a:t>
            </a:r>
            <a:endParaRPr lang="en-US" altLang="ko-KR" sz="1800" b="0" dirty="0">
              <a:solidFill>
                <a:srgbClr val="1F2328"/>
              </a:solidFill>
              <a:latin typeface="Calibri"/>
              <a:ea typeface="맑은 고딕"/>
              <a:cs typeface="Calibri"/>
            </a:endParaRPr>
          </a:p>
        </p:txBody>
      </p:sp>
      <p:sp>
        <p:nvSpPr>
          <p:cNvPr id="13" name="rv_answer"/>
          <p:cNvSpPr/>
          <p:nvPr/>
        </p:nvSpPr>
        <p:spPr>
          <a:xfrm>
            <a:off x="457200" y="4733543"/>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④ </a:t>
            </a:r>
            <a:r>
              <a:rPr lang="en-US" altLang="ko-KR" sz="1900" b="1" dirty="0">
                <a:solidFill>
                  <a:srgbClr val="5A4200"/>
                </a:solidFill>
                <a:latin typeface="Calibri"/>
                <a:ea typeface="맑은 고딕"/>
                <a:cs typeface="Calibri"/>
              </a:rPr>
              <a:t>(C) - (A) - (B)</a:t>
            </a:r>
            <a:endParaRPr lang="en-US" altLang="ko-KR" sz="1900" b="1" dirty="0">
              <a:solidFill>
                <a:srgbClr val="5A4200"/>
              </a:solidFill>
              <a:latin typeface="Calibri"/>
              <a:ea typeface="맑은 고딕"/>
              <a:cs typeface="Calibri"/>
            </a:endParaRPr>
          </a:p>
        </p:txBody>
      </p:sp>
      <p:sp>
        <p:nvSpPr>
          <p:cNvPr id="14" name="rv_why"/>
          <p:cNvSpPr/>
          <p:nvPr/>
        </p:nvSpPr>
        <p:spPr>
          <a:xfrm>
            <a:off x="457200" y="5332475"/>
            <a:ext cx="11277295" cy="1086612"/>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사물은 장식이 아니라는 말 → (C) 'They'가 그 사물을 받아 상징적이라 하고 이야기를 예고한다 → (A) 'One winter' 어머니가 병든다 → (B) 낙담한 남자에게 잉어가 나타난다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25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250"/>
                                        <p:tgtEl>
                                          <p:spTgt spid="1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2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animBg="1"/>
    </p:bldLst>
  </p:timing>
</p:sld>
</file>

<file path=ppt/slides/slide26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L8-2</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2 · 3</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3. 글의 흐름으로 보아, 주어진 문장이 들어가기에 가장 적절한 곳은?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8</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정답 원리</a:t>
            </a:r>
            <a:endParaRPr lang="ko-KR" altLang="en-US" sz="1000" b="0" dirty="0">
              <a:solidFill>
                <a:srgbClr val="7A808C"/>
              </a:solidFill>
              <a:latin typeface="맑은 고딕"/>
              <a:ea typeface="맑은 고딕"/>
              <a:cs typeface="맑은 고딕"/>
            </a:endParaRPr>
          </a:p>
        </p:txBody>
      </p:sp>
      <p:sp>
        <p:nvSpPr>
          <p:cNvPr id="7" name="given_card"/>
          <p:cNvSpPr/>
          <p:nvPr/>
        </p:nvSpPr>
        <p:spPr>
          <a:xfrm>
            <a:off x="457200" y="950976"/>
            <a:ext cx="11277295" cy="813308"/>
          </a:xfrm>
          <a:prstGeom prst="roundRect">
            <a:avLst>
              <a:gd name="adj" fmla="val 6000"/>
            </a:avLst>
          </a:prstGeom>
          <a:solidFill>
            <a:srgbClr val="FFFFFF"/>
          </a:solidFill>
          <a:ln w="15875">
            <a:solidFill>
              <a:srgbClr val="1E2A5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given"/>
          <p:cNvSpPr txBox="1"/>
          <p:nvPr/>
        </p:nvSpPr>
        <p:spPr>
          <a:xfrm>
            <a:off x="457200" y="950976"/>
            <a:ext cx="11277295" cy="813308"/>
          </a:xfrm>
          <a:prstGeom prst="rect">
            <a:avLst/>
          </a:prstGeom>
          <a:noFill/>
        </p:spPr>
        <p:txBody>
          <a:bodyPr wrap="square" lIns="201168" tIns="100584" rIns="201168" bIns="100584"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주어진 문장</a:t>
            </a:r>
            <a:r>
              <a:rPr lang="en-US" altLang="ko-KR" sz="1700" b="0" dirty="0">
                <a:solidFill>
                  <a:srgbClr val="1F2328"/>
                </a:solidFill>
                <a:latin typeface="Calibri"/>
                <a:ea typeface="맑은 고딕"/>
                <a:cs typeface="Calibri"/>
              </a:rPr>
              <a:t>   For example, carp in the paintings of hyo symbolize respect for parents because of an old story.</a:t>
            </a:r>
            <a:endParaRPr lang="en-US" altLang="ko-KR" sz="1700" b="0" dirty="0">
              <a:solidFill>
                <a:srgbClr val="1F2328"/>
              </a:solidFill>
              <a:latin typeface="Calibri"/>
              <a:ea typeface="맑은 고딕"/>
              <a:cs typeface="Calibri"/>
            </a:endParaRPr>
          </a:p>
        </p:txBody>
      </p:sp>
      <p:sp>
        <p:nvSpPr>
          <p:cNvPr id="9" name="passage_card"/>
          <p:cNvSpPr/>
          <p:nvPr/>
        </p:nvSpPr>
        <p:spPr>
          <a:xfrm>
            <a:off x="457200" y="1910587"/>
            <a:ext cx="11277295" cy="287528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passage"/>
          <p:cNvSpPr txBox="1"/>
          <p:nvPr/>
        </p:nvSpPr>
        <p:spPr>
          <a:xfrm>
            <a:off x="457200" y="1910587"/>
            <a:ext cx="11277295" cy="2875280"/>
          </a:xfrm>
          <a:prstGeom prst="rect">
            <a:avLst/>
          </a:prstGeom>
          <a:noFill/>
        </p:spPr>
        <p:txBody>
          <a:bodyPr wrap="square" lIns="201168" tIns="118872" rIns="201168" bIns="118872" anchor="t" rtlCol="0">
            <a:noAutofit/>
          </a:bodyPr>
          <a:lstStyle/>
          <a:p>
            <a:pPr algn="just">
              <a:lnSpc>
                <a:spcPts val="2560"/>
              </a:lnSpc>
              <a:spcBef>
                <a:spcPts val="0"/>
              </a:spcBef>
              <a:spcAft>
                <a:spcPts val="0"/>
              </a:spcAft>
              <a:buNone/>
            </a:pPr>
            <a:r>
              <a:rPr lang="en-US" altLang="ko-KR" sz="1700" b="0" dirty="0">
                <a:solidFill>
                  <a:srgbClr val="1F2328"/>
                </a:solidFill>
                <a:latin typeface="Calibri"/>
                <a:ea typeface="맑은 고딕"/>
                <a:cs typeface="Calibri"/>
              </a:rPr>
              <a:t>The animals or objects in Munjado are not just decorations. </a:t>
            </a:r>
            <a:r>
              <a:rPr lang="ko-KR" altLang="en-US" sz="1800" b="1" dirty="0">
                <a:solidFill>
                  <a:srgbClr val="1E2A5A"/>
                </a:solidFill>
                <a:latin typeface="맑은 고딕"/>
                <a:ea typeface="맑은 고딕"/>
                <a:cs typeface="맑은 고딕"/>
              </a:rPr>
              <a:t>②</a:t>
            </a:r>
            <a:r>
              <a:rPr lang="en-US" altLang="ko-KR" sz="1700" b="0" dirty="0">
                <a:solidFill>
                  <a:srgbClr val="1F2328"/>
                </a:solidFill>
                <a:latin typeface="Calibri"/>
                <a:ea typeface="맑은 고딕"/>
                <a:cs typeface="Calibri"/>
              </a:rPr>
              <a:t> They often are symbolic. </a:t>
            </a:r>
            <a:r>
              <a:rPr lang="ko-KR" altLang="en-US" sz="1800" b="1" dirty="0">
                <a:solidFill>
                  <a:srgbClr val="1E2A5A"/>
                </a:solidFill>
                <a:latin typeface="맑은 고딕"/>
                <a:ea typeface="맑은 고딕"/>
                <a:cs typeface="맑은 고딕"/>
              </a:rPr>
              <a:t>③</a:t>
            </a:r>
            <a:r>
              <a:rPr lang="en-US" altLang="ko-KR" sz="1700" b="0" dirty="0">
                <a:solidFill>
                  <a:srgbClr val="1F2328"/>
                </a:solidFill>
                <a:latin typeface="Calibri"/>
                <a:ea typeface="맑은 고딕"/>
                <a:cs typeface="Calibri"/>
              </a:rPr>
              <a:t> The story goes as follows. </a:t>
            </a:r>
            <a:r>
              <a:rPr lang="ko-KR" altLang="en-US" sz="1800" b="1" dirty="0">
                <a:solidFill>
                  <a:srgbClr val="1E2A5A"/>
                </a:solidFill>
                <a:latin typeface="맑은 고딕"/>
                <a:ea typeface="맑은 고딕"/>
                <a:cs typeface="맑은 고딕"/>
              </a:rPr>
              <a:t>④</a:t>
            </a:r>
            <a:r>
              <a:rPr lang="en-US" altLang="ko-KR" sz="1700" b="0" dirty="0">
                <a:solidFill>
                  <a:srgbClr val="1F2328"/>
                </a:solidFill>
                <a:latin typeface="Calibri"/>
                <a:ea typeface="맑은 고딕"/>
                <a:cs typeface="Calibri"/>
              </a:rPr>
              <a:t> Once upon a time, a man lived with his old mother. </a:t>
            </a:r>
            <a:r>
              <a:rPr lang="ko-KR" altLang="en-US" sz="1800" b="1" dirty="0">
                <a:solidFill>
                  <a:srgbClr val="1E2A5A"/>
                </a:solidFill>
                <a:latin typeface="맑은 고딕"/>
                <a:ea typeface="맑은 고딕"/>
                <a:cs typeface="맑은 고딕"/>
              </a:rPr>
              <a:t>⑤</a:t>
            </a:r>
            <a:r>
              <a:rPr lang="en-US" altLang="ko-KR" sz="1700" b="0" dirty="0">
                <a:solidFill>
                  <a:srgbClr val="1F2328"/>
                </a:solidFill>
                <a:latin typeface="Calibri"/>
                <a:ea typeface="맑은 고딕"/>
                <a:cs typeface="Calibri"/>
              </a:rPr>
              <a:t> One winter, the man’s mother became ill and couldn’t eat anything. On one very cold day, the mother said to the man, “It would be wonderful if I could eat fresh fish.” The man went out to the river, but it was completely frozen. It was impossible for him to catch any fish. The man was so disappointed that he cried out to the sky, “What should I do? Please help me.” Then the ice melted, and three carp suddenly came out of the water. The man went back home and cooked the fish for his mother. Then his mother got well.</a:t>
            </a:r>
            <a:endParaRPr lang="en-US" altLang="ko-KR" sz="1700" b="0" dirty="0">
              <a:solidFill>
                <a:srgbClr val="1F2328"/>
              </a:solidFill>
              <a:latin typeface="Calibri"/>
              <a:ea typeface="맑은 고딕"/>
              <a:cs typeface="Calibri"/>
            </a:endParaRPr>
          </a:p>
        </p:txBody>
      </p:sp>
      <p:sp>
        <p:nvSpPr>
          <p:cNvPr id="11" name="rv_pick"/>
          <p:cNvSpPr txBox="1"/>
          <p:nvPr/>
        </p:nvSpPr>
        <p:spPr>
          <a:xfrm>
            <a:off x="457200" y="1910587"/>
            <a:ext cx="11277295" cy="2875280"/>
          </a:xfrm>
          <a:prstGeom prst="rect">
            <a:avLst/>
          </a:prstGeom>
          <a:noFill/>
        </p:spPr>
        <p:txBody>
          <a:bodyPr wrap="square" lIns="201168" tIns="118872" rIns="201168" bIns="118872" anchor="t" rtlCol="0">
            <a:noAutofit/>
          </a:bodyPr>
          <a:lstStyle/>
          <a:p>
            <a:pPr algn="just">
              <a:lnSpc>
                <a:spcPts val="2560"/>
              </a:lnSpc>
              <a:spcBef>
                <a:spcPts val="0"/>
              </a:spcBef>
              <a:spcAft>
                <a:spcPts val="0"/>
              </a:spcAft>
              <a:buNone/>
            </a:pPr>
            <a:r>
              <a:rPr lang="en-US" altLang="ko-KR" sz="1700" b="0" dirty="0">
                <a:solidFill>
                  <a:srgbClr val="1F2328">
                    <a:alpha val="0"/>
                  </a:srgbClr>
                </a:solidFill>
                <a:latin typeface="Calibri"/>
                <a:ea typeface="맑은 고딕"/>
                <a:cs typeface="Calibri"/>
              </a:rPr>
              <a:t>The animals or objects in Munjado are not just decorations. </a:t>
            </a:r>
            <a:r>
              <a:rPr lang="ko-KR" altLang="en-US" sz="1800" b="1" dirty="0">
                <a:solidFill>
                  <a:srgbClr val="1E2A5A">
                    <a:alpha val="0"/>
                  </a:srgbClr>
                </a:solidFill>
                <a:latin typeface="맑은 고딕"/>
                <a:ea typeface="맑은 고딕"/>
                <a:cs typeface="맑은 고딕"/>
              </a:rPr>
              <a:t>②</a:t>
            </a:r>
            <a:r>
              <a:rPr lang="en-US" altLang="ko-KR" sz="1700" b="0" dirty="0">
                <a:solidFill>
                  <a:srgbClr val="1F2328">
                    <a:alpha val="0"/>
                  </a:srgbClr>
                </a:solidFill>
                <a:latin typeface="Calibri"/>
                <a:ea typeface="맑은 고딕"/>
                <a:cs typeface="Calibri"/>
              </a:rPr>
              <a:t> They often are symbolic. </a:t>
            </a:r>
            <a:r>
              <a:rPr lang="ko-KR" altLang="en-US" sz="1800" b="1" dirty="0">
                <a:solidFill>
                  <a:srgbClr val="C00000"/>
                </a:solidFill>
                <a:highlight>
                  <a:srgbClr val="F3F5F9"/>
                </a:highlight>
                <a:latin typeface="맑은 고딕"/>
                <a:ea typeface="맑은 고딕"/>
                <a:cs typeface="맑은 고딕"/>
              </a:rPr>
              <a:t>③</a:t>
            </a:r>
            <a:r>
              <a:rPr lang="en-US" altLang="ko-KR" sz="1700" b="0" dirty="0">
                <a:solidFill>
                  <a:srgbClr val="1F2328">
                    <a:alpha val="0"/>
                  </a:srgbClr>
                </a:solidFill>
                <a:latin typeface="Calibri"/>
                <a:ea typeface="맑은 고딕"/>
                <a:cs typeface="Calibri"/>
              </a:rPr>
              <a:t> The story goes as follows. </a:t>
            </a:r>
            <a:r>
              <a:rPr lang="ko-KR" altLang="en-US" sz="1800" b="1" dirty="0">
                <a:solidFill>
                  <a:srgbClr val="1E2A5A">
                    <a:alpha val="0"/>
                  </a:srgbClr>
                </a:solidFill>
                <a:latin typeface="맑은 고딕"/>
                <a:ea typeface="맑은 고딕"/>
                <a:cs typeface="맑은 고딕"/>
              </a:rPr>
              <a:t>④</a:t>
            </a:r>
            <a:r>
              <a:rPr lang="en-US" altLang="ko-KR" sz="1700" b="0" dirty="0">
                <a:solidFill>
                  <a:srgbClr val="1F2328">
                    <a:alpha val="0"/>
                  </a:srgbClr>
                </a:solidFill>
                <a:latin typeface="Calibri"/>
                <a:ea typeface="맑은 고딕"/>
                <a:cs typeface="Calibri"/>
              </a:rPr>
              <a:t> Once upon a time, a man lived with his old mother. </a:t>
            </a:r>
            <a:r>
              <a:rPr lang="ko-KR" altLang="en-US" sz="1800" b="1" dirty="0">
                <a:solidFill>
                  <a:srgbClr val="1E2A5A">
                    <a:alpha val="0"/>
                  </a:srgbClr>
                </a:solidFill>
                <a:latin typeface="맑은 고딕"/>
                <a:ea typeface="맑은 고딕"/>
                <a:cs typeface="맑은 고딕"/>
              </a:rPr>
              <a:t>⑤</a:t>
            </a:r>
            <a:r>
              <a:rPr lang="en-US" altLang="ko-KR" sz="1700" b="0" dirty="0">
                <a:solidFill>
                  <a:srgbClr val="1F2328">
                    <a:alpha val="0"/>
                  </a:srgbClr>
                </a:solidFill>
                <a:latin typeface="Calibri"/>
                <a:ea typeface="맑은 고딕"/>
                <a:cs typeface="Calibri"/>
              </a:rPr>
              <a:t> One winter, the man’s mother became ill and couldn’t eat anything. On one very cold day, the mother said to the man, “It would be wonderful if I could eat fresh fish.” The man went out to the river, but it was completely frozen. It was impossible for him to catch any fish. The man was so disappointed that he cried out to the sky, “What should I do? Please help me.” Then the ice melted, and three carp suddenly came out of the water. The man went back home and cooked the fish for his mother. Then his mother got well.</a:t>
            </a:r>
            <a:endParaRPr lang="en-US" altLang="ko-KR" sz="1700" b="0" dirty="0">
              <a:solidFill>
                <a:srgbClr val="1F2328"/>
              </a:solidFill>
              <a:latin typeface="Calibri"/>
              <a:ea typeface="맑은 고딕"/>
              <a:cs typeface="Calibri"/>
            </a:endParaRPr>
          </a:p>
        </p:txBody>
      </p:sp>
      <p:sp>
        <p:nvSpPr>
          <p:cNvPr id="12" name="rv_answer"/>
          <p:cNvSpPr/>
          <p:nvPr/>
        </p:nvSpPr>
        <p:spPr>
          <a:xfrm>
            <a:off x="457200" y="489559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③</a:t>
            </a:r>
            <a:endParaRPr lang="ko-KR" altLang="en-US" sz="1900" b="1" dirty="0">
              <a:solidFill>
                <a:srgbClr val="5A4200"/>
              </a:solidFill>
              <a:latin typeface="맑은 고딕"/>
              <a:ea typeface="맑은 고딕"/>
              <a:cs typeface="맑은 고딕"/>
            </a:endParaRPr>
          </a:p>
        </p:txBody>
      </p:sp>
      <p:sp>
        <p:nvSpPr>
          <p:cNvPr id="13" name="rv_why"/>
          <p:cNvSpPr/>
          <p:nvPr/>
        </p:nvSpPr>
        <p:spPr>
          <a:xfrm>
            <a:off x="457200" y="5494528"/>
            <a:ext cx="11277295" cy="92455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주어진 문장이 잉어가 'an old story' 때문에 효를 상징한다고 한다. ③ 뒤 'The story goes as follows'의 The story가 이 옛이야기를 받으므로 ③이다.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25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25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2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Lst>
  </p:timing>
</p:sld>
</file>

<file path=ppt/slides/slide26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L8-2</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2 · 4</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4. 글의 흐름으로 보아, 주어진 문장이 들어가기에 가장 적절한 곳은?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8</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정답 원리</a:t>
            </a:r>
            <a:endParaRPr lang="ko-KR" altLang="en-US" sz="1000" b="0" dirty="0">
              <a:solidFill>
                <a:srgbClr val="7A808C"/>
              </a:solidFill>
              <a:latin typeface="맑은 고딕"/>
              <a:ea typeface="맑은 고딕"/>
              <a:cs typeface="맑은 고딕"/>
            </a:endParaRPr>
          </a:p>
        </p:txBody>
      </p:sp>
      <p:sp>
        <p:nvSpPr>
          <p:cNvPr id="7" name="given_card"/>
          <p:cNvSpPr/>
          <p:nvPr/>
        </p:nvSpPr>
        <p:spPr>
          <a:xfrm>
            <a:off x="457200" y="950976"/>
            <a:ext cx="11277295" cy="507238"/>
          </a:xfrm>
          <a:prstGeom prst="roundRect">
            <a:avLst>
              <a:gd name="adj" fmla="val 6000"/>
            </a:avLst>
          </a:prstGeom>
          <a:solidFill>
            <a:srgbClr val="FFFFFF"/>
          </a:solidFill>
          <a:ln w="15875">
            <a:solidFill>
              <a:srgbClr val="1E2A5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given"/>
          <p:cNvSpPr txBox="1"/>
          <p:nvPr/>
        </p:nvSpPr>
        <p:spPr>
          <a:xfrm>
            <a:off x="457200" y="950976"/>
            <a:ext cx="11277295" cy="507238"/>
          </a:xfrm>
          <a:prstGeom prst="rect">
            <a:avLst/>
          </a:prstGeom>
          <a:noFill/>
        </p:spPr>
        <p:txBody>
          <a:bodyPr wrap="square" lIns="201168" tIns="100584" rIns="201168" bIns="100584"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주어진 문장</a:t>
            </a:r>
            <a:r>
              <a:rPr lang="en-US" altLang="ko-KR" sz="1700" b="0" dirty="0">
                <a:solidFill>
                  <a:srgbClr val="1F2328"/>
                </a:solidFill>
                <a:latin typeface="Calibri"/>
                <a:ea typeface="맑은 고딕"/>
                <a:cs typeface="Calibri"/>
              </a:rPr>
              <a:t>   The story goes as follows.</a:t>
            </a:r>
            <a:endParaRPr lang="en-US" altLang="ko-KR" sz="1700" b="0" dirty="0">
              <a:solidFill>
                <a:srgbClr val="1F2328"/>
              </a:solidFill>
              <a:latin typeface="Calibri"/>
              <a:ea typeface="맑은 고딕"/>
              <a:cs typeface="Calibri"/>
            </a:endParaRPr>
          </a:p>
        </p:txBody>
      </p:sp>
      <p:sp>
        <p:nvSpPr>
          <p:cNvPr id="9" name="passage_card"/>
          <p:cNvSpPr/>
          <p:nvPr/>
        </p:nvSpPr>
        <p:spPr>
          <a:xfrm>
            <a:off x="457200" y="1604518"/>
            <a:ext cx="11277295" cy="320040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passage"/>
          <p:cNvSpPr txBox="1"/>
          <p:nvPr/>
        </p:nvSpPr>
        <p:spPr>
          <a:xfrm>
            <a:off x="457200" y="1604518"/>
            <a:ext cx="11277295" cy="3200400"/>
          </a:xfrm>
          <a:prstGeom prst="rect">
            <a:avLst/>
          </a:prstGeom>
          <a:noFill/>
        </p:spPr>
        <p:txBody>
          <a:bodyPr wrap="square" lIns="201168" tIns="118872" rIns="201168" bIns="118872" anchor="t" rtlCol="0">
            <a:noAutofit/>
          </a:bodyPr>
          <a:lstStyle/>
          <a:p>
            <a:pPr algn="just">
              <a:lnSpc>
                <a:spcPts val="2560"/>
              </a:lnSpc>
              <a:spcBef>
                <a:spcPts val="0"/>
              </a:spcBef>
              <a:spcAft>
                <a:spcPts val="0"/>
              </a:spcAft>
              <a:buNone/>
            </a:pPr>
            <a:r>
              <a:rPr lang="en-US" altLang="ko-KR" sz="1700" b="0" dirty="0">
                <a:solidFill>
                  <a:srgbClr val="1F2328"/>
                </a:solidFill>
                <a:latin typeface="Calibri"/>
                <a:ea typeface="맑은 고딕"/>
                <a:cs typeface="Calibri"/>
              </a:rPr>
              <a:t>The animals or objects in Munjado are not just decorations. </a:t>
            </a:r>
            <a:r>
              <a:rPr lang="ko-KR" altLang="en-US" sz="1800" b="1" dirty="0">
                <a:solidFill>
                  <a:srgbClr val="1E2A5A"/>
                </a:solidFill>
                <a:latin typeface="맑은 고딕"/>
                <a:ea typeface="맑은 고딕"/>
                <a:cs typeface="맑은 고딕"/>
              </a:rPr>
              <a:t>②</a:t>
            </a:r>
            <a:r>
              <a:rPr lang="en-US" altLang="ko-KR" sz="1700" b="0" dirty="0">
                <a:solidFill>
                  <a:srgbClr val="1F2328"/>
                </a:solidFill>
                <a:latin typeface="Calibri"/>
                <a:ea typeface="맑은 고딕"/>
                <a:cs typeface="Calibri"/>
              </a:rPr>
              <a:t> They often are symbolic. </a:t>
            </a:r>
            <a:r>
              <a:rPr lang="ko-KR" altLang="en-US" sz="1800" b="1" dirty="0">
                <a:solidFill>
                  <a:srgbClr val="1E2A5A"/>
                </a:solidFill>
                <a:latin typeface="맑은 고딕"/>
                <a:ea typeface="맑은 고딕"/>
                <a:cs typeface="맑은 고딕"/>
              </a:rPr>
              <a:t>③</a:t>
            </a:r>
            <a:r>
              <a:rPr lang="en-US" altLang="ko-KR" sz="1700" b="0" dirty="0">
                <a:solidFill>
                  <a:srgbClr val="1F2328"/>
                </a:solidFill>
                <a:latin typeface="Calibri"/>
                <a:ea typeface="맑은 고딕"/>
                <a:cs typeface="Calibri"/>
              </a:rPr>
              <a:t> For example, carp in the paintings of hyo symbolize respect for parents because of an old story. </a:t>
            </a:r>
            <a:r>
              <a:rPr lang="ko-KR" altLang="en-US" sz="1800" b="1" dirty="0">
                <a:solidFill>
                  <a:srgbClr val="1E2A5A"/>
                </a:solidFill>
                <a:latin typeface="맑은 고딕"/>
                <a:ea typeface="맑은 고딕"/>
                <a:cs typeface="맑은 고딕"/>
              </a:rPr>
              <a:t>④</a:t>
            </a:r>
            <a:r>
              <a:rPr lang="en-US" altLang="ko-KR" sz="1700" b="0" dirty="0">
                <a:solidFill>
                  <a:srgbClr val="1F2328"/>
                </a:solidFill>
                <a:latin typeface="Calibri"/>
                <a:ea typeface="맑은 고딕"/>
                <a:cs typeface="Calibri"/>
              </a:rPr>
              <a:t> Once upon a time, a man lived with his old mother. </a:t>
            </a:r>
            <a:r>
              <a:rPr lang="ko-KR" altLang="en-US" sz="1800" b="1" dirty="0">
                <a:solidFill>
                  <a:srgbClr val="1E2A5A"/>
                </a:solidFill>
                <a:latin typeface="맑은 고딕"/>
                <a:ea typeface="맑은 고딕"/>
                <a:cs typeface="맑은 고딕"/>
              </a:rPr>
              <a:t>⑤</a:t>
            </a:r>
            <a:r>
              <a:rPr lang="en-US" altLang="ko-KR" sz="1700" b="0" dirty="0">
                <a:solidFill>
                  <a:srgbClr val="1F2328"/>
                </a:solidFill>
                <a:latin typeface="Calibri"/>
                <a:ea typeface="맑은 고딕"/>
                <a:cs typeface="Calibri"/>
              </a:rPr>
              <a:t> One winter, the man’s mother became ill and couldn’t eat anything. On one very cold day, the mother said to the man, “It would be wonderful if I could eat fresh fish.” The man went out to the river, but it was completely frozen. It was impossible for him to catch any fish. The man was so disappointed that he cried out to the sky, “What should I do? Please help me.” Then the ice melted, and three carp suddenly came out of the water. The man went back home and cooked the fish for his mother. Then his mother got well.</a:t>
            </a:r>
            <a:endParaRPr lang="en-US" altLang="ko-KR" sz="1700" b="0" dirty="0">
              <a:solidFill>
                <a:srgbClr val="1F2328"/>
              </a:solidFill>
              <a:latin typeface="Calibri"/>
              <a:ea typeface="맑은 고딕"/>
              <a:cs typeface="Calibri"/>
            </a:endParaRPr>
          </a:p>
        </p:txBody>
      </p:sp>
      <p:sp>
        <p:nvSpPr>
          <p:cNvPr id="11" name="rv_pick"/>
          <p:cNvSpPr txBox="1"/>
          <p:nvPr/>
        </p:nvSpPr>
        <p:spPr>
          <a:xfrm>
            <a:off x="457200" y="1604518"/>
            <a:ext cx="11277295" cy="3200400"/>
          </a:xfrm>
          <a:prstGeom prst="rect">
            <a:avLst/>
          </a:prstGeom>
          <a:noFill/>
        </p:spPr>
        <p:txBody>
          <a:bodyPr wrap="square" lIns="201168" tIns="118872" rIns="201168" bIns="118872" anchor="t" rtlCol="0">
            <a:noAutofit/>
          </a:bodyPr>
          <a:lstStyle/>
          <a:p>
            <a:pPr algn="just">
              <a:lnSpc>
                <a:spcPts val="2560"/>
              </a:lnSpc>
              <a:spcBef>
                <a:spcPts val="0"/>
              </a:spcBef>
              <a:spcAft>
                <a:spcPts val="0"/>
              </a:spcAft>
              <a:buNone/>
            </a:pPr>
            <a:r>
              <a:rPr lang="en-US" altLang="ko-KR" sz="1700" b="0" dirty="0">
                <a:solidFill>
                  <a:srgbClr val="1F2328">
                    <a:alpha val="0"/>
                  </a:srgbClr>
                </a:solidFill>
                <a:latin typeface="Calibri"/>
                <a:ea typeface="맑은 고딕"/>
                <a:cs typeface="Calibri"/>
              </a:rPr>
              <a:t>The animals or objects in Munjado are not just decorations. </a:t>
            </a:r>
            <a:r>
              <a:rPr lang="ko-KR" altLang="en-US" sz="1800" b="1" dirty="0">
                <a:solidFill>
                  <a:srgbClr val="1E2A5A">
                    <a:alpha val="0"/>
                  </a:srgbClr>
                </a:solidFill>
                <a:latin typeface="맑은 고딕"/>
                <a:ea typeface="맑은 고딕"/>
                <a:cs typeface="맑은 고딕"/>
              </a:rPr>
              <a:t>②</a:t>
            </a:r>
            <a:r>
              <a:rPr lang="en-US" altLang="ko-KR" sz="1700" b="0" dirty="0">
                <a:solidFill>
                  <a:srgbClr val="1F2328">
                    <a:alpha val="0"/>
                  </a:srgbClr>
                </a:solidFill>
                <a:latin typeface="Calibri"/>
                <a:ea typeface="맑은 고딕"/>
                <a:cs typeface="Calibri"/>
              </a:rPr>
              <a:t> They often are symbolic. </a:t>
            </a:r>
            <a:r>
              <a:rPr lang="ko-KR" altLang="en-US" sz="1800" b="1" dirty="0">
                <a:solidFill>
                  <a:srgbClr val="1E2A5A">
                    <a:alpha val="0"/>
                  </a:srgbClr>
                </a:solidFill>
                <a:latin typeface="맑은 고딕"/>
                <a:ea typeface="맑은 고딕"/>
                <a:cs typeface="맑은 고딕"/>
              </a:rPr>
              <a:t>③</a:t>
            </a:r>
            <a:r>
              <a:rPr lang="en-US" altLang="ko-KR" sz="1700" b="0" dirty="0">
                <a:solidFill>
                  <a:srgbClr val="1F2328">
                    <a:alpha val="0"/>
                  </a:srgbClr>
                </a:solidFill>
                <a:latin typeface="Calibri"/>
                <a:ea typeface="맑은 고딕"/>
                <a:cs typeface="Calibri"/>
              </a:rPr>
              <a:t> For example, carp in the paintings of hyo symbolize respect for parents because of an old story. </a:t>
            </a:r>
            <a:r>
              <a:rPr lang="ko-KR" altLang="en-US" sz="1800" b="1" dirty="0">
                <a:solidFill>
                  <a:srgbClr val="C00000"/>
                </a:solidFill>
                <a:highlight>
                  <a:srgbClr val="F3F5F9"/>
                </a:highlight>
                <a:latin typeface="맑은 고딕"/>
                <a:ea typeface="맑은 고딕"/>
                <a:cs typeface="맑은 고딕"/>
              </a:rPr>
              <a:t>④</a:t>
            </a:r>
            <a:r>
              <a:rPr lang="en-US" altLang="ko-KR" sz="1700" b="0" dirty="0">
                <a:solidFill>
                  <a:srgbClr val="1F2328">
                    <a:alpha val="0"/>
                  </a:srgbClr>
                </a:solidFill>
                <a:latin typeface="Calibri"/>
                <a:ea typeface="맑은 고딕"/>
                <a:cs typeface="Calibri"/>
              </a:rPr>
              <a:t> Once upon a time, a man lived with his old mother. </a:t>
            </a:r>
            <a:r>
              <a:rPr lang="ko-KR" altLang="en-US" sz="1800" b="1" dirty="0">
                <a:solidFill>
                  <a:srgbClr val="1E2A5A">
                    <a:alpha val="0"/>
                  </a:srgbClr>
                </a:solidFill>
                <a:latin typeface="맑은 고딕"/>
                <a:ea typeface="맑은 고딕"/>
                <a:cs typeface="맑은 고딕"/>
              </a:rPr>
              <a:t>⑤</a:t>
            </a:r>
            <a:r>
              <a:rPr lang="en-US" altLang="ko-KR" sz="1700" b="0" dirty="0">
                <a:solidFill>
                  <a:srgbClr val="1F2328">
                    <a:alpha val="0"/>
                  </a:srgbClr>
                </a:solidFill>
                <a:latin typeface="Calibri"/>
                <a:ea typeface="맑은 고딕"/>
                <a:cs typeface="Calibri"/>
              </a:rPr>
              <a:t> One winter, the man’s mother became ill and couldn’t eat anything. On one very cold day, the mother said to the man, “It would be wonderful if I could eat fresh fish.” The man went out to the river, but it was completely frozen. It was impossible for him to catch any fish. The man was so disappointed that he cried out to the sky, “What should I do? Please help me.” Then the ice melted, and three carp suddenly came out of the water. The man went back home and cooked the fish for his mother. Then his mother got well.</a:t>
            </a:r>
            <a:endParaRPr lang="en-US" altLang="ko-KR" sz="1700" b="0" dirty="0">
              <a:solidFill>
                <a:srgbClr val="1F2328"/>
              </a:solidFill>
              <a:latin typeface="Calibri"/>
              <a:ea typeface="맑은 고딕"/>
              <a:cs typeface="Calibri"/>
            </a:endParaRPr>
          </a:p>
        </p:txBody>
      </p:sp>
      <p:sp>
        <p:nvSpPr>
          <p:cNvPr id="12" name="rv_answer"/>
          <p:cNvSpPr/>
          <p:nvPr/>
        </p:nvSpPr>
        <p:spPr>
          <a:xfrm>
            <a:off x="457200" y="491464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④</a:t>
            </a:r>
            <a:endParaRPr lang="ko-KR" altLang="en-US" sz="1900" b="1" dirty="0">
              <a:solidFill>
                <a:srgbClr val="5A4200"/>
              </a:solidFill>
              <a:latin typeface="맑은 고딕"/>
              <a:ea typeface="맑은 고딕"/>
              <a:cs typeface="맑은 고딕"/>
            </a:endParaRPr>
          </a:p>
        </p:txBody>
      </p:sp>
      <p:sp>
        <p:nvSpPr>
          <p:cNvPr id="13" name="rv_why"/>
          <p:cNvSpPr/>
          <p:nvPr/>
        </p:nvSpPr>
        <p:spPr>
          <a:xfrm>
            <a:off x="457200" y="5513578"/>
            <a:ext cx="11277295" cy="90550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③ 앞 문장이 'an old story'를 언급하고, 주어진 문장 'The story goes as follows'가 그 이야기를 받아 ④ 뒤의 'Once upon a time'을 연다. 정답은 ④이다.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25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25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2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Lst>
  </p:timing>
</p:sld>
</file>

<file path=ppt/slides/slide26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L8-2</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3 · ①</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다음 글의 각 [  ] 안에서 문맥상 알맞은 것을 고르시오.</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8</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클릭할 때마다 괄호 속 정답이 앞에서부터 하나씩 빨간색으로 나타납니다 (총 5개)</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5126736"/>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5126736"/>
          </a:xfrm>
          <a:prstGeom prst="rect">
            <a:avLst/>
          </a:prstGeom>
          <a:noFill/>
        </p:spPr>
        <p:txBody>
          <a:bodyPr wrap="square" lIns="228600" tIns="155448" rIns="228600" bIns="155448" anchor="t" rtlCol="0">
            <a:noAutofit/>
          </a:bodyPr>
          <a:lstStyle/>
          <a:p>
            <a:pPr algn="l">
              <a:lnSpc>
                <a:spcPts val="3160"/>
              </a:lnSpc>
              <a:spcBef>
                <a:spcPts val="0"/>
              </a:spcBef>
              <a:spcAft>
                <a:spcPts val="0"/>
              </a:spcAft>
              <a:buNone/>
            </a:pPr>
            <a:r>
              <a:rPr lang="ko-KR" altLang="en-US" sz="1950" b="1" dirty="0">
                <a:solidFill>
                  <a:srgbClr val="1E2A5A"/>
                </a:solidFill>
                <a:latin typeface="맑은 고딕"/>
                <a:ea typeface="맑은 고딕"/>
                <a:cs typeface="맑은 고딕"/>
              </a:rPr>
              <a:t>①</a:t>
            </a:r>
            <a:r>
              <a:rPr lang="en-US" altLang="ko-KR" sz="1950" b="0" dirty="0">
                <a:solidFill>
                  <a:srgbClr val="1F2328"/>
                </a:solidFill>
                <a:latin typeface="Calibri"/>
                <a:ea typeface="맑은 고딕"/>
                <a:cs typeface="Calibri"/>
              </a:rPr>
              <a:t> </a:t>
            </a:r>
            <a:r>
              <a:rPr lang="en-US" altLang="ko-KR" sz="1950" b="0" dirty="0">
                <a:solidFill>
                  <a:srgbClr val="1F2328"/>
                </a:solidFill>
                <a:latin typeface="Calibri"/>
                <a:ea typeface="맑은 고딕"/>
                <a:cs typeface="Calibri"/>
              </a:rPr>
              <a:t>The animals or objects in Munjado are not just decorations.</a:t>
            </a:r>
            <a:r>
              <a:rPr lang="en-US" altLang="ko-KR" sz="1950" b="0" dirty="0">
                <a:solidFill>
                  <a:srgbClr val="1F2328"/>
                </a:solidFill>
                <a:latin typeface="Calibri"/>
                <a:ea typeface="맑은 고딕"/>
                <a:cs typeface="Calibri"/>
              </a:rPr>
              <a:t>   </a:t>
            </a:r>
            <a:r>
              <a:rPr lang="ko-KR" altLang="en-US" sz="1950" b="1" dirty="0">
                <a:solidFill>
                  <a:srgbClr val="1E2A5A"/>
                </a:solidFill>
                <a:latin typeface="맑은 고딕"/>
                <a:ea typeface="맑은 고딕"/>
                <a:cs typeface="맑은 고딕"/>
              </a:rPr>
              <a:t>②</a:t>
            </a:r>
            <a:r>
              <a:rPr lang="en-US" altLang="ko-KR" sz="1950" b="0" dirty="0">
                <a:solidFill>
                  <a:srgbClr val="1F2328"/>
                </a:solidFill>
                <a:latin typeface="Calibri"/>
                <a:ea typeface="맑은 고딕"/>
                <a:cs typeface="Calibri"/>
              </a:rPr>
              <a:t> </a:t>
            </a:r>
            <a:r>
              <a:rPr lang="en-US" altLang="ko-KR" sz="1950" b="0" dirty="0">
                <a:solidFill>
                  <a:srgbClr val="1F2328"/>
                </a:solidFill>
                <a:latin typeface="Calibri"/>
                <a:ea typeface="맑은 고딕"/>
                <a:cs typeface="Calibri"/>
              </a:rPr>
              <a:t>They often are symbolic.</a:t>
            </a:r>
            <a:r>
              <a:rPr lang="en-US" altLang="ko-KR" sz="1950" b="0" dirty="0">
                <a:solidFill>
                  <a:srgbClr val="1F2328"/>
                </a:solidFill>
                <a:latin typeface="Calibri"/>
                <a:ea typeface="맑은 고딕"/>
                <a:cs typeface="Calibri"/>
              </a:rPr>
              <a:t>   </a:t>
            </a:r>
            <a:r>
              <a:rPr lang="ko-KR" altLang="en-US" sz="1950" b="1" dirty="0">
                <a:solidFill>
                  <a:srgbClr val="1E2A5A"/>
                </a:solidFill>
                <a:latin typeface="맑은 고딕"/>
                <a:ea typeface="맑은 고딕"/>
                <a:cs typeface="맑은 고딕"/>
              </a:rPr>
              <a:t>③</a:t>
            </a:r>
            <a:r>
              <a:rPr lang="en-US" altLang="ko-KR" sz="1950" b="0" dirty="0">
                <a:solidFill>
                  <a:srgbClr val="1F2328"/>
                </a:solidFill>
                <a:latin typeface="Calibri"/>
                <a:ea typeface="맑은 고딕"/>
                <a:cs typeface="Calibri"/>
              </a:rPr>
              <a:t> </a:t>
            </a:r>
            <a:r>
              <a:rPr lang="en-US" altLang="ko-KR" sz="1950" b="0" dirty="0">
                <a:solidFill>
                  <a:srgbClr val="1F2328"/>
                </a:solidFill>
                <a:latin typeface="Calibri"/>
                <a:ea typeface="맑은 고딕"/>
                <a:cs typeface="Calibri"/>
              </a:rPr>
              <a:t>For example, carp in the paintings of hyo </a:t>
            </a:r>
            <a:r>
              <a:rPr lang="en-US" altLang="ko-KR" sz="1950" b="1" dirty="0">
                <a:solidFill>
                  <a:srgbClr val="1F2328"/>
                </a:solidFill>
                <a:latin typeface="Calibri"/>
                <a:ea typeface="맑은 고딕"/>
                <a:cs typeface="Calibri"/>
              </a:rPr>
              <a:t>[ </a:t>
            </a:r>
            <a:r>
              <a:rPr lang="en-US" altLang="ko-KR" sz="1950" b="1" dirty="0">
                <a:solidFill>
                  <a:srgbClr val="1F2328"/>
                </a:solidFill>
                <a:latin typeface="Calibri"/>
                <a:ea typeface="맑은 고딕"/>
                <a:cs typeface="Calibri"/>
              </a:rPr>
              <a:t>symbolizes</a:t>
            </a:r>
            <a:r>
              <a:rPr lang="en-US" altLang="ko-KR" sz="1950" b="1" dirty="0">
                <a:solidFill>
                  <a:srgbClr val="1F2328"/>
                </a:solidFill>
                <a:latin typeface="Calibri"/>
                <a:ea typeface="맑은 고딕"/>
                <a:cs typeface="Calibri"/>
              </a:rPr>
              <a:t> / </a:t>
            </a:r>
            <a:r>
              <a:rPr lang="en-US" altLang="ko-KR" sz="1950" b="1" dirty="0">
                <a:solidFill>
                  <a:srgbClr val="1F2328"/>
                </a:solidFill>
                <a:latin typeface="Calibri"/>
                <a:ea typeface="맑은 고딕"/>
                <a:cs typeface="Calibri"/>
              </a:rPr>
              <a:t>symbolize</a:t>
            </a:r>
            <a:r>
              <a:rPr lang="en-US" altLang="ko-KR" sz="1950" b="1" dirty="0">
                <a:solidFill>
                  <a:srgbClr val="1F2328"/>
                </a:solidFill>
                <a:latin typeface="Calibri"/>
                <a:ea typeface="맑은 고딕"/>
                <a:cs typeface="Calibri"/>
              </a:rPr>
              <a:t> ]</a:t>
            </a:r>
            <a:r>
              <a:rPr lang="en-US" altLang="ko-KR" sz="1950" b="0" dirty="0">
                <a:solidFill>
                  <a:srgbClr val="1F2328"/>
                </a:solidFill>
                <a:latin typeface="Calibri"/>
                <a:ea typeface="맑은 고딕"/>
                <a:cs typeface="Calibri"/>
              </a:rPr>
              <a:t> respect for parents </a:t>
            </a:r>
            <a:r>
              <a:rPr lang="en-US" altLang="ko-KR" sz="1950" b="1" dirty="0">
                <a:solidFill>
                  <a:srgbClr val="1F2328"/>
                </a:solidFill>
                <a:latin typeface="Calibri"/>
                <a:ea typeface="맑은 고딕"/>
                <a:cs typeface="Calibri"/>
              </a:rPr>
              <a:t>[ </a:t>
            </a:r>
            <a:r>
              <a:rPr lang="en-US" altLang="ko-KR" sz="1950" b="1" dirty="0">
                <a:solidFill>
                  <a:srgbClr val="1F2328"/>
                </a:solidFill>
                <a:latin typeface="Calibri"/>
                <a:ea typeface="맑은 고딕"/>
                <a:cs typeface="Calibri"/>
              </a:rPr>
              <a:t>because of</a:t>
            </a:r>
            <a:r>
              <a:rPr lang="en-US" altLang="ko-KR" sz="1950" b="1" dirty="0">
                <a:solidFill>
                  <a:srgbClr val="1F2328"/>
                </a:solidFill>
                <a:latin typeface="Calibri"/>
                <a:ea typeface="맑은 고딕"/>
                <a:cs typeface="Calibri"/>
              </a:rPr>
              <a:t> / </a:t>
            </a:r>
            <a:r>
              <a:rPr lang="en-US" altLang="ko-KR" sz="1950" b="1" dirty="0">
                <a:solidFill>
                  <a:srgbClr val="1F2328"/>
                </a:solidFill>
                <a:latin typeface="Calibri"/>
                <a:ea typeface="맑은 고딕"/>
                <a:cs typeface="Calibri"/>
              </a:rPr>
              <a:t>because</a:t>
            </a:r>
            <a:r>
              <a:rPr lang="en-US" altLang="ko-KR" sz="1950" b="1" dirty="0">
                <a:solidFill>
                  <a:srgbClr val="1F2328"/>
                </a:solidFill>
                <a:latin typeface="Calibri"/>
                <a:ea typeface="맑은 고딕"/>
                <a:cs typeface="Calibri"/>
              </a:rPr>
              <a:t> ]</a:t>
            </a:r>
            <a:r>
              <a:rPr lang="en-US" altLang="ko-KR" sz="1950" b="0" dirty="0">
                <a:solidFill>
                  <a:srgbClr val="1F2328"/>
                </a:solidFill>
                <a:latin typeface="Calibri"/>
                <a:ea typeface="맑은 고딕"/>
                <a:cs typeface="Calibri"/>
              </a:rPr>
              <a:t> an old story.</a:t>
            </a:r>
            <a:r>
              <a:rPr lang="en-US" altLang="ko-KR" sz="1950" b="0" dirty="0">
                <a:solidFill>
                  <a:srgbClr val="1F2328"/>
                </a:solidFill>
                <a:latin typeface="Calibri"/>
                <a:ea typeface="맑은 고딕"/>
                <a:cs typeface="Calibri"/>
              </a:rPr>
              <a:t>   </a:t>
            </a:r>
            <a:r>
              <a:rPr lang="ko-KR" altLang="en-US" sz="1950" b="1" dirty="0">
                <a:solidFill>
                  <a:srgbClr val="1E2A5A"/>
                </a:solidFill>
                <a:latin typeface="맑은 고딕"/>
                <a:ea typeface="맑은 고딕"/>
                <a:cs typeface="맑은 고딕"/>
              </a:rPr>
              <a:t>④</a:t>
            </a:r>
            <a:r>
              <a:rPr lang="en-US" altLang="ko-KR" sz="1950" b="0" dirty="0">
                <a:solidFill>
                  <a:srgbClr val="1F2328"/>
                </a:solidFill>
                <a:latin typeface="Calibri"/>
                <a:ea typeface="맑은 고딕"/>
                <a:cs typeface="Calibri"/>
              </a:rPr>
              <a:t> </a:t>
            </a:r>
            <a:r>
              <a:rPr lang="en-US" altLang="ko-KR" sz="1950" b="0" dirty="0">
                <a:solidFill>
                  <a:srgbClr val="1F2328"/>
                </a:solidFill>
                <a:latin typeface="Calibri"/>
                <a:ea typeface="맑은 고딕"/>
                <a:cs typeface="Calibri"/>
              </a:rPr>
              <a:t>The story goes as follows.</a:t>
            </a:r>
            <a:r>
              <a:rPr lang="en-US" altLang="ko-KR" sz="1950" b="0" dirty="0">
                <a:solidFill>
                  <a:srgbClr val="1F2328"/>
                </a:solidFill>
                <a:latin typeface="Calibri"/>
                <a:ea typeface="맑은 고딕"/>
                <a:cs typeface="Calibri"/>
              </a:rPr>
              <a:t>   </a:t>
            </a:r>
            <a:r>
              <a:rPr lang="ko-KR" altLang="en-US" sz="1950" b="1" dirty="0">
                <a:solidFill>
                  <a:srgbClr val="1E2A5A"/>
                </a:solidFill>
                <a:latin typeface="맑은 고딕"/>
                <a:ea typeface="맑은 고딕"/>
                <a:cs typeface="맑은 고딕"/>
              </a:rPr>
              <a:t>⑤</a:t>
            </a:r>
            <a:r>
              <a:rPr lang="en-US" altLang="ko-KR" sz="1950" b="0" dirty="0">
                <a:solidFill>
                  <a:srgbClr val="1F2328"/>
                </a:solidFill>
                <a:latin typeface="Calibri"/>
                <a:ea typeface="맑은 고딕"/>
                <a:cs typeface="Calibri"/>
              </a:rPr>
              <a:t> </a:t>
            </a:r>
            <a:r>
              <a:rPr lang="en-US" altLang="ko-KR" sz="1950" b="0" dirty="0">
                <a:solidFill>
                  <a:srgbClr val="1F2328"/>
                </a:solidFill>
                <a:latin typeface="Calibri"/>
                <a:ea typeface="맑은 고딕"/>
                <a:cs typeface="Calibri"/>
              </a:rPr>
              <a:t>Once upon a time, a man lived with his old mother.</a:t>
            </a:r>
            <a:r>
              <a:rPr lang="en-US" altLang="ko-KR" sz="1950" b="0" dirty="0">
                <a:solidFill>
                  <a:srgbClr val="1F2328"/>
                </a:solidFill>
                <a:latin typeface="Calibri"/>
                <a:ea typeface="맑은 고딕"/>
                <a:cs typeface="Calibri"/>
              </a:rPr>
              <a:t>   </a:t>
            </a:r>
            <a:r>
              <a:rPr lang="ko-KR" altLang="en-US" sz="1950" b="1" dirty="0">
                <a:solidFill>
                  <a:srgbClr val="1E2A5A"/>
                </a:solidFill>
                <a:latin typeface="맑은 고딕"/>
                <a:ea typeface="맑은 고딕"/>
                <a:cs typeface="맑은 고딕"/>
              </a:rPr>
              <a:t>⑥</a:t>
            </a:r>
            <a:r>
              <a:rPr lang="en-US" altLang="ko-KR" sz="1950" b="0" dirty="0">
                <a:solidFill>
                  <a:srgbClr val="1F2328"/>
                </a:solidFill>
                <a:latin typeface="Calibri"/>
                <a:ea typeface="맑은 고딕"/>
                <a:cs typeface="Calibri"/>
              </a:rPr>
              <a:t> </a:t>
            </a:r>
            <a:r>
              <a:rPr lang="en-US" altLang="ko-KR" sz="1950" b="0" dirty="0">
                <a:solidFill>
                  <a:srgbClr val="1F2328"/>
                </a:solidFill>
                <a:latin typeface="Calibri"/>
                <a:ea typeface="맑은 고딕"/>
                <a:cs typeface="Calibri"/>
              </a:rPr>
              <a:t>One winter, the man’s mother became ill and couldn’t eat anything.</a:t>
            </a:r>
            <a:r>
              <a:rPr lang="en-US" altLang="ko-KR" sz="1950" b="0" dirty="0">
                <a:solidFill>
                  <a:srgbClr val="1F2328"/>
                </a:solidFill>
                <a:latin typeface="Calibri"/>
                <a:ea typeface="맑은 고딕"/>
                <a:cs typeface="Calibri"/>
              </a:rPr>
              <a:t>   </a:t>
            </a:r>
            <a:r>
              <a:rPr lang="ko-KR" altLang="en-US" sz="1950" b="1" dirty="0">
                <a:solidFill>
                  <a:srgbClr val="1E2A5A"/>
                </a:solidFill>
                <a:latin typeface="맑은 고딕"/>
                <a:ea typeface="맑은 고딕"/>
                <a:cs typeface="맑은 고딕"/>
              </a:rPr>
              <a:t>⑦</a:t>
            </a:r>
            <a:r>
              <a:rPr lang="en-US" altLang="ko-KR" sz="1950" b="0" dirty="0">
                <a:solidFill>
                  <a:srgbClr val="1F2328"/>
                </a:solidFill>
                <a:latin typeface="Calibri"/>
                <a:ea typeface="맑은 고딕"/>
                <a:cs typeface="Calibri"/>
              </a:rPr>
              <a:t> </a:t>
            </a:r>
            <a:r>
              <a:rPr lang="en-US" altLang="ko-KR" sz="1950" b="0" dirty="0">
                <a:solidFill>
                  <a:srgbClr val="1F2328"/>
                </a:solidFill>
                <a:latin typeface="Calibri"/>
                <a:ea typeface="맑은 고딕"/>
                <a:cs typeface="Calibri"/>
              </a:rPr>
              <a:t>On one very cold day, the mother said to the man, “It would be wonderful if I </a:t>
            </a:r>
            <a:r>
              <a:rPr lang="en-US" altLang="ko-KR" sz="1950" b="1" dirty="0">
                <a:solidFill>
                  <a:srgbClr val="1F2328"/>
                </a:solidFill>
                <a:latin typeface="Calibri"/>
                <a:ea typeface="맑은 고딕"/>
                <a:cs typeface="Calibri"/>
              </a:rPr>
              <a:t>[ </a:t>
            </a:r>
            <a:r>
              <a:rPr lang="en-US" altLang="ko-KR" sz="1950" b="1" dirty="0">
                <a:solidFill>
                  <a:srgbClr val="1F2328"/>
                </a:solidFill>
                <a:latin typeface="Calibri"/>
                <a:ea typeface="맑은 고딕"/>
                <a:cs typeface="Calibri"/>
              </a:rPr>
              <a:t>can</a:t>
            </a:r>
            <a:r>
              <a:rPr lang="en-US" altLang="ko-KR" sz="1950" b="1" dirty="0">
                <a:solidFill>
                  <a:srgbClr val="1F2328"/>
                </a:solidFill>
                <a:latin typeface="Calibri"/>
                <a:ea typeface="맑은 고딕"/>
                <a:cs typeface="Calibri"/>
              </a:rPr>
              <a:t> / </a:t>
            </a:r>
            <a:r>
              <a:rPr lang="en-US" altLang="ko-KR" sz="1950" b="1" dirty="0">
                <a:solidFill>
                  <a:srgbClr val="1F2328"/>
                </a:solidFill>
                <a:latin typeface="Calibri"/>
                <a:ea typeface="맑은 고딕"/>
                <a:cs typeface="Calibri"/>
              </a:rPr>
              <a:t>could</a:t>
            </a:r>
            <a:r>
              <a:rPr lang="en-US" altLang="ko-KR" sz="1950" b="1" dirty="0">
                <a:solidFill>
                  <a:srgbClr val="1F2328"/>
                </a:solidFill>
                <a:latin typeface="Calibri"/>
                <a:ea typeface="맑은 고딕"/>
                <a:cs typeface="Calibri"/>
              </a:rPr>
              <a:t> ]</a:t>
            </a:r>
            <a:r>
              <a:rPr lang="en-US" altLang="ko-KR" sz="1950" b="0" dirty="0">
                <a:solidFill>
                  <a:srgbClr val="1F2328"/>
                </a:solidFill>
                <a:latin typeface="Calibri"/>
                <a:ea typeface="맑은 고딕"/>
                <a:cs typeface="Calibri"/>
              </a:rPr>
              <a:t> eat fresh fish.”</a:t>
            </a:r>
            <a:r>
              <a:rPr lang="en-US" altLang="ko-KR" sz="1950" b="0" dirty="0">
                <a:solidFill>
                  <a:srgbClr val="1F2328"/>
                </a:solidFill>
                <a:latin typeface="Calibri"/>
                <a:ea typeface="맑은 고딕"/>
                <a:cs typeface="Calibri"/>
              </a:rPr>
              <a:t>   </a:t>
            </a:r>
            <a:r>
              <a:rPr lang="ko-KR" altLang="en-US" sz="1950" b="1" dirty="0">
                <a:solidFill>
                  <a:srgbClr val="1E2A5A"/>
                </a:solidFill>
                <a:latin typeface="맑은 고딕"/>
                <a:ea typeface="맑은 고딕"/>
                <a:cs typeface="맑은 고딕"/>
              </a:rPr>
              <a:t>⑧</a:t>
            </a:r>
            <a:r>
              <a:rPr lang="en-US" altLang="ko-KR" sz="1950" b="0" dirty="0">
                <a:solidFill>
                  <a:srgbClr val="1F2328"/>
                </a:solidFill>
                <a:latin typeface="Calibri"/>
                <a:ea typeface="맑은 고딕"/>
                <a:cs typeface="Calibri"/>
              </a:rPr>
              <a:t> </a:t>
            </a:r>
            <a:r>
              <a:rPr lang="en-US" altLang="ko-KR" sz="1950" b="0" dirty="0">
                <a:solidFill>
                  <a:srgbClr val="1F2328"/>
                </a:solidFill>
                <a:latin typeface="Calibri"/>
                <a:ea typeface="맑은 고딕"/>
                <a:cs typeface="Calibri"/>
              </a:rPr>
              <a:t>The man went out to the river, but it was completely frozen.</a:t>
            </a:r>
            <a:r>
              <a:rPr lang="en-US" altLang="ko-KR" sz="1950" b="0" dirty="0">
                <a:solidFill>
                  <a:srgbClr val="1F2328"/>
                </a:solidFill>
                <a:latin typeface="Calibri"/>
                <a:ea typeface="맑은 고딕"/>
                <a:cs typeface="Calibri"/>
              </a:rPr>
              <a:t>   </a:t>
            </a:r>
            <a:r>
              <a:rPr lang="ko-KR" altLang="en-US" sz="1950" b="1" dirty="0">
                <a:solidFill>
                  <a:srgbClr val="1E2A5A"/>
                </a:solidFill>
                <a:latin typeface="맑은 고딕"/>
                <a:ea typeface="맑은 고딕"/>
                <a:cs typeface="맑은 고딕"/>
              </a:rPr>
              <a:t>⑨</a:t>
            </a:r>
            <a:r>
              <a:rPr lang="en-US" altLang="ko-KR" sz="1950" b="0" dirty="0">
                <a:solidFill>
                  <a:srgbClr val="1F2328"/>
                </a:solidFill>
                <a:latin typeface="Calibri"/>
                <a:ea typeface="맑은 고딕"/>
                <a:cs typeface="Calibri"/>
              </a:rPr>
              <a:t> </a:t>
            </a:r>
            <a:r>
              <a:rPr lang="en-US" altLang="ko-KR" sz="1950" b="0" dirty="0">
                <a:solidFill>
                  <a:srgbClr val="1F2328"/>
                </a:solidFill>
                <a:latin typeface="Calibri"/>
                <a:ea typeface="맑은 고딕"/>
                <a:cs typeface="Calibri"/>
              </a:rPr>
              <a:t>It was impossible for him </a:t>
            </a:r>
            <a:r>
              <a:rPr lang="en-US" altLang="ko-KR" sz="1950" b="1" dirty="0">
                <a:solidFill>
                  <a:srgbClr val="1F2328"/>
                </a:solidFill>
                <a:latin typeface="Calibri"/>
                <a:ea typeface="맑은 고딕"/>
                <a:cs typeface="Calibri"/>
              </a:rPr>
              <a:t>[ </a:t>
            </a:r>
            <a:r>
              <a:rPr lang="en-US" altLang="ko-KR" sz="1950" b="1" dirty="0">
                <a:solidFill>
                  <a:srgbClr val="1F2328"/>
                </a:solidFill>
                <a:latin typeface="Calibri"/>
                <a:ea typeface="맑은 고딕"/>
                <a:cs typeface="Calibri"/>
              </a:rPr>
              <a:t>to catch</a:t>
            </a:r>
            <a:r>
              <a:rPr lang="en-US" altLang="ko-KR" sz="1950" b="1" dirty="0">
                <a:solidFill>
                  <a:srgbClr val="1F2328"/>
                </a:solidFill>
                <a:latin typeface="Calibri"/>
                <a:ea typeface="맑은 고딕"/>
                <a:cs typeface="Calibri"/>
              </a:rPr>
              <a:t> / </a:t>
            </a:r>
            <a:r>
              <a:rPr lang="en-US" altLang="ko-KR" sz="1950" b="1" dirty="0">
                <a:solidFill>
                  <a:srgbClr val="1F2328"/>
                </a:solidFill>
                <a:latin typeface="Calibri"/>
                <a:ea typeface="맑은 고딕"/>
                <a:cs typeface="Calibri"/>
              </a:rPr>
              <a:t>catching</a:t>
            </a:r>
            <a:r>
              <a:rPr lang="en-US" altLang="ko-KR" sz="1950" b="1" dirty="0">
                <a:solidFill>
                  <a:srgbClr val="1F2328"/>
                </a:solidFill>
                <a:latin typeface="Calibri"/>
                <a:ea typeface="맑은 고딕"/>
                <a:cs typeface="Calibri"/>
              </a:rPr>
              <a:t> ]</a:t>
            </a:r>
            <a:r>
              <a:rPr lang="en-US" altLang="ko-KR" sz="1950" b="0" dirty="0">
                <a:solidFill>
                  <a:srgbClr val="1F2328"/>
                </a:solidFill>
                <a:latin typeface="Calibri"/>
                <a:ea typeface="맑은 고딕"/>
                <a:cs typeface="Calibri"/>
              </a:rPr>
              <a:t> any fish.</a:t>
            </a:r>
            <a:r>
              <a:rPr lang="en-US" altLang="ko-KR" sz="1950" b="0" dirty="0">
                <a:solidFill>
                  <a:srgbClr val="1F2328"/>
                </a:solidFill>
                <a:latin typeface="Calibri"/>
                <a:ea typeface="맑은 고딕"/>
                <a:cs typeface="Calibri"/>
              </a:rPr>
              <a:t>   </a:t>
            </a:r>
            <a:r>
              <a:rPr lang="ko-KR" altLang="en-US" sz="1950" b="1" dirty="0">
                <a:solidFill>
                  <a:srgbClr val="1E2A5A"/>
                </a:solidFill>
                <a:latin typeface="맑은 고딕"/>
                <a:ea typeface="맑은 고딕"/>
                <a:cs typeface="맑은 고딕"/>
              </a:rPr>
              <a:t>⑩</a:t>
            </a:r>
            <a:r>
              <a:rPr lang="en-US" altLang="ko-KR" sz="1950" b="0" dirty="0">
                <a:solidFill>
                  <a:srgbClr val="1F2328"/>
                </a:solidFill>
                <a:latin typeface="Calibri"/>
                <a:ea typeface="맑은 고딕"/>
                <a:cs typeface="Calibri"/>
              </a:rPr>
              <a:t> </a:t>
            </a:r>
            <a:r>
              <a:rPr lang="en-US" altLang="ko-KR" sz="1950" b="0" dirty="0">
                <a:solidFill>
                  <a:srgbClr val="1F2328"/>
                </a:solidFill>
                <a:latin typeface="Calibri"/>
                <a:ea typeface="맑은 고딕"/>
                <a:cs typeface="Calibri"/>
              </a:rPr>
              <a:t>The man was so </a:t>
            </a:r>
            <a:r>
              <a:rPr lang="en-US" altLang="ko-KR" sz="1950" b="1" dirty="0">
                <a:solidFill>
                  <a:srgbClr val="1F2328"/>
                </a:solidFill>
                <a:latin typeface="Calibri"/>
                <a:ea typeface="맑은 고딕"/>
                <a:cs typeface="Calibri"/>
              </a:rPr>
              <a:t>[ </a:t>
            </a:r>
            <a:r>
              <a:rPr lang="en-US" altLang="ko-KR" sz="1950" b="1" dirty="0">
                <a:solidFill>
                  <a:srgbClr val="1F2328"/>
                </a:solidFill>
                <a:latin typeface="Calibri"/>
                <a:ea typeface="맑은 고딕"/>
                <a:cs typeface="Calibri"/>
              </a:rPr>
              <a:t>disappointed</a:t>
            </a:r>
            <a:r>
              <a:rPr lang="en-US" altLang="ko-KR" sz="1950" b="1" dirty="0">
                <a:solidFill>
                  <a:srgbClr val="1F2328"/>
                </a:solidFill>
                <a:latin typeface="Calibri"/>
                <a:ea typeface="맑은 고딕"/>
                <a:cs typeface="Calibri"/>
              </a:rPr>
              <a:t> / </a:t>
            </a:r>
            <a:r>
              <a:rPr lang="en-US" altLang="ko-KR" sz="1950" b="1" dirty="0">
                <a:solidFill>
                  <a:srgbClr val="1F2328"/>
                </a:solidFill>
                <a:latin typeface="Calibri"/>
                <a:ea typeface="맑은 고딕"/>
                <a:cs typeface="Calibri"/>
              </a:rPr>
              <a:t>disappointing</a:t>
            </a:r>
            <a:r>
              <a:rPr lang="en-US" altLang="ko-KR" sz="1950" b="1" dirty="0">
                <a:solidFill>
                  <a:srgbClr val="1F2328"/>
                </a:solidFill>
                <a:latin typeface="Calibri"/>
                <a:ea typeface="맑은 고딕"/>
                <a:cs typeface="Calibri"/>
              </a:rPr>
              <a:t> ]</a:t>
            </a:r>
            <a:r>
              <a:rPr lang="en-US" altLang="ko-KR" sz="1950" b="0" dirty="0">
                <a:solidFill>
                  <a:srgbClr val="1F2328"/>
                </a:solidFill>
                <a:latin typeface="Calibri"/>
                <a:ea typeface="맑은 고딕"/>
                <a:cs typeface="Calibri"/>
              </a:rPr>
              <a:t> that he cried out to the sky, “What should I do? Please help me.”</a:t>
            </a:r>
            <a:r>
              <a:rPr lang="en-US" altLang="ko-KR" sz="1950" b="0" dirty="0">
                <a:solidFill>
                  <a:srgbClr val="1F2328"/>
                </a:solidFill>
                <a:latin typeface="Calibri"/>
                <a:ea typeface="맑은 고딕"/>
                <a:cs typeface="Calibri"/>
              </a:rPr>
              <a:t>   </a:t>
            </a:r>
            <a:r>
              <a:rPr lang="ko-KR" altLang="en-US" sz="1950" b="1" dirty="0">
                <a:solidFill>
                  <a:srgbClr val="1E2A5A"/>
                </a:solidFill>
                <a:latin typeface="맑은 고딕"/>
                <a:ea typeface="맑은 고딕"/>
                <a:cs typeface="맑은 고딕"/>
              </a:rPr>
              <a:t>⑪</a:t>
            </a:r>
            <a:r>
              <a:rPr lang="en-US" altLang="ko-KR" sz="1950" b="0" dirty="0">
                <a:solidFill>
                  <a:srgbClr val="1F2328"/>
                </a:solidFill>
                <a:latin typeface="Calibri"/>
                <a:ea typeface="맑은 고딕"/>
                <a:cs typeface="Calibri"/>
              </a:rPr>
              <a:t> </a:t>
            </a:r>
            <a:r>
              <a:rPr lang="en-US" altLang="ko-KR" sz="1950" b="0" dirty="0">
                <a:solidFill>
                  <a:srgbClr val="1F2328"/>
                </a:solidFill>
                <a:latin typeface="Calibri"/>
                <a:ea typeface="맑은 고딕"/>
                <a:cs typeface="Calibri"/>
              </a:rPr>
              <a:t>Then the ice melted, and three carp suddenly came out of the water.</a:t>
            </a:r>
            <a:r>
              <a:rPr lang="en-US" altLang="ko-KR" sz="1950" b="0" dirty="0">
                <a:solidFill>
                  <a:srgbClr val="1F2328"/>
                </a:solidFill>
                <a:latin typeface="Calibri"/>
                <a:ea typeface="맑은 고딕"/>
                <a:cs typeface="Calibri"/>
              </a:rPr>
              <a:t>   </a:t>
            </a:r>
            <a:r>
              <a:rPr lang="ko-KR" altLang="en-US" sz="1950" b="1" dirty="0">
                <a:solidFill>
                  <a:srgbClr val="1E2A5A"/>
                </a:solidFill>
                <a:latin typeface="맑은 고딕"/>
                <a:ea typeface="맑은 고딕"/>
                <a:cs typeface="맑은 고딕"/>
              </a:rPr>
              <a:t>⑫</a:t>
            </a:r>
            <a:r>
              <a:rPr lang="en-US" altLang="ko-KR" sz="1950" b="0" dirty="0">
                <a:solidFill>
                  <a:srgbClr val="1F2328"/>
                </a:solidFill>
                <a:latin typeface="Calibri"/>
                <a:ea typeface="맑은 고딕"/>
                <a:cs typeface="Calibri"/>
              </a:rPr>
              <a:t> </a:t>
            </a:r>
            <a:r>
              <a:rPr lang="en-US" altLang="ko-KR" sz="1950" b="0" dirty="0">
                <a:solidFill>
                  <a:srgbClr val="1F2328"/>
                </a:solidFill>
                <a:latin typeface="Calibri"/>
                <a:ea typeface="맑은 고딕"/>
                <a:cs typeface="Calibri"/>
              </a:rPr>
              <a:t>The man went back home and cooked the fish for his mother.</a:t>
            </a:r>
            <a:r>
              <a:rPr lang="en-US" altLang="ko-KR" sz="1950" b="0" dirty="0">
                <a:solidFill>
                  <a:srgbClr val="1F2328"/>
                </a:solidFill>
                <a:latin typeface="Calibri"/>
                <a:ea typeface="맑은 고딕"/>
                <a:cs typeface="Calibri"/>
              </a:rPr>
              <a:t>   </a:t>
            </a:r>
            <a:r>
              <a:rPr lang="ko-KR" altLang="en-US" sz="1950" b="1" dirty="0">
                <a:solidFill>
                  <a:srgbClr val="1E2A5A"/>
                </a:solidFill>
                <a:latin typeface="맑은 고딕"/>
                <a:ea typeface="맑은 고딕"/>
                <a:cs typeface="맑은 고딕"/>
              </a:rPr>
              <a:t>⑬</a:t>
            </a:r>
            <a:r>
              <a:rPr lang="en-US" altLang="ko-KR" sz="1950" b="0" dirty="0">
                <a:solidFill>
                  <a:srgbClr val="1F2328"/>
                </a:solidFill>
                <a:latin typeface="Calibri"/>
                <a:ea typeface="맑은 고딕"/>
                <a:cs typeface="Calibri"/>
              </a:rPr>
              <a:t> </a:t>
            </a:r>
            <a:r>
              <a:rPr lang="en-US" altLang="ko-KR" sz="1950" b="0" dirty="0">
                <a:solidFill>
                  <a:srgbClr val="1F2328"/>
                </a:solidFill>
                <a:latin typeface="Calibri"/>
                <a:ea typeface="맑은 고딕"/>
                <a:cs typeface="Calibri"/>
              </a:rPr>
              <a:t>Then his mother got well.</a:t>
            </a:r>
            <a:endParaRPr lang="en-US" altLang="ko-KR" sz="1950" b="0" dirty="0">
              <a:solidFill>
                <a:srgbClr val="1F2328"/>
              </a:solidFill>
              <a:latin typeface="Calibri"/>
              <a:ea typeface="맑은 고딕"/>
              <a:cs typeface="Calibri"/>
            </a:endParaRPr>
          </a:p>
        </p:txBody>
      </p:sp>
      <p:sp>
        <p:nvSpPr>
          <p:cNvPr id="9" name="rv_g01"/>
          <p:cNvSpPr txBox="1"/>
          <p:nvPr/>
        </p:nvSpPr>
        <p:spPr>
          <a:xfrm>
            <a:off x="457200" y="950976"/>
            <a:ext cx="11277295" cy="5126736"/>
          </a:xfrm>
          <a:prstGeom prst="rect">
            <a:avLst/>
          </a:prstGeom>
          <a:noFill/>
        </p:spPr>
        <p:txBody>
          <a:bodyPr wrap="square" lIns="228600" tIns="155448" rIns="228600" bIns="155448" anchor="t" rtlCol="0">
            <a:noAutofit/>
          </a:bodyPr>
          <a:lstStyle/>
          <a:p>
            <a:pPr algn="l">
              <a:lnSpc>
                <a:spcPts val="3160"/>
              </a:lnSpc>
              <a:spcBef>
                <a:spcPts val="0"/>
              </a:spcBef>
              <a:spcAft>
                <a:spcPts val="0"/>
              </a:spcAft>
              <a:buNone/>
            </a:pPr>
            <a:r>
              <a:rPr lang="ko-KR" altLang="en-US" sz="1950" b="1" dirty="0">
                <a:solidFill>
                  <a:srgbClr val="1E2A5A">
                    <a:alpha val="0"/>
                  </a:srgbClr>
                </a:solidFill>
                <a:latin typeface="맑은 고딕"/>
                <a:ea typeface="맑은 고딕"/>
                <a:cs typeface="맑은 고딕"/>
              </a:rPr>
              <a:t>①</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The animals or objects in Munjado are not just decorations.</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②</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They often are symbolic.</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③</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For example, carp in the paintings of hyo </a:t>
            </a:r>
            <a:r>
              <a:rPr lang="en-US" altLang="ko-KR" sz="1950" b="1" dirty="0">
                <a:solidFill>
                  <a:srgbClr val="1F2328">
                    <a:alpha val="0"/>
                  </a:srgbClr>
                </a:solidFill>
                <a:latin typeface="Calibri"/>
                <a:ea typeface="맑은 고딕"/>
                <a:cs typeface="Calibri"/>
              </a:rPr>
              <a:t>[ </a:t>
            </a:r>
            <a:r>
              <a:rPr lang="en-US" altLang="ko-KR" sz="1950" b="1" dirty="0">
                <a:solidFill>
                  <a:srgbClr val="1F2328">
                    <a:alpha val="0"/>
                  </a:srgbClr>
                </a:solidFill>
                <a:latin typeface="Calibri"/>
                <a:ea typeface="맑은 고딕"/>
                <a:cs typeface="Calibri"/>
              </a:rPr>
              <a:t>symbolizes</a:t>
            </a:r>
            <a:r>
              <a:rPr lang="en-US" altLang="ko-KR" sz="1950" b="1" dirty="0">
                <a:solidFill>
                  <a:srgbClr val="1F2328">
                    <a:alpha val="0"/>
                  </a:srgbClr>
                </a:solidFill>
                <a:latin typeface="Calibri"/>
                <a:ea typeface="맑은 고딕"/>
                <a:cs typeface="Calibri"/>
              </a:rPr>
              <a:t> / </a:t>
            </a:r>
            <a:r>
              <a:rPr lang="en-US" altLang="ko-KR" sz="1950" b="1" dirty="0">
                <a:solidFill>
                  <a:srgbClr val="C00000"/>
                </a:solidFill>
                <a:highlight>
                  <a:srgbClr val="F3F5F9"/>
                </a:highlight>
                <a:latin typeface="Calibri"/>
                <a:ea typeface="맑은 고딕"/>
                <a:cs typeface="Calibri"/>
              </a:rPr>
              <a:t>symbolize</a:t>
            </a:r>
            <a:r>
              <a:rPr lang="en-US" altLang="ko-KR" sz="1950" b="1"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 respect for parents </a:t>
            </a:r>
            <a:r>
              <a:rPr lang="en-US" altLang="ko-KR" sz="1950" b="1" dirty="0">
                <a:solidFill>
                  <a:srgbClr val="1F2328">
                    <a:alpha val="0"/>
                  </a:srgbClr>
                </a:solidFill>
                <a:latin typeface="Calibri"/>
                <a:ea typeface="맑은 고딕"/>
                <a:cs typeface="Calibri"/>
              </a:rPr>
              <a:t>[ </a:t>
            </a:r>
            <a:r>
              <a:rPr lang="en-US" altLang="ko-KR" sz="1950" b="1" dirty="0">
                <a:solidFill>
                  <a:srgbClr val="1F2328">
                    <a:alpha val="0"/>
                  </a:srgbClr>
                </a:solidFill>
                <a:latin typeface="Calibri"/>
                <a:ea typeface="맑은 고딕"/>
                <a:cs typeface="Calibri"/>
              </a:rPr>
              <a:t>because of</a:t>
            </a:r>
            <a:r>
              <a:rPr lang="en-US" altLang="ko-KR" sz="1950" b="1" dirty="0">
                <a:solidFill>
                  <a:srgbClr val="1F2328">
                    <a:alpha val="0"/>
                  </a:srgbClr>
                </a:solidFill>
                <a:latin typeface="Calibri"/>
                <a:ea typeface="맑은 고딕"/>
                <a:cs typeface="Calibri"/>
              </a:rPr>
              <a:t> / </a:t>
            </a:r>
            <a:r>
              <a:rPr lang="en-US" altLang="ko-KR" sz="1950" b="1" dirty="0">
                <a:solidFill>
                  <a:srgbClr val="1F2328">
                    <a:alpha val="0"/>
                  </a:srgbClr>
                </a:solidFill>
                <a:latin typeface="Calibri"/>
                <a:ea typeface="맑은 고딕"/>
                <a:cs typeface="Calibri"/>
              </a:rPr>
              <a:t>because</a:t>
            </a:r>
            <a:r>
              <a:rPr lang="en-US" altLang="ko-KR" sz="1950" b="1"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 an old story.</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④</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The story goes as follows.</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⑤</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Once upon a time, a man lived with his old mother.</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⑥</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One winter, the man’s mother became ill and couldn’t eat anything.</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⑦</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On one very cold day, the mother said to the man, “It would be wonderful if I </a:t>
            </a:r>
            <a:r>
              <a:rPr lang="en-US" altLang="ko-KR" sz="1950" b="1" dirty="0">
                <a:solidFill>
                  <a:srgbClr val="1F2328">
                    <a:alpha val="0"/>
                  </a:srgbClr>
                </a:solidFill>
                <a:latin typeface="Calibri"/>
                <a:ea typeface="맑은 고딕"/>
                <a:cs typeface="Calibri"/>
              </a:rPr>
              <a:t>[ </a:t>
            </a:r>
            <a:r>
              <a:rPr lang="en-US" altLang="ko-KR" sz="1950" b="1" dirty="0">
                <a:solidFill>
                  <a:srgbClr val="1F2328">
                    <a:alpha val="0"/>
                  </a:srgbClr>
                </a:solidFill>
                <a:latin typeface="Calibri"/>
                <a:ea typeface="맑은 고딕"/>
                <a:cs typeface="Calibri"/>
              </a:rPr>
              <a:t>can</a:t>
            </a:r>
            <a:r>
              <a:rPr lang="en-US" altLang="ko-KR" sz="1950" b="1" dirty="0">
                <a:solidFill>
                  <a:srgbClr val="1F2328">
                    <a:alpha val="0"/>
                  </a:srgbClr>
                </a:solidFill>
                <a:latin typeface="Calibri"/>
                <a:ea typeface="맑은 고딕"/>
                <a:cs typeface="Calibri"/>
              </a:rPr>
              <a:t> / </a:t>
            </a:r>
            <a:r>
              <a:rPr lang="en-US" altLang="ko-KR" sz="1950" b="1" dirty="0">
                <a:solidFill>
                  <a:srgbClr val="1F2328">
                    <a:alpha val="0"/>
                  </a:srgbClr>
                </a:solidFill>
                <a:latin typeface="Calibri"/>
                <a:ea typeface="맑은 고딕"/>
                <a:cs typeface="Calibri"/>
              </a:rPr>
              <a:t>could</a:t>
            </a:r>
            <a:r>
              <a:rPr lang="en-US" altLang="ko-KR" sz="1950" b="1"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 eat fresh fish.”</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⑧</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The man went out to the river, but it was completely frozen.</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⑨</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It was impossible for him </a:t>
            </a:r>
            <a:r>
              <a:rPr lang="en-US" altLang="ko-KR" sz="1950" b="1" dirty="0">
                <a:solidFill>
                  <a:srgbClr val="1F2328">
                    <a:alpha val="0"/>
                  </a:srgbClr>
                </a:solidFill>
                <a:latin typeface="Calibri"/>
                <a:ea typeface="맑은 고딕"/>
                <a:cs typeface="Calibri"/>
              </a:rPr>
              <a:t>[ </a:t>
            </a:r>
            <a:r>
              <a:rPr lang="en-US" altLang="ko-KR" sz="1950" b="1" dirty="0">
                <a:solidFill>
                  <a:srgbClr val="1F2328">
                    <a:alpha val="0"/>
                  </a:srgbClr>
                </a:solidFill>
                <a:latin typeface="Calibri"/>
                <a:ea typeface="맑은 고딕"/>
                <a:cs typeface="Calibri"/>
              </a:rPr>
              <a:t>to catch</a:t>
            </a:r>
            <a:r>
              <a:rPr lang="en-US" altLang="ko-KR" sz="1950" b="1" dirty="0">
                <a:solidFill>
                  <a:srgbClr val="1F2328">
                    <a:alpha val="0"/>
                  </a:srgbClr>
                </a:solidFill>
                <a:latin typeface="Calibri"/>
                <a:ea typeface="맑은 고딕"/>
                <a:cs typeface="Calibri"/>
              </a:rPr>
              <a:t> / </a:t>
            </a:r>
            <a:r>
              <a:rPr lang="en-US" altLang="ko-KR" sz="1950" b="1" dirty="0">
                <a:solidFill>
                  <a:srgbClr val="1F2328">
                    <a:alpha val="0"/>
                  </a:srgbClr>
                </a:solidFill>
                <a:latin typeface="Calibri"/>
                <a:ea typeface="맑은 고딕"/>
                <a:cs typeface="Calibri"/>
              </a:rPr>
              <a:t>catching</a:t>
            </a:r>
            <a:r>
              <a:rPr lang="en-US" altLang="ko-KR" sz="1950" b="1"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 any fish.</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⑩</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The man was so </a:t>
            </a:r>
            <a:r>
              <a:rPr lang="en-US" altLang="ko-KR" sz="1950" b="1" dirty="0">
                <a:solidFill>
                  <a:srgbClr val="1F2328">
                    <a:alpha val="0"/>
                  </a:srgbClr>
                </a:solidFill>
                <a:latin typeface="Calibri"/>
                <a:ea typeface="맑은 고딕"/>
                <a:cs typeface="Calibri"/>
              </a:rPr>
              <a:t>[ </a:t>
            </a:r>
            <a:r>
              <a:rPr lang="en-US" altLang="ko-KR" sz="1950" b="1" dirty="0">
                <a:solidFill>
                  <a:srgbClr val="1F2328">
                    <a:alpha val="0"/>
                  </a:srgbClr>
                </a:solidFill>
                <a:latin typeface="Calibri"/>
                <a:ea typeface="맑은 고딕"/>
                <a:cs typeface="Calibri"/>
              </a:rPr>
              <a:t>disappointed</a:t>
            </a:r>
            <a:r>
              <a:rPr lang="en-US" altLang="ko-KR" sz="1950" b="1" dirty="0">
                <a:solidFill>
                  <a:srgbClr val="1F2328">
                    <a:alpha val="0"/>
                  </a:srgbClr>
                </a:solidFill>
                <a:latin typeface="Calibri"/>
                <a:ea typeface="맑은 고딕"/>
                <a:cs typeface="Calibri"/>
              </a:rPr>
              <a:t> / </a:t>
            </a:r>
            <a:r>
              <a:rPr lang="en-US" altLang="ko-KR" sz="1950" b="1" dirty="0">
                <a:solidFill>
                  <a:srgbClr val="1F2328">
                    <a:alpha val="0"/>
                  </a:srgbClr>
                </a:solidFill>
                <a:latin typeface="Calibri"/>
                <a:ea typeface="맑은 고딕"/>
                <a:cs typeface="Calibri"/>
              </a:rPr>
              <a:t>disappointing</a:t>
            </a:r>
            <a:r>
              <a:rPr lang="en-US" altLang="ko-KR" sz="1950" b="1"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 that he cried out to the sky, “What should I do? Please help me.”</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⑪</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Then the ice melted, and three carp suddenly came out of the water.</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⑫</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The man went back home and cooked the fish for his mother.</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⑬</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Then his mother got well.</a:t>
            </a:r>
            <a:endParaRPr lang="en-US" altLang="ko-KR" sz="1950" b="0" dirty="0">
              <a:solidFill>
                <a:srgbClr val="1F2328"/>
              </a:solidFill>
              <a:latin typeface="Calibri"/>
              <a:ea typeface="맑은 고딕"/>
              <a:cs typeface="Calibri"/>
            </a:endParaRPr>
          </a:p>
        </p:txBody>
      </p:sp>
      <p:sp>
        <p:nvSpPr>
          <p:cNvPr id="10" name="rv_g02"/>
          <p:cNvSpPr txBox="1"/>
          <p:nvPr/>
        </p:nvSpPr>
        <p:spPr>
          <a:xfrm>
            <a:off x="457200" y="950976"/>
            <a:ext cx="11277295" cy="5126736"/>
          </a:xfrm>
          <a:prstGeom prst="rect">
            <a:avLst/>
          </a:prstGeom>
          <a:noFill/>
        </p:spPr>
        <p:txBody>
          <a:bodyPr wrap="square" lIns="228600" tIns="155448" rIns="228600" bIns="155448" anchor="t" rtlCol="0">
            <a:noAutofit/>
          </a:bodyPr>
          <a:lstStyle/>
          <a:p>
            <a:pPr algn="l">
              <a:lnSpc>
                <a:spcPts val="3160"/>
              </a:lnSpc>
              <a:spcBef>
                <a:spcPts val="0"/>
              </a:spcBef>
              <a:spcAft>
                <a:spcPts val="0"/>
              </a:spcAft>
              <a:buNone/>
            </a:pPr>
            <a:r>
              <a:rPr lang="ko-KR" altLang="en-US" sz="1950" b="1" dirty="0">
                <a:solidFill>
                  <a:srgbClr val="1E2A5A">
                    <a:alpha val="0"/>
                  </a:srgbClr>
                </a:solidFill>
                <a:latin typeface="맑은 고딕"/>
                <a:ea typeface="맑은 고딕"/>
                <a:cs typeface="맑은 고딕"/>
              </a:rPr>
              <a:t>①</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The animals or objects in Munjado are not just decorations.</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②</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They often are symbolic.</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③</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For example, carp in the paintings of hyo </a:t>
            </a:r>
            <a:r>
              <a:rPr lang="en-US" altLang="ko-KR" sz="1950" b="1" dirty="0">
                <a:solidFill>
                  <a:srgbClr val="1F2328">
                    <a:alpha val="0"/>
                  </a:srgbClr>
                </a:solidFill>
                <a:latin typeface="Calibri"/>
                <a:ea typeface="맑은 고딕"/>
                <a:cs typeface="Calibri"/>
              </a:rPr>
              <a:t>[ </a:t>
            </a:r>
            <a:r>
              <a:rPr lang="en-US" altLang="ko-KR" sz="1950" b="1" dirty="0">
                <a:solidFill>
                  <a:srgbClr val="1F2328">
                    <a:alpha val="0"/>
                  </a:srgbClr>
                </a:solidFill>
                <a:latin typeface="Calibri"/>
                <a:ea typeface="맑은 고딕"/>
                <a:cs typeface="Calibri"/>
              </a:rPr>
              <a:t>symbolizes</a:t>
            </a:r>
            <a:r>
              <a:rPr lang="en-US" altLang="ko-KR" sz="1950" b="1" dirty="0">
                <a:solidFill>
                  <a:srgbClr val="1F2328">
                    <a:alpha val="0"/>
                  </a:srgbClr>
                </a:solidFill>
                <a:latin typeface="Calibri"/>
                <a:ea typeface="맑은 고딕"/>
                <a:cs typeface="Calibri"/>
              </a:rPr>
              <a:t> / </a:t>
            </a:r>
            <a:r>
              <a:rPr lang="en-US" altLang="ko-KR" sz="1950" b="1" dirty="0">
                <a:solidFill>
                  <a:srgbClr val="1F2328">
                    <a:alpha val="0"/>
                  </a:srgbClr>
                </a:solidFill>
                <a:latin typeface="Calibri"/>
                <a:ea typeface="맑은 고딕"/>
                <a:cs typeface="Calibri"/>
              </a:rPr>
              <a:t>symbolize</a:t>
            </a:r>
            <a:r>
              <a:rPr lang="en-US" altLang="ko-KR" sz="1950" b="1"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 respect for parents </a:t>
            </a:r>
            <a:r>
              <a:rPr lang="en-US" altLang="ko-KR" sz="1950" b="1" dirty="0">
                <a:solidFill>
                  <a:srgbClr val="1F2328">
                    <a:alpha val="0"/>
                  </a:srgbClr>
                </a:solidFill>
                <a:latin typeface="Calibri"/>
                <a:ea typeface="맑은 고딕"/>
                <a:cs typeface="Calibri"/>
              </a:rPr>
              <a:t>[ </a:t>
            </a:r>
            <a:r>
              <a:rPr lang="en-US" altLang="ko-KR" sz="1950" b="1" dirty="0">
                <a:solidFill>
                  <a:srgbClr val="C00000"/>
                </a:solidFill>
                <a:highlight>
                  <a:srgbClr val="F3F5F9"/>
                </a:highlight>
                <a:latin typeface="Calibri"/>
                <a:ea typeface="맑은 고딕"/>
                <a:cs typeface="Calibri"/>
              </a:rPr>
              <a:t>because of</a:t>
            </a:r>
            <a:r>
              <a:rPr lang="en-US" altLang="ko-KR" sz="1950" b="1" dirty="0">
                <a:solidFill>
                  <a:srgbClr val="1F2328">
                    <a:alpha val="0"/>
                  </a:srgbClr>
                </a:solidFill>
                <a:latin typeface="Calibri"/>
                <a:ea typeface="맑은 고딕"/>
                <a:cs typeface="Calibri"/>
              </a:rPr>
              <a:t> / </a:t>
            </a:r>
            <a:r>
              <a:rPr lang="en-US" altLang="ko-KR" sz="1950" b="1" dirty="0">
                <a:solidFill>
                  <a:srgbClr val="1F2328">
                    <a:alpha val="0"/>
                  </a:srgbClr>
                </a:solidFill>
                <a:latin typeface="Calibri"/>
                <a:ea typeface="맑은 고딕"/>
                <a:cs typeface="Calibri"/>
              </a:rPr>
              <a:t>because</a:t>
            </a:r>
            <a:r>
              <a:rPr lang="en-US" altLang="ko-KR" sz="1950" b="1"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 an old story.</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④</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The story goes as follows.</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⑤</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Once upon a time, a man lived with his old mother.</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⑥</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One winter, the man’s mother became ill and couldn’t eat anything.</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⑦</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On one very cold day, the mother said to the man, “It would be wonderful if I </a:t>
            </a:r>
            <a:r>
              <a:rPr lang="en-US" altLang="ko-KR" sz="1950" b="1" dirty="0">
                <a:solidFill>
                  <a:srgbClr val="1F2328">
                    <a:alpha val="0"/>
                  </a:srgbClr>
                </a:solidFill>
                <a:latin typeface="Calibri"/>
                <a:ea typeface="맑은 고딕"/>
                <a:cs typeface="Calibri"/>
              </a:rPr>
              <a:t>[ </a:t>
            </a:r>
            <a:r>
              <a:rPr lang="en-US" altLang="ko-KR" sz="1950" b="1" dirty="0">
                <a:solidFill>
                  <a:srgbClr val="1F2328">
                    <a:alpha val="0"/>
                  </a:srgbClr>
                </a:solidFill>
                <a:latin typeface="Calibri"/>
                <a:ea typeface="맑은 고딕"/>
                <a:cs typeface="Calibri"/>
              </a:rPr>
              <a:t>can</a:t>
            </a:r>
            <a:r>
              <a:rPr lang="en-US" altLang="ko-KR" sz="1950" b="1" dirty="0">
                <a:solidFill>
                  <a:srgbClr val="1F2328">
                    <a:alpha val="0"/>
                  </a:srgbClr>
                </a:solidFill>
                <a:latin typeface="Calibri"/>
                <a:ea typeface="맑은 고딕"/>
                <a:cs typeface="Calibri"/>
              </a:rPr>
              <a:t> / </a:t>
            </a:r>
            <a:r>
              <a:rPr lang="en-US" altLang="ko-KR" sz="1950" b="1" dirty="0">
                <a:solidFill>
                  <a:srgbClr val="1F2328">
                    <a:alpha val="0"/>
                  </a:srgbClr>
                </a:solidFill>
                <a:latin typeface="Calibri"/>
                <a:ea typeface="맑은 고딕"/>
                <a:cs typeface="Calibri"/>
              </a:rPr>
              <a:t>could</a:t>
            </a:r>
            <a:r>
              <a:rPr lang="en-US" altLang="ko-KR" sz="1950" b="1"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 eat fresh fish.”</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⑧</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The man went out to the river, but it was completely frozen.</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⑨</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It was impossible for him </a:t>
            </a:r>
            <a:r>
              <a:rPr lang="en-US" altLang="ko-KR" sz="1950" b="1" dirty="0">
                <a:solidFill>
                  <a:srgbClr val="1F2328">
                    <a:alpha val="0"/>
                  </a:srgbClr>
                </a:solidFill>
                <a:latin typeface="Calibri"/>
                <a:ea typeface="맑은 고딕"/>
                <a:cs typeface="Calibri"/>
              </a:rPr>
              <a:t>[ </a:t>
            </a:r>
            <a:r>
              <a:rPr lang="en-US" altLang="ko-KR" sz="1950" b="1" dirty="0">
                <a:solidFill>
                  <a:srgbClr val="1F2328">
                    <a:alpha val="0"/>
                  </a:srgbClr>
                </a:solidFill>
                <a:latin typeface="Calibri"/>
                <a:ea typeface="맑은 고딕"/>
                <a:cs typeface="Calibri"/>
              </a:rPr>
              <a:t>to catch</a:t>
            </a:r>
            <a:r>
              <a:rPr lang="en-US" altLang="ko-KR" sz="1950" b="1" dirty="0">
                <a:solidFill>
                  <a:srgbClr val="1F2328">
                    <a:alpha val="0"/>
                  </a:srgbClr>
                </a:solidFill>
                <a:latin typeface="Calibri"/>
                <a:ea typeface="맑은 고딕"/>
                <a:cs typeface="Calibri"/>
              </a:rPr>
              <a:t> / </a:t>
            </a:r>
            <a:r>
              <a:rPr lang="en-US" altLang="ko-KR" sz="1950" b="1" dirty="0">
                <a:solidFill>
                  <a:srgbClr val="1F2328">
                    <a:alpha val="0"/>
                  </a:srgbClr>
                </a:solidFill>
                <a:latin typeface="Calibri"/>
                <a:ea typeface="맑은 고딕"/>
                <a:cs typeface="Calibri"/>
              </a:rPr>
              <a:t>catching</a:t>
            </a:r>
            <a:r>
              <a:rPr lang="en-US" altLang="ko-KR" sz="1950" b="1"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 any fish.</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⑩</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The man was so </a:t>
            </a:r>
            <a:r>
              <a:rPr lang="en-US" altLang="ko-KR" sz="1950" b="1" dirty="0">
                <a:solidFill>
                  <a:srgbClr val="1F2328">
                    <a:alpha val="0"/>
                  </a:srgbClr>
                </a:solidFill>
                <a:latin typeface="Calibri"/>
                <a:ea typeface="맑은 고딕"/>
                <a:cs typeface="Calibri"/>
              </a:rPr>
              <a:t>[ </a:t>
            </a:r>
            <a:r>
              <a:rPr lang="en-US" altLang="ko-KR" sz="1950" b="1" dirty="0">
                <a:solidFill>
                  <a:srgbClr val="1F2328">
                    <a:alpha val="0"/>
                  </a:srgbClr>
                </a:solidFill>
                <a:latin typeface="Calibri"/>
                <a:ea typeface="맑은 고딕"/>
                <a:cs typeface="Calibri"/>
              </a:rPr>
              <a:t>disappointed</a:t>
            </a:r>
            <a:r>
              <a:rPr lang="en-US" altLang="ko-KR" sz="1950" b="1" dirty="0">
                <a:solidFill>
                  <a:srgbClr val="1F2328">
                    <a:alpha val="0"/>
                  </a:srgbClr>
                </a:solidFill>
                <a:latin typeface="Calibri"/>
                <a:ea typeface="맑은 고딕"/>
                <a:cs typeface="Calibri"/>
              </a:rPr>
              <a:t> / </a:t>
            </a:r>
            <a:r>
              <a:rPr lang="en-US" altLang="ko-KR" sz="1950" b="1" dirty="0">
                <a:solidFill>
                  <a:srgbClr val="1F2328">
                    <a:alpha val="0"/>
                  </a:srgbClr>
                </a:solidFill>
                <a:latin typeface="Calibri"/>
                <a:ea typeface="맑은 고딕"/>
                <a:cs typeface="Calibri"/>
              </a:rPr>
              <a:t>disappointing</a:t>
            </a:r>
            <a:r>
              <a:rPr lang="en-US" altLang="ko-KR" sz="1950" b="1"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 that he cried out to the sky, “What should I do? Please help me.”</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⑪</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Then the ice melted, and three carp suddenly came out of the water.</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⑫</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The man went back home and cooked the fish for his mother.</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⑬</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Then his mother got well.</a:t>
            </a:r>
            <a:endParaRPr lang="en-US" altLang="ko-KR" sz="1950" b="0" dirty="0">
              <a:solidFill>
                <a:srgbClr val="1F2328"/>
              </a:solidFill>
              <a:latin typeface="Calibri"/>
              <a:ea typeface="맑은 고딕"/>
              <a:cs typeface="Calibri"/>
            </a:endParaRPr>
          </a:p>
        </p:txBody>
      </p:sp>
      <p:sp>
        <p:nvSpPr>
          <p:cNvPr id="11" name="rv_g03"/>
          <p:cNvSpPr txBox="1"/>
          <p:nvPr/>
        </p:nvSpPr>
        <p:spPr>
          <a:xfrm>
            <a:off x="457200" y="950976"/>
            <a:ext cx="11277295" cy="5126736"/>
          </a:xfrm>
          <a:prstGeom prst="rect">
            <a:avLst/>
          </a:prstGeom>
          <a:noFill/>
        </p:spPr>
        <p:txBody>
          <a:bodyPr wrap="square" lIns="228600" tIns="155448" rIns="228600" bIns="155448" anchor="t" rtlCol="0">
            <a:noAutofit/>
          </a:bodyPr>
          <a:lstStyle/>
          <a:p>
            <a:pPr algn="l">
              <a:lnSpc>
                <a:spcPts val="3160"/>
              </a:lnSpc>
              <a:spcBef>
                <a:spcPts val="0"/>
              </a:spcBef>
              <a:spcAft>
                <a:spcPts val="0"/>
              </a:spcAft>
              <a:buNone/>
            </a:pPr>
            <a:r>
              <a:rPr lang="ko-KR" altLang="en-US" sz="1950" b="1" dirty="0">
                <a:solidFill>
                  <a:srgbClr val="1E2A5A">
                    <a:alpha val="0"/>
                  </a:srgbClr>
                </a:solidFill>
                <a:latin typeface="맑은 고딕"/>
                <a:ea typeface="맑은 고딕"/>
                <a:cs typeface="맑은 고딕"/>
              </a:rPr>
              <a:t>①</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The animals or objects in Munjado are not just decorations.</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②</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They often are symbolic.</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③</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For example, carp in the paintings of hyo </a:t>
            </a:r>
            <a:r>
              <a:rPr lang="en-US" altLang="ko-KR" sz="1950" b="1" dirty="0">
                <a:solidFill>
                  <a:srgbClr val="1F2328">
                    <a:alpha val="0"/>
                  </a:srgbClr>
                </a:solidFill>
                <a:latin typeface="Calibri"/>
                <a:ea typeface="맑은 고딕"/>
                <a:cs typeface="Calibri"/>
              </a:rPr>
              <a:t>[ </a:t>
            </a:r>
            <a:r>
              <a:rPr lang="en-US" altLang="ko-KR" sz="1950" b="1" dirty="0">
                <a:solidFill>
                  <a:srgbClr val="1F2328">
                    <a:alpha val="0"/>
                  </a:srgbClr>
                </a:solidFill>
                <a:latin typeface="Calibri"/>
                <a:ea typeface="맑은 고딕"/>
                <a:cs typeface="Calibri"/>
              </a:rPr>
              <a:t>symbolizes</a:t>
            </a:r>
            <a:r>
              <a:rPr lang="en-US" altLang="ko-KR" sz="1950" b="1" dirty="0">
                <a:solidFill>
                  <a:srgbClr val="1F2328">
                    <a:alpha val="0"/>
                  </a:srgbClr>
                </a:solidFill>
                <a:latin typeface="Calibri"/>
                <a:ea typeface="맑은 고딕"/>
                <a:cs typeface="Calibri"/>
              </a:rPr>
              <a:t> / </a:t>
            </a:r>
            <a:r>
              <a:rPr lang="en-US" altLang="ko-KR" sz="1950" b="1" dirty="0">
                <a:solidFill>
                  <a:srgbClr val="1F2328">
                    <a:alpha val="0"/>
                  </a:srgbClr>
                </a:solidFill>
                <a:latin typeface="Calibri"/>
                <a:ea typeface="맑은 고딕"/>
                <a:cs typeface="Calibri"/>
              </a:rPr>
              <a:t>symbolize</a:t>
            </a:r>
            <a:r>
              <a:rPr lang="en-US" altLang="ko-KR" sz="1950" b="1"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 respect for parents </a:t>
            </a:r>
            <a:r>
              <a:rPr lang="en-US" altLang="ko-KR" sz="1950" b="1" dirty="0">
                <a:solidFill>
                  <a:srgbClr val="1F2328">
                    <a:alpha val="0"/>
                  </a:srgbClr>
                </a:solidFill>
                <a:latin typeface="Calibri"/>
                <a:ea typeface="맑은 고딕"/>
                <a:cs typeface="Calibri"/>
              </a:rPr>
              <a:t>[ </a:t>
            </a:r>
            <a:r>
              <a:rPr lang="en-US" altLang="ko-KR" sz="1950" b="1" dirty="0">
                <a:solidFill>
                  <a:srgbClr val="1F2328">
                    <a:alpha val="0"/>
                  </a:srgbClr>
                </a:solidFill>
                <a:latin typeface="Calibri"/>
                <a:ea typeface="맑은 고딕"/>
                <a:cs typeface="Calibri"/>
              </a:rPr>
              <a:t>because of</a:t>
            </a:r>
            <a:r>
              <a:rPr lang="en-US" altLang="ko-KR" sz="1950" b="1" dirty="0">
                <a:solidFill>
                  <a:srgbClr val="1F2328">
                    <a:alpha val="0"/>
                  </a:srgbClr>
                </a:solidFill>
                <a:latin typeface="Calibri"/>
                <a:ea typeface="맑은 고딕"/>
                <a:cs typeface="Calibri"/>
              </a:rPr>
              <a:t> / </a:t>
            </a:r>
            <a:r>
              <a:rPr lang="en-US" altLang="ko-KR" sz="1950" b="1" dirty="0">
                <a:solidFill>
                  <a:srgbClr val="1F2328">
                    <a:alpha val="0"/>
                  </a:srgbClr>
                </a:solidFill>
                <a:latin typeface="Calibri"/>
                <a:ea typeface="맑은 고딕"/>
                <a:cs typeface="Calibri"/>
              </a:rPr>
              <a:t>because</a:t>
            </a:r>
            <a:r>
              <a:rPr lang="en-US" altLang="ko-KR" sz="1950" b="1"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 an old story.</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④</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The story goes as follows.</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⑤</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Once upon a time, a man lived with his old mother.</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⑥</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One winter, the man’s mother became ill and couldn’t eat anything.</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⑦</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On one very cold day, the mother said to the man, “It would be wonderful if I </a:t>
            </a:r>
            <a:r>
              <a:rPr lang="en-US" altLang="ko-KR" sz="1950" b="1" dirty="0">
                <a:solidFill>
                  <a:srgbClr val="1F2328">
                    <a:alpha val="0"/>
                  </a:srgbClr>
                </a:solidFill>
                <a:latin typeface="Calibri"/>
                <a:ea typeface="맑은 고딕"/>
                <a:cs typeface="Calibri"/>
              </a:rPr>
              <a:t>[ </a:t>
            </a:r>
            <a:r>
              <a:rPr lang="en-US" altLang="ko-KR" sz="1950" b="1" dirty="0">
                <a:solidFill>
                  <a:srgbClr val="1F2328">
                    <a:alpha val="0"/>
                  </a:srgbClr>
                </a:solidFill>
                <a:latin typeface="Calibri"/>
                <a:ea typeface="맑은 고딕"/>
                <a:cs typeface="Calibri"/>
              </a:rPr>
              <a:t>can</a:t>
            </a:r>
            <a:r>
              <a:rPr lang="en-US" altLang="ko-KR" sz="1950" b="1" dirty="0">
                <a:solidFill>
                  <a:srgbClr val="1F2328">
                    <a:alpha val="0"/>
                  </a:srgbClr>
                </a:solidFill>
                <a:latin typeface="Calibri"/>
                <a:ea typeface="맑은 고딕"/>
                <a:cs typeface="Calibri"/>
              </a:rPr>
              <a:t> / </a:t>
            </a:r>
            <a:r>
              <a:rPr lang="en-US" altLang="ko-KR" sz="1950" b="1" dirty="0">
                <a:solidFill>
                  <a:srgbClr val="C00000"/>
                </a:solidFill>
                <a:highlight>
                  <a:srgbClr val="F3F5F9"/>
                </a:highlight>
                <a:latin typeface="Calibri"/>
                <a:ea typeface="맑은 고딕"/>
                <a:cs typeface="Calibri"/>
              </a:rPr>
              <a:t>could</a:t>
            </a:r>
            <a:r>
              <a:rPr lang="en-US" altLang="ko-KR" sz="1950" b="1"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 eat fresh fish.”</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⑧</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The man went out to the river, but it was completely frozen.</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⑨</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It was impossible for him </a:t>
            </a:r>
            <a:r>
              <a:rPr lang="en-US" altLang="ko-KR" sz="1950" b="1" dirty="0">
                <a:solidFill>
                  <a:srgbClr val="1F2328">
                    <a:alpha val="0"/>
                  </a:srgbClr>
                </a:solidFill>
                <a:latin typeface="Calibri"/>
                <a:ea typeface="맑은 고딕"/>
                <a:cs typeface="Calibri"/>
              </a:rPr>
              <a:t>[ </a:t>
            </a:r>
            <a:r>
              <a:rPr lang="en-US" altLang="ko-KR" sz="1950" b="1" dirty="0">
                <a:solidFill>
                  <a:srgbClr val="1F2328">
                    <a:alpha val="0"/>
                  </a:srgbClr>
                </a:solidFill>
                <a:latin typeface="Calibri"/>
                <a:ea typeface="맑은 고딕"/>
                <a:cs typeface="Calibri"/>
              </a:rPr>
              <a:t>to catch</a:t>
            </a:r>
            <a:r>
              <a:rPr lang="en-US" altLang="ko-KR" sz="1950" b="1" dirty="0">
                <a:solidFill>
                  <a:srgbClr val="1F2328">
                    <a:alpha val="0"/>
                  </a:srgbClr>
                </a:solidFill>
                <a:latin typeface="Calibri"/>
                <a:ea typeface="맑은 고딕"/>
                <a:cs typeface="Calibri"/>
              </a:rPr>
              <a:t> / </a:t>
            </a:r>
            <a:r>
              <a:rPr lang="en-US" altLang="ko-KR" sz="1950" b="1" dirty="0">
                <a:solidFill>
                  <a:srgbClr val="1F2328">
                    <a:alpha val="0"/>
                  </a:srgbClr>
                </a:solidFill>
                <a:latin typeface="Calibri"/>
                <a:ea typeface="맑은 고딕"/>
                <a:cs typeface="Calibri"/>
              </a:rPr>
              <a:t>catching</a:t>
            </a:r>
            <a:r>
              <a:rPr lang="en-US" altLang="ko-KR" sz="1950" b="1"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 any fish.</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⑩</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The man was so </a:t>
            </a:r>
            <a:r>
              <a:rPr lang="en-US" altLang="ko-KR" sz="1950" b="1" dirty="0">
                <a:solidFill>
                  <a:srgbClr val="1F2328">
                    <a:alpha val="0"/>
                  </a:srgbClr>
                </a:solidFill>
                <a:latin typeface="Calibri"/>
                <a:ea typeface="맑은 고딕"/>
                <a:cs typeface="Calibri"/>
              </a:rPr>
              <a:t>[ </a:t>
            </a:r>
            <a:r>
              <a:rPr lang="en-US" altLang="ko-KR" sz="1950" b="1" dirty="0">
                <a:solidFill>
                  <a:srgbClr val="1F2328">
                    <a:alpha val="0"/>
                  </a:srgbClr>
                </a:solidFill>
                <a:latin typeface="Calibri"/>
                <a:ea typeface="맑은 고딕"/>
                <a:cs typeface="Calibri"/>
              </a:rPr>
              <a:t>disappointed</a:t>
            </a:r>
            <a:r>
              <a:rPr lang="en-US" altLang="ko-KR" sz="1950" b="1" dirty="0">
                <a:solidFill>
                  <a:srgbClr val="1F2328">
                    <a:alpha val="0"/>
                  </a:srgbClr>
                </a:solidFill>
                <a:latin typeface="Calibri"/>
                <a:ea typeface="맑은 고딕"/>
                <a:cs typeface="Calibri"/>
              </a:rPr>
              <a:t> / </a:t>
            </a:r>
            <a:r>
              <a:rPr lang="en-US" altLang="ko-KR" sz="1950" b="1" dirty="0">
                <a:solidFill>
                  <a:srgbClr val="1F2328">
                    <a:alpha val="0"/>
                  </a:srgbClr>
                </a:solidFill>
                <a:latin typeface="Calibri"/>
                <a:ea typeface="맑은 고딕"/>
                <a:cs typeface="Calibri"/>
              </a:rPr>
              <a:t>disappointing</a:t>
            </a:r>
            <a:r>
              <a:rPr lang="en-US" altLang="ko-KR" sz="1950" b="1"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 that he cried out to the sky, “What should I do? Please help me.”</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⑪</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Then the ice melted, and three carp suddenly came out of the water.</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⑫</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The man went back home and cooked the fish for his mother.</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⑬</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Then his mother got well.</a:t>
            </a:r>
            <a:endParaRPr lang="en-US" altLang="ko-KR" sz="1950" b="0" dirty="0">
              <a:solidFill>
                <a:srgbClr val="1F2328"/>
              </a:solidFill>
              <a:latin typeface="Calibri"/>
              <a:ea typeface="맑은 고딕"/>
              <a:cs typeface="Calibri"/>
            </a:endParaRPr>
          </a:p>
        </p:txBody>
      </p:sp>
      <p:sp>
        <p:nvSpPr>
          <p:cNvPr id="12" name="rv_g04"/>
          <p:cNvSpPr txBox="1"/>
          <p:nvPr/>
        </p:nvSpPr>
        <p:spPr>
          <a:xfrm>
            <a:off x="457200" y="950976"/>
            <a:ext cx="11277295" cy="5126736"/>
          </a:xfrm>
          <a:prstGeom prst="rect">
            <a:avLst/>
          </a:prstGeom>
          <a:noFill/>
        </p:spPr>
        <p:txBody>
          <a:bodyPr wrap="square" lIns="228600" tIns="155448" rIns="228600" bIns="155448" anchor="t" rtlCol="0">
            <a:noAutofit/>
          </a:bodyPr>
          <a:lstStyle/>
          <a:p>
            <a:pPr algn="l">
              <a:lnSpc>
                <a:spcPts val="3160"/>
              </a:lnSpc>
              <a:spcBef>
                <a:spcPts val="0"/>
              </a:spcBef>
              <a:spcAft>
                <a:spcPts val="0"/>
              </a:spcAft>
              <a:buNone/>
            </a:pPr>
            <a:r>
              <a:rPr lang="ko-KR" altLang="en-US" sz="1950" b="1" dirty="0">
                <a:solidFill>
                  <a:srgbClr val="1E2A5A">
                    <a:alpha val="0"/>
                  </a:srgbClr>
                </a:solidFill>
                <a:latin typeface="맑은 고딕"/>
                <a:ea typeface="맑은 고딕"/>
                <a:cs typeface="맑은 고딕"/>
              </a:rPr>
              <a:t>①</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The animals or objects in Munjado are not just decorations.</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②</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They often are symbolic.</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③</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For example, carp in the paintings of hyo </a:t>
            </a:r>
            <a:r>
              <a:rPr lang="en-US" altLang="ko-KR" sz="1950" b="1" dirty="0">
                <a:solidFill>
                  <a:srgbClr val="1F2328">
                    <a:alpha val="0"/>
                  </a:srgbClr>
                </a:solidFill>
                <a:latin typeface="Calibri"/>
                <a:ea typeface="맑은 고딕"/>
                <a:cs typeface="Calibri"/>
              </a:rPr>
              <a:t>[ </a:t>
            </a:r>
            <a:r>
              <a:rPr lang="en-US" altLang="ko-KR" sz="1950" b="1" dirty="0">
                <a:solidFill>
                  <a:srgbClr val="1F2328">
                    <a:alpha val="0"/>
                  </a:srgbClr>
                </a:solidFill>
                <a:latin typeface="Calibri"/>
                <a:ea typeface="맑은 고딕"/>
                <a:cs typeface="Calibri"/>
              </a:rPr>
              <a:t>symbolizes</a:t>
            </a:r>
            <a:r>
              <a:rPr lang="en-US" altLang="ko-KR" sz="1950" b="1" dirty="0">
                <a:solidFill>
                  <a:srgbClr val="1F2328">
                    <a:alpha val="0"/>
                  </a:srgbClr>
                </a:solidFill>
                <a:latin typeface="Calibri"/>
                <a:ea typeface="맑은 고딕"/>
                <a:cs typeface="Calibri"/>
              </a:rPr>
              <a:t> / </a:t>
            </a:r>
            <a:r>
              <a:rPr lang="en-US" altLang="ko-KR" sz="1950" b="1" dirty="0">
                <a:solidFill>
                  <a:srgbClr val="1F2328">
                    <a:alpha val="0"/>
                  </a:srgbClr>
                </a:solidFill>
                <a:latin typeface="Calibri"/>
                <a:ea typeface="맑은 고딕"/>
                <a:cs typeface="Calibri"/>
              </a:rPr>
              <a:t>symbolize</a:t>
            </a:r>
            <a:r>
              <a:rPr lang="en-US" altLang="ko-KR" sz="1950" b="1"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 respect for parents </a:t>
            </a:r>
            <a:r>
              <a:rPr lang="en-US" altLang="ko-KR" sz="1950" b="1" dirty="0">
                <a:solidFill>
                  <a:srgbClr val="1F2328">
                    <a:alpha val="0"/>
                  </a:srgbClr>
                </a:solidFill>
                <a:latin typeface="Calibri"/>
                <a:ea typeface="맑은 고딕"/>
                <a:cs typeface="Calibri"/>
              </a:rPr>
              <a:t>[ </a:t>
            </a:r>
            <a:r>
              <a:rPr lang="en-US" altLang="ko-KR" sz="1950" b="1" dirty="0">
                <a:solidFill>
                  <a:srgbClr val="1F2328">
                    <a:alpha val="0"/>
                  </a:srgbClr>
                </a:solidFill>
                <a:latin typeface="Calibri"/>
                <a:ea typeface="맑은 고딕"/>
                <a:cs typeface="Calibri"/>
              </a:rPr>
              <a:t>because of</a:t>
            </a:r>
            <a:r>
              <a:rPr lang="en-US" altLang="ko-KR" sz="1950" b="1" dirty="0">
                <a:solidFill>
                  <a:srgbClr val="1F2328">
                    <a:alpha val="0"/>
                  </a:srgbClr>
                </a:solidFill>
                <a:latin typeface="Calibri"/>
                <a:ea typeface="맑은 고딕"/>
                <a:cs typeface="Calibri"/>
              </a:rPr>
              <a:t> / </a:t>
            </a:r>
            <a:r>
              <a:rPr lang="en-US" altLang="ko-KR" sz="1950" b="1" dirty="0">
                <a:solidFill>
                  <a:srgbClr val="1F2328">
                    <a:alpha val="0"/>
                  </a:srgbClr>
                </a:solidFill>
                <a:latin typeface="Calibri"/>
                <a:ea typeface="맑은 고딕"/>
                <a:cs typeface="Calibri"/>
              </a:rPr>
              <a:t>because</a:t>
            </a:r>
            <a:r>
              <a:rPr lang="en-US" altLang="ko-KR" sz="1950" b="1"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 an old story.</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④</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The story goes as follows.</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⑤</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Once upon a time, a man lived with his old mother.</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⑥</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One winter, the man’s mother became ill and couldn’t eat anything.</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⑦</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On one very cold day, the mother said to the man, “It would be wonderful if I </a:t>
            </a:r>
            <a:r>
              <a:rPr lang="en-US" altLang="ko-KR" sz="1950" b="1" dirty="0">
                <a:solidFill>
                  <a:srgbClr val="1F2328">
                    <a:alpha val="0"/>
                  </a:srgbClr>
                </a:solidFill>
                <a:latin typeface="Calibri"/>
                <a:ea typeface="맑은 고딕"/>
                <a:cs typeface="Calibri"/>
              </a:rPr>
              <a:t>[ </a:t>
            </a:r>
            <a:r>
              <a:rPr lang="en-US" altLang="ko-KR" sz="1950" b="1" dirty="0">
                <a:solidFill>
                  <a:srgbClr val="1F2328">
                    <a:alpha val="0"/>
                  </a:srgbClr>
                </a:solidFill>
                <a:latin typeface="Calibri"/>
                <a:ea typeface="맑은 고딕"/>
                <a:cs typeface="Calibri"/>
              </a:rPr>
              <a:t>can</a:t>
            </a:r>
            <a:r>
              <a:rPr lang="en-US" altLang="ko-KR" sz="1950" b="1" dirty="0">
                <a:solidFill>
                  <a:srgbClr val="1F2328">
                    <a:alpha val="0"/>
                  </a:srgbClr>
                </a:solidFill>
                <a:latin typeface="Calibri"/>
                <a:ea typeface="맑은 고딕"/>
                <a:cs typeface="Calibri"/>
              </a:rPr>
              <a:t> / </a:t>
            </a:r>
            <a:r>
              <a:rPr lang="en-US" altLang="ko-KR" sz="1950" b="1" dirty="0">
                <a:solidFill>
                  <a:srgbClr val="1F2328">
                    <a:alpha val="0"/>
                  </a:srgbClr>
                </a:solidFill>
                <a:latin typeface="Calibri"/>
                <a:ea typeface="맑은 고딕"/>
                <a:cs typeface="Calibri"/>
              </a:rPr>
              <a:t>could</a:t>
            </a:r>
            <a:r>
              <a:rPr lang="en-US" altLang="ko-KR" sz="1950" b="1"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 eat fresh fish.”</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⑧</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The man went out to the river, but it was completely frozen.</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⑨</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It was impossible for him </a:t>
            </a:r>
            <a:r>
              <a:rPr lang="en-US" altLang="ko-KR" sz="1950" b="1" dirty="0">
                <a:solidFill>
                  <a:srgbClr val="1F2328">
                    <a:alpha val="0"/>
                  </a:srgbClr>
                </a:solidFill>
                <a:latin typeface="Calibri"/>
                <a:ea typeface="맑은 고딕"/>
                <a:cs typeface="Calibri"/>
              </a:rPr>
              <a:t>[ </a:t>
            </a:r>
            <a:r>
              <a:rPr lang="en-US" altLang="ko-KR" sz="1950" b="1" dirty="0">
                <a:solidFill>
                  <a:srgbClr val="C00000"/>
                </a:solidFill>
                <a:highlight>
                  <a:srgbClr val="F3F5F9"/>
                </a:highlight>
                <a:latin typeface="Calibri"/>
                <a:ea typeface="맑은 고딕"/>
                <a:cs typeface="Calibri"/>
              </a:rPr>
              <a:t>to catch</a:t>
            </a:r>
            <a:r>
              <a:rPr lang="en-US" altLang="ko-KR" sz="1950" b="1" dirty="0">
                <a:solidFill>
                  <a:srgbClr val="1F2328">
                    <a:alpha val="0"/>
                  </a:srgbClr>
                </a:solidFill>
                <a:latin typeface="Calibri"/>
                <a:ea typeface="맑은 고딕"/>
                <a:cs typeface="Calibri"/>
              </a:rPr>
              <a:t> / </a:t>
            </a:r>
            <a:r>
              <a:rPr lang="en-US" altLang="ko-KR" sz="1950" b="1" dirty="0">
                <a:solidFill>
                  <a:srgbClr val="1F2328">
                    <a:alpha val="0"/>
                  </a:srgbClr>
                </a:solidFill>
                <a:latin typeface="Calibri"/>
                <a:ea typeface="맑은 고딕"/>
                <a:cs typeface="Calibri"/>
              </a:rPr>
              <a:t>catching</a:t>
            </a:r>
            <a:r>
              <a:rPr lang="en-US" altLang="ko-KR" sz="1950" b="1"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 any fish.</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⑩</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The man was so </a:t>
            </a:r>
            <a:r>
              <a:rPr lang="en-US" altLang="ko-KR" sz="1950" b="1" dirty="0">
                <a:solidFill>
                  <a:srgbClr val="1F2328">
                    <a:alpha val="0"/>
                  </a:srgbClr>
                </a:solidFill>
                <a:latin typeface="Calibri"/>
                <a:ea typeface="맑은 고딕"/>
                <a:cs typeface="Calibri"/>
              </a:rPr>
              <a:t>[ </a:t>
            </a:r>
            <a:r>
              <a:rPr lang="en-US" altLang="ko-KR" sz="1950" b="1" dirty="0">
                <a:solidFill>
                  <a:srgbClr val="1F2328">
                    <a:alpha val="0"/>
                  </a:srgbClr>
                </a:solidFill>
                <a:latin typeface="Calibri"/>
                <a:ea typeface="맑은 고딕"/>
                <a:cs typeface="Calibri"/>
              </a:rPr>
              <a:t>disappointed</a:t>
            </a:r>
            <a:r>
              <a:rPr lang="en-US" altLang="ko-KR" sz="1950" b="1" dirty="0">
                <a:solidFill>
                  <a:srgbClr val="1F2328">
                    <a:alpha val="0"/>
                  </a:srgbClr>
                </a:solidFill>
                <a:latin typeface="Calibri"/>
                <a:ea typeface="맑은 고딕"/>
                <a:cs typeface="Calibri"/>
              </a:rPr>
              <a:t> / </a:t>
            </a:r>
            <a:r>
              <a:rPr lang="en-US" altLang="ko-KR" sz="1950" b="1" dirty="0">
                <a:solidFill>
                  <a:srgbClr val="1F2328">
                    <a:alpha val="0"/>
                  </a:srgbClr>
                </a:solidFill>
                <a:latin typeface="Calibri"/>
                <a:ea typeface="맑은 고딕"/>
                <a:cs typeface="Calibri"/>
              </a:rPr>
              <a:t>disappointing</a:t>
            </a:r>
            <a:r>
              <a:rPr lang="en-US" altLang="ko-KR" sz="1950" b="1"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 that he cried out to the sky, “What should I do? Please help me.”</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⑪</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Then the ice melted, and three carp suddenly came out of the water.</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⑫</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The man went back home and cooked the fish for his mother.</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⑬</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Then his mother got well.</a:t>
            </a:r>
            <a:endParaRPr lang="en-US" altLang="ko-KR" sz="1950" b="0" dirty="0">
              <a:solidFill>
                <a:srgbClr val="1F2328"/>
              </a:solidFill>
              <a:latin typeface="Calibri"/>
              <a:ea typeface="맑은 고딕"/>
              <a:cs typeface="Calibri"/>
            </a:endParaRPr>
          </a:p>
        </p:txBody>
      </p:sp>
      <p:sp>
        <p:nvSpPr>
          <p:cNvPr id="13" name="rv_g05"/>
          <p:cNvSpPr txBox="1"/>
          <p:nvPr/>
        </p:nvSpPr>
        <p:spPr>
          <a:xfrm>
            <a:off x="457200" y="950976"/>
            <a:ext cx="11277295" cy="5126736"/>
          </a:xfrm>
          <a:prstGeom prst="rect">
            <a:avLst/>
          </a:prstGeom>
          <a:noFill/>
        </p:spPr>
        <p:txBody>
          <a:bodyPr wrap="square" lIns="228600" tIns="155448" rIns="228600" bIns="155448" anchor="t" rtlCol="0">
            <a:noAutofit/>
          </a:bodyPr>
          <a:lstStyle/>
          <a:p>
            <a:pPr algn="l">
              <a:lnSpc>
                <a:spcPts val="3160"/>
              </a:lnSpc>
              <a:spcBef>
                <a:spcPts val="0"/>
              </a:spcBef>
              <a:spcAft>
                <a:spcPts val="0"/>
              </a:spcAft>
              <a:buNone/>
            </a:pPr>
            <a:r>
              <a:rPr lang="ko-KR" altLang="en-US" sz="1950" b="1" dirty="0">
                <a:solidFill>
                  <a:srgbClr val="1E2A5A">
                    <a:alpha val="0"/>
                  </a:srgbClr>
                </a:solidFill>
                <a:latin typeface="맑은 고딕"/>
                <a:ea typeface="맑은 고딕"/>
                <a:cs typeface="맑은 고딕"/>
              </a:rPr>
              <a:t>①</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The animals or objects in Munjado are not just decorations.</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②</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They often are symbolic.</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③</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For example, carp in the paintings of hyo </a:t>
            </a:r>
            <a:r>
              <a:rPr lang="en-US" altLang="ko-KR" sz="1950" b="1" dirty="0">
                <a:solidFill>
                  <a:srgbClr val="1F2328">
                    <a:alpha val="0"/>
                  </a:srgbClr>
                </a:solidFill>
                <a:latin typeface="Calibri"/>
                <a:ea typeface="맑은 고딕"/>
                <a:cs typeface="Calibri"/>
              </a:rPr>
              <a:t>[ </a:t>
            </a:r>
            <a:r>
              <a:rPr lang="en-US" altLang="ko-KR" sz="1950" b="1" dirty="0">
                <a:solidFill>
                  <a:srgbClr val="1F2328">
                    <a:alpha val="0"/>
                  </a:srgbClr>
                </a:solidFill>
                <a:latin typeface="Calibri"/>
                <a:ea typeface="맑은 고딕"/>
                <a:cs typeface="Calibri"/>
              </a:rPr>
              <a:t>symbolizes</a:t>
            </a:r>
            <a:r>
              <a:rPr lang="en-US" altLang="ko-KR" sz="1950" b="1" dirty="0">
                <a:solidFill>
                  <a:srgbClr val="1F2328">
                    <a:alpha val="0"/>
                  </a:srgbClr>
                </a:solidFill>
                <a:latin typeface="Calibri"/>
                <a:ea typeface="맑은 고딕"/>
                <a:cs typeface="Calibri"/>
              </a:rPr>
              <a:t> / </a:t>
            </a:r>
            <a:r>
              <a:rPr lang="en-US" altLang="ko-KR" sz="1950" b="1" dirty="0">
                <a:solidFill>
                  <a:srgbClr val="1F2328">
                    <a:alpha val="0"/>
                  </a:srgbClr>
                </a:solidFill>
                <a:latin typeface="Calibri"/>
                <a:ea typeface="맑은 고딕"/>
                <a:cs typeface="Calibri"/>
              </a:rPr>
              <a:t>symbolize</a:t>
            </a:r>
            <a:r>
              <a:rPr lang="en-US" altLang="ko-KR" sz="1950" b="1"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 respect for parents </a:t>
            </a:r>
            <a:r>
              <a:rPr lang="en-US" altLang="ko-KR" sz="1950" b="1" dirty="0">
                <a:solidFill>
                  <a:srgbClr val="1F2328">
                    <a:alpha val="0"/>
                  </a:srgbClr>
                </a:solidFill>
                <a:latin typeface="Calibri"/>
                <a:ea typeface="맑은 고딕"/>
                <a:cs typeface="Calibri"/>
              </a:rPr>
              <a:t>[ </a:t>
            </a:r>
            <a:r>
              <a:rPr lang="en-US" altLang="ko-KR" sz="1950" b="1" dirty="0">
                <a:solidFill>
                  <a:srgbClr val="1F2328">
                    <a:alpha val="0"/>
                  </a:srgbClr>
                </a:solidFill>
                <a:latin typeface="Calibri"/>
                <a:ea typeface="맑은 고딕"/>
                <a:cs typeface="Calibri"/>
              </a:rPr>
              <a:t>because of</a:t>
            </a:r>
            <a:r>
              <a:rPr lang="en-US" altLang="ko-KR" sz="1950" b="1" dirty="0">
                <a:solidFill>
                  <a:srgbClr val="1F2328">
                    <a:alpha val="0"/>
                  </a:srgbClr>
                </a:solidFill>
                <a:latin typeface="Calibri"/>
                <a:ea typeface="맑은 고딕"/>
                <a:cs typeface="Calibri"/>
              </a:rPr>
              <a:t> / </a:t>
            </a:r>
            <a:r>
              <a:rPr lang="en-US" altLang="ko-KR" sz="1950" b="1" dirty="0">
                <a:solidFill>
                  <a:srgbClr val="1F2328">
                    <a:alpha val="0"/>
                  </a:srgbClr>
                </a:solidFill>
                <a:latin typeface="Calibri"/>
                <a:ea typeface="맑은 고딕"/>
                <a:cs typeface="Calibri"/>
              </a:rPr>
              <a:t>because</a:t>
            </a:r>
            <a:r>
              <a:rPr lang="en-US" altLang="ko-KR" sz="1950" b="1"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 an old story.</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④</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The story goes as follows.</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⑤</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Once upon a time, a man lived with his old mother.</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⑥</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One winter, the man’s mother became ill and couldn’t eat anything.</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⑦</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On one very cold day, the mother said to the man, “It would be wonderful if I </a:t>
            </a:r>
            <a:r>
              <a:rPr lang="en-US" altLang="ko-KR" sz="1950" b="1" dirty="0">
                <a:solidFill>
                  <a:srgbClr val="1F2328">
                    <a:alpha val="0"/>
                  </a:srgbClr>
                </a:solidFill>
                <a:latin typeface="Calibri"/>
                <a:ea typeface="맑은 고딕"/>
                <a:cs typeface="Calibri"/>
              </a:rPr>
              <a:t>[ </a:t>
            </a:r>
            <a:r>
              <a:rPr lang="en-US" altLang="ko-KR" sz="1950" b="1" dirty="0">
                <a:solidFill>
                  <a:srgbClr val="1F2328">
                    <a:alpha val="0"/>
                  </a:srgbClr>
                </a:solidFill>
                <a:latin typeface="Calibri"/>
                <a:ea typeface="맑은 고딕"/>
                <a:cs typeface="Calibri"/>
              </a:rPr>
              <a:t>can</a:t>
            </a:r>
            <a:r>
              <a:rPr lang="en-US" altLang="ko-KR" sz="1950" b="1" dirty="0">
                <a:solidFill>
                  <a:srgbClr val="1F2328">
                    <a:alpha val="0"/>
                  </a:srgbClr>
                </a:solidFill>
                <a:latin typeface="Calibri"/>
                <a:ea typeface="맑은 고딕"/>
                <a:cs typeface="Calibri"/>
              </a:rPr>
              <a:t> / </a:t>
            </a:r>
            <a:r>
              <a:rPr lang="en-US" altLang="ko-KR" sz="1950" b="1" dirty="0">
                <a:solidFill>
                  <a:srgbClr val="1F2328">
                    <a:alpha val="0"/>
                  </a:srgbClr>
                </a:solidFill>
                <a:latin typeface="Calibri"/>
                <a:ea typeface="맑은 고딕"/>
                <a:cs typeface="Calibri"/>
              </a:rPr>
              <a:t>could</a:t>
            </a:r>
            <a:r>
              <a:rPr lang="en-US" altLang="ko-KR" sz="1950" b="1"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 eat fresh fish.”</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⑧</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The man went out to the river, but it was completely frozen.</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⑨</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It was impossible for him </a:t>
            </a:r>
            <a:r>
              <a:rPr lang="en-US" altLang="ko-KR" sz="1950" b="1" dirty="0">
                <a:solidFill>
                  <a:srgbClr val="1F2328">
                    <a:alpha val="0"/>
                  </a:srgbClr>
                </a:solidFill>
                <a:latin typeface="Calibri"/>
                <a:ea typeface="맑은 고딕"/>
                <a:cs typeface="Calibri"/>
              </a:rPr>
              <a:t>[ </a:t>
            </a:r>
            <a:r>
              <a:rPr lang="en-US" altLang="ko-KR" sz="1950" b="1" dirty="0">
                <a:solidFill>
                  <a:srgbClr val="1F2328">
                    <a:alpha val="0"/>
                  </a:srgbClr>
                </a:solidFill>
                <a:latin typeface="Calibri"/>
                <a:ea typeface="맑은 고딕"/>
                <a:cs typeface="Calibri"/>
              </a:rPr>
              <a:t>to catch</a:t>
            </a:r>
            <a:r>
              <a:rPr lang="en-US" altLang="ko-KR" sz="1950" b="1" dirty="0">
                <a:solidFill>
                  <a:srgbClr val="1F2328">
                    <a:alpha val="0"/>
                  </a:srgbClr>
                </a:solidFill>
                <a:latin typeface="Calibri"/>
                <a:ea typeface="맑은 고딕"/>
                <a:cs typeface="Calibri"/>
              </a:rPr>
              <a:t> / </a:t>
            </a:r>
            <a:r>
              <a:rPr lang="en-US" altLang="ko-KR" sz="1950" b="1" dirty="0">
                <a:solidFill>
                  <a:srgbClr val="1F2328">
                    <a:alpha val="0"/>
                  </a:srgbClr>
                </a:solidFill>
                <a:latin typeface="Calibri"/>
                <a:ea typeface="맑은 고딕"/>
                <a:cs typeface="Calibri"/>
              </a:rPr>
              <a:t>catching</a:t>
            </a:r>
            <a:r>
              <a:rPr lang="en-US" altLang="ko-KR" sz="1950" b="1"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 any fish.</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⑩</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The man was so </a:t>
            </a:r>
            <a:r>
              <a:rPr lang="en-US" altLang="ko-KR" sz="1950" b="1" dirty="0">
                <a:solidFill>
                  <a:srgbClr val="1F2328">
                    <a:alpha val="0"/>
                  </a:srgbClr>
                </a:solidFill>
                <a:latin typeface="Calibri"/>
                <a:ea typeface="맑은 고딕"/>
                <a:cs typeface="Calibri"/>
              </a:rPr>
              <a:t>[ </a:t>
            </a:r>
            <a:r>
              <a:rPr lang="en-US" altLang="ko-KR" sz="1950" b="1" dirty="0">
                <a:solidFill>
                  <a:srgbClr val="C00000"/>
                </a:solidFill>
                <a:highlight>
                  <a:srgbClr val="F3F5F9"/>
                </a:highlight>
                <a:latin typeface="Calibri"/>
                <a:ea typeface="맑은 고딕"/>
                <a:cs typeface="Calibri"/>
              </a:rPr>
              <a:t>disappointed</a:t>
            </a:r>
            <a:r>
              <a:rPr lang="en-US" altLang="ko-KR" sz="1950" b="1" dirty="0">
                <a:solidFill>
                  <a:srgbClr val="1F2328">
                    <a:alpha val="0"/>
                  </a:srgbClr>
                </a:solidFill>
                <a:latin typeface="Calibri"/>
                <a:ea typeface="맑은 고딕"/>
                <a:cs typeface="Calibri"/>
              </a:rPr>
              <a:t> / </a:t>
            </a:r>
            <a:r>
              <a:rPr lang="en-US" altLang="ko-KR" sz="1950" b="1" dirty="0">
                <a:solidFill>
                  <a:srgbClr val="1F2328">
                    <a:alpha val="0"/>
                  </a:srgbClr>
                </a:solidFill>
                <a:latin typeface="Calibri"/>
                <a:ea typeface="맑은 고딕"/>
                <a:cs typeface="Calibri"/>
              </a:rPr>
              <a:t>disappointing</a:t>
            </a:r>
            <a:r>
              <a:rPr lang="en-US" altLang="ko-KR" sz="1950" b="1"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 that he cried out to the sky, “What should I do? Please help me.”</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⑪</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Then the ice melted, and three carp suddenly came out of the water.</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⑫</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The man went back home and cooked the fish for his mother.</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⑬</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Then his mother got well.</a:t>
            </a:r>
            <a:endParaRPr lang="en-US" altLang="ko-KR" sz="1950" b="0" dirty="0">
              <a:solidFill>
                <a:srgbClr val="1F2328"/>
              </a:solidFill>
              <a:latin typeface="Calibri"/>
              <a:ea typeface="맑은 고딕"/>
              <a:cs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25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25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25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250"/>
                                        <p:tgtEl>
                                          <p:spTgt spid="12"/>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2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Lst>
  </p:timing>
</p:sld>
</file>

<file path=ppt/slides/slide26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L8-2</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3 · ②</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다음 글의 각 [  ] 안에서 문맥상 알맞은 것을 고르시오.</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8</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클릭할 때마다 괄호 속 정답이 앞에서부터 하나씩 빨간색으로 나타납니다 (총 4개)</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4725416"/>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4725416"/>
          </a:xfrm>
          <a:prstGeom prst="rect">
            <a:avLst/>
          </a:prstGeom>
          <a:noFill/>
        </p:spPr>
        <p:txBody>
          <a:bodyPr wrap="square" lIns="228600" tIns="155448" rIns="228600" bIns="155448" anchor="t" rtlCol="0">
            <a:noAutofit/>
          </a:bodyPr>
          <a:lstStyle/>
          <a:p>
            <a:pPr algn="l">
              <a:lnSpc>
                <a:spcPts val="3160"/>
              </a:lnSpc>
              <a:spcBef>
                <a:spcPts val="0"/>
              </a:spcBef>
              <a:spcAft>
                <a:spcPts val="0"/>
              </a:spcAft>
              <a:buNone/>
            </a:pPr>
            <a:r>
              <a:rPr lang="ko-KR" altLang="en-US" sz="1950" b="1" dirty="0">
                <a:solidFill>
                  <a:srgbClr val="1E2A5A"/>
                </a:solidFill>
                <a:latin typeface="맑은 고딕"/>
                <a:ea typeface="맑은 고딕"/>
                <a:cs typeface="맑은 고딕"/>
              </a:rPr>
              <a:t>①</a:t>
            </a:r>
            <a:r>
              <a:rPr lang="en-US" altLang="ko-KR" sz="1950" b="0" dirty="0">
                <a:solidFill>
                  <a:srgbClr val="1F2328"/>
                </a:solidFill>
                <a:latin typeface="Calibri"/>
                <a:ea typeface="맑은 고딕"/>
                <a:cs typeface="Calibri"/>
              </a:rPr>
              <a:t> </a:t>
            </a:r>
            <a:r>
              <a:rPr lang="en-US" altLang="ko-KR" sz="1950" b="0" dirty="0">
                <a:solidFill>
                  <a:srgbClr val="1F2328"/>
                </a:solidFill>
                <a:latin typeface="Calibri"/>
                <a:ea typeface="맑은 고딕"/>
                <a:cs typeface="Calibri"/>
              </a:rPr>
              <a:t>The animals or objects in Munjado </a:t>
            </a:r>
            <a:r>
              <a:rPr lang="en-US" altLang="ko-KR" sz="1950" b="1" dirty="0">
                <a:solidFill>
                  <a:srgbClr val="1F2328"/>
                </a:solidFill>
                <a:latin typeface="Calibri"/>
                <a:ea typeface="맑은 고딕"/>
                <a:cs typeface="Calibri"/>
              </a:rPr>
              <a:t>[ </a:t>
            </a:r>
            <a:r>
              <a:rPr lang="en-US" altLang="ko-KR" sz="1950" b="1" dirty="0">
                <a:solidFill>
                  <a:srgbClr val="1F2328"/>
                </a:solidFill>
                <a:latin typeface="Calibri"/>
                <a:ea typeface="맑은 고딕"/>
                <a:cs typeface="Calibri"/>
              </a:rPr>
              <a:t>are not</a:t>
            </a:r>
            <a:r>
              <a:rPr lang="en-US" altLang="ko-KR" sz="1950" b="1" dirty="0">
                <a:solidFill>
                  <a:srgbClr val="1F2328"/>
                </a:solidFill>
                <a:latin typeface="Calibri"/>
                <a:ea typeface="맑은 고딕"/>
                <a:cs typeface="Calibri"/>
              </a:rPr>
              <a:t> / </a:t>
            </a:r>
            <a:r>
              <a:rPr lang="en-US" altLang="ko-KR" sz="1950" b="1" dirty="0">
                <a:solidFill>
                  <a:srgbClr val="1F2328"/>
                </a:solidFill>
                <a:latin typeface="Calibri"/>
                <a:ea typeface="맑은 고딕"/>
                <a:cs typeface="Calibri"/>
              </a:rPr>
              <a:t>is not</a:t>
            </a:r>
            <a:r>
              <a:rPr lang="en-US" altLang="ko-KR" sz="1950" b="1" dirty="0">
                <a:solidFill>
                  <a:srgbClr val="1F2328"/>
                </a:solidFill>
                <a:latin typeface="Calibri"/>
                <a:ea typeface="맑은 고딕"/>
                <a:cs typeface="Calibri"/>
              </a:rPr>
              <a:t> ]</a:t>
            </a:r>
            <a:r>
              <a:rPr lang="en-US" altLang="ko-KR" sz="1950" b="0" dirty="0">
                <a:solidFill>
                  <a:srgbClr val="1F2328"/>
                </a:solidFill>
                <a:latin typeface="Calibri"/>
                <a:ea typeface="맑은 고딕"/>
                <a:cs typeface="Calibri"/>
              </a:rPr>
              <a:t> just decorations.</a:t>
            </a:r>
            <a:r>
              <a:rPr lang="en-US" altLang="ko-KR" sz="1950" b="0" dirty="0">
                <a:solidFill>
                  <a:srgbClr val="1F2328"/>
                </a:solidFill>
                <a:latin typeface="Calibri"/>
                <a:ea typeface="맑은 고딕"/>
                <a:cs typeface="Calibri"/>
              </a:rPr>
              <a:t>   </a:t>
            </a:r>
            <a:r>
              <a:rPr lang="ko-KR" altLang="en-US" sz="1950" b="1" dirty="0">
                <a:solidFill>
                  <a:srgbClr val="1E2A5A"/>
                </a:solidFill>
                <a:latin typeface="맑은 고딕"/>
                <a:ea typeface="맑은 고딕"/>
                <a:cs typeface="맑은 고딕"/>
              </a:rPr>
              <a:t>②</a:t>
            </a:r>
            <a:r>
              <a:rPr lang="en-US" altLang="ko-KR" sz="1950" b="0" dirty="0">
                <a:solidFill>
                  <a:srgbClr val="1F2328"/>
                </a:solidFill>
                <a:latin typeface="Calibri"/>
                <a:ea typeface="맑은 고딕"/>
                <a:cs typeface="Calibri"/>
              </a:rPr>
              <a:t> </a:t>
            </a:r>
            <a:r>
              <a:rPr lang="en-US" altLang="ko-KR" sz="1950" b="0" dirty="0">
                <a:solidFill>
                  <a:srgbClr val="1F2328"/>
                </a:solidFill>
                <a:latin typeface="Calibri"/>
                <a:ea typeface="맑은 고딕"/>
                <a:cs typeface="Calibri"/>
              </a:rPr>
              <a:t>They often are symbolic.</a:t>
            </a:r>
            <a:r>
              <a:rPr lang="en-US" altLang="ko-KR" sz="1950" b="0" dirty="0">
                <a:solidFill>
                  <a:srgbClr val="1F2328"/>
                </a:solidFill>
                <a:latin typeface="Calibri"/>
                <a:ea typeface="맑은 고딕"/>
                <a:cs typeface="Calibri"/>
              </a:rPr>
              <a:t>   </a:t>
            </a:r>
            <a:r>
              <a:rPr lang="ko-KR" altLang="en-US" sz="1950" b="1" dirty="0">
                <a:solidFill>
                  <a:srgbClr val="1E2A5A"/>
                </a:solidFill>
                <a:latin typeface="맑은 고딕"/>
                <a:ea typeface="맑은 고딕"/>
                <a:cs typeface="맑은 고딕"/>
              </a:rPr>
              <a:t>③</a:t>
            </a:r>
            <a:r>
              <a:rPr lang="en-US" altLang="ko-KR" sz="1950" b="0" dirty="0">
                <a:solidFill>
                  <a:srgbClr val="1F2328"/>
                </a:solidFill>
                <a:latin typeface="Calibri"/>
                <a:ea typeface="맑은 고딕"/>
                <a:cs typeface="Calibri"/>
              </a:rPr>
              <a:t> </a:t>
            </a:r>
            <a:r>
              <a:rPr lang="en-US" altLang="ko-KR" sz="1950" b="0" dirty="0">
                <a:solidFill>
                  <a:srgbClr val="1F2328"/>
                </a:solidFill>
                <a:latin typeface="Calibri"/>
                <a:ea typeface="맑은 고딕"/>
                <a:cs typeface="Calibri"/>
              </a:rPr>
              <a:t>For example, carp in the paintings of hyo symbolize respect for parents because of an old story.</a:t>
            </a:r>
            <a:r>
              <a:rPr lang="en-US" altLang="ko-KR" sz="1950" b="0" dirty="0">
                <a:solidFill>
                  <a:srgbClr val="1F2328"/>
                </a:solidFill>
                <a:latin typeface="Calibri"/>
                <a:ea typeface="맑은 고딕"/>
                <a:cs typeface="Calibri"/>
              </a:rPr>
              <a:t>   </a:t>
            </a:r>
            <a:r>
              <a:rPr lang="ko-KR" altLang="en-US" sz="1950" b="1" dirty="0">
                <a:solidFill>
                  <a:srgbClr val="1E2A5A"/>
                </a:solidFill>
                <a:latin typeface="맑은 고딕"/>
                <a:ea typeface="맑은 고딕"/>
                <a:cs typeface="맑은 고딕"/>
              </a:rPr>
              <a:t>④</a:t>
            </a:r>
            <a:r>
              <a:rPr lang="en-US" altLang="ko-KR" sz="1950" b="0" dirty="0">
                <a:solidFill>
                  <a:srgbClr val="1F2328"/>
                </a:solidFill>
                <a:latin typeface="Calibri"/>
                <a:ea typeface="맑은 고딕"/>
                <a:cs typeface="Calibri"/>
              </a:rPr>
              <a:t> </a:t>
            </a:r>
            <a:r>
              <a:rPr lang="en-US" altLang="ko-KR" sz="1950" b="0" dirty="0">
                <a:solidFill>
                  <a:srgbClr val="1F2328"/>
                </a:solidFill>
                <a:latin typeface="Calibri"/>
                <a:ea typeface="맑은 고딕"/>
                <a:cs typeface="Calibri"/>
              </a:rPr>
              <a:t>The story goes as follows.</a:t>
            </a:r>
            <a:r>
              <a:rPr lang="en-US" altLang="ko-KR" sz="1950" b="0" dirty="0">
                <a:solidFill>
                  <a:srgbClr val="1F2328"/>
                </a:solidFill>
                <a:latin typeface="Calibri"/>
                <a:ea typeface="맑은 고딕"/>
                <a:cs typeface="Calibri"/>
              </a:rPr>
              <a:t>   </a:t>
            </a:r>
            <a:r>
              <a:rPr lang="ko-KR" altLang="en-US" sz="1950" b="1" dirty="0">
                <a:solidFill>
                  <a:srgbClr val="1E2A5A"/>
                </a:solidFill>
                <a:latin typeface="맑은 고딕"/>
                <a:ea typeface="맑은 고딕"/>
                <a:cs typeface="맑은 고딕"/>
              </a:rPr>
              <a:t>⑤</a:t>
            </a:r>
            <a:r>
              <a:rPr lang="en-US" altLang="ko-KR" sz="1950" b="0" dirty="0">
                <a:solidFill>
                  <a:srgbClr val="1F2328"/>
                </a:solidFill>
                <a:latin typeface="Calibri"/>
                <a:ea typeface="맑은 고딕"/>
                <a:cs typeface="Calibri"/>
              </a:rPr>
              <a:t> </a:t>
            </a:r>
            <a:r>
              <a:rPr lang="en-US" altLang="ko-KR" sz="1950" b="0" dirty="0">
                <a:solidFill>
                  <a:srgbClr val="1F2328"/>
                </a:solidFill>
                <a:latin typeface="Calibri"/>
                <a:ea typeface="맑은 고딕"/>
                <a:cs typeface="Calibri"/>
              </a:rPr>
              <a:t>Once upon a time, a man lived with his old mother.</a:t>
            </a:r>
            <a:r>
              <a:rPr lang="en-US" altLang="ko-KR" sz="1950" b="0" dirty="0">
                <a:solidFill>
                  <a:srgbClr val="1F2328"/>
                </a:solidFill>
                <a:latin typeface="Calibri"/>
                <a:ea typeface="맑은 고딕"/>
                <a:cs typeface="Calibri"/>
              </a:rPr>
              <a:t>   </a:t>
            </a:r>
            <a:r>
              <a:rPr lang="ko-KR" altLang="en-US" sz="1950" b="1" dirty="0">
                <a:solidFill>
                  <a:srgbClr val="1E2A5A"/>
                </a:solidFill>
                <a:latin typeface="맑은 고딕"/>
                <a:ea typeface="맑은 고딕"/>
                <a:cs typeface="맑은 고딕"/>
              </a:rPr>
              <a:t>⑥</a:t>
            </a:r>
            <a:r>
              <a:rPr lang="en-US" altLang="ko-KR" sz="1950" b="0" dirty="0">
                <a:solidFill>
                  <a:srgbClr val="1F2328"/>
                </a:solidFill>
                <a:latin typeface="Calibri"/>
                <a:ea typeface="맑은 고딕"/>
                <a:cs typeface="Calibri"/>
              </a:rPr>
              <a:t> </a:t>
            </a:r>
            <a:r>
              <a:rPr lang="en-US" altLang="ko-KR" sz="1950" b="0" dirty="0">
                <a:solidFill>
                  <a:srgbClr val="1F2328"/>
                </a:solidFill>
                <a:latin typeface="Calibri"/>
                <a:ea typeface="맑은 고딕"/>
                <a:cs typeface="Calibri"/>
              </a:rPr>
              <a:t>One winter, the man’s mother became ill and couldn’t eat anything.</a:t>
            </a:r>
            <a:r>
              <a:rPr lang="en-US" altLang="ko-KR" sz="1950" b="0" dirty="0">
                <a:solidFill>
                  <a:srgbClr val="1F2328"/>
                </a:solidFill>
                <a:latin typeface="Calibri"/>
                <a:ea typeface="맑은 고딕"/>
                <a:cs typeface="Calibri"/>
              </a:rPr>
              <a:t>   </a:t>
            </a:r>
            <a:r>
              <a:rPr lang="ko-KR" altLang="en-US" sz="1950" b="1" dirty="0">
                <a:solidFill>
                  <a:srgbClr val="1E2A5A"/>
                </a:solidFill>
                <a:latin typeface="맑은 고딕"/>
                <a:ea typeface="맑은 고딕"/>
                <a:cs typeface="맑은 고딕"/>
              </a:rPr>
              <a:t>⑦</a:t>
            </a:r>
            <a:r>
              <a:rPr lang="en-US" altLang="ko-KR" sz="1950" b="0" dirty="0">
                <a:solidFill>
                  <a:srgbClr val="1F2328"/>
                </a:solidFill>
                <a:latin typeface="Calibri"/>
                <a:ea typeface="맑은 고딕"/>
                <a:cs typeface="Calibri"/>
              </a:rPr>
              <a:t> </a:t>
            </a:r>
            <a:r>
              <a:rPr lang="en-US" altLang="ko-KR" sz="1950" b="0" dirty="0">
                <a:solidFill>
                  <a:srgbClr val="1F2328"/>
                </a:solidFill>
                <a:latin typeface="Calibri"/>
                <a:ea typeface="맑은 고딕"/>
                <a:cs typeface="Calibri"/>
              </a:rPr>
              <a:t>On one very cold day, the mother said to the man, “It would be wonderful if I could eat fresh fish.”</a:t>
            </a:r>
            <a:r>
              <a:rPr lang="en-US" altLang="ko-KR" sz="1950" b="0" dirty="0">
                <a:solidFill>
                  <a:srgbClr val="1F2328"/>
                </a:solidFill>
                <a:latin typeface="Calibri"/>
                <a:ea typeface="맑은 고딕"/>
                <a:cs typeface="Calibri"/>
              </a:rPr>
              <a:t>   </a:t>
            </a:r>
            <a:r>
              <a:rPr lang="ko-KR" altLang="en-US" sz="1950" b="1" dirty="0">
                <a:solidFill>
                  <a:srgbClr val="1E2A5A"/>
                </a:solidFill>
                <a:latin typeface="맑은 고딕"/>
                <a:ea typeface="맑은 고딕"/>
                <a:cs typeface="맑은 고딕"/>
              </a:rPr>
              <a:t>⑧</a:t>
            </a:r>
            <a:r>
              <a:rPr lang="en-US" altLang="ko-KR" sz="1950" b="0" dirty="0">
                <a:solidFill>
                  <a:srgbClr val="1F2328"/>
                </a:solidFill>
                <a:latin typeface="Calibri"/>
                <a:ea typeface="맑은 고딕"/>
                <a:cs typeface="Calibri"/>
              </a:rPr>
              <a:t> </a:t>
            </a:r>
            <a:r>
              <a:rPr lang="en-US" altLang="ko-KR" sz="1950" b="0" dirty="0">
                <a:solidFill>
                  <a:srgbClr val="1F2328"/>
                </a:solidFill>
                <a:latin typeface="Calibri"/>
                <a:ea typeface="맑은 고딕"/>
                <a:cs typeface="Calibri"/>
              </a:rPr>
              <a:t>The man went out to the river, but it was completely </a:t>
            </a:r>
            <a:r>
              <a:rPr lang="en-US" altLang="ko-KR" sz="1950" b="1" dirty="0">
                <a:solidFill>
                  <a:srgbClr val="1F2328"/>
                </a:solidFill>
                <a:latin typeface="Calibri"/>
                <a:ea typeface="맑은 고딕"/>
                <a:cs typeface="Calibri"/>
              </a:rPr>
              <a:t>[ </a:t>
            </a:r>
            <a:r>
              <a:rPr lang="en-US" altLang="ko-KR" sz="1950" b="1" dirty="0">
                <a:solidFill>
                  <a:srgbClr val="1F2328"/>
                </a:solidFill>
                <a:latin typeface="Calibri"/>
                <a:ea typeface="맑은 고딕"/>
                <a:cs typeface="Calibri"/>
              </a:rPr>
              <a:t>frozen</a:t>
            </a:r>
            <a:r>
              <a:rPr lang="en-US" altLang="ko-KR" sz="1950" b="1" dirty="0">
                <a:solidFill>
                  <a:srgbClr val="1F2328"/>
                </a:solidFill>
                <a:latin typeface="Calibri"/>
                <a:ea typeface="맑은 고딕"/>
                <a:cs typeface="Calibri"/>
              </a:rPr>
              <a:t> / </a:t>
            </a:r>
            <a:r>
              <a:rPr lang="en-US" altLang="ko-KR" sz="1950" b="1" dirty="0">
                <a:solidFill>
                  <a:srgbClr val="1F2328"/>
                </a:solidFill>
                <a:latin typeface="Calibri"/>
                <a:ea typeface="맑은 고딕"/>
                <a:cs typeface="Calibri"/>
              </a:rPr>
              <a:t>freezing</a:t>
            </a:r>
            <a:r>
              <a:rPr lang="en-US" altLang="ko-KR" sz="1950" b="1" dirty="0">
                <a:solidFill>
                  <a:srgbClr val="1F2328"/>
                </a:solidFill>
                <a:latin typeface="Calibri"/>
                <a:ea typeface="맑은 고딕"/>
                <a:cs typeface="Calibri"/>
              </a:rPr>
              <a:t> ]</a:t>
            </a:r>
            <a:r>
              <a:rPr lang="en-US" altLang="ko-KR" sz="1950" b="0" dirty="0">
                <a:solidFill>
                  <a:srgbClr val="1F2328"/>
                </a:solidFill>
                <a:latin typeface="Calibri"/>
                <a:ea typeface="맑은 고딕"/>
                <a:cs typeface="Calibri"/>
              </a:rPr>
              <a:t>.</a:t>
            </a:r>
            <a:r>
              <a:rPr lang="en-US" altLang="ko-KR" sz="1950" b="0" dirty="0">
                <a:solidFill>
                  <a:srgbClr val="1F2328"/>
                </a:solidFill>
                <a:latin typeface="Calibri"/>
                <a:ea typeface="맑은 고딕"/>
                <a:cs typeface="Calibri"/>
              </a:rPr>
              <a:t>   </a:t>
            </a:r>
            <a:r>
              <a:rPr lang="ko-KR" altLang="en-US" sz="1950" b="1" dirty="0">
                <a:solidFill>
                  <a:srgbClr val="1E2A5A"/>
                </a:solidFill>
                <a:latin typeface="맑은 고딕"/>
                <a:ea typeface="맑은 고딕"/>
                <a:cs typeface="맑은 고딕"/>
              </a:rPr>
              <a:t>⑨</a:t>
            </a:r>
            <a:r>
              <a:rPr lang="en-US" altLang="ko-KR" sz="1950" b="0" dirty="0">
                <a:solidFill>
                  <a:srgbClr val="1F2328"/>
                </a:solidFill>
                <a:latin typeface="Calibri"/>
                <a:ea typeface="맑은 고딕"/>
                <a:cs typeface="Calibri"/>
              </a:rPr>
              <a:t> </a:t>
            </a:r>
            <a:r>
              <a:rPr lang="en-US" altLang="ko-KR" sz="1950" b="0" dirty="0">
                <a:solidFill>
                  <a:srgbClr val="1F2328"/>
                </a:solidFill>
                <a:latin typeface="Calibri"/>
                <a:ea typeface="맑은 고딕"/>
                <a:cs typeface="Calibri"/>
              </a:rPr>
              <a:t>It was impossible for him to catch any fish.</a:t>
            </a:r>
            <a:r>
              <a:rPr lang="en-US" altLang="ko-KR" sz="1950" b="0" dirty="0">
                <a:solidFill>
                  <a:srgbClr val="1F2328"/>
                </a:solidFill>
                <a:latin typeface="Calibri"/>
                <a:ea typeface="맑은 고딕"/>
                <a:cs typeface="Calibri"/>
              </a:rPr>
              <a:t>   </a:t>
            </a:r>
            <a:r>
              <a:rPr lang="ko-KR" altLang="en-US" sz="1950" b="1" dirty="0">
                <a:solidFill>
                  <a:srgbClr val="1E2A5A"/>
                </a:solidFill>
                <a:latin typeface="맑은 고딕"/>
                <a:ea typeface="맑은 고딕"/>
                <a:cs typeface="맑은 고딕"/>
              </a:rPr>
              <a:t>⑩</a:t>
            </a:r>
            <a:r>
              <a:rPr lang="en-US" altLang="ko-KR" sz="1950" b="0" dirty="0">
                <a:solidFill>
                  <a:srgbClr val="1F2328"/>
                </a:solidFill>
                <a:latin typeface="Calibri"/>
                <a:ea typeface="맑은 고딕"/>
                <a:cs typeface="Calibri"/>
              </a:rPr>
              <a:t> </a:t>
            </a:r>
            <a:r>
              <a:rPr lang="en-US" altLang="ko-KR" sz="1950" b="0" dirty="0">
                <a:solidFill>
                  <a:srgbClr val="1F2328"/>
                </a:solidFill>
                <a:latin typeface="Calibri"/>
                <a:ea typeface="맑은 고딕"/>
                <a:cs typeface="Calibri"/>
              </a:rPr>
              <a:t>The man was so disappointed that he cried out to the sky, “What should I do? Please help me.”</a:t>
            </a:r>
            <a:r>
              <a:rPr lang="en-US" altLang="ko-KR" sz="1950" b="0" dirty="0">
                <a:solidFill>
                  <a:srgbClr val="1F2328"/>
                </a:solidFill>
                <a:latin typeface="Calibri"/>
                <a:ea typeface="맑은 고딕"/>
                <a:cs typeface="Calibri"/>
              </a:rPr>
              <a:t>   </a:t>
            </a:r>
            <a:r>
              <a:rPr lang="ko-KR" altLang="en-US" sz="1950" b="1" dirty="0">
                <a:solidFill>
                  <a:srgbClr val="1E2A5A"/>
                </a:solidFill>
                <a:latin typeface="맑은 고딕"/>
                <a:ea typeface="맑은 고딕"/>
                <a:cs typeface="맑은 고딕"/>
              </a:rPr>
              <a:t>⑪</a:t>
            </a:r>
            <a:r>
              <a:rPr lang="en-US" altLang="ko-KR" sz="1950" b="0" dirty="0">
                <a:solidFill>
                  <a:srgbClr val="1F2328"/>
                </a:solidFill>
                <a:latin typeface="Calibri"/>
                <a:ea typeface="맑은 고딕"/>
                <a:cs typeface="Calibri"/>
              </a:rPr>
              <a:t> </a:t>
            </a:r>
            <a:r>
              <a:rPr lang="en-US" altLang="ko-KR" sz="1950" b="0" dirty="0">
                <a:solidFill>
                  <a:srgbClr val="1F2328"/>
                </a:solidFill>
                <a:latin typeface="Calibri"/>
                <a:ea typeface="맑은 고딕"/>
                <a:cs typeface="Calibri"/>
              </a:rPr>
              <a:t>Then the ice </a:t>
            </a:r>
            <a:r>
              <a:rPr lang="en-US" altLang="ko-KR" sz="1950" b="1" dirty="0">
                <a:solidFill>
                  <a:srgbClr val="1F2328"/>
                </a:solidFill>
                <a:latin typeface="Calibri"/>
                <a:ea typeface="맑은 고딕"/>
                <a:cs typeface="Calibri"/>
              </a:rPr>
              <a:t>[ </a:t>
            </a:r>
            <a:r>
              <a:rPr lang="en-US" altLang="ko-KR" sz="1950" b="1" dirty="0">
                <a:solidFill>
                  <a:srgbClr val="1F2328"/>
                </a:solidFill>
                <a:latin typeface="Calibri"/>
                <a:ea typeface="맑은 고딕"/>
                <a:cs typeface="Calibri"/>
              </a:rPr>
              <a:t>melted</a:t>
            </a:r>
            <a:r>
              <a:rPr lang="en-US" altLang="ko-KR" sz="1950" b="1" dirty="0">
                <a:solidFill>
                  <a:srgbClr val="1F2328"/>
                </a:solidFill>
                <a:latin typeface="Calibri"/>
                <a:ea typeface="맑은 고딕"/>
                <a:cs typeface="Calibri"/>
              </a:rPr>
              <a:t> / </a:t>
            </a:r>
            <a:r>
              <a:rPr lang="en-US" altLang="ko-KR" sz="1950" b="1" dirty="0">
                <a:solidFill>
                  <a:srgbClr val="1F2328"/>
                </a:solidFill>
                <a:latin typeface="Calibri"/>
                <a:ea typeface="맑은 고딕"/>
                <a:cs typeface="Calibri"/>
              </a:rPr>
              <a:t>was melted</a:t>
            </a:r>
            <a:r>
              <a:rPr lang="en-US" altLang="ko-KR" sz="1950" b="1" dirty="0">
                <a:solidFill>
                  <a:srgbClr val="1F2328"/>
                </a:solidFill>
                <a:latin typeface="Calibri"/>
                <a:ea typeface="맑은 고딕"/>
                <a:cs typeface="Calibri"/>
              </a:rPr>
              <a:t> ]</a:t>
            </a:r>
            <a:r>
              <a:rPr lang="en-US" altLang="ko-KR" sz="1950" b="0" dirty="0">
                <a:solidFill>
                  <a:srgbClr val="1F2328"/>
                </a:solidFill>
                <a:latin typeface="Calibri"/>
                <a:ea typeface="맑은 고딕"/>
                <a:cs typeface="Calibri"/>
              </a:rPr>
              <a:t>, and three carp suddenly came out of the water.</a:t>
            </a:r>
            <a:r>
              <a:rPr lang="en-US" altLang="ko-KR" sz="1950" b="0" dirty="0">
                <a:solidFill>
                  <a:srgbClr val="1F2328"/>
                </a:solidFill>
                <a:latin typeface="Calibri"/>
                <a:ea typeface="맑은 고딕"/>
                <a:cs typeface="Calibri"/>
              </a:rPr>
              <a:t>   </a:t>
            </a:r>
            <a:r>
              <a:rPr lang="ko-KR" altLang="en-US" sz="1950" b="1" dirty="0">
                <a:solidFill>
                  <a:srgbClr val="1E2A5A"/>
                </a:solidFill>
                <a:latin typeface="맑은 고딕"/>
                <a:ea typeface="맑은 고딕"/>
                <a:cs typeface="맑은 고딕"/>
              </a:rPr>
              <a:t>⑫</a:t>
            </a:r>
            <a:r>
              <a:rPr lang="en-US" altLang="ko-KR" sz="1950" b="0" dirty="0">
                <a:solidFill>
                  <a:srgbClr val="1F2328"/>
                </a:solidFill>
                <a:latin typeface="Calibri"/>
                <a:ea typeface="맑은 고딕"/>
                <a:cs typeface="Calibri"/>
              </a:rPr>
              <a:t> </a:t>
            </a:r>
            <a:r>
              <a:rPr lang="en-US" altLang="ko-KR" sz="1950" b="0" dirty="0">
                <a:solidFill>
                  <a:srgbClr val="1F2328"/>
                </a:solidFill>
                <a:latin typeface="Calibri"/>
                <a:ea typeface="맑은 고딕"/>
                <a:cs typeface="Calibri"/>
              </a:rPr>
              <a:t>The man went back home and cooked the fish </a:t>
            </a:r>
            <a:r>
              <a:rPr lang="en-US" altLang="ko-KR" sz="1950" b="1" dirty="0">
                <a:solidFill>
                  <a:srgbClr val="1F2328"/>
                </a:solidFill>
                <a:latin typeface="Calibri"/>
                <a:ea typeface="맑은 고딕"/>
                <a:cs typeface="Calibri"/>
              </a:rPr>
              <a:t>[ </a:t>
            </a:r>
            <a:r>
              <a:rPr lang="en-US" altLang="ko-KR" sz="1950" b="1" dirty="0">
                <a:solidFill>
                  <a:srgbClr val="1F2328"/>
                </a:solidFill>
                <a:latin typeface="Calibri"/>
                <a:ea typeface="맑은 고딕"/>
                <a:cs typeface="Calibri"/>
              </a:rPr>
              <a:t>for his mother</a:t>
            </a:r>
            <a:r>
              <a:rPr lang="en-US" altLang="ko-KR" sz="1950" b="1" dirty="0">
                <a:solidFill>
                  <a:srgbClr val="1F2328"/>
                </a:solidFill>
                <a:latin typeface="Calibri"/>
                <a:ea typeface="맑은 고딕"/>
                <a:cs typeface="Calibri"/>
              </a:rPr>
              <a:t> / </a:t>
            </a:r>
            <a:r>
              <a:rPr lang="en-US" altLang="ko-KR" sz="1950" b="1" dirty="0">
                <a:solidFill>
                  <a:srgbClr val="1F2328"/>
                </a:solidFill>
                <a:latin typeface="Calibri"/>
                <a:ea typeface="맑은 고딕"/>
                <a:cs typeface="Calibri"/>
              </a:rPr>
              <a:t>to his mother</a:t>
            </a:r>
            <a:r>
              <a:rPr lang="en-US" altLang="ko-KR" sz="1950" b="1" dirty="0">
                <a:solidFill>
                  <a:srgbClr val="1F2328"/>
                </a:solidFill>
                <a:latin typeface="Calibri"/>
                <a:ea typeface="맑은 고딕"/>
                <a:cs typeface="Calibri"/>
              </a:rPr>
              <a:t> ]</a:t>
            </a:r>
            <a:r>
              <a:rPr lang="en-US" altLang="ko-KR" sz="1950" b="0" dirty="0">
                <a:solidFill>
                  <a:srgbClr val="1F2328"/>
                </a:solidFill>
                <a:latin typeface="Calibri"/>
                <a:ea typeface="맑은 고딕"/>
                <a:cs typeface="Calibri"/>
              </a:rPr>
              <a:t>.</a:t>
            </a:r>
            <a:r>
              <a:rPr lang="en-US" altLang="ko-KR" sz="1950" b="0" dirty="0">
                <a:solidFill>
                  <a:srgbClr val="1F2328"/>
                </a:solidFill>
                <a:latin typeface="Calibri"/>
                <a:ea typeface="맑은 고딕"/>
                <a:cs typeface="Calibri"/>
              </a:rPr>
              <a:t>   </a:t>
            </a:r>
            <a:r>
              <a:rPr lang="ko-KR" altLang="en-US" sz="1950" b="1" dirty="0">
                <a:solidFill>
                  <a:srgbClr val="1E2A5A"/>
                </a:solidFill>
                <a:latin typeface="맑은 고딕"/>
                <a:ea typeface="맑은 고딕"/>
                <a:cs typeface="맑은 고딕"/>
              </a:rPr>
              <a:t>⑬</a:t>
            </a:r>
            <a:r>
              <a:rPr lang="en-US" altLang="ko-KR" sz="1950" b="0" dirty="0">
                <a:solidFill>
                  <a:srgbClr val="1F2328"/>
                </a:solidFill>
                <a:latin typeface="Calibri"/>
                <a:ea typeface="맑은 고딕"/>
                <a:cs typeface="Calibri"/>
              </a:rPr>
              <a:t> </a:t>
            </a:r>
            <a:r>
              <a:rPr lang="en-US" altLang="ko-KR" sz="1950" b="0" dirty="0">
                <a:solidFill>
                  <a:srgbClr val="1F2328"/>
                </a:solidFill>
                <a:latin typeface="Calibri"/>
                <a:ea typeface="맑은 고딕"/>
                <a:cs typeface="Calibri"/>
              </a:rPr>
              <a:t>Then his mother got well.</a:t>
            </a:r>
            <a:endParaRPr lang="en-US" altLang="ko-KR" sz="1950" b="0" dirty="0">
              <a:solidFill>
                <a:srgbClr val="1F2328"/>
              </a:solidFill>
              <a:latin typeface="Calibri"/>
              <a:ea typeface="맑은 고딕"/>
              <a:cs typeface="Calibri"/>
            </a:endParaRPr>
          </a:p>
        </p:txBody>
      </p:sp>
      <p:sp>
        <p:nvSpPr>
          <p:cNvPr id="9" name="rv_g01"/>
          <p:cNvSpPr txBox="1"/>
          <p:nvPr/>
        </p:nvSpPr>
        <p:spPr>
          <a:xfrm>
            <a:off x="457200" y="950976"/>
            <a:ext cx="11277295" cy="4725416"/>
          </a:xfrm>
          <a:prstGeom prst="rect">
            <a:avLst/>
          </a:prstGeom>
          <a:noFill/>
        </p:spPr>
        <p:txBody>
          <a:bodyPr wrap="square" lIns="228600" tIns="155448" rIns="228600" bIns="155448" anchor="t" rtlCol="0">
            <a:noAutofit/>
          </a:bodyPr>
          <a:lstStyle/>
          <a:p>
            <a:pPr algn="l">
              <a:lnSpc>
                <a:spcPts val="3160"/>
              </a:lnSpc>
              <a:spcBef>
                <a:spcPts val="0"/>
              </a:spcBef>
              <a:spcAft>
                <a:spcPts val="0"/>
              </a:spcAft>
              <a:buNone/>
            </a:pPr>
            <a:r>
              <a:rPr lang="ko-KR" altLang="en-US" sz="1950" b="1" dirty="0">
                <a:solidFill>
                  <a:srgbClr val="1E2A5A">
                    <a:alpha val="0"/>
                  </a:srgbClr>
                </a:solidFill>
                <a:latin typeface="맑은 고딕"/>
                <a:ea typeface="맑은 고딕"/>
                <a:cs typeface="맑은 고딕"/>
              </a:rPr>
              <a:t>①</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The animals or objects in Munjado </a:t>
            </a:r>
            <a:r>
              <a:rPr lang="en-US" altLang="ko-KR" sz="1950" b="1" dirty="0">
                <a:solidFill>
                  <a:srgbClr val="1F2328">
                    <a:alpha val="0"/>
                  </a:srgbClr>
                </a:solidFill>
                <a:latin typeface="Calibri"/>
                <a:ea typeface="맑은 고딕"/>
                <a:cs typeface="Calibri"/>
              </a:rPr>
              <a:t>[ </a:t>
            </a:r>
            <a:r>
              <a:rPr lang="en-US" altLang="ko-KR" sz="1950" b="1" dirty="0">
                <a:solidFill>
                  <a:srgbClr val="C00000"/>
                </a:solidFill>
                <a:highlight>
                  <a:srgbClr val="F3F5F9"/>
                </a:highlight>
                <a:latin typeface="Calibri"/>
                <a:ea typeface="맑은 고딕"/>
                <a:cs typeface="Calibri"/>
              </a:rPr>
              <a:t>are not</a:t>
            </a:r>
            <a:r>
              <a:rPr lang="en-US" altLang="ko-KR" sz="1950" b="1" dirty="0">
                <a:solidFill>
                  <a:srgbClr val="1F2328">
                    <a:alpha val="0"/>
                  </a:srgbClr>
                </a:solidFill>
                <a:latin typeface="Calibri"/>
                <a:ea typeface="맑은 고딕"/>
                <a:cs typeface="Calibri"/>
              </a:rPr>
              <a:t> / </a:t>
            </a:r>
            <a:r>
              <a:rPr lang="en-US" altLang="ko-KR" sz="1950" b="1" dirty="0">
                <a:solidFill>
                  <a:srgbClr val="1F2328">
                    <a:alpha val="0"/>
                  </a:srgbClr>
                </a:solidFill>
                <a:latin typeface="Calibri"/>
                <a:ea typeface="맑은 고딕"/>
                <a:cs typeface="Calibri"/>
              </a:rPr>
              <a:t>is not</a:t>
            </a:r>
            <a:r>
              <a:rPr lang="en-US" altLang="ko-KR" sz="1950" b="1"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 just decorations.</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②</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They often are symbolic.</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③</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For example, carp in the paintings of hyo symbolize respect for parents because of an old story.</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④</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The story goes as follows.</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⑤</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Once upon a time, a man lived with his old mother.</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⑥</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One winter, the man’s mother became ill and couldn’t eat anything.</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⑦</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On one very cold day, the mother said to the man, “It would be wonderful if I could eat fresh fish.”</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⑧</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The man went out to the river, but it was completely </a:t>
            </a:r>
            <a:r>
              <a:rPr lang="en-US" altLang="ko-KR" sz="1950" b="1" dirty="0">
                <a:solidFill>
                  <a:srgbClr val="1F2328">
                    <a:alpha val="0"/>
                  </a:srgbClr>
                </a:solidFill>
                <a:latin typeface="Calibri"/>
                <a:ea typeface="맑은 고딕"/>
                <a:cs typeface="Calibri"/>
              </a:rPr>
              <a:t>[ </a:t>
            </a:r>
            <a:r>
              <a:rPr lang="en-US" altLang="ko-KR" sz="1950" b="1" dirty="0">
                <a:solidFill>
                  <a:srgbClr val="1F2328">
                    <a:alpha val="0"/>
                  </a:srgbClr>
                </a:solidFill>
                <a:latin typeface="Calibri"/>
                <a:ea typeface="맑은 고딕"/>
                <a:cs typeface="Calibri"/>
              </a:rPr>
              <a:t>frozen</a:t>
            </a:r>
            <a:r>
              <a:rPr lang="en-US" altLang="ko-KR" sz="1950" b="1" dirty="0">
                <a:solidFill>
                  <a:srgbClr val="1F2328">
                    <a:alpha val="0"/>
                  </a:srgbClr>
                </a:solidFill>
                <a:latin typeface="Calibri"/>
                <a:ea typeface="맑은 고딕"/>
                <a:cs typeface="Calibri"/>
              </a:rPr>
              <a:t> / </a:t>
            </a:r>
            <a:r>
              <a:rPr lang="en-US" altLang="ko-KR" sz="1950" b="1" dirty="0">
                <a:solidFill>
                  <a:srgbClr val="1F2328">
                    <a:alpha val="0"/>
                  </a:srgbClr>
                </a:solidFill>
                <a:latin typeface="Calibri"/>
                <a:ea typeface="맑은 고딕"/>
                <a:cs typeface="Calibri"/>
              </a:rPr>
              <a:t>freezing</a:t>
            </a:r>
            <a:r>
              <a:rPr lang="en-US" altLang="ko-KR" sz="1950" b="1"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⑨</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It was impossible for him to catch any fish.</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⑩</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The man was so disappointed that he cried out to the sky, “What should I do? Please help me.”</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⑪</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Then the ice </a:t>
            </a:r>
            <a:r>
              <a:rPr lang="en-US" altLang="ko-KR" sz="1950" b="1" dirty="0">
                <a:solidFill>
                  <a:srgbClr val="1F2328">
                    <a:alpha val="0"/>
                  </a:srgbClr>
                </a:solidFill>
                <a:latin typeface="Calibri"/>
                <a:ea typeface="맑은 고딕"/>
                <a:cs typeface="Calibri"/>
              </a:rPr>
              <a:t>[ </a:t>
            </a:r>
            <a:r>
              <a:rPr lang="en-US" altLang="ko-KR" sz="1950" b="1" dirty="0">
                <a:solidFill>
                  <a:srgbClr val="1F2328">
                    <a:alpha val="0"/>
                  </a:srgbClr>
                </a:solidFill>
                <a:latin typeface="Calibri"/>
                <a:ea typeface="맑은 고딕"/>
                <a:cs typeface="Calibri"/>
              </a:rPr>
              <a:t>melted</a:t>
            </a:r>
            <a:r>
              <a:rPr lang="en-US" altLang="ko-KR" sz="1950" b="1" dirty="0">
                <a:solidFill>
                  <a:srgbClr val="1F2328">
                    <a:alpha val="0"/>
                  </a:srgbClr>
                </a:solidFill>
                <a:latin typeface="Calibri"/>
                <a:ea typeface="맑은 고딕"/>
                <a:cs typeface="Calibri"/>
              </a:rPr>
              <a:t> / </a:t>
            </a:r>
            <a:r>
              <a:rPr lang="en-US" altLang="ko-KR" sz="1950" b="1" dirty="0">
                <a:solidFill>
                  <a:srgbClr val="1F2328">
                    <a:alpha val="0"/>
                  </a:srgbClr>
                </a:solidFill>
                <a:latin typeface="Calibri"/>
                <a:ea typeface="맑은 고딕"/>
                <a:cs typeface="Calibri"/>
              </a:rPr>
              <a:t>was melted</a:t>
            </a:r>
            <a:r>
              <a:rPr lang="en-US" altLang="ko-KR" sz="1950" b="1"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 and three carp suddenly came out of the water.</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⑫</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The man went back home and cooked the fish </a:t>
            </a:r>
            <a:r>
              <a:rPr lang="en-US" altLang="ko-KR" sz="1950" b="1" dirty="0">
                <a:solidFill>
                  <a:srgbClr val="1F2328">
                    <a:alpha val="0"/>
                  </a:srgbClr>
                </a:solidFill>
                <a:latin typeface="Calibri"/>
                <a:ea typeface="맑은 고딕"/>
                <a:cs typeface="Calibri"/>
              </a:rPr>
              <a:t>[ </a:t>
            </a:r>
            <a:r>
              <a:rPr lang="en-US" altLang="ko-KR" sz="1950" b="1" dirty="0">
                <a:solidFill>
                  <a:srgbClr val="1F2328">
                    <a:alpha val="0"/>
                  </a:srgbClr>
                </a:solidFill>
                <a:latin typeface="Calibri"/>
                <a:ea typeface="맑은 고딕"/>
                <a:cs typeface="Calibri"/>
              </a:rPr>
              <a:t>for his mother</a:t>
            </a:r>
            <a:r>
              <a:rPr lang="en-US" altLang="ko-KR" sz="1950" b="1" dirty="0">
                <a:solidFill>
                  <a:srgbClr val="1F2328">
                    <a:alpha val="0"/>
                  </a:srgbClr>
                </a:solidFill>
                <a:latin typeface="Calibri"/>
                <a:ea typeface="맑은 고딕"/>
                <a:cs typeface="Calibri"/>
              </a:rPr>
              <a:t> / </a:t>
            </a:r>
            <a:r>
              <a:rPr lang="en-US" altLang="ko-KR" sz="1950" b="1" dirty="0">
                <a:solidFill>
                  <a:srgbClr val="1F2328">
                    <a:alpha val="0"/>
                  </a:srgbClr>
                </a:solidFill>
                <a:latin typeface="Calibri"/>
                <a:ea typeface="맑은 고딕"/>
                <a:cs typeface="Calibri"/>
              </a:rPr>
              <a:t>to his mother</a:t>
            </a:r>
            <a:r>
              <a:rPr lang="en-US" altLang="ko-KR" sz="1950" b="1"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⑬</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Then his mother got well.</a:t>
            </a:r>
            <a:endParaRPr lang="en-US" altLang="ko-KR" sz="1950" b="0" dirty="0">
              <a:solidFill>
                <a:srgbClr val="1F2328"/>
              </a:solidFill>
              <a:latin typeface="Calibri"/>
              <a:ea typeface="맑은 고딕"/>
              <a:cs typeface="Calibri"/>
            </a:endParaRPr>
          </a:p>
        </p:txBody>
      </p:sp>
      <p:sp>
        <p:nvSpPr>
          <p:cNvPr id="10" name="rv_g02"/>
          <p:cNvSpPr txBox="1"/>
          <p:nvPr/>
        </p:nvSpPr>
        <p:spPr>
          <a:xfrm>
            <a:off x="457200" y="950976"/>
            <a:ext cx="11277295" cy="4725416"/>
          </a:xfrm>
          <a:prstGeom prst="rect">
            <a:avLst/>
          </a:prstGeom>
          <a:noFill/>
        </p:spPr>
        <p:txBody>
          <a:bodyPr wrap="square" lIns="228600" tIns="155448" rIns="228600" bIns="155448" anchor="t" rtlCol="0">
            <a:noAutofit/>
          </a:bodyPr>
          <a:lstStyle/>
          <a:p>
            <a:pPr algn="l">
              <a:lnSpc>
                <a:spcPts val="3160"/>
              </a:lnSpc>
              <a:spcBef>
                <a:spcPts val="0"/>
              </a:spcBef>
              <a:spcAft>
                <a:spcPts val="0"/>
              </a:spcAft>
              <a:buNone/>
            </a:pPr>
            <a:r>
              <a:rPr lang="ko-KR" altLang="en-US" sz="1950" b="1" dirty="0">
                <a:solidFill>
                  <a:srgbClr val="1E2A5A">
                    <a:alpha val="0"/>
                  </a:srgbClr>
                </a:solidFill>
                <a:latin typeface="맑은 고딕"/>
                <a:ea typeface="맑은 고딕"/>
                <a:cs typeface="맑은 고딕"/>
              </a:rPr>
              <a:t>①</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The animals or objects in Munjado </a:t>
            </a:r>
            <a:r>
              <a:rPr lang="en-US" altLang="ko-KR" sz="1950" b="1" dirty="0">
                <a:solidFill>
                  <a:srgbClr val="1F2328">
                    <a:alpha val="0"/>
                  </a:srgbClr>
                </a:solidFill>
                <a:latin typeface="Calibri"/>
                <a:ea typeface="맑은 고딕"/>
                <a:cs typeface="Calibri"/>
              </a:rPr>
              <a:t>[ </a:t>
            </a:r>
            <a:r>
              <a:rPr lang="en-US" altLang="ko-KR" sz="1950" b="1" dirty="0">
                <a:solidFill>
                  <a:srgbClr val="1F2328">
                    <a:alpha val="0"/>
                  </a:srgbClr>
                </a:solidFill>
                <a:latin typeface="Calibri"/>
                <a:ea typeface="맑은 고딕"/>
                <a:cs typeface="Calibri"/>
              </a:rPr>
              <a:t>are not</a:t>
            </a:r>
            <a:r>
              <a:rPr lang="en-US" altLang="ko-KR" sz="1950" b="1" dirty="0">
                <a:solidFill>
                  <a:srgbClr val="1F2328">
                    <a:alpha val="0"/>
                  </a:srgbClr>
                </a:solidFill>
                <a:latin typeface="Calibri"/>
                <a:ea typeface="맑은 고딕"/>
                <a:cs typeface="Calibri"/>
              </a:rPr>
              <a:t> / </a:t>
            </a:r>
            <a:r>
              <a:rPr lang="en-US" altLang="ko-KR" sz="1950" b="1" dirty="0">
                <a:solidFill>
                  <a:srgbClr val="1F2328">
                    <a:alpha val="0"/>
                  </a:srgbClr>
                </a:solidFill>
                <a:latin typeface="Calibri"/>
                <a:ea typeface="맑은 고딕"/>
                <a:cs typeface="Calibri"/>
              </a:rPr>
              <a:t>is not</a:t>
            </a:r>
            <a:r>
              <a:rPr lang="en-US" altLang="ko-KR" sz="1950" b="1"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 just decorations.</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②</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They often are symbolic.</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③</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For example, carp in the paintings of hyo symbolize respect for parents because of an old story.</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④</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The story goes as follows.</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⑤</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Once upon a time, a man lived with his old mother.</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⑥</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One winter, the man’s mother became ill and couldn’t eat anything.</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⑦</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On one very cold day, the mother said to the man, “It would be wonderful if I could eat fresh fish.”</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⑧</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The man went out to the river, but it was completely </a:t>
            </a:r>
            <a:r>
              <a:rPr lang="en-US" altLang="ko-KR" sz="1950" b="1" dirty="0">
                <a:solidFill>
                  <a:srgbClr val="1F2328">
                    <a:alpha val="0"/>
                  </a:srgbClr>
                </a:solidFill>
                <a:latin typeface="Calibri"/>
                <a:ea typeface="맑은 고딕"/>
                <a:cs typeface="Calibri"/>
              </a:rPr>
              <a:t>[ </a:t>
            </a:r>
            <a:r>
              <a:rPr lang="en-US" altLang="ko-KR" sz="1950" b="1" dirty="0">
                <a:solidFill>
                  <a:srgbClr val="C00000"/>
                </a:solidFill>
                <a:highlight>
                  <a:srgbClr val="F3F5F9"/>
                </a:highlight>
                <a:latin typeface="Calibri"/>
                <a:ea typeface="맑은 고딕"/>
                <a:cs typeface="Calibri"/>
              </a:rPr>
              <a:t>frozen</a:t>
            </a:r>
            <a:r>
              <a:rPr lang="en-US" altLang="ko-KR" sz="1950" b="1" dirty="0">
                <a:solidFill>
                  <a:srgbClr val="1F2328">
                    <a:alpha val="0"/>
                  </a:srgbClr>
                </a:solidFill>
                <a:latin typeface="Calibri"/>
                <a:ea typeface="맑은 고딕"/>
                <a:cs typeface="Calibri"/>
              </a:rPr>
              <a:t> / </a:t>
            </a:r>
            <a:r>
              <a:rPr lang="en-US" altLang="ko-KR" sz="1950" b="1" dirty="0">
                <a:solidFill>
                  <a:srgbClr val="1F2328">
                    <a:alpha val="0"/>
                  </a:srgbClr>
                </a:solidFill>
                <a:latin typeface="Calibri"/>
                <a:ea typeface="맑은 고딕"/>
                <a:cs typeface="Calibri"/>
              </a:rPr>
              <a:t>freezing</a:t>
            </a:r>
            <a:r>
              <a:rPr lang="en-US" altLang="ko-KR" sz="1950" b="1"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⑨</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It was impossible for him to catch any fish.</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⑩</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The man was so disappointed that he cried out to the sky, “What should I do? Please help me.”</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⑪</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Then the ice </a:t>
            </a:r>
            <a:r>
              <a:rPr lang="en-US" altLang="ko-KR" sz="1950" b="1" dirty="0">
                <a:solidFill>
                  <a:srgbClr val="1F2328">
                    <a:alpha val="0"/>
                  </a:srgbClr>
                </a:solidFill>
                <a:latin typeface="Calibri"/>
                <a:ea typeface="맑은 고딕"/>
                <a:cs typeface="Calibri"/>
              </a:rPr>
              <a:t>[ </a:t>
            </a:r>
            <a:r>
              <a:rPr lang="en-US" altLang="ko-KR" sz="1950" b="1" dirty="0">
                <a:solidFill>
                  <a:srgbClr val="1F2328">
                    <a:alpha val="0"/>
                  </a:srgbClr>
                </a:solidFill>
                <a:latin typeface="Calibri"/>
                <a:ea typeface="맑은 고딕"/>
                <a:cs typeface="Calibri"/>
              </a:rPr>
              <a:t>melted</a:t>
            </a:r>
            <a:r>
              <a:rPr lang="en-US" altLang="ko-KR" sz="1950" b="1" dirty="0">
                <a:solidFill>
                  <a:srgbClr val="1F2328">
                    <a:alpha val="0"/>
                  </a:srgbClr>
                </a:solidFill>
                <a:latin typeface="Calibri"/>
                <a:ea typeface="맑은 고딕"/>
                <a:cs typeface="Calibri"/>
              </a:rPr>
              <a:t> / </a:t>
            </a:r>
            <a:r>
              <a:rPr lang="en-US" altLang="ko-KR" sz="1950" b="1" dirty="0">
                <a:solidFill>
                  <a:srgbClr val="1F2328">
                    <a:alpha val="0"/>
                  </a:srgbClr>
                </a:solidFill>
                <a:latin typeface="Calibri"/>
                <a:ea typeface="맑은 고딕"/>
                <a:cs typeface="Calibri"/>
              </a:rPr>
              <a:t>was melted</a:t>
            </a:r>
            <a:r>
              <a:rPr lang="en-US" altLang="ko-KR" sz="1950" b="1"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 and three carp suddenly came out of the water.</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⑫</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The man went back home and cooked the fish </a:t>
            </a:r>
            <a:r>
              <a:rPr lang="en-US" altLang="ko-KR" sz="1950" b="1" dirty="0">
                <a:solidFill>
                  <a:srgbClr val="1F2328">
                    <a:alpha val="0"/>
                  </a:srgbClr>
                </a:solidFill>
                <a:latin typeface="Calibri"/>
                <a:ea typeface="맑은 고딕"/>
                <a:cs typeface="Calibri"/>
              </a:rPr>
              <a:t>[ </a:t>
            </a:r>
            <a:r>
              <a:rPr lang="en-US" altLang="ko-KR" sz="1950" b="1" dirty="0">
                <a:solidFill>
                  <a:srgbClr val="1F2328">
                    <a:alpha val="0"/>
                  </a:srgbClr>
                </a:solidFill>
                <a:latin typeface="Calibri"/>
                <a:ea typeface="맑은 고딕"/>
                <a:cs typeface="Calibri"/>
              </a:rPr>
              <a:t>for his mother</a:t>
            </a:r>
            <a:r>
              <a:rPr lang="en-US" altLang="ko-KR" sz="1950" b="1" dirty="0">
                <a:solidFill>
                  <a:srgbClr val="1F2328">
                    <a:alpha val="0"/>
                  </a:srgbClr>
                </a:solidFill>
                <a:latin typeface="Calibri"/>
                <a:ea typeface="맑은 고딕"/>
                <a:cs typeface="Calibri"/>
              </a:rPr>
              <a:t> / </a:t>
            </a:r>
            <a:r>
              <a:rPr lang="en-US" altLang="ko-KR" sz="1950" b="1" dirty="0">
                <a:solidFill>
                  <a:srgbClr val="1F2328">
                    <a:alpha val="0"/>
                  </a:srgbClr>
                </a:solidFill>
                <a:latin typeface="Calibri"/>
                <a:ea typeface="맑은 고딕"/>
                <a:cs typeface="Calibri"/>
              </a:rPr>
              <a:t>to his mother</a:t>
            </a:r>
            <a:r>
              <a:rPr lang="en-US" altLang="ko-KR" sz="1950" b="1"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⑬</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Then his mother got well.</a:t>
            </a:r>
            <a:endParaRPr lang="en-US" altLang="ko-KR" sz="1950" b="0" dirty="0">
              <a:solidFill>
                <a:srgbClr val="1F2328"/>
              </a:solidFill>
              <a:latin typeface="Calibri"/>
              <a:ea typeface="맑은 고딕"/>
              <a:cs typeface="Calibri"/>
            </a:endParaRPr>
          </a:p>
        </p:txBody>
      </p:sp>
      <p:sp>
        <p:nvSpPr>
          <p:cNvPr id="11" name="rv_g03"/>
          <p:cNvSpPr txBox="1"/>
          <p:nvPr/>
        </p:nvSpPr>
        <p:spPr>
          <a:xfrm>
            <a:off x="457200" y="950976"/>
            <a:ext cx="11277295" cy="4725416"/>
          </a:xfrm>
          <a:prstGeom prst="rect">
            <a:avLst/>
          </a:prstGeom>
          <a:noFill/>
        </p:spPr>
        <p:txBody>
          <a:bodyPr wrap="square" lIns="228600" tIns="155448" rIns="228600" bIns="155448" anchor="t" rtlCol="0">
            <a:noAutofit/>
          </a:bodyPr>
          <a:lstStyle/>
          <a:p>
            <a:pPr algn="l">
              <a:lnSpc>
                <a:spcPts val="3160"/>
              </a:lnSpc>
              <a:spcBef>
                <a:spcPts val="0"/>
              </a:spcBef>
              <a:spcAft>
                <a:spcPts val="0"/>
              </a:spcAft>
              <a:buNone/>
            </a:pPr>
            <a:r>
              <a:rPr lang="ko-KR" altLang="en-US" sz="1950" b="1" dirty="0">
                <a:solidFill>
                  <a:srgbClr val="1E2A5A">
                    <a:alpha val="0"/>
                  </a:srgbClr>
                </a:solidFill>
                <a:latin typeface="맑은 고딕"/>
                <a:ea typeface="맑은 고딕"/>
                <a:cs typeface="맑은 고딕"/>
              </a:rPr>
              <a:t>①</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The animals or objects in Munjado </a:t>
            </a:r>
            <a:r>
              <a:rPr lang="en-US" altLang="ko-KR" sz="1950" b="1" dirty="0">
                <a:solidFill>
                  <a:srgbClr val="1F2328">
                    <a:alpha val="0"/>
                  </a:srgbClr>
                </a:solidFill>
                <a:latin typeface="Calibri"/>
                <a:ea typeface="맑은 고딕"/>
                <a:cs typeface="Calibri"/>
              </a:rPr>
              <a:t>[ </a:t>
            </a:r>
            <a:r>
              <a:rPr lang="en-US" altLang="ko-KR" sz="1950" b="1" dirty="0">
                <a:solidFill>
                  <a:srgbClr val="1F2328">
                    <a:alpha val="0"/>
                  </a:srgbClr>
                </a:solidFill>
                <a:latin typeface="Calibri"/>
                <a:ea typeface="맑은 고딕"/>
                <a:cs typeface="Calibri"/>
              </a:rPr>
              <a:t>are not</a:t>
            </a:r>
            <a:r>
              <a:rPr lang="en-US" altLang="ko-KR" sz="1950" b="1" dirty="0">
                <a:solidFill>
                  <a:srgbClr val="1F2328">
                    <a:alpha val="0"/>
                  </a:srgbClr>
                </a:solidFill>
                <a:latin typeface="Calibri"/>
                <a:ea typeface="맑은 고딕"/>
                <a:cs typeface="Calibri"/>
              </a:rPr>
              <a:t> / </a:t>
            </a:r>
            <a:r>
              <a:rPr lang="en-US" altLang="ko-KR" sz="1950" b="1" dirty="0">
                <a:solidFill>
                  <a:srgbClr val="1F2328">
                    <a:alpha val="0"/>
                  </a:srgbClr>
                </a:solidFill>
                <a:latin typeface="Calibri"/>
                <a:ea typeface="맑은 고딕"/>
                <a:cs typeface="Calibri"/>
              </a:rPr>
              <a:t>is not</a:t>
            </a:r>
            <a:r>
              <a:rPr lang="en-US" altLang="ko-KR" sz="1950" b="1"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 just decorations.</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②</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They often are symbolic.</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③</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For example, carp in the paintings of hyo symbolize respect for parents because of an old story.</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④</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The story goes as follows.</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⑤</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Once upon a time, a man lived with his old mother.</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⑥</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One winter, the man’s mother became ill and couldn’t eat anything.</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⑦</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On one very cold day, the mother said to the man, “It would be wonderful if I could eat fresh fish.”</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⑧</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The man went out to the river, but it was completely </a:t>
            </a:r>
            <a:r>
              <a:rPr lang="en-US" altLang="ko-KR" sz="1950" b="1" dirty="0">
                <a:solidFill>
                  <a:srgbClr val="1F2328">
                    <a:alpha val="0"/>
                  </a:srgbClr>
                </a:solidFill>
                <a:latin typeface="Calibri"/>
                <a:ea typeface="맑은 고딕"/>
                <a:cs typeface="Calibri"/>
              </a:rPr>
              <a:t>[ </a:t>
            </a:r>
            <a:r>
              <a:rPr lang="en-US" altLang="ko-KR" sz="1950" b="1" dirty="0">
                <a:solidFill>
                  <a:srgbClr val="1F2328">
                    <a:alpha val="0"/>
                  </a:srgbClr>
                </a:solidFill>
                <a:latin typeface="Calibri"/>
                <a:ea typeface="맑은 고딕"/>
                <a:cs typeface="Calibri"/>
              </a:rPr>
              <a:t>frozen</a:t>
            </a:r>
            <a:r>
              <a:rPr lang="en-US" altLang="ko-KR" sz="1950" b="1" dirty="0">
                <a:solidFill>
                  <a:srgbClr val="1F2328">
                    <a:alpha val="0"/>
                  </a:srgbClr>
                </a:solidFill>
                <a:latin typeface="Calibri"/>
                <a:ea typeface="맑은 고딕"/>
                <a:cs typeface="Calibri"/>
              </a:rPr>
              <a:t> / </a:t>
            </a:r>
            <a:r>
              <a:rPr lang="en-US" altLang="ko-KR" sz="1950" b="1" dirty="0">
                <a:solidFill>
                  <a:srgbClr val="1F2328">
                    <a:alpha val="0"/>
                  </a:srgbClr>
                </a:solidFill>
                <a:latin typeface="Calibri"/>
                <a:ea typeface="맑은 고딕"/>
                <a:cs typeface="Calibri"/>
              </a:rPr>
              <a:t>freezing</a:t>
            </a:r>
            <a:r>
              <a:rPr lang="en-US" altLang="ko-KR" sz="1950" b="1"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⑨</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It was impossible for him to catch any fish.</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⑩</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The man was so disappointed that he cried out to the sky, “What should I do? Please help me.”</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⑪</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Then the ice </a:t>
            </a:r>
            <a:r>
              <a:rPr lang="en-US" altLang="ko-KR" sz="1950" b="1" dirty="0">
                <a:solidFill>
                  <a:srgbClr val="1F2328">
                    <a:alpha val="0"/>
                  </a:srgbClr>
                </a:solidFill>
                <a:latin typeface="Calibri"/>
                <a:ea typeface="맑은 고딕"/>
                <a:cs typeface="Calibri"/>
              </a:rPr>
              <a:t>[ </a:t>
            </a:r>
            <a:r>
              <a:rPr lang="en-US" altLang="ko-KR" sz="1950" b="1" dirty="0">
                <a:solidFill>
                  <a:srgbClr val="C00000"/>
                </a:solidFill>
                <a:highlight>
                  <a:srgbClr val="F3F5F9"/>
                </a:highlight>
                <a:latin typeface="Calibri"/>
                <a:ea typeface="맑은 고딕"/>
                <a:cs typeface="Calibri"/>
              </a:rPr>
              <a:t>melted</a:t>
            </a:r>
            <a:r>
              <a:rPr lang="en-US" altLang="ko-KR" sz="1950" b="1" dirty="0">
                <a:solidFill>
                  <a:srgbClr val="1F2328">
                    <a:alpha val="0"/>
                  </a:srgbClr>
                </a:solidFill>
                <a:latin typeface="Calibri"/>
                <a:ea typeface="맑은 고딕"/>
                <a:cs typeface="Calibri"/>
              </a:rPr>
              <a:t> / </a:t>
            </a:r>
            <a:r>
              <a:rPr lang="en-US" altLang="ko-KR" sz="1950" b="1" dirty="0">
                <a:solidFill>
                  <a:srgbClr val="1F2328">
                    <a:alpha val="0"/>
                  </a:srgbClr>
                </a:solidFill>
                <a:latin typeface="Calibri"/>
                <a:ea typeface="맑은 고딕"/>
                <a:cs typeface="Calibri"/>
              </a:rPr>
              <a:t>was melted</a:t>
            </a:r>
            <a:r>
              <a:rPr lang="en-US" altLang="ko-KR" sz="1950" b="1"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 and three carp suddenly came out of the water.</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⑫</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The man went back home and cooked the fish </a:t>
            </a:r>
            <a:r>
              <a:rPr lang="en-US" altLang="ko-KR" sz="1950" b="1" dirty="0">
                <a:solidFill>
                  <a:srgbClr val="1F2328">
                    <a:alpha val="0"/>
                  </a:srgbClr>
                </a:solidFill>
                <a:latin typeface="Calibri"/>
                <a:ea typeface="맑은 고딕"/>
                <a:cs typeface="Calibri"/>
              </a:rPr>
              <a:t>[ </a:t>
            </a:r>
            <a:r>
              <a:rPr lang="en-US" altLang="ko-KR" sz="1950" b="1" dirty="0">
                <a:solidFill>
                  <a:srgbClr val="1F2328">
                    <a:alpha val="0"/>
                  </a:srgbClr>
                </a:solidFill>
                <a:latin typeface="Calibri"/>
                <a:ea typeface="맑은 고딕"/>
                <a:cs typeface="Calibri"/>
              </a:rPr>
              <a:t>for his mother</a:t>
            </a:r>
            <a:r>
              <a:rPr lang="en-US" altLang="ko-KR" sz="1950" b="1" dirty="0">
                <a:solidFill>
                  <a:srgbClr val="1F2328">
                    <a:alpha val="0"/>
                  </a:srgbClr>
                </a:solidFill>
                <a:latin typeface="Calibri"/>
                <a:ea typeface="맑은 고딕"/>
                <a:cs typeface="Calibri"/>
              </a:rPr>
              <a:t> / </a:t>
            </a:r>
            <a:r>
              <a:rPr lang="en-US" altLang="ko-KR" sz="1950" b="1" dirty="0">
                <a:solidFill>
                  <a:srgbClr val="1F2328">
                    <a:alpha val="0"/>
                  </a:srgbClr>
                </a:solidFill>
                <a:latin typeface="Calibri"/>
                <a:ea typeface="맑은 고딕"/>
                <a:cs typeface="Calibri"/>
              </a:rPr>
              <a:t>to his mother</a:t>
            </a:r>
            <a:r>
              <a:rPr lang="en-US" altLang="ko-KR" sz="1950" b="1"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⑬</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Then his mother got well.</a:t>
            </a:r>
            <a:endParaRPr lang="en-US" altLang="ko-KR" sz="1950" b="0" dirty="0">
              <a:solidFill>
                <a:srgbClr val="1F2328"/>
              </a:solidFill>
              <a:latin typeface="Calibri"/>
              <a:ea typeface="맑은 고딕"/>
              <a:cs typeface="Calibri"/>
            </a:endParaRPr>
          </a:p>
        </p:txBody>
      </p:sp>
      <p:sp>
        <p:nvSpPr>
          <p:cNvPr id="12" name="rv_g04"/>
          <p:cNvSpPr txBox="1"/>
          <p:nvPr/>
        </p:nvSpPr>
        <p:spPr>
          <a:xfrm>
            <a:off x="457200" y="950976"/>
            <a:ext cx="11277295" cy="4725416"/>
          </a:xfrm>
          <a:prstGeom prst="rect">
            <a:avLst/>
          </a:prstGeom>
          <a:noFill/>
        </p:spPr>
        <p:txBody>
          <a:bodyPr wrap="square" lIns="228600" tIns="155448" rIns="228600" bIns="155448" anchor="t" rtlCol="0">
            <a:noAutofit/>
          </a:bodyPr>
          <a:lstStyle/>
          <a:p>
            <a:pPr algn="l">
              <a:lnSpc>
                <a:spcPts val="3160"/>
              </a:lnSpc>
              <a:spcBef>
                <a:spcPts val="0"/>
              </a:spcBef>
              <a:spcAft>
                <a:spcPts val="0"/>
              </a:spcAft>
              <a:buNone/>
            </a:pPr>
            <a:r>
              <a:rPr lang="ko-KR" altLang="en-US" sz="1950" b="1" dirty="0">
                <a:solidFill>
                  <a:srgbClr val="1E2A5A">
                    <a:alpha val="0"/>
                  </a:srgbClr>
                </a:solidFill>
                <a:latin typeface="맑은 고딕"/>
                <a:ea typeface="맑은 고딕"/>
                <a:cs typeface="맑은 고딕"/>
              </a:rPr>
              <a:t>①</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The animals or objects in Munjado </a:t>
            </a:r>
            <a:r>
              <a:rPr lang="en-US" altLang="ko-KR" sz="1950" b="1" dirty="0">
                <a:solidFill>
                  <a:srgbClr val="1F2328">
                    <a:alpha val="0"/>
                  </a:srgbClr>
                </a:solidFill>
                <a:latin typeface="Calibri"/>
                <a:ea typeface="맑은 고딕"/>
                <a:cs typeface="Calibri"/>
              </a:rPr>
              <a:t>[ </a:t>
            </a:r>
            <a:r>
              <a:rPr lang="en-US" altLang="ko-KR" sz="1950" b="1" dirty="0">
                <a:solidFill>
                  <a:srgbClr val="1F2328">
                    <a:alpha val="0"/>
                  </a:srgbClr>
                </a:solidFill>
                <a:latin typeface="Calibri"/>
                <a:ea typeface="맑은 고딕"/>
                <a:cs typeface="Calibri"/>
              </a:rPr>
              <a:t>are not</a:t>
            </a:r>
            <a:r>
              <a:rPr lang="en-US" altLang="ko-KR" sz="1950" b="1" dirty="0">
                <a:solidFill>
                  <a:srgbClr val="1F2328">
                    <a:alpha val="0"/>
                  </a:srgbClr>
                </a:solidFill>
                <a:latin typeface="Calibri"/>
                <a:ea typeface="맑은 고딕"/>
                <a:cs typeface="Calibri"/>
              </a:rPr>
              <a:t> / </a:t>
            </a:r>
            <a:r>
              <a:rPr lang="en-US" altLang="ko-KR" sz="1950" b="1" dirty="0">
                <a:solidFill>
                  <a:srgbClr val="1F2328">
                    <a:alpha val="0"/>
                  </a:srgbClr>
                </a:solidFill>
                <a:latin typeface="Calibri"/>
                <a:ea typeface="맑은 고딕"/>
                <a:cs typeface="Calibri"/>
              </a:rPr>
              <a:t>is not</a:t>
            </a:r>
            <a:r>
              <a:rPr lang="en-US" altLang="ko-KR" sz="1950" b="1"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 just decorations.</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②</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They often are symbolic.</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③</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For example, carp in the paintings of hyo symbolize respect for parents because of an old story.</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④</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The story goes as follows.</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⑤</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Once upon a time, a man lived with his old mother.</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⑥</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One winter, the man’s mother became ill and couldn’t eat anything.</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⑦</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On one very cold day, the mother said to the man, “It would be wonderful if I could eat fresh fish.”</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⑧</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The man went out to the river, but it was completely </a:t>
            </a:r>
            <a:r>
              <a:rPr lang="en-US" altLang="ko-KR" sz="1950" b="1" dirty="0">
                <a:solidFill>
                  <a:srgbClr val="1F2328">
                    <a:alpha val="0"/>
                  </a:srgbClr>
                </a:solidFill>
                <a:latin typeface="Calibri"/>
                <a:ea typeface="맑은 고딕"/>
                <a:cs typeface="Calibri"/>
              </a:rPr>
              <a:t>[ </a:t>
            </a:r>
            <a:r>
              <a:rPr lang="en-US" altLang="ko-KR" sz="1950" b="1" dirty="0">
                <a:solidFill>
                  <a:srgbClr val="1F2328">
                    <a:alpha val="0"/>
                  </a:srgbClr>
                </a:solidFill>
                <a:latin typeface="Calibri"/>
                <a:ea typeface="맑은 고딕"/>
                <a:cs typeface="Calibri"/>
              </a:rPr>
              <a:t>frozen</a:t>
            </a:r>
            <a:r>
              <a:rPr lang="en-US" altLang="ko-KR" sz="1950" b="1" dirty="0">
                <a:solidFill>
                  <a:srgbClr val="1F2328">
                    <a:alpha val="0"/>
                  </a:srgbClr>
                </a:solidFill>
                <a:latin typeface="Calibri"/>
                <a:ea typeface="맑은 고딕"/>
                <a:cs typeface="Calibri"/>
              </a:rPr>
              <a:t> / </a:t>
            </a:r>
            <a:r>
              <a:rPr lang="en-US" altLang="ko-KR" sz="1950" b="1" dirty="0">
                <a:solidFill>
                  <a:srgbClr val="1F2328">
                    <a:alpha val="0"/>
                  </a:srgbClr>
                </a:solidFill>
                <a:latin typeface="Calibri"/>
                <a:ea typeface="맑은 고딕"/>
                <a:cs typeface="Calibri"/>
              </a:rPr>
              <a:t>freezing</a:t>
            </a:r>
            <a:r>
              <a:rPr lang="en-US" altLang="ko-KR" sz="1950" b="1"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⑨</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It was impossible for him to catch any fish.</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⑩</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The man was so disappointed that he cried out to the sky, “What should I do? Please help me.”</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⑪</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Then the ice </a:t>
            </a:r>
            <a:r>
              <a:rPr lang="en-US" altLang="ko-KR" sz="1950" b="1" dirty="0">
                <a:solidFill>
                  <a:srgbClr val="1F2328">
                    <a:alpha val="0"/>
                  </a:srgbClr>
                </a:solidFill>
                <a:latin typeface="Calibri"/>
                <a:ea typeface="맑은 고딕"/>
                <a:cs typeface="Calibri"/>
              </a:rPr>
              <a:t>[ </a:t>
            </a:r>
            <a:r>
              <a:rPr lang="en-US" altLang="ko-KR" sz="1950" b="1" dirty="0">
                <a:solidFill>
                  <a:srgbClr val="1F2328">
                    <a:alpha val="0"/>
                  </a:srgbClr>
                </a:solidFill>
                <a:latin typeface="Calibri"/>
                <a:ea typeface="맑은 고딕"/>
                <a:cs typeface="Calibri"/>
              </a:rPr>
              <a:t>melted</a:t>
            </a:r>
            <a:r>
              <a:rPr lang="en-US" altLang="ko-KR" sz="1950" b="1" dirty="0">
                <a:solidFill>
                  <a:srgbClr val="1F2328">
                    <a:alpha val="0"/>
                  </a:srgbClr>
                </a:solidFill>
                <a:latin typeface="Calibri"/>
                <a:ea typeface="맑은 고딕"/>
                <a:cs typeface="Calibri"/>
              </a:rPr>
              <a:t> / </a:t>
            </a:r>
            <a:r>
              <a:rPr lang="en-US" altLang="ko-KR" sz="1950" b="1" dirty="0">
                <a:solidFill>
                  <a:srgbClr val="1F2328">
                    <a:alpha val="0"/>
                  </a:srgbClr>
                </a:solidFill>
                <a:latin typeface="Calibri"/>
                <a:ea typeface="맑은 고딕"/>
                <a:cs typeface="Calibri"/>
              </a:rPr>
              <a:t>was melted</a:t>
            </a:r>
            <a:r>
              <a:rPr lang="en-US" altLang="ko-KR" sz="1950" b="1"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 and three carp suddenly came out of the water.</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⑫</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The man went back home and cooked the fish </a:t>
            </a:r>
            <a:r>
              <a:rPr lang="en-US" altLang="ko-KR" sz="1950" b="1" dirty="0">
                <a:solidFill>
                  <a:srgbClr val="1F2328">
                    <a:alpha val="0"/>
                  </a:srgbClr>
                </a:solidFill>
                <a:latin typeface="Calibri"/>
                <a:ea typeface="맑은 고딕"/>
                <a:cs typeface="Calibri"/>
              </a:rPr>
              <a:t>[ </a:t>
            </a:r>
            <a:r>
              <a:rPr lang="en-US" altLang="ko-KR" sz="1950" b="1" dirty="0">
                <a:solidFill>
                  <a:srgbClr val="C00000"/>
                </a:solidFill>
                <a:highlight>
                  <a:srgbClr val="F3F5F9"/>
                </a:highlight>
                <a:latin typeface="Calibri"/>
                <a:ea typeface="맑은 고딕"/>
                <a:cs typeface="Calibri"/>
              </a:rPr>
              <a:t>for his mother</a:t>
            </a:r>
            <a:r>
              <a:rPr lang="en-US" altLang="ko-KR" sz="1950" b="1" dirty="0">
                <a:solidFill>
                  <a:srgbClr val="1F2328">
                    <a:alpha val="0"/>
                  </a:srgbClr>
                </a:solidFill>
                <a:latin typeface="Calibri"/>
                <a:ea typeface="맑은 고딕"/>
                <a:cs typeface="Calibri"/>
              </a:rPr>
              <a:t> / </a:t>
            </a:r>
            <a:r>
              <a:rPr lang="en-US" altLang="ko-KR" sz="1950" b="1" dirty="0">
                <a:solidFill>
                  <a:srgbClr val="1F2328">
                    <a:alpha val="0"/>
                  </a:srgbClr>
                </a:solidFill>
                <a:latin typeface="Calibri"/>
                <a:ea typeface="맑은 고딕"/>
                <a:cs typeface="Calibri"/>
              </a:rPr>
              <a:t>to his mother</a:t>
            </a:r>
            <a:r>
              <a:rPr lang="en-US" altLang="ko-KR" sz="1950" b="1"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a:t>
            </a:r>
            <a:r>
              <a:rPr lang="en-US" altLang="ko-KR" sz="1950" b="0" dirty="0">
                <a:solidFill>
                  <a:srgbClr val="1F2328">
                    <a:alpha val="0"/>
                  </a:srgbClr>
                </a:solidFill>
                <a:latin typeface="Calibri"/>
                <a:ea typeface="맑은 고딕"/>
                <a:cs typeface="Calibri"/>
              </a:rPr>
              <a:t>   </a:t>
            </a:r>
            <a:r>
              <a:rPr lang="ko-KR" altLang="en-US" sz="1950" b="1" dirty="0">
                <a:solidFill>
                  <a:srgbClr val="1E2A5A">
                    <a:alpha val="0"/>
                  </a:srgbClr>
                </a:solidFill>
                <a:latin typeface="맑은 고딕"/>
                <a:ea typeface="맑은 고딕"/>
                <a:cs typeface="맑은 고딕"/>
              </a:rPr>
              <a:t>⑬</a:t>
            </a:r>
            <a:r>
              <a:rPr lang="en-US" altLang="ko-KR" sz="1950" b="0" dirty="0">
                <a:solidFill>
                  <a:srgbClr val="1F2328">
                    <a:alpha val="0"/>
                  </a:srgbClr>
                </a:solidFill>
                <a:latin typeface="Calibri"/>
                <a:ea typeface="맑은 고딕"/>
                <a:cs typeface="Calibri"/>
              </a:rPr>
              <a:t> </a:t>
            </a:r>
            <a:r>
              <a:rPr lang="en-US" altLang="ko-KR" sz="1950" b="0" dirty="0">
                <a:solidFill>
                  <a:srgbClr val="1F2328">
                    <a:alpha val="0"/>
                  </a:srgbClr>
                </a:solidFill>
                <a:latin typeface="Calibri"/>
                <a:ea typeface="맑은 고딕"/>
                <a:cs typeface="Calibri"/>
              </a:rPr>
              <a:t>Then his mother got well.</a:t>
            </a:r>
            <a:endParaRPr lang="en-US" altLang="ko-KR" sz="1950" b="0" dirty="0">
              <a:solidFill>
                <a:srgbClr val="1F2328"/>
              </a:solidFill>
              <a:latin typeface="Calibri"/>
              <a:ea typeface="맑은 고딕"/>
              <a:cs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25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25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25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25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Lst>
  </p:timing>
</p:sld>
</file>

<file path=ppt/slides/slide26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L8-3</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1 · 1</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1. 다음 글의 주제로 가장 적절한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8</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본문 근거 형광 + 정답 원리</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210566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2105660"/>
          </a:xfrm>
          <a:prstGeom prst="rect">
            <a:avLst/>
          </a:prstGeom>
          <a:noFill/>
        </p:spPr>
        <p:txBody>
          <a:bodyPr wrap="square" lIns="201168" tIns="118872" rIns="201168" bIns="118872" anchor="t" rtlCol="0">
            <a:noAutofit/>
          </a:bodyPr>
          <a:lstStyle/>
          <a:p>
            <a:pPr algn="just">
              <a:lnSpc>
                <a:spcPts val="2060"/>
              </a:lnSpc>
              <a:spcBef>
                <a:spcPts val="0"/>
              </a:spcBef>
              <a:spcAft>
                <a:spcPts val="0"/>
              </a:spcAft>
              <a:buNone/>
            </a:pPr>
            <a:r>
              <a:rPr lang="en-US" altLang="ko-KR" sz="1450" b="0" dirty="0">
                <a:solidFill>
                  <a:srgbClr val="1F2328"/>
                </a:solidFill>
                <a:latin typeface="Calibri"/>
                <a:ea typeface="맑은 고딕"/>
                <a:cs typeface="Calibri"/>
              </a:rPr>
              <a:t>There are other examples of symbolic objects in Munjado.</a:t>
            </a:r>
            <a:r>
              <a:rPr lang="en-US" altLang="ko-KR" sz="1450" b="0" dirty="0">
                <a:solidFill>
                  <a:srgbClr val="1F2328"/>
                </a:solidFill>
                <a:latin typeface="Calibri"/>
                <a:ea typeface="맑은 고딕"/>
                <a:cs typeface="Calibri"/>
              </a:rPr>
              <a:t> They are bamboo in the paintings of the character chung (忠) and lotus flowers in the paintings of ui (義). Bamboo does not bend. It stays green in all kinds of weather. For these reasons, bamboo came to symbolize loyalty to the king. In the case of lotus flowers, they grow in muddy ponds but still bloom beautifully. They thus became a symbol of a person’s will to fight for justice despite difficulties. Munjado was much more than a painting to people of the Joseon dynasty. </a:t>
            </a:r>
            <a:r>
              <a:rPr lang="en-US" altLang="ko-KR" sz="1450" b="0" dirty="0">
                <a:solidFill>
                  <a:srgbClr val="1F2328"/>
                </a:solidFill>
                <a:latin typeface="Calibri"/>
                <a:ea typeface="맑은 고딕"/>
                <a:cs typeface="Calibri"/>
              </a:rPr>
              <a:t>It reminded them of important values that greatly influenced their behaviors and attitudes.</a:t>
            </a:r>
            <a:r>
              <a:rPr lang="en-US" altLang="ko-KR" sz="1450" b="0" dirty="0">
                <a:solidFill>
                  <a:srgbClr val="1F2328"/>
                </a:solidFill>
                <a:latin typeface="Calibri"/>
                <a:ea typeface="맑은 고딕"/>
                <a:cs typeface="Calibri"/>
              </a:rPr>
              <a:t> In particular, for children, Munjado was a study tool. Through it, children in the Joseon dynasty could learn the importance of harmony in family and society.</a:t>
            </a:r>
            <a:endParaRPr lang="en-US" altLang="ko-KR" sz="1450" b="0" dirty="0">
              <a:solidFill>
                <a:srgbClr val="1F2328"/>
              </a:solidFill>
              <a:latin typeface="Calibri"/>
              <a:ea typeface="맑은 고딕"/>
              <a:cs typeface="Calibri"/>
            </a:endParaRPr>
          </a:p>
        </p:txBody>
      </p:sp>
      <p:sp>
        <p:nvSpPr>
          <p:cNvPr id="9" name="rv_evidence_card"/>
          <p:cNvSpPr/>
          <p:nvPr/>
        </p:nvSpPr>
        <p:spPr>
          <a:xfrm>
            <a:off x="457200" y="950976"/>
            <a:ext cx="11277295" cy="210566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rv_evidence"/>
          <p:cNvSpPr txBox="1"/>
          <p:nvPr/>
        </p:nvSpPr>
        <p:spPr>
          <a:xfrm>
            <a:off x="457200" y="950976"/>
            <a:ext cx="11277295" cy="2105660"/>
          </a:xfrm>
          <a:prstGeom prst="rect">
            <a:avLst/>
          </a:prstGeom>
          <a:noFill/>
        </p:spPr>
        <p:txBody>
          <a:bodyPr wrap="square" lIns="201168" tIns="118872" rIns="201168" bIns="118872" anchor="t" rtlCol="0">
            <a:noAutofit/>
          </a:bodyPr>
          <a:lstStyle/>
          <a:p>
            <a:pPr algn="just">
              <a:lnSpc>
                <a:spcPts val="2060"/>
              </a:lnSpc>
              <a:spcBef>
                <a:spcPts val="0"/>
              </a:spcBef>
              <a:spcAft>
                <a:spcPts val="0"/>
              </a:spcAft>
              <a:buNone/>
            </a:pPr>
            <a:r>
              <a:rPr lang="en-US" altLang="ko-KR" sz="1450" b="0" dirty="0">
                <a:solidFill>
                  <a:srgbClr val="111111"/>
                </a:solidFill>
                <a:highlight>
                  <a:srgbClr val="FFE45C"/>
                </a:highlight>
                <a:latin typeface="Calibri"/>
                <a:ea typeface="맑은 고딕"/>
                <a:cs typeface="Calibri"/>
              </a:rPr>
              <a:t>There are other examples of symbolic objects in Munjado.</a:t>
            </a:r>
            <a:r>
              <a:rPr lang="en-US" altLang="ko-KR" sz="1450" b="0" dirty="0">
                <a:solidFill>
                  <a:srgbClr val="B3BAC6"/>
                </a:solidFill>
                <a:latin typeface="Calibri"/>
                <a:ea typeface="맑은 고딕"/>
                <a:cs typeface="Calibri"/>
              </a:rPr>
              <a:t> They are bamboo in the paintings of the character chung (忠) and lotus flowers in the paintings of ui (義). Bamboo does not bend. It stays green in all kinds of weather. For these reasons, bamboo came to symbolize loyalty to the king. In the case of lotus flowers, they grow in muddy ponds but still bloom beautifully. They thus became a symbol of a person’s will to fight for justice despite difficulties. Munjado was much more than a painting to people of the Joseon dynasty. </a:t>
            </a:r>
            <a:r>
              <a:rPr lang="en-US" altLang="ko-KR" sz="1450" b="0" dirty="0">
                <a:solidFill>
                  <a:srgbClr val="111111"/>
                </a:solidFill>
                <a:highlight>
                  <a:srgbClr val="FFE45C"/>
                </a:highlight>
                <a:latin typeface="Calibri"/>
                <a:ea typeface="맑은 고딕"/>
                <a:cs typeface="Calibri"/>
              </a:rPr>
              <a:t>It reminded them of important values that greatly influenced their behaviors and attitudes.</a:t>
            </a:r>
            <a:r>
              <a:rPr lang="en-US" altLang="ko-KR" sz="1450" b="0" dirty="0">
                <a:solidFill>
                  <a:srgbClr val="B3BAC6"/>
                </a:solidFill>
                <a:latin typeface="Calibri"/>
                <a:ea typeface="맑은 고딕"/>
                <a:cs typeface="Calibri"/>
              </a:rPr>
              <a:t> In particular, for children, Munjado was a study tool. Through it, children in the Joseon dynasty could learn the importance of harmony in family and society.</a:t>
            </a:r>
            <a:endParaRPr lang="en-US" altLang="ko-KR" sz="1450" b="0" dirty="0">
              <a:solidFill>
                <a:srgbClr val="B3BAC6"/>
              </a:solidFill>
              <a:latin typeface="Calibri"/>
              <a:ea typeface="맑은 고딕"/>
              <a:cs typeface="Calibri"/>
            </a:endParaRPr>
          </a:p>
        </p:txBody>
      </p:sp>
      <p:sp>
        <p:nvSpPr>
          <p:cNvPr id="11" name="choice_1"/>
          <p:cNvSpPr txBox="1"/>
          <p:nvPr/>
        </p:nvSpPr>
        <p:spPr>
          <a:xfrm>
            <a:off x="457200" y="3202940"/>
            <a:ext cx="11277295" cy="369824"/>
          </a:xfrm>
          <a:prstGeom prst="rect">
            <a:avLst/>
          </a:prstGeom>
          <a:noFill/>
        </p:spPr>
        <p:txBody>
          <a:bodyPr wrap="square" lIns="137160" tIns="27432" rIns="137160" bIns="27432" anchor="t" rtlCol="0">
            <a:noAutofit/>
          </a:bodyPr>
          <a:lstStyle/>
          <a:p>
            <a:pPr algn="l" marL="355600" indent="-355600">
              <a:lnSpc>
                <a:spcPts val="2480"/>
              </a:lnSpc>
              <a:spcBef>
                <a:spcPts val="0"/>
              </a:spcBef>
              <a:spcAft>
                <a:spcPts val="0"/>
              </a:spcAft>
              <a:buNone/>
              <a:tabLst>
                <a:tab pos="355600" algn="l"/>
              </a:tabLst>
            </a:pPr>
            <a:r>
              <a:rPr lang="ko-KR" altLang="en-US" sz="1750" b="1" dirty="0">
                <a:solidFill>
                  <a:srgbClr val="1E2A5A"/>
                </a:solidFill>
                <a:latin typeface="맑은 고딕"/>
                <a:ea typeface="맑은 고딕"/>
                <a:cs typeface="맑은 고딕"/>
              </a:rPr>
              <a:t>①</a:t>
            </a:r>
            <a:r>
              <a:rPr lang="en-US" altLang="ko-KR" sz="1750" b="0" dirty="0">
                <a:solidFill>
                  <a:srgbClr val="1F2328"/>
                </a:solidFill>
                <a:latin typeface="Calibri"/>
                <a:ea typeface="맑은 고딕"/>
                <a:cs typeface="Calibri"/>
              </a:rPr>
              <a:t>	the best ways to grow bamboo at home</a:t>
            </a:r>
            <a:endParaRPr lang="en-US" altLang="ko-KR" sz="1750" b="0" dirty="0">
              <a:solidFill>
                <a:srgbClr val="1F2328"/>
              </a:solidFill>
              <a:latin typeface="Calibri"/>
              <a:ea typeface="맑은 고딕"/>
              <a:cs typeface="Calibri"/>
            </a:endParaRPr>
          </a:p>
        </p:txBody>
      </p:sp>
      <p:sp>
        <p:nvSpPr>
          <p:cNvPr id="12" name="choice_2"/>
          <p:cNvSpPr txBox="1"/>
          <p:nvPr/>
        </p:nvSpPr>
        <p:spPr>
          <a:xfrm>
            <a:off x="457200" y="3600196"/>
            <a:ext cx="11277295" cy="369824"/>
          </a:xfrm>
          <a:prstGeom prst="rect">
            <a:avLst/>
          </a:prstGeom>
          <a:noFill/>
        </p:spPr>
        <p:txBody>
          <a:bodyPr wrap="square" lIns="137160" tIns="27432" rIns="137160" bIns="27432" anchor="t" rtlCol="0">
            <a:noAutofit/>
          </a:bodyPr>
          <a:lstStyle/>
          <a:p>
            <a:pPr algn="l" marL="355600" indent="-355600">
              <a:lnSpc>
                <a:spcPts val="2480"/>
              </a:lnSpc>
              <a:spcBef>
                <a:spcPts val="0"/>
              </a:spcBef>
              <a:spcAft>
                <a:spcPts val="0"/>
              </a:spcAft>
              <a:buNone/>
              <a:tabLst>
                <a:tab pos="355600" algn="l"/>
              </a:tabLst>
            </a:pPr>
            <a:r>
              <a:rPr lang="ko-KR" altLang="en-US" sz="1750" b="1" dirty="0">
                <a:solidFill>
                  <a:srgbClr val="1E2A5A"/>
                </a:solidFill>
                <a:latin typeface="맑은 고딕"/>
                <a:ea typeface="맑은 고딕"/>
                <a:cs typeface="맑은 고딕"/>
              </a:rPr>
              <a:t>②</a:t>
            </a:r>
            <a:r>
              <a:rPr lang="en-US" altLang="ko-KR" sz="1750" b="0" dirty="0">
                <a:solidFill>
                  <a:srgbClr val="1F2328"/>
                </a:solidFill>
                <a:latin typeface="Calibri"/>
                <a:ea typeface="맑은 고딕"/>
                <a:cs typeface="Calibri"/>
              </a:rPr>
              <a:t>	the meanings of symbols and roles of Munjado</a:t>
            </a:r>
            <a:endParaRPr lang="en-US" altLang="ko-KR" sz="1750" b="0" dirty="0">
              <a:solidFill>
                <a:srgbClr val="1F2328"/>
              </a:solidFill>
              <a:latin typeface="Calibri"/>
              <a:ea typeface="맑은 고딕"/>
              <a:cs typeface="Calibri"/>
            </a:endParaRPr>
          </a:p>
        </p:txBody>
      </p:sp>
      <p:sp>
        <p:nvSpPr>
          <p:cNvPr id="13" name="rv_pick"/>
          <p:cNvSpPr txBox="1"/>
          <p:nvPr/>
        </p:nvSpPr>
        <p:spPr>
          <a:xfrm>
            <a:off x="457200" y="3600196"/>
            <a:ext cx="11277295" cy="369824"/>
          </a:xfrm>
          <a:prstGeom prst="rect">
            <a:avLst/>
          </a:prstGeom>
          <a:solidFill>
            <a:srgbClr val="FFF3C4"/>
          </a:solidFill>
        </p:spPr>
        <p:txBody>
          <a:bodyPr wrap="square" lIns="137160" tIns="27432" rIns="137160" bIns="27432" anchor="t" rtlCol="0">
            <a:noAutofit/>
          </a:bodyPr>
          <a:lstStyle/>
          <a:p>
            <a:pPr algn="l" marL="355600" indent="-355600">
              <a:lnSpc>
                <a:spcPts val="2480"/>
              </a:lnSpc>
              <a:spcBef>
                <a:spcPts val="0"/>
              </a:spcBef>
              <a:spcAft>
                <a:spcPts val="0"/>
              </a:spcAft>
              <a:buNone/>
              <a:tabLst>
                <a:tab pos="355600" algn="l"/>
              </a:tabLst>
            </a:pPr>
            <a:r>
              <a:rPr lang="ko-KR" altLang="en-US" sz="1750" b="1" dirty="0">
                <a:solidFill>
                  <a:srgbClr val="C00000"/>
                </a:solidFill>
                <a:latin typeface="맑은 고딕"/>
                <a:ea typeface="맑은 고딕"/>
                <a:cs typeface="맑은 고딕"/>
              </a:rPr>
              <a:t>②</a:t>
            </a:r>
            <a:r>
              <a:rPr lang="en-US" altLang="ko-KR" sz="1750" b="0" dirty="0">
                <a:solidFill>
                  <a:srgbClr val="C00000"/>
                </a:solidFill>
                <a:latin typeface="Calibri"/>
                <a:ea typeface="맑은 고딕"/>
                <a:cs typeface="Calibri"/>
              </a:rPr>
              <a:t>	the meanings of symbols and roles of Munjado</a:t>
            </a:r>
            <a:endParaRPr lang="en-US" altLang="ko-KR" sz="1750" b="0" dirty="0">
              <a:solidFill>
                <a:srgbClr val="C00000"/>
              </a:solidFill>
              <a:latin typeface="Calibri"/>
              <a:ea typeface="맑은 고딕"/>
              <a:cs typeface="Calibri"/>
            </a:endParaRPr>
          </a:p>
        </p:txBody>
      </p:sp>
      <p:sp>
        <p:nvSpPr>
          <p:cNvPr id="14" name="choice_3"/>
          <p:cNvSpPr txBox="1"/>
          <p:nvPr/>
        </p:nvSpPr>
        <p:spPr>
          <a:xfrm>
            <a:off x="457200" y="3997452"/>
            <a:ext cx="11277295" cy="369824"/>
          </a:xfrm>
          <a:prstGeom prst="rect">
            <a:avLst/>
          </a:prstGeom>
          <a:noFill/>
        </p:spPr>
        <p:txBody>
          <a:bodyPr wrap="square" lIns="137160" tIns="27432" rIns="137160" bIns="27432" anchor="t" rtlCol="0">
            <a:noAutofit/>
          </a:bodyPr>
          <a:lstStyle/>
          <a:p>
            <a:pPr algn="l" marL="355600" indent="-355600">
              <a:lnSpc>
                <a:spcPts val="2480"/>
              </a:lnSpc>
              <a:spcBef>
                <a:spcPts val="0"/>
              </a:spcBef>
              <a:spcAft>
                <a:spcPts val="0"/>
              </a:spcAft>
              <a:buNone/>
              <a:tabLst>
                <a:tab pos="355600" algn="l"/>
              </a:tabLst>
            </a:pPr>
            <a:r>
              <a:rPr lang="ko-KR" altLang="en-US" sz="1750" b="1" dirty="0">
                <a:solidFill>
                  <a:srgbClr val="1E2A5A"/>
                </a:solidFill>
                <a:latin typeface="맑은 고딕"/>
                <a:ea typeface="맑은 고딕"/>
                <a:cs typeface="맑은 고딕"/>
              </a:rPr>
              <a:t>③</a:t>
            </a:r>
            <a:r>
              <a:rPr lang="en-US" altLang="ko-KR" sz="1750" b="0" dirty="0">
                <a:solidFill>
                  <a:srgbClr val="1F2328"/>
                </a:solidFill>
                <a:latin typeface="Calibri"/>
                <a:ea typeface="맑은 고딕"/>
                <a:cs typeface="Calibri"/>
              </a:rPr>
              <a:t>	the history of muddy ponds in Korea</a:t>
            </a:r>
            <a:endParaRPr lang="en-US" altLang="ko-KR" sz="1750" b="0" dirty="0">
              <a:solidFill>
                <a:srgbClr val="1F2328"/>
              </a:solidFill>
              <a:latin typeface="Calibri"/>
              <a:ea typeface="맑은 고딕"/>
              <a:cs typeface="Calibri"/>
            </a:endParaRPr>
          </a:p>
        </p:txBody>
      </p:sp>
      <p:sp>
        <p:nvSpPr>
          <p:cNvPr id="15" name="choice_4"/>
          <p:cNvSpPr txBox="1"/>
          <p:nvPr/>
        </p:nvSpPr>
        <p:spPr>
          <a:xfrm>
            <a:off x="457200" y="4394708"/>
            <a:ext cx="11277295" cy="369824"/>
          </a:xfrm>
          <a:prstGeom prst="rect">
            <a:avLst/>
          </a:prstGeom>
          <a:noFill/>
        </p:spPr>
        <p:txBody>
          <a:bodyPr wrap="square" lIns="137160" tIns="27432" rIns="137160" bIns="27432" anchor="t" rtlCol="0">
            <a:noAutofit/>
          </a:bodyPr>
          <a:lstStyle/>
          <a:p>
            <a:pPr algn="l" marL="355600" indent="-355600">
              <a:lnSpc>
                <a:spcPts val="2480"/>
              </a:lnSpc>
              <a:spcBef>
                <a:spcPts val="0"/>
              </a:spcBef>
              <a:spcAft>
                <a:spcPts val="0"/>
              </a:spcAft>
              <a:buNone/>
              <a:tabLst>
                <a:tab pos="355600" algn="l"/>
              </a:tabLst>
            </a:pPr>
            <a:r>
              <a:rPr lang="ko-KR" altLang="en-US" sz="1750" b="1" dirty="0">
                <a:solidFill>
                  <a:srgbClr val="1E2A5A"/>
                </a:solidFill>
                <a:latin typeface="맑은 고딕"/>
                <a:ea typeface="맑은 고딕"/>
                <a:cs typeface="맑은 고딕"/>
              </a:rPr>
              <a:t>④</a:t>
            </a:r>
            <a:r>
              <a:rPr lang="en-US" altLang="ko-KR" sz="1750" b="0" dirty="0">
                <a:solidFill>
                  <a:srgbClr val="1F2328"/>
                </a:solidFill>
                <a:latin typeface="Calibri"/>
                <a:ea typeface="맑은 고딕"/>
                <a:cs typeface="Calibri"/>
              </a:rPr>
              <a:t>	the reasons lotus flowers bloom in summer</a:t>
            </a:r>
            <a:endParaRPr lang="en-US" altLang="ko-KR" sz="1750" b="0" dirty="0">
              <a:solidFill>
                <a:srgbClr val="1F2328"/>
              </a:solidFill>
              <a:latin typeface="Calibri"/>
              <a:ea typeface="맑은 고딕"/>
              <a:cs typeface="Calibri"/>
            </a:endParaRPr>
          </a:p>
        </p:txBody>
      </p:sp>
      <p:sp>
        <p:nvSpPr>
          <p:cNvPr id="16" name="choice_5"/>
          <p:cNvSpPr txBox="1"/>
          <p:nvPr/>
        </p:nvSpPr>
        <p:spPr>
          <a:xfrm>
            <a:off x="457200" y="4791964"/>
            <a:ext cx="11277295" cy="369824"/>
          </a:xfrm>
          <a:prstGeom prst="rect">
            <a:avLst/>
          </a:prstGeom>
          <a:noFill/>
        </p:spPr>
        <p:txBody>
          <a:bodyPr wrap="square" lIns="137160" tIns="27432" rIns="137160" bIns="27432" anchor="t" rtlCol="0">
            <a:noAutofit/>
          </a:bodyPr>
          <a:lstStyle/>
          <a:p>
            <a:pPr algn="l" marL="355600" indent="-355600">
              <a:lnSpc>
                <a:spcPts val="2480"/>
              </a:lnSpc>
              <a:spcBef>
                <a:spcPts val="0"/>
              </a:spcBef>
              <a:spcAft>
                <a:spcPts val="0"/>
              </a:spcAft>
              <a:buNone/>
              <a:tabLst>
                <a:tab pos="355600" algn="l"/>
              </a:tabLst>
            </a:pPr>
            <a:r>
              <a:rPr lang="ko-KR" altLang="en-US" sz="1750" b="1" dirty="0">
                <a:solidFill>
                  <a:srgbClr val="1E2A5A"/>
                </a:solidFill>
                <a:latin typeface="맑은 고딕"/>
                <a:ea typeface="맑은 고딕"/>
                <a:cs typeface="맑은 고딕"/>
              </a:rPr>
              <a:t>⑤</a:t>
            </a:r>
            <a:r>
              <a:rPr lang="en-US" altLang="ko-KR" sz="1750" b="0" dirty="0">
                <a:solidFill>
                  <a:srgbClr val="1F2328"/>
                </a:solidFill>
                <a:latin typeface="Calibri"/>
                <a:ea typeface="맑은 고딕"/>
                <a:cs typeface="Calibri"/>
              </a:rPr>
              <a:t>	how children drew pictures in Joseon</a:t>
            </a:r>
            <a:endParaRPr lang="en-US" altLang="ko-KR" sz="1750" b="0" dirty="0">
              <a:solidFill>
                <a:srgbClr val="1F2328"/>
              </a:solidFill>
              <a:latin typeface="Calibri"/>
              <a:ea typeface="맑은 고딕"/>
              <a:cs typeface="Calibri"/>
            </a:endParaRPr>
          </a:p>
        </p:txBody>
      </p:sp>
      <p:sp>
        <p:nvSpPr>
          <p:cNvPr id="17" name="rv_answer"/>
          <p:cNvSpPr/>
          <p:nvPr/>
        </p:nvSpPr>
        <p:spPr>
          <a:xfrm>
            <a:off x="457200" y="527151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② </a:t>
            </a:r>
            <a:r>
              <a:rPr lang="en-US" altLang="ko-KR" sz="1900" b="1" dirty="0">
                <a:solidFill>
                  <a:srgbClr val="5A4200"/>
                </a:solidFill>
                <a:latin typeface="Calibri"/>
                <a:ea typeface="맑은 고딕"/>
                <a:cs typeface="Calibri"/>
              </a:rPr>
              <a:t>the meanings of symbols and roles of Munjado</a:t>
            </a:r>
            <a:endParaRPr lang="en-US" altLang="ko-KR" sz="1900" b="1" dirty="0">
              <a:solidFill>
                <a:srgbClr val="5A4200"/>
              </a:solidFill>
              <a:latin typeface="Calibri"/>
              <a:ea typeface="맑은 고딕"/>
              <a:cs typeface="Calibri"/>
            </a:endParaRPr>
          </a:p>
        </p:txBody>
      </p:sp>
      <p:sp>
        <p:nvSpPr>
          <p:cNvPr id="18" name="rv_why"/>
          <p:cNvSpPr/>
          <p:nvPr/>
        </p:nvSpPr>
        <p:spPr>
          <a:xfrm>
            <a:off x="457200" y="5870448"/>
            <a:ext cx="11277295" cy="54863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문자도 속 상징물의 예를 들고 문자도가 중요한 가치를 상기시켰다고 한다. 상징의 의미와 역할을 다룬 ②가 주제이다.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250"/>
                                        <p:tgtEl>
                                          <p:spTgt spid="1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25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25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7" grpId="0" animBg="1"/>
      <p:bldP spid="9" grpId="0" animBg="1"/>
      <p:bldP spid="10" grpId="0" animBg="1"/>
      <p:bldP spid="18" grpId="0" animBg="1"/>
    </p:bldLst>
  </p:timing>
</p:sld>
</file>

<file path=ppt/slides/slide26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L8-3</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1 · 2</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2. 다음 글의 제목으로 가장 적절한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8</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본문 근거 형광 + 정답 원리</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210566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2105660"/>
          </a:xfrm>
          <a:prstGeom prst="rect">
            <a:avLst/>
          </a:prstGeom>
          <a:noFill/>
        </p:spPr>
        <p:txBody>
          <a:bodyPr wrap="square" lIns="201168" tIns="118872" rIns="201168" bIns="118872" anchor="t" rtlCol="0">
            <a:noAutofit/>
          </a:bodyPr>
          <a:lstStyle/>
          <a:p>
            <a:pPr algn="just">
              <a:lnSpc>
                <a:spcPts val="2060"/>
              </a:lnSpc>
              <a:spcBef>
                <a:spcPts val="0"/>
              </a:spcBef>
              <a:spcAft>
                <a:spcPts val="0"/>
              </a:spcAft>
              <a:buNone/>
            </a:pPr>
            <a:r>
              <a:rPr lang="en-US" altLang="ko-KR" sz="1450" b="0" dirty="0">
                <a:solidFill>
                  <a:srgbClr val="1F2328"/>
                </a:solidFill>
                <a:latin typeface="Calibri"/>
                <a:ea typeface="맑은 고딕"/>
                <a:cs typeface="Calibri"/>
              </a:rPr>
              <a:t>There are other examples of symbolic objects in Munjado. They are bamboo in the paintings of the character chung (忠) and lotus flowers in the paintings of ui (義). Bamboo does not bend. It stays green in all kinds of weather. For these reasons, bamboo came to symbolize loyalty to the king. In the case of lotus flowers, they grow in muddy ponds but still bloom beautifully. They thus became a symbol of a person’s will to fight for justice despite difficulties. Munjado was much more than a painting to people of the Joseon dynasty. </a:t>
            </a:r>
            <a:r>
              <a:rPr lang="en-US" altLang="ko-KR" sz="1450" b="0" dirty="0">
                <a:solidFill>
                  <a:srgbClr val="1F2328"/>
                </a:solidFill>
                <a:latin typeface="Calibri"/>
                <a:ea typeface="맑은 고딕"/>
                <a:cs typeface="Calibri"/>
              </a:rPr>
              <a:t>It reminded them of important values that greatly influenced their behaviors and attitudes.</a:t>
            </a:r>
            <a:r>
              <a:rPr lang="en-US" altLang="ko-KR" sz="1450" b="0" dirty="0">
                <a:solidFill>
                  <a:srgbClr val="1F2328"/>
                </a:solidFill>
                <a:latin typeface="Calibri"/>
                <a:ea typeface="맑은 고딕"/>
                <a:cs typeface="Calibri"/>
              </a:rPr>
              <a:t> </a:t>
            </a:r>
            <a:r>
              <a:rPr lang="en-US" altLang="ko-KR" sz="1450" b="0" dirty="0">
                <a:solidFill>
                  <a:srgbClr val="1F2328"/>
                </a:solidFill>
                <a:latin typeface="Calibri"/>
                <a:ea typeface="맑은 고딕"/>
                <a:cs typeface="Calibri"/>
              </a:rPr>
              <a:t>In particular, for children, Munjado was a study tool.</a:t>
            </a:r>
            <a:r>
              <a:rPr lang="en-US" altLang="ko-KR" sz="1450" b="0" dirty="0">
                <a:solidFill>
                  <a:srgbClr val="1F2328"/>
                </a:solidFill>
                <a:latin typeface="Calibri"/>
                <a:ea typeface="맑은 고딕"/>
                <a:cs typeface="Calibri"/>
              </a:rPr>
              <a:t> Through it, children in the Joseon dynasty could learn the importance of harmony in family and society.</a:t>
            </a:r>
            <a:endParaRPr lang="en-US" altLang="ko-KR" sz="1450" b="0" dirty="0">
              <a:solidFill>
                <a:srgbClr val="1F2328"/>
              </a:solidFill>
              <a:latin typeface="Calibri"/>
              <a:ea typeface="맑은 고딕"/>
              <a:cs typeface="Calibri"/>
            </a:endParaRPr>
          </a:p>
        </p:txBody>
      </p:sp>
      <p:sp>
        <p:nvSpPr>
          <p:cNvPr id="9" name="rv_evidence_card"/>
          <p:cNvSpPr/>
          <p:nvPr/>
        </p:nvSpPr>
        <p:spPr>
          <a:xfrm>
            <a:off x="457200" y="950976"/>
            <a:ext cx="11277295" cy="210566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rv_evidence"/>
          <p:cNvSpPr txBox="1"/>
          <p:nvPr/>
        </p:nvSpPr>
        <p:spPr>
          <a:xfrm>
            <a:off x="457200" y="950976"/>
            <a:ext cx="11277295" cy="2105660"/>
          </a:xfrm>
          <a:prstGeom prst="rect">
            <a:avLst/>
          </a:prstGeom>
          <a:noFill/>
        </p:spPr>
        <p:txBody>
          <a:bodyPr wrap="square" lIns="201168" tIns="118872" rIns="201168" bIns="118872" anchor="t" rtlCol="0">
            <a:noAutofit/>
          </a:bodyPr>
          <a:lstStyle/>
          <a:p>
            <a:pPr algn="just">
              <a:lnSpc>
                <a:spcPts val="2060"/>
              </a:lnSpc>
              <a:spcBef>
                <a:spcPts val="0"/>
              </a:spcBef>
              <a:spcAft>
                <a:spcPts val="0"/>
              </a:spcAft>
              <a:buNone/>
            </a:pPr>
            <a:r>
              <a:rPr lang="en-US" altLang="ko-KR" sz="1450" b="0" dirty="0">
                <a:solidFill>
                  <a:srgbClr val="B3BAC6"/>
                </a:solidFill>
                <a:latin typeface="Calibri"/>
                <a:ea typeface="맑은 고딕"/>
                <a:cs typeface="Calibri"/>
              </a:rPr>
              <a:t>There are other examples of symbolic objects in Munjado. They are bamboo in the paintings of the character chung (忠) and lotus flowers in the paintings of ui (義). Bamboo does not bend. It stays green in all kinds of weather. For these reasons, bamboo came to symbolize loyalty to the king. In the case of lotus flowers, they grow in muddy ponds but still bloom beautifully. They thus became a symbol of a person’s will to fight for justice despite difficulties. Munjado was much more than a painting to people of the Joseon dynasty. </a:t>
            </a:r>
            <a:r>
              <a:rPr lang="en-US" altLang="ko-KR" sz="1450" b="0" dirty="0">
                <a:solidFill>
                  <a:srgbClr val="111111"/>
                </a:solidFill>
                <a:highlight>
                  <a:srgbClr val="FFE45C"/>
                </a:highlight>
                <a:latin typeface="Calibri"/>
                <a:ea typeface="맑은 고딕"/>
                <a:cs typeface="Calibri"/>
              </a:rPr>
              <a:t>It reminded them of important values that greatly influenced their behaviors and attitudes.</a:t>
            </a:r>
            <a:r>
              <a:rPr lang="en-US" altLang="ko-KR" sz="1450" b="0" dirty="0">
                <a:solidFill>
                  <a:srgbClr val="B3BAC6"/>
                </a:solidFill>
                <a:latin typeface="Calibri"/>
                <a:ea typeface="맑은 고딕"/>
                <a:cs typeface="Calibri"/>
              </a:rPr>
              <a:t> </a:t>
            </a:r>
            <a:r>
              <a:rPr lang="en-US" altLang="ko-KR" sz="1450" b="0" dirty="0">
                <a:solidFill>
                  <a:srgbClr val="111111"/>
                </a:solidFill>
                <a:highlight>
                  <a:srgbClr val="FFE45C"/>
                </a:highlight>
                <a:latin typeface="Calibri"/>
                <a:ea typeface="맑은 고딕"/>
                <a:cs typeface="Calibri"/>
              </a:rPr>
              <a:t>In particular, for children, Munjado was a study tool.</a:t>
            </a:r>
            <a:r>
              <a:rPr lang="en-US" altLang="ko-KR" sz="1450" b="0" dirty="0">
                <a:solidFill>
                  <a:srgbClr val="B3BAC6"/>
                </a:solidFill>
                <a:latin typeface="Calibri"/>
                <a:ea typeface="맑은 고딕"/>
                <a:cs typeface="Calibri"/>
              </a:rPr>
              <a:t> Through it, children in the Joseon dynasty could learn the importance of harmony in family and society.</a:t>
            </a:r>
            <a:endParaRPr lang="en-US" altLang="ko-KR" sz="1450" b="0" dirty="0">
              <a:solidFill>
                <a:srgbClr val="B3BAC6"/>
              </a:solidFill>
              <a:latin typeface="Calibri"/>
              <a:ea typeface="맑은 고딕"/>
              <a:cs typeface="Calibri"/>
            </a:endParaRPr>
          </a:p>
        </p:txBody>
      </p:sp>
      <p:sp>
        <p:nvSpPr>
          <p:cNvPr id="11" name="choice_1"/>
          <p:cNvSpPr txBox="1"/>
          <p:nvPr/>
        </p:nvSpPr>
        <p:spPr>
          <a:xfrm>
            <a:off x="457200" y="3202940"/>
            <a:ext cx="11277295" cy="369824"/>
          </a:xfrm>
          <a:prstGeom prst="rect">
            <a:avLst/>
          </a:prstGeom>
          <a:noFill/>
        </p:spPr>
        <p:txBody>
          <a:bodyPr wrap="square" lIns="137160" tIns="27432" rIns="137160" bIns="27432" anchor="t" rtlCol="0">
            <a:noAutofit/>
          </a:bodyPr>
          <a:lstStyle/>
          <a:p>
            <a:pPr algn="l" marL="355600" indent="-355600">
              <a:lnSpc>
                <a:spcPts val="2480"/>
              </a:lnSpc>
              <a:spcBef>
                <a:spcPts val="0"/>
              </a:spcBef>
              <a:spcAft>
                <a:spcPts val="0"/>
              </a:spcAft>
              <a:buNone/>
              <a:tabLst>
                <a:tab pos="355600" algn="l"/>
              </a:tabLst>
            </a:pPr>
            <a:r>
              <a:rPr lang="ko-KR" altLang="en-US" sz="1750" b="1" dirty="0">
                <a:solidFill>
                  <a:srgbClr val="1E2A5A"/>
                </a:solidFill>
                <a:latin typeface="맑은 고딕"/>
                <a:ea typeface="맑은 고딕"/>
                <a:cs typeface="맑은 고딕"/>
              </a:rPr>
              <a:t>①</a:t>
            </a:r>
            <a:r>
              <a:rPr lang="en-US" altLang="ko-KR" sz="1750" b="0" dirty="0">
                <a:solidFill>
                  <a:srgbClr val="1F2328"/>
                </a:solidFill>
                <a:latin typeface="Calibri"/>
                <a:ea typeface="맑은 고딕"/>
                <a:cs typeface="Calibri"/>
              </a:rPr>
              <a:t>	Growing Lotus Flowers in Muddy Ponds</a:t>
            </a:r>
            <a:endParaRPr lang="en-US" altLang="ko-KR" sz="1750" b="0" dirty="0">
              <a:solidFill>
                <a:srgbClr val="1F2328"/>
              </a:solidFill>
              <a:latin typeface="Calibri"/>
              <a:ea typeface="맑은 고딕"/>
              <a:cs typeface="Calibri"/>
            </a:endParaRPr>
          </a:p>
        </p:txBody>
      </p:sp>
      <p:sp>
        <p:nvSpPr>
          <p:cNvPr id="12" name="choice_2"/>
          <p:cNvSpPr txBox="1"/>
          <p:nvPr/>
        </p:nvSpPr>
        <p:spPr>
          <a:xfrm>
            <a:off x="457200" y="3600196"/>
            <a:ext cx="11277295" cy="369824"/>
          </a:xfrm>
          <a:prstGeom prst="rect">
            <a:avLst/>
          </a:prstGeom>
          <a:noFill/>
        </p:spPr>
        <p:txBody>
          <a:bodyPr wrap="square" lIns="137160" tIns="27432" rIns="137160" bIns="27432" anchor="t" rtlCol="0">
            <a:noAutofit/>
          </a:bodyPr>
          <a:lstStyle/>
          <a:p>
            <a:pPr algn="l" marL="355600" indent="-355600">
              <a:lnSpc>
                <a:spcPts val="2480"/>
              </a:lnSpc>
              <a:spcBef>
                <a:spcPts val="0"/>
              </a:spcBef>
              <a:spcAft>
                <a:spcPts val="0"/>
              </a:spcAft>
              <a:buNone/>
              <a:tabLst>
                <a:tab pos="355600" algn="l"/>
              </a:tabLst>
            </a:pPr>
            <a:r>
              <a:rPr lang="ko-KR" altLang="en-US" sz="1750" b="1" dirty="0">
                <a:solidFill>
                  <a:srgbClr val="1E2A5A"/>
                </a:solidFill>
                <a:latin typeface="맑은 고딕"/>
                <a:ea typeface="맑은 고딕"/>
                <a:cs typeface="맑은 고딕"/>
              </a:rPr>
              <a:t>②</a:t>
            </a:r>
            <a:r>
              <a:rPr lang="en-US" altLang="ko-KR" sz="1750" b="0" dirty="0">
                <a:solidFill>
                  <a:srgbClr val="1F2328"/>
                </a:solidFill>
                <a:latin typeface="Calibri"/>
                <a:ea typeface="맑은 고딕"/>
                <a:cs typeface="Calibri"/>
              </a:rPr>
              <a:t>	Why Bamboo Stays Green All Year</a:t>
            </a:r>
            <a:endParaRPr lang="en-US" altLang="ko-KR" sz="1750" b="0" dirty="0">
              <a:solidFill>
                <a:srgbClr val="1F2328"/>
              </a:solidFill>
              <a:latin typeface="Calibri"/>
              <a:ea typeface="맑은 고딕"/>
              <a:cs typeface="Calibri"/>
            </a:endParaRPr>
          </a:p>
        </p:txBody>
      </p:sp>
      <p:sp>
        <p:nvSpPr>
          <p:cNvPr id="13" name="choice_3"/>
          <p:cNvSpPr txBox="1"/>
          <p:nvPr/>
        </p:nvSpPr>
        <p:spPr>
          <a:xfrm>
            <a:off x="457200" y="3997452"/>
            <a:ext cx="11277295" cy="369824"/>
          </a:xfrm>
          <a:prstGeom prst="rect">
            <a:avLst/>
          </a:prstGeom>
          <a:noFill/>
        </p:spPr>
        <p:txBody>
          <a:bodyPr wrap="square" lIns="137160" tIns="27432" rIns="137160" bIns="27432" anchor="t" rtlCol="0">
            <a:noAutofit/>
          </a:bodyPr>
          <a:lstStyle/>
          <a:p>
            <a:pPr algn="l" marL="355600" indent="-355600">
              <a:lnSpc>
                <a:spcPts val="2480"/>
              </a:lnSpc>
              <a:spcBef>
                <a:spcPts val="0"/>
              </a:spcBef>
              <a:spcAft>
                <a:spcPts val="0"/>
              </a:spcAft>
              <a:buNone/>
              <a:tabLst>
                <a:tab pos="355600" algn="l"/>
              </a:tabLst>
            </a:pPr>
            <a:r>
              <a:rPr lang="ko-KR" altLang="en-US" sz="1750" b="1" dirty="0">
                <a:solidFill>
                  <a:srgbClr val="1E2A5A"/>
                </a:solidFill>
                <a:latin typeface="맑은 고딕"/>
                <a:ea typeface="맑은 고딕"/>
                <a:cs typeface="맑은 고딕"/>
              </a:rPr>
              <a:t>③</a:t>
            </a:r>
            <a:r>
              <a:rPr lang="en-US" altLang="ko-KR" sz="1750" b="0" dirty="0">
                <a:solidFill>
                  <a:srgbClr val="1F2328"/>
                </a:solidFill>
                <a:latin typeface="Calibri"/>
                <a:ea typeface="맑은 고딕"/>
                <a:cs typeface="Calibri"/>
              </a:rPr>
              <a:t>	Munjado: Symbols That Taught Values</a:t>
            </a:r>
            <a:endParaRPr lang="en-US" altLang="ko-KR" sz="1750" b="0" dirty="0">
              <a:solidFill>
                <a:srgbClr val="1F2328"/>
              </a:solidFill>
              <a:latin typeface="Calibri"/>
              <a:ea typeface="맑은 고딕"/>
              <a:cs typeface="Calibri"/>
            </a:endParaRPr>
          </a:p>
        </p:txBody>
      </p:sp>
      <p:sp>
        <p:nvSpPr>
          <p:cNvPr id="14" name="rv_pick"/>
          <p:cNvSpPr txBox="1"/>
          <p:nvPr/>
        </p:nvSpPr>
        <p:spPr>
          <a:xfrm>
            <a:off x="457200" y="3997452"/>
            <a:ext cx="11277295" cy="369824"/>
          </a:xfrm>
          <a:prstGeom prst="rect">
            <a:avLst/>
          </a:prstGeom>
          <a:solidFill>
            <a:srgbClr val="FFF3C4"/>
          </a:solidFill>
        </p:spPr>
        <p:txBody>
          <a:bodyPr wrap="square" lIns="137160" tIns="27432" rIns="137160" bIns="27432" anchor="t" rtlCol="0">
            <a:noAutofit/>
          </a:bodyPr>
          <a:lstStyle/>
          <a:p>
            <a:pPr algn="l" marL="355600" indent="-355600">
              <a:lnSpc>
                <a:spcPts val="2480"/>
              </a:lnSpc>
              <a:spcBef>
                <a:spcPts val="0"/>
              </a:spcBef>
              <a:spcAft>
                <a:spcPts val="0"/>
              </a:spcAft>
              <a:buNone/>
              <a:tabLst>
                <a:tab pos="355600" algn="l"/>
              </a:tabLst>
            </a:pPr>
            <a:r>
              <a:rPr lang="ko-KR" altLang="en-US" sz="1750" b="1" dirty="0">
                <a:solidFill>
                  <a:srgbClr val="C00000"/>
                </a:solidFill>
                <a:latin typeface="맑은 고딕"/>
                <a:ea typeface="맑은 고딕"/>
                <a:cs typeface="맑은 고딕"/>
              </a:rPr>
              <a:t>③</a:t>
            </a:r>
            <a:r>
              <a:rPr lang="en-US" altLang="ko-KR" sz="1750" b="0" dirty="0">
                <a:solidFill>
                  <a:srgbClr val="C00000"/>
                </a:solidFill>
                <a:latin typeface="Calibri"/>
                <a:ea typeface="맑은 고딕"/>
                <a:cs typeface="Calibri"/>
              </a:rPr>
              <a:t>	Munjado: Symbols That Taught Values</a:t>
            </a:r>
            <a:endParaRPr lang="en-US" altLang="ko-KR" sz="1750" b="0" dirty="0">
              <a:solidFill>
                <a:srgbClr val="C00000"/>
              </a:solidFill>
              <a:latin typeface="Calibri"/>
              <a:ea typeface="맑은 고딕"/>
              <a:cs typeface="Calibri"/>
            </a:endParaRPr>
          </a:p>
        </p:txBody>
      </p:sp>
      <p:sp>
        <p:nvSpPr>
          <p:cNvPr id="15" name="choice_4"/>
          <p:cNvSpPr txBox="1"/>
          <p:nvPr/>
        </p:nvSpPr>
        <p:spPr>
          <a:xfrm>
            <a:off x="457200" y="4394708"/>
            <a:ext cx="11277295" cy="369824"/>
          </a:xfrm>
          <a:prstGeom prst="rect">
            <a:avLst/>
          </a:prstGeom>
          <a:noFill/>
        </p:spPr>
        <p:txBody>
          <a:bodyPr wrap="square" lIns="137160" tIns="27432" rIns="137160" bIns="27432" anchor="t" rtlCol="0">
            <a:noAutofit/>
          </a:bodyPr>
          <a:lstStyle/>
          <a:p>
            <a:pPr algn="l" marL="355600" indent="-355600">
              <a:lnSpc>
                <a:spcPts val="2480"/>
              </a:lnSpc>
              <a:spcBef>
                <a:spcPts val="0"/>
              </a:spcBef>
              <a:spcAft>
                <a:spcPts val="0"/>
              </a:spcAft>
              <a:buNone/>
              <a:tabLst>
                <a:tab pos="355600" algn="l"/>
              </a:tabLst>
            </a:pPr>
            <a:r>
              <a:rPr lang="ko-KR" altLang="en-US" sz="1750" b="1" dirty="0">
                <a:solidFill>
                  <a:srgbClr val="1E2A5A"/>
                </a:solidFill>
                <a:latin typeface="맑은 고딕"/>
                <a:ea typeface="맑은 고딕"/>
                <a:cs typeface="맑은 고딕"/>
              </a:rPr>
              <a:t>④</a:t>
            </a:r>
            <a:r>
              <a:rPr lang="en-US" altLang="ko-KR" sz="1750" b="0" dirty="0">
                <a:solidFill>
                  <a:srgbClr val="1F2328"/>
                </a:solidFill>
                <a:latin typeface="Calibri"/>
                <a:ea typeface="맑은 고딕"/>
                <a:cs typeface="Calibri"/>
              </a:rPr>
              <a:t>	Kings and Their Loyal Servants</a:t>
            </a:r>
            <a:endParaRPr lang="en-US" altLang="ko-KR" sz="1750" b="0" dirty="0">
              <a:solidFill>
                <a:srgbClr val="1F2328"/>
              </a:solidFill>
              <a:latin typeface="Calibri"/>
              <a:ea typeface="맑은 고딕"/>
              <a:cs typeface="Calibri"/>
            </a:endParaRPr>
          </a:p>
        </p:txBody>
      </p:sp>
      <p:sp>
        <p:nvSpPr>
          <p:cNvPr id="16" name="choice_5"/>
          <p:cNvSpPr txBox="1"/>
          <p:nvPr/>
        </p:nvSpPr>
        <p:spPr>
          <a:xfrm>
            <a:off x="457200" y="4791964"/>
            <a:ext cx="11277295" cy="369824"/>
          </a:xfrm>
          <a:prstGeom prst="rect">
            <a:avLst/>
          </a:prstGeom>
          <a:noFill/>
        </p:spPr>
        <p:txBody>
          <a:bodyPr wrap="square" lIns="137160" tIns="27432" rIns="137160" bIns="27432" anchor="t" rtlCol="0">
            <a:noAutofit/>
          </a:bodyPr>
          <a:lstStyle/>
          <a:p>
            <a:pPr algn="l" marL="355600" indent="-355600">
              <a:lnSpc>
                <a:spcPts val="2480"/>
              </a:lnSpc>
              <a:spcBef>
                <a:spcPts val="0"/>
              </a:spcBef>
              <a:spcAft>
                <a:spcPts val="0"/>
              </a:spcAft>
              <a:buNone/>
              <a:tabLst>
                <a:tab pos="355600" algn="l"/>
              </a:tabLst>
            </a:pPr>
            <a:r>
              <a:rPr lang="ko-KR" altLang="en-US" sz="1750" b="1" dirty="0">
                <a:solidFill>
                  <a:srgbClr val="1E2A5A"/>
                </a:solidFill>
                <a:latin typeface="맑은 고딕"/>
                <a:ea typeface="맑은 고딕"/>
                <a:cs typeface="맑은 고딕"/>
              </a:rPr>
              <a:t>⑤</a:t>
            </a:r>
            <a:r>
              <a:rPr lang="en-US" altLang="ko-KR" sz="1750" b="0" dirty="0">
                <a:solidFill>
                  <a:srgbClr val="1F2328"/>
                </a:solidFill>
                <a:latin typeface="Calibri"/>
                <a:ea typeface="맑은 고딕"/>
                <a:cs typeface="Calibri"/>
              </a:rPr>
              <a:t>	Games Children Played in Joseon</a:t>
            </a:r>
            <a:endParaRPr lang="en-US" altLang="ko-KR" sz="1750" b="0" dirty="0">
              <a:solidFill>
                <a:srgbClr val="1F2328"/>
              </a:solidFill>
              <a:latin typeface="Calibri"/>
              <a:ea typeface="맑은 고딕"/>
              <a:cs typeface="Calibri"/>
            </a:endParaRPr>
          </a:p>
        </p:txBody>
      </p:sp>
      <p:sp>
        <p:nvSpPr>
          <p:cNvPr id="17" name="rv_answer"/>
          <p:cNvSpPr/>
          <p:nvPr/>
        </p:nvSpPr>
        <p:spPr>
          <a:xfrm>
            <a:off x="457200" y="527151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③ </a:t>
            </a:r>
            <a:r>
              <a:rPr lang="en-US" altLang="ko-KR" sz="1900" b="1" dirty="0">
                <a:solidFill>
                  <a:srgbClr val="5A4200"/>
                </a:solidFill>
                <a:latin typeface="Calibri"/>
                <a:ea typeface="맑은 고딕"/>
                <a:cs typeface="Calibri"/>
              </a:rPr>
              <a:t>Munjado: Symbols That Taught Values</a:t>
            </a:r>
            <a:endParaRPr lang="en-US" altLang="ko-KR" sz="1900" b="1" dirty="0">
              <a:solidFill>
                <a:srgbClr val="5A4200"/>
              </a:solidFill>
              <a:latin typeface="Calibri"/>
              <a:ea typeface="맑은 고딕"/>
              <a:cs typeface="Calibri"/>
            </a:endParaRPr>
          </a:p>
        </p:txBody>
      </p:sp>
      <p:sp>
        <p:nvSpPr>
          <p:cNvPr id="18" name="rv_why"/>
          <p:cNvSpPr/>
          <p:nvPr/>
        </p:nvSpPr>
        <p:spPr>
          <a:xfrm>
            <a:off x="457200" y="5870448"/>
            <a:ext cx="11277295" cy="54863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문자도는 중요한 가치를 상기시키고 아이들에게는 학습 도구였다. 이를 담은 ③이 제목이다.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250"/>
                                        <p:tgtEl>
                                          <p:spTgt spid="1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25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25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7" grpId="0" animBg="1"/>
      <p:bldP spid="9" grpId="0" animBg="1"/>
      <p:bldP spid="10" grpId="0" animBg="1"/>
      <p:bldP spid="18" grpId="0" animBg="1"/>
    </p:bldLst>
  </p:timing>
</p:sld>
</file>

<file path=ppt/slides/slide27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L8-3</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1 · 3</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3. 다음 글에서 필자가 주장하는 바로 가장 적절한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8</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본문 근거 형광 + 정답 원리</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210566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2105660"/>
          </a:xfrm>
          <a:prstGeom prst="rect">
            <a:avLst/>
          </a:prstGeom>
          <a:noFill/>
        </p:spPr>
        <p:txBody>
          <a:bodyPr wrap="square" lIns="201168" tIns="118872" rIns="201168" bIns="118872" anchor="t" rtlCol="0">
            <a:noAutofit/>
          </a:bodyPr>
          <a:lstStyle/>
          <a:p>
            <a:pPr algn="just">
              <a:lnSpc>
                <a:spcPts val="2060"/>
              </a:lnSpc>
              <a:spcBef>
                <a:spcPts val="0"/>
              </a:spcBef>
              <a:spcAft>
                <a:spcPts val="0"/>
              </a:spcAft>
              <a:buNone/>
            </a:pPr>
            <a:r>
              <a:rPr lang="en-US" altLang="ko-KR" sz="1450" b="0" dirty="0">
                <a:solidFill>
                  <a:srgbClr val="1F2328"/>
                </a:solidFill>
                <a:latin typeface="Calibri"/>
                <a:ea typeface="맑은 고딕"/>
                <a:cs typeface="Calibri"/>
              </a:rPr>
              <a:t>There are other examples of symbolic objects in Munjado. They are bamboo in the paintings of the character chung (忠) and lotus flowers in the paintings of ui (義). Bamboo does not bend. It stays green in all kinds of weather. For these reasons, bamboo came to symbolize loyalty to the king. In the case of lotus flowers, they grow in muddy ponds but still bloom beautifully. They thus became a symbol of a person’s will to fight for justice despite difficulties. Munjado was much more than a painting to people of the Joseon dynasty. </a:t>
            </a:r>
            <a:r>
              <a:rPr lang="en-US" altLang="ko-KR" sz="1450" b="0" dirty="0">
                <a:solidFill>
                  <a:srgbClr val="1F2328"/>
                </a:solidFill>
                <a:latin typeface="Calibri"/>
                <a:ea typeface="맑은 고딕"/>
                <a:cs typeface="Calibri"/>
              </a:rPr>
              <a:t>It reminded them of important values that greatly influenced their behaviors and attitudes.</a:t>
            </a:r>
            <a:r>
              <a:rPr lang="en-US" altLang="ko-KR" sz="1450" b="0" dirty="0">
                <a:solidFill>
                  <a:srgbClr val="1F2328"/>
                </a:solidFill>
                <a:latin typeface="Calibri"/>
                <a:ea typeface="맑은 고딕"/>
                <a:cs typeface="Calibri"/>
              </a:rPr>
              <a:t> In particular, for children, Munjado was a study tool. </a:t>
            </a:r>
            <a:r>
              <a:rPr lang="en-US" altLang="ko-KR" sz="1450" b="0" dirty="0">
                <a:solidFill>
                  <a:srgbClr val="1F2328"/>
                </a:solidFill>
                <a:latin typeface="Calibri"/>
                <a:ea typeface="맑은 고딕"/>
                <a:cs typeface="Calibri"/>
              </a:rPr>
              <a:t>Through it, children in the Joseon dynasty could learn the importance of harmony in family and society.</a:t>
            </a:r>
            <a:endParaRPr lang="en-US" altLang="ko-KR" sz="1450" b="0" dirty="0">
              <a:solidFill>
                <a:srgbClr val="1F2328"/>
              </a:solidFill>
              <a:latin typeface="Calibri"/>
              <a:ea typeface="맑은 고딕"/>
              <a:cs typeface="Calibri"/>
            </a:endParaRPr>
          </a:p>
        </p:txBody>
      </p:sp>
      <p:sp>
        <p:nvSpPr>
          <p:cNvPr id="9" name="rv_evidence_card"/>
          <p:cNvSpPr/>
          <p:nvPr/>
        </p:nvSpPr>
        <p:spPr>
          <a:xfrm>
            <a:off x="457200" y="950976"/>
            <a:ext cx="11277295" cy="210566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rv_evidence"/>
          <p:cNvSpPr txBox="1"/>
          <p:nvPr/>
        </p:nvSpPr>
        <p:spPr>
          <a:xfrm>
            <a:off x="457200" y="950976"/>
            <a:ext cx="11277295" cy="2105660"/>
          </a:xfrm>
          <a:prstGeom prst="rect">
            <a:avLst/>
          </a:prstGeom>
          <a:noFill/>
        </p:spPr>
        <p:txBody>
          <a:bodyPr wrap="square" lIns="201168" tIns="118872" rIns="201168" bIns="118872" anchor="t" rtlCol="0">
            <a:noAutofit/>
          </a:bodyPr>
          <a:lstStyle/>
          <a:p>
            <a:pPr algn="just">
              <a:lnSpc>
                <a:spcPts val="2060"/>
              </a:lnSpc>
              <a:spcBef>
                <a:spcPts val="0"/>
              </a:spcBef>
              <a:spcAft>
                <a:spcPts val="0"/>
              </a:spcAft>
              <a:buNone/>
            </a:pPr>
            <a:r>
              <a:rPr lang="en-US" altLang="ko-KR" sz="1450" b="0" dirty="0">
                <a:solidFill>
                  <a:srgbClr val="B3BAC6"/>
                </a:solidFill>
                <a:latin typeface="Calibri"/>
                <a:ea typeface="맑은 고딕"/>
                <a:cs typeface="Calibri"/>
              </a:rPr>
              <a:t>There are other examples of symbolic objects in Munjado. They are bamboo in the paintings of the character chung (忠) and lotus flowers in the paintings of ui (義). Bamboo does not bend. It stays green in all kinds of weather. For these reasons, bamboo came to symbolize loyalty to the king. In the case of lotus flowers, they grow in muddy ponds but still bloom beautifully. They thus became a symbol of a person’s will to fight for justice despite difficulties. Munjado was much more than a painting to people of the Joseon dynasty. </a:t>
            </a:r>
            <a:r>
              <a:rPr lang="en-US" altLang="ko-KR" sz="1450" b="0" dirty="0">
                <a:solidFill>
                  <a:srgbClr val="111111"/>
                </a:solidFill>
                <a:highlight>
                  <a:srgbClr val="FFE45C"/>
                </a:highlight>
                <a:latin typeface="Calibri"/>
                <a:ea typeface="맑은 고딕"/>
                <a:cs typeface="Calibri"/>
              </a:rPr>
              <a:t>It reminded them of important values that greatly influenced their behaviors and attitudes.</a:t>
            </a:r>
            <a:r>
              <a:rPr lang="en-US" altLang="ko-KR" sz="1450" b="0" dirty="0">
                <a:solidFill>
                  <a:srgbClr val="B3BAC6"/>
                </a:solidFill>
                <a:latin typeface="Calibri"/>
                <a:ea typeface="맑은 고딕"/>
                <a:cs typeface="Calibri"/>
              </a:rPr>
              <a:t> In particular, for children, Munjado was a study tool. </a:t>
            </a:r>
            <a:r>
              <a:rPr lang="en-US" altLang="ko-KR" sz="1450" b="0" dirty="0">
                <a:solidFill>
                  <a:srgbClr val="111111"/>
                </a:solidFill>
                <a:highlight>
                  <a:srgbClr val="FFE45C"/>
                </a:highlight>
                <a:latin typeface="Calibri"/>
                <a:ea typeface="맑은 고딕"/>
                <a:cs typeface="Calibri"/>
              </a:rPr>
              <a:t>Through it, children in the Joseon dynasty could learn the importance of harmony in family and society.</a:t>
            </a:r>
            <a:endParaRPr lang="en-US" altLang="ko-KR" sz="1450" b="0" dirty="0">
              <a:solidFill>
                <a:srgbClr val="111111"/>
              </a:solidFill>
              <a:latin typeface="Calibri"/>
              <a:ea typeface="맑은 고딕"/>
              <a:cs typeface="Calibri"/>
            </a:endParaRPr>
          </a:p>
        </p:txBody>
      </p:sp>
      <p:sp>
        <p:nvSpPr>
          <p:cNvPr id="11" name="choice_1"/>
          <p:cNvSpPr txBox="1"/>
          <p:nvPr/>
        </p:nvSpPr>
        <p:spPr>
          <a:xfrm>
            <a:off x="457200" y="3202940"/>
            <a:ext cx="11277295" cy="369824"/>
          </a:xfrm>
          <a:prstGeom prst="rect">
            <a:avLst/>
          </a:prstGeom>
          <a:noFill/>
        </p:spPr>
        <p:txBody>
          <a:bodyPr wrap="square" lIns="137160" tIns="27432" rIns="137160" bIns="27432" anchor="t" rtlCol="0">
            <a:noAutofit/>
          </a:bodyPr>
          <a:lstStyle/>
          <a:p>
            <a:pPr algn="l" marL="355600" indent="-355600">
              <a:lnSpc>
                <a:spcPts val="2480"/>
              </a:lnSpc>
              <a:spcBef>
                <a:spcPts val="0"/>
              </a:spcBef>
              <a:spcAft>
                <a:spcPts val="0"/>
              </a:spcAft>
              <a:buNone/>
              <a:tabLst>
                <a:tab pos="355600" algn="l"/>
              </a:tabLst>
            </a:pPr>
            <a:r>
              <a:rPr lang="ko-KR" altLang="en-US" sz="1750" b="1" dirty="0">
                <a:solidFill>
                  <a:srgbClr val="1E2A5A"/>
                </a:solidFill>
                <a:latin typeface="맑은 고딕"/>
                <a:ea typeface="맑은 고딕"/>
                <a:cs typeface="맑은 고딕"/>
              </a:rPr>
              <a:t>①</a:t>
            </a:r>
            <a:r>
              <a:rPr lang="ko-KR" altLang="en-US" sz="1750" b="0" dirty="0">
                <a:solidFill>
                  <a:srgbClr val="1F2328"/>
                </a:solidFill>
                <a:latin typeface="맑은 고딕"/>
                <a:ea typeface="맑은 고딕"/>
                <a:cs typeface="맑은 고딕"/>
              </a:rPr>
              <a:t>	대나무는 날씨에 따라 다르게 심어야 한다</a:t>
            </a:r>
            <a:endParaRPr lang="ko-KR" altLang="en-US" sz="1750" b="0" dirty="0">
              <a:solidFill>
                <a:srgbClr val="1F2328"/>
              </a:solidFill>
              <a:latin typeface="맑은 고딕"/>
              <a:ea typeface="맑은 고딕"/>
              <a:cs typeface="맑은 고딕"/>
            </a:endParaRPr>
          </a:p>
        </p:txBody>
      </p:sp>
      <p:sp>
        <p:nvSpPr>
          <p:cNvPr id="12" name="choice_2"/>
          <p:cNvSpPr txBox="1"/>
          <p:nvPr/>
        </p:nvSpPr>
        <p:spPr>
          <a:xfrm>
            <a:off x="457200" y="3600196"/>
            <a:ext cx="11277295" cy="369824"/>
          </a:xfrm>
          <a:prstGeom prst="rect">
            <a:avLst/>
          </a:prstGeom>
          <a:noFill/>
        </p:spPr>
        <p:txBody>
          <a:bodyPr wrap="square" lIns="137160" tIns="27432" rIns="137160" bIns="27432" anchor="t" rtlCol="0">
            <a:noAutofit/>
          </a:bodyPr>
          <a:lstStyle/>
          <a:p>
            <a:pPr algn="l" marL="355600" indent="-355600">
              <a:lnSpc>
                <a:spcPts val="2480"/>
              </a:lnSpc>
              <a:spcBef>
                <a:spcPts val="0"/>
              </a:spcBef>
              <a:spcAft>
                <a:spcPts val="0"/>
              </a:spcAft>
              <a:buNone/>
              <a:tabLst>
                <a:tab pos="355600" algn="l"/>
              </a:tabLst>
            </a:pPr>
            <a:r>
              <a:rPr lang="ko-KR" altLang="en-US" sz="1750" b="1" dirty="0">
                <a:solidFill>
                  <a:srgbClr val="1E2A5A"/>
                </a:solidFill>
                <a:latin typeface="맑은 고딕"/>
                <a:ea typeface="맑은 고딕"/>
                <a:cs typeface="맑은 고딕"/>
              </a:rPr>
              <a:t>②</a:t>
            </a:r>
            <a:r>
              <a:rPr lang="ko-KR" altLang="en-US" sz="1750" b="0" dirty="0">
                <a:solidFill>
                  <a:srgbClr val="1F2328"/>
                </a:solidFill>
                <a:latin typeface="맑은 고딕"/>
                <a:ea typeface="맑은 고딕"/>
                <a:cs typeface="맑은 고딕"/>
              </a:rPr>
              <a:t>	연꽃은 맑은 연못에서만 길러야 한다</a:t>
            </a:r>
            <a:endParaRPr lang="ko-KR" altLang="en-US" sz="1750" b="0" dirty="0">
              <a:solidFill>
                <a:srgbClr val="1F2328"/>
              </a:solidFill>
              <a:latin typeface="맑은 고딕"/>
              <a:ea typeface="맑은 고딕"/>
              <a:cs typeface="맑은 고딕"/>
            </a:endParaRPr>
          </a:p>
        </p:txBody>
      </p:sp>
      <p:sp>
        <p:nvSpPr>
          <p:cNvPr id="13" name="choice_3"/>
          <p:cNvSpPr txBox="1"/>
          <p:nvPr/>
        </p:nvSpPr>
        <p:spPr>
          <a:xfrm>
            <a:off x="457200" y="3997452"/>
            <a:ext cx="11277295" cy="369824"/>
          </a:xfrm>
          <a:prstGeom prst="rect">
            <a:avLst/>
          </a:prstGeom>
          <a:noFill/>
        </p:spPr>
        <p:txBody>
          <a:bodyPr wrap="square" lIns="137160" tIns="27432" rIns="137160" bIns="27432" anchor="t" rtlCol="0">
            <a:noAutofit/>
          </a:bodyPr>
          <a:lstStyle/>
          <a:p>
            <a:pPr algn="l" marL="355600" indent="-355600">
              <a:lnSpc>
                <a:spcPts val="2480"/>
              </a:lnSpc>
              <a:spcBef>
                <a:spcPts val="0"/>
              </a:spcBef>
              <a:spcAft>
                <a:spcPts val="0"/>
              </a:spcAft>
              <a:buNone/>
              <a:tabLst>
                <a:tab pos="355600" algn="l"/>
              </a:tabLst>
            </a:pPr>
            <a:r>
              <a:rPr lang="ko-KR" altLang="en-US" sz="1750" b="1" dirty="0">
                <a:solidFill>
                  <a:srgbClr val="1E2A5A"/>
                </a:solidFill>
                <a:latin typeface="맑은 고딕"/>
                <a:ea typeface="맑은 고딕"/>
                <a:cs typeface="맑은 고딕"/>
              </a:rPr>
              <a:t>③</a:t>
            </a:r>
            <a:r>
              <a:rPr lang="ko-KR" altLang="en-US" sz="1750" b="0" dirty="0">
                <a:solidFill>
                  <a:srgbClr val="1F2328"/>
                </a:solidFill>
                <a:latin typeface="맑은 고딕"/>
                <a:ea typeface="맑은 고딕"/>
                <a:cs typeface="맑은 고딕"/>
              </a:rPr>
              <a:t>	왕에 대한 충성심을 최우선으로 삼아야 한다</a:t>
            </a:r>
            <a:endParaRPr lang="ko-KR" altLang="en-US" sz="1750" b="0" dirty="0">
              <a:solidFill>
                <a:srgbClr val="1F2328"/>
              </a:solidFill>
              <a:latin typeface="맑은 고딕"/>
              <a:ea typeface="맑은 고딕"/>
              <a:cs typeface="맑은 고딕"/>
            </a:endParaRPr>
          </a:p>
        </p:txBody>
      </p:sp>
      <p:sp>
        <p:nvSpPr>
          <p:cNvPr id="14" name="choice_4"/>
          <p:cNvSpPr txBox="1"/>
          <p:nvPr/>
        </p:nvSpPr>
        <p:spPr>
          <a:xfrm>
            <a:off x="457200" y="4394708"/>
            <a:ext cx="11277295" cy="369824"/>
          </a:xfrm>
          <a:prstGeom prst="rect">
            <a:avLst/>
          </a:prstGeom>
          <a:noFill/>
        </p:spPr>
        <p:txBody>
          <a:bodyPr wrap="square" lIns="137160" tIns="27432" rIns="137160" bIns="27432" anchor="t" rtlCol="0">
            <a:noAutofit/>
          </a:bodyPr>
          <a:lstStyle/>
          <a:p>
            <a:pPr algn="l" marL="355600" indent="-355600">
              <a:lnSpc>
                <a:spcPts val="2480"/>
              </a:lnSpc>
              <a:spcBef>
                <a:spcPts val="0"/>
              </a:spcBef>
              <a:spcAft>
                <a:spcPts val="0"/>
              </a:spcAft>
              <a:buNone/>
              <a:tabLst>
                <a:tab pos="355600" algn="l"/>
              </a:tabLst>
            </a:pPr>
            <a:r>
              <a:rPr lang="ko-KR" altLang="en-US" sz="1750" b="1" dirty="0">
                <a:solidFill>
                  <a:srgbClr val="1E2A5A"/>
                </a:solidFill>
                <a:latin typeface="맑은 고딕"/>
                <a:ea typeface="맑은 고딕"/>
                <a:cs typeface="맑은 고딕"/>
              </a:rPr>
              <a:t>④</a:t>
            </a:r>
            <a:r>
              <a:rPr lang="ko-KR" altLang="en-US" sz="1750" b="0" dirty="0">
                <a:solidFill>
                  <a:srgbClr val="1F2328"/>
                </a:solidFill>
                <a:latin typeface="맑은 고딕"/>
                <a:ea typeface="맑은 고딕"/>
                <a:cs typeface="맑은 고딕"/>
              </a:rPr>
              <a:t>	문자도의 상징에 담긴 가치를 배워야 한다</a:t>
            </a:r>
            <a:endParaRPr lang="ko-KR" altLang="en-US" sz="1750" b="0" dirty="0">
              <a:solidFill>
                <a:srgbClr val="1F2328"/>
              </a:solidFill>
              <a:latin typeface="맑은 고딕"/>
              <a:ea typeface="맑은 고딕"/>
              <a:cs typeface="맑은 고딕"/>
            </a:endParaRPr>
          </a:p>
        </p:txBody>
      </p:sp>
      <p:sp>
        <p:nvSpPr>
          <p:cNvPr id="15" name="rv_pick"/>
          <p:cNvSpPr txBox="1"/>
          <p:nvPr/>
        </p:nvSpPr>
        <p:spPr>
          <a:xfrm>
            <a:off x="457200" y="4394708"/>
            <a:ext cx="11277295" cy="369824"/>
          </a:xfrm>
          <a:prstGeom prst="rect">
            <a:avLst/>
          </a:prstGeom>
          <a:solidFill>
            <a:srgbClr val="FFF3C4"/>
          </a:solidFill>
        </p:spPr>
        <p:txBody>
          <a:bodyPr wrap="square" lIns="137160" tIns="27432" rIns="137160" bIns="27432" anchor="t" rtlCol="0">
            <a:noAutofit/>
          </a:bodyPr>
          <a:lstStyle/>
          <a:p>
            <a:pPr algn="l" marL="355600" indent="-355600">
              <a:lnSpc>
                <a:spcPts val="2480"/>
              </a:lnSpc>
              <a:spcBef>
                <a:spcPts val="0"/>
              </a:spcBef>
              <a:spcAft>
                <a:spcPts val="0"/>
              </a:spcAft>
              <a:buNone/>
              <a:tabLst>
                <a:tab pos="355600" algn="l"/>
              </a:tabLst>
            </a:pPr>
            <a:r>
              <a:rPr lang="ko-KR" altLang="en-US" sz="1750" b="1" dirty="0">
                <a:solidFill>
                  <a:srgbClr val="C00000"/>
                </a:solidFill>
                <a:latin typeface="맑은 고딕"/>
                <a:ea typeface="맑은 고딕"/>
                <a:cs typeface="맑은 고딕"/>
              </a:rPr>
              <a:t>④</a:t>
            </a:r>
            <a:r>
              <a:rPr lang="ko-KR" altLang="en-US" sz="1750" b="0" dirty="0">
                <a:solidFill>
                  <a:srgbClr val="C00000"/>
                </a:solidFill>
                <a:latin typeface="맑은 고딕"/>
                <a:ea typeface="맑은 고딕"/>
                <a:cs typeface="맑은 고딕"/>
              </a:rPr>
              <a:t>	문자도의 상징에 담긴 가치를 배워야 한다</a:t>
            </a:r>
            <a:endParaRPr lang="ko-KR" altLang="en-US" sz="1750" b="0" dirty="0">
              <a:solidFill>
                <a:srgbClr val="C00000"/>
              </a:solidFill>
              <a:latin typeface="맑은 고딕"/>
              <a:ea typeface="맑은 고딕"/>
              <a:cs typeface="맑은 고딕"/>
            </a:endParaRPr>
          </a:p>
        </p:txBody>
      </p:sp>
      <p:sp>
        <p:nvSpPr>
          <p:cNvPr id="16" name="choice_5"/>
          <p:cNvSpPr txBox="1"/>
          <p:nvPr/>
        </p:nvSpPr>
        <p:spPr>
          <a:xfrm>
            <a:off x="457200" y="4791964"/>
            <a:ext cx="11277295" cy="369824"/>
          </a:xfrm>
          <a:prstGeom prst="rect">
            <a:avLst/>
          </a:prstGeom>
          <a:noFill/>
        </p:spPr>
        <p:txBody>
          <a:bodyPr wrap="square" lIns="137160" tIns="27432" rIns="137160" bIns="27432" anchor="t" rtlCol="0">
            <a:noAutofit/>
          </a:bodyPr>
          <a:lstStyle/>
          <a:p>
            <a:pPr algn="l" marL="355600" indent="-355600">
              <a:lnSpc>
                <a:spcPts val="2480"/>
              </a:lnSpc>
              <a:spcBef>
                <a:spcPts val="0"/>
              </a:spcBef>
              <a:spcAft>
                <a:spcPts val="0"/>
              </a:spcAft>
              <a:buNone/>
              <a:tabLst>
                <a:tab pos="355600" algn="l"/>
              </a:tabLst>
            </a:pPr>
            <a:r>
              <a:rPr lang="ko-KR" altLang="en-US" sz="1750" b="1" dirty="0">
                <a:solidFill>
                  <a:srgbClr val="1E2A5A"/>
                </a:solidFill>
                <a:latin typeface="맑은 고딕"/>
                <a:ea typeface="맑은 고딕"/>
                <a:cs typeface="맑은 고딕"/>
              </a:rPr>
              <a:t>⑤</a:t>
            </a:r>
            <a:r>
              <a:rPr lang="ko-KR" altLang="en-US" sz="1750" b="0" dirty="0">
                <a:solidFill>
                  <a:srgbClr val="1F2328"/>
                </a:solidFill>
                <a:latin typeface="맑은 고딕"/>
                <a:ea typeface="맑은 고딕"/>
                <a:cs typeface="맑은 고딕"/>
              </a:rPr>
              <a:t>	아이들은 그림보다 글을 먼저 익혀야 한다</a:t>
            </a:r>
            <a:endParaRPr lang="ko-KR" altLang="en-US" sz="1750" b="0" dirty="0">
              <a:solidFill>
                <a:srgbClr val="1F2328"/>
              </a:solidFill>
              <a:latin typeface="맑은 고딕"/>
              <a:ea typeface="맑은 고딕"/>
              <a:cs typeface="맑은 고딕"/>
            </a:endParaRPr>
          </a:p>
        </p:txBody>
      </p:sp>
      <p:sp>
        <p:nvSpPr>
          <p:cNvPr id="17" name="rv_answer"/>
          <p:cNvSpPr/>
          <p:nvPr/>
        </p:nvSpPr>
        <p:spPr>
          <a:xfrm>
            <a:off x="457200" y="527151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④ </a:t>
            </a:r>
            <a:r>
              <a:rPr lang="ko-KR" altLang="en-US" sz="1900" b="1" dirty="0">
                <a:solidFill>
                  <a:srgbClr val="5A4200"/>
                </a:solidFill>
                <a:latin typeface="맑은 고딕"/>
                <a:ea typeface="맑은 고딕"/>
                <a:cs typeface="맑은 고딕"/>
              </a:rPr>
              <a:t>문자도의 상징에 담긴 가치를 배워야 한다</a:t>
            </a:r>
            <a:endParaRPr lang="ko-KR" altLang="en-US" sz="1900" b="1" dirty="0">
              <a:solidFill>
                <a:srgbClr val="5A4200"/>
              </a:solidFill>
              <a:latin typeface="맑은 고딕"/>
              <a:ea typeface="맑은 고딕"/>
              <a:cs typeface="맑은 고딕"/>
            </a:endParaRPr>
          </a:p>
        </p:txBody>
      </p:sp>
      <p:sp>
        <p:nvSpPr>
          <p:cNvPr id="18" name="rv_why"/>
          <p:cNvSpPr/>
          <p:nvPr/>
        </p:nvSpPr>
        <p:spPr>
          <a:xfrm>
            <a:off x="457200" y="5870448"/>
            <a:ext cx="11277295" cy="54863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문자도의 상징이 중요한 가치를 일깨우고 아이들이 조화의 중요성을 배웠다고 했으므로 ④가 알맞다.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250"/>
                                        <p:tgtEl>
                                          <p:spTgt spid="1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25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25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7" grpId="0" animBg="1"/>
      <p:bldP spid="9" grpId="0" animBg="1"/>
      <p:bldP spid="10" grpId="0" animBg="1"/>
      <p:bldP spid="18" grpId="0" animBg="1"/>
    </p:bldLst>
  </p:timing>
</p:sld>
</file>

<file path=ppt/slides/slide27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L8-3</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1 · 4</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4. 다음 글의 요지로 가장 적절한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8</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본문 근거 형광 + 정답 원리</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210566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2105660"/>
          </a:xfrm>
          <a:prstGeom prst="rect">
            <a:avLst/>
          </a:prstGeom>
          <a:noFill/>
        </p:spPr>
        <p:txBody>
          <a:bodyPr wrap="square" lIns="201168" tIns="118872" rIns="201168" bIns="118872" anchor="t" rtlCol="0">
            <a:noAutofit/>
          </a:bodyPr>
          <a:lstStyle/>
          <a:p>
            <a:pPr algn="just">
              <a:lnSpc>
                <a:spcPts val="2060"/>
              </a:lnSpc>
              <a:spcBef>
                <a:spcPts val="0"/>
              </a:spcBef>
              <a:spcAft>
                <a:spcPts val="0"/>
              </a:spcAft>
              <a:buNone/>
            </a:pPr>
            <a:r>
              <a:rPr lang="en-US" altLang="ko-KR" sz="1450" b="0" dirty="0">
                <a:solidFill>
                  <a:srgbClr val="1F2328"/>
                </a:solidFill>
                <a:latin typeface="Calibri"/>
                <a:ea typeface="맑은 고딕"/>
                <a:cs typeface="Calibri"/>
              </a:rPr>
              <a:t>There are other examples of symbolic objects in Munjado. They are bamboo in the paintings of the character chung (忠) and lotus flowers in the paintings of ui (義). Bamboo does not bend. It stays green in all kinds of weather. For these reasons, bamboo came to symbolize loyalty to the king. In the case of lotus flowers, they grow in muddy ponds but still bloom beautifully. They thus became a symbol of a person’s will to fight for justice despite difficulties. Munjado was much more than a painting to people of the Joseon dynasty. </a:t>
            </a:r>
            <a:r>
              <a:rPr lang="en-US" altLang="ko-KR" sz="1450" b="0" dirty="0">
                <a:solidFill>
                  <a:srgbClr val="1F2328"/>
                </a:solidFill>
                <a:latin typeface="Calibri"/>
                <a:ea typeface="맑은 고딕"/>
                <a:cs typeface="Calibri"/>
              </a:rPr>
              <a:t>It reminded them of important values that greatly influenced their behaviors and attitudes.</a:t>
            </a:r>
            <a:r>
              <a:rPr lang="en-US" altLang="ko-KR" sz="1450" b="0" dirty="0">
                <a:solidFill>
                  <a:srgbClr val="1F2328"/>
                </a:solidFill>
                <a:latin typeface="Calibri"/>
                <a:ea typeface="맑은 고딕"/>
                <a:cs typeface="Calibri"/>
              </a:rPr>
              <a:t> In particular, for children, Munjado was a study tool. Through it, children in the Joseon dynasty could learn the importance of harmony in family and society.</a:t>
            </a:r>
            <a:endParaRPr lang="en-US" altLang="ko-KR" sz="1450" b="0" dirty="0">
              <a:solidFill>
                <a:srgbClr val="1F2328"/>
              </a:solidFill>
              <a:latin typeface="Calibri"/>
              <a:ea typeface="맑은 고딕"/>
              <a:cs typeface="Calibri"/>
            </a:endParaRPr>
          </a:p>
        </p:txBody>
      </p:sp>
      <p:sp>
        <p:nvSpPr>
          <p:cNvPr id="9" name="rv_evidence_card"/>
          <p:cNvSpPr/>
          <p:nvPr/>
        </p:nvSpPr>
        <p:spPr>
          <a:xfrm>
            <a:off x="457200" y="950976"/>
            <a:ext cx="11277295" cy="210566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rv_evidence"/>
          <p:cNvSpPr txBox="1"/>
          <p:nvPr/>
        </p:nvSpPr>
        <p:spPr>
          <a:xfrm>
            <a:off x="457200" y="950976"/>
            <a:ext cx="11277295" cy="2105660"/>
          </a:xfrm>
          <a:prstGeom prst="rect">
            <a:avLst/>
          </a:prstGeom>
          <a:noFill/>
        </p:spPr>
        <p:txBody>
          <a:bodyPr wrap="square" lIns="201168" tIns="118872" rIns="201168" bIns="118872" anchor="t" rtlCol="0">
            <a:noAutofit/>
          </a:bodyPr>
          <a:lstStyle/>
          <a:p>
            <a:pPr algn="just">
              <a:lnSpc>
                <a:spcPts val="2060"/>
              </a:lnSpc>
              <a:spcBef>
                <a:spcPts val="0"/>
              </a:spcBef>
              <a:spcAft>
                <a:spcPts val="0"/>
              </a:spcAft>
              <a:buNone/>
            </a:pPr>
            <a:r>
              <a:rPr lang="en-US" altLang="ko-KR" sz="1450" b="0" dirty="0">
                <a:solidFill>
                  <a:srgbClr val="B3BAC6"/>
                </a:solidFill>
                <a:latin typeface="Calibri"/>
                <a:ea typeface="맑은 고딕"/>
                <a:cs typeface="Calibri"/>
              </a:rPr>
              <a:t>There are other examples of symbolic objects in Munjado. They are bamboo in the paintings of the character chung (忠) and lotus flowers in the paintings of ui (義). Bamboo does not bend. It stays green in all kinds of weather. For these reasons, bamboo came to symbolize loyalty to the king. In the case of lotus flowers, they grow in muddy ponds but still bloom beautifully. They thus became a symbol of a person’s will to fight for justice despite difficulties. Munjado was much more than a painting to people of the Joseon dynasty. </a:t>
            </a:r>
            <a:r>
              <a:rPr lang="en-US" altLang="ko-KR" sz="1450" b="0" dirty="0">
                <a:solidFill>
                  <a:srgbClr val="111111"/>
                </a:solidFill>
                <a:highlight>
                  <a:srgbClr val="FFE45C"/>
                </a:highlight>
                <a:latin typeface="Calibri"/>
                <a:ea typeface="맑은 고딕"/>
                <a:cs typeface="Calibri"/>
              </a:rPr>
              <a:t>It reminded them of important values that greatly influenced their behaviors and attitudes.</a:t>
            </a:r>
            <a:r>
              <a:rPr lang="en-US" altLang="ko-KR" sz="1450" b="0" dirty="0">
                <a:solidFill>
                  <a:srgbClr val="B3BAC6"/>
                </a:solidFill>
                <a:latin typeface="Calibri"/>
                <a:ea typeface="맑은 고딕"/>
                <a:cs typeface="Calibri"/>
              </a:rPr>
              <a:t> In particular, for children, Munjado was a study tool. Through it, children in the Joseon dynasty could learn the importance of harmony in family and society.</a:t>
            </a:r>
            <a:endParaRPr lang="en-US" altLang="ko-KR" sz="1450" b="0" dirty="0">
              <a:solidFill>
                <a:srgbClr val="B3BAC6"/>
              </a:solidFill>
              <a:latin typeface="Calibri"/>
              <a:ea typeface="맑은 고딕"/>
              <a:cs typeface="Calibri"/>
            </a:endParaRPr>
          </a:p>
        </p:txBody>
      </p:sp>
      <p:sp>
        <p:nvSpPr>
          <p:cNvPr id="11" name="choice_1"/>
          <p:cNvSpPr txBox="1"/>
          <p:nvPr/>
        </p:nvSpPr>
        <p:spPr>
          <a:xfrm>
            <a:off x="457200" y="3202940"/>
            <a:ext cx="11277295" cy="369824"/>
          </a:xfrm>
          <a:prstGeom prst="rect">
            <a:avLst/>
          </a:prstGeom>
          <a:noFill/>
        </p:spPr>
        <p:txBody>
          <a:bodyPr wrap="square" lIns="137160" tIns="27432" rIns="137160" bIns="27432" anchor="t" rtlCol="0">
            <a:noAutofit/>
          </a:bodyPr>
          <a:lstStyle/>
          <a:p>
            <a:pPr algn="l" marL="355600" indent="-355600">
              <a:lnSpc>
                <a:spcPts val="2480"/>
              </a:lnSpc>
              <a:spcBef>
                <a:spcPts val="0"/>
              </a:spcBef>
              <a:spcAft>
                <a:spcPts val="0"/>
              </a:spcAft>
              <a:buNone/>
              <a:tabLst>
                <a:tab pos="355600" algn="l"/>
              </a:tabLst>
            </a:pPr>
            <a:r>
              <a:rPr lang="ko-KR" altLang="en-US" sz="1750" b="1" dirty="0">
                <a:solidFill>
                  <a:srgbClr val="1E2A5A"/>
                </a:solidFill>
                <a:latin typeface="맑은 고딕"/>
                <a:ea typeface="맑은 고딕"/>
                <a:cs typeface="맑은 고딕"/>
              </a:rPr>
              <a:t>①</a:t>
            </a:r>
            <a:r>
              <a:rPr lang="ko-KR" altLang="en-US" sz="1750" b="0" dirty="0">
                <a:solidFill>
                  <a:srgbClr val="1F2328"/>
                </a:solidFill>
                <a:latin typeface="맑은 고딕"/>
                <a:ea typeface="맑은 고딕"/>
                <a:cs typeface="맑은 고딕"/>
              </a:rPr>
              <a:t>	대나무와 연꽃은 조선에서 귀한 식물이었다</a:t>
            </a:r>
            <a:endParaRPr lang="ko-KR" altLang="en-US" sz="1750" b="0" dirty="0">
              <a:solidFill>
                <a:srgbClr val="1F2328"/>
              </a:solidFill>
              <a:latin typeface="맑은 고딕"/>
              <a:ea typeface="맑은 고딕"/>
              <a:cs typeface="맑은 고딕"/>
            </a:endParaRPr>
          </a:p>
        </p:txBody>
      </p:sp>
      <p:sp>
        <p:nvSpPr>
          <p:cNvPr id="12" name="choice_2"/>
          <p:cNvSpPr txBox="1"/>
          <p:nvPr/>
        </p:nvSpPr>
        <p:spPr>
          <a:xfrm>
            <a:off x="457200" y="3600196"/>
            <a:ext cx="11277295" cy="369824"/>
          </a:xfrm>
          <a:prstGeom prst="rect">
            <a:avLst/>
          </a:prstGeom>
          <a:noFill/>
        </p:spPr>
        <p:txBody>
          <a:bodyPr wrap="square" lIns="137160" tIns="27432" rIns="137160" bIns="27432" anchor="t" rtlCol="0">
            <a:noAutofit/>
          </a:bodyPr>
          <a:lstStyle/>
          <a:p>
            <a:pPr algn="l" marL="355600" indent="-355600">
              <a:lnSpc>
                <a:spcPts val="2480"/>
              </a:lnSpc>
              <a:spcBef>
                <a:spcPts val="0"/>
              </a:spcBef>
              <a:spcAft>
                <a:spcPts val="0"/>
              </a:spcAft>
              <a:buNone/>
              <a:tabLst>
                <a:tab pos="355600" algn="l"/>
              </a:tabLst>
            </a:pPr>
            <a:r>
              <a:rPr lang="ko-KR" altLang="en-US" sz="1750" b="1" dirty="0">
                <a:solidFill>
                  <a:srgbClr val="1E2A5A"/>
                </a:solidFill>
                <a:latin typeface="맑은 고딕"/>
                <a:ea typeface="맑은 고딕"/>
                <a:cs typeface="맑은 고딕"/>
              </a:rPr>
              <a:t>②</a:t>
            </a:r>
            <a:r>
              <a:rPr lang="ko-KR" altLang="en-US" sz="1750" b="0" dirty="0">
                <a:solidFill>
                  <a:srgbClr val="1F2328"/>
                </a:solidFill>
                <a:latin typeface="맑은 고딕"/>
                <a:ea typeface="맑은 고딕"/>
                <a:cs typeface="맑은 고딕"/>
              </a:rPr>
              <a:t>	연꽃은 진흙 연못에서 자라지 못하는 꽃이다</a:t>
            </a:r>
            <a:endParaRPr lang="ko-KR" altLang="en-US" sz="1750" b="0" dirty="0">
              <a:solidFill>
                <a:srgbClr val="1F2328"/>
              </a:solidFill>
              <a:latin typeface="맑은 고딕"/>
              <a:ea typeface="맑은 고딕"/>
              <a:cs typeface="맑은 고딕"/>
            </a:endParaRPr>
          </a:p>
        </p:txBody>
      </p:sp>
      <p:sp>
        <p:nvSpPr>
          <p:cNvPr id="13" name="choice_3"/>
          <p:cNvSpPr txBox="1"/>
          <p:nvPr/>
        </p:nvSpPr>
        <p:spPr>
          <a:xfrm>
            <a:off x="457200" y="3997452"/>
            <a:ext cx="11277295" cy="369824"/>
          </a:xfrm>
          <a:prstGeom prst="rect">
            <a:avLst/>
          </a:prstGeom>
          <a:noFill/>
        </p:spPr>
        <p:txBody>
          <a:bodyPr wrap="square" lIns="137160" tIns="27432" rIns="137160" bIns="27432" anchor="t" rtlCol="0">
            <a:noAutofit/>
          </a:bodyPr>
          <a:lstStyle/>
          <a:p>
            <a:pPr algn="l" marL="355600" indent="-355600">
              <a:lnSpc>
                <a:spcPts val="2480"/>
              </a:lnSpc>
              <a:spcBef>
                <a:spcPts val="0"/>
              </a:spcBef>
              <a:spcAft>
                <a:spcPts val="0"/>
              </a:spcAft>
              <a:buNone/>
              <a:tabLst>
                <a:tab pos="355600" algn="l"/>
              </a:tabLst>
            </a:pPr>
            <a:r>
              <a:rPr lang="ko-KR" altLang="en-US" sz="1750" b="1" dirty="0">
                <a:solidFill>
                  <a:srgbClr val="1E2A5A"/>
                </a:solidFill>
                <a:latin typeface="맑은 고딕"/>
                <a:ea typeface="맑은 고딕"/>
                <a:cs typeface="맑은 고딕"/>
              </a:rPr>
              <a:t>③</a:t>
            </a:r>
            <a:r>
              <a:rPr lang="ko-KR" altLang="en-US" sz="1750" b="0" dirty="0">
                <a:solidFill>
                  <a:srgbClr val="1F2328"/>
                </a:solidFill>
                <a:latin typeface="맑은 고딕"/>
                <a:ea typeface="맑은 고딕"/>
                <a:cs typeface="맑은 고딕"/>
              </a:rPr>
              <a:t>	문자도는 아이들이 싫어하던 그림이었다</a:t>
            </a:r>
            <a:endParaRPr lang="ko-KR" altLang="en-US" sz="1750" b="0" dirty="0">
              <a:solidFill>
                <a:srgbClr val="1F2328"/>
              </a:solidFill>
              <a:latin typeface="맑은 고딕"/>
              <a:ea typeface="맑은 고딕"/>
              <a:cs typeface="맑은 고딕"/>
            </a:endParaRPr>
          </a:p>
        </p:txBody>
      </p:sp>
      <p:sp>
        <p:nvSpPr>
          <p:cNvPr id="14" name="choice_4"/>
          <p:cNvSpPr txBox="1"/>
          <p:nvPr/>
        </p:nvSpPr>
        <p:spPr>
          <a:xfrm>
            <a:off x="457200" y="4394708"/>
            <a:ext cx="11277295" cy="369824"/>
          </a:xfrm>
          <a:prstGeom prst="rect">
            <a:avLst/>
          </a:prstGeom>
          <a:noFill/>
        </p:spPr>
        <p:txBody>
          <a:bodyPr wrap="square" lIns="137160" tIns="27432" rIns="137160" bIns="27432" anchor="t" rtlCol="0">
            <a:noAutofit/>
          </a:bodyPr>
          <a:lstStyle/>
          <a:p>
            <a:pPr algn="l" marL="355600" indent="-355600">
              <a:lnSpc>
                <a:spcPts val="2480"/>
              </a:lnSpc>
              <a:spcBef>
                <a:spcPts val="0"/>
              </a:spcBef>
              <a:spcAft>
                <a:spcPts val="0"/>
              </a:spcAft>
              <a:buNone/>
              <a:tabLst>
                <a:tab pos="355600" algn="l"/>
              </a:tabLst>
            </a:pPr>
            <a:r>
              <a:rPr lang="ko-KR" altLang="en-US" sz="1750" b="1" dirty="0">
                <a:solidFill>
                  <a:srgbClr val="1E2A5A"/>
                </a:solidFill>
                <a:latin typeface="맑은 고딕"/>
                <a:ea typeface="맑은 고딕"/>
                <a:cs typeface="맑은 고딕"/>
              </a:rPr>
              <a:t>④</a:t>
            </a:r>
            <a:r>
              <a:rPr lang="ko-KR" altLang="en-US" sz="1750" b="0" dirty="0">
                <a:solidFill>
                  <a:srgbClr val="1F2328"/>
                </a:solidFill>
                <a:latin typeface="맑은 고딕"/>
                <a:ea typeface="맑은 고딕"/>
                <a:cs typeface="맑은 고딕"/>
              </a:rPr>
              <a:t>	대나무는 날씨가 추우면 색이 쉽게 변한다</a:t>
            </a:r>
            <a:endParaRPr lang="ko-KR" altLang="en-US" sz="1750" b="0" dirty="0">
              <a:solidFill>
                <a:srgbClr val="1F2328"/>
              </a:solidFill>
              <a:latin typeface="맑은 고딕"/>
              <a:ea typeface="맑은 고딕"/>
              <a:cs typeface="맑은 고딕"/>
            </a:endParaRPr>
          </a:p>
        </p:txBody>
      </p:sp>
      <p:sp>
        <p:nvSpPr>
          <p:cNvPr id="15" name="choice_5"/>
          <p:cNvSpPr txBox="1"/>
          <p:nvPr/>
        </p:nvSpPr>
        <p:spPr>
          <a:xfrm>
            <a:off x="457200" y="4791964"/>
            <a:ext cx="11277295" cy="369824"/>
          </a:xfrm>
          <a:prstGeom prst="rect">
            <a:avLst/>
          </a:prstGeom>
          <a:noFill/>
        </p:spPr>
        <p:txBody>
          <a:bodyPr wrap="square" lIns="137160" tIns="27432" rIns="137160" bIns="27432" anchor="t" rtlCol="0">
            <a:noAutofit/>
          </a:bodyPr>
          <a:lstStyle/>
          <a:p>
            <a:pPr algn="l" marL="355600" indent="-355600">
              <a:lnSpc>
                <a:spcPts val="2480"/>
              </a:lnSpc>
              <a:spcBef>
                <a:spcPts val="0"/>
              </a:spcBef>
              <a:spcAft>
                <a:spcPts val="0"/>
              </a:spcAft>
              <a:buNone/>
              <a:tabLst>
                <a:tab pos="355600" algn="l"/>
              </a:tabLst>
            </a:pPr>
            <a:r>
              <a:rPr lang="ko-KR" altLang="en-US" sz="1750" b="1" dirty="0">
                <a:solidFill>
                  <a:srgbClr val="1E2A5A"/>
                </a:solidFill>
                <a:latin typeface="맑은 고딕"/>
                <a:ea typeface="맑은 고딕"/>
                <a:cs typeface="맑은 고딕"/>
              </a:rPr>
              <a:t>⑤</a:t>
            </a:r>
            <a:r>
              <a:rPr lang="ko-KR" altLang="en-US" sz="1750" b="0" dirty="0">
                <a:solidFill>
                  <a:srgbClr val="1F2328"/>
                </a:solidFill>
                <a:latin typeface="맑은 고딕"/>
                <a:ea typeface="맑은 고딕"/>
                <a:cs typeface="맑은 고딕"/>
              </a:rPr>
              <a:t>	문자도의 상징은 사람들에게 가치를 일깨웠다</a:t>
            </a:r>
            <a:endParaRPr lang="ko-KR" altLang="en-US" sz="1750" b="0" dirty="0">
              <a:solidFill>
                <a:srgbClr val="1F2328"/>
              </a:solidFill>
              <a:latin typeface="맑은 고딕"/>
              <a:ea typeface="맑은 고딕"/>
              <a:cs typeface="맑은 고딕"/>
            </a:endParaRPr>
          </a:p>
        </p:txBody>
      </p:sp>
      <p:sp>
        <p:nvSpPr>
          <p:cNvPr id="16" name="rv_pick"/>
          <p:cNvSpPr txBox="1"/>
          <p:nvPr/>
        </p:nvSpPr>
        <p:spPr>
          <a:xfrm>
            <a:off x="457200" y="4791964"/>
            <a:ext cx="11277295" cy="369824"/>
          </a:xfrm>
          <a:prstGeom prst="rect">
            <a:avLst/>
          </a:prstGeom>
          <a:solidFill>
            <a:srgbClr val="FFF3C4"/>
          </a:solidFill>
        </p:spPr>
        <p:txBody>
          <a:bodyPr wrap="square" lIns="137160" tIns="27432" rIns="137160" bIns="27432" anchor="t" rtlCol="0">
            <a:noAutofit/>
          </a:bodyPr>
          <a:lstStyle/>
          <a:p>
            <a:pPr algn="l" marL="355600" indent="-355600">
              <a:lnSpc>
                <a:spcPts val="2480"/>
              </a:lnSpc>
              <a:spcBef>
                <a:spcPts val="0"/>
              </a:spcBef>
              <a:spcAft>
                <a:spcPts val="0"/>
              </a:spcAft>
              <a:buNone/>
              <a:tabLst>
                <a:tab pos="355600" algn="l"/>
              </a:tabLst>
            </a:pPr>
            <a:r>
              <a:rPr lang="ko-KR" altLang="en-US" sz="1750" b="1" dirty="0">
                <a:solidFill>
                  <a:srgbClr val="C00000"/>
                </a:solidFill>
                <a:latin typeface="맑은 고딕"/>
                <a:ea typeface="맑은 고딕"/>
                <a:cs typeface="맑은 고딕"/>
              </a:rPr>
              <a:t>⑤</a:t>
            </a:r>
            <a:r>
              <a:rPr lang="ko-KR" altLang="en-US" sz="1750" b="0" dirty="0">
                <a:solidFill>
                  <a:srgbClr val="C00000"/>
                </a:solidFill>
                <a:latin typeface="맑은 고딕"/>
                <a:ea typeface="맑은 고딕"/>
                <a:cs typeface="맑은 고딕"/>
              </a:rPr>
              <a:t>	문자도의 상징은 사람들에게 가치를 일깨웠다</a:t>
            </a:r>
            <a:endParaRPr lang="ko-KR" altLang="en-US" sz="1750" b="0" dirty="0">
              <a:solidFill>
                <a:srgbClr val="C00000"/>
              </a:solidFill>
              <a:latin typeface="맑은 고딕"/>
              <a:ea typeface="맑은 고딕"/>
              <a:cs typeface="맑은 고딕"/>
            </a:endParaRPr>
          </a:p>
        </p:txBody>
      </p:sp>
      <p:sp>
        <p:nvSpPr>
          <p:cNvPr id="17" name="rv_answer"/>
          <p:cNvSpPr/>
          <p:nvPr/>
        </p:nvSpPr>
        <p:spPr>
          <a:xfrm>
            <a:off x="457200" y="527151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⑤ </a:t>
            </a:r>
            <a:r>
              <a:rPr lang="ko-KR" altLang="en-US" sz="1900" b="1" dirty="0">
                <a:solidFill>
                  <a:srgbClr val="5A4200"/>
                </a:solidFill>
                <a:latin typeface="맑은 고딕"/>
                <a:ea typeface="맑은 고딕"/>
                <a:cs typeface="맑은 고딕"/>
              </a:rPr>
              <a:t>문자도의 상징은 사람들에게 가치를 일깨웠다</a:t>
            </a:r>
            <a:endParaRPr lang="ko-KR" altLang="en-US" sz="1900" b="1" dirty="0">
              <a:solidFill>
                <a:srgbClr val="5A4200"/>
              </a:solidFill>
              <a:latin typeface="맑은 고딕"/>
              <a:ea typeface="맑은 고딕"/>
              <a:cs typeface="맑은 고딕"/>
            </a:endParaRPr>
          </a:p>
        </p:txBody>
      </p:sp>
      <p:sp>
        <p:nvSpPr>
          <p:cNvPr id="18" name="rv_why"/>
          <p:cNvSpPr/>
          <p:nvPr/>
        </p:nvSpPr>
        <p:spPr>
          <a:xfrm>
            <a:off x="457200" y="5870448"/>
            <a:ext cx="11277295" cy="54863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문자도가 사람들의 행동과 태도에 영향을 준 중요한 가치를 상기시켰다고 했다. 정답은 ⑤이다.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250"/>
                                        <p:tgtEl>
                                          <p:spTgt spid="1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25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25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7" grpId="0" animBg="1"/>
      <p:bldP spid="9" grpId="0" animBg="1"/>
      <p:bldP spid="10" grpId="0" animBg="1"/>
      <p:bldP spid="18" grpId="0" animBg="1"/>
    </p:bldLst>
  </p:timing>
</p:sld>
</file>

<file path=ppt/slides/slide27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L8-3</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1 · 5</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5. 다음 글의 내용과 일치하지 않는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8</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본문 근거 형광 + 정답 원리</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210566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2105660"/>
          </a:xfrm>
          <a:prstGeom prst="rect">
            <a:avLst/>
          </a:prstGeom>
          <a:noFill/>
        </p:spPr>
        <p:txBody>
          <a:bodyPr wrap="square" lIns="201168" tIns="118872" rIns="201168" bIns="118872" anchor="t" rtlCol="0">
            <a:noAutofit/>
          </a:bodyPr>
          <a:lstStyle/>
          <a:p>
            <a:pPr algn="just">
              <a:lnSpc>
                <a:spcPts val="2060"/>
              </a:lnSpc>
              <a:spcBef>
                <a:spcPts val="0"/>
              </a:spcBef>
              <a:spcAft>
                <a:spcPts val="0"/>
              </a:spcAft>
              <a:buNone/>
            </a:pPr>
            <a:r>
              <a:rPr lang="en-US" altLang="ko-KR" sz="1450" b="0" dirty="0">
                <a:solidFill>
                  <a:srgbClr val="1F2328"/>
                </a:solidFill>
                <a:latin typeface="Calibri"/>
                <a:ea typeface="맑은 고딕"/>
                <a:cs typeface="Calibri"/>
              </a:rPr>
              <a:t>There are other examples of symbolic objects in Munjado. They are bamboo in the paintings of the character chung (忠) and lotus flowers in the paintings of ui (義). Bamboo does not bend. It stays green in all kinds of weather. For these reasons, bamboo came to symbolize loyalty to the king. In the case of lotus flowers, they grow in muddy ponds but still bloom beautifully. They thus became a symbol of </a:t>
            </a:r>
            <a:r>
              <a:rPr lang="en-US" altLang="ko-KR" sz="1450" b="0" dirty="0">
                <a:solidFill>
                  <a:srgbClr val="1F2328"/>
                </a:solidFill>
                <a:latin typeface="Calibri"/>
                <a:ea typeface="맑은 고딕"/>
                <a:cs typeface="Calibri"/>
              </a:rPr>
              <a:t>a person’s will to fight for justice</a:t>
            </a:r>
            <a:r>
              <a:rPr lang="en-US" altLang="ko-KR" sz="1450" b="0" dirty="0">
                <a:solidFill>
                  <a:srgbClr val="1F2328"/>
                </a:solidFill>
                <a:latin typeface="Calibri"/>
                <a:ea typeface="맑은 고딕"/>
                <a:cs typeface="Calibri"/>
              </a:rPr>
              <a:t> despite difficulties. Munjado was much more than a painting to people of the Joseon dynasty. It reminded them of important values that greatly influenced their behaviors and attitudes. In particular, for children, Munjado was a study tool. Through it, children in the Joseon dynasty could learn the importance of harmony in family and society.</a:t>
            </a:r>
            <a:endParaRPr lang="en-US" altLang="ko-KR" sz="1450" b="0" dirty="0">
              <a:solidFill>
                <a:srgbClr val="1F2328"/>
              </a:solidFill>
              <a:latin typeface="Calibri"/>
              <a:ea typeface="맑은 고딕"/>
              <a:cs typeface="Calibri"/>
            </a:endParaRPr>
          </a:p>
        </p:txBody>
      </p:sp>
      <p:sp>
        <p:nvSpPr>
          <p:cNvPr id="9" name="rv_evidence_card"/>
          <p:cNvSpPr/>
          <p:nvPr/>
        </p:nvSpPr>
        <p:spPr>
          <a:xfrm>
            <a:off x="457200" y="950976"/>
            <a:ext cx="11277295" cy="210566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rv_evidence"/>
          <p:cNvSpPr txBox="1"/>
          <p:nvPr/>
        </p:nvSpPr>
        <p:spPr>
          <a:xfrm>
            <a:off x="457200" y="950976"/>
            <a:ext cx="11277295" cy="2105660"/>
          </a:xfrm>
          <a:prstGeom prst="rect">
            <a:avLst/>
          </a:prstGeom>
          <a:noFill/>
        </p:spPr>
        <p:txBody>
          <a:bodyPr wrap="square" lIns="201168" tIns="118872" rIns="201168" bIns="118872" anchor="t" rtlCol="0">
            <a:noAutofit/>
          </a:bodyPr>
          <a:lstStyle/>
          <a:p>
            <a:pPr algn="just">
              <a:lnSpc>
                <a:spcPts val="2060"/>
              </a:lnSpc>
              <a:spcBef>
                <a:spcPts val="0"/>
              </a:spcBef>
              <a:spcAft>
                <a:spcPts val="0"/>
              </a:spcAft>
              <a:buNone/>
            </a:pPr>
            <a:r>
              <a:rPr lang="en-US" altLang="ko-KR" sz="1450" b="0" dirty="0">
                <a:solidFill>
                  <a:srgbClr val="B3BAC6"/>
                </a:solidFill>
                <a:latin typeface="Calibri"/>
                <a:ea typeface="맑은 고딕"/>
                <a:cs typeface="Calibri"/>
              </a:rPr>
              <a:t>There are other examples of symbolic objects in Munjado. They are bamboo in the paintings of the character chung (忠) and lotus flowers in the paintings of ui (義). Bamboo does not bend. It stays green in all kinds of weather. For these reasons, bamboo came to symbolize loyalty to the king. In the case of lotus flowers, they grow in muddy ponds but still bloom beautifully. They thus became a symbol of </a:t>
            </a:r>
            <a:r>
              <a:rPr lang="en-US" altLang="ko-KR" sz="1450" b="0" dirty="0">
                <a:solidFill>
                  <a:srgbClr val="111111"/>
                </a:solidFill>
                <a:highlight>
                  <a:srgbClr val="FFE45C"/>
                </a:highlight>
                <a:latin typeface="Calibri"/>
                <a:ea typeface="맑은 고딕"/>
                <a:cs typeface="Calibri"/>
              </a:rPr>
              <a:t>a person’s will to fight for justice</a:t>
            </a:r>
            <a:r>
              <a:rPr lang="en-US" altLang="ko-KR" sz="1450" b="0" dirty="0">
                <a:solidFill>
                  <a:srgbClr val="B3BAC6"/>
                </a:solidFill>
                <a:latin typeface="Calibri"/>
                <a:ea typeface="맑은 고딕"/>
                <a:cs typeface="Calibri"/>
              </a:rPr>
              <a:t> despite difficulties. Munjado was much more than a painting to people of the Joseon dynasty. It reminded them of important values that greatly influenced their behaviors and attitudes. In particular, for children, Munjado was a study tool. Through it, children in the Joseon dynasty could learn the importance of harmony in family and society.</a:t>
            </a:r>
            <a:endParaRPr lang="en-US" altLang="ko-KR" sz="1450" b="0" dirty="0">
              <a:solidFill>
                <a:srgbClr val="B3BAC6"/>
              </a:solidFill>
              <a:latin typeface="Calibri"/>
              <a:ea typeface="맑은 고딕"/>
              <a:cs typeface="Calibri"/>
            </a:endParaRPr>
          </a:p>
        </p:txBody>
      </p:sp>
      <p:sp>
        <p:nvSpPr>
          <p:cNvPr id="11" name="choice_1"/>
          <p:cNvSpPr txBox="1"/>
          <p:nvPr/>
        </p:nvSpPr>
        <p:spPr>
          <a:xfrm>
            <a:off x="457200" y="3202940"/>
            <a:ext cx="11277295" cy="369824"/>
          </a:xfrm>
          <a:prstGeom prst="rect">
            <a:avLst/>
          </a:prstGeom>
          <a:noFill/>
        </p:spPr>
        <p:txBody>
          <a:bodyPr wrap="square" lIns="137160" tIns="27432" rIns="137160" bIns="27432" anchor="t" rtlCol="0">
            <a:noAutofit/>
          </a:bodyPr>
          <a:lstStyle/>
          <a:p>
            <a:pPr algn="l" marL="355600" indent="-355600">
              <a:lnSpc>
                <a:spcPts val="2480"/>
              </a:lnSpc>
              <a:spcBef>
                <a:spcPts val="0"/>
              </a:spcBef>
              <a:spcAft>
                <a:spcPts val="0"/>
              </a:spcAft>
              <a:buNone/>
              <a:tabLst>
                <a:tab pos="355600" algn="l"/>
              </a:tabLst>
            </a:pPr>
            <a:r>
              <a:rPr lang="ko-KR" altLang="en-US" sz="1750" b="1" dirty="0">
                <a:solidFill>
                  <a:srgbClr val="1E2A5A"/>
                </a:solidFill>
                <a:latin typeface="맑은 고딕"/>
                <a:ea typeface="맑은 고딕"/>
                <a:cs typeface="맑은 고딕"/>
              </a:rPr>
              <a:t>①</a:t>
            </a:r>
            <a:r>
              <a:rPr lang="ko-KR" altLang="en-US" sz="1750" b="0" dirty="0">
                <a:solidFill>
                  <a:srgbClr val="1F2328"/>
                </a:solidFill>
                <a:latin typeface="맑은 고딕"/>
                <a:ea typeface="맑은 고딕"/>
                <a:cs typeface="맑은 고딕"/>
              </a:rPr>
              <a:t>	충 그림에는 대나무가 그려져 있다</a:t>
            </a:r>
            <a:endParaRPr lang="ko-KR" altLang="en-US" sz="1750" b="0" dirty="0">
              <a:solidFill>
                <a:srgbClr val="1F2328"/>
              </a:solidFill>
              <a:latin typeface="맑은 고딕"/>
              <a:ea typeface="맑은 고딕"/>
              <a:cs typeface="맑은 고딕"/>
            </a:endParaRPr>
          </a:p>
        </p:txBody>
      </p:sp>
      <p:sp>
        <p:nvSpPr>
          <p:cNvPr id="12" name="choice_2"/>
          <p:cNvSpPr txBox="1"/>
          <p:nvPr/>
        </p:nvSpPr>
        <p:spPr>
          <a:xfrm>
            <a:off x="457200" y="3600196"/>
            <a:ext cx="11277295" cy="369824"/>
          </a:xfrm>
          <a:prstGeom prst="rect">
            <a:avLst/>
          </a:prstGeom>
          <a:noFill/>
        </p:spPr>
        <p:txBody>
          <a:bodyPr wrap="square" lIns="137160" tIns="27432" rIns="137160" bIns="27432" anchor="t" rtlCol="0">
            <a:noAutofit/>
          </a:bodyPr>
          <a:lstStyle/>
          <a:p>
            <a:pPr algn="l" marL="355600" indent="-355600">
              <a:lnSpc>
                <a:spcPts val="2480"/>
              </a:lnSpc>
              <a:spcBef>
                <a:spcPts val="0"/>
              </a:spcBef>
              <a:spcAft>
                <a:spcPts val="0"/>
              </a:spcAft>
              <a:buNone/>
              <a:tabLst>
                <a:tab pos="355600" algn="l"/>
              </a:tabLst>
            </a:pPr>
            <a:r>
              <a:rPr lang="ko-KR" altLang="en-US" sz="1750" b="1" dirty="0">
                <a:solidFill>
                  <a:srgbClr val="1E2A5A"/>
                </a:solidFill>
                <a:latin typeface="맑은 고딕"/>
                <a:ea typeface="맑은 고딕"/>
                <a:cs typeface="맑은 고딕"/>
              </a:rPr>
              <a:t>②</a:t>
            </a:r>
            <a:r>
              <a:rPr lang="ko-KR" altLang="en-US" sz="1750" b="0" dirty="0">
                <a:solidFill>
                  <a:srgbClr val="1F2328"/>
                </a:solidFill>
                <a:latin typeface="맑은 고딕"/>
                <a:ea typeface="맑은 고딕"/>
                <a:cs typeface="맑은 고딕"/>
              </a:rPr>
              <a:t>	대나무는 어떤 날씨에도 푸르름을 유지한다</a:t>
            </a:r>
            <a:endParaRPr lang="ko-KR" altLang="en-US" sz="1750" b="0" dirty="0">
              <a:solidFill>
                <a:srgbClr val="1F2328"/>
              </a:solidFill>
              <a:latin typeface="맑은 고딕"/>
              <a:ea typeface="맑은 고딕"/>
              <a:cs typeface="맑은 고딕"/>
            </a:endParaRPr>
          </a:p>
        </p:txBody>
      </p:sp>
      <p:sp>
        <p:nvSpPr>
          <p:cNvPr id="13" name="choice_3"/>
          <p:cNvSpPr txBox="1"/>
          <p:nvPr/>
        </p:nvSpPr>
        <p:spPr>
          <a:xfrm>
            <a:off x="457200" y="3997452"/>
            <a:ext cx="11277295" cy="369824"/>
          </a:xfrm>
          <a:prstGeom prst="rect">
            <a:avLst/>
          </a:prstGeom>
          <a:noFill/>
        </p:spPr>
        <p:txBody>
          <a:bodyPr wrap="square" lIns="137160" tIns="27432" rIns="137160" bIns="27432" anchor="t" rtlCol="0">
            <a:noAutofit/>
          </a:bodyPr>
          <a:lstStyle/>
          <a:p>
            <a:pPr algn="l" marL="355600" indent="-355600">
              <a:lnSpc>
                <a:spcPts val="2480"/>
              </a:lnSpc>
              <a:spcBef>
                <a:spcPts val="0"/>
              </a:spcBef>
              <a:spcAft>
                <a:spcPts val="0"/>
              </a:spcAft>
              <a:buNone/>
              <a:tabLst>
                <a:tab pos="355600" algn="l"/>
              </a:tabLst>
            </a:pPr>
            <a:r>
              <a:rPr lang="ko-KR" altLang="en-US" sz="1750" b="1" dirty="0">
                <a:solidFill>
                  <a:srgbClr val="1E2A5A"/>
                </a:solidFill>
                <a:latin typeface="맑은 고딕"/>
                <a:ea typeface="맑은 고딕"/>
                <a:cs typeface="맑은 고딕"/>
              </a:rPr>
              <a:t>③</a:t>
            </a:r>
            <a:r>
              <a:rPr lang="ko-KR" altLang="en-US" sz="1750" b="0" dirty="0">
                <a:solidFill>
                  <a:srgbClr val="1F2328"/>
                </a:solidFill>
                <a:latin typeface="맑은 고딕"/>
                <a:ea typeface="맑은 고딕"/>
                <a:cs typeface="맑은 고딕"/>
              </a:rPr>
              <a:t>	연꽃은 진흙투성이 연못에서 자란다</a:t>
            </a:r>
            <a:endParaRPr lang="ko-KR" altLang="en-US" sz="1750" b="0" dirty="0">
              <a:solidFill>
                <a:srgbClr val="1F2328"/>
              </a:solidFill>
              <a:latin typeface="맑은 고딕"/>
              <a:ea typeface="맑은 고딕"/>
              <a:cs typeface="맑은 고딕"/>
            </a:endParaRPr>
          </a:p>
        </p:txBody>
      </p:sp>
      <p:sp>
        <p:nvSpPr>
          <p:cNvPr id="14" name="choice_4"/>
          <p:cNvSpPr txBox="1"/>
          <p:nvPr/>
        </p:nvSpPr>
        <p:spPr>
          <a:xfrm>
            <a:off x="457200" y="4394708"/>
            <a:ext cx="11277295" cy="369824"/>
          </a:xfrm>
          <a:prstGeom prst="rect">
            <a:avLst/>
          </a:prstGeom>
          <a:noFill/>
        </p:spPr>
        <p:txBody>
          <a:bodyPr wrap="square" lIns="137160" tIns="27432" rIns="137160" bIns="27432" anchor="t" rtlCol="0">
            <a:noAutofit/>
          </a:bodyPr>
          <a:lstStyle/>
          <a:p>
            <a:pPr algn="l" marL="355600" indent="-355600">
              <a:lnSpc>
                <a:spcPts val="2480"/>
              </a:lnSpc>
              <a:spcBef>
                <a:spcPts val="0"/>
              </a:spcBef>
              <a:spcAft>
                <a:spcPts val="0"/>
              </a:spcAft>
              <a:buNone/>
              <a:tabLst>
                <a:tab pos="355600" algn="l"/>
              </a:tabLst>
            </a:pPr>
            <a:r>
              <a:rPr lang="ko-KR" altLang="en-US" sz="1750" b="1" dirty="0">
                <a:solidFill>
                  <a:srgbClr val="1E2A5A"/>
                </a:solidFill>
                <a:latin typeface="맑은 고딕"/>
                <a:ea typeface="맑은 고딕"/>
                <a:cs typeface="맑은 고딕"/>
              </a:rPr>
              <a:t>④</a:t>
            </a:r>
            <a:r>
              <a:rPr lang="ko-KR" altLang="en-US" sz="1750" b="0" dirty="0">
                <a:solidFill>
                  <a:srgbClr val="1F2328"/>
                </a:solidFill>
                <a:latin typeface="맑은 고딕"/>
                <a:ea typeface="맑은 고딕"/>
                <a:cs typeface="맑은 고딕"/>
              </a:rPr>
              <a:t>	연꽃은 아이들의 학습 의지를 상징한다</a:t>
            </a:r>
            <a:endParaRPr lang="ko-KR" altLang="en-US" sz="1750" b="0" dirty="0">
              <a:solidFill>
                <a:srgbClr val="1F2328"/>
              </a:solidFill>
              <a:latin typeface="맑은 고딕"/>
              <a:ea typeface="맑은 고딕"/>
              <a:cs typeface="맑은 고딕"/>
            </a:endParaRPr>
          </a:p>
        </p:txBody>
      </p:sp>
      <p:sp>
        <p:nvSpPr>
          <p:cNvPr id="15" name="rv_pick"/>
          <p:cNvSpPr txBox="1"/>
          <p:nvPr/>
        </p:nvSpPr>
        <p:spPr>
          <a:xfrm>
            <a:off x="457200" y="4394708"/>
            <a:ext cx="11277295" cy="369824"/>
          </a:xfrm>
          <a:prstGeom prst="rect">
            <a:avLst/>
          </a:prstGeom>
          <a:solidFill>
            <a:srgbClr val="FFF3C4"/>
          </a:solidFill>
        </p:spPr>
        <p:txBody>
          <a:bodyPr wrap="square" lIns="137160" tIns="27432" rIns="137160" bIns="27432" anchor="t" rtlCol="0">
            <a:noAutofit/>
          </a:bodyPr>
          <a:lstStyle/>
          <a:p>
            <a:pPr algn="l" marL="355600" indent="-355600">
              <a:lnSpc>
                <a:spcPts val="2480"/>
              </a:lnSpc>
              <a:spcBef>
                <a:spcPts val="0"/>
              </a:spcBef>
              <a:spcAft>
                <a:spcPts val="0"/>
              </a:spcAft>
              <a:buNone/>
              <a:tabLst>
                <a:tab pos="355600" algn="l"/>
              </a:tabLst>
            </a:pPr>
            <a:r>
              <a:rPr lang="ko-KR" altLang="en-US" sz="1750" b="1" dirty="0">
                <a:solidFill>
                  <a:srgbClr val="C00000"/>
                </a:solidFill>
                <a:latin typeface="맑은 고딕"/>
                <a:ea typeface="맑은 고딕"/>
                <a:cs typeface="맑은 고딕"/>
              </a:rPr>
              <a:t>④</a:t>
            </a:r>
            <a:r>
              <a:rPr lang="ko-KR" altLang="en-US" sz="1750" b="0" dirty="0">
                <a:solidFill>
                  <a:srgbClr val="C00000"/>
                </a:solidFill>
                <a:latin typeface="맑은 고딕"/>
                <a:ea typeface="맑은 고딕"/>
                <a:cs typeface="맑은 고딕"/>
              </a:rPr>
              <a:t>	연꽃은 아이들의 학습 의지를 상징한다</a:t>
            </a:r>
            <a:endParaRPr lang="ko-KR" altLang="en-US" sz="1750" b="0" dirty="0">
              <a:solidFill>
                <a:srgbClr val="C00000"/>
              </a:solidFill>
              <a:latin typeface="맑은 고딕"/>
              <a:ea typeface="맑은 고딕"/>
              <a:cs typeface="맑은 고딕"/>
            </a:endParaRPr>
          </a:p>
        </p:txBody>
      </p:sp>
      <p:sp>
        <p:nvSpPr>
          <p:cNvPr id="16" name="choice_5"/>
          <p:cNvSpPr txBox="1"/>
          <p:nvPr/>
        </p:nvSpPr>
        <p:spPr>
          <a:xfrm>
            <a:off x="457200" y="4791964"/>
            <a:ext cx="11277295" cy="369824"/>
          </a:xfrm>
          <a:prstGeom prst="rect">
            <a:avLst/>
          </a:prstGeom>
          <a:noFill/>
        </p:spPr>
        <p:txBody>
          <a:bodyPr wrap="square" lIns="137160" tIns="27432" rIns="137160" bIns="27432" anchor="t" rtlCol="0">
            <a:noAutofit/>
          </a:bodyPr>
          <a:lstStyle/>
          <a:p>
            <a:pPr algn="l" marL="355600" indent="-355600">
              <a:lnSpc>
                <a:spcPts val="2480"/>
              </a:lnSpc>
              <a:spcBef>
                <a:spcPts val="0"/>
              </a:spcBef>
              <a:spcAft>
                <a:spcPts val="0"/>
              </a:spcAft>
              <a:buNone/>
              <a:tabLst>
                <a:tab pos="355600" algn="l"/>
              </a:tabLst>
            </a:pPr>
            <a:r>
              <a:rPr lang="ko-KR" altLang="en-US" sz="1750" b="1" dirty="0">
                <a:solidFill>
                  <a:srgbClr val="1E2A5A"/>
                </a:solidFill>
                <a:latin typeface="맑은 고딕"/>
                <a:ea typeface="맑은 고딕"/>
                <a:cs typeface="맑은 고딕"/>
              </a:rPr>
              <a:t>⑤</a:t>
            </a:r>
            <a:r>
              <a:rPr lang="ko-KR" altLang="en-US" sz="1750" b="0" dirty="0">
                <a:solidFill>
                  <a:srgbClr val="1F2328"/>
                </a:solidFill>
                <a:latin typeface="맑은 고딕"/>
                <a:ea typeface="맑은 고딕"/>
                <a:cs typeface="맑은 고딕"/>
              </a:rPr>
              <a:t>	대나무는 왕에 대한 충성심을 상징한다</a:t>
            </a:r>
            <a:endParaRPr lang="ko-KR" altLang="en-US" sz="1750" b="0" dirty="0">
              <a:solidFill>
                <a:srgbClr val="1F2328"/>
              </a:solidFill>
              <a:latin typeface="맑은 고딕"/>
              <a:ea typeface="맑은 고딕"/>
              <a:cs typeface="맑은 고딕"/>
            </a:endParaRPr>
          </a:p>
        </p:txBody>
      </p:sp>
      <p:sp>
        <p:nvSpPr>
          <p:cNvPr id="17" name="rv_answer"/>
          <p:cNvSpPr/>
          <p:nvPr/>
        </p:nvSpPr>
        <p:spPr>
          <a:xfrm>
            <a:off x="457200" y="527151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④ </a:t>
            </a:r>
            <a:r>
              <a:rPr lang="ko-KR" altLang="en-US" sz="1900" b="1" dirty="0">
                <a:solidFill>
                  <a:srgbClr val="5A4200"/>
                </a:solidFill>
                <a:latin typeface="맑은 고딕"/>
                <a:ea typeface="맑은 고딕"/>
                <a:cs typeface="맑은 고딕"/>
              </a:rPr>
              <a:t>연꽃은 아이들의 학습 의지를 상징한다</a:t>
            </a:r>
            <a:endParaRPr lang="ko-KR" altLang="en-US" sz="1900" b="1" dirty="0">
              <a:solidFill>
                <a:srgbClr val="5A4200"/>
              </a:solidFill>
              <a:latin typeface="맑은 고딕"/>
              <a:ea typeface="맑은 고딕"/>
              <a:cs typeface="맑은 고딕"/>
            </a:endParaRPr>
          </a:p>
        </p:txBody>
      </p:sp>
      <p:sp>
        <p:nvSpPr>
          <p:cNvPr id="18" name="rv_why"/>
          <p:cNvSpPr/>
          <p:nvPr/>
        </p:nvSpPr>
        <p:spPr>
          <a:xfrm>
            <a:off x="457200" y="5870448"/>
            <a:ext cx="11277295" cy="54863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연꽃은 정의를 위해 싸우려는 한 사람의 의지를 상징한다. 아이들의 학습 의지를 상징한다는 ④는 틀리다.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250"/>
                                        <p:tgtEl>
                                          <p:spTgt spid="1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25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25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7" grpId="0" animBg="1"/>
      <p:bldP spid="9" grpId="0" animBg="1"/>
      <p:bldP spid="10" grpId="0" animBg="1"/>
      <p:bldP spid="18" grpId="0" animBg="1"/>
    </p:bldLst>
  </p:timing>
</p:sld>
</file>

<file path=ppt/slides/slide27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L8-3</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1 · 6</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6. 다음 글의 내용과 일치하는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8</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본문 근거 형광 + 정답 원리</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210566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2105660"/>
          </a:xfrm>
          <a:prstGeom prst="rect">
            <a:avLst/>
          </a:prstGeom>
          <a:noFill/>
        </p:spPr>
        <p:txBody>
          <a:bodyPr wrap="square" lIns="201168" tIns="118872" rIns="201168" bIns="118872" anchor="t" rtlCol="0">
            <a:noAutofit/>
          </a:bodyPr>
          <a:lstStyle/>
          <a:p>
            <a:pPr algn="just">
              <a:lnSpc>
                <a:spcPts val="2060"/>
              </a:lnSpc>
              <a:spcBef>
                <a:spcPts val="0"/>
              </a:spcBef>
              <a:spcAft>
                <a:spcPts val="0"/>
              </a:spcAft>
              <a:buNone/>
            </a:pPr>
            <a:r>
              <a:rPr lang="en-US" altLang="ko-KR" sz="1450" b="0" dirty="0">
                <a:solidFill>
                  <a:srgbClr val="1F2328"/>
                </a:solidFill>
                <a:latin typeface="Calibri"/>
                <a:ea typeface="맑은 고딕"/>
                <a:cs typeface="Calibri"/>
              </a:rPr>
              <a:t>There are other examples of symbolic objects in Munjado. They are bamboo in the paintings of the character chung (忠) and lotus flowers in the paintings of ui (義). Bamboo does not bend. It stays green in all kinds of weather. For these reasons, bamboo came to symbolize loyalty to the king. In the case of lotus flowers, they grow in muddy ponds but still bloom beautifully. They thus became a symbol of a person’s will to fight for justice despite difficulties. Munjado was much more than a painting to people of the Joseon dynasty. It reminded them of important values that greatly influenced their behaviors and attitudes. </a:t>
            </a:r>
            <a:r>
              <a:rPr lang="en-US" altLang="ko-KR" sz="1450" b="0" dirty="0">
                <a:solidFill>
                  <a:srgbClr val="1F2328"/>
                </a:solidFill>
                <a:latin typeface="Calibri"/>
                <a:ea typeface="맑은 고딕"/>
                <a:cs typeface="Calibri"/>
              </a:rPr>
              <a:t>In particular, for children, Munjado was a study tool.</a:t>
            </a:r>
            <a:r>
              <a:rPr lang="en-US" altLang="ko-KR" sz="1450" b="0" dirty="0">
                <a:solidFill>
                  <a:srgbClr val="1F2328"/>
                </a:solidFill>
                <a:latin typeface="Calibri"/>
                <a:ea typeface="맑은 고딕"/>
                <a:cs typeface="Calibri"/>
              </a:rPr>
              <a:t> Through it, children in the Joseon dynasty could learn the importance of harmony in family and society.</a:t>
            </a:r>
            <a:endParaRPr lang="en-US" altLang="ko-KR" sz="1450" b="0" dirty="0">
              <a:solidFill>
                <a:srgbClr val="1F2328"/>
              </a:solidFill>
              <a:latin typeface="Calibri"/>
              <a:ea typeface="맑은 고딕"/>
              <a:cs typeface="Calibri"/>
            </a:endParaRPr>
          </a:p>
        </p:txBody>
      </p:sp>
      <p:sp>
        <p:nvSpPr>
          <p:cNvPr id="9" name="rv_evidence_card"/>
          <p:cNvSpPr/>
          <p:nvPr/>
        </p:nvSpPr>
        <p:spPr>
          <a:xfrm>
            <a:off x="457200" y="950976"/>
            <a:ext cx="11277295" cy="210566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rv_evidence"/>
          <p:cNvSpPr txBox="1"/>
          <p:nvPr/>
        </p:nvSpPr>
        <p:spPr>
          <a:xfrm>
            <a:off x="457200" y="950976"/>
            <a:ext cx="11277295" cy="2105660"/>
          </a:xfrm>
          <a:prstGeom prst="rect">
            <a:avLst/>
          </a:prstGeom>
          <a:noFill/>
        </p:spPr>
        <p:txBody>
          <a:bodyPr wrap="square" lIns="201168" tIns="118872" rIns="201168" bIns="118872" anchor="t" rtlCol="0">
            <a:noAutofit/>
          </a:bodyPr>
          <a:lstStyle/>
          <a:p>
            <a:pPr algn="just">
              <a:lnSpc>
                <a:spcPts val="2060"/>
              </a:lnSpc>
              <a:spcBef>
                <a:spcPts val="0"/>
              </a:spcBef>
              <a:spcAft>
                <a:spcPts val="0"/>
              </a:spcAft>
              <a:buNone/>
            </a:pPr>
            <a:r>
              <a:rPr lang="en-US" altLang="ko-KR" sz="1450" b="0" dirty="0">
                <a:solidFill>
                  <a:srgbClr val="B3BAC6"/>
                </a:solidFill>
                <a:latin typeface="Calibri"/>
                <a:ea typeface="맑은 고딕"/>
                <a:cs typeface="Calibri"/>
              </a:rPr>
              <a:t>There are other examples of symbolic objects in Munjado. They are bamboo in the paintings of the character chung (忠) and lotus flowers in the paintings of ui (義). Bamboo does not bend. It stays green in all kinds of weather. For these reasons, bamboo came to symbolize loyalty to the king. In the case of lotus flowers, they grow in muddy ponds but still bloom beautifully. They thus became a symbol of a person’s will to fight for justice despite difficulties. Munjado was much more than a painting to people of the Joseon dynasty. It reminded them of important values that greatly influenced their behaviors and attitudes. </a:t>
            </a:r>
            <a:r>
              <a:rPr lang="en-US" altLang="ko-KR" sz="1450" b="0" dirty="0">
                <a:solidFill>
                  <a:srgbClr val="111111"/>
                </a:solidFill>
                <a:highlight>
                  <a:srgbClr val="FFE45C"/>
                </a:highlight>
                <a:latin typeface="Calibri"/>
                <a:ea typeface="맑은 고딕"/>
                <a:cs typeface="Calibri"/>
              </a:rPr>
              <a:t>In particular, for children, Munjado was a study tool.</a:t>
            </a:r>
            <a:r>
              <a:rPr lang="en-US" altLang="ko-KR" sz="1450" b="0" dirty="0">
                <a:solidFill>
                  <a:srgbClr val="B3BAC6"/>
                </a:solidFill>
                <a:latin typeface="Calibri"/>
                <a:ea typeface="맑은 고딕"/>
                <a:cs typeface="Calibri"/>
              </a:rPr>
              <a:t> Through it, children in the Joseon dynasty could learn the importance of harmony in family and society.</a:t>
            </a:r>
            <a:endParaRPr lang="en-US" altLang="ko-KR" sz="1450" b="0" dirty="0">
              <a:solidFill>
                <a:srgbClr val="B3BAC6"/>
              </a:solidFill>
              <a:latin typeface="Calibri"/>
              <a:ea typeface="맑은 고딕"/>
              <a:cs typeface="Calibri"/>
            </a:endParaRPr>
          </a:p>
        </p:txBody>
      </p:sp>
      <p:sp>
        <p:nvSpPr>
          <p:cNvPr id="11" name="choice_1"/>
          <p:cNvSpPr txBox="1"/>
          <p:nvPr/>
        </p:nvSpPr>
        <p:spPr>
          <a:xfrm>
            <a:off x="457200" y="3202940"/>
            <a:ext cx="11277295" cy="369824"/>
          </a:xfrm>
          <a:prstGeom prst="rect">
            <a:avLst/>
          </a:prstGeom>
          <a:noFill/>
        </p:spPr>
        <p:txBody>
          <a:bodyPr wrap="square" lIns="137160" tIns="27432" rIns="137160" bIns="27432" anchor="t" rtlCol="0">
            <a:noAutofit/>
          </a:bodyPr>
          <a:lstStyle/>
          <a:p>
            <a:pPr algn="l" marL="355600" indent="-355600">
              <a:lnSpc>
                <a:spcPts val="2480"/>
              </a:lnSpc>
              <a:spcBef>
                <a:spcPts val="0"/>
              </a:spcBef>
              <a:spcAft>
                <a:spcPts val="0"/>
              </a:spcAft>
              <a:buNone/>
              <a:tabLst>
                <a:tab pos="355600" algn="l"/>
              </a:tabLst>
            </a:pPr>
            <a:r>
              <a:rPr lang="ko-KR" altLang="en-US" sz="1750" b="1" dirty="0">
                <a:solidFill>
                  <a:srgbClr val="1E2A5A"/>
                </a:solidFill>
                <a:latin typeface="맑은 고딕"/>
                <a:ea typeface="맑은 고딕"/>
                <a:cs typeface="맑은 고딕"/>
              </a:rPr>
              <a:t>①</a:t>
            </a:r>
            <a:r>
              <a:rPr lang="ko-KR" altLang="en-US" sz="1750" b="0" dirty="0">
                <a:solidFill>
                  <a:srgbClr val="1F2328"/>
                </a:solidFill>
                <a:latin typeface="맑은 고딕"/>
                <a:ea typeface="맑은 고딕"/>
                <a:cs typeface="맑은 고딕"/>
              </a:rPr>
              <a:t>	문자도는 아이들의 학습 도구였다</a:t>
            </a:r>
            <a:endParaRPr lang="ko-KR" altLang="en-US" sz="1750" b="0" dirty="0">
              <a:solidFill>
                <a:srgbClr val="1F2328"/>
              </a:solidFill>
              <a:latin typeface="맑은 고딕"/>
              <a:ea typeface="맑은 고딕"/>
              <a:cs typeface="맑은 고딕"/>
            </a:endParaRPr>
          </a:p>
        </p:txBody>
      </p:sp>
      <p:sp>
        <p:nvSpPr>
          <p:cNvPr id="12" name="rv_pick"/>
          <p:cNvSpPr txBox="1"/>
          <p:nvPr/>
        </p:nvSpPr>
        <p:spPr>
          <a:xfrm>
            <a:off x="457200" y="3202940"/>
            <a:ext cx="11277295" cy="369824"/>
          </a:xfrm>
          <a:prstGeom prst="rect">
            <a:avLst/>
          </a:prstGeom>
          <a:solidFill>
            <a:srgbClr val="FFF3C4"/>
          </a:solidFill>
        </p:spPr>
        <p:txBody>
          <a:bodyPr wrap="square" lIns="137160" tIns="27432" rIns="137160" bIns="27432" anchor="t" rtlCol="0">
            <a:noAutofit/>
          </a:bodyPr>
          <a:lstStyle/>
          <a:p>
            <a:pPr algn="l" marL="355600" indent="-355600">
              <a:lnSpc>
                <a:spcPts val="2480"/>
              </a:lnSpc>
              <a:spcBef>
                <a:spcPts val="0"/>
              </a:spcBef>
              <a:spcAft>
                <a:spcPts val="0"/>
              </a:spcAft>
              <a:buNone/>
              <a:tabLst>
                <a:tab pos="355600" algn="l"/>
              </a:tabLst>
            </a:pPr>
            <a:r>
              <a:rPr lang="ko-KR" altLang="en-US" sz="1750" b="1" dirty="0">
                <a:solidFill>
                  <a:srgbClr val="C00000"/>
                </a:solidFill>
                <a:latin typeface="맑은 고딕"/>
                <a:ea typeface="맑은 고딕"/>
                <a:cs typeface="맑은 고딕"/>
              </a:rPr>
              <a:t>①</a:t>
            </a:r>
            <a:r>
              <a:rPr lang="ko-KR" altLang="en-US" sz="1750" b="0" dirty="0">
                <a:solidFill>
                  <a:srgbClr val="C00000"/>
                </a:solidFill>
                <a:latin typeface="맑은 고딕"/>
                <a:ea typeface="맑은 고딕"/>
                <a:cs typeface="맑은 고딕"/>
              </a:rPr>
              <a:t>	문자도는 아이들의 학습 도구였다</a:t>
            </a:r>
            <a:endParaRPr lang="ko-KR" altLang="en-US" sz="1750" b="0" dirty="0">
              <a:solidFill>
                <a:srgbClr val="C00000"/>
              </a:solidFill>
              <a:latin typeface="맑은 고딕"/>
              <a:ea typeface="맑은 고딕"/>
              <a:cs typeface="맑은 고딕"/>
            </a:endParaRPr>
          </a:p>
        </p:txBody>
      </p:sp>
      <p:sp>
        <p:nvSpPr>
          <p:cNvPr id="13" name="choice_2"/>
          <p:cNvSpPr txBox="1"/>
          <p:nvPr/>
        </p:nvSpPr>
        <p:spPr>
          <a:xfrm>
            <a:off x="457200" y="3600196"/>
            <a:ext cx="11277295" cy="369824"/>
          </a:xfrm>
          <a:prstGeom prst="rect">
            <a:avLst/>
          </a:prstGeom>
          <a:noFill/>
        </p:spPr>
        <p:txBody>
          <a:bodyPr wrap="square" lIns="137160" tIns="27432" rIns="137160" bIns="27432" anchor="t" rtlCol="0">
            <a:noAutofit/>
          </a:bodyPr>
          <a:lstStyle/>
          <a:p>
            <a:pPr algn="l" marL="355600" indent="-355600">
              <a:lnSpc>
                <a:spcPts val="2480"/>
              </a:lnSpc>
              <a:spcBef>
                <a:spcPts val="0"/>
              </a:spcBef>
              <a:spcAft>
                <a:spcPts val="0"/>
              </a:spcAft>
              <a:buNone/>
              <a:tabLst>
                <a:tab pos="355600" algn="l"/>
              </a:tabLst>
            </a:pPr>
            <a:r>
              <a:rPr lang="ko-KR" altLang="en-US" sz="1750" b="1" dirty="0">
                <a:solidFill>
                  <a:srgbClr val="1E2A5A"/>
                </a:solidFill>
                <a:latin typeface="맑은 고딕"/>
                <a:ea typeface="맑은 고딕"/>
                <a:cs typeface="맑은 고딕"/>
              </a:rPr>
              <a:t>②</a:t>
            </a:r>
            <a:r>
              <a:rPr lang="ko-KR" altLang="en-US" sz="1750" b="0" dirty="0">
                <a:solidFill>
                  <a:srgbClr val="1F2328"/>
                </a:solidFill>
                <a:latin typeface="맑은 고딕"/>
                <a:ea typeface="맑은 고딕"/>
                <a:cs typeface="맑은 고딕"/>
              </a:rPr>
              <a:t>	의 그림에는 대나무가 그려져 있다</a:t>
            </a:r>
            <a:endParaRPr lang="ko-KR" altLang="en-US" sz="1750" b="0" dirty="0">
              <a:solidFill>
                <a:srgbClr val="1F2328"/>
              </a:solidFill>
              <a:latin typeface="맑은 고딕"/>
              <a:ea typeface="맑은 고딕"/>
              <a:cs typeface="맑은 고딕"/>
            </a:endParaRPr>
          </a:p>
        </p:txBody>
      </p:sp>
      <p:sp>
        <p:nvSpPr>
          <p:cNvPr id="14" name="choice_3"/>
          <p:cNvSpPr txBox="1"/>
          <p:nvPr/>
        </p:nvSpPr>
        <p:spPr>
          <a:xfrm>
            <a:off x="457200" y="3997452"/>
            <a:ext cx="11277295" cy="369824"/>
          </a:xfrm>
          <a:prstGeom prst="rect">
            <a:avLst/>
          </a:prstGeom>
          <a:noFill/>
        </p:spPr>
        <p:txBody>
          <a:bodyPr wrap="square" lIns="137160" tIns="27432" rIns="137160" bIns="27432" anchor="t" rtlCol="0">
            <a:noAutofit/>
          </a:bodyPr>
          <a:lstStyle/>
          <a:p>
            <a:pPr algn="l" marL="355600" indent="-355600">
              <a:lnSpc>
                <a:spcPts val="2480"/>
              </a:lnSpc>
              <a:spcBef>
                <a:spcPts val="0"/>
              </a:spcBef>
              <a:spcAft>
                <a:spcPts val="0"/>
              </a:spcAft>
              <a:buNone/>
              <a:tabLst>
                <a:tab pos="355600" algn="l"/>
              </a:tabLst>
            </a:pPr>
            <a:r>
              <a:rPr lang="ko-KR" altLang="en-US" sz="1750" b="1" dirty="0">
                <a:solidFill>
                  <a:srgbClr val="1E2A5A"/>
                </a:solidFill>
                <a:latin typeface="맑은 고딕"/>
                <a:ea typeface="맑은 고딕"/>
                <a:cs typeface="맑은 고딕"/>
              </a:rPr>
              <a:t>③</a:t>
            </a:r>
            <a:r>
              <a:rPr lang="ko-KR" altLang="en-US" sz="1750" b="0" dirty="0">
                <a:solidFill>
                  <a:srgbClr val="1F2328"/>
                </a:solidFill>
                <a:latin typeface="맑은 고딕"/>
                <a:ea typeface="맑은 고딕"/>
                <a:cs typeface="맑은 고딕"/>
              </a:rPr>
              <a:t>	대나무는 바람이 불면 쉽게 구부러진다</a:t>
            </a:r>
            <a:endParaRPr lang="ko-KR" altLang="en-US" sz="1750" b="0" dirty="0">
              <a:solidFill>
                <a:srgbClr val="1F2328"/>
              </a:solidFill>
              <a:latin typeface="맑은 고딕"/>
              <a:ea typeface="맑은 고딕"/>
              <a:cs typeface="맑은 고딕"/>
            </a:endParaRPr>
          </a:p>
        </p:txBody>
      </p:sp>
      <p:sp>
        <p:nvSpPr>
          <p:cNvPr id="15" name="choice_4"/>
          <p:cNvSpPr txBox="1"/>
          <p:nvPr/>
        </p:nvSpPr>
        <p:spPr>
          <a:xfrm>
            <a:off x="457200" y="4394708"/>
            <a:ext cx="11277295" cy="369824"/>
          </a:xfrm>
          <a:prstGeom prst="rect">
            <a:avLst/>
          </a:prstGeom>
          <a:noFill/>
        </p:spPr>
        <p:txBody>
          <a:bodyPr wrap="square" lIns="137160" tIns="27432" rIns="137160" bIns="27432" anchor="t" rtlCol="0">
            <a:noAutofit/>
          </a:bodyPr>
          <a:lstStyle/>
          <a:p>
            <a:pPr algn="l" marL="355600" indent="-355600">
              <a:lnSpc>
                <a:spcPts val="2480"/>
              </a:lnSpc>
              <a:spcBef>
                <a:spcPts val="0"/>
              </a:spcBef>
              <a:spcAft>
                <a:spcPts val="0"/>
              </a:spcAft>
              <a:buNone/>
              <a:tabLst>
                <a:tab pos="355600" algn="l"/>
              </a:tabLst>
            </a:pPr>
            <a:r>
              <a:rPr lang="ko-KR" altLang="en-US" sz="1750" b="1" dirty="0">
                <a:solidFill>
                  <a:srgbClr val="1E2A5A"/>
                </a:solidFill>
                <a:latin typeface="맑은 고딕"/>
                <a:ea typeface="맑은 고딕"/>
                <a:cs typeface="맑은 고딕"/>
              </a:rPr>
              <a:t>④</a:t>
            </a:r>
            <a:r>
              <a:rPr lang="ko-KR" altLang="en-US" sz="1750" b="0" dirty="0">
                <a:solidFill>
                  <a:srgbClr val="1F2328"/>
                </a:solidFill>
                <a:latin typeface="맑은 고딕"/>
                <a:ea typeface="맑은 고딕"/>
                <a:cs typeface="맑은 고딕"/>
              </a:rPr>
              <a:t>	연꽃은 맑은 연못에서만 꽃을 피운다</a:t>
            </a:r>
            <a:endParaRPr lang="ko-KR" altLang="en-US" sz="1750" b="0" dirty="0">
              <a:solidFill>
                <a:srgbClr val="1F2328"/>
              </a:solidFill>
              <a:latin typeface="맑은 고딕"/>
              <a:ea typeface="맑은 고딕"/>
              <a:cs typeface="맑은 고딕"/>
            </a:endParaRPr>
          </a:p>
        </p:txBody>
      </p:sp>
      <p:sp>
        <p:nvSpPr>
          <p:cNvPr id="16" name="choice_5"/>
          <p:cNvSpPr txBox="1"/>
          <p:nvPr/>
        </p:nvSpPr>
        <p:spPr>
          <a:xfrm>
            <a:off x="457200" y="4791964"/>
            <a:ext cx="11277295" cy="369824"/>
          </a:xfrm>
          <a:prstGeom prst="rect">
            <a:avLst/>
          </a:prstGeom>
          <a:noFill/>
        </p:spPr>
        <p:txBody>
          <a:bodyPr wrap="square" lIns="137160" tIns="27432" rIns="137160" bIns="27432" anchor="t" rtlCol="0">
            <a:noAutofit/>
          </a:bodyPr>
          <a:lstStyle/>
          <a:p>
            <a:pPr algn="l" marL="355600" indent="-355600">
              <a:lnSpc>
                <a:spcPts val="2480"/>
              </a:lnSpc>
              <a:spcBef>
                <a:spcPts val="0"/>
              </a:spcBef>
              <a:spcAft>
                <a:spcPts val="0"/>
              </a:spcAft>
              <a:buNone/>
              <a:tabLst>
                <a:tab pos="355600" algn="l"/>
              </a:tabLst>
            </a:pPr>
            <a:r>
              <a:rPr lang="ko-KR" altLang="en-US" sz="1750" b="1" dirty="0">
                <a:solidFill>
                  <a:srgbClr val="1E2A5A"/>
                </a:solidFill>
                <a:latin typeface="맑은 고딕"/>
                <a:ea typeface="맑은 고딕"/>
                <a:cs typeface="맑은 고딕"/>
              </a:rPr>
              <a:t>⑤</a:t>
            </a:r>
            <a:r>
              <a:rPr lang="ko-KR" altLang="en-US" sz="1750" b="0" dirty="0">
                <a:solidFill>
                  <a:srgbClr val="1F2328"/>
                </a:solidFill>
                <a:latin typeface="맑은 고딕"/>
                <a:ea typeface="맑은 고딕"/>
                <a:cs typeface="맑은 고딕"/>
              </a:rPr>
              <a:t>	문자도는 어른만 보던 그림이었다</a:t>
            </a:r>
            <a:endParaRPr lang="ko-KR" altLang="en-US" sz="1750" b="0" dirty="0">
              <a:solidFill>
                <a:srgbClr val="1F2328"/>
              </a:solidFill>
              <a:latin typeface="맑은 고딕"/>
              <a:ea typeface="맑은 고딕"/>
              <a:cs typeface="맑은 고딕"/>
            </a:endParaRPr>
          </a:p>
        </p:txBody>
      </p:sp>
      <p:sp>
        <p:nvSpPr>
          <p:cNvPr id="17" name="rv_answer"/>
          <p:cNvSpPr/>
          <p:nvPr/>
        </p:nvSpPr>
        <p:spPr>
          <a:xfrm>
            <a:off x="457200" y="527151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① </a:t>
            </a:r>
            <a:r>
              <a:rPr lang="ko-KR" altLang="en-US" sz="1900" b="1" dirty="0">
                <a:solidFill>
                  <a:srgbClr val="5A4200"/>
                </a:solidFill>
                <a:latin typeface="맑은 고딕"/>
                <a:ea typeface="맑은 고딕"/>
                <a:cs typeface="맑은 고딕"/>
              </a:rPr>
              <a:t>문자도는 아이들의 학습 도구였다</a:t>
            </a:r>
            <a:endParaRPr lang="ko-KR" altLang="en-US" sz="1900" b="1" dirty="0">
              <a:solidFill>
                <a:srgbClr val="5A4200"/>
              </a:solidFill>
              <a:latin typeface="맑은 고딕"/>
              <a:ea typeface="맑은 고딕"/>
              <a:cs typeface="맑은 고딕"/>
            </a:endParaRPr>
          </a:p>
        </p:txBody>
      </p:sp>
      <p:sp>
        <p:nvSpPr>
          <p:cNvPr id="18" name="rv_why"/>
          <p:cNvSpPr/>
          <p:nvPr/>
        </p:nvSpPr>
        <p:spPr>
          <a:xfrm>
            <a:off x="457200" y="5870448"/>
            <a:ext cx="11277295" cy="54863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특히 아이들에게 문자도는 학습 도구('a study tool')였다고 했으므로 ①이 일치한다.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25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25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25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7" grpId="0" animBg="1"/>
      <p:bldP spid="9" grpId="0" animBg="1"/>
      <p:bldP spid="10" grpId="0" animBg="1"/>
      <p:bldP spid="18" grpId="0" animBg="1"/>
    </p:bldLst>
  </p:timing>
</p:sld>
</file>

<file path=ppt/slides/slide27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L8-3</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2 · 1</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1. 주어진 글 다음에 이어질 글의 순서로 가장 적절한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8</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정답 원리</a:t>
            </a:r>
            <a:endParaRPr lang="ko-KR" altLang="en-US" sz="1000" b="0" dirty="0">
              <a:solidFill>
                <a:srgbClr val="7A808C"/>
              </a:solidFill>
              <a:latin typeface="맑은 고딕"/>
              <a:ea typeface="맑은 고딕"/>
              <a:cs typeface="맑은 고딕"/>
            </a:endParaRPr>
          </a:p>
        </p:txBody>
      </p:sp>
      <p:sp>
        <p:nvSpPr>
          <p:cNvPr id="7" name="given_card"/>
          <p:cNvSpPr/>
          <p:nvPr/>
        </p:nvSpPr>
        <p:spPr>
          <a:xfrm>
            <a:off x="457200" y="950976"/>
            <a:ext cx="11277295" cy="448818"/>
          </a:xfrm>
          <a:prstGeom prst="roundRect">
            <a:avLst>
              <a:gd name="adj" fmla="val 6000"/>
            </a:avLst>
          </a:prstGeom>
          <a:solidFill>
            <a:srgbClr val="FFFFFF"/>
          </a:solidFill>
          <a:ln w="15875">
            <a:solidFill>
              <a:srgbClr val="1E2A5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given"/>
          <p:cNvSpPr txBox="1"/>
          <p:nvPr/>
        </p:nvSpPr>
        <p:spPr>
          <a:xfrm>
            <a:off x="457200" y="950976"/>
            <a:ext cx="11277295" cy="448818"/>
          </a:xfrm>
          <a:prstGeom prst="rect">
            <a:avLst/>
          </a:prstGeom>
          <a:noFill/>
        </p:spPr>
        <p:txBody>
          <a:bodyPr wrap="square" lIns="201168" tIns="100584" rIns="201168" bIns="100584" anchor="t" rtlCol="0">
            <a:noAutofit/>
          </a:bodyPr>
          <a:lstStyle/>
          <a:p>
            <a:pPr algn="l">
              <a:lnSpc>
                <a:spcPts val="1950"/>
              </a:lnSpc>
              <a:spcBef>
                <a:spcPts val="0"/>
              </a:spcBef>
              <a:spcAft>
                <a:spcPts val="0"/>
              </a:spcAft>
              <a:buNone/>
            </a:pPr>
            <a:r>
              <a:rPr lang="en-US" altLang="ko-KR" sz="1500" b="0" dirty="0">
                <a:solidFill>
                  <a:srgbClr val="1F2328"/>
                </a:solidFill>
                <a:latin typeface="Calibri"/>
                <a:ea typeface="맑은 고딕"/>
                <a:cs typeface="Calibri"/>
              </a:rPr>
              <a:t>There are other examples of symbolic objects in Munjado.</a:t>
            </a:r>
            <a:endParaRPr lang="en-US" altLang="ko-KR" sz="1500" b="0" dirty="0">
              <a:solidFill>
                <a:srgbClr val="1F2328"/>
              </a:solidFill>
              <a:latin typeface="Calibri"/>
              <a:ea typeface="맑은 고딕"/>
              <a:cs typeface="Calibri"/>
            </a:endParaRPr>
          </a:p>
        </p:txBody>
      </p:sp>
      <p:sp>
        <p:nvSpPr>
          <p:cNvPr id="9" name="parts_card"/>
          <p:cNvSpPr/>
          <p:nvPr/>
        </p:nvSpPr>
        <p:spPr>
          <a:xfrm>
            <a:off x="457200" y="1527810"/>
            <a:ext cx="11277295" cy="2812542"/>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parts"/>
          <p:cNvSpPr txBox="1"/>
          <p:nvPr/>
        </p:nvSpPr>
        <p:spPr>
          <a:xfrm>
            <a:off x="457200" y="1527810"/>
            <a:ext cx="11277295" cy="2812542"/>
          </a:xfrm>
          <a:prstGeom prst="rect">
            <a:avLst/>
          </a:prstGeom>
          <a:noFill/>
        </p:spPr>
        <p:txBody>
          <a:bodyPr wrap="square" lIns="201168" tIns="118872" rIns="201168" bIns="118872" anchor="t" rtlCol="0">
            <a:noAutofit/>
          </a:bodyPr>
          <a:lstStyle/>
          <a:p>
            <a:pPr algn="just" marL="400050" indent="-400050">
              <a:lnSpc>
                <a:spcPts val="1950"/>
              </a:lnSpc>
              <a:spcBef>
                <a:spcPts val="0"/>
              </a:spcBef>
              <a:spcAft>
                <a:spcPts val="680"/>
              </a:spcAft>
              <a:buNone/>
              <a:tabLst>
                <a:tab pos="400050" algn="l"/>
              </a:tabLst>
            </a:pPr>
            <a:r>
              <a:rPr lang="en-US" altLang="ko-KR" sz="1500" b="1" dirty="0">
                <a:solidFill>
                  <a:srgbClr val="1E2A5A"/>
                </a:solidFill>
                <a:latin typeface="Calibri"/>
                <a:ea typeface="맑은 고딕"/>
                <a:cs typeface="Calibri"/>
              </a:rPr>
              <a:t>(A)</a:t>
            </a:r>
            <a:r>
              <a:rPr lang="en-US" altLang="ko-KR" sz="1500" b="0" dirty="0">
                <a:solidFill>
                  <a:srgbClr val="1F2328"/>
                </a:solidFill>
                <a:latin typeface="Calibri"/>
                <a:ea typeface="맑은 고딕"/>
                <a:cs typeface="Calibri"/>
              </a:rPr>
              <a:t>	It reminded them of important values that greatly influenced their behaviors and attitudes. In particular, for children, Munjado was a study tool. Through it, children in the Joseon dynasty could learn the importance of harmony in family and society.</a:t>
            </a:r>
            <a:endParaRPr lang="en-US" altLang="ko-KR" sz="1500" b="0" dirty="0">
              <a:solidFill>
                <a:srgbClr val="1F2328"/>
              </a:solidFill>
              <a:latin typeface="Calibri"/>
              <a:ea typeface="맑은 고딕"/>
              <a:cs typeface="Calibri"/>
            </a:endParaRPr>
          </a:p>
          <a:p>
            <a:pPr algn="just" marL="400050" indent="-400050">
              <a:lnSpc>
                <a:spcPts val="2130"/>
              </a:lnSpc>
              <a:spcBef>
                <a:spcPts val="0"/>
              </a:spcBef>
              <a:spcAft>
                <a:spcPts val="680"/>
              </a:spcAft>
              <a:buNone/>
              <a:tabLst>
                <a:tab pos="400050" algn="l"/>
              </a:tabLst>
            </a:pPr>
            <a:r>
              <a:rPr lang="en-US" altLang="ko-KR" sz="1500" b="1" dirty="0">
                <a:solidFill>
                  <a:srgbClr val="1E2A5A"/>
                </a:solidFill>
                <a:latin typeface="Calibri"/>
                <a:ea typeface="맑은 고딕"/>
                <a:cs typeface="Calibri"/>
              </a:rPr>
              <a:t>(B)</a:t>
            </a:r>
            <a:r>
              <a:rPr lang="en-US" altLang="ko-KR" sz="1500" b="0" dirty="0">
                <a:solidFill>
                  <a:srgbClr val="1F2328"/>
                </a:solidFill>
                <a:latin typeface="Calibri"/>
                <a:ea typeface="맑은 고딕"/>
                <a:cs typeface="Calibri"/>
              </a:rPr>
              <a:t>	They are bamboo in the paintings of the character chung (忠) and lotus flowers in the paintings of ui (義). Bamboo does not bend. It stays green in all kinds of weather. For these reasons, bamboo came to symbolize loyalty to the king.</a:t>
            </a:r>
            <a:endParaRPr lang="en-US" altLang="ko-KR" sz="1500" b="0" dirty="0">
              <a:solidFill>
                <a:srgbClr val="1F2328"/>
              </a:solidFill>
              <a:latin typeface="Calibri"/>
              <a:ea typeface="맑은 고딕"/>
              <a:cs typeface="Calibri"/>
            </a:endParaRPr>
          </a:p>
          <a:p>
            <a:pPr algn="just" marL="400050" indent="-400050">
              <a:lnSpc>
                <a:spcPts val="1950"/>
              </a:lnSpc>
              <a:spcBef>
                <a:spcPts val="0"/>
              </a:spcBef>
              <a:spcAft>
                <a:spcPts val="680"/>
              </a:spcAft>
              <a:buNone/>
              <a:tabLst>
                <a:tab pos="400050" algn="l"/>
              </a:tabLst>
            </a:pPr>
            <a:r>
              <a:rPr lang="en-US" altLang="ko-KR" sz="1500" b="1" dirty="0">
                <a:solidFill>
                  <a:srgbClr val="1E2A5A"/>
                </a:solidFill>
                <a:latin typeface="Calibri"/>
                <a:ea typeface="맑은 고딕"/>
                <a:cs typeface="Calibri"/>
              </a:rPr>
              <a:t>(C)</a:t>
            </a:r>
            <a:r>
              <a:rPr lang="en-US" altLang="ko-KR" sz="1500" b="0" dirty="0">
                <a:solidFill>
                  <a:srgbClr val="1F2328"/>
                </a:solidFill>
                <a:latin typeface="Calibri"/>
                <a:ea typeface="맑은 고딕"/>
                <a:cs typeface="Calibri"/>
              </a:rPr>
              <a:t>	In the case of lotus flowers, they grow in muddy ponds but still bloom beautifully. They thus became a symbol of a person’s will to fight for justice despite difficulties. Munjado was much more than a painting to people of the Joseon dynasty.</a:t>
            </a:r>
            <a:endParaRPr lang="en-US" altLang="ko-KR" sz="1500" b="0" dirty="0">
              <a:solidFill>
                <a:srgbClr val="1F2328"/>
              </a:solidFill>
              <a:latin typeface="Calibri"/>
              <a:ea typeface="맑은 고딕"/>
              <a:cs typeface="Calibri"/>
            </a:endParaRPr>
          </a:p>
        </p:txBody>
      </p:sp>
      <p:sp>
        <p:nvSpPr>
          <p:cNvPr id="11" name="options"/>
          <p:cNvSpPr txBox="1"/>
          <p:nvPr/>
        </p:nvSpPr>
        <p:spPr>
          <a:xfrm>
            <a:off x="457200" y="4450080"/>
            <a:ext cx="11277295" cy="420624"/>
          </a:xfrm>
          <a:prstGeom prst="rect">
            <a:avLst/>
          </a:prstGeom>
          <a:noFill/>
        </p:spPr>
        <p:txBody>
          <a:bodyPr wrap="square" lIns="91440" tIns="18288" rIns="91440" bIns="18288" anchor="ctr" rtlCol="0">
            <a:noAutofit/>
          </a:bodyPr>
          <a:lstStyle/>
          <a:p>
            <a:pPr algn="ctr">
              <a:lnSpc>
                <a:spcPts val="2560"/>
              </a:lnSpc>
              <a:spcBef>
                <a:spcPts val="0"/>
              </a:spcBef>
              <a:spcAft>
                <a:spcPts val="0"/>
              </a:spcAft>
              <a:buNone/>
            </a:pPr>
            <a:r>
              <a:rPr lang="ko-KR" altLang="en-US" sz="1800" b="1" dirty="0">
                <a:solidFill>
                  <a:srgbClr val="1E2A5A"/>
                </a:solidFill>
                <a:latin typeface="맑은 고딕"/>
                <a:ea typeface="맑은 고딕"/>
                <a:cs typeface="맑은 고딕"/>
              </a:rPr>
              <a:t>① </a:t>
            </a:r>
            <a:r>
              <a:rPr lang="en-US" altLang="ko-KR" sz="1800" b="0" dirty="0">
                <a:solidFill>
                  <a:srgbClr val="1F2328"/>
                </a:solidFill>
                <a:latin typeface="Calibri"/>
                <a:ea typeface="맑은 고딕"/>
                <a:cs typeface="Calibri"/>
              </a:rPr>
              <a:t>(A) - (C) - (B)</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② </a:t>
            </a:r>
            <a:r>
              <a:rPr lang="en-US" altLang="ko-KR" sz="1800" b="0" dirty="0">
                <a:solidFill>
                  <a:srgbClr val="1F2328"/>
                </a:solidFill>
                <a:latin typeface="Calibri"/>
                <a:ea typeface="맑은 고딕"/>
                <a:cs typeface="Calibri"/>
              </a:rPr>
              <a:t>(B) - (A) - (C)</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③ </a:t>
            </a:r>
            <a:r>
              <a:rPr lang="en-US" altLang="ko-KR" sz="1800" b="0" dirty="0">
                <a:solidFill>
                  <a:srgbClr val="1F2328"/>
                </a:solidFill>
                <a:latin typeface="Calibri"/>
                <a:ea typeface="맑은 고딕"/>
                <a:cs typeface="Calibri"/>
              </a:rPr>
              <a:t>(B) - (C) - (A)</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④ </a:t>
            </a:r>
            <a:r>
              <a:rPr lang="en-US" altLang="ko-KR" sz="1800" b="0" dirty="0">
                <a:solidFill>
                  <a:srgbClr val="1F2328"/>
                </a:solidFill>
                <a:latin typeface="Calibri"/>
                <a:ea typeface="맑은 고딕"/>
                <a:cs typeface="Calibri"/>
              </a:rPr>
              <a:t>(C) - (A) - (B)</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⑤ </a:t>
            </a:r>
            <a:r>
              <a:rPr lang="en-US" altLang="ko-KR" sz="1800" b="0" dirty="0">
                <a:solidFill>
                  <a:srgbClr val="1F2328"/>
                </a:solidFill>
                <a:latin typeface="Calibri"/>
                <a:ea typeface="맑은 고딕"/>
                <a:cs typeface="Calibri"/>
              </a:rPr>
              <a:t>(C) - (B) - (A)</a:t>
            </a:r>
            <a:endParaRPr lang="en-US" altLang="ko-KR" sz="1800" b="0" dirty="0">
              <a:solidFill>
                <a:srgbClr val="1F2328"/>
              </a:solidFill>
              <a:latin typeface="Calibri"/>
              <a:ea typeface="맑은 고딕"/>
              <a:cs typeface="Calibri"/>
            </a:endParaRPr>
          </a:p>
        </p:txBody>
      </p:sp>
      <p:sp>
        <p:nvSpPr>
          <p:cNvPr id="12" name="rv_pick"/>
          <p:cNvSpPr txBox="1"/>
          <p:nvPr/>
        </p:nvSpPr>
        <p:spPr>
          <a:xfrm>
            <a:off x="457200" y="4450080"/>
            <a:ext cx="11277295" cy="420624"/>
          </a:xfrm>
          <a:prstGeom prst="rect">
            <a:avLst/>
          </a:prstGeom>
          <a:noFill/>
        </p:spPr>
        <p:txBody>
          <a:bodyPr wrap="square" lIns="91440" tIns="18288" rIns="91440" bIns="18288" anchor="ctr" rtlCol="0">
            <a:noAutofit/>
          </a:bodyPr>
          <a:lstStyle/>
          <a:p>
            <a:pPr algn="ctr">
              <a:lnSpc>
                <a:spcPts val="2560"/>
              </a:lnSpc>
              <a:spcBef>
                <a:spcPts val="0"/>
              </a:spcBef>
              <a:spcAft>
                <a:spcPts val="0"/>
              </a:spcAft>
              <a:buNone/>
            </a:pPr>
            <a:r>
              <a:rPr lang="ko-KR" altLang="en-US" sz="1800" b="1" dirty="0">
                <a:solidFill>
                  <a:srgbClr val="1E2A5A">
                    <a:alpha val="0"/>
                  </a:srgbClr>
                </a:solidFill>
                <a:latin typeface="맑은 고딕"/>
                <a:ea typeface="맑은 고딕"/>
                <a:cs typeface="맑은 고딕"/>
              </a:rPr>
              <a:t>① </a:t>
            </a:r>
            <a:r>
              <a:rPr lang="en-US" altLang="ko-KR" sz="1800" b="0" dirty="0">
                <a:solidFill>
                  <a:srgbClr val="1F2328">
                    <a:alpha val="0"/>
                  </a:srgbClr>
                </a:solidFill>
                <a:latin typeface="Calibri"/>
                <a:ea typeface="맑은 고딕"/>
                <a:cs typeface="Calibri"/>
              </a:rPr>
              <a:t>(A) - (C) - (B)</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② </a:t>
            </a:r>
            <a:r>
              <a:rPr lang="en-US" altLang="ko-KR" sz="1800" b="0" dirty="0">
                <a:solidFill>
                  <a:srgbClr val="1F2328">
                    <a:alpha val="0"/>
                  </a:srgbClr>
                </a:solidFill>
                <a:latin typeface="Calibri"/>
                <a:ea typeface="맑은 고딕"/>
                <a:cs typeface="Calibri"/>
              </a:rPr>
              <a:t>(B) - (A) - (C)</a:t>
            </a:r>
            <a:r>
              <a:rPr lang="en-US" altLang="ko-KR" sz="1800" b="0" dirty="0">
                <a:solidFill>
                  <a:srgbClr val="1F2328">
                    <a:alpha val="0"/>
                  </a:srgbClr>
                </a:solidFill>
                <a:latin typeface="Calibri"/>
                <a:ea typeface="맑은 고딕"/>
                <a:cs typeface="Calibri"/>
              </a:rPr>
              <a:t>       </a:t>
            </a:r>
            <a:r>
              <a:rPr lang="ko-KR" altLang="en-US" sz="1800" b="1" dirty="0">
                <a:solidFill>
                  <a:srgbClr val="C00000"/>
                </a:solidFill>
                <a:highlight>
                  <a:srgbClr val="FFFFFF"/>
                </a:highlight>
                <a:latin typeface="맑은 고딕"/>
                <a:ea typeface="맑은 고딕"/>
                <a:cs typeface="맑은 고딕"/>
              </a:rPr>
              <a:t>③ </a:t>
            </a:r>
            <a:r>
              <a:rPr lang="en-US" altLang="ko-KR" sz="1800" b="0" dirty="0">
                <a:solidFill>
                  <a:srgbClr val="C00000"/>
                </a:solidFill>
                <a:highlight>
                  <a:srgbClr val="FFFFFF"/>
                </a:highlight>
                <a:latin typeface="Calibri"/>
                <a:ea typeface="맑은 고딕"/>
                <a:cs typeface="Calibri"/>
              </a:rPr>
              <a:t>(B) - (C) - (A)</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④ </a:t>
            </a:r>
            <a:r>
              <a:rPr lang="en-US" altLang="ko-KR" sz="1800" b="0" dirty="0">
                <a:solidFill>
                  <a:srgbClr val="1F2328">
                    <a:alpha val="0"/>
                  </a:srgbClr>
                </a:solidFill>
                <a:latin typeface="Calibri"/>
                <a:ea typeface="맑은 고딕"/>
                <a:cs typeface="Calibri"/>
              </a:rPr>
              <a:t>(C) - (A) - (B)</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⑤ </a:t>
            </a:r>
            <a:r>
              <a:rPr lang="en-US" altLang="ko-KR" sz="1800" b="0" dirty="0">
                <a:solidFill>
                  <a:srgbClr val="1F2328">
                    <a:alpha val="0"/>
                  </a:srgbClr>
                </a:solidFill>
                <a:latin typeface="Calibri"/>
                <a:ea typeface="맑은 고딕"/>
                <a:cs typeface="Calibri"/>
              </a:rPr>
              <a:t>(C) - (B) - (A)</a:t>
            </a:r>
            <a:endParaRPr lang="en-US" altLang="ko-KR" sz="1800" b="0" dirty="0">
              <a:solidFill>
                <a:srgbClr val="1F2328"/>
              </a:solidFill>
              <a:latin typeface="Calibri"/>
              <a:ea typeface="맑은 고딕"/>
              <a:cs typeface="Calibri"/>
            </a:endParaRPr>
          </a:p>
        </p:txBody>
      </p:sp>
      <p:sp>
        <p:nvSpPr>
          <p:cNvPr id="13" name="rv_answer"/>
          <p:cNvSpPr/>
          <p:nvPr/>
        </p:nvSpPr>
        <p:spPr>
          <a:xfrm>
            <a:off x="457200" y="4962144"/>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③ </a:t>
            </a:r>
            <a:r>
              <a:rPr lang="en-US" altLang="ko-KR" sz="1900" b="1" dirty="0">
                <a:solidFill>
                  <a:srgbClr val="5A4200"/>
                </a:solidFill>
                <a:latin typeface="Calibri"/>
                <a:ea typeface="맑은 고딕"/>
                <a:cs typeface="Calibri"/>
              </a:rPr>
              <a:t>(B) - (C) - (A)</a:t>
            </a:r>
            <a:endParaRPr lang="en-US" altLang="ko-KR" sz="1900" b="1" dirty="0">
              <a:solidFill>
                <a:srgbClr val="5A4200"/>
              </a:solidFill>
              <a:latin typeface="Calibri"/>
              <a:ea typeface="맑은 고딕"/>
              <a:cs typeface="Calibri"/>
            </a:endParaRPr>
          </a:p>
        </p:txBody>
      </p:sp>
      <p:sp>
        <p:nvSpPr>
          <p:cNvPr id="14" name="rv_why"/>
          <p:cNvSpPr/>
          <p:nvPr/>
        </p:nvSpPr>
        <p:spPr>
          <a:xfrm>
            <a:off x="457200" y="5561076"/>
            <a:ext cx="11277295" cy="858011"/>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상징적 사물의 다른 예 → (B) 'They'가 대나무와 연꽃을 가리키고 대나무를 설명한다 → (C) 'In the case of lotus flowers'로 연꽃 설명 → (A) 'It'이 문자도를 받아 가치를 정리한다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25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250"/>
                                        <p:tgtEl>
                                          <p:spTgt spid="1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2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animBg="1"/>
    </p:bldLst>
  </p:timing>
</p:sld>
</file>

<file path=ppt/slides/slide27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L8-3</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2 · 2</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2. 주어진 글 다음에 이어질 글의 순서로 가장 적절한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8</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정답 원리</a:t>
            </a:r>
            <a:endParaRPr lang="ko-KR" altLang="en-US" sz="1000" b="0" dirty="0">
              <a:solidFill>
                <a:srgbClr val="7A808C"/>
              </a:solidFill>
              <a:latin typeface="맑은 고딕"/>
              <a:ea typeface="맑은 고딕"/>
              <a:cs typeface="맑은 고딕"/>
            </a:endParaRPr>
          </a:p>
        </p:txBody>
      </p:sp>
      <p:sp>
        <p:nvSpPr>
          <p:cNvPr id="7" name="given_card"/>
          <p:cNvSpPr/>
          <p:nvPr/>
        </p:nvSpPr>
        <p:spPr>
          <a:xfrm>
            <a:off x="457200" y="950976"/>
            <a:ext cx="11277295" cy="448818"/>
          </a:xfrm>
          <a:prstGeom prst="roundRect">
            <a:avLst>
              <a:gd name="adj" fmla="val 6000"/>
            </a:avLst>
          </a:prstGeom>
          <a:solidFill>
            <a:srgbClr val="FFFFFF"/>
          </a:solidFill>
          <a:ln w="15875">
            <a:solidFill>
              <a:srgbClr val="1E2A5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given"/>
          <p:cNvSpPr txBox="1"/>
          <p:nvPr/>
        </p:nvSpPr>
        <p:spPr>
          <a:xfrm>
            <a:off x="457200" y="950976"/>
            <a:ext cx="11277295" cy="448818"/>
          </a:xfrm>
          <a:prstGeom prst="rect">
            <a:avLst/>
          </a:prstGeom>
          <a:noFill/>
        </p:spPr>
        <p:txBody>
          <a:bodyPr wrap="square" lIns="201168" tIns="100584" rIns="201168" bIns="100584" anchor="t" rtlCol="0">
            <a:noAutofit/>
          </a:bodyPr>
          <a:lstStyle/>
          <a:p>
            <a:pPr algn="l">
              <a:lnSpc>
                <a:spcPts val="1950"/>
              </a:lnSpc>
              <a:spcBef>
                <a:spcPts val="0"/>
              </a:spcBef>
              <a:spcAft>
                <a:spcPts val="0"/>
              </a:spcAft>
              <a:buNone/>
            </a:pPr>
            <a:r>
              <a:rPr lang="en-US" altLang="ko-KR" sz="1500" b="0" dirty="0">
                <a:solidFill>
                  <a:srgbClr val="1F2328"/>
                </a:solidFill>
                <a:latin typeface="Calibri"/>
                <a:ea typeface="맑은 고딕"/>
                <a:cs typeface="Calibri"/>
              </a:rPr>
              <a:t>There are other examples of symbolic objects in Munjado.</a:t>
            </a:r>
            <a:endParaRPr lang="en-US" altLang="ko-KR" sz="1500" b="0" dirty="0">
              <a:solidFill>
                <a:srgbClr val="1F2328"/>
              </a:solidFill>
              <a:latin typeface="Calibri"/>
              <a:ea typeface="맑은 고딕"/>
              <a:cs typeface="Calibri"/>
            </a:endParaRPr>
          </a:p>
        </p:txBody>
      </p:sp>
      <p:sp>
        <p:nvSpPr>
          <p:cNvPr id="9" name="parts_card"/>
          <p:cNvSpPr/>
          <p:nvPr/>
        </p:nvSpPr>
        <p:spPr>
          <a:xfrm>
            <a:off x="457200" y="1527810"/>
            <a:ext cx="11277295" cy="2812542"/>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parts"/>
          <p:cNvSpPr txBox="1"/>
          <p:nvPr/>
        </p:nvSpPr>
        <p:spPr>
          <a:xfrm>
            <a:off x="457200" y="1527810"/>
            <a:ext cx="11277295" cy="2812542"/>
          </a:xfrm>
          <a:prstGeom prst="rect">
            <a:avLst/>
          </a:prstGeom>
          <a:noFill/>
        </p:spPr>
        <p:txBody>
          <a:bodyPr wrap="square" lIns="201168" tIns="118872" rIns="201168" bIns="118872" anchor="t" rtlCol="0">
            <a:noAutofit/>
          </a:bodyPr>
          <a:lstStyle/>
          <a:p>
            <a:pPr algn="just" marL="400050" indent="-400050">
              <a:lnSpc>
                <a:spcPts val="1950"/>
              </a:lnSpc>
              <a:spcBef>
                <a:spcPts val="0"/>
              </a:spcBef>
              <a:spcAft>
                <a:spcPts val="680"/>
              </a:spcAft>
              <a:buNone/>
              <a:tabLst>
                <a:tab pos="400050" algn="l"/>
              </a:tabLst>
            </a:pPr>
            <a:r>
              <a:rPr lang="en-US" altLang="ko-KR" sz="1500" b="1" dirty="0">
                <a:solidFill>
                  <a:srgbClr val="1E2A5A"/>
                </a:solidFill>
                <a:latin typeface="Calibri"/>
                <a:ea typeface="맑은 고딕"/>
                <a:cs typeface="Calibri"/>
              </a:rPr>
              <a:t>(A)</a:t>
            </a:r>
            <a:r>
              <a:rPr lang="en-US" altLang="ko-KR" sz="1500" b="0" dirty="0">
                <a:solidFill>
                  <a:srgbClr val="1F2328"/>
                </a:solidFill>
                <a:latin typeface="Calibri"/>
                <a:ea typeface="맑은 고딕"/>
                <a:cs typeface="Calibri"/>
              </a:rPr>
              <a:t>	It reminded them of important values that greatly influenced their behaviors and attitudes. In particular, for children, Munjado was a study tool. Through it, children in the Joseon dynasty could learn the importance of harmony in family and society.</a:t>
            </a:r>
            <a:endParaRPr lang="en-US" altLang="ko-KR" sz="1500" b="0" dirty="0">
              <a:solidFill>
                <a:srgbClr val="1F2328"/>
              </a:solidFill>
              <a:latin typeface="Calibri"/>
              <a:ea typeface="맑은 고딕"/>
              <a:cs typeface="Calibri"/>
            </a:endParaRPr>
          </a:p>
          <a:p>
            <a:pPr algn="just" marL="400050" indent="-400050">
              <a:lnSpc>
                <a:spcPts val="1950"/>
              </a:lnSpc>
              <a:spcBef>
                <a:spcPts val="0"/>
              </a:spcBef>
              <a:spcAft>
                <a:spcPts val="680"/>
              </a:spcAft>
              <a:buNone/>
              <a:tabLst>
                <a:tab pos="400050" algn="l"/>
              </a:tabLst>
            </a:pPr>
            <a:r>
              <a:rPr lang="en-US" altLang="ko-KR" sz="1500" b="1" dirty="0">
                <a:solidFill>
                  <a:srgbClr val="1E2A5A"/>
                </a:solidFill>
                <a:latin typeface="Calibri"/>
                <a:ea typeface="맑은 고딕"/>
                <a:cs typeface="Calibri"/>
              </a:rPr>
              <a:t>(B)</a:t>
            </a:r>
            <a:r>
              <a:rPr lang="en-US" altLang="ko-KR" sz="1500" b="0" dirty="0">
                <a:solidFill>
                  <a:srgbClr val="1F2328"/>
                </a:solidFill>
                <a:latin typeface="Calibri"/>
                <a:ea typeface="맑은 고딕"/>
                <a:cs typeface="Calibri"/>
              </a:rPr>
              <a:t>	In the case of lotus flowers, they grow in muddy ponds but still bloom beautifully. They thus became a symbol of a person’s will to fight for justice despite difficulties. Munjado was much more than a painting to people of the Joseon dynasty.</a:t>
            </a:r>
            <a:endParaRPr lang="en-US" altLang="ko-KR" sz="1500" b="0" dirty="0">
              <a:solidFill>
                <a:srgbClr val="1F2328"/>
              </a:solidFill>
              <a:latin typeface="Calibri"/>
              <a:ea typeface="맑은 고딕"/>
              <a:cs typeface="Calibri"/>
            </a:endParaRPr>
          </a:p>
          <a:p>
            <a:pPr algn="just" marL="400050" indent="-400050">
              <a:lnSpc>
                <a:spcPts val="2130"/>
              </a:lnSpc>
              <a:spcBef>
                <a:spcPts val="0"/>
              </a:spcBef>
              <a:spcAft>
                <a:spcPts val="680"/>
              </a:spcAft>
              <a:buNone/>
              <a:tabLst>
                <a:tab pos="400050" algn="l"/>
              </a:tabLst>
            </a:pPr>
            <a:r>
              <a:rPr lang="en-US" altLang="ko-KR" sz="1500" b="1" dirty="0">
                <a:solidFill>
                  <a:srgbClr val="1E2A5A"/>
                </a:solidFill>
                <a:latin typeface="Calibri"/>
                <a:ea typeface="맑은 고딕"/>
                <a:cs typeface="Calibri"/>
              </a:rPr>
              <a:t>(C)</a:t>
            </a:r>
            <a:r>
              <a:rPr lang="en-US" altLang="ko-KR" sz="1500" b="0" dirty="0">
                <a:solidFill>
                  <a:srgbClr val="1F2328"/>
                </a:solidFill>
                <a:latin typeface="Calibri"/>
                <a:ea typeface="맑은 고딕"/>
                <a:cs typeface="Calibri"/>
              </a:rPr>
              <a:t>	They are bamboo in the paintings of the character chung (忠) and lotus flowers in the paintings of ui (義). Bamboo does not bend. It stays green in all kinds of weather. For these reasons, bamboo came to symbolize loyalty to the king.</a:t>
            </a:r>
            <a:endParaRPr lang="en-US" altLang="ko-KR" sz="1500" b="0" dirty="0">
              <a:solidFill>
                <a:srgbClr val="1F2328"/>
              </a:solidFill>
              <a:latin typeface="Calibri"/>
              <a:ea typeface="맑은 고딕"/>
              <a:cs typeface="Calibri"/>
            </a:endParaRPr>
          </a:p>
        </p:txBody>
      </p:sp>
      <p:sp>
        <p:nvSpPr>
          <p:cNvPr id="11" name="options"/>
          <p:cNvSpPr txBox="1"/>
          <p:nvPr/>
        </p:nvSpPr>
        <p:spPr>
          <a:xfrm>
            <a:off x="457200" y="4450080"/>
            <a:ext cx="11277295" cy="420624"/>
          </a:xfrm>
          <a:prstGeom prst="rect">
            <a:avLst/>
          </a:prstGeom>
          <a:noFill/>
        </p:spPr>
        <p:txBody>
          <a:bodyPr wrap="square" lIns="91440" tIns="18288" rIns="91440" bIns="18288" anchor="ctr" rtlCol="0">
            <a:noAutofit/>
          </a:bodyPr>
          <a:lstStyle/>
          <a:p>
            <a:pPr algn="ctr">
              <a:lnSpc>
                <a:spcPts val="2560"/>
              </a:lnSpc>
              <a:spcBef>
                <a:spcPts val="0"/>
              </a:spcBef>
              <a:spcAft>
                <a:spcPts val="0"/>
              </a:spcAft>
              <a:buNone/>
            </a:pPr>
            <a:r>
              <a:rPr lang="ko-KR" altLang="en-US" sz="1800" b="1" dirty="0">
                <a:solidFill>
                  <a:srgbClr val="1E2A5A"/>
                </a:solidFill>
                <a:latin typeface="맑은 고딕"/>
                <a:ea typeface="맑은 고딕"/>
                <a:cs typeface="맑은 고딕"/>
              </a:rPr>
              <a:t>① </a:t>
            </a:r>
            <a:r>
              <a:rPr lang="en-US" altLang="ko-KR" sz="1800" b="0" dirty="0">
                <a:solidFill>
                  <a:srgbClr val="1F2328"/>
                </a:solidFill>
                <a:latin typeface="Calibri"/>
                <a:ea typeface="맑은 고딕"/>
                <a:cs typeface="Calibri"/>
              </a:rPr>
              <a:t>(A) - (C) - (B)</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② </a:t>
            </a:r>
            <a:r>
              <a:rPr lang="en-US" altLang="ko-KR" sz="1800" b="0" dirty="0">
                <a:solidFill>
                  <a:srgbClr val="1F2328"/>
                </a:solidFill>
                <a:latin typeface="Calibri"/>
                <a:ea typeface="맑은 고딕"/>
                <a:cs typeface="Calibri"/>
              </a:rPr>
              <a:t>(B) - (A) - (C)</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③ </a:t>
            </a:r>
            <a:r>
              <a:rPr lang="en-US" altLang="ko-KR" sz="1800" b="0" dirty="0">
                <a:solidFill>
                  <a:srgbClr val="1F2328"/>
                </a:solidFill>
                <a:latin typeface="Calibri"/>
                <a:ea typeface="맑은 고딕"/>
                <a:cs typeface="Calibri"/>
              </a:rPr>
              <a:t>(B) - (C) - (A)</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④ </a:t>
            </a:r>
            <a:r>
              <a:rPr lang="en-US" altLang="ko-KR" sz="1800" b="0" dirty="0">
                <a:solidFill>
                  <a:srgbClr val="1F2328"/>
                </a:solidFill>
                <a:latin typeface="Calibri"/>
                <a:ea typeface="맑은 고딕"/>
                <a:cs typeface="Calibri"/>
              </a:rPr>
              <a:t>(C) - (A) - (B)</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⑤ </a:t>
            </a:r>
            <a:r>
              <a:rPr lang="en-US" altLang="ko-KR" sz="1800" b="0" dirty="0">
                <a:solidFill>
                  <a:srgbClr val="1F2328"/>
                </a:solidFill>
                <a:latin typeface="Calibri"/>
                <a:ea typeface="맑은 고딕"/>
                <a:cs typeface="Calibri"/>
              </a:rPr>
              <a:t>(C) - (B) - (A)</a:t>
            </a:r>
            <a:endParaRPr lang="en-US" altLang="ko-KR" sz="1800" b="0" dirty="0">
              <a:solidFill>
                <a:srgbClr val="1F2328"/>
              </a:solidFill>
              <a:latin typeface="Calibri"/>
              <a:ea typeface="맑은 고딕"/>
              <a:cs typeface="Calibri"/>
            </a:endParaRPr>
          </a:p>
        </p:txBody>
      </p:sp>
      <p:sp>
        <p:nvSpPr>
          <p:cNvPr id="12" name="rv_pick"/>
          <p:cNvSpPr txBox="1"/>
          <p:nvPr/>
        </p:nvSpPr>
        <p:spPr>
          <a:xfrm>
            <a:off x="457200" y="4450080"/>
            <a:ext cx="11277295" cy="420624"/>
          </a:xfrm>
          <a:prstGeom prst="rect">
            <a:avLst/>
          </a:prstGeom>
          <a:noFill/>
        </p:spPr>
        <p:txBody>
          <a:bodyPr wrap="square" lIns="91440" tIns="18288" rIns="91440" bIns="18288" anchor="ctr" rtlCol="0">
            <a:noAutofit/>
          </a:bodyPr>
          <a:lstStyle/>
          <a:p>
            <a:pPr algn="ctr">
              <a:lnSpc>
                <a:spcPts val="2560"/>
              </a:lnSpc>
              <a:spcBef>
                <a:spcPts val="0"/>
              </a:spcBef>
              <a:spcAft>
                <a:spcPts val="0"/>
              </a:spcAft>
              <a:buNone/>
            </a:pPr>
            <a:r>
              <a:rPr lang="ko-KR" altLang="en-US" sz="1800" b="1" dirty="0">
                <a:solidFill>
                  <a:srgbClr val="1E2A5A">
                    <a:alpha val="0"/>
                  </a:srgbClr>
                </a:solidFill>
                <a:latin typeface="맑은 고딕"/>
                <a:ea typeface="맑은 고딕"/>
                <a:cs typeface="맑은 고딕"/>
              </a:rPr>
              <a:t>① </a:t>
            </a:r>
            <a:r>
              <a:rPr lang="en-US" altLang="ko-KR" sz="1800" b="0" dirty="0">
                <a:solidFill>
                  <a:srgbClr val="1F2328">
                    <a:alpha val="0"/>
                  </a:srgbClr>
                </a:solidFill>
                <a:latin typeface="Calibri"/>
                <a:ea typeface="맑은 고딕"/>
                <a:cs typeface="Calibri"/>
              </a:rPr>
              <a:t>(A) - (C) - (B)</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② </a:t>
            </a:r>
            <a:r>
              <a:rPr lang="en-US" altLang="ko-KR" sz="1800" b="0" dirty="0">
                <a:solidFill>
                  <a:srgbClr val="1F2328">
                    <a:alpha val="0"/>
                  </a:srgbClr>
                </a:solidFill>
                <a:latin typeface="Calibri"/>
                <a:ea typeface="맑은 고딕"/>
                <a:cs typeface="Calibri"/>
              </a:rPr>
              <a:t>(B) - (A) - (C)</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③ </a:t>
            </a:r>
            <a:r>
              <a:rPr lang="en-US" altLang="ko-KR" sz="1800" b="0" dirty="0">
                <a:solidFill>
                  <a:srgbClr val="1F2328">
                    <a:alpha val="0"/>
                  </a:srgbClr>
                </a:solidFill>
                <a:latin typeface="Calibri"/>
                <a:ea typeface="맑은 고딕"/>
                <a:cs typeface="Calibri"/>
              </a:rPr>
              <a:t>(B) - (C) - (A)</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④ </a:t>
            </a:r>
            <a:r>
              <a:rPr lang="en-US" altLang="ko-KR" sz="1800" b="0" dirty="0">
                <a:solidFill>
                  <a:srgbClr val="1F2328">
                    <a:alpha val="0"/>
                  </a:srgbClr>
                </a:solidFill>
                <a:latin typeface="Calibri"/>
                <a:ea typeface="맑은 고딕"/>
                <a:cs typeface="Calibri"/>
              </a:rPr>
              <a:t>(C) - (A) - (B)</a:t>
            </a:r>
            <a:r>
              <a:rPr lang="en-US" altLang="ko-KR" sz="1800" b="0" dirty="0">
                <a:solidFill>
                  <a:srgbClr val="1F2328">
                    <a:alpha val="0"/>
                  </a:srgbClr>
                </a:solidFill>
                <a:latin typeface="Calibri"/>
                <a:ea typeface="맑은 고딕"/>
                <a:cs typeface="Calibri"/>
              </a:rPr>
              <a:t>       </a:t>
            </a:r>
            <a:r>
              <a:rPr lang="ko-KR" altLang="en-US" sz="1800" b="1" dirty="0">
                <a:solidFill>
                  <a:srgbClr val="C00000"/>
                </a:solidFill>
                <a:highlight>
                  <a:srgbClr val="FFFFFF"/>
                </a:highlight>
                <a:latin typeface="맑은 고딕"/>
                <a:ea typeface="맑은 고딕"/>
                <a:cs typeface="맑은 고딕"/>
              </a:rPr>
              <a:t>⑤ </a:t>
            </a:r>
            <a:r>
              <a:rPr lang="en-US" altLang="ko-KR" sz="1800" b="0" dirty="0">
                <a:solidFill>
                  <a:srgbClr val="C00000"/>
                </a:solidFill>
                <a:highlight>
                  <a:srgbClr val="FFFFFF"/>
                </a:highlight>
                <a:latin typeface="Calibri"/>
                <a:ea typeface="맑은 고딕"/>
                <a:cs typeface="Calibri"/>
              </a:rPr>
              <a:t>(C) - (B) - (A)</a:t>
            </a:r>
            <a:endParaRPr lang="en-US" altLang="ko-KR" sz="1800" b="0" dirty="0">
              <a:solidFill>
                <a:srgbClr val="C00000"/>
              </a:solidFill>
              <a:latin typeface="Calibri"/>
              <a:ea typeface="맑은 고딕"/>
              <a:cs typeface="Calibri"/>
            </a:endParaRPr>
          </a:p>
        </p:txBody>
      </p:sp>
      <p:sp>
        <p:nvSpPr>
          <p:cNvPr id="13" name="rv_answer"/>
          <p:cNvSpPr/>
          <p:nvPr/>
        </p:nvSpPr>
        <p:spPr>
          <a:xfrm>
            <a:off x="457200" y="4962144"/>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⑤ </a:t>
            </a:r>
            <a:r>
              <a:rPr lang="en-US" altLang="ko-KR" sz="1900" b="1" dirty="0">
                <a:solidFill>
                  <a:srgbClr val="5A4200"/>
                </a:solidFill>
                <a:latin typeface="Calibri"/>
                <a:ea typeface="맑은 고딕"/>
                <a:cs typeface="Calibri"/>
              </a:rPr>
              <a:t>(C) - (B) - (A)</a:t>
            </a:r>
            <a:endParaRPr lang="en-US" altLang="ko-KR" sz="1900" b="1" dirty="0">
              <a:solidFill>
                <a:srgbClr val="5A4200"/>
              </a:solidFill>
              <a:latin typeface="Calibri"/>
              <a:ea typeface="맑은 고딕"/>
              <a:cs typeface="Calibri"/>
            </a:endParaRPr>
          </a:p>
        </p:txBody>
      </p:sp>
      <p:sp>
        <p:nvSpPr>
          <p:cNvPr id="14" name="rv_why"/>
          <p:cNvSpPr/>
          <p:nvPr/>
        </p:nvSpPr>
        <p:spPr>
          <a:xfrm>
            <a:off x="457200" y="5561076"/>
            <a:ext cx="11277295" cy="858011"/>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상징적 사물의 다른 예 → (C) 'They are bamboo'로 두 예를 밝히고 대나무를 먼저 설명한다 → (B) 연꽃의 경우를 이어서 말한다 → (A) 문자도가 일깨운 가치로 마무리한다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25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250"/>
                                        <p:tgtEl>
                                          <p:spTgt spid="1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2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animBg="1"/>
    </p:bldLst>
  </p:timing>
</p:sld>
</file>

<file path=ppt/slides/slide27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L8-3</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2 · 3</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3. 글의 흐름으로 보아, 주어진 문장이 들어가기에 가장 적절한 곳은?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8</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정답 원리</a:t>
            </a:r>
            <a:endParaRPr lang="ko-KR" altLang="en-US" sz="1000" b="0" dirty="0">
              <a:solidFill>
                <a:srgbClr val="7A808C"/>
              </a:solidFill>
              <a:latin typeface="맑은 고딕"/>
              <a:ea typeface="맑은 고딕"/>
              <a:cs typeface="맑은 고딕"/>
            </a:endParaRPr>
          </a:p>
        </p:txBody>
      </p:sp>
      <p:sp>
        <p:nvSpPr>
          <p:cNvPr id="7" name="given_card"/>
          <p:cNvSpPr/>
          <p:nvPr/>
        </p:nvSpPr>
        <p:spPr>
          <a:xfrm>
            <a:off x="457200" y="950976"/>
            <a:ext cx="11277295" cy="507238"/>
          </a:xfrm>
          <a:prstGeom prst="roundRect">
            <a:avLst>
              <a:gd name="adj" fmla="val 6000"/>
            </a:avLst>
          </a:prstGeom>
          <a:solidFill>
            <a:srgbClr val="FFFFFF"/>
          </a:solidFill>
          <a:ln w="15875">
            <a:solidFill>
              <a:srgbClr val="1E2A5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given"/>
          <p:cNvSpPr txBox="1"/>
          <p:nvPr/>
        </p:nvSpPr>
        <p:spPr>
          <a:xfrm>
            <a:off x="457200" y="950976"/>
            <a:ext cx="11277295" cy="507238"/>
          </a:xfrm>
          <a:prstGeom prst="rect">
            <a:avLst/>
          </a:prstGeom>
          <a:noFill/>
        </p:spPr>
        <p:txBody>
          <a:bodyPr wrap="square" lIns="201168" tIns="100584" rIns="201168" bIns="100584"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주어진 문장</a:t>
            </a:r>
            <a:r>
              <a:rPr lang="en-US" altLang="ko-KR" sz="1700" b="0" dirty="0">
                <a:solidFill>
                  <a:srgbClr val="1F2328"/>
                </a:solidFill>
                <a:latin typeface="Calibri"/>
                <a:ea typeface="맑은 고딕"/>
                <a:cs typeface="Calibri"/>
              </a:rPr>
              <a:t>   It stays green in all kinds of weather.</a:t>
            </a:r>
            <a:endParaRPr lang="en-US" altLang="ko-KR" sz="1700" b="0" dirty="0">
              <a:solidFill>
                <a:srgbClr val="1F2328"/>
              </a:solidFill>
              <a:latin typeface="Calibri"/>
              <a:ea typeface="맑은 고딕"/>
              <a:cs typeface="Calibri"/>
            </a:endParaRPr>
          </a:p>
        </p:txBody>
      </p:sp>
      <p:sp>
        <p:nvSpPr>
          <p:cNvPr id="9" name="passage_card"/>
          <p:cNvSpPr/>
          <p:nvPr/>
        </p:nvSpPr>
        <p:spPr>
          <a:xfrm>
            <a:off x="457200" y="1604518"/>
            <a:ext cx="11277295" cy="287528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passage"/>
          <p:cNvSpPr txBox="1"/>
          <p:nvPr/>
        </p:nvSpPr>
        <p:spPr>
          <a:xfrm>
            <a:off x="457200" y="1604518"/>
            <a:ext cx="11277295" cy="2875280"/>
          </a:xfrm>
          <a:prstGeom prst="rect">
            <a:avLst/>
          </a:prstGeom>
          <a:noFill/>
        </p:spPr>
        <p:txBody>
          <a:bodyPr wrap="square" lIns="201168" tIns="118872" rIns="201168" bIns="118872" anchor="t" rtlCol="0">
            <a:noAutofit/>
          </a:bodyPr>
          <a:lstStyle/>
          <a:p>
            <a:pPr algn="just">
              <a:lnSpc>
                <a:spcPts val="2560"/>
              </a:lnSpc>
              <a:spcBef>
                <a:spcPts val="0"/>
              </a:spcBef>
              <a:spcAft>
                <a:spcPts val="0"/>
              </a:spcAft>
              <a:buNone/>
            </a:pPr>
            <a:r>
              <a:rPr lang="en-US" altLang="ko-KR" sz="1700" b="0" dirty="0">
                <a:solidFill>
                  <a:srgbClr val="1F2328"/>
                </a:solidFill>
                <a:latin typeface="Calibri"/>
                <a:ea typeface="맑은 고딕"/>
                <a:cs typeface="Calibri"/>
              </a:rPr>
              <a:t>There are other examples of symbolic objects in Munjado. </a:t>
            </a:r>
            <a:r>
              <a:rPr lang="ko-KR" altLang="en-US" sz="1800" b="1" dirty="0">
                <a:solidFill>
                  <a:srgbClr val="1E2A5A"/>
                </a:solidFill>
                <a:latin typeface="맑은 고딕"/>
                <a:ea typeface="맑은 고딕"/>
                <a:cs typeface="맑은 고딕"/>
              </a:rPr>
              <a:t>②</a:t>
            </a:r>
            <a:r>
              <a:rPr lang="en-US" altLang="ko-KR" sz="1700" b="0" dirty="0">
                <a:solidFill>
                  <a:srgbClr val="1F2328"/>
                </a:solidFill>
                <a:latin typeface="Calibri"/>
                <a:ea typeface="맑은 고딕"/>
                <a:cs typeface="Calibri"/>
              </a:rPr>
              <a:t> They are bamboo in the paintings of the character chung (忠) and lotus flowers in the paintings of ui (義). </a:t>
            </a:r>
            <a:r>
              <a:rPr lang="ko-KR" altLang="en-US" sz="1800" b="1" dirty="0">
                <a:solidFill>
                  <a:srgbClr val="1E2A5A"/>
                </a:solidFill>
                <a:latin typeface="맑은 고딕"/>
                <a:ea typeface="맑은 고딕"/>
                <a:cs typeface="맑은 고딕"/>
              </a:rPr>
              <a:t>③</a:t>
            </a:r>
            <a:r>
              <a:rPr lang="en-US" altLang="ko-KR" sz="1700" b="0" dirty="0">
                <a:solidFill>
                  <a:srgbClr val="1F2328"/>
                </a:solidFill>
                <a:latin typeface="Calibri"/>
                <a:ea typeface="맑은 고딕"/>
                <a:cs typeface="Calibri"/>
              </a:rPr>
              <a:t> Bamboo does not bend. </a:t>
            </a:r>
            <a:r>
              <a:rPr lang="ko-KR" altLang="en-US" sz="1800" b="1" dirty="0">
                <a:solidFill>
                  <a:srgbClr val="1E2A5A"/>
                </a:solidFill>
                <a:latin typeface="맑은 고딕"/>
                <a:ea typeface="맑은 고딕"/>
                <a:cs typeface="맑은 고딕"/>
              </a:rPr>
              <a:t>④</a:t>
            </a:r>
            <a:r>
              <a:rPr lang="en-US" altLang="ko-KR" sz="1700" b="0" dirty="0">
                <a:solidFill>
                  <a:srgbClr val="1F2328"/>
                </a:solidFill>
                <a:latin typeface="Calibri"/>
                <a:ea typeface="맑은 고딕"/>
                <a:cs typeface="Calibri"/>
              </a:rPr>
              <a:t> For these reasons, bamboo came to symbolize loyalty to the king. </a:t>
            </a:r>
            <a:r>
              <a:rPr lang="ko-KR" altLang="en-US" sz="1800" b="1" dirty="0">
                <a:solidFill>
                  <a:srgbClr val="1E2A5A"/>
                </a:solidFill>
                <a:latin typeface="맑은 고딕"/>
                <a:ea typeface="맑은 고딕"/>
                <a:cs typeface="맑은 고딕"/>
              </a:rPr>
              <a:t>⑤</a:t>
            </a:r>
            <a:r>
              <a:rPr lang="en-US" altLang="ko-KR" sz="1700" b="0" dirty="0">
                <a:solidFill>
                  <a:srgbClr val="1F2328"/>
                </a:solidFill>
                <a:latin typeface="Calibri"/>
                <a:ea typeface="맑은 고딕"/>
                <a:cs typeface="Calibri"/>
              </a:rPr>
              <a:t> In the case of lotus flowers, they grow in muddy ponds but still bloom beautifully. They thus became a symbol of a person’s will to fight for justice despite difficulties. Munjado was much more than a painting to people of the Joseon dynasty. It reminded them of important values that greatly influenced their behaviors and attitudes. In particular, for children, Munjado was a study tool. Through it, children in the Joseon dynasty could learn the importance of harmony in family and society.</a:t>
            </a:r>
            <a:endParaRPr lang="en-US" altLang="ko-KR" sz="1700" b="0" dirty="0">
              <a:solidFill>
                <a:srgbClr val="1F2328"/>
              </a:solidFill>
              <a:latin typeface="Calibri"/>
              <a:ea typeface="맑은 고딕"/>
              <a:cs typeface="Calibri"/>
            </a:endParaRPr>
          </a:p>
        </p:txBody>
      </p:sp>
      <p:sp>
        <p:nvSpPr>
          <p:cNvPr id="11" name="rv_pick"/>
          <p:cNvSpPr txBox="1"/>
          <p:nvPr/>
        </p:nvSpPr>
        <p:spPr>
          <a:xfrm>
            <a:off x="457200" y="1604518"/>
            <a:ext cx="11277295" cy="2875280"/>
          </a:xfrm>
          <a:prstGeom prst="rect">
            <a:avLst/>
          </a:prstGeom>
          <a:noFill/>
        </p:spPr>
        <p:txBody>
          <a:bodyPr wrap="square" lIns="201168" tIns="118872" rIns="201168" bIns="118872" anchor="t" rtlCol="0">
            <a:noAutofit/>
          </a:bodyPr>
          <a:lstStyle/>
          <a:p>
            <a:pPr algn="just">
              <a:lnSpc>
                <a:spcPts val="2560"/>
              </a:lnSpc>
              <a:spcBef>
                <a:spcPts val="0"/>
              </a:spcBef>
              <a:spcAft>
                <a:spcPts val="0"/>
              </a:spcAft>
              <a:buNone/>
            </a:pPr>
            <a:r>
              <a:rPr lang="en-US" altLang="ko-KR" sz="1700" b="0" dirty="0">
                <a:solidFill>
                  <a:srgbClr val="1F2328">
                    <a:alpha val="0"/>
                  </a:srgbClr>
                </a:solidFill>
                <a:latin typeface="Calibri"/>
                <a:ea typeface="맑은 고딕"/>
                <a:cs typeface="Calibri"/>
              </a:rPr>
              <a:t>There are other examples of symbolic objects in Munjado. </a:t>
            </a:r>
            <a:r>
              <a:rPr lang="ko-KR" altLang="en-US" sz="1800" b="1" dirty="0">
                <a:solidFill>
                  <a:srgbClr val="1E2A5A">
                    <a:alpha val="0"/>
                  </a:srgbClr>
                </a:solidFill>
                <a:latin typeface="맑은 고딕"/>
                <a:ea typeface="맑은 고딕"/>
                <a:cs typeface="맑은 고딕"/>
              </a:rPr>
              <a:t>②</a:t>
            </a:r>
            <a:r>
              <a:rPr lang="en-US" altLang="ko-KR" sz="1700" b="0" dirty="0">
                <a:solidFill>
                  <a:srgbClr val="1F2328">
                    <a:alpha val="0"/>
                  </a:srgbClr>
                </a:solidFill>
                <a:latin typeface="Calibri"/>
                <a:ea typeface="맑은 고딕"/>
                <a:cs typeface="Calibri"/>
              </a:rPr>
              <a:t> They are bamboo in the paintings of the character chung (忠) and lotus flowers in the paintings of ui (義). </a:t>
            </a:r>
            <a:r>
              <a:rPr lang="ko-KR" altLang="en-US" sz="1800" b="1" dirty="0">
                <a:solidFill>
                  <a:srgbClr val="1E2A5A">
                    <a:alpha val="0"/>
                  </a:srgbClr>
                </a:solidFill>
                <a:latin typeface="맑은 고딕"/>
                <a:ea typeface="맑은 고딕"/>
                <a:cs typeface="맑은 고딕"/>
              </a:rPr>
              <a:t>③</a:t>
            </a:r>
            <a:r>
              <a:rPr lang="en-US" altLang="ko-KR" sz="1700" b="0" dirty="0">
                <a:solidFill>
                  <a:srgbClr val="1F2328">
                    <a:alpha val="0"/>
                  </a:srgbClr>
                </a:solidFill>
                <a:latin typeface="Calibri"/>
                <a:ea typeface="맑은 고딕"/>
                <a:cs typeface="Calibri"/>
              </a:rPr>
              <a:t> Bamboo does not bend. </a:t>
            </a:r>
            <a:r>
              <a:rPr lang="ko-KR" altLang="en-US" sz="1800" b="1" dirty="0">
                <a:solidFill>
                  <a:srgbClr val="C00000"/>
                </a:solidFill>
                <a:highlight>
                  <a:srgbClr val="F3F5F9"/>
                </a:highlight>
                <a:latin typeface="맑은 고딕"/>
                <a:ea typeface="맑은 고딕"/>
                <a:cs typeface="맑은 고딕"/>
              </a:rPr>
              <a:t>④</a:t>
            </a:r>
            <a:r>
              <a:rPr lang="en-US" altLang="ko-KR" sz="1700" b="0" dirty="0">
                <a:solidFill>
                  <a:srgbClr val="1F2328">
                    <a:alpha val="0"/>
                  </a:srgbClr>
                </a:solidFill>
                <a:latin typeface="Calibri"/>
                <a:ea typeface="맑은 고딕"/>
                <a:cs typeface="Calibri"/>
              </a:rPr>
              <a:t> For these reasons, bamboo came to symbolize loyalty to the king. </a:t>
            </a:r>
            <a:r>
              <a:rPr lang="ko-KR" altLang="en-US" sz="1800" b="1" dirty="0">
                <a:solidFill>
                  <a:srgbClr val="1E2A5A">
                    <a:alpha val="0"/>
                  </a:srgbClr>
                </a:solidFill>
                <a:latin typeface="맑은 고딕"/>
                <a:ea typeface="맑은 고딕"/>
                <a:cs typeface="맑은 고딕"/>
              </a:rPr>
              <a:t>⑤</a:t>
            </a:r>
            <a:r>
              <a:rPr lang="en-US" altLang="ko-KR" sz="1700" b="0" dirty="0">
                <a:solidFill>
                  <a:srgbClr val="1F2328">
                    <a:alpha val="0"/>
                  </a:srgbClr>
                </a:solidFill>
                <a:latin typeface="Calibri"/>
                <a:ea typeface="맑은 고딕"/>
                <a:cs typeface="Calibri"/>
              </a:rPr>
              <a:t> In the case of lotus flowers, they grow in muddy ponds but still bloom beautifully. They thus became a symbol of a person’s will to fight for justice despite difficulties. Munjado was much more than a painting to people of the Joseon dynasty. It reminded them of important values that greatly influenced their behaviors and attitudes. In particular, for children, Munjado was a study tool. Through it, children in the Joseon dynasty could learn the importance of harmony in family and society.</a:t>
            </a:r>
            <a:endParaRPr lang="en-US" altLang="ko-KR" sz="1700" b="0" dirty="0">
              <a:solidFill>
                <a:srgbClr val="1F2328"/>
              </a:solidFill>
              <a:latin typeface="Calibri"/>
              <a:ea typeface="맑은 고딕"/>
              <a:cs typeface="Calibri"/>
            </a:endParaRPr>
          </a:p>
        </p:txBody>
      </p:sp>
      <p:sp>
        <p:nvSpPr>
          <p:cNvPr id="12" name="rv_answer"/>
          <p:cNvSpPr/>
          <p:nvPr/>
        </p:nvSpPr>
        <p:spPr>
          <a:xfrm>
            <a:off x="457200" y="458952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④</a:t>
            </a:r>
            <a:endParaRPr lang="ko-KR" altLang="en-US" sz="1900" b="1" dirty="0">
              <a:solidFill>
                <a:srgbClr val="5A4200"/>
              </a:solidFill>
              <a:latin typeface="맑은 고딕"/>
              <a:ea typeface="맑은 고딕"/>
              <a:cs typeface="맑은 고딕"/>
            </a:endParaRPr>
          </a:p>
        </p:txBody>
      </p:sp>
      <p:sp>
        <p:nvSpPr>
          <p:cNvPr id="13" name="rv_why"/>
          <p:cNvSpPr/>
          <p:nvPr/>
        </p:nvSpPr>
        <p:spPr>
          <a:xfrm>
            <a:off x="457200" y="5188458"/>
            <a:ext cx="11277295" cy="123062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③ 앞 'does not bend'에 이어 주어진 문장이 늘 푸르다는 이유를 더한다. ④ 뒤 'For these reasons'가 두 이유를 받으므로 ④이다.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25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25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2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Lst>
  </p:timing>
</p:sld>
</file>

<file path=ppt/slides/slide27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L8-3</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2 · 4</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4. 글의 흐름으로 보아, 주어진 문장이 들어가기에 가장 적절한 곳은?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8</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정답 원리</a:t>
            </a:r>
            <a:endParaRPr lang="ko-KR" altLang="en-US" sz="1000" b="0" dirty="0">
              <a:solidFill>
                <a:srgbClr val="7A808C"/>
              </a:solidFill>
              <a:latin typeface="맑은 고딕"/>
              <a:ea typeface="맑은 고딕"/>
              <a:cs typeface="맑은 고딕"/>
            </a:endParaRPr>
          </a:p>
        </p:txBody>
      </p:sp>
      <p:sp>
        <p:nvSpPr>
          <p:cNvPr id="7" name="given_card"/>
          <p:cNvSpPr/>
          <p:nvPr/>
        </p:nvSpPr>
        <p:spPr>
          <a:xfrm>
            <a:off x="457200" y="950976"/>
            <a:ext cx="11277295" cy="507238"/>
          </a:xfrm>
          <a:prstGeom prst="roundRect">
            <a:avLst>
              <a:gd name="adj" fmla="val 6000"/>
            </a:avLst>
          </a:prstGeom>
          <a:solidFill>
            <a:srgbClr val="FFFFFF"/>
          </a:solidFill>
          <a:ln w="15875">
            <a:solidFill>
              <a:srgbClr val="1E2A5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given"/>
          <p:cNvSpPr txBox="1"/>
          <p:nvPr/>
        </p:nvSpPr>
        <p:spPr>
          <a:xfrm>
            <a:off x="457200" y="950976"/>
            <a:ext cx="11277295" cy="507238"/>
          </a:xfrm>
          <a:prstGeom prst="rect">
            <a:avLst/>
          </a:prstGeom>
          <a:noFill/>
        </p:spPr>
        <p:txBody>
          <a:bodyPr wrap="square" lIns="201168" tIns="100584" rIns="201168" bIns="100584"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주어진 문장</a:t>
            </a:r>
            <a:r>
              <a:rPr lang="en-US" altLang="ko-KR" sz="1700" b="0" dirty="0">
                <a:solidFill>
                  <a:srgbClr val="1F2328"/>
                </a:solidFill>
                <a:latin typeface="Calibri"/>
                <a:ea typeface="맑은 고딕"/>
                <a:cs typeface="Calibri"/>
              </a:rPr>
              <a:t>   For these reasons, bamboo came to symbolize loyalty to the king.</a:t>
            </a:r>
            <a:endParaRPr lang="en-US" altLang="ko-KR" sz="1700" b="0" dirty="0">
              <a:solidFill>
                <a:srgbClr val="1F2328"/>
              </a:solidFill>
              <a:latin typeface="Calibri"/>
              <a:ea typeface="맑은 고딕"/>
              <a:cs typeface="Calibri"/>
            </a:endParaRPr>
          </a:p>
        </p:txBody>
      </p:sp>
      <p:sp>
        <p:nvSpPr>
          <p:cNvPr id="9" name="passage_card"/>
          <p:cNvSpPr/>
          <p:nvPr/>
        </p:nvSpPr>
        <p:spPr>
          <a:xfrm>
            <a:off x="457200" y="1604518"/>
            <a:ext cx="11277295" cy="287528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passage"/>
          <p:cNvSpPr txBox="1"/>
          <p:nvPr/>
        </p:nvSpPr>
        <p:spPr>
          <a:xfrm>
            <a:off x="457200" y="1604518"/>
            <a:ext cx="11277295" cy="2875280"/>
          </a:xfrm>
          <a:prstGeom prst="rect">
            <a:avLst/>
          </a:prstGeom>
          <a:noFill/>
        </p:spPr>
        <p:txBody>
          <a:bodyPr wrap="square" lIns="201168" tIns="118872" rIns="201168" bIns="118872" anchor="t" rtlCol="0">
            <a:noAutofit/>
          </a:bodyPr>
          <a:lstStyle/>
          <a:p>
            <a:pPr algn="just">
              <a:lnSpc>
                <a:spcPts val="2560"/>
              </a:lnSpc>
              <a:spcBef>
                <a:spcPts val="0"/>
              </a:spcBef>
              <a:spcAft>
                <a:spcPts val="0"/>
              </a:spcAft>
              <a:buNone/>
            </a:pPr>
            <a:r>
              <a:rPr lang="en-US" altLang="ko-KR" sz="1700" b="0" dirty="0">
                <a:solidFill>
                  <a:srgbClr val="1F2328"/>
                </a:solidFill>
                <a:latin typeface="Calibri"/>
                <a:ea typeface="맑은 고딕"/>
                <a:cs typeface="Calibri"/>
              </a:rPr>
              <a:t>There are other examples of symbolic objects in Munjado. </a:t>
            </a:r>
            <a:r>
              <a:rPr lang="ko-KR" altLang="en-US" sz="1800" b="1" dirty="0">
                <a:solidFill>
                  <a:srgbClr val="1E2A5A"/>
                </a:solidFill>
                <a:latin typeface="맑은 고딕"/>
                <a:ea typeface="맑은 고딕"/>
                <a:cs typeface="맑은 고딕"/>
              </a:rPr>
              <a:t>②</a:t>
            </a:r>
            <a:r>
              <a:rPr lang="en-US" altLang="ko-KR" sz="1700" b="0" dirty="0">
                <a:solidFill>
                  <a:srgbClr val="1F2328"/>
                </a:solidFill>
                <a:latin typeface="Calibri"/>
                <a:ea typeface="맑은 고딕"/>
                <a:cs typeface="Calibri"/>
              </a:rPr>
              <a:t> They are bamboo in the paintings of the character chung (忠) and lotus flowers in the paintings of ui (義). </a:t>
            </a:r>
            <a:r>
              <a:rPr lang="ko-KR" altLang="en-US" sz="1800" b="1" dirty="0">
                <a:solidFill>
                  <a:srgbClr val="1E2A5A"/>
                </a:solidFill>
                <a:latin typeface="맑은 고딕"/>
                <a:ea typeface="맑은 고딕"/>
                <a:cs typeface="맑은 고딕"/>
              </a:rPr>
              <a:t>③</a:t>
            </a:r>
            <a:r>
              <a:rPr lang="en-US" altLang="ko-KR" sz="1700" b="0" dirty="0">
                <a:solidFill>
                  <a:srgbClr val="1F2328"/>
                </a:solidFill>
                <a:latin typeface="Calibri"/>
                <a:ea typeface="맑은 고딕"/>
                <a:cs typeface="Calibri"/>
              </a:rPr>
              <a:t> Bamboo does not bend. </a:t>
            </a:r>
            <a:r>
              <a:rPr lang="ko-KR" altLang="en-US" sz="1800" b="1" dirty="0">
                <a:solidFill>
                  <a:srgbClr val="1E2A5A"/>
                </a:solidFill>
                <a:latin typeface="맑은 고딕"/>
                <a:ea typeface="맑은 고딕"/>
                <a:cs typeface="맑은 고딕"/>
              </a:rPr>
              <a:t>④</a:t>
            </a:r>
            <a:r>
              <a:rPr lang="en-US" altLang="ko-KR" sz="1700" b="0" dirty="0">
                <a:solidFill>
                  <a:srgbClr val="1F2328"/>
                </a:solidFill>
                <a:latin typeface="Calibri"/>
                <a:ea typeface="맑은 고딕"/>
                <a:cs typeface="Calibri"/>
              </a:rPr>
              <a:t> It stays green in all kinds of weather. </a:t>
            </a:r>
            <a:r>
              <a:rPr lang="ko-KR" altLang="en-US" sz="1800" b="1" dirty="0">
                <a:solidFill>
                  <a:srgbClr val="1E2A5A"/>
                </a:solidFill>
                <a:latin typeface="맑은 고딕"/>
                <a:ea typeface="맑은 고딕"/>
                <a:cs typeface="맑은 고딕"/>
              </a:rPr>
              <a:t>⑤</a:t>
            </a:r>
            <a:r>
              <a:rPr lang="en-US" altLang="ko-KR" sz="1700" b="0" dirty="0">
                <a:solidFill>
                  <a:srgbClr val="1F2328"/>
                </a:solidFill>
                <a:latin typeface="Calibri"/>
                <a:ea typeface="맑은 고딕"/>
                <a:cs typeface="Calibri"/>
              </a:rPr>
              <a:t> In the case of lotus flowers, they grow in muddy ponds but still bloom beautifully. They thus became a symbol of a person’s will to fight for justice despite difficulties. Munjado was much more than a painting to people of the Joseon dynasty. It reminded them of important values that greatly influenced their behaviors and attitudes. In particular, for children, Munjado was a study tool. Through it, children in the Joseon dynasty could learn the importance of harmony in family and society.</a:t>
            </a:r>
            <a:endParaRPr lang="en-US" altLang="ko-KR" sz="1700" b="0" dirty="0">
              <a:solidFill>
                <a:srgbClr val="1F2328"/>
              </a:solidFill>
              <a:latin typeface="Calibri"/>
              <a:ea typeface="맑은 고딕"/>
              <a:cs typeface="Calibri"/>
            </a:endParaRPr>
          </a:p>
        </p:txBody>
      </p:sp>
      <p:sp>
        <p:nvSpPr>
          <p:cNvPr id="11" name="rv_pick"/>
          <p:cNvSpPr txBox="1"/>
          <p:nvPr/>
        </p:nvSpPr>
        <p:spPr>
          <a:xfrm>
            <a:off x="457200" y="1604518"/>
            <a:ext cx="11277295" cy="2875280"/>
          </a:xfrm>
          <a:prstGeom prst="rect">
            <a:avLst/>
          </a:prstGeom>
          <a:noFill/>
        </p:spPr>
        <p:txBody>
          <a:bodyPr wrap="square" lIns="201168" tIns="118872" rIns="201168" bIns="118872" anchor="t" rtlCol="0">
            <a:noAutofit/>
          </a:bodyPr>
          <a:lstStyle/>
          <a:p>
            <a:pPr algn="just">
              <a:lnSpc>
                <a:spcPts val="2560"/>
              </a:lnSpc>
              <a:spcBef>
                <a:spcPts val="0"/>
              </a:spcBef>
              <a:spcAft>
                <a:spcPts val="0"/>
              </a:spcAft>
              <a:buNone/>
            </a:pPr>
            <a:r>
              <a:rPr lang="en-US" altLang="ko-KR" sz="1700" b="0" dirty="0">
                <a:solidFill>
                  <a:srgbClr val="1F2328">
                    <a:alpha val="0"/>
                  </a:srgbClr>
                </a:solidFill>
                <a:latin typeface="Calibri"/>
                <a:ea typeface="맑은 고딕"/>
                <a:cs typeface="Calibri"/>
              </a:rPr>
              <a:t>There are other examples of symbolic objects in Munjado. </a:t>
            </a:r>
            <a:r>
              <a:rPr lang="ko-KR" altLang="en-US" sz="1800" b="1" dirty="0">
                <a:solidFill>
                  <a:srgbClr val="1E2A5A">
                    <a:alpha val="0"/>
                  </a:srgbClr>
                </a:solidFill>
                <a:latin typeface="맑은 고딕"/>
                <a:ea typeface="맑은 고딕"/>
                <a:cs typeface="맑은 고딕"/>
              </a:rPr>
              <a:t>②</a:t>
            </a:r>
            <a:r>
              <a:rPr lang="en-US" altLang="ko-KR" sz="1700" b="0" dirty="0">
                <a:solidFill>
                  <a:srgbClr val="1F2328">
                    <a:alpha val="0"/>
                  </a:srgbClr>
                </a:solidFill>
                <a:latin typeface="Calibri"/>
                <a:ea typeface="맑은 고딕"/>
                <a:cs typeface="Calibri"/>
              </a:rPr>
              <a:t> They are bamboo in the paintings of the character chung (忠) and lotus flowers in the paintings of ui (義). </a:t>
            </a:r>
            <a:r>
              <a:rPr lang="ko-KR" altLang="en-US" sz="1800" b="1" dirty="0">
                <a:solidFill>
                  <a:srgbClr val="1E2A5A">
                    <a:alpha val="0"/>
                  </a:srgbClr>
                </a:solidFill>
                <a:latin typeface="맑은 고딕"/>
                <a:ea typeface="맑은 고딕"/>
                <a:cs typeface="맑은 고딕"/>
              </a:rPr>
              <a:t>③</a:t>
            </a:r>
            <a:r>
              <a:rPr lang="en-US" altLang="ko-KR" sz="1700" b="0" dirty="0">
                <a:solidFill>
                  <a:srgbClr val="1F2328">
                    <a:alpha val="0"/>
                  </a:srgbClr>
                </a:solidFill>
                <a:latin typeface="Calibri"/>
                <a:ea typeface="맑은 고딕"/>
                <a:cs typeface="Calibri"/>
              </a:rPr>
              <a:t> Bamboo does not bend. </a:t>
            </a:r>
            <a:r>
              <a:rPr lang="ko-KR" altLang="en-US" sz="1800" b="1" dirty="0">
                <a:solidFill>
                  <a:srgbClr val="1E2A5A">
                    <a:alpha val="0"/>
                  </a:srgbClr>
                </a:solidFill>
                <a:latin typeface="맑은 고딕"/>
                <a:ea typeface="맑은 고딕"/>
                <a:cs typeface="맑은 고딕"/>
              </a:rPr>
              <a:t>④</a:t>
            </a:r>
            <a:r>
              <a:rPr lang="en-US" altLang="ko-KR" sz="1700" b="0" dirty="0">
                <a:solidFill>
                  <a:srgbClr val="1F2328">
                    <a:alpha val="0"/>
                  </a:srgbClr>
                </a:solidFill>
                <a:latin typeface="Calibri"/>
                <a:ea typeface="맑은 고딕"/>
                <a:cs typeface="Calibri"/>
              </a:rPr>
              <a:t> It stays green in all kinds of weather. </a:t>
            </a:r>
            <a:r>
              <a:rPr lang="ko-KR" altLang="en-US" sz="1800" b="1" dirty="0">
                <a:solidFill>
                  <a:srgbClr val="C00000"/>
                </a:solidFill>
                <a:highlight>
                  <a:srgbClr val="F3F5F9"/>
                </a:highlight>
                <a:latin typeface="맑은 고딕"/>
                <a:ea typeface="맑은 고딕"/>
                <a:cs typeface="맑은 고딕"/>
              </a:rPr>
              <a:t>⑤</a:t>
            </a:r>
            <a:r>
              <a:rPr lang="en-US" altLang="ko-KR" sz="1700" b="0" dirty="0">
                <a:solidFill>
                  <a:srgbClr val="1F2328">
                    <a:alpha val="0"/>
                  </a:srgbClr>
                </a:solidFill>
                <a:latin typeface="Calibri"/>
                <a:ea typeface="맑은 고딕"/>
                <a:cs typeface="Calibri"/>
              </a:rPr>
              <a:t> In the case of lotus flowers, they grow in muddy ponds but still bloom beautifully. They thus became a symbol of a person’s will to fight for justice despite difficulties. Munjado was much more than a painting to people of the Joseon dynasty. It reminded them of important values that greatly influenced their behaviors and attitudes. In particular, for children, Munjado was a study tool. Through it, children in the Joseon dynasty could learn the importance of harmony in family and society.</a:t>
            </a:r>
            <a:endParaRPr lang="en-US" altLang="ko-KR" sz="1700" b="0" dirty="0">
              <a:solidFill>
                <a:srgbClr val="1F2328"/>
              </a:solidFill>
              <a:latin typeface="Calibri"/>
              <a:ea typeface="맑은 고딕"/>
              <a:cs typeface="Calibri"/>
            </a:endParaRPr>
          </a:p>
        </p:txBody>
      </p:sp>
      <p:sp>
        <p:nvSpPr>
          <p:cNvPr id="12" name="rv_answer"/>
          <p:cNvSpPr/>
          <p:nvPr/>
        </p:nvSpPr>
        <p:spPr>
          <a:xfrm>
            <a:off x="457200" y="458952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⑤</a:t>
            </a:r>
            <a:endParaRPr lang="ko-KR" altLang="en-US" sz="1900" b="1" dirty="0">
              <a:solidFill>
                <a:srgbClr val="5A4200"/>
              </a:solidFill>
              <a:latin typeface="맑은 고딕"/>
              <a:ea typeface="맑은 고딕"/>
              <a:cs typeface="맑은 고딕"/>
            </a:endParaRPr>
          </a:p>
        </p:txBody>
      </p:sp>
      <p:sp>
        <p:nvSpPr>
          <p:cNvPr id="13" name="rv_why"/>
          <p:cNvSpPr/>
          <p:nvPr/>
        </p:nvSpPr>
        <p:spPr>
          <a:xfrm>
            <a:off x="457200" y="5188458"/>
            <a:ext cx="11277295" cy="123062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주어진 문장의 'For these reasons'는 ④ 앞의 구부러지지 않고 늘 푸르다는 두 이유를 받는다. ⑤ 뒤는 연꽃 이야기이므로 ⑤이다.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25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25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2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Lst>
  </p:timing>
</p:sld>
</file>

<file path=ppt/slides/slide27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L8-3</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3 · ①</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다음 글의 각 [  ] 안에서 문맥상 알맞은 것을 고르시오.</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8</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클릭할 때마다 괄호 속 정답이 앞에서부터 하나씩 빨간색으로 나타납니다 (총 5개)</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5370576"/>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5370576"/>
          </a:xfrm>
          <a:prstGeom prst="rect">
            <a:avLst/>
          </a:prstGeom>
          <a:noFill/>
        </p:spPr>
        <p:txBody>
          <a:bodyPr wrap="square" lIns="228600" tIns="155448" rIns="228600" bIns="155448" anchor="t" rtlCol="0">
            <a:noAutofit/>
          </a:bodyPr>
          <a:lstStyle/>
          <a:p>
            <a:pPr algn="l">
              <a:lnSpc>
                <a:spcPts val="3320"/>
              </a:lnSpc>
              <a:spcBef>
                <a:spcPts val="0"/>
              </a:spcBef>
              <a:spcAft>
                <a:spcPts val="0"/>
              </a:spcAft>
              <a:buNone/>
            </a:pPr>
            <a:r>
              <a:rPr lang="ko-KR" altLang="en-US" sz="2050" b="1" dirty="0">
                <a:solidFill>
                  <a:srgbClr val="1E2A5A"/>
                </a:solidFill>
                <a:latin typeface="맑은 고딕"/>
                <a:ea typeface="맑은 고딕"/>
                <a:cs typeface="맑은 고딕"/>
              </a:rPr>
              <a:t>①</a:t>
            </a:r>
            <a:r>
              <a:rPr lang="en-US" altLang="ko-KR" sz="2050" b="0" dirty="0">
                <a:solidFill>
                  <a:srgbClr val="1F2328"/>
                </a:solidFill>
                <a:latin typeface="Calibri"/>
                <a:ea typeface="맑은 고딕"/>
                <a:cs typeface="Calibri"/>
              </a:rPr>
              <a:t> </a:t>
            </a:r>
            <a:r>
              <a:rPr lang="en-US" altLang="ko-KR" sz="2050" b="0" dirty="0">
                <a:solidFill>
                  <a:srgbClr val="1F2328"/>
                </a:solidFill>
                <a:latin typeface="Calibri"/>
                <a:ea typeface="맑은 고딕"/>
                <a:cs typeface="Calibri"/>
              </a:rPr>
              <a:t>There </a:t>
            </a:r>
            <a:r>
              <a:rPr lang="en-US" altLang="ko-KR" sz="2050" b="1" dirty="0">
                <a:solidFill>
                  <a:srgbClr val="1F2328"/>
                </a:solidFill>
                <a:latin typeface="Calibri"/>
                <a:ea typeface="맑은 고딕"/>
                <a:cs typeface="Calibri"/>
              </a:rPr>
              <a:t>[ </a:t>
            </a:r>
            <a:r>
              <a:rPr lang="en-US" altLang="ko-KR" sz="2050" b="1" dirty="0">
                <a:solidFill>
                  <a:srgbClr val="1F2328"/>
                </a:solidFill>
                <a:latin typeface="Calibri"/>
                <a:ea typeface="맑은 고딕"/>
                <a:cs typeface="Calibri"/>
              </a:rPr>
              <a:t>are</a:t>
            </a:r>
            <a:r>
              <a:rPr lang="en-US" altLang="ko-KR" sz="2050" b="1" dirty="0">
                <a:solidFill>
                  <a:srgbClr val="1F2328"/>
                </a:solidFill>
                <a:latin typeface="Calibri"/>
                <a:ea typeface="맑은 고딕"/>
                <a:cs typeface="Calibri"/>
              </a:rPr>
              <a:t> / </a:t>
            </a:r>
            <a:r>
              <a:rPr lang="en-US" altLang="ko-KR" sz="2050" b="1" dirty="0">
                <a:solidFill>
                  <a:srgbClr val="1F2328"/>
                </a:solidFill>
                <a:latin typeface="Calibri"/>
                <a:ea typeface="맑은 고딕"/>
                <a:cs typeface="Calibri"/>
              </a:rPr>
              <a:t>is</a:t>
            </a:r>
            <a:r>
              <a:rPr lang="en-US" altLang="ko-KR" sz="2050" b="1" dirty="0">
                <a:solidFill>
                  <a:srgbClr val="1F2328"/>
                </a:solidFill>
                <a:latin typeface="Calibri"/>
                <a:ea typeface="맑은 고딕"/>
                <a:cs typeface="Calibri"/>
              </a:rPr>
              <a:t> ]</a:t>
            </a:r>
            <a:r>
              <a:rPr lang="en-US" altLang="ko-KR" sz="2050" b="0" dirty="0">
                <a:solidFill>
                  <a:srgbClr val="1F2328"/>
                </a:solidFill>
                <a:latin typeface="Calibri"/>
                <a:ea typeface="맑은 고딕"/>
                <a:cs typeface="Calibri"/>
              </a:rPr>
              <a:t> other examples of symbolic objects in Munjado.</a:t>
            </a:r>
            <a:r>
              <a:rPr lang="en-US" altLang="ko-KR" sz="2050" b="0" dirty="0">
                <a:solidFill>
                  <a:srgbClr val="1F2328"/>
                </a:solidFill>
                <a:latin typeface="Calibri"/>
                <a:ea typeface="맑은 고딕"/>
                <a:cs typeface="Calibri"/>
              </a:rPr>
              <a:t>   </a:t>
            </a:r>
            <a:r>
              <a:rPr lang="ko-KR" altLang="en-US" sz="2050" b="1" dirty="0">
                <a:solidFill>
                  <a:srgbClr val="1E2A5A"/>
                </a:solidFill>
                <a:latin typeface="맑은 고딕"/>
                <a:ea typeface="맑은 고딕"/>
                <a:cs typeface="맑은 고딕"/>
              </a:rPr>
              <a:t>②</a:t>
            </a:r>
            <a:r>
              <a:rPr lang="en-US" altLang="ko-KR" sz="2050" b="0" dirty="0">
                <a:solidFill>
                  <a:srgbClr val="1F2328"/>
                </a:solidFill>
                <a:latin typeface="Calibri"/>
                <a:ea typeface="맑은 고딕"/>
                <a:cs typeface="Calibri"/>
              </a:rPr>
              <a:t> </a:t>
            </a:r>
            <a:r>
              <a:rPr lang="en-US" altLang="ko-KR" sz="2050" b="0" dirty="0">
                <a:solidFill>
                  <a:srgbClr val="1F2328"/>
                </a:solidFill>
                <a:latin typeface="Calibri"/>
                <a:ea typeface="맑은 고딕"/>
                <a:cs typeface="Calibri"/>
              </a:rPr>
              <a:t>They are bamboo in the paintings of the character chung (忠) and lotus flowers in the paintings of ui (義).</a:t>
            </a:r>
            <a:r>
              <a:rPr lang="en-US" altLang="ko-KR" sz="2050" b="0" dirty="0">
                <a:solidFill>
                  <a:srgbClr val="1F2328"/>
                </a:solidFill>
                <a:latin typeface="Calibri"/>
                <a:ea typeface="맑은 고딕"/>
                <a:cs typeface="Calibri"/>
              </a:rPr>
              <a:t>   </a:t>
            </a:r>
            <a:r>
              <a:rPr lang="ko-KR" altLang="en-US" sz="2050" b="1" dirty="0">
                <a:solidFill>
                  <a:srgbClr val="1E2A5A"/>
                </a:solidFill>
                <a:latin typeface="맑은 고딕"/>
                <a:ea typeface="맑은 고딕"/>
                <a:cs typeface="맑은 고딕"/>
              </a:rPr>
              <a:t>③</a:t>
            </a:r>
            <a:r>
              <a:rPr lang="en-US" altLang="ko-KR" sz="2050" b="0" dirty="0">
                <a:solidFill>
                  <a:srgbClr val="1F2328"/>
                </a:solidFill>
                <a:latin typeface="Calibri"/>
                <a:ea typeface="맑은 고딕"/>
                <a:cs typeface="Calibri"/>
              </a:rPr>
              <a:t> </a:t>
            </a:r>
            <a:r>
              <a:rPr lang="en-US" altLang="ko-KR" sz="2050" b="0" dirty="0">
                <a:solidFill>
                  <a:srgbClr val="1F2328"/>
                </a:solidFill>
                <a:latin typeface="Calibri"/>
                <a:ea typeface="맑은 고딕"/>
                <a:cs typeface="Calibri"/>
              </a:rPr>
              <a:t>Bamboo does not bend.</a:t>
            </a:r>
            <a:r>
              <a:rPr lang="en-US" altLang="ko-KR" sz="2050" b="0" dirty="0">
                <a:solidFill>
                  <a:srgbClr val="1F2328"/>
                </a:solidFill>
                <a:latin typeface="Calibri"/>
                <a:ea typeface="맑은 고딕"/>
                <a:cs typeface="Calibri"/>
              </a:rPr>
              <a:t>   </a:t>
            </a:r>
            <a:r>
              <a:rPr lang="ko-KR" altLang="en-US" sz="2050" b="1" dirty="0">
                <a:solidFill>
                  <a:srgbClr val="1E2A5A"/>
                </a:solidFill>
                <a:latin typeface="맑은 고딕"/>
                <a:ea typeface="맑은 고딕"/>
                <a:cs typeface="맑은 고딕"/>
              </a:rPr>
              <a:t>④</a:t>
            </a:r>
            <a:r>
              <a:rPr lang="en-US" altLang="ko-KR" sz="2050" b="0" dirty="0">
                <a:solidFill>
                  <a:srgbClr val="1F2328"/>
                </a:solidFill>
                <a:latin typeface="Calibri"/>
                <a:ea typeface="맑은 고딕"/>
                <a:cs typeface="Calibri"/>
              </a:rPr>
              <a:t> </a:t>
            </a:r>
            <a:r>
              <a:rPr lang="en-US" altLang="ko-KR" sz="2050" b="0" dirty="0">
                <a:solidFill>
                  <a:srgbClr val="1F2328"/>
                </a:solidFill>
                <a:latin typeface="Calibri"/>
                <a:ea typeface="맑은 고딕"/>
                <a:cs typeface="Calibri"/>
              </a:rPr>
              <a:t>It stays </a:t>
            </a:r>
            <a:r>
              <a:rPr lang="en-US" altLang="ko-KR" sz="2050" b="1" dirty="0">
                <a:solidFill>
                  <a:srgbClr val="1F2328"/>
                </a:solidFill>
                <a:latin typeface="Calibri"/>
                <a:ea typeface="맑은 고딕"/>
                <a:cs typeface="Calibri"/>
              </a:rPr>
              <a:t>[ </a:t>
            </a:r>
            <a:r>
              <a:rPr lang="en-US" altLang="ko-KR" sz="2050" b="1" dirty="0">
                <a:solidFill>
                  <a:srgbClr val="1F2328"/>
                </a:solidFill>
                <a:latin typeface="Calibri"/>
                <a:ea typeface="맑은 고딕"/>
                <a:cs typeface="Calibri"/>
              </a:rPr>
              <a:t>greenly</a:t>
            </a:r>
            <a:r>
              <a:rPr lang="en-US" altLang="ko-KR" sz="2050" b="1" dirty="0">
                <a:solidFill>
                  <a:srgbClr val="1F2328"/>
                </a:solidFill>
                <a:latin typeface="Calibri"/>
                <a:ea typeface="맑은 고딕"/>
                <a:cs typeface="Calibri"/>
              </a:rPr>
              <a:t> / </a:t>
            </a:r>
            <a:r>
              <a:rPr lang="en-US" altLang="ko-KR" sz="2050" b="1" dirty="0">
                <a:solidFill>
                  <a:srgbClr val="1F2328"/>
                </a:solidFill>
                <a:latin typeface="Calibri"/>
                <a:ea typeface="맑은 고딕"/>
                <a:cs typeface="Calibri"/>
              </a:rPr>
              <a:t>green</a:t>
            </a:r>
            <a:r>
              <a:rPr lang="en-US" altLang="ko-KR" sz="2050" b="1" dirty="0">
                <a:solidFill>
                  <a:srgbClr val="1F2328"/>
                </a:solidFill>
                <a:latin typeface="Calibri"/>
                <a:ea typeface="맑은 고딕"/>
                <a:cs typeface="Calibri"/>
              </a:rPr>
              <a:t> ]</a:t>
            </a:r>
            <a:r>
              <a:rPr lang="en-US" altLang="ko-KR" sz="2050" b="0" dirty="0">
                <a:solidFill>
                  <a:srgbClr val="1F2328"/>
                </a:solidFill>
                <a:latin typeface="Calibri"/>
                <a:ea typeface="맑은 고딕"/>
                <a:cs typeface="Calibri"/>
              </a:rPr>
              <a:t> in all kinds of weather.</a:t>
            </a:r>
            <a:r>
              <a:rPr lang="en-US" altLang="ko-KR" sz="2050" b="0" dirty="0">
                <a:solidFill>
                  <a:srgbClr val="1F2328"/>
                </a:solidFill>
                <a:latin typeface="Calibri"/>
                <a:ea typeface="맑은 고딕"/>
                <a:cs typeface="Calibri"/>
              </a:rPr>
              <a:t>   </a:t>
            </a:r>
            <a:r>
              <a:rPr lang="ko-KR" altLang="en-US" sz="2050" b="1" dirty="0">
                <a:solidFill>
                  <a:srgbClr val="1E2A5A"/>
                </a:solidFill>
                <a:latin typeface="맑은 고딕"/>
                <a:ea typeface="맑은 고딕"/>
                <a:cs typeface="맑은 고딕"/>
              </a:rPr>
              <a:t>⑤</a:t>
            </a:r>
            <a:r>
              <a:rPr lang="en-US" altLang="ko-KR" sz="2050" b="0" dirty="0">
                <a:solidFill>
                  <a:srgbClr val="1F2328"/>
                </a:solidFill>
                <a:latin typeface="Calibri"/>
                <a:ea typeface="맑은 고딕"/>
                <a:cs typeface="Calibri"/>
              </a:rPr>
              <a:t> </a:t>
            </a:r>
            <a:r>
              <a:rPr lang="en-US" altLang="ko-KR" sz="2050" b="0" dirty="0">
                <a:solidFill>
                  <a:srgbClr val="1F2328"/>
                </a:solidFill>
                <a:latin typeface="Calibri"/>
                <a:ea typeface="맑은 고딕"/>
                <a:cs typeface="Calibri"/>
              </a:rPr>
              <a:t>For these reasons, bamboo came </a:t>
            </a:r>
            <a:r>
              <a:rPr lang="en-US" altLang="ko-KR" sz="2050" b="1" dirty="0">
                <a:solidFill>
                  <a:srgbClr val="1F2328"/>
                </a:solidFill>
                <a:latin typeface="Calibri"/>
                <a:ea typeface="맑은 고딕"/>
                <a:cs typeface="Calibri"/>
              </a:rPr>
              <a:t>[ </a:t>
            </a:r>
            <a:r>
              <a:rPr lang="en-US" altLang="ko-KR" sz="2050" b="1" dirty="0">
                <a:solidFill>
                  <a:srgbClr val="1F2328"/>
                </a:solidFill>
                <a:latin typeface="Calibri"/>
                <a:ea typeface="맑은 고딕"/>
                <a:cs typeface="Calibri"/>
              </a:rPr>
              <a:t>symbolizing</a:t>
            </a:r>
            <a:r>
              <a:rPr lang="en-US" altLang="ko-KR" sz="2050" b="1" dirty="0">
                <a:solidFill>
                  <a:srgbClr val="1F2328"/>
                </a:solidFill>
                <a:latin typeface="Calibri"/>
                <a:ea typeface="맑은 고딕"/>
                <a:cs typeface="Calibri"/>
              </a:rPr>
              <a:t> / </a:t>
            </a:r>
            <a:r>
              <a:rPr lang="en-US" altLang="ko-KR" sz="2050" b="1" dirty="0">
                <a:solidFill>
                  <a:srgbClr val="1F2328"/>
                </a:solidFill>
                <a:latin typeface="Calibri"/>
                <a:ea typeface="맑은 고딕"/>
                <a:cs typeface="Calibri"/>
              </a:rPr>
              <a:t>to symbolize</a:t>
            </a:r>
            <a:r>
              <a:rPr lang="en-US" altLang="ko-KR" sz="2050" b="1" dirty="0">
                <a:solidFill>
                  <a:srgbClr val="1F2328"/>
                </a:solidFill>
                <a:latin typeface="Calibri"/>
                <a:ea typeface="맑은 고딕"/>
                <a:cs typeface="Calibri"/>
              </a:rPr>
              <a:t> ]</a:t>
            </a:r>
            <a:r>
              <a:rPr lang="en-US" altLang="ko-KR" sz="2050" b="0" dirty="0">
                <a:solidFill>
                  <a:srgbClr val="1F2328"/>
                </a:solidFill>
                <a:latin typeface="Calibri"/>
                <a:ea typeface="맑은 고딕"/>
                <a:cs typeface="Calibri"/>
              </a:rPr>
              <a:t> loyalty to the king.</a:t>
            </a:r>
            <a:r>
              <a:rPr lang="en-US" altLang="ko-KR" sz="2050" b="0" dirty="0">
                <a:solidFill>
                  <a:srgbClr val="1F2328"/>
                </a:solidFill>
                <a:latin typeface="Calibri"/>
                <a:ea typeface="맑은 고딕"/>
                <a:cs typeface="Calibri"/>
              </a:rPr>
              <a:t>   </a:t>
            </a:r>
            <a:r>
              <a:rPr lang="ko-KR" altLang="en-US" sz="2050" b="1" dirty="0">
                <a:solidFill>
                  <a:srgbClr val="1E2A5A"/>
                </a:solidFill>
                <a:latin typeface="맑은 고딕"/>
                <a:ea typeface="맑은 고딕"/>
                <a:cs typeface="맑은 고딕"/>
              </a:rPr>
              <a:t>⑥</a:t>
            </a:r>
            <a:r>
              <a:rPr lang="en-US" altLang="ko-KR" sz="2050" b="0" dirty="0">
                <a:solidFill>
                  <a:srgbClr val="1F2328"/>
                </a:solidFill>
                <a:latin typeface="Calibri"/>
                <a:ea typeface="맑은 고딕"/>
                <a:cs typeface="Calibri"/>
              </a:rPr>
              <a:t> </a:t>
            </a:r>
            <a:r>
              <a:rPr lang="en-US" altLang="ko-KR" sz="2050" b="0" dirty="0">
                <a:solidFill>
                  <a:srgbClr val="1F2328"/>
                </a:solidFill>
                <a:latin typeface="Calibri"/>
                <a:ea typeface="맑은 고딕"/>
                <a:cs typeface="Calibri"/>
              </a:rPr>
              <a:t>In the case of lotus flowers, they grow in muddy ponds but still bloom beautifully.</a:t>
            </a:r>
            <a:r>
              <a:rPr lang="en-US" altLang="ko-KR" sz="2050" b="0" dirty="0">
                <a:solidFill>
                  <a:srgbClr val="1F2328"/>
                </a:solidFill>
                <a:latin typeface="Calibri"/>
                <a:ea typeface="맑은 고딕"/>
                <a:cs typeface="Calibri"/>
              </a:rPr>
              <a:t>   </a:t>
            </a:r>
            <a:r>
              <a:rPr lang="ko-KR" altLang="en-US" sz="2050" b="1" dirty="0">
                <a:solidFill>
                  <a:srgbClr val="1E2A5A"/>
                </a:solidFill>
                <a:latin typeface="맑은 고딕"/>
                <a:ea typeface="맑은 고딕"/>
                <a:cs typeface="맑은 고딕"/>
              </a:rPr>
              <a:t>⑦</a:t>
            </a:r>
            <a:r>
              <a:rPr lang="en-US" altLang="ko-KR" sz="2050" b="0" dirty="0">
                <a:solidFill>
                  <a:srgbClr val="1F2328"/>
                </a:solidFill>
                <a:latin typeface="Calibri"/>
                <a:ea typeface="맑은 고딕"/>
                <a:cs typeface="Calibri"/>
              </a:rPr>
              <a:t> </a:t>
            </a:r>
            <a:r>
              <a:rPr lang="en-US" altLang="ko-KR" sz="2050" b="0" dirty="0">
                <a:solidFill>
                  <a:srgbClr val="1F2328"/>
                </a:solidFill>
                <a:latin typeface="Calibri"/>
                <a:ea typeface="맑은 고딕"/>
                <a:cs typeface="Calibri"/>
              </a:rPr>
              <a:t>They thus became a symbol of a person’s will to fight for justice </a:t>
            </a:r>
            <a:r>
              <a:rPr lang="en-US" altLang="ko-KR" sz="2050" b="1" dirty="0">
                <a:solidFill>
                  <a:srgbClr val="1F2328"/>
                </a:solidFill>
                <a:latin typeface="Calibri"/>
                <a:ea typeface="맑은 고딕"/>
                <a:cs typeface="Calibri"/>
              </a:rPr>
              <a:t>[ </a:t>
            </a:r>
            <a:r>
              <a:rPr lang="en-US" altLang="ko-KR" sz="2050" b="1" dirty="0">
                <a:solidFill>
                  <a:srgbClr val="1F2328"/>
                </a:solidFill>
                <a:latin typeface="Calibri"/>
                <a:ea typeface="맑은 고딕"/>
                <a:cs typeface="Calibri"/>
              </a:rPr>
              <a:t>despite</a:t>
            </a:r>
            <a:r>
              <a:rPr lang="en-US" altLang="ko-KR" sz="2050" b="1" dirty="0">
                <a:solidFill>
                  <a:srgbClr val="1F2328"/>
                </a:solidFill>
                <a:latin typeface="Calibri"/>
                <a:ea typeface="맑은 고딕"/>
                <a:cs typeface="Calibri"/>
              </a:rPr>
              <a:t> / </a:t>
            </a:r>
            <a:r>
              <a:rPr lang="en-US" altLang="ko-KR" sz="2050" b="1" dirty="0">
                <a:solidFill>
                  <a:srgbClr val="1F2328"/>
                </a:solidFill>
                <a:latin typeface="Calibri"/>
                <a:ea typeface="맑은 고딕"/>
                <a:cs typeface="Calibri"/>
              </a:rPr>
              <a:t>although</a:t>
            </a:r>
            <a:r>
              <a:rPr lang="en-US" altLang="ko-KR" sz="2050" b="1" dirty="0">
                <a:solidFill>
                  <a:srgbClr val="1F2328"/>
                </a:solidFill>
                <a:latin typeface="Calibri"/>
                <a:ea typeface="맑은 고딕"/>
                <a:cs typeface="Calibri"/>
              </a:rPr>
              <a:t> ]</a:t>
            </a:r>
            <a:r>
              <a:rPr lang="en-US" altLang="ko-KR" sz="2050" b="0" dirty="0">
                <a:solidFill>
                  <a:srgbClr val="1F2328"/>
                </a:solidFill>
                <a:latin typeface="Calibri"/>
                <a:ea typeface="맑은 고딕"/>
                <a:cs typeface="Calibri"/>
              </a:rPr>
              <a:t> difficulties.</a:t>
            </a:r>
            <a:r>
              <a:rPr lang="en-US" altLang="ko-KR" sz="2050" b="0" dirty="0">
                <a:solidFill>
                  <a:srgbClr val="1F2328"/>
                </a:solidFill>
                <a:latin typeface="Calibri"/>
                <a:ea typeface="맑은 고딕"/>
                <a:cs typeface="Calibri"/>
              </a:rPr>
              <a:t>   </a:t>
            </a:r>
            <a:r>
              <a:rPr lang="ko-KR" altLang="en-US" sz="2050" b="1" dirty="0">
                <a:solidFill>
                  <a:srgbClr val="1E2A5A"/>
                </a:solidFill>
                <a:latin typeface="맑은 고딕"/>
                <a:ea typeface="맑은 고딕"/>
                <a:cs typeface="맑은 고딕"/>
              </a:rPr>
              <a:t>⑧</a:t>
            </a:r>
            <a:r>
              <a:rPr lang="en-US" altLang="ko-KR" sz="2050" b="0" dirty="0">
                <a:solidFill>
                  <a:srgbClr val="1F2328"/>
                </a:solidFill>
                <a:latin typeface="Calibri"/>
                <a:ea typeface="맑은 고딕"/>
                <a:cs typeface="Calibri"/>
              </a:rPr>
              <a:t> </a:t>
            </a:r>
            <a:r>
              <a:rPr lang="en-US" altLang="ko-KR" sz="2050" b="0" dirty="0">
                <a:solidFill>
                  <a:srgbClr val="1F2328"/>
                </a:solidFill>
                <a:latin typeface="Calibri"/>
                <a:ea typeface="맑은 고딕"/>
                <a:cs typeface="Calibri"/>
              </a:rPr>
              <a:t>Munjado was much more than a painting to people of the Joseon dynasty.</a:t>
            </a:r>
            <a:r>
              <a:rPr lang="en-US" altLang="ko-KR" sz="2050" b="0" dirty="0">
                <a:solidFill>
                  <a:srgbClr val="1F2328"/>
                </a:solidFill>
                <a:latin typeface="Calibri"/>
                <a:ea typeface="맑은 고딕"/>
                <a:cs typeface="Calibri"/>
              </a:rPr>
              <a:t>   </a:t>
            </a:r>
            <a:r>
              <a:rPr lang="ko-KR" altLang="en-US" sz="2050" b="1" dirty="0">
                <a:solidFill>
                  <a:srgbClr val="1E2A5A"/>
                </a:solidFill>
                <a:latin typeface="맑은 고딕"/>
                <a:ea typeface="맑은 고딕"/>
                <a:cs typeface="맑은 고딕"/>
              </a:rPr>
              <a:t>⑨</a:t>
            </a:r>
            <a:r>
              <a:rPr lang="en-US" altLang="ko-KR" sz="2050" b="0" dirty="0">
                <a:solidFill>
                  <a:srgbClr val="1F2328"/>
                </a:solidFill>
                <a:latin typeface="Calibri"/>
                <a:ea typeface="맑은 고딕"/>
                <a:cs typeface="Calibri"/>
              </a:rPr>
              <a:t> </a:t>
            </a:r>
            <a:r>
              <a:rPr lang="en-US" altLang="ko-KR" sz="2050" b="0" dirty="0">
                <a:solidFill>
                  <a:srgbClr val="1F2328"/>
                </a:solidFill>
                <a:latin typeface="Calibri"/>
                <a:ea typeface="맑은 고딕"/>
                <a:cs typeface="Calibri"/>
              </a:rPr>
              <a:t>It reminded them of important values </a:t>
            </a:r>
            <a:r>
              <a:rPr lang="en-US" altLang="ko-KR" sz="2050" b="1" dirty="0">
                <a:solidFill>
                  <a:srgbClr val="1F2328"/>
                </a:solidFill>
                <a:latin typeface="Calibri"/>
                <a:ea typeface="맑은 고딕"/>
                <a:cs typeface="Calibri"/>
              </a:rPr>
              <a:t>[ </a:t>
            </a:r>
            <a:r>
              <a:rPr lang="en-US" altLang="ko-KR" sz="2050" b="1" dirty="0">
                <a:solidFill>
                  <a:srgbClr val="1F2328"/>
                </a:solidFill>
                <a:latin typeface="Calibri"/>
                <a:ea typeface="맑은 고딕"/>
                <a:cs typeface="Calibri"/>
              </a:rPr>
              <a:t>that</a:t>
            </a:r>
            <a:r>
              <a:rPr lang="en-US" altLang="ko-KR" sz="2050" b="1" dirty="0">
                <a:solidFill>
                  <a:srgbClr val="1F2328"/>
                </a:solidFill>
                <a:latin typeface="Calibri"/>
                <a:ea typeface="맑은 고딕"/>
                <a:cs typeface="Calibri"/>
              </a:rPr>
              <a:t> / </a:t>
            </a:r>
            <a:r>
              <a:rPr lang="en-US" altLang="ko-KR" sz="2050" b="1" dirty="0">
                <a:solidFill>
                  <a:srgbClr val="1F2328"/>
                </a:solidFill>
                <a:latin typeface="Calibri"/>
                <a:ea typeface="맑은 고딕"/>
                <a:cs typeface="Calibri"/>
              </a:rPr>
              <a:t>what</a:t>
            </a:r>
            <a:r>
              <a:rPr lang="en-US" altLang="ko-KR" sz="2050" b="1" dirty="0">
                <a:solidFill>
                  <a:srgbClr val="1F2328"/>
                </a:solidFill>
                <a:latin typeface="Calibri"/>
                <a:ea typeface="맑은 고딕"/>
                <a:cs typeface="Calibri"/>
              </a:rPr>
              <a:t> ]</a:t>
            </a:r>
            <a:r>
              <a:rPr lang="en-US" altLang="ko-KR" sz="2050" b="0" dirty="0">
                <a:solidFill>
                  <a:srgbClr val="1F2328"/>
                </a:solidFill>
                <a:latin typeface="Calibri"/>
                <a:ea typeface="맑은 고딕"/>
                <a:cs typeface="Calibri"/>
              </a:rPr>
              <a:t> greatly influenced their behaviors and attitudes.</a:t>
            </a:r>
            <a:r>
              <a:rPr lang="en-US" altLang="ko-KR" sz="2050" b="0" dirty="0">
                <a:solidFill>
                  <a:srgbClr val="1F2328"/>
                </a:solidFill>
                <a:latin typeface="Calibri"/>
                <a:ea typeface="맑은 고딕"/>
                <a:cs typeface="Calibri"/>
              </a:rPr>
              <a:t>   </a:t>
            </a:r>
            <a:r>
              <a:rPr lang="ko-KR" altLang="en-US" sz="2050" b="1" dirty="0">
                <a:solidFill>
                  <a:srgbClr val="1E2A5A"/>
                </a:solidFill>
                <a:latin typeface="맑은 고딕"/>
                <a:ea typeface="맑은 고딕"/>
                <a:cs typeface="맑은 고딕"/>
              </a:rPr>
              <a:t>⑩</a:t>
            </a:r>
            <a:r>
              <a:rPr lang="en-US" altLang="ko-KR" sz="2050" b="0" dirty="0">
                <a:solidFill>
                  <a:srgbClr val="1F2328"/>
                </a:solidFill>
                <a:latin typeface="Calibri"/>
                <a:ea typeface="맑은 고딕"/>
                <a:cs typeface="Calibri"/>
              </a:rPr>
              <a:t> </a:t>
            </a:r>
            <a:r>
              <a:rPr lang="en-US" altLang="ko-KR" sz="2050" b="0" dirty="0">
                <a:solidFill>
                  <a:srgbClr val="1F2328"/>
                </a:solidFill>
                <a:latin typeface="Calibri"/>
                <a:ea typeface="맑은 고딕"/>
                <a:cs typeface="Calibri"/>
              </a:rPr>
              <a:t>In particular, for children, Munjado was a study tool.</a:t>
            </a:r>
            <a:r>
              <a:rPr lang="en-US" altLang="ko-KR" sz="2050" b="0" dirty="0">
                <a:solidFill>
                  <a:srgbClr val="1F2328"/>
                </a:solidFill>
                <a:latin typeface="Calibri"/>
                <a:ea typeface="맑은 고딕"/>
                <a:cs typeface="Calibri"/>
              </a:rPr>
              <a:t>   </a:t>
            </a:r>
            <a:r>
              <a:rPr lang="ko-KR" altLang="en-US" sz="2050" b="1" dirty="0">
                <a:solidFill>
                  <a:srgbClr val="1E2A5A"/>
                </a:solidFill>
                <a:latin typeface="맑은 고딕"/>
                <a:ea typeface="맑은 고딕"/>
                <a:cs typeface="맑은 고딕"/>
              </a:rPr>
              <a:t>⑪</a:t>
            </a:r>
            <a:r>
              <a:rPr lang="en-US" altLang="ko-KR" sz="2050" b="0" dirty="0">
                <a:solidFill>
                  <a:srgbClr val="1F2328"/>
                </a:solidFill>
                <a:latin typeface="Calibri"/>
                <a:ea typeface="맑은 고딕"/>
                <a:cs typeface="Calibri"/>
              </a:rPr>
              <a:t> </a:t>
            </a:r>
            <a:r>
              <a:rPr lang="en-US" altLang="ko-KR" sz="2050" b="0" dirty="0">
                <a:solidFill>
                  <a:srgbClr val="1F2328"/>
                </a:solidFill>
                <a:latin typeface="Calibri"/>
                <a:ea typeface="맑은 고딕"/>
                <a:cs typeface="Calibri"/>
              </a:rPr>
              <a:t>Through it, children in the Joseon dynasty could learn the importance of harmony in family and society.</a:t>
            </a:r>
            <a:endParaRPr lang="en-US" altLang="ko-KR" sz="2050" b="0" dirty="0">
              <a:solidFill>
                <a:srgbClr val="1F2328"/>
              </a:solidFill>
              <a:latin typeface="Calibri"/>
              <a:ea typeface="맑은 고딕"/>
              <a:cs typeface="Calibri"/>
            </a:endParaRPr>
          </a:p>
        </p:txBody>
      </p:sp>
      <p:sp>
        <p:nvSpPr>
          <p:cNvPr id="9" name="rv_g01"/>
          <p:cNvSpPr txBox="1"/>
          <p:nvPr/>
        </p:nvSpPr>
        <p:spPr>
          <a:xfrm>
            <a:off x="457200" y="950976"/>
            <a:ext cx="11277295" cy="5370576"/>
          </a:xfrm>
          <a:prstGeom prst="rect">
            <a:avLst/>
          </a:prstGeom>
          <a:noFill/>
        </p:spPr>
        <p:txBody>
          <a:bodyPr wrap="square" lIns="228600" tIns="155448" rIns="228600" bIns="155448" anchor="t" rtlCol="0">
            <a:noAutofit/>
          </a:bodyPr>
          <a:lstStyle/>
          <a:p>
            <a:pPr algn="l">
              <a:lnSpc>
                <a:spcPts val="3320"/>
              </a:lnSpc>
              <a:spcBef>
                <a:spcPts val="0"/>
              </a:spcBef>
              <a:spcAft>
                <a:spcPts val="0"/>
              </a:spcAft>
              <a:buNone/>
            </a:pPr>
            <a:r>
              <a:rPr lang="ko-KR" altLang="en-US" sz="2050" b="1" dirty="0">
                <a:solidFill>
                  <a:srgbClr val="1E2A5A">
                    <a:alpha val="0"/>
                  </a:srgbClr>
                </a:solidFill>
                <a:latin typeface="맑은 고딕"/>
                <a:ea typeface="맑은 고딕"/>
                <a:cs typeface="맑은 고딕"/>
              </a:rPr>
              <a:t>①</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There </a:t>
            </a:r>
            <a:r>
              <a:rPr lang="en-US" altLang="ko-KR" sz="2050" b="1" dirty="0">
                <a:solidFill>
                  <a:srgbClr val="1F2328">
                    <a:alpha val="0"/>
                  </a:srgbClr>
                </a:solidFill>
                <a:latin typeface="Calibri"/>
                <a:ea typeface="맑은 고딕"/>
                <a:cs typeface="Calibri"/>
              </a:rPr>
              <a:t>[ </a:t>
            </a:r>
            <a:r>
              <a:rPr lang="en-US" altLang="ko-KR" sz="2050" b="1" dirty="0">
                <a:solidFill>
                  <a:srgbClr val="C00000"/>
                </a:solidFill>
                <a:highlight>
                  <a:srgbClr val="F3F5F9"/>
                </a:highlight>
                <a:latin typeface="Calibri"/>
                <a:ea typeface="맑은 고딕"/>
                <a:cs typeface="Calibri"/>
              </a:rPr>
              <a:t>are</a:t>
            </a:r>
            <a:r>
              <a:rPr lang="en-US" altLang="ko-KR" sz="2050" b="1" dirty="0">
                <a:solidFill>
                  <a:srgbClr val="1F2328">
                    <a:alpha val="0"/>
                  </a:srgbClr>
                </a:solidFill>
                <a:latin typeface="Calibri"/>
                <a:ea typeface="맑은 고딕"/>
                <a:cs typeface="Calibri"/>
              </a:rPr>
              <a:t> / </a:t>
            </a:r>
            <a:r>
              <a:rPr lang="en-US" altLang="ko-KR" sz="2050" b="1" dirty="0">
                <a:solidFill>
                  <a:srgbClr val="1F2328">
                    <a:alpha val="0"/>
                  </a:srgbClr>
                </a:solidFill>
                <a:latin typeface="Calibri"/>
                <a:ea typeface="맑은 고딕"/>
                <a:cs typeface="Calibri"/>
              </a:rPr>
              <a:t>is</a:t>
            </a:r>
            <a:r>
              <a:rPr lang="en-US" altLang="ko-KR" sz="2050" b="1"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 other examples of symbolic objects in Munjado.</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②</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They are bamboo in the paintings of the character chung (忠) and lotus flowers in the paintings of ui (義).</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③</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Bamboo does not bend.</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④</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It stays </a:t>
            </a:r>
            <a:r>
              <a:rPr lang="en-US" altLang="ko-KR" sz="2050" b="1" dirty="0">
                <a:solidFill>
                  <a:srgbClr val="1F2328">
                    <a:alpha val="0"/>
                  </a:srgbClr>
                </a:solidFill>
                <a:latin typeface="Calibri"/>
                <a:ea typeface="맑은 고딕"/>
                <a:cs typeface="Calibri"/>
              </a:rPr>
              <a:t>[ </a:t>
            </a:r>
            <a:r>
              <a:rPr lang="en-US" altLang="ko-KR" sz="2050" b="1" dirty="0">
                <a:solidFill>
                  <a:srgbClr val="1F2328">
                    <a:alpha val="0"/>
                  </a:srgbClr>
                </a:solidFill>
                <a:latin typeface="Calibri"/>
                <a:ea typeface="맑은 고딕"/>
                <a:cs typeface="Calibri"/>
              </a:rPr>
              <a:t>greenly</a:t>
            </a:r>
            <a:r>
              <a:rPr lang="en-US" altLang="ko-KR" sz="2050" b="1" dirty="0">
                <a:solidFill>
                  <a:srgbClr val="1F2328">
                    <a:alpha val="0"/>
                  </a:srgbClr>
                </a:solidFill>
                <a:latin typeface="Calibri"/>
                <a:ea typeface="맑은 고딕"/>
                <a:cs typeface="Calibri"/>
              </a:rPr>
              <a:t> / </a:t>
            </a:r>
            <a:r>
              <a:rPr lang="en-US" altLang="ko-KR" sz="2050" b="1" dirty="0">
                <a:solidFill>
                  <a:srgbClr val="1F2328">
                    <a:alpha val="0"/>
                  </a:srgbClr>
                </a:solidFill>
                <a:latin typeface="Calibri"/>
                <a:ea typeface="맑은 고딕"/>
                <a:cs typeface="Calibri"/>
              </a:rPr>
              <a:t>green</a:t>
            </a:r>
            <a:r>
              <a:rPr lang="en-US" altLang="ko-KR" sz="2050" b="1"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 in all kinds of weather.</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⑤</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For these reasons, bamboo came </a:t>
            </a:r>
            <a:r>
              <a:rPr lang="en-US" altLang="ko-KR" sz="2050" b="1" dirty="0">
                <a:solidFill>
                  <a:srgbClr val="1F2328">
                    <a:alpha val="0"/>
                  </a:srgbClr>
                </a:solidFill>
                <a:latin typeface="Calibri"/>
                <a:ea typeface="맑은 고딕"/>
                <a:cs typeface="Calibri"/>
              </a:rPr>
              <a:t>[ </a:t>
            </a:r>
            <a:r>
              <a:rPr lang="en-US" altLang="ko-KR" sz="2050" b="1" dirty="0">
                <a:solidFill>
                  <a:srgbClr val="1F2328">
                    <a:alpha val="0"/>
                  </a:srgbClr>
                </a:solidFill>
                <a:latin typeface="Calibri"/>
                <a:ea typeface="맑은 고딕"/>
                <a:cs typeface="Calibri"/>
              </a:rPr>
              <a:t>symbolizing</a:t>
            </a:r>
            <a:r>
              <a:rPr lang="en-US" altLang="ko-KR" sz="2050" b="1" dirty="0">
                <a:solidFill>
                  <a:srgbClr val="1F2328">
                    <a:alpha val="0"/>
                  </a:srgbClr>
                </a:solidFill>
                <a:latin typeface="Calibri"/>
                <a:ea typeface="맑은 고딕"/>
                <a:cs typeface="Calibri"/>
              </a:rPr>
              <a:t> / </a:t>
            </a:r>
            <a:r>
              <a:rPr lang="en-US" altLang="ko-KR" sz="2050" b="1" dirty="0">
                <a:solidFill>
                  <a:srgbClr val="1F2328">
                    <a:alpha val="0"/>
                  </a:srgbClr>
                </a:solidFill>
                <a:latin typeface="Calibri"/>
                <a:ea typeface="맑은 고딕"/>
                <a:cs typeface="Calibri"/>
              </a:rPr>
              <a:t>to symbolize</a:t>
            </a:r>
            <a:r>
              <a:rPr lang="en-US" altLang="ko-KR" sz="2050" b="1"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 loyalty to the king.</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⑥</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In the case of lotus flowers, they grow in muddy ponds but still bloom beautifully.</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⑦</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They thus became a symbol of a person’s will to fight for justice </a:t>
            </a:r>
            <a:r>
              <a:rPr lang="en-US" altLang="ko-KR" sz="2050" b="1" dirty="0">
                <a:solidFill>
                  <a:srgbClr val="1F2328">
                    <a:alpha val="0"/>
                  </a:srgbClr>
                </a:solidFill>
                <a:latin typeface="Calibri"/>
                <a:ea typeface="맑은 고딕"/>
                <a:cs typeface="Calibri"/>
              </a:rPr>
              <a:t>[ </a:t>
            </a:r>
            <a:r>
              <a:rPr lang="en-US" altLang="ko-KR" sz="2050" b="1" dirty="0">
                <a:solidFill>
                  <a:srgbClr val="1F2328">
                    <a:alpha val="0"/>
                  </a:srgbClr>
                </a:solidFill>
                <a:latin typeface="Calibri"/>
                <a:ea typeface="맑은 고딕"/>
                <a:cs typeface="Calibri"/>
              </a:rPr>
              <a:t>despite</a:t>
            </a:r>
            <a:r>
              <a:rPr lang="en-US" altLang="ko-KR" sz="2050" b="1" dirty="0">
                <a:solidFill>
                  <a:srgbClr val="1F2328">
                    <a:alpha val="0"/>
                  </a:srgbClr>
                </a:solidFill>
                <a:latin typeface="Calibri"/>
                <a:ea typeface="맑은 고딕"/>
                <a:cs typeface="Calibri"/>
              </a:rPr>
              <a:t> / </a:t>
            </a:r>
            <a:r>
              <a:rPr lang="en-US" altLang="ko-KR" sz="2050" b="1" dirty="0">
                <a:solidFill>
                  <a:srgbClr val="1F2328">
                    <a:alpha val="0"/>
                  </a:srgbClr>
                </a:solidFill>
                <a:latin typeface="Calibri"/>
                <a:ea typeface="맑은 고딕"/>
                <a:cs typeface="Calibri"/>
              </a:rPr>
              <a:t>although</a:t>
            </a:r>
            <a:r>
              <a:rPr lang="en-US" altLang="ko-KR" sz="2050" b="1"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 difficulties.</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⑧</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Munjado was much more than a painting to people of the Joseon dynasty.</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⑨</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It reminded them of important values </a:t>
            </a:r>
            <a:r>
              <a:rPr lang="en-US" altLang="ko-KR" sz="2050" b="1" dirty="0">
                <a:solidFill>
                  <a:srgbClr val="1F2328">
                    <a:alpha val="0"/>
                  </a:srgbClr>
                </a:solidFill>
                <a:latin typeface="Calibri"/>
                <a:ea typeface="맑은 고딕"/>
                <a:cs typeface="Calibri"/>
              </a:rPr>
              <a:t>[ </a:t>
            </a:r>
            <a:r>
              <a:rPr lang="en-US" altLang="ko-KR" sz="2050" b="1" dirty="0">
                <a:solidFill>
                  <a:srgbClr val="1F2328">
                    <a:alpha val="0"/>
                  </a:srgbClr>
                </a:solidFill>
                <a:latin typeface="Calibri"/>
                <a:ea typeface="맑은 고딕"/>
                <a:cs typeface="Calibri"/>
              </a:rPr>
              <a:t>that</a:t>
            </a:r>
            <a:r>
              <a:rPr lang="en-US" altLang="ko-KR" sz="2050" b="1" dirty="0">
                <a:solidFill>
                  <a:srgbClr val="1F2328">
                    <a:alpha val="0"/>
                  </a:srgbClr>
                </a:solidFill>
                <a:latin typeface="Calibri"/>
                <a:ea typeface="맑은 고딕"/>
                <a:cs typeface="Calibri"/>
              </a:rPr>
              <a:t> / </a:t>
            </a:r>
            <a:r>
              <a:rPr lang="en-US" altLang="ko-KR" sz="2050" b="1" dirty="0">
                <a:solidFill>
                  <a:srgbClr val="1F2328">
                    <a:alpha val="0"/>
                  </a:srgbClr>
                </a:solidFill>
                <a:latin typeface="Calibri"/>
                <a:ea typeface="맑은 고딕"/>
                <a:cs typeface="Calibri"/>
              </a:rPr>
              <a:t>what</a:t>
            </a:r>
            <a:r>
              <a:rPr lang="en-US" altLang="ko-KR" sz="2050" b="1"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 greatly influenced their behaviors and attitudes.</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⑩</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In particular, for children, Munjado was a study tool.</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⑪</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Through it, children in the Joseon dynasty could learn the importance of harmony in family and society.</a:t>
            </a:r>
            <a:endParaRPr lang="en-US" altLang="ko-KR" sz="2050" b="0" dirty="0">
              <a:solidFill>
                <a:srgbClr val="1F2328"/>
              </a:solidFill>
              <a:latin typeface="Calibri"/>
              <a:ea typeface="맑은 고딕"/>
              <a:cs typeface="Calibri"/>
            </a:endParaRPr>
          </a:p>
        </p:txBody>
      </p:sp>
      <p:sp>
        <p:nvSpPr>
          <p:cNvPr id="10" name="rv_g02"/>
          <p:cNvSpPr txBox="1"/>
          <p:nvPr/>
        </p:nvSpPr>
        <p:spPr>
          <a:xfrm>
            <a:off x="457200" y="950976"/>
            <a:ext cx="11277295" cy="5370576"/>
          </a:xfrm>
          <a:prstGeom prst="rect">
            <a:avLst/>
          </a:prstGeom>
          <a:noFill/>
        </p:spPr>
        <p:txBody>
          <a:bodyPr wrap="square" lIns="228600" tIns="155448" rIns="228600" bIns="155448" anchor="t" rtlCol="0">
            <a:noAutofit/>
          </a:bodyPr>
          <a:lstStyle/>
          <a:p>
            <a:pPr algn="l">
              <a:lnSpc>
                <a:spcPts val="3320"/>
              </a:lnSpc>
              <a:spcBef>
                <a:spcPts val="0"/>
              </a:spcBef>
              <a:spcAft>
                <a:spcPts val="0"/>
              </a:spcAft>
              <a:buNone/>
            </a:pPr>
            <a:r>
              <a:rPr lang="ko-KR" altLang="en-US" sz="2050" b="1" dirty="0">
                <a:solidFill>
                  <a:srgbClr val="1E2A5A">
                    <a:alpha val="0"/>
                  </a:srgbClr>
                </a:solidFill>
                <a:latin typeface="맑은 고딕"/>
                <a:ea typeface="맑은 고딕"/>
                <a:cs typeface="맑은 고딕"/>
              </a:rPr>
              <a:t>①</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There </a:t>
            </a:r>
            <a:r>
              <a:rPr lang="en-US" altLang="ko-KR" sz="2050" b="1" dirty="0">
                <a:solidFill>
                  <a:srgbClr val="1F2328">
                    <a:alpha val="0"/>
                  </a:srgbClr>
                </a:solidFill>
                <a:latin typeface="Calibri"/>
                <a:ea typeface="맑은 고딕"/>
                <a:cs typeface="Calibri"/>
              </a:rPr>
              <a:t>[ </a:t>
            </a:r>
            <a:r>
              <a:rPr lang="en-US" altLang="ko-KR" sz="2050" b="1" dirty="0">
                <a:solidFill>
                  <a:srgbClr val="1F2328">
                    <a:alpha val="0"/>
                  </a:srgbClr>
                </a:solidFill>
                <a:latin typeface="Calibri"/>
                <a:ea typeface="맑은 고딕"/>
                <a:cs typeface="Calibri"/>
              </a:rPr>
              <a:t>are</a:t>
            </a:r>
            <a:r>
              <a:rPr lang="en-US" altLang="ko-KR" sz="2050" b="1" dirty="0">
                <a:solidFill>
                  <a:srgbClr val="1F2328">
                    <a:alpha val="0"/>
                  </a:srgbClr>
                </a:solidFill>
                <a:latin typeface="Calibri"/>
                <a:ea typeface="맑은 고딕"/>
                <a:cs typeface="Calibri"/>
              </a:rPr>
              <a:t> / </a:t>
            </a:r>
            <a:r>
              <a:rPr lang="en-US" altLang="ko-KR" sz="2050" b="1" dirty="0">
                <a:solidFill>
                  <a:srgbClr val="1F2328">
                    <a:alpha val="0"/>
                  </a:srgbClr>
                </a:solidFill>
                <a:latin typeface="Calibri"/>
                <a:ea typeface="맑은 고딕"/>
                <a:cs typeface="Calibri"/>
              </a:rPr>
              <a:t>is</a:t>
            </a:r>
            <a:r>
              <a:rPr lang="en-US" altLang="ko-KR" sz="2050" b="1"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 other examples of symbolic objects in Munjado.</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②</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They are bamboo in the paintings of the character chung (忠) and lotus flowers in the paintings of ui (義).</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③</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Bamboo does not bend.</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④</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It stays </a:t>
            </a:r>
            <a:r>
              <a:rPr lang="en-US" altLang="ko-KR" sz="2050" b="1" dirty="0">
                <a:solidFill>
                  <a:srgbClr val="1F2328">
                    <a:alpha val="0"/>
                  </a:srgbClr>
                </a:solidFill>
                <a:latin typeface="Calibri"/>
                <a:ea typeface="맑은 고딕"/>
                <a:cs typeface="Calibri"/>
              </a:rPr>
              <a:t>[ </a:t>
            </a:r>
            <a:r>
              <a:rPr lang="en-US" altLang="ko-KR" sz="2050" b="1" dirty="0">
                <a:solidFill>
                  <a:srgbClr val="1F2328">
                    <a:alpha val="0"/>
                  </a:srgbClr>
                </a:solidFill>
                <a:latin typeface="Calibri"/>
                <a:ea typeface="맑은 고딕"/>
                <a:cs typeface="Calibri"/>
              </a:rPr>
              <a:t>greenly</a:t>
            </a:r>
            <a:r>
              <a:rPr lang="en-US" altLang="ko-KR" sz="2050" b="1" dirty="0">
                <a:solidFill>
                  <a:srgbClr val="1F2328">
                    <a:alpha val="0"/>
                  </a:srgbClr>
                </a:solidFill>
                <a:latin typeface="Calibri"/>
                <a:ea typeface="맑은 고딕"/>
                <a:cs typeface="Calibri"/>
              </a:rPr>
              <a:t> / </a:t>
            </a:r>
            <a:r>
              <a:rPr lang="en-US" altLang="ko-KR" sz="2050" b="1" dirty="0">
                <a:solidFill>
                  <a:srgbClr val="C00000"/>
                </a:solidFill>
                <a:highlight>
                  <a:srgbClr val="F3F5F9"/>
                </a:highlight>
                <a:latin typeface="Calibri"/>
                <a:ea typeface="맑은 고딕"/>
                <a:cs typeface="Calibri"/>
              </a:rPr>
              <a:t>green</a:t>
            </a:r>
            <a:r>
              <a:rPr lang="en-US" altLang="ko-KR" sz="2050" b="1"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 in all kinds of weather.</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⑤</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For these reasons, bamboo came </a:t>
            </a:r>
            <a:r>
              <a:rPr lang="en-US" altLang="ko-KR" sz="2050" b="1" dirty="0">
                <a:solidFill>
                  <a:srgbClr val="1F2328">
                    <a:alpha val="0"/>
                  </a:srgbClr>
                </a:solidFill>
                <a:latin typeface="Calibri"/>
                <a:ea typeface="맑은 고딕"/>
                <a:cs typeface="Calibri"/>
              </a:rPr>
              <a:t>[ </a:t>
            </a:r>
            <a:r>
              <a:rPr lang="en-US" altLang="ko-KR" sz="2050" b="1" dirty="0">
                <a:solidFill>
                  <a:srgbClr val="1F2328">
                    <a:alpha val="0"/>
                  </a:srgbClr>
                </a:solidFill>
                <a:latin typeface="Calibri"/>
                <a:ea typeface="맑은 고딕"/>
                <a:cs typeface="Calibri"/>
              </a:rPr>
              <a:t>symbolizing</a:t>
            </a:r>
            <a:r>
              <a:rPr lang="en-US" altLang="ko-KR" sz="2050" b="1" dirty="0">
                <a:solidFill>
                  <a:srgbClr val="1F2328">
                    <a:alpha val="0"/>
                  </a:srgbClr>
                </a:solidFill>
                <a:latin typeface="Calibri"/>
                <a:ea typeface="맑은 고딕"/>
                <a:cs typeface="Calibri"/>
              </a:rPr>
              <a:t> / </a:t>
            </a:r>
            <a:r>
              <a:rPr lang="en-US" altLang="ko-KR" sz="2050" b="1" dirty="0">
                <a:solidFill>
                  <a:srgbClr val="1F2328">
                    <a:alpha val="0"/>
                  </a:srgbClr>
                </a:solidFill>
                <a:latin typeface="Calibri"/>
                <a:ea typeface="맑은 고딕"/>
                <a:cs typeface="Calibri"/>
              </a:rPr>
              <a:t>to symbolize</a:t>
            </a:r>
            <a:r>
              <a:rPr lang="en-US" altLang="ko-KR" sz="2050" b="1"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 loyalty to the king.</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⑥</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In the case of lotus flowers, they grow in muddy ponds but still bloom beautifully.</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⑦</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They thus became a symbol of a person’s will to fight for justice </a:t>
            </a:r>
            <a:r>
              <a:rPr lang="en-US" altLang="ko-KR" sz="2050" b="1" dirty="0">
                <a:solidFill>
                  <a:srgbClr val="1F2328">
                    <a:alpha val="0"/>
                  </a:srgbClr>
                </a:solidFill>
                <a:latin typeface="Calibri"/>
                <a:ea typeface="맑은 고딕"/>
                <a:cs typeface="Calibri"/>
              </a:rPr>
              <a:t>[ </a:t>
            </a:r>
            <a:r>
              <a:rPr lang="en-US" altLang="ko-KR" sz="2050" b="1" dirty="0">
                <a:solidFill>
                  <a:srgbClr val="1F2328">
                    <a:alpha val="0"/>
                  </a:srgbClr>
                </a:solidFill>
                <a:latin typeface="Calibri"/>
                <a:ea typeface="맑은 고딕"/>
                <a:cs typeface="Calibri"/>
              </a:rPr>
              <a:t>despite</a:t>
            </a:r>
            <a:r>
              <a:rPr lang="en-US" altLang="ko-KR" sz="2050" b="1" dirty="0">
                <a:solidFill>
                  <a:srgbClr val="1F2328">
                    <a:alpha val="0"/>
                  </a:srgbClr>
                </a:solidFill>
                <a:latin typeface="Calibri"/>
                <a:ea typeface="맑은 고딕"/>
                <a:cs typeface="Calibri"/>
              </a:rPr>
              <a:t> / </a:t>
            </a:r>
            <a:r>
              <a:rPr lang="en-US" altLang="ko-KR" sz="2050" b="1" dirty="0">
                <a:solidFill>
                  <a:srgbClr val="1F2328">
                    <a:alpha val="0"/>
                  </a:srgbClr>
                </a:solidFill>
                <a:latin typeface="Calibri"/>
                <a:ea typeface="맑은 고딕"/>
                <a:cs typeface="Calibri"/>
              </a:rPr>
              <a:t>although</a:t>
            </a:r>
            <a:r>
              <a:rPr lang="en-US" altLang="ko-KR" sz="2050" b="1"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 difficulties.</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⑧</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Munjado was much more than a painting to people of the Joseon dynasty.</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⑨</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It reminded them of important values </a:t>
            </a:r>
            <a:r>
              <a:rPr lang="en-US" altLang="ko-KR" sz="2050" b="1" dirty="0">
                <a:solidFill>
                  <a:srgbClr val="1F2328">
                    <a:alpha val="0"/>
                  </a:srgbClr>
                </a:solidFill>
                <a:latin typeface="Calibri"/>
                <a:ea typeface="맑은 고딕"/>
                <a:cs typeface="Calibri"/>
              </a:rPr>
              <a:t>[ </a:t>
            </a:r>
            <a:r>
              <a:rPr lang="en-US" altLang="ko-KR" sz="2050" b="1" dirty="0">
                <a:solidFill>
                  <a:srgbClr val="1F2328">
                    <a:alpha val="0"/>
                  </a:srgbClr>
                </a:solidFill>
                <a:latin typeface="Calibri"/>
                <a:ea typeface="맑은 고딕"/>
                <a:cs typeface="Calibri"/>
              </a:rPr>
              <a:t>that</a:t>
            </a:r>
            <a:r>
              <a:rPr lang="en-US" altLang="ko-KR" sz="2050" b="1" dirty="0">
                <a:solidFill>
                  <a:srgbClr val="1F2328">
                    <a:alpha val="0"/>
                  </a:srgbClr>
                </a:solidFill>
                <a:latin typeface="Calibri"/>
                <a:ea typeface="맑은 고딕"/>
                <a:cs typeface="Calibri"/>
              </a:rPr>
              <a:t> / </a:t>
            </a:r>
            <a:r>
              <a:rPr lang="en-US" altLang="ko-KR" sz="2050" b="1" dirty="0">
                <a:solidFill>
                  <a:srgbClr val="1F2328">
                    <a:alpha val="0"/>
                  </a:srgbClr>
                </a:solidFill>
                <a:latin typeface="Calibri"/>
                <a:ea typeface="맑은 고딕"/>
                <a:cs typeface="Calibri"/>
              </a:rPr>
              <a:t>what</a:t>
            </a:r>
            <a:r>
              <a:rPr lang="en-US" altLang="ko-KR" sz="2050" b="1"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 greatly influenced their behaviors and attitudes.</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⑩</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In particular, for children, Munjado was a study tool.</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⑪</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Through it, children in the Joseon dynasty could learn the importance of harmony in family and society.</a:t>
            </a:r>
            <a:endParaRPr lang="en-US" altLang="ko-KR" sz="2050" b="0" dirty="0">
              <a:solidFill>
                <a:srgbClr val="1F2328"/>
              </a:solidFill>
              <a:latin typeface="Calibri"/>
              <a:ea typeface="맑은 고딕"/>
              <a:cs typeface="Calibri"/>
            </a:endParaRPr>
          </a:p>
        </p:txBody>
      </p:sp>
      <p:sp>
        <p:nvSpPr>
          <p:cNvPr id="11" name="rv_g03"/>
          <p:cNvSpPr txBox="1"/>
          <p:nvPr/>
        </p:nvSpPr>
        <p:spPr>
          <a:xfrm>
            <a:off x="457200" y="950976"/>
            <a:ext cx="11277295" cy="5370576"/>
          </a:xfrm>
          <a:prstGeom prst="rect">
            <a:avLst/>
          </a:prstGeom>
          <a:noFill/>
        </p:spPr>
        <p:txBody>
          <a:bodyPr wrap="square" lIns="228600" tIns="155448" rIns="228600" bIns="155448" anchor="t" rtlCol="0">
            <a:noAutofit/>
          </a:bodyPr>
          <a:lstStyle/>
          <a:p>
            <a:pPr algn="l">
              <a:lnSpc>
                <a:spcPts val="3320"/>
              </a:lnSpc>
              <a:spcBef>
                <a:spcPts val="0"/>
              </a:spcBef>
              <a:spcAft>
                <a:spcPts val="0"/>
              </a:spcAft>
              <a:buNone/>
            </a:pPr>
            <a:r>
              <a:rPr lang="ko-KR" altLang="en-US" sz="2050" b="1" dirty="0">
                <a:solidFill>
                  <a:srgbClr val="1E2A5A">
                    <a:alpha val="0"/>
                  </a:srgbClr>
                </a:solidFill>
                <a:latin typeface="맑은 고딕"/>
                <a:ea typeface="맑은 고딕"/>
                <a:cs typeface="맑은 고딕"/>
              </a:rPr>
              <a:t>①</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There </a:t>
            </a:r>
            <a:r>
              <a:rPr lang="en-US" altLang="ko-KR" sz="2050" b="1" dirty="0">
                <a:solidFill>
                  <a:srgbClr val="1F2328">
                    <a:alpha val="0"/>
                  </a:srgbClr>
                </a:solidFill>
                <a:latin typeface="Calibri"/>
                <a:ea typeface="맑은 고딕"/>
                <a:cs typeface="Calibri"/>
              </a:rPr>
              <a:t>[ </a:t>
            </a:r>
            <a:r>
              <a:rPr lang="en-US" altLang="ko-KR" sz="2050" b="1" dirty="0">
                <a:solidFill>
                  <a:srgbClr val="1F2328">
                    <a:alpha val="0"/>
                  </a:srgbClr>
                </a:solidFill>
                <a:latin typeface="Calibri"/>
                <a:ea typeface="맑은 고딕"/>
                <a:cs typeface="Calibri"/>
              </a:rPr>
              <a:t>are</a:t>
            </a:r>
            <a:r>
              <a:rPr lang="en-US" altLang="ko-KR" sz="2050" b="1" dirty="0">
                <a:solidFill>
                  <a:srgbClr val="1F2328">
                    <a:alpha val="0"/>
                  </a:srgbClr>
                </a:solidFill>
                <a:latin typeface="Calibri"/>
                <a:ea typeface="맑은 고딕"/>
                <a:cs typeface="Calibri"/>
              </a:rPr>
              <a:t> / </a:t>
            </a:r>
            <a:r>
              <a:rPr lang="en-US" altLang="ko-KR" sz="2050" b="1" dirty="0">
                <a:solidFill>
                  <a:srgbClr val="1F2328">
                    <a:alpha val="0"/>
                  </a:srgbClr>
                </a:solidFill>
                <a:latin typeface="Calibri"/>
                <a:ea typeface="맑은 고딕"/>
                <a:cs typeface="Calibri"/>
              </a:rPr>
              <a:t>is</a:t>
            </a:r>
            <a:r>
              <a:rPr lang="en-US" altLang="ko-KR" sz="2050" b="1"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 other examples of symbolic objects in Munjado.</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②</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They are bamboo in the paintings of the character chung (忠) and lotus flowers in the paintings of ui (義).</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③</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Bamboo does not bend.</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④</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It stays </a:t>
            </a:r>
            <a:r>
              <a:rPr lang="en-US" altLang="ko-KR" sz="2050" b="1" dirty="0">
                <a:solidFill>
                  <a:srgbClr val="1F2328">
                    <a:alpha val="0"/>
                  </a:srgbClr>
                </a:solidFill>
                <a:latin typeface="Calibri"/>
                <a:ea typeface="맑은 고딕"/>
                <a:cs typeface="Calibri"/>
              </a:rPr>
              <a:t>[ </a:t>
            </a:r>
            <a:r>
              <a:rPr lang="en-US" altLang="ko-KR" sz="2050" b="1" dirty="0">
                <a:solidFill>
                  <a:srgbClr val="1F2328">
                    <a:alpha val="0"/>
                  </a:srgbClr>
                </a:solidFill>
                <a:latin typeface="Calibri"/>
                <a:ea typeface="맑은 고딕"/>
                <a:cs typeface="Calibri"/>
              </a:rPr>
              <a:t>greenly</a:t>
            </a:r>
            <a:r>
              <a:rPr lang="en-US" altLang="ko-KR" sz="2050" b="1" dirty="0">
                <a:solidFill>
                  <a:srgbClr val="1F2328">
                    <a:alpha val="0"/>
                  </a:srgbClr>
                </a:solidFill>
                <a:latin typeface="Calibri"/>
                <a:ea typeface="맑은 고딕"/>
                <a:cs typeface="Calibri"/>
              </a:rPr>
              <a:t> / </a:t>
            </a:r>
            <a:r>
              <a:rPr lang="en-US" altLang="ko-KR" sz="2050" b="1" dirty="0">
                <a:solidFill>
                  <a:srgbClr val="1F2328">
                    <a:alpha val="0"/>
                  </a:srgbClr>
                </a:solidFill>
                <a:latin typeface="Calibri"/>
                <a:ea typeface="맑은 고딕"/>
                <a:cs typeface="Calibri"/>
              </a:rPr>
              <a:t>green</a:t>
            </a:r>
            <a:r>
              <a:rPr lang="en-US" altLang="ko-KR" sz="2050" b="1"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 in all kinds of weather.</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⑤</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For these reasons, bamboo came </a:t>
            </a:r>
            <a:r>
              <a:rPr lang="en-US" altLang="ko-KR" sz="2050" b="1" dirty="0">
                <a:solidFill>
                  <a:srgbClr val="1F2328">
                    <a:alpha val="0"/>
                  </a:srgbClr>
                </a:solidFill>
                <a:latin typeface="Calibri"/>
                <a:ea typeface="맑은 고딕"/>
                <a:cs typeface="Calibri"/>
              </a:rPr>
              <a:t>[ </a:t>
            </a:r>
            <a:r>
              <a:rPr lang="en-US" altLang="ko-KR" sz="2050" b="1" dirty="0">
                <a:solidFill>
                  <a:srgbClr val="1F2328">
                    <a:alpha val="0"/>
                  </a:srgbClr>
                </a:solidFill>
                <a:latin typeface="Calibri"/>
                <a:ea typeface="맑은 고딕"/>
                <a:cs typeface="Calibri"/>
              </a:rPr>
              <a:t>symbolizing</a:t>
            </a:r>
            <a:r>
              <a:rPr lang="en-US" altLang="ko-KR" sz="2050" b="1" dirty="0">
                <a:solidFill>
                  <a:srgbClr val="1F2328">
                    <a:alpha val="0"/>
                  </a:srgbClr>
                </a:solidFill>
                <a:latin typeface="Calibri"/>
                <a:ea typeface="맑은 고딕"/>
                <a:cs typeface="Calibri"/>
              </a:rPr>
              <a:t> / </a:t>
            </a:r>
            <a:r>
              <a:rPr lang="en-US" altLang="ko-KR" sz="2050" b="1" dirty="0">
                <a:solidFill>
                  <a:srgbClr val="C00000"/>
                </a:solidFill>
                <a:highlight>
                  <a:srgbClr val="F3F5F9"/>
                </a:highlight>
                <a:latin typeface="Calibri"/>
                <a:ea typeface="맑은 고딕"/>
                <a:cs typeface="Calibri"/>
              </a:rPr>
              <a:t>to symbolize</a:t>
            </a:r>
            <a:r>
              <a:rPr lang="en-US" altLang="ko-KR" sz="2050" b="1"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 loyalty to the king.</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⑥</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In the case of lotus flowers, they grow in muddy ponds but still bloom beautifully.</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⑦</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They thus became a symbol of a person’s will to fight for justice </a:t>
            </a:r>
            <a:r>
              <a:rPr lang="en-US" altLang="ko-KR" sz="2050" b="1" dirty="0">
                <a:solidFill>
                  <a:srgbClr val="1F2328">
                    <a:alpha val="0"/>
                  </a:srgbClr>
                </a:solidFill>
                <a:latin typeface="Calibri"/>
                <a:ea typeface="맑은 고딕"/>
                <a:cs typeface="Calibri"/>
              </a:rPr>
              <a:t>[ </a:t>
            </a:r>
            <a:r>
              <a:rPr lang="en-US" altLang="ko-KR" sz="2050" b="1" dirty="0">
                <a:solidFill>
                  <a:srgbClr val="1F2328">
                    <a:alpha val="0"/>
                  </a:srgbClr>
                </a:solidFill>
                <a:latin typeface="Calibri"/>
                <a:ea typeface="맑은 고딕"/>
                <a:cs typeface="Calibri"/>
              </a:rPr>
              <a:t>despite</a:t>
            </a:r>
            <a:r>
              <a:rPr lang="en-US" altLang="ko-KR" sz="2050" b="1" dirty="0">
                <a:solidFill>
                  <a:srgbClr val="1F2328">
                    <a:alpha val="0"/>
                  </a:srgbClr>
                </a:solidFill>
                <a:latin typeface="Calibri"/>
                <a:ea typeface="맑은 고딕"/>
                <a:cs typeface="Calibri"/>
              </a:rPr>
              <a:t> / </a:t>
            </a:r>
            <a:r>
              <a:rPr lang="en-US" altLang="ko-KR" sz="2050" b="1" dirty="0">
                <a:solidFill>
                  <a:srgbClr val="1F2328">
                    <a:alpha val="0"/>
                  </a:srgbClr>
                </a:solidFill>
                <a:latin typeface="Calibri"/>
                <a:ea typeface="맑은 고딕"/>
                <a:cs typeface="Calibri"/>
              </a:rPr>
              <a:t>although</a:t>
            </a:r>
            <a:r>
              <a:rPr lang="en-US" altLang="ko-KR" sz="2050" b="1"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 difficulties.</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⑧</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Munjado was much more than a painting to people of the Joseon dynasty.</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⑨</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It reminded them of important values </a:t>
            </a:r>
            <a:r>
              <a:rPr lang="en-US" altLang="ko-KR" sz="2050" b="1" dirty="0">
                <a:solidFill>
                  <a:srgbClr val="1F2328">
                    <a:alpha val="0"/>
                  </a:srgbClr>
                </a:solidFill>
                <a:latin typeface="Calibri"/>
                <a:ea typeface="맑은 고딕"/>
                <a:cs typeface="Calibri"/>
              </a:rPr>
              <a:t>[ </a:t>
            </a:r>
            <a:r>
              <a:rPr lang="en-US" altLang="ko-KR" sz="2050" b="1" dirty="0">
                <a:solidFill>
                  <a:srgbClr val="1F2328">
                    <a:alpha val="0"/>
                  </a:srgbClr>
                </a:solidFill>
                <a:latin typeface="Calibri"/>
                <a:ea typeface="맑은 고딕"/>
                <a:cs typeface="Calibri"/>
              </a:rPr>
              <a:t>that</a:t>
            </a:r>
            <a:r>
              <a:rPr lang="en-US" altLang="ko-KR" sz="2050" b="1" dirty="0">
                <a:solidFill>
                  <a:srgbClr val="1F2328">
                    <a:alpha val="0"/>
                  </a:srgbClr>
                </a:solidFill>
                <a:latin typeface="Calibri"/>
                <a:ea typeface="맑은 고딕"/>
                <a:cs typeface="Calibri"/>
              </a:rPr>
              <a:t> / </a:t>
            </a:r>
            <a:r>
              <a:rPr lang="en-US" altLang="ko-KR" sz="2050" b="1" dirty="0">
                <a:solidFill>
                  <a:srgbClr val="1F2328">
                    <a:alpha val="0"/>
                  </a:srgbClr>
                </a:solidFill>
                <a:latin typeface="Calibri"/>
                <a:ea typeface="맑은 고딕"/>
                <a:cs typeface="Calibri"/>
              </a:rPr>
              <a:t>what</a:t>
            </a:r>
            <a:r>
              <a:rPr lang="en-US" altLang="ko-KR" sz="2050" b="1"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 greatly influenced their behaviors and attitudes.</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⑩</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In particular, for children, Munjado was a study tool.</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⑪</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Through it, children in the Joseon dynasty could learn the importance of harmony in family and society.</a:t>
            </a:r>
            <a:endParaRPr lang="en-US" altLang="ko-KR" sz="2050" b="0" dirty="0">
              <a:solidFill>
                <a:srgbClr val="1F2328"/>
              </a:solidFill>
              <a:latin typeface="Calibri"/>
              <a:ea typeface="맑은 고딕"/>
              <a:cs typeface="Calibri"/>
            </a:endParaRPr>
          </a:p>
        </p:txBody>
      </p:sp>
      <p:sp>
        <p:nvSpPr>
          <p:cNvPr id="12" name="rv_g04"/>
          <p:cNvSpPr txBox="1"/>
          <p:nvPr/>
        </p:nvSpPr>
        <p:spPr>
          <a:xfrm>
            <a:off x="457200" y="950976"/>
            <a:ext cx="11277295" cy="5370576"/>
          </a:xfrm>
          <a:prstGeom prst="rect">
            <a:avLst/>
          </a:prstGeom>
          <a:noFill/>
        </p:spPr>
        <p:txBody>
          <a:bodyPr wrap="square" lIns="228600" tIns="155448" rIns="228600" bIns="155448" anchor="t" rtlCol="0">
            <a:noAutofit/>
          </a:bodyPr>
          <a:lstStyle/>
          <a:p>
            <a:pPr algn="l">
              <a:lnSpc>
                <a:spcPts val="3320"/>
              </a:lnSpc>
              <a:spcBef>
                <a:spcPts val="0"/>
              </a:spcBef>
              <a:spcAft>
                <a:spcPts val="0"/>
              </a:spcAft>
              <a:buNone/>
            </a:pPr>
            <a:r>
              <a:rPr lang="ko-KR" altLang="en-US" sz="2050" b="1" dirty="0">
                <a:solidFill>
                  <a:srgbClr val="1E2A5A">
                    <a:alpha val="0"/>
                  </a:srgbClr>
                </a:solidFill>
                <a:latin typeface="맑은 고딕"/>
                <a:ea typeface="맑은 고딕"/>
                <a:cs typeface="맑은 고딕"/>
              </a:rPr>
              <a:t>①</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There </a:t>
            </a:r>
            <a:r>
              <a:rPr lang="en-US" altLang="ko-KR" sz="2050" b="1" dirty="0">
                <a:solidFill>
                  <a:srgbClr val="1F2328">
                    <a:alpha val="0"/>
                  </a:srgbClr>
                </a:solidFill>
                <a:latin typeface="Calibri"/>
                <a:ea typeface="맑은 고딕"/>
                <a:cs typeface="Calibri"/>
              </a:rPr>
              <a:t>[ </a:t>
            </a:r>
            <a:r>
              <a:rPr lang="en-US" altLang="ko-KR" sz="2050" b="1" dirty="0">
                <a:solidFill>
                  <a:srgbClr val="1F2328">
                    <a:alpha val="0"/>
                  </a:srgbClr>
                </a:solidFill>
                <a:latin typeface="Calibri"/>
                <a:ea typeface="맑은 고딕"/>
                <a:cs typeface="Calibri"/>
              </a:rPr>
              <a:t>are</a:t>
            </a:r>
            <a:r>
              <a:rPr lang="en-US" altLang="ko-KR" sz="2050" b="1" dirty="0">
                <a:solidFill>
                  <a:srgbClr val="1F2328">
                    <a:alpha val="0"/>
                  </a:srgbClr>
                </a:solidFill>
                <a:latin typeface="Calibri"/>
                <a:ea typeface="맑은 고딕"/>
                <a:cs typeface="Calibri"/>
              </a:rPr>
              <a:t> / </a:t>
            </a:r>
            <a:r>
              <a:rPr lang="en-US" altLang="ko-KR" sz="2050" b="1" dirty="0">
                <a:solidFill>
                  <a:srgbClr val="1F2328">
                    <a:alpha val="0"/>
                  </a:srgbClr>
                </a:solidFill>
                <a:latin typeface="Calibri"/>
                <a:ea typeface="맑은 고딕"/>
                <a:cs typeface="Calibri"/>
              </a:rPr>
              <a:t>is</a:t>
            </a:r>
            <a:r>
              <a:rPr lang="en-US" altLang="ko-KR" sz="2050" b="1"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 other examples of symbolic objects in Munjado.</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②</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They are bamboo in the paintings of the character chung (忠) and lotus flowers in the paintings of ui (義).</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③</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Bamboo does not bend.</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④</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It stays </a:t>
            </a:r>
            <a:r>
              <a:rPr lang="en-US" altLang="ko-KR" sz="2050" b="1" dirty="0">
                <a:solidFill>
                  <a:srgbClr val="1F2328">
                    <a:alpha val="0"/>
                  </a:srgbClr>
                </a:solidFill>
                <a:latin typeface="Calibri"/>
                <a:ea typeface="맑은 고딕"/>
                <a:cs typeface="Calibri"/>
              </a:rPr>
              <a:t>[ </a:t>
            </a:r>
            <a:r>
              <a:rPr lang="en-US" altLang="ko-KR" sz="2050" b="1" dirty="0">
                <a:solidFill>
                  <a:srgbClr val="1F2328">
                    <a:alpha val="0"/>
                  </a:srgbClr>
                </a:solidFill>
                <a:latin typeface="Calibri"/>
                <a:ea typeface="맑은 고딕"/>
                <a:cs typeface="Calibri"/>
              </a:rPr>
              <a:t>greenly</a:t>
            </a:r>
            <a:r>
              <a:rPr lang="en-US" altLang="ko-KR" sz="2050" b="1" dirty="0">
                <a:solidFill>
                  <a:srgbClr val="1F2328">
                    <a:alpha val="0"/>
                  </a:srgbClr>
                </a:solidFill>
                <a:latin typeface="Calibri"/>
                <a:ea typeface="맑은 고딕"/>
                <a:cs typeface="Calibri"/>
              </a:rPr>
              <a:t> / </a:t>
            </a:r>
            <a:r>
              <a:rPr lang="en-US" altLang="ko-KR" sz="2050" b="1" dirty="0">
                <a:solidFill>
                  <a:srgbClr val="1F2328">
                    <a:alpha val="0"/>
                  </a:srgbClr>
                </a:solidFill>
                <a:latin typeface="Calibri"/>
                <a:ea typeface="맑은 고딕"/>
                <a:cs typeface="Calibri"/>
              </a:rPr>
              <a:t>green</a:t>
            </a:r>
            <a:r>
              <a:rPr lang="en-US" altLang="ko-KR" sz="2050" b="1"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 in all kinds of weather.</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⑤</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For these reasons, bamboo came </a:t>
            </a:r>
            <a:r>
              <a:rPr lang="en-US" altLang="ko-KR" sz="2050" b="1" dirty="0">
                <a:solidFill>
                  <a:srgbClr val="1F2328">
                    <a:alpha val="0"/>
                  </a:srgbClr>
                </a:solidFill>
                <a:latin typeface="Calibri"/>
                <a:ea typeface="맑은 고딕"/>
                <a:cs typeface="Calibri"/>
              </a:rPr>
              <a:t>[ </a:t>
            </a:r>
            <a:r>
              <a:rPr lang="en-US" altLang="ko-KR" sz="2050" b="1" dirty="0">
                <a:solidFill>
                  <a:srgbClr val="1F2328">
                    <a:alpha val="0"/>
                  </a:srgbClr>
                </a:solidFill>
                <a:latin typeface="Calibri"/>
                <a:ea typeface="맑은 고딕"/>
                <a:cs typeface="Calibri"/>
              </a:rPr>
              <a:t>symbolizing</a:t>
            </a:r>
            <a:r>
              <a:rPr lang="en-US" altLang="ko-KR" sz="2050" b="1" dirty="0">
                <a:solidFill>
                  <a:srgbClr val="1F2328">
                    <a:alpha val="0"/>
                  </a:srgbClr>
                </a:solidFill>
                <a:latin typeface="Calibri"/>
                <a:ea typeface="맑은 고딕"/>
                <a:cs typeface="Calibri"/>
              </a:rPr>
              <a:t> / </a:t>
            </a:r>
            <a:r>
              <a:rPr lang="en-US" altLang="ko-KR" sz="2050" b="1" dirty="0">
                <a:solidFill>
                  <a:srgbClr val="1F2328">
                    <a:alpha val="0"/>
                  </a:srgbClr>
                </a:solidFill>
                <a:latin typeface="Calibri"/>
                <a:ea typeface="맑은 고딕"/>
                <a:cs typeface="Calibri"/>
              </a:rPr>
              <a:t>to symbolize</a:t>
            </a:r>
            <a:r>
              <a:rPr lang="en-US" altLang="ko-KR" sz="2050" b="1"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 loyalty to the king.</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⑥</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In the case of lotus flowers, they grow in muddy ponds but still bloom beautifully.</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⑦</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They thus became a symbol of a person’s will to fight for justice </a:t>
            </a:r>
            <a:r>
              <a:rPr lang="en-US" altLang="ko-KR" sz="2050" b="1" dirty="0">
                <a:solidFill>
                  <a:srgbClr val="1F2328">
                    <a:alpha val="0"/>
                  </a:srgbClr>
                </a:solidFill>
                <a:latin typeface="Calibri"/>
                <a:ea typeface="맑은 고딕"/>
                <a:cs typeface="Calibri"/>
              </a:rPr>
              <a:t>[ </a:t>
            </a:r>
            <a:r>
              <a:rPr lang="en-US" altLang="ko-KR" sz="2050" b="1" dirty="0">
                <a:solidFill>
                  <a:srgbClr val="C00000"/>
                </a:solidFill>
                <a:highlight>
                  <a:srgbClr val="F3F5F9"/>
                </a:highlight>
                <a:latin typeface="Calibri"/>
                <a:ea typeface="맑은 고딕"/>
                <a:cs typeface="Calibri"/>
              </a:rPr>
              <a:t>despite</a:t>
            </a:r>
            <a:r>
              <a:rPr lang="en-US" altLang="ko-KR" sz="2050" b="1" dirty="0">
                <a:solidFill>
                  <a:srgbClr val="1F2328">
                    <a:alpha val="0"/>
                  </a:srgbClr>
                </a:solidFill>
                <a:latin typeface="Calibri"/>
                <a:ea typeface="맑은 고딕"/>
                <a:cs typeface="Calibri"/>
              </a:rPr>
              <a:t> / </a:t>
            </a:r>
            <a:r>
              <a:rPr lang="en-US" altLang="ko-KR" sz="2050" b="1" dirty="0">
                <a:solidFill>
                  <a:srgbClr val="1F2328">
                    <a:alpha val="0"/>
                  </a:srgbClr>
                </a:solidFill>
                <a:latin typeface="Calibri"/>
                <a:ea typeface="맑은 고딕"/>
                <a:cs typeface="Calibri"/>
              </a:rPr>
              <a:t>although</a:t>
            </a:r>
            <a:r>
              <a:rPr lang="en-US" altLang="ko-KR" sz="2050" b="1"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 difficulties.</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⑧</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Munjado was much more than a painting to people of the Joseon dynasty.</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⑨</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It reminded them of important values </a:t>
            </a:r>
            <a:r>
              <a:rPr lang="en-US" altLang="ko-KR" sz="2050" b="1" dirty="0">
                <a:solidFill>
                  <a:srgbClr val="1F2328">
                    <a:alpha val="0"/>
                  </a:srgbClr>
                </a:solidFill>
                <a:latin typeface="Calibri"/>
                <a:ea typeface="맑은 고딕"/>
                <a:cs typeface="Calibri"/>
              </a:rPr>
              <a:t>[ </a:t>
            </a:r>
            <a:r>
              <a:rPr lang="en-US" altLang="ko-KR" sz="2050" b="1" dirty="0">
                <a:solidFill>
                  <a:srgbClr val="1F2328">
                    <a:alpha val="0"/>
                  </a:srgbClr>
                </a:solidFill>
                <a:latin typeface="Calibri"/>
                <a:ea typeface="맑은 고딕"/>
                <a:cs typeface="Calibri"/>
              </a:rPr>
              <a:t>that</a:t>
            </a:r>
            <a:r>
              <a:rPr lang="en-US" altLang="ko-KR" sz="2050" b="1" dirty="0">
                <a:solidFill>
                  <a:srgbClr val="1F2328">
                    <a:alpha val="0"/>
                  </a:srgbClr>
                </a:solidFill>
                <a:latin typeface="Calibri"/>
                <a:ea typeface="맑은 고딕"/>
                <a:cs typeface="Calibri"/>
              </a:rPr>
              <a:t> / </a:t>
            </a:r>
            <a:r>
              <a:rPr lang="en-US" altLang="ko-KR" sz="2050" b="1" dirty="0">
                <a:solidFill>
                  <a:srgbClr val="1F2328">
                    <a:alpha val="0"/>
                  </a:srgbClr>
                </a:solidFill>
                <a:latin typeface="Calibri"/>
                <a:ea typeface="맑은 고딕"/>
                <a:cs typeface="Calibri"/>
              </a:rPr>
              <a:t>what</a:t>
            </a:r>
            <a:r>
              <a:rPr lang="en-US" altLang="ko-KR" sz="2050" b="1"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 greatly influenced their behaviors and attitudes.</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⑩</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In particular, for children, Munjado was a study tool.</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⑪</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Through it, children in the Joseon dynasty could learn the importance of harmony in family and society.</a:t>
            </a:r>
            <a:endParaRPr lang="en-US" altLang="ko-KR" sz="2050" b="0" dirty="0">
              <a:solidFill>
                <a:srgbClr val="1F2328"/>
              </a:solidFill>
              <a:latin typeface="Calibri"/>
              <a:ea typeface="맑은 고딕"/>
              <a:cs typeface="Calibri"/>
            </a:endParaRPr>
          </a:p>
        </p:txBody>
      </p:sp>
      <p:sp>
        <p:nvSpPr>
          <p:cNvPr id="13" name="rv_g05"/>
          <p:cNvSpPr txBox="1"/>
          <p:nvPr/>
        </p:nvSpPr>
        <p:spPr>
          <a:xfrm>
            <a:off x="457200" y="950976"/>
            <a:ext cx="11277295" cy="5370576"/>
          </a:xfrm>
          <a:prstGeom prst="rect">
            <a:avLst/>
          </a:prstGeom>
          <a:noFill/>
        </p:spPr>
        <p:txBody>
          <a:bodyPr wrap="square" lIns="228600" tIns="155448" rIns="228600" bIns="155448" anchor="t" rtlCol="0">
            <a:noAutofit/>
          </a:bodyPr>
          <a:lstStyle/>
          <a:p>
            <a:pPr algn="l">
              <a:lnSpc>
                <a:spcPts val="3320"/>
              </a:lnSpc>
              <a:spcBef>
                <a:spcPts val="0"/>
              </a:spcBef>
              <a:spcAft>
                <a:spcPts val="0"/>
              </a:spcAft>
              <a:buNone/>
            </a:pPr>
            <a:r>
              <a:rPr lang="ko-KR" altLang="en-US" sz="2050" b="1" dirty="0">
                <a:solidFill>
                  <a:srgbClr val="1E2A5A">
                    <a:alpha val="0"/>
                  </a:srgbClr>
                </a:solidFill>
                <a:latin typeface="맑은 고딕"/>
                <a:ea typeface="맑은 고딕"/>
                <a:cs typeface="맑은 고딕"/>
              </a:rPr>
              <a:t>①</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There </a:t>
            </a:r>
            <a:r>
              <a:rPr lang="en-US" altLang="ko-KR" sz="2050" b="1" dirty="0">
                <a:solidFill>
                  <a:srgbClr val="1F2328">
                    <a:alpha val="0"/>
                  </a:srgbClr>
                </a:solidFill>
                <a:latin typeface="Calibri"/>
                <a:ea typeface="맑은 고딕"/>
                <a:cs typeface="Calibri"/>
              </a:rPr>
              <a:t>[ </a:t>
            </a:r>
            <a:r>
              <a:rPr lang="en-US" altLang="ko-KR" sz="2050" b="1" dirty="0">
                <a:solidFill>
                  <a:srgbClr val="1F2328">
                    <a:alpha val="0"/>
                  </a:srgbClr>
                </a:solidFill>
                <a:latin typeface="Calibri"/>
                <a:ea typeface="맑은 고딕"/>
                <a:cs typeface="Calibri"/>
              </a:rPr>
              <a:t>are</a:t>
            </a:r>
            <a:r>
              <a:rPr lang="en-US" altLang="ko-KR" sz="2050" b="1" dirty="0">
                <a:solidFill>
                  <a:srgbClr val="1F2328">
                    <a:alpha val="0"/>
                  </a:srgbClr>
                </a:solidFill>
                <a:latin typeface="Calibri"/>
                <a:ea typeface="맑은 고딕"/>
                <a:cs typeface="Calibri"/>
              </a:rPr>
              <a:t> / </a:t>
            </a:r>
            <a:r>
              <a:rPr lang="en-US" altLang="ko-KR" sz="2050" b="1" dirty="0">
                <a:solidFill>
                  <a:srgbClr val="1F2328">
                    <a:alpha val="0"/>
                  </a:srgbClr>
                </a:solidFill>
                <a:latin typeface="Calibri"/>
                <a:ea typeface="맑은 고딕"/>
                <a:cs typeface="Calibri"/>
              </a:rPr>
              <a:t>is</a:t>
            </a:r>
            <a:r>
              <a:rPr lang="en-US" altLang="ko-KR" sz="2050" b="1"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 other examples of symbolic objects in Munjado.</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②</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They are bamboo in the paintings of the character chung (忠) and lotus flowers in the paintings of ui (義).</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③</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Bamboo does not bend.</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④</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It stays </a:t>
            </a:r>
            <a:r>
              <a:rPr lang="en-US" altLang="ko-KR" sz="2050" b="1" dirty="0">
                <a:solidFill>
                  <a:srgbClr val="1F2328">
                    <a:alpha val="0"/>
                  </a:srgbClr>
                </a:solidFill>
                <a:latin typeface="Calibri"/>
                <a:ea typeface="맑은 고딕"/>
                <a:cs typeface="Calibri"/>
              </a:rPr>
              <a:t>[ </a:t>
            </a:r>
            <a:r>
              <a:rPr lang="en-US" altLang="ko-KR" sz="2050" b="1" dirty="0">
                <a:solidFill>
                  <a:srgbClr val="1F2328">
                    <a:alpha val="0"/>
                  </a:srgbClr>
                </a:solidFill>
                <a:latin typeface="Calibri"/>
                <a:ea typeface="맑은 고딕"/>
                <a:cs typeface="Calibri"/>
              </a:rPr>
              <a:t>greenly</a:t>
            </a:r>
            <a:r>
              <a:rPr lang="en-US" altLang="ko-KR" sz="2050" b="1" dirty="0">
                <a:solidFill>
                  <a:srgbClr val="1F2328">
                    <a:alpha val="0"/>
                  </a:srgbClr>
                </a:solidFill>
                <a:latin typeface="Calibri"/>
                <a:ea typeface="맑은 고딕"/>
                <a:cs typeface="Calibri"/>
              </a:rPr>
              <a:t> / </a:t>
            </a:r>
            <a:r>
              <a:rPr lang="en-US" altLang="ko-KR" sz="2050" b="1" dirty="0">
                <a:solidFill>
                  <a:srgbClr val="1F2328">
                    <a:alpha val="0"/>
                  </a:srgbClr>
                </a:solidFill>
                <a:latin typeface="Calibri"/>
                <a:ea typeface="맑은 고딕"/>
                <a:cs typeface="Calibri"/>
              </a:rPr>
              <a:t>green</a:t>
            </a:r>
            <a:r>
              <a:rPr lang="en-US" altLang="ko-KR" sz="2050" b="1"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 in all kinds of weather.</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⑤</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For these reasons, bamboo came </a:t>
            </a:r>
            <a:r>
              <a:rPr lang="en-US" altLang="ko-KR" sz="2050" b="1" dirty="0">
                <a:solidFill>
                  <a:srgbClr val="1F2328">
                    <a:alpha val="0"/>
                  </a:srgbClr>
                </a:solidFill>
                <a:latin typeface="Calibri"/>
                <a:ea typeface="맑은 고딕"/>
                <a:cs typeface="Calibri"/>
              </a:rPr>
              <a:t>[ </a:t>
            </a:r>
            <a:r>
              <a:rPr lang="en-US" altLang="ko-KR" sz="2050" b="1" dirty="0">
                <a:solidFill>
                  <a:srgbClr val="1F2328">
                    <a:alpha val="0"/>
                  </a:srgbClr>
                </a:solidFill>
                <a:latin typeface="Calibri"/>
                <a:ea typeface="맑은 고딕"/>
                <a:cs typeface="Calibri"/>
              </a:rPr>
              <a:t>symbolizing</a:t>
            </a:r>
            <a:r>
              <a:rPr lang="en-US" altLang="ko-KR" sz="2050" b="1" dirty="0">
                <a:solidFill>
                  <a:srgbClr val="1F2328">
                    <a:alpha val="0"/>
                  </a:srgbClr>
                </a:solidFill>
                <a:latin typeface="Calibri"/>
                <a:ea typeface="맑은 고딕"/>
                <a:cs typeface="Calibri"/>
              </a:rPr>
              <a:t> / </a:t>
            </a:r>
            <a:r>
              <a:rPr lang="en-US" altLang="ko-KR" sz="2050" b="1" dirty="0">
                <a:solidFill>
                  <a:srgbClr val="1F2328">
                    <a:alpha val="0"/>
                  </a:srgbClr>
                </a:solidFill>
                <a:latin typeface="Calibri"/>
                <a:ea typeface="맑은 고딕"/>
                <a:cs typeface="Calibri"/>
              </a:rPr>
              <a:t>to symbolize</a:t>
            </a:r>
            <a:r>
              <a:rPr lang="en-US" altLang="ko-KR" sz="2050" b="1"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 loyalty to the king.</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⑥</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In the case of lotus flowers, they grow in muddy ponds but still bloom beautifully.</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⑦</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They thus became a symbol of a person’s will to fight for justice </a:t>
            </a:r>
            <a:r>
              <a:rPr lang="en-US" altLang="ko-KR" sz="2050" b="1" dirty="0">
                <a:solidFill>
                  <a:srgbClr val="1F2328">
                    <a:alpha val="0"/>
                  </a:srgbClr>
                </a:solidFill>
                <a:latin typeface="Calibri"/>
                <a:ea typeface="맑은 고딕"/>
                <a:cs typeface="Calibri"/>
              </a:rPr>
              <a:t>[ </a:t>
            </a:r>
            <a:r>
              <a:rPr lang="en-US" altLang="ko-KR" sz="2050" b="1" dirty="0">
                <a:solidFill>
                  <a:srgbClr val="1F2328">
                    <a:alpha val="0"/>
                  </a:srgbClr>
                </a:solidFill>
                <a:latin typeface="Calibri"/>
                <a:ea typeface="맑은 고딕"/>
                <a:cs typeface="Calibri"/>
              </a:rPr>
              <a:t>despite</a:t>
            </a:r>
            <a:r>
              <a:rPr lang="en-US" altLang="ko-KR" sz="2050" b="1" dirty="0">
                <a:solidFill>
                  <a:srgbClr val="1F2328">
                    <a:alpha val="0"/>
                  </a:srgbClr>
                </a:solidFill>
                <a:latin typeface="Calibri"/>
                <a:ea typeface="맑은 고딕"/>
                <a:cs typeface="Calibri"/>
              </a:rPr>
              <a:t> / </a:t>
            </a:r>
            <a:r>
              <a:rPr lang="en-US" altLang="ko-KR" sz="2050" b="1" dirty="0">
                <a:solidFill>
                  <a:srgbClr val="1F2328">
                    <a:alpha val="0"/>
                  </a:srgbClr>
                </a:solidFill>
                <a:latin typeface="Calibri"/>
                <a:ea typeface="맑은 고딕"/>
                <a:cs typeface="Calibri"/>
              </a:rPr>
              <a:t>although</a:t>
            </a:r>
            <a:r>
              <a:rPr lang="en-US" altLang="ko-KR" sz="2050" b="1"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 difficulties.</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⑧</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Munjado was much more than a painting to people of the Joseon dynasty.</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⑨</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It reminded them of important values </a:t>
            </a:r>
            <a:r>
              <a:rPr lang="en-US" altLang="ko-KR" sz="2050" b="1" dirty="0">
                <a:solidFill>
                  <a:srgbClr val="1F2328">
                    <a:alpha val="0"/>
                  </a:srgbClr>
                </a:solidFill>
                <a:latin typeface="Calibri"/>
                <a:ea typeface="맑은 고딕"/>
                <a:cs typeface="Calibri"/>
              </a:rPr>
              <a:t>[ </a:t>
            </a:r>
            <a:r>
              <a:rPr lang="en-US" altLang="ko-KR" sz="2050" b="1" dirty="0">
                <a:solidFill>
                  <a:srgbClr val="C00000"/>
                </a:solidFill>
                <a:highlight>
                  <a:srgbClr val="F3F5F9"/>
                </a:highlight>
                <a:latin typeface="Calibri"/>
                <a:ea typeface="맑은 고딕"/>
                <a:cs typeface="Calibri"/>
              </a:rPr>
              <a:t>that</a:t>
            </a:r>
            <a:r>
              <a:rPr lang="en-US" altLang="ko-KR" sz="2050" b="1" dirty="0">
                <a:solidFill>
                  <a:srgbClr val="1F2328">
                    <a:alpha val="0"/>
                  </a:srgbClr>
                </a:solidFill>
                <a:latin typeface="Calibri"/>
                <a:ea typeface="맑은 고딕"/>
                <a:cs typeface="Calibri"/>
              </a:rPr>
              <a:t> / </a:t>
            </a:r>
            <a:r>
              <a:rPr lang="en-US" altLang="ko-KR" sz="2050" b="1" dirty="0">
                <a:solidFill>
                  <a:srgbClr val="1F2328">
                    <a:alpha val="0"/>
                  </a:srgbClr>
                </a:solidFill>
                <a:latin typeface="Calibri"/>
                <a:ea typeface="맑은 고딕"/>
                <a:cs typeface="Calibri"/>
              </a:rPr>
              <a:t>what</a:t>
            </a:r>
            <a:r>
              <a:rPr lang="en-US" altLang="ko-KR" sz="2050" b="1"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 greatly influenced their behaviors and attitudes.</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⑩</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In particular, for children, Munjado was a study tool.</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⑪</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Through it, children in the Joseon dynasty could learn the importance of harmony in family and society.</a:t>
            </a:r>
            <a:endParaRPr lang="en-US" altLang="ko-KR" sz="2050" b="0" dirty="0">
              <a:solidFill>
                <a:srgbClr val="1F2328"/>
              </a:solidFill>
              <a:latin typeface="Calibri"/>
              <a:ea typeface="맑은 고딕"/>
              <a:cs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25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25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25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250"/>
                                        <p:tgtEl>
                                          <p:spTgt spid="12"/>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2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Lst>
  </p:timing>
</p:sld>
</file>

<file path=ppt/slides/slide27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L8-3</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3 · ②</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다음 글의 각 [  ] 안에서 문맥상 알맞은 것을 고르시오.</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8</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클릭할 때마다 괄호 속 정답이 앞에서부터 하나씩 빨간색으로 나타납니다 (총 4개)</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5370576"/>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5370576"/>
          </a:xfrm>
          <a:prstGeom prst="rect">
            <a:avLst/>
          </a:prstGeom>
          <a:noFill/>
        </p:spPr>
        <p:txBody>
          <a:bodyPr wrap="square" lIns="228600" tIns="155448" rIns="228600" bIns="155448" anchor="t" rtlCol="0">
            <a:noAutofit/>
          </a:bodyPr>
          <a:lstStyle/>
          <a:p>
            <a:pPr algn="l">
              <a:lnSpc>
                <a:spcPts val="3320"/>
              </a:lnSpc>
              <a:spcBef>
                <a:spcPts val="0"/>
              </a:spcBef>
              <a:spcAft>
                <a:spcPts val="0"/>
              </a:spcAft>
              <a:buNone/>
            </a:pPr>
            <a:r>
              <a:rPr lang="ko-KR" altLang="en-US" sz="2050" b="1" dirty="0">
                <a:solidFill>
                  <a:srgbClr val="1E2A5A"/>
                </a:solidFill>
                <a:latin typeface="맑은 고딕"/>
                <a:ea typeface="맑은 고딕"/>
                <a:cs typeface="맑은 고딕"/>
              </a:rPr>
              <a:t>①</a:t>
            </a:r>
            <a:r>
              <a:rPr lang="en-US" altLang="ko-KR" sz="2050" b="0" dirty="0">
                <a:solidFill>
                  <a:srgbClr val="1F2328"/>
                </a:solidFill>
                <a:latin typeface="Calibri"/>
                <a:ea typeface="맑은 고딕"/>
                <a:cs typeface="Calibri"/>
              </a:rPr>
              <a:t> </a:t>
            </a:r>
            <a:r>
              <a:rPr lang="en-US" altLang="ko-KR" sz="2050" b="0" dirty="0">
                <a:solidFill>
                  <a:srgbClr val="1F2328"/>
                </a:solidFill>
                <a:latin typeface="Calibri"/>
                <a:ea typeface="맑은 고딕"/>
                <a:cs typeface="Calibri"/>
              </a:rPr>
              <a:t>There are other examples of symbolic objects in Munjado.</a:t>
            </a:r>
            <a:r>
              <a:rPr lang="en-US" altLang="ko-KR" sz="2050" b="0" dirty="0">
                <a:solidFill>
                  <a:srgbClr val="1F2328"/>
                </a:solidFill>
                <a:latin typeface="Calibri"/>
                <a:ea typeface="맑은 고딕"/>
                <a:cs typeface="Calibri"/>
              </a:rPr>
              <a:t>   </a:t>
            </a:r>
            <a:r>
              <a:rPr lang="ko-KR" altLang="en-US" sz="2050" b="1" dirty="0">
                <a:solidFill>
                  <a:srgbClr val="1E2A5A"/>
                </a:solidFill>
                <a:latin typeface="맑은 고딕"/>
                <a:ea typeface="맑은 고딕"/>
                <a:cs typeface="맑은 고딕"/>
              </a:rPr>
              <a:t>②</a:t>
            </a:r>
            <a:r>
              <a:rPr lang="en-US" altLang="ko-KR" sz="2050" b="0" dirty="0">
                <a:solidFill>
                  <a:srgbClr val="1F2328"/>
                </a:solidFill>
                <a:latin typeface="Calibri"/>
                <a:ea typeface="맑은 고딕"/>
                <a:cs typeface="Calibri"/>
              </a:rPr>
              <a:t> </a:t>
            </a:r>
            <a:r>
              <a:rPr lang="en-US" altLang="ko-KR" sz="2050" b="0" dirty="0">
                <a:solidFill>
                  <a:srgbClr val="1F2328"/>
                </a:solidFill>
                <a:latin typeface="Calibri"/>
                <a:ea typeface="맑은 고딕"/>
                <a:cs typeface="Calibri"/>
              </a:rPr>
              <a:t>They are bamboo in the paintings of the character chung (忠) and lotus flowers in the paintings of ui (義).</a:t>
            </a:r>
            <a:r>
              <a:rPr lang="en-US" altLang="ko-KR" sz="2050" b="0" dirty="0">
                <a:solidFill>
                  <a:srgbClr val="1F2328"/>
                </a:solidFill>
                <a:latin typeface="Calibri"/>
                <a:ea typeface="맑은 고딕"/>
                <a:cs typeface="Calibri"/>
              </a:rPr>
              <a:t>   </a:t>
            </a:r>
            <a:r>
              <a:rPr lang="ko-KR" altLang="en-US" sz="2050" b="1" dirty="0">
                <a:solidFill>
                  <a:srgbClr val="1E2A5A"/>
                </a:solidFill>
                <a:latin typeface="맑은 고딕"/>
                <a:ea typeface="맑은 고딕"/>
                <a:cs typeface="맑은 고딕"/>
              </a:rPr>
              <a:t>③</a:t>
            </a:r>
            <a:r>
              <a:rPr lang="en-US" altLang="ko-KR" sz="2050" b="0" dirty="0">
                <a:solidFill>
                  <a:srgbClr val="1F2328"/>
                </a:solidFill>
                <a:latin typeface="Calibri"/>
                <a:ea typeface="맑은 고딕"/>
                <a:cs typeface="Calibri"/>
              </a:rPr>
              <a:t> </a:t>
            </a:r>
            <a:r>
              <a:rPr lang="en-US" altLang="ko-KR" sz="2050" b="0" dirty="0">
                <a:solidFill>
                  <a:srgbClr val="1F2328"/>
                </a:solidFill>
                <a:latin typeface="Calibri"/>
                <a:ea typeface="맑은 고딕"/>
                <a:cs typeface="Calibri"/>
              </a:rPr>
              <a:t>Bamboo does not bend.</a:t>
            </a:r>
            <a:r>
              <a:rPr lang="en-US" altLang="ko-KR" sz="2050" b="0" dirty="0">
                <a:solidFill>
                  <a:srgbClr val="1F2328"/>
                </a:solidFill>
                <a:latin typeface="Calibri"/>
                <a:ea typeface="맑은 고딕"/>
                <a:cs typeface="Calibri"/>
              </a:rPr>
              <a:t>   </a:t>
            </a:r>
            <a:r>
              <a:rPr lang="ko-KR" altLang="en-US" sz="2050" b="1" dirty="0">
                <a:solidFill>
                  <a:srgbClr val="1E2A5A"/>
                </a:solidFill>
                <a:latin typeface="맑은 고딕"/>
                <a:ea typeface="맑은 고딕"/>
                <a:cs typeface="맑은 고딕"/>
              </a:rPr>
              <a:t>④</a:t>
            </a:r>
            <a:r>
              <a:rPr lang="en-US" altLang="ko-KR" sz="2050" b="0" dirty="0">
                <a:solidFill>
                  <a:srgbClr val="1F2328"/>
                </a:solidFill>
                <a:latin typeface="Calibri"/>
                <a:ea typeface="맑은 고딕"/>
                <a:cs typeface="Calibri"/>
              </a:rPr>
              <a:t> </a:t>
            </a:r>
            <a:r>
              <a:rPr lang="en-US" altLang="ko-KR" sz="2050" b="0" dirty="0">
                <a:solidFill>
                  <a:srgbClr val="1F2328"/>
                </a:solidFill>
                <a:latin typeface="Calibri"/>
                <a:ea typeface="맑은 고딕"/>
                <a:cs typeface="Calibri"/>
              </a:rPr>
              <a:t>It stays green in all kinds of weather.</a:t>
            </a:r>
            <a:r>
              <a:rPr lang="en-US" altLang="ko-KR" sz="2050" b="0" dirty="0">
                <a:solidFill>
                  <a:srgbClr val="1F2328"/>
                </a:solidFill>
                <a:latin typeface="Calibri"/>
                <a:ea typeface="맑은 고딕"/>
                <a:cs typeface="Calibri"/>
              </a:rPr>
              <a:t>   </a:t>
            </a:r>
            <a:r>
              <a:rPr lang="ko-KR" altLang="en-US" sz="2050" b="1" dirty="0">
                <a:solidFill>
                  <a:srgbClr val="1E2A5A"/>
                </a:solidFill>
                <a:latin typeface="맑은 고딕"/>
                <a:ea typeface="맑은 고딕"/>
                <a:cs typeface="맑은 고딕"/>
              </a:rPr>
              <a:t>⑤</a:t>
            </a:r>
            <a:r>
              <a:rPr lang="en-US" altLang="ko-KR" sz="2050" b="0" dirty="0">
                <a:solidFill>
                  <a:srgbClr val="1F2328"/>
                </a:solidFill>
                <a:latin typeface="Calibri"/>
                <a:ea typeface="맑은 고딕"/>
                <a:cs typeface="Calibri"/>
              </a:rPr>
              <a:t> </a:t>
            </a:r>
            <a:r>
              <a:rPr lang="en-US" altLang="ko-KR" sz="2050" b="0" dirty="0">
                <a:solidFill>
                  <a:srgbClr val="1F2328"/>
                </a:solidFill>
                <a:latin typeface="Calibri"/>
                <a:ea typeface="맑은 고딕"/>
                <a:cs typeface="Calibri"/>
              </a:rPr>
              <a:t>For these reasons, bamboo came to symbolize loyalty to the king.</a:t>
            </a:r>
            <a:r>
              <a:rPr lang="en-US" altLang="ko-KR" sz="2050" b="0" dirty="0">
                <a:solidFill>
                  <a:srgbClr val="1F2328"/>
                </a:solidFill>
                <a:latin typeface="Calibri"/>
                <a:ea typeface="맑은 고딕"/>
                <a:cs typeface="Calibri"/>
              </a:rPr>
              <a:t>   </a:t>
            </a:r>
            <a:r>
              <a:rPr lang="ko-KR" altLang="en-US" sz="2050" b="1" dirty="0">
                <a:solidFill>
                  <a:srgbClr val="1E2A5A"/>
                </a:solidFill>
                <a:latin typeface="맑은 고딕"/>
                <a:ea typeface="맑은 고딕"/>
                <a:cs typeface="맑은 고딕"/>
              </a:rPr>
              <a:t>⑥</a:t>
            </a:r>
            <a:r>
              <a:rPr lang="en-US" altLang="ko-KR" sz="2050" b="0" dirty="0">
                <a:solidFill>
                  <a:srgbClr val="1F2328"/>
                </a:solidFill>
                <a:latin typeface="Calibri"/>
                <a:ea typeface="맑은 고딕"/>
                <a:cs typeface="Calibri"/>
              </a:rPr>
              <a:t> </a:t>
            </a:r>
            <a:r>
              <a:rPr lang="en-US" altLang="ko-KR" sz="2050" b="0" dirty="0">
                <a:solidFill>
                  <a:srgbClr val="1F2328"/>
                </a:solidFill>
                <a:latin typeface="Calibri"/>
                <a:ea typeface="맑은 고딕"/>
                <a:cs typeface="Calibri"/>
              </a:rPr>
              <a:t>In the case of lotus flowers, they grow in muddy ponds but still bloom </a:t>
            </a:r>
            <a:r>
              <a:rPr lang="en-US" altLang="ko-KR" sz="2050" b="1" dirty="0">
                <a:solidFill>
                  <a:srgbClr val="1F2328"/>
                </a:solidFill>
                <a:latin typeface="Calibri"/>
                <a:ea typeface="맑은 고딕"/>
                <a:cs typeface="Calibri"/>
              </a:rPr>
              <a:t>[ </a:t>
            </a:r>
            <a:r>
              <a:rPr lang="en-US" altLang="ko-KR" sz="2050" b="1" dirty="0">
                <a:solidFill>
                  <a:srgbClr val="1F2328"/>
                </a:solidFill>
                <a:latin typeface="Calibri"/>
                <a:ea typeface="맑은 고딕"/>
                <a:cs typeface="Calibri"/>
              </a:rPr>
              <a:t>beautifully</a:t>
            </a:r>
            <a:r>
              <a:rPr lang="en-US" altLang="ko-KR" sz="2050" b="1" dirty="0">
                <a:solidFill>
                  <a:srgbClr val="1F2328"/>
                </a:solidFill>
                <a:latin typeface="Calibri"/>
                <a:ea typeface="맑은 고딕"/>
                <a:cs typeface="Calibri"/>
              </a:rPr>
              <a:t> / </a:t>
            </a:r>
            <a:r>
              <a:rPr lang="en-US" altLang="ko-KR" sz="2050" b="1" dirty="0">
                <a:solidFill>
                  <a:srgbClr val="1F2328"/>
                </a:solidFill>
                <a:latin typeface="Calibri"/>
                <a:ea typeface="맑은 고딕"/>
                <a:cs typeface="Calibri"/>
              </a:rPr>
              <a:t>beautiful</a:t>
            </a:r>
            <a:r>
              <a:rPr lang="en-US" altLang="ko-KR" sz="2050" b="1" dirty="0">
                <a:solidFill>
                  <a:srgbClr val="1F2328"/>
                </a:solidFill>
                <a:latin typeface="Calibri"/>
                <a:ea typeface="맑은 고딕"/>
                <a:cs typeface="Calibri"/>
              </a:rPr>
              <a:t> ]</a:t>
            </a:r>
            <a:r>
              <a:rPr lang="en-US" altLang="ko-KR" sz="2050" b="0" dirty="0">
                <a:solidFill>
                  <a:srgbClr val="1F2328"/>
                </a:solidFill>
                <a:latin typeface="Calibri"/>
                <a:ea typeface="맑은 고딕"/>
                <a:cs typeface="Calibri"/>
              </a:rPr>
              <a:t>.</a:t>
            </a:r>
            <a:r>
              <a:rPr lang="en-US" altLang="ko-KR" sz="2050" b="0" dirty="0">
                <a:solidFill>
                  <a:srgbClr val="1F2328"/>
                </a:solidFill>
                <a:latin typeface="Calibri"/>
                <a:ea typeface="맑은 고딕"/>
                <a:cs typeface="Calibri"/>
              </a:rPr>
              <a:t>   </a:t>
            </a:r>
            <a:r>
              <a:rPr lang="ko-KR" altLang="en-US" sz="2050" b="1" dirty="0">
                <a:solidFill>
                  <a:srgbClr val="1E2A5A"/>
                </a:solidFill>
                <a:latin typeface="맑은 고딕"/>
                <a:ea typeface="맑은 고딕"/>
                <a:cs typeface="맑은 고딕"/>
              </a:rPr>
              <a:t>⑦</a:t>
            </a:r>
            <a:r>
              <a:rPr lang="en-US" altLang="ko-KR" sz="2050" b="0" dirty="0">
                <a:solidFill>
                  <a:srgbClr val="1F2328"/>
                </a:solidFill>
                <a:latin typeface="Calibri"/>
                <a:ea typeface="맑은 고딕"/>
                <a:cs typeface="Calibri"/>
              </a:rPr>
              <a:t> </a:t>
            </a:r>
            <a:r>
              <a:rPr lang="en-US" altLang="ko-KR" sz="2050" b="0" dirty="0">
                <a:solidFill>
                  <a:srgbClr val="1F2328"/>
                </a:solidFill>
                <a:latin typeface="Calibri"/>
                <a:ea typeface="맑은 고딕"/>
                <a:cs typeface="Calibri"/>
              </a:rPr>
              <a:t>They thus became a symbol of a person’s will </a:t>
            </a:r>
            <a:r>
              <a:rPr lang="en-US" altLang="ko-KR" sz="2050" b="1" dirty="0">
                <a:solidFill>
                  <a:srgbClr val="1F2328"/>
                </a:solidFill>
                <a:latin typeface="Calibri"/>
                <a:ea typeface="맑은 고딕"/>
                <a:cs typeface="Calibri"/>
              </a:rPr>
              <a:t>[ </a:t>
            </a:r>
            <a:r>
              <a:rPr lang="en-US" altLang="ko-KR" sz="2050" b="1" dirty="0">
                <a:solidFill>
                  <a:srgbClr val="1F2328"/>
                </a:solidFill>
                <a:latin typeface="Calibri"/>
                <a:ea typeface="맑은 고딕"/>
                <a:cs typeface="Calibri"/>
              </a:rPr>
              <a:t>to fight</a:t>
            </a:r>
            <a:r>
              <a:rPr lang="en-US" altLang="ko-KR" sz="2050" b="1" dirty="0">
                <a:solidFill>
                  <a:srgbClr val="1F2328"/>
                </a:solidFill>
                <a:latin typeface="Calibri"/>
                <a:ea typeface="맑은 고딕"/>
                <a:cs typeface="Calibri"/>
              </a:rPr>
              <a:t> / </a:t>
            </a:r>
            <a:r>
              <a:rPr lang="en-US" altLang="ko-KR" sz="2050" b="1" dirty="0">
                <a:solidFill>
                  <a:srgbClr val="1F2328"/>
                </a:solidFill>
                <a:latin typeface="Calibri"/>
                <a:ea typeface="맑은 고딕"/>
                <a:cs typeface="Calibri"/>
              </a:rPr>
              <a:t>fighting</a:t>
            </a:r>
            <a:r>
              <a:rPr lang="en-US" altLang="ko-KR" sz="2050" b="1" dirty="0">
                <a:solidFill>
                  <a:srgbClr val="1F2328"/>
                </a:solidFill>
                <a:latin typeface="Calibri"/>
                <a:ea typeface="맑은 고딕"/>
                <a:cs typeface="Calibri"/>
              </a:rPr>
              <a:t> ]</a:t>
            </a:r>
            <a:r>
              <a:rPr lang="en-US" altLang="ko-KR" sz="2050" b="0" dirty="0">
                <a:solidFill>
                  <a:srgbClr val="1F2328"/>
                </a:solidFill>
                <a:latin typeface="Calibri"/>
                <a:ea typeface="맑은 고딕"/>
                <a:cs typeface="Calibri"/>
              </a:rPr>
              <a:t> for justice despite difficulties.</a:t>
            </a:r>
            <a:r>
              <a:rPr lang="en-US" altLang="ko-KR" sz="2050" b="0" dirty="0">
                <a:solidFill>
                  <a:srgbClr val="1F2328"/>
                </a:solidFill>
                <a:latin typeface="Calibri"/>
                <a:ea typeface="맑은 고딕"/>
                <a:cs typeface="Calibri"/>
              </a:rPr>
              <a:t>   </a:t>
            </a:r>
            <a:r>
              <a:rPr lang="ko-KR" altLang="en-US" sz="2050" b="1" dirty="0">
                <a:solidFill>
                  <a:srgbClr val="1E2A5A"/>
                </a:solidFill>
                <a:latin typeface="맑은 고딕"/>
                <a:ea typeface="맑은 고딕"/>
                <a:cs typeface="맑은 고딕"/>
              </a:rPr>
              <a:t>⑧</a:t>
            </a:r>
            <a:r>
              <a:rPr lang="en-US" altLang="ko-KR" sz="2050" b="0" dirty="0">
                <a:solidFill>
                  <a:srgbClr val="1F2328"/>
                </a:solidFill>
                <a:latin typeface="Calibri"/>
                <a:ea typeface="맑은 고딕"/>
                <a:cs typeface="Calibri"/>
              </a:rPr>
              <a:t> </a:t>
            </a:r>
            <a:r>
              <a:rPr lang="en-US" altLang="ko-KR" sz="2050" b="0" dirty="0">
                <a:solidFill>
                  <a:srgbClr val="1F2328"/>
                </a:solidFill>
                <a:latin typeface="Calibri"/>
                <a:ea typeface="맑은 고딕"/>
                <a:cs typeface="Calibri"/>
              </a:rPr>
              <a:t>Munjado was </a:t>
            </a:r>
            <a:r>
              <a:rPr lang="en-US" altLang="ko-KR" sz="2050" b="1" dirty="0">
                <a:solidFill>
                  <a:srgbClr val="1F2328"/>
                </a:solidFill>
                <a:latin typeface="Calibri"/>
                <a:ea typeface="맑은 고딕"/>
                <a:cs typeface="Calibri"/>
              </a:rPr>
              <a:t>[ </a:t>
            </a:r>
            <a:r>
              <a:rPr lang="en-US" altLang="ko-KR" sz="2050" b="1" dirty="0">
                <a:solidFill>
                  <a:srgbClr val="1F2328"/>
                </a:solidFill>
                <a:latin typeface="Calibri"/>
                <a:ea typeface="맑은 고딕"/>
                <a:cs typeface="Calibri"/>
              </a:rPr>
              <a:t>much</a:t>
            </a:r>
            <a:r>
              <a:rPr lang="en-US" altLang="ko-KR" sz="2050" b="1" dirty="0">
                <a:solidFill>
                  <a:srgbClr val="1F2328"/>
                </a:solidFill>
                <a:latin typeface="Calibri"/>
                <a:ea typeface="맑은 고딕"/>
                <a:cs typeface="Calibri"/>
              </a:rPr>
              <a:t> / </a:t>
            </a:r>
            <a:r>
              <a:rPr lang="en-US" altLang="ko-KR" sz="2050" b="1" dirty="0">
                <a:solidFill>
                  <a:srgbClr val="1F2328"/>
                </a:solidFill>
                <a:latin typeface="Calibri"/>
                <a:ea typeface="맑은 고딕"/>
                <a:cs typeface="Calibri"/>
              </a:rPr>
              <a:t>very</a:t>
            </a:r>
            <a:r>
              <a:rPr lang="en-US" altLang="ko-KR" sz="2050" b="1" dirty="0">
                <a:solidFill>
                  <a:srgbClr val="1F2328"/>
                </a:solidFill>
                <a:latin typeface="Calibri"/>
                <a:ea typeface="맑은 고딕"/>
                <a:cs typeface="Calibri"/>
              </a:rPr>
              <a:t> ]</a:t>
            </a:r>
            <a:r>
              <a:rPr lang="en-US" altLang="ko-KR" sz="2050" b="0" dirty="0">
                <a:solidFill>
                  <a:srgbClr val="1F2328"/>
                </a:solidFill>
                <a:latin typeface="Calibri"/>
                <a:ea typeface="맑은 고딕"/>
                <a:cs typeface="Calibri"/>
              </a:rPr>
              <a:t> more than a painting to people of the Joseon dynasty.</a:t>
            </a:r>
            <a:r>
              <a:rPr lang="en-US" altLang="ko-KR" sz="2050" b="0" dirty="0">
                <a:solidFill>
                  <a:srgbClr val="1F2328"/>
                </a:solidFill>
                <a:latin typeface="Calibri"/>
                <a:ea typeface="맑은 고딕"/>
                <a:cs typeface="Calibri"/>
              </a:rPr>
              <a:t>   </a:t>
            </a:r>
            <a:r>
              <a:rPr lang="ko-KR" altLang="en-US" sz="2050" b="1" dirty="0">
                <a:solidFill>
                  <a:srgbClr val="1E2A5A"/>
                </a:solidFill>
                <a:latin typeface="맑은 고딕"/>
                <a:ea typeface="맑은 고딕"/>
                <a:cs typeface="맑은 고딕"/>
              </a:rPr>
              <a:t>⑨</a:t>
            </a:r>
            <a:r>
              <a:rPr lang="en-US" altLang="ko-KR" sz="2050" b="0" dirty="0">
                <a:solidFill>
                  <a:srgbClr val="1F2328"/>
                </a:solidFill>
                <a:latin typeface="Calibri"/>
                <a:ea typeface="맑은 고딕"/>
                <a:cs typeface="Calibri"/>
              </a:rPr>
              <a:t> </a:t>
            </a:r>
            <a:r>
              <a:rPr lang="en-US" altLang="ko-KR" sz="2050" b="0" dirty="0">
                <a:solidFill>
                  <a:srgbClr val="1F2328"/>
                </a:solidFill>
                <a:latin typeface="Calibri"/>
                <a:ea typeface="맑은 고딕"/>
                <a:cs typeface="Calibri"/>
              </a:rPr>
              <a:t>It reminded them of important values that greatly influenced their behaviors and attitudes.</a:t>
            </a:r>
            <a:r>
              <a:rPr lang="en-US" altLang="ko-KR" sz="2050" b="0" dirty="0">
                <a:solidFill>
                  <a:srgbClr val="1F2328"/>
                </a:solidFill>
                <a:latin typeface="Calibri"/>
                <a:ea typeface="맑은 고딕"/>
                <a:cs typeface="Calibri"/>
              </a:rPr>
              <a:t>   </a:t>
            </a:r>
            <a:r>
              <a:rPr lang="ko-KR" altLang="en-US" sz="2050" b="1" dirty="0">
                <a:solidFill>
                  <a:srgbClr val="1E2A5A"/>
                </a:solidFill>
                <a:latin typeface="맑은 고딕"/>
                <a:ea typeface="맑은 고딕"/>
                <a:cs typeface="맑은 고딕"/>
              </a:rPr>
              <a:t>⑩</a:t>
            </a:r>
            <a:r>
              <a:rPr lang="en-US" altLang="ko-KR" sz="2050" b="0" dirty="0">
                <a:solidFill>
                  <a:srgbClr val="1F2328"/>
                </a:solidFill>
                <a:latin typeface="Calibri"/>
                <a:ea typeface="맑은 고딕"/>
                <a:cs typeface="Calibri"/>
              </a:rPr>
              <a:t> </a:t>
            </a:r>
            <a:r>
              <a:rPr lang="en-US" altLang="ko-KR" sz="2050" b="0" dirty="0">
                <a:solidFill>
                  <a:srgbClr val="1F2328"/>
                </a:solidFill>
                <a:latin typeface="Calibri"/>
                <a:ea typeface="맑은 고딕"/>
                <a:cs typeface="Calibri"/>
              </a:rPr>
              <a:t>In particular, for children, Munjado was a study tool.</a:t>
            </a:r>
            <a:r>
              <a:rPr lang="en-US" altLang="ko-KR" sz="2050" b="0" dirty="0">
                <a:solidFill>
                  <a:srgbClr val="1F2328"/>
                </a:solidFill>
                <a:latin typeface="Calibri"/>
                <a:ea typeface="맑은 고딕"/>
                <a:cs typeface="Calibri"/>
              </a:rPr>
              <a:t>   </a:t>
            </a:r>
            <a:r>
              <a:rPr lang="ko-KR" altLang="en-US" sz="2050" b="1" dirty="0">
                <a:solidFill>
                  <a:srgbClr val="1E2A5A"/>
                </a:solidFill>
                <a:latin typeface="맑은 고딕"/>
                <a:ea typeface="맑은 고딕"/>
                <a:cs typeface="맑은 고딕"/>
              </a:rPr>
              <a:t>⑪</a:t>
            </a:r>
            <a:r>
              <a:rPr lang="en-US" altLang="ko-KR" sz="2050" b="0" dirty="0">
                <a:solidFill>
                  <a:srgbClr val="1F2328"/>
                </a:solidFill>
                <a:latin typeface="Calibri"/>
                <a:ea typeface="맑은 고딕"/>
                <a:cs typeface="Calibri"/>
              </a:rPr>
              <a:t> </a:t>
            </a:r>
            <a:r>
              <a:rPr lang="en-US" altLang="ko-KR" sz="2050" b="0" dirty="0">
                <a:solidFill>
                  <a:srgbClr val="1F2328"/>
                </a:solidFill>
                <a:latin typeface="Calibri"/>
                <a:ea typeface="맑은 고딕"/>
                <a:cs typeface="Calibri"/>
              </a:rPr>
              <a:t>Through it, children in the Joseon dynasty could </a:t>
            </a:r>
            <a:r>
              <a:rPr lang="en-US" altLang="ko-KR" sz="2050" b="1" dirty="0">
                <a:solidFill>
                  <a:srgbClr val="1F2328"/>
                </a:solidFill>
                <a:latin typeface="Calibri"/>
                <a:ea typeface="맑은 고딕"/>
                <a:cs typeface="Calibri"/>
              </a:rPr>
              <a:t>[ </a:t>
            </a:r>
            <a:r>
              <a:rPr lang="en-US" altLang="ko-KR" sz="2050" b="1" dirty="0">
                <a:solidFill>
                  <a:srgbClr val="1F2328"/>
                </a:solidFill>
                <a:latin typeface="Calibri"/>
                <a:ea typeface="맑은 고딕"/>
                <a:cs typeface="Calibri"/>
              </a:rPr>
              <a:t>learn</a:t>
            </a:r>
            <a:r>
              <a:rPr lang="en-US" altLang="ko-KR" sz="2050" b="1" dirty="0">
                <a:solidFill>
                  <a:srgbClr val="1F2328"/>
                </a:solidFill>
                <a:latin typeface="Calibri"/>
                <a:ea typeface="맑은 고딕"/>
                <a:cs typeface="Calibri"/>
              </a:rPr>
              <a:t> / </a:t>
            </a:r>
            <a:r>
              <a:rPr lang="en-US" altLang="ko-KR" sz="2050" b="1" dirty="0">
                <a:solidFill>
                  <a:srgbClr val="1F2328"/>
                </a:solidFill>
                <a:latin typeface="Calibri"/>
                <a:ea typeface="맑은 고딕"/>
                <a:cs typeface="Calibri"/>
              </a:rPr>
              <a:t>learned</a:t>
            </a:r>
            <a:r>
              <a:rPr lang="en-US" altLang="ko-KR" sz="2050" b="1" dirty="0">
                <a:solidFill>
                  <a:srgbClr val="1F2328"/>
                </a:solidFill>
                <a:latin typeface="Calibri"/>
                <a:ea typeface="맑은 고딕"/>
                <a:cs typeface="Calibri"/>
              </a:rPr>
              <a:t> ]</a:t>
            </a:r>
            <a:r>
              <a:rPr lang="en-US" altLang="ko-KR" sz="2050" b="0" dirty="0">
                <a:solidFill>
                  <a:srgbClr val="1F2328"/>
                </a:solidFill>
                <a:latin typeface="Calibri"/>
                <a:ea typeface="맑은 고딕"/>
                <a:cs typeface="Calibri"/>
              </a:rPr>
              <a:t> the importance of harmony in family and society.</a:t>
            </a:r>
            <a:endParaRPr lang="en-US" altLang="ko-KR" sz="2050" b="0" dirty="0">
              <a:solidFill>
                <a:srgbClr val="1F2328"/>
              </a:solidFill>
              <a:latin typeface="Calibri"/>
              <a:ea typeface="맑은 고딕"/>
              <a:cs typeface="Calibri"/>
            </a:endParaRPr>
          </a:p>
        </p:txBody>
      </p:sp>
      <p:sp>
        <p:nvSpPr>
          <p:cNvPr id="9" name="rv_g01"/>
          <p:cNvSpPr txBox="1"/>
          <p:nvPr/>
        </p:nvSpPr>
        <p:spPr>
          <a:xfrm>
            <a:off x="457200" y="950976"/>
            <a:ext cx="11277295" cy="5370576"/>
          </a:xfrm>
          <a:prstGeom prst="rect">
            <a:avLst/>
          </a:prstGeom>
          <a:noFill/>
        </p:spPr>
        <p:txBody>
          <a:bodyPr wrap="square" lIns="228600" tIns="155448" rIns="228600" bIns="155448" anchor="t" rtlCol="0">
            <a:noAutofit/>
          </a:bodyPr>
          <a:lstStyle/>
          <a:p>
            <a:pPr algn="l">
              <a:lnSpc>
                <a:spcPts val="3320"/>
              </a:lnSpc>
              <a:spcBef>
                <a:spcPts val="0"/>
              </a:spcBef>
              <a:spcAft>
                <a:spcPts val="0"/>
              </a:spcAft>
              <a:buNone/>
            </a:pPr>
            <a:r>
              <a:rPr lang="ko-KR" altLang="en-US" sz="2050" b="1" dirty="0">
                <a:solidFill>
                  <a:srgbClr val="1E2A5A">
                    <a:alpha val="0"/>
                  </a:srgbClr>
                </a:solidFill>
                <a:latin typeface="맑은 고딕"/>
                <a:ea typeface="맑은 고딕"/>
                <a:cs typeface="맑은 고딕"/>
              </a:rPr>
              <a:t>①</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There are other examples of symbolic objects in Munjado.</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②</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They are bamboo in the paintings of the character chung (忠) and lotus flowers in the paintings of ui (義).</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③</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Bamboo does not bend.</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④</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It stays green in all kinds of weather.</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⑤</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For these reasons, bamboo came to symbolize loyalty to the king.</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⑥</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In the case of lotus flowers, they grow in muddy ponds but still bloom </a:t>
            </a:r>
            <a:r>
              <a:rPr lang="en-US" altLang="ko-KR" sz="2050" b="1" dirty="0">
                <a:solidFill>
                  <a:srgbClr val="1F2328">
                    <a:alpha val="0"/>
                  </a:srgbClr>
                </a:solidFill>
                <a:latin typeface="Calibri"/>
                <a:ea typeface="맑은 고딕"/>
                <a:cs typeface="Calibri"/>
              </a:rPr>
              <a:t>[ </a:t>
            </a:r>
            <a:r>
              <a:rPr lang="en-US" altLang="ko-KR" sz="2050" b="1" dirty="0">
                <a:solidFill>
                  <a:srgbClr val="C00000"/>
                </a:solidFill>
                <a:highlight>
                  <a:srgbClr val="F3F5F9"/>
                </a:highlight>
                <a:latin typeface="Calibri"/>
                <a:ea typeface="맑은 고딕"/>
                <a:cs typeface="Calibri"/>
              </a:rPr>
              <a:t>beautifully</a:t>
            </a:r>
            <a:r>
              <a:rPr lang="en-US" altLang="ko-KR" sz="2050" b="1" dirty="0">
                <a:solidFill>
                  <a:srgbClr val="1F2328">
                    <a:alpha val="0"/>
                  </a:srgbClr>
                </a:solidFill>
                <a:latin typeface="Calibri"/>
                <a:ea typeface="맑은 고딕"/>
                <a:cs typeface="Calibri"/>
              </a:rPr>
              <a:t> / </a:t>
            </a:r>
            <a:r>
              <a:rPr lang="en-US" altLang="ko-KR" sz="2050" b="1" dirty="0">
                <a:solidFill>
                  <a:srgbClr val="1F2328">
                    <a:alpha val="0"/>
                  </a:srgbClr>
                </a:solidFill>
                <a:latin typeface="Calibri"/>
                <a:ea typeface="맑은 고딕"/>
                <a:cs typeface="Calibri"/>
              </a:rPr>
              <a:t>beautiful</a:t>
            </a:r>
            <a:r>
              <a:rPr lang="en-US" altLang="ko-KR" sz="2050" b="1"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⑦</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They thus became a symbol of a person’s will </a:t>
            </a:r>
            <a:r>
              <a:rPr lang="en-US" altLang="ko-KR" sz="2050" b="1" dirty="0">
                <a:solidFill>
                  <a:srgbClr val="1F2328">
                    <a:alpha val="0"/>
                  </a:srgbClr>
                </a:solidFill>
                <a:latin typeface="Calibri"/>
                <a:ea typeface="맑은 고딕"/>
                <a:cs typeface="Calibri"/>
              </a:rPr>
              <a:t>[ </a:t>
            </a:r>
            <a:r>
              <a:rPr lang="en-US" altLang="ko-KR" sz="2050" b="1" dirty="0">
                <a:solidFill>
                  <a:srgbClr val="1F2328">
                    <a:alpha val="0"/>
                  </a:srgbClr>
                </a:solidFill>
                <a:latin typeface="Calibri"/>
                <a:ea typeface="맑은 고딕"/>
                <a:cs typeface="Calibri"/>
              </a:rPr>
              <a:t>to fight</a:t>
            </a:r>
            <a:r>
              <a:rPr lang="en-US" altLang="ko-KR" sz="2050" b="1" dirty="0">
                <a:solidFill>
                  <a:srgbClr val="1F2328">
                    <a:alpha val="0"/>
                  </a:srgbClr>
                </a:solidFill>
                <a:latin typeface="Calibri"/>
                <a:ea typeface="맑은 고딕"/>
                <a:cs typeface="Calibri"/>
              </a:rPr>
              <a:t> / </a:t>
            </a:r>
            <a:r>
              <a:rPr lang="en-US" altLang="ko-KR" sz="2050" b="1" dirty="0">
                <a:solidFill>
                  <a:srgbClr val="1F2328">
                    <a:alpha val="0"/>
                  </a:srgbClr>
                </a:solidFill>
                <a:latin typeface="Calibri"/>
                <a:ea typeface="맑은 고딕"/>
                <a:cs typeface="Calibri"/>
              </a:rPr>
              <a:t>fighting</a:t>
            </a:r>
            <a:r>
              <a:rPr lang="en-US" altLang="ko-KR" sz="2050" b="1"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 for justice despite difficulties.</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⑧</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Munjado was </a:t>
            </a:r>
            <a:r>
              <a:rPr lang="en-US" altLang="ko-KR" sz="2050" b="1" dirty="0">
                <a:solidFill>
                  <a:srgbClr val="1F2328">
                    <a:alpha val="0"/>
                  </a:srgbClr>
                </a:solidFill>
                <a:latin typeface="Calibri"/>
                <a:ea typeface="맑은 고딕"/>
                <a:cs typeface="Calibri"/>
              </a:rPr>
              <a:t>[ </a:t>
            </a:r>
            <a:r>
              <a:rPr lang="en-US" altLang="ko-KR" sz="2050" b="1" dirty="0">
                <a:solidFill>
                  <a:srgbClr val="1F2328">
                    <a:alpha val="0"/>
                  </a:srgbClr>
                </a:solidFill>
                <a:latin typeface="Calibri"/>
                <a:ea typeface="맑은 고딕"/>
                <a:cs typeface="Calibri"/>
              </a:rPr>
              <a:t>much</a:t>
            </a:r>
            <a:r>
              <a:rPr lang="en-US" altLang="ko-KR" sz="2050" b="1" dirty="0">
                <a:solidFill>
                  <a:srgbClr val="1F2328">
                    <a:alpha val="0"/>
                  </a:srgbClr>
                </a:solidFill>
                <a:latin typeface="Calibri"/>
                <a:ea typeface="맑은 고딕"/>
                <a:cs typeface="Calibri"/>
              </a:rPr>
              <a:t> / </a:t>
            </a:r>
            <a:r>
              <a:rPr lang="en-US" altLang="ko-KR" sz="2050" b="1" dirty="0">
                <a:solidFill>
                  <a:srgbClr val="1F2328">
                    <a:alpha val="0"/>
                  </a:srgbClr>
                </a:solidFill>
                <a:latin typeface="Calibri"/>
                <a:ea typeface="맑은 고딕"/>
                <a:cs typeface="Calibri"/>
              </a:rPr>
              <a:t>very</a:t>
            </a:r>
            <a:r>
              <a:rPr lang="en-US" altLang="ko-KR" sz="2050" b="1"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 more than a painting to people of the Joseon dynasty.</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⑨</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It reminded them of important values that greatly influenced their behaviors and attitudes.</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⑩</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In particular, for children, Munjado was a study tool.</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⑪</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Through it, children in the Joseon dynasty could </a:t>
            </a:r>
            <a:r>
              <a:rPr lang="en-US" altLang="ko-KR" sz="2050" b="1" dirty="0">
                <a:solidFill>
                  <a:srgbClr val="1F2328">
                    <a:alpha val="0"/>
                  </a:srgbClr>
                </a:solidFill>
                <a:latin typeface="Calibri"/>
                <a:ea typeface="맑은 고딕"/>
                <a:cs typeface="Calibri"/>
              </a:rPr>
              <a:t>[ </a:t>
            </a:r>
            <a:r>
              <a:rPr lang="en-US" altLang="ko-KR" sz="2050" b="1" dirty="0">
                <a:solidFill>
                  <a:srgbClr val="1F2328">
                    <a:alpha val="0"/>
                  </a:srgbClr>
                </a:solidFill>
                <a:latin typeface="Calibri"/>
                <a:ea typeface="맑은 고딕"/>
                <a:cs typeface="Calibri"/>
              </a:rPr>
              <a:t>learn</a:t>
            </a:r>
            <a:r>
              <a:rPr lang="en-US" altLang="ko-KR" sz="2050" b="1" dirty="0">
                <a:solidFill>
                  <a:srgbClr val="1F2328">
                    <a:alpha val="0"/>
                  </a:srgbClr>
                </a:solidFill>
                <a:latin typeface="Calibri"/>
                <a:ea typeface="맑은 고딕"/>
                <a:cs typeface="Calibri"/>
              </a:rPr>
              <a:t> / </a:t>
            </a:r>
            <a:r>
              <a:rPr lang="en-US" altLang="ko-KR" sz="2050" b="1" dirty="0">
                <a:solidFill>
                  <a:srgbClr val="1F2328">
                    <a:alpha val="0"/>
                  </a:srgbClr>
                </a:solidFill>
                <a:latin typeface="Calibri"/>
                <a:ea typeface="맑은 고딕"/>
                <a:cs typeface="Calibri"/>
              </a:rPr>
              <a:t>learned</a:t>
            </a:r>
            <a:r>
              <a:rPr lang="en-US" altLang="ko-KR" sz="2050" b="1"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 the importance of harmony in family and society.</a:t>
            </a:r>
            <a:endParaRPr lang="en-US" altLang="ko-KR" sz="2050" b="0" dirty="0">
              <a:solidFill>
                <a:srgbClr val="1F2328"/>
              </a:solidFill>
              <a:latin typeface="Calibri"/>
              <a:ea typeface="맑은 고딕"/>
              <a:cs typeface="Calibri"/>
            </a:endParaRPr>
          </a:p>
        </p:txBody>
      </p:sp>
      <p:sp>
        <p:nvSpPr>
          <p:cNvPr id="10" name="rv_g02"/>
          <p:cNvSpPr txBox="1"/>
          <p:nvPr/>
        </p:nvSpPr>
        <p:spPr>
          <a:xfrm>
            <a:off x="457200" y="950976"/>
            <a:ext cx="11277295" cy="5370576"/>
          </a:xfrm>
          <a:prstGeom prst="rect">
            <a:avLst/>
          </a:prstGeom>
          <a:noFill/>
        </p:spPr>
        <p:txBody>
          <a:bodyPr wrap="square" lIns="228600" tIns="155448" rIns="228600" bIns="155448" anchor="t" rtlCol="0">
            <a:noAutofit/>
          </a:bodyPr>
          <a:lstStyle/>
          <a:p>
            <a:pPr algn="l">
              <a:lnSpc>
                <a:spcPts val="3320"/>
              </a:lnSpc>
              <a:spcBef>
                <a:spcPts val="0"/>
              </a:spcBef>
              <a:spcAft>
                <a:spcPts val="0"/>
              </a:spcAft>
              <a:buNone/>
            </a:pPr>
            <a:r>
              <a:rPr lang="ko-KR" altLang="en-US" sz="2050" b="1" dirty="0">
                <a:solidFill>
                  <a:srgbClr val="1E2A5A">
                    <a:alpha val="0"/>
                  </a:srgbClr>
                </a:solidFill>
                <a:latin typeface="맑은 고딕"/>
                <a:ea typeface="맑은 고딕"/>
                <a:cs typeface="맑은 고딕"/>
              </a:rPr>
              <a:t>①</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There are other examples of symbolic objects in Munjado.</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②</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They are bamboo in the paintings of the character chung (忠) and lotus flowers in the paintings of ui (義).</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③</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Bamboo does not bend.</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④</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It stays green in all kinds of weather.</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⑤</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For these reasons, bamboo came to symbolize loyalty to the king.</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⑥</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In the case of lotus flowers, they grow in muddy ponds but still bloom </a:t>
            </a:r>
            <a:r>
              <a:rPr lang="en-US" altLang="ko-KR" sz="2050" b="1" dirty="0">
                <a:solidFill>
                  <a:srgbClr val="1F2328">
                    <a:alpha val="0"/>
                  </a:srgbClr>
                </a:solidFill>
                <a:latin typeface="Calibri"/>
                <a:ea typeface="맑은 고딕"/>
                <a:cs typeface="Calibri"/>
              </a:rPr>
              <a:t>[ </a:t>
            </a:r>
            <a:r>
              <a:rPr lang="en-US" altLang="ko-KR" sz="2050" b="1" dirty="0">
                <a:solidFill>
                  <a:srgbClr val="1F2328">
                    <a:alpha val="0"/>
                  </a:srgbClr>
                </a:solidFill>
                <a:latin typeface="Calibri"/>
                <a:ea typeface="맑은 고딕"/>
                <a:cs typeface="Calibri"/>
              </a:rPr>
              <a:t>beautifully</a:t>
            </a:r>
            <a:r>
              <a:rPr lang="en-US" altLang="ko-KR" sz="2050" b="1" dirty="0">
                <a:solidFill>
                  <a:srgbClr val="1F2328">
                    <a:alpha val="0"/>
                  </a:srgbClr>
                </a:solidFill>
                <a:latin typeface="Calibri"/>
                <a:ea typeface="맑은 고딕"/>
                <a:cs typeface="Calibri"/>
              </a:rPr>
              <a:t> / </a:t>
            </a:r>
            <a:r>
              <a:rPr lang="en-US" altLang="ko-KR" sz="2050" b="1" dirty="0">
                <a:solidFill>
                  <a:srgbClr val="1F2328">
                    <a:alpha val="0"/>
                  </a:srgbClr>
                </a:solidFill>
                <a:latin typeface="Calibri"/>
                <a:ea typeface="맑은 고딕"/>
                <a:cs typeface="Calibri"/>
              </a:rPr>
              <a:t>beautiful</a:t>
            </a:r>
            <a:r>
              <a:rPr lang="en-US" altLang="ko-KR" sz="2050" b="1"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⑦</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They thus became a symbol of a person’s will </a:t>
            </a:r>
            <a:r>
              <a:rPr lang="en-US" altLang="ko-KR" sz="2050" b="1" dirty="0">
                <a:solidFill>
                  <a:srgbClr val="1F2328">
                    <a:alpha val="0"/>
                  </a:srgbClr>
                </a:solidFill>
                <a:latin typeface="Calibri"/>
                <a:ea typeface="맑은 고딕"/>
                <a:cs typeface="Calibri"/>
              </a:rPr>
              <a:t>[ </a:t>
            </a:r>
            <a:r>
              <a:rPr lang="en-US" altLang="ko-KR" sz="2050" b="1" dirty="0">
                <a:solidFill>
                  <a:srgbClr val="C00000"/>
                </a:solidFill>
                <a:highlight>
                  <a:srgbClr val="F3F5F9"/>
                </a:highlight>
                <a:latin typeface="Calibri"/>
                <a:ea typeface="맑은 고딕"/>
                <a:cs typeface="Calibri"/>
              </a:rPr>
              <a:t>to fight</a:t>
            </a:r>
            <a:r>
              <a:rPr lang="en-US" altLang="ko-KR" sz="2050" b="1" dirty="0">
                <a:solidFill>
                  <a:srgbClr val="1F2328">
                    <a:alpha val="0"/>
                  </a:srgbClr>
                </a:solidFill>
                <a:latin typeface="Calibri"/>
                <a:ea typeface="맑은 고딕"/>
                <a:cs typeface="Calibri"/>
              </a:rPr>
              <a:t> / </a:t>
            </a:r>
            <a:r>
              <a:rPr lang="en-US" altLang="ko-KR" sz="2050" b="1" dirty="0">
                <a:solidFill>
                  <a:srgbClr val="1F2328">
                    <a:alpha val="0"/>
                  </a:srgbClr>
                </a:solidFill>
                <a:latin typeface="Calibri"/>
                <a:ea typeface="맑은 고딕"/>
                <a:cs typeface="Calibri"/>
              </a:rPr>
              <a:t>fighting</a:t>
            </a:r>
            <a:r>
              <a:rPr lang="en-US" altLang="ko-KR" sz="2050" b="1"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 for justice despite difficulties.</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⑧</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Munjado was </a:t>
            </a:r>
            <a:r>
              <a:rPr lang="en-US" altLang="ko-KR" sz="2050" b="1" dirty="0">
                <a:solidFill>
                  <a:srgbClr val="1F2328">
                    <a:alpha val="0"/>
                  </a:srgbClr>
                </a:solidFill>
                <a:latin typeface="Calibri"/>
                <a:ea typeface="맑은 고딕"/>
                <a:cs typeface="Calibri"/>
              </a:rPr>
              <a:t>[ </a:t>
            </a:r>
            <a:r>
              <a:rPr lang="en-US" altLang="ko-KR" sz="2050" b="1" dirty="0">
                <a:solidFill>
                  <a:srgbClr val="1F2328">
                    <a:alpha val="0"/>
                  </a:srgbClr>
                </a:solidFill>
                <a:latin typeface="Calibri"/>
                <a:ea typeface="맑은 고딕"/>
                <a:cs typeface="Calibri"/>
              </a:rPr>
              <a:t>much</a:t>
            </a:r>
            <a:r>
              <a:rPr lang="en-US" altLang="ko-KR" sz="2050" b="1" dirty="0">
                <a:solidFill>
                  <a:srgbClr val="1F2328">
                    <a:alpha val="0"/>
                  </a:srgbClr>
                </a:solidFill>
                <a:latin typeface="Calibri"/>
                <a:ea typeface="맑은 고딕"/>
                <a:cs typeface="Calibri"/>
              </a:rPr>
              <a:t> / </a:t>
            </a:r>
            <a:r>
              <a:rPr lang="en-US" altLang="ko-KR" sz="2050" b="1" dirty="0">
                <a:solidFill>
                  <a:srgbClr val="1F2328">
                    <a:alpha val="0"/>
                  </a:srgbClr>
                </a:solidFill>
                <a:latin typeface="Calibri"/>
                <a:ea typeface="맑은 고딕"/>
                <a:cs typeface="Calibri"/>
              </a:rPr>
              <a:t>very</a:t>
            </a:r>
            <a:r>
              <a:rPr lang="en-US" altLang="ko-KR" sz="2050" b="1"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 more than a painting to people of the Joseon dynasty.</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⑨</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It reminded them of important values that greatly influenced their behaviors and attitudes.</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⑩</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In particular, for children, Munjado was a study tool.</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⑪</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Through it, children in the Joseon dynasty could </a:t>
            </a:r>
            <a:r>
              <a:rPr lang="en-US" altLang="ko-KR" sz="2050" b="1" dirty="0">
                <a:solidFill>
                  <a:srgbClr val="1F2328">
                    <a:alpha val="0"/>
                  </a:srgbClr>
                </a:solidFill>
                <a:latin typeface="Calibri"/>
                <a:ea typeface="맑은 고딕"/>
                <a:cs typeface="Calibri"/>
              </a:rPr>
              <a:t>[ </a:t>
            </a:r>
            <a:r>
              <a:rPr lang="en-US" altLang="ko-KR" sz="2050" b="1" dirty="0">
                <a:solidFill>
                  <a:srgbClr val="1F2328">
                    <a:alpha val="0"/>
                  </a:srgbClr>
                </a:solidFill>
                <a:latin typeface="Calibri"/>
                <a:ea typeface="맑은 고딕"/>
                <a:cs typeface="Calibri"/>
              </a:rPr>
              <a:t>learn</a:t>
            </a:r>
            <a:r>
              <a:rPr lang="en-US" altLang="ko-KR" sz="2050" b="1" dirty="0">
                <a:solidFill>
                  <a:srgbClr val="1F2328">
                    <a:alpha val="0"/>
                  </a:srgbClr>
                </a:solidFill>
                <a:latin typeface="Calibri"/>
                <a:ea typeface="맑은 고딕"/>
                <a:cs typeface="Calibri"/>
              </a:rPr>
              <a:t> / </a:t>
            </a:r>
            <a:r>
              <a:rPr lang="en-US" altLang="ko-KR" sz="2050" b="1" dirty="0">
                <a:solidFill>
                  <a:srgbClr val="1F2328">
                    <a:alpha val="0"/>
                  </a:srgbClr>
                </a:solidFill>
                <a:latin typeface="Calibri"/>
                <a:ea typeface="맑은 고딕"/>
                <a:cs typeface="Calibri"/>
              </a:rPr>
              <a:t>learned</a:t>
            </a:r>
            <a:r>
              <a:rPr lang="en-US" altLang="ko-KR" sz="2050" b="1"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 the importance of harmony in family and society.</a:t>
            </a:r>
            <a:endParaRPr lang="en-US" altLang="ko-KR" sz="2050" b="0" dirty="0">
              <a:solidFill>
                <a:srgbClr val="1F2328"/>
              </a:solidFill>
              <a:latin typeface="Calibri"/>
              <a:ea typeface="맑은 고딕"/>
              <a:cs typeface="Calibri"/>
            </a:endParaRPr>
          </a:p>
        </p:txBody>
      </p:sp>
      <p:sp>
        <p:nvSpPr>
          <p:cNvPr id="11" name="rv_g03"/>
          <p:cNvSpPr txBox="1"/>
          <p:nvPr/>
        </p:nvSpPr>
        <p:spPr>
          <a:xfrm>
            <a:off x="457200" y="950976"/>
            <a:ext cx="11277295" cy="5370576"/>
          </a:xfrm>
          <a:prstGeom prst="rect">
            <a:avLst/>
          </a:prstGeom>
          <a:noFill/>
        </p:spPr>
        <p:txBody>
          <a:bodyPr wrap="square" lIns="228600" tIns="155448" rIns="228600" bIns="155448" anchor="t" rtlCol="0">
            <a:noAutofit/>
          </a:bodyPr>
          <a:lstStyle/>
          <a:p>
            <a:pPr algn="l">
              <a:lnSpc>
                <a:spcPts val="3320"/>
              </a:lnSpc>
              <a:spcBef>
                <a:spcPts val="0"/>
              </a:spcBef>
              <a:spcAft>
                <a:spcPts val="0"/>
              </a:spcAft>
              <a:buNone/>
            </a:pPr>
            <a:r>
              <a:rPr lang="ko-KR" altLang="en-US" sz="2050" b="1" dirty="0">
                <a:solidFill>
                  <a:srgbClr val="1E2A5A">
                    <a:alpha val="0"/>
                  </a:srgbClr>
                </a:solidFill>
                <a:latin typeface="맑은 고딕"/>
                <a:ea typeface="맑은 고딕"/>
                <a:cs typeface="맑은 고딕"/>
              </a:rPr>
              <a:t>①</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There are other examples of symbolic objects in Munjado.</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②</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They are bamboo in the paintings of the character chung (忠) and lotus flowers in the paintings of ui (義).</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③</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Bamboo does not bend.</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④</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It stays green in all kinds of weather.</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⑤</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For these reasons, bamboo came to symbolize loyalty to the king.</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⑥</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In the case of lotus flowers, they grow in muddy ponds but still bloom </a:t>
            </a:r>
            <a:r>
              <a:rPr lang="en-US" altLang="ko-KR" sz="2050" b="1" dirty="0">
                <a:solidFill>
                  <a:srgbClr val="1F2328">
                    <a:alpha val="0"/>
                  </a:srgbClr>
                </a:solidFill>
                <a:latin typeface="Calibri"/>
                <a:ea typeface="맑은 고딕"/>
                <a:cs typeface="Calibri"/>
              </a:rPr>
              <a:t>[ </a:t>
            </a:r>
            <a:r>
              <a:rPr lang="en-US" altLang="ko-KR" sz="2050" b="1" dirty="0">
                <a:solidFill>
                  <a:srgbClr val="1F2328">
                    <a:alpha val="0"/>
                  </a:srgbClr>
                </a:solidFill>
                <a:latin typeface="Calibri"/>
                <a:ea typeface="맑은 고딕"/>
                <a:cs typeface="Calibri"/>
              </a:rPr>
              <a:t>beautifully</a:t>
            </a:r>
            <a:r>
              <a:rPr lang="en-US" altLang="ko-KR" sz="2050" b="1" dirty="0">
                <a:solidFill>
                  <a:srgbClr val="1F2328">
                    <a:alpha val="0"/>
                  </a:srgbClr>
                </a:solidFill>
                <a:latin typeface="Calibri"/>
                <a:ea typeface="맑은 고딕"/>
                <a:cs typeface="Calibri"/>
              </a:rPr>
              <a:t> / </a:t>
            </a:r>
            <a:r>
              <a:rPr lang="en-US" altLang="ko-KR" sz="2050" b="1" dirty="0">
                <a:solidFill>
                  <a:srgbClr val="1F2328">
                    <a:alpha val="0"/>
                  </a:srgbClr>
                </a:solidFill>
                <a:latin typeface="Calibri"/>
                <a:ea typeface="맑은 고딕"/>
                <a:cs typeface="Calibri"/>
              </a:rPr>
              <a:t>beautiful</a:t>
            </a:r>
            <a:r>
              <a:rPr lang="en-US" altLang="ko-KR" sz="2050" b="1"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⑦</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They thus became a symbol of a person’s will </a:t>
            </a:r>
            <a:r>
              <a:rPr lang="en-US" altLang="ko-KR" sz="2050" b="1" dirty="0">
                <a:solidFill>
                  <a:srgbClr val="1F2328">
                    <a:alpha val="0"/>
                  </a:srgbClr>
                </a:solidFill>
                <a:latin typeface="Calibri"/>
                <a:ea typeface="맑은 고딕"/>
                <a:cs typeface="Calibri"/>
              </a:rPr>
              <a:t>[ </a:t>
            </a:r>
            <a:r>
              <a:rPr lang="en-US" altLang="ko-KR" sz="2050" b="1" dirty="0">
                <a:solidFill>
                  <a:srgbClr val="1F2328">
                    <a:alpha val="0"/>
                  </a:srgbClr>
                </a:solidFill>
                <a:latin typeface="Calibri"/>
                <a:ea typeface="맑은 고딕"/>
                <a:cs typeface="Calibri"/>
              </a:rPr>
              <a:t>to fight</a:t>
            </a:r>
            <a:r>
              <a:rPr lang="en-US" altLang="ko-KR" sz="2050" b="1" dirty="0">
                <a:solidFill>
                  <a:srgbClr val="1F2328">
                    <a:alpha val="0"/>
                  </a:srgbClr>
                </a:solidFill>
                <a:latin typeface="Calibri"/>
                <a:ea typeface="맑은 고딕"/>
                <a:cs typeface="Calibri"/>
              </a:rPr>
              <a:t> / </a:t>
            </a:r>
            <a:r>
              <a:rPr lang="en-US" altLang="ko-KR" sz="2050" b="1" dirty="0">
                <a:solidFill>
                  <a:srgbClr val="1F2328">
                    <a:alpha val="0"/>
                  </a:srgbClr>
                </a:solidFill>
                <a:latin typeface="Calibri"/>
                <a:ea typeface="맑은 고딕"/>
                <a:cs typeface="Calibri"/>
              </a:rPr>
              <a:t>fighting</a:t>
            </a:r>
            <a:r>
              <a:rPr lang="en-US" altLang="ko-KR" sz="2050" b="1"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 for justice despite difficulties.</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⑧</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Munjado was </a:t>
            </a:r>
            <a:r>
              <a:rPr lang="en-US" altLang="ko-KR" sz="2050" b="1" dirty="0">
                <a:solidFill>
                  <a:srgbClr val="1F2328">
                    <a:alpha val="0"/>
                  </a:srgbClr>
                </a:solidFill>
                <a:latin typeface="Calibri"/>
                <a:ea typeface="맑은 고딕"/>
                <a:cs typeface="Calibri"/>
              </a:rPr>
              <a:t>[ </a:t>
            </a:r>
            <a:r>
              <a:rPr lang="en-US" altLang="ko-KR" sz="2050" b="1" dirty="0">
                <a:solidFill>
                  <a:srgbClr val="C00000"/>
                </a:solidFill>
                <a:highlight>
                  <a:srgbClr val="F3F5F9"/>
                </a:highlight>
                <a:latin typeface="Calibri"/>
                <a:ea typeface="맑은 고딕"/>
                <a:cs typeface="Calibri"/>
              </a:rPr>
              <a:t>much</a:t>
            </a:r>
            <a:r>
              <a:rPr lang="en-US" altLang="ko-KR" sz="2050" b="1" dirty="0">
                <a:solidFill>
                  <a:srgbClr val="1F2328">
                    <a:alpha val="0"/>
                  </a:srgbClr>
                </a:solidFill>
                <a:latin typeface="Calibri"/>
                <a:ea typeface="맑은 고딕"/>
                <a:cs typeface="Calibri"/>
              </a:rPr>
              <a:t> / </a:t>
            </a:r>
            <a:r>
              <a:rPr lang="en-US" altLang="ko-KR" sz="2050" b="1" dirty="0">
                <a:solidFill>
                  <a:srgbClr val="1F2328">
                    <a:alpha val="0"/>
                  </a:srgbClr>
                </a:solidFill>
                <a:latin typeface="Calibri"/>
                <a:ea typeface="맑은 고딕"/>
                <a:cs typeface="Calibri"/>
              </a:rPr>
              <a:t>very</a:t>
            </a:r>
            <a:r>
              <a:rPr lang="en-US" altLang="ko-KR" sz="2050" b="1"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 more than a painting to people of the Joseon dynasty.</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⑨</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It reminded them of important values that greatly influenced their behaviors and attitudes.</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⑩</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In particular, for children, Munjado was a study tool.</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⑪</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Through it, children in the Joseon dynasty could </a:t>
            </a:r>
            <a:r>
              <a:rPr lang="en-US" altLang="ko-KR" sz="2050" b="1" dirty="0">
                <a:solidFill>
                  <a:srgbClr val="1F2328">
                    <a:alpha val="0"/>
                  </a:srgbClr>
                </a:solidFill>
                <a:latin typeface="Calibri"/>
                <a:ea typeface="맑은 고딕"/>
                <a:cs typeface="Calibri"/>
              </a:rPr>
              <a:t>[ </a:t>
            </a:r>
            <a:r>
              <a:rPr lang="en-US" altLang="ko-KR" sz="2050" b="1" dirty="0">
                <a:solidFill>
                  <a:srgbClr val="1F2328">
                    <a:alpha val="0"/>
                  </a:srgbClr>
                </a:solidFill>
                <a:latin typeface="Calibri"/>
                <a:ea typeface="맑은 고딕"/>
                <a:cs typeface="Calibri"/>
              </a:rPr>
              <a:t>learn</a:t>
            </a:r>
            <a:r>
              <a:rPr lang="en-US" altLang="ko-KR" sz="2050" b="1" dirty="0">
                <a:solidFill>
                  <a:srgbClr val="1F2328">
                    <a:alpha val="0"/>
                  </a:srgbClr>
                </a:solidFill>
                <a:latin typeface="Calibri"/>
                <a:ea typeface="맑은 고딕"/>
                <a:cs typeface="Calibri"/>
              </a:rPr>
              <a:t> / </a:t>
            </a:r>
            <a:r>
              <a:rPr lang="en-US" altLang="ko-KR" sz="2050" b="1" dirty="0">
                <a:solidFill>
                  <a:srgbClr val="1F2328">
                    <a:alpha val="0"/>
                  </a:srgbClr>
                </a:solidFill>
                <a:latin typeface="Calibri"/>
                <a:ea typeface="맑은 고딕"/>
                <a:cs typeface="Calibri"/>
              </a:rPr>
              <a:t>learned</a:t>
            </a:r>
            <a:r>
              <a:rPr lang="en-US" altLang="ko-KR" sz="2050" b="1"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 the importance of harmony in family and society.</a:t>
            </a:r>
            <a:endParaRPr lang="en-US" altLang="ko-KR" sz="2050" b="0" dirty="0">
              <a:solidFill>
                <a:srgbClr val="1F2328"/>
              </a:solidFill>
              <a:latin typeface="Calibri"/>
              <a:ea typeface="맑은 고딕"/>
              <a:cs typeface="Calibri"/>
            </a:endParaRPr>
          </a:p>
        </p:txBody>
      </p:sp>
      <p:sp>
        <p:nvSpPr>
          <p:cNvPr id="12" name="rv_g04"/>
          <p:cNvSpPr txBox="1"/>
          <p:nvPr/>
        </p:nvSpPr>
        <p:spPr>
          <a:xfrm>
            <a:off x="457200" y="950976"/>
            <a:ext cx="11277295" cy="5370576"/>
          </a:xfrm>
          <a:prstGeom prst="rect">
            <a:avLst/>
          </a:prstGeom>
          <a:noFill/>
        </p:spPr>
        <p:txBody>
          <a:bodyPr wrap="square" lIns="228600" tIns="155448" rIns="228600" bIns="155448" anchor="t" rtlCol="0">
            <a:noAutofit/>
          </a:bodyPr>
          <a:lstStyle/>
          <a:p>
            <a:pPr algn="l">
              <a:lnSpc>
                <a:spcPts val="3320"/>
              </a:lnSpc>
              <a:spcBef>
                <a:spcPts val="0"/>
              </a:spcBef>
              <a:spcAft>
                <a:spcPts val="0"/>
              </a:spcAft>
              <a:buNone/>
            </a:pPr>
            <a:r>
              <a:rPr lang="ko-KR" altLang="en-US" sz="2050" b="1" dirty="0">
                <a:solidFill>
                  <a:srgbClr val="1E2A5A">
                    <a:alpha val="0"/>
                  </a:srgbClr>
                </a:solidFill>
                <a:latin typeface="맑은 고딕"/>
                <a:ea typeface="맑은 고딕"/>
                <a:cs typeface="맑은 고딕"/>
              </a:rPr>
              <a:t>①</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There are other examples of symbolic objects in Munjado.</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②</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They are bamboo in the paintings of the character chung (忠) and lotus flowers in the paintings of ui (義).</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③</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Bamboo does not bend.</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④</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It stays green in all kinds of weather.</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⑤</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For these reasons, bamboo came to symbolize loyalty to the king.</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⑥</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In the case of lotus flowers, they grow in muddy ponds but still bloom </a:t>
            </a:r>
            <a:r>
              <a:rPr lang="en-US" altLang="ko-KR" sz="2050" b="1" dirty="0">
                <a:solidFill>
                  <a:srgbClr val="1F2328">
                    <a:alpha val="0"/>
                  </a:srgbClr>
                </a:solidFill>
                <a:latin typeface="Calibri"/>
                <a:ea typeface="맑은 고딕"/>
                <a:cs typeface="Calibri"/>
              </a:rPr>
              <a:t>[ </a:t>
            </a:r>
            <a:r>
              <a:rPr lang="en-US" altLang="ko-KR" sz="2050" b="1" dirty="0">
                <a:solidFill>
                  <a:srgbClr val="1F2328">
                    <a:alpha val="0"/>
                  </a:srgbClr>
                </a:solidFill>
                <a:latin typeface="Calibri"/>
                <a:ea typeface="맑은 고딕"/>
                <a:cs typeface="Calibri"/>
              </a:rPr>
              <a:t>beautifully</a:t>
            </a:r>
            <a:r>
              <a:rPr lang="en-US" altLang="ko-KR" sz="2050" b="1" dirty="0">
                <a:solidFill>
                  <a:srgbClr val="1F2328">
                    <a:alpha val="0"/>
                  </a:srgbClr>
                </a:solidFill>
                <a:latin typeface="Calibri"/>
                <a:ea typeface="맑은 고딕"/>
                <a:cs typeface="Calibri"/>
              </a:rPr>
              <a:t> / </a:t>
            </a:r>
            <a:r>
              <a:rPr lang="en-US" altLang="ko-KR" sz="2050" b="1" dirty="0">
                <a:solidFill>
                  <a:srgbClr val="1F2328">
                    <a:alpha val="0"/>
                  </a:srgbClr>
                </a:solidFill>
                <a:latin typeface="Calibri"/>
                <a:ea typeface="맑은 고딕"/>
                <a:cs typeface="Calibri"/>
              </a:rPr>
              <a:t>beautiful</a:t>
            </a:r>
            <a:r>
              <a:rPr lang="en-US" altLang="ko-KR" sz="2050" b="1"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⑦</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They thus became a symbol of a person’s will </a:t>
            </a:r>
            <a:r>
              <a:rPr lang="en-US" altLang="ko-KR" sz="2050" b="1" dirty="0">
                <a:solidFill>
                  <a:srgbClr val="1F2328">
                    <a:alpha val="0"/>
                  </a:srgbClr>
                </a:solidFill>
                <a:latin typeface="Calibri"/>
                <a:ea typeface="맑은 고딕"/>
                <a:cs typeface="Calibri"/>
              </a:rPr>
              <a:t>[ </a:t>
            </a:r>
            <a:r>
              <a:rPr lang="en-US" altLang="ko-KR" sz="2050" b="1" dirty="0">
                <a:solidFill>
                  <a:srgbClr val="1F2328">
                    <a:alpha val="0"/>
                  </a:srgbClr>
                </a:solidFill>
                <a:latin typeface="Calibri"/>
                <a:ea typeface="맑은 고딕"/>
                <a:cs typeface="Calibri"/>
              </a:rPr>
              <a:t>to fight</a:t>
            </a:r>
            <a:r>
              <a:rPr lang="en-US" altLang="ko-KR" sz="2050" b="1" dirty="0">
                <a:solidFill>
                  <a:srgbClr val="1F2328">
                    <a:alpha val="0"/>
                  </a:srgbClr>
                </a:solidFill>
                <a:latin typeface="Calibri"/>
                <a:ea typeface="맑은 고딕"/>
                <a:cs typeface="Calibri"/>
              </a:rPr>
              <a:t> / </a:t>
            </a:r>
            <a:r>
              <a:rPr lang="en-US" altLang="ko-KR" sz="2050" b="1" dirty="0">
                <a:solidFill>
                  <a:srgbClr val="1F2328">
                    <a:alpha val="0"/>
                  </a:srgbClr>
                </a:solidFill>
                <a:latin typeface="Calibri"/>
                <a:ea typeface="맑은 고딕"/>
                <a:cs typeface="Calibri"/>
              </a:rPr>
              <a:t>fighting</a:t>
            </a:r>
            <a:r>
              <a:rPr lang="en-US" altLang="ko-KR" sz="2050" b="1"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 for justice despite difficulties.</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⑧</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Munjado was </a:t>
            </a:r>
            <a:r>
              <a:rPr lang="en-US" altLang="ko-KR" sz="2050" b="1" dirty="0">
                <a:solidFill>
                  <a:srgbClr val="1F2328">
                    <a:alpha val="0"/>
                  </a:srgbClr>
                </a:solidFill>
                <a:latin typeface="Calibri"/>
                <a:ea typeface="맑은 고딕"/>
                <a:cs typeface="Calibri"/>
              </a:rPr>
              <a:t>[ </a:t>
            </a:r>
            <a:r>
              <a:rPr lang="en-US" altLang="ko-KR" sz="2050" b="1" dirty="0">
                <a:solidFill>
                  <a:srgbClr val="1F2328">
                    <a:alpha val="0"/>
                  </a:srgbClr>
                </a:solidFill>
                <a:latin typeface="Calibri"/>
                <a:ea typeface="맑은 고딕"/>
                <a:cs typeface="Calibri"/>
              </a:rPr>
              <a:t>much</a:t>
            </a:r>
            <a:r>
              <a:rPr lang="en-US" altLang="ko-KR" sz="2050" b="1" dirty="0">
                <a:solidFill>
                  <a:srgbClr val="1F2328">
                    <a:alpha val="0"/>
                  </a:srgbClr>
                </a:solidFill>
                <a:latin typeface="Calibri"/>
                <a:ea typeface="맑은 고딕"/>
                <a:cs typeface="Calibri"/>
              </a:rPr>
              <a:t> / </a:t>
            </a:r>
            <a:r>
              <a:rPr lang="en-US" altLang="ko-KR" sz="2050" b="1" dirty="0">
                <a:solidFill>
                  <a:srgbClr val="1F2328">
                    <a:alpha val="0"/>
                  </a:srgbClr>
                </a:solidFill>
                <a:latin typeface="Calibri"/>
                <a:ea typeface="맑은 고딕"/>
                <a:cs typeface="Calibri"/>
              </a:rPr>
              <a:t>very</a:t>
            </a:r>
            <a:r>
              <a:rPr lang="en-US" altLang="ko-KR" sz="2050" b="1"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 more than a painting to people of the Joseon dynasty.</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⑨</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It reminded them of important values that greatly influenced their behaviors and attitudes.</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⑩</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In particular, for children, Munjado was a study tool.</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⑪</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Through it, children in the Joseon dynasty could </a:t>
            </a:r>
            <a:r>
              <a:rPr lang="en-US" altLang="ko-KR" sz="2050" b="1" dirty="0">
                <a:solidFill>
                  <a:srgbClr val="1F2328">
                    <a:alpha val="0"/>
                  </a:srgbClr>
                </a:solidFill>
                <a:latin typeface="Calibri"/>
                <a:ea typeface="맑은 고딕"/>
                <a:cs typeface="Calibri"/>
              </a:rPr>
              <a:t>[ </a:t>
            </a:r>
            <a:r>
              <a:rPr lang="en-US" altLang="ko-KR" sz="2050" b="1" dirty="0">
                <a:solidFill>
                  <a:srgbClr val="C00000"/>
                </a:solidFill>
                <a:highlight>
                  <a:srgbClr val="F3F5F9"/>
                </a:highlight>
                <a:latin typeface="Calibri"/>
                <a:ea typeface="맑은 고딕"/>
                <a:cs typeface="Calibri"/>
              </a:rPr>
              <a:t>learn</a:t>
            </a:r>
            <a:r>
              <a:rPr lang="en-US" altLang="ko-KR" sz="2050" b="1" dirty="0">
                <a:solidFill>
                  <a:srgbClr val="1F2328">
                    <a:alpha val="0"/>
                  </a:srgbClr>
                </a:solidFill>
                <a:latin typeface="Calibri"/>
                <a:ea typeface="맑은 고딕"/>
                <a:cs typeface="Calibri"/>
              </a:rPr>
              <a:t> / </a:t>
            </a:r>
            <a:r>
              <a:rPr lang="en-US" altLang="ko-KR" sz="2050" b="1" dirty="0">
                <a:solidFill>
                  <a:srgbClr val="1F2328">
                    <a:alpha val="0"/>
                  </a:srgbClr>
                </a:solidFill>
                <a:latin typeface="Calibri"/>
                <a:ea typeface="맑은 고딕"/>
                <a:cs typeface="Calibri"/>
              </a:rPr>
              <a:t>learned</a:t>
            </a:r>
            <a:r>
              <a:rPr lang="en-US" altLang="ko-KR" sz="2050" b="1"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 the importance of harmony in family and society.</a:t>
            </a:r>
            <a:endParaRPr lang="en-US" altLang="ko-KR" sz="2050" b="0" dirty="0">
              <a:solidFill>
                <a:srgbClr val="1F2328"/>
              </a:solidFill>
              <a:latin typeface="Calibri"/>
              <a:ea typeface="맑은 고딕"/>
              <a:cs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25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25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25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25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Lst>
  </p:timing>
</p:sld>
</file>

<file path=ppt/slides/slide280.xml><?xml version="1.0" encoding="utf-8"?>
<p:sld xmlns:a="http://schemas.openxmlformats.org/drawingml/2006/main" xmlns:p="http://schemas.openxmlformats.org/presentationml/2006/main" xmlns:r="http://schemas.openxmlformats.org/officeDocument/2006/relationships">
  <p:cSld>
    <p:bg>
      <p:bgPr>
        <a:solidFill>
          <a:srgbClr val="1E2A5A"/>
        </a:solidFill>
        <a:effectLst/>
      </p:bgPr>
    </p:bg>
    <p:spTree>
      <p:nvGrpSpPr>
        <p:cNvPr id="1" name=""/>
        <p:cNvGrpSpPr/>
        <p:nvPr/>
      </p:nvGrpSpPr>
      <p:grpSpPr/>
      <p:sp>
        <p:nvSpPr>
          <p:cNvPr id="2" name="sec_title"/>
          <p:cNvSpPr txBox="1"/>
          <p:nvPr/>
        </p:nvSpPr>
        <p:spPr>
          <a:xfrm>
            <a:off x="822960" y="1371600"/>
            <a:ext cx="10515600" cy="868680"/>
          </a:xfrm>
          <a:prstGeom prst="rect">
            <a:avLst/>
          </a:prstGeom>
          <a:noFill/>
        </p:spPr>
        <p:txBody>
          <a:bodyPr wrap="square" lIns="109728" tIns="54864" rIns="109728" bIns="54864" anchor="t" rtlCol="0">
            <a:noAutofit/>
          </a:bodyPr>
          <a:lstStyle/>
          <a:p>
            <a:pPr algn="l">
              <a:lnSpc>
                <a:spcPts val="4800"/>
              </a:lnSpc>
              <a:spcBef>
                <a:spcPts val="0"/>
              </a:spcBef>
              <a:spcAft>
                <a:spcPts val="0"/>
              </a:spcAft>
              <a:buNone/>
            </a:pPr>
            <a:r>
              <a:rPr lang="ko-KR" altLang="en-US" sz="4000" b="1" dirty="0">
                <a:solidFill>
                  <a:srgbClr val="FFE98A"/>
                </a:solidFill>
                <a:latin typeface="맑은 고딕"/>
                <a:ea typeface="맑은 고딕"/>
                <a:cs typeface="맑은 고딕"/>
              </a:rPr>
              <a:t>PART 4  </a:t>
            </a:r>
            <a:r>
              <a:rPr lang="ko-KR" altLang="en-US" sz="4000" b="1" dirty="0">
                <a:solidFill>
                  <a:srgbClr val="FFFFFF"/>
                </a:solidFill>
                <a:latin typeface="맑은 고딕"/>
                <a:ea typeface="맑은 고딕"/>
                <a:cs typeface="맑은 고딕"/>
              </a:rPr>
              <a:t>내용이해 T/F</a:t>
            </a:r>
            <a:endParaRPr lang="ko-KR" sz="4000"/>
          </a:p>
        </p:txBody>
      </p:sp>
      <p:sp>
        <p:nvSpPr>
          <p:cNvPr id="3" name="sec_exam"/>
          <p:cNvSpPr txBox="1"/>
          <p:nvPr/>
        </p:nvSpPr>
        <p:spPr>
          <a:xfrm>
            <a:off x="822960" y="2240280"/>
            <a:ext cx="10515600" cy="502920"/>
          </a:xfrm>
          <a:prstGeom prst="rect">
            <a:avLst/>
          </a:prstGeom>
          <a:noFill/>
        </p:spPr>
        <p:txBody>
          <a:bodyPr wrap="square" lIns="109728" tIns="54864" rIns="109728" bIns="54864" anchor="t" rtlCol="0">
            <a:noAutofit/>
          </a:bodyPr>
          <a:lstStyle/>
          <a:p>
            <a:pPr algn="l">
              <a:lnSpc>
                <a:spcPts val="2400"/>
              </a:lnSpc>
              <a:spcBef>
                <a:spcPts val="0"/>
              </a:spcBef>
              <a:spcAft>
                <a:spcPts val="0"/>
              </a:spcAft>
              <a:buNone/>
            </a:pPr>
            <a:r>
              <a:rPr lang="ko-KR" altLang="en-US" sz="2000" b="0" dirty="0">
                <a:solidFill>
                  <a:srgbClr val="CFD8E8"/>
                </a:solidFill>
                <a:latin typeface="맑은 고딕"/>
                <a:ea typeface="맑은 고딕"/>
                <a:cs typeface="맑은 고딕"/>
              </a:rPr>
              <a:t>중3 동아(윤정미) Lesson 8</a:t>
            </a:r>
            <a:endParaRPr lang="ko-KR" sz="2000"/>
          </a:p>
        </p:txBody>
      </p:sp>
      <p:sp>
        <p:nvSpPr>
          <p:cNvPr id="4" name="sec_ids"/>
          <p:cNvSpPr txBox="1"/>
          <p:nvPr/>
        </p:nvSpPr>
        <p:spPr>
          <a:xfrm>
            <a:off x="822960" y="2788920"/>
            <a:ext cx="10515600" cy="457200"/>
          </a:xfrm>
          <a:prstGeom prst="rect">
            <a:avLst/>
          </a:prstGeom>
          <a:noFill/>
        </p:spPr>
        <p:txBody>
          <a:bodyPr wrap="square" lIns="109728" tIns="54864" rIns="109728" bIns="54864" anchor="t" rtlCol="0">
            <a:noAutofit/>
          </a:bodyPr>
          <a:lstStyle/>
          <a:p>
            <a:pPr algn="l">
              <a:lnSpc>
                <a:spcPts val="2200"/>
              </a:lnSpc>
              <a:spcBef>
                <a:spcPts val="0"/>
              </a:spcBef>
              <a:spcAft>
                <a:spcPts val="0"/>
              </a:spcAft>
              <a:buNone/>
            </a:pPr>
            <a:r>
              <a:rPr lang="en-US" altLang="en-US" sz="1800" b="1" dirty="0">
                <a:solidFill>
                  <a:srgbClr val="AEBBD0"/>
                </a:solidFill>
                <a:latin typeface="Calibri"/>
                <a:ea typeface="맑은 고딕"/>
                <a:cs typeface="Calibri"/>
              </a:rPr>
              <a:t>L8-1  ·  L8-2  ·  L8-3</a:t>
            </a:r>
            <a:endParaRPr lang="ko-KR" sz="1800"/>
          </a:p>
        </p:txBody>
      </p:sp>
      <p:sp>
        <p:nvSpPr>
          <p:cNvPr id="5" name="sec_legend"/>
          <p:cNvSpPr/>
          <p:nvPr/>
        </p:nvSpPr>
        <p:spPr>
          <a:xfrm>
            <a:off x="822960" y="3977639"/>
            <a:ext cx="10515600" cy="1371600"/>
          </a:xfrm>
          <a:prstGeom prst="roundRect">
            <a:avLst>
              <a:gd name="adj" fmla="val 6000"/>
            </a:avLst>
          </a:prstGeom>
          <a:solidFill>
            <a:srgbClr val="27356E"/>
          </a:solidFill>
          <a:ln>
            <a:noFill/>
          </a:ln>
        </p:spPr>
        <p:txBody>
          <a:bodyPr wrap="square" lIns="320040" tIns="137160" rIns="320040" bIns="137160" anchor="ctr" rtlCol="0">
            <a:noAutofit/>
          </a:bodyPr>
          <a:lstStyle/>
          <a:p>
            <a:pPr algn="l">
              <a:lnSpc>
                <a:spcPts val="2600"/>
              </a:lnSpc>
              <a:spcBef>
                <a:spcPts val="0"/>
              </a:spcBef>
              <a:spcAft>
                <a:spcPts val="0"/>
              </a:spcAft>
              <a:buNone/>
            </a:pPr>
            <a:r>
              <a:rPr lang="ko-KR" altLang="en-US" sz="1600" b="1" dirty="0">
                <a:solidFill>
                  <a:srgbClr val="FFE98A"/>
                </a:solidFill>
                <a:latin typeface="맑은 고딕"/>
                <a:ea typeface="맑은 고딕"/>
                <a:cs typeface="맑은 고딕"/>
              </a:rPr>
              <a:t>방법</a:t>
            </a:r>
            <a:r>
              <a:rPr lang="ko-KR" altLang="en-US" sz="1600" b="0" dirty="0">
                <a:solidFill>
                  <a:srgbClr val="FFFFFF"/>
                </a:solidFill>
                <a:latin typeface="맑은 고딕"/>
                <a:ea typeface="맑은 고딕"/>
                <a:cs typeface="맑은 고딕"/>
              </a:rPr>
              <a:t>     본문 단락을 읽고, 우리말 진술이 본문과 일치하면 T, 아니면 F</a:t>
            </a:r>
            <a:endParaRPr lang="ko-KR" sz="1600"/>
          </a:p>
          <a:p>
            <a:pPr algn="l">
              <a:lnSpc>
                <a:spcPts val="2600"/>
              </a:lnSpc>
              <a:spcBef>
                <a:spcPts val="0"/>
              </a:spcBef>
              <a:spcAft>
                <a:spcPts val="0"/>
              </a:spcAft>
              <a:buNone/>
            </a:pPr>
            <a:r>
              <a:rPr lang="ko-KR" altLang="en-US" sz="1600" b="1" dirty="0">
                <a:solidFill>
                  <a:srgbClr val="FFE98A"/>
                </a:solidFill>
                <a:latin typeface="맑은 고딕"/>
                <a:ea typeface="맑은 고딕"/>
                <a:cs typeface="맑은 고딕"/>
              </a:rPr>
              <a:t>클릭</a:t>
            </a:r>
            <a:r>
              <a:rPr lang="ko-KR" altLang="en-US" sz="1600" b="0" dirty="0">
                <a:solidFill>
                  <a:srgbClr val="FFFFFF"/>
                </a:solidFill>
                <a:latin typeface="맑은 고딕"/>
                <a:ea typeface="맑은 고딕"/>
                <a:cs typeface="맑은 고딕"/>
              </a:rPr>
              <a:t>     한 번 클릭하면 5문항의 정답(T/F)이 빨간색으로 한꺼번에 공개</a:t>
            </a:r>
            <a:endParaRPr lang="ko-KR" sz="1600"/>
          </a:p>
        </p:txBody>
      </p:sp>
    </p:spTree>
  </p:cSld>
  <p:clrMapOvr>
    <a:masterClrMapping/>
  </p:clrMapOvr>
</p:sld>
</file>

<file path=ppt/slides/slide28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8000"/>
            </a:avLst>
          </a:prstGeom>
          <a:solidFill>
            <a:srgbClr val="1E2A5A"/>
          </a:solidFill>
          <a:ln>
            <a:noFill/>
          </a:ln>
        </p:spPr>
        <p:txBody>
          <a:bodyPr wrap="square" lIns="45720" tIns="18288" rIns="45720" bIns="18288" anchor="ctr" rtlCol="0">
            <a:noAutofit/>
          </a:bodyPr>
          <a:lstStyle/>
          <a:p>
            <a:pPr algn="ctr">
              <a:lnSpc>
                <a:spcPts val="2000"/>
              </a:lnSpc>
              <a:spcBef>
                <a:spcPts val="0"/>
              </a:spcBef>
              <a:spcAft>
                <a:spcPts val="0"/>
              </a:spcAft>
              <a:buNone/>
            </a:pPr>
            <a:r>
              <a:rPr lang="en-US" altLang="en-US" sz="1700" b="1" dirty="0">
                <a:solidFill>
                  <a:srgbClr val="FFFFFF"/>
                </a:solidFill>
                <a:latin typeface="Calibri"/>
                <a:ea typeface="맑은 고딕"/>
                <a:cs typeface="Calibri"/>
              </a:rPr>
              <a:t>L8-1</a:t>
            </a:r>
            <a:endParaRPr lang="ko-KR" sz="1700"/>
          </a:p>
        </p:txBody>
      </p:sp>
      <p:sp>
        <p:nvSpPr>
          <p:cNvPr id="3" name="hdr_chip"/>
          <p:cNvSpPr/>
          <p:nvPr/>
        </p:nvSpPr>
        <p:spPr>
          <a:xfrm>
            <a:off x="1755648" y="274320"/>
            <a:ext cx="1371600" cy="493776"/>
          </a:xfrm>
          <a:prstGeom prst="roundRect">
            <a:avLst>
              <a:gd name="adj" fmla="val 8000"/>
            </a:avLst>
          </a:prstGeom>
          <a:solidFill>
            <a:srgbClr val="E6EAF4"/>
          </a:solidFill>
          <a:ln>
            <a:noFill/>
          </a:ln>
        </p:spPr>
        <p:txBody>
          <a:bodyPr wrap="square" lIns="27432" tIns="18288" rIns="27432" bIns="18288" anchor="ctr" rtlCol="0">
            <a:noAutofit/>
          </a:bodyPr>
          <a:lstStyle/>
          <a:p>
            <a:pPr algn="ctr">
              <a:lnSpc>
                <a:spcPts val="1700"/>
              </a:lnSpc>
              <a:spcBef>
                <a:spcPts val="0"/>
              </a:spcBef>
              <a:spcAft>
                <a:spcPts val="0"/>
              </a:spcAft>
              <a:buNone/>
            </a:pPr>
            <a:r>
              <a:rPr lang="ko-KR" altLang="en-US" sz="1400" b="1" dirty="0">
                <a:solidFill>
                  <a:srgbClr val="1E2A5A"/>
                </a:solidFill>
                <a:latin typeface="맑은 고딕"/>
                <a:ea typeface="맑은 고딕"/>
                <a:cs typeface="맑은 고딕"/>
              </a:rPr>
              <a:t>PART 4 · 1</a:t>
            </a:r>
            <a:endParaRPr lang="ko-KR" sz="1400"/>
          </a:p>
        </p:txBody>
      </p:sp>
      <p:sp>
        <p:nvSpPr>
          <p:cNvPr id="4" name="hdr_q"/>
          <p:cNvSpPr txBox="1"/>
          <p:nvPr/>
        </p:nvSpPr>
        <p:spPr>
          <a:xfrm>
            <a:off x="3246120" y="246888"/>
            <a:ext cx="8485632" cy="548640"/>
          </a:xfrm>
          <a:prstGeom prst="rect">
            <a:avLst/>
          </a:prstGeom>
          <a:noFill/>
        </p:spPr>
        <p:txBody>
          <a:bodyPr wrap="square" lIns="109728" tIns="54864" rIns="109728" bIns="54864" anchor="ctr" rtlCol="0">
            <a:noAutofit/>
          </a:bodyPr>
          <a:lstStyle/>
          <a:p>
            <a:pPr algn="l">
              <a:lnSpc>
                <a:spcPts val="2400"/>
              </a:lnSpc>
              <a:spcBef>
                <a:spcPts val="0"/>
              </a:spcBef>
              <a:spcAft>
                <a:spcPts val="0"/>
              </a:spcAft>
              <a:buNone/>
            </a:pPr>
            <a:r>
              <a:rPr lang="ko-KR" altLang="en-US" sz="2000" b="1" dirty="0">
                <a:solidFill>
                  <a:srgbClr val="1F2328"/>
                </a:solidFill>
                <a:latin typeface="맑은 고딕"/>
                <a:ea typeface="맑은 고딕"/>
                <a:cs typeface="맑은 고딕"/>
              </a:rPr>
              <a:t>본문과 일치하면 T, 일치하지 않으면 F를 고르시오.</a:t>
            </a:r>
            <a:endParaRPr lang="ko-KR" sz="2000"/>
          </a:p>
        </p:txBody>
      </p:sp>
      <p:sp>
        <p:nvSpPr>
          <p:cNvPr id="5" name="ftr_exam"/>
          <p:cNvSpPr txBox="1"/>
          <p:nvPr/>
        </p:nvSpPr>
        <p:spPr>
          <a:xfrm>
            <a:off x="457200" y="6519672"/>
            <a:ext cx="5669280" cy="256032"/>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8</a:t>
            </a:r>
            <a:endParaRPr lang="ko-KR" sz="1000"/>
          </a:p>
        </p:txBody>
      </p:sp>
      <p:sp>
        <p:nvSpPr>
          <p:cNvPr id="6" name="ftr_hint"/>
          <p:cNvSpPr txBox="1"/>
          <p:nvPr/>
        </p:nvSpPr>
        <p:spPr>
          <a:xfrm>
            <a:off x="5971032" y="6519672"/>
            <a:ext cx="5760720" cy="256032"/>
          </a:xfrm>
          <a:prstGeom prst="rect">
            <a:avLst/>
          </a:prstGeom>
          <a:noFill/>
        </p:spPr>
        <p:txBody>
          <a:bodyPr wrap="square" lIns="0" tIns="0" rIns="0" bIns="0" anchor="t" rtlCol="0">
            <a:noAutofit/>
          </a:bodyPr>
          <a:lstStyle/>
          <a:p>
            <a:pPr algn="r">
              <a:lnSpc>
                <a:spcPts val="1200"/>
              </a:lnSpc>
              <a:spcBef>
                <a:spcPts val="0"/>
              </a:spcBef>
              <a:spcAft>
                <a:spcPts val="0"/>
              </a:spcAft>
              <a:buNone/>
            </a:pPr>
            <a:r>
              <a:rPr lang="ko-KR" altLang="en-US" sz="1000" b="0" dirty="0">
                <a:solidFill>
                  <a:srgbClr val="7A808C"/>
                </a:solidFill>
                <a:latin typeface="맑은 고딕"/>
                <a:ea typeface="맑은 고딕"/>
                <a:cs typeface="맑은 고딕"/>
              </a:rPr>
              <a:t>클릭 ① 정답(T/F) 공개</a:t>
            </a:r>
            <a:endParaRPr lang="ko-KR" sz="1000"/>
          </a:p>
        </p:txBody>
      </p:sp>
      <p:sp>
        <p:nvSpPr>
          <p:cNvPr id="7" name="passage_card"/>
          <p:cNvSpPr/>
          <p:nvPr/>
        </p:nvSpPr>
        <p:spPr>
          <a:xfrm>
            <a:off x="457200" y="950976"/>
            <a:ext cx="11274552" cy="1854708"/>
          </a:xfrm>
          <a:prstGeom prst="roundRect">
            <a:avLst>
              <a:gd name="adj" fmla="val 4000"/>
            </a:avLst>
          </a:prstGeom>
          <a:solidFill>
            <a:srgbClr val="F3F5F9"/>
          </a:solidFill>
          <a:ln w="12700">
            <a:solidFill>
              <a:srgbClr val="D9DFEA"/>
            </a:solidFill>
          </a:ln>
        </p:spPr>
        <p:txBody>
          <a:bodyPr rtlCol="0" anchor="ctr"/>
          <a:lstStyle/>
          <a:p>
            <a:pPr algn="ctr"/>
          </a:p>
        </p:txBody>
      </p:sp>
      <p:sp>
        <p:nvSpPr>
          <p:cNvPr id="8" name="passage"/>
          <p:cNvSpPr txBox="1"/>
          <p:nvPr/>
        </p:nvSpPr>
        <p:spPr>
          <a:xfrm>
            <a:off x="457200" y="950976"/>
            <a:ext cx="11274552" cy="1854708"/>
          </a:xfrm>
          <a:prstGeom prst="rect">
            <a:avLst/>
          </a:prstGeom>
          <a:noFill/>
        </p:spPr>
        <p:txBody>
          <a:bodyPr wrap="square" lIns="182880" tIns="137160" rIns="182880" bIns="137160" anchor="t" rtlCol="0">
            <a:noAutofit/>
          </a:bodyPr>
          <a:lstStyle/>
          <a:p>
            <a:pPr algn="l">
              <a:lnSpc>
                <a:spcPts val="2074"/>
              </a:lnSpc>
              <a:spcBef>
                <a:spcPts val="0"/>
              </a:spcBef>
              <a:spcAft>
                <a:spcPts val="0"/>
              </a:spcAft>
              <a:buNone/>
            </a:pPr>
            <a:r>
              <a:rPr lang="ko-KR" altLang="en-US" sz="1700" b="1" dirty="0">
                <a:solidFill>
                  <a:srgbClr val="1E2A5A"/>
                </a:solidFill>
                <a:latin typeface="맑은 고딕"/>
                <a:ea typeface="맑은 고딕"/>
                <a:cs typeface="맑은 고딕"/>
              </a:rPr>
              <a:t>① </a:t>
            </a:r>
            <a:r>
              <a:rPr lang="en-US" altLang="en-US" sz="1700" b="0" dirty="0">
                <a:solidFill>
                  <a:srgbClr val="1F2328"/>
                </a:solidFill>
                <a:latin typeface="Calibri"/>
                <a:ea typeface="맑은 고딕"/>
                <a:cs typeface="Calibri"/>
              </a:rPr>
              <a:t>Look at the painting on the right. Do you see the Chinese character, hyo (孝)? </a:t>
            </a:r>
            <a:r>
              <a:rPr lang="ko-KR" altLang="en-US" sz="1700" b="1" dirty="0">
                <a:solidFill>
                  <a:srgbClr val="1E2A5A"/>
                </a:solidFill>
                <a:latin typeface="맑은 고딕"/>
                <a:ea typeface="맑은 고딕"/>
                <a:cs typeface="맑은 고딕"/>
              </a:rPr>
              <a:t>② </a:t>
            </a:r>
            <a:r>
              <a:rPr lang="en-US" altLang="en-US" sz="1700" b="0" dirty="0">
                <a:solidFill>
                  <a:srgbClr val="1F2328"/>
                </a:solidFill>
                <a:latin typeface="Calibri"/>
                <a:ea typeface="맑은 고딕"/>
                <a:cs typeface="Calibri"/>
              </a:rPr>
              <a:t>Do you also see a carp, a geomungo, and a fan? </a:t>
            </a:r>
            <a:r>
              <a:rPr lang="ko-KR" altLang="en-US" sz="1700" b="1" dirty="0">
                <a:solidFill>
                  <a:srgbClr val="1E2A5A"/>
                </a:solidFill>
                <a:latin typeface="맑은 고딕"/>
                <a:ea typeface="맑은 고딕"/>
                <a:cs typeface="맑은 고딕"/>
              </a:rPr>
              <a:t>③ </a:t>
            </a:r>
            <a:r>
              <a:rPr lang="en-US" altLang="en-US" sz="1700" b="0" dirty="0">
                <a:solidFill>
                  <a:srgbClr val="1F2328"/>
                </a:solidFill>
                <a:latin typeface="Calibri"/>
                <a:ea typeface="맑은 고딕"/>
                <a:cs typeface="Calibri"/>
              </a:rPr>
              <a:t>This kind of painting is called Munjado, and it is a type of folk painting that was popular in the late Joseon dynasty. </a:t>
            </a:r>
            <a:r>
              <a:rPr lang="ko-KR" altLang="en-US" sz="1700" b="1" dirty="0">
                <a:solidFill>
                  <a:srgbClr val="1E2A5A"/>
                </a:solidFill>
                <a:latin typeface="맑은 고딕"/>
                <a:ea typeface="맑은 고딕"/>
                <a:cs typeface="맑은 고딕"/>
              </a:rPr>
              <a:t>④ </a:t>
            </a:r>
            <a:r>
              <a:rPr lang="en-US" altLang="en-US" sz="1700" b="0" dirty="0">
                <a:solidFill>
                  <a:srgbClr val="1F2328"/>
                </a:solidFill>
                <a:latin typeface="Calibri"/>
                <a:ea typeface="맑은 고딕"/>
                <a:cs typeface="Calibri"/>
              </a:rPr>
              <a:t>In Munjado, there is usually a Chinese character with some animals or objects. </a:t>
            </a:r>
            <a:r>
              <a:rPr lang="ko-KR" altLang="en-US" sz="1700" b="1" dirty="0">
                <a:solidFill>
                  <a:srgbClr val="1E2A5A"/>
                </a:solidFill>
                <a:latin typeface="맑은 고딕"/>
                <a:ea typeface="맑은 고딕"/>
                <a:cs typeface="맑은 고딕"/>
              </a:rPr>
              <a:t>⑤ </a:t>
            </a:r>
            <a:r>
              <a:rPr lang="en-US" altLang="en-US" sz="1700" b="0" dirty="0">
                <a:solidFill>
                  <a:srgbClr val="1F2328"/>
                </a:solidFill>
                <a:latin typeface="Calibri"/>
                <a:ea typeface="맑은 고딕"/>
                <a:cs typeface="Calibri"/>
              </a:rPr>
              <a:t>One of eight Chinese characters appears in Munjado. </a:t>
            </a:r>
            <a:r>
              <a:rPr lang="ko-KR" altLang="en-US" sz="1700" b="1" dirty="0">
                <a:solidFill>
                  <a:srgbClr val="1E2A5A"/>
                </a:solidFill>
                <a:latin typeface="맑은 고딕"/>
                <a:ea typeface="맑은 고딕"/>
                <a:cs typeface="맑은 고딕"/>
              </a:rPr>
              <a:t>⑥ </a:t>
            </a:r>
            <a:r>
              <a:rPr lang="en-US" altLang="en-US" sz="1700" b="0" dirty="0">
                <a:solidFill>
                  <a:srgbClr val="1F2328"/>
                </a:solidFill>
                <a:latin typeface="Calibri"/>
                <a:ea typeface="맑은 고딕"/>
                <a:cs typeface="Calibri"/>
              </a:rPr>
              <a:t>They are hyo (孝), je (悌), chung (忠), sin (信), ye (禮), ui (義), yeom (廉), and chi (恥), and they represent the values that were important to people of the Joseon dynasty. </a:t>
            </a:r>
            <a:endParaRPr lang="ko-KR" sz="1700"/>
          </a:p>
        </p:txBody>
      </p:sp>
      <p:sp>
        <p:nvSpPr>
          <p:cNvPr id="9" name="q_card_1"/>
          <p:cNvSpPr/>
          <p:nvPr/>
        </p:nvSpPr>
        <p:spPr>
          <a:xfrm>
            <a:off x="457200" y="2970276"/>
            <a:ext cx="11274552" cy="466217"/>
          </a:xfrm>
          <a:prstGeom prst="roundRect">
            <a:avLst>
              <a:gd name="adj" fmla="val 12000"/>
            </a:avLst>
          </a:prstGeom>
          <a:noFill/>
          <a:ln w="12700">
            <a:solidFill>
              <a:srgbClr val="D5DAE5"/>
            </a:solidFill>
          </a:ln>
        </p:spPr>
        <p:txBody>
          <a:bodyPr rtlCol="0" anchor="ctr"/>
          <a:lstStyle/>
          <a:p>
            <a:pPr algn="ctr"/>
          </a:p>
        </p:txBody>
      </p:sp>
      <p:sp>
        <p:nvSpPr>
          <p:cNvPr id="10" name="q_1"/>
          <p:cNvSpPr txBox="1"/>
          <p:nvPr/>
        </p:nvSpPr>
        <p:spPr>
          <a:xfrm>
            <a:off x="502920" y="2970276"/>
            <a:ext cx="9171432" cy="466217"/>
          </a:xfrm>
          <a:prstGeom prst="rect">
            <a:avLst/>
          </a:prstGeom>
          <a:noFill/>
        </p:spPr>
        <p:txBody>
          <a:bodyPr wrap="square" lIns="109728" tIns="45720" rIns="109728" bIns="45720" anchor="ctr" rtlCol="0">
            <a:noAutofit/>
          </a:bodyPr>
          <a:lstStyle/>
          <a:p>
            <a:pPr algn="l">
              <a:lnSpc>
                <a:spcPts val="2375"/>
              </a:lnSpc>
              <a:spcBef>
                <a:spcPts val="0"/>
              </a:spcBef>
              <a:spcAft>
                <a:spcPts val="0"/>
              </a:spcAft>
              <a:buNone/>
            </a:pPr>
            <a:r>
              <a:rPr lang="en-US" altLang="en-US" sz="1900" b="1" dirty="0">
                <a:solidFill>
                  <a:srgbClr val="1E2A5A"/>
                </a:solidFill>
                <a:latin typeface="Calibri"/>
                <a:ea typeface="맑은 고딕"/>
                <a:cs typeface="Calibri"/>
              </a:rPr>
              <a:t>1.  </a:t>
            </a:r>
            <a:r>
              <a:rPr lang="ko-KR" altLang="en-US" sz="1900" b="0" dirty="0">
                <a:solidFill>
                  <a:srgbClr val="1F2328"/>
                </a:solidFill>
                <a:latin typeface="맑은 고딕"/>
                <a:ea typeface="맑은 고딕"/>
                <a:cs typeface="맑은 고딕"/>
              </a:rPr>
              <a:t>오른쪽 그림에는 한자 효(孝)가 있다.</a:t>
            </a:r>
            <a:endParaRPr lang="ko-KR" sz="1900"/>
          </a:p>
        </p:txBody>
      </p:sp>
      <p:sp>
        <p:nvSpPr>
          <p:cNvPr id="11" name="tf_1"/>
          <p:cNvSpPr txBox="1"/>
          <p:nvPr/>
        </p:nvSpPr>
        <p:spPr>
          <a:xfrm>
            <a:off x="9765792" y="2970276"/>
            <a:ext cx="1828800" cy="466217"/>
          </a:xfrm>
          <a:prstGeom prst="rect">
            <a:avLst/>
          </a:prstGeom>
          <a:noFill/>
        </p:spPr>
        <p:txBody>
          <a:bodyPr wrap="square" lIns="18288" tIns="18288" rIns="18288" bIns="18288" anchor="ctr" rtlCol="0">
            <a:noAutofit/>
          </a:bodyPr>
          <a:lstStyle/>
          <a:p>
            <a:pPr algn="ctr">
              <a:lnSpc>
                <a:spcPts val="2375"/>
              </a:lnSpc>
              <a:spcBef>
                <a:spcPts val="0"/>
              </a:spcBef>
              <a:spcAft>
                <a:spcPts val="0"/>
              </a:spcAft>
              <a:buNone/>
            </a:pPr>
            <a:r>
              <a:rPr lang="en-US" altLang="en-US" sz="1900" b="1" dirty="0">
                <a:solidFill>
                  <a:srgbClr val="9AA3B5"/>
                </a:solidFill>
                <a:latin typeface="Calibri"/>
                <a:ea typeface="맑은 고딕"/>
                <a:cs typeface="Calibri"/>
              </a:rPr>
              <a:t>T   /   F</a:t>
            </a:r>
            <a:endParaRPr lang="ko-KR" sz="1900"/>
          </a:p>
        </p:txBody>
      </p:sp>
      <p:sp>
        <p:nvSpPr>
          <p:cNvPr id="12" name="rv_ans_1"/>
          <p:cNvSpPr/>
          <p:nvPr/>
        </p:nvSpPr>
        <p:spPr>
          <a:xfrm>
            <a:off x="9765792" y="3015996"/>
            <a:ext cx="1828800" cy="374777"/>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640"/>
              </a:lnSpc>
              <a:spcBef>
                <a:spcPts val="0"/>
              </a:spcBef>
              <a:spcAft>
                <a:spcPts val="0"/>
              </a:spcAft>
              <a:buNone/>
            </a:pPr>
            <a:r>
              <a:rPr lang="en-US" altLang="en-US" sz="2200" b="1" dirty="0">
                <a:solidFill>
                  <a:srgbClr val="C00000"/>
                </a:solidFill>
                <a:latin typeface="Calibri"/>
                <a:ea typeface="맑은 고딕"/>
                <a:cs typeface="Calibri"/>
              </a:rPr>
              <a:t>T</a:t>
            </a:r>
            <a:endParaRPr lang="ko-KR" sz="2200"/>
          </a:p>
        </p:txBody>
      </p:sp>
      <p:sp>
        <p:nvSpPr>
          <p:cNvPr id="13" name="q_card_2"/>
          <p:cNvSpPr/>
          <p:nvPr/>
        </p:nvSpPr>
        <p:spPr>
          <a:xfrm>
            <a:off x="457200" y="3509645"/>
            <a:ext cx="11274552" cy="466217"/>
          </a:xfrm>
          <a:prstGeom prst="roundRect">
            <a:avLst>
              <a:gd name="adj" fmla="val 12000"/>
            </a:avLst>
          </a:prstGeom>
          <a:noFill/>
          <a:ln w="12700">
            <a:solidFill>
              <a:srgbClr val="D5DAE5"/>
            </a:solidFill>
          </a:ln>
        </p:spPr>
        <p:txBody>
          <a:bodyPr rtlCol="0" anchor="ctr"/>
          <a:lstStyle/>
          <a:p>
            <a:pPr algn="ctr"/>
          </a:p>
        </p:txBody>
      </p:sp>
      <p:sp>
        <p:nvSpPr>
          <p:cNvPr id="14" name="q_2"/>
          <p:cNvSpPr txBox="1"/>
          <p:nvPr/>
        </p:nvSpPr>
        <p:spPr>
          <a:xfrm>
            <a:off x="502920" y="3509645"/>
            <a:ext cx="9171432" cy="466217"/>
          </a:xfrm>
          <a:prstGeom prst="rect">
            <a:avLst/>
          </a:prstGeom>
          <a:noFill/>
        </p:spPr>
        <p:txBody>
          <a:bodyPr wrap="square" lIns="109728" tIns="45720" rIns="109728" bIns="45720" anchor="ctr" rtlCol="0">
            <a:noAutofit/>
          </a:bodyPr>
          <a:lstStyle/>
          <a:p>
            <a:pPr algn="l">
              <a:lnSpc>
                <a:spcPts val="2375"/>
              </a:lnSpc>
              <a:spcBef>
                <a:spcPts val="0"/>
              </a:spcBef>
              <a:spcAft>
                <a:spcPts val="0"/>
              </a:spcAft>
              <a:buNone/>
            </a:pPr>
            <a:r>
              <a:rPr lang="en-US" altLang="en-US" sz="1900" b="1" dirty="0">
                <a:solidFill>
                  <a:srgbClr val="1E2A5A"/>
                </a:solidFill>
                <a:latin typeface="Calibri"/>
                <a:ea typeface="맑은 고딕"/>
                <a:cs typeface="Calibri"/>
              </a:rPr>
              <a:t>2.  </a:t>
            </a:r>
            <a:r>
              <a:rPr lang="ko-KR" altLang="en-US" sz="1900" b="0" dirty="0">
                <a:solidFill>
                  <a:srgbClr val="1F2328"/>
                </a:solidFill>
                <a:latin typeface="맑은 고딕"/>
                <a:ea typeface="맑은 고딕"/>
                <a:cs typeface="맑은 고딕"/>
              </a:rPr>
              <a:t>그림에는 잉어, 거문고, 부채가 보인다.</a:t>
            </a:r>
            <a:endParaRPr lang="ko-KR" sz="1900"/>
          </a:p>
        </p:txBody>
      </p:sp>
      <p:sp>
        <p:nvSpPr>
          <p:cNvPr id="15" name="tf_2"/>
          <p:cNvSpPr txBox="1"/>
          <p:nvPr/>
        </p:nvSpPr>
        <p:spPr>
          <a:xfrm>
            <a:off x="9765792" y="3509645"/>
            <a:ext cx="1828800" cy="466217"/>
          </a:xfrm>
          <a:prstGeom prst="rect">
            <a:avLst/>
          </a:prstGeom>
          <a:noFill/>
        </p:spPr>
        <p:txBody>
          <a:bodyPr wrap="square" lIns="18288" tIns="18288" rIns="18288" bIns="18288" anchor="ctr" rtlCol="0">
            <a:noAutofit/>
          </a:bodyPr>
          <a:lstStyle/>
          <a:p>
            <a:pPr algn="ctr">
              <a:lnSpc>
                <a:spcPts val="2375"/>
              </a:lnSpc>
              <a:spcBef>
                <a:spcPts val="0"/>
              </a:spcBef>
              <a:spcAft>
                <a:spcPts val="0"/>
              </a:spcAft>
              <a:buNone/>
            </a:pPr>
            <a:r>
              <a:rPr lang="en-US" altLang="en-US" sz="1900" b="1" dirty="0">
                <a:solidFill>
                  <a:srgbClr val="9AA3B5"/>
                </a:solidFill>
                <a:latin typeface="Calibri"/>
                <a:ea typeface="맑은 고딕"/>
                <a:cs typeface="Calibri"/>
              </a:rPr>
              <a:t>T   /   F</a:t>
            </a:r>
            <a:endParaRPr lang="ko-KR" sz="1900"/>
          </a:p>
        </p:txBody>
      </p:sp>
      <p:sp>
        <p:nvSpPr>
          <p:cNvPr id="16" name="rv_ans_2"/>
          <p:cNvSpPr/>
          <p:nvPr/>
        </p:nvSpPr>
        <p:spPr>
          <a:xfrm>
            <a:off x="9765792" y="3555365"/>
            <a:ext cx="1828800" cy="374777"/>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640"/>
              </a:lnSpc>
              <a:spcBef>
                <a:spcPts val="0"/>
              </a:spcBef>
              <a:spcAft>
                <a:spcPts val="0"/>
              </a:spcAft>
              <a:buNone/>
            </a:pPr>
            <a:r>
              <a:rPr lang="en-US" altLang="en-US" sz="2200" b="1" dirty="0">
                <a:solidFill>
                  <a:srgbClr val="C00000"/>
                </a:solidFill>
                <a:latin typeface="Calibri"/>
                <a:ea typeface="맑은 고딕"/>
                <a:cs typeface="Calibri"/>
              </a:rPr>
              <a:t>T</a:t>
            </a:r>
            <a:endParaRPr lang="ko-KR" sz="2200"/>
          </a:p>
        </p:txBody>
      </p:sp>
      <p:sp>
        <p:nvSpPr>
          <p:cNvPr id="17" name="q_card_3"/>
          <p:cNvSpPr/>
          <p:nvPr/>
        </p:nvSpPr>
        <p:spPr>
          <a:xfrm>
            <a:off x="457200" y="4049014"/>
            <a:ext cx="11274552" cy="466217"/>
          </a:xfrm>
          <a:prstGeom prst="roundRect">
            <a:avLst>
              <a:gd name="adj" fmla="val 12000"/>
            </a:avLst>
          </a:prstGeom>
          <a:noFill/>
          <a:ln w="12700">
            <a:solidFill>
              <a:srgbClr val="D5DAE5"/>
            </a:solidFill>
          </a:ln>
        </p:spPr>
        <p:txBody>
          <a:bodyPr rtlCol="0" anchor="ctr"/>
          <a:lstStyle/>
          <a:p>
            <a:pPr algn="ctr"/>
          </a:p>
        </p:txBody>
      </p:sp>
      <p:sp>
        <p:nvSpPr>
          <p:cNvPr id="18" name="q_3"/>
          <p:cNvSpPr txBox="1"/>
          <p:nvPr/>
        </p:nvSpPr>
        <p:spPr>
          <a:xfrm>
            <a:off x="502920" y="4049014"/>
            <a:ext cx="9171432" cy="466217"/>
          </a:xfrm>
          <a:prstGeom prst="rect">
            <a:avLst/>
          </a:prstGeom>
          <a:noFill/>
        </p:spPr>
        <p:txBody>
          <a:bodyPr wrap="square" lIns="109728" tIns="45720" rIns="109728" bIns="45720" anchor="ctr" rtlCol="0">
            <a:noAutofit/>
          </a:bodyPr>
          <a:lstStyle/>
          <a:p>
            <a:pPr algn="l">
              <a:lnSpc>
                <a:spcPts val="2375"/>
              </a:lnSpc>
              <a:spcBef>
                <a:spcPts val="0"/>
              </a:spcBef>
              <a:spcAft>
                <a:spcPts val="0"/>
              </a:spcAft>
              <a:buNone/>
            </a:pPr>
            <a:r>
              <a:rPr lang="en-US" altLang="en-US" sz="1900" b="1" dirty="0">
                <a:solidFill>
                  <a:srgbClr val="1E2A5A"/>
                </a:solidFill>
                <a:latin typeface="Calibri"/>
                <a:ea typeface="맑은 고딕"/>
                <a:cs typeface="Calibri"/>
              </a:rPr>
              <a:t>3.  </a:t>
            </a:r>
            <a:r>
              <a:rPr lang="ko-KR" altLang="en-US" sz="1900" b="0" dirty="0">
                <a:solidFill>
                  <a:srgbClr val="1F2328"/>
                </a:solidFill>
                <a:latin typeface="맑은 고딕"/>
                <a:ea typeface="맑은 고딕"/>
                <a:cs typeface="맑은 고딕"/>
              </a:rPr>
              <a:t>그림에는 호랑이와 소나무가 보인다고 나와 있다.</a:t>
            </a:r>
            <a:endParaRPr lang="ko-KR" sz="1900"/>
          </a:p>
        </p:txBody>
      </p:sp>
      <p:sp>
        <p:nvSpPr>
          <p:cNvPr id="19" name="tf_3"/>
          <p:cNvSpPr txBox="1"/>
          <p:nvPr/>
        </p:nvSpPr>
        <p:spPr>
          <a:xfrm>
            <a:off x="9765792" y="4049014"/>
            <a:ext cx="1828800" cy="466217"/>
          </a:xfrm>
          <a:prstGeom prst="rect">
            <a:avLst/>
          </a:prstGeom>
          <a:noFill/>
        </p:spPr>
        <p:txBody>
          <a:bodyPr wrap="square" lIns="18288" tIns="18288" rIns="18288" bIns="18288" anchor="ctr" rtlCol="0">
            <a:noAutofit/>
          </a:bodyPr>
          <a:lstStyle/>
          <a:p>
            <a:pPr algn="ctr">
              <a:lnSpc>
                <a:spcPts val="2375"/>
              </a:lnSpc>
              <a:spcBef>
                <a:spcPts val="0"/>
              </a:spcBef>
              <a:spcAft>
                <a:spcPts val="0"/>
              </a:spcAft>
              <a:buNone/>
            </a:pPr>
            <a:r>
              <a:rPr lang="en-US" altLang="en-US" sz="1900" b="1" dirty="0">
                <a:solidFill>
                  <a:srgbClr val="9AA3B5"/>
                </a:solidFill>
                <a:latin typeface="Calibri"/>
                <a:ea typeface="맑은 고딕"/>
                <a:cs typeface="Calibri"/>
              </a:rPr>
              <a:t>T   /   F</a:t>
            </a:r>
            <a:endParaRPr lang="ko-KR" sz="1900"/>
          </a:p>
        </p:txBody>
      </p:sp>
      <p:sp>
        <p:nvSpPr>
          <p:cNvPr id="20" name="rv_ans_3"/>
          <p:cNvSpPr/>
          <p:nvPr/>
        </p:nvSpPr>
        <p:spPr>
          <a:xfrm>
            <a:off x="9765792" y="4094734"/>
            <a:ext cx="1828800" cy="374777"/>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640"/>
              </a:lnSpc>
              <a:spcBef>
                <a:spcPts val="0"/>
              </a:spcBef>
              <a:spcAft>
                <a:spcPts val="0"/>
              </a:spcAft>
              <a:buNone/>
            </a:pPr>
            <a:r>
              <a:rPr lang="en-US" altLang="en-US" sz="2200" b="1" dirty="0">
                <a:solidFill>
                  <a:srgbClr val="C00000"/>
                </a:solidFill>
                <a:latin typeface="Calibri"/>
                <a:ea typeface="맑은 고딕"/>
                <a:cs typeface="Calibri"/>
              </a:rPr>
              <a:t>F</a:t>
            </a:r>
            <a:endParaRPr lang="ko-KR" sz="2200"/>
          </a:p>
        </p:txBody>
      </p:sp>
      <p:sp>
        <p:nvSpPr>
          <p:cNvPr id="21" name="q_card_4"/>
          <p:cNvSpPr/>
          <p:nvPr/>
        </p:nvSpPr>
        <p:spPr>
          <a:xfrm>
            <a:off x="457200" y="4588383"/>
            <a:ext cx="11274552" cy="466217"/>
          </a:xfrm>
          <a:prstGeom prst="roundRect">
            <a:avLst>
              <a:gd name="adj" fmla="val 12000"/>
            </a:avLst>
          </a:prstGeom>
          <a:noFill/>
          <a:ln w="12700">
            <a:solidFill>
              <a:srgbClr val="D5DAE5"/>
            </a:solidFill>
          </a:ln>
        </p:spPr>
        <p:txBody>
          <a:bodyPr rtlCol="0" anchor="ctr"/>
          <a:lstStyle/>
          <a:p>
            <a:pPr algn="ctr"/>
          </a:p>
        </p:txBody>
      </p:sp>
      <p:sp>
        <p:nvSpPr>
          <p:cNvPr id="22" name="q_4"/>
          <p:cNvSpPr txBox="1"/>
          <p:nvPr/>
        </p:nvSpPr>
        <p:spPr>
          <a:xfrm>
            <a:off x="502920" y="4588383"/>
            <a:ext cx="9171432" cy="466217"/>
          </a:xfrm>
          <a:prstGeom prst="rect">
            <a:avLst/>
          </a:prstGeom>
          <a:noFill/>
        </p:spPr>
        <p:txBody>
          <a:bodyPr wrap="square" lIns="109728" tIns="45720" rIns="109728" bIns="45720" anchor="ctr" rtlCol="0">
            <a:noAutofit/>
          </a:bodyPr>
          <a:lstStyle/>
          <a:p>
            <a:pPr algn="l">
              <a:lnSpc>
                <a:spcPts val="2375"/>
              </a:lnSpc>
              <a:spcBef>
                <a:spcPts val="0"/>
              </a:spcBef>
              <a:spcAft>
                <a:spcPts val="0"/>
              </a:spcAft>
              <a:buNone/>
            </a:pPr>
            <a:r>
              <a:rPr lang="en-US" altLang="en-US" sz="1900" b="1" dirty="0">
                <a:solidFill>
                  <a:srgbClr val="1E2A5A"/>
                </a:solidFill>
                <a:latin typeface="Calibri"/>
                <a:ea typeface="맑은 고딕"/>
                <a:cs typeface="Calibri"/>
              </a:rPr>
              <a:t>4.  </a:t>
            </a:r>
            <a:r>
              <a:rPr lang="ko-KR" altLang="en-US" sz="1900" b="0" dirty="0">
                <a:solidFill>
                  <a:srgbClr val="1F2328"/>
                </a:solidFill>
                <a:latin typeface="맑은 고딕"/>
                <a:ea typeface="맑은 고딕"/>
                <a:cs typeface="맑은 고딕"/>
              </a:rPr>
              <a:t>이런 종류의 그림을 문자도라고 한다.</a:t>
            </a:r>
            <a:endParaRPr lang="ko-KR" sz="1900"/>
          </a:p>
        </p:txBody>
      </p:sp>
      <p:sp>
        <p:nvSpPr>
          <p:cNvPr id="23" name="tf_4"/>
          <p:cNvSpPr txBox="1"/>
          <p:nvPr/>
        </p:nvSpPr>
        <p:spPr>
          <a:xfrm>
            <a:off x="9765792" y="4588383"/>
            <a:ext cx="1828800" cy="466217"/>
          </a:xfrm>
          <a:prstGeom prst="rect">
            <a:avLst/>
          </a:prstGeom>
          <a:noFill/>
        </p:spPr>
        <p:txBody>
          <a:bodyPr wrap="square" lIns="18288" tIns="18288" rIns="18288" bIns="18288" anchor="ctr" rtlCol="0">
            <a:noAutofit/>
          </a:bodyPr>
          <a:lstStyle/>
          <a:p>
            <a:pPr algn="ctr">
              <a:lnSpc>
                <a:spcPts val="2375"/>
              </a:lnSpc>
              <a:spcBef>
                <a:spcPts val="0"/>
              </a:spcBef>
              <a:spcAft>
                <a:spcPts val="0"/>
              </a:spcAft>
              <a:buNone/>
            </a:pPr>
            <a:r>
              <a:rPr lang="en-US" altLang="en-US" sz="1900" b="1" dirty="0">
                <a:solidFill>
                  <a:srgbClr val="9AA3B5"/>
                </a:solidFill>
                <a:latin typeface="Calibri"/>
                <a:ea typeface="맑은 고딕"/>
                <a:cs typeface="Calibri"/>
              </a:rPr>
              <a:t>T   /   F</a:t>
            </a:r>
            <a:endParaRPr lang="ko-KR" sz="1900"/>
          </a:p>
        </p:txBody>
      </p:sp>
      <p:sp>
        <p:nvSpPr>
          <p:cNvPr id="24" name="rv_ans_4"/>
          <p:cNvSpPr/>
          <p:nvPr/>
        </p:nvSpPr>
        <p:spPr>
          <a:xfrm>
            <a:off x="9765792" y="4634103"/>
            <a:ext cx="1828800" cy="374777"/>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640"/>
              </a:lnSpc>
              <a:spcBef>
                <a:spcPts val="0"/>
              </a:spcBef>
              <a:spcAft>
                <a:spcPts val="0"/>
              </a:spcAft>
              <a:buNone/>
            </a:pPr>
            <a:r>
              <a:rPr lang="en-US" altLang="en-US" sz="2200" b="1" dirty="0">
                <a:solidFill>
                  <a:srgbClr val="C00000"/>
                </a:solidFill>
                <a:latin typeface="Calibri"/>
                <a:ea typeface="맑은 고딕"/>
                <a:cs typeface="Calibri"/>
              </a:rPr>
              <a:t>T</a:t>
            </a:r>
            <a:endParaRPr lang="ko-KR" sz="2200"/>
          </a:p>
        </p:txBody>
      </p:sp>
      <p:sp>
        <p:nvSpPr>
          <p:cNvPr id="25" name="q_card_5"/>
          <p:cNvSpPr/>
          <p:nvPr/>
        </p:nvSpPr>
        <p:spPr>
          <a:xfrm>
            <a:off x="457200" y="5127752"/>
            <a:ext cx="11274552" cy="466217"/>
          </a:xfrm>
          <a:prstGeom prst="roundRect">
            <a:avLst>
              <a:gd name="adj" fmla="val 12000"/>
            </a:avLst>
          </a:prstGeom>
          <a:noFill/>
          <a:ln w="12700">
            <a:solidFill>
              <a:srgbClr val="D5DAE5"/>
            </a:solidFill>
          </a:ln>
        </p:spPr>
        <p:txBody>
          <a:bodyPr rtlCol="0" anchor="ctr"/>
          <a:lstStyle/>
          <a:p>
            <a:pPr algn="ctr"/>
          </a:p>
        </p:txBody>
      </p:sp>
      <p:sp>
        <p:nvSpPr>
          <p:cNvPr id="26" name="q_5"/>
          <p:cNvSpPr txBox="1"/>
          <p:nvPr/>
        </p:nvSpPr>
        <p:spPr>
          <a:xfrm>
            <a:off x="502920" y="5127752"/>
            <a:ext cx="9171432" cy="466217"/>
          </a:xfrm>
          <a:prstGeom prst="rect">
            <a:avLst/>
          </a:prstGeom>
          <a:noFill/>
        </p:spPr>
        <p:txBody>
          <a:bodyPr wrap="square" lIns="109728" tIns="45720" rIns="109728" bIns="45720" anchor="ctr" rtlCol="0">
            <a:noAutofit/>
          </a:bodyPr>
          <a:lstStyle/>
          <a:p>
            <a:pPr algn="l">
              <a:lnSpc>
                <a:spcPts val="2375"/>
              </a:lnSpc>
              <a:spcBef>
                <a:spcPts val="0"/>
              </a:spcBef>
              <a:spcAft>
                <a:spcPts val="0"/>
              </a:spcAft>
              <a:buNone/>
            </a:pPr>
            <a:r>
              <a:rPr lang="en-US" altLang="en-US" sz="1900" b="1" dirty="0">
                <a:solidFill>
                  <a:srgbClr val="1E2A5A"/>
                </a:solidFill>
                <a:latin typeface="Calibri"/>
                <a:ea typeface="맑은 고딕"/>
                <a:cs typeface="Calibri"/>
              </a:rPr>
              <a:t>5.  </a:t>
            </a:r>
            <a:r>
              <a:rPr lang="ko-KR" altLang="en-US" sz="1900" b="0" dirty="0">
                <a:solidFill>
                  <a:srgbClr val="1F2328"/>
                </a:solidFill>
                <a:latin typeface="맑은 고딕"/>
                <a:ea typeface="맑은 고딕"/>
                <a:cs typeface="맑은 고딕"/>
              </a:rPr>
              <a:t>문자도는 조선 시대 초기에 인기 있었던 민화이다.</a:t>
            </a:r>
            <a:endParaRPr lang="ko-KR" sz="1900"/>
          </a:p>
        </p:txBody>
      </p:sp>
      <p:sp>
        <p:nvSpPr>
          <p:cNvPr id="27" name="tf_5"/>
          <p:cNvSpPr txBox="1"/>
          <p:nvPr/>
        </p:nvSpPr>
        <p:spPr>
          <a:xfrm>
            <a:off x="9765792" y="5127752"/>
            <a:ext cx="1828800" cy="466217"/>
          </a:xfrm>
          <a:prstGeom prst="rect">
            <a:avLst/>
          </a:prstGeom>
          <a:noFill/>
        </p:spPr>
        <p:txBody>
          <a:bodyPr wrap="square" lIns="18288" tIns="18288" rIns="18288" bIns="18288" anchor="ctr" rtlCol="0">
            <a:noAutofit/>
          </a:bodyPr>
          <a:lstStyle/>
          <a:p>
            <a:pPr algn="ctr">
              <a:lnSpc>
                <a:spcPts val="2375"/>
              </a:lnSpc>
              <a:spcBef>
                <a:spcPts val="0"/>
              </a:spcBef>
              <a:spcAft>
                <a:spcPts val="0"/>
              </a:spcAft>
              <a:buNone/>
            </a:pPr>
            <a:r>
              <a:rPr lang="en-US" altLang="en-US" sz="1900" b="1" dirty="0">
                <a:solidFill>
                  <a:srgbClr val="9AA3B5"/>
                </a:solidFill>
                <a:latin typeface="Calibri"/>
                <a:ea typeface="맑은 고딕"/>
                <a:cs typeface="Calibri"/>
              </a:rPr>
              <a:t>T   /   F</a:t>
            </a:r>
            <a:endParaRPr lang="ko-KR" sz="1900"/>
          </a:p>
        </p:txBody>
      </p:sp>
      <p:sp>
        <p:nvSpPr>
          <p:cNvPr id="28" name="rv_ans_5"/>
          <p:cNvSpPr/>
          <p:nvPr/>
        </p:nvSpPr>
        <p:spPr>
          <a:xfrm>
            <a:off x="9765792" y="5173472"/>
            <a:ext cx="1828800" cy="374777"/>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640"/>
              </a:lnSpc>
              <a:spcBef>
                <a:spcPts val="0"/>
              </a:spcBef>
              <a:spcAft>
                <a:spcPts val="0"/>
              </a:spcAft>
              <a:buNone/>
            </a:pPr>
            <a:r>
              <a:rPr lang="en-US" altLang="en-US" sz="2200" b="1" dirty="0">
                <a:solidFill>
                  <a:srgbClr val="C00000"/>
                </a:solidFill>
                <a:latin typeface="Calibri"/>
                <a:ea typeface="맑은 고딕"/>
                <a:cs typeface="Calibri"/>
              </a:rPr>
              <a:t>F</a:t>
            </a:r>
            <a:endParaRPr lang="ko-KR" sz="22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25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250"/>
                                        <p:tgtEl>
                                          <p:spTgt spid="1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0"/>
                                        </p:tgtEl>
                                        <p:attrNameLst>
                                          <p:attrName>style.visibility</p:attrName>
                                        </p:attrNameLst>
                                      </p:cBhvr>
                                      <p:to>
                                        <p:strVal val="visible"/>
                                      </p:to>
                                    </p:set>
                                    <p:animEffect transition="in" filter="fade">
                                      <p:cBhvr>
                                        <p:cTn id="13" dur="250"/>
                                        <p:tgtEl>
                                          <p:spTgt spid="20"/>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4"/>
                                        </p:tgtEl>
                                        <p:attrNameLst>
                                          <p:attrName>style.visibility</p:attrName>
                                        </p:attrNameLst>
                                      </p:cBhvr>
                                      <p:to>
                                        <p:strVal val="visible"/>
                                      </p:to>
                                    </p:set>
                                    <p:animEffect transition="in" filter="fade">
                                      <p:cBhvr>
                                        <p:cTn id="16" dur="250"/>
                                        <p:tgtEl>
                                          <p:spTgt spid="24"/>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8"/>
                                        </p:tgtEl>
                                        <p:attrNameLst>
                                          <p:attrName>style.visibility</p:attrName>
                                        </p:attrNameLst>
                                      </p:cBhvr>
                                      <p:to>
                                        <p:strVal val="visible"/>
                                      </p:to>
                                    </p:set>
                                    <p:animEffect transition="in" filter="fade">
                                      <p:cBhvr>
                                        <p:cTn id="19" dur="25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6" grpId="0" animBg="1"/>
      <p:bldP spid="20" grpId="0" animBg="1"/>
      <p:bldP spid="24" grpId="0" animBg="1"/>
      <p:bldP spid="28" grpId="0" animBg="1"/>
    </p:bldLst>
  </p:timing>
</p:sld>
</file>

<file path=ppt/slides/slide28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8000"/>
            </a:avLst>
          </a:prstGeom>
          <a:solidFill>
            <a:srgbClr val="1E2A5A"/>
          </a:solidFill>
          <a:ln>
            <a:noFill/>
          </a:ln>
        </p:spPr>
        <p:txBody>
          <a:bodyPr wrap="square" lIns="45720" tIns="18288" rIns="45720" bIns="18288" anchor="ctr" rtlCol="0">
            <a:noAutofit/>
          </a:bodyPr>
          <a:lstStyle/>
          <a:p>
            <a:pPr algn="ctr">
              <a:lnSpc>
                <a:spcPts val="2000"/>
              </a:lnSpc>
              <a:spcBef>
                <a:spcPts val="0"/>
              </a:spcBef>
              <a:spcAft>
                <a:spcPts val="0"/>
              </a:spcAft>
              <a:buNone/>
            </a:pPr>
            <a:r>
              <a:rPr lang="en-US" altLang="en-US" sz="1700" b="1" dirty="0">
                <a:solidFill>
                  <a:srgbClr val="FFFFFF"/>
                </a:solidFill>
                <a:latin typeface="Calibri"/>
                <a:ea typeface="맑은 고딕"/>
                <a:cs typeface="Calibri"/>
              </a:rPr>
              <a:t>L8-1</a:t>
            </a:r>
            <a:endParaRPr lang="ko-KR" sz="1700"/>
          </a:p>
        </p:txBody>
      </p:sp>
      <p:sp>
        <p:nvSpPr>
          <p:cNvPr id="3" name="hdr_chip"/>
          <p:cNvSpPr/>
          <p:nvPr/>
        </p:nvSpPr>
        <p:spPr>
          <a:xfrm>
            <a:off x="1755648" y="274320"/>
            <a:ext cx="1371600" cy="493776"/>
          </a:xfrm>
          <a:prstGeom prst="roundRect">
            <a:avLst>
              <a:gd name="adj" fmla="val 8000"/>
            </a:avLst>
          </a:prstGeom>
          <a:solidFill>
            <a:srgbClr val="E6EAF4"/>
          </a:solidFill>
          <a:ln>
            <a:noFill/>
          </a:ln>
        </p:spPr>
        <p:txBody>
          <a:bodyPr wrap="square" lIns="27432" tIns="18288" rIns="27432" bIns="18288" anchor="ctr" rtlCol="0">
            <a:noAutofit/>
          </a:bodyPr>
          <a:lstStyle/>
          <a:p>
            <a:pPr algn="ctr">
              <a:lnSpc>
                <a:spcPts val="1700"/>
              </a:lnSpc>
              <a:spcBef>
                <a:spcPts val="0"/>
              </a:spcBef>
              <a:spcAft>
                <a:spcPts val="0"/>
              </a:spcAft>
              <a:buNone/>
            </a:pPr>
            <a:r>
              <a:rPr lang="ko-KR" altLang="en-US" sz="1400" b="1" dirty="0">
                <a:solidFill>
                  <a:srgbClr val="1E2A5A"/>
                </a:solidFill>
                <a:latin typeface="맑은 고딕"/>
                <a:ea typeface="맑은 고딕"/>
                <a:cs typeface="맑은 고딕"/>
              </a:rPr>
              <a:t>PART 4 · 2</a:t>
            </a:r>
            <a:endParaRPr lang="ko-KR" sz="1400"/>
          </a:p>
        </p:txBody>
      </p:sp>
      <p:sp>
        <p:nvSpPr>
          <p:cNvPr id="4" name="hdr_q"/>
          <p:cNvSpPr txBox="1"/>
          <p:nvPr/>
        </p:nvSpPr>
        <p:spPr>
          <a:xfrm>
            <a:off x="3246120" y="246888"/>
            <a:ext cx="8485632" cy="548640"/>
          </a:xfrm>
          <a:prstGeom prst="rect">
            <a:avLst/>
          </a:prstGeom>
          <a:noFill/>
        </p:spPr>
        <p:txBody>
          <a:bodyPr wrap="square" lIns="109728" tIns="54864" rIns="109728" bIns="54864" anchor="ctr" rtlCol="0">
            <a:noAutofit/>
          </a:bodyPr>
          <a:lstStyle/>
          <a:p>
            <a:pPr algn="l">
              <a:lnSpc>
                <a:spcPts val="2400"/>
              </a:lnSpc>
              <a:spcBef>
                <a:spcPts val="0"/>
              </a:spcBef>
              <a:spcAft>
                <a:spcPts val="0"/>
              </a:spcAft>
              <a:buNone/>
            </a:pPr>
            <a:r>
              <a:rPr lang="ko-KR" altLang="en-US" sz="2000" b="1" dirty="0">
                <a:solidFill>
                  <a:srgbClr val="1F2328"/>
                </a:solidFill>
                <a:latin typeface="맑은 고딕"/>
                <a:ea typeface="맑은 고딕"/>
                <a:cs typeface="맑은 고딕"/>
              </a:rPr>
              <a:t>본문과 일치하면 T, 일치하지 않으면 F를 고르시오.</a:t>
            </a:r>
            <a:endParaRPr lang="ko-KR" sz="2000"/>
          </a:p>
        </p:txBody>
      </p:sp>
      <p:sp>
        <p:nvSpPr>
          <p:cNvPr id="5" name="ftr_exam"/>
          <p:cNvSpPr txBox="1"/>
          <p:nvPr/>
        </p:nvSpPr>
        <p:spPr>
          <a:xfrm>
            <a:off x="457200" y="6519672"/>
            <a:ext cx="5669280" cy="256032"/>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8</a:t>
            </a:r>
            <a:endParaRPr lang="ko-KR" sz="1000"/>
          </a:p>
        </p:txBody>
      </p:sp>
      <p:sp>
        <p:nvSpPr>
          <p:cNvPr id="6" name="ftr_hint"/>
          <p:cNvSpPr txBox="1"/>
          <p:nvPr/>
        </p:nvSpPr>
        <p:spPr>
          <a:xfrm>
            <a:off x="5971032" y="6519672"/>
            <a:ext cx="5760720" cy="256032"/>
          </a:xfrm>
          <a:prstGeom prst="rect">
            <a:avLst/>
          </a:prstGeom>
          <a:noFill/>
        </p:spPr>
        <p:txBody>
          <a:bodyPr wrap="square" lIns="0" tIns="0" rIns="0" bIns="0" anchor="t" rtlCol="0">
            <a:noAutofit/>
          </a:bodyPr>
          <a:lstStyle/>
          <a:p>
            <a:pPr algn="r">
              <a:lnSpc>
                <a:spcPts val="1200"/>
              </a:lnSpc>
              <a:spcBef>
                <a:spcPts val="0"/>
              </a:spcBef>
              <a:spcAft>
                <a:spcPts val="0"/>
              </a:spcAft>
              <a:buNone/>
            </a:pPr>
            <a:r>
              <a:rPr lang="ko-KR" altLang="en-US" sz="1000" b="0" dirty="0">
                <a:solidFill>
                  <a:srgbClr val="7A808C"/>
                </a:solidFill>
                <a:latin typeface="맑은 고딕"/>
                <a:ea typeface="맑은 고딕"/>
                <a:cs typeface="맑은 고딕"/>
              </a:rPr>
              <a:t>클릭 ① 정답(T/F) 공개</a:t>
            </a:r>
            <a:endParaRPr lang="ko-KR" sz="1000"/>
          </a:p>
        </p:txBody>
      </p:sp>
      <p:sp>
        <p:nvSpPr>
          <p:cNvPr id="7" name="passage_card"/>
          <p:cNvSpPr/>
          <p:nvPr/>
        </p:nvSpPr>
        <p:spPr>
          <a:xfrm>
            <a:off x="457200" y="950976"/>
            <a:ext cx="11274552" cy="1854708"/>
          </a:xfrm>
          <a:prstGeom prst="roundRect">
            <a:avLst>
              <a:gd name="adj" fmla="val 4000"/>
            </a:avLst>
          </a:prstGeom>
          <a:solidFill>
            <a:srgbClr val="F3F5F9"/>
          </a:solidFill>
          <a:ln w="12700">
            <a:solidFill>
              <a:srgbClr val="D9DFEA"/>
            </a:solidFill>
          </a:ln>
        </p:spPr>
        <p:txBody>
          <a:bodyPr rtlCol="0" anchor="ctr"/>
          <a:lstStyle/>
          <a:p>
            <a:pPr algn="ctr"/>
          </a:p>
        </p:txBody>
      </p:sp>
      <p:sp>
        <p:nvSpPr>
          <p:cNvPr id="8" name="passage"/>
          <p:cNvSpPr txBox="1"/>
          <p:nvPr/>
        </p:nvSpPr>
        <p:spPr>
          <a:xfrm>
            <a:off x="457200" y="950976"/>
            <a:ext cx="11274552" cy="1854708"/>
          </a:xfrm>
          <a:prstGeom prst="rect">
            <a:avLst/>
          </a:prstGeom>
          <a:noFill/>
        </p:spPr>
        <p:txBody>
          <a:bodyPr wrap="square" lIns="182880" tIns="137160" rIns="182880" bIns="137160" anchor="t" rtlCol="0">
            <a:noAutofit/>
          </a:bodyPr>
          <a:lstStyle/>
          <a:p>
            <a:pPr algn="l">
              <a:lnSpc>
                <a:spcPts val="2074"/>
              </a:lnSpc>
              <a:spcBef>
                <a:spcPts val="0"/>
              </a:spcBef>
              <a:spcAft>
                <a:spcPts val="0"/>
              </a:spcAft>
              <a:buNone/>
            </a:pPr>
            <a:r>
              <a:rPr lang="ko-KR" altLang="en-US" sz="1700" b="1" dirty="0">
                <a:solidFill>
                  <a:srgbClr val="1E2A5A"/>
                </a:solidFill>
                <a:latin typeface="맑은 고딕"/>
                <a:ea typeface="맑은 고딕"/>
                <a:cs typeface="맑은 고딕"/>
              </a:rPr>
              <a:t>① </a:t>
            </a:r>
            <a:r>
              <a:rPr lang="en-US" altLang="en-US" sz="1700" b="0" dirty="0">
                <a:solidFill>
                  <a:srgbClr val="1F2328"/>
                </a:solidFill>
                <a:latin typeface="Calibri"/>
                <a:ea typeface="맑은 고딕"/>
                <a:cs typeface="Calibri"/>
              </a:rPr>
              <a:t>Look at the painting on the right. Do you see the Chinese character, hyo (孝)? </a:t>
            </a:r>
            <a:r>
              <a:rPr lang="ko-KR" altLang="en-US" sz="1700" b="1" dirty="0">
                <a:solidFill>
                  <a:srgbClr val="1E2A5A"/>
                </a:solidFill>
                <a:latin typeface="맑은 고딕"/>
                <a:ea typeface="맑은 고딕"/>
                <a:cs typeface="맑은 고딕"/>
              </a:rPr>
              <a:t>② </a:t>
            </a:r>
            <a:r>
              <a:rPr lang="en-US" altLang="en-US" sz="1700" b="0" dirty="0">
                <a:solidFill>
                  <a:srgbClr val="1F2328"/>
                </a:solidFill>
                <a:latin typeface="Calibri"/>
                <a:ea typeface="맑은 고딕"/>
                <a:cs typeface="Calibri"/>
              </a:rPr>
              <a:t>Do you also see a carp, a geomungo, and a fan? </a:t>
            </a:r>
            <a:r>
              <a:rPr lang="ko-KR" altLang="en-US" sz="1700" b="1" dirty="0">
                <a:solidFill>
                  <a:srgbClr val="1E2A5A"/>
                </a:solidFill>
                <a:latin typeface="맑은 고딕"/>
                <a:ea typeface="맑은 고딕"/>
                <a:cs typeface="맑은 고딕"/>
              </a:rPr>
              <a:t>③ </a:t>
            </a:r>
            <a:r>
              <a:rPr lang="en-US" altLang="en-US" sz="1700" b="0" dirty="0">
                <a:solidFill>
                  <a:srgbClr val="1F2328"/>
                </a:solidFill>
                <a:latin typeface="Calibri"/>
                <a:ea typeface="맑은 고딕"/>
                <a:cs typeface="Calibri"/>
              </a:rPr>
              <a:t>This kind of painting is called Munjado, and it is a type of folk painting that was popular in the late Joseon dynasty. </a:t>
            </a:r>
            <a:r>
              <a:rPr lang="ko-KR" altLang="en-US" sz="1700" b="1" dirty="0">
                <a:solidFill>
                  <a:srgbClr val="1E2A5A"/>
                </a:solidFill>
                <a:latin typeface="맑은 고딕"/>
                <a:ea typeface="맑은 고딕"/>
                <a:cs typeface="맑은 고딕"/>
              </a:rPr>
              <a:t>④ </a:t>
            </a:r>
            <a:r>
              <a:rPr lang="en-US" altLang="en-US" sz="1700" b="0" dirty="0">
                <a:solidFill>
                  <a:srgbClr val="1F2328"/>
                </a:solidFill>
                <a:latin typeface="Calibri"/>
                <a:ea typeface="맑은 고딕"/>
                <a:cs typeface="Calibri"/>
              </a:rPr>
              <a:t>In Munjado, there is usually a Chinese character with some animals or objects. </a:t>
            </a:r>
            <a:r>
              <a:rPr lang="ko-KR" altLang="en-US" sz="1700" b="1" dirty="0">
                <a:solidFill>
                  <a:srgbClr val="1E2A5A"/>
                </a:solidFill>
                <a:latin typeface="맑은 고딕"/>
                <a:ea typeface="맑은 고딕"/>
                <a:cs typeface="맑은 고딕"/>
              </a:rPr>
              <a:t>⑤ </a:t>
            </a:r>
            <a:r>
              <a:rPr lang="en-US" altLang="en-US" sz="1700" b="0" dirty="0">
                <a:solidFill>
                  <a:srgbClr val="1F2328"/>
                </a:solidFill>
                <a:latin typeface="Calibri"/>
                <a:ea typeface="맑은 고딕"/>
                <a:cs typeface="Calibri"/>
              </a:rPr>
              <a:t>One of eight Chinese characters appears in Munjado. </a:t>
            </a:r>
            <a:r>
              <a:rPr lang="ko-KR" altLang="en-US" sz="1700" b="1" dirty="0">
                <a:solidFill>
                  <a:srgbClr val="1E2A5A"/>
                </a:solidFill>
                <a:latin typeface="맑은 고딕"/>
                <a:ea typeface="맑은 고딕"/>
                <a:cs typeface="맑은 고딕"/>
              </a:rPr>
              <a:t>⑥ </a:t>
            </a:r>
            <a:r>
              <a:rPr lang="en-US" altLang="en-US" sz="1700" b="0" dirty="0">
                <a:solidFill>
                  <a:srgbClr val="1F2328"/>
                </a:solidFill>
                <a:latin typeface="Calibri"/>
                <a:ea typeface="맑은 고딕"/>
                <a:cs typeface="Calibri"/>
              </a:rPr>
              <a:t>They are hyo (孝), je (悌), chung (忠), sin (信), ye (禮), ui (義), yeom (廉), and chi (恥), and they represent the values that were important to people of the Joseon dynasty. </a:t>
            </a:r>
            <a:endParaRPr lang="ko-KR" sz="1700"/>
          </a:p>
        </p:txBody>
      </p:sp>
      <p:sp>
        <p:nvSpPr>
          <p:cNvPr id="9" name="q_card_1"/>
          <p:cNvSpPr/>
          <p:nvPr/>
        </p:nvSpPr>
        <p:spPr>
          <a:xfrm>
            <a:off x="457200" y="2970276"/>
            <a:ext cx="11274552" cy="466217"/>
          </a:xfrm>
          <a:prstGeom prst="roundRect">
            <a:avLst>
              <a:gd name="adj" fmla="val 12000"/>
            </a:avLst>
          </a:prstGeom>
          <a:noFill/>
          <a:ln w="12700">
            <a:solidFill>
              <a:srgbClr val="D5DAE5"/>
            </a:solidFill>
          </a:ln>
        </p:spPr>
        <p:txBody>
          <a:bodyPr rtlCol="0" anchor="ctr"/>
          <a:lstStyle/>
          <a:p>
            <a:pPr algn="ctr"/>
          </a:p>
        </p:txBody>
      </p:sp>
      <p:sp>
        <p:nvSpPr>
          <p:cNvPr id="10" name="q_1"/>
          <p:cNvSpPr txBox="1"/>
          <p:nvPr/>
        </p:nvSpPr>
        <p:spPr>
          <a:xfrm>
            <a:off x="502920" y="2970276"/>
            <a:ext cx="9171432" cy="466217"/>
          </a:xfrm>
          <a:prstGeom prst="rect">
            <a:avLst/>
          </a:prstGeom>
          <a:noFill/>
        </p:spPr>
        <p:txBody>
          <a:bodyPr wrap="square" lIns="109728" tIns="45720" rIns="109728" bIns="45720" anchor="ctr" rtlCol="0">
            <a:noAutofit/>
          </a:bodyPr>
          <a:lstStyle/>
          <a:p>
            <a:pPr algn="l">
              <a:lnSpc>
                <a:spcPts val="2375"/>
              </a:lnSpc>
              <a:spcBef>
                <a:spcPts val="0"/>
              </a:spcBef>
              <a:spcAft>
                <a:spcPts val="0"/>
              </a:spcAft>
              <a:buNone/>
            </a:pPr>
            <a:r>
              <a:rPr lang="en-US" altLang="en-US" sz="1900" b="1" dirty="0">
                <a:solidFill>
                  <a:srgbClr val="1E2A5A"/>
                </a:solidFill>
                <a:latin typeface="Calibri"/>
                <a:ea typeface="맑은 고딕"/>
                <a:cs typeface="Calibri"/>
              </a:rPr>
              <a:t>6.  </a:t>
            </a:r>
            <a:r>
              <a:rPr lang="ko-KR" altLang="en-US" sz="1900" b="0" dirty="0">
                <a:solidFill>
                  <a:srgbClr val="1F2328"/>
                </a:solidFill>
                <a:latin typeface="맑은 고딕"/>
                <a:ea typeface="맑은 고딕"/>
                <a:cs typeface="맑은 고딕"/>
              </a:rPr>
              <a:t>문자도는 민화의 한 종류이다.</a:t>
            </a:r>
            <a:endParaRPr lang="ko-KR" sz="1900"/>
          </a:p>
        </p:txBody>
      </p:sp>
      <p:sp>
        <p:nvSpPr>
          <p:cNvPr id="11" name="tf_1"/>
          <p:cNvSpPr txBox="1"/>
          <p:nvPr/>
        </p:nvSpPr>
        <p:spPr>
          <a:xfrm>
            <a:off x="9765792" y="2970276"/>
            <a:ext cx="1828800" cy="466217"/>
          </a:xfrm>
          <a:prstGeom prst="rect">
            <a:avLst/>
          </a:prstGeom>
          <a:noFill/>
        </p:spPr>
        <p:txBody>
          <a:bodyPr wrap="square" lIns="18288" tIns="18288" rIns="18288" bIns="18288" anchor="ctr" rtlCol="0">
            <a:noAutofit/>
          </a:bodyPr>
          <a:lstStyle/>
          <a:p>
            <a:pPr algn="ctr">
              <a:lnSpc>
                <a:spcPts val="2375"/>
              </a:lnSpc>
              <a:spcBef>
                <a:spcPts val="0"/>
              </a:spcBef>
              <a:spcAft>
                <a:spcPts val="0"/>
              </a:spcAft>
              <a:buNone/>
            </a:pPr>
            <a:r>
              <a:rPr lang="en-US" altLang="en-US" sz="1900" b="1" dirty="0">
                <a:solidFill>
                  <a:srgbClr val="9AA3B5"/>
                </a:solidFill>
                <a:latin typeface="Calibri"/>
                <a:ea typeface="맑은 고딕"/>
                <a:cs typeface="Calibri"/>
              </a:rPr>
              <a:t>T   /   F</a:t>
            </a:r>
            <a:endParaRPr lang="ko-KR" sz="1900"/>
          </a:p>
        </p:txBody>
      </p:sp>
      <p:sp>
        <p:nvSpPr>
          <p:cNvPr id="12" name="rv_ans_1"/>
          <p:cNvSpPr/>
          <p:nvPr/>
        </p:nvSpPr>
        <p:spPr>
          <a:xfrm>
            <a:off x="9765792" y="3015996"/>
            <a:ext cx="1828800" cy="374777"/>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640"/>
              </a:lnSpc>
              <a:spcBef>
                <a:spcPts val="0"/>
              </a:spcBef>
              <a:spcAft>
                <a:spcPts val="0"/>
              </a:spcAft>
              <a:buNone/>
            </a:pPr>
            <a:r>
              <a:rPr lang="en-US" altLang="en-US" sz="2200" b="1" dirty="0">
                <a:solidFill>
                  <a:srgbClr val="C00000"/>
                </a:solidFill>
                <a:latin typeface="Calibri"/>
                <a:ea typeface="맑은 고딕"/>
                <a:cs typeface="Calibri"/>
              </a:rPr>
              <a:t>T</a:t>
            </a:r>
            <a:endParaRPr lang="ko-KR" sz="2200"/>
          </a:p>
        </p:txBody>
      </p:sp>
      <p:sp>
        <p:nvSpPr>
          <p:cNvPr id="13" name="q_card_2"/>
          <p:cNvSpPr/>
          <p:nvPr/>
        </p:nvSpPr>
        <p:spPr>
          <a:xfrm>
            <a:off x="457200" y="3509645"/>
            <a:ext cx="11274552" cy="466217"/>
          </a:xfrm>
          <a:prstGeom prst="roundRect">
            <a:avLst>
              <a:gd name="adj" fmla="val 12000"/>
            </a:avLst>
          </a:prstGeom>
          <a:noFill/>
          <a:ln w="12700">
            <a:solidFill>
              <a:srgbClr val="D5DAE5"/>
            </a:solidFill>
          </a:ln>
        </p:spPr>
        <p:txBody>
          <a:bodyPr rtlCol="0" anchor="ctr"/>
          <a:lstStyle/>
          <a:p>
            <a:pPr algn="ctr"/>
          </a:p>
        </p:txBody>
      </p:sp>
      <p:sp>
        <p:nvSpPr>
          <p:cNvPr id="14" name="q_2"/>
          <p:cNvSpPr txBox="1"/>
          <p:nvPr/>
        </p:nvSpPr>
        <p:spPr>
          <a:xfrm>
            <a:off x="502920" y="3509645"/>
            <a:ext cx="9171432" cy="466217"/>
          </a:xfrm>
          <a:prstGeom prst="rect">
            <a:avLst/>
          </a:prstGeom>
          <a:noFill/>
        </p:spPr>
        <p:txBody>
          <a:bodyPr wrap="square" lIns="109728" tIns="45720" rIns="109728" bIns="45720" anchor="ctr" rtlCol="0">
            <a:noAutofit/>
          </a:bodyPr>
          <a:lstStyle/>
          <a:p>
            <a:pPr algn="l">
              <a:lnSpc>
                <a:spcPts val="2375"/>
              </a:lnSpc>
              <a:spcBef>
                <a:spcPts val="0"/>
              </a:spcBef>
              <a:spcAft>
                <a:spcPts val="0"/>
              </a:spcAft>
              <a:buNone/>
            </a:pPr>
            <a:r>
              <a:rPr lang="en-US" altLang="en-US" sz="1900" b="1" dirty="0">
                <a:solidFill>
                  <a:srgbClr val="1E2A5A"/>
                </a:solidFill>
                <a:latin typeface="Calibri"/>
                <a:ea typeface="맑은 고딕"/>
                <a:cs typeface="Calibri"/>
              </a:rPr>
              <a:t>7.  </a:t>
            </a:r>
            <a:r>
              <a:rPr lang="ko-KR" altLang="en-US" sz="1900" b="0" dirty="0">
                <a:solidFill>
                  <a:srgbClr val="1F2328"/>
                </a:solidFill>
                <a:latin typeface="맑은 고딕"/>
                <a:ea typeface="맑은 고딕"/>
                <a:cs typeface="맑은 고딕"/>
              </a:rPr>
              <a:t>문자도에는 보통 한자 하나가 동물이나 사물과 함께 나온다.</a:t>
            </a:r>
            <a:endParaRPr lang="ko-KR" sz="1900"/>
          </a:p>
        </p:txBody>
      </p:sp>
      <p:sp>
        <p:nvSpPr>
          <p:cNvPr id="15" name="tf_2"/>
          <p:cNvSpPr txBox="1"/>
          <p:nvPr/>
        </p:nvSpPr>
        <p:spPr>
          <a:xfrm>
            <a:off x="9765792" y="3509645"/>
            <a:ext cx="1828800" cy="466217"/>
          </a:xfrm>
          <a:prstGeom prst="rect">
            <a:avLst/>
          </a:prstGeom>
          <a:noFill/>
        </p:spPr>
        <p:txBody>
          <a:bodyPr wrap="square" lIns="18288" tIns="18288" rIns="18288" bIns="18288" anchor="ctr" rtlCol="0">
            <a:noAutofit/>
          </a:bodyPr>
          <a:lstStyle/>
          <a:p>
            <a:pPr algn="ctr">
              <a:lnSpc>
                <a:spcPts val="2375"/>
              </a:lnSpc>
              <a:spcBef>
                <a:spcPts val="0"/>
              </a:spcBef>
              <a:spcAft>
                <a:spcPts val="0"/>
              </a:spcAft>
              <a:buNone/>
            </a:pPr>
            <a:r>
              <a:rPr lang="en-US" altLang="en-US" sz="1900" b="1" dirty="0">
                <a:solidFill>
                  <a:srgbClr val="9AA3B5"/>
                </a:solidFill>
                <a:latin typeface="Calibri"/>
                <a:ea typeface="맑은 고딕"/>
                <a:cs typeface="Calibri"/>
              </a:rPr>
              <a:t>T   /   F</a:t>
            </a:r>
            <a:endParaRPr lang="ko-KR" sz="1900"/>
          </a:p>
        </p:txBody>
      </p:sp>
      <p:sp>
        <p:nvSpPr>
          <p:cNvPr id="16" name="rv_ans_2"/>
          <p:cNvSpPr/>
          <p:nvPr/>
        </p:nvSpPr>
        <p:spPr>
          <a:xfrm>
            <a:off x="9765792" y="3555365"/>
            <a:ext cx="1828800" cy="374777"/>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640"/>
              </a:lnSpc>
              <a:spcBef>
                <a:spcPts val="0"/>
              </a:spcBef>
              <a:spcAft>
                <a:spcPts val="0"/>
              </a:spcAft>
              <a:buNone/>
            </a:pPr>
            <a:r>
              <a:rPr lang="en-US" altLang="en-US" sz="2200" b="1" dirty="0">
                <a:solidFill>
                  <a:srgbClr val="C00000"/>
                </a:solidFill>
                <a:latin typeface="Calibri"/>
                <a:ea typeface="맑은 고딕"/>
                <a:cs typeface="Calibri"/>
              </a:rPr>
              <a:t>T</a:t>
            </a:r>
            <a:endParaRPr lang="ko-KR" sz="2200"/>
          </a:p>
        </p:txBody>
      </p:sp>
      <p:sp>
        <p:nvSpPr>
          <p:cNvPr id="17" name="q_card_3"/>
          <p:cNvSpPr/>
          <p:nvPr/>
        </p:nvSpPr>
        <p:spPr>
          <a:xfrm>
            <a:off x="457200" y="4049014"/>
            <a:ext cx="11274552" cy="466217"/>
          </a:xfrm>
          <a:prstGeom prst="roundRect">
            <a:avLst>
              <a:gd name="adj" fmla="val 12000"/>
            </a:avLst>
          </a:prstGeom>
          <a:noFill/>
          <a:ln w="12700">
            <a:solidFill>
              <a:srgbClr val="D5DAE5"/>
            </a:solidFill>
          </a:ln>
        </p:spPr>
        <p:txBody>
          <a:bodyPr rtlCol="0" anchor="ctr"/>
          <a:lstStyle/>
          <a:p>
            <a:pPr algn="ctr"/>
          </a:p>
        </p:txBody>
      </p:sp>
      <p:sp>
        <p:nvSpPr>
          <p:cNvPr id="18" name="q_3"/>
          <p:cNvSpPr txBox="1"/>
          <p:nvPr/>
        </p:nvSpPr>
        <p:spPr>
          <a:xfrm>
            <a:off x="502920" y="4049014"/>
            <a:ext cx="9171432" cy="466217"/>
          </a:xfrm>
          <a:prstGeom prst="rect">
            <a:avLst/>
          </a:prstGeom>
          <a:noFill/>
        </p:spPr>
        <p:txBody>
          <a:bodyPr wrap="square" lIns="109728" tIns="45720" rIns="109728" bIns="45720" anchor="ctr" rtlCol="0">
            <a:noAutofit/>
          </a:bodyPr>
          <a:lstStyle/>
          <a:p>
            <a:pPr algn="l">
              <a:lnSpc>
                <a:spcPts val="2375"/>
              </a:lnSpc>
              <a:spcBef>
                <a:spcPts val="0"/>
              </a:spcBef>
              <a:spcAft>
                <a:spcPts val="0"/>
              </a:spcAft>
              <a:buNone/>
            </a:pPr>
            <a:r>
              <a:rPr lang="en-US" altLang="en-US" sz="1900" b="1" dirty="0">
                <a:solidFill>
                  <a:srgbClr val="1E2A5A"/>
                </a:solidFill>
                <a:latin typeface="Calibri"/>
                <a:ea typeface="맑은 고딕"/>
                <a:cs typeface="Calibri"/>
              </a:rPr>
              <a:t>8.  </a:t>
            </a:r>
            <a:r>
              <a:rPr lang="ko-KR" altLang="en-US" sz="1900" b="0" dirty="0">
                <a:solidFill>
                  <a:srgbClr val="1F2328"/>
                </a:solidFill>
                <a:latin typeface="맑은 고딕"/>
                <a:ea typeface="맑은 고딕"/>
                <a:cs typeface="맑은 고딕"/>
              </a:rPr>
              <a:t>문자도에는 열 개의 한자 중 하나가 나온다.</a:t>
            </a:r>
            <a:endParaRPr lang="ko-KR" sz="1900"/>
          </a:p>
        </p:txBody>
      </p:sp>
      <p:sp>
        <p:nvSpPr>
          <p:cNvPr id="19" name="tf_3"/>
          <p:cNvSpPr txBox="1"/>
          <p:nvPr/>
        </p:nvSpPr>
        <p:spPr>
          <a:xfrm>
            <a:off x="9765792" y="4049014"/>
            <a:ext cx="1828800" cy="466217"/>
          </a:xfrm>
          <a:prstGeom prst="rect">
            <a:avLst/>
          </a:prstGeom>
          <a:noFill/>
        </p:spPr>
        <p:txBody>
          <a:bodyPr wrap="square" lIns="18288" tIns="18288" rIns="18288" bIns="18288" anchor="ctr" rtlCol="0">
            <a:noAutofit/>
          </a:bodyPr>
          <a:lstStyle/>
          <a:p>
            <a:pPr algn="ctr">
              <a:lnSpc>
                <a:spcPts val="2375"/>
              </a:lnSpc>
              <a:spcBef>
                <a:spcPts val="0"/>
              </a:spcBef>
              <a:spcAft>
                <a:spcPts val="0"/>
              </a:spcAft>
              <a:buNone/>
            </a:pPr>
            <a:r>
              <a:rPr lang="en-US" altLang="en-US" sz="1900" b="1" dirty="0">
                <a:solidFill>
                  <a:srgbClr val="9AA3B5"/>
                </a:solidFill>
                <a:latin typeface="Calibri"/>
                <a:ea typeface="맑은 고딕"/>
                <a:cs typeface="Calibri"/>
              </a:rPr>
              <a:t>T   /   F</a:t>
            </a:r>
            <a:endParaRPr lang="ko-KR" sz="1900"/>
          </a:p>
        </p:txBody>
      </p:sp>
      <p:sp>
        <p:nvSpPr>
          <p:cNvPr id="20" name="rv_ans_3"/>
          <p:cNvSpPr/>
          <p:nvPr/>
        </p:nvSpPr>
        <p:spPr>
          <a:xfrm>
            <a:off x="9765792" y="4094734"/>
            <a:ext cx="1828800" cy="374777"/>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640"/>
              </a:lnSpc>
              <a:spcBef>
                <a:spcPts val="0"/>
              </a:spcBef>
              <a:spcAft>
                <a:spcPts val="0"/>
              </a:spcAft>
              <a:buNone/>
            </a:pPr>
            <a:r>
              <a:rPr lang="en-US" altLang="en-US" sz="2200" b="1" dirty="0">
                <a:solidFill>
                  <a:srgbClr val="C00000"/>
                </a:solidFill>
                <a:latin typeface="Calibri"/>
                <a:ea typeface="맑은 고딕"/>
                <a:cs typeface="Calibri"/>
              </a:rPr>
              <a:t>F</a:t>
            </a:r>
            <a:endParaRPr lang="ko-KR" sz="2200"/>
          </a:p>
        </p:txBody>
      </p:sp>
      <p:sp>
        <p:nvSpPr>
          <p:cNvPr id="21" name="q_card_4"/>
          <p:cNvSpPr/>
          <p:nvPr/>
        </p:nvSpPr>
        <p:spPr>
          <a:xfrm>
            <a:off x="457200" y="4588383"/>
            <a:ext cx="11274552" cy="466217"/>
          </a:xfrm>
          <a:prstGeom prst="roundRect">
            <a:avLst>
              <a:gd name="adj" fmla="val 12000"/>
            </a:avLst>
          </a:prstGeom>
          <a:noFill/>
          <a:ln w="12700">
            <a:solidFill>
              <a:srgbClr val="D5DAE5"/>
            </a:solidFill>
          </a:ln>
        </p:spPr>
        <p:txBody>
          <a:bodyPr rtlCol="0" anchor="ctr"/>
          <a:lstStyle/>
          <a:p>
            <a:pPr algn="ctr"/>
          </a:p>
        </p:txBody>
      </p:sp>
      <p:sp>
        <p:nvSpPr>
          <p:cNvPr id="22" name="q_4"/>
          <p:cNvSpPr txBox="1"/>
          <p:nvPr/>
        </p:nvSpPr>
        <p:spPr>
          <a:xfrm>
            <a:off x="502920" y="4588383"/>
            <a:ext cx="9171432" cy="466217"/>
          </a:xfrm>
          <a:prstGeom prst="rect">
            <a:avLst/>
          </a:prstGeom>
          <a:noFill/>
        </p:spPr>
        <p:txBody>
          <a:bodyPr wrap="square" lIns="109728" tIns="45720" rIns="109728" bIns="45720" anchor="ctr" rtlCol="0">
            <a:noAutofit/>
          </a:bodyPr>
          <a:lstStyle/>
          <a:p>
            <a:pPr algn="l">
              <a:lnSpc>
                <a:spcPts val="2375"/>
              </a:lnSpc>
              <a:spcBef>
                <a:spcPts val="0"/>
              </a:spcBef>
              <a:spcAft>
                <a:spcPts val="0"/>
              </a:spcAft>
              <a:buNone/>
            </a:pPr>
            <a:r>
              <a:rPr lang="en-US" altLang="en-US" sz="1900" b="1" dirty="0">
                <a:solidFill>
                  <a:srgbClr val="1E2A5A"/>
                </a:solidFill>
                <a:latin typeface="Calibri"/>
                <a:ea typeface="맑은 고딕"/>
                <a:cs typeface="Calibri"/>
              </a:rPr>
              <a:t>9.  </a:t>
            </a:r>
            <a:r>
              <a:rPr lang="ko-KR" altLang="en-US" sz="1900" b="0" dirty="0">
                <a:solidFill>
                  <a:srgbClr val="1F2328"/>
                </a:solidFill>
                <a:latin typeface="맑은 고딕"/>
                <a:ea typeface="맑은 고딕"/>
                <a:cs typeface="맑은 고딕"/>
              </a:rPr>
              <a:t>문자도의 한자에는 충(忠)과 신(信)이 포함된다.</a:t>
            </a:r>
            <a:endParaRPr lang="ko-KR" sz="1900"/>
          </a:p>
        </p:txBody>
      </p:sp>
      <p:sp>
        <p:nvSpPr>
          <p:cNvPr id="23" name="tf_4"/>
          <p:cNvSpPr txBox="1"/>
          <p:nvPr/>
        </p:nvSpPr>
        <p:spPr>
          <a:xfrm>
            <a:off x="9765792" y="4588383"/>
            <a:ext cx="1828800" cy="466217"/>
          </a:xfrm>
          <a:prstGeom prst="rect">
            <a:avLst/>
          </a:prstGeom>
          <a:noFill/>
        </p:spPr>
        <p:txBody>
          <a:bodyPr wrap="square" lIns="18288" tIns="18288" rIns="18288" bIns="18288" anchor="ctr" rtlCol="0">
            <a:noAutofit/>
          </a:bodyPr>
          <a:lstStyle/>
          <a:p>
            <a:pPr algn="ctr">
              <a:lnSpc>
                <a:spcPts val="2375"/>
              </a:lnSpc>
              <a:spcBef>
                <a:spcPts val="0"/>
              </a:spcBef>
              <a:spcAft>
                <a:spcPts val="0"/>
              </a:spcAft>
              <a:buNone/>
            </a:pPr>
            <a:r>
              <a:rPr lang="en-US" altLang="en-US" sz="1900" b="1" dirty="0">
                <a:solidFill>
                  <a:srgbClr val="9AA3B5"/>
                </a:solidFill>
                <a:latin typeface="Calibri"/>
                <a:ea typeface="맑은 고딕"/>
                <a:cs typeface="Calibri"/>
              </a:rPr>
              <a:t>T   /   F</a:t>
            </a:r>
            <a:endParaRPr lang="ko-KR" sz="1900"/>
          </a:p>
        </p:txBody>
      </p:sp>
      <p:sp>
        <p:nvSpPr>
          <p:cNvPr id="24" name="rv_ans_4"/>
          <p:cNvSpPr/>
          <p:nvPr/>
        </p:nvSpPr>
        <p:spPr>
          <a:xfrm>
            <a:off x="9765792" y="4634103"/>
            <a:ext cx="1828800" cy="374777"/>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640"/>
              </a:lnSpc>
              <a:spcBef>
                <a:spcPts val="0"/>
              </a:spcBef>
              <a:spcAft>
                <a:spcPts val="0"/>
              </a:spcAft>
              <a:buNone/>
            </a:pPr>
            <a:r>
              <a:rPr lang="en-US" altLang="en-US" sz="2200" b="1" dirty="0">
                <a:solidFill>
                  <a:srgbClr val="C00000"/>
                </a:solidFill>
                <a:latin typeface="Calibri"/>
                <a:ea typeface="맑은 고딕"/>
                <a:cs typeface="Calibri"/>
              </a:rPr>
              <a:t>T</a:t>
            </a:r>
            <a:endParaRPr lang="ko-KR" sz="2200"/>
          </a:p>
        </p:txBody>
      </p:sp>
      <p:sp>
        <p:nvSpPr>
          <p:cNvPr id="25" name="q_card_5"/>
          <p:cNvSpPr/>
          <p:nvPr/>
        </p:nvSpPr>
        <p:spPr>
          <a:xfrm>
            <a:off x="457200" y="5127752"/>
            <a:ext cx="11274552" cy="767842"/>
          </a:xfrm>
          <a:prstGeom prst="roundRect">
            <a:avLst>
              <a:gd name="adj" fmla="val 12000"/>
            </a:avLst>
          </a:prstGeom>
          <a:noFill/>
          <a:ln w="12700">
            <a:solidFill>
              <a:srgbClr val="D5DAE5"/>
            </a:solidFill>
          </a:ln>
        </p:spPr>
        <p:txBody>
          <a:bodyPr rtlCol="0" anchor="ctr"/>
          <a:lstStyle/>
          <a:p>
            <a:pPr algn="ctr"/>
          </a:p>
        </p:txBody>
      </p:sp>
      <p:sp>
        <p:nvSpPr>
          <p:cNvPr id="26" name="q_5"/>
          <p:cNvSpPr txBox="1"/>
          <p:nvPr/>
        </p:nvSpPr>
        <p:spPr>
          <a:xfrm>
            <a:off x="502920" y="5127752"/>
            <a:ext cx="9171432" cy="767842"/>
          </a:xfrm>
          <a:prstGeom prst="rect">
            <a:avLst/>
          </a:prstGeom>
          <a:noFill/>
        </p:spPr>
        <p:txBody>
          <a:bodyPr wrap="square" lIns="109728" tIns="45720" rIns="109728" bIns="45720" anchor="ctr" rtlCol="0">
            <a:noAutofit/>
          </a:bodyPr>
          <a:lstStyle/>
          <a:p>
            <a:pPr algn="l">
              <a:lnSpc>
                <a:spcPts val="2375"/>
              </a:lnSpc>
              <a:spcBef>
                <a:spcPts val="0"/>
              </a:spcBef>
              <a:spcAft>
                <a:spcPts val="0"/>
              </a:spcAft>
              <a:buNone/>
            </a:pPr>
            <a:r>
              <a:rPr lang="en-US" altLang="en-US" sz="1900" b="1" dirty="0">
                <a:solidFill>
                  <a:srgbClr val="1E2A5A"/>
                </a:solidFill>
                <a:latin typeface="Calibri"/>
                <a:ea typeface="맑은 고딕"/>
                <a:cs typeface="Calibri"/>
              </a:rPr>
              <a:t>10.  </a:t>
            </a:r>
            <a:r>
              <a:rPr lang="ko-KR" altLang="en-US" sz="1900" b="0" dirty="0">
                <a:solidFill>
                  <a:srgbClr val="1F2328"/>
                </a:solidFill>
                <a:latin typeface="맑은 고딕"/>
                <a:ea typeface="맑은 고딕"/>
                <a:cs typeface="맑은 고딕"/>
              </a:rPr>
              <a:t>문자도의 한자들은 조선 시대 사람들에게 중요하지 않았던 가치를 나타낸다.</a:t>
            </a:r>
            <a:endParaRPr lang="ko-KR" sz="1900"/>
          </a:p>
        </p:txBody>
      </p:sp>
      <p:sp>
        <p:nvSpPr>
          <p:cNvPr id="27" name="tf_5"/>
          <p:cNvSpPr txBox="1"/>
          <p:nvPr/>
        </p:nvSpPr>
        <p:spPr>
          <a:xfrm>
            <a:off x="9765792" y="5127752"/>
            <a:ext cx="1828800" cy="767842"/>
          </a:xfrm>
          <a:prstGeom prst="rect">
            <a:avLst/>
          </a:prstGeom>
          <a:noFill/>
        </p:spPr>
        <p:txBody>
          <a:bodyPr wrap="square" lIns="18288" tIns="18288" rIns="18288" bIns="18288" anchor="ctr" rtlCol="0">
            <a:noAutofit/>
          </a:bodyPr>
          <a:lstStyle/>
          <a:p>
            <a:pPr algn="ctr">
              <a:lnSpc>
                <a:spcPts val="2375"/>
              </a:lnSpc>
              <a:spcBef>
                <a:spcPts val="0"/>
              </a:spcBef>
              <a:spcAft>
                <a:spcPts val="0"/>
              </a:spcAft>
              <a:buNone/>
            </a:pPr>
            <a:r>
              <a:rPr lang="en-US" altLang="en-US" sz="1900" b="1" dirty="0">
                <a:solidFill>
                  <a:srgbClr val="9AA3B5"/>
                </a:solidFill>
                <a:latin typeface="Calibri"/>
                <a:ea typeface="맑은 고딕"/>
                <a:cs typeface="Calibri"/>
              </a:rPr>
              <a:t>T   /   F</a:t>
            </a:r>
            <a:endParaRPr lang="ko-KR" sz="1900"/>
          </a:p>
        </p:txBody>
      </p:sp>
      <p:sp>
        <p:nvSpPr>
          <p:cNvPr id="28" name="rv_ans_5"/>
          <p:cNvSpPr/>
          <p:nvPr/>
        </p:nvSpPr>
        <p:spPr>
          <a:xfrm>
            <a:off x="9765792" y="5173472"/>
            <a:ext cx="1828800" cy="676402"/>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640"/>
              </a:lnSpc>
              <a:spcBef>
                <a:spcPts val="0"/>
              </a:spcBef>
              <a:spcAft>
                <a:spcPts val="0"/>
              </a:spcAft>
              <a:buNone/>
            </a:pPr>
            <a:r>
              <a:rPr lang="en-US" altLang="en-US" sz="2200" b="1" dirty="0">
                <a:solidFill>
                  <a:srgbClr val="C00000"/>
                </a:solidFill>
                <a:latin typeface="Calibri"/>
                <a:ea typeface="맑은 고딕"/>
                <a:cs typeface="Calibri"/>
              </a:rPr>
              <a:t>F</a:t>
            </a:r>
            <a:endParaRPr lang="ko-KR" sz="22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25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250"/>
                                        <p:tgtEl>
                                          <p:spTgt spid="1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0"/>
                                        </p:tgtEl>
                                        <p:attrNameLst>
                                          <p:attrName>style.visibility</p:attrName>
                                        </p:attrNameLst>
                                      </p:cBhvr>
                                      <p:to>
                                        <p:strVal val="visible"/>
                                      </p:to>
                                    </p:set>
                                    <p:animEffect transition="in" filter="fade">
                                      <p:cBhvr>
                                        <p:cTn id="13" dur="250"/>
                                        <p:tgtEl>
                                          <p:spTgt spid="20"/>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4"/>
                                        </p:tgtEl>
                                        <p:attrNameLst>
                                          <p:attrName>style.visibility</p:attrName>
                                        </p:attrNameLst>
                                      </p:cBhvr>
                                      <p:to>
                                        <p:strVal val="visible"/>
                                      </p:to>
                                    </p:set>
                                    <p:animEffect transition="in" filter="fade">
                                      <p:cBhvr>
                                        <p:cTn id="16" dur="250"/>
                                        <p:tgtEl>
                                          <p:spTgt spid="24"/>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8"/>
                                        </p:tgtEl>
                                        <p:attrNameLst>
                                          <p:attrName>style.visibility</p:attrName>
                                        </p:attrNameLst>
                                      </p:cBhvr>
                                      <p:to>
                                        <p:strVal val="visible"/>
                                      </p:to>
                                    </p:set>
                                    <p:animEffect transition="in" filter="fade">
                                      <p:cBhvr>
                                        <p:cTn id="19" dur="25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6" grpId="0" animBg="1"/>
      <p:bldP spid="20" grpId="0" animBg="1"/>
      <p:bldP spid="24" grpId="0" animBg="1"/>
      <p:bldP spid="28" grpId="0" animBg="1"/>
    </p:bldLst>
  </p:timing>
</p:sld>
</file>

<file path=ppt/slides/slide28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8000"/>
            </a:avLst>
          </a:prstGeom>
          <a:solidFill>
            <a:srgbClr val="1E2A5A"/>
          </a:solidFill>
          <a:ln>
            <a:noFill/>
          </a:ln>
        </p:spPr>
        <p:txBody>
          <a:bodyPr wrap="square" lIns="45720" tIns="18288" rIns="45720" bIns="18288" anchor="ctr" rtlCol="0">
            <a:noAutofit/>
          </a:bodyPr>
          <a:lstStyle/>
          <a:p>
            <a:pPr algn="ctr">
              <a:lnSpc>
                <a:spcPts val="2000"/>
              </a:lnSpc>
              <a:spcBef>
                <a:spcPts val="0"/>
              </a:spcBef>
              <a:spcAft>
                <a:spcPts val="0"/>
              </a:spcAft>
              <a:buNone/>
            </a:pPr>
            <a:r>
              <a:rPr lang="en-US" altLang="en-US" sz="1700" b="1" dirty="0">
                <a:solidFill>
                  <a:srgbClr val="FFFFFF"/>
                </a:solidFill>
                <a:latin typeface="Calibri"/>
                <a:ea typeface="맑은 고딕"/>
                <a:cs typeface="Calibri"/>
              </a:rPr>
              <a:t>L8-2</a:t>
            </a:r>
            <a:endParaRPr lang="ko-KR" sz="1700"/>
          </a:p>
        </p:txBody>
      </p:sp>
      <p:sp>
        <p:nvSpPr>
          <p:cNvPr id="3" name="hdr_chip"/>
          <p:cNvSpPr/>
          <p:nvPr/>
        </p:nvSpPr>
        <p:spPr>
          <a:xfrm>
            <a:off x="1755648" y="274320"/>
            <a:ext cx="1371600" cy="493776"/>
          </a:xfrm>
          <a:prstGeom prst="roundRect">
            <a:avLst>
              <a:gd name="adj" fmla="val 8000"/>
            </a:avLst>
          </a:prstGeom>
          <a:solidFill>
            <a:srgbClr val="E6EAF4"/>
          </a:solidFill>
          <a:ln>
            <a:noFill/>
          </a:ln>
        </p:spPr>
        <p:txBody>
          <a:bodyPr wrap="square" lIns="27432" tIns="18288" rIns="27432" bIns="18288" anchor="ctr" rtlCol="0">
            <a:noAutofit/>
          </a:bodyPr>
          <a:lstStyle/>
          <a:p>
            <a:pPr algn="ctr">
              <a:lnSpc>
                <a:spcPts val="1700"/>
              </a:lnSpc>
              <a:spcBef>
                <a:spcPts val="0"/>
              </a:spcBef>
              <a:spcAft>
                <a:spcPts val="0"/>
              </a:spcAft>
              <a:buNone/>
            </a:pPr>
            <a:r>
              <a:rPr lang="ko-KR" altLang="en-US" sz="1400" b="1" dirty="0">
                <a:solidFill>
                  <a:srgbClr val="1E2A5A"/>
                </a:solidFill>
                <a:latin typeface="맑은 고딕"/>
                <a:ea typeface="맑은 고딕"/>
                <a:cs typeface="맑은 고딕"/>
              </a:rPr>
              <a:t>PART 4 · 3</a:t>
            </a:r>
            <a:endParaRPr lang="ko-KR" sz="1400"/>
          </a:p>
        </p:txBody>
      </p:sp>
      <p:sp>
        <p:nvSpPr>
          <p:cNvPr id="4" name="hdr_q"/>
          <p:cNvSpPr txBox="1"/>
          <p:nvPr/>
        </p:nvSpPr>
        <p:spPr>
          <a:xfrm>
            <a:off x="3246120" y="246888"/>
            <a:ext cx="8485632" cy="548640"/>
          </a:xfrm>
          <a:prstGeom prst="rect">
            <a:avLst/>
          </a:prstGeom>
          <a:noFill/>
        </p:spPr>
        <p:txBody>
          <a:bodyPr wrap="square" lIns="109728" tIns="54864" rIns="109728" bIns="54864" anchor="ctr" rtlCol="0">
            <a:noAutofit/>
          </a:bodyPr>
          <a:lstStyle/>
          <a:p>
            <a:pPr algn="l">
              <a:lnSpc>
                <a:spcPts val="2400"/>
              </a:lnSpc>
              <a:spcBef>
                <a:spcPts val="0"/>
              </a:spcBef>
              <a:spcAft>
                <a:spcPts val="0"/>
              </a:spcAft>
              <a:buNone/>
            </a:pPr>
            <a:r>
              <a:rPr lang="ko-KR" altLang="en-US" sz="2000" b="1" dirty="0">
                <a:solidFill>
                  <a:srgbClr val="1F2328"/>
                </a:solidFill>
                <a:latin typeface="맑은 고딕"/>
                <a:ea typeface="맑은 고딕"/>
                <a:cs typeface="맑은 고딕"/>
              </a:rPr>
              <a:t>본문과 일치하면 T, 일치하지 않으면 F를 고르시오.</a:t>
            </a:r>
            <a:endParaRPr lang="ko-KR" sz="2000"/>
          </a:p>
        </p:txBody>
      </p:sp>
      <p:sp>
        <p:nvSpPr>
          <p:cNvPr id="5" name="ftr_exam"/>
          <p:cNvSpPr txBox="1"/>
          <p:nvPr/>
        </p:nvSpPr>
        <p:spPr>
          <a:xfrm>
            <a:off x="457200" y="6519672"/>
            <a:ext cx="5669280" cy="256032"/>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8</a:t>
            </a:r>
            <a:endParaRPr lang="ko-KR" sz="1000"/>
          </a:p>
        </p:txBody>
      </p:sp>
      <p:sp>
        <p:nvSpPr>
          <p:cNvPr id="6" name="ftr_hint"/>
          <p:cNvSpPr txBox="1"/>
          <p:nvPr/>
        </p:nvSpPr>
        <p:spPr>
          <a:xfrm>
            <a:off x="5971032" y="6519672"/>
            <a:ext cx="5760720" cy="256032"/>
          </a:xfrm>
          <a:prstGeom prst="rect">
            <a:avLst/>
          </a:prstGeom>
          <a:noFill/>
        </p:spPr>
        <p:txBody>
          <a:bodyPr wrap="square" lIns="0" tIns="0" rIns="0" bIns="0" anchor="t" rtlCol="0">
            <a:noAutofit/>
          </a:bodyPr>
          <a:lstStyle/>
          <a:p>
            <a:pPr algn="r">
              <a:lnSpc>
                <a:spcPts val="1200"/>
              </a:lnSpc>
              <a:spcBef>
                <a:spcPts val="0"/>
              </a:spcBef>
              <a:spcAft>
                <a:spcPts val="0"/>
              </a:spcAft>
              <a:buNone/>
            </a:pPr>
            <a:r>
              <a:rPr lang="ko-KR" altLang="en-US" sz="1000" b="0" dirty="0">
                <a:solidFill>
                  <a:srgbClr val="7A808C"/>
                </a:solidFill>
                <a:latin typeface="맑은 고딕"/>
                <a:ea typeface="맑은 고딕"/>
                <a:cs typeface="맑은 고딕"/>
              </a:rPr>
              <a:t>클릭 ① 정답(T/F) 공개</a:t>
            </a:r>
            <a:endParaRPr lang="ko-KR" sz="1000"/>
          </a:p>
        </p:txBody>
      </p:sp>
      <p:sp>
        <p:nvSpPr>
          <p:cNvPr id="7" name="passage_card"/>
          <p:cNvSpPr/>
          <p:nvPr/>
        </p:nvSpPr>
        <p:spPr>
          <a:xfrm>
            <a:off x="457200" y="950976"/>
            <a:ext cx="11274552" cy="2505456"/>
          </a:xfrm>
          <a:prstGeom prst="roundRect">
            <a:avLst>
              <a:gd name="adj" fmla="val 4000"/>
            </a:avLst>
          </a:prstGeom>
          <a:solidFill>
            <a:srgbClr val="F3F5F9"/>
          </a:solidFill>
          <a:ln w="12700">
            <a:solidFill>
              <a:srgbClr val="D9DFEA"/>
            </a:solidFill>
          </a:ln>
        </p:spPr>
        <p:txBody>
          <a:bodyPr rtlCol="0" anchor="ctr"/>
          <a:lstStyle/>
          <a:p>
            <a:pPr algn="ctr"/>
          </a:p>
        </p:txBody>
      </p:sp>
      <p:sp>
        <p:nvSpPr>
          <p:cNvPr id="8" name="passage"/>
          <p:cNvSpPr txBox="1"/>
          <p:nvPr/>
        </p:nvSpPr>
        <p:spPr>
          <a:xfrm>
            <a:off x="457200" y="950976"/>
            <a:ext cx="11274552" cy="2505456"/>
          </a:xfrm>
          <a:prstGeom prst="rect">
            <a:avLst/>
          </a:prstGeom>
          <a:noFill/>
        </p:spPr>
        <p:txBody>
          <a:bodyPr wrap="square" lIns="182880" tIns="137160" rIns="182880" bIns="137160" anchor="t" rtlCol="0">
            <a:noAutofit/>
          </a:bodyPr>
          <a:lstStyle/>
          <a:p>
            <a:pPr algn="l">
              <a:lnSpc>
                <a:spcPts val="1952"/>
              </a:lnSpc>
              <a:spcBef>
                <a:spcPts val="0"/>
              </a:spcBef>
              <a:spcAft>
                <a:spcPts val="0"/>
              </a:spcAft>
              <a:buNone/>
            </a:pPr>
            <a:r>
              <a:rPr lang="ko-KR" altLang="en-US" sz="1600" b="1" dirty="0">
                <a:solidFill>
                  <a:srgbClr val="1E2A5A"/>
                </a:solidFill>
                <a:latin typeface="맑은 고딕"/>
                <a:ea typeface="맑은 고딕"/>
                <a:cs typeface="맑은 고딕"/>
              </a:rPr>
              <a:t>⑦ </a:t>
            </a:r>
            <a:r>
              <a:rPr lang="en-US" altLang="en-US" sz="1600" b="0" dirty="0">
                <a:solidFill>
                  <a:srgbClr val="1F2328"/>
                </a:solidFill>
                <a:latin typeface="Calibri"/>
                <a:ea typeface="맑은 고딕"/>
                <a:cs typeface="Calibri"/>
              </a:rPr>
              <a:t>The animals or objects in Munjado are not just decorations. They often are symbolic. </a:t>
            </a:r>
            <a:r>
              <a:rPr lang="ko-KR" altLang="en-US" sz="1600" b="1" dirty="0">
                <a:solidFill>
                  <a:srgbClr val="1E2A5A"/>
                </a:solidFill>
                <a:latin typeface="맑은 고딕"/>
                <a:ea typeface="맑은 고딕"/>
                <a:cs typeface="맑은 고딕"/>
              </a:rPr>
              <a:t>⑧ </a:t>
            </a:r>
            <a:r>
              <a:rPr lang="en-US" altLang="en-US" sz="1600" b="0" dirty="0">
                <a:solidFill>
                  <a:srgbClr val="1F2328"/>
                </a:solidFill>
                <a:latin typeface="Calibri"/>
                <a:ea typeface="맑은 고딕"/>
                <a:cs typeface="Calibri"/>
              </a:rPr>
              <a:t>For example, carp in the paintings of hyo symbolize respect for parents because of an old story. </a:t>
            </a:r>
            <a:r>
              <a:rPr lang="ko-KR" altLang="en-US" sz="1600" b="1" dirty="0">
                <a:solidFill>
                  <a:srgbClr val="1E2A5A"/>
                </a:solidFill>
                <a:latin typeface="맑은 고딕"/>
                <a:ea typeface="맑은 고딕"/>
                <a:cs typeface="맑은 고딕"/>
              </a:rPr>
              <a:t>⑨ </a:t>
            </a:r>
            <a:r>
              <a:rPr lang="en-US" altLang="en-US" sz="1600" b="0" dirty="0">
                <a:solidFill>
                  <a:srgbClr val="1F2328"/>
                </a:solidFill>
                <a:latin typeface="Calibri"/>
                <a:ea typeface="맑은 고딕"/>
                <a:cs typeface="Calibri"/>
              </a:rPr>
              <a:t>The story goes as follows. Once upon a time, a man lived with his old mother. </a:t>
            </a:r>
            <a:r>
              <a:rPr lang="ko-KR" altLang="en-US" sz="1600" b="1" dirty="0">
                <a:solidFill>
                  <a:srgbClr val="1E2A5A"/>
                </a:solidFill>
                <a:latin typeface="맑은 고딕"/>
                <a:ea typeface="맑은 고딕"/>
                <a:cs typeface="맑은 고딕"/>
              </a:rPr>
              <a:t>⑩ </a:t>
            </a:r>
            <a:r>
              <a:rPr lang="en-US" altLang="en-US" sz="1600" b="0" dirty="0">
                <a:solidFill>
                  <a:srgbClr val="1F2328"/>
                </a:solidFill>
                <a:latin typeface="Calibri"/>
                <a:ea typeface="맑은 고딕"/>
                <a:cs typeface="Calibri"/>
              </a:rPr>
              <a:t>One winter, the man’s mother became ill and couldn’t eat anything. </a:t>
            </a:r>
            <a:r>
              <a:rPr lang="ko-KR" altLang="en-US" sz="1600" b="1" dirty="0">
                <a:solidFill>
                  <a:srgbClr val="1E2A5A"/>
                </a:solidFill>
                <a:latin typeface="맑은 고딕"/>
                <a:ea typeface="맑은 고딕"/>
                <a:cs typeface="맑은 고딕"/>
              </a:rPr>
              <a:t>⑪ </a:t>
            </a:r>
            <a:r>
              <a:rPr lang="en-US" altLang="en-US" sz="1600" b="0" dirty="0">
                <a:solidFill>
                  <a:srgbClr val="1F2328"/>
                </a:solidFill>
                <a:latin typeface="Calibri"/>
                <a:ea typeface="맑은 고딕"/>
                <a:cs typeface="Calibri"/>
              </a:rPr>
              <a:t>On one very cold day, the mother said to the man, “It would be wonderful if I could eat fresh fish.” </a:t>
            </a:r>
            <a:r>
              <a:rPr lang="ko-KR" altLang="en-US" sz="1600" b="1" dirty="0">
                <a:solidFill>
                  <a:srgbClr val="1E2A5A"/>
                </a:solidFill>
                <a:latin typeface="맑은 고딕"/>
                <a:ea typeface="맑은 고딕"/>
                <a:cs typeface="맑은 고딕"/>
              </a:rPr>
              <a:t>⑫ </a:t>
            </a:r>
            <a:r>
              <a:rPr lang="en-US" altLang="en-US" sz="1600" b="0" dirty="0">
                <a:solidFill>
                  <a:srgbClr val="1F2328"/>
                </a:solidFill>
                <a:latin typeface="Calibri"/>
                <a:ea typeface="맑은 고딕"/>
                <a:cs typeface="Calibri"/>
              </a:rPr>
              <a:t>The man went out to the river, but it was completely frozen. </a:t>
            </a:r>
            <a:r>
              <a:rPr lang="ko-KR" altLang="en-US" sz="1600" b="1" dirty="0">
                <a:solidFill>
                  <a:srgbClr val="1E2A5A"/>
                </a:solidFill>
                <a:latin typeface="맑은 고딕"/>
                <a:ea typeface="맑은 고딕"/>
                <a:cs typeface="맑은 고딕"/>
              </a:rPr>
              <a:t>⑬ </a:t>
            </a:r>
            <a:r>
              <a:rPr lang="en-US" altLang="en-US" sz="1600" b="0" dirty="0">
                <a:solidFill>
                  <a:srgbClr val="1F2328"/>
                </a:solidFill>
                <a:latin typeface="Calibri"/>
                <a:ea typeface="맑은 고딕"/>
                <a:cs typeface="Calibri"/>
              </a:rPr>
              <a:t>It was impossible for him to catch any fish. </a:t>
            </a:r>
            <a:r>
              <a:rPr lang="ko-KR" altLang="en-US" sz="1600" b="1" dirty="0">
                <a:solidFill>
                  <a:srgbClr val="1E2A5A"/>
                </a:solidFill>
                <a:latin typeface="맑은 고딕"/>
                <a:ea typeface="맑은 고딕"/>
                <a:cs typeface="맑은 고딕"/>
              </a:rPr>
              <a:t>⑭ </a:t>
            </a:r>
            <a:r>
              <a:rPr lang="en-US" altLang="en-US" sz="1600" b="0" dirty="0">
                <a:solidFill>
                  <a:srgbClr val="1F2328"/>
                </a:solidFill>
                <a:latin typeface="Calibri"/>
                <a:ea typeface="맑은 고딕"/>
                <a:cs typeface="Calibri"/>
              </a:rPr>
              <a:t>The man was so disappointed that he cried out to the sky, “What should I do? Please help me.” </a:t>
            </a:r>
            <a:r>
              <a:rPr lang="ko-KR" altLang="en-US" sz="1600" b="1" dirty="0">
                <a:solidFill>
                  <a:srgbClr val="1E2A5A"/>
                </a:solidFill>
                <a:latin typeface="맑은 고딕"/>
                <a:ea typeface="맑은 고딕"/>
                <a:cs typeface="맑은 고딕"/>
              </a:rPr>
              <a:t>⑮ </a:t>
            </a:r>
            <a:r>
              <a:rPr lang="en-US" altLang="en-US" sz="1600" b="0" dirty="0">
                <a:solidFill>
                  <a:srgbClr val="1F2328"/>
                </a:solidFill>
                <a:latin typeface="Calibri"/>
                <a:ea typeface="맑은 고딕"/>
                <a:cs typeface="Calibri"/>
              </a:rPr>
              <a:t>Then the ice melted, and three carp suddenly came out of the water. </a:t>
            </a:r>
            <a:r>
              <a:rPr lang="ko-KR" altLang="en-US" sz="1600" b="1" dirty="0">
                <a:solidFill>
                  <a:srgbClr val="1E2A5A"/>
                </a:solidFill>
                <a:latin typeface="맑은 고딕"/>
                <a:ea typeface="맑은 고딕"/>
                <a:cs typeface="맑은 고딕"/>
              </a:rPr>
              <a:t>⑯ </a:t>
            </a:r>
            <a:r>
              <a:rPr lang="en-US" altLang="en-US" sz="1600" b="0" dirty="0">
                <a:solidFill>
                  <a:srgbClr val="1F2328"/>
                </a:solidFill>
                <a:latin typeface="Calibri"/>
                <a:ea typeface="맑은 고딕"/>
                <a:cs typeface="Calibri"/>
              </a:rPr>
              <a:t>The man went back home and cooked the fish for his mother. Then his mother got well. </a:t>
            </a:r>
            <a:endParaRPr lang="ko-KR" sz="1600"/>
          </a:p>
        </p:txBody>
      </p:sp>
      <p:sp>
        <p:nvSpPr>
          <p:cNvPr id="9" name="q_card_1"/>
          <p:cNvSpPr/>
          <p:nvPr/>
        </p:nvSpPr>
        <p:spPr>
          <a:xfrm>
            <a:off x="457200" y="3621024"/>
            <a:ext cx="11274552" cy="466217"/>
          </a:xfrm>
          <a:prstGeom prst="roundRect">
            <a:avLst>
              <a:gd name="adj" fmla="val 12000"/>
            </a:avLst>
          </a:prstGeom>
          <a:noFill/>
          <a:ln w="12700">
            <a:solidFill>
              <a:srgbClr val="D5DAE5"/>
            </a:solidFill>
          </a:ln>
        </p:spPr>
        <p:txBody>
          <a:bodyPr rtlCol="0" anchor="ctr"/>
          <a:lstStyle/>
          <a:p>
            <a:pPr algn="ctr"/>
          </a:p>
        </p:txBody>
      </p:sp>
      <p:sp>
        <p:nvSpPr>
          <p:cNvPr id="10" name="q_1"/>
          <p:cNvSpPr txBox="1"/>
          <p:nvPr/>
        </p:nvSpPr>
        <p:spPr>
          <a:xfrm>
            <a:off x="502920" y="3621024"/>
            <a:ext cx="9171432" cy="466217"/>
          </a:xfrm>
          <a:prstGeom prst="rect">
            <a:avLst/>
          </a:prstGeom>
          <a:noFill/>
        </p:spPr>
        <p:txBody>
          <a:bodyPr wrap="square" lIns="109728" tIns="45720" rIns="109728" bIns="45720" anchor="ctr" rtlCol="0">
            <a:noAutofit/>
          </a:bodyPr>
          <a:lstStyle/>
          <a:p>
            <a:pPr algn="l">
              <a:lnSpc>
                <a:spcPts val="2375"/>
              </a:lnSpc>
              <a:spcBef>
                <a:spcPts val="0"/>
              </a:spcBef>
              <a:spcAft>
                <a:spcPts val="0"/>
              </a:spcAft>
              <a:buNone/>
            </a:pPr>
            <a:r>
              <a:rPr lang="en-US" altLang="en-US" sz="1900" b="1" dirty="0">
                <a:solidFill>
                  <a:srgbClr val="1E2A5A"/>
                </a:solidFill>
                <a:latin typeface="Calibri"/>
                <a:ea typeface="맑은 고딕"/>
                <a:cs typeface="Calibri"/>
              </a:rPr>
              <a:t>11.  </a:t>
            </a:r>
            <a:r>
              <a:rPr lang="ko-KR" altLang="en-US" sz="1900" b="0" dirty="0">
                <a:solidFill>
                  <a:srgbClr val="1F2328"/>
                </a:solidFill>
                <a:latin typeface="맑은 고딕"/>
                <a:ea typeface="맑은 고딕"/>
                <a:cs typeface="맑은 고딕"/>
              </a:rPr>
              <a:t>문자도의 동물이나 사물은 단순한 장식일 뿐이다.</a:t>
            </a:r>
            <a:endParaRPr lang="ko-KR" sz="1900"/>
          </a:p>
        </p:txBody>
      </p:sp>
      <p:sp>
        <p:nvSpPr>
          <p:cNvPr id="11" name="tf_1"/>
          <p:cNvSpPr txBox="1"/>
          <p:nvPr/>
        </p:nvSpPr>
        <p:spPr>
          <a:xfrm>
            <a:off x="9765792" y="3621024"/>
            <a:ext cx="1828800" cy="466217"/>
          </a:xfrm>
          <a:prstGeom prst="rect">
            <a:avLst/>
          </a:prstGeom>
          <a:noFill/>
        </p:spPr>
        <p:txBody>
          <a:bodyPr wrap="square" lIns="18288" tIns="18288" rIns="18288" bIns="18288" anchor="ctr" rtlCol="0">
            <a:noAutofit/>
          </a:bodyPr>
          <a:lstStyle/>
          <a:p>
            <a:pPr algn="ctr">
              <a:lnSpc>
                <a:spcPts val="2375"/>
              </a:lnSpc>
              <a:spcBef>
                <a:spcPts val="0"/>
              </a:spcBef>
              <a:spcAft>
                <a:spcPts val="0"/>
              </a:spcAft>
              <a:buNone/>
            </a:pPr>
            <a:r>
              <a:rPr lang="en-US" altLang="en-US" sz="1900" b="1" dirty="0">
                <a:solidFill>
                  <a:srgbClr val="9AA3B5"/>
                </a:solidFill>
                <a:latin typeface="Calibri"/>
                <a:ea typeface="맑은 고딕"/>
                <a:cs typeface="Calibri"/>
              </a:rPr>
              <a:t>T   /   F</a:t>
            </a:r>
            <a:endParaRPr lang="ko-KR" sz="1900"/>
          </a:p>
        </p:txBody>
      </p:sp>
      <p:sp>
        <p:nvSpPr>
          <p:cNvPr id="12" name="rv_ans_1"/>
          <p:cNvSpPr/>
          <p:nvPr/>
        </p:nvSpPr>
        <p:spPr>
          <a:xfrm>
            <a:off x="9765792" y="3666744"/>
            <a:ext cx="1828800" cy="374777"/>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640"/>
              </a:lnSpc>
              <a:spcBef>
                <a:spcPts val="0"/>
              </a:spcBef>
              <a:spcAft>
                <a:spcPts val="0"/>
              </a:spcAft>
              <a:buNone/>
            </a:pPr>
            <a:r>
              <a:rPr lang="en-US" altLang="en-US" sz="2200" b="1" dirty="0">
                <a:solidFill>
                  <a:srgbClr val="C00000"/>
                </a:solidFill>
                <a:latin typeface="Calibri"/>
                <a:ea typeface="맑은 고딕"/>
                <a:cs typeface="Calibri"/>
              </a:rPr>
              <a:t>F</a:t>
            </a:r>
            <a:endParaRPr lang="ko-KR" sz="2200"/>
          </a:p>
        </p:txBody>
      </p:sp>
      <p:sp>
        <p:nvSpPr>
          <p:cNvPr id="13" name="q_card_2"/>
          <p:cNvSpPr/>
          <p:nvPr/>
        </p:nvSpPr>
        <p:spPr>
          <a:xfrm>
            <a:off x="457200" y="4160393"/>
            <a:ext cx="11274552" cy="466217"/>
          </a:xfrm>
          <a:prstGeom prst="roundRect">
            <a:avLst>
              <a:gd name="adj" fmla="val 12000"/>
            </a:avLst>
          </a:prstGeom>
          <a:noFill/>
          <a:ln w="12700">
            <a:solidFill>
              <a:srgbClr val="D5DAE5"/>
            </a:solidFill>
          </a:ln>
        </p:spPr>
        <p:txBody>
          <a:bodyPr rtlCol="0" anchor="ctr"/>
          <a:lstStyle/>
          <a:p>
            <a:pPr algn="ctr"/>
          </a:p>
        </p:txBody>
      </p:sp>
      <p:sp>
        <p:nvSpPr>
          <p:cNvPr id="14" name="q_2"/>
          <p:cNvSpPr txBox="1"/>
          <p:nvPr/>
        </p:nvSpPr>
        <p:spPr>
          <a:xfrm>
            <a:off x="502920" y="4160393"/>
            <a:ext cx="9171432" cy="466217"/>
          </a:xfrm>
          <a:prstGeom prst="rect">
            <a:avLst/>
          </a:prstGeom>
          <a:noFill/>
        </p:spPr>
        <p:txBody>
          <a:bodyPr wrap="square" lIns="109728" tIns="45720" rIns="109728" bIns="45720" anchor="ctr" rtlCol="0">
            <a:noAutofit/>
          </a:bodyPr>
          <a:lstStyle/>
          <a:p>
            <a:pPr algn="l">
              <a:lnSpc>
                <a:spcPts val="2375"/>
              </a:lnSpc>
              <a:spcBef>
                <a:spcPts val="0"/>
              </a:spcBef>
              <a:spcAft>
                <a:spcPts val="0"/>
              </a:spcAft>
              <a:buNone/>
            </a:pPr>
            <a:r>
              <a:rPr lang="en-US" altLang="en-US" sz="1900" b="1" dirty="0">
                <a:solidFill>
                  <a:srgbClr val="1E2A5A"/>
                </a:solidFill>
                <a:latin typeface="Calibri"/>
                <a:ea typeface="맑은 고딕"/>
                <a:cs typeface="Calibri"/>
              </a:rPr>
              <a:t>12.  </a:t>
            </a:r>
            <a:r>
              <a:rPr lang="ko-KR" altLang="en-US" sz="1900" b="0" dirty="0">
                <a:solidFill>
                  <a:srgbClr val="1F2328"/>
                </a:solidFill>
                <a:latin typeface="맑은 고딕"/>
                <a:ea typeface="맑은 고딕"/>
                <a:cs typeface="맑은 고딕"/>
              </a:rPr>
              <a:t>문자도의 동물이나 사물은 종종 상징적이다.</a:t>
            </a:r>
            <a:endParaRPr lang="ko-KR" sz="1900"/>
          </a:p>
        </p:txBody>
      </p:sp>
      <p:sp>
        <p:nvSpPr>
          <p:cNvPr id="15" name="tf_2"/>
          <p:cNvSpPr txBox="1"/>
          <p:nvPr/>
        </p:nvSpPr>
        <p:spPr>
          <a:xfrm>
            <a:off x="9765792" y="4160393"/>
            <a:ext cx="1828800" cy="466217"/>
          </a:xfrm>
          <a:prstGeom prst="rect">
            <a:avLst/>
          </a:prstGeom>
          <a:noFill/>
        </p:spPr>
        <p:txBody>
          <a:bodyPr wrap="square" lIns="18288" tIns="18288" rIns="18288" bIns="18288" anchor="ctr" rtlCol="0">
            <a:noAutofit/>
          </a:bodyPr>
          <a:lstStyle/>
          <a:p>
            <a:pPr algn="ctr">
              <a:lnSpc>
                <a:spcPts val="2375"/>
              </a:lnSpc>
              <a:spcBef>
                <a:spcPts val="0"/>
              </a:spcBef>
              <a:spcAft>
                <a:spcPts val="0"/>
              </a:spcAft>
              <a:buNone/>
            </a:pPr>
            <a:r>
              <a:rPr lang="en-US" altLang="en-US" sz="1900" b="1" dirty="0">
                <a:solidFill>
                  <a:srgbClr val="9AA3B5"/>
                </a:solidFill>
                <a:latin typeface="Calibri"/>
                <a:ea typeface="맑은 고딕"/>
                <a:cs typeface="Calibri"/>
              </a:rPr>
              <a:t>T   /   F</a:t>
            </a:r>
            <a:endParaRPr lang="ko-KR" sz="1900"/>
          </a:p>
        </p:txBody>
      </p:sp>
      <p:sp>
        <p:nvSpPr>
          <p:cNvPr id="16" name="rv_ans_2"/>
          <p:cNvSpPr/>
          <p:nvPr/>
        </p:nvSpPr>
        <p:spPr>
          <a:xfrm>
            <a:off x="9765792" y="4206113"/>
            <a:ext cx="1828800" cy="374777"/>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640"/>
              </a:lnSpc>
              <a:spcBef>
                <a:spcPts val="0"/>
              </a:spcBef>
              <a:spcAft>
                <a:spcPts val="0"/>
              </a:spcAft>
              <a:buNone/>
            </a:pPr>
            <a:r>
              <a:rPr lang="en-US" altLang="en-US" sz="2200" b="1" dirty="0">
                <a:solidFill>
                  <a:srgbClr val="C00000"/>
                </a:solidFill>
                <a:latin typeface="Calibri"/>
                <a:ea typeface="맑은 고딕"/>
                <a:cs typeface="Calibri"/>
              </a:rPr>
              <a:t>T</a:t>
            </a:r>
            <a:endParaRPr lang="ko-KR" sz="2200"/>
          </a:p>
        </p:txBody>
      </p:sp>
      <p:sp>
        <p:nvSpPr>
          <p:cNvPr id="17" name="q_card_3"/>
          <p:cNvSpPr/>
          <p:nvPr/>
        </p:nvSpPr>
        <p:spPr>
          <a:xfrm>
            <a:off x="457200" y="4699762"/>
            <a:ext cx="11274552" cy="466217"/>
          </a:xfrm>
          <a:prstGeom prst="roundRect">
            <a:avLst>
              <a:gd name="adj" fmla="val 12000"/>
            </a:avLst>
          </a:prstGeom>
          <a:noFill/>
          <a:ln w="12700">
            <a:solidFill>
              <a:srgbClr val="D5DAE5"/>
            </a:solidFill>
          </a:ln>
        </p:spPr>
        <p:txBody>
          <a:bodyPr rtlCol="0" anchor="ctr"/>
          <a:lstStyle/>
          <a:p>
            <a:pPr algn="ctr"/>
          </a:p>
        </p:txBody>
      </p:sp>
      <p:sp>
        <p:nvSpPr>
          <p:cNvPr id="18" name="q_3"/>
          <p:cNvSpPr txBox="1"/>
          <p:nvPr/>
        </p:nvSpPr>
        <p:spPr>
          <a:xfrm>
            <a:off x="502920" y="4699762"/>
            <a:ext cx="9171432" cy="466217"/>
          </a:xfrm>
          <a:prstGeom prst="rect">
            <a:avLst/>
          </a:prstGeom>
          <a:noFill/>
        </p:spPr>
        <p:txBody>
          <a:bodyPr wrap="square" lIns="109728" tIns="45720" rIns="109728" bIns="45720" anchor="ctr" rtlCol="0">
            <a:noAutofit/>
          </a:bodyPr>
          <a:lstStyle/>
          <a:p>
            <a:pPr algn="l">
              <a:lnSpc>
                <a:spcPts val="2375"/>
              </a:lnSpc>
              <a:spcBef>
                <a:spcPts val="0"/>
              </a:spcBef>
              <a:spcAft>
                <a:spcPts val="0"/>
              </a:spcAft>
              <a:buNone/>
            </a:pPr>
            <a:r>
              <a:rPr lang="en-US" altLang="en-US" sz="1900" b="1" dirty="0">
                <a:solidFill>
                  <a:srgbClr val="1E2A5A"/>
                </a:solidFill>
                <a:latin typeface="Calibri"/>
                <a:ea typeface="맑은 고딕"/>
                <a:cs typeface="Calibri"/>
              </a:rPr>
              <a:t>13.  </a:t>
            </a:r>
            <a:r>
              <a:rPr lang="ko-KR" altLang="en-US" sz="1900" b="0" dirty="0">
                <a:solidFill>
                  <a:srgbClr val="1F2328"/>
                </a:solidFill>
                <a:latin typeface="맑은 고딕"/>
                <a:ea typeface="맑은 고딕"/>
                <a:cs typeface="맑은 고딕"/>
              </a:rPr>
              <a:t>'효' 그림의 잉어는 부모님에 대한 공경을 상징한다.</a:t>
            </a:r>
            <a:endParaRPr lang="ko-KR" sz="1900"/>
          </a:p>
        </p:txBody>
      </p:sp>
      <p:sp>
        <p:nvSpPr>
          <p:cNvPr id="19" name="tf_3"/>
          <p:cNvSpPr txBox="1"/>
          <p:nvPr/>
        </p:nvSpPr>
        <p:spPr>
          <a:xfrm>
            <a:off x="9765792" y="4699762"/>
            <a:ext cx="1828800" cy="466217"/>
          </a:xfrm>
          <a:prstGeom prst="rect">
            <a:avLst/>
          </a:prstGeom>
          <a:noFill/>
        </p:spPr>
        <p:txBody>
          <a:bodyPr wrap="square" lIns="18288" tIns="18288" rIns="18288" bIns="18288" anchor="ctr" rtlCol="0">
            <a:noAutofit/>
          </a:bodyPr>
          <a:lstStyle/>
          <a:p>
            <a:pPr algn="ctr">
              <a:lnSpc>
                <a:spcPts val="2375"/>
              </a:lnSpc>
              <a:spcBef>
                <a:spcPts val="0"/>
              </a:spcBef>
              <a:spcAft>
                <a:spcPts val="0"/>
              </a:spcAft>
              <a:buNone/>
            </a:pPr>
            <a:r>
              <a:rPr lang="en-US" altLang="en-US" sz="1900" b="1" dirty="0">
                <a:solidFill>
                  <a:srgbClr val="9AA3B5"/>
                </a:solidFill>
                <a:latin typeface="Calibri"/>
                <a:ea typeface="맑은 고딕"/>
                <a:cs typeface="Calibri"/>
              </a:rPr>
              <a:t>T   /   F</a:t>
            </a:r>
            <a:endParaRPr lang="ko-KR" sz="1900"/>
          </a:p>
        </p:txBody>
      </p:sp>
      <p:sp>
        <p:nvSpPr>
          <p:cNvPr id="20" name="rv_ans_3"/>
          <p:cNvSpPr/>
          <p:nvPr/>
        </p:nvSpPr>
        <p:spPr>
          <a:xfrm>
            <a:off x="9765792" y="4745482"/>
            <a:ext cx="1828800" cy="374777"/>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640"/>
              </a:lnSpc>
              <a:spcBef>
                <a:spcPts val="0"/>
              </a:spcBef>
              <a:spcAft>
                <a:spcPts val="0"/>
              </a:spcAft>
              <a:buNone/>
            </a:pPr>
            <a:r>
              <a:rPr lang="en-US" altLang="en-US" sz="2200" b="1" dirty="0">
                <a:solidFill>
                  <a:srgbClr val="C00000"/>
                </a:solidFill>
                <a:latin typeface="Calibri"/>
                <a:ea typeface="맑은 고딕"/>
                <a:cs typeface="Calibri"/>
              </a:rPr>
              <a:t>T</a:t>
            </a:r>
            <a:endParaRPr lang="ko-KR" sz="2200"/>
          </a:p>
        </p:txBody>
      </p:sp>
      <p:sp>
        <p:nvSpPr>
          <p:cNvPr id="21" name="q_card_4"/>
          <p:cNvSpPr/>
          <p:nvPr/>
        </p:nvSpPr>
        <p:spPr>
          <a:xfrm>
            <a:off x="457200" y="5239131"/>
            <a:ext cx="11274552" cy="466217"/>
          </a:xfrm>
          <a:prstGeom prst="roundRect">
            <a:avLst>
              <a:gd name="adj" fmla="val 12000"/>
            </a:avLst>
          </a:prstGeom>
          <a:noFill/>
          <a:ln w="12700">
            <a:solidFill>
              <a:srgbClr val="D5DAE5"/>
            </a:solidFill>
          </a:ln>
        </p:spPr>
        <p:txBody>
          <a:bodyPr rtlCol="0" anchor="ctr"/>
          <a:lstStyle/>
          <a:p>
            <a:pPr algn="ctr"/>
          </a:p>
        </p:txBody>
      </p:sp>
      <p:sp>
        <p:nvSpPr>
          <p:cNvPr id="22" name="q_4"/>
          <p:cNvSpPr txBox="1"/>
          <p:nvPr/>
        </p:nvSpPr>
        <p:spPr>
          <a:xfrm>
            <a:off x="502920" y="5239131"/>
            <a:ext cx="9171432" cy="466217"/>
          </a:xfrm>
          <a:prstGeom prst="rect">
            <a:avLst/>
          </a:prstGeom>
          <a:noFill/>
        </p:spPr>
        <p:txBody>
          <a:bodyPr wrap="square" lIns="109728" tIns="45720" rIns="109728" bIns="45720" anchor="ctr" rtlCol="0">
            <a:noAutofit/>
          </a:bodyPr>
          <a:lstStyle/>
          <a:p>
            <a:pPr algn="l">
              <a:lnSpc>
                <a:spcPts val="2375"/>
              </a:lnSpc>
              <a:spcBef>
                <a:spcPts val="0"/>
              </a:spcBef>
              <a:spcAft>
                <a:spcPts val="0"/>
              </a:spcAft>
              <a:buNone/>
            </a:pPr>
            <a:r>
              <a:rPr lang="en-US" altLang="en-US" sz="1900" b="1" dirty="0">
                <a:solidFill>
                  <a:srgbClr val="1E2A5A"/>
                </a:solidFill>
                <a:latin typeface="Calibri"/>
                <a:ea typeface="맑은 고딕"/>
                <a:cs typeface="Calibri"/>
              </a:rPr>
              <a:t>14.  </a:t>
            </a:r>
            <a:r>
              <a:rPr lang="ko-KR" altLang="en-US" sz="1900" b="0" dirty="0">
                <a:solidFill>
                  <a:srgbClr val="1F2328"/>
                </a:solidFill>
                <a:latin typeface="맑은 고딕"/>
                <a:ea typeface="맑은 고딕"/>
                <a:cs typeface="맑은 고딕"/>
              </a:rPr>
              <a:t>옛이야기 속 남자는 나이 든 아버지와 살았다.</a:t>
            </a:r>
            <a:endParaRPr lang="ko-KR" sz="1900"/>
          </a:p>
        </p:txBody>
      </p:sp>
      <p:sp>
        <p:nvSpPr>
          <p:cNvPr id="23" name="tf_4"/>
          <p:cNvSpPr txBox="1"/>
          <p:nvPr/>
        </p:nvSpPr>
        <p:spPr>
          <a:xfrm>
            <a:off x="9765792" y="5239131"/>
            <a:ext cx="1828800" cy="466217"/>
          </a:xfrm>
          <a:prstGeom prst="rect">
            <a:avLst/>
          </a:prstGeom>
          <a:noFill/>
        </p:spPr>
        <p:txBody>
          <a:bodyPr wrap="square" lIns="18288" tIns="18288" rIns="18288" bIns="18288" anchor="ctr" rtlCol="0">
            <a:noAutofit/>
          </a:bodyPr>
          <a:lstStyle/>
          <a:p>
            <a:pPr algn="ctr">
              <a:lnSpc>
                <a:spcPts val="2375"/>
              </a:lnSpc>
              <a:spcBef>
                <a:spcPts val="0"/>
              </a:spcBef>
              <a:spcAft>
                <a:spcPts val="0"/>
              </a:spcAft>
              <a:buNone/>
            </a:pPr>
            <a:r>
              <a:rPr lang="en-US" altLang="en-US" sz="1900" b="1" dirty="0">
                <a:solidFill>
                  <a:srgbClr val="9AA3B5"/>
                </a:solidFill>
                <a:latin typeface="Calibri"/>
                <a:ea typeface="맑은 고딕"/>
                <a:cs typeface="Calibri"/>
              </a:rPr>
              <a:t>T   /   F</a:t>
            </a:r>
            <a:endParaRPr lang="ko-KR" sz="1900"/>
          </a:p>
        </p:txBody>
      </p:sp>
      <p:sp>
        <p:nvSpPr>
          <p:cNvPr id="24" name="rv_ans_4"/>
          <p:cNvSpPr/>
          <p:nvPr/>
        </p:nvSpPr>
        <p:spPr>
          <a:xfrm>
            <a:off x="9765792" y="5284851"/>
            <a:ext cx="1828800" cy="374777"/>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640"/>
              </a:lnSpc>
              <a:spcBef>
                <a:spcPts val="0"/>
              </a:spcBef>
              <a:spcAft>
                <a:spcPts val="0"/>
              </a:spcAft>
              <a:buNone/>
            </a:pPr>
            <a:r>
              <a:rPr lang="en-US" altLang="en-US" sz="2200" b="1" dirty="0">
                <a:solidFill>
                  <a:srgbClr val="C00000"/>
                </a:solidFill>
                <a:latin typeface="Calibri"/>
                <a:ea typeface="맑은 고딕"/>
                <a:cs typeface="Calibri"/>
              </a:rPr>
              <a:t>F</a:t>
            </a:r>
            <a:endParaRPr lang="ko-KR" sz="2200"/>
          </a:p>
        </p:txBody>
      </p:sp>
      <p:sp>
        <p:nvSpPr>
          <p:cNvPr id="25" name="q_card_5"/>
          <p:cNvSpPr/>
          <p:nvPr/>
        </p:nvSpPr>
        <p:spPr>
          <a:xfrm>
            <a:off x="457200" y="5778500"/>
            <a:ext cx="11274552" cy="466217"/>
          </a:xfrm>
          <a:prstGeom prst="roundRect">
            <a:avLst>
              <a:gd name="adj" fmla="val 12000"/>
            </a:avLst>
          </a:prstGeom>
          <a:noFill/>
          <a:ln w="12700">
            <a:solidFill>
              <a:srgbClr val="D5DAE5"/>
            </a:solidFill>
          </a:ln>
        </p:spPr>
        <p:txBody>
          <a:bodyPr rtlCol="0" anchor="ctr"/>
          <a:lstStyle/>
          <a:p>
            <a:pPr algn="ctr"/>
          </a:p>
        </p:txBody>
      </p:sp>
      <p:sp>
        <p:nvSpPr>
          <p:cNvPr id="26" name="q_5"/>
          <p:cNvSpPr txBox="1"/>
          <p:nvPr/>
        </p:nvSpPr>
        <p:spPr>
          <a:xfrm>
            <a:off x="502920" y="5778500"/>
            <a:ext cx="9171432" cy="466217"/>
          </a:xfrm>
          <a:prstGeom prst="rect">
            <a:avLst/>
          </a:prstGeom>
          <a:noFill/>
        </p:spPr>
        <p:txBody>
          <a:bodyPr wrap="square" lIns="109728" tIns="45720" rIns="109728" bIns="45720" anchor="ctr" rtlCol="0">
            <a:noAutofit/>
          </a:bodyPr>
          <a:lstStyle/>
          <a:p>
            <a:pPr algn="l">
              <a:lnSpc>
                <a:spcPts val="2375"/>
              </a:lnSpc>
              <a:spcBef>
                <a:spcPts val="0"/>
              </a:spcBef>
              <a:spcAft>
                <a:spcPts val="0"/>
              </a:spcAft>
              <a:buNone/>
            </a:pPr>
            <a:r>
              <a:rPr lang="en-US" altLang="en-US" sz="1900" b="1" dirty="0">
                <a:solidFill>
                  <a:srgbClr val="1E2A5A"/>
                </a:solidFill>
                <a:latin typeface="Calibri"/>
                <a:ea typeface="맑은 고딕"/>
                <a:cs typeface="Calibri"/>
              </a:rPr>
              <a:t>15.  </a:t>
            </a:r>
            <a:r>
              <a:rPr lang="ko-KR" altLang="en-US" sz="1900" b="0" dirty="0">
                <a:solidFill>
                  <a:srgbClr val="1F2328"/>
                </a:solidFill>
                <a:latin typeface="맑은 고딕"/>
                <a:ea typeface="맑은 고딕"/>
                <a:cs typeface="맑은 고딕"/>
              </a:rPr>
              <a:t>어느 겨울, 남자의 어머니는 병이 들어 아무것도 먹을 수 없었다.</a:t>
            </a:r>
            <a:endParaRPr lang="ko-KR" sz="1900"/>
          </a:p>
        </p:txBody>
      </p:sp>
      <p:sp>
        <p:nvSpPr>
          <p:cNvPr id="27" name="tf_5"/>
          <p:cNvSpPr txBox="1"/>
          <p:nvPr/>
        </p:nvSpPr>
        <p:spPr>
          <a:xfrm>
            <a:off x="9765792" y="5778500"/>
            <a:ext cx="1828800" cy="466217"/>
          </a:xfrm>
          <a:prstGeom prst="rect">
            <a:avLst/>
          </a:prstGeom>
          <a:noFill/>
        </p:spPr>
        <p:txBody>
          <a:bodyPr wrap="square" lIns="18288" tIns="18288" rIns="18288" bIns="18288" anchor="ctr" rtlCol="0">
            <a:noAutofit/>
          </a:bodyPr>
          <a:lstStyle/>
          <a:p>
            <a:pPr algn="ctr">
              <a:lnSpc>
                <a:spcPts val="2375"/>
              </a:lnSpc>
              <a:spcBef>
                <a:spcPts val="0"/>
              </a:spcBef>
              <a:spcAft>
                <a:spcPts val="0"/>
              </a:spcAft>
              <a:buNone/>
            </a:pPr>
            <a:r>
              <a:rPr lang="en-US" altLang="en-US" sz="1900" b="1" dirty="0">
                <a:solidFill>
                  <a:srgbClr val="9AA3B5"/>
                </a:solidFill>
                <a:latin typeface="Calibri"/>
                <a:ea typeface="맑은 고딕"/>
                <a:cs typeface="Calibri"/>
              </a:rPr>
              <a:t>T   /   F</a:t>
            </a:r>
            <a:endParaRPr lang="ko-KR" sz="1900"/>
          </a:p>
        </p:txBody>
      </p:sp>
      <p:sp>
        <p:nvSpPr>
          <p:cNvPr id="28" name="rv_ans_5"/>
          <p:cNvSpPr/>
          <p:nvPr/>
        </p:nvSpPr>
        <p:spPr>
          <a:xfrm>
            <a:off x="9765792" y="5824220"/>
            <a:ext cx="1828800" cy="374777"/>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640"/>
              </a:lnSpc>
              <a:spcBef>
                <a:spcPts val="0"/>
              </a:spcBef>
              <a:spcAft>
                <a:spcPts val="0"/>
              </a:spcAft>
              <a:buNone/>
            </a:pPr>
            <a:r>
              <a:rPr lang="en-US" altLang="en-US" sz="2200" b="1" dirty="0">
                <a:solidFill>
                  <a:srgbClr val="C00000"/>
                </a:solidFill>
                <a:latin typeface="Calibri"/>
                <a:ea typeface="맑은 고딕"/>
                <a:cs typeface="Calibri"/>
              </a:rPr>
              <a:t>T</a:t>
            </a:r>
            <a:endParaRPr lang="ko-KR" sz="22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25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250"/>
                                        <p:tgtEl>
                                          <p:spTgt spid="1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0"/>
                                        </p:tgtEl>
                                        <p:attrNameLst>
                                          <p:attrName>style.visibility</p:attrName>
                                        </p:attrNameLst>
                                      </p:cBhvr>
                                      <p:to>
                                        <p:strVal val="visible"/>
                                      </p:to>
                                    </p:set>
                                    <p:animEffect transition="in" filter="fade">
                                      <p:cBhvr>
                                        <p:cTn id="13" dur="250"/>
                                        <p:tgtEl>
                                          <p:spTgt spid="20"/>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4"/>
                                        </p:tgtEl>
                                        <p:attrNameLst>
                                          <p:attrName>style.visibility</p:attrName>
                                        </p:attrNameLst>
                                      </p:cBhvr>
                                      <p:to>
                                        <p:strVal val="visible"/>
                                      </p:to>
                                    </p:set>
                                    <p:animEffect transition="in" filter="fade">
                                      <p:cBhvr>
                                        <p:cTn id="16" dur="250"/>
                                        <p:tgtEl>
                                          <p:spTgt spid="24"/>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8"/>
                                        </p:tgtEl>
                                        <p:attrNameLst>
                                          <p:attrName>style.visibility</p:attrName>
                                        </p:attrNameLst>
                                      </p:cBhvr>
                                      <p:to>
                                        <p:strVal val="visible"/>
                                      </p:to>
                                    </p:set>
                                    <p:animEffect transition="in" filter="fade">
                                      <p:cBhvr>
                                        <p:cTn id="19" dur="25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6" grpId="0" animBg="1"/>
      <p:bldP spid="20" grpId="0" animBg="1"/>
      <p:bldP spid="24" grpId="0" animBg="1"/>
      <p:bldP spid="28" grpId="0" animBg="1"/>
    </p:bldLst>
  </p:timing>
</p:sld>
</file>

<file path=ppt/slides/slide28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8000"/>
            </a:avLst>
          </a:prstGeom>
          <a:solidFill>
            <a:srgbClr val="1E2A5A"/>
          </a:solidFill>
          <a:ln>
            <a:noFill/>
          </a:ln>
        </p:spPr>
        <p:txBody>
          <a:bodyPr wrap="square" lIns="45720" tIns="18288" rIns="45720" bIns="18288" anchor="ctr" rtlCol="0">
            <a:noAutofit/>
          </a:bodyPr>
          <a:lstStyle/>
          <a:p>
            <a:pPr algn="ctr">
              <a:lnSpc>
                <a:spcPts val="2000"/>
              </a:lnSpc>
              <a:spcBef>
                <a:spcPts val="0"/>
              </a:spcBef>
              <a:spcAft>
                <a:spcPts val="0"/>
              </a:spcAft>
              <a:buNone/>
            </a:pPr>
            <a:r>
              <a:rPr lang="en-US" altLang="en-US" sz="1700" b="1" dirty="0">
                <a:solidFill>
                  <a:srgbClr val="FFFFFF"/>
                </a:solidFill>
                <a:latin typeface="Calibri"/>
                <a:ea typeface="맑은 고딕"/>
                <a:cs typeface="Calibri"/>
              </a:rPr>
              <a:t>L8-2</a:t>
            </a:r>
            <a:endParaRPr lang="ko-KR" sz="1700"/>
          </a:p>
        </p:txBody>
      </p:sp>
      <p:sp>
        <p:nvSpPr>
          <p:cNvPr id="3" name="hdr_chip"/>
          <p:cNvSpPr/>
          <p:nvPr/>
        </p:nvSpPr>
        <p:spPr>
          <a:xfrm>
            <a:off x="1755648" y="274320"/>
            <a:ext cx="1371600" cy="493776"/>
          </a:xfrm>
          <a:prstGeom prst="roundRect">
            <a:avLst>
              <a:gd name="adj" fmla="val 8000"/>
            </a:avLst>
          </a:prstGeom>
          <a:solidFill>
            <a:srgbClr val="E6EAF4"/>
          </a:solidFill>
          <a:ln>
            <a:noFill/>
          </a:ln>
        </p:spPr>
        <p:txBody>
          <a:bodyPr wrap="square" lIns="27432" tIns="18288" rIns="27432" bIns="18288" anchor="ctr" rtlCol="0">
            <a:noAutofit/>
          </a:bodyPr>
          <a:lstStyle/>
          <a:p>
            <a:pPr algn="ctr">
              <a:lnSpc>
                <a:spcPts val="1700"/>
              </a:lnSpc>
              <a:spcBef>
                <a:spcPts val="0"/>
              </a:spcBef>
              <a:spcAft>
                <a:spcPts val="0"/>
              </a:spcAft>
              <a:buNone/>
            </a:pPr>
            <a:r>
              <a:rPr lang="ko-KR" altLang="en-US" sz="1400" b="1" dirty="0">
                <a:solidFill>
                  <a:srgbClr val="1E2A5A"/>
                </a:solidFill>
                <a:latin typeface="맑은 고딕"/>
                <a:ea typeface="맑은 고딕"/>
                <a:cs typeface="맑은 고딕"/>
              </a:rPr>
              <a:t>PART 4 · 4</a:t>
            </a:r>
            <a:endParaRPr lang="ko-KR" sz="1400"/>
          </a:p>
        </p:txBody>
      </p:sp>
      <p:sp>
        <p:nvSpPr>
          <p:cNvPr id="4" name="hdr_q"/>
          <p:cNvSpPr txBox="1"/>
          <p:nvPr/>
        </p:nvSpPr>
        <p:spPr>
          <a:xfrm>
            <a:off x="3246120" y="246888"/>
            <a:ext cx="8485632" cy="548640"/>
          </a:xfrm>
          <a:prstGeom prst="rect">
            <a:avLst/>
          </a:prstGeom>
          <a:noFill/>
        </p:spPr>
        <p:txBody>
          <a:bodyPr wrap="square" lIns="109728" tIns="54864" rIns="109728" bIns="54864" anchor="ctr" rtlCol="0">
            <a:noAutofit/>
          </a:bodyPr>
          <a:lstStyle/>
          <a:p>
            <a:pPr algn="l">
              <a:lnSpc>
                <a:spcPts val="2400"/>
              </a:lnSpc>
              <a:spcBef>
                <a:spcPts val="0"/>
              </a:spcBef>
              <a:spcAft>
                <a:spcPts val="0"/>
              </a:spcAft>
              <a:buNone/>
            </a:pPr>
            <a:r>
              <a:rPr lang="ko-KR" altLang="en-US" sz="2000" b="1" dirty="0">
                <a:solidFill>
                  <a:srgbClr val="1F2328"/>
                </a:solidFill>
                <a:latin typeface="맑은 고딕"/>
                <a:ea typeface="맑은 고딕"/>
                <a:cs typeface="맑은 고딕"/>
              </a:rPr>
              <a:t>본문과 일치하면 T, 일치하지 않으면 F를 고르시오.</a:t>
            </a:r>
            <a:endParaRPr lang="ko-KR" sz="2000"/>
          </a:p>
        </p:txBody>
      </p:sp>
      <p:sp>
        <p:nvSpPr>
          <p:cNvPr id="5" name="ftr_exam"/>
          <p:cNvSpPr txBox="1"/>
          <p:nvPr/>
        </p:nvSpPr>
        <p:spPr>
          <a:xfrm>
            <a:off x="457200" y="6519672"/>
            <a:ext cx="5669280" cy="256032"/>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8</a:t>
            </a:r>
            <a:endParaRPr lang="ko-KR" sz="1000"/>
          </a:p>
        </p:txBody>
      </p:sp>
      <p:sp>
        <p:nvSpPr>
          <p:cNvPr id="6" name="ftr_hint"/>
          <p:cNvSpPr txBox="1"/>
          <p:nvPr/>
        </p:nvSpPr>
        <p:spPr>
          <a:xfrm>
            <a:off x="5971032" y="6519672"/>
            <a:ext cx="5760720" cy="256032"/>
          </a:xfrm>
          <a:prstGeom prst="rect">
            <a:avLst/>
          </a:prstGeom>
          <a:noFill/>
        </p:spPr>
        <p:txBody>
          <a:bodyPr wrap="square" lIns="0" tIns="0" rIns="0" bIns="0" anchor="t" rtlCol="0">
            <a:noAutofit/>
          </a:bodyPr>
          <a:lstStyle/>
          <a:p>
            <a:pPr algn="r">
              <a:lnSpc>
                <a:spcPts val="1200"/>
              </a:lnSpc>
              <a:spcBef>
                <a:spcPts val="0"/>
              </a:spcBef>
              <a:spcAft>
                <a:spcPts val="0"/>
              </a:spcAft>
              <a:buNone/>
            </a:pPr>
            <a:r>
              <a:rPr lang="ko-KR" altLang="en-US" sz="1000" b="0" dirty="0">
                <a:solidFill>
                  <a:srgbClr val="7A808C"/>
                </a:solidFill>
                <a:latin typeface="맑은 고딕"/>
                <a:ea typeface="맑은 고딕"/>
                <a:cs typeface="맑은 고딕"/>
              </a:rPr>
              <a:t>클릭 ① 정답(T/F) 공개</a:t>
            </a:r>
            <a:endParaRPr lang="ko-KR" sz="1000"/>
          </a:p>
        </p:txBody>
      </p:sp>
      <p:sp>
        <p:nvSpPr>
          <p:cNvPr id="7" name="passage_card"/>
          <p:cNvSpPr/>
          <p:nvPr/>
        </p:nvSpPr>
        <p:spPr>
          <a:xfrm>
            <a:off x="457200" y="950976"/>
            <a:ext cx="11274552" cy="2505456"/>
          </a:xfrm>
          <a:prstGeom prst="roundRect">
            <a:avLst>
              <a:gd name="adj" fmla="val 4000"/>
            </a:avLst>
          </a:prstGeom>
          <a:solidFill>
            <a:srgbClr val="F3F5F9"/>
          </a:solidFill>
          <a:ln w="12700">
            <a:solidFill>
              <a:srgbClr val="D9DFEA"/>
            </a:solidFill>
          </a:ln>
        </p:spPr>
        <p:txBody>
          <a:bodyPr rtlCol="0" anchor="ctr"/>
          <a:lstStyle/>
          <a:p>
            <a:pPr algn="ctr"/>
          </a:p>
        </p:txBody>
      </p:sp>
      <p:sp>
        <p:nvSpPr>
          <p:cNvPr id="8" name="passage"/>
          <p:cNvSpPr txBox="1"/>
          <p:nvPr/>
        </p:nvSpPr>
        <p:spPr>
          <a:xfrm>
            <a:off x="457200" y="950976"/>
            <a:ext cx="11274552" cy="2505456"/>
          </a:xfrm>
          <a:prstGeom prst="rect">
            <a:avLst/>
          </a:prstGeom>
          <a:noFill/>
        </p:spPr>
        <p:txBody>
          <a:bodyPr wrap="square" lIns="182880" tIns="137160" rIns="182880" bIns="137160" anchor="t" rtlCol="0">
            <a:noAutofit/>
          </a:bodyPr>
          <a:lstStyle/>
          <a:p>
            <a:pPr algn="l">
              <a:lnSpc>
                <a:spcPts val="1952"/>
              </a:lnSpc>
              <a:spcBef>
                <a:spcPts val="0"/>
              </a:spcBef>
              <a:spcAft>
                <a:spcPts val="0"/>
              </a:spcAft>
              <a:buNone/>
            </a:pPr>
            <a:r>
              <a:rPr lang="ko-KR" altLang="en-US" sz="1600" b="1" dirty="0">
                <a:solidFill>
                  <a:srgbClr val="1E2A5A"/>
                </a:solidFill>
                <a:latin typeface="맑은 고딕"/>
                <a:ea typeface="맑은 고딕"/>
                <a:cs typeface="맑은 고딕"/>
              </a:rPr>
              <a:t>⑦ </a:t>
            </a:r>
            <a:r>
              <a:rPr lang="en-US" altLang="en-US" sz="1600" b="0" dirty="0">
                <a:solidFill>
                  <a:srgbClr val="1F2328"/>
                </a:solidFill>
                <a:latin typeface="Calibri"/>
                <a:ea typeface="맑은 고딕"/>
                <a:cs typeface="Calibri"/>
              </a:rPr>
              <a:t>The animals or objects in Munjado are not just decorations. They often are symbolic. </a:t>
            </a:r>
            <a:r>
              <a:rPr lang="ko-KR" altLang="en-US" sz="1600" b="1" dirty="0">
                <a:solidFill>
                  <a:srgbClr val="1E2A5A"/>
                </a:solidFill>
                <a:latin typeface="맑은 고딕"/>
                <a:ea typeface="맑은 고딕"/>
                <a:cs typeface="맑은 고딕"/>
              </a:rPr>
              <a:t>⑧ </a:t>
            </a:r>
            <a:r>
              <a:rPr lang="en-US" altLang="en-US" sz="1600" b="0" dirty="0">
                <a:solidFill>
                  <a:srgbClr val="1F2328"/>
                </a:solidFill>
                <a:latin typeface="Calibri"/>
                <a:ea typeface="맑은 고딕"/>
                <a:cs typeface="Calibri"/>
              </a:rPr>
              <a:t>For example, carp in the paintings of hyo symbolize respect for parents because of an old story. </a:t>
            </a:r>
            <a:r>
              <a:rPr lang="ko-KR" altLang="en-US" sz="1600" b="1" dirty="0">
                <a:solidFill>
                  <a:srgbClr val="1E2A5A"/>
                </a:solidFill>
                <a:latin typeface="맑은 고딕"/>
                <a:ea typeface="맑은 고딕"/>
                <a:cs typeface="맑은 고딕"/>
              </a:rPr>
              <a:t>⑨ </a:t>
            </a:r>
            <a:r>
              <a:rPr lang="en-US" altLang="en-US" sz="1600" b="0" dirty="0">
                <a:solidFill>
                  <a:srgbClr val="1F2328"/>
                </a:solidFill>
                <a:latin typeface="Calibri"/>
                <a:ea typeface="맑은 고딕"/>
                <a:cs typeface="Calibri"/>
              </a:rPr>
              <a:t>The story goes as follows. Once upon a time, a man lived with his old mother. </a:t>
            </a:r>
            <a:r>
              <a:rPr lang="ko-KR" altLang="en-US" sz="1600" b="1" dirty="0">
                <a:solidFill>
                  <a:srgbClr val="1E2A5A"/>
                </a:solidFill>
                <a:latin typeface="맑은 고딕"/>
                <a:ea typeface="맑은 고딕"/>
                <a:cs typeface="맑은 고딕"/>
              </a:rPr>
              <a:t>⑩ </a:t>
            </a:r>
            <a:r>
              <a:rPr lang="en-US" altLang="en-US" sz="1600" b="0" dirty="0">
                <a:solidFill>
                  <a:srgbClr val="1F2328"/>
                </a:solidFill>
                <a:latin typeface="Calibri"/>
                <a:ea typeface="맑은 고딕"/>
                <a:cs typeface="Calibri"/>
              </a:rPr>
              <a:t>One winter, the man’s mother became ill and couldn’t eat anything. </a:t>
            </a:r>
            <a:r>
              <a:rPr lang="ko-KR" altLang="en-US" sz="1600" b="1" dirty="0">
                <a:solidFill>
                  <a:srgbClr val="1E2A5A"/>
                </a:solidFill>
                <a:latin typeface="맑은 고딕"/>
                <a:ea typeface="맑은 고딕"/>
                <a:cs typeface="맑은 고딕"/>
              </a:rPr>
              <a:t>⑪ </a:t>
            </a:r>
            <a:r>
              <a:rPr lang="en-US" altLang="en-US" sz="1600" b="0" dirty="0">
                <a:solidFill>
                  <a:srgbClr val="1F2328"/>
                </a:solidFill>
                <a:latin typeface="Calibri"/>
                <a:ea typeface="맑은 고딕"/>
                <a:cs typeface="Calibri"/>
              </a:rPr>
              <a:t>On one very cold day, the mother said to the man, “It would be wonderful if I could eat fresh fish.” </a:t>
            </a:r>
            <a:r>
              <a:rPr lang="ko-KR" altLang="en-US" sz="1600" b="1" dirty="0">
                <a:solidFill>
                  <a:srgbClr val="1E2A5A"/>
                </a:solidFill>
                <a:latin typeface="맑은 고딕"/>
                <a:ea typeface="맑은 고딕"/>
                <a:cs typeface="맑은 고딕"/>
              </a:rPr>
              <a:t>⑫ </a:t>
            </a:r>
            <a:r>
              <a:rPr lang="en-US" altLang="en-US" sz="1600" b="0" dirty="0">
                <a:solidFill>
                  <a:srgbClr val="1F2328"/>
                </a:solidFill>
                <a:latin typeface="Calibri"/>
                <a:ea typeface="맑은 고딕"/>
                <a:cs typeface="Calibri"/>
              </a:rPr>
              <a:t>The man went out to the river, but it was completely frozen. </a:t>
            </a:r>
            <a:r>
              <a:rPr lang="ko-KR" altLang="en-US" sz="1600" b="1" dirty="0">
                <a:solidFill>
                  <a:srgbClr val="1E2A5A"/>
                </a:solidFill>
                <a:latin typeface="맑은 고딕"/>
                <a:ea typeface="맑은 고딕"/>
                <a:cs typeface="맑은 고딕"/>
              </a:rPr>
              <a:t>⑬ </a:t>
            </a:r>
            <a:r>
              <a:rPr lang="en-US" altLang="en-US" sz="1600" b="0" dirty="0">
                <a:solidFill>
                  <a:srgbClr val="1F2328"/>
                </a:solidFill>
                <a:latin typeface="Calibri"/>
                <a:ea typeface="맑은 고딕"/>
                <a:cs typeface="Calibri"/>
              </a:rPr>
              <a:t>It was impossible for him to catch any fish. </a:t>
            </a:r>
            <a:r>
              <a:rPr lang="ko-KR" altLang="en-US" sz="1600" b="1" dirty="0">
                <a:solidFill>
                  <a:srgbClr val="1E2A5A"/>
                </a:solidFill>
                <a:latin typeface="맑은 고딕"/>
                <a:ea typeface="맑은 고딕"/>
                <a:cs typeface="맑은 고딕"/>
              </a:rPr>
              <a:t>⑭ </a:t>
            </a:r>
            <a:r>
              <a:rPr lang="en-US" altLang="en-US" sz="1600" b="0" dirty="0">
                <a:solidFill>
                  <a:srgbClr val="1F2328"/>
                </a:solidFill>
                <a:latin typeface="Calibri"/>
                <a:ea typeface="맑은 고딕"/>
                <a:cs typeface="Calibri"/>
              </a:rPr>
              <a:t>The man was so disappointed that he cried out to the sky, “What should I do? Please help me.” </a:t>
            </a:r>
            <a:r>
              <a:rPr lang="ko-KR" altLang="en-US" sz="1600" b="1" dirty="0">
                <a:solidFill>
                  <a:srgbClr val="1E2A5A"/>
                </a:solidFill>
                <a:latin typeface="맑은 고딕"/>
                <a:ea typeface="맑은 고딕"/>
                <a:cs typeface="맑은 고딕"/>
              </a:rPr>
              <a:t>⑮ </a:t>
            </a:r>
            <a:r>
              <a:rPr lang="en-US" altLang="en-US" sz="1600" b="0" dirty="0">
                <a:solidFill>
                  <a:srgbClr val="1F2328"/>
                </a:solidFill>
                <a:latin typeface="Calibri"/>
                <a:ea typeface="맑은 고딕"/>
                <a:cs typeface="Calibri"/>
              </a:rPr>
              <a:t>Then the ice melted, and three carp suddenly came out of the water. </a:t>
            </a:r>
            <a:r>
              <a:rPr lang="ko-KR" altLang="en-US" sz="1600" b="1" dirty="0">
                <a:solidFill>
                  <a:srgbClr val="1E2A5A"/>
                </a:solidFill>
                <a:latin typeface="맑은 고딕"/>
                <a:ea typeface="맑은 고딕"/>
                <a:cs typeface="맑은 고딕"/>
              </a:rPr>
              <a:t>⑯ </a:t>
            </a:r>
            <a:r>
              <a:rPr lang="en-US" altLang="en-US" sz="1600" b="0" dirty="0">
                <a:solidFill>
                  <a:srgbClr val="1F2328"/>
                </a:solidFill>
                <a:latin typeface="Calibri"/>
                <a:ea typeface="맑은 고딕"/>
                <a:cs typeface="Calibri"/>
              </a:rPr>
              <a:t>The man went back home and cooked the fish for his mother. Then his mother got well. </a:t>
            </a:r>
            <a:endParaRPr lang="ko-KR" sz="1600"/>
          </a:p>
        </p:txBody>
      </p:sp>
      <p:sp>
        <p:nvSpPr>
          <p:cNvPr id="9" name="q_card_1"/>
          <p:cNvSpPr/>
          <p:nvPr/>
        </p:nvSpPr>
        <p:spPr>
          <a:xfrm>
            <a:off x="457200" y="3621024"/>
            <a:ext cx="11274552" cy="466217"/>
          </a:xfrm>
          <a:prstGeom prst="roundRect">
            <a:avLst>
              <a:gd name="adj" fmla="val 12000"/>
            </a:avLst>
          </a:prstGeom>
          <a:noFill/>
          <a:ln w="12700">
            <a:solidFill>
              <a:srgbClr val="D5DAE5"/>
            </a:solidFill>
          </a:ln>
        </p:spPr>
        <p:txBody>
          <a:bodyPr rtlCol="0" anchor="ctr"/>
          <a:lstStyle/>
          <a:p>
            <a:pPr algn="ctr"/>
          </a:p>
        </p:txBody>
      </p:sp>
      <p:sp>
        <p:nvSpPr>
          <p:cNvPr id="10" name="q_1"/>
          <p:cNvSpPr txBox="1"/>
          <p:nvPr/>
        </p:nvSpPr>
        <p:spPr>
          <a:xfrm>
            <a:off x="502920" y="3621024"/>
            <a:ext cx="9171432" cy="466217"/>
          </a:xfrm>
          <a:prstGeom prst="rect">
            <a:avLst/>
          </a:prstGeom>
          <a:noFill/>
        </p:spPr>
        <p:txBody>
          <a:bodyPr wrap="square" lIns="109728" tIns="45720" rIns="109728" bIns="45720" anchor="ctr" rtlCol="0">
            <a:noAutofit/>
          </a:bodyPr>
          <a:lstStyle/>
          <a:p>
            <a:pPr algn="l">
              <a:lnSpc>
                <a:spcPts val="2375"/>
              </a:lnSpc>
              <a:spcBef>
                <a:spcPts val="0"/>
              </a:spcBef>
              <a:spcAft>
                <a:spcPts val="0"/>
              </a:spcAft>
              <a:buNone/>
            </a:pPr>
            <a:r>
              <a:rPr lang="en-US" altLang="en-US" sz="1900" b="1" dirty="0">
                <a:solidFill>
                  <a:srgbClr val="1E2A5A"/>
                </a:solidFill>
                <a:latin typeface="Calibri"/>
                <a:ea typeface="맑은 고딕"/>
                <a:cs typeface="Calibri"/>
              </a:rPr>
              <a:t>16.  </a:t>
            </a:r>
            <a:r>
              <a:rPr lang="ko-KR" altLang="en-US" sz="1900" b="0" dirty="0">
                <a:solidFill>
                  <a:srgbClr val="1F2328"/>
                </a:solidFill>
                <a:latin typeface="맑은 고딕"/>
                <a:ea typeface="맑은 고딕"/>
                <a:cs typeface="맑은 고딕"/>
              </a:rPr>
              <a:t>어머니는 신선한 과일을 먹고 싶다고 말했다.</a:t>
            </a:r>
            <a:endParaRPr lang="ko-KR" sz="1900"/>
          </a:p>
        </p:txBody>
      </p:sp>
      <p:sp>
        <p:nvSpPr>
          <p:cNvPr id="11" name="tf_1"/>
          <p:cNvSpPr txBox="1"/>
          <p:nvPr/>
        </p:nvSpPr>
        <p:spPr>
          <a:xfrm>
            <a:off x="9765792" y="3621024"/>
            <a:ext cx="1828800" cy="466217"/>
          </a:xfrm>
          <a:prstGeom prst="rect">
            <a:avLst/>
          </a:prstGeom>
          <a:noFill/>
        </p:spPr>
        <p:txBody>
          <a:bodyPr wrap="square" lIns="18288" tIns="18288" rIns="18288" bIns="18288" anchor="ctr" rtlCol="0">
            <a:noAutofit/>
          </a:bodyPr>
          <a:lstStyle/>
          <a:p>
            <a:pPr algn="ctr">
              <a:lnSpc>
                <a:spcPts val="2375"/>
              </a:lnSpc>
              <a:spcBef>
                <a:spcPts val="0"/>
              </a:spcBef>
              <a:spcAft>
                <a:spcPts val="0"/>
              </a:spcAft>
              <a:buNone/>
            </a:pPr>
            <a:r>
              <a:rPr lang="en-US" altLang="en-US" sz="1900" b="1" dirty="0">
                <a:solidFill>
                  <a:srgbClr val="9AA3B5"/>
                </a:solidFill>
                <a:latin typeface="Calibri"/>
                <a:ea typeface="맑은 고딕"/>
                <a:cs typeface="Calibri"/>
              </a:rPr>
              <a:t>T   /   F</a:t>
            </a:r>
            <a:endParaRPr lang="ko-KR" sz="1900"/>
          </a:p>
        </p:txBody>
      </p:sp>
      <p:sp>
        <p:nvSpPr>
          <p:cNvPr id="12" name="rv_ans_1"/>
          <p:cNvSpPr/>
          <p:nvPr/>
        </p:nvSpPr>
        <p:spPr>
          <a:xfrm>
            <a:off x="9765792" y="3666744"/>
            <a:ext cx="1828800" cy="374777"/>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640"/>
              </a:lnSpc>
              <a:spcBef>
                <a:spcPts val="0"/>
              </a:spcBef>
              <a:spcAft>
                <a:spcPts val="0"/>
              </a:spcAft>
              <a:buNone/>
            </a:pPr>
            <a:r>
              <a:rPr lang="en-US" altLang="en-US" sz="2200" b="1" dirty="0">
                <a:solidFill>
                  <a:srgbClr val="C00000"/>
                </a:solidFill>
                <a:latin typeface="Calibri"/>
                <a:ea typeface="맑은 고딕"/>
                <a:cs typeface="Calibri"/>
              </a:rPr>
              <a:t>F</a:t>
            </a:r>
            <a:endParaRPr lang="ko-KR" sz="2200"/>
          </a:p>
        </p:txBody>
      </p:sp>
      <p:sp>
        <p:nvSpPr>
          <p:cNvPr id="13" name="q_card_2"/>
          <p:cNvSpPr/>
          <p:nvPr/>
        </p:nvSpPr>
        <p:spPr>
          <a:xfrm>
            <a:off x="457200" y="4160393"/>
            <a:ext cx="11274552" cy="466217"/>
          </a:xfrm>
          <a:prstGeom prst="roundRect">
            <a:avLst>
              <a:gd name="adj" fmla="val 12000"/>
            </a:avLst>
          </a:prstGeom>
          <a:noFill/>
          <a:ln w="12700">
            <a:solidFill>
              <a:srgbClr val="D5DAE5"/>
            </a:solidFill>
          </a:ln>
        </p:spPr>
        <p:txBody>
          <a:bodyPr rtlCol="0" anchor="ctr"/>
          <a:lstStyle/>
          <a:p>
            <a:pPr algn="ctr"/>
          </a:p>
        </p:txBody>
      </p:sp>
      <p:sp>
        <p:nvSpPr>
          <p:cNvPr id="14" name="q_2"/>
          <p:cNvSpPr txBox="1"/>
          <p:nvPr/>
        </p:nvSpPr>
        <p:spPr>
          <a:xfrm>
            <a:off x="502920" y="4160393"/>
            <a:ext cx="9171432" cy="466217"/>
          </a:xfrm>
          <a:prstGeom prst="rect">
            <a:avLst/>
          </a:prstGeom>
          <a:noFill/>
        </p:spPr>
        <p:txBody>
          <a:bodyPr wrap="square" lIns="109728" tIns="45720" rIns="109728" bIns="45720" anchor="ctr" rtlCol="0">
            <a:noAutofit/>
          </a:bodyPr>
          <a:lstStyle/>
          <a:p>
            <a:pPr algn="l">
              <a:lnSpc>
                <a:spcPts val="2375"/>
              </a:lnSpc>
              <a:spcBef>
                <a:spcPts val="0"/>
              </a:spcBef>
              <a:spcAft>
                <a:spcPts val="0"/>
              </a:spcAft>
              <a:buNone/>
            </a:pPr>
            <a:r>
              <a:rPr lang="en-US" altLang="en-US" sz="1900" b="1" dirty="0">
                <a:solidFill>
                  <a:srgbClr val="1E2A5A"/>
                </a:solidFill>
                <a:latin typeface="Calibri"/>
                <a:ea typeface="맑은 고딕"/>
                <a:cs typeface="Calibri"/>
              </a:rPr>
              <a:t>17.  </a:t>
            </a:r>
            <a:r>
              <a:rPr lang="ko-KR" altLang="en-US" sz="1900" b="0" dirty="0">
                <a:solidFill>
                  <a:srgbClr val="1F2328"/>
                </a:solidFill>
                <a:latin typeface="맑은 고딕"/>
                <a:ea typeface="맑은 고딕"/>
                <a:cs typeface="맑은 고딕"/>
              </a:rPr>
              <a:t>남자가 강에 갔을 때 강은 완전히 얼어 있었다.</a:t>
            </a:r>
            <a:endParaRPr lang="ko-KR" sz="1900"/>
          </a:p>
        </p:txBody>
      </p:sp>
      <p:sp>
        <p:nvSpPr>
          <p:cNvPr id="15" name="tf_2"/>
          <p:cNvSpPr txBox="1"/>
          <p:nvPr/>
        </p:nvSpPr>
        <p:spPr>
          <a:xfrm>
            <a:off x="9765792" y="4160393"/>
            <a:ext cx="1828800" cy="466217"/>
          </a:xfrm>
          <a:prstGeom prst="rect">
            <a:avLst/>
          </a:prstGeom>
          <a:noFill/>
        </p:spPr>
        <p:txBody>
          <a:bodyPr wrap="square" lIns="18288" tIns="18288" rIns="18288" bIns="18288" anchor="ctr" rtlCol="0">
            <a:noAutofit/>
          </a:bodyPr>
          <a:lstStyle/>
          <a:p>
            <a:pPr algn="ctr">
              <a:lnSpc>
                <a:spcPts val="2375"/>
              </a:lnSpc>
              <a:spcBef>
                <a:spcPts val="0"/>
              </a:spcBef>
              <a:spcAft>
                <a:spcPts val="0"/>
              </a:spcAft>
              <a:buNone/>
            </a:pPr>
            <a:r>
              <a:rPr lang="en-US" altLang="en-US" sz="1900" b="1" dirty="0">
                <a:solidFill>
                  <a:srgbClr val="9AA3B5"/>
                </a:solidFill>
                <a:latin typeface="Calibri"/>
                <a:ea typeface="맑은 고딕"/>
                <a:cs typeface="Calibri"/>
              </a:rPr>
              <a:t>T   /   F</a:t>
            </a:r>
            <a:endParaRPr lang="ko-KR" sz="1900"/>
          </a:p>
        </p:txBody>
      </p:sp>
      <p:sp>
        <p:nvSpPr>
          <p:cNvPr id="16" name="rv_ans_2"/>
          <p:cNvSpPr/>
          <p:nvPr/>
        </p:nvSpPr>
        <p:spPr>
          <a:xfrm>
            <a:off x="9765792" y="4206113"/>
            <a:ext cx="1828800" cy="374777"/>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640"/>
              </a:lnSpc>
              <a:spcBef>
                <a:spcPts val="0"/>
              </a:spcBef>
              <a:spcAft>
                <a:spcPts val="0"/>
              </a:spcAft>
              <a:buNone/>
            </a:pPr>
            <a:r>
              <a:rPr lang="en-US" altLang="en-US" sz="2200" b="1" dirty="0">
                <a:solidFill>
                  <a:srgbClr val="C00000"/>
                </a:solidFill>
                <a:latin typeface="Calibri"/>
                <a:ea typeface="맑은 고딕"/>
                <a:cs typeface="Calibri"/>
              </a:rPr>
              <a:t>T</a:t>
            </a:r>
            <a:endParaRPr lang="ko-KR" sz="2200"/>
          </a:p>
        </p:txBody>
      </p:sp>
      <p:sp>
        <p:nvSpPr>
          <p:cNvPr id="17" name="q_card_3"/>
          <p:cNvSpPr/>
          <p:nvPr/>
        </p:nvSpPr>
        <p:spPr>
          <a:xfrm>
            <a:off x="457200" y="4699762"/>
            <a:ext cx="11274552" cy="466217"/>
          </a:xfrm>
          <a:prstGeom prst="roundRect">
            <a:avLst>
              <a:gd name="adj" fmla="val 12000"/>
            </a:avLst>
          </a:prstGeom>
          <a:noFill/>
          <a:ln w="12700">
            <a:solidFill>
              <a:srgbClr val="D5DAE5"/>
            </a:solidFill>
          </a:ln>
        </p:spPr>
        <p:txBody>
          <a:bodyPr rtlCol="0" anchor="ctr"/>
          <a:lstStyle/>
          <a:p>
            <a:pPr algn="ctr"/>
          </a:p>
        </p:txBody>
      </p:sp>
      <p:sp>
        <p:nvSpPr>
          <p:cNvPr id="18" name="q_3"/>
          <p:cNvSpPr txBox="1"/>
          <p:nvPr/>
        </p:nvSpPr>
        <p:spPr>
          <a:xfrm>
            <a:off x="502920" y="4699762"/>
            <a:ext cx="9171432" cy="466217"/>
          </a:xfrm>
          <a:prstGeom prst="rect">
            <a:avLst/>
          </a:prstGeom>
          <a:noFill/>
        </p:spPr>
        <p:txBody>
          <a:bodyPr wrap="square" lIns="109728" tIns="45720" rIns="109728" bIns="45720" anchor="ctr" rtlCol="0">
            <a:noAutofit/>
          </a:bodyPr>
          <a:lstStyle/>
          <a:p>
            <a:pPr algn="l">
              <a:lnSpc>
                <a:spcPts val="2375"/>
              </a:lnSpc>
              <a:spcBef>
                <a:spcPts val="0"/>
              </a:spcBef>
              <a:spcAft>
                <a:spcPts val="0"/>
              </a:spcAft>
              <a:buNone/>
            </a:pPr>
            <a:r>
              <a:rPr lang="en-US" altLang="en-US" sz="1900" b="1" dirty="0">
                <a:solidFill>
                  <a:srgbClr val="1E2A5A"/>
                </a:solidFill>
                <a:latin typeface="Calibri"/>
                <a:ea typeface="맑은 고딕"/>
                <a:cs typeface="Calibri"/>
              </a:rPr>
              <a:t>18.  </a:t>
            </a:r>
            <a:r>
              <a:rPr lang="ko-KR" altLang="en-US" sz="1900" b="0" dirty="0">
                <a:solidFill>
                  <a:srgbClr val="1F2328"/>
                </a:solidFill>
                <a:latin typeface="맑은 고딕"/>
                <a:ea typeface="맑은 고딕"/>
                <a:cs typeface="맑은 고딕"/>
              </a:rPr>
              <a:t>남자는 강에서 쉽게 물고기를 잡았다.</a:t>
            </a:r>
            <a:endParaRPr lang="ko-KR" sz="1900"/>
          </a:p>
        </p:txBody>
      </p:sp>
      <p:sp>
        <p:nvSpPr>
          <p:cNvPr id="19" name="tf_3"/>
          <p:cNvSpPr txBox="1"/>
          <p:nvPr/>
        </p:nvSpPr>
        <p:spPr>
          <a:xfrm>
            <a:off x="9765792" y="4699762"/>
            <a:ext cx="1828800" cy="466217"/>
          </a:xfrm>
          <a:prstGeom prst="rect">
            <a:avLst/>
          </a:prstGeom>
          <a:noFill/>
        </p:spPr>
        <p:txBody>
          <a:bodyPr wrap="square" lIns="18288" tIns="18288" rIns="18288" bIns="18288" anchor="ctr" rtlCol="0">
            <a:noAutofit/>
          </a:bodyPr>
          <a:lstStyle/>
          <a:p>
            <a:pPr algn="ctr">
              <a:lnSpc>
                <a:spcPts val="2375"/>
              </a:lnSpc>
              <a:spcBef>
                <a:spcPts val="0"/>
              </a:spcBef>
              <a:spcAft>
                <a:spcPts val="0"/>
              </a:spcAft>
              <a:buNone/>
            </a:pPr>
            <a:r>
              <a:rPr lang="en-US" altLang="en-US" sz="1900" b="1" dirty="0">
                <a:solidFill>
                  <a:srgbClr val="9AA3B5"/>
                </a:solidFill>
                <a:latin typeface="Calibri"/>
                <a:ea typeface="맑은 고딕"/>
                <a:cs typeface="Calibri"/>
              </a:rPr>
              <a:t>T   /   F</a:t>
            </a:r>
            <a:endParaRPr lang="ko-KR" sz="1900"/>
          </a:p>
        </p:txBody>
      </p:sp>
      <p:sp>
        <p:nvSpPr>
          <p:cNvPr id="20" name="rv_ans_3"/>
          <p:cNvSpPr/>
          <p:nvPr/>
        </p:nvSpPr>
        <p:spPr>
          <a:xfrm>
            <a:off x="9765792" y="4745482"/>
            <a:ext cx="1828800" cy="374777"/>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640"/>
              </a:lnSpc>
              <a:spcBef>
                <a:spcPts val="0"/>
              </a:spcBef>
              <a:spcAft>
                <a:spcPts val="0"/>
              </a:spcAft>
              <a:buNone/>
            </a:pPr>
            <a:r>
              <a:rPr lang="en-US" altLang="en-US" sz="2200" b="1" dirty="0">
                <a:solidFill>
                  <a:srgbClr val="C00000"/>
                </a:solidFill>
                <a:latin typeface="Calibri"/>
                <a:ea typeface="맑은 고딕"/>
                <a:cs typeface="Calibri"/>
              </a:rPr>
              <a:t>F</a:t>
            </a:r>
            <a:endParaRPr lang="ko-KR" sz="2200"/>
          </a:p>
        </p:txBody>
      </p:sp>
      <p:sp>
        <p:nvSpPr>
          <p:cNvPr id="21" name="q_card_4"/>
          <p:cNvSpPr/>
          <p:nvPr/>
        </p:nvSpPr>
        <p:spPr>
          <a:xfrm>
            <a:off x="457200" y="5239131"/>
            <a:ext cx="11274552" cy="466217"/>
          </a:xfrm>
          <a:prstGeom prst="roundRect">
            <a:avLst>
              <a:gd name="adj" fmla="val 12000"/>
            </a:avLst>
          </a:prstGeom>
          <a:noFill/>
          <a:ln w="12700">
            <a:solidFill>
              <a:srgbClr val="D5DAE5"/>
            </a:solidFill>
          </a:ln>
        </p:spPr>
        <p:txBody>
          <a:bodyPr rtlCol="0" anchor="ctr"/>
          <a:lstStyle/>
          <a:p>
            <a:pPr algn="ctr"/>
          </a:p>
        </p:txBody>
      </p:sp>
      <p:sp>
        <p:nvSpPr>
          <p:cNvPr id="22" name="q_4"/>
          <p:cNvSpPr txBox="1"/>
          <p:nvPr/>
        </p:nvSpPr>
        <p:spPr>
          <a:xfrm>
            <a:off x="502920" y="5239131"/>
            <a:ext cx="9171432" cy="466217"/>
          </a:xfrm>
          <a:prstGeom prst="rect">
            <a:avLst/>
          </a:prstGeom>
          <a:noFill/>
        </p:spPr>
        <p:txBody>
          <a:bodyPr wrap="square" lIns="109728" tIns="45720" rIns="109728" bIns="45720" anchor="ctr" rtlCol="0">
            <a:noAutofit/>
          </a:bodyPr>
          <a:lstStyle/>
          <a:p>
            <a:pPr algn="l">
              <a:lnSpc>
                <a:spcPts val="2375"/>
              </a:lnSpc>
              <a:spcBef>
                <a:spcPts val="0"/>
              </a:spcBef>
              <a:spcAft>
                <a:spcPts val="0"/>
              </a:spcAft>
              <a:buNone/>
            </a:pPr>
            <a:r>
              <a:rPr lang="en-US" altLang="en-US" sz="1900" b="1" dirty="0">
                <a:solidFill>
                  <a:srgbClr val="1E2A5A"/>
                </a:solidFill>
                <a:latin typeface="Calibri"/>
                <a:ea typeface="맑은 고딕"/>
                <a:cs typeface="Calibri"/>
              </a:rPr>
              <a:t>19.  </a:t>
            </a:r>
            <a:r>
              <a:rPr lang="ko-KR" altLang="en-US" sz="1900" b="0" dirty="0">
                <a:solidFill>
                  <a:srgbClr val="1F2328"/>
                </a:solidFill>
                <a:latin typeface="맑은 고딕"/>
                <a:ea typeface="맑은 고딕"/>
                <a:cs typeface="맑은 고딕"/>
              </a:rPr>
              <a:t>얼음이 녹자 잉어 세 마리가 물 밖으로 나왔다.</a:t>
            </a:r>
            <a:endParaRPr lang="ko-KR" sz="1900"/>
          </a:p>
        </p:txBody>
      </p:sp>
      <p:sp>
        <p:nvSpPr>
          <p:cNvPr id="23" name="tf_4"/>
          <p:cNvSpPr txBox="1"/>
          <p:nvPr/>
        </p:nvSpPr>
        <p:spPr>
          <a:xfrm>
            <a:off x="9765792" y="5239131"/>
            <a:ext cx="1828800" cy="466217"/>
          </a:xfrm>
          <a:prstGeom prst="rect">
            <a:avLst/>
          </a:prstGeom>
          <a:noFill/>
        </p:spPr>
        <p:txBody>
          <a:bodyPr wrap="square" lIns="18288" tIns="18288" rIns="18288" bIns="18288" anchor="ctr" rtlCol="0">
            <a:noAutofit/>
          </a:bodyPr>
          <a:lstStyle/>
          <a:p>
            <a:pPr algn="ctr">
              <a:lnSpc>
                <a:spcPts val="2375"/>
              </a:lnSpc>
              <a:spcBef>
                <a:spcPts val="0"/>
              </a:spcBef>
              <a:spcAft>
                <a:spcPts val="0"/>
              </a:spcAft>
              <a:buNone/>
            </a:pPr>
            <a:r>
              <a:rPr lang="en-US" altLang="en-US" sz="1900" b="1" dirty="0">
                <a:solidFill>
                  <a:srgbClr val="9AA3B5"/>
                </a:solidFill>
                <a:latin typeface="Calibri"/>
                <a:ea typeface="맑은 고딕"/>
                <a:cs typeface="Calibri"/>
              </a:rPr>
              <a:t>T   /   F</a:t>
            </a:r>
            <a:endParaRPr lang="ko-KR" sz="1900"/>
          </a:p>
        </p:txBody>
      </p:sp>
      <p:sp>
        <p:nvSpPr>
          <p:cNvPr id="24" name="rv_ans_4"/>
          <p:cNvSpPr/>
          <p:nvPr/>
        </p:nvSpPr>
        <p:spPr>
          <a:xfrm>
            <a:off x="9765792" y="5284851"/>
            <a:ext cx="1828800" cy="374777"/>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640"/>
              </a:lnSpc>
              <a:spcBef>
                <a:spcPts val="0"/>
              </a:spcBef>
              <a:spcAft>
                <a:spcPts val="0"/>
              </a:spcAft>
              <a:buNone/>
            </a:pPr>
            <a:r>
              <a:rPr lang="en-US" altLang="en-US" sz="2200" b="1" dirty="0">
                <a:solidFill>
                  <a:srgbClr val="C00000"/>
                </a:solidFill>
                <a:latin typeface="Calibri"/>
                <a:ea typeface="맑은 고딕"/>
                <a:cs typeface="Calibri"/>
              </a:rPr>
              <a:t>T</a:t>
            </a:r>
            <a:endParaRPr lang="ko-KR" sz="2200"/>
          </a:p>
        </p:txBody>
      </p:sp>
      <p:sp>
        <p:nvSpPr>
          <p:cNvPr id="25" name="q_card_5"/>
          <p:cNvSpPr/>
          <p:nvPr/>
        </p:nvSpPr>
        <p:spPr>
          <a:xfrm>
            <a:off x="457200" y="5778500"/>
            <a:ext cx="11274552" cy="466217"/>
          </a:xfrm>
          <a:prstGeom prst="roundRect">
            <a:avLst>
              <a:gd name="adj" fmla="val 12000"/>
            </a:avLst>
          </a:prstGeom>
          <a:noFill/>
          <a:ln w="12700">
            <a:solidFill>
              <a:srgbClr val="D5DAE5"/>
            </a:solidFill>
          </a:ln>
        </p:spPr>
        <p:txBody>
          <a:bodyPr rtlCol="0" anchor="ctr"/>
          <a:lstStyle/>
          <a:p>
            <a:pPr algn="ctr"/>
          </a:p>
        </p:txBody>
      </p:sp>
      <p:sp>
        <p:nvSpPr>
          <p:cNvPr id="26" name="q_5"/>
          <p:cNvSpPr txBox="1"/>
          <p:nvPr/>
        </p:nvSpPr>
        <p:spPr>
          <a:xfrm>
            <a:off x="502920" y="5778500"/>
            <a:ext cx="9171432" cy="466217"/>
          </a:xfrm>
          <a:prstGeom prst="rect">
            <a:avLst/>
          </a:prstGeom>
          <a:noFill/>
        </p:spPr>
        <p:txBody>
          <a:bodyPr wrap="square" lIns="109728" tIns="45720" rIns="109728" bIns="45720" anchor="ctr" rtlCol="0">
            <a:noAutofit/>
          </a:bodyPr>
          <a:lstStyle/>
          <a:p>
            <a:pPr algn="l">
              <a:lnSpc>
                <a:spcPts val="2375"/>
              </a:lnSpc>
              <a:spcBef>
                <a:spcPts val="0"/>
              </a:spcBef>
              <a:spcAft>
                <a:spcPts val="0"/>
              </a:spcAft>
              <a:buNone/>
            </a:pPr>
            <a:r>
              <a:rPr lang="en-US" altLang="en-US" sz="1900" b="1" dirty="0">
                <a:solidFill>
                  <a:srgbClr val="1E2A5A"/>
                </a:solidFill>
                <a:latin typeface="Calibri"/>
                <a:ea typeface="맑은 고딕"/>
                <a:cs typeface="Calibri"/>
              </a:rPr>
              <a:t>20.  </a:t>
            </a:r>
            <a:r>
              <a:rPr lang="ko-KR" altLang="en-US" sz="1900" b="0" dirty="0">
                <a:solidFill>
                  <a:srgbClr val="1F2328"/>
                </a:solidFill>
                <a:latin typeface="맑은 고딕"/>
                <a:ea typeface="맑은 고딕"/>
                <a:cs typeface="맑은 고딕"/>
              </a:rPr>
              <a:t>물고기를 먹은 후에도 어머니의 병은 낫지 않았다.</a:t>
            </a:r>
            <a:endParaRPr lang="ko-KR" sz="1900"/>
          </a:p>
        </p:txBody>
      </p:sp>
      <p:sp>
        <p:nvSpPr>
          <p:cNvPr id="27" name="tf_5"/>
          <p:cNvSpPr txBox="1"/>
          <p:nvPr/>
        </p:nvSpPr>
        <p:spPr>
          <a:xfrm>
            <a:off x="9765792" y="5778500"/>
            <a:ext cx="1828800" cy="466217"/>
          </a:xfrm>
          <a:prstGeom prst="rect">
            <a:avLst/>
          </a:prstGeom>
          <a:noFill/>
        </p:spPr>
        <p:txBody>
          <a:bodyPr wrap="square" lIns="18288" tIns="18288" rIns="18288" bIns="18288" anchor="ctr" rtlCol="0">
            <a:noAutofit/>
          </a:bodyPr>
          <a:lstStyle/>
          <a:p>
            <a:pPr algn="ctr">
              <a:lnSpc>
                <a:spcPts val="2375"/>
              </a:lnSpc>
              <a:spcBef>
                <a:spcPts val="0"/>
              </a:spcBef>
              <a:spcAft>
                <a:spcPts val="0"/>
              </a:spcAft>
              <a:buNone/>
            </a:pPr>
            <a:r>
              <a:rPr lang="en-US" altLang="en-US" sz="1900" b="1" dirty="0">
                <a:solidFill>
                  <a:srgbClr val="9AA3B5"/>
                </a:solidFill>
                <a:latin typeface="Calibri"/>
                <a:ea typeface="맑은 고딕"/>
                <a:cs typeface="Calibri"/>
              </a:rPr>
              <a:t>T   /   F</a:t>
            </a:r>
            <a:endParaRPr lang="ko-KR" sz="1900"/>
          </a:p>
        </p:txBody>
      </p:sp>
      <p:sp>
        <p:nvSpPr>
          <p:cNvPr id="28" name="rv_ans_5"/>
          <p:cNvSpPr/>
          <p:nvPr/>
        </p:nvSpPr>
        <p:spPr>
          <a:xfrm>
            <a:off x="9765792" y="5824220"/>
            <a:ext cx="1828800" cy="374777"/>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640"/>
              </a:lnSpc>
              <a:spcBef>
                <a:spcPts val="0"/>
              </a:spcBef>
              <a:spcAft>
                <a:spcPts val="0"/>
              </a:spcAft>
              <a:buNone/>
            </a:pPr>
            <a:r>
              <a:rPr lang="en-US" altLang="en-US" sz="2200" b="1" dirty="0">
                <a:solidFill>
                  <a:srgbClr val="C00000"/>
                </a:solidFill>
                <a:latin typeface="Calibri"/>
                <a:ea typeface="맑은 고딕"/>
                <a:cs typeface="Calibri"/>
              </a:rPr>
              <a:t>F</a:t>
            </a:r>
            <a:endParaRPr lang="ko-KR" sz="22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25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250"/>
                                        <p:tgtEl>
                                          <p:spTgt spid="1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0"/>
                                        </p:tgtEl>
                                        <p:attrNameLst>
                                          <p:attrName>style.visibility</p:attrName>
                                        </p:attrNameLst>
                                      </p:cBhvr>
                                      <p:to>
                                        <p:strVal val="visible"/>
                                      </p:to>
                                    </p:set>
                                    <p:animEffect transition="in" filter="fade">
                                      <p:cBhvr>
                                        <p:cTn id="13" dur="250"/>
                                        <p:tgtEl>
                                          <p:spTgt spid="20"/>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4"/>
                                        </p:tgtEl>
                                        <p:attrNameLst>
                                          <p:attrName>style.visibility</p:attrName>
                                        </p:attrNameLst>
                                      </p:cBhvr>
                                      <p:to>
                                        <p:strVal val="visible"/>
                                      </p:to>
                                    </p:set>
                                    <p:animEffect transition="in" filter="fade">
                                      <p:cBhvr>
                                        <p:cTn id="16" dur="250"/>
                                        <p:tgtEl>
                                          <p:spTgt spid="24"/>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8"/>
                                        </p:tgtEl>
                                        <p:attrNameLst>
                                          <p:attrName>style.visibility</p:attrName>
                                        </p:attrNameLst>
                                      </p:cBhvr>
                                      <p:to>
                                        <p:strVal val="visible"/>
                                      </p:to>
                                    </p:set>
                                    <p:animEffect transition="in" filter="fade">
                                      <p:cBhvr>
                                        <p:cTn id="19" dur="25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6" grpId="0" animBg="1"/>
      <p:bldP spid="20" grpId="0" animBg="1"/>
      <p:bldP spid="24" grpId="0" animBg="1"/>
      <p:bldP spid="28" grpId="0" animBg="1"/>
    </p:bldLst>
  </p:timing>
</p:sld>
</file>

<file path=ppt/slides/slide28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8000"/>
            </a:avLst>
          </a:prstGeom>
          <a:solidFill>
            <a:srgbClr val="1E2A5A"/>
          </a:solidFill>
          <a:ln>
            <a:noFill/>
          </a:ln>
        </p:spPr>
        <p:txBody>
          <a:bodyPr wrap="square" lIns="45720" tIns="18288" rIns="45720" bIns="18288" anchor="ctr" rtlCol="0">
            <a:noAutofit/>
          </a:bodyPr>
          <a:lstStyle/>
          <a:p>
            <a:pPr algn="ctr">
              <a:lnSpc>
                <a:spcPts val="2000"/>
              </a:lnSpc>
              <a:spcBef>
                <a:spcPts val="0"/>
              </a:spcBef>
              <a:spcAft>
                <a:spcPts val="0"/>
              </a:spcAft>
              <a:buNone/>
            </a:pPr>
            <a:r>
              <a:rPr lang="en-US" altLang="en-US" sz="1700" b="1" dirty="0">
                <a:solidFill>
                  <a:srgbClr val="FFFFFF"/>
                </a:solidFill>
                <a:latin typeface="Calibri"/>
                <a:ea typeface="맑은 고딕"/>
                <a:cs typeface="Calibri"/>
              </a:rPr>
              <a:t>L8-3</a:t>
            </a:r>
            <a:endParaRPr lang="ko-KR" sz="1700"/>
          </a:p>
        </p:txBody>
      </p:sp>
      <p:sp>
        <p:nvSpPr>
          <p:cNvPr id="3" name="hdr_chip"/>
          <p:cNvSpPr/>
          <p:nvPr/>
        </p:nvSpPr>
        <p:spPr>
          <a:xfrm>
            <a:off x="1755648" y="274320"/>
            <a:ext cx="1371600" cy="493776"/>
          </a:xfrm>
          <a:prstGeom prst="roundRect">
            <a:avLst>
              <a:gd name="adj" fmla="val 8000"/>
            </a:avLst>
          </a:prstGeom>
          <a:solidFill>
            <a:srgbClr val="E6EAF4"/>
          </a:solidFill>
          <a:ln>
            <a:noFill/>
          </a:ln>
        </p:spPr>
        <p:txBody>
          <a:bodyPr wrap="square" lIns="27432" tIns="18288" rIns="27432" bIns="18288" anchor="ctr" rtlCol="0">
            <a:noAutofit/>
          </a:bodyPr>
          <a:lstStyle/>
          <a:p>
            <a:pPr algn="ctr">
              <a:lnSpc>
                <a:spcPts val="1700"/>
              </a:lnSpc>
              <a:spcBef>
                <a:spcPts val="0"/>
              </a:spcBef>
              <a:spcAft>
                <a:spcPts val="0"/>
              </a:spcAft>
              <a:buNone/>
            </a:pPr>
            <a:r>
              <a:rPr lang="ko-KR" altLang="en-US" sz="1400" b="1" dirty="0">
                <a:solidFill>
                  <a:srgbClr val="1E2A5A"/>
                </a:solidFill>
                <a:latin typeface="맑은 고딕"/>
                <a:ea typeface="맑은 고딕"/>
                <a:cs typeface="맑은 고딕"/>
              </a:rPr>
              <a:t>PART 4 · 5</a:t>
            </a:r>
            <a:endParaRPr lang="ko-KR" sz="1400"/>
          </a:p>
        </p:txBody>
      </p:sp>
      <p:sp>
        <p:nvSpPr>
          <p:cNvPr id="4" name="hdr_q"/>
          <p:cNvSpPr txBox="1"/>
          <p:nvPr/>
        </p:nvSpPr>
        <p:spPr>
          <a:xfrm>
            <a:off x="3246120" y="246888"/>
            <a:ext cx="8485632" cy="548640"/>
          </a:xfrm>
          <a:prstGeom prst="rect">
            <a:avLst/>
          </a:prstGeom>
          <a:noFill/>
        </p:spPr>
        <p:txBody>
          <a:bodyPr wrap="square" lIns="109728" tIns="54864" rIns="109728" bIns="54864" anchor="ctr" rtlCol="0">
            <a:noAutofit/>
          </a:bodyPr>
          <a:lstStyle/>
          <a:p>
            <a:pPr algn="l">
              <a:lnSpc>
                <a:spcPts val="2400"/>
              </a:lnSpc>
              <a:spcBef>
                <a:spcPts val="0"/>
              </a:spcBef>
              <a:spcAft>
                <a:spcPts val="0"/>
              </a:spcAft>
              <a:buNone/>
            </a:pPr>
            <a:r>
              <a:rPr lang="ko-KR" altLang="en-US" sz="2000" b="1" dirty="0">
                <a:solidFill>
                  <a:srgbClr val="1F2328"/>
                </a:solidFill>
                <a:latin typeface="맑은 고딕"/>
                <a:ea typeface="맑은 고딕"/>
                <a:cs typeface="맑은 고딕"/>
              </a:rPr>
              <a:t>본문과 일치하면 T, 일치하지 않으면 F를 고르시오.</a:t>
            </a:r>
            <a:endParaRPr lang="ko-KR" sz="2000"/>
          </a:p>
        </p:txBody>
      </p:sp>
      <p:sp>
        <p:nvSpPr>
          <p:cNvPr id="5" name="ftr_exam"/>
          <p:cNvSpPr txBox="1"/>
          <p:nvPr/>
        </p:nvSpPr>
        <p:spPr>
          <a:xfrm>
            <a:off x="457200" y="6519672"/>
            <a:ext cx="5669280" cy="256032"/>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8</a:t>
            </a:r>
            <a:endParaRPr lang="ko-KR" sz="1000"/>
          </a:p>
        </p:txBody>
      </p:sp>
      <p:sp>
        <p:nvSpPr>
          <p:cNvPr id="6" name="ftr_hint"/>
          <p:cNvSpPr txBox="1"/>
          <p:nvPr/>
        </p:nvSpPr>
        <p:spPr>
          <a:xfrm>
            <a:off x="5971032" y="6519672"/>
            <a:ext cx="5760720" cy="256032"/>
          </a:xfrm>
          <a:prstGeom prst="rect">
            <a:avLst/>
          </a:prstGeom>
          <a:noFill/>
        </p:spPr>
        <p:txBody>
          <a:bodyPr wrap="square" lIns="0" tIns="0" rIns="0" bIns="0" anchor="t" rtlCol="0">
            <a:noAutofit/>
          </a:bodyPr>
          <a:lstStyle/>
          <a:p>
            <a:pPr algn="r">
              <a:lnSpc>
                <a:spcPts val="1200"/>
              </a:lnSpc>
              <a:spcBef>
                <a:spcPts val="0"/>
              </a:spcBef>
              <a:spcAft>
                <a:spcPts val="0"/>
              </a:spcAft>
              <a:buNone/>
            </a:pPr>
            <a:r>
              <a:rPr lang="ko-KR" altLang="en-US" sz="1000" b="0" dirty="0">
                <a:solidFill>
                  <a:srgbClr val="7A808C"/>
                </a:solidFill>
                <a:latin typeface="맑은 고딕"/>
                <a:ea typeface="맑은 고딕"/>
                <a:cs typeface="맑은 고딕"/>
              </a:rPr>
              <a:t>클릭 ① 정답(T/F) 공개</a:t>
            </a:r>
            <a:endParaRPr lang="ko-KR" sz="1000"/>
          </a:p>
        </p:txBody>
      </p:sp>
      <p:sp>
        <p:nvSpPr>
          <p:cNvPr id="7" name="passage_card"/>
          <p:cNvSpPr/>
          <p:nvPr/>
        </p:nvSpPr>
        <p:spPr>
          <a:xfrm>
            <a:off x="457200" y="950976"/>
            <a:ext cx="11274552" cy="2505456"/>
          </a:xfrm>
          <a:prstGeom prst="roundRect">
            <a:avLst>
              <a:gd name="adj" fmla="val 4000"/>
            </a:avLst>
          </a:prstGeom>
          <a:solidFill>
            <a:srgbClr val="F3F5F9"/>
          </a:solidFill>
          <a:ln w="12700">
            <a:solidFill>
              <a:srgbClr val="D9DFEA"/>
            </a:solidFill>
          </a:ln>
        </p:spPr>
        <p:txBody>
          <a:bodyPr rtlCol="0" anchor="ctr"/>
          <a:lstStyle/>
          <a:p>
            <a:pPr algn="ctr"/>
          </a:p>
        </p:txBody>
      </p:sp>
      <p:sp>
        <p:nvSpPr>
          <p:cNvPr id="8" name="passage"/>
          <p:cNvSpPr txBox="1"/>
          <p:nvPr/>
        </p:nvSpPr>
        <p:spPr>
          <a:xfrm>
            <a:off x="457200" y="950976"/>
            <a:ext cx="11274552" cy="2505456"/>
          </a:xfrm>
          <a:prstGeom prst="rect">
            <a:avLst/>
          </a:prstGeom>
          <a:noFill/>
        </p:spPr>
        <p:txBody>
          <a:bodyPr wrap="square" lIns="182880" tIns="137160" rIns="182880" bIns="137160" anchor="t" rtlCol="0">
            <a:noAutofit/>
          </a:bodyPr>
          <a:lstStyle/>
          <a:p>
            <a:pPr algn="l">
              <a:lnSpc>
                <a:spcPts val="1952"/>
              </a:lnSpc>
              <a:spcBef>
                <a:spcPts val="0"/>
              </a:spcBef>
              <a:spcAft>
                <a:spcPts val="0"/>
              </a:spcAft>
              <a:buNone/>
            </a:pPr>
            <a:r>
              <a:rPr lang="ko-KR" altLang="en-US" sz="1600" b="1" dirty="0">
                <a:solidFill>
                  <a:srgbClr val="1E2A5A"/>
                </a:solidFill>
                <a:latin typeface="맑은 고딕"/>
                <a:ea typeface="맑은 고딕"/>
                <a:cs typeface="맑은 고딕"/>
              </a:rPr>
              <a:t>⑰ </a:t>
            </a:r>
            <a:r>
              <a:rPr lang="en-US" altLang="en-US" sz="1600" b="0" dirty="0">
                <a:solidFill>
                  <a:srgbClr val="1F2328"/>
                </a:solidFill>
                <a:latin typeface="Calibri"/>
                <a:ea typeface="맑은 고딕"/>
                <a:cs typeface="Calibri"/>
              </a:rPr>
              <a:t>There are other examples of symbolic objects in Munjado. </a:t>
            </a:r>
            <a:r>
              <a:rPr lang="ko-KR" altLang="en-US" sz="1600" b="1" dirty="0">
                <a:solidFill>
                  <a:srgbClr val="1E2A5A"/>
                </a:solidFill>
                <a:latin typeface="맑은 고딕"/>
                <a:ea typeface="맑은 고딕"/>
                <a:cs typeface="맑은 고딕"/>
              </a:rPr>
              <a:t>⑱ </a:t>
            </a:r>
            <a:r>
              <a:rPr lang="en-US" altLang="en-US" sz="1600" b="0" dirty="0">
                <a:solidFill>
                  <a:srgbClr val="1F2328"/>
                </a:solidFill>
                <a:latin typeface="Calibri"/>
                <a:ea typeface="맑은 고딕"/>
                <a:cs typeface="Calibri"/>
              </a:rPr>
              <a:t>They are bamboo in the paintings of the character chung (忠) and lotus flowers in the paintings of ui (義). </a:t>
            </a:r>
            <a:r>
              <a:rPr lang="ko-KR" altLang="en-US" sz="1600" b="1" dirty="0">
                <a:solidFill>
                  <a:srgbClr val="1E2A5A"/>
                </a:solidFill>
                <a:latin typeface="맑은 고딕"/>
                <a:ea typeface="맑은 고딕"/>
                <a:cs typeface="맑은 고딕"/>
              </a:rPr>
              <a:t>⑲ </a:t>
            </a:r>
            <a:r>
              <a:rPr lang="en-US" altLang="en-US" sz="1600" b="0" dirty="0">
                <a:solidFill>
                  <a:srgbClr val="1F2328"/>
                </a:solidFill>
                <a:latin typeface="Calibri"/>
                <a:ea typeface="맑은 고딕"/>
                <a:cs typeface="Calibri"/>
              </a:rPr>
              <a:t>Bamboo does not bend. It stays green in all kinds of weather. </a:t>
            </a:r>
            <a:r>
              <a:rPr lang="ko-KR" altLang="en-US" sz="1600" b="1" dirty="0">
                <a:solidFill>
                  <a:srgbClr val="1E2A5A"/>
                </a:solidFill>
                <a:latin typeface="맑은 고딕"/>
                <a:ea typeface="맑은 고딕"/>
                <a:cs typeface="맑은 고딕"/>
              </a:rPr>
              <a:t>⑳ </a:t>
            </a:r>
            <a:r>
              <a:rPr lang="en-US" altLang="en-US" sz="1600" b="0" dirty="0">
                <a:solidFill>
                  <a:srgbClr val="1F2328"/>
                </a:solidFill>
                <a:latin typeface="Calibri"/>
                <a:ea typeface="맑은 고딕"/>
                <a:cs typeface="Calibri"/>
              </a:rPr>
              <a:t>For these reasons, bamboo came to symbolize loyalty to the king. </a:t>
            </a:r>
            <a:r>
              <a:rPr lang="en-US" altLang="en-US" sz="1600" b="1" dirty="0">
                <a:solidFill>
                  <a:srgbClr val="1E2A5A"/>
                </a:solidFill>
                <a:latin typeface="Calibri"/>
                <a:ea typeface="맑은 고딕"/>
                <a:cs typeface="Calibri"/>
              </a:rPr>
              <a:t>21. </a:t>
            </a:r>
            <a:r>
              <a:rPr lang="en-US" altLang="en-US" sz="1600" b="0" dirty="0">
                <a:solidFill>
                  <a:srgbClr val="1F2328"/>
                </a:solidFill>
                <a:latin typeface="Calibri"/>
                <a:ea typeface="맑은 고딕"/>
                <a:cs typeface="Calibri"/>
              </a:rPr>
              <a:t>In the case of lotus flowers, they grow in muddy ponds but still bloom beautifully. </a:t>
            </a:r>
            <a:r>
              <a:rPr lang="en-US" altLang="en-US" sz="1600" b="1" dirty="0">
                <a:solidFill>
                  <a:srgbClr val="1E2A5A"/>
                </a:solidFill>
                <a:latin typeface="Calibri"/>
                <a:ea typeface="맑은 고딕"/>
                <a:cs typeface="Calibri"/>
              </a:rPr>
              <a:t>22. </a:t>
            </a:r>
            <a:r>
              <a:rPr lang="en-US" altLang="en-US" sz="1600" b="0" dirty="0">
                <a:solidFill>
                  <a:srgbClr val="1F2328"/>
                </a:solidFill>
                <a:latin typeface="Calibri"/>
                <a:ea typeface="맑은 고딕"/>
                <a:cs typeface="Calibri"/>
              </a:rPr>
              <a:t>They thus became a symbol of a person’s will to fight for justice despite difficulties. </a:t>
            </a:r>
            <a:r>
              <a:rPr lang="en-US" altLang="en-US" sz="1600" b="1" dirty="0">
                <a:solidFill>
                  <a:srgbClr val="1E2A5A"/>
                </a:solidFill>
                <a:latin typeface="Calibri"/>
                <a:ea typeface="맑은 고딕"/>
                <a:cs typeface="Calibri"/>
              </a:rPr>
              <a:t>23. </a:t>
            </a:r>
            <a:r>
              <a:rPr lang="en-US" altLang="en-US" sz="1600" b="0" dirty="0">
                <a:solidFill>
                  <a:srgbClr val="1F2328"/>
                </a:solidFill>
                <a:latin typeface="Calibri"/>
                <a:ea typeface="맑은 고딕"/>
                <a:cs typeface="Calibri"/>
              </a:rPr>
              <a:t>Munjado was much more than a painting to people of the Joseon dynasty. </a:t>
            </a:r>
            <a:r>
              <a:rPr lang="en-US" altLang="en-US" sz="1600" b="1" dirty="0">
                <a:solidFill>
                  <a:srgbClr val="1E2A5A"/>
                </a:solidFill>
                <a:latin typeface="Calibri"/>
                <a:ea typeface="맑은 고딕"/>
                <a:cs typeface="Calibri"/>
              </a:rPr>
              <a:t>24. </a:t>
            </a:r>
            <a:r>
              <a:rPr lang="en-US" altLang="en-US" sz="1600" b="0" dirty="0">
                <a:solidFill>
                  <a:srgbClr val="1F2328"/>
                </a:solidFill>
                <a:latin typeface="Calibri"/>
                <a:ea typeface="맑은 고딕"/>
                <a:cs typeface="Calibri"/>
              </a:rPr>
              <a:t>It reminded them of important values that greatly influenced their behaviors and attitudes. </a:t>
            </a:r>
            <a:r>
              <a:rPr lang="en-US" altLang="en-US" sz="1600" b="1" dirty="0">
                <a:solidFill>
                  <a:srgbClr val="1E2A5A"/>
                </a:solidFill>
                <a:latin typeface="Calibri"/>
                <a:ea typeface="맑은 고딕"/>
                <a:cs typeface="Calibri"/>
              </a:rPr>
              <a:t>25. </a:t>
            </a:r>
            <a:r>
              <a:rPr lang="en-US" altLang="en-US" sz="1600" b="0" dirty="0">
                <a:solidFill>
                  <a:srgbClr val="1F2328"/>
                </a:solidFill>
                <a:latin typeface="Calibri"/>
                <a:ea typeface="맑은 고딕"/>
                <a:cs typeface="Calibri"/>
              </a:rPr>
              <a:t>In particular, for children, Munjado was a study tool. </a:t>
            </a:r>
            <a:r>
              <a:rPr lang="en-US" altLang="en-US" sz="1600" b="1" dirty="0">
                <a:solidFill>
                  <a:srgbClr val="1E2A5A"/>
                </a:solidFill>
                <a:latin typeface="Calibri"/>
                <a:ea typeface="맑은 고딕"/>
                <a:cs typeface="Calibri"/>
              </a:rPr>
              <a:t>26. </a:t>
            </a:r>
            <a:r>
              <a:rPr lang="en-US" altLang="en-US" sz="1600" b="0" dirty="0">
                <a:solidFill>
                  <a:srgbClr val="1F2328"/>
                </a:solidFill>
                <a:latin typeface="Calibri"/>
                <a:ea typeface="맑은 고딕"/>
                <a:cs typeface="Calibri"/>
              </a:rPr>
              <a:t>Through it, children in the Joseon dynasty could learn the importance of harmony in family and society. </a:t>
            </a:r>
            <a:endParaRPr lang="ko-KR" sz="1600"/>
          </a:p>
        </p:txBody>
      </p:sp>
      <p:sp>
        <p:nvSpPr>
          <p:cNvPr id="9" name="q_card_1"/>
          <p:cNvSpPr/>
          <p:nvPr/>
        </p:nvSpPr>
        <p:spPr>
          <a:xfrm>
            <a:off x="457200" y="3621024"/>
            <a:ext cx="11274552" cy="466217"/>
          </a:xfrm>
          <a:prstGeom prst="roundRect">
            <a:avLst>
              <a:gd name="adj" fmla="val 12000"/>
            </a:avLst>
          </a:prstGeom>
          <a:noFill/>
          <a:ln w="12700">
            <a:solidFill>
              <a:srgbClr val="D5DAE5"/>
            </a:solidFill>
          </a:ln>
        </p:spPr>
        <p:txBody>
          <a:bodyPr rtlCol="0" anchor="ctr"/>
          <a:lstStyle/>
          <a:p>
            <a:pPr algn="ctr"/>
          </a:p>
        </p:txBody>
      </p:sp>
      <p:sp>
        <p:nvSpPr>
          <p:cNvPr id="10" name="q_1"/>
          <p:cNvSpPr txBox="1"/>
          <p:nvPr/>
        </p:nvSpPr>
        <p:spPr>
          <a:xfrm>
            <a:off x="502920" y="3621024"/>
            <a:ext cx="9171432" cy="466217"/>
          </a:xfrm>
          <a:prstGeom prst="rect">
            <a:avLst/>
          </a:prstGeom>
          <a:noFill/>
        </p:spPr>
        <p:txBody>
          <a:bodyPr wrap="square" lIns="109728" tIns="45720" rIns="109728" bIns="45720" anchor="ctr" rtlCol="0">
            <a:noAutofit/>
          </a:bodyPr>
          <a:lstStyle/>
          <a:p>
            <a:pPr algn="l">
              <a:lnSpc>
                <a:spcPts val="2375"/>
              </a:lnSpc>
              <a:spcBef>
                <a:spcPts val="0"/>
              </a:spcBef>
              <a:spcAft>
                <a:spcPts val="0"/>
              </a:spcAft>
              <a:buNone/>
            </a:pPr>
            <a:r>
              <a:rPr lang="en-US" altLang="en-US" sz="1900" b="1" dirty="0">
                <a:solidFill>
                  <a:srgbClr val="1E2A5A"/>
                </a:solidFill>
                <a:latin typeface="Calibri"/>
                <a:ea typeface="맑은 고딕"/>
                <a:cs typeface="Calibri"/>
              </a:rPr>
              <a:t>21.  </a:t>
            </a:r>
            <a:r>
              <a:rPr lang="ko-KR" altLang="en-US" sz="1900" b="0" dirty="0">
                <a:solidFill>
                  <a:srgbClr val="1F2328"/>
                </a:solidFill>
                <a:latin typeface="맑은 고딕"/>
                <a:ea typeface="맑은 고딕"/>
                <a:cs typeface="맑은 고딕"/>
              </a:rPr>
              <a:t>'충(忠)' 그림에는 대나무가 있다.</a:t>
            </a:r>
            <a:endParaRPr lang="ko-KR" sz="1900"/>
          </a:p>
        </p:txBody>
      </p:sp>
      <p:sp>
        <p:nvSpPr>
          <p:cNvPr id="11" name="tf_1"/>
          <p:cNvSpPr txBox="1"/>
          <p:nvPr/>
        </p:nvSpPr>
        <p:spPr>
          <a:xfrm>
            <a:off x="9765792" y="3621024"/>
            <a:ext cx="1828800" cy="466217"/>
          </a:xfrm>
          <a:prstGeom prst="rect">
            <a:avLst/>
          </a:prstGeom>
          <a:noFill/>
        </p:spPr>
        <p:txBody>
          <a:bodyPr wrap="square" lIns="18288" tIns="18288" rIns="18288" bIns="18288" anchor="ctr" rtlCol="0">
            <a:noAutofit/>
          </a:bodyPr>
          <a:lstStyle/>
          <a:p>
            <a:pPr algn="ctr">
              <a:lnSpc>
                <a:spcPts val="2375"/>
              </a:lnSpc>
              <a:spcBef>
                <a:spcPts val="0"/>
              </a:spcBef>
              <a:spcAft>
                <a:spcPts val="0"/>
              </a:spcAft>
              <a:buNone/>
            </a:pPr>
            <a:r>
              <a:rPr lang="en-US" altLang="en-US" sz="1900" b="1" dirty="0">
                <a:solidFill>
                  <a:srgbClr val="9AA3B5"/>
                </a:solidFill>
                <a:latin typeface="Calibri"/>
                <a:ea typeface="맑은 고딕"/>
                <a:cs typeface="Calibri"/>
              </a:rPr>
              <a:t>T   /   F</a:t>
            </a:r>
            <a:endParaRPr lang="ko-KR" sz="1900"/>
          </a:p>
        </p:txBody>
      </p:sp>
      <p:sp>
        <p:nvSpPr>
          <p:cNvPr id="12" name="rv_ans_1"/>
          <p:cNvSpPr/>
          <p:nvPr/>
        </p:nvSpPr>
        <p:spPr>
          <a:xfrm>
            <a:off x="9765792" y="3666744"/>
            <a:ext cx="1828800" cy="374777"/>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640"/>
              </a:lnSpc>
              <a:spcBef>
                <a:spcPts val="0"/>
              </a:spcBef>
              <a:spcAft>
                <a:spcPts val="0"/>
              </a:spcAft>
              <a:buNone/>
            </a:pPr>
            <a:r>
              <a:rPr lang="en-US" altLang="en-US" sz="2200" b="1" dirty="0">
                <a:solidFill>
                  <a:srgbClr val="C00000"/>
                </a:solidFill>
                <a:latin typeface="Calibri"/>
                <a:ea typeface="맑은 고딕"/>
                <a:cs typeface="Calibri"/>
              </a:rPr>
              <a:t>T</a:t>
            </a:r>
            <a:endParaRPr lang="ko-KR" sz="2200"/>
          </a:p>
        </p:txBody>
      </p:sp>
      <p:sp>
        <p:nvSpPr>
          <p:cNvPr id="13" name="q_card_2"/>
          <p:cNvSpPr/>
          <p:nvPr/>
        </p:nvSpPr>
        <p:spPr>
          <a:xfrm>
            <a:off x="457200" y="4160393"/>
            <a:ext cx="11274552" cy="466217"/>
          </a:xfrm>
          <a:prstGeom prst="roundRect">
            <a:avLst>
              <a:gd name="adj" fmla="val 12000"/>
            </a:avLst>
          </a:prstGeom>
          <a:noFill/>
          <a:ln w="12700">
            <a:solidFill>
              <a:srgbClr val="D5DAE5"/>
            </a:solidFill>
          </a:ln>
        </p:spPr>
        <p:txBody>
          <a:bodyPr rtlCol="0" anchor="ctr"/>
          <a:lstStyle/>
          <a:p>
            <a:pPr algn="ctr"/>
          </a:p>
        </p:txBody>
      </p:sp>
      <p:sp>
        <p:nvSpPr>
          <p:cNvPr id="14" name="q_2"/>
          <p:cNvSpPr txBox="1"/>
          <p:nvPr/>
        </p:nvSpPr>
        <p:spPr>
          <a:xfrm>
            <a:off x="502920" y="4160393"/>
            <a:ext cx="9171432" cy="466217"/>
          </a:xfrm>
          <a:prstGeom prst="rect">
            <a:avLst/>
          </a:prstGeom>
          <a:noFill/>
        </p:spPr>
        <p:txBody>
          <a:bodyPr wrap="square" lIns="109728" tIns="45720" rIns="109728" bIns="45720" anchor="ctr" rtlCol="0">
            <a:noAutofit/>
          </a:bodyPr>
          <a:lstStyle/>
          <a:p>
            <a:pPr algn="l">
              <a:lnSpc>
                <a:spcPts val="2375"/>
              </a:lnSpc>
              <a:spcBef>
                <a:spcPts val="0"/>
              </a:spcBef>
              <a:spcAft>
                <a:spcPts val="0"/>
              </a:spcAft>
              <a:buNone/>
            </a:pPr>
            <a:r>
              <a:rPr lang="en-US" altLang="en-US" sz="1900" b="1" dirty="0">
                <a:solidFill>
                  <a:srgbClr val="1E2A5A"/>
                </a:solidFill>
                <a:latin typeface="Calibri"/>
                <a:ea typeface="맑은 고딕"/>
                <a:cs typeface="Calibri"/>
              </a:rPr>
              <a:t>22.  </a:t>
            </a:r>
            <a:r>
              <a:rPr lang="ko-KR" altLang="en-US" sz="1900" b="0" dirty="0">
                <a:solidFill>
                  <a:srgbClr val="1F2328"/>
                </a:solidFill>
                <a:latin typeface="맑은 고딕"/>
                <a:ea typeface="맑은 고딕"/>
                <a:cs typeface="맑은 고딕"/>
              </a:rPr>
              <a:t>'의(義)' 그림에는 대나무가 있다.</a:t>
            </a:r>
            <a:endParaRPr lang="ko-KR" sz="1900"/>
          </a:p>
        </p:txBody>
      </p:sp>
      <p:sp>
        <p:nvSpPr>
          <p:cNvPr id="15" name="tf_2"/>
          <p:cNvSpPr txBox="1"/>
          <p:nvPr/>
        </p:nvSpPr>
        <p:spPr>
          <a:xfrm>
            <a:off x="9765792" y="4160393"/>
            <a:ext cx="1828800" cy="466217"/>
          </a:xfrm>
          <a:prstGeom prst="rect">
            <a:avLst/>
          </a:prstGeom>
          <a:noFill/>
        </p:spPr>
        <p:txBody>
          <a:bodyPr wrap="square" lIns="18288" tIns="18288" rIns="18288" bIns="18288" anchor="ctr" rtlCol="0">
            <a:noAutofit/>
          </a:bodyPr>
          <a:lstStyle/>
          <a:p>
            <a:pPr algn="ctr">
              <a:lnSpc>
                <a:spcPts val="2375"/>
              </a:lnSpc>
              <a:spcBef>
                <a:spcPts val="0"/>
              </a:spcBef>
              <a:spcAft>
                <a:spcPts val="0"/>
              </a:spcAft>
              <a:buNone/>
            </a:pPr>
            <a:r>
              <a:rPr lang="en-US" altLang="en-US" sz="1900" b="1" dirty="0">
                <a:solidFill>
                  <a:srgbClr val="9AA3B5"/>
                </a:solidFill>
                <a:latin typeface="Calibri"/>
                <a:ea typeface="맑은 고딕"/>
                <a:cs typeface="Calibri"/>
              </a:rPr>
              <a:t>T   /   F</a:t>
            </a:r>
            <a:endParaRPr lang="ko-KR" sz="1900"/>
          </a:p>
        </p:txBody>
      </p:sp>
      <p:sp>
        <p:nvSpPr>
          <p:cNvPr id="16" name="rv_ans_2"/>
          <p:cNvSpPr/>
          <p:nvPr/>
        </p:nvSpPr>
        <p:spPr>
          <a:xfrm>
            <a:off x="9765792" y="4206113"/>
            <a:ext cx="1828800" cy="374777"/>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640"/>
              </a:lnSpc>
              <a:spcBef>
                <a:spcPts val="0"/>
              </a:spcBef>
              <a:spcAft>
                <a:spcPts val="0"/>
              </a:spcAft>
              <a:buNone/>
            </a:pPr>
            <a:r>
              <a:rPr lang="en-US" altLang="en-US" sz="2200" b="1" dirty="0">
                <a:solidFill>
                  <a:srgbClr val="C00000"/>
                </a:solidFill>
                <a:latin typeface="Calibri"/>
                <a:ea typeface="맑은 고딕"/>
                <a:cs typeface="Calibri"/>
              </a:rPr>
              <a:t>F</a:t>
            </a:r>
            <a:endParaRPr lang="ko-KR" sz="2200"/>
          </a:p>
        </p:txBody>
      </p:sp>
      <p:sp>
        <p:nvSpPr>
          <p:cNvPr id="17" name="q_card_3"/>
          <p:cNvSpPr/>
          <p:nvPr/>
        </p:nvSpPr>
        <p:spPr>
          <a:xfrm>
            <a:off x="457200" y="4699762"/>
            <a:ext cx="11274552" cy="466217"/>
          </a:xfrm>
          <a:prstGeom prst="roundRect">
            <a:avLst>
              <a:gd name="adj" fmla="val 12000"/>
            </a:avLst>
          </a:prstGeom>
          <a:noFill/>
          <a:ln w="12700">
            <a:solidFill>
              <a:srgbClr val="D5DAE5"/>
            </a:solidFill>
          </a:ln>
        </p:spPr>
        <p:txBody>
          <a:bodyPr rtlCol="0" anchor="ctr"/>
          <a:lstStyle/>
          <a:p>
            <a:pPr algn="ctr"/>
          </a:p>
        </p:txBody>
      </p:sp>
      <p:sp>
        <p:nvSpPr>
          <p:cNvPr id="18" name="q_3"/>
          <p:cNvSpPr txBox="1"/>
          <p:nvPr/>
        </p:nvSpPr>
        <p:spPr>
          <a:xfrm>
            <a:off x="502920" y="4699762"/>
            <a:ext cx="9171432" cy="466217"/>
          </a:xfrm>
          <a:prstGeom prst="rect">
            <a:avLst/>
          </a:prstGeom>
          <a:noFill/>
        </p:spPr>
        <p:txBody>
          <a:bodyPr wrap="square" lIns="109728" tIns="45720" rIns="109728" bIns="45720" anchor="ctr" rtlCol="0">
            <a:noAutofit/>
          </a:bodyPr>
          <a:lstStyle/>
          <a:p>
            <a:pPr algn="l">
              <a:lnSpc>
                <a:spcPts val="2375"/>
              </a:lnSpc>
              <a:spcBef>
                <a:spcPts val="0"/>
              </a:spcBef>
              <a:spcAft>
                <a:spcPts val="0"/>
              </a:spcAft>
              <a:buNone/>
            </a:pPr>
            <a:r>
              <a:rPr lang="en-US" altLang="en-US" sz="1900" b="1" dirty="0">
                <a:solidFill>
                  <a:srgbClr val="1E2A5A"/>
                </a:solidFill>
                <a:latin typeface="Calibri"/>
                <a:ea typeface="맑은 고딕"/>
                <a:cs typeface="Calibri"/>
              </a:rPr>
              <a:t>23.  </a:t>
            </a:r>
            <a:r>
              <a:rPr lang="ko-KR" altLang="en-US" sz="1900" b="0" dirty="0">
                <a:solidFill>
                  <a:srgbClr val="1F2328"/>
                </a:solidFill>
                <a:latin typeface="맑은 고딕"/>
                <a:ea typeface="맑은 고딕"/>
                <a:cs typeface="맑은 고딕"/>
              </a:rPr>
              <a:t>대나무는 구부러지지 않는다.</a:t>
            </a:r>
            <a:endParaRPr lang="ko-KR" sz="1900"/>
          </a:p>
        </p:txBody>
      </p:sp>
      <p:sp>
        <p:nvSpPr>
          <p:cNvPr id="19" name="tf_3"/>
          <p:cNvSpPr txBox="1"/>
          <p:nvPr/>
        </p:nvSpPr>
        <p:spPr>
          <a:xfrm>
            <a:off x="9765792" y="4699762"/>
            <a:ext cx="1828800" cy="466217"/>
          </a:xfrm>
          <a:prstGeom prst="rect">
            <a:avLst/>
          </a:prstGeom>
          <a:noFill/>
        </p:spPr>
        <p:txBody>
          <a:bodyPr wrap="square" lIns="18288" tIns="18288" rIns="18288" bIns="18288" anchor="ctr" rtlCol="0">
            <a:noAutofit/>
          </a:bodyPr>
          <a:lstStyle/>
          <a:p>
            <a:pPr algn="ctr">
              <a:lnSpc>
                <a:spcPts val="2375"/>
              </a:lnSpc>
              <a:spcBef>
                <a:spcPts val="0"/>
              </a:spcBef>
              <a:spcAft>
                <a:spcPts val="0"/>
              </a:spcAft>
              <a:buNone/>
            </a:pPr>
            <a:r>
              <a:rPr lang="en-US" altLang="en-US" sz="1900" b="1" dirty="0">
                <a:solidFill>
                  <a:srgbClr val="9AA3B5"/>
                </a:solidFill>
                <a:latin typeface="Calibri"/>
                <a:ea typeface="맑은 고딕"/>
                <a:cs typeface="Calibri"/>
              </a:rPr>
              <a:t>T   /   F</a:t>
            </a:r>
            <a:endParaRPr lang="ko-KR" sz="1900"/>
          </a:p>
        </p:txBody>
      </p:sp>
      <p:sp>
        <p:nvSpPr>
          <p:cNvPr id="20" name="rv_ans_3"/>
          <p:cNvSpPr/>
          <p:nvPr/>
        </p:nvSpPr>
        <p:spPr>
          <a:xfrm>
            <a:off x="9765792" y="4745482"/>
            <a:ext cx="1828800" cy="374777"/>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640"/>
              </a:lnSpc>
              <a:spcBef>
                <a:spcPts val="0"/>
              </a:spcBef>
              <a:spcAft>
                <a:spcPts val="0"/>
              </a:spcAft>
              <a:buNone/>
            </a:pPr>
            <a:r>
              <a:rPr lang="en-US" altLang="en-US" sz="2200" b="1" dirty="0">
                <a:solidFill>
                  <a:srgbClr val="C00000"/>
                </a:solidFill>
                <a:latin typeface="Calibri"/>
                <a:ea typeface="맑은 고딕"/>
                <a:cs typeface="Calibri"/>
              </a:rPr>
              <a:t>T</a:t>
            </a:r>
            <a:endParaRPr lang="ko-KR" sz="2200"/>
          </a:p>
        </p:txBody>
      </p:sp>
      <p:sp>
        <p:nvSpPr>
          <p:cNvPr id="21" name="q_card_4"/>
          <p:cNvSpPr/>
          <p:nvPr/>
        </p:nvSpPr>
        <p:spPr>
          <a:xfrm>
            <a:off x="457200" y="5239131"/>
            <a:ext cx="11274552" cy="466217"/>
          </a:xfrm>
          <a:prstGeom prst="roundRect">
            <a:avLst>
              <a:gd name="adj" fmla="val 12000"/>
            </a:avLst>
          </a:prstGeom>
          <a:noFill/>
          <a:ln w="12700">
            <a:solidFill>
              <a:srgbClr val="D5DAE5"/>
            </a:solidFill>
          </a:ln>
        </p:spPr>
        <p:txBody>
          <a:bodyPr rtlCol="0" anchor="ctr"/>
          <a:lstStyle/>
          <a:p>
            <a:pPr algn="ctr"/>
          </a:p>
        </p:txBody>
      </p:sp>
      <p:sp>
        <p:nvSpPr>
          <p:cNvPr id="22" name="q_4"/>
          <p:cNvSpPr txBox="1"/>
          <p:nvPr/>
        </p:nvSpPr>
        <p:spPr>
          <a:xfrm>
            <a:off x="502920" y="5239131"/>
            <a:ext cx="9171432" cy="466217"/>
          </a:xfrm>
          <a:prstGeom prst="rect">
            <a:avLst/>
          </a:prstGeom>
          <a:noFill/>
        </p:spPr>
        <p:txBody>
          <a:bodyPr wrap="square" lIns="109728" tIns="45720" rIns="109728" bIns="45720" anchor="ctr" rtlCol="0">
            <a:noAutofit/>
          </a:bodyPr>
          <a:lstStyle/>
          <a:p>
            <a:pPr algn="l">
              <a:lnSpc>
                <a:spcPts val="2375"/>
              </a:lnSpc>
              <a:spcBef>
                <a:spcPts val="0"/>
              </a:spcBef>
              <a:spcAft>
                <a:spcPts val="0"/>
              </a:spcAft>
              <a:buNone/>
            </a:pPr>
            <a:r>
              <a:rPr lang="en-US" altLang="en-US" sz="1900" b="1" dirty="0">
                <a:solidFill>
                  <a:srgbClr val="1E2A5A"/>
                </a:solidFill>
                <a:latin typeface="Calibri"/>
                <a:ea typeface="맑은 고딕"/>
                <a:cs typeface="Calibri"/>
              </a:rPr>
              <a:t>24.  </a:t>
            </a:r>
            <a:r>
              <a:rPr lang="ko-KR" altLang="en-US" sz="1900" b="0" dirty="0">
                <a:solidFill>
                  <a:srgbClr val="1F2328"/>
                </a:solidFill>
                <a:latin typeface="맑은 고딕"/>
                <a:ea typeface="맑은 고딕"/>
                <a:cs typeface="맑은 고딕"/>
              </a:rPr>
              <a:t>대나무는 추운 날씨에는 색이 누렇게 변한다.</a:t>
            </a:r>
            <a:endParaRPr lang="ko-KR" sz="1900"/>
          </a:p>
        </p:txBody>
      </p:sp>
      <p:sp>
        <p:nvSpPr>
          <p:cNvPr id="23" name="tf_4"/>
          <p:cNvSpPr txBox="1"/>
          <p:nvPr/>
        </p:nvSpPr>
        <p:spPr>
          <a:xfrm>
            <a:off x="9765792" y="5239131"/>
            <a:ext cx="1828800" cy="466217"/>
          </a:xfrm>
          <a:prstGeom prst="rect">
            <a:avLst/>
          </a:prstGeom>
          <a:noFill/>
        </p:spPr>
        <p:txBody>
          <a:bodyPr wrap="square" lIns="18288" tIns="18288" rIns="18288" bIns="18288" anchor="ctr" rtlCol="0">
            <a:noAutofit/>
          </a:bodyPr>
          <a:lstStyle/>
          <a:p>
            <a:pPr algn="ctr">
              <a:lnSpc>
                <a:spcPts val="2375"/>
              </a:lnSpc>
              <a:spcBef>
                <a:spcPts val="0"/>
              </a:spcBef>
              <a:spcAft>
                <a:spcPts val="0"/>
              </a:spcAft>
              <a:buNone/>
            </a:pPr>
            <a:r>
              <a:rPr lang="en-US" altLang="en-US" sz="1900" b="1" dirty="0">
                <a:solidFill>
                  <a:srgbClr val="9AA3B5"/>
                </a:solidFill>
                <a:latin typeface="Calibri"/>
                <a:ea typeface="맑은 고딕"/>
                <a:cs typeface="Calibri"/>
              </a:rPr>
              <a:t>T   /   F</a:t>
            </a:r>
            <a:endParaRPr lang="ko-KR" sz="1900"/>
          </a:p>
        </p:txBody>
      </p:sp>
      <p:sp>
        <p:nvSpPr>
          <p:cNvPr id="24" name="rv_ans_4"/>
          <p:cNvSpPr/>
          <p:nvPr/>
        </p:nvSpPr>
        <p:spPr>
          <a:xfrm>
            <a:off x="9765792" y="5284851"/>
            <a:ext cx="1828800" cy="374777"/>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640"/>
              </a:lnSpc>
              <a:spcBef>
                <a:spcPts val="0"/>
              </a:spcBef>
              <a:spcAft>
                <a:spcPts val="0"/>
              </a:spcAft>
              <a:buNone/>
            </a:pPr>
            <a:r>
              <a:rPr lang="en-US" altLang="en-US" sz="2200" b="1" dirty="0">
                <a:solidFill>
                  <a:srgbClr val="C00000"/>
                </a:solidFill>
                <a:latin typeface="Calibri"/>
                <a:ea typeface="맑은 고딕"/>
                <a:cs typeface="Calibri"/>
              </a:rPr>
              <a:t>F</a:t>
            </a:r>
            <a:endParaRPr lang="ko-KR" sz="2200"/>
          </a:p>
        </p:txBody>
      </p:sp>
      <p:sp>
        <p:nvSpPr>
          <p:cNvPr id="25" name="q_card_5"/>
          <p:cNvSpPr/>
          <p:nvPr/>
        </p:nvSpPr>
        <p:spPr>
          <a:xfrm>
            <a:off x="457200" y="5778500"/>
            <a:ext cx="11274552" cy="466217"/>
          </a:xfrm>
          <a:prstGeom prst="roundRect">
            <a:avLst>
              <a:gd name="adj" fmla="val 12000"/>
            </a:avLst>
          </a:prstGeom>
          <a:noFill/>
          <a:ln w="12700">
            <a:solidFill>
              <a:srgbClr val="D5DAE5"/>
            </a:solidFill>
          </a:ln>
        </p:spPr>
        <p:txBody>
          <a:bodyPr rtlCol="0" anchor="ctr"/>
          <a:lstStyle/>
          <a:p>
            <a:pPr algn="ctr"/>
          </a:p>
        </p:txBody>
      </p:sp>
      <p:sp>
        <p:nvSpPr>
          <p:cNvPr id="26" name="q_5"/>
          <p:cNvSpPr txBox="1"/>
          <p:nvPr/>
        </p:nvSpPr>
        <p:spPr>
          <a:xfrm>
            <a:off x="502920" y="5778500"/>
            <a:ext cx="9171432" cy="466217"/>
          </a:xfrm>
          <a:prstGeom prst="rect">
            <a:avLst/>
          </a:prstGeom>
          <a:noFill/>
        </p:spPr>
        <p:txBody>
          <a:bodyPr wrap="square" lIns="109728" tIns="45720" rIns="109728" bIns="45720" anchor="ctr" rtlCol="0">
            <a:noAutofit/>
          </a:bodyPr>
          <a:lstStyle/>
          <a:p>
            <a:pPr algn="l">
              <a:lnSpc>
                <a:spcPts val="2375"/>
              </a:lnSpc>
              <a:spcBef>
                <a:spcPts val="0"/>
              </a:spcBef>
              <a:spcAft>
                <a:spcPts val="0"/>
              </a:spcAft>
              <a:buNone/>
            </a:pPr>
            <a:r>
              <a:rPr lang="en-US" altLang="en-US" sz="1900" b="1" dirty="0">
                <a:solidFill>
                  <a:srgbClr val="1E2A5A"/>
                </a:solidFill>
                <a:latin typeface="Calibri"/>
                <a:ea typeface="맑은 고딕"/>
                <a:cs typeface="Calibri"/>
              </a:rPr>
              <a:t>25.  </a:t>
            </a:r>
            <a:r>
              <a:rPr lang="ko-KR" altLang="en-US" sz="1900" b="0" dirty="0">
                <a:solidFill>
                  <a:srgbClr val="1F2328"/>
                </a:solidFill>
                <a:latin typeface="맑은 고딕"/>
                <a:ea typeface="맑은 고딕"/>
                <a:cs typeface="맑은 고딕"/>
              </a:rPr>
              <a:t>대나무는 왕에 대한 충성심을 상징하게 되었다.</a:t>
            </a:r>
            <a:endParaRPr lang="ko-KR" sz="1900"/>
          </a:p>
        </p:txBody>
      </p:sp>
      <p:sp>
        <p:nvSpPr>
          <p:cNvPr id="27" name="tf_5"/>
          <p:cNvSpPr txBox="1"/>
          <p:nvPr/>
        </p:nvSpPr>
        <p:spPr>
          <a:xfrm>
            <a:off x="9765792" y="5778500"/>
            <a:ext cx="1828800" cy="466217"/>
          </a:xfrm>
          <a:prstGeom prst="rect">
            <a:avLst/>
          </a:prstGeom>
          <a:noFill/>
        </p:spPr>
        <p:txBody>
          <a:bodyPr wrap="square" lIns="18288" tIns="18288" rIns="18288" bIns="18288" anchor="ctr" rtlCol="0">
            <a:noAutofit/>
          </a:bodyPr>
          <a:lstStyle/>
          <a:p>
            <a:pPr algn="ctr">
              <a:lnSpc>
                <a:spcPts val="2375"/>
              </a:lnSpc>
              <a:spcBef>
                <a:spcPts val="0"/>
              </a:spcBef>
              <a:spcAft>
                <a:spcPts val="0"/>
              </a:spcAft>
              <a:buNone/>
            </a:pPr>
            <a:r>
              <a:rPr lang="en-US" altLang="en-US" sz="1900" b="1" dirty="0">
                <a:solidFill>
                  <a:srgbClr val="9AA3B5"/>
                </a:solidFill>
                <a:latin typeface="Calibri"/>
                <a:ea typeface="맑은 고딕"/>
                <a:cs typeface="Calibri"/>
              </a:rPr>
              <a:t>T   /   F</a:t>
            </a:r>
            <a:endParaRPr lang="ko-KR" sz="1900"/>
          </a:p>
        </p:txBody>
      </p:sp>
      <p:sp>
        <p:nvSpPr>
          <p:cNvPr id="28" name="rv_ans_5"/>
          <p:cNvSpPr/>
          <p:nvPr/>
        </p:nvSpPr>
        <p:spPr>
          <a:xfrm>
            <a:off x="9765792" y="5824220"/>
            <a:ext cx="1828800" cy="374777"/>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640"/>
              </a:lnSpc>
              <a:spcBef>
                <a:spcPts val="0"/>
              </a:spcBef>
              <a:spcAft>
                <a:spcPts val="0"/>
              </a:spcAft>
              <a:buNone/>
            </a:pPr>
            <a:r>
              <a:rPr lang="en-US" altLang="en-US" sz="2200" b="1" dirty="0">
                <a:solidFill>
                  <a:srgbClr val="C00000"/>
                </a:solidFill>
                <a:latin typeface="Calibri"/>
                <a:ea typeface="맑은 고딕"/>
                <a:cs typeface="Calibri"/>
              </a:rPr>
              <a:t>T</a:t>
            </a:r>
            <a:endParaRPr lang="ko-KR" sz="22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25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250"/>
                                        <p:tgtEl>
                                          <p:spTgt spid="1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0"/>
                                        </p:tgtEl>
                                        <p:attrNameLst>
                                          <p:attrName>style.visibility</p:attrName>
                                        </p:attrNameLst>
                                      </p:cBhvr>
                                      <p:to>
                                        <p:strVal val="visible"/>
                                      </p:to>
                                    </p:set>
                                    <p:animEffect transition="in" filter="fade">
                                      <p:cBhvr>
                                        <p:cTn id="13" dur="250"/>
                                        <p:tgtEl>
                                          <p:spTgt spid="20"/>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4"/>
                                        </p:tgtEl>
                                        <p:attrNameLst>
                                          <p:attrName>style.visibility</p:attrName>
                                        </p:attrNameLst>
                                      </p:cBhvr>
                                      <p:to>
                                        <p:strVal val="visible"/>
                                      </p:to>
                                    </p:set>
                                    <p:animEffect transition="in" filter="fade">
                                      <p:cBhvr>
                                        <p:cTn id="16" dur="250"/>
                                        <p:tgtEl>
                                          <p:spTgt spid="24"/>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8"/>
                                        </p:tgtEl>
                                        <p:attrNameLst>
                                          <p:attrName>style.visibility</p:attrName>
                                        </p:attrNameLst>
                                      </p:cBhvr>
                                      <p:to>
                                        <p:strVal val="visible"/>
                                      </p:to>
                                    </p:set>
                                    <p:animEffect transition="in" filter="fade">
                                      <p:cBhvr>
                                        <p:cTn id="19" dur="25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6" grpId="0" animBg="1"/>
      <p:bldP spid="20" grpId="0" animBg="1"/>
      <p:bldP spid="24" grpId="0" animBg="1"/>
      <p:bldP spid="28" grpId="0" animBg="1"/>
    </p:bldLst>
  </p:timing>
</p:sld>
</file>

<file path=ppt/slides/slide28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8000"/>
            </a:avLst>
          </a:prstGeom>
          <a:solidFill>
            <a:srgbClr val="1E2A5A"/>
          </a:solidFill>
          <a:ln>
            <a:noFill/>
          </a:ln>
        </p:spPr>
        <p:txBody>
          <a:bodyPr wrap="square" lIns="45720" tIns="18288" rIns="45720" bIns="18288" anchor="ctr" rtlCol="0">
            <a:noAutofit/>
          </a:bodyPr>
          <a:lstStyle/>
          <a:p>
            <a:pPr algn="ctr">
              <a:lnSpc>
                <a:spcPts val="2000"/>
              </a:lnSpc>
              <a:spcBef>
                <a:spcPts val="0"/>
              </a:spcBef>
              <a:spcAft>
                <a:spcPts val="0"/>
              </a:spcAft>
              <a:buNone/>
            </a:pPr>
            <a:r>
              <a:rPr lang="en-US" altLang="en-US" sz="1700" b="1" dirty="0">
                <a:solidFill>
                  <a:srgbClr val="FFFFFF"/>
                </a:solidFill>
                <a:latin typeface="Calibri"/>
                <a:ea typeface="맑은 고딕"/>
                <a:cs typeface="Calibri"/>
              </a:rPr>
              <a:t>L8-3</a:t>
            </a:r>
            <a:endParaRPr lang="ko-KR" sz="1700"/>
          </a:p>
        </p:txBody>
      </p:sp>
      <p:sp>
        <p:nvSpPr>
          <p:cNvPr id="3" name="hdr_chip"/>
          <p:cNvSpPr/>
          <p:nvPr/>
        </p:nvSpPr>
        <p:spPr>
          <a:xfrm>
            <a:off x="1755648" y="274320"/>
            <a:ext cx="1371600" cy="493776"/>
          </a:xfrm>
          <a:prstGeom prst="roundRect">
            <a:avLst>
              <a:gd name="adj" fmla="val 8000"/>
            </a:avLst>
          </a:prstGeom>
          <a:solidFill>
            <a:srgbClr val="E6EAF4"/>
          </a:solidFill>
          <a:ln>
            <a:noFill/>
          </a:ln>
        </p:spPr>
        <p:txBody>
          <a:bodyPr wrap="square" lIns="27432" tIns="18288" rIns="27432" bIns="18288" anchor="ctr" rtlCol="0">
            <a:noAutofit/>
          </a:bodyPr>
          <a:lstStyle/>
          <a:p>
            <a:pPr algn="ctr">
              <a:lnSpc>
                <a:spcPts val="1700"/>
              </a:lnSpc>
              <a:spcBef>
                <a:spcPts val="0"/>
              </a:spcBef>
              <a:spcAft>
                <a:spcPts val="0"/>
              </a:spcAft>
              <a:buNone/>
            </a:pPr>
            <a:r>
              <a:rPr lang="ko-KR" altLang="en-US" sz="1400" b="1" dirty="0">
                <a:solidFill>
                  <a:srgbClr val="1E2A5A"/>
                </a:solidFill>
                <a:latin typeface="맑은 고딕"/>
                <a:ea typeface="맑은 고딕"/>
                <a:cs typeface="맑은 고딕"/>
              </a:rPr>
              <a:t>PART 4 · 6</a:t>
            </a:r>
            <a:endParaRPr lang="ko-KR" sz="1400"/>
          </a:p>
        </p:txBody>
      </p:sp>
      <p:sp>
        <p:nvSpPr>
          <p:cNvPr id="4" name="hdr_q"/>
          <p:cNvSpPr txBox="1"/>
          <p:nvPr/>
        </p:nvSpPr>
        <p:spPr>
          <a:xfrm>
            <a:off x="3246120" y="246888"/>
            <a:ext cx="8485632" cy="548640"/>
          </a:xfrm>
          <a:prstGeom prst="rect">
            <a:avLst/>
          </a:prstGeom>
          <a:noFill/>
        </p:spPr>
        <p:txBody>
          <a:bodyPr wrap="square" lIns="109728" tIns="54864" rIns="109728" bIns="54864" anchor="ctr" rtlCol="0">
            <a:noAutofit/>
          </a:bodyPr>
          <a:lstStyle/>
          <a:p>
            <a:pPr algn="l">
              <a:lnSpc>
                <a:spcPts val="2400"/>
              </a:lnSpc>
              <a:spcBef>
                <a:spcPts val="0"/>
              </a:spcBef>
              <a:spcAft>
                <a:spcPts val="0"/>
              </a:spcAft>
              <a:buNone/>
            </a:pPr>
            <a:r>
              <a:rPr lang="ko-KR" altLang="en-US" sz="2000" b="1" dirty="0">
                <a:solidFill>
                  <a:srgbClr val="1F2328"/>
                </a:solidFill>
                <a:latin typeface="맑은 고딕"/>
                <a:ea typeface="맑은 고딕"/>
                <a:cs typeface="맑은 고딕"/>
              </a:rPr>
              <a:t>본문과 일치하면 T, 일치하지 않으면 F를 고르시오.</a:t>
            </a:r>
            <a:endParaRPr lang="ko-KR" sz="2000"/>
          </a:p>
        </p:txBody>
      </p:sp>
      <p:sp>
        <p:nvSpPr>
          <p:cNvPr id="5" name="ftr_exam"/>
          <p:cNvSpPr txBox="1"/>
          <p:nvPr/>
        </p:nvSpPr>
        <p:spPr>
          <a:xfrm>
            <a:off x="457200" y="6519672"/>
            <a:ext cx="5669280" cy="256032"/>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8</a:t>
            </a:r>
            <a:endParaRPr lang="ko-KR" sz="1000"/>
          </a:p>
        </p:txBody>
      </p:sp>
      <p:sp>
        <p:nvSpPr>
          <p:cNvPr id="6" name="ftr_hint"/>
          <p:cNvSpPr txBox="1"/>
          <p:nvPr/>
        </p:nvSpPr>
        <p:spPr>
          <a:xfrm>
            <a:off x="5971032" y="6519672"/>
            <a:ext cx="5760720" cy="256032"/>
          </a:xfrm>
          <a:prstGeom prst="rect">
            <a:avLst/>
          </a:prstGeom>
          <a:noFill/>
        </p:spPr>
        <p:txBody>
          <a:bodyPr wrap="square" lIns="0" tIns="0" rIns="0" bIns="0" anchor="t" rtlCol="0">
            <a:noAutofit/>
          </a:bodyPr>
          <a:lstStyle/>
          <a:p>
            <a:pPr algn="r">
              <a:lnSpc>
                <a:spcPts val="1200"/>
              </a:lnSpc>
              <a:spcBef>
                <a:spcPts val="0"/>
              </a:spcBef>
              <a:spcAft>
                <a:spcPts val="0"/>
              </a:spcAft>
              <a:buNone/>
            </a:pPr>
            <a:r>
              <a:rPr lang="ko-KR" altLang="en-US" sz="1000" b="0" dirty="0">
                <a:solidFill>
                  <a:srgbClr val="7A808C"/>
                </a:solidFill>
                <a:latin typeface="맑은 고딕"/>
                <a:ea typeface="맑은 고딕"/>
                <a:cs typeface="맑은 고딕"/>
              </a:rPr>
              <a:t>클릭 ① 정답(T/F) 공개</a:t>
            </a:r>
            <a:endParaRPr lang="ko-KR" sz="1000"/>
          </a:p>
        </p:txBody>
      </p:sp>
      <p:sp>
        <p:nvSpPr>
          <p:cNvPr id="7" name="passage_card"/>
          <p:cNvSpPr/>
          <p:nvPr/>
        </p:nvSpPr>
        <p:spPr>
          <a:xfrm>
            <a:off x="457200" y="950976"/>
            <a:ext cx="11274552" cy="2505456"/>
          </a:xfrm>
          <a:prstGeom prst="roundRect">
            <a:avLst>
              <a:gd name="adj" fmla="val 4000"/>
            </a:avLst>
          </a:prstGeom>
          <a:solidFill>
            <a:srgbClr val="F3F5F9"/>
          </a:solidFill>
          <a:ln w="12700">
            <a:solidFill>
              <a:srgbClr val="D9DFEA"/>
            </a:solidFill>
          </a:ln>
        </p:spPr>
        <p:txBody>
          <a:bodyPr rtlCol="0" anchor="ctr"/>
          <a:lstStyle/>
          <a:p>
            <a:pPr algn="ctr"/>
          </a:p>
        </p:txBody>
      </p:sp>
      <p:sp>
        <p:nvSpPr>
          <p:cNvPr id="8" name="passage"/>
          <p:cNvSpPr txBox="1"/>
          <p:nvPr/>
        </p:nvSpPr>
        <p:spPr>
          <a:xfrm>
            <a:off x="457200" y="950976"/>
            <a:ext cx="11274552" cy="2505456"/>
          </a:xfrm>
          <a:prstGeom prst="rect">
            <a:avLst/>
          </a:prstGeom>
          <a:noFill/>
        </p:spPr>
        <p:txBody>
          <a:bodyPr wrap="square" lIns="182880" tIns="137160" rIns="182880" bIns="137160" anchor="t" rtlCol="0">
            <a:noAutofit/>
          </a:bodyPr>
          <a:lstStyle/>
          <a:p>
            <a:pPr algn="l">
              <a:lnSpc>
                <a:spcPts val="1952"/>
              </a:lnSpc>
              <a:spcBef>
                <a:spcPts val="0"/>
              </a:spcBef>
              <a:spcAft>
                <a:spcPts val="0"/>
              </a:spcAft>
              <a:buNone/>
            </a:pPr>
            <a:r>
              <a:rPr lang="ko-KR" altLang="en-US" sz="1600" b="1" dirty="0">
                <a:solidFill>
                  <a:srgbClr val="1E2A5A"/>
                </a:solidFill>
                <a:latin typeface="맑은 고딕"/>
                <a:ea typeface="맑은 고딕"/>
                <a:cs typeface="맑은 고딕"/>
              </a:rPr>
              <a:t>⑰ </a:t>
            </a:r>
            <a:r>
              <a:rPr lang="en-US" altLang="en-US" sz="1600" b="0" dirty="0">
                <a:solidFill>
                  <a:srgbClr val="1F2328"/>
                </a:solidFill>
                <a:latin typeface="Calibri"/>
                <a:ea typeface="맑은 고딕"/>
                <a:cs typeface="Calibri"/>
              </a:rPr>
              <a:t>There are other examples of symbolic objects in Munjado. </a:t>
            </a:r>
            <a:r>
              <a:rPr lang="ko-KR" altLang="en-US" sz="1600" b="1" dirty="0">
                <a:solidFill>
                  <a:srgbClr val="1E2A5A"/>
                </a:solidFill>
                <a:latin typeface="맑은 고딕"/>
                <a:ea typeface="맑은 고딕"/>
                <a:cs typeface="맑은 고딕"/>
              </a:rPr>
              <a:t>⑱ </a:t>
            </a:r>
            <a:r>
              <a:rPr lang="en-US" altLang="en-US" sz="1600" b="0" dirty="0">
                <a:solidFill>
                  <a:srgbClr val="1F2328"/>
                </a:solidFill>
                <a:latin typeface="Calibri"/>
                <a:ea typeface="맑은 고딕"/>
                <a:cs typeface="Calibri"/>
              </a:rPr>
              <a:t>They are bamboo in the paintings of the character chung (忠) and lotus flowers in the paintings of ui (義). </a:t>
            </a:r>
            <a:r>
              <a:rPr lang="ko-KR" altLang="en-US" sz="1600" b="1" dirty="0">
                <a:solidFill>
                  <a:srgbClr val="1E2A5A"/>
                </a:solidFill>
                <a:latin typeface="맑은 고딕"/>
                <a:ea typeface="맑은 고딕"/>
                <a:cs typeface="맑은 고딕"/>
              </a:rPr>
              <a:t>⑲ </a:t>
            </a:r>
            <a:r>
              <a:rPr lang="en-US" altLang="en-US" sz="1600" b="0" dirty="0">
                <a:solidFill>
                  <a:srgbClr val="1F2328"/>
                </a:solidFill>
                <a:latin typeface="Calibri"/>
                <a:ea typeface="맑은 고딕"/>
                <a:cs typeface="Calibri"/>
              </a:rPr>
              <a:t>Bamboo does not bend. It stays green in all kinds of weather. </a:t>
            </a:r>
            <a:r>
              <a:rPr lang="ko-KR" altLang="en-US" sz="1600" b="1" dirty="0">
                <a:solidFill>
                  <a:srgbClr val="1E2A5A"/>
                </a:solidFill>
                <a:latin typeface="맑은 고딕"/>
                <a:ea typeface="맑은 고딕"/>
                <a:cs typeface="맑은 고딕"/>
              </a:rPr>
              <a:t>⑳ </a:t>
            </a:r>
            <a:r>
              <a:rPr lang="en-US" altLang="en-US" sz="1600" b="0" dirty="0">
                <a:solidFill>
                  <a:srgbClr val="1F2328"/>
                </a:solidFill>
                <a:latin typeface="Calibri"/>
                <a:ea typeface="맑은 고딕"/>
                <a:cs typeface="Calibri"/>
              </a:rPr>
              <a:t>For these reasons, bamboo came to symbolize loyalty to the king. </a:t>
            </a:r>
            <a:r>
              <a:rPr lang="en-US" altLang="en-US" sz="1600" b="1" dirty="0">
                <a:solidFill>
                  <a:srgbClr val="1E2A5A"/>
                </a:solidFill>
                <a:latin typeface="Calibri"/>
                <a:ea typeface="맑은 고딕"/>
                <a:cs typeface="Calibri"/>
              </a:rPr>
              <a:t>21. </a:t>
            </a:r>
            <a:r>
              <a:rPr lang="en-US" altLang="en-US" sz="1600" b="0" dirty="0">
                <a:solidFill>
                  <a:srgbClr val="1F2328"/>
                </a:solidFill>
                <a:latin typeface="Calibri"/>
                <a:ea typeface="맑은 고딕"/>
                <a:cs typeface="Calibri"/>
              </a:rPr>
              <a:t>In the case of lotus flowers, they grow in muddy ponds but still bloom beautifully. </a:t>
            </a:r>
            <a:r>
              <a:rPr lang="en-US" altLang="en-US" sz="1600" b="1" dirty="0">
                <a:solidFill>
                  <a:srgbClr val="1E2A5A"/>
                </a:solidFill>
                <a:latin typeface="Calibri"/>
                <a:ea typeface="맑은 고딕"/>
                <a:cs typeface="Calibri"/>
              </a:rPr>
              <a:t>22. </a:t>
            </a:r>
            <a:r>
              <a:rPr lang="en-US" altLang="en-US" sz="1600" b="0" dirty="0">
                <a:solidFill>
                  <a:srgbClr val="1F2328"/>
                </a:solidFill>
                <a:latin typeface="Calibri"/>
                <a:ea typeface="맑은 고딕"/>
                <a:cs typeface="Calibri"/>
              </a:rPr>
              <a:t>They thus became a symbol of a person’s will to fight for justice despite difficulties. </a:t>
            </a:r>
            <a:r>
              <a:rPr lang="en-US" altLang="en-US" sz="1600" b="1" dirty="0">
                <a:solidFill>
                  <a:srgbClr val="1E2A5A"/>
                </a:solidFill>
                <a:latin typeface="Calibri"/>
                <a:ea typeface="맑은 고딕"/>
                <a:cs typeface="Calibri"/>
              </a:rPr>
              <a:t>23. </a:t>
            </a:r>
            <a:r>
              <a:rPr lang="en-US" altLang="en-US" sz="1600" b="0" dirty="0">
                <a:solidFill>
                  <a:srgbClr val="1F2328"/>
                </a:solidFill>
                <a:latin typeface="Calibri"/>
                <a:ea typeface="맑은 고딕"/>
                <a:cs typeface="Calibri"/>
              </a:rPr>
              <a:t>Munjado was much more than a painting to people of the Joseon dynasty. </a:t>
            </a:r>
            <a:r>
              <a:rPr lang="en-US" altLang="en-US" sz="1600" b="1" dirty="0">
                <a:solidFill>
                  <a:srgbClr val="1E2A5A"/>
                </a:solidFill>
                <a:latin typeface="Calibri"/>
                <a:ea typeface="맑은 고딕"/>
                <a:cs typeface="Calibri"/>
              </a:rPr>
              <a:t>24. </a:t>
            </a:r>
            <a:r>
              <a:rPr lang="en-US" altLang="en-US" sz="1600" b="0" dirty="0">
                <a:solidFill>
                  <a:srgbClr val="1F2328"/>
                </a:solidFill>
                <a:latin typeface="Calibri"/>
                <a:ea typeface="맑은 고딕"/>
                <a:cs typeface="Calibri"/>
              </a:rPr>
              <a:t>It reminded them of important values that greatly influenced their behaviors and attitudes. </a:t>
            </a:r>
            <a:r>
              <a:rPr lang="en-US" altLang="en-US" sz="1600" b="1" dirty="0">
                <a:solidFill>
                  <a:srgbClr val="1E2A5A"/>
                </a:solidFill>
                <a:latin typeface="Calibri"/>
                <a:ea typeface="맑은 고딕"/>
                <a:cs typeface="Calibri"/>
              </a:rPr>
              <a:t>25. </a:t>
            </a:r>
            <a:r>
              <a:rPr lang="en-US" altLang="en-US" sz="1600" b="0" dirty="0">
                <a:solidFill>
                  <a:srgbClr val="1F2328"/>
                </a:solidFill>
                <a:latin typeface="Calibri"/>
                <a:ea typeface="맑은 고딕"/>
                <a:cs typeface="Calibri"/>
              </a:rPr>
              <a:t>In particular, for children, Munjado was a study tool. </a:t>
            </a:r>
            <a:r>
              <a:rPr lang="en-US" altLang="en-US" sz="1600" b="1" dirty="0">
                <a:solidFill>
                  <a:srgbClr val="1E2A5A"/>
                </a:solidFill>
                <a:latin typeface="Calibri"/>
                <a:ea typeface="맑은 고딕"/>
                <a:cs typeface="Calibri"/>
              </a:rPr>
              <a:t>26. </a:t>
            </a:r>
            <a:r>
              <a:rPr lang="en-US" altLang="en-US" sz="1600" b="0" dirty="0">
                <a:solidFill>
                  <a:srgbClr val="1F2328"/>
                </a:solidFill>
                <a:latin typeface="Calibri"/>
                <a:ea typeface="맑은 고딕"/>
                <a:cs typeface="Calibri"/>
              </a:rPr>
              <a:t>Through it, children in the Joseon dynasty could learn the importance of harmony in family and society. </a:t>
            </a:r>
            <a:endParaRPr lang="ko-KR" sz="1600"/>
          </a:p>
        </p:txBody>
      </p:sp>
      <p:sp>
        <p:nvSpPr>
          <p:cNvPr id="9" name="q_card_1"/>
          <p:cNvSpPr/>
          <p:nvPr/>
        </p:nvSpPr>
        <p:spPr>
          <a:xfrm>
            <a:off x="457200" y="3621024"/>
            <a:ext cx="11274552" cy="466217"/>
          </a:xfrm>
          <a:prstGeom prst="roundRect">
            <a:avLst>
              <a:gd name="adj" fmla="val 12000"/>
            </a:avLst>
          </a:prstGeom>
          <a:noFill/>
          <a:ln w="12700">
            <a:solidFill>
              <a:srgbClr val="D5DAE5"/>
            </a:solidFill>
          </a:ln>
        </p:spPr>
        <p:txBody>
          <a:bodyPr rtlCol="0" anchor="ctr"/>
          <a:lstStyle/>
          <a:p>
            <a:pPr algn="ctr"/>
          </a:p>
        </p:txBody>
      </p:sp>
      <p:sp>
        <p:nvSpPr>
          <p:cNvPr id="10" name="q_1"/>
          <p:cNvSpPr txBox="1"/>
          <p:nvPr/>
        </p:nvSpPr>
        <p:spPr>
          <a:xfrm>
            <a:off x="502920" y="3621024"/>
            <a:ext cx="9171432" cy="466217"/>
          </a:xfrm>
          <a:prstGeom prst="rect">
            <a:avLst/>
          </a:prstGeom>
          <a:noFill/>
        </p:spPr>
        <p:txBody>
          <a:bodyPr wrap="square" lIns="109728" tIns="45720" rIns="109728" bIns="45720" anchor="ctr" rtlCol="0">
            <a:noAutofit/>
          </a:bodyPr>
          <a:lstStyle/>
          <a:p>
            <a:pPr algn="l">
              <a:lnSpc>
                <a:spcPts val="2375"/>
              </a:lnSpc>
              <a:spcBef>
                <a:spcPts val="0"/>
              </a:spcBef>
              <a:spcAft>
                <a:spcPts val="0"/>
              </a:spcAft>
              <a:buNone/>
            </a:pPr>
            <a:r>
              <a:rPr lang="en-US" altLang="en-US" sz="1900" b="1" dirty="0">
                <a:solidFill>
                  <a:srgbClr val="1E2A5A"/>
                </a:solidFill>
                <a:latin typeface="Calibri"/>
                <a:ea typeface="맑은 고딕"/>
                <a:cs typeface="Calibri"/>
              </a:rPr>
              <a:t>26.  </a:t>
            </a:r>
            <a:r>
              <a:rPr lang="ko-KR" altLang="en-US" sz="1900" b="0" dirty="0">
                <a:solidFill>
                  <a:srgbClr val="1F2328"/>
                </a:solidFill>
                <a:latin typeface="맑은 고딕"/>
                <a:ea typeface="맑은 고딕"/>
                <a:cs typeface="맑은 고딕"/>
              </a:rPr>
              <a:t>연꽃은 진흙투성이의 연못에서 자란다.</a:t>
            </a:r>
            <a:endParaRPr lang="ko-KR" sz="1900"/>
          </a:p>
        </p:txBody>
      </p:sp>
      <p:sp>
        <p:nvSpPr>
          <p:cNvPr id="11" name="tf_1"/>
          <p:cNvSpPr txBox="1"/>
          <p:nvPr/>
        </p:nvSpPr>
        <p:spPr>
          <a:xfrm>
            <a:off x="9765792" y="3621024"/>
            <a:ext cx="1828800" cy="466217"/>
          </a:xfrm>
          <a:prstGeom prst="rect">
            <a:avLst/>
          </a:prstGeom>
          <a:noFill/>
        </p:spPr>
        <p:txBody>
          <a:bodyPr wrap="square" lIns="18288" tIns="18288" rIns="18288" bIns="18288" anchor="ctr" rtlCol="0">
            <a:noAutofit/>
          </a:bodyPr>
          <a:lstStyle/>
          <a:p>
            <a:pPr algn="ctr">
              <a:lnSpc>
                <a:spcPts val="2375"/>
              </a:lnSpc>
              <a:spcBef>
                <a:spcPts val="0"/>
              </a:spcBef>
              <a:spcAft>
                <a:spcPts val="0"/>
              </a:spcAft>
              <a:buNone/>
            </a:pPr>
            <a:r>
              <a:rPr lang="en-US" altLang="en-US" sz="1900" b="1" dirty="0">
                <a:solidFill>
                  <a:srgbClr val="9AA3B5"/>
                </a:solidFill>
                <a:latin typeface="Calibri"/>
                <a:ea typeface="맑은 고딕"/>
                <a:cs typeface="Calibri"/>
              </a:rPr>
              <a:t>T   /   F</a:t>
            </a:r>
            <a:endParaRPr lang="ko-KR" sz="1900"/>
          </a:p>
        </p:txBody>
      </p:sp>
      <p:sp>
        <p:nvSpPr>
          <p:cNvPr id="12" name="rv_ans_1"/>
          <p:cNvSpPr/>
          <p:nvPr/>
        </p:nvSpPr>
        <p:spPr>
          <a:xfrm>
            <a:off x="9765792" y="3666744"/>
            <a:ext cx="1828800" cy="374777"/>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640"/>
              </a:lnSpc>
              <a:spcBef>
                <a:spcPts val="0"/>
              </a:spcBef>
              <a:spcAft>
                <a:spcPts val="0"/>
              </a:spcAft>
              <a:buNone/>
            </a:pPr>
            <a:r>
              <a:rPr lang="en-US" altLang="en-US" sz="2200" b="1" dirty="0">
                <a:solidFill>
                  <a:srgbClr val="C00000"/>
                </a:solidFill>
                <a:latin typeface="Calibri"/>
                <a:ea typeface="맑은 고딕"/>
                <a:cs typeface="Calibri"/>
              </a:rPr>
              <a:t>T</a:t>
            </a:r>
            <a:endParaRPr lang="ko-KR" sz="2200"/>
          </a:p>
        </p:txBody>
      </p:sp>
      <p:sp>
        <p:nvSpPr>
          <p:cNvPr id="13" name="q_card_2"/>
          <p:cNvSpPr/>
          <p:nvPr/>
        </p:nvSpPr>
        <p:spPr>
          <a:xfrm>
            <a:off x="457200" y="4160393"/>
            <a:ext cx="11274552" cy="466217"/>
          </a:xfrm>
          <a:prstGeom prst="roundRect">
            <a:avLst>
              <a:gd name="adj" fmla="val 12000"/>
            </a:avLst>
          </a:prstGeom>
          <a:noFill/>
          <a:ln w="12700">
            <a:solidFill>
              <a:srgbClr val="D5DAE5"/>
            </a:solidFill>
          </a:ln>
        </p:spPr>
        <p:txBody>
          <a:bodyPr rtlCol="0" anchor="ctr"/>
          <a:lstStyle/>
          <a:p>
            <a:pPr algn="ctr"/>
          </a:p>
        </p:txBody>
      </p:sp>
      <p:sp>
        <p:nvSpPr>
          <p:cNvPr id="14" name="q_2"/>
          <p:cNvSpPr txBox="1"/>
          <p:nvPr/>
        </p:nvSpPr>
        <p:spPr>
          <a:xfrm>
            <a:off x="502920" y="4160393"/>
            <a:ext cx="9171432" cy="466217"/>
          </a:xfrm>
          <a:prstGeom prst="rect">
            <a:avLst/>
          </a:prstGeom>
          <a:noFill/>
        </p:spPr>
        <p:txBody>
          <a:bodyPr wrap="square" lIns="109728" tIns="45720" rIns="109728" bIns="45720" anchor="ctr" rtlCol="0">
            <a:noAutofit/>
          </a:bodyPr>
          <a:lstStyle/>
          <a:p>
            <a:pPr algn="l">
              <a:lnSpc>
                <a:spcPts val="2375"/>
              </a:lnSpc>
              <a:spcBef>
                <a:spcPts val="0"/>
              </a:spcBef>
              <a:spcAft>
                <a:spcPts val="0"/>
              </a:spcAft>
              <a:buNone/>
            </a:pPr>
            <a:r>
              <a:rPr lang="en-US" altLang="en-US" sz="1900" b="1" dirty="0">
                <a:solidFill>
                  <a:srgbClr val="1E2A5A"/>
                </a:solidFill>
                <a:latin typeface="Calibri"/>
                <a:ea typeface="맑은 고딕"/>
                <a:cs typeface="Calibri"/>
              </a:rPr>
              <a:t>27.  </a:t>
            </a:r>
            <a:r>
              <a:rPr lang="ko-KR" altLang="en-US" sz="1900" b="0" dirty="0">
                <a:solidFill>
                  <a:srgbClr val="1F2328"/>
                </a:solidFill>
                <a:latin typeface="맑은 고딕"/>
                <a:ea typeface="맑은 고딕"/>
                <a:cs typeface="맑은 고딕"/>
              </a:rPr>
              <a:t>연꽃은 부모님에 대한 공경을 상징한다.</a:t>
            </a:r>
            <a:endParaRPr lang="ko-KR" sz="1900"/>
          </a:p>
        </p:txBody>
      </p:sp>
      <p:sp>
        <p:nvSpPr>
          <p:cNvPr id="15" name="tf_2"/>
          <p:cNvSpPr txBox="1"/>
          <p:nvPr/>
        </p:nvSpPr>
        <p:spPr>
          <a:xfrm>
            <a:off x="9765792" y="4160393"/>
            <a:ext cx="1828800" cy="466217"/>
          </a:xfrm>
          <a:prstGeom prst="rect">
            <a:avLst/>
          </a:prstGeom>
          <a:noFill/>
        </p:spPr>
        <p:txBody>
          <a:bodyPr wrap="square" lIns="18288" tIns="18288" rIns="18288" bIns="18288" anchor="ctr" rtlCol="0">
            <a:noAutofit/>
          </a:bodyPr>
          <a:lstStyle/>
          <a:p>
            <a:pPr algn="ctr">
              <a:lnSpc>
                <a:spcPts val="2375"/>
              </a:lnSpc>
              <a:spcBef>
                <a:spcPts val="0"/>
              </a:spcBef>
              <a:spcAft>
                <a:spcPts val="0"/>
              </a:spcAft>
              <a:buNone/>
            </a:pPr>
            <a:r>
              <a:rPr lang="en-US" altLang="en-US" sz="1900" b="1" dirty="0">
                <a:solidFill>
                  <a:srgbClr val="9AA3B5"/>
                </a:solidFill>
                <a:latin typeface="Calibri"/>
                <a:ea typeface="맑은 고딕"/>
                <a:cs typeface="Calibri"/>
              </a:rPr>
              <a:t>T   /   F</a:t>
            </a:r>
            <a:endParaRPr lang="ko-KR" sz="1900"/>
          </a:p>
        </p:txBody>
      </p:sp>
      <p:sp>
        <p:nvSpPr>
          <p:cNvPr id="16" name="rv_ans_2"/>
          <p:cNvSpPr/>
          <p:nvPr/>
        </p:nvSpPr>
        <p:spPr>
          <a:xfrm>
            <a:off x="9765792" y="4206113"/>
            <a:ext cx="1828800" cy="374777"/>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640"/>
              </a:lnSpc>
              <a:spcBef>
                <a:spcPts val="0"/>
              </a:spcBef>
              <a:spcAft>
                <a:spcPts val="0"/>
              </a:spcAft>
              <a:buNone/>
            </a:pPr>
            <a:r>
              <a:rPr lang="en-US" altLang="en-US" sz="2200" b="1" dirty="0">
                <a:solidFill>
                  <a:srgbClr val="C00000"/>
                </a:solidFill>
                <a:latin typeface="Calibri"/>
                <a:ea typeface="맑은 고딕"/>
                <a:cs typeface="Calibri"/>
              </a:rPr>
              <a:t>F</a:t>
            </a:r>
            <a:endParaRPr lang="ko-KR" sz="2200"/>
          </a:p>
        </p:txBody>
      </p:sp>
      <p:sp>
        <p:nvSpPr>
          <p:cNvPr id="17" name="q_card_3"/>
          <p:cNvSpPr/>
          <p:nvPr/>
        </p:nvSpPr>
        <p:spPr>
          <a:xfrm>
            <a:off x="457200" y="4699762"/>
            <a:ext cx="11274552" cy="466217"/>
          </a:xfrm>
          <a:prstGeom prst="roundRect">
            <a:avLst>
              <a:gd name="adj" fmla="val 12000"/>
            </a:avLst>
          </a:prstGeom>
          <a:noFill/>
          <a:ln w="12700">
            <a:solidFill>
              <a:srgbClr val="D5DAE5"/>
            </a:solidFill>
          </a:ln>
        </p:spPr>
        <p:txBody>
          <a:bodyPr rtlCol="0" anchor="ctr"/>
          <a:lstStyle/>
          <a:p>
            <a:pPr algn="ctr"/>
          </a:p>
        </p:txBody>
      </p:sp>
      <p:sp>
        <p:nvSpPr>
          <p:cNvPr id="18" name="q_3"/>
          <p:cNvSpPr txBox="1"/>
          <p:nvPr/>
        </p:nvSpPr>
        <p:spPr>
          <a:xfrm>
            <a:off x="502920" y="4699762"/>
            <a:ext cx="9171432" cy="466217"/>
          </a:xfrm>
          <a:prstGeom prst="rect">
            <a:avLst/>
          </a:prstGeom>
          <a:noFill/>
        </p:spPr>
        <p:txBody>
          <a:bodyPr wrap="square" lIns="109728" tIns="45720" rIns="109728" bIns="45720" anchor="ctr" rtlCol="0">
            <a:noAutofit/>
          </a:bodyPr>
          <a:lstStyle/>
          <a:p>
            <a:pPr algn="l">
              <a:lnSpc>
                <a:spcPts val="2375"/>
              </a:lnSpc>
              <a:spcBef>
                <a:spcPts val="0"/>
              </a:spcBef>
              <a:spcAft>
                <a:spcPts val="0"/>
              </a:spcAft>
              <a:buNone/>
            </a:pPr>
            <a:r>
              <a:rPr lang="en-US" altLang="en-US" sz="1900" b="1" dirty="0">
                <a:solidFill>
                  <a:srgbClr val="1E2A5A"/>
                </a:solidFill>
                <a:latin typeface="Calibri"/>
                <a:ea typeface="맑은 고딕"/>
                <a:cs typeface="Calibri"/>
              </a:rPr>
              <a:t>28.  </a:t>
            </a:r>
            <a:r>
              <a:rPr lang="ko-KR" altLang="en-US" sz="1900" b="0" dirty="0">
                <a:solidFill>
                  <a:srgbClr val="1F2328"/>
                </a:solidFill>
                <a:latin typeface="맑은 고딕"/>
                <a:ea typeface="맑은 고딕"/>
                <a:cs typeface="맑은 고딕"/>
              </a:rPr>
              <a:t>연꽃은 어려움에도 정의를 위해 싸우는 의지를 상징한다.</a:t>
            </a:r>
            <a:endParaRPr lang="ko-KR" sz="1900"/>
          </a:p>
        </p:txBody>
      </p:sp>
      <p:sp>
        <p:nvSpPr>
          <p:cNvPr id="19" name="tf_3"/>
          <p:cNvSpPr txBox="1"/>
          <p:nvPr/>
        </p:nvSpPr>
        <p:spPr>
          <a:xfrm>
            <a:off x="9765792" y="4699762"/>
            <a:ext cx="1828800" cy="466217"/>
          </a:xfrm>
          <a:prstGeom prst="rect">
            <a:avLst/>
          </a:prstGeom>
          <a:noFill/>
        </p:spPr>
        <p:txBody>
          <a:bodyPr wrap="square" lIns="18288" tIns="18288" rIns="18288" bIns="18288" anchor="ctr" rtlCol="0">
            <a:noAutofit/>
          </a:bodyPr>
          <a:lstStyle/>
          <a:p>
            <a:pPr algn="ctr">
              <a:lnSpc>
                <a:spcPts val="2375"/>
              </a:lnSpc>
              <a:spcBef>
                <a:spcPts val="0"/>
              </a:spcBef>
              <a:spcAft>
                <a:spcPts val="0"/>
              </a:spcAft>
              <a:buNone/>
            </a:pPr>
            <a:r>
              <a:rPr lang="en-US" altLang="en-US" sz="1900" b="1" dirty="0">
                <a:solidFill>
                  <a:srgbClr val="9AA3B5"/>
                </a:solidFill>
                <a:latin typeface="Calibri"/>
                <a:ea typeface="맑은 고딕"/>
                <a:cs typeface="Calibri"/>
              </a:rPr>
              <a:t>T   /   F</a:t>
            </a:r>
            <a:endParaRPr lang="ko-KR" sz="1900"/>
          </a:p>
        </p:txBody>
      </p:sp>
      <p:sp>
        <p:nvSpPr>
          <p:cNvPr id="20" name="rv_ans_3"/>
          <p:cNvSpPr/>
          <p:nvPr/>
        </p:nvSpPr>
        <p:spPr>
          <a:xfrm>
            <a:off x="9765792" y="4745482"/>
            <a:ext cx="1828800" cy="374777"/>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640"/>
              </a:lnSpc>
              <a:spcBef>
                <a:spcPts val="0"/>
              </a:spcBef>
              <a:spcAft>
                <a:spcPts val="0"/>
              </a:spcAft>
              <a:buNone/>
            </a:pPr>
            <a:r>
              <a:rPr lang="en-US" altLang="en-US" sz="2200" b="1" dirty="0">
                <a:solidFill>
                  <a:srgbClr val="C00000"/>
                </a:solidFill>
                <a:latin typeface="Calibri"/>
                <a:ea typeface="맑은 고딕"/>
                <a:cs typeface="Calibri"/>
              </a:rPr>
              <a:t>T</a:t>
            </a:r>
            <a:endParaRPr lang="ko-KR" sz="2200"/>
          </a:p>
        </p:txBody>
      </p:sp>
      <p:sp>
        <p:nvSpPr>
          <p:cNvPr id="21" name="q_card_4"/>
          <p:cNvSpPr/>
          <p:nvPr/>
        </p:nvSpPr>
        <p:spPr>
          <a:xfrm>
            <a:off x="457200" y="5239131"/>
            <a:ext cx="11274552" cy="466217"/>
          </a:xfrm>
          <a:prstGeom prst="roundRect">
            <a:avLst>
              <a:gd name="adj" fmla="val 12000"/>
            </a:avLst>
          </a:prstGeom>
          <a:noFill/>
          <a:ln w="12700">
            <a:solidFill>
              <a:srgbClr val="D5DAE5"/>
            </a:solidFill>
          </a:ln>
        </p:spPr>
        <p:txBody>
          <a:bodyPr rtlCol="0" anchor="ctr"/>
          <a:lstStyle/>
          <a:p>
            <a:pPr algn="ctr"/>
          </a:p>
        </p:txBody>
      </p:sp>
      <p:sp>
        <p:nvSpPr>
          <p:cNvPr id="22" name="q_4"/>
          <p:cNvSpPr txBox="1"/>
          <p:nvPr/>
        </p:nvSpPr>
        <p:spPr>
          <a:xfrm>
            <a:off x="502920" y="5239131"/>
            <a:ext cx="9171432" cy="466217"/>
          </a:xfrm>
          <a:prstGeom prst="rect">
            <a:avLst/>
          </a:prstGeom>
          <a:noFill/>
        </p:spPr>
        <p:txBody>
          <a:bodyPr wrap="square" lIns="109728" tIns="45720" rIns="109728" bIns="45720" anchor="ctr" rtlCol="0">
            <a:noAutofit/>
          </a:bodyPr>
          <a:lstStyle/>
          <a:p>
            <a:pPr algn="l">
              <a:lnSpc>
                <a:spcPts val="2375"/>
              </a:lnSpc>
              <a:spcBef>
                <a:spcPts val="0"/>
              </a:spcBef>
              <a:spcAft>
                <a:spcPts val="0"/>
              </a:spcAft>
              <a:buNone/>
            </a:pPr>
            <a:r>
              <a:rPr lang="en-US" altLang="en-US" sz="1900" b="1" dirty="0">
                <a:solidFill>
                  <a:srgbClr val="1E2A5A"/>
                </a:solidFill>
                <a:latin typeface="Calibri"/>
                <a:ea typeface="맑은 고딕"/>
                <a:cs typeface="Calibri"/>
              </a:rPr>
              <a:t>29.  </a:t>
            </a:r>
            <a:r>
              <a:rPr lang="ko-KR" altLang="en-US" sz="1900" b="0" dirty="0">
                <a:solidFill>
                  <a:srgbClr val="1F2328"/>
                </a:solidFill>
                <a:latin typeface="맑은 고딕"/>
                <a:ea typeface="맑은 고딕"/>
                <a:cs typeface="맑은 고딕"/>
              </a:rPr>
              <a:t>문자도는 조선 시대 사람들에게 단순한 그림에 불과했다.</a:t>
            </a:r>
            <a:endParaRPr lang="ko-KR" sz="1900"/>
          </a:p>
        </p:txBody>
      </p:sp>
      <p:sp>
        <p:nvSpPr>
          <p:cNvPr id="23" name="tf_4"/>
          <p:cNvSpPr txBox="1"/>
          <p:nvPr/>
        </p:nvSpPr>
        <p:spPr>
          <a:xfrm>
            <a:off x="9765792" y="5239131"/>
            <a:ext cx="1828800" cy="466217"/>
          </a:xfrm>
          <a:prstGeom prst="rect">
            <a:avLst/>
          </a:prstGeom>
          <a:noFill/>
        </p:spPr>
        <p:txBody>
          <a:bodyPr wrap="square" lIns="18288" tIns="18288" rIns="18288" bIns="18288" anchor="ctr" rtlCol="0">
            <a:noAutofit/>
          </a:bodyPr>
          <a:lstStyle/>
          <a:p>
            <a:pPr algn="ctr">
              <a:lnSpc>
                <a:spcPts val="2375"/>
              </a:lnSpc>
              <a:spcBef>
                <a:spcPts val="0"/>
              </a:spcBef>
              <a:spcAft>
                <a:spcPts val="0"/>
              </a:spcAft>
              <a:buNone/>
            </a:pPr>
            <a:r>
              <a:rPr lang="en-US" altLang="en-US" sz="1900" b="1" dirty="0">
                <a:solidFill>
                  <a:srgbClr val="9AA3B5"/>
                </a:solidFill>
                <a:latin typeface="Calibri"/>
                <a:ea typeface="맑은 고딕"/>
                <a:cs typeface="Calibri"/>
              </a:rPr>
              <a:t>T   /   F</a:t>
            </a:r>
            <a:endParaRPr lang="ko-KR" sz="1900"/>
          </a:p>
        </p:txBody>
      </p:sp>
      <p:sp>
        <p:nvSpPr>
          <p:cNvPr id="24" name="rv_ans_4"/>
          <p:cNvSpPr/>
          <p:nvPr/>
        </p:nvSpPr>
        <p:spPr>
          <a:xfrm>
            <a:off x="9765792" y="5284851"/>
            <a:ext cx="1828800" cy="374777"/>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640"/>
              </a:lnSpc>
              <a:spcBef>
                <a:spcPts val="0"/>
              </a:spcBef>
              <a:spcAft>
                <a:spcPts val="0"/>
              </a:spcAft>
              <a:buNone/>
            </a:pPr>
            <a:r>
              <a:rPr lang="en-US" altLang="en-US" sz="2200" b="1" dirty="0">
                <a:solidFill>
                  <a:srgbClr val="C00000"/>
                </a:solidFill>
                <a:latin typeface="Calibri"/>
                <a:ea typeface="맑은 고딕"/>
                <a:cs typeface="Calibri"/>
              </a:rPr>
              <a:t>F</a:t>
            </a:r>
            <a:endParaRPr lang="ko-KR" sz="2200"/>
          </a:p>
        </p:txBody>
      </p:sp>
      <p:sp>
        <p:nvSpPr>
          <p:cNvPr id="25" name="q_card_5"/>
          <p:cNvSpPr/>
          <p:nvPr/>
        </p:nvSpPr>
        <p:spPr>
          <a:xfrm>
            <a:off x="457200" y="5778500"/>
            <a:ext cx="11274552" cy="466217"/>
          </a:xfrm>
          <a:prstGeom prst="roundRect">
            <a:avLst>
              <a:gd name="adj" fmla="val 12000"/>
            </a:avLst>
          </a:prstGeom>
          <a:noFill/>
          <a:ln w="12700">
            <a:solidFill>
              <a:srgbClr val="D5DAE5"/>
            </a:solidFill>
          </a:ln>
        </p:spPr>
        <p:txBody>
          <a:bodyPr rtlCol="0" anchor="ctr"/>
          <a:lstStyle/>
          <a:p>
            <a:pPr algn="ctr"/>
          </a:p>
        </p:txBody>
      </p:sp>
      <p:sp>
        <p:nvSpPr>
          <p:cNvPr id="26" name="q_5"/>
          <p:cNvSpPr txBox="1"/>
          <p:nvPr/>
        </p:nvSpPr>
        <p:spPr>
          <a:xfrm>
            <a:off x="502920" y="5778500"/>
            <a:ext cx="9171432" cy="466217"/>
          </a:xfrm>
          <a:prstGeom prst="rect">
            <a:avLst/>
          </a:prstGeom>
          <a:noFill/>
        </p:spPr>
        <p:txBody>
          <a:bodyPr wrap="square" lIns="109728" tIns="45720" rIns="109728" bIns="45720" anchor="ctr" rtlCol="0">
            <a:noAutofit/>
          </a:bodyPr>
          <a:lstStyle/>
          <a:p>
            <a:pPr algn="l">
              <a:lnSpc>
                <a:spcPts val="2375"/>
              </a:lnSpc>
              <a:spcBef>
                <a:spcPts val="0"/>
              </a:spcBef>
              <a:spcAft>
                <a:spcPts val="0"/>
              </a:spcAft>
              <a:buNone/>
            </a:pPr>
            <a:r>
              <a:rPr lang="en-US" altLang="en-US" sz="1900" b="1" dirty="0">
                <a:solidFill>
                  <a:srgbClr val="1E2A5A"/>
                </a:solidFill>
                <a:latin typeface="Calibri"/>
                <a:ea typeface="맑은 고딕"/>
                <a:cs typeface="Calibri"/>
              </a:rPr>
              <a:t>30.  </a:t>
            </a:r>
            <a:r>
              <a:rPr lang="ko-KR" altLang="en-US" sz="1900" b="0" dirty="0">
                <a:solidFill>
                  <a:srgbClr val="1F2328"/>
                </a:solidFill>
                <a:latin typeface="맑은 고딕"/>
                <a:ea typeface="맑은 고딕"/>
                <a:cs typeface="맑은 고딕"/>
              </a:rPr>
              <a:t>조선 시대 아이들에게 문자도는 학습 도구였다.</a:t>
            </a:r>
            <a:endParaRPr lang="ko-KR" sz="1900"/>
          </a:p>
        </p:txBody>
      </p:sp>
      <p:sp>
        <p:nvSpPr>
          <p:cNvPr id="27" name="tf_5"/>
          <p:cNvSpPr txBox="1"/>
          <p:nvPr/>
        </p:nvSpPr>
        <p:spPr>
          <a:xfrm>
            <a:off x="9765792" y="5778500"/>
            <a:ext cx="1828800" cy="466217"/>
          </a:xfrm>
          <a:prstGeom prst="rect">
            <a:avLst/>
          </a:prstGeom>
          <a:noFill/>
        </p:spPr>
        <p:txBody>
          <a:bodyPr wrap="square" lIns="18288" tIns="18288" rIns="18288" bIns="18288" anchor="ctr" rtlCol="0">
            <a:noAutofit/>
          </a:bodyPr>
          <a:lstStyle/>
          <a:p>
            <a:pPr algn="ctr">
              <a:lnSpc>
                <a:spcPts val="2375"/>
              </a:lnSpc>
              <a:spcBef>
                <a:spcPts val="0"/>
              </a:spcBef>
              <a:spcAft>
                <a:spcPts val="0"/>
              </a:spcAft>
              <a:buNone/>
            </a:pPr>
            <a:r>
              <a:rPr lang="en-US" altLang="en-US" sz="1900" b="1" dirty="0">
                <a:solidFill>
                  <a:srgbClr val="9AA3B5"/>
                </a:solidFill>
                <a:latin typeface="Calibri"/>
                <a:ea typeface="맑은 고딕"/>
                <a:cs typeface="Calibri"/>
              </a:rPr>
              <a:t>T   /   F</a:t>
            </a:r>
            <a:endParaRPr lang="ko-KR" sz="1900"/>
          </a:p>
        </p:txBody>
      </p:sp>
      <p:sp>
        <p:nvSpPr>
          <p:cNvPr id="28" name="rv_ans_5"/>
          <p:cNvSpPr/>
          <p:nvPr/>
        </p:nvSpPr>
        <p:spPr>
          <a:xfrm>
            <a:off x="9765792" y="5824220"/>
            <a:ext cx="1828800" cy="374777"/>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640"/>
              </a:lnSpc>
              <a:spcBef>
                <a:spcPts val="0"/>
              </a:spcBef>
              <a:spcAft>
                <a:spcPts val="0"/>
              </a:spcAft>
              <a:buNone/>
            </a:pPr>
            <a:r>
              <a:rPr lang="en-US" altLang="en-US" sz="2200" b="1" dirty="0">
                <a:solidFill>
                  <a:srgbClr val="C00000"/>
                </a:solidFill>
                <a:latin typeface="Calibri"/>
                <a:ea typeface="맑은 고딕"/>
                <a:cs typeface="Calibri"/>
              </a:rPr>
              <a:t>T</a:t>
            </a:r>
            <a:endParaRPr lang="ko-KR" sz="22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25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250"/>
                                        <p:tgtEl>
                                          <p:spTgt spid="1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0"/>
                                        </p:tgtEl>
                                        <p:attrNameLst>
                                          <p:attrName>style.visibility</p:attrName>
                                        </p:attrNameLst>
                                      </p:cBhvr>
                                      <p:to>
                                        <p:strVal val="visible"/>
                                      </p:to>
                                    </p:set>
                                    <p:animEffect transition="in" filter="fade">
                                      <p:cBhvr>
                                        <p:cTn id="13" dur="250"/>
                                        <p:tgtEl>
                                          <p:spTgt spid="20"/>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4"/>
                                        </p:tgtEl>
                                        <p:attrNameLst>
                                          <p:attrName>style.visibility</p:attrName>
                                        </p:attrNameLst>
                                      </p:cBhvr>
                                      <p:to>
                                        <p:strVal val="visible"/>
                                      </p:to>
                                    </p:set>
                                    <p:animEffect transition="in" filter="fade">
                                      <p:cBhvr>
                                        <p:cTn id="16" dur="250"/>
                                        <p:tgtEl>
                                          <p:spTgt spid="24"/>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8"/>
                                        </p:tgtEl>
                                        <p:attrNameLst>
                                          <p:attrName>style.visibility</p:attrName>
                                        </p:attrNameLst>
                                      </p:cBhvr>
                                      <p:to>
                                        <p:strVal val="visible"/>
                                      </p:to>
                                    </p:set>
                                    <p:animEffect transition="in" filter="fade">
                                      <p:cBhvr>
                                        <p:cTn id="19" dur="25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6" grpId="0" animBg="1"/>
      <p:bldP spid="20" grpId="0" animBg="1"/>
      <p:bldP spid="24" grpId="0" animBg="1"/>
      <p:bldP spid="28" grpId="0" animBg="1"/>
    </p:bldLst>
  </p:timing>
</p:sld>
</file>

<file path=ppt/slides/slide287.xml><?xml version="1.0" encoding="utf-8"?>
<p:sld xmlns:a="http://schemas.openxmlformats.org/drawingml/2006/main" xmlns:p="http://schemas.openxmlformats.org/presentationml/2006/main" xmlns:r="http://schemas.openxmlformats.org/officeDocument/2006/relationships">
  <p:cSld>
    <p:bg>
      <p:bgPr>
        <a:solidFill>
          <a:srgbClr val="1E2A5A"/>
        </a:solidFill>
        <a:effectLst/>
      </p:bgPr>
    </p:bg>
    <p:spTree>
      <p:nvGrpSpPr>
        <p:cNvPr id="1" name=""/>
        <p:cNvGrpSpPr/>
        <p:nvPr/>
      </p:nvGrpSpPr>
      <p:grpSpPr/>
      <p:sp>
        <p:nvSpPr>
          <p:cNvPr id="2" name="sec_title"/>
          <p:cNvSpPr txBox="1"/>
          <p:nvPr/>
        </p:nvSpPr>
        <p:spPr>
          <a:xfrm>
            <a:off x="822960" y="1371600"/>
            <a:ext cx="10515600" cy="868680"/>
          </a:xfrm>
          <a:prstGeom prst="rect">
            <a:avLst/>
          </a:prstGeom>
          <a:noFill/>
        </p:spPr>
        <p:txBody>
          <a:bodyPr wrap="square" lIns="109728" tIns="54864" rIns="109728" bIns="54864" anchor="t" rtlCol="0">
            <a:noAutofit/>
          </a:bodyPr>
          <a:lstStyle/>
          <a:p>
            <a:pPr algn="l">
              <a:lnSpc>
                <a:spcPts val="4800"/>
              </a:lnSpc>
              <a:spcBef>
                <a:spcPts val="0"/>
              </a:spcBef>
              <a:spcAft>
                <a:spcPts val="0"/>
              </a:spcAft>
              <a:buNone/>
            </a:pPr>
            <a:r>
              <a:rPr lang="ko-KR" altLang="en-US" sz="4000" b="1" dirty="0">
                <a:solidFill>
                  <a:srgbClr val="FFE98A"/>
                </a:solidFill>
                <a:latin typeface="맑은 고딕"/>
                <a:ea typeface="맑은 고딕"/>
                <a:cs typeface="맑은 고딕"/>
              </a:rPr>
              <a:t>PART 5  </a:t>
            </a:r>
            <a:r>
              <a:rPr lang="ko-KR" altLang="en-US" sz="4000" b="1" dirty="0">
                <a:solidFill>
                  <a:srgbClr val="FFFFFF"/>
                </a:solidFill>
                <a:latin typeface="맑은 고딕"/>
                <a:ea typeface="맑은 고딕"/>
                <a:cs typeface="맑은 고딕"/>
              </a:rPr>
              <a:t>어법 선택</a:t>
            </a:r>
            <a:endParaRPr lang="ko-KR" sz="4000"/>
          </a:p>
        </p:txBody>
      </p:sp>
      <p:sp>
        <p:nvSpPr>
          <p:cNvPr id="3" name="sec_exam"/>
          <p:cNvSpPr txBox="1"/>
          <p:nvPr/>
        </p:nvSpPr>
        <p:spPr>
          <a:xfrm>
            <a:off x="822960" y="2240280"/>
            <a:ext cx="10515600" cy="502920"/>
          </a:xfrm>
          <a:prstGeom prst="rect">
            <a:avLst/>
          </a:prstGeom>
          <a:noFill/>
        </p:spPr>
        <p:txBody>
          <a:bodyPr wrap="square" lIns="109728" tIns="54864" rIns="109728" bIns="54864" anchor="t" rtlCol="0">
            <a:noAutofit/>
          </a:bodyPr>
          <a:lstStyle/>
          <a:p>
            <a:pPr algn="l">
              <a:lnSpc>
                <a:spcPts val="2400"/>
              </a:lnSpc>
              <a:spcBef>
                <a:spcPts val="0"/>
              </a:spcBef>
              <a:spcAft>
                <a:spcPts val="0"/>
              </a:spcAft>
              <a:buNone/>
            </a:pPr>
            <a:r>
              <a:rPr lang="ko-KR" altLang="en-US" sz="2000" b="0" dirty="0">
                <a:solidFill>
                  <a:srgbClr val="CFD8E8"/>
                </a:solidFill>
                <a:latin typeface="맑은 고딕"/>
                <a:ea typeface="맑은 고딕"/>
                <a:cs typeface="맑은 고딕"/>
              </a:rPr>
              <a:t>중3 동아(윤정미) Lesson 8</a:t>
            </a:r>
            <a:endParaRPr lang="ko-KR" sz="2000"/>
          </a:p>
        </p:txBody>
      </p:sp>
      <p:sp>
        <p:nvSpPr>
          <p:cNvPr id="4" name="sec_ids"/>
          <p:cNvSpPr txBox="1"/>
          <p:nvPr/>
        </p:nvSpPr>
        <p:spPr>
          <a:xfrm>
            <a:off x="822960" y="2788920"/>
            <a:ext cx="10515600" cy="457200"/>
          </a:xfrm>
          <a:prstGeom prst="rect">
            <a:avLst/>
          </a:prstGeom>
          <a:noFill/>
        </p:spPr>
        <p:txBody>
          <a:bodyPr wrap="square" lIns="109728" tIns="54864" rIns="109728" bIns="54864" anchor="t" rtlCol="0">
            <a:noAutofit/>
          </a:bodyPr>
          <a:lstStyle/>
          <a:p>
            <a:pPr algn="l">
              <a:lnSpc>
                <a:spcPts val="2200"/>
              </a:lnSpc>
              <a:spcBef>
                <a:spcPts val="0"/>
              </a:spcBef>
              <a:spcAft>
                <a:spcPts val="0"/>
              </a:spcAft>
              <a:buNone/>
            </a:pPr>
            <a:r>
              <a:rPr lang="en-US" altLang="en-US" sz="1800" b="1" dirty="0">
                <a:solidFill>
                  <a:srgbClr val="AEBBD0"/>
                </a:solidFill>
                <a:latin typeface="Calibri"/>
                <a:ea typeface="맑은 고딕"/>
                <a:cs typeface="Calibri"/>
              </a:rPr>
              <a:t>1 ~ 26번  ·  9장</a:t>
            </a:r>
            <a:endParaRPr lang="ko-KR" sz="1800"/>
          </a:p>
        </p:txBody>
      </p:sp>
      <p:sp>
        <p:nvSpPr>
          <p:cNvPr id="5" name="sec_legend"/>
          <p:cNvSpPr/>
          <p:nvPr/>
        </p:nvSpPr>
        <p:spPr>
          <a:xfrm>
            <a:off x="822960" y="3977639"/>
            <a:ext cx="10515600" cy="1371600"/>
          </a:xfrm>
          <a:prstGeom prst="roundRect">
            <a:avLst>
              <a:gd name="adj" fmla="val 6000"/>
            </a:avLst>
          </a:prstGeom>
          <a:solidFill>
            <a:srgbClr val="27356E"/>
          </a:solidFill>
          <a:ln>
            <a:noFill/>
          </a:ln>
        </p:spPr>
        <p:txBody>
          <a:bodyPr wrap="square" lIns="320040" tIns="137160" rIns="320040" bIns="137160" anchor="ctr" rtlCol="0">
            <a:noAutofit/>
          </a:bodyPr>
          <a:lstStyle/>
          <a:p>
            <a:pPr algn="l">
              <a:lnSpc>
                <a:spcPts val="2600"/>
              </a:lnSpc>
              <a:spcBef>
                <a:spcPts val="0"/>
              </a:spcBef>
              <a:spcAft>
                <a:spcPts val="0"/>
              </a:spcAft>
              <a:buNone/>
            </a:pPr>
            <a:r>
              <a:rPr lang="ko-KR" altLang="en-US" sz="1600" b="1" dirty="0">
                <a:solidFill>
                  <a:srgbClr val="FFE98A"/>
                </a:solidFill>
                <a:latin typeface="맑은 고딕"/>
                <a:ea typeface="맑은 고딕"/>
                <a:cs typeface="맑은 고딕"/>
              </a:rPr>
              <a:t>방법</a:t>
            </a:r>
            <a:r>
              <a:rPr lang="ko-KR" altLang="en-US" sz="1600" b="0" dirty="0">
                <a:solidFill>
                  <a:srgbClr val="FFFFFF"/>
                </a:solidFill>
                <a:latin typeface="맑은 고딕"/>
                <a:ea typeface="맑은 고딕"/>
                <a:cs typeface="맑은 고딕"/>
              </a:rPr>
              <a:t>     우리말 뜻을 참고하여 [  ] 안에서 어법상 알맞은 것을 고르기</a:t>
            </a:r>
            <a:endParaRPr lang="ko-KR" sz="1600"/>
          </a:p>
          <a:p>
            <a:pPr algn="l">
              <a:lnSpc>
                <a:spcPts val="2600"/>
              </a:lnSpc>
              <a:spcBef>
                <a:spcPts val="0"/>
              </a:spcBef>
              <a:spcAft>
                <a:spcPts val="0"/>
              </a:spcAft>
              <a:buNone/>
            </a:pPr>
            <a:r>
              <a:rPr lang="ko-KR" altLang="en-US" sz="1600" b="1" dirty="0">
                <a:solidFill>
                  <a:srgbClr val="FFE98A"/>
                </a:solidFill>
                <a:latin typeface="맑은 고딕"/>
                <a:ea typeface="맑은 고딕"/>
                <a:cs typeface="맑은 고딕"/>
              </a:rPr>
              <a:t>클릭</a:t>
            </a:r>
            <a:r>
              <a:rPr lang="ko-KR" altLang="en-US" sz="1600" b="0" dirty="0">
                <a:solidFill>
                  <a:srgbClr val="FFFFFF"/>
                </a:solidFill>
                <a:latin typeface="맑은 고딕"/>
                <a:ea typeface="맑은 고딕"/>
                <a:cs typeface="맑은 고딕"/>
              </a:rPr>
              <a:t>     한 번 클릭하면 정답이 빨간색으로 표시되고 문법 포인트가 함께 공개</a:t>
            </a:r>
            <a:endParaRPr lang="ko-KR" sz="1600"/>
          </a:p>
        </p:txBody>
      </p:sp>
    </p:spTree>
  </p:cSld>
  <p:clrMapOvr>
    <a:masterClrMapping/>
  </p:clrMapOvr>
</p:sld>
</file>

<file path=ppt/slides/slide28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8000"/>
            </a:avLst>
          </a:prstGeom>
          <a:solidFill>
            <a:srgbClr val="1E2A5A"/>
          </a:solidFill>
          <a:ln>
            <a:noFill/>
          </a:ln>
        </p:spPr>
        <p:txBody>
          <a:bodyPr wrap="square" lIns="45720" tIns="18288" rIns="45720" bIns="18288" anchor="ctr" rtlCol="0">
            <a:noAutofit/>
          </a:bodyPr>
          <a:lstStyle/>
          <a:p>
            <a:pPr algn="ctr">
              <a:lnSpc>
                <a:spcPts val="2000"/>
              </a:lnSpc>
              <a:spcBef>
                <a:spcPts val="0"/>
              </a:spcBef>
              <a:spcAft>
                <a:spcPts val="0"/>
              </a:spcAft>
              <a:buNone/>
            </a:pPr>
            <a:r>
              <a:rPr lang="en-US" altLang="en-US" sz="1700" b="1" dirty="0">
                <a:solidFill>
                  <a:srgbClr val="FFFFFF"/>
                </a:solidFill>
                <a:latin typeface="Calibri"/>
                <a:ea typeface="맑은 고딕"/>
                <a:cs typeface="Calibri"/>
              </a:rPr>
              <a:t>L8</a:t>
            </a:r>
            <a:endParaRPr lang="ko-KR" sz="1700"/>
          </a:p>
        </p:txBody>
      </p:sp>
      <p:sp>
        <p:nvSpPr>
          <p:cNvPr id="3" name="hdr_chip"/>
          <p:cNvSpPr/>
          <p:nvPr/>
        </p:nvSpPr>
        <p:spPr>
          <a:xfrm>
            <a:off x="1755648" y="274320"/>
            <a:ext cx="1371600" cy="493776"/>
          </a:xfrm>
          <a:prstGeom prst="roundRect">
            <a:avLst>
              <a:gd name="adj" fmla="val 8000"/>
            </a:avLst>
          </a:prstGeom>
          <a:solidFill>
            <a:srgbClr val="E6EAF4"/>
          </a:solidFill>
          <a:ln>
            <a:noFill/>
          </a:ln>
        </p:spPr>
        <p:txBody>
          <a:bodyPr wrap="square" lIns="27432" tIns="18288" rIns="27432" bIns="18288" anchor="ctr" rtlCol="0">
            <a:noAutofit/>
          </a:bodyPr>
          <a:lstStyle/>
          <a:p>
            <a:pPr algn="ctr">
              <a:lnSpc>
                <a:spcPts val="1700"/>
              </a:lnSpc>
              <a:spcBef>
                <a:spcPts val="0"/>
              </a:spcBef>
              <a:spcAft>
                <a:spcPts val="0"/>
              </a:spcAft>
              <a:buNone/>
            </a:pPr>
            <a:r>
              <a:rPr lang="ko-KR" altLang="en-US" sz="1400" b="1" dirty="0">
                <a:solidFill>
                  <a:srgbClr val="1E2A5A"/>
                </a:solidFill>
                <a:latin typeface="맑은 고딕"/>
                <a:ea typeface="맑은 고딕"/>
                <a:cs typeface="맑은 고딕"/>
              </a:rPr>
              <a:t>PART 5 · 1</a:t>
            </a:r>
            <a:endParaRPr lang="ko-KR" sz="1400"/>
          </a:p>
        </p:txBody>
      </p:sp>
      <p:sp>
        <p:nvSpPr>
          <p:cNvPr id="4" name="hdr_q"/>
          <p:cNvSpPr txBox="1"/>
          <p:nvPr/>
        </p:nvSpPr>
        <p:spPr>
          <a:xfrm>
            <a:off x="3246120" y="246888"/>
            <a:ext cx="8485632" cy="548640"/>
          </a:xfrm>
          <a:prstGeom prst="rect">
            <a:avLst/>
          </a:prstGeom>
          <a:noFill/>
        </p:spPr>
        <p:txBody>
          <a:bodyPr wrap="square" lIns="109728" tIns="54864" rIns="109728" bIns="54864" anchor="ctr" rtlCol="0">
            <a:noAutofit/>
          </a:bodyPr>
          <a:lstStyle/>
          <a:p>
            <a:pPr algn="l">
              <a:lnSpc>
                <a:spcPts val="2400"/>
              </a:lnSpc>
              <a:spcBef>
                <a:spcPts val="0"/>
              </a:spcBef>
              <a:spcAft>
                <a:spcPts val="0"/>
              </a:spcAft>
              <a:buNone/>
            </a:pPr>
            <a:r>
              <a:rPr lang="ko-KR" altLang="en-US" sz="2000" b="1" dirty="0">
                <a:solidFill>
                  <a:srgbClr val="1F2328"/>
                </a:solidFill>
                <a:latin typeface="맑은 고딕"/>
                <a:ea typeface="맑은 고딕"/>
                <a:cs typeface="맑은 고딕"/>
              </a:rPr>
              <a:t>[  ] 안에서 어법상 알맞은 것을 고르시오.</a:t>
            </a:r>
            <a:endParaRPr lang="ko-KR" sz="2000"/>
          </a:p>
        </p:txBody>
      </p:sp>
      <p:sp>
        <p:nvSpPr>
          <p:cNvPr id="5" name="ftr_exam"/>
          <p:cNvSpPr txBox="1"/>
          <p:nvPr/>
        </p:nvSpPr>
        <p:spPr>
          <a:xfrm>
            <a:off x="457200" y="6519672"/>
            <a:ext cx="5669280" cy="256032"/>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8</a:t>
            </a:r>
            <a:endParaRPr lang="ko-KR" sz="1000"/>
          </a:p>
        </p:txBody>
      </p:sp>
      <p:sp>
        <p:nvSpPr>
          <p:cNvPr id="6" name="ftr_hint"/>
          <p:cNvSpPr txBox="1"/>
          <p:nvPr/>
        </p:nvSpPr>
        <p:spPr>
          <a:xfrm>
            <a:off x="5971032" y="6519672"/>
            <a:ext cx="5760720" cy="256032"/>
          </a:xfrm>
          <a:prstGeom prst="rect">
            <a:avLst/>
          </a:prstGeom>
          <a:noFill/>
        </p:spPr>
        <p:txBody>
          <a:bodyPr wrap="square" lIns="0" tIns="0" rIns="0" bIns="0" anchor="t" rtlCol="0">
            <a:noAutofit/>
          </a:bodyPr>
          <a:lstStyle/>
          <a:p>
            <a:pPr algn="r">
              <a:lnSpc>
                <a:spcPts val="1200"/>
              </a:lnSpc>
              <a:spcBef>
                <a:spcPts val="0"/>
              </a:spcBef>
              <a:spcAft>
                <a:spcPts val="0"/>
              </a:spcAft>
              <a:buNone/>
            </a:pPr>
            <a:r>
              <a:rPr lang="ko-KR" altLang="en-US" sz="1000" b="0" dirty="0">
                <a:solidFill>
                  <a:srgbClr val="7A808C"/>
                </a:solidFill>
                <a:latin typeface="맑은 고딕"/>
                <a:ea typeface="맑은 고딕"/>
                <a:cs typeface="맑은 고딕"/>
              </a:rPr>
              <a:t>클릭 ① 정답(빨간색) + 문법 포인트 공개</a:t>
            </a:r>
            <a:endParaRPr lang="ko-KR" sz="1000"/>
          </a:p>
        </p:txBody>
      </p:sp>
      <p:sp>
        <p:nvSpPr>
          <p:cNvPr id="7" name="item_card_1"/>
          <p:cNvSpPr/>
          <p:nvPr/>
        </p:nvSpPr>
        <p:spPr>
          <a:xfrm>
            <a:off x="457200" y="950976"/>
            <a:ext cx="11274552" cy="1516634"/>
          </a:xfrm>
          <a:prstGeom prst="roundRect">
            <a:avLst>
              <a:gd name="adj" fmla="val 6000"/>
            </a:avLst>
          </a:prstGeom>
          <a:solidFill>
            <a:srgbClr val="F3F5F9"/>
          </a:solidFill>
          <a:ln w="12700">
            <a:solidFill>
              <a:srgbClr val="D9DFEA"/>
            </a:solidFill>
          </a:ln>
        </p:spPr>
        <p:txBody>
          <a:bodyPr rtlCol="0" anchor="ctr"/>
          <a:lstStyle/>
          <a:p>
            <a:pPr algn="ctr"/>
          </a:p>
        </p:txBody>
      </p:sp>
      <p:sp>
        <p:nvSpPr>
          <p:cNvPr id="8" name="kor_1"/>
          <p:cNvSpPr txBox="1"/>
          <p:nvPr/>
        </p:nvSpPr>
        <p:spPr>
          <a:xfrm>
            <a:off x="457200" y="1060704"/>
            <a:ext cx="11274552" cy="363728"/>
          </a:xfrm>
          <a:prstGeom prst="rect">
            <a:avLst/>
          </a:prstGeom>
          <a:noFill/>
        </p:spPr>
        <p:txBody>
          <a:bodyPr wrap="square" lIns="228600" tIns="54864" rIns="228600" bIns="54864" anchor="t" rtlCol="0">
            <a:noAutofit/>
          </a:bodyPr>
          <a:lstStyle/>
          <a:p>
            <a:pPr algn="l">
              <a:lnSpc>
                <a:spcPts val="2000"/>
              </a:lnSpc>
              <a:spcBef>
                <a:spcPts val="0"/>
              </a:spcBef>
              <a:spcAft>
                <a:spcPts val="0"/>
              </a:spcAft>
              <a:buNone/>
            </a:pPr>
            <a:r>
              <a:rPr lang="en-US" altLang="en-US" sz="1600" b="1" dirty="0">
                <a:solidFill>
                  <a:srgbClr val="1E2A5A"/>
                </a:solidFill>
                <a:latin typeface="Calibri"/>
                <a:ea typeface="맑은 고딕"/>
                <a:cs typeface="Calibri"/>
              </a:rPr>
              <a:t>1.  </a:t>
            </a:r>
            <a:r>
              <a:rPr lang="ko-KR" altLang="en-US" sz="1600" b="0" dirty="0">
                <a:solidFill>
                  <a:srgbClr val="3C4558"/>
                </a:solidFill>
                <a:latin typeface="맑은 고딕"/>
                <a:ea typeface="맑은 고딕"/>
                <a:cs typeface="맑은 고딕"/>
              </a:rPr>
              <a:t>오른쪽 그림을 보라. 한자 '효(孝)'가 보이는가?</a:t>
            </a:r>
            <a:endParaRPr lang="ko-KR" sz="1600"/>
          </a:p>
        </p:txBody>
      </p:sp>
      <p:sp>
        <p:nvSpPr>
          <p:cNvPr id="9" name="eng_1"/>
          <p:cNvSpPr txBox="1"/>
          <p:nvPr/>
        </p:nvSpPr>
        <p:spPr>
          <a:xfrm>
            <a:off x="457200" y="1369568"/>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Looking</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Look</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at the painting on the right.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Do</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Does</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you see the Chinese character, hyo (孝)?</a:t>
            </a:r>
            <a:endParaRPr lang="ko-KR" sz="2000"/>
          </a:p>
        </p:txBody>
      </p:sp>
      <p:sp>
        <p:nvSpPr>
          <p:cNvPr id="10" name="rv_eng_1"/>
          <p:cNvSpPr txBox="1"/>
          <p:nvPr/>
        </p:nvSpPr>
        <p:spPr>
          <a:xfrm>
            <a:off x="457200" y="1369568"/>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1" dirty="0">
                <a:solidFill>
                  <a:srgbClr val="C00000">
                    <a:alpha val="0"/>
                  </a:srgbClr>
                </a:solidFill>
                <a:latin typeface="Calibri"/>
                <a:ea typeface="맑은 고딕"/>
                <a:cs typeface="Calibri"/>
              </a:rPr>
              <a:t>[ </a:t>
            </a:r>
            <a:r>
              <a:rPr lang="en-US" altLang="en-US" sz="2000" b="1" dirty="0">
                <a:solidFill>
                  <a:srgbClr val="C00000">
                    <a:alpha val="0"/>
                  </a:srgbClr>
                </a:solidFill>
                <a:latin typeface="Calibri"/>
                <a:ea typeface="맑은 고딕"/>
                <a:cs typeface="Calibri"/>
              </a:rPr>
              <a:t>Looking</a:t>
            </a:r>
            <a:r>
              <a:rPr lang="en-US" altLang="en-US" sz="2000" b="1" dirty="0">
                <a:solidFill>
                  <a:srgbClr val="C00000">
                    <a:alpha val="0"/>
                  </a:srgbClr>
                </a:solidFill>
                <a:latin typeface="Calibri"/>
                <a:ea typeface="맑은 고딕"/>
                <a:cs typeface="Calibri"/>
              </a:rPr>
              <a:t> / </a:t>
            </a:r>
            <a:r>
              <a:rPr lang="en-US" altLang="en-US" sz="2000" b="1" dirty="0">
                <a:solidFill>
                  <a:srgbClr val="C00000"/>
                </a:solidFill>
                <a:latin typeface="Calibri"/>
                <a:ea typeface="맑은 고딕"/>
                <a:cs typeface="Calibri"/>
              </a:rPr>
              <a:t>Look</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at the painting on the right. </a:t>
            </a:r>
            <a:r>
              <a:rPr lang="en-US" altLang="en-US" sz="2000" b="1" dirty="0">
                <a:solidFill>
                  <a:srgbClr val="C00000">
                    <a:alpha val="0"/>
                  </a:srgbClr>
                </a:solidFill>
                <a:latin typeface="Calibri"/>
                <a:ea typeface="맑은 고딕"/>
                <a:cs typeface="Calibri"/>
              </a:rPr>
              <a:t>[ </a:t>
            </a:r>
            <a:r>
              <a:rPr lang="en-US" altLang="en-US" sz="2000" b="1" dirty="0">
                <a:solidFill>
                  <a:srgbClr val="C00000"/>
                </a:solidFill>
                <a:latin typeface="Calibri"/>
                <a:ea typeface="맑은 고딕"/>
                <a:cs typeface="Calibri"/>
              </a:rPr>
              <a:t>Do</a:t>
            </a:r>
            <a:r>
              <a:rPr lang="en-US" altLang="en-US" sz="2000" b="1" dirty="0">
                <a:solidFill>
                  <a:srgbClr val="C00000">
                    <a:alpha val="0"/>
                  </a:srgbClr>
                </a:solidFill>
                <a:latin typeface="Calibri"/>
                <a:ea typeface="맑은 고딕"/>
                <a:cs typeface="Calibri"/>
              </a:rPr>
              <a:t> / </a:t>
            </a:r>
            <a:r>
              <a:rPr lang="en-US" altLang="en-US" sz="2000" b="1" dirty="0">
                <a:solidFill>
                  <a:srgbClr val="C00000">
                    <a:alpha val="0"/>
                  </a:srgbClr>
                </a:solidFill>
                <a:latin typeface="Calibri"/>
                <a:ea typeface="맑은 고딕"/>
                <a:cs typeface="Calibri"/>
              </a:rPr>
              <a:t>Does</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you see the Chinese character, hyo (孝)?</a:t>
            </a:r>
            <a:endParaRPr lang="ko-KR" sz="2000"/>
          </a:p>
        </p:txBody>
      </p:sp>
      <p:sp>
        <p:nvSpPr>
          <p:cNvPr id="11" name="rv_point_1"/>
          <p:cNvSpPr txBox="1"/>
          <p:nvPr/>
        </p:nvSpPr>
        <p:spPr>
          <a:xfrm>
            <a:off x="457200" y="2135632"/>
            <a:ext cx="11274552" cy="331978"/>
          </a:xfrm>
          <a:prstGeom prst="rect">
            <a:avLst/>
          </a:prstGeom>
          <a:noFill/>
        </p:spPr>
        <p:txBody>
          <a:bodyPr wrap="square" lIns="228600" tIns="54864" rIns="228600" bIns="54864" anchor="t" rtlCol="0">
            <a:noAutofit/>
          </a:bodyPr>
          <a:lstStyle/>
          <a:p>
            <a:pPr algn="l">
              <a:lnSpc>
                <a:spcPts val="1750"/>
              </a:lnSpc>
              <a:spcBef>
                <a:spcPts val="0"/>
              </a:spcBef>
              <a:spcAft>
                <a:spcPts val="0"/>
              </a:spcAft>
              <a:buNone/>
            </a:pPr>
            <a:r>
              <a:rPr lang="ko-KR" altLang="en-US" sz="1400" b="1" dirty="0">
                <a:solidFill>
                  <a:srgbClr val="C00000"/>
                </a:solidFill>
                <a:latin typeface="맑은 고딕"/>
                <a:ea typeface="맑은 고딕"/>
                <a:cs typeface="맑은 고딕"/>
              </a:rPr>
              <a:t>포인트  </a:t>
            </a:r>
            <a:r>
              <a:rPr lang="ko-KR" altLang="en-US" sz="1400" b="0" dirty="0">
                <a:solidFill>
                  <a:srgbClr val="2F5597"/>
                </a:solidFill>
                <a:latin typeface="맑은 고딕"/>
                <a:ea typeface="맑은 고딕"/>
                <a:cs typeface="맑은 고딕"/>
              </a:rPr>
              <a:t>to부정사/동명사/동사원형 (명령문 → 동사원형) · 동사의 수 일치 (주어 you)</a:t>
            </a:r>
            <a:endParaRPr lang="ko-KR" sz="1400"/>
          </a:p>
        </p:txBody>
      </p:sp>
      <p:sp>
        <p:nvSpPr>
          <p:cNvPr id="12" name="item_card_2"/>
          <p:cNvSpPr/>
          <p:nvPr/>
        </p:nvSpPr>
        <p:spPr>
          <a:xfrm>
            <a:off x="457200" y="2577338"/>
            <a:ext cx="11274552" cy="1161034"/>
          </a:xfrm>
          <a:prstGeom prst="roundRect">
            <a:avLst>
              <a:gd name="adj" fmla="val 6000"/>
            </a:avLst>
          </a:prstGeom>
          <a:solidFill>
            <a:srgbClr val="F3F5F9"/>
          </a:solidFill>
          <a:ln w="12700">
            <a:solidFill>
              <a:srgbClr val="D9DFEA"/>
            </a:solidFill>
          </a:ln>
        </p:spPr>
        <p:txBody>
          <a:bodyPr rtlCol="0" anchor="ctr"/>
          <a:lstStyle/>
          <a:p>
            <a:pPr algn="ctr"/>
          </a:p>
        </p:txBody>
      </p:sp>
      <p:sp>
        <p:nvSpPr>
          <p:cNvPr id="13" name="kor_2"/>
          <p:cNvSpPr txBox="1"/>
          <p:nvPr/>
        </p:nvSpPr>
        <p:spPr>
          <a:xfrm>
            <a:off x="457200" y="2687066"/>
            <a:ext cx="11274552" cy="363728"/>
          </a:xfrm>
          <a:prstGeom prst="rect">
            <a:avLst/>
          </a:prstGeom>
          <a:noFill/>
        </p:spPr>
        <p:txBody>
          <a:bodyPr wrap="square" lIns="228600" tIns="54864" rIns="228600" bIns="54864" anchor="t" rtlCol="0">
            <a:noAutofit/>
          </a:bodyPr>
          <a:lstStyle/>
          <a:p>
            <a:pPr algn="l">
              <a:lnSpc>
                <a:spcPts val="2000"/>
              </a:lnSpc>
              <a:spcBef>
                <a:spcPts val="0"/>
              </a:spcBef>
              <a:spcAft>
                <a:spcPts val="0"/>
              </a:spcAft>
              <a:buNone/>
            </a:pPr>
            <a:r>
              <a:rPr lang="en-US" altLang="en-US" sz="1600" b="1" dirty="0">
                <a:solidFill>
                  <a:srgbClr val="1E2A5A"/>
                </a:solidFill>
                <a:latin typeface="Calibri"/>
                <a:ea typeface="맑은 고딕"/>
                <a:cs typeface="Calibri"/>
              </a:rPr>
              <a:t>2.  </a:t>
            </a:r>
            <a:r>
              <a:rPr lang="ko-KR" altLang="en-US" sz="1600" b="0" dirty="0">
                <a:solidFill>
                  <a:srgbClr val="3C4558"/>
                </a:solidFill>
                <a:latin typeface="맑은 고딕"/>
                <a:ea typeface="맑은 고딕"/>
                <a:cs typeface="맑은 고딕"/>
              </a:rPr>
              <a:t>잉어와 거문고, 부채도 눈에 띄는가?</a:t>
            </a:r>
            <a:endParaRPr lang="ko-KR" sz="1600"/>
          </a:p>
        </p:txBody>
      </p:sp>
      <p:sp>
        <p:nvSpPr>
          <p:cNvPr id="14" name="eng_2"/>
          <p:cNvSpPr txBox="1"/>
          <p:nvPr/>
        </p:nvSpPr>
        <p:spPr>
          <a:xfrm>
            <a:off x="457200" y="2995930"/>
            <a:ext cx="11274552" cy="4653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Do</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Does</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you also see a carp, a geomungo, and a fan?</a:t>
            </a:r>
            <a:endParaRPr lang="ko-KR" sz="2000"/>
          </a:p>
        </p:txBody>
      </p:sp>
      <p:sp>
        <p:nvSpPr>
          <p:cNvPr id="15" name="rv_eng_2"/>
          <p:cNvSpPr txBox="1"/>
          <p:nvPr/>
        </p:nvSpPr>
        <p:spPr>
          <a:xfrm>
            <a:off x="457200" y="2995930"/>
            <a:ext cx="11274552" cy="4653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1" dirty="0">
                <a:solidFill>
                  <a:srgbClr val="C00000">
                    <a:alpha val="0"/>
                  </a:srgbClr>
                </a:solidFill>
                <a:latin typeface="Calibri"/>
                <a:ea typeface="맑은 고딕"/>
                <a:cs typeface="Calibri"/>
              </a:rPr>
              <a:t>[ </a:t>
            </a:r>
            <a:r>
              <a:rPr lang="en-US" altLang="en-US" sz="2000" b="1" dirty="0">
                <a:solidFill>
                  <a:srgbClr val="C00000"/>
                </a:solidFill>
                <a:latin typeface="Calibri"/>
                <a:ea typeface="맑은 고딕"/>
                <a:cs typeface="Calibri"/>
              </a:rPr>
              <a:t>Do</a:t>
            </a:r>
            <a:r>
              <a:rPr lang="en-US" altLang="en-US" sz="2000" b="1" dirty="0">
                <a:solidFill>
                  <a:srgbClr val="C00000">
                    <a:alpha val="0"/>
                  </a:srgbClr>
                </a:solidFill>
                <a:latin typeface="Calibri"/>
                <a:ea typeface="맑은 고딕"/>
                <a:cs typeface="Calibri"/>
              </a:rPr>
              <a:t> / </a:t>
            </a:r>
            <a:r>
              <a:rPr lang="en-US" altLang="en-US" sz="2000" b="1" dirty="0">
                <a:solidFill>
                  <a:srgbClr val="C00000">
                    <a:alpha val="0"/>
                  </a:srgbClr>
                </a:solidFill>
                <a:latin typeface="Calibri"/>
                <a:ea typeface="맑은 고딕"/>
                <a:cs typeface="Calibri"/>
              </a:rPr>
              <a:t>Does</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you also see a carp, a geomungo, and a fan?</a:t>
            </a:r>
            <a:endParaRPr lang="ko-KR" sz="2000"/>
          </a:p>
        </p:txBody>
      </p:sp>
      <p:sp>
        <p:nvSpPr>
          <p:cNvPr id="16" name="rv_point_2"/>
          <p:cNvSpPr txBox="1"/>
          <p:nvPr/>
        </p:nvSpPr>
        <p:spPr>
          <a:xfrm>
            <a:off x="457200" y="3406394"/>
            <a:ext cx="11274552" cy="331978"/>
          </a:xfrm>
          <a:prstGeom prst="rect">
            <a:avLst/>
          </a:prstGeom>
          <a:noFill/>
        </p:spPr>
        <p:txBody>
          <a:bodyPr wrap="square" lIns="228600" tIns="54864" rIns="228600" bIns="54864" anchor="t" rtlCol="0">
            <a:noAutofit/>
          </a:bodyPr>
          <a:lstStyle/>
          <a:p>
            <a:pPr algn="l">
              <a:lnSpc>
                <a:spcPts val="1750"/>
              </a:lnSpc>
              <a:spcBef>
                <a:spcPts val="0"/>
              </a:spcBef>
              <a:spcAft>
                <a:spcPts val="0"/>
              </a:spcAft>
              <a:buNone/>
            </a:pPr>
            <a:r>
              <a:rPr lang="ko-KR" altLang="en-US" sz="1400" b="1" dirty="0">
                <a:solidFill>
                  <a:srgbClr val="C00000"/>
                </a:solidFill>
                <a:latin typeface="맑은 고딕"/>
                <a:ea typeface="맑은 고딕"/>
                <a:cs typeface="맑은 고딕"/>
              </a:rPr>
              <a:t>포인트  </a:t>
            </a:r>
            <a:r>
              <a:rPr lang="ko-KR" altLang="en-US" sz="1400" b="0" dirty="0">
                <a:solidFill>
                  <a:srgbClr val="2F5597"/>
                </a:solidFill>
                <a:latin typeface="맑은 고딕"/>
                <a:ea typeface="맑은 고딕"/>
                <a:cs typeface="맑은 고딕"/>
              </a:rPr>
              <a:t>동사의 수 일치 (주어 you)</a:t>
            </a:r>
            <a:endParaRPr lang="ko-KR" sz="1400"/>
          </a:p>
        </p:txBody>
      </p:sp>
      <p:sp>
        <p:nvSpPr>
          <p:cNvPr id="17" name="item_card_3"/>
          <p:cNvSpPr/>
          <p:nvPr/>
        </p:nvSpPr>
        <p:spPr>
          <a:xfrm>
            <a:off x="457200" y="3848100"/>
            <a:ext cx="11274552" cy="1516634"/>
          </a:xfrm>
          <a:prstGeom prst="roundRect">
            <a:avLst>
              <a:gd name="adj" fmla="val 6000"/>
            </a:avLst>
          </a:prstGeom>
          <a:solidFill>
            <a:srgbClr val="F3F5F9"/>
          </a:solidFill>
          <a:ln w="12700">
            <a:solidFill>
              <a:srgbClr val="D9DFEA"/>
            </a:solidFill>
          </a:ln>
        </p:spPr>
        <p:txBody>
          <a:bodyPr rtlCol="0" anchor="ctr"/>
          <a:lstStyle/>
          <a:p>
            <a:pPr algn="ctr"/>
          </a:p>
        </p:txBody>
      </p:sp>
      <p:sp>
        <p:nvSpPr>
          <p:cNvPr id="18" name="kor_3"/>
          <p:cNvSpPr txBox="1"/>
          <p:nvPr/>
        </p:nvSpPr>
        <p:spPr>
          <a:xfrm>
            <a:off x="457200" y="3957828"/>
            <a:ext cx="11274552" cy="363728"/>
          </a:xfrm>
          <a:prstGeom prst="rect">
            <a:avLst/>
          </a:prstGeom>
          <a:noFill/>
        </p:spPr>
        <p:txBody>
          <a:bodyPr wrap="square" lIns="228600" tIns="54864" rIns="228600" bIns="54864" anchor="t" rtlCol="0">
            <a:noAutofit/>
          </a:bodyPr>
          <a:lstStyle/>
          <a:p>
            <a:pPr algn="l">
              <a:lnSpc>
                <a:spcPts val="2000"/>
              </a:lnSpc>
              <a:spcBef>
                <a:spcPts val="0"/>
              </a:spcBef>
              <a:spcAft>
                <a:spcPts val="0"/>
              </a:spcAft>
              <a:buNone/>
            </a:pPr>
            <a:r>
              <a:rPr lang="en-US" altLang="en-US" sz="1600" b="1" dirty="0">
                <a:solidFill>
                  <a:srgbClr val="1E2A5A"/>
                </a:solidFill>
                <a:latin typeface="Calibri"/>
                <a:ea typeface="맑은 고딕"/>
                <a:cs typeface="Calibri"/>
              </a:rPr>
              <a:t>3.  </a:t>
            </a:r>
            <a:r>
              <a:rPr lang="ko-KR" altLang="en-US" sz="1600" b="0" dirty="0">
                <a:solidFill>
                  <a:srgbClr val="3C4558"/>
                </a:solidFill>
                <a:latin typeface="맑은 고딕"/>
                <a:ea typeface="맑은 고딕"/>
                <a:cs typeface="맑은 고딕"/>
              </a:rPr>
              <a:t>이런 그림을 문자도라고 하는데, 조선 후기에 유행한 민화의 한 종류이다.</a:t>
            </a:r>
            <a:endParaRPr lang="ko-KR" sz="1600"/>
          </a:p>
        </p:txBody>
      </p:sp>
      <p:sp>
        <p:nvSpPr>
          <p:cNvPr id="19" name="eng_3"/>
          <p:cNvSpPr txBox="1"/>
          <p:nvPr/>
        </p:nvSpPr>
        <p:spPr>
          <a:xfrm>
            <a:off x="457200" y="4266692"/>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solidFill>
                <a:latin typeface="Calibri"/>
                <a:ea typeface="맑은 고딕"/>
                <a:cs typeface="Calibri"/>
              </a:rPr>
              <a:t>This kind of painting is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calling</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called</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Munjado, and it is a type of folk painting that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was</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were</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popular in the late Joseon dynasty.</a:t>
            </a:r>
            <a:endParaRPr lang="ko-KR" sz="2000"/>
          </a:p>
        </p:txBody>
      </p:sp>
      <p:sp>
        <p:nvSpPr>
          <p:cNvPr id="20" name="rv_eng_3"/>
          <p:cNvSpPr txBox="1"/>
          <p:nvPr/>
        </p:nvSpPr>
        <p:spPr>
          <a:xfrm>
            <a:off x="457200" y="4266692"/>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alpha val="0"/>
                  </a:srgbClr>
                </a:solidFill>
                <a:latin typeface="Calibri"/>
                <a:ea typeface="맑은 고딕"/>
                <a:cs typeface="Calibri"/>
              </a:rPr>
              <a:t>This kind of painting is </a:t>
            </a:r>
            <a:r>
              <a:rPr lang="en-US" altLang="en-US" sz="2000" b="1" dirty="0">
                <a:solidFill>
                  <a:srgbClr val="C00000">
                    <a:alpha val="0"/>
                  </a:srgbClr>
                </a:solidFill>
                <a:latin typeface="Calibri"/>
                <a:ea typeface="맑은 고딕"/>
                <a:cs typeface="Calibri"/>
              </a:rPr>
              <a:t>[ </a:t>
            </a:r>
            <a:r>
              <a:rPr lang="en-US" altLang="en-US" sz="2000" b="1" dirty="0">
                <a:solidFill>
                  <a:srgbClr val="C00000">
                    <a:alpha val="0"/>
                  </a:srgbClr>
                </a:solidFill>
                <a:latin typeface="Calibri"/>
                <a:ea typeface="맑은 고딕"/>
                <a:cs typeface="Calibri"/>
              </a:rPr>
              <a:t>calling</a:t>
            </a:r>
            <a:r>
              <a:rPr lang="en-US" altLang="en-US" sz="2000" b="1" dirty="0">
                <a:solidFill>
                  <a:srgbClr val="C00000">
                    <a:alpha val="0"/>
                  </a:srgbClr>
                </a:solidFill>
                <a:latin typeface="Calibri"/>
                <a:ea typeface="맑은 고딕"/>
                <a:cs typeface="Calibri"/>
              </a:rPr>
              <a:t> / </a:t>
            </a:r>
            <a:r>
              <a:rPr lang="en-US" altLang="en-US" sz="2000" b="1" dirty="0">
                <a:solidFill>
                  <a:srgbClr val="C00000"/>
                </a:solidFill>
                <a:latin typeface="Calibri"/>
                <a:ea typeface="맑은 고딕"/>
                <a:cs typeface="Calibri"/>
              </a:rPr>
              <a:t>called</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Munjado, and it is a type of folk painting that </a:t>
            </a:r>
            <a:r>
              <a:rPr lang="en-US" altLang="en-US" sz="2000" b="1" dirty="0">
                <a:solidFill>
                  <a:srgbClr val="C00000">
                    <a:alpha val="0"/>
                  </a:srgbClr>
                </a:solidFill>
                <a:latin typeface="Calibri"/>
                <a:ea typeface="맑은 고딕"/>
                <a:cs typeface="Calibri"/>
              </a:rPr>
              <a:t>[ </a:t>
            </a:r>
            <a:r>
              <a:rPr lang="en-US" altLang="en-US" sz="2000" b="1" dirty="0">
                <a:solidFill>
                  <a:srgbClr val="C00000"/>
                </a:solidFill>
                <a:latin typeface="Calibri"/>
                <a:ea typeface="맑은 고딕"/>
                <a:cs typeface="Calibri"/>
              </a:rPr>
              <a:t>was</a:t>
            </a:r>
            <a:r>
              <a:rPr lang="en-US" altLang="en-US" sz="2000" b="1" dirty="0">
                <a:solidFill>
                  <a:srgbClr val="C00000">
                    <a:alpha val="0"/>
                  </a:srgbClr>
                </a:solidFill>
                <a:latin typeface="Calibri"/>
                <a:ea typeface="맑은 고딕"/>
                <a:cs typeface="Calibri"/>
              </a:rPr>
              <a:t> / </a:t>
            </a:r>
            <a:r>
              <a:rPr lang="en-US" altLang="en-US" sz="2000" b="1" dirty="0">
                <a:solidFill>
                  <a:srgbClr val="C00000">
                    <a:alpha val="0"/>
                  </a:srgbClr>
                </a:solidFill>
                <a:latin typeface="Calibri"/>
                <a:ea typeface="맑은 고딕"/>
                <a:cs typeface="Calibri"/>
              </a:rPr>
              <a:t>were</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popular in the late Joseon dynasty.</a:t>
            </a:r>
            <a:endParaRPr lang="ko-KR" sz="2000"/>
          </a:p>
        </p:txBody>
      </p:sp>
      <p:sp>
        <p:nvSpPr>
          <p:cNvPr id="21" name="rv_point_3"/>
          <p:cNvSpPr txBox="1"/>
          <p:nvPr/>
        </p:nvSpPr>
        <p:spPr>
          <a:xfrm>
            <a:off x="457200" y="5032756"/>
            <a:ext cx="11274552" cy="331978"/>
          </a:xfrm>
          <a:prstGeom prst="rect">
            <a:avLst/>
          </a:prstGeom>
          <a:noFill/>
        </p:spPr>
        <p:txBody>
          <a:bodyPr wrap="square" lIns="228600" tIns="54864" rIns="228600" bIns="54864" anchor="t" rtlCol="0">
            <a:noAutofit/>
          </a:bodyPr>
          <a:lstStyle/>
          <a:p>
            <a:pPr algn="l">
              <a:lnSpc>
                <a:spcPts val="1750"/>
              </a:lnSpc>
              <a:spcBef>
                <a:spcPts val="0"/>
              </a:spcBef>
              <a:spcAft>
                <a:spcPts val="0"/>
              </a:spcAft>
              <a:buNone/>
            </a:pPr>
            <a:r>
              <a:rPr lang="ko-KR" altLang="en-US" sz="1400" b="1" dirty="0">
                <a:solidFill>
                  <a:srgbClr val="C00000"/>
                </a:solidFill>
                <a:latin typeface="맑은 고딕"/>
                <a:ea typeface="맑은 고딕"/>
                <a:cs typeface="맑은 고딕"/>
              </a:rPr>
              <a:t>포인트  </a:t>
            </a:r>
            <a:r>
              <a:rPr lang="ko-KR" altLang="en-US" sz="1400" b="0" dirty="0">
                <a:solidFill>
                  <a:srgbClr val="2F5597"/>
                </a:solidFill>
                <a:latin typeface="맑은 고딕"/>
                <a:ea typeface="맑은 고딕"/>
                <a:cs typeface="맑은 고딕"/>
              </a:rPr>
              <a:t>수동태(능동/수동 구별) (그림이 '불리는' 것 → be + p.p.) · 동사의 수 일치 (선행사 a type of folk painting 단수)</a:t>
            </a:r>
            <a:endParaRPr lang="ko-KR" sz="1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25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250"/>
                                        <p:tgtEl>
                                          <p:spTgt spid="1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250"/>
                                        <p:tgtEl>
                                          <p:spTgt spid="1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fade">
                                      <p:cBhvr>
                                        <p:cTn id="16" dur="250"/>
                                        <p:tgtEl>
                                          <p:spTgt spid="1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250"/>
                                        <p:tgtEl>
                                          <p:spTgt spid="2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fade">
                                      <p:cBhvr>
                                        <p:cTn id="22" dur="25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5" grpId="0" animBg="1"/>
      <p:bldP spid="16" grpId="0" animBg="1"/>
      <p:bldP spid="20" grpId="0" animBg="1"/>
      <p:bldP spid="21" grpId="0" animBg="1"/>
    </p:bldLst>
  </p:timing>
</p:sld>
</file>

<file path=ppt/slides/slide28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8000"/>
            </a:avLst>
          </a:prstGeom>
          <a:solidFill>
            <a:srgbClr val="1E2A5A"/>
          </a:solidFill>
          <a:ln>
            <a:noFill/>
          </a:ln>
        </p:spPr>
        <p:txBody>
          <a:bodyPr wrap="square" lIns="45720" tIns="18288" rIns="45720" bIns="18288" anchor="ctr" rtlCol="0">
            <a:noAutofit/>
          </a:bodyPr>
          <a:lstStyle/>
          <a:p>
            <a:pPr algn="ctr">
              <a:lnSpc>
                <a:spcPts val="2000"/>
              </a:lnSpc>
              <a:spcBef>
                <a:spcPts val="0"/>
              </a:spcBef>
              <a:spcAft>
                <a:spcPts val="0"/>
              </a:spcAft>
              <a:buNone/>
            </a:pPr>
            <a:r>
              <a:rPr lang="en-US" altLang="en-US" sz="1700" b="1" dirty="0">
                <a:solidFill>
                  <a:srgbClr val="FFFFFF"/>
                </a:solidFill>
                <a:latin typeface="Calibri"/>
                <a:ea typeface="맑은 고딕"/>
                <a:cs typeface="Calibri"/>
              </a:rPr>
              <a:t>L8</a:t>
            </a:r>
            <a:endParaRPr lang="ko-KR" sz="1700"/>
          </a:p>
        </p:txBody>
      </p:sp>
      <p:sp>
        <p:nvSpPr>
          <p:cNvPr id="3" name="hdr_chip"/>
          <p:cNvSpPr/>
          <p:nvPr/>
        </p:nvSpPr>
        <p:spPr>
          <a:xfrm>
            <a:off x="1755648" y="274320"/>
            <a:ext cx="1371600" cy="493776"/>
          </a:xfrm>
          <a:prstGeom prst="roundRect">
            <a:avLst>
              <a:gd name="adj" fmla="val 8000"/>
            </a:avLst>
          </a:prstGeom>
          <a:solidFill>
            <a:srgbClr val="E6EAF4"/>
          </a:solidFill>
          <a:ln>
            <a:noFill/>
          </a:ln>
        </p:spPr>
        <p:txBody>
          <a:bodyPr wrap="square" lIns="27432" tIns="18288" rIns="27432" bIns="18288" anchor="ctr" rtlCol="0">
            <a:noAutofit/>
          </a:bodyPr>
          <a:lstStyle/>
          <a:p>
            <a:pPr algn="ctr">
              <a:lnSpc>
                <a:spcPts val="1700"/>
              </a:lnSpc>
              <a:spcBef>
                <a:spcPts val="0"/>
              </a:spcBef>
              <a:spcAft>
                <a:spcPts val="0"/>
              </a:spcAft>
              <a:buNone/>
            </a:pPr>
            <a:r>
              <a:rPr lang="ko-KR" altLang="en-US" sz="1400" b="1" dirty="0">
                <a:solidFill>
                  <a:srgbClr val="1E2A5A"/>
                </a:solidFill>
                <a:latin typeface="맑은 고딕"/>
                <a:ea typeface="맑은 고딕"/>
                <a:cs typeface="맑은 고딕"/>
              </a:rPr>
              <a:t>PART 5 · 2</a:t>
            </a:r>
            <a:endParaRPr lang="ko-KR" sz="1400"/>
          </a:p>
        </p:txBody>
      </p:sp>
      <p:sp>
        <p:nvSpPr>
          <p:cNvPr id="4" name="hdr_q"/>
          <p:cNvSpPr txBox="1"/>
          <p:nvPr/>
        </p:nvSpPr>
        <p:spPr>
          <a:xfrm>
            <a:off x="3246120" y="246888"/>
            <a:ext cx="8485632" cy="548640"/>
          </a:xfrm>
          <a:prstGeom prst="rect">
            <a:avLst/>
          </a:prstGeom>
          <a:noFill/>
        </p:spPr>
        <p:txBody>
          <a:bodyPr wrap="square" lIns="109728" tIns="54864" rIns="109728" bIns="54864" anchor="ctr" rtlCol="0">
            <a:noAutofit/>
          </a:bodyPr>
          <a:lstStyle/>
          <a:p>
            <a:pPr algn="l">
              <a:lnSpc>
                <a:spcPts val="2400"/>
              </a:lnSpc>
              <a:spcBef>
                <a:spcPts val="0"/>
              </a:spcBef>
              <a:spcAft>
                <a:spcPts val="0"/>
              </a:spcAft>
              <a:buNone/>
            </a:pPr>
            <a:r>
              <a:rPr lang="ko-KR" altLang="en-US" sz="2000" b="1" dirty="0">
                <a:solidFill>
                  <a:srgbClr val="1F2328"/>
                </a:solidFill>
                <a:latin typeface="맑은 고딕"/>
                <a:ea typeface="맑은 고딕"/>
                <a:cs typeface="맑은 고딕"/>
              </a:rPr>
              <a:t>[  ] 안에서 어법상 알맞은 것을 고르시오.</a:t>
            </a:r>
            <a:endParaRPr lang="ko-KR" sz="2000"/>
          </a:p>
        </p:txBody>
      </p:sp>
      <p:sp>
        <p:nvSpPr>
          <p:cNvPr id="5" name="ftr_exam"/>
          <p:cNvSpPr txBox="1"/>
          <p:nvPr/>
        </p:nvSpPr>
        <p:spPr>
          <a:xfrm>
            <a:off x="457200" y="6519672"/>
            <a:ext cx="5669280" cy="256032"/>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8</a:t>
            </a:r>
            <a:endParaRPr lang="ko-KR" sz="1000"/>
          </a:p>
        </p:txBody>
      </p:sp>
      <p:sp>
        <p:nvSpPr>
          <p:cNvPr id="6" name="ftr_hint"/>
          <p:cNvSpPr txBox="1"/>
          <p:nvPr/>
        </p:nvSpPr>
        <p:spPr>
          <a:xfrm>
            <a:off x="5971032" y="6519672"/>
            <a:ext cx="5760720" cy="256032"/>
          </a:xfrm>
          <a:prstGeom prst="rect">
            <a:avLst/>
          </a:prstGeom>
          <a:noFill/>
        </p:spPr>
        <p:txBody>
          <a:bodyPr wrap="square" lIns="0" tIns="0" rIns="0" bIns="0" anchor="t" rtlCol="0">
            <a:noAutofit/>
          </a:bodyPr>
          <a:lstStyle/>
          <a:p>
            <a:pPr algn="r">
              <a:lnSpc>
                <a:spcPts val="1200"/>
              </a:lnSpc>
              <a:spcBef>
                <a:spcPts val="0"/>
              </a:spcBef>
              <a:spcAft>
                <a:spcPts val="0"/>
              </a:spcAft>
              <a:buNone/>
            </a:pPr>
            <a:r>
              <a:rPr lang="ko-KR" altLang="en-US" sz="1000" b="0" dirty="0">
                <a:solidFill>
                  <a:srgbClr val="7A808C"/>
                </a:solidFill>
                <a:latin typeface="맑은 고딕"/>
                <a:ea typeface="맑은 고딕"/>
                <a:cs typeface="맑은 고딕"/>
              </a:rPr>
              <a:t>클릭 ① 정답(빨간색) + 문법 포인트 공개</a:t>
            </a:r>
            <a:endParaRPr lang="ko-KR" sz="1000"/>
          </a:p>
        </p:txBody>
      </p:sp>
      <p:sp>
        <p:nvSpPr>
          <p:cNvPr id="7" name="item_card_1"/>
          <p:cNvSpPr/>
          <p:nvPr/>
        </p:nvSpPr>
        <p:spPr>
          <a:xfrm>
            <a:off x="457200" y="950976"/>
            <a:ext cx="11274552" cy="1516634"/>
          </a:xfrm>
          <a:prstGeom prst="roundRect">
            <a:avLst>
              <a:gd name="adj" fmla="val 6000"/>
            </a:avLst>
          </a:prstGeom>
          <a:solidFill>
            <a:srgbClr val="F3F5F9"/>
          </a:solidFill>
          <a:ln w="12700">
            <a:solidFill>
              <a:srgbClr val="D9DFEA"/>
            </a:solidFill>
          </a:ln>
        </p:spPr>
        <p:txBody>
          <a:bodyPr rtlCol="0" anchor="ctr"/>
          <a:lstStyle/>
          <a:p>
            <a:pPr algn="ctr"/>
          </a:p>
        </p:txBody>
      </p:sp>
      <p:sp>
        <p:nvSpPr>
          <p:cNvPr id="8" name="kor_1"/>
          <p:cNvSpPr txBox="1"/>
          <p:nvPr/>
        </p:nvSpPr>
        <p:spPr>
          <a:xfrm>
            <a:off x="457200" y="1060704"/>
            <a:ext cx="11274552" cy="363728"/>
          </a:xfrm>
          <a:prstGeom prst="rect">
            <a:avLst/>
          </a:prstGeom>
          <a:noFill/>
        </p:spPr>
        <p:txBody>
          <a:bodyPr wrap="square" lIns="228600" tIns="54864" rIns="228600" bIns="54864" anchor="t" rtlCol="0">
            <a:noAutofit/>
          </a:bodyPr>
          <a:lstStyle/>
          <a:p>
            <a:pPr algn="l">
              <a:lnSpc>
                <a:spcPts val="2000"/>
              </a:lnSpc>
              <a:spcBef>
                <a:spcPts val="0"/>
              </a:spcBef>
              <a:spcAft>
                <a:spcPts val="0"/>
              </a:spcAft>
              <a:buNone/>
            </a:pPr>
            <a:r>
              <a:rPr lang="en-US" altLang="en-US" sz="1600" b="1" dirty="0">
                <a:solidFill>
                  <a:srgbClr val="1E2A5A"/>
                </a:solidFill>
                <a:latin typeface="Calibri"/>
                <a:ea typeface="맑은 고딕"/>
                <a:cs typeface="Calibri"/>
              </a:rPr>
              <a:t>4.  </a:t>
            </a:r>
            <a:r>
              <a:rPr lang="ko-KR" altLang="en-US" sz="1600" b="0" dirty="0">
                <a:solidFill>
                  <a:srgbClr val="3C4558"/>
                </a:solidFill>
                <a:latin typeface="맑은 고딕"/>
                <a:ea typeface="맑은 고딕"/>
                <a:cs typeface="맑은 고딕"/>
              </a:rPr>
              <a:t>문자도에는 대개 한자 하나가 몇몇 동물이나 사물과 함께 그려져 있다.</a:t>
            </a:r>
            <a:endParaRPr lang="ko-KR" sz="1600"/>
          </a:p>
        </p:txBody>
      </p:sp>
      <p:sp>
        <p:nvSpPr>
          <p:cNvPr id="9" name="eng_1"/>
          <p:cNvSpPr txBox="1"/>
          <p:nvPr/>
        </p:nvSpPr>
        <p:spPr>
          <a:xfrm>
            <a:off x="457200" y="1369568"/>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solidFill>
                <a:latin typeface="Calibri"/>
                <a:ea typeface="맑은 고딕"/>
                <a:cs typeface="Calibri"/>
              </a:rPr>
              <a:t>In Munjado, there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is</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are</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usually a Chinese character with some animals or objects.</a:t>
            </a:r>
            <a:endParaRPr lang="ko-KR" sz="2000"/>
          </a:p>
        </p:txBody>
      </p:sp>
      <p:sp>
        <p:nvSpPr>
          <p:cNvPr id="10" name="rv_eng_1"/>
          <p:cNvSpPr txBox="1"/>
          <p:nvPr/>
        </p:nvSpPr>
        <p:spPr>
          <a:xfrm>
            <a:off x="457200" y="1369568"/>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alpha val="0"/>
                  </a:srgbClr>
                </a:solidFill>
                <a:latin typeface="Calibri"/>
                <a:ea typeface="맑은 고딕"/>
                <a:cs typeface="Calibri"/>
              </a:rPr>
              <a:t>In Munjado, there </a:t>
            </a:r>
            <a:r>
              <a:rPr lang="en-US" altLang="en-US" sz="2000" b="1" dirty="0">
                <a:solidFill>
                  <a:srgbClr val="C00000">
                    <a:alpha val="0"/>
                  </a:srgbClr>
                </a:solidFill>
                <a:latin typeface="Calibri"/>
                <a:ea typeface="맑은 고딕"/>
                <a:cs typeface="Calibri"/>
              </a:rPr>
              <a:t>[ </a:t>
            </a:r>
            <a:r>
              <a:rPr lang="en-US" altLang="en-US" sz="2000" b="1" dirty="0">
                <a:solidFill>
                  <a:srgbClr val="C00000"/>
                </a:solidFill>
                <a:latin typeface="Calibri"/>
                <a:ea typeface="맑은 고딕"/>
                <a:cs typeface="Calibri"/>
              </a:rPr>
              <a:t>is</a:t>
            </a:r>
            <a:r>
              <a:rPr lang="en-US" altLang="en-US" sz="2000" b="1" dirty="0">
                <a:solidFill>
                  <a:srgbClr val="C00000">
                    <a:alpha val="0"/>
                  </a:srgbClr>
                </a:solidFill>
                <a:latin typeface="Calibri"/>
                <a:ea typeface="맑은 고딕"/>
                <a:cs typeface="Calibri"/>
              </a:rPr>
              <a:t> / </a:t>
            </a:r>
            <a:r>
              <a:rPr lang="en-US" altLang="en-US" sz="2000" b="1" dirty="0">
                <a:solidFill>
                  <a:srgbClr val="C00000">
                    <a:alpha val="0"/>
                  </a:srgbClr>
                </a:solidFill>
                <a:latin typeface="Calibri"/>
                <a:ea typeface="맑은 고딕"/>
                <a:cs typeface="Calibri"/>
              </a:rPr>
              <a:t>are</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usually a Chinese character with some animals or objects.</a:t>
            </a:r>
            <a:endParaRPr lang="ko-KR" sz="2000"/>
          </a:p>
        </p:txBody>
      </p:sp>
      <p:sp>
        <p:nvSpPr>
          <p:cNvPr id="11" name="rv_point_1"/>
          <p:cNvSpPr txBox="1"/>
          <p:nvPr/>
        </p:nvSpPr>
        <p:spPr>
          <a:xfrm>
            <a:off x="457200" y="2135632"/>
            <a:ext cx="11274552" cy="331978"/>
          </a:xfrm>
          <a:prstGeom prst="rect">
            <a:avLst/>
          </a:prstGeom>
          <a:noFill/>
        </p:spPr>
        <p:txBody>
          <a:bodyPr wrap="square" lIns="228600" tIns="54864" rIns="228600" bIns="54864" anchor="t" rtlCol="0">
            <a:noAutofit/>
          </a:bodyPr>
          <a:lstStyle/>
          <a:p>
            <a:pPr algn="l">
              <a:lnSpc>
                <a:spcPts val="1750"/>
              </a:lnSpc>
              <a:spcBef>
                <a:spcPts val="0"/>
              </a:spcBef>
              <a:spcAft>
                <a:spcPts val="0"/>
              </a:spcAft>
              <a:buNone/>
            </a:pPr>
            <a:r>
              <a:rPr lang="ko-KR" altLang="en-US" sz="1400" b="1" dirty="0">
                <a:solidFill>
                  <a:srgbClr val="C00000"/>
                </a:solidFill>
                <a:latin typeface="맑은 고딕"/>
                <a:ea typeface="맑은 고딕"/>
                <a:cs typeface="맑은 고딕"/>
              </a:rPr>
              <a:t>포인트  </a:t>
            </a:r>
            <a:r>
              <a:rPr lang="ko-KR" altLang="en-US" sz="1400" b="0" dirty="0">
                <a:solidFill>
                  <a:srgbClr val="2F5597"/>
                </a:solidFill>
                <a:latin typeface="맑은 고딕"/>
                <a:ea typeface="맑은 고딕"/>
                <a:cs typeface="맑은 고딕"/>
              </a:rPr>
              <a:t>동사의 수 일치 (there is + 단수 a Chinese character)</a:t>
            </a:r>
            <a:endParaRPr lang="ko-KR" sz="1400"/>
          </a:p>
        </p:txBody>
      </p:sp>
      <p:sp>
        <p:nvSpPr>
          <p:cNvPr id="12" name="item_card_2"/>
          <p:cNvSpPr/>
          <p:nvPr/>
        </p:nvSpPr>
        <p:spPr>
          <a:xfrm>
            <a:off x="457200" y="2577338"/>
            <a:ext cx="11274552" cy="1161034"/>
          </a:xfrm>
          <a:prstGeom prst="roundRect">
            <a:avLst>
              <a:gd name="adj" fmla="val 6000"/>
            </a:avLst>
          </a:prstGeom>
          <a:solidFill>
            <a:srgbClr val="F3F5F9"/>
          </a:solidFill>
          <a:ln w="12700">
            <a:solidFill>
              <a:srgbClr val="D9DFEA"/>
            </a:solidFill>
          </a:ln>
        </p:spPr>
        <p:txBody>
          <a:bodyPr rtlCol="0" anchor="ctr"/>
          <a:lstStyle/>
          <a:p>
            <a:pPr algn="ctr"/>
          </a:p>
        </p:txBody>
      </p:sp>
      <p:sp>
        <p:nvSpPr>
          <p:cNvPr id="13" name="kor_2"/>
          <p:cNvSpPr txBox="1"/>
          <p:nvPr/>
        </p:nvSpPr>
        <p:spPr>
          <a:xfrm>
            <a:off x="457200" y="2687066"/>
            <a:ext cx="11274552" cy="363728"/>
          </a:xfrm>
          <a:prstGeom prst="rect">
            <a:avLst/>
          </a:prstGeom>
          <a:noFill/>
        </p:spPr>
        <p:txBody>
          <a:bodyPr wrap="square" lIns="228600" tIns="54864" rIns="228600" bIns="54864" anchor="t" rtlCol="0">
            <a:noAutofit/>
          </a:bodyPr>
          <a:lstStyle/>
          <a:p>
            <a:pPr algn="l">
              <a:lnSpc>
                <a:spcPts val="2000"/>
              </a:lnSpc>
              <a:spcBef>
                <a:spcPts val="0"/>
              </a:spcBef>
              <a:spcAft>
                <a:spcPts val="0"/>
              </a:spcAft>
              <a:buNone/>
            </a:pPr>
            <a:r>
              <a:rPr lang="en-US" altLang="en-US" sz="1600" b="1" dirty="0">
                <a:solidFill>
                  <a:srgbClr val="1E2A5A"/>
                </a:solidFill>
                <a:latin typeface="Calibri"/>
                <a:ea typeface="맑은 고딕"/>
                <a:cs typeface="Calibri"/>
              </a:rPr>
              <a:t>5.  </a:t>
            </a:r>
            <a:r>
              <a:rPr lang="ko-KR" altLang="en-US" sz="1600" b="0" dirty="0">
                <a:solidFill>
                  <a:srgbClr val="3C4558"/>
                </a:solidFill>
                <a:latin typeface="맑은 고딕"/>
                <a:ea typeface="맑은 고딕"/>
                <a:cs typeface="맑은 고딕"/>
              </a:rPr>
              <a:t>문자도에는 여덟 개의 한자 중 하나가 등장한다.</a:t>
            </a:r>
            <a:endParaRPr lang="ko-KR" sz="1600"/>
          </a:p>
        </p:txBody>
      </p:sp>
      <p:sp>
        <p:nvSpPr>
          <p:cNvPr id="14" name="eng_2"/>
          <p:cNvSpPr txBox="1"/>
          <p:nvPr/>
        </p:nvSpPr>
        <p:spPr>
          <a:xfrm>
            <a:off x="457200" y="2995930"/>
            <a:ext cx="11274552" cy="4653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solidFill>
                <a:latin typeface="Calibri"/>
                <a:ea typeface="맑은 고딕"/>
                <a:cs typeface="Calibri"/>
              </a:rPr>
              <a:t>One of eight Chinese characters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appear</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appears</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in Munjado.</a:t>
            </a:r>
            <a:endParaRPr lang="ko-KR" sz="2000"/>
          </a:p>
        </p:txBody>
      </p:sp>
      <p:sp>
        <p:nvSpPr>
          <p:cNvPr id="15" name="rv_eng_2"/>
          <p:cNvSpPr txBox="1"/>
          <p:nvPr/>
        </p:nvSpPr>
        <p:spPr>
          <a:xfrm>
            <a:off x="457200" y="2995930"/>
            <a:ext cx="11274552" cy="4653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alpha val="0"/>
                  </a:srgbClr>
                </a:solidFill>
                <a:latin typeface="Calibri"/>
                <a:ea typeface="맑은 고딕"/>
                <a:cs typeface="Calibri"/>
              </a:rPr>
              <a:t>One of eight Chinese characters </a:t>
            </a:r>
            <a:r>
              <a:rPr lang="en-US" altLang="en-US" sz="2000" b="1" dirty="0">
                <a:solidFill>
                  <a:srgbClr val="C00000">
                    <a:alpha val="0"/>
                  </a:srgbClr>
                </a:solidFill>
                <a:latin typeface="Calibri"/>
                <a:ea typeface="맑은 고딕"/>
                <a:cs typeface="Calibri"/>
              </a:rPr>
              <a:t>[ </a:t>
            </a:r>
            <a:r>
              <a:rPr lang="en-US" altLang="en-US" sz="2000" b="1" dirty="0">
                <a:solidFill>
                  <a:srgbClr val="C00000">
                    <a:alpha val="0"/>
                  </a:srgbClr>
                </a:solidFill>
                <a:latin typeface="Calibri"/>
                <a:ea typeface="맑은 고딕"/>
                <a:cs typeface="Calibri"/>
              </a:rPr>
              <a:t>appear</a:t>
            </a:r>
            <a:r>
              <a:rPr lang="en-US" altLang="en-US" sz="2000" b="1" dirty="0">
                <a:solidFill>
                  <a:srgbClr val="C00000">
                    <a:alpha val="0"/>
                  </a:srgbClr>
                </a:solidFill>
                <a:latin typeface="Calibri"/>
                <a:ea typeface="맑은 고딕"/>
                <a:cs typeface="Calibri"/>
              </a:rPr>
              <a:t> / </a:t>
            </a:r>
            <a:r>
              <a:rPr lang="en-US" altLang="en-US" sz="2000" b="1" dirty="0">
                <a:solidFill>
                  <a:srgbClr val="C00000"/>
                </a:solidFill>
                <a:latin typeface="Calibri"/>
                <a:ea typeface="맑은 고딕"/>
                <a:cs typeface="Calibri"/>
              </a:rPr>
              <a:t>appears</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in Munjado.</a:t>
            </a:r>
            <a:endParaRPr lang="ko-KR" sz="2000"/>
          </a:p>
        </p:txBody>
      </p:sp>
      <p:sp>
        <p:nvSpPr>
          <p:cNvPr id="16" name="rv_point_2"/>
          <p:cNvSpPr txBox="1"/>
          <p:nvPr/>
        </p:nvSpPr>
        <p:spPr>
          <a:xfrm>
            <a:off x="457200" y="3406394"/>
            <a:ext cx="11274552" cy="331978"/>
          </a:xfrm>
          <a:prstGeom prst="rect">
            <a:avLst/>
          </a:prstGeom>
          <a:noFill/>
        </p:spPr>
        <p:txBody>
          <a:bodyPr wrap="square" lIns="228600" tIns="54864" rIns="228600" bIns="54864" anchor="t" rtlCol="0">
            <a:noAutofit/>
          </a:bodyPr>
          <a:lstStyle/>
          <a:p>
            <a:pPr algn="l">
              <a:lnSpc>
                <a:spcPts val="1750"/>
              </a:lnSpc>
              <a:spcBef>
                <a:spcPts val="0"/>
              </a:spcBef>
              <a:spcAft>
                <a:spcPts val="0"/>
              </a:spcAft>
              <a:buNone/>
            </a:pPr>
            <a:r>
              <a:rPr lang="ko-KR" altLang="en-US" sz="1400" b="1" dirty="0">
                <a:solidFill>
                  <a:srgbClr val="C00000"/>
                </a:solidFill>
                <a:latin typeface="맑은 고딕"/>
                <a:ea typeface="맑은 고딕"/>
                <a:cs typeface="맑은 고딕"/>
              </a:rPr>
              <a:t>포인트  </a:t>
            </a:r>
            <a:r>
              <a:rPr lang="ko-KR" altLang="en-US" sz="1400" b="0" dirty="0">
                <a:solidFill>
                  <a:srgbClr val="2F5597"/>
                </a:solidFill>
                <a:latin typeface="맑은 고딕"/>
                <a:ea typeface="맑은 고딕"/>
                <a:cs typeface="맑은 고딕"/>
              </a:rPr>
              <a:t>동사의 수 일치 (One of + 복수명사 → 단수 취급)</a:t>
            </a:r>
            <a:endParaRPr lang="ko-KR" sz="1400"/>
          </a:p>
        </p:txBody>
      </p:sp>
      <p:sp>
        <p:nvSpPr>
          <p:cNvPr id="17" name="item_card_3"/>
          <p:cNvSpPr/>
          <p:nvPr/>
        </p:nvSpPr>
        <p:spPr>
          <a:xfrm>
            <a:off x="457200" y="3848100"/>
            <a:ext cx="11274552" cy="1872234"/>
          </a:xfrm>
          <a:prstGeom prst="roundRect">
            <a:avLst>
              <a:gd name="adj" fmla="val 6000"/>
            </a:avLst>
          </a:prstGeom>
          <a:solidFill>
            <a:srgbClr val="F3F5F9"/>
          </a:solidFill>
          <a:ln w="12700">
            <a:solidFill>
              <a:srgbClr val="D9DFEA"/>
            </a:solidFill>
          </a:ln>
        </p:spPr>
        <p:txBody>
          <a:bodyPr rtlCol="0" anchor="ctr"/>
          <a:lstStyle/>
          <a:p>
            <a:pPr algn="ctr"/>
          </a:p>
        </p:txBody>
      </p:sp>
      <p:sp>
        <p:nvSpPr>
          <p:cNvPr id="18" name="kor_3"/>
          <p:cNvSpPr txBox="1"/>
          <p:nvPr/>
        </p:nvSpPr>
        <p:spPr>
          <a:xfrm>
            <a:off x="457200" y="3957828"/>
            <a:ext cx="11274552" cy="363728"/>
          </a:xfrm>
          <a:prstGeom prst="rect">
            <a:avLst/>
          </a:prstGeom>
          <a:noFill/>
        </p:spPr>
        <p:txBody>
          <a:bodyPr wrap="square" lIns="228600" tIns="54864" rIns="228600" bIns="54864" anchor="t" rtlCol="0">
            <a:noAutofit/>
          </a:bodyPr>
          <a:lstStyle/>
          <a:p>
            <a:pPr algn="l">
              <a:lnSpc>
                <a:spcPts val="2000"/>
              </a:lnSpc>
              <a:spcBef>
                <a:spcPts val="0"/>
              </a:spcBef>
              <a:spcAft>
                <a:spcPts val="0"/>
              </a:spcAft>
              <a:buNone/>
            </a:pPr>
            <a:r>
              <a:rPr lang="en-US" altLang="en-US" sz="1600" b="1" dirty="0">
                <a:solidFill>
                  <a:srgbClr val="1E2A5A"/>
                </a:solidFill>
                <a:latin typeface="Calibri"/>
                <a:ea typeface="맑은 고딕"/>
                <a:cs typeface="Calibri"/>
              </a:rPr>
              <a:t>6.  </a:t>
            </a:r>
            <a:r>
              <a:rPr lang="ko-KR" altLang="en-US" sz="1600" b="0" dirty="0">
                <a:solidFill>
                  <a:srgbClr val="3C4558"/>
                </a:solidFill>
                <a:latin typeface="맑은 고딕"/>
                <a:ea typeface="맑은 고딕"/>
                <a:cs typeface="맑은 고딕"/>
              </a:rPr>
              <a:t>그 글자들은 효, 제, 충, 신, 예, 의, 염, 치로, 조선 시대 사람들이 소중히 여긴 가치를 나타낸다.</a:t>
            </a:r>
            <a:endParaRPr lang="ko-KR" sz="1600"/>
          </a:p>
        </p:txBody>
      </p:sp>
      <p:sp>
        <p:nvSpPr>
          <p:cNvPr id="19" name="eng_3"/>
          <p:cNvSpPr txBox="1"/>
          <p:nvPr/>
        </p:nvSpPr>
        <p:spPr>
          <a:xfrm>
            <a:off x="457200" y="4266692"/>
            <a:ext cx="11274552" cy="11765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solidFill>
                <a:latin typeface="Calibri"/>
                <a:ea typeface="맑은 고딕"/>
                <a:cs typeface="Calibri"/>
              </a:rPr>
              <a:t>They are hyo (孝), je (悌), chung (忠), sin (信), ye (禮), ui (義), yeom (廉), and chi (恥), and they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represent</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represents</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the values that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was</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were</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important to people of the Joseon dynasty.</a:t>
            </a:r>
            <a:endParaRPr lang="ko-KR" sz="2000"/>
          </a:p>
        </p:txBody>
      </p:sp>
      <p:sp>
        <p:nvSpPr>
          <p:cNvPr id="20" name="rv_eng_3"/>
          <p:cNvSpPr txBox="1"/>
          <p:nvPr/>
        </p:nvSpPr>
        <p:spPr>
          <a:xfrm>
            <a:off x="457200" y="4266692"/>
            <a:ext cx="11274552" cy="11765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alpha val="0"/>
                  </a:srgbClr>
                </a:solidFill>
                <a:latin typeface="Calibri"/>
                <a:ea typeface="맑은 고딕"/>
                <a:cs typeface="Calibri"/>
              </a:rPr>
              <a:t>They are hyo (孝), je (悌), chung (忠), sin (信), ye (禮), ui (義), yeom (廉), and chi (恥), and they </a:t>
            </a:r>
            <a:r>
              <a:rPr lang="en-US" altLang="en-US" sz="2000" b="1" dirty="0">
                <a:solidFill>
                  <a:srgbClr val="C00000">
                    <a:alpha val="0"/>
                  </a:srgbClr>
                </a:solidFill>
                <a:latin typeface="Calibri"/>
                <a:ea typeface="맑은 고딕"/>
                <a:cs typeface="Calibri"/>
              </a:rPr>
              <a:t>[ </a:t>
            </a:r>
            <a:r>
              <a:rPr lang="en-US" altLang="en-US" sz="2000" b="1" dirty="0">
                <a:solidFill>
                  <a:srgbClr val="C00000"/>
                </a:solidFill>
                <a:latin typeface="Calibri"/>
                <a:ea typeface="맑은 고딕"/>
                <a:cs typeface="Calibri"/>
              </a:rPr>
              <a:t>represent</a:t>
            </a:r>
            <a:r>
              <a:rPr lang="en-US" altLang="en-US" sz="2000" b="1" dirty="0">
                <a:solidFill>
                  <a:srgbClr val="C00000">
                    <a:alpha val="0"/>
                  </a:srgbClr>
                </a:solidFill>
                <a:latin typeface="Calibri"/>
                <a:ea typeface="맑은 고딕"/>
                <a:cs typeface="Calibri"/>
              </a:rPr>
              <a:t> / </a:t>
            </a:r>
            <a:r>
              <a:rPr lang="en-US" altLang="en-US" sz="2000" b="1" dirty="0">
                <a:solidFill>
                  <a:srgbClr val="C00000">
                    <a:alpha val="0"/>
                  </a:srgbClr>
                </a:solidFill>
                <a:latin typeface="Calibri"/>
                <a:ea typeface="맑은 고딕"/>
                <a:cs typeface="Calibri"/>
              </a:rPr>
              <a:t>represents</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the values that </a:t>
            </a:r>
            <a:r>
              <a:rPr lang="en-US" altLang="en-US" sz="2000" b="1" dirty="0">
                <a:solidFill>
                  <a:srgbClr val="C00000">
                    <a:alpha val="0"/>
                  </a:srgbClr>
                </a:solidFill>
                <a:latin typeface="Calibri"/>
                <a:ea typeface="맑은 고딕"/>
                <a:cs typeface="Calibri"/>
              </a:rPr>
              <a:t>[ </a:t>
            </a:r>
            <a:r>
              <a:rPr lang="en-US" altLang="en-US" sz="2000" b="1" dirty="0">
                <a:solidFill>
                  <a:srgbClr val="C00000">
                    <a:alpha val="0"/>
                  </a:srgbClr>
                </a:solidFill>
                <a:latin typeface="Calibri"/>
                <a:ea typeface="맑은 고딕"/>
                <a:cs typeface="Calibri"/>
              </a:rPr>
              <a:t>was</a:t>
            </a:r>
            <a:r>
              <a:rPr lang="en-US" altLang="en-US" sz="2000" b="1" dirty="0">
                <a:solidFill>
                  <a:srgbClr val="C00000">
                    <a:alpha val="0"/>
                  </a:srgbClr>
                </a:solidFill>
                <a:latin typeface="Calibri"/>
                <a:ea typeface="맑은 고딕"/>
                <a:cs typeface="Calibri"/>
              </a:rPr>
              <a:t> / </a:t>
            </a:r>
            <a:r>
              <a:rPr lang="en-US" altLang="en-US" sz="2000" b="1" dirty="0">
                <a:solidFill>
                  <a:srgbClr val="C00000"/>
                </a:solidFill>
                <a:latin typeface="Calibri"/>
                <a:ea typeface="맑은 고딕"/>
                <a:cs typeface="Calibri"/>
              </a:rPr>
              <a:t>were</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important to people of the Joseon dynasty.</a:t>
            </a:r>
            <a:endParaRPr lang="ko-KR" sz="2000"/>
          </a:p>
        </p:txBody>
      </p:sp>
      <p:sp>
        <p:nvSpPr>
          <p:cNvPr id="21" name="rv_point_3"/>
          <p:cNvSpPr txBox="1"/>
          <p:nvPr/>
        </p:nvSpPr>
        <p:spPr>
          <a:xfrm>
            <a:off x="457200" y="5388356"/>
            <a:ext cx="11274552" cy="331978"/>
          </a:xfrm>
          <a:prstGeom prst="rect">
            <a:avLst/>
          </a:prstGeom>
          <a:noFill/>
        </p:spPr>
        <p:txBody>
          <a:bodyPr wrap="square" lIns="228600" tIns="54864" rIns="228600" bIns="54864" anchor="t" rtlCol="0">
            <a:noAutofit/>
          </a:bodyPr>
          <a:lstStyle/>
          <a:p>
            <a:pPr algn="l">
              <a:lnSpc>
                <a:spcPts val="1750"/>
              </a:lnSpc>
              <a:spcBef>
                <a:spcPts val="0"/>
              </a:spcBef>
              <a:spcAft>
                <a:spcPts val="0"/>
              </a:spcAft>
              <a:buNone/>
            </a:pPr>
            <a:r>
              <a:rPr lang="ko-KR" altLang="en-US" sz="1400" b="1" dirty="0">
                <a:solidFill>
                  <a:srgbClr val="C00000"/>
                </a:solidFill>
                <a:latin typeface="맑은 고딕"/>
                <a:ea typeface="맑은 고딕"/>
                <a:cs typeface="맑은 고딕"/>
              </a:rPr>
              <a:t>포인트  </a:t>
            </a:r>
            <a:r>
              <a:rPr lang="ko-KR" altLang="en-US" sz="1400" b="0" dirty="0">
                <a:solidFill>
                  <a:srgbClr val="2F5597"/>
                </a:solidFill>
                <a:latin typeface="맑은 고딕"/>
                <a:ea typeface="맑은 고딕"/>
                <a:cs typeface="맑은 고딕"/>
              </a:rPr>
              <a:t>동사의 수 일치 (주어 they 복수) · 동사의 수 일치 (선행사 the values 복수)</a:t>
            </a:r>
            <a:endParaRPr lang="ko-KR" sz="1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25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250"/>
                                        <p:tgtEl>
                                          <p:spTgt spid="1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250"/>
                                        <p:tgtEl>
                                          <p:spTgt spid="1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fade">
                                      <p:cBhvr>
                                        <p:cTn id="16" dur="250"/>
                                        <p:tgtEl>
                                          <p:spTgt spid="1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250"/>
                                        <p:tgtEl>
                                          <p:spTgt spid="2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fade">
                                      <p:cBhvr>
                                        <p:cTn id="22" dur="25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5" grpId="0" animBg="1"/>
      <p:bldP spid="16" grpId="0" animBg="1"/>
      <p:bldP spid="20" grpId="0" animBg="1"/>
      <p:bldP spid="21" grpId="0" animBg="1"/>
    </p:bldLst>
  </p:timing>
</p:sld>
</file>

<file path=ppt/slides/slide29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8000"/>
            </a:avLst>
          </a:prstGeom>
          <a:solidFill>
            <a:srgbClr val="1E2A5A"/>
          </a:solidFill>
          <a:ln>
            <a:noFill/>
          </a:ln>
        </p:spPr>
        <p:txBody>
          <a:bodyPr wrap="square" lIns="45720" tIns="18288" rIns="45720" bIns="18288" anchor="ctr" rtlCol="0">
            <a:noAutofit/>
          </a:bodyPr>
          <a:lstStyle/>
          <a:p>
            <a:pPr algn="ctr">
              <a:lnSpc>
                <a:spcPts val="2000"/>
              </a:lnSpc>
              <a:spcBef>
                <a:spcPts val="0"/>
              </a:spcBef>
              <a:spcAft>
                <a:spcPts val="0"/>
              </a:spcAft>
              <a:buNone/>
            </a:pPr>
            <a:r>
              <a:rPr lang="en-US" altLang="en-US" sz="1700" b="1" dirty="0">
                <a:solidFill>
                  <a:srgbClr val="FFFFFF"/>
                </a:solidFill>
                <a:latin typeface="Calibri"/>
                <a:ea typeface="맑은 고딕"/>
                <a:cs typeface="Calibri"/>
              </a:rPr>
              <a:t>L8</a:t>
            </a:r>
            <a:endParaRPr lang="ko-KR" sz="1700"/>
          </a:p>
        </p:txBody>
      </p:sp>
      <p:sp>
        <p:nvSpPr>
          <p:cNvPr id="3" name="hdr_chip"/>
          <p:cNvSpPr/>
          <p:nvPr/>
        </p:nvSpPr>
        <p:spPr>
          <a:xfrm>
            <a:off x="1755648" y="274320"/>
            <a:ext cx="1371600" cy="493776"/>
          </a:xfrm>
          <a:prstGeom prst="roundRect">
            <a:avLst>
              <a:gd name="adj" fmla="val 8000"/>
            </a:avLst>
          </a:prstGeom>
          <a:solidFill>
            <a:srgbClr val="E6EAF4"/>
          </a:solidFill>
          <a:ln>
            <a:noFill/>
          </a:ln>
        </p:spPr>
        <p:txBody>
          <a:bodyPr wrap="square" lIns="27432" tIns="18288" rIns="27432" bIns="18288" anchor="ctr" rtlCol="0">
            <a:noAutofit/>
          </a:bodyPr>
          <a:lstStyle/>
          <a:p>
            <a:pPr algn="ctr">
              <a:lnSpc>
                <a:spcPts val="1700"/>
              </a:lnSpc>
              <a:spcBef>
                <a:spcPts val="0"/>
              </a:spcBef>
              <a:spcAft>
                <a:spcPts val="0"/>
              </a:spcAft>
              <a:buNone/>
            </a:pPr>
            <a:r>
              <a:rPr lang="ko-KR" altLang="en-US" sz="1400" b="1" dirty="0">
                <a:solidFill>
                  <a:srgbClr val="1E2A5A"/>
                </a:solidFill>
                <a:latin typeface="맑은 고딕"/>
                <a:ea typeface="맑은 고딕"/>
                <a:cs typeface="맑은 고딕"/>
              </a:rPr>
              <a:t>PART 5 · 3</a:t>
            </a:r>
            <a:endParaRPr lang="ko-KR" sz="1400"/>
          </a:p>
        </p:txBody>
      </p:sp>
      <p:sp>
        <p:nvSpPr>
          <p:cNvPr id="4" name="hdr_q"/>
          <p:cNvSpPr txBox="1"/>
          <p:nvPr/>
        </p:nvSpPr>
        <p:spPr>
          <a:xfrm>
            <a:off x="3246120" y="246888"/>
            <a:ext cx="8485632" cy="548640"/>
          </a:xfrm>
          <a:prstGeom prst="rect">
            <a:avLst/>
          </a:prstGeom>
          <a:noFill/>
        </p:spPr>
        <p:txBody>
          <a:bodyPr wrap="square" lIns="109728" tIns="54864" rIns="109728" bIns="54864" anchor="ctr" rtlCol="0">
            <a:noAutofit/>
          </a:bodyPr>
          <a:lstStyle/>
          <a:p>
            <a:pPr algn="l">
              <a:lnSpc>
                <a:spcPts val="2400"/>
              </a:lnSpc>
              <a:spcBef>
                <a:spcPts val="0"/>
              </a:spcBef>
              <a:spcAft>
                <a:spcPts val="0"/>
              </a:spcAft>
              <a:buNone/>
            </a:pPr>
            <a:r>
              <a:rPr lang="ko-KR" altLang="en-US" sz="2000" b="1" dirty="0">
                <a:solidFill>
                  <a:srgbClr val="1F2328"/>
                </a:solidFill>
                <a:latin typeface="맑은 고딕"/>
                <a:ea typeface="맑은 고딕"/>
                <a:cs typeface="맑은 고딕"/>
              </a:rPr>
              <a:t>[  ] 안에서 어법상 알맞은 것을 고르시오.</a:t>
            </a:r>
            <a:endParaRPr lang="ko-KR" sz="2000"/>
          </a:p>
        </p:txBody>
      </p:sp>
      <p:sp>
        <p:nvSpPr>
          <p:cNvPr id="5" name="ftr_exam"/>
          <p:cNvSpPr txBox="1"/>
          <p:nvPr/>
        </p:nvSpPr>
        <p:spPr>
          <a:xfrm>
            <a:off x="457200" y="6519672"/>
            <a:ext cx="5669280" cy="256032"/>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8</a:t>
            </a:r>
            <a:endParaRPr lang="ko-KR" sz="1000"/>
          </a:p>
        </p:txBody>
      </p:sp>
      <p:sp>
        <p:nvSpPr>
          <p:cNvPr id="6" name="ftr_hint"/>
          <p:cNvSpPr txBox="1"/>
          <p:nvPr/>
        </p:nvSpPr>
        <p:spPr>
          <a:xfrm>
            <a:off x="5971032" y="6519672"/>
            <a:ext cx="5760720" cy="256032"/>
          </a:xfrm>
          <a:prstGeom prst="rect">
            <a:avLst/>
          </a:prstGeom>
          <a:noFill/>
        </p:spPr>
        <p:txBody>
          <a:bodyPr wrap="square" lIns="0" tIns="0" rIns="0" bIns="0" anchor="t" rtlCol="0">
            <a:noAutofit/>
          </a:bodyPr>
          <a:lstStyle/>
          <a:p>
            <a:pPr algn="r">
              <a:lnSpc>
                <a:spcPts val="1200"/>
              </a:lnSpc>
              <a:spcBef>
                <a:spcPts val="0"/>
              </a:spcBef>
              <a:spcAft>
                <a:spcPts val="0"/>
              </a:spcAft>
              <a:buNone/>
            </a:pPr>
            <a:r>
              <a:rPr lang="ko-KR" altLang="en-US" sz="1000" b="0" dirty="0">
                <a:solidFill>
                  <a:srgbClr val="7A808C"/>
                </a:solidFill>
                <a:latin typeface="맑은 고딕"/>
                <a:ea typeface="맑은 고딕"/>
                <a:cs typeface="맑은 고딕"/>
              </a:rPr>
              <a:t>클릭 ① 정답(빨간색) + 문법 포인트 공개</a:t>
            </a:r>
            <a:endParaRPr lang="ko-KR" sz="1000"/>
          </a:p>
        </p:txBody>
      </p:sp>
      <p:sp>
        <p:nvSpPr>
          <p:cNvPr id="7" name="item_card_1"/>
          <p:cNvSpPr/>
          <p:nvPr/>
        </p:nvSpPr>
        <p:spPr>
          <a:xfrm>
            <a:off x="457200" y="950976"/>
            <a:ext cx="11274552" cy="1516634"/>
          </a:xfrm>
          <a:prstGeom prst="roundRect">
            <a:avLst>
              <a:gd name="adj" fmla="val 6000"/>
            </a:avLst>
          </a:prstGeom>
          <a:solidFill>
            <a:srgbClr val="F3F5F9"/>
          </a:solidFill>
          <a:ln w="12700">
            <a:solidFill>
              <a:srgbClr val="D9DFEA"/>
            </a:solidFill>
          </a:ln>
        </p:spPr>
        <p:txBody>
          <a:bodyPr rtlCol="0" anchor="ctr"/>
          <a:lstStyle/>
          <a:p>
            <a:pPr algn="ctr"/>
          </a:p>
        </p:txBody>
      </p:sp>
      <p:sp>
        <p:nvSpPr>
          <p:cNvPr id="8" name="kor_1"/>
          <p:cNvSpPr txBox="1"/>
          <p:nvPr/>
        </p:nvSpPr>
        <p:spPr>
          <a:xfrm>
            <a:off x="457200" y="1060704"/>
            <a:ext cx="11274552" cy="363728"/>
          </a:xfrm>
          <a:prstGeom prst="rect">
            <a:avLst/>
          </a:prstGeom>
          <a:noFill/>
        </p:spPr>
        <p:txBody>
          <a:bodyPr wrap="square" lIns="228600" tIns="54864" rIns="228600" bIns="54864" anchor="t" rtlCol="0">
            <a:noAutofit/>
          </a:bodyPr>
          <a:lstStyle/>
          <a:p>
            <a:pPr algn="l">
              <a:lnSpc>
                <a:spcPts val="2000"/>
              </a:lnSpc>
              <a:spcBef>
                <a:spcPts val="0"/>
              </a:spcBef>
              <a:spcAft>
                <a:spcPts val="0"/>
              </a:spcAft>
              <a:buNone/>
            </a:pPr>
            <a:r>
              <a:rPr lang="en-US" altLang="en-US" sz="1600" b="1" dirty="0">
                <a:solidFill>
                  <a:srgbClr val="1E2A5A"/>
                </a:solidFill>
                <a:latin typeface="Calibri"/>
                <a:ea typeface="맑은 고딕"/>
                <a:cs typeface="Calibri"/>
              </a:rPr>
              <a:t>7.  </a:t>
            </a:r>
            <a:r>
              <a:rPr lang="ko-KR" altLang="en-US" sz="1600" b="0" dirty="0">
                <a:solidFill>
                  <a:srgbClr val="3C4558"/>
                </a:solidFill>
                <a:latin typeface="맑은 고딕"/>
                <a:ea typeface="맑은 고딕"/>
                <a:cs typeface="맑은 고딕"/>
              </a:rPr>
              <a:t>문자도 속 동물이나 사물은 단순한 장식이 아니다. 그것들은 상징적인 의미를 지닌 경우가 많다.</a:t>
            </a:r>
            <a:endParaRPr lang="ko-KR" sz="1600"/>
          </a:p>
        </p:txBody>
      </p:sp>
      <p:sp>
        <p:nvSpPr>
          <p:cNvPr id="9" name="eng_1"/>
          <p:cNvSpPr txBox="1"/>
          <p:nvPr/>
        </p:nvSpPr>
        <p:spPr>
          <a:xfrm>
            <a:off x="457200" y="1369568"/>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solidFill>
                <a:latin typeface="Calibri"/>
                <a:ea typeface="맑은 고딕"/>
                <a:cs typeface="Calibri"/>
              </a:rPr>
              <a:t>The animals or objects in Munjado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is</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are</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not just decorations. They often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are</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is</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symbolic.</a:t>
            </a:r>
            <a:endParaRPr lang="ko-KR" sz="2000"/>
          </a:p>
        </p:txBody>
      </p:sp>
      <p:sp>
        <p:nvSpPr>
          <p:cNvPr id="10" name="rv_eng_1"/>
          <p:cNvSpPr txBox="1"/>
          <p:nvPr/>
        </p:nvSpPr>
        <p:spPr>
          <a:xfrm>
            <a:off x="457200" y="1369568"/>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alpha val="0"/>
                  </a:srgbClr>
                </a:solidFill>
                <a:latin typeface="Calibri"/>
                <a:ea typeface="맑은 고딕"/>
                <a:cs typeface="Calibri"/>
              </a:rPr>
              <a:t>The animals or objects in Munjado </a:t>
            </a:r>
            <a:r>
              <a:rPr lang="en-US" altLang="en-US" sz="2000" b="1" dirty="0">
                <a:solidFill>
                  <a:srgbClr val="C00000">
                    <a:alpha val="0"/>
                  </a:srgbClr>
                </a:solidFill>
                <a:latin typeface="Calibri"/>
                <a:ea typeface="맑은 고딕"/>
                <a:cs typeface="Calibri"/>
              </a:rPr>
              <a:t>[ </a:t>
            </a:r>
            <a:r>
              <a:rPr lang="en-US" altLang="en-US" sz="2000" b="1" dirty="0">
                <a:solidFill>
                  <a:srgbClr val="C00000">
                    <a:alpha val="0"/>
                  </a:srgbClr>
                </a:solidFill>
                <a:latin typeface="Calibri"/>
                <a:ea typeface="맑은 고딕"/>
                <a:cs typeface="Calibri"/>
              </a:rPr>
              <a:t>is</a:t>
            </a:r>
            <a:r>
              <a:rPr lang="en-US" altLang="en-US" sz="2000" b="1" dirty="0">
                <a:solidFill>
                  <a:srgbClr val="C00000">
                    <a:alpha val="0"/>
                  </a:srgbClr>
                </a:solidFill>
                <a:latin typeface="Calibri"/>
                <a:ea typeface="맑은 고딕"/>
                <a:cs typeface="Calibri"/>
              </a:rPr>
              <a:t> / </a:t>
            </a:r>
            <a:r>
              <a:rPr lang="en-US" altLang="en-US" sz="2000" b="1" dirty="0">
                <a:solidFill>
                  <a:srgbClr val="C00000"/>
                </a:solidFill>
                <a:latin typeface="Calibri"/>
                <a:ea typeface="맑은 고딕"/>
                <a:cs typeface="Calibri"/>
              </a:rPr>
              <a:t>are</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not just decorations. They often </a:t>
            </a:r>
            <a:r>
              <a:rPr lang="en-US" altLang="en-US" sz="2000" b="1" dirty="0">
                <a:solidFill>
                  <a:srgbClr val="C00000">
                    <a:alpha val="0"/>
                  </a:srgbClr>
                </a:solidFill>
                <a:latin typeface="Calibri"/>
                <a:ea typeface="맑은 고딕"/>
                <a:cs typeface="Calibri"/>
              </a:rPr>
              <a:t>[ </a:t>
            </a:r>
            <a:r>
              <a:rPr lang="en-US" altLang="en-US" sz="2000" b="1" dirty="0">
                <a:solidFill>
                  <a:srgbClr val="C00000"/>
                </a:solidFill>
                <a:latin typeface="Calibri"/>
                <a:ea typeface="맑은 고딕"/>
                <a:cs typeface="Calibri"/>
              </a:rPr>
              <a:t>are</a:t>
            </a:r>
            <a:r>
              <a:rPr lang="en-US" altLang="en-US" sz="2000" b="1" dirty="0">
                <a:solidFill>
                  <a:srgbClr val="C00000">
                    <a:alpha val="0"/>
                  </a:srgbClr>
                </a:solidFill>
                <a:latin typeface="Calibri"/>
                <a:ea typeface="맑은 고딕"/>
                <a:cs typeface="Calibri"/>
              </a:rPr>
              <a:t> / </a:t>
            </a:r>
            <a:r>
              <a:rPr lang="en-US" altLang="en-US" sz="2000" b="1" dirty="0">
                <a:solidFill>
                  <a:srgbClr val="C00000">
                    <a:alpha val="0"/>
                  </a:srgbClr>
                </a:solidFill>
                <a:latin typeface="Calibri"/>
                <a:ea typeface="맑은 고딕"/>
                <a:cs typeface="Calibri"/>
              </a:rPr>
              <a:t>is</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symbolic.</a:t>
            </a:r>
            <a:endParaRPr lang="ko-KR" sz="2000"/>
          </a:p>
        </p:txBody>
      </p:sp>
      <p:sp>
        <p:nvSpPr>
          <p:cNvPr id="11" name="rv_point_1"/>
          <p:cNvSpPr txBox="1"/>
          <p:nvPr/>
        </p:nvSpPr>
        <p:spPr>
          <a:xfrm>
            <a:off x="457200" y="2135632"/>
            <a:ext cx="11274552" cy="331978"/>
          </a:xfrm>
          <a:prstGeom prst="rect">
            <a:avLst/>
          </a:prstGeom>
          <a:noFill/>
        </p:spPr>
        <p:txBody>
          <a:bodyPr wrap="square" lIns="228600" tIns="54864" rIns="228600" bIns="54864" anchor="t" rtlCol="0">
            <a:noAutofit/>
          </a:bodyPr>
          <a:lstStyle/>
          <a:p>
            <a:pPr algn="l">
              <a:lnSpc>
                <a:spcPts val="1750"/>
              </a:lnSpc>
              <a:spcBef>
                <a:spcPts val="0"/>
              </a:spcBef>
              <a:spcAft>
                <a:spcPts val="0"/>
              </a:spcAft>
              <a:buNone/>
            </a:pPr>
            <a:r>
              <a:rPr lang="ko-KR" altLang="en-US" sz="1400" b="1" dirty="0">
                <a:solidFill>
                  <a:srgbClr val="C00000"/>
                </a:solidFill>
                <a:latin typeface="맑은 고딕"/>
                <a:ea typeface="맑은 고딕"/>
                <a:cs typeface="맑은 고딕"/>
              </a:rPr>
              <a:t>포인트  </a:t>
            </a:r>
            <a:r>
              <a:rPr lang="ko-KR" altLang="en-US" sz="1400" b="0" dirty="0">
                <a:solidFill>
                  <a:srgbClr val="2F5597"/>
                </a:solidFill>
                <a:latin typeface="맑은 고딕"/>
                <a:ea typeface="맑은 고딕"/>
                <a:cs typeface="맑은 고딕"/>
              </a:rPr>
              <a:t>동사의 수 일치 (주어 The animals or objects 복수) · 동사의 수 일치 (주어 They)</a:t>
            </a:r>
            <a:endParaRPr lang="ko-KR" sz="1400"/>
          </a:p>
        </p:txBody>
      </p:sp>
      <p:sp>
        <p:nvSpPr>
          <p:cNvPr id="12" name="item_card_2"/>
          <p:cNvSpPr/>
          <p:nvPr/>
        </p:nvSpPr>
        <p:spPr>
          <a:xfrm>
            <a:off x="457200" y="2577338"/>
            <a:ext cx="11274552" cy="1516634"/>
          </a:xfrm>
          <a:prstGeom prst="roundRect">
            <a:avLst>
              <a:gd name="adj" fmla="val 6000"/>
            </a:avLst>
          </a:prstGeom>
          <a:solidFill>
            <a:srgbClr val="F3F5F9"/>
          </a:solidFill>
          <a:ln w="12700">
            <a:solidFill>
              <a:srgbClr val="D9DFEA"/>
            </a:solidFill>
          </a:ln>
        </p:spPr>
        <p:txBody>
          <a:bodyPr rtlCol="0" anchor="ctr"/>
          <a:lstStyle/>
          <a:p>
            <a:pPr algn="ctr"/>
          </a:p>
        </p:txBody>
      </p:sp>
      <p:sp>
        <p:nvSpPr>
          <p:cNvPr id="13" name="kor_2"/>
          <p:cNvSpPr txBox="1"/>
          <p:nvPr/>
        </p:nvSpPr>
        <p:spPr>
          <a:xfrm>
            <a:off x="457200" y="2687066"/>
            <a:ext cx="11274552" cy="363728"/>
          </a:xfrm>
          <a:prstGeom prst="rect">
            <a:avLst/>
          </a:prstGeom>
          <a:noFill/>
        </p:spPr>
        <p:txBody>
          <a:bodyPr wrap="square" lIns="228600" tIns="54864" rIns="228600" bIns="54864" anchor="t" rtlCol="0">
            <a:noAutofit/>
          </a:bodyPr>
          <a:lstStyle/>
          <a:p>
            <a:pPr algn="l">
              <a:lnSpc>
                <a:spcPts val="2000"/>
              </a:lnSpc>
              <a:spcBef>
                <a:spcPts val="0"/>
              </a:spcBef>
              <a:spcAft>
                <a:spcPts val="0"/>
              </a:spcAft>
              <a:buNone/>
            </a:pPr>
            <a:r>
              <a:rPr lang="en-US" altLang="en-US" sz="1600" b="1" dirty="0">
                <a:solidFill>
                  <a:srgbClr val="1E2A5A"/>
                </a:solidFill>
                <a:latin typeface="Calibri"/>
                <a:ea typeface="맑은 고딕"/>
                <a:cs typeface="Calibri"/>
              </a:rPr>
              <a:t>8.  </a:t>
            </a:r>
            <a:r>
              <a:rPr lang="ko-KR" altLang="en-US" sz="1600" b="0" dirty="0">
                <a:solidFill>
                  <a:srgbClr val="3C4558"/>
                </a:solidFill>
                <a:latin typeface="맑은 고딕"/>
                <a:ea typeface="맑은 고딕"/>
                <a:cs typeface="맑은 고딕"/>
              </a:rPr>
              <a:t>예를 들어 효 그림 속 잉어는 옛이야기에서 비롯되어 부모에 대한 공경을 상징한다.</a:t>
            </a:r>
            <a:endParaRPr lang="ko-KR" sz="1600"/>
          </a:p>
        </p:txBody>
      </p:sp>
      <p:sp>
        <p:nvSpPr>
          <p:cNvPr id="14" name="eng_2"/>
          <p:cNvSpPr txBox="1"/>
          <p:nvPr/>
        </p:nvSpPr>
        <p:spPr>
          <a:xfrm>
            <a:off x="457200" y="2995930"/>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solidFill>
                <a:latin typeface="Calibri"/>
                <a:ea typeface="맑은 고딕"/>
                <a:cs typeface="Calibri"/>
              </a:rPr>
              <a:t>For example, carp in the paintings of hyo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symbolize</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symbolizes</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respect for parents because of an old story.</a:t>
            </a:r>
            <a:endParaRPr lang="ko-KR" sz="2000"/>
          </a:p>
        </p:txBody>
      </p:sp>
      <p:sp>
        <p:nvSpPr>
          <p:cNvPr id="15" name="rv_eng_2"/>
          <p:cNvSpPr txBox="1"/>
          <p:nvPr/>
        </p:nvSpPr>
        <p:spPr>
          <a:xfrm>
            <a:off x="457200" y="2995930"/>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alpha val="0"/>
                  </a:srgbClr>
                </a:solidFill>
                <a:latin typeface="Calibri"/>
                <a:ea typeface="맑은 고딕"/>
                <a:cs typeface="Calibri"/>
              </a:rPr>
              <a:t>For example, carp in the paintings of hyo </a:t>
            </a:r>
            <a:r>
              <a:rPr lang="en-US" altLang="en-US" sz="2000" b="1" dirty="0">
                <a:solidFill>
                  <a:srgbClr val="C00000">
                    <a:alpha val="0"/>
                  </a:srgbClr>
                </a:solidFill>
                <a:latin typeface="Calibri"/>
                <a:ea typeface="맑은 고딕"/>
                <a:cs typeface="Calibri"/>
              </a:rPr>
              <a:t>[ </a:t>
            </a:r>
            <a:r>
              <a:rPr lang="en-US" altLang="en-US" sz="2000" b="1" dirty="0">
                <a:solidFill>
                  <a:srgbClr val="C00000"/>
                </a:solidFill>
                <a:latin typeface="Calibri"/>
                <a:ea typeface="맑은 고딕"/>
                <a:cs typeface="Calibri"/>
              </a:rPr>
              <a:t>symbolize</a:t>
            </a:r>
            <a:r>
              <a:rPr lang="en-US" altLang="en-US" sz="2000" b="1" dirty="0">
                <a:solidFill>
                  <a:srgbClr val="C00000">
                    <a:alpha val="0"/>
                  </a:srgbClr>
                </a:solidFill>
                <a:latin typeface="Calibri"/>
                <a:ea typeface="맑은 고딕"/>
                <a:cs typeface="Calibri"/>
              </a:rPr>
              <a:t> / </a:t>
            </a:r>
            <a:r>
              <a:rPr lang="en-US" altLang="en-US" sz="2000" b="1" dirty="0">
                <a:solidFill>
                  <a:srgbClr val="C00000">
                    <a:alpha val="0"/>
                  </a:srgbClr>
                </a:solidFill>
                <a:latin typeface="Calibri"/>
                <a:ea typeface="맑은 고딕"/>
                <a:cs typeface="Calibri"/>
              </a:rPr>
              <a:t>symbolizes</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respect for parents because of an old story.</a:t>
            </a:r>
            <a:endParaRPr lang="ko-KR" sz="2000"/>
          </a:p>
        </p:txBody>
      </p:sp>
      <p:sp>
        <p:nvSpPr>
          <p:cNvPr id="16" name="rv_point_2"/>
          <p:cNvSpPr txBox="1"/>
          <p:nvPr/>
        </p:nvSpPr>
        <p:spPr>
          <a:xfrm>
            <a:off x="457200" y="3761994"/>
            <a:ext cx="11274552" cy="331978"/>
          </a:xfrm>
          <a:prstGeom prst="rect">
            <a:avLst/>
          </a:prstGeom>
          <a:noFill/>
        </p:spPr>
        <p:txBody>
          <a:bodyPr wrap="square" lIns="228600" tIns="54864" rIns="228600" bIns="54864" anchor="t" rtlCol="0">
            <a:noAutofit/>
          </a:bodyPr>
          <a:lstStyle/>
          <a:p>
            <a:pPr algn="l">
              <a:lnSpc>
                <a:spcPts val="1750"/>
              </a:lnSpc>
              <a:spcBef>
                <a:spcPts val="0"/>
              </a:spcBef>
              <a:spcAft>
                <a:spcPts val="0"/>
              </a:spcAft>
              <a:buNone/>
            </a:pPr>
            <a:r>
              <a:rPr lang="ko-KR" altLang="en-US" sz="1400" b="1" dirty="0">
                <a:solidFill>
                  <a:srgbClr val="C00000"/>
                </a:solidFill>
                <a:latin typeface="맑은 고딕"/>
                <a:ea typeface="맑은 고딕"/>
                <a:cs typeface="맑은 고딕"/>
              </a:rPr>
              <a:t>포인트  </a:t>
            </a:r>
            <a:r>
              <a:rPr lang="ko-KR" altLang="en-US" sz="1400" b="0" dirty="0">
                <a:solidFill>
                  <a:srgbClr val="2F5597"/>
                </a:solidFill>
                <a:latin typeface="맑은 고딕"/>
                <a:ea typeface="맑은 고딕"/>
                <a:cs typeface="맑은 고딕"/>
              </a:rPr>
              <a:t>동사의 수 일치 (주어 carp 복수, in ~는 수식어)</a:t>
            </a:r>
            <a:endParaRPr lang="ko-KR" sz="1400"/>
          </a:p>
        </p:txBody>
      </p:sp>
      <p:sp>
        <p:nvSpPr>
          <p:cNvPr id="17" name="item_card_3"/>
          <p:cNvSpPr/>
          <p:nvPr/>
        </p:nvSpPr>
        <p:spPr>
          <a:xfrm>
            <a:off x="457200" y="4203700"/>
            <a:ext cx="11274552" cy="1516634"/>
          </a:xfrm>
          <a:prstGeom prst="roundRect">
            <a:avLst>
              <a:gd name="adj" fmla="val 6000"/>
            </a:avLst>
          </a:prstGeom>
          <a:solidFill>
            <a:srgbClr val="F3F5F9"/>
          </a:solidFill>
          <a:ln w="12700">
            <a:solidFill>
              <a:srgbClr val="D9DFEA"/>
            </a:solidFill>
          </a:ln>
        </p:spPr>
        <p:txBody>
          <a:bodyPr rtlCol="0" anchor="ctr"/>
          <a:lstStyle/>
          <a:p>
            <a:pPr algn="ctr"/>
          </a:p>
        </p:txBody>
      </p:sp>
      <p:sp>
        <p:nvSpPr>
          <p:cNvPr id="18" name="kor_3"/>
          <p:cNvSpPr txBox="1"/>
          <p:nvPr/>
        </p:nvSpPr>
        <p:spPr>
          <a:xfrm>
            <a:off x="457200" y="4313428"/>
            <a:ext cx="11274552" cy="363728"/>
          </a:xfrm>
          <a:prstGeom prst="rect">
            <a:avLst/>
          </a:prstGeom>
          <a:noFill/>
        </p:spPr>
        <p:txBody>
          <a:bodyPr wrap="square" lIns="228600" tIns="54864" rIns="228600" bIns="54864" anchor="t" rtlCol="0">
            <a:noAutofit/>
          </a:bodyPr>
          <a:lstStyle/>
          <a:p>
            <a:pPr algn="l">
              <a:lnSpc>
                <a:spcPts val="2000"/>
              </a:lnSpc>
              <a:spcBef>
                <a:spcPts val="0"/>
              </a:spcBef>
              <a:spcAft>
                <a:spcPts val="0"/>
              </a:spcAft>
              <a:buNone/>
            </a:pPr>
            <a:r>
              <a:rPr lang="en-US" altLang="en-US" sz="1600" b="1" dirty="0">
                <a:solidFill>
                  <a:srgbClr val="1E2A5A"/>
                </a:solidFill>
                <a:latin typeface="Calibri"/>
                <a:ea typeface="맑은 고딕"/>
                <a:cs typeface="Calibri"/>
              </a:rPr>
              <a:t>9.  </a:t>
            </a:r>
            <a:r>
              <a:rPr lang="ko-KR" altLang="en-US" sz="1600" b="0" dirty="0">
                <a:solidFill>
                  <a:srgbClr val="3C4558"/>
                </a:solidFill>
                <a:latin typeface="맑은 고딕"/>
                <a:ea typeface="맑은 고딕"/>
                <a:cs typeface="맑은 고딕"/>
              </a:rPr>
              <a:t>이야기는 이렇다. 옛날 옛적에 한 남자가 늙은 어머니를 모시고 살았다.</a:t>
            </a:r>
            <a:endParaRPr lang="ko-KR" sz="1600"/>
          </a:p>
        </p:txBody>
      </p:sp>
      <p:sp>
        <p:nvSpPr>
          <p:cNvPr id="19" name="eng_3"/>
          <p:cNvSpPr txBox="1"/>
          <p:nvPr/>
        </p:nvSpPr>
        <p:spPr>
          <a:xfrm>
            <a:off x="457200" y="4622292"/>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solidFill>
                <a:latin typeface="Calibri"/>
                <a:ea typeface="맑은 고딕"/>
                <a:cs typeface="Calibri"/>
              </a:rPr>
              <a:t>The story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go</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goes</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as follows. Once upon a time, a man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lived</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was lived</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with his old mother.</a:t>
            </a:r>
            <a:endParaRPr lang="ko-KR" sz="2000"/>
          </a:p>
        </p:txBody>
      </p:sp>
      <p:sp>
        <p:nvSpPr>
          <p:cNvPr id="20" name="rv_eng_3"/>
          <p:cNvSpPr txBox="1"/>
          <p:nvPr/>
        </p:nvSpPr>
        <p:spPr>
          <a:xfrm>
            <a:off x="457200" y="4622292"/>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alpha val="0"/>
                  </a:srgbClr>
                </a:solidFill>
                <a:latin typeface="Calibri"/>
                <a:ea typeface="맑은 고딕"/>
                <a:cs typeface="Calibri"/>
              </a:rPr>
              <a:t>The story </a:t>
            </a:r>
            <a:r>
              <a:rPr lang="en-US" altLang="en-US" sz="2000" b="1" dirty="0">
                <a:solidFill>
                  <a:srgbClr val="C00000">
                    <a:alpha val="0"/>
                  </a:srgbClr>
                </a:solidFill>
                <a:latin typeface="Calibri"/>
                <a:ea typeface="맑은 고딕"/>
                <a:cs typeface="Calibri"/>
              </a:rPr>
              <a:t>[ </a:t>
            </a:r>
            <a:r>
              <a:rPr lang="en-US" altLang="en-US" sz="2000" b="1" dirty="0">
                <a:solidFill>
                  <a:srgbClr val="C00000">
                    <a:alpha val="0"/>
                  </a:srgbClr>
                </a:solidFill>
                <a:latin typeface="Calibri"/>
                <a:ea typeface="맑은 고딕"/>
                <a:cs typeface="Calibri"/>
              </a:rPr>
              <a:t>go</a:t>
            </a:r>
            <a:r>
              <a:rPr lang="en-US" altLang="en-US" sz="2000" b="1" dirty="0">
                <a:solidFill>
                  <a:srgbClr val="C00000">
                    <a:alpha val="0"/>
                  </a:srgbClr>
                </a:solidFill>
                <a:latin typeface="Calibri"/>
                <a:ea typeface="맑은 고딕"/>
                <a:cs typeface="Calibri"/>
              </a:rPr>
              <a:t> / </a:t>
            </a:r>
            <a:r>
              <a:rPr lang="en-US" altLang="en-US" sz="2000" b="1" dirty="0">
                <a:solidFill>
                  <a:srgbClr val="C00000"/>
                </a:solidFill>
                <a:latin typeface="Calibri"/>
                <a:ea typeface="맑은 고딕"/>
                <a:cs typeface="Calibri"/>
              </a:rPr>
              <a:t>goes</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as follows. Once upon a time, a man </a:t>
            </a:r>
            <a:r>
              <a:rPr lang="en-US" altLang="en-US" sz="2000" b="1" dirty="0">
                <a:solidFill>
                  <a:srgbClr val="C00000">
                    <a:alpha val="0"/>
                  </a:srgbClr>
                </a:solidFill>
                <a:latin typeface="Calibri"/>
                <a:ea typeface="맑은 고딕"/>
                <a:cs typeface="Calibri"/>
              </a:rPr>
              <a:t>[ </a:t>
            </a:r>
            <a:r>
              <a:rPr lang="en-US" altLang="en-US" sz="2000" b="1" dirty="0">
                <a:solidFill>
                  <a:srgbClr val="C00000"/>
                </a:solidFill>
                <a:latin typeface="Calibri"/>
                <a:ea typeface="맑은 고딕"/>
                <a:cs typeface="Calibri"/>
              </a:rPr>
              <a:t>lived</a:t>
            </a:r>
            <a:r>
              <a:rPr lang="en-US" altLang="en-US" sz="2000" b="1" dirty="0">
                <a:solidFill>
                  <a:srgbClr val="C00000">
                    <a:alpha val="0"/>
                  </a:srgbClr>
                </a:solidFill>
                <a:latin typeface="Calibri"/>
                <a:ea typeface="맑은 고딕"/>
                <a:cs typeface="Calibri"/>
              </a:rPr>
              <a:t> / </a:t>
            </a:r>
            <a:r>
              <a:rPr lang="en-US" altLang="en-US" sz="2000" b="1" dirty="0">
                <a:solidFill>
                  <a:srgbClr val="C00000">
                    <a:alpha val="0"/>
                  </a:srgbClr>
                </a:solidFill>
                <a:latin typeface="Calibri"/>
                <a:ea typeface="맑은 고딕"/>
                <a:cs typeface="Calibri"/>
              </a:rPr>
              <a:t>was lived</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with his old mother.</a:t>
            </a:r>
            <a:endParaRPr lang="ko-KR" sz="2000"/>
          </a:p>
        </p:txBody>
      </p:sp>
      <p:sp>
        <p:nvSpPr>
          <p:cNvPr id="21" name="rv_point_3"/>
          <p:cNvSpPr txBox="1"/>
          <p:nvPr/>
        </p:nvSpPr>
        <p:spPr>
          <a:xfrm>
            <a:off x="457200" y="5388356"/>
            <a:ext cx="11274552" cy="331978"/>
          </a:xfrm>
          <a:prstGeom prst="rect">
            <a:avLst/>
          </a:prstGeom>
          <a:noFill/>
        </p:spPr>
        <p:txBody>
          <a:bodyPr wrap="square" lIns="228600" tIns="54864" rIns="228600" bIns="54864" anchor="t" rtlCol="0">
            <a:noAutofit/>
          </a:bodyPr>
          <a:lstStyle/>
          <a:p>
            <a:pPr algn="l">
              <a:lnSpc>
                <a:spcPts val="1750"/>
              </a:lnSpc>
              <a:spcBef>
                <a:spcPts val="0"/>
              </a:spcBef>
              <a:spcAft>
                <a:spcPts val="0"/>
              </a:spcAft>
              <a:buNone/>
            </a:pPr>
            <a:r>
              <a:rPr lang="ko-KR" altLang="en-US" sz="1400" b="1" dirty="0">
                <a:solidFill>
                  <a:srgbClr val="C00000"/>
                </a:solidFill>
                <a:latin typeface="맑은 고딕"/>
                <a:ea typeface="맑은 고딕"/>
                <a:cs typeface="맑은 고딕"/>
              </a:rPr>
              <a:t>포인트  </a:t>
            </a:r>
            <a:r>
              <a:rPr lang="ko-KR" altLang="en-US" sz="1400" b="0" dirty="0">
                <a:solidFill>
                  <a:srgbClr val="2F5597"/>
                </a:solidFill>
                <a:latin typeface="맑은 고딕"/>
                <a:ea typeface="맑은 고딕"/>
                <a:cs typeface="맑은 고딕"/>
              </a:rPr>
              <a:t>동사의 수 일치 (주어 The story 단수) · 수동태(능동/수동 구별) (자동사 live는 수동태 불가)</a:t>
            </a:r>
            <a:endParaRPr lang="ko-KR" sz="1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25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250"/>
                                        <p:tgtEl>
                                          <p:spTgt spid="1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250"/>
                                        <p:tgtEl>
                                          <p:spTgt spid="1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fade">
                                      <p:cBhvr>
                                        <p:cTn id="16" dur="250"/>
                                        <p:tgtEl>
                                          <p:spTgt spid="1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250"/>
                                        <p:tgtEl>
                                          <p:spTgt spid="2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fade">
                                      <p:cBhvr>
                                        <p:cTn id="22" dur="25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5" grpId="0" animBg="1"/>
      <p:bldP spid="16" grpId="0" animBg="1"/>
      <p:bldP spid="20" grpId="0" animBg="1"/>
      <p:bldP spid="21" grpId="0" animBg="1"/>
    </p:bldLst>
  </p:timing>
</p:sld>
</file>

<file path=ppt/slides/slide29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8000"/>
            </a:avLst>
          </a:prstGeom>
          <a:solidFill>
            <a:srgbClr val="1E2A5A"/>
          </a:solidFill>
          <a:ln>
            <a:noFill/>
          </a:ln>
        </p:spPr>
        <p:txBody>
          <a:bodyPr wrap="square" lIns="45720" tIns="18288" rIns="45720" bIns="18288" anchor="ctr" rtlCol="0">
            <a:noAutofit/>
          </a:bodyPr>
          <a:lstStyle/>
          <a:p>
            <a:pPr algn="ctr">
              <a:lnSpc>
                <a:spcPts val="2000"/>
              </a:lnSpc>
              <a:spcBef>
                <a:spcPts val="0"/>
              </a:spcBef>
              <a:spcAft>
                <a:spcPts val="0"/>
              </a:spcAft>
              <a:buNone/>
            </a:pPr>
            <a:r>
              <a:rPr lang="en-US" altLang="en-US" sz="1700" b="1" dirty="0">
                <a:solidFill>
                  <a:srgbClr val="FFFFFF"/>
                </a:solidFill>
                <a:latin typeface="Calibri"/>
                <a:ea typeface="맑은 고딕"/>
                <a:cs typeface="Calibri"/>
              </a:rPr>
              <a:t>L8</a:t>
            </a:r>
            <a:endParaRPr lang="ko-KR" sz="1700"/>
          </a:p>
        </p:txBody>
      </p:sp>
      <p:sp>
        <p:nvSpPr>
          <p:cNvPr id="3" name="hdr_chip"/>
          <p:cNvSpPr/>
          <p:nvPr/>
        </p:nvSpPr>
        <p:spPr>
          <a:xfrm>
            <a:off x="1755648" y="274320"/>
            <a:ext cx="1371600" cy="493776"/>
          </a:xfrm>
          <a:prstGeom prst="roundRect">
            <a:avLst>
              <a:gd name="adj" fmla="val 8000"/>
            </a:avLst>
          </a:prstGeom>
          <a:solidFill>
            <a:srgbClr val="E6EAF4"/>
          </a:solidFill>
          <a:ln>
            <a:noFill/>
          </a:ln>
        </p:spPr>
        <p:txBody>
          <a:bodyPr wrap="square" lIns="27432" tIns="18288" rIns="27432" bIns="18288" anchor="ctr" rtlCol="0">
            <a:noAutofit/>
          </a:bodyPr>
          <a:lstStyle/>
          <a:p>
            <a:pPr algn="ctr">
              <a:lnSpc>
                <a:spcPts val="1700"/>
              </a:lnSpc>
              <a:spcBef>
                <a:spcPts val="0"/>
              </a:spcBef>
              <a:spcAft>
                <a:spcPts val="0"/>
              </a:spcAft>
              <a:buNone/>
            </a:pPr>
            <a:r>
              <a:rPr lang="ko-KR" altLang="en-US" sz="1400" b="1" dirty="0">
                <a:solidFill>
                  <a:srgbClr val="1E2A5A"/>
                </a:solidFill>
                <a:latin typeface="맑은 고딕"/>
                <a:ea typeface="맑은 고딕"/>
                <a:cs typeface="맑은 고딕"/>
              </a:rPr>
              <a:t>PART 5 · 4</a:t>
            </a:r>
            <a:endParaRPr lang="ko-KR" sz="1400"/>
          </a:p>
        </p:txBody>
      </p:sp>
      <p:sp>
        <p:nvSpPr>
          <p:cNvPr id="4" name="hdr_q"/>
          <p:cNvSpPr txBox="1"/>
          <p:nvPr/>
        </p:nvSpPr>
        <p:spPr>
          <a:xfrm>
            <a:off x="3246120" y="246888"/>
            <a:ext cx="8485632" cy="548640"/>
          </a:xfrm>
          <a:prstGeom prst="rect">
            <a:avLst/>
          </a:prstGeom>
          <a:noFill/>
        </p:spPr>
        <p:txBody>
          <a:bodyPr wrap="square" lIns="109728" tIns="54864" rIns="109728" bIns="54864" anchor="ctr" rtlCol="0">
            <a:noAutofit/>
          </a:bodyPr>
          <a:lstStyle/>
          <a:p>
            <a:pPr algn="l">
              <a:lnSpc>
                <a:spcPts val="2400"/>
              </a:lnSpc>
              <a:spcBef>
                <a:spcPts val="0"/>
              </a:spcBef>
              <a:spcAft>
                <a:spcPts val="0"/>
              </a:spcAft>
              <a:buNone/>
            </a:pPr>
            <a:r>
              <a:rPr lang="ko-KR" altLang="en-US" sz="2000" b="1" dirty="0">
                <a:solidFill>
                  <a:srgbClr val="1F2328"/>
                </a:solidFill>
                <a:latin typeface="맑은 고딕"/>
                <a:ea typeface="맑은 고딕"/>
                <a:cs typeface="맑은 고딕"/>
              </a:rPr>
              <a:t>[  ] 안에서 어법상 알맞은 것을 고르시오.</a:t>
            </a:r>
            <a:endParaRPr lang="ko-KR" sz="2000"/>
          </a:p>
        </p:txBody>
      </p:sp>
      <p:sp>
        <p:nvSpPr>
          <p:cNvPr id="5" name="ftr_exam"/>
          <p:cNvSpPr txBox="1"/>
          <p:nvPr/>
        </p:nvSpPr>
        <p:spPr>
          <a:xfrm>
            <a:off x="457200" y="6519672"/>
            <a:ext cx="5669280" cy="256032"/>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8</a:t>
            </a:r>
            <a:endParaRPr lang="ko-KR" sz="1000"/>
          </a:p>
        </p:txBody>
      </p:sp>
      <p:sp>
        <p:nvSpPr>
          <p:cNvPr id="6" name="ftr_hint"/>
          <p:cNvSpPr txBox="1"/>
          <p:nvPr/>
        </p:nvSpPr>
        <p:spPr>
          <a:xfrm>
            <a:off x="5971032" y="6519672"/>
            <a:ext cx="5760720" cy="256032"/>
          </a:xfrm>
          <a:prstGeom prst="rect">
            <a:avLst/>
          </a:prstGeom>
          <a:noFill/>
        </p:spPr>
        <p:txBody>
          <a:bodyPr wrap="square" lIns="0" tIns="0" rIns="0" bIns="0" anchor="t" rtlCol="0">
            <a:noAutofit/>
          </a:bodyPr>
          <a:lstStyle/>
          <a:p>
            <a:pPr algn="r">
              <a:lnSpc>
                <a:spcPts val="1200"/>
              </a:lnSpc>
              <a:spcBef>
                <a:spcPts val="0"/>
              </a:spcBef>
              <a:spcAft>
                <a:spcPts val="0"/>
              </a:spcAft>
              <a:buNone/>
            </a:pPr>
            <a:r>
              <a:rPr lang="ko-KR" altLang="en-US" sz="1000" b="0" dirty="0">
                <a:solidFill>
                  <a:srgbClr val="7A808C"/>
                </a:solidFill>
                <a:latin typeface="맑은 고딕"/>
                <a:ea typeface="맑은 고딕"/>
                <a:cs typeface="맑은 고딕"/>
              </a:rPr>
              <a:t>클릭 ① 정답(빨간색) + 문법 포인트 공개</a:t>
            </a:r>
            <a:endParaRPr lang="ko-KR" sz="1000"/>
          </a:p>
        </p:txBody>
      </p:sp>
      <p:sp>
        <p:nvSpPr>
          <p:cNvPr id="7" name="item_card_1"/>
          <p:cNvSpPr/>
          <p:nvPr/>
        </p:nvSpPr>
        <p:spPr>
          <a:xfrm>
            <a:off x="457200" y="950976"/>
            <a:ext cx="11274552" cy="1516634"/>
          </a:xfrm>
          <a:prstGeom prst="roundRect">
            <a:avLst>
              <a:gd name="adj" fmla="val 6000"/>
            </a:avLst>
          </a:prstGeom>
          <a:solidFill>
            <a:srgbClr val="F3F5F9"/>
          </a:solidFill>
          <a:ln w="12700">
            <a:solidFill>
              <a:srgbClr val="D9DFEA"/>
            </a:solidFill>
          </a:ln>
        </p:spPr>
        <p:txBody>
          <a:bodyPr rtlCol="0" anchor="ctr"/>
          <a:lstStyle/>
          <a:p>
            <a:pPr algn="ctr"/>
          </a:p>
        </p:txBody>
      </p:sp>
      <p:sp>
        <p:nvSpPr>
          <p:cNvPr id="8" name="kor_1"/>
          <p:cNvSpPr txBox="1"/>
          <p:nvPr/>
        </p:nvSpPr>
        <p:spPr>
          <a:xfrm>
            <a:off x="457200" y="1060704"/>
            <a:ext cx="11274552" cy="363728"/>
          </a:xfrm>
          <a:prstGeom prst="rect">
            <a:avLst/>
          </a:prstGeom>
          <a:noFill/>
        </p:spPr>
        <p:txBody>
          <a:bodyPr wrap="square" lIns="228600" tIns="54864" rIns="228600" bIns="54864" anchor="t" rtlCol="0">
            <a:noAutofit/>
          </a:bodyPr>
          <a:lstStyle/>
          <a:p>
            <a:pPr algn="l">
              <a:lnSpc>
                <a:spcPts val="2000"/>
              </a:lnSpc>
              <a:spcBef>
                <a:spcPts val="0"/>
              </a:spcBef>
              <a:spcAft>
                <a:spcPts val="0"/>
              </a:spcAft>
              <a:buNone/>
            </a:pPr>
            <a:r>
              <a:rPr lang="en-US" altLang="en-US" sz="1600" b="1" dirty="0">
                <a:solidFill>
                  <a:srgbClr val="1E2A5A"/>
                </a:solidFill>
                <a:latin typeface="Calibri"/>
                <a:ea typeface="맑은 고딕"/>
                <a:cs typeface="Calibri"/>
              </a:rPr>
              <a:t>10.  </a:t>
            </a:r>
            <a:r>
              <a:rPr lang="ko-KR" altLang="en-US" sz="1600" b="0" dirty="0">
                <a:solidFill>
                  <a:srgbClr val="3C4558"/>
                </a:solidFill>
                <a:latin typeface="맑은 고딕"/>
                <a:ea typeface="맑은 고딕"/>
                <a:cs typeface="맑은 고딕"/>
              </a:rPr>
              <a:t>어느 겨울, 남자의 어머니가 병이 나서 아무것도 드시지 못했다.</a:t>
            </a:r>
            <a:endParaRPr lang="ko-KR" sz="1600"/>
          </a:p>
        </p:txBody>
      </p:sp>
      <p:sp>
        <p:nvSpPr>
          <p:cNvPr id="9" name="eng_1"/>
          <p:cNvSpPr txBox="1"/>
          <p:nvPr/>
        </p:nvSpPr>
        <p:spPr>
          <a:xfrm>
            <a:off x="457200" y="1369568"/>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solidFill>
                <a:latin typeface="Calibri"/>
                <a:ea typeface="맑은 고딕"/>
                <a:cs typeface="Calibri"/>
              </a:rPr>
              <a:t>One winter, the man’s mother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became</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was become</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ill and couldn’t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to eat</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eat</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anything.</a:t>
            </a:r>
            <a:endParaRPr lang="ko-KR" sz="2000"/>
          </a:p>
        </p:txBody>
      </p:sp>
      <p:sp>
        <p:nvSpPr>
          <p:cNvPr id="10" name="rv_eng_1"/>
          <p:cNvSpPr txBox="1"/>
          <p:nvPr/>
        </p:nvSpPr>
        <p:spPr>
          <a:xfrm>
            <a:off x="457200" y="1369568"/>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alpha val="0"/>
                  </a:srgbClr>
                </a:solidFill>
                <a:latin typeface="Calibri"/>
                <a:ea typeface="맑은 고딕"/>
                <a:cs typeface="Calibri"/>
              </a:rPr>
              <a:t>One winter, the man’s mother </a:t>
            </a:r>
            <a:r>
              <a:rPr lang="en-US" altLang="en-US" sz="2000" b="1" dirty="0">
                <a:solidFill>
                  <a:srgbClr val="C00000">
                    <a:alpha val="0"/>
                  </a:srgbClr>
                </a:solidFill>
                <a:latin typeface="Calibri"/>
                <a:ea typeface="맑은 고딕"/>
                <a:cs typeface="Calibri"/>
              </a:rPr>
              <a:t>[ </a:t>
            </a:r>
            <a:r>
              <a:rPr lang="en-US" altLang="en-US" sz="2000" b="1" dirty="0">
                <a:solidFill>
                  <a:srgbClr val="C00000"/>
                </a:solidFill>
                <a:latin typeface="Calibri"/>
                <a:ea typeface="맑은 고딕"/>
                <a:cs typeface="Calibri"/>
              </a:rPr>
              <a:t>became</a:t>
            </a:r>
            <a:r>
              <a:rPr lang="en-US" altLang="en-US" sz="2000" b="1" dirty="0">
                <a:solidFill>
                  <a:srgbClr val="C00000">
                    <a:alpha val="0"/>
                  </a:srgbClr>
                </a:solidFill>
                <a:latin typeface="Calibri"/>
                <a:ea typeface="맑은 고딕"/>
                <a:cs typeface="Calibri"/>
              </a:rPr>
              <a:t> / </a:t>
            </a:r>
            <a:r>
              <a:rPr lang="en-US" altLang="en-US" sz="2000" b="1" dirty="0">
                <a:solidFill>
                  <a:srgbClr val="C00000">
                    <a:alpha val="0"/>
                  </a:srgbClr>
                </a:solidFill>
                <a:latin typeface="Calibri"/>
                <a:ea typeface="맑은 고딕"/>
                <a:cs typeface="Calibri"/>
              </a:rPr>
              <a:t>was become</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ill and couldn’t </a:t>
            </a:r>
            <a:r>
              <a:rPr lang="en-US" altLang="en-US" sz="2000" b="1" dirty="0">
                <a:solidFill>
                  <a:srgbClr val="C00000">
                    <a:alpha val="0"/>
                  </a:srgbClr>
                </a:solidFill>
                <a:latin typeface="Calibri"/>
                <a:ea typeface="맑은 고딕"/>
                <a:cs typeface="Calibri"/>
              </a:rPr>
              <a:t>[ </a:t>
            </a:r>
            <a:r>
              <a:rPr lang="en-US" altLang="en-US" sz="2000" b="1" dirty="0">
                <a:solidFill>
                  <a:srgbClr val="C00000">
                    <a:alpha val="0"/>
                  </a:srgbClr>
                </a:solidFill>
                <a:latin typeface="Calibri"/>
                <a:ea typeface="맑은 고딕"/>
                <a:cs typeface="Calibri"/>
              </a:rPr>
              <a:t>to eat</a:t>
            </a:r>
            <a:r>
              <a:rPr lang="en-US" altLang="en-US" sz="2000" b="1" dirty="0">
                <a:solidFill>
                  <a:srgbClr val="C00000">
                    <a:alpha val="0"/>
                  </a:srgbClr>
                </a:solidFill>
                <a:latin typeface="Calibri"/>
                <a:ea typeface="맑은 고딕"/>
                <a:cs typeface="Calibri"/>
              </a:rPr>
              <a:t> / </a:t>
            </a:r>
            <a:r>
              <a:rPr lang="en-US" altLang="en-US" sz="2000" b="1" dirty="0">
                <a:solidFill>
                  <a:srgbClr val="C00000"/>
                </a:solidFill>
                <a:latin typeface="Calibri"/>
                <a:ea typeface="맑은 고딕"/>
                <a:cs typeface="Calibri"/>
              </a:rPr>
              <a:t>eat</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anything.</a:t>
            </a:r>
            <a:endParaRPr lang="ko-KR" sz="2000"/>
          </a:p>
        </p:txBody>
      </p:sp>
      <p:sp>
        <p:nvSpPr>
          <p:cNvPr id="11" name="rv_point_1"/>
          <p:cNvSpPr txBox="1"/>
          <p:nvPr/>
        </p:nvSpPr>
        <p:spPr>
          <a:xfrm>
            <a:off x="457200" y="2135632"/>
            <a:ext cx="11274552" cy="331978"/>
          </a:xfrm>
          <a:prstGeom prst="rect">
            <a:avLst/>
          </a:prstGeom>
          <a:noFill/>
        </p:spPr>
        <p:txBody>
          <a:bodyPr wrap="square" lIns="228600" tIns="54864" rIns="228600" bIns="54864" anchor="t" rtlCol="0">
            <a:noAutofit/>
          </a:bodyPr>
          <a:lstStyle/>
          <a:p>
            <a:pPr algn="l">
              <a:lnSpc>
                <a:spcPts val="1750"/>
              </a:lnSpc>
              <a:spcBef>
                <a:spcPts val="0"/>
              </a:spcBef>
              <a:spcAft>
                <a:spcPts val="0"/>
              </a:spcAft>
              <a:buNone/>
            </a:pPr>
            <a:r>
              <a:rPr lang="ko-KR" altLang="en-US" sz="1400" b="1" dirty="0">
                <a:solidFill>
                  <a:srgbClr val="C00000"/>
                </a:solidFill>
                <a:latin typeface="맑은 고딕"/>
                <a:ea typeface="맑은 고딕"/>
                <a:cs typeface="맑은 고딕"/>
              </a:rPr>
              <a:t>포인트  </a:t>
            </a:r>
            <a:r>
              <a:rPr lang="ko-KR" altLang="en-US" sz="1400" b="0" dirty="0">
                <a:solidFill>
                  <a:srgbClr val="2F5597"/>
                </a:solidFill>
                <a:latin typeface="맑은 고딕"/>
                <a:ea typeface="맑은 고딕"/>
                <a:cs typeface="맑은 고딕"/>
              </a:rPr>
              <a:t>수동태(능동/수동 구별) (become은 수동태 불가) · to부정사/동명사/동사원형 (조동사 couldn’t + 동사원형)</a:t>
            </a:r>
            <a:endParaRPr lang="ko-KR" sz="1400"/>
          </a:p>
        </p:txBody>
      </p:sp>
      <p:sp>
        <p:nvSpPr>
          <p:cNvPr id="12" name="item_card_2"/>
          <p:cNvSpPr/>
          <p:nvPr/>
        </p:nvSpPr>
        <p:spPr>
          <a:xfrm>
            <a:off x="457200" y="2577338"/>
            <a:ext cx="11274552" cy="1738884"/>
          </a:xfrm>
          <a:prstGeom prst="roundRect">
            <a:avLst>
              <a:gd name="adj" fmla="val 6000"/>
            </a:avLst>
          </a:prstGeom>
          <a:solidFill>
            <a:srgbClr val="F3F5F9"/>
          </a:solidFill>
          <a:ln w="12700">
            <a:solidFill>
              <a:srgbClr val="D9DFEA"/>
            </a:solidFill>
          </a:ln>
        </p:spPr>
        <p:txBody>
          <a:bodyPr rtlCol="0" anchor="ctr"/>
          <a:lstStyle/>
          <a:p>
            <a:pPr algn="ctr"/>
          </a:p>
        </p:txBody>
      </p:sp>
      <p:sp>
        <p:nvSpPr>
          <p:cNvPr id="13" name="kor_2"/>
          <p:cNvSpPr txBox="1"/>
          <p:nvPr/>
        </p:nvSpPr>
        <p:spPr>
          <a:xfrm>
            <a:off x="457200" y="2687066"/>
            <a:ext cx="11274552" cy="363728"/>
          </a:xfrm>
          <a:prstGeom prst="rect">
            <a:avLst/>
          </a:prstGeom>
          <a:noFill/>
        </p:spPr>
        <p:txBody>
          <a:bodyPr wrap="square" lIns="228600" tIns="54864" rIns="228600" bIns="54864" anchor="t" rtlCol="0">
            <a:noAutofit/>
          </a:bodyPr>
          <a:lstStyle/>
          <a:p>
            <a:pPr algn="l">
              <a:lnSpc>
                <a:spcPts val="2000"/>
              </a:lnSpc>
              <a:spcBef>
                <a:spcPts val="0"/>
              </a:spcBef>
              <a:spcAft>
                <a:spcPts val="0"/>
              </a:spcAft>
              <a:buNone/>
            </a:pPr>
            <a:r>
              <a:rPr lang="en-US" altLang="en-US" sz="1600" b="1" dirty="0">
                <a:solidFill>
                  <a:srgbClr val="1E2A5A"/>
                </a:solidFill>
                <a:latin typeface="Calibri"/>
                <a:ea typeface="맑은 고딕"/>
                <a:cs typeface="Calibri"/>
              </a:rPr>
              <a:t>11.  </a:t>
            </a:r>
            <a:r>
              <a:rPr lang="ko-KR" altLang="en-US" sz="1600" b="0" dirty="0">
                <a:solidFill>
                  <a:srgbClr val="3C4558"/>
                </a:solidFill>
                <a:latin typeface="맑은 고딕"/>
                <a:ea typeface="맑은 고딕"/>
                <a:cs typeface="맑은 고딕"/>
              </a:rPr>
              <a:t>몹시 추운 어느 날, 어머니가 남자에게 "싱싱한 생선을 먹을 수 있으면 좋겠구나."라고 말했다.</a:t>
            </a:r>
            <a:endParaRPr lang="ko-KR" sz="1600"/>
          </a:p>
        </p:txBody>
      </p:sp>
      <p:sp>
        <p:nvSpPr>
          <p:cNvPr id="14" name="eng_2"/>
          <p:cNvSpPr txBox="1"/>
          <p:nvPr/>
        </p:nvSpPr>
        <p:spPr>
          <a:xfrm>
            <a:off x="457200" y="2995930"/>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solidFill>
                <a:latin typeface="Calibri"/>
                <a:ea typeface="맑은 고딕"/>
                <a:cs typeface="Calibri"/>
              </a:rPr>
              <a:t>On one very cold day, the mother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was said</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said</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to the man, “It would be wonderful if I could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eat</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eating</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fresh fish.”</a:t>
            </a:r>
            <a:endParaRPr lang="ko-KR" sz="2000"/>
          </a:p>
        </p:txBody>
      </p:sp>
      <p:sp>
        <p:nvSpPr>
          <p:cNvPr id="15" name="rv_eng_2"/>
          <p:cNvSpPr txBox="1"/>
          <p:nvPr/>
        </p:nvSpPr>
        <p:spPr>
          <a:xfrm>
            <a:off x="457200" y="2995930"/>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alpha val="0"/>
                  </a:srgbClr>
                </a:solidFill>
                <a:latin typeface="Calibri"/>
                <a:ea typeface="맑은 고딕"/>
                <a:cs typeface="Calibri"/>
              </a:rPr>
              <a:t>On one very cold day, the mother </a:t>
            </a:r>
            <a:r>
              <a:rPr lang="en-US" altLang="en-US" sz="2000" b="1" dirty="0">
                <a:solidFill>
                  <a:srgbClr val="C00000">
                    <a:alpha val="0"/>
                  </a:srgbClr>
                </a:solidFill>
                <a:latin typeface="Calibri"/>
                <a:ea typeface="맑은 고딕"/>
                <a:cs typeface="Calibri"/>
              </a:rPr>
              <a:t>[ </a:t>
            </a:r>
            <a:r>
              <a:rPr lang="en-US" altLang="en-US" sz="2000" b="1" dirty="0">
                <a:solidFill>
                  <a:srgbClr val="C00000">
                    <a:alpha val="0"/>
                  </a:srgbClr>
                </a:solidFill>
                <a:latin typeface="Calibri"/>
                <a:ea typeface="맑은 고딕"/>
                <a:cs typeface="Calibri"/>
              </a:rPr>
              <a:t>was said</a:t>
            </a:r>
            <a:r>
              <a:rPr lang="en-US" altLang="en-US" sz="2000" b="1" dirty="0">
                <a:solidFill>
                  <a:srgbClr val="C00000">
                    <a:alpha val="0"/>
                  </a:srgbClr>
                </a:solidFill>
                <a:latin typeface="Calibri"/>
                <a:ea typeface="맑은 고딕"/>
                <a:cs typeface="Calibri"/>
              </a:rPr>
              <a:t> / </a:t>
            </a:r>
            <a:r>
              <a:rPr lang="en-US" altLang="en-US" sz="2000" b="1" dirty="0">
                <a:solidFill>
                  <a:srgbClr val="C00000"/>
                </a:solidFill>
                <a:latin typeface="Calibri"/>
                <a:ea typeface="맑은 고딕"/>
                <a:cs typeface="Calibri"/>
              </a:rPr>
              <a:t>said</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to the man, “It would be wonderful if I could </a:t>
            </a:r>
            <a:r>
              <a:rPr lang="en-US" altLang="en-US" sz="2000" b="1" dirty="0">
                <a:solidFill>
                  <a:srgbClr val="C00000">
                    <a:alpha val="0"/>
                  </a:srgbClr>
                </a:solidFill>
                <a:latin typeface="Calibri"/>
                <a:ea typeface="맑은 고딕"/>
                <a:cs typeface="Calibri"/>
              </a:rPr>
              <a:t>[ </a:t>
            </a:r>
            <a:r>
              <a:rPr lang="en-US" altLang="en-US" sz="2000" b="1" dirty="0">
                <a:solidFill>
                  <a:srgbClr val="C00000"/>
                </a:solidFill>
                <a:latin typeface="Calibri"/>
                <a:ea typeface="맑은 고딕"/>
                <a:cs typeface="Calibri"/>
              </a:rPr>
              <a:t>eat</a:t>
            </a:r>
            <a:r>
              <a:rPr lang="en-US" altLang="en-US" sz="2000" b="1" dirty="0">
                <a:solidFill>
                  <a:srgbClr val="C00000">
                    <a:alpha val="0"/>
                  </a:srgbClr>
                </a:solidFill>
                <a:latin typeface="Calibri"/>
                <a:ea typeface="맑은 고딕"/>
                <a:cs typeface="Calibri"/>
              </a:rPr>
              <a:t> / </a:t>
            </a:r>
            <a:r>
              <a:rPr lang="en-US" altLang="en-US" sz="2000" b="1" dirty="0">
                <a:solidFill>
                  <a:srgbClr val="C00000">
                    <a:alpha val="0"/>
                  </a:srgbClr>
                </a:solidFill>
                <a:latin typeface="Calibri"/>
                <a:ea typeface="맑은 고딕"/>
                <a:cs typeface="Calibri"/>
              </a:rPr>
              <a:t>eating</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fresh fish.”</a:t>
            </a:r>
            <a:endParaRPr lang="ko-KR" sz="2000"/>
          </a:p>
        </p:txBody>
      </p:sp>
      <p:sp>
        <p:nvSpPr>
          <p:cNvPr id="16" name="rv_point_2"/>
          <p:cNvSpPr txBox="1"/>
          <p:nvPr/>
        </p:nvSpPr>
        <p:spPr>
          <a:xfrm>
            <a:off x="457200" y="3761994"/>
            <a:ext cx="11274552" cy="554227"/>
          </a:xfrm>
          <a:prstGeom prst="rect">
            <a:avLst/>
          </a:prstGeom>
          <a:noFill/>
        </p:spPr>
        <p:txBody>
          <a:bodyPr wrap="square" lIns="228600" tIns="54864" rIns="228600" bIns="54864" anchor="t" rtlCol="0">
            <a:noAutofit/>
          </a:bodyPr>
          <a:lstStyle/>
          <a:p>
            <a:pPr algn="l">
              <a:lnSpc>
                <a:spcPts val="1750"/>
              </a:lnSpc>
              <a:spcBef>
                <a:spcPts val="0"/>
              </a:spcBef>
              <a:spcAft>
                <a:spcPts val="0"/>
              </a:spcAft>
              <a:buNone/>
            </a:pPr>
            <a:r>
              <a:rPr lang="ko-KR" altLang="en-US" sz="1400" b="1" dirty="0">
                <a:solidFill>
                  <a:srgbClr val="C00000"/>
                </a:solidFill>
                <a:latin typeface="맑은 고딕"/>
                <a:ea typeface="맑은 고딕"/>
                <a:cs typeface="맑은 고딕"/>
              </a:rPr>
              <a:t>포인트  </a:t>
            </a:r>
            <a:r>
              <a:rPr lang="ko-KR" altLang="en-US" sz="1400" b="0" dirty="0">
                <a:solidFill>
                  <a:srgbClr val="2F5597"/>
                </a:solidFill>
                <a:latin typeface="맑은 고딕"/>
                <a:ea typeface="맑은 고딕"/>
                <a:cs typeface="맑은 고딕"/>
              </a:rPr>
              <a:t>수동태(능동/수동 구별) (주어 the mother가 직접 말함 → 능동) · to부정사/동명사/동사원형 (조동사 could + 동사원형)</a:t>
            </a:r>
            <a:endParaRPr lang="ko-KR" sz="1400"/>
          </a:p>
        </p:txBody>
      </p:sp>
      <p:sp>
        <p:nvSpPr>
          <p:cNvPr id="17" name="item_card_3"/>
          <p:cNvSpPr/>
          <p:nvPr/>
        </p:nvSpPr>
        <p:spPr>
          <a:xfrm>
            <a:off x="457200" y="4425950"/>
            <a:ext cx="11274552" cy="1516634"/>
          </a:xfrm>
          <a:prstGeom prst="roundRect">
            <a:avLst>
              <a:gd name="adj" fmla="val 6000"/>
            </a:avLst>
          </a:prstGeom>
          <a:solidFill>
            <a:srgbClr val="F3F5F9"/>
          </a:solidFill>
          <a:ln w="12700">
            <a:solidFill>
              <a:srgbClr val="D9DFEA"/>
            </a:solidFill>
          </a:ln>
        </p:spPr>
        <p:txBody>
          <a:bodyPr rtlCol="0" anchor="ctr"/>
          <a:lstStyle/>
          <a:p>
            <a:pPr algn="ctr"/>
          </a:p>
        </p:txBody>
      </p:sp>
      <p:sp>
        <p:nvSpPr>
          <p:cNvPr id="18" name="kor_3"/>
          <p:cNvSpPr txBox="1"/>
          <p:nvPr/>
        </p:nvSpPr>
        <p:spPr>
          <a:xfrm>
            <a:off x="457200" y="4535678"/>
            <a:ext cx="11274552" cy="363728"/>
          </a:xfrm>
          <a:prstGeom prst="rect">
            <a:avLst/>
          </a:prstGeom>
          <a:noFill/>
        </p:spPr>
        <p:txBody>
          <a:bodyPr wrap="square" lIns="228600" tIns="54864" rIns="228600" bIns="54864" anchor="t" rtlCol="0">
            <a:noAutofit/>
          </a:bodyPr>
          <a:lstStyle/>
          <a:p>
            <a:pPr algn="l">
              <a:lnSpc>
                <a:spcPts val="2000"/>
              </a:lnSpc>
              <a:spcBef>
                <a:spcPts val="0"/>
              </a:spcBef>
              <a:spcAft>
                <a:spcPts val="0"/>
              </a:spcAft>
              <a:buNone/>
            </a:pPr>
            <a:r>
              <a:rPr lang="en-US" altLang="en-US" sz="1600" b="1" dirty="0">
                <a:solidFill>
                  <a:srgbClr val="1E2A5A"/>
                </a:solidFill>
                <a:latin typeface="Calibri"/>
                <a:ea typeface="맑은 고딕"/>
                <a:cs typeface="Calibri"/>
              </a:rPr>
              <a:t>12.  </a:t>
            </a:r>
            <a:r>
              <a:rPr lang="ko-KR" altLang="en-US" sz="1600" b="0" dirty="0">
                <a:solidFill>
                  <a:srgbClr val="3C4558"/>
                </a:solidFill>
                <a:latin typeface="맑은 고딕"/>
                <a:ea typeface="맑은 고딕"/>
                <a:cs typeface="맑은 고딕"/>
              </a:rPr>
              <a:t>남자는 강으로 나갔지만, 강물은 꽁꽁 얼어붙어 있었다.</a:t>
            </a:r>
            <a:endParaRPr lang="ko-KR" sz="1600"/>
          </a:p>
        </p:txBody>
      </p:sp>
      <p:sp>
        <p:nvSpPr>
          <p:cNvPr id="19" name="eng_3"/>
          <p:cNvSpPr txBox="1"/>
          <p:nvPr/>
        </p:nvSpPr>
        <p:spPr>
          <a:xfrm>
            <a:off x="457200" y="4844542"/>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solidFill>
                <a:latin typeface="Calibri"/>
                <a:ea typeface="맑은 고딕"/>
                <a:cs typeface="Calibri"/>
              </a:rPr>
              <a:t>The man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went</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was gone</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out to the river, but it was completely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freezing</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frozen</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a:t>
            </a:r>
            <a:endParaRPr lang="ko-KR" sz="2000"/>
          </a:p>
        </p:txBody>
      </p:sp>
      <p:sp>
        <p:nvSpPr>
          <p:cNvPr id="20" name="rv_eng_3"/>
          <p:cNvSpPr txBox="1"/>
          <p:nvPr/>
        </p:nvSpPr>
        <p:spPr>
          <a:xfrm>
            <a:off x="457200" y="4844542"/>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alpha val="0"/>
                  </a:srgbClr>
                </a:solidFill>
                <a:latin typeface="Calibri"/>
                <a:ea typeface="맑은 고딕"/>
                <a:cs typeface="Calibri"/>
              </a:rPr>
              <a:t>The man </a:t>
            </a:r>
            <a:r>
              <a:rPr lang="en-US" altLang="en-US" sz="2000" b="1" dirty="0">
                <a:solidFill>
                  <a:srgbClr val="C00000">
                    <a:alpha val="0"/>
                  </a:srgbClr>
                </a:solidFill>
                <a:latin typeface="Calibri"/>
                <a:ea typeface="맑은 고딕"/>
                <a:cs typeface="Calibri"/>
              </a:rPr>
              <a:t>[ </a:t>
            </a:r>
            <a:r>
              <a:rPr lang="en-US" altLang="en-US" sz="2000" b="1" dirty="0">
                <a:solidFill>
                  <a:srgbClr val="C00000"/>
                </a:solidFill>
                <a:latin typeface="Calibri"/>
                <a:ea typeface="맑은 고딕"/>
                <a:cs typeface="Calibri"/>
              </a:rPr>
              <a:t>went</a:t>
            </a:r>
            <a:r>
              <a:rPr lang="en-US" altLang="en-US" sz="2000" b="1" dirty="0">
                <a:solidFill>
                  <a:srgbClr val="C00000">
                    <a:alpha val="0"/>
                  </a:srgbClr>
                </a:solidFill>
                <a:latin typeface="Calibri"/>
                <a:ea typeface="맑은 고딕"/>
                <a:cs typeface="Calibri"/>
              </a:rPr>
              <a:t> / </a:t>
            </a:r>
            <a:r>
              <a:rPr lang="en-US" altLang="en-US" sz="2000" b="1" dirty="0">
                <a:solidFill>
                  <a:srgbClr val="C00000">
                    <a:alpha val="0"/>
                  </a:srgbClr>
                </a:solidFill>
                <a:latin typeface="Calibri"/>
                <a:ea typeface="맑은 고딕"/>
                <a:cs typeface="Calibri"/>
              </a:rPr>
              <a:t>was gone</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out to the river, but it was completely </a:t>
            </a:r>
            <a:r>
              <a:rPr lang="en-US" altLang="en-US" sz="2000" b="1" dirty="0">
                <a:solidFill>
                  <a:srgbClr val="C00000">
                    <a:alpha val="0"/>
                  </a:srgbClr>
                </a:solidFill>
                <a:latin typeface="Calibri"/>
                <a:ea typeface="맑은 고딕"/>
                <a:cs typeface="Calibri"/>
              </a:rPr>
              <a:t>[ </a:t>
            </a:r>
            <a:r>
              <a:rPr lang="en-US" altLang="en-US" sz="2000" b="1" dirty="0">
                <a:solidFill>
                  <a:srgbClr val="C00000">
                    <a:alpha val="0"/>
                  </a:srgbClr>
                </a:solidFill>
                <a:latin typeface="Calibri"/>
                <a:ea typeface="맑은 고딕"/>
                <a:cs typeface="Calibri"/>
              </a:rPr>
              <a:t>freezing</a:t>
            </a:r>
            <a:r>
              <a:rPr lang="en-US" altLang="en-US" sz="2000" b="1" dirty="0">
                <a:solidFill>
                  <a:srgbClr val="C00000">
                    <a:alpha val="0"/>
                  </a:srgbClr>
                </a:solidFill>
                <a:latin typeface="Calibri"/>
                <a:ea typeface="맑은 고딕"/>
                <a:cs typeface="Calibri"/>
              </a:rPr>
              <a:t> / </a:t>
            </a:r>
            <a:r>
              <a:rPr lang="en-US" altLang="en-US" sz="2000" b="1" dirty="0">
                <a:solidFill>
                  <a:srgbClr val="C00000"/>
                </a:solidFill>
                <a:latin typeface="Calibri"/>
                <a:ea typeface="맑은 고딕"/>
                <a:cs typeface="Calibri"/>
              </a:rPr>
              <a:t>frozen</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a:t>
            </a:r>
            <a:endParaRPr lang="ko-KR" sz="2000"/>
          </a:p>
        </p:txBody>
      </p:sp>
      <p:sp>
        <p:nvSpPr>
          <p:cNvPr id="21" name="rv_point_3"/>
          <p:cNvSpPr txBox="1"/>
          <p:nvPr/>
        </p:nvSpPr>
        <p:spPr>
          <a:xfrm>
            <a:off x="457200" y="5610606"/>
            <a:ext cx="11274552" cy="331978"/>
          </a:xfrm>
          <a:prstGeom prst="rect">
            <a:avLst/>
          </a:prstGeom>
          <a:noFill/>
        </p:spPr>
        <p:txBody>
          <a:bodyPr wrap="square" lIns="228600" tIns="54864" rIns="228600" bIns="54864" anchor="t" rtlCol="0">
            <a:noAutofit/>
          </a:bodyPr>
          <a:lstStyle/>
          <a:p>
            <a:pPr algn="l">
              <a:lnSpc>
                <a:spcPts val="1750"/>
              </a:lnSpc>
              <a:spcBef>
                <a:spcPts val="0"/>
              </a:spcBef>
              <a:spcAft>
                <a:spcPts val="0"/>
              </a:spcAft>
              <a:buNone/>
            </a:pPr>
            <a:r>
              <a:rPr lang="ko-KR" altLang="en-US" sz="1400" b="1" dirty="0">
                <a:solidFill>
                  <a:srgbClr val="C00000"/>
                </a:solidFill>
                <a:latin typeface="맑은 고딕"/>
                <a:ea typeface="맑은 고딕"/>
                <a:cs typeface="맑은 고딕"/>
              </a:rPr>
              <a:t>포인트  </a:t>
            </a:r>
            <a:r>
              <a:rPr lang="ko-KR" altLang="en-US" sz="1400" b="0" dirty="0">
                <a:solidFill>
                  <a:srgbClr val="2F5597"/>
                </a:solidFill>
                <a:latin typeface="맑은 고딕"/>
                <a:ea typeface="맑은 고딕"/>
                <a:cs typeface="맑은 고딕"/>
              </a:rPr>
              <a:t>수동태(능동/수동 구별) (자동사 go는 수동태 불가) · 수동태(능동/수동 구별) (강이 '얼려진' 상태 → be + p.p.)</a:t>
            </a:r>
            <a:endParaRPr lang="ko-KR" sz="1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25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250"/>
                                        <p:tgtEl>
                                          <p:spTgt spid="1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250"/>
                                        <p:tgtEl>
                                          <p:spTgt spid="1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fade">
                                      <p:cBhvr>
                                        <p:cTn id="16" dur="250"/>
                                        <p:tgtEl>
                                          <p:spTgt spid="1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250"/>
                                        <p:tgtEl>
                                          <p:spTgt spid="2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fade">
                                      <p:cBhvr>
                                        <p:cTn id="22" dur="25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5" grpId="0" animBg="1"/>
      <p:bldP spid="16" grpId="0" animBg="1"/>
      <p:bldP spid="20" grpId="0" animBg="1"/>
      <p:bldP spid="21" grpId="0" animBg="1"/>
    </p:bldLst>
  </p:timing>
</p:sld>
</file>

<file path=ppt/slides/slide29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8000"/>
            </a:avLst>
          </a:prstGeom>
          <a:solidFill>
            <a:srgbClr val="1E2A5A"/>
          </a:solidFill>
          <a:ln>
            <a:noFill/>
          </a:ln>
        </p:spPr>
        <p:txBody>
          <a:bodyPr wrap="square" lIns="45720" tIns="18288" rIns="45720" bIns="18288" anchor="ctr" rtlCol="0">
            <a:noAutofit/>
          </a:bodyPr>
          <a:lstStyle/>
          <a:p>
            <a:pPr algn="ctr">
              <a:lnSpc>
                <a:spcPts val="2000"/>
              </a:lnSpc>
              <a:spcBef>
                <a:spcPts val="0"/>
              </a:spcBef>
              <a:spcAft>
                <a:spcPts val="0"/>
              </a:spcAft>
              <a:buNone/>
            </a:pPr>
            <a:r>
              <a:rPr lang="en-US" altLang="en-US" sz="1700" b="1" dirty="0">
                <a:solidFill>
                  <a:srgbClr val="FFFFFF"/>
                </a:solidFill>
                <a:latin typeface="Calibri"/>
                <a:ea typeface="맑은 고딕"/>
                <a:cs typeface="Calibri"/>
              </a:rPr>
              <a:t>L8</a:t>
            </a:r>
            <a:endParaRPr lang="ko-KR" sz="1700"/>
          </a:p>
        </p:txBody>
      </p:sp>
      <p:sp>
        <p:nvSpPr>
          <p:cNvPr id="3" name="hdr_chip"/>
          <p:cNvSpPr/>
          <p:nvPr/>
        </p:nvSpPr>
        <p:spPr>
          <a:xfrm>
            <a:off x="1755648" y="274320"/>
            <a:ext cx="1371600" cy="493776"/>
          </a:xfrm>
          <a:prstGeom prst="roundRect">
            <a:avLst>
              <a:gd name="adj" fmla="val 8000"/>
            </a:avLst>
          </a:prstGeom>
          <a:solidFill>
            <a:srgbClr val="E6EAF4"/>
          </a:solidFill>
          <a:ln>
            <a:noFill/>
          </a:ln>
        </p:spPr>
        <p:txBody>
          <a:bodyPr wrap="square" lIns="27432" tIns="18288" rIns="27432" bIns="18288" anchor="ctr" rtlCol="0">
            <a:noAutofit/>
          </a:bodyPr>
          <a:lstStyle/>
          <a:p>
            <a:pPr algn="ctr">
              <a:lnSpc>
                <a:spcPts val="1700"/>
              </a:lnSpc>
              <a:spcBef>
                <a:spcPts val="0"/>
              </a:spcBef>
              <a:spcAft>
                <a:spcPts val="0"/>
              </a:spcAft>
              <a:buNone/>
            </a:pPr>
            <a:r>
              <a:rPr lang="ko-KR" altLang="en-US" sz="1400" b="1" dirty="0">
                <a:solidFill>
                  <a:srgbClr val="1E2A5A"/>
                </a:solidFill>
                <a:latin typeface="맑은 고딕"/>
                <a:ea typeface="맑은 고딕"/>
                <a:cs typeface="맑은 고딕"/>
              </a:rPr>
              <a:t>PART 5 · 5</a:t>
            </a:r>
            <a:endParaRPr lang="ko-KR" sz="1400"/>
          </a:p>
        </p:txBody>
      </p:sp>
      <p:sp>
        <p:nvSpPr>
          <p:cNvPr id="4" name="hdr_q"/>
          <p:cNvSpPr txBox="1"/>
          <p:nvPr/>
        </p:nvSpPr>
        <p:spPr>
          <a:xfrm>
            <a:off x="3246120" y="246888"/>
            <a:ext cx="8485632" cy="548640"/>
          </a:xfrm>
          <a:prstGeom prst="rect">
            <a:avLst/>
          </a:prstGeom>
          <a:noFill/>
        </p:spPr>
        <p:txBody>
          <a:bodyPr wrap="square" lIns="109728" tIns="54864" rIns="109728" bIns="54864" anchor="ctr" rtlCol="0">
            <a:noAutofit/>
          </a:bodyPr>
          <a:lstStyle/>
          <a:p>
            <a:pPr algn="l">
              <a:lnSpc>
                <a:spcPts val="2400"/>
              </a:lnSpc>
              <a:spcBef>
                <a:spcPts val="0"/>
              </a:spcBef>
              <a:spcAft>
                <a:spcPts val="0"/>
              </a:spcAft>
              <a:buNone/>
            </a:pPr>
            <a:r>
              <a:rPr lang="ko-KR" altLang="en-US" sz="2000" b="1" dirty="0">
                <a:solidFill>
                  <a:srgbClr val="1F2328"/>
                </a:solidFill>
                <a:latin typeface="맑은 고딕"/>
                <a:ea typeface="맑은 고딕"/>
                <a:cs typeface="맑은 고딕"/>
              </a:rPr>
              <a:t>[  ] 안에서 어법상 알맞은 것을 고르시오.</a:t>
            </a:r>
            <a:endParaRPr lang="ko-KR" sz="2000"/>
          </a:p>
        </p:txBody>
      </p:sp>
      <p:sp>
        <p:nvSpPr>
          <p:cNvPr id="5" name="ftr_exam"/>
          <p:cNvSpPr txBox="1"/>
          <p:nvPr/>
        </p:nvSpPr>
        <p:spPr>
          <a:xfrm>
            <a:off x="457200" y="6519672"/>
            <a:ext cx="5669280" cy="256032"/>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8</a:t>
            </a:r>
            <a:endParaRPr lang="ko-KR" sz="1000"/>
          </a:p>
        </p:txBody>
      </p:sp>
      <p:sp>
        <p:nvSpPr>
          <p:cNvPr id="6" name="ftr_hint"/>
          <p:cNvSpPr txBox="1"/>
          <p:nvPr/>
        </p:nvSpPr>
        <p:spPr>
          <a:xfrm>
            <a:off x="5971032" y="6519672"/>
            <a:ext cx="5760720" cy="256032"/>
          </a:xfrm>
          <a:prstGeom prst="rect">
            <a:avLst/>
          </a:prstGeom>
          <a:noFill/>
        </p:spPr>
        <p:txBody>
          <a:bodyPr wrap="square" lIns="0" tIns="0" rIns="0" bIns="0" anchor="t" rtlCol="0">
            <a:noAutofit/>
          </a:bodyPr>
          <a:lstStyle/>
          <a:p>
            <a:pPr algn="r">
              <a:lnSpc>
                <a:spcPts val="1200"/>
              </a:lnSpc>
              <a:spcBef>
                <a:spcPts val="0"/>
              </a:spcBef>
              <a:spcAft>
                <a:spcPts val="0"/>
              </a:spcAft>
              <a:buNone/>
            </a:pPr>
            <a:r>
              <a:rPr lang="ko-KR" altLang="en-US" sz="1000" b="0" dirty="0">
                <a:solidFill>
                  <a:srgbClr val="7A808C"/>
                </a:solidFill>
                <a:latin typeface="맑은 고딕"/>
                <a:ea typeface="맑은 고딕"/>
                <a:cs typeface="맑은 고딕"/>
              </a:rPr>
              <a:t>클릭 ① 정답(빨간색) + 문법 포인트 공개</a:t>
            </a:r>
            <a:endParaRPr lang="ko-KR" sz="1000"/>
          </a:p>
        </p:txBody>
      </p:sp>
      <p:sp>
        <p:nvSpPr>
          <p:cNvPr id="7" name="item_card_1"/>
          <p:cNvSpPr/>
          <p:nvPr/>
        </p:nvSpPr>
        <p:spPr>
          <a:xfrm>
            <a:off x="457200" y="950976"/>
            <a:ext cx="11274552" cy="1161034"/>
          </a:xfrm>
          <a:prstGeom prst="roundRect">
            <a:avLst>
              <a:gd name="adj" fmla="val 6000"/>
            </a:avLst>
          </a:prstGeom>
          <a:solidFill>
            <a:srgbClr val="F3F5F9"/>
          </a:solidFill>
          <a:ln w="12700">
            <a:solidFill>
              <a:srgbClr val="D9DFEA"/>
            </a:solidFill>
          </a:ln>
        </p:spPr>
        <p:txBody>
          <a:bodyPr rtlCol="0" anchor="ctr"/>
          <a:lstStyle/>
          <a:p>
            <a:pPr algn="ctr"/>
          </a:p>
        </p:txBody>
      </p:sp>
      <p:sp>
        <p:nvSpPr>
          <p:cNvPr id="8" name="kor_1"/>
          <p:cNvSpPr txBox="1"/>
          <p:nvPr/>
        </p:nvSpPr>
        <p:spPr>
          <a:xfrm>
            <a:off x="457200" y="1060704"/>
            <a:ext cx="11274552" cy="363728"/>
          </a:xfrm>
          <a:prstGeom prst="rect">
            <a:avLst/>
          </a:prstGeom>
          <a:noFill/>
        </p:spPr>
        <p:txBody>
          <a:bodyPr wrap="square" lIns="228600" tIns="54864" rIns="228600" bIns="54864" anchor="t" rtlCol="0">
            <a:noAutofit/>
          </a:bodyPr>
          <a:lstStyle/>
          <a:p>
            <a:pPr algn="l">
              <a:lnSpc>
                <a:spcPts val="2000"/>
              </a:lnSpc>
              <a:spcBef>
                <a:spcPts val="0"/>
              </a:spcBef>
              <a:spcAft>
                <a:spcPts val="0"/>
              </a:spcAft>
              <a:buNone/>
            </a:pPr>
            <a:r>
              <a:rPr lang="en-US" altLang="en-US" sz="1600" b="1" dirty="0">
                <a:solidFill>
                  <a:srgbClr val="1E2A5A"/>
                </a:solidFill>
                <a:latin typeface="Calibri"/>
                <a:ea typeface="맑은 고딕"/>
                <a:cs typeface="Calibri"/>
              </a:rPr>
              <a:t>13.  </a:t>
            </a:r>
            <a:r>
              <a:rPr lang="ko-KR" altLang="en-US" sz="1600" b="0" dirty="0">
                <a:solidFill>
                  <a:srgbClr val="3C4558"/>
                </a:solidFill>
                <a:latin typeface="맑은 고딕"/>
                <a:ea typeface="맑은 고딕"/>
                <a:cs typeface="맑은 고딕"/>
              </a:rPr>
              <a:t>그가 물고기를 잡는 것은 불가능했다.</a:t>
            </a:r>
            <a:endParaRPr lang="ko-KR" sz="1600"/>
          </a:p>
        </p:txBody>
      </p:sp>
      <p:sp>
        <p:nvSpPr>
          <p:cNvPr id="9" name="eng_1"/>
          <p:cNvSpPr txBox="1"/>
          <p:nvPr/>
        </p:nvSpPr>
        <p:spPr>
          <a:xfrm>
            <a:off x="457200" y="1369568"/>
            <a:ext cx="11274552" cy="4653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solidFill>
                <a:latin typeface="Calibri"/>
                <a:ea typeface="맑은 고딕"/>
                <a:cs typeface="Calibri"/>
              </a:rPr>
              <a:t>It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were</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was</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impossible for him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to catch</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catching</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any fish.</a:t>
            </a:r>
            <a:endParaRPr lang="ko-KR" sz="2000"/>
          </a:p>
        </p:txBody>
      </p:sp>
      <p:sp>
        <p:nvSpPr>
          <p:cNvPr id="10" name="rv_eng_1"/>
          <p:cNvSpPr txBox="1"/>
          <p:nvPr/>
        </p:nvSpPr>
        <p:spPr>
          <a:xfrm>
            <a:off x="457200" y="1369568"/>
            <a:ext cx="11274552" cy="4653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alpha val="0"/>
                  </a:srgbClr>
                </a:solidFill>
                <a:latin typeface="Calibri"/>
                <a:ea typeface="맑은 고딕"/>
                <a:cs typeface="Calibri"/>
              </a:rPr>
              <a:t>It </a:t>
            </a:r>
            <a:r>
              <a:rPr lang="en-US" altLang="en-US" sz="2000" b="1" dirty="0">
                <a:solidFill>
                  <a:srgbClr val="C00000">
                    <a:alpha val="0"/>
                  </a:srgbClr>
                </a:solidFill>
                <a:latin typeface="Calibri"/>
                <a:ea typeface="맑은 고딕"/>
                <a:cs typeface="Calibri"/>
              </a:rPr>
              <a:t>[ </a:t>
            </a:r>
            <a:r>
              <a:rPr lang="en-US" altLang="en-US" sz="2000" b="1" dirty="0">
                <a:solidFill>
                  <a:srgbClr val="C00000">
                    <a:alpha val="0"/>
                  </a:srgbClr>
                </a:solidFill>
                <a:latin typeface="Calibri"/>
                <a:ea typeface="맑은 고딕"/>
                <a:cs typeface="Calibri"/>
              </a:rPr>
              <a:t>were</a:t>
            </a:r>
            <a:r>
              <a:rPr lang="en-US" altLang="en-US" sz="2000" b="1" dirty="0">
                <a:solidFill>
                  <a:srgbClr val="C00000">
                    <a:alpha val="0"/>
                  </a:srgbClr>
                </a:solidFill>
                <a:latin typeface="Calibri"/>
                <a:ea typeface="맑은 고딕"/>
                <a:cs typeface="Calibri"/>
              </a:rPr>
              <a:t> / </a:t>
            </a:r>
            <a:r>
              <a:rPr lang="en-US" altLang="en-US" sz="2000" b="1" dirty="0">
                <a:solidFill>
                  <a:srgbClr val="C00000"/>
                </a:solidFill>
                <a:latin typeface="Calibri"/>
                <a:ea typeface="맑은 고딕"/>
                <a:cs typeface="Calibri"/>
              </a:rPr>
              <a:t>was</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impossible for him </a:t>
            </a:r>
            <a:r>
              <a:rPr lang="en-US" altLang="en-US" sz="2000" b="1" dirty="0">
                <a:solidFill>
                  <a:srgbClr val="C00000">
                    <a:alpha val="0"/>
                  </a:srgbClr>
                </a:solidFill>
                <a:latin typeface="Calibri"/>
                <a:ea typeface="맑은 고딕"/>
                <a:cs typeface="Calibri"/>
              </a:rPr>
              <a:t>[ </a:t>
            </a:r>
            <a:r>
              <a:rPr lang="en-US" altLang="en-US" sz="2000" b="1" dirty="0">
                <a:solidFill>
                  <a:srgbClr val="C00000"/>
                </a:solidFill>
                <a:latin typeface="Calibri"/>
                <a:ea typeface="맑은 고딕"/>
                <a:cs typeface="Calibri"/>
              </a:rPr>
              <a:t>to catch</a:t>
            </a:r>
            <a:r>
              <a:rPr lang="en-US" altLang="en-US" sz="2000" b="1" dirty="0">
                <a:solidFill>
                  <a:srgbClr val="C00000">
                    <a:alpha val="0"/>
                  </a:srgbClr>
                </a:solidFill>
                <a:latin typeface="Calibri"/>
                <a:ea typeface="맑은 고딕"/>
                <a:cs typeface="Calibri"/>
              </a:rPr>
              <a:t> / </a:t>
            </a:r>
            <a:r>
              <a:rPr lang="en-US" altLang="en-US" sz="2000" b="1" dirty="0">
                <a:solidFill>
                  <a:srgbClr val="C00000">
                    <a:alpha val="0"/>
                  </a:srgbClr>
                </a:solidFill>
                <a:latin typeface="Calibri"/>
                <a:ea typeface="맑은 고딕"/>
                <a:cs typeface="Calibri"/>
              </a:rPr>
              <a:t>catching</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any fish.</a:t>
            </a:r>
            <a:endParaRPr lang="ko-KR" sz="2000"/>
          </a:p>
        </p:txBody>
      </p:sp>
      <p:sp>
        <p:nvSpPr>
          <p:cNvPr id="11" name="rv_point_1"/>
          <p:cNvSpPr txBox="1"/>
          <p:nvPr/>
        </p:nvSpPr>
        <p:spPr>
          <a:xfrm>
            <a:off x="457200" y="1780032"/>
            <a:ext cx="11274552" cy="331978"/>
          </a:xfrm>
          <a:prstGeom prst="rect">
            <a:avLst/>
          </a:prstGeom>
          <a:noFill/>
        </p:spPr>
        <p:txBody>
          <a:bodyPr wrap="square" lIns="228600" tIns="54864" rIns="228600" bIns="54864" anchor="t" rtlCol="0">
            <a:noAutofit/>
          </a:bodyPr>
          <a:lstStyle/>
          <a:p>
            <a:pPr algn="l">
              <a:lnSpc>
                <a:spcPts val="1750"/>
              </a:lnSpc>
              <a:spcBef>
                <a:spcPts val="0"/>
              </a:spcBef>
              <a:spcAft>
                <a:spcPts val="0"/>
              </a:spcAft>
              <a:buNone/>
            </a:pPr>
            <a:r>
              <a:rPr lang="ko-KR" altLang="en-US" sz="1400" b="1" dirty="0">
                <a:solidFill>
                  <a:srgbClr val="C00000"/>
                </a:solidFill>
                <a:latin typeface="맑은 고딕"/>
                <a:ea typeface="맑은 고딕"/>
                <a:cs typeface="맑은 고딕"/>
              </a:rPr>
              <a:t>포인트  </a:t>
            </a:r>
            <a:r>
              <a:rPr lang="ko-KR" altLang="en-US" sz="1400" b="0" dirty="0">
                <a:solidFill>
                  <a:srgbClr val="2F5597"/>
                </a:solidFill>
                <a:latin typeface="맑은 고딕"/>
                <a:ea typeface="맑은 고딕"/>
                <a:cs typeface="맑은 고딕"/>
              </a:rPr>
              <a:t>동사의 수 일치 (가주어 It 단수) · to부정사/동명사/동사원형 (가주어 It ~ 진주어 to부정사)</a:t>
            </a:r>
            <a:endParaRPr lang="ko-KR" sz="1400"/>
          </a:p>
        </p:txBody>
      </p:sp>
      <p:sp>
        <p:nvSpPr>
          <p:cNvPr id="12" name="item_card_2"/>
          <p:cNvSpPr/>
          <p:nvPr/>
        </p:nvSpPr>
        <p:spPr>
          <a:xfrm>
            <a:off x="457200" y="2221738"/>
            <a:ext cx="11274552" cy="1516634"/>
          </a:xfrm>
          <a:prstGeom prst="roundRect">
            <a:avLst>
              <a:gd name="adj" fmla="val 6000"/>
            </a:avLst>
          </a:prstGeom>
          <a:solidFill>
            <a:srgbClr val="F3F5F9"/>
          </a:solidFill>
          <a:ln w="12700">
            <a:solidFill>
              <a:srgbClr val="D9DFEA"/>
            </a:solidFill>
          </a:ln>
        </p:spPr>
        <p:txBody>
          <a:bodyPr rtlCol="0" anchor="ctr"/>
          <a:lstStyle/>
          <a:p>
            <a:pPr algn="ctr"/>
          </a:p>
        </p:txBody>
      </p:sp>
      <p:sp>
        <p:nvSpPr>
          <p:cNvPr id="13" name="kor_2"/>
          <p:cNvSpPr txBox="1"/>
          <p:nvPr/>
        </p:nvSpPr>
        <p:spPr>
          <a:xfrm>
            <a:off x="457200" y="2331466"/>
            <a:ext cx="11274552" cy="363728"/>
          </a:xfrm>
          <a:prstGeom prst="rect">
            <a:avLst/>
          </a:prstGeom>
          <a:noFill/>
        </p:spPr>
        <p:txBody>
          <a:bodyPr wrap="square" lIns="228600" tIns="54864" rIns="228600" bIns="54864" anchor="t" rtlCol="0">
            <a:noAutofit/>
          </a:bodyPr>
          <a:lstStyle/>
          <a:p>
            <a:pPr algn="l">
              <a:lnSpc>
                <a:spcPts val="2000"/>
              </a:lnSpc>
              <a:spcBef>
                <a:spcPts val="0"/>
              </a:spcBef>
              <a:spcAft>
                <a:spcPts val="0"/>
              </a:spcAft>
              <a:buNone/>
            </a:pPr>
            <a:r>
              <a:rPr lang="en-US" altLang="en-US" sz="1600" b="1" dirty="0">
                <a:solidFill>
                  <a:srgbClr val="1E2A5A"/>
                </a:solidFill>
                <a:latin typeface="Calibri"/>
                <a:ea typeface="맑은 고딕"/>
                <a:cs typeface="Calibri"/>
              </a:rPr>
              <a:t>14.  </a:t>
            </a:r>
            <a:r>
              <a:rPr lang="ko-KR" altLang="en-US" sz="1600" b="0" dirty="0">
                <a:solidFill>
                  <a:srgbClr val="3C4558"/>
                </a:solidFill>
                <a:latin typeface="맑은 고딕"/>
                <a:ea typeface="맑은 고딕"/>
                <a:cs typeface="맑은 고딕"/>
              </a:rPr>
              <a:t>남자는 몹시 낙심하여 하늘을 향해 외쳤다. "어떻게 해야 합니까? 제발 저를 도와주세요."</a:t>
            </a:r>
            <a:endParaRPr lang="ko-KR" sz="1600"/>
          </a:p>
        </p:txBody>
      </p:sp>
      <p:sp>
        <p:nvSpPr>
          <p:cNvPr id="14" name="eng_2"/>
          <p:cNvSpPr txBox="1"/>
          <p:nvPr/>
        </p:nvSpPr>
        <p:spPr>
          <a:xfrm>
            <a:off x="457200" y="2640330"/>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solidFill>
                <a:latin typeface="Calibri"/>
                <a:ea typeface="맑은 고딕"/>
                <a:cs typeface="Calibri"/>
              </a:rPr>
              <a:t>The man was so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disappointed</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disappointing</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that he cried out to the sky, “What should I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to do</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do</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Please help me.”</a:t>
            </a:r>
            <a:endParaRPr lang="ko-KR" sz="2000"/>
          </a:p>
        </p:txBody>
      </p:sp>
      <p:sp>
        <p:nvSpPr>
          <p:cNvPr id="15" name="rv_eng_2"/>
          <p:cNvSpPr txBox="1"/>
          <p:nvPr/>
        </p:nvSpPr>
        <p:spPr>
          <a:xfrm>
            <a:off x="457200" y="2640330"/>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alpha val="0"/>
                  </a:srgbClr>
                </a:solidFill>
                <a:latin typeface="Calibri"/>
                <a:ea typeface="맑은 고딕"/>
                <a:cs typeface="Calibri"/>
              </a:rPr>
              <a:t>The man was so </a:t>
            </a:r>
            <a:r>
              <a:rPr lang="en-US" altLang="en-US" sz="2000" b="1" dirty="0">
                <a:solidFill>
                  <a:srgbClr val="C00000">
                    <a:alpha val="0"/>
                  </a:srgbClr>
                </a:solidFill>
                <a:latin typeface="Calibri"/>
                <a:ea typeface="맑은 고딕"/>
                <a:cs typeface="Calibri"/>
              </a:rPr>
              <a:t>[ </a:t>
            </a:r>
            <a:r>
              <a:rPr lang="en-US" altLang="en-US" sz="2000" b="1" dirty="0">
                <a:solidFill>
                  <a:srgbClr val="C00000"/>
                </a:solidFill>
                <a:latin typeface="Calibri"/>
                <a:ea typeface="맑은 고딕"/>
                <a:cs typeface="Calibri"/>
              </a:rPr>
              <a:t>disappointed</a:t>
            </a:r>
            <a:r>
              <a:rPr lang="en-US" altLang="en-US" sz="2000" b="1" dirty="0">
                <a:solidFill>
                  <a:srgbClr val="C00000">
                    <a:alpha val="0"/>
                  </a:srgbClr>
                </a:solidFill>
                <a:latin typeface="Calibri"/>
                <a:ea typeface="맑은 고딕"/>
                <a:cs typeface="Calibri"/>
              </a:rPr>
              <a:t> / </a:t>
            </a:r>
            <a:r>
              <a:rPr lang="en-US" altLang="en-US" sz="2000" b="1" dirty="0">
                <a:solidFill>
                  <a:srgbClr val="C00000">
                    <a:alpha val="0"/>
                  </a:srgbClr>
                </a:solidFill>
                <a:latin typeface="Calibri"/>
                <a:ea typeface="맑은 고딕"/>
                <a:cs typeface="Calibri"/>
              </a:rPr>
              <a:t>disappointing</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that he cried out to the sky, “What should I </a:t>
            </a:r>
            <a:r>
              <a:rPr lang="en-US" altLang="en-US" sz="2000" b="1" dirty="0">
                <a:solidFill>
                  <a:srgbClr val="C00000">
                    <a:alpha val="0"/>
                  </a:srgbClr>
                </a:solidFill>
                <a:latin typeface="Calibri"/>
                <a:ea typeface="맑은 고딕"/>
                <a:cs typeface="Calibri"/>
              </a:rPr>
              <a:t>[ </a:t>
            </a:r>
            <a:r>
              <a:rPr lang="en-US" altLang="en-US" sz="2000" b="1" dirty="0">
                <a:solidFill>
                  <a:srgbClr val="C00000">
                    <a:alpha val="0"/>
                  </a:srgbClr>
                </a:solidFill>
                <a:latin typeface="Calibri"/>
                <a:ea typeface="맑은 고딕"/>
                <a:cs typeface="Calibri"/>
              </a:rPr>
              <a:t>to do</a:t>
            </a:r>
            <a:r>
              <a:rPr lang="en-US" altLang="en-US" sz="2000" b="1" dirty="0">
                <a:solidFill>
                  <a:srgbClr val="C00000">
                    <a:alpha val="0"/>
                  </a:srgbClr>
                </a:solidFill>
                <a:latin typeface="Calibri"/>
                <a:ea typeface="맑은 고딕"/>
                <a:cs typeface="Calibri"/>
              </a:rPr>
              <a:t> / </a:t>
            </a:r>
            <a:r>
              <a:rPr lang="en-US" altLang="en-US" sz="2000" b="1" dirty="0">
                <a:solidFill>
                  <a:srgbClr val="C00000"/>
                </a:solidFill>
                <a:latin typeface="Calibri"/>
                <a:ea typeface="맑은 고딕"/>
                <a:cs typeface="Calibri"/>
              </a:rPr>
              <a:t>do</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Please help me.”</a:t>
            </a:r>
            <a:endParaRPr lang="ko-KR" sz="2000"/>
          </a:p>
        </p:txBody>
      </p:sp>
      <p:sp>
        <p:nvSpPr>
          <p:cNvPr id="16" name="rv_point_2"/>
          <p:cNvSpPr txBox="1"/>
          <p:nvPr/>
        </p:nvSpPr>
        <p:spPr>
          <a:xfrm>
            <a:off x="457200" y="3406394"/>
            <a:ext cx="11274552" cy="331978"/>
          </a:xfrm>
          <a:prstGeom prst="rect">
            <a:avLst/>
          </a:prstGeom>
          <a:noFill/>
        </p:spPr>
        <p:txBody>
          <a:bodyPr wrap="square" lIns="228600" tIns="54864" rIns="228600" bIns="54864" anchor="t" rtlCol="0">
            <a:noAutofit/>
          </a:bodyPr>
          <a:lstStyle/>
          <a:p>
            <a:pPr algn="l">
              <a:lnSpc>
                <a:spcPts val="1750"/>
              </a:lnSpc>
              <a:spcBef>
                <a:spcPts val="0"/>
              </a:spcBef>
              <a:spcAft>
                <a:spcPts val="0"/>
              </a:spcAft>
              <a:buNone/>
            </a:pPr>
            <a:r>
              <a:rPr lang="ko-KR" altLang="en-US" sz="1400" b="1" dirty="0">
                <a:solidFill>
                  <a:srgbClr val="C00000"/>
                </a:solidFill>
                <a:latin typeface="맑은 고딕"/>
                <a:ea typeface="맑은 고딕"/>
                <a:cs typeface="맑은 고딕"/>
              </a:rPr>
              <a:t>포인트  </a:t>
            </a:r>
            <a:r>
              <a:rPr lang="ko-KR" altLang="en-US" sz="1400" b="0" dirty="0">
                <a:solidFill>
                  <a:srgbClr val="2F5597"/>
                </a:solidFill>
                <a:latin typeface="맑은 고딕"/>
                <a:ea typeface="맑은 고딕"/>
                <a:cs typeface="맑은 고딕"/>
              </a:rPr>
              <a:t>분사 (실망을 '느낀' 사람 → 과거분사) · to부정사/동명사/동사원형 (조동사 should + 동사원형)</a:t>
            </a:r>
            <a:endParaRPr lang="ko-KR" sz="1400"/>
          </a:p>
        </p:txBody>
      </p:sp>
      <p:sp>
        <p:nvSpPr>
          <p:cNvPr id="17" name="item_card_3"/>
          <p:cNvSpPr/>
          <p:nvPr/>
        </p:nvSpPr>
        <p:spPr>
          <a:xfrm>
            <a:off x="457200" y="3848100"/>
            <a:ext cx="11274552" cy="1516634"/>
          </a:xfrm>
          <a:prstGeom prst="roundRect">
            <a:avLst>
              <a:gd name="adj" fmla="val 6000"/>
            </a:avLst>
          </a:prstGeom>
          <a:solidFill>
            <a:srgbClr val="F3F5F9"/>
          </a:solidFill>
          <a:ln w="12700">
            <a:solidFill>
              <a:srgbClr val="D9DFEA"/>
            </a:solidFill>
          </a:ln>
        </p:spPr>
        <p:txBody>
          <a:bodyPr rtlCol="0" anchor="ctr"/>
          <a:lstStyle/>
          <a:p>
            <a:pPr algn="ctr"/>
          </a:p>
        </p:txBody>
      </p:sp>
      <p:sp>
        <p:nvSpPr>
          <p:cNvPr id="18" name="kor_3"/>
          <p:cNvSpPr txBox="1"/>
          <p:nvPr/>
        </p:nvSpPr>
        <p:spPr>
          <a:xfrm>
            <a:off x="457200" y="3957828"/>
            <a:ext cx="11274552" cy="363728"/>
          </a:xfrm>
          <a:prstGeom prst="rect">
            <a:avLst/>
          </a:prstGeom>
          <a:noFill/>
        </p:spPr>
        <p:txBody>
          <a:bodyPr wrap="square" lIns="228600" tIns="54864" rIns="228600" bIns="54864" anchor="t" rtlCol="0">
            <a:noAutofit/>
          </a:bodyPr>
          <a:lstStyle/>
          <a:p>
            <a:pPr algn="l">
              <a:lnSpc>
                <a:spcPts val="2000"/>
              </a:lnSpc>
              <a:spcBef>
                <a:spcPts val="0"/>
              </a:spcBef>
              <a:spcAft>
                <a:spcPts val="0"/>
              </a:spcAft>
              <a:buNone/>
            </a:pPr>
            <a:r>
              <a:rPr lang="en-US" altLang="en-US" sz="1600" b="1" dirty="0">
                <a:solidFill>
                  <a:srgbClr val="1E2A5A"/>
                </a:solidFill>
                <a:latin typeface="Calibri"/>
                <a:ea typeface="맑은 고딕"/>
                <a:cs typeface="Calibri"/>
              </a:rPr>
              <a:t>15.  </a:t>
            </a:r>
            <a:r>
              <a:rPr lang="ko-KR" altLang="en-US" sz="1600" b="0" dirty="0">
                <a:solidFill>
                  <a:srgbClr val="3C4558"/>
                </a:solidFill>
                <a:latin typeface="맑은 고딕"/>
                <a:ea typeface="맑은 고딕"/>
                <a:cs typeface="맑은 고딕"/>
              </a:rPr>
              <a:t>그러자 얼음이 녹더니 물속에서 잉어 세 마리가 갑자기 튀어나왔다.</a:t>
            </a:r>
            <a:endParaRPr lang="ko-KR" sz="1600"/>
          </a:p>
        </p:txBody>
      </p:sp>
      <p:sp>
        <p:nvSpPr>
          <p:cNvPr id="19" name="eng_3"/>
          <p:cNvSpPr txBox="1"/>
          <p:nvPr/>
        </p:nvSpPr>
        <p:spPr>
          <a:xfrm>
            <a:off x="457200" y="4266692"/>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solidFill>
                <a:latin typeface="Calibri"/>
                <a:ea typeface="맑은 고딕"/>
                <a:cs typeface="Calibri"/>
              </a:rPr>
              <a:t>Then the ice melted, and three carp suddenly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was come</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came</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out of the water.</a:t>
            </a:r>
            <a:endParaRPr lang="ko-KR" sz="2000"/>
          </a:p>
        </p:txBody>
      </p:sp>
      <p:sp>
        <p:nvSpPr>
          <p:cNvPr id="20" name="rv_eng_3"/>
          <p:cNvSpPr txBox="1"/>
          <p:nvPr/>
        </p:nvSpPr>
        <p:spPr>
          <a:xfrm>
            <a:off x="457200" y="4266692"/>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alpha val="0"/>
                  </a:srgbClr>
                </a:solidFill>
                <a:latin typeface="Calibri"/>
                <a:ea typeface="맑은 고딕"/>
                <a:cs typeface="Calibri"/>
              </a:rPr>
              <a:t>Then the ice melted, and three carp suddenly </a:t>
            </a:r>
            <a:r>
              <a:rPr lang="en-US" altLang="en-US" sz="2000" b="1" dirty="0">
                <a:solidFill>
                  <a:srgbClr val="C00000">
                    <a:alpha val="0"/>
                  </a:srgbClr>
                </a:solidFill>
                <a:latin typeface="Calibri"/>
                <a:ea typeface="맑은 고딕"/>
                <a:cs typeface="Calibri"/>
              </a:rPr>
              <a:t>[ </a:t>
            </a:r>
            <a:r>
              <a:rPr lang="en-US" altLang="en-US" sz="2000" b="1" dirty="0">
                <a:solidFill>
                  <a:srgbClr val="C00000">
                    <a:alpha val="0"/>
                  </a:srgbClr>
                </a:solidFill>
                <a:latin typeface="Calibri"/>
                <a:ea typeface="맑은 고딕"/>
                <a:cs typeface="Calibri"/>
              </a:rPr>
              <a:t>was come</a:t>
            </a:r>
            <a:r>
              <a:rPr lang="en-US" altLang="en-US" sz="2000" b="1" dirty="0">
                <a:solidFill>
                  <a:srgbClr val="C00000">
                    <a:alpha val="0"/>
                  </a:srgbClr>
                </a:solidFill>
                <a:latin typeface="Calibri"/>
                <a:ea typeface="맑은 고딕"/>
                <a:cs typeface="Calibri"/>
              </a:rPr>
              <a:t> / </a:t>
            </a:r>
            <a:r>
              <a:rPr lang="en-US" altLang="en-US" sz="2000" b="1" dirty="0">
                <a:solidFill>
                  <a:srgbClr val="C00000"/>
                </a:solidFill>
                <a:latin typeface="Calibri"/>
                <a:ea typeface="맑은 고딕"/>
                <a:cs typeface="Calibri"/>
              </a:rPr>
              <a:t>came</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out of the water.</a:t>
            </a:r>
            <a:endParaRPr lang="ko-KR" sz="2000"/>
          </a:p>
        </p:txBody>
      </p:sp>
      <p:sp>
        <p:nvSpPr>
          <p:cNvPr id="21" name="rv_point_3"/>
          <p:cNvSpPr txBox="1"/>
          <p:nvPr/>
        </p:nvSpPr>
        <p:spPr>
          <a:xfrm>
            <a:off x="457200" y="5032756"/>
            <a:ext cx="11274552" cy="331978"/>
          </a:xfrm>
          <a:prstGeom prst="rect">
            <a:avLst/>
          </a:prstGeom>
          <a:noFill/>
        </p:spPr>
        <p:txBody>
          <a:bodyPr wrap="square" lIns="228600" tIns="54864" rIns="228600" bIns="54864" anchor="t" rtlCol="0">
            <a:noAutofit/>
          </a:bodyPr>
          <a:lstStyle/>
          <a:p>
            <a:pPr algn="l">
              <a:lnSpc>
                <a:spcPts val="1750"/>
              </a:lnSpc>
              <a:spcBef>
                <a:spcPts val="0"/>
              </a:spcBef>
              <a:spcAft>
                <a:spcPts val="0"/>
              </a:spcAft>
              <a:buNone/>
            </a:pPr>
            <a:r>
              <a:rPr lang="ko-KR" altLang="en-US" sz="1400" b="1" dirty="0">
                <a:solidFill>
                  <a:srgbClr val="C00000"/>
                </a:solidFill>
                <a:latin typeface="맑은 고딕"/>
                <a:ea typeface="맑은 고딕"/>
                <a:cs typeface="맑은 고딕"/>
              </a:rPr>
              <a:t>포인트  </a:t>
            </a:r>
            <a:r>
              <a:rPr lang="ko-KR" altLang="en-US" sz="1400" b="0" dirty="0">
                <a:solidFill>
                  <a:srgbClr val="2F5597"/>
                </a:solidFill>
                <a:latin typeface="맑은 고딕"/>
                <a:ea typeface="맑은 고딕"/>
                <a:cs typeface="맑은 고딕"/>
              </a:rPr>
              <a:t>수동태(능동/수동 구별) (자동사 come은 수동태 불가)</a:t>
            </a:r>
            <a:endParaRPr lang="ko-KR" sz="1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25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250"/>
                                        <p:tgtEl>
                                          <p:spTgt spid="1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250"/>
                                        <p:tgtEl>
                                          <p:spTgt spid="1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fade">
                                      <p:cBhvr>
                                        <p:cTn id="16" dur="250"/>
                                        <p:tgtEl>
                                          <p:spTgt spid="1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250"/>
                                        <p:tgtEl>
                                          <p:spTgt spid="2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fade">
                                      <p:cBhvr>
                                        <p:cTn id="22" dur="25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5" grpId="0" animBg="1"/>
      <p:bldP spid="16" grpId="0" animBg="1"/>
      <p:bldP spid="20" grpId="0" animBg="1"/>
      <p:bldP spid="21" grpId="0" animBg="1"/>
    </p:bldLst>
  </p:timing>
</p:sld>
</file>

<file path=ppt/slides/slide29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8000"/>
            </a:avLst>
          </a:prstGeom>
          <a:solidFill>
            <a:srgbClr val="1E2A5A"/>
          </a:solidFill>
          <a:ln>
            <a:noFill/>
          </a:ln>
        </p:spPr>
        <p:txBody>
          <a:bodyPr wrap="square" lIns="45720" tIns="18288" rIns="45720" bIns="18288" anchor="ctr" rtlCol="0">
            <a:noAutofit/>
          </a:bodyPr>
          <a:lstStyle/>
          <a:p>
            <a:pPr algn="ctr">
              <a:lnSpc>
                <a:spcPts val="2000"/>
              </a:lnSpc>
              <a:spcBef>
                <a:spcPts val="0"/>
              </a:spcBef>
              <a:spcAft>
                <a:spcPts val="0"/>
              </a:spcAft>
              <a:buNone/>
            </a:pPr>
            <a:r>
              <a:rPr lang="en-US" altLang="en-US" sz="1700" b="1" dirty="0">
                <a:solidFill>
                  <a:srgbClr val="FFFFFF"/>
                </a:solidFill>
                <a:latin typeface="Calibri"/>
                <a:ea typeface="맑은 고딕"/>
                <a:cs typeface="Calibri"/>
              </a:rPr>
              <a:t>L8</a:t>
            </a:r>
            <a:endParaRPr lang="ko-KR" sz="1700"/>
          </a:p>
        </p:txBody>
      </p:sp>
      <p:sp>
        <p:nvSpPr>
          <p:cNvPr id="3" name="hdr_chip"/>
          <p:cNvSpPr/>
          <p:nvPr/>
        </p:nvSpPr>
        <p:spPr>
          <a:xfrm>
            <a:off x="1755648" y="274320"/>
            <a:ext cx="1371600" cy="493776"/>
          </a:xfrm>
          <a:prstGeom prst="roundRect">
            <a:avLst>
              <a:gd name="adj" fmla="val 8000"/>
            </a:avLst>
          </a:prstGeom>
          <a:solidFill>
            <a:srgbClr val="E6EAF4"/>
          </a:solidFill>
          <a:ln>
            <a:noFill/>
          </a:ln>
        </p:spPr>
        <p:txBody>
          <a:bodyPr wrap="square" lIns="27432" tIns="18288" rIns="27432" bIns="18288" anchor="ctr" rtlCol="0">
            <a:noAutofit/>
          </a:bodyPr>
          <a:lstStyle/>
          <a:p>
            <a:pPr algn="ctr">
              <a:lnSpc>
                <a:spcPts val="1700"/>
              </a:lnSpc>
              <a:spcBef>
                <a:spcPts val="0"/>
              </a:spcBef>
              <a:spcAft>
                <a:spcPts val="0"/>
              </a:spcAft>
              <a:buNone/>
            </a:pPr>
            <a:r>
              <a:rPr lang="ko-KR" altLang="en-US" sz="1400" b="1" dirty="0">
                <a:solidFill>
                  <a:srgbClr val="1E2A5A"/>
                </a:solidFill>
                <a:latin typeface="맑은 고딕"/>
                <a:ea typeface="맑은 고딕"/>
                <a:cs typeface="맑은 고딕"/>
              </a:rPr>
              <a:t>PART 5 · 6</a:t>
            </a:r>
            <a:endParaRPr lang="ko-KR" sz="1400"/>
          </a:p>
        </p:txBody>
      </p:sp>
      <p:sp>
        <p:nvSpPr>
          <p:cNvPr id="4" name="hdr_q"/>
          <p:cNvSpPr txBox="1"/>
          <p:nvPr/>
        </p:nvSpPr>
        <p:spPr>
          <a:xfrm>
            <a:off x="3246120" y="246888"/>
            <a:ext cx="8485632" cy="548640"/>
          </a:xfrm>
          <a:prstGeom prst="rect">
            <a:avLst/>
          </a:prstGeom>
          <a:noFill/>
        </p:spPr>
        <p:txBody>
          <a:bodyPr wrap="square" lIns="109728" tIns="54864" rIns="109728" bIns="54864" anchor="ctr" rtlCol="0">
            <a:noAutofit/>
          </a:bodyPr>
          <a:lstStyle/>
          <a:p>
            <a:pPr algn="l">
              <a:lnSpc>
                <a:spcPts val="2400"/>
              </a:lnSpc>
              <a:spcBef>
                <a:spcPts val="0"/>
              </a:spcBef>
              <a:spcAft>
                <a:spcPts val="0"/>
              </a:spcAft>
              <a:buNone/>
            </a:pPr>
            <a:r>
              <a:rPr lang="ko-KR" altLang="en-US" sz="2000" b="1" dirty="0">
                <a:solidFill>
                  <a:srgbClr val="1F2328"/>
                </a:solidFill>
                <a:latin typeface="맑은 고딕"/>
                <a:ea typeface="맑은 고딕"/>
                <a:cs typeface="맑은 고딕"/>
              </a:rPr>
              <a:t>[  ] 안에서 어법상 알맞은 것을 고르시오.</a:t>
            </a:r>
            <a:endParaRPr lang="ko-KR" sz="2000"/>
          </a:p>
        </p:txBody>
      </p:sp>
      <p:sp>
        <p:nvSpPr>
          <p:cNvPr id="5" name="ftr_exam"/>
          <p:cNvSpPr txBox="1"/>
          <p:nvPr/>
        </p:nvSpPr>
        <p:spPr>
          <a:xfrm>
            <a:off x="457200" y="6519672"/>
            <a:ext cx="5669280" cy="256032"/>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8</a:t>
            </a:r>
            <a:endParaRPr lang="ko-KR" sz="1000"/>
          </a:p>
        </p:txBody>
      </p:sp>
      <p:sp>
        <p:nvSpPr>
          <p:cNvPr id="6" name="ftr_hint"/>
          <p:cNvSpPr txBox="1"/>
          <p:nvPr/>
        </p:nvSpPr>
        <p:spPr>
          <a:xfrm>
            <a:off x="5971032" y="6519672"/>
            <a:ext cx="5760720" cy="256032"/>
          </a:xfrm>
          <a:prstGeom prst="rect">
            <a:avLst/>
          </a:prstGeom>
          <a:noFill/>
        </p:spPr>
        <p:txBody>
          <a:bodyPr wrap="square" lIns="0" tIns="0" rIns="0" bIns="0" anchor="t" rtlCol="0">
            <a:noAutofit/>
          </a:bodyPr>
          <a:lstStyle/>
          <a:p>
            <a:pPr algn="r">
              <a:lnSpc>
                <a:spcPts val="1200"/>
              </a:lnSpc>
              <a:spcBef>
                <a:spcPts val="0"/>
              </a:spcBef>
              <a:spcAft>
                <a:spcPts val="0"/>
              </a:spcAft>
              <a:buNone/>
            </a:pPr>
            <a:r>
              <a:rPr lang="ko-KR" altLang="en-US" sz="1000" b="0" dirty="0">
                <a:solidFill>
                  <a:srgbClr val="7A808C"/>
                </a:solidFill>
                <a:latin typeface="맑은 고딕"/>
                <a:ea typeface="맑은 고딕"/>
                <a:cs typeface="맑은 고딕"/>
              </a:rPr>
              <a:t>클릭 ① 정답(빨간색) + 문법 포인트 공개</a:t>
            </a:r>
            <a:endParaRPr lang="ko-KR" sz="1000"/>
          </a:p>
        </p:txBody>
      </p:sp>
      <p:sp>
        <p:nvSpPr>
          <p:cNvPr id="7" name="item_card_1"/>
          <p:cNvSpPr/>
          <p:nvPr/>
        </p:nvSpPr>
        <p:spPr>
          <a:xfrm>
            <a:off x="457200" y="950976"/>
            <a:ext cx="11274552" cy="1516634"/>
          </a:xfrm>
          <a:prstGeom prst="roundRect">
            <a:avLst>
              <a:gd name="adj" fmla="val 6000"/>
            </a:avLst>
          </a:prstGeom>
          <a:solidFill>
            <a:srgbClr val="F3F5F9"/>
          </a:solidFill>
          <a:ln w="12700">
            <a:solidFill>
              <a:srgbClr val="D9DFEA"/>
            </a:solidFill>
          </a:ln>
        </p:spPr>
        <p:txBody>
          <a:bodyPr rtlCol="0" anchor="ctr"/>
          <a:lstStyle/>
          <a:p>
            <a:pPr algn="ctr"/>
          </a:p>
        </p:txBody>
      </p:sp>
      <p:sp>
        <p:nvSpPr>
          <p:cNvPr id="8" name="kor_1"/>
          <p:cNvSpPr txBox="1"/>
          <p:nvPr/>
        </p:nvSpPr>
        <p:spPr>
          <a:xfrm>
            <a:off x="457200" y="1060704"/>
            <a:ext cx="11274552" cy="363728"/>
          </a:xfrm>
          <a:prstGeom prst="rect">
            <a:avLst/>
          </a:prstGeom>
          <a:noFill/>
        </p:spPr>
        <p:txBody>
          <a:bodyPr wrap="square" lIns="228600" tIns="54864" rIns="228600" bIns="54864" anchor="t" rtlCol="0">
            <a:noAutofit/>
          </a:bodyPr>
          <a:lstStyle/>
          <a:p>
            <a:pPr algn="l">
              <a:lnSpc>
                <a:spcPts val="2000"/>
              </a:lnSpc>
              <a:spcBef>
                <a:spcPts val="0"/>
              </a:spcBef>
              <a:spcAft>
                <a:spcPts val="0"/>
              </a:spcAft>
              <a:buNone/>
            </a:pPr>
            <a:r>
              <a:rPr lang="en-US" altLang="en-US" sz="1600" b="1" dirty="0">
                <a:solidFill>
                  <a:srgbClr val="1E2A5A"/>
                </a:solidFill>
                <a:latin typeface="Calibri"/>
                <a:ea typeface="맑은 고딕"/>
                <a:cs typeface="Calibri"/>
              </a:rPr>
              <a:t>16.  </a:t>
            </a:r>
            <a:r>
              <a:rPr lang="ko-KR" altLang="en-US" sz="1600" b="0" dirty="0">
                <a:solidFill>
                  <a:srgbClr val="3C4558"/>
                </a:solidFill>
                <a:latin typeface="맑은 고딕"/>
                <a:ea typeface="맑은 고딕"/>
                <a:cs typeface="맑은 고딕"/>
              </a:rPr>
              <a:t>남자는 집으로 돌아와 어머니께 그 물고기를 요리해 드렸다. 그러자 어머니의 병이 나았다.</a:t>
            </a:r>
            <a:endParaRPr lang="ko-KR" sz="1600"/>
          </a:p>
        </p:txBody>
      </p:sp>
      <p:sp>
        <p:nvSpPr>
          <p:cNvPr id="9" name="eng_1"/>
          <p:cNvSpPr txBox="1"/>
          <p:nvPr/>
        </p:nvSpPr>
        <p:spPr>
          <a:xfrm>
            <a:off x="457200" y="1369568"/>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solidFill>
                <a:latin typeface="Calibri"/>
                <a:ea typeface="맑은 고딕"/>
                <a:cs typeface="Calibri"/>
              </a:rPr>
              <a:t>The man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went</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was gone</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back home and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was cooked</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cooked</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the fish for his mother. Then his mother got well.</a:t>
            </a:r>
            <a:endParaRPr lang="ko-KR" sz="2000"/>
          </a:p>
        </p:txBody>
      </p:sp>
      <p:sp>
        <p:nvSpPr>
          <p:cNvPr id="10" name="rv_eng_1"/>
          <p:cNvSpPr txBox="1"/>
          <p:nvPr/>
        </p:nvSpPr>
        <p:spPr>
          <a:xfrm>
            <a:off x="457200" y="1369568"/>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alpha val="0"/>
                  </a:srgbClr>
                </a:solidFill>
                <a:latin typeface="Calibri"/>
                <a:ea typeface="맑은 고딕"/>
                <a:cs typeface="Calibri"/>
              </a:rPr>
              <a:t>The man </a:t>
            </a:r>
            <a:r>
              <a:rPr lang="en-US" altLang="en-US" sz="2000" b="1" dirty="0">
                <a:solidFill>
                  <a:srgbClr val="C00000">
                    <a:alpha val="0"/>
                  </a:srgbClr>
                </a:solidFill>
                <a:latin typeface="Calibri"/>
                <a:ea typeface="맑은 고딕"/>
                <a:cs typeface="Calibri"/>
              </a:rPr>
              <a:t>[ </a:t>
            </a:r>
            <a:r>
              <a:rPr lang="en-US" altLang="en-US" sz="2000" b="1" dirty="0">
                <a:solidFill>
                  <a:srgbClr val="C00000"/>
                </a:solidFill>
                <a:latin typeface="Calibri"/>
                <a:ea typeface="맑은 고딕"/>
                <a:cs typeface="Calibri"/>
              </a:rPr>
              <a:t>went</a:t>
            </a:r>
            <a:r>
              <a:rPr lang="en-US" altLang="en-US" sz="2000" b="1" dirty="0">
                <a:solidFill>
                  <a:srgbClr val="C00000">
                    <a:alpha val="0"/>
                  </a:srgbClr>
                </a:solidFill>
                <a:latin typeface="Calibri"/>
                <a:ea typeface="맑은 고딕"/>
                <a:cs typeface="Calibri"/>
              </a:rPr>
              <a:t> / </a:t>
            </a:r>
            <a:r>
              <a:rPr lang="en-US" altLang="en-US" sz="2000" b="1" dirty="0">
                <a:solidFill>
                  <a:srgbClr val="C00000">
                    <a:alpha val="0"/>
                  </a:srgbClr>
                </a:solidFill>
                <a:latin typeface="Calibri"/>
                <a:ea typeface="맑은 고딕"/>
                <a:cs typeface="Calibri"/>
              </a:rPr>
              <a:t>was gone</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back home and </a:t>
            </a:r>
            <a:r>
              <a:rPr lang="en-US" altLang="en-US" sz="2000" b="1" dirty="0">
                <a:solidFill>
                  <a:srgbClr val="C00000">
                    <a:alpha val="0"/>
                  </a:srgbClr>
                </a:solidFill>
                <a:latin typeface="Calibri"/>
                <a:ea typeface="맑은 고딕"/>
                <a:cs typeface="Calibri"/>
              </a:rPr>
              <a:t>[ </a:t>
            </a:r>
            <a:r>
              <a:rPr lang="en-US" altLang="en-US" sz="2000" b="1" dirty="0">
                <a:solidFill>
                  <a:srgbClr val="C00000">
                    <a:alpha val="0"/>
                  </a:srgbClr>
                </a:solidFill>
                <a:latin typeface="Calibri"/>
                <a:ea typeface="맑은 고딕"/>
                <a:cs typeface="Calibri"/>
              </a:rPr>
              <a:t>was cooked</a:t>
            </a:r>
            <a:r>
              <a:rPr lang="en-US" altLang="en-US" sz="2000" b="1" dirty="0">
                <a:solidFill>
                  <a:srgbClr val="C00000">
                    <a:alpha val="0"/>
                  </a:srgbClr>
                </a:solidFill>
                <a:latin typeface="Calibri"/>
                <a:ea typeface="맑은 고딕"/>
                <a:cs typeface="Calibri"/>
              </a:rPr>
              <a:t> / </a:t>
            </a:r>
            <a:r>
              <a:rPr lang="en-US" altLang="en-US" sz="2000" b="1" dirty="0">
                <a:solidFill>
                  <a:srgbClr val="C00000"/>
                </a:solidFill>
                <a:latin typeface="Calibri"/>
                <a:ea typeface="맑은 고딕"/>
                <a:cs typeface="Calibri"/>
              </a:rPr>
              <a:t>cooked</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the fish for his mother. Then his mother got well.</a:t>
            </a:r>
            <a:endParaRPr lang="ko-KR" sz="2000"/>
          </a:p>
        </p:txBody>
      </p:sp>
      <p:sp>
        <p:nvSpPr>
          <p:cNvPr id="11" name="rv_point_1"/>
          <p:cNvSpPr txBox="1"/>
          <p:nvPr/>
        </p:nvSpPr>
        <p:spPr>
          <a:xfrm>
            <a:off x="457200" y="2135632"/>
            <a:ext cx="11274552" cy="331978"/>
          </a:xfrm>
          <a:prstGeom prst="rect">
            <a:avLst/>
          </a:prstGeom>
          <a:noFill/>
        </p:spPr>
        <p:txBody>
          <a:bodyPr wrap="square" lIns="228600" tIns="54864" rIns="228600" bIns="54864" anchor="t" rtlCol="0">
            <a:noAutofit/>
          </a:bodyPr>
          <a:lstStyle/>
          <a:p>
            <a:pPr algn="l">
              <a:lnSpc>
                <a:spcPts val="1750"/>
              </a:lnSpc>
              <a:spcBef>
                <a:spcPts val="0"/>
              </a:spcBef>
              <a:spcAft>
                <a:spcPts val="0"/>
              </a:spcAft>
              <a:buNone/>
            </a:pPr>
            <a:r>
              <a:rPr lang="ko-KR" altLang="en-US" sz="1400" b="1" dirty="0">
                <a:solidFill>
                  <a:srgbClr val="C00000"/>
                </a:solidFill>
                <a:latin typeface="맑은 고딕"/>
                <a:ea typeface="맑은 고딕"/>
                <a:cs typeface="맑은 고딕"/>
              </a:rPr>
              <a:t>포인트  </a:t>
            </a:r>
            <a:r>
              <a:rPr lang="ko-KR" altLang="en-US" sz="1400" b="0" dirty="0">
                <a:solidFill>
                  <a:srgbClr val="2F5597"/>
                </a:solidFill>
                <a:latin typeface="맑은 고딕"/>
                <a:ea typeface="맑은 고딕"/>
                <a:cs typeface="맑은 고딕"/>
              </a:rPr>
              <a:t>수동태(능동/수동 구별) (자동사 go는 수동태 불가) · 수동태(능동/수동 구별) (목적어 the fish가 있으므로 능동)</a:t>
            </a:r>
            <a:endParaRPr lang="ko-KR" sz="1400"/>
          </a:p>
        </p:txBody>
      </p:sp>
      <p:sp>
        <p:nvSpPr>
          <p:cNvPr id="12" name="item_card_2"/>
          <p:cNvSpPr/>
          <p:nvPr/>
        </p:nvSpPr>
        <p:spPr>
          <a:xfrm>
            <a:off x="457200" y="2577338"/>
            <a:ext cx="11274552" cy="1161034"/>
          </a:xfrm>
          <a:prstGeom prst="roundRect">
            <a:avLst>
              <a:gd name="adj" fmla="val 6000"/>
            </a:avLst>
          </a:prstGeom>
          <a:solidFill>
            <a:srgbClr val="F3F5F9"/>
          </a:solidFill>
          <a:ln w="12700">
            <a:solidFill>
              <a:srgbClr val="D9DFEA"/>
            </a:solidFill>
          </a:ln>
        </p:spPr>
        <p:txBody>
          <a:bodyPr rtlCol="0" anchor="ctr"/>
          <a:lstStyle/>
          <a:p>
            <a:pPr algn="ctr"/>
          </a:p>
        </p:txBody>
      </p:sp>
      <p:sp>
        <p:nvSpPr>
          <p:cNvPr id="13" name="kor_2"/>
          <p:cNvSpPr txBox="1"/>
          <p:nvPr/>
        </p:nvSpPr>
        <p:spPr>
          <a:xfrm>
            <a:off x="457200" y="2687066"/>
            <a:ext cx="11274552" cy="363728"/>
          </a:xfrm>
          <a:prstGeom prst="rect">
            <a:avLst/>
          </a:prstGeom>
          <a:noFill/>
        </p:spPr>
        <p:txBody>
          <a:bodyPr wrap="square" lIns="228600" tIns="54864" rIns="228600" bIns="54864" anchor="t" rtlCol="0">
            <a:noAutofit/>
          </a:bodyPr>
          <a:lstStyle/>
          <a:p>
            <a:pPr algn="l">
              <a:lnSpc>
                <a:spcPts val="2000"/>
              </a:lnSpc>
              <a:spcBef>
                <a:spcPts val="0"/>
              </a:spcBef>
              <a:spcAft>
                <a:spcPts val="0"/>
              </a:spcAft>
              <a:buNone/>
            </a:pPr>
            <a:r>
              <a:rPr lang="en-US" altLang="en-US" sz="1600" b="1" dirty="0">
                <a:solidFill>
                  <a:srgbClr val="1E2A5A"/>
                </a:solidFill>
                <a:latin typeface="Calibri"/>
                <a:ea typeface="맑은 고딕"/>
                <a:cs typeface="Calibri"/>
              </a:rPr>
              <a:t>17.  </a:t>
            </a:r>
            <a:r>
              <a:rPr lang="ko-KR" altLang="en-US" sz="1600" b="0" dirty="0">
                <a:solidFill>
                  <a:srgbClr val="3C4558"/>
                </a:solidFill>
                <a:latin typeface="맑은 고딕"/>
                <a:ea typeface="맑은 고딕"/>
                <a:cs typeface="맑은 고딕"/>
              </a:rPr>
              <a:t>문자도에는 상징적인 사물의 예가 또 있다.</a:t>
            </a:r>
            <a:endParaRPr lang="ko-KR" sz="1600"/>
          </a:p>
        </p:txBody>
      </p:sp>
      <p:sp>
        <p:nvSpPr>
          <p:cNvPr id="14" name="eng_2"/>
          <p:cNvSpPr txBox="1"/>
          <p:nvPr/>
        </p:nvSpPr>
        <p:spPr>
          <a:xfrm>
            <a:off x="457200" y="2995930"/>
            <a:ext cx="11274552" cy="4653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solidFill>
                <a:latin typeface="Calibri"/>
                <a:ea typeface="맑은 고딕"/>
                <a:cs typeface="Calibri"/>
              </a:rPr>
              <a:t>There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is</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are</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other examples of symbolic objects in Munjado.</a:t>
            </a:r>
            <a:endParaRPr lang="ko-KR" sz="2000"/>
          </a:p>
        </p:txBody>
      </p:sp>
      <p:sp>
        <p:nvSpPr>
          <p:cNvPr id="15" name="rv_eng_2"/>
          <p:cNvSpPr txBox="1"/>
          <p:nvPr/>
        </p:nvSpPr>
        <p:spPr>
          <a:xfrm>
            <a:off x="457200" y="2995930"/>
            <a:ext cx="11274552" cy="4653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alpha val="0"/>
                  </a:srgbClr>
                </a:solidFill>
                <a:latin typeface="Calibri"/>
                <a:ea typeface="맑은 고딕"/>
                <a:cs typeface="Calibri"/>
              </a:rPr>
              <a:t>There </a:t>
            </a:r>
            <a:r>
              <a:rPr lang="en-US" altLang="en-US" sz="2000" b="1" dirty="0">
                <a:solidFill>
                  <a:srgbClr val="C00000">
                    <a:alpha val="0"/>
                  </a:srgbClr>
                </a:solidFill>
                <a:latin typeface="Calibri"/>
                <a:ea typeface="맑은 고딕"/>
                <a:cs typeface="Calibri"/>
              </a:rPr>
              <a:t>[ </a:t>
            </a:r>
            <a:r>
              <a:rPr lang="en-US" altLang="en-US" sz="2000" b="1" dirty="0">
                <a:solidFill>
                  <a:srgbClr val="C00000">
                    <a:alpha val="0"/>
                  </a:srgbClr>
                </a:solidFill>
                <a:latin typeface="Calibri"/>
                <a:ea typeface="맑은 고딕"/>
                <a:cs typeface="Calibri"/>
              </a:rPr>
              <a:t>is</a:t>
            </a:r>
            <a:r>
              <a:rPr lang="en-US" altLang="en-US" sz="2000" b="1" dirty="0">
                <a:solidFill>
                  <a:srgbClr val="C00000">
                    <a:alpha val="0"/>
                  </a:srgbClr>
                </a:solidFill>
                <a:latin typeface="Calibri"/>
                <a:ea typeface="맑은 고딕"/>
                <a:cs typeface="Calibri"/>
              </a:rPr>
              <a:t> / </a:t>
            </a:r>
            <a:r>
              <a:rPr lang="en-US" altLang="en-US" sz="2000" b="1" dirty="0">
                <a:solidFill>
                  <a:srgbClr val="C00000"/>
                </a:solidFill>
                <a:latin typeface="Calibri"/>
                <a:ea typeface="맑은 고딕"/>
                <a:cs typeface="Calibri"/>
              </a:rPr>
              <a:t>are</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other examples of symbolic objects in Munjado.</a:t>
            </a:r>
            <a:endParaRPr lang="ko-KR" sz="2000"/>
          </a:p>
        </p:txBody>
      </p:sp>
      <p:sp>
        <p:nvSpPr>
          <p:cNvPr id="16" name="rv_point_2"/>
          <p:cNvSpPr txBox="1"/>
          <p:nvPr/>
        </p:nvSpPr>
        <p:spPr>
          <a:xfrm>
            <a:off x="457200" y="3406394"/>
            <a:ext cx="11274552" cy="331978"/>
          </a:xfrm>
          <a:prstGeom prst="rect">
            <a:avLst/>
          </a:prstGeom>
          <a:noFill/>
        </p:spPr>
        <p:txBody>
          <a:bodyPr wrap="square" lIns="228600" tIns="54864" rIns="228600" bIns="54864" anchor="t" rtlCol="0">
            <a:noAutofit/>
          </a:bodyPr>
          <a:lstStyle/>
          <a:p>
            <a:pPr algn="l">
              <a:lnSpc>
                <a:spcPts val="1750"/>
              </a:lnSpc>
              <a:spcBef>
                <a:spcPts val="0"/>
              </a:spcBef>
              <a:spcAft>
                <a:spcPts val="0"/>
              </a:spcAft>
              <a:buNone/>
            </a:pPr>
            <a:r>
              <a:rPr lang="ko-KR" altLang="en-US" sz="1400" b="1" dirty="0">
                <a:solidFill>
                  <a:srgbClr val="C00000"/>
                </a:solidFill>
                <a:latin typeface="맑은 고딕"/>
                <a:ea typeface="맑은 고딕"/>
                <a:cs typeface="맑은 고딕"/>
              </a:rPr>
              <a:t>포인트  </a:t>
            </a:r>
            <a:r>
              <a:rPr lang="ko-KR" altLang="en-US" sz="1400" b="0" dirty="0">
                <a:solidFill>
                  <a:srgbClr val="2F5597"/>
                </a:solidFill>
                <a:latin typeface="맑은 고딕"/>
                <a:ea typeface="맑은 고딕"/>
                <a:cs typeface="맑은 고딕"/>
              </a:rPr>
              <a:t>동사의 수 일치 (there are + 복수 other examples)</a:t>
            </a:r>
            <a:endParaRPr lang="ko-KR" sz="1400"/>
          </a:p>
        </p:txBody>
      </p:sp>
      <p:sp>
        <p:nvSpPr>
          <p:cNvPr id="17" name="item_card_3"/>
          <p:cNvSpPr/>
          <p:nvPr/>
        </p:nvSpPr>
        <p:spPr>
          <a:xfrm>
            <a:off x="457200" y="3848100"/>
            <a:ext cx="11274552" cy="1516634"/>
          </a:xfrm>
          <a:prstGeom prst="roundRect">
            <a:avLst>
              <a:gd name="adj" fmla="val 6000"/>
            </a:avLst>
          </a:prstGeom>
          <a:solidFill>
            <a:srgbClr val="F3F5F9"/>
          </a:solidFill>
          <a:ln w="12700">
            <a:solidFill>
              <a:srgbClr val="D9DFEA"/>
            </a:solidFill>
          </a:ln>
        </p:spPr>
        <p:txBody>
          <a:bodyPr rtlCol="0" anchor="ctr"/>
          <a:lstStyle/>
          <a:p>
            <a:pPr algn="ctr"/>
          </a:p>
        </p:txBody>
      </p:sp>
      <p:sp>
        <p:nvSpPr>
          <p:cNvPr id="18" name="kor_3"/>
          <p:cNvSpPr txBox="1"/>
          <p:nvPr/>
        </p:nvSpPr>
        <p:spPr>
          <a:xfrm>
            <a:off x="457200" y="3957828"/>
            <a:ext cx="11274552" cy="363728"/>
          </a:xfrm>
          <a:prstGeom prst="rect">
            <a:avLst/>
          </a:prstGeom>
          <a:noFill/>
        </p:spPr>
        <p:txBody>
          <a:bodyPr wrap="square" lIns="228600" tIns="54864" rIns="228600" bIns="54864" anchor="t" rtlCol="0">
            <a:noAutofit/>
          </a:bodyPr>
          <a:lstStyle/>
          <a:p>
            <a:pPr algn="l">
              <a:lnSpc>
                <a:spcPts val="2000"/>
              </a:lnSpc>
              <a:spcBef>
                <a:spcPts val="0"/>
              </a:spcBef>
              <a:spcAft>
                <a:spcPts val="0"/>
              </a:spcAft>
              <a:buNone/>
            </a:pPr>
            <a:r>
              <a:rPr lang="en-US" altLang="en-US" sz="1600" b="1" dirty="0">
                <a:solidFill>
                  <a:srgbClr val="1E2A5A"/>
                </a:solidFill>
                <a:latin typeface="Calibri"/>
                <a:ea typeface="맑은 고딕"/>
                <a:cs typeface="Calibri"/>
              </a:rPr>
              <a:t>18.  </a:t>
            </a:r>
            <a:r>
              <a:rPr lang="ko-KR" altLang="en-US" sz="1600" b="0" dirty="0">
                <a:solidFill>
                  <a:srgbClr val="3C4558"/>
                </a:solidFill>
                <a:latin typeface="맑은 고딕"/>
                <a:ea typeface="맑은 고딕"/>
                <a:cs typeface="맑은 고딕"/>
              </a:rPr>
              <a:t>충(忠) 그림의 대나무와 의(義) 그림의 연꽃이 바로 그것이다.</a:t>
            </a:r>
            <a:endParaRPr lang="ko-KR" sz="1600"/>
          </a:p>
        </p:txBody>
      </p:sp>
      <p:sp>
        <p:nvSpPr>
          <p:cNvPr id="19" name="eng_3"/>
          <p:cNvSpPr txBox="1"/>
          <p:nvPr/>
        </p:nvSpPr>
        <p:spPr>
          <a:xfrm>
            <a:off x="457200" y="4266692"/>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solidFill>
                <a:latin typeface="Calibri"/>
                <a:ea typeface="맑은 고딕"/>
                <a:cs typeface="Calibri"/>
              </a:rPr>
              <a:t>They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are</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is</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bamboo in the paintings of the character chung (忠) and lotus flowers in the paintings of ui (義).</a:t>
            </a:r>
            <a:endParaRPr lang="ko-KR" sz="2000"/>
          </a:p>
        </p:txBody>
      </p:sp>
      <p:sp>
        <p:nvSpPr>
          <p:cNvPr id="20" name="rv_eng_3"/>
          <p:cNvSpPr txBox="1"/>
          <p:nvPr/>
        </p:nvSpPr>
        <p:spPr>
          <a:xfrm>
            <a:off x="457200" y="4266692"/>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alpha val="0"/>
                  </a:srgbClr>
                </a:solidFill>
                <a:latin typeface="Calibri"/>
                <a:ea typeface="맑은 고딕"/>
                <a:cs typeface="Calibri"/>
              </a:rPr>
              <a:t>They </a:t>
            </a:r>
            <a:r>
              <a:rPr lang="en-US" altLang="en-US" sz="2000" b="1" dirty="0">
                <a:solidFill>
                  <a:srgbClr val="C00000">
                    <a:alpha val="0"/>
                  </a:srgbClr>
                </a:solidFill>
                <a:latin typeface="Calibri"/>
                <a:ea typeface="맑은 고딕"/>
                <a:cs typeface="Calibri"/>
              </a:rPr>
              <a:t>[ </a:t>
            </a:r>
            <a:r>
              <a:rPr lang="en-US" altLang="en-US" sz="2000" b="1" dirty="0">
                <a:solidFill>
                  <a:srgbClr val="C00000"/>
                </a:solidFill>
                <a:latin typeface="Calibri"/>
                <a:ea typeface="맑은 고딕"/>
                <a:cs typeface="Calibri"/>
              </a:rPr>
              <a:t>are</a:t>
            </a:r>
            <a:r>
              <a:rPr lang="en-US" altLang="en-US" sz="2000" b="1" dirty="0">
                <a:solidFill>
                  <a:srgbClr val="C00000">
                    <a:alpha val="0"/>
                  </a:srgbClr>
                </a:solidFill>
                <a:latin typeface="Calibri"/>
                <a:ea typeface="맑은 고딕"/>
                <a:cs typeface="Calibri"/>
              </a:rPr>
              <a:t> / </a:t>
            </a:r>
            <a:r>
              <a:rPr lang="en-US" altLang="en-US" sz="2000" b="1" dirty="0">
                <a:solidFill>
                  <a:srgbClr val="C00000">
                    <a:alpha val="0"/>
                  </a:srgbClr>
                </a:solidFill>
                <a:latin typeface="Calibri"/>
                <a:ea typeface="맑은 고딕"/>
                <a:cs typeface="Calibri"/>
              </a:rPr>
              <a:t>is</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bamboo in the paintings of the character chung (忠) and lotus flowers in the paintings of ui (義).</a:t>
            </a:r>
            <a:endParaRPr lang="ko-KR" sz="2000"/>
          </a:p>
        </p:txBody>
      </p:sp>
      <p:sp>
        <p:nvSpPr>
          <p:cNvPr id="21" name="rv_point_3"/>
          <p:cNvSpPr txBox="1"/>
          <p:nvPr/>
        </p:nvSpPr>
        <p:spPr>
          <a:xfrm>
            <a:off x="457200" y="5032756"/>
            <a:ext cx="11274552" cy="331978"/>
          </a:xfrm>
          <a:prstGeom prst="rect">
            <a:avLst/>
          </a:prstGeom>
          <a:noFill/>
        </p:spPr>
        <p:txBody>
          <a:bodyPr wrap="square" lIns="228600" tIns="54864" rIns="228600" bIns="54864" anchor="t" rtlCol="0">
            <a:noAutofit/>
          </a:bodyPr>
          <a:lstStyle/>
          <a:p>
            <a:pPr algn="l">
              <a:lnSpc>
                <a:spcPts val="1750"/>
              </a:lnSpc>
              <a:spcBef>
                <a:spcPts val="0"/>
              </a:spcBef>
              <a:spcAft>
                <a:spcPts val="0"/>
              </a:spcAft>
              <a:buNone/>
            </a:pPr>
            <a:r>
              <a:rPr lang="ko-KR" altLang="en-US" sz="1400" b="1" dirty="0">
                <a:solidFill>
                  <a:srgbClr val="C00000"/>
                </a:solidFill>
                <a:latin typeface="맑은 고딕"/>
                <a:ea typeface="맑은 고딕"/>
                <a:cs typeface="맑은 고딕"/>
              </a:rPr>
              <a:t>포인트  </a:t>
            </a:r>
            <a:r>
              <a:rPr lang="ko-KR" altLang="en-US" sz="1400" b="0" dirty="0">
                <a:solidFill>
                  <a:srgbClr val="2F5597"/>
                </a:solidFill>
                <a:latin typeface="맑은 고딕"/>
                <a:ea typeface="맑은 고딕"/>
                <a:cs typeface="맑은 고딕"/>
              </a:rPr>
              <a:t>동사의 수 일치 (주어 They 복수)</a:t>
            </a:r>
            <a:endParaRPr lang="ko-KR" sz="1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25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250"/>
                                        <p:tgtEl>
                                          <p:spTgt spid="1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250"/>
                                        <p:tgtEl>
                                          <p:spTgt spid="1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fade">
                                      <p:cBhvr>
                                        <p:cTn id="16" dur="250"/>
                                        <p:tgtEl>
                                          <p:spTgt spid="1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250"/>
                                        <p:tgtEl>
                                          <p:spTgt spid="2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fade">
                                      <p:cBhvr>
                                        <p:cTn id="22" dur="25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5" grpId="0" animBg="1"/>
      <p:bldP spid="16" grpId="0" animBg="1"/>
      <p:bldP spid="20" grpId="0" animBg="1"/>
      <p:bldP spid="21" grpId="0" animBg="1"/>
    </p:bldLst>
  </p:timing>
</p:sld>
</file>

<file path=ppt/slides/slide29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8000"/>
            </a:avLst>
          </a:prstGeom>
          <a:solidFill>
            <a:srgbClr val="1E2A5A"/>
          </a:solidFill>
          <a:ln>
            <a:noFill/>
          </a:ln>
        </p:spPr>
        <p:txBody>
          <a:bodyPr wrap="square" lIns="45720" tIns="18288" rIns="45720" bIns="18288" anchor="ctr" rtlCol="0">
            <a:noAutofit/>
          </a:bodyPr>
          <a:lstStyle/>
          <a:p>
            <a:pPr algn="ctr">
              <a:lnSpc>
                <a:spcPts val="2000"/>
              </a:lnSpc>
              <a:spcBef>
                <a:spcPts val="0"/>
              </a:spcBef>
              <a:spcAft>
                <a:spcPts val="0"/>
              </a:spcAft>
              <a:buNone/>
            </a:pPr>
            <a:r>
              <a:rPr lang="en-US" altLang="en-US" sz="1700" b="1" dirty="0">
                <a:solidFill>
                  <a:srgbClr val="FFFFFF"/>
                </a:solidFill>
                <a:latin typeface="Calibri"/>
                <a:ea typeface="맑은 고딕"/>
                <a:cs typeface="Calibri"/>
              </a:rPr>
              <a:t>L8</a:t>
            </a:r>
            <a:endParaRPr lang="ko-KR" sz="1700"/>
          </a:p>
        </p:txBody>
      </p:sp>
      <p:sp>
        <p:nvSpPr>
          <p:cNvPr id="3" name="hdr_chip"/>
          <p:cNvSpPr/>
          <p:nvPr/>
        </p:nvSpPr>
        <p:spPr>
          <a:xfrm>
            <a:off x="1755648" y="274320"/>
            <a:ext cx="1371600" cy="493776"/>
          </a:xfrm>
          <a:prstGeom prst="roundRect">
            <a:avLst>
              <a:gd name="adj" fmla="val 8000"/>
            </a:avLst>
          </a:prstGeom>
          <a:solidFill>
            <a:srgbClr val="E6EAF4"/>
          </a:solidFill>
          <a:ln>
            <a:noFill/>
          </a:ln>
        </p:spPr>
        <p:txBody>
          <a:bodyPr wrap="square" lIns="27432" tIns="18288" rIns="27432" bIns="18288" anchor="ctr" rtlCol="0">
            <a:noAutofit/>
          </a:bodyPr>
          <a:lstStyle/>
          <a:p>
            <a:pPr algn="ctr">
              <a:lnSpc>
                <a:spcPts val="1700"/>
              </a:lnSpc>
              <a:spcBef>
                <a:spcPts val="0"/>
              </a:spcBef>
              <a:spcAft>
                <a:spcPts val="0"/>
              </a:spcAft>
              <a:buNone/>
            </a:pPr>
            <a:r>
              <a:rPr lang="ko-KR" altLang="en-US" sz="1400" b="1" dirty="0">
                <a:solidFill>
                  <a:srgbClr val="1E2A5A"/>
                </a:solidFill>
                <a:latin typeface="맑은 고딕"/>
                <a:ea typeface="맑은 고딕"/>
                <a:cs typeface="맑은 고딕"/>
              </a:rPr>
              <a:t>PART 5 · 7</a:t>
            </a:r>
            <a:endParaRPr lang="ko-KR" sz="1400"/>
          </a:p>
        </p:txBody>
      </p:sp>
      <p:sp>
        <p:nvSpPr>
          <p:cNvPr id="4" name="hdr_q"/>
          <p:cNvSpPr txBox="1"/>
          <p:nvPr/>
        </p:nvSpPr>
        <p:spPr>
          <a:xfrm>
            <a:off x="3246120" y="246888"/>
            <a:ext cx="8485632" cy="548640"/>
          </a:xfrm>
          <a:prstGeom prst="rect">
            <a:avLst/>
          </a:prstGeom>
          <a:noFill/>
        </p:spPr>
        <p:txBody>
          <a:bodyPr wrap="square" lIns="109728" tIns="54864" rIns="109728" bIns="54864" anchor="ctr" rtlCol="0">
            <a:noAutofit/>
          </a:bodyPr>
          <a:lstStyle/>
          <a:p>
            <a:pPr algn="l">
              <a:lnSpc>
                <a:spcPts val="2400"/>
              </a:lnSpc>
              <a:spcBef>
                <a:spcPts val="0"/>
              </a:spcBef>
              <a:spcAft>
                <a:spcPts val="0"/>
              </a:spcAft>
              <a:buNone/>
            </a:pPr>
            <a:r>
              <a:rPr lang="ko-KR" altLang="en-US" sz="2000" b="1" dirty="0">
                <a:solidFill>
                  <a:srgbClr val="1F2328"/>
                </a:solidFill>
                <a:latin typeface="맑은 고딕"/>
                <a:ea typeface="맑은 고딕"/>
                <a:cs typeface="맑은 고딕"/>
              </a:rPr>
              <a:t>[  ] 안에서 어법상 알맞은 것을 고르시오.</a:t>
            </a:r>
            <a:endParaRPr lang="ko-KR" sz="2000"/>
          </a:p>
        </p:txBody>
      </p:sp>
      <p:sp>
        <p:nvSpPr>
          <p:cNvPr id="5" name="ftr_exam"/>
          <p:cNvSpPr txBox="1"/>
          <p:nvPr/>
        </p:nvSpPr>
        <p:spPr>
          <a:xfrm>
            <a:off x="457200" y="6519672"/>
            <a:ext cx="5669280" cy="256032"/>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8</a:t>
            </a:r>
            <a:endParaRPr lang="ko-KR" sz="1000"/>
          </a:p>
        </p:txBody>
      </p:sp>
      <p:sp>
        <p:nvSpPr>
          <p:cNvPr id="6" name="ftr_hint"/>
          <p:cNvSpPr txBox="1"/>
          <p:nvPr/>
        </p:nvSpPr>
        <p:spPr>
          <a:xfrm>
            <a:off x="5971032" y="6519672"/>
            <a:ext cx="5760720" cy="256032"/>
          </a:xfrm>
          <a:prstGeom prst="rect">
            <a:avLst/>
          </a:prstGeom>
          <a:noFill/>
        </p:spPr>
        <p:txBody>
          <a:bodyPr wrap="square" lIns="0" tIns="0" rIns="0" bIns="0" anchor="t" rtlCol="0">
            <a:noAutofit/>
          </a:bodyPr>
          <a:lstStyle/>
          <a:p>
            <a:pPr algn="r">
              <a:lnSpc>
                <a:spcPts val="1200"/>
              </a:lnSpc>
              <a:spcBef>
                <a:spcPts val="0"/>
              </a:spcBef>
              <a:spcAft>
                <a:spcPts val="0"/>
              </a:spcAft>
              <a:buNone/>
            </a:pPr>
            <a:r>
              <a:rPr lang="ko-KR" altLang="en-US" sz="1000" b="0" dirty="0">
                <a:solidFill>
                  <a:srgbClr val="7A808C"/>
                </a:solidFill>
                <a:latin typeface="맑은 고딕"/>
                <a:ea typeface="맑은 고딕"/>
                <a:cs typeface="맑은 고딕"/>
              </a:rPr>
              <a:t>클릭 ① 정답(빨간색) + 문법 포인트 공개</a:t>
            </a:r>
            <a:endParaRPr lang="ko-KR" sz="1000"/>
          </a:p>
        </p:txBody>
      </p:sp>
      <p:sp>
        <p:nvSpPr>
          <p:cNvPr id="7" name="item_card_1"/>
          <p:cNvSpPr/>
          <p:nvPr/>
        </p:nvSpPr>
        <p:spPr>
          <a:xfrm>
            <a:off x="457200" y="950976"/>
            <a:ext cx="11274552" cy="1161034"/>
          </a:xfrm>
          <a:prstGeom prst="roundRect">
            <a:avLst>
              <a:gd name="adj" fmla="val 6000"/>
            </a:avLst>
          </a:prstGeom>
          <a:solidFill>
            <a:srgbClr val="F3F5F9"/>
          </a:solidFill>
          <a:ln w="12700">
            <a:solidFill>
              <a:srgbClr val="D9DFEA"/>
            </a:solidFill>
          </a:ln>
        </p:spPr>
        <p:txBody>
          <a:bodyPr rtlCol="0" anchor="ctr"/>
          <a:lstStyle/>
          <a:p>
            <a:pPr algn="ctr"/>
          </a:p>
        </p:txBody>
      </p:sp>
      <p:sp>
        <p:nvSpPr>
          <p:cNvPr id="8" name="kor_1"/>
          <p:cNvSpPr txBox="1"/>
          <p:nvPr/>
        </p:nvSpPr>
        <p:spPr>
          <a:xfrm>
            <a:off x="457200" y="1060704"/>
            <a:ext cx="11274552" cy="363728"/>
          </a:xfrm>
          <a:prstGeom prst="rect">
            <a:avLst/>
          </a:prstGeom>
          <a:noFill/>
        </p:spPr>
        <p:txBody>
          <a:bodyPr wrap="square" lIns="228600" tIns="54864" rIns="228600" bIns="54864" anchor="t" rtlCol="0">
            <a:noAutofit/>
          </a:bodyPr>
          <a:lstStyle/>
          <a:p>
            <a:pPr algn="l">
              <a:lnSpc>
                <a:spcPts val="2000"/>
              </a:lnSpc>
              <a:spcBef>
                <a:spcPts val="0"/>
              </a:spcBef>
              <a:spcAft>
                <a:spcPts val="0"/>
              </a:spcAft>
              <a:buNone/>
            </a:pPr>
            <a:r>
              <a:rPr lang="en-US" altLang="en-US" sz="1600" b="1" dirty="0">
                <a:solidFill>
                  <a:srgbClr val="1E2A5A"/>
                </a:solidFill>
                <a:latin typeface="Calibri"/>
                <a:ea typeface="맑은 고딕"/>
                <a:cs typeface="Calibri"/>
              </a:rPr>
              <a:t>19.  </a:t>
            </a:r>
            <a:r>
              <a:rPr lang="ko-KR" altLang="en-US" sz="1600" b="0" dirty="0">
                <a:solidFill>
                  <a:srgbClr val="3C4558"/>
                </a:solidFill>
                <a:latin typeface="맑은 고딕"/>
                <a:ea typeface="맑은 고딕"/>
                <a:cs typeface="맑은 고딕"/>
              </a:rPr>
              <a:t>대나무는 휘지 않는다. 그리고 어떤 날씨에도 푸른빛을 잃지 않는다.</a:t>
            </a:r>
            <a:endParaRPr lang="ko-KR" sz="1600"/>
          </a:p>
        </p:txBody>
      </p:sp>
      <p:sp>
        <p:nvSpPr>
          <p:cNvPr id="9" name="eng_1"/>
          <p:cNvSpPr txBox="1"/>
          <p:nvPr/>
        </p:nvSpPr>
        <p:spPr>
          <a:xfrm>
            <a:off x="457200" y="1369568"/>
            <a:ext cx="11274552" cy="4653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solidFill>
                <a:latin typeface="Calibri"/>
                <a:ea typeface="맑은 고딕"/>
                <a:cs typeface="Calibri"/>
              </a:rPr>
              <a:t>Bamboo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do</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does</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not bend. It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stays</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stay</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green in all kinds of weather.</a:t>
            </a:r>
            <a:endParaRPr lang="ko-KR" sz="2000"/>
          </a:p>
        </p:txBody>
      </p:sp>
      <p:sp>
        <p:nvSpPr>
          <p:cNvPr id="10" name="rv_eng_1"/>
          <p:cNvSpPr txBox="1"/>
          <p:nvPr/>
        </p:nvSpPr>
        <p:spPr>
          <a:xfrm>
            <a:off x="457200" y="1369568"/>
            <a:ext cx="11274552" cy="4653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alpha val="0"/>
                  </a:srgbClr>
                </a:solidFill>
                <a:latin typeface="Calibri"/>
                <a:ea typeface="맑은 고딕"/>
                <a:cs typeface="Calibri"/>
              </a:rPr>
              <a:t>Bamboo </a:t>
            </a:r>
            <a:r>
              <a:rPr lang="en-US" altLang="en-US" sz="2000" b="1" dirty="0">
                <a:solidFill>
                  <a:srgbClr val="C00000">
                    <a:alpha val="0"/>
                  </a:srgbClr>
                </a:solidFill>
                <a:latin typeface="Calibri"/>
                <a:ea typeface="맑은 고딕"/>
                <a:cs typeface="Calibri"/>
              </a:rPr>
              <a:t>[ </a:t>
            </a:r>
            <a:r>
              <a:rPr lang="en-US" altLang="en-US" sz="2000" b="1" dirty="0">
                <a:solidFill>
                  <a:srgbClr val="C00000">
                    <a:alpha val="0"/>
                  </a:srgbClr>
                </a:solidFill>
                <a:latin typeface="Calibri"/>
                <a:ea typeface="맑은 고딕"/>
                <a:cs typeface="Calibri"/>
              </a:rPr>
              <a:t>do</a:t>
            </a:r>
            <a:r>
              <a:rPr lang="en-US" altLang="en-US" sz="2000" b="1" dirty="0">
                <a:solidFill>
                  <a:srgbClr val="C00000">
                    <a:alpha val="0"/>
                  </a:srgbClr>
                </a:solidFill>
                <a:latin typeface="Calibri"/>
                <a:ea typeface="맑은 고딕"/>
                <a:cs typeface="Calibri"/>
              </a:rPr>
              <a:t> / </a:t>
            </a:r>
            <a:r>
              <a:rPr lang="en-US" altLang="en-US" sz="2000" b="1" dirty="0">
                <a:solidFill>
                  <a:srgbClr val="C00000"/>
                </a:solidFill>
                <a:latin typeface="Calibri"/>
                <a:ea typeface="맑은 고딕"/>
                <a:cs typeface="Calibri"/>
              </a:rPr>
              <a:t>does</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not bend. It </a:t>
            </a:r>
            <a:r>
              <a:rPr lang="en-US" altLang="en-US" sz="2000" b="1" dirty="0">
                <a:solidFill>
                  <a:srgbClr val="C00000">
                    <a:alpha val="0"/>
                  </a:srgbClr>
                </a:solidFill>
                <a:latin typeface="Calibri"/>
                <a:ea typeface="맑은 고딕"/>
                <a:cs typeface="Calibri"/>
              </a:rPr>
              <a:t>[ </a:t>
            </a:r>
            <a:r>
              <a:rPr lang="en-US" altLang="en-US" sz="2000" b="1" dirty="0">
                <a:solidFill>
                  <a:srgbClr val="C00000"/>
                </a:solidFill>
                <a:latin typeface="Calibri"/>
                <a:ea typeface="맑은 고딕"/>
                <a:cs typeface="Calibri"/>
              </a:rPr>
              <a:t>stays</a:t>
            </a:r>
            <a:r>
              <a:rPr lang="en-US" altLang="en-US" sz="2000" b="1" dirty="0">
                <a:solidFill>
                  <a:srgbClr val="C00000">
                    <a:alpha val="0"/>
                  </a:srgbClr>
                </a:solidFill>
                <a:latin typeface="Calibri"/>
                <a:ea typeface="맑은 고딕"/>
                <a:cs typeface="Calibri"/>
              </a:rPr>
              <a:t> / </a:t>
            </a:r>
            <a:r>
              <a:rPr lang="en-US" altLang="en-US" sz="2000" b="1" dirty="0">
                <a:solidFill>
                  <a:srgbClr val="C00000">
                    <a:alpha val="0"/>
                  </a:srgbClr>
                </a:solidFill>
                <a:latin typeface="Calibri"/>
                <a:ea typeface="맑은 고딕"/>
                <a:cs typeface="Calibri"/>
              </a:rPr>
              <a:t>stay</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green in all kinds of weather.</a:t>
            </a:r>
            <a:endParaRPr lang="ko-KR" sz="2000"/>
          </a:p>
        </p:txBody>
      </p:sp>
      <p:sp>
        <p:nvSpPr>
          <p:cNvPr id="11" name="rv_point_1"/>
          <p:cNvSpPr txBox="1"/>
          <p:nvPr/>
        </p:nvSpPr>
        <p:spPr>
          <a:xfrm>
            <a:off x="457200" y="1780032"/>
            <a:ext cx="11274552" cy="331978"/>
          </a:xfrm>
          <a:prstGeom prst="rect">
            <a:avLst/>
          </a:prstGeom>
          <a:noFill/>
        </p:spPr>
        <p:txBody>
          <a:bodyPr wrap="square" lIns="228600" tIns="54864" rIns="228600" bIns="54864" anchor="t" rtlCol="0">
            <a:noAutofit/>
          </a:bodyPr>
          <a:lstStyle/>
          <a:p>
            <a:pPr algn="l">
              <a:lnSpc>
                <a:spcPts val="1750"/>
              </a:lnSpc>
              <a:spcBef>
                <a:spcPts val="0"/>
              </a:spcBef>
              <a:spcAft>
                <a:spcPts val="0"/>
              </a:spcAft>
              <a:buNone/>
            </a:pPr>
            <a:r>
              <a:rPr lang="ko-KR" altLang="en-US" sz="1400" b="1" dirty="0">
                <a:solidFill>
                  <a:srgbClr val="C00000"/>
                </a:solidFill>
                <a:latin typeface="맑은 고딕"/>
                <a:ea typeface="맑은 고딕"/>
                <a:cs typeface="맑은 고딕"/>
              </a:rPr>
              <a:t>포인트  </a:t>
            </a:r>
            <a:r>
              <a:rPr lang="ko-KR" altLang="en-US" sz="1400" b="0" dirty="0">
                <a:solidFill>
                  <a:srgbClr val="2F5597"/>
                </a:solidFill>
                <a:latin typeface="맑은 고딕"/>
                <a:ea typeface="맑은 고딕"/>
                <a:cs typeface="맑은 고딕"/>
              </a:rPr>
              <a:t>동사의 수 일치 (주어 Bamboo 단수) · 동사의 수 일치 (주어 It 단수)</a:t>
            </a:r>
            <a:endParaRPr lang="ko-KR" sz="1400"/>
          </a:p>
        </p:txBody>
      </p:sp>
      <p:sp>
        <p:nvSpPr>
          <p:cNvPr id="12" name="item_card_2"/>
          <p:cNvSpPr/>
          <p:nvPr/>
        </p:nvSpPr>
        <p:spPr>
          <a:xfrm>
            <a:off x="457200" y="2221738"/>
            <a:ext cx="11274552" cy="1738884"/>
          </a:xfrm>
          <a:prstGeom prst="roundRect">
            <a:avLst>
              <a:gd name="adj" fmla="val 6000"/>
            </a:avLst>
          </a:prstGeom>
          <a:solidFill>
            <a:srgbClr val="F3F5F9"/>
          </a:solidFill>
          <a:ln w="12700">
            <a:solidFill>
              <a:srgbClr val="D9DFEA"/>
            </a:solidFill>
          </a:ln>
        </p:spPr>
        <p:txBody>
          <a:bodyPr rtlCol="0" anchor="ctr"/>
          <a:lstStyle/>
          <a:p>
            <a:pPr algn="ctr"/>
          </a:p>
        </p:txBody>
      </p:sp>
      <p:sp>
        <p:nvSpPr>
          <p:cNvPr id="13" name="kor_2"/>
          <p:cNvSpPr txBox="1"/>
          <p:nvPr/>
        </p:nvSpPr>
        <p:spPr>
          <a:xfrm>
            <a:off x="457200" y="2331466"/>
            <a:ext cx="11274552" cy="363728"/>
          </a:xfrm>
          <a:prstGeom prst="rect">
            <a:avLst/>
          </a:prstGeom>
          <a:noFill/>
        </p:spPr>
        <p:txBody>
          <a:bodyPr wrap="square" lIns="228600" tIns="54864" rIns="228600" bIns="54864" anchor="t" rtlCol="0">
            <a:noAutofit/>
          </a:bodyPr>
          <a:lstStyle/>
          <a:p>
            <a:pPr algn="l">
              <a:lnSpc>
                <a:spcPts val="2000"/>
              </a:lnSpc>
              <a:spcBef>
                <a:spcPts val="0"/>
              </a:spcBef>
              <a:spcAft>
                <a:spcPts val="0"/>
              </a:spcAft>
              <a:buNone/>
            </a:pPr>
            <a:r>
              <a:rPr lang="en-US" altLang="en-US" sz="1600" b="1" dirty="0">
                <a:solidFill>
                  <a:srgbClr val="1E2A5A"/>
                </a:solidFill>
                <a:latin typeface="Calibri"/>
                <a:ea typeface="맑은 고딕"/>
                <a:cs typeface="Calibri"/>
              </a:rPr>
              <a:t>20.  </a:t>
            </a:r>
            <a:r>
              <a:rPr lang="ko-KR" altLang="en-US" sz="1600" b="0" dirty="0">
                <a:solidFill>
                  <a:srgbClr val="3C4558"/>
                </a:solidFill>
                <a:latin typeface="맑은 고딕"/>
                <a:ea typeface="맑은 고딕"/>
                <a:cs typeface="맑은 고딕"/>
              </a:rPr>
              <a:t>이런 까닭에 대나무는 임금에 대한 충성을 상징하게 되었다.</a:t>
            </a:r>
            <a:endParaRPr lang="ko-KR" sz="1600"/>
          </a:p>
        </p:txBody>
      </p:sp>
      <p:sp>
        <p:nvSpPr>
          <p:cNvPr id="14" name="eng_2"/>
          <p:cNvSpPr txBox="1"/>
          <p:nvPr/>
        </p:nvSpPr>
        <p:spPr>
          <a:xfrm>
            <a:off x="457200" y="2640330"/>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solidFill>
                <a:latin typeface="Calibri"/>
                <a:ea typeface="맑은 고딕"/>
                <a:cs typeface="Calibri"/>
              </a:rPr>
              <a:t>For these reasons, bamboo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came</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was come</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symbolizing</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to symbolize</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loyalty to the king.</a:t>
            </a:r>
            <a:endParaRPr lang="ko-KR" sz="2000"/>
          </a:p>
        </p:txBody>
      </p:sp>
      <p:sp>
        <p:nvSpPr>
          <p:cNvPr id="15" name="rv_eng_2"/>
          <p:cNvSpPr txBox="1"/>
          <p:nvPr/>
        </p:nvSpPr>
        <p:spPr>
          <a:xfrm>
            <a:off x="457200" y="2640330"/>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alpha val="0"/>
                  </a:srgbClr>
                </a:solidFill>
                <a:latin typeface="Calibri"/>
                <a:ea typeface="맑은 고딕"/>
                <a:cs typeface="Calibri"/>
              </a:rPr>
              <a:t>For these reasons, bamboo </a:t>
            </a:r>
            <a:r>
              <a:rPr lang="en-US" altLang="en-US" sz="2000" b="1" dirty="0">
                <a:solidFill>
                  <a:srgbClr val="C00000">
                    <a:alpha val="0"/>
                  </a:srgbClr>
                </a:solidFill>
                <a:latin typeface="Calibri"/>
                <a:ea typeface="맑은 고딕"/>
                <a:cs typeface="Calibri"/>
              </a:rPr>
              <a:t>[ </a:t>
            </a:r>
            <a:r>
              <a:rPr lang="en-US" altLang="en-US" sz="2000" b="1" dirty="0">
                <a:solidFill>
                  <a:srgbClr val="C00000"/>
                </a:solidFill>
                <a:latin typeface="Calibri"/>
                <a:ea typeface="맑은 고딕"/>
                <a:cs typeface="Calibri"/>
              </a:rPr>
              <a:t>came</a:t>
            </a:r>
            <a:r>
              <a:rPr lang="en-US" altLang="en-US" sz="2000" b="1" dirty="0">
                <a:solidFill>
                  <a:srgbClr val="C00000">
                    <a:alpha val="0"/>
                  </a:srgbClr>
                </a:solidFill>
                <a:latin typeface="Calibri"/>
                <a:ea typeface="맑은 고딕"/>
                <a:cs typeface="Calibri"/>
              </a:rPr>
              <a:t> / </a:t>
            </a:r>
            <a:r>
              <a:rPr lang="en-US" altLang="en-US" sz="2000" b="1" dirty="0">
                <a:solidFill>
                  <a:srgbClr val="C00000">
                    <a:alpha val="0"/>
                  </a:srgbClr>
                </a:solidFill>
                <a:latin typeface="Calibri"/>
                <a:ea typeface="맑은 고딕"/>
                <a:cs typeface="Calibri"/>
              </a:rPr>
              <a:t>was come</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a:t>
            </a:r>
            <a:r>
              <a:rPr lang="en-US" altLang="en-US" sz="2000" b="1" dirty="0">
                <a:solidFill>
                  <a:srgbClr val="C00000">
                    <a:alpha val="0"/>
                  </a:srgbClr>
                </a:solidFill>
                <a:latin typeface="Calibri"/>
                <a:ea typeface="맑은 고딕"/>
                <a:cs typeface="Calibri"/>
              </a:rPr>
              <a:t>[ </a:t>
            </a:r>
            <a:r>
              <a:rPr lang="en-US" altLang="en-US" sz="2000" b="1" dirty="0">
                <a:solidFill>
                  <a:srgbClr val="C00000">
                    <a:alpha val="0"/>
                  </a:srgbClr>
                </a:solidFill>
                <a:latin typeface="Calibri"/>
                <a:ea typeface="맑은 고딕"/>
                <a:cs typeface="Calibri"/>
              </a:rPr>
              <a:t>symbolizing</a:t>
            </a:r>
            <a:r>
              <a:rPr lang="en-US" altLang="en-US" sz="2000" b="1" dirty="0">
                <a:solidFill>
                  <a:srgbClr val="C00000">
                    <a:alpha val="0"/>
                  </a:srgbClr>
                </a:solidFill>
                <a:latin typeface="Calibri"/>
                <a:ea typeface="맑은 고딕"/>
                <a:cs typeface="Calibri"/>
              </a:rPr>
              <a:t> / </a:t>
            </a:r>
            <a:r>
              <a:rPr lang="en-US" altLang="en-US" sz="2000" b="1" dirty="0">
                <a:solidFill>
                  <a:srgbClr val="C00000"/>
                </a:solidFill>
                <a:latin typeface="Calibri"/>
                <a:ea typeface="맑은 고딕"/>
                <a:cs typeface="Calibri"/>
              </a:rPr>
              <a:t>to symbolize</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loyalty to the king.</a:t>
            </a:r>
            <a:endParaRPr lang="ko-KR" sz="2000"/>
          </a:p>
        </p:txBody>
      </p:sp>
      <p:sp>
        <p:nvSpPr>
          <p:cNvPr id="16" name="rv_point_2"/>
          <p:cNvSpPr txBox="1"/>
          <p:nvPr/>
        </p:nvSpPr>
        <p:spPr>
          <a:xfrm>
            <a:off x="457200" y="3406394"/>
            <a:ext cx="11274552" cy="554227"/>
          </a:xfrm>
          <a:prstGeom prst="rect">
            <a:avLst/>
          </a:prstGeom>
          <a:noFill/>
        </p:spPr>
        <p:txBody>
          <a:bodyPr wrap="square" lIns="228600" tIns="54864" rIns="228600" bIns="54864" anchor="t" rtlCol="0">
            <a:noAutofit/>
          </a:bodyPr>
          <a:lstStyle/>
          <a:p>
            <a:pPr algn="l">
              <a:lnSpc>
                <a:spcPts val="1750"/>
              </a:lnSpc>
              <a:spcBef>
                <a:spcPts val="0"/>
              </a:spcBef>
              <a:spcAft>
                <a:spcPts val="0"/>
              </a:spcAft>
              <a:buNone/>
            </a:pPr>
            <a:r>
              <a:rPr lang="ko-KR" altLang="en-US" sz="1400" b="1" dirty="0">
                <a:solidFill>
                  <a:srgbClr val="C00000"/>
                </a:solidFill>
                <a:latin typeface="맑은 고딕"/>
                <a:ea typeface="맑은 고딕"/>
                <a:cs typeface="맑은 고딕"/>
              </a:rPr>
              <a:t>포인트  </a:t>
            </a:r>
            <a:r>
              <a:rPr lang="ko-KR" altLang="en-US" sz="1400" b="0" dirty="0">
                <a:solidFill>
                  <a:srgbClr val="2F5597"/>
                </a:solidFill>
                <a:latin typeface="맑은 고딕"/>
                <a:ea typeface="맑은 고딕"/>
                <a:cs typeface="맑은 고딕"/>
              </a:rPr>
              <a:t>수동태(능동/수동 구별) (자동사 come은 수동태 불가) · to부정사/동명사/동사원형 (come + to부정사: ~하게 되다)</a:t>
            </a:r>
            <a:endParaRPr lang="ko-KR" sz="1400"/>
          </a:p>
        </p:txBody>
      </p:sp>
      <p:sp>
        <p:nvSpPr>
          <p:cNvPr id="17" name="item_card_3"/>
          <p:cNvSpPr/>
          <p:nvPr/>
        </p:nvSpPr>
        <p:spPr>
          <a:xfrm>
            <a:off x="457200" y="4070350"/>
            <a:ext cx="11274552" cy="1516634"/>
          </a:xfrm>
          <a:prstGeom prst="roundRect">
            <a:avLst>
              <a:gd name="adj" fmla="val 6000"/>
            </a:avLst>
          </a:prstGeom>
          <a:solidFill>
            <a:srgbClr val="F3F5F9"/>
          </a:solidFill>
          <a:ln w="12700">
            <a:solidFill>
              <a:srgbClr val="D9DFEA"/>
            </a:solidFill>
          </a:ln>
        </p:spPr>
        <p:txBody>
          <a:bodyPr rtlCol="0" anchor="ctr"/>
          <a:lstStyle/>
          <a:p>
            <a:pPr algn="ctr"/>
          </a:p>
        </p:txBody>
      </p:sp>
      <p:sp>
        <p:nvSpPr>
          <p:cNvPr id="18" name="kor_3"/>
          <p:cNvSpPr txBox="1"/>
          <p:nvPr/>
        </p:nvSpPr>
        <p:spPr>
          <a:xfrm>
            <a:off x="457200" y="4180078"/>
            <a:ext cx="11274552" cy="363728"/>
          </a:xfrm>
          <a:prstGeom prst="rect">
            <a:avLst/>
          </a:prstGeom>
          <a:noFill/>
        </p:spPr>
        <p:txBody>
          <a:bodyPr wrap="square" lIns="228600" tIns="54864" rIns="228600" bIns="54864" anchor="t" rtlCol="0">
            <a:noAutofit/>
          </a:bodyPr>
          <a:lstStyle/>
          <a:p>
            <a:pPr algn="l">
              <a:lnSpc>
                <a:spcPts val="2000"/>
              </a:lnSpc>
              <a:spcBef>
                <a:spcPts val="0"/>
              </a:spcBef>
              <a:spcAft>
                <a:spcPts val="0"/>
              </a:spcAft>
              <a:buNone/>
            </a:pPr>
            <a:r>
              <a:rPr lang="en-US" altLang="en-US" sz="1600" b="1" dirty="0">
                <a:solidFill>
                  <a:srgbClr val="1E2A5A"/>
                </a:solidFill>
                <a:latin typeface="Calibri"/>
                <a:ea typeface="맑은 고딕"/>
                <a:cs typeface="Calibri"/>
              </a:rPr>
              <a:t>21.  </a:t>
            </a:r>
            <a:r>
              <a:rPr lang="ko-KR" altLang="en-US" sz="1600" b="0" dirty="0">
                <a:solidFill>
                  <a:srgbClr val="3C4558"/>
                </a:solidFill>
                <a:latin typeface="맑은 고딕"/>
                <a:ea typeface="맑은 고딕"/>
                <a:cs typeface="맑은 고딕"/>
              </a:rPr>
              <a:t>연꽃의 경우, 진흙 연못에서 자라면서도 아름답게 꽃을 피운다.</a:t>
            </a:r>
            <a:endParaRPr lang="ko-KR" sz="1600"/>
          </a:p>
        </p:txBody>
      </p:sp>
      <p:sp>
        <p:nvSpPr>
          <p:cNvPr id="19" name="eng_3"/>
          <p:cNvSpPr txBox="1"/>
          <p:nvPr/>
        </p:nvSpPr>
        <p:spPr>
          <a:xfrm>
            <a:off x="457200" y="4488942"/>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solidFill>
                <a:latin typeface="Calibri"/>
                <a:ea typeface="맑은 고딕"/>
                <a:cs typeface="Calibri"/>
              </a:rPr>
              <a:t>In the case of lotus flowers, they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grows</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grow</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in muddy ponds but still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bloom</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blooms</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beautifully.</a:t>
            </a:r>
            <a:endParaRPr lang="ko-KR" sz="2000"/>
          </a:p>
        </p:txBody>
      </p:sp>
      <p:sp>
        <p:nvSpPr>
          <p:cNvPr id="20" name="rv_eng_3"/>
          <p:cNvSpPr txBox="1"/>
          <p:nvPr/>
        </p:nvSpPr>
        <p:spPr>
          <a:xfrm>
            <a:off x="457200" y="4488942"/>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alpha val="0"/>
                  </a:srgbClr>
                </a:solidFill>
                <a:latin typeface="Calibri"/>
                <a:ea typeface="맑은 고딕"/>
                <a:cs typeface="Calibri"/>
              </a:rPr>
              <a:t>In the case of lotus flowers, they </a:t>
            </a:r>
            <a:r>
              <a:rPr lang="en-US" altLang="en-US" sz="2000" b="1" dirty="0">
                <a:solidFill>
                  <a:srgbClr val="C00000">
                    <a:alpha val="0"/>
                  </a:srgbClr>
                </a:solidFill>
                <a:latin typeface="Calibri"/>
                <a:ea typeface="맑은 고딕"/>
                <a:cs typeface="Calibri"/>
              </a:rPr>
              <a:t>[ </a:t>
            </a:r>
            <a:r>
              <a:rPr lang="en-US" altLang="en-US" sz="2000" b="1" dirty="0">
                <a:solidFill>
                  <a:srgbClr val="C00000">
                    <a:alpha val="0"/>
                  </a:srgbClr>
                </a:solidFill>
                <a:latin typeface="Calibri"/>
                <a:ea typeface="맑은 고딕"/>
                <a:cs typeface="Calibri"/>
              </a:rPr>
              <a:t>grows</a:t>
            </a:r>
            <a:r>
              <a:rPr lang="en-US" altLang="en-US" sz="2000" b="1" dirty="0">
                <a:solidFill>
                  <a:srgbClr val="C00000">
                    <a:alpha val="0"/>
                  </a:srgbClr>
                </a:solidFill>
                <a:latin typeface="Calibri"/>
                <a:ea typeface="맑은 고딕"/>
                <a:cs typeface="Calibri"/>
              </a:rPr>
              <a:t> / </a:t>
            </a:r>
            <a:r>
              <a:rPr lang="en-US" altLang="en-US" sz="2000" b="1" dirty="0">
                <a:solidFill>
                  <a:srgbClr val="C00000"/>
                </a:solidFill>
                <a:latin typeface="Calibri"/>
                <a:ea typeface="맑은 고딕"/>
                <a:cs typeface="Calibri"/>
              </a:rPr>
              <a:t>grow</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in muddy ponds but still </a:t>
            </a:r>
            <a:r>
              <a:rPr lang="en-US" altLang="en-US" sz="2000" b="1" dirty="0">
                <a:solidFill>
                  <a:srgbClr val="C00000">
                    <a:alpha val="0"/>
                  </a:srgbClr>
                </a:solidFill>
                <a:latin typeface="Calibri"/>
                <a:ea typeface="맑은 고딕"/>
                <a:cs typeface="Calibri"/>
              </a:rPr>
              <a:t>[ </a:t>
            </a:r>
            <a:r>
              <a:rPr lang="en-US" altLang="en-US" sz="2000" b="1" dirty="0">
                <a:solidFill>
                  <a:srgbClr val="C00000"/>
                </a:solidFill>
                <a:latin typeface="Calibri"/>
                <a:ea typeface="맑은 고딕"/>
                <a:cs typeface="Calibri"/>
              </a:rPr>
              <a:t>bloom</a:t>
            </a:r>
            <a:r>
              <a:rPr lang="en-US" altLang="en-US" sz="2000" b="1" dirty="0">
                <a:solidFill>
                  <a:srgbClr val="C00000">
                    <a:alpha val="0"/>
                  </a:srgbClr>
                </a:solidFill>
                <a:latin typeface="Calibri"/>
                <a:ea typeface="맑은 고딕"/>
                <a:cs typeface="Calibri"/>
              </a:rPr>
              <a:t> / </a:t>
            </a:r>
            <a:r>
              <a:rPr lang="en-US" altLang="en-US" sz="2000" b="1" dirty="0">
                <a:solidFill>
                  <a:srgbClr val="C00000">
                    <a:alpha val="0"/>
                  </a:srgbClr>
                </a:solidFill>
                <a:latin typeface="Calibri"/>
                <a:ea typeface="맑은 고딕"/>
                <a:cs typeface="Calibri"/>
              </a:rPr>
              <a:t>blooms</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beautifully.</a:t>
            </a:r>
            <a:endParaRPr lang="ko-KR" sz="2000"/>
          </a:p>
        </p:txBody>
      </p:sp>
      <p:sp>
        <p:nvSpPr>
          <p:cNvPr id="21" name="rv_point_3"/>
          <p:cNvSpPr txBox="1"/>
          <p:nvPr/>
        </p:nvSpPr>
        <p:spPr>
          <a:xfrm>
            <a:off x="457200" y="5255006"/>
            <a:ext cx="11274552" cy="331978"/>
          </a:xfrm>
          <a:prstGeom prst="rect">
            <a:avLst/>
          </a:prstGeom>
          <a:noFill/>
        </p:spPr>
        <p:txBody>
          <a:bodyPr wrap="square" lIns="228600" tIns="54864" rIns="228600" bIns="54864" anchor="t" rtlCol="0">
            <a:noAutofit/>
          </a:bodyPr>
          <a:lstStyle/>
          <a:p>
            <a:pPr algn="l">
              <a:lnSpc>
                <a:spcPts val="1750"/>
              </a:lnSpc>
              <a:spcBef>
                <a:spcPts val="0"/>
              </a:spcBef>
              <a:spcAft>
                <a:spcPts val="0"/>
              </a:spcAft>
              <a:buNone/>
            </a:pPr>
            <a:r>
              <a:rPr lang="ko-KR" altLang="en-US" sz="1400" b="1" dirty="0">
                <a:solidFill>
                  <a:srgbClr val="C00000"/>
                </a:solidFill>
                <a:latin typeface="맑은 고딕"/>
                <a:ea typeface="맑은 고딕"/>
                <a:cs typeface="맑은 고딕"/>
              </a:rPr>
              <a:t>포인트  </a:t>
            </a:r>
            <a:r>
              <a:rPr lang="ko-KR" altLang="en-US" sz="1400" b="0" dirty="0">
                <a:solidFill>
                  <a:srgbClr val="2F5597"/>
                </a:solidFill>
                <a:latin typeface="맑은 고딕"/>
                <a:ea typeface="맑은 고딕"/>
                <a:cs typeface="맑은 고딕"/>
              </a:rPr>
              <a:t>동사의 수 일치 (주어 they 복수) · 동사의 수 일치 (grow와 병렬, 주어 they)</a:t>
            </a:r>
            <a:endParaRPr lang="ko-KR" sz="1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25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250"/>
                                        <p:tgtEl>
                                          <p:spTgt spid="1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250"/>
                                        <p:tgtEl>
                                          <p:spTgt spid="1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fade">
                                      <p:cBhvr>
                                        <p:cTn id="16" dur="250"/>
                                        <p:tgtEl>
                                          <p:spTgt spid="1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250"/>
                                        <p:tgtEl>
                                          <p:spTgt spid="2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fade">
                                      <p:cBhvr>
                                        <p:cTn id="22" dur="25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5" grpId="0" animBg="1"/>
      <p:bldP spid="16" grpId="0" animBg="1"/>
      <p:bldP spid="20" grpId="0" animBg="1"/>
      <p:bldP spid="21" grpId="0" animBg="1"/>
    </p:bldLst>
  </p:timing>
</p:sld>
</file>

<file path=ppt/slides/slide29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8000"/>
            </a:avLst>
          </a:prstGeom>
          <a:solidFill>
            <a:srgbClr val="1E2A5A"/>
          </a:solidFill>
          <a:ln>
            <a:noFill/>
          </a:ln>
        </p:spPr>
        <p:txBody>
          <a:bodyPr wrap="square" lIns="45720" tIns="18288" rIns="45720" bIns="18288" anchor="ctr" rtlCol="0">
            <a:noAutofit/>
          </a:bodyPr>
          <a:lstStyle/>
          <a:p>
            <a:pPr algn="ctr">
              <a:lnSpc>
                <a:spcPts val="2000"/>
              </a:lnSpc>
              <a:spcBef>
                <a:spcPts val="0"/>
              </a:spcBef>
              <a:spcAft>
                <a:spcPts val="0"/>
              </a:spcAft>
              <a:buNone/>
            </a:pPr>
            <a:r>
              <a:rPr lang="en-US" altLang="en-US" sz="1700" b="1" dirty="0">
                <a:solidFill>
                  <a:srgbClr val="FFFFFF"/>
                </a:solidFill>
                <a:latin typeface="Calibri"/>
                <a:ea typeface="맑은 고딕"/>
                <a:cs typeface="Calibri"/>
              </a:rPr>
              <a:t>L8</a:t>
            </a:r>
            <a:endParaRPr lang="ko-KR" sz="1700"/>
          </a:p>
        </p:txBody>
      </p:sp>
      <p:sp>
        <p:nvSpPr>
          <p:cNvPr id="3" name="hdr_chip"/>
          <p:cNvSpPr/>
          <p:nvPr/>
        </p:nvSpPr>
        <p:spPr>
          <a:xfrm>
            <a:off x="1755648" y="274320"/>
            <a:ext cx="1371600" cy="493776"/>
          </a:xfrm>
          <a:prstGeom prst="roundRect">
            <a:avLst>
              <a:gd name="adj" fmla="val 8000"/>
            </a:avLst>
          </a:prstGeom>
          <a:solidFill>
            <a:srgbClr val="E6EAF4"/>
          </a:solidFill>
          <a:ln>
            <a:noFill/>
          </a:ln>
        </p:spPr>
        <p:txBody>
          <a:bodyPr wrap="square" lIns="27432" tIns="18288" rIns="27432" bIns="18288" anchor="ctr" rtlCol="0">
            <a:noAutofit/>
          </a:bodyPr>
          <a:lstStyle/>
          <a:p>
            <a:pPr algn="ctr">
              <a:lnSpc>
                <a:spcPts val="1700"/>
              </a:lnSpc>
              <a:spcBef>
                <a:spcPts val="0"/>
              </a:spcBef>
              <a:spcAft>
                <a:spcPts val="0"/>
              </a:spcAft>
              <a:buNone/>
            </a:pPr>
            <a:r>
              <a:rPr lang="ko-KR" altLang="en-US" sz="1400" b="1" dirty="0">
                <a:solidFill>
                  <a:srgbClr val="1E2A5A"/>
                </a:solidFill>
                <a:latin typeface="맑은 고딕"/>
                <a:ea typeface="맑은 고딕"/>
                <a:cs typeface="맑은 고딕"/>
              </a:rPr>
              <a:t>PART 5 · 8</a:t>
            </a:r>
            <a:endParaRPr lang="ko-KR" sz="1400"/>
          </a:p>
        </p:txBody>
      </p:sp>
      <p:sp>
        <p:nvSpPr>
          <p:cNvPr id="4" name="hdr_q"/>
          <p:cNvSpPr txBox="1"/>
          <p:nvPr/>
        </p:nvSpPr>
        <p:spPr>
          <a:xfrm>
            <a:off x="3246120" y="246888"/>
            <a:ext cx="8485632" cy="548640"/>
          </a:xfrm>
          <a:prstGeom prst="rect">
            <a:avLst/>
          </a:prstGeom>
          <a:noFill/>
        </p:spPr>
        <p:txBody>
          <a:bodyPr wrap="square" lIns="109728" tIns="54864" rIns="109728" bIns="54864" anchor="ctr" rtlCol="0">
            <a:noAutofit/>
          </a:bodyPr>
          <a:lstStyle/>
          <a:p>
            <a:pPr algn="l">
              <a:lnSpc>
                <a:spcPts val="2400"/>
              </a:lnSpc>
              <a:spcBef>
                <a:spcPts val="0"/>
              </a:spcBef>
              <a:spcAft>
                <a:spcPts val="0"/>
              </a:spcAft>
              <a:buNone/>
            </a:pPr>
            <a:r>
              <a:rPr lang="ko-KR" altLang="en-US" sz="2000" b="1" dirty="0">
                <a:solidFill>
                  <a:srgbClr val="1F2328"/>
                </a:solidFill>
                <a:latin typeface="맑은 고딕"/>
                <a:ea typeface="맑은 고딕"/>
                <a:cs typeface="맑은 고딕"/>
              </a:rPr>
              <a:t>[  ] 안에서 어법상 알맞은 것을 고르시오.</a:t>
            </a:r>
            <a:endParaRPr lang="ko-KR" sz="2000"/>
          </a:p>
        </p:txBody>
      </p:sp>
      <p:sp>
        <p:nvSpPr>
          <p:cNvPr id="5" name="ftr_exam"/>
          <p:cNvSpPr txBox="1"/>
          <p:nvPr/>
        </p:nvSpPr>
        <p:spPr>
          <a:xfrm>
            <a:off x="457200" y="6519672"/>
            <a:ext cx="5669280" cy="256032"/>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8</a:t>
            </a:r>
            <a:endParaRPr lang="ko-KR" sz="1000"/>
          </a:p>
        </p:txBody>
      </p:sp>
      <p:sp>
        <p:nvSpPr>
          <p:cNvPr id="6" name="ftr_hint"/>
          <p:cNvSpPr txBox="1"/>
          <p:nvPr/>
        </p:nvSpPr>
        <p:spPr>
          <a:xfrm>
            <a:off x="5971032" y="6519672"/>
            <a:ext cx="5760720" cy="256032"/>
          </a:xfrm>
          <a:prstGeom prst="rect">
            <a:avLst/>
          </a:prstGeom>
          <a:noFill/>
        </p:spPr>
        <p:txBody>
          <a:bodyPr wrap="square" lIns="0" tIns="0" rIns="0" bIns="0" anchor="t" rtlCol="0">
            <a:noAutofit/>
          </a:bodyPr>
          <a:lstStyle/>
          <a:p>
            <a:pPr algn="r">
              <a:lnSpc>
                <a:spcPts val="1200"/>
              </a:lnSpc>
              <a:spcBef>
                <a:spcPts val="0"/>
              </a:spcBef>
              <a:spcAft>
                <a:spcPts val="0"/>
              </a:spcAft>
              <a:buNone/>
            </a:pPr>
            <a:r>
              <a:rPr lang="ko-KR" altLang="en-US" sz="1000" b="0" dirty="0">
                <a:solidFill>
                  <a:srgbClr val="7A808C"/>
                </a:solidFill>
                <a:latin typeface="맑은 고딕"/>
                <a:ea typeface="맑은 고딕"/>
                <a:cs typeface="맑은 고딕"/>
              </a:rPr>
              <a:t>클릭 ① 정답(빨간색) + 문법 포인트 공개</a:t>
            </a:r>
            <a:endParaRPr lang="ko-KR" sz="1000"/>
          </a:p>
        </p:txBody>
      </p:sp>
      <p:sp>
        <p:nvSpPr>
          <p:cNvPr id="7" name="item_card_1"/>
          <p:cNvSpPr/>
          <p:nvPr/>
        </p:nvSpPr>
        <p:spPr>
          <a:xfrm>
            <a:off x="457200" y="950976"/>
            <a:ext cx="11274552" cy="1516634"/>
          </a:xfrm>
          <a:prstGeom prst="roundRect">
            <a:avLst>
              <a:gd name="adj" fmla="val 6000"/>
            </a:avLst>
          </a:prstGeom>
          <a:solidFill>
            <a:srgbClr val="F3F5F9"/>
          </a:solidFill>
          <a:ln w="12700">
            <a:solidFill>
              <a:srgbClr val="D9DFEA"/>
            </a:solidFill>
          </a:ln>
        </p:spPr>
        <p:txBody>
          <a:bodyPr rtlCol="0" anchor="ctr"/>
          <a:lstStyle/>
          <a:p>
            <a:pPr algn="ctr"/>
          </a:p>
        </p:txBody>
      </p:sp>
      <p:sp>
        <p:nvSpPr>
          <p:cNvPr id="8" name="kor_1"/>
          <p:cNvSpPr txBox="1"/>
          <p:nvPr/>
        </p:nvSpPr>
        <p:spPr>
          <a:xfrm>
            <a:off x="457200" y="1060704"/>
            <a:ext cx="11274552" cy="363728"/>
          </a:xfrm>
          <a:prstGeom prst="rect">
            <a:avLst/>
          </a:prstGeom>
          <a:noFill/>
        </p:spPr>
        <p:txBody>
          <a:bodyPr wrap="square" lIns="228600" tIns="54864" rIns="228600" bIns="54864" anchor="t" rtlCol="0">
            <a:noAutofit/>
          </a:bodyPr>
          <a:lstStyle/>
          <a:p>
            <a:pPr algn="l">
              <a:lnSpc>
                <a:spcPts val="2000"/>
              </a:lnSpc>
              <a:spcBef>
                <a:spcPts val="0"/>
              </a:spcBef>
              <a:spcAft>
                <a:spcPts val="0"/>
              </a:spcAft>
              <a:buNone/>
            </a:pPr>
            <a:r>
              <a:rPr lang="en-US" altLang="en-US" sz="1600" b="1" dirty="0">
                <a:solidFill>
                  <a:srgbClr val="1E2A5A"/>
                </a:solidFill>
                <a:latin typeface="Calibri"/>
                <a:ea typeface="맑은 고딕"/>
                <a:cs typeface="Calibri"/>
              </a:rPr>
              <a:t>22.  </a:t>
            </a:r>
            <a:r>
              <a:rPr lang="ko-KR" altLang="en-US" sz="1600" b="0" dirty="0">
                <a:solidFill>
                  <a:srgbClr val="3C4558"/>
                </a:solidFill>
                <a:latin typeface="맑은 고딕"/>
                <a:ea typeface="맑은 고딕"/>
                <a:cs typeface="맑은 고딕"/>
              </a:rPr>
              <a:t>그래서 연꽃은 어려움 속에서도 정의를 위해 싸우려는 의지의 상징이 되었다.</a:t>
            </a:r>
            <a:endParaRPr lang="ko-KR" sz="1600"/>
          </a:p>
        </p:txBody>
      </p:sp>
      <p:sp>
        <p:nvSpPr>
          <p:cNvPr id="9" name="eng_1"/>
          <p:cNvSpPr txBox="1"/>
          <p:nvPr/>
        </p:nvSpPr>
        <p:spPr>
          <a:xfrm>
            <a:off x="457200" y="1369568"/>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solidFill>
                <a:latin typeface="Calibri"/>
                <a:ea typeface="맑은 고딕"/>
                <a:cs typeface="Calibri"/>
              </a:rPr>
              <a:t>They thus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became</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was become</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a symbol of a person’s will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fighting</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to fight</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for justice despite difficulties.</a:t>
            </a:r>
            <a:endParaRPr lang="ko-KR" sz="2000"/>
          </a:p>
        </p:txBody>
      </p:sp>
      <p:sp>
        <p:nvSpPr>
          <p:cNvPr id="10" name="rv_eng_1"/>
          <p:cNvSpPr txBox="1"/>
          <p:nvPr/>
        </p:nvSpPr>
        <p:spPr>
          <a:xfrm>
            <a:off x="457200" y="1369568"/>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alpha val="0"/>
                  </a:srgbClr>
                </a:solidFill>
                <a:latin typeface="Calibri"/>
                <a:ea typeface="맑은 고딕"/>
                <a:cs typeface="Calibri"/>
              </a:rPr>
              <a:t>They thus </a:t>
            </a:r>
            <a:r>
              <a:rPr lang="en-US" altLang="en-US" sz="2000" b="1" dirty="0">
                <a:solidFill>
                  <a:srgbClr val="C00000">
                    <a:alpha val="0"/>
                  </a:srgbClr>
                </a:solidFill>
                <a:latin typeface="Calibri"/>
                <a:ea typeface="맑은 고딕"/>
                <a:cs typeface="Calibri"/>
              </a:rPr>
              <a:t>[ </a:t>
            </a:r>
            <a:r>
              <a:rPr lang="en-US" altLang="en-US" sz="2000" b="1" dirty="0">
                <a:solidFill>
                  <a:srgbClr val="C00000"/>
                </a:solidFill>
                <a:latin typeface="Calibri"/>
                <a:ea typeface="맑은 고딕"/>
                <a:cs typeface="Calibri"/>
              </a:rPr>
              <a:t>became</a:t>
            </a:r>
            <a:r>
              <a:rPr lang="en-US" altLang="en-US" sz="2000" b="1" dirty="0">
                <a:solidFill>
                  <a:srgbClr val="C00000">
                    <a:alpha val="0"/>
                  </a:srgbClr>
                </a:solidFill>
                <a:latin typeface="Calibri"/>
                <a:ea typeface="맑은 고딕"/>
                <a:cs typeface="Calibri"/>
              </a:rPr>
              <a:t> / </a:t>
            </a:r>
            <a:r>
              <a:rPr lang="en-US" altLang="en-US" sz="2000" b="1" dirty="0">
                <a:solidFill>
                  <a:srgbClr val="C00000">
                    <a:alpha val="0"/>
                  </a:srgbClr>
                </a:solidFill>
                <a:latin typeface="Calibri"/>
                <a:ea typeface="맑은 고딕"/>
                <a:cs typeface="Calibri"/>
              </a:rPr>
              <a:t>was become</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a symbol of a person’s will </a:t>
            </a:r>
            <a:r>
              <a:rPr lang="en-US" altLang="en-US" sz="2000" b="1" dirty="0">
                <a:solidFill>
                  <a:srgbClr val="C00000">
                    <a:alpha val="0"/>
                  </a:srgbClr>
                </a:solidFill>
                <a:latin typeface="Calibri"/>
                <a:ea typeface="맑은 고딕"/>
                <a:cs typeface="Calibri"/>
              </a:rPr>
              <a:t>[ </a:t>
            </a:r>
            <a:r>
              <a:rPr lang="en-US" altLang="en-US" sz="2000" b="1" dirty="0">
                <a:solidFill>
                  <a:srgbClr val="C00000">
                    <a:alpha val="0"/>
                  </a:srgbClr>
                </a:solidFill>
                <a:latin typeface="Calibri"/>
                <a:ea typeface="맑은 고딕"/>
                <a:cs typeface="Calibri"/>
              </a:rPr>
              <a:t>fighting</a:t>
            </a:r>
            <a:r>
              <a:rPr lang="en-US" altLang="en-US" sz="2000" b="1" dirty="0">
                <a:solidFill>
                  <a:srgbClr val="C00000">
                    <a:alpha val="0"/>
                  </a:srgbClr>
                </a:solidFill>
                <a:latin typeface="Calibri"/>
                <a:ea typeface="맑은 고딕"/>
                <a:cs typeface="Calibri"/>
              </a:rPr>
              <a:t> / </a:t>
            </a:r>
            <a:r>
              <a:rPr lang="en-US" altLang="en-US" sz="2000" b="1" dirty="0">
                <a:solidFill>
                  <a:srgbClr val="C00000"/>
                </a:solidFill>
                <a:latin typeface="Calibri"/>
                <a:ea typeface="맑은 고딕"/>
                <a:cs typeface="Calibri"/>
              </a:rPr>
              <a:t>to fight</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for justice despite difficulties.</a:t>
            </a:r>
            <a:endParaRPr lang="ko-KR" sz="2000"/>
          </a:p>
        </p:txBody>
      </p:sp>
      <p:sp>
        <p:nvSpPr>
          <p:cNvPr id="11" name="rv_point_1"/>
          <p:cNvSpPr txBox="1"/>
          <p:nvPr/>
        </p:nvSpPr>
        <p:spPr>
          <a:xfrm>
            <a:off x="457200" y="2135632"/>
            <a:ext cx="11274552" cy="331978"/>
          </a:xfrm>
          <a:prstGeom prst="rect">
            <a:avLst/>
          </a:prstGeom>
          <a:noFill/>
        </p:spPr>
        <p:txBody>
          <a:bodyPr wrap="square" lIns="228600" tIns="54864" rIns="228600" bIns="54864" anchor="t" rtlCol="0">
            <a:noAutofit/>
          </a:bodyPr>
          <a:lstStyle/>
          <a:p>
            <a:pPr algn="l">
              <a:lnSpc>
                <a:spcPts val="1750"/>
              </a:lnSpc>
              <a:spcBef>
                <a:spcPts val="0"/>
              </a:spcBef>
              <a:spcAft>
                <a:spcPts val="0"/>
              </a:spcAft>
              <a:buNone/>
            </a:pPr>
            <a:r>
              <a:rPr lang="ko-KR" altLang="en-US" sz="1400" b="1" dirty="0">
                <a:solidFill>
                  <a:srgbClr val="C00000"/>
                </a:solidFill>
                <a:latin typeface="맑은 고딕"/>
                <a:ea typeface="맑은 고딕"/>
                <a:cs typeface="맑은 고딕"/>
              </a:rPr>
              <a:t>포인트  </a:t>
            </a:r>
            <a:r>
              <a:rPr lang="ko-KR" altLang="en-US" sz="1400" b="0" dirty="0">
                <a:solidFill>
                  <a:srgbClr val="2F5597"/>
                </a:solidFill>
                <a:latin typeface="맑은 고딕"/>
                <a:ea typeface="맑은 고딕"/>
                <a:cs typeface="맑은 고딕"/>
              </a:rPr>
              <a:t>수동태(능동/수동 구별) (become은 수동태 불가) · to부정사/동명사/동사원형 (명사 will 수식 → to부정사)</a:t>
            </a:r>
            <a:endParaRPr lang="ko-KR" sz="1400"/>
          </a:p>
        </p:txBody>
      </p:sp>
      <p:sp>
        <p:nvSpPr>
          <p:cNvPr id="12" name="item_card_2"/>
          <p:cNvSpPr/>
          <p:nvPr/>
        </p:nvSpPr>
        <p:spPr>
          <a:xfrm>
            <a:off x="457200" y="2577338"/>
            <a:ext cx="11274552" cy="1516634"/>
          </a:xfrm>
          <a:prstGeom prst="roundRect">
            <a:avLst>
              <a:gd name="adj" fmla="val 6000"/>
            </a:avLst>
          </a:prstGeom>
          <a:solidFill>
            <a:srgbClr val="F3F5F9"/>
          </a:solidFill>
          <a:ln w="12700">
            <a:solidFill>
              <a:srgbClr val="D9DFEA"/>
            </a:solidFill>
          </a:ln>
        </p:spPr>
        <p:txBody>
          <a:bodyPr rtlCol="0" anchor="ctr"/>
          <a:lstStyle/>
          <a:p>
            <a:pPr algn="ctr"/>
          </a:p>
        </p:txBody>
      </p:sp>
      <p:sp>
        <p:nvSpPr>
          <p:cNvPr id="13" name="kor_2"/>
          <p:cNvSpPr txBox="1"/>
          <p:nvPr/>
        </p:nvSpPr>
        <p:spPr>
          <a:xfrm>
            <a:off x="457200" y="2687066"/>
            <a:ext cx="11274552" cy="363728"/>
          </a:xfrm>
          <a:prstGeom prst="rect">
            <a:avLst/>
          </a:prstGeom>
          <a:noFill/>
        </p:spPr>
        <p:txBody>
          <a:bodyPr wrap="square" lIns="228600" tIns="54864" rIns="228600" bIns="54864" anchor="t" rtlCol="0">
            <a:noAutofit/>
          </a:bodyPr>
          <a:lstStyle/>
          <a:p>
            <a:pPr algn="l">
              <a:lnSpc>
                <a:spcPts val="2000"/>
              </a:lnSpc>
              <a:spcBef>
                <a:spcPts val="0"/>
              </a:spcBef>
              <a:spcAft>
                <a:spcPts val="0"/>
              </a:spcAft>
              <a:buNone/>
            </a:pPr>
            <a:r>
              <a:rPr lang="en-US" altLang="en-US" sz="1600" b="1" dirty="0">
                <a:solidFill>
                  <a:srgbClr val="1E2A5A"/>
                </a:solidFill>
                <a:latin typeface="Calibri"/>
                <a:ea typeface="맑은 고딕"/>
                <a:cs typeface="Calibri"/>
              </a:rPr>
              <a:t>23.  </a:t>
            </a:r>
            <a:r>
              <a:rPr lang="ko-KR" altLang="en-US" sz="1600" b="0" dirty="0">
                <a:solidFill>
                  <a:srgbClr val="3C4558"/>
                </a:solidFill>
                <a:latin typeface="맑은 고딕"/>
                <a:ea typeface="맑은 고딕"/>
                <a:cs typeface="맑은 고딕"/>
              </a:rPr>
              <a:t>조선 시대 사람들에게 문자도는 단순한 그림 이상의 의미를 지녔다.</a:t>
            </a:r>
            <a:endParaRPr lang="ko-KR" sz="1600"/>
          </a:p>
        </p:txBody>
      </p:sp>
      <p:sp>
        <p:nvSpPr>
          <p:cNvPr id="14" name="eng_2"/>
          <p:cNvSpPr txBox="1"/>
          <p:nvPr/>
        </p:nvSpPr>
        <p:spPr>
          <a:xfrm>
            <a:off x="457200" y="2995930"/>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solidFill>
                <a:latin typeface="Calibri"/>
                <a:ea typeface="맑은 고딕"/>
                <a:cs typeface="Calibri"/>
              </a:rPr>
              <a:t>Munjado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were</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was</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much more than a painting to people of the Joseon dynasty.</a:t>
            </a:r>
            <a:endParaRPr lang="ko-KR" sz="2000"/>
          </a:p>
        </p:txBody>
      </p:sp>
      <p:sp>
        <p:nvSpPr>
          <p:cNvPr id="15" name="rv_eng_2"/>
          <p:cNvSpPr txBox="1"/>
          <p:nvPr/>
        </p:nvSpPr>
        <p:spPr>
          <a:xfrm>
            <a:off x="457200" y="2995930"/>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alpha val="0"/>
                  </a:srgbClr>
                </a:solidFill>
                <a:latin typeface="Calibri"/>
                <a:ea typeface="맑은 고딕"/>
                <a:cs typeface="Calibri"/>
              </a:rPr>
              <a:t>Munjado </a:t>
            </a:r>
            <a:r>
              <a:rPr lang="en-US" altLang="en-US" sz="2000" b="1" dirty="0">
                <a:solidFill>
                  <a:srgbClr val="C00000">
                    <a:alpha val="0"/>
                  </a:srgbClr>
                </a:solidFill>
                <a:latin typeface="Calibri"/>
                <a:ea typeface="맑은 고딕"/>
                <a:cs typeface="Calibri"/>
              </a:rPr>
              <a:t>[ </a:t>
            </a:r>
            <a:r>
              <a:rPr lang="en-US" altLang="en-US" sz="2000" b="1" dirty="0">
                <a:solidFill>
                  <a:srgbClr val="C00000">
                    <a:alpha val="0"/>
                  </a:srgbClr>
                </a:solidFill>
                <a:latin typeface="Calibri"/>
                <a:ea typeface="맑은 고딕"/>
                <a:cs typeface="Calibri"/>
              </a:rPr>
              <a:t>were</a:t>
            </a:r>
            <a:r>
              <a:rPr lang="en-US" altLang="en-US" sz="2000" b="1" dirty="0">
                <a:solidFill>
                  <a:srgbClr val="C00000">
                    <a:alpha val="0"/>
                  </a:srgbClr>
                </a:solidFill>
                <a:latin typeface="Calibri"/>
                <a:ea typeface="맑은 고딕"/>
                <a:cs typeface="Calibri"/>
              </a:rPr>
              <a:t> / </a:t>
            </a:r>
            <a:r>
              <a:rPr lang="en-US" altLang="en-US" sz="2000" b="1" dirty="0">
                <a:solidFill>
                  <a:srgbClr val="C00000"/>
                </a:solidFill>
                <a:latin typeface="Calibri"/>
                <a:ea typeface="맑은 고딕"/>
                <a:cs typeface="Calibri"/>
              </a:rPr>
              <a:t>was</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much more than a painting to people of the Joseon dynasty.</a:t>
            </a:r>
            <a:endParaRPr lang="ko-KR" sz="2000"/>
          </a:p>
        </p:txBody>
      </p:sp>
      <p:sp>
        <p:nvSpPr>
          <p:cNvPr id="16" name="rv_point_2"/>
          <p:cNvSpPr txBox="1"/>
          <p:nvPr/>
        </p:nvSpPr>
        <p:spPr>
          <a:xfrm>
            <a:off x="457200" y="3761994"/>
            <a:ext cx="11274552" cy="331978"/>
          </a:xfrm>
          <a:prstGeom prst="rect">
            <a:avLst/>
          </a:prstGeom>
          <a:noFill/>
        </p:spPr>
        <p:txBody>
          <a:bodyPr wrap="square" lIns="228600" tIns="54864" rIns="228600" bIns="54864" anchor="t" rtlCol="0">
            <a:noAutofit/>
          </a:bodyPr>
          <a:lstStyle/>
          <a:p>
            <a:pPr algn="l">
              <a:lnSpc>
                <a:spcPts val="1750"/>
              </a:lnSpc>
              <a:spcBef>
                <a:spcPts val="0"/>
              </a:spcBef>
              <a:spcAft>
                <a:spcPts val="0"/>
              </a:spcAft>
              <a:buNone/>
            </a:pPr>
            <a:r>
              <a:rPr lang="ko-KR" altLang="en-US" sz="1400" b="1" dirty="0">
                <a:solidFill>
                  <a:srgbClr val="C00000"/>
                </a:solidFill>
                <a:latin typeface="맑은 고딕"/>
                <a:ea typeface="맑은 고딕"/>
                <a:cs typeface="맑은 고딕"/>
              </a:rPr>
              <a:t>포인트  </a:t>
            </a:r>
            <a:r>
              <a:rPr lang="ko-KR" altLang="en-US" sz="1400" b="0" dirty="0">
                <a:solidFill>
                  <a:srgbClr val="2F5597"/>
                </a:solidFill>
                <a:latin typeface="맑은 고딕"/>
                <a:ea typeface="맑은 고딕"/>
                <a:cs typeface="맑은 고딕"/>
              </a:rPr>
              <a:t>동사의 수 일치 (주어 Munjado 단수)</a:t>
            </a:r>
            <a:endParaRPr lang="ko-KR" sz="1400"/>
          </a:p>
        </p:txBody>
      </p:sp>
      <p:sp>
        <p:nvSpPr>
          <p:cNvPr id="17" name="item_card_3"/>
          <p:cNvSpPr/>
          <p:nvPr/>
        </p:nvSpPr>
        <p:spPr>
          <a:xfrm>
            <a:off x="457200" y="4203700"/>
            <a:ext cx="11274552" cy="1738884"/>
          </a:xfrm>
          <a:prstGeom prst="roundRect">
            <a:avLst>
              <a:gd name="adj" fmla="val 6000"/>
            </a:avLst>
          </a:prstGeom>
          <a:solidFill>
            <a:srgbClr val="F3F5F9"/>
          </a:solidFill>
          <a:ln w="12700">
            <a:solidFill>
              <a:srgbClr val="D9DFEA"/>
            </a:solidFill>
          </a:ln>
        </p:spPr>
        <p:txBody>
          <a:bodyPr rtlCol="0" anchor="ctr"/>
          <a:lstStyle/>
          <a:p>
            <a:pPr algn="ctr"/>
          </a:p>
        </p:txBody>
      </p:sp>
      <p:sp>
        <p:nvSpPr>
          <p:cNvPr id="18" name="kor_3"/>
          <p:cNvSpPr txBox="1"/>
          <p:nvPr/>
        </p:nvSpPr>
        <p:spPr>
          <a:xfrm>
            <a:off x="457200" y="4313428"/>
            <a:ext cx="11274552" cy="363728"/>
          </a:xfrm>
          <a:prstGeom prst="rect">
            <a:avLst/>
          </a:prstGeom>
          <a:noFill/>
        </p:spPr>
        <p:txBody>
          <a:bodyPr wrap="square" lIns="228600" tIns="54864" rIns="228600" bIns="54864" anchor="t" rtlCol="0">
            <a:noAutofit/>
          </a:bodyPr>
          <a:lstStyle/>
          <a:p>
            <a:pPr algn="l">
              <a:lnSpc>
                <a:spcPts val="2000"/>
              </a:lnSpc>
              <a:spcBef>
                <a:spcPts val="0"/>
              </a:spcBef>
              <a:spcAft>
                <a:spcPts val="0"/>
              </a:spcAft>
              <a:buNone/>
            </a:pPr>
            <a:r>
              <a:rPr lang="en-US" altLang="en-US" sz="1600" b="1" dirty="0">
                <a:solidFill>
                  <a:srgbClr val="1E2A5A"/>
                </a:solidFill>
                <a:latin typeface="Calibri"/>
                <a:ea typeface="맑은 고딕"/>
                <a:cs typeface="Calibri"/>
              </a:rPr>
              <a:t>24.  </a:t>
            </a:r>
            <a:r>
              <a:rPr lang="ko-KR" altLang="en-US" sz="1600" b="0" dirty="0">
                <a:solidFill>
                  <a:srgbClr val="3C4558"/>
                </a:solidFill>
                <a:latin typeface="맑은 고딕"/>
                <a:ea typeface="맑은 고딕"/>
                <a:cs typeface="맑은 고딕"/>
              </a:rPr>
              <a:t>문자도는 사람들의 행동과 태도에 큰 영향을 준 소중한 가치들을 떠올리게 해 주었다.</a:t>
            </a:r>
            <a:endParaRPr lang="ko-KR" sz="1600"/>
          </a:p>
        </p:txBody>
      </p:sp>
      <p:sp>
        <p:nvSpPr>
          <p:cNvPr id="19" name="eng_3"/>
          <p:cNvSpPr txBox="1"/>
          <p:nvPr/>
        </p:nvSpPr>
        <p:spPr>
          <a:xfrm>
            <a:off x="457200" y="4622292"/>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solidFill>
                <a:latin typeface="Calibri"/>
                <a:ea typeface="맑은 고딕"/>
                <a:cs typeface="Calibri"/>
              </a:rPr>
              <a:t>It reminded them of important values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that</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who</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greatly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was influenced</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influenced</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their behaviors and attitudes.</a:t>
            </a:r>
            <a:endParaRPr lang="ko-KR" sz="2000"/>
          </a:p>
        </p:txBody>
      </p:sp>
      <p:sp>
        <p:nvSpPr>
          <p:cNvPr id="20" name="rv_eng_3"/>
          <p:cNvSpPr txBox="1"/>
          <p:nvPr/>
        </p:nvSpPr>
        <p:spPr>
          <a:xfrm>
            <a:off x="457200" y="4622292"/>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alpha val="0"/>
                  </a:srgbClr>
                </a:solidFill>
                <a:latin typeface="Calibri"/>
                <a:ea typeface="맑은 고딕"/>
                <a:cs typeface="Calibri"/>
              </a:rPr>
              <a:t>It reminded them of important values </a:t>
            </a:r>
            <a:r>
              <a:rPr lang="en-US" altLang="en-US" sz="2000" b="1" dirty="0">
                <a:solidFill>
                  <a:srgbClr val="C00000">
                    <a:alpha val="0"/>
                  </a:srgbClr>
                </a:solidFill>
                <a:latin typeface="Calibri"/>
                <a:ea typeface="맑은 고딕"/>
                <a:cs typeface="Calibri"/>
              </a:rPr>
              <a:t>[ </a:t>
            </a:r>
            <a:r>
              <a:rPr lang="en-US" altLang="en-US" sz="2000" b="1" dirty="0">
                <a:solidFill>
                  <a:srgbClr val="C00000"/>
                </a:solidFill>
                <a:latin typeface="Calibri"/>
                <a:ea typeface="맑은 고딕"/>
                <a:cs typeface="Calibri"/>
              </a:rPr>
              <a:t>that</a:t>
            </a:r>
            <a:r>
              <a:rPr lang="en-US" altLang="en-US" sz="2000" b="1" dirty="0">
                <a:solidFill>
                  <a:srgbClr val="C00000">
                    <a:alpha val="0"/>
                  </a:srgbClr>
                </a:solidFill>
                <a:latin typeface="Calibri"/>
                <a:ea typeface="맑은 고딕"/>
                <a:cs typeface="Calibri"/>
              </a:rPr>
              <a:t> / </a:t>
            </a:r>
            <a:r>
              <a:rPr lang="en-US" altLang="en-US" sz="2000" b="1" dirty="0">
                <a:solidFill>
                  <a:srgbClr val="C00000">
                    <a:alpha val="0"/>
                  </a:srgbClr>
                </a:solidFill>
                <a:latin typeface="Calibri"/>
                <a:ea typeface="맑은 고딕"/>
                <a:cs typeface="Calibri"/>
              </a:rPr>
              <a:t>who</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greatly </a:t>
            </a:r>
            <a:r>
              <a:rPr lang="en-US" altLang="en-US" sz="2000" b="1" dirty="0">
                <a:solidFill>
                  <a:srgbClr val="C00000">
                    <a:alpha val="0"/>
                  </a:srgbClr>
                </a:solidFill>
                <a:latin typeface="Calibri"/>
                <a:ea typeface="맑은 고딕"/>
                <a:cs typeface="Calibri"/>
              </a:rPr>
              <a:t>[ </a:t>
            </a:r>
            <a:r>
              <a:rPr lang="en-US" altLang="en-US" sz="2000" b="1" dirty="0">
                <a:solidFill>
                  <a:srgbClr val="C00000">
                    <a:alpha val="0"/>
                  </a:srgbClr>
                </a:solidFill>
                <a:latin typeface="Calibri"/>
                <a:ea typeface="맑은 고딕"/>
                <a:cs typeface="Calibri"/>
              </a:rPr>
              <a:t>was influenced</a:t>
            </a:r>
            <a:r>
              <a:rPr lang="en-US" altLang="en-US" sz="2000" b="1" dirty="0">
                <a:solidFill>
                  <a:srgbClr val="C00000">
                    <a:alpha val="0"/>
                  </a:srgbClr>
                </a:solidFill>
                <a:latin typeface="Calibri"/>
                <a:ea typeface="맑은 고딕"/>
                <a:cs typeface="Calibri"/>
              </a:rPr>
              <a:t> / </a:t>
            </a:r>
            <a:r>
              <a:rPr lang="en-US" altLang="en-US" sz="2000" b="1" dirty="0">
                <a:solidFill>
                  <a:srgbClr val="C00000"/>
                </a:solidFill>
                <a:latin typeface="Calibri"/>
                <a:ea typeface="맑은 고딕"/>
                <a:cs typeface="Calibri"/>
              </a:rPr>
              <a:t>influenced</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their behaviors and attitudes.</a:t>
            </a:r>
            <a:endParaRPr lang="ko-KR" sz="2000"/>
          </a:p>
        </p:txBody>
      </p:sp>
      <p:sp>
        <p:nvSpPr>
          <p:cNvPr id="21" name="rv_point_3"/>
          <p:cNvSpPr txBox="1"/>
          <p:nvPr/>
        </p:nvSpPr>
        <p:spPr>
          <a:xfrm>
            <a:off x="457200" y="5388356"/>
            <a:ext cx="11274552" cy="554227"/>
          </a:xfrm>
          <a:prstGeom prst="rect">
            <a:avLst/>
          </a:prstGeom>
          <a:noFill/>
        </p:spPr>
        <p:txBody>
          <a:bodyPr wrap="square" lIns="228600" tIns="54864" rIns="228600" bIns="54864" anchor="t" rtlCol="0">
            <a:noAutofit/>
          </a:bodyPr>
          <a:lstStyle/>
          <a:p>
            <a:pPr algn="l">
              <a:lnSpc>
                <a:spcPts val="1750"/>
              </a:lnSpc>
              <a:spcBef>
                <a:spcPts val="0"/>
              </a:spcBef>
              <a:spcAft>
                <a:spcPts val="0"/>
              </a:spcAft>
              <a:buNone/>
            </a:pPr>
            <a:r>
              <a:rPr lang="ko-KR" altLang="en-US" sz="1400" b="1" dirty="0">
                <a:solidFill>
                  <a:srgbClr val="C00000"/>
                </a:solidFill>
                <a:latin typeface="맑은 고딕"/>
                <a:ea typeface="맑은 고딕"/>
                <a:cs typeface="맑은 고딕"/>
              </a:rPr>
              <a:t>포인트  </a:t>
            </a:r>
            <a:r>
              <a:rPr lang="ko-KR" altLang="en-US" sz="1400" b="0" dirty="0">
                <a:solidFill>
                  <a:srgbClr val="2F5597"/>
                </a:solidFill>
                <a:latin typeface="맑은 고딕"/>
                <a:ea typeface="맑은 고딕"/>
                <a:cs typeface="맑은 고딕"/>
              </a:rPr>
              <a:t>관계대명사 (선행사 important values=사물) · 수동태(능동/수동 구별) (목적어 behaviors and attitudes가 있으므로 능동)</a:t>
            </a:r>
            <a:endParaRPr lang="ko-KR" sz="1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25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250"/>
                                        <p:tgtEl>
                                          <p:spTgt spid="1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250"/>
                                        <p:tgtEl>
                                          <p:spTgt spid="1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fade">
                                      <p:cBhvr>
                                        <p:cTn id="16" dur="250"/>
                                        <p:tgtEl>
                                          <p:spTgt spid="1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250"/>
                                        <p:tgtEl>
                                          <p:spTgt spid="2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fade">
                                      <p:cBhvr>
                                        <p:cTn id="22" dur="25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5" grpId="0" animBg="1"/>
      <p:bldP spid="16" grpId="0" animBg="1"/>
      <p:bldP spid="20" grpId="0" animBg="1"/>
      <p:bldP spid="21" grpId="0" animBg="1"/>
    </p:bldLst>
  </p:timing>
</p:sld>
</file>

<file path=ppt/slides/slide29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8000"/>
            </a:avLst>
          </a:prstGeom>
          <a:solidFill>
            <a:srgbClr val="1E2A5A"/>
          </a:solidFill>
          <a:ln>
            <a:noFill/>
          </a:ln>
        </p:spPr>
        <p:txBody>
          <a:bodyPr wrap="square" lIns="45720" tIns="18288" rIns="45720" bIns="18288" anchor="ctr" rtlCol="0">
            <a:noAutofit/>
          </a:bodyPr>
          <a:lstStyle/>
          <a:p>
            <a:pPr algn="ctr">
              <a:lnSpc>
                <a:spcPts val="2000"/>
              </a:lnSpc>
              <a:spcBef>
                <a:spcPts val="0"/>
              </a:spcBef>
              <a:spcAft>
                <a:spcPts val="0"/>
              </a:spcAft>
              <a:buNone/>
            </a:pPr>
            <a:r>
              <a:rPr lang="en-US" altLang="en-US" sz="1700" b="1" dirty="0">
                <a:solidFill>
                  <a:srgbClr val="FFFFFF"/>
                </a:solidFill>
                <a:latin typeface="Calibri"/>
                <a:ea typeface="맑은 고딕"/>
                <a:cs typeface="Calibri"/>
              </a:rPr>
              <a:t>L8</a:t>
            </a:r>
            <a:endParaRPr lang="ko-KR" sz="1700"/>
          </a:p>
        </p:txBody>
      </p:sp>
      <p:sp>
        <p:nvSpPr>
          <p:cNvPr id="3" name="hdr_chip"/>
          <p:cNvSpPr/>
          <p:nvPr/>
        </p:nvSpPr>
        <p:spPr>
          <a:xfrm>
            <a:off x="1755648" y="274320"/>
            <a:ext cx="1371600" cy="493776"/>
          </a:xfrm>
          <a:prstGeom prst="roundRect">
            <a:avLst>
              <a:gd name="adj" fmla="val 8000"/>
            </a:avLst>
          </a:prstGeom>
          <a:solidFill>
            <a:srgbClr val="E6EAF4"/>
          </a:solidFill>
          <a:ln>
            <a:noFill/>
          </a:ln>
        </p:spPr>
        <p:txBody>
          <a:bodyPr wrap="square" lIns="27432" tIns="18288" rIns="27432" bIns="18288" anchor="ctr" rtlCol="0">
            <a:noAutofit/>
          </a:bodyPr>
          <a:lstStyle/>
          <a:p>
            <a:pPr algn="ctr">
              <a:lnSpc>
                <a:spcPts val="1700"/>
              </a:lnSpc>
              <a:spcBef>
                <a:spcPts val="0"/>
              </a:spcBef>
              <a:spcAft>
                <a:spcPts val="0"/>
              </a:spcAft>
              <a:buNone/>
            </a:pPr>
            <a:r>
              <a:rPr lang="ko-KR" altLang="en-US" sz="1400" b="1" dirty="0">
                <a:solidFill>
                  <a:srgbClr val="1E2A5A"/>
                </a:solidFill>
                <a:latin typeface="맑은 고딕"/>
                <a:ea typeface="맑은 고딕"/>
                <a:cs typeface="맑은 고딕"/>
              </a:rPr>
              <a:t>PART 5 · 9</a:t>
            </a:r>
            <a:endParaRPr lang="ko-KR" sz="1400"/>
          </a:p>
        </p:txBody>
      </p:sp>
      <p:sp>
        <p:nvSpPr>
          <p:cNvPr id="4" name="hdr_q"/>
          <p:cNvSpPr txBox="1"/>
          <p:nvPr/>
        </p:nvSpPr>
        <p:spPr>
          <a:xfrm>
            <a:off x="3246120" y="246888"/>
            <a:ext cx="8485632" cy="548640"/>
          </a:xfrm>
          <a:prstGeom prst="rect">
            <a:avLst/>
          </a:prstGeom>
          <a:noFill/>
        </p:spPr>
        <p:txBody>
          <a:bodyPr wrap="square" lIns="109728" tIns="54864" rIns="109728" bIns="54864" anchor="ctr" rtlCol="0">
            <a:noAutofit/>
          </a:bodyPr>
          <a:lstStyle/>
          <a:p>
            <a:pPr algn="l">
              <a:lnSpc>
                <a:spcPts val="2400"/>
              </a:lnSpc>
              <a:spcBef>
                <a:spcPts val="0"/>
              </a:spcBef>
              <a:spcAft>
                <a:spcPts val="0"/>
              </a:spcAft>
              <a:buNone/>
            </a:pPr>
            <a:r>
              <a:rPr lang="ko-KR" altLang="en-US" sz="2000" b="1" dirty="0">
                <a:solidFill>
                  <a:srgbClr val="1F2328"/>
                </a:solidFill>
                <a:latin typeface="맑은 고딕"/>
                <a:ea typeface="맑은 고딕"/>
                <a:cs typeface="맑은 고딕"/>
              </a:rPr>
              <a:t>[  ] 안에서 어법상 알맞은 것을 고르시오.</a:t>
            </a:r>
            <a:endParaRPr lang="ko-KR" sz="2000"/>
          </a:p>
        </p:txBody>
      </p:sp>
      <p:sp>
        <p:nvSpPr>
          <p:cNvPr id="5" name="ftr_exam"/>
          <p:cNvSpPr txBox="1"/>
          <p:nvPr/>
        </p:nvSpPr>
        <p:spPr>
          <a:xfrm>
            <a:off x="457200" y="6519672"/>
            <a:ext cx="5669280" cy="256032"/>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8</a:t>
            </a:r>
            <a:endParaRPr lang="ko-KR" sz="1000"/>
          </a:p>
        </p:txBody>
      </p:sp>
      <p:sp>
        <p:nvSpPr>
          <p:cNvPr id="6" name="ftr_hint"/>
          <p:cNvSpPr txBox="1"/>
          <p:nvPr/>
        </p:nvSpPr>
        <p:spPr>
          <a:xfrm>
            <a:off x="5971032" y="6519672"/>
            <a:ext cx="5760720" cy="256032"/>
          </a:xfrm>
          <a:prstGeom prst="rect">
            <a:avLst/>
          </a:prstGeom>
          <a:noFill/>
        </p:spPr>
        <p:txBody>
          <a:bodyPr wrap="square" lIns="0" tIns="0" rIns="0" bIns="0" anchor="t" rtlCol="0">
            <a:noAutofit/>
          </a:bodyPr>
          <a:lstStyle/>
          <a:p>
            <a:pPr algn="r">
              <a:lnSpc>
                <a:spcPts val="1200"/>
              </a:lnSpc>
              <a:spcBef>
                <a:spcPts val="0"/>
              </a:spcBef>
              <a:spcAft>
                <a:spcPts val="0"/>
              </a:spcAft>
              <a:buNone/>
            </a:pPr>
            <a:r>
              <a:rPr lang="ko-KR" altLang="en-US" sz="1000" b="0" dirty="0">
                <a:solidFill>
                  <a:srgbClr val="7A808C"/>
                </a:solidFill>
                <a:latin typeface="맑은 고딕"/>
                <a:ea typeface="맑은 고딕"/>
                <a:cs typeface="맑은 고딕"/>
              </a:rPr>
              <a:t>클릭 ① 정답(빨간색) + 문법 포인트 공개</a:t>
            </a:r>
            <a:endParaRPr lang="ko-KR" sz="1000"/>
          </a:p>
        </p:txBody>
      </p:sp>
      <p:sp>
        <p:nvSpPr>
          <p:cNvPr id="7" name="item_card_1"/>
          <p:cNvSpPr/>
          <p:nvPr/>
        </p:nvSpPr>
        <p:spPr>
          <a:xfrm>
            <a:off x="457200" y="950976"/>
            <a:ext cx="11274552" cy="1161034"/>
          </a:xfrm>
          <a:prstGeom prst="roundRect">
            <a:avLst>
              <a:gd name="adj" fmla="val 6000"/>
            </a:avLst>
          </a:prstGeom>
          <a:solidFill>
            <a:srgbClr val="F3F5F9"/>
          </a:solidFill>
          <a:ln w="12700">
            <a:solidFill>
              <a:srgbClr val="D9DFEA"/>
            </a:solidFill>
          </a:ln>
        </p:spPr>
        <p:txBody>
          <a:bodyPr rtlCol="0" anchor="ctr"/>
          <a:lstStyle/>
          <a:p>
            <a:pPr algn="ctr"/>
          </a:p>
        </p:txBody>
      </p:sp>
      <p:sp>
        <p:nvSpPr>
          <p:cNvPr id="8" name="kor_1"/>
          <p:cNvSpPr txBox="1"/>
          <p:nvPr/>
        </p:nvSpPr>
        <p:spPr>
          <a:xfrm>
            <a:off x="457200" y="1060704"/>
            <a:ext cx="11274552" cy="363728"/>
          </a:xfrm>
          <a:prstGeom prst="rect">
            <a:avLst/>
          </a:prstGeom>
          <a:noFill/>
        </p:spPr>
        <p:txBody>
          <a:bodyPr wrap="square" lIns="228600" tIns="54864" rIns="228600" bIns="54864" anchor="t" rtlCol="0">
            <a:noAutofit/>
          </a:bodyPr>
          <a:lstStyle/>
          <a:p>
            <a:pPr algn="l">
              <a:lnSpc>
                <a:spcPts val="2000"/>
              </a:lnSpc>
              <a:spcBef>
                <a:spcPts val="0"/>
              </a:spcBef>
              <a:spcAft>
                <a:spcPts val="0"/>
              </a:spcAft>
              <a:buNone/>
            </a:pPr>
            <a:r>
              <a:rPr lang="en-US" altLang="en-US" sz="1600" b="1" dirty="0">
                <a:solidFill>
                  <a:srgbClr val="1E2A5A"/>
                </a:solidFill>
                <a:latin typeface="Calibri"/>
                <a:ea typeface="맑은 고딕"/>
                <a:cs typeface="Calibri"/>
              </a:rPr>
              <a:t>25.  </a:t>
            </a:r>
            <a:r>
              <a:rPr lang="ko-KR" altLang="en-US" sz="1600" b="0" dirty="0">
                <a:solidFill>
                  <a:srgbClr val="3C4558"/>
                </a:solidFill>
                <a:latin typeface="맑은 고딕"/>
                <a:ea typeface="맑은 고딕"/>
                <a:cs typeface="맑은 고딕"/>
              </a:rPr>
              <a:t>특히 아이들에게 문자도는 학습 도구였다.</a:t>
            </a:r>
            <a:endParaRPr lang="ko-KR" sz="1600"/>
          </a:p>
        </p:txBody>
      </p:sp>
      <p:sp>
        <p:nvSpPr>
          <p:cNvPr id="9" name="eng_1"/>
          <p:cNvSpPr txBox="1"/>
          <p:nvPr/>
        </p:nvSpPr>
        <p:spPr>
          <a:xfrm>
            <a:off x="457200" y="1369568"/>
            <a:ext cx="11274552" cy="4653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solidFill>
                <a:latin typeface="Calibri"/>
                <a:ea typeface="맑은 고딕"/>
                <a:cs typeface="Calibri"/>
              </a:rPr>
              <a:t>In particular, for children, Munjado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were</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was</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a study tool.</a:t>
            </a:r>
            <a:endParaRPr lang="ko-KR" sz="2000"/>
          </a:p>
        </p:txBody>
      </p:sp>
      <p:sp>
        <p:nvSpPr>
          <p:cNvPr id="10" name="rv_eng_1"/>
          <p:cNvSpPr txBox="1"/>
          <p:nvPr/>
        </p:nvSpPr>
        <p:spPr>
          <a:xfrm>
            <a:off x="457200" y="1369568"/>
            <a:ext cx="11274552" cy="4653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alpha val="0"/>
                  </a:srgbClr>
                </a:solidFill>
                <a:latin typeface="Calibri"/>
                <a:ea typeface="맑은 고딕"/>
                <a:cs typeface="Calibri"/>
              </a:rPr>
              <a:t>In particular, for children, Munjado </a:t>
            </a:r>
            <a:r>
              <a:rPr lang="en-US" altLang="en-US" sz="2000" b="1" dirty="0">
                <a:solidFill>
                  <a:srgbClr val="C00000">
                    <a:alpha val="0"/>
                  </a:srgbClr>
                </a:solidFill>
                <a:latin typeface="Calibri"/>
                <a:ea typeface="맑은 고딕"/>
                <a:cs typeface="Calibri"/>
              </a:rPr>
              <a:t>[ </a:t>
            </a:r>
            <a:r>
              <a:rPr lang="en-US" altLang="en-US" sz="2000" b="1" dirty="0">
                <a:solidFill>
                  <a:srgbClr val="C00000">
                    <a:alpha val="0"/>
                  </a:srgbClr>
                </a:solidFill>
                <a:latin typeface="Calibri"/>
                <a:ea typeface="맑은 고딕"/>
                <a:cs typeface="Calibri"/>
              </a:rPr>
              <a:t>were</a:t>
            </a:r>
            <a:r>
              <a:rPr lang="en-US" altLang="en-US" sz="2000" b="1" dirty="0">
                <a:solidFill>
                  <a:srgbClr val="C00000">
                    <a:alpha val="0"/>
                  </a:srgbClr>
                </a:solidFill>
                <a:latin typeface="Calibri"/>
                <a:ea typeface="맑은 고딕"/>
                <a:cs typeface="Calibri"/>
              </a:rPr>
              <a:t> / </a:t>
            </a:r>
            <a:r>
              <a:rPr lang="en-US" altLang="en-US" sz="2000" b="1" dirty="0">
                <a:solidFill>
                  <a:srgbClr val="C00000"/>
                </a:solidFill>
                <a:latin typeface="Calibri"/>
                <a:ea typeface="맑은 고딕"/>
                <a:cs typeface="Calibri"/>
              </a:rPr>
              <a:t>was</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a study tool.</a:t>
            </a:r>
            <a:endParaRPr lang="ko-KR" sz="2000"/>
          </a:p>
        </p:txBody>
      </p:sp>
      <p:sp>
        <p:nvSpPr>
          <p:cNvPr id="11" name="rv_point_1"/>
          <p:cNvSpPr txBox="1"/>
          <p:nvPr/>
        </p:nvSpPr>
        <p:spPr>
          <a:xfrm>
            <a:off x="457200" y="1780032"/>
            <a:ext cx="11274552" cy="331978"/>
          </a:xfrm>
          <a:prstGeom prst="rect">
            <a:avLst/>
          </a:prstGeom>
          <a:noFill/>
        </p:spPr>
        <p:txBody>
          <a:bodyPr wrap="square" lIns="228600" tIns="54864" rIns="228600" bIns="54864" anchor="t" rtlCol="0">
            <a:noAutofit/>
          </a:bodyPr>
          <a:lstStyle/>
          <a:p>
            <a:pPr algn="l">
              <a:lnSpc>
                <a:spcPts val="1750"/>
              </a:lnSpc>
              <a:spcBef>
                <a:spcPts val="0"/>
              </a:spcBef>
              <a:spcAft>
                <a:spcPts val="0"/>
              </a:spcAft>
              <a:buNone/>
            </a:pPr>
            <a:r>
              <a:rPr lang="ko-KR" altLang="en-US" sz="1400" b="1" dirty="0">
                <a:solidFill>
                  <a:srgbClr val="C00000"/>
                </a:solidFill>
                <a:latin typeface="맑은 고딕"/>
                <a:ea typeface="맑은 고딕"/>
                <a:cs typeface="맑은 고딕"/>
              </a:rPr>
              <a:t>포인트  </a:t>
            </a:r>
            <a:r>
              <a:rPr lang="ko-KR" altLang="en-US" sz="1400" b="0" dirty="0">
                <a:solidFill>
                  <a:srgbClr val="2F5597"/>
                </a:solidFill>
                <a:latin typeface="맑은 고딕"/>
                <a:ea typeface="맑은 고딕"/>
                <a:cs typeface="맑은 고딕"/>
              </a:rPr>
              <a:t>동사의 수 일치 (주어 Munjado 단수)</a:t>
            </a:r>
            <a:endParaRPr lang="ko-KR" sz="1400"/>
          </a:p>
        </p:txBody>
      </p:sp>
      <p:sp>
        <p:nvSpPr>
          <p:cNvPr id="12" name="item_card_2"/>
          <p:cNvSpPr/>
          <p:nvPr/>
        </p:nvSpPr>
        <p:spPr>
          <a:xfrm>
            <a:off x="457200" y="2221738"/>
            <a:ext cx="11274552" cy="1516634"/>
          </a:xfrm>
          <a:prstGeom prst="roundRect">
            <a:avLst>
              <a:gd name="adj" fmla="val 6000"/>
            </a:avLst>
          </a:prstGeom>
          <a:solidFill>
            <a:srgbClr val="F3F5F9"/>
          </a:solidFill>
          <a:ln w="12700">
            <a:solidFill>
              <a:srgbClr val="D9DFEA"/>
            </a:solidFill>
          </a:ln>
        </p:spPr>
        <p:txBody>
          <a:bodyPr rtlCol="0" anchor="ctr"/>
          <a:lstStyle/>
          <a:p>
            <a:pPr algn="ctr"/>
          </a:p>
        </p:txBody>
      </p:sp>
      <p:sp>
        <p:nvSpPr>
          <p:cNvPr id="13" name="kor_2"/>
          <p:cNvSpPr txBox="1"/>
          <p:nvPr/>
        </p:nvSpPr>
        <p:spPr>
          <a:xfrm>
            <a:off x="457200" y="2331466"/>
            <a:ext cx="11274552" cy="363728"/>
          </a:xfrm>
          <a:prstGeom prst="rect">
            <a:avLst/>
          </a:prstGeom>
          <a:noFill/>
        </p:spPr>
        <p:txBody>
          <a:bodyPr wrap="square" lIns="228600" tIns="54864" rIns="228600" bIns="54864" anchor="t" rtlCol="0">
            <a:noAutofit/>
          </a:bodyPr>
          <a:lstStyle/>
          <a:p>
            <a:pPr algn="l">
              <a:lnSpc>
                <a:spcPts val="2000"/>
              </a:lnSpc>
              <a:spcBef>
                <a:spcPts val="0"/>
              </a:spcBef>
              <a:spcAft>
                <a:spcPts val="0"/>
              </a:spcAft>
              <a:buNone/>
            </a:pPr>
            <a:r>
              <a:rPr lang="en-US" altLang="en-US" sz="1600" b="1" dirty="0">
                <a:solidFill>
                  <a:srgbClr val="1E2A5A"/>
                </a:solidFill>
                <a:latin typeface="Calibri"/>
                <a:ea typeface="맑은 고딕"/>
                <a:cs typeface="Calibri"/>
              </a:rPr>
              <a:t>26.  </a:t>
            </a:r>
            <a:r>
              <a:rPr lang="ko-KR" altLang="en-US" sz="1600" b="0" dirty="0">
                <a:solidFill>
                  <a:srgbClr val="3C4558"/>
                </a:solidFill>
                <a:latin typeface="맑은 고딕"/>
                <a:ea typeface="맑은 고딕"/>
                <a:cs typeface="맑은 고딕"/>
              </a:rPr>
              <a:t>조선 시대 아이들은 문자도를 통해 가정과 사회의 화합이 얼마나 중요한지 배울 수 있었다.</a:t>
            </a:r>
            <a:endParaRPr lang="ko-KR" sz="1600"/>
          </a:p>
        </p:txBody>
      </p:sp>
      <p:sp>
        <p:nvSpPr>
          <p:cNvPr id="14" name="eng_2"/>
          <p:cNvSpPr txBox="1"/>
          <p:nvPr/>
        </p:nvSpPr>
        <p:spPr>
          <a:xfrm>
            <a:off x="457200" y="2640330"/>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solidFill>
                <a:latin typeface="Calibri"/>
                <a:ea typeface="맑은 고딕"/>
                <a:cs typeface="Calibri"/>
              </a:rPr>
              <a:t>Through it, children in the Joseon dynasty could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learn</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to learn</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the importance of harmony in family and society.</a:t>
            </a:r>
            <a:endParaRPr lang="ko-KR" sz="2000"/>
          </a:p>
        </p:txBody>
      </p:sp>
      <p:sp>
        <p:nvSpPr>
          <p:cNvPr id="15" name="rv_eng_2"/>
          <p:cNvSpPr txBox="1"/>
          <p:nvPr/>
        </p:nvSpPr>
        <p:spPr>
          <a:xfrm>
            <a:off x="457200" y="2640330"/>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alpha val="0"/>
                  </a:srgbClr>
                </a:solidFill>
                <a:latin typeface="Calibri"/>
                <a:ea typeface="맑은 고딕"/>
                <a:cs typeface="Calibri"/>
              </a:rPr>
              <a:t>Through it, children in the Joseon dynasty could </a:t>
            </a:r>
            <a:r>
              <a:rPr lang="en-US" altLang="en-US" sz="2000" b="1" dirty="0">
                <a:solidFill>
                  <a:srgbClr val="C00000">
                    <a:alpha val="0"/>
                  </a:srgbClr>
                </a:solidFill>
                <a:latin typeface="Calibri"/>
                <a:ea typeface="맑은 고딕"/>
                <a:cs typeface="Calibri"/>
              </a:rPr>
              <a:t>[ </a:t>
            </a:r>
            <a:r>
              <a:rPr lang="en-US" altLang="en-US" sz="2000" b="1" dirty="0">
                <a:solidFill>
                  <a:srgbClr val="C00000"/>
                </a:solidFill>
                <a:latin typeface="Calibri"/>
                <a:ea typeface="맑은 고딕"/>
                <a:cs typeface="Calibri"/>
              </a:rPr>
              <a:t>learn</a:t>
            </a:r>
            <a:r>
              <a:rPr lang="en-US" altLang="en-US" sz="2000" b="1" dirty="0">
                <a:solidFill>
                  <a:srgbClr val="C00000">
                    <a:alpha val="0"/>
                  </a:srgbClr>
                </a:solidFill>
                <a:latin typeface="Calibri"/>
                <a:ea typeface="맑은 고딕"/>
                <a:cs typeface="Calibri"/>
              </a:rPr>
              <a:t> / </a:t>
            </a:r>
            <a:r>
              <a:rPr lang="en-US" altLang="en-US" sz="2000" b="1" dirty="0">
                <a:solidFill>
                  <a:srgbClr val="C00000">
                    <a:alpha val="0"/>
                  </a:srgbClr>
                </a:solidFill>
                <a:latin typeface="Calibri"/>
                <a:ea typeface="맑은 고딕"/>
                <a:cs typeface="Calibri"/>
              </a:rPr>
              <a:t>to learn</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the importance of harmony in family and society.</a:t>
            </a:r>
            <a:endParaRPr lang="ko-KR" sz="2000"/>
          </a:p>
        </p:txBody>
      </p:sp>
      <p:sp>
        <p:nvSpPr>
          <p:cNvPr id="16" name="rv_point_2"/>
          <p:cNvSpPr txBox="1"/>
          <p:nvPr/>
        </p:nvSpPr>
        <p:spPr>
          <a:xfrm>
            <a:off x="457200" y="3406394"/>
            <a:ext cx="11274552" cy="331978"/>
          </a:xfrm>
          <a:prstGeom prst="rect">
            <a:avLst/>
          </a:prstGeom>
          <a:noFill/>
        </p:spPr>
        <p:txBody>
          <a:bodyPr wrap="square" lIns="228600" tIns="54864" rIns="228600" bIns="54864" anchor="t" rtlCol="0">
            <a:noAutofit/>
          </a:bodyPr>
          <a:lstStyle/>
          <a:p>
            <a:pPr algn="l">
              <a:lnSpc>
                <a:spcPts val="1750"/>
              </a:lnSpc>
              <a:spcBef>
                <a:spcPts val="0"/>
              </a:spcBef>
              <a:spcAft>
                <a:spcPts val="0"/>
              </a:spcAft>
              <a:buNone/>
            </a:pPr>
            <a:r>
              <a:rPr lang="ko-KR" altLang="en-US" sz="1400" b="1" dirty="0">
                <a:solidFill>
                  <a:srgbClr val="C00000"/>
                </a:solidFill>
                <a:latin typeface="맑은 고딕"/>
                <a:ea typeface="맑은 고딕"/>
                <a:cs typeface="맑은 고딕"/>
              </a:rPr>
              <a:t>포인트  </a:t>
            </a:r>
            <a:r>
              <a:rPr lang="ko-KR" altLang="en-US" sz="1400" b="0" dirty="0">
                <a:solidFill>
                  <a:srgbClr val="2F5597"/>
                </a:solidFill>
                <a:latin typeface="맑은 고딕"/>
                <a:ea typeface="맑은 고딕"/>
                <a:cs typeface="맑은 고딕"/>
              </a:rPr>
              <a:t>to부정사/동명사/동사원형 (조동사 could + 동사원형)</a:t>
            </a:r>
            <a:endParaRPr lang="ko-KR" sz="1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25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250"/>
                                        <p:tgtEl>
                                          <p:spTgt spid="1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250"/>
                                        <p:tgtEl>
                                          <p:spTgt spid="1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fade">
                                      <p:cBhvr>
                                        <p:cTn id="16" dur="25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5" grpId="0" animBg="1"/>
      <p:bldP spid="16" grpId="0" animBg="1"/>
    </p:bldLst>
  </p:timing>
</p:sld>
</file>

<file path=ppt/slides/slide297.xml><?xml version="1.0" encoding="utf-8"?>
<p:sld xmlns:a="http://schemas.openxmlformats.org/drawingml/2006/main" xmlns:p="http://schemas.openxmlformats.org/presentationml/2006/main" xmlns:r="http://schemas.openxmlformats.org/officeDocument/2006/relationships">
  <p:cSld>
    <p:bg>
      <p:bgPr>
        <a:solidFill>
          <a:srgbClr val="1E2A5A"/>
        </a:solidFill>
        <a:effectLst/>
      </p:bgPr>
    </p:bg>
    <p:spTree>
      <p:nvGrpSpPr>
        <p:cNvPr id="1" name=""/>
        <p:cNvGrpSpPr/>
        <p:nvPr/>
      </p:nvGrpSpPr>
      <p:grpSpPr/>
      <p:sp>
        <p:nvSpPr>
          <p:cNvPr id="2" name="sec_title"/>
          <p:cNvSpPr txBox="1"/>
          <p:nvPr/>
        </p:nvSpPr>
        <p:spPr>
          <a:xfrm>
            <a:off x="822960" y="1371600"/>
            <a:ext cx="10515600" cy="868680"/>
          </a:xfrm>
          <a:prstGeom prst="rect">
            <a:avLst/>
          </a:prstGeom>
          <a:noFill/>
        </p:spPr>
        <p:txBody>
          <a:bodyPr wrap="square" lIns="109728" tIns="54864" rIns="109728" bIns="54864" anchor="t" rtlCol="0">
            <a:noAutofit/>
          </a:bodyPr>
          <a:lstStyle/>
          <a:p>
            <a:pPr algn="l">
              <a:lnSpc>
                <a:spcPts val="4800"/>
              </a:lnSpc>
              <a:spcBef>
                <a:spcPts val="0"/>
              </a:spcBef>
              <a:spcAft>
                <a:spcPts val="0"/>
              </a:spcAft>
              <a:buNone/>
            </a:pPr>
            <a:r>
              <a:rPr lang="ko-KR" altLang="en-US" sz="4000" b="1" dirty="0">
                <a:solidFill>
                  <a:srgbClr val="FFE98A"/>
                </a:solidFill>
                <a:latin typeface="맑은 고딕"/>
                <a:ea typeface="맑은 고딕"/>
                <a:cs typeface="맑은 고딕"/>
              </a:rPr>
              <a:t>PART 6  </a:t>
            </a:r>
            <a:r>
              <a:rPr lang="ko-KR" altLang="en-US" sz="4000" b="1" dirty="0">
                <a:solidFill>
                  <a:srgbClr val="FFFFFF"/>
                </a:solidFill>
                <a:latin typeface="맑은 고딕"/>
                <a:ea typeface="맑은 고딕"/>
                <a:cs typeface="맑은 고딕"/>
              </a:rPr>
              <a:t>순서배열 부분영작</a:t>
            </a:r>
            <a:endParaRPr lang="ko-KR" sz="4000"/>
          </a:p>
        </p:txBody>
      </p:sp>
      <p:sp>
        <p:nvSpPr>
          <p:cNvPr id="3" name="sec_exam"/>
          <p:cNvSpPr txBox="1"/>
          <p:nvPr/>
        </p:nvSpPr>
        <p:spPr>
          <a:xfrm>
            <a:off x="822960" y="2240280"/>
            <a:ext cx="10515600" cy="502920"/>
          </a:xfrm>
          <a:prstGeom prst="rect">
            <a:avLst/>
          </a:prstGeom>
          <a:noFill/>
        </p:spPr>
        <p:txBody>
          <a:bodyPr wrap="square" lIns="109728" tIns="54864" rIns="109728" bIns="54864" anchor="t" rtlCol="0">
            <a:noAutofit/>
          </a:bodyPr>
          <a:lstStyle/>
          <a:p>
            <a:pPr algn="l">
              <a:lnSpc>
                <a:spcPts val="2400"/>
              </a:lnSpc>
              <a:spcBef>
                <a:spcPts val="0"/>
              </a:spcBef>
              <a:spcAft>
                <a:spcPts val="0"/>
              </a:spcAft>
              <a:buNone/>
            </a:pPr>
            <a:r>
              <a:rPr lang="ko-KR" altLang="en-US" sz="2000" b="0" dirty="0">
                <a:solidFill>
                  <a:srgbClr val="CFD8E8"/>
                </a:solidFill>
                <a:latin typeface="맑은 고딕"/>
                <a:ea typeface="맑은 고딕"/>
                <a:cs typeface="맑은 고딕"/>
              </a:rPr>
              <a:t>중3 동아(윤정미) Lesson 8</a:t>
            </a:r>
            <a:endParaRPr lang="ko-KR" sz="2000"/>
          </a:p>
        </p:txBody>
      </p:sp>
      <p:sp>
        <p:nvSpPr>
          <p:cNvPr id="4" name="sec_ids"/>
          <p:cNvSpPr txBox="1"/>
          <p:nvPr/>
        </p:nvSpPr>
        <p:spPr>
          <a:xfrm>
            <a:off x="822960" y="2788920"/>
            <a:ext cx="10515600" cy="457200"/>
          </a:xfrm>
          <a:prstGeom prst="rect">
            <a:avLst/>
          </a:prstGeom>
          <a:noFill/>
        </p:spPr>
        <p:txBody>
          <a:bodyPr wrap="square" lIns="109728" tIns="54864" rIns="109728" bIns="54864" anchor="t" rtlCol="0">
            <a:noAutofit/>
          </a:bodyPr>
          <a:lstStyle/>
          <a:p>
            <a:pPr algn="l">
              <a:lnSpc>
                <a:spcPts val="2200"/>
              </a:lnSpc>
              <a:spcBef>
                <a:spcPts val="0"/>
              </a:spcBef>
              <a:spcAft>
                <a:spcPts val="0"/>
              </a:spcAft>
              <a:buNone/>
            </a:pPr>
            <a:r>
              <a:rPr lang="en-US" altLang="en-US" sz="1800" b="1" dirty="0">
                <a:solidFill>
                  <a:srgbClr val="AEBBD0"/>
                </a:solidFill>
                <a:latin typeface="Calibri"/>
                <a:ea typeface="맑은 고딕"/>
                <a:cs typeface="Calibri"/>
              </a:rPr>
              <a:t>L8-1  ·  L8-2  ·  L8-3</a:t>
            </a:r>
            <a:endParaRPr lang="ko-KR" sz="1800"/>
          </a:p>
        </p:txBody>
      </p:sp>
      <p:sp>
        <p:nvSpPr>
          <p:cNvPr id="5" name="sec_legend"/>
          <p:cNvSpPr/>
          <p:nvPr/>
        </p:nvSpPr>
        <p:spPr>
          <a:xfrm>
            <a:off x="822960" y="3977639"/>
            <a:ext cx="10515600" cy="1371600"/>
          </a:xfrm>
          <a:prstGeom prst="roundRect">
            <a:avLst>
              <a:gd name="adj" fmla="val 6000"/>
            </a:avLst>
          </a:prstGeom>
          <a:solidFill>
            <a:srgbClr val="27356E"/>
          </a:solidFill>
          <a:ln>
            <a:noFill/>
          </a:ln>
        </p:spPr>
        <p:txBody>
          <a:bodyPr wrap="square" lIns="320040" tIns="137160" rIns="320040" bIns="137160" anchor="ctr" rtlCol="0">
            <a:noAutofit/>
          </a:bodyPr>
          <a:lstStyle/>
          <a:p>
            <a:pPr algn="l">
              <a:lnSpc>
                <a:spcPts val="2600"/>
              </a:lnSpc>
              <a:spcBef>
                <a:spcPts val="0"/>
              </a:spcBef>
              <a:spcAft>
                <a:spcPts val="0"/>
              </a:spcAft>
              <a:buNone/>
            </a:pPr>
            <a:r>
              <a:rPr lang="ko-KR" altLang="en-US" sz="1600" b="1" dirty="0">
                <a:solidFill>
                  <a:srgbClr val="FFE98A"/>
                </a:solidFill>
                <a:latin typeface="맑은 고딕"/>
                <a:ea typeface="맑은 고딕"/>
                <a:cs typeface="맑은 고딕"/>
              </a:rPr>
              <a:t>방법</a:t>
            </a:r>
            <a:r>
              <a:rPr lang="ko-KR" altLang="en-US" sz="1600" b="0" dirty="0">
                <a:solidFill>
                  <a:srgbClr val="FFFFFF"/>
                </a:solidFill>
                <a:latin typeface="맑은 고딕"/>
                <a:ea typeface="맑은 고딕"/>
                <a:cs typeface="맑은 고딕"/>
              </a:rPr>
              <a:t>     우리말에 맞게 (  ) 안의 말을 바르게 배열해 영어 문장을 완성</a:t>
            </a:r>
            <a:endParaRPr lang="ko-KR" sz="1600"/>
          </a:p>
          <a:p>
            <a:pPr algn="l">
              <a:lnSpc>
                <a:spcPts val="2600"/>
              </a:lnSpc>
              <a:spcBef>
                <a:spcPts val="0"/>
              </a:spcBef>
              <a:spcAft>
                <a:spcPts val="0"/>
              </a:spcAft>
              <a:buNone/>
            </a:pPr>
            <a:r>
              <a:rPr lang="ko-KR" altLang="en-US" sz="1600" b="1" dirty="0">
                <a:solidFill>
                  <a:srgbClr val="FFE98A"/>
                </a:solidFill>
                <a:latin typeface="맑은 고딕"/>
                <a:ea typeface="맑은 고딕"/>
                <a:cs typeface="맑은 고딕"/>
              </a:rPr>
              <a:t>클릭</a:t>
            </a:r>
            <a:r>
              <a:rPr lang="ko-KR" altLang="en-US" sz="1600" b="0" dirty="0">
                <a:solidFill>
                  <a:srgbClr val="FFFFFF"/>
                </a:solidFill>
                <a:latin typeface="맑은 고딕"/>
                <a:ea typeface="맑은 고딕"/>
                <a:cs typeface="맑은 고딕"/>
              </a:rPr>
              <a:t>     한 번 클릭하면 완성된 영어 문장(정답)이 빨간색으로 공개</a:t>
            </a:r>
            <a:endParaRPr lang="ko-KR" sz="1600"/>
          </a:p>
        </p:txBody>
      </p:sp>
    </p:spTree>
  </p:cSld>
  <p:clrMapOvr>
    <a:masterClrMapping/>
  </p:clrMapOvr>
</p:sld>
</file>

<file path=ppt/slides/slide29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8000"/>
            </a:avLst>
          </a:prstGeom>
          <a:solidFill>
            <a:srgbClr val="1E2A5A"/>
          </a:solidFill>
          <a:ln>
            <a:noFill/>
          </a:ln>
        </p:spPr>
        <p:txBody>
          <a:bodyPr wrap="square" lIns="45720" tIns="18288" rIns="45720" bIns="18288" anchor="ctr" rtlCol="0">
            <a:noAutofit/>
          </a:bodyPr>
          <a:lstStyle/>
          <a:p>
            <a:pPr algn="ctr">
              <a:lnSpc>
                <a:spcPts val="2000"/>
              </a:lnSpc>
              <a:spcBef>
                <a:spcPts val="0"/>
              </a:spcBef>
              <a:spcAft>
                <a:spcPts val="0"/>
              </a:spcAft>
              <a:buNone/>
            </a:pPr>
            <a:r>
              <a:rPr lang="en-US" altLang="en-US" sz="1700" b="1" dirty="0">
                <a:solidFill>
                  <a:srgbClr val="FFFFFF"/>
                </a:solidFill>
                <a:latin typeface="Calibri"/>
                <a:ea typeface="맑은 고딕"/>
                <a:cs typeface="Calibri"/>
              </a:rPr>
              <a:t>L8-1</a:t>
            </a:r>
            <a:endParaRPr lang="ko-KR" sz="1700"/>
          </a:p>
        </p:txBody>
      </p:sp>
      <p:sp>
        <p:nvSpPr>
          <p:cNvPr id="3" name="hdr_chip"/>
          <p:cNvSpPr/>
          <p:nvPr/>
        </p:nvSpPr>
        <p:spPr>
          <a:xfrm>
            <a:off x="1755648" y="274320"/>
            <a:ext cx="1371600" cy="493776"/>
          </a:xfrm>
          <a:prstGeom prst="roundRect">
            <a:avLst>
              <a:gd name="adj" fmla="val 8000"/>
            </a:avLst>
          </a:prstGeom>
          <a:solidFill>
            <a:srgbClr val="E6EAF4"/>
          </a:solidFill>
          <a:ln>
            <a:noFill/>
          </a:ln>
        </p:spPr>
        <p:txBody>
          <a:bodyPr wrap="square" lIns="27432" tIns="18288" rIns="27432" bIns="18288" anchor="ctr" rtlCol="0">
            <a:noAutofit/>
          </a:bodyPr>
          <a:lstStyle/>
          <a:p>
            <a:pPr algn="ctr">
              <a:lnSpc>
                <a:spcPts val="1700"/>
              </a:lnSpc>
              <a:spcBef>
                <a:spcPts val="0"/>
              </a:spcBef>
              <a:spcAft>
                <a:spcPts val="0"/>
              </a:spcAft>
              <a:buNone/>
            </a:pPr>
            <a:r>
              <a:rPr lang="ko-KR" altLang="en-US" sz="1400" b="1" dirty="0">
                <a:solidFill>
                  <a:srgbClr val="1E2A5A"/>
                </a:solidFill>
                <a:latin typeface="맑은 고딕"/>
                <a:ea typeface="맑은 고딕"/>
                <a:cs typeface="맑은 고딕"/>
              </a:rPr>
              <a:t>PART 6 · 1</a:t>
            </a:r>
            <a:endParaRPr lang="ko-KR" sz="1400"/>
          </a:p>
        </p:txBody>
      </p:sp>
      <p:sp>
        <p:nvSpPr>
          <p:cNvPr id="4" name="hdr_q"/>
          <p:cNvSpPr txBox="1"/>
          <p:nvPr/>
        </p:nvSpPr>
        <p:spPr>
          <a:xfrm>
            <a:off x="3246120" y="246888"/>
            <a:ext cx="8485632" cy="548640"/>
          </a:xfrm>
          <a:prstGeom prst="rect">
            <a:avLst/>
          </a:prstGeom>
          <a:noFill/>
        </p:spPr>
        <p:txBody>
          <a:bodyPr wrap="square" lIns="109728" tIns="54864" rIns="109728" bIns="54864" anchor="ctr" rtlCol="0">
            <a:noAutofit/>
          </a:bodyPr>
          <a:lstStyle/>
          <a:p>
            <a:pPr algn="l">
              <a:lnSpc>
                <a:spcPts val="2400"/>
              </a:lnSpc>
              <a:spcBef>
                <a:spcPts val="0"/>
              </a:spcBef>
              <a:spcAft>
                <a:spcPts val="0"/>
              </a:spcAft>
              <a:buNone/>
            </a:pPr>
            <a:r>
              <a:rPr lang="ko-KR" altLang="en-US" sz="2000" b="1" dirty="0">
                <a:solidFill>
                  <a:srgbClr val="1F2328"/>
                </a:solidFill>
                <a:latin typeface="맑은 고딕"/>
                <a:ea typeface="맑은 고딕"/>
                <a:cs typeface="맑은 고딕"/>
              </a:rPr>
              <a:t>우리말에 맞게 (  ) 안의 말을 바르게 배열하시오.</a:t>
            </a:r>
            <a:endParaRPr lang="ko-KR" sz="2000"/>
          </a:p>
        </p:txBody>
      </p:sp>
      <p:sp>
        <p:nvSpPr>
          <p:cNvPr id="5" name="ftr_exam"/>
          <p:cNvSpPr txBox="1"/>
          <p:nvPr/>
        </p:nvSpPr>
        <p:spPr>
          <a:xfrm>
            <a:off x="457200" y="6519672"/>
            <a:ext cx="5669280" cy="256032"/>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8</a:t>
            </a:r>
            <a:endParaRPr lang="ko-KR" sz="1000"/>
          </a:p>
        </p:txBody>
      </p:sp>
      <p:sp>
        <p:nvSpPr>
          <p:cNvPr id="6" name="ftr_hint"/>
          <p:cNvSpPr txBox="1"/>
          <p:nvPr/>
        </p:nvSpPr>
        <p:spPr>
          <a:xfrm>
            <a:off x="5971032" y="6519672"/>
            <a:ext cx="5760720" cy="256032"/>
          </a:xfrm>
          <a:prstGeom prst="rect">
            <a:avLst/>
          </a:prstGeom>
          <a:noFill/>
        </p:spPr>
        <p:txBody>
          <a:bodyPr wrap="square" lIns="0" tIns="0" rIns="0" bIns="0" anchor="t" rtlCol="0">
            <a:noAutofit/>
          </a:bodyPr>
          <a:lstStyle/>
          <a:p>
            <a:pPr algn="r">
              <a:lnSpc>
                <a:spcPts val="1200"/>
              </a:lnSpc>
              <a:spcBef>
                <a:spcPts val="0"/>
              </a:spcBef>
              <a:spcAft>
                <a:spcPts val="0"/>
              </a:spcAft>
              <a:buNone/>
            </a:pPr>
            <a:r>
              <a:rPr lang="ko-KR" altLang="en-US" sz="1000" b="0" dirty="0">
                <a:solidFill>
                  <a:srgbClr val="7A808C"/>
                </a:solidFill>
                <a:latin typeface="맑은 고딕"/>
                <a:ea typeface="맑은 고딕"/>
                <a:cs typeface="맑은 고딕"/>
              </a:rPr>
              <a:t>클릭 ① 완성 문장(정답) 공개</a:t>
            </a:r>
            <a:endParaRPr lang="ko-KR" sz="1000"/>
          </a:p>
        </p:txBody>
      </p:sp>
      <p:sp>
        <p:nvSpPr>
          <p:cNvPr id="7" name="item_card_1"/>
          <p:cNvSpPr/>
          <p:nvPr/>
        </p:nvSpPr>
        <p:spPr>
          <a:xfrm>
            <a:off x="457200" y="950976"/>
            <a:ext cx="11274552" cy="1661922"/>
          </a:xfrm>
          <a:prstGeom prst="roundRect">
            <a:avLst>
              <a:gd name="adj" fmla="val 6000"/>
            </a:avLst>
          </a:prstGeom>
          <a:solidFill>
            <a:srgbClr val="F3F5F9"/>
          </a:solidFill>
          <a:ln w="12700">
            <a:solidFill>
              <a:srgbClr val="D9DFEA"/>
            </a:solidFill>
          </a:ln>
        </p:spPr>
        <p:txBody>
          <a:bodyPr rtlCol="0" anchor="ctr"/>
          <a:lstStyle/>
          <a:p>
            <a:pPr algn="ctr"/>
          </a:p>
        </p:txBody>
      </p:sp>
      <p:sp>
        <p:nvSpPr>
          <p:cNvPr id="8" name="kor_1"/>
          <p:cNvSpPr txBox="1"/>
          <p:nvPr/>
        </p:nvSpPr>
        <p:spPr>
          <a:xfrm>
            <a:off x="457200" y="1060704"/>
            <a:ext cx="11274552" cy="379603"/>
          </a:xfrm>
          <a:prstGeom prst="rect">
            <a:avLst/>
          </a:prstGeom>
          <a:noFill/>
        </p:spPr>
        <p:txBody>
          <a:bodyPr wrap="square" lIns="228600" tIns="54864" rIns="228600" bIns="54864" anchor="t" rtlCol="0">
            <a:noAutofit/>
          </a:bodyPr>
          <a:lstStyle/>
          <a:p>
            <a:pPr algn="l">
              <a:lnSpc>
                <a:spcPts val="2125"/>
              </a:lnSpc>
              <a:spcBef>
                <a:spcPts val="0"/>
              </a:spcBef>
              <a:spcAft>
                <a:spcPts val="0"/>
              </a:spcAft>
              <a:buNone/>
            </a:pPr>
            <a:r>
              <a:rPr lang="en-US" altLang="en-US" sz="1700" b="1" dirty="0">
                <a:solidFill>
                  <a:srgbClr val="1E2A5A"/>
                </a:solidFill>
                <a:latin typeface="Calibri"/>
                <a:ea typeface="맑은 고딕"/>
                <a:cs typeface="Calibri"/>
              </a:rPr>
              <a:t>1.  </a:t>
            </a:r>
            <a:r>
              <a:rPr lang="ko-KR" altLang="en-US" sz="1700" b="1" dirty="0">
                <a:solidFill>
                  <a:srgbClr val="1F2328"/>
                </a:solidFill>
                <a:latin typeface="맑은 고딕"/>
                <a:ea typeface="맑은 고딕"/>
                <a:cs typeface="맑은 고딕"/>
              </a:rPr>
              <a:t>오른쪽에 있는 그림을 보라. 한자 효(孝)가 보이는가?</a:t>
            </a:r>
            <a:endParaRPr lang="ko-KR" sz="1700"/>
          </a:p>
        </p:txBody>
      </p:sp>
      <p:sp>
        <p:nvSpPr>
          <p:cNvPr id="9" name="ex_1"/>
          <p:cNvSpPr txBox="1"/>
          <p:nvPr/>
        </p:nvSpPr>
        <p:spPr>
          <a:xfrm>
            <a:off x="457200" y="1385443"/>
            <a:ext cx="11274552" cy="435483"/>
          </a:xfrm>
          <a:prstGeom prst="rect">
            <a:avLst/>
          </a:prstGeom>
          <a:noFill/>
        </p:spPr>
        <p:txBody>
          <a:bodyPr wrap="square" lIns="228600" tIns="54864" rIns="228600" bIns="54864" anchor="t" rtlCol="0">
            <a:noAutofit/>
          </a:bodyPr>
          <a:lstStyle/>
          <a:p>
            <a:pPr algn="l">
              <a:lnSpc>
                <a:spcPts val="2565"/>
              </a:lnSpc>
              <a:spcBef>
                <a:spcPts val="0"/>
              </a:spcBef>
              <a:spcAft>
                <a:spcPts val="0"/>
              </a:spcAft>
              <a:buNone/>
            </a:pP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the painting</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Look at</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on the right</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the Chinese character,</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Do you see</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hyo (孝)?</a:t>
            </a:r>
            <a:r>
              <a:rPr lang="en-US" altLang="en-US" sz="1900" b="1" dirty="0">
                <a:solidFill>
                  <a:srgbClr val="1E2A5A"/>
                </a:solidFill>
                <a:latin typeface="Calibri"/>
                <a:ea typeface="맑은 고딕"/>
                <a:cs typeface="Calibri"/>
              </a:rPr>
              <a:t>)</a:t>
            </a:r>
            <a:endParaRPr lang="ko-KR" sz="1900"/>
          </a:p>
        </p:txBody>
      </p:sp>
      <p:sp>
        <p:nvSpPr>
          <p:cNvPr id="10" name="rv_ans_1"/>
          <p:cNvSpPr txBox="1"/>
          <p:nvPr/>
        </p:nvSpPr>
        <p:spPr>
          <a:xfrm>
            <a:off x="594360" y="1857502"/>
            <a:ext cx="11000232" cy="737108"/>
          </a:xfrm>
          <a:prstGeom prst="rect">
            <a:avLst/>
          </a:prstGeom>
          <a:solidFill>
            <a:srgbClr val="FFF3C4"/>
          </a:solidFill>
        </p:spPr>
        <p:txBody>
          <a:bodyPr wrap="square" lIns="137160" tIns="54864" rIns="137160" bIns="54864" anchor="t" rtlCol="0">
            <a:noAutofit/>
          </a:bodyPr>
          <a:lstStyle/>
          <a:p>
            <a:pPr algn="l">
              <a:lnSpc>
                <a:spcPts val="2470"/>
              </a:lnSpc>
              <a:spcBef>
                <a:spcPts val="0"/>
              </a:spcBef>
              <a:spcAft>
                <a:spcPts val="0"/>
              </a:spcAft>
              <a:buNone/>
            </a:pPr>
            <a:r>
              <a:rPr lang="en-US" altLang="en-US" sz="1900" b="1" dirty="0">
                <a:solidFill>
                  <a:srgbClr val="C00000"/>
                </a:solidFill>
                <a:latin typeface="Calibri"/>
                <a:ea typeface="맑은 고딕"/>
                <a:cs typeface="Calibri"/>
              </a:rPr>
              <a:t>→  </a:t>
            </a:r>
            <a:r>
              <a:rPr lang="en-US" altLang="en-US" sz="1900" b="1" dirty="0">
                <a:solidFill>
                  <a:srgbClr val="C00000"/>
                </a:solidFill>
                <a:latin typeface="Calibri"/>
                <a:ea typeface="맑은 고딕"/>
                <a:cs typeface="Calibri"/>
              </a:rPr>
              <a:t>Look at the painting on the right. Do you see the Chinese character, hyo (孝)?</a:t>
            </a:r>
            <a:endParaRPr lang="ko-KR" sz="1900"/>
          </a:p>
        </p:txBody>
      </p:sp>
      <p:sp>
        <p:nvSpPr>
          <p:cNvPr id="11" name="item_card_2"/>
          <p:cNvSpPr/>
          <p:nvPr/>
        </p:nvSpPr>
        <p:spPr>
          <a:xfrm>
            <a:off x="457200" y="2722626"/>
            <a:ext cx="11274552" cy="1348232"/>
          </a:xfrm>
          <a:prstGeom prst="roundRect">
            <a:avLst>
              <a:gd name="adj" fmla="val 6000"/>
            </a:avLst>
          </a:prstGeom>
          <a:solidFill>
            <a:srgbClr val="F3F5F9"/>
          </a:solidFill>
          <a:ln w="12700">
            <a:solidFill>
              <a:srgbClr val="D9DFEA"/>
            </a:solidFill>
          </a:ln>
        </p:spPr>
        <p:txBody>
          <a:bodyPr rtlCol="0" anchor="ctr"/>
          <a:lstStyle/>
          <a:p>
            <a:pPr algn="ctr"/>
          </a:p>
        </p:txBody>
      </p:sp>
      <p:sp>
        <p:nvSpPr>
          <p:cNvPr id="12" name="kor_2"/>
          <p:cNvSpPr txBox="1"/>
          <p:nvPr/>
        </p:nvSpPr>
        <p:spPr>
          <a:xfrm>
            <a:off x="457200" y="2832354"/>
            <a:ext cx="11274552" cy="379603"/>
          </a:xfrm>
          <a:prstGeom prst="rect">
            <a:avLst/>
          </a:prstGeom>
          <a:noFill/>
        </p:spPr>
        <p:txBody>
          <a:bodyPr wrap="square" lIns="228600" tIns="54864" rIns="228600" bIns="54864" anchor="t" rtlCol="0">
            <a:noAutofit/>
          </a:bodyPr>
          <a:lstStyle/>
          <a:p>
            <a:pPr algn="l">
              <a:lnSpc>
                <a:spcPts val="2125"/>
              </a:lnSpc>
              <a:spcBef>
                <a:spcPts val="0"/>
              </a:spcBef>
              <a:spcAft>
                <a:spcPts val="0"/>
              </a:spcAft>
              <a:buNone/>
            </a:pPr>
            <a:r>
              <a:rPr lang="en-US" altLang="en-US" sz="1700" b="1" dirty="0">
                <a:solidFill>
                  <a:srgbClr val="1E2A5A"/>
                </a:solidFill>
                <a:latin typeface="Calibri"/>
                <a:ea typeface="맑은 고딕"/>
                <a:cs typeface="Calibri"/>
              </a:rPr>
              <a:t>2.  </a:t>
            </a:r>
            <a:r>
              <a:rPr lang="ko-KR" altLang="en-US" sz="1700" b="1" dirty="0">
                <a:solidFill>
                  <a:srgbClr val="1F2328"/>
                </a:solidFill>
                <a:latin typeface="맑은 고딕"/>
                <a:ea typeface="맑은 고딕"/>
                <a:cs typeface="맑은 고딕"/>
              </a:rPr>
              <a:t>잉어, 거문고, 그리고 부채도 보이는가?</a:t>
            </a:r>
            <a:endParaRPr lang="ko-KR" sz="1700"/>
          </a:p>
        </p:txBody>
      </p:sp>
      <p:sp>
        <p:nvSpPr>
          <p:cNvPr id="13" name="ex_2"/>
          <p:cNvSpPr txBox="1"/>
          <p:nvPr/>
        </p:nvSpPr>
        <p:spPr>
          <a:xfrm>
            <a:off x="457200" y="3157093"/>
            <a:ext cx="11274552" cy="435483"/>
          </a:xfrm>
          <a:prstGeom prst="rect">
            <a:avLst/>
          </a:prstGeom>
          <a:noFill/>
        </p:spPr>
        <p:txBody>
          <a:bodyPr wrap="square" lIns="228600" tIns="54864" rIns="228600" bIns="54864" anchor="t" rtlCol="0">
            <a:noAutofit/>
          </a:bodyPr>
          <a:lstStyle/>
          <a:p>
            <a:pPr algn="l">
              <a:lnSpc>
                <a:spcPts val="2565"/>
              </a:lnSpc>
              <a:spcBef>
                <a:spcPts val="0"/>
              </a:spcBef>
              <a:spcAft>
                <a:spcPts val="0"/>
              </a:spcAft>
              <a:buNone/>
            </a:pP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a carp,</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Do you also see</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 a geomungo, and a fan?</a:t>
            </a:r>
            <a:endParaRPr lang="ko-KR" sz="1900"/>
          </a:p>
        </p:txBody>
      </p:sp>
      <p:sp>
        <p:nvSpPr>
          <p:cNvPr id="14" name="rv_ans_2"/>
          <p:cNvSpPr txBox="1"/>
          <p:nvPr/>
        </p:nvSpPr>
        <p:spPr>
          <a:xfrm>
            <a:off x="594360" y="3629152"/>
            <a:ext cx="11000232" cy="423418"/>
          </a:xfrm>
          <a:prstGeom prst="rect">
            <a:avLst/>
          </a:prstGeom>
          <a:solidFill>
            <a:srgbClr val="FFF3C4"/>
          </a:solidFill>
        </p:spPr>
        <p:txBody>
          <a:bodyPr wrap="square" lIns="137160" tIns="54864" rIns="137160" bIns="54864" anchor="t" rtlCol="0">
            <a:noAutofit/>
          </a:bodyPr>
          <a:lstStyle/>
          <a:p>
            <a:pPr algn="l">
              <a:lnSpc>
                <a:spcPts val="2470"/>
              </a:lnSpc>
              <a:spcBef>
                <a:spcPts val="0"/>
              </a:spcBef>
              <a:spcAft>
                <a:spcPts val="0"/>
              </a:spcAft>
              <a:buNone/>
            </a:pPr>
            <a:r>
              <a:rPr lang="en-US" altLang="en-US" sz="1900" b="1" dirty="0">
                <a:solidFill>
                  <a:srgbClr val="C00000"/>
                </a:solidFill>
                <a:latin typeface="Calibri"/>
                <a:ea typeface="맑은 고딕"/>
                <a:cs typeface="Calibri"/>
              </a:rPr>
              <a:t>→  </a:t>
            </a:r>
            <a:r>
              <a:rPr lang="en-US" altLang="en-US" sz="1900" b="1" dirty="0">
                <a:solidFill>
                  <a:srgbClr val="C00000"/>
                </a:solidFill>
                <a:latin typeface="Calibri"/>
                <a:ea typeface="맑은 고딕"/>
                <a:cs typeface="Calibri"/>
              </a:rPr>
              <a:t>Do you also see a carp, a geomungo, and a fan?</a:t>
            </a:r>
            <a:endParaRPr lang="ko-KR" sz="19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25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2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4" grpId="0" animBg="1"/>
    </p:bldLst>
  </p:timing>
</p:sld>
</file>

<file path=ppt/slides/slide29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8000"/>
            </a:avLst>
          </a:prstGeom>
          <a:solidFill>
            <a:srgbClr val="1E2A5A"/>
          </a:solidFill>
          <a:ln>
            <a:noFill/>
          </a:ln>
        </p:spPr>
        <p:txBody>
          <a:bodyPr wrap="square" lIns="45720" tIns="18288" rIns="45720" bIns="18288" anchor="ctr" rtlCol="0">
            <a:noAutofit/>
          </a:bodyPr>
          <a:lstStyle/>
          <a:p>
            <a:pPr algn="ctr">
              <a:lnSpc>
                <a:spcPts val="2000"/>
              </a:lnSpc>
              <a:spcBef>
                <a:spcPts val="0"/>
              </a:spcBef>
              <a:spcAft>
                <a:spcPts val="0"/>
              </a:spcAft>
              <a:buNone/>
            </a:pPr>
            <a:r>
              <a:rPr lang="en-US" altLang="en-US" sz="1700" b="1" dirty="0">
                <a:solidFill>
                  <a:srgbClr val="FFFFFF"/>
                </a:solidFill>
                <a:latin typeface="Calibri"/>
                <a:ea typeface="맑은 고딕"/>
                <a:cs typeface="Calibri"/>
              </a:rPr>
              <a:t>L8-1</a:t>
            </a:r>
            <a:endParaRPr lang="ko-KR" sz="1700"/>
          </a:p>
        </p:txBody>
      </p:sp>
      <p:sp>
        <p:nvSpPr>
          <p:cNvPr id="3" name="hdr_chip"/>
          <p:cNvSpPr/>
          <p:nvPr/>
        </p:nvSpPr>
        <p:spPr>
          <a:xfrm>
            <a:off x="1755648" y="274320"/>
            <a:ext cx="1371600" cy="493776"/>
          </a:xfrm>
          <a:prstGeom prst="roundRect">
            <a:avLst>
              <a:gd name="adj" fmla="val 8000"/>
            </a:avLst>
          </a:prstGeom>
          <a:solidFill>
            <a:srgbClr val="E6EAF4"/>
          </a:solidFill>
          <a:ln>
            <a:noFill/>
          </a:ln>
        </p:spPr>
        <p:txBody>
          <a:bodyPr wrap="square" lIns="27432" tIns="18288" rIns="27432" bIns="18288" anchor="ctr" rtlCol="0">
            <a:noAutofit/>
          </a:bodyPr>
          <a:lstStyle/>
          <a:p>
            <a:pPr algn="ctr">
              <a:lnSpc>
                <a:spcPts val="1700"/>
              </a:lnSpc>
              <a:spcBef>
                <a:spcPts val="0"/>
              </a:spcBef>
              <a:spcAft>
                <a:spcPts val="0"/>
              </a:spcAft>
              <a:buNone/>
            </a:pPr>
            <a:r>
              <a:rPr lang="ko-KR" altLang="en-US" sz="1400" b="1" dirty="0">
                <a:solidFill>
                  <a:srgbClr val="1E2A5A"/>
                </a:solidFill>
                <a:latin typeface="맑은 고딕"/>
                <a:ea typeface="맑은 고딕"/>
                <a:cs typeface="맑은 고딕"/>
              </a:rPr>
              <a:t>PART 6 · 2</a:t>
            </a:r>
            <a:endParaRPr lang="ko-KR" sz="1400"/>
          </a:p>
        </p:txBody>
      </p:sp>
      <p:sp>
        <p:nvSpPr>
          <p:cNvPr id="4" name="hdr_q"/>
          <p:cNvSpPr txBox="1"/>
          <p:nvPr/>
        </p:nvSpPr>
        <p:spPr>
          <a:xfrm>
            <a:off x="3246120" y="246888"/>
            <a:ext cx="8485632" cy="548640"/>
          </a:xfrm>
          <a:prstGeom prst="rect">
            <a:avLst/>
          </a:prstGeom>
          <a:noFill/>
        </p:spPr>
        <p:txBody>
          <a:bodyPr wrap="square" lIns="109728" tIns="54864" rIns="109728" bIns="54864" anchor="ctr" rtlCol="0">
            <a:noAutofit/>
          </a:bodyPr>
          <a:lstStyle/>
          <a:p>
            <a:pPr algn="l">
              <a:lnSpc>
                <a:spcPts val="2400"/>
              </a:lnSpc>
              <a:spcBef>
                <a:spcPts val="0"/>
              </a:spcBef>
              <a:spcAft>
                <a:spcPts val="0"/>
              </a:spcAft>
              <a:buNone/>
            </a:pPr>
            <a:r>
              <a:rPr lang="ko-KR" altLang="en-US" sz="2000" b="1" dirty="0">
                <a:solidFill>
                  <a:srgbClr val="1F2328"/>
                </a:solidFill>
                <a:latin typeface="맑은 고딕"/>
                <a:ea typeface="맑은 고딕"/>
                <a:cs typeface="맑은 고딕"/>
              </a:rPr>
              <a:t>우리말에 맞게 (  ) 안의 말을 바르게 배열하시오.</a:t>
            </a:r>
            <a:endParaRPr lang="ko-KR" sz="2000"/>
          </a:p>
        </p:txBody>
      </p:sp>
      <p:sp>
        <p:nvSpPr>
          <p:cNvPr id="5" name="ftr_exam"/>
          <p:cNvSpPr txBox="1"/>
          <p:nvPr/>
        </p:nvSpPr>
        <p:spPr>
          <a:xfrm>
            <a:off x="457200" y="6519672"/>
            <a:ext cx="5669280" cy="256032"/>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8</a:t>
            </a:r>
            <a:endParaRPr lang="ko-KR" sz="1000"/>
          </a:p>
        </p:txBody>
      </p:sp>
      <p:sp>
        <p:nvSpPr>
          <p:cNvPr id="6" name="ftr_hint"/>
          <p:cNvSpPr txBox="1"/>
          <p:nvPr/>
        </p:nvSpPr>
        <p:spPr>
          <a:xfrm>
            <a:off x="5971032" y="6519672"/>
            <a:ext cx="5760720" cy="256032"/>
          </a:xfrm>
          <a:prstGeom prst="rect">
            <a:avLst/>
          </a:prstGeom>
          <a:noFill/>
        </p:spPr>
        <p:txBody>
          <a:bodyPr wrap="square" lIns="0" tIns="0" rIns="0" bIns="0" anchor="t" rtlCol="0">
            <a:noAutofit/>
          </a:bodyPr>
          <a:lstStyle/>
          <a:p>
            <a:pPr algn="r">
              <a:lnSpc>
                <a:spcPts val="1200"/>
              </a:lnSpc>
              <a:spcBef>
                <a:spcPts val="0"/>
              </a:spcBef>
              <a:spcAft>
                <a:spcPts val="0"/>
              </a:spcAft>
              <a:buNone/>
            </a:pPr>
            <a:r>
              <a:rPr lang="ko-KR" altLang="en-US" sz="1000" b="0" dirty="0">
                <a:solidFill>
                  <a:srgbClr val="7A808C"/>
                </a:solidFill>
                <a:latin typeface="맑은 고딕"/>
                <a:ea typeface="맑은 고딕"/>
                <a:cs typeface="맑은 고딕"/>
              </a:rPr>
              <a:t>클릭 ① 완성 문장(정답) 공개</a:t>
            </a:r>
            <a:endParaRPr lang="ko-KR" sz="1000"/>
          </a:p>
        </p:txBody>
      </p:sp>
      <p:sp>
        <p:nvSpPr>
          <p:cNvPr id="7" name="item_card_1"/>
          <p:cNvSpPr/>
          <p:nvPr/>
        </p:nvSpPr>
        <p:spPr>
          <a:xfrm>
            <a:off x="457200" y="950976"/>
            <a:ext cx="11274552" cy="2257552"/>
          </a:xfrm>
          <a:prstGeom prst="roundRect">
            <a:avLst>
              <a:gd name="adj" fmla="val 6000"/>
            </a:avLst>
          </a:prstGeom>
          <a:solidFill>
            <a:srgbClr val="F3F5F9"/>
          </a:solidFill>
          <a:ln w="12700">
            <a:solidFill>
              <a:srgbClr val="D9DFEA"/>
            </a:solidFill>
          </a:ln>
        </p:spPr>
        <p:txBody>
          <a:bodyPr rtlCol="0" anchor="ctr"/>
          <a:lstStyle/>
          <a:p>
            <a:pPr algn="ctr"/>
          </a:p>
        </p:txBody>
      </p:sp>
      <p:sp>
        <p:nvSpPr>
          <p:cNvPr id="8" name="kor_1"/>
          <p:cNvSpPr txBox="1"/>
          <p:nvPr/>
        </p:nvSpPr>
        <p:spPr>
          <a:xfrm>
            <a:off x="457200" y="1060704"/>
            <a:ext cx="11274552" cy="649478"/>
          </a:xfrm>
          <a:prstGeom prst="rect">
            <a:avLst/>
          </a:prstGeom>
          <a:noFill/>
        </p:spPr>
        <p:txBody>
          <a:bodyPr wrap="square" lIns="228600" tIns="54864" rIns="228600" bIns="54864" anchor="t" rtlCol="0">
            <a:noAutofit/>
          </a:bodyPr>
          <a:lstStyle/>
          <a:p>
            <a:pPr algn="l">
              <a:lnSpc>
                <a:spcPts val="2125"/>
              </a:lnSpc>
              <a:spcBef>
                <a:spcPts val="0"/>
              </a:spcBef>
              <a:spcAft>
                <a:spcPts val="0"/>
              </a:spcAft>
              <a:buNone/>
            </a:pPr>
            <a:r>
              <a:rPr lang="en-US" altLang="en-US" sz="1700" b="1" dirty="0">
                <a:solidFill>
                  <a:srgbClr val="1E2A5A"/>
                </a:solidFill>
                <a:latin typeface="Calibri"/>
                <a:ea typeface="맑은 고딕"/>
                <a:cs typeface="Calibri"/>
              </a:rPr>
              <a:t>3.  </a:t>
            </a:r>
            <a:r>
              <a:rPr lang="ko-KR" altLang="en-US" sz="1700" b="1" dirty="0">
                <a:solidFill>
                  <a:srgbClr val="1F2328"/>
                </a:solidFill>
                <a:latin typeface="맑은 고딕"/>
                <a:ea typeface="맑은 고딕"/>
                <a:cs typeface="맑은 고딕"/>
              </a:rPr>
              <a:t>이런 종류의 그림을 문자도라고 하며, 그것은 조선 시대 후기에 인기 있었던 민화의 한 종류이다.</a:t>
            </a:r>
            <a:endParaRPr lang="ko-KR" sz="1700"/>
          </a:p>
        </p:txBody>
      </p:sp>
      <p:sp>
        <p:nvSpPr>
          <p:cNvPr id="9" name="ex_1"/>
          <p:cNvSpPr txBox="1"/>
          <p:nvPr/>
        </p:nvSpPr>
        <p:spPr>
          <a:xfrm>
            <a:off x="457200" y="1655318"/>
            <a:ext cx="11274552" cy="761238"/>
          </a:xfrm>
          <a:prstGeom prst="rect">
            <a:avLst/>
          </a:prstGeom>
          <a:noFill/>
        </p:spPr>
        <p:txBody>
          <a:bodyPr wrap="square" lIns="228600" tIns="54864" rIns="228600" bIns="54864" anchor="t" rtlCol="0">
            <a:noAutofit/>
          </a:bodyPr>
          <a:lstStyle/>
          <a:p>
            <a:pPr algn="l">
              <a:lnSpc>
                <a:spcPts val="2565"/>
              </a:lnSpc>
              <a:spcBef>
                <a:spcPts val="0"/>
              </a:spcBef>
              <a:spcAft>
                <a:spcPts val="0"/>
              </a:spcAft>
              <a:buNone/>
            </a:pP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is called</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Munjado</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This kind of painting</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 and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a type of folk painting</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it is</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 that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was</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in the late Joseon dynasty</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popular</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a:t>
            </a:r>
            <a:endParaRPr lang="ko-KR" sz="1900"/>
          </a:p>
        </p:txBody>
      </p:sp>
      <p:sp>
        <p:nvSpPr>
          <p:cNvPr id="10" name="rv_ans_1"/>
          <p:cNvSpPr txBox="1"/>
          <p:nvPr/>
        </p:nvSpPr>
        <p:spPr>
          <a:xfrm>
            <a:off x="594360" y="2453132"/>
            <a:ext cx="11000232" cy="737108"/>
          </a:xfrm>
          <a:prstGeom prst="rect">
            <a:avLst/>
          </a:prstGeom>
          <a:solidFill>
            <a:srgbClr val="FFF3C4"/>
          </a:solidFill>
        </p:spPr>
        <p:txBody>
          <a:bodyPr wrap="square" lIns="137160" tIns="54864" rIns="137160" bIns="54864" anchor="t" rtlCol="0">
            <a:noAutofit/>
          </a:bodyPr>
          <a:lstStyle/>
          <a:p>
            <a:pPr algn="l">
              <a:lnSpc>
                <a:spcPts val="2470"/>
              </a:lnSpc>
              <a:spcBef>
                <a:spcPts val="0"/>
              </a:spcBef>
              <a:spcAft>
                <a:spcPts val="0"/>
              </a:spcAft>
              <a:buNone/>
            </a:pPr>
            <a:r>
              <a:rPr lang="en-US" altLang="en-US" sz="1900" b="1" dirty="0">
                <a:solidFill>
                  <a:srgbClr val="C00000"/>
                </a:solidFill>
                <a:latin typeface="Calibri"/>
                <a:ea typeface="맑은 고딕"/>
                <a:cs typeface="Calibri"/>
              </a:rPr>
              <a:t>→  </a:t>
            </a:r>
            <a:r>
              <a:rPr lang="en-US" altLang="en-US" sz="1900" b="1" dirty="0">
                <a:solidFill>
                  <a:srgbClr val="C00000"/>
                </a:solidFill>
                <a:latin typeface="Calibri"/>
                <a:ea typeface="맑은 고딕"/>
                <a:cs typeface="Calibri"/>
              </a:rPr>
              <a:t>This kind of painting is called Munjado, and it is a type of folk painting that was popular in the late Joseon dynasty.</a:t>
            </a:r>
            <a:endParaRPr lang="ko-KR" sz="1900"/>
          </a:p>
        </p:txBody>
      </p:sp>
      <p:sp>
        <p:nvSpPr>
          <p:cNvPr id="11" name="item_card_2"/>
          <p:cNvSpPr/>
          <p:nvPr/>
        </p:nvSpPr>
        <p:spPr>
          <a:xfrm>
            <a:off x="457200" y="3318256"/>
            <a:ext cx="11274552" cy="1661922"/>
          </a:xfrm>
          <a:prstGeom prst="roundRect">
            <a:avLst>
              <a:gd name="adj" fmla="val 6000"/>
            </a:avLst>
          </a:prstGeom>
          <a:solidFill>
            <a:srgbClr val="F3F5F9"/>
          </a:solidFill>
          <a:ln w="12700">
            <a:solidFill>
              <a:srgbClr val="D9DFEA"/>
            </a:solidFill>
          </a:ln>
        </p:spPr>
        <p:txBody>
          <a:bodyPr rtlCol="0" anchor="ctr"/>
          <a:lstStyle/>
          <a:p>
            <a:pPr algn="ctr"/>
          </a:p>
        </p:txBody>
      </p:sp>
      <p:sp>
        <p:nvSpPr>
          <p:cNvPr id="12" name="kor_2"/>
          <p:cNvSpPr txBox="1"/>
          <p:nvPr/>
        </p:nvSpPr>
        <p:spPr>
          <a:xfrm>
            <a:off x="457200" y="3427984"/>
            <a:ext cx="11274552" cy="379603"/>
          </a:xfrm>
          <a:prstGeom prst="rect">
            <a:avLst/>
          </a:prstGeom>
          <a:noFill/>
        </p:spPr>
        <p:txBody>
          <a:bodyPr wrap="square" lIns="228600" tIns="54864" rIns="228600" bIns="54864" anchor="t" rtlCol="0">
            <a:noAutofit/>
          </a:bodyPr>
          <a:lstStyle/>
          <a:p>
            <a:pPr algn="l">
              <a:lnSpc>
                <a:spcPts val="2125"/>
              </a:lnSpc>
              <a:spcBef>
                <a:spcPts val="0"/>
              </a:spcBef>
              <a:spcAft>
                <a:spcPts val="0"/>
              </a:spcAft>
              <a:buNone/>
            </a:pPr>
            <a:r>
              <a:rPr lang="en-US" altLang="en-US" sz="1700" b="1" dirty="0">
                <a:solidFill>
                  <a:srgbClr val="1E2A5A"/>
                </a:solidFill>
                <a:latin typeface="Calibri"/>
                <a:ea typeface="맑은 고딕"/>
                <a:cs typeface="Calibri"/>
              </a:rPr>
              <a:t>4.  </a:t>
            </a:r>
            <a:r>
              <a:rPr lang="ko-KR" altLang="en-US" sz="1700" b="1" dirty="0">
                <a:solidFill>
                  <a:srgbClr val="1F2328"/>
                </a:solidFill>
                <a:latin typeface="맑은 고딕"/>
                <a:ea typeface="맑은 고딕"/>
                <a:cs typeface="맑은 고딕"/>
              </a:rPr>
              <a:t>문자도에는 보통 한자 하나가 동물이나 사물들과 함께 나온다.</a:t>
            </a:r>
            <a:endParaRPr lang="ko-KR" sz="1700"/>
          </a:p>
        </p:txBody>
      </p:sp>
      <p:sp>
        <p:nvSpPr>
          <p:cNvPr id="13" name="ex_2"/>
          <p:cNvSpPr txBox="1"/>
          <p:nvPr/>
        </p:nvSpPr>
        <p:spPr>
          <a:xfrm>
            <a:off x="457200" y="3752723"/>
            <a:ext cx="11274552" cy="435483"/>
          </a:xfrm>
          <a:prstGeom prst="rect">
            <a:avLst/>
          </a:prstGeom>
          <a:noFill/>
        </p:spPr>
        <p:txBody>
          <a:bodyPr wrap="square" lIns="228600" tIns="54864" rIns="228600" bIns="54864" anchor="t" rtlCol="0">
            <a:noAutofit/>
          </a:bodyPr>
          <a:lstStyle/>
          <a:p>
            <a:pPr algn="l">
              <a:lnSpc>
                <a:spcPts val="2565"/>
              </a:lnSpc>
              <a:spcBef>
                <a:spcPts val="0"/>
              </a:spcBef>
              <a:spcAft>
                <a:spcPts val="0"/>
              </a:spcAft>
              <a:buNone/>
            </a:pPr>
            <a:r>
              <a:rPr lang="en-US" altLang="en-US" sz="1900" b="0" dirty="0">
                <a:solidFill>
                  <a:srgbClr val="1F2328"/>
                </a:solidFill>
                <a:latin typeface="Calibri"/>
                <a:ea typeface="맑은 고딕"/>
                <a:cs typeface="Calibri"/>
              </a:rPr>
              <a:t>In Munjado,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with some animals or objects</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a Chinese character</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usually</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there is</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a:t>
            </a:r>
            <a:endParaRPr lang="ko-KR" sz="1900"/>
          </a:p>
        </p:txBody>
      </p:sp>
      <p:sp>
        <p:nvSpPr>
          <p:cNvPr id="14" name="rv_ans_2"/>
          <p:cNvSpPr txBox="1"/>
          <p:nvPr/>
        </p:nvSpPr>
        <p:spPr>
          <a:xfrm>
            <a:off x="594360" y="4224782"/>
            <a:ext cx="11000232" cy="737108"/>
          </a:xfrm>
          <a:prstGeom prst="rect">
            <a:avLst/>
          </a:prstGeom>
          <a:solidFill>
            <a:srgbClr val="FFF3C4"/>
          </a:solidFill>
        </p:spPr>
        <p:txBody>
          <a:bodyPr wrap="square" lIns="137160" tIns="54864" rIns="137160" bIns="54864" anchor="t" rtlCol="0">
            <a:noAutofit/>
          </a:bodyPr>
          <a:lstStyle/>
          <a:p>
            <a:pPr algn="l">
              <a:lnSpc>
                <a:spcPts val="2470"/>
              </a:lnSpc>
              <a:spcBef>
                <a:spcPts val="0"/>
              </a:spcBef>
              <a:spcAft>
                <a:spcPts val="0"/>
              </a:spcAft>
              <a:buNone/>
            </a:pPr>
            <a:r>
              <a:rPr lang="en-US" altLang="en-US" sz="1900" b="1" dirty="0">
                <a:solidFill>
                  <a:srgbClr val="C00000"/>
                </a:solidFill>
                <a:latin typeface="Calibri"/>
                <a:ea typeface="맑은 고딕"/>
                <a:cs typeface="Calibri"/>
              </a:rPr>
              <a:t>→  </a:t>
            </a:r>
            <a:r>
              <a:rPr lang="en-US" altLang="en-US" sz="1900" b="1" dirty="0">
                <a:solidFill>
                  <a:srgbClr val="C00000"/>
                </a:solidFill>
                <a:latin typeface="Calibri"/>
                <a:ea typeface="맑은 고딕"/>
                <a:cs typeface="Calibri"/>
              </a:rPr>
              <a:t>In Munjado, there is usually a Chinese character with some animals or objects.</a:t>
            </a:r>
            <a:endParaRPr lang="ko-KR" sz="19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25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2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4" grpId="0" animBg="1"/>
    </p:bldLst>
  </p:timing>
</p:sld>
</file>

<file path=ppt/slides/slide30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8000"/>
            </a:avLst>
          </a:prstGeom>
          <a:solidFill>
            <a:srgbClr val="1E2A5A"/>
          </a:solidFill>
          <a:ln>
            <a:noFill/>
          </a:ln>
        </p:spPr>
        <p:txBody>
          <a:bodyPr wrap="square" lIns="45720" tIns="18288" rIns="45720" bIns="18288" anchor="ctr" rtlCol="0">
            <a:noAutofit/>
          </a:bodyPr>
          <a:lstStyle/>
          <a:p>
            <a:pPr algn="ctr">
              <a:lnSpc>
                <a:spcPts val="2000"/>
              </a:lnSpc>
              <a:spcBef>
                <a:spcPts val="0"/>
              </a:spcBef>
              <a:spcAft>
                <a:spcPts val="0"/>
              </a:spcAft>
              <a:buNone/>
            </a:pPr>
            <a:r>
              <a:rPr lang="en-US" altLang="en-US" sz="1700" b="1" dirty="0">
                <a:solidFill>
                  <a:srgbClr val="FFFFFF"/>
                </a:solidFill>
                <a:latin typeface="Calibri"/>
                <a:ea typeface="맑은 고딕"/>
                <a:cs typeface="Calibri"/>
              </a:rPr>
              <a:t>L8-1</a:t>
            </a:r>
            <a:endParaRPr lang="ko-KR" sz="1700"/>
          </a:p>
        </p:txBody>
      </p:sp>
      <p:sp>
        <p:nvSpPr>
          <p:cNvPr id="3" name="hdr_chip"/>
          <p:cNvSpPr/>
          <p:nvPr/>
        </p:nvSpPr>
        <p:spPr>
          <a:xfrm>
            <a:off x="1755648" y="274320"/>
            <a:ext cx="1371600" cy="493776"/>
          </a:xfrm>
          <a:prstGeom prst="roundRect">
            <a:avLst>
              <a:gd name="adj" fmla="val 8000"/>
            </a:avLst>
          </a:prstGeom>
          <a:solidFill>
            <a:srgbClr val="E6EAF4"/>
          </a:solidFill>
          <a:ln>
            <a:noFill/>
          </a:ln>
        </p:spPr>
        <p:txBody>
          <a:bodyPr wrap="square" lIns="27432" tIns="18288" rIns="27432" bIns="18288" anchor="ctr" rtlCol="0">
            <a:noAutofit/>
          </a:bodyPr>
          <a:lstStyle/>
          <a:p>
            <a:pPr algn="ctr">
              <a:lnSpc>
                <a:spcPts val="1700"/>
              </a:lnSpc>
              <a:spcBef>
                <a:spcPts val="0"/>
              </a:spcBef>
              <a:spcAft>
                <a:spcPts val="0"/>
              </a:spcAft>
              <a:buNone/>
            </a:pPr>
            <a:r>
              <a:rPr lang="ko-KR" altLang="en-US" sz="1400" b="1" dirty="0">
                <a:solidFill>
                  <a:srgbClr val="1E2A5A"/>
                </a:solidFill>
                <a:latin typeface="맑은 고딕"/>
                <a:ea typeface="맑은 고딕"/>
                <a:cs typeface="맑은 고딕"/>
              </a:rPr>
              <a:t>PART 6 · 3</a:t>
            </a:r>
            <a:endParaRPr lang="ko-KR" sz="1400"/>
          </a:p>
        </p:txBody>
      </p:sp>
      <p:sp>
        <p:nvSpPr>
          <p:cNvPr id="4" name="hdr_q"/>
          <p:cNvSpPr txBox="1"/>
          <p:nvPr/>
        </p:nvSpPr>
        <p:spPr>
          <a:xfrm>
            <a:off x="3246120" y="246888"/>
            <a:ext cx="8485632" cy="548640"/>
          </a:xfrm>
          <a:prstGeom prst="rect">
            <a:avLst/>
          </a:prstGeom>
          <a:noFill/>
        </p:spPr>
        <p:txBody>
          <a:bodyPr wrap="square" lIns="109728" tIns="54864" rIns="109728" bIns="54864" anchor="ctr" rtlCol="0">
            <a:noAutofit/>
          </a:bodyPr>
          <a:lstStyle/>
          <a:p>
            <a:pPr algn="l">
              <a:lnSpc>
                <a:spcPts val="2400"/>
              </a:lnSpc>
              <a:spcBef>
                <a:spcPts val="0"/>
              </a:spcBef>
              <a:spcAft>
                <a:spcPts val="0"/>
              </a:spcAft>
              <a:buNone/>
            </a:pPr>
            <a:r>
              <a:rPr lang="ko-KR" altLang="en-US" sz="2000" b="1" dirty="0">
                <a:solidFill>
                  <a:srgbClr val="1F2328"/>
                </a:solidFill>
                <a:latin typeface="맑은 고딕"/>
                <a:ea typeface="맑은 고딕"/>
                <a:cs typeface="맑은 고딕"/>
              </a:rPr>
              <a:t>우리말에 맞게 (  ) 안의 말을 바르게 배열하시오.</a:t>
            </a:r>
            <a:endParaRPr lang="ko-KR" sz="2000"/>
          </a:p>
        </p:txBody>
      </p:sp>
      <p:sp>
        <p:nvSpPr>
          <p:cNvPr id="5" name="ftr_exam"/>
          <p:cNvSpPr txBox="1"/>
          <p:nvPr/>
        </p:nvSpPr>
        <p:spPr>
          <a:xfrm>
            <a:off x="457200" y="6519672"/>
            <a:ext cx="5669280" cy="256032"/>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8</a:t>
            </a:r>
            <a:endParaRPr lang="ko-KR" sz="1000"/>
          </a:p>
        </p:txBody>
      </p:sp>
      <p:sp>
        <p:nvSpPr>
          <p:cNvPr id="6" name="ftr_hint"/>
          <p:cNvSpPr txBox="1"/>
          <p:nvPr/>
        </p:nvSpPr>
        <p:spPr>
          <a:xfrm>
            <a:off x="5971032" y="6519672"/>
            <a:ext cx="5760720" cy="256032"/>
          </a:xfrm>
          <a:prstGeom prst="rect">
            <a:avLst/>
          </a:prstGeom>
          <a:noFill/>
        </p:spPr>
        <p:txBody>
          <a:bodyPr wrap="square" lIns="0" tIns="0" rIns="0" bIns="0" anchor="t" rtlCol="0">
            <a:noAutofit/>
          </a:bodyPr>
          <a:lstStyle/>
          <a:p>
            <a:pPr algn="r">
              <a:lnSpc>
                <a:spcPts val="1200"/>
              </a:lnSpc>
              <a:spcBef>
                <a:spcPts val="0"/>
              </a:spcBef>
              <a:spcAft>
                <a:spcPts val="0"/>
              </a:spcAft>
              <a:buNone/>
            </a:pPr>
            <a:r>
              <a:rPr lang="ko-KR" altLang="en-US" sz="1000" b="0" dirty="0">
                <a:solidFill>
                  <a:srgbClr val="7A808C"/>
                </a:solidFill>
                <a:latin typeface="맑은 고딕"/>
                <a:ea typeface="맑은 고딕"/>
                <a:cs typeface="맑은 고딕"/>
              </a:rPr>
              <a:t>클릭 ① 완성 문장(정답) 공개</a:t>
            </a:r>
            <a:endParaRPr lang="ko-KR" sz="1000"/>
          </a:p>
        </p:txBody>
      </p:sp>
      <p:sp>
        <p:nvSpPr>
          <p:cNvPr id="7" name="item_card_1"/>
          <p:cNvSpPr/>
          <p:nvPr/>
        </p:nvSpPr>
        <p:spPr>
          <a:xfrm>
            <a:off x="457200" y="950976"/>
            <a:ext cx="11274552" cy="1348232"/>
          </a:xfrm>
          <a:prstGeom prst="roundRect">
            <a:avLst>
              <a:gd name="adj" fmla="val 6000"/>
            </a:avLst>
          </a:prstGeom>
          <a:solidFill>
            <a:srgbClr val="F3F5F9"/>
          </a:solidFill>
          <a:ln w="12700">
            <a:solidFill>
              <a:srgbClr val="D9DFEA"/>
            </a:solidFill>
          </a:ln>
        </p:spPr>
        <p:txBody>
          <a:bodyPr rtlCol="0" anchor="ctr"/>
          <a:lstStyle/>
          <a:p>
            <a:pPr algn="ctr"/>
          </a:p>
        </p:txBody>
      </p:sp>
      <p:sp>
        <p:nvSpPr>
          <p:cNvPr id="8" name="kor_1"/>
          <p:cNvSpPr txBox="1"/>
          <p:nvPr/>
        </p:nvSpPr>
        <p:spPr>
          <a:xfrm>
            <a:off x="457200" y="1060704"/>
            <a:ext cx="11274552" cy="379603"/>
          </a:xfrm>
          <a:prstGeom prst="rect">
            <a:avLst/>
          </a:prstGeom>
          <a:noFill/>
        </p:spPr>
        <p:txBody>
          <a:bodyPr wrap="square" lIns="228600" tIns="54864" rIns="228600" bIns="54864" anchor="t" rtlCol="0">
            <a:noAutofit/>
          </a:bodyPr>
          <a:lstStyle/>
          <a:p>
            <a:pPr algn="l">
              <a:lnSpc>
                <a:spcPts val="2125"/>
              </a:lnSpc>
              <a:spcBef>
                <a:spcPts val="0"/>
              </a:spcBef>
              <a:spcAft>
                <a:spcPts val="0"/>
              </a:spcAft>
              <a:buNone/>
            </a:pPr>
            <a:r>
              <a:rPr lang="en-US" altLang="en-US" sz="1700" b="1" dirty="0">
                <a:solidFill>
                  <a:srgbClr val="1E2A5A"/>
                </a:solidFill>
                <a:latin typeface="Calibri"/>
                <a:ea typeface="맑은 고딕"/>
                <a:cs typeface="Calibri"/>
              </a:rPr>
              <a:t>5.  </a:t>
            </a:r>
            <a:r>
              <a:rPr lang="ko-KR" altLang="en-US" sz="1700" b="1" dirty="0">
                <a:solidFill>
                  <a:srgbClr val="1F2328"/>
                </a:solidFill>
                <a:latin typeface="맑은 고딕"/>
                <a:ea typeface="맑은 고딕"/>
                <a:cs typeface="맑은 고딕"/>
              </a:rPr>
              <a:t>문자도에는 여덟 개의 한자 중 하나가 나온다.</a:t>
            </a:r>
            <a:endParaRPr lang="ko-KR" sz="1700"/>
          </a:p>
        </p:txBody>
      </p:sp>
      <p:sp>
        <p:nvSpPr>
          <p:cNvPr id="9" name="ex_1"/>
          <p:cNvSpPr txBox="1"/>
          <p:nvPr/>
        </p:nvSpPr>
        <p:spPr>
          <a:xfrm>
            <a:off x="457200" y="1385443"/>
            <a:ext cx="11274552" cy="435483"/>
          </a:xfrm>
          <a:prstGeom prst="rect">
            <a:avLst/>
          </a:prstGeom>
          <a:noFill/>
        </p:spPr>
        <p:txBody>
          <a:bodyPr wrap="square" lIns="228600" tIns="54864" rIns="228600" bIns="54864" anchor="t" rtlCol="0">
            <a:noAutofit/>
          </a:bodyPr>
          <a:lstStyle/>
          <a:p>
            <a:pPr algn="l">
              <a:lnSpc>
                <a:spcPts val="2565"/>
              </a:lnSpc>
              <a:spcBef>
                <a:spcPts val="0"/>
              </a:spcBef>
              <a:spcAft>
                <a:spcPts val="0"/>
              </a:spcAft>
              <a:buNone/>
            </a:pP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eight Chinese characters</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One of</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appears</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in Munjado</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a:t>
            </a:r>
            <a:endParaRPr lang="ko-KR" sz="1900"/>
          </a:p>
        </p:txBody>
      </p:sp>
      <p:sp>
        <p:nvSpPr>
          <p:cNvPr id="10" name="rv_ans_1"/>
          <p:cNvSpPr txBox="1"/>
          <p:nvPr/>
        </p:nvSpPr>
        <p:spPr>
          <a:xfrm>
            <a:off x="594360" y="1857502"/>
            <a:ext cx="11000232" cy="423418"/>
          </a:xfrm>
          <a:prstGeom prst="rect">
            <a:avLst/>
          </a:prstGeom>
          <a:solidFill>
            <a:srgbClr val="FFF3C4"/>
          </a:solidFill>
        </p:spPr>
        <p:txBody>
          <a:bodyPr wrap="square" lIns="137160" tIns="54864" rIns="137160" bIns="54864" anchor="t" rtlCol="0">
            <a:noAutofit/>
          </a:bodyPr>
          <a:lstStyle/>
          <a:p>
            <a:pPr algn="l">
              <a:lnSpc>
                <a:spcPts val="2470"/>
              </a:lnSpc>
              <a:spcBef>
                <a:spcPts val="0"/>
              </a:spcBef>
              <a:spcAft>
                <a:spcPts val="0"/>
              </a:spcAft>
              <a:buNone/>
            </a:pPr>
            <a:r>
              <a:rPr lang="en-US" altLang="en-US" sz="1900" b="1" dirty="0">
                <a:solidFill>
                  <a:srgbClr val="C00000"/>
                </a:solidFill>
                <a:latin typeface="Calibri"/>
                <a:ea typeface="맑은 고딕"/>
                <a:cs typeface="Calibri"/>
              </a:rPr>
              <a:t>→  </a:t>
            </a:r>
            <a:r>
              <a:rPr lang="en-US" altLang="en-US" sz="1900" b="1" dirty="0">
                <a:solidFill>
                  <a:srgbClr val="C00000"/>
                </a:solidFill>
                <a:latin typeface="Calibri"/>
                <a:ea typeface="맑은 고딕"/>
                <a:cs typeface="Calibri"/>
              </a:rPr>
              <a:t>One of eight Chinese characters appears in Munjado.</a:t>
            </a:r>
            <a:endParaRPr lang="ko-KR" sz="1900"/>
          </a:p>
        </p:txBody>
      </p:sp>
      <p:sp>
        <p:nvSpPr>
          <p:cNvPr id="11" name="item_card_2"/>
          <p:cNvSpPr/>
          <p:nvPr/>
        </p:nvSpPr>
        <p:spPr>
          <a:xfrm>
            <a:off x="457200" y="2408936"/>
            <a:ext cx="11274552" cy="2896997"/>
          </a:xfrm>
          <a:prstGeom prst="roundRect">
            <a:avLst>
              <a:gd name="adj" fmla="val 6000"/>
            </a:avLst>
          </a:prstGeom>
          <a:solidFill>
            <a:srgbClr val="F3F5F9"/>
          </a:solidFill>
          <a:ln w="12700">
            <a:solidFill>
              <a:srgbClr val="D9DFEA"/>
            </a:solidFill>
          </a:ln>
        </p:spPr>
        <p:txBody>
          <a:bodyPr rtlCol="0" anchor="ctr"/>
          <a:lstStyle/>
          <a:p>
            <a:pPr algn="ctr"/>
          </a:p>
        </p:txBody>
      </p:sp>
      <p:sp>
        <p:nvSpPr>
          <p:cNvPr id="12" name="kor_2"/>
          <p:cNvSpPr txBox="1"/>
          <p:nvPr/>
        </p:nvSpPr>
        <p:spPr>
          <a:xfrm>
            <a:off x="457200" y="2518664"/>
            <a:ext cx="11274552" cy="649478"/>
          </a:xfrm>
          <a:prstGeom prst="rect">
            <a:avLst/>
          </a:prstGeom>
          <a:noFill/>
        </p:spPr>
        <p:txBody>
          <a:bodyPr wrap="square" lIns="228600" tIns="54864" rIns="228600" bIns="54864" anchor="t" rtlCol="0">
            <a:noAutofit/>
          </a:bodyPr>
          <a:lstStyle/>
          <a:p>
            <a:pPr algn="l">
              <a:lnSpc>
                <a:spcPts val="2125"/>
              </a:lnSpc>
              <a:spcBef>
                <a:spcPts val="0"/>
              </a:spcBef>
              <a:spcAft>
                <a:spcPts val="0"/>
              </a:spcAft>
              <a:buNone/>
            </a:pPr>
            <a:r>
              <a:rPr lang="en-US" altLang="en-US" sz="1700" b="1" dirty="0">
                <a:solidFill>
                  <a:srgbClr val="1E2A5A"/>
                </a:solidFill>
                <a:latin typeface="Calibri"/>
                <a:ea typeface="맑은 고딕"/>
                <a:cs typeface="Calibri"/>
              </a:rPr>
              <a:t>6.  </a:t>
            </a:r>
            <a:r>
              <a:rPr lang="ko-KR" altLang="en-US" sz="1700" b="1" dirty="0">
                <a:solidFill>
                  <a:srgbClr val="1F2328"/>
                </a:solidFill>
                <a:latin typeface="맑은 고딕"/>
                <a:ea typeface="맑은 고딕"/>
                <a:cs typeface="맑은 고딕"/>
              </a:rPr>
              <a:t>그것들은 효(孝), 제(悌), 충(忠), 신(信), 예(禮), 의(義), 염(廉), 치(恥)이고, 조선 시대 사람들에게 중요했던 가치들을 나타낸다.</a:t>
            </a:r>
            <a:endParaRPr lang="ko-KR" sz="1700"/>
          </a:p>
        </p:txBody>
      </p:sp>
      <p:sp>
        <p:nvSpPr>
          <p:cNvPr id="13" name="ex_2"/>
          <p:cNvSpPr txBox="1"/>
          <p:nvPr/>
        </p:nvSpPr>
        <p:spPr>
          <a:xfrm>
            <a:off x="457200" y="3113278"/>
            <a:ext cx="11274552" cy="1086993"/>
          </a:xfrm>
          <a:prstGeom prst="rect">
            <a:avLst/>
          </a:prstGeom>
          <a:noFill/>
        </p:spPr>
        <p:txBody>
          <a:bodyPr wrap="square" lIns="228600" tIns="54864" rIns="228600" bIns="54864" anchor="t" rtlCol="0">
            <a:noAutofit/>
          </a:bodyPr>
          <a:lstStyle/>
          <a:p>
            <a:pPr algn="l">
              <a:lnSpc>
                <a:spcPts val="2565"/>
              </a:lnSpc>
              <a:spcBef>
                <a:spcPts val="0"/>
              </a:spcBef>
              <a:spcAft>
                <a:spcPts val="0"/>
              </a:spcAft>
              <a:buNone/>
            </a:pPr>
            <a:r>
              <a:rPr lang="en-US" altLang="en-US" sz="1900" b="0" dirty="0">
                <a:solidFill>
                  <a:srgbClr val="1F2328"/>
                </a:solidFill>
                <a:latin typeface="Calibri"/>
                <a:ea typeface="맑은 고딕"/>
                <a:cs typeface="Calibri"/>
              </a:rPr>
              <a:t>They are hyo (孝), je (悌), chung (忠), sin (信), ye (禮), ui (義), yeom (廉), and chi (恥), and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they</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the values</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represent</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 that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were</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to people of the Joseon dynasty</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important</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a:t>
            </a:r>
            <a:endParaRPr lang="ko-KR" sz="1900"/>
          </a:p>
        </p:txBody>
      </p:sp>
      <p:sp>
        <p:nvSpPr>
          <p:cNvPr id="14" name="rv_ans_2"/>
          <p:cNvSpPr txBox="1"/>
          <p:nvPr/>
        </p:nvSpPr>
        <p:spPr>
          <a:xfrm>
            <a:off x="594360" y="4236847"/>
            <a:ext cx="11000232" cy="1050798"/>
          </a:xfrm>
          <a:prstGeom prst="rect">
            <a:avLst/>
          </a:prstGeom>
          <a:solidFill>
            <a:srgbClr val="FFF3C4"/>
          </a:solidFill>
        </p:spPr>
        <p:txBody>
          <a:bodyPr wrap="square" lIns="137160" tIns="54864" rIns="137160" bIns="54864" anchor="t" rtlCol="0">
            <a:noAutofit/>
          </a:bodyPr>
          <a:lstStyle/>
          <a:p>
            <a:pPr algn="l">
              <a:lnSpc>
                <a:spcPts val="2470"/>
              </a:lnSpc>
              <a:spcBef>
                <a:spcPts val="0"/>
              </a:spcBef>
              <a:spcAft>
                <a:spcPts val="0"/>
              </a:spcAft>
              <a:buNone/>
            </a:pPr>
            <a:r>
              <a:rPr lang="en-US" altLang="en-US" sz="1900" b="1" dirty="0">
                <a:solidFill>
                  <a:srgbClr val="C00000"/>
                </a:solidFill>
                <a:latin typeface="Calibri"/>
                <a:ea typeface="맑은 고딕"/>
                <a:cs typeface="Calibri"/>
              </a:rPr>
              <a:t>→  </a:t>
            </a:r>
            <a:r>
              <a:rPr lang="en-US" altLang="en-US" sz="1900" b="1" dirty="0">
                <a:solidFill>
                  <a:srgbClr val="C00000"/>
                </a:solidFill>
                <a:latin typeface="Calibri"/>
                <a:ea typeface="맑은 고딕"/>
                <a:cs typeface="Calibri"/>
              </a:rPr>
              <a:t>They are hyo (孝), je (悌), chung (忠), sin (信), ye (禮), ui (義), yeom (廉), and chi (恥), and they represent the values that were important to people of the Joseon dynasty.</a:t>
            </a:r>
            <a:endParaRPr lang="ko-KR" sz="19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25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2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4" grpId="0" animBg="1"/>
    </p:bldLst>
  </p:timing>
</p:sld>
</file>

<file path=ppt/slides/slide30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8000"/>
            </a:avLst>
          </a:prstGeom>
          <a:solidFill>
            <a:srgbClr val="1E2A5A"/>
          </a:solidFill>
          <a:ln>
            <a:noFill/>
          </a:ln>
        </p:spPr>
        <p:txBody>
          <a:bodyPr wrap="square" lIns="45720" tIns="18288" rIns="45720" bIns="18288" anchor="ctr" rtlCol="0">
            <a:noAutofit/>
          </a:bodyPr>
          <a:lstStyle/>
          <a:p>
            <a:pPr algn="ctr">
              <a:lnSpc>
                <a:spcPts val="2000"/>
              </a:lnSpc>
              <a:spcBef>
                <a:spcPts val="0"/>
              </a:spcBef>
              <a:spcAft>
                <a:spcPts val="0"/>
              </a:spcAft>
              <a:buNone/>
            </a:pPr>
            <a:r>
              <a:rPr lang="en-US" altLang="en-US" sz="1700" b="1" dirty="0">
                <a:solidFill>
                  <a:srgbClr val="FFFFFF"/>
                </a:solidFill>
                <a:latin typeface="Calibri"/>
                <a:ea typeface="맑은 고딕"/>
                <a:cs typeface="Calibri"/>
              </a:rPr>
              <a:t>L8-2</a:t>
            </a:r>
            <a:endParaRPr lang="ko-KR" sz="1700"/>
          </a:p>
        </p:txBody>
      </p:sp>
      <p:sp>
        <p:nvSpPr>
          <p:cNvPr id="3" name="hdr_chip"/>
          <p:cNvSpPr/>
          <p:nvPr/>
        </p:nvSpPr>
        <p:spPr>
          <a:xfrm>
            <a:off x="1755648" y="274320"/>
            <a:ext cx="1371600" cy="493776"/>
          </a:xfrm>
          <a:prstGeom prst="roundRect">
            <a:avLst>
              <a:gd name="adj" fmla="val 8000"/>
            </a:avLst>
          </a:prstGeom>
          <a:solidFill>
            <a:srgbClr val="E6EAF4"/>
          </a:solidFill>
          <a:ln>
            <a:noFill/>
          </a:ln>
        </p:spPr>
        <p:txBody>
          <a:bodyPr wrap="square" lIns="27432" tIns="18288" rIns="27432" bIns="18288" anchor="ctr" rtlCol="0">
            <a:noAutofit/>
          </a:bodyPr>
          <a:lstStyle/>
          <a:p>
            <a:pPr algn="ctr">
              <a:lnSpc>
                <a:spcPts val="1700"/>
              </a:lnSpc>
              <a:spcBef>
                <a:spcPts val="0"/>
              </a:spcBef>
              <a:spcAft>
                <a:spcPts val="0"/>
              </a:spcAft>
              <a:buNone/>
            </a:pPr>
            <a:r>
              <a:rPr lang="ko-KR" altLang="en-US" sz="1400" b="1" dirty="0">
                <a:solidFill>
                  <a:srgbClr val="1E2A5A"/>
                </a:solidFill>
                <a:latin typeface="맑은 고딕"/>
                <a:ea typeface="맑은 고딕"/>
                <a:cs typeface="맑은 고딕"/>
              </a:rPr>
              <a:t>PART 6 · 4</a:t>
            </a:r>
            <a:endParaRPr lang="ko-KR" sz="1400"/>
          </a:p>
        </p:txBody>
      </p:sp>
      <p:sp>
        <p:nvSpPr>
          <p:cNvPr id="4" name="hdr_q"/>
          <p:cNvSpPr txBox="1"/>
          <p:nvPr/>
        </p:nvSpPr>
        <p:spPr>
          <a:xfrm>
            <a:off x="3246120" y="246888"/>
            <a:ext cx="8485632" cy="548640"/>
          </a:xfrm>
          <a:prstGeom prst="rect">
            <a:avLst/>
          </a:prstGeom>
          <a:noFill/>
        </p:spPr>
        <p:txBody>
          <a:bodyPr wrap="square" lIns="109728" tIns="54864" rIns="109728" bIns="54864" anchor="ctr" rtlCol="0">
            <a:noAutofit/>
          </a:bodyPr>
          <a:lstStyle/>
          <a:p>
            <a:pPr algn="l">
              <a:lnSpc>
                <a:spcPts val="2400"/>
              </a:lnSpc>
              <a:spcBef>
                <a:spcPts val="0"/>
              </a:spcBef>
              <a:spcAft>
                <a:spcPts val="0"/>
              </a:spcAft>
              <a:buNone/>
            </a:pPr>
            <a:r>
              <a:rPr lang="ko-KR" altLang="en-US" sz="2000" b="1" dirty="0">
                <a:solidFill>
                  <a:srgbClr val="1F2328"/>
                </a:solidFill>
                <a:latin typeface="맑은 고딕"/>
                <a:ea typeface="맑은 고딕"/>
                <a:cs typeface="맑은 고딕"/>
              </a:rPr>
              <a:t>우리말에 맞게 (  ) 안의 말을 바르게 배열하시오.</a:t>
            </a:r>
            <a:endParaRPr lang="ko-KR" sz="2000"/>
          </a:p>
        </p:txBody>
      </p:sp>
      <p:sp>
        <p:nvSpPr>
          <p:cNvPr id="5" name="ftr_exam"/>
          <p:cNvSpPr txBox="1"/>
          <p:nvPr/>
        </p:nvSpPr>
        <p:spPr>
          <a:xfrm>
            <a:off x="457200" y="6519672"/>
            <a:ext cx="5669280" cy="256032"/>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8</a:t>
            </a:r>
            <a:endParaRPr lang="ko-KR" sz="1000"/>
          </a:p>
        </p:txBody>
      </p:sp>
      <p:sp>
        <p:nvSpPr>
          <p:cNvPr id="6" name="ftr_hint"/>
          <p:cNvSpPr txBox="1"/>
          <p:nvPr/>
        </p:nvSpPr>
        <p:spPr>
          <a:xfrm>
            <a:off x="5971032" y="6519672"/>
            <a:ext cx="5760720" cy="256032"/>
          </a:xfrm>
          <a:prstGeom prst="rect">
            <a:avLst/>
          </a:prstGeom>
          <a:noFill/>
        </p:spPr>
        <p:txBody>
          <a:bodyPr wrap="square" lIns="0" tIns="0" rIns="0" bIns="0" anchor="t" rtlCol="0">
            <a:noAutofit/>
          </a:bodyPr>
          <a:lstStyle/>
          <a:p>
            <a:pPr algn="r">
              <a:lnSpc>
                <a:spcPts val="1200"/>
              </a:lnSpc>
              <a:spcBef>
                <a:spcPts val="0"/>
              </a:spcBef>
              <a:spcAft>
                <a:spcPts val="0"/>
              </a:spcAft>
              <a:buNone/>
            </a:pPr>
            <a:r>
              <a:rPr lang="ko-KR" altLang="en-US" sz="1000" b="0" dirty="0">
                <a:solidFill>
                  <a:srgbClr val="7A808C"/>
                </a:solidFill>
                <a:latin typeface="맑은 고딕"/>
                <a:ea typeface="맑은 고딕"/>
                <a:cs typeface="맑은 고딕"/>
              </a:rPr>
              <a:t>클릭 ① 완성 문장(정답) 공개</a:t>
            </a:r>
            <a:endParaRPr lang="ko-KR" sz="1000"/>
          </a:p>
        </p:txBody>
      </p:sp>
      <p:sp>
        <p:nvSpPr>
          <p:cNvPr id="7" name="item_card_1"/>
          <p:cNvSpPr/>
          <p:nvPr/>
        </p:nvSpPr>
        <p:spPr>
          <a:xfrm>
            <a:off x="457200" y="950976"/>
            <a:ext cx="11274552" cy="1987677"/>
          </a:xfrm>
          <a:prstGeom prst="roundRect">
            <a:avLst>
              <a:gd name="adj" fmla="val 6000"/>
            </a:avLst>
          </a:prstGeom>
          <a:solidFill>
            <a:srgbClr val="F3F5F9"/>
          </a:solidFill>
          <a:ln w="12700">
            <a:solidFill>
              <a:srgbClr val="D9DFEA"/>
            </a:solidFill>
          </a:ln>
        </p:spPr>
        <p:txBody>
          <a:bodyPr rtlCol="0" anchor="ctr"/>
          <a:lstStyle/>
          <a:p>
            <a:pPr algn="ctr"/>
          </a:p>
        </p:txBody>
      </p:sp>
      <p:sp>
        <p:nvSpPr>
          <p:cNvPr id="8" name="kor_1"/>
          <p:cNvSpPr txBox="1"/>
          <p:nvPr/>
        </p:nvSpPr>
        <p:spPr>
          <a:xfrm>
            <a:off x="457200" y="1060704"/>
            <a:ext cx="11274552" cy="379603"/>
          </a:xfrm>
          <a:prstGeom prst="rect">
            <a:avLst/>
          </a:prstGeom>
          <a:noFill/>
        </p:spPr>
        <p:txBody>
          <a:bodyPr wrap="square" lIns="228600" tIns="54864" rIns="228600" bIns="54864" anchor="t" rtlCol="0">
            <a:noAutofit/>
          </a:bodyPr>
          <a:lstStyle/>
          <a:p>
            <a:pPr algn="l">
              <a:lnSpc>
                <a:spcPts val="2125"/>
              </a:lnSpc>
              <a:spcBef>
                <a:spcPts val="0"/>
              </a:spcBef>
              <a:spcAft>
                <a:spcPts val="0"/>
              </a:spcAft>
              <a:buNone/>
            </a:pPr>
            <a:r>
              <a:rPr lang="en-US" altLang="en-US" sz="1700" b="1" dirty="0">
                <a:solidFill>
                  <a:srgbClr val="1E2A5A"/>
                </a:solidFill>
                <a:latin typeface="Calibri"/>
                <a:ea typeface="맑은 고딕"/>
                <a:cs typeface="Calibri"/>
              </a:rPr>
              <a:t>1.  </a:t>
            </a:r>
            <a:r>
              <a:rPr lang="ko-KR" altLang="en-US" sz="1700" b="1" dirty="0">
                <a:solidFill>
                  <a:srgbClr val="1F2328"/>
                </a:solidFill>
                <a:latin typeface="맑은 고딕"/>
                <a:ea typeface="맑은 고딕"/>
                <a:cs typeface="맑은 고딕"/>
              </a:rPr>
              <a:t>문자도에 있는 동물이나 사물은 단순히 장식이 아니다. 그것들은 종종 상징적이다.</a:t>
            </a:r>
            <a:endParaRPr lang="ko-KR" sz="1700"/>
          </a:p>
        </p:txBody>
      </p:sp>
      <p:sp>
        <p:nvSpPr>
          <p:cNvPr id="9" name="ex_1"/>
          <p:cNvSpPr txBox="1"/>
          <p:nvPr/>
        </p:nvSpPr>
        <p:spPr>
          <a:xfrm>
            <a:off x="457200" y="1385443"/>
            <a:ext cx="11274552" cy="761238"/>
          </a:xfrm>
          <a:prstGeom prst="rect">
            <a:avLst/>
          </a:prstGeom>
          <a:noFill/>
        </p:spPr>
        <p:txBody>
          <a:bodyPr wrap="square" lIns="228600" tIns="54864" rIns="228600" bIns="54864" anchor="t" rtlCol="0">
            <a:noAutofit/>
          </a:bodyPr>
          <a:lstStyle/>
          <a:p>
            <a:pPr algn="l">
              <a:lnSpc>
                <a:spcPts val="2565"/>
              </a:lnSpc>
              <a:spcBef>
                <a:spcPts val="0"/>
              </a:spcBef>
              <a:spcAft>
                <a:spcPts val="0"/>
              </a:spcAft>
              <a:buNone/>
            </a:pP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just decorations</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The animals or objects</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are not</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in Munjado</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are</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often</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symbolic</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They</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a:t>
            </a:r>
            <a:endParaRPr lang="ko-KR" sz="1900"/>
          </a:p>
        </p:txBody>
      </p:sp>
      <p:sp>
        <p:nvSpPr>
          <p:cNvPr id="10" name="rv_ans_1"/>
          <p:cNvSpPr txBox="1"/>
          <p:nvPr/>
        </p:nvSpPr>
        <p:spPr>
          <a:xfrm>
            <a:off x="594360" y="2183257"/>
            <a:ext cx="11000232" cy="737108"/>
          </a:xfrm>
          <a:prstGeom prst="rect">
            <a:avLst/>
          </a:prstGeom>
          <a:solidFill>
            <a:srgbClr val="FFF3C4"/>
          </a:solidFill>
        </p:spPr>
        <p:txBody>
          <a:bodyPr wrap="square" lIns="137160" tIns="54864" rIns="137160" bIns="54864" anchor="t" rtlCol="0">
            <a:noAutofit/>
          </a:bodyPr>
          <a:lstStyle/>
          <a:p>
            <a:pPr algn="l">
              <a:lnSpc>
                <a:spcPts val="2470"/>
              </a:lnSpc>
              <a:spcBef>
                <a:spcPts val="0"/>
              </a:spcBef>
              <a:spcAft>
                <a:spcPts val="0"/>
              </a:spcAft>
              <a:buNone/>
            </a:pPr>
            <a:r>
              <a:rPr lang="en-US" altLang="en-US" sz="1900" b="1" dirty="0">
                <a:solidFill>
                  <a:srgbClr val="C00000"/>
                </a:solidFill>
                <a:latin typeface="Calibri"/>
                <a:ea typeface="맑은 고딕"/>
                <a:cs typeface="Calibri"/>
              </a:rPr>
              <a:t>→  </a:t>
            </a:r>
            <a:r>
              <a:rPr lang="en-US" altLang="en-US" sz="1900" b="1" dirty="0">
                <a:solidFill>
                  <a:srgbClr val="C00000"/>
                </a:solidFill>
                <a:latin typeface="Calibri"/>
                <a:ea typeface="맑은 고딕"/>
                <a:cs typeface="Calibri"/>
              </a:rPr>
              <a:t>The animals or objects in Munjado are not just decorations. They often are symbolic.</a:t>
            </a:r>
            <a:endParaRPr lang="ko-KR" sz="1900"/>
          </a:p>
        </p:txBody>
      </p:sp>
      <p:sp>
        <p:nvSpPr>
          <p:cNvPr id="11" name="item_card_2"/>
          <p:cNvSpPr/>
          <p:nvPr/>
        </p:nvSpPr>
        <p:spPr>
          <a:xfrm>
            <a:off x="457200" y="3048381"/>
            <a:ext cx="11274552" cy="1987677"/>
          </a:xfrm>
          <a:prstGeom prst="roundRect">
            <a:avLst>
              <a:gd name="adj" fmla="val 6000"/>
            </a:avLst>
          </a:prstGeom>
          <a:solidFill>
            <a:srgbClr val="F3F5F9"/>
          </a:solidFill>
          <a:ln w="12700">
            <a:solidFill>
              <a:srgbClr val="D9DFEA"/>
            </a:solidFill>
          </a:ln>
        </p:spPr>
        <p:txBody>
          <a:bodyPr rtlCol="0" anchor="ctr"/>
          <a:lstStyle/>
          <a:p>
            <a:pPr algn="ctr"/>
          </a:p>
        </p:txBody>
      </p:sp>
      <p:sp>
        <p:nvSpPr>
          <p:cNvPr id="12" name="kor_2"/>
          <p:cNvSpPr txBox="1"/>
          <p:nvPr/>
        </p:nvSpPr>
        <p:spPr>
          <a:xfrm>
            <a:off x="457200" y="3158109"/>
            <a:ext cx="11274552" cy="379603"/>
          </a:xfrm>
          <a:prstGeom prst="rect">
            <a:avLst/>
          </a:prstGeom>
          <a:noFill/>
        </p:spPr>
        <p:txBody>
          <a:bodyPr wrap="square" lIns="228600" tIns="54864" rIns="228600" bIns="54864" anchor="t" rtlCol="0">
            <a:noAutofit/>
          </a:bodyPr>
          <a:lstStyle/>
          <a:p>
            <a:pPr algn="l">
              <a:lnSpc>
                <a:spcPts val="2125"/>
              </a:lnSpc>
              <a:spcBef>
                <a:spcPts val="0"/>
              </a:spcBef>
              <a:spcAft>
                <a:spcPts val="0"/>
              </a:spcAft>
              <a:buNone/>
            </a:pPr>
            <a:r>
              <a:rPr lang="en-US" altLang="en-US" sz="1700" b="1" dirty="0">
                <a:solidFill>
                  <a:srgbClr val="1E2A5A"/>
                </a:solidFill>
                <a:latin typeface="Calibri"/>
                <a:ea typeface="맑은 고딕"/>
                <a:cs typeface="Calibri"/>
              </a:rPr>
              <a:t>2.  </a:t>
            </a:r>
            <a:r>
              <a:rPr lang="ko-KR" altLang="en-US" sz="1700" b="1" dirty="0">
                <a:solidFill>
                  <a:srgbClr val="1F2328"/>
                </a:solidFill>
                <a:latin typeface="맑은 고딕"/>
                <a:ea typeface="맑은 고딕"/>
                <a:cs typeface="맑은 고딕"/>
              </a:rPr>
              <a:t>예를 들어, '효' 그림에 있는 잉어는 한 옛이야기로 인해 부모님에 대한 공경을 상징한다.</a:t>
            </a:r>
            <a:endParaRPr lang="ko-KR" sz="1700"/>
          </a:p>
        </p:txBody>
      </p:sp>
      <p:sp>
        <p:nvSpPr>
          <p:cNvPr id="13" name="ex_2"/>
          <p:cNvSpPr txBox="1"/>
          <p:nvPr/>
        </p:nvSpPr>
        <p:spPr>
          <a:xfrm>
            <a:off x="457200" y="3482848"/>
            <a:ext cx="11274552" cy="761238"/>
          </a:xfrm>
          <a:prstGeom prst="rect">
            <a:avLst/>
          </a:prstGeom>
          <a:noFill/>
        </p:spPr>
        <p:txBody>
          <a:bodyPr wrap="square" lIns="228600" tIns="54864" rIns="228600" bIns="54864" anchor="t" rtlCol="0">
            <a:noAutofit/>
          </a:bodyPr>
          <a:lstStyle/>
          <a:p>
            <a:pPr algn="l">
              <a:lnSpc>
                <a:spcPts val="2565"/>
              </a:lnSpc>
              <a:spcBef>
                <a:spcPts val="0"/>
              </a:spcBef>
              <a:spcAft>
                <a:spcPts val="0"/>
              </a:spcAft>
              <a:buNone/>
            </a:pPr>
            <a:r>
              <a:rPr lang="en-US" altLang="en-US" sz="1900" b="0" dirty="0">
                <a:solidFill>
                  <a:srgbClr val="1F2328"/>
                </a:solidFill>
                <a:latin typeface="Calibri"/>
                <a:ea typeface="맑은 고딕"/>
                <a:cs typeface="Calibri"/>
              </a:rPr>
              <a:t>For example,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respect for parents</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carp</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in the paintings of hyo</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symbolize</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 because of an old story.</a:t>
            </a:r>
            <a:endParaRPr lang="ko-KR" sz="1900"/>
          </a:p>
        </p:txBody>
      </p:sp>
      <p:sp>
        <p:nvSpPr>
          <p:cNvPr id="14" name="rv_ans_2"/>
          <p:cNvSpPr txBox="1"/>
          <p:nvPr/>
        </p:nvSpPr>
        <p:spPr>
          <a:xfrm>
            <a:off x="594360" y="4280662"/>
            <a:ext cx="11000232" cy="737108"/>
          </a:xfrm>
          <a:prstGeom prst="rect">
            <a:avLst/>
          </a:prstGeom>
          <a:solidFill>
            <a:srgbClr val="FFF3C4"/>
          </a:solidFill>
        </p:spPr>
        <p:txBody>
          <a:bodyPr wrap="square" lIns="137160" tIns="54864" rIns="137160" bIns="54864" anchor="t" rtlCol="0">
            <a:noAutofit/>
          </a:bodyPr>
          <a:lstStyle/>
          <a:p>
            <a:pPr algn="l">
              <a:lnSpc>
                <a:spcPts val="2470"/>
              </a:lnSpc>
              <a:spcBef>
                <a:spcPts val="0"/>
              </a:spcBef>
              <a:spcAft>
                <a:spcPts val="0"/>
              </a:spcAft>
              <a:buNone/>
            </a:pPr>
            <a:r>
              <a:rPr lang="en-US" altLang="en-US" sz="1900" b="1" dirty="0">
                <a:solidFill>
                  <a:srgbClr val="C00000"/>
                </a:solidFill>
                <a:latin typeface="Calibri"/>
                <a:ea typeface="맑은 고딕"/>
                <a:cs typeface="Calibri"/>
              </a:rPr>
              <a:t>→  </a:t>
            </a:r>
            <a:r>
              <a:rPr lang="en-US" altLang="en-US" sz="1900" b="1" dirty="0">
                <a:solidFill>
                  <a:srgbClr val="C00000"/>
                </a:solidFill>
                <a:latin typeface="Calibri"/>
                <a:ea typeface="맑은 고딕"/>
                <a:cs typeface="Calibri"/>
              </a:rPr>
              <a:t>For example, carp in the paintings of hyo symbolize respect for parents because of an old story.</a:t>
            </a:r>
            <a:endParaRPr lang="ko-KR" sz="19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25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2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4" grpId="0" animBg="1"/>
    </p:bldLst>
  </p:timing>
</p:sld>
</file>

<file path=ppt/slides/slide30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8000"/>
            </a:avLst>
          </a:prstGeom>
          <a:solidFill>
            <a:srgbClr val="1E2A5A"/>
          </a:solidFill>
          <a:ln>
            <a:noFill/>
          </a:ln>
        </p:spPr>
        <p:txBody>
          <a:bodyPr wrap="square" lIns="45720" tIns="18288" rIns="45720" bIns="18288" anchor="ctr" rtlCol="0">
            <a:noAutofit/>
          </a:bodyPr>
          <a:lstStyle/>
          <a:p>
            <a:pPr algn="ctr">
              <a:lnSpc>
                <a:spcPts val="2000"/>
              </a:lnSpc>
              <a:spcBef>
                <a:spcPts val="0"/>
              </a:spcBef>
              <a:spcAft>
                <a:spcPts val="0"/>
              </a:spcAft>
              <a:buNone/>
            </a:pPr>
            <a:r>
              <a:rPr lang="en-US" altLang="en-US" sz="1700" b="1" dirty="0">
                <a:solidFill>
                  <a:srgbClr val="FFFFFF"/>
                </a:solidFill>
                <a:latin typeface="Calibri"/>
                <a:ea typeface="맑은 고딕"/>
                <a:cs typeface="Calibri"/>
              </a:rPr>
              <a:t>L8-2</a:t>
            </a:r>
            <a:endParaRPr lang="ko-KR" sz="1700"/>
          </a:p>
        </p:txBody>
      </p:sp>
      <p:sp>
        <p:nvSpPr>
          <p:cNvPr id="3" name="hdr_chip"/>
          <p:cNvSpPr/>
          <p:nvPr/>
        </p:nvSpPr>
        <p:spPr>
          <a:xfrm>
            <a:off x="1755648" y="274320"/>
            <a:ext cx="1371600" cy="493776"/>
          </a:xfrm>
          <a:prstGeom prst="roundRect">
            <a:avLst>
              <a:gd name="adj" fmla="val 8000"/>
            </a:avLst>
          </a:prstGeom>
          <a:solidFill>
            <a:srgbClr val="E6EAF4"/>
          </a:solidFill>
          <a:ln>
            <a:noFill/>
          </a:ln>
        </p:spPr>
        <p:txBody>
          <a:bodyPr wrap="square" lIns="27432" tIns="18288" rIns="27432" bIns="18288" anchor="ctr" rtlCol="0">
            <a:noAutofit/>
          </a:bodyPr>
          <a:lstStyle/>
          <a:p>
            <a:pPr algn="ctr">
              <a:lnSpc>
                <a:spcPts val="1700"/>
              </a:lnSpc>
              <a:spcBef>
                <a:spcPts val="0"/>
              </a:spcBef>
              <a:spcAft>
                <a:spcPts val="0"/>
              </a:spcAft>
              <a:buNone/>
            </a:pPr>
            <a:r>
              <a:rPr lang="ko-KR" altLang="en-US" sz="1400" b="1" dirty="0">
                <a:solidFill>
                  <a:srgbClr val="1E2A5A"/>
                </a:solidFill>
                <a:latin typeface="맑은 고딕"/>
                <a:ea typeface="맑은 고딕"/>
                <a:cs typeface="맑은 고딕"/>
              </a:rPr>
              <a:t>PART 6 · 5</a:t>
            </a:r>
            <a:endParaRPr lang="ko-KR" sz="1400"/>
          </a:p>
        </p:txBody>
      </p:sp>
      <p:sp>
        <p:nvSpPr>
          <p:cNvPr id="4" name="hdr_q"/>
          <p:cNvSpPr txBox="1"/>
          <p:nvPr/>
        </p:nvSpPr>
        <p:spPr>
          <a:xfrm>
            <a:off x="3246120" y="246888"/>
            <a:ext cx="8485632" cy="548640"/>
          </a:xfrm>
          <a:prstGeom prst="rect">
            <a:avLst/>
          </a:prstGeom>
          <a:noFill/>
        </p:spPr>
        <p:txBody>
          <a:bodyPr wrap="square" lIns="109728" tIns="54864" rIns="109728" bIns="54864" anchor="ctr" rtlCol="0">
            <a:noAutofit/>
          </a:bodyPr>
          <a:lstStyle/>
          <a:p>
            <a:pPr algn="l">
              <a:lnSpc>
                <a:spcPts val="2400"/>
              </a:lnSpc>
              <a:spcBef>
                <a:spcPts val="0"/>
              </a:spcBef>
              <a:spcAft>
                <a:spcPts val="0"/>
              </a:spcAft>
              <a:buNone/>
            </a:pPr>
            <a:r>
              <a:rPr lang="ko-KR" altLang="en-US" sz="2000" b="1" dirty="0">
                <a:solidFill>
                  <a:srgbClr val="1F2328"/>
                </a:solidFill>
                <a:latin typeface="맑은 고딕"/>
                <a:ea typeface="맑은 고딕"/>
                <a:cs typeface="맑은 고딕"/>
              </a:rPr>
              <a:t>우리말에 맞게 (  ) 안의 말을 바르게 배열하시오.</a:t>
            </a:r>
            <a:endParaRPr lang="ko-KR" sz="2000"/>
          </a:p>
        </p:txBody>
      </p:sp>
      <p:sp>
        <p:nvSpPr>
          <p:cNvPr id="5" name="ftr_exam"/>
          <p:cNvSpPr txBox="1"/>
          <p:nvPr/>
        </p:nvSpPr>
        <p:spPr>
          <a:xfrm>
            <a:off x="457200" y="6519672"/>
            <a:ext cx="5669280" cy="256032"/>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8</a:t>
            </a:r>
            <a:endParaRPr lang="ko-KR" sz="1000"/>
          </a:p>
        </p:txBody>
      </p:sp>
      <p:sp>
        <p:nvSpPr>
          <p:cNvPr id="6" name="ftr_hint"/>
          <p:cNvSpPr txBox="1"/>
          <p:nvPr/>
        </p:nvSpPr>
        <p:spPr>
          <a:xfrm>
            <a:off x="5971032" y="6519672"/>
            <a:ext cx="5760720" cy="256032"/>
          </a:xfrm>
          <a:prstGeom prst="rect">
            <a:avLst/>
          </a:prstGeom>
          <a:noFill/>
        </p:spPr>
        <p:txBody>
          <a:bodyPr wrap="square" lIns="0" tIns="0" rIns="0" bIns="0" anchor="t" rtlCol="0">
            <a:noAutofit/>
          </a:bodyPr>
          <a:lstStyle/>
          <a:p>
            <a:pPr algn="r">
              <a:lnSpc>
                <a:spcPts val="1200"/>
              </a:lnSpc>
              <a:spcBef>
                <a:spcPts val="0"/>
              </a:spcBef>
              <a:spcAft>
                <a:spcPts val="0"/>
              </a:spcAft>
              <a:buNone/>
            </a:pPr>
            <a:r>
              <a:rPr lang="ko-KR" altLang="en-US" sz="1000" b="0" dirty="0">
                <a:solidFill>
                  <a:srgbClr val="7A808C"/>
                </a:solidFill>
                <a:latin typeface="맑은 고딕"/>
                <a:ea typeface="맑은 고딕"/>
                <a:cs typeface="맑은 고딕"/>
              </a:rPr>
              <a:t>클릭 ① 완성 문장(정답) 공개</a:t>
            </a:r>
            <a:endParaRPr lang="ko-KR" sz="1000"/>
          </a:p>
        </p:txBody>
      </p:sp>
      <p:sp>
        <p:nvSpPr>
          <p:cNvPr id="7" name="item_card_1"/>
          <p:cNvSpPr/>
          <p:nvPr/>
        </p:nvSpPr>
        <p:spPr>
          <a:xfrm>
            <a:off x="457200" y="950976"/>
            <a:ext cx="11274552" cy="1661922"/>
          </a:xfrm>
          <a:prstGeom prst="roundRect">
            <a:avLst>
              <a:gd name="adj" fmla="val 6000"/>
            </a:avLst>
          </a:prstGeom>
          <a:solidFill>
            <a:srgbClr val="F3F5F9"/>
          </a:solidFill>
          <a:ln w="12700">
            <a:solidFill>
              <a:srgbClr val="D9DFEA"/>
            </a:solidFill>
          </a:ln>
        </p:spPr>
        <p:txBody>
          <a:bodyPr rtlCol="0" anchor="ctr"/>
          <a:lstStyle/>
          <a:p>
            <a:pPr algn="ctr"/>
          </a:p>
        </p:txBody>
      </p:sp>
      <p:sp>
        <p:nvSpPr>
          <p:cNvPr id="8" name="kor_1"/>
          <p:cNvSpPr txBox="1"/>
          <p:nvPr/>
        </p:nvSpPr>
        <p:spPr>
          <a:xfrm>
            <a:off x="457200" y="1060704"/>
            <a:ext cx="11274552" cy="379603"/>
          </a:xfrm>
          <a:prstGeom prst="rect">
            <a:avLst/>
          </a:prstGeom>
          <a:noFill/>
        </p:spPr>
        <p:txBody>
          <a:bodyPr wrap="square" lIns="228600" tIns="54864" rIns="228600" bIns="54864" anchor="t" rtlCol="0">
            <a:noAutofit/>
          </a:bodyPr>
          <a:lstStyle/>
          <a:p>
            <a:pPr algn="l">
              <a:lnSpc>
                <a:spcPts val="2125"/>
              </a:lnSpc>
              <a:spcBef>
                <a:spcPts val="0"/>
              </a:spcBef>
              <a:spcAft>
                <a:spcPts val="0"/>
              </a:spcAft>
              <a:buNone/>
            </a:pPr>
            <a:r>
              <a:rPr lang="en-US" altLang="en-US" sz="1700" b="1" dirty="0">
                <a:solidFill>
                  <a:srgbClr val="1E2A5A"/>
                </a:solidFill>
                <a:latin typeface="Calibri"/>
                <a:ea typeface="맑은 고딕"/>
                <a:cs typeface="Calibri"/>
              </a:rPr>
              <a:t>3.  </a:t>
            </a:r>
            <a:r>
              <a:rPr lang="ko-KR" altLang="en-US" sz="1700" b="1" dirty="0">
                <a:solidFill>
                  <a:srgbClr val="1F2328"/>
                </a:solidFill>
                <a:latin typeface="맑은 고딕"/>
                <a:ea typeface="맑은 고딕"/>
                <a:cs typeface="맑은 고딕"/>
              </a:rPr>
              <a:t>그 이야기는 다음과 같다. 옛날 옛적에 한 남자가 나이 든 어머니와 살고 있었다.</a:t>
            </a:r>
            <a:endParaRPr lang="ko-KR" sz="1700"/>
          </a:p>
        </p:txBody>
      </p:sp>
      <p:sp>
        <p:nvSpPr>
          <p:cNvPr id="9" name="ex_1"/>
          <p:cNvSpPr txBox="1"/>
          <p:nvPr/>
        </p:nvSpPr>
        <p:spPr>
          <a:xfrm>
            <a:off x="457200" y="1385443"/>
            <a:ext cx="11274552" cy="435483"/>
          </a:xfrm>
          <a:prstGeom prst="rect">
            <a:avLst/>
          </a:prstGeom>
          <a:noFill/>
        </p:spPr>
        <p:txBody>
          <a:bodyPr wrap="square" lIns="228600" tIns="54864" rIns="228600" bIns="54864" anchor="t" rtlCol="0">
            <a:noAutofit/>
          </a:bodyPr>
          <a:lstStyle/>
          <a:p>
            <a:pPr algn="l">
              <a:lnSpc>
                <a:spcPts val="2565"/>
              </a:lnSpc>
              <a:spcBef>
                <a:spcPts val="0"/>
              </a:spcBef>
              <a:spcAft>
                <a:spcPts val="0"/>
              </a:spcAft>
              <a:buNone/>
            </a:pP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goes</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The story</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as follows</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 Once upon a time,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with his old mother</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a man</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lived</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a:t>
            </a:r>
            <a:endParaRPr lang="ko-KR" sz="1900"/>
          </a:p>
        </p:txBody>
      </p:sp>
      <p:sp>
        <p:nvSpPr>
          <p:cNvPr id="10" name="rv_ans_1"/>
          <p:cNvSpPr txBox="1"/>
          <p:nvPr/>
        </p:nvSpPr>
        <p:spPr>
          <a:xfrm>
            <a:off x="594360" y="1857502"/>
            <a:ext cx="11000232" cy="737108"/>
          </a:xfrm>
          <a:prstGeom prst="rect">
            <a:avLst/>
          </a:prstGeom>
          <a:solidFill>
            <a:srgbClr val="FFF3C4"/>
          </a:solidFill>
        </p:spPr>
        <p:txBody>
          <a:bodyPr wrap="square" lIns="137160" tIns="54864" rIns="137160" bIns="54864" anchor="t" rtlCol="0">
            <a:noAutofit/>
          </a:bodyPr>
          <a:lstStyle/>
          <a:p>
            <a:pPr algn="l">
              <a:lnSpc>
                <a:spcPts val="2470"/>
              </a:lnSpc>
              <a:spcBef>
                <a:spcPts val="0"/>
              </a:spcBef>
              <a:spcAft>
                <a:spcPts val="0"/>
              </a:spcAft>
              <a:buNone/>
            </a:pPr>
            <a:r>
              <a:rPr lang="en-US" altLang="en-US" sz="1900" b="1" dirty="0">
                <a:solidFill>
                  <a:srgbClr val="C00000"/>
                </a:solidFill>
                <a:latin typeface="Calibri"/>
                <a:ea typeface="맑은 고딕"/>
                <a:cs typeface="Calibri"/>
              </a:rPr>
              <a:t>→  </a:t>
            </a:r>
            <a:r>
              <a:rPr lang="en-US" altLang="en-US" sz="1900" b="1" dirty="0">
                <a:solidFill>
                  <a:srgbClr val="C00000"/>
                </a:solidFill>
                <a:latin typeface="Calibri"/>
                <a:ea typeface="맑은 고딕"/>
                <a:cs typeface="Calibri"/>
              </a:rPr>
              <a:t>The story goes as follows. Once upon a time, a man lived with his old mother.</a:t>
            </a:r>
            <a:endParaRPr lang="ko-KR" sz="1900"/>
          </a:p>
        </p:txBody>
      </p:sp>
      <p:sp>
        <p:nvSpPr>
          <p:cNvPr id="11" name="item_card_2"/>
          <p:cNvSpPr/>
          <p:nvPr/>
        </p:nvSpPr>
        <p:spPr>
          <a:xfrm>
            <a:off x="457200" y="2722626"/>
            <a:ext cx="11274552" cy="1348232"/>
          </a:xfrm>
          <a:prstGeom prst="roundRect">
            <a:avLst>
              <a:gd name="adj" fmla="val 6000"/>
            </a:avLst>
          </a:prstGeom>
          <a:solidFill>
            <a:srgbClr val="F3F5F9"/>
          </a:solidFill>
          <a:ln w="12700">
            <a:solidFill>
              <a:srgbClr val="D9DFEA"/>
            </a:solidFill>
          </a:ln>
        </p:spPr>
        <p:txBody>
          <a:bodyPr rtlCol="0" anchor="ctr"/>
          <a:lstStyle/>
          <a:p>
            <a:pPr algn="ctr"/>
          </a:p>
        </p:txBody>
      </p:sp>
      <p:sp>
        <p:nvSpPr>
          <p:cNvPr id="12" name="kor_2"/>
          <p:cNvSpPr txBox="1"/>
          <p:nvPr/>
        </p:nvSpPr>
        <p:spPr>
          <a:xfrm>
            <a:off x="457200" y="2832354"/>
            <a:ext cx="11274552" cy="379603"/>
          </a:xfrm>
          <a:prstGeom prst="rect">
            <a:avLst/>
          </a:prstGeom>
          <a:noFill/>
        </p:spPr>
        <p:txBody>
          <a:bodyPr wrap="square" lIns="228600" tIns="54864" rIns="228600" bIns="54864" anchor="t" rtlCol="0">
            <a:noAutofit/>
          </a:bodyPr>
          <a:lstStyle/>
          <a:p>
            <a:pPr algn="l">
              <a:lnSpc>
                <a:spcPts val="2125"/>
              </a:lnSpc>
              <a:spcBef>
                <a:spcPts val="0"/>
              </a:spcBef>
              <a:spcAft>
                <a:spcPts val="0"/>
              </a:spcAft>
              <a:buNone/>
            </a:pPr>
            <a:r>
              <a:rPr lang="en-US" altLang="en-US" sz="1700" b="1" dirty="0">
                <a:solidFill>
                  <a:srgbClr val="1E2A5A"/>
                </a:solidFill>
                <a:latin typeface="Calibri"/>
                <a:ea typeface="맑은 고딕"/>
                <a:cs typeface="Calibri"/>
              </a:rPr>
              <a:t>4.  </a:t>
            </a:r>
            <a:r>
              <a:rPr lang="ko-KR" altLang="en-US" sz="1700" b="1" dirty="0">
                <a:solidFill>
                  <a:srgbClr val="1F2328"/>
                </a:solidFill>
                <a:latin typeface="맑은 고딕"/>
                <a:ea typeface="맑은 고딕"/>
                <a:cs typeface="맑은 고딕"/>
              </a:rPr>
              <a:t>어느 겨울, 남자의 어머니는 병이 들어서 아무 것도 먹을 수 없었다.</a:t>
            </a:r>
            <a:endParaRPr lang="ko-KR" sz="1700"/>
          </a:p>
        </p:txBody>
      </p:sp>
      <p:sp>
        <p:nvSpPr>
          <p:cNvPr id="13" name="ex_2"/>
          <p:cNvSpPr txBox="1"/>
          <p:nvPr/>
        </p:nvSpPr>
        <p:spPr>
          <a:xfrm>
            <a:off x="457200" y="3157093"/>
            <a:ext cx="11274552" cy="435483"/>
          </a:xfrm>
          <a:prstGeom prst="rect">
            <a:avLst/>
          </a:prstGeom>
          <a:noFill/>
        </p:spPr>
        <p:txBody>
          <a:bodyPr wrap="square" lIns="228600" tIns="54864" rIns="228600" bIns="54864" anchor="t" rtlCol="0">
            <a:noAutofit/>
          </a:bodyPr>
          <a:lstStyle/>
          <a:p>
            <a:pPr algn="l">
              <a:lnSpc>
                <a:spcPts val="2565"/>
              </a:lnSpc>
              <a:spcBef>
                <a:spcPts val="0"/>
              </a:spcBef>
              <a:spcAft>
                <a:spcPts val="0"/>
              </a:spcAft>
              <a:buNone/>
            </a:pPr>
            <a:r>
              <a:rPr lang="en-US" altLang="en-US" sz="1900" b="0" dirty="0">
                <a:solidFill>
                  <a:srgbClr val="1F2328"/>
                </a:solidFill>
                <a:latin typeface="Calibri"/>
                <a:ea typeface="맑은 고딕"/>
                <a:cs typeface="Calibri"/>
              </a:rPr>
              <a:t>One winter,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became ill</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the man’s mother</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 and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anything</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couldn’t eat</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a:t>
            </a:r>
            <a:endParaRPr lang="ko-KR" sz="1900"/>
          </a:p>
        </p:txBody>
      </p:sp>
      <p:sp>
        <p:nvSpPr>
          <p:cNvPr id="14" name="rv_ans_2"/>
          <p:cNvSpPr txBox="1"/>
          <p:nvPr/>
        </p:nvSpPr>
        <p:spPr>
          <a:xfrm>
            <a:off x="594360" y="3629152"/>
            <a:ext cx="11000232" cy="423418"/>
          </a:xfrm>
          <a:prstGeom prst="rect">
            <a:avLst/>
          </a:prstGeom>
          <a:solidFill>
            <a:srgbClr val="FFF3C4"/>
          </a:solidFill>
        </p:spPr>
        <p:txBody>
          <a:bodyPr wrap="square" lIns="137160" tIns="54864" rIns="137160" bIns="54864" anchor="t" rtlCol="0">
            <a:noAutofit/>
          </a:bodyPr>
          <a:lstStyle/>
          <a:p>
            <a:pPr algn="l">
              <a:lnSpc>
                <a:spcPts val="2470"/>
              </a:lnSpc>
              <a:spcBef>
                <a:spcPts val="0"/>
              </a:spcBef>
              <a:spcAft>
                <a:spcPts val="0"/>
              </a:spcAft>
              <a:buNone/>
            </a:pPr>
            <a:r>
              <a:rPr lang="en-US" altLang="en-US" sz="1900" b="1" dirty="0">
                <a:solidFill>
                  <a:srgbClr val="C00000"/>
                </a:solidFill>
                <a:latin typeface="Calibri"/>
                <a:ea typeface="맑은 고딕"/>
                <a:cs typeface="Calibri"/>
              </a:rPr>
              <a:t>→  </a:t>
            </a:r>
            <a:r>
              <a:rPr lang="en-US" altLang="en-US" sz="1900" b="1" dirty="0">
                <a:solidFill>
                  <a:srgbClr val="C00000"/>
                </a:solidFill>
                <a:latin typeface="Calibri"/>
                <a:ea typeface="맑은 고딕"/>
                <a:cs typeface="Calibri"/>
              </a:rPr>
              <a:t>One winter, the man’s mother became ill and couldn’t eat anything.</a:t>
            </a:r>
            <a:endParaRPr lang="ko-KR" sz="19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25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2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4" grpId="0" animBg="1"/>
    </p:bldLst>
  </p:timing>
</p:sld>
</file>

<file path=ppt/slides/slide30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8000"/>
            </a:avLst>
          </a:prstGeom>
          <a:solidFill>
            <a:srgbClr val="1E2A5A"/>
          </a:solidFill>
          <a:ln>
            <a:noFill/>
          </a:ln>
        </p:spPr>
        <p:txBody>
          <a:bodyPr wrap="square" lIns="45720" tIns="18288" rIns="45720" bIns="18288" anchor="ctr" rtlCol="0">
            <a:noAutofit/>
          </a:bodyPr>
          <a:lstStyle/>
          <a:p>
            <a:pPr algn="ctr">
              <a:lnSpc>
                <a:spcPts val="2000"/>
              </a:lnSpc>
              <a:spcBef>
                <a:spcPts val="0"/>
              </a:spcBef>
              <a:spcAft>
                <a:spcPts val="0"/>
              </a:spcAft>
              <a:buNone/>
            </a:pPr>
            <a:r>
              <a:rPr lang="en-US" altLang="en-US" sz="1700" b="1" dirty="0">
                <a:solidFill>
                  <a:srgbClr val="FFFFFF"/>
                </a:solidFill>
                <a:latin typeface="Calibri"/>
                <a:ea typeface="맑은 고딕"/>
                <a:cs typeface="Calibri"/>
              </a:rPr>
              <a:t>L8-2</a:t>
            </a:r>
            <a:endParaRPr lang="ko-KR" sz="1700"/>
          </a:p>
        </p:txBody>
      </p:sp>
      <p:sp>
        <p:nvSpPr>
          <p:cNvPr id="3" name="hdr_chip"/>
          <p:cNvSpPr/>
          <p:nvPr/>
        </p:nvSpPr>
        <p:spPr>
          <a:xfrm>
            <a:off x="1755648" y="274320"/>
            <a:ext cx="1371600" cy="493776"/>
          </a:xfrm>
          <a:prstGeom prst="roundRect">
            <a:avLst>
              <a:gd name="adj" fmla="val 8000"/>
            </a:avLst>
          </a:prstGeom>
          <a:solidFill>
            <a:srgbClr val="E6EAF4"/>
          </a:solidFill>
          <a:ln>
            <a:noFill/>
          </a:ln>
        </p:spPr>
        <p:txBody>
          <a:bodyPr wrap="square" lIns="27432" tIns="18288" rIns="27432" bIns="18288" anchor="ctr" rtlCol="0">
            <a:noAutofit/>
          </a:bodyPr>
          <a:lstStyle/>
          <a:p>
            <a:pPr algn="ctr">
              <a:lnSpc>
                <a:spcPts val="1700"/>
              </a:lnSpc>
              <a:spcBef>
                <a:spcPts val="0"/>
              </a:spcBef>
              <a:spcAft>
                <a:spcPts val="0"/>
              </a:spcAft>
              <a:buNone/>
            </a:pPr>
            <a:r>
              <a:rPr lang="ko-KR" altLang="en-US" sz="1400" b="1" dirty="0">
                <a:solidFill>
                  <a:srgbClr val="1E2A5A"/>
                </a:solidFill>
                <a:latin typeface="맑은 고딕"/>
                <a:ea typeface="맑은 고딕"/>
                <a:cs typeface="맑은 고딕"/>
              </a:rPr>
              <a:t>PART 6 · 6</a:t>
            </a:r>
            <a:endParaRPr lang="ko-KR" sz="1400"/>
          </a:p>
        </p:txBody>
      </p:sp>
      <p:sp>
        <p:nvSpPr>
          <p:cNvPr id="4" name="hdr_q"/>
          <p:cNvSpPr txBox="1"/>
          <p:nvPr/>
        </p:nvSpPr>
        <p:spPr>
          <a:xfrm>
            <a:off x="3246120" y="246888"/>
            <a:ext cx="8485632" cy="548640"/>
          </a:xfrm>
          <a:prstGeom prst="rect">
            <a:avLst/>
          </a:prstGeom>
          <a:noFill/>
        </p:spPr>
        <p:txBody>
          <a:bodyPr wrap="square" lIns="109728" tIns="54864" rIns="109728" bIns="54864" anchor="ctr" rtlCol="0">
            <a:noAutofit/>
          </a:bodyPr>
          <a:lstStyle/>
          <a:p>
            <a:pPr algn="l">
              <a:lnSpc>
                <a:spcPts val="2400"/>
              </a:lnSpc>
              <a:spcBef>
                <a:spcPts val="0"/>
              </a:spcBef>
              <a:spcAft>
                <a:spcPts val="0"/>
              </a:spcAft>
              <a:buNone/>
            </a:pPr>
            <a:r>
              <a:rPr lang="ko-KR" altLang="en-US" sz="2000" b="1" dirty="0">
                <a:solidFill>
                  <a:srgbClr val="1F2328"/>
                </a:solidFill>
                <a:latin typeface="맑은 고딕"/>
                <a:ea typeface="맑은 고딕"/>
                <a:cs typeface="맑은 고딕"/>
              </a:rPr>
              <a:t>우리말에 맞게 (  ) 안의 말을 바르게 배열하시오.</a:t>
            </a:r>
            <a:endParaRPr lang="ko-KR" sz="2000"/>
          </a:p>
        </p:txBody>
      </p:sp>
      <p:sp>
        <p:nvSpPr>
          <p:cNvPr id="5" name="ftr_exam"/>
          <p:cNvSpPr txBox="1"/>
          <p:nvPr/>
        </p:nvSpPr>
        <p:spPr>
          <a:xfrm>
            <a:off x="457200" y="6519672"/>
            <a:ext cx="5669280" cy="256032"/>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8</a:t>
            </a:r>
            <a:endParaRPr lang="ko-KR" sz="1000"/>
          </a:p>
        </p:txBody>
      </p:sp>
      <p:sp>
        <p:nvSpPr>
          <p:cNvPr id="6" name="ftr_hint"/>
          <p:cNvSpPr txBox="1"/>
          <p:nvPr/>
        </p:nvSpPr>
        <p:spPr>
          <a:xfrm>
            <a:off x="5971032" y="6519672"/>
            <a:ext cx="5760720" cy="256032"/>
          </a:xfrm>
          <a:prstGeom prst="rect">
            <a:avLst/>
          </a:prstGeom>
          <a:noFill/>
        </p:spPr>
        <p:txBody>
          <a:bodyPr wrap="square" lIns="0" tIns="0" rIns="0" bIns="0" anchor="t" rtlCol="0">
            <a:noAutofit/>
          </a:bodyPr>
          <a:lstStyle/>
          <a:p>
            <a:pPr algn="r">
              <a:lnSpc>
                <a:spcPts val="1200"/>
              </a:lnSpc>
              <a:spcBef>
                <a:spcPts val="0"/>
              </a:spcBef>
              <a:spcAft>
                <a:spcPts val="0"/>
              </a:spcAft>
              <a:buNone/>
            </a:pPr>
            <a:r>
              <a:rPr lang="ko-KR" altLang="en-US" sz="1000" b="0" dirty="0">
                <a:solidFill>
                  <a:srgbClr val="7A808C"/>
                </a:solidFill>
                <a:latin typeface="맑은 고딕"/>
                <a:ea typeface="맑은 고딕"/>
                <a:cs typeface="맑은 고딕"/>
              </a:rPr>
              <a:t>클릭 ① 완성 문장(정답) 공개</a:t>
            </a:r>
            <a:endParaRPr lang="ko-KR" sz="1000"/>
          </a:p>
        </p:txBody>
      </p:sp>
      <p:sp>
        <p:nvSpPr>
          <p:cNvPr id="7" name="item_card_1"/>
          <p:cNvSpPr/>
          <p:nvPr/>
        </p:nvSpPr>
        <p:spPr>
          <a:xfrm>
            <a:off x="457200" y="950976"/>
            <a:ext cx="11274552" cy="2257552"/>
          </a:xfrm>
          <a:prstGeom prst="roundRect">
            <a:avLst>
              <a:gd name="adj" fmla="val 6000"/>
            </a:avLst>
          </a:prstGeom>
          <a:solidFill>
            <a:srgbClr val="F3F5F9"/>
          </a:solidFill>
          <a:ln w="12700">
            <a:solidFill>
              <a:srgbClr val="D9DFEA"/>
            </a:solidFill>
          </a:ln>
        </p:spPr>
        <p:txBody>
          <a:bodyPr rtlCol="0" anchor="ctr"/>
          <a:lstStyle/>
          <a:p>
            <a:pPr algn="ctr"/>
          </a:p>
        </p:txBody>
      </p:sp>
      <p:sp>
        <p:nvSpPr>
          <p:cNvPr id="8" name="kor_1"/>
          <p:cNvSpPr txBox="1"/>
          <p:nvPr/>
        </p:nvSpPr>
        <p:spPr>
          <a:xfrm>
            <a:off x="457200" y="1060704"/>
            <a:ext cx="11274552" cy="649478"/>
          </a:xfrm>
          <a:prstGeom prst="rect">
            <a:avLst/>
          </a:prstGeom>
          <a:noFill/>
        </p:spPr>
        <p:txBody>
          <a:bodyPr wrap="square" lIns="228600" tIns="54864" rIns="228600" bIns="54864" anchor="t" rtlCol="0">
            <a:noAutofit/>
          </a:bodyPr>
          <a:lstStyle/>
          <a:p>
            <a:pPr algn="l">
              <a:lnSpc>
                <a:spcPts val="2125"/>
              </a:lnSpc>
              <a:spcBef>
                <a:spcPts val="0"/>
              </a:spcBef>
              <a:spcAft>
                <a:spcPts val="0"/>
              </a:spcAft>
              <a:buNone/>
            </a:pPr>
            <a:r>
              <a:rPr lang="en-US" altLang="en-US" sz="1700" b="1" dirty="0">
                <a:solidFill>
                  <a:srgbClr val="1E2A5A"/>
                </a:solidFill>
                <a:latin typeface="Calibri"/>
                <a:ea typeface="맑은 고딕"/>
                <a:cs typeface="Calibri"/>
              </a:rPr>
              <a:t>5.  </a:t>
            </a:r>
            <a:r>
              <a:rPr lang="ko-KR" altLang="en-US" sz="1700" b="1" dirty="0">
                <a:solidFill>
                  <a:srgbClr val="1F2328"/>
                </a:solidFill>
                <a:latin typeface="맑은 고딕"/>
                <a:ea typeface="맑은 고딕"/>
                <a:cs typeface="맑은 고딕"/>
              </a:rPr>
              <a:t>무척 추운 어느 날, 어머니는 남자에게 말했다. “신선한 물고기를 먹을 수 있다면 정말 좋겠구나.”</a:t>
            </a:r>
            <a:endParaRPr lang="ko-KR" sz="1700"/>
          </a:p>
        </p:txBody>
      </p:sp>
      <p:sp>
        <p:nvSpPr>
          <p:cNvPr id="9" name="ex_1"/>
          <p:cNvSpPr txBox="1"/>
          <p:nvPr/>
        </p:nvSpPr>
        <p:spPr>
          <a:xfrm>
            <a:off x="457200" y="1655318"/>
            <a:ext cx="11274552" cy="761238"/>
          </a:xfrm>
          <a:prstGeom prst="rect">
            <a:avLst/>
          </a:prstGeom>
          <a:noFill/>
        </p:spPr>
        <p:txBody>
          <a:bodyPr wrap="square" lIns="228600" tIns="54864" rIns="228600" bIns="54864" anchor="t" rtlCol="0">
            <a:noAutofit/>
          </a:bodyPr>
          <a:lstStyle/>
          <a:p>
            <a:pPr algn="l">
              <a:lnSpc>
                <a:spcPts val="2565"/>
              </a:lnSpc>
              <a:spcBef>
                <a:spcPts val="0"/>
              </a:spcBef>
              <a:spcAft>
                <a:spcPts val="0"/>
              </a:spcAft>
              <a:buNone/>
            </a:pPr>
            <a:r>
              <a:rPr lang="en-US" altLang="en-US" sz="1900" b="0" dirty="0">
                <a:solidFill>
                  <a:srgbClr val="1F2328"/>
                </a:solidFill>
                <a:latin typeface="Calibri"/>
                <a:ea typeface="맑은 고딕"/>
                <a:cs typeface="Calibri"/>
              </a:rPr>
              <a:t>On one very cold day,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the mother</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to the man</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said</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wonderful</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It would be</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 if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fresh fish.”</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I</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could eat</a:t>
            </a:r>
            <a:r>
              <a:rPr lang="en-US" altLang="en-US" sz="1900" b="1" dirty="0">
                <a:solidFill>
                  <a:srgbClr val="1E2A5A"/>
                </a:solidFill>
                <a:latin typeface="Calibri"/>
                <a:ea typeface="맑은 고딕"/>
                <a:cs typeface="Calibri"/>
              </a:rPr>
              <a:t>)</a:t>
            </a:r>
            <a:endParaRPr lang="ko-KR" sz="1900"/>
          </a:p>
        </p:txBody>
      </p:sp>
      <p:sp>
        <p:nvSpPr>
          <p:cNvPr id="10" name="rv_ans_1"/>
          <p:cNvSpPr txBox="1"/>
          <p:nvPr/>
        </p:nvSpPr>
        <p:spPr>
          <a:xfrm>
            <a:off x="594360" y="2453132"/>
            <a:ext cx="11000232" cy="737108"/>
          </a:xfrm>
          <a:prstGeom prst="rect">
            <a:avLst/>
          </a:prstGeom>
          <a:solidFill>
            <a:srgbClr val="FFF3C4"/>
          </a:solidFill>
        </p:spPr>
        <p:txBody>
          <a:bodyPr wrap="square" lIns="137160" tIns="54864" rIns="137160" bIns="54864" anchor="t" rtlCol="0">
            <a:noAutofit/>
          </a:bodyPr>
          <a:lstStyle/>
          <a:p>
            <a:pPr algn="l">
              <a:lnSpc>
                <a:spcPts val="2470"/>
              </a:lnSpc>
              <a:spcBef>
                <a:spcPts val="0"/>
              </a:spcBef>
              <a:spcAft>
                <a:spcPts val="0"/>
              </a:spcAft>
              <a:buNone/>
            </a:pPr>
            <a:r>
              <a:rPr lang="en-US" altLang="en-US" sz="1900" b="1" dirty="0">
                <a:solidFill>
                  <a:srgbClr val="C00000"/>
                </a:solidFill>
                <a:latin typeface="Calibri"/>
                <a:ea typeface="맑은 고딕"/>
                <a:cs typeface="Calibri"/>
              </a:rPr>
              <a:t>→  </a:t>
            </a:r>
            <a:r>
              <a:rPr lang="en-US" altLang="en-US" sz="1900" b="1" dirty="0">
                <a:solidFill>
                  <a:srgbClr val="C00000"/>
                </a:solidFill>
                <a:latin typeface="Calibri"/>
                <a:ea typeface="맑은 고딕"/>
                <a:cs typeface="Calibri"/>
              </a:rPr>
              <a:t>On one very cold day, the mother said to the man, “It would be wonderful if I could eat fresh fish.”</a:t>
            </a:r>
            <a:endParaRPr lang="ko-KR" sz="1900"/>
          </a:p>
        </p:txBody>
      </p:sp>
      <p:sp>
        <p:nvSpPr>
          <p:cNvPr id="11" name="item_card_2"/>
          <p:cNvSpPr/>
          <p:nvPr/>
        </p:nvSpPr>
        <p:spPr>
          <a:xfrm>
            <a:off x="457200" y="3318256"/>
            <a:ext cx="11274552" cy="1348232"/>
          </a:xfrm>
          <a:prstGeom prst="roundRect">
            <a:avLst>
              <a:gd name="adj" fmla="val 6000"/>
            </a:avLst>
          </a:prstGeom>
          <a:solidFill>
            <a:srgbClr val="F3F5F9"/>
          </a:solidFill>
          <a:ln w="12700">
            <a:solidFill>
              <a:srgbClr val="D9DFEA"/>
            </a:solidFill>
          </a:ln>
        </p:spPr>
        <p:txBody>
          <a:bodyPr rtlCol="0" anchor="ctr"/>
          <a:lstStyle/>
          <a:p>
            <a:pPr algn="ctr"/>
          </a:p>
        </p:txBody>
      </p:sp>
      <p:sp>
        <p:nvSpPr>
          <p:cNvPr id="12" name="kor_2"/>
          <p:cNvSpPr txBox="1"/>
          <p:nvPr/>
        </p:nvSpPr>
        <p:spPr>
          <a:xfrm>
            <a:off x="457200" y="3427984"/>
            <a:ext cx="11274552" cy="379603"/>
          </a:xfrm>
          <a:prstGeom prst="rect">
            <a:avLst/>
          </a:prstGeom>
          <a:noFill/>
        </p:spPr>
        <p:txBody>
          <a:bodyPr wrap="square" lIns="228600" tIns="54864" rIns="228600" bIns="54864" anchor="t" rtlCol="0">
            <a:noAutofit/>
          </a:bodyPr>
          <a:lstStyle/>
          <a:p>
            <a:pPr algn="l">
              <a:lnSpc>
                <a:spcPts val="2125"/>
              </a:lnSpc>
              <a:spcBef>
                <a:spcPts val="0"/>
              </a:spcBef>
              <a:spcAft>
                <a:spcPts val="0"/>
              </a:spcAft>
              <a:buNone/>
            </a:pPr>
            <a:r>
              <a:rPr lang="en-US" altLang="en-US" sz="1700" b="1" dirty="0">
                <a:solidFill>
                  <a:srgbClr val="1E2A5A"/>
                </a:solidFill>
                <a:latin typeface="Calibri"/>
                <a:ea typeface="맑은 고딕"/>
                <a:cs typeface="Calibri"/>
              </a:rPr>
              <a:t>6.  </a:t>
            </a:r>
            <a:r>
              <a:rPr lang="ko-KR" altLang="en-US" sz="1700" b="1" dirty="0">
                <a:solidFill>
                  <a:srgbClr val="1F2328"/>
                </a:solidFill>
                <a:latin typeface="맑은 고딕"/>
                <a:ea typeface="맑은 고딕"/>
                <a:cs typeface="맑은 고딕"/>
              </a:rPr>
              <a:t>남자는 강으로 나갔지만, 강은 완전히 얼어붙어 있었다.</a:t>
            </a:r>
            <a:endParaRPr lang="ko-KR" sz="1700"/>
          </a:p>
        </p:txBody>
      </p:sp>
      <p:sp>
        <p:nvSpPr>
          <p:cNvPr id="13" name="ex_2"/>
          <p:cNvSpPr txBox="1"/>
          <p:nvPr/>
        </p:nvSpPr>
        <p:spPr>
          <a:xfrm>
            <a:off x="457200" y="3752723"/>
            <a:ext cx="11274552" cy="435483"/>
          </a:xfrm>
          <a:prstGeom prst="rect">
            <a:avLst/>
          </a:prstGeom>
          <a:noFill/>
        </p:spPr>
        <p:txBody>
          <a:bodyPr wrap="square" lIns="228600" tIns="54864" rIns="228600" bIns="54864" anchor="t" rtlCol="0">
            <a:noAutofit/>
          </a:bodyPr>
          <a:lstStyle/>
          <a:p>
            <a:pPr algn="l">
              <a:lnSpc>
                <a:spcPts val="2565"/>
              </a:lnSpc>
              <a:spcBef>
                <a:spcPts val="0"/>
              </a:spcBef>
              <a:spcAft>
                <a:spcPts val="0"/>
              </a:spcAft>
              <a:buNone/>
            </a:pP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The man</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to the river</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went out</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 but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completely</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it was</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frozen</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a:t>
            </a:r>
            <a:endParaRPr lang="ko-KR" sz="1900"/>
          </a:p>
        </p:txBody>
      </p:sp>
      <p:sp>
        <p:nvSpPr>
          <p:cNvPr id="14" name="rv_ans_2"/>
          <p:cNvSpPr txBox="1"/>
          <p:nvPr/>
        </p:nvSpPr>
        <p:spPr>
          <a:xfrm>
            <a:off x="594360" y="4224782"/>
            <a:ext cx="11000232" cy="423418"/>
          </a:xfrm>
          <a:prstGeom prst="rect">
            <a:avLst/>
          </a:prstGeom>
          <a:solidFill>
            <a:srgbClr val="FFF3C4"/>
          </a:solidFill>
        </p:spPr>
        <p:txBody>
          <a:bodyPr wrap="square" lIns="137160" tIns="54864" rIns="137160" bIns="54864" anchor="t" rtlCol="0">
            <a:noAutofit/>
          </a:bodyPr>
          <a:lstStyle/>
          <a:p>
            <a:pPr algn="l">
              <a:lnSpc>
                <a:spcPts val="2470"/>
              </a:lnSpc>
              <a:spcBef>
                <a:spcPts val="0"/>
              </a:spcBef>
              <a:spcAft>
                <a:spcPts val="0"/>
              </a:spcAft>
              <a:buNone/>
            </a:pPr>
            <a:r>
              <a:rPr lang="en-US" altLang="en-US" sz="1900" b="1" dirty="0">
                <a:solidFill>
                  <a:srgbClr val="C00000"/>
                </a:solidFill>
                <a:latin typeface="Calibri"/>
                <a:ea typeface="맑은 고딕"/>
                <a:cs typeface="Calibri"/>
              </a:rPr>
              <a:t>→  </a:t>
            </a:r>
            <a:r>
              <a:rPr lang="en-US" altLang="en-US" sz="1900" b="1" dirty="0">
                <a:solidFill>
                  <a:srgbClr val="C00000"/>
                </a:solidFill>
                <a:latin typeface="Calibri"/>
                <a:ea typeface="맑은 고딕"/>
                <a:cs typeface="Calibri"/>
              </a:rPr>
              <a:t>The man went out to the river, but it was completely frozen.</a:t>
            </a:r>
            <a:endParaRPr lang="ko-KR" sz="19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25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2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4" grpId="0" animBg="1"/>
    </p:bldLst>
  </p:timing>
</p:sld>
</file>

<file path=ppt/slides/slide30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8000"/>
            </a:avLst>
          </a:prstGeom>
          <a:solidFill>
            <a:srgbClr val="1E2A5A"/>
          </a:solidFill>
          <a:ln>
            <a:noFill/>
          </a:ln>
        </p:spPr>
        <p:txBody>
          <a:bodyPr wrap="square" lIns="45720" tIns="18288" rIns="45720" bIns="18288" anchor="ctr" rtlCol="0">
            <a:noAutofit/>
          </a:bodyPr>
          <a:lstStyle/>
          <a:p>
            <a:pPr algn="ctr">
              <a:lnSpc>
                <a:spcPts val="2000"/>
              </a:lnSpc>
              <a:spcBef>
                <a:spcPts val="0"/>
              </a:spcBef>
              <a:spcAft>
                <a:spcPts val="0"/>
              </a:spcAft>
              <a:buNone/>
            </a:pPr>
            <a:r>
              <a:rPr lang="en-US" altLang="en-US" sz="1700" b="1" dirty="0">
                <a:solidFill>
                  <a:srgbClr val="FFFFFF"/>
                </a:solidFill>
                <a:latin typeface="Calibri"/>
                <a:ea typeface="맑은 고딕"/>
                <a:cs typeface="Calibri"/>
              </a:rPr>
              <a:t>L8-2</a:t>
            </a:r>
            <a:endParaRPr lang="ko-KR" sz="1700"/>
          </a:p>
        </p:txBody>
      </p:sp>
      <p:sp>
        <p:nvSpPr>
          <p:cNvPr id="3" name="hdr_chip"/>
          <p:cNvSpPr/>
          <p:nvPr/>
        </p:nvSpPr>
        <p:spPr>
          <a:xfrm>
            <a:off x="1755648" y="274320"/>
            <a:ext cx="1371600" cy="493776"/>
          </a:xfrm>
          <a:prstGeom prst="roundRect">
            <a:avLst>
              <a:gd name="adj" fmla="val 8000"/>
            </a:avLst>
          </a:prstGeom>
          <a:solidFill>
            <a:srgbClr val="E6EAF4"/>
          </a:solidFill>
          <a:ln>
            <a:noFill/>
          </a:ln>
        </p:spPr>
        <p:txBody>
          <a:bodyPr wrap="square" lIns="27432" tIns="18288" rIns="27432" bIns="18288" anchor="ctr" rtlCol="0">
            <a:noAutofit/>
          </a:bodyPr>
          <a:lstStyle/>
          <a:p>
            <a:pPr algn="ctr">
              <a:lnSpc>
                <a:spcPts val="1700"/>
              </a:lnSpc>
              <a:spcBef>
                <a:spcPts val="0"/>
              </a:spcBef>
              <a:spcAft>
                <a:spcPts val="0"/>
              </a:spcAft>
              <a:buNone/>
            </a:pPr>
            <a:r>
              <a:rPr lang="ko-KR" altLang="en-US" sz="1400" b="1" dirty="0">
                <a:solidFill>
                  <a:srgbClr val="1E2A5A"/>
                </a:solidFill>
                <a:latin typeface="맑은 고딕"/>
                <a:ea typeface="맑은 고딕"/>
                <a:cs typeface="맑은 고딕"/>
              </a:rPr>
              <a:t>PART 6 · 7</a:t>
            </a:r>
            <a:endParaRPr lang="ko-KR" sz="1400"/>
          </a:p>
        </p:txBody>
      </p:sp>
      <p:sp>
        <p:nvSpPr>
          <p:cNvPr id="4" name="hdr_q"/>
          <p:cNvSpPr txBox="1"/>
          <p:nvPr/>
        </p:nvSpPr>
        <p:spPr>
          <a:xfrm>
            <a:off x="3246120" y="246888"/>
            <a:ext cx="8485632" cy="548640"/>
          </a:xfrm>
          <a:prstGeom prst="rect">
            <a:avLst/>
          </a:prstGeom>
          <a:noFill/>
        </p:spPr>
        <p:txBody>
          <a:bodyPr wrap="square" lIns="109728" tIns="54864" rIns="109728" bIns="54864" anchor="ctr" rtlCol="0">
            <a:noAutofit/>
          </a:bodyPr>
          <a:lstStyle/>
          <a:p>
            <a:pPr algn="l">
              <a:lnSpc>
                <a:spcPts val="2400"/>
              </a:lnSpc>
              <a:spcBef>
                <a:spcPts val="0"/>
              </a:spcBef>
              <a:spcAft>
                <a:spcPts val="0"/>
              </a:spcAft>
              <a:buNone/>
            </a:pPr>
            <a:r>
              <a:rPr lang="ko-KR" altLang="en-US" sz="2000" b="1" dirty="0">
                <a:solidFill>
                  <a:srgbClr val="1F2328"/>
                </a:solidFill>
                <a:latin typeface="맑은 고딕"/>
                <a:ea typeface="맑은 고딕"/>
                <a:cs typeface="맑은 고딕"/>
              </a:rPr>
              <a:t>우리말에 맞게 (  ) 안의 말을 바르게 배열하시오.</a:t>
            </a:r>
            <a:endParaRPr lang="ko-KR" sz="2000"/>
          </a:p>
        </p:txBody>
      </p:sp>
      <p:sp>
        <p:nvSpPr>
          <p:cNvPr id="5" name="ftr_exam"/>
          <p:cNvSpPr txBox="1"/>
          <p:nvPr/>
        </p:nvSpPr>
        <p:spPr>
          <a:xfrm>
            <a:off x="457200" y="6519672"/>
            <a:ext cx="5669280" cy="256032"/>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8</a:t>
            </a:r>
            <a:endParaRPr lang="ko-KR" sz="1000"/>
          </a:p>
        </p:txBody>
      </p:sp>
      <p:sp>
        <p:nvSpPr>
          <p:cNvPr id="6" name="ftr_hint"/>
          <p:cNvSpPr txBox="1"/>
          <p:nvPr/>
        </p:nvSpPr>
        <p:spPr>
          <a:xfrm>
            <a:off x="5971032" y="6519672"/>
            <a:ext cx="5760720" cy="256032"/>
          </a:xfrm>
          <a:prstGeom prst="rect">
            <a:avLst/>
          </a:prstGeom>
          <a:noFill/>
        </p:spPr>
        <p:txBody>
          <a:bodyPr wrap="square" lIns="0" tIns="0" rIns="0" bIns="0" anchor="t" rtlCol="0">
            <a:noAutofit/>
          </a:bodyPr>
          <a:lstStyle/>
          <a:p>
            <a:pPr algn="r">
              <a:lnSpc>
                <a:spcPts val="1200"/>
              </a:lnSpc>
              <a:spcBef>
                <a:spcPts val="0"/>
              </a:spcBef>
              <a:spcAft>
                <a:spcPts val="0"/>
              </a:spcAft>
              <a:buNone/>
            </a:pPr>
            <a:r>
              <a:rPr lang="ko-KR" altLang="en-US" sz="1000" b="0" dirty="0">
                <a:solidFill>
                  <a:srgbClr val="7A808C"/>
                </a:solidFill>
                <a:latin typeface="맑은 고딕"/>
                <a:ea typeface="맑은 고딕"/>
                <a:cs typeface="맑은 고딕"/>
              </a:rPr>
              <a:t>클릭 ① 완성 문장(정답) 공개</a:t>
            </a:r>
            <a:endParaRPr lang="ko-KR" sz="1000"/>
          </a:p>
        </p:txBody>
      </p:sp>
      <p:sp>
        <p:nvSpPr>
          <p:cNvPr id="7" name="item_card_1"/>
          <p:cNvSpPr/>
          <p:nvPr/>
        </p:nvSpPr>
        <p:spPr>
          <a:xfrm>
            <a:off x="457200" y="950976"/>
            <a:ext cx="11274552" cy="1348232"/>
          </a:xfrm>
          <a:prstGeom prst="roundRect">
            <a:avLst>
              <a:gd name="adj" fmla="val 6000"/>
            </a:avLst>
          </a:prstGeom>
          <a:solidFill>
            <a:srgbClr val="F3F5F9"/>
          </a:solidFill>
          <a:ln w="12700">
            <a:solidFill>
              <a:srgbClr val="D9DFEA"/>
            </a:solidFill>
          </a:ln>
        </p:spPr>
        <p:txBody>
          <a:bodyPr rtlCol="0" anchor="ctr"/>
          <a:lstStyle/>
          <a:p>
            <a:pPr algn="ctr"/>
          </a:p>
        </p:txBody>
      </p:sp>
      <p:sp>
        <p:nvSpPr>
          <p:cNvPr id="8" name="kor_1"/>
          <p:cNvSpPr txBox="1"/>
          <p:nvPr/>
        </p:nvSpPr>
        <p:spPr>
          <a:xfrm>
            <a:off x="457200" y="1060704"/>
            <a:ext cx="11274552" cy="379603"/>
          </a:xfrm>
          <a:prstGeom prst="rect">
            <a:avLst/>
          </a:prstGeom>
          <a:noFill/>
        </p:spPr>
        <p:txBody>
          <a:bodyPr wrap="square" lIns="228600" tIns="54864" rIns="228600" bIns="54864" anchor="t" rtlCol="0">
            <a:noAutofit/>
          </a:bodyPr>
          <a:lstStyle/>
          <a:p>
            <a:pPr algn="l">
              <a:lnSpc>
                <a:spcPts val="2125"/>
              </a:lnSpc>
              <a:spcBef>
                <a:spcPts val="0"/>
              </a:spcBef>
              <a:spcAft>
                <a:spcPts val="0"/>
              </a:spcAft>
              <a:buNone/>
            </a:pPr>
            <a:r>
              <a:rPr lang="en-US" altLang="en-US" sz="1700" b="1" dirty="0">
                <a:solidFill>
                  <a:srgbClr val="1E2A5A"/>
                </a:solidFill>
                <a:latin typeface="Calibri"/>
                <a:ea typeface="맑은 고딕"/>
                <a:cs typeface="Calibri"/>
              </a:rPr>
              <a:t>7.  </a:t>
            </a:r>
            <a:r>
              <a:rPr lang="ko-KR" altLang="en-US" sz="1700" b="1" dirty="0">
                <a:solidFill>
                  <a:srgbClr val="1F2328"/>
                </a:solidFill>
                <a:latin typeface="맑은 고딕"/>
                <a:ea typeface="맑은 고딕"/>
                <a:cs typeface="맑은 고딕"/>
              </a:rPr>
              <a:t>그가 어떤 물고기라도 잡는 것은 불가능했다.</a:t>
            </a:r>
            <a:endParaRPr lang="ko-KR" sz="1700"/>
          </a:p>
        </p:txBody>
      </p:sp>
      <p:sp>
        <p:nvSpPr>
          <p:cNvPr id="9" name="ex_1"/>
          <p:cNvSpPr txBox="1"/>
          <p:nvPr/>
        </p:nvSpPr>
        <p:spPr>
          <a:xfrm>
            <a:off x="457200" y="1385443"/>
            <a:ext cx="11274552" cy="435483"/>
          </a:xfrm>
          <a:prstGeom prst="rect">
            <a:avLst/>
          </a:prstGeom>
          <a:noFill/>
        </p:spPr>
        <p:txBody>
          <a:bodyPr wrap="square" lIns="228600" tIns="54864" rIns="228600" bIns="54864" anchor="t" rtlCol="0">
            <a:noAutofit/>
          </a:bodyPr>
          <a:lstStyle/>
          <a:p>
            <a:pPr algn="l">
              <a:lnSpc>
                <a:spcPts val="2565"/>
              </a:lnSpc>
              <a:spcBef>
                <a:spcPts val="0"/>
              </a:spcBef>
              <a:spcAft>
                <a:spcPts val="0"/>
              </a:spcAft>
              <a:buNone/>
            </a:pP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It was</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any fish</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to catch</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impossible</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for him</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a:t>
            </a:r>
            <a:endParaRPr lang="ko-KR" sz="1900"/>
          </a:p>
        </p:txBody>
      </p:sp>
      <p:sp>
        <p:nvSpPr>
          <p:cNvPr id="10" name="rv_ans_1"/>
          <p:cNvSpPr txBox="1"/>
          <p:nvPr/>
        </p:nvSpPr>
        <p:spPr>
          <a:xfrm>
            <a:off x="594360" y="1857502"/>
            <a:ext cx="11000232" cy="423418"/>
          </a:xfrm>
          <a:prstGeom prst="rect">
            <a:avLst/>
          </a:prstGeom>
          <a:solidFill>
            <a:srgbClr val="FFF3C4"/>
          </a:solidFill>
        </p:spPr>
        <p:txBody>
          <a:bodyPr wrap="square" lIns="137160" tIns="54864" rIns="137160" bIns="54864" anchor="t" rtlCol="0">
            <a:noAutofit/>
          </a:bodyPr>
          <a:lstStyle/>
          <a:p>
            <a:pPr algn="l">
              <a:lnSpc>
                <a:spcPts val="2470"/>
              </a:lnSpc>
              <a:spcBef>
                <a:spcPts val="0"/>
              </a:spcBef>
              <a:spcAft>
                <a:spcPts val="0"/>
              </a:spcAft>
              <a:buNone/>
            </a:pPr>
            <a:r>
              <a:rPr lang="en-US" altLang="en-US" sz="1900" b="1" dirty="0">
                <a:solidFill>
                  <a:srgbClr val="C00000"/>
                </a:solidFill>
                <a:latin typeface="Calibri"/>
                <a:ea typeface="맑은 고딕"/>
                <a:cs typeface="Calibri"/>
              </a:rPr>
              <a:t>→  </a:t>
            </a:r>
            <a:r>
              <a:rPr lang="en-US" altLang="en-US" sz="1900" b="1" dirty="0">
                <a:solidFill>
                  <a:srgbClr val="C00000"/>
                </a:solidFill>
                <a:latin typeface="Calibri"/>
                <a:ea typeface="맑은 고딕"/>
                <a:cs typeface="Calibri"/>
              </a:rPr>
              <a:t>It was impossible for him to catch any fish.</a:t>
            </a:r>
            <a:endParaRPr lang="ko-KR" sz="1900"/>
          </a:p>
        </p:txBody>
      </p:sp>
      <p:sp>
        <p:nvSpPr>
          <p:cNvPr id="11" name="item_card_2"/>
          <p:cNvSpPr/>
          <p:nvPr/>
        </p:nvSpPr>
        <p:spPr>
          <a:xfrm>
            <a:off x="457200" y="2408936"/>
            <a:ext cx="11274552" cy="2257552"/>
          </a:xfrm>
          <a:prstGeom prst="roundRect">
            <a:avLst>
              <a:gd name="adj" fmla="val 6000"/>
            </a:avLst>
          </a:prstGeom>
          <a:solidFill>
            <a:srgbClr val="F3F5F9"/>
          </a:solidFill>
          <a:ln w="12700">
            <a:solidFill>
              <a:srgbClr val="D9DFEA"/>
            </a:solidFill>
          </a:ln>
        </p:spPr>
        <p:txBody>
          <a:bodyPr rtlCol="0" anchor="ctr"/>
          <a:lstStyle/>
          <a:p>
            <a:pPr algn="ctr"/>
          </a:p>
        </p:txBody>
      </p:sp>
      <p:sp>
        <p:nvSpPr>
          <p:cNvPr id="12" name="kor_2"/>
          <p:cNvSpPr txBox="1"/>
          <p:nvPr/>
        </p:nvSpPr>
        <p:spPr>
          <a:xfrm>
            <a:off x="457200" y="2518664"/>
            <a:ext cx="11274552" cy="649478"/>
          </a:xfrm>
          <a:prstGeom prst="rect">
            <a:avLst/>
          </a:prstGeom>
          <a:noFill/>
        </p:spPr>
        <p:txBody>
          <a:bodyPr wrap="square" lIns="228600" tIns="54864" rIns="228600" bIns="54864" anchor="t" rtlCol="0">
            <a:noAutofit/>
          </a:bodyPr>
          <a:lstStyle/>
          <a:p>
            <a:pPr algn="l">
              <a:lnSpc>
                <a:spcPts val="2125"/>
              </a:lnSpc>
              <a:spcBef>
                <a:spcPts val="0"/>
              </a:spcBef>
              <a:spcAft>
                <a:spcPts val="0"/>
              </a:spcAft>
              <a:buNone/>
            </a:pPr>
            <a:r>
              <a:rPr lang="en-US" altLang="en-US" sz="1700" b="1" dirty="0">
                <a:solidFill>
                  <a:srgbClr val="1E2A5A"/>
                </a:solidFill>
                <a:latin typeface="Calibri"/>
                <a:ea typeface="맑은 고딕"/>
                <a:cs typeface="Calibri"/>
              </a:rPr>
              <a:t>8.  </a:t>
            </a:r>
            <a:r>
              <a:rPr lang="ko-KR" altLang="en-US" sz="1700" b="1" dirty="0">
                <a:solidFill>
                  <a:srgbClr val="1F2328"/>
                </a:solidFill>
                <a:latin typeface="맑은 고딕"/>
                <a:ea typeface="맑은 고딕"/>
                <a:cs typeface="맑은 고딕"/>
              </a:rPr>
              <a:t>남자는 몹시 낙담해서 하늘에 대고 외쳤다. “제가 어떻게 해야 하나요? 제발 저를 도와주세요.”</a:t>
            </a:r>
            <a:endParaRPr lang="ko-KR" sz="1700"/>
          </a:p>
        </p:txBody>
      </p:sp>
      <p:sp>
        <p:nvSpPr>
          <p:cNvPr id="13" name="ex_2"/>
          <p:cNvSpPr txBox="1"/>
          <p:nvPr/>
        </p:nvSpPr>
        <p:spPr>
          <a:xfrm>
            <a:off x="457200" y="3113278"/>
            <a:ext cx="11274552" cy="761238"/>
          </a:xfrm>
          <a:prstGeom prst="rect">
            <a:avLst/>
          </a:prstGeom>
          <a:noFill/>
        </p:spPr>
        <p:txBody>
          <a:bodyPr wrap="square" lIns="228600" tIns="54864" rIns="228600" bIns="54864" anchor="t" rtlCol="0">
            <a:noAutofit/>
          </a:bodyPr>
          <a:lstStyle/>
          <a:p>
            <a:pPr algn="l">
              <a:lnSpc>
                <a:spcPts val="2565"/>
              </a:lnSpc>
              <a:spcBef>
                <a:spcPts val="0"/>
              </a:spcBef>
              <a:spcAft>
                <a:spcPts val="0"/>
              </a:spcAft>
              <a:buNone/>
            </a:pP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to the sky</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The man</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so disappointed</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was</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he cried out</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that</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 “What should I do? Please help me.”</a:t>
            </a:r>
            <a:endParaRPr lang="ko-KR" sz="1900"/>
          </a:p>
        </p:txBody>
      </p:sp>
      <p:sp>
        <p:nvSpPr>
          <p:cNvPr id="14" name="rv_ans_2"/>
          <p:cNvSpPr txBox="1"/>
          <p:nvPr/>
        </p:nvSpPr>
        <p:spPr>
          <a:xfrm>
            <a:off x="594360" y="3911092"/>
            <a:ext cx="11000232" cy="737108"/>
          </a:xfrm>
          <a:prstGeom prst="rect">
            <a:avLst/>
          </a:prstGeom>
          <a:solidFill>
            <a:srgbClr val="FFF3C4"/>
          </a:solidFill>
        </p:spPr>
        <p:txBody>
          <a:bodyPr wrap="square" lIns="137160" tIns="54864" rIns="137160" bIns="54864" anchor="t" rtlCol="0">
            <a:noAutofit/>
          </a:bodyPr>
          <a:lstStyle/>
          <a:p>
            <a:pPr algn="l">
              <a:lnSpc>
                <a:spcPts val="2470"/>
              </a:lnSpc>
              <a:spcBef>
                <a:spcPts val="0"/>
              </a:spcBef>
              <a:spcAft>
                <a:spcPts val="0"/>
              </a:spcAft>
              <a:buNone/>
            </a:pPr>
            <a:r>
              <a:rPr lang="en-US" altLang="en-US" sz="1900" b="1" dirty="0">
                <a:solidFill>
                  <a:srgbClr val="C00000"/>
                </a:solidFill>
                <a:latin typeface="Calibri"/>
                <a:ea typeface="맑은 고딕"/>
                <a:cs typeface="Calibri"/>
              </a:rPr>
              <a:t>→  </a:t>
            </a:r>
            <a:r>
              <a:rPr lang="en-US" altLang="en-US" sz="1900" b="1" dirty="0">
                <a:solidFill>
                  <a:srgbClr val="C00000"/>
                </a:solidFill>
                <a:latin typeface="Calibri"/>
                <a:ea typeface="맑은 고딕"/>
                <a:cs typeface="Calibri"/>
              </a:rPr>
              <a:t>The man was so disappointed that he cried out to the sky, “What should I do? Please help me.”</a:t>
            </a:r>
            <a:endParaRPr lang="ko-KR" sz="19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25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2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4" grpId="0" animBg="1"/>
    </p:bldLst>
  </p:timing>
</p:sld>
</file>

<file path=ppt/slides/slide30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8000"/>
            </a:avLst>
          </a:prstGeom>
          <a:solidFill>
            <a:srgbClr val="1E2A5A"/>
          </a:solidFill>
          <a:ln>
            <a:noFill/>
          </a:ln>
        </p:spPr>
        <p:txBody>
          <a:bodyPr wrap="square" lIns="45720" tIns="18288" rIns="45720" bIns="18288" anchor="ctr" rtlCol="0">
            <a:noAutofit/>
          </a:bodyPr>
          <a:lstStyle/>
          <a:p>
            <a:pPr algn="ctr">
              <a:lnSpc>
                <a:spcPts val="2000"/>
              </a:lnSpc>
              <a:spcBef>
                <a:spcPts val="0"/>
              </a:spcBef>
              <a:spcAft>
                <a:spcPts val="0"/>
              </a:spcAft>
              <a:buNone/>
            </a:pPr>
            <a:r>
              <a:rPr lang="en-US" altLang="en-US" sz="1700" b="1" dirty="0">
                <a:solidFill>
                  <a:srgbClr val="FFFFFF"/>
                </a:solidFill>
                <a:latin typeface="Calibri"/>
                <a:ea typeface="맑은 고딕"/>
                <a:cs typeface="Calibri"/>
              </a:rPr>
              <a:t>L8-2</a:t>
            </a:r>
            <a:endParaRPr lang="ko-KR" sz="1700"/>
          </a:p>
        </p:txBody>
      </p:sp>
      <p:sp>
        <p:nvSpPr>
          <p:cNvPr id="3" name="hdr_chip"/>
          <p:cNvSpPr/>
          <p:nvPr/>
        </p:nvSpPr>
        <p:spPr>
          <a:xfrm>
            <a:off x="1755648" y="274320"/>
            <a:ext cx="1371600" cy="493776"/>
          </a:xfrm>
          <a:prstGeom prst="roundRect">
            <a:avLst>
              <a:gd name="adj" fmla="val 8000"/>
            </a:avLst>
          </a:prstGeom>
          <a:solidFill>
            <a:srgbClr val="E6EAF4"/>
          </a:solidFill>
          <a:ln>
            <a:noFill/>
          </a:ln>
        </p:spPr>
        <p:txBody>
          <a:bodyPr wrap="square" lIns="27432" tIns="18288" rIns="27432" bIns="18288" anchor="ctr" rtlCol="0">
            <a:noAutofit/>
          </a:bodyPr>
          <a:lstStyle/>
          <a:p>
            <a:pPr algn="ctr">
              <a:lnSpc>
                <a:spcPts val="1700"/>
              </a:lnSpc>
              <a:spcBef>
                <a:spcPts val="0"/>
              </a:spcBef>
              <a:spcAft>
                <a:spcPts val="0"/>
              </a:spcAft>
              <a:buNone/>
            </a:pPr>
            <a:r>
              <a:rPr lang="ko-KR" altLang="en-US" sz="1400" b="1" dirty="0">
                <a:solidFill>
                  <a:srgbClr val="1E2A5A"/>
                </a:solidFill>
                <a:latin typeface="맑은 고딕"/>
                <a:ea typeface="맑은 고딕"/>
                <a:cs typeface="맑은 고딕"/>
              </a:rPr>
              <a:t>PART 6 · 8</a:t>
            </a:r>
            <a:endParaRPr lang="ko-KR" sz="1400"/>
          </a:p>
        </p:txBody>
      </p:sp>
      <p:sp>
        <p:nvSpPr>
          <p:cNvPr id="4" name="hdr_q"/>
          <p:cNvSpPr txBox="1"/>
          <p:nvPr/>
        </p:nvSpPr>
        <p:spPr>
          <a:xfrm>
            <a:off x="3246120" y="246888"/>
            <a:ext cx="8485632" cy="548640"/>
          </a:xfrm>
          <a:prstGeom prst="rect">
            <a:avLst/>
          </a:prstGeom>
          <a:noFill/>
        </p:spPr>
        <p:txBody>
          <a:bodyPr wrap="square" lIns="109728" tIns="54864" rIns="109728" bIns="54864" anchor="ctr" rtlCol="0">
            <a:noAutofit/>
          </a:bodyPr>
          <a:lstStyle/>
          <a:p>
            <a:pPr algn="l">
              <a:lnSpc>
                <a:spcPts val="2400"/>
              </a:lnSpc>
              <a:spcBef>
                <a:spcPts val="0"/>
              </a:spcBef>
              <a:spcAft>
                <a:spcPts val="0"/>
              </a:spcAft>
              <a:buNone/>
            </a:pPr>
            <a:r>
              <a:rPr lang="ko-KR" altLang="en-US" sz="2000" b="1" dirty="0">
                <a:solidFill>
                  <a:srgbClr val="1F2328"/>
                </a:solidFill>
                <a:latin typeface="맑은 고딕"/>
                <a:ea typeface="맑은 고딕"/>
                <a:cs typeface="맑은 고딕"/>
              </a:rPr>
              <a:t>우리말에 맞게 (  ) 안의 말을 바르게 배열하시오.</a:t>
            </a:r>
            <a:endParaRPr lang="ko-KR" sz="2000"/>
          </a:p>
        </p:txBody>
      </p:sp>
      <p:sp>
        <p:nvSpPr>
          <p:cNvPr id="5" name="ftr_exam"/>
          <p:cNvSpPr txBox="1"/>
          <p:nvPr/>
        </p:nvSpPr>
        <p:spPr>
          <a:xfrm>
            <a:off x="457200" y="6519672"/>
            <a:ext cx="5669280" cy="256032"/>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8</a:t>
            </a:r>
            <a:endParaRPr lang="ko-KR" sz="1000"/>
          </a:p>
        </p:txBody>
      </p:sp>
      <p:sp>
        <p:nvSpPr>
          <p:cNvPr id="6" name="ftr_hint"/>
          <p:cNvSpPr txBox="1"/>
          <p:nvPr/>
        </p:nvSpPr>
        <p:spPr>
          <a:xfrm>
            <a:off x="5971032" y="6519672"/>
            <a:ext cx="5760720" cy="256032"/>
          </a:xfrm>
          <a:prstGeom prst="rect">
            <a:avLst/>
          </a:prstGeom>
          <a:noFill/>
        </p:spPr>
        <p:txBody>
          <a:bodyPr wrap="square" lIns="0" tIns="0" rIns="0" bIns="0" anchor="t" rtlCol="0">
            <a:noAutofit/>
          </a:bodyPr>
          <a:lstStyle/>
          <a:p>
            <a:pPr algn="r">
              <a:lnSpc>
                <a:spcPts val="1200"/>
              </a:lnSpc>
              <a:spcBef>
                <a:spcPts val="0"/>
              </a:spcBef>
              <a:spcAft>
                <a:spcPts val="0"/>
              </a:spcAft>
              <a:buNone/>
            </a:pPr>
            <a:r>
              <a:rPr lang="ko-KR" altLang="en-US" sz="1000" b="0" dirty="0">
                <a:solidFill>
                  <a:srgbClr val="7A808C"/>
                </a:solidFill>
                <a:latin typeface="맑은 고딕"/>
                <a:ea typeface="맑은 고딕"/>
                <a:cs typeface="맑은 고딕"/>
              </a:rPr>
              <a:t>클릭 ① 완성 문장(정답) 공개</a:t>
            </a:r>
            <a:endParaRPr lang="ko-KR" sz="1000"/>
          </a:p>
        </p:txBody>
      </p:sp>
      <p:sp>
        <p:nvSpPr>
          <p:cNvPr id="7" name="item_card_1"/>
          <p:cNvSpPr/>
          <p:nvPr/>
        </p:nvSpPr>
        <p:spPr>
          <a:xfrm>
            <a:off x="457200" y="950976"/>
            <a:ext cx="11274552" cy="1348232"/>
          </a:xfrm>
          <a:prstGeom prst="roundRect">
            <a:avLst>
              <a:gd name="adj" fmla="val 6000"/>
            </a:avLst>
          </a:prstGeom>
          <a:solidFill>
            <a:srgbClr val="F3F5F9"/>
          </a:solidFill>
          <a:ln w="12700">
            <a:solidFill>
              <a:srgbClr val="D9DFEA"/>
            </a:solidFill>
          </a:ln>
        </p:spPr>
        <p:txBody>
          <a:bodyPr rtlCol="0" anchor="ctr"/>
          <a:lstStyle/>
          <a:p>
            <a:pPr algn="ctr"/>
          </a:p>
        </p:txBody>
      </p:sp>
      <p:sp>
        <p:nvSpPr>
          <p:cNvPr id="8" name="kor_1"/>
          <p:cNvSpPr txBox="1"/>
          <p:nvPr/>
        </p:nvSpPr>
        <p:spPr>
          <a:xfrm>
            <a:off x="457200" y="1060704"/>
            <a:ext cx="11274552" cy="379603"/>
          </a:xfrm>
          <a:prstGeom prst="rect">
            <a:avLst/>
          </a:prstGeom>
          <a:noFill/>
        </p:spPr>
        <p:txBody>
          <a:bodyPr wrap="square" lIns="228600" tIns="54864" rIns="228600" bIns="54864" anchor="t" rtlCol="0">
            <a:noAutofit/>
          </a:bodyPr>
          <a:lstStyle/>
          <a:p>
            <a:pPr algn="l">
              <a:lnSpc>
                <a:spcPts val="2125"/>
              </a:lnSpc>
              <a:spcBef>
                <a:spcPts val="0"/>
              </a:spcBef>
              <a:spcAft>
                <a:spcPts val="0"/>
              </a:spcAft>
              <a:buNone/>
            </a:pPr>
            <a:r>
              <a:rPr lang="en-US" altLang="en-US" sz="1700" b="1" dirty="0">
                <a:solidFill>
                  <a:srgbClr val="1E2A5A"/>
                </a:solidFill>
                <a:latin typeface="Calibri"/>
                <a:ea typeface="맑은 고딕"/>
                <a:cs typeface="Calibri"/>
              </a:rPr>
              <a:t>9.  </a:t>
            </a:r>
            <a:r>
              <a:rPr lang="ko-KR" altLang="en-US" sz="1700" b="1" dirty="0">
                <a:solidFill>
                  <a:srgbClr val="1F2328"/>
                </a:solidFill>
                <a:latin typeface="맑은 고딕"/>
                <a:ea typeface="맑은 고딕"/>
                <a:cs typeface="맑은 고딕"/>
              </a:rPr>
              <a:t>그러자 얼음이 녹았고, 잉어 세 마리가 갑자기 물 밖으로 나왔다.</a:t>
            </a:r>
            <a:endParaRPr lang="ko-KR" sz="1700"/>
          </a:p>
        </p:txBody>
      </p:sp>
      <p:sp>
        <p:nvSpPr>
          <p:cNvPr id="9" name="ex_1"/>
          <p:cNvSpPr txBox="1"/>
          <p:nvPr/>
        </p:nvSpPr>
        <p:spPr>
          <a:xfrm>
            <a:off x="457200" y="1385443"/>
            <a:ext cx="11274552" cy="435483"/>
          </a:xfrm>
          <a:prstGeom prst="rect">
            <a:avLst/>
          </a:prstGeom>
          <a:noFill/>
        </p:spPr>
        <p:txBody>
          <a:bodyPr wrap="square" lIns="228600" tIns="54864" rIns="228600" bIns="54864" anchor="t" rtlCol="0">
            <a:noAutofit/>
          </a:bodyPr>
          <a:lstStyle/>
          <a:p>
            <a:pPr algn="l">
              <a:lnSpc>
                <a:spcPts val="2565"/>
              </a:lnSpc>
              <a:spcBef>
                <a:spcPts val="0"/>
              </a:spcBef>
              <a:spcAft>
                <a:spcPts val="0"/>
              </a:spcAft>
              <a:buNone/>
            </a:pPr>
            <a:r>
              <a:rPr lang="en-US" altLang="en-US" sz="1900" b="0" dirty="0">
                <a:solidFill>
                  <a:srgbClr val="1F2328"/>
                </a:solidFill>
                <a:latin typeface="Calibri"/>
                <a:ea typeface="맑은 고딕"/>
                <a:cs typeface="Calibri"/>
              </a:rPr>
              <a:t>Then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melted</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the ice</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 and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three carp</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came out</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suddenly</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of the water</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a:t>
            </a:r>
            <a:endParaRPr lang="ko-KR" sz="1900"/>
          </a:p>
        </p:txBody>
      </p:sp>
      <p:sp>
        <p:nvSpPr>
          <p:cNvPr id="10" name="rv_ans_1"/>
          <p:cNvSpPr txBox="1"/>
          <p:nvPr/>
        </p:nvSpPr>
        <p:spPr>
          <a:xfrm>
            <a:off x="594360" y="1857502"/>
            <a:ext cx="11000232" cy="423418"/>
          </a:xfrm>
          <a:prstGeom prst="rect">
            <a:avLst/>
          </a:prstGeom>
          <a:solidFill>
            <a:srgbClr val="FFF3C4"/>
          </a:solidFill>
        </p:spPr>
        <p:txBody>
          <a:bodyPr wrap="square" lIns="137160" tIns="54864" rIns="137160" bIns="54864" anchor="t" rtlCol="0">
            <a:noAutofit/>
          </a:bodyPr>
          <a:lstStyle/>
          <a:p>
            <a:pPr algn="l">
              <a:lnSpc>
                <a:spcPts val="2470"/>
              </a:lnSpc>
              <a:spcBef>
                <a:spcPts val="0"/>
              </a:spcBef>
              <a:spcAft>
                <a:spcPts val="0"/>
              </a:spcAft>
              <a:buNone/>
            </a:pPr>
            <a:r>
              <a:rPr lang="en-US" altLang="en-US" sz="1900" b="1" dirty="0">
                <a:solidFill>
                  <a:srgbClr val="C00000"/>
                </a:solidFill>
                <a:latin typeface="Calibri"/>
                <a:ea typeface="맑은 고딕"/>
                <a:cs typeface="Calibri"/>
              </a:rPr>
              <a:t>→  </a:t>
            </a:r>
            <a:r>
              <a:rPr lang="en-US" altLang="en-US" sz="1900" b="1" dirty="0">
                <a:solidFill>
                  <a:srgbClr val="C00000"/>
                </a:solidFill>
                <a:latin typeface="Calibri"/>
                <a:ea typeface="맑은 고딕"/>
                <a:cs typeface="Calibri"/>
              </a:rPr>
              <a:t>Then the ice melted, and three carp suddenly came out of the water.</a:t>
            </a:r>
            <a:endParaRPr lang="ko-KR" sz="1900"/>
          </a:p>
        </p:txBody>
      </p:sp>
      <p:sp>
        <p:nvSpPr>
          <p:cNvPr id="11" name="item_card_2"/>
          <p:cNvSpPr/>
          <p:nvPr/>
        </p:nvSpPr>
        <p:spPr>
          <a:xfrm>
            <a:off x="457200" y="2408936"/>
            <a:ext cx="11274552" cy="2257552"/>
          </a:xfrm>
          <a:prstGeom prst="roundRect">
            <a:avLst>
              <a:gd name="adj" fmla="val 6000"/>
            </a:avLst>
          </a:prstGeom>
          <a:solidFill>
            <a:srgbClr val="F3F5F9"/>
          </a:solidFill>
          <a:ln w="12700">
            <a:solidFill>
              <a:srgbClr val="D9DFEA"/>
            </a:solidFill>
          </a:ln>
        </p:spPr>
        <p:txBody>
          <a:bodyPr rtlCol="0" anchor="ctr"/>
          <a:lstStyle/>
          <a:p>
            <a:pPr algn="ctr"/>
          </a:p>
        </p:txBody>
      </p:sp>
      <p:sp>
        <p:nvSpPr>
          <p:cNvPr id="12" name="kor_2"/>
          <p:cNvSpPr txBox="1"/>
          <p:nvPr/>
        </p:nvSpPr>
        <p:spPr>
          <a:xfrm>
            <a:off x="457200" y="2518664"/>
            <a:ext cx="11274552" cy="649478"/>
          </a:xfrm>
          <a:prstGeom prst="rect">
            <a:avLst/>
          </a:prstGeom>
          <a:noFill/>
        </p:spPr>
        <p:txBody>
          <a:bodyPr wrap="square" lIns="228600" tIns="54864" rIns="228600" bIns="54864" anchor="t" rtlCol="0">
            <a:noAutofit/>
          </a:bodyPr>
          <a:lstStyle/>
          <a:p>
            <a:pPr algn="l">
              <a:lnSpc>
                <a:spcPts val="2125"/>
              </a:lnSpc>
              <a:spcBef>
                <a:spcPts val="0"/>
              </a:spcBef>
              <a:spcAft>
                <a:spcPts val="0"/>
              </a:spcAft>
              <a:buNone/>
            </a:pPr>
            <a:r>
              <a:rPr lang="en-US" altLang="en-US" sz="1700" b="1" dirty="0">
                <a:solidFill>
                  <a:srgbClr val="1E2A5A"/>
                </a:solidFill>
                <a:latin typeface="Calibri"/>
                <a:ea typeface="맑은 고딕"/>
                <a:cs typeface="Calibri"/>
              </a:rPr>
              <a:t>10.  </a:t>
            </a:r>
            <a:r>
              <a:rPr lang="ko-KR" altLang="en-US" sz="1700" b="1" dirty="0">
                <a:solidFill>
                  <a:srgbClr val="1F2328"/>
                </a:solidFill>
                <a:latin typeface="맑은 고딕"/>
                <a:ea typeface="맑은 고딕"/>
                <a:cs typeface="맑은 고딕"/>
              </a:rPr>
              <a:t>남자는 집으로 돌아가서 어머니에게 그 물고기들을 요리해 드렸다. 그러자 그의 어머니는 병이 나았다.</a:t>
            </a:r>
            <a:endParaRPr lang="ko-KR" sz="1700"/>
          </a:p>
        </p:txBody>
      </p:sp>
      <p:sp>
        <p:nvSpPr>
          <p:cNvPr id="13" name="ex_2"/>
          <p:cNvSpPr txBox="1"/>
          <p:nvPr/>
        </p:nvSpPr>
        <p:spPr>
          <a:xfrm>
            <a:off x="457200" y="3113278"/>
            <a:ext cx="11274552" cy="761238"/>
          </a:xfrm>
          <a:prstGeom prst="rect">
            <a:avLst/>
          </a:prstGeom>
          <a:noFill/>
        </p:spPr>
        <p:txBody>
          <a:bodyPr wrap="square" lIns="228600" tIns="54864" rIns="228600" bIns="54864" anchor="t" rtlCol="0">
            <a:noAutofit/>
          </a:bodyPr>
          <a:lstStyle/>
          <a:p>
            <a:pPr algn="l">
              <a:lnSpc>
                <a:spcPts val="2565"/>
              </a:lnSpc>
              <a:spcBef>
                <a:spcPts val="0"/>
              </a:spcBef>
              <a:spcAft>
                <a:spcPts val="0"/>
              </a:spcAft>
              <a:buNone/>
            </a:pP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went back home</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The man</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 and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for his mother</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the fish</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cooked</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 Then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his mother</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well</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got</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a:t>
            </a:r>
            <a:endParaRPr lang="ko-KR" sz="1900"/>
          </a:p>
        </p:txBody>
      </p:sp>
      <p:sp>
        <p:nvSpPr>
          <p:cNvPr id="14" name="rv_ans_2"/>
          <p:cNvSpPr txBox="1"/>
          <p:nvPr/>
        </p:nvSpPr>
        <p:spPr>
          <a:xfrm>
            <a:off x="594360" y="3911092"/>
            <a:ext cx="11000232" cy="737108"/>
          </a:xfrm>
          <a:prstGeom prst="rect">
            <a:avLst/>
          </a:prstGeom>
          <a:solidFill>
            <a:srgbClr val="FFF3C4"/>
          </a:solidFill>
        </p:spPr>
        <p:txBody>
          <a:bodyPr wrap="square" lIns="137160" tIns="54864" rIns="137160" bIns="54864" anchor="t" rtlCol="0">
            <a:noAutofit/>
          </a:bodyPr>
          <a:lstStyle/>
          <a:p>
            <a:pPr algn="l">
              <a:lnSpc>
                <a:spcPts val="2470"/>
              </a:lnSpc>
              <a:spcBef>
                <a:spcPts val="0"/>
              </a:spcBef>
              <a:spcAft>
                <a:spcPts val="0"/>
              </a:spcAft>
              <a:buNone/>
            </a:pPr>
            <a:r>
              <a:rPr lang="en-US" altLang="en-US" sz="1900" b="1" dirty="0">
                <a:solidFill>
                  <a:srgbClr val="C00000"/>
                </a:solidFill>
                <a:latin typeface="Calibri"/>
                <a:ea typeface="맑은 고딕"/>
                <a:cs typeface="Calibri"/>
              </a:rPr>
              <a:t>→  </a:t>
            </a:r>
            <a:r>
              <a:rPr lang="en-US" altLang="en-US" sz="1900" b="1" dirty="0">
                <a:solidFill>
                  <a:srgbClr val="C00000"/>
                </a:solidFill>
                <a:latin typeface="Calibri"/>
                <a:ea typeface="맑은 고딕"/>
                <a:cs typeface="Calibri"/>
              </a:rPr>
              <a:t>The man went back home and cooked the fish for his mother. Then his mother got well.</a:t>
            </a:r>
            <a:endParaRPr lang="ko-KR" sz="19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25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2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4" grpId="0" animBg="1"/>
    </p:bldLst>
  </p:timing>
</p:sld>
</file>

<file path=ppt/slides/slide30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8000"/>
            </a:avLst>
          </a:prstGeom>
          <a:solidFill>
            <a:srgbClr val="1E2A5A"/>
          </a:solidFill>
          <a:ln>
            <a:noFill/>
          </a:ln>
        </p:spPr>
        <p:txBody>
          <a:bodyPr wrap="square" lIns="45720" tIns="18288" rIns="45720" bIns="18288" anchor="ctr" rtlCol="0">
            <a:noAutofit/>
          </a:bodyPr>
          <a:lstStyle/>
          <a:p>
            <a:pPr algn="ctr">
              <a:lnSpc>
                <a:spcPts val="2000"/>
              </a:lnSpc>
              <a:spcBef>
                <a:spcPts val="0"/>
              </a:spcBef>
              <a:spcAft>
                <a:spcPts val="0"/>
              </a:spcAft>
              <a:buNone/>
            </a:pPr>
            <a:r>
              <a:rPr lang="en-US" altLang="en-US" sz="1700" b="1" dirty="0">
                <a:solidFill>
                  <a:srgbClr val="FFFFFF"/>
                </a:solidFill>
                <a:latin typeface="Calibri"/>
                <a:ea typeface="맑은 고딕"/>
                <a:cs typeface="Calibri"/>
              </a:rPr>
              <a:t>L8-3</a:t>
            </a:r>
            <a:endParaRPr lang="ko-KR" sz="1700"/>
          </a:p>
        </p:txBody>
      </p:sp>
      <p:sp>
        <p:nvSpPr>
          <p:cNvPr id="3" name="hdr_chip"/>
          <p:cNvSpPr/>
          <p:nvPr/>
        </p:nvSpPr>
        <p:spPr>
          <a:xfrm>
            <a:off x="1755648" y="274320"/>
            <a:ext cx="1371600" cy="493776"/>
          </a:xfrm>
          <a:prstGeom prst="roundRect">
            <a:avLst>
              <a:gd name="adj" fmla="val 8000"/>
            </a:avLst>
          </a:prstGeom>
          <a:solidFill>
            <a:srgbClr val="E6EAF4"/>
          </a:solidFill>
          <a:ln>
            <a:noFill/>
          </a:ln>
        </p:spPr>
        <p:txBody>
          <a:bodyPr wrap="square" lIns="27432" tIns="18288" rIns="27432" bIns="18288" anchor="ctr" rtlCol="0">
            <a:noAutofit/>
          </a:bodyPr>
          <a:lstStyle/>
          <a:p>
            <a:pPr algn="ctr">
              <a:lnSpc>
                <a:spcPts val="1700"/>
              </a:lnSpc>
              <a:spcBef>
                <a:spcPts val="0"/>
              </a:spcBef>
              <a:spcAft>
                <a:spcPts val="0"/>
              </a:spcAft>
              <a:buNone/>
            </a:pPr>
            <a:r>
              <a:rPr lang="ko-KR" altLang="en-US" sz="1400" b="1" dirty="0">
                <a:solidFill>
                  <a:srgbClr val="1E2A5A"/>
                </a:solidFill>
                <a:latin typeface="맑은 고딕"/>
                <a:ea typeface="맑은 고딕"/>
                <a:cs typeface="맑은 고딕"/>
              </a:rPr>
              <a:t>PART 6 · 9</a:t>
            </a:r>
            <a:endParaRPr lang="ko-KR" sz="1400"/>
          </a:p>
        </p:txBody>
      </p:sp>
      <p:sp>
        <p:nvSpPr>
          <p:cNvPr id="4" name="hdr_q"/>
          <p:cNvSpPr txBox="1"/>
          <p:nvPr/>
        </p:nvSpPr>
        <p:spPr>
          <a:xfrm>
            <a:off x="3246120" y="246888"/>
            <a:ext cx="8485632" cy="548640"/>
          </a:xfrm>
          <a:prstGeom prst="rect">
            <a:avLst/>
          </a:prstGeom>
          <a:noFill/>
        </p:spPr>
        <p:txBody>
          <a:bodyPr wrap="square" lIns="109728" tIns="54864" rIns="109728" bIns="54864" anchor="ctr" rtlCol="0">
            <a:noAutofit/>
          </a:bodyPr>
          <a:lstStyle/>
          <a:p>
            <a:pPr algn="l">
              <a:lnSpc>
                <a:spcPts val="2400"/>
              </a:lnSpc>
              <a:spcBef>
                <a:spcPts val="0"/>
              </a:spcBef>
              <a:spcAft>
                <a:spcPts val="0"/>
              </a:spcAft>
              <a:buNone/>
            </a:pPr>
            <a:r>
              <a:rPr lang="ko-KR" altLang="en-US" sz="2000" b="1" dirty="0">
                <a:solidFill>
                  <a:srgbClr val="1F2328"/>
                </a:solidFill>
                <a:latin typeface="맑은 고딕"/>
                <a:ea typeface="맑은 고딕"/>
                <a:cs typeface="맑은 고딕"/>
              </a:rPr>
              <a:t>우리말에 맞게 (  ) 안의 말을 바르게 배열하시오.</a:t>
            </a:r>
            <a:endParaRPr lang="ko-KR" sz="2000"/>
          </a:p>
        </p:txBody>
      </p:sp>
      <p:sp>
        <p:nvSpPr>
          <p:cNvPr id="5" name="ftr_exam"/>
          <p:cNvSpPr txBox="1"/>
          <p:nvPr/>
        </p:nvSpPr>
        <p:spPr>
          <a:xfrm>
            <a:off x="457200" y="6519672"/>
            <a:ext cx="5669280" cy="256032"/>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8</a:t>
            </a:r>
            <a:endParaRPr lang="ko-KR" sz="1000"/>
          </a:p>
        </p:txBody>
      </p:sp>
      <p:sp>
        <p:nvSpPr>
          <p:cNvPr id="6" name="ftr_hint"/>
          <p:cNvSpPr txBox="1"/>
          <p:nvPr/>
        </p:nvSpPr>
        <p:spPr>
          <a:xfrm>
            <a:off x="5971032" y="6519672"/>
            <a:ext cx="5760720" cy="256032"/>
          </a:xfrm>
          <a:prstGeom prst="rect">
            <a:avLst/>
          </a:prstGeom>
          <a:noFill/>
        </p:spPr>
        <p:txBody>
          <a:bodyPr wrap="square" lIns="0" tIns="0" rIns="0" bIns="0" anchor="t" rtlCol="0">
            <a:noAutofit/>
          </a:bodyPr>
          <a:lstStyle/>
          <a:p>
            <a:pPr algn="r">
              <a:lnSpc>
                <a:spcPts val="1200"/>
              </a:lnSpc>
              <a:spcBef>
                <a:spcPts val="0"/>
              </a:spcBef>
              <a:spcAft>
                <a:spcPts val="0"/>
              </a:spcAft>
              <a:buNone/>
            </a:pPr>
            <a:r>
              <a:rPr lang="ko-KR" altLang="en-US" sz="1000" b="0" dirty="0">
                <a:solidFill>
                  <a:srgbClr val="7A808C"/>
                </a:solidFill>
                <a:latin typeface="맑은 고딕"/>
                <a:ea typeface="맑은 고딕"/>
                <a:cs typeface="맑은 고딕"/>
              </a:rPr>
              <a:t>클릭 ① 완성 문장(정답) 공개</a:t>
            </a:r>
            <a:endParaRPr lang="ko-KR" sz="1000"/>
          </a:p>
        </p:txBody>
      </p:sp>
      <p:sp>
        <p:nvSpPr>
          <p:cNvPr id="7" name="item_card_1"/>
          <p:cNvSpPr/>
          <p:nvPr/>
        </p:nvSpPr>
        <p:spPr>
          <a:xfrm>
            <a:off x="457200" y="950976"/>
            <a:ext cx="11274552" cy="1348232"/>
          </a:xfrm>
          <a:prstGeom prst="roundRect">
            <a:avLst>
              <a:gd name="adj" fmla="val 6000"/>
            </a:avLst>
          </a:prstGeom>
          <a:solidFill>
            <a:srgbClr val="F3F5F9"/>
          </a:solidFill>
          <a:ln w="12700">
            <a:solidFill>
              <a:srgbClr val="D9DFEA"/>
            </a:solidFill>
          </a:ln>
        </p:spPr>
        <p:txBody>
          <a:bodyPr rtlCol="0" anchor="ctr"/>
          <a:lstStyle/>
          <a:p>
            <a:pPr algn="ctr"/>
          </a:p>
        </p:txBody>
      </p:sp>
      <p:sp>
        <p:nvSpPr>
          <p:cNvPr id="8" name="kor_1"/>
          <p:cNvSpPr txBox="1"/>
          <p:nvPr/>
        </p:nvSpPr>
        <p:spPr>
          <a:xfrm>
            <a:off x="457200" y="1060704"/>
            <a:ext cx="11274552" cy="379603"/>
          </a:xfrm>
          <a:prstGeom prst="rect">
            <a:avLst/>
          </a:prstGeom>
          <a:noFill/>
        </p:spPr>
        <p:txBody>
          <a:bodyPr wrap="square" lIns="228600" tIns="54864" rIns="228600" bIns="54864" anchor="t" rtlCol="0">
            <a:noAutofit/>
          </a:bodyPr>
          <a:lstStyle/>
          <a:p>
            <a:pPr algn="l">
              <a:lnSpc>
                <a:spcPts val="2125"/>
              </a:lnSpc>
              <a:spcBef>
                <a:spcPts val="0"/>
              </a:spcBef>
              <a:spcAft>
                <a:spcPts val="0"/>
              </a:spcAft>
              <a:buNone/>
            </a:pPr>
            <a:r>
              <a:rPr lang="en-US" altLang="en-US" sz="1700" b="1" dirty="0">
                <a:solidFill>
                  <a:srgbClr val="1E2A5A"/>
                </a:solidFill>
                <a:latin typeface="Calibri"/>
                <a:ea typeface="맑은 고딕"/>
                <a:cs typeface="Calibri"/>
              </a:rPr>
              <a:t>1.  </a:t>
            </a:r>
            <a:r>
              <a:rPr lang="ko-KR" altLang="en-US" sz="1700" b="1" dirty="0">
                <a:solidFill>
                  <a:srgbClr val="1F2328"/>
                </a:solidFill>
                <a:latin typeface="맑은 고딕"/>
                <a:ea typeface="맑은 고딕"/>
                <a:cs typeface="맑은 고딕"/>
              </a:rPr>
              <a:t>문자도에 있는 상징적인 사물의 또 다른 예가 있다.</a:t>
            </a:r>
            <a:endParaRPr lang="ko-KR" sz="1700"/>
          </a:p>
        </p:txBody>
      </p:sp>
      <p:sp>
        <p:nvSpPr>
          <p:cNvPr id="9" name="ex_1"/>
          <p:cNvSpPr txBox="1"/>
          <p:nvPr/>
        </p:nvSpPr>
        <p:spPr>
          <a:xfrm>
            <a:off x="457200" y="1385443"/>
            <a:ext cx="11274552" cy="435483"/>
          </a:xfrm>
          <a:prstGeom prst="rect">
            <a:avLst/>
          </a:prstGeom>
          <a:noFill/>
        </p:spPr>
        <p:txBody>
          <a:bodyPr wrap="square" lIns="228600" tIns="54864" rIns="228600" bIns="54864" anchor="t" rtlCol="0">
            <a:noAutofit/>
          </a:bodyPr>
          <a:lstStyle/>
          <a:p>
            <a:pPr algn="l">
              <a:lnSpc>
                <a:spcPts val="2565"/>
              </a:lnSpc>
              <a:spcBef>
                <a:spcPts val="0"/>
              </a:spcBef>
              <a:spcAft>
                <a:spcPts val="0"/>
              </a:spcAft>
              <a:buNone/>
            </a:pP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There are</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in Munjado</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other examples</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of symbolic objects</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a:t>
            </a:r>
            <a:endParaRPr lang="ko-KR" sz="1900"/>
          </a:p>
        </p:txBody>
      </p:sp>
      <p:sp>
        <p:nvSpPr>
          <p:cNvPr id="10" name="rv_ans_1"/>
          <p:cNvSpPr txBox="1"/>
          <p:nvPr/>
        </p:nvSpPr>
        <p:spPr>
          <a:xfrm>
            <a:off x="594360" y="1857502"/>
            <a:ext cx="11000232" cy="423418"/>
          </a:xfrm>
          <a:prstGeom prst="rect">
            <a:avLst/>
          </a:prstGeom>
          <a:solidFill>
            <a:srgbClr val="FFF3C4"/>
          </a:solidFill>
        </p:spPr>
        <p:txBody>
          <a:bodyPr wrap="square" lIns="137160" tIns="54864" rIns="137160" bIns="54864" anchor="t" rtlCol="0">
            <a:noAutofit/>
          </a:bodyPr>
          <a:lstStyle/>
          <a:p>
            <a:pPr algn="l">
              <a:lnSpc>
                <a:spcPts val="2470"/>
              </a:lnSpc>
              <a:spcBef>
                <a:spcPts val="0"/>
              </a:spcBef>
              <a:spcAft>
                <a:spcPts val="0"/>
              </a:spcAft>
              <a:buNone/>
            </a:pPr>
            <a:r>
              <a:rPr lang="en-US" altLang="en-US" sz="1900" b="1" dirty="0">
                <a:solidFill>
                  <a:srgbClr val="C00000"/>
                </a:solidFill>
                <a:latin typeface="Calibri"/>
                <a:ea typeface="맑은 고딕"/>
                <a:cs typeface="Calibri"/>
              </a:rPr>
              <a:t>→  </a:t>
            </a:r>
            <a:r>
              <a:rPr lang="en-US" altLang="en-US" sz="1900" b="1" dirty="0">
                <a:solidFill>
                  <a:srgbClr val="C00000"/>
                </a:solidFill>
                <a:latin typeface="Calibri"/>
                <a:ea typeface="맑은 고딕"/>
                <a:cs typeface="Calibri"/>
              </a:rPr>
              <a:t>There are other examples of symbolic objects in Munjado.</a:t>
            </a:r>
            <a:endParaRPr lang="ko-KR" sz="1900"/>
          </a:p>
        </p:txBody>
      </p:sp>
      <p:sp>
        <p:nvSpPr>
          <p:cNvPr id="11" name="item_card_2"/>
          <p:cNvSpPr/>
          <p:nvPr/>
        </p:nvSpPr>
        <p:spPr>
          <a:xfrm>
            <a:off x="457200" y="2408936"/>
            <a:ext cx="11274552" cy="1987677"/>
          </a:xfrm>
          <a:prstGeom prst="roundRect">
            <a:avLst>
              <a:gd name="adj" fmla="val 6000"/>
            </a:avLst>
          </a:prstGeom>
          <a:solidFill>
            <a:srgbClr val="F3F5F9"/>
          </a:solidFill>
          <a:ln w="12700">
            <a:solidFill>
              <a:srgbClr val="D9DFEA"/>
            </a:solidFill>
          </a:ln>
        </p:spPr>
        <p:txBody>
          <a:bodyPr rtlCol="0" anchor="ctr"/>
          <a:lstStyle/>
          <a:p>
            <a:pPr algn="ctr"/>
          </a:p>
        </p:txBody>
      </p:sp>
      <p:sp>
        <p:nvSpPr>
          <p:cNvPr id="12" name="kor_2"/>
          <p:cNvSpPr txBox="1"/>
          <p:nvPr/>
        </p:nvSpPr>
        <p:spPr>
          <a:xfrm>
            <a:off x="457200" y="2518664"/>
            <a:ext cx="11274552" cy="379603"/>
          </a:xfrm>
          <a:prstGeom prst="rect">
            <a:avLst/>
          </a:prstGeom>
          <a:noFill/>
        </p:spPr>
        <p:txBody>
          <a:bodyPr wrap="square" lIns="228600" tIns="54864" rIns="228600" bIns="54864" anchor="t" rtlCol="0">
            <a:noAutofit/>
          </a:bodyPr>
          <a:lstStyle/>
          <a:p>
            <a:pPr algn="l">
              <a:lnSpc>
                <a:spcPts val="2125"/>
              </a:lnSpc>
              <a:spcBef>
                <a:spcPts val="0"/>
              </a:spcBef>
              <a:spcAft>
                <a:spcPts val="0"/>
              </a:spcAft>
              <a:buNone/>
            </a:pPr>
            <a:r>
              <a:rPr lang="en-US" altLang="en-US" sz="1700" b="1" dirty="0">
                <a:solidFill>
                  <a:srgbClr val="1E2A5A"/>
                </a:solidFill>
                <a:latin typeface="Calibri"/>
                <a:ea typeface="맑은 고딕"/>
                <a:cs typeface="Calibri"/>
              </a:rPr>
              <a:t>2.  </a:t>
            </a:r>
            <a:r>
              <a:rPr lang="ko-KR" altLang="en-US" sz="1700" b="1" dirty="0">
                <a:solidFill>
                  <a:srgbClr val="1F2328"/>
                </a:solidFill>
                <a:latin typeface="맑은 고딕"/>
                <a:ea typeface="맑은 고딕"/>
                <a:cs typeface="맑은 고딕"/>
              </a:rPr>
              <a:t>글자 '충(忠)' 그림에 있는 대나무와 '의(義)' 그림에 있는 연꽃이다.</a:t>
            </a:r>
            <a:endParaRPr lang="ko-KR" sz="1700"/>
          </a:p>
        </p:txBody>
      </p:sp>
      <p:sp>
        <p:nvSpPr>
          <p:cNvPr id="13" name="ex_2"/>
          <p:cNvSpPr txBox="1"/>
          <p:nvPr/>
        </p:nvSpPr>
        <p:spPr>
          <a:xfrm>
            <a:off x="457200" y="2843403"/>
            <a:ext cx="11274552" cy="761238"/>
          </a:xfrm>
          <a:prstGeom prst="rect">
            <a:avLst/>
          </a:prstGeom>
          <a:noFill/>
        </p:spPr>
        <p:txBody>
          <a:bodyPr wrap="square" lIns="228600" tIns="54864" rIns="228600" bIns="54864" anchor="t" rtlCol="0">
            <a:noAutofit/>
          </a:bodyPr>
          <a:lstStyle/>
          <a:p>
            <a:pPr algn="l">
              <a:lnSpc>
                <a:spcPts val="2565"/>
              </a:lnSpc>
              <a:spcBef>
                <a:spcPts val="0"/>
              </a:spcBef>
              <a:spcAft>
                <a:spcPts val="0"/>
              </a:spcAft>
              <a:buNone/>
            </a:pPr>
            <a:r>
              <a:rPr lang="en-US" altLang="en-US" sz="1900" b="0" dirty="0">
                <a:solidFill>
                  <a:srgbClr val="1F2328"/>
                </a:solidFill>
                <a:latin typeface="Calibri"/>
                <a:ea typeface="맑은 고딕"/>
                <a:cs typeface="Calibri"/>
              </a:rPr>
              <a:t>They are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the character chung (忠)</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bamboo</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in the paintings of</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 and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ui (義)</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in the paintings of</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lotus flowers</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a:t>
            </a:r>
            <a:endParaRPr lang="ko-KR" sz="1900"/>
          </a:p>
        </p:txBody>
      </p:sp>
      <p:sp>
        <p:nvSpPr>
          <p:cNvPr id="14" name="rv_ans_2"/>
          <p:cNvSpPr txBox="1"/>
          <p:nvPr/>
        </p:nvSpPr>
        <p:spPr>
          <a:xfrm>
            <a:off x="594360" y="3641217"/>
            <a:ext cx="11000232" cy="737108"/>
          </a:xfrm>
          <a:prstGeom prst="rect">
            <a:avLst/>
          </a:prstGeom>
          <a:solidFill>
            <a:srgbClr val="FFF3C4"/>
          </a:solidFill>
        </p:spPr>
        <p:txBody>
          <a:bodyPr wrap="square" lIns="137160" tIns="54864" rIns="137160" bIns="54864" anchor="t" rtlCol="0">
            <a:noAutofit/>
          </a:bodyPr>
          <a:lstStyle/>
          <a:p>
            <a:pPr algn="l">
              <a:lnSpc>
                <a:spcPts val="2470"/>
              </a:lnSpc>
              <a:spcBef>
                <a:spcPts val="0"/>
              </a:spcBef>
              <a:spcAft>
                <a:spcPts val="0"/>
              </a:spcAft>
              <a:buNone/>
            </a:pPr>
            <a:r>
              <a:rPr lang="en-US" altLang="en-US" sz="1900" b="1" dirty="0">
                <a:solidFill>
                  <a:srgbClr val="C00000"/>
                </a:solidFill>
                <a:latin typeface="Calibri"/>
                <a:ea typeface="맑은 고딕"/>
                <a:cs typeface="Calibri"/>
              </a:rPr>
              <a:t>→  </a:t>
            </a:r>
            <a:r>
              <a:rPr lang="en-US" altLang="en-US" sz="1900" b="1" dirty="0">
                <a:solidFill>
                  <a:srgbClr val="C00000"/>
                </a:solidFill>
                <a:latin typeface="Calibri"/>
                <a:ea typeface="맑은 고딕"/>
                <a:cs typeface="Calibri"/>
              </a:rPr>
              <a:t>They are bamboo in the paintings of the character chung (忠) and lotus flowers in the paintings of ui (義).</a:t>
            </a:r>
            <a:endParaRPr lang="ko-KR" sz="19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25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2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4" grpId="0" animBg="1"/>
    </p:bldLst>
  </p:timing>
</p:sld>
</file>

<file path=ppt/slides/slide30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8000"/>
            </a:avLst>
          </a:prstGeom>
          <a:solidFill>
            <a:srgbClr val="1E2A5A"/>
          </a:solidFill>
          <a:ln>
            <a:noFill/>
          </a:ln>
        </p:spPr>
        <p:txBody>
          <a:bodyPr wrap="square" lIns="45720" tIns="18288" rIns="45720" bIns="18288" anchor="ctr" rtlCol="0">
            <a:noAutofit/>
          </a:bodyPr>
          <a:lstStyle/>
          <a:p>
            <a:pPr algn="ctr">
              <a:lnSpc>
                <a:spcPts val="2000"/>
              </a:lnSpc>
              <a:spcBef>
                <a:spcPts val="0"/>
              </a:spcBef>
              <a:spcAft>
                <a:spcPts val="0"/>
              </a:spcAft>
              <a:buNone/>
            </a:pPr>
            <a:r>
              <a:rPr lang="en-US" altLang="en-US" sz="1700" b="1" dirty="0">
                <a:solidFill>
                  <a:srgbClr val="FFFFFF"/>
                </a:solidFill>
                <a:latin typeface="Calibri"/>
                <a:ea typeface="맑은 고딕"/>
                <a:cs typeface="Calibri"/>
              </a:rPr>
              <a:t>L8-3</a:t>
            </a:r>
            <a:endParaRPr lang="ko-KR" sz="1700"/>
          </a:p>
        </p:txBody>
      </p:sp>
      <p:sp>
        <p:nvSpPr>
          <p:cNvPr id="3" name="hdr_chip"/>
          <p:cNvSpPr/>
          <p:nvPr/>
        </p:nvSpPr>
        <p:spPr>
          <a:xfrm>
            <a:off x="1755648" y="274320"/>
            <a:ext cx="1371600" cy="493776"/>
          </a:xfrm>
          <a:prstGeom prst="roundRect">
            <a:avLst>
              <a:gd name="adj" fmla="val 8000"/>
            </a:avLst>
          </a:prstGeom>
          <a:solidFill>
            <a:srgbClr val="E6EAF4"/>
          </a:solidFill>
          <a:ln>
            <a:noFill/>
          </a:ln>
        </p:spPr>
        <p:txBody>
          <a:bodyPr wrap="square" lIns="27432" tIns="18288" rIns="27432" bIns="18288" anchor="ctr" rtlCol="0">
            <a:noAutofit/>
          </a:bodyPr>
          <a:lstStyle/>
          <a:p>
            <a:pPr algn="ctr">
              <a:lnSpc>
                <a:spcPts val="1700"/>
              </a:lnSpc>
              <a:spcBef>
                <a:spcPts val="0"/>
              </a:spcBef>
              <a:spcAft>
                <a:spcPts val="0"/>
              </a:spcAft>
              <a:buNone/>
            </a:pPr>
            <a:r>
              <a:rPr lang="ko-KR" altLang="en-US" sz="1400" b="1" dirty="0">
                <a:solidFill>
                  <a:srgbClr val="1E2A5A"/>
                </a:solidFill>
                <a:latin typeface="맑은 고딕"/>
                <a:ea typeface="맑은 고딕"/>
                <a:cs typeface="맑은 고딕"/>
              </a:rPr>
              <a:t>PART 6 · 10</a:t>
            </a:r>
            <a:endParaRPr lang="ko-KR" sz="1400"/>
          </a:p>
        </p:txBody>
      </p:sp>
      <p:sp>
        <p:nvSpPr>
          <p:cNvPr id="4" name="hdr_q"/>
          <p:cNvSpPr txBox="1"/>
          <p:nvPr/>
        </p:nvSpPr>
        <p:spPr>
          <a:xfrm>
            <a:off x="3246120" y="246888"/>
            <a:ext cx="8485632" cy="548640"/>
          </a:xfrm>
          <a:prstGeom prst="rect">
            <a:avLst/>
          </a:prstGeom>
          <a:noFill/>
        </p:spPr>
        <p:txBody>
          <a:bodyPr wrap="square" lIns="109728" tIns="54864" rIns="109728" bIns="54864" anchor="ctr" rtlCol="0">
            <a:noAutofit/>
          </a:bodyPr>
          <a:lstStyle/>
          <a:p>
            <a:pPr algn="l">
              <a:lnSpc>
                <a:spcPts val="2400"/>
              </a:lnSpc>
              <a:spcBef>
                <a:spcPts val="0"/>
              </a:spcBef>
              <a:spcAft>
                <a:spcPts val="0"/>
              </a:spcAft>
              <a:buNone/>
            </a:pPr>
            <a:r>
              <a:rPr lang="ko-KR" altLang="en-US" sz="2000" b="1" dirty="0">
                <a:solidFill>
                  <a:srgbClr val="1F2328"/>
                </a:solidFill>
                <a:latin typeface="맑은 고딕"/>
                <a:ea typeface="맑은 고딕"/>
                <a:cs typeface="맑은 고딕"/>
              </a:rPr>
              <a:t>우리말에 맞게 (  ) 안의 말을 바르게 배열하시오.</a:t>
            </a:r>
            <a:endParaRPr lang="ko-KR" sz="2000"/>
          </a:p>
        </p:txBody>
      </p:sp>
      <p:sp>
        <p:nvSpPr>
          <p:cNvPr id="5" name="ftr_exam"/>
          <p:cNvSpPr txBox="1"/>
          <p:nvPr/>
        </p:nvSpPr>
        <p:spPr>
          <a:xfrm>
            <a:off x="457200" y="6519672"/>
            <a:ext cx="5669280" cy="256032"/>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8</a:t>
            </a:r>
            <a:endParaRPr lang="ko-KR" sz="1000"/>
          </a:p>
        </p:txBody>
      </p:sp>
      <p:sp>
        <p:nvSpPr>
          <p:cNvPr id="6" name="ftr_hint"/>
          <p:cNvSpPr txBox="1"/>
          <p:nvPr/>
        </p:nvSpPr>
        <p:spPr>
          <a:xfrm>
            <a:off x="5971032" y="6519672"/>
            <a:ext cx="5760720" cy="256032"/>
          </a:xfrm>
          <a:prstGeom prst="rect">
            <a:avLst/>
          </a:prstGeom>
          <a:noFill/>
        </p:spPr>
        <p:txBody>
          <a:bodyPr wrap="square" lIns="0" tIns="0" rIns="0" bIns="0" anchor="t" rtlCol="0">
            <a:noAutofit/>
          </a:bodyPr>
          <a:lstStyle/>
          <a:p>
            <a:pPr algn="r">
              <a:lnSpc>
                <a:spcPts val="1200"/>
              </a:lnSpc>
              <a:spcBef>
                <a:spcPts val="0"/>
              </a:spcBef>
              <a:spcAft>
                <a:spcPts val="0"/>
              </a:spcAft>
              <a:buNone/>
            </a:pPr>
            <a:r>
              <a:rPr lang="ko-KR" altLang="en-US" sz="1000" b="0" dirty="0">
                <a:solidFill>
                  <a:srgbClr val="7A808C"/>
                </a:solidFill>
                <a:latin typeface="맑은 고딕"/>
                <a:ea typeface="맑은 고딕"/>
                <a:cs typeface="맑은 고딕"/>
              </a:rPr>
              <a:t>클릭 ① 완성 문장(정답) 공개</a:t>
            </a:r>
            <a:endParaRPr lang="ko-KR" sz="1000"/>
          </a:p>
        </p:txBody>
      </p:sp>
      <p:sp>
        <p:nvSpPr>
          <p:cNvPr id="7" name="item_card_1"/>
          <p:cNvSpPr/>
          <p:nvPr/>
        </p:nvSpPr>
        <p:spPr>
          <a:xfrm>
            <a:off x="457200" y="950976"/>
            <a:ext cx="11274552" cy="1348232"/>
          </a:xfrm>
          <a:prstGeom prst="roundRect">
            <a:avLst>
              <a:gd name="adj" fmla="val 6000"/>
            </a:avLst>
          </a:prstGeom>
          <a:solidFill>
            <a:srgbClr val="F3F5F9"/>
          </a:solidFill>
          <a:ln w="12700">
            <a:solidFill>
              <a:srgbClr val="D9DFEA"/>
            </a:solidFill>
          </a:ln>
        </p:spPr>
        <p:txBody>
          <a:bodyPr rtlCol="0" anchor="ctr"/>
          <a:lstStyle/>
          <a:p>
            <a:pPr algn="ctr"/>
          </a:p>
        </p:txBody>
      </p:sp>
      <p:sp>
        <p:nvSpPr>
          <p:cNvPr id="8" name="kor_1"/>
          <p:cNvSpPr txBox="1"/>
          <p:nvPr/>
        </p:nvSpPr>
        <p:spPr>
          <a:xfrm>
            <a:off x="457200" y="1060704"/>
            <a:ext cx="11274552" cy="379603"/>
          </a:xfrm>
          <a:prstGeom prst="rect">
            <a:avLst/>
          </a:prstGeom>
          <a:noFill/>
        </p:spPr>
        <p:txBody>
          <a:bodyPr wrap="square" lIns="228600" tIns="54864" rIns="228600" bIns="54864" anchor="t" rtlCol="0">
            <a:noAutofit/>
          </a:bodyPr>
          <a:lstStyle/>
          <a:p>
            <a:pPr algn="l">
              <a:lnSpc>
                <a:spcPts val="2125"/>
              </a:lnSpc>
              <a:spcBef>
                <a:spcPts val="0"/>
              </a:spcBef>
              <a:spcAft>
                <a:spcPts val="0"/>
              </a:spcAft>
              <a:buNone/>
            </a:pPr>
            <a:r>
              <a:rPr lang="en-US" altLang="en-US" sz="1700" b="1" dirty="0">
                <a:solidFill>
                  <a:srgbClr val="1E2A5A"/>
                </a:solidFill>
                <a:latin typeface="Calibri"/>
                <a:ea typeface="맑은 고딕"/>
                <a:cs typeface="Calibri"/>
              </a:rPr>
              <a:t>3.  </a:t>
            </a:r>
            <a:r>
              <a:rPr lang="ko-KR" altLang="en-US" sz="1700" b="1" dirty="0">
                <a:solidFill>
                  <a:srgbClr val="1F2328"/>
                </a:solidFill>
                <a:latin typeface="맑은 고딕"/>
                <a:ea typeface="맑은 고딕"/>
                <a:cs typeface="맑은 고딕"/>
              </a:rPr>
              <a:t>대나무는 구부러지지 않는다. 그것은 어떤 날씨에서도 푸르름을 유지한다.</a:t>
            </a:r>
            <a:endParaRPr lang="ko-KR" sz="1700"/>
          </a:p>
        </p:txBody>
      </p:sp>
      <p:sp>
        <p:nvSpPr>
          <p:cNvPr id="9" name="ex_1"/>
          <p:cNvSpPr txBox="1"/>
          <p:nvPr/>
        </p:nvSpPr>
        <p:spPr>
          <a:xfrm>
            <a:off x="457200" y="1385443"/>
            <a:ext cx="11274552" cy="435483"/>
          </a:xfrm>
          <a:prstGeom prst="rect">
            <a:avLst/>
          </a:prstGeom>
          <a:noFill/>
        </p:spPr>
        <p:txBody>
          <a:bodyPr wrap="square" lIns="228600" tIns="54864" rIns="228600" bIns="54864" anchor="t" rtlCol="0">
            <a:noAutofit/>
          </a:bodyPr>
          <a:lstStyle/>
          <a:p>
            <a:pPr algn="l">
              <a:lnSpc>
                <a:spcPts val="2565"/>
              </a:lnSpc>
              <a:spcBef>
                <a:spcPts val="0"/>
              </a:spcBef>
              <a:spcAft>
                <a:spcPts val="0"/>
              </a:spcAft>
              <a:buNone/>
            </a:pP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does not</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bend</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Bamboo</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in all kinds of weather</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green</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stays</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It</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a:t>
            </a:r>
            <a:endParaRPr lang="ko-KR" sz="1900"/>
          </a:p>
        </p:txBody>
      </p:sp>
      <p:sp>
        <p:nvSpPr>
          <p:cNvPr id="10" name="rv_ans_1"/>
          <p:cNvSpPr txBox="1"/>
          <p:nvPr/>
        </p:nvSpPr>
        <p:spPr>
          <a:xfrm>
            <a:off x="594360" y="1857502"/>
            <a:ext cx="11000232" cy="423418"/>
          </a:xfrm>
          <a:prstGeom prst="rect">
            <a:avLst/>
          </a:prstGeom>
          <a:solidFill>
            <a:srgbClr val="FFF3C4"/>
          </a:solidFill>
        </p:spPr>
        <p:txBody>
          <a:bodyPr wrap="square" lIns="137160" tIns="54864" rIns="137160" bIns="54864" anchor="t" rtlCol="0">
            <a:noAutofit/>
          </a:bodyPr>
          <a:lstStyle/>
          <a:p>
            <a:pPr algn="l">
              <a:lnSpc>
                <a:spcPts val="2470"/>
              </a:lnSpc>
              <a:spcBef>
                <a:spcPts val="0"/>
              </a:spcBef>
              <a:spcAft>
                <a:spcPts val="0"/>
              </a:spcAft>
              <a:buNone/>
            </a:pPr>
            <a:r>
              <a:rPr lang="en-US" altLang="en-US" sz="1900" b="1" dirty="0">
                <a:solidFill>
                  <a:srgbClr val="C00000"/>
                </a:solidFill>
                <a:latin typeface="Calibri"/>
                <a:ea typeface="맑은 고딕"/>
                <a:cs typeface="Calibri"/>
              </a:rPr>
              <a:t>→  </a:t>
            </a:r>
            <a:r>
              <a:rPr lang="en-US" altLang="en-US" sz="1900" b="1" dirty="0">
                <a:solidFill>
                  <a:srgbClr val="C00000"/>
                </a:solidFill>
                <a:latin typeface="Calibri"/>
                <a:ea typeface="맑은 고딕"/>
                <a:cs typeface="Calibri"/>
              </a:rPr>
              <a:t>Bamboo does not bend. It stays green in all kinds of weather.</a:t>
            </a:r>
            <a:endParaRPr lang="ko-KR" sz="1900"/>
          </a:p>
        </p:txBody>
      </p:sp>
      <p:sp>
        <p:nvSpPr>
          <p:cNvPr id="11" name="item_card_2"/>
          <p:cNvSpPr/>
          <p:nvPr/>
        </p:nvSpPr>
        <p:spPr>
          <a:xfrm>
            <a:off x="457200" y="2408936"/>
            <a:ext cx="11274552" cy="1348232"/>
          </a:xfrm>
          <a:prstGeom prst="roundRect">
            <a:avLst>
              <a:gd name="adj" fmla="val 6000"/>
            </a:avLst>
          </a:prstGeom>
          <a:solidFill>
            <a:srgbClr val="F3F5F9"/>
          </a:solidFill>
          <a:ln w="12700">
            <a:solidFill>
              <a:srgbClr val="D9DFEA"/>
            </a:solidFill>
          </a:ln>
        </p:spPr>
        <p:txBody>
          <a:bodyPr rtlCol="0" anchor="ctr"/>
          <a:lstStyle/>
          <a:p>
            <a:pPr algn="ctr"/>
          </a:p>
        </p:txBody>
      </p:sp>
      <p:sp>
        <p:nvSpPr>
          <p:cNvPr id="12" name="kor_2"/>
          <p:cNvSpPr txBox="1"/>
          <p:nvPr/>
        </p:nvSpPr>
        <p:spPr>
          <a:xfrm>
            <a:off x="457200" y="2518664"/>
            <a:ext cx="11274552" cy="379603"/>
          </a:xfrm>
          <a:prstGeom prst="rect">
            <a:avLst/>
          </a:prstGeom>
          <a:noFill/>
        </p:spPr>
        <p:txBody>
          <a:bodyPr wrap="square" lIns="228600" tIns="54864" rIns="228600" bIns="54864" anchor="t" rtlCol="0">
            <a:noAutofit/>
          </a:bodyPr>
          <a:lstStyle/>
          <a:p>
            <a:pPr algn="l">
              <a:lnSpc>
                <a:spcPts val="2125"/>
              </a:lnSpc>
              <a:spcBef>
                <a:spcPts val="0"/>
              </a:spcBef>
              <a:spcAft>
                <a:spcPts val="0"/>
              </a:spcAft>
              <a:buNone/>
            </a:pPr>
            <a:r>
              <a:rPr lang="en-US" altLang="en-US" sz="1700" b="1" dirty="0">
                <a:solidFill>
                  <a:srgbClr val="1E2A5A"/>
                </a:solidFill>
                <a:latin typeface="Calibri"/>
                <a:ea typeface="맑은 고딕"/>
                <a:cs typeface="Calibri"/>
              </a:rPr>
              <a:t>4.  </a:t>
            </a:r>
            <a:r>
              <a:rPr lang="ko-KR" altLang="en-US" sz="1700" b="1" dirty="0">
                <a:solidFill>
                  <a:srgbClr val="1F2328"/>
                </a:solidFill>
                <a:latin typeface="맑은 고딕"/>
                <a:ea typeface="맑은 고딕"/>
                <a:cs typeface="맑은 고딕"/>
              </a:rPr>
              <a:t>이런 이유로, 대나무는 왕에 대한 충성심을 상징하게 되었다.</a:t>
            </a:r>
            <a:endParaRPr lang="ko-KR" sz="1700"/>
          </a:p>
        </p:txBody>
      </p:sp>
      <p:sp>
        <p:nvSpPr>
          <p:cNvPr id="13" name="ex_2"/>
          <p:cNvSpPr txBox="1"/>
          <p:nvPr/>
        </p:nvSpPr>
        <p:spPr>
          <a:xfrm>
            <a:off x="457200" y="2843403"/>
            <a:ext cx="11274552" cy="435483"/>
          </a:xfrm>
          <a:prstGeom prst="rect">
            <a:avLst/>
          </a:prstGeom>
          <a:noFill/>
        </p:spPr>
        <p:txBody>
          <a:bodyPr wrap="square" lIns="228600" tIns="54864" rIns="228600" bIns="54864" anchor="t" rtlCol="0">
            <a:noAutofit/>
          </a:bodyPr>
          <a:lstStyle/>
          <a:p>
            <a:pPr algn="l">
              <a:lnSpc>
                <a:spcPts val="2565"/>
              </a:lnSpc>
              <a:spcBef>
                <a:spcPts val="0"/>
              </a:spcBef>
              <a:spcAft>
                <a:spcPts val="0"/>
              </a:spcAft>
              <a:buNone/>
            </a:pPr>
            <a:r>
              <a:rPr lang="en-US" altLang="en-US" sz="1900" b="0" dirty="0">
                <a:solidFill>
                  <a:srgbClr val="1F2328"/>
                </a:solidFill>
                <a:latin typeface="Calibri"/>
                <a:ea typeface="맑은 고딕"/>
                <a:cs typeface="Calibri"/>
              </a:rPr>
              <a:t>For these reasons,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symbolize</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came to</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bamboo</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loyalty to the king</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a:t>
            </a:r>
            <a:endParaRPr lang="ko-KR" sz="1900"/>
          </a:p>
        </p:txBody>
      </p:sp>
      <p:sp>
        <p:nvSpPr>
          <p:cNvPr id="14" name="rv_ans_2"/>
          <p:cNvSpPr txBox="1"/>
          <p:nvPr/>
        </p:nvSpPr>
        <p:spPr>
          <a:xfrm>
            <a:off x="594360" y="3315462"/>
            <a:ext cx="11000232" cy="423418"/>
          </a:xfrm>
          <a:prstGeom prst="rect">
            <a:avLst/>
          </a:prstGeom>
          <a:solidFill>
            <a:srgbClr val="FFF3C4"/>
          </a:solidFill>
        </p:spPr>
        <p:txBody>
          <a:bodyPr wrap="square" lIns="137160" tIns="54864" rIns="137160" bIns="54864" anchor="t" rtlCol="0">
            <a:noAutofit/>
          </a:bodyPr>
          <a:lstStyle/>
          <a:p>
            <a:pPr algn="l">
              <a:lnSpc>
                <a:spcPts val="2470"/>
              </a:lnSpc>
              <a:spcBef>
                <a:spcPts val="0"/>
              </a:spcBef>
              <a:spcAft>
                <a:spcPts val="0"/>
              </a:spcAft>
              <a:buNone/>
            </a:pPr>
            <a:r>
              <a:rPr lang="en-US" altLang="en-US" sz="1900" b="1" dirty="0">
                <a:solidFill>
                  <a:srgbClr val="C00000"/>
                </a:solidFill>
                <a:latin typeface="Calibri"/>
                <a:ea typeface="맑은 고딕"/>
                <a:cs typeface="Calibri"/>
              </a:rPr>
              <a:t>→  </a:t>
            </a:r>
            <a:r>
              <a:rPr lang="en-US" altLang="en-US" sz="1900" b="1" dirty="0">
                <a:solidFill>
                  <a:srgbClr val="C00000"/>
                </a:solidFill>
                <a:latin typeface="Calibri"/>
                <a:ea typeface="맑은 고딕"/>
                <a:cs typeface="Calibri"/>
              </a:rPr>
              <a:t>For these reasons, bamboo came to symbolize loyalty to the king.</a:t>
            </a:r>
            <a:endParaRPr lang="ko-KR" sz="19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25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2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4" grpId="0" animBg="1"/>
    </p:bldLst>
  </p:timing>
</p:sld>
</file>

<file path=ppt/slides/slide30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8000"/>
            </a:avLst>
          </a:prstGeom>
          <a:solidFill>
            <a:srgbClr val="1E2A5A"/>
          </a:solidFill>
          <a:ln>
            <a:noFill/>
          </a:ln>
        </p:spPr>
        <p:txBody>
          <a:bodyPr wrap="square" lIns="45720" tIns="18288" rIns="45720" bIns="18288" anchor="ctr" rtlCol="0">
            <a:noAutofit/>
          </a:bodyPr>
          <a:lstStyle/>
          <a:p>
            <a:pPr algn="ctr">
              <a:lnSpc>
                <a:spcPts val="2000"/>
              </a:lnSpc>
              <a:spcBef>
                <a:spcPts val="0"/>
              </a:spcBef>
              <a:spcAft>
                <a:spcPts val="0"/>
              </a:spcAft>
              <a:buNone/>
            </a:pPr>
            <a:r>
              <a:rPr lang="en-US" altLang="en-US" sz="1700" b="1" dirty="0">
                <a:solidFill>
                  <a:srgbClr val="FFFFFF"/>
                </a:solidFill>
                <a:latin typeface="Calibri"/>
                <a:ea typeface="맑은 고딕"/>
                <a:cs typeface="Calibri"/>
              </a:rPr>
              <a:t>L8-3</a:t>
            </a:r>
            <a:endParaRPr lang="ko-KR" sz="1700"/>
          </a:p>
        </p:txBody>
      </p:sp>
      <p:sp>
        <p:nvSpPr>
          <p:cNvPr id="3" name="hdr_chip"/>
          <p:cNvSpPr/>
          <p:nvPr/>
        </p:nvSpPr>
        <p:spPr>
          <a:xfrm>
            <a:off x="1755648" y="274320"/>
            <a:ext cx="1371600" cy="493776"/>
          </a:xfrm>
          <a:prstGeom prst="roundRect">
            <a:avLst>
              <a:gd name="adj" fmla="val 8000"/>
            </a:avLst>
          </a:prstGeom>
          <a:solidFill>
            <a:srgbClr val="E6EAF4"/>
          </a:solidFill>
          <a:ln>
            <a:noFill/>
          </a:ln>
        </p:spPr>
        <p:txBody>
          <a:bodyPr wrap="square" lIns="27432" tIns="18288" rIns="27432" bIns="18288" anchor="ctr" rtlCol="0">
            <a:noAutofit/>
          </a:bodyPr>
          <a:lstStyle/>
          <a:p>
            <a:pPr algn="ctr">
              <a:lnSpc>
                <a:spcPts val="1700"/>
              </a:lnSpc>
              <a:spcBef>
                <a:spcPts val="0"/>
              </a:spcBef>
              <a:spcAft>
                <a:spcPts val="0"/>
              </a:spcAft>
              <a:buNone/>
            </a:pPr>
            <a:r>
              <a:rPr lang="ko-KR" altLang="en-US" sz="1400" b="1" dirty="0">
                <a:solidFill>
                  <a:srgbClr val="1E2A5A"/>
                </a:solidFill>
                <a:latin typeface="맑은 고딕"/>
                <a:ea typeface="맑은 고딕"/>
                <a:cs typeface="맑은 고딕"/>
              </a:rPr>
              <a:t>PART 6 · 11</a:t>
            </a:r>
            <a:endParaRPr lang="ko-KR" sz="1400"/>
          </a:p>
        </p:txBody>
      </p:sp>
      <p:sp>
        <p:nvSpPr>
          <p:cNvPr id="4" name="hdr_q"/>
          <p:cNvSpPr txBox="1"/>
          <p:nvPr/>
        </p:nvSpPr>
        <p:spPr>
          <a:xfrm>
            <a:off x="3246120" y="246888"/>
            <a:ext cx="8485632" cy="548640"/>
          </a:xfrm>
          <a:prstGeom prst="rect">
            <a:avLst/>
          </a:prstGeom>
          <a:noFill/>
        </p:spPr>
        <p:txBody>
          <a:bodyPr wrap="square" lIns="109728" tIns="54864" rIns="109728" bIns="54864" anchor="ctr" rtlCol="0">
            <a:noAutofit/>
          </a:bodyPr>
          <a:lstStyle/>
          <a:p>
            <a:pPr algn="l">
              <a:lnSpc>
                <a:spcPts val="2400"/>
              </a:lnSpc>
              <a:spcBef>
                <a:spcPts val="0"/>
              </a:spcBef>
              <a:spcAft>
                <a:spcPts val="0"/>
              </a:spcAft>
              <a:buNone/>
            </a:pPr>
            <a:r>
              <a:rPr lang="ko-KR" altLang="en-US" sz="2000" b="1" dirty="0">
                <a:solidFill>
                  <a:srgbClr val="1F2328"/>
                </a:solidFill>
                <a:latin typeface="맑은 고딕"/>
                <a:ea typeface="맑은 고딕"/>
                <a:cs typeface="맑은 고딕"/>
              </a:rPr>
              <a:t>우리말에 맞게 (  ) 안의 말을 바르게 배열하시오.</a:t>
            </a:r>
            <a:endParaRPr lang="ko-KR" sz="2000"/>
          </a:p>
        </p:txBody>
      </p:sp>
      <p:sp>
        <p:nvSpPr>
          <p:cNvPr id="5" name="ftr_exam"/>
          <p:cNvSpPr txBox="1"/>
          <p:nvPr/>
        </p:nvSpPr>
        <p:spPr>
          <a:xfrm>
            <a:off x="457200" y="6519672"/>
            <a:ext cx="5669280" cy="256032"/>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8</a:t>
            </a:r>
            <a:endParaRPr lang="ko-KR" sz="1000"/>
          </a:p>
        </p:txBody>
      </p:sp>
      <p:sp>
        <p:nvSpPr>
          <p:cNvPr id="6" name="ftr_hint"/>
          <p:cNvSpPr txBox="1"/>
          <p:nvPr/>
        </p:nvSpPr>
        <p:spPr>
          <a:xfrm>
            <a:off x="5971032" y="6519672"/>
            <a:ext cx="5760720" cy="256032"/>
          </a:xfrm>
          <a:prstGeom prst="rect">
            <a:avLst/>
          </a:prstGeom>
          <a:noFill/>
        </p:spPr>
        <p:txBody>
          <a:bodyPr wrap="square" lIns="0" tIns="0" rIns="0" bIns="0" anchor="t" rtlCol="0">
            <a:noAutofit/>
          </a:bodyPr>
          <a:lstStyle/>
          <a:p>
            <a:pPr algn="r">
              <a:lnSpc>
                <a:spcPts val="1200"/>
              </a:lnSpc>
              <a:spcBef>
                <a:spcPts val="0"/>
              </a:spcBef>
              <a:spcAft>
                <a:spcPts val="0"/>
              </a:spcAft>
              <a:buNone/>
            </a:pPr>
            <a:r>
              <a:rPr lang="ko-KR" altLang="en-US" sz="1000" b="0" dirty="0">
                <a:solidFill>
                  <a:srgbClr val="7A808C"/>
                </a:solidFill>
                <a:latin typeface="맑은 고딕"/>
                <a:ea typeface="맑은 고딕"/>
                <a:cs typeface="맑은 고딕"/>
              </a:rPr>
              <a:t>클릭 ① 완성 문장(정답) 공개</a:t>
            </a:r>
            <a:endParaRPr lang="ko-KR" sz="1000"/>
          </a:p>
        </p:txBody>
      </p:sp>
      <p:sp>
        <p:nvSpPr>
          <p:cNvPr id="7" name="item_card_1"/>
          <p:cNvSpPr/>
          <p:nvPr/>
        </p:nvSpPr>
        <p:spPr>
          <a:xfrm>
            <a:off x="457200" y="950976"/>
            <a:ext cx="11274552" cy="1987677"/>
          </a:xfrm>
          <a:prstGeom prst="roundRect">
            <a:avLst>
              <a:gd name="adj" fmla="val 6000"/>
            </a:avLst>
          </a:prstGeom>
          <a:solidFill>
            <a:srgbClr val="F3F5F9"/>
          </a:solidFill>
          <a:ln w="12700">
            <a:solidFill>
              <a:srgbClr val="D9DFEA"/>
            </a:solidFill>
          </a:ln>
        </p:spPr>
        <p:txBody>
          <a:bodyPr rtlCol="0" anchor="ctr"/>
          <a:lstStyle/>
          <a:p>
            <a:pPr algn="ctr"/>
          </a:p>
        </p:txBody>
      </p:sp>
      <p:sp>
        <p:nvSpPr>
          <p:cNvPr id="8" name="kor_1"/>
          <p:cNvSpPr txBox="1"/>
          <p:nvPr/>
        </p:nvSpPr>
        <p:spPr>
          <a:xfrm>
            <a:off x="457200" y="1060704"/>
            <a:ext cx="11274552" cy="379603"/>
          </a:xfrm>
          <a:prstGeom prst="rect">
            <a:avLst/>
          </a:prstGeom>
          <a:noFill/>
        </p:spPr>
        <p:txBody>
          <a:bodyPr wrap="square" lIns="228600" tIns="54864" rIns="228600" bIns="54864" anchor="t" rtlCol="0">
            <a:noAutofit/>
          </a:bodyPr>
          <a:lstStyle/>
          <a:p>
            <a:pPr algn="l">
              <a:lnSpc>
                <a:spcPts val="2125"/>
              </a:lnSpc>
              <a:spcBef>
                <a:spcPts val="0"/>
              </a:spcBef>
              <a:spcAft>
                <a:spcPts val="0"/>
              </a:spcAft>
              <a:buNone/>
            </a:pPr>
            <a:r>
              <a:rPr lang="en-US" altLang="en-US" sz="1700" b="1" dirty="0">
                <a:solidFill>
                  <a:srgbClr val="1E2A5A"/>
                </a:solidFill>
                <a:latin typeface="Calibri"/>
                <a:ea typeface="맑은 고딕"/>
                <a:cs typeface="Calibri"/>
              </a:rPr>
              <a:t>5.  </a:t>
            </a:r>
            <a:r>
              <a:rPr lang="ko-KR" altLang="en-US" sz="1700" b="1" dirty="0">
                <a:solidFill>
                  <a:srgbClr val="1F2328"/>
                </a:solidFill>
                <a:latin typeface="맑은 고딕"/>
                <a:ea typeface="맑은 고딕"/>
                <a:cs typeface="맑은 고딕"/>
              </a:rPr>
              <a:t>연꽃의 경우, 그것들은 진흙투성이의 연못에서 자라지만 그럼에도 아름답게 꽃을 피운다.</a:t>
            </a:r>
            <a:endParaRPr lang="ko-KR" sz="1700"/>
          </a:p>
        </p:txBody>
      </p:sp>
      <p:sp>
        <p:nvSpPr>
          <p:cNvPr id="9" name="ex_1"/>
          <p:cNvSpPr txBox="1"/>
          <p:nvPr/>
        </p:nvSpPr>
        <p:spPr>
          <a:xfrm>
            <a:off x="457200" y="1385443"/>
            <a:ext cx="11274552" cy="761238"/>
          </a:xfrm>
          <a:prstGeom prst="rect">
            <a:avLst/>
          </a:prstGeom>
          <a:noFill/>
        </p:spPr>
        <p:txBody>
          <a:bodyPr wrap="square" lIns="228600" tIns="54864" rIns="228600" bIns="54864" anchor="t" rtlCol="0">
            <a:noAutofit/>
          </a:bodyPr>
          <a:lstStyle/>
          <a:p>
            <a:pPr algn="l">
              <a:lnSpc>
                <a:spcPts val="2565"/>
              </a:lnSpc>
              <a:spcBef>
                <a:spcPts val="0"/>
              </a:spcBef>
              <a:spcAft>
                <a:spcPts val="0"/>
              </a:spcAft>
              <a:buNone/>
            </a:pPr>
            <a:r>
              <a:rPr lang="en-US" altLang="en-US" sz="1900" b="0" dirty="0">
                <a:solidFill>
                  <a:srgbClr val="1F2328"/>
                </a:solidFill>
                <a:latin typeface="Calibri"/>
                <a:ea typeface="맑은 고딕"/>
                <a:cs typeface="Calibri"/>
              </a:rPr>
              <a:t>In the case of lotus flowers,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in muddy ponds</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they</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grow</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 but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still</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beautifully</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bloom</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a:t>
            </a:r>
            <a:endParaRPr lang="ko-KR" sz="1900"/>
          </a:p>
        </p:txBody>
      </p:sp>
      <p:sp>
        <p:nvSpPr>
          <p:cNvPr id="10" name="rv_ans_1"/>
          <p:cNvSpPr txBox="1"/>
          <p:nvPr/>
        </p:nvSpPr>
        <p:spPr>
          <a:xfrm>
            <a:off x="594360" y="2183257"/>
            <a:ext cx="11000232" cy="737108"/>
          </a:xfrm>
          <a:prstGeom prst="rect">
            <a:avLst/>
          </a:prstGeom>
          <a:solidFill>
            <a:srgbClr val="FFF3C4"/>
          </a:solidFill>
        </p:spPr>
        <p:txBody>
          <a:bodyPr wrap="square" lIns="137160" tIns="54864" rIns="137160" bIns="54864" anchor="t" rtlCol="0">
            <a:noAutofit/>
          </a:bodyPr>
          <a:lstStyle/>
          <a:p>
            <a:pPr algn="l">
              <a:lnSpc>
                <a:spcPts val="2470"/>
              </a:lnSpc>
              <a:spcBef>
                <a:spcPts val="0"/>
              </a:spcBef>
              <a:spcAft>
                <a:spcPts val="0"/>
              </a:spcAft>
              <a:buNone/>
            </a:pPr>
            <a:r>
              <a:rPr lang="en-US" altLang="en-US" sz="1900" b="1" dirty="0">
                <a:solidFill>
                  <a:srgbClr val="C00000"/>
                </a:solidFill>
                <a:latin typeface="Calibri"/>
                <a:ea typeface="맑은 고딕"/>
                <a:cs typeface="Calibri"/>
              </a:rPr>
              <a:t>→  </a:t>
            </a:r>
            <a:r>
              <a:rPr lang="en-US" altLang="en-US" sz="1900" b="1" dirty="0">
                <a:solidFill>
                  <a:srgbClr val="C00000"/>
                </a:solidFill>
                <a:latin typeface="Calibri"/>
                <a:ea typeface="맑은 고딕"/>
                <a:cs typeface="Calibri"/>
              </a:rPr>
              <a:t>In the case of lotus flowers, they grow in muddy ponds but still bloom beautifully.</a:t>
            </a:r>
            <a:endParaRPr lang="ko-KR" sz="1900"/>
          </a:p>
        </p:txBody>
      </p:sp>
      <p:sp>
        <p:nvSpPr>
          <p:cNvPr id="11" name="item_card_2"/>
          <p:cNvSpPr/>
          <p:nvPr/>
        </p:nvSpPr>
        <p:spPr>
          <a:xfrm>
            <a:off x="457200" y="3048381"/>
            <a:ext cx="11274552" cy="2257552"/>
          </a:xfrm>
          <a:prstGeom prst="roundRect">
            <a:avLst>
              <a:gd name="adj" fmla="val 6000"/>
            </a:avLst>
          </a:prstGeom>
          <a:solidFill>
            <a:srgbClr val="F3F5F9"/>
          </a:solidFill>
          <a:ln w="12700">
            <a:solidFill>
              <a:srgbClr val="D9DFEA"/>
            </a:solidFill>
          </a:ln>
        </p:spPr>
        <p:txBody>
          <a:bodyPr rtlCol="0" anchor="ctr"/>
          <a:lstStyle/>
          <a:p>
            <a:pPr algn="ctr"/>
          </a:p>
        </p:txBody>
      </p:sp>
      <p:sp>
        <p:nvSpPr>
          <p:cNvPr id="12" name="kor_2"/>
          <p:cNvSpPr txBox="1"/>
          <p:nvPr/>
        </p:nvSpPr>
        <p:spPr>
          <a:xfrm>
            <a:off x="457200" y="3158109"/>
            <a:ext cx="11274552" cy="649478"/>
          </a:xfrm>
          <a:prstGeom prst="rect">
            <a:avLst/>
          </a:prstGeom>
          <a:noFill/>
        </p:spPr>
        <p:txBody>
          <a:bodyPr wrap="square" lIns="228600" tIns="54864" rIns="228600" bIns="54864" anchor="t" rtlCol="0">
            <a:noAutofit/>
          </a:bodyPr>
          <a:lstStyle/>
          <a:p>
            <a:pPr algn="l">
              <a:lnSpc>
                <a:spcPts val="2125"/>
              </a:lnSpc>
              <a:spcBef>
                <a:spcPts val="0"/>
              </a:spcBef>
              <a:spcAft>
                <a:spcPts val="0"/>
              </a:spcAft>
              <a:buNone/>
            </a:pPr>
            <a:r>
              <a:rPr lang="en-US" altLang="en-US" sz="1700" b="1" dirty="0">
                <a:solidFill>
                  <a:srgbClr val="1E2A5A"/>
                </a:solidFill>
                <a:latin typeface="Calibri"/>
                <a:ea typeface="맑은 고딕"/>
                <a:cs typeface="Calibri"/>
              </a:rPr>
              <a:t>6.  </a:t>
            </a:r>
            <a:r>
              <a:rPr lang="ko-KR" altLang="en-US" sz="1700" b="1" dirty="0">
                <a:solidFill>
                  <a:srgbClr val="1F2328"/>
                </a:solidFill>
                <a:latin typeface="맑은 고딕"/>
                <a:ea typeface="맑은 고딕"/>
                <a:cs typeface="맑은 고딕"/>
              </a:rPr>
              <a:t>그래서 그 꽃들은 어려움에도 불구하고 정의를 위해 싸우는 한 사람의 의지를 상징하게 되었다.</a:t>
            </a:r>
            <a:endParaRPr lang="ko-KR" sz="1700"/>
          </a:p>
        </p:txBody>
      </p:sp>
      <p:sp>
        <p:nvSpPr>
          <p:cNvPr id="13" name="ex_2"/>
          <p:cNvSpPr txBox="1"/>
          <p:nvPr/>
        </p:nvSpPr>
        <p:spPr>
          <a:xfrm>
            <a:off x="457200" y="3752723"/>
            <a:ext cx="11274552" cy="761238"/>
          </a:xfrm>
          <a:prstGeom prst="rect">
            <a:avLst/>
          </a:prstGeom>
          <a:noFill/>
        </p:spPr>
        <p:txBody>
          <a:bodyPr wrap="square" lIns="228600" tIns="54864" rIns="228600" bIns="54864" anchor="t" rtlCol="0">
            <a:noAutofit/>
          </a:bodyPr>
          <a:lstStyle/>
          <a:p>
            <a:pPr algn="l">
              <a:lnSpc>
                <a:spcPts val="2565"/>
              </a:lnSpc>
              <a:spcBef>
                <a:spcPts val="0"/>
              </a:spcBef>
              <a:spcAft>
                <a:spcPts val="0"/>
              </a:spcAft>
              <a:buNone/>
            </a:pP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thus</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became</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a symbol</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They</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 of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to fight for justice</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despite difficulties</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a person’s will</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a:t>
            </a:r>
            <a:endParaRPr lang="ko-KR" sz="1900"/>
          </a:p>
        </p:txBody>
      </p:sp>
      <p:sp>
        <p:nvSpPr>
          <p:cNvPr id="14" name="rv_ans_2"/>
          <p:cNvSpPr txBox="1"/>
          <p:nvPr/>
        </p:nvSpPr>
        <p:spPr>
          <a:xfrm>
            <a:off x="594360" y="4550537"/>
            <a:ext cx="11000232" cy="737108"/>
          </a:xfrm>
          <a:prstGeom prst="rect">
            <a:avLst/>
          </a:prstGeom>
          <a:solidFill>
            <a:srgbClr val="FFF3C4"/>
          </a:solidFill>
        </p:spPr>
        <p:txBody>
          <a:bodyPr wrap="square" lIns="137160" tIns="54864" rIns="137160" bIns="54864" anchor="t" rtlCol="0">
            <a:noAutofit/>
          </a:bodyPr>
          <a:lstStyle/>
          <a:p>
            <a:pPr algn="l">
              <a:lnSpc>
                <a:spcPts val="2470"/>
              </a:lnSpc>
              <a:spcBef>
                <a:spcPts val="0"/>
              </a:spcBef>
              <a:spcAft>
                <a:spcPts val="0"/>
              </a:spcAft>
              <a:buNone/>
            </a:pPr>
            <a:r>
              <a:rPr lang="en-US" altLang="en-US" sz="1900" b="1" dirty="0">
                <a:solidFill>
                  <a:srgbClr val="C00000"/>
                </a:solidFill>
                <a:latin typeface="Calibri"/>
                <a:ea typeface="맑은 고딕"/>
                <a:cs typeface="Calibri"/>
              </a:rPr>
              <a:t>→  </a:t>
            </a:r>
            <a:r>
              <a:rPr lang="en-US" altLang="en-US" sz="1900" b="1" dirty="0">
                <a:solidFill>
                  <a:srgbClr val="C00000"/>
                </a:solidFill>
                <a:latin typeface="Calibri"/>
                <a:ea typeface="맑은 고딕"/>
                <a:cs typeface="Calibri"/>
              </a:rPr>
              <a:t>They thus became a symbol of a person’s will to fight for justice despite difficulties.</a:t>
            </a:r>
            <a:endParaRPr lang="ko-KR" sz="19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25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2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4" grpId="0" animBg="1"/>
    </p:bldLst>
  </p:timing>
</p:sld>
</file>

<file path=ppt/slides/slide30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8000"/>
            </a:avLst>
          </a:prstGeom>
          <a:solidFill>
            <a:srgbClr val="1E2A5A"/>
          </a:solidFill>
          <a:ln>
            <a:noFill/>
          </a:ln>
        </p:spPr>
        <p:txBody>
          <a:bodyPr wrap="square" lIns="45720" tIns="18288" rIns="45720" bIns="18288" anchor="ctr" rtlCol="0">
            <a:noAutofit/>
          </a:bodyPr>
          <a:lstStyle/>
          <a:p>
            <a:pPr algn="ctr">
              <a:lnSpc>
                <a:spcPts val="2000"/>
              </a:lnSpc>
              <a:spcBef>
                <a:spcPts val="0"/>
              </a:spcBef>
              <a:spcAft>
                <a:spcPts val="0"/>
              </a:spcAft>
              <a:buNone/>
            </a:pPr>
            <a:r>
              <a:rPr lang="en-US" altLang="en-US" sz="1700" b="1" dirty="0">
                <a:solidFill>
                  <a:srgbClr val="FFFFFF"/>
                </a:solidFill>
                <a:latin typeface="Calibri"/>
                <a:ea typeface="맑은 고딕"/>
                <a:cs typeface="Calibri"/>
              </a:rPr>
              <a:t>L8-3</a:t>
            </a:r>
            <a:endParaRPr lang="ko-KR" sz="1700"/>
          </a:p>
        </p:txBody>
      </p:sp>
      <p:sp>
        <p:nvSpPr>
          <p:cNvPr id="3" name="hdr_chip"/>
          <p:cNvSpPr/>
          <p:nvPr/>
        </p:nvSpPr>
        <p:spPr>
          <a:xfrm>
            <a:off x="1755648" y="274320"/>
            <a:ext cx="1371600" cy="493776"/>
          </a:xfrm>
          <a:prstGeom prst="roundRect">
            <a:avLst>
              <a:gd name="adj" fmla="val 8000"/>
            </a:avLst>
          </a:prstGeom>
          <a:solidFill>
            <a:srgbClr val="E6EAF4"/>
          </a:solidFill>
          <a:ln>
            <a:noFill/>
          </a:ln>
        </p:spPr>
        <p:txBody>
          <a:bodyPr wrap="square" lIns="27432" tIns="18288" rIns="27432" bIns="18288" anchor="ctr" rtlCol="0">
            <a:noAutofit/>
          </a:bodyPr>
          <a:lstStyle/>
          <a:p>
            <a:pPr algn="ctr">
              <a:lnSpc>
                <a:spcPts val="1700"/>
              </a:lnSpc>
              <a:spcBef>
                <a:spcPts val="0"/>
              </a:spcBef>
              <a:spcAft>
                <a:spcPts val="0"/>
              </a:spcAft>
              <a:buNone/>
            </a:pPr>
            <a:r>
              <a:rPr lang="ko-KR" altLang="en-US" sz="1400" b="1" dirty="0">
                <a:solidFill>
                  <a:srgbClr val="1E2A5A"/>
                </a:solidFill>
                <a:latin typeface="맑은 고딕"/>
                <a:ea typeface="맑은 고딕"/>
                <a:cs typeface="맑은 고딕"/>
              </a:rPr>
              <a:t>PART 6 · 12</a:t>
            </a:r>
            <a:endParaRPr lang="ko-KR" sz="1400"/>
          </a:p>
        </p:txBody>
      </p:sp>
      <p:sp>
        <p:nvSpPr>
          <p:cNvPr id="4" name="hdr_q"/>
          <p:cNvSpPr txBox="1"/>
          <p:nvPr/>
        </p:nvSpPr>
        <p:spPr>
          <a:xfrm>
            <a:off x="3246120" y="246888"/>
            <a:ext cx="8485632" cy="548640"/>
          </a:xfrm>
          <a:prstGeom prst="rect">
            <a:avLst/>
          </a:prstGeom>
          <a:noFill/>
        </p:spPr>
        <p:txBody>
          <a:bodyPr wrap="square" lIns="109728" tIns="54864" rIns="109728" bIns="54864" anchor="ctr" rtlCol="0">
            <a:noAutofit/>
          </a:bodyPr>
          <a:lstStyle/>
          <a:p>
            <a:pPr algn="l">
              <a:lnSpc>
                <a:spcPts val="2400"/>
              </a:lnSpc>
              <a:spcBef>
                <a:spcPts val="0"/>
              </a:spcBef>
              <a:spcAft>
                <a:spcPts val="0"/>
              </a:spcAft>
              <a:buNone/>
            </a:pPr>
            <a:r>
              <a:rPr lang="ko-KR" altLang="en-US" sz="2000" b="1" dirty="0">
                <a:solidFill>
                  <a:srgbClr val="1F2328"/>
                </a:solidFill>
                <a:latin typeface="맑은 고딕"/>
                <a:ea typeface="맑은 고딕"/>
                <a:cs typeface="맑은 고딕"/>
              </a:rPr>
              <a:t>우리말에 맞게 (  ) 안의 말을 바르게 배열하시오.</a:t>
            </a:r>
            <a:endParaRPr lang="ko-KR" sz="2000"/>
          </a:p>
        </p:txBody>
      </p:sp>
      <p:sp>
        <p:nvSpPr>
          <p:cNvPr id="5" name="ftr_exam"/>
          <p:cNvSpPr txBox="1"/>
          <p:nvPr/>
        </p:nvSpPr>
        <p:spPr>
          <a:xfrm>
            <a:off x="457200" y="6519672"/>
            <a:ext cx="5669280" cy="256032"/>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8</a:t>
            </a:r>
            <a:endParaRPr lang="ko-KR" sz="1000"/>
          </a:p>
        </p:txBody>
      </p:sp>
      <p:sp>
        <p:nvSpPr>
          <p:cNvPr id="6" name="ftr_hint"/>
          <p:cNvSpPr txBox="1"/>
          <p:nvPr/>
        </p:nvSpPr>
        <p:spPr>
          <a:xfrm>
            <a:off x="5971032" y="6519672"/>
            <a:ext cx="5760720" cy="256032"/>
          </a:xfrm>
          <a:prstGeom prst="rect">
            <a:avLst/>
          </a:prstGeom>
          <a:noFill/>
        </p:spPr>
        <p:txBody>
          <a:bodyPr wrap="square" lIns="0" tIns="0" rIns="0" bIns="0" anchor="t" rtlCol="0">
            <a:noAutofit/>
          </a:bodyPr>
          <a:lstStyle/>
          <a:p>
            <a:pPr algn="r">
              <a:lnSpc>
                <a:spcPts val="1200"/>
              </a:lnSpc>
              <a:spcBef>
                <a:spcPts val="0"/>
              </a:spcBef>
              <a:spcAft>
                <a:spcPts val="0"/>
              </a:spcAft>
              <a:buNone/>
            </a:pPr>
            <a:r>
              <a:rPr lang="ko-KR" altLang="en-US" sz="1000" b="0" dirty="0">
                <a:solidFill>
                  <a:srgbClr val="7A808C"/>
                </a:solidFill>
                <a:latin typeface="맑은 고딕"/>
                <a:ea typeface="맑은 고딕"/>
                <a:cs typeface="맑은 고딕"/>
              </a:rPr>
              <a:t>클릭 ① 완성 문장(정답) 공개</a:t>
            </a:r>
            <a:endParaRPr lang="ko-KR" sz="1000"/>
          </a:p>
        </p:txBody>
      </p:sp>
      <p:sp>
        <p:nvSpPr>
          <p:cNvPr id="7" name="item_card_1"/>
          <p:cNvSpPr/>
          <p:nvPr/>
        </p:nvSpPr>
        <p:spPr>
          <a:xfrm>
            <a:off x="457200" y="950976"/>
            <a:ext cx="11274552" cy="1661922"/>
          </a:xfrm>
          <a:prstGeom prst="roundRect">
            <a:avLst>
              <a:gd name="adj" fmla="val 6000"/>
            </a:avLst>
          </a:prstGeom>
          <a:solidFill>
            <a:srgbClr val="F3F5F9"/>
          </a:solidFill>
          <a:ln w="12700">
            <a:solidFill>
              <a:srgbClr val="D9DFEA"/>
            </a:solidFill>
          </a:ln>
        </p:spPr>
        <p:txBody>
          <a:bodyPr rtlCol="0" anchor="ctr"/>
          <a:lstStyle/>
          <a:p>
            <a:pPr algn="ctr"/>
          </a:p>
        </p:txBody>
      </p:sp>
      <p:sp>
        <p:nvSpPr>
          <p:cNvPr id="8" name="kor_1"/>
          <p:cNvSpPr txBox="1"/>
          <p:nvPr/>
        </p:nvSpPr>
        <p:spPr>
          <a:xfrm>
            <a:off x="457200" y="1060704"/>
            <a:ext cx="11274552" cy="379603"/>
          </a:xfrm>
          <a:prstGeom prst="rect">
            <a:avLst/>
          </a:prstGeom>
          <a:noFill/>
        </p:spPr>
        <p:txBody>
          <a:bodyPr wrap="square" lIns="228600" tIns="54864" rIns="228600" bIns="54864" anchor="t" rtlCol="0">
            <a:noAutofit/>
          </a:bodyPr>
          <a:lstStyle/>
          <a:p>
            <a:pPr algn="l">
              <a:lnSpc>
                <a:spcPts val="2125"/>
              </a:lnSpc>
              <a:spcBef>
                <a:spcPts val="0"/>
              </a:spcBef>
              <a:spcAft>
                <a:spcPts val="0"/>
              </a:spcAft>
              <a:buNone/>
            </a:pPr>
            <a:r>
              <a:rPr lang="en-US" altLang="en-US" sz="1700" b="1" dirty="0">
                <a:solidFill>
                  <a:srgbClr val="1E2A5A"/>
                </a:solidFill>
                <a:latin typeface="Calibri"/>
                <a:ea typeface="맑은 고딕"/>
                <a:cs typeface="Calibri"/>
              </a:rPr>
              <a:t>7.  </a:t>
            </a:r>
            <a:r>
              <a:rPr lang="ko-KR" altLang="en-US" sz="1700" b="1" dirty="0">
                <a:solidFill>
                  <a:srgbClr val="1F2328"/>
                </a:solidFill>
                <a:latin typeface="맑은 고딕"/>
                <a:ea typeface="맑은 고딕"/>
                <a:cs typeface="맑은 고딕"/>
              </a:rPr>
              <a:t>문자도는 조선 시대 사람들에게 그림 그 훨씬 이상의 것이었다.</a:t>
            </a:r>
            <a:endParaRPr lang="ko-KR" sz="1700"/>
          </a:p>
        </p:txBody>
      </p:sp>
      <p:sp>
        <p:nvSpPr>
          <p:cNvPr id="9" name="ex_1"/>
          <p:cNvSpPr txBox="1"/>
          <p:nvPr/>
        </p:nvSpPr>
        <p:spPr>
          <a:xfrm>
            <a:off x="457200" y="1385443"/>
            <a:ext cx="11274552" cy="435483"/>
          </a:xfrm>
          <a:prstGeom prst="rect">
            <a:avLst/>
          </a:prstGeom>
          <a:noFill/>
        </p:spPr>
        <p:txBody>
          <a:bodyPr wrap="square" lIns="228600" tIns="54864" rIns="228600" bIns="54864" anchor="t" rtlCol="0">
            <a:noAutofit/>
          </a:bodyPr>
          <a:lstStyle/>
          <a:p>
            <a:pPr algn="l">
              <a:lnSpc>
                <a:spcPts val="2565"/>
              </a:lnSpc>
              <a:spcBef>
                <a:spcPts val="0"/>
              </a:spcBef>
              <a:spcAft>
                <a:spcPts val="0"/>
              </a:spcAft>
              <a:buNone/>
            </a:pP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much more than</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was</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a painting</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Munjado</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 to people of the Joseon dynasty.</a:t>
            </a:r>
            <a:endParaRPr lang="ko-KR" sz="1900"/>
          </a:p>
        </p:txBody>
      </p:sp>
      <p:sp>
        <p:nvSpPr>
          <p:cNvPr id="10" name="rv_ans_1"/>
          <p:cNvSpPr txBox="1"/>
          <p:nvPr/>
        </p:nvSpPr>
        <p:spPr>
          <a:xfrm>
            <a:off x="594360" y="1857502"/>
            <a:ext cx="11000232" cy="737108"/>
          </a:xfrm>
          <a:prstGeom prst="rect">
            <a:avLst/>
          </a:prstGeom>
          <a:solidFill>
            <a:srgbClr val="FFF3C4"/>
          </a:solidFill>
        </p:spPr>
        <p:txBody>
          <a:bodyPr wrap="square" lIns="137160" tIns="54864" rIns="137160" bIns="54864" anchor="t" rtlCol="0">
            <a:noAutofit/>
          </a:bodyPr>
          <a:lstStyle/>
          <a:p>
            <a:pPr algn="l">
              <a:lnSpc>
                <a:spcPts val="2470"/>
              </a:lnSpc>
              <a:spcBef>
                <a:spcPts val="0"/>
              </a:spcBef>
              <a:spcAft>
                <a:spcPts val="0"/>
              </a:spcAft>
              <a:buNone/>
            </a:pPr>
            <a:r>
              <a:rPr lang="en-US" altLang="en-US" sz="1900" b="1" dirty="0">
                <a:solidFill>
                  <a:srgbClr val="C00000"/>
                </a:solidFill>
                <a:latin typeface="Calibri"/>
                <a:ea typeface="맑은 고딕"/>
                <a:cs typeface="Calibri"/>
              </a:rPr>
              <a:t>→  </a:t>
            </a:r>
            <a:r>
              <a:rPr lang="en-US" altLang="en-US" sz="1900" b="1" dirty="0">
                <a:solidFill>
                  <a:srgbClr val="C00000"/>
                </a:solidFill>
                <a:latin typeface="Calibri"/>
                <a:ea typeface="맑은 고딕"/>
                <a:cs typeface="Calibri"/>
              </a:rPr>
              <a:t>Munjado was much more than a painting to people of the Joseon dynasty.</a:t>
            </a:r>
            <a:endParaRPr lang="ko-KR" sz="1900"/>
          </a:p>
        </p:txBody>
      </p:sp>
      <p:sp>
        <p:nvSpPr>
          <p:cNvPr id="11" name="item_card_2"/>
          <p:cNvSpPr/>
          <p:nvPr/>
        </p:nvSpPr>
        <p:spPr>
          <a:xfrm>
            <a:off x="457200" y="2722626"/>
            <a:ext cx="11274552" cy="1987677"/>
          </a:xfrm>
          <a:prstGeom prst="roundRect">
            <a:avLst>
              <a:gd name="adj" fmla="val 6000"/>
            </a:avLst>
          </a:prstGeom>
          <a:solidFill>
            <a:srgbClr val="F3F5F9"/>
          </a:solidFill>
          <a:ln w="12700">
            <a:solidFill>
              <a:srgbClr val="D9DFEA"/>
            </a:solidFill>
          </a:ln>
        </p:spPr>
        <p:txBody>
          <a:bodyPr rtlCol="0" anchor="ctr"/>
          <a:lstStyle/>
          <a:p>
            <a:pPr algn="ctr"/>
          </a:p>
        </p:txBody>
      </p:sp>
      <p:sp>
        <p:nvSpPr>
          <p:cNvPr id="12" name="kor_2"/>
          <p:cNvSpPr txBox="1"/>
          <p:nvPr/>
        </p:nvSpPr>
        <p:spPr>
          <a:xfrm>
            <a:off x="457200" y="2832354"/>
            <a:ext cx="11274552" cy="379603"/>
          </a:xfrm>
          <a:prstGeom prst="rect">
            <a:avLst/>
          </a:prstGeom>
          <a:noFill/>
        </p:spPr>
        <p:txBody>
          <a:bodyPr wrap="square" lIns="228600" tIns="54864" rIns="228600" bIns="54864" anchor="t" rtlCol="0">
            <a:noAutofit/>
          </a:bodyPr>
          <a:lstStyle/>
          <a:p>
            <a:pPr algn="l">
              <a:lnSpc>
                <a:spcPts val="2125"/>
              </a:lnSpc>
              <a:spcBef>
                <a:spcPts val="0"/>
              </a:spcBef>
              <a:spcAft>
                <a:spcPts val="0"/>
              </a:spcAft>
              <a:buNone/>
            </a:pPr>
            <a:r>
              <a:rPr lang="en-US" altLang="en-US" sz="1700" b="1" dirty="0">
                <a:solidFill>
                  <a:srgbClr val="1E2A5A"/>
                </a:solidFill>
                <a:latin typeface="Calibri"/>
                <a:ea typeface="맑은 고딕"/>
                <a:cs typeface="Calibri"/>
              </a:rPr>
              <a:t>8.  </a:t>
            </a:r>
            <a:r>
              <a:rPr lang="ko-KR" altLang="en-US" sz="1700" b="1" dirty="0">
                <a:solidFill>
                  <a:srgbClr val="1F2328"/>
                </a:solidFill>
                <a:latin typeface="맑은 고딕"/>
                <a:ea typeface="맑은 고딕"/>
                <a:cs typeface="맑은 고딕"/>
              </a:rPr>
              <a:t>그것은 그들에게 자신들의 행동과 태도에 큰 영향을 미치는 중요한 가치를 상기시켰다.</a:t>
            </a:r>
            <a:endParaRPr lang="ko-KR" sz="1700"/>
          </a:p>
        </p:txBody>
      </p:sp>
      <p:sp>
        <p:nvSpPr>
          <p:cNvPr id="13" name="ex_2"/>
          <p:cNvSpPr txBox="1"/>
          <p:nvPr/>
        </p:nvSpPr>
        <p:spPr>
          <a:xfrm>
            <a:off x="457200" y="3157093"/>
            <a:ext cx="11274552" cy="761238"/>
          </a:xfrm>
          <a:prstGeom prst="rect">
            <a:avLst/>
          </a:prstGeom>
          <a:noFill/>
        </p:spPr>
        <p:txBody>
          <a:bodyPr wrap="square" lIns="228600" tIns="54864" rIns="228600" bIns="54864" anchor="t" rtlCol="0">
            <a:noAutofit/>
          </a:bodyPr>
          <a:lstStyle/>
          <a:p>
            <a:pPr algn="l">
              <a:lnSpc>
                <a:spcPts val="2565"/>
              </a:lnSpc>
              <a:spcBef>
                <a:spcPts val="0"/>
              </a:spcBef>
              <a:spcAft>
                <a:spcPts val="0"/>
              </a:spcAft>
              <a:buNone/>
            </a:pP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of important values</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reminded</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them</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It</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 that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their behaviors and attitudes</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greatly</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influenced</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a:t>
            </a:r>
            <a:endParaRPr lang="ko-KR" sz="1900"/>
          </a:p>
        </p:txBody>
      </p:sp>
      <p:sp>
        <p:nvSpPr>
          <p:cNvPr id="14" name="rv_ans_2"/>
          <p:cNvSpPr txBox="1"/>
          <p:nvPr/>
        </p:nvSpPr>
        <p:spPr>
          <a:xfrm>
            <a:off x="594360" y="3954907"/>
            <a:ext cx="11000232" cy="737108"/>
          </a:xfrm>
          <a:prstGeom prst="rect">
            <a:avLst/>
          </a:prstGeom>
          <a:solidFill>
            <a:srgbClr val="FFF3C4"/>
          </a:solidFill>
        </p:spPr>
        <p:txBody>
          <a:bodyPr wrap="square" lIns="137160" tIns="54864" rIns="137160" bIns="54864" anchor="t" rtlCol="0">
            <a:noAutofit/>
          </a:bodyPr>
          <a:lstStyle/>
          <a:p>
            <a:pPr algn="l">
              <a:lnSpc>
                <a:spcPts val="2470"/>
              </a:lnSpc>
              <a:spcBef>
                <a:spcPts val="0"/>
              </a:spcBef>
              <a:spcAft>
                <a:spcPts val="0"/>
              </a:spcAft>
              <a:buNone/>
            </a:pPr>
            <a:r>
              <a:rPr lang="en-US" altLang="en-US" sz="1900" b="1" dirty="0">
                <a:solidFill>
                  <a:srgbClr val="C00000"/>
                </a:solidFill>
                <a:latin typeface="Calibri"/>
                <a:ea typeface="맑은 고딕"/>
                <a:cs typeface="Calibri"/>
              </a:rPr>
              <a:t>→  </a:t>
            </a:r>
            <a:r>
              <a:rPr lang="en-US" altLang="en-US" sz="1900" b="1" dirty="0">
                <a:solidFill>
                  <a:srgbClr val="C00000"/>
                </a:solidFill>
                <a:latin typeface="Calibri"/>
                <a:ea typeface="맑은 고딕"/>
                <a:cs typeface="Calibri"/>
              </a:rPr>
              <a:t>It reminded them of important values that greatly influenced their behaviors and attitudes.</a:t>
            </a:r>
            <a:endParaRPr lang="ko-KR" sz="19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25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2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4" grpId="0" animBg="1"/>
    </p:bldLst>
  </p:timing>
</p:sld>
</file>

<file path=ppt/slides/slide3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8000"/>
            </a:avLst>
          </a:prstGeom>
          <a:solidFill>
            <a:srgbClr val="1E2A5A"/>
          </a:solidFill>
          <a:ln>
            <a:noFill/>
          </a:ln>
        </p:spPr>
        <p:txBody>
          <a:bodyPr wrap="square" lIns="45720" tIns="18288" rIns="45720" bIns="18288" anchor="ctr" rtlCol="0">
            <a:noAutofit/>
          </a:bodyPr>
          <a:lstStyle/>
          <a:p>
            <a:pPr algn="ctr">
              <a:lnSpc>
                <a:spcPts val="2000"/>
              </a:lnSpc>
              <a:spcBef>
                <a:spcPts val="0"/>
              </a:spcBef>
              <a:spcAft>
                <a:spcPts val="0"/>
              </a:spcAft>
              <a:buNone/>
            </a:pPr>
            <a:r>
              <a:rPr lang="en-US" altLang="en-US" sz="1700" b="1" dirty="0">
                <a:solidFill>
                  <a:srgbClr val="FFFFFF"/>
                </a:solidFill>
                <a:latin typeface="Calibri"/>
                <a:ea typeface="맑은 고딕"/>
                <a:cs typeface="Calibri"/>
              </a:rPr>
              <a:t>L8-3</a:t>
            </a:r>
            <a:endParaRPr lang="ko-KR" sz="1700"/>
          </a:p>
        </p:txBody>
      </p:sp>
      <p:sp>
        <p:nvSpPr>
          <p:cNvPr id="3" name="hdr_chip"/>
          <p:cNvSpPr/>
          <p:nvPr/>
        </p:nvSpPr>
        <p:spPr>
          <a:xfrm>
            <a:off x="1755648" y="274320"/>
            <a:ext cx="1371600" cy="493776"/>
          </a:xfrm>
          <a:prstGeom prst="roundRect">
            <a:avLst>
              <a:gd name="adj" fmla="val 8000"/>
            </a:avLst>
          </a:prstGeom>
          <a:solidFill>
            <a:srgbClr val="E6EAF4"/>
          </a:solidFill>
          <a:ln>
            <a:noFill/>
          </a:ln>
        </p:spPr>
        <p:txBody>
          <a:bodyPr wrap="square" lIns="27432" tIns="18288" rIns="27432" bIns="18288" anchor="ctr" rtlCol="0">
            <a:noAutofit/>
          </a:bodyPr>
          <a:lstStyle/>
          <a:p>
            <a:pPr algn="ctr">
              <a:lnSpc>
                <a:spcPts val="1700"/>
              </a:lnSpc>
              <a:spcBef>
                <a:spcPts val="0"/>
              </a:spcBef>
              <a:spcAft>
                <a:spcPts val="0"/>
              </a:spcAft>
              <a:buNone/>
            </a:pPr>
            <a:r>
              <a:rPr lang="ko-KR" altLang="en-US" sz="1400" b="1" dirty="0">
                <a:solidFill>
                  <a:srgbClr val="1E2A5A"/>
                </a:solidFill>
                <a:latin typeface="맑은 고딕"/>
                <a:ea typeface="맑은 고딕"/>
                <a:cs typeface="맑은 고딕"/>
              </a:rPr>
              <a:t>PART 6 · 13</a:t>
            </a:r>
            <a:endParaRPr lang="ko-KR" sz="1400"/>
          </a:p>
        </p:txBody>
      </p:sp>
      <p:sp>
        <p:nvSpPr>
          <p:cNvPr id="4" name="hdr_q"/>
          <p:cNvSpPr txBox="1"/>
          <p:nvPr/>
        </p:nvSpPr>
        <p:spPr>
          <a:xfrm>
            <a:off x="3246120" y="246888"/>
            <a:ext cx="8485632" cy="548640"/>
          </a:xfrm>
          <a:prstGeom prst="rect">
            <a:avLst/>
          </a:prstGeom>
          <a:noFill/>
        </p:spPr>
        <p:txBody>
          <a:bodyPr wrap="square" lIns="109728" tIns="54864" rIns="109728" bIns="54864" anchor="ctr" rtlCol="0">
            <a:noAutofit/>
          </a:bodyPr>
          <a:lstStyle/>
          <a:p>
            <a:pPr algn="l">
              <a:lnSpc>
                <a:spcPts val="2400"/>
              </a:lnSpc>
              <a:spcBef>
                <a:spcPts val="0"/>
              </a:spcBef>
              <a:spcAft>
                <a:spcPts val="0"/>
              </a:spcAft>
              <a:buNone/>
            </a:pPr>
            <a:r>
              <a:rPr lang="ko-KR" altLang="en-US" sz="2000" b="1" dirty="0">
                <a:solidFill>
                  <a:srgbClr val="1F2328"/>
                </a:solidFill>
                <a:latin typeface="맑은 고딕"/>
                <a:ea typeface="맑은 고딕"/>
                <a:cs typeface="맑은 고딕"/>
              </a:rPr>
              <a:t>우리말에 맞게 (  ) 안의 말을 바르게 배열하시오.</a:t>
            </a:r>
            <a:endParaRPr lang="ko-KR" sz="2000"/>
          </a:p>
        </p:txBody>
      </p:sp>
      <p:sp>
        <p:nvSpPr>
          <p:cNvPr id="5" name="ftr_exam"/>
          <p:cNvSpPr txBox="1"/>
          <p:nvPr/>
        </p:nvSpPr>
        <p:spPr>
          <a:xfrm>
            <a:off x="457200" y="6519672"/>
            <a:ext cx="5669280" cy="256032"/>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8</a:t>
            </a:r>
            <a:endParaRPr lang="ko-KR" sz="1000"/>
          </a:p>
        </p:txBody>
      </p:sp>
      <p:sp>
        <p:nvSpPr>
          <p:cNvPr id="6" name="ftr_hint"/>
          <p:cNvSpPr txBox="1"/>
          <p:nvPr/>
        </p:nvSpPr>
        <p:spPr>
          <a:xfrm>
            <a:off x="5971032" y="6519672"/>
            <a:ext cx="5760720" cy="256032"/>
          </a:xfrm>
          <a:prstGeom prst="rect">
            <a:avLst/>
          </a:prstGeom>
          <a:noFill/>
        </p:spPr>
        <p:txBody>
          <a:bodyPr wrap="square" lIns="0" tIns="0" rIns="0" bIns="0" anchor="t" rtlCol="0">
            <a:noAutofit/>
          </a:bodyPr>
          <a:lstStyle/>
          <a:p>
            <a:pPr algn="r">
              <a:lnSpc>
                <a:spcPts val="1200"/>
              </a:lnSpc>
              <a:spcBef>
                <a:spcPts val="0"/>
              </a:spcBef>
              <a:spcAft>
                <a:spcPts val="0"/>
              </a:spcAft>
              <a:buNone/>
            </a:pPr>
            <a:r>
              <a:rPr lang="ko-KR" altLang="en-US" sz="1000" b="0" dirty="0">
                <a:solidFill>
                  <a:srgbClr val="7A808C"/>
                </a:solidFill>
                <a:latin typeface="맑은 고딕"/>
                <a:ea typeface="맑은 고딕"/>
                <a:cs typeface="맑은 고딕"/>
              </a:rPr>
              <a:t>클릭 ① 완성 문장(정답) 공개</a:t>
            </a:r>
            <a:endParaRPr lang="ko-KR" sz="1000"/>
          </a:p>
        </p:txBody>
      </p:sp>
      <p:sp>
        <p:nvSpPr>
          <p:cNvPr id="7" name="item_card_1"/>
          <p:cNvSpPr/>
          <p:nvPr/>
        </p:nvSpPr>
        <p:spPr>
          <a:xfrm>
            <a:off x="457200" y="950976"/>
            <a:ext cx="11274552" cy="1348232"/>
          </a:xfrm>
          <a:prstGeom prst="roundRect">
            <a:avLst>
              <a:gd name="adj" fmla="val 6000"/>
            </a:avLst>
          </a:prstGeom>
          <a:solidFill>
            <a:srgbClr val="F3F5F9"/>
          </a:solidFill>
          <a:ln w="12700">
            <a:solidFill>
              <a:srgbClr val="D9DFEA"/>
            </a:solidFill>
          </a:ln>
        </p:spPr>
        <p:txBody>
          <a:bodyPr rtlCol="0" anchor="ctr"/>
          <a:lstStyle/>
          <a:p>
            <a:pPr algn="ctr"/>
          </a:p>
        </p:txBody>
      </p:sp>
      <p:sp>
        <p:nvSpPr>
          <p:cNvPr id="8" name="kor_1"/>
          <p:cNvSpPr txBox="1"/>
          <p:nvPr/>
        </p:nvSpPr>
        <p:spPr>
          <a:xfrm>
            <a:off x="457200" y="1060704"/>
            <a:ext cx="11274552" cy="379603"/>
          </a:xfrm>
          <a:prstGeom prst="rect">
            <a:avLst/>
          </a:prstGeom>
          <a:noFill/>
        </p:spPr>
        <p:txBody>
          <a:bodyPr wrap="square" lIns="228600" tIns="54864" rIns="228600" bIns="54864" anchor="t" rtlCol="0">
            <a:noAutofit/>
          </a:bodyPr>
          <a:lstStyle/>
          <a:p>
            <a:pPr algn="l">
              <a:lnSpc>
                <a:spcPts val="2125"/>
              </a:lnSpc>
              <a:spcBef>
                <a:spcPts val="0"/>
              </a:spcBef>
              <a:spcAft>
                <a:spcPts val="0"/>
              </a:spcAft>
              <a:buNone/>
            </a:pPr>
            <a:r>
              <a:rPr lang="en-US" altLang="en-US" sz="1700" b="1" dirty="0">
                <a:solidFill>
                  <a:srgbClr val="1E2A5A"/>
                </a:solidFill>
                <a:latin typeface="Calibri"/>
                <a:ea typeface="맑은 고딕"/>
                <a:cs typeface="Calibri"/>
              </a:rPr>
              <a:t>9.  </a:t>
            </a:r>
            <a:r>
              <a:rPr lang="ko-KR" altLang="en-US" sz="1700" b="1" dirty="0">
                <a:solidFill>
                  <a:srgbClr val="1F2328"/>
                </a:solidFill>
                <a:latin typeface="맑은 고딕"/>
                <a:ea typeface="맑은 고딕"/>
                <a:cs typeface="맑은 고딕"/>
              </a:rPr>
              <a:t>특히 아이들에게 문자도는 학습 도구였다.</a:t>
            </a:r>
            <a:endParaRPr lang="ko-KR" sz="1700"/>
          </a:p>
        </p:txBody>
      </p:sp>
      <p:sp>
        <p:nvSpPr>
          <p:cNvPr id="9" name="ex_1"/>
          <p:cNvSpPr txBox="1"/>
          <p:nvPr/>
        </p:nvSpPr>
        <p:spPr>
          <a:xfrm>
            <a:off x="457200" y="1385443"/>
            <a:ext cx="11274552" cy="435483"/>
          </a:xfrm>
          <a:prstGeom prst="rect">
            <a:avLst/>
          </a:prstGeom>
          <a:noFill/>
        </p:spPr>
        <p:txBody>
          <a:bodyPr wrap="square" lIns="228600" tIns="54864" rIns="228600" bIns="54864" anchor="t" rtlCol="0">
            <a:noAutofit/>
          </a:bodyPr>
          <a:lstStyle/>
          <a:p>
            <a:pPr algn="l">
              <a:lnSpc>
                <a:spcPts val="2565"/>
              </a:lnSpc>
              <a:spcBef>
                <a:spcPts val="0"/>
              </a:spcBef>
              <a:spcAft>
                <a:spcPts val="0"/>
              </a:spcAft>
              <a:buNone/>
            </a:pPr>
            <a:r>
              <a:rPr lang="en-US" altLang="en-US" sz="1900" b="0" dirty="0">
                <a:solidFill>
                  <a:srgbClr val="1F2328"/>
                </a:solidFill>
                <a:latin typeface="Calibri"/>
                <a:ea typeface="맑은 고딕"/>
                <a:cs typeface="Calibri"/>
              </a:rPr>
              <a:t>In particular, for children,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was</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a study tool</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Munjado</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a:t>
            </a:r>
            <a:endParaRPr lang="ko-KR" sz="1900"/>
          </a:p>
        </p:txBody>
      </p:sp>
      <p:sp>
        <p:nvSpPr>
          <p:cNvPr id="10" name="rv_ans_1"/>
          <p:cNvSpPr txBox="1"/>
          <p:nvPr/>
        </p:nvSpPr>
        <p:spPr>
          <a:xfrm>
            <a:off x="594360" y="1857502"/>
            <a:ext cx="11000232" cy="423418"/>
          </a:xfrm>
          <a:prstGeom prst="rect">
            <a:avLst/>
          </a:prstGeom>
          <a:solidFill>
            <a:srgbClr val="FFF3C4"/>
          </a:solidFill>
        </p:spPr>
        <p:txBody>
          <a:bodyPr wrap="square" lIns="137160" tIns="54864" rIns="137160" bIns="54864" anchor="t" rtlCol="0">
            <a:noAutofit/>
          </a:bodyPr>
          <a:lstStyle/>
          <a:p>
            <a:pPr algn="l">
              <a:lnSpc>
                <a:spcPts val="2470"/>
              </a:lnSpc>
              <a:spcBef>
                <a:spcPts val="0"/>
              </a:spcBef>
              <a:spcAft>
                <a:spcPts val="0"/>
              </a:spcAft>
              <a:buNone/>
            </a:pPr>
            <a:r>
              <a:rPr lang="en-US" altLang="en-US" sz="1900" b="1" dirty="0">
                <a:solidFill>
                  <a:srgbClr val="C00000"/>
                </a:solidFill>
                <a:latin typeface="Calibri"/>
                <a:ea typeface="맑은 고딕"/>
                <a:cs typeface="Calibri"/>
              </a:rPr>
              <a:t>→  </a:t>
            </a:r>
            <a:r>
              <a:rPr lang="en-US" altLang="en-US" sz="1900" b="1" dirty="0">
                <a:solidFill>
                  <a:srgbClr val="C00000"/>
                </a:solidFill>
                <a:latin typeface="Calibri"/>
                <a:ea typeface="맑은 고딕"/>
                <a:cs typeface="Calibri"/>
              </a:rPr>
              <a:t>In particular, for children, Munjado was a study tool.</a:t>
            </a:r>
            <a:endParaRPr lang="ko-KR" sz="1900"/>
          </a:p>
        </p:txBody>
      </p:sp>
      <p:sp>
        <p:nvSpPr>
          <p:cNvPr id="11" name="item_card_2"/>
          <p:cNvSpPr/>
          <p:nvPr/>
        </p:nvSpPr>
        <p:spPr>
          <a:xfrm>
            <a:off x="457200" y="2408936"/>
            <a:ext cx="11274552" cy="1987677"/>
          </a:xfrm>
          <a:prstGeom prst="roundRect">
            <a:avLst>
              <a:gd name="adj" fmla="val 6000"/>
            </a:avLst>
          </a:prstGeom>
          <a:solidFill>
            <a:srgbClr val="F3F5F9"/>
          </a:solidFill>
          <a:ln w="12700">
            <a:solidFill>
              <a:srgbClr val="D9DFEA"/>
            </a:solidFill>
          </a:ln>
        </p:spPr>
        <p:txBody>
          <a:bodyPr rtlCol="0" anchor="ctr"/>
          <a:lstStyle/>
          <a:p>
            <a:pPr algn="ctr"/>
          </a:p>
        </p:txBody>
      </p:sp>
      <p:sp>
        <p:nvSpPr>
          <p:cNvPr id="12" name="kor_2"/>
          <p:cNvSpPr txBox="1"/>
          <p:nvPr/>
        </p:nvSpPr>
        <p:spPr>
          <a:xfrm>
            <a:off x="457200" y="2518664"/>
            <a:ext cx="11274552" cy="379603"/>
          </a:xfrm>
          <a:prstGeom prst="rect">
            <a:avLst/>
          </a:prstGeom>
          <a:noFill/>
        </p:spPr>
        <p:txBody>
          <a:bodyPr wrap="square" lIns="228600" tIns="54864" rIns="228600" bIns="54864" anchor="t" rtlCol="0">
            <a:noAutofit/>
          </a:bodyPr>
          <a:lstStyle/>
          <a:p>
            <a:pPr algn="l">
              <a:lnSpc>
                <a:spcPts val="2125"/>
              </a:lnSpc>
              <a:spcBef>
                <a:spcPts val="0"/>
              </a:spcBef>
              <a:spcAft>
                <a:spcPts val="0"/>
              </a:spcAft>
              <a:buNone/>
            </a:pPr>
            <a:r>
              <a:rPr lang="en-US" altLang="en-US" sz="1700" b="1" dirty="0">
                <a:solidFill>
                  <a:srgbClr val="1E2A5A"/>
                </a:solidFill>
                <a:latin typeface="Calibri"/>
                <a:ea typeface="맑은 고딕"/>
                <a:cs typeface="Calibri"/>
              </a:rPr>
              <a:t>10.  </a:t>
            </a:r>
            <a:r>
              <a:rPr lang="ko-KR" altLang="en-US" sz="1700" b="1" dirty="0">
                <a:solidFill>
                  <a:srgbClr val="1F2328"/>
                </a:solidFill>
                <a:latin typeface="맑은 고딕"/>
                <a:ea typeface="맑은 고딕"/>
                <a:cs typeface="맑은 고딕"/>
              </a:rPr>
              <a:t>그것을 통해 조선 시대의 아이들은 가족과 사회에서 조화의 중요성을 배울 수 있었다.</a:t>
            </a:r>
            <a:endParaRPr lang="ko-KR" sz="1700"/>
          </a:p>
        </p:txBody>
      </p:sp>
      <p:sp>
        <p:nvSpPr>
          <p:cNvPr id="13" name="ex_2"/>
          <p:cNvSpPr txBox="1"/>
          <p:nvPr/>
        </p:nvSpPr>
        <p:spPr>
          <a:xfrm>
            <a:off x="457200" y="2843403"/>
            <a:ext cx="11274552" cy="761238"/>
          </a:xfrm>
          <a:prstGeom prst="rect">
            <a:avLst/>
          </a:prstGeom>
          <a:noFill/>
        </p:spPr>
        <p:txBody>
          <a:bodyPr wrap="square" lIns="228600" tIns="54864" rIns="228600" bIns="54864" anchor="t" rtlCol="0">
            <a:noAutofit/>
          </a:bodyPr>
          <a:lstStyle/>
          <a:p>
            <a:pPr algn="l">
              <a:lnSpc>
                <a:spcPts val="2565"/>
              </a:lnSpc>
              <a:spcBef>
                <a:spcPts val="0"/>
              </a:spcBef>
              <a:spcAft>
                <a:spcPts val="0"/>
              </a:spcAft>
              <a:buNone/>
            </a:pPr>
            <a:r>
              <a:rPr lang="en-US" altLang="en-US" sz="1900" b="0" dirty="0">
                <a:solidFill>
                  <a:srgbClr val="1F2328"/>
                </a:solidFill>
                <a:latin typeface="Calibri"/>
                <a:ea typeface="맑은 고딕"/>
                <a:cs typeface="Calibri"/>
              </a:rPr>
              <a:t>Through it,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children</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in the Joseon dynasty</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in family and society</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the importance of harmony</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could learn</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a:t>
            </a:r>
            <a:endParaRPr lang="ko-KR" sz="1900"/>
          </a:p>
        </p:txBody>
      </p:sp>
      <p:sp>
        <p:nvSpPr>
          <p:cNvPr id="14" name="rv_ans_2"/>
          <p:cNvSpPr txBox="1"/>
          <p:nvPr/>
        </p:nvSpPr>
        <p:spPr>
          <a:xfrm>
            <a:off x="594360" y="3641217"/>
            <a:ext cx="11000232" cy="737108"/>
          </a:xfrm>
          <a:prstGeom prst="rect">
            <a:avLst/>
          </a:prstGeom>
          <a:solidFill>
            <a:srgbClr val="FFF3C4"/>
          </a:solidFill>
        </p:spPr>
        <p:txBody>
          <a:bodyPr wrap="square" lIns="137160" tIns="54864" rIns="137160" bIns="54864" anchor="t" rtlCol="0">
            <a:noAutofit/>
          </a:bodyPr>
          <a:lstStyle/>
          <a:p>
            <a:pPr algn="l">
              <a:lnSpc>
                <a:spcPts val="2470"/>
              </a:lnSpc>
              <a:spcBef>
                <a:spcPts val="0"/>
              </a:spcBef>
              <a:spcAft>
                <a:spcPts val="0"/>
              </a:spcAft>
              <a:buNone/>
            </a:pPr>
            <a:r>
              <a:rPr lang="en-US" altLang="en-US" sz="1900" b="1" dirty="0">
                <a:solidFill>
                  <a:srgbClr val="C00000"/>
                </a:solidFill>
                <a:latin typeface="Calibri"/>
                <a:ea typeface="맑은 고딕"/>
                <a:cs typeface="Calibri"/>
              </a:rPr>
              <a:t>→  </a:t>
            </a:r>
            <a:r>
              <a:rPr lang="en-US" altLang="en-US" sz="1900" b="1" dirty="0">
                <a:solidFill>
                  <a:srgbClr val="C00000"/>
                </a:solidFill>
                <a:latin typeface="Calibri"/>
                <a:ea typeface="맑은 고딕"/>
                <a:cs typeface="Calibri"/>
              </a:rPr>
              <a:t>Through it, children in the Joseon dynasty could learn the importance of harmony in family and society.</a:t>
            </a:r>
            <a:endParaRPr lang="ko-KR" sz="19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25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2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4"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