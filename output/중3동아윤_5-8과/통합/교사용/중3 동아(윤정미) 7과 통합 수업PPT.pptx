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7</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L7-1  ·  L7-2  ·  L7-3  ·  L7-4</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F2328"/>
                </a:solidFill>
                <a:latin typeface="Calibri"/>
                <a:ea typeface="맑은 고딕"/>
                <a:cs typeface="Calibri"/>
              </a:rPr>
              <a:t>Big data is data sets that are very big and complex.</a:t>
            </a:r>
            <a:r>
              <a:rPr lang="en-US" altLang="ko-KR" sz="14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F2328"/>
                </a:solidFill>
                <a:latin typeface="Calibri"/>
                <a:ea typeface="맑은 고딕"/>
                <a:cs typeface="Calibri"/>
              </a:rPr>
              <a:t>Using various methods, experts analyze big data and draw meaningful results from it.</a:t>
            </a:r>
            <a:r>
              <a:rPr lang="en-US" altLang="ko-KR" sz="1400" b="0" dirty="0">
                <a:solidFill>
                  <a:srgbClr val="1F2328"/>
                </a:solidFill>
                <a:latin typeface="Calibri"/>
                <a:ea typeface="맑은 고딕"/>
                <a:cs typeface="Calibri"/>
              </a:rPr>
              <a: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11111"/>
                </a:solidFill>
                <a:highlight>
                  <a:srgbClr val="FFE45C"/>
                </a:highlight>
                <a:latin typeface="Calibri"/>
                <a:ea typeface="맑은 고딕"/>
                <a:cs typeface="Calibri"/>
              </a:rPr>
              <a:t>Big data is data sets that are very big and complex.</a:t>
            </a:r>
            <a:r>
              <a:rPr lang="en-US" altLang="ko-KR" sz="1400" b="0" dirty="0">
                <a:solidFill>
                  <a:srgbClr val="B3BAC6"/>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11111"/>
                </a:solidFill>
                <a:highlight>
                  <a:srgbClr val="FFE45C"/>
                </a:highlight>
                <a:latin typeface="Calibri"/>
                <a:ea typeface="맑은 고딕"/>
                <a:cs typeface="Calibri"/>
              </a:rPr>
              <a:t>Using various methods, experts analyze big data and draw meaningful results from it.</a:t>
            </a:r>
            <a:r>
              <a:rPr lang="en-US" altLang="ko-KR" sz="1400" b="0" dirty="0">
                <a:solidFill>
                  <a:srgbClr val="B3BAC6"/>
                </a:solidFill>
                <a:latin typeface="Calibri"/>
                <a:ea typeface="맑은 고딕"/>
                <a:cs typeface="Calibri"/>
              </a:rPr>
              <a: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what big data is and how experts make use of it</a:t>
            </a:r>
            <a:endParaRPr lang="en-US" altLang="ko-KR" sz="1750" b="0" dirty="0">
              <a:solidFill>
                <a:srgbClr val="1F2328"/>
              </a:solidFill>
              <a:latin typeface="Calibri"/>
              <a:ea typeface="맑은 고딕"/>
              <a:cs typeface="Calibri"/>
            </a:endParaRPr>
          </a:p>
        </p:txBody>
      </p:sp>
      <p:sp>
        <p:nvSpPr>
          <p:cNvPr id="12" name="rv_pick"/>
          <p:cNvSpPr txBox="1"/>
          <p:nvPr/>
        </p:nvSpPr>
        <p:spPr>
          <a:xfrm>
            <a:off x="457200" y="3220720"/>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①</a:t>
            </a:r>
            <a:r>
              <a:rPr lang="en-US" altLang="ko-KR" sz="1750" b="0" dirty="0">
                <a:solidFill>
                  <a:srgbClr val="C00000"/>
                </a:solidFill>
                <a:latin typeface="Calibri"/>
                <a:ea typeface="맑은 고딕"/>
                <a:cs typeface="Calibri"/>
              </a:rPr>
              <a:t>	what big data is and how experts make use of it</a:t>
            </a:r>
            <a:endParaRPr lang="en-US" altLang="ko-KR" sz="1750" b="0" dirty="0">
              <a:solidFill>
                <a:srgbClr val="C00000"/>
              </a:solidFill>
              <a:latin typeface="Calibri"/>
              <a:ea typeface="맑은 고딕"/>
              <a:cs typeface="Calibri"/>
            </a:endParaRPr>
          </a:p>
        </p:txBody>
      </p:sp>
      <p:sp>
        <p:nvSpPr>
          <p:cNvPr id="13"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the reasons people enjoy shopping at online bookstores</a:t>
            </a:r>
            <a:endParaRPr lang="en-US" altLang="ko-KR" sz="1750" b="0" dirty="0">
              <a:solidFill>
                <a:srgbClr val="1F2328"/>
              </a:solidFill>
              <a:latin typeface="Calibri"/>
              <a:ea typeface="맑은 고딕"/>
              <a:cs typeface="Calibri"/>
            </a:endParaRPr>
          </a:p>
        </p:txBody>
      </p:sp>
      <p:sp>
        <p:nvSpPr>
          <p:cNvPr id="14"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the ways to protect your privacy on online websites</a:t>
            </a:r>
            <a:endParaRPr lang="en-US" altLang="ko-KR" sz="1750" b="0" dirty="0">
              <a:solidFill>
                <a:srgbClr val="1F2328"/>
              </a:solidFill>
              <a:latin typeface="Calibri"/>
              <a:ea typeface="맑은 고딕"/>
              <a:cs typeface="Calibri"/>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the problems caused by collecting too much data</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why information technology develops faster each year</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what big data is and how experts make use of it</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매우 크고 복잡한 데이터 집합이며 전문가가 분석해 결과를 끌어낸다고 했다. 개념과 활용을 함께 담은 ①이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F2328"/>
                </a:solidFill>
                <a:latin typeface="Calibri"/>
                <a:ea typeface="맑은 고딕"/>
                <a:cs typeface="Calibri"/>
              </a:rPr>
              <a:t>Big data is data sets that are very big and complex.</a:t>
            </a:r>
            <a:r>
              <a:rPr lang="en-US" altLang="ko-KR" sz="14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a:t>
            </a:r>
            <a:r>
              <a:rPr lang="en-US" altLang="ko-KR" sz="1400" b="0" dirty="0">
                <a:solidFill>
                  <a:srgbClr val="1F2328"/>
                </a:solidFill>
                <a:latin typeface="Calibri"/>
                <a:ea typeface="맑은 고딕"/>
                <a:cs typeface="Calibri"/>
              </a:rPr>
              <a:t>Big data has to be analyzed, and this is done by big data experts.</a:t>
            </a:r>
            <a:r>
              <a:rPr lang="en-US" altLang="ko-KR" sz="1400" b="0" dirty="0">
                <a:solidFill>
                  <a:srgbClr val="1F2328"/>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11111"/>
                </a:solidFill>
                <a:highlight>
                  <a:srgbClr val="FFE45C"/>
                </a:highlight>
                <a:latin typeface="Calibri"/>
                <a:ea typeface="맑은 고딕"/>
                <a:cs typeface="Calibri"/>
              </a:rPr>
              <a:t>Big data is data sets that are very big and complex.</a:t>
            </a:r>
            <a:r>
              <a:rPr lang="en-US" altLang="ko-KR" sz="1400" b="0" dirty="0">
                <a:solidFill>
                  <a:srgbClr val="B3BAC6"/>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a:t>
            </a:r>
            <a:r>
              <a:rPr lang="en-US" altLang="ko-KR" sz="1400" b="0" dirty="0">
                <a:solidFill>
                  <a:srgbClr val="111111"/>
                </a:solidFill>
                <a:highlight>
                  <a:srgbClr val="FFE45C"/>
                </a:highlight>
                <a:latin typeface="Calibri"/>
                <a:ea typeface="맑은 고딕"/>
                <a:cs typeface="Calibri"/>
              </a:rPr>
              <a:t>Big data has to be analyzed, and this is done by big data experts.</a:t>
            </a:r>
            <a:r>
              <a:rPr lang="en-US" altLang="ko-KR" sz="1400" b="0" dirty="0">
                <a:solidFill>
                  <a:srgbClr val="B3BAC6"/>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Online Bookstores Know Your Taste</a:t>
            </a:r>
            <a:endParaRPr lang="en-US" altLang="ko-KR" sz="1750" b="0" dirty="0">
              <a:solidFill>
                <a:srgbClr val="1F2328"/>
              </a:solidFill>
              <a:latin typeface="Calibri"/>
              <a:ea typeface="맑은 고딕"/>
              <a:cs typeface="Calibri"/>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Big Data: What It Is and How It Works</a:t>
            </a:r>
            <a:endParaRPr lang="en-US" altLang="ko-KR" sz="1750" b="0" dirty="0">
              <a:solidFill>
                <a:srgbClr val="1F2328"/>
              </a:solidFill>
              <a:latin typeface="Calibri"/>
              <a:ea typeface="맑은 고딕"/>
              <a:cs typeface="Calibri"/>
            </a:endParaRPr>
          </a:p>
        </p:txBody>
      </p:sp>
      <p:sp>
        <p:nvSpPr>
          <p:cNvPr id="13" name="rv_pick"/>
          <p:cNvSpPr txBox="1"/>
          <p:nvPr/>
        </p:nvSpPr>
        <p:spPr>
          <a:xfrm>
            <a:off x="457200" y="3617976"/>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②</a:t>
            </a:r>
            <a:r>
              <a:rPr lang="en-US" altLang="ko-KR" sz="1750" b="0" dirty="0">
                <a:solidFill>
                  <a:srgbClr val="C00000"/>
                </a:solidFill>
                <a:latin typeface="Calibri"/>
                <a:ea typeface="맑은 고딕"/>
                <a:cs typeface="Calibri"/>
              </a:rPr>
              <a:t>	Big Data: What It Is and How It Works</a:t>
            </a:r>
            <a:endParaRPr lang="en-US" altLang="ko-KR" sz="1750" b="0" dirty="0">
              <a:solidFill>
                <a:srgbClr val="C00000"/>
              </a:solidFill>
              <a:latin typeface="Calibri"/>
              <a:ea typeface="맑은 고딕"/>
              <a:cs typeface="Calibri"/>
            </a:endParaRPr>
          </a:p>
        </p:txBody>
      </p:sp>
      <p:sp>
        <p:nvSpPr>
          <p:cNvPr id="14"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Why Your Photos Belong on Your Blog</a:t>
            </a:r>
            <a:endParaRPr lang="en-US" altLang="ko-KR" sz="1750" b="0" dirty="0">
              <a:solidFill>
                <a:srgbClr val="1F2328"/>
              </a:solidFill>
              <a:latin typeface="Calibri"/>
              <a:ea typeface="맑은 고딕"/>
              <a:cs typeface="Calibri"/>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Too Much Data Can Hurt Your Privacy</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Technology Develops, Data Disappears</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Big Data: What It Is and How It Works</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빅데이터의 정의와 분석·활용 과정을 차례로 설명하므로 '무엇이며 어떻게 작동하는가'를 묻는 ②가 제목으로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F2328"/>
                </a:solidFill>
                <a:latin typeface="Calibri"/>
                <a:ea typeface="맑은 고딕"/>
                <a:cs typeface="Calibri"/>
              </a:rPr>
              <a:t>Simply collecting data, however, is not enough.</a:t>
            </a:r>
            <a:r>
              <a:rPr lang="en-US" altLang="ko-KR" sz="1400" b="0" dirty="0">
                <a:solidFill>
                  <a:srgbClr val="1F2328"/>
                </a:solidFill>
                <a:latin typeface="Calibri"/>
                <a:ea typeface="맑은 고딕"/>
                <a:cs typeface="Calibri"/>
              </a:rPr>
              <a:t> </a:t>
            </a:r>
            <a:r>
              <a:rPr lang="en-US" altLang="ko-KR" sz="1400" b="0" dirty="0">
                <a:solidFill>
                  <a:srgbClr val="1F2328"/>
                </a:solidFill>
                <a:latin typeface="Calibri"/>
                <a:ea typeface="맑은 고딕"/>
                <a:cs typeface="Calibri"/>
              </a:rPr>
              <a:t>Big data has to be analyzed, and this is done by big data experts.</a:t>
            </a:r>
            <a:r>
              <a:rPr lang="en-US" altLang="ko-KR" sz="1400" b="0" dirty="0">
                <a:solidFill>
                  <a:srgbClr val="1F2328"/>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11111"/>
                </a:solidFill>
                <a:highlight>
                  <a:srgbClr val="FFE45C"/>
                </a:highlight>
                <a:latin typeface="Calibri"/>
                <a:ea typeface="맑은 고딕"/>
                <a:cs typeface="Calibri"/>
              </a:rPr>
              <a:t>Simply collecting data, however, is not enough.</a:t>
            </a:r>
            <a:r>
              <a:rPr lang="en-US" altLang="ko-KR" sz="1400" b="0" dirty="0">
                <a:solidFill>
                  <a:srgbClr val="B3BAC6"/>
                </a:solidFill>
                <a:latin typeface="Calibri"/>
                <a:ea typeface="맑은 고딕"/>
                <a:cs typeface="Calibri"/>
              </a:rPr>
              <a:t> </a:t>
            </a:r>
            <a:r>
              <a:rPr lang="en-US" altLang="ko-KR" sz="1400" b="0" dirty="0">
                <a:solidFill>
                  <a:srgbClr val="111111"/>
                </a:solidFill>
                <a:highlight>
                  <a:srgbClr val="FFE45C"/>
                </a:highlight>
                <a:latin typeface="Calibri"/>
                <a:ea typeface="맑은 고딕"/>
                <a:cs typeface="Calibri"/>
              </a:rPr>
              <a:t>Big data has to be analyzed, and this is done by big data experts.</a:t>
            </a:r>
            <a:r>
              <a:rPr lang="en-US" altLang="ko-KR" sz="1400" b="0" dirty="0">
                <a:solidFill>
                  <a:srgbClr val="B3BAC6"/>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온라인 서점은 고객의 취향을 더 존중해 책을 추천해야 한다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개인 정보를 지키려면 온라인에 흔적을 남기지 말아야 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빅데이터는 수집 후 전문가의 분석을 거쳐야 쓸모가 있다</a:t>
            </a:r>
            <a:endParaRPr lang="ko-KR" altLang="en-US" sz="1750" b="0" dirty="0">
              <a:solidFill>
                <a:srgbClr val="1F2328"/>
              </a:solidFill>
              <a:latin typeface="맑은 고딕"/>
              <a:ea typeface="맑은 고딕"/>
              <a:cs typeface="맑은 고딕"/>
            </a:endParaRPr>
          </a:p>
        </p:txBody>
      </p:sp>
      <p:sp>
        <p:nvSpPr>
          <p:cNvPr id="14" name="rv_pick"/>
          <p:cNvSpPr txBox="1"/>
          <p:nvPr/>
        </p:nvSpPr>
        <p:spPr>
          <a:xfrm>
            <a:off x="457200" y="4015232"/>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③</a:t>
            </a:r>
            <a:r>
              <a:rPr lang="ko-KR" altLang="en-US" sz="1750" b="0" dirty="0">
                <a:solidFill>
                  <a:srgbClr val="C00000"/>
                </a:solidFill>
                <a:latin typeface="맑은 고딕"/>
                <a:ea typeface="맑은 고딕"/>
                <a:cs typeface="맑은 고딕"/>
              </a:rPr>
              <a:t>	빅데이터는 수집 후 전문가의 분석을 거쳐야 쓸모가 있다</a:t>
            </a:r>
            <a:endParaRPr lang="ko-KR" altLang="en-US" sz="1750" b="0" dirty="0">
              <a:solidFill>
                <a:srgbClr val="C00000"/>
              </a:solidFill>
              <a:latin typeface="맑은 고딕"/>
              <a:ea typeface="맑은 고딕"/>
              <a:cs typeface="맑은 고딕"/>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정보 통신 기술의 발달 속도를 조금 더 늦출 필요가 있다</a:t>
            </a:r>
            <a:endParaRPr lang="ko-KR" altLang="en-US" sz="1750" b="0" dirty="0">
              <a:solidFill>
                <a:srgbClr val="1F2328"/>
              </a:solidFill>
              <a:latin typeface="맑은 고딕"/>
              <a:ea typeface="맑은 고딕"/>
              <a:cs typeface="맑은 고딕"/>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블로그에 올리는 사진은 신중하게 골라서 공유해야 한다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빅데이터는 수집 후 전문가의 분석을 거쳐야 쓸모가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데이터를 모으기만 해서는 충분하지 않고 전문가가 분석해야 한다고 했다. 이를 옮긴 ③이 필자의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F2328"/>
                </a:solidFill>
                <a:latin typeface="Calibri"/>
                <a:ea typeface="맑은 고딕"/>
                <a:cs typeface="Calibri"/>
              </a:rPr>
              <a:t>Using various methods, experts analyze big data and draw meaningful results from it.</a:t>
            </a:r>
            <a:r>
              <a:rPr lang="en-US" altLang="ko-KR" sz="1400" b="0" dirty="0">
                <a:solidFill>
                  <a:srgbClr val="1F2328"/>
                </a:solidFill>
                <a:latin typeface="Calibri"/>
                <a:ea typeface="맑은 고딕"/>
                <a:cs typeface="Calibri"/>
              </a:rPr>
              <a:t> </a:t>
            </a:r>
            <a:r>
              <a:rPr lang="en-US" altLang="ko-KR" sz="1400" b="0" dirty="0">
                <a:solidFill>
                  <a:srgbClr val="1F2328"/>
                </a:solidFill>
                <a:latin typeface="Calibri"/>
                <a:ea typeface="맑은 고딕"/>
                <a:cs typeface="Calibri"/>
              </a:rPr>
              <a:t>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11111"/>
                </a:solidFill>
                <a:highlight>
                  <a:srgbClr val="FFE45C"/>
                </a:highlight>
                <a:latin typeface="Calibri"/>
                <a:ea typeface="맑은 고딕"/>
                <a:cs typeface="Calibri"/>
              </a:rPr>
              <a:t>Using various methods, experts analyze big data and draw meaningful results from it.</a:t>
            </a:r>
            <a:r>
              <a:rPr lang="en-US" altLang="ko-KR" sz="1400" b="0" dirty="0">
                <a:solidFill>
                  <a:srgbClr val="B3BAC6"/>
                </a:solidFill>
                <a:latin typeface="Calibri"/>
                <a:ea typeface="맑은 고딕"/>
                <a:cs typeface="Calibri"/>
              </a:rPr>
              <a:t> </a:t>
            </a:r>
            <a:r>
              <a:rPr lang="en-US" altLang="ko-KR" sz="1400" b="0" dirty="0">
                <a:solidFill>
                  <a:srgbClr val="111111"/>
                </a:solidFill>
                <a:highlight>
                  <a:srgbClr val="FFE45C"/>
                </a:highlight>
                <a:latin typeface="Calibri"/>
                <a:ea typeface="맑은 고딕"/>
                <a:cs typeface="Calibri"/>
              </a:rPr>
              <a:t>These results then can be used to make decisions or to predict the future.</a:t>
            </a:r>
            <a:endParaRPr lang="en-US" altLang="ko-KR" sz="1400" b="0" dirty="0">
              <a:solidFill>
                <a:srgbClr val="111111"/>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온라인 서점의 추천 도서는 대부분 독자의 흥미를 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데이터의 양이 많아질수록 그 분석은 불가능해진다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온라인 구매 기록은 빅데이터에 포함되지 않는다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빅데이터는 분석을 거쳐 의사결정과 예측에 활용된다</a:t>
            </a:r>
            <a:endParaRPr lang="ko-KR" altLang="en-US" sz="1750" b="0" dirty="0">
              <a:solidFill>
                <a:srgbClr val="1F2328"/>
              </a:solidFill>
              <a:latin typeface="맑은 고딕"/>
              <a:ea typeface="맑은 고딕"/>
              <a:cs typeface="맑은 고딕"/>
            </a:endParaRPr>
          </a:p>
        </p:txBody>
      </p:sp>
      <p:sp>
        <p:nvSpPr>
          <p:cNvPr id="15" name="rv_pick"/>
          <p:cNvSpPr txBox="1"/>
          <p:nvPr/>
        </p:nvSpPr>
        <p:spPr>
          <a:xfrm>
            <a:off x="457200" y="4412488"/>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④</a:t>
            </a:r>
            <a:r>
              <a:rPr lang="ko-KR" altLang="en-US" sz="1750" b="0" dirty="0">
                <a:solidFill>
                  <a:srgbClr val="C00000"/>
                </a:solidFill>
                <a:latin typeface="맑은 고딕"/>
                <a:ea typeface="맑은 고딕"/>
                <a:cs typeface="맑은 고딕"/>
              </a:rPr>
              <a:t>	빅데이터는 분석을 거쳐 의사결정과 예측에 활용된다</a:t>
            </a:r>
            <a:endParaRPr lang="ko-KR" altLang="en-US" sz="1750" b="0" dirty="0">
              <a:solidFill>
                <a:srgbClr val="C00000"/>
              </a:solidFill>
              <a:latin typeface="맑은 고딕"/>
              <a:ea typeface="맑은 고딕"/>
              <a:cs typeface="맑은 고딕"/>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데이터는 많이 모으는 것만으로 충분한 가치가 있다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빅데이터는 분석을 거쳐 의사결정과 예측에 활용된다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분석에서 얻은 결과가 결정을 내리고 미래를 예측하는 데 쓰인다고 했으므로 ④가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F2328"/>
                </a:solidFill>
                <a:latin typeface="Calibri"/>
                <a:ea typeface="맑은 고딕"/>
                <a:cs typeface="Calibri"/>
              </a:rPr>
              <a:t>Simply collecting data, however, is not enough</a:t>
            </a:r>
            <a:r>
              <a:rPr lang="en-US" altLang="ko-KR" sz="1400" b="0" dirty="0">
                <a:solidFill>
                  <a:srgbClr val="1F2328"/>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11111"/>
                </a:solidFill>
                <a:highlight>
                  <a:srgbClr val="FFE45C"/>
                </a:highlight>
                <a:latin typeface="Calibri"/>
                <a:ea typeface="맑은 고딕"/>
                <a:cs typeface="Calibri"/>
              </a:rPr>
              <a:t>Simply collecting data, however, is not enough</a:t>
            </a:r>
            <a:r>
              <a:rPr lang="en-US" altLang="ko-KR" sz="1400" b="0" dirty="0">
                <a:solidFill>
                  <a:srgbClr val="B3BAC6"/>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온라인 서점은 고객에게 책을 추천해 줄 수 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빅데이터는 매우 크고 복잡한 데이터의 집합이다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단순히 데이터를 수집하는 것만으로도 충분하다</a:t>
            </a:r>
            <a:endParaRPr lang="ko-KR" altLang="en-US" sz="1750" b="0" dirty="0">
              <a:solidFill>
                <a:srgbClr val="1F2328"/>
              </a:solidFill>
              <a:latin typeface="맑은 고딕"/>
              <a:ea typeface="맑은 고딕"/>
              <a:cs typeface="맑은 고딕"/>
            </a:endParaRPr>
          </a:p>
        </p:txBody>
      </p:sp>
      <p:sp>
        <p:nvSpPr>
          <p:cNvPr id="14" name="rv_pick"/>
          <p:cNvSpPr txBox="1"/>
          <p:nvPr/>
        </p:nvSpPr>
        <p:spPr>
          <a:xfrm>
            <a:off x="457200" y="4015232"/>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③</a:t>
            </a:r>
            <a:r>
              <a:rPr lang="ko-KR" altLang="en-US" sz="1750" b="0" dirty="0">
                <a:solidFill>
                  <a:srgbClr val="C00000"/>
                </a:solidFill>
                <a:latin typeface="맑은 고딕"/>
                <a:ea typeface="맑은 고딕"/>
                <a:cs typeface="맑은 고딕"/>
              </a:rPr>
              <a:t>	단순히 데이터를 수집하는 것만으로도 충분하다</a:t>
            </a:r>
            <a:endParaRPr lang="ko-KR" altLang="en-US" sz="1750" b="0" dirty="0">
              <a:solidFill>
                <a:srgbClr val="C00000"/>
              </a:solidFill>
              <a:latin typeface="맑은 고딕"/>
              <a:ea typeface="맑은 고딕"/>
              <a:cs typeface="맑은 고딕"/>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우리가 온라인에서 하는 거의 모든 일은 흔적을 남긴다</a:t>
            </a:r>
            <a:endParaRPr lang="ko-KR" altLang="en-US" sz="1750" b="0" dirty="0">
              <a:solidFill>
                <a:srgbClr val="1F2328"/>
              </a:solidFill>
              <a:latin typeface="맑은 고딕"/>
              <a:ea typeface="맑은 고딕"/>
              <a:cs typeface="맑은 고딕"/>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전문가들은 빅데이터에서 의미 있는 결과를 얻는다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단순히 데이터를 수집하는 것만으로도 충분하다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단순히 데이터를 모으는 것만으로는 충분하지 않다('not enough')고 했으므로 충분하다는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a:t>
            </a:r>
            <a:r>
              <a:rPr lang="en-US" altLang="ko-KR" sz="1400" b="0" dirty="0">
                <a:solidFill>
                  <a:srgbClr val="1F2328"/>
                </a:solidFill>
                <a:latin typeface="Calibri"/>
                <a:ea typeface="맑은 고딕"/>
                <a:cs typeface="Calibri"/>
              </a:rPr>
              <a:t>to make decisions or to predict the future</a:t>
            </a:r>
            <a:r>
              <a:rPr lang="en-US" altLang="ko-KR" sz="1400" b="0" dirty="0">
                <a:solidFill>
                  <a:srgbClr val="1F2328"/>
                </a:solidFill>
                <a:latin typeface="Calibri"/>
                <a:ea typeface="맑은 고딕"/>
                <a:cs typeface="Calibri"/>
              </a:rPr>
              <a:t>.</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a:t>
            </a:r>
            <a:r>
              <a:rPr lang="en-US" altLang="ko-KR" sz="1400" b="0" dirty="0">
                <a:solidFill>
                  <a:srgbClr val="111111"/>
                </a:solidFill>
                <a:highlight>
                  <a:srgbClr val="FFE45C"/>
                </a:highlight>
                <a:latin typeface="Calibri"/>
                <a:ea typeface="맑은 고딕"/>
                <a:cs typeface="Calibri"/>
              </a:rPr>
              <a:t>to make decisions or to predict the future</a:t>
            </a:r>
            <a:r>
              <a:rPr lang="en-US" altLang="ko-KR" sz="1400" b="0" dirty="0">
                <a:solidFill>
                  <a:srgbClr val="B3BAC6"/>
                </a:solidFill>
                <a:latin typeface="Calibri"/>
                <a:ea typeface="맑은 고딕"/>
                <a:cs typeface="Calibri"/>
              </a:rPr>
              <a:t>.</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데이터의 양은 이전보다 점점 줄어들고 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블로그에 올린 사진은 빅데이터에서 제외된다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빅데이터 분석은 일반 사용자들이 직접 한다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빅데이터는 단순하고 작은 데이터의 모음이다</a:t>
            </a:r>
            <a:endParaRPr lang="ko-KR" altLang="en-US" sz="1750" b="0" dirty="0">
              <a:solidFill>
                <a:srgbClr val="1F2328"/>
              </a:solidFill>
              <a:latin typeface="맑은 고딕"/>
              <a:ea typeface="맑은 고딕"/>
              <a:cs typeface="맑은 고딕"/>
            </a:endParaRPr>
          </a:p>
        </p:txBody>
      </p:sp>
      <p:sp>
        <p:nvSpPr>
          <p:cNvPr id="15"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분석 결과는 미래를 예측하는 데 쓰일 수 있다</a:t>
            </a:r>
            <a:endParaRPr lang="ko-KR" altLang="en-US" sz="1750" b="0" dirty="0">
              <a:solidFill>
                <a:srgbClr val="1F2328"/>
              </a:solidFill>
              <a:latin typeface="맑은 고딕"/>
              <a:ea typeface="맑은 고딕"/>
              <a:cs typeface="맑은 고딕"/>
            </a:endParaRPr>
          </a:p>
        </p:txBody>
      </p:sp>
      <p:sp>
        <p:nvSpPr>
          <p:cNvPr id="16" name="rv_pick"/>
          <p:cNvSpPr txBox="1"/>
          <p:nvPr/>
        </p:nvSpPr>
        <p:spPr>
          <a:xfrm>
            <a:off x="457200" y="4809744"/>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⑤</a:t>
            </a:r>
            <a:r>
              <a:rPr lang="ko-KR" altLang="en-US" sz="1750" b="0" dirty="0">
                <a:solidFill>
                  <a:srgbClr val="C00000"/>
                </a:solidFill>
                <a:latin typeface="맑은 고딕"/>
                <a:ea typeface="맑은 고딕"/>
                <a:cs typeface="맑은 고딕"/>
              </a:rPr>
              <a:t>	분석 결과는 미래를 예측하는 데 쓰일 수 있다</a:t>
            </a:r>
            <a:endParaRPr lang="ko-KR" altLang="en-US" sz="1750" b="0" dirty="0">
              <a:solidFill>
                <a:srgbClr val="C00000"/>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분석 결과는 미래를 예측하는 데 쓰일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분석 결과는 결정을 내리거나 미래를 예측하는 데 쓰일 수 있다고 했으므로 ⑤가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119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119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Have you ever visited an online bookstore and been surprised by the books that the store recommended for you?</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520190"/>
            <a:ext cx="11277295" cy="26639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0190"/>
            <a:ext cx="11277295" cy="266395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Many of them looked interesting to you. So how did the bookstore know what you liked? This is all possible because of big data. Big data is data sets that are very big and complex.</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0593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404866"/>
            <a:ext cx="11277295" cy="101422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(A) 'Many of them'은 추천받은 책들을 받고 빅데이터를 정의한다 → (C) 데이터 양이 늘지만 수집만으론 부족하다('however') → (B) 그래서 분석되어야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119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119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Have you ever visited an online bookstore and been surprised by the books that the store recommended for you?</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520190"/>
            <a:ext cx="11277295" cy="26639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0190"/>
            <a:ext cx="11277295" cy="266395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Many of them looked interesting to you. So how did the bookstore know what you liked? This is all possible because of big data. Big data is data sets that are very big and complex.</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0593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404866"/>
            <a:ext cx="11277295" cy="101422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'Many of them'이 추천받은 책들을 가리키며 빅데이터를 정의한다 → (C) 데이터가 늘지만 수집만으론 부족하다 → (A) 'Big data has to be analyzed'로 분석을 설명한다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Many of them looked interesting to you.</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35255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Have you ever visited an online bookstore and been surprised by the books that the store recommended for you?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So how did the bookstore know what you liked?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is all possible because of big data.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Big data is data sets that are very big and complex.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Have you ever visited an online bookstore and been surprised by the books that the store recommended for you?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So how did the bookstore know what you liked?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is all possible because of big data.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Big data is data sets that are very big and complex.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523976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838698"/>
            <a:ext cx="11277295" cy="5803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270"/>
              </a:lnSpc>
              <a:spcBef>
                <a:spcPts val="0"/>
              </a:spcBef>
              <a:spcAft>
                <a:spcPts val="0"/>
              </a:spcAft>
              <a:buNone/>
            </a:pPr>
            <a:r>
              <a:rPr lang="ko-KR" altLang="en-US" sz="1600" b="1" dirty="0">
                <a:solidFill>
                  <a:srgbClr val="1E2A5A"/>
                </a:solidFill>
                <a:latin typeface="맑은 고딕"/>
                <a:ea typeface="맑은 고딕"/>
                <a:cs typeface="맑은 고딕"/>
              </a:rPr>
              <a:t>정답 원리   </a:t>
            </a:r>
            <a:r>
              <a:rPr lang="ko-KR" altLang="en-US" sz="1600" b="0" dirty="0">
                <a:solidFill>
                  <a:srgbClr val="16284A"/>
                </a:solidFill>
                <a:latin typeface="맑은 고딕"/>
                <a:ea typeface="맑은 고딕"/>
                <a:cs typeface="맑은 고딕"/>
              </a:rPr>
              <a:t>주어진 문장의 'them'은 서점이 추천한 책들이다. 추천 도서 이야기 바로 뒤, 'So how did'로 이유를 묻기 전인 ②에 들어가야 한다.</a:t>
            </a:r>
            <a:endParaRPr lang="ko-KR" altLang="en-US" sz="16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So how did the bookstore know what you liked?</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35255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Have you ever visited an online bookstore and been surprised by the books that the store recommended for you?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Many of them looked interesting to you.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is all possible because of big data.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Big data is data sets that are very big and complex.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Have you ever visited an online bookstore and been surprised by the books that the store recommended for you?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Many of them looked interesting to you.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is all possible because of big data.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Big data is data sets that are very big and complex.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523976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838698"/>
            <a:ext cx="11277295" cy="5803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'This is all possible'의 This는 서점이 내 취향을 안 일이다. 그 일을 묻는 주어진 문장이 앞에 있어야 하므로 ③이 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7개)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99735"/>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Have you ever visited an online bookstore and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been surprising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been surprised</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by the books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that the store recommended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what the store recommended</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for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Many of them looked interesting to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So how did the bookstore know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what you liked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that you liked</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all possible because of big data.</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is data sets that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are very big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very big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and complex.</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⑥</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As information and communication technology develops, the amount of data we have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are getting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getting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much greater than before.</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⑦</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mainly because almost everything that we do online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leave a trace</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leaves a trace</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⑧</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For example, the photos you upload on your blog and the records of your purchases at online stores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are all part</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all part</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of big data.</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⑨</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Simply collecting data, however, is not enough.</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⑩</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has to be analyzed, and this is done by big data experts.</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⑪</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Using various methods, experts analyze big data and draw meaningful results from it.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⑫</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9" name="rv_g01"/>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C00000"/>
                </a:solidFill>
                <a:highlight>
                  <a:srgbClr val="F3F5F9"/>
                </a:highlight>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0" name="rv_g02"/>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1" name="rv_g03"/>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2" name="rv_g04"/>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3" name="rv_g05"/>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C00000"/>
                </a:solidFill>
                <a:highlight>
                  <a:srgbClr val="F3F5F9"/>
                </a:highlight>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4" name="rv_g06"/>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C00000"/>
                </a:solidFill>
                <a:highlight>
                  <a:srgbClr val="F3F5F9"/>
                </a:highlight>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5" name="rv_g07"/>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8개)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99735"/>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Have you ever visited an online bookstore and been surprised by the books that the store recommended for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Many of them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looked interesting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looked interestingly</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to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So how did the bookstore know what you liked?</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all possible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because of big data</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because big data</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is data sets that are very big and complex.</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⑥</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⑦</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mainly because almost everything that we do online leaves a trace.</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⑧</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⑨</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Simply collecting data, however,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is not enough</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are not enough</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⑩</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has to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 analyzed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analyze</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and this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is done</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doing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by big data experts.</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⑪</a:t>
            </a:r>
            <a:r>
              <a:rPr lang="en-US" altLang="ko-KR" sz="1750" b="0"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Using various methods</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Used various methods</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experts analyze big data and draw meaningful results from it.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⑫</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These results then can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 used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use</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to make decisions or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to predict</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predicting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9" name="rv_g01"/>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0" name="rv_g02"/>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1" name="rv_g03"/>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2" name="rv_g04"/>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3" name="rv_g05"/>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4" name="rv_g06"/>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5" name="rv_g07"/>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6" name="rv_g08"/>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a:t>
            </a:r>
            <a:r>
              <a:rPr lang="en-US" altLang="ko-KR" sz="1500" b="0" dirty="0">
                <a:solidFill>
                  <a:srgbClr val="1F2328"/>
                </a:solidFill>
                <a:latin typeface="Calibri"/>
                <a:ea typeface="맑은 고딕"/>
                <a:cs typeface="Calibri"/>
              </a:rPr>
              <a:t> It helps companies understand their customers’ needs better and helps them sell more products. It helps people avoid heavy traffic. </a:t>
            </a:r>
            <a:r>
              <a:rPr lang="en-US" altLang="ko-KR" sz="1500" b="0" dirty="0">
                <a:solidFill>
                  <a:srgbClr val="1F2328"/>
                </a:solidFill>
                <a:latin typeface="Calibri"/>
                <a:ea typeface="맑은 고딕"/>
                <a:cs typeface="Calibri"/>
              </a:rPr>
              <a:t>Its uses are endless, and here are some interesting examples.</a:t>
            </a:r>
            <a:r>
              <a:rPr lang="en-US" altLang="ko-KR" sz="1500" b="0" dirty="0">
                <a:solidFill>
                  <a:srgbClr val="1F2328"/>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Big data is influencing almost all parts of our lives.</a:t>
            </a:r>
            <a:r>
              <a:rPr lang="en-US" altLang="ko-KR" sz="1500" b="0" dirty="0">
                <a:solidFill>
                  <a:srgbClr val="B3BAC6"/>
                </a:solidFill>
                <a:latin typeface="Calibri"/>
                <a:ea typeface="맑은 고딕"/>
                <a:cs typeface="Calibri"/>
              </a:rPr>
              <a:t> It helps companies understand their customers’ needs better and helps them sell more products. It helps people avoid heavy traffic. </a:t>
            </a:r>
            <a:r>
              <a:rPr lang="en-US" altLang="ko-KR" sz="1500" b="0" dirty="0">
                <a:solidFill>
                  <a:srgbClr val="111111"/>
                </a:solidFill>
                <a:highlight>
                  <a:srgbClr val="FFE45C"/>
                </a:highlight>
                <a:latin typeface="Calibri"/>
                <a:ea typeface="맑은 고딕"/>
                <a:cs typeface="Calibri"/>
              </a:rPr>
              <a:t>Its uses are endless, and here are some interesting examples.</a:t>
            </a:r>
            <a:r>
              <a:rPr lang="en-US" altLang="ko-KR" sz="1500" b="0" dirty="0">
                <a:solidFill>
                  <a:srgbClr val="B3BAC6"/>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reasons people search online about the flu</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various ways big data affects our lives</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the various ways big data affects our lives</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weather experts forecast the weather well</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difficulty of selling more flu medicine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heavy traffic happens in big cities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various ways big data affects our lives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삶의 거의 모든 부분에 영향을 주고 쓰임이 끝없다고 했다. 이를 담은 ②가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a:t>
            </a:r>
            <a:r>
              <a:rPr lang="en-US" altLang="ko-KR" sz="1500" b="0" dirty="0">
                <a:solidFill>
                  <a:srgbClr val="1F2328"/>
                </a:solidFill>
                <a:latin typeface="Calibri"/>
                <a:ea typeface="맑은 고딕"/>
                <a:cs typeface="Calibri"/>
              </a:rPr>
              <a:t>Its uses are endless</a:t>
            </a:r>
            <a:r>
              <a:rPr lang="en-US" altLang="ko-KR" sz="1500" b="0" dirty="0">
                <a:solidFill>
                  <a:srgbClr val="1F2328"/>
                </a:solidFill>
                <a:latin typeface="Calibri"/>
                <a:ea typeface="맑은 고딕"/>
                <a:cs typeface="Calibri"/>
              </a:rPr>
              <a:t>,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a:t>
            </a:r>
            <a:r>
              <a:rPr lang="en-US" altLang="ko-KR" sz="1500" b="0" dirty="0">
                <a:solidFill>
                  <a:srgbClr val="111111"/>
                </a:solidFill>
                <a:highlight>
                  <a:srgbClr val="FFE45C"/>
                </a:highlight>
                <a:latin typeface="Calibri"/>
                <a:ea typeface="맑은 고딕"/>
                <a:cs typeface="Calibri"/>
              </a:rPr>
              <a:t>Its uses are endless</a:t>
            </a:r>
            <a:r>
              <a:rPr lang="en-US" altLang="ko-KR" sz="1500" b="0" dirty="0">
                <a:solidFill>
                  <a:srgbClr val="B3BAC6"/>
                </a:solidFill>
                <a:latin typeface="Calibri"/>
                <a:ea typeface="맑은 고딕"/>
                <a:cs typeface="Calibri"/>
              </a:rPr>
              <a:t>,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How to Avoid the Flu This Season</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Weather Experts Versus Doctors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Big Data: Endless Uses in Our Lives</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Big Data: Endless Uses in Our Lives</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Why Companies Sell More Products</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Searching Online Is Never Wise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Big Data: Endless Uses in Our Lives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회사, 교통, 질병 예측 등 빅데이터의 다양한 쓰임을 소개하므로 'Endless Uses'를 담은 ③이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a:t>
            </a:r>
            <a:r>
              <a:rPr lang="en-US" altLang="ko-KR" sz="1500" b="0" dirty="0">
                <a:solidFill>
                  <a:srgbClr val="1F2328"/>
                </a:solidFill>
                <a:latin typeface="Calibri"/>
                <a:ea typeface="맑은 고딕"/>
                <a:cs typeface="Calibri"/>
              </a:rPr>
              <a:t>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a:t>
            </a:r>
            <a:r>
              <a:rPr lang="en-US" altLang="ko-KR" sz="1500" b="0" dirty="0">
                <a:solidFill>
                  <a:srgbClr val="111111"/>
                </a:solidFill>
                <a:highlight>
                  <a:srgbClr val="FFE45C"/>
                </a:highlight>
                <a:latin typeface="Calibri"/>
                <a:ea typeface="맑은 고딕"/>
                <a:cs typeface="Calibri"/>
              </a:rPr>
              <a:t>If this kind of data is analyzed wisely, the spread of the flu can be predicted.</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독감 철에는 독감 약을 미리 넉넉히 구입해 두어야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교통 체증을 피하려면 대중교통을 더 자주 이용해야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건강 전문가들은 날씨 전문가에게 예측 방법을 배워야 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빅데이터를 현명하게 분석하면 삶의 여러 문제에 활용된다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빅데이터를 현명하게 분석하면 삶의 여러 문제에 활용된다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온라인에서 증상을 검색하기 전에 먼저 병원에 가야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빅데이터를 현명하게 분석하면 삶의 여러 문제에 활용된다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데이터를 현명하게 분석하면 독감 확산까지 예측할 수 있다고 했다. 이를 일반화한 ④가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a:t>
            </a:r>
            <a:r>
              <a:rPr lang="en-US" altLang="ko-KR" sz="1500" b="0" dirty="0">
                <a:solidFill>
                  <a:srgbClr val="1F2328"/>
                </a:solidFill>
                <a:latin typeface="Calibri"/>
                <a:ea typeface="맑은 고딕"/>
                <a:cs typeface="Calibri"/>
              </a:rPr>
              <a:t> It helps companies understand their customers’ needs better and helps them sell more products. It helps people avoid heavy traffic. Its uses are endless, and here are some interesting examples. </a:t>
            </a:r>
            <a:r>
              <a:rPr lang="en-US" altLang="ko-KR" sz="1500" b="0" dirty="0">
                <a:solidFill>
                  <a:srgbClr val="1F2328"/>
                </a:solidFill>
                <a:latin typeface="Calibri"/>
                <a:ea typeface="맑은 고딕"/>
                <a:cs typeface="Calibri"/>
              </a:rPr>
              <a:t>Did you know that health professionals can now forecast a disease just as weather experts forecast the weather?</a:t>
            </a:r>
            <a:r>
              <a:rPr lang="en-US" altLang="ko-KR" sz="1500" b="0" dirty="0">
                <a:solidFill>
                  <a:srgbClr val="1F2328"/>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Big data is influencing almost all parts of our lives.</a:t>
            </a:r>
            <a:r>
              <a:rPr lang="en-US" altLang="ko-KR" sz="1500" b="0" dirty="0">
                <a:solidFill>
                  <a:srgbClr val="B3BAC6"/>
                </a:solidFill>
                <a:latin typeface="Calibri"/>
                <a:ea typeface="맑은 고딕"/>
                <a:cs typeface="Calibri"/>
              </a:rPr>
              <a:t> It helps companies understand their customers’ needs better and helps them sell more products. It helps people avoid heavy traffic. Its uses are endless, and here are some interesting examples. </a:t>
            </a:r>
            <a:r>
              <a:rPr lang="en-US" altLang="ko-KR" sz="1500" b="0" dirty="0">
                <a:solidFill>
                  <a:srgbClr val="111111"/>
                </a:solidFill>
                <a:highlight>
                  <a:srgbClr val="FFE45C"/>
                </a:highlight>
                <a:latin typeface="Calibri"/>
                <a:ea typeface="맑은 고딕"/>
                <a:cs typeface="Calibri"/>
              </a:rPr>
              <a:t>Did you know that health professionals can now forecast a disease just as weather experts forecast the weather?</a:t>
            </a:r>
            <a:r>
              <a:rPr lang="en-US" altLang="ko-KR" sz="1500" b="0" dirty="0">
                <a:solidFill>
                  <a:srgbClr val="B3BAC6"/>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독감의 확산은 어떤 방법으로도 미리 알 수 없다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회사들은 고객보다 상품 판매에 더 신경을 쓴다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날씨 예측은 질병 예측보다 훨씬 더 정확한 편이다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사람들은 독감 철에 온라인 검색을 점점 덜 하게 된다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빅데이터는 질병 예측 등 삶의 거의 모든 부분에 쓰인다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빅데이터는 질병 예측 등 삶의 거의 모든 부분에 쓰인다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빅데이터는 질병 예측 등 삶의 거의 모든 부분에 쓰인다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빅데이터는 삶의 거의 모든 부분에 영향을 주며 질병까지 예측하게 한다고 했으므로 ⑤가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a:t>
            </a:r>
            <a:r>
              <a:rPr lang="en-US" altLang="ko-KR" sz="1500" b="0" dirty="0">
                <a:solidFill>
                  <a:srgbClr val="1F2328"/>
                </a:solidFill>
                <a:latin typeface="Calibri"/>
                <a:ea typeface="맑은 고딕"/>
                <a:cs typeface="Calibri"/>
              </a:rPr>
              <a:t>people will buy more flu medicine</a:t>
            </a:r>
            <a:r>
              <a:rPr lang="en-US" altLang="ko-KR" sz="1500" b="0" dirty="0">
                <a:solidFill>
                  <a:srgbClr val="1F2328"/>
                </a:solidFill>
                <a:latin typeface="Calibri"/>
                <a:ea typeface="맑은 고딕"/>
                <a:cs typeface="Calibri"/>
              </a:rPr>
              <a:t>.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a:t>
            </a:r>
            <a:r>
              <a:rPr lang="en-US" altLang="ko-KR" sz="1500" b="0" dirty="0">
                <a:solidFill>
                  <a:srgbClr val="111111"/>
                </a:solidFill>
                <a:highlight>
                  <a:srgbClr val="FFE45C"/>
                </a:highlight>
                <a:latin typeface="Calibri"/>
                <a:ea typeface="맑은 고딕"/>
                <a:cs typeface="Calibri"/>
              </a:rPr>
              <a:t>people will buy more flu medicine</a:t>
            </a:r>
            <a:r>
              <a:rPr lang="en-US" altLang="ko-KR" sz="1500" b="0" dirty="0">
                <a:solidFill>
                  <a:srgbClr val="B3BAC6"/>
                </a:solidFill>
                <a:latin typeface="Calibri"/>
                <a:ea typeface="맑은 고딕"/>
                <a:cs typeface="Calibri"/>
              </a:rPr>
              <a:t>.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빅데이터는 회사가 고객의 요구를 이해하도록 돕는다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빅데이터는 사람들이 교통 체증을 피하도록 돕는다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건강 전문가들은 이제 질병을 예측할 수 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독감 철에 사람들은 독감 약을 덜 구입할 것이다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독감 철에 사람들은 독감 약을 덜 구입할 것이다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데이터를 현명하게 분석하면 독감 확산을 예측한다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독감 철에 사람들은 독감 약을 덜 구입할 것이다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독감 철에 사람들은 독감 약을 더 많이('more') 살 것이라 했으므로 덜 구입한다는 ④는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a:t>
            </a:r>
            <a:r>
              <a:rPr lang="en-US" altLang="ko-KR" sz="1500" b="0" dirty="0">
                <a:solidFill>
                  <a:srgbClr val="1F2328"/>
                </a:solidFill>
                <a:latin typeface="Calibri"/>
                <a:ea typeface="맑은 고딕"/>
                <a:cs typeface="Calibri"/>
              </a:rPr>
              <a:t>search online about flu symptoms more</a:t>
            </a:r>
            <a:r>
              <a:rPr lang="en-US" altLang="ko-KR" sz="1500" b="0" dirty="0">
                <a:solidFill>
                  <a:srgbClr val="1F2328"/>
                </a:solidFill>
                <a:latin typeface="Calibri"/>
                <a:ea typeface="맑은 고딕"/>
                <a:cs typeface="Calibri"/>
              </a:rPr>
              <a:t>.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a:t>
            </a:r>
            <a:r>
              <a:rPr lang="en-US" altLang="ko-KR" sz="1500" b="0" dirty="0">
                <a:solidFill>
                  <a:srgbClr val="111111"/>
                </a:solidFill>
                <a:highlight>
                  <a:srgbClr val="FFE45C"/>
                </a:highlight>
                <a:latin typeface="Calibri"/>
                <a:ea typeface="맑은 고딕"/>
                <a:cs typeface="Calibri"/>
              </a:rPr>
              <a:t>search online about flu symptoms more</a:t>
            </a:r>
            <a:r>
              <a:rPr lang="en-US" altLang="ko-KR" sz="1500" b="0" dirty="0">
                <a:solidFill>
                  <a:srgbClr val="B3BAC6"/>
                </a:solidFill>
                <a:latin typeface="Calibri"/>
                <a:ea typeface="맑은 고딕"/>
                <a:cs typeface="Calibri"/>
              </a:rPr>
              <a:t>.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독감 철에는 독감 증상 검색이 더 늘어난다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독감 철에는 독감 증상 검색이 더 늘어난다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빅데이터의 쓰임은 몇 가지로 한정되어 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날씨 전문가들이 질병을 직접 예측하고 있다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빅데이터는 회사의 판매에 도움이 되지 않는다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독감의 확산은 빅데이터로도 예측할 수 없다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독감 철에는 독감 증상 검색이 더 늘어난다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사람들이 온라인에서 독감 증상을 더 많이 검색할 것이라 했으므로 ①이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It helps companies understand their customers’ needs better and helps them sell more products. It helps people avoid heavy traffic. Its uses are endless, and here are some interesting examples.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'It'은 빅데이터로, 회사와 교통에 쓰이며 흥미로운 예를 예고한다 → (A) 질병 예측과 독감 약 구매 예시 → (C) 'They'가 그 사람들을 받아 검색과 확산 예측으로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It helps companies understand their customers’ needs better and helps them sell more products. It helps people avoid heavy traffic. Its uses are endless, and here are some interesting examples.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'It'은 빅데이터로, 쓰임이 끝없다며 예를 예고한다 → (A) 질병 예측과 독감 약을 사는 사람들 → (B) 'They will also'가 그 사람들의 검색을 덧붙이고 확산 예측으로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It helps people avoid heavy traffic.</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It helps companies understand their customers’ needs better and helps them sell more products.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Its uses are endless, and here are some interesting examples.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Big data is influencing almost all parts of our lives.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It helps companies understand their customers’ needs better and helps them sell more products.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Its uses are endless, and here are some interesting examples.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문장은 'It helps'로 빅데이터의 쓰임을 하나 더 든다. 같은 구조인 회사 예시 뒤, 'Its uses are endless'로 정리하기 전인 ③에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Its uses are endless, and here are some interesting examples.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It helps companies understand their customers’ needs better and helps them sell more products.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It helps people avoid heavy traffic.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Big data is influencing almost all parts of our lives.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It helps companies understand their customers’ needs better and helps them sell more products.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It helps people avoid heavy traffic.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'here are some interesting examples'가 뒤의 질병 예측 사례를 예고한다. 쓰임 나열이 끝나고 'Did you know'가 시작되는 ④가 자리다.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Big data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is influenced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is influencing</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almost all parts of our lives.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companies understand their customers’ needs better and helps them sell more products.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people avoid heavy traffic.</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Its uses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are endless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is endless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here are some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here is some</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interesting examples.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Did you know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that health professionals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what health professionals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can now forecast a disease just as weather experts forecast the weather?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is possible thanks to big data.</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For example, when the flu season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will come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comes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people will buy more flu medicine.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They will also search online about flu symptoms more.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⑨</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Big data is influencing almost all parts of our lives.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companies understand their customers’ needs better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helps them</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helps themselves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sell more products.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people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avoid heavy traffic</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avoiding heavy traffic</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Its uses are endless, and here are some interesting examples.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Did you know that health professionals can now forecast a disease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just as weather</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just like weather</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experts forecast the weather?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is possible thanks to big data.</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For example, when the flu season comes, people will buy more flu medicine.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They will also search online about flu symptoms more.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⑨</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If this kind of data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is analyzed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analyzes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wisely, the spread of the flu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can be predicted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can predict</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a:t>
            </a:r>
            <a:r>
              <a:rPr lang="en-US" altLang="ko-KR" sz="1500" b="0" dirty="0">
                <a:solidFill>
                  <a:srgbClr val="1F2328"/>
                </a:solidFill>
                <a:latin typeface="Calibri"/>
                <a:ea typeface="맑은 고딕"/>
                <a:cs typeface="Calibri"/>
              </a:rPr>
              <a:t>Well, big data is improving the performance of players, making sports more exciting.</a:t>
            </a:r>
            <a:r>
              <a:rPr lang="en-US" altLang="ko-KR" sz="1500" b="0" dirty="0">
                <a:solidFill>
                  <a:srgbClr val="1F2328"/>
                </a:solidFill>
                <a:latin typeface="Calibri"/>
                <a:ea typeface="맑은 고딕"/>
                <a:cs typeface="Calibri"/>
              </a:rPr>
              <a:t>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a:t>
            </a:r>
            <a:r>
              <a:rPr lang="en-US" altLang="ko-KR" sz="1500" b="0" dirty="0">
                <a:solidFill>
                  <a:srgbClr val="111111"/>
                </a:solidFill>
                <a:highlight>
                  <a:srgbClr val="FFE45C"/>
                </a:highlight>
                <a:latin typeface="Calibri"/>
                <a:ea typeface="맑은 고딕"/>
                <a:cs typeface="Calibri"/>
              </a:rPr>
              <a:t>Well, big data is improving the performance of players, making sports more exciting.</a:t>
            </a:r>
            <a:r>
              <a:rPr lang="en-US" altLang="ko-KR" sz="1500" b="0" dirty="0">
                <a:solidFill>
                  <a:srgbClr val="B3BAC6"/>
                </a:solidFill>
                <a:latin typeface="Calibri"/>
                <a:ea typeface="맑은 고딕"/>
                <a:cs typeface="Calibri"/>
              </a:rPr>
              <a:t>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win the 2014 World Cup.</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why soccer is the most popular sport in Germany</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history of the World Cup and its famous teams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big data improves the performance of players</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how big data improves the performance of players</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fans can enjoy watching sports more deeply</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difficulty of collecting data on soccer players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how big data improves the performance of players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선수들의 경기력을 향상하며 스포츠를 더 흥미롭게 만든다고 했다. 이를 옮긴 ③이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11111"/>
                </a:solidFill>
                <a:highlight>
                  <a:srgbClr val="FFE45C"/>
                </a:highlight>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Germany: A Nation of Sports Fans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Long Should Players Have the Ball?</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2014 World Cup Was a Big Surprise</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Big Data Behind a World Cup Victory</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Big Data Behind a World Cup Victory</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Building a Database Is Not Easy at All</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Big Data Behind a World Cup Victory</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데이터베이스의 도움으로 독일 축구팀이 2014 월드컵에서 우승했다고 했으므로 ④가 제목으로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a:t>
            </a:r>
            <a:r>
              <a:rPr lang="en-US" altLang="ko-KR" sz="1500" b="0" dirty="0">
                <a:solidFill>
                  <a:srgbClr val="1F2328"/>
                </a:solidFill>
                <a:latin typeface="Calibri"/>
                <a:ea typeface="맑은 고딕"/>
                <a:cs typeface="Calibri"/>
              </a:rPr>
              <a:t>The team built a database by collecting and analyzing a huge amount of data on players.</a:t>
            </a:r>
            <a:r>
              <a:rPr lang="en-US" altLang="ko-KR" sz="1500" b="0" dirty="0">
                <a:solidFill>
                  <a:srgbClr val="1F2328"/>
                </a:solidFill>
                <a:latin typeface="Calibri"/>
                <a:ea typeface="맑은 고딕"/>
                <a:cs typeface="Calibri"/>
              </a:rPr>
              <a:t> For example, the data included information about how much each player ran and how long he had the ball. </a:t>
            </a:r>
            <a:r>
              <a:rPr lang="en-US" altLang="ko-KR" sz="15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a:t>
            </a:r>
            <a:r>
              <a:rPr lang="en-US" altLang="ko-KR" sz="1500" b="0" dirty="0">
                <a:solidFill>
                  <a:srgbClr val="111111"/>
                </a:solidFill>
                <a:highlight>
                  <a:srgbClr val="FFE45C"/>
                </a:highlight>
                <a:latin typeface="Calibri"/>
                <a:ea typeface="맑은 고딕"/>
                <a:cs typeface="Calibri"/>
              </a:rPr>
              <a:t>The team built a database by collecting and analyzing a huge amount of data on players.</a:t>
            </a:r>
            <a:r>
              <a:rPr lang="en-US" altLang="ko-KR" sz="1500" b="0" dirty="0">
                <a:solidFill>
                  <a:srgbClr val="B3BAC6"/>
                </a:solidFill>
                <a:latin typeface="Calibri"/>
                <a:ea typeface="맑은 고딕"/>
                <a:cs typeface="Calibri"/>
              </a:rPr>
              <a:t> For example, the data included information about how much each player ran and how long he had the ball. </a:t>
            </a:r>
            <a:r>
              <a:rPr lang="en-US" altLang="ko-KR" sz="1500" b="0" dirty="0">
                <a:solidFill>
                  <a:srgbClr val="111111"/>
                </a:solidFill>
                <a:highlight>
                  <a:srgbClr val="FFE45C"/>
                </a:highlight>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축구 선수들은 공을 오래 소유하는 연습을 해야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스포츠 팬들은 국가 대표팀을 더 열심히 응원해야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월드컵 우승을 위해서는 더 많이 달리는 훈련이 필요하다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데이터베이스는 전문 업체에 맡겨서 구축하는 것이 좋다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 데이터를 분석하면 스포츠의 경기력을 높일 수 있다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선수 데이터를 분석하면 스포츠의 경기력을 높일 수 있다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선수 데이터를 분석하면 스포츠의 경기력을 높일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 데이터를 모으고 분석한 덕에 경기력을 높이고 우승했다고 했다. 이를 일반화한 ⑤가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11111"/>
                </a:solidFill>
                <a:highlight>
                  <a:srgbClr val="FFE45C"/>
                </a:highlight>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 분석이 독일 축구팀의 우승에 크게 기여했다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빅데이터 분석이 독일 축구팀의 우승에 크게 기여했다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독일 축구팀은 데이터 없이도 늘 월드컵에서 우승했다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선수들이 많이 달릴수록 경기 결과는 늘 좋아진다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스포츠 팬들은 데이터보다 경기의 재미를 더 중시한다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선수들에 관한 데이터는 수집하기가 매우 어렵다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빅데이터 분석이 독일 축구팀의 우승에 크게 기여했다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데이터베이스의 도움으로 경기력을 높이고 월드컵에서 우승했다고 했으므로 ①이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F2328"/>
                </a:solidFill>
                <a:latin typeface="Calibri"/>
                <a:ea typeface="맑은 고딕"/>
                <a:cs typeface="Calibri"/>
              </a:rPr>
              <a:t>win the 2014 World Cup</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11111"/>
                </a:solidFill>
                <a:highlight>
                  <a:srgbClr val="FFE45C"/>
                </a:highlight>
                <a:latin typeface="Calibri"/>
                <a:ea typeface="맑은 고딕"/>
                <a:cs typeface="Calibri"/>
              </a:rPr>
              <a:t>win the 2014 World Cup</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빅데이터는 선수들의 경기력을 향상하고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독일 국가 대표 축구팀은 데이터베이스를 구축했다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데이터에는 각 선수가 달린 양이 포함되었다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데이터에는 선수가 공을 가진 시간이 포함되었다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독일 축구팀은 2010년 월드컵에서 우승하였다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독일 축구팀은 2010년 월드컵에서 우승하였다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독일 축구팀은 2010년 월드컵에서 우승하였다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독일 축구팀은 2014년('the 2014 World Cup') 월드컵에서 우승했으므로 2010년이라는 ⑤는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F2328"/>
                </a:solidFill>
                <a:latin typeface="Calibri"/>
                <a:ea typeface="맑은 고딕"/>
                <a:cs typeface="Calibri"/>
              </a:rPr>
              <a:t>win the 2014 World Cup</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11111"/>
                </a:solidFill>
                <a:highlight>
                  <a:srgbClr val="FFE45C"/>
                </a:highlight>
                <a:latin typeface="Calibri"/>
                <a:ea typeface="맑은 고딕"/>
                <a:cs typeface="Calibri"/>
              </a:rPr>
              <a:t>win the 2014 World Cup</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빅데이터는 스포츠를 더 지루하게 만들고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독일 축구팀은 2014년 월드컵에서 우승하였다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독일 축구팀은 2014년 월드컵에서 우승하였다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독일 축구팀은 소수의 선수 데이터만 모았다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데이터에는 선수들의 식단 정보가 포함되었다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데이터베이스는 경기력 향상에 효과가 없었다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독일 축구팀은 2014년 월드컵에서 우승하였다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데이터베이스의 도움으로 2014년 월드컵에서 우승했다고 했으므로 ②가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Are you a sports fan?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5140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51409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Well, big data is improving the performance of players, making sports more exciting. A famous example is Germany’s national soccer team.</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The team built a database by collecting and analyzing a huge amount of data on players. For example, the data included information about how much each player ran and how long he had the ball.</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6967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295646"/>
            <a:ext cx="11277295" cy="11234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빅데이터가 경기력을 높이며 독일 축구팀을 예로 든다 → (C) 'The team'이 그 팀을 받아 데이터베이스 구축을 말한다 → (A) 'this database'의 도움으로 우승한다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Are you a sports fan?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5140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51409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The team built a database by collecting and analyzing a huge amount of data on players. For example, the data included information about how much each player ran and how long he had the ball.</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Well, big data is improving the performance of players, making sports more exciting. A famous example is Germany’s national soccer team.</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46967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295646"/>
            <a:ext cx="11277295" cy="11234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빅데이터가 경기력을 높인 예로 독일 축구팀을 든다 → (B) 'The team'이 데이터베이스를 구축한다 → (A) 'this database'가 그것을 받아 월드컵 우승으로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 team built a database by collecting and analyzing a huge amount of data on players.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Are you a sports fan?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Well, big data is improving the performance of players, making sports more exciting.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famous example is Germany’s national soccer team.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For example, the data included information about how much each player ran and how long he had the ball.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Are you a sports fan?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Well, big data is improving the performance of players, making sports more exciting.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famous example is Germany’s national soccer team.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For example, the data included information about how much each player ran and how long he had the ball.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'The team'은 독일 축구팀이고, 'the data'와 'this database'가 그 데이터베이스를 가리킨다. 팀 소개와 데이터 예시 사이인 ④가 자리다.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example, the data included information about how much each player ran and how long he had the ball.</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Are you a sports fan?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Well, big data is improving the performance of players, making sports more exciting.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famous example is Germany’s national soccer team.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The team built a database by collecting and analyzing a huge amount of data on players.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Are you a sports fan?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Well, big data is improving the performance of players, making sports more exciting.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famous example is Germany’s national soccer team.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The team built a database by collecting and analyzing a huge amount of data on players.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'For example, the data'는 앞에서 모은 선수 데이터의 구체적 예다. 데이터베이스 구축 뒤, 'this database'로 우승을 말하기 전인 ⑤에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Are you a sports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Well, big data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is improved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is improving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performance of players, making sports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more exciting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more excited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 famous example is Germany’s national soccer team.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team built a database by collecting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analyzed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analyzing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 huge amount of data on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 data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included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was included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information about how much each player ran and how long he had the ball.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Are you a sports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Well, big data is improving the performance of players,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making sports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made sports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more exciting.</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 famous example is Germany’s national soccer team.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team built a database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by collecting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by collected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and analyzing a huge amount of data on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 data included information about how much each player ran and how long he had the ball.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With the help of this database, Germany’s national soccer team was able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to improve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improving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its performance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win the 2014</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won the 2014</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a:t>
            </a:r>
            <a:r>
              <a:rPr lang="en-US" altLang="ko-KR" sz="15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Thanks to big data, police can now predict crime before it happens.</a:t>
            </a:r>
            <a:r>
              <a:rPr lang="en-US" altLang="ko-KR" sz="1500" b="0" dirty="0">
                <a:solidFill>
                  <a:srgbClr val="B3BAC6"/>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 but experts agree that big data will play a more and more important role in our lives.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reasons crime happens more in some areas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ways police make maps of their own big cities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why nobody can know the future of crime maps</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use of big data in crime prevention and its future</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the use of big data in crime prevention and its future</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dangers of big data for people's privacy</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the use of big data in crime prevention and its future</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빅데이터로 경찰이 범죄를 예측하고, 앞으로 그 역할이 더 중요해진다고 했다. 둘을 담은 ④가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a:t>
            </a:r>
            <a:r>
              <a:rPr lang="en-US" altLang="ko-KR" sz="15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Thanks to big data, police can now predict crime before it happens.</a:t>
            </a:r>
            <a:r>
              <a:rPr lang="en-US" altLang="ko-KR" sz="1500" b="0" dirty="0">
                <a:solidFill>
                  <a:srgbClr val="B3BAC6"/>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 but experts agree that big data will play a more and more important role in our lives.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Crime Maps Make Cities More Dangerous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Can Experts Predict Their Own Future?</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Police Should Work Much Harder at Night</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Big Data Industry Will Soon Disappear</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Big Data Fights Crime and Shapes the Future</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Big Data Fights Crime and Shapes the Future</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Big Data Fights Crime and Shapes the Future</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범죄를 막는 데 쓰이고 미래에 더 큰 역할을 한다고 했으므로 ⑤가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a:t>
            </a:r>
            <a:r>
              <a:rPr lang="en-US" altLang="ko-KR" sz="1500" b="0" dirty="0">
                <a:solidFill>
                  <a:srgbClr val="1F2328"/>
                </a:solidFill>
                <a:latin typeface="Calibri"/>
                <a:ea typeface="맑은 고딕"/>
                <a:cs typeface="Calibri"/>
              </a:rPr>
              <a:t>Police can prevent further crime by focusing on the areas and the times this map predicts.</a:t>
            </a:r>
            <a:r>
              <a:rPr lang="en-US" altLang="ko-KR" sz="1500" b="0" dirty="0">
                <a:solidFill>
                  <a:srgbClr val="1F2328"/>
                </a:solidFill>
                <a:latin typeface="Calibri"/>
                <a:ea typeface="맑은 고딕"/>
                <a:cs typeface="Calibri"/>
              </a:rPr>
              <a:t>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a:t>
            </a:r>
            <a:r>
              <a:rPr lang="en-US" altLang="ko-KR" sz="1500" b="0" dirty="0">
                <a:solidFill>
                  <a:srgbClr val="111111"/>
                </a:solidFill>
                <a:highlight>
                  <a:srgbClr val="FFE45C"/>
                </a:highlight>
                <a:latin typeface="Calibri"/>
                <a:ea typeface="맑은 고딕"/>
                <a:cs typeface="Calibri"/>
              </a:rPr>
              <a:t>Police can prevent further crime by focusing on the areas and the times this map predicts.</a:t>
            </a:r>
            <a:r>
              <a:rPr lang="en-US" altLang="ko-KR" sz="1500" b="0" dirty="0">
                <a:solidFill>
                  <a:srgbClr val="B3BAC6"/>
                </a:solidFill>
                <a:latin typeface="Calibri"/>
                <a:ea typeface="맑은 고딕"/>
                <a:cs typeface="Calibri"/>
              </a:rPr>
              <a:t>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 분석을 범죄 예방에 적극적으로 활용해야 한다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빅데이터 분석을 범죄 예방에 적극적으로 활용해야 한다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경찰은 범죄 다발 지역에 순찰 인력을 두 배로 늘려야 한다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범죄 지도는 시민들에게 공개하지 않고 비밀로 해야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 산업의 미래는 전문가에게 맡기지 말아야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범죄의 유형보다 장소에 대한 정보를 더 많이 모아야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빅데이터 분석을 범죄 예방에 적극적으로 활용해야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지도가 예측한 지역과 시간에 집중해 추가 범죄를 막을 수 있다고 했다. 이를 옮긴 ①이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a:t>
            </a:r>
            <a:r>
              <a:rPr lang="en-US" altLang="ko-KR" sz="15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Thanks to big data, police can now predict crime before it happens.</a:t>
            </a:r>
            <a:r>
              <a:rPr lang="en-US" altLang="ko-KR" sz="1500" b="0" dirty="0">
                <a:solidFill>
                  <a:srgbClr val="B3BAC6"/>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 but experts agree that big data will play a more and more important role in our lives.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범죄는 언제 어디서 일어날지 전혀 예측할 수 없다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빅데이터는 범죄 예측을 돕고 앞으로 더 중요해진다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빅데이터는 범죄 예측을 돕고 앞으로 더 중요해진다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빅데이터 산업은 이미 그 성장이 거의 끝난 상태다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전문가들은 빅데이터의 역할에 대해 의견이 갈린다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범죄 지도는 경찰의 업무를 더 복잡하게 만든다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빅데이터는 범죄 예측을 돕고 앞으로 더 중요해진다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빅데이터는 범죄 예측을 돕고 우리 삶에서 점점 더 중요한 역할을 할 것이라 했으므로 ②가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a:t>
            </a:r>
            <a:r>
              <a:rPr lang="en-US" altLang="ko-KR" sz="1500" b="0" dirty="0">
                <a:solidFill>
                  <a:srgbClr val="1F2328"/>
                </a:solidFill>
                <a:latin typeface="Calibri"/>
                <a:ea typeface="맑은 고딕"/>
                <a:cs typeface="Calibri"/>
              </a:rPr>
              <a:t>,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a:t>
            </a:r>
            <a:r>
              <a:rPr lang="en-US" altLang="ko-KR" sz="1500" b="0" dirty="0">
                <a:solidFill>
                  <a:srgbClr val="B3BAC6"/>
                </a:solidFill>
                <a:latin typeface="Calibri"/>
                <a:ea typeface="맑은 고딕"/>
                <a:cs typeface="Calibri"/>
              </a:rPr>
              <a:t>, but experts agree that big data will play a more and more important role in our lives.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 산업의 미래는 모두가 확실히 알고 있다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빅데이터 산업의 미래는 모두가 확실히 알고 있다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경찰은 빅데이터로 범죄를 미리 예측할 수 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범죄 지도는 범죄의 유형, 시간, 장소를 분석한다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범죄 지도는 범죄가 일어날 시간과 장소를 보여준다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전문가들은 빅데이터의 역할이 커질 것이라 본다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빅데이터 산업의 미래는 모두가 확실히 알고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 산업이 어디로 갈지 아무도 확실히 모른다('Nobody knows')고 했으므로 ①은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a:t>
            </a:r>
            <a:r>
              <a:rPr lang="en-US" altLang="ko-KR" sz="1500" b="0" dirty="0">
                <a:solidFill>
                  <a:srgbClr val="1F2328"/>
                </a:solidFill>
                <a:latin typeface="Calibri"/>
                <a:ea typeface="맑은 고딕"/>
                <a:cs typeface="Calibri"/>
              </a:rPr>
              <a:t>by focusing on the areas and the times</a:t>
            </a:r>
            <a:r>
              <a:rPr lang="en-US" altLang="ko-KR" sz="1500" b="0" dirty="0">
                <a:solidFill>
                  <a:srgbClr val="1F2328"/>
                </a:solidFill>
                <a:latin typeface="Calibri"/>
                <a:ea typeface="맑은 고딕"/>
                <a:cs typeface="Calibri"/>
              </a:rPr>
              <a:t> this map predicts.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a:t>
            </a:r>
            <a:r>
              <a:rPr lang="en-US" altLang="ko-KR" sz="1500" b="0" dirty="0">
                <a:solidFill>
                  <a:srgbClr val="111111"/>
                </a:solidFill>
                <a:highlight>
                  <a:srgbClr val="FFE45C"/>
                </a:highlight>
                <a:latin typeface="Calibri"/>
                <a:ea typeface="맑은 고딕"/>
                <a:cs typeface="Calibri"/>
              </a:rPr>
              <a:t>by focusing on the areas and the times</a:t>
            </a:r>
            <a:r>
              <a:rPr lang="en-US" altLang="ko-KR" sz="1500" b="0" dirty="0">
                <a:solidFill>
                  <a:srgbClr val="B3BAC6"/>
                </a:solidFill>
                <a:latin typeface="Calibri"/>
                <a:ea typeface="맑은 고딕"/>
                <a:cs typeface="Calibri"/>
              </a:rPr>
              <a:t> this map predicts.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경찰은 범죄가 일어난 후에만 대응할 수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범죄 지도는 범죄 피해자의 정보를 담고 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경찰은 지도가 예측한 곳에 집중해 범죄를 막는다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경찰은 지도가 예측한 곳에 집중해 범죄를 막는다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빅데이터는 아직 세상을 거의 바꾸지 못했다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전문가들은 빅데이터의 역할이 줄 것이라 본다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경찰은 지도가 예측한 곳에 집중해 범죄를 막는다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경찰은 지도가 예측한 지역과 시간에 집중해 추가 범죄를 막는다고 했으므로 ③이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Police can prevent further crime by focusing on the areas and the times this map predicts. Big data has already changed the world greatly.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빅데이터 분석으로 범죄 지도를 만든다 → (A) 'this map'이 예측한 곳에 집중해 범죄를 막고 세상이 바뀌었다 → (B) 'So'로 산업의 미래를 묻고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Police can prevent further crime by focusing on the areas and the times this map predicts. Big data has already changed the world greatly.</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(A) 빅데이터 분석으로 범죄 지도를 만든다 → (C) 'this map'이 예측한 곳에 집중해 범죄를 막는다 → (B) 'So where will'로 산업의 미래를 묻고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Big data has already changed the world greatly.</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map identifies when and where crime is most likely to happen.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Police can prevent further crime by focusing on the areas and the times this map predicts.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Thanks to big data, police can now predict crime before it happens.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Through the analysis of big data about the type, time and place of crime, police can make a map of crime hot spots.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map identifies when and where crime is most likely to happen.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Police can prevent further crime by focusing on the areas and the times this map predicts.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문장은 범죄 사례를 세상의 변화로 넓힌다. 'So where will'은 그 변화를 받아 산업의 미래를 물으므로 주어진 문장은 ⑤에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This map identifies when and where crime is most likely to happen.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Police can prevent further crime by focusing on the areas and the times this map predicts.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Big data has already changed the world greatly.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Thanks to big data, police can now predict crime before it happens.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This map identifies when and where crime is most likely to happen.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Police can prevent further crime by focusing on the areas and the times this map predicts.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Big data has already changed the world greatly.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'This map'이 가리킬 지도가 앞에 없다. 범죄 지도를 처음 소개하는 주어진 문장이 'This map' 앞인 ②에 들어가야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7304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solidFill>
                <a:latin typeface="맑은 고딕"/>
                <a:ea typeface="맑은 고딕"/>
                <a:cs typeface="맑은 고딕"/>
              </a:rPr>
              <a:t>①</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Thanks to big data, police can now predict crime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before it will happen</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before it happens</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②</a:t>
            </a:r>
            <a:r>
              <a:rPr lang="en-US" altLang="ko-KR" sz="2150" b="0"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Through the analysis</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Though the analysis</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of big data about the type, time and place of crime, police can make a map of crime hot spots.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③</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This map identifies when and where crime is most likely to happen.</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④</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Police can prevent further crime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by focused</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by focusing</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on the areas and the times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this map predicts</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this map predict</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⑤</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Big data has already changed the world greatly.</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⑥</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So where will the big data industry go from here?</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⑦</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9" name="rv_g01"/>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C00000"/>
                </a:solidFill>
                <a:highlight>
                  <a:srgbClr val="F3F5F9"/>
                </a:highlight>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10" name="rv_g02"/>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11" name="rv_g03"/>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C00000"/>
                </a:solidFill>
                <a:highlight>
                  <a:srgbClr val="F3F5F9"/>
                </a:highlight>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12" name="rv_g04"/>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17245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solidFill>
                <a:latin typeface="맑은 고딕"/>
                <a:ea typeface="맑은 고딕"/>
                <a:cs typeface="맑은 고딕"/>
              </a:rPr>
              <a:t>①</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Thanks to big data, police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can now predict</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can now be predicted</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crime before it happens.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②</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③</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This map identifies when and where crime is most likely to happen.</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④</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Police can prevent further crime by focusing on the areas and the times this map predicts.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⑤</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Big data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has already changed</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has already been changed</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the world greatly.</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⑥</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So where will the big data industry go from here?</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⑦</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Nobody knows for sure, but experts agree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that big data</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what big data</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will play a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more and more important</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more and more importantly</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9" name="rv_g01"/>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10" name="rv_g02"/>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11" name="rv_g03"/>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12" name="rv_g04"/>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4  </a:t>
            </a:r>
            <a:r>
              <a:rPr lang="ko-KR" altLang="en-US" sz="4000" b="1" dirty="0">
                <a:solidFill>
                  <a:srgbClr val="FFFFFF"/>
                </a:solidFill>
                <a:latin typeface="맑은 고딕"/>
                <a:ea typeface="맑은 고딕"/>
                <a:cs typeface="맑은 고딕"/>
              </a:rPr>
              <a:t>내용이해 T/F</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7</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L7-1  ·  L7-2  ·  L7-3  ·  L7-4</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본문 단락을 읽고, 우리말 진술이 본문과 일치하면 T, 아니면 F</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5문항의 정답(T/F)이 빨간색으로 한꺼번에 공개</a:t>
            </a:r>
            <a:endParaRPr lang="ko-KR" sz="160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366010"/>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366010"/>
          </a:xfrm>
          <a:prstGeom prst="rect">
            <a:avLst/>
          </a:prstGeom>
          <a:noFill/>
        </p:spPr>
        <p:txBody>
          <a:bodyPr wrap="square" lIns="182880" tIns="137160" rIns="182880" bIns="137160" anchor="t" rtlCol="0">
            <a:noAutofit/>
          </a:bodyPr>
          <a:lstStyle/>
          <a:p>
            <a:pPr algn="l">
              <a:lnSpc>
                <a:spcPts val="1830"/>
              </a:lnSpc>
              <a:spcBef>
                <a:spcPts val="0"/>
              </a:spcBef>
              <a:spcAft>
                <a:spcPts val="0"/>
              </a:spcAft>
              <a:buNone/>
            </a:pPr>
            <a:r>
              <a:rPr lang="ko-KR" altLang="en-US" sz="1500" b="1" dirty="0">
                <a:solidFill>
                  <a:srgbClr val="1E2A5A"/>
                </a:solidFill>
                <a:latin typeface="맑은 고딕"/>
                <a:ea typeface="맑은 고딕"/>
                <a:cs typeface="맑은 고딕"/>
              </a:rPr>
              <a:t>① </a:t>
            </a:r>
            <a:r>
              <a:rPr lang="en-US" altLang="en-US" sz="1500" b="0" dirty="0">
                <a:solidFill>
                  <a:srgbClr val="1F2328"/>
                </a:solidFill>
                <a:latin typeface="Calibri"/>
                <a:ea typeface="맑은 고딕"/>
                <a:cs typeface="Calibri"/>
              </a:rPr>
              <a:t>Have you ever visited an online bookstore and been surprised by the books that the store recommended for you? </a:t>
            </a:r>
            <a:r>
              <a:rPr lang="ko-KR" altLang="en-US" sz="1500" b="1" dirty="0">
                <a:solidFill>
                  <a:srgbClr val="1E2A5A"/>
                </a:solidFill>
                <a:latin typeface="맑은 고딕"/>
                <a:ea typeface="맑은 고딕"/>
                <a:cs typeface="맑은 고딕"/>
              </a:rPr>
              <a:t>② </a:t>
            </a:r>
            <a:r>
              <a:rPr lang="en-US" altLang="en-US" sz="1500" b="0" dirty="0">
                <a:solidFill>
                  <a:srgbClr val="1F2328"/>
                </a:solidFill>
                <a:latin typeface="Calibri"/>
                <a:ea typeface="맑은 고딕"/>
                <a:cs typeface="Calibri"/>
              </a:rPr>
              <a:t>Many of them looked interesting to you. So how did the bookstore know what you liked? </a:t>
            </a:r>
            <a:r>
              <a:rPr lang="ko-KR" altLang="en-US" sz="1500" b="1" dirty="0">
                <a:solidFill>
                  <a:srgbClr val="1E2A5A"/>
                </a:solidFill>
                <a:latin typeface="맑은 고딕"/>
                <a:ea typeface="맑은 고딕"/>
                <a:cs typeface="맑은 고딕"/>
              </a:rPr>
              <a:t>③ </a:t>
            </a:r>
            <a:r>
              <a:rPr lang="en-US" altLang="en-US" sz="1500" b="0" dirty="0">
                <a:solidFill>
                  <a:srgbClr val="1F2328"/>
                </a:solidFill>
                <a:latin typeface="Calibri"/>
                <a:ea typeface="맑은 고딕"/>
                <a:cs typeface="Calibri"/>
              </a:rPr>
              <a:t>This is all possible because of big data. </a:t>
            </a:r>
            <a:r>
              <a:rPr lang="ko-KR" altLang="en-US" sz="1500" b="1" dirty="0">
                <a:solidFill>
                  <a:srgbClr val="1E2A5A"/>
                </a:solidFill>
                <a:latin typeface="맑은 고딕"/>
                <a:ea typeface="맑은 고딕"/>
                <a:cs typeface="맑은 고딕"/>
              </a:rPr>
              <a:t>④ </a:t>
            </a:r>
            <a:r>
              <a:rPr lang="en-US" altLang="en-US" sz="1500" b="0" dirty="0">
                <a:solidFill>
                  <a:srgbClr val="1F2328"/>
                </a:solidFill>
                <a:latin typeface="Calibri"/>
                <a:ea typeface="맑은 고딕"/>
                <a:cs typeface="Calibri"/>
              </a:rPr>
              <a:t>Big data is data sets that are very big and complex. </a:t>
            </a:r>
            <a:r>
              <a:rPr lang="ko-KR" altLang="en-US" sz="1500" b="1" dirty="0">
                <a:solidFill>
                  <a:srgbClr val="1E2A5A"/>
                </a:solidFill>
                <a:latin typeface="맑은 고딕"/>
                <a:ea typeface="맑은 고딕"/>
                <a:cs typeface="맑은 고딕"/>
              </a:rPr>
              <a:t>⑤ </a:t>
            </a:r>
            <a:r>
              <a:rPr lang="en-US" altLang="en-US" sz="1500" b="0" dirty="0">
                <a:solidFill>
                  <a:srgbClr val="1F2328"/>
                </a:solidFill>
                <a:latin typeface="Calibri"/>
                <a:ea typeface="맑은 고딕"/>
                <a:cs typeface="Calibri"/>
              </a:rPr>
              <a:t>As information and communication technology develops, the amount of data we have is getting much greater than before. </a:t>
            </a:r>
            <a:r>
              <a:rPr lang="ko-KR" altLang="en-US" sz="1500" b="1" dirty="0">
                <a:solidFill>
                  <a:srgbClr val="1E2A5A"/>
                </a:solidFill>
                <a:latin typeface="맑은 고딕"/>
                <a:ea typeface="맑은 고딕"/>
                <a:cs typeface="맑은 고딕"/>
              </a:rPr>
              <a:t>⑥ </a:t>
            </a:r>
            <a:r>
              <a:rPr lang="en-US" altLang="en-US" sz="1500" b="0" dirty="0">
                <a:solidFill>
                  <a:srgbClr val="1F2328"/>
                </a:solidFill>
                <a:latin typeface="Calibri"/>
                <a:ea typeface="맑은 고딕"/>
                <a:cs typeface="Calibri"/>
              </a:rPr>
              <a:t>This is mainly because almost everything that we do online leaves a trace. </a:t>
            </a:r>
            <a:r>
              <a:rPr lang="ko-KR" altLang="en-US" sz="1500" b="1" dirty="0">
                <a:solidFill>
                  <a:srgbClr val="1E2A5A"/>
                </a:solidFill>
                <a:latin typeface="맑은 고딕"/>
                <a:ea typeface="맑은 고딕"/>
                <a:cs typeface="맑은 고딕"/>
              </a:rPr>
              <a:t>⑦ </a:t>
            </a:r>
            <a:r>
              <a:rPr lang="en-US" altLang="en-US" sz="1500" b="0" dirty="0">
                <a:solidFill>
                  <a:srgbClr val="1F2328"/>
                </a:solidFill>
                <a:latin typeface="Calibri"/>
                <a:ea typeface="맑은 고딕"/>
                <a:cs typeface="Calibri"/>
              </a:rPr>
              <a:t>For example, the photos you upload on your blog and the records of your purchases at online stores are all part of big data. </a:t>
            </a:r>
            <a:r>
              <a:rPr lang="ko-KR" altLang="en-US" sz="1500" b="1" dirty="0">
                <a:solidFill>
                  <a:srgbClr val="1E2A5A"/>
                </a:solidFill>
                <a:latin typeface="맑은 고딕"/>
                <a:ea typeface="맑은 고딕"/>
                <a:cs typeface="맑은 고딕"/>
              </a:rPr>
              <a:t>⑧ </a:t>
            </a:r>
            <a:r>
              <a:rPr lang="en-US" altLang="en-US" sz="1500" b="0" dirty="0">
                <a:solidFill>
                  <a:srgbClr val="1F2328"/>
                </a:solidFill>
                <a:latin typeface="Calibri"/>
                <a:ea typeface="맑은 고딕"/>
                <a:cs typeface="Calibri"/>
              </a:rPr>
              <a:t>Simply collecting data, however, is not enough. </a:t>
            </a:r>
            <a:r>
              <a:rPr lang="ko-KR" altLang="en-US" sz="1500" b="1" dirty="0">
                <a:solidFill>
                  <a:srgbClr val="1E2A5A"/>
                </a:solidFill>
                <a:latin typeface="맑은 고딕"/>
                <a:ea typeface="맑은 고딕"/>
                <a:cs typeface="맑은 고딕"/>
              </a:rPr>
              <a:t>⑨ </a:t>
            </a:r>
            <a:r>
              <a:rPr lang="en-US" altLang="en-US" sz="1500" b="0" dirty="0">
                <a:solidFill>
                  <a:srgbClr val="1F2328"/>
                </a:solidFill>
                <a:latin typeface="Calibri"/>
                <a:ea typeface="맑은 고딕"/>
                <a:cs typeface="Calibri"/>
              </a:rPr>
              <a:t>Big data has to be analyzed, and this is done by big data experts. </a:t>
            </a:r>
            <a:r>
              <a:rPr lang="ko-KR" altLang="en-US" sz="1500" b="1" dirty="0">
                <a:solidFill>
                  <a:srgbClr val="1E2A5A"/>
                </a:solidFill>
                <a:latin typeface="맑은 고딕"/>
                <a:ea typeface="맑은 고딕"/>
                <a:cs typeface="맑은 고딕"/>
              </a:rPr>
              <a:t>⑩ </a:t>
            </a:r>
            <a:r>
              <a:rPr lang="en-US" altLang="en-US" sz="1500" b="0" dirty="0">
                <a:solidFill>
                  <a:srgbClr val="1F2328"/>
                </a:solidFill>
                <a:latin typeface="Calibri"/>
                <a:ea typeface="맑은 고딕"/>
                <a:cs typeface="Calibri"/>
              </a:rPr>
              <a:t>Using various methods, experts analyze big data and draw meaningful results from it. </a:t>
            </a:r>
            <a:r>
              <a:rPr lang="ko-KR" altLang="en-US" sz="1500" b="1" dirty="0">
                <a:solidFill>
                  <a:srgbClr val="1E2A5A"/>
                </a:solidFill>
                <a:latin typeface="맑은 고딕"/>
                <a:ea typeface="맑은 고딕"/>
                <a:cs typeface="맑은 고딕"/>
              </a:rPr>
              <a:t>⑪ </a:t>
            </a:r>
            <a:r>
              <a:rPr lang="en-US" altLang="en-US" sz="1500" b="0" dirty="0">
                <a:solidFill>
                  <a:srgbClr val="1F2328"/>
                </a:solidFill>
                <a:latin typeface="Calibri"/>
                <a:ea typeface="맑은 고딕"/>
                <a:cs typeface="Calibri"/>
              </a:rPr>
              <a:t>These results then can be used to make decisions or to predict the future. </a:t>
            </a:r>
            <a:endParaRPr lang="ko-KR" sz="1500"/>
          </a:p>
        </p:txBody>
      </p:sp>
      <p:sp>
        <p:nvSpPr>
          <p:cNvPr id="9" name="q_card_1"/>
          <p:cNvSpPr/>
          <p:nvPr/>
        </p:nvSpPr>
        <p:spPr>
          <a:xfrm>
            <a:off x="457200" y="3481578"/>
            <a:ext cx="11274552" cy="7043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481578"/>
            <a:ext cx="9171432" cy="704342"/>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0" dirty="0">
                <a:solidFill>
                  <a:srgbClr val="1F2328"/>
                </a:solidFill>
                <a:latin typeface="맑은 고딕"/>
                <a:ea typeface="맑은 고딕"/>
                <a:cs typeface="맑은 고딕"/>
              </a:rPr>
              <a:t>온라인 서점이 추천한 책 중 다수가 흥미로워 보였을 수 있다고 글은 말한다.</a:t>
            </a:r>
            <a:endParaRPr lang="ko-KR" sz="1700"/>
          </a:p>
        </p:txBody>
      </p:sp>
      <p:sp>
        <p:nvSpPr>
          <p:cNvPr id="11" name="tf_1"/>
          <p:cNvSpPr txBox="1"/>
          <p:nvPr/>
        </p:nvSpPr>
        <p:spPr>
          <a:xfrm>
            <a:off x="9765792" y="3481578"/>
            <a:ext cx="1828800" cy="704342"/>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2" name="rv_ans_1"/>
          <p:cNvSpPr/>
          <p:nvPr/>
        </p:nvSpPr>
        <p:spPr>
          <a:xfrm>
            <a:off x="9765792" y="3527298"/>
            <a:ext cx="1828800" cy="6129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13" name="q_card_2"/>
          <p:cNvSpPr/>
          <p:nvPr/>
        </p:nvSpPr>
        <p:spPr>
          <a:xfrm>
            <a:off x="457200" y="4259072"/>
            <a:ext cx="11274552" cy="43446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259072"/>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0" dirty="0">
                <a:solidFill>
                  <a:srgbClr val="1F2328"/>
                </a:solidFill>
                <a:latin typeface="맑은 고딕"/>
                <a:ea typeface="맑은 고딕"/>
                <a:cs typeface="맑은 고딕"/>
              </a:rPr>
              <a:t>서점이 사람들의 취향을 아는 것은 빅데이터 덕분이다.</a:t>
            </a:r>
            <a:endParaRPr lang="ko-KR" sz="1700"/>
          </a:p>
        </p:txBody>
      </p:sp>
      <p:sp>
        <p:nvSpPr>
          <p:cNvPr id="15" name="tf_2"/>
          <p:cNvSpPr txBox="1"/>
          <p:nvPr/>
        </p:nvSpPr>
        <p:spPr>
          <a:xfrm>
            <a:off x="9765792" y="4259072"/>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6" name="rv_ans_2"/>
          <p:cNvSpPr/>
          <p:nvPr/>
        </p:nvSpPr>
        <p:spPr>
          <a:xfrm>
            <a:off x="9765792" y="4304792"/>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17" name="q_card_3"/>
          <p:cNvSpPr/>
          <p:nvPr/>
        </p:nvSpPr>
        <p:spPr>
          <a:xfrm>
            <a:off x="457200" y="4766691"/>
            <a:ext cx="11274552" cy="43446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766691"/>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0" dirty="0">
                <a:solidFill>
                  <a:srgbClr val="1F2328"/>
                </a:solidFill>
                <a:latin typeface="맑은 고딕"/>
                <a:ea typeface="맑은 고딕"/>
                <a:cs typeface="맑은 고딕"/>
              </a:rPr>
              <a:t>빅데이터는 작고 단순한 데이터의 집합이다.</a:t>
            </a:r>
            <a:endParaRPr lang="ko-KR" sz="1700"/>
          </a:p>
        </p:txBody>
      </p:sp>
      <p:sp>
        <p:nvSpPr>
          <p:cNvPr id="19" name="tf_3"/>
          <p:cNvSpPr txBox="1"/>
          <p:nvPr/>
        </p:nvSpPr>
        <p:spPr>
          <a:xfrm>
            <a:off x="9765792" y="4766691"/>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0" name="rv_ans_3"/>
          <p:cNvSpPr/>
          <p:nvPr/>
        </p:nvSpPr>
        <p:spPr>
          <a:xfrm>
            <a:off x="9765792" y="4812411"/>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21" name="q_card_4"/>
          <p:cNvSpPr/>
          <p:nvPr/>
        </p:nvSpPr>
        <p:spPr>
          <a:xfrm>
            <a:off x="457200" y="5274310"/>
            <a:ext cx="11274552" cy="43446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74310"/>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0" dirty="0">
                <a:solidFill>
                  <a:srgbClr val="1F2328"/>
                </a:solidFill>
                <a:latin typeface="맑은 고딕"/>
                <a:ea typeface="맑은 고딕"/>
                <a:cs typeface="맑은 고딕"/>
              </a:rPr>
              <a:t>정보 통신 기술이 발달하면서 데이터의 양이 훨씬 많아지고 있다.</a:t>
            </a:r>
            <a:endParaRPr lang="ko-KR" sz="1700"/>
          </a:p>
        </p:txBody>
      </p:sp>
      <p:sp>
        <p:nvSpPr>
          <p:cNvPr id="23" name="tf_4"/>
          <p:cNvSpPr txBox="1"/>
          <p:nvPr/>
        </p:nvSpPr>
        <p:spPr>
          <a:xfrm>
            <a:off x="9765792" y="5274310"/>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4" name="rv_ans_4"/>
          <p:cNvSpPr/>
          <p:nvPr/>
        </p:nvSpPr>
        <p:spPr>
          <a:xfrm>
            <a:off x="9765792" y="5320030"/>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25" name="q_card_5"/>
          <p:cNvSpPr/>
          <p:nvPr/>
        </p:nvSpPr>
        <p:spPr>
          <a:xfrm>
            <a:off x="457200" y="5781929"/>
            <a:ext cx="11274552" cy="43446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81929"/>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0" dirty="0">
                <a:solidFill>
                  <a:srgbClr val="1F2328"/>
                </a:solidFill>
                <a:latin typeface="맑은 고딕"/>
                <a:ea typeface="맑은 고딕"/>
                <a:cs typeface="맑은 고딕"/>
              </a:rPr>
              <a:t>데이터 양이 늘어나는 주된 이유는 오프라인 활동이 기록되기 때문이다.</a:t>
            </a:r>
            <a:endParaRPr lang="ko-KR" sz="1700"/>
          </a:p>
        </p:txBody>
      </p:sp>
      <p:sp>
        <p:nvSpPr>
          <p:cNvPr id="27" name="tf_5"/>
          <p:cNvSpPr txBox="1"/>
          <p:nvPr/>
        </p:nvSpPr>
        <p:spPr>
          <a:xfrm>
            <a:off x="9765792" y="5781929"/>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8" name="rv_ans_5"/>
          <p:cNvSpPr/>
          <p:nvPr/>
        </p:nvSpPr>
        <p:spPr>
          <a:xfrm>
            <a:off x="9765792" y="5827649"/>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366010"/>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366010"/>
          </a:xfrm>
          <a:prstGeom prst="rect">
            <a:avLst/>
          </a:prstGeom>
          <a:noFill/>
        </p:spPr>
        <p:txBody>
          <a:bodyPr wrap="square" lIns="182880" tIns="137160" rIns="182880" bIns="137160" anchor="t" rtlCol="0">
            <a:noAutofit/>
          </a:bodyPr>
          <a:lstStyle/>
          <a:p>
            <a:pPr algn="l">
              <a:lnSpc>
                <a:spcPts val="1830"/>
              </a:lnSpc>
              <a:spcBef>
                <a:spcPts val="0"/>
              </a:spcBef>
              <a:spcAft>
                <a:spcPts val="0"/>
              </a:spcAft>
              <a:buNone/>
            </a:pPr>
            <a:r>
              <a:rPr lang="ko-KR" altLang="en-US" sz="1500" b="1" dirty="0">
                <a:solidFill>
                  <a:srgbClr val="1E2A5A"/>
                </a:solidFill>
                <a:latin typeface="맑은 고딕"/>
                <a:ea typeface="맑은 고딕"/>
                <a:cs typeface="맑은 고딕"/>
              </a:rPr>
              <a:t>① </a:t>
            </a:r>
            <a:r>
              <a:rPr lang="en-US" altLang="en-US" sz="1500" b="0" dirty="0">
                <a:solidFill>
                  <a:srgbClr val="1F2328"/>
                </a:solidFill>
                <a:latin typeface="Calibri"/>
                <a:ea typeface="맑은 고딕"/>
                <a:cs typeface="Calibri"/>
              </a:rPr>
              <a:t>Have you ever visited an online bookstore and been surprised by the books that the store recommended for you? </a:t>
            </a:r>
            <a:r>
              <a:rPr lang="ko-KR" altLang="en-US" sz="1500" b="1" dirty="0">
                <a:solidFill>
                  <a:srgbClr val="1E2A5A"/>
                </a:solidFill>
                <a:latin typeface="맑은 고딕"/>
                <a:ea typeface="맑은 고딕"/>
                <a:cs typeface="맑은 고딕"/>
              </a:rPr>
              <a:t>② </a:t>
            </a:r>
            <a:r>
              <a:rPr lang="en-US" altLang="en-US" sz="1500" b="0" dirty="0">
                <a:solidFill>
                  <a:srgbClr val="1F2328"/>
                </a:solidFill>
                <a:latin typeface="Calibri"/>
                <a:ea typeface="맑은 고딕"/>
                <a:cs typeface="Calibri"/>
              </a:rPr>
              <a:t>Many of them looked interesting to you. So how did the bookstore know what you liked? </a:t>
            </a:r>
            <a:r>
              <a:rPr lang="ko-KR" altLang="en-US" sz="1500" b="1" dirty="0">
                <a:solidFill>
                  <a:srgbClr val="1E2A5A"/>
                </a:solidFill>
                <a:latin typeface="맑은 고딕"/>
                <a:ea typeface="맑은 고딕"/>
                <a:cs typeface="맑은 고딕"/>
              </a:rPr>
              <a:t>③ </a:t>
            </a:r>
            <a:r>
              <a:rPr lang="en-US" altLang="en-US" sz="1500" b="0" dirty="0">
                <a:solidFill>
                  <a:srgbClr val="1F2328"/>
                </a:solidFill>
                <a:latin typeface="Calibri"/>
                <a:ea typeface="맑은 고딕"/>
                <a:cs typeface="Calibri"/>
              </a:rPr>
              <a:t>This is all possible because of big data. </a:t>
            </a:r>
            <a:r>
              <a:rPr lang="ko-KR" altLang="en-US" sz="1500" b="1" dirty="0">
                <a:solidFill>
                  <a:srgbClr val="1E2A5A"/>
                </a:solidFill>
                <a:latin typeface="맑은 고딕"/>
                <a:ea typeface="맑은 고딕"/>
                <a:cs typeface="맑은 고딕"/>
              </a:rPr>
              <a:t>④ </a:t>
            </a:r>
            <a:r>
              <a:rPr lang="en-US" altLang="en-US" sz="1500" b="0" dirty="0">
                <a:solidFill>
                  <a:srgbClr val="1F2328"/>
                </a:solidFill>
                <a:latin typeface="Calibri"/>
                <a:ea typeface="맑은 고딕"/>
                <a:cs typeface="Calibri"/>
              </a:rPr>
              <a:t>Big data is data sets that are very big and complex. </a:t>
            </a:r>
            <a:r>
              <a:rPr lang="ko-KR" altLang="en-US" sz="1500" b="1" dirty="0">
                <a:solidFill>
                  <a:srgbClr val="1E2A5A"/>
                </a:solidFill>
                <a:latin typeface="맑은 고딕"/>
                <a:ea typeface="맑은 고딕"/>
                <a:cs typeface="맑은 고딕"/>
              </a:rPr>
              <a:t>⑤ </a:t>
            </a:r>
            <a:r>
              <a:rPr lang="en-US" altLang="en-US" sz="1500" b="0" dirty="0">
                <a:solidFill>
                  <a:srgbClr val="1F2328"/>
                </a:solidFill>
                <a:latin typeface="Calibri"/>
                <a:ea typeface="맑은 고딕"/>
                <a:cs typeface="Calibri"/>
              </a:rPr>
              <a:t>As information and communication technology develops, the amount of data we have is getting much greater than before. </a:t>
            </a:r>
            <a:r>
              <a:rPr lang="ko-KR" altLang="en-US" sz="1500" b="1" dirty="0">
                <a:solidFill>
                  <a:srgbClr val="1E2A5A"/>
                </a:solidFill>
                <a:latin typeface="맑은 고딕"/>
                <a:ea typeface="맑은 고딕"/>
                <a:cs typeface="맑은 고딕"/>
              </a:rPr>
              <a:t>⑥ </a:t>
            </a:r>
            <a:r>
              <a:rPr lang="en-US" altLang="en-US" sz="1500" b="0" dirty="0">
                <a:solidFill>
                  <a:srgbClr val="1F2328"/>
                </a:solidFill>
                <a:latin typeface="Calibri"/>
                <a:ea typeface="맑은 고딕"/>
                <a:cs typeface="Calibri"/>
              </a:rPr>
              <a:t>This is mainly because almost everything that we do online leaves a trace. </a:t>
            </a:r>
            <a:r>
              <a:rPr lang="ko-KR" altLang="en-US" sz="1500" b="1" dirty="0">
                <a:solidFill>
                  <a:srgbClr val="1E2A5A"/>
                </a:solidFill>
                <a:latin typeface="맑은 고딕"/>
                <a:ea typeface="맑은 고딕"/>
                <a:cs typeface="맑은 고딕"/>
              </a:rPr>
              <a:t>⑦ </a:t>
            </a:r>
            <a:r>
              <a:rPr lang="en-US" altLang="en-US" sz="1500" b="0" dirty="0">
                <a:solidFill>
                  <a:srgbClr val="1F2328"/>
                </a:solidFill>
                <a:latin typeface="Calibri"/>
                <a:ea typeface="맑은 고딕"/>
                <a:cs typeface="Calibri"/>
              </a:rPr>
              <a:t>For example, the photos you upload on your blog and the records of your purchases at online stores are all part of big data. </a:t>
            </a:r>
            <a:r>
              <a:rPr lang="ko-KR" altLang="en-US" sz="1500" b="1" dirty="0">
                <a:solidFill>
                  <a:srgbClr val="1E2A5A"/>
                </a:solidFill>
                <a:latin typeface="맑은 고딕"/>
                <a:ea typeface="맑은 고딕"/>
                <a:cs typeface="맑은 고딕"/>
              </a:rPr>
              <a:t>⑧ </a:t>
            </a:r>
            <a:r>
              <a:rPr lang="en-US" altLang="en-US" sz="1500" b="0" dirty="0">
                <a:solidFill>
                  <a:srgbClr val="1F2328"/>
                </a:solidFill>
                <a:latin typeface="Calibri"/>
                <a:ea typeface="맑은 고딕"/>
                <a:cs typeface="Calibri"/>
              </a:rPr>
              <a:t>Simply collecting data, however, is not enough. </a:t>
            </a:r>
            <a:r>
              <a:rPr lang="ko-KR" altLang="en-US" sz="1500" b="1" dirty="0">
                <a:solidFill>
                  <a:srgbClr val="1E2A5A"/>
                </a:solidFill>
                <a:latin typeface="맑은 고딕"/>
                <a:ea typeface="맑은 고딕"/>
                <a:cs typeface="맑은 고딕"/>
              </a:rPr>
              <a:t>⑨ </a:t>
            </a:r>
            <a:r>
              <a:rPr lang="en-US" altLang="en-US" sz="1500" b="0" dirty="0">
                <a:solidFill>
                  <a:srgbClr val="1F2328"/>
                </a:solidFill>
                <a:latin typeface="Calibri"/>
                <a:ea typeface="맑은 고딕"/>
                <a:cs typeface="Calibri"/>
              </a:rPr>
              <a:t>Big data has to be analyzed, and this is done by big data experts. </a:t>
            </a:r>
            <a:r>
              <a:rPr lang="ko-KR" altLang="en-US" sz="1500" b="1" dirty="0">
                <a:solidFill>
                  <a:srgbClr val="1E2A5A"/>
                </a:solidFill>
                <a:latin typeface="맑은 고딕"/>
                <a:ea typeface="맑은 고딕"/>
                <a:cs typeface="맑은 고딕"/>
              </a:rPr>
              <a:t>⑩ </a:t>
            </a:r>
            <a:r>
              <a:rPr lang="en-US" altLang="en-US" sz="1500" b="0" dirty="0">
                <a:solidFill>
                  <a:srgbClr val="1F2328"/>
                </a:solidFill>
                <a:latin typeface="Calibri"/>
                <a:ea typeface="맑은 고딕"/>
                <a:cs typeface="Calibri"/>
              </a:rPr>
              <a:t>Using various methods, experts analyze big data and draw meaningful results from it. </a:t>
            </a:r>
            <a:r>
              <a:rPr lang="ko-KR" altLang="en-US" sz="1500" b="1" dirty="0">
                <a:solidFill>
                  <a:srgbClr val="1E2A5A"/>
                </a:solidFill>
                <a:latin typeface="맑은 고딕"/>
                <a:ea typeface="맑은 고딕"/>
                <a:cs typeface="맑은 고딕"/>
              </a:rPr>
              <a:t>⑪ </a:t>
            </a:r>
            <a:r>
              <a:rPr lang="en-US" altLang="en-US" sz="1500" b="0" dirty="0">
                <a:solidFill>
                  <a:srgbClr val="1F2328"/>
                </a:solidFill>
                <a:latin typeface="Calibri"/>
                <a:ea typeface="맑은 고딕"/>
                <a:cs typeface="Calibri"/>
              </a:rPr>
              <a:t>These results then can be used to make decisions or to predict the future. </a:t>
            </a:r>
            <a:endParaRPr lang="ko-KR" sz="1500"/>
          </a:p>
        </p:txBody>
      </p:sp>
      <p:sp>
        <p:nvSpPr>
          <p:cNvPr id="9" name="q_card_1"/>
          <p:cNvSpPr/>
          <p:nvPr/>
        </p:nvSpPr>
        <p:spPr>
          <a:xfrm>
            <a:off x="457200" y="3481578"/>
            <a:ext cx="11274552" cy="4503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481578"/>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6.  </a:t>
            </a:r>
            <a:r>
              <a:rPr lang="ko-KR" altLang="en-US" sz="1800" b="0" dirty="0">
                <a:solidFill>
                  <a:srgbClr val="1F2328"/>
                </a:solidFill>
                <a:latin typeface="맑은 고딕"/>
                <a:ea typeface="맑은 고딕"/>
                <a:cs typeface="맑은 고딕"/>
              </a:rPr>
              <a:t>온라인에서 하는 거의 모든 것이 흔적을 남긴다.</a:t>
            </a:r>
            <a:endParaRPr lang="ko-KR" sz="1800"/>
          </a:p>
        </p:txBody>
      </p:sp>
      <p:sp>
        <p:nvSpPr>
          <p:cNvPr id="11" name="tf_1"/>
          <p:cNvSpPr txBox="1"/>
          <p:nvPr/>
        </p:nvSpPr>
        <p:spPr>
          <a:xfrm>
            <a:off x="9765792" y="3481578"/>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12" name="rv_ans_1"/>
          <p:cNvSpPr/>
          <p:nvPr/>
        </p:nvSpPr>
        <p:spPr>
          <a:xfrm>
            <a:off x="9765792" y="3527298"/>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T</a:t>
            </a:r>
            <a:endParaRPr lang="ko-KR" sz="2100"/>
          </a:p>
        </p:txBody>
      </p:sp>
      <p:sp>
        <p:nvSpPr>
          <p:cNvPr id="13" name="q_card_2"/>
          <p:cNvSpPr/>
          <p:nvPr/>
        </p:nvSpPr>
        <p:spPr>
          <a:xfrm>
            <a:off x="457200" y="4005072"/>
            <a:ext cx="11274552" cy="450342"/>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005072"/>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7.  </a:t>
            </a:r>
            <a:r>
              <a:rPr lang="ko-KR" altLang="en-US" sz="1800" b="0" dirty="0">
                <a:solidFill>
                  <a:srgbClr val="1F2328"/>
                </a:solidFill>
                <a:latin typeface="맑은 고딕"/>
                <a:ea typeface="맑은 고딕"/>
                <a:cs typeface="맑은 고딕"/>
              </a:rPr>
              <a:t>블로그에 올린 사진도 빅데이터의 일부이다.</a:t>
            </a:r>
            <a:endParaRPr lang="ko-KR" sz="1800"/>
          </a:p>
        </p:txBody>
      </p:sp>
      <p:sp>
        <p:nvSpPr>
          <p:cNvPr id="15" name="tf_2"/>
          <p:cNvSpPr txBox="1"/>
          <p:nvPr/>
        </p:nvSpPr>
        <p:spPr>
          <a:xfrm>
            <a:off x="9765792" y="4005072"/>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16" name="rv_ans_2"/>
          <p:cNvSpPr/>
          <p:nvPr/>
        </p:nvSpPr>
        <p:spPr>
          <a:xfrm>
            <a:off x="9765792" y="4050791"/>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T</a:t>
            </a:r>
            <a:endParaRPr lang="ko-KR" sz="2100"/>
          </a:p>
        </p:txBody>
      </p:sp>
      <p:sp>
        <p:nvSpPr>
          <p:cNvPr id="17" name="q_card_3"/>
          <p:cNvSpPr/>
          <p:nvPr/>
        </p:nvSpPr>
        <p:spPr>
          <a:xfrm>
            <a:off x="457200" y="4528566"/>
            <a:ext cx="11274552" cy="4503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528566"/>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8.  </a:t>
            </a:r>
            <a:r>
              <a:rPr lang="ko-KR" altLang="en-US" sz="1800" b="0" dirty="0">
                <a:solidFill>
                  <a:srgbClr val="1F2328"/>
                </a:solidFill>
                <a:latin typeface="맑은 고딕"/>
                <a:ea typeface="맑은 고딕"/>
                <a:cs typeface="맑은 고딕"/>
              </a:rPr>
              <a:t>단순히 데이터를 수집하는 것만으로 충분하다.</a:t>
            </a:r>
            <a:endParaRPr lang="ko-KR" sz="1800"/>
          </a:p>
        </p:txBody>
      </p:sp>
      <p:sp>
        <p:nvSpPr>
          <p:cNvPr id="19" name="tf_3"/>
          <p:cNvSpPr txBox="1"/>
          <p:nvPr/>
        </p:nvSpPr>
        <p:spPr>
          <a:xfrm>
            <a:off x="9765792" y="4528566"/>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20" name="rv_ans_3"/>
          <p:cNvSpPr/>
          <p:nvPr/>
        </p:nvSpPr>
        <p:spPr>
          <a:xfrm>
            <a:off x="9765792" y="4574286"/>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F</a:t>
            </a:r>
            <a:endParaRPr lang="ko-KR" sz="2100"/>
          </a:p>
        </p:txBody>
      </p:sp>
      <p:sp>
        <p:nvSpPr>
          <p:cNvPr id="21" name="q_card_4"/>
          <p:cNvSpPr/>
          <p:nvPr/>
        </p:nvSpPr>
        <p:spPr>
          <a:xfrm>
            <a:off x="457200" y="5052059"/>
            <a:ext cx="11274552" cy="450342"/>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052059"/>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9.  </a:t>
            </a:r>
            <a:r>
              <a:rPr lang="ko-KR" altLang="en-US" sz="1800" b="0" dirty="0">
                <a:solidFill>
                  <a:srgbClr val="1F2328"/>
                </a:solidFill>
                <a:latin typeface="맑은 고딕"/>
                <a:ea typeface="맑은 고딕"/>
                <a:cs typeface="맑은 고딕"/>
              </a:rPr>
              <a:t>빅데이터는 일반 이용자들이 직접 분석한다.</a:t>
            </a:r>
            <a:endParaRPr lang="ko-KR" sz="1800"/>
          </a:p>
        </p:txBody>
      </p:sp>
      <p:sp>
        <p:nvSpPr>
          <p:cNvPr id="23" name="tf_4"/>
          <p:cNvSpPr txBox="1"/>
          <p:nvPr/>
        </p:nvSpPr>
        <p:spPr>
          <a:xfrm>
            <a:off x="9765792" y="5052059"/>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24" name="rv_ans_4"/>
          <p:cNvSpPr/>
          <p:nvPr/>
        </p:nvSpPr>
        <p:spPr>
          <a:xfrm>
            <a:off x="9765792" y="5097779"/>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F</a:t>
            </a:r>
            <a:endParaRPr lang="ko-KR" sz="2100"/>
          </a:p>
        </p:txBody>
      </p:sp>
      <p:sp>
        <p:nvSpPr>
          <p:cNvPr id="25" name="q_card_5"/>
          <p:cNvSpPr/>
          <p:nvPr/>
        </p:nvSpPr>
        <p:spPr>
          <a:xfrm>
            <a:off x="457200" y="5575553"/>
            <a:ext cx="11274552" cy="450342"/>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575553"/>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10.  </a:t>
            </a:r>
            <a:r>
              <a:rPr lang="ko-KR" altLang="en-US" sz="1800" b="0" dirty="0">
                <a:solidFill>
                  <a:srgbClr val="1F2328"/>
                </a:solidFill>
                <a:latin typeface="맑은 고딕"/>
                <a:ea typeface="맑은 고딕"/>
                <a:cs typeface="맑은 고딕"/>
              </a:rPr>
              <a:t>분석 결과는 의사결정이나 미래 예측에 사용될 수 있다.</a:t>
            </a:r>
            <a:endParaRPr lang="ko-KR" sz="1800"/>
          </a:p>
        </p:txBody>
      </p:sp>
      <p:sp>
        <p:nvSpPr>
          <p:cNvPr id="27" name="tf_5"/>
          <p:cNvSpPr txBox="1"/>
          <p:nvPr/>
        </p:nvSpPr>
        <p:spPr>
          <a:xfrm>
            <a:off x="9765792" y="5575553"/>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28" name="rv_ans_5"/>
          <p:cNvSpPr/>
          <p:nvPr/>
        </p:nvSpPr>
        <p:spPr>
          <a:xfrm>
            <a:off x="9765792" y="5621273"/>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T</a:t>
            </a:r>
            <a:endParaRPr lang="ko-KR" sz="2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⑫ </a:t>
            </a:r>
            <a:r>
              <a:rPr lang="en-US" altLang="en-US" sz="1700" b="0" dirty="0">
                <a:solidFill>
                  <a:srgbClr val="1F2328"/>
                </a:solidFill>
                <a:latin typeface="Calibri"/>
                <a:ea typeface="맑은 고딕"/>
                <a:cs typeface="Calibri"/>
              </a:rPr>
              <a:t>Big data is influencing almost all parts of our lives. </a:t>
            </a:r>
            <a:r>
              <a:rPr lang="ko-KR" altLang="en-US" sz="1700" b="1" dirty="0">
                <a:solidFill>
                  <a:srgbClr val="1E2A5A"/>
                </a:solidFill>
                <a:latin typeface="맑은 고딕"/>
                <a:ea typeface="맑은 고딕"/>
                <a:cs typeface="맑은 고딕"/>
              </a:rPr>
              <a:t>⑬ </a:t>
            </a:r>
            <a:r>
              <a:rPr lang="en-US" altLang="en-US" sz="1700" b="0" dirty="0">
                <a:solidFill>
                  <a:srgbClr val="1F2328"/>
                </a:solidFill>
                <a:latin typeface="Calibri"/>
                <a:ea typeface="맑은 고딕"/>
                <a:cs typeface="Calibri"/>
              </a:rPr>
              <a:t>It helps companies understand their customers’ needs better and helps them sell more products. </a:t>
            </a:r>
            <a:r>
              <a:rPr lang="ko-KR" altLang="en-US" sz="1700" b="1" dirty="0">
                <a:solidFill>
                  <a:srgbClr val="1E2A5A"/>
                </a:solidFill>
                <a:latin typeface="맑은 고딕"/>
                <a:ea typeface="맑은 고딕"/>
                <a:cs typeface="맑은 고딕"/>
              </a:rPr>
              <a:t>⑭ </a:t>
            </a:r>
            <a:r>
              <a:rPr lang="en-US" altLang="en-US" sz="1700" b="0" dirty="0">
                <a:solidFill>
                  <a:srgbClr val="1F2328"/>
                </a:solidFill>
                <a:latin typeface="Calibri"/>
                <a:ea typeface="맑은 고딕"/>
                <a:cs typeface="Calibri"/>
              </a:rPr>
              <a:t>It helps people avoid heavy traffic. Its uses are endless, and here are some interesting examples. </a:t>
            </a:r>
            <a:r>
              <a:rPr lang="ko-KR" altLang="en-US" sz="1700" b="1" dirty="0">
                <a:solidFill>
                  <a:srgbClr val="1E2A5A"/>
                </a:solidFill>
                <a:latin typeface="맑은 고딕"/>
                <a:ea typeface="맑은 고딕"/>
                <a:cs typeface="맑은 고딕"/>
              </a:rPr>
              <a:t>⑮ </a:t>
            </a:r>
            <a:r>
              <a:rPr lang="en-US" altLang="en-US" sz="1700" b="0" dirty="0">
                <a:solidFill>
                  <a:srgbClr val="1F2328"/>
                </a:solidFill>
                <a:latin typeface="Calibri"/>
                <a:ea typeface="맑은 고딕"/>
                <a:cs typeface="Calibri"/>
              </a:rPr>
              <a:t>Did you know that health professionals can now forecast a disease just as weather experts forecast the weather? </a:t>
            </a:r>
            <a:r>
              <a:rPr lang="ko-KR" altLang="en-US" sz="1700" b="1" dirty="0">
                <a:solidFill>
                  <a:srgbClr val="1E2A5A"/>
                </a:solidFill>
                <a:latin typeface="맑은 고딕"/>
                <a:ea typeface="맑은 고딕"/>
                <a:cs typeface="맑은 고딕"/>
              </a:rPr>
              <a:t>⑯ </a:t>
            </a:r>
            <a:r>
              <a:rPr lang="en-US" altLang="en-US" sz="1700" b="0" dirty="0">
                <a:solidFill>
                  <a:srgbClr val="1F2328"/>
                </a:solidFill>
                <a:latin typeface="Calibri"/>
                <a:ea typeface="맑은 고딕"/>
                <a:cs typeface="Calibri"/>
              </a:rPr>
              <a:t>This is possible thanks to big data. For example, when the flu season comes, people will buy more flu medicine. </a:t>
            </a:r>
            <a:r>
              <a:rPr lang="ko-KR" altLang="en-US" sz="1700" b="1" dirty="0">
                <a:solidFill>
                  <a:srgbClr val="1E2A5A"/>
                </a:solidFill>
                <a:latin typeface="맑은 고딕"/>
                <a:ea typeface="맑은 고딕"/>
                <a:cs typeface="맑은 고딕"/>
              </a:rPr>
              <a:t>⑰ </a:t>
            </a:r>
            <a:r>
              <a:rPr lang="en-US" altLang="en-US" sz="1700" b="0" dirty="0">
                <a:solidFill>
                  <a:srgbClr val="1F2328"/>
                </a:solidFill>
                <a:latin typeface="Calibri"/>
                <a:ea typeface="맑은 고딕"/>
                <a:cs typeface="Calibri"/>
              </a:rPr>
              <a:t>They will also search online about flu symptoms more. </a:t>
            </a:r>
            <a:r>
              <a:rPr lang="ko-KR" altLang="en-US" sz="1700" b="1" dirty="0">
                <a:solidFill>
                  <a:srgbClr val="1E2A5A"/>
                </a:solidFill>
                <a:latin typeface="맑은 고딕"/>
                <a:ea typeface="맑은 고딕"/>
                <a:cs typeface="맑은 고딕"/>
              </a:rPr>
              <a:t>⑱ </a:t>
            </a:r>
            <a:r>
              <a:rPr lang="en-US" altLang="en-US" sz="1700" b="0" dirty="0">
                <a:solidFill>
                  <a:srgbClr val="1F2328"/>
                </a:solidFill>
                <a:latin typeface="Calibri"/>
                <a:ea typeface="맑은 고딕"/>
                <a:cs typeface="Calibri"/>
              </a:rPr>
              <a:t>If this kind of data is analyzed wisely, the spread of the flu can be predicted.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11.  </a:t>
            </a:r>
            <a:r>
              <a:rPr lang="ko-KR" altLang="en-US" sz="1900" b="0" dirty="0">
                <a:solidFill>
                  <a:srgbClr val="1F2328"/>
                </a:solidFill>
                <a:latin typeface="맑은 고딕"/>
                <a:ea typeface="맑은 고딕"/>
                <a:cs typeface="맑은 고딕"/>
              </a:rPr>
              <a:t>빅데이터는 우리 삶의 거의 모든 부분에 영향을 미치고 있다.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12.  </a:t>
            </a:r>
            <a:r>
              <a:rPr lang="ko-KR" altLang="en-US" sz="1900" b="0" dirty="0">
                <a:solidFill>
                  <a:srgbClr val="1F2328"/>
                </a:solidFill>
                <a:latin typeface="맑은 고딕"/>
                <a:ea typeface="맑은 고딕"/>
                <a:cs typeface="맑은 고딕"/>
              </a:rPr>
              <a:t>빅데이터는 회사들이 소비자의 필요를 더 잘 이해하도록 돕는다.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13.  </a:t>
            </a:r>
            <a:r>
              <a:rPr lang="ko-KR" altLang="en-US" sz="1900" b="0" dirty="0">
                <a:solidFill>
                  <a:srgbClr val="1F2328"/>
                </a:solidFill>
                <a:latin typeface="맑은 고딕"/>
                <a:ea typeface="맑은 고딕"/>
                <a:cs typeface="맑은 고딕"/>
              </a:rPr>
              <a:t>빅데이터는 회사들이 상품을 덜 팔게 만든다.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85178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14.  </a:t>
            </a:r>
            <a:r>
              <a:rPr lang="ko-KR" altLang="en-US" sz="1900" b="0" dirty="0">
                <a:solidFill>
                  <a:srgbClr val="1F2328"/>
                </a:solidFill>
                <a:latin typeface="맑은 고딕"/>
                <a:ea typeface="맑은 고딕"/>
                <a:cs typeface="맑은 고딕"/>
              </a:rPr>
              <a:t>빅데이터는 사람들이 교통 체증을 피하도록 돕는다.</a:t>
            </a:r>
            <a:endParaRPr lang="ko-KR" sz="1900"/>
          </a:p>
        </p:txBody>
      </p:sp>
      <p:sp>
        <p:nvSpPr>
          <p:cNvPr id="23" name="tf_4"/>
          <p:cNvSpPr txBox="1"/>
          <p:nvPr/>
        </p:nvSpPr>
        <p:spPr>
          <a:xfrm>
            <a:off x="9765792" y="485178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39115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39115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15.  </a:t>
            </a:r>
            <a:r>
              <a:rPr lang="ko-KR" altLang="en-US" sz="1900" b="0" dirty="0">
                <a:solidFill>
                  <a:srgbClr val="1F2328"/>
                </a:solidFill>
                <a:latin typeface="맑은 고딕"/>
                <a:ea typeface="맑은 고딕"/>
                <a:cs typeface="맑은 고딕"/>
              </a:rPr>
              <a:t>빅데이터의 쓰임은 매우 제한적이다.</a:t>
            </a:r>
            <a:endParaRPr lang="ko-KR" sz="1900"/>
          </a:p>
        </p:txBody>
      </p:sp>
      <p:sp>
        <p:nvSpPr>
          <p:cNvPr id="27" name="tf_5"/>
          <p:cNvSpPr txBox="1"/>
          <p:nvPr/>
        </p:nvSpPr>
        <p:spPr>
          <a:xfrm>
            <a:off x="9765792" y="539115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3687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009647"/>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009647"/>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Big data is influencing almost all parts of our lives.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It helps companies understand their customers’ needs better and helps them sell more products.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It helps people avoid heavy traffic. Its uses are endless, and here are some interesting examples.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Did you know that health professionals can now forecast a disease just as weather experts forecast the weather?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This is possible thanks to big data. For example, when the flu season comes, people will buy more flu medicine. </a:t>
            </a: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They will also search online about flu symptoms more.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If this kind of data is analyzed wisely, the spread of the flu can be predicted. </a:t>
            </a:r>
            <a:endParaRPr lang="ko-KR" sz="1600"/>
          </a:p>
        </p:txBody>
      </p:sp>
      <p:sp>
        <p:nvSpPr>
          <p:cNvPr id="9" name="q_card_1"/>
          <p:cNvSpPr/>
          <p:nvPr/>
        </p:nvSpPr>
        <p:spPr>
          <a:xfrm>
            <a:off x="457200" y="312521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12521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16.  </a:t>
            </a:r>
            <a:r>
              <a:rPr lang="ko-KR" altLang="en-US" sz="1900" b="0" dirty="0">
                <a:solidFill>
                  <a:srgbClr val="1F2328"/>
                </a:solidFill>
                <a:latin typeface="맑은 고딕"/>
                <a:ea typeface="맑은 고딕"/>
                <a:cs typeface="맑은 고딕"/>
              </a:rPr>
              <a:t>건강 전문가들은 이제 질병을 예측할 수 있다.</a:t>
            </a:r>
            <a:endParaRPr lang="ko-KR" sz="1900"/>
          </a:p>
        </p:txBody>
      </p:sp>
      <p:sp>
        <p:nvSpPr>
          <p:cNvPr id="11" name="tf_1"/>
          <p:cNvSpPr txBox="1"/>
          <p:nvPr/>
        </p:nvSpPr>
        <p:spPr>
          <a:xfrm>
            <a:off x="9765792" y="312521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17093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66458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66458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17.  </a:t>
            </a:r>
            <a:r>
              <a:rPr lang="ko-KR" altLang="en-US" sz="1900" b="0" dirty="0">
                <a:solidFill>
                  <a:srgbClr val="1F2328"/>
                </a:solidFill>
                <a:latin typeface="맑은 고딕"/>
                <a:ea typeface="맑은 고딕"/>
                <a:cs typeface="맑은 고딕"/>
              </a:rPr>
              <a:t>독감의 계절이 오면 사람들은 독감 약을 덜 구입한다.</a:t>
            </a:r>
            <a:endParaRPr lang="ko-KR" sz="1900"/>
          </a:p>
        </p:txBody>
      </p:sp>
      <p:sp>
        <p:nvSpPr>
          <p:cNvPr id="15" name="tf_2"/>
          <p:cNvSpPr txBox="1"/>
          <p:nvPr/>
        </p:nvSpPr>
        <p:spPr>
          <a:xfrm>
            <a:off x="9765792" y="366458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71030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203954"/>
            <a:ext cx="11274552" cy="7678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203954"/>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18.  </a:t>
            </a:r>
            <a:r>
              <a:rPr lang="ko-KR" altLang="en-US" sz="1900" b="0" dirty="0">
                <a:solidFill>
                  <a:srgbClr val="1F2328"/>
                </a:solidFill>
                <a:latin typeface="맑은 고딕"/>
                <a:ea typeface="맑은 고딕"/>
                <a:cs typeface="맑은 고딕"/>
              </a:rPr>
              <a:t>독감의 계절에 사람들은 온라인에서 독감 증상을 더 많이 검색한다.</a:t>
            </a:r>
            <a:endParaRPr lang="ko-KR" sz="1900"/>
          </a:p>
        </p:txBody>
      </p:sp>
      <p:sp>
        <p:nvSpPr>
          <p:cNvPr id="19" name="tf_3"/>
          <p:cNvSpPr txBox="1"/>
          <p:nvPr/>
        </p:nvSpPr>
        <p:spPr>
          <a:xfrm>
            <a:off x="9765792" y="4203954"/>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249674"/>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044948"/>
            <a:ext cx="11274552" cy="767842"/>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044948"/>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19.  </a:t>
            </a:r>
            <a:r>
              <a:rPr lang="ko-KR" altLang="en-US" sz="1900" b="0" dirty="0">
                <a:solidFill>
                  <a:srgbClr val="1F2328"/>
                </a:solidFill>
                <a:latin typeface="맑은 고딕"/>
                <a:ea typeface="맑은 고딕"/>
                <a:cs typeface="맑은 고딕"/>
              </a:rPr>
              <a:t>관련 데이터를 현명하게 분석하면 독감의 확산을 예측할 수 있다.</a:t>
            </a:r>
            <a:endParaRPr lang="ko-KR" sz="1900"/>
          </a:p>
        </p:txBody>
      </p:sp>
      <p:sp>
        <p:nvSpPr>
          <p:cNvPr id="23" name="tf_4"/>
          <p:cNvSpPr txBox="1"/>
          <p:nvPr/>
        </p:nvSpPr>
        <p:spPr>
          <a:xfrm>
            <a:off x="9765792" y="5044948"/>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090668"/>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88594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88594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20.  </a:t>
            </a:r>
            <a:r>
              <a:rPr lang="ko-KR" altLang="en-US" sz="1900" b="0" dirty="0">
                <a:solidFill>
                  <a:srgbClr val="1F2328"/>
                </a:solidFill>
                <a:latin typeface="맑은 고딕"/>
                <a:ea typeface="맑은 고딕"/>
                <a:cs typeface="맑은 고딕"/>
              </a:rPr>
              <a:t>질병 예측은 날씨 전문가들이 담당한다.</a:t>
            </a:r>
            <a:endParaRPr lang="ko-KR" sz="1900"/>
          </a:p>
        </p:txBody>
      </p:sp>
      <p:sp>
        <p:nvSpPr>
          <p:cNvPr id="27" name="tf_5"/>
          <p:cNvSpPr txBox="1"/>
          <p:nvPr/>
        </p:nvSpPr>
        <p:spPr>
          <a:xfrm>
            <a:off x="9765792" y="588594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9316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⑲ </a:t>
            </a:r>
            <a:r>
              <a:rPr lang="en-US" altLang="en-US" sz="1700" b="0" dirty="0">
                <a:solidFill>
                  <a:srgbClr val="1F2328"/>
                </a:solidFill>
                <a:latin typeface="Calibri"/>
                <a:ea typeface="맑은 고딕"/>
                <a:cs typeface="Calibri"/>
              </a:rPr>
              <a:t>Are you a sports fan? Well, big data is improving the performance of players, making sports more exciting. </a:t>
            </a:r>
            <a:r>
              <a:rPr lang="ko-KR" altLang="en-US" sz="1700" b="1" dirty="0">
                <a:solidFill>
                  <a:srgbClr val="1E2A5A"/>
                </a:solidFill>
                <a:latin typeface="맑은 고딕"/>
                <a:ea typeface="맑은 고딕"/>
                <a:cs typeface="맑은 고딕"/>
              </a:rPr>
              <a:t>⑳ </a:t>
            </a:r>
            <a:r>
              <a:rPr lang="en-US" altLang="en-US" sz="1700" b="0" dirty="0">
                <a:solidFill>
                  <a:srgbClr val="1F2328"/>
                </a:solidFill>
                <a:latin typeface="Calibri"/>
                <a:ea typeface="맑은 고딕"/>
                <a:cs typeface="Calibri"/>
              </a:rPr>
              <a:t>A famous example is Germany’s national soccer team. </a:t>
            </a:r>
            <a:r>
              <a:rPr lang="en-US" altLang="en-US" sz="1700" b="1" dirty="0">
                <a:solidFill>
                  <a:srgbClr val="1E2A5A"/>
                </a:solidFill>
                <a:latin typeface="Calibri"/>
                <a:ea typeface="맑은 고딕"/>
                <a:cs typeface="Calibri"/>
              </a:rPr>
              <a:t>21. </a:t>
            </a:r>
            <a:r>
              <a:rPr lang="en-US" altLang="en-US" sz="1700" b="0" dirty="0">
                <a:solidFill>
                  <a:srgbClr val="1F2328"/>
                </a:solidFill>
                <a:latin typeface="Calibri"/>
                <a:ea typeface="맑은 고딕"/>
                <a:cs typeface="Calibri"/>
              </a:rPr>
              <a:t>The team built a database by collecting and analyzing a huge amount of data on players. </a:t>
            </a:r>
            <a:r>
              <a:rPr lang="en-US" altLang="en-US" sz="1700" b="1" dirty="0">
                <a:solidFill>
                  <a:srgbClr val="1E2A5A"/>
                </a:solidFill>
                <a:latin typeface="Calibri"/>
                <a:ea typeface="맑은 고딕"/>
                <a:cs typeface="Calibri"/>
              </a:rPr>
              <a:t>22. </a:t>
            </a:r>
            <a:r>
              <a:rPr lang="en-US" altLang="en-US" sz="1700" b="0" dirty="0">
                <a:solidFill>
                  <a:srgbClr val="1F2328"/>
                </a:solidFill>
                <a:latin typeface="Calibri"/>
                <a:ea typeface="맑은 고딕"/>
                <a:cs typeface="Calibri"/>
              </a:rPr>
              <a:t>For example, the data included information about how much each player ran and how long he had the ball. </a:t>
            </a:r>
            <a:r>
              <a:rPr lang="en-US" altLang="en-US" sz="1700" b="1" dirty="0">
                <a:solidFill>
                  <a:srgbClr val="1E2A5A"/>
                </a:solidFill>
                <a:latin typeface="Calibri"/>
                <a:ea typeface="맑은 고딕"/>
                <a:cs typeface="Calibri"/>
              </a:rPr>
              <a:t>23. </a:t>
            </a:r>
            <a:r>
              <a:rPr lang="en-US" altLang="en-US" sz="1700" b="0" dirty="0">
                <a:solidFill>
                  <a:srgbClr val="1F2328"/>
                </a:solidFill>
                <a:latin typeface="Calibri"/>
                <a:ea typeface="맑은 고딕"/>
                <a:cs typeface="Calibri"/>
              </a:rPr>
              <a:t>With the help of this database, Germany’s national soccer team was able to improve its performance and win the 2014 World Cup.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21.  </a:t>
            </a:r>
            <a:r>
              <a:rPr lang="ko-KR" altLang="en-US" sz="1900" b="0" dirty="0">
                <a:solidFill>
                  <a:srgbClr val="1F2328"/>
                </a:solidFill>
                <a:latin typeface="맑은 고딕"/>
                <a:ea typeface="맑은 고딕"/>
                <a:cs typeface="맑은 고딕"/>
              </a:rPr>
              <a:t>빅데이터는 선수들의 경기력을 향상하고 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22.  </a:t>
            </a:r>
            <a:r>
              <a:rPr lang="ko-KR" altLang="en-US" sz="1900" b="0" dirty="0">
                <a:solidFill>
                  <a:srgbClr val="1F2328"/>
                </a:solidFill>
                <a:latin typeface="맑은 고딕"/>
                <a:ea typeface="맑은 고딕"/>
                <a:cs typeface="맑은 고딕"/>
              </a:rPr>
              <a:t>빅데이터는 스포츠를 덜 흥미롭게 만들고 있다.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23.  </a:t>
            </a:r>
            <a:r>
              <a:rPr lang="ko-KR" altLang="en-US" sz="1900" b="0" dirty="0">
                <a:solidFill>
                  <a:srgbClr val="1F2328"/>
                </a:solidFill>
                <a:latin typeface="맑은 고딕"/>
                <a:ea typeface="맑은 고딕"/>
                <a:cs typeface="맑은 고딕"/>
              </a:rPr>
              <a:t>유명한 사례로 독일 국가 대표 축구팀이 소개된다.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24.  </a:t>
            </a:r>
            <a:r>
              <a:rPr lang="ko-KR" altLang="en-US" sz="1900" b="0" dirty="0">
                <a:solidFill>
                  <a:srgbClr val="1F2328"/>
                </a:solidFill>
                <a:latin typeface="맑은 고딕"/>
                <a:ea typeface="맑은 고딕"/>
                <a:cs typeface="맑은 고딕"/>
              </a:rPr>
              <a:t>독일 팀은 소수 선수의 적은 데이터만 모았다.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12775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25.  </a:t>
            </a:r>
            <a:r>
              <a:rPr lang="ko-KR" altLang="en-US" sz="1900" b="0" dirty="0">
                <a:solidFill>
                  <a:srgbClr val="1F2328"/>
                </a:solidFill>
                <a:latin typeface="맑은 고딕"/>
                <a:ea typeface="맑은 고딕"/>
                <a:cs typeface="맑은 고딕"/>
              </a:rPr>
              <a:t>독일 팀은 데이터를 모으고 분석해 데이터베이스를 구축했다.</a:t>
            </a:r>
            <a:endParaRPr lang="ko-KR" sz="1900"/>
          </a:p>
        </p:txBody>
      </p:sp>
      <p:sp>
        <p:nvSpPr>
          <p:cNvPr id="27" name="tf_5"/>
          <p:cNvSpPr txBox="1"/>
          <p:nvPr/>
        </p:nvSpPr>
        <p:spPr>
          <a:xfrm>
            <a:off x="9765792" y="51277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⑲ </a:t>
            </a:r>
            <a:r>
              <a:rPr lang="en-US" altLang="en-US" sz="1700" b="0" dirty="0">
                <a:solidFill>
                  <a:srgbClr val="1F2328"/>
                </a:solidFill>
                <a:latin typeface="Calibri"/>
                <a:ea typeface="맑은 고딕"/>
                <a:cs typeface="Calibri"/>
              </a:rPr>
              <a:t>Are you a sports fan? Well, big data is improving the performance of players, making sports more exciting. </a:t>
            </a:r>
            <a:r>
              <a:rPr lang="ko-KR" altLang="en-US" sz="1700" b="1" dirty="0">
                <a:solidFill>
                  <a:srgbClr val="1E2A5A"/>
                </a:solidFill>
                <a:latin typeface="맑은 고딕"/>
                <a:ea typeface="맑은 고딕"/>
                <a:cs typeface="맑은 고딕"/>
              </a:rPr>
              <a:t>⑳ </a:t>
            </a:r>
            <a:r>
              <a:rPr lang="en-US" altLang="en-US" sz="1700" b="0" dirty="0">
                <a:solidFill>
                  <a:srgbClr val="1F2328"/>
                </a:solidFill>
                <a:latin typeface="Calibri"/>
                <a:ea typeface="맑은 고딕"/>
                <a:cs typeface="Calibri"/>
              </a:rPr>
              <a:t>A famous example is Germany’s national soccer team. </a:t>
            </a:r>
            <a:r>
              <a:rPr lang="en-US" altLang="en-US" sz="1700" b="1" dirty="0">
                <a:solidFill>
                  <a:srgbClr val="1E2A5A"/>
                </a:solidFill>
                <a:latin typeface="Calibri"/>
                <a:ea typeface="맑은 고딕"/>
                <a:cs typeface="Calibri"/>
              </a:rPr>
              <a:t>21. </a:t>
            </a:r>
            <a:r>
              <a:rPr lang="en-US" altLang="en-US" sz="1700" b="0" dirty="0">
                <a:solidFill>
                  <a:srgbClr val="1F2328"/>
                </a:solidFill>
                <a:latin typeface="Calibri"/>
                <a:ea typeface="맑은 고딕"/>
                <a:cs typeface="Calibri"/>
              </a:rPr>
              <a:t>The team built a database by collecting and analyzing a huge amount of data on players. </a:t>
            </a:r>
            <a:r>
              <a:rPr lang="en-US" altLang="en-US" sz="1700" b="1" dirty="0">
                <a:solidFill>
                  <a:srgbClr val="1E2A5A"/>
                </a:solidFill>
                <a:latin typeface="Calibri"/>
                <a:ea typeface="맑은 고딕"/>
                <a:cs typeface="Calibri"/>
              </a:rPr>
              <a:t>22. </a:t>
            </a:r>
            <a:r>
              <a:rPr lang="en-US" altLang="en-US" sz="1700" b="0" dirty="0">
                <a:solidFill>
                  <a:srgbClr val="1F2328"/>
                </a:solidFill>
                <a:latin typeface="Calibri"/>
                <a:ea typeface="맑은 고딕"/>
                <a:cs typeface="Calibri"/>
              </a:rPr>
              <a:t>For example, the data included information about how much each player ran and how long he had the ball. </a:t>
            </a:r>
            <a:r>
              <a:rPr lang="en-US" altLang="en-US" sz="1700" b="1" dirty="0">
                <a:solidFill>
                  <a:srgbClr val="1E2A5A"/>
                </a:solidFill>
                <a:latin typeface="Calibri"/>
                <a:ea typeface="맑은 고딕"/>
                <a:cs typeface="Calibri"/>
              </a:rPr>
              <a:t>23. </a:t>
            </a:r>
            <a:r>
              <a:rPr lang="en-US" altLang="en-US" sz="1700" b="0" dirty="0">
                <a:solidFill>
                  <a:srgbClr val="1F2328"/>
                </a:solidFill>
                <a:latin typeface="Calibri"/>
                <a:ea typeface="맑은 고딕"/>
                <a:cs typeface="Calibri"/>
              </a:rPr>
              <a:t>With the help of this database, Germany’s national soccer team was able to improve its performance and win the 2014 World Cup.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26.  </a:t>
            </a:r>
            <a:r>
              <a:rPr lang="ko-KR" altLang="en-US" sz="1900" b="0" dirty="0">
                <a:solidFill>
                  <a:srgbClr val="1F2328"/>
                </a:solidFill>
                <a:latin typeface="맑은 고딕"/>
                <a:ea typeface="맑은 고딕"/>
                <a:cs typeface="맑은 고딕"/>
              </a:rPr>
              <a:t>데이터에는 각 선수가 얼마나 많이 달렸는지가 포함되었다.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767842"/>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27.  </a:t>
            </a:r>
            <a:r>
              <a:rPr lang="ko-KR" altLang="en-US" sz="1900" b="0" dirty="0">
                <a:solidFill>
                  <a:srgbClr val="1F2328"/>
                </a:solidFill>
                <a:latin typeface="맑은 고딕"/>
                <a:ea typeface="맑은 고딕"/>
                <a:cs typeface="맑은 고딕"/>
              </a:rPr>
              <a:t>데이터에는 각 선수가 공을 얼마나 오래 가지고 있었는지가 포함되었다.</a:t>
            </a:r>
            <a:endParaRPr lang="ko-KR" sz="1900"/>
          </a:p>
        </p:txBody>
      </p:sp>
      <p:sp>
        <p:nvSpPr>
          <p:cNvPr id="15" name="tf_2"/>
          <p:cNvSpPr txBox="1"/>
          <p:nvPr/>
        </p:nvSpPr>
        <p:spPr>
          <a:xfrm>
            <a:off x="9765792" y="3509645"/>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350639"/>
            <a:ext cx="11274552" cy="7678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50639"/>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28.  </a:t>
            </a:r>
            <a:r>
              <a:rPr lang="ko-KR" altLang="en-US" sz="1900" b="0" dirty="0">
                <a:solidFill>
                  <a:srgbClr val="1F2328"/>
                </a:solidFill>
                <a:latin typeface="맑은 고딕"/>
                <a:ea typeface="맑은 고딕"/>
                <a:cs typeface="맑은 고딕"/>
              </a:rPr>
              <a:t>데이터에는 선수들이 하루에 몇 시간 잠을 잤는지가 포함되었다고 나와 있다.</a:t>
            </a:r>
            <a:endParaRPr lang="ko-KR" sz="1900"/>
          </a:p>
        </p:txBody>
      </p:sp>
      <p:sp>
        <p:nvSpPr>
          <p:cNvPr id="19" name="tf_3"/>
          <p:cNvSpPr txBox="1"/>
          <p:nvPr/>
        </p:nvSpPr>
        <p:spPr>
          <a:xfrm>
            <a:off x="9765792" y="4350639"/>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96359"/>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519163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19163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29.  </a:t>
            </a:r>
            <a:r>
              <a:rPr lang="ko-KR" altLang="en-US" sz="1900" b="0" dirty="0">
                <a:solidFill>
                  <a:srgbClr val="1F2328"/>
                </a:solidFill>
                <a:latin typeface="맑은 고딕"/>
                <a:ea typeface="맑은 고딕"/>
                <a:cs typeface="맑은 고딕"/>
              </a:rPr>
              <a:t>독일 팀은 데이터베이스의 도움으로 경기력을 향상할 수 있었다.</a:t>
            </a:r>
            <a:endParaRPr lang="ko-KR" sz="1900"/>
          </a:p>
        </p:txBody>
      </p:sp>
      <p:sp>
        <p:nvSpPr>
          <p:cNvPr id="23" name="tf_4"/>
          <p:cNvSpPr txBox="1"/>
          <p:nvPr/>
        </p:nvSpPr>
        <p:spPr>
          <a:xfrm>
            <a:off x="9765792" y="519163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3735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73100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3100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30.  </a:t>
            </a:r>
            <a:r>
              <a:rPr lang="ko-KR" altLang="en-US" sz="1900" b="0" dirty="0">
                <a:solidFill>
                  <a:srgbClr val="1F2328"/>
                </a:solidFill>
                <a:latin typeface="맑은 고딕"/>
                <a:ea typeface="맑은 고딕"/>
                <a:cs typeface="맑은 고딕"/>
              </a:rPr>
              <a:t>독일 팀은 2010년 월드컵에서 우승했다.</a:t>
            </a:r>
            <a:endParaRPr lang="ko-KR" sz="1900"/>
          </a:p>
        </p:txBody>
      </p:sp>
      <p:sp>
        <p:nvSpPr>
          <p:cNvPr id="27" name="tf_5"/>
          <p:cNvSpPr txBox="1"/>
          <p:nvPr/>
        </p:nvSpPr>
        <p:spPr>
          <a:xfrm>
            <a:off x="9765792" y="573100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77672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en-US" altLang="en-US" sz="1700" b="1" dirty="0">
                <a:solidFill>
                  <a:srgbClr val="1E2A5A"/>
                </a:solidFill>
                <a:latin typeface="Calibri"/>
                <a:ea typeface="맑은 고딕"/>
                <a:cs typeface="Calibri"/>
              </a:rPr>
              <a:t>24. </a:t>
            </a:r>
            <a:r>
              <a:rPr lang="en-US" altLang="en-US" sz="1700" b="0" dirty="0">
                <a:solidFill>
                  <a:srgbClr val="1F2328"/>
                </a:solidFill>
                <a:latin typeface="Calibri"/>
                <a:ea typeface="맑은 고딕"/>
                <a:cs typeface="Calibri"/>
              </a:rPr>
              <a:t>Thanks to big data, police can now predict crime before it happens. </a:t>
            </a:r>
            <a:r>
              <a:rPr lang="en-US" altLang="en-US" sz="1700" b="1" dirty="0">
                <a:solidFill>
                  <a:srgbClr val="1E2A5A"/>
                </a:solidFill>
                <a:latin typeface="Calibri"/>
                <a:ea typeface="맑은 고딕"/>
                <a:cs typeface="Calibri"/>
              </a:rPr>
              <a:t>25. </a:t>
            </a:r>
            <a:r>
              <a:rPr lang="en-US" altLang="en-US" sz="1700" b="0" dirty="0">
                <a:solidFill>
                  <a:srgbClr val="1F2328"/>
                </a:solidFill>
                <a:latin typeface="Calibri"/>
                <a:ea typeface="맑은 고딕"/>
                <a:cs typeface="Calibri"/>
              </a:rPr>
              <a:t>Through the analysis of big data about the type, time and place of crime, police can make a map of crime hot spots. </a:t>
            </a:r>
            <a:r>
              <a:rPr lang="en-US" altLang="en-US" sz="1700" b="1" dirty="0">
                <a:solidFill>
                  <a:srgbClr val="1E2A5A"/>
                </a:solidFill>
                <a:latin typeface="Calibri"/>
                <a:ea typeface="맑은 고딕"/>
                <a:cs typeface="Calibri"/>
              </a:rPr>
              <a:t>26. </a:t>
            </a:r>
            <a:r>
              <a:rPr lang="en-US" altLang="en-US" sz="1700" b="0" dirty="0">
                <a:solidFill>
                  <a:srgbClr val="1F2328"/>
                </a:solidFill>
                <a:latin typeface="Calibri"/>
                <a:ea typeface="맑은 고딕"/>
                <a:cs typeface="Calibri"/>
              </a:rPr>
              <a:t>This map identifies when and where crime is most likely to happen. </a:t>
            </a:r>
            <a:r>
              <a:rPr lang="en-US" altLang="en-US" sz="1700" b="1" dirty="0">
                <a:solidFill>
                  <a:srgbClr val="1E2A5A"/>
                </a:solidFill>
                <a:latin typeface="Calibri"/>
                <a:ea typeface="맑은 고딕"/>
                <a:cs typeface="Calibri"/>
              </a:rPr>
              <a:t>27. </a:t>
            </a:r>
            <a:r>
              <a:rPr lang="en-US" altLang="en-US" sz="1700" b="0" dirty="0">
                <a:solidFill>
                  <a:srgbClr val="1F2328"/>
                </a:solidFill>
                <a:latin typeface="Calibri"/>
                <a:ea typeface="맑은 고딕"/>
                <a:cs typeface="Calibri"/>
              </a:rPr>
              <a:t>Police can prevent further crime by focusing on the areas and the times this map predicts. </a:t>
            </a:r>
            <a:r>
              <a:rPr lang="en-US" altLang="en-US" sz="1700" b="1" dirty="0">
                <a:solidFill>
                  <a:srgbClr val="1E2A5A"/>
                </a:solidFill>
                <a:latin typeface="Calibri"/>
                <a:ea typeface="맑은 고딕"/>
                <a:cs typeface="Calibri"/>
              </a:rPr>
              <a:t>28. </a:t>
            </a:r>
            <a:r>
              <a:rPr lang="en-US" altLang="en-US" sz="1700" b="0" dirty="0">
                <a:solidFill>
                  <a:srgbClr val="1F2328"/>
                </a:solidFill>
                <a:latin typeface="Calibri"/>
                <a:ea typeface="맑은 고딕"/>
                <a:cs typeface="Calibri"/>
              </a:rPr>
              <a:t>Big data has already changed the world greatly. </a:t>
            </a:r>
            <a:r>
              <a:rPr lang="en-US" altLang="en-US" sz="1700" b="1" dirty="0">
                <a:solidFill>
                  <a:srgbClr val="1E2A5A"/>
                </a:solidFill>
                <a:latin typeface="Calibri"/>
                <a:ea typeface="맑은 고딕"/>
                <a:cs typeface="Calibri"/>
              </a:rPr>
              <a:t>29. </a:t>
            </a:r>
            <a:r>
              <a:rPr lang="en-US" altLang="en-US" sz="1700" b="0" dirty="0">
                <a:solidFill>
                  <a:srgbClr val="1F2328"/>
                </a:solidFill>
                <a:latin typeface="Calibri"/>
                <a:ea typeface="맑은 고딕"/>
                <a:cs typeface="Calibri"/>
              </a:rPr>
              <a:t>So where will the big data industry go from here? </a:t>
            </a:r>
            <a:r>
              <a:rPr lang="en-US" altLang="en-US" sz="1700" b="1" dirty="0">
                <a:solidFill>
                  <a:srgbClr val="1E2A5A"/>
                </a:solidFill>
                <a:latin typeface="Calibri"/>
                <a:ea typeface="맑은 고딕"/>
                <a:cs typeface="Calibri"/>
              </a:rPr>
              <a:t>30. </a:t>
            </a:r>
            <a:r>
              <a:rPr lang="en-US" altLang="en-US" sz="1700" b="0" dirty="0">
                <a:solidFill>
                  <a:srgbClr val="1F2328"/>
                </a:solidFill>
                <a:latin typeface="Calibri"/>
                <a:ea typeface="맑은 고딕"/>
                <a:cs typeface="Calibri"/>
              </a:rPr>
              <a:t>Nobody knows for sure, but experts agree that big data will play a more and more important role in our lives.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31.  </a:t>
            </a:r>
            <a:r>
              <a:rPr lang="ko-KR" altLang="en-US" sz="1900" b="0" dirty="0">
                <a:solidFill>
                  <a:srgbClr val="1F2328"/>
                </a:solidFill>
                <a:latin typeface="맑은 고딕"/>
                <a:ea typeface="맑은 고딕"/>
                <a:cs typeface="맑은 고딕"/>
              </a:rPr>
              <a:t>빅데이터 덕분에 경찰은 범죄가 일어나기 전에 예측할 수 있다.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32.  </a:t>
            </a:r>
            <a:r>
              <a:rPr lang="ko-KR" altLang="en-US" sz="1900" b="0" dirty="0">
                <a:solidFill>
                  <a:srgbClr val="1F2328"/>
                </a:solidFill>
                <a:latin typeface="맑은 고딕"/>
                <a:ea typeface="맑은 고딕"/>
                <a:cs typeface="맑은 고딕"/>
              </a:rPr>
              <a:t>경찰은 범죄의 유형, 시간, 장소에 관한 빅데이터를 분석한다.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33.  </a:t>
            </a:r>
            <a:r>
              <a:rPr lang="ko-KR" altLang="en-US" sz="1900" b="0" dirty="0">
                <a:solidFill>
                  <a:srgbClr val="1F2328"/>
                </a:solidFill>
                <a:latin typeface="맑은 고딕"/>
                <a:ea typeface="맑은 고딕"/>
                <a:cs typeface="맑은 고딕"/>
              </a:rPr>
              <a:t>경찰은 범죄 피해자의 나이만 분석해 지도를 만든다.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85178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34.  </a:t>
            </a:r>
            <a:r>
              <a:rPr lang="ko-KR" altLang="en-US" sz="1900" b="0" dirty="0">
                <a:solidFill>
                  <a:srgbClr val="1F2328"/>
                </a:solidFill>
                <a:latin typeface="맑은 고딕"/>
                <a:ea typeface="맑은 고딕"/>
                <a:cs typeface="맑은 고딕"/>
              </a:rPr>
              <a:t>경찰은 범죄 다발 지역의 지도를 만들 수 있다.</a:t>
            </a:r>
            <a:endParaRPr lang="ko-KR" sz="1900"/>
          </a:p>
        </p:txBody>
      </p:sp>
      <p:sp>
        <p:nvSpPr>
          <p:cNvPr id="23" name="tf_4"/>
          <p:cNvSpPr txBox="1"/>
          <p:nvPr/>
        </p:nvSpPr>
        <p:spPr>
          <a:xfrm>
            <a:off x="9765792" y="485178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391150"/>
            <a:ext cx="11274552" cy="767842"/>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391150"/>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35.  </a:t>
            </a:r>
            <a:r>
              <a:rPr lang="ko-KR" altLang="en-US" sz="1900" b="0" dirty="0">
                <a:solidFill>
                  <a:srgbClr val="1F2328"/>
                </a:solidFill>
                <a:latin typeface="맑은 고딕"/>
                <a:ea typeface="맑은 고딕"/>
                <a:cs typeface="맑은 고딕"/>
              </a:rPr>
              <a:t>이 지도는 범죄가 언제, 어디에서 가장 일어날 것 같은지 알려 준다.</a:t>
            </a:r>
            <a:endParaRPr lang="ko-KR" sz="1900"/>
          </a:p>
        </p:txBody>
      </p:sp>
      <p:sp>
        <p:nvSpPr>
          <p:cNvPr id="27" name="tf_5"/>
          <p:cNvSpPr txBox="1"/>
          <p:nvPr/>
        </p:nvSpPr>
        <p:spPr>
          <a:xfrm>
            <a:off x="9765792" y="5391150"/>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36870"/>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en-US" altLang="en-US" sz="1700" b="1" dirty="0">
                <a:solidFill>
                  <a:srgbClr val="1E2A5A"/>
                </a:solidFill>
                <a:latin typeface="Calibri"/>
                <a:ea typeface="맑은 고딕"/>
                <a:cs typeface="Calibri"/>
              </a:rPr>
              <a:t>24. </a:t>
            </a:r>
            <a:r>
              <a:rPr lang="en-US" altLang="en-US" sz="1700" b="0" dirty="0">
                <a:solidFill>
                  <a:srgbClr val="1F2328"/>
                </a:solidFill>
                <a:latin typeface="Calibri"/>
                <a:ea typeface="맑은 고딕"/>
                <a:cs typeface="Calibri"/>
              </a:rPr>
              <a:t>Thanks to big data, police can now predict crime before it happens. </a:t>
            </a:r>
            <a:r>
              <a:rPr lang="en-US" altLang="en-US" sz="1700" b="1" dirty="0">
                <a:solidFill>
                  <a:srgbClr val="1E2A5A"/>
                </a:solidFill>
                <a:latin typeface="Calibri"/>
                <a:ea typeface="맑은 고딕"/>
                <a:cs typeface="Calibri"/>
              </a:rPr>
              <a:t>25. </a:t>
            </a:r>
            <a:r>
              <a:rPr lang="en-US" altLang="en-US" sz="1700" b="0" dirty="0">
                <a:solidFill>
                  <a:srgbClr val="1F2328"/>
                </a:solidFill>
                <a:latin typeface="Calibri"/>
                <a:ea typeface="맑은 고딕"/>
                <a:cs typeface="Calibri"/>
              </a:rPr>
              <a:t>Through the analysis of big data about the type, time and place of crime, police can make a map of crime hot spots. </a:t>
            </a:r>
            <a:r>
              <a:rPr lang="en-US" altLang="en-US" sz="1700" b="1" dirty="0">
                <a:solidFill>
                  <a:srgbClr val="1E2A5A"/>
                </a:solidFill>
                <a:latin typeface="Calibri"/>
                <a:ea typeface="맑은 고딕"/>
                <a:cs typeface="Calibri"/>
              </a:rPr>
              <a:t>26. </a:t>
            </a:r>
            <a:r>
              <a:rPr lang="en-US" altLang="en-US" sz="1700" b="0" dirty="0">
                <a:solidFill>
                  <a:srgbClr val="1F2328"/>
                </a:solidFill>
                <a:latin typeface="Calibri"/>
                <a:ea typeface="맑은 고딕"/>
                <a:cs typeface="Calibri"/>
              </a:rPr>
              <a:t>This map identifies when and where crime is most likely to happen. </a:t>
            </a:r>
            <a:r>
              <a:rPr lang="en-US" altLang="en-US" sz="1700" b="1" dirty="0">
                <a:solidFill>
                  <a:srgbClr val="1E2A5A"/>
                </a:solidFill>
                <a:latin typeface="Calibri"/>
                <a:ea typeface="맑은 고딕"/>
                <a:cs typeface="Calibri"/>
              </a:rPr>
              <a:t>27. </a:t>
            </a:r>
            <a:r>
              <a:rPr lang="en-US" altLang="en-US" sz="1700" b="0" dirty="0">
                <a:solidFill>
                  <a:srgbClr val="1F2328"/>
                </a:solidFill>
                <a:latin typeface="Calibri"/>
                <a:ea typeface="맑은 고딕"/>
                <a:cs typeface="Calibri"/>
              </a:rPr>
              <a:t>Police can prevent further crime by focusing on the areas and the times this map predicts. </a:t>
            </a:r>
            <a:r>
              <a:rPr lang="en-US" altLang="en-US" sz="1700" b="1" dirty="0">
                <a:solidFill>
                  <a:srgbClr val="1E2A5A"/>
                </a:solidFill>
                <a:latin typeface="Calibri"/>
                <a:ea typeface="맑은 고딕"/>
                <a:cs typeface="Calibri"/>
              </a:rPr>
              <a:t>28. </a:t>
            </a:r>
            <a:r>
              <a:rPr lang="en-US" altLang="en-US" sz="1700" b="0" dirty="0">
                <a:solidFill>
                  <a:srgbClr val="1F2328"/>
                </a:solidFill>
                <a:latin typeface="Calibri"/>
                <a:ea typeface="맑은 고딕"/>
                <a:cs typeface="Calibri"/>
              </a:rPr>
              <a:t>Big data has already changed the world greatly. </a:t>
            </a:r>
            <a:r>
              <a:rPr lang="en-US" altLang="en-US" sz="1700" b="1" dirty="0">
                <a:solidFill>
                  <a:srgbClr val="1E2A5A"/>
                </a:solidFill>
                <a:latin typeface="Calibri"/>
                <a:ea typeface="맑은 고딕"/>
                <a:cs typeface="Calibri"/>
              </a:rPr>
              <a:t>29. </a:t>
            </a:r>
            <a:r>
              <a:rPr lang="en-US" altLang="en-US" sz="1700" b="0" dirty="0">
                <a:solidFill>
                  <a:srgbClr val="1F2328"/>
                </a:solidFill>
                <a:latin typeface="Calibri"/>
                <a:ea typeface="맑은 고딕"/>
                <a:cs typeface="Calibri"/>
              </a:rPr>
              <a:t>So where will the big data industry go from here? </a:t>
            </a:r>
            <a:r>
              <a:rPr lang="en-US" altLang="en-US" sz="1700" b="1" dirty="0">
                <a:solidFill>
                  <a:srgbClr val="1E2A5A"/>
                </a:solidFill>
                <a:latin typeface="Calibri"/>
                <a:ea typeface="맑은 고딕"/>
                <a:cs typeface="Calibri"/>
              </a:rPr>
              <a:t>30. </a:t>
            </a:r>
            <a:r>
              <a:rPr lang="en-US" altLang="en-US" sz="1700" b="0" dirty="0">
                <a:solidFill>
                  <a:srgbClr val="1F2328"/>
                </a:solidFill>
                <a:latin typeface="Calibri"/>
                <a:ea typeface="맑은 고딕"/>
                <a:cs typeface="Calibri"/>
              </a:rPr>
              <a:t>Nobody knows for sure, but experts agree that big data will play a more and more important role in our lives.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36.  </a:t>
            </a:r>
            <a:r>
              <a:rPr lang="ko-KR" altLang="en-US" sz="1900" b="0" dirty="0">
                <a:solidFill>
                  <a:srgbClr val="1F2328"/>
                </a:solidFill>
                <a:latin typeface="맑은 고딕"/>
                <a:ea typeface="맑은 고딕"/>
                <a:cs typeface="맑은 고딕"/>
              </a:rPr>
              <a:t>경찰은 지도가 예측한 지역을 피해서 순찰한다.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37.  </a:t>
            </a:r>
            <a:r>
              <a:rPr lang="ko-KR" altLang="en-US" sz="1900" b="0" dirty="0">
                <a:solidFill>
                  <a:srgbClr val="1F2328"/>
                </a:solidFill>
                <a:latin typeface="맑은 고딕"/>
                <a:ea typeface="맑은 고딕"/>
                <a:cs typeface="맑은 고딕"/>
              </a:rPr>
              <a:t>빅데이터는 이미 세계를 크게 변화시켰다.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38.  </a:t>
            </a:r>
            <a:r>
              <a:rPr lang="ko-KR" altLang="en-US" sz="1900" b="0" dirty="0">
                <a:solidFill>
                  <a:srgbClr val="1F2328"/>
                </a:solidFill>
                <a:latin typeface="맑은 고딕"/>
                <a:ea typeface="맑은 고딕"/>
                <a:cs typeface="맑은 고딕"/>
              </a:rPr>
              <a:t>빅데이터 산업의 미래는 누구나 확실히 알고 있다.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851781"/>
            <a:ext cx="11274552" cy="767842"/>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39.  </a:t>
            </a:r>
            <a:r>
              <a:rPr lang="ko-KR" altLang="en-US" sz="1900" b="0" dirty="0">
                <a:solidFill>
                  <a:srgbClr val="1F2328"/>
                </a:solidFill>
                <a:latin typeface="맑은 고딕"/>
                <a:ea typeface="맑은 고딕"/>
                <a:cs typeface="맑은 고딕"/>
              </a:rPr>
              <a:t>전문가들은 빅데이터가 점점 더 중요한 역할을 할 것이라는 데 동의한다.</a:t>
            </a:r>
            <a:endParaRPr lang="ko-KR" sz="1900"/>
          </a:p>
        </p:txBody>
      </p:sp>
      <p:sp>
        <p:nvSpPr>
          <p:cNvPr id="23" name="tf_4"/>
          <p:cNvSpPr txBox="1"/>
          <p:nvPr/>
        </p:nvSpPr>
        <p:spPr>
          <a:xfrm>
            <a:off x="9765792" y="4851781"/>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692775"/>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69277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40.  </a:t>
            </a:r>
            <a:r>
              <a:rPr lang="ko-KR" altLang="en-US" sz="1900" b="0" dirty="0">
                <a:solidFill>
                  <a:srgbClr val="1F2328"/>
                </a:solidFill>
                <a:latin typeface="맑은 고딕"/>
                <a:ea typeface="맑은 고딕"/>
                <a:cs typeface="맑은 고딕"/>
              </a:rPr>
              <a:t>전문가들은 빅데이터의 역할이 앞으로 줄어들 것이라고 본다.</a:t>
            </a:r>
            <a:endParaRPr lang="ko-KR" sz="1900"/>
          </a:p>
        </p:txBody>
      </p:sp>
      <p:sp>
        <p:nvSpPr>
          <p:cNvPr id="27" name="tf_5"/>
          <p:cNvSpPr txBox="1"/>
          <p:nvPr/>
        </p:nvSpPr>
        <p:spPr>
          <a:xfrm>
            <a:off x="9765792" y="569277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73849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5  </a:t>
            </a:r>
            <a:r>
              <a:rPr lang="ko-KR" altLang="en-US" sz="4000" b="1" dirty="0">
                <a:solidFill>
                  <a:srgbClr val="FFFFFF"/>
                </a:solidFill>
                <a:latin typeface="맑은 고딕"/>
                <a:ea typeface="맑은 고딕"/>
                <a:cs typeface="맑은 고딕"/>
              </a:rPr>
              <a:t>어법 선택</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7</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1 ~ 30번  ·  11장</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 뜻을 참고하여 [  ] 안에서 어법상 알맞은 것을 고르기</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정답이 빨간색으로 표시되고 문법 포인트가 함께 공개</a:t>
            </a:r>
            <a:endParaRPr lang="ko-KR" sz="160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  </a:t>
            </a:r>
            <a:r>
              <a:rPr lang="ko-KR" altLang="en-US" sz="1600" b="0" dirty="0">
                <a:solidFill>
                  <a:srgbClr val="3C4558"/>
                </a:solidFill>
                <a:latin typeface="맑은 고딕"/>
                <a:ea typeface="맑은 고딕"/>
                <a:cs typeface="맑은 고딕"/>
              </a:rPr>
              <a:t>온라인 서점에 들렀다가 서점이 추천한 책들을 보고 놀란 적이 있는가?</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Have you ever visited an online bookstore and been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surprising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surprised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by the books that the store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recommended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recommended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for you?</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Have you ever visited an online bookstore and been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surprising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surprised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by the books that the store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recommended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recommended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for you?</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(놀람을 '느낀' 사람 → 과거분사) · 수동태(능동/수동 구별) (주어 the store가 추천 → 능동)</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  </a:t>
            </a:r>
            <a:r>
              <a:rPr lang="ko-KR" altLang="en-US" sz="1600" b="0" dirty="0">
                <a:solidFill>
                  <a:srgbClr val="3C4558"/>
                </a:solidFill>
                <a:latin typeface="맑은 고딕"/>
                <a:ea typeface="맑은 고딕"/>
                <a:cs typeface="맑은 고딕"/>
              </a:rPr>
              <a:t>그중 상당수가 흥미로워 보였을 것이다. 그렇다면 서점은 당신이 좋아하는 것을 어떻게 알았을까?</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Many of them looked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interesting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interested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you. So how did the bookstore know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what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liked?</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Many of them looked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interesting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interested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you. So how did the bookstore know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what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liked?</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(흥미를 '일으키는' 책 → 현재분사) · 관계대명사 (선행사 없음 → what)</a:t>
            </a:r>
            <a:endParaRPr lang="ko-KR" sz="1400"/>
          </a:p>
        </p:txBody>
      </p:sp>
      <p:sp>
        <p:nvSpPr>
          <p:cNvPr id="17" name="item_card_3"/>
          <p:cNvSpPr/>
          <p:nvPr/>
        </p:nvSpPr>
        <p:spPr>
          <a:xfrm>
            <a:off x="457200" y="42037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  </a:t>
            </a:r>
            <a:r>
              <a:rPr lang="ko-KR" altLang="en-US" sz="1600" b="0" dirty="0">
                <a:solidFill>
                  <a:srgbClr val="3C4558"/>
                </a:solidFill>
                <a:latin typeface="맑은 고딕"/>
                <a:ea typeface="맑은 고딕"/>
                <a:cs typeface="맑은 고딕"/>
              </a:rPr>
              <a:t>이 모든 것은 빅데이터 덕분에 가능하다.</a:t>
            </a:r>
            <a:endParaRPr lang="ko-KR" sz="1600"/>
          </a:p>
        </p:txBody>
      </p:sp>
      <p:sp>
        <p:nvSpPr>
          <p:cNvPr id="19" name="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all possible because of big data.</a:t>
            </a:r>
            <a:endParaRPr lang="ko-KR" sz="2000"/>
          </a:p>
        </p:txBody>
      </p:sp>
      <p:sp>
        <p:nvSpPr>
          <p:cNvPr id="20" name="rv_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all possible because of big data.</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4.  </a:t>
            </a:r>
            <a:r>
              <a:rPr lang="ko-KR" altLang="en-US" sz="1600" b="0" dirty="0">
                <a:solidFill>
                  <a:srgbClr val="3C4558"/>
                </a:solidFill>
                <a:latin typeface="맑은 고딕"/>
                <a:ea typeface="맑은 고딕"/>
                <a:cs typeface="맑은 고딕"/>
              </a:rPr>
              <a:t>빅데이터란 규모가 매우 크고 복잡한 데이터의 집합이다.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Big data is data sets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very big and complex.</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Big data is data sets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very big and complex.</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data sets=사물) · 동사의 수 일치 (선행사 data sets 복수)</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5.  </a:t>
            </a:r>
            <a:r>
              <a:rPr lang="ko-KR" altLang="en-US" sz="1600" b="0" dirty="0">
                <a:solidFill>
                  <a:srgbClr val="3C4558"/>
                </a:solidFill>
                <a:latin typeface="맑은 고딕"/>
                <a:ea typeface="맑은 고딕"/>
                <a:cs typeface="맑은 고딕"/>
              </a:rPr>
              <a:t>정보 통신 기술이 발달함에 따라 우리가 가진 데이터의 양은 예전보다 훨씬 더 많아지고 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As information and communication technology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develop</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develops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amount of data we have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getting much greater than before.</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As information and communication technology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develop</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develops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amount of data we have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getting much greater than before.</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technology 단수) · 동사의 수 일치 (주어 the amount 단수)</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6.  </a:t>
            </a:r>
            <a:r>
              <a:rPr lang="ko-KR" altLang="en-US" sz="1600" b="0" dirty="0">
                <a:solidFill>
                  <a:srgbClr val="3C4558"/>
                </a:solidFill>
                <a:latin typeface="맑은 고딕"/>
                <a:ea typeface="맑은 고딕"/>
                <a:cs typeface="맑은 고딕"/>
              </a:rPr>
              <a:t>이는 주로 우리가 온라인에서 하는 거의 모든 일이 흔적을 남기기 때문이다.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is mainly because almost everything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we do online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leave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leaves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trace.</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is mainly because almost everything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we do online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leave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leaves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trace.</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everything=사물) · 동사의 수 일치 (주어 everything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7.  </a:t>
            </a:r>
            <a:r>
              <a:rPr lang="ko-KR" altLang="en-US" sz="1600" b="0" dirty="0">
                <a:solidFill>
                  <a:srgbClr val="3C4558"/>
                </a:solidFill>
                <a:latin typeface="맑은 고딕"/>
                <a:ea typeface="맑은 고딕"/>
                <a:cs typeface="맑은 고딕"/>
              </a:rPr>
              <a:t>예를 들어, 블로그에 올린 사진이나 온라인 상점에서의 구매 기록도 모두 빅데이터의 일부다.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example, the photos you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uploads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upload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on your blog and the records of your purchases at online stores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all part of big data.</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example, the photos you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uploads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upload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on your blog and the records of your purchases at online stores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all part of big data.</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you) · 동사의 수 일치 (주어 the photos and the records 복수)</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8.  </a:t>
            </a:r>
            <a:r>
              <a:rPr lang="ko-KR" altLang="en-US" sz="1600" b="0" dirty="0">
                <a:solidFill>
                  <a:srgbClr val="3C4558"/>
                </a:solidFill>
                <a:latin typeface="맑은 고딕"/>
                <a:ea typeface="맑은 고딕"/>
                <a:cs typeface="맑은 고딕"/>
              </a:rPr>
              <a:t>하지만 데이터를 모으기만 하는 것으로는 충분하지 않다.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Simply collecting data, however,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not enough.</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Simply collecting data, however,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not enough.</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(동명사 주어 → 단수)</a:t>
            </a:r>
            <a:endParaRPr lang="ko-KR" sz="1400"/>
          </a:p>
        </p:txBody>
      </p:sp>
      <p:sp>
        <p:nvSpPr>
          <p:cNvPr id="17" name="item_card_3"/>
          <p:cNvSpPr/>
          <p:nvPr/>
        </p:nvSpPr>
        <p:spPr>
          <a:xfrm>
            <a:off x="457200" y="38481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9.  </a:t>
            </a:r>
            <a:r>
              <a:rPr lang="ko-KR" altLang="en-US" sz="1600" b="0" dirty="0">
                <a:solidFill>
                  <a:srgbClr val="3C4558"/>
                </a:solidFill>
                <a:latin typeface="맑은 고딕"/>
                <a:ea typeface="맑은 고딕"/>
                <a:cs typeface="맑은 고딕"/>
              </a:rPr>
              <a:t>빅데이터는 분석 과정을 거쳐야 하며, 이 일은 빅데이터 전문가들이 맡는다.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Big data has to be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analyzing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analyzed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and this 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done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by big data experts.</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Big data has to be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analyzing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analyzed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and this is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done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by big data experts.</a:t>
            </a:r>
            <a:endParaRPr lang="ko-KR" sz="2000"/>
          </a:p>
        </p:txBody>
      </p:sp>
      <p:sp>
        <p:nvSpPr>
          <p:cNvPr id="21" name="rv_point_3"/>
          <p:cNvSpPr txBox="1"/>
          <p:nvPr/>
        </p:nvSpPr>
        <p:spPr>
          <a:xfrm>
            <a:off x="457200" y="50327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(빅데이터가 '분석되는' 것 → be + p.p.) · 수동태(능동/수동 구별) (by 행위자 → be + p.p.)</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10.  </a:t>
            </a:r>
            <a:r>
              <a:rPr lang="ko-KR" altLang="en-US" sz="1600" b="0" dirty="0">
                <a:solidFill>
                  <a:srgbClr val="3C4558"/>
                </a:solidFill>
                <a:latin typeface="맑은 고딕"/>
                <a:ea typeface="맑은 고딕"/>
                <a:cs typeface="맑은 고딕"/>
              </a:rPr>
              <a:t>전문가들은 다양한 방법을 활용해 빅데이터를 분석하고, 거기서 의미 있는 결과를 이끌어 낸다.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Using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Used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various methods, experts analyze big data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draws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draw</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meaningful results from it.</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Using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Used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various methods, experts analyze big data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draws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draw</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meaningful results from it.</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(전문가가 '사용하는' 능동 → 현재분사 분사구문) · 동사의 수 일치 (주어 experts 복수)</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11.  </a:t>
            </a:r>
            <a:r>
              <a:rPr lang="ko-KR" altLang="en-US" sz="1600" b="0" dirty="0">
                <a:solidFill>
                  <a:srgbClr val="3C4558"/>
                </a:solidFill>
                <a:latin typeface="맑은 고딕"/>
                <a:ea typeface="맑은 고딕"/>
                <a:cs typeface="맑은 고딕"/>
              </a:rPr>
              <a:t>그렇게 얻은 결과는 의사 결정을 하거나 미래를 예측하는 데 쓰일 수 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These results then can be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using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used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make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making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decisions or to predict the future.</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These results then can be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using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used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make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making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decisions or to predict the future.</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(결과가 '사용되는' 것 → be + p.p.) · to부정사/동명사/동사원형 (목적: ~하기 위해)</a:t>
            </a:r>
            <a:endParaRPr lang="ko-KR" sz="1400"/>
          </a:p>
        </p:txBody>
      </p:sp>
      <p:sp>
        <p:nvSpPr>
          <p:cNvPr id="17" name="item_card_3"/>
          <p:cNvSpPr/>
          <p:nvPr/>
        </p:nvSpPr>
        <p:spPr>
          <a:xfrm>
            <a:off x="457200" y="42037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12.  </a:t>
            </a:r>
            <a:r>
              <a:rPr lang="ko-KR" altLang="en-US" sz="1600" b="0" dirty="0">
                <a:solidFill>
                  <a:srgbClr val="3C4558"/>
                </a:solidFill>
                <a:latin typeface="맑은 고딕"/>
                <a:ea typeface="맑은 고딕"/>
                <a:cs typeface="맑은 고딕"/>
              </a:rPr>
              <a:t>빅데이터는 우리 삶의 거의 모든 영역에 영향을 미치고 있다.</a:t>
            </a:r>
            <a:endParaRPr lang="ko-KR" sz="1600"/>
          </a:p>
        </p:txBody>
      </p:sp>
      <p:sp>
        <p:nvSpPr>
          <p:cNvPr id="19" name="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Big data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influenced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influencing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almost all parts of our lives.</a:t>
            </a:r>
            <a:endParaRPr lang="ko-KR" sz="2000"/>
          </a:p>
        </p:txBody>
      </p:sp>
      <p:sp>
        <p:nvSpPr>
          <p:cNvPr id="20" name="rv_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Big data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influenced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influencing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almost all parts of our lives.</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Big data 단수) · 분사 (목적어가 있는 진행형 be + V-ing)</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13.  </a:t>
            </a:r>
            <a:r>
              <a:rPr lang="ko-KR" altLang="en-US" sz="1600" b="0" dirty="0">
                <a:solidFill>
                  <a:srgbClr val="3C4558"/>
                </a:solidFill>
                <a:latin typeface="맑은 고딕"/>
                <a:ea typeface="맑은 고딕"/>
                <a:cs typeface="맑은 고딕"/>
              </a:rPr>
              <a:t>빅데이터 덕분에 기업은 고객이 원하는 것을 더 잘 파악하고 제품을 더 많이 팔 수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It helps companies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understanding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understand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their customers’ needs better and helps them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sell</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selling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more products.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It helps companies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understanding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understand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their customers’ needs better and helps them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sell</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selling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more products.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(help + 목적어 + 동사원형) · to부정사/동명사/동사원형 (help + 목적어 + 동사원형)</a:t>
            </a:r>
            <a:endParaRPr lang="ko-KR" sz="1400"/>
          </a:p>
        </p:txBody>
      </p:sp>
      <p:sp>
        <p:nvSpPr>
          <p:cNvPr id="12" name="item_card_2"/>
          <p:cNvSpPr/>
          <p:nvPr/>
        </p:nvSpPr>
        <p:spPr>
          <a:xfrm>
            <a:off x="457200" y="2577338"/>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14.  </a:t>
            </a:r>
            <a:r>
              <a:rPr lang="ko-KR" altLang="en-US" sz="1600" b="0" dirty="0">
                <a:solidFill>
                  <a:srgbClr val="3C4558"/>
                </a:solidFill>
                <a:latin typeface="맑은 고딕"/>
                <a:ea typeface="맑은 고딕"/>
                <a:cs typeface="맑은 고딕"/>
              </a:rPr>
              <a:t>또 사람들이 교통 체증을 피하도록 돕기도 한다. 그 쓰임새는 끝이 없는데, 여기 흥미로운 사례 몇 가지를 소개한다.</a:t>
            </a:r>
            <a:endParaRPr lang="ko-KR" sz="1600"/>
          </a:p>
        </p:txBody>
      </p:sp>
      <p:sp>
        <p:nvSpPr>
          <p:cNvPr id="14" name="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It helps people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avoid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avoiding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heavy traffic. Its uses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endless, and here are some interesting examples.</a:t>
            </a:r>
            <a:endParaRPr lang="ko-KR" sz="2000"/>
          </a:p>
        </p:txBody>
      </p:sp>
      <p:sp>
        <p:nvSpPr>
          <p:cNvPr id="15" name="rv_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It helps people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avoid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avoiding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heavy traffic. Its uses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endless, and here are some interesting examples.</a:t>
            </a:r>
            <a:endParaRPr lang="ko-KR" sz="2000"/>
          </a:p>
        </p:txBody>
      </p:sp>
      <p:sp>
        <p:nvSpPr>
          <p:cNvPr id="16" name="rv_point_2"/>
          <p:cNvSpPr txBox="1"/>
          <p:nvPr/>
        </p:nvSpPr>
        <p:spPr>
          <a:xfrm>
            <a:off x="457200" y="4015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(help + 목적어 + 동사원형) · 동사의 수 일치 (주어 Its uses 복수)</a:t>
            </a:r>
            <a:endParaRPr lang="ko-KR" sz="1400"/>
          </a:p>
        </p:txBody>
      </p:sp>
      <p:sp>
        <p:nvSpPr>
          <p:cNvPr id="17" name="item_card_3"/>
          <p:cNvSpPr/>
          <p:nvPr/>
        </p:nvSpPr>
        <p:spPr>
          <a:xfrm>
            <a:off x="457200" y="4457700"/>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567428"/>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15.  </a:t>
            </a:r>
            <a:r>
              <a:rPr lang="ko-KR" altLang="en-US" sz="1600" b="0" dirty="0">
                <a:solidFill>
                  <a:srgbClr val="3C4558"/>
                </a:solidFill>
                <a:latin typeface="맑은 고딕"/>
                <a:ea typeface="맑은 고딕"/>
                <a:cs typeface="맑은 고딕"/>
              </a:rPr>
              <a:t>기상 전문가들이 날씨를 예보하듯, 이제는 보건 전문가들이 질병을 예측할 수 있다는 사실을 알고 있었는가?</a:t>
            </a:r>
            <a:endParaRPr lang="ko-KR" sz="1600"/>
          </a:p>
        </p:txBody>
      </p:sp>
      <p:sp>
        <p:nvSpPr>
          <p:cNvPr id="19" name="eng_3"/>
          <p:cNvSpPr txBox="1"/>
          <p:nvPr/>
        </p:nvSpPr>
        <p:spPr>
          <a:xfrm>
            <a:off x="457200" y="5130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Did you know that health professionals can now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forecast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forecast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disease just as weather experts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forecast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forecasts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weather?</a:t>
            </a:r>
            <a:endParaRPr lang="ko-KR" sz="2000"/>
          </a:p>
        </p:txBody>
      </p:sp>
      <p:sp>
        <p:nvSpPr>
          <p:cNvPr id="20" name="rv_eng_3"/>
          <p:cNvSpPr txBox="1"/>
          <p:nvPr/>
        </p:nvSpPr>
        <p:spPr>
          <a:xfrm>
            <a:off x="457200" y="5130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Did you know that health professionals can now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forecast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forecast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disease just as weather experts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forecast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forecasts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weather?</a:t>
            </a:r>
            <a:endParaRPr lang="ko-KR" sz="2000"/>
          </a:p>
        </p:txBody>
      </p:sp>
      <p:sp>
        <p:nvSpPr>
          <p:cNvPr id="21" name="rv_point_3"/>
          <p:cNvSpPr txBox="1"/>
          <p:nvPr/>
        </p:nvSpPr>
        <p:spPr>
          <a:xfrm>
            <a:off x="457200" y="5896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can + 동사원형) · 동사의 수 일치 (주어 weather experts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16.  </a:t>
            </a:r>
            <a:r>
              <a:rPr lang="ko-KR" altLang="en-US" sz="1600" b="0" dirty="0">
                <a:solidFill>
                  <a:srgbClr val="3C4558"/>
                </a:solidFill>
                <a:latin typeface="맑은 고딕"/>
                <a:ea typeface="맑은 고딕"/>
                <a:cs typeface="맑은 고딕"/>
              </a:rPr>
              <a:t>이는 빅데이터 덕분이다. 예를 들어 독감 철이 다가오면 사람들은 독감약을 더 많이 살 것이다.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is possible thanks to big data. For example, when the flu season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comes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people will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buy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buy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more flu medicine.</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is possible thanks to big data. For example, when the flu season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comes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come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people will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buy</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buy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more flu medicine.</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flu season 단수) · to부정사/동명사/동사원형 (조동사 will + 동사원형)</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17.  </a:t>
            </a:r>
            <a:r>
              <a:rPr lang="ko-KR" altLang="en-US" sz="1600" b="0" dirty="0">
                <a:solidFill>
                  <a:srgbClr val="3C4558"/>
                </a:solidFill>
                <a:latin typeface="맑은 고딕"/>
                <a:ea typeface="맑은 고딕"/>
                <a:cs typeface="맑은 고딕"/>
              </a:rPr>
              <a:t>또한 독감 증상에 대해 인터넷 검색도 더 많이 할 것이다.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will also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searching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search</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online about flu symptoms more.</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will also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searching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search</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online about flu symptoms more.</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will + 동사원형)</a:t>
            </a:r>
            <a:endParaRPr lang="ko-KR" sz="1400"/>
          </a:p>
        </p:txBody>
      </p:sp>
      <p:sp>
        <p:nvSpPr>
          <p:cNvPr id="17" name="item_card_3"/>
          <p:cNvSpPr/>
          <p:nvPr/>
        </p:nvSpPr>
        <p:spPr>
          <a:xfrm>
            <a:off x="457200" y="38481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18.  </a:t>
            </a:r>
            <a:r>
              <a:rPr lang="ko-KR" altLang="en-US" sz="1600" b="0" dirty="0">
                <a:solidFill>
                  <a:srgbClr val="3C4558"/>
                </a:solidFill>
                <a:latin typeface="맑은 고딕"/>
                <a:ea typeface="맑은 고딕"/>
                <a:cs typeface="맑은 고딕"/>
              </a:rPr>
              <a:t>이런 데이터를 현명하게 분석하면 독감이 어떻게 퍼질지 예측할 수 있다.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If this kind of data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 analyzed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analyzes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wisely, the spread of the flu can be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predicting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predicted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If this kind of data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 analyzed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analyzes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wisely, the spread of the flu can be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predicting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predicted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21" name="rv_point_3"/>
          <p:cNvSpPr txBox="1"/>
          <p:nvPr/>
        </p:nvSpPr>
        <p:spPr>
          <a:xfrm>
            <a:off x="457200" y="50327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(데이터가 '분석되는' 것 → be + p.p.) · 수동태(능동/수동 구별) (확산이 '예측되는' 것 → be + p.p.)</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19.  </a:t>
            </a:r>
            <a:r>
              <a:rPr lang="ko-KR" altLang="en-US" sz="1600" b="0" dirty="0">
                <a:solidFill>
                  <a:srgbClr val="3C4558"/>
                </a:solidFill>
                <a:latin typeface="맑은 고딕"/>
                <a:ea typeface="맑은 고딕"/>
                <a:cs typeface="맑은 고딕"/>
              </a:rPr>
              <a:t>스포츠를 좋아하는가? 빅데이터는 선수들의 경기력을 끌어올려 스포츠를 더욱 흥미진진하게 만들고 있다.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Are you a sports fan? Well, big data is improving the performance of players,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made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making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sports more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exciting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excited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Are you a sports fan? Well, big data is improving the performance of players,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made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making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sports more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exciting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excited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1" name="rv_point_1"/>
          <p:cNvSpPr txBox="1"/>
          <p:nvPr/>
        </p:nvSpPr>
        <p:spPr>
          <a:xfrm>
            <a:off x="457200" y="2389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(빅데이터가 '만드는' 능동 → 현재분사 분사구문) · 분사 (흥미를 '일으키는' 스포츠 → 현재분사)</a:t>
            </a:r>
            <a:endParaRPr lang="ko-KR" sz="1400"/>
          </a:p>
        </p:txBody>
      </p:sp>
      <p:sp>
        <p:nvSpPr>
          <p:cNvPr id="12" name="item_card_2"/>
          <p:cNvSpPr/>
          <p:nvPr/>
        </p:nvSpPr>
        <p:spPr>
          <a:xfrm>
            <a:off x="457200" y="2831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941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20.  </a:t>
            </a:r>
            <a:r>
              <a:rPr lang="ko-KR" altLang="en-US" sz="1600" b="0" dirty="0">
                <a:solidFill>
                  <a:srgbClr val="3C4558"/>
                </a:solidFill>
                <a:latin typeface="맑은 고딕"/>
                <a:ea typeface="맑은 고딕"/>
                <a:cs typeface="맑은 고딕"/>
              </a:rPr>
              <a:t>대표적인 사례로 독일 축구 국가대표팀을 들 수 있다.</a:t>
            </a:r>
            <a:endParaRPr lang="ko-KR" sz="1600"/>
          </a:p>
        </p:txBody>
      </p:sp>
      <p:sp>
        <p:nvSpPr>
          <p:cNvPr id="14" name="eng_2"/>
          <p:cNvSpPr txBox="1"/>
          <p:nvPr/>
        </p:nvSpPr>
        <p:spPr>
          <a:xfrm>
            <a:off x="457200" y="3249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 famous example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Germany’s national soccer team.</a:t>
            </a:r>
            <a:endParaRPr lang="ko-KR" sz="2000"/>
          </a:p>
        </p:txBody>
      </p:sp>
      <p:sp>
        <p:nvSpPr>
          <p:cNvPr id="15" name="rv_eng_2"/>
          <p:cNvSpPr txBox="1"/>
          <p:nvPr/>
        </p:nvSpPr>
        <p:spPr>
          <a:xfrm>
            <a:off x="457200" y="3249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 famous example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Germany’s national soccer team.</a:t>
            </a:r>
            <a:endParaRPr lang="ko-KR" sz="2000"/>
          </a:p>
        </p:txBody>
      </p:sp>
      <p:sp>
        <p:nvSpPr>
          <p:cNvPr id="16" name="rv_point_2"/>
          <p:cNvSpPr txBox="1"/>
          <p:nvPr/>
        </p:nvSpPr>
        <p:spPr>
          <a:xfrm>
            <a:off x="457200" y="3660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A famous example 단수)</a:t>
            </a:r>
            <a:endParaRPr lang="ko-KR" sz="1400"/>
          </a:p>
        </p:txBody>
      </p:sp>
      <p:sp>
        <p:nvSpPr>
          <p:cNvPr id="17" name="item_card_3"/>
          <p:cNvSpPr/>
          <p:nvPr/>
        </p:nvSpPr>
        <p:spPr>
          <a:xfrm>
            <a:off x="457200" y="4102099"/>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211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21.  </a:t>
            </a:r>
            <a:r>
              <a:rPr lang="ko-KR" altLang="en-US" sz="1600" b="0" dirty="0">
                <a:solidFill>
                  <a:srgbClr val="3C4558"/>
                </a:solidFill>
                <a:latin typeface="맑은 고딕"/>
                <a:ea typeface="맑은 고딕"/>
                <a:cs typeface="맑은 고딕"/>
              </a:rPr>
              <a:t>이 팀은 선수들에 관한 방대한 데이터를 모으고 분석해서 데이터베이스를 구축했다.</a:t>
            </a:r>
            <a:endParaRPr lang="ko-KR" sz="1600"/>
          </a:p>
        </p:txBody>
      </p:sp>
      <p:sp>
        <p:nvSpPr>
          <p:cNvPr id="19" name="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team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built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built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database by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collecting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collect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and analyzing a huge amount of data on players.</a:t>
            </a:r>
            <a:endParaRPr lang="ko-KR" sz="2000"/>
          </a:p>
        </p:txBody>
      </p:sp>
      <p:sp>
        <p:nvSpPr>
          <p:cNvPr id="20" name="rv_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team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built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built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database by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collecting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collect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and analyzing a huge amount of data on players.</a:t>
            </a:r>
            <a:endParaRPr lang="ko-KR" sz="2000"/>
          </a:p>
        </p:txBody>
      </p:sp>
      <p:sp>
        <p:nvSpPr>
          <p:cNvPr id="21" name="rv_point_3"/>
          <p:cNvSpPr txBox="1"/>
          <p:nvPr/>
        </p:nvSpPr>
        <p:spPr>
          <a:xfrm>
            <a:off x="457200" y="5286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a database가 있으므로 능동) · to부정사/동명사/동사원형 (전치사 by + 동명사)</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992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22.  </a:t>
            </a:r>
            <a:r>
              <a:rPr lang="ko-KR" altLang="en-US" sz="1600" b="0" dirty="0">
                <a:solidFill>
                  <a:srgbClr val="3C4558"/>
                </a:solidFill>
                <a:latin typeface="맑은 고딕"/>
                <a:ea typeface="맑은 고딕"/>
                <a:cs typeface="맑은 고딕"/>
              </a:rPr>
              <a:t>예를 들어 그 데이터에는 선수 한 명 한 명이 얼마나 많이 뛰었는지, 공을 얼마나 오래 갖고 있었는지에 대한 정보가 담겼다.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example, the data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included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included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information about how much each player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run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ran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and how long he had the ball.</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example, the data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included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included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information about how much each player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run</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ran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and how long he had the ball.</a:t>
            </a:r>
            <a:endParaRPr lang="ko-KR" sz="2000"/>
          </a:p>
        </p:txBody>
      </p:sp>
      <p:sp>
        <p:nvSpPr>
          <p:cNvPr id="11" name="rv_point_1"/>
          <p:cNvSpPr txBox="1"/>
          <p:nvPr/>
        </p:nvSpPr>
        <p:spPr>
          <a:xfrm>
            <a:off x="457200" y="2389632"/>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information이 있으므로 능동) · 수동태(능동/수동 구별) (자동사 run은 수동태 불가)</a:t>
            </a:r>
            <a:endParaRPr lang="ko-KR" sz="1400"/>
          </a:p>
        </p:txBody>
      </p:sp>
      <p:sp>
        <p:nvSpPr>
          <p:cNvPr id="12" name="item_card_2"/>
          <p:cNvSpPr/>
          <p:nvPr/>
        </p:nvSpPr>
        <p:spPr>
          <a:xfrm>
            <a:off x="457200" y="3053588"/>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316331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23.  </a:t>
            </a:r>
            <a:r>
              <a:rPr lang="ko-KR" altLang="en-US" sz="1600" b="0" dirty="0">
                <a:solidFill>
                  <a:srgbClr val="3C4558"/>
                </a:solidFill>
                <a:latin typeface="맑은 고딕"/>
                <a:ea typeface="맑은 고딕"/>
                <a:cs typeface="맑은 고딕"/>
              </a:rPr>
              <a:t>이 데이터베이스의 도움으로 독일 축구 국가대표팀은 경기력을 높였고, 2014년 월드컵에서 우승할 수 있었다.</a:t>
            </a:r>
            <a:endParaRPr lang="ko-KR" sz="1600"/>
          </a:p>
        </p:txBody>
      </p:sp>
      <p:sp>
        <p:nvSpPr>
          <p:cNvPr id="14" name="eng_2"/>
          <p:cNvSpPr txBox="1"/>
          <p:nvPr/>
        </p:nvSpPr>
        <p:spPr>
          <a:xfrm>
            <a:off x="457200" y="372618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With the help of this database, Germany’s national soccer team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improve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improving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its performance and win the 2014 World Cup.</a:t>
            </a:r>
            <a:endParaRPr lang="ko-KR" sz="2000"/>
          </a:p>
        </p:txBody>
      </p:sp>
      <p:sp>
        <p:nvSpPr>
          <p:cNvPr id="15" name="rv_eng_2"/>
          <p:cNvSpPr txBox="1"/>
          <p:nvPr/>
        </p:nvSpPr>
        <p:spPr>
          <a:xfrm>
            <a:off x="457200" y="372618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With the help of this database, Germany’s national soccer team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able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improve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improving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its performance and win the 2014 World Cup.</a:t>
            </a:r>
            <a:endParaRPr lang="ko-KR" sz="2000"/>
          </a:p>
        </p:txBody>
      </p:sp>
      <p:sp>
        <p:nvSpPr>
          <p:cNvPr id="16" name="rv_point_2"/>
          <p:cNvSpPr txBox="1"/>
          <p:nvPr/>
        </p:nvSpPr>
        <p:spPr>
          <a:xfrm>
            <a:off x="457200" y="449224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team 단수) · to부정사/동명사/동사원형 (be able + to부정사)</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24.  </a:t>
            </a:r>
            <a:r>
              <a:rPr lang="ko-KR" altLang="en-US" sz="1600" b="0" dirty="0">
                <a:solidFill>
                  <a:srgbClr val="3C4558"/>
                </a:solidFill>
                <a:latin typeface="맑은 고딕"/>
                <a:ea typeface="맑은 고딕"/>
                <a:cs typeface="맑은 고딕"/>
              </a:rPr>
              <a:t>빅데이터 덕분에 경찰은 이제 범죄가 일어나기 전에 미리 예측할 수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Thanks to big data, police can now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predict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predict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crime before 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 happened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happens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Thanks to big data, police can now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predict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predict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crime before it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 happened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happens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can + 동사원형) · 수동태(능동/수동 구별) (자동사 happen은 수동태 불가)</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25.  </a:t>
            </a:r>
            <a:r>
              <a:rPr lang="ko-KR" altLang="en-US" sz="1600" b="0" dirty="0">
                <a:solidFill>
                  <a:srgbClr val="3C4558"/>
                </a:solidFill>
                <a:latin typeface="맑은 고딕"/>
                <a:ea typeface="맑은 고딕"/>
                <a:cs typeface="맑은 고딕"/>
              </a:rPr>
              <a:t>범죄의 유형·시간·장소에 관한 빅데이터를 분석하면 경찰은 범죄 다발 지역 지도를 만들 수 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Through the analysis of big data about the type, time and place of crime, police can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making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make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map of crime hot spots.</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Through the analysis of big data about the type, time and place of crime, police can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making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make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map of crime hot spots.</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can + 동사원형)</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26.  </a:t>
            </a:r>
            <a:r>
              <a:rPr lang="ko-KR" altLang="en-US" sz="1600" b="0" dirty="0">
                <a:solidFill>
                  <a:srgbClr val="3C4558"/>
                </a:solidFill>
                <a:latin typeface="맑은 고딕"/>
                <a:ea typeface="맑은 고딕"/>
                <a:cs typeface="맑은 고딕"/>
              </a:rPr>
              <a:t>이 지도는 범죄가 언제, 어디에서 일어날 가능성이 가장 높은지 알려 준다.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map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identifies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identify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when and where crime is most likely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happening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happen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map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identifies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identify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when and where crime is most likely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happening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happen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map 단수) · to부정사/동명사/동사원형 (be likely + to부정사)</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27.  </a:t>
            </a:r>
            <a:r>
              <a:rPr lang="ko-KR" altLang="en-US" sz="1600" b="0" dirty="0">
                <a:solidFill>
                  <a:srgbClr val="3C4558"/>
                </a:solidFill>
                <a:latin typeface="맑은 고딕"/>
                <a:ea typeface="맑은 고딕"/>
                <a:cs typeface="맑은 고딕"/>
              </a:rPr>
              <a:t>경찰은 이 지도가 예측한 지역과 시간대에 집중함으로써 추가 범죄를 막을 수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Police can prevent further crime by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focus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focusing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on the areas and the times this map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predicts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predict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Police can prevent further crime by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focus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focusing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on the areas and the times this map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predicts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predict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(전치사 by + 동명사) · 동사의 수 일치 (주어 this map 단수)</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28.  </a:t>
            </a:r>
            <a:r>
              <a:rPr lang="ko-KR" altLang="en-US" sz="1600" b="0" dirty="0">
                <a:solidFill>
                  <a:srgbClr val="3C4558"/>
                </a:solidFill>
                <a:latin typeface="맑은 고딕"/>
                <a:ea typeface="맑은 고딕"/>
                <a:cs typeface="맑은 고딕"/>
              </a:rPr>
              <a:t>빅데이터는 이미 세상을 크게 바꾸어 놓았다.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Big data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already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been changed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changed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world greatly.</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Big data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already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been changed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changed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world greatly.</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Big data 단수) · 수동태(능동/수동 구별) (목적어 the world가 있으므로 능동)</a:t>
            </a:r>
            <a:endParaRPr lang="ko-KR" sz="1400"/>
          </a:p>
        </p:txBody>
      </p:sp>
      <p:sp>
        <p:nvSpPr>
          <p:cNvPr id="17" name="item_card_3"/>
          <p:cNvSpPr/>
          <p:nvPr/>
        </p:nvSpPr>
        <p:spPr>
          <a:xfrm>
            <a:off x="457200" y="38481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29.  </a:t>
            </a:r>
            <a:r>
              <a:rPr lang="ko-KR" altLang="en-US" sz="1600" b="0" dirty="0">
                <a:solidFill>
                  <a:srgbClr val="3C4558"/>
                </a:solidFill>
                <a:latin typeface="맑은 고딕"/>
                <a:ea typeface="맑은 고딕"/>
                <a:cs typeface="맑은 고딕"/>
              </a:rPr>
              <a:t>그렇다면 빅데이터 산업은 앞으로 어디로 나아갈까?</a:t>
            </a:r>
            <a:endParaRPr lang="ko-KR" sz="1600"/>
          </a:p>
        </p:txBody>
      </p:sp>
      <p:sp>
        <p:nvSpPr>
          <p:cNvPr id="19" name="eng_3"/>
          <p:cNvSpPr txBox="1"/>
          <p:nvPr/>
        </p:nvSpPr>
        <p:spPr>
          <a:xfrm>
            <a:off x="457200" y="42666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So where will the big data industry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go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from here?</a:t>
            </a:r>
            <a:endParaRPr lang="ko-KR" sz="2000"/>
          </a:p>
        </p:txBody>
      </p:sp>
      <p:sp>
        <p:nvSpPr>
          <p:cNvPr id="20" name="rv_eng_3"/>
          <p:cNvSpPr txBox="1"/>
          <p:nvPr/>
        </p:nvSpPr>
        <p:spPr>
          <a:xfrm>
            <a:off x="457200" y="42666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So where will the big data industry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go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go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from here?</a:t>
            </a:r>
            <a:endParaRPr lang="ko-KR" sz="2000"/>
          </a:p>
        </p:txBody>
      </p:sp>
      <p:sp>
        <p:nvSpPr>
          <p:cNvPr id="21" name="rv_point_3"/>
          <p:cNvSpPr txBox="1"/>
          <p:nvPr/>
        </p:nvSpPr>
        <p:spPr>
          <a:xfrm>
            <a:off x="457200" y="46771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will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30.  </a:t>
            </a:r>
            <a:r>
              <a:rPr lang="ko-KR" altLang="en-US" sz="1600" b="0" dirty="0">
                <a:solidFill>
                  <a:srgbClr val="3C4558"/>
                </a:solidFill>
                <a:latin typeface="맑은 고딕"/>
                <a:ea typeface="맑은 고딕"/>
                <a:cs typeface="맑은 고딕"/>
              </a:rPr>
              <a:t>확실히 아는 사람은 없지만, 전문가들은 빅데이터가 우리 삶에서 점점 더 중요한 역할을 하게 될 것이라는 데 의견을 같이한다.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Nobody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knows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know</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for sure, but experts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agrees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agree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that big data will play a more and more important role in our lives.</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Nobody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knows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know</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for sure, but experts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agrees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agree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that big data will play a more and more important role in our lives.</a:t>
            </a:r>
            <a:endParaRPr lang="ko-KR" sz="2000"/>
          </a:p>
        </p:txBody>
      </p:sp>
      <p:sp>
        <p:nvSpPr>
          <p:cNvPr id="11" name="rv_point_1"/>
          <p:cNvSpPr txBox="1"/>
          <p:nvPr/>
        </p:nvSpPr>
        <p:spPr>
          <a:xfrm>
            <a:off x="457200" y="2389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Nobody 단수) · 동사의 수 일치 (주어 experts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6  </a:t>
            </a:r>
            <a:r>
              <a:rPr lang="ko-KR" altLang="en-US" sz="4000" b="1" dirty="0">
                <a:solidFill>
                  <a:srgbClr val="FFFFFF"/>
                </a:solidFill>
                <a:latin typeface="맑은 고딕"/>
                <a:ea typeface="맑은 고딕"/>
                <a:cs typeface="맑은 고딕"/>
              </a:rPr>
              <a:t>순서배열 부분영작</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7</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L7-1  ·  L7-2  ·  L7-3  ·  L7-4</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우리말에 맞게 (  ) 안의 말을 바르게 배열해 영어 문장을 완성</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완성된 영어 문장(정답)이 빨간색으로 공개</a:t>
            </a:r>
            <a:endParaRPr lang="ko-KR" sz="1600"/>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당신은 온라인 서점을 방문해서 그 서점이 당신에게 추천한 책들을 보고 놀란 적이 있는가?</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an online bookstore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Have you ever visited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by the books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been surprised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recommended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store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you?</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Have you ever visited an online bookstore and been surprised by the books that the store recommended for you?</a:t>
            </a:r>
            <a:endParaRPr lang="ko-KR" sz="1900"/>
          </a:p>
        </p:txBody>
      </p:sp>
      <p:sp>
        <p:nvSpPr>
          <p:cNvPr id="11" name="item_card_2"/>
          <p:cNvSpPr/>
          <p:nvPr/>
        </p:nvSpPr>
        <p:spPr>
          <a:xfrm>
            <a:off x="457200" y="3048381"/>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 책들 중 다수가 당신에게 흥미로워 보였다. 그 서점은 당신이 무엇을 좋아하는지 어떻게 알았을까?</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you</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interesting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looked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Many of them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So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did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what you liked?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bookstore</a:t>
            </a:r>
            <a:r>
              <a:rPr lang="en-US" altLang="en-US" sz="1900" b="1" dirty="0">
                <a:solidFill>
                  <a:srgbClr val="1E2A5A"/>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Many of them looked interesting to you. So how did the bookstore know what you liked?</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이것은 모두 빅데이터 때문에 가능하다.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all possible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because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is all possible because of big data.</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빅데이터는 매우 크고 복잡한 데이터의 집합이다.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data sets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very big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and complex</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Big data is data sets that are very big and complex.</a:t>
            </a:r>
            <a:endParaRPr lang="ko-KR" sz="1900"/>
          </a:p>
        </p:txBody>
      </p:sp>
      <p:sp>
        <p:nvSpPr>
          <p:cNvPr id="15" name="item_card_3"/>
          <p:cNvSpPr/>
          <p:nvPr/>
        </p:nvSpPr>
        <p:spPr>
          <a:xfrm>
            <a:off x="457200" y="386689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정보 통신 기술이 발달함에 따라 우리가 갖고 있는 데이터의 양이 이전보다 훨씬 더 많아지고 있다.</a:t>
            </a:r>
            <a:endParaRPr lang="ko-KR" sz="1700"/>
          </a:p>
        </p:txBody>
      </p:sp>
      <p:sp>
        <p:nvSpPr>
          <p:cNvPr id="17" name="ex_3"/>
          <p:cNvSpPr txBox="1"/>
          <p:nvPr/>
        </p:nvSpPr>
        <p:spPr>
          <a:xfrm>
            <a:off x="457200" y="457123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As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develops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information and communication technology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amount of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than before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 have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much greater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getting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36905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As information and communication technology develops, the amount of data we have is getting much greater than before.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이것의 주된 이유는 우리가 온라인상에서 하는 거의 모든 것들이 흔적을 남기기 때문이다.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because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mainly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that we do online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trace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almost everything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leaves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is mainly because almost everything that we do online leaves a trace.</a:t>
            </a:r>
            <a:endParaRPr lang="ko-KR" sz="1900"/>
          </a:p>
        </p:txBody>
      </p:sp>
      <p:sp>
        <p:nvSpPr>
          <p:cNvPr id="11" name="item_card_2"/>
          <p:cNvSpPr/>
          <p:nvPr/>
        </p:nvSpPr>
        <p:spPr>
          <a:xfrm>
            <a:off x="457200" y="272262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예를 들어, 당신이 블로그에 올린 사진들과 온라인 상점에서의 구매 기록들이 모두 빅데이터의 일부이다.</a:t>
            </a:r>
            <a:endParaRPr lang="ko-KR" sz="1700"/>
          </a:p>
        </p:txBody>
      </p:sp>
      <p:sp>
        <p:nvSpPr>
          <p:cNvPr id="13" name="ex_2"/>
          <p:cNvSpPr txBox="1"/>
          <p:nvPr/>
        </p:nvSpPr>
        <p:spPr>
          <a:xfrm>
            <a:off x="457200" y="342696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example,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on your blog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you upload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photos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at online stores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records of your purchases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are all part of big data.</a:t>
            </a:r>
            <a:endParaRPr lang="ko-KR" sz="1900"/>
          </a:p>
        </p:txBody>
      </p:sp>
      <p:sp>
        <p:nvSpPr>
          <p:cNvPr id="14" name="rv_ans_2"/>
          <p:cNvSpPr txBox="1"/>
          <p:nvPr/>
        </p:nvSpPr>
        <p:spPr>
          <a:xfrm>
            <a:off x="594360" y="422478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example, the photos you upload on your blog and the records of your purchases at online stores are all part of big data.</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하지만 단순히 데이터를 수집하는 것만으로는 충분하지 않다.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collecting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Simply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data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however,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enough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not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Simply collecting data, however, is not enough.</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빅데이터는 분석되어야 하는데, 이것은 빅데이터 전문가들에 의해서 이루어진다.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has to be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analyzed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by big data experts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done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Big data has to be analyzed, and this is done by big data experts.</a:t>
            </a:r>
            <a:endParaRPr lang="ko-KR" sz="1900"/>
          </a:p>
        </p:txBody>
      </p:sp>
      <p:sp>
        <p:nvSpPr>
          <p:cNvPr id="15" name="item_card_3"/>
          <p:cNvSpPr/>
          <p:nvPr/>
        </p:nvSpPr>
        <p:spPr>
          <a:xfrm>
            <a:off x="457200" y="386689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전문가들은 다양한 방법들을 사용하여 빅데이터를 분석하고, 그것으로부터 의미 있는 결과들을 도출한다.</a:t>
            </a:r>
            <a:endParaRPr lang="ko-KR" sz="1700"/>
          </a:p>
        </p:txBody>
      </p:sp>
      <p:sp>
        <p:nvSpPr>
          <p:cNvPr id="17" name="ex_3"/>
          <p:cNvSpPr txBox="1"/>
          <p:nvPr/>
        </p:nvSpPr>
        <p:spPr>
          <a:xfrm>
            <a:off x="457200" y="457123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Using various methods,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experts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analyze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meaningful results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from 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draw</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36905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Using various methods, experts analyze big data and draw meaningful results from it.</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11.  </a:t>
            </a:r>
            <a:r>
              <a:rPr lang="ko-KR" altLang="en-US" sz="1700" b="1" dirty="0">
                <a:solidFill>
                  <a:srgbClr val="1F2328"/>
                </a:solidFill>
                <a:latin typeface="맑은 고딕"/>
                <a:ea typeface="맑은 고딕"/>
                <a:cs typeface="맑은 고딕"/>
              </a:rPr>
              <a:t>그런 다음, 이런 결과들은 의사결정을 하거나 미래를 예측하는 데 사용될 수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These results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be used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make decisions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predict the future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These results then can be used to make decisions or to predict the future.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빅데이터는 우리 삶의 거의 모든 부분에 영향을 미치고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almost all parts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our lives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influencing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Big data is influencing almost all parts of our lives.</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그것은 회사들이 소비자들이 필요로 하는 것을 더 잘 이해하고 더 많은 상품을 팔도록 도와준다.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helps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better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customers’ needs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companies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understand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 products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helps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sell</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It helps companies understand their customers’ needs better and helps them sell more products.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그것은 사람들이 교통 체증을 피하도록 도와준다. 그것의 쓰임은 끝이 없는데, 여기 몇 가지 흥미로운 예들이 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heavy traffic</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helps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avoid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endless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Its uses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some interesting examples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here are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It helps people avoid heavy traffic. Its uses are endless, and here are some interesting examples.</a:t>
            </a:r>
            <a:endParaRPr lang="ko-KR" sz="1900"/>
          </a:p>
        </p:txBody>
      </p:sp>
      <p:sp>
        <p:nvSpPr>
          <p:cNvPr id="11" name="item_card_2"/>
          <p:cNvSpPr/>
          <p:nvPr/>
        </p:nvSpPr>
        <p:spPr>
          <a:xfrm>
            <a:off x="457200" y="331825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당신은 날씨 전문가들이 날씨를 예측하는 것과 같이 현재 건강 전문가들이 질병을 예측할 수 있다는 것을 알고 있었는가?</a:t>
            </a:r>
            <a:endParaRPr lang="ko-KR" sz="1700"/>
          </a:p>
        </p:txBody>
      </p:sp>
      <p:sp>
        <p:nvSpPr>
          <p:cNvPr id="13" name="ex_2"/>
          <p:cNvSpPr txBox="1"/>
          <p:nvPr/>
        </p:nvSpPr>
        <p:spPr>
          <a:xfrm>
            <a:off x="457200" y="402259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Did you know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forecast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health professionals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disease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just as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weather?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forecast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weather experts</a:t>
            </a:r>
            <a:r>
              <a:rPr lang="en-US" altLang="en-US" sz="1900" b="1" dirty="0">
                <a:solidFill>
                  <a:srgbClr val="1E2A5A"/>
                </a:solidFill>
                <a:latin typeface="Calibri"/>
                <a:ea typeface="맑은 고딕"/>
                <a:cs typeface="Calibri"/>
              </a:rPr>
              <a:t>)</a:t>
            </a:r>
            <a:endParaRPr lang="ko-KR" sz="1900"/>
          </a:p>
        </p:txBody>
      </p:sp>
      <p:sp>
        <p:nvSpPr>
          <p:cNvPr id="14" name="rv_ans_2"/>
          <p:cNvSpPr txBox="1"/>
          <p:nvPr/>
        </p:nvSpPr>
        <p:spPr>
          <a:xfrm>
            <a:off x="594360" y="482041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Did you know that health professionals can now forecast a disease just as weather experts forecast the weather?</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이것은 빅데이터 덕분에 가능하다. 예를 들어, 독감의 계절이 오면 사람들은 독감 약을 더 많이 구입할 것이다.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thanks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possible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For example, when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comes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flu season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will buy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flu medicine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is possible thanks to big data. For example, when the flu season comes, people will buy more flu medicine.</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그들은 또한 온라인상에서 독감 증상에 대해 더 많이 검색해 볼 것이다.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about flu symptoms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will also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search online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will also search online about flu symptoms more.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이런 종류의 데이터가 현명하게 분석된다면, 독감의 확산을 예측할 수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If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wisely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kind of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analyzed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can be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predicted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spread of the flu</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If this kind of data is analyzed wisely, the spread of the flu can be predicted.</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당신은 스포츠 팬인가? 빅데이터는 스포츠를 더 흥미진진하게 만들면서 선수들의 경기력을 향상하고 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Are you a sports fan? Well,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is improving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performance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more exciting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sports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making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Are you a sports fan? Well, big data is improving the performance of players, making sports more exciting.</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한 유명한 사례가 독일 국가 대표 축구팀이다.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Germany’s national soccer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famous example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 famous example is Germany’s national soccer team.</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 팀은 선수들에 관한 엄청난 양의 데이터를 모으고 분석함으로써 데이터베이스를 구축했다.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database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built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huge amount of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collecting and analyzing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team built a database by collecting and analyzing a huge amount of data on players.</a:t>
            </a:r>
            <a:endParaRPr lang="ko-KR" sz="1900"/>
          </a:p>
        </p:txBody>
      </p:sp>
      <p:sp>
        <p:nvSpPr>
          <p:cNvPr id="11" name="item_card_2"/>
          <p:cNvSpPr/>
          <p:nvPr/>
        </p:nvSpPr>
        <p:spPr>
          <a:xfrm>
            <a:off x="457200" y="3048381"/>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예를 들어, 그 데이터는 각각의 선수들이 얼마나 많이 달렸고, 얼마나 오랫동안 공을 갖고 있었는지를 포함했다.</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example,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information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included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data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about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each player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how much</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how long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ball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example, the data included information about how much each player ran and how long he had the ball.</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이 데이터베이스의 도움으로, 독일 국가 대표 축구팀은 경기력을 향상할 수 있었고, 2014년 월드컵에서 우승할 수 있었다.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this database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With the help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was able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Germany’s national soccer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improve its performance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2014 World Cup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With the help of this database, Germany’s national soccer team was able to improve its performance and win the 2014 World Cup.</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빅데이터 덕분에 경찰은 이제 범죄가 발생하기 전에 그 범죄를 예측할 수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Thanks to big data,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can 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crime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police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predict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before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happens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Thanks to big data, police can now predict crime before it happens.</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범죄의 유형, 시간 및 장소에 관한 빅데이터 분석을 통해, 경찰은 범죄 다발 지역의 지도를 만들 수 있다.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Through the analysis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about the type, time and place of crime,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crime hot spots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make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map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police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Through the analysis of big data about the type, time and place of crime, police can make a map of crime hot spots.</a:t>
            </a:r>
            <a:endParaRPr lang="ko-KR" sz="1900"/>
          </a:p>
        </p:txBody>
      </p:sp>
      <p:sp>
        <p:nvSpPr>
          <p:cNvPr id="15" name="item_card_3"/>
          <p:cNvSpPr/>
          <p:nvPr/>
        </p:nvSpPr>
        <p:spPr>
          <a:xfrm>
            <a:off x="457200" y="477621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488594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이 지도는 범죄가 언제, 어디에서 가장 발생할 것 같은지 알려 준다.</a:t>
            </a:r>
            <a:endParaRPr lang="ko-KR" sz="1700"/>
          </a:p>
        </p:txBody>
      </p:sp>
      <p:sp>
        <p:nvSpPr>
          <p:cNvPr id="17" name="ex_3"/>
          <p:cNvSpPr txBox="1"/>
          <p:nvPr/>
        </p:nvSpPr>
        <p:spPr>
          <a:xfrm>
            <a:off x="457200" y="521068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identifies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map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most likely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crime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when and where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happen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68274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map identifies when and where crime is most likely to happen.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경찰은 이 지도가 예측하는 지역과 시간대에 집중함으로써 추가 범죄를 예방할 수 있다.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can prevent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further crime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Police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this map predicts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focusing 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areas and the times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Police can prevent further crime by focusing on the areas and the times this map predicts.</a:t>
            </a:r>
            <a:endParaRPr lang="ko-KR" sz="1900"/>
          </a:p>
        </p:txBody>
      </p:sp>
      <p:sp>
        <p:nvSpPr>
          <p:cNvPr id="11" name="item_card_2"/>
          <p:cNvSpPr/>
          <p:nvPr/>
        </p:nvSpPr>
        <p:spPr>
          <a:xfrm>
            <a:off x="457200" y="3048381"/>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빅데이터는 이미 세계를 크게 변화시켰다.</a:t>
            </a:r>
            <a:endParaRPr lang="ko-KR" sz="1700"/>
          </a:p>
        </p:txBody>
      </p:sp>
      <p:sp>
        <p:nvSpPr>
          <p:cNvPr id="13" name="ex_2"/>
          <p:cNvSpPr txBox="1"/>
          <p:nvPr/>
        </p:nvSpPr>
        <p:spPr>
          <a:xfrm>
            <a:off x="457200" y="348284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has already changed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greatly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world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54907"/>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Big data has already changed the world greatly.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그러면 빅데이터 산업은 여기에서부터 어디로 가게 될까?</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So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big data industry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from here?</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So where will the big data industry go from here?</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누구도 확실히 알지는 못하지만, 전문가들은 빅데이터가 우리 삶에서 더욱 더 중요한 역할을 할 것이라는 데에는 동의한다.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for sure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Nobody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knows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agree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experts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more and more important role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will play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our lives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Nobody knows for sure, but experts agree that big data will play a more and more important role in our lives.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