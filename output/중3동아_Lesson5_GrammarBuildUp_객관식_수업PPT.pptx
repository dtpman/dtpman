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14630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400" b="1" i="0" u="none">
                <a:solidFill>
                  <a:srgbClr val="FFFFFF"/>
                </a:solidFill>
                <a:latin typeface="맑은 고딕"/>
              </a:rPr>
              <a:t>Lesson 5  Grammar Build Up 객관식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03320"/>
            <a:ext cx="10332720" cy="5486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0" i="0" u="none">
                <a:solidFill>
                  <a:srgbClr val="CFD8E8"/>
                </a:solidFill>
                <a:latin typeface="맑은 고딕"/>
              </a:rPr>
              <a:t>중3 동아(윤정미) Lesson 5 · Pattern 1 현재분사 / Pattern 2 as+원급+as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51960"/>
            <a:ext cx="1033272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 u="none">
                <a:solidFill>
                  <a:srgbClr val="AEBBD0"/>
                </a:solidFill>
                <a:latin typeface="맑은 고딕"/>
              </a:rPr>
              <a:t>총 126문항 · 클릭 → 정답 공개 → 클릭 → 정답 이유 공개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 u="none">
                <a:solidFill>
                  <a:srgbClr val="FFFFFF"/>
                </a:solidFill>
                <a:latin typeface="맑은 고딕"/>
              </a:rPr>
              <a:t>Pattern 1.  현재분사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2120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분사는 동사의 형태를 바꾸어 형용사처럼 사용할 수 있으며, 현재분사와 과거분사 두 가지가 있다.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u="none">
                <a:solidFill>
                  <a:srgbClr val="1E2A4A"/>
                </a:solidFill>
                <a:latin typeface="맑은 고딕"/>
              </a:rPr>
              <a:t>현재분사: 동사원형 + -ing  → 능동·진행     |     과거분사: 동사원형 + -ed  → 수동·완료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분사가 단독으로 명사를 꾸미면 명사 앞, 목적어·부사(구) 등과 함께 쓰이면 명사 뒤에 온다.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800" b="1" i="0" u="none">
                <a:solidFill>
                  <a:srgbClr val="222222"/>
                </a:solidFill>
                <a:latin typeface="맑은 고딕"/>
              </a:rPr>
              <a:t>▸ Pacers usually have flags or balloons </a:t>
            </a:r>
            <a:r>
              <a:rPr sz="1800" b="1" i="0" u="sng">
                <a:solidFill>
                  <a:srgbClr val="C03A2E"/>
                </a:solidFill>
                <a:latin typeface="맑은 고딕"/>
              </a:rPr>
              <a:t>showing</a:t>
            </a:r>
            <a:r>
              <a:rPr sz="1800" b="1" i="0" u="none">
                <a:solidFill>
                  <a:srgbClr val="222222"/>
                </a:solidFill>
                <a:latin typeface="맑은 고딕"/>
              </a:rPr>
              <a:t> their finish time.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0" i="0" u="none">
                <a:solidFill>
                  <a:srgbClr val="555555"/>
                </a:solidFill>
                <a:latin typeface="맑은 고딕"/>
              </a:rPr>
              <a:t>    페이서들은 보통 자신들의 완주 시간을 나타내는 깃발이나 풍선들을 가지고 있다.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800" b="1" i="0" u="none">
                <a:solidFill>
                  <a:srgbClr val="222222"/>
                </a:solidFill>
                <a:latin typeface="맑은 고딕"/>
              </a:rPr>
              <a:t>▸ The girl </a:t>
            </a:r>
            <a:r>
              <a:rPr sz="1800" b="1" i="0" u="sng">
                <a:solidFill>
                  <a:srgbClr val="C03A2E"/>
                </a:solidFill>
                <a:latin typeface="맑은 고딕"/>
              </a:rPr>
              <a:t>waiting</a:t>
            </a:r>
            <a:r>
              <a:rPr sz="1800" b="1" i="0" u="none">
                <a:solidFill>
                  <a:srgbClr val="222222"/>
                </a:solidFill>
                <a:latin typeface="맑은 고딕"/>
              </a:rPr>
              <a:t> at the bus stop is my sister.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0" i="0" u="none">
                <a:solidFill>
                  <a:srgbClr val="555555"/>
                </a:solidFill>
                <a:latin typeface="맑은 고딕"/>
              </a:rPr>
              <a:t>    버스 정류장에서 기다리고 있는 소녀는 내 여동생이다.  (who[that] is 생략으로 볼 수 있음)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800" b="1" i="0" u="none">
                <a:solidFill>
                  <a:srgbClr val="222222"/>
                </a:solidFill>
                <a:latin typeface="맑은 고딕"/>
              </a:rPr>
              <a:t>▸ The bird </a:t>
            </a:r>
            <a:r>
              <a:rPr sz="1800" b="1" i="0" u="sng">
                <a:solidFill>
                  <a:srgbClr val="C03A2E"/>
                </a:solidFill>
                <a:latin typeface="맑은 고딕"/>
              </a:rPr>
              <a:t>singing</a:t>
            </a:r>
            <a:r>
              <a:rPr sz="1800" b="1" i="0" u="none">
                <a:solidFill>
                  <a:srgbClr val="222222"/>
                </a:solidFill>
                <a:latin typeface="맑은 고딕"/>
              </a:rPr>
              <a:t> in the tree is very big.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0" i="0" u="none">
                <a:solidFill>
                  <a:srgbClr val="555555"/>
                </a:solidFill>
                <a:latin typeface="맑은 고딕"/>
              </a:rPr>
              <a:t>    나무에서 노래하고 있는 새는 매우 크다.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800" b="1" i="0" u="none">
                <a:solidFill>
                  <a:srgbClr val="222222"/>
                </a:solidFill>
                <a:latin typeface="맑은 고딕"/>
              </a:rPr>
              <a:t>▸ There are many students </a:t>
            </a:r>
            <a:r>
              <a:rPr sz="1800" b="1" i="0" u="sng">
                <a:solidFill>
                  <a:srgbClr val="C03A2E"/>
                </a:solidFill>
                <a:latin typeface="맑은 고딕"/>
              </a:rPr>
              <a:t>studying</a:t>
            </a:r>
            <a:r>
              <a:rPr sz="1800" b="1" i="0" u="none">
                <a:solidFill>
                  <a:srgbClr val="222222"/>
                </a:solidFill>
                <a:latin typeface="맑은 고딕"/>
              </a:rPr>
              <a:t> in the library.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0" i="0" u="none">
                <a:solidFill>
                  <a:srgbClr val="555555"/>
                </a:solidFill>
                <a:latin typeface="맑은 고딕"/>
              </a:rPr>
              <a:t>    도서관에는 공부하고 있는 학생들이 많다.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800" b="1" i="0" u="none">
                <a:solidFill>
                  <a:srgbClr val="222222"/>
                </a:solidFill>
                <a:latin typeface="맑은 고딕"/>
              </a:rPr>
              <a:t>▸ The woman </a:t>
            </a:r>
            <a:r>
              <a:rPr sz="1800" b="1" i="0" u="sng">
                <a:solidFill>
                  <a:srgbClr val="C03A2E"/>
                </a:solidFill>
                <a:latin typeface="맑은 고딕"/>
              </a:rPr>
              <a:t>wearing</a:t>
            </a:r>
            <a:r>
              <a:rPr sz="1800" b="1" i="0" u="none">
                <a:solidFill>
                  <a:srgbClr val="222222"/>
                </a:solidFill>
                <a:latin typeface="맑은 고딕"/>
              </a:rPr>
              <a:t> glasses is my teacher.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0" i="0" u="none">
                <a:solidFill>
                  <a:srgbClr val="555555"/>
                </a:solidFill>
                <a:latin typeface="맑은 고딕"/>
              </a:rPr>
              <a:t>    안경을 쓰고 있는 여자는 우리 선생님이다.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1 · 01번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현재분사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1E2A4A"/>
                </a:solidFill>
                <a:latin typeface="맑은 고딕"/>
              </a:rPr>
              <a:t>다음 우리말을 영작하고자 할 때, 빈칸에 들어갈 말로 가장 적절한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버스를 기다리는 소녀는 나의 친구다.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→ The girl ______________ for the bus is my friend.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① wait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② waited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③ waiting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④ waits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⑤ is waiting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③ waiting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the girl이 버스를 기다리고 있는 능동적인 상황이므로 현재분사 waiting이 알맞다.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1 · 02번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현재분사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빈칸에 들어갈 말로 가장 적절한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boy ______________ to music is Eric.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listen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listening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listened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to listen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has listened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② listening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the boy를 수식할 수 있는 현재분사가 들어가야 한다.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1 · 03번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현재분사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빈칸에 들어갈 말로 알맞은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girl called out the man ______________ a bike.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ride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rode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ridden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riding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has ridden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④ riding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분사가 명사를 수식하는 경우, 명사와 능동/진행 관계일 때는 현재분사(동사원형+ing)를 씀. 일반적으로 명사 앞에서 수식하지만 목적어, 보어, 부사(구) 등 다른 어구와 함께 수식할 때는 명사 뒤에서 수식한다.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1 · 04번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현재분사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빈칸에 들어갈 말로 가장 적절한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This is the book ______________ by Mark Twain.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write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wrote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written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writing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to write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③ written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명사 the book을 꾸며주는 분사가 들어갈 자리로, 명사와의 관계가 수동이므로 written이 적절하다.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1 · 05번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현재분사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빈칸에 들어갈 말로 가장 적절한 것은? (정답 2개)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people ____________ the movie look so bored.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watch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watching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are watching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who watching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who are watching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②, ⑤   (② watching  /  ⑤ who are watching)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the people을 수식해줄 수 있는 현재분사 watching과, 주격 관계대명사절 who are watching이 빈칸에 들어갈 수 있다.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1 · 06번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현재분사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6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1E2A4A"/>
                </a:solidFill>
                <a:latin typeface="맑은 고딕"/>
              </a:rPr>
              <a:t>다음 우리말과 일치하도록 괄호 안의 단어를 나열할 때, 네 번째 오는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버스 정류장에 서 있는 소년은 나의 남동생이다.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(is, my brother, the boy, at the bus stop, standing)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① is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② my brother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③ the boy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④ at the bus stop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⑤ standing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① is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The boy standing at the bus stop is my brother.가 완전한 문장이다.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1 · 07번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현재분사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7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우리말을 바르게 영작한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나는 흰 바지를 입은 소년을 보았다.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 saw a boy worn white jeans.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A boy was wearing white jeans.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 saw a boy wearing white jeans.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A boy wearing white jeans saw me.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 was seeing a boy wear white jeans.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③ I saw a boy wearing white jeans.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현재분사나 과거분사는 명사를 수식하는 형용사 형태로 쓸 수 있다. 단독으로 명사를 수식할 때는 명사 앞에 오고, 목적어, 보어, 부사(구) 다른 어구와 함께 명사를 수식하는 경우에는 명사 뒤에 온다.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1 · 08번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현재분사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8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1E2A4A"/>
                </a:solidFill>
                <a:latin typeface="맑은 고딕"/>
              </a:rPr>
              <a:t>다음 두 문장을 한 문장으로 바꿀 때, 빈칸에 들어갈 말로 가장 적절한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There is a boy. He is dancing to music.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→ There is a boy _________________________.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① whom is dancing to music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② who dancing to music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③ is dancing to music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④ dancing to music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⑤ dances to music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④ dancing to music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a boy를 수식할 수 있는 현재분사구가 빈칸에 들어가야 한다.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1 · 09번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현재분사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9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1E2A4A"/>
                </a:solidFill>
                <a:latin typeface="맑은 고딕"/>
              </a:rPr>
              <a:t>다음 빈칸 (A), (B)에 들어갈 말로 가장 적절한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• Why don't you throw away the (A)_______ cups?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• The girl (B)_______ sunglasses is my sister.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①  (A) break   (B) worn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②  (A) broken   (B) wearing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③  (A) broken   (B) worn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④  (A) breaking   (B) wearing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⑤  (A) breaking   (B) wear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②  (A) broken   (B) wearing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100" b="0" i="0" u="none">
                <a:solidFill>
                  <a:srgbClr val="152A4A"/>
                </a:solidFill>
                <a:latin typeface="맑은 고딕"/>
              </a:rPr>
              <a:t>현재분사나 과거분사는 명사를 수식하는 형용사 형태로 쓸 수 있다. 단독으로 명사를 수식할 때는 명사 앞에 오고, 목적어, 보어, 부사(구) 다른 어구와 함께 명사를 수식하는 경우에는 명사 뒤에 온다.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 u="none">
                <a:solidFill>
                  <a:srgbClr val="152A4A"/>
                </a:solidFill>
                <a:latin typeface="맑은 고딕"/>
              </a:rPr>
              <a:t>현재분사는 '능동'의 성격이, 과거분사는 '수동'의 성격을 가지고 있다.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 u="none">
                <a:solidFill>
                  <a:srgbClr val="152A4A"/>
                </a:solidFill>
                <a:latin typeface="맑은 고딕"/>
              </a:rPr>
              <a:t>(A) 깨진 컵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 u="none">
                <a:solidFill>
                  <a:srgbClr val="152A4A"/>
                </a:solidFill>
                <a:latin typeface="맑은 고딕"/>
              </a:rPr>
              <a:t>(B) 선글라스를 쓰고 있는 소녀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1 · 10번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현재분사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10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1E2A4A"/>
                </a:solidFill>
                <a:latin typeface="맑은 고딕"/>
              </a:rPr>
              <a:t>다음 빈칸 (A), (B)에 들어갈 말로 가장 적절한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• I picked up the leaves (A)_______ on the ground.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• Tom drew a bird (B)_______ in the sky.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①  (A) fall   (B) fly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②  (A) fallen   (B) flying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③  (A) falling   (B) to fly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④  (A) fell   (B) flew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⑤  (A) to fall   (B) to flying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②  (A) fallen   (B) flying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100" b="0" i="0" u="none">
                <a:solidFill>
                  <a:srgbClr val="152A4A"/>
                </a:solidFill>
                <a:latin typeface="맑은 고딕"/>
              </a:rPr>
              <a:t>현재분사나 과거분사는 명사를 수식하는 형용사 형태로 쓸 수 있다. 단독으로 명사를 수식할 때는 명사 앞에 오고, 목적어, 보어, 부사(구) 다른 어구와 함께 명사를 수식하는 경우에는 명사 뒤에 온다.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 u="none">
                <a:solidFill>
                  <a:srgbClr val="152A4A"/>
                </a:solidFill>
                <a:latin typeface="맑은 고딕"/>
              </a:rPr>
              <a:t>현재분사는 '능동'의 성격이, 과거분사는 '수동'의 성격을 가지고 있다.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 u="none">
                <a:solidFill>
                  <a:srgbClr val="152A4A"/>
                </a:solidFill>
                <a:latin typeface="맑은 고딕"/>
              </a:rPr>
              <a:t>(A) 땅에 떨어진 잎들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 u="none">
                <a:solidFill>
                  <a:srgbClr val="152A4A"/>
                </a:solidFill>
                <a:latin typeface="맑은 고딕"/>
              </a:rPr>
              <a:t>(B) 하늘에 나는 새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1 · 11번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현재분사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11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1E2A4A"/>
                </a:solidFill>
                <a:latin typeface="맑은 고딕"/>
              </a:rPr>
              <a:t>다음 빈칸 (A), (B)에 들어갈 말로 가장 적절한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• There is a bridge (A)_______ two towns.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• There is a tunnel (B)_______ to the town.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①  (A) connected   (B) connecting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②  (A) connecting   (B) connected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③  (A) connected   (B) connected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④  (A) connecting   (B) connecting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⑤  (A) connect   (B) connection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②  (A) connecting   (B) connected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(A) 명사와의 관계가 능동이므로 connecting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u="none">
                <a:solidFill>
                  <a:srgbClr val="152A4A"/>
                </a:solidFill>
                <a:latin typeface="맑은 고딕"/>
              </a:rPr>
              <a:t>(B) 명사와의 관계가 수동이므로 connected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1 · 12번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현재분사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12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 u="none">
                <a:solidFill>
                  <a:srgbClr val="1E2A4A"/>
                </a:solidFill>
                <a:latin typeface="맑은 고딕"/>
              </a:rPr>
              <a:t>다음 빈칸 (A), (B)에 들어갈 말로 가장 적절한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• Don't pick the flowers (A)_______ in the garden.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• The girl (B)_______ the flowers in the garden is my friend, Jisun.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①  (A) planting   (B) planted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②  (A) planted   (B) planting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③  (A) planting   (B) planting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④  (A) planted   (B) is planting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⑤  (A) are planting   (B) is planting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②  (A) planted   (B) planting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(A) the flowers는 사람에 의해 심어진 수동의 의미이므로 과거분사 planted가 알맞다.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u="none">
                <a:solidFill>
                  <a:srgbClr val="152A4A"/>
                </a:solidFill>
                <a:latin typeface="맑은 고딕"/>
              </a:rPr>
              <a:t>(B) the girl은 직접 꽃을 심는 능동의 입장이므로 planting이 알맞다.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1 · 13번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현재분사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13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1E2A4A"/>
                </a:solidFill>
                <a:latin typeface="맑은 고딕"/>
              </a:rPr>
              <a:t>다음 빈칸 (A), (B)에 들어갈 말로 가장 적절한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• There are two people (A)_______ for the subway.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• I don't like most of the pictures (B)_______ at the party.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①  (A) waited   (B) take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②  (A) waited   (B) taken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③  (A) waited   (B) took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④  (A) waiting   (B) taken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⑤  (A) waiting   (B) taking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④  (A) waiting   (B) taken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400" b="0" i="0" u="none">
                <a:solidFill>
                  <a:srgbClr val="152A4A"/>
                </a:solidFill>
                <a:latin typeface="맑은 고딕"/>
              </a:rPr>
              <a:t>(A) two people이 지하철을 기다리고 있는 능동의 상황이므로 현재분사 waiting이 알맞다.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(B) the pictures는 사람에 의해 사진이 찍히는 수동의 의미이므로 과거분사 taken이 알맞다.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1 · 14번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현재분사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14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1E2A4A"/>
                </a:solidFill>
                <a:latin typeface="맑은 고딕"/>
              </a:rPr>
              <a:t>다음 빈칸 (A), (B)에 들어갈 말로 가장 적절한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• Yujin likes this novel (A)_______ by Leo Tolstoy.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• Do you know the man (B)_______ at the lake?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①  (A) wrote   (B) look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②  (A) write   (B) looked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③  (A) written   (B) looking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④  (A) to write   (B) to look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⑤  (A) writing   (B) looking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③  (A) written   (B) looking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400" b="0" i="0" u="none">
                <a:solidFill>
                  <a:srgbClr val="152A4A"/>
                </a:solidFill>
                <a:latin typeface="맑은 고딕"/>
              </a:rPr>
              <a:t>(A) this novel은 Leo Tolstoy에 의해서 쓰이는 대상이므로 과거분사 written이 수식할 수 있다.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(B) the man은 호수를 바라보고 있는 능동적인 주체이므로 현재분사 looking이 수식할 수 있다.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1 · 15번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현재분사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15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1E2A4A"/>
                </a:solidFill>
                <a:latin typeface="맑은 고딕"/>
              </a:rPr>
              <a:t>다음 빈칸 (A), (B)에 들어갈 말로 가장 적절한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• The cat (A)________ on the bench is my pet.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•Have you read a book (B)________ by William Shakespeare?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①  (A) slept   (B) to write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②  (A) being slept   (B) written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③  (A) slept   (B) writing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④  (A) sleeping   (B) written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⑤  (A) sleeping   (B) writing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④  (A) sleeping   (B) written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분사와 수식받는 명사 사이의 관계가 능동/진행일 때는 현재분사, 수동/완료일 때는 과거분사를 쓴다.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1 · 16번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현재분사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16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1E2A4A"/>
                </a:solidFill>
                <a:latin typeface="맑은 고딕"/>
              </a:rPr>
              <a:t>다음 대화의 빈칸 ⓐ, ⓑ에 들어갈 말로 가장 적절한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A: Look at the pictures ⓐ_______ by me in the park.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B: Awesome! The kids ⓑ_______ on the bench are very cute.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①  ⓐ take   ⓑ sit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②  ⓐ taking   ⓑ sitting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③  ⓐ taking   ⓑ sat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④  ⓐ taken   ⓑ sit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⑤  ⓐ taken   ⓑ sitting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⑤  ⓐ taken   ⓑ sitting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(A) the pictures는 나에 의해서 찍히는 수동의 대상이므로 과거분사 taken이 알맞다.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u="none">
                <a:solidFill>
                  <a:srgbClr val="152A4A"/>
                </a:solidFill>
                <a:latin typeface="맑은 고딕"/>
              </a:rPr>
              <a:t>(B) the kids는 벤치에 앉아 있는 능동의 상황이므로 sitting이 알맞다.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1 · 17번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현재분사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17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41629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 u="none">
                <a:solidFill>
                  <a:srgbClr val="1E2A4A"/>
                </a:solidFill>
                <a:latin typeface="맑은 고딕"/>
              </a:rPr>
              <a:t>Which pair is suitable for the blanks (A), (B), (C)?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• I threw away the (A)_______ glasses.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• The picture (B)_______ in yellow is my daughter's.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• Mary told me some (C)_______ news.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①  (A) broken   (B) painted   (C) shocking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②  (A) broken   (B) painted   (C) shocked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③  (A) breaking   (B) painted   (C) shocking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④  (A) breaking   (B) painting   (C) shocked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⑤  (A) breaking   (B) painting   (C) shocking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330700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467860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①  (A) broken   (B) painted   (C) shocking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263388"/>
            <a:ext cx="11277295" cy="1411732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100" b="0" i="0" u="none">
                <a:solidFill>
                  <a:srgbClr val="152A4A"/>
                </a:solidFill>
                <a:latin typeface="맑은 고딕"/>
              </a:rPr>
              <a:t>현재분사나 과거분사는 명사를 수식하는 형용사 형태로 쓸 수 있다. 단독으로 명사를 수식할 때는 명사 앞에 오고, 목적어, 보어, 부사(구) 다른 어구와 함께 명사를 수식하는 경우에는 명사 뒤에 온다.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 u="none">
                <a:solidFill>
                  <a:srgbClr val="152A4A"/>
                </a:solidFill>
                <a:latin typeface="맑은 고딕"/>
              </a:rPr>
              <a:t>현재분사는 '능동'의 성격이, 과거분사는 '수동'의 성격을 가지고 있다.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 u="none">
                <a:solidFill>
                  <a:srgbClr val="152A4A"/>
                </a:solidFill>
                <a:latin typeface="맑은 고딕"/>
              </a:rPr>
              <a:t>(A) 깨진 안경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 u="none">
                <a:solidFill>
                  <a:srgbClr val="152A4A"/>
                </a:solidFill>
                <a:latin typeface="맑은 고딕"/>
              </a:rPr>
              <a:t>(B) 노란색으로 그려진 그림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 u="none">
                <a:solidFill>
                  <a:srgbClr val="152A4A"/>
                </a:solidFill>
                <a:latin typeface="맑은 고딕"/>
              </a:rPr>
              <a:t>(C) 충격적인 소식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1 · 18번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현재분사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18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 u="none">
                <a:solidFill>
                  <a:srgbClr val="1E2A4A"/>
                </a:solidFill>
                <a:latin typeface="맑은 고딕"/>
              </a:rPr>
              <a:t>다음 글의 빈칸 (A), (B), (C)에 들어갈 말로 가장 적절한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• The most famous thing in France is the Eiffel Tower (A)_______ in 1889.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• My father is the man (B)_______ a rest under the tree.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• In the movie, she watched ghosts (C)_______ people.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①  (A) building   (B) take   (C) attacking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②  (A) building   (B) taking   (C) attacked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③  (A) built   (B) taking   (C) attack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④  (A) built   (B) taking   (C) attacked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⑤  (A) built   (B) take   (C) attacking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③  (A) built   (B) taking   (C) attack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200" b="0" i="0" u="none">
                <a:solidFill>
                  <a:srgbClr val="152A4A"/>
                </a:solidFill>
                <a:latin typeface="맑은 고딕"/>
              </a:rPr>
              <a:t>현재분사나 과거분사는 명사를 수식하는 형용사 형태로 쓸 수 있다. 단독으로 명사를 수식할 때는 명사 앞에 오고, 목적어, 보어, 부사(구) 다른 어구와 함께 명사를 수식하는 경우에는 명사 뒤에 온다.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u="none">
                <a:solidFill>
                  <a:srgbClr val="152A4A"/>
                </a:solidFill>
                <a:latin typeface="맑은 고딕"/>
              </a:rPr>
              <a:t>현재분사는 '능동'의 성격이, 과거분사는 '수동'의 성격을 가지고 있다.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u="none">
                <a:solidFill>
                  <a:srgbClr val="152A4A"/>
                </a:solidFill>
                <a:latin typeface="맑은 고딕"/>
              </a:rPr>
              <a:t>지각동사(hear, see, taste, smell, feel 등)는 목적격보어자리에 동사원형 또는 현재분사가 온다.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1 · 19번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현재분사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19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 u="none">
                <a:solidFill>
                  <a:srgbClr val="1E2A4A"/>
                </a:solidFill>
                <a:latin typeface="맑은 고딕"/>
              </a:rPr>
              <a:t>다음 글의 빈칸 (A), (B), (C)에 들어갈 말로 가장 적절한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• I have an old book (A)_______ in Chinese.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• The car (B)_______ in the accident was mine.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• There are hundreds of people (C)_______ in the factory.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①  (A) writing   (B) breaking   (C) work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②  (A) writing   (B) breaking   (C) worked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③  (A) written   (B) broken   (C) working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④  (A) written   (B) broken   (C) worked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⑤  (A) written   (B) breaking   (C) working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③  (A) written   (B) broken   (C) working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(A) an old book은 쓰이는 수동의 대상이므로 과거분사의 수식을 받는다.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u="none">
                <a:solidFill>
                  <a:srgbClr val="152A4A"/>
                </a:solidFill>
                <a:latin typeface="맑은 고딕"/>
              </a:rPr>
              <a:t>(B) the car도 고장이 나는 수동의 대상이므로 과거분사의 수식을 받는다.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u="none">
                <a:solidFill>
                  <a:srgbClr val="152A4A"/>
                </a:solidFill>
                <a:latin typeface="맑은 고딕"/>
              </a:rPr>
              <a:t>(C) people이 일을 하고 있는 능동적인 상황이므로 현재분사의 수식을 받는다.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1 · 20번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현재분사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20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 u="none">
                <a:solidFill>
                  <a:srgbClr val="1E2A4A"/>
                </a:solidFill>
                <a:latin typeface="맑은 고딕"/>
              </a:rPr>
              <a:t>다음 글의 빈칸 (A)~(D)에 들어갈 말로 가장 적절한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• Justin was (A)_______ to hear about the accident.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• This book has many (B)_______ stories.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• I bought a (C)_______ car because I didn't have much money.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• Hard (D)_______ eggs are my favorite food.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①  (A) surprised   (B) touching   (C) used   (D) boiled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②  (A) surprised   (B) touched   (C) using   (D) boiled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③  (A) surprising   (B) touched   (C) using   (D) boiled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④  (A) surprising   (B) touching   (C) using   (D) boiling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⑤  (A) surprising   (B) touching   (C) used   (D) boiled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①  (A) surprised   (B) touching   (C) used   (D) boiled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000" b="0" i="0" u="none">
                <a:solidFill>
                  <a:srgbClr val="152A4A"/>
                </a:solidFill>
                <a:latin typeface="맑은 고딕"/>
              </a:rPr>
              <a:t>(A) Justin이 놀라운 감정을 느끼는 것이므로 과거분사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 u="none">
                <a:solidFill>
                  <a:srgbClr val="152A4A"/>
                </a:solidFill>
                <a:latin typeface="맑은 고딕"/>
              </a:rPr>
              <a:t>(B) 이야기들이 감동을 주는 것이므로 현재분사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 u="none">
                <a:solidFill>
                  <a:srgbClr val="152A4A"/>
                </a:solidFill>
                <a:latin typeface="맑은 고딕"/>
              </a:rPr>
              <a:t>(C) 자동차가 이용된 것이므로 과거분사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 u="none">
                <a:solidFill>
                  <a:srgbClr val="152A4A"/>
                </a:solidFill>
                <a:latin typeface="맑은 고딕"/>
              </a:rPr>
              <a:t>(D) 달걀이 삶아진 것이므로 과거분사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 u="none">
                <a:solidFill>
                  <a:srgbClr val="152A4A"/>
                </a:solidFill>
                <a:latin typeface="맑은 고딕"/>
              </a:rPr>
              <a:t>분사와 수식받는 명사의 관계에 따라 현재분사인지 과거분사인지를 구분한다.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1 · 21번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현재분사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21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 u="none">
                <a:solidFill>
                  <a:srgbClr val="1E2A4A"/>
                </a:solidFill>
                <a:latin typeface="맑은 고딕"/>
              </a:rPr>
              <a:t>다음 괄호 (A), (B), (C) 안에서 어법에 맞는 표현으로 가장 적절한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• Peter walked on the (A)(falling / fallen) leaves.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• I think his success is really (B)(surprising / surprised).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• There was a very (C)(interesting / interested) article in the newspaper.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①  (A) falling   (B) surprising   (C) interesting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②  (A) fallen   (B) surprising   (C) interesting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③  (A) falling   (B) surprised   (C) interested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④  (A) fallen   (B) surprised   (C) interested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⑤  (A) falling   (B) surprised   (C) interesting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②  (A) fallen   (B) surprising   (C) interesting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400" b="0" i="0" u="none">
                <a:solidFill>
                  <a:srgbClr val="152A4A"/>
                </a:solidFill>
                <a:latin typeface="맑은 고딕"/>
              </a:rPr>
              <a:t>현재분사나 과거분사는 명사를 수식하는 형용사 형태로 쓸 수 있다. 단독으로 명사를 수식할 때는 명사 앞에 오고, 목적어, 보어, 부사(구) 다른 어구와 함께 명사를 수식하는 경우에는 명사 뒤에 온다.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현재분사는 '능동'의 성격이, 과거분사는 '수동'의 성격을 가지고 있다.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1 · 22번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현재분사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22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9529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1E2A4A"/>
                </a:solidFill>
                <a:latin typeface="맑은 고딕"/>
              </a:rPr>
              <a:t>다음 문장의 밑줄 친 ⓐ~ⓔ를 어법에 맞게 고친  것은?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63980"/>
            <a:ext cx="8214055" cy="30982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• A ship ⓐ</a:t>
            </a:r>
            <a:r>
              <a:rPr sz="1900" b="1" i="0" u="sng">
                <a:solidFill>
                  <a:srgbClr val="C03A2E"/>
                </a:solidFill>
                <a:latin typeface="맑은 고딕"/>
              </a:rPr>
              <a:t>carry</a:t>
            </a:r>
            <a:r>
              <a:rPr sz="1900" b="0" i="0" u="none">
                <a:solidFill>
                  <a:srgbClr val="222222"/>
                </a:solidFill>
                <a:latin typeface="맑은 고딕"/>
              </a:rPr>
              <a:t> a horse into a small island sank during a terrible storm.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• Do you know the man ⓑ</a:t>
            </a:r>
            <a:r>
              <a:rPr sz="1900" b="1" i="0" u="sng">
                <a:solidFill>
                  <a:srgbClr val="C03A2E"/>
                </a:solidFill>
                <a:latin typeface="맑은 고딕"/>
              </a:rPr>
              <a:t>take</a:t>
            </a:r>
            <a:r>
              <a:rPr sz="1900" b="0" i="0" u="none">
                <a:solidFill>
                  <a:srgbClr val="222222"/>
                </a:solidFill>
                <a:latin typeface="맑은 고딕"/>
              </a:rPr>
              <a:t> to the hospital?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• There are three boxes ⓒ</a:t>
            </a:r>
            <a:r>
              <a:rPr sz="1900" b="1" i="0" u="sng">
                <a:solidFill>
                  <a:srgbClr val="C03A2E"/>
                </a:solidFill>
                <a:latin typeface="맑은 고딕"/>
              </a:rPr>
              <a:t>leave</a:t>
            </a:r>
            <a:r>
              <a:rPr sz="1900" b="0" i="0" u="none">
                <a:solidFill>
                  <a:srgbClr val="222222"/>
                </a:solidFill>
                <a:latin typeface="맑은 고딕"/>
              </a:rPr>
              <a:t> on the table.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• I have found my bag ⓓ</a:t>
            </a:r>
            <a:r>
              <a:rPr sz="1900" b="1" i="0" u="sng">
                <a:solidFill>
                  <a:srgbClr val="C03A2E"/>
                </a:solidFill>
                <a:latin typeface="맑은 고딕"/>
              </a:rPr>
              <a:t>steal</a:t>
            </a:r>
            <a:r>
              <a:rPr sz="1900" b="0" i="0" u="none">
                <a:solidFill>
                  <a:srgbClr val="222222"/>
                </a:solidFill>
                <a:latin typeface="맑은 고딕"/>
              </a:rPr>
              <a:t> last week.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• People ⓔ</a:t>
            </a:r>
            <a:r>
              <a:rPr sz="1900" b="1" i="0" u="sng">
                <a:solidFill>
                  <a:srgbClr val="C03A2E"/>
                </a:solidFill>
                <a:latin typeface="맑은 고딕"/>
              </a:rPr>
              <a:t>invite</a:t>
            </a:r>
            <a:r>
              <a:rPr sz="1900" b="0" i="0" u="none">
                <a:solidFill>
                  <a:srgbClr val="222222"/>
                </a:solidFill>
                <a:latin typeface="맑은 고딕"/>
              </a:rPr>
              <a:t> to the party had to wear a suit.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08415" y="1363980"/>
            <a:ext cx="2926080" cy="3098291"/>
          </a:xfrm>
          <a:prstGeom prst="roundRect">
            <a:avLst>
              <a:gd name="adj" fmla="val 6000"/>
            </a:avLst>
          </a:prstGeom>
          <a:solidFill>
            <a:srgbClr val="F2F3F5"/>
          </a:solidFill>
          <a:ln w="15875">
            <a:solidFill>
              <a:srgbClr val="F2F3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① ⓐ - carried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② ⓑ - who was taken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③ ⓒ - leaved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④ ⓓ - stole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⑤ ⓔ - were invited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② ⓑ - who was taken</a:t>
            </a:r>
          </a:p>
        </p:txBody>
      </p:sp>
      <p:sp>
        <p:nvSpPr>
          <p:cNvPr id="11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400" b="0" i="0" u="none">
                <a:solidFill>
                  <a:srgbClr val="152A4A"/>
                </a:solidFill>
                <a:latin typeface="맑은 고딕"/>
              </a:rPr>
              <a:t>① carry는 carrying으로 고쳐야 한다.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③ leave의 과거분사형은 left이다.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④ steal의 과거분사형은 stolen이다.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⑤ 주격 관계대명사를 써서 who were invited로 고쳐야 알맞다.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1 · 23번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현재분사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23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 u="none">
                <a:solidFill>
                  <a:srgbClr val="1E2A4A"/>
                </a:solidFill>
                <a:latin typeface="맑은 고딕"/>
              </a:rPr>
              <a:t>다음 밑줄 친 부분의 어법이 옳은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① 소녀가 자전거를 타고 있는 남자를 소리쳐 불렀다.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→ A girl called out to </a:t>
            </a:r>
            <a:r>
              <a:rPr sz="1600" b="1" i="0" u="sng">
                <a:solidFill>
                  <a:srgbClr val="C03A2E"/>
                </a:solidFill>
                <a:latin typeface="맑은 고딕"/>
              </a:rPr>
              <a:t>the man ride a bike</a:t>
            </a:r>
            <a:r>
              <a:rPr sz="1600" b="0" i="0" u="none">
                <a:solidFill>
                  <a:srgbClr val="222222"/>
                </a:solidFill>
                <a:latin typeface="맑은 고딕"/>
              </a:rPr>
              <a:t>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② 개를 산책시키는 여자가 노인에게 말했다.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→ </a:t>
            </a:r>
            <a:r>
              <a:rPr sz="1600" b="1" i="0" u="sng">
                <a:solidFill>
                  <a:srgbClr val="C03A2E"/>
                </a:solidFill>
                <a:latin typeface="맑은 고딕"/>
              </a:rPr>
              <a:t>The lady walked her dog</a:t>
            </a:r>
            <a:r>
              <a:rPr sz="1600" b="0" i="0" u="none">
                <a:solidFill>
                  <a:srgbClr val="222222"/>
                </a:solidFill>
                <a:latin typeface="맑은 고딕"/>
              </a:rPr>
              <a:t> talked to the old man.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③ 소년이 빨간 모자를 쓰고 있는 소녀에게 공을 던졌다.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→ The boy threw the ball to </a:t>
            </a:r>
            <a:r>
              <a:rPr sz="1600" b="1" i="0" u="sng">
                <a:solidFill>
                  <a:srgbClr val="C03A2E"/>
                </a:solidFill>
                <a:latin typeface="맑은 고딕"/>
              </a:rPr>
              <a:t>the girl worn a red cap</a:t>
            </a:r>
            <a:r>
              <a:rPr sz="1600" b="0" i="0" u="none">
                <a:solidFill>
                  <a:srgbClr val="222222"/>
                </a:solidFill>
                <a:latin typeface="맑은 고딕"/>
              </a:rPr>
              <a:t>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④ 오리들을 따라가는 남자는 몇 송이 꽃을 갖고 있다.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→ </a:t>
            </a:r>
            <a:r>
              <a:rPr sz="1600" b="1" i="0" u="sng">
                <a:solidFill>
                  <a:srgbClr val="C03A2E"/>
                </a:solidFill>
                <a:latin typeface="맑은 고딕"/>
              </a:rPr>
              <a:t>The man following the ducks</a:t>
            </a:r>
            <a:r>
              <a:rPr sz="1600" b="0" i="0" u="none">
                <a:solidFill>
                  <a:srgbClr val="222222"/>
                </a:solidFill>
                <a:latin typeface="맑은 고딕"/>
              </a:rPr>
              <a:t> has some flowers.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⑤ 소녀는 공원에서 산책하는 소년을 보았다.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→ The girl saw </a:t>
            </a:r>
            <a:r>
              <a:rPr sz="1600" b="1" i="0" u="sng">
                <a:solidFill>
                  <a:srgbClr val="C03A2E"/>
                </a:solidFill>
                <a:latin typeface="맑은 고딕"/>
              </a:rPr>
              <a:t>the boy take a walk</a:t>
            </a:r>
            <a:r>
              <a:rPr sz="1600" b="0" i="0" u="none">
                <a:solidFill>
                  <a:srgbClr val="222222"/>
                </a:solidFill>
                <a:latin typeface="맑은 고딕"/>
              </a:rPr>
              <a:t> in the park.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 u="none">
                <a:solidFill>
                  <a:srgbClr val="5A4200"/>
                </a:solidFill>
                <a:latin typeface="맑은 고딕"/>
              </a:rPr>
              <a:t>정답:  ④ 오리들을 따라가는 남자는 몇 송이 꽃을 갖고 있다.  → </a:t>
            </a:r>
            <a:r>
              <a:rPr sz="1600" b="1" i="0" u="sng">
                <a:solidFill>
                  <a:srgbClr val="C03A2E"/>
                </a:solidFill>
                <a:latin typeface="맑은 고딕"/>
              </a:rPr>
              <a:t>The man following the ducks</a:t>
            </a:r>
            <a:r>
              <a:rPr sz="1600" b="1" i="0" u="none">
                <a:solidFill>
                  <a:srgbClr val="5A4200"/>
                </a:solidFill>
                <a:latin typeface="맑은 고딕"/>
              </a:rPr>
              <a:t> has some flowers.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400" b="0" i="0" u="none">
                <a:solidFill>
                  <a:srgbClr val="152A4A"/>
                </a:solidFill>
                <a:latin typeface="맑은 고딕"/>
              </a:rPr>
              <a:t>① → the man riding a bike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② → The lady walking her dog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③ → the girl wearing a red cap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⑤ → the boy taking a walk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1 · 24번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현재분사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24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 u="none">
                <a:solidFill>
                  <a:srgbClr val="1E2A4A"/>
                </a:solidFill>
                <a:latin typeface="맑은 고딕"/>
              </a:rPr>
              <a:t>다음 두 문장을 한 문장으로 만들고자 할 때, 적절하지 않은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① Harry drew a cat. It was eating a fish.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      → Harry drew a cat eating a fish.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② I know the man. He is wearing a blue jacket.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      → I know the man wearing a blue jacket.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③ I don't know the boy. He's coming toward us.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      → I don't know the boy coming toward us.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④ She couldn't avoid the ball. It was flying toward her.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      → She couldn't avoid the ball flying toward her.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⑤ That woman won a gold medal in the Olympics.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      She is swimming in the sea.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      → That woman won a gold medal in the Olympics swimming in the sea.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 u="none">
                <a:solidFill>
                  <a:srgbClr val="5A4200"/>
                </a:solidFill>
                <a:latin typeface="맑은 고딕"/>
              </a:rPr>
              <a:t>정답:  ⑤ That woman won a gold medal in the Olympics.  She is swimming in the sea.  → That woman won a gold medal in the Olympics swimming in the sea.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→ That woman swimming in the sea won a gold medal in the Olympics.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1 · 25번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현재분사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25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 u="none">
                <a:solidFill>
                  <a:srgbClr val="1E2A4A"/>
                </a:solidFill>
                <a:latin typeface="맑은 고딕"/>
              </a:rPr>
              <a:t>다음 괄호 (A), (B), (C) 안에 주어진 동사의 형태가 알맞은 것끼리 짝지어진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• I love spaghetti (A)(cook) by my mom.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• I heard the phone (B)(ring).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• The boy (C)(sit) on the bench is my nephew.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①  (A) cooking   (B) ringing   (C) sitting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②  (A) cooked   (B) to ring   (C) sit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③  (A) cooking   (B) ringing   (C) to sit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④  (A) cooked   (B) ringing   (C) sitting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⑤  (A) cooking   (B) to ring   (C) sat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④  (A) cooked   (B) ringing   (C) sitting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200" b="0" i="0" u="none">
                <a:solidFill>
                  <a:srgbClr val="152A4A"/>
                </a:solidFill>
                <a:latin typeface="맑은 고딕"/>
              </a:rPr>
              <a:t>현재분사나 과거분사는 명사를 수식하는 형용사 형태로 쓸 수 있다. 단독으로 명사를 수식할 때는 명사 앞에 오고, 목적어, 보어, 부사(구) 다른 어구와 함께 명사를 수식하는 경우에는 명사 뒤에 온다.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u="none">
                <a:solidFill>
                  <a:srgbClr val="152A4A"/>
                </a:solidFill>
                <a:latin typeface="맑은 고딕"/>
              </a:rPr>
              <a:t>현재분사는 '능동'의 성격이, 과거분사는 '수동'의 성격을 가지고 있다.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u="none">
                <a:solidFill>
                  <a:srgbClr val="152A4A"/>
                </a:solidFill>
                <a:latin typeface="맑은 고딕"/>
              </a:rPr>
              <a:t>지각동사(hear, see, taste, smell, feel 등)는 목적격보어자리에 동사원형 또는 현재분사가 온다.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1 · 26번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현재분사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26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 u="none">
                <a:solidFill>
                  <a:srgbClr val="1E2A4A"/>
                </a:solidFill>
                <a:latin typeface="맑은 고딕"/>
              </a:rPr>
              <a:t>Which is appropriate for (A)~(E)?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• The students found some (A)(hide) treasure.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• There was a coat (B)(hang) on the wall.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• This is the theater (C)(build) in 1940.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• Look at the cute kids (D)(dance) on the stage.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• My grandparents have a beautiful house (E)(surround) by mountains.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①  (A) hiding   (B) hanged   (C) built   (D) danced   (E) surrounding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②  (A) hiding   (B) hanging   (C) building   (D) dancing   (E) surrounded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③  (A) hidden   (B) hanging   (C) building   (D) danced   (E) surrounding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④  (A) hidden   (B) hanging   (C) built   (D) dancing   (E) surrounded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⑤  (A) hidden   (B) hanged   (C) built   (D) dancing   (E) surrounded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 u="none">
                <a:solidFill>
                  <a:srgbClr val="5A4200"/>
                </a:solidFill>
                <a:latin typeface="맑은 고딕"/>
              </a:rPr>
              <a:t>정답:  ④  (A) hidden   (B) hanging   (C) built   (D) dancing   (E) surrounded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000" b="0" i="0" u="none">
                <a:solidFill>
                  <a:srgbClr val="152A4A"/>
                </a:solidFill>
                <a:latin typeface="맑은 고딕"/>
              </a:rPr>
              <a:t>(A) 보물은 숨겨져 있는 수동의 대상이므로 과거분사 hidden으로 쓴다.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 u="none">
                <a:solidFill>
                  <a:srgbClr val="152A4A"/>
                </a:solidFill>
                <a:latin typeface="맑은 고딕"/>
              </a:rPr>
              <a:t>(B) hang은 자동사로 쓰이기 때문에 현재분사 hanging으로 써야 한다.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 u="none">
                <a:solidFill>
                  <a:srgbClr val="152A4A"/>
                </a:solidFill>
                <a:latin typeface="맑은 고딕"/>
              </a:rPr>
              <a:t>(C) 극장은 지어지는 수동의 대상이므로 과거분사 built로 써야 한다.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 u="none">
                <a:solidFill>
                  <a:srgbClr val="152A4A"/>
                </a:solidFill>
                <a:latin typeface="맑은 고딕"/>
              </a:rPr>
              <a:t>(D) 아이들이 춤을 추고 있기 때문에 현재분사 dancing으로 써야 한다.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 u="none">
                <a:solidFill>
                  <a:srgbClr val="152A4A"/>
                </a:solidFill>
                <a:latin typeface="맑은 고딕"/>
              </a:rPr>
              <a:t>(E) 집이 산에 의해 둘러싸여 있는 수동의 대상이므로 과거분사 surrounded로 써야 한다.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1 · 27번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현재분사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27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1528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 u="none">
                <a:solidFill>
                  <a:srgbClr val="1E2A4A"/>
                </a:solidFill>
                <a:latin typeface="맑은 고딕"/>
              </a:rPr>
              <a:t>다음 괄호 안에 주어진 동사의 형태가 알맞은 것끼리 짝지어진 것은?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3970"/>
            <a:ext cx="6705295" cy="2648965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• Some of the people (invite) to the party didn't come.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• He put his (sleep) baby down gently.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• This is the house (belong) to Mr. Kent.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• I read a short story (write) by O. Henry.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• My father sells the flowers (plant) in the garden.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99655" y="1283970"/>
            <a:ext cx="4434840" cy="2648965"/>
          </a:xfrm>
          <a:prstGeom prst="roundRect">
            <a:avLst>
              <a:gd name="adj" fmla="val 6000"/>
            </a:avLst>
          </a:prstGeom>
          <a:solidFill>
            <a:srgbClr val="F2F3F5"/>
          </a:solidFill>
          <a:ln w="15875">
            <a:solidFill>
              <a:srgbClr val="F2F3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① invited, sleeping, belonging, written, planted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② invited, slept, belonged, written, planting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③ inviting, sleep, to belong, writing, plant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④ to invite, slept, belonging, write, to plant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⑤ invited, sleeping, to belong, to write, planted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3978655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veal_1_en"/>
          <p:cNvSpPr/>
          <p:nvPr/>
        </p:nvSpPr>
        <p:spPr>
          <a:xfrm>
            <a:off x="457200" y="4115815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① invited, sleeping, belonging, written, planted</a:t>
            </a:r>
          </a:p>
        </p:txBody>
      </p:sp>
      <p:sp>
        <p:nvSpPr>
          <p:cNvPr id="11" name="reveal_2_en"/>
          <p:cNvSpPr/>
          <p:nvPr/>
        </p:nvSpPr>
        <p:spPr>
          <a:xfrm>
            <a:off x="457200" y="4911343"/>
            <a:ext cx="11277295" cy="1763776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100" b="0" i="0" u="none">
                <a:solidFill>
                  <a:srgbClr val="152A4A"/>
                </a:solidFill>
                <a:latin typeface="맑은 고딕"/>
              </a:rPr>
              <a:t>• Some of the people (invite) to the party didn't come. → people이 파티에 초대된 수동의 대상이므로 과거분사 invited의 수식을 받는다.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 u="none">
                <a:solidFill>
                  <a:srgbClr val="152A4A"/>
                </a:solidFill>
                <a:latin typeface="맑은 고딕"/>
              </a:rPr>
              <a:t>• He put his (sleep) baby down gently. → baby가 잠을 자는 주체이므로 현재분사 sleeping이 알맞다.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 u="none">
                <a:solidFill>
                  <a:srgbClr val="152A4A"/>
                </a:solidFill>
                <a:latin typeface="맑은 고딕"/>
              </a:rPr>
              <a:t>• This is the house (belong) to Mr. Kent. → belong은 자동사이므로 현재분사 형태를 취한다.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 u="none">
                <a:solidFill>
                  <a:srgbClr val="152A4A"/>
                </a:solidFill>
                <a:latin typeface="맑은 고딕"/>
              </a:rPr>
              <a:t>• I read a short story (write) by O. Henry. → a short story가 오 헨리에 의해 쓰인 수동의 대상이므로 과거분사 written의 수식을 받는다.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 u="none">
                <a:solidFill>
                  <a:srgbClr val="152A4A"/>
                </a:solidFill>
                <a:latin typeface="맑은 고딕"/>
              </a:rPr>
              <a:t>• My father sells the flowers (plant) in the garden. → flowers가 정원에서 자라게 되는 수동의 대상이므로 과거분사 planted의 수식을 받는다.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1 · 28번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현재분사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28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괄호 안의 단어를 분사(participle)로 바꾸어 빈칸에 넣을 때, 분사의 종류가 나머지 셋과 다른 두 개를 고르면?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You must make yourself _______ in the business world. (respect)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She saw smoke _______ out of the building. (come)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She sat on the bench _______ a song. (sing)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Jane left me _______ while she saw the doctor. (wait)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She started helping _______ kids as a volunteer. (abuse)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①, ⑤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①번과 ⑤번 선택지에는 과거분사 형태가 들어가고, 나머지 선택지에는 모두 현재분사 형태가 들어간다.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1 · 29번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현재분사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29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밑줄 친 부분의 쓰임이 나머지 넷과 다른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Harry drew a cat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eating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a fish.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Look at that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crying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baby.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He is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playing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the guitar.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Collecting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stamps is my hobby.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 know many American students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learning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Korean.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④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Collecting</a:t>
            </a:r>
            <a:r>
              <a:rPr sz="2000" b="1" i="0" u="none">
                <a:solidFill>
                  <a:srgbClr val="5A4200"/>
                </a:solidFill>
                <a:latin typeface="맑은 고딕"/>
              </a:rPr>
              <a:t> stamps is my hobby.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동명사, 나머지는 현재분사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1 · 30번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현재분사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30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밑줄 친 부분의 쓰임이 나머지 넷과 다른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 heard the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shocking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news from him.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She enjoyed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playing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the violin at the concert.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Cover this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sleeping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child with your coat.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They saw a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singing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bird on the tree.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The boy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wearing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a blue hat is Ji-hun.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② She enjoyed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playing</a:t>
            </a:r>
            <a:r>
              <a:rPr sz="2000" b="1" i="0" u="none">
                <a:solidFill>
                  <a:srgbClr val="5A4200"/>
                </a:solidFill>
                <a:latin typeface="맑은 고딕"/>
              </a:rPr>
              <a:t> the violin at the concert.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동명사, 나머지는 현재분사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1 · 31번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현재분사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31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밑줄 친 부분의 쓰임이 나머지 넷과 다른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I'm afraid of dogs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barking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at people.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She wanted a doll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wearing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a red dress.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Look at the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smiling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baby. She is so cute.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The man was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cooking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dinner for his wife.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Yumi's hobby is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taking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pictures of people.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⑤ Yumi's hobby is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taking</a:t>
            </a:r>
            <a:r>
              <a:rPr sz="2000" b="1" i="0" u="none">
                <a:solidFill>
                  <a:srgbClr val="5A4200"/>
                </a:solidFill>
                <a:latin typeface="맑은 고딕"/>
              </a:rPr>
              <a:t> pictures of people.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동명사, 나머지는 현재분사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1 · 32번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현재분사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32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밑줄 친 부분의 쓰임이 나머지 넷과 다른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 saw a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dancing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bear in the zoo.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A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sleeping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baby is like an angel.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He tried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opening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the bottle with a spoon.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The girl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listening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to music is Ann.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The man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sitting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on the bench is my father.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③ He tried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opening</a:t>
            </a:r>
            <a:r>
              <a:rPr sz="2000" b="1" i="0" u="none">
                <a:solidFill>
                  <a:srgbClr val="5A4200"/>
                </a:solidFill>
                <a:latin typeface="맑은 고딕"/>
              </a:rPr>
              <a:t> the bottle with a spoon.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동명사, 나머지는 현재분사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1 · 33번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현재분사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33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밑줄 친 부분의 쓰임이 나머지 넷과 다른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These are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non-smoking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seats.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Her job is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designing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baby clothes.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Please meet me at the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waiting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room.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 burned my finger with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boiling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water.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Learning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a foreign language is very fun.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④ I burned my finger with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boiling</a:t>
            </a:r>
            <a:r>
              <a:rPr sz="2000" b="1" i="0" u="none">
                <a:solidFill>
                  <a:srgbClr val="5A4200"/>
                </a:solidFill>
                <a:latin typeface="맑은 고딕"/>
              </a:rPr>
              <a:t> water.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현재분사, 나머지는 동명사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1 · 34번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현재분사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34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밑줄 친 부분의 쓰임이 나머지 넷과 다른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His job is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teaching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English.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 saw the birds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flying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in the sky.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My sister is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singing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on the stage.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She looks like a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dancing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machine.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The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sleeping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baby on the bed is very cute.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① His job is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teaching</a:t>
            </a:r>
            <a:r>
              <a:rPr sz="2000" b="1" i="0" u="none">
                <a:solidFill>
                  <a:srgbClr val="5A4200"/>
                </a:solidFill>
                <a:latin typeface="맑은 고딕"/>
              </a:rPr>
              <a:t> English.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동명사, 나머지는 현재분사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1 · 35번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현재분사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35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밑줄 친 부분의 쓰임이 나머지 넷과 다른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The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dancing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girl looks so cute.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Do you know the boy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smiling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at you?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I'm very proud of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being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her son.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This novel is really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amazing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A ball boy is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collecting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the balls on the ground.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③ I'm very proud of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being</a:t>
            </a:r>
            <a:r>
              <a:rPr sz="2000" b="1" i="0" u="none">
                <a:solidFill>
                  <a:srgbClr val="5A4200"/>
                </a:solidFill>
                <a:latin typeface="맑은 고딕"/>
              </a:rPr>
              <a:t> her son.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동명사, 나머지는 현재분사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1 · 36번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현재분사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36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밑줄 친 부분의 쓰임이 나머지 넷과 다른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Exercising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every day is good for health.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The girl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holding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a book is Mina.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The boy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wearing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glasses is Ann's brother.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There is a dog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sleeping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by the bench.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There is a man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lying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on the sofa.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①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Exercising</a:t>
            </a:r>
            <a:r>
              <a:rPr sz="2000" b="1" i="0" u="none">
                <a:solidFill>
                  <a:srgbClr val="5A4200"/>
                </a:solidFill>
                <a:latin typeface="맑은 고딕"/>
              </a:rPr>
              <a:t> every day is good for health.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동명사, 나머지는 현재분사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1 · 37번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현재분사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37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511302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밑줄 친 부분의 쓰임이 같은 것끼리 짝지어진 것은?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9982"/>
            <a:ext cx="8214055" cy="308228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ⓐ The boy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crying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over there is my brother.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ⓑ We should wait for the train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leaving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at 8:00.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ⓒ I need to buy a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sleeping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bag for camping.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ⓓ Students are supposed to be in the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waiting 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room first.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ⓔ My uncle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living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in New York is busy making a lot of money in all of his businesses.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08415" y="1379982"/>
            <a:ext cx="2926080" cy="3082289"/>
          </a:xfrm>
          <a:prstGeom prst="roundRect">
            <a:avLst>
              <a:gd name="adj" fmla="val 6000"/>
            </a:avLst>
          </a:prstGeom>
          <a:solidFill>
            <a:srgbClr val="F2F3F5"/>
          </a:solidFill>
          <a:ln w="15875">
            <a:solidFill>
              <a:srgbClr val="F2F3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ⓐ, ⓒ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ⓑ, ⓒ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ⓑ, ⓒ, ⓓ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ⓐ, ⓑ, ⓔ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ⓓ, ⓔ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④ ⓐ, ⓑ, ⓔ</a:t>
            </a:r>
          </a:p>
        </p:txBody>
      </p:sp>
      <p:sp>
        <p:nvSpPr>
          <p:cNvPr id="11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ⓐ, ⓑ, ⓔ 현재분사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u="none">
                <a:solidFill>
                  <a:srgbClr val="152A4A"/>
                </a:solidFill>
                <a:latin typeface="맑은 고딕"/>
              </a:rPr>
              <a:t>ⓒ, ⓓ 동명사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1 · 38번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현재분사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38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밑줄 친 부분의 쓰임이 &lt;보기&gt;와 같은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 Where is your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sleeping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bag?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The male fox began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pushing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hard.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The dog was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lying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on his bed.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The cat threw it to the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waiting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dog.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They've been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preparing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for the project since then.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An elephant was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freeing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himself from a trap.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① The male fox began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pushing</a:t>
            </a:r>
            <a:r>
              <a:rPr sz="2000" b="1" i="0" u="none">
                <a:solidFill>
                  <a:srgbClr val="5A4200"/>
                </a:solidFill>
                <a:latin typeface="맑은 고딕"/>
              </a:rPr>
              <a:t> hard.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동명사, 나머지는 현재분사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1 · 39번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현재분사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39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밑줄 친 부분의 쓰임이 &lt;보기&gt;와 같은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 We saw a big eagle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flying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above us.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Learning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English is very important.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His wish is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traveling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around the world.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 hate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speaking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in front of other people.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A police officer is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guarding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the entrance.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What is your secret for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winning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the contest?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④ A police officer is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guarding</a:t>
            </a:r>
            <a:r>
              <a:rPr sz="2000" b="1" i="0" u="none">
                <a:solidFill>
                  <a:srgbClr val="5A4200"/>
                </a:solidFill>
                <a:latin typeface="맑은 고딕"/>
              </a:rPr>
              <a:t> the entrance.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현재분사, 나머지는 동명사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1 · 40번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현재분사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40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밑줄 친 부분의 쓰임이 &lt;보기&gt;와 같은 것은? (정답 2개)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 The boys are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making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a model airplane.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Drinking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coffee will help you stay awake.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 heard someone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knocking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on the door.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His hobby is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playing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ice hockey.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Who is the girl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wearing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the blue jacket?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She enjoys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jogging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every morning.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 u="none">
                <a:solidFill>
                  <a:srgbClr val="5A4200"/>
                </a:solidFill>
                <a:latin typeface="맑은 고딕"/>
              </a:rPr>
              <a:t>정답:  ②, ④   (② I heard someone </a:t>
            </a:r>
            <a:r>
              <a:rPr sz="1300" b="1" i="0" u="sng">
                <a:solidFill>
                  <a:srgbClr val="C03A2E"/>
                </a:solidFill>
                <a:latin typeface="맑은 고딕"/>
              </a:rPr>
              <a:t>knocking</a:t>
            </a:r>
            <a:r>
              <a:rPr sz="1300" b="1" i="0" u="none">
                <a:solidFill>
                  <a:srgbClr val="5A4200"/>
                </a:solidFill>
                <a:latin typeface="맑은 고딕"/>
              </a:rPr>
              <a:t> on the door.  /  ④ Who is the girl </a:t>
            </a:r>
            <a:r>
              <a:rPr sz="1300" b="1" i="0" u="sng">
                <a:solidFill>
                  <a:srgbClr val="C03A2E"/>
                </a:solidFill>
                <a:latin typeface="맑은 고딕"/>
              </a:rPr>
              <a:t>wearing</a:t>
            </a:r>
            <a:r>
              <a:rPr sz="1300" b="1" i="0" u="none">
                <a:solidFill>
                  <a:srgbClr val="5A4200"/>
                </a:solidFill>
                <a:latin typeface="맑은 고딕"/>
              </a:rPr>
              <a:t> the blue jacket?)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현재분사, 나머지는 동명사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1 · 41번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현재분사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41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밑줄 친 부분의 쓰임이 &lt;보기&gt;와 다른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 Look at the dog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running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toward him.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Reading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a book is a good hobby.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Julia saw a boy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walking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down the street.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Jessica kept her boyfriend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waiting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for three hours.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Do you know the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shouting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man over there?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The soccer game was really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exciting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①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Reading</a:t>
            </a:r>
            <a:r>
              <a:rPr sz="2000" b="1" i="0" u="none">
                <a:solidFill>
                  <a:srgbClr val="5A4200"/>
                </a:solidFill>
                <a:latin typeface="맑은 고딕"/>
              </a:rPr>
              <a:t> a book is a good hobby.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동명사, 나머지는 현재분사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1 · 42번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현재분사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42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밑줄 친 부분의 쓰임이 &lt;보기&gt;와 다른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 All the actors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singing and dancing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make the movie fun to see.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He was in his room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studying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math.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We saw a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running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dog pass us.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A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rolling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stone gathers no moss.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The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sleeping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baby is my nephew.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There is a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smoking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room in the coffee shop.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⑤ There is a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smoking</a:t>
            </a:r>
            <a:r>
              <a:rPr sz="2000" b="1" i="0" u="none">
                <a:solidFill>
                  <a:srgbClr val="5A4200"/>
                </a:solidFill>
                <a:latin typeface="맑은 고딕"/>
              </a:rPr>
              <a:t> room in the coffee shop.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동명사, 나머지는 현재분사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1 · 43번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현재분사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43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밑줄 친 부분의 쓰임이 나머지와 다른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A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sleeping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child is always cute.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Reading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in bed is bad for your eyes.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 heard someone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calling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my name.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He is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writing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a letter.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My job is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boring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②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Reading</a:t>
            </a:r>
            <a:r>
              <a:rPr sz="2000" b="1" i="0" u="none">
                <a:solidFill>
                  <a:srgbClr val="5A4200"/>
                </a:solidFill>
                <a:latin typeface="맑은 고딕"/>
              </a:rPr>
              <a:t> in bed is bad for your eyes.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동명사, 나머지는 현재분사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1 · 44번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현재분사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44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밑줄 친 부분의 쓰임이 &lt;보기&gt;와 다른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 She managed to escape from the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burning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car.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Who is the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crying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baby?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 saw him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crossing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the street.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John sat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reading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the magazine.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We slept in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sleeping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bags during the vacation.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Jenny was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playing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the piano when I went to see her.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④ We slept in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sleeping</a:t>
            </a:r>
            <a:r>
              <a:rPr sz="2000" b="1" i="0" u="none">
                <a:solidFill>
                  <a:srgbClr val="5A4200"/>
                </a:solidFill>
                <a:latin typeface="맑은 고딕"/>
              </a:rPr>
              <a:t> bags during the vacation.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동명사, 나머지는 현재분사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1 · 45번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현재분사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45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밑줄 친 부분의 쓰임이 &lt;보기&gt;와 다른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 The woman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drawing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a picture in the park is my sister.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The boy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reading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a book is my son.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Taking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a walk is good for your health.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There are two girls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studying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in my class.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The girl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asking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for directions is new to this town.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The man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painting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a picture wants to be a painter.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②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Taking</a:t>
            </a:r>
            <a:r>
              <a:rPr sz="2000" b="1" i="0" u="none">
                <a:solidFill>
                  <a:srgbClr val="5A4200"/>
                </a:solidFill>
                <a:latin typeface="맑은 고딕"/>
              </a:rPr>
              <a:t> a walk is good for your health.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동명사, 나머지는 현재분사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1 · 46번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현재분사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46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밑줄 친 부분 중 어법상 옳은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He bought a car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making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in Korea.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The story has a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surprised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ending.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It was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pleased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to get good grades.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The news about them was so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shocking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Do you know the boy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danced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in the room?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④ The news about them was so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shocking</a:t>
            </a:r>
            <a:r>
              <a:rPr sz="2000" b="1" i="0" u="none">
                <a:solidFill>
                  <a:srgbClr val="5A4200"/>
                </a:solidFill>
                <a:latin typeface="맑은 고딕"/>
              </a:rPr>
              <a:t>.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400" b="0" i="0" u="none">
                <a:solidFill>
                  <a:srgbClr val="152A4A"/>
                </a:solidFill>
                <a:latin typeface="맑은 고딕"/>
              </a:rPr>
              <a:t>① making → made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② surprised → surprising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③ pleased → pleasing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⑤ danced → dancing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1 · 47번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현재분사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47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어법상 어색한 문장을 모두 고르면?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Tom is happy with the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used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car he bought.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Today is the most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excited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day of my life.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Amy and Tim are stuck behind a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locked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door.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Jessica collects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fallen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leaves every autumn.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 think this book has lots of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touched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stories.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 u="none">
                <a:solidFill>
                  <a:srgbClr val="5A4200"/>
                </a:solidFill>
                <a:latin typeface="맑은 고딕"/>
              </a:rPr>
              <a:t>정답:  ②, ⑤   (② Today is the most </a:t>
            </a:r>
            <a:r>
              <a:rPr sz="1300" b="1" i="0" u="sng">
                <a:solidFill>
                  <a:srgbClr val="C03A2E"/>
                </a:solidFill>
                <a:latin typeface="맑은 고딕"/>
              </a:rPr>
              <a:t>excited</a:t>
            </a:r>
            <a:r>
              <a:rPr sz="1300" b="1" i="0" u="none">
                <a:solidFill>
                  <a:srgbClr val="5A4200"/>
                </a:solidFill>
                <a:latin typeface="맑은 고딕"/>
              </a:rPr>
              <a:t> day of my life.  /  ⑤ I think this book has lots of </a:t>
            </a:r>
            <a:r>
              <a:rPr sz="1300" b="1" i="0" u="sng">
                <a:solidFill>
                  <a:srgbClr val="C03A2E"/>
                </a:solidFill>
                <a:latin typeface="맑은 고딕"/>
              </a:rPr>
              <a:t>touched</a:t>
            </a:r>
            <a:r>
              <a:rPr sz="1300" b="1" i="0" u="none">
                <a:solidFill>
                  <a:srgbClr val="5A4200"/>
                </a:solidFill>
                <a:latin typeface="맑은 고딕"/>
              </a:rPr>
              <a:t> stories.)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② excited → exciting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u="none">
                <a:solidFill>
                  <a:srgbClr val="152A4A"/>
                </a:solidFill>
                <a:latin typeface="맑은 고딕"/>
              </a:rPr>
              <a:t>⑤ touched → touching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1 · 48번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현재분사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48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밑줄 친 부분 중 어법상 어색한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The game must be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exciting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My brother looks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bored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with the movie.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This is one of the most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interesting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books.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 was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excited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when I arrived in New York.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It was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surprised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to see their great friendship.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⑤ It was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surprised</a:t>
            </a:r>
            <a:r>
              <a:rPr sz="2000" b="1" i="0" u="none">
                <a:solidFill>
                  <a:srgbClr val="5A4200"/>
                </a:solidFill>
                <a:latin typeface="맑은 고딕"/>
              </a:rPr>
              <a:t> to see their great friendship.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surprised → surprising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1 · 49번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현재분사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49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밑줄 친 부분 중 어법상 옳은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Ann found a key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hiding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under the desk.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The baby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crying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all morning makes me crazy.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Mr. Lee's accident was quite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surprised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news to me.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 bought a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using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car because I didn't have much money.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There was a very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interested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article in the newspaper.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② The baby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crying</a:t>
            </a:r>
            <a:r>
              <a:rPr sz="2000" b="1" i="0" u="none">
                <a:solidFill>
                  <a:srgbClr val="5A4200"/>
                </a:solidFill>
                <a:latin typeface="맑은 고딕"/>
              </a:rPr>
              <a:t> all morning makes me crazy.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400" b="0" i="0" u="none">
                <a:solidFill>
                  <a:srgbClr val="152A4A"/>
                </a:solidFill>
                <a:latin typeface="맑은 고딕"/>
              </a:rPr>
              <a:t>① hiding → hidden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③ surprised → surprising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④ using → used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⑤ interested → interesting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1 · 50번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현재분사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50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밑줄 친 부분 중 어법상 어색한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 saw the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limping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man.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He was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sitting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by this rock.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Look at the stars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shining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in the sky.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The car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parked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outside is his.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 like the song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singing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by Maroon 5.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⑤ I like the song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singing</a:t>
            </a:r>
            <a:r>
              <a:rPr sz="2000" b="1" i="0" u="none">
                <a:solidFill>
                  <a:srgbClr val="5A4200"/>
                </a:solidFill>
                <a:latin typeface="맑은 고딕"/>
              </a:rPr>
              <a:t> by Maroon 5.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the song은 마룬 5에 의해 불리는 수동의 대상이므로 singing은 과거분사 sung으로 고친다.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1 · 51번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현재분사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51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밑줄 친 부분 중 어법상 어색한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The man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standing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beside the tree is my uncle.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Look at the dog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swimming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in the sea.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Read the book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written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in English.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 bought a mobile phone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made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in Korea.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 found the cat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cried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on the desk.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⑤ I found the cat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cried</a:t>
            </a:r>
            <a:r>
              <a:rPr sz="2000" b="1" i="0" u="none">
                <a:solidFill>
                  <a:srgbClr val="5A4200"/>
                </a:solidFill>
                <a:latin typeface="맑은 고딕"/>
              </a:rPr>
              <a:t> on the desk.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cried는 crying으로 고쳐야 한다.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1 · 52번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현재분사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52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밑줄 친 부분 중 어법상 옳은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She is talking with a boy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sitting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on the bench.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There is a glass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filling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with orange juice.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 want to see the photo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taking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at the park.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My father is reading a newspaper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writing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in English.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 heard my name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calling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far behind the building.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① She is talking with a boy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sitting</a:t>
            </a:r>
            <a:r>
              <a:rPr sz="2000" b="1" i="0" u="none">
                <a:solidFill>
                  <a:srgbClr val="5A4200"/>
                </a:solidFill>
                <a:latin typeface="맑은 고딕"/>
              </a:rPr>
              <a:t> on the bench.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400" b="0" i="0" u="none">
                <a:solidFill>
                  <a:srgbClr val="152A4A"/>
                </a:solidFill>
                <a:latin typeface="맑은 고딕"/>
              </a:rPr>
              <a:t>② filling은 filled로 고쳐야 한다.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③ 사진은 찍히는 수동의 대상이므로 taking은 taken으로 고쳐야 한다.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④ 신문이 쓰이는 수동의 대상이므로 writing은 written으로 고쳐야 한다.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⑤ 이름이 불리는 수동의 대상이므로 calling은 called로 고쳐야 한다.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1 · 53번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현재분사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53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밑줄 친 부분 중 어법상 어색한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Be careful with the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boiling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water.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What is the language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speaking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in Mexico?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The boy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playing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basketball is my brother.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Look at the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sleeping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baby. He's so cute!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These are the pictures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painted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by Picasso.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② What is the language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speaking</a:t>
            </a:r>
            <a:r>
              <a:rPr sz="2000" b="1" i="0" u="none">
                <a:solidFill>
                  <a:srgbClr val="5A4200"/>
                </a:solidFill>
                <a:latin typeface="맑은 고딕"/>
              </a:rPr>
              <a:t> in Mexico?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→ spoken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1 · 54번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현재분사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54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밑줄 친 부분 중 어법상 옳은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The road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calling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“the old road” is now blocked.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Look at that girl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wore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a red skirt.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There was a coat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hanging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on the wall.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This is an old picture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taking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20 years ago.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He lost my book, Hamlet,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writing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by William Shakespeare.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③ There was a coat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hanging</a:t>
            </a:r>
            <a:r>
              <a:rPr sz="2000" b="1" i="0" u="none">
                <a:solidFill>
                  <a:srgbClr val="5A4200"/>
                </a:solidFill>
                <a:latin typeface="맑은 고딕"/>
              </a:rPr>
              <a:t> on the wall.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400" b="0" i="0" u="none">
                <a:solidFill>
                  <a:srgbClr val="152A4A"/>
                </a:solidFill>
                <a:latin typeface="맑은 고딕"/>
              </a:rPr>
              <a:t>① calling은 called로 고쳐야 한다.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② wore는 wearing으로 고쳐야 한다.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④ 사진은 찍히는 수동의 대상이므로 taking은 taken으로 고쳐야 한다.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⑤ 책은 쓰이는 수동의 대상이므로 writing은 written으로 고쳐야 한다.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1 · 55번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현재분사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55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밑줄 친 부분 중 어법상 어색한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 can't find the letter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writing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by Jane.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 remember the boy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called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Paul.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The old woman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waiting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for the bus was Jinsu's grandmother.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His friends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invited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to the party came on time.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Kim liked the sound of the piano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played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by her brother.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① I can't find the letter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writing</a:t>
            </a:r>
            <a:r>
              <a:rPr sz="2000" b="1" i="0" u="none">
                <a:solidFill>
                  <a:srgbClr val="5A4200"/>
                </a:solidFill>
                <a:latin typeface="맑은 고딕"/>
              </a:rPr>
              <a:t> by Jane.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→ written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1 · 56번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현재분사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56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밑줄 친 부분 중 어법상 옳은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All the people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inviting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to the party are enjoying themselves.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I'm reading a play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written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by Shakespeare.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Look at the man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painted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the house yellow.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Jason is eating the spaghetti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making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by my mom.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Who is the pretty woman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played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the piano?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② I'm reading a play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written</a:t>
            </a:r>
            <a:r>
              <a:rPr sz="2000" b="1" i="0" u="none">
                <a:solidFill>
                  <a:srgbClr val="5A4200"/>
                </a:solidFill>
                <a:latin typeface="맑은 고딕"/>
              </a:rPr>
              <a:t> by Shakespeare.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400" b="0" i="0" u="none">
                <a:solidFill>
                  <a:srgbClr val="152A4A"/>
                </a:solidFill>
                <a:latin typeface="맑은 고딕"/>
              </a:rPr>
              <a:t>① → invited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③ → painting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④ → made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⑤ → playing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1 · 57번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현재분사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57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밑줄 친 부분 중 어법상 어색한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Did you read the letter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posting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on the blog?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There is a woman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ironing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clothes in the painting.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 used to collect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fallen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leaves every autumn.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There is a big tree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planted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in 1930.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They are looking at the menu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written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in English.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① Did you read the letter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posting</a:t>
            </a:r>
            <a:r>
              <a:rPr sz="2000" b="1" i="0" u="none">
                <a:solidFill>
                  <a:srgbClr val="5A4200"/>
                </a:solidFill>
                <a:latin typeface="맑은 고딕"/>
              </a:rPr>
              <a:t> on the blog?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→ posted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u="none">
                <a:solidFill>
                  <a:srgbClr val="152A4A"/>
                </a:solidFill>
                <a:latin typeface="맑은 고딕"/>
              </a:rPr>
              <a:t>블로그에 편지가 게시된 것이므로 과거분사 형태를 쓴다.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1 · 58번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현재분사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58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밑줄 친 부분 중 어법상 옳은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 went to a meeting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holding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in Seoul.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Let's pick up these leaves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fallen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under the tree.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 am reading a book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writing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by George Orwell.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There are two people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waited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for the train.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The man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talked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with Tom is John.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② Let's pick up these leaves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fallen</a:t>
            </a:r>
            <a:r>
              <a:rPr sz="2000" b="1" i="0" u="none">
                <a:solidFill>
                  <a:srgbClr val="5A4200"/>
                </a:solidFill>
                <a:latin typeface="맑은 고딕"/>
              </a:rPr>
              <a:t> under the tree.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400" b="0" i="0" u="none">
                <a:solidFill>
                  <a:srgbClr val="152A4A"/>
                </a:solidFill>
                <a:latin typeface="맑은 고딕"/>
              </a:rPr>
              <a:t>① I went to a meeting </a:t>
            </a:r>
            <a:r>
              <a:rPr sz="1400" b="1" i="0" u="sng">
                <a:solidFill>
                  <a:srgbClr val="C03A2E"/>
                </a:solidFill>
                <a:latin typeface="맑은 고딕"/>
              </a:rPr>
              <a:t>held</a:t>
            </a:r>
            <a:r>
              <a:rPr sz="1400" b="0" i="0" u="none">
                <a:solidFill>
                  <a:srgbClr val="152A4A"/>
                </a:solidFill>
                <a:latin typeface="맑은 고딕"/>
              </a:rPr>
              <a:t> in Seoul.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③ I am reading a book </a:t>
            </a:r>
            <a:r>
              <a:rPr sz="1400" b="1" i="0" u="sng">
                <a:solidFill>
                  <a:srgbClr val="C03A2E"/>
                </a:solidFill>
                <a:latin typeface="맑은 고딕"/>
              </a:rPr>
              <a:t>written</a:t>
            </a:r>
            <a:r>
              <a:rPr sz="1400" b="0" i="0" u="none">
                <a:solidFill>
                  <a:srgbClr val="152A4A"/>
                </a:solidFill>
                <a:latin typeface="맑은 고딕"/>
              </a:rPr>
              <a:t> by George Orwell.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④ There are two people </a:t>
            </a:r>
            <a:r>
              <a:rPr sz="1400" b="1" i="0" u="sng">
                <a:solidFill>
                  <a:srgbClr val="C03A2E"/>
                </a:solidFill>
                <a:latin typeface="맑은 고딕"/>
              </a:rPr>
              <a:t>waiting</a:t>
            </a:r>
            <a:r>
              <a:rPr sz="1400" b="0" i="0" u="none">
                <a:solidFill>
                  <a:srgbClr val="152A4A"/>
                </a:solidFill>
                <a:latin typeface="맑은 고딕"/>
              </a:rPr>
              <a:t> for the train.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⑤ The man </a:t>
            </a:r>
            <a:r>
              <a:rPr sz="1400" b="1" i="0" u="sng">
                <a:solidFill>
                  <a:srgbClr val="C03A2E"/>
                </a:solidFill>
                <a:latin typeface="맑은 고딕"/>
              </a:rPr>
              <a:t>talking</a:t>
            </a:r>
            <a:r>
              <a:rPr sz="1400" b="0" i="0" u="none">
                <a:solidFill>
                  <a:srgbClr val="152A4A"/>
                </a:solidFill>
                <a:latin typeface="맑은 고딕"/>
              </a:rPr>
              <a:t> with Tom is John.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1 · 59번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현재분사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59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밑줄 친 부분 중 어법상 어색한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 saw a box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leaving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at the door.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He bought a shirt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made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in China.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The man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caught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by the police was tall.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There are many people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interested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in art.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The girl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dancing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over there is my cousin.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① I saw a box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leaving</a:t>
            </a:r>
            <a:r>
              <a:rPr sz="2000" b="1" i="0" u="none">
                <a:solidFill>
                  <a:srgbClr val="5A4200"/>
                </a:solidFill>
                <a:latin typeface="맑은 고딕"/>
              </a:rPr>
              <a:t> at the door.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a box는 문 앞에 남겨진 수동의 대상이므로 과거분사 left로 고쳐야 한다.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1 · 60번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현재분사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60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밑줄 친 부분 중 어법상 옳은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The movie shows a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spoken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robot.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Many Americans like cars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making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in Korea.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'The Little Prince' is a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touching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story.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Who were those people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waited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outside?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Some of the people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inviting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to the party couldn't come.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③ 'The Little Prince' is a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touching</a:t>
            </a:r>
            <a:r>
              <a:rPr sz="2000" b="1" i="0" u="none">
                <a:solidFill>
                  <a:srgbClr val="5A4200"/>
                </a:solidFill>
                <a:latin typeface="맑은 고딕"/>
              </a:rPr>
              <a:t> story.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400" b="0" i="0" u="none">
                <a:solidFill>
                  <a:srgbClr val="152A4A"/>
                </a:solidFill>
                <a:latin typeface="맑은 고딕"/>
              </a:rPr>
              <a:t>① The movie shows a </a:t>
            </a:r>
            <a:r>
              <a:rPr sz="1400" b="1" i="0" u="sng">
                <a:solidFill>
                  <a:srgbClr val="C03A2E"/>
                </a:solidFill>
                <a:latin typeface="맑은 고딕"/>
              </a:rPr>
              <a:t>speaking</a:t>
            </a:r>
            <a:r>
              <a:rPr sz="1400" b="0" i="0" u="none">
                <a:solidFill>
                  <a:srgbClr val="152A4A"/>
                </a:solidFill>
                <a:latin typeface="맑은 고딕"/>
              </a:rPr>
              <a:t> robot.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② Many Americans like cars </a:t>
            </a:r>
            <a:r>
              <a:rPr sz="1400" b="1" i="0" u="sng">
                <a:solidFill>
                  <a:srgbClr val="C03A2E"/>
                </a:solidFill>
                <a:latin typeface="맑은 고딕"/>
              </a:rPr>
              <a:t>made</a:t>
            </a:r>
            <a:r>
              <a:rPr sz="1400" b="0" i="0" u="none">
                <a:solidFill>
                  <a:srgbClr val="152A4A"/>
                </a:solidFill>
                <a:latin typeface="맑은 고딕"/>
              </a:rPr>
              <a:t> in Korea.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④ Who were those people </a:t>
            </a:r>
            <a:r>
              <a:rPr sz="1400" b="1" i="0" u="sng">
                <a:solidFill>
                  <a:srgbClr val="C03A2E"/>
                </a:solidFill>
                <a:latin typeface="맑은 고딕"/>
              </a:rPr>
              <a:t>waiting</a:t>
            </a:r>
            <a:r>
              <a:rPr sz="1400" b="0" i="0" u="none">
                <a:solidFill>
                  <a:srgbClr val="152A4A"/>
                </a:solidFill>
                <a:latin typeface="맑은 고딕"/>
              </a:rPr>
              <a:t> outside?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⑤ Some of the people </a:t>
            </a:r>
            <a:r>
              <a:rPr sz="1400" b="1" i="0" u="sng">
                <a:solidFill>
                  <a:srgbClr val="C03A2E"/>
                </a:solidFill>
                <a:latin typeface="맑은 고딕"/>
              </a:rPr>
              <a:t>invited</a:t>
            </a:r>
            <a:r>
              <a:rPr sz="1400" b="0" i="0" u="none">
                <a:solidFill>
                  <a:srgbClr val="152A4A"/>
                </a:solidFill>
                <a:latin typeface="맑은 고딕"/>
              </a:rPr>
              <a:t> to the party couldn't come.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1 · 61번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현재분사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61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Which of the underlined parts is NOT appropriate?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 watched all the movies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directed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by Tim Burton.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My puppy barked at the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talking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robot.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 cut my finger on the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broken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glass.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The man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speaking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English is from Canada.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Do you know the man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catching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by the police?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⑤ Do you know the man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catching</a:t>
            </a:r>
            <a:r>
              <a:rPr sz="2000" b="1" i="0" u="none">
                <a:solidFill>
                  <a:srgbClr val="5A4200"/>
                </a:solidFill>
                <a:latin typeface="맑은 고딕"/>
              </a:rPr>
              <a:t> by the police?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→ caught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1 · 62번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현재분사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62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밑줄 친 부분 중 어법상 어색한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Do not wake up the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sleeping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baby.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Watches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made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in Swiss are very expensive.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Their presentation was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bored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and not impressive.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I'm not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interested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in Korean artworks.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What is the language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spoken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in Egypt?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③ Their presentation was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bored</a:t>
            </a:r>
            <a:r>
              <a:rPr sz="2000" b="1" i="0" u="none">
                <a:solidFill>
                  <a:srgbClr val="5A4200"/>
                </a:solidFill>
                <a:latin typeface="맑은 고딕"/>
              </a:rPr>
              <a:t> and not impressive.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주어인 presentation이 지루함을 유발하고 있는 것이므로 현재분사 boring으로 써야 한다.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1 · 63번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현재분사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63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밑줄 친 부분 중 어법상 옳은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He is the man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talked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with Tom.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 got a letter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writing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in English.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 went to a meeting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held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in Tokyo.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These are pictures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painting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by Picasso.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There are two people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waited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for the train.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③ I went to a meeting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held</a:t>
            </a:r>
            <a:r>
              <a:rPr sz="2000" b="1" i="0" u="none">
                <a:solidFill>
                  <a:srgbClr val="5A4200"/>
                </a:solidFill>
                <a:latin typeface="맑은 고딕"/>
              </a:rPr>
              <a:t> in Tokyo.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400" b="0" i="0" u="none">
                <a:solidFill>
                  <a:srgbClr val="152A4A"/>
                </a:solidFill>
                <a:latin typeface="맑은 고딕"/>
              </a:rPr>
              <a:t>① He is the man </a:t>
            </a:r>
            <a:r>
              <a:rPr sz="1400" b="1" i="0" u="sng">
                <a:solidFill>
                  <a:srgbClr val="C03A2E"/>
                </a:solidFill>
                <a:latin typeface="맑은 고딕"/>
              </a:rPr>
              <a:t>talking</a:t>
            </a:r>
            <a:r>
              <a:rPr sz="1400" b="0" i="0" u="none">
                <a:solidFill>
                  <a:srgbClr val="152A4A"/>
                </a:solidFill>
                <a:latin typeface="맑은 고딕"/>
              </a:rPr>
              <a:t> with Tom.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② I got a letter </a:t>
            </a:r>
            <a:r>
              <a:rPr sz="1400" b="1" i="0" u="sng">
                <a:solidFill>
                  <a:srgbClr val="C03A2E"/>
                </a:solidFill>
                <a:latin typeface="맑은 고딕"/>
              </a:rPr>
              <a:t>written</a:t>
            </a:r>
            <a:r>
              <a:rPr sz="1400" b="0" i="0" u="none">
                <a:solidFill>
                  <a:srgbClr val="152A4A"/>
                </a:solidFill>
                <a:latin typeface="맑은 고딕"/>
              </a:rPr>
              <a:t> in English.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④ These are pictures </a:t>
            </a:r>
            <a:r>
              <a:rPr sz="1400" b="1" i="0" u="sng">
                <a:solidFill>
                  <a:srgbClr val="C03A2E"/>
                </a:solidFill>
                <a:latin typeface="맑은 고딕"/>
              </a:rPr>
              <a:t>painted</a:t>
            </a:r>
            <a:r>
              <a:rPr sz="1400" b="0" i="0" u="none">
                <a:solidFill>
                  <a:srgbClr val="152A4A"/>
                </a:solidFill>
                <a:latin typeface="맑은 고딕"/>
              </a:rPr>
              <a:t> by Picasso.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⑤ There are two people </a:t>
            </a:r>
            <a:r>
              <a:rPr sz="1400" b="1" i="0" u="sng">
                <a:solidFill>
                  <a:srgbClr val="C03A2E"/>
                </a:solidFill>
                <a:latin typeface="맑은 고딕"/>
              </a:rPr>
              <a:t>waiting</a:t>
            </a:r>
            <a:r>
              <a:rPr sz="1400" b="0" i="0" u="none">
                <a:solidFill>
                  <a:srgbClr val="152A4A"/>
                </a:solidFill>
                <a:latin typeface="맑은 고딕"/>
              </a:rPr>
              <a:t> for the train.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1 · 64번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현재분사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64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Which of the underlined parts is NOT correct?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Somebody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calling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Jack phoned while you were out.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She is reading a menu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written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in Japanese.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Do you know the woman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talking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to Sam?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This is a singer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known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to everyone.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Some of the people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invited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to the party can't come.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① Somebody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calling</a:t>
            </a:r>
            <a:r>
              <a:rPr sz="2000" b="1" i="0" u="none">
                <a:solidFill>
                  <a:srgbClr val="5A4200"/>
                </a:solidFill>
                <a:latin typeface="맑은 고딕"/>
              </a:rPr>
              <a:t> Jack phoned while you were out.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'Jack이라고 불리는 누군가'의 뜻이므로 calling은 과거분사 called로 고쳐야 한다.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1 · 65번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현재분사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65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어법상 옳은 문장은?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 had my brother fixed my bike.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 picked up the leaves fallen under the tree.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 saw a beautiful house covering with snow.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Look at that airplane flown in the sky.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She memorized a poem wrote by Robert Frost.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② I picked up the leaves fallen under the tree.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400" b="0" i="0" u="none">
                <a:solidFill>
                  <a:srgbClr val="152A4A"/>
                </a:solidFill>
                <a:latin typeface="맑은 고딕"/>
              </a:rPr>
              <a:t>① I had my brother </a:t>
            </a:r>
            <a:r>
              <a:rPr sz="1400" b="1" i="0" u="sng">
                <a:solidFill>
                  <a:srgbClr val="C03A2E"/>
                </a:solidFill>
                <a:latin typeface="맑은 고딕"/>
              </a:rPr>
              <a:t>fix</a:t>
            </a:r>
            <a:r>
              <a:rPr sz="1400" b="0" i="0" u="none">
                <a:solidFill>
                  <a:srgbClr val="152A4A"/>
                </a:solidFill>
                <a:latin typeface="맑은 고딕"/>
              </a:rPr>
              <a:t> my bike.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③ I saw a beautiful house </a:t>
            </a:r>
            <a:r>
              <a:rPr sz="1400" b="1" i="0" u="sng">
                <a:solidFill>
                  <a:srgbClr val="C03A2E"/>
                </a:solidFill>
                <a:latin typeface="맑은 고딕"/>
              </a:rPr>
              <a:t>covered</a:t>
            </a:r>
            <a:r>
              <a:rPr sz="1400" b="0" i="0" u="none">
                <a:solidFill>
                  <a:srgbClr val="152A4A"/>
                </a:solidFill>
                <a:latin typeface="맑은 고딕"/>
              </a:rPr>
              <a:t> with snow.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④ Look at that airplane </a:t>
            </a:r>
            <a:r>
              <a:rPr sz="1400" b="1" i="0" u="sng">
                <a:solidFill>
                  <a:srgbClr val="C03A2E"/>
                </a:solidFill>
                <a:latin typeface="맑은 고딕"/>
              </a:rPr>
              <a:t>flying</a:t>
            </a:r>
            <a:r>
              <a:rPr sz="1400" b="0" i="0" u="none">
                <a:solidFill>
                  <a:srgbClr val="152A4A"/>
                </a:solidFill>
                <a:latin typeface="맑은 고딕"/>
              </a:rPr>
              <a:t> in the sky.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⑤ She memorized a poem </a:t>
            </a:r>
            <a:r>
              <a:rPr sz="1400" b="1" i="0" u="sng">
                <a:solidFill>
                  <a:srgbClr val="C03A2E"/>
                </a:solidFill>
                <a:latin typeface="맑은 고딕"/>
              </a:rPr>
              <a:t>written</a:t>
            </a:r>
            <a:r>
              <a:rPr sz="1400" b="0" i="0" u="none">
                <a:solidFill>
                  <a:srgbClr val="152A4A"/>
                </a:solidFill>
                <a:latin typeface="맑은 고딕"/>
              </a:rPr>
              <a:t> by Robert Frost.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1 · 66번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현재분사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66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어법상 어색한 문장은?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The girl called the man playing soccer.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 know many American students learn Korean.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The man following the ducks has some flowers.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The lady walking her dog talked to the old man.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The boy threw his ball to the girl wearing a red cap.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② I know many American students learn Korean.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learn → learning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1 · 67번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현재분사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67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어법상 옳은 문장은?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 like excited games.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Look at the burning building.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This book has a touched story.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Who is the man wear a necktie?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The man drive the car is my friend.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② Look at the burning building.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400" b="0" i="0" u="none">
                <a:solidFill>
                  <a:srgbClr val="152A4A"/>
                </a:solidFill>
                <a:latin typeface="맑은 고딕"/>
              </a:rPr>
              <a:t>① I like </a:t>
            </a:r>
            <a:r>
              <a:rPr sz="1400" b="1" i="0" u="sng">
                <a:solidFill>
                  <a:srgbClr val="C03A2E"/>
                </a:solidFill>
                <a:latin typeface="맑은 고딕"/>
              </a:rPr>
              <a:t>exciting</a:t>
            </a:r>
            <a:r>
              <a:rPr sz="1400" b="0" i="0" u="none">
                <a:solidFill>
                  <a:srgbClr val="152A4A"/>
                </a:solidFill>
                <a:latin typeface="맑은 고딕"/>
              </a:rPr>
              <a:t> games.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③ This book has a </a:t>
            </a:r>
            <a:r>
              <a:rPr sz="1400" b="1" i="0" u="sng">
                <a:solidFill>
                  <a:srgbClr val="C03A2E"/>
                </a:solidFill>
                <a:latin typeface="맑은 고딕"/>
              </a:rPr>
              <a:t>touching</a:t>
            </a:r>
            <a:r>
              <a:rPr sz="1400" b="0" i="0" u="none">
                <a:solidFill>
                  <a:srgbClr val="152A4A"/>
                </a:solidFill>
                <a:latin typeface="맑은 고딕"/>
              </a:rPr>
              <a:t> story.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④ Who is the man </a:t>
            </a:r>
            <a:r>
              <a:rPr sz="1400" b="1" i="0" u="sng">
                <a:solidFill>
                  <a:srgbClr val="C03A2E"/>
                </a:solidFill>
                <a:latin typeface="맑은 고딕"/>
              </a:rPr>
              <a:t>wearing</a:t>
            </a:r>
            <a:r>
              <a:rPr sz="1400" b="0" i="0" u="none">
                <a:solidFill>
                  <a:srgbClr val="152A4A"/>
                </a:solidFill>
                <a:latin typeface="맑은 고딕"/>
              </a:rPr>
              <a:t> a necktie?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⑤ The man </a:t>
            </a:r>
            <a:r>
              <a:rPr sz="1400" b="1" i="0" u="sng">
                <a:solidFill>
                  <a:srgbClr val="C03A2E"/>
                </a:solidFill>
                <a:latin typeface="맑은 고딕"/>
              </a:rPr>
              <a:t>driving</a:t>
            </a:r>
            <a:r>
              <a:rPr sz="1400" b="0" i="0" u="none">
                <a:solidFill>
                  <a:srgbClr val="152A4A"/>
                </a:solidFill>
                <a:latin typeface="맑은 고딕"/>
              </a:rPr>
              <a:t> the car is my friend.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1 · 68번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현재분사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68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어법상 어색한 문장은?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 love the sound of falling rain.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When I received the invitation card, I felt very excited.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Watch out! There are pieces of broken glass on the floor.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New York is one of the biggest cities in America, called 'the Big Apple.'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There are various kinds of books included novels, magazines, biography, and so on.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 u="none">
                <a:solidFill>
                  <a:srgbClr val="5A4200"/>
                </a:solidFill>
                <a:latin typeface="맑은 고딕"/>
              </a:rPr>
              <a:t>정답:  ⑤ There are various kinds of books included novels, magazines, biography, and so on.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including은 현재분사 형태로 숙어처럼 이용되어 '~을 포함하여'라는 뜻을 나타낸다.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1 · 69번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현재분사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69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어법상 옳은 문장은?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I'll get the car fix by tomorrow.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Do you know the boy plays the drums?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The turkey cooking by my dad was delicious.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There are lots of leaves fallen on the bench.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The person most shocking by the news was me.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④ There are lots of leaves fallen on the bench.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400" b="0" i="0" u="none">
                <a:solidFill>
                  <a:srgbClr val="152A4A"/>
                </a:solidFill>
                <a:latin typeface="맑은 고딕"/>
              </a:rPr>
              <a:t>① the car는 수리를 받는 수동의 대상이므로 fix는 fixed로 고쳐야 한다.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② the boy를 꾸미는 분사구가 되어야 하므로 plays를 playing으로 고쳐야 한다.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③ the turkey가 요리되는 수동의 대상이므로 cooking은 cooked로 고쳐야 한다.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⑤ the person이 충격을 받은 것이므로 shocking은 shocked로 고쳐야 한다.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1 · 70번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현재분사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70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어법상 어색한 문장은?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Look at the bird flying in the sky.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 saw the girl dancing on the stage.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 like this tree planted by my father.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 was deeply impressed by his words.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The police found the bag throwing in the woods.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⑤ The police found the bag throwing in the woods.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throwing → thrown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u="none">
                <a:solidFill>
                  <a:srgbClr val="152A4A"/>
                </a:solidFill>
                <a:latin typeface="맑은 고딕"/>
              </a:rPr>
              <a:t>가방이 숲속에 버려진 것이므로 과거분사 형태를 쓴다.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1 · 71번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현재분사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71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어법상 옳은 문장은?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The boy reading books are tall.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 like the cooked dishes by my mom.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The photos took by John were great.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Look at the road covering with snow.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Tom read a book written by O. Henry.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⑤ Tom read a book written by O. Henry.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200" b="0" i="0" u="none">
                <a:solidFill>
                  <a:srgbClr val="152A4A"/>
                </a:solidFill>
                <a:latin typeface="맑은 고딕"/>
              </a:rPr>
              <a:t>① 주어가 the boy이므로 동사는 단수 동사 is로 바꿔야 한다.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u="none">
                <a:solidFill>
                  <a:srgbClr val="152A4A"/>
                </a:solidFill>
                <a:latin typeface="맑은 고딕"/>
              </a:rPr>
              <a:t>② cooked와 dishes의 순서가 바뀌어야 한다.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u="none">
                <a:solidFill>
                  <a:srgbClr val="152A4A"/>
                </a:solidFill>
                <a:latin typeface="맑은 고딕"/>
              </a:rPr>
              <a:t>③ 문장의 동사는 were이고, the photos를 수식하는 분사로 수동의 의미를 지닌 과거분사 taken이 되어야 한다.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u="none">
                <a:solidFill>
                  <a:srgbClr val="152A4A"/>
                </a:solidFill>
                <a:latin typeface="맑은 고딕"/>
              </a:rPr>
              <a:t>④ the road가 눈으로 뒤덮인 수동의 의미이므로 covering은 covered로 고친다.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1 · 72번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현재분사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72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어법상 어색한 문장은?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 saw a boy crossing the street.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The girl is talking with Tony is Jenny.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The cake made by my mother is delicious.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The police found the bag thrown in the woods.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Do you know the woman talking to him?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② The girl is talking with Tony is Jenny.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→ The girl (who is) talking with Tony is Jenny.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1 · 73번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현재분사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73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어법상 어색한 문장은?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 like clothes made in Korea.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He read the card written by my mom.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The girl playing the piano is my sister.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The robot invented by Dr. Kim was fantastic.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The picture painting by Dad is on the wall.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⑤ The picture painting by Dad is on the wall.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the picture가 아빠에 의해서 그려지는 수동의 대상이므로 painting은 과거분사 painted로 고쳐야 한다.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1 · 74번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현재분사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74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어법상 어색한 문장은?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They lived in a house built in 1970.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She sent a letter writing in English.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The pictures taken at the party are nice.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Did you see the girl walking along the beach?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Is he the baseball player loved by many people?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② She sent a letter writing in English.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She sent a letter written in English.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1 · 75번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현재분사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75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어법상 옳은 문장은?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There is a slept cat in the yard.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 know the girl stood by the wall.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This is the first school built in 1940.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The displaying clothes are on sale now.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The computer using for his project is mine.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③ This is the first school built in 1940.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400" b="0" i="0" u="none">
                <a:solidFill>
                  <a:srgbClr val="152A4A"/>
                </a:solidFill>
                <a:latin typeface="맑은 고딕"/>
              </a:rPr>
              <a:t>① slept → sleeping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② stood → standing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④ displaying → displayed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⑤ using → used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1 · 76번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현재분사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76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어법상 어색한 문장은?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 saw a girl listening to music under a tree.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The wallet found by the police was mine.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Do you know the man washing his hands?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The room cleaned this morning is going to be used by new customers.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⑤The picture painting by a famous painter was bought by that old lady.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 u="none">
                <a:solidFill>
                  <a:srgbClr val="5A4200"/>
                </a:solidFill>
                <a:latin typeface="맑은 고딕"/>
              </a:rPr>
              <a:t>정답:  ⑤The picture painting by a famous painter was bought by that old lady.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the picture가 유명한 화가에 의해서 그려지는 수동의 대상이므로 과거분사 painted의 수식을 받아야 한다.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1 · 77번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현재분사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77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어법상 옳은 문장은?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A bear naming Buck is very smart.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 read a short story written by O. Henry.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This is the scarf making by my grandmother.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This is the robot which invented by Dr. Lee.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Some of the people inviting to the party didn't come.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② I read a short story written by O. Henry.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400" b="0" i="0" u="none">
                <a:solidFill>
                  <a:srgbClr val="152A4A"/>
                </a:solidFill>
                <a:latin typeface="맑은 고딕"/>
              </a:rPr>
              <a:t>① A bear </a:t>
            </a:r>
            <a:r>
              <a:rPr sz="1400" b="1" i="0" u="sng">
                <a:solidFill>
                  <a:srgbClr val="C03A2E"/>
                </a:solidFill>
                <a:latin typeface="맑은 고딕"/>
              </a:rPr>
              <a:t>named</a:t>
            </a:r>
            <a:r>
              <a:rPr sz="1400" b="0" i="0" u="none">
                <a:solidFill>
                  <a:srgbClr val="152A4A"/>
                </a:solidFill>
                <a:latin typeface="맑은 고딕"/>
              </a:rPr>
              <a:t> Buck is very smart.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③ This is the scarf </a:t>
            </a:r>
            <a:r>
              <a:rPr sz="1400" b="1" i="0" u="sng">
                <a:solidFill>
                  <a:srgbClr val="C03A2E"/>
                </a:solidFill>
                <a:latin typeface="맑은 고딕"/>
              </a:rPr>
              <a:t>made</a:t>
            </a:r>
            <a:r>
              <a:rPr sz="1400" b="0" i="0" u="none">
                <a:solidFill>
                  <a:srgbClr val="152A4A"/>
                </a:solidFill>
                <a:latin typeface="맑은 고딕"/>
              </a:rPr>
              <a:t> by my grandmother.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④ This is the robot </a:t>
            </a:r>
            <a:r>
              <a:rPr sz="1400" b="1" i="0" u="sng">
                <a:solidFill>
                  <a:srgbClr val="C03A2E"/>
                </a:solidFill>
                <a:latin typeface="맑은 고딕"/>
              </a:rPr>
              <a:t>(which was) invented</a:t>
            </a:r>
            <a:r>
              <a:rPr sz="1400" b="0" i="0" u="none">
                <a:solidFill>
                  <a:srgbClr val="152A4A"/>
                </a:solidFill>
                <a:latin typeface="맑은 고딕"/>
              </a:rPr>
              <a:t> by Dr. Lee.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⑤ Some of the people </a:t>
            </a:r>
            <a:r>
              <a:rPr sz="1400" b="1" i="0" u="sng">
                <a:solidFill>
                  <a:srgbClr val="C03A2E"/>
                </a:solidFill>
                <a:latin typeface="맑은 고딕"/>
              </a:rPr>
              <a:t>invited</a:t>
            </a:r>
            <a:r>
              <a:rPr sz="1400" b="0" i="0" u="none">
                <a:solidFill>
                  <a:srgbClr val="152A4A"/>
                </a:solidFill>
                <a:latin typeface="맑은 고딕"/>
              </a:rPr>
              <a:t> to the party didn't come.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1 · 78번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현재분사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78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어법상 어색한 문장은?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The girl singing a song is Mary.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Can you read a letter writing in English?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 saw a pretty woman wearing very long boots.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Who is that old man carrying heavy bags?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The boy standing outside is my younger brother.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② Can you read a letter writing in English?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a letter가 영어로 쓰이는 수동의 대상이므로 과거분사 written의 수식을 받아야 한다.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1 · 79번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현재분사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79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어법상 옳은 문장은?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There is a box filling with toys.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 found a wooden box containing lots of money.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Talking about the movie with her was really excited.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The firefighter rushed into the burned house to save a child.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Most of the shops finding in the malls are parts of large companies.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② I found a wooden box containing lots of money.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400" b="0" i="0" u="none">
                <a:solidFill>
                  <a:srgbClr val="152A4A"/>
                </a:solidFill>
                <a:latin typeface="맑은 고딕"/>
              </a:rPr>
              <a:t>① 상자는 채워지는 수동의 대상이므로 filling은 filled로 고쳐야 한다.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③ 이야기를 하는 일은 흥미를 유발하는 일이므로 excited는 exciting으로 고쳐야 한다.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④ burned는 burning으로 고쳐야 한다.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⑤ finding은 found로 고쳐야 한다.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1 · 80번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현재분사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80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어법상 어색한 문장은?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She is the actress known to everybody in China.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The bike found in the park is my brother's.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He is reading a book wrote by J. K. Rowling.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Look at this amazing bridge designed by Leon.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Some of the people invited to the party brought some food.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③ He is reading a book wrote by J. K. Rowling.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a book이 쓰이는 수동의 대상이므로 과거분사 written의 수식을 받아야 한다.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1 · 81번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현재분사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81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어법상 옳은 문장은?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The taxi taken us to the airport broke down.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Somebody naming John called while you were out.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There were pieces of breaking glass on the floor.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The two girls talking to each other are Mira and Sally.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Some of the people inviting to the party couldn't come.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④ The two girls talking to each other are Mira and Sally.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400" b="0" i="0" u="none">
                <a:solidFill>
                  <a:srgbClr val="152A4A"/>
                </a:solidFill>
                <a:latin typeface="맑은 고딕"/>
              </a:rPr>
              <a:t>① taken → taking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② naming → named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③ breaking → broken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⑤ inviting → invited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1 · 82번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현재분사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82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어법상 옳은 문장은?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 saw a cat chasing by a dog.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The girl holding a book is Mina.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There is a boy written an interesting novel.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Have you seen the pictures painted Munch?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It's fun to walk on the road covering with fallen leaves.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② The girl holding a book is Mina.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300" b="0" i="0" u="none">
                <a:solidFill>
                  <a:srgbClr val="152A4A"/>
                </a:solidFill>
                <a:latin typeface="맑은 고딕"/>
              </a:rPr>
              <a:t>① a cat이 개에 의해서 추적을 당하는 대상이므로 과거분사 chased의 수식을 받아야 한다.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u="none">
                <a:solidFill>
                  <a:srgbClr val="152A4A"/>
                </a:solidFill>
                <a:latin typeface="맑은 고딕"/>
              </a:rPr>
              <a:t>③ a boy가 흥미로운 소설을 직접 쓰는 능동적인 상황이므로 현재분사 writing을 써야 한다.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u="none">
                <a:solidFill>
                  <a:srgbClr val="152A4A"/>
                </a:solidFill>
                <a:latin typeface="맑은 고딕"/>
              </a:rPr>
              <a:t>④ Munch 앞에 전치사 by가 필요하다.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u="none">
                <a:solidFill>
                  <a:srgbClr val="152A4A"/>
                </a:solidFill>
                <a:latin typeface="맑은 고딕"/>
              </a:rPr>
              <a:t>⑤ the road가 떨어진 잎으로 덮여 있는 상태이므로 과거분사 covered의 수식을 받아야 한다.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1 · 83번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현재분사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83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어법상 옳은 문장은?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The picture taking by me won the first prize.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The people invited to the party are having fun.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Have you read these short stories wrote by O. Henry?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This is a singer who are known to everyone in Korea.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Look at that wonderful bridge which designed by Leon Moisseiff.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② The people invited to the party are having fun.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100" b="0" i="0" u="none">
                <a:solidFill>
                  <a:srgbClr val="152A4A"/>
                </a:solidFill>
                <a:latin typeface="맑은 고딕"/>
              </a:rPr>
              <a:t>① the picture가 찍히는 수동의 대상이므로 과거분사 taken의 수식을 받아야 한다.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 u="none">
                <a:solidFill>
                  <a:srgbClr val="152A4A"/>
                </a:solidFill>
                <a:latin typeface="맑은 고딕"/>
              </a:rPr>
              <a:t>③ these short stories가 쓰이는 수동의 대상이므로 과거분사 written의 수식을 받아야 한다.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 u="none">
                <a:solidFill>
                  <a:srgbClr val="152A4A"/>
                </a:solidFill>
                <a:latin typeface="맑은 고딕"/>
              </a:rPr>
              <a:t>④ 선행사가 a singer의 단수이므로 주격 관계대명사절의 동사도 단수 is로 일치시켜야 한다.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 u="none">
                <a:solidFill>
                  <a:srgbClr val="152A4A"/>
                </a:solidFill>
                <a:latin typeface="맑은 고딕"/>
              </a:rPr>
              <a:t>⑤ that wonderful bridge를 수식하는 주격 관계대명사절의 동사가 수동태여야 하므로 was designed로 써야 한다. 또는 which was를 생략하고 designed만 써 준다.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1 · 84번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현재분사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84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어법상 옳은 문장은?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The man stood in front of the car looked sick.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 like the dishes cook by my mom.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The girl playing the piano is my sister.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These are photos took from an airplane.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The police found the pictures stealing from the museum.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③ The girl playing the piano is my sister.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400" b="0" i="0" u="none">
                <a:solidFill>
                  <a:srgbClr val="152A4A"/>
                </a:solidFill>
                <a:latin typeface="맑은 고딕"/>
              </a:rPr>
              <a:t>① → The man </a:t>
            </a:r>
            <a:r>
              <a:rPr sz="1400" b="1" i="0" u="sng">
                <a:solidFill>
                  <a:srgbClr val="C03A2E"/>
                </a:solidFill>
                <a:latin typeface="맑은 고딕"/>
              </a:rPr>
              <a:t>standing</a:t>
            </a:r>
            <a:r>
              <a:rPr sz="1400" b="0" i="0" u="none">
                <a:solidFill>
                  <a:srgbClr val="152A4A"/>
                </a:solidFill>
                <a:latin typeface="맑은 고딕"/>
              </a:rPr>
              <a:t> in front of the car looked sick.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② → I like the dishes </a:t>
            </a:r>
            <a:r>
              <a:rPr sz="1400" b="1" i="0" u="sng">
                <a:solidFill>
                  <a:srgbClr val="C03A2E"/>
                </a:solidFill>
                <a:latin typeface="맑은 고딕"/>
              </a:rPr>
              <a:t>cooked</a:t>
            </a:r>
            <a:r>
              <a:rPr sz="1400" b="0" i="0" u="none">
                <a:solidFill>
                  <a:srgbClr val="152A4A"/>
                </a:solidFill>
                <a:latin typeface="맑은 고딕"/>
              </a:rPr>
              <a:t> by my mom.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④ → These are photos </a:t>
            </a:r>
            <a:r>
              <a:rPr sz="1400" b="1" i="0" u="sng">
                <a:solidFill>
                  <a:srgbClr val="C03A2E"/>
                </a:solidFill>
                <a:latin typeface="맑은 고딕"/>
              </a:rPr>
              <a:t>taken</a:t>
            </a:r>
            <a:r>
              <a:rPr sz="1400" b="0" i="0" u="none">
                <a:solidFill>
                  <a:srgbClr val="152A4A"/>
                </a:solidFill>
                <a:latin typeface="맑은 고딕"/>
              </a:rPr>
              <a:t> from an airplane.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⑤ → The police found the pictures </a:t>
            </a:r>
            <a:r>
              <a:rPr sz="1400" b="1" i="0" u="sng">
                <a:solidFill>
                  <a:srgbClr val="C03A2E"/>
                </a:solidFill>
                <a:latin typeface="맑은 고딕"/>
              </a:rPr>
              <a:t>stolen</a:t>
            </a:r>
            <a:r>
              <a:rPr sz="1400" b="0" i="0" u="none">
                <a:solidFill>
                  <a:srgbClr val="152A4A"/>
                </a:solidFill>
                <a:latin typeface="맑은 고딕"/>
              </a:rPr>
              <a:t> from the museum.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1 · 85번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현재분사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85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어법상 옳은 문장은?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The girl waited at the gate is my friend.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 want to buy that coat hang on the wall.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 know the talking man with the girl.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Listen to the birds singing in the woods.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The dog barking is my lovely pet.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④ Listen to the birds singing in the woods.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400" b="0" i="0" u="none">
                <a:solidFill>
                  <a:srgbClr val="152A4A"/>
                </a:solidFill>
                <a:latin typeface="맑은 고딕"/>
              </a:rPr>
              <a:t>① waited → waiting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② hang → hanging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③ the talking man → the man talking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⑤ The dog barking → The barking dog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1 · 86번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현재분사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86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어법상 옳은 문장은? (정답 2개)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Mary moved the cat sleeping.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The girl shouted at the boy riding a bike.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A large number of cars was parked over there.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Please put the noodles in a pot of boiling water.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It was always interested to hear her stories.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 u="none">
                <a:solidFill>
                  <a:srgbClr val="5A4200"/>
                </a:solidFill>
                <a:latin typeface="맑은 고딕"/>
              </a:rPr>
              <a:t>정답:  ②, ④   (② The girl shouted at the boy riding a bike.  /  ④ Please put the noodles in a pot of boiling water.)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① the cat sleeping → the sleeping cat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u="none">
                <a:solidFill>
                  <a:srgbClr val="152A4A"/>
                </a:solidFill>
                <a:latin typeface="맑은 고딕"/>
              </a:rPr>
              <a:t>③ was parked → were parked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u="none">
                <a:solidFill>
                  <a:srgbClr val="152A4A"/>
                </a:solidFill>
                <a:latin typeface="맑은 고딕"/>
              </a:rPr>
              <a:t>⑤ interested → interesting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1 · 87번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현재분사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87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어법상 옳은 문장은? (정답 2개)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 went to the meeting held in Japan.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She wants the plant watering enough.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Look at the mountain covering with snow.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The pictures taken at the party last night are so funny.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My daughter is playing with the cute doll that  dressed in red.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 u="none">
                <a:solidFill>
                  <a:srgbClr val="5A4200"/>
                </a:solidFill>
                <a:latin typeface="맑은 고딕"/>
              </a:rPr>
              <a:t>정답:  ①, ④   (① I went to the meeting held in Japan.  /  ④ The pictures taken at the party last night are so funny.)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② watering → watered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u="none">
                <a:solidFill>
                  <a:srgbClr val="152A4A"/>
                </a:solidFill>
                <a:latin typeface="맑은 고딕"/>
              </a:rPr>
              <a:t>③ covering → covered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u="none">
                <a:solidFill>
                  <a:srgbClr val="152A4A"/>
                </a:solidFill>
                <a:latin typeface="맑은 고딕"/>
              </a:rPr>
              <a:t>⑤ that dressed → (that is) dressed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1 · 88번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현재분사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88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511302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어법상 어색한 문장의 총 개수는?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9982"/>
            <a:ext cx="8214055" cy="308228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Look at the girl dancing with Tim.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This is the cell phone making in Korea.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These are photos taken from an airplane.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Some of the people inviting to the party didn't come.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I read a short story was written by O. Henry.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The woman driven the car is my mother.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08415" y="1379982"/>
            <a:ext cx="2926080" cy="3082289"/>
          </a:xfrm>
          <a:prstGeom prst="roundRect">
            <a:avLst>
              <a:gd name="adj" fmla="val 6000"/>
            </a:avLst>
          </a:prstGeom>
          <a:solidFill>
            <a:srgbClr val="F2F3F5"/>
          </a:solidFill>
          <a:ln w="15875">
            <a:solidFill>
              <a:srgbClr val="F2F3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1개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2개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3개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4개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5개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④ 4개</a:t>
            </a:r>
          </a:p>
        </p:txBody>
      </p:sp>
      <p:sp>
        <p:nvSpPr>
          <p:cNvPr id="11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100" b="0" i="0" u="none">
                <a:solidFill>
                  <a:srgbClr val="152A4A"/>
                </a:solidFill>
                <a:latin typeface="맑은 고딕"/>
              </a:rPr>
              <a:t>• This is the cell phone making in Korea.에서 making은 made로 써야 한다.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 u="none">
                <a:solidFill>
                  <a:srgbClr val="152A4A"/>
                </a:solidFill>
                <a:latin typeface="맑은 고딕"/>
              </a:rPr>
              <a:t>• Some of the people inviting to the party didn't come.에서 inviting은 invited로 고쳐야 한다.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 u="none">
                <a:solidFill>
                  <a:srgbClr val="152A4A"/>
                </a:solidFill>
                <a:latin typeface="맑은 고딕"/>
              </a:rPr>
              <a:t>• I read a short story was written by O. Henry.에서 문장의 동사는 read이므로 a short story를 꾸미는 분사구가 되도록 was written에서 was를 삭제해야 한다.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 u="none">
                <a:solidFill>
                  <a:srgbClr val="152A4A"/>
                </a:solidFill>
                <a:latin typeface="맑은 고딕"/>
              </a:rPr>
              <a:t>• the woman이 동작의 주체이므로 driven은 능동의 의미를 지닌 현재분사 driving이 되어야 한다.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1 · 89번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현재분사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89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511302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어법상 옳은 문장끼리 바르게 짝지어진 것은?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9982"/>
            <a:ext cx="8214055" cy="308228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a. The books ordered online arrived one week later.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b. Mina likes that man working for a bank.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c. Don't pick the flowers planted in the garden.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d. The people surprising at the strange sound came out of the building.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08415" y="1379982"/>
            <a:ext cx="2926080" cy="3082289"/>
          </a:xfrm>
          <a:prstGeom prst="roundRect">
            <a:avLst>
              <a:gd name="adj" fmla="val 6000"/>
            </a:avLst>
          </a:prstGeom>
          <a:solidFill>
            <a:srgbClr val="F2F3F5"/>
          </a:solidFill>
          <a:ln w="15875">
            <a:solidFill>
              <a:srgbClr val="F2F3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a, b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a, b, c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a, c, 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a, b, c, 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③ a, b, c</a:t>
            </a:r>
          </a:p>
        </p:txBody>
      </p:sp>
      <p:sp>
        <p:nvSpPr>
          <p:cNvPr id="11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d. The people </a:t>
            </a:r>
            <a:r>
              <a:rPr sz="1500" b="1" i="0" u="sng">
                <a:solidFill>
                  <a:srgbClr val="C03A2E"/>
                </a:solidFill>
                <a:latin typeface="맑은 고딕"/>
              </a:rPr>
              <a:t>surprised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 at the strange sound came out of the building.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1 · 90번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현재분사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90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9529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1E2A4A"/>
                </a:solidFill>
                <a:latin typeface="맑은 고딕"/>
              </a:rPr>
              <a:t>다음 밑줄 친 부분 중 어법상 옳은 것끼리 바르게 짝지어진 것은?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63980"/>
            <a:ext cx="8214055" cy="30982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ⓐ The man </a:t>
            </a:r>
            <a:r>
              <a:rPr sz="1900" b="1" i="0" u="sng">
                <a:solidFill>
                  <a:srgbClr val="C03A2E"/>
                </a:solidFill>
                <a:latin typeface="맑은 고딕"/>
              </a:rPr>
              <a:t>called</a:t>
            </a:r>
            <a:r>
              <a:rPr sz="1900" b="0" i="0" u="none">
                <a:solidFill>
                  <a:srgbClr val="222222"/>
                </a:solidFill>
                <a:latin typeface="맑은 고딕"/>
              </a:rPr>
              <a:t> Dr. K is really good at baseball.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ⓑ The girl likes the books </a:t>
            </a:r>
            <a:r>
              <a:rPr sz="1900" b="1" i="0" u="sng">
                <a:solidFill>
                  <a:srgbClr val="C03A2E"/>
                </a:solidFill>
                <a:latin typeface="맑은 고딕"/>
              </a:rPr>
              <a:t>written</a:t>
            </a:r>
            <a:r>
              <a:rPr sz="1900" b="0" i="0" u="none">
                <a:solidFill>
                  <a:srgbClr val="222222"/>
                </a:solidFill>
                <a:latin typeface="맑은 고딕"/>
              </a:rPr>
              <a:t> by Edgar Allan Poe.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ⓒ The watches </a:t>
            </a:r>
            <a:r>
              <a:rPr sz="1900" b="1" i="0" u="sng">
                <a:solidFill>
                  <a:srgbClr val="C03A2E"/>
                </a:solidFill>
                <a:latin typeface="맑은 고딕"/>
              </a:rPr>
              <a:t>producing</a:t>
            </a:r>
            <a:r>
              <a:rPr sz="1900" b="0" i="0" u="none">
                <a:solidFill>
                  <a:srgbClr val="222222"/>
                </a:solidFill>
                <a:latin typeface="맑은 고딕"/>
              </a:rPr>
              <a:t> in Switzerland are popular.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ⓓ He showed me some photos </a:t>
            </a:r>
            <a:r>
              <a:rPr sz="1900" b="1" i="0" u="sng">
                <a:solidFill>
                  <a:srgbClr val="C03A2E"/>
                </a:solidFill>
                <a:latin typeface="맑은 고딕"/>
              </a:rPr>
              <a:t>taken</a:t>
            </a:r>
            <a:r>
              <a:rPr sz="1900" b="0" i="0" u="none">
                <a:solidFill>
                  <a:srgbClr val="222222"/>
                </a:solidFill>
                <a:latin typeface="맑은 고딕"/>
              </a:rPr>
              <a:t> in Turkey.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ⓔ The boy </a:t>
            </a:r>
            <a:r>
              <a:rPr sz="1900" b="1" i="0" u="sng">
                <a:solidFill>
                  <a:srgbClr val="C03A2E"/>
                </a:solidFill>
                <a:latin typeface="맑은 고딕"/>
              </a:rPr>
              <a:t>cried</a:t>
            </a:r>
            <a:r>
              <a:rPr sz="1900" b="0" i="0" u="none">
                <a:solidFill>
                  <a:srgbClr val="222222"/>
                </a:solidFill>
                <a:latin typeface="맑은 고딕"/>
              </a:rPr>
              <a:t> in the room is my brother.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ⓕ He is a famous designer </a:t>
            </a:r>
            <a:r>
              <a:rPr sz="1900" b="1" i="0" u="sng">
                <a:solidFill>
                  <a:srgbClr val="C03A2E"/>
                </a:solidFill>
                <a:latin typeface="맑은 고딕"/>
              </a:rPr>
              <a:t>was born</a:t>
            </a:r>
            <a:r>
              <a:rPr sz="1900" b="0" i="0" u="none">
                <a:solidFill>
                  <a:srgbClr val="222222"/>
                </a:solidFill>
                <a:latin typeface="맑은 고딕"/>
              </a:rPr>
              <a:t> in Sweden.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08415" y="1363980"/>
            <a:ext cx="2926080" cy="3098291"/>
          </a:xfrm>
          <a:prstGeom prst="roundRect">
            <a:avLst>
              <a:gd name="adj" fmla="val 6000"/>
            </a:avLst>
          </a:prstGeom>
          <a:solidFill>
            <a:srgbClr val="F2F3F5"/>
          </a:solidFill>
          <a:ln w="15875">
            <a:solidFill>
              <a:srgbClr val="F2F3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① ⓐ, ⓑ, ⓒ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② ⓑ, ⓔ, ⓕ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③ ⓐ, ⓑ, ⓓ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④ ⓑ, ⓒ, ⓔ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⑤ ⓒ, ⓓ, ⓕ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③ ⓐ, ⓑ, ⓓ</a:t>
            </a:r>
          </a:p>
        </p:txBody>
      </p:sp>
      <p:sp>
        <p:nvSpPr>
          <p:cNvPr id="11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ⓒ The watches </a:t>
            </a:r>
            <a:r>
              <a:rPr sz="1500" b="1" i="0" u="sng">
                <a:solidFill>
                  <a:srgbClr val="C03A2E"/>
                </a:solidFill>
                <a:latin typeface="맑은 고딕"/>
              </a:rPr>
              <a:t>produced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 in Switzerland are popular.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u="none">
                <a:solidFill>
                  <a:srgbClr val="152A4A"/>
                </a:solidFill>
                <a:latin typeface="맑은 고딕"/>
              </a:rPr>
              <a:t>ⓔ The boy </a:t>
            </a:r>
            <a:r>
              <a:rPr sz="1500" b="1" i="0" u="sng">
                <a:solidFill>
                  <a:srgbClr val="C03A2E"/>
                </a:solidFill>
                <a:latin typeface="맑은 고딕"/>
              </a:rPr>
              <a:t>crying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 in the room is my brother.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u="none">
                <a:solidFill>
                  <a:srgbClr val="152A4A"/>
                </a:solidFill>
                <a:latin typeface="맑은 고딕"/>
              </a:rPr>
              <a:t>ⓕ He is a famous designer </a:t>
            </a:r>
            <a:r>
              <a:rPr sz="1500" b="1" i="0" u="sng">
                <a:solidFill>
                  <a:srgbClr val="C03A2E"/>
                </a:solidFill>
                <a:latin typeface="맑은 고딕"/>
              </a:rPr>
              <a:t>(who[that] was) born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 in Sweden.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1 · 91번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현재분사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91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9529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1E2A4A"/>
                </a:solidFill>
                <a:latin typeface="맑은 고딕"/>
              </a:rPr>
              <a:t>다음 중 어법상 옳은 문장끼리 바르게 짝지어진 것은?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63980"/>
            <a:ext cx="8214055" cy="30982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ⓐ The news were surprising.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ⓑ The man wearing a red cap is my uncle.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ⓒ Mary moved the cat sleeping carefully.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ⓓ Jessica was reading a book written in French.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ⓔ Everything related to his business are based on sports.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ⓕ Many women want to buy bags made in Italy.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08415" y="1363980"/>
            <a:ext cx="2926080" cy="3098291"/>
          </a:xfrm>
          <a:prstGeom prst="roundRect">
            <a:avLst>
              <a:gd name="adj" fmla="val 6000"/>
            </a:avLst>
          </a:prstGeom>
          <a:solidFill>
            <a:srgbClr val="F2F3F5"/>
          </a:solidFill>
          <a:ln w="15875">
            <a:solidFill>
              <a:srgbClr val="F2F3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① ⓐ, ⓓ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② ⓑ, ⓓ, ⓔ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③ ⓑ, ⓓ, ⓕ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④ ⓑ, ⓓ, ⓔ, ⓕ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⑤ ⓐ, ⓒ, ⓔ, ⓕ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③ ⓑ, ⓓ, ⓕ</a:t>
            </a:r>
          </a:p>
        </p:txBody>
      </p:sp>
      <p:sp>
        <p:nvSpPr>
          <p:cNvPr id="11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ⓐ were → was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u="none">
                <a:solidFill>
                  <a:srgbClr val="152A4A"/>
                </a:solidFill>
                <a:latin typeface="맑은 고딕"/>
              </a:rPr>
              <a:t>ⓒ the cat sleeping → the sleeping cat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u="none">
                <a:solidFill>
                  <a:srgbClr val="152A4A"/>
                </a:solidFill>
                <a:latin typeface="맑은 고딕"/>
              </a:rPr>
              <a:t>ⓔ are → is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1 · 92번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현재분사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92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 u="none">
                <a:solidFill>
                  <a:srgbClr val="1E2A4A"/>
                </a:solidFill>
                <a:latin typeface="맑은 고딕"/>
              </a:rPr>
              <a:t>다음 중 밑줄 친 부분의 쓰임이 옳은 것끼리 바르게 짝지어진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ⓐ The bell </a:t>
            </a:r>
            <a:r>
              <a:rPr sz="1400" b="1" i="0" u="sng">
                <a:solidFill>
                  <a:srgbClr val="C03A2E"/>
                </a:solidFill>
                <a:latin typeface="맑은 고딕"/>
              </a:rPr>
              <a:t>ringing</a:t>
            </a:r>
            <a:r>
              <a:rPr sz="1400" b="0" i="0" u="none">
                <a:solidFill>
                  <a:srgbClr val="222222"/>
                </a:solidFill>
                <a:latin typeface="맑은 고딕"/>
              </a:rPr>
              <a:t> in the distance told them it was noon.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ⓑ The first clue was the wide line </a:t>
            </a:r>
            <a:r>
              <a:rPr sz="1400" b="1" i="0" u="sng">
                <a:solidFill>
                  <a:srgbClr val="C03A2E"/>
                </a:solidFill>
                <a:latin typeface="맑은 고딕"/>
              </a:rPr>
              <a:t>leaded</a:t>
            </a:r>
            <a:r>
              <a:rPr sz="1400" b="0" i="0" u="none">
                <a:solidFill>
                  <a:srgbClr val="222222"/>
                </a:solidFill>
                <a:latin typeface="맑은 고딕"/>
              </a:rPr>
              <a:t> to David Slade's house.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ⓒ This movie is a comedy about an Indian girl </a:t>
            </a:r>
            <a:r>
              <a:rPr sz="1400" b="1" i="0" u="sng">
                <a:solidFill>
                  <a:srgbClr val="C03A2E"/>
                </a:solidFill>
                <a:latin typeface="맑은 고딕"/>
              </a:rPr>
              <a:t>living</a:t>
            </a:r>
            <a:r>
              <a:rPr sz="1400" b="0" i="0" u="none">
                <a:solidFill>
                  <a:srgbClr val="222222"/>
                </a:solidFill>
                <a:latin typeface="맑은 고딕"/>
              </a:rPr>
              <a:t> in Paris.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ⓓ A few days after the interview, I received a letter </a:t>
            </a:r>
            <a:r>
              <a:rPr sz="1400" b="1" i="0" u="sng">
                <a:solidFill>
                  <a:srgbClr val="C03A2E"/>
                </a:solidFill>
                <a:latin typeface="맑은 고딕"/>
              </a:rPr>
              <a:t>offered</a:t>
            </a:r>
            <a:r>
              <a:rPr sz="1400" b="0" i="0" u="none">
                <a:solidFill>
                  <a:srgbClr val="222222"/>
                </a:solidFill>
                <a:latin typeface="맑은 고딕"/>
              </a:rPr>
              <a:t> me the job.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ⓔ A number of suggestions </a:t>
            </a:r>
            <a:r>
              <a:rPr sz="1400" b="1" i="0" u="sng">
                <a:solidFill>
                  <a:srgbClr val="C03A2E"/>
                </a:solidFill>
                <a:latin typeface="맑은 고딕"/>
              </a:rPr>
              <a:t>made</a:t>
            </a:r>
            <a:r>
              <a:rPr sz="1400" b="0" i="0" u="none">
                <a:solidFill>
                  <a:srgbClr val="222222"/>
                </a:solidFill>
                <a:latin typeface="맑은 고딕"/>
              </a:rPr>
              <a:t> at the meeting are not very practical.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ⓕ The waiting room was empty except for a young man </a:t>
            </a:r>
            <a:r>
              <a:rPr sz="1400" b="1" i="0" u="sng">
                <a:solidFill>
                  <a:srgbClr val="C03A2E"/>
                </a:solidFill>
                <a:latin typeface="맑은 고딕"/>
              </a:rPr>
              <a:t>sat</a:t>
            </a:r>
            <a:r>
              <a:rPr sz="1400" b="0" i="0" u="none">
                <a:solidFill>
                  <a:srgbClr val="222222"/>
                </a:solidFill>
                <a:latin typeface="맑은 고딕"/>
              </a:rPr>
              <a:t> by the window.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① ⓐ, ⓑ, ⓔ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② ⓐ, ⓑ, ⓒ, ⓔ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③ ⓐ, ⓑ, ⓓ, ⓔ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④ ⓐ, ⓒ, ⓔ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⑤ ⓐ, ⓓ, ⓔ, ⓕ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④ ⓐ, ⓒ, ⓔ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ⓑ the wide line이 이끌고 있는 능동의 의미이므로 leading으로 고친다.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u="none">
                <a:solidFill>
                  <a:srgbClr val="152A4A"/>
                </a:solidFill>
                <a:latin typeface="맑은 고딕"/>
              </a:rPr>
              <a:t>ⓓ 편지가 나에게 일자리를 제공하는 내용이므로 offering으로 고친다.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u="none">
                <a:solidFill>
                  <a:srgbClr val="152A4A"/>
                </a:solidFill>
                <a:latin typeface="맑은 고딕"/>
              </a:rPr>
              <a:t>ⓕ sat은 sitting으로 고친다.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1 · 93번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현재분사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93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79298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 i="0" u="none">
                <a:solidFill>
                  <a:srgbClr val="1E2A4A"/>
                </a:solidFill>
                <a:latin typeface="맑은 고딕"/>
              </a:rPr>
              <a:t>다음 중 어법상 옳은 문장의 총 개수는?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47978"/>
            <a:ext cx="8214055" cy="3114293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• She is the writer loving by all Koreans.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• Look at this picture which took by my brother.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• He was holding a container which filled with hot water.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• Many students holding their ID cards were waiting in front of the library.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• An actor is named Minho appeared in the movie.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• There were a lot of people who are waiting in line.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08415" y="1347978"/>
            <a:ext cx="2926080" cy="3114293"/>
          </a:xfrm>
          <a:prstGeom prst="roundRect">
            <a:avLst>
              <a:gd name="adj" fmla="val 6000"/>
            </a:avLst>
          </a:prstGeom>
          <a:solidFill>
            <a:srgbClr val="F2F3F5"/>
          </a:solidFill>
          <a:ln w="15875">
            <a:solidFill>
              <a:srgbClr val="F2F3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① 1개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② 2개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③ 3개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④ 4개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⑤ 5개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① 1개</a:t>
            </a:r>
          </a:p>
        </p:txBody>
      </p:sp>
      <p:sp>
        <p:nvSpPr>
          <p:cNvPr id="11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000" b="0" i="0" u="none">
                <a:solidFill>
                  <a:srgbClr val="152A4A"/>
                </a:solidFill>
                <a:latin typeface="맑은 고딕"/>
              </a:rPr>
              <a:t>• She is the writer </a:t>
            </a:r>
            <a:r>
              <a:rPr sz="1000" b="1" i="0" u="sng">
                <a:solidFill>
                  <a:srgbClr val="C03A2E"/>
                </a:solidFill>
                <a:latin typeface="맑은 고딕"/>
              </a:rPr>
              <a:t>loved</a:t>
            </a:r>
            <a:r>
              <a:rPr sz="1000" b="0" i="0" u="none">
                <a:solidFill>
                  <a:srgbClr val="152A4A"/>
                </a:solidFill>
                <a:latin typeface="맑은 고딕"/>
              </a:rPr>
              <a:t> by all Koreans.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 u="none">
                <a:solidFill>
                  <a:srgbClr val="152A4A"/>
                </a:solidFill>
                <a:latin typeface="맑은 고딕"/>
              </a:rPr>
              <a:t>• Look at this picture which </a:t>
            </a:r>
            <a:r>
              <a:rPr sz="1000" b="1" i="0" u="sng">
                <a:solidFill>
                  <a:srgbClr val="C03A2E"/>
                </a:solidFill>
                <a:latin typeface="맑은 고딕"/>
              </a:rPr>
              <a:t>was taken</a:t>
            </a:r>
            <a:r>
              <a:rPr sz="1000" b="0" i="0" u="none">
                <a:solidFill>
                  <a:srgbClr val="152A4A"/>
                </a:solidFill>
                <a:latin typeface="맑은 고딕"/>
              </a:rPr>
              <a:t> by my brother.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 u="none">
                <a:solidFill>
                  <a:srgbClr val="152A4A"/>
                </a:solidFill>
                <a:latin typeface="맑은 고딕"/>
              </a:rPr>
              <a:t>• He was holding a container which </a:t>
            </a:r>
            <a:r>
              <a:rPr sz="1000" b="1" i="0" u="sng">
                <a:solidFill>
                  <a:srgbClr val="C03A2E"/>
                </a:solidFill>
                <a:latin typeface="맑은 고딕"/>
              </a:rPr>
              <a:t>was filled</a:t>
            </a:r>
            <a:r>
              <a:rPr sz="1000" b="0" i="0" u="none">
                <a:solidFill>
                  <a:srgbClr val="152A4A"/>
                </a:solidFill>
                <a:latin typeface="맑은 고딕"/>
              </a:rPr>
              <a:t> with hot water.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 u="none">
                <a:solidFill>
                  <a:srgbClr val="152A4A"/>
                </a:solidFill>
                <a:latin typeface="맑은 고딕"/>
              </a:rPr>
              <a:t>• An actor </a:t>
            </a:r>
            <a:r>
              <a:rPr sz="1000" b="1" i="0" u="sng">
                <a:solidFill>
                  <a:srgbClr val="C03A2E"/>
                </a:solidFill>
                <a:latin typeface="맑은 고딕"/>
              </a:rPr>
              <a:t>(who[that] is) named</a:t>
            </a:r>
            <a:r>
              <a:rPr sz="1000" b="0" i="0" u="none">
                <a:solidFill>
                  <a:srgbClr val="152A4A"/>
                </a:solidFill>
                <a:latin typeface="맑은 고딕"/>
              </a:rPr>
              <a:t> Minho appeared in the movie.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 u="none">
                <a:solidFill>
                  <a:srgbClr val="152A4A"/>
                </a:solidFill>
                <a:latin typeface="맑은 고딕"/>
              </a:rPr>
              <a:t>• There were a lot of people who </a:t>
            </a:r>
            <a:r>
              <a:rPr sz="1000" b="1" i="0" u="sng">
                <a:solidFill>
                  <a:srgbClr val="C03A2E"/>
                </a:solidFill>
                <a:latin typeface="맑은 고딕"/>
              </a:rPr>
              <a:t>were</a:t>
            </a:r>
            <a:r>
              <a:rPr sz="1000" b="0" i="0" u="none">
                <a:solidFill>
                  <a:srgbClr val="152A4A"/>
                </a:solidFill>
                <a:latin typeface="맑은 고딕"/>
              </a:rPr>
              <a:t> waiting in line.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1 · 94번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현재분사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94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79298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 i="0" u="none">
                <a:solidFill>
                  <a:srgbClr val="1E2A4A"/>
                </a:solidFill>
                <a:latin typeface="맑은 고딕"/>
              </a:rPr>
              <a:t>다음 중 어법상 옳은 문장의 총 개수는?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47978"/>
            <a:ext cx="8214055" cy="3114293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ⓐ The barking dog is mine.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ⓑ Do you know the man stood in line?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ⓒ I think bungee jumping was a terrified experience.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ⓓ We brought all tools requiring to fix the bike.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ⓔ She saw a wounded soldier laying on the grass.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ⓕ Do you know the boy sit next to Cathy?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ⓖ She is looking at a girl drinking some juice.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08415" y="1347978"/>
            <a:ext cx="2926080" cy="3114293"/>
          </a:xfrm>
          <a:prstGeom prst="roundRect">
            <a:avLst>
              <a:gd name="adj" fmla="val 6000"/>
            </a:avLst>
          </a:prstGeom>
          <a:solidFill>
            <a:srgbClr val="F2F3F5"/>
          </a:solidFill>
          <a:ln w="15875">
            <a:solidFill>
              <a:srgbClr val="F2F3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① 1개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② 2개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③ 3개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④ 4개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⑤ 5개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② 2개</a:t>
            </a:r>
          </a:p>
        </p:txBody>
      </p:sp>
      <p:sp>
        <p:nvSpPr>
          <p:cNvPr id="11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000" b="0" i="0" u="none">
                <a:solidFill>
                  <a:srgbClr val="152A4A"/>
                </a:solidFill>
                <a:latin typeface="맑은 고딕"/>
              </a:rPr>
              <a:t>ⓑ stood → standing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 u="none">
                <a:solidFill>
                  <a:srgbClr val="152A4A"/>
                </a:solidFill>
                <a:latin typeface="맑은 고딕"/>
              </a:rPr>
              <a:t>ⓒ terrified → terrifying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 u="none">
                <a:solidFill>
                  <a:srgbClr val="152A4A"/>
                </a:solidFill>
                <a:latin typeface="맑은 고딕"/>
              </a:rPr>
              <a:t>ⓓ requiring → required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 u="none">
                <a:solidFill>
                  <a:srgbClr val="152A4A"/>
                </a:solidFill>
                <a:latin typeface="맑은 고딕"/>
              </a:rPr>
              <a:t>ⓔ laying → lying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 u="none">
                <a:solidFill>
                  <a:srgbClr val="152A4A"/>
                </a:solidFill>
                <a:latin typeface="맑은 고딕"/>
              </a:rPr>
              <a:t>ⓕ sit → sitting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1 · 95번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현재분사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95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3296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 u="none">
                <a:solidFill>
                  <a:srgbClr val="1E2A4A"/>
                </a:solidFill>
                <a:latin typeface="맑은 고딕"/>
              </a:rPr>
              <a:t>다음 중 어법상 올바른 문장의 개수는?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31976"/>
            <a:ext cx="8214055" cy="3130295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• Look at the birds singing in the trees.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• There's no one lived in the old house.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• Look at the mountain covering with snow.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• The man stood over there is my uncle.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• The police found the money steal in the robbery.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• There was a fancy car parked outside the house.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• Look at the student satisfied with the exam result.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• The road connecting two towns were blocked by a large truck.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08415" y="1331976"/>
            <a:ext cx="2926080" cy="3130295"/>
          </a:xfrm>
          <a:prstGeom prst="roundRect">
            <a:avLst>
              <a:gd name="adj" fmla="val 6000"/>
            </a:avLst>
          </a:prstGeom>
          <a:solidFill>
            <a:srgbClr val="F2F3F5"/>
          </a:solidFill>
          <a:ln w="15875">
            <a:solidFill>
              <a:srgbClr val="F2F3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① 2개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② 3개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③ 4개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④ 5개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⑤ 6개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② 3개</a:t>
            </a:r>
          </a:p>
        </p:txBody>
      </p:sp>
      <p:sp>
        <p:nvSpPr>
          <p:cNvPr id="11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(차례대로) lived → living / covering →covered / stood → standing / steal → stolen / were → was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1 · 96번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현재분사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96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99288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 u="none">
                <a:solidFill>
                  <a:srgbClr val="1E2A4A"/>
                </a:solidFill>
                <a:latin typeface="맑은 고딕"/>
              </a:rPr>
              <a:t>다음 중 어법상 옳은 문장의 총 개수는?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67968"/>
            <a:ext cx="8214055" cy="279019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u="none">
                <a:solidFill>
                  <a:srgbClr val="222222"/>
                </a:solidFill>
                <a:latin typeface="맑은 고딕"/>
              </a:rPr>
              <a:t>ⓐ These are skates made by his grandfather.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u="none">
                <a:solidFill>
                  <a:srgbClr val="222222"/>
                </a:solidFill>
                <a:latin typeface="맑은 고딕"/>
              </a:rPr>
              <a:t>ⓑ This is the picture painting by a famous artist.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u="none">
                <a:solidFill>
                  <a:srgbClr val="222222"/>
                </a:solidFill>
                <a:latin typeface="맑은 고딕"/>
              </a:rPr>
              <a:t>ⓒ The boy cried in the room is my brother.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u="none">
                <a:solidFill>
                  <a:srgbClr val="222222"/>
                </a:solidFill>
                <a:latin typeface="맑은 고딕"/>
              </a:rPr>
              <a:t>ⓓ Look at the picture of a man played soccer.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u="none">
                <a:solidFill>
                  <a:srgbClr val="222222"/>
                </a:solidFill>
                <a:latin typeface="맑은 고딕"/>
              </a:rPr>
              <a:t>ⓔ They swept the leaves fallen on the ground.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u="none">
                <a:solidFill>
                  <a:srgbClr val="222222"/>
                </a:solidFill>
                <a:latin typeface="맑은 고딕"/>
              </a:rPr>
              <a:t>ⓕ She is a famous singer naming Sarah.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u="none">
                <a:solidFill>
                  <a:srgbClr val="222222"/>
                </a:solidFill>
                <a:latin typeface="맑은 고딕"/>
              </a:rPr>
              <a:t>ⓖ We sent people cards printing with our pictures.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u="none">
                <a:solidFill>
                  <a:srgbClr val="222222"/>
                </a:solidFill>
                <a:latin typeface="맑은 고딕"/>
              </a:rPr>
              <a:t>ⓗ I went to the French restaurant locates on 5th street.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u="none">
                <a:solidFill>
                  <a:srgbClr val="222222"/>
                </a:solidFill>
                <a:latin typeface="맑은 고딕"/>
              </a:rPr>
              <a:t>ⓘ Have you ever seen a mouse making for left-handed people?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u="none">
                <a:solidFill>
                  <a:srgbClr val="222222"/>
                </a:solidFill>
                <a:latin typeface="맑은 고딕"/>
              </a:rPr>
              <a:t>ⓙ I want to recommend The Old Man and the Sea written by Ernest Hemingway.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08415" y="1267968"/>
            <a:ext cx="2926080" cy="2790190"/>
          </a:xfrm>
          <a:prstGeom prst="roundRect">
            <a:avLst>
              <a:gd name="adj" fmla="val 6000"/>
            </a:avLst>
          </a:prstGeom>
          <a:solidFill>
            <a:srgbClr val="F2F3F5"/>
          </a:solidFill>
          <a:ln w="15875">
            <a:solidFill>
              <a:srgbClr val="F2F3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 u="none">
                <a:solidFill>
                  <a:srgbClr val="222222"/>
                </a:solidFill>
                <a:latin typeface="맑은 고딕"/>
              </a:rPr>
              <a:t>① 2개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 u="none">
                <a:solidFill>
                  <a:srgbClr val="222222"/>
                </a:solidFill>
                <a:latin typeface="맑은 고딕"/>
              </a:rPr>
              <a:t>② 3개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 u="none">
                <a:solidFill>
                  <a:srgbClr val="222222"/>
                </a:solidFill>
                <a:latin typeface="맑은 고딕"/>
              </a:rPr>
              <a:t>③ 4개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 u="none">
                <a:solidFill>
                  <a:srgbClr val="222222"/>
                </a:solidFill>
                <a:latin typeface="맑은 고딕"/>
              </a:rPr>
              <a:t>④ 5개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 u="none">
                <a:solidFill>
                  <a:srgbClr val="222222"/>
                </a:solidFill>
                <a:latin typeface="맑은 고딕"/>
              </a:rPr>
              <a:t>⑤ 6개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4103878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veal_1_en"/>
          <p:cNvSpPr/>
          <p:nvPr/>
        </p:nvSpPr>
        <p:spPr>
          <a:xfrm>
            <a:off x="457200" y="4241038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② 3개</a:t>
            </a:r>
          </a:p>
        </p:txBody>
      </p:sp>
      <p:sp>
        <p:nvSpPr>
          <p:cNvPr id="11" name="reveal_2_en"/>
          <p:cNvSpPr/>
          <p:nvPr/>
        </p:nvSpPr>
        <p:spPr>
          <a:xfrm>
            <a:off x="457200" y="5036566"/>
            <a:ext cx="11277295" cy="1638554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100" b="0" i="0" u="none">
                <a:solidFill>
                  <a:srgbClr val="152A4A"/>
                </a:solidFill>
                <a:latin typeface="맑은 고딕"/>
              </a:rPr>
              <a:t>ⓑ painting → painted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 u="none">
                <a:solidFill>
                  <a:srgbClr val="152A4A"/>
                </a:solidFill>
                <a:latin typeface="맑은 고딕"/>
              </a:rPr>
              <a:t>ⓒ cried → crying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 u="none">
                <a:solidFill>
                  <a:srgbClr val="152A4A"/>
                </a:solidFill>
                <a:latin typeface="맑은 고딕"/>
              </a:rPr>
              <a:t>ⓓ played → playing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 u="none">
                <a:solidFill>
                  <a:srgbClr val="152A4A"/>
                </a:solidFill>
                <a:latin typeface="맑은 고딕"/>
              </a:rPr>
              <a:t>ⓕ naming → named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 u="none">
                <a:solidFill>
                  <a:srgbClr val="152A4A"/>
                </a:solidFill>
                <a:latin typeface="맑은 고딕"/>
              </a:rPr>
              <a:t>ⓖ printing → printed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 u="none">
                <a:solidFill>
                  <a:srgbClr val="152A4A"/>
                </a:solidFill>
                <a:latin typeface="맑은 고딕"/>
              </a:rPr>
              <a:t>ⓗ locates → located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 u="none">
                <a:solidFill>
                  <a:srgbClr val="152A4A"/>
                </a:solidFill>
                <a:latin typeface="맑은 고딕"/>
              </a:rPr>
              <a:t>ⓘ making → made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1 · 97번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현재분사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97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1528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 u="none">
                <a:solidFill>
                  <a:srgbClr val="1E2A4A"/>
                </a:solidFill>
                <a:latin typeface="맑은 고딕"/>
              </a:rPr>
              <a:t>다음 중 어법상 옳은 문장끼리 바르게 짝지어진 것은?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3970"/>
            <a:ext cx="8214055" cy="297561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ⓐ The car breaking in the accident was mine.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ⓑ The portrait hanged on the wall was painted in the 1960s.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ⓒ There are some sculptures carving by Donatello.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ⓓ Did you see the town destroying by bombing?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ⓔ Who is the boy making a speech in front of others?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ⓕ She looked at a leaf painting on the wall.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ⓖ This is a film produced in Japan.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ⓗ The fence painted in white is very pretty.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ⓘ Those expressions are only used in speaking English.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ⓙ Do you know the woman waving her hand at you?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ⓚ Cool the burn with running water for 10~15 minutes.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08415" y="1283970"/>
            <a:ext cx="2926080" cy="2975610"/>
          </a:xfrm>
          <a:prstGeom prst="roundRect">
            <a:avLst>
              <a:gd name="adj" fmla="val 6000"/>
            </a:avLst>
          </a:prstGeom>
          <a:solidFill>
            <a:srgbClr val="F2F3F5"/>
          </a:solidFill>
          <a:ln w="15875">
            <a:solidFill>
              <a:srgbClr val="F2F3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① ⓔ, ⓖ, ⓗ, ⓙ, ⓚ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② ⓐ, ⓒ, ⓓ, ⓔ, ⓙ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③ ⓕ, ⓖ, ⓗ, ⓘ, ⓙ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④ ⓔ, ⓖ, ⓗ, ⓘ, ⓚ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⑤ ⓑ, ⓔ, ⓖ, ⓗ, ⓙ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4305300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veal_1_en"/>
          <p:cNvSpPr/>
          <p:nvPr/>
        </p:nvSpPr>
        <p:spPr>
          <a:xfrm>
            <a:off x="457200" y="4442460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① ⓔ, ⓖ, ⓗ, ⓙ, ⓚ</a:t>
            </a:r>
          </a:p>
        </p:txBody>
      </p:sp>
      <p:sp>
        <p:nvSpPr>
          <p:cNvPr id="11" name="reveal_2_en"/>
          <p:cNvSpPr/>
          <p:nvPr/>
        </p:nvSpPr>
        <p:spPr>
          <a:xfrm>
            <a:off x="457200" y="5237988"/>
            <a:ext cx="11277295" cy="1437132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100" b="0" i="0" u="none">
                <a:solidFill>
                  <a:srgbClr val="152A4A"/>
                </a:solidFill>
                <a:latin typeface="맑은 고딕"/>
              </a:rPr>
              <a:t>ⓐ breaking → broken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 u="none">
                <a:solidFill>
                  <a:srgbClr val="152A4A"/>
                </a:solidFill>
                <a:latin typeface="맑은 고딕"/>
              </a:rPr>
              <a:t>ⓑ hanged → hanging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 u="none">
                <a:solidFill>
                  <a:srgbClr val="152A4A"/>
                </a:solidFill>
                <a:latin typeface="맑은 고딕"/>
              </a:rPr>
              <a:t>ⓒ carving → carved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 u="none">
                <a:solidFill>
                  <a:srgbClr val="152A4A"/>
                </a:solidFill>
                <a:latin typeface="맑은 고딕"/>
              </a:rPr>
              <a:t>ⓓ destroying → destroyed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 u="none">
                <a:solidFill>
                  <a:srgbClr val="152A4A"/>
                </a:solidFill>
                <a:latin typeface="맑은 고딕"/>
              </a:rPr>
              <a:t>ⓕ painting → painted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 u="none">
                <a:solidFill>
                  <a:srgbClr val="152A4A"/>
                </a:solidFill>
                <a:latin typeface="맑은 고딕"/>
              </a:rPr>
              <a:t>ⓘ speaking → spoken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 u="none">
                <a:solidFill>
                  <a:srgbClr val="FFFFFF"/>
                </a:solidFill>
                <a:latin typeface="맑은 고딕"/>
              </a:rPr>
              <a:t>Pattern 2.  as + 형용사/부사의 원급 + 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2120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‘as ~ as …’는 ‘…만큼 ~한/하게’라는 뜻의 원급 비교 표현으로, 두 비교 대상이 동등함을 나타낸다.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u="none">
                <a:solidFill>
                  <a:srgbClr val="1E2A4A"/>
                </a:solidFill>
                <a:latin typeface="맑은 고딕"/>
              </a:rPr>
              <a:t>as와 as 사이에는 반드시 형용사·부사의 원급(원래 형태)을 쓴다.   부정: not as[so] ~ as …  (…만큼 ~하지 않은)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800" b="1" i="0" u="none">
                <a:solidFill>
                  <a:srgbClr val="222222"/>
                </a:solidFill>
                <a:latin typeface="맑은 고딕"/>
              </a:rPr>
              <a:t>▸ They are </a:t>
            </a:r>
            <a:r>
              <a:rPr sz="1800" b="1" i="0" u="sng">
                <a:solidFill>
                  <a:srgbClr val="C03A2E"/>
                </a:solidFill>
                <a:latin typeface="맑은 고딕"/>
              </a:rPr>
              <a:t>as</a:t>
            </a:r>
            <a:r>
              <a:rPr sz="1800" b="1" i="0" u="none">
                <a:solidFill>
                  <a:srgbClr val="222222"/>
                </a:solidFill>
                <a:latin typeface="맑은 고딕"/>
              </a:rPr>
              <a:t> important </a:t>
            </a:r>
            <a:r>
              <a:rPr sz="1800" b="1" i="0" u="sng">
                <a:solidFill>
                  <a:srgbClr val="C03A2E"/>
                </a:solidFill>
                <a:latin typeface="맑은 고딕"/>
              </a:rPr>
              <a:t>as</a:t>
            </a:r>
            <a:r>
              <a:rPr sz="1800" b="1" i="0" u="none">
                <a:solidFill>
                  <a:srgbClr val="222222"/>
                </a:solidFill>
                <a:latin typeface="맑은 고딕"/>
              </a:rPr>
              <a:t> the players.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0" i="0" u="none">
                <a:solidFill>
                  <a:srgbClr val="555555"/>
                </a:solidFill>
                <a:latin typeface="맑은 고딕"/>
              </a:rPr>
              <a:t>    그들은 선수들만큼 중요하다.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800" b="1" i="0" u="none">
                <a:solidFill>
                  <a:srgbClr val="222222"/>
                </a:solidFill>
                <a:latin typeface="맑은 고딕"/>
              </a:rPr>
              <a:t>▸ Jason can run </a:t>
            </a:r>
            <a:r>
              <a:rPr sz="1800" b="1" i="0" u="sng">
                <a:solidFill>
                  <a:srgbClr val="C03A2E"/>
                </a:solidFill>
                <a:latin typeface="맑은 고딕"/>
              </a:rPr>
              <a:t>as</a:t>
            </a:r>
            <a:r>
              <a:rPr sz="1800" b="1" i="0" u="none">
                <a:solidFill>
                  <a:srgbClr val="222222"/>
                </a:solidFill>
                <a:latin typeface="맑은 고딕"/>
              </a:rPr>
              <a:t> fast </a:t>
            </a:r>
            <a:r>
              <a:rPr sz="1800" b="1" i="0" u="sng">
                <a:solidFill>
                  <a:srgbClr val="C03A2E"/>
                </a:solidFill>
                <a:latin typeface="맑은 고딕"/>
              </a:rPr>
              <a:t>as</a:t>
            </a:r>
            <a:r>
              <a:rPr sz="1800" b="1" i="0" u="none">
                <a:solidFill>
                  <a:srgbClr val="222222"/>
                </a:solidFill>
                <a:latin typeface="맑은 고딕"/>
              </a:rPr>
              <a:t> Mike.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0" i="0" u="none">
                <a:solidFill>
                  <a:srgbClr val="555555"/>
                </a:solidFill>
                <a:latin typeface="맑은 고딕"/>
              </a:rPr>
              <a:t>    Jason은 Mike만큼 빠르게 달릴 수 있다.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800" b="1" i="0" u="none">
                <a:solidFill>
                  <a:srgbClr val="222222"/>
                </a:solidFill>
                <a:latin typeface="맑은 고딕"/>
              </a:rPr>
              <a:t>▸ I am </a:t>
            </a:r>
            <a:r>
              <a:rPr sz="1800" b="1" i="0" u="sng">
                <a:solidFill>
                  <a:srgbClr val="C03A2E"/>
                </a:solidFill>
                <a:latin typeface="맑은 고딕"/>
              </a:rPr>
              <a:t>as</a:t>
            </a:r>
            <a:r>
              <a:rPr sz="1800" b="1" i="0" u="none">
                <a:solidFill>
                  <a:srgbClr val="222222"/>
                </a:solidFill>
                <a:latin typeface="맑은 고딕"/>
              </a:rPr>
              <a:t> hungry </a:t>
            </a:r>
            <a:r>
              <a:rPr sz="1800" b="1" i="0" u="sng">
                <a:solidFill>
                  <a:srgbClr val="C03A2E"/>
                </a:solidFill>
                <a:latin typeface="맑은 고딕"/>
              </a:rPr>
              <a:t>as</a:t>
            </a:r>
            <a:r>
              <a:rPr sz="1800" b="1" i="0" u="none">
                <a:solidFill>
                  <a:srgbClr val="222222"/>
                </a:solidFill>
                <a:latin typeface="맑은 고딕"/>
              </a:rPr>
              <a:t> you.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0" i="0" u="none">
                <a:solidFill>
                  <a:srgbClr val="555555"/>
                </a:solidFill>
                <a:latin typeface="맑은 고딕"/>
              </a:rPr>
              <a:t>    나는 너만큼 배고프다.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800" b="1" i="0" u="none">
                <a:solidFill>
                  <a:srgbClr val="222222"/>
                </a:solidFill>
                <a:latin typeface="맑은 고딕"/>
              </a:rPr>
              <a:t>▸ Canada is </a:t>
            </a:r>
            <a:r>
              <a:rPr sz="1800" b="1" i="0" u="sng">
                <a:solidFill>
                  <a:srgbClr val="C03A2E"/>
                </a:solidFill>
                <a:latin typeface="맑은 고딕"/>
              </a:rPr>
              <a:t>as</a:t>
            </a:r>
            <a:r>
              <a:rPr sz="1800" b="1" i="0" u="none">
                <a:solidFill>
                  <a:srgbClr val="222222"/>
                </a:solidFill>
                <a:latin typeface="맑은 고딕"/>
              </a:rPr>
              <a:t> large </a:t>
            </a:r>
            <a:r>
              <a:rPr sz="1800" b="1" i="0" u="sng">
                <a:solidFill>
                  <a:srgbClr val="C03A2E"/>
                </a:solidFill>
                <a:latin typeface="맑은 고딕"/>
              </a:rPr>
              <a:t>as</a:t>
            </a:r>
            <a:r>
              <a:rPr sz="1800" b="1" i="0" u="none">
                <a:solidFill>
                  <a:srgbClr val="222222"/>
                </a:solidFill>
                <a:latin typeface="맑은 고딕"/>
              </a:rPr>
              <a:t> the USA.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0" i="0" u="none">
                <a:solidFill>
                  <a:srgbClr val="555555"/>
                </a:solidFill>
                <a:latin typeface="맑은 고딕"/>
              </a:rPr>
              <a:t>    캐나다는 미국만큼 크다.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800" b="1" i="0" u="none">
                <a:solidFill>
                  <a:srgbClr val="222222"/>
                </a:solidFill>
                <a:latin typeface="맑은 고딕"/>
              </a:rPr>
              <a:t>▸ Today is </a:t>
            </a:r>
            <a:r>
              <a:rPr sz="1800" b="1" i="0" u="sng">
                <a:solidFill>
                  <a:srgbClr val="C03A2E"/>
                </a:solidFill>
                <a:latin typeface="맑은 고딕"/>
              </a:rPr>
              <a:t>as</a:t>
            </a:r>
            <a:r>
              <a:rPr sz="1800" b="1" i="0" u="none">
                <a:solidFill>
                  <a:srgbClr val="222222"/>
                </a:solidFill>
                <a:latin typeface="맑은 고딕"/>
              </a:rPr>
              <a:t> windy </a:t>
            </a:r>
            <a:r>
              <a:rPr sz="1800" b="1" i="0" u="sng">
                <a:solidFill>
                  <a:srgbClr val="C03A2E"/>
                </a:solidFill>
                <a:latin typeface="맑은 고딕"/>
              </a:rPr>
              <a:t>as</a:t>
            </a:r>
            <a:r>
              <a:rPr sz="1800" b="1" i="0" u="none">
                <a:solidFill>
                  <a:srgbClr val="222222"/>
                </a:solidFill>
                <a:latin typeface="맑은 고딕"/>
              </a:rPr>
              <a:t> yesterday.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0" i="0" u="none">
                <a:solidFill>
                  <a:srgbClr val="555555"/>
                </a:solidFill>
                <a:latin typeface="맑은 고딕"/>
              </a:rPr>
              <a:t>    오늘은 어제만큼 바람이 분다.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2 · 01번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as + 형용사/부사의 원급 + 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98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빈칸에 공통으로 들어갈 말로 알맞은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My brother is _______ tall _______ my father.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so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as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too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to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much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② as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as+형용사/부사+as는 ‘~만큼 ...한’이라는 뜻으로 형용사, 부사의 원급을 이용하여 동등한 두 대상을 비교하는 동등 비교이다.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2 · 02번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as + 형용사/부사의 원급 + 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99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빈칸에 들어갈 말로 알맞은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 eats as _________ as an elephant.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more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much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most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short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high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② much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코끼리만큼 많이 먹는다고 해야 자연스러우므로 much가 들어가야 하며, as ~ as 사이에는 원급을 쓴다.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2 · 03번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as + 형용사/부사의 원급 + 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100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우리말을 영어로 바르게 옮긴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Maria는 Jamie만큼 많은 책을 가지고 있다.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Maria has as many books Jamie.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Maria has as many books as Jamie.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Maria has many as books as Jamie.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Maria has as many as books Jamie.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Maria has many books as Jamie.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② Maria has as many books as Jamie.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as+형용사/부사+as는 ‘~만큼 ...한’이라는 뜻으로 형용사, 부사의 원급을 이용하여 동등한 두 대상을 비교하는 동등 비교이다.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2 · 04번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as + 형용사/부사의 원급 + 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101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 u="none">
                <a:solidFill>
                  <a:srgbClr val="1E2A4A"/>
                </a:solidFill>
                <a:latin typeface="맑은 고딕"/>
              </a:rPr>
              <a:t>다음 빈칸 (A)~(C)에 들어갈 말이 바르게 짝지어진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• He is as (A)_________ as his brother.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• Emma runs as (B)_________ as Jenny.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• This pizza is as (C)_________ as that one.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①  (A) fast   (B) big   (C) strong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②  (A) strong   (B) fast   (C) big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③  (A) stronger   (B) faster   (C) bigger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④  (A) most strong   (B) most fast   (C) big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⑤  (A) more fast   (B) more big   (C) strong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②  (A) strong   (B) fast   (C) big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as와 as사이에는 형용사, 부사의 원급이 온다. ①번의 경우, (B)에 올 말로 big은 run과 의미상 어울리지 않는다.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2 · 05번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as + 형용사/부사의 원급 + 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102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문장과 의미가 같은 것을 모두 고르면?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Koalas are cuter than polar bears.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Polar bears are not as cute as koalas.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Polar bears are cuter than koalas.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Polar bears are less cute than koalas.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Koalas are as cute as polar bears.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Koalas are not as cute as polar bears.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 u="none">
                <a:solidFill>
                  <a:srgbClr val="5A4200"/>
                </a:solidFill>
                <a:latin typeface="맑은 고딕"/>
              </a:rPr>
              <a:t>정답:  ①, ③   (① Polar bears are not as cute as koalas.  /  ③ Polar bears are less cute than koalas.)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비교급+than ‘~보다 ...한’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u="none">
                <a:solidFill>
                  <a:srgbClr val="152A4A"/>
                </a:solidFill>
                <a:latin typeface="맑은 고딕"/>
              </a:rPr>
              <a:t>동등 비교의 부정은 not as+형용사/부사+as로 ‘~만큼 ...하지 않은’의 의미이다.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u="none">
                <a:solidFill>
                  <a:srgbClr val="152A4A"/>
                </a:solidFill>
                <a:latin typeface="맑은 고딕"/>
              </a:rPr>
              <a:t>열등비교는 less+형용사원급+than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2 · 06번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as + 형용사/부사의 원급 + 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103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1E2A4A"/>
                </a:solidFill>
                <a:latin typeface="맑은 고딕"/>
              </a:rPr>
              <a:t>다음 빈칸에 들어갈 알맞은 단어로 바르게 짝지어진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• They are as (slow / slowly) as a snail.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• Steve eats as (quick / quickly) as she does.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• He runs as (fast / fastly) as I do.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① slow - quickly - fast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② slow - quickly - fastly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③ slow - quick - fast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④ slowly - quick - fastly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⑤ slowly - quick  - fast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① slow - quickly - fast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ⓐ be동사의 보어로 형용사가 적절하다.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u="none">
                <a:solidFill>
                  <a:srgbClr val="152A4A"/>
                </a:solidFill>
                <a:latin typeface="맑은 고딕"/>
              </a:rPr>
              <a:t>ⓑ 동사를 꾸며주는 부사가 적절하다.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u="none">
                <a:solidFill>
                  <a:srgbClr val="152A4A"/>
                </a:solidFill>
                <a:latin typeface="맑은 고딕"/>
              </a:rPr>
              <a:t>ⓒ 동사를 꾸며주는 부사가 적절하고, fast는 부사와 형용사 형태가 같다.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2 · 07번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as + 형용사/부사의 원급 + 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104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우리말을 바르게 영작한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키위는 바나나만큼 인기 있지는 않다.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A kiwi is as not popular as a banana.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A kiwi is not as popular as a banana.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A kiwi is not also popular as a banana.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A kiwi is not very popular as a banana.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A kiwi is very not popular as a banana.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② A kiwi is not as popular as a banana.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동등 비교의 부정은 not as+형용사/부사+as로 ‘~만큼 ~하지 않은’의 의미이다.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2 · 08번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as + 형용사/부사의 원급 + 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105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문장을 영어로 바르게 잘 옮긴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그는 그 여자만큼 빠르게 달릴 수 없다.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He can never run as fast than she can.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She can never run as fast so he can.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He cannot run as faster than she can.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She cannot run as faster as he can.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He can never run as fast as she can.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⑤ He can never run as fast as she can.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[not/never+as+형용사/부사의 원급+as] ’~만큼 ...하지 않은‘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2 · 09번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as + 형용사/부사의 원급 + 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106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우리말을 영어로 바르게 옮긴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흰긴수염고래의 혀는 코끼리 한 마리만큼 무겁다.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*blue whale 흰긴수염고래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The blue whale's tongue is as heavy as an elephant.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An elephant is not as heavy as the blue whale's tongue.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The blue whale's tongue is very heavy an elephant.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An elephant is as heaviest as the blue whale's tongue.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The blue whale's tongue is as an elephant as heavy.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① The blue whale's tongue is as heavy as an elephant.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as 원급 as ~만큼 ...한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2 · 10번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as + 형용사/부사의 원급 + 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107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문장과 같은 의미를 가진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My ruler is 30 centimeters long.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Your ruler is 30 centimeters long, too.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My ruler is as long as yours.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My ruler is longer than yours.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Your ruler is longer than mine.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Your ruler is not so long as mine.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Your ruler is very long.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① My ruler is as long as yours.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as+형용사/부사+as는 ‘~만큼 ...한’이라는 뜻으로 형용사, 부사의 원급을 이용하여 동등한 두 대상을 비교하는 동등 비교이다.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2 · 11번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as + 형용사/부사의 원급 + 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108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밑줄 친 부분이 어법상 어색한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My brother is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as busy as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a bee.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The dress looks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as love as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mine.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Sally speaks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as slowly as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she does.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Tom dances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as nicely as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the girl.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 can speak Spanish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as fluently as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him.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② The dress looks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as love as</a:t>
            </a:r>
            <a:r>
              <a:rPr sz="2000" b="1" i="0" u="none">
                <a:solidFill>
                  <a:srgbClr val="5A4200"/>
                </a:solidFill>
                <a:latin typeface="맑은 고딕"/>
              </a:rPr>
              <a:t> mine.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as love as → as lovely as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u="none">
                <a:solidFill>
                  <a:srgbClr val="152A4A"/>
                </a:solidFill>
                <a:latin typeface="맑은 고딕"/>
              </a:rPr>
              <a:t>as+형용사/부사+as는 ‘~만큼 ...한’이라는 뜻으로 형용사, 부사의 원급을 이용하여 동등한 두 대상을 비교하는 동등 비교이다.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2 · 12번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as + 형용사/부사의 원급 + 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109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어법상 옳은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Mike is as tallest as his father.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This car is as faster as that car.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The pen is as long as that pencil.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This candy is as harder as a rock.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This dog is as heavier as that cat.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③ The pen is as long as that pencil.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400" b="0" i="0" u="none">
                <a:solidFill>
                  <a:srgbClr val="152A4A"/>
                </a:solidFill>
                <a:latin typeface="맑은 고딕"/>
              </a:rPr>
              <a:t>① tallest → tall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② faster → fast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④ harder → hard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⑤ heavier → heavy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2 · 13번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as + 형용사/부사의 원급 + 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110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어법상 어색한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Duri's eyes are as big as Seri's.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My brother is as taller as my father.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She isn’t so polite as you.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He is much heavier than my brother.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Mina gets up as early as her sister.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② My brother is as taller as my father.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as taller as → as tall as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u="none">
                <a:solidFill>
                  <a:srgbClr val="152A4A"/>
                </a:solidFill>
                <a:latin typeface="맑은 고딕"/>
              </a:rPr>
              <a:t>as+형용사/부사+as는 ‘~만큼 ...한’이라는 뜻으로 형용사, 부사의 원급을 이용하여 동등한 두 대상을 비교하는 동등 비교이다.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2 · 14번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as + 형용사/부사의 원급 + 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111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어법상 어색한 것을 모두 고르면?(2개)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Seungho runs as fast as Yongjun.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Goeun studies as hard as Sujeong.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Minsu speaks Chinese as good as I do.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She is as pretty as an actress.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You know about history as many as she does.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 u="none">
                <a:solidFill>
                  <a:srgbClr val="5A4200"/>
                </a:solidFill>
                <a:latin typeface="맑은 고딕"/>
              </a:rPr>
              <a:t>정답:  ③, ⑤   (③ Minsu speaks Chinese as good as I do.  /  ⑤ You know about history as many as she does.)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③ as good as → as well as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u="none">
                <a:solidFill>
                  <a:srgbClr val="152A4A"/>
                </a:solidFill>
                <a:latin typeface="맑은 고딕"/>
              </a:rPr>
              <a:t>⑤ as many as → as much as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2 · 15번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as + 형용사/부사의 원급 + 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112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동등비교 표현이 어색한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 am as happy as a lark.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He is as tall as a snake.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She is as lovely as a puppy.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Jane is as small as a rabbit.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Sam is as heavy as an elephant.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② He is as tall as a snake.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‘그는 뱀만큼 크다’라는 표현은 어색하다.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2 · 16번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as + 형용사/부사의 원급 + 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113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어법상 어색한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 have studied as hard as you.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Writing is not as easy as reading.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Their house is twice as large as my house.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Reading a book is as fun as playing soccer.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The new table is as twice expensive as the old one.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⑤ The new table is as twice expensive as the old one.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The new table is twice as expensive as the old one.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2 · 17번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as + 형용사/부사의 원급 + 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114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문장의 밑줄 친 부분이 어색한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 will help my mom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as often as possible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 will get up in the morning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as early as possible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 will finish homework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as quickly as possible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Call me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as soon as possible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Drink water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as many as possible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⑤ Drink water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as many as possible</a:t>
            </a:r>
            <a:r>
              <a:rPr sz="2000" b="1" i="0" u="none">
                <a:solidFill>
                  <a:srgbClr val="5A4200"/>
                </a:solidFill>
                <a:latin typeface="맑은 고딕"/>
              </a:rPr>
              <a:t>.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as many as possible → as much as possible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2 · 18번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as + 형용사/부사의 원급 + 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115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 u="none">
                <a:solidFill>
                  <a:srgbClr val="1E2A4A"/>
                </a:solidFill>
                <a:latin typeface="맑은 고딕"/>
              </a:rPr>
              <a:t>다음 중 짝지어진 두 문장의 의미가 다른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① You ate more apples than me.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= I ate as many apples as you.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② We played better than them.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= They didn't play as well as us.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③ You got up earlier than me.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= I didn't get up as early as you.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④ My house is smaller than yours.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= Your house isn't as small as mine.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⑤ I've been here longer than you.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= You haven't been here as long as me.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 u="none">
                <a:solidFill>
                  <a:srgbClr val="5A4200"/>
                </a:solidFill>
                <a:latin typeface="맑은 고딕"/>
              </a:rPr>
              <a:t>정답:  ① You ate more apples than me.  = I ate as many apples as you.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→ I didn’t eat as many apples as you.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2 · 19번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as + 형용사/부사의 원급 + 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116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 u="none">
                <a:solidFill>
                  <a:srgbClr val="1E2A4A"/>
                </a:solidFill>
                <a:latin typeface="맑은 고딕"/>
              </a:rPr>
              <a:t>다음 글의 밑줄 친 ⓐ~ⓔ를 바르게 고친 것이 어색한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 ⓐ</a:t>
            </a:r>
            <a:r>
              <a:rPr sz="1700" b="1" i="0" u="sng">
                <a:solidFill>
                  <a:srgbClr val="C03A2E"/>
                </a:solidFill>
                <a:latin typeface="맑은 고딕"/>
              </a:rPr>
              <a:t>Does you know</a:t>
            </a:r>
            <a:r>
              <a:rPr sz="1700" b="0" i="0" u="none">
                <a:solidFill>
                  <a:srgbClr val="222222"/>
                </a:solidFill>
                <a:latin typeface="맑은 고딕"/>
              </a:rPr>
              <a:t> this bird? It is about 150 cm tall. It is ⓑ</a:t>
            </a:r>
            <a:r>
              <a:rPr sz="1700" b="1" i="0" u="sng">
                <a:solidFill>
                  <a:srgbClr val="C03A2E"/>
                </a:solidFill>
                <a:latin typeface="맑은 고딕"/>
              </a:rPr>
              <a:t>as tallest as a boy</a:t>
            </a:r>
            <a:r>
              <a:rPr sz="1700" b="0" i="0" u="none">
                <a:solidFill>
                  <a:srgbClr val="222222"/>
                </a:solidFill>
                <a:latin typeface="맑은 고딕"/>
              </a:rPr>
              <a:t>. It has ⓒ</a:t>
            </a:r>
            <a:r>
              <a:rPr sz="1700" b="1" i="0" u="sng">
                <a:solidFill>
                  <a:srgbClr val="C03A2E"/>
                </a:solidFill>
                <a:latin typeface="맑은 고딕"/>
              </a:rPr>
              <a:t>the biggest head in the bird family</a:t>
            </a:r>
            <a:r>
              <a:rPr sz="1700" b="0" i="0" u="none">
                <a:solidFill>
                  <a:srgbClr val="222222"/>
                </a:solidFill>
                <a:latin typeface="맑은 고딕"/>
              </a:rPr>
              <a:t>. ⓓ</a:t>
            </a:r>
            <a:r>
              <a:rPr sz="1700" b="1" i="0" u="sng">
                <a:solidFill>
                  <a:srgbClr val="C03A2E"/>
                </a:solidFill>
                <a:latin typeface="맑은 고딕"/>
              </a:rPr>
              <a:t>Its mouth look like</a:t>
            </a:r>
            <a:r>
              <a:rPr sz="1700" b="0" i="0" u="none">
                <a:solidFill>
                  <a:srgbClr val="222222"/>
                </a:solidFill>
                <a:latin typeface="맑은 고딕"/>
              </a:rPr>
              <a:t> a big shoe. ⓔ</a:t>
            </a:r>
            <a:r>
              <a:rPr sz="1700" b="1" i="0" u="sng">
                <a:solidFill>
                  <a:srgbClr val="C03A2E"/>
                </a:solidFill>
                <a:latin typeface="맑은 고딕"/>
              </a:rPr>
              <a:t>It's leg are very long</a:t>
            </a:r>
            <a:r>
              <a:rPr sz="1700" b="0" i="0" u="none">
                <a:solidFill>
                  <a:srgbClr val="222222"/>
                </a:solidFill>
                <a:latin typeface="맑은 고딕"/>
              </a:rPr>
              <a:t>. It eats fish.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① ⓐ Does you know → Do you know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② ⓑ as tallest as a boy → as tall as a boy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③ ⓒ the biggest head in the bird family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      → as biggest head in the bird family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④ ⓓ Its mouth look like → Its mouth looks like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⑤ ⓔ It's leg are very long → Its legs are very long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 u="none">
                <a:solidFill>
                  <a:srgbClr val="5A4200"/>
                </a:solidFill>
                <a:latin typeface="맑은 고딕"/>
              </a:rPr>
              <a:t>정답:  ③ ⓒ the biggest head in the bird family  → as biggest head in the bird family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고치지 않는다.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2 · 20번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as + 형용사/부사의 원급 + 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117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 u="none">
                <a:solidFill>
                  <a:srgbClr val="1E2A4A"/>
                </a:solidFill>
                <a:latin typeface="맑은 고딕"/>
              </a:rPr>
              <a:t>다음 중 두 문장의 의미가 같지 않은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① Tom is as smart as his sister.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= Tom and his sister have the same intelligence.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② Bill can run as fast as a car.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= Bill runs very fast like a car.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③ Hana eats as much as an elephant.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= Hana eats a large amount of food as an elephant does.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④ Seungmin is as tall as the tree in the yard.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= Seungmin and the tree are the same in height.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⑤ Sumin's homework is not as much as Yumin's.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= Sumin has more homework than Yumin has.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 u="none">
                <a:solidFill>
                  <a:srgbClr val="5A4200"/>
                </a:solidFill>
                <a:latin typeface="맑은 고딕"/>
              </a:rPr>
              <a:t>정답:  ⑤ Sumin's homework is not as much as Yumin's.  = Sumin has more homework than Yumin has.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→ Yumin has more homework than Sumin has.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2 · 21번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as + 형용사/부사의 원급 + 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118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511302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Who is the tallest person?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9982"/>
            <a:ext cx="8214055" cy="308228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Sally is not shorter than Eric.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James is shorter than Mark.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Eric is as tall as James.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Mark is taller than Sally.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Sally is as tall as Brad.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08415" y="1379982"/>
            <a:ext cx="2926080" cy="3082289"/>
          </a:xfrm>
          <a:prstGeom prst="roundRect">
            <a:avLst>
              <a:gd name="adj" fmla="val 6000"/>
            </a:avLst>
          </a:prstGeom>
          <a:solidFill>
            <a:srgbClr val="F2F3F5"/>
          </a:solidFill>
          <a:ln w="15875">
            <a:solidFill>
              <a:srgbClr val="F2F3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Sally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Eric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James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Mark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Brad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④ Mark</a:t>
            </a:r>
          </a:p>
        </p:txBody>
      </p:sp>
      <p:sp>
        <p:nvSpPr>
          <p:cNvPr id="11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키가 큰 순서대로 Mark-Brad/Sally-Eric/James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2 · 22번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as + 형용사/부사의 원급 + 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119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6309360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표의 내용과 일치하는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Tom is as fat as Paul.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Paul is as tall as Jerry.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Tom is as tall as Paul.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Jerry is taller than Tom.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Jerry is not as fat as Paul.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949440" y="1417320"/>
          <a:ext cx="4754880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188720"/>
                <a:gridCol w="1188720"/>
                <a:gridCol w="1188720"/>
              </a:tblGrid>
              <a:tr h="384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</a:pPr>
                    </a:p>
                  </a:txBody>
                  <a:tcPr marL="45720" marR="45720" marT="27432" marB="27432" anchor="ctr">
                    <a:solidFill>
                      <a:srgbClr val="1E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</a:pPr>
                      <a:r>
                        <a:rPr sz="1400" b="1" i="0" u="none">
                          <a:solidFill>
                            <a:srgbClr val="FFFFFF"/>
                          </a:solidFill>
                          <a:latin typeface="맑은 고딕"/>
                        </a:rPr>
                        <a:t>Tom</a:t>
                      </a:r>
                    </a:p>
                  </a:txBody>
                  <a:tcPr marL="45720" marR="45720" marT="27432" marB="27432" anchor="ctr">
                    <a:solidFill>
                      <a:srgbClr val="1E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</a:pPr>
                      <a:r>
                        <a:rPr sz="1400" b="1" i="0" u="none">
                          <a:solidFill>
                            <a:srgbClr val="FFFFFF"/>
                          </a:solidFill>
                          <a:latin typeface="맑은 고딕"/>
                        </a:rPr>
                        <a:t>Jerry</a:t>
                      </a:r>
                    </a:p>
                  </a:txBody>
                  <a:tcPr marL="45720" marR="45720" marT="27432" marB="27432" anchor="ctr">
                    <a:solidFill>
                      <a:srgbClr val="1E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</a:pPr>
                      <a:r>
                        <a:rPr sz="1400" b="1" i="0" u="none">
                          <a:solidFill>
                            <a:srgbClr val="FFFFFF"/>
                          </a:solidFill>
                          <a:latin typeface="맑은 고딕"/>
                        </a:rPr>
                        <a:t>Paul</a:t>
                      </a:r>
                    </a:p>
                  </a:txBody>
                  <a:tcPr marL="45720" marR="45720" marT="27432" marB="27432" anchor="ctr">
                    <a:solidFill>
                      <a:srgbClr val="1E2A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</a:pPr>
                      <a:r>
                        <a:rPr sz="1400" b="1" i="0" u="none">
                          <a:solidFill>
                            <a:srgbClr val="222222"/>
                          </a:solidFill>
                          <a:latin typeface="맑은 고딕"/>
                        </a:rPr>
                        <a:t>Weight</a:t>
                      </a:r>
                    </a:p>
                  </a:txBody>
                  <a:tcPr marL="45720" marR="45720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</a:pPr>
                      <a:r>
                        <a:rPr sz="1400" b="0" i="0" u="none">
                          <a:solidFill>
                            <a:srgbClr val="222222"/>
                          </a:solidFill>
                          <a:latin typeface="맑은 고딕"/>
                        </a:rPr>
                        <a:t>55kg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</a:pPr>
                      <a:r>
                        <a:rPr sz="1400" b="0" i="0" u="none">
                          <a:solidFill>
                            <a:srgbClr val="222222"/>
                          </a:solidFill>
                          <a:latin typeface="맑은 고딕"/>
                        </a:rPr>
                        <a:t>57kg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</a:pPr>
                      <a:r>
                        <a:rPr sz="1400" b="0" i="0" u="none">
                          <a:solidFill>
                            <a:srgbClr val="222222"/>
                          </a:solidFill>
                          <a:latin typeface="맑은 고딕"/>
                        </a:rPr>
                        <a:t>57kg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</a:pPr>
                      <a:r>
                        <a:rPr sz="1400" b="1" i="0" u="none">
                          <a:solidFill>
                            <a:srgbClr val="222222"/>
                          </a:solidFill>
                          <a:latin typeface="맑은 고딕"/>
                        </a:rPr>
                        <a:t>Height</a:t>
                      </a:r>
                    </a:p>
                  </a:txBody>
                  <a:tcPr marL="45720" marR="45720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</a:pPr>
                      <a:r>
                        <a:rPr sz="1400" b="0" i="0" u="none">
                          <a:solidFill>
                            <a:srgbClr val="222222"/>
                          </a:solidFill>
                          <a:latin typeface="맑은 고딕"/>
                        </a:rPr>
                        <a:t>160cm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</a:pPr>
                      <a:r>
                        <a:rPr sz="1400" b="0" i="0" u="none">
                          <a:solidFill>
                            <a:srgbClr val="222222"/>
                          </a:solidFill>
                          <a:latin typeface="맑은 고딕"/>
                        </a:rPr>
                        <a:t>158cm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</a:pPr>
                      <a:r>
                        <a:rPr sz="1400" b="0" i="0" u="none">
                          <a:solidFill>
                            <a:srgbClr val="222222"/>
                          </a:solidFill>
                          <a:latin typeface="맑은 고딕"/>
                        </a:rPr>
                        <a:t>160cm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③ Tom is as tall as Paul.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400" b="0" i="0" u="none">
                <a:solidFill>
                  <a:srgbClr val="152A4A"/>
                </a:solidFill>
                <a:latin typeface="맑은 고딕"/>
              </a:rPr>
              <a:t>① → Tom is not as fat as Paul.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② → Paul is taller than Jerry.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④ → Jerry is not taller than Tom.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⑤ → Jerry is as fat as Paul.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2 · 23번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as + 형용사/부사의 원급 + 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120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6309360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표를 바르게 해석한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Yujin is as tall as Subin.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Sehwa is as tall as Yujin.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Subin is not as old as Yujin.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Sehwa is older than Yujin.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Subin is smaller than Sehwa.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949440" y="1417320"/>
          <a:ext cx="4754880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188720"/>
                <a:gridCol w="1188720"/>
                <a:gridCol w="1188720"/>
              </a:tblGrid>
              <a:tr h="384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</a:pPr>
                    </a:p>
                  </a:txBody>
                  <a:tcPr marL="45720" marR="45720" marT="27432" marB="27432" anchor="ctr">
                    <a:solidFill>
                      <a:srgbClr val="1E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</a:pPr>
                      <a:r>
                        <a:rPr sz="1400" b="1" i="0" u="none">
                          <a:solidFill>
                            <a:srgbClr val="FFFFFF"/>
                          </a:solidFill>
                          <a:latin typeface="맑은 고딕"/>
                        </a:rPr>
                        <a:t>Sehwa</a:t>
                      </a:r>
                    </a:p>
                  </a:txBody>
                  <a:tcPr marL="45720" marR="45720" marT="27432" marB="27432" anchor="ctr">
                    <a:solidFill>
                      <a:srgbClr val="1E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</a:pPr>
                      <a:r>
                        <a:rPr sz="1400" b="1" i="0" u="none">
                          <a:solidFill>
                            <a:srgbClr val="FFFFFF"/>
                          </a:solidFill>
                          <a:latin typeface="맑은 고딕"/>
                        </a:rPr>
                        <a:t>Yujin</a:t>
                      </a:r>
                    </a:p>
                  </a:txBody>
                  <a:tcPr marL="45720" marR="45720" marT="27432" marB="27432" anchor="ctr">
                    <a:solidFill>
                      <a:srgbClr val="1E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</a:pPr>
                      <a:r>
                        <a:rPr sz="1400" b="1" i="0" u="none">
                          <a:solidFill>
                            <a:srgbClr val="FFFFFF"/>
                          </a:solidFill>
                          <a:latin typeface="맑은 고딕"/>
                        </a:rPr>
                        <a:t>Subin</a:t>
                      </a:r>
                    </a:p>
                  </a:txBody>
                  <a:tcPr marL="45720" marR="45720" marT="27432" marB="27432" anchor="ctr">
                    <a:solidFill>
                      <a:srgbClr val="1E2A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</a:pPr>
                      <a:r>
                        <a:rPr sz="1400" b="1" i="0" u="none">
                          <a:solidFill>
                            <a:srgbClr val="222222"/>
                          </a:solidFill>
                          <a:latin typeface="맑은 고딕"/>
                        </a:rPr>
                        <a:t>height(cm)</a:t>
                      </a:r>
                    </a:p>
                  </a:txBody>
                  <a:tcPr marL="45720" marR="45720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</a:pPr>
                      <a:r>
                        <a:rPr sz="1400" b="0" i="0" u="none">
                          <a:solidFill>
                            <a:srgbClr val="222222"/>
                          </a:solidFill>
                          <a:latin typeface="맑은 고딕"/>
                        </a:rPr>
                        <a:t>155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</a:pPr>
                      <a:r>
                        <a:rPr sz="1400" b="0" i="0" u="none">
                          <a:solidFill>
                            <a:srgbClr val="222222"/>
                          </a:solidFill>
                          <a:latin typeface="맑은 고딕"/>
                        </a:rPr>
                        <a:t>150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</a:pPr>
                      <a:r>
                        <a:rPr sz="1400" b="0" i="0" u="none">
                          <a:solidFill>
                            <a:srgbClr val="222222"/>
                          </a:solidFill>
                          <a:latin typeface="맑은 고딕"/>
                        </a:rPr>
                        <a:t>165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</a:pPr>
                      <a:r>
                        <a:rPr sz="1400" b="1" i="0" u="none">
                          <a:solidFill>
                            <a:srgbClr val="222222"/>
                          </a:solidFill>
                          <a:latin typeface="맑은 고딕"/>
                        </a:rPr>
                        <a:t>age</a:t>
                      </a:r>
                    </a:p>
                  </a:txBody>
                  <a:tcPr marL="45720" marR="45720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</a:pPr>
                      <a:r>
                        <a:rPr sz="1400" b="0" i="0" u="none">
                          <a:solidFill>
                            <a:srgbClr val="222222"/>
                          </a:solidFill>
                          <a:latin typeface="맑은 고딕"/>
                        </a:rPr>
                        <a:t>15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</a:pPr>
                      <a:r>
                        <a:rPr sz="1400" b="0" i="0" u="none">
                          <a:solidFill>
                            <a:srgbClr val="222222"/>
                          </a:solidFill>
                          <a:latin typeface="맑은 고딕"/>
                        </a:rPr>
                        <a:t>15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</a:pPr>
                      <a:r>
                        <a:rPr sz="1400" b="0" i="0" u="none">
                          <a:solidFill>
                            <a:srgbClr val="222222"/>
                          </a:solidFill>
                          <a:latin typeface="맑은 고딕"/>
                        </a:rPr>
                        <a:t>14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③ Subin is not as old as Yujin.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400" b="0" i="0" u="none">
                <a:solidFill>
                  <a:srgbClr val="152A4A"/>
                </a:solidFill>
                <a:latin typeface="맑은 고딕"/>
              </a:rPr>
              <a:t>① → Yujin is not as tall as Subin.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② → Sehwa is taller than Yujin.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④ → Sehwa is as old as Yujin.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⑤ → Subin is taller than Sehwa.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2 · 24번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as + 형용사/부사의 원급 + 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121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6309360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표에 대한 설명 중 잘못된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Mike is as old as Ted.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Mike is older than John.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John isn't as old as Ted.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David is not older than Mike.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David is the oldest of the four.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949440" y="1417320"/>
          <a:ext cx="4754880" cy="768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0976"/>
                <a:gridCol w="950976"/>
                <a:gridCol w="950976"/>
                <a:gridCol w="950976"/>
                <a:gridCol w="950976"/>
              </a:tblGrid>
              <a:tr h="384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</a:pPr>
                    </a:p>
                  </a:txBody>
                  <a:tcPr marL="45720" marR="45720" marT="27432" marB="27432" anchor="ctr">
                    <a:solidFill>
                      <a:srgbClr val="1E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</a:pPr>
                      <a:r>
                        <a:rPr sz="1400" b="1" i="0" u="none">
                          <a:solidFill>
                            <a:srgbClr val="FFFFFF"/>
                          </a:solidFill>
                          <a:latin typeface="맑은 고딕"/>
                        </a:rPr>
                        <a:t>Mike</a:t>
                      </a:r>
                    </a:p>
                  </a:txBody>
                  <a:tcPr marL="45720" marR="45720" marT="27432" marB="27432" anchor="ctr">
                    <a:solidFill>
                      <a:srgbClr val="1E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</a:pPr>
                      <a:r>
                        <a:rPr sz="1400" b="1" i="0" u="none">
                          <a:solidFill>
                            <a:srgbClr val="FFFFFF"/>
                          </a:solidFill>
                          <a:latin typeface="맑은 고딕"/>
                        </a:rPr>
                        <a:t>John</a:t>
                      </a:r>
                    </a:p>
                  </a:txBody>
                  <a:tcPr marL="45720" marR="45720" marT="27432" marB="27432" anchor="ctr">
                    <a:solidFill>
                      <a:srgbClr val="1E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</a:pPr>
                      <a:r>
                        <a:rPr sz="1400" b="1" i="0" u="none">
                          <a:solidFill>
                            <a:srgbClr val="FFFFFF"/>
                          </a:solidFill>
                          <a:latin typeface="맑은 고딕"/>
                        </a:rPr>
                        <a:t>Ted</a:t>
                      </a:r>
                    </a:p>
                  </a:txBody>
                  <a:tcPr marL="45720" marR="45720" marT="27432" marB="27432" anchor="ctr">
                    <a:solidFill>
                      <a:srgbClr val="1E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</a:pPr>
                      <a:r>
                        <a:rPr sz="1400" b="1" i="0" u="none">
                          <a:solidFill>
                            <a:srgbClr val="FFFFFF"/>
                          </a:solidFill>
                          <a:latin typeface="맑은 고딕"/>
                        </a:rPr>
                        <a:t>David</a:t>
                      </a:r>
                    </a:p>
                  </a:txBody>
                  <a:tcPr marL="45720" marR="45720" marT="27432" marB="27432" anchor="ctr">
                    <a:solidFill>
                      <a:srgbClr val="1E2A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</a:pPr>
                      <a:r>
                        <a:rPr sz="1400" b="1" i="0" u="none">
                          <a:solidFill>
                            <a:srgbClr val="222222"/>
                          </a:solidFill>
                          <a:latin typeface="맑은 고딕"/>
                        </a:rPr>
                        <a:t>Age</a:t>
                      </a:r>
                    </a:p>
                  </a:txBody>
                  <a:tcPr marL="45720" marR="45720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</a:pPr>
                      <a:r>
                        <a:rPr sz="1400" b="0" i="0" u="none">
                          <a:solidFill>
                            <a:srgbClr val="222222"/>
                          </a:solidFill>
                          <a:latin typeface="맑은 고딕"/>
                        </a:rPr>
                        <a:t>15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</a:pPr>
                      <a:r>
                        <a:rPr sz="1400" b="0" i="0" u="none">
                          <a:solidFill>
                            <a:srgbClr val="222222"/>
                          </a:solidFill>
                          <a:latin typeface="맑은 고딕"/>
                        </a:rPr>
                        <a:t>14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</a:pPr>
                      <a:r>
                        <a:rPr sz="1400" b="0" i="0" u="none">
                          <a:solidFill>
                            <a:srgbClr val="222222"/>
                          </a:solidFill>
                          <a:latin typeface="맑은 고딕"/>
                        </a:rPr>
                        <a:t>15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</a:pPr>
                      <a:r>
                        <a:rPr sz="1400" b="0" i="0" u="none">
                          <a:solidFill>
                            <a:srgbClr val="222222"/>
                          </a:solidFill>
                          <a:latin typeface="맑은 고딕"/>
                        </a:rPr>
                        <a:t>16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④ David is not older than Mike.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→ David is older than Mike.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2 · 25번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as + 형용사/부사의 원급 + 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122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6309360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표의 내용과 일치하지 않는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Jake is taller than Ron.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Jake is as tall as Joan.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Ron is taller than Joan.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Jake is heavier than Ron.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Ron is not as heavy as Joan.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949440" y="1417320"/>
          <a:ext cx="4754880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188720"/>
                <a:gridCol w="1188720"/>
                <a:gridCol w="1188720"/>
              </a:tblGrid>
              <a:tr h="384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</a:pPr>
                    </a:p>
                  </a:txBody>
                  <a:tcPr marL="45720" marR="45720" marT="27432" marB="27432" anchor="ctr">
                    <a:solidFill>
                      <a:srgbClr val="1E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</a:pPr>
                      <a:r>
                        <a:rPr sz="1400" b="1" i="0" u="none">
                          <a:solidFill>
                            <a:srgbClr val="FFFFFF"/>
                          </a:solidFill>
                          <a:latin typeface="맑은 고딕"/>
                        </a:rPr>
                        <a:t>Jake</a:t>
                      </a:r>
                    </a:p>
                  </a:txBody>
                  <a:tcPr marL="45720" marR="45720" marT="27432" marB="27432" anchor="ctr">
                    <a:solidFill>
                      <a:srgbClr val="1E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</a:pPr>
                      <a:r>
                        <a:rPr sz="1400" b="1" i="0" u="none">
                          <a:solidFill>
                            <a:srgbClr val="FFFFFF"/>
                          </a:solidFill>
                          <a:latin typeface="맑은 고딕"/>
                        </a:rPr>
                        <a:t>Ron</a:t>
                      </a:r>
                    </a:p>
                  </a:txBody>
                  <a:tcPr marL="45720" marR="45720" marT="27432" marB="27432" anchor="ctr">
                    <a:solidFill>
                      <a:srgbClr val="1E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</a:pPr>
                      <a:r>
                        <a:rPr sz="1400" b="1" i="0" u="none">
                          <a:solidFill>
                            <a:srgbClr val="FFFFFF"/>
                          </a:solidFill>
                          <a:latin typeface="맑은 고딕"/>
                        </a:rPr>
                        <a:t>Joan</a:t>
                      </a:r>
                    </a:p>
                  </a:txBody>
                  <a:tcPr marL="45720" marR="45720" marT="27432" marB="27432" anchor="ctr">
                    <a:solidFill>
                      <a:srgbClr val="1E2A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</a:pPr>
                      <a:r>
                        <a:rPr sz="1400" b="1" i="0" u="none">
                          <a:solidFill>
                            <a:srgbClr val="222222"/>
                          </a:solidFill>
                          <a:latin typeface="맑은 고딕"/>
                        </a:rPr>
                        <a:t>height</a:t>
                      </a:r>
                    </a:p>
                  </a:txBody>
                  <a:tcPr marL="45720" marR="45720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</a:pPr>
                      <a:r>
                        <a:rPr sz="1400" b="0" i="0" u="none">
                          <a:solidFill>
                            <a:srgbClr val="222222"/>
                          </a:solidFill>
                          <a:latin typeface="맑은 고딕"/>
                        </a:rPr>
                        <a:t>163cm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</a:pPr>
                      <a:r>
                        <a:rPr sz="1400" b="0" i="0" u="none">
                          <a:solidFill>
                            <a:srgbClr val="222222"/>
                          </a:solidFill>
                          <a:latin typeface="맑은 고딕"/>
                        </a:rPr>
                        <a:t>152cm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</a:pPr>
                      <a:r>
                        <a:rPr sz="1400" b="0" i="0" u="none">
                          <a:solidFill>
                            <a:srgbClr val="222222"/>
                          </a:solidFill>
                          <a:latin typeface="맑은 고딕"/>
                        </a:rPr>
                        <a:t>163cm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</a:pPr>
                      <a:r>
                        <a:rPr sz="1400" b="1" i="0" u="none">
                          <a:solidFill>
                            <a:srgbClr val="222222"/>
                          </a:solidFill>
                          <a:latin typeface="맑은 고딕"/>
                        </a:rPr>
                        <a:t>weight</a:t>
                      </a:r>
                    </a:p>
                  </a:txBody>
                  <a:tcPr marL="45720" marR="45720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</a:pPr>
                      <a:r>
                        <a:rPr sz="1400" b="0" i="0" u="none">
                          <a:solidFill>
                            <a:srgbClr val="222222"/>
                          </a:solidFill>
                          <a:latin typeface="맑은 고딕"/>
                        </a:rPr>
                        <a:t>50kg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</a:pPr>
                      <a:r>
                        <a:rPr sz="1400" b="0" i="0" u="none">
                          <a:solidFill>
                            <a:srgbClr val="222222"/>
                          </a:solidFill>
                          <a:latin typeface="맑은 고딕"/>
                        </a:rPr>
                        <a:t>45kg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</a:pPr>
                      <a:r>
                        <a:rPr sz="1400" b="0" i="0" u="none">
                          <a:solidFill>
                            <a:srgbClr val="222222"/>
                          </a:solidFill>
                          <a:latin typeface="맑은 고딕"/>
                        </a:rPr>
                        <a:t>58kg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③ Ron is taller than Joan.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→ Ron is smaller than Joan.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2 · 26번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as + 형용사/부사의 원급 + 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123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6309360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1E2A4A"/>
                </a:solidFill>
                <a:latin typeface="맑은 고딕"/>
              </a:rPr>
              <a:t>다음은 1학년 3반 100m 달리기 기록이다. 아래 표에 대한 설명이 옳지 않은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① Taewon can run as fast as Sangyun.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② Sumin can run as fast as Jina.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③ Sangyun is not as fast as Jina.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④ Sumin can't run as fast as Taewon.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⑤ Taewon is not so fast as Sumin.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949440" y="1417320"/>
          <a:ext cx="4754880" cy="768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0976"/>
                <a:gridCol w="950976"/>
                <a:gridCol w="950976"/>
                <a:gridCol w="950976"/>
                <a:gridCol w="950976"/>
              </a:tblGrid>
              <a:tr h="384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</a:pPr>
                    </a:p>
                  </a:txBody>
                  <a:tcPr marL="45720" marR="45720" marT="27432" marB="27432" anchor="ctr">
                    <a:solidFill>
                      <a:srgbClr val="1E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</a:pPr>
                      <a:r>
                        <a:rPr sz="1400" b="1" i="0" u="none">
                          <a:solidFill>
                            <a:srgbClr val="FFFFFF"/>
                          </a:solidFill>
                          <a:latin typeface="맑은 고딕"/>
                        </a:rPr>
                        <a:t>태원</a:t>
                      </a:r>
                    </a:p>
                  </a:txBody>
                  <a:tcPr marL="45720" marR="45720" marT="27432" marB="27432" anchor="ctr">
                    <a:solidFill>
                      <a:srgbClr val="1E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</a:pPr>
                      <a:r>
                        <a:rPr sz="1400" b="1" i="0" u="none">
                          <a:solidFill>
                            <a:srgbClr val="FFFFFF"/>
                          </a:solidFill>
                          <a:latin typeface="맑은 고딕"/>
                        </a:rPr>
                        <a:t>상윤</a:t>
                      </a:r>
                    </a:p>
                  </a:txBody>
                  <a:tcPr marL="45720" marR="45720" marT="27432" marB="27432" anchor="ctr">
                    <a:solidFill>
                      <a:srgbClr val="1E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</a:pPr>
                      <a:r>
                        <a:rPr sz="1400" b="1" i="0" u="none">
                          <a:solidFill>
                            <a:srgbClr val="FFFFFF"/>
                          </a:solidFill>
                          <a:latin typeface="맑은 고딕"/>
                        </a:rPr>
                        <a:t>지나</a:t>
                      </a:r>
                    </a:p>
                  </a:txBody>
                  <a:tcPr marL="45720" marR="45720" marT="27432" marB="27432" anchor="ctr">
                    <a:solidFill>
                      <a:srgbClr val="1E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</a:pPr>
                      <a:r>
                        <a:rPr sz="1400" b="1" i="0" u="none">
                          <a:solidFill>
                            <a:srgbClr val="FFFFFF"/>
                          </a:solidFill>
                          <a:latin typeface="맑은 고딕"/>
                        </a:rPr>
                        <a:t>수민</a:t>
                      </a:r>
                    </a:p>
                  </a:txBody>
                  <a:tcPr marL="45720" marR="45720" marT="27432" marB="27432" anchor="ctr">
                    <a:solidFill>
                      <a:srgbClr val="1E2A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</a:pPr>
                      <a:r>
                        <a:rPr sz="1400" b="1" i="0" u="none">
                          <a:solidFill>
                            <a:srgbClr val="222222"/>
                          </a:solidFill>
                          <a:latin typeface="맑은 고딕"/>
                        </a:rPr>
                        <a:t>기록</a:t>
                      </a:r>
                    </a:p>
                  </a:txBody>
                  <a:tcPr marL="45720" marR="45720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</a:pPr>
                      <a:r>
                        <a:rPr sz="1400" b="0" i="0" u="none">
                          <a:solidFill>
                            <a:srgbClr val="222222"/>
                          </a:solidFill>
                          <a:latin typeface="맑은 고딕"/>
                        </a:rPr>
                        <a:t>15.5초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</a:pPr>
                      <a:r>
                        <a:rPr sz="1400" b="0" i="0" u="none">
                          <a:solidFill>
                            <a:srgbClr val="222222"/>
                          </a:solidFill>
                          <a:latin typeface="맑은 고딕"/>
                        </a:rPr>
                        <a:t>15.5초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</a:pPr>
                      <a:r>
                        <a:rPr sz="1400" b="0" i="0" u="none">
                          <a:solidFill>
                            <a:srgbClr val="222222"/>
                          </a:solidFill>
                          <a:latin typeface="맑은 고딕"/>
                        </a:rPr>
                        <a:t>13.2초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</a:pPr>
                      <a:r>
                        <a:rPr sz="1400" b="0" i="0" u="none">
                          <a:solidFill>
                            <a:srgbClr val="222222"/>
                          </a:solidFill>
                          <a:latin typeface="맑은 고딕"/>
                        </a:rPr>
                        <a:t>13.2초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④ Sumin can't run as fast as Taewon.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→ Taewon can’t run as fast as Sumin.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2 · 27번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as + 형용사/부사의 원급 + 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124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6309360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표의 내용에 맞는 문장을 고르면?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Mina is taller than Anne.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Anne is not as old as Mina.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Jinho is heavier than Anne.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Mina is as tall as Jinho.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Anne is younger than Mina.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949440" y="1417320"/>
          <a:ext cx="475488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188720"/>
                <a:gridCol w="1188720"/>
                <a:gridCol w="1188720"/>
              </a:tblGrid>
              <a:tr h="384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</a:pPr>
                      <a:r>
                        <a:rPr sz="1400" b="1" i="0" u="none">
                          <a:solidFill>
                            <a:srgbClr val="FFFFFF"/>
                          </a:solidFill>
                          <a:latin typeface="맑은 고딕"/>
                        </a:rPr>
                        <a:t>Name</a:t>
                      </a:r>
                    </a:p>
                  </a:txBody>
                  <a:tcPr marL="45720" marR="45720" marT="27432" marB="27432" anchor="ctr">
                    <a:solidFill>
                      <a:srgbClr val="1E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</a:pPr>
                      <a:r>
                        <a:rPr sz="1400" b="1" i="0" u="none">
                          <a:solidFill>
                            <a:srgbClr val="FFFFFF"/>
                          </a:solidFill>
                          <a:latin typeface="맑은 고딕"/>
                        </a:rPr>
                        <a:t>Mina</a:t>
                      </a:r>
                    </a:p>
                  </a:txBody>
                  <a:tcPr marL="45720" marR="45720" marT="27432" marB="27432" anchor="ctr">
                    <a:solidFill>
                      <a:srgbClr val="1E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</a:pPr>
                      <a:r>
                        <a:rPr sz="1400" b="1" i="0" u="none">
                          <a:solidFill>
                            <a:srgbClr val="FFFFFF"/>
                          </a:solidFill>
                          <a:latin typeface="맑은 고딕"/>
                        </a:rPr>
                        <a:t>Jinho</a:t>
                      </a:r>
                    </a:p>
                  </a:txBody>
                  <a:tcPr marL="45720" marR="45720" marT="27432" marB="27432" anchor="ctr">
                    <a:solidFill>
                      <a:srgbClr val="1E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</a:pPr>
                      <a:r>
                        <a:rPr sz="1400" b="1" i="0" u="none">
                          <a:solidFill>
                            <a:srgbClr val="FFFFFF"/>
                          </a:solidFill>
                          <a:latin typeface="맑은 고딕"/>
                        </a:rPr>
                        <a:t>Anne</a:t>
                      </a:r>
                    </a:p>
                  </a:txBody>
                  <a:tcPr marL="45720" marR="45720" marT="27432" marB="27432" anchor="ctr">
                    <a:solidFill>
                      <a:srgbClr val="1E2A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</a:pPr>
                      <a:r>
                        <a:rPr sz="1400" b="1" i="0" u="none">
                          <a:solidFill>
                            <a:srgbClr val="222222"/>
                          </a:solidFill>
                          <a:latin typeface="맑은 고딕"/>
                        </a:rPr>
                        <a:t>Height</a:t>
                      </a:r>
                    </a:p>
                  </a:txBody>
                  <a:tcPr marL="45720" marR="45720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</a:pPr>
                      <a:r>
                        <a:rPr sz="1400" b="0" i="0" u="none">
                          <a:solidFill>
                            <a:srgbClr val="222222"/>
                          </a:solidFill>
                          <a:latin typeface="맑은 고딕"/>
                        </a:rPr>
                        <a:t>158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</a:pPr>
                      <a:r>
                        <a:rPr sz="1400" b="0" i="0" u="none">
                          <a:solidFill>
                            <a:srgbClr val="222222"/>
                          </a:solidFill>
                          <a:latin typeface="맑은 고딕"/>
                        </a:rPr>
                        <a:t>158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</a:pPr>
                      <a:r>
                        <a:rPr sz="1400" b="0" i="0" u="none">
                          <a:solidFill>
                            <a:srgbClr val="222222"/>
                          </a:solidFill>
                          <a:latin typeface="맑은 고딕"/>
                        </a:rPr>
                        <a:t>160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</a:pPr>
                      <a:r>
                        <a:rPr sz="1400" b="1" i="0" u="none">
                          <a:solidFill>
                            <a:srgbClr val="222222"/>
                          </a:solidFill>
                          <a:latin typeface="맑은 고딕"/>
                        </a:rPr>
                        <a:t>Age</a:t>
                      </a:r>
                    </a:p>
                  </a:txBody>
                  <a:tcPr marL="45720" marR="45720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</a:pPr>
                      <a:r>
                        <a:rPr sz="1400" b="0" i="0" u="none">
                          <a:solidFill>
                            <a:srgbClr val="222222"/>
                          </a:solidFill>
                          <a:latin typeface="맑은 고딕"/>
                        </a:rPr>
                        <a:t>14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</a:pPr>
                      <a:r>
                        <a:rPr sz="1400" b="0" i="0" u="none">
                          <a:solidFill>
                            <a:srgbClr val="222222"/>
                          </a:solidFill>
                          <a:latin typeface="맑은 고딕"/>
                        </a:rPr>
                        <a:t>13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</a:pPr>
                      <a:r>
                        <a:rPr sz="1400" b="0" i="0" u="none">
                          <a:solidFill>
                            <a:srgbClr val="222222"/>
                          </a:solidFill>
                          <a:latin typeface="맑은 고딕"/>
                        </a:rPr>
                        <a:t>14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</a:pPr>
                      <a:r>
                        <a:rPr sz="1400" b="1" i="0" u="none">
                          <a:solidFill>
                            <a:srgbClr val="222222"/>
                          </a:solidFill>
                          <a:latin typeface="맑은 고딕"/>
                        </a:rPr>
                        <a:t>Weight</a:t>
                      </a:r>
                    </a:p>
                  </a:txBody>
                  <a:tcPr marL="45720" marR="45720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</a:pPr>
                      <a:r>
                        <a:rPr sz="1400" b="0" i="0" u="none">
                          <a:solidFill>
                            <a:srgbClr val="222222"/>
                          </a:solidFill>
                          <a:latin typeface="맑은 고딕"/>
                        </a:rPr>
                        <a:t>46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</a:pPr>
                      <a:r>
                        <a:rPr sz="1400" b="0" i="0" u="none">
                          <a:solidFill>
                            <a:srgbClr val="222222"/>
                          </a:solidFill>
                          <a:latin typeface="맑은 고딕"/>
                        </a:rPr>
                        <a:t>45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</a:pPr>
                      <a:r>
                        <a:rPr sz="1400" b="0" i="0" u="none">
                          <a:solidFill>
                            <a:srgbClr val="222222"/>
                          </a:solidFill>
                          <a:latin typeface="맑은 고딕"/>
                        </a:rPr>
                        <a:t>45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④ Mina is as tall as Jinho.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400" b="0" i="0" u="none">
                <a:solidFill>
                  <a:srgbClr val="152A4A"/>
                </a:solidFill>
                <a:latin typeface="맑은 고딕"/>
              </a:rPr>
              <a:t>① → Mina is smaller than Anne.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② → Anne is as old as Mina.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③ → Jinho is as heavy as Anne.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⑤ → Anne is as young as Mina.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2 · 28번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as + 형용사/부사의 원급 + 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125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6309360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Which is correct?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Karl is as old as Bolt.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Karl is twice as old as Bolt.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Karl is not as tall as Bolt.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Karl is not as heavy as Bolt.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Karl is not as fast as Bolt.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949440" y="1417320"/>
          <a:ext cx="47548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960"/>
                <a:gridCol w="1584960"/>
                <a:gridCol w="1584960"/>
              </a:tblGrid>
              <a:tr h="384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</a:pPr>
                      <a:r>
                        <a:rPr sz="1400" b="1" i="0" u="none">
                          <a:solidFill>
                            <a:srgbClr val="FFFFFF"/>
                          </a:solidFill>
                          <a:latin typeface="맑은 고딕"/>
                        </a:rPr>
                        <a:t>Name</a:t>
                      </a:r>
                    </a:p>
                  </a:txBody>
                  <a:tcPr marL="45720" marR="45720" marT="27432" marB="27432" anchor="ctr">
                    <a:solidFill>
                      <a:srgbClr val="1E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</a:pPr>
                      <a:r>
                        <a:rPr sz="1400" b="1" i="0" u="none">
                          <a:solidFill>
                            <a:srgbClr val="FFFFFF"/>
                          </a:solidFill>
                          <a:latin typeface="맑은 고딕"/>
                        </a:rPr>
                        <a:t>Karl</a:t>
                      </a:r>
                    </a:p>
                  </a:txBody>
                  <a:tcPr marL="45720" marR="45720" marT="27432" marB="27432" anchor="ctr">
                    <a:solidFill>
                      <a:srgbClr val="1E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</a:pPr>
                      <a:r>
                        <a:rPr sz="1400" b="1" i="0" u="none">
                          <a:solidFill>
                            <a:srgbClr val="FFFFFF"/>
                          </a:solidFill>
                          <a:latin typeface="맑은 고딕"/>
                        </a:rPr>
                        <a:t>Bolt</a:t>
                      </a:r>
                    </a:p>
                  </a:txBody>
                  <a:tcPr marL="45720" marR="45720" marT="27432" marB="27432" anchor="ctr">
                    <a:solidFill>
                      <a:srgbClr val="1E2A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</a:pPr>
                      <a:r>
                        <a:rPr sz="1400" b="1" i="0" u="none">
                          <a:solidFill>
                            <a:srgbClr val="222222"/>
                          </a:solidFill>
                          <a:latin typeface="맑은 고딕"/>
                        </a:rPr>
                        <a:t>Age</a:t>
                      </a:r>
                    </a:p>
                  </a:txBody>
                  <a:tcPr marL="45720" marR="45720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</a:pPr>
                      <a:r>
                        <a:rPr sz="1400" b="0" i="0" u="none">
                          <a:solidFill>
                            <a:srgbClr val="222222"/>
                          </a:solidFill>
                          <a:latin typeface="맑은 고딕"/>
                        </a:rPr>
                        <a:t>20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</a:pPr>
                      <a:r>
                        <a:rPr sz="1400" b="0" i="0" u="none">
                          <a:solidFill>
                            <a:srgbClr val="222222"/>
                          </a:solidFill>
                          <a:latin typeface="맑은 고딕"/>
                        </a:rPr>
                        <a:t>22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</a:pPr>
                      <a:r>
                        <a:rPr sz="1400" b="1" i="0" u="none">
                          <a:solidFill>
                            <a:srgbClr val="222222"/>
                          </a:solidFill>
                          <a:latin typeface="맑은 고딕"/>
                        </a:rPr>
                        <a:t>Height</a:t>
                      </a:r>
                    </a:p>
                  </a:txBody>
                  <a:tcPr marL="45720" marR="45720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</a:pPr>
                      <a:r>
                        <a:rPr sz="1400" b="0" i="0" u="none">
                          <a:solidFill>
                            <a:srgbClr val="222222"/>
                          </a:solidFill>
                          <a:latin typeface="맑은 고딕"/>
                        </a:rPr>
                        <a:t>180cm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</a:pPr>
                      <a:r>
                        <a:rPr sz="1400" b="0" i="0" u="none">
                          <a:solidFill>
                            <a:srgbClr val="222222"/>
                          </a:solidFill>
                          <a:latin typeface="맑은 고딕"/>
                        </a:rPr>
                        <a:t>177cm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</a:pPr>
                      <a:r>
                        <a:rPr sz="1400" b="1" i="0" u="none">
                          <a:solidFill>
                            <a:srgbClr val="222222"/>
                          </a:solidFill>
                          <a:latin typeface="맑은 고딕"/>
                        </a:rPr>
                        <a:t>Weight</a:t>
                      </a:r>
                    </a:p>
                  </a:txBody>
                  <a:tcPr marL="45720" marR="45720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</a:pPr>
                      <a:r>
                        <a:rPr sz="1400" b="0" i="0" u="none">
                          <a:solidFill>
                            <a:srgbClr val="222222"/>
                          </a:solidFill>
                          <a:latin typeface="맑은 고딕"/>
                        </a:rPr>
                        <a:t>80kg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</a:pPr>
                      <a:r>
                        <a:rPr sz="1400" b="0" i="0" u="none">
                          <a:solidFill>
                            <a:srgbClr val="222222"/>
                          </a:solidFill>
                          <a:latin typeface="맑은 고딕"/>
                        </a:rPr>
                        <a:t>80kg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</a:pPr>
                      <a:r>
                        <a:rPr sz="1400" b="1" i="0" u="none">
                          <a:solidFill>
                            <a:srgbClr val="222222"/>
                          </a:solidFill>
                          <a:latin typeface="맑은 고딕"/>
                        </a:rPr>
                        <a:t>100m record</a:t>
                      </a:r>
                    </a:p>
                  </a:txBody>
                  <a:tcPr marL="45720" marR="45720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</a:pPr>
                      <a:r>
                        <a:rPr sz="1400" b="0" i="0" u="none">
                          <a:solidFill>
                            <a:srgbClr val="222222"/>
                          </a:solidFill>
                          <a:latin typeface="맑은 고딕"/>
                        </a:rPr>
                        <a:t>11seconds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</a:pPr>
                      <a:r>
                        <a:rPr sz="1400" b="0" i="0" u="none">
                          <a:solidFill>
                            <a:srgbClr val="222222"/>
                          </a:solidFill>
                          <a:latin typeface="맑은 고딕"/>
                        </a:rPr>
                        <a:t>10seconds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⑤ Karl is not as fast as Bolt.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000" b="0" i="0" u="none">
                <a:solidFill>
                  <a:srgbClr val="152A4A"/>
                </a:solidFill>
                <a:latin typeface="맑은 고딕"/>
              </a:rPr>
              <a:t>Karl은 Bolt만큼 빠르지 않다.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 u="none">
                <a:solidFill>
                  <a:srgbClr val="152A4A"/>
                </a:solidFill>
                <a:latin typeface="맑은 고딕"/>
              </a:rPr>
              <a:t>① as old as → not as old as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 u="none">
                <a:solidFill>
                  <a:srgbClr val="152A4A"/>
                </a:solidFill>
                <a:latin typeface="맑은 고딕"/>
              </a:rPr>
              <a:t>② twice as old as →two years younger than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 u="none">
                <a:solidFill>
                  <a:srgbClr val="152A4A"/>
                </a:solidFill>
                <a:latin typeface="맑은 고딕"/>
              </a:rPr>
              <a:t>③ not as tall as → taller than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 u="none">
                <a:solidFill>
                  <a:srgbClr val="152A4A"/>
                </a:solidFill>
                <a:latin typeface="맑은 고딕"/>
              </a:rPr>
              <a:t>④ not as heavy as → as heavy as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Pattern 2 · 29번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as + 형용사/부사의 원급 + 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126 / 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6309360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그림에 맞게 설명한 문장을 모두 고르면? (3개)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Ted is as tall as Justin.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Justin is taller than Ted.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Junho is as tall as Justin.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Junho is taller than Justin.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Ted is not as tall as Junho and Justin.</a:t>
            </a:r>
          </a:p>
        </p:txBody>
      </p:sp>
      <p:pic>
        <p:nvPicPr>
          <p:cNvPr id="7" name="Picture 6" descr="BIN0004_v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960120"/>
            <a:ext cx="2762695" cy="2926080"/>
          </a:xfrm>
          <a:prstGeom prst="rect">
            <a:avLst/>
          </a:prstGeom>
        </p:spPr>
      </p:pic>
      <p:cxnSp>
        <p:nvCxnSpPr>
          <p:cNvPr id="8" name="Connector 7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 u="none">
                <a:solidFill>
                  <a:srgbClr val="5A4200"/>
                </a:solidFill>
                <a:latin typeface="맑은 고딕"/>
              </a:rPr>
              <a:t>정답:  ②, ③, ⑤   (② Justin is taller than Ted.  /  ③ Junho is as tall as Justin.  /  ⑤ Ted is not as tall as Junho and Justin.)</a:t>
            </a:r>
          </a:p>
        </p:txBody>
      </p:sp>
      <p:sp>
        <p:nvSpPr>
          <p:cNvPr id="10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400" b="0" i="0" u="none">
                <a:solidFill>
                  <a:srgbClr val="152A4A"/>
                </a:solidFill>
                <a:latin typeface="맑은 고딕"/>
              </a:rPr>
              <a:t>[as+형용사/부사의 원급+as] ‘~만큼 ~한/하게’라는 의미로 둘을 비교하여 두 대상의 정도가 같음을 비교한다.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[형용사/부사의 비교급+than] ‘~만큼 ~한’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[not as+형용사/부사의 원급+as] ’~만큼 ~하지 않은‘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