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1463040"/>
          </a:xfrm>
          <a:prstGeom prst="rect">
            <a:avLst/>
          </a:prstGeom>
          <a:noFill/>
        </p:spPr>
        <p:txBody>
          <a:bodyPr wrap="square" anchor="ctr" lIns="73152" rIns="73152">
            <a:spAutoFit/>
          </a:bodyPr>
          <a:lstStyle/>
          <a:p>
            <a:pPr algn="l">
              <a:lnSpc>
                <a:spcPct val="105000"/>
              </a:lnSpc>
              <a:spcBef>
                <a:spcPts val="0"/>
              </a:spcBef>
            </a:pPr>
            <a:r>
              <a:rPr sz="3400" b="1" i="0">
                <a:solidFill>
                  <a:srgbClr val="FFFFFF"/>
                </a:solidFill>
                <a:latin typeface="맑은 고딕"/>
              </a:rPr>
              <a:t>Lesson 6 문법: 과거완료 · 관계대명사 what</a:t>
            </a:r>
          </a:p>
        </p:txBody>
      </p:sp>
      <p:sp>
        <p:nvSpPr>
          <p:cNvPr id="4" name="TextBox 3"/>
          <p:cNvSpPr txBox="1"/>
          <p:nvPr/>
        </p:nvSpPr>
        <p:spPr>
          <a:xfrm>
            <a:off x="914400" y="3703320"/>
            <a:ext cx="10332720" cy="548640"/>
          </a:xfrm>
          <a:prstGeom prst="rect">
            <a:avLst/>
          </a:prstGeom>
          <a:noFill/>
        </p:spPr>
        <p:txBody>
          <a:bodyPr wrap="square" anchor="t" lIns="73152" rIns="73152">
            <a:spAutoFit/>
          </a:bodyPr>
          <a:lstStyle/>
          <a:p>
            <a:pPr algn="l">
              <a:lnSpc>
                <a:spcPct val="105000"/>
              </a:lnSpc>
              <a:spcBef>
                <a:spcPts val="0"/>
              </a:spcBef>
            </a:pPr>
            <a:r>
              <a:rPr sz="1800" b="0" i="0">
                <a:solidFill>
                  <a:srgbClr val="CFD8E8"/>
                </a:solidFill>
                <a:latin typeface="맑은 고딕"/>
              </a:rPr>
              <a:t>중3 동아(윤정미) Lesson 6 · Grammar Build Up 주관식</a:t>
            </a:r>
          </a:p>
        </p:txBody>
      </p:sp>
      <p:sp>
        <p:nvSpPr>
          <p:cNvPr id="5" name="TextBox 4"/>
          <p:cNvSpPr txBox="1"/>
          <p:nvPr/>
        </p:nvSpPr>
        <p:spPr>
          <a:xfrm>
            <a:off x="914400" y="4251960"/>
            <a:ext cx="10332720" cy="457200"/>
          </a:xfrm>
          <a:prstGeom prst="rect">
            <a:avLst/>
          </a:prstGeom>
          <a:noFill/>
        </p:spPr>
        <p:txBody>
          <a:bodyPr wrap="square" anchor="t" lIns="73152" rIns="73152">
            <a:spAutoFit/>
          </a:bodyPr>
          <a:lstStyle/>
          <a:p>
            <a:pPr algn="l">
              <a:lnSpc>
                <a:spcPct val="105000"/>
              </a:lnSpc>
              <a:spcBef>
                <a:spcPts val="0"/>
              </a:spcBef>
            </a:pPr>
            <a:r>
              <a:rPr sz="1400" b="0" i="0">
                <a:solidFill>
                  <a:srgbClr val="AEBBD0"/>
                </a:solidFill>
                <a:latin typeface="맑은 고딕"/>
              </a:rPr>
              <a:t>총 148문항 · 클릭 → 정답 공개 → 클릭 → 정답 이유 공개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already go home  • miss the school bus  • break down on one's way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표현을 사용하여 문장을 완성하시오.</a:t>
            </a:r>
          </a:p>
          <a:p>
            <a:pPr algn="l">
              <a:lnSpc>
                <a:spcPct val="105000"/>
              </a:lnSpc>
              <a:spcBef>
                <a:spcPts val="0"/>
              </a:spcBef>
              <a:spcAft>
                <a:spcPts val="200"/>
              </a:spcAft>
            </a:pPr>
            <a:r>
              <a:rPr sz="1800" b="1" i="0">
                <a:solidFill>
                  <a:srgbClr val="222222"/>
                </a:solidFill>
                <a:latin typeface="맑은 고딕"/>
              </a:rPr>
              <a:t>I couldn't find Sue because she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already gone home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Sue가 집에 간 것이 내가 찾지 못한 것보다 먼저이므로 과거완료 had already gone을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already go home  • miss the school bus  • break down on one's way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표현을 사용하여 문장을 완성하시오.</a:t>
            </a:r>
          </a:p>
          <a:p>
            <a:pPr algn="l">
              <a:lnSpc>
                <a:spcPct val="105000"/>
              </a:lnSpc>
              <a:spcBef>
                <a:spcPts val="0"/>
              </a:spcBef>
              <a:spcAft>
                <a:spcPts val="200"/>
              </a:spcAft>
            </a:pPr>
            <a:r>
              <a:rPr sz="1800" b="1" i="0">
                <a:solidFill>
                  <a:srgbClr val="222222"/>
                </a:solidFill>
                <a:latin typeface="맑은 고딕"/>
              </a:rPr>
              <a:t>Kate was very late for the meeting because the car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broken down on her way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차가 고장 난 일이 회의에 늦은 것보다 먼저이므로 과거완료 had broken down을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already go home  • miss the school bus  • break down on one's way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표현을 사용하여 문장을 완성하시오.</a:t>
            </a:r>
          </a:p>
          <a:p>
            <a:pPr algn="l">
              <a:lnSpc>
                <a:spcPct val="105000"/>
              </a:lnSpc>
              <a:spcBef>
                <a:spcPts val="0"/>
              </a:spcBef>
              <a:spcAft>
                <a:spcPts val="200"/>
              </a:spcAft>
            </a:pPr>
            <a:r>
              <a:rPr sz="1800" b="1" i="0">
                <a:solidFill>
                  <a:srgbClr val="222222"/>
                </a:solidFill>
                <a:latin typeface="맑은 고딕"/>
              </a:rPr>
              <a:t>Peter didn't come to school on time because he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missed the school bus</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버스를 놓친 일이 지각보다 먼저이므로 과거완료 had missed를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Something funny happened today. Mike ______ ______ Korean for only a week before he moved here. So his Korean was not good. Today, he ______ my house. He met my parents and said, "안녕." I could not help laughing.</a:t>
            </a:r>
          </a:p>
          <a:p>
            <a:pPr algn="l">
              <a:lnSpc>
                <a:spcPct val="105000"/>
              </a:lnSpc>
              <a:spcBef>
                <a:spcPts val="0"/>
              </a:spcBef>
              <a:spcAft>
                <a:spcPts val="100"/>
              </a:spcAft>
            </a:pPr>
            <a:r>
              <a:rPr sz="1500" b="0" i="1">
                <a:solidFill>
                  <a:srgbClr val="555555"/>
                </a:solidFill>
                <a:latin typeface="맑은 고딕"/>
              </a:rPr>
              <a:t>&lt;보기&gt; study / visit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&lt;보기&gt;의 단어를 사용하여 보미의 일기를 완성하시오.</a:t>
            </a:r>
          </a:p>
          <a:p>
            <a:pPr algn="l">
              <a:lnSpc>
                <a:spcPct val="105000"/>
              </a:lnSpc>
              <a:spcBef>
                <a:spcPts val="0"/>
              </a:spcBef>
              <a:spcAft>
                <a:spcPts val="200"/>
              </a:spcAft>
            </a:pPr>
            <a:r>
              <a:rPr sz="1800" b="1" i="0">
                <a:solidFill>
                  <a:srgbClr val="222222"/>
                </a:solidFill>
                <a:latin typeface="맑은 고딕"/>
              </a:rPr>
              <a:t>(일기의 빈칸을 완성하시오.)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studied, visited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이사 오기 전 한국어를 공부한 일은 과거완료(had studied), 오늘 방문한 일은 과거시제(visited)로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&lt;예시&gt; When I went to the bus stop, the bus had already left.</a:t>
            </a:r>
          </a:p>
          <a:p>
            <a:pPr algn="l">
              <a:lnSpc>
                <a:spcPct val="105000"/>
              </a:lnSpc>
              <a:spcBef>
                <a:spcPts val="0"/>
              </a:spcBef>
              <a:spcAft>
                <a:spcPts val="100"/>
              </a:spcAft>
            </a:pPr>
            <a:r>
              <a:rPr sz="1500" b="0" i="1">
                <a:solidFill>
                  <a:srgbClr val="555555"/>
                </a:solidFill>
                <a:latin typeface="맑은 고딕"/>
              </a:rPr>
              <a:t>&lt;보기&gt; leave / go / start / finish</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&lt;예시&gt;와 같이 문장을 완성하시오.</a:t>
            </a:r>
          </a:p>
          <a:p>
            <a:pPr algn="l">
              <a:lnSpc>
                <a:spcPct val="105000"/>
              </a:lnSpc>
              <a:spcBef>
                <a:spcPts val="0"/>
              </a:spcBef>
              <a:spcAft>
                <a:spcPts val="200"/>
              </a:spcAft>
            </a:pPr>
            <a:r>
              <a:rPr sz="1800" b="1" i="0">
                <a:solidFill>
                  <a:srgbClr val="222222"/>
                </a:solidFill>
                <a:latin typeface="맑은 고딕"/>
              </a:rPr>
              <a:t>When I got to the theater, the movie ______ already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started[finished]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극장에 도착하기 전에 영화가 이미 시작된 것이므로 had started를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&lt;예시&gt; When I went to the bus stop, the bus had already left.</a:t>
            </a:r>
          </a:p>
          <a:p>
            <a:pPr algn="l">
              <a:lnSpc>
                <a:spcPct val="105000"/>
              </a:lnSpc>
              <a:spcBef>
                <a:spcPts val="0"/>
              </a:spcBef>
              <a:spcAft>
                <a:spcPts val="100"/>
              </a:spcAft>
            </a:pPr>
            <a:r>
              <a:rPr sz="1500" b="0" i="1">
                <a:solidFill>
                  <a:srgbClr val="555555"/>
                </a:solidFill>
                <a:latin typeface="맑은 고딕"/>
              </a:rPr>
              <a:t>&lt;보기&gt; leave / go / start / finish</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&lt;예시&gt;와 같이 문장을 완성하시오.</a:t>
            </a:r>
          </a:p>
          <a:p>
            <a:pPr algn="l">
              <a:lnSpc>
                <a:spcPct val="105000"/>
              </a:lnSpc>
              <a:spcBef>
                <a:spcPts val="0"/>
              </a:spcBef>
              <a:spcAft>
                <a:spcPts val="200"/>
              </a:spcAft>
            </a:pPr>
            <a:r>
              <a:rPr sz="1800" b="1" i="0">
                <a:solidFill>
                  <a:srgbClr val="222222"/>
                </a:solidFill>
                <a:latin typeface="맑은 고딕"/>
              </a:rPr>
              <a:t>When I arrived at the party, some of my friends ______ already ______ home.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gone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도착하기 전에 친구들이 이미 집에 간 것이므로 had gone을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&lt;예시&gt; When I went to the bus stop, the bus had already left.</a:t>
            </a:r>
          </a:p>
          <a:p>
            <a:pPr algn="l">
              <a:lnSpc>
                <a:spcPct val="105000"/>
              </a:lnSpc>
              <a:spcBef>
                <a:spcPts val="0"/>
              </a:spcBef>
              <a:spcAft>
                <a:spcPts val="100"/>
              </a:spcAft>
            </a:pPr>
            <a:r>
              <a:rPr sz="1500" b="0" i="1">
                <a:solidFill>
                  <a:srgbClr val="555555"/>
                </a:solidFill>
                <a:latin typeface="맑은 고딕"/>
              </a:rPr>
              <a:t>&lt;보기&gt; leave / go / start / finish</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&lt;예시&gt;와 같이 문장을 완성하시오.</a:t>
            </a:r>
          </a:p>
          <a:p>
            <a:pPr algn="l">
              <a:lnSpc>
                <a:spcPct val="105000"/>
              </a:lnSpc>
              <a:spcBef>
                <a:spcPts val="0"/>
              </a:spcBef>
              <a:spcAft>
                <a:spcPts val="200"/>
              </a:spcAft>
            </a:pPr>
            <a:r>
              <a:rPr sz="1800" b="1" i="0">
                <a:solidFill>
                  <a:srgbClr val="222222"/>
                </a:solidFill>
                <a:latin typeface="맑은 고딕"/>
              </a:rPr>
              <a:t>When I came back home, my family ______ already ______ dinner.</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finished[started]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돌아오기 전에 가족이 이미 저녁을 끝낸 것이므로 had finished를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see / leave / write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문장을 완성하시오.</a:t>
            </a:r>
          </a:p>
          <a:p>
            <a:pPr algn="l">
              <a:lnSpc>
                <a:spcPct val="105000"/>
              </a:lnSpc>
              <a:spcBef>
                <a:spcPts val="0"/>
              </a:spcBef>
              <a:spcAft>
                <a:spcPts val="200"/>
              </a:spcAft>
            </a:pPr>
            <a:r>
              <a:rPr sz="1800" b="1" i="0">
                <a:solidFill>
                  <a:srgbClr val="222222"/>
                </a:solidFill>
                <a:latin typeface="맑은 고딕"/>
              </a:rPr>
              <a:t>Before I went to bed, I ______ in my journal.</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written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잠자리에 들기 전에 일기를 쓴 것이므로 과거완료 had written을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09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see / leave / write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문장을 완성하시오.</a:t>
            </a:r>
          </a:p>
          <a:p>
            <a:pPr algn="l">
              <a:lnSpc>
                <a:spcPct val="105000"/>
              </a:lnSpc>
              <a:spcBef>
                <a:spcPts val="0"/>
              </a:spcBef>
              <a:spcAft>
                <a:spcPts val="200"/>
              </a:spcAft>
            </a:pPr>
            <a:r>
              <a:rPr sz="1800" b="1" i="0">
                <a:solidFill>
                  <a:srgbClr val="222222"/>
                </a:solidFill>
                <a:latin typeface="맑은 고딕"/>
              </a:rPr>
              <a:t>He knew the movie's story because he ______ it twice.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seen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줄거리를 안 것보다 영화를 본 것이 먼저이므로 had seen을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see / leave / write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문장을 완성하시오.</a:t>
            </a:r>
          </a:p>
          <a:p>
            <a:pPr algn="l">
              <a:lnSpc>
                <a:spcPct val="105000"/>
              </a:lnSpc>
              <a:spcBef>
                <a:spcPts val="0"/>
              </a:spcBef>
              <a:spcAft>
                <a:spcPts val="200"/>
              </a:spcAft>
            </a:pPr>
            <a:r>
              <a:rPr sz="1800" b="1" i="0">
                <a:solidFill>
                  <a:srgbClr val="222222"/>
                </a:solidFill>
                <a:latin typeface="맑은 고딕"/>
              </a:rPr>
              <a:t>When I arrived at the station, the train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left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역에 도착하기 전에 기차가 이미 떠났으므로 had left를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When Minho came home, ...</a:t>
            </a:r>
          </a:p>
          <a:p>
            <a:pPr algn="l">
              <a:lnSpc>
                <a:spcPct val="105000"/>
              </a:lnSpc>
              <a:spcBef>
                <a:spcPts val="0"/>
              </a:spcBef>
              <a:spcAft>
                <a:spcPts val="100"/>
              </a:spcAft>
            </a:pPr>
            <a:r>
              <a:rPr sz="1500" b="0" i="1">
                <a:solidFill>
                  <a:srgbClr val="555555"/>
                </a:solidFill>
                <a:latin typeface="맑은 고딕"/>
              </a:rPr>
              <a:t>&lt;예시&gt; his dad had came from work. (come)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괄호 안에 주어진 단어를 사용하여 &lt;예시&gt;와 같이 문장을 완성하시오.</a:t>
            </a:r>
          </a:p>
          <a:p>
            <a:pPr algn="l">
              <a:lnSpc>
                <a:spcPct val="105000"/>
              </a:lnSpc>
              <a:spcBef>
                <a:spcPts val="0"/>
              </a:spcBef>
              <a:spcAft>
                <a:spcPts val="200"/>
              </a:spcAft>
            </a:pPr>
            <a:r>
              <a:rPr sz="1800" b="1" i="0">
                <a:solidFill>
                  <a:srgbClr val="222222"/>
                </a:solidFill>
                <a:latin typeface="맑은 고딕"/>
              </a:rPr>
              <a:t>his mom ______ dinner. (cook)</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cooked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Minho가 오기 전에 엄마가 저녁을 요리한 것이므로 had cooked를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When Minho came home, ...</a:t>
            </a:r>
          </a:p>
          <a:p>
            <a:pPr algn="l">
              <a:lnSpc>
                <a:spcPct val="105000"/>
              </a:lnSpc>
              <a:spcBef>
                <a:spcPts val="0"/>
              </a:spcBef>
              <a:spcAft>
                <a:spcPts val="100"/>
              </a:spcAft>
            </a:pPr>
            <a:r>
              <a:rPr sz="1500" b="0" i="1">
                <a:solidFill>
                  <a:srgbClr val="555555"/>
                </a:solidFill>
                <a:latin typeface="맑은 고딕"/>
              </a:rPr>
              <a:t>&lt;예시&gt; his dad had came from work. (come)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괄호 안에 주어진 단어를 사용하여 &lt;예시&gt;와 같이 문장을 완성하시오.</a:t>
            </a:r>
          </a:p>
          <a:p>
            <a:pPr algn="l">
              <a:lnSpc>
                <a:spcPct val="105000"/>
              </a:lnSpc>
              <a:spcBef>
                <a:spcPts val="0"/>
              </a:spcBef>
              <a:spcAft>
                <a:spcPts val="200"/>
              </a:spcAft>
            </a:pPr>
            <a:r>
              <a:rPr sz="1800" b="1" i="0">
                <a:solidFill>
                  <a:srgbClr val="222222"/>
                </a:solidFill>
                <a:latin typeface="맑은 고딕"/>
              </a:rPr>
              <a:t>his sister ______ the flowers. (water)</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watered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Minho가 오기 전에 이미 꽃에 물을 준 것이므로 had watered를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When Minho came home, ...</a:t>
            </a:r>
          </a:p>
          <a:p>
            <a:pPr algn="l">
              <a:lnSpc>
                <a:spcPct val="105000"/>
              </a:lnSpc>
              <a:spcBef>
                <a:spcPts val="0"/>
              </a:spcBef>
              <a:spcAft>
                <a:spcPts val="100"/>
              </a:spcAft>
            </a:pPr>
            <a:r>
              <a:rPr sz="1500" b="0" i="1">
                <a:solidFill>
                  <a:srgbClr val="555555"/>
                </a:solidFill>
                <a:latin typeface="맑은 고딕"/>
              </a:rPr>
              <a:t>&lt;예시&gt; his dad had came from work. (come)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괄호 안에 주어진 단어를 사용하여 &lt;예시&gt;와 같이 문장을 완성하시오.</a:t>
            </a:r>
          </a:p>
          <a:p>
            <a:pPr algn="l">
              <a:lnSpc>
                <a:spcPct val="105000"/>
              </a:lnSpc>
              <a:spcBef>
                <a:spcPts val="0"/>
              </a:spcBef>
              <a:spcAft>
                <a:spcPts val="200"/>
              </a:spcAft>
            </a:pPr>
            <a:r>
              <a:rPr sz="1800" b="1" i="0">
                <a:solidFill>
                  <a:srgbClr val="222222"/>
                </a:solidFill>
                <a:latin typeface="맑은 고딕"/>
              </a:rPr>
              <a:t>his dog ______ asleep. (fall)</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fallen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Minho가 오기 전에 개가 이미 잠든 것이므로 had fallen을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I arrived home. My family already ate dinner.</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주어진 문장과 의미가 통하도록 괄호 안에 알맞은 말을 쓰시오.</a:t>
            </a:r>
          </a:p>
          <a:p>
            <a:pPr algn="l">
              <a:lnSpc>
                <a:spcPct val="105000"/>
              </a:lnSpc>
              <a:spcBef>
                <a:spcPts val="0"/>
              </a:spcBef>
              <a:spcAft>
                <a:spcPts val="200"/>
              </a:spcAft>
            </a:pPr>
            <a:r>
              <a:rPr sz="1800" b="1" i="0">
                <a:solidFill>
                  <a:srgbClr val="222222"/>
                </a:solidFill>
                <a:latin typeface="맑은 고딕"/>
              </a:rPr>
              <a:t>→ When I arrived home, my family ______ already ______ dinner.</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eaten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도착하기 전에 가족이 이미 저녁을 먹었으므로 had eaten을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Jane ate at the restaurant. She went home.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주어진 문장과 의미가 통하도록 괄호 안에 알맞은 말을 쓰시오.</a:t>
            </a:r>
          </a:p>
          <a:p>
            <a:pPr algn="l">
              <a:lnSpc>
                <a:spcPct val="105000"/>
              </a:lnSpc>
              <a:spcBef>
                <a:spcPts val="0"/>
              </a:spcBef>
              <a:spcAft>
                <a:spcPts val="200"/>
              </a:spcAft>
            </a:pPr>
            <a:r>
              <a:rPr sz="1800" b="1" i="0">
                <a:solidFill>
                  <a:srgbClr val="222222"/>
                </a:solidFill>
                <a:latin typeface="맑은 고딕"/>
              </a:rPr>
              <a:t>→ After Jane ______ ______ at the restaurant, she ______ home.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eaten, went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식당에서 먹은 일이 먼저이므로 had eaten, 집에 간 일은 과거 went를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plan / be / go / arrive / forget / wake / leave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문장을 완성하시오.</a:t>
            </a:r>
          </a:p>
          <a:p>
            <a:pPr algn="l">
              <a:lnSpc>
                <a:spcPct val="105000"/>
              </a:lnSpc>
              <a:spcBef>
                <a:spcPts val="0"/>
              </a:spcBef>
              <a:spcAft>
                <a:spcPts val="200"/>
              </a:spcAft>
            </a:pPr>
            <a:r>
              <a:rPr sz="1800" b="1" i="0">
                <a:solidFill>
                  <a:srgbClr val="222222"/>
                </a:solidFill>
                <a:latin typeface="맑은 고딕"/>
              </a:rPr>
              <a:t>Last Saturday, I ______ about the basketball game I ______ ______ with my friends. When I ______ at the gym, all my friends ______ ______ home.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forgot / had planned / arrived / had gone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잊은 것·도착한 것은 과거, 그보다 먼저 계획한 것과 친구들이 간 것은 과거완료로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plan / be / go / arrive / forget / wake / leave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문장을 완성하시오.</a:t>
            </a:r>
          </a:p>
          <a:p>
            <a:pPr algn="l">
              <a:lnSpc>
                <a:spcPct val="105000"/>
              </a:lnSpc>
              <a:spcBef>
                <a:spcPts val="0"/>
              </a:spcBef>
              <a:spcAft>
                <a:spcPts val="200"/>
              </a:spcAft>
            </a:pPr>
            <a:r>
              <a:rPr sz="1800" b="1" i="0">
                <a:solidFill>
                  <a:srgbClr val="222222"/>
                </a:solidFill>
                <a:latin typeface="맑은 고딕"/>
              </a:rPr>
              <a:t>I was going to watch a movie with my friends this morning. Because I ______ ______ up late, I had to run to the bus stop. When I got to the bus stop, the bus ______ ______ already, and there ______ no one there.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woken / had left / was</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늦게 일어난 일과 버스가 떠난 일은 먼저 일어났으므로 과거완료, 아무도 없던 상태는 과거 was를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문장을 한 문장으로 바꾸어 쓰시오.</a:t>
            </a:r>
          </a:p>
          <a:p>
            <a:pPr algn="l">
              <a:lnSpc>
                <a:spcPct val="105000"/>
              </a:lnSpc>
              <a:spcBef>
                <a:spcPts val="0"/>
              </a:spcBef>
              <a:spcAft>
                <a:spcPts val="200"/>
              </a:spcAft>
            </a:pPr>
            <a:r>
              <a:rPr sz="1800" b="1" i="0">
                <a:solidFill>
                  <a:srgbClr val="222222"/>
                </a:solidFill>
                <a:latin typeface="맑은 고딕"/>
              </a:rPr>
              <a:t>Jiho did not have any books. + Jiho lost his bag.</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Jiho did not have any books because he had lost his bag.</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가방을 잃어버린 일이 먼저이므로 과거완료 had lost를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19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문장을 한 문장으로 바꾸어 쓰시오.</a:t>
            </a:r>
          </a:p>
          <a:p>
            <a:pPr algn="l">
              <a:lnSpc>
                <a:spcPct val="105000"/>
              </a:lnSpc>
              <a:spcBef>
                <a:spcPts val="0"/>
              </a:spcBef>
              <a:spcAft>
                <a:spcPts val="200"/>
              </a:spcAft>
            </a:pPr>
            <a:r>
              <a:rPr sz="1800" b="1" i="0">
                <a:solidFill>
                  <a:srgbClr val="222222"/>
                </a:solidFill>
                <a:latin typeface="맑은 고딕"/>
              </a:rPr>
              <a:t>Paul missed the bus. + He got up late.</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Paul missed the bus because he had gotten[got] up late.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늦게 일어난 일이 버스를 놓친 것보다 먼저이므로 과거완료를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문장을 한 문장으로 바꾸어 쓰시오.</a:t>
            </a:r>
          </a:p>
          <a:p>
            <a:pPr algn="l">
              <a:lnSpc>
                <a:spcPct val="105000"/>
              </a:lnSpc>
              <a:spcBef>
                <a:spcPts val="0"/>
              </a:spcBef>
              <a:spcAft>
                <a:spcPts val="200"/>
              </a:spcAft>
            </a:pPr>
            <a:r>
              <a:rPr sz="1800" b="1" i="0">
                <a:solidFill>
                  <a:srgbClr val="222222"/>
                </a:solidFill>
                <a:latin typeface="맑은 고딕"/>
              </a:rPr>
              <a:t>Did Amy study Japanese? + She moved to Japan.</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Amy studied Japanese before she moved to Japan?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일본으로 이사 가기 전의 일이므로 과거완료 의문문 Had Amy studied ~?를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문장을 한 문장으로 바꾸어 쓰시오.</a:t>
            </a:r>
          </a:p>
          <a:p>
            <a:pPr algn="l">
              <a:lnSpc>
                <a:spcPct val="105000"/>
              </a:lnSpc>
              <a:spcBef>
                <a:spcPts val="0"/>
              </a:spcBef>
              <a:spcAft>
                <a:spcPts val="200"/>
              </a:spcAft>
            </a:pPr>
            <a:r>
              <a:rPr sz="1800" b="1" i="0">
                <a:solidFill>
                  <a:srgbClr val="222222"/>
                </a:solidFill>
                <a:latin typeface="맑은 고딕"/>
              </a:rPr>
              <a:t>Sam never saw such a beautiful beach. + He went to the East Sea.</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Sam had never seen such a beautiful beach before he went to the East Sea.</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동해에 가기 전까지의 경험이므로 과거완료 had never seen을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문장에서 틀린 부분을 고쳐 쓰시오.</a:t>
            </a:r>
          </a:p>
          <a:p>
            <a:pPr algn="l">
              <a:lnSpc>
                <a:spcPct val="105000"/>
              </a:lnSpc>
              <a:spcBef>
                <a:spcPts val="0"/>
              </a:spcBef>
              <a:spcAft>
                <a:spcPts val="200"/>
              </a:spcAft>
            </a:pPr>
            <a:r>
              <a:rPr sz="1800" b="1" i="0">
                <a:solidFill>
                  <a:srgbClr val="222222"/>
                </a:solidFill>
                <a:latin typeface="맑은 고딕"/>
              </a:rPr>
              <a:t>He has already gone to bed by the time I got home.</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He had already gone to bed by the time I got home.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기준 시점이 과거(got home)이므로 현재완료가 아닌 과거완료 had gone을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문장에서 틀린 부분을 고쳐 쓰시오.</a:t>
            </a:r>
          </a:p>
          <a:p>
            <a:pPr algn="l">
              <a:lnSpc>
                <a:spcPct val="105000"/>
              </a:lnSpc>
              <a:spcBef>
                <a:spcPts val="0"/>
              </a:spcBef>
              <a:spcAft>
                <a:spcPts val="200"/>
              </a:spcAft>
            </a:pPr>
            <a:r>
              <a:rPr sz="1800" b="1" i="0">
                <a:solidFill>
                  <a:srgbClr val="222222"/>
                </a:solidFill>
                <a:latin typeface="맑은 고딕"/>
              </a:rPr>
              <a:t>Sally didn't realize that she leaves her bag on the bus.</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Sally didn't realize that she had left her bag on the bus.</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가방을 두고 온 일이 깨닫지 못한 것보다 먼저이므로 had left를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I didn't check the door. (2nd)</a:t>
            </a:r>
          </a:p>
          <a:p>
            <a:pPr algn="l">
              <a:lnSpc>
                <a:spcPct val="105000"/>
              </a:lnSpc>
              <a:spcBef>
                <a:spcPts val="0"/>
              </a:spcBef>
              <a:spcAft>
                <a:spcPts val="100"/>
              </a:spcAft>
            </a:pPr>
            <a:r>
              <a:rPr sz="1500" b="0" i="1">
                <a:solidFill>
                  <a:srgbClr val="555555"/>
                </a:solidFill>
                <a:latin typeface="맑은 고딕"/>
              </a:rPr>
              <a:t>· My roommate locked the door. (1st)</a:t>
            </a:r>
          </a:p>
          <a:p>
            <a:pPr algn="l">
              <a:lnSpc>
                <a:spcPct val="105000"/>
              </a:lnSpc>
              <a:spcBef>
                <a:spcPts val="0"/>
              </a:spcBef>
              <a:spcAft>
                <a:spcPts val="100"/>
              </a:spcAft>
            </a:pPr>
            <a:r>
              <a:rPr sz="1500" b="0" i="1">
                <a:solidFill>
                  <a:srgbClr val="555555"/>
                </a:solidFill>
                <a:latin typeface="맑은 고딕"/>
              </a:rPr>
              <a:t>→ Because my roommate had locked the door, I didn't check the door.</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&lt;보기&gt;를 보고, 두 문장이 일어난 순서에 맞게 한 문장으로 연결하시오.</a:t>
            </a:r>
          </a:p>
          <a:p>
            <a:pPr algn="l">
              <a:lnSpc>
                <a:spcPct val="105000"/>
              </a:lnSpc>
              <a:spcBef>
                <a:spcPts val="0"/>
              </a:spcBef>
              <a:spcAft>
                <a:spcPts val="200"/>
              </a:spcAft>
            </a:pPr>
            <a:r>
              <a:rPr sz="1800" b="1" i="0">
                <a:solidFill>
                  <a:srgbClr val="222222"/>
                </a:solidFill>
                <a:latin typeface="맑은 고딕"/>
              </a:rPr>
              <a:t>· Mike left his report at home. (1st)</a:t>
            </a:r>
          </a:p>
          <a:p>
            <a:pPr algn="l">
              <a:lnSpc>
                <a:spcPct val="105000"/>
              </a:lnSpc>
              <a:spcBef>
                <a:spcPts val="0"/>
              </a:spcBef>
              <a:spcAft>
                <a:spcPts val="200"/>
              </a:spcAft>
            </a:pPr>
            <a:r>
              <a:rPr sz="1800" b="1" i="0">
                <a:solidFill>
                  <a:srgbClr val="222222"/>
                </a:solidFill>
                <a:latin typeface="맑은 고딕"/>
              </a:rPr>
              <a:t>· He couldn't hand it in. (2nd)</a:t>
            </a:r>
          </a:p>
          <a:p>
            <a:pPr algn="l">
              <a:lnSpc>
                <a:spcPct val="105000"/>
              </a:lnSpc>
              <a:spcBef>
                <a:spcPts val="0"/>
              </a:spcBef>
              <a:spcAft>
                <a:spcPts val="200"/>
              </a:spcAft>
            </a:pPr>
            <a:r>
              <a:rPr sz="1800" b="1" i="0">
                <a:solidFill>
                  <a:srgbClr val="222222"/>
                </a:solidFill>
                <a:latin typeface="맑은 고딕"/>
              </a:rPr>
              <a:t>→ Because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Mike had left his report at home, he couldn't hand it in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먼저 일어난 일(보고서를 두고 옴)을 과거완료 had left로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I didn't check the door. (2nd)</a:t>
            </a:r>
          </a:p>
          <a:p>
            <a:pPr algn="l">
              <a:lnSpc>
                <a:spcPct val="105000"/>
              </a:lnSpc>
              <a:spcBef>
                <a:spcPts val="0"/>
              </a:spcBef>
              <a:spcAft>
                <a:spcPts val="100"/>
              </a:spcAft>
            </a:pPr>
            <a:r>
              <a:rPr sz="1500" b="0" i="1">
                <a:solidFill>
                  <a:srgbClr val="555555"/>
                </a:solidFill>
                <a:latin typeface="맑은 고딕"/>
              </a:rPr>
              <a:t>· My roommate locked the door. (1st)</a:t>
            </a:r>
          </a:p>
          <a:p>
            <a:pPr algn="l">
              <a:lnSpc>
                <a:spcPct val="105000"/>
              </a:lnSpc>
              <a:spcBef>
                <a:spcPts val="0"/>
              </a:spcBef>
              <a:spcAft>
                <a:spcPts val="100"/>
              </a:spcAft>
            </a:pPr>
            <a:r>
              <a:rPr sz="1500" b="0" i="1">
                <a:solidFill>
                  <a:srgbClr val="555555"/>
                </a:solidFill>
                <a:latin typeface="맑은 고딕"/>
              </a:rPr>
              <a:t>→ Because my roommate had locked the door, I didn't check the door.</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&lt;보기&gt;를 보고, 두 문장이 일어난 순서에 맞게 한 문장으로 연결하시오.</a:t>
            </a:r>
          </a:p>
          <a:p>
            <a:pPr algn="l">
              <a:lnSpc>
                <a:spcPct val="105000"/>
              </a:lnSpc>
              <a:spcBef>
                <a:spcPts val="0"/>
              </a:spcBef>
              <a:spcAft>
                <a:spcPts val="200"/>
              </a:spcAft>
            </a:pPr>
            <a:r>
              <a:rPr sz="1800" b="1" i="0">
                <a:solidFill>
                  <a:srgbClr val="222222"/>
                </a:solidFill>
                <a:latin typeface="맑은 고딕"/>
              </a:rPr>
              <a:t>· My friend kindly paid the bill for me. (2nd)</a:t>
            </a:r>
          </a:p>
          <a:p>
            <a:pPr algn="l">
              <a:lnSpc>
                <a:spcPct val="105000"/>
              </a:lnSpc>
              <a:spcBef>
                <a:spcPts val="0"/>
              </a:spcBef>
              <a:spcAft>
                <a:spcPts val="200"/>
              </a:spcAft>
            </a:pPr>
            <a:r>
              <a:rPr sz="1800" b="1" i="0">
                <a:solidFill>
                  <a:srgbClr val="222222"/>
                </a:solidFill>
                <a:latin typeface="맑은 고딕"/>
              </a:rPr>
              <a:t>· I left my wallet at home. (1st)</a:t>
            </a:r>
          </a:p>
          <a:p>
            <a:pPr algn="l">
              <a:lnSpc>
                <a:spcPct val="105000"/>
              </a:lnSpc>
              <a:spcBef>
                <a:spcPts val="0"/>
              </a:spcBef>
              <a:spcAft>
                <a:spcPts val="200"/>
              </a:spcAft>
            </a:pPr>
            <a:r>
              <a:rPr sz="1800" b="1" i="0">
                <a:solidFill>
                  <a:srgbClr val="222222"/>
                </a:solidFill>
                <a:latin typeface="맑은 고딕"/>
              </a:rPr>
              <a:t>→ Because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I had left my wallet at home, my friend kindly paid the bill for 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먼저 일어난 일(지갑을 두고 옴)을 과거완료 had left로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26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그림을 보고 주어진 단어를 이용하여 문장을 완성하시오. (그림 참고)</a:t>
            </a:r>
          </a:p>
          <a:p>
            <a:pPr algn="l">
              <a:lnSpc>
                <a:spcPct val="105000"/>
              </a:lnSpc>
              <a:spcBef>
                <a:spcPts val="0"/>
              </a:spcBef>
              <a:spcAft>
                <a:spcPts val="200"/>
              </a:spcAft>
            </a:pPr>
            <a:r>
              <a:rPr sz="1800" b="1" i="0">
                <a:solidFill>
                  <a:srgbClr val="222222"/>
                </a:solidFill>
                <a:latin typeface="맑은 고딕"/>
              </a:rPr>
              <a:t>When I arrived at the theater, the movie ______ already ______.</a:t>
            </a:r>
          </a:p>
        </p:txBody>
      </p:sp>
      <p:pic>
        <p:nvPicPr>
          <p:cNvPr id="6" name="Picture 5" descr="p26.png"/>
          <p:cNvPicPr>
            <a:picLocks noChangeAspect="1"/>
          </p:cNvPicPr>
          <p:nvPr/>
        </p:nvPicPr>
        <p:blipFill>
          <a:blip r:embed="rId2"/>
          <a:stretch>
            <a:fillRect/>
          </a:stretch>
        </p:blipFill>
        <p:spPr>
          <a:xfrm>
            <a:off x="7406640" y="1718323"/>
            <a:ext cx="4206240" cy="1683992"/>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begun</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도착하기 전에 영화가 이미 시작되었으므로 had begun을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27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그림을 보고 주어진 단어를 이용하여 문장을 완성하시오. (그림 참고)</a:t>
            </a:r>
          </a:p>
          <a:p>
            <a:pPr algn="l">
              <a:lnSpc>
                <a:spcPct val="105000"/>
              </a:lnSpc>
              <a:spcBef>
                <a:spcPts val="0"/>
              </a:spcBef>
              <a:spcAft>
                <a:spcPts val="200"/>
              </a:spcAft>
            </a:pPr>
            <a:r>
              <a:rPr sz="1800" b="1" i="0">
                <a:solidFill>
                  <a:srgbClr val="222222"/>
                </a:solidFill>
                <a:latin typeface="맑은 고딕"/>
              </a:rPr>
              <a:t>I didn't know who he was. I ______ never ______ him before.</a:t>
            </a:r>
          </a:p>
        </p:txBody>
      </p:sp>
      <p:pic>
        <p:nvPicPr>
          <p:cNvPr id="6" name="Picture 5" descr="p27.png"/>
          <p:cNvPicPr>
            <a:picLocks noChangeAspect="1"/>
          </p:cNvPicPr>
          <p:nvPr/>
        </p:nvPicPr>
        <p:blipFill>
          <a:blip r:embed="rId2"/>
          <a:stretch>
            <a:fillRect/>
          </a:stretch>
        </p:blipFill>
        <p:spPr>
          <a:xfrm>
            <a:off x="7406640" y="1841816"/>
            <a:ext cx="4206240" cy="1437007"/>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seen</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그 이전까지 그를 본 적이 없었다는 경험이므로 had seen을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3:00 | 3:30</a:t>
            </a:r>
          </a:p>
          <a:p>
            <a:pPr algn="l">
              <a:lnSpc>
                <a:spcPct val="105000"/>
              </a:lnSpc>
              <a:spcBef>
                <a:spcPts val="0"/>
              </a:spcBef>
              <a:spcAft>
                <a:spcPts val="100"/>
              </a:spcAft>
            </a:pPr>
            <a:r>
              <a:rPr sz="1500" b="0" i="1">
                <a:solidFill>
                  <a:srgbClr val="555555"/>
                </a:solidFill>
                <a:latin typeface="맑은 고딕"/>
              </a:rPr>
              <a:t>He went to bed. | I came home.</a:t>
            </a:r>
          </a:p>
          <a:p>
            <a:pPr algn="l">
              <a:lnSpc>
                <a:spcPct val="105000"/>
              </a:lnSpc>
              <a:spcBef>
                <a:spcPts val="0"/>
              </a:spcBef>
              <a:spcAft>
                <a:spcPts val="100"/>
              </a:spcAft>
            </a:pPr>
            <a:r>
              <a:rPr sz="1500" b="0" i="1">
                <a:solidFill>
                  <a:srgbClr val="555555"/>
                </a:solidFill>
                <a:latin typeface="맑은 고딕"/>
              </a:rPr>
              <a:t>They just finished dinner. | I opened the door.</a:t>
            </a:r>
          </a:p>
          <a:p>
            <a:pPr algn="l">
              <a:lnSpc>
                <a:spcPct val="105000"/>
              </a:lnSpc>
              <a:spcBef>
                <a:spcPts val="0"/>
              </a:spcBef>
              <a:spcAft>
                <a:spcPts val="100"/>
              </a:spcAft>
            </a:pPr>
            <a:r>
              <a:rPr sz="1500" b="0" i="1">
                <a:solidFill>
                  <a:srgbClr val="555555"/>
                </a:solidFill>
                <a:latin typeface="맑은 고딕"/>
              </a:rPr>
              <a:t>The meeting started. | I got there.</a:t>
            </a:r>
          </a:p>
          <a:p>
            <a:pPr algn="l">
              <a:lnSpc>
                <a:spcPct val="105000"/>
              </a:lnSpc>
              <a:spcBef>
                <a:spcPts val="0"/>
              </a:spcBef>
              <a:spcAft>
                <a:spcPts val="100"/>
              </a:spcAft>
            </a:pPr>
            <a:r>
              <a:rPr sz="1500" b="0" i="1">
                <a:solidFill>
                  <a:srgbClr val="555555"/>
                </a:solidFill>
                <a:latin typeface="맑은 고딕"/>
              </a:rPr>
              <a:t>&lt;보기&gt; When I came home, he had gone to bed.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표를 참고하여 과거에 있었던 두 가지 일을 나타낼 때 &lt;보기&gt;와 같이 알맞은 시제를 사용하여 한 문장으로 쓰시오.</a:t>
            </a:r>
          </a:p>
          <a:p>
            <a:pPr algn="l">
              <a:lnSpc>
                <a:spcPct val="105000"/>
              </a:lnSpc>
              <a:spcBef>
                <a:spcPts val="0"/>
              </a:spcBef>
              <a:spcAft>
                <a:spcPts val="200"/>
              </a:spcAft>
            </a:pPr>
            <a:r>
              <a:rPr sz="1800" b="1" i="0">
                <a:solidFill>
                  <a:srgbClr val="222222"/>
                </a:solidFill>
                <a:latin typeface="맑은 고딕"/>
              </a:rPr>
              <a:t>(They just finished dinner. / I opened the door.)</a:t>
            </a:r>
          </a:p>
          <a:p>
            <a:pPr algn="l">
              <a:lnSpc>
                <a:spcPct val="105000"/>
              </a:lnSpc>
              <a:spcBef>
                <a:spcPts val="0"/>
              </a:spcBef>
              <a:spcAft>
                <a:spcPts val="200"/>
              </a:spcAft>
            </a:pPr>
            <a:r>
              <a:rPr sz="1800" b="1" i="0">
                <a:solidFill>
                  <a:srgbClr val="222222"/>
                </a:solidFill>
                <a:latin typeface="맑은 고딕"/>
              </a:rPr>
              <a:t>______,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When I opened the door, they had just finished dinner.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저녁을 끝낸 일(3:00)이 문을 연 일(3:30)보다 먼저이므로 과거완료를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29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29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3:00 | 3:30</a:t>
            </a:r>
          </a:p>
          <a:p>
            <a:pPr algn="l">
              <a:lnSpc>
                <a:spcPct val="105000"/>
              </a:lnSpc>
              <a:spcBef>
                <a:spcPts val="0"/>
              </a:spcBef>
              <a:spcAft>
                <a:spcPts val="100"/>
              </a:spcAft>
            </a:pPr>
            <a:r>
              <a:rPr sz="1500" b="0" i="1">
                <a:solidFill>
                  <a:srgbClr val="555555"/>
                </a:solidFill>
                <a:latin typeface="맑은 고딕"/>
              </a:rPr>
              <a:t>He went to bed. | I came home.</a:t>
            </a:r>
          </a:p>
          <a:p>
            <a:pPr algn="l">
              <a:lnSpc>
                <a:spcPct val="105000"/>
              </a:lnSpc>
              <a:spcBef>
                <a:spcPts val="0"/>
              </a:spcBef>
              <a:spcAft>
                <a:spcPts val="100"/>
              </a:spcAft>
            </a:pPr>
            <a:r>
              <a:rPr sz="1500" b="0" i="1">
                <a:solidFill>
                  <a:srgbClr val="555555"/>
                </a:solidFill>
                <a:latin typeface="맑은 고딕"/>
              </a:rPr>
              <a:t>They just finished dinner. | I opened the door.</a:t>
            </a:r>
          </a:p>
          <a:p>
            <a:pPr algn="l">
              <a:lnSpc>
                <a:spcPct val="105000"/>
              </a:lnSpc>
              <a:spcBef>
                <a:spcPts val="0"/>
              </a:spcBef>
              <a:spcAft>
                <a:spcPts val="100"/>
              </a:spcAft>
            </a:pPr>
            <a:r>
              <a:rPr sz="1500" b="0" i="1">
                <a:solidFill>
                  <a:srgbClr val="555555"/>
                </a:solidFill>
                <a:latin typeface="맑은 고딕"/>
              </a:rPr>
              <a:t>The meeting started. | I got there.</a:t>
            </a:r>
          </a:p>
          <a:p>
            <a:pPr algn="l">
              <a:lnSpc>
                <a:spcPct val="105000"/>
              </a:lnSpc>
              <a:spcBef>
                <a:spcPts val="0"/>
              </a:spcBef>
              <a:spcAft>
                <a:spcPts val="100"/>
              </a:spcAft>
            </a:pPr>
            <a:r>
              <a:rPr sz="1500" b="0" i="1">
                <a:solidFill>
                  <a:srgbClr val="555555"/>
                </a:solidFill>
                <a:latin typeface="맑은 고딕"/>
              </a:rPr>
              <a:t>&lt;보기&gt; When I came home, he had gone to bed.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표를 참고하여 과거에 있었던 두 가지 일을 나타낼 때 &lt;보기&gt;와 같이 알맞은 시제를 사용하여 한 문장으로 쓰시오.</a:t>
            </a:r>
          </a:p>
          <a:p>
            <a:pPr algn="l">
              <a:lnSpc>
                <a:spcPct val="105000"/>
              </a:lnSpc>
              <a:spcBef>
                <a:spcPts val="0"/>
              </a:spcBef>
              <a:spcAft>
                <a:spcPts val="200"/>
              </a:spcAft>
            </a:pPr>
            <a:r>
              <a:rPr sz="1800" b="1" i="0">
                <a:solidFill>
                  <a:srgbClr val="222222"/>
                </a:solidFill>
                <a:latin typeface="맑은 고딕"/>
              </a:rPr>
              <a:t>(The meeting started. / I got there.)</a:t>
            </a:r>
          </a:p>
          <a:p>
            <a:pPr algn="l">
              <a:lnSpc>
                <a:spcPct val="105000"/>
              </a:lnSpc>
              <a:spcBef>
                <a:spcPts val="0"/>
              </a:spcBef>
              <a:spcAft>
                <a:spcPts val="200"/>
              </a:spcAft>
            </a:pPr>
            <a:r>
              <a:rPr sz="1800" b="1" i="0">
                <a:solidFill>
                  <a:srgbClr val="222222"/>
                </a:solidFill>
                <a:latin typeface="맑은 고딕"/>
              </a:rPr>
              <a:t>______,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When I got there, the meeting had started.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회의 시작(3:00)이 내가 도착한 것(3:30)보다 먼저이므로 had started를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30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When Sarah came back home, she found that ... someone had cleaned her room.</a:t>
            </a:r>
          </a:p>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put the clothes away  • hang the picture  • empty the trash can</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두 그림에서 달라진 부분을 찾은 후, 제시된 표현을 사용하여 문장을 완성하시오. (그림 참고)</a:t>
            </a:r>
          </a:p>
          <a:p>
            <a:pPr algn="l">
              <a:lnSpc>
                <a:spcPct val="105000"/>
              </a:lnSpc>
              <a:spcBef>
                <a:spcPts val="0"/>
              </a:spcBef>
              <a:spcAft>
                <a:spcPts val="200"/>
              </a:spcAft>
            </a:pPr>
            <a:r>
              <a:rPr sz="1800" b="1" i="0">
                <a:solidFill>
                  <a:srgbClr val="222222"/>
                </a:solidFill>
                <a:latin typeface="맑은 고딕"/>
              </a:rPr>
              <a:t>someone ______ on the wall.</a:t>
            </a:r>
          </a:p>
        </p:txBody>
      </p:sp>
      <p:pic>
        <p:nvPicPr>
          <p:cNvPr id="6" name="Picture 5" descr="g30.png"/>
          <p:cNvPicPr>
            <a:picLocks noChangeAspect="1"/>
          </p:cNvPicPr>
          <p:nvPr/>
        </p:nvPicPr>
        <p:blipFill>
          <a:blip r:embed="rId2"/>
          <a:stretch>
            <a:fillRect/>
          </a:stretch>
        </p:blipFill>
        <p:spPr>
          <a:xfrm>
            <a:off x="7406640" y="1727083"/>
            <a:ext cx="4206240" cy="1666472"/>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hung the picture</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Sarah가 돌아오기 전에 누군가 그림을 건 것이므로 과거완료 had hung을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31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When Sarah came back home, she found that ...</a:t>
            </a:r>
          </a:p>
          <a:p>
            <a:pPr algn="l">
              <a:lnSpc>
                <a:spcPct val="105000"/>
              </a:lnSpc>
              <a:spcBef>
                <a:spcPts val="0"/>
              </a:spcBef>
              <a:spcAft>
                <a:spcPts val="100"/>
              </a:spcAft>
            </a:pPr>
            <a:r>
              <a:rPr sz="1500" b="0" i="1">
                <a:solidFill>
                  <a:srgbClr val="555555"/>
                </a:solidFill>
                <a:latin typeface="맑은 고딕"/>
              </a:rPr>
              <a:t>someone had cleaned her room.</a:t>
            </a:r>
          </a:p>
          <a:p>
            <a:pPr algn="l">
              <a:lnSpc>
                <a:spcPct val="105000"/>
              </a:lnSpc>
              <a:spcBef>
                <a:spcPts val="0"/>
              </a:spcBef>
              <a:spcAft>
                <a:spcPts val="100"/>
              </a:spcAft>
            </a:pPr>
            <a:r>
              <a:rPr sz="1500" b="0" i="1">
                <a:solidFill>
                  <a:srgbClr val="555555"/>
                </a:solidFill>
                <a:latin typeface="맑은 고딕"/>
              </a:rPr>
              <a:t>&lt;보기&gt; • put the clothes away • hang the picture • empty the trash can</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두 그림에서 달라진 부분을 찾은 후, 제시된 표현을 사용하여 문장을 완성하시오. (그림 참고)</a:t>
            </a:r>
          </a:p>
          <a:p>
            <a:pPr algn="l">
              <a:lnSpc>
                <a:spcPct val="105000"/>
              </a:lnSpc>
              <a:spcBef>
                <a:spcPts val="0"/>
              </a:spcBef>
              <a:spcAft>
                <a:spcPts val="200"/>
              </a:spcAft>
            </a:pPr>
            <a:r>
              <a:rPr sz="1800" b="1" i="0">
                <a:solidFill>
                  <a:srgbClr val="222222"/>
                </a:solidFill>
                <a:latin typeface="맑은 고딕"/>
              </a:rPr>
              <a:t>someone ______ from the bed.</a:t>
            </a:r>
          </a:p>
        </p:txBody>
      </p:sp>
      <p:pic>
        <p:nvPicPr>
          <p:cNvPr id="6" name="Picture 5" descr="g30.png"/>
          <p:cNvPicPr>
            <a:picLocks noChangeAspect="1"/>
          </p:cNvPicPr>
          <p:nvPr/>
        </p:nvPicPr>
        <p:blipFill>
          <a:blip r:embed="rId2"/>
          <a:stretch>
            <a:fillRect/>
          </a:stretch>
        </p:blipFill>
        <p:spPr>
          <a:xfrm>
            <a:off x="7406640" y="1727083"/>
            <a:ext cx="4206240" cy="1666472"/>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put the clothes away</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Sarah가 집에 온 것(과거)보다 누군가 옷을 치운 일이 먼저이므로 과거완료 had put을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32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When Sarah came back home, she found that ...</a:t>
            </a:r>
          </a:p>
          <a:p>
            <a:pPr algn="l">
              <a:lnSpc>
                <a:spcPct val="105000"/>
              </a:lnSpc>
              <a:spcBef>
                <a:spcPts val="0"/>
              </a:spcBef>
              <a:spcAft>
                <a:spcPts val="100"/>
              </a:spcAft>
            </a:pPr>
            <a:r>
              <a:rPr sz="1500" b="0" i="1">
                <a:solidFill>
                  <a:srgbClr val="555555"/>
                </a:solidFill>
                <a:latin typeface="맑은 고딕"/>
              </a:rPr>
              <a:t>someone had cleaned her room.</a:t>
            </a:r>
          </a:p>
          <a:p>
            <a:pPr algn="l">
              <a:lnSpc>
                <a:spcPct val="105000"/>
              </a:lnSpc>
              <a:spcBef>
                <a:spcPts val="0"/>
              </a:spcBef>
              <a:spcAft>
                <a:spcPts val="100"/>
              </a:spcAft>
            </a:pPr>
            <a:r>
              <a:rPr sz="1500" b="0" i="1">
                <a:solidFill>
                  <a:srgbClr val="555555"/>
                </a:solidFill>
                <a:latin typeface="맑은 고딕"/>
              </a:rPr>
              <a:t>&lt;보기&gt; • put the clothes away • hang the picture • empty the trash can</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두 그림에서 달라진 부분을 찾은 후, 제시된 표현을 사용하여 문장을 완성하시오. (그림 참고)</a:t>
            </a:r>
          </a:p>
          <a:p>
            <a:pPr algn="l">
              <a:lnSpc>
                <a:spcPct val="105000"/>
              </a:lnSpc>
              <a:spcBef>
                <a:spcPts val="0"/>
              </a:spcBef>
              <a:spcAft>
                <a:spcPts val="200"/>
              </a:spcAft>
            </a:pPr>
            <a:r>
              <a:rPr sz="1800" b="1" i="0">
                <a:solidFill>
                  <a:srgbClr val="222222"/>
                </a:solidFill>
                <a:latin typeface="맑은 고딕"/>
              </a:rPr>
              <a:t>someone ______.</a:t>
            </a:r>
          </a:p>
        </p:txBody>
      </p:sp>
      <p:pic>
        <p:nvPicPr>
          <p:cNvPr id="6" name="Picture 5" descr="g30.png"/>
          <p:cNvPicPr>
            <a:picLocks noChangeAspect="1"/>
          </p:cNvPicPr>
          <p:nvPr/>
        </p:nvPicPr>
        <p:blipFill>
          <a:blip r:embed="rId2"/>
          <a:stretch>
            <a:fillRect/>
          </a:stretch>
        </p:blipFill>
        <p:spPr>
          <a:xfrm>
            <a:off x="7406640" y="1727083"/>
            <a:ext cx="4206240" cy="1666472"/>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emptied the trash can</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Sarah가 돌아오기 전에 쓰레기통을 비운 일이 먼저이므로 과거완료 had emptied를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5:30 p.m. … Mom cooked dinner.</a:t>
            </a:r>
          </a:p>
          <a:p>
            <a:pPr algn="l">
              <a:lnSpc>
                <a:spcPct val="105000"/>
              </a:lnSpc>
              <a:spcBef>
                <a:spcPts val="0"/>
              </a:spcBef>
              <a:spcAft>
                <a:spcPts val="100"/>
              </a:spcAft>
            </a:pPr>
            <a:r>
              <a:rPr sz="1500" b="0" i="1">
                <a:solidFill>
                  <a:srgbClr val="555555"/>
                </a:solidFill>
                <a:latin typeface="맑은 고딕"/>
              </a:rPr>
              <a:t>6:00 p.m. … Dad arrived at home.</a:t>
            </a:r>
          </a:p>
          <a:p>
            <a:pPr algn="l">
              <a:lnSpc>
                <a:spcPct val="105000"/>
              </a:lnSpc>
              <a:spcBef>
                <a:spcPts val="0"/>
              </a:spcBef>
              <a:spcAft>
                <a:spcPts val="100"/>
              </a:spcAft>
            </a:pPr>
            <a:r>
              <a:rPr sz="1500" b="0" i="1">
                <a:solidFill>
                  <a:srgbClr val="555555"/>
                </a:solidFill>
                <a:latin typeface="맑은 고딕"/>
              </a:rPr>
              <a:t>7:30 p.m. … I finished my homework.</a:t>
            </a:r>
          </a:p>
          <a:p>
            <a:pPr algn="l">
              <a:lnSpc>
                <a:spcPct val="105000"/>
              </a:lnSpc>
              <a:spcBef>
                <a:spcPts val="0"/>
              </a:spcBef>
              <a:spcAft>
                <a:spcPts val="100"/>
              </a:spcAft>
            </a:pPr>
            <a:r>
              <a:rPr sz="1500" b="0" i="1">
                <a:solidFill>
                  <a:srgbClr val="555555"/>
                </a:solidFill>
                <a:latin typeface="맑은 고딕"/>
              </a:rPr>
              <a:t>8:00 p.m. … We started a board game.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메모를 보고, 빈칸에 알맞은 말을 쓰시오.</a:t>
            </a:r>
          </a:p>
          <a:p>
            <a:pPr algn="l">
              <a:lnSpc>
                <a:spcPct val="105000"/>
              </a:lnSpc>
              <a:spcBef>
                <a:spcPts val="0"/>
              </a:spcBef>
              <a:spcAft>
                <a:spcPts val="200"/>
              </a:spcAft>
            </a:pPr>
            <a:r>
              <a:rPr sz="1800" b="1" i="0">
                <a:solidFill>
                  <a:srgbClr val="222222"/>
                </a:solidFill>
                <a:latin typeface="맑은 고딕"/>
              </a:rPr>
              <a:t>When Dad arrived at home, Mom ______ already ______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cooked dinner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엄마가 저녁을 요리한 일(5:30)이 아빠 도착(6:00)보다 먼저이므로 과거완료 had cooked를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5:30 p.m. … Mom cooked dinner.</a:t>
            </a:r>
          </a:p>
          <a:p>
            <a:pPr algn="l">
              <a:lnSpc>
                <a:spcPct val="105000"/>
              </a:lnSpc>
              <a:spcBef>
                <a:spcPts val="0"/>
              </a:spcBef>
              <a:spcAft>
                <a:spcPts val="100"/>
              </a:spcAft>
            </a:pPr>
            <a:r>
              <a:rPr sz="1500" b="0" i="1">
                <a:solidFill>
                  <a:srgbClr val="555555"/>
                </a:solidFill>
                <a:latin typeface="맑은 고딕"/>
              </a:rPr>
              <a:t>6:00 p.m. … Dad arrived at home.</a:t>
            </a:r>
          </a:p>
          <a:p>
            <a:pPr algn="l">
              <a:lnSpc>
                <a:spcPct val="105000"/>
              </a:lnSpc>
              <a:spcBef>
                <a:spcPts val="0"/>
              </a:spcBef>
              <a:spcAft>
                <a:spcPts val="100"/>
              </a:spcAft>
            </a:pPr>
            <a:r>
              <a:rPr sz="1500" b="0" i="1">
                <a:solidFill>
                  <a:srgbClr val="555555"/>
                </a:solidFill>
                <a:latin typeface="맑은 고딕"/>
              </a:rPr>
              <a:t>7:30 p.m. … I finished my homework.</a:t>
            </a:r>
          </a:p>
          <a:p>
            <a:pPr algn="l">
              <a:lnSpc>
                <a:spcPct val="105000"/>
              </a:lnSpc>
              <a:spcBef>
                <a:spcPts val="0"/>
              </a:spcBef>
              <a:spcAft>
                <a:spcPts val="100"/>
              </a:spcAft>
            </a:pPr>
            <a:r>
              <a:rPr sz="1500" b="0" i="1">
                <a:solidFill>
                  <a:srgbClr val="555555"/>
                </a:solidFill>
                <a:latin typeface="맑은 고딕"/>
              </a:rPr>
              <a:t>8:00 p.m. … We started a board game.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메모를 보고, 빈칸에 알맞은 말을 쓰시오.</a:t>
            </a:r>
          </a:p>
          <a:p>
            <a:pPr algn="l">
              <a:lnSpc>
                <a:spcPct val="105000"/>
              </a:lnSpc>
              <a:spcBef>
                <a:spcPts val="0"/>
              </a:spcBef>
              <a:spcAft>
                <a:spcPts val="200"/>
              </a:spcAft>
            </a:pPr>
            <a:r>
              <a:rPr sz="1800" b="1" i="0">
                <a:solidFill>
                  <a:srgbClr val="222222"/>
                </a:solidFill>
                <a:latin typeface="맑은 고딕"/>
              </a:rPr>
              <a:t>I ______ ______ ______ ______ before we played a board game.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finished my homework</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숙제를 끝낸 일(7:30)이 보드게임(8:00)보다 먼저이므로 과거완료 had finished를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35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그림을 보고, 괄호 안에 주어진 단어를 이용하여 문장을 완성하시오. (그림 참고)</a:t>
            </a:r>
          </a:p>
          <a:p>
            <a:pPr algn="l">
              <a:lnSpc>
                <a:spcPct val="105000"/>
              </a:lnSpc>
              <a:spcBef>
                <a:spcPts val="0"/>
              </a:spcBef>
              <a:spcAft>
                <a:spcPts val="200"/>
              </a:spcAft>
            </a:pPr>
            <a:r>
              <a:rPr sz="1800" b="1" i="0">
                <a:solidFill>
                  <a:srgbClr val="222222"/>
                </a:solidFill>
                <a:latin typeface="맑은 고딕"/>
              </a:rPr>
              <a:t>The train ______ when I ______ at the station. (leave, arrive)</a:t>
            </a:r>
          </a:p>
        </p:txBody>
      </p:sp>
      <p:pic>
        <p:nvPicPr>
          <p:cNvPr id="6" name="Picture 5" descr="p35.png"/>
          <p:cNvPicPr>
            <a:picLocks noChangeAspect="1"/>
          </p:cNvPicPr>
          <p:nvPr/>
        </p:nvPicPr>
        <p:blipFill>
          <a:blip r:embed="rId2"/>
          <a:stretch>
            <a:fillRect/>
          </a:stretch>
        </p:blipFill>
        <p:spPr>
          <a:xfrm>
            <a:off x="7406640" y="1905433"/>
            <a:ext cx="4206240" cy="1309772"/>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left, arrived</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역에 도착한 것(과거)보다 기차가 떠난 일이 먼저이므로 had left, 도착은 과거 arrived를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36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그림을 보고, 괄호 안에 주어진 단어를 이용하여 문장을 완성하시오. (그림 참고)</a:t>
            </a:r>
          </a:p>
          <a:p>
            <a:pPr algn="l">
              <a:lnSpc>
                <a:spcPct val="105000"/>
              </a:lnSpc>
              <a:spcBef>
                <a:spcPts val="0"/>
              </a:spcBef>
              <a:spcAft>
                <a:spcPts val="200"/>
              </a:spcAft>
            </a:pPr>
            <a:r>
              <a:rPr sz="1800" b="1" i="0">
                <a:solidFill>
                  <a:srgbClr val="222222"/>
                </a:solidFill>
                <a:latin typeface="맑은 고딕"/>
              </a:rPr>
              <a:t>Before my father left home, my mother ______ ______. (come)</a:t>
            </a:r>
          </a:p>
        </p:txBody>
      </p:sp>
      <p:pic>
        <p:nvPicPr>
          <p:cNvPr id="6" name="Picture 5" descr="p36.png"/>
          <p:cNvPicPr>
            <a:picLocks noChangeAspect="1"/>
          </p:cNvPicPr>
          <p:nvPr/>
        </p:nvPicPr>
        <p:blipFill>
          <a:blip r:embed="rId2"/>
          <a:stretch>
            <a:fillRect/>
          </a:stretch>
        </p:blipFill>
        <p:spPr>
          <a:xfrm>
            <a:off x="7406640" y="1018530"/>
            <a:ext cx="4206240" cy="3083578"/>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come</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아버지가 집을 떠나기 전에 어머니가 온 일이 먼저이므로 과거완료 had come을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37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&lt;예시&gt; Seha had already finished his homework.</a:t>
            </a:r>
          </a:p>
          <a:p>
            <a:pPr algn="l">
              <a:lnSpc>
                <a:spcPct val="105000"/>
              </a:lnSpc>
              <a:spcBef>
                <a:spcPts val="0"/>
              </a:spcBef>
              <a:spcAft>
                <a:spcPts val="100"/>
              </a:spcAft>
            </a:pPr>
            <a:r>
              <a:rPr sz="1500" b="0" i="1">
                <a:solidFill>
                  <a:srgbClr val="555555"/>
                </a:solidFill>
                <a:latin typeface="맑은 고딕"/>
              </a:rPr>
              <a:t>&lt;보기&gt; • eat • clean • drink • finish</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그림을 보고 선생님이 도착했을 때 &lt;예시&gt;와 같이 각 학생들이 어떤 일을 끝마친 상태였는지 설명하는 문장을 쓰시오. (그림 참고)</a:t>
            </a:r>
          </a:p>
          <a:p>
            <a:pPr algn="l">
              <a:lnSpc>
                <a:spcPct val="105000"/>
              </a:lnSpc>
              <a:spcBef>
                <a:spcPts val="0"/>
              </a:spcBef>
              <a:spcAft>
                <a:spcPts val="200"/>
              </a:spcAft>
            </a:pPr>
            <a:r>
              <a:rPr sz="1800" b="1" i="0">
                <a:solidFill>
                  <a:srgbClr val="222222"/>
                </a:solidFill>
                <a:latin typeface="맑은 고딕"/>
              </a:rPr>
              <a:t>Minji had already ______.</a:t>
            </a:r>
          </a:p>
        </p:txBody>
      </p:sp>
      <p:pic>
        <p:nvPicPr>
          <p:cNvPr id="6" name="Picture 5" descr="g37.png"/>
          <p:cNvPicPr>
            <a:picLocks noChangeAspect="1"/>
          </p:cNvPicPr>
          <p:nvPr/>
        </p:nvPicPr>
        <p:blipFill>
          <a:blip r:embed="rId2"/>
          <a:stretch>
            <a:fillRect/>
          </a:stretch>
        </p:blipFill>
        <p:spPr>
          <a:xfrm>
            <a:off x="7406640" y="1274412"/>
            <a:ext cx="4206240" cy="2571815"/>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cleaned the classroom</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선생님 도착 전에 이미 교실 청소를 끝낸 상태이므로 had already 뒤에 과거분사 cleaned를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38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&lt;예시&gt; Seha had already finished his homework.</a:t>
            </a:r>
          </a:p>
          <a:p>
            <a:pPr algn="l">
              <a:lnSpc>
                <a:spcPct val="105000"/>
              </a:lnSpc>
              <a:spcBef>
                <a:spcPts val="0"/>
              </a:spcBef>
              <a:spcAft>
                <a:spcPts val="100"/>
              </a:spcAft>
            </a:pPr>
            <a:r>
              <a:rPr sz="1500" b="0" i="1">
                <a:solidFill>
                  <a:srgbClr val="555555"/>
                </a:solidFill>
                <a:latin typeface="맑은 고딕"/>
              </a:rPr>
              <a:t>&lt;보기&gt; • eat • clean • drink • finish</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그림을 보고 선생님이 도착했을 때 &lt;예시&gt;와 같이 각 학생들이 어떤 일을 끝마친 상태였는지 설명하는 문장을 쓰시오. (그림 참고)</a:t>
            </a:r>
          </a:p>
          <a:p>
            <a:pPr algn="l">
              <a:lnSpc>
                <a:spcPct val="105000"/>
              </a:lnSpc>
              <a:spcBef>
                <a:spcPts val="0"/>
              </a:spcBef>
              <a:spcAft>
                <a:spcPts val="200"/>
              </a:spcAft>
            </a:pPr>
            <a:r>
              <a:rPr sz="1800" b="1" i="0">
                <a:solidFill>
                  <a:srgbClr val="222222"/>
                </a:solidFill>
                <a:latin typeface="맑은 고딕"/>
              </a:rPr>
              <a:t>Ben had ______.</a:t>
            </a:r>
          </a:p>
        </p:txBody>
      </p:sp>
      <p:pic>
        <p:nvPicPr>
          <p:cNvPr id="6" name="Picture 5" descr="g37.png"/>
          <p:cNvPicPr>
            <a:picLocks noChangeAspect="1"/>
          </p:cNvPicPr>
          <p:nvPr/>
        </p:nvPicPr>
        <p:blipFill>
          <a:blip r:embed="rId2"/>
          <a:stretch>
            <a:fillRect/>
          </a:stretch>
        </p:blipFill>
        <p:spPr>
          <a:xfrm>
            <a:off x="7406640" y="1274412"/>
            <a:ext cx="4206240" cy="2571815"/>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already eaten his snack</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선생님 도착 전에 간식을 다 먹은 상태이므로 had already eaten(eat의 과거분사)을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39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39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&lt;예시&gt; Seha had already finished his homework.</a:t>
            </a:r>
          </a:p>
          <a:p>
            <a:pPr algn="l">
              <a:lnSpc>
                <a:spcPct val="105000"/>
              </a:lnSpc>
              <a:spcBef>
                <a:spcPts val="0"/>
              </a:spcBef>
              <a:spcAft>
                <a:spcPts val="100"/>
              </a:spcAft>
            </a:pPr>
            <a:r>
              <a:rPr sz="1500" b="0" i="1">
                <a:solidFill>
                  <a:srgbClr val="555555"/>
                </a:solidFill>
                <a:latin typeface="맑은 고딕"/>
              </a:rPr>
              <a:t>&lt;보기&gt; • eat • clean • drink • finish</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그림을 보고 선생님이 도착했을 때 &lt;예시&gt;와 같이 각 학생들이 어떤 일을 끝마친 상태였는지 설명하는 문장을 쓰시오. (그림 참고)</a:t>
            </a:r>
          </a:p>
          <a:p>
            <a:pPr algn="l">
              <a:lnSpc>
                <a:spcPct val="105000"/>
              </a:lnSpc>
              <a:spcBef>
                <a:spcPts val="0"/>
              </a:spcBef>
              <a:spcAft>
                <a:spcPts val="200"/>
              </a:spcAft>
            </a:pPr>
            <a:r>
              <a:rPr sz="1800" b="1" i="0">
                <a:solidFill>
                  <a:srgbClr val="222222"/>
                </a:solidFill>
                <a:latin typeface="맑은 고딕"/>
              </a:rPr>
              <a:t>Ann ______.</a:t>
            </a:r>
          </a:p>
        </p:txBody>
      </p:sp>
      <p:pic>
        <p:nvPicPr>
          <p:cNvPr id="6" name="Picture 5" descr="g37.png"/>
          <p:cNvPicPr>
            <a:picLocks noChangeAspect="1"/>
          </p:cNvPicPr>
          <p:nvPr/>
        </p:nvPicPr>
        <p:blipFill>
          <a:blip r:embed="rId2"/>
          <a:stretch>
            <a:fillRect/>
          </a:stretch>
        </p:blipFill>
        <p:spPr>
          <a:xfrm>
            <a:off x="7406640" y="1274412"/>
            <a:ext cx="4206240" cy="2571815"/>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already drunk her milk</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선생님 도착 전에 우유를 다 마신 상태이므로 과거완료 had already drunk를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I had a really unlucky day today. When I got to the bus stop, (1)______ (the bus, leave, already). When I entered the classroom, (2)______ (the class, begin, already). On the way home, I slept for a while on the bus. When I woke up, (3)______ (the bus, pass, already) my house.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주어진 표현을 이용해 일기를 완성하시오.</a:t>
            </a:r>
          </a:p>
          <a:p>
            <a:pPr algn="l">
              <a:lnSpc>
                <a:spcPct val="105000"/>
              </a:lnSpc>
              <a:spcBef>
                <a:spcPts val="0"/>
              </a:spcBef>
              <a:spcAft>
                <a:spcPts val="200"/>
              </a:spcAft>
            </a:pPr>
            <a:r>
              <a:rPr sz="1800" b="1" i="0">
                <a:solidFill>
                  <a:srgbClr val="222222"/>
                </a:solidFill>
                <a:latin typeface="맑은 고딕"/>
              </a:rPr>
              <a:t>(1) ______</a:t>
            </a:r>
          </a:p>
          <a:p>
            <a:pPr algn="l">
              <a:lnSpc>
                <a:spcPct val="105000"/>
              </a:lnSpc>
              <a:spcBef>
                <a:spcPts val="0"/>
              </a:spcBef>
              <a:spcAft>
                <a:spcPts val="200"/>
              </a:spcAft>
            </a:pPr>
            <a:r>
              <a:rPr sz="1800" b="1" i="0">
                <a:solidFill>
                  <a:srgbClr val="222222"/>
                </a:solidFill>
                <a:latin typeface="맑은 고딕"/>
              </a:rPr>
              <a:t>(2) ______</a:t>
            </a:r>
          </a:p>
          <a:p>
            <a:pPr algn="l">
              <a:lnSpc>
                <a:spcPct val="105000"/>
              </a:lnSpc>
              <a:spcBef>
                <a:spcPts val="0"/>
              </a:spcBef>
              <a:spcAft>
                <a:spcPts val="200"/>
              </a:spcAft>
            </a:pPr>
            <a:r>
              <a:rPr sz="1800" b="1" i="0">
                <a:solidFill>
                  <a:srgbClr val="222222"/>
                </a:solidFill>
                <a:latin typeface="맑은 고딕"/>
              </a:rPr>
              <a:t>(3)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(1) the bus had already left (2) the class had already begun (3) the bus had already passed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각각 내가 도착하거나 깨어난 시점(과거)보다 먼저 일어난 일이므로 과거완료 had p.p.를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41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그림을 보고 문장의 밑줄 친 부분을 알맞게 고쳐 쓰시오. (그림 참고)</a:t>
            </a:r>
          </a:p>
          <a:p>
            <a:pPr algn="l">
              <a:lnSpc>
                <a:spcPct val="105000"/>
              </a:lnSpc>
              <a:spcBef>
                <a:spcPts val="0"/>
              </a:spcBef>
              <a:spcAft>
                <a:spcPts val="200"/>
              </a:spcAft>
            </a:pPr>
            <a:r>
              <a:rPr sz="1800" b="1" i="0">
                <a:solidFill>
                  <a:srgbClr val="222222"/>
                </a:solidFill>
                <a:latin typeface="맑은 고딕"/>
              </a:rPr>
              <a:t>The teacher had gotten angry because I didn't do my homework last night.</a:t>
            </a:r>
          </a:p>
        </p:txBody>
      </p:sp>
      <p:pic>
        <p:nvPicPr>
          <p:cNvPr id="6" name="Picture 5" descr="p41.png"/>
          <p:cNvPicPr>
            <a:picLocks noChangeAspect="1"/>
          </p:cNvPicPr>
          <p:nvPr/>
        </p:nvPicPr>
        <p:blipFill>
          <a:blip r:embed="rId2"/>
          <a:stretch>
            <a:fillRect/>
          </a:stretch>
        </p:blipFill>
        <p:spPr>
          <a:xfrm>
            <a:off x="7406640" y="1935371"/>
            <a:ext cx="4206240" cy="1249896"/>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gotten → got / didn't do → hadn't done</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숙제를 안 한 일이 먼저(과거완료 hadn't done), 선생님이 화난 것은 나중(과거 got)이다.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42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그림을 보고 문장의 밑줄 친 부분을 알맞게 고쳐 쓰시오. (그림 참고)</a:t>
            </a:r>
          </a:p>
          <a:p>
            <a:pPr algn="l">
              <a:lnSpc>
                <a:spcPct val="105000"/>
              </a:lnSpc>
              <a:spcBef>
                <a:spcPts val="0"/>
              </a:spcBef>
              <a:spcAft>
                <a:spcPts val="200"/>
              </a:spcAft>
            </a:pPr>
            <a:r>
              <a:rPr sz="1800" b="1" i="0">
                <a:solidFill>
                  <a:srgbClr val="222222"/>
                </a:solidFill>
                <a:latin typeface="맑은 고딕"/>
              </a:rPr>
              <a:t>He just finished lunch when she had come in.</a:t>
            </a:r>
          </a:p>
        </p:txBody>
      </p:sp>
      <p:pic>
        <p:nvPicPr>
          <p:cNvPr id="6" name="Picture 5" descr="p42.png"/>
          <p:cNvPicPr>
            <a:picLocks noChangeAspect="1"/>
          </p:cNvPicPr>
          <p:nvPr/>
        </p:nvPicPr>
        <p:blipFill>
          <a:blip r:embed="rId2"/>
          <a:stretch>
            <a:fillRect/>
          </a:stretch>
        </p:blipFill>
        <p:spPr>
          <a:xfrm>
            <a:off x="7406640" y="1890465"/>
            <a:ext cx="4206240" cy="1339709"/>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just finished → had just finished / had come → came</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그녀가 들어온 것(과거 came)보다 점심을 끝낸 일이 먼저이므로 had just finished를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괄호 안에 주어진 단어를 이용하여 시제에 맞도록 문장을 완성하시오.</a:t>
            </a:r>
          </a:p>
          <a:p>
            <a:pPr algn="l">
              <a:lnSpc>
                <a:spcPct val="105000"/>
              </a:lnSpc>
              <a:spcBef>
                <a:spcPts val="0"/>
              </a:spcBef>
              <a:spcAft>
                <a:spcPts val="200"/>
              </a:spcAft>
            </a:pPr>
            <a:r>
              <a:rPr sz="1800" b="1" i="0">
                <a:solidFill>
                  <a:srgbClr val="222222"/>
                </a:solidFill>
                <a:latin typeface="맑은 고딕"/>
              </a:rPr>
              <a:t>(1) When I ______(check) my cell phone, I saw that she ______(call) me twice.</a:t>
            </a:r>
          </a:p>
          <a:p>
            <a:pPr algn="l">
              <a:lnSpc>
                <a:spcPct val="105000"/>
              </a:lnSpc>
              <a:spcBef>
                <a:spcPts val="0"/>
              </a:spcBef>
              <a:spcAft>
                <a:spcPts val="200"/>
              </a:spcAft>
            </a:pPr>
            <a:r>
              <a:rPr sz="1800" b="1" i="0">
                <a:solidFill>
                  <a:srgbClr val="222222"/>
                </a:solidFill>
                <a:latin typeface="맑은 고딕"/>
              </a:rPr>
              <a:t>(2) I ______(visit) so many beautiful places since I moved to Utah in 2010. Before moving here, I ______(hear, never) of Bryce Canyon.</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checked, had called (2) have visited, had never heard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내가 휴대폰을 확인한 건 과거의 일이고, 그 전에 나에게 전화가 온 건 대과거의 일이다. (2) 현재완료 시제와 과거완료 시제를 이용하여 빈칸을 채운다.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get, buy, leave, eat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&lt;보기&gt;의 단어를 사용하고 어법에 맞게 변형하여 빈칸에 알맞은 말을 쓰시오.</a:t>
            </a:r>
          </a:p>
          <a:p>
            <a:pPr algn="l">
              <a:lnSpc>
                <a:spcPct val="105000"/>
              </a:lnSpc>
              <a:spcBef>
                <a:spcPts val="0"/>
              </a:spcBef>
              <a:spcAft>
                <a:spcPts val="200"/>
              </a:spcAft>
            </a:pPr>
            <a:r>
              <a:rPr sz="1800" b="1" i="0">
                <a:solidFill>
                  <a:srgbClr val="222222"/>
                </a:solidFill>
                <a:latin typeface="맑은 고딕"/>
              </a:rPr>
              <a:t>(1) When I ______ to the bus stop, the bus ______ already ______.</a:t>
            </a:r>
          </a:p>
          <a:p>
            <a:pPr algn="l">
              <a:lnSpc>
                <a:spcPct val="105000"/>
              </a:lnSpc>
              <a:spcBef>
                <a:spcPts val="0"/>
              </a:spcBef>
              <a:spcAft>
                <a:spcPts val="200"/>
              </a:spcAft>
            </a:pPr>
            <a:r>
              <a:rPr sz="1800" b="1" i="0">
                <a:solidFill>
                  <a:srgbClr val="222222"/>
                </a:solidFill>
                <a:latin typeface="맑은 고딕"/>
              </a:rPr>
              <a:t>(2) I ______ another candy for my friend because my cousins ______ already ______ all the candies.</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got, had, left (2) bought, had, eaten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시간상 내가 도착한 일은 과거시제를, 버스가 이미 떠난 일은 과거완료 시제를 사용한다. (2) 사촌들이 캔디를 모두 먹은 일은 과거완료 시제를, 그래서 내가 다시 캔디를 산 일은 과거시제를 사용한다.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문장을 괄호 안의 지시대로 고쳐 쓰시오.</a:t>
            </a:r>
          </a:p>
          <a:p>
            <a:pPr algn="l">
              <a:lnSpc>
                <a:spcPct val="105000"/>
              </a:lnSpc>
              <a:spcBef>
                <a:spcPts val="0"/>
              </a:spcBef>
              <a:spcAft>
                <a:spcPts val="200"/>
              </a:spcAft>
            </a:pPr>
            <a:r>
              <a:rPr sz="1800" b="1" i="0">
                <a:solidFill>
                  <a:srgbClr val="222222"/>
                </a:solidFill>
                <a:latin typeface="맑은 고딕"/>
              </a:rPr>
              <a:t>(1) I lost the sunglasses that Alice (buy) for me. (과거완료 시제)</a:t>
            </a:r>
          </a:p>
          <a:p>
            <a:pPr algn="l">
              <a:lnSpc>
                <a:spcPct val="105000"/>
              </a:lnSpc>
              <a:spcBef>
                <a:spcPts val="0"/>
              </a:spcBef>
              <a:spcAft>
                <a:spcPts val="200"/>
              </a:spcAft>
            </a:pPr>
            <a:r>
              <a:rPr sz="1800" b="1" i="0">
                <a:solidFill>
                  <a:srgbClr val="222222"/>
                </a:solidFill>
                <a:latin typeface="맑은 고딕"/>
              </a:rPr>
              <a:t>(2) When I reached the station, the train (leave) the station. (과거완료 시제)</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300" b="1" i="0">
                <a:solidFill>
                  <a:srgbClr val="5A4200"/>
                </a:solidFill>
                <a:latin typeface="맑은 고딕"/>
              </a:rPr>
              <a:t>정답:  (1) I lost the sunglasses that Alice had bought for me. (2) When I reached the station, the train had left the station.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(2) 과거완료 시제는 had p.p.로 나타낸다.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My father had left when my mother came home.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&lt;보기&gt;의 밑줄 친 부분을 참고하여 우리말과 같은 뜻이 되도록 빈칸에 알맞은 말을 쓰시오.</a:t>
            </a:r>
          </a:p>
          <a:p>
            <a:pPr algn="l">
              <a:lnSpc>
                <a:spcPct val="105000"/>
              </a:lnSpc>
              <a:spcBef>
                <a:spcPts val="0"/>
              </a:spcBef>
              <a:spcAft>
                <a:spcPts val="200"/>
              </a:spcAft>
            </a:pPr>
            <a:r>
              <a:rPr sz="1800" b="1" i="0">
                <a:solidFill>
                  <a:srgbClr val="222222"/>
                </a:solidFill>
                <a:latin typeface="맑은 고딕"/>
              </a:rPr>
              <a:t>어머니가 집에 오셨을 때 민수는 이미 저녁을 먹었다.</a:t>
            </a:r>
          </a:p>
          <a:p>
            <a:pPr algn="l">
              <a:lnSpc>
                <a:spcPct val="105000"/>
              </a:lnSpc>
              <a:spcBef>
                <a:spcPts val="0"/>
              </a:spcBef>
              <a:spcAft>
                <a:spcPts val="200"/>
              </a:spcAft>
            </a:pPr>
            <a:r>
              <a:rPr sz="1800" b="1" i="0">
                <a:solidFill>
                  <a:srgbClr val="222222"/>
                </a:solidFill>
                <a:latin typeface="맑은 고딕"/>
              </a:rPr>
              <a:t>→ Minsu ______ when his mother came home.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already had[eaten] dinner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 시점에 엄마가 집에 왔을 때 이미 저녁을 다 먹은 것이므로 과거완료 시제를 사용하여 빈칸을 채운다.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[At 8:00 p.m.] - (A) My family finished dinner.</a:t>
            </a:r>
          </a:p>
          <a:p>
            <a:pPr algn="l">
              <a:lnSpc>
                <a:spcPct val="105000"/>
              </a:lnSpc>
              <a:spcBef>
                <a:spcPts val="0"/>
              </a:spcBef>
              <a:spcAft>
                <a:spcPts val="100"/>
              </a:spcAft>
            </a:pPr>
            <a:r>
              <a:rPr sz="1500" b="0" i="1">
                <a:solidFill>
                  <a:srgbClr val="555555"/>
                </a:solidFill>
                <a:latin typeface="맑은 고딕"/>
              </a:rPr>
              <a:t>[At 8:30 p.m.] - (B) I got home.</a:t>
            </a:r>
          </a:p>
          <a:p>
            <a:pPr algn="l">
              <a:lnSpc>
                <a:spcPct val="105000"/>
              </a:lnSpc>
              <a:spcBef>
                <a:spcPts val="0"/>
              </a:spcBef>
              <a:spcAft>
                <a:spcPts val="100"/>
              </a:spcAft>
            </a:pPr>
            <a:r>
              <a:rPr sz="1500" b="0" i="1">
                <a:solidFill>
                  <a:srgbClr val="555555"/>
                </a:solidFill>
                <a:latin typeface="맑은 고딕"/>
              </a:rPr>
              <a:t>&lt;보기&gt; already, when</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시간 순서를 고려하여 (A), (B) 두 문장을 한 문장으로 만드시오. (단, &lt;보기&gt;의 단어를 반드시 사용할 것)</a:t>
            </a:r>
          </a:p>
          <a:p>
            <a:pPr algn="l">
              <a:lnSpc>
                <a:spcPct val="105000"/>
              </a:lnSpc>
              <a:spcBef>
                <a:spcPts val="0"/>
              </a:spcBef>
              <a:spcAft>
                <a:spcPts val="200"/>
              </a:spcAft>
            </a:pPr>
            <a:r>
              <a:rPr sz="1800" b="1" i="0">
                <a:solidFill>
                  <a:srgbClr val="222222"/>
                </a:solidFill>
                <a:latin typeface="맑은 고딕"/>
              </a:rPr>
              <a:t>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When I got home, my family had already finished dinner.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시간상 가족이 저녁을 먹은 일이 먼저이므로 과거완료 시제를 이용하고, 그 후에 내가 도착한 일은 과거시제를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우리말과 같은 뜻이 되도록 빈칸에 들어갈 말을 주어진 단어를 사용하여 차례대로 쓰시오.</a:t>
            </a:r>
          </a:p>
          <a:p>
            <a:pPr algn="l">
              <a:lnSpc>
                <a:spcPct val="105000"/>
              </a:lnSpc>
              <a:spcBef>
                <a:spcPts val="0"/>
              </a:spcBef>
              <a:spcAft>
                <a:spcPts val="200"/>
              </a:spcAft>
            </a:pPr>
            <a:r>
              <a:rPr sz="1800" b="1" i="0">
                <a:solidFill>
                  <a:srgbClr val="222222"/>
                </a:solidFill>
                <a:latin typeface="맑은 고딕"/>
              </a:rPr>
              <a:t>Sylvia는 2년 전 서울로 이사 오기 전에 시드니에서 살았었다. (live, move)</a:t>
            </a:r>
          </a:p>
          <a:p>
            <a:pPr algn="l">
              <a:lnSpc>
                <a:spcPct val="105000"/>
              </a:lnSpc>
              <a:spcBef>
                <a:spcPts val="0"/>
              </a:spcBef>
              <a:spcAft>
                <a:spcPts val="200"/>
              </a:spcAft>
            </a:pPr>
            <a:r>
              <a:rPr sz="1800" b="1" i="0">
                <a:solidFill>
                  <a:srgbClr val="222222"/>
                </a:solidFill>
                <a:latin typeface="맑은 고딕"/>
              </a:rPr>
              <a:t>→ Sylvia ______ in Sydney before she ______ to Seoul two years ago.</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lived[lived], moved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Sylvia가 이사 온 일은 과거 시점의 일이고, 그 전에 시드니에서 살았던 건 대과거 시점의 일이다. 또는 전후관계를 나타내는 접속사가 있으므로 일반과거시제를 사용할 수도 있다.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49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49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'come'과 'go'를 반드시 사용하되 필요하면 형태를 변형할 것</a:t>
            </a:r>
          </a:p>
          <a:p>
            <a:pPr algn="l">
              <a:lnSpc>
                <a:spcPct val="105000"/>
              </a:lnSpc>
              <a:spcBef>
                <a:spcPts val="0"/>
              </a:spcBef>
              <a:spcAft>
                <a:spcPts val="100"/>
              </a:spcAft>
            </a:pPr>
            <a:r>
              <a:rPr sz="1500" b="0" i="1">
                <a:solidFill>
                  <a:srgbClr val="555555"/>
                </a:solidFill>
                <a:latin typeface="맑은 고딕"/>
              </a:rPr>
              <a:t>2. 9단어 이내의 완전한 문장으로 다시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같은 뜻이 되도록 빈칸에 들어갈 알맞은 말을 주어진 &lt;조건&gt;에 알맞게 완성하시오.</a:t>
            </a:r>
          </a:p>
          <a:p>
            <a:pPr algn="l">
              <a:lnSpc>
                <a:spcPct val="105000"/>
              </a:lnSpc>
              <a:spcBef>
                <a:spcPts val="0"/>
              </a:spcBef>
              <a:spcAft>
                <a:spcPts val="200"/>
              </a:spcAft>
            </a:pPr>
            <a:r>
              <a:rPr sz="1800" b="1" i="0">
                <a:solidFill>
                  <a:srgbClr val="222222"/>
                </a:solidFill>
                <a:latin typeface="맑은 고딕"/>
              </a:rPr>
              <a:t>나의 언니는 내가 돌아왔을 때 나가고 없었다.</a:t>
            </a:r>
          </a:p>
          <a:p>
            <a:pPr algn="l">
              <a:lnSpc>
                <a:spcPct val="105000"/>
              </a:lnSpc>
              <a:spcBef>
                <a:spcPts val="0"/>
              </a:spcBef>
              <a:spcAft>
                <a:spcPts val="200"/>
              </a:spcAft>
            </a:pPr>
            <a:r>
              <a:rPr sz="1800" b="1" i="0">
                <a:solidFill>
                  <a:srgbClr val="222222"/>
                </a:solidFill>
                <a:latin typeface="맑은 고딕"/>
              </a:rPr>
              <a:t>→ My sister ______ out when I ______ back.</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gone, came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돌아온 일은 과거 시점이고, 언니가 나간 일은 대과거 시점이므로 시제를 구별하여 빈칸을 채운다.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see leave cook fall</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알맞게 변형하여 빈칸을 완성하시오. (단, 과거완료를 활용할 것)</a:t>
            </a:r>
          </a:p>
          <a:p>
            <a:pPr algn="l">
              <a:lnSpc>
                <a:spcPct val="105000"/>
              </a:lnSpc>
              <a:spcBef>
                <a:spcPts val="0"/>
              </a:spcBef>
              <a:spcAft>
                <a:spcPts val="200"/>
              </a:spcAft>
            </a:pPr>
            <a:r>
              <a:rPr sz="1800" b="1" i="0">
                <a:solidFill>
                  <a:srgbClr val="222222"/>
                </a:solidFill>
                <a:latin typeface="맑은 고딕"/>
              </a:rPr>
              <a:t>(1) He knew the movie's story because he ______ ______ it twice. (그는 그 영화를 두 번 보았기 때문에 그 영화의 이야기를 알았다.)</a:t>
            </a:r>
          </a:p>
          <a:p>
            <a:pPr algn="l">
              <a:lnSpc>
                <a:spcPct val="105000"/>
              </a:lnSpc>
              <a:spcBef>
                <a:spcPts val="0"/>
              </a:spcBef>
              <a:spcAft>
                <a:spcPts val="200"/>
              </a:spcAft>
            </a:pPr>
            <a:r>
              <a:rPr sz="1800" b="1" i="0">
                <a:solidFill>
                  <a:srgbClr val="222222"/>
                </a:solidFill>
                <a:latin typeface="맑은 고딕"/>
              </a:rPr>
              <a:t>(2) When Minho came home, his dog ______ ______ asleep. (민호가 집에 왔을 때, 그의 개는 잠이 들었었다.)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had seen (2) had fallen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He가 영화 줄거리를 알고 있는 건 그 전에 영화를 보았기 때문인 것으로 대과거의 일을 나타내는 과거완료 시제 had seen을 써준다. (2) 개는 Minho가 오기 전에 이미 잠들어 있던 일이므로 과거완료 시제인 had fallen이 정답이다.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 시간의 흐름에 따라 사건 전개가 문장에 드러나도록 작성할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같은 뜻이 되도록 괄호 안에 주어진 표현을 이용하여 &lt;조건&gt;에 맞게 문장을 완성하시오.</a:t>
            </a:r>
          </a:p>
          <a:p>
            <a:pPr algn="l">
              <a:lnSpc>
                <a:spcPct val="105000"/>
              </a:lnSpc>
              <a:spcBef>
                <a:spcPts val="0"/>
              </a:spcBef>
              <a:spcAft>
                <a:spcPts val="200"/>
              </a:spcAft>
            </a:pPr>
            <a:r>
              <a:rPr sz="1800" b="1" i="0">
                <a:solidFill>
                  <a:srgbClr val="222222"/>
                </a:solidFill>
                <a:latin typeface="맑은 고딕"/>
              </a:rPr>
              <a:t>(1) Minsu가 Ann에게 소개되었을 때, 그는 그녀를 전에 만난 적이 있다는 것을 깨달았다. (meet, before)</a:t>
            </a:r>
          </a:p>
          <a:p>
            <a:pPr algn="l">
              <a:lnSpc>
                <a:spcPct val="105000"/>
              </a:lnSpc>
              <a:spcBef>
                <a:spcPts val="0"/>
              </a:spcBef>
              <a:spcAft>
                <a:spcPts val="200"/>
              </a:spcAft>
            </a:pPr>
            <a:r>
              <a:rPr sz="1800" b="1" i="0">
                <a:solidFill>
                  <a:srgbClr val="222222"/>
                </a:solidFill>
                <a:latin typeface="맑은 고딕"/>
              </a:rPr>
              <a:t>→ As Minsu was introduced to Ann, he realized that ______.</a:t>
            </a:r>
          </a:p>
          <a:p>
            <a:pPr algn="l">
              <a:lnSpc>
                <a:spcPct val="105000"/>
              </a:lnSpc>
              <a:spcBef>
                <a:spcPts val="0"/>
              </a:spcBef>
              <a:spcAft>
                <a:spcPts val="200"/>
              </a:spcAft>
            </a:pPr>
            <a:r>
              <a:rPr sz="1800" b="1" i="0">
                <a:solidFill>
                  <a:srgbClr val="222222"/>
                </a:solidFill>
                <a:latin typeface="맑은 고딕"/>
              </a:rPr>
              <a:t>(2) 나는 콘서트가 시작되기 전에 표를 잃어버렸다는 것을 발견했다. (lose, the ticket)</a:t>
            </a:r>
          </a:p>
          <a:p>
            <a:pPr algn="l">
              <a:lnSpc>
                <a:spcPct val="105000"/>
              </a:lnSpc>
              <a:spcBef>
                <a:spcPts val="0"/>
              </a:spcBef>
              <a:spcAft>
                <a:spcPts val="200"/>
              </a:spcAft>
            </a:pPr>
            <a:r>
              <a:rPr sz="1800" b="1" i="0">
                <a:solidFill>
                  <a:srgbClr val="222222"/>
                </a:solidFill>
                <a:latin typeface="맑은 고딕"/>
              </a:rPr>
              <a:t>→ I found out that ______ before the concert started.</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he had met her before (2) I had lost the ticket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그가 소개를 받은 일(과거)보다 그 이전에 그녀를 만났으므로 과거완료 시제 had met를 이용하여 영작한다. (2) 콘서트가 시작되기(과거) 전에 표를 잃어버렸으므로 과거완료 시제 had lost를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He went out. I visited his house.</a:t>
            </a:r>
          </a:p>
          <a:p>
            <a:pPr algn="l">
              <a:lnSpc>
                <a:spcPct val="105000"/>
              </a:lnSpc>
              <a:spcBef>
                <a:spcPts val="0"/>
              </a:spcBef>
              <a:spcAft>
                <a:spcPts val="100"/>
              </a:spcAft>
            </a:pPr>
            <a:r>
              <a:rPr sz="1500" b="0" i="1">
                <a:solidFill>
                  <a:srgbClr val="555555"/>
                </a:solidFill>
                <a:latin typeface="맑은 고딕"/>
              </a:rPr>
              <a:t>(내가 그의 집을 방문했을 때, 그는 외출했었다.)</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같은 뜻이 되도록 두 문장을 한 문장으로 만드시오. (단, 반드시 두 사건의 순서가 나타날 것)</a:t>
            </a:r>
          </a:p>
          <a:p>
            <a:pPr algn="l">
              <a:lnSpc>
                <a:spcPct val="105000"/>
              </a:lnSpc>
              <a:spcBef>
                <a:spcPts val="0"/>
              </a:spcBef>
              <a:spcAft>
                <a:spcPts val="200"/>
              </a:spcAft>
            </a:pPr>
            <a:r>
              <a:rPr sz="1800" b="1" i="0">
                <a:solidFill>
                  <a:srgbClr val="222222"/>
                </a:solidFill>
                <a:latin typeface="맑은 고딕"/>
              </a:rPr>
              <a:t>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When I visited his house, he had gone out.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시간상 그가 외출한 후에 내가 그의 집을 간 것이므로 내가 방문한 일은 과거시제로, 그가 집을 나간 일은 과거완료 시제로 써준다.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 I called Mary at 10 p.m.</a:t>
            </a:r>
          </a:p>
          <a:p>
            <a:pPr algn="l">
              <a:lnSpc>
                <a:spcPct val="105000"/>
              </a:lnSpc>
              <a:spcBef>
                <a:spcPts val="0"/>
              </a:spcBef>
              <a:spcAft>
                <a:spcPts val="100"/>
              </a:spcAft>
            </a:pPr>
            <a:r>
              <a:rPr sz="1500" b="0" i="1">
                <a:solidFill>
                  <a:srgbClr val="555555"/>
                </a:solidFill>
                <a:latin typeface="맑은 고딕"/>
              </a:rPr>
              <a:t>• She went to bed at 9 p.m.</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두 문장을 한 문장으로 만들 때 빈칸에 알맞은 말을 쓰시오.</a:t>
            </a:r>
          </a:p>
          <a:p>
            <a:pPr algn="l">
              <a:lnSpc>
                <a:spcPct val="105000"/>
              </a:lnSpc>
              <a:spcBef>
                <a:spcPts val="0"/>
              </a:spcBef>
              <a:spcAft>
                <a:spcPts val="200"/>
              </a:spcAft>
            </a:pPr>
            <a:r>
              <a:rPr sz="1800" b="1" i="0">
                <a:solidFill>
                  <a:srgbClr val="222222"/>
                </a:solidFill>
                <a:latin typeface="맑은 고딕"/>
              </a:rPr>
              <a:t>→ When I called Mary, she ______ ______ to bed already.</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had gone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Mary가 잠자리에 든 일(9시)이 내가 전화한 일(10시)보다 먼저이므로 과거완료 had gone을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문장을 한 문장으로 만들 때 빈칸에 알맞은 말을 쓰시오.</a:t>
            </a:r>
          </a:p>
          <a:p>
            <a:pPr algn="l">
              <a:lnSpc>
                <a:spcPct val="105000"/>
              </a:lnSpc>
              <a:spcBef>
                <a:spcPts val="0"/>
              </a:spcBef>
              <a:spcAft>
                <a:spcPts val="200"/>
              </a:spcAft>
            </a:pPr>
            <a:r>
              <a:rPr sz="1800" b="1" i="0">
                <a:solidFill>
                  <a:srgbClr val="222222"/>
                </a:solidFill>
                <a:latin typeface="맑은 고딕"/>
              </a:rPr>
              <a:t>(1) • My mom bought a watch for me yesterday. • This morning I lost the watch.</a:t>
            </a:r>
          </a:p>
          <a:p>
            <a:pPr algn="l">
              <a:lnSpc>
                <a:spcPct val="105000"/>
              </a:lnSpc>
              <a:spcBef>
                <a:spcPts val="0"/>
              </a:spcBef>
              <a:spcAft>
                <a:spcPts val="200"/>
              </a:spcAft>
            </a:pPr>
            <a:r>
              <a:rPr sz="1800" b="1" i="0">
                <a:solidFill>
                  <a:srgbClr val="222222"/>
                </a:solidFill>
                <a:latin typeface="맑은 고딕"/>
              </a:rPr>
              <a:t>→ This morning I ______ the watch that my mom ______ ______ for me yesterday.</a:t>
            </a:r>
          </a:p>
          <a:p>
            <a:pPr algn="l">
              <a:lnSpc>
                <a:spcPct val="105000"/>
              </a:lnSpc>
              <a:spcBef>
                <a:spcPts val="0"/>
              </a:spcBef>
              <a:spcAft>
                <a:spcPts val="200"/>
              </a:spcAft>
            </a:pPr>
            <a:r>
              <a:rPr sz="1800" b="1" i="0">
                <a:solidFill>
                  <a:srgbClr val="222222"/>
                </a:solidFill>
                <a:latin typeface="맑은 고딕"/>
              </a:rPr>
              <a:t>(2) • I shouted at my brother an hour ago. • He broke my MP3 player last night.</a:t>
            </a:r>
          </a:p>
          <a:p>
            <a:pPr algn="l">
              <a:lnSpc>
                <a:spcPct val="105000"/>
              </a:lnSpc>
              <a:spcBef>
                <a:spcPts val="0"/>
              </a:spcBef>
              <a:spcAft>
                <a:spcPts val="200"/>
              </a:spcAft>
            </a:pPr>
            <a:r>
              <a:rPr sz="1800" b="1" i="0">
                <a:solidFill>
                  <a:srgbClr val="222222"/>
                </a:solidFill>
                <a:latin typeface="맑은 고딕"/>
              </a:rPr>
              <a:t>→ After my brother ______ ______ my MP3 player, I ______ at him.</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lost, had bought (2) had broken, shouted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일이 일어난 순서에 맞게 과거시제와 과거완료 시제를 빈칸에 넣는다.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 She finished dinner. I arrived at home.</a:t>
            </a:r>
          </a:p>
          <a:p>
            <a:pPr algn="l">
              <a:lnSpc>
                <a:spcPct val="105000"/>
              </a:lnSpc>
              <a:spcBef>
                <a:spcPts val="0"/>
              </a:spcBef>
              <a:spcAft>
                <a:spcPts val="100"/>
              </a:spcAft>
            </a:pPr>
            <a:r>
              <a:rPr sz="1500" b="0" i="1">
                <a:solidFill>
                  <a:srgbClr val="555555"/>
                </a:solidFill>
                <a:latin typeface="맑은 고딕"/>
              </a:rPr>
              <a:t>→ She had finished dinner when I arrived at home.</a:t>
            </a:r>
          </a:p>
          <a:p>
            <a:pPr algn="l">
              <a:lnSpc>
                <a:spcPct val="105000"/>
              </a:lnSpc>
              <a:spcBef>
                <a:spcPts val="0"/>
              </a:spcBef>
              <a:spcAft>
                <a:spcPts val="100"/>
              </a:spcAft>
            </a:pPr>
            <a:r>
              <a:rPr sz="1500" b="0" i="1">
                <a:solidFill>
                  <a:srgbClr val="555555"/>
                </a:solidFill>
                <a:latin typeface="맑은 고딕"/>
              </a:rPr>
              <a:t>• The movie already began.</a:t>
            </a:r>
          </a:p>
          <a:p>
            <a:pPr algn="l">
              <a:lnSpc>
                <a:spcPct val="105000"/>
              </a:lnSpc>
              <a:spcBef>
                <a:spcPts val="0"/>
              </a:spcBef>
              <a:spcAft>
                <a:spcPts val="100"/>
              </a:spcAft>
            </a:pPr>
            <a:r>
              <a:rPr sz="1500" b="0" i="1">
                <a:solidFill>
                  <a:srgbClr val="555555"/>
                </a:solidFill>
                <a:latin typeface="맑은 고딕"/>
              </a:rPr>
              <a:t>• We got to the theater.</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두 문장을 한 문장으로 만드시오.</a:t>
            </a:r>
          </a:p>
          <a:p>
            <a:pPr algn="l">
              <a:lnSpc>
                <a:spcPct val="105000"/>
              </a:lnSpc>
              <a:spcBef>
                <a:spcPts val="0"/>
              </a:spcBef>
              <a:spcAft>
                <a:spcPts val="200"/>
              </a:spcAft>
            </a:pPr>
            <a:r>
              <a:rPr sz="1800" b="1" i="0">
                <a:solidFill>
                  <a:srgbClr val="222222"/>
                </a:solidFill>
                <a:latin typeface="맑은 고딕"/>
              </a:rPr>
              <a:t>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The movie had already begun when we got to the theater.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과거완료(had p.p.)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have, when을 반드시 사용할 것</a:t>
            </a:r>
          </a:p>
          <a:p>
            <a:pPr algn="l">
              <a:lnSpc>
                <a:spcPct val="105000"/>
              </a:lnSpc>
              <a:spcBef>
                <a:spcPts val="0"/>
              </a:spcBef>
              <a:spcAft>
                <a:spcPts val="100"/>
              </a:spcAft>
            </a:pPr>
            <a:r>
              <a:rPr sz="1500" b="0" i="1">
                <a:solidFill>
                  <a:srgbClr val="555555"/>
                </a:solidFill>
                <a:latin typeface="맑은 고딕"/>
              </a:rPr>
              <a:t>2. 필요하면 어형을 바꿀 것</a:t>
            </a:r>
          </a:p>
          <a:p>
            <a:pPr algn="l">
              <a:lnSpc>
                <a:spcPct val="105000"/>
              </a:lnSpc>
              <a:spcBef>
                <a:spcPts val="0"/>
              </a:spcBef>
              <a:spcAft>
                <a:spcPts val="100"/>
              </a:spcAft>
            </a:pPr>
            <a:r>
              <a:rPr sz="1500" b="0" i="1">
                <a:solidFill>
                  <a:srgbClr val="555555"/>
                </a:solidFill>
                <a:latin typeface="맑은 고딕"/>
              </a:rPr>
              <a:t>• I arrived there.</a:t>
            </a:r>
          </a:p>
          <a:p>
            <a:pPr algn="l">
              <a:lnSpc>
                <a:spcPct val="105000"/>
              </a:lnSpc>
              <a:spcBef>
                <a:spcPts val="0"/>
              </a:spcBef>
              <a:spcAft>
                <a:spcPts val="100"/>
              </a:spcAft>
            </a:pPr>
            <a:r>
              <a:rPr sz="1500" b="0" i="1">
                <a:solidFill>
                  <a:srgbClr val="555555"/>
                </a:solidFill>
                <a:latin typeface="맑은 고딕"/>
              </a:rPr>
              <a:t>• The concert already began.</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두 문장을 주어진 &lt;조건&gt;과 어법에 알맞게 한 문장으로 만드시오.</a:t>
            </a:r>
          </a:p>
          <a:p>
            <a:pPr algn="l">
              <a:lnSpc>
                <a:spcPct val="105000"/>
              </a:lnSpc>
              <a:spcBef>
                <a:spcPts val="0"/>
              </a:spcBef>
              <a:spcAft>
                <a:spcPts val="200"/>
              </a:spcAft>
            </a:pPr>
            <a:r>
              <a:rPr sz="1800" b="1" i="0">
                <a:solidFill>
                  <a:srgbClr val="222222"/>
                </a:solidFill>
                <a:latin typeface="맑은 고딕"/>
              </a:rPr>
              <a:t>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When I arrived there, the concert had already begun.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콘서트가 시작한 일은 내가 도착하기 전에 벌써 일어난 일이므로 과거완료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지난 금요일 나는 기차를 타기 위해 서울역에 갔다. 하지만 내가 도착했을 때, 기차는 이미 출발했다. (leave, have, already)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같은 뜻이 되도록 문장의 빈칸을 완성하시오. (단, 주어진 단어를 모두 활용하되 필요한 경우 변형할 것)</a:t>
            </a:r>
          </a:p>
          <a:p>
            <a:pPr algn="l">
              <a:lnSpc>
                <a:spcPct val="105000"/>
              </a:lnSpc>
              <a:spcBef>
                <a:spcPts val="0"/>
              </a:spcBef>
              <a:spcAft>
                <a:spcPts val="200"/>
              </a:spcAft>
            </a:pPr>
            <a:r>
              <a:rPr sz="1800" b="1" i="0">
                <a:solidFill>
                  <a:srgbClr val="222222"/>
                </a:solidFill>
                <a:latin typeface="맑은 고딕"/>
              </a:rPr>
              <a:t>→ Last Friday, I went to Seoul Station to catch a train. But when I arrived there, ______ ______ ______ ______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the train had already left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 시제 had left를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문장을 과거완료 시제를 사용하여 한 문장으로 만드시오. (필요한 접속사는 상황에 맞게 추가하여 쓸 것)</a:t>
            </a:r>
          </a:p>
          <a:p>
            <a:pPr algn="l">
              <a:lnSpc>
                <a:spcPct val="105000"/>
              </a:lnSpc>
              <a:spcBef>
                <a:spcPts val="0"/>
              </a:spcBef>
              <a:spcAft>
                <a:spcPts val="200"/>
              </a:spcAft>
            </a:pPr>
            <a:r>
              <a:rPr sz="1800" b="1" i="0">
                <a:solidFill>
                  <a:srgbClr val="222222"/>
                </a:solidFill>
                <a:latin typeface="맑은 고딕"/>
              </a:rPr>
              <a:t>(1) Did Jane study Chinese? She traveled to China.</a:t>
            </a:r>
          </a:p>
          <a:p>
            <a:pPr algn="l">
              <a:lnSpc>
                <a:spcPct val="105000"/>
              </a:lnSpc>
              <a:spcBef>
                <a:spcPts val="0"/>
              </a:spcBef>
              <a:spcAft>
                <a:spcPts val="200"/>
              </a:spcAft>
            </a:pPr>
            <a:r>
              <a:rPr sz="1800" b="1" i="0">
                <a:solidFill>
                  <a:srgbClr val="222222"/>
                </a:solidFill>
                <a:latin typeface="맑은 고딕"/>
              </a:rPr>
              <a:t>→ ______</a:t>
            </a:r>
          </a:p>
          <a:p>
            <a:pPr algn="l">
              <a:lnSpc>
                <a:spcPct val="105000"/>
              </a:lnSpc>
              <a:spcBef>
                <a:spcPts val="0"/>
              </a:spcBef>
              <a:spcAft>
                <a:spcPts val="200"/>
              </a:spcAft>
            </a:pPr>
            <a:r>
              <a:rPr sz="1800" b="1" i="0">
                <a:solidFill>
                  <a:srgbClr val="222222"/>
                </a:solidFill>
                <a:latin typeface="맑은 고딕"/>
              </a:rPr>
              <a:t>(2) I felt a little tired. I took an exam.</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300" b="1" i="0">
                <a:solidFill>
                  <a:srgbClr val="5A4200"/>
                </a:solidFill>
                <a:latin typeface="맑은 고딕"/>
              </a:rPr>
              <a:t>정답:  (1) Had Jane studied Chinese before she traveled to China? (2) I felt a little tired after I had taken an exam.</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접속사 before를 이용하여 영작한다. (2) 접속사 after를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59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59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8:00 Dad did the dishes. (He finished doing it at 8:30.)</a:t>
            </a:r>
          </a:p>
          <a:p>
            <a:pPr algn="l">
              <a:lnSpc>
                <a:spcPct val="105000"/>
              </a:lnSpc>
              <a:spcBef>
                <a:spcPts val="0"/>
              </a:spcBef>
              <a:spcAft>
                <a:spcPts val="100"/>
              </a:spcAft>
            </a:pPr>
            <a:r>
              <a:rPr sz="1500" b="0" i="1">
                <a:solidFill>
                  <a:srgbClr val="555555"/>
                </a:solidFill>
                <a:latin typeface="맑은 고딕"/>
              </a:rPr>
              <a:t>9:00 I finished my homework.</a:t>
            </a:r>
          </a:p>
          <a:p>
            <a:pPr algn="l">
              <a:lnSpc>
                <a:spcPct val="105000"/>
              </a:lnSpc>
              <a:spcBef>
                <a:spcPts val="0"/>
              </a:spcBef>
              <a:spcAft>
                <a:spcPts val="100"/>
              </a:spcAft>
            </a:pPr>
            <a:r>
              <a:rPr sz="1500" b="0" i="1">
                <a:solidFill>
                  <a:srgbClr val="555555"/>
                </a:solidFill>
                <a:latin typeface="맑은 고딕"/>
              </a:rPr>
              <a:t>10:00 Mom went to bed.</a:t>
            </a:r>
          </a:p>
          <a:p>
            <a:pPr algn="l">
              <a:lnSpc>
                <a:spcPct val="105000"/>
              </a:lnSpc>
              <a:spcBef>
                <a:spcPts val="0"/>
              </a:spcBef>
              <a:spcAft>
                <a:spcPts val="100"/>
              </a:spcAft>
            </a:pPr>
            <a:r>
              <a:rPr sz="1500" b="0" i="1">
                <a:solidFill>
                  <a:srgbClr val="555555"/>
                </a:solidFill>
                <a:latin typeface="맑은 고딕"/>
              </a:rPr>
              <a:t>11:00 I finished reading.</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표를 보고 문장의 빈칸을 완성하시오.</a:t>
            </a:r>
          </a:p>
          <a:p>
            <a:pPr algn="l">
              <a:lnSpc>
                <a:spcPct val="105000"/>
              </a:lnSpc>
              <a:spcBef>
                <a:spcPts val="0"/>
              </a:spcBef>
              <a:spcAft>
                <a:spcPts val="200"/>
              </a:spcAft>
            </a:pPr>
            <a:r>
              <a:rPr sz="1800" b="1" i="0">
                <a:solidFill>
                  <a:srgbClr val="222222"/>
                </a:solidFill>
                <a:latin typeface="맑은 고딕"/>
              </a:rPr>
              <a:t>(1) My dad ______ when I finished my homework.</a:t>
            </a:r>
          </a:p>
          <a:p>
            <a:pPr algn="l">
              <a:lnSpc>
                <a:spcPct val="105000"/>
              </a:lnSpc>
              <a:spcBef>
                <a:spcPts val="0"/>
              </a:spcBef>
              <a:spcAft>
                <a:spcPts val="200"/>
              </a:spcAft>
            </a:pPr>
            <a:r>
              <a:rPr sz="1800" b="1" i="0">
                <a:solidFill>
                  <a:srgbClr val="222222"/>
                </a:solidFill>
                <a:latin typeface="맑은 고딕"/>
              </a:rPr>
              <a:t>(2) My mom ______ when I finished reading.</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had finished doing the dishes (2) had gone to bed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내가 숙제를 끝마친 일보다 그 전에 아빠가 설거지를 끝낸 것이 더 과거의 일이기 때문에 과거완료 시제를 사용해서 빈칸을 채운다. (2) 내가 책 읽기를 끝낸 일보다 시간상 엄마가 잠자리에 든 게 더 과거의 일이므로 마찬가지로 과거완료 시제를 사용한다.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문장을 과거완료 시제를 사용하여 한 문장으로 만드시오.</a:t>
            </a:r>
          </a:p>
          <a:p>
            <a:pPr algn="l">
              <a:lnSpc>
                <a:spcPct val="105000"/>
              </a:lnSpc>
              <a:spcBef>
                <a:spcPts val="0"/>
              </a:spcBef>
              <a:spcAft>
                <a:spcPts val="200"/>
              </a:spcAft>
            </a:pPr>
            <a:r>
              <a:rPr sz="1800" b="1" i="0">
                <a:solidFill>
                  <a:srgbClr val="222222"/>
                </a:solidFill>
                <a:latin typeface="맑은 고딕"/>
              </a:rPr>
              <a:t>(1) Kelly couldn't buy the book. She spent all of her money.</a:t>
            </a:r>
          </a:p>
          <a:p>
            <a:pPr algn="l">
              <a:lnSpc>
                <a:spcPct val="105000"/>
              </a:lnSpc>
              <a:spcBef>
                <a:spcPts val="0"/>
              </a:spcBef>
              <a:spcAft>
                <a:spcPts val="200"/>
              </a:spcAft>
            </a:pPr>
            <a:r>
              <a:rPr sz="1800" b="1" i="0">
                <a:solidFill>
                  <a:srgbClr val="222222"/>
                </a:solidFill>
                <a:latin typeface="맑은 고딕"/>
              </a:rPr>
              <a:t>→ Kelly couldn't buy the book because ______.</a:t>
            </a:r>
          </a:p>
          <a:p>
            <a:pPr algn="l">
              <a:lnSpc>
                <a:spcPct val="105000"/>
              </a:lnSpc>
              <a:spcBef>
                <a:spcPts val="0"/>
              </a:spcBef>
              <a:spcAft>
                <a:spcPts val="200"/>
              </a:spcAft>
            </a:pPr>
            <a:r>
              <a:rPr sz="1800" b="1" i="0">
                <a:solidFill>
                  <a:srgbClr val="222222"/>
                </a:solidFill>
                <a:latin typeface="맑은 고딕"/>
              </a:rPr>
              <a:t>(2) I lost the bicycle. I received it from my father last year.</a:t>
            </a:r>
          </a:p>
          <a:p>
            <a:pPr algn="l">
              <a:lnSpc>
                <a:spcPct val="105000"/>
              </a:lnSpc>
              <a:spcBef>
                <a:spcPts val="0"/>
              </a:spcBef>
              <a:spcAft>
                <a:spcPts val="200"/>
              </a:spcAft>
            </a:pPr>
            <a:r>
              <a:rPr sz="1800" b="1" i="0">
                <a:solidFill>
                  <a:srgbClr val="222222"/>
                </a:solidFill>
                <a:latin typeface="맑은 고딕"/>
              </a:rPr>
              <a:t>→ I lost the bicycle that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(1) she had spent all of her money (2) I had received from my father last year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그녀가 과거에 책을 사지 못한 것은 과거 이전에 돈을 다 써버렸기 때문이므로 과거완료 시제를 이용하여 영작한다. (2) I는 과거에 자전거를 분실했는데, 그 자전거는 과거 이전에 아버지가 사준 것이므로 과거완료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The soccer team cried for joy. They won the match.</a:t>
            </a:r>
          </a:p>
          <a:p>
            <a:pPr algn="l">
              <a:lnSpc>
                <a:spcPct val="105000"/>
              </a:lnSpc>
              <a:spcBef>
                <a:spcPts val="0"/>
              </a:spcBef>
              <a:spcAft>
                <a:spcPts val="100"/>
              </a:spcAft>
            </a:pPr>
            <a:r>
              <a:rPr sz="1500" b="0" i="1">
                <a:solidFill>
                  <a:srgbClr val="555555"/>
                </a:solidFill>
                <a:latin typeface="맑은 고딕"/>
              </a:rPr>
              <a:t>→ The soccer team cried for joy because they had won the match.</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접속사와 과거완료 시제를 이용하여 두 문장을 한 문장으로 만드시오.</a:t>
            </a:r>
          </a:p>
          <a:p>
            <a:pPr algn="l">
              <a:lnSpc>
                <a:spcPct val="105000"/>
              </a:lnSpc>
              <a:spcBef>
                <a:spcPts val="0"/>
              </a:spcBef>
              <a:spcAft>
                <a:spcPts val="200"/>
              </a:spcAft>
            </a:pPr>
            <a:r>
              <a:rPr sz="1800" b="1" i="0">
                <a:solidFill>
                  <a:srgbClr val="222222"/>
                </a:solidFill>
                <a:latin typeface="맑은 고딕"/>
              </a:rPr>
              <a:t>(1) I decided to help the victims. I saw the earthquake in Haiti.</a:t>
            </a:r>
          </a:p>
          <a:p>
            <a:pPr algn="l">
              <a:lnSpc>
                <a:spcPct val="105000"/>
              </a:lnSpc>
              <a:spcBef>
                <a:spcPts val="0"/>
              </a:spcBef>
              <a:spcAft>
                <a:spcPts val="200"/>
              </a:spcAft>
            </a:pPr>
            <a:r>
              <a:rPr sz="1800" b="1" i="0">
                <a:solidFill>
                  <a:srgbClr val="222222"/>
                </a:solidFill>
                <a:latin typeface="맑은 고딕"/>
              </a:rPr>
              <a:t>→ ______</a:t>
            </a:r>
          </a:p>
          <a:p>
            <a:pPr algn="l">
              <a:lnSpc>
                <a:spcPct val="105000"/>
              </a:lnSpc>
              <a:spcBef>
                <a:spcPts val="0"/>
              </a:spcBef>
              <a:spcAft>
                <a:spcPts val="200"/>
              </a:spcAft>
            </a:pPr>
            <a:r>
              <a:rPr sz="1800" b="1" i="0">
                <a:solidFill>
                  <a:srgbClr val="222222"/>
                </a:solidFill>
                <a:latin typeface="맑은 고딕"/>
              </a:rPr>
              <a:t>(2) The grass looked greener than yesterday. It rained at night.</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300" b="1" i="0">
                <a:solidFill>
                  <a:srgbClr val="5A4200"/>
                </a:solidFill>
                <a:latin typeface="맑은 고딕"/>
              </a:rPr>
              <a:t>정답:  (1) I decided to help the victims because I had seen the earthquake in Haiti.</a:t>
            </a:r>
            <a:br/>
            <a:r>
              <a:rPr sz="1300" b="1" i="0">
                <a:solidFill>
                  <a:srgbClr val="5A4200"/>
                </a:solidFill>
                <a:latin typeface="맑은 고딕"/>
              </a:rPr>
              <a:t>(2) The grass looked greener than yesterday because it had rained at night.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Haiti 지진을 본 일이 먼저이므로 had seen.</a:t>
            </a:r>
          </a:p>
          <a:p>
            <a:pPr algn="l">
              <a:lnSpc>
                <a:spcPct val="105000"/>
              </a:lnSpc>
              <a:spcBef>
                <a:spcPts val="0"/>
              </a:spcBef>
              <a:spcAft>
                <a:spcPts val="200"/>
              </a:spcAft>
            </a:pPr>
            <a:r>
              <a:rPr sz="1500" b="0" i="0">
                <a:solidFill>
                  <a:srgbClr val="152A4A"/>
                </a:solidFill>
                <a:latin typeface="맑은 고딕"/>
              </a:rPr>
              <a:t>(2) 과거완료 had rained를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300" b="0" i="1">
                <a:solidFill>
                  <a:srgbClr val="555555"/>
                </a:solidFill>
                <a:latin typeface="맑은 고딕"/>
              </a:rPr>
              <a:t>&lt;보기&gt;</a:t>
            </a:r>
          </a:p>
          <a:p>
            <a:pPr algn="l">
              <a:lnSpc>
                <a:spcPct val="105000"/>
              </a:lnSpc>
              <a:spcBef>
                <a:spcPts val="0"/>
              </a:spcBef>
              <a:spcAft>
                <a:spcPts val="100"/>
              </a:spcAft>
            </a:pPr>
            <a:r>
              <a:rPr sz="1300" b="0" i="1">
                <a:solidFill>
                  <a:srgbClr val="555555"/>
                </a:solidFill>
                <a:latin typeface="맑은 고딕"/>
              </a:rPr>
              <a:t>Bill studied math hard. He passed the math test.</a:t>
            </a:r>
          </a:p>
          <a:p>
            <a:pPr algn="l">
              <a:lnSpc>
                <a:spcPct val="105000"/>
              </a:lnSpc>
              <a:spcBef>
                <a:spcPts val="0"/>
              </a:spcBef>
              <a:spcAft>
                <a:spcPts val="100"/>
              </a:spcAft>
            </a:pPr>
            <a:r>
              <a:rPr sz="1300" b="0" i="1">
                <a:solidFill>
                  <a:srgbClr val="555555"/>
                </a:solidFill>
                <a:latin typeface="맑은 고딕"/>
              </a:rPr>
              <a:t>→ Bill passed the math test because he had studied math hard.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600" b="1" i="0">
                <a:solidFill>
                  <a:srgbClr val="222222"/>
                </a:solidFill>
                <a:latin typeface="맑은 고딕"/>
              </a:rPr>
              <a:t>다음 &lt;보기&gt;와 같이 사건 전개가 시간의 흐름에 따라 표현되도록 각각의 상황을 한 문장으로 쓰시오.</a:t>
            </a:r>
          </a:p>
          <a:p>
            <a:pPr algn="l">
              <a:lnSpc>
                <a:spcPct val="105000"/>
              </a:lnSpc>
              <a:spcBef>
                <a:spcPts val="0"/>
              </a:spcBef>
              <a:spcAft>
                <a:spcPts val="200"/>
              </a:spcAft>
            </a:pPr>
            <a:r>
              <a:rPr sz="1600" b="1" i="0">
                <a:solidFill>
                  <a:srgbClr val="222222"/>
                </a:solidFill>
                <a:latin typeface="맑은 고딕"/>
              </a:rPr>
              <a:t>(1) I played soccer. After playing soccer, I took a shower.</a:t>
            </a:r>
          </a:p>
          <a:p>
            <a:pPr algn="l">
              <a:lnSpc>
                <a:spcPct val="105000"/>
              </a:lnSpc>
              <a:spcBef>
                <a:spcPts val="0"/>
              </a:spcBef>
              <a:spcAft>
                <a:spcPts val="200"/>
              </a:spcAft>
            </a:pPr>
            <a:r>
              <a:rPr sz="1600" b="1" i="0">
                <a:solidFill>
                  <a:srgbClr val="222222"/>
                </a:solidFill>
                <a:latin typeface="맑은 고딕"/>
              </a:rPr>
              <a:t>→ I ______.</a:t>
            </a:r>
          </a:p>
          <a:p>
            <a:pPr algn="l">
              <a:lnSpc>
                <a:spcPct val="105000"/>
              </a:lnSpc>
              <a:spcBef>
                <a:spcPts val="0"/>
              </a:spcBef>
              <a:spcAft>
                <a:spcPts val="200"/>
              </a:spcAft>
            </a:pPr>
            <a:r>
              <a:rPr sz="1600" b="1" i="0">
                <a:solidFill>
                  <a:srgbClr val="222222"/>
                </a:solidFill>
                <a:latin typeface="맑은 고딕"/>
              </a:rPr>
              <a:t>(2) I was late for school this morning. I didn't set the alarm last night.</a:t>
            </a:r>
          </a:p>
          <a:p>
            <a:pPr algn="l">
              <a:lnSpc>
                <a:spcPct val="105000"/>
              </a:lnSpc>
              <a:spcBef>
                <a:spcPts val="0"/>
              </a:spcBef>
              <a:spcAft>
                <a:spcPts val="200"/>
              </a:spcAft>
            </a:pPr>
            <a:r>
              <a:rPr sz="1600" b="1" i="0">
                <a:solidFill>
                  <a:srgbClr val="222222"/>
                </a:solidFill>
                <a:latin typeface="맑은 고딕"/>
              </a:rPr>
              <a:t>→ I ______.</a:t>
            </a:r>
          </a:p>
          <a:p>
            <a:pPr algn="l">
              <a:lnSpc>
                <a:spcPct val="105000"/>
              </a:lnSpc>
              <a:spcBef>
                <a:spcPts val="0"/>
              </a:spcBef>
              <a:spcAft>
                <a:spcPts val="200"/>
              </a:spcAft>
            </a:pPr>
            <a:r>
              <a:rPr sz="1600" b="1" i="0">
                <a:solidFill>
                  <a:srgbClr val="222222"/>
                </a:solidFill>
                <a:latin typeface="맑은 고딕"/>
              </a:rPr>
              <a:t>(3) The picture was drawn by Mira. Mom was very happy with Mira's picture.</a:t>
            </a:r>
          </a:p>
          <a:p>
            <a:pPr algn="l">
              <a:lnSpc>
                <a:spcPct val="105000"/>
              </a:lnSpc>
              <a:spcBef>
                <a:spcPts val="0"/>
              </a:spcBef>
              <a:spcAft>
                <a:spcPts val="200"/>
              </a:spcAft>
            </a:pPr>
            <a:r>
              <a:rPr sz="1600" b="1" i="0">
                <a:solidFill>
                  <a:srgbClr val="222222"/>
                </a:solidFill>
                <a:latin typeface="맑은 고딕"/>
              </a:rPr>
              <a:t>→ Mom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300" b="1" i="0">
                <a:solidFill>
                  <a:srgbClr val="5A4200"/>
                </a:solidFill>
                <a:latin typeface="맑은 고딕"/>
              </a:rPr>
              <a:t>정답:  (1) took a shower because I had played soccer</a:t>
            </a:r>
            <a:br/>
            <a:r>
              <a:rPr sz="1300" b="1" i="0">
                <a:solidFill>
                  <a:srgbClr val="5A4200"/>
                </a:solidFill>
                <a:latin typeface="맑은 고딕"/>
              </a:rPr>
              <a:t>(2) was late for school this morning because I hadn't set the alarm last night</a:t>
            </a:r>
            <a:br/>
            <a:r>
              <a:rPr sz="1300" b="1" i="0">
                <a:solidFill>
                  <a:srgbClr val="5A4200"/>
                </a:solidFill>
                <a:latin typeface="맑은 고딕"/>
              </a:rPr>
              <a:t>(3) was very happy with Mira's picture because the picture had been drawn by Mira</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먼저 일어난 일(축구, 알람 미설정, 그림 그리기)은 과거완료, 나중 일은 과거시제로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내가 영화관에 도착했을 때, 이미 영화는 시작되었다. (arrive, begin)</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주어진 단어와 과거완료 시제를 이용하여 완전한 문장으로 영작하시오.</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When I arrived at the movie theater, the movie had already begun.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과거완료(had p.p.)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Jiho did not have any books. Jiho lost his bag.</a:t>
            </a:r>
          </a:p>
          <a:p>
            <a:pPr algn="l">
              <a:lnSpc>
                <a:spcPct val="105000"/>
              </a:lnSpc>
              <a:spcBef>
                <a:spcPts val="0"/>
              </a:spcBef>
              <a:spcAft>
                <a:spcPts val="100"/>
              </a:spcAft>
            </a:pPr>
            <a:r>
              <a:rPr sz="1500" b="0" i="1">
                <a:solidFill>
                  <a:srgbClr val="555555"/>
                </a:solidFill>
                <a:latin typeface="맑은 고딕"/>
              </a:rPr>
              <a:t>→ Jiho did not have any books because he had lost his bag.</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두 문장을 한 문장으로 만드시오. (단, 과거완료 시제를 사용할 것)</a:t>
            </a:r>
          </a:p>
          <a:p>
            <a:pPr algn="l">
              <a:lnSpc>
                <a:spcPct val="105000"/>
              </a:lnSpc>
              <a:spcBef>
                <a:spcPts val="0"/>
              </a:spcBef>
              <a:spcAft>
                <a:spcPts val="200"/>
              </a:spcAft>
            </a:pPr>
            <a:r>
              <a:rPr sz="1800" b="1" i="0">
                <a:solidFill>
                  <a:srgbClr val="222222"/>
                </a:solidFill>
                <a:latin typeface="맑은 고딕"/>
              </a:rPr>
              <a:t>(1) Did Amy study Japanese? She moved to Japan.</a:t>
            </a:r>
          </a:p>
          <a:p>
            <a:pPr algn="l">
              <a:lnSpc>
                <a:spcPct val="105000"/>
              </a:lnSpc>
              <a:spcBef>
                <a:spcPts val="0"/>
              </a:spcBef>
              <a:spcAft>
                <a:spcPts val="200"/>
              </a:spcAft>
            </a:pPr>
            <a:r>
              <a:rPr sz="1800" b="1" i="0">
                <a:solidFill>
                  <a:srgbClr val="222222"/>
                </a:solidFill>
                <a:latin typeface="맑은 고딕"/>
              </a:rPr>
              <a:t>→ ______</a:t>
            </a:r>
          </a:p>
          <a:p>
            <a:pPr algn="l">
              <a:lnSpc>
                <a:spcPct val="105000"/>
              </a:lnSpc>
              <a:spcBef>
                <a:spcPts val="0"/>
              </a:spcBef>
              <a:spcAft>
                <a:spcPts val="200"/>
              </a:spcAft>
            </a:pPr>
            <a:r>
              <a:rPr sz="1800" b="1" i="0">
                <a:solidFill>
                  <a:srgbClr val="222222"/>
                </a:solidFill>
                <a:latin typeface="맑은 고딕"/>
              </a:rPr>
              <a:t>(2) Sam never saw such a beautiful beach. He went to the East Sea.</a:t>
            </a:r>
          </a:p>
          <a:p>
            <a:pPr algn="l">
              <a:lnSpc>
                <a:spcPct val="105000"/>
              </a:lnSpc>
              <a:spcBef>
                <a:spcPts val="0"/>
              </a:spcBef>
              <a:spcAft>
                <a:spcPts val="200"/>
              </a:spcAft>
            </a:pPr>
            <a:r>
              <a:rPr sz="1800" b="1" i="0">
                <a:solidFill>
                  <a:srgbClr val="222222"/>
                </a:solidFill>
                <a:latin typeface="맑은 고딕"/>
              </a:rPr>
              <a:t>→ ______</a:t>
            </a:r>
          </a:p>
          <a:p>
            <a:pPr algn="l">
              <a:lnSpc>
                <a:spcPct val="105000"/>
              </a:lnSpc>
              <a:spcBef>
                <a:spcPts val="0"/>
              </a:spcBef>
              <a:spcAft>
                <a:spcPts val="200"/>
              </a:spcAft>
            </a:pPr>
            <a:r>
              <a:rPr sz="1800" b="1" i="0">
                <a:solidFill>
                  <a:srgbClr val="222222"/>
                </a:solidFill>
                <a:latin typeface="맑은 고딕"/>
              </a:rPr>
              <a:t>(3) Paul missed the bus. He got up late.</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300" b="1" i="0">
                <a:solidFill>
                  <a:srgbClr val="5A4200"/>
                </a:solidFill>
                <a:latin typeface="맑은 고딕"/>
              </a:rPr>
              <a:t>정답:  (1) Had Amy studied Japanese before she moved to Japan?</a:t>
            </a:r>
            <a:br/>
            <a:r>
              <a:rPr sz="1300" b="1" i="0">
                <a:solidFill>
                  <a:srgbClr val="5A4200"/>
                </a:solidFill>
                <a:latin typeface="맑은 고딕"/>
              </a:rPr>
              <a:t>(2) Sam had never seen such a beautiful beach before he went to the East Sea.</a:t>
            </a:r>
            <a:br/>
            <a:r>
              <a:rPr sz="1300" b="1" i="0">
                <a:solidFill>
                  <a:srgbClr val="5A4200"/>
                </a:solidFill>
                <a:latin typeface="맑은 고딕"/>
              </a:rPr>
              <a:t>(3) Paul missed the bus because he had gotten up late.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시간의 순서에 맞게 과거시제와 과거완료 시제(had p.p.)를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시제에 유의하되 과거완료(had+과거분사) 시제를 포함할 것</a:t>
            </a:r>
          </a:p>
          <a:p>
            <a:pPr algn="l">
              <a:lnSpc>
                <a:spcPct val="105000"/>
              </a:lnSpc>
              <a:spcBef>
                <a:spcPts val="0"/>
              </a:spcBef>
              <a:spcAft>
                <a:spcPts val="100"/>
              </a:spcAft>
            </a:pPr>
            <a:r>
              <a:rPr sz="1500" b="0" i="1">
                <a:solidFill>
                  <a:srgbClr val="555555"/>
                </a:solidFill>
                <a:latin typeface="맑은 고딕"/>
              </a:rPr>
              <a:t>2. 문제 (1)은 주어진 두 문장을 한 문장으로 연결할 것</a:t>
            </a:r>
          </a:p>
          <a:p>
            <a:pPr algn="l">
              <a:lnSpc>
                <a:spcPct val="105000"/>
              </a:lnSpc>
              <a:spcBef>
                <a:spcPts val="0"/>
              </a:spcBef>
              <a:spcAft>
                <a:spcPts val="100"/>
              </a:spcAft>
            </a:pPr>
            <a:r>
              <a:rPr sz="1500" b="0" i="1">
                <a:solidFill>
                  <a:srgbClr val="555555"/>
                </a:solidFill>
                <a:latin typeface="맑은 고딕"/>
              </a:rPr>
              <a:t>3. 문제 (2)는 제시된 단어를 포함하여 우리말 의미에 맞게 영작할 것 (동사 시제는 필요시 변형 가능), 세 개의 절로 이루어진 복문으로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주어진 &lt;조건&gt;에 맞게 문제에 답하시오.</a:t>
            </a:r>
          </a:p>
          <a:p>
            <a:pPr algn="l">
              <a:lnSpc>
                <a:spcPct val="105000"/>
              </a:lnSpc>
              <a:spcBef>
                <a:spcPts val="0"/>
              </a:spcBef>
              <a:spcAft>
                <a:spcPts val="200"/>
              </a:spcAft>
            </a:pPr>
            <a:r>
              <a:rPr sz="1800" b="1" i="0">
                <a:solidFill>
                  <a:srgbClr val="222222"/>
                </a:solidFill>
                <a:latin typeface="맑은 고딕"/>
              </a:rPr>
              <a:t>(1) The movie already finished. I got there after that.</a:t>
            </a:r>
          </a:p>
          <a:p>
            <a:pPr algn="l">
              <a:lnSpc>
                <a:spcPct val="105000"/>
              </a:lnSpc>
              <a:spcBef>
                <a:spcPts val="0"/>
              </a:spcBef>
              <a:spcAft>
                <a:spcPts val="200"/>
              </a:spcAft>
            </a:pPr>
            <a:r>
              <a:rPr sz="1800" b="1" i="0">
                <a:solidFill>
                  <a:srgbClr val="222222"/>
                </a:solidFill>
                <a:latin typeface="맑은 고딕"/>
              </a:rPr>
              <a:t>→ When I ______.</a:t>
            </a:r>
          </a:p>
          <a:p>
            <a:pPr algn="l">
              <a:lnSpc>
                <a:spcPct val="105000"/>
              </a:lnSpc>
              <a:spcBef>
                <a:spcPts val="0"/>
              </a:spcBef>
              <a:spcAft>
                <a:spcPts val="200"/>
              </a:spcAft>
            </a:pPr>
            <a:r>
              <a:rPr sz="1800" b="1" i="0">
                <a:solidFill>
                  <a:srgbClr val="222222"/>
                </a:solidFill>
                <a:latin typeface="맑은 고딕"/>
              </a:rPr>
              <a:t>(2) 우리말: 나는 내가 마음먹은 어떤 것이었든 내가 할 수 있다는 것을 나 자신에게 증명해 보였다. (제시 단어: prove, myself, mind to)</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300" b="1" i="0">
                <a:solidFill>
                  <a:srgbClr val="5A4200"/>
                </a:solidFill>
                <a:latin typeface="맑은 고딕"/>
              </a:rPr>
              <a:t>정답:  (1) got there, the movie had already finished</a:t>
            </a:r>
            <a:br/>
            <a:r>
              <a:rPr sz="1300" b="1" i="0">
                <a:solidFill>
                  <a:srgbClr val="5A4200"/>
                </a:solidFill>
                <a:latin typeface="맑은 고딕"/>
              </a:rPr>
              <a:t>(2) I proved to myself that I could do anything that I had put my mind to.</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내가 도착(과거) 전에 영화가 끝남(대과거).</a:t>
            </a:r>
          </a:p>
          <a:p>
            <a:pPr algn="l">
              <a:lnSpc>
                <a:spcPct val="105000"/>
              </a:lnSpc>
              <a:spcBef>
                <a:spcPts val="0"/>
              </a:spcBef>
              <a:spcAft>
                <a:spcPts val="200"/>
              </a:spcAft>
            </a:pPr>
            <a:r>
              <a:rPr sz="1500" b="0" i="0">
                <a:solidFill>
                  <a:srgbClr val="152A4A"/>
                </a:solidFill>
                <a:latin typeface="맑은 고딕"/>
              </a:rPr>
              <a:t>(2) 증명한 일은 과거, 마음먹은 것은 과거완료로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&lt;보기1&gt;</a:t>
            </a:r>
          </a:p>
          <a:p>
            <a:pPr algn="l">
              <a:lnSpc>
                <a:spcPct val="105000"/>
              </a:lnSpc>
              <a:spcBef>
                <a:spcPts val="0"/>
              </a:spcBef>
              <a:spcAft>
                <a:spcPts val="100"/>
              </a:spcAft>
            </a:pPr>
            <a:r>
              <a:rPr sz="1500" b="0" i="1">
                <a:solidFill>
                  <a:srgbClr val="555555"/>
                </a:solidFill>
                <a:latin typeface="맑은 고딕"/>
              </a:rPr>
              <a:t>• spend all the money  • visit there many times</a:t>
            </a:r>
          </a:p>
          <a:p>
            <a:pPr algn="l">
              <a:lnSpc>
                <a:spcPct val="105000"/>
              </a:lnSpc>
              <a:spcBef>
                <a:spcPts val="0"/>
              </a:spcBef>
              <a:spcAft>
                <a:spcPts val="100"/>
              </a:spcAft>
            </a:pPr>
            <a:r>
              <a:rPr sz="1500" b="0" i="1">
                <a:solidFill>
                  <a:srgbClr val="555555"/>
                </a:solidFill>
                <a:latin typeface="맑은 고딕"/>
              </a:rPr>
              <a:t>• already take off  • break down</a:t>
            </a:r>
          </a:p>
          <a:p>
            <a:pPr algn="l">
              <a:lnSpc>
                <a:spcPct val="105000"/>
              </a:lnSpc>
              <a:spcBef>
                <a:spcPts val="0"/>
              </a:spcBef>
              <a:spcAft>
                <a:spcPts val="100"/>
              </a:spcAft>
            </a:pPr>
            <a:r>
              <a:rPr sz="1500" b="0" i="1">
                <a:solidFill>
                  <a:srgbClr val="555555"/>
                </a:solidFill>
                <a:latin typeface="맑은 고딕"/>
              </a:rPr>
              <a:t>&lt;보기2&gt;</a:t>
            </a:r>
          </a:p>
          <a:p>
            <a:pPr algn="l">
              <a:lnSpc>
                <a:spcPct val="105000"/>
              </a:lnSpc>
              <a:spcBef>
                <a:spcPts val="0"/>
              </a:spcBef>
              <a:spcAft>
                <a:spcPts val="100"/>
              </a:spcAft>
            </a:pPr>
            <a:r>
              <a:rPr sz="1500" b="0" i="1">
                <a:solidFill>
                  <a:srgbClr val="555555"/>
                </a:solidFill>
                <a:latin typeface="맑은 고딕"/>
              </a:rPr>
              <a:t>David was late for school because he had missed the bus.</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&lt;보기1&gt;에 주어진 표현을 의미에 맞게 고른 후 &lt;보기2&gt;와 같이 문장을 완성하시오.</a:t>
            </a:r>
          </a:p>
          <a:p>
            <a:pPr algn="l">
              <a:lnSpc>
                <a:spcPct val="105000"/>
              </a:lnSpc>
              <a:spcBef>
                <a:spcPts val="0"/>
              </a:spcBef>
              <a:spcAft>
                <a:spcPts val="200"/>
              </a:spcAft>
            </a:pPr>
            <a:r>
              <a:rPr sz="1800" b="1" i="0">
                <a:solidFill>
                  <a:srgbClr val="222222"/>
                </a:solidFill>
                <a:latin typeface="맑은 고딕"/>
              </a:rPr>
              <a:t>(1) Mike couldn't buy cookies because he ______.</a:t>
            </a:r>
          </a:p>
          <a:p>
            <a:pPr algn="l">
              <a:lnSpc>
                <a:spcPct val="105000"/>
              </a:lnSpc>
              <a:spcBef>
                <a:spcPts val="0"/>
              </a:spcBef>
              <a:spcAft>
                <a:spcPts val="200"/>
              </a:spcAft>
            </a:pPr>
            <a:r>
              <a:rPr sz="1800" b="1" i="0">
                <a:solidFill>
                  <a:srgbClr val="222222"/>
                </a:solidFill>
                <a:latin typeface="맑은 고딕"/>
              </a:rPr>
              <a:t>(2) Kate knew well about Paris because she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(1) had spent all the money</a:t>
            </a:r>
            <a:br/>
            <a:r>
              <a:rPr sz="1600" b="1" i="0">
                <a:solidFill>
                  <a:srgbClr val="5A4200"/>
                </a:solidFill>
                <a:latin typeface="맑은 고딕"/>
              </a:rPr>
              <a:t>(2) had visited there many times</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원인이 되는 일이 먼저 일어났으므로 과거완료(had p.p.)로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곰들이 집에 도착했을 때, 그들은 누군가가 우유를 마신 것을 알았다.</a:t>
            </a:r>
          </a:p>
          <a:p>
            <a:pPr algn="l">
              <a:lnSpc>
                <a:spcPct val="105000"/>
              </a:lnSpc>
              <a:spcBef>
                <a:spcPts val="0"/>
              </a:spcBef>
              <a:spcAft>
                <a:spcPts val="100"/>
              </a:spcAft>
            </a:pPr>
            <a:r>
              <a:rPr sz="1500" b="0" i="1">
                <a:solidFill>
                  <a:srgbClr val="555555"/>
                </a:solidFill>
                <a:latin typeface="맑은 고딕"/>
              </a:rPr>
              <a:t>When the bears get home, they found somebody have drank the milk.</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같은 뜻이 되도록 주어진 문장을 어법에 맞게 고쳐 다시 쓰시오.</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When the bears got home, they found somebody had drunk the milk.</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곰들이 도착하기 전에 누군가 우유를 마신 것이므로 과거완료로 써야 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200" b="0" i="1">
                <a:solidFill>
                  <a:srgbClr val="555555"/>
                </a:solidFill>
                <a:latin typeface="맑은 고딕"/>
              </a:rPr>
              <a:t>(12 a.m.) Everybody went to bed.</a:t>
            </a:r>
          </a:p>
          <a:p>
            <a:pPr algn="l">
              <a:lnSpc>
                <a:spcPct val="105000"/>
              </a:lnSpc>
              <a:spcBef>
                <a:spcPts val="0"/>
              </a:spcBef>
              <a:spcAft>
                <a:spcPts val="100"/>
              </a:spcAft>
            </a:pPr>
            <a:r>
              <a:rPr sz="1200" b="0" i="1">
                <a:solidFill>
                  <a:srgbClr val="555555"/>
                </a:solidFill>
                <a:latin typeface="맑은 고딕"/>
              </a:rPr>
              <a:t>↓</a:t>
            </a:r>
          </a:p>
          <a:p>
            <a:pPr algn="l">
              <a:lnSpc>
                <a:spcPct val="105000"/>
              </a:lnSpc>
              <a:spcBef>
                <a:spcPts val="0"/>
              </a:spcBef>
              <a:spcAft>
                <a:spcPts val="100"/>
              </a:spcAft>
            </a:pPr>
            <a:r>
              <a:rPr sz="1200" b="0" i="1">
                <a:solidFill>
                  <a:srgbClr val="555555"/>
                </a:solidFill>
                <a:latin typeface="맑은 고딕"/>
              </a:rPr>
              <a:t>(1 a.m.) A man broke into John's house. Everything was gone.</a:t>
            </a:r>
          </a:p>
          <a:p>
            <a:pPr algn="l">
              <a:lnSpc>
                <a:spcPct val="105000"/>
              </a:lnSpc>
              <a:spcBef>
                <a:spcPts val="0"/>
              </a:spcBef>
              <a:spcAft>
                <a:spcPts val="100"/>
              </a:spcAft>
            </a:pPr>
            <a:r>
              <a:rPr sz="1200" b="0" i="1">
                <a:solidFill>
                  <a:srgbClr val="555555"/>
                </a:solidFill>
                <a:latin typeface="맑은 고딕"/>
              </a:rPr>
              <a:t>↓</a:t>
            </a:r>
          </a:p>
          <a:p>
            <a:pPr algn="l">
              <a:lnSpc>
                <a:spcPct val="105000"/>
              </a:lnSpc>
              <a:spcBef>
                <a:spcPts val="0"/>
              </a:spcBef>
              <a:spcAft>
                <a:spcPts val="100"/>
              </a:spcAft>
            </a:pPr>
            <a:r>
              <a:rPr sz="1200" b="0" i="1">
                <a:solidFill>
                  <a:srgbClr val="555555"/>
                </a:solidFill>
                <a:latin typeface="맑은 고딕"/>
              </a:rPr>
              <a:t>(3 a.m.) John's parents woke up.</a:t>
            </a:r>
          </a:p>
          <a:p>
            <a:pPr algn="l">
              <a:lnSpc>
                <a:spcPct val="105000"/>
              </a:lnSpc>
              <a:spcBef>
                <a:spcPts val="0"/>
              </a:spcBef>
              <a:spcAft>
                <a:spcPts val="100"/>
              </a:spcAft>
            </a:pPr>
            <a:r>
              <a:rPr sz="1200" b="0" i="1">
                <a:solidFill>
                  <a:srgbClr val="555555"/>
                </a:solidFill>
                <a:latin typeface="맑은 고딕"/>
              </a:rPr>
              <a:t>↓</a:t>
            </a:r>
          </a:p>
          <a:p>
            <a:pPr algn="l">
              <a:lnSpc>
                <a:spcPct val="105000"/>
              </a:lnSpc>
              <a:spcBef>
                <a:spcPts val="0"/>
              </a:spcBef>
              <a:spcAft>
                <a:spcPts val="100"/>
              </a:spcAft>
            </a:pPr>
            <a:r>
              <a:rPr sz="1200" b="0" i="1">
                <a:solidFill>
                  <a:srgbClr val="555555"/>
                </a:solidFill>
                <a:latin typeface="맑은 고딕"/>
              </a:rPr>
              <a:t>(3 a.m.~4 a.m.) The man broke into 3 houses.</a:t>
            </a:r>
          </a:p>
          <a:p>
            <a:pPr algn="l">
              <a:lnSpc>
                <a:spcPct val="105000"/>
              </a:lnSpc>
              <a:spcBef>
                <a:spcPts val="0"/>
              </a:spcBef>
              <a:spcAft>
                <a:spcPts val="100"/>
              </a:spcAft>
            </a:pPr>
            <a:r>
              <a:rPr sz="1200" b="0" i="1">
                <a:solidFill>
                  <a:srgbClr val="555555"/>
                </a:solidFill>
                <a:latin typeface="맑은 고딕"/>
              </a:rPr>
              <a:t>↓</a:t>
            </a:r>
          </a:p>
          <a:p>
            <a:pPr algn="l">
              <a:lnSpc>
                <a:spcPct val="105000"/>
              </a:lnSpc>
              <a:spcBef>
                <a:spcPts val="0"/>
              </a:spcBef>
              <a:spcAft>
                <a:spcPts val="100"/>
              </a:spcAft>
            </a:pPr>
            <a:r>
              <a:rPr sz="1200" b="0" i="1">
                <a:solidFill>
                  <a:srgbClr val="555555"/>
                </a:solidFill>
                <a:latin typeface="맑은 고딕"/>
              </a:rPr>
              <a:t>(5 a.m.) The police caught him.</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500" b="1" i="0">
                <a:solidFill>
                  <a:srgbClr val="222222"/>
                </a:solidFill>
                <a:latin typeface="맑은 고딕"/>
              </a:rPr>
              <a:t>다음 형사의 기록을 보고, 과거시제와 과거완료 시제를 사용하여 문장을 완성하시오. (단, 빈칸에는 한 단어 이상이 들어갈 수도 있음)</a:t>
            </a:r>
          </a:p>
          <a:p>
            <a:pPr algn="l">
              <a:lnSpc>
                <a:spcPct val="105000"/>
              </a:lnSpc>
              <a:spcBef>
                <a:spcPts val="0"/>
              </a:spcBef>
              <a:spcAft>
                <a:spcPts val="200"/>
              </a:spcAft>
            </a:pPr>
            <a:r>
              <a:rPr sz="1500" b="1" i="0">
                <a:solidFill>
                  <a:srgbClr val="222222"/>
                </a:solidFill>
                <a:latin typeface="맑은 고딕"/>
              </a:rPr>
              <a:t>(1) When a man ______ into John's house, everybody ______ to bed.</a:t>
            </a:r>
          </a:p>
          <a:p>
            <a:pPr algn="l">
              <a:lnSpc>
                <a:spcPct val="105000"/>
              </a:lnSpc>
              <a:spcBef>
                <a:spcPts val="0"/>
              </a:spcBef>
              <a:spcAft>
                <a:spcPts val="200"/>
              </a:spcAft>
            </a:pPr>
            <a:r>
              <a:rPr sz="1500" b="1" i="0">
                <a:solidFill>
                  <a:srgbClr val="222222"/>
                </a:solidFill>
                <a:latin typeface="맑은 고딕"/>
              </a:rPr>
              <a:t>(2) When John's parents ______ up, everything ______.</a:t>
            </a:r>
          </a:p>
          <a:p>
            <a:pPr algn="l">
              <a:lnSpc>
                <a:spcPct val="105000"/>
              </a:lnSpc>
              <a:spcBef>
                <a:spcPts val="0"/>
              </a:spcBef>
              <a:spcAft>
                <a:spcPts val="200"/>
              </a:spcAft>
            </a:pPr>
            <a:r>
              <a:rPr sz="1500" b="1" i="0">
                <a:solidFill>
                  <a:srgbClr val="222222"/>
                </a:solidFill>
                <a:latin typeface="맑은 고딕"/>
              </a:rPr>
              <a:t>(3) Before the police ______ him, the man ______ into three houses.</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(1) broke, had gone</a:t>
            </a:r>
            <a:br/>
            <a:r>
              <a:rPr sz="1600" b="1" i="0">
                <a:solidFill>
                  <a:srgbClr val="5A4200"/>
                </a:solidFill>
                <a:latin typeface="맑은 고딕"/>
              </a:rPr>
              <a:t>(2) woke, had been gone</a:t>
            </a:r>
            <a:br/>
            <a:r>
              <a:rPr sz="1600" b="1" i="0">
                <a:solidFill>
                  <a:srgbClr val="5A4200"/>
                </a:solidFill>
                <a:latin typeface="맑은 고딕"/>
              </a:rPr>
              <a:t>(3) caught, had broken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먼저 일어난 일(잠듦, 물건 사라짐, 3가구 침입)은 과거완료, 나중 일은 과거시제로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69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69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그는 그들의 결혼식 전날 밤에 그녀를 보았었다고 말했다.</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과거완료 시제를 이용하여 완전한 문장으로 영작하시오.</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He said that he had seen her the night before their wedding.</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대과거의 일을 나타내는 과거완료(had p.p.)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&lt;Justin's Diary&gt;</a:t>
            </a:r>
          </a:p>
          <a:p>
            <a:pPr algn="l">
              <a:lnSpc>
                <a:spcPct val="105000"/>
              </a:lnSpc>
              <a:spcBef>
                <a:spcPts val="0"/>
              </a:spcBef>
              <a:spcAft>
                <a:spcPts val="100"/>
              </a:spcAft>
            </a:pPr>
            <a:r>
              <a:rPr sz="1500" b="0" i="1">
                <a:solidFill>
                  <a:srgbClr val="555555"/>
                </a:solidFill>
                <a:latin typeface="맑은 고딕"/>
              </a:rPr>
              <a:t>Lots of things happened last Friday. On the way to the park with my puppy, I met a friend of mine who has moved to another city last year. After a long talk, I realized that my puppy had disappeared. I had called the police before I get back home. Then I found that he had come back home by himself. I was so happy.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글을 읽고 동사의 형태가 어법상 바르지 않은 것을 두 군데 찾아 바르게 고쳐 쓰시오.</a:t>
            </a:r>
          </a:p>
          <a:p>
            <a:pPr algn="l">
              <a:lnSpc>
                <a:spcPct val="105000"/>
              </a:lnSpc>
              <a:spcBef>
                <a:spcPts val="0"/>
              </a:spcBef>
              <a:spcAft>
                <a:spcPts val="200"/>
              </a:spcAft>
            </a:pPr>
            <a:r>
              <a:rPr sz="1800" b="1" i="0">
                <a:solidFill>
                  <a:srgbClr val="222222"/>
                </a:solidFill>
                <a:latin typeface="맑은 고딕"/>
              </a:rPr>
              <a:t>(1) ______ → ______</a:t>
            </a:r>
          </a:p>
          <a:p>
            <a:pPr algn="l">
              <a:lnSpc>
                <a:spcPct val="105000"/>
              </a:lnSpc>
              <a:spcBef>
                <a:spcPts val="0"/>
              </a:spcBef>
              <a:spcAft>
                <a:spcPts val="200"/>
              </a:spcAft>
            </a:pPr>
            <a:r>
              <a:rPr sz="1800" b="1" i="0">
                <a:solidFill>
                  <a:srgbClr val="222222"/>
                </a:solidFill>
                <a:latin typeface="맑은 고딕"/>
              </a:rPr>
              <a:t>(2) ______ →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has moved → had moved</a:t>
            </a:r>
            <a:br/>
            <a:r>
              <a:rPr sz="2000" b="1" i="0">
                <a:solidFill>
                  <a:srgbClr val="5A4200"/>
                </a:solidFill>
                <a:latin typeface="맑은 고딕"/>
              </a:rPr>
              <a:t>(2) get back → got back</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친구를 만나기 전에 이미 이사 갔으므로 과거완료.</a:t>
            </a:r>
          </a:p>
          <a:p>
            <a:pPr algn="l">
              <a:lnSpc>
                <a:spcPct val="105000"/>
              </a:lnSpc>
              <a:spcBef>
                <a:spcPts val="0"/>
              </a:spcBef>
              <a:spcAft>
                <a:spcPts val="200"/>
              </a:spcAft>
            </a:pPr>
            <a:r>
              <a:rPr sz="1500" b="0" i="0">
                <a:solidFill>
                  <a:srgbClr val="152A4A"/>
                </a:solidFill>
                <a:latin typeface="맑은 고딕"/>
              </a:rPr>
              <a:t>(2) 경찰을 부른 후 집에 돌아온 일은 과거시제.</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When a man ⓐbroke into Kevin's house, everyone already ⓑwent to bed. When Kevin's parents ⓒwoke up, everything ⓓwas already gone. Before the police caught him, the man ⓔhad broken into five houses.</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글의 밑줄 친 ⓐ~ⓔ 중, 어색한 것을 모두 골라 기호를 쓰고 바르게 고쳐 쓰시오.</a:t>
            </a:r>
          </a:p>
          <a:p>
            <a:pPr algn="l">
              <a:lnSpc>
                <a:spcPct val="105000"/>
              </a:lnSpc>
              <a:spcBef>
                <a:spcPts val="0"/>
              </a:spcBef>
              <a:spcAft>
                <a:spcPts val="200"/>
              </a:spcAft>
            </a:pPr>
            <a:r>
              <a:rPr sz="1800" b="1" i="0">
                <a:solidFill>
                  <a:srgbClr val="222222"/>
                </a:solidFill>
                <a:latin typeface="맑은 고딕"/>
              </a:rPr>
              <a:t>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 → had gone to bed</a:t>
            </a:r>
            <a:br/>
            <a:r>
              <a:rPr sz="2000" b="1" i="0">
                <a:solidFill>
                  <a:srgbClr val="5A4200"/>
                </a:solidFill>
                <a:latin typeface="맑은 고딕"/>
              </a:rPr>
              <a:t>ⓓ → had already been gone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 침입 전에 이미 잠자리에 듦, ⓓ 부모님이 깨기 전에 이미 사라짐 → 과거완료.</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&lt;My Trip to Denver&gt; by Sam Carter</a:t>
            </a:r>
          </a:p>
          <a:p>
            <a:pPr algn="l">
              <a:lnSpc>
                <a:spcPct val="105000"/>
              </a:lnSpc>
              <a:spcBef>
                <a:spcPts val="0"/>
              </a:spcBef>
              <a:spcAft>
                <a:spcPts val="100"/>
              </a:spcAft>
            </a:pPr>
            <a:r>
              <a:rPr sz="1500" b="0" i="1">
                <a:solidFill>
                  <a:srgbClr val="555555"/>
                </a:solidFill>
                <a:latin typeface="맑은 고딕"/>
              </a:rPr>
              <a:t>I had gone to Denver in December for a ski trip. When I got there, my friend Tom had arrived at the resort already. We skied together for three days. On our last day there we met some interesting people. They moved to Denver two years before. They said they were really enjoying their lives there. ... We returned to the hotel by taxi because the last bus had already left. Anyway, Tom and I had a lot of fun in Denver.</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글을 읽고 시제가 어색한 부분을 두 군데 찾아 바르게 고쳐 쓰시오.</a:t>
            </a:r>
          </a:p>
          <a:p>
            <a:pPr algn="l">
              <a:lnSpc>
                <a:spcPct val="105000"/>
              </a:lnSpc>
              <a:spcBef>
                <a:spcPts val="0"/>
              </a:spcBef>
              <a:spcAft>
                <a:spcPts val="200"/>
              </a:spcAft>
            </a:pPr>
            <a:r>
              <a:rPr sz="1800" b="1" i="0">
                <a:solidFill>
                  <a:srgbClr val="222222"/>
                </a:solidFill>
                <a:latin typeface="맑은 고딕"/>
              </a:rPr>
              <a:t>(1) ______ → ______</a:t>
            </a:r>
          </a:p>
          <a:p>
            <a:pPr algn="l">
              <a:lnSpc>
                <a:spcPct val="105000"/>
              </a:lnSpc>
              <a:spcBef>
                <a:spcPts val="0"/>
              </a:spcBef>
              <a:spcAft>
                <a:spcPts val="200"/>
              </a:spcAft>
            </a:pPr>
            <a:r>
              <a:rPr sz="1800" b="1" i="0">
                <a:solidFill>
                  <a:srgbClr val="222222"/>
                </a:solidFill>
                <a:latin typeface="맑은 고딕"/>
              </a:rPr>
              <a:t>(2) ______ →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had gone to → went to</a:t>
            </a:r>
            <a:br/>
            <a:r>
              <a:rPr sz="2000" b="1" i="0">
                <a:solidFill>
                  <a:srgbClr val="5A4200"/>
                </a:solidFill>
                <a:latin typeface="맑은 고딕"/>
              </a:rPr>
              <a:t>(2) moved → had moved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과거 시점(in December)이 있으므로 완료 시제 불가.</a:t>
            </a:r>
          </a:p>
          <a:p>
            <a:pPr algn="l">
              <a:lnSpc>
                <a:spcPct val="105000"/>
              </a:lnSpc>
              <a:spcBef>
                <a:spcPts val="0"/>
              </a:spcBef>
              <a:spcAft>
                <a:spcPts val="200"/>
              </a:spcAft>
            </a:pPr>
            <a:r>
              <a:rPr sz="1500" b="0" i="0">
                <a:solidFill>
                  <a:srgbClr val="152A4A"/>
                </a:solidFill>
                <a:latin typeface="맑은 고딕"/>
              </a:rPr>
              <a:t>(2) Denver로 이사 간 것은 대과거의 일이다.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내가 공항에 도착했을 때 비행기는 이미 떠났다.</a:t>
            </a:r>
          </a:p>
          <a:p>
            <a:pPr algn="l">
              <a:lnSpc>
                <a:spcPct val="105000"/>
              </a:lnSpc>
              <a:spcBef>
                <a:spcPts val="0"/>
              </a:spcBef>
              <a:spcAft>
                <a:spcPts val="100"/>
              </a:spcAft>
            </a:pPr>
            <a:r>
              <a:rPr sz="1500" b="0" i="1">
                <a:solidFill>
                  <a:srgbClr val="555555"/>
                </a:solidFill>
                <a:latin typeface="맑은 고딕"/>
              </a:rPr>
              <a:t>(when, already, the, plane, I, airport, the, left, had, got, to)</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같은 뜻이 되도록 괄호 안에 주어진 단어를 바르게 배열하시오.</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When I got to the airport, the plane had already left.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 시제(had left)를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폭풍 후에, 우리는 5일 동안 전기 없이 있었다. (be)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괄호 안에 주어진 단어를 활용하여 완전한 문장으로 영작하시오. (단, 과거완료 시제를 사용하되, 숫자도 영어로 쓸 것)</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After the storm, we had been without electricity for five days.</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계속의 의미를 나타내는 과거완료(had p.p.) 시제를 이용한다.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나는 배고프지 않았다. 나는 방금 먹었다. (just)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과거완료 시제와 괄호 안에 주어진 단어를 사용하여 영작하시오.</a:t>
            </a:r>
          </a:p>
          <a:p>
            <a:pPr algn="l">
              <a:lnSpc>
                <a:spcPct val="105000"/>
              </a:lnSpc>
              <a:spcBef>
                <a:spcPts val="0"/>
              </a:spcBef>
              <a:spcAft>
                <a:spcPts val="200"/>
              </a:spcAft>
            </a:pPr>
            <a:r>
              <a:rPr sz="1800" b="1" i="0">
                <a:solidFill>
                  <a:srgbClr val="222222"/>
                </a:solidFill>
                <a:latin typeface="맑은 고딕"/>
              </a:rPr>
              <a:t>→ I wasn't hungry.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I had just eaten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과거완료(had p.p.)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Mr. Stark는 그가 그의 고향을 떠나기 전에 영어 선생님이었었다. (before)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괄호 안에 주어진 단어를 사용하여 완전한 문장으로 영작하시오.</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Mr. Stark had been an English teacher before he left his hometown.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 시제 had been을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내가 파티에 도착했을 때, Lucy는 이미 집에 가고 없었다. (arrive, the, go)</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괄호 안에 주어진 단어를 순서대로 모두 활용하여 완전한 문장으로 영작하시오. (단, 형태 변형 가능하며 총 11단어로 쓸 것)</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When I arrived at the party, Lucy had already gone home.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과거완료(had p.p.)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They를 포함하여 총 15단어로 쓸 것</a:t>
            </a:r>
          </a:p>
          <a:p>
            <a:pPr algn="l">
              <a:lnSpc>
                <a:spcPct val="105000"/>
              </a:lnSpc>
              <a:spcBef>
                <a:spcPts val="0"/>
              </a:spcBef>
              <a:spcAft>
                <a:spcPts val="100"/>
              </a:spcAft>
            </a:pPr>
            <a:r>
              <a:rPr sz="1500" b="0" i="1">
                <a:solidFill>
                  <a:srgbClr val="555555"/>
                </a:solidFill>
                <a:latin typeface="맑은 고딕"/>
              </a:rPr>
              <a:t>2. 숫자도 영어로 쓸 것</a:t>
            </a:r>
          </a:p>
          <a:p>
            <a:pPr algn="l">
              <a:lnSpc>
                <a:spcPct val="105000"/>
              </a:lnSpc>
              <a:spcBef>
                <a:spcPts val="0"/>
              </a:spcBef>
              <a:spcAft>
                <a:spcPts val="100"/>
              </a:spcAft>
            </a:pPr>
            <a:r>
              <a:rPr sz="1500" b="0" i="1">
                <a:solidFill>
                  <a:srgbClr val="555555"/>
                </a:solidFill>
                <a:latin typeface="맑은 고딕"/>
              </a:rPr>
              <a:t>3. 축약형(줄임말)을 사용하지 말 것</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내가 작년에 이사 오기 전에 그들은 이 마을에서 10년간 살아왔다.</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주어진 &lt;조건&gt;에 맞게 영작하시오.</a:t>
            </a:r>
          </a:p>
          <a:p>
            <a:pPr algn="l">
              <a:lnSpc>
                <a:spcPct val="105000"/>
              </a:lnSpc>
              <a:spcBef>
                <a:spcPts val="0"/>
              </a:spcBef>
              <a:spcAft>
                <a:spcPts val="200"/>
              </a:spcAft>
            </a:pPr>
            <a:r>
              <a:rPr sz="1800" b="1" i="0">
                <a:solidFill>
                  <a:srgbClr val="222222"/>
                </a:solidFill>
                <a:latin typeface="맑은 고딕"/>
              </a:rPr>
              <a:t>→ They ______. (town, a decade)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had lived in this town for a decade before I moved in last year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과거완료(had p.p.)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79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79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Jimin is one of my friends. We have known each other since last March. She loves to read comic books. In fact, 내가 그녀를 만나기 전까지는 난 독서를 좋아하지 않았었다. (like, reading, before, meet)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글의 밑줄 친 우리말을 괄호 안의 단어를 활용하여 대과거 시제가 포함된 완전한 영어 문장으로 쓰시오.</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I hadn't liked reading before I met her.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대과거 시제 had not liked를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Last Saturday, I (A)______ about the basketball game that I (B)______ with my friends the day before. When I (C)______ at the gym that evening, all my friends (D)______ already (E)______ home.</a:t>
            </a:r>
          </a:p>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주어진 동사(go, plan, arrive, forget, leave, wake)를 문맥에 맞게 적절히 변형하여 쓸 것</a:t>
            </a:r>
          </a:p>
          <a:p>
            <a:pPr algn="l">
              <a:lnSpc>
                <a:spcPct val="105000"/>
              </a:lnSpc>
              <a:spcBef>
                <a:spcPts val="0"/>
              </a:spcBef>
              <a:spcAft>
                <a:spcPts val="100"/>
              </a:spcAft>
            </a:pPr>
            <a:r>
              <a:rPr sz="1500" b="0" i="1">
                <a:solidFill>
                  <a:srgbClr val="555555"/>
                </a:solidFill>
                <a:latin typeface="맑은 고딕"/>
              </a:rPr>
              <a:t>2. 빈칸 (A)~(E)에 각각 단어 1개 또는 2개를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글의 빈칸 (A)~(E)에 들어갈 말을 주어진 &lt;조건&gt;에 맞게 쓰시오.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(A) forgot (B) had planned (C) arrived (D) had (E) gone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(B) 전날 계획한 일은 과거완료. (D)(E) 내가 도착하기 전에 모두 집에 가버렸으므로 과거완료.</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81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Tuesday, April 8th</a:t>
            </a:r>
          </a:p>
          <a:p>
            <a:pPr algn="l">
              <a:lnSpc>
                <a:spcPct val="105000"/>
              </a:lnSpc>
              <a:spcBef>
                <a:spcPts val="0"/>
              </a:spcBef>
              <a:spcAft>
                <a:spcPts val="100"/>
              </a:spcAft>
            </a:pPr>
            <a:r>
              <a:rPr sz="1500" b="0" i="1">
                <a:solidFill>
                  <a:srgbClr val="555555"/>
                </a:solidFill>
                <a:latin typeface="맑은 고딕"/>
              </a:rPr>
              <a:t>Yesterday, I studied late at night. So, I woke up late today. I had to run to the bus stop. However, when I got there, the bus (A)______ already ______ (leave).</a:t>
            </a:r>
          </a:p>
          <a:p>
            <a:pPr algn="l">
              <a:lnSpc>
                <a:spcPct val="105000"/>
              </a:lnSpc>
              <a:spcBef>
                <a:spcPts val="0"/>
              </a:spcBef>
              <a:spcAft>
                <a:spcPts val="100"/>
              </a:spcAft>
            </a:pPr>
            <a:r>
              <a:rPr sz="1500" b="0" i="1">
                <a:solidFill>
                  <a:srgbClr val="555555"/>
                </a:solidFill>
                <a:latin typeface="맑은 고딕"/>
              </a:rPr>
              <a:t>When I finally arrived at school, the first class (B)______ just ______ (start).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(그림 참고) 다음 그림을 참고하여 괄호 안에 주어진 단어를 알맞은 형태로 바꾸어 Tim의 일기를 완성하시오.</a:t>
            </a:r>
          </a:p>
        </p:txBody>
      </p:sp>
      <p:pic>
        <p:nvPicPr>
          <p:cNvPr id="6" name="Picture 5" descr="p81.png"/>
          <p:cNvPicPr>
            <a:picLocks noChangeAspect="1"/>
          </p:cNvPicPr>
          <p:nvPr/>
        </p:nvPicPr>
        <p:blipFill>
          <a:blip r:embed="rId2"/>
          <a:stretch>
            <a:fillRect/>
          </a:stretch>
        </p:blipFill>
        <p:spPr>
          <a:xfrm>
            <a:off x="7406640" y="1975452"/>
            <a:ext cx="4206240" cy="1169735"/>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(A) had, left (B) had, started</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정류장·학교에 도착하기 전에 이미 일어난 일이므로 과거완료(had left, had started).</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A: Did you enjoy the film yesterday?</a:t>
            </a:r>
          </a:p>
          <a:p>
            <a:pPr algn="l">
              <a:lnSpc>
                <a:spcPct val="105000"/>
              </a:lnSpc>
              <a:spcBef>
                <a:spcPts val="0"/>
              </a:spcBef>
              <a:spcAft>
                <a:spcPts val="100"/>
              </a:spcAft>
            </a:pPr>
            <a:r>
              <a:rPr sz="1500" b="0" i="1">
                <a:solidFill>
                  <a:srgbClr val="555555"/>
                </a:solidFill>
                <a:latin typeface="맑은 고딕"/>
              </a:rPr>
              <a:t>B: Well, it's a long story. I got on the bus, but I found out that (1)나는 나의 지갑을 집에 두고 왔었다.</a:t>
            </a:r>
          </a:p>
          <a:p>
            <a:pPr algn="l">
              <a:lnSpc>
                <a:spcPct val="105000"/>
              </a:lnSpc>
              <a:spcBef>
                <a:spcPts val="0"/>
              </a:spcBef>
              <a:spcAft>
                <a:spcPts val="100"/>
              </a:spcAft>
            </a:pPr>
            <a:r>
              <a:rPr sz="1500" b="0" i="1">
                <a:solidFill>
                  <a:srgbClr val="555555"/>
                </a:solidFill>
                <a:latin typeface="맑은 고딕"/>
              </a:rPr>
              <a:t>A: Did you run back home?</a:t>
            </a:r>
          </a:p>
          <a:p>
            <a:pPr algn="l">
              <a:lnSpc>
                <a:spcPct val="105000"/>
              </a:lnSpc>
              <a:spcBef>
                <a:spcPts val="0"/>
              </a:spcBef>
              <a:spcAft>
                <a:spcPts val="100"/>
              </a:spcAft>
            </a:pPr>
            <a:r>
              <a:rPr sz="1500" b="0" i="1">
                <a:solidFill>
                  <a:srgbClr val="555555"/>
                </a:solidFill>
                <a:latin typeface="맑은 고딕"/>
              </a:rPr>
              <a:t>B: Yes, I did, but I couldn't get in because (2)나는 열쇠를 잊고 나왔었다.</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글의 밑줄 친 우리말 (1), (2)를 각각 완전한 문장으로 영작하시오.</a:t>
            </a:r>
          </a:p>
          <a:p>
            <a:pPr algn="l">
              <a:lnSpc>
                <a:spcPct val="105000"/>
              </a:lnSpc>
              <a:spcBef>
                <a:spcPts val="0"/>
              </a:spcBef>
              <a:spcAft>
                <a:spcPts val="200"/>
              </a:spcAft>
            </a:pPr>
            <a:r>
              <a:rPr sz="1800" b="1" i="0">
                <a:solidFill>
                  <a:srgbClr val="222222"/>
                </a:solidFill>
                <a:latin typeface="맑은 고딕"/>
              </a:rPr>
              <a:t>(1) ______</a:t>
            </a:r>
          </a:p>
          <a:p>
            <a:pPr algn="l">
              <a:lnSpc>
                <a:spcPct val="105000"/>
              </a:lnSpc>
              <a:spcBef>
                <a:spcPts val="0"/>
              </a:spcBef>
              <a:spcAft>
                <a:spcPts val="200"/>
              </a:spcAft>
            </a:pPr>
            <a:r>
              <a:rPr sz="1800" b="1" i="0">
                <a:solidFill>
                  <a:srgbClr val="222222"/>
                </a:solidFill>
                <a:latin typeface="맑은 고딕"/>
              </a:rPr>
              <a:t>(2)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I had left my wallet at home</a:t>
            </a:r>
            <a:br/>
            <a:r>
              <a:rPr sz="2000" b="1" i="0">
                <a:solidFill>
                  <a:srgbClr val="5A4200"/>
                </a:solidFill>
                <a:latin typeface="맑은 고딕"/>
              </a:rPr>
              <a:t>(2) I had forgotten my key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주절의 과거 시점보다 더 이전의 일이므로 과거완료 had left, had forgotten을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become, play, come, practice, get</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Let me introduce my favorite soccer player Oscar. Because he (1)______ hard for many years, he was chosen for the Brazil national team at 19. After he (2)______ soccer in Brazil for 4 years, he moved to England in 2012. When English soccer fans heard that he (3)______ to England, they were very excited.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동사 중 알맞은 것을 골라 어법상 알맞은 형태로 바꾸어 글의 빈칸 (1)~(3)을 완성하시오. (단, 동사는 한 번씩만 사용할 것)</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had practiced (2) had played (3) had come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과거완료 had p.p.를 이용하여 빈칸을 채운다.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Jimin is one of my friends. We ⓐ(know) each other since last March. She loves reading comic books. In fact, I ⓑ(not, like) reading very much until I met her. Now I find comic books interesting. I have also become interested in reading about a lot of different things. On weekends, we usually ⓒ(hang out) together. We read comic books and talk about them.</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글의 괄호 안의 동사를 올바른 시제를 이용하여 고쳐 쓰시오.</a:t>
            </a:r>
          </a:p>
          <a:p>
            <a:pPr algn="l">
              <a:lnSpc>
                <a:spcPct val="105000"/>
              </a:lnSpc>
              <a:spcBef>
                <a:spcPts val="0"/>
              </a:spcBef>
              <a:spcAft>
                <a:spcPts val="200"/>
              </a:spcAft>
            </a:pPr>
            <a:r>
              <a:rPr sz="1800" b="1" i="0">
                <a:solidFill>
                  <a:srgbClr val="222222"/>
                </a:solidFill>
                <a:latin typeface="맑은 고딕"/>
              </a:rPr>
              <a:t>ⓐ ______ ⓑ ______ ⓒ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 have known ⓑ hadn't liked ⓒ hang out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 since last March → 현재완료. ⓑ 그녀를 만나기 전 → 과거완료. ⓒ 현재의 습관 → 현재시제.</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200" b="0" i="1">
                <a:solidFill>
                  <a:srgbClr val="555555"/>
                </a:solidFill>
                <a:latin typeface="맑은 고딕"/>
              </a:rPr>
              <a:t>Names / Tom이 담임 선생님께 말씀드린 것</a:t>
            </a:r>
          </a:p>
          <a:p>
            <a:pPr algn="l">
              <a:lnSpc>
                <a:spcPct val="105000"/>
              </a:lnSpc>
              <a:spcBef>
                <a:spcPts val="0"/>
              </a:spcBef>
              <a:spcAft>
                <a:spcPts val="100"/>
              </a:spcAft>
            </a:pPr>
            <a:r>
              <a:rPr sz="1200" b="0" i="1">
                <a:solidFill>
                  <a:srgbClr val="555555"/>
                </a:solidFill>
                <a:latin typeface="맑은 고딕"/>
              </a:rPr>
              <a:t>Andy: 수학 숙제를 끝마쳤음 (finish)</a:t>
            </a:r>
          </a:p>
          <a:p>
            <a:pPr algn="l">
              <a:lnSpc>
                <a:spcPct val="105000"/>
              </a:lnSpc>
              <a:spcBef>
                <a:spcPts val="0"/>
              </a:spcBef>
              <a:spcAft>
                <a:spcPts val="100"/>
              </a:spcAft>
            </a:pPr>
            <a:r>
              <a:rPr sz="1200" b="0" i="1">
                <a:solidFill>
                  <a:srgbClr val="555555"/>
                </a:solidFill>
                <a:latin typeface="맑은 고딕"/>
              </a:rPr>
              <a:t>Mina: 바닥 청소를 해 놓았음 (clean)</a:t>
            </a:r>
          </a:p>
          <a:p>
            <a:pPr algn="l">
              <a:lnSpc>
                <a:spcPct val="105000"/>
              </a:lnSpc>
              <a:spcBef>
                <a:spcPts val="0"/>
              </a:spcBef>
              <a:spcAft>
                <a:spcPts val="100"/>
              </a:spcAft>
            </a:pPr>
            <a:r>
              <a:rPr sz="1200" b="0" i="1">
                <a:solidFill>
                  <a:srgbClr val="555555"/>
                </a:solidFill>
                <a:latin typeface="맑은 고딕"/>
              </a:rPr>
              <a:t>Sora: 우유를 사왔음 (buy)</a:t>
            </a:r>
          </a:p>
          <a:p>
            <a:pPr algn="l">
              <a:lnSpc>
                <a:spcPct val="105000"/>
              </a:lnSpc>
              <a:spcBef>
                <a:spcPts val="0"/>
              </a:spcBef>
              <a:spcAft>
                <a:spcPts val="100"/>
              </a:spcAft>
            </a:pPr>
            <a:r>
              <a:rPr sz="1200" b="0" i="1">
                <a:solidFill>
                  <a:srgbClr val="555555"/>
                </a:solidFill>
                <a:latin typeface="맑은 고딕"/>
              </a:rPr>
              <a:t>Jane: 결석함 (come)</a:t>
            </a:r>
          </a:p>
          <a:p>
            <a:pPr algn="l">
              <a:lnSpc>
                <a:spcPct val="105000"/>
              </a:lnSpc>
              <a:spcBef>
                <a:spcPts val="0"/>
              </a:spcBef>
              <a:spcAft>
                <a:spcPts val="100"/>
              </a:spcAft>
            </a:pPr>
            <a:r>
              <a:rPr sz="1200" b="0" i="1">
                <a:solidFill>
                  <a:srgbClr val="555555"/>
                </a:solidFill>
                <a:latin typeface="맑은 고딕"/>
              </a:rPr>
              <a:t>&lt;조건&gt;</a:t>
            </a:r>
          </a:p>
          <a:p>
            <a:pPr algn="l">
              <a:lnSpc>
                <a:spcPct val="105000"/>
              </a:lnSpc>
              <a:spcBef>
                <a:spcPts val="0"/>
              </a:spcBef>
              <a:spcAft>
                <a:spcPts val="100"/>
              </a:spcAft>
            </a:pPr>
            <a:r>
              <a:rPr sz="1200" b="0" i="1">
                <a:solidFill>
                  <a:srgbClr val="555555"/>
                </a:solidFill>
                <a:latin typeface="맑은 고딕"/>
              </a:rPr>
              <a:t>1. 과거완료 시제를 사용할 것</a:t>
            </a:r>
          </a:p>
          <a:p>
            <a:pPr algn="l">
              <a:lnSpc>
                <a:spcPct val="105000"/>
              </a:lnSpc>
              <a:spcBef>
                <a:spcPts val="0"/>
              </a:spcBef>
              <a:spcAft>
                <a:spcPts val="100"/>
              </a:spcAft>
            </a:pPr>
            <a:r>
              <a:rPr sz="1200" b="0" i="1">
                <a:solidFill>
                  <a:srgbClr val="555555"/>
                </a:solidFill>
                <a:latin typeface="맑은 고딕"/>
              </a:rPr>
              <a:t>2. 괄호 안의 동사를 적절히 변형하여 사용할 것</a:t>
            </a:r>
          </a:p>
          <a:p>
            <a:pPr algn="l">
              <a:lnSpc>
                <a:spcPct val="105000"/>
              </a:lnSpc>
              <a:spcBef>
                <a:spcPts val="0"/>
              </a:spcBef>
              <a:spcAft>
                <a:spcPts val="100"/>
              </a:spcAft>
            </a:pPr>
            <a:r>
              <a:rPr sz="1200" b="0" i="1">
                <a:solidFill>
                  <a:srgbClr val="555555"/>
                </a:solidFill>
                <a:latin typeface="맑은 고딕"/>
              </a:rPr>
              <a:t> </a:t>
            </a:r>
          </a:p>
          <a:p>
            <a:pPr algn="l">
              <a:lnSpc>
                <a:spcPct val="105000"/>
              </a:lnSpc>
              <a:spcBef>
                <a:spcPts val="0"/>
              </a:spcBef>
              <a:spcAft>
                <a:spcPts val="100"/>
              </a:spcAft>
            </a:pPr>
            <a:r>
              <a:rPr sz="1200" b="0" i="1">
                <a:solidFill>
                  <a:srgbClr val="555555"/>
                </a:solidFill>
                <a:latin typeface="맑은 고딕"/>
              </a:rPr>
              <a:t>This morning Tom told our homeroom teacher about what had happened when our music teacher came into our classroom last Friday.</a:t>
            </a:r>
          </a:p>
          <a:p>
            <a:pPr algn="l">
              <a:lnSpc>
                <a:spcPct val="105000"/>
              </a:lnSpc>
              <a:spcBef>
                <a:spcPts val="0"/>
              </a:spcBef>
              <a:spcAft>
                <a:spcPts val="100"/>
              </a:spcAft>
            </a:pPr>
            <a:r>
              <a:rPr sz="1200" b="0" i="1">
                <a:solidFill>
                  <a:srgbClr val="555555"/>
                </a:solidFill>
                <a:latin typeface="맑은 고딕"/>
              </a:rPr>
              <a:t>Tom said that Andy (A)______ and Mina (B)______. Tom also said that Sora (C)______. And he said that Jane (D)______.</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500" b="1" i="0">
                <a:solidFill>
                  <a:srgbClr val="222222"/>
                </a:solidFill>
                <a:latin typeface="맑은 고딕"/>
              </a:rPr>
              <a:t>다음 표는 Tom이 담임 선생님께 상황을 말씀드린 내용을 정리한 것이다. 표의 내용과 &lt;조건&gt;에 맞게 빈칸을 채워 글을 완성하시오.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(A) had finished (his) math homework (B) had cleaned the floor (C) had bought milk (D) hadn't come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대과거의 일을 나타내는 과거완료(had p.p.) 시제를 이용하여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leave  finish  forget</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A: Did you enjoy the film yesterday?</a:t>
            </a:r>
          </a:p>
          <a:p>
            <a:pPr algn="l">
              <a:lnSpc>
                <a:spcPct val="105000"/>
              </a:lnSpc>
              <a:spcBef>
                <a:spcPts val="0"/>
              </a:spcBef>
              <a:spcAft>
                <a:spcPts val="100"/>
              </a:spcAft>
            </a:pPr>
            <a:r>
              <a:rPr sz="1500" b="0" i="1">
                <a:solidFill>
                  <a:srgbClr val="555555"/>
                </a:solidFill>
                <a:latin typeface="맑은 고딕"/>
              </a:rPr>
              <a:t>B: Well, it's a long story. I got on the bus, but I found out that I (1)______ ______ my wallet at home.</a:t>
            </a:r>
          </a:p>
          <a:p>
            <a:pPr algn="l">
              <a:lnSpc>
                <a:spcPct val="105000"/>
              </a:lnSpc>
              <a:spcBef>
                <a:spcPts val="0"/>
              </a:spcBef>
              <a:spcAft>
                <a:spcPts val="100"/>
              </a:spcAft>
            </a:pPr>
            <a:r>
              <a:rPr sz="1500" b="0" i="1">
                <a:solidFill>
                  <a:srgbClr val="555555"/>
                </a:solidFill>
                <a:latin typeface="맑은 고딕"/>
              </a:rPr>
              <a:t>A: Did you run back home?</a:t>
            </a:r>
          </a:p>
          <a:p>
            <a:pPr algn="l">
              <a:lnSpc>
                <a:spcPct val="105000"/>
              </a:lnSpc>
              <a:spcBef>
                <a:spcPts val="0"/>
              </a:spcBef>
              <a:spcAft>
                <a:spcPts val="100"/>
              </a:spcAft>
            </a:pPr>
            <a:r>
              <a:rPr sz="1500" b="0" i="1">
                <a:solidFill>
                  <a:srgbClr val="555555"/>
                </a:solidFill>
                <a:latin typeface="맑은 고딕"/>
              </a:rPr>
              <a:t>B: Yes, I did, but I couldn't get in because I (2)______ ______ my key.</a:t>
            </a:r>
          </a:p>
          <a:p>
            <a:pPr algn="l">
              <a:lnSpc>
                <a:spcPct val="105000"/>
              </a:lnSpc>
              <a:spcBef>
                <a:spcPts val="0"/>
              </a:spcBef>
              <a:spcAft>
                <a:spcPts val="100"/>
              </a:spcAft>
            </a:pPr>
            <a:r>
              <a:rPr sz="1500" b="0" i="1">
                <a:solidFill>
                  <a:srgbClr val="555555"/>
                </a:solidFill>
                <a:latin typeface="맑은 고딕"/>
              </a:rPr>
              <a:t>A: So what did you do?</a:t>
            </a:r>
          </a:p>
          <a:p>
            <a:pPr algn="l">
              <a:lnSpc>
                <a:spcPct val="105000"/>
              </a:lnSpc>
              <a:spcBef>
                <a:spcPts val="0"/>
              </a:spcBef>
              <a:spcAft>
                <a:spcPts val="100"/>
              </a:spcAft>
            </a:pPr>
            <a:r>
              <a:rPr sz="1500" b="0" i="1">
                <a:solidFill>
                  <a:srgbClr val="555555"/>
                </a:solidFill>
                <a:latin typeface="맑은 고딕"/>
              </a:rPr>
              <a:t>B: I walked to the theater. But when I got there, the film (3)______ already ______.</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문장을 완성하시오.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had left (2) had forgotten (3) had, finished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과거 시점보다 먼저 일어난 일이므로 과거완료(had p.p.)를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have, to, stop, already, look, leave, be, start, use, arrive, forget, of</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Last Friday, I went on a date with my boyfriend at the bookstore. ... In the afternoon, it was raining hard. I (1)______ late because of a heavy traffic jam. When I got to the bookstore, he (2)______. Thankfully he wasn't angry and smiled at me. I found some books that I wanted to buy. Unfortunately for me, when I (3)______ in my pocket, I discovered that I (4)______ my wallet at home. With some shame, I told him that I (5)______ my wallet. He kindly paid my part of the bill for me.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&lt;보기&gt;에 주어진 단어를 사용하여 글의 시간의 순서에 맞게 빈칸을 완성하시오. (단, 단어 형태 변형 가능, 중복 사용 가능)</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(1) was (2) had already arrived (3) looked (4) had left (5) had forgotten</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(1)(3) 과거의 일 → 과거시제. (2)(4)(5) 기준 과거 시점보다 먼저 일어난 일 → 과거완료.</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P1 · 88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300" b="0" i="1">
                <a:solidFill>
                  <a:srgbClr val="555555"/>
                </a:solidFill>
                <a:latin typeface="맑은 고딕"/>
              </a:rPr>
              <a:t>&lt;보기&gt;</a:t>
            </a:r>
          </a:p>
          <a:p>
            <a:pPr algn="l">
              <a:lnSpc>
                <a:spcPct val="105000"/>
              </a:lnSpc>
              <a:spcBef>
                <a:spcPts val="0"/>
              </a:spcBef>
              <a:spcAft>
                <a:spcPts val="100"/>
              </a:spcAft>
            </a:pPr>
            <a:r>
              <a:rPr sz="1300" b="0" i="1">
                <a:solidFill>
                  <a:srgbClr val="555555"/>
                </a:solidFill>
                <a:latin typeface="맑은 고딕"/>
              </a:rPr>
              <a:t>have  although  since  however  plan  move</a:t>
            </a:r>
          </a:p>
          <a:p>
            <a:pPr algn="l">
              <a:lnSpc>
                <a:spcPct val="105000"/>
              </a:lnSpc>
              <a:spcBef>
                <a:spcPts val="0"/>
              </a:spcBef>
              <a:spcAft>
                <a:spcPts val="100"/>
              </a:spcAft>
            </a:pPr>
            <a:r>
              <a:rPr sz="1300" b="0" i="1">
                <a:solidFill>
                  <a:srgbClr val="555555"/>
                </a:solidFill>
                <a:latin typeface="맑은 고딕"/>
              </a:rPr>
              <a:t> </a:t>
            </a:r>
          </a:p>
          <a:p>
            <a:pPr algn="l">
              <a:lnSpc>
                <a:spcPct val="105000"/>
              </a:lnSpc>
              <a:spcBef>
                <a:spcPts val="0"/>
              </a:spcBef>
              <a:spcAft>
                <a:spcPts val="100"/>
              </a:spcAft>
            </a:pPr>
            <a:r>
              <a:rPr sz="1300" b="0" i="1">
                <a:solidFill>
                  <a:srgbClr val="555555"/>
                </a:solidFill>
                <a:latin typeface="맑은 고딕"/>
              </a:rPr>
              <a:t>A: You look down today. What's wrong?</a:t>
            </a:r>
          </a:p>
          <a:p>
            <a:pPr algn="l">
              <a:lnSpc>
                <a:spcPct val="105000"/>
              </a:lnSpc>
              <a:spcBef>
                <a:spcPts val="0"/>
              </a:spcBef>
              <a:spcAft>
                <a:spcPts val="100"/>
              </a:spcAft>
            </a:pPr>
            <a:r>
              <a:rPr sz="1300" b="0" i="1">
                <a:solidFill>
                  <a:srgbClr val="555555"/>
                </a:solidFill>
                <a:latin typeface="맑은 고딕"/>
              </a:rPr>
              <a:t>B: I was supposed to meet my volunteer club at 8 o'clock at the bus stop. But I got up late (1)______ I had a bad cold.</a:t>
            </a:r>
          </a:p>
          <a:p>
            <a:pPr algn="l">
              <a:lnSpc>
                <a:spcPct val="105000"/>
              </a:lnSpc>
              <a:spcBef>
                <a:spcPts val="0"/>
              </a:spcBef>
              <a:spcAft>
                <a:spcPts val="100"/>
              </a:spcAft>
            </a:pPr>
            <a:r>
              <a:rPr sz="1300" b="0" i="1">
                <a:solidFill>
                  <a:srgbClr val="555555"/>
                </a:solidFill>
                <a:latin typeface="맑은 고딕"/>
              </a:rPr>
              <a:t>A: So did you go home?</a:t>
            </a:r>
          </a:p>
          <a:p>
            <a:pPr algn="l">
              <a:lnSpc>
                <a:spcPct val="105000"/>
              </a:lnSpc>
              <a:spcBef>
                <a:spcPts val="0"/>
              </a:spcBef>
              <a:spcAft>
                <a:spcPts val="100"/>
              </a:spcAft>
            </a:pPr>
            <a:r>
              <a:rPr sz="1300" b="0" i="1">
                <a:solidFill>
                  <a:srgbClr val="555555"/>
                </a:solidFill>
                <a:latin typeface="맑은 고딕"/>
              </a:rPr>
              <a:t>B: No. (2)______ I was late, I went to the place where we (3)______ ______ to do the volunteer work.</a:t>
            </a:r>
          </a:p>
          <a:p>
            <a:pPr algn="l">
              <a:lnSpc>
                <a:spcPct val="105000"/>
              </a:lnSpc>
              <a:spcBef>
                <a:spcPts val="0"/>
              </a:spcBef>
              <a:spcAft>
                <a:spcPts val="100"/>
              </a:spcAft>
            </a:pPr>
            <a:r>
              <a:rPr sz="1300" b="0" i="1">
                <a:solidFill>
                  <a:srgbClr val="555555"/>
                </a:solidFill>
                <a:latin typeface="맑은 고딕"/>
              </a:rPr>
              <a:t>A: Did you finally catch up with the volunteer work team there?</a:t>
            </a:r>
          </a:p>
          <a:p>
            <a:pPr algn="l">
              <a:lnSpc>
                <a:spcPct val="105000"/>
              </a:lnSpc>
              <a:spcBef>
                <a:spcPts val="0"/>
              </a:spcBef>
              <a:spcAft>
                <a:spcPts val="100"/>
              </a:spcAft>
            </a:pPr>
            <a:r>
              <a:rPr sz="1300" b="0" i="1">
                <a:solidFill>
                  <a:srgbClr val="555555"/>
                </a:solidFill>
                <a:latin typeface="맑은 고딕"/>
              </a:rPr>
              <a:t>B: No. My club (4)______ ______ to a different place before I got there.</a:t>
            </a:r>
          </a:p>
          <a:p>
            <a:pPr algn="l">
              <a:lnSpc>
                <a:spcPct val="105000"/>
              </a:lnSpc>
              <a:spcBef>
                <a:spcPts val="0"/>
              </a:spcBef>
              <a:spcAft>
                <a:spcPts val="100"/>
              </a:spcAft>
            </a:pPr>
            <a:r>
              <a:rPr sz="1300" b="0" i="1">
                <a:solidFill>
                  <a:srgbClr val="555555"/>
                </a:solidFill>
                <a:latin typeface="맑은 고딕"/>
              </a:rPr>
              <a:t>A: That's too bad.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600" b="1" i="0">
                <a:solidFill>
                  <a:srgbClr val="222222"/>
                </a:solidFill>
                <a:latin typeface="맑은 고딕"/>
              </a:rPr>
              <a:t>다음 &lt;보기&gt;에 주어진 단어를 골라 문장을 완성하시오. (단, 필요시 중복 사용, 형태 변형 가능)</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since (2) Although (3) had planned (4) had moved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이유 since, (2) 양보 Although. (3)(4) 과거 시점 이전의 일 → 과거완료.</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89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A: Is this the toy which you bought yesterday?</a:t>
            </a:r>
          </a:p>
          <a:p>
            <a:pPr algn="l">
              <a:lnSpc>
                <a:spcPct val="105000"/>
              </a:lnSpc>
              <a:spcBef>
                <a:spcPts val="0"/>
              </a:spcBef>
              <a:spcAft>
                <a:spcPts val="100"/>
              </a:spcAft>
            </a:pPr>
            <a:r>
              <a:rPr sz="1500" b="0" i="1">
                <a:solidFill>
                  <a:srgbClr val="555555"/>
                </a:solidFill>
                <a:latin typeface="맑은 고딕"/>
              </a:rPr>
              <a:t>B: Yes. This toy is (yesterday, what, bought, I).</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대화의 괄호 안의 단어를 바르게 배열하여 문장을 완성하시오.</a:t>
            </a:r>
          </a:p>
          <a:p>
            <a:pPr algn="l">
              <a:lnSpc>
                <a:spcPct val="105000"/>
              </a:lnSpc>
              <a:spcBef>
                <a:spcPts val="0"/>
              </a:spcBef>
              <a:spcAft>
                <a:spcPts val="200"/>
              </a:spcAft>
            </a:pPr>
            <a:r>
              <a:rPr sz="1800" b="1" i="0">
                <a:solidFill>
                  <a:srgbClr val="222222"/>
                </a:solidFill>
                <a:latin typeface="맑은 고딕"/>
              </a:rPr>
              <a:t>This toy is (yesterday, what, bought, I).</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bought yesterday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 = the thing which, be동사의 보어로 쓰인 명사절(~하는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A: Now, listen to (what, to, I, going, read, am).</a:t>
            </a:r>
          </a:p>
          <a:p>
            <a:pPr algn="l">
              <a:lnSpc>
                <a:spcPct val="105000"/>
              </a:lnSpc>
              <a:spcBef>
                <a:spcPts val="0"/>
              </a:spcBef>
              <a:spcAft>
                <a:spcPts val="100"/>
              </a:spcAft>
            </a:pPr>
            <a:r>
              <a:rPr sz="1500" b="0" i="1">
                <a:solidFill>
                  <a:srgbClr val="555555"/>
                </a:solidFill>
                <a:latin typeface="맑은 고딕"/>
              </a:rPr>
              <a:t>B: Okay.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대화의 괄호 안의 단어를 바르게 배열하여 문장을 완성하시오.</a:t>
            </a:r>
          </a:p>
          <a:p>
            <a:pPr algn="l">
              <a:lnSpc>
                <a:spcPct val="105000"/>
              </a:lnSpc>
              <a:spcBef>
                <a:spcPts val="0"/>
              </a:spcBef>
              <a:spcAft>
                <a:spcPts val="200"/>
              </a:spcAft>
            </a:pPr>
            <a:r>
              <a:rPr sz="1800" b="1" i="0">
                <a:solidFill>
                  <a:srgbClr val="222222"/>
                </a:solidFill>
                <a:latin typeface="맑은 고딕"/>
              </a:rPr>
              <a:t>Now, listen to (what, to, I, going, read, am).</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am going to read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전치사 to의 목적어로 쓰인 what절(내가 읽을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문장의 의미가 같도록 빈칸에 알맞은 말을 쓰시오.</a:t>
            </a:r>
          </a:p>
          <a:p>
            <a:pPr algn="l">
              <a:lnSpc>
                <a:spcPct val="105000"/>
              </a:lnSpc>
              <a:spcBef>
                <a:spcPts val="0"/>
              </a:spcBef>
              <a:spcAft>
                <a:spcPts val="200"/>
              </a:spcAft>
            </a:pPr>
            <a:r>
              <a:rPr sz="1800" b="1" i="0">
                <a:solidFill>
                  <a:srgbClr val="222222"/>
                </a:solidFill>
                <a:latin typeface="맑은 고딕"/>
              </a:rPr>
              <a:t>I love the book that you gave me yesterday.</a:t>
            </a:r>
          </a:p>
          <a:p>
            <a:pPr algn="l">
              <a:lnSpc>
                <a:spcPct val="105000"/>
              </a:lnSpc>
              <a:spcBef>
                <a:spcPts val="0"/>
              </a:spcBef>
              <a:spcAft>
                <a:spcPts val="200"/>
              </a:spcAft>
            </a:pPr>
            <a:r>
              <a:rPr sz="1800" b="1" i="0">
                <a:solidFill>
                  <a:srgbClr val="222222"/>
                </a:solidFill>
                <a:latin typeface="맑은 고딕"/>
              </a:rPr>
              <a:t>→ I love ______ you gave me yesterday.</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the thing that → what (선행사 포함 관계대명사).</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문장의 의미가 같도록 빈칸에 알맞은 말을 쓰시오.</a:t>
            </a:r>
          </a:p>
          <a:p>
            <a:pPr algn="l">
              <a:lnSpc>
                <a:spcPct val="105000"/>
              </a:lnSpc>
              <a:spcBef>
                <a:spcPts val="0"/>
              </a:spcBef>
              <a:spcAft>
                <a:spcPts val="200"/>
              </a:spcAft>
            </a:pPr>
            <a:r>
              <a:rPr sz="1800" b="1" i="0">
                <a:solidFill>
                  <a:srgbClr val="222222"/>
                </a:solidFill>
                <a:latin typeface="맑은 고딕"/>
              </a:rPr>
              <a:t>The thing that you told me was incredible.</a:t>
            </a:r>
          </a:p>
          <a:p>
            <a:pPr algn="l">
              <a:lnSpc>
                <a:spcPct val="105000"/>
              </a:lnSpc>
              <a:spcBef>
                <a:spcPts val="0"/>
              </a:spcBef>
              <a:spcAft>
                <a:spcPts val="200"/>
              </a:spcAft>
            </a:pPr>
            <a:r>
              <a:rPr sz="1800" b="1" i="0">
                <a:solidFill>
                  <a:srgbClr val="222222"/>
                </a:solidFill>
                <a:latin typeface="맑은 고딕"/>
              </a:rPr>
              <a:t>→ ______ ______ ______ ______ was incredible.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 told 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The thing that = What, 주어 자리의 what절.</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두 문장의 의미가 같도록 빈칸에 알맞은 말을 쓰시오.</a:t>
            </a:r>
          </a:p>
          <a:p>
            <a:pPr algn="l">
              <a:lnSpc>
                <a:spcPct val="105000"/>
              </a:lnSpc>
              <a:spcBef>
                <a:spcPts val="0"/>
              </a:spcBef>
              <a:spcAft>
                <a:spcPts val="200"/>
              </a:spcAft>
            </a:pPr>
            <a:r>
              <a:rPr sz="1800" b="1" i="0">
                <a:solidFill>
                  <a:srgbClr val="222222"/>
                </a:solidFill>
                <a:latin typeface="맑은 고딕"/>
              </a:rPr>
              <a:t>Tell me the thing that you want to eat.</a:t>
            </a:r>
          </a:p>
          <a:p>
            <a:pPr algn="l">
              <a:lnSpc>
                <a:spcPct val="105000"/>
              </a:lnSpc>
              <a:spcBef>
                <a:spcPts val="0"/>
              </a:spcBef>
              <a:spcAft>
                <a:spcPts val="200"/>
              </a:spcAft>
            </a:pPr>
            <a:r>
              <a:rPr sz="1800" b="1" i="0">
                <a:solidFill>
                  <a:srgbClr val="222222"/>
                </a:solidFill>
                <a:latin typeface="맑은 고딕"/>
              </a:rPr>
              <a:t>→ Tell me ______ ______ ______ ______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 want to eat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the thing that = what, 목적어 자리의 what절.</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문장을 우리말로 해석하시오.</a:t>
            </a:r>
          </a:p>
          <a:p>
            <a:pPr algn="l">
              <a:lnSpc>
                <a:spcPct val="105000"/>
              </a:lnSpc>
              <a:spcBef>
                <a:spcPts val="0"/>
              </a:spcBef>
              <a:spcAft>
                <a:spcPts val="200"/>
              </a:spcAft>
            </a:pPr>
            <a:r>
              <a:rPr sz="1800" b="1" i="0">
                <a:solidFill>
                  <a:srgbClr val="222222"/>
                </a:solidFill>
                <a:latin typeface="맑은 고딕"/>
              </a:rPr>
              <a:t>What I really need is your help.</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내가 정말 필요한 것은 너의 도움이다.</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What절이 주어(~하는 것은).</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문장을 우리말로 해석하시오.</a:t>
            </a:r>
          </a:p>
          <a:p>
            <a:pPr algn="l">
              <a:lnSpc>
                <a:spcPct val="105000"/>
              </a:lnSpc>
              <a:spcBef>
                <a:spcPts val="0"/>
              </a:spcBef>
              <a:spcAft>
                <a:spcPts val="200"/>
              </a:spcAft>
            </a:pPr>
            <a:r>
              <a:rPr sz="1800" b="1" i="0">
                <a:solidFill>
                  <a:srgbClr val="222222"/>
                </a:solidFill>
                <a:latin typeface="맑은 고딕"/>
              </a:rPr>
              <a:t>This is all that I have.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이것은 내가 가진 전부이다.</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all that ~ = ~한 모든 것(that은 관계대명사).</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문장을 우리말로 해석하시오.</a:t>
            </a:r>
          </a:p>
          <a:p>
            <a:pPr algn="l">
              <a:lnSpc>
                <a:spcPct val="105000"/>
              </a:lnSpc>
              <a:spcBef>
                <a:spcPts val="0"/>
              </a:spcBef>
              <a:spcAft>
                <a:spcPts val="200"/>
              </a:spcAft>
            </a:pPr>
            <a:r>
              <a:rPr sz="1800" b="1" i="0">
                <a:solidFill>
                  <a:srgbClr val="222222"/>
                </a:solidFill>
                <a:latin typeface="맑은 고딕"/>
              </a:rPr>
              <a:t>That's what I want to know.</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그것이 내가 알고 싶어 하는 것이다.</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what절이 보어(~하는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09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Tom: What did you say?</a:t>
            </a:r>
          </a:p>
          <a:p>
            <a:pPr algn="l">
              <a:lnSpc>
                <a:spcPct val="105000"/>
              </a:lnSpc>
              <a:spcBef>
                <a:spcPts val="0"/>
              </a:spcBef>
              <a:spcAft>
                <a:spcPts val="100"/>
              </a:spcAft>
            </a:pPr>
            <a:r>
              <a:rPr sz="1500" b="0" i="1">
                <a:solidFill>
                  <a:srgbClr val="555555"/>
                </a:solidFill>
                <a:latin typeface="맑은 고딕"/>
              </a:rPr>
              <a:t>Tina: Oh, you didn't hear me.</a:t>
            </a:r>
          </a:p>
          <a:p>
            <a:pPr algn="l">
              <a:lnSpc>
                <a:spcPct val="105000"/>
              </a:lnSpc>
              <a:spcBef>
                <a:spcPts val="0"/>
              </a:spcBef>
              <a:spcAft>
                <a:spcPts val="100"/>
              </a:spcAft>
            </a:pPr>
            <a:r>
              <a:rPr sz="1500" b="0" i="1">
                <a:solidFill>
                  <a:srgbClr val="555555"/>
                </a:solidFill>
                <a:latin typeface="맑은 고딕"/>
              </a:rPr>
              <a:t>→ Tom didn't hear what Tina said.</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Tony: Is this yours?</a:t>
            </a:r>
          </a:p>
          <a:p>
            <a:pPr algn="l">
              <a:lnSpc>
                <a:spcPct val="105000"/>
              </a:lnSpc>
              <a:spcBef>
                <a:spcPts val="0"/>
              </a:spcBef>
              <a:spcAft>
                <a:spcPts val="100"/>
              </a:spcAft>
            </a:pPr>
            <a:r>
              <a:rPr sz="1500" b="0" i="1">
                <a:solidFill>
                  <a:srgbClr val="555555"/>
                </a:solidFill>
                <a:latin typeface="맑은 고딕"/>
              </a:rPr>
              <a:t>Kate: Oh, yes. I was looking for it. Thanks.</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빈칸에 알맞은 말을 넣어 문장을 완성하시오.</a:t>
            </a:r>
          </a:p>
          <a:p>
            <a:pPr algn="l">
              <a:lnSpc>
                <a:spcPct val="105000"/>
              </a:lnSpc>
              <a:spcBef>
                <a:spcPts val="0"/>
              </a:spcBef>
              <a:spcAft>
                <a:spcPts val="200"/>
              </a:spcAft>
            </a:pPr>
            <a:r>
              <a:rPr sz="1800" b="1" i="0">
                <a:solidFill>
                  <a:srgbClr val="222222"/>
                </a:solidFill>
                <a:latin typeface="맑은 고딕"/>
              </a:rPr>
              <a:t>→ Tony found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Kate was looking for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found의 목적어로 what절(Kate가 찾던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Tom: What did you say?</a:t>
            </a:r>
          </a:p>
          <a:p>
            <a:pPr algn="l">
              <a:lnSpc>
                <a:spcPct val="105000"/>
              </a:lnSpc>
              <a:spcBef>
                <a:spcPts val="0"/>
              </a:spcBef>
              <a:spcAft>
                <a:spcPts val="100"/>
              </a:spcAft>
            </a:pPr>
            <a:r>
              <a:rPr sz="1500" b="0" i="1">
                <a:solidFill>
                  <a:srgbClr val="555555"/>
                </a:solidFill>
                <a:latin typeface="맑은 고딕"/>
              </a:rPr>
              <a:t>Tina: Oh, you didn't hear me.</a:t>
            </a:r>
          </a:p>
          <a:p>
            <a:pPr algn="l">
              <a:lnSpc>
                <a:spcPct val="105000"/>
              </a:lnSpc>
              <a:spcBef>
                <a:spcPts val="0"/>
              </a:spcBef>
              <a:spcAft>
                <a:spcPts val="100"/>
              </a:spcAft>
            </a:pPr>
            <a:r>
              <a:rPr sz="1500" b="0" i="1">
                <a:solidFill>
                  <a:srgbClr val="555555"/>
                </a:solidFill>
                <a:latin typeface="맑은 고딕"/>
              </a:rPr>
              <a:t>→ Tom didn't hear what Tina said.</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Sujin: What do you want?</a:t>
            </a:r>
          </a:p>
          <a:p>
            <a:pPr algn="l">
              <a:lnSpc>
                <a:spcPct val="105000"/>
              </a:lnSpc>
              <a:spcBef>
                <a:spcPts val="0"/>
              </a:spcBef>
              <a:spcAft>
                <a:spcPts val="100"/>
              </a:spcAft>
            </a:pPr>
            <a:r>
              <a:rPr sz="1500" b="0" i="1">
                <a:solidFill>
                  <a:srgbClr val="555555"/>
                </a:solidFill>
                <a:latin typeface="맑은 고딕"/>
              </a:rPr>
              <a:t>Mike: I want a piece of cake, please.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빈칸에 알맞은 말을 넣어 문장을 완성하시오.</a:t>
            </a:r>
          </a:p>
          <a:p>
            <a:pPr algn="l">
              <a:lnSpc>
                <a:spcPct val="105000"/>
              </a:lnSpc>
              <a:spcBef>
                <a:spcPts val="0"/>
              </a:spcBef>
              <a:spcAft>
                <a:spcPts val="200"/>
              </a:spcAft>
            </a:pPr>
            <a:r>
              <a:rPr sz="1800" b="1" i="0">
                <a:solidFill>
                  <a:srgbClr val="222222"/>
                </a:solidFill>
                <a:latin typeface="맑은 고딕"/>
              </a:rPr>
              <a:t>→ ______ is a piece of cake.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Mike wants</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 what절, 3인칭 단수 wants.</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99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do / sleep</a:t>
            </a:r>
          </a:p>
          <a:p>
            <a:pPr algn="l">
              <a:lnSpc>
                <a:spcPct val="105000"/>
              </a:lnSpc>
              <a:spcBef>
                <a:spcPts val="0"/>
              </a:spcBef>
              <a:spcAft>
                <a:spcPts val="100"/>
              </a:spcAft>
            </a:pPr>
            <a:r>
              <a:rPr sz="1500" b="0" i="1">
                <a:solidFill>
                  <a:srgbClr val="555555"/>
                </a:solidFill>
                <a:latin typeface="맑은 고딕"/>
              </a:rPr>
              <a:t>→ What Amy wants to do is to sleep.</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Amy가 원하는 것을 완전한 문장으로 쓰시오.</a:t>
            </a:r>
          </a:p>
          <a:p>
            <a:pPr algn="l">
              <a:lnSpc>
                <a:spcPct val="105000"/>
              </a:lnSpc>
              <a:spcBef>
                <a:spcPts val="0"/>
              </a:spcBef>
              <a:spcAft>
                <a:spcPts val="200"/>
              </a:spcAft>
            </a:pPr>
            <a:r>
              <a:rPr sz="1800" b="1" i="0">
                <a:solidFill>
                  <a:srgbClr val="222222"/>
                </a:solidFill>
                <a:latin typeface="맑은 고딕"/>
              </a:rPr>
              <a:t>eat / some ice cream</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Amy wants to eat is some ice cream.</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What절(주어) + is + 보어 구조, what절은 단수 취급.</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do / sleep</a:t>
            </a:r>
          </a:p>
          <a:p>
            <a:pPr algn="l">
              <a:lnSpc>
                <a:spcPct val="105000"/>
              </a:lnSpc>
              <a:spcBef>
                <a:spcPts val="0"/>
              </a:spcBef>
              <a:spcAft>
                <a:spcPts val="100"/>
              </a:spcAft>
            </a:pPr>
            <a:r>
              <a:rPr sz="1500" b="0" i="1">
                <a:solidFill>
                  <a:srgbClr val="555555"/>
                </a:solidFill>
                <a:latin typeface="맑은 고딕"/>
              </a:rPr>
              <a:t>→ What Amy wants to do is to sleep.</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Amy가 원하는 것을 완전한 문장으로 쓰시오.</a:t>
            </a:r>
          </a:p>
          <a:p>
            <a:pPr algn="l">
              <a:lnSpc>
                <a:spcPct val="105000"/>
              </a:lnSpc>
              <a:spcBef>
                <a:spcPts val="0"/>
              </a:spcBef>
              <a:spcAft>
                <a:spcPts val="200"/>
              </a:spcAft>
            </a:pPr>
            <a:r>
              <a:rPr sz="1800" b="1" i="0">
                <a:solidFill>
                  <a:srgbClr val="222222"/>
                </a:solidFill>
                <a:latin typeface="맑은 고딕"/>
              </a:rPr>
              <a:t>buy / a nice camera</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Amy wants to buy is a nice camera.</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What절(주어) + is + 보어 구조, what절은 단수 취급.</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do / sleep</a:t>
            </a:r>
          </a:p>
          <a:p>
            <a:pPr algn="l">
              <a:lnSpc>
                <a:spcPct val="105000"/>
              </a:lnSpc>
              <a:spcBef>
                <a:spcPts val="0"/>
              </a:spcBef>
              <a:spcAft>
                <a:spcPts val="100"/>
              </a:spcAft>
            </a:pPr>
            <a:r>
              <a:rPr sz="1500" b="0" i="1">
                <a:solidFill>
                  <a:srgbClr val="555555"/>
                </a:solidFill>
                <a:latin typeface="맑은 고딕"/>
              </a:rPr>
              <a:t>→ What Amy wants to do is to sleep.</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Amy가 원하는 것을 완전한 문장으로 쓰시오.</a:t>
            </a:r>
          </a:p>
          <a:p>
            <a:pPr algn="l">
              <a:lnSpc>
                <a:spcPct val="105000"/>
              </a:lnSpc>
              <a:spcBef>
                <a:spcPts val="0"/>
              </a:spcBef>
              <a:spcAft>
                <a:spcPts val="200"/>
              </a:spcAft>
            </a:pPr>
            <a:r>
              <a:rPr sz="1800" b="1" i="0">
                <a:solidFill>
                  <a:srgbClr val="222222"/>
                </a:solidFill>
                <a:latin typeface="맑은 고딕"/>
              </a:rPr>
              <a:t>see / Iron Man 3</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Amy wants to see is Iron Man 3.</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What절(주어) + is + 보어 구조, what절은 단수 취급.</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The costume that John is wearing looks like Superman's.</a:t>
            </a:r>
          </a:p>
          <a:p>
            <a:pPr algn="l">
              <a:lnSpc>
                <a:spcPct val="105000"/>
              </a:lnSpc>
              <a:spcBef>
                <a:spcPts val="0"/>
              </a:spcBef>
              <a:spcAft>
                <a:spcPts val="100"/>
              </a:spcAft>
            </a:pPr>
            <a:r>
              <a:rPr sz="1500" b="0" i="1">
                <a:solidFill>
                  <a:srgbClr val="555555"/>
                </a:solidFill>
                <a:latin typeface="맑은 고딕"/>
              </a:rPr>
              <a:t>→ What John looks like is Superman.</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인물의 모습을 묘사하는 문장을 쓰시오.</a:t>
            </a:r>
          </a:p>
          <a:p>
            <a:pPr algn="l">
              <a:lnSpc>
                <a:spcPct val="105000"/>
              </a:lnSpc>
              <a:spcBef>
                <a:spcPts val="0"/>
              </a:spcBef>
              <a:spcAft>
                <a:spcPts val="200"/>
              </a:spcAft>
            </a:pPr>
            <a:r>
              <a:rPr sz="1800" b="1" i="0">
                <a:solidFill>
                  <a:srgbClr val="222222"/>
                </a:solidFill>
                <a:latin typeface="맑은 고딕"/>
              </a:rPr>
              <a:t>Jack is holding a bag which is full of sweets.</a:t>
            </a:r>
          </a:p>
          <a:p>
            <a:pPr algn="l">
              <a:lnSpc>
                <a:spcPct val="105000"/>
              </a:lnSpc>
              <a:spcBef>
                <a:spcPts val="0"/>
              </a:spcBef>
              <a:spcAft>
                <a:spcPts val="200"/>
              </a:spcAft>
            </a:pPr>
            <a:r>
              <a:rPr sz="1800" b="1" i="0">
                <a:solidFill>
                  <a:srgbClr val="222222"/>
                </a:solidFill>
                <a:latin typeface="맑은 고딕"/>
              </a:rPr>
              <a:t>→ ______ is a bag full of sweets.</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Jack is holding</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 what절(Jack이 들고 있는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I want to get a cool bike for my birthday.</a:t>
            </a:r>
          </a:p>
          <a:p>
            <a:pPr algn="l">
              <a:lnSpc>
                <a:spcPct val="105000"/>
              </a:lnSpc>
              <a:spcBef>
                <a:spcPts val="0"/>
              </a:spcBef>
              <a:spcAft>
                <a:spcPts val="100"/>
              </a:spcAft>
            </a:pPr>
            <a:r>
              <a:rPr sz="1500" b="0" i="1">
                <a:solidFill>
                  <a:srgbClr val="555555"/>
                </a:solidFill>
                <a:latin typeface="맑은 고딕"/>
              </a:rPr>
              <a:t>→ A cool bike is what I want to get for my birthday.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주어진 문장과 같은 의미가 되도록 what을 사용하여 문장을 완성하시오.</a:t>
            </a:r>
          </a:p>
          <a:p>
            <a:pPr algn="l">
              <a:lnSpc>
                <a:spcPct val="105000"/>
              </a:lnSpc>
              <a:spcBef>
                <a:spcPts val="0"/>
              </a:spcBef>
              <a:spcAft>
                <a:spcPts val="200"/>
              </a:spcAft>
            </a:pPr>
            <a:r>
              <a:rPr sz="1800" b="1" i="0">
                <a:solidFill>
                  <a:srgbClr val="222222"/>
                </a:solidFill>
                <a:latin typeface="맑은 고딕"/>
              </a:rPr>
              <a:t>I bought a computer last Sunday.</a:t>
            </a:r>
          </a:p>
          <a:p>
            <a:pPr algn="l">
              <a:lnSpc>
                <a:spcPct val="105000"/>
              </a:lnSpc>
              <a:spcBef>
                <a:spcPts val="0"/>
              </a:spcBef>
              <a:spcAft>
                <a:spcPts val="200"/>
              </a:spcAft>
            </a:pPr>
            <a:r>
              <a:rPr sz="1800" b="1" i="0">
                <a:solidFill>
                  <a:srgbClr val="222222"/>
                </a:solidFill>
                <a:latin typeface="맑은 고딕"/>
              </a:rPr>
              <a:t>→ A computer is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bought last Sunday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보어 자리 what절.</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I want to get a cool bike for my birthday.</a:t>
            </a:r>
          </a:p>
          <a:p>
            <a:pPr algn="l">
              <a:lnSpc>
                <a:spcPct val="105000"/>
              </a:lnSpc>
              <a:spcBef>
                <a:spcPts val="0"/>
              </a:spcBef>
              <a:spcAft>
                <a:spcPts val="100"/>
              </a:spcAft>
            </a:pPr>
            <a:r>
              <a:rPr sz="1500" b="0" i="1">
                <a:solidFill>
                  <a:srgbClr val="555555"/>
                </a:solidFill>
                <a:latin typeface="맑은 고딕"/>
              </a:rPr>
              <a:t>→ A cool bike is what I want to get for my birthday.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주어진 문장과 같은 의미가 되도록 what을 사용하여 문장을 완성하시오.</a:t>
            </a:r>
          </a:p>
          <a:p>
            <a:pPr algn="l">
              <a:lnSpc>
                <a:spcPct val="105000"/>
              </a:lnSpc>
              <a:spcBef>
                <a:spcPts val="0"/>
              </a:spcBef>
              <a:spcAft>
                <a:spcPts val="200"/>
              </a:spcAft>
            </a:pPr>
            <a:r>
              <a:rPr sz="1800" b="1" i="0">
                <a:solidFill>
                  <a:srgbClr val="222222"/>
                </a:solidFill>
                <a:latin typeface="맑은 고딕"/>
              </a:rPr>
              <a:t>My mom said to me yesterday, "I am proud of you."</a:t>
            </a:r>
          </a:p>
          <a:p>
            <a:pPr algn="l">
              <a:lnSpc>
                <a:spcPct val="105000"/>
              </a:lnSpc>
              <a:spcBef>
                <a:spcPts val="0"/>
              </a:spcBef>
              <a:spcAft>
                <a:spcPts val="200"/>
              </a:spcAft>
            </a:pPr>
            <a:r>
              <a:rPr sz="1800" b="1" i="0">
                <a:solidFill>
                  <a:srgbClr val="222222"/>
                </a:solidFill>
                <a:latin typeface="맑은 고딕"/>
              </a:rPr>
              <a:t>→ "I am proud of you," is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my mom said to me yesterday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보어 자리 what절(엄마가 말한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I want to get a cool bike for my birthday.</a:t>
            </a:r>
          </a:p>
          <a:p>
            <a:pPr algn="l">
              <a:lnSpc>
                <a:spcPct val="105000"/>
              </a:lnSpc>
              <a:spcBef>
                <a:spcPts val="0"/>
              </a:spcBef>
              <a:spcAft>
                <a:spcPts val="100"/>
              </a:spcAft>
            </a:pPr>
            <a:r>
              <a:rPr sz="1500" b="0" i="1">
                <a:solidFill>
                  <a:srgbClr val="555555"/>
                </a:solidFill>
                <a:latin typeface="맑은 고딕"/>
              </a:rPr>
              <a:t>→ A cool bike is what I want to get for my birthday.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주어진 문장과 같은 의미가 되도록 what을 사용하여 문장을 완성하시오.</a:t>
            </a:r>
          </a:p>
          <a:p>
            <a:pPr algn="l">
              <a:lnSpc>
                <a:spcPct val="105000"/>
              </a:lnSpc>
              <a:spcBef>
                <a:spcPts val="0"/>
              </a:spcBef>
              <a:spcAft>
                <a:spcPts val="200"/>
              </a:spcAft>
            </a:pPr>
            <a:r>
              <a:rPr sz="1800" b="1" i="0">
                <a:solidFill>
                  <a:srgbClr val="222222"/>
                </a:solidFill>
                <a:latin typeface="맑은 고딕"/>
              </a:rPr>
              <a:t>He made a cheese sandwich for me.</a:t>
            </a:r>
          </a:p>
          <a:p>
            <a:pPr algn="l">
              <a:lnSpc>
                <a:spcPct val="105000"/>
              </a:lnSpc>
              <a:spcBef>
                <a:spcPts val="0"/>
              </a:spcBef>
              <a:spcAft>
                <a:spcPts val="200"/>
              </a:spcAft>
            </a:pPr>
            <a:r>
              <a:rPr sz="1800" b="1" i="0">
                <a:solidFill>
                  <a:srgbClr val="222222"/>
                </a:solidFill>
                <a:latin typeface="맑은 고딕"/>
              </a:rPr>
              <a:t>→ A cheese sandwich is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he made for 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보어 자리 what절(그가 만들어 준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I need a holiday. I don't need anything else.</a:t>
            </a:r>
          </a:p>
          <a:p>
            <a:pPr algn="l">
              <a:lnSpc>
                <a:spcPct val="105000"/>
              </a:lnSpc>
              <a:spcBef>
                <a:spcPts val="0"/>
              </a:spcBef>
              <a:spcAft>
                <a:spcPts val="100"/>
              </a:spcAft>
            </a:pPr>
            <a:r>
              <a:rPr sz="1500" b="0" i="1">
                <a:solidFill>
                  <a:srgbClr val="555555"/>
                </a:solidFill>
                <a:latin typeface="맑은 고딕"/>
              </a:rPr>
              <a:t>→ What I need is a holiday.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세 사람이 한 말을 보고 다음 &lt;보기&gt;와 같이 문장을 완성하시오.</a:t>
            </a:r>
          </a:p>
          <a:p>
            <a:pPr algn="l">
              <a:lnSpc>
                <a:spcPct val="105000"/>
              </a:lnSpc>
              <a:spcBef>
                <a:spcPts val="0"/>
              </a:spcBef>
              <a:spcAft>
                <a:spcPts val="200"/>
              </a:spcAft>
            </a:pPr>
            <a:r>
              <a:rPr sz="1800" b="1" i="0">
                <a:solidFill>
                  <a:srgbClr val="222222"/>
                </a:solidFill>
                <a:latin typeface="맑은 고딕"/>
              </a:rPr>
              <a:t>Did Mina tell me the truth? Well, I think it's a lie.</a:t>
            </a:r>
          </a:p>
          <a:p>
            <a:pPr algn="l">
              <a:lnSpc>
                <a:spcPct val="105000"/>
              </a:lnSpc>
              <a:spcBef>
                <a:spcPts val="0"/>
              </a:spcBef>
              <a:spcAft>
                <a:spcPts val="200"/>
              </a:spcAft>
            </a:pPr>
            <a:r>
              <a:rPr sz="1800" b="1" i="0">
                <a:solidFill>
                  <a:srgbClr val="222222"/>
                </a:solidFill>
                <a:latin typeface="맑은 고딕"/>
              </a:rPr>
              <a:t>→ I think ______ is a lie.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Mina told 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what절이 명사절의 주어(미나가 말한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19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I need a holiday. I don't need anything else.</a:t>
            </a:r>
          </a:p>
          <a:p>
            <a:pPr algn="l">
              <a:lnSpc>
                <a:spcPct val="105000"/>
              </a:lnSpc>
              <a:spcBef>
                <a:spcPts val="0"/>
              </a:spcBef>
              <a:spcAft>
                <a:spcPts val="100"/>
              </a:spcAft>
            </a:pPr>
            <a:r>
              <a:rPr sz="1500" b="0" i="1">
                <a:solidFill>
                  <a:srgbClr val="555555"/>
                </a:solidFill>
                <a:latin typeface="맑은 고딕"/>
              </a:rPr>
              <a:t>→ What I need is a holiday.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세 사람이 한 말을 보고 다음 &lt;보기&gt;와 같이 문장을 완성하시오.</a:t>
            </a:r>
          </a:p>
          <a:p>
            <a:pPr algn="l">
              <a:lnSpc>
                <a:spcPct val="105000"/>
              </a:lnSpc>
              <a:spcBef>
                <a:spcPts val="0"/>
              </a:spcBef>
              <a:spcAft>
                <a:spcPts val="200"/>
              </a:spcAft>
            </a:pPr>
            <a:r>
              <a:rPr sz="1800" b="1" i="0">
                <a:solidFill>
                  <a:srgbClr val="222222"/>
                </a:solidFill>
                <a:latin typeface="맑은 고딕"/>
              </a:rPr>
              <a:t>My mom cooked something for me yesterday, and it was really good.</a:t>
            </a:r>
          </a:p>
          <a:p>
            <a:pPr algn="l">
              <a:lnSpc>
                <a:spcPct val="105000"/>
              </a:lnSpc>
              <a:spcBef>
                <a:spcPts val="0"/>
              </a:spcBef>
              <a:spcAft>
                <a:spcPts val="200"/>
              </a:spcAft>
            </a:pPr>
            <a:r>
              <a:rPr sz="1800" b="1" i="0">
                <a:solidFill>
                  <a:srgbClr val="222222"/>
                </a:solidFill>
                <a:latin typeface="맑은 고딕"/>
              </a:rPr>
              <a:t>→ ______ was really good.</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my mom cooked for me yesterday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 what절, 단수 취급.</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I need a holiday. I don't need anything else.</a:t>
            </a:r>
          </a:p>
          <a:p>
            <a:pPr algn="l">
              <a:lnSpc>
                <a:spcPct val="105000"/>
              </a:lnSpc>
              <a:spcBef>
                <a:spcPts val="0"/>
              </a:spcBef>
              <a:spcAft>
                <a:spcPts val="100"/>
              </a:spcAft>
            </a:pPr>
            <a:r>
              <a:rPr sz="1500" b="0" i="1">
                <a:solidFill>
                  <a:srgbClr val="555555"/>
                </a:solidFill>
                <a:latin typeface="맑은 고딕"/>
              </a:rPr>
              <a:t>→ What I need is a holiday.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세 사람이 한 말을 보고 다음 &lt;보기&gt;와 같이 문장을 완성하시오.</a:t>
            </a:r>
          </a:p>
          <a:p>
            <a:pPr algn="l">
              <a:lnSpc>
                <a:spcPct val="105000"/>
              </a:lnSpc>
              <a:spcBef>
                <a:spcPts val="0"/>
              </a:spcBef>
              <a:spcAft>
                <a:spcPts val="200"/>
              </a:spcAft>
            </a:pPr>
            <a:r>
              <a:rPr sz="1800" b="1" i="0">
                <a:solidFill>
                  <a:srgbClr val="222222"/>
                </a:solidFill>
                <a:latin typeface="맑은 고딕"/>
              </a:rPr>
              <a:t>Of all the presents I got, I like this dress most.</a:t>
            </a:r>
          </a:p>
          <a:p>
            <a:pPr algn="l">
              <a:lnSpc>
                <a:spcPct val="105000"/>
              </a:lnSpc>
              <a:spcBef>
                <a:spcPts val="0"/>
              </a:spcBef>
              <a:spcAft>
                <a:spcPts val="200"/>
              </a:spcAft>
            </a:pPr>
            <a:r>
              <a:rPr sz="1800" b="1" i="0">
                <a:solidFill>
                  <a:srgbClr val="222222"/>
                </a:solidFill>
                <a:latin typeface="맑은 고딕"/>
              </a:rPr>
              <a:t>→ ______ is this dress.</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like most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 what절(내가 가장 좋아하는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109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what I want to buy right now</a:t>
            </a:r>
          </a:p>
          <a:p>
            <a:pPr algn="l">
              <a:lnSpc>
                <a:spcPct val="105000"/>
              </a:lnSpc>
              <a:spcBef>
                <a:spcPts val="0"/>
              </a:spcBef>
              <a:spcAft>
                <a:spcPts val="100"/>
              </a:spcAft>
            </a:pPr>
            <a:r>
              <a:rPr sz="1500" b="0" i="1">
                <a:solidFill>
                  <a:srgbClr val="555555"/>
                </a:solidFill>
                <a:latin typeface="맑은 고딕"/>
              </a:rPr>
              <a:t>• what I expected</a:t>
            </a:r>
          </a:p>
          <a:p>
            <a:pPr algn="l">
              <a:lnSpc>
                <a:spcPct val="105000"/>
              </a:lnSpc>
              <a:spcBef>
                <a:spcPts val="0"/>
              </a:spcBef>
              <a:spcAft>
                <a:spcPts val="100"/>
              </a:spcAft>
            </a:pPr>
            <a:r>
              <a:rPr sz="1500" b="0" i="1">
                <a:solidFill>
                  <a:srgbClr val="555555"/>
                </a:solidFill>
                <a:latin typeface="맑은 고딕"/>
              </a:rPr>
              <a:t>• what you've done for me</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A: ______ is this blue jacket.</a:t>
            </a:r>
          </a:p>
          <a:p>
            <a:pPr algn="l">
              <a:lnSpc>
                <a:spcPct val="105000"/>
              </a:lnSpc>
              <a:spcBef>
                <a:spcPts val="0"/>
              </a:spcBef>
              <a:spcAft>
                <a:spcPts val="100"/>
              </a:spcAft>
            </a:pPr>
            <a:r>
              <a:rPr sz="1500" b="0" i="1">
                <a:solidFill>
                  <a:srgbClr val="555555"/>
                </a:solidFill>
                <a:latin typeface="맑은 고딕"/>
              </a:rPr>
              <a:t>B: Oh, that's a good choice.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대화를 주어진 &lt;보기&gt;를 이용하여 완성하시오.</a:t>
            </a:r>
          </a:p>
          <a:p>
            <a:pPr algn="l">
              <a:lnSpc>
                <a:spcPct val="105000"/>
              </a:lnSpc>
              <a:spcBef>
                <a:spcPts val="0"/>
              </a:spcBef>
              <a:spcAft>
                <a:spcPts val="200"/>
              </a:spcAft>
            </a:pPr>
            <a:r>
              <a:rPr sz="1800" b="1" i="0">
                <a:solidFill>
                  <a:srgbClr val="222222"/>
                </a:solidFill>
                <a:latin typeface="맑은 고딕"/>
              </a:rPr>
              <a:t>A: ______ is this blue jacket.</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want to buy right now</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지금 바로 사고 싶은 것은'이 주어로 와야 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what I want to buy right now</a:t>
            </a:r>
          </a:p>
          <a:p>
            <a:pPr algn="l">
              <a:lnSpc>
                <a:spcPct val="105000"/>
              </a:lnSpc>
              <a:spcBef>
                <a:spcPts val="0"/>
              </a:spcBef>
              <a:spcAft>
                <a:spcPts val="100"/>
              </a:spcAft>
            </a:pPr>
            <a:r>
              <a:rPr sz="1500" b="0" i="1">
                <a:solidFill>
                  <a:srgbClr val="555555"/>
                </a:solidFill>
                <a:latin typeface="맑은 고딕"/>
              </a:rPr>
              <a:t>• what I expected</a:t>
            </a:r>
          </a:p>
          <a:p>
            <a:pPr algn="l">
              <a:lnSpc>
                <a:spcPct val="105000"/>
              </a:lnSpc>
              <a:spcBef>
                <a:spcPts val="0"/>
              </a:spcBef>
              <a:spcAft>
                <a:spcPts val="100"/>
              </a:spcAft>
            </a:pPr>
            <a:r>
              <a:rPr sz="1500" b="0" i="1">
                <a:solidFill>
                  <a:srgbClr val="555555"/>
                </a:solidFill>
                <a:latin typeface="맑은 고딕"/>
              </a:rPr>
              <a:t>• what you've done for me</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A: I want to thank you for ______.</a:t>
            </a:r>
          </a:p>
          <a:p>
            <a:pPr algn="l">
              <a:lnSpc>
                <a:spcPct val="105000"/>
              </a:lnSpc>
              <a:spcBef>
                <a:spcPts val="0"/>
              </a:spcBef>
              <a:spcAft>
                <a:spcPts val="100"/>
              </a:spcAft>
            </a:pPr>
            <a:r>
              <a:rPr sz="1500" b="0" i="1">
                <a:solidFill>
                  <a:srgbClr val="555555"/>
                </a:solidFill>
                <a:latin typeface="맑은 고딕"/>
              </a:rPr>
              <a:t>B: Don't mention it. It was my pleasure.</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대화를 주어진 &lt;보기&gt;를 이용하여 완성하시오.</a:t>
            </a:r>
          </a:p>
          <a:p>
            <a:pPr algn="l">
              <a:lnSpc>
                <a:spcPct val="105000"/>
              </a:lnSpc>
              <a:spcBef>
                <a:spcPts val="0"/>
              </a:spcBef>
              <a:spcAft>
                <a:spcPts val="200"/>
              </a:spcAft>
            </a:pPr>
            <a:r>
              <a:rPr sz="1800" b="1" i="0">
                <a:solidFill>
                  <a:srgbClr val="222222"/>
                </a:solidFill>
                <a:latin typeface="맑은 고딕"/>
              </a:rPr>
              <a:t>A: I want to thank you for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you've done for me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'네가 나를 위해 해준 것'이 for의 목적어로 와야 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what I want to buy right now</a:t>
            </a:r>
          </a:p>
          <a:p>
            <a:pPr algn="l">
              <a:lnSpc>
                <a:spcPct val="105000"/>
              </a:lnSpc>
              <a:spcBef>
                <a:spcPts val="0"/>
              </a:spcBef>
              <a:spcAft>
                <a:spcPts val="100"/>
              </a:spcAft>
            </a:pPr>
            <a:r>
              <a:rPr sz="1500" b="0" i="1">
                <a:solidFill>
                  <a:srgbClr val="555555"/>
                </a:solidFill>
                <a:latin typeface="맑은 고딕"/>
              </a:rPr>
              <a:t>• what I expected</a:t>
            </a:r>
          </a:p>
          <a:p>
            <a:pPr algn="l">
              <a:lnSpc>
                <a:spcPct val="105000"/>
              </a:lnSpc>
              <a:spcBef>
                <a:spcPts val="0"/>
              </a:spcBef>
              <a:spcAft>
                <a:spcPts val="100"/>
              </a:spcAft>
            </a:pPr>
            <a:r>
              <a:rPr sz="1500" b="0" i="1">
                <a:solidFill>
                  <a:srgbClr val="555555"/>
                </a:solidFill>
                <a:latin typeface="맑은 고딕"/>
              </a:rPr>
              <a:t>• what you've done for me</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A: Were you disappointed with your exam result?</a:t>
            </a:r>
          </a:p>
          <a:p>
            <a:pPr algn="l">
              <a:lnSpc>
                <a:spcPct val="105000"/>
              </a:lnSpc>
              <a:spcBef>
                <a:spcPts val="0"/>
              </a:spcBef>
              <a:spcAft>
                <a:spcPts val="100"/>
              </a:spcAft>
            </a:pPr>
            <a:r>
              <a:rPr sz="1500" b="0" i="1">
                <a:solidFill>
                  <a:srgbClr val="555555"/>
                </a:solidFill>
                <a:latin typeface="맑은 고딕"/>
              </a:rPr>
              <a:t>B: Yes. The result was not ______.</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대화를 주어진 &lt;보기&gt;를 이용하여 완성하시오.</a:t>
            </a:r>
          </a:p>
          <a:p>
            <a:pPr algn="l">
              <a:lnSpc>
                <a:spcPct val="105000"/>
              </a:lnSpc>
              <a:spcBef>
                <a:spcPts val="0"/>
              </a:spcBef>
              <a:spcAft>
                <a:spcPts val="200"/>
              </a:spcAft>
            </a:pPr>
            <a:r>
              <a:rPr sz="1800" b="1" i="0">
                <a:solidFill>
                  <a:srgbClr val="222222"/>
                </a:solidFill>
                <a:latin typeface="맑은 고딕"/>
              </a:rPr>
              <a:t>B: Yes. The result was not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expected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'내가 기대했던 것'이 보어로 와야 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a bicycle</a:t>
            </a:r>
          </a:p>
          <a:p>
            <a:pPr algn="l">
              <a:lnSpc>
                <a:spcPct val="105000"/>
              </a:lnSpc>
              <a:spcBef>
                <a:spcPts val="0"/>
              </a:spcBef>
              <a:spcAft>
                <a:spcPts val="100"/>
              </a:spcAft>
            </a:pPr>
            <a:r>
              <a:rPr sz="1500" b="0" i="1">
                <a:solidFill>
                  <a:srgbClr val="555555"/>
                </a:solidFill>
                <a:latin typeface="맑은 고딕"/>
              </a:rPr>
              <a:t>A: What did you buy?</a:t>
            </a:r>
          </a:p>
          <a:p>
            <a:pPr algn="l">
              <a:lnSpc>
                <a:spcPct val="105000"/>
              </a:lnSpc>
              <a:spcBef>
                <a:spcPts val="0"/>
              </a:spcBef>
              <a:spcAft>
                <a:spcPts val="100"/>
              </a:spcAft>
            </a:pPr>
            <a:r>
              <a:rPr sz="1500" b="0" i="1">
                <a:solidFill>
                  <a:srgbClr val="555555"/>
                </a:solidFill>
                <a:latin typeface="맑은 고딕"/>
              </a:rPr>
              <a:t>B: What I bought was a bicycle.</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pizza</a:t>
            </a:r>
          </a:p>
          <a:p>
            <a:pPr algn="l">
              <a:lnSpc>
                <a:spcPct val="105000"/>
              </a:lnSpc>
              <a:spcBef>
                <a:spcPts val="0"/>
              </a:spcBef>
              <a:spcAft>
                <a:spcPts val="100"/>
              </a:spcAft>
            </a:pPr>
            <a:r>
              <a:rPr sz="1500" b="0" i="1">
                <a:solidFill>
                  <a:srgbClr val="555555"/>
                </a:solidFill>
                <a:latin typeface="맑은 고딕"/>
              </a:rPr>
              <a:t>A: What did she have?</a:t>
            </a:r>
          </a:p>
          <a:p>
            <a:pPr algn="l">
              <a:lnSpc>
                <a:spcPct val="105000"/>
              </a:lnSpc>
              <a:spcBef>
                <a:spcPts val="0"/>
              </a:spcBef>
              <a:spcAft>
                <a:spcPts val="100"/>
              </a:spcAft>
            </a:pPr>
            <a:r>
              <a:rPr sz="1500" b="0" i="1">
                <a:solidFill>
                  <a:srgbClr val="555555"/>
                </a:solidFill>
                <a:latin typeface="맑은 고딕"/>
              </a:rPr>
              <a:t>B: ______</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대화를 완성하시오.</a:t>
            </a:r>
          </a:p>
          <a:p>
            <a:pPr algn="l">
              <a:lnSpc>
                <a:spcPct val="105000"/>
              </a:lnSpc>
              <a:spcBef>
                <a:spcPts val="0"/>
              </a:spcBef>
              <a:spcAft>
                <a:spcPts val="200"/>
              </a:spcAft>
            </a:pPr>
            <a:r>
              <a:rPr sz="1800" b="1" i="0">
                <a:solidFill>
                  <a:srgbClr val="222222"/>
                </a:solidFill>
                <a:latin typeface="맑은 고딕"/>
              </a:rPr>
              <a:t>(pizza) A: What did she have?</a:t>
            </a:r>
          </a:p>
          <a:p>
            <a:pPr algn="l">
              <a:lnSpc>
                <a:spcPct val="105000"/>
              </a:lnSpc>
              <a:spcBef>
                <a:spcPts val="0"/>
              </a:spcBef>
              <a:spcAft>
                <a:spcPts val="200"/>
              </a:spcAft>
            </a:pPr>
            <a:r>
              <a:rPr sz="1800" b="1" i="0">
                <a:solidFill>
                  <a:srgbClr val="222222"/>
                </a:solidFill>
                <a:latin typeface="맑은 고딕"/>
              </a:rPr>
              <a:t>B: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she had was pizza.</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 what절 + was + 보어.</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a bicycle</a:t>
            </a:r>
          </a:p>
          <a:p>
            <a:pPr algn="l">
              <a:lnSpc>
                <a:spcPct val="105000"/>
              </a:lnSpc>
              <a:spcBef>
                <a:spcPts val="0"/>
              </a:spcBef>
              <a:spcAft>
                <a:spcPts val="100"/>
              </a:spcAft>
            </a:pPr>
            <a:r>
              <a:rPr sz="1500" b="0" i="1">
                <a:solidFill>
                  <a:srgbClr val="555555"/>
                </a:solidFill>
                <a:latin typeface="맑은 고딕"/>
              </a:rPr>
              <a:t>A: What did you buy?</a:t>
            </a:r>
          </a:p>
          <a:p>
            <a:pPr algn="l">
              <a:lnSpc>
                <a:spcPct val="105000"/>
              </a:lnSpc>
              <a:spcBef>
                <a:spcPts val="0"/>
              </a:spcBef>
              <a:spcAft>
                <a:spcPts val="100"/>
              </a:spcAft>
            </a:pPr>
            <a:r>
              <a:rPr sz="1500" b="0" i="1">
                <a:solidFill>
                  <a:srgbClr val="555555"/>
                </a:solidFill>
                <a:latin typeface="맑은 고딕"/>
              </a:rPr>
              <a:t>B: What I bought was a bicycle.</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a soccer ball</a:t>
            </a:r>
          </a:p>
          <a:p>
            <a:pPr algn="l">
              <a:lnSpc>
                <a:spcPct val="105000"/>
              </a:lnSpc>
              <a:spcBef>
                <a:spcPts val="0"/>
              </a:spcBef>
              <a:spcAft>
                <a:spcPts val="100"/>
              </a:spcAft>
            </a:pPr>
            <a:r>
              <a:rPr sz="1500" b="0" i="1">
                <a:solidFill>
                  <a:srgbClr val="555555"/>
                </a:solidFill>
                <a:latin typeface="맑은 고딕"/>
              </a:rPr>
              <a:t>A: What did Jack give you?</a:t>
            </a:r>
          </a:p>
          <a:p>
            <a:pPr algn="l">
              <a:lnSpc>
                <a:spcPct val="105000"/>
              </a:lnSpc>
              <a:spcBef>
                <a:spcPts val="0"/>
              </a:spcBef>
              <a:spcAft>
                <a:spcPts val="100"/>
              </a:spcAft>
            </a:pPr>
            <a:r>
              <a:rPr sz="1500" b="0" i="1">
                <a:solidFill>
                  <a:srgbClr val="555555"/>
                </a:solidFill>
                <a:latin typeface="맑은 고딕"/>
              </a:rPr>
              <a:t>B: ______</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대화를 완성하시오.</a:t>
            </a:r>
          </a:p>
          <a:p>
            <a:pPr algn="l">
              <a:lnSpc>
                <a:spcPct val="105000"/>
              </a:lnSpc>
              <a:spcBef>
                <a:spcPts val="0"/>
              </a:spcBef>
              <a:spcAft>
                <a:spcPts val="200"/>
              </a:spcAft>
            </a:pPr>
            <a:r>
              <a:rPr sz="1800" b="1" i="0">
                <a:solidFill>
                  <a:srgbClr val="222222"/>
                </a:solidFill>
                <a:latin typeface="맑은 고딕"/>
              </a:rPr>
              <a:t>(a soccer ball) A: What did Jack give you?</a:t>
            </a:r>
          </a:p>
          <a:p>
            <a:pPr algn="l">
              <a:lnSpc>
                <a:spcPct val="105000"/>
              </a:lnSpc>
              <a:spcBef>
                <a:spcPts val="0"/>
              </a:spcBef>
              <a:spcAft>
                <a:spcPts val="200"/>
              </a:spcAft>
            </a:pPr>
            <a:r>
              <a:rPr sz="1800" b="1" i="0">
                <a:solidFill>
                  <a:srgbClr val="222222"/>
                </a:solidFill>
                <a:latin typeface="맑은 고딕"/>
              </a:rPr>
              <a:t>B: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Jack gave me was a soccer ball.</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 what절 + was + 보어.</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No 1. Bora</a:t>
            </a:r>
          </a:p>
          <a:p>
            <a:pPr algn="l">
              <a:lnSpc>
                <a:spcPct val="105000"/>
              </a:lnSpc>
              <a:spcBef>
                <a:spcPts val="0"/>
              </a:spcBef>
              <a:spcAft>
                <a:spcPts val="100"/>
              </a:spcAft>
            </a:pPr>
            <a:r>
              <a:rPr sz="1500" b="0" i="1">
                <a:solidFill>
                  <a:srgbClr val="555555"/>
                </a:solidFill>
                <a:latin typeface="맑은 고딕"/>
              </a:rPr>
              <a:t>No Uniform 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학생회장 선거 포스터를 보고, what과 주어진 단어를 활용하여 각각의 선거 공약을 완성하시오. (그림 참고)</a:t>
            </a:r>
          </a:p>
          <a:p>
            <a:pPr algn="l">
              <a:lnSpc>
                <a:spcPct val="105000"/>
              </a:lnSpc>
              <a:spcBef>
                <a:spcPts val="0"/>
              </a:spcBef>
              <a:spcAft>
                <a:spcPts val="200"/>
              </a:spcAft>
            </a:pPr>
            <a:r>
              <a:rPr sz="1800" b="1" i="0">
                <a:solidFill>
                  <a:srgbClr val="222222"/>
                </a:solidFill>
                <a:latin typeface="맑은 고딕"/>
              </a:rPr>
              <a:t>You can choose ______ when you come to school. (like / wear)</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 like to wear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choose의 목적어로 what절(입고 싶은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No 2. Kate</a:t>
            </a:r>
          </a:p>
          <a:p>
            <a:pPr algn="l">
              <a:lnSpc>
                <a:spcPct val="105000"/>
              </a:lnSpc>
              <a:spcBef>
                <a:spcPts val="0"/>
              </a:spcBef>
              <a:spcAft>
                <a:spcPts val="100"/>
              </a:spcAft>
            </a:pPr>
            <a:r>
              <a:rPr sz="1500" b="0" i="1">
                <a:solidFill>
                  <a:srgbClr val="555555"/>
                </a:solidFill>
                <a:latin typeface="맑은 고딕"/>
              </a:rPr>
              <a:t>Favorite Food 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학생회장 선거 포스터를 보고, what과 주어진 단어를 활용하여 각각의 선거 공약을 완성하시오. (그림 참고)</a:t>
            </a:r>
          </a:p>
          <a:p>
            <a:pPr algn="l">
              <a:lnSpc>
                <a:spcPct val="105000"/>
              </a:lnSpc>
              <a:spcBef>
                <a:spcPts val="0"/>
              </a:spcBef>
              <a:spcAft>
                <a:spcPts val="200"/>
              </a:spcAft>
            </a:pPr>
            <a:r>
              <a:rPr sz="1800" b="1" i="0">
                <a:solidFill>
                  <a:srgbClr val="222222"/>
                </a:solidFill>
                <a:latin typeface="맑은 고딕"/>
              </a:rPr>
              <a:t>You can bring ______ during lunch time. (like / eat)</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 like to eat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bring의 목적어로 what절(먹고 싶은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No 3. Brian</a:t>
            </a:r>
          </a:p>
          <a:p>
            <a:pPr algn="l">
              <a:lnSpc>
                <a:spcPct val="105000"/>
              </a:lnSpc>
              <a:spcBef>
                <a:spcPts val="0"/>
              </a:spcBef>
              <a:spcAft>
                <a:spcPts val="100"/>
              </a:spcAft>
            </a:pPr>
            <a:r>
              <a:rPr sz="1500" b="0" i="1">
                <a:solidFill>
                  <a:srgbClr val="555555"/>
                </a:solidFill>
                <a:latin typeface="맑은 고딕"/>
              </a:rPr>
              <a:t>Club Activity 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학생회장 선거 포스터를 보고, what과 주어진 단어를 활용하여 각각의 선거 공약을 완성하시오. (그림 참고)</a:t>
            </a:r>
          </a:p>
          <a:p>
            <a:pPr algn="l">
              <a:lnSpc>
                <a:spcPct val="105000"/>
              </a:lnSpc>
              <a:spcBef>
                <a:spcPts val="0"/>
              </a:spcBef>
              <a:spcAft>
                <a:spcPts val="200"/>
              </a:spcAft>
            </a:pPr>
            <a:r>
              <a:rPr sz="1800" b="1" i="0">
                <a:solidFill>
                  <a:srgbClr val="222222"/>
                </a:solidFill>
                <a:latin typeface="맑은 고딕"/>
              </a:rPr>
              <a:t>You can enjoy ______ once a month. (want / do)</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 want to do</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enjoy의 목적어로 what절(하고 싶은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29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what I play the most</a:t>
            </a:r>
          </a:p>
          <a:p>
            <a:pPr algn="l">
              <a:lnSpc>
                <a:spcPct val="105000"/>
              </a:lnSpc>
              <a:spcBef>
                <a:spcPts val="0"/>
              </a:spcBef>
              <a:spcAft>
                <a:spcPts val="100"/>
              </a:spcAft>
            </a:pPr>
            <a:r>
              <a:rPr sz="1500" b="0" i="1">
                <a:solidFill>
                  <a:srgbClr val="555555"/>
                </a:solidFill>
                <a:latin typeface="맑은 고딕"/>
              </a:rPr>
              <a:t>• what Jill wants to say</a:t>
            </a:r>
          </a:p>
          <a:p>
            <a:pPr algn="l">
              <a:lnSpc>
                <a:spcPct val="105000"/>
              </a:lnSpc>
              <a:spcBef>
                <a:spcPts val="0"/>
              </a:spcBef>
              <a:spcAft>
                <a:spcPts val="100"/>
              </a:spcAft>
            </a:pPr>
            <a:r>
              <a:rPr sz="1500" b="0" i="1">
                <a:solidFill>
                  <a:srgbClr val="555555"/>
                </a:solidFill>
                <a:latin typeface="맑은 고딕"/>
              </a:rPr>
              <a:t>• what I bought for you</a:t>
            </a:r>
          </a:p>
          <a:p>
            <a:pPr algn="l">
              <a:lnSpc>
                <a:spcPct val="105000"/>
              </a:lnSpc>
              <a:spcBef>
                <a:spcPts val="0"/>
              </a:spcBef>
              <a:spcAft>
                <a:spcPts val="100"/>
              </a:spcAft>
            </a:pPr>
            <a:r>
              <a:rPr sz="1500" b="0" i="1">
                <a:solidFill>
                  <a:srgbClr val="555555"/>
                </a:solidFill>
                <a:latin typeface="맑은 고딕"/>
              </a:rPr>
              <a:t>• what I want to read</a:t>
            </a:r>
          </a:p>
          <a:p>
            <a:pPr algn="l">
              <a:lnSpc>
                <a:spcPct val="105000"/>
              </a:lnSpc>
              <a:spcBef>
                <a:spcPts val="0"/>
              </a:spcBef>
              <a:spcAft>
                <a:spcPts val="100"/>
              </a:spcAft>
            </a:pPr>
            <a:r>
              <a:rPr sz="1500" b="0" i="1">
                <a:solidFill>
                  <a:srgbClr val="555555"/>
                </a:solidFill>
                <a:latin typeface="맑은 고딕"/>
              </a:rPr>
              <a:t>• what made me upset last night</a:t>
            </a:r>
          </a:p>
          <a:p>
            <a:pPr algn="l">
              <a:lnSpc>
                <a:spcPct val="105000"/>
              </a:lnSpc>
              <a:spcBef>
                <a:spcPts val="0"/>
              </a:spcBef>
              <a:spcAft>
                <a:spcPts val="100"/>
              </a:spcAft>
            </a:pPr>
            <a:r>
              <a:rPr sz="1500" b="0" i="1">
                <a:solidFill>
                  <a:srgbClr val="555555"/>
                </a:solidFill>
                <a:latin typeface="맑은 고딕"/>
              </a:rPr>
              <a:t>&lt;보기&gt; Soccer is what I play the most.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&lt;보기&gt;를 이용하여 아래와 같이 문장을 완성하시오.</a:t>
            </a:r>
          </a:p>
          <a:p>
            <a:pPr algn="l">
              <a:lnSpc>
                <a:spcPct val="105000"/>
              </a:lnSpc>
              <a:spcBef>
                <a:spcPts val="0"/>
              </a:spcBef>
              <a:spcAft>
                <a:spcPts val="200"/>
              </a:spcAft>
            </a:pPr>
            <a:r>
              <a:rPr sz="1800" b="1" i="0">
                <a:solidFill>
                  <a:srgbClr val="222222"/>
                </a:solidFill>
                <a:latin typeface="맑은 고딕"/>
              </a:rPr>
              <a:t>I don't understand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Jill wants to say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understand의 목적어 what절(Jill이 말하고 싶은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what I play the most</a:t>
            </a:r>
          </a:p>
          <a:p>
            <a:pPr algn="l">
              <a:lnSpc>
                <a:spcPct val="105000"/>
              </a:lnSpc>
              <a:spcBef>
                <a:spcPts val="0"/>
              </a:spcBef>
              <a:spcAft>
                <a:spcPts val="100"/>
              </a:spcAft>
            </a:pPr>
            <a:r>
              <a:rPr sz="1500" b="0" i="1">
                <a:solidFill>
                  <a:srgbClr val="555555"/>
                </a:solidFill>
                <a:latin typeface="맑은 고딕"/>
              </a:rPr>
              <a:t>• what Jill wants to say</a:t>
            </a:r>
          </a:p>
          <a:p>
            <a:pPr algn="l">
              <a:lnSpc>
                <a:spcPct val="105000"/>
              </a:lnSpc>
              <a:spcBef>
                <a:spcPts val="0"/>
              </a:spcBef>
              <a:spcAft>
                <a:spcPts val="100"/>
              </a:spcAft>
            </a:pPr>
            <a:r>
              <a:rPr sz="1500" b="0" i="1">
                <a:solidFill>
                  <a:srgbClr val="555555"/>
                </a:solidFill>
                <a:latin typeface="맑은 고딕"/>
              </a:rPr>
              <a:t>• what I bought for you</a:t>
            </a:r>
          </a:p>
          <a:p>
            <a:pPr algn="l">
              <a:lnSpc>
                <a:spcPct val="105000"/>
              </a:lnSpc>
              <a:spcBef>
                <a:spcPts val="0"/>
              </a:spcBef>
              <a:spcAft>
                <a:spcPts val="100"/>
              </a:spcAft>
            </a:pPr>
            <a:r>
              <a:rPr sz="1500" b="0" i="1">
                <a:solidFill>
                  <a:srgbClr val="555555"/>
                </a:solidFill>
                <a:latin typeface="맑은 고딕"/>
              </a:rPr>
              <a:t>• what I want to read</a:t>
            </a:r>
          </a:p>
          <a:p>
            <a:pPr algn="l">
              <a:lnSpc>
                <a:spcPct val="105000"/>
              </a:lnSpc>
              <a:spcBef>
                <a:spcPts val="0"/>
              </a:spcBef>
              <a:spcAft>
                <a:spcPts val="100"/>
              </a:spcAft>
            </a:pPr>
            <a:r>
              <a:rPr sz="1500" b="0" i="1">
                <a:solidFill>
                  <a:srgbClr val="555555"/>
                </a:solidFill>
                <a:latin typeface="맑은 고딕"/>
              </a:rPr>
              <a:t>• what made me upset last night</a:t>
            </a:r>
          </a:p>
          <a:p>
            <a:pPr algn="l">
              <a:lnSpc>
                <a:spcPct val="105000"/>
              </a:lnSpc>
              <a:spcBef>
                <a:spcPts val="0"/>
              </a:spcBef>
              <a:spcAft>
                <a:spcPts val="100"/>
              </a:spcAft>
            </a:pPr>
            <a:r>
              <a:rPr sz="1500" b="0" i="1">
                <a:solidFill>
                  <a:srgbClr val="555555"/>
                </a:solidFill>
                <a:latin typeface="맑은 고딕"/>
              </a:rPr>
              <a:t>&lt;보기&gt; Soccer is what I play the most.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&lt;보기&gt;를 이용하여 아래와 같이 문장을 완성하시오.</a:t>
            </a:r>
          </a:p>
          <a:p>
            <a:pPr algn="l">
              <a:lnSpc>
                <a:spcPct val="105000"/>
              </a:lnSpc>
              <a:spcBef>
                <a:spcPts val="0"/>
              </a:spcBef>
              <a:spcAft>
                <a:spcPts val="200"/>
              </a:spcAft>
            </a:pPr>
            <a:r>
              <a:rPr sz="1800" b="1" i="0">
                <a:solidFill>
                  <a:srgbClr val="222222"/>
                </a:solidFill>
                <a:latin typeface="맑은 고딕"/>
              </a:rPr>
              <a:t>______ was the noise from the neighbor.</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made me upset last night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 what절(어젯밤 나를 화나게 한 것), what이 절의 주어.</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119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what I play the most</a:t>
            </a:r>
          </a:p>
          <a:p>
            <a:pPr algn="l">
              <a:lnSpc>
                <a:spcPct val="105000"/>
              </a:lnSpc>
              <a:spcBef>
                <a:spcPts val="0"/>
              </a:spcBef>
              <a:spcAft>
                <a:spcPts val="100"/>
              </a:spcAft>
            </a:pPr>
            <a:r>
              <a:rPr sz="1500" b="0" i="1">
                <a:solidFill>
                  <a:srgbClr val="555555"/>
                </a:solidFill>
                <a:latin typeface="맑은 고딕"/>
              </a:rPr>
              <a:t>• what Jill wants to say</a:t>
            </a:r>
          </a:p>
          <a:p>
            <a:pPr algn="l">
              <a:lnSpc>
                <a:spcPct val="105000"/>
              </a:lnSpc>
              <a:spcBef>
                <a:spcPts val="0"/>
              </a:spcBef>
              <a:spcAft>
                <a:spcPts val="100"/>
              </a:spcAft>
            </a:pPr>
            <a:r>
              <a:rPr sz="1500" b="0" i="1">
                <a:solidFill>
                  <a:srgbClr val="555555"/>
                </a:solidFill>
                <a:latin typeface="맑은 고딕"/>
              </a:rPr>
              <a:t>• what I bought for you</a:t>
            </a:r>
          </a:p>
          <a:p>
            <a:pPr algn="l">
              <a:lnSpc>
                <a:spcPct val="105000"/>
              </a:lnSpc>
              <a:spcBef>
                <a:spcPts val="0"/>
              </a:spcBef>
              <a:spcAft>
                <a:spcPts val="100"/>
              </a:spcAft>
            </a:pPr>
            <a:r>
              <a:rPr sz="1500" b="0" i="1">
                <a:solidFill>
                  <a:srgbClr val="555555"/>
                </a:solidFill>
                <a:latin typeface="맑은 고딕"/>
              </a:rPr>
              <a:t>• what I want to read</a:t>
            </a:r>
          </a:p>
          <a:p>
            <a:pPr algn="l">
              <a:lnSpc>
                <a:spcPct val="105000"/>
              </a:lnSpc>
              <a:spcBef>
                <a:spcPts val="0"/>
              </a:spcBef>
              <a:spcAft>
                <a:spcPts val="100"/>
              </a:spcAft>
            </a:pPr>
            <a:r>
              <a:rPr sz="1500" b="0" i="1">
                <a:solidFill>
                  <a:srgbClr val="555555"/>
                </a:solidFill>
                <a:latin typeface="맑은 고딕"/>
              </a:rPr>
              <a:t>• what made me upset last night</a:t>
            </a:r>
          </a:p>
          <a:p>
            <a:pPr algn="l">
              <a:lnSpc>
                <a:spcPct val="105000"/>
              </a:lnSpc>
              <a:spcBef>
                <a:spcPts val="0"/>
              </a:spcBef>
              <a:spcAft>
                <a:spcPts val="100"/>
              </a:spcAft>
            </a:pPr>
            <a:r>
              <a:rPr sz="1500" b="0" i="1">
                <a:solidFill>
                  <a:srgbClr val="555555"/>
                </a:solidFill>
                <a:latin typeface="맑은 고딕"/>
              </a:rPr>
              <a:t>예) Soccer is what I play the most.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&lt;보기&gt;를 이용하여 아래와 같이 문장을 완성하시오.</a:t>
            </a:r>
          </a:p>
          <a:p>
            <a:pPr algn="l">
              <a:lnSpc>
                <a:spcPct val="105000"/>
              </a:lnSpc>
              <a:spcBef>
                <a:spcPts val="0"/>
              </a:spcBef>
              <a:spcAft>
                <a:spcPts val="200"/>
              </a:spcAft>
            </a:pPr>
            <a:r>
              <a:rPr sz="1800" b="1" i="0">
                <a:solidFill>
                  <a:srgbClr val="222222"/>
                </a:solidFill>
                <a:latin typeface="맑은 고딕"/>
              </a:rPr>
              <a:t>This book is exactly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want to read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 = the thing(s) which. 선행사를 포함하며 뒤에 불완전한 절이 온다.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 what I play the most</a:t>
            </a:r>
          </a:p>
          <a:p>
            <a:pPr algn="l">
              <a:lnSpc>
                <a:spcPct val="105000"/>
              </a:lnSpc>
              <a:spcBef>
                <a:spcPts val="0"/>
              </a:spcBef>
              <a:spcAft>
                <a:spcPts val="100"/>
              </a:spcAft>
            </a:pPr>
            <a:r>
              <a:rPr sz="1500" b="0" i="1">
                <a:solidFill>
                  <a:srgbClr val="555555"/>
                </a:solidFill>
                <a:latin typeface="맑은 고딕"/>
              </a:rPr>
              <a:t>• what Jill wants to say</a:t>
            </a:r>
          </a:p>
          <a:p>
            <a:pPr algn="l">
              <a:lnSpc>
                <a:spcPct val="105000"/>
              </a:lnSpc>
              <a:spcBef>
                <a:spcPts val="0"/>
              </a:spcBef>
              <a:spcAft>
                <a:spcPts val="100"/>
              </a:spcAft>
            </a:pPr>
            <a:r>
              <a:rPr sz="1500" b="0" i="1">
                <a:solidFill>
                  <a:srgbClr val="555555"/>
                </a:solidFill>
                <a:latin typeface="맑은 고딕"/>
              </a:rPr>
              <a:t>• what I bought for you</a:t>
            </a:r>
          </a:p>
          <a:p>
            <a:pPr algn="l">
              <a:lnSpc>
                <a:spcPct val="105000"/>
              </a:lnSpc>
              <a:spcBef>
                <a:spcPts val="0"/>
              </a:spcBef>
              <a:spcAft>
                <a:spcPts val="100"/>
              </a:spcAft>
            </a:pPr>
            <a:r>
              <a:rPr sz="1500" b="0" i="1">
                <a:solidFill>
                  <a:srgbClr val="555555"/>
                </a:solidFill>
                <a:latin typeface="맑은 고딕"/>
              </a:rPr>
              <a:t>• what I want to read</a:t>
            </a:r>
          </a:p>
          <a:p>
            <a:pPr algn="l">
              <a:lnSpc>
                <a:spcPct val="105000"/>
              </a:lnSpc>
              <a:spcBef>
                <a:spcPts val="0"/>
              </a:spcBef>
              <a:spcAft>
                <a:spcPts val="100"/>
              </a:spcAft>
            </a:pPr>
            <a:r>
              <a:rPr sz="1500" b="0" i="1">
                <a:solidFill>
                  <a:srgbClr val="555555"/>
                </a:solidFill>
                <a:latin typeface="맑은 고딕"/>
              </a:rPr>
              <a:t>• what made me upset last night</a:t>
            </a:r>
          </a:p>
          <a:p>
            <a:pPr algn="l">
              <a:lnSpc>
                <a:spcPct val="105000"/>
              </a:lnSpc>
              <a:spcBef>
                <a:spcPts val="0"/>
              </a:spcBef>
              <a:spcAft>
                <a:spcPts val="100"/>
              </a:spcAft>
            </a:pPr>
            <a:r>
              <a:rPr sz="1500" b="0" i="1">
                <a:solidFill>
                  <a:srgbClr val="555555"/>
                </a:solidFill>
                <a:latin typeface="맑은 고딕"/>
              </a:rPr>
              <a:t>예) Soccer is what I play the most.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&lt;보기&gt;를 이용하여 아래와 같이 문장을 완성하시오.</a:t>
            </a:r>
          </a:p>
          <a:p>
            <a:pPr algn="l">
              <a:lnSpc>
                <a:spcPct val="105000"/>
              </a:lnSpc>
              <a:spcBef>
                <a:spcPts val="0"/>
              </a:spcBef>
              <a:spcAft>
                <a:spcPts val="200"/>
              </a:spcAft>
            </a:pPr>
            <a:r>
              <a:rPr sz="1800" b="1" i="0">
                <a:solidFill>
                  <a:srgbClr val="222222"/>
                </a:solidFill>
                <a:latin typeface="맑은 고딕"/>
              </a:rPr>
              <a:t>______ is good for your health.</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bought for you</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자리의 what절(내가 너를 위해 산 것). what절은 단수 취급.</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Q: Do you know anything about Korea?</a:t>
            </a:r>
          </a:p>
          <a:p>
            <a:pPr algn="l">
              <a:lnSpc>
                <a:spcPct val="105000"/>
              </a:lnSpc>
              <a:spcBef>
                <a:spcPts val="0"/>
              </a:spcBef>
              <a:spcAft>
                <a:spcPts val="100"/>
              </a:spcAft>
            </a:pPr>
            <a:r>
              <a:rPr sz="1500" b="0" i="1">
                <a:solidFill>
                  <a:srgbClr val="555555"/>
                </a:solidFill>
                <a:latin typeface="맑은 고딕"/>
              </a:rPr>
              <a:t>A: Yes, (what / know / I) about Korea is that Korean food is delicious.</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괄호 안의 단어를 바르게 배열하여 한 외국 배우와의 인터뷰를 완성하시오.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know</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자리에 what+주어+동사: '내가 아는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Q: What do you want to say to people who want to be like you?</a:t>
            </a:r>
          </a:p>
          <a:p>
            <a:pPr algn="l">
              <a:lnSpc>
                <a:spcPct val="105000"/>
              </a:lnSpc>
              <a:spcBef>
                <a:spcPts val="0"/>
              </a:spcBef>
              <a:spcAft>
                <a:spcPts val="100"/>
              </a:spcAft>
            </a:pPr>
            <a:r>
              <a:rPr sz="1500" b="0" i="1">
                <a:solidFill>
                  <a:srgbClr val="555555"/>
                </a:solidFill>
                <a:latin typeface="맑은 고딕"/>
              </a:rPr>
              <a:t>A: Find (you / love / what). I enjoy (I / what / do) now very much. That's why I keep doing this.</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괄호 안의 단어를 바르게 배열하여 한 외국 배우와의 인터뷰를 완성하시오.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 love, what I do</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동사 find, enjoy의 목적어로 what+주어+동사 명사절.</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 What he is honest is true.</a:t>
            </a:r>
          </a:p>
          <a:p>
            <a:pPr algn="l">
              <a:lnSpc>
                <a:spcPct val="105000"/>
              </a:lnSpc>
              <a:spcBef>
                <a:spcPts val="0"/>
              </a:spcBef>
              <a:spcAft>
                <a:spcPts val="100"/>
              </a:spcAft>
            </a:pPr>
            <a:r>
              <a:rPr sz="1500" b="0" i="1">
                <a:solidFill>
                  <a:srgbClr val="555555"/>
                </a:solidFill>
                <a:latin typeface="맑은 고딕"/>
              </a:rPr>
              <a:t>ⓑ I don't believe what he said.</a:t>
            </a:r>
          </a:p>
          <a:p>
            <a:pPr algn="l">
              <a:lnSpc>
                <a:spcPct val="105000"/>
              </a:lnSpc>
              <a:spcBef>
                <a:spcPts val="0"/>
              </a:spcBef>
              <a:spcAft>
                <a:spcPts val="100"/>
              </a:spcAft>
            </a:pPr>
            <a:r>
              <a:rPr sz="1500" b="0" i="1">
                <a:solidFill>
                  <a:srgbClr val="555555"/>
                </a:solidFill>
                <a:latin typeface="맑은 고딕"/>
              </a:rPr>
              <a:t>ⓒ I believe that you are a good person.</a:t>
            </a:r>
          </a:p>
          <a:p>
            <a:pPr algn="l">
              <a:lnSpc>
                <a:spcPct val="105000"/>
              </a:lnSpc>
              <a:spcBef>
                <a:spcPts val="0"/>
              </a:spcBef>
              <a:spcAft>
                <a:spcPts val="100"/>
              </a:spcAft>
            </a:pPr>
            <a:r>
              <a:rPr sz="1500" b="0" i="1">
                <a:solidFill>
                  <a:srgbClr val="555555"/>
                </a:solidFill>
                <a:latin typeface="맑은 고딕"/>
              </a:rPr>
              <a:t>ⓓ What Jenny is looking for is her watch.</a:t>
            </a:r>
          </a:p>
          <a:p>
            <a:pPr algn="l">
              <a:lnSpc>
                <a:spcPct val="105000"/>
              </a:lnSpc>
              <a:spcBef>
                <a:spcPts val="0"/>
              </a:spcBef>
              <a:spcAft>
                <a:spcPts val="100"/>
              </a:spcAft>
            </a:pPr>
            <a:r>
              <a:rPr sz="1500" b="0" i="1">
                <a:solidFill>
                  <a:srgbClr val="555555"/>
                </a:solidFill>
                <a:latin typeface="맑은 고딕"/>
              </a:rPr>
              <a:t>ⓔ The point is that you should try to be kind.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중 어법이 틀린 문장을 찾아 그 기호를 쓰고 옳게 고쳐 쓰시오.</a:t>
            </a:r>
          </a:p>
          <a:p>
            <a:pPr algn="l">
              <a:lnSpc>
                <a:spcPct val="105000"/>
              </a:lnSpc>
              <a:spcBef>
                <a:spcPts val="0"/>
              </a:spcBef>
              <a:spcAft>
                <a:spcPts val="200"/>
              </a:spcAft>
            </a:pPr>
            <a:r>
              <a:rPr sz="1800" b="1" i="0">
                <a:solidFill>
                  <a:srgbClr val="222222"/>
                </a:solidFill>
                <a:latin typeface="맑은 고딕"/>
              </a:rPr>
              <a:t>(1) 틀린 문장의 기호: ______</a:t>
            </a:r>
          </a:p>
          <a:p>
            <a:pPr algn="l">
              <a:lnSpc>
                <a:spcPct val="105000"/>
              </a:lnSpc>
              <a:spcBef>
                <a:spcPts val="0"/>
              </a:spcBef>
              <a:spcAft>
                <a:spcPts val="200"/>
              </a:spcAft>
            </a:pPr>
            <a:r>
              <a:rPr sz="1800" b="1" i="0">
                <a:solidFill>
                  <a:srgbClr val="222222"/>
                </a:solidFill>
                <a:latin typeface="맑은 고딕"/>
              </a:rPr>
              <a:t>(2) 고친 문장: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 (2) That he is honest is true.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ⓐ는 뒤에 완전한 절이 오므로 what이 아닌 접속사 that을 써야 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문장에서 어법상 또는 문맥상 어색한 부분 하나씩 찾아 바르게 고치시오.</a:t>
            </a:r>
          </a:p>
          <a:p>
            <a:pPr algn="l">
              <a:lnSpc>
                <a:spcPct val="105000"/>
              </a:lnSpc>
              <a:spcBef>
                <a:spcPts val="0"/>
              </a:spcBef>
              <a:spcAft>
                <a:spcPts val="200"/>
              </a:spcAft>
            </a:pPr>
            <a:r>
              <a:rPr sz="1800" b="1" i="0">
                <a:solidFill>
                  <a:srgbClr val="222222"/>
                </a:solidFill>
                <a:latin typeface="맑은 고딕"/>
              </a:rPr>
              <a:t>(1) He doesn't have that we're looking for.</a:t>
            </a:r>
          </a:p>
          <a:p>
            <a:pPr algn="l">
              <a:lnSpc>
                <a:spcPct val="105000"/>
              </a:lnSpc>
              <a:spcBef>
                <a:spcPts val="0"/>
              </a:spcBef>
              <a:spcAft>
                <a:spcPts val="200"/>
              </a:spcAft>
            </a:pPr>
            <a:r>
              <a:rPr sz="1800" b="1" i="0">
                <a:solidFill>
                  <a:srgbClr val="222222"/>
                </a:solidFill>
                <a:latin typeface="맑은 고딕"/>
              </a:rPr>
              <a:t>(2) Write down which you know about the accident.</a:t>
            </a:r>
          </a:p>
          <a:p>
            <a:pPr algn="l">
              <a:lnSpc>
                <a:spcPct val="105000"/>
              </a:lnSpc>
              <a:spcBef>
                <a:spcPts val="0"/>
              </a:spcBef>
              <a:spcAft>
                <a:spcPts val="200"/>
              </a:spcAft>
            </a:pPr>
            <a:r>
              <a:rPr sz="1800" b="1" i="0">
                <a:solidFill>
                  <a:srgbClr val="222222"/>
                </a:solidFill>
                <a:latin typeface="맑은 고딕"/>
              </a:rPr>
              <a:t>(3) She thinks what the story was true.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that → what (2) which → what (3) what → that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for의 목적어가 없는 불완전한 절, 선행사 없음 → what</a:t>
            </a:r>
          </a:p>
          <a:p>
            <a:pPr algn="l">
              <a:lnSpc>
                <a:spcPct val="105000"/>
              </a:lnSpc>
              <a:spcBef>
                <a:spcPts val="0"/>
              </a:spcBef>
              <a:spcAft>
                <a:spcPts val="200"/>
              </a:spcAft>
            </a:pPr>
            <a:r>
              <a:rPr sz="1500" b="0" i="0">
                <a:solidFill>
                  <a:srgbClr val="152A4A"/>
                </a:solidFill>
                <a:latin typeface="맑은 고딕"/>
              </a:rPr>
              <a:t>(2) 선행사가 없으므로 which → what</a:t>
            </a:r>
          </a:p>
          <a:p>
            <a:pPr algn="l">
              <a:lnSpc>
                <a:spcPct val="105000"/>
              </a:lnSpc>
              <a:spcBef>
                <a:spcPts val="0"/>
              </a:spcBef>
              <a:spcAft>
                <a:spcPts val="200"/>
              </a:spcAft>
            </a:pPr>
            <a:r>
              <a:rPr sz="1500" b="0" i="0">
                <a:solidFill>
                  <a:srgbClr val="152A4A"/>
                </a:solidFill>
                <a:latin typeface="맑은 고딕"/>
              </a:rPr>
              <a:t>(3) 완전한 절이므로 thinks의 목적어절 접속사 that</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문장에서 어법상 어색한 부분을 바르게 고치고 전체 문장을 다시 쓰시오.</a:t>
            </a:r>
          </a:p>
          <a:p>
            <a:pPr algn="l">
              <a:lnSpc>
                <a:spcPct val="105000"/>
              </a:lnSpc>
              <a:spcBef>
                <a:spcPts val="0"/>
              </a:spcBef>
              <a:spcAft>
                <a:spcPts val="200"/>
              </a:spcAft>
            </a:pPr>
            <a:r>
              <a:rPr sz="1800" b="1" i="0">
                <a:solidFill>
                  <a:srgbClr val="222222"/>
                </a:solidFill>
                <a:latin typeface="맑은 고딕"/>
              </a:rPr>
              <a:t>(1) I told the policeman what I saw it there.</a:t>
            </a:r>
          </a:p>
          <a:p>
            <a:pPr algn="l">
              <a:lnSpc>
                <a:spcPct val="105000"/>
              </a:lnSpc>
              <a:spcBef>
                <a:spcPts val="0"/>
              </a:spcBef>
              <a:spcAft>
                <a:spcPts val="200"/>
              </a:spcAft>
            </a:pPr>
            <a:r>
              <a:rPr sz="1800" b="1" i="0">
                <a:solidFill>
                  <a:srgbClr val="222222"/>
                </a:solidFill>
                <a:latin typeface="맑은 고딕"/>
              </a:rPr>
              <a:t>(2) She believes only that she sees with her eyes.</a:t>
            </a:r>
          </a:p>
          <a:p>
            <a:pPr algn="l">
              <a:lnSpc>
                <a:spcPct val="105000"/>
              </a:lnSpc>
              <a:spcBef>
                <a:spcPts val="0"/>
              </a:spcBef>
              <a:spcAft>
                <a:spcPts val="200"/>
              </a:spcAft>
            </a:pPr>
            <a:r>
              <a:rPr sz="1800" b="1" i="0">
                <a:solidFill>
                  <a:srgbClr val="222222"/>
                </a:solidFill>
                <a:latin typeface="맑은 고딕"/>
              </a:rPr>
              <a:t>(3) What is special about Sujin are that she always trusts herself.</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300" b="1" i="0">
                <a:solidFill>
                  <a:srgbClr val="5A4200"/>
                </a:solidFill>
                <a:latin typeface="맑은 고딕"/>
              </a:rPr>
              <a:t>정답:  (1) I told the policeman what I saw there. (2) She believes only what she sees with her eyes. (3) What is special about Sujin is that she always trusts herself.</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what 뒤는 불완전한 절 → 목적어 it 삭제</a:t>
            </a:r>
          </a:p>
          <a:p>
            <a:pPr algn="l">
              <a:lnSpc>
                <a:spcPct val="105000"/>
              </a:lnSpc>
              <a:spcBef>
                <a:spcPts val="0"/>
              </a:spcBef>
              <a:spcAft>
                <a:spcPts val="200"/>
              </a:spcAft>
            </a:pPr>
            <a:r>
              <a:rPr sz="1500" b="0" i="0">
                <a:solidFill>
                  <a:srgbClr val="152A4A"/>
                </a:solidFill>
                <a:latin typeface="맑은 고딕"/>
              </a:rPr>
              <a:t>(2) sees의 목적어가 없으므로 that → what</a:t>
            </a:r>
          </a:p>
          <a:p>
            <a:pPr algn="l">
              <a:lnSpc>
                <a:spcPct val="105000"/>
              </a:lnSpc>
              <a:spcBef>
                <a:spcPts val="0"/>
              </a:spcBef>
              <a:spcAft>
                <a:spcPts val="200"/>
              </a:spcAft>
            </a:pPr>
            <a:r>
              <a:rPr sz="1500" b="0" i="0">
                <a:solidFill>
                  <a:srgbClr val="152A4A"/>
                </a:solidFill>
                <a:latin typeface="맑은 고딕"/>
              </a:rPr>
              <a:t>(3) what절은 단수 취급 → is</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A: Tom said that he got a perfect score in math. Can you believe it?</a:t>
            </a:r>
          </a:p>
          <a:p>
            <a:pPr algn="l">
              <a:lnSpc>
                <a:spcPct val="105000"/>
              </a:lnSpc>
              <a:spcBef>
                <a:spcPts val="0"/>
              </a:spcBef>
              <a:spcAft>
                <a:spcPts val="100"/>
              </a:spcAft>
            </a:pPr>
            <a:r>
              <a:rPr sz="1500" b="0" i="1">
                <a:solidFill>
                  <a:srgbClr val="555555"/>
                </a:solidFill>
                <a:latin typeface="맑은 고딕"/>
              </a:rPr>
              <a:t>B: Really? I don't believe (what / which) he said.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괄호 안에서 알맞은 말을 고르시오.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선행사가 없고 said의 목적어가 빠진 불완전한 절이므로 what.</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39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A: Is this the fan that they need?</a:t>
            </a:r>
          </a:p>
          <a:p>
            <a:pPr algn="l">
              <a:lnSpc>
                <a:spcPct val="105000"/>
              </a:lnSpc>
              <a:spcBef>
                <a:spcPts val="0"/>
              </a:spcBef>
              <a:spcAft>
                <a:spcPts val="100"/>
              </a:spcAft>
            </a:pPr>
            <a:r>
              <a:rPr sz="1500" b="0" i="1">
                <a:solidFill>
                  <a:srgbClr val="555555"/>
                </a:solidFill>
                <a:latin typeface="맑은 고딕"/>
              </a:rPr>
              <a:t>B: Yes, this is ______ ______ need.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대화의 빈칸을 완성하시오.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they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the fan을 '~하는 것'으로 받아 what they need(그들이 필요한 것)로 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빈칸에 공통으로 들어갈 알맞은 말을 쓰시오.</a:t>
            </a:r>
          </a:p>
          <a:p>
            <a:pPr algn="l">
              <a:lnSpc>
                <a:spcPct val="105000"/>
              </a:lnSpc>
              <a:spcBef>
                <a:spcPts val="0"/>
              </a:spcBef>
              <a:spcAft>
                <a:spcPts val="200"/>
              </a:spcAft>
            </a:pPr>
            <a:r>
              <a:rPr sz="1800" b="1" i="0">
                <a:solidFill>
                  <a:srgbClr val="222222"/>
                </a:solidFill>
                <a:latin typeface="맑은 고딕"/>
              </a:rPr>
              <a:t>• ______ does it mean? - It means peace and love.</a:t>
            </a:r>
          </a:p>
          <a:p>
            <a:pPr algn="l">
              <a:lnSpc>
                <a:spcPct val="105000"/>
              </a:lnSpc>
              <a:spcBef>
                <a:spcPts val="0"/>
              </a:spcBef>
              <a:spcAft>
                <a:spcPts val="200"/>
              </a:spcAft>
            </a:pPr>
            <a:r>
              <a:rPr sz="1800" b="1" i="0">
                <a:solidFill>
                  <a:srgbClr val="222222"/>
                </a:solidFill>
                <a:latin typeface="맑은 고딕"/>
              </a:rPr>
              <a:t>• He spent ______ he had earned.</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의문사 what(무엇)과 관계대명사 what(~한 것) 모두 가능.</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129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who  whom  whose  which  what</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빈칸에 알맞은 단어를 &lt;보기&gt;에서 골라 쓰시오.</a:t>
            </a:r>
          </a:p>
          <a:p>
            <a:pPr algn="l">
              <a:lnSpc>
                <a:spcPct val="105000"/>
              </a:lnSpc>
              <a:spcBef>
                <a:spcPts val="0"/>
              </a:spcBef>
              <a:spcAft>
                <a:spcPts val="200"/>
              </a:spcAft>
            </a:pPr>
            <a:r>
              <a:rPr sz="1800" b="1" i="0">
                <a:solidFill>
                  <a:srgbClr val="222222"/>
                </a:solidFill>
                <a:latin typeface="맑은 고딕"/>
              </a:rPr>
              <a:t>(1) They are my classmates ______ play made students think about school violence.</a:t>
            </a:r>
          </a:p>
          <a:p>
            <a:pPr algn="l">
              <a:lnSpc>
                <a:spcPct val="105000"/>
              </a:lnSpc>
              <a:spcBef>
                <a:spcPts val="0"/>
              </a:spcBef>
              <a:spcAft>
                <a:spcPts val="200"/>
              </a:spcAft>
            </a:pPr>
            <a:r>
              <a:rPr sz="1800" b="1" i="0">
                <a:solidFill>
                  <a:srgbClr val="222222"/>
                </a:solidFill>
                <a:latin typeface="맑은 고딕"/>
              </a:rPr>
              <a:t>(2) That sparkling necklace is ______ Jenny likes best.</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whose (2) what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뒤 명사 play를 수식하는 소유격 whose</a:t>
            </a:r>
          </a:p>
          <a:p>
            <a:pPr algn="l">
              <a:lnSpc>
                <a:spcPct val="105000"/>
              </a:lnSpc>
              <a:spcBef>
                <a:spcPts val="0"/>
              </a:spcBef>
              <a:spcAft>
                <a:spcPts val="200"/>
              </a:spcAft>
            </a:pPr>
            <a:r>
              <a:rPr sz="1500" b="0" i="0">
                <a:solidFill>
                  <a:srgbClr val="152A4A"/>
                </a:solidFill>
                <a:latin typeface="맑은 고딕"/>
              </a:rPr>
              <a:t>(2) 선행사 없고 likes의 목적어가 빠짐 → what</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문장을 관계대명사 what을 이용한 문장으로 바꿔 쓰시오.</a:t>
            </a:r>
          </a:p>
          <a:p>
            <a:pPr algn="l">
              <a:lnSpc>
                <a:spcPct val="105000"/>
              </a:lnSpc>
              <a:spcBef>
                <a:spcPts val="0"/>
              </a:spcBef>
              <a:spcAft>
                <a:spcPts val="200"/>
              </a:spcAft>
            </a:pPr>
            <a:r>
              <a:rPr sz="1800" b="1" i="0">
                <a:solidFill>
                  <a:srgbClr val="222222"/>
                </a:solidFill>
                <a:latin typeface="맑은 고딕"/>
              </a:rPr>
              <a:t>(1) The thing that she said was true.</a:t>
            </a:r>
          </a:p>
          <a:p>
            <a:pPr algn="l">
              <a:lnSpc>
                <a:spcPct val="105000"/>
              </a:lnSpc>
              <a:spcBef>
                <a:spcPts val="0"/>
              </a:spcBef>
              <a:spcAft>
                <a:spcPts val="200"/>
              </a:spcAft>
            </a:pPr>
            <a:r>
              <a:rPr sz="1800" b="1" i="0">
                <a:solidFill>
                  <a:srgbClr val="222222"/>
                </a:solidFill>
                <a:latin typeface="맑은 고딕"/>
              </a:rPr>
              <a:t>→ ______ ______ ______ was true.</a:t>
            </a:r>
          </a:p>
          <a:p>
            <a:pPr algn="l">
              <a:lnSpc>
                <a:spcPct val="105000"/>
              </a:lnSpc>
              <a:spcBef>
                <a:spcPts val="0"/>
              </a:spcBef>
              <a:spcAft>
                <a:spcPts val="200"/>
              </a:spcAft>
            </a:pPr>
            <a:r>
              <a:rPr sz="1800" b="1" i="0">
                <a:solidFill>
                  <a:srgbClr val="222222"/>
                </a:solidFill>
                <a:latin typeface="맑은 고딕"/>
              </a:rPr>
              <a:t>(2) Tell me the thing which you want.</a:t>
            </a:r>
          </a:p>
          <a:p>
            <a:pPr algn="l">
              <a:lnSpc>
                <a:spcPct val="105000"/>
              </a:lnSpc>
              <a:spcBef>
                <a:spcPts val="0"/>
              </a:spcBef>
              <a:spcAft>
                <a:spcPts val="200"/>
              </a:spcAft>
            </a:pPr>
            <a:r>
              <a:rPr sz="1800" b="1" i="0">
                <a:solidFill>
                  <a:srgbClr val="222222"/>
                </a:solidFill>
                <a:latin typeface="맑은 고딕"/>
              </a:rPr>
              <a:t>→ Tell me ______ ______ ______.</a:t>
            </a:r>
          </a:p>
          <a:p>
            <a:pPr algn="l">
              <a:lnSpc>
                <a:spcPct val="105000"/>
              </a:lnSpc>
              <a:spcBef>
                <a:spcPts val="0"/>
              </a:spcBef>
              <a:spcAft>
                <a:spcPts val="200"/>
              </a:spcAft>
            </a:pPr>
            <a:r>
              <a:rPr sz="1800" b="1" i="0">
                <a:solidFill>
                  <a:srgbClr val="222222"/>
                </a:solidFill>
                <a:latin typeface="맑은 고딕"/>
              </a:rPr>
              <a:t>(3) The victims received the things which they needed.</a:t>
            </a:r>
          </a:p>
          <a:p>
            <a:pPr algn="l">
              <a:lnSpc>
                <a:spcPct val="105000"/>
              </a:lnSpc>
              <a:spcBef>
                <a:spcPts val="0"/>
              </a:spcBef>
              <a:spcAft>
                <a:spcPts val="200"/>
              </a:spcAft>
            </a:pPr>
            <a:r>
              <a:rPr sz="1800" b="1" i="0">
                <a:solidFill>
                  <a:srgbClr val="222222"/>
                </a:solidFill>
                <a:latin typeface="맑은 고딕"/>
              </a:rPr>
              <a:t>→ The victims received ______ ______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What she said (2) what you want (3) what they needed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what은 선행사를 포함한 관계대명사로 the thing(s) that[which]로 바꿔 쓸 수 있다.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131 / 148</a:t>
            </a:r>
          </a:p>
        </p:txBody>
      </p:sp>
      <p:sp>
        <p:nvSpPr>
          <p:cNvPr id="5" name="TextBox 4"/>
          <p:cNvSpPr txBox="1"/>
          <p:nvPr/>
        </p:nvSpPr>
        <p:spPr>
          <a:xfrm>
            <a:off x="457200" y="868680"/>
            <a:ext cx="6766560"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그림에 맞는 내용을 괄호 안에 주어진 단어를 이용하여 완성하시오. (필요시 단어를 추가하거나 형태를 변형시킬 것) (그림 참고)</a:t>
            </a:r>
          </a:p>
          <a:p>
            <a:pPr algn="l">
              <a:lnSpc>
                <a:spcPct val="105000"/>
              </a:lnSpc>
              <a:spcBef>
                <a:spcPts val="0"/>
              </a:spcBef>
              <a:spcAft>
                <a:spcPts val="200"/>
              </a:spcAft>
            </a:pPr>
            <a:r>
              <a:rPr sz="1800" b="1" i="0">
                <a:solidFill>
                  <a:srgbClr val="222222"/>
                </a:solidFill>
                <a:latin typeface="맑은 고딕"/>
              </a:rPr>
              <a:t>(1) This book is ______ yesterday. (buy, what)</a:t>
            </a:r>
          </a:p>
          <a:p>
            <a:pPr algn="l">
              <a:lnSpc>
                <a:spcPct val="105000"/>
              </a:lnSpc>
              <a:spcBef>
                <a:spcPts val="0"/>
              </a:spcBef>
              <a:spcAft>
                <a:spcPts val="200"/>
              </a:spcAft>
            </a:pPr>
            <a:r>
              <a:rPr sz="1800" b="1" i="0">
                <a:solidFill>
                  <a:srgbClr val="222222"/>
                </a:solidFill>
                <a:latin typeface="맑은 고딕"/>
              </a:rPr>
              <a:t>(2) I couldn't understand ______. (say, what)</a:t>
            </a:r>
          </a:p>
        </p:txBody>
      </p:sp>
      <p:pic>
        <p:nvPicPr>
          <p:cNvPr id="6" name="Picture 5" descr="p243.png"/>
          <p:cNvPicPr>
            <a:picLocks noChangeAspect="1"/>
          </p:cNvPicPr>
          <p:nvPr/>
        </p:nvPicPr>
        <p:blipFill>
          <a:blip r:embed="rId2"/>
          <a:stretch>
            <a:fillRect/>
          </a:stretch>
        </p:blipFill>
        <p:spPr>
          <a:xfrm>
            <a:off x="7406640" y="1242364"/>
            <a:ext cx="4206240" cy="2635910"/>
          </a:xfrm>
          <a:prstGeom prst="rect">
            <a:avLst/>
          </a:prstGeom>
        </p:spPr>
      </p:pic>
      <p:cxnSp>
        <p:nvCxnSpPr>
          <p:cNvPr id="7" name="Connector 6"/>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what I bought (2) what he said</a:t>
            </a:r>
          </a:p>
        </p:txBody>
      </p:sp>
      <p:sp>
        <p:nvSpPr>
          <p:cNvPr id="9"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'~하는 것'이란 뜻의 관계대명사 what을 사용하여 빈칸을 채운다.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너는 영국인들이 "Tube"라고 부르는 것이 지하철이라는 것을 아니?</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영작하고자 할 때, 빈칸에 알맞은 말을 쓰시오.</a:t>
            </a:r>
          </a:p>
          <a:p>
            <a:pPr algn="l">
              <a:lnSpc>
                <a:spcPct val="105000"/>
              </a:lnSpc>
              <a:spcBef>
                <a:spcPts val="0"/>
              </a:spcBef>
              <a:spcAft>
                <a:spcPts val="200"/>
              </a:spcAft>
            </a:pPr>
            <a:r>
              <a:rPr sz="1800" b="1" i="0">
                <a:solidFill>
                  <a:srgbClr val="222222"/>
                </a:solidFill>
                <a:latin typeface="맑은 고딕"/>
              </a:rPr>
              <a:t>→ Do you know ______ the ______ ______ the ______ ______ the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British call, Tube is, subway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what절이 know의 목적어절 내 주어 역할을 하며, what절은 단수 취급하므로 is.</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These days we don't have enough time to read books. So my school prepared a special event. Tomorrow is Favorite Book Day. 우리는 도서관에서 우리가 읽고 싶은 것을 선택할 것이다.</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일치하도록 빈칸에 알맞은 단어를 넣어서 문장을 완성하시오.</a:t>
            </a:r>
          </a:p>
          <a:p>
            <a:pPr algn="l">
              <a:lnSpc>
                <a:spcPct val="105000"/>
              </a:lnSpc>
              <a:spcBef>
                <a:spcPts val="0"/>
              </a:spcBef>
              <a:spcAft>
                <a:spcPts val="200"/>
              </a:spcAft>
            </a:pPr>
            <a:r>
              <a:rPr sz="1800" b="1" i="0">
                <a:solidFill>
                  <a:srgbClr val="222222"/>
                </a:solidFill>
                <a:latin typeface="맑은 고딕"/>
              </a:rPr>
              <a:t>→ We will choose ______ we ______ ______ ______ in the library.</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want to read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관계대명사 what과 '읽고 싶은'의 의미인 want to read를 채운다.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문장을 관계대명사 what을 이용하여 완전한 문장으로 바꾸시오.</a:t>
            </a:r>
          </a:p>
          <a:p>
            <a:pPr algn="l">
              <a:lnSpc>
                <a:spcPct val="105000"/>
              </a:lnSpc>
              <a:spcBef>
                <a:spcPts val="0"/>
              </a:spcBef>
              <a:spcAft>
                <a:spcPts val="200"/>
              </a:spcAft>
            </a:pPr>
            <a:r>
              <a:rPr sz="1800" b="1" i="0">
                <a:solidFill>
                  <a:srgbClr val="222222"/>
                </a:solidFill>
                <a:latin typeface="맑은 고딕"/>
              </a:rPr>
              <a:t>This is not the movie that I want to see.</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This movie is not what I want to see.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'~하는 것'이란 뜻의 관계대명사 what을 보어 자리에 사용한다.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Tim이 지금 당장 필요로 하는 것은 너의 도움이다.</a:t>
            </a:r>
          </a:p>
          <a:p>
            <a:pPr algn="l">
              <a:lnSpc>
                <a:spcPct val="105000"/>
              </a:lnSpc>
              <a:spcBef>
                <a:spcPts val="0"/>
              </a:spcBef>
              <a:spcAft>
                <a:spcPts val="100"/>
              </a:spcAft>
            </a:pPr>
            <a:r>
              <a:rPr sz="1500" b="0" i="1">
                <a:solidFill>
                  <a:srgbClr val="555555"/>
                </a:solidFill>
                <a:latin typeface="맑은 고딕"/>
              </a:rPr>
              <a:t>(Tim, needs, is, what, right, your, now, help)</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우리말과 일치하도록 괄호 안에 주어진 단어를 바르게 배열할 때, 세 번째와 여섯 번째에 해당하는 단어를 쓰시오.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needs, is</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 Tim needs right now is your help. → 세 번째 needs, 여섯 번째 is.</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각 문장의 괄호 안에서 알맞은 것을 고르시오.</a:t>
            </a:r>
          </a:p>
          <a:p>
            <a:pPr algn="l">
              <a:lnSpc>
                <a:spcPct val="105000"/>
              </a:lnSpc>
              <a:spcBef>
                <a:spcPts val="0"/>
              </a:spcBef>
              <a:spcAft>
                <a:spcPts val="200"/>
              </a:spcAft>
            </a:pPr>
            <a:r>
              <a:rPr sz="1800" b="1" i="0">
                <a:solidFill>
                  <a:srgbClr val="222222"/>
                </a:solidFill>
                <a:latin typeface="맑은 고딕"/>
              </a:rPr>
              <a:t>(1) I believe everything (what / that) she says.</a:t>
            </a:r>
          </a:p>
          <a:p>
            <a:pPr algn="l">
              <a:lnSpc>
                <a:spcPct val="105000"/>
              </a:lnSpc>
              <a:spcBef>
                <a:spcPts val="0"/>
              </a:spcBef>
              <a:spcAft>
                <a:spcPts val="200"/>
              </a:spcAft>
            </a:pPr>
            <a:r>
              <a:rPr sz="1800" b="1" i="0">
                <a:solidFill>
                  <a:srgbClr val="222222"/>
                </a:solidFill>
                <a:latin typeface="맑은 고딕"/>
              </a:rPr>
              <a:t>(2) I can't give you (what / that) you want.</a:t>
            </a:r>
          </a:p>
          <a:p>
            <a:pPr algn="l">
              <a:lnSpc>
                <a:spcPct val="105000"/>
              </a:lnSpc>
              <a:spcBef>
                <a:spcPts val="0"/>
              </a:spcBef>
              <a:spcAft>
                <a:spcPts val="200"/>
              </a:spcAft>
            </a:pPr>
            <a:r>
              <a:rPr sz="1800" b="1" i="0">
                <a:solidFill>
                  <a:srgbClr val="222222"/>
                </a:solidFill>
                <a:latin typeface="맑은 고딕"/>
              </a:rPr>
              <a:t>(3) He said nothing (what / that) was important.</a:t>
            </a:r>
          </a:p>
          <a:p>
            <a:pPr algn="l">
              <a:lnSpc>
                <a:spcPct val="105000"/>
              </a:lnSpc>
              <a:spcBef>
                <a:spcPts val="0"/>
              </a:spcBef>
              <a:spcAft>
                <a:spcPts val="200"/>
              </a:spcAft>
            </a:pPr>
            <a:r>
              <a:rPr sz="1800" b="1" i="0">
                <a:solidFill>
                  <a:srgbClr val="222222"/>
                </a:solidFill>
                <a:latin typeface="맑은 고딕"/>
              </a:rPr>
              <a:t>(4) The only thing (what / that) I forgot was a battery.</a:t>
            </a:r>
          </a:p>
          <a:p>
            <a:pPr algn="l">
              <a:lnSpc>
                <a:spcPct val="105000"/>
              </a:lnSpc>
              <a:spcBef>
                <a:spcPts val="0"/>
              </a:spcBef>
              <a:spcAft>
                <a:spcPts val="200"/>
              </a:spcAft>
            </a:pPr>
            <a:r>
              <a:rPr sz="1800" b="1" i="0">
                <a:solidFill>
                  <a:srgbClr val="222222"/>
                </a:solidFill>
                <a:latin typeface="맑은 고딕"/>
              </a:rPr>
              <a:t>(5) An open mind is (what / that) we really need for our society.</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(1) that (2) what (3) that (4) that (5) what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선행사(everything, nothing, the only thing)가 있으면 that, 선행사가 없으면 what.</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49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200"/>
              </a:spcAft>
            </a:pPr>
            <a:r>
              <a:rPr sz="1800" b="1" i="0">
                <a:solidFill>
                  <a:srgbClr val="222222"/>
                </a:solidFill>
                <a:latin typeface="맑은 고딕"/>
              </a:rPr>
              <a:t>다음 우리말과 일치하도록 괄호 안에 주어진 단어를 바르게 배열하시오.</a:t>
            </a:r>
          </a:p>
          <a:p>
            <a:pPr algn="l">
              <a:lnSpc>
                <a:spcPct val="105000"/>
              </a:lnSpc>
              <a:spcBef>
                <a:spcPts val="0"/>
              </a:spcBef>
              <a:spcAft>
                <a:spcPts val="200"/>
              </a:spcAft>
            </a:pPr>
            <a:r>
              <a:rPr sz="1800" b="1" i="0">
                <a:solidFill>
                  <a:srgbClr val="222222"/>
                </a:solidFill>
                <a:latin typeface="맑은 고딕"/>
              </a:rPr>
              <a:t>(1) 어젯밤에 나를 화나게 만들었던 것은 이웃집의 소음이었다.</a:t>
            </a:r>
          </a:p>
          <a:p>
            <a:pPr algn="l">
              <a:lnSpc>
                <a:spcPct val="105000"/>
              </a:lnSpc>
              <a:spcBef>
                <a:spcPts val="0"/>
              </a:spcBef>
              <a:spcAft>
                <a:spcPts val="200"/>
              </a:spcAft>
            </a:pPr>
            <a:r>
              <a:rPr sz="1800" b="1" i="0">
                <a:solidFill>
                  <a:srgbClr val="222222"/>
                </a:solidFill>
                <a:latin typeface="맑은 고딕"/>
              </a:rPr>
              <a:t>(neighbor, made, noise, night, me, was, the, upset, what, from, the, last)</a:t>
            </a:r>
          </a:p>
          <a:p>
            <a:pPr algn="l">
              <a:lnSpc>
                <a:spcPct val="105000"/>
              </a:lnSpc>
              <a:spcBef>
                <a:spcPts val="0"/>
              </a:spcBef>
              <a:spcAft>
                <a:spcPts val="200"/>
              </a:spcAft>
            </a:pPr>
            <a:r>
              <a:rPr sz="1800" b="1" i="0">
                <a:solidFill>
                  <a:srgbClr val="222222"/>
                </a:solidFill>
                <a:latin typeface="맑은 고딕"/>
              </a:rPr>
              <a:t>(2) 그 결과는 내가 예상했던 것이 아니었다.</a:t>
            </a:r>
          </a:p>
          <a:p>
            <a:pPr algn="l">
              <a:lnSpc>
                <a:spcPct val="105000"/>
              </a:lnSpc>
              <a:spcBef>
                <a:spcPts val="0"/>
              </a:spcBef>
              <a:spcAft>
                <a:spcPts val="200"/>
              </a:spcAft>
            </a:pPr>
            <a:r>
              <a:rPr sz="1800" b="1" i="0">
                <a:solidFill>
                  <a:srgbClr val="222222"/>
                </a:solidFill>
                <a:latin typeface="맑은 고딕"/>
              </a:rPr>
              <a:t>(not, the, what, was, I, result, expected)</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(1) What made me upset last night was the noise from the neighbor. (2) The result was not what I expected.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주어 자리에 what절, 동사는 단수</a:t>
            </a:r>
          </a:p>
          <a:p>
            <a:pPr algn="l">
              <a:lnSpc>
                <a:spcPct val="105000"/>
              </a:lnSpc>
              <a:spcBef>
                <a:spcPts val="0"/>
              </a:spcBef>
              <a:spcAft>
                <a:spcPts val="200"/>
              </a:spcAft>
            </a:pPr>
            <a:r>
              <a:rPr sz="1500" b="0" i="0">
                <a:solidFill>
                  <a:srgbClr val="152A4A"/>
                </a:solidFill>
                <a:latin typeface="맑은 고딕"/>
              </a:rPr>
              <a:t>(2) 보어 자리에 what절</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'exactly', 'want', 'what'를 반드시 이용할 것</a:t>
            </a:r>
          </a:p>
          <a:p>
            <a:pPr algn="l">
              <a:lnSpc>
                <a:spcPct val="105000"/>
              </a:lnSpc>
              <a:spcBef>
                <a:spcPts val="0"/>
              </a:spcBef>
              <a:spcAft>
                <a:spcPts val="100"/>
              </a:spcAft>
            </a:pPr>
            <a:r>
              <a:rPr sz="1500" b="0" i="1">
                <a:solidFill>
                  <a:srgbClr val="555555"/>
                </a:solidFill>
                <a:latin typeface="맑은 고딕"/>
              </a:rPr>
              <a:t>2. 필요시 단어의 형태를 변형시킬 것</a:t>
            </a:r>
          </a:p>
          <a:p>
            <a:pPr algn="l">
              <a:lnSpc>
                <a:spcPct val="105000"/>
              </a:lnSpc>
              <a:spcBef>
                <a:spcPts val="0"/>
              </a:spcBef>
              <a:spcAft>
                <a:spcPts val="100"/>
              </a:spcAft>
            </a:pPr>
            <a:r>
              <a:rPr sz="1500" b="0" i="1">
                <a:solidFill>
                  <a:srgbClr val="555555"/>
                </a:solidFill>
                <a:latin typeface="맑은 고딕"/>
              </a:rPr>
              <a:t>3. 총 6단어로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주어진 &lt;조건&gt;에 맞게 영작하시오.</a:t>
            </a:r>
          </a:p>
          <a:p>
            <a:pPr algn="l">
              <a:lnSpc>
                <a:spcPct val="105000"/>
              </a:lnSpc>
              <a:spcBef>
                <a:spcPts val="0"/>
              </a:spcBef>
              <a:spcAft>
                <a:spcPts val="200"/>
              </a:spcAft>
            </a:pPr>
            <a:r>
              <a:rPr sz="1800" b="1" i="0">
                <a:solidFill>
                  <a:srgbClr val="222222"/>
                </a:solidFill>
                <a:latin typeface="맑은 고딕"/>
              </a:rPr>
              <a:t>이것이 바로 내가 원했던 것이다.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This is exactly what I wanted.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보어 자리에 what+주어+동사(과거형 wanted).</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51</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139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'always', 'want', 'what', 'need'를 반드시 이용할 것</a:t>
            </a:r>
          </a:p>
          <a:p>
            <a:pPr algn="l">
              <a:lnSpc>
                <a:spcPct val="105000"/>
              </a:lnSpc>
              <a:spcBef>
                <a:spcPts val="0"/>
              </a:spcBef>
              <a:spcAft>
                <a:spcPts val="100"/>
              </a:spcAft>
            </a:pPr>
            <a:r>
              <a:rPr sz="1500" b="0" i="1">
                <a:solidFill>
                  <a:srgbClr val="555555"/>
                </a:solidFill>
                <a:latin typeface="맑은 고딕"/>
              </a:rPr>
              <a:t>2. 중복 사용 가능, 필요시 단어의 형태를 변형시킬 것</a:t>
            </a:r>
          </a:p>
          <a:p>
            <a:pPr algn="l">
              <a:lnSpc>
                <a:spcPct val="105000"/>
              </a:lnSpc>
              <a:spcBef>
                <a:spcPts val="0"/>
              </a:spcBef>
              <a:spcAft>
                <a:spcPts val="100"/>
              </a:spcAft>
            </a:pPr>
            <a:r>
              <a:rPr sz="1500" b="0" i="1">
                <a:solidFill>
                  <a:srgbClr val="555555"/>
                </a:solidFill>
                <a:latin typeface="맑은 고딕"/>
              </a:rPr>
              <a:t>3. 총 9단어로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주어진 &lt;조건&gt;에 맞게 영작하시오.</a:t>
            </a:r>
          </a:p>
          <a:p>
            <a:pPr algn="l">
              <a:lnSpc>
                <a:spcPct val="105000"/>
              </a:lnSpc>
              <a:spcBef>
                <a:spcPts val="0"/>
              </a:spcBef>
              <a:spcAft>
                <a:spcPts val="200"/>
              </a:spcAft>
            </a:pPr>
            <a:r>
              <a:rPr sz="1800" b="1" i="0">
                <a:solidFill>
                  <a:srgbClr val="222222"/>
                </a:solidFill>
                <a:latin typeface="맑은 고딕"/>
              </a:rPr>
              <a:t>내가 필요로 하는 것이 항상 내가 원하는 것이지는 않다.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need is not always what I want.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주어와 보어 자리에 각각 what절; not always는 부분부정.</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52</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140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'should', 'check', 'what', 'them'을 반드시 이용할 것</a:t>
            </a:r>
          </a:p>
          <a:p>
            <a:pPr algn="l">
              <a:lnSpc>
                <a:spcPct val="105000"/>
              </a:lnSpc>
              <a:spcBef>
                <a:spcPts val="0"/>
              </a:spcBef>
              <a:spcAft>
                <a:spcPts val="100"/>
              </a:spcAft>
            </a:pPr>
            <a:r>
              <a:rPr sz="1500" b="0" i="1">
                <a:solidFill>
                  <a:srgbClr val="555555"/>
                </a:solidFill>
                <a:latin typeface="맑은 고딕"/>
              </a:rPr>
              <a:t>2. 필요시 단어의 형태를 변형시킬 것</a:t>
            </a:r>
          </a:p>
          <a:p>
            <a:pPr algn="l">
              <a:lnSpc>
                <a:spcPct val="105000"/>
              </a:lnSpc>
              <a:spcBef>
                <a:spcPts val="0"/>
              </a:spcBef>
              <a:spcAft>
                <a:spcPts val="100"/>
              </a:spcAft>
            </a:pPr>
            <a:r>
              <a:rPr sz="1500" b="0" i="1">
                <a:solidFill>
                  <a:srgbClr val="555555"/>
                </a:solidFill>
                <a:latin typeface="맑은 고딕"/>
              </a:rPr>
              <a:t>3. 총 10단어로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우리말을 주어진 &lt;조건&gt;에 맞게 영작하시오.</a:t>
            </a:r>
          </a:p>
          <a:p>
            <a:pPr algn="l">
              <a:lnSpc>
                <a:spcPct val="105000"/>
              </a:lnSpc>
              <a:spcBef>
                <a:spcPts val="0"/>
              </a:spcBef>
              <a:spcAft>
                <a:spcPts val="200"/>
              </a:spcAft>
            </a:pPr>
            <a:r>
              <a:rPr sz="1800" b="1" i="0">
                <a:solidFill>
                  <a:srgbClr val="222222"/>
                </a:solidFill>
                <a:latin typeface="맑은 고딕"/>
              </a:rPr>
              <a:t>당신이 해야 할 것은 그것들 모두를 확인하는 것이다.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you should do is to check all of them.</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자리에 what절, 동사는 단수(is)로 일치.</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53</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141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I found the thing. He wanted the thing.</a:t>
            </a:r>
          </a:p>
          <a:p>
            <a:pPr algn="l">
              <a:lnSpc>
                <a:spcPct val="105000"/>
              </a:lnSpc>
              <a:spcBef>
                <a:spcPts val="0"/>
              </a:spcBef>
              <a:spcAft>
                <a:spcPts val="100"/>
              </a:spcAft>
            </a:pPr>
            <a:r>
              <a:rPr sz="1500" b="0" i="1">
                <a:solidFill>
                  <a:srgbClr val="555555"/>
                </a:solidFill>
                <a:latin typeface="맑은 고딕"/>
              </a:rPr>
              <a:t>→ I found the thing which he wanted.</a:t>
            </a:r>
          </a:p>
          <a:p>
            <a:pPr algn="l">
              <a:lnSpc>
                <a:spcPct val="105000"/>
              </a:lnSpc>
              <a:spcBef>
                <a:spcPts val="0"/>
              </a:spcBef>
              <a:spcAft>
                <a:spcPts val="100"/>
              </a:spcAft>
            </a:pPr>
            <a:r>
              <a:rPr sz="1500" b="0" i="1">
                <a:solidFill>
                  <a:srgbClr val="555555"/>
                </a:solidFill>
                <a:latin typeface="맑은 고딕"/>
              </a:rPr>
              <a:t>→ I found (A)______ he wanted.</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주어진 문장의 빈칸 (A)에 들어갈 단어를 쓰고, 그 단어와 'believe'를 이용하여 (B)를 영작하시오.</a:t>
            </a:r>
          </a:p>
          <a:p>
            <a:pPr algn="l">
              <a:lnSpc>
                <a:spcPct val="105000"/>
              </a:lnSpc>
              <a:spcBef>
                <a:spcPts val="0"/>
              </a:spcBef>
              <a:spcAft>
                <a:spcPts val="200"/>
              </a:spcAft>
            </a:pPr>
            <a:r>
              <a:rPr sz="1800" b="1" i="0">
                <a:solidFill>
                  <a:srgbClr val="222222"/>
                </a:solidFill>
                <a:latin typeface="맑은 고딕"/>
              </a:rPr>
              <a:t>(A) ______</a:t>
            </a:r>
          </a:p>
          <a:p>
            <a:pPr algn="l">
              <a:lnSpc>
                <a:spcPct val="105000"/>
              </a:lnSpc>
              <a:spcBef>
                <a:spcPts val="0"/>
              </a:spcBef>
              <a:spcAft>
                <a:spcPts val="200"/>
              </a:spcAft>
            </a:pPr>
            <a:r>
              <a:rPr sz="1800" b="1" i="0">
                <a:solidFill>
                  <a:srgbClr val="222222"/>
                </a:solidFill>
                <a:latin typeface="맑은 고딕"/>
              </a:rPr>
              <a:t>(B) 나는 그가 말했던 것을 믿지 않는다.</a:t>
            </a:r>
          </a:p>
          <a:p>
            <a:pPr algn="l">
              <a:lnSpc>
                <a:spcPct val="105000"/>
              </a:lnSpc>
              <a:spcBef>
                <a:spcPts val="0"/>
              </a:spcBef>
              <a:spcAft>
                <a:spcPts val="200"/>
              </a:spcAft>
            </a:pPr>
            <a:r>
              <a:rPr sz="1800" b="1" i="0">
                <a:solidFill>
                  <a:srgbClr val="222222"/>
                </a:solidFill>
                <a:latin typeface="맑은 고딕"/>
              </a:rPr>
              <a: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(A) what (B) I don't believe what he said.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the thing which = what(선행사 포함).</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54</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142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Q: Is this the book which you want to read?</a:t>
            </a:r>
          </a:p>
          <a:p>
            <a:pPr algn="l">
              <a:lnSpc>
                <a:spcPct val="105000"/>
              </a:lnSpc>
              <a:spcBef>
                <a:spcPts val="0"/>
              </a:spcBef>
              <a:spcAft>
                <a:spcPts val="100"/>
              </a:spcAft>
            </a:pPr>
            <a:r>
              <a:rPr sz="1500" b="0" i="1">
                <a:solidFill>
                  <a:srgbClr val="555555"/>
                </a:solidFill>
                <a:latin typeface="맑은 고딕"/>
              </a:rPr>
              <a:t>A: Yes, ______. (this, I)</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질문에 대한 답을 관계대명사 what을 이용하여 쓰시오. (단, 괄호 안에 주어진 단어를 사용할 것)</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this book is what I want to read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보어 자리에 관계대명사 what절을 사용한다.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55</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143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'what', 'special about', 'that'을 반드시 이용할 것</a:t>
            </a:r>
          </a:p>
          <a:p>
            <a:pPr algn="l">
              <a:lnSpc>
                <a:spcPct val="105000"/>
              </a:lnSpc>
              <a:spcBef>
                <a:spcPts val="0"/>
              </a:spcBef>
              <a:spcAft>
                <a:spcPts val="100"/>
              </a:spcAft>
            </a:pPr>
            <a:r>
              <a:rPr sz="1500" b="0" i="1">
                <a:solidFill>
                  <a:srgbClr val="555555"/>
                </a:solidFill>
                <a:latin typeface="맑은 고딕"/>
              </a:rPr>
              <a:t>2. 주어와 동사를 포함한 완전한 문장으로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주어진 &lt;조건&gt;에 맞게 자신이 닮고 싶은 인물의 특별한 점을 한 문장으로 쓰시오.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[예시답안] What is special about King Sejong is that he invented Hangeul.</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 is special about ~(~에 대해 특별한 것)을 주어로 쓰고, 보어는 접속사 that+완전한 절.</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56</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144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A: Is this the cake that your mom made for you?</a:t>
            </a:r>
          </a:p>
          <a:p>
            <a:pPr algn="l">
              <a:lnSpc>
                <a:spcPct val="105000"/>
              </a:lnSpc>
              <a:spcBef>
                <a:spcPts val="0"/>
              </a:spcBef>
              <a:spcAft>
                <a:spcPts val="100"/>
              </a:spcAft>
            </a:pPr>
            <a:r>
              <a:rPr sz="1500" b="0" i="1">
                <a:solidFill>
                  <a:srgbClr val="555555"/>
                </a:solidFill>
                <a:latin typeface="맑은 고딕"/>
              </a:rPr>
              <a:t>B: Yes, this cake is what she made for me.</a:t>
            </a:r>
          </a:p>
          <a:p>
            <a:pPr algn="l">
              <a:lnSpc>
                <a:spcPct val="105000"/>
              </a:lnSpc>
              <a:spcBef>
                <a:spcPts val="0"/>
              </a:spcBef>
              <a:spcAft>
                <a:spcPts val="100"/>
              </a:spcAft>
            </a:pPr>
            <a:r>
              <a:rPr sz="1500" b="0" i="1">
                <a:solidFill>
                  <a:srgbClr val="555555"/>
                </a:solidFill>
                <a:latin typeface="맑은 고딕"/>
              </a:rPr>
              <a:t> </a:t>
            </a:r>
          </a:p>
          <a:p>
            <a:pPr algn="l">
              <a:lnSpc>
                <a:spcPct val="105000"/>
              </a:lnSpc>
              <a:spcBef>
                <a:spcPts val="0"/>
              </a:spcBef>
              <a:spcAft>
                <a:spcPts val="100"/>
              </a:spcAft>
            </a:pPr>
            <a:r>
              <a:rPr sz="1500" b="0" i="1">
                <a:solidFill>
                  <a:srgbClr val="555555"/>
                </a:solidFill>
                <a:latin typeface="맑은 고딕"/>
              </a:rPr>
              <a:t>A: Is this the bag that Kate wanted to buy?</a:t>
            </a:r>
          </a:p>
          <a:p>
            <a:pPr algn="l">
              <a:lnSpc>
                <a:spcPct val="105000"/>
              </a:lnSpc>
              <a:spcBef>
                <a:spcPts val="0"/>
              </a:spcBef>
              <a:spcAft>
                <a:spcPts val="100"/>
              </a:spcAft>
            </a:pPr>
            <a:r>
              <a:rPr sz="1500" b="0" i="1">
                <a:solidFill>
                  <a:srgbClr val="555555"/>
                </a:solidFill>
                <a:latin typeface="맑은 고딕"/>
              </a:rPr>
              <a:t>B: Yes, this bag is ______.</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&lt;보기&gt;와 같이 관계대명사 what을 이용하여 대화를 완성하시오.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she wanted to buy</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Kate를 대명사 she로 받아서 대답한다.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57</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145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&lt;보기&gt;</a:t>
            </a:r>
          </a:p>
          <a:p>
            <a:pPr algn="l">
              <a:lnSpc>
                <a:spcPct val="105000"/>
              </a:lnSpc>
              <a:spcBef>
                <a:spcPts val="0"/>
              </a:spcBef>
              <a:spcAft>
                <a:spcPts val="100"/>
              </a:spcAft>
            </a:pPr>
            <a:r>
              <a:rPr sz="1500" b="0" i="1">
                <a:solidFill>
                  <a:srgbClr val="555555"/>
                </a:solidFill>
                <a:latin typeface="맑은 고딕"/>
              </a:rPr>
              <a:t>(A) Mark bought something that he needed.</a:t>
            </a:r>
          </a:p>
          <a:p>
            <a:pPr algn="l">
              <a:lnSpc>
                <a:spcPct val="105000"/>
              </a:lnSpc>
              <a:spcBef>
                <a:spcPts val="0"/>
              </a:spcBef>
              <a:spcAft>
                <a:spcPts val="100"/>
              </a:spcAft>
            </a:pPr>
            <a:r>
              <a:rPr sz="1500" b="0" i="1">
                <a:solidFill>
                  <a:srgbClr val="555555"/>
                </a:solidFill>
                <a:latin typeface="맑은 고딕"/>
              </a:rPr>
              <a:t>(B) I know that Peter gave Sally a card.</a:t>
            </a:r>
          </a:p>
          <a:p>
            <a:pPr algn="l">
              <a:lnSpc>
                <a:spcPct val="105000"/>
              </a:lnSpc>
              <a:spcBef>
                <a:spcPts val="0"/>
              </a:spcBef>
              <a:spcAft>
                <a:spcPts val="100"/>
              </a:spcAft>
            </a:pPr>
            <a:r>
              <a:rPr sz="1500" b="0" i="1">
                <a:solidFill>
                  <a:srgbClr val="555555"/>
                </a:solidFill>
                <a:latin typeface="맑은 고딕"/>
              </a:rPr>
              <a:t>(C) That was given to Tom on Monday.</a:t>
            </a:r>
          </a:p>
          <a:p>
            <a:pPr algn="l">
              <a:lnSpc>
                <a:spcPct val="105000"/>
              </a:lnSpc>
              <a:spcBef>
                <a:spcPts val="0"/>
              </a:spcBef>
              <a:spcAft>
                <a:spcPts val="100"/>
              </a:spcAft>
            </a:pPr>
            <a:r>
              <a:rPr sz="1500" b="0" i="1">
                <a:solidFill>
                  <a:srgbClr val="555555"/>
                </a:solidFill>
                <a:latin typeface="맑은 고딕"/>
              </a:rPr>
              <a:t>(D) This is the thing which I really want to have.</a:t>
            </a:r>
          </a:p>
          <a:p>
            <a:pPr algn="l">
              <a:lnSpc>
                <a:spcPct val="105000"/>
              </a:lnSpc>
              <a:spcBef>
                <a:spcPts val="0"/>
              </a:spcBef>
              <a:spcAft>
                <a:spcPts val="100"/>
              </a:spcAft>
            </a:pPr>
            <a:r>
              <a:rPr sz="1500" b="0" i="1">
                <a:solidFill>
                  <a:srgbClr val="555555"/>
                </a:solidFill>
                <a:latin typeface="맑은 고딕"/>
              </a:rPr>
              <a:t>&lt;조건&gt;</a:t>
            </a:r>
          </a:p>
          <a:p>
            <a:pPr algn="l">
              <a:lnSpc>
                <a:spcPct val="105000"/>
              </a:lnSpc>
              <a:spcBef>
                <a:spcPts val="0"/>
              </a:spcBef>
              <a:spcAft>
                <a:spcPts val="100"/>
              </a:spcAft>
            </a:pPr>
            <a:r>
              <a:rPr sz="1500" b="0" i="1">
                <a:solidFill>
                  <a:srgbClr val="555555"/>
                </a:solidFill>
                <a:latin typeface="맑은 고딕"/>
              </a:rPr>
              <a:t>(1) (A)-(D) 중 고칠 문장의 알파벳을 표기할 것</a:t>
            </a:r>
          </a:p>
          <a:p>
            <a:pPr algn="l">
              <a:lnSpc>
                <a:spcPct val="105000"/>
              </a:lnSpc>
              <a:spcBef>
                <a:spcPts val="0"/>
              </a:spcBef>
              <a:spcAft>
                <a:spcPts val="100"/>
              </a:spcAft>
            </a:pPr>
            <a:r>
              <a:rPr sz="1500" b="0" i="1">
                <a:solidFill>
                  <a:srgbClr val="555555"/>
                </a:solidFill>
                <a:latin typeface="맑은 고딕"/>
              </a:rPr>
              <a:t>(2) 의미가 통하도록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문장 중 관계대명사의 형용사절이 쓰인 문장을 모두 고른 후, 관계대명사의 명사절이 되도록 고치시오.</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(A) Mark bought what he needed. (D) This is what I really want to have.</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선행사+관계대명사(something that, the thing which)를 what으로 바꾸면 명사절이 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58</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146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500" b="0" i="1">
                <a:solidFill>
                  <a:srgbClr val="555555"/>
                </a:solidFill>
                <a:latin typeface="맑은 고딕"/>
              </a:rPr>
              <a:t>Tom: Mom, I'm home.</a:t>
            </a:r>
          </a:p>
          <a:p>
            <a:pPr algn="l">
              <a:lnSpc>
                <a:spcPct val="105000"/>
              </a:lnSpc>
              <a:spcBef>
                <a:spcPts val="0"/>
              </a:spcBef>
              <a:spcAft>
                <a:spcPts val="100"/>
              </a:spcAft>
            </a:pPr>
            <a:r>
              <a:rPr sz="1500" b="0" i="1">
                <a:solidFill>
                  <a:srgbClr val="555555"/>
                </a:solidFill>
                <a:latin typeface="맑은 고딕"/>
              </a:rPr>
              <a:t>Mom: Would you like to eat something?</a:t>
            </a:r>
          </a:p>
          <a:p>
            <a:pPr algn="l">
              <a:lnSpc>
                <a:spcPct val="105000"/>
              </a:lnSpc>
              <a:spcBef>
                <a:spcPts val="0"/>
              </a:spcBef>
              <a:spcAft>
                <a:spcPts val="100"/>
              </a:spcAft>
            </a:pPr>
            <a:r>
              <a:rPr sz="1500" b="0" i="1">
                <a:solidFill>
                  <a:srgbClr val="555555"/>
                </a:solidFill>
                <a:latin typeface="맑은 고딕"/>
              </a:rPr>
              <a:t>Tom: I want to eat jajangmyeon. (밑줄)</a:t>
            </a:r>
          </a:p>
          <a:p>
            <a:pPr algn="l">
              <a:lnSpc>
                <a:spcPct val="105000"/>
              </a:lnSpc>
              <a:spcBef>
                <a:spcPts val="0"/>
              </a:spcBef>
              <a:spcAft>
                <a:spcPts val="100"/>
              </a:spcAft>
            </a:pPr>
            <a:r>
              <a:rPr sz="1500" b="0" i="1">
                <a:solidFill>
                  <a:srgbClr val="555555"/>
                </a:solidFill>
                <a:latin typeface="맑은 고딕"/>
              </a:rPr>
              <a:t>Mom: OK, I'll make it.</a:t>
            </a:r>
          </a:p>
          <a:p>
            <a:pPr algn="l">
              <a:lnSpc>
                <a:spcPct val="105000"/>
              </a:lnSpc>
              <a:spcBef>
                <a:spcPts val="0"/>
              </a:spcBef>
              <a:spcAft>
                <a:spcPts val="100"/>
              </a:spcAft>
            </a:pPr>
            <a:r>
              <a:rPr sz="1500" b="0" i="1">
                <a:solidFill>
                  <a:srgbClr val="555555"/>
                </a:solidFill>
                <a:latin typeface="맑은 고딕"/>
              </a:rPr>
              <a:t>Tom: Thanks, Mom.</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800" b="1" i="0">
                <a:solidFill>
                  <a:srgbClr val="222222"/>
                </a:solidFill>
                <a:latin typeface="맑은 고딕"/>
              </a:rPr>
              <a:t>다음 대화의 밑줄 친 문장과 의미가 같도록 어법에 맞게 빈칸에 알맞은 말을 영어로 쓰시오.</a:t>
            </a:r>
          </a:p>
          <a:p>
            <a:pPr algn="l">
              <a:lnSpc>
                <a:spcPct val="105000"/>
              </a:lnSpc>
              <a:spcBef>
                <a:spcPts val="0"/>
              </a:spcBef>
              <a:spcAft>
                <a:spcPts val="200"/>
              </a:spcAft>
            </a:pPr>
            <a:r>
              <a:rPr sz="1800" b="1" i="0">
                <a:solidFill>
                  <a:srgbClr val="222222"/>
                </a:solidFill>
                <a:latin typeface="맑은 고딕"/>
              </a:rPr>
              <a:t>→ ______ is jajangmyeon.</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want to eat</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주어 자리에 관계대명사 what을 넣어 영작한다.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59</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147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300" b="0" i="1">
                <a:solidFill>
                  <a:srgbClr val="555555"/>
                </a:solidFill>
                <a:latin typeface="맑은 고딕"/>
              </a:rPr>
              <a:t>&lt;보기&gt;</a:t>
            </a:r>
          </a:p>
          <a:p>
            <a:pPr algn="l">
              <a:lnSpc>
                <a:spcPct val="105000"/>
              </a:lnSpc>
              <a:spcBef>
                <a:spcPts val="0"/>
              </a:spcBef>
              <a:spcAft>
                <a:spcPts val="100"/>
              </a:spcAft>
            </a:pPr>
            <a:r>
              <a:rPr sz="1300" b="0" i="1">
                <a:solidFill>
                  <a:srgbClr val="555555"/>
                </a:solidFill>
                <a:latin typeface="맑은 고딕"/>
              </a:rPr>
              <a:t>• what I expected</a:t>
            </a:r>
          </a:p>
          <a:p>
            <a:pPr algn="l">
              <a:lnSpc>
                <a:spcPct val="105000"/>
              </a:lnSpc>
              <a:spcBef>
                <a:spcPts val="0"/>
              </a:spcBef>
              <a:spcAft>
                <a:spcPts val="100"/>
              </a:spcAft>
            </a:pPr>
            <a:r>
              <a:rPr sz="1300" b="0" i="1">
                <a:solidFill>
                  <a:srgbClr val="555555"/>
                </a:solidFill>
                <a:latin typeface="맑은 고딕"/>
              </a:rPr>
              <a:t>• what I wanted to say</a:t>
            </a:r>
          </a:p>
          <a:p>
            <a:pPr algn="l">
              <a:lnSpc>
                <a:spcPct val="105000"/>
              </a:lnSpc>
              <a:spcBef>
                <a:spcPts val="0"/>
              </a:spcBef>
              <a:spcAft>
                <a:spcPts val="100"/>
              </a:spcAft>
            </a:pPr>
            <a:r>
              <a:rPr sz="1300" b="0" i="1">
                <a:solidFill>
                  <a:srgbClr val="555555"/>
                </a:solidFill>
                <a:latin typeface="맑은 고딕"/>
              </a:rPr>
              <a:t>• what you've done for me</a:t>
            </a:r>
          </a:p>
          <a:p>
            <a:pPr algn="l">
              <a:lnSpc>
                <a:spcPct val="105000"/>
              </a:lnSpc>
              <a:spcBef>
                <a:spcPts val="0"/>
              </a:spcBef>
              <a:spcAft>
                <a:spcPts val="100"/>
              </a:spcAft>
            </a:pPr>
            <a:r>
              <a:rPr sz="1300" b="0" i="1">
                <a:solidFill>
                  <a:srgbClr val="555555"/>
                </a:solidFill>
                <a:latin typeface="맑은 고딕"/>
              </a:rPr>
              <a:t>• what I want to buy right now</a:t>
            </a:r>
          </a:p>
          <a:p>
            <a:pPr algn="l">
              <a:lnSpc>
                <a:spcPct val="105000"/>
              </a:lnSpc>
              <a:spcBef>
                <a:spcPts val="0"/>
              </a:spcBef>
              <a:spcAft>
                <a:spcPts val="100"/>
              </a:spcAft>
            </a:pPr>
            <a:r>
              <a:rPr sz="1300" b="0" i="1">
                <a:solidFill>
                  <a:srgbClr val="555555"/>
                </a:solidFill>
                <a:latin typeface="맑은 고딕"/>
              </a:rPr>
              <a:t>• what made me upset yesterday</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600" b="1" i="0">
                <a:solidFill>
                  <a:srgbClr val="222222"/>
                </a:solidFill>
                <a:latin typeface="맑은 고딕"/>
              </a:rPr>
              <a:t>다음 &lt;보기&gt;에 주어진 표현을 이용하여 빈칸을 채워 대화를 완성하시오.</a:t>
            </a:r>
          </a:p>
          <a:p>
            <a:pPr algn="l">
              <a:lnSpc>
                <a:spcPct val="105000"/>
              </a:lnSpc>
              <a:spcBef>
                <a:spcPts val="0"/>
              </a:spcBef>
              <a:spcAft>
                <a:spcPts val="200"/>
              </a:spcAft>
            </a:pPr>
            <a:r>
              <a:rPr sz="1600" b="1" i="0">
                <a:solidFill>
                  <a:srgbClr val="222222"/>
                </a:solidFill>
                <a:latin typeface="맑은 고딕"/>
              </a:rPr>
              <a:t>(1) A: ______ is this red shirt.</a:t>
            </a:r>
          </a:p>
          <a:p>
            <a:pPr algn="l">
              <a:lnSpc>
                <a:spcPct val="105000"/>
              </a:lnSpc>
              <a:spcBef>
                <a:spcPts val="0"/>
              </a:spcBef>
              <a:spcAft>
                <a:spcPts val="200"/>
              </a:spcAft>
            </a:pPr>
            <a:r>
              <a:rPr sz="1600" b="1" i="0">
                <a:solidFill>
                  <a:srgbClr val="222222"/>
                </a:solidFill>
                <a:latin typeface="맑은 고딕"/>
              </a:rPr>
              <a:t>    B: Oh, that's a good choice.</a:t>
            </a:r>
          </a:p>
          <a:p>
            <a:pPr algn="l">
              <a:lnSpc>
                <a:spcPct val="105000"/>
              </a:lnSpc>
              <a:spcBef>
                <a:spcPts val="0"/>
              </a:spcBef>
              <a:spcAft>
                <a:spcPts val="200"/>
              </a:spcAft>
            </a:pPr>
            <a:r>
              <a:rPr sz="1600" b="1" i="0">
                <a:solidFill>
                  <a:srgbClr val="222222"/>
                </a:solidFill>
                <a:latin typeface="맑은 고딕"/>
              </a:rPr>
              <a:t>(2) A: I want to thank you for ______.</a:t>
            </a:r>
          </a:p>
          <a:p>
            <a:pPr algn="l">
              <a:lnSpc>
                <a:spcPct val="105000"/>
              </a:lnSpc>
              <a:spcBef>
                <a:spcPts val="0"/>
              </a:spcBef>
              <a:spcAft>
                <a:spcPts val="200"/>
              </a:spcAft>
            </a:pPr>
            <a:r>
              <a:rPr sz="1600" b="1" i="0">
                <a:solidFill>
                  <a:srgbClr val="222222"/>
                </a:solidFill>
                <a:latin typeface="맑은 고딕"/>
              </a:rPr>
              <a:t>    B: No problem. It was my pleasure.</a:t>
            </a:r>
          </a:p>
          <a:p>
            <a:pPr algn="l">
              <a:lnSpc>
                <a:spcPct val="105000"/>
              </a:lnSpc>
              <a:spcBef>
                <a:spcPts val="0"/>
              </a:spcBef>
              <a:spcAft>
                <a:spcPts val="200"/>
              </a:spcAft>
            </a:pPr>
            <a:r>
              <a:rPr sz="1600" b="1" i="0">
                <a:solidFill>
                  <a:srgbClr val="222222"/>
                </a:solidFill>
                <a:latin typeface="맑은 고딕"/>
              </a:rPr>
              <a:t>(3) A: Were you disappointed with your exam result?</a:t>
            </a:r>
          </a:p>
          <a:p>
            <a:pPr algn="l">
              <a:lnSpc>
                <a:spcPct val="105000"/>
              </a:lnSpc>
              <a:spcBef>
                <a:spcPts val="0"/>
              </a:spcBef>
              <a:spcAft>
                <a:spcPts val="200"/>
              </a:spcAft>
            </a:pPr>
            <a:r>
              <a:rPr sz="1600" b="1" i="0">
                <a:solidFill>
                  <a:srgbClr val="222222"/>
                </a:solidFill>
                <a:latin typeface="맑은 고딕"/>
              </a:rPr>
              <a:t>    B: Yes. The result was not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1600" b="1" i="0">
                <a:solidFill>
                  <a:srgbClr val="5A4200"/>
                </a:solidFill>
                <a:latin typeface="맑은 고딕"/>
              </a:rPr>
              <a:t>정답:  (1) What I want to buy right now (2) what you've done for me (3) what I expected</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(1) '내가 지금 바로 사고 싶은 것은' (2) '네가 나를 위해 해줬던 것' (3) '내가 기대했던 것'</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292608"/>
            <a:ext cx="2377440" cy="457200"/>
          </a:xfrm>
          <a:prstGeom prst="roundRect">
            <a:avLst>
              <a:gd name="adj" fmla="val 6000"/>
            </a:avLst>
          </a:prstGeom>
          <a:solidFill>
            <a:srgbClr val="1E2A4A"/>
          </a:solidFill>
          <a:ln w="15875">
            <a:solidFill>
              <a:srgbClr val="1E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spcBef>
                <a:spcPts val="0"/>
              </a:spcBef>
            </a:pPr>
            <a:r>
              <a:rPr sz="1500" b="1" i="0">
                <a:solidFill>
                  <a:srgbClr val="FFFFFF"/>
                </a:solidFill>
                <a:latin typeface="맑은 고딕"/>
              </a:rPr>
              <a:t>문항 P2 · 60</a:t>
            </a:r>
          </a:p>
        </p:txBody>
      </p:sp>
      <p:sp>
        <p:nvSpPr>
          <p:cNvPr id="4" name="TextBox 3"/>
          <p:cNvSpPr txBox="1"/>
          <p:nvPr/>
        </p:nvSpPr>
        <p:spPr>
          <a:xfrm>
            <a:off x="9722815" y="292608"/>
            <a:ext cx="2011680" cy="457200"/>
          </a:xfrm>
          <a:prstGeom prst="rect">
            <a:avLst/>
          </a:prstGeom>
          <a:noFill/>
        </p:spPr>
        <p:txBody>
          <a:bodyPr wrap="square" anchor="ctr" lIns="73152" rIns="73152">
            <a:spAutoFit/>
          </a:bodyPr>
          <a:lstStyle/>
          <a:p>
            <a:pPr algn="r">
              <a:lnSpc>
                <a:spcPct val="105000"/>
              </a:lnSpc>
              <a:spcBef>
                <a:spcPts val="0"/>
              </a:spcBef>
            </a:pPr>
            <a:r>
              <a:rPr sz="1300" b="0" i="0">
                <a:solidFill>
                  <a:srgbClr val="555555"/>
                </a:solidFill>
                <a:latin typeface="맑은 고딕"/>
              </a:rPr>
              <a:t>148 / 148</a:t>
            </a:r>
          </a:p>
        </p:txBody>
      </p:sp>
      <p:sp>
        <p:nvSpPr>
          <p:cNvPr id="5" name="TextBox 4"/>
          <p:cNvSpPr txBox="1"/>
          <p:nvPr/>
        </p:nvSpPr>
        <p:spPr>
          <a:xfrm>
            <a:off x="457200" y="868680"/>
            <a:ext cx="11277295" cy="3429000"/>
          </a:xfrm>
          <a:prstGeom prst="rect">
            <a:avLst/>
          </a:prstGeom>
          <a:noFill/>
        </p:spPr>
        <p:txBody>
          <a:bodyPr wrap="square" anchor="t" lIns="73152" rIns="73152">
            <a:spAutoFit/>
          </a:bodyPr>
          <a:lstStyle/>
          <a:p>
            <a:pPr algn="l">
              <a:lnSpc>
                <a:spcPct val="105000"/>
              </a:lnSpc>
              <a:spcBef>
                <a:spcPts val="0"/>
              </a:spcBef>
              <a:spcAft>
                <a:spcPts val="100"/>
              </a:spcAft>
            </a:pPr>
            <a:r>
              <a:rPr sz="1200" b="0" i="1">
                <a:solidFill>
                  <a:srgbClr val="555555"/>
                </a:solidFill>
                <a:latin typeface="맑은 고딕"/>
              </a:rPr>
              <a:t>나무꾼: What should I do?</a:t>
            </a:r>
          </a:p>
          <a:p>
            <a:pPr algn="l">
              <a:lnSpc>
                <a:spcPct val="105000"/>
              </a:lnSpc>
              <a:spcBef>
                <a:spcPts val="0"/>
              </a:spcBef>
              <a:spcAft>
                <a:spcPts val="100"/>
              </a:spcAft>
            </a:pPr>
            <a:r>
              <a:rPr sz="1200" b="0" i="1">
                <a:solidFill>
                  <a:srgbClr val="555555"/>
                </a:solidFill>
                <a:latin typeface="맑은 고딕"/>
              </a:rPr>
              <a:t>산신령: Is this the one that you're looking for?</a:t>
            </a:r>
          </a:p>
          <a:p>
            <a:pPr algn="l">
              <a:lnSpc>
                <a:spcPct val="105000"/>
              </a:lnSpc>
              <a:spcBef>
                <a:spcPts val="0"/>
              </a:spcBef>
              <a:spcAft>
                <a:spcPts val="100"/>
              </a:spcAft>
            </a:pPr>
            <a:r>
              <a:rPr sz="1200" b="0" i="1">
                <a:solidFill>
                  <a:srgbClr val="555555"/>
                </a:solidFill>
                <a:latin typeface="맑은 고딕"/>
              </a:rPr>
              <a:t>나무꾼: ⓐ______</a:t>
            </a:r>
          </a:p>
          <a:p>
            <a:pPr algn="l">
              <a:lnSpc>
                <a:spcPct val="105000"/>
              </a:lnSpc>
              <a:spcBef>
                <a:spcPts val="0"/>
              </a:spcBef>
              <a:spcAft>
                <a:spcPts val="100"/>
              </a:spcAft>
            </a:pPr>
            <a:r>
              <a:rPr sz="1200" b="0" i="1">
                <a:solidFill>
                  <a:srgbClr val="555555"/>
                </a:solidFill>
                <a:latin typeface="맑은 고딕"/>
              </a:rPr>
              <a:t>산신령: Then, is this the one that you're looking for?</a:t>
            </a:r>
          </a:p>
          <a:p>
            <a:pPr algn="l">
              <a:lnSpc>
                <a:spcPct val="105000"/>
              </a:lnSpc>
              <a:spcBef>
                <a:spcPts val="0"/>
              </a:spcBef>
              <a:spcAft>
                <a:spcPts val="100"/>
              </a:spcAft>
            </a:pPr>
            <a:r>
              <a:rPr sz="1200" b="0" i="1">
                <a:solidFill>
                  <a:srgbClr val="555555"/>
                </a:solidFill>
                <a:latin typeface="맑은 고딕"/>
              </a:rPr>
              <a:t>나무꾼: ⓑ______</a:t>
            </a:r>
          </a:p>
          <a:p>
            <a:pPr algn="l">
              <a:lnSpc>
                <a:spcPct val="105000"/>
              </a:lnSpc>
              <a:spcBef>
                <a:spcPts val="0"/>
              </a:spcBef>
              <a:spcAft>
                <a:spcPts val="100"/>
              </a:spcAft>
            </a:pPr>
            <a:r>
              <a:rPr sz="1200" b="0" i="1">
                <a:solidFill>
                  <a:srgbClr val="555555"/>
                </a:solidFill>
                <a:latin typeface="맑은 고딕"/>
              </a:rPr>
              <a:t>산신령: Okay, here it is.</a:t>
            </a:r>
          </a:p>
          <a:p>
            <a:pPr algn="l">
              <a:lnSpc>
                <a:spcPct val="105000"/>
              </a:lnSpc>
              <a:spcBef>
                <a:spcPts val="0"/>
              </a:spcBef>
              <a:spcAft>
                <a:spcPts val="100"/>
              </a:spcAft>
            </a:pPr>
            <a:r>
              <a:rPr sz="1200" b="0" i="1">
                <a:solidFill>
                  <a:srgbClr val="555555"/>
                </a:solidFill>
                <a:latin typeface="맑은 고딕"/>
              </a:rPr>
              <a:t>나무꾼: That's not what I meant.</a:t>
            </a:r>
          </a:p>
          <a:p>
            <a:pPr algn="l">
              <a:lnSpc>
                <a:spcPct val="105000"/>
              </a:lnSpc>
              <a:spcBef>
                <a:spcPts val="0"/>
              </a:spcBef>
              <a:spcAft>
                <a:spcPts val="100"/>
              </a:spcAft>
            </a:pPr>
            <a:r>
              <a:rPr sz="1200" b="0" i="1">
                <a:solidFill>
                  <a:srgbClr val="555555"/>
                </a:solidFill>
                <a:latin typeface="맑은 고딕"/>
              </a:rPr>
              <a:t>&lt;조건&gt;</a:t>
            </a:r>
          </a:p>
          <a:p>
            <a:pPr algn="l">
              <a:lnSpc>
                <a:spcPct val="105000"/>
              </a:lnSpc>
              <a:spcBef>
                <a:spcPts val="0"/>
              </a:spcBef>
              <a:spcAft>
                <a:spcPts val="100"/>
              </a:spcAft>
            </a:pPr>
            <a:r>
              <a:rPr sz="1200" b="0" i="1">
                <a:solidFill>
                  <a:srgbClr val="555555"/>
                </a:solidFill>
                <a:latin typeface="맑은 고딕"/>
              </a:rPr>
              <a:t>1. what이 꼭 들어가도록 작성할 것</a:t>
            </a:r>
          </a:p>
          <a:p>
            <a:pPr algn="l">
              <a:lnSpc>
                <a:spcPct val="105000"/>
              </a:lnSpc>
              <a:spcBef>
                <a:spcPts val="0"/>
              </a:spcBef>
              <a:spcAft>
                <a:spcPts val="100"/>
              </a:spcAft>
            </a:pPr>
            <a:r>
              <a:rPr sz="1200" b="0" i="1">
                <a:solidFill>
                  <a:srgbClr val="555555"/>
                </a:solidFill>
                <a:latin typeface="맑은 고딕"/>
              </a:rPr>
              <a:t>2. 총 5단어로 쓸 것</a:t>
            </a:r>
          </a:p>
          <a:p>
            <a:pPr algn="l">
              <a:lnSpc>
                <a:spcPct val="105000"/>
              </a:lnSpc>
              <a:spcBef>
                <a:spcPts val="0"/>
              </a:spcBef>
            </a:pPr>
            <a:r>
              <a:rPr sz="600" b="0" i="0">
                <a:solidFill>
                  <a:srgbClr val="555555"/>
                </a:solidFill>
                <a:latin typeface="맑은 고딕"/>
              </a:rPr>
              <a:t> </a:t>
            </a:r>
          </a:p>
          <a:p>
            <a:pPr algn="l">
              <a:lnSpc>
                <a:spcPct val="105000"/>
              </a:lnSpc>
              <a:spcBef>
                <a:spcPts val="0"/>
              </a:spcBef>
              <a:spcAft>
                <a:spcPts val="200"/>
              </a:spcAft>
            </a:pPr>
            <a:r>
              <a:rPr sz="1500" b="1" i="0">
                <a:solidFill>
                  <a:srgbClr val="222222"/>
                </a:solidFill>
                <a:latin typeface="맑은 고딕"/>
              </a:rPr>
              <a:t>다음은 나무꾼과 산신령의 대화이다. 빈칸 ⓐ, ⓑ에 공통으로 들어갈 나무꾼의 답을 &lt;조건&gt;에 맞게 영작하시오.</a:t>
            </a:r>
          </a:p>
          <a:p>
            <a:pPr algn="l">
              <a:lnSpc>
                <a:spcPct val="105000"/>
              </a:lnSpc>
              <a:spcBef>
                <a:spcPts val="0"/>
              </a:spcBef>
              <a:spcAft>
                <a:spcPts val="200"/>
              </a:spcAft>
            </a:pPr>
            <a:r>
              <a:rPr sz="1500" b="1" i="0">
                <a:solidFill>
                  <a:srgbClr val="222222"/>
                </a:solidFill>
                <a:latin typeface="맑은 고딕"/>
              </a:rPr>
              <a:t>ⓐ No, that's not ______.</a:t>
            </a:r>
          </a:p>
          <a:p>
            <a:pPr algn="l">
              <a:lnSpc>
                <a:spcPct val="105000"/>
              </a:lnSpc>
              <a:spcBef>
                <a:spcPts val="0"/>
              </a:spcBef>
              <a:spcAft>
                <a:spcPts val="200"/>
              </a:spcAft>
            </a:pPr>
            <a:r>
              <a:rPr sz="1500" b="1" i="0">
                <a:solidFill>
                  <a:srgbClr val="222222"/>
                </a:solidFill>
                <a:latin typeface="맑은 고딕"/>
              </a:rPr>
              <a:t>ⓑ Thank you, that's exactly ______.</a:t>
            </a:r>
          </a:p>
        </p:txBody>
      </p:sp>
      <p:cxnSp>
        <p:nvCxnSpPr>
          <p:cNvPr id="6" name="Connector 5"/>
          <p:cNvCxnSpPr/>
          <p:nvPr/>
        </p:nvCxnSpPr>
        <p:spPr>
          <a:xfrm>
            <a:off x="457200" y="4297680"/>
            <a:ext cx="11277295" cy="0"/>
          </a:xfrm>
          <a:prstGeom prst="line">
            <a:avLst/>
          </a:prstGeom>
          <a:ln w="12700">
            <a:solidFill>
              <a:srgbClr val="DDDDDD"/>
            </a:solidFill>
          </a:ln>
        </p:spPr>
        <p:style>
          <a:lnRef idx="2">
            <a:schemeClr val="accent1"/>
          </a:lnRef>
          <a:fillRef idx="0">
            <a:schemeClr val="accent1"/>
          </a:fillRef>
          <a:effectRef idx="1">
            <a:schemeClr val="accent1"/>
          </a:effectRef>
          <a:fontRef idx="minor">
            <a:schemeClr val="tx1"/>
          </a:fontRef>
        </p:style>
      </p:cxnSp>
      <p:sp>
        <p:nvSpPr>
          <p:cNvPr id="7" name="reveal_1_en"/>
          <p:cNvSpPr/>
          <p:nvPr/>
        </p:nvSpPr>
        <p:spPr>
          <a:xfrm>
            <a:off x="457200" y="4434840"/>
            <a:ext cx="11277295" cy="777240"/>
          </a:xfrm>
          <a:prstGeom prst="roundRect">
            <a:avLst>
              <a:gd name="adj" fmla="val 6000"/>
            </a:avLst>
          </a:prstGeom>
          <a:solidFill>
            <a:srgbClr val="FFE98A"/>
          </a:solidFill>
          <a:ln w="15875">
            <a:solidFill>
              <a:srgbClr val="E0B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lnSpc>
                <a:spcPct val="105000"/>
              </a:lnSpc>
              <a:spcBef>
                <a:spcPts val="0"/>
              </a:spcBef>
            </a:pPr>
            <a:r>
              <a:rPr sz="2000" b="1" i="0">
                <a:solidFill>
                  <a:srgbClr val="5A4200"/>
                </a:solidFill>
                <a:latin typeface="맑은 고딕"/>
              </a:rPr>
              <a:t>정답:  what I am looking for</a:t>
            </a:r>
          </a:p>
        </p:txBody>
      </p:sp>
      <p:sp>
        <p:nvSpPr>
          <p:cNvPr id="8" name="reveal_2_en"/>
          <p:cNvSpPr/>
          <p:nvPr/>
        </p:nvSpPr>
        <p:spPr>
          <a:xfrm>
            <a:off x="457200" y="5349240"/>
            <a:ext cx="11277295" cy="1234440"/>
          </a:xfrm>
          <a:prstGeom prst="roundRect">
            <a:avLst>
              <a:gd name="adj" fmla="val 6000"/>
            </a:avLst>
          </a:prstGeom>
          <a:solidFill>
            <a:srgbClr val="E6F0FB"/>
          </a:solidFill>
          <a:ln w="15875">
            <a:solidFill>
              <a:srgbClr val="6C8EB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91440"/>
          <a:lstStyle/>
          <a:p>
            <a:pPr algn="l">
              <a:lnSpc>
                <a:spcPct val="105000"/>
              </a:lnSpc>
              <a:spcBef>
                <a:spcPts val="0"/>
              </a:spcBef>
              <a:spcAft>
                <a:spcPts val="200"/>
              </a:spcAft>
            </a:pPr>
            <a:r>
              <a:rPr sz="1500" b="1" i="0">
                <a:solidFill>
                  <a:srgbClr val="152A4A"/>
                </a:solidFill>
                <a:latin typeface="맑은 고딕"/>
              </a:rPr>
              <a:t>정답 이유   what절이 '~하는 것'의 의미로 명사절을 이끌어 be동사의 보어로 쓰인다.</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