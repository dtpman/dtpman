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200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  <a:ea typeface="맑은 고딕"/>
              </a:rPr>
              <a:t>Lesson 8  본문 구문독해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2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  <a:ea typeface="맑은 고딕"/>
              </a:rPr>
              <a:t>동아(윤) 중3 · 시지중 3학년 기말고사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520440"/>
            <a:ext cx="121920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L8-1 ~ L8-3  (총 3개 본문)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389120"/>
            <a:ext cx="12192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L8-1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373187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Look at the painting on the right.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373187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오른쪽에 있는 그림을 보라</a:t>
            </a:r>
          </a:p>
        </p:txBody>
      </p:sp>
      <p:sp>
        <p:nvSpPr>
          <p:cNvPr id="8" name="En"/>
          <p:cNvSpPr/>
          <p:nvPr/>
        </p:nvSpPr>
        <p:spPr>
          <a:xfrm>
            <a:off x="548640" y="2198555"/>
            <a:ext cx="47377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Do you see the Chinese character, hyo (孝)?</a:t>
            </a:r>
          </a:p>
        </p:txBody>
      </p:sp>
      <p:sp>
        <p:nvSpPr>
          <p:cNvPr id="9" name="reveal_2_kr"/>
          <p:cNvSpPr/>
          <p:nvPr/>
        </p:nvSpPr>
        <p:spPr>
          <a:xfrm>
            <a:off x="548640" y="2532447"/>
            <a:ext cx="47377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한자 효(孝)가 보이는가?</a:t>
            </a:r>
          </a:p>
        </p:txBody>
      </p:sp>
      <p:sp>
        <p:nvSpPr>
          <p:cNvPr id="10" name="En"/>
          <p:cNvSpPr/>
          <p:nvPr/>
        </p:nvSpPr>
        <p:spPr>
          <a:xfrm>
            <a:off x="548640" y="2977110"/>
            <a:ext cx="25248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Do you also see a carp,</a:t>
            </a:r>
          </a:p>
        </p:txBody>
      </p:sp>
      <p:sp>
        <p:nvSpPr>
          <p:cNvPr id="11" name="reveal_3_kr"/>
          <p:cNvSpPr/>
          <p:nvPr/>
        </p:nvSpPr>
        <p:spPr>
          <a:xfrm>
            <a:off x="548640" y="3311002"/>
            <a:ext cx="25248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잉어도 보이는가</a:t>
            </a:r>
          </a:p>
        </p:txBody>
      </p:sp>
      <p:sp>
        <p:nvSpPr>
          <p:cNvPr id="12" name="Sep"/>
          <p:cNvSpPr/>
          <p:nvPr/>
        </p:nvSpPr>
        <p:spPr>
          <a:xfrm>
            <a:off x="3073512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3" name="En"/>
          <p:cNvSpPr/>
          <p:nvPr/>
        </p:nvSpPr>
        <p:spPr>
          <a:xfrm>
            <a:off x="3301305" y="2977110"/>
            <a:ext cx="24608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 geomungo, and a fan?</a:t>
            </a:r>
          </a:p>
        </p:txBody>
      </p:sp>
      <p:sp>
        <p:nvSpPr>
          <p:cNvPr id="14" name="reveal_4_kr"/>
          <p:cNvSpPr/>
          <p:nvPr/>
        </p:nvSpPr>
        <p:spPr>
          <a:xfrm>
            <a:off x="3301305" y="3311002"/>
            <a:ext cx="24608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거문고, 그리고 부채도?</a:t>
            </a:r>
          </a:p>
        </p:txBody>
      </p:sp>
      <p:sp>
        <p:nvSpPr>
          <p:cNvPr id="15" name="En"/>
          <p:cNvSpPr/>
          <p:nvPr/>
        </p:nvSpPr>
        <p:spPr>
          <a:xfrm>
            <a:off x="548640" y="3755665"/>
            <a:ext cx="44451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This kind of painting is called Munjado,</a:t>
            </a:r>
          </a:p>
        </p:txBody>
      </p:sp>
      <p:sp>
        <p:nvSpPr>
          <p:cNvPr id="16" name="reveal_5_kr"/>
          <p:cNvSpPr/>
          <p:nvPr/>
        </p:nvSpPr>
        <p:spPr>
          <a:xfrm>
            <a:off x="548640" y="4089557"/>
            <a:ext cx="44451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이런 종류의 그림은 문자도라고 불린다</a:t>
            </a:r>
          </a:p>
        </p:txBody>
      </p:sp>
      <p:sp>
        <p:nvSpPr>
          <p:cNvPr id="17" name="Sep"/>
          <p:cNvSpPr/>
          <p:nvPr/>
        </p:nvSpPr>
        <p:spPr>
          <a:xfrm>
            <a:off x="4993752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8" name="En"/>
          <p:cNvSpPr/>
          <p:nvPr/>
        </p:nvSpPr>
        <p:spPr>
          <a:xfrm>
            <a:off x="5221545" y="3755665"/>
            <a:ext cx="35398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it is a type of folk painting</a:t>
            </a:r>
          </a:p>
        </p:txBody>
      </p:sp>
      <p:sp>
        <p:nvSpPr>
          <p:cNvPr id="19" name="reveal_6_kr"/>
          <p:cNvSpPr/>
          <p:nvPr/>
        </p:nvSpPr>
        <p:spPr>
          <a:xfrm>
            <a:off x="5221545" y="4089557"/>
            <a:ext cx="35398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그것은 민화의 한 종류이다</a:t>
            </a:r>
          </a:p>
        </p:txBody>
      </p:sp>
      <p:sp>
        <p:nvSpPr>
          <p:cNvPr id="20" name="En"/>
          <p:cNvSpPr/>
          <p:nvPr/>
        </p:nvSpPr>
        <p:spPr>
          <a:xfrm>
            <a:off x="548640" y="4424220"/>
            <a:ext cx="48520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that was popular in the late Joseon dynasty.</a:t>
            </a:r>
          </a:p>
        </p:txBody>
      </p:sp>
      <p:sp>
        <p:nvSpPr>
          <p:cNvPr id="21" name="reveal_7_kr"/>
          <p:cNvSpPr/>
          <p:nvPr/>
        </p:nvSpPr>
        <p:spPr>
          <a:xfrm>
            <a:off x="548640" y="4758112"/>
            <a:ext cx="48520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조선 시대 후기에 인기 있었던</a:t>
            </a:r>
          </a:p>
        </p:txBody>
      </p:sp>
      <p:sp>
        <p:nvSpPr>
          <p:cNvPr id="22" name="En"/>
          <p:cNvSpPr/>
          <p:nvPr/>
        </p:nvSpPr>
        <p:spPr>
          <a:xfrm>
            <a:off x="548640" y="5202775"/>
            <a:ext cx="13818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Munjado,</a:t>
            </a:r>
          </a:p>
        </p:txBody>
      </p:sp>
      <p:sp>
        <p:nvSpPr>
          <p:cNvPr id="23" name="reveal_8_kr"/>
          <p:cNvSpPr/>
          <p:nvPr/>
        </p:nvSpPr>
        <p:spPr>
          <a:xfrm>
            <a:off x="548640" y="5536667"/>
            <a:ext cx="13818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문자도에는</a:t>
            </a:r>
          </a:p>
        </p:txBody>
      </p:sp>
      <p:sp>
        <p:nvSpPr>
          <p:cNvPr id="24" name="Sep"/>
          <p:cNvSpPr/>
          <p:nvPr/>
        </p:nvSpPr>
        <p:spPr>
          <a:xfrm>
            <a:off x="1930512" y="520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5" name="En"/>
          <p:cNvSpPr/>
          <p:nvPr/>
        </p:nvSpPr>
        <p:spPr>
          <a:xfrm>
            <a:off x="2158305" y="5202775"/>
            <a:ext cx="4010771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there is usually a Chinese character</a:t>
            </a:r>
          </a:p>
        </p:txBody>
      </p:sp>
      <p:sp>
        <p:nvSpPr>
          <p:cNvPr id="26" name="reveal_9_kr"/>
          <p:cNvSpPr/>
          <p:nvPr/>
        </p:nvSpPr>
        <p:spPr>
          <a:xfrm>
            <a:off x="2158305" y="5536667"/>
            <a:ext cx="4010771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보통 한자 하나가 있다</a:t>
            </a:r>
          </a:p>
        </p:txBody>
      </p:sp>
      <p:sp>
        <p:nvSpPr>
          <p:cNvPr id="27" name="Sep"/>
          <p:cNvSpPr/>
          <p:nvPr/>
        </p:nvSpPr>
        <p:spPr>
          <a:xfrm>
            <a:off x="6169076" y="520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8" name="En"/>
          <p:cNvSpPr/>
          <p:nvPr/>
        </p:nvSpPr>
        <p:spPr>
          <a:xfrm>
            <a:off x="6396869" y="5202775"/>
            <a:ext cx="331582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with some animals or objects.</a:t>
            </a:r>
          </a:p>
        </p:txBody>
      </p:sp>
      <p:sp>
        <p:nvSpPr>
          <p:cNvPr id="29" name="reveal_10_kr"/>
          <p:cNvSpPr/>
          <p:nvPr/>
        </p:nvSpPr>
        <p:spPr>
          <a:xfrm>
            <a:off x="6396869" y="5536667"/>
            <a:ext cx="331582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몇몇 동물이나 사물과 함께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4" grpId="0" animBg="1"/>
      <p:bldP spid="16" grpId="0" animBg="1"/>
      <p:bldP spid="19" grpId="0" animBg="1"/>
      <p:bldP spid="21" grpId="0" animBg="1"/>
      <p:bldP spid="23" grpId="0" animBg="1"/>
      <p:bldP spid="26" grpId="0" animBg="1"/>
      <p:bldP spid="2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L8-1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351699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One of eight Chinese characters</a:t>
            </a:r>
          </a:p>
        </p:txBody>
      </p:sp>
      <p:sp>
        <p:nvSpPr>
          <p:cNvPr id="7" name="reveal_11_kr"/>
          <p:cNvSpPr/>
          <p:nvPr/>
        </p:nvSpPr>
        <p:spPr>
          <a:xfrm>
            <a:off x="548640" y="1753892"/>
            <a:ext cx="351699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여덟 개의 한자 중 하나가</a:t>
            </a:r>
          </a:p>
        </p:txBody>
      </p:sp>
      <p:sp>
        <p:nvSpPr>
          <p:cNvPr id="8" name="Sep"/>
          <p:cNvSpPr/>
          <p:nvPr/>
        </p:nvSpPr>
        <p:spPr>
          <a:xfrm>
            <a:off x="4065636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4293429" y="1420000"/>
            <a:ext cx="22185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appears in Munjado.</a:t>
            </a:r>
          </a:p>
        </p:txBody>
      </p:sp>
      <p:sp>
        <p:nvSpPr>
          <p:cNvPr id="10" name="reveal_12_kr"/>
          <p:cNvSpPr/>
          <p:nvPr/>
        </p:nvSpPr>
        <p:spPr>
          <a:xfrm>
            <a:off x="4293429" y="1753892"/>
            <a:ext cx="22185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문자도에 나온다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529550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They are hyo (孝), je (悌), chung (忠), sin (信),</a:t>
            </a:r>
          </a:p>
        </p:txBody>
      </p:sp>
      <p:sp>
        <p:nvSpPr>
          <p:cNvPr id="12" name="reveal_13_kr"/>
          <p:cNvSpPr/>
          <p:nvPr/>
        </p:nvSpPr>
        <p:spPr>
          <a:xfrm>
            <a:off x="548640" y="2532447"/>
            <a:ext cx="529550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그것들은 효, 제, 충, 신</a:t>
            </a:r>
          </a:p>
        </p:txBody>
      </p:sp>
      <p:sp>
        <p:nvSpPr>
          <p:cNvPr id="13" name="Sep"/>
          <p:cNvSpPr/>
          <p:nvPr/>
        </p:nvSpPr>
        <p:spPr>
          <a:xfrm>
            <a:off x="5844144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6071937" y="2198555"/>
            <a:ext cx="454569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ye (禮), ui (義), yeom (廉), and chi (恥),</a:t>
            </a:r>
          </a:p>
        </p:txBody>
      </p:sp>
      <p:sp>
        <p:nvSpPr>
          <p:cNvPr id="15" name="reveal_14_kr"/>
          <p:cNvSpPr/>
          <p:nvPr/>
        </p:nvSpPr>
        <p:spPr>
          <a:xfrm>
            <a:off x="6071937" y="2532447"/>
            <a:ext cx="454569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예, 의, 염, 그리고 치이다</a:t>
            </a:r>
          </a:p>
        </p:txBody>
      </p:sp>
      <p:sp>
        <p:nvSpPr>
          <p:cNvPr id="16" name="En"/>
          <p:cNvSpPr/>
          <p:nvPr/>
        </p:nvSpPr>
        <p:spPr>
          <a:xfrm>
            <a:off x="548640" y="2867110"/>
            <a:ext cx="323353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they represent the values</a:t>
            </a:r>
          </a:p>
        </p:txBody>
      </p:sp>
      <p:sp>
        <p:nvSpPr>
          <p:cNvPr id="17" name="reveal_15_kr"/>
          <p:cNvSpPr/>
          <p:nvPr/>
        </p:nvSpPr>
        <p:spPr>
          <a:xfrm>
            <a:off x="548640" y="3201002"/>
            <a:ext cx="323353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그것들은 가치를 나타낸다</a:t>
            </a:r>
          </a:p>
        </p:txBody>
      </p:sp>
      <p:sp>
        <p:nvSpPr>
          <p:cNvPr id="18" name="Sep"/>
          <p:cNvSpPr/>
          <p:nvPr/>
        </p:nvSpPr>
        <p:spPr>
          <a:xfrm>
            <a:off x="3782172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9" name="En"/>
          <p:cNvSpPr/>
          <p:nvPr/>
        </p:nvSpPr>
        <p:spPr>
          <a:xfrm>
            <a:off x="4009965" y="2867110"/>
            <a:ext cx="574356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that were important to people of the Joseon dynasty.</a:t>
            </a:r>
          </a:p>
        </p:txBody>
      </p:sp>
      <p:sp>
        <p:nvSpPr>
          <p:cNvPr id="20" name="reveal_16_kr"/>
          <p:cNvSpPr/>
          <p:nvPr/>
        </p:nvSpPr>
        <p:spPr>
          <a:xfrm>
            <a:off x="4009965" y="3201002"/>
            <a:ext cx="574356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조선 시대 사람들에게 중요했던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7" grpId="0" animBg="1"/>
      <p:bldP spid="2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L8-2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372273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animals or objects in Munjado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372273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문자도에 있는 동물이나 사물은</a:t>
            </a:r>
          </a:p>
        </p:txBody>
      </p:sp>
      <p:sp>
        <p:nvSpPr>
          <p:cNvPr id="8" name="Sep"/>
          <p:cNvSpPr/>
          <p:nvPr/>
        </p:nvSpPr>
        <p:spPr>
          <a:xfrm>
            <a:off x="4271376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4499169" y="1420000"/>
            <a:ext cx="282662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are not just decorations.</a:t>
            </a:r>
          </a:p>
        </p:txBody>
      </p:sp>
      <p:sp>
        <p:nvSpPr>
          <p:cNvPr id="10" name="reveal_2_kr"/>
          <p:cNvSpPr/>
          <p:nvPr/>
        </p:nvSpPr>
        <p:spPr>
          <a:xfrm>
            <a:off x="4499169" y="1753892"/>
            <a:ext cx="282662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단순한 장식이 아니다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276718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They often are symbolic.</a:t>
            </a:r>
          </a:p>
        </p:txBody>
      </p:sp>
      <p:sp>
        <p:nvSpPr>
          <p:cNvPr id="12" name="reveal_3_kr"/>
          <p:cNvSpPr/>
          <p:nvPr/>
        </p:nvSpPr>
        <p:spPr>
          <a:xfrm>
            <a:off x="548640" y="2532447"/>
            <a:ext cx="276718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그것들은 종종 상징적이다</a:t>
            </a:r>
          </a:p>
        </p:txBody>
      </p:sp>
      <p:sp>
        <p:nvSpPr>
          <p:cNvPr id="13" name="En"/>
          <p:cNvSpPr/>
          <p:nvPr/>
        </p:nvSpPr>
        <p:spPr>
          <a:xfrm>
            <a:off x="548640" y="2977110"/>
            <a:ext cx="14961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For example,</a:t>
            </a:r>
          </a:p>
        </p:txBody>
      </p:sp>
      <p:sp>
        <p:nvSpPr>
          <p:cNvPr id="14" name="reveal_4_kr"/>
          <p:cNvSpPr/>
          <p:nvPr/>
        </p:nvSpPr>
        <p:spPr>
          <a:xfrm>
            <a:off x="548640" y="3311002"/>
            <a:ext cx="14961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예를 들어</a:t>
            </a:r>
          </a:p>
        </p:txBody>
      </p:sp>
      <p:sp>
        <p:nvSpPr>
          <p:cNvPr id="15" name="Sep"/>
          <p:cNvSpPr/>
          <p:nvPr/>
        </p:nvSpPr>
        <p:spPr>
          <a:xfrm>
            <a:off x="2044812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6" name="En"/>
          <p:cNvSpPr/>
          <p:nvPr/>
        </p:nvSpPr>
        <p:spPr>
          <a:xfrm>
            <a:off x="2272605" y="2977110"/>
            <a:ext cx="306893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carp in the paintings of hyo</a:t>
            </a:r>
          </a:p>
        </p:txBody>
      </p:sp>
      <p:sp>
        <p:nvSpPr>
          <p:cNvPr id="17" name="reveal_5_kr"/>
          <p:cNvSpPr/>
          <p:nvPr/>
        </p:nvSpPr>
        <p:spPr>
          <a:xfrm>
            <a:off x="2272605" y="3311002"/>
            <a:ext cx="306893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'효' 그림에 있는 잉어는</a:t>
            </a:r>
          </a:p>
        </p:txBody>
      </p:sp>
      <p:sp>
        <p:nvSpPr>
          <p:cNvPr id="18" name="Sep"/>
          <p:cNvSpPr/>
          <p:nvPr/>
        </p:nvSpPr>
        <p:spPr>
          <a:xfrm>
            <a:off x="5341544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9" name="En"/>
          <p:cNvSpPr/>
          <p:nvPr/>
        </p:nvSpPr>
        <p:spPr>
          <a:xfrm>
            <a:off x="5569337" y="2977110"/>
            <a:ext cx="33112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symbolize respect for parents</a:t>
            </a:r>
          </a:p>
        </p:txBody>
      </p:sp>
      <p:sp>
        <p:nvSpPr>
          <p:cNvPr id="20" name="reveal_6_kr"/>
          <p:cNvSpPr/>
          <p:nvPr/>
        </p:nvSpPr>
        <p:spPr>
          <a:xfrm>
            <a:off x="5569337" y="3311002"/>
            <a:ext cx="33112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부모님에 대한 공경을 상징한다</a:t>
            </a:r>
          </a:p>
        </p:txBody>
      </p:sp>
      <p:sp>
        <p:nvSpPr>
          <p:cNvPr id="21" name="En"/>
          <p:cNvSpPr/>
          <p:nvPr/>
        </p:nvSpPr>
        <p:spPr>
          <a:xfrm>
            <a:off x="548640" y="3645665"/>
            <a:ext cx="266203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because of an old story.</a:t>
            </a:r>
          </a:p>
        </p:txBody>
      </p:sp>
      <p:sp>
        <p:nvSpPr>
          <p:cNvPr id="22" name="reveal_7_kr"/>
          <p:cNvSpPr/>
          <p:nvPr/>
        </p:nvSpPr>
        <p:spPr>
          <a:xfrm>
            <a:off x="548640" y="3979557"/>
            <a:ext cx="266203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한 옛이야기 때문에</a:t>
            </a:r>
          </a:p>
        </p:txBody>
      </p:sp>
      <p:sp>
        <p:nvSpPr>
          <p:cNvPr id="23" name="En"/>
          <p:cNvSpPr/>
          <p:nvPr/>
        </p:nvSpPr>
        <p:spPr>
          <a:xfrm>
            <a:off x="548640" y="4424220"/>
            <a:ext cx="294549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story goes as follows.</a:t>
            </a:r>
          </a:p>
        </p:txBody>
      </p:sp>
      <p:sp>
        <p:nvSpPr>
          <p:cNvPr id="24" name="reveal_8_kr"/>
          <p:cNvSpPr/>
          <p:nvPr/>
        </p:nvSpPr>
        <p:spPr>
          <a:xfrm>
            <a:off x="548640" y="4758112"/>
            <a:ext cx="294549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 이야기는 다음과 같다</a:t>
            </a:r>
          </a:p>
        </p:txBody>
      </p:sp>
      <p:sp>
        <p:nvSpPr>
          <p:cNvPr id="25" name="En"/>
          <p:cNvSpPr/>
          <p:nvPr/>
        </p:nvSpPr>
        <p:spPr>
          <a:xfrm>
            <a:off x="548640" y="5202775"/>
            <a:ext cx="196708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Once upon a time,</a:t>
            </a:r>
          </a:p>
        </p:txBody>
      </p:sp>
      <p:sp>
        <p:nvSpPr>
          <p:cNvPr id="26" name="reveal_9_kr"/>
          <p:cNvSpPr/>
          <p:nvPr/>
        </p:nvSpPr>
        <p:spPr>
          <a:xfrm>
            <a:off x="548640" y="5536667"/>
            <a:ext cx="196708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옛날 옛적에</a:t>
            </a:r>
          </a:p>
        </p:txBody>
      </p:sp>
      <p:sp>
        <p:nvSpPr>
          <p:cNvPr id="27" name="Sep"/>
          <p:cNvSpPr/>
          <p:nvPr/>
        </p:nvSpPr>
        <p:spPr>
          <a:xfrm>
            <a:off x="2515728" y="520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8" name="En"/>
          <p:cNvSpPr/>
          <p:nvPr/>
        </p:nvSpPr>
        <p:spPr>
          <a:xfrm>
            <a:off x="2743521" y="5202775"/>
            <a:ext cx="355814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 man lived with his old mother.</a:t>
            </a:r>
          </a:p>
        </p:txBody>
      </p:sp>
      <p:sp>
        <p:nvSpPr>
          <p:cNvPr id="29" name="reveal_10_kr"/>
          <p:cNvSpPr/>
          <p:nvPr/>
        </p:nvSpPr>
        <p:spPr>
          <a:xfrm>
            <a:off x="2743521" y="5536667"/>
            <a:ext cx="355814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한 남자가 나이 든 어머니와 살았다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4" grpId="0" animBg="1"/>
      <p:bldP spid="17" grpId="0" animBg="1"/>
      <p:bldP spid="20" grpId="0" animBg="1"/>
      <p:bldP spid="22" grpId="0" animBg="1"/>
      <p:bldP spid="24" grpId="0" animBg="1"/>
      <p:bldP spid="26" grpId="0" animBg="1"/>
      <p:bldP spid="2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L8-2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13818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One winter,</a:t>
            </a:r>
          </a:p>
        </p:txBody>
      </p:sp>
      <p:sp>
        <p:nvSpPr>
          <p:cNvPr id="7" name="reveal_11_kr"/>
          <p:cNvSpPr/>
          <p:nvPr/>
        </p:nvSpPr>
        <p:spPr>
          <a:xfrm>
            <a:off x="548640" y="1753892"/>
            <a:ext cx="13818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어느 겨울</a:t>
            </a:r>
          </a:p>
        </p:txBody>
      </p:sp>
      <p:sp>
        <p:nvSpPr>
          <p:cNvPr id="8" name="Sep"/>
          <p:cNvSpPr/>
          <p:nvPr/>
        </p:nvSpPr>
        <p:spPr>
          <a:xfrm>
            <a:off x="1930512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2158305" y="1420000"/>
            <a:ext cx="308722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man’s mother became ill</a:t>
            </a:r>
          </a:p>
        </p:txBody>
      </p:sp>
      <p:sp>
        <p:nvSpPr>
          <p:cNvPr id="10" name="reveal_12_kr"/>
          <p:cNvSpPr/>
          <p:nvPr/>
        </p:nvSpPr>
        <p:spPr>
          <a:xfrm>
            <a:off x="2158305" y="1753892"/>
            <a:ext cx="308722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남자의 어머니가 병이 들었다</a:t>
            </a:r>
          </a:p>
        </p:txBody>
      </p:sp>
      <p:sp>
        <p:nvSpPr>
          <p:cNvPr id="11" name="Sep"/>
          <p:cNvSpPr/>
          <p:nvPr/>
        </p:nvSpPr>
        <p:spPr>
          <a:xfrm>
            <a:off x="5245532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5473325" y="1420000"/>
            <a:ext cx="294092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couldn’t eat anything.</a:t>
            </a:r>
          </a:p>
        </p:txBody>
      </p:sp>
      <p:sp>
        <p:nvSpPr>
          <p:cNvPr id="13" name="reveal_13_kr"/>
          <p:cNvSpPr/>
          <p:nvPr/>
        </p:nvSpPr>
        <p:spPr>
          <a:xfrm>
            <a:off x="5473325" y="1753892"/>
            <a:ext cx="294092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아무것도 먹을 수 없었다</a:t>
            </a:r>
          </a:p>
        </p:txBody>
      </p:sp>
      <p:sp>
        <p:nvSpPr>
          <p:cNvPr id="14" name="En"/>
          <p:cNvSpPr/>
          <p:nvPr/>
        </p:nvSpPr>
        <p:spPr>
          <a:xfrm>
            <a:off x="548640" y="2198555"/>
            <a:ext cx="23465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On one very cold day,</a:t>
            </a:r>
          </a:p>
        </p:txBody>
      </p:sp>
      <p:sp>
        <p:nvSpPr>
          <p:cNvPr id="15" name="reveal_14_kr"/>
          <p:cNvSpPr/>
          <p:nvPr/>
        </p:nvSpPr>
        <p:spPr>
          <a:xfrm>
            <a:off x="548640" y="2532447"/>
            <a:ext cx="23465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무척 추운 어느 날</a:t>
            </a:r>
          </a:p>
        </p:txBody>
      </p:sp>
      <p:sp>
        <p:nvSpPr>
          <p:cNvPr id="16" name="Sep"/>
          <p:cNvSpPr/>
          <p:nvPr/>
        </p:nvSpPr>
        <p:spPr>
          <a:xfrm>
            <a:off x="2895204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3122997" y="2198555"/>
            <a:ext cx="300950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mother said to the man,</a:t>
            </a:r>
          </a:p>
        </p:txBody>
      </p:sp>
      <p:sp>
        <p:nvSpPr>
          <p:cNvPr id="18" name="reveal_15_kr"/>
          <p:cNvSpPr/>
          <p:nvPr/>
        </p:nvSpPr>
        <p:spPr>
          <a:xfrm>
            <a:off x="3122997" y="2532447"/>
            <a:ext cx="300950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어머니는 남자에게 말했다</a:t>
            </a:r>
          </a:p>
        </p:txBody>
      </p:sp>
      <p:sp>
        <p:nvSpPr>
          <p:cNvPr id="19" name="Sep"/>
          <p:cNvSpPr/>
          <p:nvPr/>
        </p:nvSpPr>
        <p:spPr>
          <a:xfrm>
            <a:off x="6132500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0" name="En"/>
          <p:cNvSpPr/>
          <p:nvPr/>
        </p:nvSpPr>
        <p:spPr>
          <a:xfrm>
            <a:off x="6360293" y="2198555"/>
            <a:ext cx="25660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“It would be wonderful</a:t>
            </a:r>
          </a:p>
        </p:txBody>
      </p:sp>
      <p:sp>
        <p:nvSpPr>
          <p:cNvPr id="21" name="reveal_16_kr"/>
          <p:cNvSpPr/>
          <p:nvPr/>
        </p:nvSpPr>
        <p:spPr>
          <a:xfrm>
            <a:off x="6360293" y="2532447"/>
            <a:ext cx="25660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“정말 좋겠구나</a:t>
            </a:r>
          </a:p>
        </p:txBody>
      </p:sp>
      <p:sp>
        <p:nvSpPr>
          <p:cNvPr id="22" name="En"/>
          <p:cNvSpPr/>
          <p:nvPr/>
        </p:nvSpPr>
        <p:spPr>
          <a:xfrm>
            <a:off x="548640" y="2867110"/>
            <a:ext cx="29820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if I could eat fresh fish.”</a:t>
            </a:r>
          </a:p>
        </p:txBody>
      </p:sp>
      <p:sp>
        <p:nvSpPr>
          <p:cNvPr id="23" name="reveal_17_kr"/>
          <p:cNvSpPr/>
          <p:nvPr/>
        </p:nvSpPr>
        <p:spPr>
          <a:xfrm>
            <a:off x="548640" y="3201002"/>
            <a:ext cx="29820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신선한 물고기를 먹을 수 있다면”</a:t>
            </a:r>
          </a:p>
        </p:txBody>
      </p:sp>
      <p:sp>
        <p:nvSpPr>
          <p:cNvPr id="24" name="En"/>
          <p:cNvSpPr/>
          <p:nvPr/>
        </p:nvSpPr>
        <p:spPr>
          <a:xfrm>
            <a:off x="548640" y="3645665"/>
            <a:ext cx="332954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man went out to the river,</a:t>
            </a:r>
          </a:p>
        </p:txBody>
      </p:sp>
      <p:sp>
        <p:nvSpPr>
          <p:cNvPr id="25" name="reveal_18_kr"/>
          <p:cNvSpPr/>
          <p:nvPr/>
        </p:nvSpPr>
        <p:spPr>
          <a:xfrm>
            <a:off x="548640" y="3979557"/>
            <a:ext cx="332954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남자는 강으로 나갔다</a:t>
            </a:r>
          </a:p>
        </p:txBody>
      </p:sp>
      <p:sp>
        <p:nvSpPr>
          <p:cNvPr id="26" name="Sep"/>
          <p:cNvSpPr/>
          <p:nvPr/>
        </p:nvSpPr>
        <p:spPr>
          <a:xfrm>
            <a:off x="3878184" y="364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7" name="En"/>
          <p:cNvSpPr/>
          <p:nvPr/>
        </p:nvSpPr>
        <p:spPr>
          <a:xfrm>
            <a:off x="4105977" y="3645665"/>
            <a:ext cx="328839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but it was completely frozen.</a:t>
            </a:r>
          </a:p>
        </p:txBody>
      </p:sp>
      <p:sp>
        <p:nvSpPr>
          <p:cNvPr id="28" name="reveal_19_kr"/>
          <p:cNvSpPr/>
          <p:nvPr/>
        </p:nvSpPr>
        <p:spPr>
          <a:xfrm>
            <a:off x="4105977" y="3979557"/>
            <a:ext cx="328839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하지만 그것은 완전히 얼어 있었다</a:t>
            </a:r>
          </a:p>
        </p:txBody>
      </p:sp>
      <p:sp>
        <p:nvSpPr>
          <p:cNvPr id="29" name="En"/>
          <p:cNvSpPr/>
          <p:nvPr/>
        </p:nvSpPr>
        <p:spPr>
          <a:xfrm>
            <a:off x="548640" y="4424220"/>
            <a:ext cx="288605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It was impossible for him</a:t>
            </a:r>
          </a:p>
        </p:txBody>
      </p:sp>
      <p:sp>
        <p:nvSpPr>
          <p:cNvPr id="30" name="reveal_20_kr"/>
          <p:cNvSpPr/>
          <p:nvPr/>
        </p:nvSpPr>
        <p:spPr>
          <a:xfrm>
            <a:off x="548640" y="4758112"/>
            <a:ext cx="288605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그에게는 불가능했다</a:t>
            </a:r>
          </a:p>
        </p:txBody>
      </p:sp>
      <p:sp>
        <p:nvSpPr>
          <p:cNvPr id="31" name="Sep"/>
          <p:cNvSpPr/>
          <p:nvPr/>
        </p:nvSpPr>
        <p:spPr>
          <a:xfrm>
            <a:off x="3434699" y="442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2" name="En"/>
          <p:cNvSpPr/>
          <p:nvPr/>
        </p:nvSpPr>
        <p:spPr>
          <a:xfrm>
            <a:off x="3662492" y="4424220"/>
            <a:ext cx="240935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to catch any fish.</a:t>
            </a:r>
          </a:p>
        </p:txBody>
      </p:sp>
      <p:sp>
        <p:nvSpPr>
          <p:cNvPr id="33" name="reveal_21_kr"/>
          <p:cNvSpPr/>
          <p:nvPr/>
        </p:nvSpPr>
        <p:spPr>
          <a:xfrm>
            <a:off x="3662492" y="4758112"/>
            <a:ext cx="240935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어떤 물고기라도 잡는 것은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  <p:bldP spid="18" grpId="0" animBg="1"/>
      <p:bldP spid="21" grpId="0" animBg="1"/>
      <p:bldP spid="23" grpId="0" animBg="1"/>
      <p:bldP spid="25" grpId="0" animBg="1"/>
      <p:bldP spid="28" grpId="0" animBg="1"/>
      <p:bldP spid="30" grpId="0" animBg="1"/>
      <p:bldP spid="3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L8-2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(3/3)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308722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man was so disappointed</a:t>
            </a:r>
          </a:p>
        </p:txBody>
      </p:sp>
      <p:sp>
        <p:nvSpPr>
          <p:cNvPr id="7" name="reveal_22_kr"/>
          <p:cNvSpPr/>
          <p:nvPr/>
        </p:nvSpPr>
        <p:spPr>
          <a:xfrm>
            <a:off x="548640" y="1753892"/>
            <a:ext cx="308722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남자는 몹시 낙담했다</a:t>
            </a:r>
          </a:p>
        </p:txBody>
      </p:sp>
      <p:sp>
        <p:nvSpPr>
          <p:cNvPr id="8" name="Sep"/>
          <p:cNvSpPr/>
          <p:nvPr/>
        </p:nvSpPr>
        <p:spPr>
          <a:xfrm>
            <a:off x="3635868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3863661" y="1420000"/>
            <a:ext cx="31329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that he cried out to the sky,</a:t>
            </a:r>
          </a:p>
        </p:txBody>
      </p:sp>
      <p:sp>
        <p:nvSpPr>
          <p:cNvPr id="10" name="reveal_23_kr"/>
          <p:cNvSpPr/>
          <p:nvPr/>
        </p:nvSpPr>
        <p:spPr>
          <a:xfrm>
            <a:off x="3863661" y="1753892"/>
            <a:ext cx="31329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그래서 하늘에 대고 외쳤다</a:t>
            </a:r>
          </a:p>
        </p:txBody>
      </p:sp>
      <p:sp>
        <p:nvSpPr>
          <p:cNvPr id="11" name="Sep"/>
          <p:cNvSpPr/>
          <p:nvPr/>
        </p:nvSpPr>
        <p:spPr>
          <a:xfrm>
            <a:off x="6996609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7224402" y="1420000"/>
            <a:ext cx="240935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“What should I do?</a:t>
            </a:r>
          </a:p>
        </p:txBody>
      </p:sp>
      <p:sp>
        <p:nvSpPr>
          <p:cNvPr id="13" name="reveal_24_kr"/>
          <p:cNvSpPr/>
          <p:nvPr/>
        </p:nvSpPr>
        <p:spPr>
          <a:xfrm>
            <a:off x="7224402" y="1753892"/>
            <a:ext cx="240935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“제가 어떻게 해야 하나요?</a:t>
            </a:r>
          </a:p>
        </p:txBody>
      </p:sp>
      <p:sp>
        <p:nvSpPr>
          <p:cNvPr id="14" name="En"/>
          <p:cNvSpPr/>
          <p:nvPr/>
        </p:nvSpPr>
        <p:spPr>
          <a:xfrm>
            <a:off x="548640" y="2088555"/>
            <a:ext cx="216185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Please help me.”</a:t>
            </a:r>
          </a:p>
        </p:txBody>
      </p:sp>
      <p:sp>
        <p:nvSpPr>
          <p:cNvPr id="15" name="reveal_25_kr"/>
          <p:cNvSpPr/>
          <p:nvPr/>
        </p:nvSpPr>
        <p:spPr>
          <a:xfrm>
            <a:off x="548640" y="2422447"/>
            <a:ext cx="216185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제발 저를 도와주세요.”</a:t>
            </a:r>
          </a:p>
        </p:txBody>
      </p:sp>
      <p:sp>
        <p:nvSpPr>
          <p:cNvPr id="16" name="En"/>
          <p:cNvSpPr/>
          <p:nvPr/>
        </p:nvSpPr>
        <p:spPr>
          <a:xfrm>
            <a:off x="548640" y="2867110"/>
            <a:ext cx="230998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Then the ice melted,</a:t>
            </a:r>
          </a:p>
        </p:txBody>
      </p:sp>
      <p:sp>
        <p:nvSpPr>
          <p:cNvPr id="17" name="reveal_26_kr"/>
          <p:cNvSpPr/>
          <p:nvPr/>
        </p:nvSpPr>
        <p:spPr>
          <a:xfrm>
            <a:off x="548640" y="3201002"/>
            <a:ext cx="230998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그러자 얼음이 녹았다</a:t>
            </a:r>
          </a:p>
        </p:txBody>
      </p:sp>
      <p:sp>
        <p:nvSpPr>
          <p:cNvPr id="18" name="Sep"/>
          <p:cNvSpPr/>
          <p:nvPr/>
        </p:nvSpPr>
        <p:spPr>
          <a:xfrm>
            <a:off x="2858628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9" name="En"/>
          <p:cNvSpPr/>
          <p:nvPr/>
        </p:nvSpPr>
        <p:spPr>
          <a:xfrm>
            <a:off x="3086421" y="2867110"/>
            <a:ext cx="3553571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three carp suddenly came out</a:t>
            </a:r>
          </a:p>
        </p:txBody>
      </p:sp>
      <p:sp>
        <p:nvSpPr>
          <p:cNvPr id="20" name="reveal_27_kr"/>
          <p:cNvSpPr/>
          <p:nvPr/>
        </p:nvSpPr>
        <p:spPr>
          <a:xfrm>
            <a:off x="3086421" y="3201002"/>
            <a:ext cx="3553571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잉어 세 마리가 갑자기 나왔다</a:t>
            </a:r>
          </a:p>
        </p:txBody>
      </p:sp>
      <p:sp>
        <p:nvSpPr>
          <p:cNvPr id="21" name="Sep"/>
          <p:cNvSpPr/>
          <p:nvPr/>
        </p:nvSpPr>
        <p:spPr>
          <a:xfrm>
            <a:off x="6639992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2" name="En"/>
          <p:cNvSpPr/>
          <p:nvPr/>
        </p:nvSpPr>
        <p:spPr>
          <a:xfrm>
            <a:off x="6867785" y="2867110"/>
            <a:ext cx="15327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of the water.</a:t>
            </a:r>
          </a:p>
        </p:txBody>
      </p:sp>
      <p:sp>
        <p:nvSpPr>
          <p:cNvPr id="23" name="reveal_28_kr"/>
          <p:cNvSpPr/>
          <p:nvPr/>
        </p:nvSpPr>
        <p:spPr>
          <a:xfrm>
            <a:off x="6867785" y="3201002"/>
            <a:ext cx="15327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물 밖으로</a:t>
            </a:r>
          </a:p>
        </p:txBody>
      </p:sp>
      <p:sp>
        <p:nvSpPr>
          <p:cNvPr id="24" name="En"/>
          <p:cNvSpPr/>
          <p:nvPr/>
        </p:nvSpPr>
        <p:spPr>
          <a:xfrm>
            <a:off x="548640" y="3645665"/>
            <a:ext cx="254315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man went back home</a:t>
            </a:r>
          </a:p>
        </p:txBody>
      </p:sp>
      <p:sp>
        <p:nvSpPr>
          <p:cNvPr id="25" name="reveal_29_kr"/>
          <p:cNvSpPr/>
          <p:nvPr/>
        </p:nvSpPr>
        <p:spPr>
          <a:xfrm>
            <a:off x="548640" y="3979557"/>
            <a:ext cx="254315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남자는 집으로 돌아갔다</a:t>
            </a:r>
          </a:p>
        </p:txBody>
      </p:sp>
      <p:sp>
        <p:nvSpPr>
          <p:cNvPr id="26" name="Sep"/>
          <p:cNvSpPr/>
          <p:nvPr/>
        </p:nvSpPr>
        <p:spPr>
          <a:xfrm>
            <a:off x="3091799" y="364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7" name="En"/>
          <p:cNvSpPr/>
          <p:nvPr/>
        </p:nvSpPr>
        <p:spPr>
          <a:xfrm>
            <a:off x="3319592" y="3645665"/>
            <a:ext cx="387113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cooked the fish for his mother.</a:t>
            </a:r>
          </a:p>
        </p:txBody>
      </p:sp>
      <p:sp>
        <p:nvSpPr>
          <p:cNvPr id="28" name="reveal_30_kr"/>
          <p:cNvSpPr/>
          <p:nvPr/>
        </p:nvSpPr>
        <p:spPr>
          <a:xfrm>
            <a:off x="3319592" y="3979557"/>
            <a:ext cx="387113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어머니를 위해 그 물고기를 요리했다</a:t>
            </a:r>
          </a:p>
        </p:txBody>
      </p:sp>
      <p:sp>
        <p:nvSpPr>
          <p:cNvPr id="29" name="En"/>
          <p:cNvSpPr/>
          <p:nvPr/>
        </p:nvSpPr>
        <p:spPr>
          <a:xfrm>
            <a:off x="548640" y="4424220"/>
            <a:ext cx="304356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Then his mother got well.</a:t>
            </a:r>
          </a:p>
        </p:txBody>
      </p:sp>
      <p:sp>
        <p:nvSpPr>
          <p:cNvPr id="30" name="reveal_31_kr"/>
          <p:cNvSpPr/>
          <p:nvPr/>
        </p:nvSpPr>
        <p:spPr>
          <a:xfrm>
            <a:off x="548640" y="4758112"/>
            <a:ext cx="304356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그러자 그의 어머니는 병이 나았다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  <p:bldP spid="17" grpId="0" animBg="1"/>
      <p:bldP spid="20" grpId="0" animBg="1"/>
      <p:bldP spid="23" grpId="0" animBg="1"/>
      <p:bldP spid="25" grpId="0" animBg="1"/>
      <p:bldP spid="28" grpId="0" animBg="1"/>
      <p:bldP spid="3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L8-3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276718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There are other examples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276718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다른 예들이 있다</a:t>
            </a:r>
          </a:p>
        </p:txBody>
      </p:sp>
      <p:sp>
        <p:nvSpPr>
          <p:cNvPr id="8" name="Sep"/>
          <p:cNvSpPr/>
          <p:nvPr/>
        </p:nvSpPr>
        <p:spPr>
          <a:xfrm>
            <a:off x="3315828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3543621" y="1420000"/>
            <a:ext cx="351699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of symbolic objects in Munjado.</a:t>
            </a:r>
          </a:p>
        </p:txBody>
      </p:sp>
      <p:sp>
        <p:nvSpPr>
          <p:cNvPr id="10" name="reveal_2_kr"/>
          <p:cNvSpPr/>
          <p:nvPr/>
        </p:nvSpPr>
        <p:spPr>
          <a:xfrm>
            <a:off x="3543621" y="1753892"/>
            <a:ext cx="351699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문자도 속 상징적인 사물의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191435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They are bamboo</a:t>
            </a:r>
          </a:p>
        </p:txBody>
      </p:sp>
      <p:sp>
        <p:nvSpPr>
          <p:cNvPr id="12" name="reveal_3_kr"/>
          <p:cNvSpPr/>
          <p:nvPr/>
        </p:nvSpPr>
        <p:spPr>
          <a:xfrm>
            <a:off x="548640" y="2532447"/>
            <a:ext cx="191435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그것들은 대나무이다</a:t>
            </a:r>
          </a:p>
        </p:txBody>
      </p:sp>
      <p:sp>
        <p:nvSpPr>
          <p:cNvPr id="13" name="Sep"/>
          <p:cNvSpPr/>
          <p:nvPr/>
        </p:nvSpPr>
        <p:spPr>
          <a:xfrm>
            <a:off x="2462997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2690790" y="2198555"/>
            <a:ext cx="47971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the paintings of the character chung (忠)</a:t>
            </a:r>
          </a:p>
        </p:txBody>
      </p:sp>
      <p:sp>
        <p:nvSpPr>
          <p:cNvPr id="15" name="reveal_4_kr"/>
          <p:cNvSpPr/>
          <p:nvPr/>
        </p:nvSpPr>
        <p:spPr>
          <a:xfrm>
            <a:off x="2690790" y="2532447"/>
            <a:ext cx="47971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글자 '충(忠)' 그림에 있는</a:t>
            </a:r>
          </a:p>
        </p:txBody>
      </p:sp>
      <p:sp>
        <p:nvSpPr>
          <p:cNvPr id="16" name="Sep"/>
          <p:cNvSpPr/>
          <p:nvPr/>
        </p:nvSpPr>
        <p:spPr>
          <a:xfrm>
            <a:off x="7487946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7715739" y="2198555"/>
            <a:ext cx="19899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lotus flowers</a:t>
            </a:r>
          </a:p>
        </p:txBody>
      </p:sp>
      <p:sp>
        <p:nvSpPr>
          <p:cNvPr id="18" name="reveal_5_kr"/>
          <p:cNvSpPr/>
          <p:nvPr/>
        </p:nvSpPr>
        <p:spPr>
          <a:xfrm>
            <a:off x="7715739" y="2532447"/>
            <a:ext cx="19899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연꽃이다</a:t>
            </a:r>
          </a:p>
        </p:txBody>
      </p:sp>
      <p:sp>
        <p:nvSpPr>
          <p:cNvPr id="19" name="En"/>
          <p:cNvSpPr/>
          <p:nvPr/>
        </p:nvSpPr>
        <p:spPr>
          <a:xfrm>
            <a:off x="548640" y="2867110"/>
            <a:ext cx="306893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the paintings of ui (義).</a:t>
            </a:r>
          </a:p>
        </p:txBody>
      </p:sp>
      <p:sp>
        <p:nvSpPr>
          <p:cNvPr id="20" name="reveal_6_kr"/>
          <p:cNvSpPr/>
          <p:nvPr/>
        </p:nvSpPr>
        <p:spPr>
          <a:xfrm>
            <a:off x="548640" y="3201002"/>
            <a:ext cx="306893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'의(義)' 그림에 있는</a:t>
            </a:r>
          </a:p>
        </p:txBody>
      </p:sp>
      <p:sp>
        <p:nvSpPr>
          <p:cNvPr id="21" name="En"/>
          <p:cNvSpPr/>
          <p:nvPr/>
        </p:nvSpPr>
        <p:spPr>
          <a:xfrm>
            <a:off x="548640" y="3645665"/>
            <a:ext cx="254857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Bamboo does not bend.</a:t>
            </a:r>
          </a:p>
        </p:txBody>
      </p:sp>
      <p:sp>
        <p:nvSpPr>
          <p:cNvPr id="22" name="reveal_7_kr"/>
          <p:cNvSpPr/>
          <p:nvPr/>
        </p:nvSpPr>
        <p:spPr>
          <a:xfrm>
            <a:off x="548640" y="3979557"/>
            <a:ext cx="254857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대나무는 구부러지지 않는다</a:t>
            </a:r>
          </a:p>
        </p:txBody>
      </p:sp>
      <p:sp>
        <p:nvSpPr>
          <p:cNvPr id="23" name="En"/>
          <p:cNvSpPr/>
          <p:nvPr/>
        </p:nvSpPr>
        <p:spPr>
          <a:xfrm>
            <a:off x="548640" y="4424220"/>
            <a:ext cx="216185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It stays green</a:t>
            </a:r>
          </a:p>
        </p:txBody>
      </p:sp>
      <p:sp>
        <p:nvSpPr>
          <p:cNvPr id="24" name="reveal_8_kr"/>
          <p:cNvSpPr/>
          <p:nvPr/>
        </p:nvSpPr>
        <p:spPr>
          <a:xfrm>
            <a:off x="548640" y="4758112"/>
            <a:ext cx="216185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그것은 푸르게 유지된다</a:t>
            </a:r>
          </a:p>
        </p:txBody>
      </p:sp>
      <p:sp>
        <p:nvSpPr>
          <p:cNvPr id="25" name="Sep"/>
          <p:cNvSpPr/>
          <p:nvPr/>
        </p:nvSpPr>
        <p:spPr>
          <a:xfrm>
            <a:off x="2710495" y="442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6" name="En"/>
          <p:cNvSpPr/>
          <p:nvPr/>
        </p:nvSpPr>
        <p:spPr>
          <a:xfrm>
            <a:off x="2938288" y="4424220"/>
            <a:ext cx="26894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all kinds of weather.</a:t>
            </a:r>
          </a:p>
        </p:txBody>
      </p:sp>
      <p:sp>
        <p:nvSpPr>
          <p:cNvPr id="27" name="reveal_9_kr"/>
          <p:cNvSpPr/>
          <p:nvPr/>
        </p:nvSpPr>
        <p:spPr>
          <a:xfrm>
            <a:off x="2938288" y="4758112"/>
            <a:ext cx="26894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모든 종류의 날씨에서</a:t>
            </a:r>
          </a:p>
        </p:txBody>
      </p:sp>
      <p:sp>
        <p:nvSpPr>
          <p:cNvPr id="28" name="En"/>
          <p:cNvSpPr/>
          <p:nvPr/>
        </p:nvSpPr>
        <p:spPr>
          <a:xfrm>
            <a:off x="548640" y="5202775"/>
            <a:ext cx="21042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For these reasons,</a:t>
            </a:r>
          </a:p>
        </p:txBody>
      </p:sp>
      <p:sp>
        <p:nvSpPr>
          <p:cNvPr id="29" name="reveal_10_kr"/>
          <p:cNvSpPr/>
          <p:nvPr/>
        </p:nvSpPr>
        <p:spPr>
          <a:xfrm>
            <a:off x="548640" y="5536667"/>
            <a:ext cx="21042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이런 이유로</a:t>
            </a:r>
          </a:p>
        </p:txBody>
      </p:sp>
      <p:sp>
        <p:nvSpPr>
          <p:cNvPr id="30" name="Sep"/>
          <p:cNvSpPr/>
          <p:nvPr/>
        </p:nvSpPr>
        <p:spPr>
          <a:xfrm>
            <a:off x="2652888" y="520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1" name="En"/>
          <p:cNvSpPr/>
          <p:nvPr/>
        </p:nvSpPr>
        <p:spPr>
          <a:xfrm>
            <a:off x="2880681" y="5202775"/>
            <a:ext cx="27946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bamboo came to symbolize</a:t>
            </a:r>
          </a:p>
        </p:txBody>
      </p:sp>
      <p:sp>
        <p:nvSpPr>
          <p:cNvPr id="32" name="reveal_11_kr"/>
          <p:cNvSpPr/>
          <p:nvPr/>
        </p:nvSpPr>
        <p:spPr>
          <a:xfrm>
            <a:off x="2880681" y="5536667"/>
            <a:ext cx="27946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대나무는 상징하게 되었다</a:t>
            </a:r>
          </a:p>
        </p:txBody>
      </p:sp>
      <p:sp>
        <p:nvSpPr>
          <p:cNvPr id="33" name="Sep"/>
          <p:cNvSpPr/>
          <p:nvPr/>
        </p:nvSpPr>
        <p:spPr>
          <a:xfrm>
            <a:off x="5675301" y="520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4" name="En"/>
          <p:cNvSpPr/>
          <p:nvPr/>
        </p:nvSpPr>
        <p:spPr>
          <a:xfrm>
            <a:off x="5903094" y="5202775"/>
            <a:ext cx="225512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loyalty to the king.</a:t>
            </a:r>
          </a:p>
        </p:txBody>
      </p:sp>
      <p:sp>
        <p:nvSpPr>
          <p:cNvPr id="35" name="reveal_12_kr"/>
          <p:cNvSpPr/>
          <p:nvPr/>
        </p:nvSpPr>
        <p:spPr>
          <a:xfrm>
            <a:off x="5903094" y="5536667"/>
            <a:ext cx="225512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왕에 대한 충성을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8" grpId="0" animBg="1"/>
      <p:bldP spid="20" grpId="0" animBg="1"/>
      <p:bldP spid="22" grpId="0" animBg="1"/>
      <p:bldP spid="24" grpId="0" animBg="1"/>
      <p:bldP spid="27" grpId="0" animBg="1"/>
      <p:bldP spid="29" grpId="0" animBg="1"/>
      <p:bldP spid="32" grpId="0" animBg="1"/>
      <p:bldP spid="3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L8-3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323810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the case of lotus flowers,</a:t>
            </a:r>
          </a:p>
        </p:txBody>
      </p:sp>
      <p:sp>
        <p:nvSpPr>
          <p:cNvPr id="7" name="reveal_13_kr"/>
          <p:cNvSpPr/>
          <p:nvPr/>
        </p:nvSpPr>
        <p:spPr>
          <a:xfrm>
            <a:off x="548640" y="1753892"/>
            <a:ext cx="323810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연꽃의 경우</a:t>
            </a:r>
          </a:p>
        </p:txBody>
      </p:sp>
      <p:sp>
        <p:nvSpPr>
          <p:cNvPr id="8" name="Sep"/>
          <p:cNvSpPr/>
          <p:nvPr/>
        </p:nvSpPr>
        <p:spPr>
          <a:xfrm>
            <a:off x="3786744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4014537" y="1420000"/>
            <a:ext cx="33761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they grow in muddy ponds</a:t>
            </a:r>
          </a:p>
        </p:txBody>
      </p:sp>
      <p:sp>
        <p:nvSpPr>
          <p:cNvPr id="10" name="reveal_14_kr"/>
          <p:cNvSpPr/>
          <p:nvPr/>
        </p:nvSpPr>
        <p:spPr>
          <a:xfrm>
            <a:off x="4014537" y="1753892"/>
            <a:ext cx="33761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그것들은 진흙투성이 연못에서 자란다</a:t>
            </a:r>
          </a:p>
        </p:txBody>
      </p:sp>
      <p:sp>
        <p:nvSpPr>
          <p:cNvPr id="11" name="Sep"/>
          <p:cNvSpPr/>
          <p:nvPr/>
        </p:nvSpPr>
        <p:spPr>
          <a:xfrm>
            <a:off x="7390677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7618470" y="1420000"/>
            <a:ext cx="34302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but still bloom beautifully.</a:t>
            </a:r>
          </a:p>
        </p:txBody>
      </p:sp>
      <p:sp>
        <p:nvSpPr>
          <p:cNvPr id="13" name="reveal_15_kr"/>
          <p:cNvSpPr/>
          <p:nvPr/>
        </p:nvSpPr>
        <p:spPr>
          <a:xfrm>
            <a:off x="7618470" y="1753892"/>
            <a:ext cx="34302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하지만 그럼에도 아름답게 꽃을 피운다</a:t>
            </a:r>
          </a:p>
        </p:txBody>
      </p:sp>
      <p:sp>
        <p:nvSpPr>
          <p:cNvPr id="14" name="En"/>
          <p:cNvSpPr/>
          <p:nvPr/>
        </p:nvSpPr>
        <p:spPr>
          <a:xfrm>
            <a:off x="548640" y="2198555"/>
            <a:ext cx="285862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They thus became a symbol</a:t>
            </a:r>
          </a:p>
        </p:txBody>
      </p:sp>
      <p:sp>
        <p:nvSpPr>
          <p:cNvPr id="15" name="reveal_16_kr"/>
          <p:cNvSpPr/>
          <p:nvPr/>
        </p:nvSpPr>
        <p:spPr>
          <a:xfrm>
            <a:off x="548640" y="2532447"/>
            <a:ext cx="285862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그래서 그것들은 상징이 되었다</a:t>
            </a:r>
          </a:p>
        </p:txBody>
      </p:sp>
      <p:sp>
        <p:nvSpPr>
          <p:cNvPr id="16" name="Sep"/>
          <p:cNvSpPr/>
          <p:nvPr/>
        </p:nvSpPr>
        <p:spPr>
          <a:xfrm>
            <a:off x="3407267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3635060" y="2198555"/>
            <a:ext cx="20539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of a person’s will</a:t>
            </a:r>
          </a:p>
        </p:txBody>
      </p:sp>
      <p:sp>
        <p:nvSpPr>
          <p:cNvPr id="18" name="reveal_17_kr"/>
          <p:cNvSpPr/>
          <p:nvPr/>
        </p:nvSpPr>
        <p:spPr>
          <a:xfrm>
            <a:off x="3635060" y="2532447"/>
            <a:ext cx="20539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한 사람의 의지의</a:t>
            </a:r>
          </a:p>
        </p:txBody>
      </p:sp>
      <p:sp>
        <p:nvSpPr>
          <p:cNvPr id="19" name="Sep"/>
          <p:cNvSpPr/>
          <p:nvPr/>
        </p:nvSpPr>
        <p:spPr>
          <a:xfrm>
            <a:off x="5689016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0" name="En"/>
          <p:cNvSpPr/>
          <p:nvPr/>
        </p:nvSpPr>
        <p:spPr>
          <a:xfrm>
            <a:off x="5916809" y="2198555"/>
            <a:ext cx="225512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to fight for justice</a:t>
            </a:r>
          </a:p>
        </p:txBody>
      </p:sp>
      <p:sp>
        <p:nvSpPr>
          <p:cNvPr id="21" name="reveal_18_kr"/>
          <p:cNvSpPr/>
          <p:nvPr/>
        </p:nvSpPr>
        <p:spPr>
          <a:xfrm>
            <a:off x="5916809" y="2532447"/>
            <a:ext cx="225512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정의를 위해 싸우려는</a:t>
            </a:r>
          </a:p>
        </p:txBody>
      </p:sp>
      <p:sp>
        <p:nvSpPr>
          <p:cNvPr id="22" name="Sep"/>
          <p:cNvSpPr/>
          <p:nvPr/>
        </p:nvSpPr>
        <p:spPr>
          <a:xfrm>
            <a:off x="8171933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3" name="En"/>
          <p:cNvSpPr/>
          <p:nvPr/>
        </p:nvSpPr>
        <p:spPr>
          <a:xfrm>
            <a:off x="8399726" y="2198555"/>
            <a:ext cx="247000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despite difficulties.</a:t>
            </a:r>
          </a:p>
        </p:txBody>
      </p:sp>
      <p:sp>
        <p:nvSpPr>
          <p:cNvPr id="24" name="reveal_19_kr"/>
          <p:cNvSpPr/>
          <p:nvPr/>
        </p:nvSpPr>
        <p:spPr>
          <a:xfrm>
            <a:off x="8399726" y="2532447"/>
            <a:ext cx="247000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어려움에도 불구하고</a:t>
            </a:r>
          </a:p>
        </p:txBody>
      </p:sp>
      <p:sp>
        <p:nvSpPr>
          <p:cNvPr id="25" name="En"/>
          <p:cNvSpPr/>
          <p:nvPr/>
        </p:nvSpPr>
        <p:spPr>
          <a:xfrm>
            <a:off x="548640" y="2977110"/>
            <a:ext cx="415707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Munjado was much more than a painting</a:t>
            </a:r>
          </a:p>
        </p:txBody>
      </p:sp>
      <p:sp>
        <p:nvSpPr>
          <p:cNvPr id="26" name="reveal_20_kr"/>
          <p:cNvSpPr/>
          <p:nvPr/>
        </p:nvSpPr>
        <p:spPr>
          <a:xfrm>
            <a:off x="548640" y="3311002"/>
            <a:ext cx="415707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문자도는 그림 그 훨씬 이상이었다</a:t>
            </a:r>
          </a:p>
        </p:txBody>
      </p:sp>
      <p:sp>
        <p:nvSpPr>
          <p:cNvPr id="27" name="Sep"/>
          <p:cNvSpPr/>
          <p:nvPr/>
        </p:nvSpPr>
        <p:spPr>
          <a:xfrm>
            <a:off x="4705715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8" name="En"/>
          <p:cNvSpPr/>
          <p:nvPr/>
        </p:nvSpPr>
        <p:spPr>
          <a:xfrm>
            <a:off x="4933508" y="2977110"/>
            <a:ext cx="35535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to people of the Joseon dynasty.</a:t>
            </a:r>
          </a:p>
        </p:txBody>
      </p:sp>
      <p:sp>
        <p:nvSpPr>
          <p:cNvPr id="29" name="reveal_21_kr"/>
          <p:cNvSpPr/>
          <p:nvPr/>
        </p:nvSpPr>
        <p:spPr>
          <a:xfrm>
            <a:off x="4933508" y="3311002"/>
            <a:ext cx="35535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조선 시대 사람들에게</a:t>
            </a:r>
          </a:p>
        </p:txBody>
      </p:sp>
      <p:sp>
        <p:nvSpPr>
          <p:cNvPr id="30" name="En"/>
          <p:cNvSpPr/>
          <p:nvPr/>
        </p:nvSpPr>
        <p:spPr>
          <a:xfrm>
            <a:off x="548640" y="3755665"/>
            <a:ext cx="409306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It reminded them of important values</a:t>
            </a:r>
          </a:p>
        </p:txBody>
      </p:sp>
      <p:sp>
        <p:nvSpPr>
          <p:cNvPr id="31" name="reveal_22_kr"/>
          <p:cNvSpPr/>
          <p:nvPr/>
        </p:nvSpPr>
        <p:spPr>
          <a:xfrm>
            <a:off x="548640" y="4089557"/>
            <a:ext cx="409306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그것은 그들에게 중요한 가치를 상기시켰다</a:t>
            </a:r>
          </a:p>
        </p:txBody>
      </p:sp>
      <p:sp>
        <p:nvSpPr>
          <p:cNvPr id="32" name="Sep"/>
          <p:cNvSpPr/>
          <p:nvPr/>
        </p:nvSpPr>
        <p:spPr>
          <a:xfrm>
            <a:off x="4641708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3" name="En"/>
          <p:cNvSpPr/>
          <p:nvPr/>
        </p:nvSpPr>
        <p:spPr>
          <a:xfrm>
            <a:off x="4869501" y="3755665"/>
            <a:ext cx="264831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that greatly influenced</a:t>
            </a:r>
          </a:p>
        </p:txBody>
      </p:sp>
      <p:sp>
        <p:nvSpPr>
          <p:cNvPr id="34" name="reveal_23_kr"/>
          <p:cNvSpPr/>
          <p:nvPr/>
        </p:nvSpPr>
        <p:spPr>
          <a:xfrm>
            <a:off x="4869501" y="4089557"/>
            <a:ext cx="264831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크게 영향을 미친</a:t>
            </a:r>
          </a:p>
        </p:txBody>
      </p:sp>
      <p:sp>
        <p:nvSpPr>
          <p:cNvPr id="35" name="Sep"/>
          <p:cNvSpPr/>
          <p:nvPr/>
        </p:nvSpPr>
        <p:spPr>
          <a:xfrm>
            <a:off x="7517817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6" name="En"/>
          <p:cNvSpPr/>
          <p:nvPr/>
        </p:nvSpPr>
        <p:spPr>
          <a:xfrm>
            <a:off x="7745610" y="3755665"/>
            <a:ext cx="339812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their behaviors and attitudes.</a:t>
            </a:r>
          </a:p>
        </p:txBody>
      </p:sp>
      <p:sp>
        <p:nvSpPr>
          <p:cNvPr id="37" name="reveal_24_kr"/>
          <p:cNvSpPr/>
          <p:nvPr/>
        </p:nvSpPr>
        <p:spPr>
          <a:xfrm>
            <a:off x="7745610" y="4089557"/>
            <a:ext cx="339812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그들의 행동과 태도에</a:t>
            </a:r>
          </a:p>
        </p:txBody>
      </p:sp>
      <p:sp>
        <p:nvSpPr>
          <p:cNvPr id="38" name="En"/>
          <p:cNvSpPr/>
          <p:nvPr/>
        </p:nvSpPr>
        <p:spPr>
          <a:xfrm>
            <a:off x="548640" y="4534220"/>
            <a:ext cx="16973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particular,</a:t>
            </a:r>
          </a:p>
        </p:txBody>
      </p:sp>
      <p:sp>
        <p:nvSpPr>
          <p:cNvPr id="39" name="reveal_25_kr"/>
          <p:cNvSpPr/>
          <p:nvPr/>
        </p:nvSpPr>
        <p:spPr>
          <a:xfrm>
            <a:off x="548640" y="4868112"/>
            <a:ext cx="16973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특히</a:t>
            </a:r>
          </a:p>
        </p:txBody>
      </p:sp>
      <p:sp>
        <p:nvSpPr>
          <p:cNvPr id="40" name="Sep"/>
          <p:cNvSpPr/>
          <p:nvPr/>
        </p:nvSpPr>
        <p:spPr>
          <a:xfrm>
            <a:off x="2245980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41" name="En"/>
          <p:cNvSpPr/>
          <p:nvPr/>
        </p:nvSpPr>
        <p:spPr>
          <a:xfrm>
            <a:off x="2473773" y="4534220"/>
            <a:ext cx="155560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for children,</a:t>
            </a:r>
          </a:p>
        </p:txBody>
      </p:sp>
      <p:sp>
        <p:nvSpPr>
          <p:cNvPr id="42" name="reveal_26_kr"/>
          <p:cNvSpPr/>
          <p:nvPr/>
        </p:nvSpPr>
        <p:spPr>
          <a:xfrm>
            <a:off x="2473773" y="4868112"/>
            <a:ext cx="155560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아이들에게</a:t>
            </a:r>
          </a:p>
        </p:txBody>
      </p:sp>
      <p:sp>
        <p:nvSpPr>
          <p:cNvPr id="43" name="Sep"/>
          <p:cNvSpPr/>
          <p:nvPr/>
        </p:nvSpPr>
        <p:spPr>
          <a:xfrm>
            <a:off x="4029381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44" name="En"/>
          <p:cNvSpPr/>
          <p:nvPr/>
        </p:nvSpPr>
        <p:spPr>
          <a:xfrm>
            <a:off x="4257174" y="4534220"/>
            <a:ext cx="283119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Munjado was a study tool.</a:t>
            </a:r>
          </a:p>
        </p:txBody>
      </p:sp>
      <p:sp>
        <p:nvSpPr>
          <p:cNvPr id="45" name="reveal_27_kr"/>
          <p:cNvSpPr/>
          <p:nvPr/>
        </p:nvSpPr>
        <p:spPr>
          <a:xfrm>
            <a:off x="4257174" y="4868112"/>
            <a:ext cx="283119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문자도는 학습 도구였다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  <p:bldP spid="18" grpId="0" animBg="1"/>
      <p:bldP spid="21" grpId="0" animBg="1"/>
      <p:bldP spid="24" grpId="0" animBg="1"/>
      <p:bldP spid="26" grpId="0" animBg="1"/>
      <p:bldP spid="29" grpId="0" animBg="1"/>
      <p:bldP spid="31" grpId="0" animBg="1"/>
      <p:bldP spid="34" grpId="0" animBg="1"/>
      <p:bldP spid="37" grpId="0" animBg="1"/>
      <p:bldP spid="39" grpId="0" animBg="1"/>
      <p:bldP spid="42" grpId="0" animBg="1"/>
      <p:bldP spid="45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L8-3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(3/3)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13544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Through it,</a:t>
            </a:r>
          </a:p>
        </p:txBody>
      </p:sp>
      <p:sp>
        <p:nvSpPr>
          <p:cNvPr id="7" name="reveal_28_kr"/>
          <p:cNvSpPr/>
          <p:nvPr/>
        </p:nvSpPr>
        <p:spPr>
          <a:xfrm>
            <a:off x="548640" y="1753892"/>
            <a:ext cx="13544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그것을 통해</a:t>
            </a:r>
          </a:p>
        </p:txBody>
      </p:sp>
      <p:sp>
        <p:nvSpPr>
          <p:cNvPr id="8" name="Sep"/>
          <p:cNvSpPr/>
          <p:nvPr/>
        </p:nvSpPr>
        <p:spPr>
          <a:xfrm>
            <a:off x="1903080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2130873" y="1420000"/>
            <a:ext cx="46462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children in the Joseon dynasty could learn</a:t>
            </a:r>
          </a:p>
        </p:txBody>
      </p:sp>
      <p:sp>
        <p:nvSpPr>
          <p:cNvPr id="10" name="reveal_29_kr"/>
          <p:cNvSpPr/>
          <p:nvPr/>
        </p:nvSpPr>
        <p:spPr>
          <a:xfrm>
            <a:off x="2130873" y="1753892"/>
            <a:ext cx="46462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조선 시대의 아이들은 배울 수 있었다</a:t>
            </a:r>
          </a:p>
        </p:txBody>
      </p:sp>
      <p:sp>
        <p:nvSpPr>
          <p:cNvPr id="11" name="Sep"/>
          <p:cNvSpPr/>
          <p:nvPr/>
        </p:nvSpPr>
        <p:spPr>
          <a:xfrm>
            <a:off x="6777153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7004946" y="1420000"/>
            <a:ext cx="288148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importance of harmony</a:t>
            </a:r>
          </a:p>
        </p:txBody>
      </p:sp>
      <p:sp>
        <p:nvSpPr>
          <p:cNvPr id="13" name="reveal_30_kr"/>
          <p:cNvSpPr/>
          <p:nvPr/>
        </p:nvSpPr>
        <p:spPr>
          <a:xfrm>
            <a:off x="7004946" y="1753892"/>
            <a:ext cx="288148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조화의 중요성을</a:t>
            </a:r>
          </a:p>
        </p:txBody>
      </p:sp>
      <p:sp>
        <p:nvSpPr>
          <p:cNvPr id="14" name="En"/>
          <p:cNvSpPr/>
          <p:nvPr/>
        </p:nvSpPr>
        <p:spPr>
          <a:xfrm>
            <a:off x="548640" y="2088555"/>
            <a:ext cx="25111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family and society.</a:t>
            </a:r>
          </a:p>
        </p:txBody>
      </p:sp>
      <p:sp>
        <p:nvSpPr>
          <p:cNvPr id="15" name="reveal_31_kr"/>
          <p:cNvSpPr/>
          <p:nvPr/>
        </p:nvSpPr>
        <p:spPr>
          <a:xfrm>
            <a:off x="548640" y="2422447"/>
            <a:ext cx="25111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가족과 사회에서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